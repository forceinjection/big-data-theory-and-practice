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6256000" cy="9144000"/>
  <p:notesSz cx="9144000" cy="16256000"/>
  <p:embeddedFontLst>
    <p:embeddedFont>
      <p:font typeface="微软雅黑" panose="020B0503020204020204" pitchFamily="34" charset="-122"/>
      <p:regular r:id="rId33"/>
      <p:bold r:id="rId34"/>
    </p:embeddedFont>
    <p:embeddedFont>
      <p:font typeface="MiSans" pitchFamily="2" charset="-122"/>
      <p:regular r:id="rId35"/>
    </p:embeddedFont>
    <p:embeddedFont>
      <p:font typeface="Noto Sans SC" panose="020B0200000000000000" pitchFamily="34" charset="-128"/>
      <p:regular r:id="rId36"/>
    </p:embeddedFont>
    <p:embeddedFont>
      <p:font typeface="Liter" panose="02000503030000020004" pitchFamily="2" charset="0"/>
      <p:regular r:id="rId3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varScale="1">
        <p:scale>
          <a:sx n="90" d="100"/>
          <a:sy n="90" d="100"/>
        </p:scale>
        <p:origin x="48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998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a:effectLst/>
      </p:bgPr>
    </p:bg>
    <p:spTree>
      <p:nvGrpSpPr>
        <p:cNvPr id="1" name=""/>
        <p:cNvGrpSpPr/>
        <p:nvPr/>
      </p:nvGrpSpPr>
      <p:grpSpPr>
        <a:xfrm>
          <a:off x="0" y="0"/>
          <a:ext cx="0" cy="0"/>
          <a:chOff x="0" y="0"/>
          <a:chExt cx="0" cy="0"/>
        </a:xfrm>
      </p:grpSpPr>
      <p:sp>
        <p:nvSpPr>
          <p:cNvPr id="4" name="Shape 1"/>
          <p:cNvSpPr/>
          <p:nvPr/>
        </p:nvSpPr>
        <p:spPr>
          <a:xfrm>
            <a:off x="514350" y="1911350"/>
            <a:ext cx="2120900" cy="520700"/>
          </a:xfrm>
          <a:custGeom>
            <a:avLst/>
            <a:gdLst/>
            <a:ahLst/>
            <a:cxnLst/>
            <a:rect l="l" t="t" r="r" b="b"/>
            <a:pathLst>
              <a:path w="2120900" h="520700">
                <a:moveTo>
                  <a:pt x="101599" y="0"/>
                </a:moveTo>
                <a:lnTo>
                  <a:pt x="2019301" y="0"/>
                </a:lnTo>
                <a:cubicBezTo>
                  <a:pt x="2075413" y="0"/>
                  <a:pt x="2120900" y="45487"/>
                  <a:pt x="2120900" y="101599"/>
                </a:cubicBezTo>
                <a:lnTo>
                  <a:pt x="2120900" y="419101"/>
                </a:lnTo>
                <a:cubicBezTo>
                  <a:pt x="2120900" y="475213"/>
                  <a:pt x="2075413" y="520700"/>
                  <a:pt x="2019301" y="520700"/>
                </a:cubicBezTo>
                <a:lnTo>
                  <a:pt x="101599" y="520700"/>
                </a:lnTo>
                <a:cubicBezTo>
                  <a:pt x="45487" y="520700"/>
                  <a:pt x="0" y="475213"/>
                  <a:pt x="0" y="419101"/>
                </a:cubicBezTo>
                <a:lnTo>
                  <a:pt x="0" y="101599"/>
                </a:lnTo>
                <a:cubicBezTo>
                  <a:pt x="0" y="45525"/>
                  <a:pt x="45525" y="0"/>
                  <a:pt x="101599" y="0"/>
                </a:cubicBezTo>
                <a:close/>
              </a:path>
            </a:pathLst>
          </a:custGeom>
          <a:solidFill>
            <a:srgbClr val="3C8082">
              <a:alpha val="30196"/>
            </a:srgbClr>
          </a:solidFill>
          <a:ln w="12700">
            <a:solidFill>
              <a:srgbClr val="3C8082">
                <a:alpha val="50196"/>
              </a:srgbClr>
            </a:solidFill>
            <a:prstDash val="solid"/>
          </a:ln>
        </p:spPr>
        <p:txBody>
          <a:bodyPr/>
          <a:lstStyle/>
          <a:p>
            <a:endParaRPr lang="zh-CN" altLang="en-US"/>
          </a:p>
        </p:txBody>
      </p:sp>
      <p:sp>
        <p:nvSpPr>
          <p:cNvPr id="5" name="Text 2"/>
          <p:cNvSpPr/>
          <p:nvPr/>
        </p:nvSpPr>
        <p:spPr>
          <a:xfrm>
            <a:off x="723900" y="2038350"/>
            <a:ext cx="1808559" cy="266700"/>
          </a:xfrm>
          <a:prstGeom prst="rect">
            <a:avLst/>
          </a:prstGeom>
          <a:noFill/>
          <a:ln/>
        </p:spPr>
        <p:txBody>
          <a:bodyPr wrap="square" lIns="0" tIns="0" rIns="0" bIns="0" rtlCol="0" anchor="ctr"/>
          <a:lstStyle/>
          <a:p>
            <a:pPr>
              <a:lnSpc>
                <a:spcPct val="130000"/>
              </a:lnSpc>
            </a:pPr>
            <a:r>
              <a:rPr lang="en-US" sz="1600" b="1" kern="0" spc="80" dirty="0">
                <a:solidFill>
                  <a:srgbClr val="B38B59"/>
                </a:solidFill>
                <a:latin typeface="MiSans" pitchFamily="34" charset="0"/>
                <a:ea typeface="MiSans" pitchFamily="34" charset="-122"/>
                <a:cs typeface="MiSans" pitchFamily="34" charset="-120"/>
              </a:rPr>
              <a:t>底层技术深度解析</a:t>
            </a:r>
            <a:endParaRPr lang="en-US" sz="1600" dirty="0"/>
          </a:p>
        </p:txBody>
      </p:sp>
      <p:sp>
        <p:nvSpPr>
          <p:cNvPr id="6" name="Text 3"/>
          <p:cNvSpPr/>
          <p:nvPr/>
        </p:nvSpPr>
        <p:spPr>
          <a:xfrm>
            <a:off x="508000" y="2844800"/>
            <a:ext cx="15697200" cy="1143000"/>
          </a:xfrm>
          <a:prstGeom prst="rect">
            <a:avLst/>
          </a:prstGeom>
          <a:noFill/>
          <a:ln/>
        </p:spPr>
        <p:txBody>
          <a:bodyPr wrap="square" lIns="0" tIns="0" rIns="0" bIns="0" rtlCol="0" anchor="ctr"/>
          <a:lstStyle/>
          <a:p>
            <a:pPr>
              <a:lnSpc>
                <a:spcPct val="100000"/>
              </a:lnSpc>
            </a:pPr>
            <a:r>
              <a:rPr lang="en-US" sz="7200" b="1" dirty="0">
                <a:solidFill>
                  <a:srgbClr val="E0E2E4"/>
                </a:solidFill>
                <a:latin typeface="MiSans" pitchFamily="34" charset="0"/>
                <a:ea typeface="MiSans" pitchFamily="34" charset="-122"/>
                <a:cs typeface="MiSans" pitchFamily="34" charset="-120"/>
              </a:rPr>
              <a:t>从Linux内核到应用层</a:t>
            </a:r>
            <a:endParaRPr lang="en-US" sz="1600" dirty="0"/>
          </a:p>
        </p:txBody>
      </p:sp>
      <p:sp>
        <p:nvSpPr>
          <p:cNvPr id="7" name="Text 4"/>
          <p:cNvSpPr/>
          <p:nvPr/>
        </p:nvSpPr>
        <p:spPr>
          <a:xfrm>
            <a:off x="508000" y="4292600"/>
            <a:ext cx="15544800" cy="1524000"/>
          </a:xfrm>
          <a:prstGeom prst="rect">
            <a:avLst/>
          </a:prstGeom>
          <a:noFill/>
          <a:ln/>
        </p:spPr>
        <p:txBody>
          <a:bodyPr wrap="square" lIns="0" tIns="0" rIns="0" bIns="0" rtlCol="0" anchor="ctr"/>
          <a:lstStyle/>
          <a:p>
            <a:pPr>
              <a:lnSpc>
                <a:spcPct val="100000"/>
              </a:lnSpc>
            </a:pPr>
            <a:r>
              <a:rPr lang="en-US" sz="4800" b="1" dirty="0">
                <a:solidFill>
                  <a:srgbClr val="B38B59"/>
                </a:solidFill>
                <a:latin typeface="Noto Sans SC" pitchFamily="34" charset="0"/>
                <a:ea typeface="Noto Sans SC" pitchFamily="34" charset="-122"/>
                <a:cs typeface="Noto Sans SC" pitchFamily="34" charset="-120"/>
              </a:rPr>
              <a:t>YARN与Kubernetes</a:t>
            </a:r>
            <a:endParaRPr lang="en-US" sz="1600" dirty="0"/>
          </a:p>
          <a:p>
            <a:pPr>
              <a:lnSpc>
                <a:spcPct val="100000"/>
              </a:lnSpc>
            </a:pPr>
            <a:r>
              <a:rPr lang="en-US" sz="4800" b="1" dirty="0">
                <a:solidFill>
                  <a:srgbClr val="B38B59"/>
                </a:solidFill>
                <a:latin typeface="Noto Sans SC" pitchFamily="34" charset="0"/>
                <a:ea typeface="Noto Sans SC" pitchFamily="34" charset="-122"/>
                <a:cs typeface="Noto Sans SC" pitchFamily="34" charset="-120"/>
              </a:rPr>
              <a:t>资源隔离技术全栈解析</a:t>
            </a:r>
            <a:endParaRPr lang="en-US" sz="1600" dirty="0"/>
          </a:p>
        </p:txBody>
      </p:sp>
      <p:sp>
        <p:nvSpPr>
          <p:cNvPr id="8" name="Shape 5"/>
          <p:cNvSpPr/>
          <p:nvPr/>
        </p:nvSpPr>
        <p:spPr>
          <a:xfrm>
            <a:off x="539750" y="6477000"/>
            <a:ext cx="254000" cy="254000"/>
          </a:xfrm>
          <a:custGeom>
            <a:avLst/>
            <a:gdLst/>
            <a:ahLst/>
            <a:cxnLst/>
            <a:rect l="l" t="t" r="r" b="b"/>
            <a:pathLst>
              <a:path w="254000" h="254000">
                <a:moveTo>
                  <a:pt x="115342" y="2580"/>
                </a:moveTo>
                <a:cubicBezTo>
                  <a:pt x="122734" y="-843"/>
                  <a:pt x="131266" y="-843"/>
                  <a:pt x="138658" y="2580"/>
                </a:cubicBezTo>
                <a:lnTo>
                  <a:pt x="247104" y="52685"/>
                </a:lnTo>
                <a:cubicBezTo>
                  <a:pt x="251321" y="54620"/>
                  <a:pt x="254000" y="58837"/>
                  <a:pt x="254000" y="63500"/>
                </a:cubicBezTo>
                <a:cubicBezTo>
                  <a:pt x="254000" y="68163"/>
                  <a:pt x="251321" y="72380"/>
                  <a:pt x="247104" y="74315"/>
                </a:cubicBezTo>
                <a:lnTo>
                  <a:pt x="138658" y="124420"/>
                </a:lnTo>
                <a:cubicBezTo>
                  <a:pt x="131266" y="127843"/>
                  <a:pt x="122734" y="127843"/>
                  <a:pt x="115342" y="124420"/>
                </a:cubicBezTo>
                <a:lnTo>
                  <a:pt x="6896" y="74315"/>
                </a:lnTo>
                <a:cubicBezTo>
                  <a:pt x="2679" y="72330"/>
                  <a:pt x="0" y="68114"/>
                  <a:pt x="0" y="63500"/>
                </a:cubicBezTo>
                <a:cubicBezTo>
                  <a:pt x="0" y="58886"/>
                  <a:pt x="2679" y="54620"/>
                  <a:pt x="6896" y="52685"/>
                </a:cubicBezTo>
                <a:lnTo>
                  <a:pt x="115342" y="2580"/>
                </a:lnTo>
                <a:close/>
                <a:moveTo>
                  <a:pt x="23862" y="108347"/>
                </a:moveTo>
                <a:lnTo>
                  <a:pt x="105370" y="146000"/>
                </a:lnTo>
                <a:cubicBezTo>
                  <a:pt x="119112" y="152350"/>
                  <a:pt x="134938" y="152350"/>
                  <a:pt x="148679" y="146000"/>
                </a:cubicBezTo>
                <a:lnTo>
                  <a:pt x="230188" y="108347"/>
                </a:lnTo>
                <a:lnTo>
                  <a:pt x="247104" y="116185"/>
                </a:lnTo>
                <a:cubicBezTo>
                  <a:pt x="251321" y="118120"/>
                  <a:pt x="254000" y="122337"/>
                  <a:pt x="254000" y="127000"/>
                </a:cubicBezTo>
                <a:cubicBezTo>
                  <a:pt x="254000" y="131663"/>
                  <a:pt x="251321" y="135880"/>
                  <a:pt x="247104" y="137815"/>
                </a:cubicBezTo>
                <a:lnTo>
                  <a:pt x="138658" y="187920"/>
                </a:lnTo>
                <a:cubicBezTo>
                  <a:pt x="131266" y="191343"/>
                  <a:pt x="122734" y="191343"/>
                  <a:pt x="115342" y="187920"/>
                </a:cubicBezTo>
                <a:lnTo>
                  <a:pt x="6896" y="137815"/>
                </a:lnTo>
                <a:cubicBezTo>
                  <a:pt x="2679" y="135830"/>
                  <a:pt x="0" y="131614"/>
                  <a:pt x="0" y="127000"/>
                </a:cubicBezTo>
                <a:cubicBezTo>
                  <a:pt x="0" y="122386"/>
                  <a:pt x="2679" y="118120"/>
                  <a:pt x="6896" y="116185"/>
                </a:cubicBezTo>
                <a:lnTo>
                  <a:pt x="23812" y="108347"/>
                </a:lnTo>
                <a:close/>
                <a:moveTo>
                  <a:pt x="6896" y="179685"/>
                </a:moveTo>
                <a:lnTo>
                  <a:pt x="23812" y="171847"/>
                </a:lnTo>
                <a:lnTo>
                  <a:pt x="105321" y="209500"/>
                </a:lnTo>
                <a:cubicBezTo>
                  <a:pt x="119063" y="215850"/>
                  <a:pt x="134888" y="215850"/>
                  <a:pt x="148630" y="209500"/>
                </a:cubicBezTo>
                <a:lnTo>
                  <a:pt x="230138" y="171847"/>
                </a:lnTo>
                <a:lnTo>
                  <a:pt x="247055" y="179685"/>
                </a:lnTo>
                <a:cubicBezTo>
                  <a:pt x="251271" y="181620"/>
                  <a:pt x="253950" y="185837"/>
                  <a:pt x="253950" y="190500"/>
                </a:cubicBezTo>
                <a:cubicBezTo>
                  <a:pt x="253950" y="195163"/>
                  <a:pt x="251271" y="199380"/>
                  <a:pt x="247055" y="201315"/>
                </a:cubicBezTo>
                <a:lnTo>
                  <a:pt x="138609" y="251420"/>
                </a:lnTo>
                <a:cubicBezTo>
                  <a:pt x="131217" y="254843"/>
                  <a:pt x="122684" y="254843"/>
                  <a:pt x="115292" y="251420"/>
                </a:cubicBezTo>
                <a:lnTo>
                  <a:pt x="6896" y="201315"/>
                </a:lnTo>
                <a:cubicBezTo>
                  <a:pt x="2679" y="199330"/>
                  <a:pt x="0" y="195114"/>
                  <a:pt x="0" y="190500"/>
                </a:cubicBezTo>
                <a:cubicBezTo>
                  <a:pt x="0" y="185886"/>
                  <a:pt x="2679" y="181620"/>
                  <a:pt x="6896" y="179685"/>
                </a:cubicBezTo>
                <a:close/>
              </a:path>
            </a:pathLst>
          </a:custGeom>
          <a:solidFill>
            <a:srgbClr val="3C8082"/>
          </a:solidFill>
          <a:ln/>
        </p:spPr>
        <p:txBody>
          <a:bodyPr/>
          <a:lstStyle/>
          <a:p>
            <a:endParaRPr lang="zh-CN" altLang="en-US"/>
          </a:p>
        </p:txBody>
      </p:sp>
      <p:sp>
        <p:nvSpPr>
          <p:cNvPr id="9" name="Text 6"/>
          <p:cNvSpPr/>
          <p:nvPr/>
        </p:nvSpPr>
        <p:spPr>
          <a:xfrm>
            <a:off x="927100" y="6426200"/>
            <a:ext cx="1651000" cy="355600"/>
          </a:xfrm>
          <a:prstGeom prst="rect">
            <a:avLst/>
          </a:prstGeom>
          <a:noFill/>
          <a:ln/>
        </p:spPr>
        <p:txBody>
          <a:bodyPr wrap="square" lIns="0" tIns="0" rIns="0" bIns="0" rtlCol="0" anchor="ctr"/>
          <a:lstStyle/>
          <a:p>
            <a:pPr>
              <a:lnSpc>
                <a:spcPct val="120000"/>
              </a:lnSpc>
            </a:pPr>
            <a:r>
              <a:rPr lang="en-US" sz="2000" dirty="0">
                <a:solidFill>
                  <a:srgbClr val="E0E2E4">
                    <a:alpha val="80000"/>
                  </a:srgbClr>
                </a:solidFill>
                <a:latin typeface="MiSans" pitchFamily="34" charset="0"/>
                <a:ea typeface="MiSans" pitchFamily="34" charset="-122"/>
                <a:cs typeface="MiSans" pitchFamily="34" charset="-120"/>
              </a:rPr>
              <a:t>底层隔离技术</a:t>
            </a:r>
            <a:endParaRPr lang="en-US" sz="1600" dirty="0"/>
          </a:p>
        </p:txBody>
      </p:sp>
      <p:sp>
        <p:nvSpPr>
          <p:cNvPr id="10" name="Shape 7"/>
          <p:cNvSpPr/>
          <p:nvPr/>
        </p:nvSpPr>
        <p:spPr>
          <a:xfrm>
            <a:off x="2787650" y="6477000"/>
            <a:ext cx="254000" cy="254000"/>
          </a:xfrm>
          <a:custGeom>
            <a:avLst/>
            <a:gdLst/>
            <a:ahLst/>
            <a:cxnLst/>
            <a:rect l="l" t="t" r="r" b="b"/>
            <a:pathLst>
              <a:path w="254000" h="254000">
                <a:moveTo>
                  <a:pt x="87313" y="11906"/>
                </a:moveTo>
                <a:cubicBezTo>
                  <a:pt x="87313" y="5308"/>
                  <a:pt x="82004" y="0"/>
                  <a:pt x="75406" y="0"/>
                </a:cubicBezTo>
                <a:cubicBezTo>
                  <a:pt x="68808" y="0"/>
                  <a:pt x="63500" y="5308"/>
                  <a:pt x="63500" y="11906"/>
                </a:cubicBezTo>
                <a:lnTo>
                  <a:pt x="63500" y="31750"/>
                </a:lnTo>
                <a:cubicBezTo>
                  <a:pt x="45988" y="31750"/>
                  <a:pt x="31750" y="45988"/>
                  <a:pt x="31750" y="63500"/>
                </a:cubicBezTo>
                <a:lnTo>
                  <a:pt x="11906" y="63500"/>
                </a:lnTo>
                <a:cubicBezTo>
                  <a:pt x="5308" y="63500"/>
                  <a:pt x="0" y="68808"/>
                  <a:pt x="0" y="75406"/>
                </a:cubicBezTo>
                <a:cubicBezTo>
                  <a:pt x="0" y="82004"/>
                  <a:pt x="5308" y="87313"/>
                  <a:pt x="11906" y="87313"/>
                </a:cubicBezTo>
                <a:lnTo>
                  <a:pt x="31750" y="87313"/>
                </a:lnTo>
                <a:lnTo>
                  <a:pt x="31750" y="115094"/>
                </a:lnTo>
                <a:lnTo>
                  <a:pt x="11906" y="115094"/>
                </a:lnTo>
                <a:cubicBezTo>
                  <a:pt x="5308" y="115094"/>
                  <a:pt x="0" y="120402"/>
                  <a:pt x="0" y="127000"/>
                </a:cubicBezTo>
                <a:cubicBezTo>
                  <a:pt x="0" y="133598"/>
                  <a:pt x="5308" y="138906"/>
                  <a:pt x="11906" y="138906"/>
                </a:cubicBezTo>
                <a:lnTo>
                  <a:pt x="31750" y="138906"/>
                </a:lnTo>
                <a:lnTo>
                  <a:pt x="31750" y="166688"/>
                </a:lnTo>
                <a:lnTo>
                  <a:pt x="11906" y="166688"/>
                </a:lnTo>
                <a:cubicBezTo>
                  <a:pt x="5308" y="166688"/>
                  <a:pt x="0" y="171996"/>
                  <a:pt x="0" y="178594"/>
                </a:cubicBezTo>
                <a:cubicBezTo>
                  <a:pt x="0" y="185192"/>
                  <a:pt x="5308" y="190500"/>
                  <a:pt x="11906" y="190500"/>
                </a:cubicBezTo>
                <a:lnTo>
                  <a:pt x="31750" y="190500"/>
                </a:lnTo>
                <a:cubicBezTo>
                  <a:pt x="31750" y="208012"/>
                  <a:pt x="45988" y="222250"/>
                  <a:pt x="63500" y="222250"/>
                </a:cubicBezTo>
                <a:lnTo>
                  <a:pt x="63500" y="242094"/>
                </a:lnTo>
                <a:cubicBezTo>
                  <a:pt x="63500" y="248692"/>
                  <a:pt x="68808" y="254000"/>
                  <a:pt x="75406" y="254000"/>
                </a:cubicBezTo>
                <a:cubicBezTo>
                  <a:pt x="82004" y="254000"/>
                  <a:pt x="87313" y="248692"/>
                  <a:pt x="87313" y="242094"/>
                </a:cubicBezTo>
                <a:lnTo>
                  <a:pt x="87313" y="222250"/>
                </a:lnTo>
                <a:lnTo>
                  <a:pt x="115094" y="222250"/>
                </a:lnTo>
                <a:lnTo>
                  <a:pt x="115094" y="242094"/>
                </a:lnTo>
                <a:cubicBezTo>
                  <a:pt x="115094" y="248692"/>
                  <a:pt x="120402" y="254000"/>
                  <a:pt x="127000" y="254000"/>
                </a:cubicBezTo>
                <a:cubicBezTo>
                  <a:pt x="133598" y="254000"/>
                  <a:pt x="138906" y="248692"/>
                  <a:pt x="138906" y="242094"/>
                </a:cubicBezTo>
                <a:lnTo>
                  <a:pt x="138906" y="222250"/>
                </a:lnTo>
                <a:lnTo>
                  <a:pt x="166688" y="222250"/>
                </a:lnTo>
                <a:lnTo>
                  <a:pt x="166688" y="242094"/>
                </a:lnTo>
                <a:cubicBezTo>
                  <a:pt x="166688" y="248692"/>
                  <a:pt x="171996" y="254000"/>
                  <a:pt x="178594" y="254000"/>
                </a:cubicBezTo>
                <a:cubicBezTo>
                  <a:pt x="185192" y="254000"/>
                  <a:pt x="190500" y="248692"/>
                  <a:pt x="190500" y="242094"/>
                </a:cubicBezTo>
                <a:lnTo>
                  <a:pt x="190500" y="222250"/>
                </a:lnTo>
                <a:cubicBezTo>
                  <a:pt x="208012" y="222250"/>
                  <a:pt x="222250" y="208012"/>
                  <a:pt x="222250" y="190500"/>
                </a:cubicBezTo>
                <a:lnTo>
                  <a:pt x="242094" y="190500"/>
                </a:lnTo>
                <a:cubicBezTo>
                  <a:pt x="248692" y="190500"/>
                  <a:pt x="254000" y="185192"/>
                  <a:pt x="254000" y="178594"/>
                </a:cubicBezTo>
                <a:cubicBezTo>
                  <a:pt x="254000" y="171996"/>
                  <a:pt x="248692" y="166688"/>
                  <a:pt x="242094" y="166688"/>
                </a:cubicBezTo>
                <a:lnTo>
                  <a:pt x="222250" y="166688"/>
                </a:lnTo>
                <a:lnTo>
                  <a:pt x="222250" y="138906"/>
                </a:lnTo>
                <a:lnTo>
                  <a:pt x="242094" y="138906"/>
                </a:lnTo>
                <a:cubicBezTo>
                  <a:pt x="248692" y="138906"/>
                  <a:pt x="254000" y="133598"/>
                  <a:pt x="254000" y="127000"/>
                </a:cubicBezTo>
                <a:cubicBezTo>
                  <a:pt x="254000" y="120402"/>
                  <a:pt x="248692" y="115094"/>
                  <a:pt x="242094" y="115094"/>
                </a:cubicBezTo>
                <a:lnTo>
                  <a:pt x="222250" y="115094"/>
                </a:lnTo>
                <a:lnTo>
                  <a:pt x="222250" y="87313"/>
                </a:lnTo>
                <a:lnTo>
                  <a:pt x="242094" y="87313"/>
                </a:lnTo>
                <a:cubicBezTo>
                  <a:pt x="248692" y="87313"/>
                  <a:pt x="254000" y="82004"/>
                  <a:pt x="254000" y="75406"/>
                </a:cubicBezTo>
                <a:cubicBezTo>
                  <a:pt x="254000" y="68808"/>
                  <a:pt x="248692" y="63500"/>
                  <a:pt x="242094" y="63500"/>
                </a:cubicBezTo>
                <a:lnTo>
                  <a:pt x="222250" y="63500"/>
                </a:lnTo>
                <a:cubicBezTo>
                  <a:pt x="222250" y="45988"/>
                  <a:pt x="208012" y="31750"/>
                  <a:pt x="190500" y="31750"/>
                </a:cubicBezTo>
                <a:lnTo>
                  <a:pt x="190500" y="11906"/>
                </a:lnTo>
                <a:cubicBezTo>
                  <a:pt x="190500" y="5308"/>
                  <a:pt x="185192" y="0"/>
                  <a:pt x="178594" y="0"/>
                </a:cubicBezTo>
                <a:cubicBezTo>
                  <a:pt x="171996" y="0"/>
                  <a:pt x="166688" y="5308"/>
                  <a:pt x="166688" y="11906"/>
                </a:cubicBezTo>
                <a:lnTo>
                  <a:pt x="166688" y="31750"/>
                </a:lnTo>
                <a:lnTo>
                  <a:pt x="138906" y="31750"/>
                </a:lnTo>
                <a:lnTo>
                  <a:pt x="138906" y="11906"/>
                </a:lnTo>
                <a:cubicBezTo>
                  <a:pt x="138906" y="5308"/>
                  <a:pt x="133598" y="0"/>
                  <a:pt x="127000" y="0"/>
                </a:cubicBezTo>
                <a:cubicBezTo>
                  <a:pt x="120402" y="0"/>
                  <a:pt x="115094" y="5308"/>
                  <a:pt x="115094" y="11906"/>
                </a:cubicBezTo>
                <a:lnTo>
                  <a:pt x="115094" y="31750"/>
                </a:lnTo>
                <a:lnTo>
                  <a:pt x="87313" y="31750"/>
                </a:lnTo>
                <a:lnTo>
                  <a:pt x="87313" y="11906"/>
                </a:lnTo>
                <a:close/>
                <a:moveTo>
                  <a:pt x="79375" y="63500"/>
                </a:moveTo>
                <a:lnTo>
                  <a:pt x="174625" y="63500"/>
                </a:lnTo>
                <a:cubicBezTo>
                  <a:pt x="183406" y="63500"/>
                  <a:pt x="190500" y="70594"/>
                  <a:pt x="190500" y="79375"/>
                </a:cubicBezTo>
                <a:lnTo>
                  <a:pt x="190500" y="174625"/>
                </a:lnTo>
                <a:cubicBezTo>
                  <a:pt x="190500" y="183406"/>
                  <a:pt x="183406" y="190500"/>
                  <a:pt x="174625" y="190500"/>
                </a:cubicBezTo>
                <a:lnTo>
                  <a:pt x="79375" y="190500"/>
                </a:lnTo>
                <a:cubicBezTo>
                  <a:pt x="70594" y="190500"/>
                  <a:pt x="63500" y="183406"/>
                  <a:pt x="63500" y="174625"/>
                </a:cubicBezTo>
                <a:lnTo>
                  <a:pt x="63500" y="79375"/>
                </a:lnTo>
                <a:cubicBezTo>
                  <a:pt x="63500" y="70594"/>
                  <a:pt x="70594" y="63500"/>
                  <a:pt x="79375" y="63500"/>
                </a:cubicBezTo>
                <a:close/>
                <a:moveTo>
                  <a:pt x="87313" y="87313"/>
                </a:moveTo>
                <a:lnTo>
                  <a:pt x="87313" y="166688"/>
                </a:lnTo>
                <a:lnTo>
                  <a:pt x="166688" y="166688"/>
                </a:lnTo>
                <a:lnTo>
                  <a:pt x="166688" y="87313"/>
                </a:lnTo>
                <a:lnTo>
                  <a:pt x="87313" y="87313"/>
                </a:lnTo>
                <a:close/>
              </a:path>
            </a:pathLst>
          </a:custGeom>
          <a:solidFill>
            <a:srgbClr val="3C8082"/>
          </a:solidFill>
          <a:ln/>
        </p:spPr>
        <p:txBody>
          <a:bodyPr/>
          <a:lstStyle/>
          <a:p>
            <a:endParaRPr lang="zh-CN" altLang="en-US"/>
          </a:p>
        </p:txBody>
      </p:sp>
      <p:sp>
        <p:nvSpPr>
          <p:cNvPr id="11" name="Text 8"/>
          <p:cNvSpPr/>
          <p:nvPr/>
        </p:nvSpPr>
        <p:spPr>
          <a:xfrm>
            <a:off x="3175000" y="6426200"/>
            <a:ext cx="1651000" cy="355600"/>
          </a:xfrm>
          <a:prstGeom prst="rect">
            <a:avLst/>
          </a:prstGeom>
          <a:noFill/>
          <a:ln/>
        </p:spPr>
        <p:txBody>
          <a:bodyPr wrap="square" lIns="0" tIns="0" rIns="0" bIns="0" rtlCol="0" anchor="ctr"/>
          <a:lstStyle/>
          <a:p>
            <a:pPr>
              <a:lnSpc>
                <a:spcPct val="120000"/>
              </a:lnSpc>
            </a:pPr>
            <a:r>
              <a:rPr lang="en-US" sz="2000" dirty="0">
                <a:solidFill>
                  <a:srgbClr val="E0E2E4">
                    <a:alpha val="80000"/>
                  </a:srgbClr>
                </a:solidFill>
                <a:latin typeface="MiSans" pitchFamily="34" charset="0"/>
                <a:ea typeface="MiSans" pitchFamily="34" charset="-122"/>
                <a:cs typeface="MiSans" pitchFamily="34" charset="-120"/>
              </a:rPr>
              <a:t>架构对比分析</a:t>
            </a:r>
            <a:endParaRPr lang="en-US" sz="1600" dirty="0"/>
          </a:p>
        </p:txBody>
      </p:sp>
      <p:sp>
        <p:nvSpPr>
          <p:cNvPr id="12" name="Shape 9"/>
          <p:cNvSpPr/>
          <p:nvPr/>
        </p:nvSpPr>
        <p:spPr>
          <a:xfrm>
            <a:off x="5051425" y="6477000"/>
            <a:ext cx="222250" cy="254000"/>
          </a:xfrm>
          <a:custGeom>
            <a:avLst/>
            <a:gdLst/>
            <a:ahLst/>
            <a:cxnLst/>
            <a:rect l="l" t="t" r="r" b="b"/>
            <a:pathLst>
              <a:path w="222250" h="254000">
                <a:moveTo>
                  <a:pt x="31750" y="15875"/>
                </a:moveTo>
                <a:cubicBezTo>
                  <a:pt x="14238" y="15875"/>
                  <a:pt x="0" y="30113"/>
                  <a:pt x="0" y="47625"/>
                </a:cubicBezTo>
                <a:lnTo>
                  <a:pt x="0" y="79375"/>
                </a:lnTo>
                <a:cubicBezTo>
                  <a:pt x="0" y="96887"/>
                  <a:pt x="14238" y="111125"/>
                  <a:pt x="31750" y="111125"/>
                </a:cubicBezTo>
                <a:lnTo>
                  <a:pt x="190500" y="111125"/>
                </a:lnTo>
                <a:cubicBezTo>
                  <a:pt x="208012" y="111125"/>
                  <a:pt x="222250" y="96887"/>
                  <a:pt x="222250" y="79375"/>
                </a:cubicBezTo>
                <a:lnTo>
                  <a:pt x="222250" y="47625"/>
                </a:lnTo>
                <a:cubicBezTo>
                  <a:pt x="222250" y="30113"/>
                  <a:pt x="208012" y="15875"/>
                  <a:pt x="190500" y="15875"/>
                </a:cubicBezTo>
                <a:lnTo>
                  <a:pt x="31750" y="15875"/>
                </a:lnTo>
                <a:close/>
                <a:moveTo>
                  <a:pt x="138906" y="51594"/>
                </a:moveTo>
                <a:cubicBezTo>
                  <a:pt x="145477" y="51594"/>
                  <a:pt x="150813" y="56929"/>
                  <a:pt x="150813" y="63500"/>
                </a:cubicBezTo>
                <a:cubicBezTo>
                  <a:pt x="150813" y="70071"/>
                  <a:pt x="145477" y="75406"/>
                  <a:pt x="138906" y="75406"/>
                </a:cubicBezTo>
                <a:cubicBezTo>
                  <a:pt x="132335" y="75406"/>
                  <a:pt x="127000" y="70071"/>
                  <a:pt x="127000" y="63500"/>
                </a:cubicBezTo>
                <a:cubicBezTo>
                  <a:pt x="127000" y="56929"/>
                  <a:pt x="132335" y="51594"/>
                  <a:pt x="138906" y="51594"/>
                </a:cubicBezTo>
                <a:close/>
                <a:moveTo>
                  <a:pt x="166688" y="63500"/>
                </a:moveTo>
                <a:cubicBezTo>
                  <a:pt x="166688" y="56929"/>
                  <a:pt x="172023" y="51594"/>
                  <a:pt x="178594" y="51594"/>
                </a:cubicBezTo>
                <a:cubicBezTo>
                  <a:pt x="185165" y="51594"/>
                  <a:pt x="190500" y="56929"/>
                  <a:pt x="190500" y="63500"/>
                </a:cubicBezTo>
                <a:cubicBezTo>
                  <a:pt x="190500" y="70071"/>
                  <a:pt x="185165" y="75406"/>
                  <a:pt x="178594" y="75406"/>
                </a:cubicBezTo>
                <a:cubicBezTo>
                  <a:pt x="172023" y="75406"/>
                  <a:pt x="166688" y="70071"/>
                  <a:pt x="166688" y="63500"/>
                </a:cubicBezTo>
                <a:close/>
                <a:moveTo>
                  <a:pt x="31750" y="142875"/>
                </a:moveTo>
                <a:cubicBezTo>
                  <a:pt x="14238" y="142875"/>
                  <a:pt x="0" y="157113"/>
                  <a:pt x="0" y="174625"/>
                </a:cubicBezTo>
                <a:lnTo>
                  <a:pt x="0" y="206375"/>
                </a:lnTo>
                <a:cubicBezTo>
                  <a:pt x="0" y="223887"/>
                  <a:pt x="14238" y="238125"/>
                  <a:pt x="31750" y="238125"/>
                </a:cubicBezTo>
                <a:lnTo>
                  <a:pt x="190500" y="238125"/>
                </a:lnTo>
                <a:cubicBezTo>
                  <a:pt x="208012" y="238125"/>
                  <a:pt x="222250" y="223887"/>
                  <a:pt x="222250" y="206375"/>
                </a:cubicBezTo>
                <a:lnTo>
                  <a:pt x="222250" y="174625"/>
                </a:lnTo>
                <a:cubicBezTo>
                  <a:pt x="222250" y="157113"/>
                  <a:pt x="208012" y="142875"/>
                  <a:pt x="190500" y="142875"/>
                </a:cubicBezTo>
                <a:lnTo>
                  <a:pt x="31750" y="142875"/>
                </a:lnTo>
                <a:close/>
                <a:moveTo>
                  <a:pt x="138906" y="178594"/>
                </a:moveTo>
                <a:cubicBezTo>
                  <a:pt x="145477" y="178594"/>
                  <a:pt x="150813" y="183929"/>
                  <a:pt x="150813" y="190500"/>
                </a:cubicBezTo>
                <a:cubicBezTo>
                  <a:pt x="150813" y="197071"/>
                  <a:pt x="145477" y="202406"/>
                  <a:pt x="138906" y="202406"/>
                </a:cubicBezTo>
                <a:cubicBezTo>
                  <a:pt x="132335" y="202406"/>
                  <a:pt x="127000" y="197071"/>
                  <a:pt x="127000" y="190500"/>
                </a:cubicBezTo>
                <a:cubicBezTo>
                  <a:pt x="127000" y="183929"/>
                  <a:pt x="132335" y="178594"/>
                  <a:pt x="138906" y="178594"/>
                </a:cubicBezTo>
                <a:close/>
                <a:moveTo>
                  <a:pt x="166688" y="190500"/>
                </a:moveTo>
                <a:cubicBezTo>
                  <a:pt x="166688" y="183929"/>
                  <a:pt x="172023" y="178594"/>
                  <a:pt x="178594" y="178594"/>
                </a:cubicBezTo>
                <a:cubicBezTo>
                  <a:pt x="185165" y="178594"/>
                  <a:pt x="190500" y="183929"/>
                  <a:pt x="190500" y="190500"/>
                </a:cubicBezTo>
                <a:cubicBezTo>
                  <a:pt x="190500" y="197071"/>
                  <a:pt x="185165" y="202406"/>
                  <a:pt x="178594" y="202406"/>
                </a:cubicBezTo>
                <a:cubicBezTo>
                  <a:pt x="172023" y="202406"/>
                  <a:pt x="166688" y="197071"/>
                  <a:pt x="166688" y="190500"/>
                </a:cubicBezTo>
                <a:close/>
              </a:path>
            </a:pathLst>
          </a:custGeom>
          <a:solidFill>
            <a:srgbClr val="3C8082"/>
          </a:solidFill>
          <a:ln/>
        </p:spPr>
        <p:txBody>
          <a:bodyPr/>
          <a:lstStyle/>
          <a:p>
            <a:endParaRPr lang="zh-CN" altLang="en-US"/>
          </a:p>
        </p:txBody>
      </p:sp>
      <p:sp>
        <p:nvSpPr>
          <p:cNvPr id="13" name="Text 10"/>
          <p:cNvSpPr/>
          <p:nvPr/>
        </p:nvSpPr>
        <p:spPr>
          <a:xfrm>
            <a:off x="5422900" y="6426200"/>
            <a:ext cx="1651000" cy="355600"/>
          </a:xfrm>
          <a:prstGeom prst="rect">
            <a:avLst/>
          </a:prstGeom>
          <a:noFill/>
          <a:ln/>
        </p:spPr>
        <p:txBody>
          <a:bodyPr wrap="square" lIns="0" tIns="0" rIns="0" bIns="0" rtlCol="0" anchor="ctr"/>
          <a:lstStyle/>
          <a:p>
            <a:pPr>
              <a:lnSpc>
                <a:spcPct val="120000"/>
              </a:lnSpc>
            </a:pPr>
            <a:r>
              <a:rPr lang="en-US" sz="2000" dirty="0">
                <a:solidFill>
                  <a:srgbClr val="E0E2E4">
                    <a:alpha val="80000"/>
                  </a:srgbClr>
                </a:solidFill>
                <a:latin typeface="MiSans" pitchFamily="34" charset="0"/>
                <a:ea typeface="MiSans" pitchFamily="34" charset="-122"/>
                <a:cs typeface="MiSans" pitchFamily="34" charset="-120"/>
              </a:rPr>
              <a:t>技术选型指南</a:t>
            </a:r>
            <a:endParaRPr lang="en-US" sz="1600" dirty="0"/>
          </a:p>
        </p:txBody>
      </p:sp>
      <p:sp>
        <p:nvSpPr>
          <p:cNvPr id="14" name="Shape 11"/>
          <p:cNvSpPr/>
          <p:nvPr/>
        </p:nvSpPr>
        <p:spPr>
          <a:xfrm>
            <a:off x="508000" y="7188200"/>
            <a:ext cx="1625600" cy="50800"/>
          </a:xfrm>
          <a:custGeom>
            <a:avLst/>
            <a:gdLst/>
            <a:ahLst/>
            <a:cxnLst/>
            <a:rect l="l" t="t" r="r" b="b"/>
            <a:pathLst>
              <a:path w="1625600" h="50800">
                <a:moveTo>
                  <a:pt x="0" y="0"/>
                </a:moveTo>
                <a:lnTo>
                  <a:pt x="1625600" y="0"/>
                </a:lnTo>
                <a:lnTo>
                  <a:pt x="1625600" y="50800"/>
                </a:lnTo>
                <a:lnTo>
                  <a:pt x="0" y="50800"/>
                </a:lnTo>
                <a:lnTo>
                  <a:pt x="0" y="0"/>
                </a:lnTo>
                <a:close/>
              </a:path>
            </a:pathLst>
          </a:custGeom>
          <a:gradFill flip="none" rotWithShape="1">
            <a:gsLst>
              <a:gs pos="0">
                <a:srgbClr val="3C8082"/>
              </a:gs>
              <a:gs pos="100000">
                <a:srgbClr val="B38B59"/>
              </a:gs>
            </a:gsLst>
            <a:lin ang="0" scaled="1"/>
          </a:gradFill>
          <a:ln/>
        </p:spPr>
        <p:txBody>
          <a:bodyPr/>
          <a:lstStyle/>
          <a:p>
            <a:endParaRPr lang="zh-CN" altLang="en-US"/>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8000" y="508000"/>
            <a:ext cx="15544800" cy="609600"/>
          </a:xfrm>
          <a:prstGeom prst="rect">
            <a:avLst/>
          </a:prstGeom>
          <a:noFill/>
          <a:ln/>
        </p:spPr>
        <p:txBody>
          <a:bodyPr wrap="square" lIns="0" tIns="0" rIns="0" bIns="0" rtlCol="0" anchor="ctr"/>
          <a:lstStyle/>
          <a:p>
            <a:pPr>
              <a:lnSpc>
                <a:spcPct val="80000"/>
              </a:lnSpc>
            </a:pPr>
            <a:r>
              <a:rPr lang="en-US" sz="4800" b="1" dirty="0">
                <a:solidFill>
                  <a:srgbClr val="E0E2E4"/>
                </a:solidFill>
                <a:latin typeface="MiSans" pitchFamily="34" charset="0"/>
                <a:ea typeface="MiSans" pitchFamily="34" charset="-122"/>
                <a:cs typeface="MiSans" pitchFamily="34" charset="-120"/>
              </a:rPr>
              <a:t>目录</a:t>
            </a:r>
            <a:endParaRPr lang="en-US" sz="1600" dirty="0"/>
          </a:p>
        </p:txBody>
      </p:sp>
      <p:sp>
        <p:nvSpPr>
          <p:cNvPr id="3" name="Shape 1"/>
          <p:cNvSpPr/>
          <p:nvPr/>
        </p:nvSpPr>
        <p:spPr>
          <a:xfrm>
            <a:off x="508000" y="1270000"/>
            <a:ext cx="1219200" cy="50800"/>
          </a:xfrm>
          <a:custGeom>
            <a:avLst/>
            <a:gdLst/>
            <a:ahLst/>
            <a:cxnLst/>
            <a:rect l="l" t="t" r="r" b="b"/>
            <a:pathLst>
              <a:path w="1219200" h="50800">
                <a:moveTo>
                  <a:pt x="0" y="0"/>
                </a:moveTo>
                <a:lnTo>
                  <a:pt x="1219200" y="0"/>
                </a:lnTo>
                <a:lnTo>
                  <a:pt x="1219200" y="50800"/>
                </a:lnTo>
                <a:lnTo>
                  <a:pt x="0" y="50800"/>
                </a:lnTo>
                <a:lnTo>
                  <a:pt x="0" y="0"/>
                </a:lnTo>
                <a:close/>
              </a:path>
            </a:pathLst>
          </a:custGeom>
          <a:solidFill>
            <a:srgbClr val="B38B59"/>
          </a:solidFill>
          <a:ln/>
        </p:spPr>
        <p:txBody>
          <a:bodyPr/>
          <a:lstStyle/>
          <a:p>
            <a:endParaRPr lang="zh-CN" altLang="en-US"/>
          </a:p>
        </p:txBody>
      </p:sp>
      <p:sp>
        <p:nvSpPr>
          <p:cNvPr id="4" name="Shape 2"/>
          <p:cNvSpPr/>
          <p:nvPr/>
        </p:nvSpPr>
        <p:spPr>
          <a:xfrm>
            <a:off x="533400" y="1727200"/>
            <a:ext cx="7442200" cy="2095500"/>
          </a:xfrm>
          <a:custGeom>
            <a:avLst/>
            <a:gdLst/>
            <a:ahLst/>
            <a:cxnLst/>
            <a:rect l="l" t="t" r="r" b="b"/>
            <a:pathLst>
              <a:path w="7442200" h="2095500">
                <a:moveTo>
                  <a:pt x="50800" y="0"/>
                </a:moveTo>
                <a:lnTo>
                  <a:pt x="7340610" y="0"/>
                </a:lnTo>
                <a:cubicBezTo>
                  <a:pt x="7396717" y="0"/>
                  <a:pt x="7442200" y="45483"/>
                  <a:pt x="7442200" y="101590"/>
                </a:cubicBezTo>
                <a:lnTo>
                  <a:pt x="7442200" y="1993910"/>
                </a:lnTo>
                <a:cubicBezTo>
                  <a:pt x="7442200" y="2050017"/>
                  <a:pt x="7396717" y="2095500"/>
                  <a:pt x="7340610" y="2095500"/>
                </a:cubicBezTo>
                <a:lnTo>
                  <a:pt x="50800" y="2095500"/>
                </a:lnTo>
                <a:cubicBezTo>
                  <a:pt x="22744" y="2095500"/>
                  <a:pt x="0" y="2072756"/>
                  <a:pt x="0" y="2044700"/>
                </a:cubicBezTo>
                <a:lnTo>
                  <a:pt x="0" y="50800"/>
                </a:lnTo>
                <a:cubicBezTo>
                  <a:pt x="0" y="22763"/>
                  <a:pt x="22763" y="0"/>
                  <a:pt x="50800" y="0"/>
                </a:cubicBezTo>
                <a:close/>
              </a:path>
            </a:pathLst>
          </a:custGeom>
          <a:solidFill>
            <a:srgbClr val="3C8082">
              <a:alpha val="10196"/>
            </a:srgbClr>
          </a:solidFill>
          <a:ln/>
        </p:spPr>
        <p:txBody>
          <a:bodyPr/>
          <a:lstStyle/>
          <a:p>
            <a:endParaRPr lang="zh-CN" altLang="en-US"/>
          </a:p>
        </p:txBody>
      </p:sp>
      <p:sp>
        <p:nvSpPr>
          <p:cNvPr id="5" name="Shape 3"/>
          <p:cNvSpPr/>
          <p:nvPr/>
        </p:nvSpPr>
        <p:spPr>
          <a:xfrm>
            <a:off x="533400" y="1727200"/>
            <a:ext cx="50800" cy="2095500"/>
          </a:xfrm>
          <a:custGeom>
            <a:avLst/>
            <a:gdLst/>
            <a:ahLst/>
            <a:cxnLst/>
            <a:rect l="l" t="t" r="r" b="b"/>
            <a:pathLst>
              <a:path w="50800" h="2095500">
                <a:moveTo>
                  <a:pt x="50800" y="0"/>
                </a:moveTo>
                <a:lnTo>
                  <a:pt x="50800" y="0"/>
                </a:lnTo>
                <a:lnTo>
                  <a:pt x="50800" y="2095500"/>
                </a:lnTo>
                <a:lnTo>
                  <a:pt x="50800" y="2095500"/>
                </a:lnTo>
                <a:cubicBezTo>
                  <a:pt x="22763" y="2095500"/>
                  <a:pt x="0" y="2072737"/>
                  <a:pt x="0" y="2044700"/>
                </a:cubicBezTo>
                <a:lnTo>
                  <a:pt x="0" y="50800"/>
                </a:lnTo>
                <a:cubicBezTo>
                  <a:pt x="0" y="22763"/>
                  <a:pt x="22763" y="0"/>
                  <a:pt x="50800" y="0"/>
                </a:cubicBezTo>
                <a:close/>
              </a:path>
            </a:pathLst>
          </a:custGeom>
          <a:solidFill>
            <a:srgbClr val="3C8082"/>
          </a:solidFill>
          <a:ln/>
        </p:spPr>
        <p:txBody>
          <a:bodyPr/>
          <a:lstStyle/>
          <a:p>
            <a:endParaRPr lang="zh-CN" altLang="en-US"/>
          </a:p>
        </p:txBody>
      </p:sp>
      <p:sp>
        <p:nvSpPr>
          <p:cNvPr id="6" name="Shape 4"/>
          <p:cNvSpPr/>
          <p:nvPr/>
        </p:nvSpPr>
        <p:spPr>
          <a:xfrm>
            <a:off x="863600" y="2032000"/>
            <a:ext cx="711200" cy="711200"/>
          </a:xfrm>
          <a:custGeom>
            <a:avLst/>
            <a:gdLst/>
            <a:ahLst/>
            <a:cxnLst/>
            <a:rect l="l" t="t" r="r" b="b"/>
            <a:pathLst>
              <a:path w="711200" h="711200">
                <a:moveTo>
                  <a:pt x="101602" y="0"/>
                </a:moveTo>
                <a:lnTo>
                  <a:pt x="609598" y="0"/>
                </a:lnTo>
                <a:cubicBezTo>
                  <a:pt x="665711" y="0"/>
                  <a:pt x="711200" y="45489"/>
                  <a:pt x="711200" y="101602"/>
                </a:cubicBezTo>
                <a:lnTo>
                  <a:pt x="711200" y="609598"/>
                </a:lnTo>
                <a:cubicBezTo>
                  <a:pt x="711200" y="665711"/>
                  <a:pt x="665711" y="711200"/>
                  <a:pt x="609598" y="711200"/>
                </a:cubicBezTo>
                <a:lnTo>
                  <a:pt x="101602" y="711200"/>
                </a:lnTo>
                <a:cubicBezTo>
                  <a:pt x="45489" y="711200"/>
                  <a:pt x="0" y="665711"/>
                  <a:pt x="0" y="609598"/>
                </a:cubicBezTo>
                <a:lnTo>
                  <a:pt x="0" y="101602"/>
                </a:lnTo>
                <a:cubicBezTo>
                  <a:pt x="0" y="45526"/>
                  <a:pt x="45526" y="0"/>
                  <a:pt x="101602" y="0"/>
                </a:cubicBezTo>
                <a:close/>
              </a:path>
            </a:pathLst>
          </a:custGeom>
          <a:solidFill>
            <a:srgbClr val="3C8082"/>
          </a:solidFill>
          <a:ln/>
        </p:spPr>
        <p:txBody>
          <a:bodyPr/>
          <a:lstStyle/>
          <a:p>
            <a:endParaRPr lang="zh-CN" altLang="en-US"/>
          </a:p>
        </p:txBody>
      </p:sp>
      <p:sp>
        <p:nvSpPr>
          <p:cNvPr id="7" name="Text 5"/>
          <p:cNvSpPr/>
          <p:nvPr/>
        </p:nvSpPr>
        <p:spPr>
          <a:xfrm>
            <a:off x="787400" y="2032000"/>
            <a:ext cx="863600" cy="711200"/>
          </a:xfrm>
          <a:prstGeom prst="rect">
            <a:avLst/>
          </a:prstGeom>
          <a:noFill/>
          <a:ln/>
        </p:spPr>
        <p:txBody>
          <a:bodyPr wrap="square" lIns="0" tIns="0" rIns="0" bIns="0" rtlCol="0" anchor="ctr"/>
          <a:lstStyle/>
          <a:p>
            <a:pPr algn="ctr">
              <a:lnSpc>
                <a:spcPct val="110000"/>
              </a:lnSpc>
            </a:pPr>
            <a:r>
              <a:rPr lang="en-US" sz="2400" b="1" dirty="0">
                <a:solidFill>
                  <a:srgbClr val="FFFFFF"/>
                </a:solidFill>
                <a:latin typeface="Liter" pitchFamily="34" charset="0"/>
                <a:ea typeface="Liter" pitchFamily="34" charset="-122"/>
                <a:cs typeface="Liter" pitchFamily="34" charset="-120"/>
              </a:rPr>
              <a:t>01</a:t>
            </a:r>
            <a:endParaRPr lang="en-US" sz="1600" dirty="0"/>
          </a:p>
        </p:txBody>
      </p:sp>
      <p:sp>
        <p:nvSpPr>
          <p:cNvPr id="8" name="Text 6"/>
          <p:cNvSpPr/>
          <p:nvPr/>
        </p:nvSpPr>
        <p:spPr>
          <a:xfrm>
            <a:off x="1778000" y="2032000"/>
            <a:ext cx="6045200" cy="406400"/>
          </a:xfrm>
          <a:prstGeom prst="rect">
            <a:avLst/>
          </a:prstGeom>
          <a:noFill/>
          <a:ln/>
        </p:spPr>
        <p:txBody>
          <a:bodyPr wrap="square" lIns="0" tIns="0" rIns="0" bIns="0" rtlCol="0" anchor="ctr"/>
          <a:lstStyle/>
          <a:p>
            <a:pPr>
              <a:lnSpc>
                <a:spcPct val="110000"/>
              </a:lnSpc>
            </a:pPr>
            <a:r>
              <a:rPr lang="en-US" sz="2400" b="1" dirty="0">
                <a:solidFill>
                  <a:srgbClr val="E0E2E4"/>
                </a:solidFill>
                <a:latin typeface="MiSans" pitchFamily="34" charset="0"/>
                <a:ea typeface="MiSans" pitchFamily="34" charset="-122"/>
                <a:cs typeface="MiSans" pitchFamily="34" charset="-120"/>
              </a:rPr>
              <a:t>分布式资源管理的技术演进</a:t>
            </a:r>
            <a:endParaRPr lang="en-US" sz="1600" dirty="0"/>
          </a:p>
        </p:txBody>
      </p:sp>
      <p:sp>
        <p:nvSpPr>
          <p:cNvPr id="9" name="Text 7"/>
          <p:cNvSpPr/>
          <p:nvPr/>
        </p:nvSpPr>
        <p:spPr>
          <a:xfrm>
            <a:off x="1778000" y="2540000"/>
            <a:ext cx="5994400" cy="330200"/>
          </a:xfrm>
          <a:prstGeom prst="rect">
            <a:avLst/>
          </a:prstGeom>
          <a:noFill/>
          <a:ln/>
        </p:spPr>
        <p:txBody>
          <a:bodyPr wrap="square" lIns="0" tIns="0" rIns="0" bIns="0" rtlCol="0" anchor="ctr"/>
          <a:lstStyle/>
          <a:p>
            <a:pPr>
              <a:lnSpc>
                <a:spcPct val="140000"/>
              </a:lnSpc>
            </a:pPr>
            <a:r>
              <a:rPr lang="en-US" sz="1600" dirty="0">
                <a:solidFill>
                  <a:srgbClr val="E0E2E4">
                    <a:alpha val="70000"/>
                  </a:srgbClr>
                </a:solidFill>
                <a:latin typeface="MiSans" pitchFamily="34" charset="0"/>
                <a:ea typeface="MiSans" pitchFamily="34" charset="-122"/>
                <a:cs typeface="MiSans" pitchFamily="34" charset="-120"/>
              </a:rPr>
              <a:t>从MapReduce到云原生,资源管理技术的发展历程与关键技术节点</a:t>
            </a:r>
            <a:endParaRPr lang="en-US" sz="1600" dirty="0"/>
          </a:p>
        </p:txBody>
      </p:sp>
      <p:sp>
        <p:nvSpPr>
          <p:cNvPr id="10" name="Shape 8"/>
          <p:cNvSpPr/>
          <p:nvPr/>
        </p:nvSpPr>
        <p:spPr>
          <a:xfrm>
            <a:off x="8305800" y="1727200"/>
            <a:ext cx="7442200" cy="2095500"/>
          </a:xfrm>
          <a:custGeom>
            <a:avLst/>
            <a:gdLst/>
            <a:ahLst/>
            <a:cxnLst/>
            <a:rect l="l" t="t" r="r" b="b"/>
            <a:pathLst>
              <a:path w="7442200" h="2095500">
                <a:moveTo>
                  <a:pt x="50800" y="0"/>
                </a:moveTo>
                <a:lnTo>
                  <a:pt x="7340610" y="0"/>
                </a:lnTo>
                <a:cubicBezTo>
                  <a:pt x="7396717" y="0"/>
                  <a:pt x="7442200" y="45483"/>
                  <a:pt x="7442200" y="101590"/>
                </a:cubicBezTo>
                <a:lnTo>
                  <a:pt x="7442200" y="1993910"/>
                </a:lnTo>
                <a:cubicBezTo>
                  <a:pt x="7442200" y="2050017"/>
                  <a:pt x="7396717" y="2095500"/>
                  <a:pt x="7340610" y="2095500"/>
                </a:cubicBezTo>
                <a:lnTo>
                  <a:pt x="50800" y="2095500"/>
                </a:lnTo>
                <a:cubicBezTo>
                  <a:pt x="22744" y="2095500"/>
                  <a:pt x="0" y="2072756"/>
                  <a:pt x="0" y="2044700"/>
                </a:cubicBezTo>
                <a:lnTo>
                  <a:pt x="0" y="50800"/>
                </a:lnTo>
                <a:cubicBezTo>
                  <a:pt x="0" y="22763"/>
                  <a:pt x="22763" y="0"/>
                  <a:pt x="50800" y="0"/>
                </a:cubicBezTo>
                <a:close/>
              </a:path>
            </a:pathLst>
          </a:custGeom>
          <a:solidFill>
            <a:srgbClr val="B38B59">
              <a:alpha val="10196"/>
            </a:srgbClr>
          </a:solidFill>
          <a:ln/>
        </p:spPr>
        <p:txBody>
          <a:bodyPr/>
          <a:lstStyle/>
          <a:p>
            <a:endParaRPr lang="zh-CN" altLang="en-US"/>
          </a:p>
        </p:txBody>
      </p:sp>
      <p:sp>
        <p:nvSpPr>
          <p:cNvPr id="11" name="Shape 9"/>
          <p:cNvSpPr/>
          <p:nvPr/>
        </p:nvSpPr>
        <p:spPr>
          <a:xfrm>
            <a:off x="8305800" y="1727200"/>
            <a:ext cx="50800" cy="2095500"/>
          </a:xfrm>
          <a:custGeom>
            <a:avLst/>
            <a:gdLst/>
            <a:ahLst/>
            <a:cxnLst/>
            <a:rect l="l" t="t" r="r" b="b"/>
            <a:pathLst>
              <a:path w="50800" h="2095500">
                <a:moveTo>
                  <a:pt x="50800" y="0"/>
                </a:moveTo>
                <a:lnTo>
                  <a:pt x="50800" y="0"/>
                </a:lnTo>
                <a:lnTo>
                  <a:pt x="50800" y="2095500"/>
                </a:lnTo>
                <a:lnTo>
                  <a:pt x="50800" y="2095500"/>
                </a:lnTo>
                <a:cubicBezTo>
                  <a:pt x="22763" y="2095500"/>
                  <a:pt x="0" y="2072737"/>
                  <a:pt x="0" y="2044700"/>
                </a:cubicBezTo>
                <a:lnTo>
                  <a:pt x="0" y="50800"/>
                </a:lnTo>
                <a:cubicBezTo>
                  <a:pt x="0" y="22763"/>
                  <a:pt x="22763" y="0"/>
                  <a:pt x="50800" y="0"/>
                </a:cubicBezTo>
                <a:close/>
              </a:path>
            </a:pathLst>
          </a:custGeom>
          <a:solidFill>
            <a:srgbClr val="B38B59"/>
          </a:solidFill>
          <a:ln/>
        </p:spPr>
        <p:txBody>
          <a:bodyPr/>
          <a:lstStyle/>
          <a:p>
            <a:endParaRPr lang="zh-CN" altLang="en-US"/>
          </a:p>
        </p:txBody>
      </p:sp>
      <p:sp>
        <p:nvSpPr>
          <p:cNvPr id="12" name="Shape 10"/>
          <p:cNvSpPr/>
          <p:nvPr/>
        </p:nvSpPr>
        <p:spPr>
          <a:xfrm>
            <a:off x="8636000" y="2032000"/>
            <a:ext cx="711200" cy="711200"/>
          </a:xfrm>
          <a:custGeom>
            <a:avLst/>
            <a:gdLst/>
            <a:ahLst/>
            <a:cxnLst/>
            <a:rect l="l" t="t" r="r" b="b"/>
            <a:pathLst>
              <a:path w="711200" h="711200">
                <a:moveTo>
                  <a:pt x="101602" y="0"/>
                </a:moveTo>
                <a:lnTo>
                  <a:pt x="609598" y="0"/>
                </a:lnTo>
                <a:cubicBezTo>
                  <a:pt x="665711" y="0"/>
                  <a:pt x="711200" y="45489"/>
                  <a:pt x="711200" y="101602"/>
                </a:cubicBezTo>
                <a:lnTo>
                  <a:pt x="711200" y="609598"/>
                </a:lnTo>
                <a:cubicBezTo>
                  <a:pt x="711200" y="665711"/>
                  <a:pt x="665711" y="711200"/>
                  <a:pt x="609598" y="711200"/>
                </a:cubicBezTo>
                <a:lnTo>
                  <a:pt x="101602" y="711200"/>
                </a:lnTo>
                <a:cubicBezTo>
                  <a:pt x="45489" y="711200"/>
                  <a:pt x="0" y="665711"/>
                  <a:pt x="0" y="609598"/>
                </a:cubicBezTo>
                <a:lnTo>
                  <a:pt x="0" y="101602"/>
                </a:lnTo>
                <a:cubicBezTo>
                  <a:pt x="0" y="45526"/>
                  <a:pt x="45526" y="0"/>
                  <a:pt x="101602" y="0"/>
                </a:cubicBezTo>
                <a:close/>
              </a:path>
            </a:pathLst>
          </a:custGeom>
          <a:solidFill>
            <a:srgbClr val="B38B59"/>
          </a:solidFill>
          <a:ln/>
        </p:spPr>
        <p:txBody>
          <a:bodyPr/>
          <a:lstStyle/>
          <a:p>
            <a:endParaRPr lang="zh-CN" altLang="en-US"/>
          </a:p>
        </p:txBody>
      </p:sp>
      <p:sp>
        <p:nvSpPr>
          <p:cNvPr id="13" name="Text 11"/>
          <p:cNvSpPr/>
          <p:nvPr/>
        </p:nvSpPr>
        <p:spPr>
          <a:xfrm>
            <a:off x="8559800" y="2032000"/>
            <a:ext cx="863600" cy="711200"/>
          </a:xfrm>
          <a:prstGeom prst="rect">
            <a:avLst/>
          </a:prstGeom>
          <a:noFill/>
          <a:ln/>
        </p:spPr>
        <p:txBody>
          <a:bodyPr wrap="square" lIns="0" tIns="0" rIns="0" bIns="0" rtlCol="0" anchor="ctr"/>
          <a:lstStyle/>
          <a:p>
            <a:pPr algn="ctr">
              <a:lnSpc>
                <a:spcPct val="110000"/>
              </a:lnSpc>
            </a:pPr>
            <a:r>
              <a:rPr lang="en-US" sz="2400" b="1" dirty="0">
                <a:solidFill>
                  <a:srgbClr val="FFFFFF"/>
                </a:solidFill>
                <a:latin typeface="Liter" pitchFamily="34" charset="0"/>
                <a:ea typeface="Liter" pitchFamily="34" charset="-122"/>
                <a:cs typeface="Liter" pitchFamily="34" charset="-120"/>
              </a:rPr>
              <a:t>02</a:t>
            </a:r>
            <a:endParaRPr lang="en-US" sz="1600" dirty="0"/>
          </a:p>
        </p:txBody>
      </p:sp>
      <p:sp>
        <p:nvSpPr>
          <p:cNvPr id="14" name="Text 12"/>
          <p:cNvSpPr/>
          <p:nvPr/>
        </p:nvSpPr>
        <p:spPr>
          <a:xfrm>
            <a:off x="9550400" y="2032000"/>
            <a:ext cx="6045200" cy="406400"/>
          </a:xfrm>
          <a:prstGeom prst="rect">
            <a:avLst/>
          </a:prstGeom>
          <a:noFill/>
          <a:ln/>
        </p:spPr>
        <p:txBody>
          <a:bodyPr wrap="square" lIns="0" tIns="0" rIns="0" bIns="0" rtlCol="0" anchor="ctr"/>
          <a:lstStyle/>
          <a:p>
            <a:pPr>
              <a:lnSpc>
                <a:spcPct val="110000"/>
              </a:lnSpc>
            </a:pPr>
            <a:r>
              <a:rPr lang="en-US" sz="2400" b="1" dirty="0">
                <a:solidFill>
                  <a:srgbClr val="E0E2E4"/>
                </a:solidFill>
                <a:latin typeface="MiSans" pitchFamily="34" charset="0"/>
                <a:ea typeface="MiSans" pitchFamily="34" charset="-122"/>
                <a:cs typeface="MiSans" pitchFamily="34" charset="-120"/>
              </a:rPr>
              <a:t>Linux内核隔离机制基础</a:t>
            </a:r>
            <a:endParaRPr lang="en-US" sz="1600" dirty="0"/>
          </a:p>
        </p:txBody>
      </p:sp>
      <p:sp>
        <p:nvSpPr>
          <p:cNvPr id="15" name="Text 13"/>
          <p:cNvSpPr/>
          <p:nvPr/>
        </p:nvSpPr>
        <p:spPr>
          <a:xfrm>
            <a:off x="9550400" y="2540000"/>
            <a:ext cx="5994400" cy="330200"/>
          </a:xfrm>
          <a:prstGeom prst="rect">
            <a:avLst/>
          </a:prstGeom>
          <a:noFill/>
          <a:ln/>
        </p:spPr>
        <p:txBody>
          <a:bodyPr wrap="square" lIns="0" tIns="0" rIns="0" bIns="0" rtlCol="0" anchor="ctr"/>
          <a:lstStyle/>
          <a:p>
            <a:pPr>
              <a:lnSpc>
                <a:spcPct val="140000"/>
              </a:lnSpc>
            </a:pPr>
            <a:r>
              <a:rPr lang="en-US" sz="1600" dirty="0">
                <a:solidFill>
                  <a:srgbClr val="E0E2E4">
                    <a:alpha val="70000"/>
                  </a:srgbClr>
                </a:solidFill>
                <a:latin typeface="MiSans" pitchFamily="34" charset="0"/>
                <a:ea typeface="MiSans" pitchFamily="34" charset="-122"/>
                <a:cs typeface="MiSans" pitchFamily="34" charset="-120"/>
              </a:rPr>
              <a:t>Namespaces、CGroups与安全模块:现代容器技术的基石</a:t>
            </a:r>
            <a:endParaRPr lang="en-US" sz="1600" dirty="0"/>
          </a:p>
        </p:txBody>
      </p:sp>
      <p:sp>
        <p:nvSpPr>
          <p:cNvPr id="16" name="Shape 14"/>
          <p:cNvSpPr/>
          <p:nvPr/>
        </p:nvSpPr>
        <p:spPr>
          <a:xfrm>
            <a:off x="533400" y="4131667"/>
            <a:ext cx="7442200" cy="2095500"/>
          </a:xfrm>
          <a:custGeom>
            <a:avLst/>
            <a:gdLst/>
            <a:ahLst/>
            <a:cxnLst/>
            <a:rect l="l" t="t" r="r" b="b"/>
            <a:pathLst>
              <a:path w="7442200" h="2095500">
                <a:moveTo>
                  <a:pt x="50800" y="0"/>
                </a:moveTo>
                <a:lnTo>
                  <a:pt x="7340610" y="0"/>
                </a:lnTo>
                <a:cubicBezTo>
                  <a:pt x="7396717" y="0"/>
                  <a:pt x="7442200" y="45483"/>
                  <a:pt x="7442200" y="101590"/>
                </a:cubicBezTo>
                <a:lnTo>
                  <a:pt x="7442200" y="1993910"/>
                </a:lnTo>
                <a:cubicBezTo>
                  <a:pt x="7442200" y="2050017"/>
                  <a:pt x="7396717" y="2095500"/>
                  <a:pt x="7340610" y="2095500"/>
                </a:cubicBezTo>
                <a:lnTo>
                  <a:pt x="50800" y="2095500"/>
                </a:lnTo>
                <a:cubicBezTo>
                  <a:pt x="22744" y="2095500"/>
                  <a:pt x="0" y="2072756"/>
                  <a:pt x="0" y="2044700"/>
                </a:cubicBezTo>
                <a:lnTo>
                  <a:pt x="0" y="50800"/>
                </a:lnTo>
                <a:cubicBezTo>
                  <a:pt x="0" y="22763"/>
                  <a:pt x="22763" y="0"/>
                  <a:pt x="50800" y="0"/>
                </a:cubicBezTo>
                <a:close/>
              </a:path>
            </a:pathLst>
          </a:custGeom>
          <a:solidFill>
            <a:srgbClr val="3C8082">
              <a:alpha val="10196"/>
            </a:srgbClr>
          </a:solidFill>
          <a:ln/>
        </p:spPr>
        <p:txBody>
          <a:bodyPr/>
          <a:lstStyle/>
          <a:p>
            <a:endParaRPr lang="zh-CN" altLang="en-US"/>
          </a:p>
        </p:txBody>
      </p:sp>
      <p:sp>
        <p:nvSpPr>
          <p:cNvPr id="17" name="Shape 15"/>
          <p:cNvSpPr/>
          <p:nvPr/>
        </p:nvSpPr>
        <p:spPr>
          <a:xfrm>
            <a:off x="533400" y="4131667"/>
            <a:ext cx="50800" cy="2095500"/>
          </a:xfrm>
          <a:custGeom>
            <a:avLst/>
            <a:gdLst/>
            <a:ahLst/>
            <a:cxnLst/>
            <a:rect l="l" t="t" r="r" b="b"/>
            <a:pathLst>
              <a:path w="50800" h="2095500">
                <a:moveTo>
                  <a:pt x="50800" y="0"/>
                </a:moveTo>
                <a:lnTo>
                  <a:pt x="50800" y="0"/>
                </a:lnTo>
                <a:lnTo>
                  <a:pt x="50800" y="2095500"/>
                </a:lnTo>
                <a:lnTo>
                  <a:pt x="50800" y="2095500"/>
                </a:lnTo>
                <a:cubicBezTo>
                  <a:pt x="22763" y="2095500"/>
                  <a:pt x="0" y="2072737"/>
                  <a:pt x="0" y="2044700"/>
                </a:cubicBezTo>
                <a:lnTo>
                  <a:pt x="0" y="50800"/>
                </a:lnTo>
                <a:cubicBezTo>
                  <a:pt x="0" y="22763"/>
                  <a:pt x="22763" y="0"/>
                  <a:pt x="50800" y="0"/>
                </a:cubicBezTo>
                <a:close/>
              </a:path>
            </a:pathLst>
          </a:custGeom>
          <a:solidFill>
            <a:srgbClr val="3C8082"/>
          </a:solidFill>
          <a:ln/>
        </p:spPr>
        <p:txBody>
          <a:bodyPr/>
          <a:lstStyle/>
          <a:p>
            <a:endParaRPr lang="zh-CN" altLang="en-US"/>
          </a:p>
        </p:txBody>
      </p:sp>
      <p:sp>
        <p:nvSpPr>
          <p:cNvPr id="18" name="Shape 16"/>
          <p:cNvSpPr/>
          <p:nvPr/>
        </p:nvSpPr>
        <p:spPr>
          <a:xfrm>
            <a:off x="863600" y="4436467"/>
            <a:ext cx="711200" cy="711200"/>
          </a:xfrm>
          <a:custGeom>
            <a:avLst/>
            <a:gdLst/>
            <a:ahLst/>
            <a:cxnLst/>
            <a:rect l="l" t="t" r="r" b="b"/>
            <a:pathLst>
              <a:path w="711200" h="711200">
                <a:moveTo>
                  <a:pt x="101602" y="0"/>
                </a:moveTo>
                <a:lnTo>
                  <a:pt x="609598" y="0"/>
                </a:lnTo>
                <a:cubicBezTo>
                  <a:pt x="665711" y="0"/>
                  <a:pt x="711200" y="45489"/>
                  <a:pt x="711200" y="101602"/>
                </a:cubicBezTo>
                <a:lnTo>
                  <a:pt x="711200" y="609598"/>
                </a:lnTo>
                <a:cubicBezTo>
                  <a:pt x="711200" y="665711"/>
                  <a:pt x="665711" y="711200"/>
                  <a:pt x="609598" y="711200"/>
                </a:cubicBezTo>
                <a:lnTo>
                  <a:pt x="101602" y="711200"/>
                </a:lnTo>
                <a:cubicBezTo>
                  <a:pt x="45489" y="711200"/>
                  <a:pt x="0" y="665711"/>
                  <a:pt x="0" y="609598"/>
                </a:cubicBezTo>
                <a:lnTo>
                  <a:pt x="0" y="101602"/>
                </a:lnTo>
                <a:cubicBezTo>
                  <a:pt x="0" y="45526"/>
                  <a:pt x="45526" y="0"/>
                  <a:pt x="101602" y="0"/>
                </a:cubicBezTo>
                <a:close/>
              </a:path>
            </a:pathLst>
          </a:custGeom>
          <a:solidFill>
            <a:srgbClr val="3C8082"/>
          </a:solidFill>
          <a:ln/>
        </p:spPr>
        <p:txBody>
          <a:bodyPr/>
          <a:lstStyle/>
          <a:p>
            <a:endParaRPr lang="zh-CN" altLang="en-US"/>
          </a:p>
        </p:txBody>
      </p:sp>
      <p:sp>
        <p:nvSpPr>
          <p:cNvPr id="19" name="Text 17"/>
          <p:cNvSpPr/>
          <p:nvPr/>
        </p:nvSpPr>
        <p:spPr>
          <a:xfrm>
            <a:off x="787400" y="4436467"/>
            <a:ext cx="863600" cy="711200"/>
          </a:xfrm>
          <a:prstGeom prst="rect">
            <a:avLst/>
          </a:prstGeom>
          <a:noFill/>
          <a:ln/>
        </p:spPr>
        <p:txBody>
          <a:bodyPr wrap="square" lIns="0" tIns="0" rIns="0" bIns="0" rtlCol="0" anchor="ctr"/>
          <a:lstStyle/>
          <a:p>
            <a:pPr algn="ctr">
              <a:lnSpc>
                <a:spcPct val="110000"/>
              </a:lnSpc>
            </a:pPr>
            <a:r>
              <a:rPr lang="en-US" sz="2400" b="1" dirty="0">
                <a:solidFill>
                  <a:srgbClr val="FFFFFF"/>
                </a:solidFill>
                <a:latin typeface="Liter" pitchFamily="34" charset="0"/>
                <a:ea typeface="Liter" pitchFamily="34" charset="-122"/>
                <a:cs typeface="Liter" pitchFamily="34" charset="-120"/>
              </a:rPr>
              <a:t>03</a:t>
            </a:r>
            <a:endParaRPr lang="en-US" sz="1600" dirty="0"/>
          </a:p>
        </p:txBody>
      </p:sp>
      <p:sp>
        <p:nvSpPr>
          <p:cNvPr id="20" name="Text 18"/>
          <p:cNvSpPr/>
          <p:nvPr/>
        </p:nvSpPr>
        <p:spPr>
          <a:xfrm>
            <a:off x="1778000" y="4436467"/>
            <a:ext cx="6045200" cy="406400"/>
          </a:xfrm>
          <a:prstGeom prst="rect">
            <a:avLst/>
          </a:prstGeom>
          <a:noFill/>
          <a:ln/>
        </p:spPr>
        <p:txBody>
          <a:bodyPr wrap="square" lIns="0" tIns="0" rIns="0" bIns="0" rtlCol="0" anchor="ctr"/>
          <a:lstStyle/>
          <a:p>
            <a:pPr>
              <a:lnSpc>
                <a:spcPct val="110000"/>
              </a:lnSpc>
            </a:pPr>
            <a:r>
              <a:rPr lang="en-US" sz="2400" b="1" dirty="0">
                <a:solidFill>
                  <a:srgbClr val="E0E2E4"/>
                </a:solidFill>
                <a:latin typeface="MiSans" pitchFamily="34" charset="0"/>
                <a:ea typeface="MiSans" pitchFamily="34" charset="-122"/>
                <a:cs typeface="MiSans" pitchFamily="34" charset="-120"/>
              </a:rPr>
              <a:t>YARN Container资源模型与隔离技术</a:t>
            </a:r>
            <a:endParaRPr lang="en-US" sz="1600" dirty="0"/>
          </a:p>
        </p:txBody>
      </p:sp>
      <p:sp>
        <p:nvSpPr>
          <p:cNvPr id="21" name="Text 19"/>
          <p:cNvSpPr/>
          <p:nvPr/>
        </p:nvSpPr>
        <p:spPr>
          <a:xfrm>
            <a:off x="1778000" y="4944467"/>
            <a:ext cx="5994400" cy="330200"/>
          </a:xfrm>
          <a:prstGeom prst="rect">
            <a:avLst/>
          </a:prstGeom>
          <a:noFill/>
          <a:ln/>
        </p:spPr>
        <p:txBody>
          <a:bodyPr wrap="square" lIns="0" tIns="0" rIns="0" bIns="0" rtlCol="0" anchor="ctr"/>
          <a:lstStyle/>
          <a:p>
            <a:pPr>
              <a:lnSpc>
                <a:spcPct val="140000"/>
              </a:lnSpc>
            </a:pPr>
            <a:r>
              <a:rPr lang="en-US" sz="1600" dirty="0">
                <a:solidFill>
                  <a:srgbClr val="E0E2E4">
                    <a:alpha val="70000"/>
                  </a:srgbClr>
                </a:solidFill>
                <a:latin typeface="MiSans" pitchFamily="34" charset="0"/>
                <a:ea typeface="MiSans" pitchFamily="34" charset="-122"/>
                <a:cs typeface="MiSans" pitchFamily="34" charset="-120"/>
              </a:rPr>
              <a:t>从设计理念到实现机制:YARN隔离技术的全栈解析</a:t>
            </a:r>
            <a:endParaRPr lang="en-US" sz="1600" dirty="0"/>
          </a:p>
        </p:txBody>
      </p:sp>
      <p:sp>
        <p:nvSpPr>
          <p:cNvPr id="22" name="Shape 20"/>
          <p:cNvSpPr/>
          <p:nvPr/>
        </p:nvSpPr>
        <p:spPr>
          <a:xfrm>
            <a:off x="8305800" y="4131667"/>
            <a:ext cx="7442200" cy="2095500"/>
          </a:xfrm>
          <a:custGeom>
            <a:avLst/>
            <a:gdLst/>
            <a:ahLst/>
            <a:cxnLst/>
            <a:rect l="l" t="t" r="r" b="b"/>
            <a:pathLst>
              <a:path w="7442200" h="2095500">
                <a:moveTo>
                  <a:pt x="50800" y="0"/>
                </a:moveTo>
                <a:lnTo>
                  <a:pt x="7340610" y="0"/>
                </a:lnTo>
                <a:cubicBezTo>
                  <a:pt x="7396717" y="0"/>
                  <a:pt x="7442200" y="45483"/>
                  <a:pt x="7442200" y="101590"/>
                </a:cubicBezTo>
                <a:lnTo>
                  <a:pt x="7442200" y="1993910"/>
                </a:lnTo>
                <a:cubicBezTo>
                  <a:pt x="7442200" y="2050017"/>
                  <a:pt x="7396717" y="2095500"/>
                  <a:pt x="7340610" y="2095500"/>
                </a:cubicBezTo>
                <a:lnTo>
                  <a:pt x="50800" y="2095500"/>
                </a:lnTo>
                <a:cubicBezTo>
                  <a:pt x="22744" y="2095500"/>
                  <a:pt x="0" y="2072756"/>
                  <a:pt x="0" y="2044700"/>
                </a:cubicBezTo>
                <a:lnTo>
                  <a:pt x="0" y="50800"/>
                </a:lnTo>
                <a:cubicBezTo>
                  <a:pt x="0" y="22763"/>
                  <a:pt x="22763" y="0"/>
                  <a:pt x="50800" y="0"/>
                </a:cubicBezTo>
                <a:close/>
              </a:path>
            </a:pathLst>
          </a:custGeom>
          <a:solidFill>
            <a:srgbClr val="B38B59">
              <a:alpha val="10196"/>
            </a:srgbClr>
          </a:solidFill>
          <a:ln/>
        </p:spPr>
        <p:txBody>
          <a:bodyPr/>
          <a:lstStyle/>
          <a:p>
            <a:endParaRPr lang="zh-CN" altLang="en-US"/>
          </a:p>
        </p:txBody>
      </p:sp>
      <p:sp>
        <p:nvSpPr>
          <p:cNvPr id="23" name="Shape 21"/>
          <p:cNvSpPr/>
          <p:nvPr/>
        </p:nvSpPr>
        <p:spPr>
          <a:xfrm>
            <a:off x="8305800" y="4131667"/>
            <a:ext cx="50800" cy="2095500"/>
          </a:xfrm>
          <a:custGeom>
            <a:avLst/>
            <a:gdLst/>
            <a:ahLst/>
            <a:cxnLst/>
            <a:rect l="l" t="t" r="r" b="b"/>
            <a:pathLst>
              <a:path w="50800" h="2095500">
                <a:moveTo>
                  <a:pt x="50800" y="0"/>
                </a:moveTo>
                <a:lnTo>
                  <a:pt x="50800" y="0"/>
                </a:lnTo>
                <a:lnTo>
                  <a:pt x="50800" y="2095500"/>
                </a:lnTo>
                <a:lnTo>
                  <a:pt x="50800" y="2095500"/>
                </a:lnTo>
                <a:cubicBezTo>
                  <a:pt x="22763" y="2095500"/>
                  <a:pt x="0" y="2072737"/>
                  <a:pt x="0" y="2044700"/>
                </a:cubicBezTo>
                <a:lnTo>
                  <a:pt x="0" y="50800"/>
                </a:lnTo>
                <a:cubicBezTo>
                  <a:pt x="0" y="22763"/>
                  <a:pt x="22763" y="0"/>
                  <a:pt x="50800" y="0"/>
                </a:cubicBezTo>
                <a:close/>
              </a:path>
            </a:pathLst>
          </a:custGeom>
          <a:solidFill>
            <a:srgbClr val="B38B59"/>
          </a:solidFill>
          <a:ln/>
        </p:spPr>
        <p:txBody>
          <a:bodyPr/>
          <a:lstStyle/>
          <a:p>
            <a:endParaRPr lang="zh-CN" altLang="en-US"/>
          </a:p>
        </p:txBody>
      </p:sp>
      <p:sp>
        <p:nvSpPr>
          <p:cNvPr id="24" name="Shape 22"/>
          <p:cNvSpPr/>
          <p:nvPr/>
        </p:nvSpPr>
        <p:spPr>
          <a:xfrm>
            <a:off x="8636000" y="4436467"/>
            <a:ext cx="711200" cy="711200"/>
          </a:xfrm>
          <a:custGeom>
            <a:avLst/>
            <a:gdLst/>
            <a:ahLst/>
            <a:cxnLst/>
            <a:rect l="l" t="t" r="r" b="b"/>
            <a:pathLst>
              <a:path w="711200" h="711200">
                <a:moveTo>
                  <a:pt x="101602" y="0"/>
                </a:moveTo>
                <a:lnTo>
                  <a:pt x="609598" y="0"/>
                </a:lnTo>
                <a:cubicBezTo>
                  <a:pt x="665711" y="0"/>
                  <a:pt x="711200" y="45489"/>
                  <a:pt x="711200" y="101602"/>
                </a:cubicBezTo>
                <a:lnTo>
                  <a:pt x="711200" y="609598"/>
                </a:lnTo>
                <a:cubicBezTo>
                  <a:pt x="711200" y="665711"/>
                  <a:pt x="665711" y="711200"/>
                  <a:pt x="609598" y="711200"/>
                </a:cubicBezTo>
                <a:lnTo>
                  <a:pt x="101602" y="711200"/>
                </a:lnTo>
                <a:cubicBezTo>
                  <a:pt x="45489" y="711200"/>
                  <a:pt x="0" y="665711"/>
                  <a:pt x="0" y="609598"/>
                </a:cubicBezTo>
                <a:lnTo>
                  <a:pt x="0" y="101602"/>
                </a:lnTo>
                <a:cubicBezTo>
                  <a:pt x="0" y="45526"/>
                  <a:pt x="45526" y="0"/>
                  <a:pt x="101602" y="0"/>
                </a:cubicBezTo>
                <a:close/>
              </a:path>
            </a:pathLst>
          </a:custGeom>
          <a:solidFill>
            <a:srgbClr val="B38B59"/>
          </a:solidFill>
          <a:ln/>
        </p:spPr>
        <p:txBody>
          <a:bodyPr/>
          <a:lstStyle/>
          <a:p>
            <a:endParaRPr lang="zh-CN" altLang="en-US"/>
          </a:p>
        </p:txBody>
      </p:sp>
      <p:sp>
        <p:nvSpPr>
          <p:cNvPr id="25" name="Text 23"/>
          <p:cNvSpPr/>
          <p:nvPr/>
        </p:nvSpPr>
        <p:spPr>
          <a:xfrm>
            <a:off x="8559800" y="4436467"/>
            <a:ext cx="863600" cy="711200"/>
          </a:xfrm>
          <a:prstGeom prst="rect">
            <a:avLst/>
          </a:prstGeom>
          <a:noFill/>
          <a:ln/>
        </p:spPr>
        <p:txBody>
          <a:bodyPr wrap="square" lIns="0" tIns="0" rIns="0" bIns="0" rtlCol="0" anchor="ctr"/>
          <a:lstStyle/>
          <a:p>
            <a:pPr algn="ctr">
              <a:lnSpc>
                <a:spcPct val="110000"/>
              </a:lnSpc>
            </a:pPr>
            <a:r>
              <a:rPr lang="en-US" sz="2400" b="1" dirty="0">
                <a:solidFill>
                  <a:srgbClr val="FFFFFF"/>
                </a:solidFill>
                <a:latin typeface="Liter" pitchFamily="34" charset="0"/>
                <a:ea typeface="Liter" pitchFamily="34" charset="-122"/>
                <a:cs typeface="Liter" pitchFamily="34" charset="-120"/>
              </a:rPr>
              <a:t>04</a:t>
            </a:r>
            <a:endParaRPr lang="en-US" sz="1600" dirty="0"/>
          </a:p>
        </p:txBody>
      </p:sp>
      <p:sp>
        <p:nvSpPr>
          <p:cNvPr id="26" name="Text 24"/>
          <p:cNvSpPr/>
          <p:nvPr/>
        </p:nvSpPr>
        <p:spPr>
          <a:xfrm>
            <a:off x="9550400" y="4436467"/>
            <a:ext cx="6045200" cy="406400"/>
          </a:xfrm>
          <a:prstGeom prst="rect">
            <a:avLst/>
          </a:prstGeom>
          <a:noFill/>
          <a:ln/>
        </p:spPr>
        <p:txBody>
          <a:bodyPr wrap="square" lIns="0" tIns="0" rIns="0" bIns="0" rtlCol="0" anchor="ctr"/>
          <a:lstStyle/>
          <a:p>
            <a:pPr>
              <a:lnSpc>
                <a:spcPct val="110000"/>
              </a:lnSpc>
            </a:pPr>
            <a:r>
              <a:rPr lang="en-US" sz="2400" b="1" dirty="0">
                <a:solidFill>
                  <a:srgbClr val="E0E2E4"/>
                </a:solidFill>
                <a:latin typeface="MiSans" pitchFamily="34" charset="0"/>
                <a:ea typeface="MiSans" pitchFamily="34" charset="-122"/>
                <a:cs typeface="MiSans" pitchFamily="34" charset="-120"/>
              </a:rPr>
              <a:t>Kubernetes Pod资源模型与隔离技术</a:t>
            </a:r>
            <a:endParaRPr lang="en-US" sz="1600" dirty="0"/>
          </a:p>
        </p:txBody>
      </p:sp>
      <p:sp>
        <p:nvSpPr>
          <p:cNvPr id="27" name="Text 25"/>
          <p:cNvSpPr/>
          <p:nvPr/>
        </p:nvSpPr>
        <p:spPr>
          <a:xfrm>
            <a:off x="9550400" y="4944467"/>
            <a:ext cx="5994400" cy="330200"/>
          </a:xfrm>
          <a:prstGeom prst="rect">
            <a:avLst/>
          </a:prstGeom>
          <a:noFill/>
          <a:ln/>
        </p:spPr>
        <p:txBody>
          <a:bodyPr wrap="square" lIns="0" tIns="0" rIns="0" bIns="0" rtlCol="0" anchor="ctr"/>
          <a:lstStyle/>
          <a:p>
            <a:pPr>
              <a:lnSpc>
                <a:spcPct val="140000"/>
              </a:lnSpc>
            </a:pPr>
            <a:r>
              <a:rPr lang="en-US" sz="1600" dirty="0">
                <a:solidFill>
                  <a:srgbClr val="E0E2E4">
                    <a:alpha val="70000"/>
                  </a:srgbClr>
                </a:solidFill>
                <a:latin typeface="MiSans" pitchFamily="34" charset="0"/>
                <a:ea typeface="MiSans" pitchFamily="34" charset="-122"/>
                <a:cs typeface="MiSans" pitchFamily="34" charset="-120"/>
              </a:rPr>
              <a:t>云原生时代的容器编排与资源隔离实践</a:t>
            </a:r>
            <a:endParaRPr lang="en-US" sz="1600" dirty="0"/>
          </a:p>
        </p:txBody>
      </p:sp>
      <p:sp>
        <p:nvSpPr>
          <p:cNvPr id="28" name="Shape 26"/>
          <p:cNvSpPr/>
          <p:nvPr/>
        </p:nvSpPr>
        <p:spPr>
          <a:xfrm>
            <a:off x="533400" y="6536234"/>
            <a:ext cx="15214600" cy="2095500"/>
          </a:xfrm>
          <a:custGeom>
            <a:avLst/>
            <a:gdLst/>
            <a:ahLst/>
            <a:cxnLst/>
            <a:rect l="l" t="t" r="r" b="b"/>
            <a:pathLst>
              <a:path w="15214600" h="2095500">
                <a:moveTo>
                  <a:pt x="50800" y="0"/>
                </a:moveTo>
                <a:lnTo>
                  <a:pt x="15113010" y="0"/>
                </a:lnTo>
                <a:cubicBezTo>
                  <a:pt x="15169117" y="0"/>
                  <a:pt x="15214600" y="45483"/>
                  <a:pt x="15214600" y="101590"/>
                </a:cubicBezTo>
                <a:lnTo>
                  <a:pt x="15214600" y="1993910"/>
                </a:lnTo>
                <a:cubicBezTo>
                  <a:pt x="15214600" y="2050017"/>
                  <a:pt x="15169117" y="2095500"/>
                  <a:pt x="15113010" y="2095500"/>
                </a:cubicBezTo>
                <a:lnTo>
                  <a:pt x="50800" y="2095500"/>
                </a:lnTo>
                <a:cubicBezTo>
                  <a:pt x="22744" y="2095500"/>
                  <a:pt x="0" y="2072756"/>
                  <a:pt x="0" y="2044700"/>
                </a:cubicBezTo>
                <a:lnTo>
                  <a:pt x="0" y="50800"/>
                </a:lnTo>
                <a:cubicBezTo>
                  <a:pt x="0" y="22763"/>
                  <a:pt x="22763" y="0"/>
                  <a:pt x="50800" y="0"/>
                </a:cubicBezTo>
                <a:close/>
              </a:path>
            </a:pathLst>
          </a:custGeom>
          <a:solidFill>
            <a:srgbClr val="3C8082">
              <a:alpha val="10196"/>
            </a:srgbClr>
          </a:solidFill>
          <a:ln/>
        </p:spPr>
        <p:txBody>
          <a:bodyPr/>
          <a:lstStyle/>
          <a:p>
            <a:endParaRPr lang="zh-CN" altLang="en-US"/>
          </a:p>
        </p:txBody>
      </p:sp>
      <p:sp>
        <p:nvSpPr>
          <p:cNvPr id="29" name="Shape 27"/>
          <p:cNvSpPr/>
          <p:nvPr/>
        </p:nvSpPr>
        <p:spPr>
          <a:xfrm>
            <a:off x="533400" y="6536234"/>
            <a:ext cx="50800" cy="2095500"/>
          </a:xfrm>
          <a:custGeom>
            <a:avLst/>
            <a:gdLst/>
            <a:ahLst/>
            <a:cxnLst/>
            <a:rect l="l" t="t" r="r" b="b"/>
            <a:pathLst>
              <a:path w="50800" h="2095500">
                <a:moveTo>
                  <a:pt x="50800" y="0"/>
                </a:moveTo>
                <a:lnTo>
                  <a:pt x="50800" y="0"/>
                </a:lnTo>
                <a:lnTo>
                  <a:pt x="50800" y="2095500"/>
                </a:lnTo>
                <a:lnTo>
                  <a:pt x="50800" y="2095500"/>
                </a:lnTo>
                <a:cubicBezTo>
                  <a:pt x="22763" y="2095500"/>
                  <a:pt x="0" y="2072737"/>
                  <a:pt x="0" y="2044700"/>
                </a:cubicBezTo>
                <a:lnTo>
                  <a:pt x="0" y="50800"/>
                </a:lnTo>
                <a:cubicBezTo>
                  <a:pt x="0" y="22763"/>
                  <a:pt x="22763" y="0"/>
                  <a:pt x="50800" y="0"/>
                </a:cubicBezTo>
                <a:close/>
              </a:path>
            </a:pathLst>
          </a:custGeom>
          <a:solidFill>
            <a:srgbClr val="3C8082"/>
          </a:solidFill>
          <a:ln/>
        </p:spPr>
        <p:txBody>
          <a:bodyPr/>
          <a:lstStyle/>
          <a:p>
            <a:endParaRPr lang="zh-CN" altLang="en-US"/>
          </a:p>
        </p:txBody>
      </p:sp>
      <p:sp>
        <p:nvSpPr>
          <p:cNvPr id="30" name="Shape 28"/>
          <p:cNvSpPr/>
          <p:nvPr/>
        </p:nvSpPr>
        <p:spPr>
          <a:xfrm>
            <a:off x="863600" y="6841034"/>
            <a:ext cx="711200" cy="711200"/>
          </a:xfrm>
          <a:custGeom>
            <a:avLst/>
            <a:gdLst/>
            <a:ahLst/>
            <a:cxnLst/>
            <a:rect l="l" t="t" r="r" b="b"/>
            <a:pathLst>
              <a:path w="711200" h="711200">
                <a:moveTo>
                  <a:pt x="101602" y="0"/>
                </a:moveTo>
                <a:lnTo>
                  <a:pt x="609598" y="0"/>
                </a:lnTo>
                <a:cubicBezTo>
                  <a:pt x="665711" y="0"/>
                  <a:pt x="711200" y="45489"/>
                  <a:pt x="711200" y="101602"/>
                </a:cubicBezTo>
                <a:lnTo>
                  <a:pt x="711200" y="609598"/>
                </a:lnTo>
                <a:cubicBezTo>
                  <a:pt x="711200" y="665711"/>
                  <a:pt x="665711" y="711200"/>
                  <a:pt x="609598" y="711200"/>
                </a:cubicBezTo>
                <a:lnTo>
                  <a:pt x="101602" y="711200"/>
                </a:lnTo>
                <a:cubicBezTo>
                  <a:pt x="45489" y="711200"/>
                  <a:pt x="0" y="665711"/>
                  <a:pt x="0" y="609598"/>
                </a:cubicBezTo>
                <a:lnTo>
                  <a:pt x="0" y="101602"/>
                </a:lnTo>
                <a:cubicBezTo>
                  <a:pt x="0" y="45526"/>
                  <a:pt x="45526" y="0"/>
                  <a:pt x="101602" y="0"/>
                </a:cubicBezTo>
                <a:close/>
              </a:path>
            </a:pathLst>
          </a:custGeom>
          <a:solidFill>
            <a:srgbClr val="3C8082"/>
          </a:solidFill>
          <a:ln/>
        </p:spPr>
        <p:txBody>
          <a:bodyPr/>
          <a:lstStyle/>
          <a:p>
            <a:endParaRPr lang="zh-CN" altLang="en-US"/>
          </a:p>
        </p:txBody>
      </p:sp>
      <p:sp>
        <p:nvSpPr>
          <p:cNvPr id="31" name="Text 29"/>
          <p:cNvSpPr/>
          <p:nvPr/>
        </p:nvSpPr>
        <p:spPr>
          <a:xfrm>
            <a:off x="787400" y="6841034"/>
            <a:ext cx="863600" cy="711200"/>
          </a:xfrm>
          <a:prstGeom prst="rect">
            <a:avLst/>
          </a:prstGeom>
          <a:noFill/>
          <a:ln/>
        </p:spPr>
        <p:txBody>
          <a:bodyPr wrap="square" lIns="0" tIns="0" rIns="0" bIns="0" rtlCol="0" anchor="ctr"/>
          <a:lstStyle/>
          <a:p>
            <a:pPr algn="ctr">
              <a:lnSpc>
                <a:spcPct val="110000"/>
              </a:lnSpc>
            </a:pPr>
            <a:r>
              <a:rPr lang="en-US" sz="2400" b="1" dirty="0">
                <a:solidFill>
                  <a:srgbClr val="FFFFFF"/>
                </a:solidFill>
                <a:latin typeface="Liter" pitchFamily="34" charset="0"/>
                <a:ea typeface="Liter" pitchFamily="34" charset="-122"/>
                <a:cs typeface="Liter" pitchFamily="34" charset="-120"/>
              </a:rPr>
              <a:t>05</a:t>
            </a:r>
            <a:endParaRPr lang="en-US" sz="1600" dirty="0"/>
          </a:p>
        </p:txBody>
      </p:sp>
      <p:sp>
        <p:nvSpPr>
          <p:cNvPr id="32" name="Text 30"/>
          <p:cNvSpPr/>
          <p:nvPr/>
        </p:nvSpPr>
        <p:spPr>
          <a:xfrm>
            <a:off x="1778000" y="6841034"/>
            <a:ext cx="13817600" cy="406400"/>
          </a:xfrm>
          <a:prstGeom prst="rect">
            <a:avLst/>
          </a:prstGeom>
          <a:noFill/>
          <a:ln/>
        </p:spPr>
        <p:txBody>
          <a:bodyPr wrap="square" lIns="0" tIns="0" rIns="0" bIns="0" rtlCol="0" anchor="ctr"/>
          <a:lstStyle/>
          <a:p>
            <a:pPr>
              <a:lnSpc>
                <a:spcPct val="110000"/>
              </a:lnSpc>
            </a:pPr>
            <a:r>
              <a:rPr lang="en-US" sz="2400" b="1" dirty="0">
                <a:solidFill>
                  <a:srgbClr val="E0E2E4"/>
                </a:solidFill>
                <a:latin typeface="MiSans" pitchFamily="34" charset="0"/>
                <a:ea typeface="MiSans" pitchFamily="34" charset="-122"/>
                <a:cs typeface="MiSans" pitchFamily="34" charset="-120"/>
              </a:rPr>
              <a:t>综合对比与技术选型</a:t>
            </a:r>
            <a:endParaRPr lang="en-US" sz="1600" dirty="0"/>
          </a:p>
        </p:txBody>
      </p:sp>
      <p:sp>
        <p:nvSpPr>
          <p:cNvPr id="33" name="Text 31"/>
          <p:cNvSpPr/>
          <p:nvPr/>
        </p:nvSpPr>
        <p:spPr>
          <a:xfrm>
            <a:off x="1778000" y="7349034"/>
            <a:ext cx="13766800" cy="330200"/>
          </a:xfrm>
          <a:prstGeom prst="rect">
            <a:avLst/>
          </a:prstGeom>
          <a:noFill/>
          <a:ln/>
        </p:spPr>
        <p:txBody>
          <a:bodyPr wrap="square" lIns="0" tIns="0" rIns="0" bIns="0" rtlCol="0" anchor="ctr"/>
          <a:lstStyle/>
          <a:p>
            <a:pPr>
              <a:lnSpc>
                <a:spcPct val="140000"/>
              </a:lnSpc>
            </a:pPr>
            <a:r>
              <a:rPr lang="en-US" sz="1600" dirty="0">
                <a:solidFill>
                  <a:srgbClr val="E0E2E4">
                    <a:alpha val="70000"/>
                  </a:srgbClr>
                </a:solidFill>
                <a:latin typeface="MiSans" pitchFamily="34" charset="0"/>
                <a:ea typeface="MiSans" pitchFamily="34" charset="-122"/>
                <a:cs typeface="MiSans" pitchFamily="34" charset="-120"/>
              </a:rPr>
              <a:t>多维度对比分析:为企业技术决策提供理论依据</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1"/>
        </a:solidFill>
        <a:effectLst/>
      </p:bgPr>
    </p:bg>
    <p:spTree>
      <p:nvGrpSpPr>
        <p:cNvPr id="1" name=""/>
        <p:cNvGrpSpPr/>
        <p:nvPr/>
      </p:nvGrpSpPr>
      <p:grpSpPr>
        <a:xfrm>
          <a:off x="0" y="0"/>
          <a:ext cx="0" cy="0"/>
          <a:chOff x="0" y="0"/>
          <a:chExt cx="0" cy="0"/>
        </a:xfrm>
      </p:grpSpPr>
      <p:sp>
        <p:nvSpPr>
          <p:cNvPr id="4" name="Shape 1"/>
          <p:cNvSpPr/>
          <p:nvPr/>
        </p:nvSpPr>
        <p:spPr>
          <a:xfrm>
            <a:off x="508000" y="2257425"/>
            <a:ext cx="1016000" cy="1016000"/>
          </a:xfrm>
          <a:custGeom>
            <a:avLst/>
            <a:gdLst/>
            <a:ahLst/>
            <a:cxnLst/>
            <a:rect l="l" t="t" r="r" b="b"/>
            <a:pathLst>
              <a:path w="1016000" h="1016000">
                <a:moveTo>
                  <a:pt x="152400" y="0"/>
                </a:moveTo>
                <a:lnTo>
                  <a:pt x="863600" y="0"/>
                </a:lnTo>
                <a:cubicBezTo>
                  <a:pt x="947712" y="0"/>
                  <a:pt x="1016000" y="68288"/>
                  <a:pt x="1016000" y="152400"/>
                </a:cubicBezTo>
                <a:lnTo>
                  <a:pt x="1016000" y="863600"/>
                </a:lnTo>
                <a:cubicBezTo>
                  <a:pt x="1016000" y="947712"/>
                  <a:pt x="947712" y="1016000"/>
                  <a:pt x="863600" y="1016000"/>
                </a:cubicBezTo>
                <a:lnTo>
                  <a:pt x="152400" y="1016000"/>
                </a:lnTo>
                <a:cubicBezTo>
                  <a:pt x="68288" y="1016000"/>
                  <a:pt x="0" y="947712"/>
                  <a:pt x="0" y="863600"/>
                </a:cubicBezTo>
                <a:lnTo>
                  <a:pt x="0" y="152400"/>
                </a:lnTo>
                <a:cubicBezTo>
                  <a:pt x="0" y="68288"/>
                  <a:pt x="68288" y="0"/>
                  <a:pt x="152400" y="0"/>
                </a:cubicBezTo>
                <a:close/>
              </a:path>
            </a:pathLst>
          </a:custGeom>
          <a:solidFill>
            <a:srgbClr val="3C8082"/>
          </a:solidFill>
          <a:ln/>
        </p:spPr>
        <p:txBody>
          <a:bodyPr anchor="ctr"/>
          <a:lstStyle/>
          <a:p>
            <a:pPr algn="ctr"/>
            <a:endParaRPr lang="zh-CN" altLang="en-US"/>
          </a:p>
        </p:txBody>
      </p:sp>
      <p:sp>
        <p:nvSpPr>
          <p:cNvPr id="5" name="Text 2"/>
          <p:cNvSpPr/>
          <p:nvPr/>
        </p:nvSpPr>
        <p:spPr>
          <a:xfrm>
            <a:off x="547192" y="2330450"/>
            <a:ext cx="937617" cy="869950"/>
          </a:xfrm>
          <a:prstGeom prst="rect">
            <a:avLst/>
          </a:prstGeom>
          <a:noFill/>
          <a:ln/>
        </p:spPr>
        <p:txBody>
          <a:bodyPr wrap="square" lIns="0" tIns="0" rIns="0" bIns="0" rtlCol="0" anchor="b"/>
          <a:lstStyle/>
          <a:p>
            <a:pPr algn="ctr">
              <a:lnSpc>
                <a:spcPct val="80000"/>
              </a:lnSpc>
            </a:pPr>
            <a:r>
              <a:rPr lang="en-US" sz="4800" b="1" dirty="0">
                <a:solidFill>
                  <a:srgbClr val="FFFFFF"/>
                </a:solidFill>
                <a:latin typeface="Liter" pitchFamily="34" charset="0"/>
                <a:ea typeface="Liter" pitchFamily="34" charset="-122"/>
                <a:cs typeface="Liter" pitchFamily="34" charset="-120"/>
              </a:rPr>
              <a:t>01</a:t>
            </a:r>
            <a:endParaRPr lang="en-US" sz="1600" dirty="0"/>
          </a:p>
        </p:txBody>
      </p:sp>
      <p:sp>
        <p:nvSpPr>
          <p:cNvPr id="6" name="Text 3"/>
          <p:cNvSpPr/>
          <p:nvPr/>
        </p:nvSpPr>
        <p:spPr>
          <a:xfrm>
            <a:off x="508000" y="3746500"/>
            <a:ext cx="15621000" cy="1905000"/>
          </a:xfrm>
          <a:prstGeom prst="rect">
            <a:avLst/>
          </a:prstGeom>
          <a:noFill/>
          <a:ln/>
        </p:spPr>
        <p:txBody>
          <a:bodyPr wrap="square" lIns="0" tIns="0" rIns="0" bIns="0" rtlCol="0" anchor="ctr"/>
          <a:lstStyle/>
          <a:p>
            <a:pPr>
              <a:lnSpc>
                <a:spcPct val="100000"/>
              </a:lnSpc>
            </a:pPr>
            <a:r>
              <a:rPr lang="en-US" sz="6000" b="1" dirty="0">
                <a:solidFill>
                  <a:srgbClr val="E0E2E4"/>
                </a:solidFill>
                <a:latin typeface="MiSans" pitchFamily="34" charset="0"/>
                <a:ea typeface="MiSans" pitchFamily="34" charset="-122"/>
                <a:cs typeface="MiSans" pitchFamily="34" charset="-120"/>
              </a:rPr>
              <a:t>分布式资源管理的</a:t>
            </a:r>
            <a:endParaRPr lang="en-US" sz="1600" dirty="0"/>
          </a:p>
          <a:p>
            <a:pPr>
              <a:lnSpc>
                <a:spcPct val="100000"/>
              </a:lnSpc>
            </a:pPr>
            <a:r>
              <a:rPr lang="en-US" sz="6000" b="1" dirty="0">
                <a:solidFill>
                  <a:srgbClr val="E0E2E4"/>
                </a:solidFill>
                <a:latin typeface="MiSans" pitchFamily="34" charset="0"/>
                <a:ea typeface="MiSans" pitchFamily="34" charset="-122"/>
                <a:cs typeface="MiSans" pitchFamily="34" charset="-120"/>
              </a:rPr>
              <a:t>技术演进</a:t>
            </a:r>
            <a:endParaRPr lang="en-US" sz="1600" dirty="0"/>
          </a:p>
        </p:txBody>
      </p:sp>
      <p:sp>
        <p:nvSpPr>
          <p:cNvPr id="7" name="Text 4"/>
          <p:cNvSpPr/>
          <p:nvPr/>
        </p:nvSpPr>
        <p:spPr>
          <a:xfrm>
            <a:off x="508000" y="5956300"/>
            <a:ext cx="15392400" cy="406400"/>
          </a:xfrm>
          <a:prstGeom prst="rect">
            <a:avLst/>
          </a:prstGeom>
          <a:noFill/>
          <a:ln/>
        </p:spPr>
        <p:txBody>
          <a:bodyPr wrap="square" lIns="0" tIns="0" rIns="0" bIns="0" rtlCol="0" anchor="ctr"/>
          <a:lstStyle/>
          <a:p>
            <a:pPr>
              <a:lnSpc>
                <a:spcPct val="110000"/>
              </a:lnSpc>
            </a:pPr>
            <a:r>
              <a:rPr lang="en-US" sz="2400" b="1" dirty="0">
                <a:solidFill>
                  <a:srgbClr val="B38B59"/>
                </a:solidFill>
                <a:latin typeface="MiSans" pitchFamily="34" charset="0"/>
                <a:ea typeface="MiSans" pitchFamily="34" charset="-122"/>
                <a:cs typeface="MiSans" pitchFamily="34" charset="-120"/>
              </a:rPr>
              <a:t>从MapReduce到云原生:资源管理技术的发展历程与关键技术节点</a:t>
            </a:r>
            <a:endParaRPr lang="en-US" sz="1600" dirty="0"/>
          </a:p>
        </p:txBody>
      </p:sp>
      <p:sp>
        <p:nvSpPr>
          <p:cNvPr id="8" name="Shape 5"/>
          <p:cNvSpPr/>
          <p:nvPr/>
        </p:nvSpPr>
        <p:spPr>
          <a:xfrm>
            <a:off x="508000" y="6769100"/>
            <a:ext cx="2032000" cy="50800"/>
          </a:xfrm>
          <a:custGeom>
            <a:avLst/>
            <a:gdLst/>
            <a:ahLst/>
            <a:cxnLst/>
            <a:rect l="l" t="t" r="r" b="b"/>
            <a:pathLst>
              <a:path w="2032000" h="50800">
                <a:moveTo>
                  <a:pt x="0" y="0"/>
                </a:moveTo>
                <a:lnTo>
                  <a:pt x="2032000" y="0"/>
                </a:lnTo>
                <a:lnTo>
                  <a:pt x="2032000" y="50800"/>
                </a:lnTo>
                <a:lnTo>
                  <a:pt x="0" y="50800"/>
                </a:lnTo>
                <a:lnTo>
                  <a:pt x="0" y="0"/>
                </a:lnTo>
                <a:close/>
              </a:path>
            </a:pathLst>
          </a:custGeom>
          <a:gradFill flip="none" rotWithShape="1">
            <a:gsLst>
              <a:gs pos="0">
                <a:srgbClr val="3C8082"/>
              </a:gs>
              <a:gs pos="100000">
                <a:srgbClr val="B38B59"/>
              </a:gs>
            </a:gsLst>
            <a:lin ang="0" scaled="1"/>
          </a:gradFill>
          <a:ln/>
        </p:spPr>
        <p:txBody>
          <a:bodyPr/>
          <a:lstStyle/>
          <a:p>
            <a:endParaRPr lang="zh-CN" altLang="en-US"/>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465667"/>
            <a:ext cx="338667" cy="338667"/>
          </a:xfrm>
          <a:custGeom>
            <a:avLst/>
            <a:gdLst/>
            <a:ahLst/>
            <a:cxnLst/>
            <a:rect l="l" t="t" r="r" b="b"/>
            <a:pathLst>
              <a:path w="338667" h="338667">
                <a:moveTo>
                  <a:pt x="63500" y="0"/>
                </a:moveTo>
                <a:lnTo>
                  <a:pt x="275167" y="0"/>
                </a:lnTo>
                <a:cubicBezTo>
                  <a:pt x="310213" y="0"/>
                  <a:pt x="338667" y="28453"/>
                  <a:pt x="338667" y="63500"/>
                </a:cubicBezTo>
                <a:lnTo>
                  <a:pt x="338667" y="275167"/>
                </a:lnTo>
                <a:cubicBezTo>
                  <a:pt x="338667" y="310213"/>
                  <a:pt x="310213" y="338667"/>
                  <a:pt x="275167" y="338667"/>
                </a:cubicBezTo>
                <a:lnTo>
                  <a:pt x="63500" y="338667"/>
                </a:lnTo>
                <a:cubicBezTo>
                  <a:pt x="28453" y="338667"/>
                  <a:pt x="0" y="310213"/>
                  <a:pt x="0" y="275167"/>
                </a:cubicBezTo>
                <a:lnTo>
                  <a:pt x="0" y="63500"/>
                </a:lnTo>
                <a:cubicBezTo>
                  <a:pt x="0" y="28453"/>
                  <a:pt x="28453" y="0"/>
                  <a:pt x="63500" y="0"/>
                </a:cubicBezTo>
                <a:close/>
              </a:path>
            </a:pathLst>
          </a:custGeom>
          <a:solidFill>
            <a:srgbClr val="3C8082"/>
          </a:solidFill>
          <a:ln/>
        </p:spPr>
        <p:txBody>
          <a:bodyPr/>
          <a:lstStyle/>
          <a:p>
            <a:endParaRPr lang="zh-CN" altLang="en-US"/>
          </a:p>
        </p:txBody>
      </p:sp>
      <p:sp>
        <p:nvSpPr>
          <p:cNvPr id="3" name="Text 1"/>
          <p:cNvSpPr/>
          <p:nvPr/>
        </p:nvSpPr>
        <p:spPr>
          <a:xfrm>
            <a:off x="381000" y="465667"/>
            <a:ext cx="423333" cy="338667"/>
          </a:xfrm>
          <a:prstGeom prst="rect">
            <a:avLst/>
          </a:prstGeom>
          <a:noFill/>
          <a:ln/>
        </p:spPr>
        <p:txBody>
          <a:bodyPr wrap="square" lIns="0" tIns="0" rIns="0" bIns="0" rtlCol="0" anchor="ctr"/>
          <a:lstStyle/>
          <a:p>
            <a:pPr algn="ctr">
              <a:lnSpc>
                <a:spcPct val="130000"/>
              </a:lnSpc>
            </a:pPr>
            <a:r>
              <a:rPr lang="en-US" sz="1333" b="1" dirty="0">
                <a:solidFill>
                  <a:srgbClr val="FFFFFF"/>
                </a:solidFill>
                <a:latin typeface="Liter" pitchFamily="34" charset="0"/>
                <a:ea typeface="Liter" pitchFamily="34" charset="-122"/>
                <a:cs typeface="Liter" pitchFamily="34" charset="-120"/>
              </a:rPr>
              <a:t>01</a:t>
            </a:r>
            <a:endParaRPr lang="en-US" sz="1600" dirty="0"/>
          </a:p>
        </p:txBody>
      </p:sp>
      <p:sp>
        <p:nvSpPr>
          <p:cNvPr id="4" name="Text 2"/>
          <p:cNvSpPr/>
          <p:nvPr/>
        </p:nvSpPr>
        <p:spPr>
          <a:xfrm>
            <a:off x="889000" y="423333"/>
            <a:ext cx="5238750" cy="423333"/>
          </a:xfrm>
          <a:prstGeom prst="rect">
            <a:avLst/>
          </a:prstGeom>
          <a:noFill/>
          <a:ln/>
        </p:spPr>
        <p:txBody>
          <a:bodyPr wrap="square" lIns="0" tIns="0" rIns="0" bIns="0" rtlCol="0" anchor="ctr"/>
          <a:lstStyle/>
          <a:p>
            <a:pPr>
              <a:lnSpc>
                <a:spcPct val="90000"/>
              </a:lnSpc>
            </a:pPr>
            <a:r>
              <a:rPr lang="en-US" sz="3000" b="1" dirty="0">
                <a:solidFill>
                  <a:srgbClr val="E0E2E4"/>
                </a:solidFill>
                <a:latin typeface="MiSans" pitchFamily="34" charset="0"/>
                <a:ea typeface="MiSans" pitchFamily="34" charset="-122"/>
                <a:cs typeface="MiSans" pitchFamily="34" charset="-120"/>
              </a:rPr>
              <a:t>技术发展脉络:从单机到分布式</a:t>
            </a:r>
            <a:endParaRPr lang="en-US" sz="1600" dirty="0"/>
          </a:p>
        </p:txBody>
      </p:sp>
      <p:sp>
        <p:nvSpPr>
          <p:cNvPr id="5" name="Text 3"/>
          <p:cNvSpPr/>
          <p:nvPr/>
        </p:nvSpPr>
        <p:spPr>
          <a:xfrm>
            <a:off x="423333" y="931333"/>
            <a:ext cx="15504583" cy="296333"/>
          </a:xfrm>
          <a:prstGeom prst="rect">
            <a:avLst/>
          </a:prstGeom>
          <a:noFill/>
          <a:ln/>
        </p:spPr>
        <p:txBody>
          <a:bodyPr wrap="square" lIns="0" tIns="0" rIns="0" bIns="0" rtlCol="0" anchor="ctr"/>
          <a:lstStyle/>
          <a:p>
            <a:pPr>
              <a:lnSpc>
                <a:spcPct val="130000"/>
              </a:lnSpc>
            </a:pPr>
            <a:r>
              <a:rPr lang="en-US" sz="1500" b="1" dirty="0">
                <a:solidFill>
                  <a:srgbClr val="B38B59"/>
                </a:solidFill>
                <a:latin typeface="MiSans" pitchFamily="34" charset="0"/>
                <a:ea typeface="MiSans" pitchFamily="34" charset="-122"/>
                <a:cs typeface="MiSans" pitchFamily="34" charset="-120"/>
              </a:rPr>
              <a:t>资源管理技术的演进历程与关键里程碑</a:t>
            </a:r>
            <a:endParaRPr lang="en-US" sz="1600" dirty="0"/>
          </a:p>
        </p:txBody>
      </p:sp>
      <p:sp>
        <p:nvSpPr>
          <p:cNvPr id="6" name="Text 4"/>
          <p:cNvSpPr/>
          <p:nvPr/>
        </p:nvSpPr>
        <p:spPr>
          <a:xfrm>
            <a:off x="359833" y="1281635"/>
            <a:ext cx="11218333" cy="338667"/>
          </a:xfrm>
          <a:prstGeom prst="rect">
            <a:avLst/>
          </a:prstGeom>
          <a:noFill/>
          <a:ln/>
        </p:spPr>
        <p:txBody>
          <a:bodyPr wrap="square" lIns="0" tIns="0" rIns="0" bIns="0" rtlCol="0" anchor="ctr"/>
          <a:lstStyle/>
          <a:p>
            <a:pPr algn="ctr">
              <a:lnSpc>
                <a:spcPct val="110000"/>
              </a:lnSpc>
            </a:pPr>
            <a:r>
              <a:rPr lang="en-US" sz="2000" b="1" dirty="0">
                <a:solidFill>
                  <a:srgbClr val="E0E2E4"/>
                </a:solidFill>
                <a:latin typeface="MiSans" pitchFamily="34" charset="0"/>
                <a:ea typeface="MiSans" pitchFamily="34" charset="-122"/>
                <a:cs typeface="MiSans" pitchFamily="34" charset="-120"/>
              </a:rPr>
              <a:t>技术演进时间轴</a:t>
            </a:r>
            <a:endParaRPr lang="en-US" sz="1600" dirty="0"/>
          </a:p>
        </p:txBody>
      </p:sp>
      <p:sp>
        <p:nvSpPr>
          <p:cNvPr id="7" name="Shape 5"/>
          <p:cNvSpPr/>
          <p:nvPr/>
        </p:nvSpPr>
        <p:spPr>
          <a:xfrm>
            <a:off x="592667" y="1789635"/>
            <a:ext cx="21167" cy="5503333"/>
          </a:xfrm>
          <a:custGeom>
            <a:avLst/>
            <a:gdLst/>
            <a:ahLst/>
            <a:cxnLst/>
            <a:rect l="l" t="t" r="r" b="b"/>
            <a:pathLst>
              <a:path w="21167" h="5503333">
                <a:moveTo>
                  <a:pt x="0" y="0"/>
                </a:moveTo>
                <a:lnTo>
                  <a:pt x="21167" y="0"/>
                </a:lnTo>
                <a:lnTo>
                  <a:pt x="21167" y="5503333"/>
                </a:lnTo>
                <a:lnTo>
                  <a:pt x="0" y="5503333"/>
                </a:lnTo>
                <a:lnTo>
                  <a:pt x="0" y="0"/>
                </a:lnTo>
                <a:close/>
              </a:path>
            </a:pathLst>
          </a:custGeom>
          <a:gradFill flip="none" rotWithShape="1">
            <a:gsLst>
              <a:gs pos="0">
                <a:srgbClr val="3C8082"/>
              </a:gs>
              <a:gs pos="0">
                <a:srgbClr val="FFFFFF"/>
              </a:gs>
              <a:gs pos="50000">
                <a:srgbClr val="B38B59"/>
              </a:gs>
              <a:gs pos="100000">
                <a:srgbClr val="3C8082"/>
              </a:gs>
            </a:gsLst>
            <a:lin ang="5400000" scaled="1"/>
          </a:gradFill>
          <a:ln/>
        </p:spPr>
        <p:txBody>
          <a:bodyPr/>
          <a:lstStyle/>
          <a:p>
            <a:endParaRPr lang="zh-CN" altLang="en-US"/>
          </a:p>
        </p:txBody>
      </p:sp>
      <p:sp>
        <p:nvSpPr>
          <p:cNvPr id="8" name="Shape 6"/>
          <p:cNvSpPr/>
          <p:nvPr/>
        </p:nvSpPr>
        <p:spPr>
          <a:xfrm>
            <a:off x="444500" y="1810801"/>
            <a:ext cx="296333" cy="296333"/>
          </a:xfrm>
          <a:custGeom>
            <a:avLst/>
            <a:gdLst/>
            <a:ahLst/>
            <a:cxnLst/>
            <a:rect l="l" t="t" r="r" b="b"/>
            <a:pathLst>
              <a:path w="296333" h="296333">
                <a:moveTo>
                  <a:pt x="148167" y="0"/>
                </a:moveTo>
                <a:lnTo>
                  <a:pt x="148167" y="0"/>
                </a:lnTo>
                <a:cubicBezTo>
                  <a:pt x="229942" y="0"/>
                  <a:pt x="296333" y="66391"/>
                  <a:pt x="296333" y="148167"/>
                </a:cubicBezTo>
                <a:lnTo>
                  <a:pt x="296333" y="148167"/>
                </a:lnTo>
                <a:cubicBezTo>
                  <a:pt x="296333" y="229942"/>
                  <a:pt x="229942" y="296333"/>
                  <a:pt x="148167" y="296333"/>
                </a:cubicBezTo>
                <a:lnTo>
                  <a:pt x="148167" y="296333"/>
                </a:lnTo>
                <a:cubicBezTo>
                  <a:pt x="66391" y="296333"/>
                  <a:pt x="0" y="229942"/>
                  <a:pt x="0" y="148167"/>
                </a:cubicBezTo>
                <a:lnTo>
                  <a:pt x="0" y="148167"/>
                </a:lnTo>
                <a:cubicBezTo>
                  <a:pt x="0" y="66391"/>
                  <a:pt x="66391" y="0"/>
                  <a:pt x="148167" y="0"/>
                </a:cubicBezTo>
                <a:close/>
              </a:path>
            </a:pathLst>
          </a:custGeom>
          <a:solidFill>
            <a:srgbClr val="3C8082"/>
          </a:solidFill>
          <a:ln w="50800">
            <a:solidFill>
              <a:srgbClr val="1A1D21"/>
            </a:solidFill>
            <a:prstDash val="solid"/>
          </a:ln>
        </p:spPr>
        <p:txBody>
          <a:bodyPr/>
          <a:lstStyle/>
          <a:p>
            <a:endParaRPr lang="zh-CN" altLang="en-US"/>
          </a:p>
        </p:txBody>
      </p:sp>
      <p:sp>
        <p:nvSpPr>
          <p:cNvPr id="9" name="Shape 7"/>
          <p:cNvSpPr/>
          <p:nvPr/>
        </p:nvSpPr>
        <p:spPr>
          <a:xfrm>
            <a:off x="550333" y="1916635"/>
            <a:ext cx="84667" cy="84667"/>
          </a:xfrm>
          <a:custGeom>
            <a:avLst/>
            <a:gdLst/>
            <a:ahLst/>
            <a:cxnLst/>
            <a:rect l="l" t="t" r="r" b="b"/>
            <a:pathLst>
              <a:path w="84667" h="84667">
                <a:moveTo>
                  <a:pt x="42333" y="0"/>
                </a:moveTo>
                <a:lnTo>
                  <a:pt x="42333" y="0"/>
                </a:lnTo>
                <a:cubicBezTo>
                  <a:pt x="65713" y="0"/>
                  <a:pt x="84667" y="18953"/>
                  <a:pt x="84667" y="42333"/>
                </a:cubicBezTo>
                <a:lnTo>
                  <a:pt x="84667" y="42333"/>
                </a:lnTo>
                <a:cubicBezTo>
                  <a:pt x="84667" y="65713"/>
                  <a:pt x="65713" y="84667"/>
                  <a:pt x="42333" y="84667"/>
                </a:cubicBezTo>
                <a:lnTo>
                  <a:pt x="42333" y="84667"/>
                </a:lnTo>
                <a:cubicBezTo>
                  <a:pt x="18953" y="84667"/>
                  <a:pt x="0" y="65713"/>
                  <a:pt x="0" y="42333"/>
                </a:cubicBezTo>
                <a:lnTo>
                  <a:pt x="0" y="42333"/>
                </a:lnTo>
                <a:cubicBezTo>
                  <a:pt x="0" y="18953"/>
                  <a:pt x="18953" y="0"/>
                  <a:pt x="42333" y="0"/>
                </a:cubicBezTo>
                <a:close/>
              </a:path>
            </a:pathLst>
          </a:custGeom>
          <a:solidFill>
            <a:srgbClr val="B38B59"/>
          </a:solidFill>
          <a:ln/>
        </p:spPr>
        <p:txBody>
          <a:bodyPr/>
          <a:lstStyle/>
          <a:p>
            <a:endParaRPr lang="zh-CN" altLang="en-US"/>
          </a:p>
        </p:txBody>
      </p:sp>
      <p:sp>
        <p:nvSpPr>
          <p:cNvPr id="10" name="Shape 8"/>
          <p:cNvSpPr/>
          <p:nvPr/>
        </p:nvSpPr>
        <p:spPr>
          <a:xfrm>
            <a:off x="767292" y="1794926"/>
            <a:ext cx="10742083" cy="984250"/>
          </a:xfrm>
          <a:custGeom>
            <a:avLst/>
            <a:gdLst/>
            <a:ahLst/>
            <a:cxnLst/>
            <a:rect l="l" t="t" r="r" b="b"/>
            <a:pathLst>
              <a:path w="10742083" h="984250">
                <a:moveTo>
                  <a:pt x="84665" y="0"/>
                </a:moveTo>
                <a:lnTo>
                  <a:pt x="10657418" y="0"/>
                </a:lnTo>
                <a:cubicBezTo>
                  <a:pt x="10704177" y="0"/>
                  <a:pt x="10742083" y="37906"/>
                  <a:pt x="10742083" y="84665"/>
                </a:cubicBezTo>
                <a:lnTo>
                  <a:pt x="10742083" y="899585"/>
                </a:lnTo>
                <a:cubicBezTo>
                  <a:pt x="10742083" y="946344"/>
                  <a:pt x="10704177" y="984250"/>
                  <a:pt x="10657418" y="984250"/>
                </a:cubicBezTo>
                <a:lnTo>
                  <a:pt x="84665" y="984250"/>
                </a:lnTo>
                <a:cubicBezTo>
                  <a:pt x="37906" y="984250"/>
                  <a:pt x="0" y="946344"/>
                  <a:pt x="0" y="899585"/>
                </a:cubicBezTo>
                <a:lnTo>
                  <a:pt x="0" y="84665"/>
                </a:lnTo>
                <a:cubicBezTo>
                  <a:pt x="0" y="37937"/>
                  <a:pt x="37937" y="0"/>
                  <a:pt x="84665"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11" name="Text 9"/>
          <p:cNvSpPr/>
          <p:nvPr/>
        </p:nvSpPr>
        <p:spPr>
          <a:xfrm>
            <a:off x="941917" y="1969551"/>
            <a:ext cx="952500"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单机时代</a:t>
            </a:r>
            <a:endParaRPr lang="en-US" sz="1600" dirty="0"/>
          </a:p>
        </p:txBody>
      </p:sp>
      <p:sp>
        <p:nvSpPr>
          <p:cNvPr id="12" name="Text 10"/>
          <p:cNvSpPr/>
          <p:nvPr/>
        </p:nvSpPr>
        <p:spPr>
          <a:xfrm>
            <a:off x="10439466" y="2011885"/>
            <a:ext cx="973667" cy="211667"/>
          </a:xfrm>
          <a:prstGeom prst="rect">
            <a:avLst/>
          </a:prstGeom>
          <a:noFill/>
          <a:ln/>
        </p:spPr>
        <p:txBody>
          <a:bodyPr wrap="square" lIns="0" tIns="0" rIns="0" bIns="0" rtlCol="0" anchor="ctr"/>
          <a:lstStyle/>
          <a:p>
            <a:pPr>
              <a:lnSpc>
                <a:spcPct val="120000"/>
              </a:lnSpc>
            </a:pPr>
            <a:r>
              <a:rPr lang="en-US" sz="1167" b="1" dirty="0">
                <a:solidFill>
                  <a:srgbClr val="B38B59"/>
                </a:solidFill>
                <a:latin typeface="MiSans" pitchFamily="34" charset="0"/>
                <a:ea typeface="MiSans" pitchFamily="34" charset="-122"/>
                <a:cs typeface="MiSans" pitchFamily="34" charset="-120"/>
              </a:rPr>
              <a:t>1990s-2000s</a:t>
            </a:r>
            <a:endParaRPr lang="en-US" sz="1600" dirty="0"/>
          </a:p>
        </p:txBody>
      </p:sp>
      <p:sp>
        <p:nvSpPr>
          <p:cNvPr id="13" name="Text 11"/>
          <p:cNvSpPr/>
          <p:nvPr/>
        </p:nvSpPr>
        <p:spPr>
          <a:xfrm>
            <a:off x="941917" y="2350551"/>
            <a:ext cx="10477500" cy="254000"/>
          </a:xfrm>
          <a:prstGeom prst="rect">
            <a:avLst/>
          </a:prstGeom>
          <a:noFill/>
          <a:ln/>
        </p:spPr>
        <p:txBody>
          <a:bodyPr wrap="square" lIns="0" tIns="0" rIns="0" bIns="0" rtlCol="0" anchor="ctr"/>
          <a:lstStyle/>
          <a:p>
            <a:pPr>
              <a:lnSpc>
                <a:spcPct val="130000"/>
              </a:lnSpc>
            </a:pPr>
            <a:r>
              <a:rPr lang="en-US" sz="1333" dirty="0">
                <a:solidFill>
                  <a:srgbClr val="E0E2E4">
                    <a:alpha val="80000"/>
                  </a:srgbClr>
                </a:solidFill>
                <a:latin typeface="MiSans" pitchFamily="34" charset="0"/>
                <a:ea typeface="MiSans" pitchFamily="34" charset="-122"/>
                <a:cs typeface="MiSans" pitchFamily="34" charset="-120"/>
              </a:rPr>
              <a:t>早期计算机系统采用单机模式,资源管理相对简单。操作系统通过进程调度器和内存管理器协调CPU、内存等资源的使用。</a:t>
            </a:r>
            <a:endParaRPr lang="en-US" sz="1600" dirty="0"/>
          </a:p>
        </p:txBody>
      </p:sp>
      <p:sp>
        <p:nvSpPr>
          <p:cNvPr id="14" name="Shape 12"/>
          <p:cNvSpPr/>
          <p:nvPr/>
        </p:nvSpPr>
        <p:spPr>
          <a:xfrm>
            <a:off x="444500" y="3017301"/>
            <a:ext cx="296333" cy="296333"/>
          </a:xfrm>
          <a:custGeom>
            <a:avLst/>
            <a:gdLst/>
            <a:ahLst/>
            <a:cxnLst/>
            <a:rect l="l" t="t" r="r" b="b"/>
            <a:pathLst>
              <a:path w="296333" h="296333">
                <a:moveTo>
                  <a:pt x="148167" y="0"/>
                </a:moveTo>
                <a:lnTo>
                  <a:pt x="148167" y="0"/>
                </a:lnTo>
                <a:cubicBezTo>
                  <a:pt x="229942" y="0"/>
                  <a:pt x="296333" y="66391"/>
                  <a:pt x="296333" y="148167"/>
                </a:cubicBezTo>
                <a:lnTo>
                  <a:pt x="296333" y="148167"/>
                </a:lnTo>
                <a:cubicBezTo>
                  <a:pt x="296333" y="229942"/>
                  <a:pt x="229942" y="296333"/>
                  <a:pt x="148167" y="296333"/>
                </a:cubicBezTo>
                <a:lnTo>
                  <a:pt x="148167" y="296333"/>
                </a:lnTo>
                <a:cubicBezTo>
                  <a:pt x="66391" y="296333"/>
                  <a:pt x="0" y="229942"/>
                  <a:pt x="0" y="148167"/>
                </a:cubicBezTo>
                <a:lnTo>
                  <a:pt x="0" y="148167"/>
                </a:lnTo>
                <a:cubicBezTo>
                  <a:pt x="0" y="66391"/>
                  <a:pt x="66391" y="0"/>
                  <a:pt x="148167" y="0"/>
                </a:cubicBezTo>
                <a:close/>
              </a:path>
            </a:pathLst>
          </a:custGeom>
          <a:solidFill>
            <a:srgbClr val="B38B59"/>
          </a:solidFill>
          <a:ln w="50800">
            <a:solidFill>
              <a:srgbClr val="1A1D21"/>
            </a:solidFill>
            <a:prstDash val="solid"/>
          </a:ln>
        </p:spPr>
        <p:txBody>
          <a:bodyPr/>
          <a:lstStyle/>
          <a:p>
            <a:endParaRPr lang="zh-CN" altLang="en-US"/>
          </a:p>
        </p:txBody>
      </p:sp>
      <p:sp>
        <p:nvSpPr>
          <p:cNvPr id="15" name="Shape 13"/>
          <p:cNvSpPr/>
          <p:nvPr/>
        </p:nvSpPr>
        <p:spPr>
          <a:xfrm>
            <a:off x="550333" y="3123135"/>
            <a:ext cx="84667" cy="84667"/>
          </a:xfrm>
          <a:custGeom>
            <a:avLst/>
            <a:gdLst/>
            <a:ahLst/>
            <a:cxnLst/>
            <a:rect l="l" t="t" r="r" b="b"/>
            <a:pathLst>
              <a:path w="84667" h="84667">
                <a:moveTo>
                  <a:pt x="42333" y="0"/>
                </a:moveTo>
                <a:lnTo>
                  <a:pt x="42333" y="0"/>
                </a:lnTo>
                <a:cubicBezTo>
                  <a:pt x="65713" y="0"/>
                  <a:pt x="84667" y="18953"/>
                  <a:pt x="84667" y="42333"/>
                </a:cubicBezTo>
                <a:lnTo>
                  <a:pt x="84667" y="42333"/>
                </a:lnTo>
                <a:cubicBezTo>
                  <a:pt x="84667" y="65713"/>
                  <a:pt x="65713" y="84667"/>
                  <a:pt x="42333" y="84667"/>
                </a:cubicBezTo>
                <a:lnTo>
                  <a:pt x="42333" y="84667"/>
                </a:lnTo>
                <a:cubicBezTo>
                  <a:pt x="18953" y="84667"/>
                  <a:pt x="0" y="65713"/>
                  <a:pt x="0" y="42333"/>
                </a:cubicBezTo>
                <a:lnTo>
                  <a:pt x="0" y="42333"/>
                </a:lnTo>
                <a:cubicBezTo>
                  <a:pt x="0" y="18953"/>
                  <a:pt x="18953" y="0"/>
                  <a:pt x="42333" y="0"/>
                </a:cubicBezTo>
                <a:close/>
              </a:path>
            </a:pathLst>
          </a:custGeom>
          <a:solidFill>
            <a:srgbClr val="3C8082"/>
          </a:solidFill>
          <a:ln/>
        </p:spPr>
        <p:txBody>
          <a:bodyPr/>
          <a:lstStyle/>
          <a:p>
            <a:endParaRPr lang="zh-CN" altLang="en-US"/>
          </a:p>
        </p:txBody>
      </p:sp>
      <p:sp>
        <p:nvSpPr>
          <p:cNvPr id="16" name="Shape 14"/>
          <p:cNvSpPr/>
          <p:nvPr/>
        </p:nvSpPr>
        <p:spPr>
          <a:xfrm>
            <a:off x="767292" y="3001426"/>
            <a:ext cx="10742083" cy="984250"/>
          </a:xfrm>
          <a:custGeom>
            <a:avLst/>
            <a:gdLst/>
            <a:ahLst/>
            <a:cxnLst/>
            <a:rect l="l" t="t" r="r" b="b"/>
            <a:pathLst>
              <a:path w="10742083" h="984250">
                <a:moveTo>
                  <a:pt x="84665" y="0"/>
                </a:moveTo>
                <a:lnTo>
                  <a:pt x="10657418" y="0"/>
                </a:lnTo>
                <a:cubicBezTo>
                  <a:pt x="10704177" y="0"/>
                  <a:pt x="10742083" y="37906"/>
                  <a:pt x="10742083" y="84665"/>
                </a:cubicBezTo>
                <a:lnTo>
                  <a:pt x="10742083" y="899585"/>
                </a:lnTo>
                <a:cubicBezTo>
                  <a:pt x="10742083" y="946344"/>
                  <a:pt x="10704177" y="984250"/>
                  <a:pt x="10657418" y="984250"/>
                </a:cubicBezTo>
                <a:lnTo>
                  <a:pt x="84665" y="984250"/>
                </a:lnTo>
                <a:cubicBezTo>
                  <a:pt x="37906" y="984250"/>
                  <a:pt x="0" y="946344"/>
                  <a:pt x="0" y="899585"/>
                </a:cubicBezTo>
                <a:lnTo>
                  <a:pt x="0" y="84665"/>
                </a:lnTo>
                <a:cubicBezTo>
                  <a:pt x="0" y="37937"/>
                  <a:pt x="37937" y="0"/>
                  <a:pt x="84665"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17" name="Text 15"/>
          <p:cNvSpPr/>
          <p:nvPr/>
        </p:nvSpPr>
        <p:spPr>
          <a:xfrm>
            <a:off x="941917" y="3176051"/>
            <a:ext cx="1587500"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分布式计算兴起</a:t>
            </a:r>
            <a:endParaRPr lang="en-US" sz="1600" dirty="0"/>
          </a:p>
        </p:txBody>
      </p:sp>
      <p:sp>
        <p:nvSpPr>
          <p:cNvPr id="18" name="Text 16"/>
          <p:cNvSpPr/>
          <p:nvPr/>
        </p:nvSpPr>
        <p:spPr>
          <a:xfrm>
            <a:off x="10903066" y="3218385"/>
            <a:ext cx="508000" cy="211667"/>
          </a:xfrm>
          <a:prstGeom prst="rect">
            <a:avLst/>
          </a:prstGeom>
          <a:noFill/>
          <a:ln/>
        </p:spPr>
        <p:txBody>
          <a:bodyPr wrap="square" lIns="0" tIns="0" rIns="0" bIns="0" rtlCol="0" anchor="ctr"/>
          <a:lstStyle/>
          <a:p>
            <a:pPr>
              <a:lnSpc>
                <a:spcPct val="120000"/>
              </a:lnSpc>
            </a:pPr>
            <a:r>
              <a:rPr lang="en-US" sz="1167" b="1" dirty="0">
                <a:solidFill>
                  <a:srgbClr val="B38B59"/>
                </a:solidFill>
                <a:latin typeface="MiSans" pitchFamily="34" charset="0"/>
                <a:ea typeface="MiSans" pitchFamily="34" charset="-122"/>
                <a:cs typeface="MiSans" pitchFamily="34" charset="-120"/>
              </a:rPr>
              <a:t>2000s</a:t>
            </a:r>
            <a:endParaRPr lang="en-US" sz="1600" dirty="0"/>
          </a:p>
        </p:txBody>
      </p:sp>
      <p:sp>
        <p:nvSpPr>
          <p:cNvPr id="19" name="Text 17"/>
          <p:cNvSpPr/>
          <p:nvPr/>
        </p:nvSpPr>
        <p:spPr>
          <a:xfrm>
            <a:off x="941917" y="3557051"/>
            <a:ext cx="10477500" cy="254000"/>
          </a:xfrm>
          <a:prstGeom prst="rect">
            <a:avLst/>
          </a:prstGeom>
          <a:noFill/>
          <a:ln/>
        </p:spPr>
        <p:txBody>
          <a:bodyPr wrap="square" lIns="0" tIns="0" rIns="0" bIns="0" rtlCol="0" anchor="ctr"/>
          <a:lstStyle/>
          <a:p>
            <a:pPr>
              <a:lnSpc>
                <a:spcPct val="130000"/>
              </a:lnSpc>
            </a:pPr>
            <a:r>
              <a:rPr lang="en-US" sz="1333" dirty="0">
                <a:solidFill>
                  <a:srgbClr val="E0E2E4">
                    <a:alpha val="80000"/>
                  </a:srgbClr>
                </a:solidFill>
                <a:latin typeface="MiSans" pitchFamily="34" charset="0"/>
                <a:ea typeface="MiSans" pitchFamily="34" charset="-122"/>
                <a:cs typeface="MiSans" pitchFamily="34" charset="-120"/>
              </a:rPr>
              <a:t>PVM (Parallel Virtual Machine) 和 MPI (Message Passing Interface) 为科学计算提供并行处理能力,但主要面向HPC场景。</a:t>
            </a:r>
            <a:endParaRPr lang="en-US" sz="1600" dirty="0"/>
          </a:p>
        </p:txBody>
      </p:sp>
      <p:sp>
        <p:nvSpPr>
          <p:cNvPr id="20" name="Shape 18"/>
          <p:cNvSpPr/>
          <p:nvPr/>
        </p:nvSpPr>
        <p:spPr>
          <a:xfrm>
            <a:off x="444500" y="4223801"/>
            <a:ext cx="296333" cy="296333"/>
          </a:xfrm>
          <a:custGeom>
            <a:avLst/>
            <a:gdLst/>
            <a:ahLst/>
            <a:cxnLst/>
            <a:rect l="l" t="t" r="r" b="b"/>
            <a:pathLst>
              <a:path w="296333" h="296333">
                <a:moveTo>
                  <a:pt x="148167" y="0"/>
                </a:moveTo>
                <a:lnTo>
                  <a:pt x="148167" y="0"/>
                </a:lnTo>
                <a:cubicBezTo>
                  <a:pt x="229942" y="0"/>
                  <a:pt x="296333" y="66391"/>
                  <a:pt x="296333" y="148167"/>
                </a:cubicBezTo>
                <a:lnTo>
                  <a:pt x="296333" y="148167"/>
                </a:lnTo>
                <a:cubicBezTo>
                  <a:pt x="296333" y="229942"/>
                  <a:pt x="229942" y="296333"/>
                  <a:pt x="148167" y="296333"/>
                </a:cubicBezTo>
                <a:lnTo>
                  <a:pt x="148167" y="296333"/>
                </a:lnTo>
                <a:cubicBezTo>
                  <a:pt x="66391" y="296333"/>
                  <a:pt x="0" y="229942"/>
                  <a:pt x="0" y="148167"/>
                </a:cubicBezTo>
                <a:lnTo>
                  <a:pt x="0" y="148167"/>
                </a:lnTo>
                <a:cubicBezTo>
                  <a:pt x="0" y="66391"/>
                  <a:pt x="66391" y="0"/>
                  <a:pt x="148167" y="0"/>
                </a:cubicBezTo>
                <a:close/>
              </a:path>
            </a:pathLst>
          </a:custGeom>
          <a:solidFill>
            <a:srgbClr val="3C8082"/>
          </a:solidFill>
          <a:ln w="50800">
            <a:solidFill>
              <a:srgbClr val="1A1D21"/>
            </a:solidFill>
            <a:prstDash val="solid"/>
          </a:ln>
        </p:spPr>
        <p:txBody>
          <a:bodyPr/>
          <a:lstStyle/>
          <a:p>
            <a:endParaRPr lang="zh-CN" altLang="en-US"/>
          </a:p>
        </p:txBody>
      </p:sp>
      <p:sp>
        <p:nvSpPr>
          <p:cNvPr id="21" name="Shape 19"/>
          <p:cNvSpPr/>
          <p:nvPr/>
        </p:nvSpPr>
        <p:spPr>
          <a:xfrm>
            <a:off x="550333" y="4329635"/>
            <a:ext cx="84667" cy="84667"/>
          </a:xfrm>
          <a:custGeom>
            <a:avLst/>
            <a:gdLst/>
            <a:ahLst/>
            <a:cxnLst/>
            <a:rect l="l" t="t" r="r" b="b"/>
            <a:pathLst>
              <a:path w="84667" h="84667">
                <a:moveTo>
                  <a:pt x="42333" y="0"/>
                </a:moveTo>
                <a:lnTo>
                  <a:pt x="42333" y="0"/>
                </a:lnTo>
                <a:cubicBezTo>
                  <a:pt x="65713" y="0"/>
                  <a:pt x="84667" y="18953"/>
                  <a:pt x="84667" y="42333"/>
                </a:cubicBezTo>
                <a:lnTo>
                  <a:pt x="84667" y="42333"/>
                </a:lnTo>
                <a:cubicBezTo>
                  <a:pt x="84667" y="65713"/>
                  <a:pt x="65713" y="84667"/>
                  <a:pt x="42333" y="84667"/>
                </a:cubicBezTo>
                <a:lnTo>
                  <a:pt x="42333" y="84667"/>
                </a:lnTo>
                <a:cubicBezTo>
                  <a:pt x="18953" y="84667"/>
                  <a:pt x="0" y="65713"/>
                  <a:pt x="0" y="42333"/>
                </a:cubicBezTo>
                <a:lnTo>
                  <a:pt x="0" y="42333"/>
                </a:lnTo>
                <a:cubicBezTo>
                  <a:pt x="0" y="18953"/>
                  <a:pt x="18953" y="0"/>
                  <a:pt x="42333" y="0"/>
                </a:cubicBezTo>
                <a:close/>
              </a:path>
            </a:pathLst>
          </a:custGeom>
          <a:solidFill>
            <a:srgbClr val="B38B59"/>
          </a:solidFill>
          <a:ln/>
        </p:spPr>
        <p:txBody>
          <a:bodyPr/>
          <a:lstStyle/>
          <a:p>
            <a:endParaRPr lang="zh-CN" altLang="en-US"/>
          </a:p>
        </p:txBody>
      </p:sp>
      <p:sp>
        <p:nvSpPr>
          <p:cNvPr id="22" name="Shape 20"/>
          <p:cNvSpPr/>
          <p:nvPr/>
        </p:nvSpPr>
        <p:spPr>
          <a:xfrm>
            <a:off x="767292" y="4207926"/>
            <a:ext cx="10742083" cy="1238250"/>
          </a:xfrm>
          <a:custGeom>
            <a:avLst/>
            <a:gdLst/>
            <a:ahLst/>
            <a:cxnLst/>
            <a:rect l="l" t="t" r="r" b="b"/>
            <a:pathLst>
              <a:path w="10742083" h="1238250">
                <a:moveTo>
                  <a:pt x="84672" y="0"/>
                </a:moveTo>
                <a:lnTo>
                  <a:pt x="10657412" y="0"/>
                </a:lnTo>
                <a:cubicBezTo>
                  <a:pt x="10704175" y="0"/>
                  <a:pt x="10742083" y="37909"/>
                  <a:pt x="10742083" y="84672"/>
                </a:cubicBezTo>
                <a:lnTo>
                  <a:pt x="10742083" y="1153578"/>
                </a:lnTo>
                <a:cubicBezTo>
                  <a:pt x="10742083" y="1200341"/>
                  <a:pt x="10704175" y="1238250"/>
                  <a:pt x="10657412" y="1238250"/>
                </a:cubicBezTo>
                <a:lnTo>
                  <a:pt x="84672" y="1238250"/>
                </a:lnTo>
                <a:cubicBezTo>
                  <a:pt x="37909" y="1238250"/>
                  <a:pt x="0" y="1200341"/>
                  <a:pt x="0" y="1153578"/>
                </a:cubicBezTo>
                <a:lnTo>
                  <a:pt x="0" y="84672"/>
                </a:lnTo>
                <a:cubicBezTo>
                  <a:pt x="0" y="37909"/>
                  <a:pt x="37909" y="0"/>
                  <a:pt x="84672"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23" name="Text 21"/>
          <p:cNvSpPr/>
          <p:nvPr/>
        </p:nvSpPr>
        <p:spPr>
          <a:xfrm>
            <a:off x="941917" y="4382551"/>
            <a:ext cx="1164167"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大数据时代</a:t>
            </a:r>
            <a:endParaRPr lang="en-US" sz="1600" dirty="0"/>
          </a:p>
        </p:txBody>
      </p:sp>
      <p:sp>
        <p:nvSpPr>
          <p:cNvPr id="24" name="Text 22"/>
          <p:cNvSpPr/>
          <p:nvPr/>
        </p:nvSpPr>
        <p:spPr>
          <a:xfrm>
            <a:off x="10553898" y="4424885"/>
            <a:ext cx="857250" cy="211667"/>
          </a:xfrm>
          <a:prstGeom prst="rect">
            <a:avLst/>
          </a:prstGeom>
          <a:noFill/>
          <a:ln/>
        </p:spPr>
        <p:txBody>
          <a:bodyPr wrap="square" lIns="0" tIns="0" rIns="0" bIns="0" rtlCol="0" anchor="ctr"/>
          <a:lstStyle/>
          <a:p>
            <a:pPr>
              <a:lnSpc>
                <a:spcPct val="120000"/>
              </a:lnSpc>
            </a:pPr>
            <a:r>
              <a:rPr lang="en-US" sz="1167" b="1" dirty="0">
                <a:solidFill>
                  <a:srgbClr val="B38B59"/>
                </a:solidFill>
                <a:latin typeface="MiSans" pitchFamily="34" charset="0"/>
                <a:ea typeface="MiSans" pitchFamily="34" charset="-122"/>
                <a:cs typeface="MiSans" pitchFamily="34" charset="-120"/>
              </a:rPr>
              <a:t>2003-2006</a:t>
            </a:r>
            <a:endParaRPr lang="en-US" sz="1600" dirty="0"/>
          </a:p>
        </p:txBody>
      </p:sp>
      <p:sp>
        <p:nvSpPr>
          <p:cNvPr id="25" name="Text 23"/>
          <p:cNvSpPr/>
          <p:nvPr/>
        </p:nvSpPr>
        <p:spPr>
          <a:xfrm>
            <a:off x="941917" y="4763551"/>
            <a:ext cx="10477500" cy="508000"/>
          </a:xfrm>
          <a:prstGeom prst="rect">
            <a:avLst/>
          </a:prstGeom>
          <a:noFill/>
          <a:ln/>
        </p:spPr>
        <p:txBody>
          <a:bodyPr wrap="square" lIns="0" tIns="0" rIns="0" bIns="0" rtlCol="0" anchor="ctr"/>
          <a:lstStyle/>
          <a:p>
            <a:pPr>
              <a:lnSpc>
                <a:spcPct val="130000"/>
              </a:lnSpc>
            </a:pPr>
            <a:r>
              <a:rPr lang="en-US" sz="1333" dirty="0">
                <a:solidFill>
                  <a:srgbClr val="E0E2E4">
                    <a:alpha val="80000"/>
                  </a:srgbClr>
                </a:solidFill>
                <a:latin typeface="MiSans" pitchFamily="34" charset="0"/>
                <a:ea typeface="MiSans" pitchFamily="34" charset="-122"/>
                <a:cs typeface="MiSans" pitchFamily="34" charset="-120"/>
              </a:rPr>
              <a:t>Google发表MapReduce论文(2003),Apache Hadoop作为开源实现(2006),采用紧耦合的资源管理模式。JobTracker既负责作业调度,又管理集群资源。</a:t>
            </a:r>
            <a:endParaRPr lang="en-US" sz="1600" dirty="0"/>
          </a:p>
        </p:txBody>
      </p:sp>
      <p:sp>
        <p:nvSpPr>
          <p:cNvPr id="26" name="Shape 24"/>
          <p:cNvSpPr/>
          <p:nvPr/>
        </p:nvSpPr>
        <p:spPr>
          <a:xfrm>
            <a:off x="444500" y="5684301"/>
            <a:ext cx="296333" cy="296333"/>
          </a:xfrm>
          <a:custGeom>
            <a:avLst/>
            <a:gdLst/>
            <a:ahLst/>
            <a:cxnLst/>
            <a:rect l="l" t="t" r="r" b="b"/>
            <a:pathLst>
              <a:path w="296333" h="296333">
                <a:moveTo>
                  <a:pt x="148167" y="0"/>
                </a:moveTo>
                <a:lnTo>
                  <a:pt x="148167" y="0"/>
                </a:lnTo>
                <a:cubicBezTo>
                  <a:pt x="229942" y="0"/>
                  <a:pt x="296333" y="66391"/>
                  <a:pt x="296333" y="148167"/>
                </a:cubicBezTo>
                <a:lnTo>
                  <a:pt x="296333" y="148167"/>
                </a:lnTo>
                <a:cubicBezTo>
                  <a:pt x="296333" y="229942"/>
                  <a:pt x="229942" y="296333"/>
                  <a:pt x="148167" y="296333"/>
                </a:cubicBezTo>
                <a:lnTo>
                  <a:pt x="148167" y="296333"/>
                </a:lnTo>
                <a:cubicBezTo>
                  <a:pt x="66391" y="296333"/>
                  <a:pt x="0" y="229942"/>
                  <a:pt x="0" y="148167"/>
                </a:cubicBezTo>
                <a:lnTo>
                  <a:pt x="0" y="148167"/>
                </a:lnTo>
                <a:cubicBezTo>
                  <a:pt x="0" y="66391"/>
                  <a:pt x="66391" y="0"/>
                  <a:pt x="148167" y="0"/>
                </a:cubicBezTo>
                <a:close/>
              </a:path>
            </a:pathLst>
          </a:custGeom>
          <a:solidFill>
            <a:srgbClr val="B38B59"/>
          </a:solidFill>
          <a:ln w="50800">
            <a:solidFill>
              <a:srgbClr val="1A1D21"/>
            </a:solidFill>
            <a:prstDash val="solid"/>
          </a:ln>
        </p:spPr>
        <p:txBody>
          <a:bodyPr/>
          <a:lstStyle/>
          <a:p>
            <a:endParaRPr lang="zh-CN" altLang="en-US"/>
          </a:p>
        </p:txBody>
      </p:sp>
      <p:sp>
        <p:nvSpPr>
          <p:cNvPr id="27" name="Shape 25"/>
          <p:cNvSpPr/>
          <p:nvPr/>
        </p:nvSpPr>
        <p:spPr>
          <a:xfrm>
            <a:off x="550333" y="5790135"/>
            <a:ext cx="84667" cy="84667"/>
          </a:xfrm>
          <a:custGeom>
            <a:avLst/>
            <a:gdLst/>
            <a:ahLst/>
            <a:cxnLst/>
            <a:rect l="l" t="t" r="r" b="b"/>
            <a:pathLst>
              <a:path w="84667" h="84667">
                <a:moveTo>
                  <a:pt x="42333" y="0"/>
                </a:moveTo>
                <a:lnTo>
                  <a:pt x="42333" y="0"/>
                </a:lnTo>
                <a:cubicBezTo>
                  <a:pt x="65713" y="0"/>
                  <a:pt x="84667" y="18953"/>
                  <a:pt x="84667" y="42333"/>
                </a:cubicBezTo>
                <a:lnTo>
                  <a:pt x="84667" y="42333"/>
                </a:lnTo>
                <a:cubicBezTo>
                  <a:pt x="84667" y="65713"/>
                  <a:pt x="65713" y="84667"/>
                  <a:pt x="42333" y="84667"/>
                </a:cubicBezTo>
                <a:lnTo>
                  <a:pt x="42333" y="84667"/>
                </a:lnTo>
                <a:cubicBezTo>
                  <a:pt x="18953" y="84667"/>
                  <a:pt x="0" y="65713"/>
                  <a:pt x="0" y="42333"/>
                </a:cubicBezTo>
                <a:lnTo>
                  <a:pt x="0" y="42333"/>
                </a:lnTo>
                <a:cubicBezTo>
                  <a:pt x="0" y="18953"/>
                  <a:pt x="18953" y="0"/>
                  <a:pt x="42333" y="0"/>
                </a:cubicBezTo>
                <a:close/>
              </a:path>
            </a:pathLst>
          </a:custGeom>
          <a:solidFill>
            <a:srgbClr val="3C8082"/>
          </a:solidFill>
          <a:ln/>
        </p:spPr>
        <p:txBody>
          <a:bodyPr/>
          <a:lstStyle/>
          <a:p>
            <a:endParaRPr lang="zh-CN" altLang="en-US"/>
          </a:p>
        </p:txBody>
      </p:sp>
      <p:sp>
        <p:nvSpPr>
          <p:cNvPr id="28" name="Shape 26"/>
          <p:cNvSpPr/>
          <p:nvPr/>
        </p:nvSpPr>
        <p:spPr>
          <a:xfrm>
            <a:off x="767292" y="5668426"/>
            <a:ext cx="10742083" cy="984250"/>
          </a:xfrm>
          <a:custGeom>
            <a:avLst/>
            <a:gdLst/>
            <a:ahLst/>
            <a:cxnLst/>
            <a:rect l="l" t="t" r="r" b="b"/>
            <a:pathLst>
              <a:path w="10742083" h="984250">
                <a:moveTo>
                  <a:pt x="84665" y="0"/>
                </a:moveTo>
                <a:lnTo>
                  <a:pt x="10657418" y="0"/>
                </a:lnTo>
                <a:cubicBezTo>
                  <a:pt x="10704177" y="0"/>
                  <a:pt x="10742083" y="37906"/>
                  <a:pt x="10742083" y="84665"/>
                </a:cubicBezTo>
                <a:lnTo>
                  <a:pt x="10742083" y="899585"/>
                </a:lnTo>
                <a:cubicBezTo>
                  <a:pt x="10742083" y="946344"/>
                  <a:pt x="10704177" y="984250"/>
                  <a:pt x="10657418" y="984250"/>
                </a:cubicBezTo>
                <a:lnTo>
                  <a:pt x="84665" y="984250"/>
                </a:lnTo>
                <a:cubicBezTo>
                  <a:pt x="37906" y="984250"/>
                  <a:pt x="0" y="946344"/>
                  <a:pt x="0" y="899585"/>
                </a:cubicBezTo>
                <a:lnTo>
                  <a:pt x="0" y="84665"/>
                </a:lnTo>
                <a:cubicBezTo>
                  <a:pt x="0" y="37937"/>
                  <a:pt x="37937" y="0"/>
                  <a:pt x="84665"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9" name="Text 27"/>
          <p:cNvSpPr/>
          <p:nvPr/>
        </p:nvSpPr>
        <p:spPr>
          <a:xfrm>
            <a:off x="941917" y="5843051"/>
            <a:ext cx="1090083"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YARN诞生</a:t>
            </a:r>
            <a:endParaRPr lang="en-US" sz="1600" dirty="0"/>
          </a:p>
        </p:txBody>
      </p:sp>
      <p:sp>
        <p:nvSpPr>
          <p:cNvPr id="30" name="Text 28"/>
          <p:cNvSpPr/>
          <p:nvPr/>
        </p:nvSpPr>
        <p:spPr>
          <a:xfrm>
            <a:off x="10628974" y="5885385"/>
            <a:ext cx="783167" cy="211667"/>
          </a:xfrm>
          <a:prstGeom prst="rect">
            <a:avLst/>
          </a:prstGeom>
          <a:noFill/>
          <a:ln/>
        </p:spPr>
        <p:txBody>
          <a:bodyPr wrap="square" lIns="0" tIns="0" rIns="0" bIns="0" rtlCol="0" anchor="ctr"/>
          <a:lstStyle/>
          <a:p>
            <a:pPr>
              <a:lnSpc>
                <a:spcPct val="120000"/>
              </a:lnSpc>
            </a:pPr>
            <a:r>
              <a:rPr lang="en-US" sz="1167" b="1" dirty="0">
                <a:solidFill>
                  <a:srgbClr val="B38B59"/>
                </a:solidFill>
                <a:latin typeface="MiSans" pitchFamily="34" charset="0"/>
                <a:ea typeface="MiSans" pitchFamily="34" charset="-122"/>
                <a:cs typeface="MiSans" pitchFamily="34" charset="-120"/>
              </a:rPr>
              <a:t>2012-2013</a:t>
            </a:r>
            <a:endParaRPr lang="en-US" sz="1600" dirty="0"/>
          </a:p>
        </p:txBody>
      </p:sp>
      <p:sp>
        <p:nvSpPr>
          <p:cNvPr id="31" name="Text 29"/>
          <p:cNvSpPr/>
          <p:nvPr/>
        </p:nvSpPr>
        <p:spPr>
          <a:xfrm>
            <a:off x="941917" y="6224051"/>
            <a:ext cx="10477500" cy="254000"/>
          </a:xfrm>
          <a:prstGeom prst="rect">
            <a:avLst/>
          </a:prstGeom>
          <a:noFill/>
          <a:ln/>
        </p:spPr>
        <p:txBody>
          <a:bodyPr wrap="square" lIns="0" tIns="0" rIns="0" bIns="0" rtlCol="0" anchor="ctr"/>
          <a:lstStyle/>
          <a:p>
            <a:pPr>
              <a:lnSpc>
                <a:spcPct val="130000"/>
              </a:lnSpc>
            </a:pPr>
            <a:r>
              <a:rPr lang="en-US" sz="1333" dirty="0">
                <a:solidFill>
                  <a:srgbClr val="E0E2E4">
                    <a:alpha val="80000"/>
                  </a:srgbClr>
                </a:solidFill>
                <a:latin typeface="MiSans" pitchFamily="34" charset="0"/>
                <a:ea typeface="MiSans" pitchFamily="34" charset="-122"/>
                <a:cs typeface="MiSans" pitchFamily="34" charset="-120"/>
              </a:rPr>
              <a:t>YARN将资源管理和作业调度分离,解决了MapReduce 1.0的扩展性瓶颈和单点故障问题,支持多种计算框架。</a:t>
            </a:r>
            <a:endParaRPr lang="en-US" sz="1600" dirty="0"/>
          </a:p>
        </p:txBody>
      </p:sp>
      <p:sp>
        <p:nvSpPr>
          <p:cNvPr id="32" name="Shape 30"/>
          <p:cNvSpPr/>
          <p:nvPr/>
        </p:nvSpPr>
        <p:spPr>
          <a:xfrm>
            <a:off x="444500" y="6890801"/>
            <a:ext cx="296333" cy="296333"/>
          </a:xfrm>
          <a:custGeom>
            <a:avLst/>
            <a:gdLst/>
            <a:ahLst/>
            <a:cxnLst/>
            <a:rect l="l" t="t" r="r" b="b"/>
            <a:pathLst>
              <a:path w="296333" h="296333">
                <a:moveTo>
                  <a:pt x="148167" y="0"/>
                </a:moveTo>
                <a:lnTo>
                  <a:pt x="148167" y="0"/>
                </a:lnTo>
                <a:cubicBezTo>
                  <a:pt x="229942" y="0"/>
                  <a:pt x="296333" y="66391"/>
                  <a:pt x="296333" y="148167"/>
                </a:cubicBezTo>
                <a:lnTo>
                  <a:pt x="296333" y="148167"/>
                </a:lnTo>
                <a:cubicBezTo>
                  <a:pt x="296333" y="229942"/>
                  <a:pt x="229942" y="296333"/>
                  <a:pt x="148167" y="296333"/>
                </a:cubicBezTo>
                <a:lnTo>
                  <a:pt x="148167" y="296333"/>
                </a:lnTo>
                <a:cubicBezTo>
                  <a:pt x="66391" y="296333"/>
                  <a:pt x="0" y="229942"/>
                  <a:pt x="0" y="148167"/>
                </a:cubicBezTo>
                <a:lnTo>
                  <a:pt x="0" y="148167"/>
                </a:lnTo>
                <a:cubicBezTo>
                  <a:pt x="0" y="66391"/>
                  <a:pt x="66391" y="0"/>
                  <a:pt x="148167" y="0"/>
                </a:cubicBezTo>
                <a:close/>
              </a:path>
            </a:pathLst>
          </a:custGeom>
          <a:solidFill>
            <a:srgbClr val="3C8082"/>
          </a:solidFill>
          <a:ln w="50800">
            <a:solidFill>
              <a:srgbClr val="1A1D21"/>
            </a:solidFill>
            <a:prstDash val="solid"/>
          </a:ln>
        </p:spPr>
        <p:txBody>
          <a:bodyPr/>
          <a:lstStyle/>
          <a:p>
            <a:endParaRPr lang="zh-CN" altLang="en-US"/>
          </a:p>
        </p:txBody>
      </p:sp>
      <p:sp>
        <p:nvSpPr>
          <p:cNvPr id="33" name="Shape 31"/>
          <p:cNvSpPr/>
          <p:nvPr/>
        </p:nvSpPr>
        <p:spPr>
          <a:xfrm>
            <a:off x="550333" y="6996635"/>
            <a:ext cx="84667" cy="84667"/>
          </a:xfrm>
          <a:custGeom>
            <a:avLst/>
            <a:gdLst/>
            <a:ahLst/>
            <a:cxnLst/>
            <a:rect l="l" t="t" r="r" b="b"/>
            <a:pathLst>
              <a:path w="84667" h="84667">
                <a:moveTo>
                  <a:pt x="42333" y="0"/>
                </a:moveTo>
                <a:lnTo>
                  <a:pt x="42333" y="0"/>
                </a:lnTo>
                <a:cubicBezTo>
                  <a:pt x="65713" y="0"/>
                  <a:pt x="84667" y="18953"/>
                  <a:pt x="84667" y="42333"/>
                </a:cubicBezTo>
                <a:lnTo>
                  <a:pt x="84667" y="42333"/>
                </a:lnTo>
                <a:cubicBezTo>
                  <a:pt x="84667" y="65713"/>
                  <a:pt x="65713" y="84667"/>
                  <a:pt x="42333" y="84667"/>
                </a:cubicBezTo>
                <a:lnTo>
                  <a:pt x="42333" y="84667"/>
                </a:lnTo>
                <a:cubicBezTo>
                  <a:pt x="18953" y="84667"/>
                  <a:pt x="0" y="65713"/>
                  <a:pt x="0" y="42333"/>
                </a:cubicBezTo>
                <a:lnTo>
                  <a:pt x="0" y="42333"/>
                </a:lnTo>
                <a:cubicBezTo>
                  <a:pt x="0" y="18953"/>
                  <a:pt x="18953" y="0"/>
                  <a:pt x="42333" y="0"/>
                </a:cubicBezTo>
                <a:close/>
              </a:path>
            </a:pathLst>
          </a:custGeom>
          <a:solidFill>
            <a:srgbClr val="B38B59"/>
          </a:solidFill>
          <a:ln/>
        </p:spPr>
        <p:txBody>
          <a:bodyPr/>
          <a:lstStyle/>
          <a:p>
            <a:endParaRPr lang="zh-CN" altLang="en-US"/>
          </a:p>
        </p:txBody>
      </p:sp>
      <p:sp>
        <p:nvSpPr>
          <p:cNvPr id="34" name="Shape 32"/>
          <p:cNvSpPr/>
          <p:nvPr/>
        </p:nvSpPr>
        <p:spPr>
          <a:xfrm>
            <a:off x="767292" y="6874926"/>
            <a:ext cx="10742083" cy="984250"/>
          </a:xfrm>
          <a:custGeom>
            <a:avLst/>
            <a:gdLst/>
            <a:ahLst/>
            <a:cxnLst/>
            <a:rect l="l" t="t" r="r" b="b"/>
            <a:pathLst>
              <a:path w="10742083" h="984250">
                <a:moveTo>
                  <a:pt x="84665" y="0"/>
                </a:moveTo>
                <a:lnTo>
                  <a:pt x="10657418" y="0"/>
                </a:lnTo>
                <a:cubicBezTo>
                  <a:pt x="10704177" y="0"/>
                  <a:pt x="10742083" y="37906"/>
                  <a:pt x="10742083" y="84665"/>
                </a:cubicBezTo>
                <a:lnTo>
                  <a:pt x="10742083" y="899585"/>
                </a:lnTo>
                <a:cubicBezTo>
                  <a:pt x="10742083" y="946344"/>
                  <a:pt x="10704177" y="984250"/>
                  <a:pt x="10657418" y="984250"/>
                </a:cubicBezTo>
                <a:lnTo>
                  <a:pt x="84665" y="984250"/>
                </a:lnTo>
                <a:cubicBezTo>
                  <a:pt x="37906" y="984250"/>
                  <a:pt x="0" y="946344"/>
                  <a:pt x="0" y="899585"/>
                </a:cubicBezTo>
                <a:lnTo>
                  <a:pt x="0" y="84665"/>
                </a:lnTo>
                <a:cubicBezTo>
                  <a:pt x="0" y="37937"/>
                  <a:pt x="37937" y="0"/>
                  <a:pt x="84665"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35" name="Text 33"/>
          <p:cNvSpPr/>
          <p:nvPr/>
        </p:nvSpPr>
        <p:spPr>
          <a:xfrm>
            <a:off x="941917" y="7049551"/>
            <a:ext cx="1164167"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容器化时代</a:t>
            </a:r>
            <a:endParaRPr lang="en-US" sz="1600" dirty="0"/>
          </a:p>
        </p:txBody>
      </p:sp>
      <p:sp>
        <p:nvSpPr>
          <p:cNvPr id="36" name="Text 34"/>
          <p:cNvSpPr/>
          <p:nvPr/>
        </p:nvSpPr>
        <p:spPr>
          <a:xfrm>
            <a:off x="10625419" y="7091885"/>
            <a:ext cx="783167" cy="211667"/>
          </a:xfrm>
          <a:prstGeom prst="rect">
            <a:avLst/>
          </a:prstGeom>
          <a:noFill/>
          <a:ln/>
        </p:spPr>
        <p:txBody>
          <a:bodyPr wrap="square" lIns="0" tIns="0" rIns="0" bIns="0" rtlCol="0" anchor="ctr"/>
          <a:lstStyle/>
          <a:p>
            <a:pPr>
              <a:lnSpc>
                <a:spcPct val="120000"/>
              </a:lnSpc>
            </a:pPr>
            <a:r>
              <a:rPr lang="en-US" sz="1167" b="1" dirty="0">
                <a:solidFill>
                  <a:srgbClr val="B38B59"/>
                </a:solidFill>
                <a:latin typeface="MiSans" pitchFamily="34" charset="0"/>
                <a:ea typeface="MiSans" pitchFamily="34" charset="-122"/>
                <a:cs typeface="MiSans" pitchFamily="34" charset="-120"/>
              </a:rPr>
              <a:t>2013-2014</a:t>
            </a:r>
            <a:endParaRPr lang="en-US" sz="1600" dirty="0"/>
          </a:p>
        </p:txBody>
      </p:sp>
      <p:sp>
        <p:nvSpPr>
          <p:cNvPr id="37" name="Text 35"/>
          <p:cNvSpPr/>
          <p:nvPr/>
        </p:nvSpPr>
        <p:spPr>
          <a:xfrm>
            <a:off x="941917" y="7430551"/>
            <a:ext cx="10477500" cy="254000"/>
          </a:xfrm>
          <a:prstGeom prst="rect">
            <a:avLst/>
          </a:prstGeom>
          <a:noFill/>
          <a:ln/>
        </p:spPr>
        <p:txBody>
          <a:bodyPr wrap="square" lIns="0" tIns="0" rIns="0" bIns="0" rtlCol="0" anchor="ctr"/>
          <a:lstStyle/>
          <a:p>
            <a:pPr>
              <a:lnSpc>
                <a:spcPct val="130000"/>
              </a:lnSpc>
            </a:pPr>
            <a:r>
              <a:rPr lang="en-US" sz="1333" dirty="0">
                <a:solidFill>
                  <a:srgbClr val="E0E2E4">
                    <a:alpha val="80000"/>
                  </a:srgbClr>
                </a:solidFill>
                <a:latin typeface="MiSans" pitchFamily="34" charset="0"/>
                <a:ea typeface="MiSans" pitchFamily="34" charset="-122"/>
                <a:cs typeface="MiSans" pitchFamily="34" charset="-120"/>
              </a:rPr>
              <a:t>Docker发布(2013)标志容器技术成熟,Kubernetes开源(2014)继承Google Borg系统经验,为容器编排提供完整解决方案。</a:t>
            </a:r>
            <a:endParaRPr lang="en-US" sz="1600" dirty="0"/>
          </a:p>
        </p:txBody>
      </p:sp>
      <p:sp>
        <p:nvSpPr>
          <p:cNvPr id="38" name="Shape 36"/>
          <p:cNvSpPr/>
          <p:nvPr/>
        </p:nvSpPr>
        <p:spPr>
          <a:xfrm>
            <a:off x="444500" y="8097301"/>
            <a:ext cx="296333" cy="296333"/>
          </a:xfrm>
          <a:custGeom>
            <a:avLst/>
            <a:gdLst/>
            <a:ahLst/>
            <a:cxnLst/>
            <a:rect l="l" t="t" r="r" b="b"/>
            <a:pathLst>
              <a:path w="296333" h="296333">
                <a:moveTo>
                  <a:pt x="148167" y="0"/>
                </a:moveTo>
                <a:lnTo>
                  <a:pt x="148167" y="0"/>
                </a:lnTo>
                <a:cubicBezTo>
                  <a:pt x="229942" y="0"/>
                  <a:pt x="296333" y="66391"/>
                  <a:pt x="296333" y="148167"/>
                </a:cubicBezTo>
                <a:lnTo>
                  <a:pt x="296333" y="148167"/>
                </a:lnTo>
                <a:cubicBezTo>
                  <a:pt x="296333" y="229942"/>
                  <a:pt x="229942" y="296333"/>
                  <a:pt x="148167" y="296333"/>
                </a:cubicBezTo>
                <a:lnTo>
                  <a:pt x="148167" y="296333"/>
                </a:lnTo>
                <a:cubicBezTo>
                  <a:pt x="66391" y="296333"/>
                  <a:pt x="0" y="229942"/>
                  <a:pt x="0" y="148167"/>
                </a:cubicBezTo>
                <a:lnTo>
                  <a:pt x="0" y="148167"/>
                </a:lnTo>
                <a:cubicBezTo>
                  <a:pt x="0" y="66391"/>
                  <a:pt x="66391" y="0"/>
                  <a:pt x="148167" y="0"/>
                </a:cubicBezTo>
                <a:close/>
              </a:path>
            </a:pathLst>
          </a:custGeom>
          <a:solidFill>
            <a:srgbClr val="B38B59"/>
          </a:solidFill>
          <a:ln w="50800">
            <a:solidFill>
              <a:srgbClr val="1A1D21"/>
            </a:solidFill>
            <a:prstDash val="solid"/>
          </a:ln>
        </p:spPr>
        <p:txBody>
          <a:bodyPr/>
          <a:lstStyle/>
          <a:p>
            <a:endParaRPr lang="zh-CN" altLang="en-US"/>
          </a:p>
        </p:txBody>
      </p:sp>
      <p:sp>
        <p:nvSpPr>
          <p:cNvPr id="39" name="Shape 37"/>
          <p:cNvSpPr/>
          <p:nvPr/>
        </p:nvSpPr>
        <p:spPr>
          <a:xfrm>
            <a:off x="550333" y="8203135"/>
            <a:ext cx="84667" cy="84667"/>
          </a:xfrm>
          <a:custGeom>
            <a:avLst/>
            <a:gdLst/>
            <a:ahLst/>
            <a:cxnLst/>
            <a:rect l="l" t="t" r="r" b="b"/>
            <a:pathLst>
              <a:path w="84667" h="84667">
                <a:moveTo>
                  <a:pt x="42333" y="0"/>
                </a:moveTo>
                <a:lnTo>
                  <a:pt x="42333" y="0"/>
                </a:lnTo>
                <a:cubicBezTo>
                  <a:pt x="65713" y="0"/>
                  <a:pt x="84667" y="18953"/>
                  <a:pt x="84667" y="42333"/>
                </a:cubicBezTo>
                <a:lnTo>
                  <a:pt x="84667" y="42333"/>
                </a:lnTo>
                <a:cubicBezTo>
                  <a:pt x="84667" y="65713"/>
                  <a:pt x="65713" y="84667"/>
                  <a:pt x="42333" y="84667"/>
                </a:cubicBezTo>
                <a:lnTo>
                  <a:pt x="42333" y="84667"/>
                </a:lnTo>
                <a:cubicBezTo>
                  <a:pt x="18953" y="84667"/>
                  <a:pt x="0" y="65713"/>
                  <a:pt x="0" y="42333"/>
                </a:cubicBezTo>
                <a:lnTo>
                  <a:pt x="0" y="42333"/>
                </a:lnTo>
                <a:cubicBezTo>
                  <a:pt x="0" y="18953"/>
                  <a:pt x="18953" y="0"/>
                  <a:pt x="42333" y="0"/>
                </a:cubicBezTo>
                <a:close/>
              </a:path>
            </a:pathLst>
          </a:custGeom>
          <a:solidFill>
            <a:srgbClr val="3C8082"/>
          </a:solidFill>
          <a:ln/>
        </p:spPr>
        <p:txBody>
          <a:bodyPr/>
          <a:lstStyle/>
          <a:p>
            <a:endParaRPr lang="zh-CN" altLang="en-US"/>
          </a:p>
        </p:txBody>
      </p:sp>
      <p:sp>
        <p:nvSpPr>
          <p:cNvPr id="40" name="Shape 38"/>
          <p:cNvSpPr/>
          <p:nvPr/>
        </p:nvSpPr>
        <p:spPr>
          <a:xfrm>
            <a:off x="767292" y="8081426"/>
            <a:ext cx="10742083" cy="984250"/>
          </a:xfrm>
          <a:custGeom>
            <a:avLst/>
            <a:gdLst/>
            <a:ahLst/>
            <a:cxnLst/>
            <a:rect l="l" t="t" r="r" b="b"/>
            <a:pathLst>
              <a:path w="10742083" h="984250">
                <a:moveTo>
                  <a:pt x="84665" y="0"/>
                </a:moveTo>
                <a:lnTo>
                  <a:pt x="10657418" y="0"/>
                </a:lnTo>
                <a:cubicBezTo>
                  <a:pt x="10704177" y="0"/>
                  <a:pt x="10742083" y="37906"/>
                  <a:pt x="10742083" y="84665"/>
                </a:cubicBezTo>
                <a:lnTo>
                  <a:pt x="10742083" y="899585"/>
                </a:lnTo>
                <a:cubicBezTo>
                  <a:pt x="10742083" y="946344"/>
                  <a:pt x="10704177" y="984250"/>
                  <a:pt x="10657418" y="984250"/>
                </a:cubicBezTo>
                <a:lnTo>
                  <a:pt x="84665" y="984250"/>
                </a:lnTo>
                <a:cubicBezTo>
                  <a:pt x="37906" y="984250"/>
                  <a:pt x="0" y="946344"/>
                  <a:pt x="0" y="899585"/>
                </a:cubicBezTo>
                <a:lnTo>
                  <a:pt x="0" y="84665"/>
                </a:lnTo>
                <a:cubicBezTo>
                  <a:pt x="0" y="37937"/>
                  <a:pt x="37937" y="0"/>
                  <a:pt x="84665"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41" name="Text 39"/>
          <p:cNvSpPr/>
          <p:nvPr/>
        </p:nvSpPr>
        <p:spPr>
          <a:xfrm>
            <a:off x="941917" y="8256051"/>
            <a:ext cx="1375833"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技术融合趋势</a:t>
            </a:r>
            <a:endParaRPr lang="en-US" sz="1600" dirty="0"/>
          </a:p>
        </p:txBody>
      </p:sp>
      <p:sp>
        <p:nvSpPr>
          <p:cNvPr id="42" name="Text 40"/>
          <p:cNvSpPr/>
          <p:nvPr/>
        </p:nvSpPr>
        <p:spPr>
          <a:xfrm>
            <a:off x="10711656" y="8298385"/>
            <a:ext cx="698500" cy="211667"/>
          </a:xfrm>
          <a:prstGeom prst="rect">
            <a:avLst/>
          </a:prstGeom>
          <a:noFill/>
          <a:ln/>
        </p:spPr>
        <p:txBody>
          <a:bodyPr wrap="square" lIns="0" tIns="0" rIns="0" bIns="0" rtlCol="0" anchor="ctr"/>
          <a:lstStyle/>
          <a:p>
            <a:pPr>
              <a:lnSpc>
                <a:spcPct val="120000"/>
              </a:lnSpc>
            </a:pPr>
            <a:r>
              <a:rPr lang="en-US" sz="1167" b="1" dirty="0">
                <a:solidFill>
                  <a:srgbClr val="B38B59"/>
                </a:solidFill>
                <a:latin typeface="MiSans" pitchFamily="34" charset="0"/>
                <a:ea typeface="MiSans" pitchFamily="34" charset="-122"/>
                <a:cs typeface="MiSans" pitchFamily="34" charset="-120"/>
              </a:rPr>
              <a:t>2018至今</a:t>
            </a:r>
            <a:endParaRPr lang="en-US" sz="1600" dirty="0"/>
          </a:p>
        </p:txBody>
      </p:sp>
      <p:sp>
        <p:nvSpPr>
          <p:cNvPr id="43" name="Text 41"/>
          <p:cNvSpPr/>
          <p:nvPr/>
        </p:nvSpPr>
        <p:spPr>
          <a:xfrm>
            <a:off x="941917" y="8637051"/>
            <a:ext cx="10477500" cy="254000"/>
          </a:xfrm>
          <a:prstGeom prst="rect">
            <a:avLst/>
          </a:prstGeom>
          <a:noFill/>
          <a:ln/>
        </p:spPr>
        <p:txBody>
          <a:bodyPr wrap="square" lIns="0" tIns="0" rIns="0" bIns="0" rtlCol="0" anchor="ctr"/>
          <a:lstStyle/>
          <a:p>
            <a:pPr>
              <a:lnSpc>
                <a:spcPct val="130000"/>
              </a:lnSpc>
            </a:pPr>
            <a:r>
              <a:rPr lang="en-US" sz="1333" dirty="0">
                <a:solidFill>
                  <a:srgbClr val="E0E2E4">
                    <a:alpha val="80000"/>
                  </a:srgbClr>
                </a:solidFill>
                <a:latin typeface="MiSans" pitchFamily="34" charset="0"/>
                <a:ea typeface="MiSans" pitchFamily="34" charset="-122"/>
                <a:cs typeface="MiSans" pitchFamily="34" charset="-120"/>
              </a:rPr>
              <a:t>大数据和云原生技术边界逐渐模糊,Spark on Kubernetes、YARN on Kubernetes等融合方案涌现,企业对统一资源管理平台需求迫切。</a:t>
            </a:r>
            <a:endParaRPr lang="en-US" sz="1600" dirty="0"/>
          </a:p>
        </p:txBody>
      </p:sp>
      <p:sp>
        <p:nvSpPr>
          <p:cNvPr id="44" name="Shape 42"/>
          <p:cNvSpPr/>
          <p:nvPr/>
        </p:nvSpPr>
        <p:spPr>
          <a:xfrm>
            <a:off x="11773958" y="1286926"/>
            <a:ext cx="4053417" cy="3312583"/>
          </a:xfrm>
          <a:custGeom>
            <a:avLst/>
            <a:gdLst/>
            <a:ahLst/>
            <a:cxnLst/>
            <a:rect l="l" t="t" r="r" b="b"/>
            <a:pathLst>
              <a:path w="4053417" h="3312583">
                <a:moveTo>
                  <a:pt x="84670" y="0"/>
                </a:moveTo>
                <a:lnTo>
                  <a:pt x="3968747" y="0"/>
                </a:lnTo>
                <a:cubicBezTo>
                  <a:pt x="4015509" y="0"/>
                  <a:pt x="4053417" y="37908"/>
                  <a:pt x="4053417" y="84670"/>
                </a:cubicBezTo>
                <a:lnTo>
                  <a:pt x="4053417" y="3227914"/>
                </a:lnTo>
                <a:cubicBezTo>
                  <a:pt x="4053417" y="3274675"/>
                  <a:pt x="4015509" y="3312583"/>
                  <a:pt x="3968747" y="3312583"/>
                </a:cubicBezTo>
                <a:lnTo>
                  <a:pt x="84670" y="3312583"/>
                </a:lnTo>
                <a:cubicBezTo>
                  <a:pt x="37908" y="3312583"/>
                  <a:pt x="0" y="3274675"/>
                  <a:pt x="0" y="3227914"/>
                </a:cubicBezTo>
                <a:lnTo>
                  <a:pt x="0" y="84670"/>
                </a:lnTo>
                <a:cubicBezTo>
                  <a:pt x="0" y="37939"/>
                  <a:pt x="37939" y="0"/>
                  <a:pt x="84670"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45" name="Shape 43"/>
          <p:cNvSpPr/>
          <p:nvPr/>
        </p:nvSpPr>
        <p:spPr>
          <a:xfrm>
            <a:off x="12043833" y="1546218"/>
            <a:ext cx="158750" cy="211667"/>
          </a:xfrm>
          <a:custGeom>
            <a:avLst/>
            <a:gdLst/>
            <a:ahLst/>
            <a:cxnLst/>
            <a:rect l="l" t="t" r="r" b="b"/>
            <a:pathLst>
              <a:path w="158750" h="211667">
                <a:moveTo>
                  <a:pt x="121088" y="158750"/>
                </a:moveTo>
                <a:cubicBezTo>
                  <a:pt x="124106" y="149531"/>
                  <a:pt x="130142" y="141180"/>
                  <a:pt x="136963" y="133987"/>
                </a:cubicBezTo>
                <a:cubicBezTo>
                  <a:pt x="150482" y="119765"/>
                  <a:pt x="158750" y="100542"/>
                  <a:pt x="158750" y="79375"/>
                </a:cubicBezTo>
                <a:cubicBezTo>
                  <a:pt x="158750" y="35553"/>
                  <a:pt x="123197" y="0"/>
                  <a:pt x="79375" y="0"/>
                </a:cubicBezTo>
                <a:cubicBezTo>
                  <a:pt x="35553" y="0"/>
                  <a:pt x="0" y="35553"/>
                  <a:pt x="0" y="79375"/>
                </a:cubicBezTo>
                <a:cubicBezTo>
                  <a:pt x="0" y="100542"/>
                  <a:pt x="8268" y="119765"/>
                  <a:pt x="21787" y="133987"/>
                </a:cubicBezTo>
                <a:cubicBezTo>
                  <a:pt x="28608" y="141180"/>
                  <a:pt x="34685" y="149531"/>
                  <a:pt x="37662" y="158750"/>
                </a:cubicBezTo>
                <a:lnTo>
                  <a:pt x="121047" y="158750"/>
                </a:lnTo>
                <a:close/>
                <a:moveTo>
                  <a:pt x="119063" y="178594"/>
                </a:moveTo>
                <a:lnTo>
                  <a:pt x="39688" y="178594"/>
                </a:lnTo>
                <a:lnTo>
                  <a:pt x="39688" y="185208"/>
                </a:lnTo>
                <a:cubicBezTo>
                  <a:pt x="39688" y="203481"/>
                  <a:pt x="54488" y="218281"/>
                  <a:pt x="72760" y="218281"/>
                </a:cubicBezTo>
                <a:lnTo>
                  <a:pt x="85990" y="218281"/>
                </a:lnTo>
                <a:cubicBezTo>
                  <a:pt x="104262" y="218281"/>
                  <a:pt x="119063" y="203481"/>
                  <a:pt x="119063" y="185208"/>
                </a:cubicBezTo>
                <a:lnTo>
                  <a:pt x="119063" y="178594"/>
                </a:lnTo>
                <a:close/>
                <a:moveTo>
                  <a:pt x="76068" y="46302"/>
                </a:moveTo>
                <a:cubicBezTo>
                  <a:pt x="59614" y="46302"/>
                  <a:pt x="46302" y="59614"/>
                  <a:pt x="46302" y="76068"/>
                </a:cubicBezTo>
                <a:cubicBezTo>
                  <a:pt x="46302" y="81566"/>
                  <a:pt x="41879" y="85990"/>
                  <a:pt x="36380" y="85990"/>
                </a:cubicBezTo>
                <a:cubicBezTo>
                  <a:pt x="30882" y="85990"/>
                  <a:pt x="26458" y="81566"/>
                  <a:pt x="26458" y="76068"/>
                </a:cubicBezTo>
                <a:cubicBezTo>
                  <a:pt x="26458" y="48659"/>
                  <a:pt x="48659" y="26458"/>
                  <a:pt x="76068" y="26458"/>
                </a:cubicBezTo>
                <a:cubicBezTo>
                  <a:pt x="81566" y="26458"/>
                  <a:pt x="85990" y="30882"/>
                  <a:pt x="85990" y="36380"/>
                </a:cubicBezTo>
                <a:cubicBezTo>
                  <a:pt x="85990" y="41879"/>
                  <a:pt x="81566" y="46302"/>
                  <a:pt x="76068" y="46302"/>
                </a:cubicBezTo>
                <a:close/>
              </a:path>
            </a:pathLst>
          </a:custGeom>
          <a:solidFill>
            <a:srgbClr val="B38B59"/>
          </a:solidFill>
          <a:ln/>
        </p:spPr>
        <p:txBody>
          <a:bodyPr/>
          <a:lstStyle/>
          <a:p>
            <a:endParaRPr lang="zh-CN" altLang="en-US"/>
          </a:p>
        </p:txBody>
      </p:sp>
      <p:sp>
        <p:nvSpPr>
          <p:cNvPr id="46" name="Text 44"/>
          <p:cNvSpPr/>
          <p:nvPr/>
        </p:nvSpPr>
        <p:spPr>
          <a:xfrm>
            <a:off x="12255500" y="1503885"/>
            <a:ext cx="3460750"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MapReduce 1.0的核心局限</a:t>
            </a:r>
            <a:endParaRPr lang="en-US" sz="1600" dirty="0"/>
          </a:p>
        </p:txBody>
      </p:sp>
      <p:sp>
        <p:nvSpPr>
          <p:cNvPr id="47" name="Shape 45"/>
          <p:cNvSpPr/>
          <p:nvPr/>
        </p:nvSpPr>
        <p:spPr>
          <a:xfrm>
            <a:off x="11990917" y="2054218"/>
            <a:ext cx="84667" cy="84667"/>
          </a:xfrm>
          <a:custGeom>
            <a:avLst/>
            <a:gdLst/>
            <a:ahLst/>
            <a:cxnLst/>
            <a:rect l="l" t="t" r="r" b="b"/>
            <a:pathLst>
              <a:path w="84667" h="84667">
                <a:moveTo>
                  <a:pt x="42333" y="0"/>
                </a:moveTo>
                <a:lnTo>
                  <a:pt x="42333" y="0"/>
                </a:lnTo>
                <a:cubicBezTo>
                  <a:pt x="65713" y="0"/>
                  <a:pt x="84667" y="18953"/>
                  <a:pt x="84667" y="42333"/>
                </a:cubicBezTo>
                <a:lnTo>
                  <a:pt x="84667" y="42333"/>
                </a:lnTo>
                <a:cubicBezTo>
                  <a:pt x="84667" y="65713"/>
                  <a:pt x="65713" y="84667"/>
                  <a:pt x="42333" y="84667"/>
                </a:cubicBezTo>
                <a:lnTo>
                  <a:pt x="42333" y="84667"/>
                </a:lnTo>
                <a:cubicBezTo>
                  <a:pt x="18953" y="84667"/>
                  <a:pt x="0" y="65713"/>
                  <a:pt x="0" y="42333"/>
                </a:cubicBezTo>
                <a:lnTo>
                  <a:pt x="0" y="42333"/>
                </a:lnTo>
                <a:cubicBezTo>
                  <a:pt x="0" y="18953"/>
                  <a:pt x="18953" y="0"/>
                  <a:pt x="42333" y="0"/>
                </a:cubicBezTo>
                <a:close/>
              </a:path>
            </a:pathLst>
          </a:custGeom>
          <a:solidFill>
            <a:srgbClr val="B38B59"/>
          </a:solidFill>
          <a:ln/>
        </p:spPr>
        <p:txBody>
          <a:bodyPr/>
          <a:lstStyle/>
          <a:p>
            <a:endParaRPr lang="zh-CN" altLang="en-US"/>
          </a:p>
        </p:txBody>
      </p:sp>
      <p:sp>
        <p:nvSpPr>
          <p:cNvPr id="48" name="Text 46"/>
          <p:cNvSpPr/>
          <p:nvPr/>
        </p:nvSpPr>
        <p:spPr>
          <a:xfrm>
            <a:off x="12202583" y="1969551"/>
            <a:ext cx="3492500" cy="508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单点故障风险:</a:t>
            </a:r>
            <a:r>
              <a:rPr lang="en-US" sz="1333" dirty="0">
                <a:solidFill>
                  <a:srgbClr val="E0E2E4">
                    <a:alpha val="80000"/>
                  </a:srgbClr>
                </a:solidFill>
                <a:latin typeface="MiSans" pitchFamily="34" charset="0"/>
                <a:ea typeface="MiSans" pitchFamily="34" charset="-122"/>
                <a:cs typeface="MiSans" pitchFamily="34" charset="-120"/>
              </a:rPr>
              <a:t> JobTracker作为单一中央控制节点,故障会导致整个集群不可用</a:t>
            </a:r>
            <a:endParaRPr lang="en-US" sz="1600" dirty="0"/>
          </a:p>
        </p:txBody>
      </p:sp>
      <p:sp>
        <p:nvSpPr>
          <p:cNvPr id="49" name="Shape 47"/>
          <p:cNvSpPr/>
          <p:nvPr/>
        </p:nvSpPr>
        <p:spPr>
          <a:xfrm>
            <a:off x="11990917" y="2689218"/>
            <a:ext cx="84667" cy="84667"/>
          </a:xfrm>
          <a:custGeom>
            <a:avLst/>
            <a:gdLst/>
            <a:ahLst/>
            <a:cxnLst/>
            <a:rect l="l" t="t" r="r" b="b"/>
            <a:pathLst>
              <a:path w="84667" h="84667">
                <a:moveTo>
                  <a:pt x="42333" y="0"/>
                </a:moveTo>
                <a:lnTo>
                  <a:pt x="42333" y="0"/>
                </a:lnTo>
                <a:cubicBezTo>
                  <a:pt x="65713" y="0"/>
                  <a:pt x="84667" y="18953"/>
                  <a:pt x="84667" y="42333"/>
                </a:cubicBezTo>
                <a:lnTo>
                  <a:pt x="84667" y="42333"/>
                </a:lnTo>
                <a:cubicBezTo>
                  <a:pt x="84667" y="65713"/>
                  <a:pt x="65713" y="84667"/>
                  <a:pt x="42333" y="84667"/>
                </a:cubicBezTo>
                <a:lnTo>
                  <a:pt x="42333" y="84667"/>
                </a:lnTo>
                <a:cubicBezTo>
                  <a:pt x="18953" y="84667"/>
                  <a:pt x="0" y="65713"/>
                  <a:pt x="0" y="42333"/>
                </a:cubicBezTo>
                <a:lnTo>
                  <a:pt x="0" y="42333"/>
                </a:lnTo>
                <a:cubicBezTo>
                  <a:pt x="0" y="18953"/>
                  <a:pt x="18953" y="0"/>
                  <a:pt x="42333" y="0"/>
                </a:cubicBezTo>
                <a:close/>
              </a:path>
            </a:pathLst>
          </a:custGeom>
          <a:solidFill>
            <a:srgbClr val="B38B59"/>
          </a:solidFill>
          <a:ln/>
        </p:spPr>
        <p:txBody>
          <a:bodyPr/>
          <a:lstStyle/>
          <a:p>
            <a:endParaRPr lang="zh-CN" altLang="en-US"/>
          </a:p>
        </p:txBody>
      </p:sp>
      <p:sp>
        <p:nvSpPr>
          <p:cNvPr id="50" name="Text 48"/>
          <p:cNvSpPr/>
          <p:nvPr/>
        </p:nvSpPr>
        <p:spPr>
          <a:xfrm>
            <a:off x="12202583" y="2604551"/>
            <a:ext cx="3492500" cy="508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扩展性瓶颈:</a:t>
            </a:r>
            <a:r>
              <a:rPr lang="en-US" sz="1333" dirty="0">
                <a:solidFill>
                  <a:srgbClr val="E0E2E4">
                    <a:alpha val="80000"/>
                  </a:srgbClr>
                </a:solidFill>
                <a:latin typeface="MiSans" pitchFamily="34" charset="0"/>
                <a:ea typeface="MiSans" pitchFamily="34" charset="-122"/>
                <a:cs typeface="MiSans" pitchFamily="34" charset="-120"/>
              </a:rPr>
              <a:t> 需要跟踪所有任务状态,在大规模集群中成为性能瓶颈</a:t>
            </a:r>
            <a:endParaRPr lang="en-US" sz="1600" dirty="0"/>
          </a:p>
        </p:txBody>
      </p:sp>
      <p:sp>
        <p:nvSpPr>
          <p:cNvPr id="51" name="Shape 49"/>
          <p:cNvSpPr/>
          <p:nvPr/>
        </p:nvSpPr>
        <p:spPr>
          <a:xfrm>
            <a:off x="11990917" y="3324218"/>
            <a:ext cx="84667" cy="84667"/>
          </a:xfrm>
          <a:custGeom>
            <a:avLst/>
            <a:gdLst/>
            <a:ahLst/>
            <a:cxnLst/>
            <a:rect l="l" t="t" r="r" b="b"/>
            <a:pathLst>
              <a:path w="84667" h="84667">
                <a:moveTo>
                  <a:pt x="42333" y="0"/>
                </a:moveTo>
                <a:lnTo>
                  <a:pt x="42333" y="0"/>
                </a:lnTo>
                <a:cubicBezTo>
                  <a:pt x="65713" y="0"/>
                  <a:pt x="84667" y="18953"/>
                  <a:pt x="84667" y="42333"/>
                </a:cubicBezTo>
                <a:lnTo>
                  <a:pt x="84667" y="42333"/>
                </a:lnTo>
                <a:cubicBezTo>
                  <a:pt x="84667" y="65713"/>
                  <a:pt x="65713" y="84667"/>
                  <a:pt x="42333" y="84667"/>
                </a:cubicBezTo>
                <a:lnTo>
                  <a:pt x="42333" y="84667"/>
                </a:lnTo>
                <a:cubicBezTo>
                  <a:pt x="18953" y="84667"/>
                  <a:pt x="0" y="65713"/>
                  <a:pt x="0" y="42333"/>
                </a:cubicBezTo>
                <a:lnTo>
                  <a:pt x="0" y="42333"/>
                </a:lnTo>
                <a:cubicBezTo>
                  <a:pt x="0" y="18953"/>
                  <a:pt x="18953" y="0"/>
                  <a:pt x="42333" y="0"/>
                </a:cubicBezTo>
                <a:close/>
              </a:path>
            </a:pathLst>
          </a:custGeom>
          <a:solidFill>
            <a:srgbClr val="B38B59"/>
          </a:solidFill>
          <a:ln/>
        </p:spPr>
        <p:txBody>
          <a:bodyPr/>
          <a:lstStyle/>
          <a:p>
            <a:endParaRPr lang="zh-CN" altLang="en-US"/>
          </a:p>
        </p:txBody>
      </p:sp>
      <p:sp>
        <p:nvSpPr>
          <p:cNvPr id="52" name="Text 50"/>
          <p:cNvSpPr/>
          <p:nvPr/>
        </p:nvSpPr>
        <p:spPr>
          <a:xfrm>
            <a:off x="12202583" y="3239551"/>
            <a:ext cx="3492500" cy="508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资源利用率低:</a:t>
            </a:r>
            <a:r>
              <a:rPr lang="en-US" sz="1333" dirty="0">
                <a:solidFill>
                  <a:srgbClr val="E0E2E4">
                    <a:alpha val="80000"/>
                  </a:srgbClr>
                </a:solidFill>
                <a:latin typeface="MiSans" pitchFamily="34" charset="0"/>
                <a:ea typeface="MiSans" pitchFamily="34" charset="-122"/>
                <a:cs typeface="MiSans" pitchFamily="34" charset="-120"/>
              </a:rPr>
              <a:t> Map和Reduce槽位静态分配,无法根据需求动态调整</a:t>
            </a:r>
            <a:endParaRPr lang="en-US" sz="1600" dirty="0"/>
          </a:p>
        </p:txBody>
      </p:sp>
      <p:sp>
        <p:nvSpPr>
          <p:cNvPr id="53" name="Shape 51"/>
          <p:cNvSpPr/>
          <p:nvPr/>
        </p:nvSpPr>
        <p:spPr>
          <a:xfrm>
            <a:off x="11990917" y="3959218"/>
            <a:ext cx="84667" cy="84667"/>
          </a:xfrm>
          <a:custGeom>
            <a:avLst/>
            <a:gdLst/>
            <a:ahLst/>
            <a:cxnLst/>
            <a:rect l="l" t="t" r="r" b="b"/>
            <a:pathLst>
              <a:path w="84667" h="84667">
                <a:moveTo>
                  <a:pt x="42333" y="0"/>
                </a:moveTo>
                <a:lnTo>
                  <a:pt x="42333" y="0"/>
                </a:lnTo>
                <a:cubicBezTo>
                  <a:pt x="65713" y="0"/>
                  <a:pt x="84667" y="18953"/>
                  <a:pt x="84667" y="42333"/>
                </a:cubicBezTo>
                <a:lnTo>
                  <a:pt x="84667" y="42333"/>
                </a:lnTo>
                <a:cubicBezTo>
                  <a:pt x="84667" y="65713"/>
                  <a:pt x="65713" y="84667"/>
                  <a:pt x="42333" y="84667"/>
                </a:cubicBezTo>
                <a:lnTo>
                  <a:pt x="42333" y="84667"/>
                </a:lnTo>
                <a:cubicBezTo>
                  <a:pt x="18953" y="84667"/>
                  <a:pt x="0" y="65713"/>
                  <a:pt x="0" y="42333"/>
                </a:cubicBezTo>
                <a:lnTo>
                  <a:pt x="0" y="42333"/>
                </a:lnTo>
                <a:cubicBezTo>
                  <a:pt x="0" y="18953"/>
                  <a:pt x="18953" y="0"/>
                  <a:pt x="42333" y="0"/>
                </a:cubicBezTo>
                <a:close/>
              </a:path>
            </a:pathLst>
          </a:custGeom>
          <a:solidFill>
            <a:srgbClr val="B38B59"/>
          </a:solidFill>
          <a:ln/>
        </p:spPr>
        <p:txBody>
          <a:bodyPr/>
          <a:lstStyle/>
          <a:p>
            <a:endParaRPr lang="zh-CN" altLang="en-US"/>
          </a:p>
        </p:txBody>
      </p:sp>
      <p:sp>
        <p:nvSpPr>
          <p:cNvPr id="54" name="Text 52"/>
          <p:cNvSpPr/>
          <p:nvPr/>
        </p:nvSpPr>
        <p:spPr>
          <a:xfrm>
            <a:off x="12202583" y="3874551"/>
            <a:ext cx="3492500" cy="508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编程模型局限:</a:t>
            </a:r>
            <a:r>
              <a:rPr lang="en-US" sz="1333" dirty="0">
                <a:solidFill>
                  <a:srgbClr val="E0E2E4">
                    <a:alpha val="80000"/>
                  </a:srgbClr>
                </a:solidFill>
                <a:latin typeface="MiSans" pitchFamily="34" charset="0"/>
                <a:ea typeface="MiSans" pitchFamily="34" charset="-122"/>
                <a:cs typeface="MiSans" pitchFamily="34" charset="-120"/>
              </a:rPr>
              <a:t> 只支持MapReduce,无法支持其他分布式计算框架</a:t>
            </a:r>
            <a:endParaRPr lang="en-US" sz="1600" dirty="0"/>
          </a:p>
        </p:txBody>
      </p:sp>
      <p:sp>
        <p:nvSpPr>
          <p:cNvPr id="55" name="Shape 53"/>
          <p:cNvSpPr/>
          <p:nvPr/>
        </p:nvSpPr>
        <p:spPr>
          <a:xfrm>
            <a:off x="11773958" y="4779426"/>
            <a:ext cx="4053417" cy="3058583"/>
          </a:xfrm>
          <a:custGeom>
            <a:avLst/>
            <a:gdLst/>
            <a:ahLst/>
            <a:cxnLst/>
            <a:rect l="l" t="t" r="r" b="b"/>
            <a:pathLst>
              <a:path w="4053417" h="3058583">
                <a:moveTo>
                  <a:pt x="84662" y="0"/>
                </a:moveTo>
                <a:lnTo>
                  <a:pt x="3968755" y="0"/>
                </a:lnTo>
                <a:cubicBezTo>
                  <a:pt x="4015512" y="0"/>
                  <a:pt x="4053417" y="37904"/>
                  <a:pt x="4053417" y="84662"/>
                </a:cubicBezTo>
                <a:lnTo>
                  <a:pt x="4053417" y="2973922"/>
                </a:lnTo>
                <a:cubicBezTo>
                  <a:pt x="4053417" y="3020679"/>
                  <a:pt x="4015512" y="3058583"/>
                  <a:pt x="3968755" y="3058583"/>
                </a:cubicBezTo>
                <a:lnTo>
                  <a:pt x="84662" y="3058583"/>
                </a:lnTo>
                <a:cubicBezTo>
                  <a:pt x="37904" y="3058583"/>
                  <a:pt x="0" y="3020679"/>
                  <a:pt x="0" y="2973922"/>
                </a:cubicBezTo>
                <a:lnTo>
                  <a:pt x="0" y="84662"/>
                </a:lnTo>
                <a:cubicBezTo>
                  <a:pt x="0" y="37936"/>
                  <a:pt x="37936" y="0"/>
                  <a:pt x="84662"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56" name="Shape 54"/>
          <p:cNvSpPr/>
          <p:nvPr/>
        </p:nvSpPr>
        <p:spPr>
          <a:xfrm>
            <a:off x="12017375" y="5038718"/>
            <a:ext cx="211667" cy="211667"/>
          </a:xfrm>
          <a:custGeom>
            <a:avLst/>
            <a:gdLst/>
            <a:ahLst/>
            <a:cxnLst/>
            <a:rect l="l" t="t" r="r" b="b"/>
            <a:pathLst>
              <a:path w="211667" h="211667">
                <a:moveTo>
                  <a:pt x="52917" y="132292"/>
                </a:moveTo>
                <a:lnTo>
                  <a:pt x="10129" y="132292"/>
                </a:lnTo>
                <a:cubicBezTo>
                  <a:pt x="-165" y="132292"/>
                  <a:pt x="-6491" y="121088"/>
                  <a:pt x="-1199" y="112241"/>
                </a:cubicBezTo>
                <a:lnTo>
                  <a:pt x="20671" y="75778"/>
                </a:lnTo>
                <a:cubicBezTo>
                  <a:pt x="24267" y="69784"/>
                  <a:pt x="30716" y="66146"/>
                  <a:pt x="37703" y="66146"/>
                </a:cubicBezTo>
                <a:lnTo>
                  <a:pt x="76977" y="66146"/>
                </a:lnTo>
                <a:cubicBezTo>
                  <a:pt x="108438" y="12857"/>
                  <a:pt x="155360" y="10170"/>
                  <a:pt x="186738" y="14759"/>
                </a:cubicBezTo>
                <a:cubicBezTo>
                  <a:pt x="192030" y="15544"/>
                  <a:pt x="196164" y="19678"/>
                  <a:pt x="196908" y="24929"/>
                </a:cubicBezTo>
                <a:cubicBezTo>
                  <a:pt x="201497" y="56307"/>
                  <a:pt x="198810" y="103229"/>
                  <a:pt x="145521" y="134689"/>
                </a:cubicBezTo>
                <a:lnTo>
                  <a:pt x="145521" y="173964"/>
                </a:lnTo>
                <a:cubicBezTo>
                  <a:pt x="145521" y="180950"/>
                  <a:pt x="141883" y="187399"/>
                  <a:pt x="135888" y="190996"/>
                </a:cubicBezTo>
                <a:lnTo>
                  <a:pt x="99425" y="212866"/>
                </a:lnTo>
                <a:cubicBezTo>
                  <a:pt x="90620" y="218157"/>
                  <a:pt x="79375" y="211791"/>
                  <a:pt x="79375" y="201538"/>
                </a:cubicBezTo>
                <a:lnTo>
                  <a:pt x="79375" y="158750"/>
                </a:lnTo>
                <a:cubicBezTo>
                  <a:pt x="79375" y="144157"/>
                  <a:pt x="67510" y="132292"/>
                  <a:pt x="52917" y="132292"/>
                </a:cubicBezTo>
                <a:lnTo>
                  <a:pt x="52875" y="132292"/>
                </a:lnTo>
                <a:close/>
                <a:moveTo>
                  <a:pt x="165365" y="66146"/>
                </a:moveTo>
                <a:cubicBezTo>
                  <a:pt x="165365" y="55194"/>
                  <a:pt x="156473" y="46302"/>
                  <a:pt x="145521" y="46302"/>
                </a:cubicBezTo>
                <a:cubicBezTo>
                  <a:pt x="134569" y="46302"/>
                  <a:pt x="125677" y="55194"/>
                  <a:pt x="125677" y="66146"/>
                </a:cubicBezTo>
                <a:cubicBezTo>
                  <a:pt x="125677" y="77098"/>
                  <a:pt x="134569" y="85990"/>
                  <a:pt x="145521" y="85990"/>
                </a:cubicBezTo>
                <a:cubicBezTo>
                  <a:pt x="156473" y="85990"/>
                  <a:pt x="165365" y="77098"/>
                  <a:pt x="165365" y="66146"/>
                </a:cubicBezTo>
                <a:close/>
              </a:path>
            </a:pathLst>
          </a:custGeom>
          <a:solidFill>
            <a:srgbClr val="3C8082"/>
          </a:solidFill>
          <a:ln/>
        </p:spPr>
        <p:txBody>
          <a:bodyPr/>
          <a:lstStyle/>
          <a:p>
            <a:endParaRPr lang="zh-CN" altLang="en-US"/>
          </a:p>
        </p:txBody>
      </p:sp>
      <p:sp>
        <p:nvSpPr>
          <p:cNvPr id="57" name="Text 55"/>
          <p:cNvSpPr/>
          <p:nvPr/>
        </p:nvSpPr>
        <p:spPr>
          <a:xfrm>
            <a:off x="12255500" y="4996385"/>
            <a:ext cx="3460750"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容器技术的核心优势</a:t>
            </a:r>
            <a:endParaRPr lang="en-US" sz="1600" dirty="0"/>
          </a:p>
        </p:txBody>
      </p:sp>
      <p:sp>
        <p:nvSpPr>
          <p:cNvPr id="58" name="Shape 56"/>
          <p:cNvSpPr/>
          <p:nvPr/>
        </p:nvSpPr>
        <p:spPr>
          <a:xfrm>
            <a:off x="11990917" y="5462051"/>
            <a:ext cx="1746250" cy="1016000"/>
          </a:xfrm>
          <a:custGeom>
            <a:avLst/>
            <a:gdLst/>
            <a:ahLst/>
            <a:cxnLst/>
            <a:rect l="l" t="t" r="r" b="b"/>
            <a:pathLst>
              <a:path w="1746250" h="1016000">
                <a:moveTo>
                  <a:pt x="84663" y="0"/>
                </a:moveTo>
                <a:lnTo>
                  <a:pt x="1661587" y="0"/>
                </a:lnTo>
                <a:cubicBezTo>
                  <a:pt x="1708345" y="0"/>
                  <a:pt x="1746250" y="37905"/>
                  <a:pt x="1746250" y="84663"/>
                </a:cubicBezTo>
                <a:lnTo>
                  <a:pt x="1746250" y="931337"/>
                </a:lnTo>
                <a:cubicBezTo>
                  <a:pt x="1746250" y="978095"/>
                  <a:pt x="1708345" y="1016000"/>
                  <a:pt x="1661587" y="1016000"/>
                </a:cubicBezTo>
                <a:lnTo>
                  <a:pt x="84663" y="1016000"/>
                </a:lnTo>
                <a:cubicBezTo>
                  <a:pt x="37905" y="1016000"/>
                  <a:pt x="0" y="978095"/>
                  <a:pt x="0" y="931337"/>
                </a:cubicBezTo>
                <a:lnTo>
                  <a:pt x="0" y="84663"/>
                </a:lnTo>
                <a:cubicBezTo>
                  <a:pt x="0" y="37936"/>
                  <a:pt x="37936" y="0"/>
                  <a:pt x="84663" y="0"/>
                </a:cubicBezTo>
                <a:close/>
              </a:path>
            </a:pathLst>
          </a:custGeom>
          <a:solidFill>
            <a:srgbClr val="1A1D21">
              <a:alpha val="50196"/>
            </a:srgbClr>
          </a:solidFill>
          <a:ln/>
        </p:spPr>
        <p:txBody>
          <a:bodyPr/>
          <a:lstStyle/>
          <a:p>
            <a:endParaRPr lang="zh-CN" altLang="en-US"/>
          </a:p>
        </p:txBody>
      </p:sp>
      <p:sp>
        <p:nvSpPr>
          <p:cNvPr id="59" name="Shape 57"/>
          <p:cNvSpPr/>
          <p:nvPr/>
        </p:nvSpPr>
        <p:spPr>
          <a:xfrm>
            <a:off x="12139083" y="5631385"/>
            <a:ext cx="169333" cy="169333"/>
          </a:xfrm>
          <a:custGeom>
            <a:avLst/>
            <a:gdLst/>
            <a:ahLst/>
            <a:cxnLst/>
            <a:rect l="l" t="t" r="r" b="b"/>
            <a:pathLst>
              <a:path w="169333" h="169333">
                <a:moveTo>
                  <a:pt x="84667" y="169333"/>
                </a:moveTo>
                <a:cubicBezTo>
                  <a:pt x="131395" y="169333"/>
                  <a:pt x="169333" y="131395"/>
                  <a:pt x="169333" y="84667"/>
                </a:cubicBezTo>
                <a:cubicBezTo>
                  <a:pt x="169333" y="37938"/>
                  <a:pt x="131395" y="0"/>
                  <a:pt x="84667" y="0"/>
                </a:cubicBezTo>
                <a:cubicBezTo>
                  <a:pt x="37938" y="0"/>
                  <a:pt x="0" y="37938"/>
                  <a:pt x="0" y="84667"/>
                </a:cubicBezTo>
                <a:cubicBezTo>
                  <a:pt x="0" y="131395"/>
                  <a:pt x="37938" y="169333"/>
                  <a:pt x="84667" y="169333"/>
                </a:cubicBezTo>
                <a:close/>
                <a:moveTo>
                  <a:pt x="112580" y="70346"/>
                </a:moveTo>
                <a:lnTo>
                  <a:pt x="86122" y="112679"/>
                </a:lnTo>
                <a:cubicBezTo>
                  <a:pt x="84733" y="114895"/>
                  <a:pt x="82352" y="116284"/>
                  <a:pt x="79739" y="116417"/>
                </a:cubicBezTo>
                <a:cubicBezTo>
                  <a:pt x="77126" y="116549"/>
                  <a:pt x="74612" y="115358"/>
                  <a:pt x="73058" y="113242"/>
                </a:cubicBezTo>
                <a:lnTo>
                  <a:pt x="57183" y="92075"/>
                </a:lnTo>
                <a:cubicBezTo>
                  <a:pt x="54537" y="88569"/>
                  <a:pt x="55265" y="83608"/>
                  <a:pt x="58771" y="80963"/>
                </a:cubicBezTo>
                <a:cubicBezTo>
                  <a:pt x="62276" y="78317"/>
                  <a:pt x="67237" y="79044"/>
                  <a:pt x="69883" y="82550"/>
                </a:cubicBezTo>
                <a:lnTo>
                  <a:pt x="78813" y="94456"/>
                </a:lnTo>
                <a:lnTo>
                  <a:pt x="99120" y="61946"/>
                </a:lnTo>
                <a:cubicBezTo>
                  <a:pt x="101435" y="58241"/>
                  <a:pt x="106329" y="57084"/>
                  <a:pt x="110067" y="59432"/>
                </a:cubicBezTo>
                <a:cubicBezTo>
                  <a:pt x="113804" y="61780"/>
                  <a:pt x="114928" y="66642"/>
                  <a:pt x="112580" y="70379"/>
                </a:cubicBezTo>
                <a:close/>
              </a:path>
            </a:pathLst>
          </a:custGeom>
          <a:solidFill>
            <a:srgbClr val="3C8082"/>
          </a:solidFill>
          <a:ln/>
        </p:spPr>
        <p:txBody>
          <a:bodyPr/>
          <a:lstStyle/>
          <a:p>
            <a:endParaRPr lang="zh-CN" altLang="en-US"/>
          </a:p>
        </p:txBody>
      </p:sp>
      <p:sp>
        <p:nvSpPr>
          <p:cNvPr id="60" name="Text 58"/>
          <p:cNvSpPr/>
          <p:nvPr/>
        </p:nvSpPr>
        <p:spPr>
          <a:xfrm>
            <a:off x="12414250" y="5589051"/>
            <a:ext cx="93133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环境一致性</a:t>
            </a:r>
            <a:endParaRPr lang="en-US" sz="1600" dirty="0"/>
          </a:p>
        </p:txBody>
      </p:sp>
      <p:sp>
        <p:nvSpPr>
          <p:cNvPr id="61" name="Text 59"/>
          <p:cNvSpPr/>
          <p:nvPr/>
        </p:nvSpPr>
        <p:spPr>
          <a:xfrm>
            <a:off x="12117917" y="5927718"/>
            <a:ext cx="1566333" cy="423333"/>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应用及依赖打包,确保不同环境的一致性</a:t>
            </a:r>
            <a:endParaRPr lang="en-US" sz="1600" dirty="0"/>
          </a:p>
        </p:txBody>
      </p:sp>
      <p:sp>
        <p:nvSpPr>
          <p:cNvPr id="62" name="Shape 60"/>
          <p:cNvSpPr/>
          <p:nvPr/>
        </p:nvSpPr>
        <p:spPr>
          <a:xfrm>
            <a:off x="13864167" y="5462051"/>
            <a:ext cx="1746250" cy="1016000"/>
          </a:xfrm>
          <a:custGeom>
            <a:avLst/>
            <a:gdLst/>
            <a:ahLst/>
            <a:cxnLst/>
            <a:rect l="l" t="t" r="r" b="b"/>
            <a:pathLst>
              <a:path w="1746250" h="1016000">
                <a:moveTo>
                  <a:pt x="84663" y="0"/>
                </a:moveTo>
                <a:lnTo>
                  <a:pt x="1661587" y="0"/>
                </a:lnTo>
                <a:cubicBezTo>
                  <a:pt x="1708345" y="0"/>
                  <a:pt x="1746250" y="37905"/>
                  <a:pt x="1746250" y="84663"/>
                </a:cubicBezTo>
                <a:lnTo>
                  <a:pt x="1746250" y="931337"/>
                </a:lnTo>
                <a:cubicBezTo>
                  <a:pt x="1746250" y="978095"/>
                  <a:pt x="1708345" y="1016000"/>
                  <a:pt x="1661587" y="1016000"/>
                </a:cubicBezTo>
                <a:lnTo>
                  <a:pt x="84663" y="1016000"/>
                </a:lnTo>
                <a:cubicBezTo>
                  <a:pt x="37905" y="1016000"/>
                  <a:pt x="0" y="978095"/>
                  <a:pt x="0" y="931337"/>
                </a:cubicBezTo>
                <a:lnTo>
                  <a:pt x="0" y="84663"/>
                </a:lnTo>
                <a:cubicBezTo>
                  <a:pt x="0" y="37936"/>
                  <a:pt x="37936" y="0"/>
                  <a:pt x="84663" y="0"/>
                </a:cubicBezTo>
                <a:close/>
              </a:path>
            </a:pathLst>
          </a:custGeom>
          <a:solidFill>
            <a:srgbClr val="1A1D21">
              <a:alpha val="50196"/>
            </a:srgbClr>
          </a:solidFill>
          <a:ln/>
        </p:spPr>
        <p:txBody>
          <a:bodyPr/>
          <a:lstStyle/>
          <a:p>
            <a:endParaRPr lang="zh-CN" altLang="en-US"/>
          </a:p>
        </p:txBody>
      </p:sp>
      <p:sp>
        <p:nvSpPr>
          <p:cNvPr id="63" name="Shape 61"/>
          <p:cNvSpPr/>
          <p:nvPr/>
        </p:nvSpPr>
        <p:spPr>
          <a:xfrm>
            <a:off x="14012333" y="5631385"/>
            <a:ext cx="169333" cy="169333"/>
          </a:xfrm>
          <a:custGeom>
            <a:avLst/>
            <a:gdLst/>
            <a:ahLst/>
            <a:cxnLst/>
            <a:rect l="l" t="t" r="r" b="b"/>
            <a:pathLst>
              <a:path w="169333" h="169333">
                <a:moveTo>
                  <a:pt x="84667" y="169333"/>
                </a:moveTo>
                <a:cubicBezTo>
                  <a:pt x="131395" y="169333"/>
                  <a:pt x="169333" y="131395"/>
                  <a:pt x="169333" y="84667"/>
                </a:cubicBezTo>
                <a:cubicBezTo>
                  <a:pt x="169333" y="37938"/>
                  <a:pt x="131395" y="0"/>
                  <a:pt x="84667" y="0"/>
                </a:cubicBezTo>
                <a:cubicBezTo>
                  <a:pt x="37938" y="0"/>
                  <a:pt x="0" y="37938"/>
                  <a:pt x="0" y="84667"/>
                </a:cubicBezTo>
                <a:cubicBezTo>
                  <a:pt x="0" y="131395"/>
                  <a:pt x="37938" y="169333"/>
                  <a:pt x="84667" y="169333"/>
                </a:cubicBezTo>
                <a:close/>
                <a:moveTo>
                  <a:pt x="112580" y="70346"/>
                </a:moveTo>
                <a:lnTo>
                  <a:pt x="86122" y="112679"/>
                </a:lnTo>
                <a:cubicBezTo>
                  <a:pt x="84733" y="114895"/>
                  <a:pt x="82352" y="116284"/>
                  <a:pt x="79739" y="116417"/>
                </a:cubicBezTo>
                <a:cubicBezTo>
                  <a:pt x="77126" y="116549"/>
                  <a:pt x="74612" y="115358"/>
                  <a:pt x="73058" y="113242"/>
                </a:cubicBezTo>
                <a:lnTo>
                  <a:pt x="57183" y="92075"/>
                </a:lnTo>
                <a:cubicBezTo>
                  <a:pt x="54537" y="88569"/>
                  <a:pt x="55265" y="83608"/>
                  <a:pt x="58771" y="80963"/>
                </a:cubicBezTo>
                <a:cubicBezTo>
                  <a:pt x="62276" y="78317"/>
                  <a:pt x="67237" y="79044"/>
                  <a:pt x="69883" y="82550"/>
                </a:cubicBezTo>
                <a:lnTo>
                  <a:pt x="78813" y="94456"/>
                </a:lnTo>
                <a:lnTo>
                  <a:pt x="99120" y="61946"/>
                </a:lnTo>
                <a:cubicBezTo>
                  <a:pt x="101435" y="58241"/>
                  <a:pt x="106329" y="57084"/>
                  <a:pt x="110067" y="59432"/>
                </a:cubicBezTo>
                <a:cubicBezTo>
                  <a:pt x="113804" y="61780"/>
                  <a:pt x="114928" y="66642"/>
                  <a:pt x="112580" y="70379"/>
                </a:cubicBezTo>
                <a:close/>
              </a:path>
            </a:pathLst>
          </a:custGeom>
          <a:solidFill>
            <a:srgbClr val="3C8082"/>
          </a:solidFill>
          <a:ln/>
        </p:spPr>
        <p:txBody>
          <a:bodyPr/>
          <a:lstStyle/>
          <a:p>
            <a:endParaRPr lang="zh-CN" altLang="en-US"/>
          </a:p>
        </p:txBody>
      </p:sp>
      <p:sp>
        <p:nvSpPr>
          <p:cNvPr id="64" name="Text 62"/>
          <p:cNvSpPr/>
          <p:nvPr/>
        </p:nvSpPr>
        <p:spPr>
          <a:xfrm>
            <a:off x="14287500" y="5589051"/>
            <a:ext cx="762000"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资源效率</a:t>
            </a:r>
            <a:endParaRPr lang="en-US" sz="1600" dirty="0"/>
          </a:p>
        </p:txBody>
      </p:sp>
      <p:sp>
        <p:nvSpPr>
          <p:cNvPr id="65" name="Text 63"/>
          <p:cNvSpPr/>
          <p:nvPr/>
        </p:nvSpPr>
        <p:spPr>
          <a:xfrm>
            <a:off x="13991167" y="5927718"/>
            <a:ext cx="1566333" cy="423333"/>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相比虚拟机,容器资源开销更低,密度更高</a:t>
            </a:r>
            <a:endParaRPr lang="en-US" sz="1600" dirty="0"/>
          </a:p>
        </p:txBody>
      </p:sp>
      <p:sp>
        <p:nvSpPr>
          <p:cNvPr id="66" name="Shape 64"/>
          <p:cNvSpPr/>
          <p:nvPr/>
        </p:nvSpPr>
        <p:spPr>
          <a:xfrm>
            <a:off x="11990917" y="6605051"/>
            <a:ext cx="1746250" cy="1016000"/>
          </a:xfrm>
          <a:custGeom>
            <a:avLst/>
            <a:gdLst/>
            <a:ahLst/>
            <a:cxnLst/>
            <a:rect l="l" t="t" r="r" b="b"/>
            <a:pathLst>
              <a:path w="1746250" h="1016000">
                <a:moveTo>
                  <a:pt x="84663" y="0"/>
                </a:moveTo>
                <a:lnTo>
                  <a:pt x="1661587" y="0"/>
                </a:lnTo>
                <a:cubicBezTo>
                  <a:pt x="1708345" y="0"/>
                  <a:pt x="1746250" y="37905"/>
                  <a:pt x="1746250" y="84663"/>
                </a:cubicBezTo>
                <a:lnTo>
                  <a:pt x="1746250" y="931337"/>
                </a:lnTo>
                <a:cubicBezTo>
                  <a:pt x="1746250" y="978095"/>
                  <a:pt x="1708345" y="1016000"/>
                  <a:pt x="1661587" y="1016000"/>
                </a:cubicBezTo>
                <a:lnTo>
                  <a:pt x="84663" y="1016000"/>
                </a:lnTo>
                <a:cubicBezTo>
                  <a:pt x="37905" y="1016000"/>
                  <a:pt x="0" y="978095"/>
                  <a:pt x="0" y="931337"/>
                </a:cubicBezTo>
                <a:lnTo>
                  <a:pt x="0" y="84663"/>
                </a:lnTo>
                <a:cubicBezTo>
                  <a:pt x="0" y="37936"/>
                  <a:pt x="37936" y="0"/>
                  <a:pt x="84663" y="0"/>
                </a:cubicBezTo>
                <a:close/>
              </a:path>
            </a:pathLst>
          </a:custGeom>
          <a:solidFill>
            <a:srgbClr val="1A1D21">
              <a:alpha val="50196"/>
            </a:srgbClr>
          </a:solidFill>
          <a:ln/>
        </p:spPr>
        <p:txBody>
          <a:bodyPr/>
          <a:lstStyle/>
          <a:p>
            <a:endParaRPr lang="zh-CN" altLang="en-US"/>
          </a:p>
        </p:txBody>
      </p:sp>
      <p:sp>
        <p:nvSpPr>
          <p:cNvPr id="67" name="Shape 65"/>
          <p:cNvSpPr/>
          <p:nvPr/>
        </p:nvSpPr>
        <p:spPr>
          <a:xfrm>
            <a:off x="12139083" y="6774385"/>
            <a:ext cx="169333" cy="169333"/>
          </a:xfrm>
          <a:custGeom>
            <a:avLst/>
            <a:gdLst/>
            <a:ahLst/>
            <a:cxnLst/>
            <a:rect l="l" t="t" r="r" b="b"/>
            <a:pathLst>
              <a:path w="169333" h="169333">
                <a:moveTo>
                  <a:pt x="84667" y="169333"/>
                </a:moveTo>
                <a:cubicBezTo>
                  <a:pt x="131395" y="169333"/>
                  <a:pt x="169333" y="131395"/>
                  <a:pt x="169333" y="84667"/>
                </a:cubicBezTo>
                <a:cubicBezTo>
                  <a:pt x="169333" y="37938"/>
                  <a:pt x="131395" y="0"/>
                  <a:pt x="84667" y="0"/>
                </a:cubicBezTo>
                <a:cubicBezTo>
                  <a:pt x="37938" y="0"/>
                  <a:pt x="0" y="37938"/>
                  <a:pt x="0" y="84667"/>
                </a:cubicBezTo>
                <a:cubicBezTo>
                  <a:pt x="0" y="131395"/>
                  <a:pt x="37938" y="169333"/>
                  <a:pt x="84667" y="169333"/>
                </a:cubicBezTo>
                <a:close/>
                <a:moveTo>
                  <a:pt x="112580" y="70346"/>
                </a:moveTo>
                <a:lnTo>
                  <a:pt x="86122" y="112679"/>
                </a:lnTo>
                <a:cubicBezTo>
                  <a:pt x="84733" y="114895"/>
                  <a:pt x="82352" y="116284"/>
                  <a:pt x="79739" y="116417"/>
                </a:cubicBezTo>
                <a:cubicBezTo>
                  <a:pt x="77126" y="116549"/>
                  <a:pt x="74612" y="115358"/>
                  <a:pt x="73058" y="113242"/>
                </a:cubicBezTo>
                <a:lnTo>
                  <a:pt x="57183" y="92075"/>
                </a:lnTo>
                <a:cubicBezTo>
                  <a:pt x="54537" y="88569"/>
                  <a:pt x="55265" y="83608"/>
                  <a:pt x="58771" y="80963"/>
                </a:cubicBezTo>
                <a:cubicBezTo>
                  <a:pt x="62276" y="78317"/>
                  <a:pt x="67237" y="79044"/>
                  <a:pt x="69883" y="82550"/>
                </a:cubicBezTo>
                <a:lnTo>
                  <a:pt x="78813" y="94456"/>
                </a:lnTo>
                <a:lnTo>
                  <a:pt x="99120" y="61946"/>
                </a:lnTo>
                <a:cubicBezTo>
                  <a:pt x="101435" y="58241"/>
                  <a:pt x="106329" y="57084"/>
                  <a:pt x="110067" y="59432"/>
                </a:cubicBezTo>
                <a:cubicBezTo>
                  <a:pt x="113804" y="61780"/>
                  <a:pt x="114928" y="66642"/>
                  <a:pt x="112580" y="70379"/>
                </a:cubicBezTo>
                <a:close/>
              </a:path>
            </a:pathLst>
          </a:custGeom>
          <a:solidFill>
            <a:srgbClr val="B38B59"/>
          </a:solidFill>
          <a:ln/>
        </p:spPr>
        <p:txBody>
          <a:bodyPr/>
          <a:lstStyle/>
          <a:p>
            <a:endParaRPr lang="zh-CN" altLang="en-US"/>
          </a:p>
        </p:txBody>
      </p:sp>
      <p:sp>
        <p:nvSpPr>
          <p:cNvPr id="68" name="Text 66"/>
          <p:cNvSpPr/>
          <p:nvPr/>
        </p:nvSpPr>
        <p:spPr>
          <a:xfrm>
            <a:off x="12414250" y="6732051"/>
            <a:ext cx="762000"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快速部署</a:t>
            </a:r>
            <a:endParaRPr lang="en-US" sz="1600" dirty="0"/>
          </a:p>
        </p:txBody>
      </p:sp>
      <p:sp>
        <p:nvSpPr>
          <p:cNvPr id="69" name="Text 67"/>
          <p:cNvSpPr/>
          <p:nvPr/>
        </p:nvSpPr>
        <p:spPr>
          <a:xfrm>
            <a:off x="12117917" y="7070718"/>
            <a:ext cx="1566333" cy="423333"/>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容器启动时间通常在秒级,大大提高部署效率</a:t>
            </a:r>
            <a:endParaRPr lang="en-US" sz="1600" dirty="0"/>
          </a:p>
        </p:txBody>
      </p:sp>
      <p:sp>
        <p:nvSpPr>
          <p:cNvPr id="70" name="Shape 68"/>
          <p:cNvSpPr/>
          <p:nvPr/>
        </p:nvSpPr>
        <p:spPr>
          <a:xfrm>
            <a:off x="13864167" y="6605051"/>
            <a:ext cx="1746250" cy="1016000"/>
          </a:xfrm>
          <a:custGeom>
            <a:avLst/>
            <a:gdLst/>
            <a:ahLst/>
            <a:cxnLst/>
            <a:rect l="l" t="t" r="r" b="b"/>
            <a:pathLst>
              <a:path w="1746250" h="1016000">
                <a:moveTo>
                  <a:pt x="84663" y="0"/>
                </a:moveTo>
                <a:lnTo>
                  <a:pt x="1661587" y="0"/>
                </a:lnTo>
                <a:cubicBezTo>
                  <a:pt x="1708345" y="0"/>
                  <a:pt x="1746250" y="37905"/>
                  <a:pt x="1746250" y="84663"/>
                </a:cubicBezTo>
                <a:lnTo>
                  <a:pt x="1746250" y="931337"/>
                </a:lnTo>
                <a:cubicBezTo>
                  <a:pt x="1746250" y="978095"/>
                  <a:pt x="1708345" y="1016000"/>
                  <a:pt x="1661587" y="1016000"/>
                </a:cubicBezTo>
                <a:lnTo>
                  <a:pt x="84663" y="1016000"/>
                </a:lnTo>
                <a:cubicBezTo>
                  <a:pt x="37905" y="1016000"/>
                  <a:pt x="0" y="978095"/>
                  <a:pt x="0" y="931337"/>
                </a:cubicBezTo>
                <a:lnTo>
                  <a:pt x="0" y="84663"/>
                </a:lnTo>
                <a:cubicBezTo>
                  <a:pt x="0" y="37936"/>
                  <a:pt x="37936" y="0"/>
                  <a:pt x="84663" y="0"/>
                </a:cubicBezTo>
                <a:close/>
              </a:path>
            </a:pathLst>
          </a:custGeom>
          <a:solidFill>
            <a:srgbClr val="1A1D21">
              <a:alpha val="50196"/>
            </a:srgbClr>
          </a:solidFill>
          <a:ln/>
        </p:spPr>
        <p:txBody>
          <a:bodyPr/>
          <a:lstStyle/>
          <a:p>
            <a:endParaRPr lang="zh-CN" altLang="en-US"/>
          </a:p>
        </p:txBody>
      </p:sp>
      <p:sp>
        <p:nvSpPr>
          <p:cNvPr id="71" name="Shape 69"/>
          <p:cNvSpPr/>
          <p:nvPr/>
        </p:nvSpPr>
        <p:spPr>
          <a:xfrm>
            <a:off x="14012333" y="6774385"/>
            <a:ext cx="169333" cy="169333"/>
          </a:xfrm>
          <a:custGeom>
            <a:avLst/>
            <a:gdLst/>
            <a:ahLst/>
            <a:cxnLst/>
            <a:rect l="l" t="t" r="r" b="b"/>
            <a:pathLst>
              <a:path w="169333" h="169333">
                <a:moveTo>
                  <a:pt x="84667" y="169333"/>
                </a:moveTo>
                <a:cubicBezTo>
                  <a:pt x="131395" y="169333"/>
                  <a:pt x="169333" y="131395"/>
                  <a:pt x="169333" y="84667"/>
                </a:cubicBezTo>
                <a:cubicBezTo>
                  <a:pt x="169333" y="37938"/>
                  <a:pt x="131395" y="0"/>
                  <a:pt x="84667" y="0"/>
                </a:cubicBezTo>
                <a:cubicBezTo>
                  <a:pt x="37938" y="0"/>
                  <a:pt x="0" y="37938"/>
                  <a:pt x="0" y="84667"/>
                </a:cubicBezTo>
                <a:cubicBezTo>
                  <a:pt x="0" y="131395"/>
                  <a:pt x="37938" y="169333"/>
                  <a:pt x="84667" y="169333"/>
                </a:cubicBezTo>
                <a:close/>
                <a:moveTo>
                  <a:pt x="112580" y="70346"/>
                </a:moveTo>
                <a:lnTo>
                  <a:pt x="86122" y="112679"/>
                </a:lnTo>
                <a:cubicBezTo>
                  <a:pt x="84733" y="114895"/>
                  <a:pt x="82352" y="116284"/>
                  <a:pt x="79739" y="116417"/>
                </a:cubicBezTo>
                <a:cubicBezTo>
                  <a:pt x="77126" y="116549"/>
                  <a:pt x="74612" y="115358"/>
                  <a:pt x="73058" y="113242"/>
                </a:cubicBezTo>
                <a:lnTo>
                  <a:pt x="57183" y="92075"/>
                </a:lnTo>
                <a:cubicBezTo>
                  <a:pt x="54537" y="88569"/>
                  <a:pt x="55265" y="83608"/>
                  <a:pt x="58771" y="80963"/>
                </a:cubicBezTo>
                <a:cubicBezTo>
                  <a:pt x="62276" y="78317"/>
                  <a:pt x="67237" y="79044"/>
                  <a:pt x="69883" y="82550"/>
                </a:cubicBezTo>
                <a:lnTo>
                  <a:pt x="78813" y="94456"/>
                </a:lnTo>
                <a:lnTo>
                  <a:pt x="99120" y="61946"/>
                </a:lnTo>
                <a:cubicBezTo>
                  <a:pt x="101435" y="58241"/>
                  <a:pt x="106329" y="57084"/>
                  <a:pt x="110067" y="59432"/>
                </a:cubicBezTo>
                <a:cubicBezTo>
                  <a:pt x="113804" y="61780"/>
                  <a:pt x="114928" y="66642"/>
                  <a:pt x="112580" y="70379"/>
                </a:cubicBezTo>
                <a:close/>
              </a:path>
            </a:pathLst>
          </a:custGeom>
          <a:solidFill>
            <a:srgbClr val="B38B59"/>
          </a:solidFill>
          <a:ln/>
        </p:spPr>
        <p:txBody>
          <a:bodyPr/>
          <a:lstStyle/>
          <a:p>
            <a:endParaRPr lang="zh-CN" altLang="en-US"/>
          </a:p>
        </p:txBody>
      </p:sp>
      <p:sp>
        <p:nvSpPr>
          <p:cNvPr id="72" name="Text 70"/>
          <p:cNvSpPr/>
          <p:nvPr/>
        </p:nvSpPr>
        <p:spPr>
          <a:xfrm>
            <a:off x="14287500" y="6732051"/>
            <a:ext cx="93133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微服务友好</a:t>
            </a:r>
            <a:endParaRPr lang="en-US" sz="1600" dirty="0"/>
          </a:p>
        </p:txBody>
      </p:sp>
      <p:sp>
        <p:nvSpPr>
          <p:cNvPr id="73" name="Text 71"/>
          <p:cNvSpPr/>
          <p:nvPr/>
        </p:nvSpPr>
        <p:spPr>
          <a:xfrm>
            <a:off x="13991167" y="7070718"/>
            <a:ext cx="1566333" cy="423333"/>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天然适合微服务架构的部署和管理</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31194" y="474313"/>
            <a:ext cx="344955" cy="344955"/>
          </a:xfrm>
          <a:custGeom>
            <a:avLst/>
            <a:gdLst/>
            <a:ahLst/>
            <a:cxnLst/>
            <a:rect l="l" t="t" r="r" b="b"/>
            <a:pathLst>
              <a:path w="344955" h="344955">
                <a:moveTo>
                  <a:pt x="64679" y="0"/>
                </a:moveTo>
                <a:lnTo>
                  <a:pt x="280276" y="0"/>
                </a:lnTo>
                <a:cubicBezTo>
                  <a:pt x="315973" y="0"/>
                  <a:pt x="344955" y="28982"/>
                  <a:pt x="344955" y="64679"/>
                </a:cubicBezTo>
                <a:lnTo>
                  <a:pt x="344955" y="280276"/>
                </a:lnTo>
                <a:cubicBezTo>
                  <a:pt x="344955" y="315973"/>
                  <a:pt x="315973" y="344955"/>
                  <a:pt x="280276" y="344955"/>
                </a:cubicBezTo>
                <a:lnTo>
                  <a:pt x="64679" y="344955"/>
                </a:lnTo>
                <a:cubicBezTo>
                  <a:pt x="28982" y="344955"/>
                  <a:pt x="0" y="315973"/>
                  <a:pt x="0" y="280276"/>
                </a:cubicBezTo>
                <a:lnTo>
                  <a:pt x="0" y="64679"/>
                </a:lnTo>
                <a:cubicBezTo>
                  <a:pt x="0" y="28982"/>
                  <a:pt x="28982" y="0"/>
                  <a:pt x="64679" y="0"/>
                </a:cubicBezTo>
                <a:close/>
              </a:path>
            </a:pathLst>
          </a:custGeom>
          <a:solidFill>
            <a:srgbClr val="3C8082"/>
          </a:solidFill>
          <a:ln/>
        </p:spPr>
        <p:txBody>
          <a:bodyPr/>
          <a:lstStyle/>
          <a:p>
            <a:endParaRPr lang="zh-CN" altLang="en-US"/>
          </a:p>
        </p:txBody>
      </p:sp>
      <p:sp>
        <p:nvSpPr>
          <p:cNvPr id="3" name="Text 1"/>
          <p:cNvSpPr/>
          <p:nvPr/>
        </p:nvSpPr>
        <p:spPr>
          <a:xfrm>
            <a:off x="388074" y="474313"/>
            <a:ext cx="431194" cy="344955"/>
          </a:xfrm>
          <a:prstGeom prst="rect">
            <a:avLst/>
          </a:prstGeom>
          <a:noFill/>
          <a:ln/>
        </p:spPr>
        <p:txBody>
          <a:bodyPr wrap="square" lIns="0" tIns="0" rIns="0" bIns="0" rtlCol="0" anchor="ctr"/>
          <a:lstStyle/>
          <a:p>
            <a:pPr algn="ctr">
              <a:lnSpc>
                <a:spcPct val="130000"/>
              </a:lnSpc>
            </a:pPr>
            <a:r>
              <a:rPr lang="en-US" sz="1358" b="1" dirty="0">
                <a:solidFill>
                  <a:srgbClr val="FFFFFF"/>
                </a:solidFill>
                <a:latin typeface="Liter" pitchFamily="34" charset="0"/>
                <a:ea typeface="Liter" pitchFamily="34" charset="-122"/>
                <a:cs typeface="Liter" pitchFamily="34" charset="-120"/>
              </a:rPr>
              <a:t>02</a:t>
            </a:r>
            <a:endParaRPr lang="en-US" sz="1600" dirty="0"/>
          </a:p>
        </p:txBody>
      </p:sp>
      <p:sp>
        <p:nvSpPr>
          <p:cNvPr id="4" name="Text 2"/>
          <p:cNvSpPr/>
          <p:nvPr/>
        </p:nvSpPr>
        <p:spPr>
          <a:xfrm>
            <a:off x="905507" y="431194"/>
            <a:ext cx="3686706" cy="431194"/>
          </a:xfrm>
          <a:prstGeom prst="rect">
            <a:avLst/>
          </a:prstGeom>
          <a:noFill/>
          <a:ln/>
        </p:spPr>
        <p:txBody>
          <a:bodyPr wrap="square" lIns="0" tIns="0" rIns="0" bIns="0" rtlCol="0" anchor="ctr"/>
          <a:lstStyle/>
          <a:p>
            <a:pPr>
              <a:lnSpc>
                <a:spcPct val="90000"/>
              </a:lnSpc>
            </a:pPr>
            <a:r>
              <a:rPr lang="en-US" sz="3056" b="1" dirty="0">
                <a:solidFill>
                  <a:srgbClr val="E0E2E4"/>
                </a:solidFill>
                <a:latin typeface="MiSans" pitchFamily="34" charset="0"/>
                <a:ea typeface="MiSans" pitchFamily="34" charset="-122"/>
                <a:cs typeface="MiSans" pitchFamily="34" charset="-120"/>
              </a:rPr>
              <a:t>技术选型的现实挑战</a:t>
            </a:r>
            <a:endParaRPr lang="en-US" sz="1600" dirty="0"/>
          </a:p>
        </p:txBody>
      </p:sp>
      <p:sp>
        <p:nvSpPr>
          <p:cNvPr id="5" name="Text 3"/>
          <p:cNvSpPr/>
          <p:nvPr/>
        </p:nvSpPr>
        <p:spPr>
          <a:xfrm>
            <a:off x="431194" y="948626"/>
            <a:ext cx="15490631" cy="301836"/>
          </a:xfrm>
          <a:prstGeom prst="rect">
            <a:avLst/>
          </a:prstGeom>
          <a:noFill/>
          <a:ln/>
        </p:spPr>
        <p:txBody>
          <a:bodyPr wrap="square" lIns="0" tIns="0" rIns="0" bIns="0" rtlCol="0" anchor="ctr"/>
          <a:lstStyle/>
          <a:p>
            <a:pPr>
              <a:lnSpc>
                <a:spcPct val="130000"/>
              </a:lnSpc>
            </a:pPr>
            <a:r>
              <a:rPr lang="en-US" sz="1528" b="1" dirty="0">
                <a:solidFill>
                  <a:srgbClr val="B38B59"/>
                </a:solidFill>
                <a:latin typeface="MiSans" pitchFamily="34" charset="0"/>
                <a:ea typeface="MiSans" pitchFamily="34" charset="-122"/>
                <a:cs typeface="MiSans" pitchFamily="34" charset="-120"/>
              </a:rPr>
              <a:t>企业在数字化转型中面临的关键决策与权衡考量</a:t>
            </a:r>
            <a:endParaRPr lang="en-US" sz="1600" dirty="0"/>
          </a:p>
        </p:txBody>
      </p:sp>
      <p:sp>
        <p:nvSpPr>
          <p:cNvPr id="6" name="Shape 4"/>
          <p:cNvSpPr/>
          <p:nvPr/>
        </p:nvSpPr>
        <p:spPr>
          <a:xfrm>
            <a:off x="436584" y="1514568"/>
            <a:ext cx="7556668" cy="5309071"/>
          </a:xfrm>
          <a:custGeom>
            <a:avLst/>
            <a:gdLst/>
            <a:ahLst/>
            <a:cxnLst/>
            <a:rect l="l" t="t" r="r" b="b"/>
            <a:pathLst>
              <a:path w="7556668" h="8311257">
                <a:moveTo>
                  <a:pt x="86222" y="0"/>
                </a:moveTo>
                <a:lnTo>
                  <a:pt x="7470447" y="0"/>
                </a:lnTo>
                <a:cubicBezTo>
                  <a:pt x="7518066" y="0"/>
                  <a:pt x="7556668" y="38603"/>
                  <a:pt x="7556668" y="86222"/>
                </a:cubicBezTo>
                <a:lnTo>
                  <a:pt x="7556668" y="8225036"/>
                </a:lnTo>
                <a:cubicBezTo>
                  <a:pt x="7556668" y="8272655"/>
                  <a:pt x="7518066" y="8311257"/>
                  <a:pt x="7470447" y="8311257"/>
                </a:cubicBezTo>
                <a:lnTo>
                  <a:pt x="86222" y="8311257"/>
                </a:lnTo>
                <a:cubicBezTo>
                  <a:pt x="38603" y="8311257"/>
                  <a:pt x="0" y="8272655"/>
                  <a:pt x="0" y="8225036"/>
                </a:cubicBezTo>
                <a:lnTo>
                  <a:pt x="0" y="86222"/>
                </a:lnTo>
                <a:cubicBezTo>
                  <a:pt x="0" y="38603"/>
                  <a:pt x="38603" y="0"/>
                  <a:pt x="86222"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57570" y="1778674"/>
            <a:ext cx="323395" cy="258716"/>
          </a:xfrm>
          <a:custGeom>
            <a:avLst/>
            <a:gdLst/>
            <a:ahLst/>
            <a:cxnLst/>
            <a:rect l="l" t="t" r="r" b="b"/>
            <a:pathLst>
              <a:path w="323395" h="258716">
                <a:moveTo>
                  <a:pt x="194037" y="16170"/>
                </a:moveTo>
                <a:lnTo>
                  <a:pt x="258716" y="16170"/>
                </a:lnTo>
                <a:cubicBezTo>
                  <a:pt x="267660" y="16170"/>
                  <a:pt x="274886" y="23396"/>
                  <a:pt x="274886" y="32340"/>
                </a:cubicBezTo>
                <a:cubicBezTo>
                  <a:pt x="274886" y="41283"/>
                  <a:pt x="267660" y="48509"/>
                  <a:pt x="258716" y="48509"/>
                </a:cubicBezTo>
                <a:lnTo>
                  <a:pt x="201314" y="48509"/>
                </a:lnTo>
                <a:cubicBezTo>
                  <a:pt x="198686" y="61546"/>
                  <a:pt x="189742" y="72309"/>
                  <a:pt x="177867" y="77463"/>
                </a:cubicBezTo>
                <a:lnTo>
                  <a:pt x="177867" y="226377"/>
                </a:lnTo>
                <a:lnTo>
                  <a:pt x="258716" y="226377"/>
                </a:lnTo>
                <a:cubicBezTo>
                  <a:pt x="267660" y="226377"/>
                  <a:pt x="274886" y="233603"/>
                  <a:pt x="274886" y="242546"/>
                </a:cubicBezTo>
                <a:cubicBezTo>
                  <a:pt x="274886" y="251490"/>
                  <a:pt x="267660" y="258716"/>
                  <a:pt x="258716" y="258716"/>
                </a:cubicBezTo>
                <a:lnTo>
                  <a:pt x="64679" y="258716"/>
                </a:lnTo>
                <a:cubicBezTo>
                  <a:pt x="55735" y="258716"/>
                  <a:pt x="48509" y="251490"/>
                  <a:pt x="48509" y="242546"/>
                </a:cubicBezTo>
                <a:cubicBezTo>
                  <a:pt x="48509" y="233603"/>
                  <a:pt x="55735" y="226377"/>
                  <a:pt x="64679" y="226377"/>
                </a:cubicBezTo>
                <a:lnTo>
                  <a:pt x="145528" y="226377"/>
                </a:lnTo>
                <a:lnTo>
                  <a:pt x="145528" y="77463"/>
                </a:lnTo>
                <a:cubicBezTo>
                  <a:pt x="133653" y="72259"/>
                  <a:pt x="124709" y="61496"/>
                  <a:pt x="122082" y="48509"/>
                </a:cubicBezTo>
                <a:lnTo>
                  <a:pt x="64679" y="48509"/>
                </a:lnTo>
                <a:cubicBezTo>
                  <a:pt x="55735" y="48509"/>
                  <a:pt x="48509" y="41283"/>
                  <a:pt x="48509" y="32340"/>
                </a:cubicBezTo>
                <a:cubicBezTo>
                  <a:pt x="48509" y="23396"/>
                  <a:pt x="55735" y="16170"/>
                  <a:pt x="64679" y="16170"/>
                </a:cubicBezTo>
                <a:lnTo>
                  <a:pt x="129358" y="16170"/>
                </a:lnTo>
                <a:cubicBezTo>
                  <a:pt x="136736" y="6367"/>
                  <a:pt x="148459" y="0"/>
                  <a:pt x="161698" y="0"/>
                </a:cubicBezTo>
                <a:cubicBezTo>
                  <a:pt x="174937" y="0"/>
                  <a:pt x="186660" y="6367"/>
                  <a:pt x="194037" y="16170"/>
                </a:cubicBezTo>
                <a:close/>
                <a:moveTo>
                  <a:pt x="222132" y="161698"/>
                </a:moveTo>
                <a:lnTo>
                  <a:pt x="295300" y="161698"/>
                </a:lnTo>
                <a:lnTo>
                  <a:pt x="258716" y="98939"/>
                </a:lnTo>
                <a:lnTo>
                  <a:pt x="222132" y="161698"/>
                </a:lnTo>
                <a:close/>
                <a:moveTo>
                  <a:pt x="258716" y="210207"/>
                </a:moveTo>
                <a:cubicBezTo>
                  <a:pt x="226932" y="210207"/>
                  <a:pt x="200505" y="193027"/>
                  <a:pt x="195048" y="170338"/>
                </a:cubicBezTo>
                <a:cubicBezTo>
                  <a:pt x="193734" y="164780"/>
                  <a:pt x="195553" y="159070"/>
                  <a:pt x="198433" y="154118"/>
                </a:cubicBezTo>
                <a:lnTo>
                  <a:pt x="246538" y="71652"/>
                </a:lnTo>
                <a:cubicBezTo>
                  <a:pt x="249065" y="67307"/>
                  <a:pt x="253714" y="64679"/>
                  <a:pt x="258716" y="64679"/>
                </a:cubicBezTo>
                <a:cubicBezTo>
                  <a:pt x="263719" y="64679"/>
                  <a:pt x="268368" y="67357"/>
                  <a:pt x="270894" y="71652"/>
                </a:cubicBezTo>
                <a:lnTo>
                  <a:pt x="318999" y="154118"/>
                </a:lnTo>
                <a:cubicBezTo>
                  <a:pt x="321879" y="159070"/>
                  <a:pt x="323698" y="164780"/>
                  <a:pt x="322385" y="170338"/>
                </a:cubicBezTo>
                <a:cubicBezTo>
                  <a:pt x="316927" y="192976"/>
                  <a:pt x="290500" y="210207"/>
                  <a:pt x="258716" y="210207"/>
                </a:cubicBezTo>
                <a:close/>
                <a:moveTo>
                  <a:pt x="64073" y="98939"/>
                </a:moveTo>
                <a:lnTo>
                  <a:pt x="27489" y="161698"/>
                </a:lnTo>
                <a:lnTo>
                  <a:pt x="100707" y="161698"/>
                </a:lnTo>
                <a:lnTo>
                  <a:pt x="64073" y="98939"/>
                </a:lnTo>
                <a:close/>
                <a:moveTo>
                  <a:pt x="455" y="170338"/>
                </a:moveTo>
                <a:cubicBezTo>
                  <a:pt x="-859" y="164780"/>
                  <a:pt x="960" y="159070"/>
                  <a:pt x="3840" y="154118"/>
                </a:cubicBezTo>
                <a:lnTo>
                  <a:pt x="51945" y="71652"/>
                </a:lnTo>
                <a:cubicBezTo>
                  <a:pt x="54472" y="67307"/>
                  <a:pt x="59121" y="64679"/>
                  <a:pt x="64123" y="64679"/>
                </a:cubicBezTo>
                <a:cubicBezTo>
                  <a:pt x="69126" y="64679"/>
                  <a:pt x="73775" y="67357"/>
                  <a:pt x="76301" y="71652"/>
                </a:cubicBezTo>
                <a:lnTo>
                  <a:pt x="124406" y="154118"/>
                </a:lnTo>
                <a:cubicBezTo>
                  <a:pt x="127286" y="159070"/>
                  <a:pt x="129105" y="164780"/>
                  <a:pt x="127792" y="170338"/>
                </a:cubicBezTo>
                <a:cubicBezTo>
                  <a:pt x="122334" y="192976"/>
                  <a:pt x="95907" y="210207"/>
                  <a:pt x="64123" y="210207"/>
                </a:cubicBezTo>
                <a:cubicBezTo>
                  <a:pt x="32340" y="210207"/>
                  <a:pt x="5912" y="193027"/>
                  <a:pt x="455" y="170338"/>
                </a:cubicBezTo>
                <a:close/>
              </a:path>
            </a:pathLst>
          </a:custGeom>
          <a:solidFill>
            <a:srgbClr val="B38B59"/>
          </a:solidFill>
          <a:ln/>
        </p:spPr>
        <p:txBody>
          <a:bodyPr/>
          <a:lstStyle/>
          <a:p>
            <a:endParaRPr lang="zh-CN" altLang="en-US"/>
          </a:p>
        </p:txBody>
      </p:sp>
      <p:sp>
        <p:nvSpPr>
          <p:cNvPr id="8" name="Text 6"/>
          <p:cNvSpPr/>
          <p:nvPr/>
        </p:nvSpPr>
        <p:spPr>
          <a:xfrm>
            <a:off x="980966" y="1735554"/>
            <a:ext cx="6920658" cy="344955"/>
          </a:xfrm>
          <a:prstGeom prst="rect">
            <a:avLst/>
          </a:prstGeom>
          <a:noFill/>
          <a:ln/>
        </p:spPr>
        <p:txBody>
          <a:bodyPr wrap="square" lIns="0" tIns="0" rIns="0" bIns="0" rtlCol="0" anchor="ctr"/>
          <a:lstStyle/>
          <a:p>
            <a:pPr>
              <a:lnSpc>
                <a:spcPct val="110000"/>
              </a:lnSpc>
            </a:pPr>
            <a:r>
              <a:rPr lang="en-US" sz="2037" b="1" dirty="0">
                <a:solidFill>
                  <a:srgbClr val="E0E2E4"/>
                </a:solidFill>
                <a:latin typeface="MiSans" pitchFamily="34" charset="0"/>
                <a:ea typeface="MiSans" pitchFamily="34" charset="-122"/>
                <a:cs typeface="MiSans" pitchFamily="34" charset="-120"/>
              </a:rPr>
              <a:t>企业技术选型的核心挑战</a:t>
            </a:r>
            <a:endParaRPr lang="en-US" sz="1600" dirty="0"/>
          </a:p>
        </p:txBody>
      </p:sp>
      <p:sp>
        <p:nvSpPr>
          <p:cNvPr id="9" name="Text 7"/>
          <p:cNvSpPr/>
          <p:nvPr/>
        </p:nvSpPr>
        <p:spPr>
          <a:xfrm>
            <a:off x="657570" y="2252987"/>
            <a:ext cx="7211714" cy="301836"/>
          </a:xfrm>
          <a:prstGeom prst="rect">
            <a:avLst/>
          </a:prstGeom>
          <a:noFill/>
          <a:ln/>
        </p:spPr>
        <p:txBody>
          <a:bodyPr wrap="square" lIns="0" tIns="0" rIns="0" bIns="0" rtlCol="0" anchor="ctr"/>
          <a:lstStyle/>
          <a:p>
            <a:pPr>
              <a:lnSpc>
                <a:spcPct val="130000"/>
              </a:lnSpc>
            </a:pPr>
            <a:r>
              <a:rPr lang="en-US" sz="1528" b="1" dirty="0">
                <a:solidFill>
                  <a:srgbClr val="E0E2E4"/>
                </a:solidFill>
                <a:latin typeface="MiSans" pitchFamily="34" charset="0"/>
                <a:ea typeface="MiSans" pitchFamily="34" charset="-122"/>
                <a:cs typeface="MiSans" pitchFamily="34" charset="-120"/>
              </a:rPr>
              <a:t>既有投资保护</a:t>
            </a:r>
            <a:endParaRPr lang="en-US" sz="1600" dirty="0"/>
          </a:p>
        </p:txBody>
      </p:sp>
      <p:sp>
        <p:nvSpPr>
          <p:cNvPr id="10" name="Text 8"/>
          <p:cNvSpPr/>
          <p:nvPr/>
        </p:nvSpPr>
        <p:spPr>
          <a:xfrm>
            <a:off x="657570" y="2641061"/>
            <a:ext cx="7200934" cy="560552"/>
          </a:xfrm>
          <a:prstGeom prst="rect">
            <a:avLst/>
          </a:prstGeom>
          <a:noFill/>
          <a:ln/>
        </p:spPr>
        <p:txBody>
          <a:bodyPr wrap="square" lIns="0" tIns="0" rIns="0" bIns="0" rtlCol="0" anchor="ctr"/>
          <a:lstStyle/>
          <a:p>
            <a:pPr>
              <a:lnSpc>
                <a:spcPct val="140000"/>
              </a:lnSpc>
            </a:pPr>
            <a:r>
              <a:rPr lang="en-US" sz="1358" dirty="0">
                <a:solidFill>
                  <a:srgbClr val="E0E2E4">
                    <a:alpha val="80000"/>
                  </a:srgbClr>
                </a:solidFill>
                <a:latin typeface="MiSans" pitchFamily="34" charset="0"/>
                <a:ea typeface="MiSans" pitchFamily="34" charset="-122"/>
                <a:cs typeface="MiSans" pitchFamily="34" charset="-120"/>
              </a:rPr>
              <a:t>如何在保护现有Hadoop生态投资的同时拥抱云原生技术?企业已在Hadoop集群、数据仓库、运维团队等方面投入大量资源,全面迁移意味着巨大的成本和风险。</a:t>
            </a:r>
            <a:endParaRPr lang="en-US" sz="1600" dirty="0"/>
          </a:p>
        </p:txBody>
      </p:sp>
      <p:sp>
        <p:nvSpPr>
          <p:cNvPr id="11" name="Text 9"/>
          <p:cNvSpPr/>
          <p:nvPr/>
        </p:nvSpPr>
        <p:spPr>
          <a:xfrm>
            <a:off x="657570" y="3374090"/>
            <a:ext cx="7211714" cy="301836"/>
          </a:xfrm>
          <a:prstGeom prst="rect">
            <a:avLst/>
          </a:prstGeom>
          <a:noFill/>
          <a:ln/>
        </p:spPr>
        <p:txBody>
          <a:bodyPr wrap="square" lIns="0" tIns="0" rIns="0" bIns="0" rtlCol="0" anchor="ctr"/>
          <a:lstStyle/>
          <a:p>
            <a:pPr>
              <a:lnSpc>
                <a:spcPct val="130000"/>
              </a:lnSpc>
            </a:pPr>
            <a:r>
              <a:rPr lang="en-US" sz="1528" b="1" dirty="0">
                <a:solidFill>
                  <a:srgbClr val="E0E2E4"/>
                </a:solidFill>
                <a:latin typeface="MiSans" pitchFamily="34" charset="0"/>
                <a:ea typeface="MiSans" pitchFamily="34" charset="-122"/>
                <a:cs typeface="MiSans" pitchFamily="34" charset="-120"/>
              </a:rPr>
              <a:t>性能与灵活性的权衡</a:t>
            </a:r>
            <a:endParaRPr lang="en-US" sz="1600" dirty="0"/>
          </a:p>
        </p:txBody>
      </p:sp>
      <p:sp>
        <p:nvSpPr>
          <p:cNvPr id="12" name="Text 10"/>
          <p:cNvSpPr/>
          <p:nvPr/>
        </p:nvSpPr>
        <p:spPr>
          <a:xfrm>
            <a:off x="657570" y="3762164"/>
            <a:ext cx="7200934" cy="560552"/>
          </a:xfrm>
          <a:prstGeom prst="rect">
            <a:avLst/>
          </a:prstGeom>
          <a:noFill/>
          <a:ln/>
        </p:spPr>
        <p:txBody>
          <a:bodyPr wrap="square" lIns="0" tIns="0" rIns="0" bIns="0" rtlCol="0" anchor="ctr"/>
          <a:lstStyle/>
          <a:p>
            <a:pPr>
              <a:lnSpc>
                <a:spcPct val="140000"/>
              </a:lnSpc>
            </a:pPr>
            <a:r>
              <a:rPr lang="en-US" sz="1358" dirty="0">
                <a:solidFill>
                  <a:srgbClr val="E0E2E4">
                    <a:alpha val="80000"/>
                  </a:srgbClr>
                </a:solidFill>
                <a:latin typeface="MiSans" pitchFamily="34" charset="0"/>
                <a:ea typeface="MiSans" pitchFamily="34" charset="-122"/>
                <a:cs typeface="MiSans" pitchFamily="34" charset="-120"/>
              </a:rPr>
              <a:t>YARN在大数据场景下具有明显性能优势,特别是在数据本地性优化和批处理作业方面。Kubernetes则提供更强的通用性和更丰富的生态系统。</a:t>
            </a:r>
            <a:endParaRPr lang="en-US" sz="1600" dirty="0"/>
          </a:p>
        </p:txBody>
      </p:sp>
      <p:sp>
        <p:nvSpPr>
          <p:cNvPr id="13" name="Text 11"/>
          <p:cNvSpPr/>
          <p:nvPr/>
        </p:nvSpPr>
        <p:spPr>
          <a:xfrm>
            <a:off x="657570" y="4495194"/>
            <a:ext cx="7211714" cy="301836"/>
          </a:xfrm>
          <a:prstGeom prst="rect">
            <a:avLst/>
          </a:prstGeom>
          <a:noFill/>
          <a:ln/>
        </p:spPr>
        <p:txBody>
          <a:bodyPr wrap="square" lIns="0" tIns="0" rIns="0" bIns="0" rtlCol="0" anchor="ctr"/>
          <a:lstStyle/>
          <a:p>
            <a:pPr>
              <a:lnSpc>
                <a:spcPct val="130000"/>
              </a:lnSpc>
            </a:pPr>
            <a:r>
              <a:rPr lang="en-US" sz="1528" b="1" dirty="0">
                <a:solidFill>
                  <a:srgbClr val="E0E2E4"/>
                </a:solidFill>
                <a:latin typeface="MiSans" pitchFamily="34" charset="0"/>
                <a:ea typeface="MiSans" pitchFamily="34" charset="-122"/>
                <a:cs typeface="MiSans" pitchFamily="34" charset="-120"/>
              </a:rPr>
              <a:t>运维复杂度考量</a:t>
            </a:r>
            <a:endParaRPr lang="en-US" sz="1600" dirty="0"/>
          </a:p>
        </p:txBody>
      </p:sp>
      <p:sp>
        <p:nvSpPr>
          <p:cNvPr id="14" name="Text 12"/>
          <p:cNvSpPr/>
          <p:nvPr/>
        </p:nvSpPr>
        <p:spPr>
          <a:xfrm>
            <a:off x="657570" y="4883268"/>
            <a:ext cx="7200934" cy="560552"/>
          </a:xfrm>
          <a:prstGeom prst="rect">
            <a:avLst/>
          </a:prstGeom>
          <a:noFill/>
          <a:ln/>
        </p:spPr>
        <p:txBody>
          <a:bodyPr wrap="square" lIns="0" tIns="0" rIns="0" bIns="0" rtlCol="0" anchor="ctr"/>
          <a:lstStyle/>
          <a:p>
            <a:pPr>
              <a:lnSpc>
                <a:spcPct val="140000"/>
              </a:lnSpc>
            </a:pPr>
            <a:r>
              <a:rPr lang="en-US" sz="1358" dirty="0">
                <a:solidFill>
                  <a:srgbClr val="E0E2E4">
                    <a:alpha val="80000"/>
                  </a:srgbClr>
                </a:solidFill>
                <a:latin typeface="MiSans" pitchFamily="34" charset="0"/>
                <a:ea typeface="MiSans" pitchFamily="34" charset="-122"/>
                <a:cs typeface="MiSans" pitchFamily="34" charset="-120"/>
              </a:rPr>
              <a:t>两种技术栈在学习成本、运维难度、人才储备要求方面存在显著差异。企业需要评估现有团队的技术能力和培训成本。</a:t>
            </a:r>
            <a:endParaRPr lang="en-US" sz="1600" dirty="0"/>
          </a:p>
        </p:txBody>
      </p:sp>
      <p:sp>
        <p:nvSpPr>
          <p:cNvPr id="15" name="Text 13"/>
          <p:cNvSpPr/>
          <p:nvPr/>
        </p:nvSpPr>
        <p:spPr>
          <a:xfrm>
            <a:off x="657570" y="5616297"/>
            <a:ext cx="7211714" cy="301836"/>
          </a:xfrm>
          <a:prstGeom prst="rect">
            <a:avLst/>
          </a:prstGeom>
          <a:noFill/>
          <a:ln/>
        </p:spPr>
        <p:txBody>
          <a:bodyPr wrap="square" lIns="0" tIns="0" rIns="0" bIns="0" rtlCol="0" anchor="ctr"/>
          <a:lstStyle/>
          <a:p>
            <a:pPr>
              <a:lnSpc>
                <a:spcPct val="130000"/>
              </a:lnSpc>
            </a:pPr>
            <a:r>
              <a:rPr lang="en-US" sz="1528" b="1" dirty="0">
                <a:solidFill>
                  <a:srgbClr val="E0E2E4"/>
                </a:solidFill>
                <a:latin typeface="MiSans" pitchFamily="34" charset="0"/>
                <a:ea typeface="MiSans" pitchFamily="34" charset="-122"/>
                <a:cs typeface="MiSans" pitchFamily="34" charset="-120"/>
              </a:rPr>
              <a:t>未来技术趋势把握</a:t>
            </a:r>
            <a:endParaRPr lang="en-US" sz="1600" dirty="0"/>
          </a:p>
        </p:txBody>
      </p:sp>
      <p:sp>
        <p:nvSpPr>
          <p:cNvPr id="16" name="Text 14"/>
          <p:cNvSpPr/>
          <p:nvPr/>
        </p:nvSpPr>
        <p:spPr>
          <a:xfrm>
            <a:off x="657570" y="6004371"/>
            <a:ext cx="7200934" cy="560552"/>
          </a:xfrm>
          <a:prstGeom prst="rect">
            <a:avLst/>
          </a:prstGeom>
          <a:noFill/>
          <a:ln/>
        </p:spPr>
        <p:txBody>
          <a:bodyPr wrap="square" lIns="0" tIns="0" rIns="0" bIns="0" rtlCol="0" anchor="ctr"/>
          <a:lstStyle/>
          <a:p>
            <a:pPr>
              <a:lnSpc>
                <a:spcPct val="140000"/>
              </a:lnSpc>
            </a:pPr>
            <a:r>
              <a:rPr lang="en-US" sz="1358" dirty="0">
                <a:solidFill>
                  <a:srgbClr val="E0E2E4">
                    <a:alpha val="80000"/>
                  </a:srgbClr>
                </a:solidFill>
                <a:latin typeface="MiSans" pitchFamily="34" charset="0"/>
                <a:ea typeface="MiSans" pitchFamily="34" charset="-122"/>
                <a:cs typeface="MiSans" pitchFamily="34" charset="-120"/>
              </a:rPr>
              <a:t>在技术快速演进的环境中,如何做出前瞻性的架构决策,避免技术路线错误导致的重构成本,是企业面临的重大挑战。</a:t>
            </a:r>
            <a:endParaRPr lang="en-US" sz="1600" dirty="0"/>
          </a:p>
        </p:txBody>
      </p:sp>
      <p:sp>
        <p:nvSpPr>
          <p:cNvPr id="17" name="Shape 15"/>
          <p:cNvSpPr/>
          <p:nvPr/>
        </p:nvSpPr>
        <p:spPr>
          <a:xfrm>
            <a:off x="8260306" y="1514568"/>
            <a:ext cx="7556668" cy="2554822"/>
          </a:xfrm>
          <a:custGeom>
            <a:avLst/>
            <a:gdLst/>
            <a:ahLst/>
            <a:cxnLst/>
            <a:rect l="l" t="t" r="r" b="b"/>
            <a:pathLst>
              <a:path w="7556668" h="2554822">
                <a:moveTo>
                  <a:pt x="86251" y="0"/>
                </a:moveTo>
                <a:lnTo>
                  <a:pt x="7470418" y="0"/>
                </a:lnTo>
                <a:cubicBezTo>
                  <a:pt x="7518053" y="0"/>
                  <a:pt x="7556668" y="38616"/>
                  <a:pt x="7556668" y="86251"/>
                </a:cubicBezTo>
                <a:lnTo>
                  <a:pt x="7556668" y="2468571"/>
                </a:lnTo>
                <a:cubicBezTo>
                  <a:pt x="7556668" y="2516206"/>
                  <a:pt x="7518053" y="2554822"/>
                  <a:pt x="7470418" y="2554822"/>
                </a:cubicBezTo>
                <a:lnTo>
                  <a:pt x="86251" y="2554822"/>
                </a:lnTo>
                <a:cubicBezTo>
                  <a:pt x="38616" y="2554822"/>
                  <a:pt x="0" y="2516206"/>
                  <a:pt x="0" y="2468571"/>
                </a:cubicBezTo>
                <a:lnTo>
                  <a:pt x="0" y="86251"/>
                </a:lnTo>
                <a:cubicBezTo>
                  <a:pt x="0" y="38648"/>
                  <a:pt x="38648" y="0"/>
                  <a:pt x="86251"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18" name="Shape 16"/>
          <p:cNvSpPr/>
          <p:nvPr/>
        </p:nvSpPr>
        <p:spPr>
          <a:xfrm>
            <a:off x="8508242" y="1778674"/>
            <a:ext cx="215597" cy="215597"/>
          </a:xfrm>
          <a:custGeom>
            <a:avLst/>
            <a:gdLst/>
            <a:ahLst/>
            <a:cxnLst/>
            <a:rect l="l" t="t" r="r" b="b"/>
            <a:pathLst>
              <a:path w="215597" h="215597">
                <a:moveTo>
                  <a:pt x="107798" y="0"/>
                </a:moveTo>
                <a:cubicBezTo>
                  <a:pt x="109735" y="0"/>
                  <a:pt x="111672" y="421"/>
                  <a:pt x="113441" y="1221"/>
                </a:cubicBezTo>
                <a:lnTo>
                  <a:pt x="192774" y="34866"/>
                </a:lnTo>
                <a:cubicBezTo>
                  <a:pt x="202038" y="38782"/>
                  <a:pt x="208944" y="47920"/>
                  <a:pt x="208902" y="58952"/>
                </a:cubicBezTo>
                <a:cubicBezTo>
                  <a:pt x="208691" y="100724"/>
                  <a:pt x="191511" y="177152"/>
                  <a:pt x="118957" y="211891"/>
                </a:cubicBezTo>
                <a:cubicBezTo>
                  <a:pt x="111925" y="215260"/>
                  <a:pt x="103756" y="215260"/>
                  <a:pt x="96724" y="211891"/>
                </a:cubicBezTo>
                <a:cubicBezTo>
                  <a:pt x="24128" y="177152"/>
                  <a:pt x="6990" y="100724"/>
                  <a:pt x="6780" y="58952"/>
                </a:cubicBezTo>
                <a:cubicBezTo>
                  <a:pt x="6737" y="47920"/>
                  <a:pt x="13643" y="38782"/>
                  <a:pt x="22907" y="34866"/>
                </a:cubicBezTo>
                <a:lnTo>
                  <a:pt x="102198" y="1221"/>
                </a:lnTo>
                <a:cubicBezTo>
                  <a:pt x="103967" y="421"/>
                  <a:pt x="105861" y="0"/>
                  <a:pt x="107798" y="0"/>
                </a:cubicBezTo>
                <a:close/>
                <a:moveTo>
                  <a:pt x="107798" y="28129"/>
                </a:moveTo>
                <a:lnTo>
                  <a:pt x="107798" y="187342"/>
                </a:lnTo>
                <a:cubicBezTo>
                  <a:pt x="165908" y="159213"/>
                  <a:pt x="181531" y="96892"/>
                  <a:pt x="181910" y="59584"/>
                </a:cubicBezTo>
                <a:lnTo>
                  <a:pt x="107798" y="28171"/>
                </a:lnTo>
                <a:lnTo>
                  <a:pt x="107798" y="28171"/>
                </a:lnTo>
                <a:close/>
              </a:path>
            </a:pathLst>
          </a:custGeom>
          <a:solidFill>
            <a:srgbClr val="3C8082"/>
          </a:solidFill>
          <a:ln/>
        </p:spPr>
        <p:txBody>
          <a:bodyPr/>
          <a:lstStyle/>
          <a:p>
            <a:endParaRPr lang="zh-CN" altLang="en-US"/>
          </a:p>
        </p:txBody>
      </p:sp>
      <p:sp>
        <p:nvSpPr>
          <p:cNvPr id="19" name="Text 17"/>
          <p:cNvSpPr/>
          <p:nvPr/>
        </p:nvSpPr>
        <p:spPr>
          <a:xfrm>
            <a:off x="8750788" y="1735554"/>
            <a:ext cx="6952997" cy="301836"/>
          </a:xfrm>
          <a:prstGeom prst="rect">
            <a:avLst/>
          </a:prstGeom>
          <a:noFill/>
          <a:ln/>
        </p:spPr>
        <p:txBody>
          <a:bodyPr wrap="square" lIns="0" tIns="0" rIns="0" bIns="0" rtlCol="0" anchor="ctr"/>
          <a:lstStyle/>
          <a:p>
            <a:pPr>
              <a:lnSpc>
                <a:spcPct val="120000"/>
              </a:lnSpc>
            </a:pPr>
            <a:r>
              <a:rPr lang="en-US" sz="1698" b="1" dirty="0">
                <a:solidFill>
                  <a:srgbClr val="E0E2E4"/>
                </a:solidFill>
                <a:latin typeface="MiSans" pitchFamily="34" charset="0"/>
                <a:ea typeface="MiSans" pitchFamily="34" charset="-122"/>
                <a:cs typeface="MiSans" pitchFamily="34" charset="-120"/>
              </a:rPr>
              <a:t>深入理解底层原理的价值</a:t>
            </a:r>
            <a:endParaRPr lang="en-US" sz="1600" dirty="0"/>
          </a:p>
        </p:txBody>
      </p:sp>
      <p:sp>
        <p:nvSpPr>
          <p:cNvPr id="20" name="Shape 18"/>
          <p:cNvSpPr/>
          <p:nvPr/>
        </p:nvSpPr>
        <p:spPr>
          <a:xfrm>
            <a:off x="8481292" y="2166748"/>
            <a:ext cx="3492668" cy="776149"/>
          </a:xfrm>
          <a:custGeom>
            <a:avLst/>
            <a:gdLst/>
            <a:ahLst/>
            <a:cxnLst/>
            <a:rect l="l" t="t" r="r" b="b"/>
            <a:pathLst>
              <a:path w="3492668" h="776149">
                <a:moveTo>
                  <a:pt x="86238" y="0"/>
                </a:moveTo>
                <a:lnTo>
                  <a:pt x="3406431" y="0"/>
                </a:lnTo>
                <a:cubicBezTo>
                  <a:pt x="3454058" y="0"/>
                  <a:pt x="3492668" y="38610"/>
                  <a:pt x="3492668" y="86238"/>
                </a:cubicBezTo>
                <a:lnTo>
                  <a:pt x="3492668" y="689911"/>
                </a:lnTo>
                <a:cubicBezTo>
                  <a:pt x="3492668" y="737539"/>
                  <a:pt x="3454058" y="776149"/>
                  <a:pt x="3406431" y="776149"/>
                </a:cubicBezTo>
                <a:lnTo>
                  <a:pt x="86238" y="776149"/>
                </a:lnTo>
                <a:cubicBezTo>
                  <a:pt x="38610" y="776149"/>
                  <a:pt x="0" y="737539"/>
                  <a:pt x="0" y="689911"/>
                </a:cubicBezTo>
                <a:lnTo>
                  <a:pt x="0" y="86238"/>
                </a:lnTo>
                <a:cubicBezTo>
                  <a:pt x="0" y="38642"/>
                  <a:pt x="38642" y="0"/>
                  <a:pt x="86238" y="0"/>
                </a:cubicBezTo>
                <a:close/>
              </a:path>
            </a:pathLst>
          </a:custGeom>
          <a:solidFill>
            <a:srgbClr val="1A1D21">
              <a:alpha val="50196"/>
            </a:srgbClr>
          </a:solidFill>
          <a:ln/>
        </p:spPr>
        <p:txBody>
          <a:bodyPr/>
          <a:lstStyle/>
          <a:p>
            <a:endParaRPr lang="zh-CN" altLang="en-US"/>
          </a:p>
        </p:txBody>
      </p:sp>
      <p:sp>
        <p:nvSpPr>
          <p:cNvPr id="21" name="Text 19"/>
          <p:cNvSpPr/>
          <p:nvPr/>
        </p:nvSpPr>
        <p:spPr>
          <a:xfrm>
            <a:off x="8610651" y="2296106"/>
            <a:ext cx="3320191" cy="258716"/>
          </a:xfrm>
          <a:prstGeom prst="rect">
            <a:avLst/>
          </a:prstGeom>
          <a:noFill/>
          <a:ln/>
        </p:spPr>
        <p:txBody>
          <a:bodyPr wrap="square" lIns="0" tIns="0" rIns="0" bIns="0" rtlCol="0" anchor="ctr"/>
          <a:lstStyle/>
          <a:p>
            <a:pPr>
              <a:lnSpc>
                <a:spcPct val="130000"/>
              </a:lnSpc>
            </a:pPr>
            <a:r>
              <a:rPr lang="en-US" sz="1358" b="1" dirty="0">
                <a:solidFill>
                  <a:srgbClr val="E0E2E4"/>
                </a:solidFill>
                <a:latin typeface="MiSans" pitchFamily="34" charset="0"/>
                <a:ea typeface="MiSans" pitchFamily="34" charset="-122"/>
                <a:cs typeface="MiSans" pitchFamily="34" charset="-120"/>
              </a:rPr>
              <a:t>性能调优</a:t>
            </a:r>
            <a:endParaRPr lang="en-US" sz="1600" dirty="0"/>
          </a:p>
        </p:txBody>
      </p:sp>
      <p:sp>
        <p:nvSpPr>
          <p:cNvPr id="22" name="Text 20"/>
          <p:cNvSpPr/>
          <p:nvPr/>
        </p:nvSpPr>
        <p:spPr>
          <a:xfrm>
            <a:off x="8610651" y="2597942"/>
            <a:ext cx="3309411" cy="215597"/>
          </a:xfrm>
          <a:prstGeom prst="rect">
            <a:avLst/>
          </a:prstGeom>
          <a:noFill/>
          <a:ln/>
        </p:spPr>
        <p:txBody>
          <a:bodyPr wrap="square" lIns="0" tIns="0" rIns="0" bIns="0" rtlCol="0" anchor="ctr"/>
          <a:lstStyle/>
          <a:p>
            <a:pPr>
              <a:lnSpc>
                <a:spcPct val="120000"/>
              </a:lnSpc>
            </a:pPr>
            <a:r>
              <a:rPr lang="en-US" sz="1188" dirty="0">
                <a:solidFill>
                  <a:srgbClr val="E0E2E4">
                    <a:alpha val="70000"/>
                  </a:srgbClr>
                </a:solidFill>
                <a:latin typeface="MiSans" pitchFamily="34" charset="0"/>
                <a:ea typeface="MiSans" pitchFamily="34" charset="-122"/>
                <a:cs typeface="MiSans" pitchFamily="34" charset="-120"/>
              </a:rPr>
              <a:t>掌握隔离机制工作原理,进行针对性性能优化</a:t>
            </a:r>
            <a:endParaRPr lang="en-US" sz="1600" dirty="0"/>
          </a:p>
        </p:txBody>
      </p:sp>
      <p:sp>
        <p:nvSpPr>
          <p:cNvPr id="23" name="Shape 21"/>
          <p:cNvSpPr/>
          <p:nvPr/>
        </p:nvSpPr>
        <p:spPr>
          <a:xfrm>
            <a:off x="12102140" y="2166748"/>
            <a:ext cx="3492668" cy="776149"/>
          </a:xfrm>
          <a:custGeom>
            <a:avLst/>
            <a:gdLst/>
            <a:ahLst/>
            <a:cxnLst/>
            <a:rect l="l" t="t" r="r" b="b"/>
            <a:pathLst>
              <a:path w="3492668" h="776149">
                <a:moveTo>
                  <a:pt x="86238" y="0"/>
                </a:moveTo>
                <a:lnTo>
                  <a:pt x="3406431" y="0"/>
                </a:lnTo>
                <a:cubicBezTo>
                  <a:pt x="3454058" y="0"/>
                  <a:pt x="3492668" y="38610"/>
                  <a:pt x="3492668" y="86238"/>
                </a:cubicBezTo>
                <a:lnTo>
                  <a:pt x="3492668" y="689911"/>
                </a:lnTo>
                <a:cubicBezTo>
                  <a:pt x="3492668" y="737539"/>
                  <a:pt x="3454058" y="776149"/>
                  <a:pt x="3406431" y="776149"/>
                </a:cubicBezTo>
                <a:lnTo>
                  <a:pt x="86238" y="776149"/>
                </a:lnTo>
                <a:cubicBezTo>
                  <a:pt x="38610" y="776149"/>
                  <a:pt x="0" y="737539"/>
                  <a:pt x="0" y="689911"/>
                </a:cubicBezTo>
                <a:lnTo>
                  <a:pt x="0" y="86238"/>
                </a:lnTo>
                <a:cubicBezTo>
                  <a:pt x="0" y="38642"/>
                  <a:pt x="38642" y="0"/>
                  <a:pt x="86238" y="0"/>
                </a:cubicBezTo>
                <a:close/>
              </a:path>
            </a:pathLst>
          </a:custGeom>
          <a:solidFill>
            <a:srgbClr val="1A1D21">
              <a:alpha val="50196"/>
            </a:srgbClr>
          </a:solidFill>
          <a:ln/>
        </p:spPr>
        <p:txBody>
          <a:bodyPr/>
          <a:lstStyle/>
          <a:p>
            <a:endParaRPr lang="zh-CN" altLang="en-US"/>
          </a:p>
        </p:txBody>
      </p:sp>
      <p:sp>
        <p:nvSpPr>
          <p:cNvPr id="24" name="Text 22"/>
          <p:cNvSpPr/>
          <p:nvPr/>
        </p:nvSpPr>
        <p:spPr>
          <a:xfrm>
            <a:off x="12231498" y="2296106"/>
            <a:ext cx="3320191" cy="258716"/>
          </a:xfrm>
          <a:prstGeom prst="rect">
            <a:avLst/>
          </a:prstGeom>
          <a:noFill/>
          <a:ln/>
        </p:spPr>
        <p:txBody>
          <a:bodyPr wrap="square" lIns="0" tIns="0" rIns="0" bIns="0" rtlCol="0" anchor="ctr"/>
          <a:lstStyle/>
          <a:p>
            <a:pPr>
              <a:lnSpc>
                <a:spcPct val="130000"/>
              </a:lnSpc>
            </a:pPr>
            <a:r>
              <a:rPr lang="en-US" sz="1358" b="1" dirty="0">
                <a:solidFill>
                  <a:srgbClr val="E0E2E4"/>
                </a:solidFill>
                <a:latin typeface="MiSans" pitchFamily="34" charset="0"/>
                <a:ea typeface="MiSans" pitchFamily="34" charset="-122"/>
                <a:cs typeface="MiSans" pitchFamily="34" charset="-120"/>
              </a:rPr>
              <a:t>故障排查</a:t>
            </a:r>
            <a:endParaRPr lang="en-US" sz="1600" dirty="0"/>
          </a:p>
        </p:txBody>
      </p:sp>
      <p:sp>
        <p:nvSpPr>
          <p:cNvPr id="25" name="Text 23"/>
          <p:cNvSpPr/>
          <p:nvPr/>
        </p:nvSpPr>
        <p:spPr>
          <a:xfrm>
            <a:off x="12231498" y="2597942"/>
            <a:ext cx="3309411" cy="215597"/>
          </a:xfrm>
          <a:prstGeom prst="rect">
            <a:avLst/>
          </a:prstGeom>
          <a:noFill/>
          <a:ln/>
        </p:spPr>
        <p:txBody>
          <a:bodyPr wrap="square" lIns="0" tIns="0" rIns="0" bIns="0" rtlCol="0" anchor="ctr"/>
          <a:lstStyle/>
          <a:p>
            <a:pPr>
              <a:lnSpc>
                <a:spcPct val="120000"/>
              </a:lnSpc>
            </a:pPr>
            <a:r>
              <a:rPr lang="en-US" sz="1188" dirty="0">
                <a:solidFill>
                  <a:srgbClr val="E0E2E4">
                    <a:alpha val="70000"/>
                  </a:srgbClr>
                </a:solidFill>
                <a:latin typeface="MiSans" pitchFamily="34" charset="0"/>
                <a:ea typeface="MiSans" pitchFamily="34" charset="-122"/>
                <a:cs typeface="MiSans" pitchFamily="34" charset="-120"/>
              </a:rPr>
              <a:t>深入理解底层原理,快速定位生产环境问题</a:t>
            </a:r>
            <a:endParaRPr lang="en-US" sz="1600" dirty="0"/>
          </a:p>
        </p:txBody>
      </p:sp>
      <p:sp>
        <p:nvSpPr>
          <p:cNvPr id="26" name="Shape 24"/>
          <p:cNvSpPr/>
          <p:nvPr/>
        </p:nvSpPr>
        <p:spPr>
          <a:xfrm>
            <a:off x="8481292" y="3072255"/>
            <a:ext cx="3492668" cy="776149"/>
          </a:xfrm>
          <a:custGeom>
            <a:avLst/>
            <a:gdLst/>
            <a:ahLst/>
            <a:cxnLst/>
            <a:rect l="l" t="t" r="r" b="b"/>
            <a:pathLst>
              <a:path w="3492668" h="776149">
                <a:moveTo>
                  <a:pt x="86238" y="0"/>
                </a:moveTo>
                <a:lnTo>
                  <a:pt x="3406431" y="0"/>
                </a:lnTo>
                <a:cubicBezTo>
                  <a:pt x="3454058" y="0"/>
                  <a:pt x="3492668" y="38610"/>
                  <a:pt x="3492668" y="86238"/>
                </a:cubicBezTo>
                <a:lnTo>
                  <a:pt x="3492668" y="689911"/>
                </a:lnTo>
                <a:cubicBezTo>
                  <a:pt x="3492668" y="737539"/>
                  <a:pt x="3454058" y="776149"/>
                  <a:pt x="3406431" y="776149"/>
                </a:cubicBezTo>
                <a:lnTo>
                  <a:pt x="86238" y="776149"/>
                </a:lnTo>
                <a:cubicBezTo>
                  <a:pt x="38610" y="776149"/>
                  <a:pt x="0" y="737539"/>
                  <a:pt x="0" y="689911"/>
                </a:cubicBezTo>
                <a:lnTo>
                  <a:pt x="0" y="86238"/>
                </a:lnTo>
                <a:cubicBezTo>
                  <a:pt x="0" y="38642"/>
                  <a:pt x="38642" y="0"/>
                  <a:pt x="86238" y="0"/>
                </a:cubicBezTo>
                <a:close/>
              </a:path>
            </a:pathLst>
          </a:custGeom>
          <a:solidFill>
            <a:srgbClr val="1A1D21">
              <a:alpha val="50196"/>
            </a:srgbClr>
          </a:solidFill>
          <a:ln/>
        </p:spPr>
        <p:txBody>
          <a:bodyPr/>
          <a:lstStyle/>
          <a:p>
            <a:endParaRPr lang="zh-CN" altLang="en-US"/>
          </a:p>
        </p:txBody>
      </p:sp>
      <p:sp>
        <p:nvSpPr>
          <p:cNvPr id="27" name="Text 25"/>
          <p:cNvSpPr/>
          <p:nvPr/>
        </p:nvSpPr>
        <p:spPr>
          <a:xfrm>
            <a:off x="8610651" y="3201613"/>
            <a:ext cx="3320191" cy="258716"/>
          </a:xfrm>
          <a:prstGeom prst="rect">
            <a:avLst/>
          </a:prstGeom>
          <a:noFill/>
          <a:ln/>
        </p:spPr>
        <p:txBody>
          <a:bodyPr wrap="square" lIns="0" tIns="0" rIns="0" bIns="0" rtlCol="0" anchor="ctr"/>
          <a:lstStyle/>
          <a:p>
            <a:pPr>
              <a:lnSpc>
                <a:spcPct val="130000"/>
              </a:lnSpc>
            </a:pPr>
            <a:r>
              <a:rPr lang="en-US" sz="1358" b="1" dirty="0">
                <a:solidFill>
                  <a:srgbClr val="E0E2E4"/>
                </a:solidFill>
                <a:latin typeface="MiSans" pitchFamily="34" charset="0"/>
                <a:ea typeface="MiSans" pitchFamily="34" charset="-122"/>
                <a:cs typeface="MiSans" pitchFamily="34" charset="-120"/>
              </a:rPr>
              <a:t>架构设计</a:t>
            </a:r>
            <a:endParaRPr lang="en-US" sz="1600" dirty="0"/>
          </a:p>
        </p:txBody>
      </p:sp>
      <p:sp>
        <p:nvSpPr>
          <p:cNvPr id="28" name="Text 26"/>
          <p:cNvSpPr/>
          <p:nvPr/>
        </p:nvSpPr>
        <p:spPr>
          <a:xfrm>
            <a:off x="8610651" y="3503448"/>
            <a:ext cx="3309411" cy="215597"/>
          </a:xfrm>
          <a:prstGeom prst="rect">
            <a:avLst/>
          </a:prstGeom>
          <a:noFill/>
          <a:ln/>
        </p:spPr>
        <p:txBody>
          <a:bodyPr wrap="square" lIns="0" tIns="0" rIns="0" bIns="0" rtlCol="0" anchor="ctr"/>
          <a:lstStyle/>
          <a:p>
            <a:pPr>
              <a:lnSpc>
                <a:spcPct val="120000"/>
              </a:lnSpc>
            </a:pPr>
            <a:r>
              <a:rPr lang="en-US" sz="1188" dirty="0">
                <a:solidFill>
                  <a:srgbClr val="E0E2E4">
                    <a:alpha val="70000"/>
                  </a:srgbClr>
                </a:solidFill>
                <a:latin typeface="MiSans" pitchFamily="34" charset="0"/>
                <a:ea typeface="MiSans" pitchFamily="34" charset="-122"/>
                <a:cs typeface="MiSans" pitchFamily="34" charset="-120"/>
              </a:rPr>
              <a:t>基于技术特性认知,指导合理的系统架构设计</a:t>
            </a:r>
            <a:endParaRPr lang="en-US" sz="1600" dirty="0"/>
          </a:p>
        </p:txBody>
      </p:sp>
      <p:sp>
        <p:nvSpPr>
          <p:cNvPr id="29" name="Shape 27"/>
          <p:cNvSpPr/>
          <p:nvPr/>
        </p:nvSpPr>
        <p:spPr>
          <a:xfrm>
            <a:off x="12102140" y="3072255"/>
            <a:ext cx="3492668" cy="776149"/>
          </a:xfrm>
          <a:custGeom>
            <a:avLst/>
            <a:gdLst/>
            <a:ahLst/>
            <a:cxnLst/>
            <a:rect l="l" t="t" r="r" b="b"/>
            <a:pathLst>
              <a:path w="3492668" h="776149">
                <a:moveTo>
                  <a:pt x="86238" y="0"/>
                </a:moveTo>
                <a:lnTo>
                  <a:pt x="3406431" y="0"/>
                </a:lnTo>
                <a:cubicBezTo>
                  <a:pt x="3454058" y="0"/>
                  <a:pt x="3492668" y="38610"/>
                  <a:pt x="3492668" y="86238"/>
                </a:cubicBezTo>
                <a:lnTo>
                  <a:pt x="3492668" y="689911"/>
                </a:lnTo>
                <a:cubicBezTo>
                  <a:pt x="3492668" y="737539"/>
                  <a:pt x="3454058" y="776149"/>
                  <a:pt x="3406431" y="776149"/>
                </a:cubicBezTo>
                <a:lnTo>
                  <a:pt x="86238" y="776149"/>
                </a:lnTo>
                <a:cubicBezTo>
                  <a:pt x="38610" y="776149"/>
                  <a:pt x="0" y="737539"/>
                  <a:pt x="0" y="689911"/>
                </a:cubicBezTo>
                <a:lnTo>
                  <a:pt x="0" y="86238"/>
                </a:lnTo>
                <a:cubicBezTo>
                  <a:pt x="0" y="38642"/>
                  <a:pt x="38642" y="0"/>
                  <a:pt x="86238" y="0"/>
                </a:cubicBezTo>
                <a:close/>
              </a:path>
            </a:pathLst>
          </a:custGeom>
          <a:solidFill>
            <a:srgbClr val="1A1D21">
              <a:alpha val="50196"/>
            </a:srgbClr>
          </a:solidFill>
          <a:ln/>
        </p:spPr>
        <p:txBody>
          <a:bodyPr/>
          <a:lstStyle/>
          <a:p>
            <a:endParaRPr lang="zh-CN" altLang="en-US"/>
          </a:p>
        </p:txBody>
      </p:sp>
      <p:sp>
        <p:nvSpPr>
          <p:cNvPr id="30" name="Text 28"/>
          <p:cNvSpPr/>
          <p:nvPr/>
        </p:nvSpPr>
        <p:spPr>
          <a:xfrm>
            <a:off x="12231498" y="3201613"/>
            <a:ext cx="3320191" cy="258716"/>
          </a:xfrm>
          <a:prstGeom prst="rect">
            <a:avLst/>
          </a:prstGeom>
          <a:noFill/>
          <a:ln/>
        </p:spPr>
        <p:txBody>
          <a:bodyPr wrap="square" lIns="0" tIns="0" rIns="0" bIns="0" rtlCol="0" anchor="ctr"/>
          <a:lstStyle/>
          <a:p>
            <a:pPr>
              <a:lnSpc>
                <a:spcPct val="130000"/>
              </a:lnSpc>
            </a:pPr>
            <a:r>
              <a:rPr lang="en-US" sz="1358" b="1" dirty="0">
                <a:solidFill>
                  <a:srgbClr val="E0E2E4"/>
                </a:solidFill>
                <a:latin typeface="MiSans" pitchFamily="34" charset="0"/>
                <a:ea typeface="MiSans" pitchFamily="34" charset="-122"/>
                <a:cs typeface="MiSans" pitchFamily="34" charset="-120"/>
              </a:rPr>
              <a:t>技术选型</a:t>
            </a:r>
            <a:endParaRPr lang="en-US" sz="1600" dirty="0"/>
          </a:p>
        </p:txBody>
      </p:sp>
      <p:sp>
        <p:nvSpPr>
          <p:cNvPr id="31" name="Text 29"/>
          <p:cNvSpPr/>
          <p:nvPr/>
        </p:nvSpPr>
        <p:spPr>
          <a:xfrm>
            <a:off x="12231498" y="3503448"/>
            <a:ext cx="3309411" cy="215597"/>
          </a:xfrm>
          <a:prstGeom prst="rect">
            <a:avLst/>
          </a:prstGeom>
          <a:noFill/>
          <a:ln/>
        </p:spPr>
        <p:txBody>
          <a:bodyPr wrap="square" lIns="0" tIns="0" rIns="0" bIns="0" rtlCol="0" anchor="ctr"/>
          <a:lstStyle/>
          <a:p>
            <a:pPr>
              <a:lnSpc>
                <a:spcPct val="120000"/>
              </a:lnSpc>
            </a:pPr>
            <a:r>
              <a:rPr lang="en-US" sz="1188" dirty="0">
                <a:solidFill>
                  <a:srgbClr val="E0E2E4">
                    <a:alpha val="70000"/>
                  </a:srgbClr>
                </a:solidFill>
                <a:latin typeface="MiSans" pitchFamily="34" charset="0"/>
                <a:ea typeface="MiSans" pitchFamily="34" charset="-122"/>
                <a:cs typeface="MiSans" pitchFamily="34" charset="-120"/>
              </a:rPr>
              <a:t>全面了解底层差异,为不同场景选择最优方案</a:t>
            </a:r>
            <a:endParaRPr lang="en-US" sz="1600" dirty="0"/>
          </a:p>
        </p:txBody>
      </p:sp>
      <p:sp>
        <p:nvSpPr>
          <p:cNvPr id="32" name="Shape 30"/>
          <p:cNvSpPr/>
          <p:nvPr/>
        </p:nvSpPr>
        <p:spPr>
          <a:xfrm>
            <a:off x="8260306" y="4295767"/>
            <a:ext cx="7556668" cy="4408955"/>
          </a:xfrm>
          <a:custGeom>
            <a:avLst/>
            <a:gdLst/>
            <a:ahLst/>
            <a:cxnLst/>
            <a:rect l="l" t="t" r="r" b="b"/>
            <a:pathLst>
              <a:path w="7556668" h="4408955">
                <a:moveTo>
                  <a:pt x="86239" y="0"/>
                </a:moveTo>
                <a:lnTo>
                  <a:pt x="7470429" y="0"/>
                </a:lnTo>
                <a:cubicBezTo>
                  <a:pt x="7518058" y="0"/>
                  <a:pt x="7556668" y="38611"/>
                  <a:pt x="7556668" y="86239"/>
                </a:cubicBezTo>
                <a:lnTo>
                  <a:pt x="7556668" y="4322716"/>
                </a:lnTo>
                <a:cubicBezTo>
                  <a:pt x="7556668" y="4370344"/>
                  <a:pt x="7518058" y="4408955"/>
                  <a:pt x="7470429" y="4408955"/>
                </a:cubicBezTo>
                <a:lnTo>
                  <a:pt x="86239" y="4408955"/>
                </a:lnTo>
                <a:cubicBezTo>
                  <a:pt x="38611" y="4408955"/>
                  <a:pt x="0" y="4370344"/>
                  <a:pt x="0" y="4322716"/>
                </a:cubicBezTo>
                <a:lnTo>
                  <a:pt x="0" y="86239"/>
                </a:lnTo>
                <a:cubicBezTo>
                  <a:pt x="0" y="38642"/>
                  <a:pt x="38642" y="0"/>
                  <a:pt x="8623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33" name="Shape 31"/>
          <p:cNvSpPr/>
          <p:nvPr/>
        </p:nvSpPr>
        <p:spPr>
          <a:xfrm>
            <a:off x="8508242" y="4559873"/>
            <a:ext cx="215597" cy="215597"/>
          </a:xfrm>
          <a:custGeom>
            <a:avLst/>
            <a:gdLst/>
            <a:ahLst/>
            <a:cxnLst/>
            <a:rect l="l" t="t" r="r" b="b"/>
            <a:pathLst>
              <a:path w="215597" h="215597">
                <a:moveTo>
                  <a:pt x="26950" y="26950"/>
                </a:moveTo>
                <a:cubicBezTo>
                  <a:pt x="26950" y="19496"/>
                  <a:pt x="20928" y="13475"/>
                  <a:pt x="13475" y="13475"/>
                </a:cubicBezTo>
                <a:cubicBezTo>
                  <a:pt x="6022" y="13475"/>
                  <a:pt x="0" y="19496"/>
                  <a:pt x="0" y="26950"/>
                </a:cubicBezTo>
                <a:lnTo>
                  <a:pt x="0" y="168435"/>
                </a:lnTo>
                <a:cubicBezTo>
                  <a:pt x="0" y="187047"/>
                  <a:pt x="15075" y="202122"/>
                  <a:pt x="33687" y="202122"/>
                </a:cubicBezTo>
                <a:lnTo>
                  <a:pt x="202122" y="202122"/>
                </a:lnTo>
                <a:cubicBezTo>
                  <a:pt x="209575" y="202122"/>
                  <a:pt x="215597" y="196100"/>
                  <a:pt x="215597" y="188647"/>
                </a:cubicBezTo>
                <a:cubicBezTo>
                  <a:pt x="215597" y="181194"/>
                  <a:pt x="209575" y="175172"/>
                  <a:pt x="202122" y="175172"/>
                </a:cubicBezTo>
                <a:lnTo>
                  <a:pt x="33687" y="175172"/>
                </a:lnTo>
                <a:cubicBezTo>
                  <a:pt x="29981" y="175172"/>
                  <a:pt x="26950" y="172141"/>
                  <a:pt x="26950" y="168435"/>
                </a:cubicBezTo>
                <a:lnTo>
                  <a:pt x="26950" y="26950"/>
                </a:lnTo>
                <a:close/>
                <a:moveTo>
                  <a:pt x="198164" y="63416"/>
                </a:moveTo>
                <a:cubicBezTo>
                  <a:pt x="203427" y="58152"/>
                  <a:pt x="203427" y="49604"/>
                  <a:pt x="198164" y="44341"/>
                </a:cubicBezTo>
                <a:cubicBezTo>
                  <a:pt x="192900" y="39077"/>
                  <a:pt x="184352" y="39077"/>
                  <a:pt x="179089" y="44341"/>
                </a:cubicBezTo>
                <a:lnTo>
                  <a:pt x="134748" y="88723"/>
                </a:lnTo>
                <a:lnTo>
                  <a:pt x="110578" y="64595"/>
                </a:lnTo>
                <a:cubicBezTo>
                  <a:pt x="105314" y="59331"/>
                  <a:pt x="96766" y="59331"/>
                  <a:pt x="91502" y="64595"/>
                </a:cubicBezTo>
                <a:lnTo>
                  <a:pt x="51078" y="105019"/>
                </a:lnTo>
                <a:cubicBezTo>
                  <a:pt x="45814" y="110283"/>
                  <a:pt x="45814" y="118831"/>
                  <a:pt x="51078" y="124094"/>
                </a:cubicBezTo>
                <a:cubicBezTo>
                  <a:pt x="56342" y="129358"/>
                  <a:pt x="64890" y="129358"/>
                  <a:pt x="70153" y="124094"/>
                </a:cubicBezTo>
                <a:lnTo>
                  <a:pt x="101061" y="93187"/>
                </a:lnTo>
                <a:lnTo>
                  <a:pt x="125231" y="117357"/>
                </a:lnTo>
                <a:cubicBezTo>
                  <a:pt x="130495" y="122621"/>
                  <a:pt x="139043" y="122621"/>
                  <a:pt x="144307" y="117357"/>
                </a:cubicBezTo>
                <a:lnTo>
                  <a:pt x="198206" y="63458"/>
                </a:lnTo>
                <a:close/>
              </a:path>
            </a:pathLst>
          </a:custGeom>
          <a:solidFill>
            <a:srgbClr val="B38B59"/>
          </a:solidFill>
          <a:ln/>
        </p:spPr>
        <p:txBody>
          <a:bodyPr/>
          <a:lstStyle/>
          <a:p>
            <a:endParaRPr lang="zh-CN" altLang="en-US"/>
          </a:p>
        </p:txBody>
      </p:sp>
      <p:sp>
        <p:nvSpPr>
          <p:cNvPr id="34" name="Text 32"/>
          <p:cNvSpPr/>
          <p:nvPr/>
        </p:nvSpPr>
        <p:spPr>
          <a:xfrm>
            <a:off x="8750788" y="4516753"/>
            <a:ext cx="6952997" cy="301836"/>
          </a:xfrm>
          <a:prstGeom prst="rect">
            <a:avLst/>
          </a:prstGeom>
          <a:noFill/>
          <a:ln/>
        </p:spPr>
        <p:txBody>
          <a:bodyPr wrap="square" lIns="0" tIns="0" rIns="0" bIns="0" rtlCol="0" anchor="ctr"/>
          <a:lstStyle/>
          <a:p>
            <a:pPr>
              <a:lnSpc>
                <a:spcPct val="120000"/>
              </a:lnSpc>
            </a:pPr>
            <a:r>
              <a:rPr lang="en-US" sz="1698" b="1" dirty="0">
                <a:solidFill>
                  <a:srgbClr val="E0E2E4"/>
                </a:solidFill>
                <a:latin typeface="MiSans" pitchFamily="34" charset="0"/>
                <a:ea typeface="MiSans" pitchFamily="34" charset="-122"/>
                <a:cs typeface="MiSans" pitchFamily="34" charset="-120"/>
              </a:rPr>
              <a:t>技术对比的核心维度</a:t>
            </a:r>
            <a:endParaRPr lang="en-US" sz="1600" dirty="0"/>
          </a:p>
        </p:txBody>
      </p:sp>
      <p:sp>
        <p:nvSpPr>
          <p:cNvPr id="35" name="Shape 33"/>
          <p:cNvSpPr/>
          <p:nvPr/>
        </p:nvSpPr>
        <p:spPr>
          <a:xfrm>
            <a:off x="8481292" y="4947947"/>
            <a:ext cx="7114695" cy="431194"/>
          </a:xfrm>
          <a:custGeom>
            <a:avLst/>
            <a:gdLst/>
            <a:ahLst/>
            <a:cxnLst/>
            <a:rect l="l" t="t" r="r" b="b"/>
            <a:pathLst>
              <a:path w="7114695" h="431194">
                <a:moveTo>
                  <a:pt x="43119" y="0"/>
                </a:moveTo>
                <a:lnTo>
                  <a:pt x="7071576" y="0"/>
                </a:lnTo>
                <a:cubicBezTo>
                  <a:pt x="7095390" y="0"/>
                  <a:pt x="7114695" y="19305"/>
                  <a:pt x="7114695" y="43119"/>
                </a:cubicBezTo>
                <a:lnTo>
                  <a:pt x="7114695" y="388074"/>
                </a:lnTo>
                <a:cubicBezTo>
                  <a:pt x="7114695" y="411888"/>
                  <a:pt x="7095390" y="431194"/>
                  <a:pt x="7071576" y="431194"/>
                </a:cubicBezTo>
                <a:lnTo>
                  <a:pt x="43119" y="431194"/>
                </a:lnTo>
                <a:cubicBezTo>
                  <a:pt x="19305" y="431194"/>
                  <a:pt x="0" y="411888"/>
                  <a:pt x="0" y="388074"/>
                </a:cubicBezTo>
                <a:lnTo>
                  <a:pt x="0" y="43119"/>
                </a:lnTo>
                <a:cubicBezTo>
                  <a:pt x="0" y="19305"/>
                  <a:pt x="19305" y="0"/>
                  <a:pt x="43119" y="0"/>
                </a:cubicBezTo>
                <a:close/>
              </a:path>
            </a:pathLst>
          </a:custGeom>
          <a:solidFill>
            <a:srgbClr val="1A1D21">
              <a:alpha val="50196"/>
            </a:srgbClr>
          </a:solidFill>
          <a:ln/>
        </p:spPr>
        <p:txBody>
          <a:bodyPr/>
          <a:lstStyle/>
          <a:p>
            <a:endParaRPr lang="zh-CN" altLang="en-US"/>
          </a:p>
        </p:txBody>
      </p:sp>
      <p:sp>
        <p:nvSpPr>
          <p:cNvPr id="36" name="Text 34"/>
          <p:cNvSpPr/>
          <p:nvPr/>
        </p:nvSpPr>
        <p:spPr>
          <a:xfrm>
            <a:off x="8610651" y="5034186"/>
            <a:ext cx="1121103" cy="258716"/>
          </a:xfrm>
          <a:prstGeom prst="rect">
            <a:avLst/>
          </a:prstGeom>
          <a:noFill/>
          <a:ln/>
        </p:spPr>
        <p:txBody>
          <a:bodyPr wrap="square" lIns="0" tIns="0" rIns="0" bIns="0" rtlCol="0" anchor="ctr"/>
          <a:lstStyle/>
          <a:p>
            <a:pPr>
              <a:lnSpc>
                <a:spcPct val="130000"/>
              </a:lnSpc>
            </a:pPr>
            <a:r>
              <a:rPr lang="en-US" sz="1358" dirty="0">
                <a:solidFill>
                  <a:srgbClr val="E0E2E4"/>
                </a:solidFill>
                <a:latin typeface="MiSans" pitchFamily="34" charset="0"/>
                <a:ea typeface="MiSans" pitchFamily="34" charset="-122"/>
                <a:cs typeface="MiSans" pitchFamily="34" charset="-120"/>
              </a:rPr>
              <a:t>资源抽象模型</a:t>
            </a:r>
            <a:endParaRPr lang="en-US" sz="1600" dirty="0"/>
          </a:p>
        </p:txBody>
      </p:sp>
      <p:sp>
        <p:nvSpPr>
          <p:cNvPr id="37" name="Text 35"/>
          <p:cNvSpPr/>
          <p:nvPr/>
        </p:nvSpPr>
        <p:spPr>
          <a:xfrm>
            <a:off x="14283710" y="5055745"/>
            <a:ext cx="1261241" cy="215597"/>
          </a:xfrm>
          <a:prstGeom prst="rect">
            <a:avLst/>
          </a:prstGeom>
          <a:noFill/>
          <a:ln/>
        </p:spPr>
        <p:txBody>
          <a:bodyPr wrap="square" lIns="0" tIns="0" rIns="0" bIns="0" rtlCol="0" anchor="ctr"/>
          <a:lstStyle/>
          <a:p>
            <a:pPr>
              <a:lnSpc>
                <a:spcPct val="120000"/>
              </a:lnSpc>
            </a:pPr>
            <a:r>
              <a:rPr lang="en-US" sz="1188" dirty="0">
                <a:solidFill>
                  <a:srgbClr val="B38B59"/>
                </a:solidFill>
                <a:latin typeface="MiSans" pitchFamily="34" charset="0"/>
                <a:ea typeface="MiSans" pitchFamily="34" charset="-122"/>
                <a:cs typeface="MiSans" pitchFamily="34" charset="-120"/>
              </a:rPr>
              <a:t>Container vs Pod</a:t>
            </a:r>
            <a:endParaRPr lang="en-US" sz="1600" dirty="0"/>
          </a:p>
        </p:txBody>
      </p:sp>
      <p:sp>
        <p:nvSpPr>
          <p:cNvPr id="38" name="Shape 36"/>
          <p:cNvSpPr/>
          <p:nvPr/>
        </p:nvSpPr>
        <p:spPr>
          <a:xfrm>
            <a:off x="8481292" y="5465379"/>
            <a:ext cx="7114695" cy="431194"/>
          </a:xfrm>
          <a:custGeom>
            <a:avLst/>
            <a:gdLst/>
            <a:ahLst/>
            <a:cxnLst/>
            <a:rect l="l" t="t" r="r" b="b"/>
            <a:pathLst>
              <a:path w="7114695" h="431194">
                <a:moveTo>
                  <a:pt x="43119" y="0"/>
                </a:moveTo>
                <a:lnTo>
                  <a:pt x="7071576" y="0"/>
                </a:lnTo>
                <a:cubicBezTo>
                  <a:pt x="7095390" y="0"/>
                  <a:pt x="7114695" y="19305"/>
                  <a:pt x="7114695" y="43119"/>
                </a:cubicBezTo>
                <a:lnTo>
                  <a:pt x="7114695" y="388074"/>
                </a:lnTo>
                <a:cubicBezTo>
                  <a:pt x="7114695" y="411888"/>
                  <a:pt x="7095390" y="431194"/>
                  <a:pt x="7071576" y="431194"/>
                </a:cubicBezTo>
                <a:lnTo>
                  <a:pt x="43119" y="431194"/>
                </a:lnTo>
                <a:cubicBezTo>
                  <a:pt x="19305" y="431194"/>
                  <a:pt x="0" y="411888"/>
                  <a:pt x="0" y="388074"/>
                </a:cubicBezTo>
                <a:lnTo>
                  <a:pt x="0" y="43119"/>
                </a:lnTo>
                <a:cubicBezTo>
                  <a:pt x="0" y="19305"/>
                  <a:pt x="19305" y="0"/>
                  <a:pt x="43119" y="0"/>
                </a:cubicBezTo>
                <a:close/>
              </a:path>
            </a:pathLst>
          </a:custGeom>
          <a:solidFill>
            <a:srgbClr val="1A1D21">
              <a:alpha val="50196"/>
            </a:srgbClr>
          </a:solidFill>
          <a:ln/>
        </p:spPr>
        <p:txBody>
          <a:bodyPr/>
          <a:lstStyle/>
          <a:p>
            <a:endParaRPr lang="zh-CN" altLang="en-US"/>
          </a:p>
        </p:txBody>
      </p:sp>
      <p:sp>
        <p:nvSpPr>
          <p:cNvPr id="39" name="Text 37"/>
          <p:cNvSpPr/>
          <p:nvPr/>
        </p:nvSpPr>
        <p:spPr>
          <a:xfrm>
            <a:off x="8610651" y="5551618"/>
            <a:ext cx="776149" cy="258716"/>
          </a:xfrm>
          <a:prstGeom prst="rect">
            <a:avLst/>
          </a:prstGeom>
          <a:noFill/>
          <a:ln/>
        </p:spPr>
        <p:txBody>
          <a:bodyPr wrap="square" lIns="0" tIns="0" rIns="0" bIns="0" rtlCol="0" anchor="ctr"/>
          <a:lstStyle/>
          <a:p>
            <a:pPr>
              <a:lnSpc>
                <a:spcPct val="130000"/>
              </a:lnSpc>
            </a:pPr>
            <a:r>
              <a:rPr lang="en-US" sz="1358" dirty="0">
                <a:solidFill>
                  <a:srgbClr val="E0E2E4"/>
                </a:solidFill>
                <a:latin typeface="MiSans" pitchFamily="34" charset="0"/>
                <a:ea typeface="MiSans" pitchFamily="34" charset="-122"/>
                <a:cs typeface="MiSans" pitchFamily="34" charset="-120"/>
              </a:rPr>
              <a:t>隔离机制</a:t>
            </a:r>
            <a:endParaRPr lang="en-US" sz="1600" dirty="0"/>
          </a:p>
        </p:txBody>
      </p:sp>
      <p:sp>
        <p:nvSpPr>
          <p:cNvPr id="40" name="Text 38"/>
          <p:cNvSpPr/>
          <p:nvPr/>
        </p:nvSpPr>
        <p:spPr>
          <a:xfrm>
            <a:off x="14558765" y="5573178"/>
            <a:ext cx="980966" cy="215597"/>
          </a:xfrm>
          <a:prstGeom prst="rect">
            <a:avLst/>
          </a:prstGeom>
          <a:noFill/>
          <a:ln/>
        </p:spPr>
        <p:txBody>
          <a:bodyPr wrap="square" lIns="0" tIns="0" rIns="0" bIns="0" rtlCol="0" anchor="ctr"/>
          <a:lstStyle/>
          <a:p>
            <a:pPr>
              <a:lnSpc>
                <a:spcPct val="120000"/>
              </a:lnSpc>
            </a:pPr>
            <a:r>
              <a:rPr lang="en-US" sz="1188" dirty="0">
                <a:solidFill>
                  <a:srgbClr val="B38B59"/>
                </a:solidFill>
                <a:latin typeface="MiSans" pitchFamily="34" charset="0"/>
                <a:ea typeface="MiSans" pitchFamily="34" charset="-122"/>
                <a:cs typeface="MiSans" pitchFamily="34" charset="-120"/>
              </a:rPr>
              <a:t>实现方式差异</a:t>
            </a:r>
            <a:endParaRPr lang="en-US" sz="1600" dirty="0"/>
          </a:p>
        </p:txBody>
      </p:sp>
      <p:sp>
        <p:nvSpPr>
          <p:cNvPr id="41" name="Shape 39"/>
          <p:cNvSpPr/>
          <p:nvPr/>
        </p:nvSpPr>
        <p:spPr>
          <a:xfrm>
            <a:off x="8481292" y="5982812"/>
            <a:ext cx="7114695" cy="431194"/>
          </a:xfrm>
          <a:custGeom>
            <a:avLst/>
            <a:gdLst/>
            <a:ahLst/>
            <a:cxnLst/>
            <a:rect l="l" t="t" r="r" b="b"/>
            <a:pathLst>
              <a:path w="7114695" h="431194">
                <a:moveTo>
                  <a:pt x="43119" y="0"/>
                </a:moveTo>
                <a:lnTo>
                  <a:pt x="7071576" y="0"/>
                </a:lnTo>
                <a:cubicBezTo>
                  <a:pt x="7095390" y="0"/>
                  <a:pt x="7114695" y="19305"/>
                  <a:pt x="7114695" y="43119"/>
                </a:cubicBezTo>
                <a:lnTo>
                  <a:pt x="7114695" y="388074"/>
                </a:lnTo>
                <a:cubicBezTo>
                  <a:pt x="7114695" y="411888"/>
                  <a:pt x="7095390" y="431194"/>
                  <a:pt x="7071576" y="431194"/>
                </a:cubicBezTo>
                <a:lnTo>
                  <a:pt x="43119" y="431194"/>
                </a:lnTo>
                <a:cubicBezTo>
                  <a:pt x="19305" y="431194"/>
                  <a:pt x="0" y="411888"/>
                  <a:pt x="0" y="388074"/>
                </a:cubicBezTo>
                <a:lnTo>
                  <a:pt x="0" y="43119"/>
                </a:lnTo>
                <a:cubicBezTo>
                  <a:pt x="0" y="19305"/>
                  <a:pt x="19305" y="0"/>
                  <a:pt x="43119" y="0"/>
                </a:cubicBezTo>
                <a:close/>
              </a:path>
            </a:pathLst>
          </a:custGeom>
          <a:solidFill>
            <a:srgbClr val="1A1D21">
              <a:alpha val="50196"/>
            </a:srgbClr>
          </a:solidFill>
          <a:ln/>
        </p:spPr>
        <p:txBody>
          <a:bodyPr/>
          <a:lstStyle/>
          <a:p>
            <a:endParaRPr lang="zh-CN" altLang="en-US"/>
          </a:p>
        </p:txBody>
      </p:sp>
      <p:sp>
        <p:nvSpPr>
          <p:cNvPr id="42" name="Text 40"/>
          <p:cNvSpPr/>
          <p:nvPr/>
        </p:nvSpPr>
        <p:spPr>
          <a:xfrm>
            <a:off x="8610651" y="6069050"/>
            <a:ext cx="776149" cy="258716"/>
          </a:xfrm>
          <a:prstGeom prst="rect">
            <a:avLst/>
          </a:prstGeom>
          <a:noFill/>
          <a:ln/>
        </p:spPr>
        <p:txBody>
          <a:bodyPr wrap="square" lIns="0" tIns="0" rIns="0" bIns="0" rtlCol="0" anchor="ctr"/>
          <a:lstStyle/>
          <a:p>
            <a:pPr>
              <a:lnSpc>
                <a:spcPct val="130000"/>
              </a:lnSpc>
            </a:pPr>
            <a:r>
              <a:rPr lang="en-US" sz="1358" dirty="0">
                <a:solidFill>
                  <a:srgbClr val="E0E2E4"/>
                </a:solidFill>
                <a:latin typeface="MiSans" pitchFamily="34" charset="0"/>
                <a:ea typeface="MiSans" pitchFamily="34" charset="-122"/>
                <a:cs typeface="MiSans" pitchFamily="34" charset="-120"/>
              </a:rPr>
              <a:t>网络隔离</a:t>
            </a:r>
            <a:endParaRPr lang="en-US" sz="1600" dirty="0"/>
          </a:p>
        </p:txBody>
      </p:sp>
      <p:sp>
        <p:nvSpPr>
          <p:cNvPr id="43" name="Text 41"/>
          <p:cNvSpPr/>
          <p:nvPr/>
        </p:nvSpPr>
        <p:spPr>
          <a:xfrm>
            <a:off x="14558765" y="6090610"/>
            <a:ext cx="980966" cy="215597"/>
          </a:xfrm>
          <a:prstGeom prst="rect">
            <a:avLst/>
          </a:prstGeom>
          <a:noFill/>
          <a:ln/>
        </p:spPr>
        <p:txBody>
          <a:bodyPr wrap="square" lIns="0" tIns="0" rIns="0" bIns="0" rtlCol="0" anchor="ctr"/>
          <a:lstStyle/>
          <a:p>
            <a:pPr>
              <a:lnSpc>
                <a:spcPct val="120000"/>
              </a:lnSpc>
            </a:pPr>
            <a:r>
              <a:rPr lang="en-US" sz="1188" dirty="0">
                <a:solidFill>
                  <a:srgbClr val="B38B59"/>
                </a:solidFill>
                <a:latin typeface="MiSans" pitchFamily="34" charset="0"/>
                <a:ea typeface="MiSans" pitchFamily="34" charset="-122"/>
                <a:cs typeface="MiSans" pitchFamily="34" charset="-120"/>
              </a:rPr>
              <a:t>网络模型对比</a:t>
            </a:r>
            <a:endParaRPr lang="en-US" sz="1600" dirty="0"/>
          </a:p>
        </p:txBody>
      </p:sp>
      <p:sp>
        <p:nvSpPr>
          <p:cNvPr id="44" name="Shape 42"/>
          <p:cNvSpPr/>
          <p:nvPr/>
        </p:nvSpPr>
        <p:spPr>
          <a:xfrm>
            <a:off x="8481292" y="6500244"/>
            <a:ext cx="7114695" cy="431194"/>
          </a:xfrm>
          <a:custGeom>
            <a:avLst/>
            <a:gdLst/>
            <a:ahLst/>
            <a:cxnLst/>
            <a:rect l="l" t="t" r="r" b="b"/>
            <a:pathLst>
              <a:path w="7114695" h="431194">
                <a:moveTo>
                  <a:pt x="43119" y="0"/>
                </a:moveTo>
                <a:lnTo>
                  <a:pt x="7071576" y="0"/>
                </a:lnTo>
                <a:cubicBezTo>
                  <a:pt x="7095390" y="0"/>
                  <a:pt x="7114695" y="19305"/>
                  <a:pt x="7114695" y="43119"/>
                </a:cubicBezTo>
                <a:lnTo>
                  <a:pt x="7114695" y="388074"/>
                </a:lnTo>
                <a:cubicBezTo>
                  <a:pt x="7114695" y="411888"/>
                  <a:pt x="7095390" y="431194"/>
                  <a:pt x="7071576" y="431194"/>
                </a:cubicBezTo>
                <a:lnTo>
                  <a:pt x="43119" y="431194"/>
                </a:lnTo>
                <a:cubicBezTo>
                  <a:pt x="19305" y="431194"/>
                  <a:pt x="0" y="411888"/>
                  <a:pt x="0" y="388074"/>
                </a:cubicBezTo>
                <a:lnTo>
                  <a:pt x="0" y="43119"/>
                </a:lnTo>
                <a:cubicBezTo>
                  <a:pt x="0" y="19305"/>
                  <a:pt x="19305" y="0"/>
                  <a:pt x="43119" y="0"/>
                </a:cubicBezTo>
                <a:close/>
              </a:path>
            </a:pathLst>
          </a:custGeom>
          <a:solidFill>
            <a:srgbClr val="1A1D21">
              <a:alpha val="50196"/>
            </a:srgbClr>
          </a:solidFill>
          <a:ln/>
        </p:spPr>
        <p:txBody>
          <a:bodyPr/>
          <a:lstStyle/>
          <a:p>
            <a:endParaRPr lang="zh-CN" altLang="en-US"/>
          </a:p>
        </p:txBody>
      </p:sp>
      <p:sp>
        <p:nvSpPr>
          <p:cNvPr id="45" name="Text 43"/>
          <p:cNvSpPr/>
          <p:nvPr/>
        </p:nvSpPr>
        <p:spPr>
          <a:xfrm>
            <a:off x="8610651" y="6586483"/>
            <a:ext cx="776149" cy="258716"/>
          </a:xfrm>
          <a:prstGeom prst="rect">
            <a:avLst/>
          </a:prstGeom>
          <a:noFill/>
          <a:ln/>
        </p:spPr>
        <p:txBody>
          <a:bodyPr wrap="square" lIns="0" tIns="0" rIns="0" bIns="0" rtlCol="0" anchor="ctr"/>
          <a:lstStyle/>
          <a:p>
            <a:pPr>
              <a:lnSpc>
                <a:spcPct val="130000"/>
              </a:lnSpc>
            </a:pPr>
            <a:r>
              <a:rPr lang="en-US" sz="1358" dirty="0">
                <a:solidFill>
                  <a:srgbClr val="E0E2E4"/>
                </a:solidFill>
                <a:latin typeface="MiSans" pitchFamily="34" charset="0"/>
                <a:ea typeface="MiSans" pitchFamily="34" charset="-122"/>
                <a:cs typeface="MiSans" pitchFamily="34" charset="-120"/>
              </a:rPr>
              <a:t>存储隔离</a:t>
            </a:r>
            <a:endParaRPr lang="en-US" sz="1600" dirty="0"/>
          </a:p>
        </p:txBody>
      </p:sp>
      <p:sp>
        <p:nvSpPr>
          <p:cNvPr id="46" name="Text 44"/>
          <p:cNvSpPr/>
          <p:nvPr/>
        </p:nvSpPr>
        <p:spPr>
          <a:xfrm>
            <a:off x="14709682" y="6608042"/>
            <a:ext cx="830048" cy="215597"/>
          </a:xfrm>
          <a:prstGeom prst="rect">
            <a:avLst/>
          </a:prstGeom>
          <a:noFill/>
          <a:ln/>
        </p:spPr>
        <p:txBody>
          <a:bodyPr wrap="square" lIns="0" tIns="0" rIns="0" bIns="0" rtlCol="0" anchor="ctr"/>
          <a:lstStyle/>
          <a:p>
            <a:pPr>
              <a:lnSpc>
                <a:spcPct val="120000"/>
              </a:lnSpc>
            </a:pPr>
            <a:r>
              <a:rPr lang="en-US" sz="1188" dirty="0">
                <a:solidFill>
                  <a:srgbClr val="B38B59"/>
                </a:solidFill>
                <a:latin typeface="MiSans" pitchFamily="34" charset="0"/>
                <a:ea typeface="MiSans" pitchFamily="34" charset="-122"/>
                <a:cs typeface="MiSans" pitchFamily="34" charset="-120"/>
              </a:rPr>
              <a:t>数据持久化</a:t>
            </a:r>
            <a:endParaRPr lang="en-US" sz="1600" dirty="0"/>
          </a:p>
        </p:txBody>
      </p:sp>
      <p:sp>
        <p:nvSpPr>
          <p:cNvPr id="47" name="Shape 45"/>
          <p:cNvSpPr/>
          <p:nvPr/>
        </p:nvSpPr>
        <p:spPr>
          <a:xfrm>
            <a:off x="8481292" y="7017676"/>
            <a:ext cx="7114695" cy="431194"/>
          </a:xfrm>
          <a:custGeom>
            <a:avLst/>
            <a:gdLst/>
            <a:ahLst/>
            <a:cxnLst/>
            <a:rect l="l" t="t" r="r" b="b"/>
            <a:pathLst>
              <a:path w="7114695" h="431194">
                <a:moveTo>
                  <a:pt x="43119" y="0"/>
                </a:moveTo>
                <a:lnTo>
                  <a:pt x="7071576" y="0"/>
                </a:lnTo>
                <a:cubicBezTo>
                  <a:pt x="7095390" y="0"/>
                  <a:pt x="7114695" y="19305"/>
                  <a:pt x="7114695" y="43119"/>
                </a:cubicBezTo>
                <a:lnTo>
                  <a:pt x="7114695" y="388074"/>
                </a:lnTo>
                <a:cubicBezTo>
                  <a:pt x="7114695" y="411888"/>
                  <a:pt x="7095390" y="431194"/>
                  <a:pt x="7071576" y="431194"/>
                </a:cubicBezTo>
                <a:lnTo>
                  <a:pt x="43119" y="431194"/>
                </a:lnTo>
                <a:cubicBezTo>
                  <a:pt x="19305" y="431194"/>
                  <a:pt x="0" y="411888"/>
                  <a:pt x="0" y="388074"/>
                </a:cubicBezTo>
                <a:lnTo>
                  <a:pt x="0" y="43119"/>
                </a:lnTo>
                <a:cubicBezTo>
                  <a:pt x="0" y="19305"/>
                  <a:pt x="19305" y="0"/>
                  <a:pt x="43119" y="0"/>
                </a:cubicBezTo>
                <a:close/>
              </a:path>
            </a:pathLst>
          </a:custGeom>
          <a:solidFill>
            <a:srgbClr val="1A1D21">
              <a:alpha val="50196"/>
            </a:srgbClr>
          </a:solidFill>
          <a:ln/>
        </p:spPr>
        <p:txBody>
          <a:bodyPr/>
          <a:lstStyle/>
          <a:p>
            <a:endParaRPr lang="zh-CN" altLang="en-US"/>
          </a:p>
        </p:txBody>
      </p:sp>
      <p:sp>
        <p:nvSpPr>
          <p:cNvPr id="48" name="Text 46"/>
          <p:cNvSpPr/>
          <p:nvPr/>
        </p:nvSpPr>
        <p:spPr>
          <a:xfrm>
            <a:off x="8610651" y="7103915"/>
            <a:ext cx="776149" cy="258716"/>
          </a:xfrm>
          <a:prstGeom prst="rect">
            <a:avLst/>
          </a:prstGeom>
          <a:noFill/>
          <a:ln/>
        </p:spPr>
        <p:txBody>
          <a:bodyPr wrap="square" lIns="0" tIns="0" rIns="0" bIns="0" rtlCol="0" anchor="ctr"/>
          <a:lstStyle/>
          <a:p>
            <a:pPr>
              <a:lnSpc>
                <a:spcPct val="130000"/>
              </a:lnSpc>
            </a:pPr>
            <a:r>
              <a:rPr lang="en-US" sz="1358" dirty="0">
                <a:solidFill>
                  <a:srgbClr val="E0E2E4"/>
                </a:solidFill>
                <a:latin typeface="MiSans" pitchFamily="34" charset="0"/>
                <a:ea typeface="MiSans" pitchFamily="34" charset="-122"/>
                <a:cs typeface="MiSans" pitchFamily="34" charset="-120"/>
              </a:rPr>
              <a:t>调度策略</a:t>
            </a:r>
            <a:endParaRPr lang="en-US" sz="1600" dirty="0"/>
          </a:p>
        </p:txBody>
      </p:sp>
      <p:sp>
        <p:nvSpPr>
          <p:cNvPr id="49" name="Text 47"/>
          <p:cNvSpPr/>
          <p:nvPr/>
        </p:nvSpPr>
        <p:spPr>
          <a:xfrm>
            <a:off x="14558765" y="7125475"/>
            <a:ext cx="980966" cy="215597"/>
          </a:xfrm>
          <a:prstGeom prst="rect">
            <a:avLst/>
          </a:prstGeom>
          <a:noFill/>
          <a:ln/>
        </p:spPr>
        <p:txBody>
          <a:bodyPr wrap="square" lIns="0" tIns="0" rIns="0" bIns="0" rtlCol="0" anchor="ctr"/>
          <a:lstStyle/>
          <a:p>
            <a:pPr>
              <a:lnSpc>
                <a:spcPct val="120000"/>
              </a:lnSpc>
            </a:pPr>
            <a:r>
              <a:rPr lang="en-US" sz="1188" dirty="0">
                <a:solidFill>
                  <a:srgbClr val="B38B59"/>
                </a:solidFill>
                <a:latin typeface="MiSans" pitchFamily="34" charset="0"/>
                <a:ea typeface="MiSans" pitchFamily="34" charset="-122"/>
                <a:cs typeface="MiSans" pitchFamily="34" charset="-120"/>
              </a:rPr>
              <a:t>资源分配算法</a:t>
            </a:r>
            <a:endParaRPr lang="en-US" sz="1600" dirty="0"/>
          </a:p>
        </p:txBody>
      </p:sp>
      <p:sp>
        <p:nvSpPr>
          <p:cNvPr id="50" name="Shape 48"/>
          <p:cNvSpPr/>
          <p:nvPr/>
        </p:nvSpPr>
        <p:spPr>
          <a:xfrm>
            <a:off x="8481292" y="7535109"/>
            <a:ext cx="7114695" cy="431194"/>
          </a:xfrm>
          <a:custGeom>
            <a:avLst/>
            <a:gdLst/>
            <a:ahLst/>
            <a:cxnLst/>
            <a:rect l="l" t="t" r="r" b="b"/>
            <a:pathLst>
              <a:path w="7114695" h="431194">
                <a:moveTo>
                  <a:pt x="43119" y="0"/>
                </a:moveTo>
                <a:lnTo>
                  <a:pt x="7071576" y="0"/>
                </a:lnTo>
                <a:cubicBezTo>
                  <a:pt x="7095390" y="0"/>
                  <a:pt x="7114695" y="19305"/>
                  <a:pt x="7114695" y="43119"/>
                </a:cubicBezTo>
                <a:lnTo>
                  <a:pt x="7114695" y="388074"/>
                </a:lnTo>
                <a:cubicBezTo>
                  <a:pt x="7114695" y="411888"/>
                  <a:pt x="7095390" y="431194"/>
                  <a:pt x="7071576" y="431194"/>
                </a:cubicBezTo>
                <a:lnTo>
                  <a:pt x="43119" y="431194"/>
                </a:lnTo>
                <a:cubicBezTo>
                  <a:pt x="19305" y="431194"/>
                  <a:pt x="0" y="411888"/>
                  <a:pt x="0" y="388074"/>
                </a:cubicBezTo>
                <a:lnTo>
                  <a:pt x="0" y="43119"/>
                </a:lnTo>
                <a:cubicBezTo>
                  <a:pt x="0" y="19305"/>
                  <a:pt x="19305" y="0"/>
                  <a:pt x="43119" y="0"/>
                </a:cubicBezTo>
                <a:close/>
              </a:path>
            </a:pathLst>
          </a:custGeom>
          <a:solidFill>
            <a:srgbClr val="1A1D21">
              <a:alpha val="50196"/>
            </a:srgbClr>
          </a:solidFill>
          <a:ln/>
        </p:spPr>
        <p:txBody>
          <a:bodyPr/>
          <a:lstStyle/>
          <a:p>
            <a:endParaRPr lang="zh-CN" altLang="en-US"/>
          </a:p>
        </p:txBody>
      </p:sp>
      <p:sp>
        <p:nvSpPr>
          <p:cNvPr id="51" name="Text 49"/>
          <p:cNvSpPr/>
          <p:nvPr/>
        </p:nvSpPr>
        <p:spPr>
          <a:xfrm>
            <a:off x="8610651" y="7621347"/>
            <a:ext cx="948626" cy="258716"/>
          </a:xfrm>
          <a:prstGeom prst="rect">
            <a:avLst/>
          </a:prstGeom>
          <a:noFill/>
          <a:ln/>
        </p:spPr>
        <p:txBody>
          <a:bodyPr wrap="square" lIns="0" tIns="0" rIns="0" bIns="0" rtlCol="0" anchor="ctr"/>
          <a:lstStyle/>
          <a:p>
            <a:pPr>
              <a:lnSpc>
                <a:spcPct val="130000"/>
              </a:lnSpc>
            </a:pPr>
            <a:r>
              <a:rPr lang="en-US" sz="1358" dirty="0">
                <a:solidFill>
                  <a:srgbClr val="E0E2E4"/>
                </a:solidFill>
                <a:latin typeface="MiSans" pitchFamily="34" charset="0"/>
                <a:ea typeface="MiSans" pitchFamily="34" charset="-122"/>
                <a:cs typeface="MiSans" pitchFamily="34" charset="-120"/>
              </a:rPr>
              <a:t>生态兼容性</a:t>
            </a:r>
            <a:endParaRPr lang="en-US" sz="1600" dirty="0"/>
          </a:p>
        </p:txBody>
      </p:sp>
      <p:sp>
        <p:nvSpPr>
          <p:cNvPr id="52" name="Text 50"/>
          <p:cNvSpPr/>
          <p:nvPr/>
        </p:nvSpPr>
        <p:spPr>
          <a:xfrm>
            <a:off x="14709682" y="7642907"/>
            <a:ext cx="830048" cy="215597"/>
          </a:xfrm>
          <a:prstGeom prst="rect">
            <a:avLst/>
          </a:prstGeom>
          <a:noFill/>
          <a:ln/>
        </p:spPr>
        <p:txBody>
          <a:bodyPr wrap="square" lIns="0" tIns="0" rIns="0" bIns="0" rtlCol="0" anchor="ctr"/>
          <a:lstStyle/>
          <a:p>
            <a:pPr>
              <a:lnSpc>
                <a:spcPct val="120000"/>
              </a:lnSpc>
            </a:pPr>
            <a:r>
              <a:rPr lang="en-US" sz="1188" dirty="0">
                <a:solidFill>
                  <a:srgbClr val="B38B59"/>
                </a:solidFill>
                <a:latin typeface="MiSans" pitchFamily="34" charset="0"/>
                <a:ea typeface="MiSans" pitchFamily="34" charset="-122"/>
                <a:cs typeface="MiSans" pitchFamily="34" charset="-120"/>
              </a:rPr>
              <a:t>技术栈集成</a:t>
            </a:r>
            <a:endParaRPr lang="en-US" sz="1600" dirty="0"/>
          </a:p>
        </p:txBody>
      </p:sp>
      <p:sp>
        <p:nvSpPr>
          <p:cNvPr id="53" name="Shape 51"/>
          <p:cNvSpPr/>
          <p:nvPr/>
        </p:nvSpPr>
        <p:spPr>
          <a:xfrm>
            <a:off x="8481292" y="8052541"/>
            <a:ext cx="7114695" cy="431194"/>
          </a:xfrm>
          <a:custGeom>
            <a:avLst/>
            <a:gdLst/>
            <a:ahLst/>
            <a:cxnLst/>
            <a:rect l="l" t="t" r="r" b="b"/>
            <a:pathLst>
              <a:path w="7114695" h="431194">
                <a:moveTo>
                  <a:pt x="43119" y="0"/>
                </a:moveTo>
                <a:lnTo>
                  <a:pt x="7071576" y="0"/>
                </a:lnTo>
                <a:cubicBezTo>
                  <a:pt x="7095390" y="0"/>
                  <a:pt x="7114695" y="19305"/>
                  <a:pt x="7114695" y="43119"/>
                </a:cubicBezTo>
                <a:lnTo>
                  <a:pt x="7114695" y="388074"/>
                </a:lnTo>
                <a:cubicBezTo>
                  <a:pt x="7114695" y="411888"/>
                  <a:pt x="7095390" y="431194"/>
                  <a:pt x="7071576" y="431194"/>
                </a:cubicBezTo>
                <a:lnTo>
                  <a:pt x="43119" y="431194"/>
                </a:lnTo>
                <a:cubicBezTo>
                  <a:pt x="19305" y="431194"/>
                  <a:pt x="0" y="411888"/>
                  <a:pt x="0" y="388074"/>
                </a:cubicBezTo>
                <a:lnTo>
                  <a:pt x="0" y="43119"/>
                </a:lnTo>
                <a:cubicBezTo>
                  <a:pt x="0" y="19305"/>
                  <a:pt x="19305" y="0"/>
                  <a:pt x="43119" y="0"/>
                </a:cubicBezTo>
                <a:close/>
              </a:path>
            </a:pathLst>
          </a:custGeom>
          <a:solidFill>
            <a:srgbClr val="1A1D21">
              <a:alpha val="50196"/>
            </a:srgbClr>
          </a:solidFill>
          <a:ln/>
        </p:spPr>
        <p:txBody>
          <a:bodyPr/>
          <a:lstStyle/>
          <a:p>
            <a:endParaRPr lang="zh-CN" altLang="en-US"/>
          </a:p>
        </p:txBody>
      </p:sp>
      <p:sp>
        <p:nvSpPr>
          <p:cNvPr id="54" name="Text 52"/>
          <p:cNvSpPr/>
          <p:nvPr/>
        </p:nvSpPr>
        <p:spPr>
          <a:xfrm>
            <a:off x="8610651" y="8138780"/>
            <a:ext cx="948626" cy="258716"/>
          </a:xfrm>
          <a:prstGeom prst="rect">
            <a:avLst/>
          </a:prstGeom>
          <a:noFill/>
          <a:ln/>
        </p:spPr>
        <p:txBody>
          <a:bodyPr wrap="square" lIns="0" tIns="0" rIns="0" bIns="0" rtlCol="0" anchor="ctr"/>
          <a:lstStyle/>
          <a:p>
            <a:pPr>
              <a:lnSpc>
                <a:spcPct val="130000"/>
              </a:lnSpc>
            </a:pPr>
            <a:r>
              <a:rPr lang="en-US" sz="1358" dirty="0">
                <a:solidFill>
                  <a:srgbClr val="E0E2E4"/>
                </a:solidFill>
                <a:latin typeface="MiSans" pitchFamily="34" charset="0"/>
                <a:ea typeface="MiSans" pitchFamily="34" charset="-122"/>
                <a:cs typeface="MiSans" pitchFamily="34" charset="-120"/>
              </a:rPr>
              <a:t>运维复杂度</a:t>
            </a:r>
            <a:endParaRPr lang="en-US" sz="1600" dirty="0"/>
          </a:p>
        </p:txBody>
      </p:sp>
      <p:sp>
        <p:nvSpPr>
          <p:cNvPr id="55" name="Text 53"/>
          <p:cNvSpPr/>
          <p:nvPr/>
        </p:nvSpPr>
        <p:spPr>
          <a:xfrm>
            <a:off x="14860600" y="8160340"/>
            <a:ext cx="679130" cy="215597"/>
          </a:xfrm>
          <a:prstGeom prst="rect">
            <a:avLst/>
          </a:prstGeom>
          <a:noFill/>
          <a:ln/>
        </p:spPr>
        <p:txBody>
          <a:bodyPr wrap="square" lIns="0" tIns="0" rIns="0" bIns="0" rtlCol="0" anchor="ctr"/>
          <a:lstStyle/>
          <a:p>
            <a:pPr>
              <a:lnSpc>
                <a:spcPct val="120000"/>
              </a:lnSpc>
            </a:pPr>
            <a:r>
              <a:rPr lang="en-US" sz="1188" dirty="0">
                <a:solidFill>
                  <a:srgbClr val="B38B59"/>
                </a:solidFill>
                <a:latin typeface="MiSans" pitchFamily="34" charset="0"/>
                <a:ea typeface="MiSans" pitchFamily="34" charset="-122"/>
                <a:cs typeface="MiSans" pitchFamily="34" charset="-120"/>
              </a:rPr>
              <a:t>部署监控</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465667"/>
            <a:ext cx="338667" cy="338667"/>
          </a:xfrm>
          <a:custGeom>
            <a:avLst/>
            <a:gdLst/>
            <a:ahLst/>
            <a:cxnLst/>
            <a:rect l="l" t="t" r="r" b="b"/>
            <a:pathLst>
              <a:path w="338667" h="338667">
                <a:moveTo>
                  <a:pt x="63500" y="0"/>
                </a:moveTo>
                <a:lnTo>
                  <a:pt x="275167" y="0"/>
                </a:lnTo>
                <a:cubicBezTo>
                  <a:pt x="310213" y="0"/>
                  <a:pt x="338667" y="28453"/>
                  <a:pt x="338667" y="63500"/>
                </a:cubicBezTo>
                <a:lnTo>
                  <a:pt x="338667" y="275167"/>
                </a:lnTo>
                <a:cubicBezTo>
                  <a:pt x="338667" y="310213"/>
                  <a:pt x="310213" y="338667"/>
                  <a:pt x="275167" y="338667"/>
                </a:cubicBezTo>
                <a:lnTo>
                  <a:pt x="63500" y="338667"/>
                </a:lnTo>
                <a:cubicBezTo>
                  <a:pt x="28453" y="338667"/>
                  <a:pt x="0" y="310213"/>
                  <a:pt x="0" y="275167"/>
                </a:cubicBezTo>
                <a:lnTo>
                  <a:pt x="0" y="63500"/>
                </a:lnTo>
                <a:cubicBezTo>
                  <a:pt x="0" y="28453"/>
                  <a:pt x="28453" y="0"/>
                  <a:pt x="63500" y="0"/>
                </a:cubicBezTo>
                <a:close/>
              </a:path>
            </a:pathLst>
          </a:custGeom>
          <a:solidFill>
            <a:srgbClr val="3C8082"/>
          </a:solidFill>
          <a:ln/>
        </p:spPr>
        <p:txBody>
          <a:bodyPr/>
          <a:lstStyle/>
          <a:p>
            <a:endParaRPr lang="zh-CN" altLang="en-US"/>
          </a:p>
        </p:txBody>
      </p:sp>
      <p:sp>
        <p:nvSpPr>
          <p:cNvPr id="3" name="Text 1"/>
          <p:cNvSpPr/>
          <p:nvPr/>
        </p:nvSpPr>
        <p:spPr>
          <a:xfrm>
            <a:off x="381000" y="465667"/>
            <a:ext cx="423333" cy="338667"/>
          </a:xfrm>
          <a:prstGeom prst="rect">
            <a:avLst/>
          </a:prstGeom>
          <a:noFill/>
          <a:ln/>
        </p:spPr>
        <p:txBody>
          <a:bodyPr wrap="square" lIns="0" tIns="0" rIns="0" bIns="0" rtlCol="0" anchor="ctr"/>
          <a:lstStyle/>
          <a:p>
            <a:pPr algn="ctr">
              <a:lnSpc>
                <a:spcPct val="130000"/>
              </a:lnSpc>
            </a:pPr>
            <a:r>
              <a:rPr lang="en-US" sz="1333" b="1" dirty="0">
                <a:solidFill>
                  <a:srgbClr val="FFFFFF"/>
                </a:solidFill>
                <a:latin typeface="Liter" pitchFamily="34" charset="0"/>
                <a:ea typeface="Liter" pitchFamily="34" charset="-122"/>
                <a:cs typeface="Liter" pitchFamily="34" charset="-120"/>
              </a:rPr>
              <a:t>03</a:t>
            </a:r>
            <a:endParaRPr lang="en-US" sz="1600" dirty="0"/>
          </a:p>
        </p:txBody>
      </p:sp>
      <p:sp>
        <p:nvSpPr>
          <p:cNvPr id="4" name="Text 2"/>
          <p:cNvSpPr/>
          <p:nvPr/>
        </p:nvSpPr>
        <p:spPr>
          <a:xfrm>
            <a:off x="889000" y="423333"/>
            <a:ext cx="5958417" cy="423333"/>
          </a:xfrm>
          <a:prstGeom prst="rect">
            <a:avLst/>
          </a:prstGeom>
          <a:noFill/>
          <a:ln/>
        </p:spPr>
        <p:txBody>
          <a:bodyPr wrap="square" lIns="0" tIns="0" rIns="0" bIns="0" rtlCol="0" anchor="ctr"/>
          <a:lstStyle/>
          <a:p>
            <a:pPr>
              <a:lnSpc>
                <a:spcPct val="90000"/>
              </a:lnSpc>
            </a:pPr>
            <a:r>
              <a:rPr lang="en-US" sz="3000" b="1" dirty="0">
                <a:solidFill>
                  <a:srgbClr val="E0E2E4"/>
                </a:solidFill>
                <a:latin typeface="MiSans" pitchFamily="34" charset="0"/>
                <a:ea typeface="MiSans" pitchFamily="34" charset="-122"/>
                <a:cs typeface="MiSans" pitchFamily="34" charset="-120"/>
              </a:rPr>
              <a:t>YARN与Kubernetes:架构哲学对比</a:t>
            </a:r>
            <a:endParaRPr lang="en-US" sz="1600" dirty="0"/>
          </a:p>
        </p:txBody>
      </p:sp>
      <p:sp>
        <p:nvSpPr>
          <p:cNvPr id="5" name="Text 3"/>
          <p:cNvSpPr/>
          <p:nvPr/>
        </p:nvSpPr>
        <p:spPr>
          <a:xfrm>
            <a:off x="423333" y="931333"/>
            <a:ext cx="15504583" cy="296333"/>
          </a:xfrm>
          <a:prstGeom prst="rect">
            <a:avLst/>
          </a:prstGeom>
          <a:noFill/>
          <a:ln/>
        </p:spPr>
        <p:txBody>
          <a:bodyPr wrap="square" lIns="0" tIns="0" rIns="0" bIns="0" rtlCol="0" anchor="ctr"/>
          <a:lstStyle/>
          <a:p>
            <a:pPr>
              <a:lnSpc>
                <a:spcPct val="130000"/>
              </a:lnSpc>
            </a:pPr>
            <a:r>
              <a:rPr lang="en-US" sz="1500" b="1" dirty="0">
                <a:solidFill>
                  <a:srgbClr val="B38B59"/>
                </a:solidFill>
                <a:latin typeface="MiSans" pitchFamily="34" charset="0"/>
                <a:ea typeface="MiSans" pitchFamily="34" charset="-122"/>
                <a:cs typeface="MiSans" pitchFamily="34" charset="-120"/>
              </a:rPr>
              <a:t>两种技术的架构设计理念与核心组件对比</a:t>
            </a:r>
            <a:endParaRPr lang="en-US" sz="1600" dirty="0"/>
          </a:p>
        </p:txBody>
      </p:sp>
      <p:sp>
        <p:nvSpPr>
          <p:cNvPr id="6" name="Shape 4"/>
          <p:cNvSpPr/>
          <p:nvPr/>
        </p:nvSpPr>
        <p:spPr>
          <a:xfrm>
            <a:off x="428625" y="1402292"/>
            <a:ext cx="7609417" cy="6330899"/>
          </a:xfrm>
          <a:custGeom>
            <a:avLst/>
            <a:gdLst/>
            <a:ahLst/>
            <a:cxnLst/>
            <a:rect l="l" t="t" r="r" b="b"/>
            <a:pathLst>
              <a:path w="7609417" h="7387167">
                <a:moveTo>
                  <a:pt x="84657" y="0"/>
                </a:moveTo>
                <a:lnTo>
                  <a:pt x="7524760" y="0"/>
                </a:lnTo>
                <a:cubicBezTo>
                  <a:pt x="7571514" y="0"/>
                  <a:pt x="7609417" y="37902"/>
                  <a:pt x="7609417" y="84657"/>
                </a:cubicBezTo>
                <a:lnTo>
                  <a:pt x="7609417" y="7302510"/>
                </a:lnTo>
                <a:cubicBezTo>
                  <a:pt x="7609417" y="7349264"/>
                  <a:pt x="7571514" y="7387167"/>
                  <a:pt x="7524760" y="7387167"/>
                </a:cubicBezTo>
                <a:lnTo>
                  <a:pt x="84657" y="7387167"/>
                </a:lnTo>
                <a:cubicBezTo>
                  <a:pt x="37902" y="7387167"/>
                  <a:pt x="0" y="7349264"/>
                  <a:pt x="0" y="7302510"/>
                </a:cubicBezTo>
                <a:lnTo>
                  <a:pt x="0" y="84657"/>
                </a:lnTo>
                <a:cubicBezTo>
                  <a:pt x="0" y="37933"/>
                  <a:pt x="37933" y="0"/>
                  <a:pt x="84657"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03250" y="1576917"/>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3C8082"/>
          </a:solidFill>
          <a:ln/>
        </p:spPr>
        <p:txBody>
          <a:bodyPr/>
          <a:lstStyle/>
          <a:p>
            <a:endParaRPr lang="zh-CN" altLang="en-US"/>
          </a:p>
        </p:txBody>
      </p:sp>
      <p:sp>
        <p:nvSpPr>
          <p:cNvPr id="8" name="Shape 6"/>
          <p:cNvSpPr/>
          <p:nvPr/>
        </p:nvSpPr>
        <p:spPr>
          <a:xfrm>
            <a:off x="746125" y="1703917"/>
            <a:ext cx="222250" cy="254000"/>
          </a:xfrm>
          <a:custGeom>
            <a:avLst/>
            <a:gdLst/>
            <a:ahLst/>
            <a:cxnLst/>
            <a:rect l="l" t="t" r="r" b="b"/>
            <a:pathLst>
              <a:path w="222250" h="254000">
                <a:moveTo>
                  <a:pt x="31750" y="15875"/>
                </a:moveTo>
                <a:cubicBezTo>
                  <a:pt x="14238" y="15875"/>
                  <a:pt x="0" y="30113"/>
                  <a:pt x="0" y="47625"/>
                </a:cubicBezTo>
                <a:lnTo>
                  <a:pt x="0" y="79375"/>
                </a:lnTo>
                <a:cubicBezTo>
                  <a:pt x="0" y="96887"/>
                  <a:pt x="14238" y="111125"/>
                  <a:pt x="31750" y="111125"/>
                </a:cubicBezTo>
                <a:lnTo>
                  <a:pt x="190500" y="111125"/>
                </a:lnTo>
                <a:cubicBezTo>
                  <a:pt x="208012" y="111125"/>
                  <a:pt x="222250" y="96887"/>
                  <a:pt x="222250" y="79375"/>
                </a:cubicBezTo>
                <a:lnTo>
                  <a:pt x="222250" y="47625"/>
                </a:lnTo>
                <a:cubicBezTo>
                  <a:pt x="222250" y="30113"/>
                  <a:pt x="208012" y="15875"/>
                  <a:pt x="190500" y="15875"/>
                </a:cubicBezTo>
                <a:lnTo>
                  <a:pt x="31750" y="15875"/>
                </a:lnTo>
                <a:close/>
                <a:moveTo>
                  <a:pt x="138906" y="51594"/>
                </a:moveTo>
                <a:cubicBezTo>
                  <a:pt x="145477" y="51594"/>
                  <a:pt x="150813" y="56929"/>
                  <a:pt x="150813" y="63500"/>
                </a:cubicBezTo>
                <a:cubicBezTo>
                  <a:pt x="150813" y="70071"/>
                  <a:pt x="145477" y="75406"/>
                  <a:pt x="138906" y="75406"/>
                </a:cubicBezTo>
                <a:cubicBezTo>
                  <a:pt x="132335" y="75406"/>
                  <a:pt x="127000" y="70071"/>
                  <a:pt x="127000" y="63500"/>
                </a:cubicBezTo>
                <a:cubicBezTo>
                  <a:pt x="127000" y="56929"/>
                  <a:pt x="132335" y="51594"/>
                  <a:pt x="138906" y="51594"/>
                </a:cubicBezTo>
                <a:close/>
                <a:moveTo>
                  <a:pt x="166688" y="63500"/>
                </a:moveTo>
                <a:cubicBezTo>
                  <a:pt x="166688" y="56929"/>
                  <a:pt x="172023" y="51594"/>
                  <a:pt x="178594" y="51594"/>
                </a:cubicBezTo>
                <a:cubicBezTo>
                  <a:pt x="185165" y="51594"/>
                  <a:pt x="190500" y="56929"/>
                  <a:pt x="190500" y="63500"/>
                </a:cubicBezTo>
                <a:cubicBezTo>
                  <a:pt x="190500" y="70071"/>
                  <a:pt x="185165" y="75406"/>
                  <a:pt x="178594" y="75406"/>
                </a:cubicBezTo>
                <a:cubicBezTo>
                  <a:pt x="172023" y="75406"/>
                  <a:pt x="166688" y="70071"/>
                  <a:pt x="166688" y="63500"/>
                </a:cubicBezTo>
                <a:close/>
                <a:moveTo>
                  <a:pt x="31750" y="142875"/>
                </a:moveTo>
                <a:cubicBezTo>
                  <a:pt x="14238" y="142875"/>
                  <a:pt x="0" y="157113"/>
                  <a:pt x="0" y="174625"/>
                </a:cubicBezTo>
                <a:lnTo>
                  <a:pt x="0" y="206375"/>
                </a:lnTo>
                <a:cubicBezTo>
                  <a:pt x="0" y="223887"/>
                  <a:pt x="14238" y="238125"/>
                  <a:pt x="31750" y="238125"/>
                </a:cubicBezTo>
                <a:lnTo>
                  <a:pt x="190500" y="238125"/>
                </a:lnTo>
                <a:cubicBezTo>
                  <a:pt x="208012" y="238125"/>
                  <a:pt x="222250" y="223887"/>
                  <a:pt x="222250" y="206375"/>
                </a:cubicBezTo>
                <a:lnTo>
                  <a:pt x="222250" y="174625"/>
                </a:lnTo>
                <a:cubicBezTo>
                  <a:pt x="222250" y="157113"/>
                  <a:pt x="208012" y="142875"/>
                  <a:pt x="190500" y="142875"/>
                </a:cubicBezTo>
                <a:lnTo>
                  <a:pt x="31750" y="142875"/>
                </a:lnTo>
                <a:close/>
                <a:moveTo>
                  <a:pt x="138906" y="178594"/>
                </a:moveTo>
                <a:cubicBezTo>
                  <a:pt x="145477" y="178594"/>
                  <a:pt x="150813" y="183929"/>
                  <a:pt x="150813" y="190500"/>
                </a:cubicBezTo>
                <a:cubicBezTo>
                  <a:pt x="150813" y="197071"/>
                  <a:pt x="145477" y="202406"/>
                  <a:pt x="138906" y="202406"/>
                </a:cubicBezTo>
                <a:cubicBezTo>
                  <a:pt x="132335" y="202406"/>
                  <a:pt x="127000" y="197071"/>
                  <a:pt x="127000" y="190500"/>
                </a:cubicBezTo>
                <a:cubicBezTo>
                  <a:pt x="127000" y="183929"/>
                  <a:pt x="132335" y="178594"/>
                  <a:pt x="138906" y="178594"/>
                </a:cubicBezTo>
                <a:close/>
                <a:moveTo>
                  <a:pt x="166688" y="190500"/>
                </a:moveTo>
                <a:cubicBezTo>
                  <a:pt x="166688" y="183929"/>
                  <a:pt x="172023" y="178594"/>
                  <a:pt x="178594" y="178594"/>
                </a:cubicBezTo>
                <a:cubicBezTo>
                  <a:pt x="185165" y="178594"/>
                  <a:pt x="190500" y="183929"/>
                  <a:pt x="190500" y="190500"/>
                </a:cubicBezTo>
                <a:cubicBezTo>
                  <a:pt x="190500" y="197071"/>
                  <a:pt x="185165" y="202406"/>
                  <a:pt x="178594" y="202406"/>
                </a:cubicBezTo>
                <a:cubicBezTo>
                  <a:pt x="172023" y="202406"/>
                  <a:pt x="166688" y="197071"/>
                  <a:pt x="166688" y="190500"/>
                </a:cubicBezTo>
                <a:close/>
              </a:path>
            </a:pathLst>
          </a:custGeom>
          <a:solidFill>
            <a:srgbClr val="FFFFFF"/>
          </a:solidFill>
          <a:ln/>
        </p:spPr>
        <p:txBody>
          <a:bodyPr/>
          <a:lstStyle/>
          <a:p>
            <a:endParaRPr lang="zh-CN" altLang="en-US"/>
          </a:p>
        </p:txBody>
      </p:sp>
      <p:sp>
        <p:nvSpPr>
          <p:cNvPr id="9" name="Text 7"/>
          <p:cNvSpPr/>
          <p:nvPr/>
        </p:nvSpPr>
        <p:spPr>
          <a:xfrm>
            <a:off x="1238250" y="1661583"/>
            <a:ext cx="793750" cy="338667"/>
          </a:xfrm>
          <a:prstGeom prst="rect">
            <a:avLst/>
          </a:prstGeom>
          <a:noFill/>
          <a:ln/>
        </p:spPr>
        <p:txBody>
          <a:bodyPr wrap="square" lIns="0" tIns="0" rIns="0" bIns="0" rtlCol="0" anchor="ctr"/>
          <a:lstStyle/>
          <a:p>
            <a:pPr>
              <a:lnSpc>
                <a:spcPct val="110000"/>
              </a:lnSpc>
            </a:pPr>
            <a:r>
              <a:rPr lang="en-US" sz="2000" b="1" dirty="0">
                <a:solidFill>
                  <a:srgbClr val="E0E2E4"/>
                </a:solidFill>
                <a:latin typeface="MiSans" pitchFamily="34" charset="0"/>
                <a:ea typeface="MiSans" pitchFamily="34" charset="-122"/>
                <a:cs typeface="MiSans" pitchFamily="34" charset="-120"/>
              </a:rPr>
              <a:t>YARN</a:t>
            </a:r>
            <a:endParaRPr lang="en-US" sz="1600" dirty="0"/>
          </a:p>
        </p:txBody>
      </p:sp>
      <p:sp>
        <p:nvSpPr>
          <p:cNvPr id="10" name="Shape 8"/>
          <p:cNvSpPr/>
          <p:nvPr/>
        </p:nvSpPr>
        <p:spPr>
          <a:xfrm>
            <a:off x="603250" y="2211917"/>
            <a:ext cx="7260167" cy="1460500"/>
          </a:xfrm>
          <a:custGeom>
            <a:avLst/>
            <a:gdLst/>
            <a:ahLst/>
            <a:cxnLst/>
            <a:rect l="l" t="t" r="r" b="b"/>
            <a:pathLst>
              <a:path w="7260167" h="1460500">
                <a:moveTo>
                  <a:pt x="84665" y="0"/>
                </a:moveTo>
                <a:lnTo>
                  <a:pt x="7175501" y="0"/>
                </a:lnTo>
                <a:cubicBezTo>
                  <a:pt x="7222261" y="0"/>
                  <a:pt x="7260167" y="37906"/>
                  <a:pt x="7260167" y="84665"/>
                </a:cubicBezTo>
                <a:lnTo>
                  <a:pt x="7260167" y="1375835"/>
                </a:lnTo>
                <a:cubicBezTo>
                  <a:pt x="7260167" y="1422594"/>
                  <a:pt x="7222261" y="1460500"/>
                  <a:pt x="7175501" y="1460500"/>
                </a:cubicBezTo>
                <a:lnTo>
                  <a:pt x="84665" y="1460500"/>
                </a:lnTo>
                <a:cubicBezTo>
                  <a:pt x="37906" y="1460500"/>
                  <a:pt x="0" y="1422594"/>
                  <a:pt x="0" y="1375835"/>
                </a:cubicBezTo>
                <a:lnTo>
                  <a:pt x="0" y="84665"/>
                </a:lnTo>
                <a:cubicBezTo>
                  <a:pt x="0" y="37937"/>
                  <a:pt x="37937" y="0"/>
                  <a:pt x="84665" y="0"/>
                </a:cubicBezTo>
                <a:close/>
              </a:path>
            </a:pathLst>
          </a:custGeom>
          <a:solidFill>
            <a:srgbClr val="1A1D21">
              <a:alpha val="50196"/>
            </a:srgbClr>
          </a:solidFill>
          <a:ln/>
        </p:spPr>
        <p:txBody>
          <a:bodyPr/>
          <a:lstStyle/>
          <a:p>
            <a:endParaRPr lang="zh-CN" altLang="en-US"/>
          </a:p>
        </p:txBody>
      </p:sp>
      <p:sp>
        <p:nvSpPr>
          <p:cNvPr id="11" name="Text 9"/>
          <p:cNvSpPr/>
          <p:nvPr/>
        </p:nvSpPr>
        <p:spPr>
          <a:xfrm>
            <a:off x="730250" y="2338917"/>
            <a:ext cx="7101417" cy="296333"/>
          </a:xfrm>
          <a:prstGeom prst="rect">
            <a:avLst/>
          </a:prstGeom>
          <a:noFill/>
          <a:ln/>
        </p:spPr>
        <p:txBody>
          <a:bodyPr wrap="square" lIns="0" tIns="0" rIns="0" bIns="0" rtlCol="0" anchor="ctr"/>
          <a:lstStyle/>
          <a:p>
            <a:pPr>
              <a:lnSpc>
                <a:spcPct val="130000"/>
              </a:lnSpc>
            </a:pPr>
            <a:r>
              <a:rPr lang="en-US" sz="1500" b="1" dirty="0">
                <a:solidFill>
                  <a:srgbClr val="B38B59"/>
                </a:solidFill>
                <a:latin typeface="MiSans" pitchFamily="34" charset="0"/>
                <a:ea typeface="MiSans" pitchFamily="34" charset="-122"/>
                <a:cs typeface="MiSans" pitchFamily="34" charset="-120"/>
              </a:rPr>
              <a:t>架构哲学:专业化分工</a:t>
            </a:r>
            <a:endParaRPr lang="en-US" sz="1600" dirty="0"/>
          </a:p>
        </p:txBody>
      </p:sp>
      <p:sp>
        <p:nvSpPr>
          <p:cNvPr id="12" name="Text 10"/>
          <p:cNvSpPr/>
          <p:nvPr/>
        </p:nvSpPr>
        <p:spPr>
          <a:xfrm>
            <a:off x="730250" y="2719917"/>
            <a:ext cx="7090833" cy="825500"/>
          </a:xfrm>
          <a:prstGeom prst="rect">
            <a:avLst/>
          </a:prstGeom>
          <a:noFill/>
          <a:ln/>
        </p:spPr>
        <p:txBody>
          <a:bodyPr wrap="square" lIns="0" tIns="0" rIns="0" bIns="0" rtlCol="0" anchor="ctr"/>
          <a:lstStyle/>
          <a:p>
            <a:pPr>
              <a:lnSpc>
                <a:spcPct val="140000"/>
              </a:lnSpc>
            </a:pPr>
            <a:r>
              <a:rPr lang="en-US" sz="1333" dirty="0">
                <a:solidFill>
                  <a:srgbClr val="E0E2E4">
                    <a:alpha val="80000"/>
                  </a:srgbClr>
                </a:solidFill>
                <a:latin typeface="MiSans" pitchFamily="34" charset="0"/>
                <a:ea typeface="MiSans" pitchFamily="34" charset="-122"/>
                <a:cs typeface="MiSans" pitchFamily="34" charset="-120"/>
              </a:rPr>
              <a:t>YARN秉承"专业化分工"理念,专注于解决大数据处理中的资源管理问题,通过精细化的资源调度来最大化集群的计算效率。这种专业化设计使得YARN在处理大规模批处理作业时具有天然优势。</a:t>
            </a:r>
            <a:endParaRPr lang="en-US" sz="1600" dirty="0"/>
          </a:p>
        </p:txBody>
      </p:sp>
      <p:sp>
        <p:nvSpPr>
          <p:cNvPr id="13" name="Text 11"/>
          <p:cNvSpPr/>
          <p:nvPr/>
        </p:nvSpPr>
        <p:spPr>
          <a:xfrm>
            <a:off x="603250" y="3799417"/>
            <a:ext cx="734483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核心架构组件</a:t>
            </a:r>
            <a:endParaRPr lang="en-US" sz="1600" dirty="0"/>
          </a:p>
        </p:txBody>
      </p:sp>
      <p:sp>
        <p:nvSpPr>
          <p:cNvPr id="14" name="Shape 12"/>
          <p:cNvSpPr/>
          <p:nvPr/>
        </p:nvSpPr>
        <p:spPr>
          <a:xfrm>
            <a:off x="603250" y="4138083"/>
            <a:ext cx="3587750" cy="677333"/>
          </a:xfrm>
          <a:custGeom>
            <a:avLst/>
            <a:gdLst/>
            <a:ahLst/>
            <a:cxnLst/>
            <a:rect l="l" t="t" r="r" b="b"/>
            <a:pathLst>
              <a:path w="3587750" h="677333">
                <a:moveTo>
                  <a:pt x="84667" y="0"/>
                </a:moveTo>
                <a:lnTo>
                  <a:pt x="3503083" y="0"/>
                </a:lnTo>
                <a:cubicBezTo>
                  <a:pt x="3549843" y="0"/>
                  <a:pt x="3587750" y="37907"/>
                  <a:pt x="3587750" y="84667"/>
                </a:cubicBezTo>
                <a:lnTo>
                  <a:pt x="3587750" y="592667"/>
                </a:lnTo>
                <a:cubicBezTo>
                  <a:pt x="3587750" y="639427"/>
                  <a:pt x="3549843" y="677333"/>
                  <a:pt x="3503083" y="677333"/>
                </a:cubicBezTo>
                <a:lnTo>
                  <a:pt x="84667" y="677333"/>
                </a:lnTo>
                <a:cubicBezTo>
                  <a:pt x="37907" y="677333"/>
                  <a:pt x="0" y="639427"/>
                  <a:pt x="0" y="592667"/>
                </a:cubicBezTo>
                <a:lnTo>
                  <a:pt x="0" y="84667"/>
                </a:lnTo>
                <a:cubicBezTo>
                  <a:pt x="0" y="37907"/>
                  <a:pt x="37907" y="0"/>
                  <a:pt x="84667" y="0"/>
                </a:cubicBezTo>
                <a:close/>
              </a:path>
            </a:pathLst>
          </a:custGeom>
          <a:solidFill>
            <a:srgbClr val="3C8082">
              <a:alpha val="20000"/>
            </a:srgbClr>
          </a:solidFill>
          <a:ln/>
        </p:spPr>
        <p:txBody>
          <a:bodyPr/>
          <a:lstStyle/>
          <a:p>
            <a:endParaRPr lang="zh-CN" altLang="en-US"/>
          </a:p>
        </p:txBody>
      </p:sp>
      <p:sp>
        <p:nvSpPr>
          <p:cNvPr id="15" name="Text 13"/>
          <p:cNvSpPr/>
          <p:nvPr/>
        </p:nvSpPr>
        <p:spPr>
          <a:xfrm>
            <a:off x="687917" y="4222750"/>
            <a:ext cx="350308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ResourceManager</a:t>
            </a:r>
            <a:endParaRPr lang="en-US" sz="1600" dirty="0"/>
          </a:p>
        </p:txBody>
      </p:sp>
      <p:sp>
        <p:nvSpPr>
          <p:cNvPr id="16" name="Text 14"/>
          <p:cNvSpPr/>
          <p:nvPr/>
        </p:nvSpPr>
        <p:spPr>
          <a:xfrm>
            <a:off x="687917" y="4519083"/>
            <a:ext cx="3492500"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集群级资源协调者,掌控全局资源分配策略</a:t>
            </a:r>
            <a:endParaRPr lang="en-US" sz="1600" dirty="0"/>
          </a:p>
        </p:txBody>
      </p:sp>
      <p:sp>
        <p:nvSpPr>
          <p:cNvPr id="17" name="Shape 15"/>
          <p:cNvSpPr/>
          <p:nvPr/>
        </p:nvSpPr>
        <p:spPr>
          <a:xfrm>
            <a:off x="4275667" y="4138083"/>
            <a:ext cx="3587750" cy="677333"/>
          </a:xfrm>
          <a:custGeom>
            <a:avLst/>
            <a:gdLst/>
            <a:ahLst/>
            <a:cxnLst/>
            <a:rect l="l" t="t" r="r" b="b"/>
            <a:pathLst>
              <a:path w="3587750" h="677333">
                <a:moveTo>
                  <a:pt x="84667" y="0"/>
                </a:moveTo>
                <a:lnTo>
                  <a:pt x="3503083" y="0"/>
                </a:lnTo>
                <a:cubicBezTo>
                  <a:pt x="3549843" y="0"/>
                  <a:pt x="3587750" y="37907"/>
                  <a:pt x="3587750" y="84667"/>
                </a:cubicBezTo>
                <a:lnTo>
                  <a:pt x="3587750" y="592667"/>
                </a:lnTo>
                <a:cubicBezTo>
                  <a:pt x="3587750" y="639427"/>
                  <a:pt x="3549843" y="677333"/>
                  <a:pt x="3503083" y="677333"/>
                </a:cubicBezTo>
                <a:lnTo>
                  <a:pt x="84667" y="677333"/>
                </a:lnTo>
                <a:cubicBezTo>
                  <a:pt x="37907" y="677333"/>
                  <a:pt x="0" y="639427"/>
                  <a:pt x="0" y="592667"/>
                </a:cubicBezTo>
                <a:lnTo>
                  <a:pt x="0" y="84667"/>
                </a:lnTo>
                <a:cubicBezTo>
                  <a:pt x="0" y="37907"/>
                  <a:pt x="37907" y="0"/>
                  <a:pt x="84667" y="0"/>
                </a:cubicBezTo>
                <a:close/>
              </a:path>
            </a:pathLst>
          </a:custGeom>
          <a:solidFill>
            <a:srgbClr val="3C8082">
              <a:alpha val="20000"/>
            </a:srgbClr>
          </a:solidFill>
          <a:ln/>
        </p:spPr>
        <p:txBody>
          <a:bodyPr/>
          <a:lstStyle/>
          <a:p>
            <a:endParaRPr lang="zh-CN" altLang="en-US"/>
          </a:p>
        </p:txBody>
      </p:sp>
      <p:sp>
        <p:nvSpPr>
          <p:cNvPr id="18" name="Text 16"/>
          <p:cNvSpPr/>
          <p:nvPr/>
        </p:nvSpPr>
        <p:spPr>
          <a:xfrm>
            <a:off x="4360333" y="4222750"/>
            <a:ext cx="350308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NodeManager</a:t>
            </a:r>
            <a:endParaRPr lang="en-US" sz="1600" dirty="0"/>
          </a:p>
        </p:txBody>
      </p:sp>
      <p:sp>
        <p:nvSpPr>
          <p:cNvPr id="19" name="Text 17"/>
          <p:cNvSpPr/>
          <p:nvPr/>
        </p:nvSpPr>
        <p:spPr>
          <a:xfrm>
            <a:off x="4360333" y="4519083"/>
            <a:ext cx="3492500"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节点级资源守护者,监控本地资源使用情况</a:t>
            </a:r>
            <a:endParaRPr lang="en-US" sz="1600" dirty="0"/>
          </a:p>
        </p:txBody>
      </p:sp>
      <p:sp>
        <p:nvSpPr>
          <p:cNvPr id="20" name="Shape 18"/>
          <p:cNvSpPr/>
          <p:nvPr/>
        </p:nvSpPr>
        <p:spPr>
          <a:xfrm>
            <a:off x="603250" y="4900083"/>
            <a:ext cx="3587750" cy="677333"/>
          </a:xfrm>
          <a:custGeom>
            <a:avLst/>
            <a:gdLst/>
            <a:ahLst/>
            <a:cxnLst/>
            <a:rect l="l" t="t" r="r" b="b"/>
            <a:pathLst>
              <a:path w="3587750" h="677333">
                <a:moveTo>
                  <a:pt x="84667" y="0"/>
                </a:moveTo>
                <a:lnTo>
                  <a:pt x="3503083" y="0"/>
                </a:lnTo>
                <a:cubicBezTo>
                  <a:pt x="3549843" y="0"/>
                  <a:pt x="3587750" y="37907"/>
                  <a:pt x="3587750" y="84667"/>
                </a:cubicBezTo>
                <a:lnTo>
                  <a:pt x="3587750" y="592667"/>
                </a:lnTo>
                <a:cubicBezTo>
                  <a:pt x="3587750" y="639427"/>
                  <a:pt x="3549843" y="677333"/>
                  <a:pt x="3503083" y="677333"/>
                </a:cubicBezTo>
                <a:lnTo>
                  <a:pt x="84667" y="677333"/>
                </a:lnTo>
                <a:cubicBezTo>
                  <a:pt x="37907" y="677333"/>
                  <a:pt x="0" y="639427"/>
                  <a:pt x="0" y="592667"/>
                </a:cubicBezTo>
                <a:lnTo>
                  <a:pt x="0" y="84667"/>
                </a:lnTo>
                <a:cubicBezTo>
                  <a:pt x="0" y="37907"/>
                  <a:pt x="37907" y="0"/>
                  <a:pt x="84667" y="0"/>
                </a:cubicBezTo>
                <a:close/>
              </a:path>
            </a:pathLst>
          </a:custGeom>
          <a:solidFill>
            <a:srgbClr val="3C8082">
              <a:alpha val="20000"/>
            </a:srgbClr>
          </a:solidFill>
          <a:ln/>
        </p:spPr>
        <p:txBody>
          <a:bodyPr/>
          <a:lstStyle/>
          <a:p>
            <a:endParaRPr lang="zh-CN" altLang="en-US"/>
          </a:p>
        </p:txBody>
      </p:sp>
      <p:sp>
        <p:nvSpPr>
          <p:cNvPr id="21" name="Text 19"/>
          <p:cNvSpPr/>
          <p:nvPr/>
        </p:nvSpPr>
        <p:spPr>
          <a:xfrm>
            <a:off x="687917" y="4984750"/>
            <a:ext cx="350308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ApplicationMaster</a:t>
            </a:r>
            <a:endParaRPr lang="en-US" sz="1600" dirty="0"/>
          </a:p>
        </p:txBody>
      </p:sp>
      <p:sp>
        <p:nvSpPr>
          <p:cNvPr id="22" name="Text 20"/>
          <p:cNvSpPr/>
          <p:nvPr/>
        </p:nvSpPr>
        <p:spPr>
          <a:xfrm>
            <a:off x="687917" y="5281083"/>
            <a:ext cx="3492500"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应用级资源代理,为特定作业争取和管理资源</a:t>
            </a:r>
            <a:endParaRPr lang="en-US" sz="1600" dirty="0"/>
          </a:p>
        </p:txBody>
      </p:sp>
      <p:sp>
        <p:nvSpPr>
          <p:cNvPr id="23" name="Shape 21"/>
          <p:cNvSpPr/>
          <p:nvPr/>
        </p:nvSpPr>
        <p:spPr>
          <a:xfrm>
            <a:off x="4275667" y="4900083"/>
            <a:ext cx="3587750" cy="677333"/>
          </a:xfrm>
          <a:custGeom>
            <a:avLst/>
            <a:gdLst/>
            <a:ahLst/>
            <a:cxnLst/>
            <a:rect l="l" t="t" r="r" b="b"/>
            <a:pathLst>
              <a:path w="3587750" h="677333">
                <a:moveTo>
                  <a:pt x="84667" y="0"/>
                </a:moveTo>
                <a:lnTo>
                  <a:pt x="3503083" y="0"/>
                </a:lnTo>
                <a:cubicBezTo>
                  <a:pt x="3549843" y="0"/>
                  <a:pt x="3587750" y="37907"/>
                  <a:pt x="3587750" y="84667"/>
                </a:cubicBezTo>
                <a:lnTo>
                  <a:pt x="3587750" y="592667"/>
                </a:lnTo>
                <a:cubicBezTo>
                  <a:pt x="3587750" y="639427"/>
                  <a:pt x="3549843" y="677333"/>
                  <a:pt x="3503083" y="677333"/>
                </a:cubicBezTo>
                <a:lnTo>
                  <a:pt x="84667" y="677333"/>
                </a:lnTo>
                <a:cubicBezTo>
                  <a:pt x="37907" y="677333"/>
                  <a:pt x="0" y="639427"/>
                  <a:pt x="0" y="592667"/>
                </a:cubicBezTo>
                <a:lnTo>
                  <a:pt x="0" y="84667"/>
                </a:lnTo>
                <a:cubicBezTo>
                  <a:pt x="0" y="37907"/>
                  <a:pt x="37907" y="0"/>
                  <a:pt x="84667" y="0"/>
                </a:cubicBezTo>
                <a:close/>
              </a:path>
            </a:pathLst>
          </a:custGeom>
          <a:solidFill>
            <a:srgbClr val="3C8082">
              <a:alpha val="20000"/>
            </a:srgbClr>
          </a:solidFill>
          <a:ln/>
        </p:spPr>
        <p:txBody>
          <a:bodyPr/>
          <a:lstStyle/>
          <a:p>
            <a:endParaRPr lang="zh-CN" altLang="en-US"/>
          </a:p>
        </p:txBody>
      </p:sp>
      <p:sp>
        <p:nvSpPr>
          <p:cNvPr id="24" name="Text 22"/>
          <p:cNvSpPr/>
          <p:nvPr/>
        </p:nvSpPr>
        <p:spPr>
          <a:xfrm>
            <a:off x="4360333" y="4984750"/>
            <a:ext cx="350308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Container</a:t>
            </a:r>
            <a:endParaRPr lang="en-US" sz="1600" dirty="0"/>
          </a:p>
        </p:txBody>
      </p:sp>
      <p:sp>
        <p:nvSpPr>
          <p:cNvPr id="25" name="Text 23"/>
          <p:cNvSpPr/>
          <p:nvPr/>
        </p:nvSpPr>
        <p:spPr>
          <a:xfrm>
            <a:off x="4360333" y="5281083"/>
            <a:ext cx="3492500"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资源分配的基本单元,类似于"资源包裹"</a:t>
            </a:r>
            <a:endParaRPr lang="en-US" sz="1600" dirty="0"/>
          </a:p>
        </p:txBody>
      </p:sp>
      <p:sp>
        <p:nvSpPr>
          <p:cNvPr id="26" name="Shape 24"/>
          <p:cNvSpPr/>
          <p:nvPr/>
        </p:nvSpPr>
        <p:spPr>
          <a:xfrm>
            <a:off x="603250" y="5704418"/>
            <a:ext cx="7260167" cy="1862666"/>
          </a:xfrm>
          <a:custGeom>
            <a:avLst/>
            <a:gdLst/>
            <a:ahLst/>
            <a:cxnLst/>
            <a:rect l="l" t="t" r="r" b="b"/>
            <a:pathLst>
              <a:path w="7260167" h="2910417">
                <a:moveTo>
                  <a:pt x="84664" y="0"/>
                </a:moveTo>
                <a:lnTo>
                  <a:pt x="7175503" y="0"/>
                </a:lnTo>
                <a:cubicBezTo>
                  <a:pt x="7222261" y="0"/>
                  <a:pt x="7260167" y="37905"/>
                  <a:pt x="7260167" y="84664"/>
                </a:cubicBezTo>
                <a:lnTo>
                  <a:pt x="7260167" y="2825753"/>
                </a:lnTo>
                <a:cubicBezTo>
                  <a:pt x="7260167" y="2872511"/>
                  <a:pt x="7222261" y="2910417"/>
                  <a:pt x="7175503" y="2910417"/>
                </a:cubicBezTo>
                <a:lnTo>
                  <a:pt x="84664" y="2910417"/>
                </a:lnTo>
                <a:cubicBezTo>
                  <a:pt x="37905" y="2910417"/>
                  <a:pt x="0" y="2872511"/>
                  <a:pt x="0" y="2825753"/>
                </a:cubicBezTo>
                <a:lnTo>
                  <a:pt x="0" y="84664"/>
                </a:lnTo>
                <a:cubicBezTo>
                  <a:pt x="0" y="37937"/>
                  <a:pt x="37937" y="0"/>
                  <a:pt x="84664" y="0"/>
                </a:cubicBezTo>
                <a:close/>
              </a:path>
            </a:pathLst>
          </a:custGeom>
          <a:solidFill>
            <a:srgbClr val="3C8082">
              <a:alpha val="20000"/>
            </a:srgbClr>
          </a:solidFill>
          <a:ln/>
        </p:spPr>
        <p:txBody>
          <a:bodyPr/>
          <a:lstStyle/>
          <a:p>
            <a:endParaRPr lang="zh-CN" altLang="en-US"/>
          </a:p>
        </p:txBody>
      </p:sp>
      <p:sp>
        <p:nvSpPr>
          <p:cNvPr id="27" name="Text 25"/>
          <p:cNvSpPr/>
          <p:nvPr/>
        </p:nvSpPr>
        <p:spPr>
          <a:xfrm>
            <a:off x="730250" y="5831417"/>
            <a:ext cx="709083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技术特性</a:t>
            </a:r>
            <a:endParaRPr lang="en-US" sz="1600" dirty="0"/>
          </a:p>
        </p:txBody>
      </p:sp>
      <p:sp>
        <p:nvSpPr>
          <p:cNvPr id="28" name="Shape 26"/>
          <p:cNvSpPr/>
          <p:nvPr/>
        </p:nvSpPr>
        <p:spPr>
          <a:xfrm>
            <a:off x="788458" y="6212417"/>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29" name="Text 27"/>
          <p:cNvSpPr/>
          <p:nvPr/>
        </p:nvSpPr>
        <p:spPr>
          <a:xfrm>
            <a:off x="1000125" y="6170083"/>
            <a:ext cx="337608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专注于大数据工作负载,如长时间运行的批处理作业</a:t>
            </a:r>
            <a:endParaRPr lang="en-US" sz="1600" dirty="0"/>
          </a:p>
        </p:txBody>
      </p:sp>
      <p:sp>
        <p:nvSpPr>
          <p:cNvPr id="30" name="Shape 28"/>
          <p:cNvSpPr/>
          <p:nvPr/>
        </p:nvSpPr>
        <p:spPr>
          <a:xfrm>
            <a:off x="788458" y="6487583"/>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31" name="Text 29"/>
          <p:cNvSpPr/>
          <p:nvPr/>
        </p:nvSpPr>
        <p:spPr>
          <a:xfrm>
            <a:off x="1000125" y="6445250"/>
            <a:ext cx="2338917"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数据本地性优化,减少网络数据传输</a:t>
            </a:r>
            <a:endParaRPr lang="en-US" sz="1600" dirty="0"/>
          </a:p>
        </p:txBody>
      </p:sp>
      <p:sp>
        <p:nvSpPr>
          <p:cNvPr id="32" name="Shape 30"/>
          <p:cNvSpPr/>
          <p:nvPr/>
        </p:nvSpPr>
        <p:spPr>
          <a:xfrm>
            <a:off x="788458" y="6762750"/>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33" name="Text 31"/>
          <p:cNvSpPr/>
          <p:nvPr/>
        </p:nvSpPr>
        <p:spPr>
          <a:xfrm>
            <a:off x="1000125" y="6720417"/>
            <a:ext cx="2148417"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集中式资源管理和作业调度分离</a:t>
            </a:r>
            <a:endParaRPr lang="en-US" sz="1600" dirty="0"/>
          </a:p>
        </p:txBody>
      </p:sp>
      <p:sp>
        <p:nvSpPr>
          <p:cNvPr id="34" name="Shape 32"/>
          <p:cNvSpPr/>
          <p:nvPr/>
        </p:nvSpPr>
        <p:spPr>
          <a:xfrm>
            <a:off x="788458" y="7037917"/>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35" name="Text 33"/>
          <p:cNvSpPr/>
          <p:nvPr/>
        </p:nvSpPr>
        <p:spPr>
          <a:xfrm>
            <a:off x="1000125" y="6995583"/>
            <a:ext cx="19367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与Hadoop生态系统深度集成</a:t>
            </a:r>
            <a:endParaRPr lang="en-US" sz="1600" dirty="0"/>
          </a:p>
        </p:txBody>
      </p:sp>
      <p:sp>
        <p:nvSpPr>
          <p:cNvPr id="36" name="Shape 34"/>
          <p:cNvSpPr/>
          <p:nvPr/>
        </p:nvSpPr>
        <p:spPr>
          <a:xfrm>
            <a:off x="8217958" y="1402292"/>
            <a:ext cx="7609417" cy="6330899"/>
          </a:xfrm>
          <a:custGeom>
            <a:avLst/>
            <a:gdLst/>
            <a:ahLst/>
            <a:cxnLst/>
            <a:rect l="l" t="t" r="r" b="b"/>
            <a:pathLst>
              <a:path w="7609417" h="7387167">
                <a:moveTo>
                  <a:pt x="84657" y="0"/>
                </a:moveTo>
                <a:lnTo>
                  <a:pt x="7524760" y="0"/>
                </a:lnTo>
                <a:cubicBezTo>
                  <a:pt x="7571514" y="0"/>
                  <a:pt x="7609417" y="37902"/>
                  <a:pt x="7609417" y="84657"/>
                </a:cubicBezTo>
                <a:lnTo>
                  <a:pt x="7609417" y="7302510"/>
                </a:lnTo>
                <a:cubicBezTo>
                  <a:pt x="7609417" y="7349264"/>
                  <a:pt x="7571514" y="7387167"/>
                  <a:pt x="7524760" y="7387167"/>
                </a:cubicBezTo>
                <a:lnTo>
                  <a:pt x="84657" y="7387167"/>
                </a:lnTo>
                <a:cubicBezTo>
                  <a:pt x="37902" y="7387167"/>
                  <a:pt x="0" y="7349264"/>
                  <a:pt x="0" y="7302510"/>
                </a:cubicBezTo>
                <a:lnTo>
                  <a:pt x="0" y="84657"/>
                </a:lnTo>
                <a:cubicBezTo>
                  <a:pt x="0" y="37933"/>
                  <a:pt x="37933" y="0"/>
                  <a:pt x="84657"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37" name="Shape 35"/>
          <p:cNvSpPr/>
          <p:nvPr/>
        </p:nvSpPr>
        <p:spPr>
          <a:xfrm>
            <a:off x="8392583" y="1576917"/>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B38B59"/>
          </a:solidFill>
          <a:ln/>
        </p:spPr>
        <p:txBody>
          <a:bodyPr/>
          <a:lstStyle/>
          <a:p>
            <a:endParaRPr lang="zh-CN" altLang="en-US"/>
          </a:p>
        </p:txBody>
      </p:sp>
      <p:sp>
        <p:nvSpPr>
          <p:cNvPr id="38" name="Shape 36"/>
          <p:cNvSpPr/>
          <p:nvPr/>
        </p:nvSpPr>
        <p:spPr>
          <a:xfrm>
            <a:off x="8519583" y="1703917"/>
            <a:ext cx="254000" cy="254000"/>
          </a:xfrm>
          <a:custGeom>
            <a:avLst/>
            <a:gdLst/>
            <a:ahLst/>
            <a:cxnLst/>
            <a:rect l="l" t="t" r="r" b="b"/>
            <a:pathLst>
              <a:path w="254000" h="254000">
                <a:moveTo>
                  <a:pt x="140891" y="-645"/>
                </a:moveTo>
                <a:cubicBezTo>
                  <a:pt x="132308" y="-5606"/>
                  <a:pt x="121692" y="-5606"/>
                  <a:pt x="113109" y="-645"/>
                </a:cubicBezTo>
                <a:lnTo>
                  <a:pt x="71338" y="23465"/>
                </a:lnTo>
                <a:cubicBezTo>
                  <a:pt x="62756" y="28426"/>
                  <a:pt x="57448" y="37604"/>
                  <a:pt x="57448" y="47526"/>
                </a:cubicBezTo>
                <a:lnTo>
                  <a:pt x="57448" y="98078"/>
                </a:lnTo>
                <a:lnTo>
                  <a:pt x="13643" y="123379"/>
                </a:lnTo>
                <a:cubicBezTo>
                  <a:pt x="5060" y="128339"/>
                  <a:pt x="-248" y="137517"/>
                  <a:pt x="-248" y="147439"/>
                </a:cubicBezTo>
                <a:lnTo>
                  <a:pt x="-248" y="195709"/>
                </a:lnTo>
                <a:cubicBezTo>
                  <a:pt x="-248" y="205631"/>
                  <a:pt x="5060" y="214809"/>
                  <a:pt x="13643" y="219770"/>
                </a:cubicBezTo>
                <a:lnTo>
                  <a:pt x="55463" y="243880"/>
                </a:lnTo>
                <a:cubicBezTo>
                  <a:pt x="64046" y="248841"/>
                  <a:pt x="74662" y="248841"/>
                  <a:pt x="83245" y="243880"/>
                </a:cubicBezTo>
                <a:lnTo>
                  <a:pt x="127050" y="218579"/>
                </a:lnTo>
                <a:lnTo>
                  <a:pt x="170855" y="243880"/>
                </a:lnTo>
                <a:cubicBezTo>
                  <a:pt x="179437" y="248841"/>
                  <a:pt x="190054" y="248841"/>
                  <a:pt x="198636" y="243880"/>
                </a:cubicBezTo>
                <a:lnTo>
                  <a:pt x="240357" y="219770"/>
                </a:lnTo>
                <a:cubicBezTo>
                  <a:pt x="248940" y="214809"/>
                  <a:pt x="254248" y="205631"/>
                  <a:pt x="254248" y="195709"/>
                </a:cubicBezTo>
                <a:lnTo>
                  <a:pt x="254248" y="147439"/>
                </a:lnTo>
                <a:cubicBezTo>
                  <a:pt x="254248" y="137517"/>
                  <a:pt x="248940" y="128339"/>
                  <a:pt x="240357" y="123379"/>
                </a:cubicBezTo>
                <a:lnTo>
                  <a:pt x="196552" y="98078"/>
                </a:lnTo>
                <a:lnTo>
                  <a:pt x="196552" y="47526"/>
                </a:lnTo>
                <a:cubicBezTo>
                  <a:pt x="196552" y="37604"/>
                  <a:pt x="191244" y="28426"/>
                  <a:pt x="182662" y="23465"/>
                </a:cubicBezTo>
                <a:lnTo>
                  <a:pt x="140891" y="-645"/>
                </a:lnTo>
                <a:close/>
                <a:moveTo>
                  <a:pt x="115094" y="145157"/>
                </a:moveTo>
                <a:lnTo>
                  <a:pt x="115094" y="197991"/>
                </a:lnTo>
                <a:lnTo>
                  <a:pt x="71289" y="223292"/>
                </a:lnTo>
                <a:cubicBezTo>
                  <a:pt x="70693" y="223639"/>
                  <a:pt x="69999" y="223838"/>
                  <a:pt x="69304" y="223838"/>
                </a:cubicBezTo>
                <a:lnTo>
                  <a:pt x="69304" y="171599"/>
                </a:lnTo>
                <a:lnTo>
                  <a:pt x="115094" y="145157"/>
                </a:lnTo>
                <a:close/>
                <a:moveTo>
                  <a:pt x="229890" y="145455"/>
                </a:moveTo>
                <a:cubicBezTo>
                  <a:pt x="230237" y="146050"/>
                  <a:pt x="230436" y="146745"/>
                  <a:pt x="230436" y="147439"/>
                </a:cubicBezTo>
                <a:lnTo>
                  <a:pt x="230436" y="195709"/>
                </a:lnTo>
                <a:cubicBezTo>
                  <a:pt x="230436" y="197148"/>
                  <a:pt x="229691" y="198438"/>
                  <a:pt x="228451" y="199132"/>
                </a:cubicBezTo>
                <a:lnTo>
                  <a:pt x="186630" y="223242"/>
                </a:lnTo>
                <a:cubicBezTo>
                  <a:pt x="186035" y="223589"/>
                  <a:pt x="185341" y="223788"/>
                  <a:pt x="184646" y="223788"/>
                </a:cubicBezTo>
                <a:lnTo>
                  <a:pt x="184646" y="171549"/>
                </a:lnTo>
                <a:lnTo>
                  <a:pt x="229890" y="145455"/>
                </a:lnTo>
                <a:close/>
                <a:moveTo>
                  <a:pt x="172789" y="47526"/>
                </a:moveTo>
                <a:lnTo>
                  <a:pt x="172789" y="98078"/>
                </a:lnTo>
                <a:lnTo>
                  <a:pt x="127000" y="124520"/>
                </a:lnTo>
                <a:lnTo>
                  <a:pt x="127000" y="71686"/>
                </a:lnTo>
                <a:lnTo>
                  <a:pt x="172244" y="45591"/>
                </a:lnTo>
                <a:cubicBezTo>
                  <a:pt x="172591" y="46186"/>
                  <a:pt x="172789" y="46881"/>
                  <a:pt x="172789" y="47575"/>
                </a:cubicBezTo>
                <a:close/>
              </a:path>
            </a:pathLst>
          </a:custGeom>
          <a:solidFill>
            <a:srgbClr val="FFFFFF"/>
          </a:solidFill>
          <a:ln/>
        </p:spPr>
        <p:txBody>
          <a:bodyPr/>
          <a:lstStyle/>
          <a:p>
            <a:endParaRPr lang="zh-CN" altLang="en-US"/>
          </a:p>
        </p:txBody>
      </p:sp>
      <p:sp>
        <p:nvSpPr>
          <p:cNvPr id="39" name="Text 37"/>
          <p:cNvSpPr/>
          <p:nvPr/>
        </p:nvSpPr>
        <p:spPr>
          <a:xfrm>
            <a:off x="9027583" y="1661583"/>
            <a:ext cx="1460500" cy="338667"/>
          </a:xfrm>
          <a:prstGeom prst="rect">
            <a:avLst/>
          </a:prstGeom>
          <a:noFill/>
          <a:ln/>
        </p:spPr>
        <p:txBody>
          <a:bodyPr wrap="square" lIns="0" tIns="0" rIns="0" bIns="0" rtlCol="0" anchor="ctr"/>
          <a:lstStyle/>
          <a:p>
            <a:pPr>
              <a:lnSpc>
                <a:spcPct val="110000"/>
              </a:lnSpc>
            </a:pPr>
            <a:r>
              <a:rPr lang="en-US" sz="2000" b="1" dirty="0">
                <a:solidFill>
                  <a:srgbClr val="E0E2E4"/>
                </a:solidFill>
                <a:latin typeface="MiSans" pitchFamily="34" charset="0"/>
                <a:ea typeface="MiSans" pitchFamily="34" charset="-122"/>
                <a:cs typeface="MiSans" pitchFamily="34" charset="-120"/>
              </a:rPr>
              <a:t>Kubernetes</a:t>
            </a:r>
            <a:endParaRPr lang="en-US" sz="1600" dirty="0"/>
          </a:p>
        </p:txBody>
      </p:sp>
      <p:sp>
        <p:nvSpPr>
          <p:cNvPr id="40" name="Shape 38"/>
          <p:cNvSpPr/>
          <p:nvPr/>
        </p:nvSpPr>
        <p:spPr>
          <a:xfrm>
            <a:off x="8392583" y="2211917"/>
            <a:ext cx="7260167" cy="1460500"/>
          </a:xfrm>
          <a:custGeom>
            <a:avLst/>
            <a:gdLst/>
            <a:ahLst/>
            <a:cxnLst/>
            <a:rect l="l" t="t" r="r" b="b"/>
            <a:pathLst>
              <a:path w="7260167" h="1460500">
                <a:moveTo>
                  <a:pt x="84665" y="0"/>
                </a:moveTo>
                <a:lnTo>
                  <a:pt x="7175501" y="0"/>
                </a:lnTo>
                <a:cubicBezTo>
                  <a:pt x="7222261" y="0"/>
                  <a:pt x="7260167" y="37906"/>
                  <a:pt x="7260167" y="84665"/>
                </a:cubicBezTo>
                <a:lnTo>
                  <a:pt x="7260167" y="1375835"/>
                </a:lnTo>
                <a:cubicBezTo>
                  <a:pt x="7260167" y="1422594"/>
                  <a:pt x="7222261" y="1460500"/>
                  <a:pt x="7175501" y="1460500"/>
                </a:cubicBezTo>
                <a:lnTo>
                  <a:pt x="84665" y="1460500"/>
                </a:lnTo>
                <a:cubicBezTo>
                  <a:pt x="37906" y="1460500"/>
                  <a:pt x="0" y="1422594"/>
                  <a:pt x="0" y="1375835"/>
                </a:cubicBezTo>
                <a:lnTo>
                  <a:pt x="0" y="84665"/>
                </a:lnTo>
                <a:cubicBezTo>
                  <a:pt x="0" y="37937"/>
                  <a:pt x="37937" y="0"/>
                  <a:pt x="84665" y="0"/>
                </a:cubicBezTo>
                <a:close/>
              </a:path>
            </a:pathLst>
          </a:custGeom>
          <a:solidFill>
            <a:srgbClr val="1A1D21">
              <a:alpha val="50196"/>
            </a:srgbClr>
          </a:solidFill>
          <a:ln/>
        </p:spPr>
        <p:txBody>
          <a:bodyPr/>
          <a:lstStyle/>
          <a:p>
            <a:endParaRPr lang="zh-CN" altLang="en-US"/>
          </a:p>
        </p:txBody>
      </p:sp>
      <p:sp>
        <p:nvSpPr>
          <p:cNvPr id="41" name="Text 39"/>
          <p:cNvSpPr/>
          <p:nvPr/>
        </p:nvSpPr>
        <p:spPr>
          <a:xfrm>
            <a:off x="8519583" y="2338917"/>
            <a:ext cx="7101417" cy="296333"/>
          </a:xfrm>
          <a:prstGeom prst="rect">
            <a:avLst/>
          </a:prstGeom>
          <a:noFill/>
          <a:ln/>
        </p:spPr>
        <p:txBody>
          <a:bodyPr wrap="square" lIns="0" tIns="0" rIns="0" bIns="0" rtlCol="0" anchor="ctr"/>
          <a:lstStyle/>
          <a:p>
            <a:pPr>
              <a:lnSpc>
                <a:spcPct val="130000"/>
              </a:lnSpc>
            </a:pPr>
            <a:r>
              <a:rPr lang="en-US" sz="1500" b="1" dirty="0">
                <a:solidFill>
                  <a:srgbClr val="3C8082"/>
                </a:solidFill>
                <a:latin typeface="MiSans" pitchFamily="34" charset="0"/>
                <a:ea typeface="MiSans" pitchFamily="34" charset="-122"/>
                <a:cs typeface="MiSans" pitchFamily="34" charset="-120"/>
              </a:rPr>
              <a:t>架构哲学:通用化平台</a:t>
            </a:r>
            <a:endParaRPr lang="en-US" sz="1600" dirty="0"/>
          </a:p>
        </p:txBody>
      </p:sp>
      <p:sp>
        <p:nvSpPr>
          <p:cNvPr id="42" name="Text 40"/>
          <p:cNvSpPr/>
          <p:nvPr/>
        </p:nvSpPr>
        <p:spPr>
          <a:xfrm>
            <a:off x="8519583" y="2719917"/>
            <a:ext cx="7090833" cy="825500"/>
          </a:xfrm>
          <a:prstGeom prst="rect">
            <a:avLst/>
          </a:prstGeom>
          <a:noFill/>
          <a:ln/>
        </p:spPr>
        <p:txBody>
          <a:bodyPr wrap="square" lIns="0" tIns="0" rIns="0" bIns="0" rtlCol="0" anchor="ctr"/>
          <a:lstStyle/>
          <a:p>
            <a:pPr>
              <a:lnSpc>
                <a:spcPct val="140000"/>
              </a:lnSpc>
            </a:pPr>
            <a:r>
              <a:rPr lang="en-US" sz="1333" dirty="0">
                <a:solidFill>
                  <a:srgbClr val="E0E2E4">
                    <a:alpha val="80000"/>
                  </a:srgbClr>
                </a:solidFill>
                <a:latin typeface="MiSans" pitchFamily="34" charset="0"/>
                <a:ea typeface="MiSans" pitchFamily="34" charset="-122"/>
                <a:cs typeface="MiSans" pitchFamily="34" charset="-120"/>
              </a:rPr>
              <a:t>Kubernetes追求"通用化平台"理念,试图构建能够适应各种工作负载的通用容器编排平台。这种通用性设计使得Kubernetes具有更强的灵活性和扩展性,但也意味着在特定场景下可能无法达到专业化系统的性能水平。</a:t>
            </a:r>
            <a:endParaRPr lang="en-US" sz="1600" dirty="0"/>
          </a:p>
        </p:txBody>
      </p:sp>
      <p:sp>
        <p:nvSpPr>
          <p:cNvPr id="43" name="Text 41"/>
          <p:cNvSpPr/>
          <p:nvPr/>
        </p:nvSpPr>
        <p:spPr>
          <a:xfrm>
            <a:off x="8392583" y="3799417"/>
            <a:ext cx="734483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核心架构组件</a:t>
            </a:r>
            <a:endParaRPr lang="en-US" sz="1600" dirty="0"/>
          </a:p>
        </p:txBody>
      </p:sp>
      <p:sp>
        <p:nvSpPr>
          <p:cNvPr id="44" name="Shape 42"/>
          <p:cNvSpPr/>
          <p:nvPr/>
        </p:nvSpPr>
        <p:spPr>
          <a:xfrm>
            <a:off x="8392583" y="4138083"/>
            <a:ext cx="3587750" cy="677333"/>
          </a:xfrm>
          <a:custGeom>
            <a:avLst/>
            <a:gdLst/>
            <a:ahLst/>
            <a:cxnLst/>
            <a:rect l="l" t="t" r="r" b="b"/>
            <a:pathLst>
              <a:path w="3587750" h="677333">
                <a:moveTo>
                  <a:pt x="84667" y="0"/>
                </a:moveTo>
                <a:lnTo>
                  <a:pt x="3503083" y="0"/>
                </a:lnTo>
                <a:cubicBezTo>
                  <a:pt x="3549843" y="0"/>
                  <a:pt x="3587750" y="37907"/>
                  <a:pt x="3587750" y="84667"/>
                </a:cubicBezTo>
                <a:lnTo>
                  <a:pt x="3587750" y="592667"/>
                </a:lnTo>
                <a:cubicBezTo>
                  <a:pt x="3587750" y="639427"/>
                  <a:pt x="3549843" y="677333"/>
                  <a:pt x="3503083" y="677333"/>
                </a:cubicBezTo>
                <a:lnTo>
                  <a:pt x="84667" y="677333"/>
                </a:lnTo>
                <a:cubicBezTo>
                  <a:pt x="37907" y="677333"/>
                  <a:pt x="0" y="639427"/>
                  <a:pt x="0" y="592667"/>
                </a:cubicBezTo>
                <a:lnTo>
                  <a:pt x="0" y="84667"/>
                </a:lnTo>
                <a:cubicBezTo>
                  <a:pt x="0" y="37907"/>
                  <a:pt x="37907" y="0"/>
                  <a:pt x="84667" y="0"/>
                </a:cubicBezTo>
                <a:close/>
              </a:path>
            </a:pathLst>
          </a:custGeom>
          <a:solidFill>
            <a:srgbClr val="B38B59">
              <a:alpha val="20000"/>
            </a:srgbClr>
          </a:solidFill>
          <a:ln/>
        </p:spPr>
        <p:txBody>
          <a:bodyPr/>
          <a:lstStyle/>
          <a:p>
            <a:endParaRPr lang="zh-CN" altLang="en-US"/>
          </a:p>
        </p:txBody>
      </p:sp>
      <p:sp>
        <p:nvSpPr>
          <p:cNvPr id="45" name="Text 43"/>
          <p:cNvSpPr/>
          <p:nvPr/>
        </p:nvSpPr>
        <p:spPr>
          <a:xfrm>
            <a:off x="8477250" y="4222750"/>
            <a:ext cx="350308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控制平面</a:t>
            </a:r>
            <a:endParaRPr lang="en-US" sz="1600" dirty="0"/>
          </a:p>
        </p:txBody>
      </p:sp>
      <p:sp>
        <p:nvSpPr>
          <p:cNvPr id="46" name="Text 44"/>
          <p:cNvSpPr/>
          <p:nvPr/>
        </p:nvSpPr>
        <p:spPr>
          <a:xfrm>
            <a:off x="8477250" y="4519083"/>
            <a:ext cx="3492500"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API Server/etcd/Scheduler/Controller Manager</a:t>
            </a:r>
            <a:endParaRPr lang="en-US" sz="1600" dirty="0"/>
          </a:p>
        </p:txBody>
      </p:sp>
      <p:sp>
        <p:nvSpPr>
          <p:cNvPr id="47" name="Shape 45"/>
          <p:cNvSpPr/>
          <p:nvPr/>
        </p:nvSpPr>
        <p:spPr>
          <a:xfrm>
            <a:off x="12065000" y="4138083"/>
            <a:ext cx="3587750" cy="677333"/>
          </a:xfrm>
          <a:custGeom>
            <a:avLst/>
            <a:gdLst/>
            <a:ahLst/>
            <a:cxnLst/>
            <a:rect l="l" t="t" r="r" b="b"/>
            <a:pathLst>
              <a:path w="3587750" h="677333">
                <a:moveTo>
                  <a:pt x="84667" y="0"/>
                </a:moveTo>
                <a:lnTo>
                  <a:pt x="3503083" y="0"/>
                </a:lnTo>
                <a:cubicBezTo>
                  <a:pt x="3549843" y="0"/>
                  <a:pt x="3587750" y="37907"/>
                  <a:pt x="3587750" y="84667"/>
                </a:cubicBezTo>
                <a:lnTo>
                  <a:pt x="3587750" y="592667"/>
                </a:lnTo>
                <a:cubicBezTo>
                  <a:pt x="3587750" y="639427"/>
                  <a:pt x="3549843" y="677333"/>
                  <a:pt x="3503083" y="677333"/>
                </a:cubicBezTo>
                <a:lnTo>
                  <a:pt x="84667" y="677333"/>
                </a:lnTo>
                <a:cubicBezTo>
                  <a:pt x="37907" y="677333"/>
                  <a:pt x="0" y="639427"/>
                  <a:pt x="0" y="592667"/>
                </a:cubicBezTo>
                <a:lnTo>
                  <a:pt x="0" y="84667"/>
                </a:lnTo>
                <a:cubicBezTo>
                  <a:pt x="0" y="37907"/>
                  <a:pt x="37907" y="0"/>
                  <a:pt x="84667" y="0"/>
                </a:cubicBezTo>
                <a:close/>
              </a:path>
            </a:pathLst>
          </a:custGeom>
          <a:solidFill>
            <a:srgbClr val="B38B59">
              <a:alpha val="20000"/>
            </a:srgbClr>
          </a:solidFill>
          <a:ln/>
        </p:spPr>
        <p:txBody>
          <a:bodyPr/>
          <a:lstStyle/>
          <a:p>
            <a:endParaRPr lang="zh-CN" altLang="en-US"/>
          </a:p>
        </p:txBody>
      </p:sp>
      <p:sp>
        <p:nvSpPr>
          <p:cNvPr id="48" name="Text 46"/>
          <p:cNvSpPr/>
          <p:nvPr/>
        </p:nvSpPr>
        <p:spPr>
          <a:xfrm>
            <a:off x="12149667" y="4222750"/>
            <a:ext cx="350308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数据平面</a:t>
            </a:r>
            <a:endParaRPr lang="en-US" sz="1600" dirty="0"/>
          </a:p>
        </p:txBody>
      </p:sp>
      <p:sp>
        <p:nvSpPr>
          <p:cNvPr id="49" name="Text 47"/>
          <p:cNvSpPr/>
          <p:nvPr/>
        </p:nvSpPr>
        <p:spPr>
          <a:xfrm>
            <a:off x="12149667" y="4519083"/>
            <a:ext cx="3492500"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kubelet/kube-proxy等执行组件</a:t>
            </a:r>
            <a:endParaRPr lang="en-US" sz="1600" dirty="0"/>
          </a:p>
        </p:txBody>
      </p:sp>
      <p:sp>
        <p:nvSpPr>
          <p:cNvPr id="50" name="Shape 48"/>
          <p:cNvSpPr/>
          <p:nvPr/>
        </p:nvSpPr>
        <p:spPr>
          <a:xfrm>
            <a:off x="8392583" y="4900083"/>
            <a:ext cx="3587750" cy="677333"/>
          </a:xfrm>
          <a:custGeom>
            <a:avLst/>
            <a:gdLst/>
            <a:ahLst/>
            <a:cxnLst/>
            <a:rect l="l" t="t" r="r" b="b"/>
            <a:pathLst>
              <a:path w="3587750" h="677333">
                <a:moveTo>
                  <a:pt x="84667" y="0"/>
                </a:moveTo>
                <a:lnTo>
                  <a:pt x="3503083" y="0"/>
                </a:lnTo>
                <a:cubicBezTo>
                  <a:pt x="3549843" y="0"/>
                  <a:pt x="3587750" y="37907"/>
                  <a:pt x="3587750" y="84667"/>
                </a:cubicBezTo>
                <a:lnTo>
                  <a:pt x="3587750" y="592667"/>
                </a:lnTo>
                <a:cubicBezTo>
                  <a:pt x="3587750" y="639427"/>
                  <a:pt x="3549843" y="677333"/>
                  <a:pt x="3503083" y="677333"/>
                </a:cubicBezTo>
                <a:lnTo>
                  <a:pt x="84667" y="677333"/>
                </a:lnTo>
                <a:cubicBezTo>
                  <a:pt x="37907" y="677333"/>
                  <a:pt x="0" y="639427"/>
                  <a:pt x="0" y="592667"/>
                </a:cubicBezTo>
                <a:lnTo>
                  <a:pt x="0" y="84667"/>
                </a:lnTo>
                <a:cubicBezTo>
                  <a:pt x="0" y="37907"/>
                  <a:pt x="37907" y="0"/>
                  <a:pt x="84667" y="0"/>
                </a:cubicBezTo>
                <a:close/>
              </a:path>
            </a:pathLst>
          </a:custGeom>
          <a:solidFill>
            <a:srgbClr val="B38B59">
              <a:alpha val="20000"/>
            </a:srgbClr>
          </a:solidFill>
          <a:ln/>
        </p:spPr>
        <p:txBody>
          <a:bodyPr/>
          <a:lstStyle/>
          <a:p>
            <a:endParaRPr lang="zh-CN" altLang="en-US"/>
          </a:p>
        </p:txBody>
      </p:sp>
      <p:sp>
        <p:nvSpPr>
          <p:cNvPr id="51" name="Text 49"/>
          <p:cNvSpPr/>
          <p:nvPr/>
        </p:nvSpPr>
        <p:spPr>
          <a:xfrm>
            <a:off x="8477250" y="4984750"/>
            <a:ext cx="350308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Pod</a:t>
            </a:r>
            <a:endParaRPr lang="en-US" sz="1600" dirty="0"/>
          </a:p>
        </p:txBody>
      </p:sp>
      <p:sp>
        <p:nvSpPr>
          <p:cNvPr id="52" name="Text 50"/>
          <p:cNvSpPr/>
          <p:nvPr/>
        </p:nvSpPr>
        <p:spPr>
          <a:xfrm>
            <a:off x="8477250" y="5281083"/>
            <a:ext cx="3492500"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最小调度单位,可包含多个紧密协作的容器</a:t>
            </a:r>
            <a:endParaRPr lang="en-US" sz="1600" dirty="0"/>
          </a:p>
        </p:txBody>
      </p:sp>
      <p:sp>
        <p:nvSpPr>
          <p:cNvPr id="53" name="Shape 51"/>
          <p:cNvSpPr/>
          <p:nvPr/>
        </p:nvSpPr>
        <p:spPr>
          <a:xfrm>
            <a:off x="12065000" y="4900083"/>
            <a:ext cx="3587750" cy="677333"/>
          </a:xfrm>
          <a:custGeom>
            <a:avLst/>
            <a:gdLst/>
            <a:ahLst/>
            <a:cxnLst/>
            <a:rect l="l" t="t" r="r" b="b"/>
            <a:pathLst>
              <a:path w="3587750" h="677333">
                <a:moveTo>
                  <a:pt x="84667" y="0"/>
                </a:moveTo>
                <a:lnTo>
                  <a:pt x="3503083" y="0"/>
                </a:lnTo>
                <a:cubicBezTo>
                  <a:pt x="3549843" y="0"/>
                  <a:pt x="3587750" y="37907"/>
                  <a:pt x="3587750" y="84667"/>
                </a:cubicBezTo>
                <a:lnTo>
                  <a:pt x="3587750" y="592667"/>
                </a:lnTo>
                <a:cubicBezTo>
                  <a:pt x="3587750" y="639427"/>
                  <a:pt x="3549843" y="677333"/>
                  <a:pt x="3503083" y="677333"/>
                </a:cubicBezTo>
                <a:lnTo>
                  <a:pt x="84667" y="677333"/>
                </a:lnTo>
                <a:cubicBezTo>
                  <a:pt x="37907" y="677333"/>
                  <a:pt x="0" y="639427"/>
                  <a:pt x="0" y="592667"/>
                </a:cubicBezTo>
                <a:lnTo>
                  <a:pt x="0" y="84667"/>
                </a:lnTo>
                <a:cubicBezTo>
                  <a:pt x="0" y="37907"/>
                  <a:pt x="37907" y="0"/>
                  <a:pt x="84667" y="0"/>
                </a:cubicBezTo>
                <a:close/>
              </a:path>
            </a:pathLst>
          </a:custGeom>
          <a:solidFill>
            <a:srgbClr val="B38B59">
              <a:alpha val="20000"/>
            </a:srgbClr>
          </a:solidFill>
          <a:ln/>
        </p:spPr>
        <p:txBody>
          <a:bodyPr/>
          <a:lstStyle/>
          <a:p>
            <a:endParaRPr lang="zh-CN" altLang="en-US"/>
          </a:p>
        </p:txBody>
      </p:sp>
      <p:sp>
        <p:nvSpPr>
          <p:cNvPr id="54" name="Text 52"/>
          <p:cNvSpPr/>
          <p:nvPr/>
        </p:nvSpPr>
        <p:spPr>
          <a:xfrm>
            <a:off x="12149667" y="4984750"/>
            <a:ext cx="350308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Service</a:t>
            </a:r>
            <a:endParaRPr lang="en-US" sz="1600" dirty="0"/>
          </a:p>
        </p:txBody>
      </p:sp>
      <p:sp>
        <p:nvSpPr>
          <p:cNvPr id="55" name="Text 53"/>
          <p:cNvSpPr/>
          <p:nvPr/>
        </p:nvSpPr>
        <p:spPr>
          <a:xfrm>
            <a:off x="12149667" y="5281083"/>
            <a:ext cx="3492500"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为动态Pod提供稳定的服务发现和负载均衡</a:t>
            </a:r>
            <a:endParaRPr lang="en-US" sz="1600" dirty="0"/>
          </a:p>
        </p:txBody>
      </p:sp>
      <p:sp>
        <p:nvSpPr>
          <p:cNvPr id="56" name="Shape 54"/>
          <p:cNvSpPr/>
          <p:nvPr/>
        </p:nvSpPr>
        <p:spPr>
          <a:xfrm>
            <a:off x="8392583" y="5704418"/>
            <a:ext cx="7260167" cy="1862666"/>
          </a:xfrm>
          <a:custGeom>
            <a:avLst/>
            <a:gdLst/>
            <a:ahLst/>
            <a:cxnLst/>
            <a:rect l="l" t="t" r="r" b="b"/>
            <a:pathLst>
              <a:path w="7260167" h="2910417">
                <a:moveTo>
                  <a:pt x="84664" y="0"/>
                </a:moveTo>
                <a:lnTo>
                  <a:pt x="7175503" y="0"/>
                </a:lnTo>
                <a:cubicBezTo>
                  <a:pt x="7222261" y="0"/>
                  <a:pt x="7260167" y="37905"/>
                  <a:pt x="7260167" y="84664"/>
                </a:cubicBezTo>
                <a:lnTo>
                  <a:pt x="7260167" y="2825753"/>
                </a:lnTo>
                <a:cubicBezTo>
                  <a:pt x="7260167" y="2872511"/>
                  <a:pt x="7222261" y="2910417"/>
                  <a:pt x="7175503" y="2910417"/>
                </a:cubicBezTo>
                <a:lnTo>
                  <a:pt x="84664" y="2910417"/>
                </a:lnTo>
                <a:cubicBezTo>
                  <a:pt x="37905" y="2910417"/>
                  <a:pt x="0" y="2872511"/>
                  <a:pt x="0" y="2825753"/>
                </a:cubicBezTo>
                <a:lnTo>
                  <a:pt x="0" y="84664"/>
                </a:lnTo>
                <a:cubicBezTo>
                  <a:pt x="0" y="37937"/>
                  <a:pt x="37937" y="0"/>
                  <a:pt x="84664" y="0"/>
                </a:cubicBezTo>
                <a:close/>
              </a:path>
            </a:pathLst>
          </a:custGeom>
          <a:solidFill>
            <a:srgbClr val="B38B59">
              <a:alpha val="20000"/>
            </a:srgbClr>
          </a:solidFill>
          <a:ln/>
        </p:spPr>
        <p:txBody>
          <a:bodyPr/>
          <a:lstStyle/>
          <a:p>
            <a:endParaRPr lang="zh-CN" altLang="en-US"/>
          </a:p>
        </p:txBody>
      </p:sp>
      <p:sp>
        <p:nvSpPr>
          <p:cNvPr id="57" name="Text 55"/>
          <p:cNvSpPr/>
          <p:nvPr/>
        </p:nvSpPr>
        <p:spPr>
          <a:xfrm>
            <a:off x="8519583" y="5831417"/>
            <a:ext cx="7090833"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技术特性</a:t>
            </a:r>
            <a:endParaRPr lang="en-US" sz="1600" dirty="0"/>
          </a:p>
        </p:txBody>
      </p:sp>
      <p:sp>
        <p:nvSpPr>
          <p:cNvPr id="58" name="Shape 56"/>
          <p:cNvSpPr/>
          <p:nvPr/>
        </p:nvSpPr>
        <p:spPr>
          <a:xfrm>
            <a:off x="8577792" y="6212417"/>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3C8082"/>
          </a:solidFill>
          <a:ln/>
        </p:spPr>
        <p:txBody>
          <a:bodyPr/>
          <a:lstStyle/>
          <a:p>
            <a:endParaRPr lang="zh-CN" altLang="en-US"/>
          </a:p>
        </p:txBody>
      </p:sp>
      <p:sp>
        <p:nvSpPr>
          <p:cNvPr id="59" name="Text 57"/>
          <p:cNvSpPr/>
          <p:nvPr/>
        </p:nvSpPr>
        <p:spPr>
          <a:xfrm>
            <a:off x="8789458" y="6170083"/>
            <a:ext cx="2338917"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面向云原生应用,支持各种工作负载</a:t>
            </a:r>
            <a:endParaRPr lang="en-US" sz="1600" dirty="0"/>
          </a:p>
        </p:txBody>
      </p:sp>
      <p:sp>
        <p:nvSpPr>
          <p:cNvPr id="60" name="Shape 58"/>
          <p:cNvSpPr/>
          <p:nvPr/>
        </p:nvSpPr>
        <p:spPr>
          <a:xfrm>
            <a:off x="8577792" y="6487583"/>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3C8082"/>
          </a:solidFill>
          <a:ln/>
        </p:spPr>
        <p:txBody>
          <a:bodyPr/>
          <a:lstStyle/>
          <a:p>
            <a:endParaRPr lang="zh-CN" altLang="en-US"/>
          </a:p>
        </p:txBody>
      </p:sp>
      <p:sp>
        <p:nvSpPr>
          <p:cNvPr id="61" name="Text 59"/>
          <p:cNvSpPr/>
          <p:nvPr/>
        </p:nvSpPr>
        <p:spPr>
          <a:xfrm>
            <a:off x="8789458" y="6445250"/>
            <a:ext cx="2635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声明式管理,用户描述期望状态自动维护</a:t>
            </a:r>
            <a:endParaRPr lang="en-US" sz="1600" dirty="0"/>
          </a:p>
        </p:txBody>
      </p:sp>
      <p:sp>
        <p:nvSpPr>
          <p:cNvPr id="62" name="Shape 60"/>
          <p:cNvSpPr/>
          <p:nvPr/>
        </p:nvSpPr>
        <p:spPr>
          <a:xfrm>
            <a:off x="8577792" y="6762750"/>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3C8082"/>
          </a:solidFill>
          <a:ln/>
        </p:spPr>
        <p:txBody>
          <a:bodyPr/>
          <a:lstStyle/>
          <a:p>
            <a:endParaRPr lang="zh-CN" altLang="en-US"/>
          </a:p>
        </p:txBody>
      </p:sp>
      <p:sp>
        <p:nvSpPr>
          <p:cNvPr id="63" name="Text 61"/>
          <p:cNvSpPr/>
          <p:nvPr/>
        </p:nvSpPr>
        <p:spPr>
          <a:xfrm>
            <a:off x="8789458" y="6720417"/>
            <a:ext cx="2338917"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分布式控制平面,高可用和弹性扩展</a:t>
            </a:r>
            <a:endParaRPr lang="en-US" sz="1600" dirty="0"/>
          </a:p>
        </p:txBody>
      </p:sp>
      <p:sp>
        <p:nvSpPr>
          <p:cNvPr id="64" name="Shape 62"/>
          <p:cNvSpPr/>
          <p:nvPr/>
        </p:nvSpPr>
        <p:spPr>
          <a:xfrm>
            <a:off x="8577792" y="7037917"/>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3C8082"/>
          </a:solidFill>
          <a:ln/>
        </p:spPr>
        <p:txBody>
          <a:bodyPr/>
          <a:lstStyle/>
          <a:p>
            <a:endParaRPr lang="zh-CN" altLang="en-US"/>
          </a:p>
        </p:txBody>
      </p:sp>
      <p:sp>
        <p:nvSpPr>
          <p:cNvPr id="65" name="Text 63"/>
          <p:cNvSpPr/>
          <p:nvPr/>
        </p:nvSpPr>
        <p:spPr>
          <a:xfrm>
            <a:off x="8789458" y="6995583"/>
            <a:ext cx="185208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丰富的云原生生态系统集成</a:t>
            </a:r>
            <a:endParaRPr lang="en-US" sz="1600" dirty="0"/>
          </a:p>
        </p:txBody>
      </p:sp>
      <p:sp>
        <p:nvSpPr>
          <p:cNvPr id="66" name="Shape 64"/>
          <p:cNvSpPr/>
          <p:nvPr/>
        </p:nvSpPr>
        <p:spPr>
          <a:xfrm>
            <a:off x="428625" y="7885581"/>
            <a:ext cx="15398750" cy="836083"/>
          </a:xfrm>
          <a:custGeom>
            <a:avLst/>
            <a:gdLst/>
            <a:ahLst/>
            <a:cxnLst/>
            <a:rect l="l" t="t" r="r" b="b"/>
            <a:pathLst>
              <a:path w="15398750" h="836083">
                <a:moveTo>
                  <a:pt x="84670" y="0"/>
                </a:moveTo>
                <a:lnTo>
                  <a:pt x="15314080" y="0"/>
                </a:lnTo>
                <a:cubicBezTo>
                  <a:pt x="15360842" y="0"/>
                  <a:pt x="15398750" y="37908"/>
                  <a:pt x="15398750" y="84670"/>
                </a:cubicBezTo>
                <a:lnTo>
                  <a:pt x="15398750" y="751413"/>
                </a:lnTo>
                <a:cubicBezTo>
                  <a:pt x="15398750" y="798175"/>
                  <a:pt x="15360842" y="836083"/>
                  <a:pt x="15314080" y="836083"/>
                </a:cubicBezTo>
                <a:lnTo>
                  <a:pt x="84670" y="836083"/>
                </a:lnTo>
                <a:cubicBezTo>
                  <a:pt x="37908" y="836083"/>
                  <a:pt x="0" y="798175"/>
                  <a:pt x="0" y="751413"/>
                </a:cubicBezTo>
                <a:lnTo>
                  <a:pt x="0" y="84670"/>
                </a:lnTo>
                <a:cubicBezTo>
                  <a:pt x="0" y="37908"/>
                  <a:pt x="37908" y="0"/>
                  <a:pt x="84670"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7" name="Shape 65"/>
          <p:cNvSpPr/>
          <p:nvPr/>
        </p:nvSpPr>
        <p:spPr>
          <a:xfrm>
            <a:off x="608542" y="8017873"/>
            <a:ext cx="222250" cy="254000"/>
          </a:xfrm>
          <a:custGeom>
            <a:avLst/>
            <a:gdLst/>
            <a:ahLst/>
            <a:cxnLst/>
            <a:rect l="l" t="t" r="r" b="b"/>
            <a:pathLst>
              <a:path w="222250" h="254000">
                <a:moveTo>
                  <a:pt x="0" y="107156"/>
                </a:moveTo>
                <a:cubicBezTo>
                  <a:pt x="0" y="74265"/>
                  <a:pt x="26640" y="47625"/>
                  <a:pt x="59531" y="47625"/>
                </a:cubicBezTo>
                <a:lnTo>
                  <a:pt x="63500" y="47625"/>
                </a:lnTo>
                <a:cubicBezTo>
                  <a:pt x="72281" y="47625"/>
                  <a:pt x="79375" y="54719"/>
                  <a:pt x="79375" y="63500"/>
                </a:cubicBezTo>
                <a:cubicBezTo>
                  <a:pt x="79375" y="72281"/>
                  <a:pt x="72281" y="79375"/>
                  <a:pt x="63500" y="79375"/>
                </a:cubicBezTo>
                <a:lnTo>
                  <a:pt x="59531" y="79375"/>
                </a:lnTo>
                <a:cubicBezTo>
                  <a:pt x="44202" y="79375"/>
                  <a:pt x="31750" y="91827"/>
                  <a:pt x="31750" y="107156"/>
                </a:cubicBezTo>
                <a:lnTo>
                  <a:pt x="31750" y="111125"/>
                </a:lnTo>
                <a:lnTo>
                  <a:pt x="63500" y="111125"/>
                </a:lnTo>
                <a:cubicBezTo>
                  <a:pt x="81012" y="111125"/>
                  <a:pt x="95250" y="125363"/>
                  <a:pt x="95250" y="142875"/>
                </a:cubicBezTo>
                <a:lnTo>
                  <a:pt x="95250" y="174625"/>
                </a:lnTo>
                <a:cubicBezTo>
                  <a:pt x="95250" y="192137"/>
                  <a:pt x="81012" y="206375"/>
                  <a:pt x="63500" y="206375"/>
                </a:cubicBezTo>
                <a:lnTo>
                  <a:pt x="31750" y="206375"/>
                </a:lnTo>
                <a:cubicBezTo>
                  <a:pt x="14238" y="206375"/>
                  <a:pt x="0" y="192137"/>
                  <a:pt x="0" y="174625"/>
                </a:cubicBezTo>
                <a:lnTo>
                  <a:pt x="0" y="107156"/>
                </a:lnTo>
                <a:close/>
                <a:moveTo>
                  <a:pt x="127000" y="107156"/>
                </a:moveTo>
                <a:cubicBezTo>
                  <a:pt x="127000" y="74265"/>
                  <a:pt x="153640" y="47625"/>
                  <a:pt x="186531" y="47625"/>
                </a:cubicBezTo>
                <a:lnTo>
                  <a:pt x="190500" y="47625"/>
                </a:lnTo>
                <a:cubicBezTo>
                  <a:pt x="199281" y="47625"/>
                  <a:pt x="206375" y="54719"/>
                  <a:pt x="206375" y="63500"/>
                </a:cubicBezTo>
                <a:cubicBezTo>
                  <a:pt x="206375" y="72281"/>
                  <a:pt x="199281" y="79375"/>
                  <a:pt x="190500" y="79375"/>
                </a:cubicBezTo>
                <a:lnTo>
                  <a:pt x="186531" y="79375"/>
                </a:lnTo>
                <a:cubicBezTo>
                  <a:pt x="171202" y="79375"/>
                  <a:pt x="158750" y="91827"/>
                  <a:pt x="158750" y="107156"/>
                </a:cubicBezTo>
                <a:lnTo>
                  <a:pt x="158750" y="111125"/>
                </a:lnTo>
                <a:lnTo>
                  <a:pt x="190500" y="111125"/>
                </a:lnTo>
                <a:cubicBezTo>
                  <a:pt x="208012" y="111125"/>
                  <a:pt x="222250" y="125363"/>
                  <a:pt x="222250" y="142875"/>
                </a:cubicBezTo>
                <a:lnTo>
                  <a:pt x="222250" y="174625"/>
                </a:lnTo>
                <a:cubicBezTo>
                  <a:pt x="222250" y="192137"/>
                  <a:pt x="208012" y="206375"/>
                  <a:pt x="190500" y="206375"/>
                </a:cubicBezTo>
                <a:lnTo>
                  <a:pt x="158750" y="206375"/>
                </a:lnTo>
                <a:cubicBezTo>
                  <a:pt x="141238" y="206375"/>
                  <a:pt x="127000" y="192137"/>
                  <a:pt x="127000" y="174625"/>
                </a:cubicBezTo>
                <a:lnTo>
                  <a:pt x="127000" y="107156"/>
                </a:lnTo>
                <a:close/>
              </a:path>
            </a:pathLst>
          </a:custGeom>
          <a:solidFill>
            <a:srgbClr val="B38B59"/>
          </a:solidFill>
          <a:ln/>
        </p:spPr>
        <p:txBody>
          <a:bodyPr/>
          <a:lstStyle/>
          <a:p>
            <a:endParaRPr lang="zh-CN" altLang="en-US"/>
          </a:p>
        </p:txBody>
      </p:sp>
      <p:sp>
        <p:nvSpPr>
          <p:cNvPr id="68" name="Text 66"/>
          <p:cNvSpPr/>
          <p:nvPr/>
        </p:nvSpPr>
        <p:spPr>
          <a:xfrm>
            <a:off x="1005417" y="8017873"/>
            <a:ext cx="14509750" cy="275167"/>
          </a:xfrm>
          <a:prstGeom prst="rect">
            <a:avLst/>
          </a:prstGeom>
          <a:noFill/>
          <a:ln/>
        </p:spPr>
        <p:txBody>
          <a:bodyPr wrap="square" lIns="0" tIns="0" rIns="0" bIns="0" rtlCol="0" anchor="ctr"/>
          <a:lstStyle/>
          <a:p>
            <a:pPr>
              <a:lnSpc>
                <a:spcPct val="140000"/>
              </a:lnSpc>
            </a:pPr>
            <a:r>
              <a:rPr lang="en-US" sz="1333" b="1" dirty="0">
                <a:solidFill>
                  <a:srgbClr val="B38B59"/>
                </a:solidFill>
                <a:latin typeface="MiSans" pitchFamily="34" charset="0"/>
                <a:ea typeface="MiSans" pitchFamily="34" charset="-122"/>
                <a:cs typeface="MiSans" pitchFamily="34" charset="-120"/>
              </a:rPr>
              <a:t>架构哲学总结:</a:t>
            </a:r>
            <a:r>
              <a:rPr lang="en-US" sz="1333" dirty="0">
                <a:solidFill>
                  <a:srgbClr val="E0E2E4"/>
                </a:solidFill>
                <a:latin typeface="MiSans" pitchFamily="34" charset="0"/>
                <a:ea typeface="MiSans" pitchFamily="34" charset="-122"/>
                <a:cs typeface="MiSans" pitchFamily="34" charset="-120"/>
              </a:rPr>
              <a:t> YARN专注于</a:t>
            </a:r>
            <a:r>
              <a:rPr lang="en-US" sz="1333" dirty="0">
                <a:solidFill>
                  <a:srgbClr val="E0E2E4"/>
                </a:solidFill>
                <a:highlight>
                  <a:srgbClr val="3C8082">
                    <a:alpha val="30000"/>
                  </a:srgbClr>
                </a:highlight>
                <a:latin typeface="MiSans" pitchFamily="34" charset="0"/>
                <a:ea typeface="MiSans" pitchFamily="34" charset="-122"/>
                <a:cs typeface="MiSans" pitchFamily="34" charset="-120"/>
              </a:rPr>
              <a:t> 大数据批处理场景 </a:t>
            </a:r>
            <a:r>
              <a:rPr lang="en-US" sz="1333" dirty="0">
                <a:solidFill>
                  <a:srgbClr val="E0E2E4"/>
                </a:solidFill>
                <a:latin typeface="MiSans" pitchFamily="34" charset="0"/>
                <a:ea typeface="MiSans" pitchFamily="34" charset="-122"/>
                <a:cs typeface="MiSans" pitchFamily="34" charset="-120"/>
              </a:rPr>
              <a:t>的资源优化,采用</a:t>
            </a:r>
            <a:r>
              <a:rPr lang="en-US" sz="1333" dirty="0">
                <a:solidFill>
                  <a:srgbClr val="E0E2E4"/>
                </a:solidFill>
                <a:highlight>
                  <a:srgbClr val="3C8082">
                    <a:alpha val="30000"/>
                  </a:srgbClr>
                </a:highlight>
                <a:latin typeface="MiSans" pitchFamily="34" charset="0"/>
                <a:ea typeface="MiSans" pitchFamily="34" charset="-122"/>
                <a:cs typeface="MiSans" pitchFamily="34" charset="-120"/>
              </a:rPr>
              <a:t> 集中式资源管理 </a:t>
            </a:r>
            <a:r>
              <a:rPr lang="en-US" sz="1333" dirty="0">
                <a:solidFill>
                  <a:srgbClr val="E0E2E4"/>
                </a:solidFill>
                <a:latin typeface="MiSans" pitchFamily="34" charset="0"/>
                <a:ea typeface="MiSans" pitchFamily="34" charset="-122"/>
                <a:cs typeface="MiSans" pitchFamily="34" charset="-120"/>
              </a:rPr>
              <a:t>和</a:t>
            </a:r>
            <a:r>
              <a:rPr lang="en-US" sz="1333" dirty="0">
                <a:solidFill>
                  <a:srgbClr val="E0E2E4"/>
                </a:solidFill>
                <a:highlight>
                  <a:srgbClr val="3C8082">
                    <a:alpha val="30000"/>
                  </a:srgbClr>
                </a:highlight>
                <a:latin typeface="MiSans" pitchFamily="34" charset="0"/>
                <a:ea typeface="MiSans" pitchFamily="34" charset="-122"/>
                <a:cs typeface="MiSans" pitchFamily="34" charset="-120"/>
              </a:rPr>
              <a:t> 数据本地性优先 </a:t>
            </a:r>
            <a:r>
              <a:rPr lang="en-US" sz="1333" dirty="0">
                <a:solidFill>
                  <a:srgbClr val="E0E2E4"/>
                </a:solidFill>
                <a:latin typeface="MiSans" pitchFamily="34" charset="0"/>
                <a:ea typeface="MiSans" pitchFamily="34" charset="-122"/>
                <a:cs typeface="MiSans" pitchFamily="34" charset="-120"/>
              </a:rPr>
              <a:t>策略;Kubernetes面向</a:t>
            </a:r>
            <a:r>
              <a:rPr lang="en-US" sz="1333" dirty="0">
                <a:solidFill>
                  <a:srgbClr val="E0E2E4"/>
                </a:solidFill>
                <a:highlight>
                  <a:srgbClr val="B38B59">
                    <a:alpha val="30000"/>
                  </a:srgbClr>
                </a:highlight>
                <a:latin typeface="MiSans" pitchFamily="34" charset="0"/>
                <a:ea typeface="MiSans" pitchFamily="34" charset="-122"/>
                <a:cs typeface="MiSans" pitchFamily="34" charset="-120"/>
              </a:rPr>
              <a:t> 云原生应用 </a:t>
            </a:r>
            <a:r>
              <a:rPr lang="en-US" sz="1333" dirty="0">
                <a:solidFill>
                  <a:srgbClr val="E0E2E4"/>
                </a:solidFill>
                <a:latin typeface="MiSans" pitchFamily="34" charset="0"/>
                <a:ea typeface="MiSans" pitchFamily="34" charset="-122"/>
                <a:cs typeface="MiSans" pitchFamily="34" charset="-120"/>
              </a:rPr>
              <a:t>,构建了</a:t>
            </a:r>
            <a:r>
              <a:rPr lang="en-US" sz="1333" dirty="0">
                <a:solidFill>
                  <a:srgbClr val="E0E2E4"/>
                </a:solidFill>
                <a:highlight>
                  <a:srgbClr val="B38B59">
                    <a:alpha val="30000"/>
                  </a:srgbClr>
                </a:highlight>
                <a:latin typeface="MiSans" pitchFamily="34" charset="0"/>
                <a:ea typeface="MiSans" pitchFamily="34" charset="-122"/>
                <a:cs typeface="MiSans" pitchFamily="34" charset="-120"/>
              </a:rPr>
              <a:t> 声明式管理 </a:t>
            </a:r>
            <a:r>
              <a:rPr lang="en-US" sz="1333" dirty="0">
                <a:solidFill>
                  <a:srgbClr val="E0E2E4"/>
                </a:solidFill>
                <a:latin typeface="MiSans" pitchFamily="34" charset="0"/>
                <a:ea typeface="MiSans" pitchFamily="34" charset="-122"/>
                <a:cs typeface="MiSans" pitchFamily="34" charset="-120"/>
              </a:rPr>
              <a:t>和</a:t>
            </a:r>
            <a:r>
              <a:rPr lang="en-US" sz="1333" dirty="0">
                <a:solidFill>
                  <a:srgbClr val="E0E2E4"/>
                </a:solidFill>
                <a:highlight>
                  <a:srgbClr val="B38B59">
                    <a:alpha val="30000"/>
                  </a:srgbClr>
                </a:highlight>
                <a:latin typeface="MiSans" pitchFamily="34" charset="0"/>
                <a:ea typeface="MiSans" pitchFamily="34" charset="-122"/>
                <a:cs typeface="MiSans" pitchFamily="34" charset="-120"/>
              </a:rPr>
              <a:t> 分布式控制 </a:t>
            </a:r>
            <a:r>
              <a:rPr lang="en-US" sz="1333" dirty="0">
                <a:solidFill>
                  <a:srgbClr val="E0E2E4"/>
                </a:solidFill>
                <a:latin typeface="MiSans" pitchFamily="34" charset="0"/>
                <a:ea typeface="MiSans" pitchFamily="34" charset="-122"/>
                <a:cs typeface="MiSans" pitchFamily="34" charset="-120"/>
              </a:rPr>
              <a:t>的容器编排平台。</a:t>
            </a:r>
            <a:endParaRPr lang="en-US" sz="1600" dirty="0"/>
          </a:p>
        </p:txBody>
      </p:sp>
      <p:sp>
        <p:nvSpPr>
          <p:cNvPr id="69" name="Text 67"/>
          <p:cNvSpPr/>
          <p:nvPr/>
        </p:nvSpPr>
        <p:spPr>
          <a:xfrm>
            <a:off x="1005417" y="8377706"/>
            <a:ext cx="14499167"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选择哪种技术取决于企业的业务场景、技术栈现状、团队能力和未来规划。理解两种技术的架构哲学差异,有助于做出更理性的技术决策。</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1"/>
        </a:solidFill>
        <a:effectLst/>
      </p:bgPr>
    </p:bg>
    <p:spTree>
      <p:nvGrpSpPr>
        <p:cNvPr id="1" name=""/>
        <p:cNvGrpSpPr/>
        <p:nvPr/>
      </p:nvGrpSpPr>
      <p:grpSpPr>
        <a:xfrm>
          <a:off x="0" y="0"/>
          <a:ext cx="0" cy="0"/>
          <a:chOff x="0" y="0"/>
          <a:chExt cx="0" cy="0"/>
        </a:xfrm>
      </p:grpSpPr>
      <p:sp>
        <p:nvSpPr>
          <p:cNvPr id="6" name="Text 3"/>
          <p:cNvSpPr/>
          <p:nvPr/>
        </p:nvSpPr>
        <p:spPr>
          <a:xfrm>
            <a:off x="508000" y="4019550"/>
            <a:ext cx="15621000" cy="952500"/>
          </a:xfrm>
          <a:prstGeom prst="rect">
            <a:avLst/>
          </a:prstGeom>
          <a:noFill/>
          <a:ln/>
        </p:spPr>
        <p:txBody>
          <a:bodyPr wrap="square" lIns="0" tIns="0" rIns="0" bIns="0" rtlCol="0" anchor="ctr"/>
          <a:lstStyle/>
          <a:p>
            <a:pPr>
              <a:lnSpc>
                <a:spcPct val="100000"/>
              </a:lnSpc>
            </a:pPr>
            <a:r>
              <a:rPr lang="en-US" sz="6000" b="1" dirty="0">
                <a:solidFill>
                  <a:srgbClr val="E0E2E4"/>
                </a:solidFill>
                <a:latin typeface="MiSans" pitchFamily="34" charset="0"/>
                <a:ea typeface="MiSans" pitchFamily="34" charset="-122"/>
                <a:cs typeface="MiSans" pitchFamily="34" charset="-120"/>
              </a:rPr>
              <a:t>Linux内核隔离机制基础</a:t>
            </a:r>
            <a:endParaRPr lang="en-US" sz="1600" dirty="0"/>
          </a:p>
        </p:txBody>
      </p:sp>
      <p:sp>
        <p:nvSpPr>
          <p:cNvPr id="7" name="Text 4"/>
          <p:cNvSpPr/>
          <p:nvPr/>
        </p:nvSpPr>
        <p:spPr>
          <a:xfrm>
            <a:off x="508000" y="5276850"/>
            <a:ext cx="15392400" cy="812800"/>
          </a:xfrm>
          <a:prstGeom prst="rect">
            <a:avLst/>
          </a:prstGeom>
          <a:noFill/>
          <a:ln/>
        </p:spPr>
        <p:txBody>
          <a:bodyPr wrap="square" lIns="0" tIns="0" rIns="0" bIns="0" rtlCol="0" anchor="ctr"/>
          <a:lstStyle/>
          <a:p>
            <a:pPr>
              <a:lnSpc>
                <a:spcPct val="110000"/>
              </a:lnSpc>
            </a:pPr>
            <a:r>
              <a:rPr lang="en-US" sz="2400" b="1" dirty="0">
                <a:solidFill>
                  <a:srgbClr val="B38B59"/>
                </a:solidFill>
                <a:latin typeface="MiSans" pitchFamily="34" charset="0"/>
                <a:ea typeface="MiSans" pitchFamily="34" charset="-122"/>
                <a:cs typeface="MiSans" pitchFamily="34" charset="-120"/>
              </a:rPr>
              <a:t>Namespaces、CGroups与安全模块</a:t>
            </a:r>
            <a:endParaRPr lang="en-US" sz="1600" dirty="0"/>
          </a:p>
          <a:p>
            <a:pPr>
              <a:lnSpc>
                <a:spcPct val="110000"/>
              </a:lnSpc>
            </a:pPr>
            <a:r>
              <a:rPr lang="en-US" sz="2400" b="1" dirty="0">
                <a:solidFill>
                  <a:srgbClr val="B38B59"/>
                </a:solidFill>
                <a:latin typeface="MiSans" pitchFamily="34" charset="0"/>
                <a:ea typeface="MiSans" pitchFamily="34" charset="-122"/>
                <a:cs typeface="MiSans" pitchFamily="34" charset="-120"/>
              </a:rPr>
              <a:t>现代容器技术的基石</a:t>
            </a:r>
            <a:endParaRPr lang="en-US" sz="1600" dirty="0"/>
          </a:p>
        </p:txBody>
      </p:sp>
      <p:sp>
        <p:nvSpPr>
          <p:cNvPr id="8" name="Shape 5"/>
          <p:cNvSpPr/>
          <p:nvPr/>
        </p:nvSpPr>
        <p:spPr>
          <a:xfrm>
            <a:off x="508000" y="6496050"/>
            <a:ext cx="2032000" cy="50800"/>
          </a:xfrm>
          <a:custGeom>
            <a:avLst/>
            <a:gdLst/>
            <a:ahLst/>
            <a:cxnLst/>
            <a:rect l="l" t="t" r="r" b="b"/>
            <a:pathLst>
              <a:path w="2032000" h="50800">
                <a:moveTo>
                  <a:pt x="0" y="0"/>
                </a:moveTo>
                <a:lnTo>
                  <a:pt x="2032000" y="0"/>
                </a:lnTo>
                <a:lnTo>
                  <a:pt x="2032000" y="50800"/>
                </a:lnTo>
                <a:lnTo>
                  <a:pt x="0" y="50800"/>
                </a:lnTo>
                <a:lnTo>
                  <a:pt x="0" y="0"/>
                </a:lnTo>
                <a:close/>
              </a:path>
            </a:pathLst>
          </a:custGeom>
          <a:gradFill flip="none" rotWithShape="1">
            <a:gsLst>
              <a:gs pos="0">
                <a:srgbClr val="3C8082"/>
              </a:gs>
              <a:gs pos="100000">
                <a:srgbClr val="B38B59"/>
              </a:gs>
            </a:gsLst>
            <a:lin ang="0" scaled="1"/>
          </a:gradFill>
          <a:ln/>
        </p:spPr>
        <p:txBody>
          <a:bodyPr/>
          <a:lstStyle/>
          <a:p>
            <a:endParaRPr lang="zh-CN" altLang="en-US"/>
          </a:p>
        </p:txBody>
      </p:sp>
      <p:sp>
        <p:nvSpPr>
          <p:cNvPr id="9" name="Shape 1">
            <a:extLst>
              <a:ext uri="{FF2B5EF4-FFF2-40B4-BE49-F238E27FC236}">
                <a16:creationId xmlns:a16="http://schemas.microsoft.com/office/drawing/2014/main" id="{2C5F29B1-D08A-8D33-DAC6-5AB8C301B31B}"/>
              </a:ext>
            </a:extLst>
          </p:cNvPr>
          <p:cNvSpPr/>
          <p:nvPr/>
        </p:nvSpPr>
        <p:spPr>
          <a:xfrm>
            <a:off x="508000" y="2257425"/>
            <a:ext cx="1016000" cy="1016000"/>
          </a:xfrm>
          <a:custGeom>
            <a:avLst/>
            <a:gdLst/>
            <a:ahLst/>
            <a:cxnLst/>
            <a:rect l="l" t="t" r="r" b="b"/>
            <a:pathLst>
              <a:path w="1016000" h="1016000">
                <a:moveTo>
                  <a:pt x="152400" y="0"/>
                </a:moveTo>
                <a:lnTo>
                  <a:pt x="863600" y="0"/>
                </a:lnTo>
                <a:cubicBezTo>
                  <a:pt x="947712" y="0"/>
                  <a:pt x="1016000" y="68288"/>
                  <a:pt x="1016000" y="152400"/>
                </a:cubicBezTo>
                <a:lnTo>
                  <a:pt x="1016000" y="863600"/>
                </a:lnTo>
                <a:cubicBezTo>
                  <a:pt x="1016000" y="947712"/>
                  <a:pt x="947712" y="1016000"/>
                  <a:pt x="863600" y="1016000"/>
                </a:cubicBezTo>
                <a:lnTo>
                  <a:pt x="152400" y="1016000"/>
                </a:lnTo>
                <a:cubicBezTo>
                  <a:pt x="68288" y="1016000"/>
                  <a:pt x="0" y="947712"/>
                  <a:pt x="0" y="863600"/>
                </a:cubicBezTo>
                <a:lnTo>
                  <a:pt x="0" y="152400"/>
                </a:lnTo>
                <a:cubicBezTo>
                  <a:pt x="0" y="68288"/>
                  <a:pt x="68288" y="0"/>
                  <a:pt x="152400" y="0"/>
                </a:cubicBezTo>
                <a:close/>
              </a:path>
            </a:pathLst>
          </a:custGeom>
          <a:solidFill>
            <a:srgbClr val="3C8082"/>
          </a:solidFill>
          <a:ln/>
        </p:spPr>
        <p:txBody>
          <a:bodyPr anchor="ctr"/>
          <a:lstStyle/>
          <a:p>
            <a:pPr algn="ctr"/>
            <a:endParaRPr lang="zh-CN" altLang="en-US"/>
          </a:p>
        </p:txBody>
      </p:sp>
      <p:sp>
        <p:nvSpPr>
          <p:cNvPr id="10" name="Text 2">
            <a:extLst>
              <a:ext uri="{FF2B5EF4-FFF2-40B4-BE49-F238E27FC236}">
                <a16:creationId xmlns:a16="http://schemas.microsoft.com/office/drawing/2014/main" id="{A9C49C41-849E-AE12-1FD9-901A563244DE}"/>
              </a:ext>
            </a:extLst>
          </p:cNvPr>
          <p:cNvSpPr/>
          <p:nvPr/>
        </p:nvSpPr>
        <p:spPr>
          <a:xfrm>
            <a:off x="547192" y="2330450"/>
            <a:ext cx="937617" cy="869950"/>
          </a:xfrm>
          <a:prstGeom prst="rect">
            <a:avLst/>
          </a:prstGeom>
          <a:noFill/>
          <a:ln/>
        </p:spPr>
        <p:txBody>
          <a:bodyPr wrap="square" lIns="0" tIns="0" rIns="0" bIns="0" rtlCol="0" anchor="b"/>
          <a:lstStyle/>
          <a:p>
            <a:pPr algn="ctr">
              <a:lnSpc>
                <a:spcPct val="80000"/>
              </a:lnSpc>
            </a:pPr>
            <a:r>
              <a:rPr lang="en-US" sz="4800" b="1" dirty="0">
                <a:solidFill>
                  <a:srgbClr val="FFFFFF"/>
                </a:solidFill>
                <a:latin typeface="Liter" pitchFamily="34" charset="0"/>
                <a:ea typeface="Liter" pitchFamily="34" charset="-122"/>
                <a:cs typeface="Liter" pitchFamily="34" charset="-120"/>
              </a:rPr>
              <a:t>0</a:t>
            </a:r>
            <a:r>
              <a:rPr lang="en-US" altLang="zh-CN" sz="4800" b="1" dirty="0">
                <a:solidFill>
                  <a:srgbClr val="FFFFFF"/>
                </a:solidFill>
                <a:latin typeface="Liter" pitchFamily="34" charset="0"/>
                <a:ea typeface="Liter" pitchFamily="34" charset="-122"/>
                <a:cs typeface="Liter" pitchFamily="34" charset="-120"/>
              </a:rPr>
              <a:t>2</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82374" y="530611"/>
            <a:ext cx="385899" cy="385899"/>
          </a:xfrm>
          <a:custGeom>
            <a:avLst/>
            <a:gdLst/>
            <a:ahLst/>
            <a:cxnLst/>
            <a:rect l="l" t="t" r="r" b="b"/>
            <a:pathLst>
              <a:path w="385899" h="385899">
                <a:moveTo>
                  <a:pt x="72356" y="0"/>
                </a:moveTo>
                <a:lnTo>
                  <a:pt x="313543" y="0"/>
                </a:lnTo>
                <a:cubicBezTo>
                  <a:pt x="353504" y="0"/>
                  <a:pt x="385899" y="32395"/>
                  <a:pt x="385899" y="72356"/>
                </a:cubicBezTo>
                <a:lnTo>
                  <a:pt x="385899" y="313543"/>
                </a:lnTo>
                <a:cubicBezTo>
                  <a:pt x="385899" y="353504"/>
                  <a:pt x="353504" y="385899"/>
                  <a:pt x="313543" y="385899"/>
                </a:cubicBezTo>
                <a:lnTo>
                  <a:pt x="72356" y="385899"/>
                </a:lnTo>
                <a:cubicBezTo>
                  <a:pt x="32395" y="385899"/>
                  <a:pt x="0" y="353504"/>
                  <a:pt x="0" y="313543"/>
                </a:cubicBezTo>
                <a:lnTo>
                  <a:pt x="0" y="72356"/>
                </a:lnTo>
                <a:cubicBezTo>
                  <a:pt x="0" y="32422"/>
                  <a:pt x="32422" y="0"/>
                  <a:pt x="72356" y="0"/>
                </a:cubicBezTo>
                <a:close/>
              </a:path>
            </a:pathLst>
          </a:custGeom>
          <a:solidFill>
            <a:srgbClr val="3C8082"/>
          </a:solidFill>
          <a:ln/>
        </p:spPr>
        <p:txBody>
          <a:bodyPr/>
          <a:lstStyle/>
          <a:p>
            <a:endParaRPr lang="zh-CN" altLang="en-US"/>
          </a:p>
        </p:txBody>
      </p:sp>
      <p:sp>
        <p:nvSpPr>
          <p:cNvPr id="3" name="Text 1"/>
          <p:cNvSpPr/>
          <p:nvPr/>
        </p:nvSpPr>
        <p:spPr>
          <a:xfrm>
            <a:off x="434136" y="530611"/>
            <a:ext cx="482374" cy="385899"/>
          </a:xfrm>
          <a:prstGeom prst="rect">
            <a:avLst/>
          </a:prstGeom>
          <a:noFill/>
          <a:ln/>
        </p:spPr>
        <p:txBody>
          <a:bodyPr wrap="square" lIns="0" tIns="0" rIns="0" bIns="0" rtlCol="0" anchor="ctr"/>
          <a:lstStyle/>
          <a:p>
            <a:pPr algn="ctr">
              <a:lnSpc>
                <a:spcPct val="130000"/>
              </a:lnSpc>
            </a:pPr>
            <a:r>
              <a:rPr lang="en-US" sz="1519" b="1" dirty="0">
                <a:solidFill>
                  <a:srgbClr val="FFFFFF"/>
                </a:solidFill>
                <a:latin typeface="Liter" pitchFamily="34" charset="0"/>
                <a:ea typeface="Liter" pitchFamily="34" charset="-122"/>
                <a:cs typeface="Liter" pitchFamily="34" charset="-120"/>
              </a:rPr>
              <a:t>04</a:t>
            </a:r>
            <a:endParaRPr lang="en-US" sz="1600" dirty="0"/>
          </a:p>
        </p:txBody>
      </p:sp>
      <p:sp>
        <p:nvSpPr>
          <p:cNvPr id="4" name="Text 2"/>
          <p:cNvSpPr/>
          <p:nvPr/>
        </p:nvSpPr>
        <p:spPr>
          <a:xfrm>
            <a:off x="1012985" y="482374"/>
            <a:ext cx="4751383" cy="482374"/>
          </a:xfrm>
          <a:prstGeom prst="rect">
            <a:avLst/>
          </a:prstGeom>
          <a:noFill/>
          <a:ln/>
        </p:spPr>
        <p:txBody>
          <a:bodyPr wrap="square" lIns="0" tIns="0" rIns="0" bIns="0" rtlCol="0" anchor="ctr"/>
          <a:lstStyle/>
          <a:p>
            <a:pPr>
              <a:lnSpc>
                <a:spcPct val="90000"/>
              </a:lnSpc>
            </a:pPr>
            <a:r>
              <a:rPr lang="en-US" sz="3418" b="1" dirty="0">
                <a:solidFill>
                  <a:srgbClr val="E0E2E4"/>
                </a:solidFill>
                <a:latin typeface="MiSans" pitchFamily="34" charset="0"/>
                <a:ea typeface="MiSans" pitchFamily="34" charset="-122"/>
                <a:cs typeface="MiSans" pitchFamily="34" charset="-120"/>
              </a:rPr>
              <a:t>Linux内核隔离技术架构</a:t>
            </a:r>
            <a:endParaRPr lang="en-US" sz="1600" dirty="0"/>
          </a:p>
        </p:txBody>
      </p:sp>
      <p:sp>
        <p:nvSpPr>
          <p:cNvPr id="5" name="Text 3"/>
          <p:cNvSpPr/>
          <p:nvPr/>
        </p:nvSpPr>
        <p:spPr>
          <a:xfrm>
            <a:off x="482374" y="1061223"/>
            <a:ext cx="15399786" cy="337662"/>
          </a:xfrm>
          <a:prstGeom prst="rect">
            <a:avLst/>
          </a:prstGeom>
          <a:noFill/>
          <a:ln/>
        </p:spPr>
        <p:txBody>
          <a:bodyPr wrap="square" lIns="0" tIns="0" rIns="0" bIns="0" rtlCol="0" anchor="ctr"/>
          <a:lstStyle/>
          <a:p>
            <a:pPr>
              <a:lnSpc>
                <a:spcPct val="130000"/>
              </a:lnSpc>
            </a:pPr>
            <a:r>
              <a:rPr lang="en-US" sz="1709" b="1" dirty="0">
                <a:solidFill>
                  <a:srgbClr val="B38B59"/>
                </a:solidFill>
                <a:latin typeface="MiSans" pitchFamily="34" charset="0"/>
                <a:ea typeface="MiSans" pitchFamily="34" charset="-122"/>
                <a:cs typeface="MiSans" pitchFamily="34" charset="-120"/>
              </a:rPr>
              <a:t>从应用到硬件:完整的Linux内核隔离技术体系</a:t>
            </a:r>
            <a:endParaRPr lang="en-US" sz="1600" dirty="0"/>
          </a:p>
        </p:txBody>
      </p:sp>
      <p:sp>
        <p:nvSpPr>
          <p:cNvPr id="6" name="Shape 4"/>
          <p:cNvSpPr/>
          <p:nvPr/>
        </p:nvSpPr>
        <p:spPr>
          <a:xfrm>
            <a:off x="488404" y="1597864"/>
            <a:ext cx="3702220" cy="6231686"/>
          </a:xfrm>
          <a:custGeom>
            <a:avLst/>
            <a:gdLst/>
            <a:ahLst/>
            <a:cxnLst/>
            <a:rect l="l" t="t" r="r" b="b"/>
            <a:pathLst>
              <a:path w="3702220" h="7537092">
                <a:moveTo>
                  <a:pt x="96480" y="0"/>
                </a:moveTo>
                <a:lnTo>
                  <a:pt x="3605740" y="0"/>
                </a:lnTo>
                <a:cubicBezTo>
                  <a:pt x="3659024" y="0"/>
                  <a:pt x="3702220" y="43195"/>
                  <a:pt x="3702220" y="96480"/>
                </a:cubicBezTo>
                <a:lnTo>
                  <a:pt x="3702220" y="7440612"/>
                </a:lnTo>
                <a:cubicBezTo>
                  <a:pt x="3702220" y="7493896"/>
                  <a:pt x="3659024" y="7537092"/>
                  <a:pt x="3605740" y="7537092"/>
                </a:cubicBezTo>
                <a:lnTo>
                  <a:pt x="96480" y="7537092"/>
                </a:lnTo>
                <a:cubicBezTo>
                  <a:pt x="43195" y="7537092"/>
                  <a:pt x="0" y="7493896"/>
                  <a:pt x="0" y="7440612"/>
                </a:cubicBezTo>
                <a:lnTo>
                  <a:pt x="0" y="96480"/>
                </a:lnTo>
                <a:cubicBezTo>
                  <a:pt x="0" y="43231"/>
                  <a:pt x="43231" y="0"/>
                  <a:pt x="96480"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2049335" y="1796843"/>
            <a:ext cx="578849" cy="578849"/>
          </a:xfrm>
          <a:custGeom>
            <a:avLst/>
            <a:gdLst/>
            <a:ahLst/>
            <a:cxnLst/>
            <a:rect l="l" t="t" r="r" b="b"/>
            <a:pathLst>
              <a:path w="578849" h="578849">
                <a:moveTo>
                  <a:pt x="96477" y="0"/>
                </a:moveTo>
                <a:lnTo>
                  <a:pt x="482372" y="0"/>
                </a:lnTo>
                <a:cubicBezTo>
                  <a:pt x="535619" y="0"/>
                  <a:pt x="578849" y="43230"/>
                  <a:pt x="578849" y="96477"/>
                </a:cubicBezTo>
                <a:lnTo>
                  <a:pt x="578849" y="482372"/>
                </a:lnTo>
                <a:cubicBezTo>
                  <a:pt x="578849" y="535655"/>
                  <a:pt x="535655" y="578849"/>
                  <a:pt x="482372" y="578849"/>
                </a:cubicBezTo>
                <a:lnTo>
                  <a:pt x="96477" y="578849"/>
                </a:lnTo>
                <a:cubicBezTo>
                  <a:pt x="43194" y="578849"/>
                  <a:pt x="0" y="535655"/>
                  <a:pt x="0" y="482372"/>
                </a:cubicBezTo>
                <a:lnTo>
                  <a:pt x="0" y="96477"/>
                </a:lnTo>
                <a:cubicBezTo>
                  <a:pt x="0" y="43194"/>
                  <a:pt x="43194" y="0"/>
                  <a:pt x="96477" y="0"/>
                </a:cubicBezTo>
                <a:close/>
              </a:path>
            </a:pathLst>
          </a:custGeom>
          <a:solidFill>
            <a:srgbClr val="3C8082"/>
          </a:solidFill>
          <a:ln/>
        </p:spPr>
        <p:txBody>
          <a:bodyPr/>
          <a:lstStyle/>
          <a:p>
            <a:endParaRPr lang="zh-CN" altLang="en-US"/>
          </a:p>
        </p:txBody>
      </p:sp>
      <p:sp>
        <p:nvSpPr>
          <p:cNvPr id="8" name="Shape 6"/>
          <p:cNvSpPr/>
          <p:nvPr/>
        </p:nvSpPr>
        <p:spPr>
          <a:xfrm>
            <a:off x="2194047" y="1941555"/>
            <a:ext cx="289424" cy="289424"/>
          </a:xfrm>
          <a:custGeom>
            <a:avLst/>
            <a:gdLst/>
            <a:ahLst/>
            <a:cxnLst/>
            <a:rect l="l" t="t" r="r" b="b"/>
            <a:pathLst>
              <a:path w="289424" h="289424">
                <a:moveTo>
                  <a:pt x="36178" y="18089"/>
                </a:moveTo>
                <a:cubicBezTo>
                  <a:pt x="16224" y="18089"/>
                  <a:pt x="0" y="34313"/>
                  <a:pt x="0" y="54267"/>
                </a:cubicBezTo>
                <a:lnTo>
                  <a:pt x="0" y="198979"/>
                </a:lnTo>
                <a:cubicBezTo>
                  <a:pt x="0" y="218934"/>
                  <a:pt x="16224" y="235157"/>
                  <a:pt x="36178" y="235157"/>
                </a:cubicBezTo>
                <a:lnTo>
                  <a:pt x="117579" y="235157"/>
                </a:lnTo>
                <a:lnTo>
                  <a:pt x="108534" y="262291"/>
                </a:lnTo>
                <a:lnTo>
                  <a:pt x="67834" y="262291"/>
                </a:lnTo>
                <a:cubicBezTo>
                  <a:pt x="60316" y="262291"/>
                  <a:pt x="54267" y="268339"/>
                  <a:pt x="54267" y="275858"/>
                </a:cubicBezTo>
                <a:cubicBezTo>
                  <a:pt x="54267" y="283376"/>
                  <a:pt x="60316" y="289424"/>
                  <a:pt x="67834" y="289424"/>
                </a:cubicBezTo>
                <a:lnTo>
                  <a:pt x="221591" y="289424"/>
                </a:lnTo>
                <a:cubicBezTo>
                  <a:pt x="229109" y="289424"/>
                  <a:pt x="235157" y="283376"/>
                  <a:pt x="235157" y="275858"/>
                </a:cubicBezTo>
                <a:cubicBezTo>
                  <a:pt x="235157" y="268339"/>
                  <a:pt x="229109" y="262291"/>
                  <a:pt x="221591" y="262291"/>
                </a:cubicBezTo>
                <a:lnTo>
                  <a:pt x="180890" y="262291"/>
                </a:lnTo>
                <a:lnTo>
                  <a:pt x="171846" y="235157"/>
                </a:lnTo>
                <a:lnTo>
                  <a:pt x="253246" y="235157"/>
                </a:lnTo>
                <a:cubicBezTo>
                  <a:pt x="273201" y="235157"/>
                  <a:pt x="289424" y="218934"/>
                  <a:pt x="289424" y="198979"/>
                </a:cubicBezTo>
                <a:lnTo>
                  <a:pt x="289424" y="54267"/>
                </a:lnTo>
                <a:cubicBezTo>
                  <a:pt x="289424" y="34313"/>
                  <a:pt x="273201" y="18089"/>
                  <a:pt x="253246" y="18089"/>
                </a:cubicBezTo>
                <a:lnTo>
                  <a:pt x="36178" y="18089"/>
                </a:lnTo>
                <a:close/>
                <a:moveTo>
                  <a:pt x="54267" y="54267"/>
                </a:moveTo>
                <a:lnTo>
                  <a:pt x="235157" y="54267"/>
                </a:lnTo>
                <a:cubicBezTo>
                  <a:pt x="245163" y="54267"/>
                  <a:pt x="253246" y="62351"/>
                  <a:pt x="253246" y="72356"/>
                </a:cubicBezTo>
                <a:lnTo>
                  <a:pt x="253246" y="162801"/>
                </a:lnTo>
                <a:cubicBezTo>
                  <a:pt x="253246" y="172807"/>
                  <a:pt x="245163" y="180890"/>
                  <a:pt x="235157" y="180890"/>
                </a:cubicBezTo>
                <a:lnTo>
                  <a:pt x="54267" y="180890"/>
                </a:lnTo>
                <a:cubicBezTo>
                  <a:pt x="44262" y="180890"/>
                  <a:pt x="36178" y="172807"/>
                  <a:pt x="36178" y="162801"/>
                </a:cubicBezTo>
                <a:lnTo>
                  <a:pt x="36178" y="72356"/>
                </a:lnTo>
                <a:cubicBezTo>
                  <a:pt x="36178" y="62351"/>
                  <a:pt x="44262" y="54267"/>
                  <a:pt x="54267" y="54267"/>
                </a:cubicBezTo>
                <a:close/>
              </a:path>
            </a:pathLst>
          </a:custGeom>
          <a:solidFill>
            <a:srgbClr val="FFFFFF"/>
          </a:solidFill>
          <a:ln/>
        </p:spPr>
        <p:txBody>
          <a:bodyPr/>
          <a:lstStyle/>
          <a:p>
            <a:endParaRPr lang="zh-CN" altLang="en-US"/>
          </a:p>
        </p:txBody>
      </p:sp>
      <p:sp>
        <p:nvSpPr>
          <p:cNvPr id="9" name="Text 7"/>
          <p:cNvSpPr/>
          <p:nvPr/>
        </p:nvSpPr>
        <p:spPr>
          <a:xfrm>
            <a:off x="627086" y="2472166"/>
            <a:ext cx="3424855" cy="337662"/>
          </a:xfrm>
          <a:prstGeom prst="rect">
            <a:avLst/>
          </a:prstGeom>
          <a:noFill/>
          <a:ln/>
        </p:spPr>
        <p:txBody>
          <a:bodyPr wrap="square" lIns="0" tIns="0" rIns="0" bIns="0" rtlCol="0" anchor="ctr"/>
          <a:lstStyle/>
          <a:p>
            <a:pPr algn="ctr">
              <a:lnSpc>
                <a:spcPct val="120000"/>
              </a:lnSpc>
            </a:pPr>
            <a:r>
              <a:rPr lang="en-US" sz="1899" b="1" dirty="0">
                <a:solidFill>
                  <a:srgbClr val="E0E2E4"/>
                </a:solidFill>
                <a:latin typeface="MiSans" pitchFamily="34" charset="0"/>
                <a:ea typeface="MiSans" pitchFamily="34" charset="-122"/>
                <a:cs typeface="MiSans" pitchFamily="34" charset="-120"/>
              </a:rPr>
              <a:t>应用层</a:t>
            </a:r>
            <a:endParaRPr lang="en-US" sz="1600" dirty="0"/>
          </a:p>
        </p:txBody>
      </p:sp>
      <p:sp>
        <p:nvSpPr>
          <p:cNvPr id="10" name="Shape 8"/>
          <p:cNvSpPr/>
          <p:nvPr/>
        </p:nvSpPr>
        <p:spPr>
          <a:xfrm>
            <a:off x="687383" y="2954540"/>
            <a:ext cx="3304261" cy="771798"/>
          </a:xfrm>
          <a:custGeom>
            <a:avLst/>
            <a:gdLst/>
            <a:ahLst/>
            <a:cxnLst/>
            <a:rect l="l" t="t" r="r" b="b"/>
            <a:pathLst>
              <a:path w="3304261" h="771798">
                <a:moveTo>
                  <a:pt x="96475" y="0"/>
                </a:moveTo>
                <a:lnTo>
                  <a:pt x="3207786" y="0"/>
                </a:lnTo>
                <a:cubicBezTo>
                  <a:pt x="3261068" y="0"/>
                  <a:pt x="3304261" y="43193"/>
                  <a:pt x="3304261" y="96475"/>
                </a:cubicBezTo>
                <a:lnTo>
                  <a:pt x="3304261" y="675323"/>
                </a:lnTo>
                <a:cubicBezTo>
                  <a:pt x="3304261" y="728605"/>
                  <a:pt x="3261068" y="771798"/>
                  <a:pt x="3207786" y="771798"/>
                </a:cubicBezTo>
                <a:lnTo>
                  <a:pt x="96475" y="771798"/>
                </a:lnTo>
                <a:cubicBezTo>
                  <a:pt x="43229" y="771798"/>
                  <a:pt x="0" y="728569"/>
                  <a:pt x="0" y="675323"/>
                </a:cubicBezTo>
                <a:lnTo>
                  <a:pt x="0" y="96475"/>
                </a:lnTo>
                <a:cubicBezTo>
                  <a:pt x="0" y="43229"/>
                  <a:pt x="43229" y="0"/>
                  <a:pt x="96475" y="0"/>
                </a:cubicBezTo>
                <a:close/>
              </a:path>
            </a:pathLst>
          </a:custGeom>
          <a:solidFill>
            <a:srgbClr val="1A1D21">
              <a:alpha val="50196"/>
            </a:srgbClr>
          </a:solidFill>
          <a:ln/>
        </p:spPr>
        <p:txBody>
          <a:bodyPr/>
          <a:lstStyle/>
          <a:p>
            <a:endParaRPr lang="zh-CN" altLang="en-US"/>
          </a:p>
        </p:txBody>
      </p:sp>
      <p:sp>
        <p:nvSpPr>
          <p:cNvPr id="11" name="Shape 9"/>
          <p:cNvSpPr/>
          <p:nvPr/>
        </p:nvSpPr>
        <p:spPr>
          <a:xfrm>
            <a:off x="807976" y="3099252"/>
            <a:ext cx="192950" cy="192950"/>
          </a:xfrm>
          <a:custGeom>
            <a:avLst/>
            <a:gdLst/>
            <a:ahLst/>
            <a:cxnLst/>
            <a:rect l="l" t="t" r="r" b="b"/>
            <a:pathLst>
              <a:path w="192950" h="192950">
                <a:moveTo>
                  <a:pt x="84528" y="-942"/>
                </a:moveTo>
                <a:cubicBezTo>
                  <a:pt x="91990" y="-5238"/>
                  <a:pt x="101185" y="-5238"/>
                  <a:pt x="108647" y="-942"/>
                </a:cubicBezTo>
                <a:lnTo>
                  <a:pt x="174936" y="37309"/>
                </a:lnTo>
                <a:cubicBezTo>
                  <a:pt x="182398" y="41605"/>
                  <a:pt x="186995" y="49594"/>
                  <a:pt x="186995" y="58186"/>
                </a:cubicBezTo>
                <a:lnTo>
                  <a:pt x="186995" y="134688"/>
                </a:lnTo>
                <a:cubicBezTo>
                  <a:pt x="186995" y="143318"/>
                  <a:pt x="182398" y="151269"/>
                  <a:pt x="174936" y="155566"/>
                </a:cubicBezTo>
                <a:lnTo>
                  <a:pt x="108647" y="193892"/>
                </a:lnTo>
                <a:cubicBezTo>
                  <a:pt x="101185" y="198188"/>
                  <a:pt x="91990" y="198188"/>
                  <a:pt x="84528" y="193892"/>
                </a:cubicBezTo>
                <a:lnTo>
                  <a:pt x="18277" y="155641"/>
                </a:lnTo>
                <a:cubicBezTo>
                  <a:pt x="10816" y="151345"/>
                  <a:pt x="6218" y="143355"/>
                  <a:pt x="6218" y="134763"/>
                </a:cubicBezTo>
                <a:lnTo>
                  <a:pt x="6218" y="58262"/>
                </a:lnTo>
                <a:cubicBezTo>
                  <a:pt x="6218" y="49632"/>
                  <a:pt x="10816" y="41680"/>
                  <a:pt x="18277" y="37384"/>
                </a:cubicBezTo>
                <a:lnTo>
                  <a:pt x="84528" y="-942"/>
                </a:lnTo>
                <a:close/>
                <a:moveTo>
                  <a:pt x="162839" y="134726"/>
                </a:moveTo>
                <a:lnTo>
                  <a:pt x="162839" y="72130"/>
                </a:lnTo>
                <a:lnTo>
                  <a:pt x="108647" y="103409"/>
                </a:lnTo>
                <a:lnTo>
                  <a:pt x="108647" y="166004"/>
                </a:lnTo>
                <a:lnTo>
                  <a:pt x="162839" y="134726"/>
                </a:lnTo>
                <a:close/>
              </a:path>
            </a:pathLst>
          </a:custGeom>
          <a:solidFill>
            <a:srgbClr val="B38B59"/>
          </a:solidFill>
          <a:ln/>
        </p:spPr>
        <p:txBody>
          <a:bodyPr/>
          <a:lstStyle/>
          <a:p>
            <a:endParaRPr lang="zh-CN" altLang="en-US"/>
          </a:p>
        </p:txBody>
      </p:sp>
      <p:sp>
        <p:nvSpPr>
          <p:cNvPr id="12" name="Text 10"/>
          <p:cNvSpPr/>
          <p:nvPr/>
        </p:nvSpPr>
        <p:spPr>
          <a:xfrm>
            <a:off x="1121519" y="3051015"/>
            <a:ext cx="1519478" cy="289424"/>
          </a:xfrm>
          <a:prstGeom prst="rect">
            <a:avLst/>
          </a:prstGeom>
          <a:noFill/>
          <a:ln/>
        </p:spPr>
        <p:txBody>
          <a:bodyPr wrap="square" lIns="0" tIns="0" rIns="0" bIns="0" rtlCol="0" anchor="ctr"/>
          <a:lstStyle/>
          <a:p>
            <a:pPr>
              <a:lnSpc>
                <a:spcPct val="130000"/>
              </a:lnSpc>
            </a:pPr>
            <a:r>
              <a:rPr lang="en-US" sz="1519" b="1" dirty="0">
                <a:solidFill>
                  <a:srgbClr val="E0E2E4"/>
                </a:solidFill>
                <a:latin typeface="MiSans" pitchFamily="34" charset="0"/>
                <a:ea typeface="MiSans" pitchFamily="34" charset="-122"/>
                <a:cs typeface="MiSans" pitchFamily="34" charset="-120"/>
              </a:rPr>
              <a:t>YARN Container</a:t>
            </a:r>
            <a:endParaRPr lang="en-US" sz="1600" dirty="0"/>
          </a:p>
        </p:txBody>
      </p:sp>
      <p:sp>
        <p:nvSpPr>
          <p:cNvPr id="13" name="Text 11"/>
          <p:cNvSpPr/>
          <p:nvPr/>
        </p:nvSpPr>
        <p:spPr>
          <a:xfrm>
            <a:off x="783858" y="3388677"/>
            <a:ext cx="3195727" cy="241187"/>
          </a:xfrm>
          <a:prstGeom prst="rect">
            <a:avLst/>
          </a:prstGeom>
          <a:noFill/>
          <a:ln/>
        </p:spPr>
        <p:txBody>
          <a:bodyPr wrap="square" lIns="0" tIns="0" rIns="0" bIns="0" rtlCol="0" anchor="ctr"/>
          <a:lstStyle/>
          <a:p>
            <a:pPr>
              <a:lnSpc>
                <a:spcPct val="120000"/>
              </a:lnSpc>
            </a:pPr>
            <a:r>
              <a:rPr lang="en-US" sz="1329" dirty="0">
                <a:solidFill>
                  <a:srgbClr val="E0E2E4">
                    <a:alpha val="70000"/>
                  </a:srgbClr>
                </a:solidFill>
                <a:latin typeface="MiSans" pitchFamily="34" charset="0"/>
                <a:ea typeface="MiSans" pitchFamily="34" charset="-122"/>
                <a:cs typeface="MiSans" pitchFamily="34" charset="-120"/>
              </a:rPr>
              <a:t>大数据资源管理单元</a:t>
            </a:r>
            <a:endParaRPr lang="en-US" sz="1600" dirty="0"/>
          </a:p>
        </p:txBody>
      </p:sp>
      <p:sp>
        <p:nvSpPr>
          <p:cNvPr id="14" name="Shape 12"/>
          <p:cNvSpPr/>
          <p:nvPr/>
        </p:nvSpPr>
        <p:spPr>
          <a:xfrm>
            <a:off x="687383" y="3822813"/>
            <a:ext cx="3304261" cy="771798"/>
          </a:xfrm>
          <a:custGeom>
            <a:avLst/>
            <a:gdLst/>
            <a:ahLst/>
            <a:cxnLst/>
            <a:rect l="l" t="t" r="r" b="b"/>
            <a:pathLst>
              <a:path w="3304261" h="771798">
                <a:moveTo>
                  <a:pt x="96475" y="0"/>
                </a:moveTo>
                <a:lnTo>
                  <a:pt x="3207786" y="0"/>
                </a:lnTo>
                <a:cubicBezTo>
                  <a:pt x="3261068" y="0"/>
                  <a:pt x="3304261" y="43193"/>
                  <a:pt x="3304261" y="96475"/>
                </a:cubicBezTo>
                <a:lnTo>
                  <a:pt x="3304261" y="675323"/>
                </a:lnTo>
                <a:cubicBezTo>
                  <a:pt x="3304261" y="728605"/>
                  <a:pt x="3261068" y="771798"/>
                  <a:pt x="3207786" y="771798"/>
                </a:cubicBezTo>
                <a:lnTo>
                  <a:pt x="96475" y="771798"/>
                </a:lnTo>
                <a:cubicBezTo>
                  <a:pt x="43229" y="771798"/>
                  <a:pt x="0" y="728569"/>
                  <a:pt x="0" y="675323"/>
                </a:cubicBezTo>
                <a:lnTo>
                  <a:pt x="0" y="96475"/>
                </a:lnTo>
                <a:cubicBezTo>
                  <a:pt x="0" y="43229"/>
                  <a:pt x="43229" y="0"/>
                  <a:pt x="96475" y="0"/>
                </a:cubicBezTo>
                <a:close/>
              </a:path>
            </a:pathLst>
          </a:custGeom>
          <a:solidFill>
            <a:srgbClr val="1A1D21">
              <a:alpha val="50196"/>
            </a:srgbClr>
          </a:solidFill>
          <a:ln/>
        </p:spPr>
        <p:txBody>
          <a:bodyPr/>
          <a:lstStyle/>
          <a:p>
            <a:endParaRPr lang="zh-CN" altLang="en-US"/>
          </a:p>
        </p:txBody>
      </p:sp>
      <p:sp>
        <p:nvSpPr>
          <p:cNvPr id="15" name="Shape 13"/>
          <p:cNvSpPr/>
          <p:nvPr/>
        </p:nvSpPr>
        <p:spPr>
          <a:xfrm>
            <a:off x="807976" y="3967525"/>
            <a:ext cx="192950" cy="192950"/>
          </a:xfrm>
          <a:custGeom>
            <a:avLst/>
            <a:gdLst/>
            <a:ahLst/>
            <a:cxnLst/>
            <a:rect l="l" t="t" r="r" b="b"/>
            <a:pathLst>
              <a:path w="192950" h="192950">
                <a:moveTo>
                  <a:pt x="107027" y="-490"/>
                </a:moveTo>
                <a:cubicBezTo>
                  <a:pt x="100507" y="-4258"/>
                  <a:pt x="92442" y="-4258"/>
                  <a:pt x="85923" y="-490"/>
                </a:cubicBezTo>
                <a:lnTo>
                  <a:pt x="54192" y="17825"/>
                </a:lnTo>
                <a:cubicBezTo>
                  <a:pt x="47672" y="21594"/>
                  <a:pt x="43640" y="28566"/>
                  <a:pt x="43640" y="36103"/>
                </a:cubicBezTo>
                <a:lnTo>
                  <a:pt x="43640" y="74504"/>
                </a:lnTo>
                <a:lnTo>
                  <a:pt x="10364" y="93724"/>
                </a:lnTo>
                <a:cubicBezTo>
                  <a:pt x="3844" y="97492"/>
                  <a:pt x="-188" y="104464"/>
                  <a:pt x="-188" y="112001"/>
                </a:cubicBezTo>
                <a:lnTo>
                  <a:pt x="-188" y="148669"/>
                </a:lnTo>
                <a:cubicBezTo>
                  <a:pt x="-188" y="156206"/>
                  <a:pt x="3844" y="163178"/>
                  <a:pt x="10364" y="166947"/>
                </a:cubicBezTo>
                <a:lnTo>
                  <a:pt x="42132" y="185262"/>
                </a:lnTo>
                <a:cubicBezTo>
                  <a:pt x="48652" y="189030"/>
                  <a:pt x="56717" y="189030"/>
                  <a:pt x="63236" y="185262"/>
                </a:cubicBezTo>
                <a:lnTo>
                  <a:pt x="96512" y="166042"/>
                </a:lnTo>
                <a:lnTo>
                  <a:pt x="129789" y="185262"/>
                </a:lnTo>
                <a:cubicBezTo>
                  <a:pt x="136308" y="189030"/>
                  <a:pt x="144373" y="189030"/>
                  <a:pt x="150893" y="185262"/>
                </a:cubicBezTo>
                <a:lnTo>
                  <a:pt x="182586" y="166947"/>
                </a:lnTo>
                <a:cubicBezTo>
                  <a:pt x="189106" y="163178"/>
                  <a:pt x="193138" y="156206"/>
                  <a:pt x="193138" y="148669"/>
                </a:cubicBezTo>
                <a:lnTo>
                  <a:pt x="193138" y="112001"/>
                </a:lnTo>
                <a:cubicBezTo>
                  <a:pt x="193138" y="104464"/>
                  <a:pt x="189106" y="97492"/>
                  <a:pt x="182586" y="93724"/>
                </a:cubicBezTo>
                <a:lnTo>
                  <a:pt x="149310" y="74504"/>
                </a:lnTo>
                <a:lnTo>
                  <a:pt x="149310" y="36103"/>
                </a:lnTo>
                <a:cubicBezTo>
                  <a:pt x="149310" y="28566"/>
                  <a:pt x="145277" y="21594"/>
                  <a:pt x="138758" y="17825"/>
                </a:cubicBezTo>
                <a:lnTo>
                  <a:pt x="107027" y="-490"/>
                </a:lnTo>
                <a:close/>
                <a:moveTo>
                  <a:pt x="87430" y="110268"/>
                </a:moveTo>
                <a:lnTo>
                  <a:pt x="87430" y="150403"/>
                </a:lnTo>
                <a:lnTo>
                  <a:pt x="54154" y="169622"/>
                </a:lnTo>
                <a:cubicBezTo>
                  <a:pt x="53702" y="169886"/>
                  <a:pt x="53174" y="170037"/>
                  <a:pt x="52647" y="170037"/>
                </a:cubicBezTo>
                <a:lnTo>
                  <a:pt x="52647" y="130354"/>
                </a:lnTo>
                <a:lnTo>
                  <a:pt x="87430" y="110268"/>
                </a:lnTo>
                <a:close/>
                <a:moveTo>
                  <a:pt x="174634" y="110494"/>
                </a:moveTo>
                <a:cubicBezTo>
                  <a:pt x="174898" y="110946"/>
                  <a:pt x="175049" y="111474"/>
                  <a:pt x="175049" y="112001"/>
                </a:cubicBezTo>
                <a:lnTo>
                  <a:pt x="175049" y="148669"/>
                </a:lnTo>
                <a:cubicBezTo>
                  <a:pt x="175049" y="149762"/>
                  <a:pt x="174484" y="150742"/>
                  <a:pt x="173542" y="151269"/>
                </a:cubicBezTo>
                <a:lnTo>
                  <a:pt x="141773" y="169585"/>
                </a:lnTo>
                <a:cubicBezTo>
                  <a:pt x="141320" y="169848"/>
                  <a:pt x="140793" y="169999"/>
                  <a:pt x="140265" y="169999"/>
                </a:cubicBezTo>
                <a:lnTo>
                  <a:pt x="140265" y="130316"/>
                </a:lnTo>
                <a:lnTo>
                  <a:pt x="174634" y="110494"/>
                </a:lnTo>
                <a:close/>
                <a:moveTo>
                  <a:pt x="131258" y="36103"/>
                </a:moveTo>
                <a:lnTo>
                  <a:pt x="131258" y="74504"/>
                </a:lnTo>
                <a:lnTo>
                  <a:pt x="96475" y="94591"/>
                </a:lnTo>
                <a:lnTo>
                  <a:pt x="96475" y="54455"/>
                </a:lnTo>
                <a:lnTo>
                  <a:pt x="130844" y="34633"/>
                </a:lnTo>
                <a:cubicBezTo>
                  <a:pt x="131108" y="35085"/>
                  <a:pt x="131258" y="35613"/>
                  <a:pt x="131258" y="36140"/>
                </a:cubicBezTo>
                <a:close/>
              </a:path>
            </a:pathLst>
          </a:custGeom>
          <a:solidFill>
            <a:srgbClr val="B38B59"/>
          </a:solidFill>
          <a:ln/>
        </p:spPr>
        <p:txBody>
          <a:bodyPr/>
          <a:lstStyle/>
          <a:p>
            <a:endParaRPr lang="zh-CN" altLang="en-US"/>
          </a:p>
        </p:txBody>
      </p:sp>
      <p:sp>
        <p:nvSpPr>
          <p:cNvPr id="16" name="Text 14"/>
          <p:cNvSpPr/>
          <p:nvPr/>
        </p:nvSpPr>
        <p:spPr>
          <a:xfrm>
            <a:off x="1121519" y="3919288"/>
            <a:ext cx="1507418" cy="289424"/>
          </a:xfrm>
          <a:prstGeom prst="rect">
            <a:avLst/>
          </a:prstGeom>
          <a:noFill/>
          <a:ln/>
        </p:spPr>
        <p:txBody>
          <a:bodyPr wrap="square" lIns="0" tIns="0" rIns="0" bIns="0" rtlCol="0" anchor="ctr"/>
          <a:lstStyle/>
          <a:p>
            <a:pPr>
              <a:lnSpc>
                <a:spcPct val="130000"/>
              </a:lnSpc>
            </a:pPr>
            <a:r>
              <a:rPr lang="en-US" sz="1519" b="1" dirty="0">
                <a:solidFill>
                  <a:srgbClr val="E0E2E4"/>
                </a:solidFill>
                <a:latin typeface="MiSans" pitchFamily="34" charset="0"/>
                <a:ea typeface="MiSans" pitchFamily="34" charset="-122"/>
                <a:cs typeface="MiSans" pitchFamily="34" charset="-120"/>
              </a:rPr>
              <a:t>Kubernetes Pod</a:t>
            </a:r>
            <a:endParaRPr lang="en-US" sz="1600" dirty="0"/>
          </a:p>
        </p:txBody>
      </p:sp>
      <p:sp>
        <p:nvSpPr>
          <p:cNvPr id="17" name="Text 15"/>
          <p:cNvSpPr/>
          <p:nvPr/>
        </p:nvSpPr>
        <p:spPr>
          <a:xfrm>
            <a:off x="783858" y="4256950"/>
            <a:ext cx="3195727" cy="241187"/>
          </a:xfrm>
          <a:prstGeom prst="rect">
            <a:avLst/>
          </a:prstGeom>
          <a:noFill/>
          <a:ln/>
        </p:spPr>
        <p:txBody>
          <a:bodyPr wrap="square" lIns="0" tIns="0" rIns="0" bIns="0" rtlCol="0" anchor="ctr"/>
          <a:lstStyle/>
          <a:p>
            <a:pPr>
              <a:lnSpc>
                <a:spcPct val="120000"/>
              </a:lnSpc>
            </a:pPr>
            <a:r>
              <a:rPr lang="en-US" sz="1329" dirty="0">
                <a:solidFill>
                  <a:srgbClr val="E0E2E4">
                    <a:alpha val="70000"/>
                  </a:srgbClr>
                </a:solidFill>
                <a:latin typeface="MiSans" pitchFamily="34" charset="0"/>
                <a:ea typeface="MiSans" pitchFamily="34" charset="-122"/>
                <a:cs typeface="MiSans" pitchFamily="34" charset="-120"/>
              </a:rPr>
              <a:t>云原生应用调度单位</a:t>
            </a:r>
            <a:endParaRPr lang="en-US" sz="1600" dirty="0"/>
          </a:p>
        </p:txBody>
      </p:sp>
      <p:sp>
        <p:nvSpPr>
          <p:cNvPr id="18" name="Shape 16"/>
          <p:cNvSpPr/>
          <p:nvPr/>
        </p:nvSpPr>
        <p:spPr>
          <a:xfrm>
            <a:off x="687383" y="4691086"/>
            <a:ext cx="3304261" cy="771798"/>
          </a:xfrm>
          <a:custGeom>
            <a:avLst/>
            <a:gdLst/>
            <a:ahLst/>
            <a:cxnLst/>
            <a:rect l="l" t="t" r="r" b="b"/>
            <a:pathLst>
              <a:path w="3304261" h="771798">
                <a:moveTo>
                  <a:pt x="96475" y="0"/>
                </a:moveTo>
                <a:lnTo>
                  <a:pt x="3207786" y="0"/>
                </a:lnTo>
                <a:cubicBezTo>
                  <a:pt x="3261068" y="0"/>
                  <a:pt x="3304261" y="43193"/>
                  <a:pt x="3304261" y="96475"/>
                </a:cubicBezTo>
                <a:lnTo>
                  <a:pt x="3304261" y="675323"/>
                </a:lnTo>
                <a:cubicBezTo>
                  <a:pt x="3304261" y="728605"/>
                  <a:pt x="3261068" y="771798"/>
                  <a:pt x="3207786" y="771798"/>
                </a:cubicBezTo>
                <a:lnTo>
                  <a:pt x="96475" y="771798"/>
                </a:lnTo>
                <a:cubicBezTo>
                  <a:pt x="43229" y="771798"/>
                  <a:pt x="0" y="728569"/>
                  <a:pt x="0" y="675323"/>
                </a:cubicBezTo>
                <a:lnTo>
                  <a:pt x="0" y="96475"/>
                </a:lnTo>
                <a:cubicBezTo>
                  <a:pt x="0" y="43229"/>
                  <a:pt x="43229" y="0"/>
                  <a:pt x="96475" y="0"/>
                </a:cubicBezTo>
                <a:close/>
              </a:path>
            </a:pathLst>
          </a:custGeom>
          <a:solidFill>
            <a:srgbClr val="1A1D21">
              <a:alpha val="50196"/>
            </a:srgbClr>
          </a:solidFill>
          <a:ln/>
        </p:spPr>
        <p:txBody>
          <a:bodyPr/>
          <a:lstStyle/>
          <a:p>
            <a:endParaRPr lang="zh-CN" altLang="en-US"/>
          </a:p>
        </p:txBody>
      </p:sp>
      <p:sp>
        <p:nvSpPr>
          <p:cNvPr id="19" name="Shape 17"/>
          <p:cNvSpPr/>
          <p:nvPr/>
        </p:nvSpPr>
        <p:spPr>
          <a:xfrm>
            <a:off x="783858" y="4835798"/>
            <a:ext cx="241187" cy="192950"/>
          </a:xfrm>
          <a:custGeom>
            <a:avLst/>
            <a:gdLst/>
            <a:ahLst/>
            <a:cxnLst/>
            <a:rect l="l" t="t" r="r" b="b"/>
            <a:pathLst>
              <a:path w="241187" h="192950">
                <a:moveTo>
                  <a:pt x="131861" y="89051"/>
                </a:moveTo>
                <a:lnTo>
                  <a:pt x="106951" y="89051"/>
                </a:lnTo>
                <a:lnTo>
                  <a:pt x="106951" y="66666"/>
                </a:lnTo>
                <a:lnTo>
                  <a:pt x="131861" y="66666"/>
                </a:lnTo>
                <a:lnTo>
                  <a:pt x="131861" y="89051"/>
                </a:lnTo>
                <a:close/>
                <a:moveTo>
                  <a:pt x="131861" y="12059"/>
                </a:moveTo>
                <a:lnTo>
                  <a:pt x="106951" y="12059"/>
                </a:lnTo>
                <a:lnTo>
                  <a:pt x="106951" y="34934"/>
                </a:lnTo>
                <a:lnTo>
                  <a:pt x="131861" y="34934"/>
                </a:lnTo>
                <a:lnTo>
                  <a:pt x="131861" y="12059"/>
                </a:lnTo>
                <a:close/>
                <a:moveTo>
                  <a:pt x="161331" y="66628"/>
                </a:moveTo>
                <a:lnTo>
                  <a:pt x="136421" y="66628"/>
                </a:lnTo>
                <a:lnTo>
                  <a:pt x="136421" y="89013"/>
                </a:lnTo>
                <a:lnTo>
                  <a:pt x="161331" y="89013"/>
                </a:lnTo>
                <a:lnTo>
                  <a:pt x="161331" y="66628"/>
                </a:lnTo>
                <a:close/>
                <a:moveTo>
                  <a:pt x="102429" y="39457"/>
                </a:moveTo>
                <a:lnTo>
                  <a:pt x="77519" y="39457"/>
                </a:lnTo>
                <a:lnTo>
                  <a:pt x="77519" y="62106"/>
                </a:lnTo>
                <a:lnTo>
                  <a:pt x="102429" y="62106"/>
                </a:lnTo>
                <a:lnTo>
                  <a:pt x="102429" y="39457"/>
                </a:lnTo>
                <a:close/>
                <a:moveTo>
                  <a:pt x="131861" y="39457"/>
                </a:moveTo>
                <a:lnTo>
                  <a:pt x="106951" y="39457"/>
                </a:lnTo>
                <a:lnTo>
                  <a:pt x="106951" y="62106"/>
                </a:lnTo>
                <a:lnTo>
                  <a:pt x="131861" y="62106"/>
                </a:lnTo>
                <a:lnTo>
                  <a:pt x="131861" y="39457"/>
                </a:lnTo>
                <a:close/>
                <a:moveTo>
                  <a:pt x="236175" y="77142"/>
                </a:moveTo>
                <a:cubicBezTo>
                  <a:pt x="230748" y="73487"/>
                  <a:pt x="218236" y="72168"/>
                  <a:pt x="208627" y="73977"/>
                </a:cubicBezTo>
                <a:cubicBezTo>
                  <a:pt x="207383" y="64932"/>
                  <a:pt x="202333" y="57056"/>
                  <a:pt x="193138" y="49971"/>
                </a:cubicBezTo>
                <a:lnTo>
                  <a:pt x="187862" y="46466"/>
                </a:lnTo>
                <a:lnTo>
                  <a:pt x="184357" y="51742"/>
                </a:lnTo>
                <a:cubicBezTo>
                  <a:pt x="177423" y="62219"/>
                  <a:pt x="175539" y="79479"/>
                  <a:pt x="182963" y="90860"/>
                </a:cubicBezTo>
                <a:cubicBezTo>
                  <a:pt x="179684" y="92631"/>
                  <a:pt x="173240" y="95043"/>
                  <a:pt x="164723" y="94892"/>
                </a:cubicBezTo>
                <a:lnTo>
                  <a:pt x="904" y="94892"/>
                </a:lnTo>
                <a:cubicBezTo>
                  <a:pt x="-2374" y="114036"/>
                  <a:pt x="3090" y="138909"/>
                  <a:pt x="17486" y="155980"/>
                </a:cubicBezTo>
                <a:cubicBezTo>
                  <a:pt x="31467" y="172524"/>
                  <a:pt x="52420" y="180928"/>
                  <a:pt x="79818" y="180928"/>
                </a:cubicBezTo>
                <a:cubicBezTo>
                  <a:pt x="139135" y="180928"/>
                  <a:pt x="183038" y="153606"/>
                  <a:pt x="203577" y="103974"/>
                </a:cubicBezTo>
                <a:cubicBezTo>
                  <a:pt x="211642" y="104125"/>
                  <a:pt x="229052" y="104012"/>
                  <a:pt x="237984" y="86940"/>
                </a:cubicBezTo>
                <a:cubicBezTo>
                  <a:pt x="238549" y="85998"/>
                  <a:pt x="240471" y="81966"/>
                  <a:pt x="241187" y="80496"/>
                </a:cubicBezTo>
                <a:lnTo>
                  <a:pt x="236175" y="77142"/>
                </a:lnTo>
                <a:close/>
                <a:moveTo>
                  <a:pt x="43564" y="66628"/>
                </a:moveTo>
                <a:lnTo>
                  <a:pt x="18692" y="66628"/>
                </a:lnTo>
                <a:lnTo>
                  <a:pt x="18692" y="89013"/>
                </a:lnTo>
                <a:lnTo>
                  <a:pt x="43602" y="89013"/>
                </a:lnTo>
                <a:lnTo>
                  <a:pt x="43602" y="66628"/>
                </a:lnTo>
                <a:lnTo>
                  <a:pt x="43564" y="66628"/>
                </a:lnTo>
                <a:close/>
                <a:moveTo>
                  <a:pt x="72997" y="66628"/>
                </a:moveTo>
                <a:lnTo>
                  <a:pt x="48087" y="66628"/>
                </a:lnTo>
                <a:lnTo>
                  <a:pt x="48087" y="89013"/>
                </a:lnTo>
                <a:lnTo>
                  <a:pt x="72997" y="89013"/>
                </a:lnTo>
                <a:lnTo>
                  <a:pt x="72997" y="66628"/>
                </a:lnTo>
                <a:close/>
                <a:moveTo>
                  <a:pt x="102429" y="66628"/>
                </a:moveTo>
                <a:lnTo>
                  <a:pt x="77519" y="66628"/>
                </a:lnTo>
                <a:lnTo>
                  <a:pt x="77519" y="89013"/>
                </a:lnTo>
                <a:lnTo>
                  <a:pt x="102429" y="89013"/>
                </a:lnTo>
                <a:lnTo>
                  <a:pt x="102429" y="66628"/>
                </a:lnTo>
                <a:close/>
                <a:moveTo>
                  <a:pt x="72997" y="39457"/>
                </a:moveTo>
                <a:lnTo>
                  <a:pt x="48087" y="39457"/>
                </a:lnTo>
                <a:lnTo>
                  <a:pt x="48087" y="62106"/>
                </a:lnTo>
                <a:lnTo>
                  <a:pt x="72997" y="62106"/>
                </a:lnTo>
                <a:lnTo>
                  <a:pt x="72997" y="39457"/>
                </a:lnTo>
                <a:close/>
              </a:path>
            </a:pathLst>
          </a:custGeom>
          <a:solidFill>
            <a:srgbClr val="B38B59"/>
          </a:solidFill>
          <a:ln/>
        </p:spPr>
        <p:txBody>
          <a:bodyPr/>
          <a:lstStyle/>
          <a:p>
            <a:endParaRPr lang="zh-CN" altLang="en-US"/>
          </a:p>
        </p:txBody>
      </p:sp>
      <p:sp>
        <p:nvSpPr>
          <p:cNvPr id="20" name="Text 18"/>
          <p:cNvSpPr/>
          <p:nvPr/>
        </p:nvSpPr>
        <p:spPr>
          <a:xfrm>
            <a:off x="1121519" y="4787561"/>
            <a:ext cx="1109460" cy="289424"/>
          </a:xfrm>
          <a:prstGeom prst="rect">
            <a:avLst/>
          </a:prstGeom>
          <a:noFill/>
          <a:ln/>
        </p:spPr>
        <p:txBody>
          <a:bodyPr wrap="square" lIns="0" tIns="0" rIns="0" bIns="0" rtlCol="0" anchor="ctr"/>
          <a:lstStyle/>
          <a:p>
            <a:pPr>
              <a:lnSpc>
                <a:spcPct val="130000"/>
              </a:lnSpc>
            </a:pPr>
            <a:r>
              <a:rPr lang="en-US" sz="1519" b="1" dirty="0">
                <a:solidFill>
                  <a:srgbClr val="E0E2E4"/>
                </a:solidFill>
                <a:latin typeface="MiSans" pitchFamily="34" charset="0"/>
                <a:ea typeface="MiSans" pitchFamily="34" charset="-122"/>
                <a:cs typeface="MiSans" pitchFamily="34" charset="-120"/>
              </a:rPr>
              <a:t>Docker容器</a:t>
            </a:r>
            <a:endParaRPr lang="en-US" sz="1600" dirty="0"/>
          </a:p>
        </p:txBody>
      </p:sp>
      <p:sp>
        <p:nvSpPr>
          <p:cNvPr id="21" name="Text 19"/>
          <p:cNvSpPr/>
          <p:nvPr/>
        </p:nvSpPr>
        <p:spPr>
          <a:xfrm>
            <a:off x="783858" y="5125223"/>
            <a:ext cx="3195727" cy="241187"/>
          </a:xfrm>
          <a:prstGeom prst="rect">
            <a:avLst/>
          </a:prstGeom>
          <a:noFill/>
          <a:ln/>
        </p:spPr>
        <p:txBody>
          <a:bodyPr wrap="square" lIns="0" tIns="0" rIns="0" bIns="0" rtlCol="0" anchor="ctr"/>
          <a:lstStyle/>
          <a:p>
            <a:pPr>
              <a:lnSpc>
                <a:spcPct val="120000"/>
              </a:lnSpc>
            </a:pPr>
            <a:r>
              <a:rPr lang="en-US" sz="1329" dirty="0">
                <a:solidFill>
                  <a:srgbClr val="E0E2E4">
                    <a:alpha val="70000"/>
                  </a:srgbClr>
                </a:solidFill>
                <a:latin typeface="MiSans" pitchFamily="34" charset="0"/>
                <a:ea typeface="MiSans" pitchFamily="34" charset="-122"/>
                <a:cs typeface="MiSans" pitchFamily="34" charset="-120"/>
              </a:rPr>
              <a:t>轻量级虚拟化技术</a:t>
            </a:r>
            <a:endParaRPr lang="en-US" sz="1600" dirty="0"/>
          </a:p>
        </p:txBody>
      </p:sp>
      <p:sp>
        <p:nvSpPr>
          <p:cNvPr id="22" name="Shape 20"/>
          <p:cNvSpPr/>
          <p:nvPr/>
        </p:nvSpPr>
        <p:spPr>
          <a:xfrm>
            <a:off x="2248315" y="7751805"/>
            <a:ext cx="180890" cy="241187"/>
          </a:xfrm>
          <a:custGeom>
            <a:avLst/>
            <a:gdLst/>
            <a:ahLst/>
            <a:cxnLst/>
            <a:rect l="l" t="t" r="r" b="b"/>
            <a:pathLst>
              <a:path w="180890" h="241187">
                <a:moveTo>
                  <a:pt x="79799" y="236759"/>
                </a:moveTo>
                <a:cubicBezTo>
                  <a:pt x="85687" y="242647"/>
                  <a:pt x="95250" y="242647"/>
                  <a:pt x="101138" y="236759"/>
                </a:cubicBezTo>
                <a:lnTo>
                  <a:pt x="176509" y="161388"/>
                </a:lnTo>
                <a:cubicBezTo>
                  <a:pt x="182398" y="155500"/>
                  <a:pt x="182398" y="145937"/>
                  <a:pt x="176509" y="140049"/>
                </a:cubicBezTo>
                <a:cubicBezTo>
                  <a:pt x="170621" y="134160"/>
                  <a:pt x="161058" y="134160"/>
                  <a:pt x="155170" y="140049"/>
                </a:cubicBezTo>
                <a:lnTo>
                  <a:pt x="105519" y="189699"/>
                </a:lnTo>
                <a:lnTo>
                  <a:pt x="105519" y="15074"/>
                </a:lnTo>
                <a:cubicBezTo>
                  <a:pt x="105519" y="6736"/>
                  <a:pt x="98783" y="0"/>
                  <a:pt x="90445" y="0"/>
                </a:cubicBezTo>
                <a:cubicBezTo>
                  <a:pt x="82107" y="0"/>
                  <a:pt x="75371" y="6736"/>
                  <a:pt x="75371" y="15074"/>
                </a:cubicBezTo>
                <a:lnTo>
                  <a:pt x="75371" y="189699"/>
                </a:lnTo>
                <a:lnTo>
                  <a:pt x="25720" y="140049"/>
                </a:lnTo>
                <a:cubicBezTo>
                  <a:pt x="19832" y="134160"/>
                  <a:pt x="10269" y="134160"/>
                  <a:pt x="4381" y="140049"/>
                </a:cubicBezTo>
                <a:cubicBezTo>
                  <a:pt x="-1507" y="145937"/>
                  <a:pt x="-1507" y="155500"/>
                  <a:pt x="4381" y="161388"/>
                </a:cubicBezTo>
                <a:lnTo>
                  <a:pt x="79752" y="236759"/>
                </a:lnTo>
                <a:close/>
              </a:path>
            </a:pathLst>
          </a:custGeom>
          <a:solidFill>
            <a:srgbClr val="B38B59"/>
          </a:solidFill>
          <a:ln/>
        </p:spPr>
        <p:txBody>
          <a:bodyPr/>
          <a:lstStyle/>
          <a:p>
            <a:endParaRPr lang="zh-CN" altLang="en-US"/>
          </a:p>
        </p:txBody>
      </p:sp>
      <p:sp>
        <p:nvSpPr>
          <p:cNvPr id="23" name="Shape 21"/>
          <p:cNvSpPr/>
          <p:nvPr/>
        </p:nvSpPr>
        <p:spPr>
          <a:xfrm>
            <a:off x="4345981" y="1597864"/>
            <a:ext cx="3702220" cy="6231686"/>
          </a:xfrm>
          <a:custGeom>
            <a:avLst/>
            <a:gdLst/>
            <a:ahLst/>
            <a:cxnLst/>
            <a:rect l="l" t="t" r="r" b="b"/>
            <a:pathLst>
              <a:path w="3702220" h="7537092">
                <a:moveTo>
                  <a:pt x="96480" y="0"/>
                </a:moveTo>
                <a:lnTo>
                  <a:pt x="3605740" y="0"/>
                </a:lnTo>
                <a:cubicBezTo>
                  <a:pt x="3659024" y="0"/>
                  <a:pt x="3702220" y="43195"/>
                  <a:pt x="3702220" y="96480"/>
                </a:cubicBezTo>
                <a:lnTo>
                  <a:pt x="3702220" y="7440612"/>
                </a:lnTo>
                <a:cubicBezTo>
                  <a:pt x="3702220" y="7493896"/>
                  <a:pt x="3659024" y="7537092"/>
                  <a:pt x="3605740" y="7537092"/>
                </a:cubicBezTo>
                <a:lnTo>
                  <a:pt x="96480" y="7537092"/>
                </a:lnTo>
                <a:cubicBezTo>
                  <a:pt x="43195" y="7537092"/>
                  <a:pt x="0" y="7493896"/>
                  <a:pt x="0" y="7440612"/>
                </a:cubicBezTo>
                <a:lnTo>
                  <a:pt x="0" y="96480"/>
                </a:lnTo>
                <a:cubicBezTo>
                  <a:pt x="0" y="43231"/>
                  <a:pt x="43231" y="0"/>
                  <a:pt x="96480"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4" name="Shape 22"/>
          <p:cNvSpPr/>
          <p:nvPr/>
        </p:nvSpPr>
        <p:spPr>
          <a:xfrm>
            <a:off x="5907007" y="1796843"/>
            <a:ext cx="578849" cy="578849"/>
          </a:xfrm>
          <a:custGeom>
            <a:avLst/>
            <a:gdLst/>
            <a:ahLst/>
            <a:cxnLst/>
            <a:rect l="l" t="t" r="r" b="b"/>
            <a:pathLst>
              <a:path w="578849" h="578849">
                <a:moveTo>
                  <a:pt x="96477" y="0"/>
                </a:moveTo>
                <a:lnTo>
                  <a:pt x="482372" y="0"/>
                </a:lnTo>
                <a:cubicBezTo>
                  <a:pt x="535619" y="0"/>
                  <a:pt x="578849" y="43230"/>
                  <a:pt x="578849" y="96477"/>
                </a:cubicBezTo>
                <a:lnTo>
                  <a:pt x="578849" y="482372"/>
                </a:lnTo>
                <a:cubicBezTo>
                  <a:pt x="578849" y="535655"/>
                  <a:pt x="535655" y="578849"/>
                  <a:pt x="482372" y="578849"/>
                </a:cubicBezTo>
                <a:lnTo>
                  <a:pt x="96477" y="578849"/>
                </a:lnTo>
                <a:cubicBezTo>
                  <a:pt x="43194" y="578849"/>
                  <a:pt x="0" y="535655"/>
                  <a:pt x="0" y="482372"/>
                </a:cubicBezTo>
                <a:lnTo>
                  <a:pt x="0" y="96477"/>
                </a:lnTo>
                <a:cubicBezTo>
                  <a:pt x="0" y="43194"/>
                  <a:pt x="43194" y="0"/>
                  <a:pt x="96477" y="0"/>
                </a:cubicBezTo>
                <a:close/>
              </a:path>
            </a:pathLst>
          </a:custGeom>
          <a:solidFill>
            <a:srgbClr val="B38B59"/>
          </a:solidFill>
          <a:ln/>
        </p:spPr>
        <p:txBody>
          <a:bodyPr/>
          <a:lstStyle/>
          <a:p>
            <a:endParaRPr lang="zh-CN" altLang="en-US"/>
          </a:p>
        </p:txBody>
      </p:sp>
      <p:sp>
        <p:nvSpPr>
          <p:cNvPr id="25" name="Shape 23"/>
          <p:cNvSpPr/>
          <p:nvPr/>
        </p:nvSpPr>
        <p:spPr>
          <a:xfrm>
            <a:off x="6051720" y="1941555"/>
            <a:ext cx="289424" cy="289424"/>
          </a:xfrm>
          <a:custGeom>
            <a:avLst/>
            <a:gdLst/>
            <a:ahLst/>
            <a:cxnLst/>
            <a:rect l="l" t="t" r="r" b="b"/>
            <a:pathLst>
              <a:path w="289424" h="289424">
                <a:moveTo>
                  <a:pt x="131428" y="2939"/>
                </a:moveTo>
                <a:cubicBezTo>
                  <a:pt x="139851" y="-961"/>
                  <a:pt x="149574" y="-961"/>
                  <a:pt x="157996" y="2939"/>
                </a:cubicBezTo>
                <a:lnTo>
                  <a:pt x="281567" y="60033"/>
                </a:lnTo>
                <a:cubicBezTo>
                  <a:pt x="286372" y="62238"/>
                  <a:pt x="289424" y="67042"/>
                  <a:pt x="289424" y="72356"/>
                </a:cubicBezTo>
                <a:cubicBezTo>
                  <a:pt x="289424" y="77670"/>
                  <a:pt x="286372" y="82475"/>
                  <a:pt x="281567" y="84679"/>
                </a:cubicBezTo>
                <a:lnTo>
                  <a:pt x="157996" y="141773"/>
                </a:lnTo>
                <a:cubicBezTo>
                  <a:pt x="149574" y="145673"/>
                  <a:pt x="139851" y="145673"/>
                  <a:pt x="131428" y="141773"/>
                </a:cubicBezTo>
                <a:lnTo>
                  <a:pt x="7857" y="84679"/>
                </a:lnTo>
                <a:cubicBezTo>
                  <a:pt x="3053" y="82418"/>
                  <a:pt x="0" y="77613"/>
                  <a:pt x="0" y="72356"/>
                </a:cubicBezTo>
                <a:cubicBezTo>
                  <a:pt x="0" y="67099"/>
                  <a:pt x="3053" y="62238"/>
                  <a:pt x="7857" y="60033"/>
                </a:cubicBezTo>
                <a:lnTo>
                  <a:pt x="131428" y="2939"/>
                </a:lnTo>
                <a:close/>
                <a:moveTo>
                  <a:pt x="27190" y="123458"/>
                </a:moveTo>
                <a:lnTo>
                  <a:pt x="120066" y="166362"/>
                </a:lnTo>
                <a:cubicBezTo>
                  <a:pt x="135724" y="173598"/>
                  <a:pt x="153757" y="173598"/>
                  <a:pt x="169415" y="166362"/>
                </a:cubicBezTo>
                <a:lnTo>
                  <a:pt x="262291" y="123458"/>
                </a:lnTo>
                <a:lnTo>
                  <a:pt x="281567" y="132389"/>
                </a:lnTo>
                <a:cubicBezTo>
                  <a:pt x="286372" y="134594"/>
                  <a:pt x="289424" y="139399"/>
                  <a:pt x="289424" y="144712"/>
                </a:cubicBezTo>
                <a:cubicBezTo>
                  <a:pt x="289424" y="150026"/>
                  <a:pt x="286372" y="154831"/>
                  <a:pt x="281567" y="157035"/>
                </a:cubicBezTo>
                <a:lnTo>
                  <a:pt x="157996" y="214129"/>
                </a:lnTo>
                <a:cubicBezTo>
                  <a:pt x="149574" y="218029"/>
                  <a:pt x="139851" y="218029"/>
                  <a:pt x="131428" y="214129"/>
                </a:cubicBezTo>
                <a:lnTo>
                  <a:pt x="7857" y="157035"/>
                </a:lnTo>
                <a:cubicBezTo>
                  <a:pt x="3053" y="154774"/>
                  <a:pt x="0" y="149969"/>
                  <a:pt x="0" y="144712"/>
                </a:cubicBezTo>
                <a:cubicBezTo>
                  <a:pt x="0" y="139455"/>
                  <a:pt x="3053" y="134594"/>
                  <a:pt x="7857" y="132389"/>
                </a:cubicBezTo>
                <a:lnTo>
                  <a:pt x="27134" y="123458"/>
                </a:lnTo>
                <a:close/>
                <a:moveTo>
                  <a:pt x="7857" y="204745"/>
                </a:moveTo>
                <a:lnTo>
                  <a:pt x="27134" y="195814"/>
                </a:lnTo>
                <a:lnTo>
                  <a:pt x="120009" y="238719"/>
                </a:lnTo>
                <a:cubicBezTo>
                  <a:pt x="135668" y="245954"/>
                  <a:pt x="153700" y="245954"/>
                  <a:pt x="169358" y="238719"/>
                </a:cubicBezTo>
                <a:lnTo>
                  <a:pt x="262234" y="195814"/>
                </a:lnTo>
                <a:lnTo>
                  <a:pt x="281510" y="204745"/>
                </a:lnTo>
                <a:cubicBezTo>
                  <a:pt x="286315" y="206950"/>
                  <a:pt x="289368" y="211755"/>
                  <a:pt x="289368" y="217068"/>
                </a:cubicBezTo>
                <a:cubicBezTo>
                  <a:pt x="289368" y="222382"/>
                  <a:pt x="286315" y="227187"/>
                  <a:pt x="281510" y="229391"/>
                </a:cubicBezTo>
                <a:lnTo>
                  <a:pt x="157940" y="286485"/>
                </a:lnTo>
                <a:cubicBezTo>
                  <a:pt x="149517" y="290385"/>
                  <a:pt x="139794" y="290385"/>
                  <a:pt x="131372" y="286485"/>
                </a:cubicBezTo>
                <a:lnTo>
                  <a:pt x="7857" y="229391"/>
                </a:lnTo>
                <a:cubicBezTo>
                  <a:pt x="3053" y="227130"/>
                  <a:pt x="0" y="222325"/>
                  <a:pt x="0" y="217068"/>
                </a:cubicBezTo>
                <a:cubicBezTo>
                  <a:pt x="0" y="211811"/>
                  <a:pt x="3053" y="206950"/>
                  <a:pt x="7857" y="204745"/>
                </a:cubicBezTo>
                <a:close/>
              </a:path>
            </a:pathLst>
          </a:custGeom>
          <a:solidFill>
            <a:srgbClr val="FFFFFF"/>
          </a:solidFill>
          <a:ln/>
        </p:spPr>
        <p:txBody>
          <a:bodyPr/>
          <a:lstStyle/>
          <a:p>
            <a:endParaRPr lang="zh-CN" altLang="en-US"/>
          </a:p>
        </p:txBody>
      </p:sp>
      <p:sp>
        <p:nvSpPr>
          <p:cNvPr id="26" name="Text 24"/>
          <p:cNvSpPr/>
          <p:nvPr/>
        </p:nvSpPr>
        <p:spPr>
          <a:xfrm>
            <a:off x="4484664" y="2472166"/>
            <a:ext cx="3424855" cy="337662"/>
          </a:xfrm>
          <a:prstGeom prst="rect">
            <a:avLst/>
          </a:prstGeom>
          <a:noFill/>
          <a:ln/>
        </p:spPr>
        <p:txBody>
          <a:bodyPr wrap="square" lIns="0" tIns="0" rIns="0" bIns="0" rtlCol="0" anchor="ctr"/>
          <a:lstStyle/>
          <a:p>
            <a:pPr algn="ctr">
              <a:lnSpc>
                <a:spcPct val="120000"/>
              </a:lnSpc>
            </a:pPr>
            <a:r>
              <a:rPr lang="en-US" sz="1899" b="1" dirty="0">
                <a:solidFill>
                  <a:srgbClr val="E0E2E4"/>
                </a:solidFill>
                <a:latin typeface="MiSans" pitchFamily="34" charset="0"/>
                <a:ea typeface="MiSans" pitchFamily="34" charset="-122"/>
                <a:cs typeface="MiSans" pitchFamily="34" charset="-120"/>
              </a:rPr>
              <a:t>虚拟化抽象层</a:t>
            </a:r>
            <a:endParaRPr lang="en-US" sz="1600" dirty="0"/>
          </a:p>
        </p:txBody>
      </p:sp>
      <p:sp>
        <p:nvSpPr>
          <p:cNvPr id="27" name="Shape 25"/>
          <p:cNvSpPr/>
          <p:nvPr/>
        </p:nvSpPr>
        <p:spPr>
          <a:xfrm>
            <a:off x="4544961" y="2954540"/>
            <a:ext cx="3304261" cy="1640071"/>
          </a:xfrm>
          <a:custGeom>
            <a:avLst/>
            <a:gdLst/>
            <a:ahLst/>
            <a:cxnLst/>
            <a:rect l="l" t="t" r="r" b="b"/>
            <a:pathLst>
              <a:path w="3304261" h="1640071">
                <a:moveTo>
                  <a:pt x="96469" y="0"/>
                </a:moveTo>
                <a:lnTo>
                  <a:pt x="3207792" y="0"/>
                </a:lnTo>
                <a:cubicBezTo>
                  <a:pt x="3261070" y="0"/>
                  <a:pt x="3304261" y="43191"/>
                  <a:pt x="3304261" y="96469"/>
                </a:cubicBezTo>
                <a:lnTo>
                  <a:pt x="3304261" y="1543602"/>
                </a:lnTo>
                <a:cubicBezTo>
                  <a:pt x="3304261" y="1596881"/>
                  <a:pt x="3261070" y="1640071"/>
                  <a:pt x="3207792" y="1640071"/>
                </a:cubicBezTo>
                <a:lnTo>
                  <a:pt x="96469" y="1640071"/>
                </a:lnTo>
                <a:cubicBezTo>
                  <a:pt x="43191" y="1640071"/>
                  <a:pt x="0" y="1596881"/>
                  <a:pt x="0" y="1543602"/>
                </a:cubicBezTo>
                <a:lnTo>
                  <a:pt x="0" y="96469"/>
                </a:lnTo>
                <a:cubicBezTo>
                  <a:pt x="0" y="43226"/>
                  <a:pt x="43226" y="0"/>
                  <a:pt x="96469" y="0"/>
                </a:cubicBezTo>
                <a:close/>
              </a:path>
            </a:pathLst>
          </a:custGeom>
          <a:solidFill>
            <a:srgbClr val="1A1D21">
              <a:alpha val="50196"/>
            </a:srgbClr>
          </a:solidFill>
          <a:ln/>
        </p:spPr>
        <p:txBody>
          <a:bodyPr/>
          <a:lstStyle/>
          <a:p>
            <a:endParaRPr lang="zh-CN" altLang="en-US"/>
          </a:p>
        </p:txBody>
      </p:sp>
      <p:sp>
        <p:nvSpPr>
          <p:cNvPr id="28" name="Shape 26"/>
          <p:cNvSpPr/>
          <p:nvPr/>
        </p:nvSpPr>
        <p:spPr>
          <a:xfrm>
            <a:off x="4677614" y="3099252"/>
            <a:ext cx="168831" cy="192950"/>
          </a:xfrm>
          <a:custGeom>
            <a:avLst/>
            <a:gdLst/>
            <a:ahLst/>
            <a:cxnLst/>
            <a:rect l="l" t="t" r="r" b="b"/>
            <a:pathLst>
              <a:path w="168831" h="192950">
                <a:moveTo>
                  <a:pt x="139210" y="48237"/>
                </a:moveTo>
                <a:lnTo>
                  <a:pt x="126284" y="30148"/>
                </a:lnTo>
                <a:lnTo>
                  <a:pt x="42585" y="30148"/>
                </a:lnTo>
                <a:lnTo>
                  <a:pt x="29658" y="48237"/>
                </a:lnTo>
                <a:lnTo>
                  <a:pt x="139210" y="48237"/>
                </a:lnTo>
                <a:close/>
                <a:moveTo>
                  <a:pt x="0" y="55963"/>
                </a:moveTo>
                <a:cubicBezTo>
                  <a:pt x="0" y="50951"/>
                  <a:pt x="1583" y="46052"/>
                  <a:pt x="4485" y="41944"/>
                </a:cubicBezTo>
                <a:lnTo>
                  <a:pt x="22950" y="16129"/>
                </a:lnTo>
                <a:cubicBezTo>
                  <a:pt x="27473" y="9798"/>
                  <a:pt x="34784" y="6030"/>
                  <a:pt x="42547" y="6030"/>
                </a:cubicBezTo>
                <a:lnTo>
                  <a:pt x="126246" y="6030"/>
                </a:lnTo>
                <a:cubicBezTo>
                  <a:pt x="134047" y="6030"/>
                  <a:pt x="141358" y="9798"/>
                  <a:pt x="145880" y="16129"/>
                </a:cubicBezTo>
                <a:lnTo>
                  <a:pt x="164309" y="41944"/>
                </a:lnTo>
                <a:cubicBezTo>
                  <a:pt x="167248" y="46052"/>
                  <a:pt x="168793" y="50951"/>
                  <a:pt x="168793" y="55963"/>
                </a:cubicBezTo>
                <a:lnTo>
                  <a:pt x="168831" y="156772"/>
                </a:lnTo>
                <a:cubicBezTo>
                  <a:pt x="168831" y="170074"/>
                  <a:pt x="158015" y="180890"/>
                  <a:pt x="144712" y="180890"/>
                </a:cubicBezTo>
                <a:lnTo>
                  <a:pt x="24119" y="180890"/>
                </a:lnTo>
                <a:cubicBezTo>
                  <a:pt x="10816" y="180890"/>
                  <a:pt x="0" y="170074"/>
                  <a:pt x="0" y="156772"/>
                </a:cubicBezTo>
                <a:lnTo>
                  <a:pt x="0" y="55963"/>
                </a:lnTo>
                <a:close/>
              </a:path>
            </a:pathLst>
          </a:custGeom>
          <a:solidFill>
            <a:srgbClr val="3C8082"/>
          </a:solidFill>
          <a:ln/>
        </p:spPr>
        <p:txBody>
          <a:bodyPr/>
          <a:lstStyle/>
          <a:p>
            <a:endParaRPr lang="zh-CN" altLang="en-US"/>
          </a:p>
        </p:txBody>
      </p:sp>
      <p:sp>
        <p:nvSpPr>
          <p:cNvPr id="29" name="Text 27"/>
          <p:cNvSpPr/>
          <p:nvPr/>
        </p:nvSpPr>
        <p:spPr>
          <a:xfrm>
            <a:off x="4882622" y="3051015"/>
            <a:ext cx="2966599" cy="289424"/>
          </a:xfrm>
          <a:prstGeom prst="rect">
            <a:avLst/>
          </a:prstGeom>
          <a:noFill/>
          <a:ln/>
        </p:spPr>
        <p:txBody>
          <a:bodyPr wrap="square" lIns="0" tIns="0" rIns="0" bIns="0" rtlCol="0" anchor="ctr"/>
          <a:lstStyle/>
          <a:p>
            <a:pPr>
              <a:lnSpc>
                <a:spcPct val="130000"/>
              </a:lnSpc>
            </a:pPr>
            <a:r>
              <a:rPr lang="en-US" sz="1519" b="1" dirty="0">
                <a:solidFill>
                  <a:srgbClr val="E0E2E4"/>
                </a:solidFill>
                <a:latin typeface="MiSans" pitchFamily="34" charset="0"/>
                <a:ea typeface="MiSans" pitchFamily="34" charset="-122"/>
                <a:cs typeface="MiSans" pitchFamily="34" charset="-120"/>
              </a:rPr>
              <a:t>容器虚拟化</a:t>
            </a:r>
            <a:endParaRPr lang="en-US" sz="1600" dirty="0"/>
          </a:p>
        </p:txBody>
      </p:sp>
      <p:sp>
        <p:nvSpPr>
          <p:cNvPr id="30" name="Text 28"/>
          <p:cNvSpPr/>
          <p:nvPr/>
        </p:nvSpPr>
        <p:spPr>
          <a:xfrm>
            <a:off x="4641435" y="3388677"/>
            <a:ext cx="3195727" cy="241187"/>
          </a:xfrm>
          <a:prstGeom prst="rect">
            <a:avLst/>
          </a:prstGeom>
          <a:noFill/>
          <a:ln/>
        </p:spPr>
        <p:txBody>
          <a:bodyPr wrap="square" lIns="0" tIns="0" rIns="0" bIns="0" rtlCol="0" anchor="ctr"/>
          <a:lstStyle/>
          <a:p>
            <a:pPr>
              <a:lnSpc>
                <a:spcPct val="120000"/>
              </a:lnSpc>
            </a:pPr>
            <a:r>
              <a:rPr lang="en-US" sz="1329" dirty="0">
                <a:solidFill>
                  <a:srgbClr val="E0E2E4">
                    <a:alpha val="70000"/>
                  </a:srgbClr>
                </a:solidFill>
                <a:latin typeface="MiSans" pitchFamily="34" charset="0"/>
                <a:ea typeface="MiSans" pitchFamily="34" charset="-122"/>
                <a:cs typeface="MiSans" pitchFamily="34" charset="-120"/>
              </a:rPr>
              <a:t>• 轻量级隔离</a:t>
            </a:r>
            <a:endParaRPr lang="en-US" sz="1600" dirty="0"/>
          </a:p>
        </p:txBody>
      </p:sp>
      <p:sp>
        <p:nvSpPr>
          <p:cNvPr id="31" name="Text 29"/>
          <p:cNvSpPr/>
          <p:nvPr/>
        </p:nvSpPr>
        <p:spPr>
          <a:xfrm>
            <a:off x="4641435" y="3678101"/>
            <a:ext cx="3195727" cy="241187"/>
          </a:xfrm>
          <a:prstGeom prst="rect">
            <a:avLst/>
          </a:prstGeom>
          <a:noFill/>
          <a:ln/>
        </p:spPr>
        <p:txBody>
          <a:bodyPr wrap="square" lIns="0" tIns="0" rIns="0" bIns="0" rtlCol="0" anchor="ctr"/>
          <a:lstStyle/>
          <a:p>
            <a:pPr>
              <a:lnSpc>
                <a:spcPct val="120000"/>
              </a:lnSpc>
            </a:pPr>
            <a:r>
              <a:rPr lang="en-US" sz="1329" dirty="0">
                <a:solidFill>
                  <a:srgbClr val="E0E2E4">
                    <a:alpha val="70000"/>
                  </a:srgbClr>
                </a:solidFill>
                <a:latin typeface="MiSans" pitchFamily="34" charset="0"/>
                <a:ea typeface="MiSans" pitchFamily="34" charset="-122"/>
                <a:cs typeface="MiSans" pitchFamily="34" charset="-120"/>
              </a:rPr>
              <a:t>• 共享内核</a:t>
            </a:r>
            <a:endParaRPr lang="en-US" sz="1600" dirty="0"/>
          </a:p>
        </p:txBody>
      </p:sp>
      <p:sp>
        <p:nvSpPr>
          <p:cNvPr id="32" name="Text 30"/>
          <p:cNvSpPr/>
          <p:nvPr/>
        </p:nvSpPr>
        <p:spPr>
          <a:xfrm>
            <a:off x="4641435" y="3967525"/>
            <a:ext cx="3195727" cy="241187"/>
          </a:xfrm>
          <a:prstGeom prst="rect">
            <a:avLst/>
          </a:prstGeom>
          <a:noFill/>
          <a:ln/>
        </p:spPr>
        <p:txBody>
          <a:bodyPr wrap="square" lIns="0" tIns="0" rIns="0" bIns="0" rtlCol="0" anchor="ctr"/>
          <a:lstStyle/>
          <a:p>
            <a:pPr>
              <a:lnSpc>
                <a:spcPct val="120000"/>
              </a:lnSpc>
            </a:pPr>
            <a:r>
              <a:rPr lang="en-US" sz="1329" dirty="0">
                <a:solidFill>
                  <a:srgbClr val="E0E2E4">
                    <a:alpha val="70000"/>
                  </a:srgbClr>
                </a:solidFill>
                <a:latin typeface="MiSans" pitchFamily="34" charset="0"/>
                <a:ea typeface="MiSans" pitchFamily="34" charset="-122"/>
                <a:cs typeface="MiSans" pitchFamily="34" charset="-120"/>
              </a:rPr>
              <a:t>• 快速启动</a:t>
            </a:r>
            <a:endParaRPr lang="en-US" sz="1600" dirty="0"/>
          </a:p>
        </p:txBody>
      </p:sp>
      <p:sp>
        <p:nvSpPr>
          <p:cNvPr id="33" name="Text 31"/>
          <p:cNvSpPr/>
          <p:nvPr/>
        </p:nvSpPr>
        <p:spPr>
          <a:xfrm>
            <a:off x="4641435" y="4256950"/>
            <a:ext cx="3195727" cy="241187"/>
          </a:xfrm>
          <a:prstGeom prst="rect">
            <a:avLst/>
          </a:prstGeom>
          <a:noFill/>
          <a:ln/>
        </p:spPr>
        <p:txBody>
          <a:bodyPr wrap="square" lIns="0" tIns="0" rIns="0" bIns="0" rtlCol="0" anchor="ctr"/>
          <a:lstStyle/>
          <a:p>
            <a:pPr>
              <a:lnSpc>
                <a:spcPct val="120000"/>
              </a:lnSpc>
            </a:pPr>
            <a:r>
              <a:rPr lang="en-US" sz="1329" dirty="0">
                <a:solidFill>
                  <a:srgbClr val="E0E2E4">
                    <a:alpha val="70000"/>
                  </a:srgbClr>
                </a:solidFill>
                <a:latin typeface="MiSans" pitchFamily="34" charset="0"/>
                <a:ea typeface="MiSans" pitchFamily="34" charset="-122"/>
                <a:cs typeface="MiSans" pitchFamily="34" charset="-120"/>
              </a:rPr>
              <a:t>• 进程级隔离</a:t>
            </a:r>
            <a:endParaRPr lang="en-US" sz="1600" dirty="0"/>
          </a:p>
        </p:txBody>
      </p:sp>
      <p:sp>
        <p:nvSpPr>
          <p:cNvPr id="34" name="Shape 32"/>
          <p:cNvSpPr/>
          <p:nvPr/>
        </p:nvSpPr>
        <p:spPr>
          <a:xfrm>
            <a:off x="4544961" y="4691086"/>
            <a:ext cx="3304261" cy="1640071"/>
          </a:xfrm>
          <a:custGeom>
            <a:avLst/>
            <a:gdLst/>
            <a:ahLst/>
            <a:cxnLst/>
            <a:rect l="l" t="t" r="r" b="b"/>
            <a:pathLst>
              <a:path w="3304261" h="1640071">
                <a:moveTo>
                  <a:pt x="96469" y="0"/>
                </a:moveTo>
                <a:lnTo>
                  <a:pt x="3207792" y="0"/>
                </a:lnTo>
                <a:cubicBezTo>
                  <a:pt x="3261070" y="0"/>
                  <a:pt x="3304261" y="43191"/>
                  <a:pt x="3304261" y="96469"/>
                </a:cubicBezTo>
                <a:lnTo>
                  <a:pt x="3304261" y="1543602"/>
                </a:lnTo>
                <a:cubicBezTo>
                  <a:pt x="3304261" y="1596881"/>
                  <a:pt x="3261070" y="1640071"/>
                  <a:pt x="3207792" y="1640071"/>
                </a:cubicBezTo>
                <a:lnTo>
                  <a:pt x="96469" y="1640071"/>
                </a:lnTo>
                <a:cubicBezTo>
                  <a:pt x="43191" y="1640071"/>
                  <a:pt x="0" y="1596881"/>
                  <a:pt x="0" y="1543602"/>
                </a:cubicBezTo>
                <a:lnTo>
                  <a:pt x="0" y="96469"/>
                </a:lnTo>
                <a:cubicBezTo>
                  <a:pt x="0" y="43226"/>
                  <a:pt x="43226" y="0"/>
                  <a:pt x="96469" y="0"/>
                </a:cubicBezTo>
                <a:close/>
              </a:path>
            </a:pathLst>
          </a:custGeom>
          <a:solidFill>
            <a:srgbClr val="1A1D21">
              <a:alpha val="50196"/>
            </a:srgbClr>
          </a:solidFill>
          <a:ln/>
        </p:spPr>
        <p:txBody>
          <a:bodyPr/>
          <a:lstStyle/>
          <a:p>
            <a:endParaRPr lang="zh-CN" altLang="en-US"/>
          </a:p>
        </p:txBody>
      </p:sp>
      <p:sp>
        <p:nvSpPr>
          <p:cNvPr id="35" name="Shape 33"/>
          <p:cNvSpPr/>
          <p:nvPr/>
        </p:nvSpPr>
        <p:spPr>
          <a:xfrm>
            <a:off x="4677614" y="4835798"/>
            <a:ext cx="168831" cy="192950"/>
          </a:xfrm>
          <a:custGeom>
            <a:avLst/>
            <a:gdLst/>
            <a:ahLst/>
            <a:cxnLst/>
            <a:rect l="l" t="t" r="r" b="b"/>
            <a:pathLst>
              <a:path w="168831" h="192950">
                <a:moveTo>
                  <a:pt x="24119" y="12059"/>
                </a:moveTo>
                <a:cubicBezTo>
                  <a:pt x="10816" y="12059"/>
                  <a:pt x="0" y="22875"/>
                  <a:pt x="0" y="36178"/>
                </a:cubicBezTo>
                <a:lnTo>
                  <a:pt x="0" y="60297"/>
                </a:lnTo>
                <a:cubicBezTo>
                  <a:pt x="0" y="73600"/>
                  <a:pt x="10816" y="84415"/>
                  <a:pt x="24119" y="84415"/>
                </a:cubicBezTo>
                <a:lnTo>
                  <a:pt x="144712" y="84415"/>
                </a:lnTo>
                <a:cubicBezTo>
                  <a:pt x="158015" y="84415"/>
                  <a:pt x="168831" y="73600"/>
                  <a:pt x="168831" y="60297"/>
                </a:cubicBezTo>
                <a:lnTo>
                  <a:pt x="168831" y="36178"/>
                </a:lnTo>
                <a:cubicBezTo>
                  <a:pt x="168831" y="22875"/>
                  <a:pt x="158015" y="12059"/>
                  <a:pt x="144712" y="12059"/>
                </a:cubicBezTo>
                <a:lnTo>
                  <a:pt x="24119" y="12059"/>
                </a:lnTo>
                <a:close/>
                <a:moveTo>
                  <a:pt x="105519" y="39193"/>
                </a:moveTo>
                <a:cubicBezTo>
                  <a:pt x="110511" y="39193"/>
                  <a:pt x="114564" y="43246"/>
                  <a:pt x="114564" y="48237"/>
                </a:cubicBezTo>
                <a:cubicBezTo>
                  <a:pt x="114564" y="53229"/>
                  <a:pt x="110511" y="57282"/>
                  <a:pt x="105519" y="57282"/>
                </a:cubicBezTo>
                <a:cubicBezTo>
                  <a:pt x="100527" y="57282"/>
                  <a:pt x="96475" y="53229"/>
                  <a:pt x="96475" y="48237"/>
                </a:cubicBezTo>
                <a:cubicBezTo>
                  <a:pt x="96475" y="43246"/>
                  <a:pt x="100527" y="39193"/>
                  <a:pt x="105519" y="39193"/>
                </a:cubicBezTo>
                <a:close/>
                <a:moveTo>
                  <a:pt x="126623" y="48237"/>
                </a:moveTo>
                <a:cubicBezTo>
                  <a:pt x="126623" y="43246"/>
                  <a:pt x="130676" y="39193"/>
                  <a:pt x="135668" y="39193"/>
                </a:cubicBezTo>
                <a:cubicBezTo>
                  <a:pt x="140659" y="39193"/>
                  <a:pt x="144712" y="43246"/>
                  <a:pt x="144712" y="48237"/>
                </a:cubicBezTo>
                <a:cubicBezTo>
                  <a:pt x="144712" y="53229"/>
                  <a:pt x="140659" y="57282"/>
                  <a:pt x="135668" y="57282"/>
                </a:cubicBezTo>
                <a:cubicBezTo>
                  <a:pt x="130676" y="57282"/>
                  <a:pt x="126623" y="53229"/>
                  <a:pt x="126623" y="48237"/>
                </a:cubicBezTo>
                <a:close/>
                <a:moveTo>
                  <a:pt x="24119" y="108534"/>
                </a:moveTo>
                <a:cubicBezTo>
                  <a:pt x="10816" y="108534"/>
                  <a:pt x="0" y="119350"/>
                  <a:pt x="0" y="132653"/>
                </a:cubicBezTo>
                <a:lnTo>
                  <a:pt x="0" y="156772"/>
                </a:lnTo>
                <a:cubicBezTo>
                  <a:pt x="0" y="170074"/>
                  <a:pt x="10816" y="180890"/>
                  <a:pt x="24119" y="180890"/>
                </a:cubicBezTo>
                <a:lnTo>
                  <a:pt x="144712" y="180890"/>
                </a:lnTo>
                <a:cubicBezTo>
                  <a:pt x="158015" y="180890"/>
                  <a:pt x="168831" y="170074"/>
                  <a:pt x="168831" y="156772"/>
                </a:cubicBezTo>
                <a:lnTo>
                  <a:pt x="168831" y="132653"/>
                </a:lnTo>
                <a:cubicBezTo>
                  <a:pt x="168831" y="119350"/>
                  <a:pt x="158015" y="108534"/>
                  <a:pt x="144712" y="108534"/>
                </a:cubicBezTo>
                <a:lnTo>
                  <a:pt x="24119" y="108534"/>
                </a:lnTo>
                <a:close/>
                <a:moveTo>
                  <a:pt x="105519" y="135668"/>
                </a:moveTo>
                <a:cubicBezTo>
                  <a:pt x="110511" y="135668"/>
                  <a:pt x="114564" y="139720"/>
                  <a:pt x="114564" y="144712"/>
                </a:cubicBezTo>
                <a:cubicBezTo>
                  <a:pt x="114564" y="149704"/>
                  <a:pt x="110511" y="153757"/>
                  <a:pt x="105519" y="153757"/>
                </a:cubicBezTo>
                <a:cubicBezTo>
                  <a:pt x="100527" y="153757"/>
                  <a:pt x="96475" y="149704"/>
                  <a:pt x="96475" y="144712"/>
                </a:cubicBezTo>
                <a:cubicBezTo>
                  <a:pt x="96475" y="139720"/>
                  <a:pt x="100527" y="135668"/>
                  <a:pt x="105519" y="135668"/>
                </a:cubicBezTo>
                <a:close/>
                <a:moveTo>
                  <a:pt x="126623" y="144712"/>
                </a:moveTo>
                <a:cubicBezTo>
                  <a:pt x="126623" y="139720"/>
                  <a:pt x="130676" y="135668"/>
                  <a:pt x="135668" y="135668"/>
                </a:cubicBezTo>
                <a:cubicBezTo>
                  <a:pt x="140659" y="135668"/>
                  <a:pt x="144712" y="139720"/>
                  <a:pt x="144712" y="144712"/>
                </a:cubicBezTo>
                <a:cubicBezTo>
                  <a:pt x="144712" y="149704"/>
                  <a:pt x="140659" y="153757"/>
                  <a:pt x="135668" y="153757"/>
                </a:cubicBezTo>
                <a:cubicBezTo>
                  <a:pt x="130676" y="153757"/>
                  <a:pt x="126623" y="149704"/>
                  <a:pt x="126623" y="144712"/>
                </a:cubicBezTo>
                <a:close/>
              </a:path>
            </a:pathLst>
          </a:custGeom>
          <a:solidFill>
            <a:srgbClr val="3C8082"/>
          </a:solidFill>
          <a:ln/>
        </p:spPr>
        <p:txBody>
          <a:bodyPr/>
          <a:lstStyle/>
          <a:p>
            <a:endParaRPr lang="zh-CN" altLang="en-US"/>
          </a:p>
        </p:txBody>
      </p:sp>
      <p:sp>
        <p:nvSpPr>
          <p:cNvPr id="36" name="Text 34"/>
          <p:cNvSpPr/>
          <p:nvPr/>
        </p:nvSpPr>
        <p:spPr>
          <a:xfrm>
            <a:off x="4882622" y="4787561"/>
            <a:ext cx="2966599" cy="289424"/>
          </a:xfrm>
          <a:prstGeom prst="rect">
            <a:avLst/>
          </a:prstGeom>
          <a:noFill/>
          <a:ln/>
        </p:spPr>
        <p:txBody>
          <a:bodyPr wrap="square" lIns="0" tIns="0" rIns="0" bIns="0" rtlCol="0" anchor="ctr"/>
          <a:lstStyle/>
          <a:p>
            <a:pPr>
              <a:lnSpc>
                <a:spcPct val="130000"/>
              </a:lnSpc>
            </a:pPr>
            <a:r>
              <a:rPr lang="en-US" sz="1519" b="1" dirty="0">
                <a:solidFill>
                  <a:srgbClr val="E0E2E4"/>
                </a:solidFill>
                <a:latin typeface="MiSans" pitchFamily="34" charset="0"/>
                <a:ea typeface="MiSans" pitchFamily="34" charset="-122"/>
                <a:cs typeface="MiSans" pitchFamily="34" charset="-120"/>
              </a:rPr>
              <a:t>硬件虚拟化</a:t>
            </a:r>
            <a:endParaRPr lang="en-US" sz="1600" dirty="0"/>
          </a:p>
        </p:txBody>
      </p:sp>
      <p:sp>
        <p:nvSpPr>
          <p:cNvPr id="37" name="Text 35"/>
          <p:cNvSpPr/>
          <p:nvPr/>
        </p:nvSpPr>
        <p:spPr>
          <a:xfrm>
            <a:off x="4641435" y="5125223"/>
            <a:ext cx="3195727" cy="241187"/>
          </a:xfrm>
          <a:prstGeom prst="rect">
            <a:avLst/>
          </a:prstGeom>
          <a:noFill/>
          <a:ln/>
        </p:spPr>
        <p:txBody>
          <a:bodyPr wrap="square" lIns="0" tIns="0" rIns="0" bIns="0" rtlCol="0" anchor="ctr"/>
          <a:lstStyle/>
          <a:p>
            <a:pPr>
              <a:lnSpc>
                <a:spcPct val="120000"/>
              </a:lnSpc>
            </a:pPr>
            <a:r>
              <a:rPr lang="en-US" sz="1329" dirty="0">
                <a:solidFill>
                  <a:srgbClr val="E0E2E4">
                    <a:alpha val="70000"/>
                  </a:srgbClr>
                </a:solidFill>
                <a:latin typeface="MiSans" pitchFamily="34" charset="0"/>
                <a:ea typeface="MiSans" pitchFamily="34" charset="-122"/>
                <a:cs typeface="MiSans" pitchFamily="34" charset="-120"/>
              </a:rPr>
              <a:t>• 完全隔离</a:t>
            </a:r>
            <a:endParaRPr lang="en-US" sz="1600" dirty="0"/>
          </a:p>
        </p:txBody>
      </p:sp>
      <p:sp>
        <p:nvSpPr>
          <p:cNvPr id="38" name="Text 36"/>
          <p:cNvSpPr/>
          <p:nvPr/>
        </p:nvSpPr>
        <p:spPr>
          <a:xfrm>
            <a:off x="4641435" y="5414647"/>
            <a:ext cx="3195727" cy="241187"/>
          </a:xfrm>
          <a:prstGeom prst="rect">
            <a:avLst/>
          </a:prstGeom>
          <a:noFill/>
          <a:ln/>
        </p:spPr>
        <p:txBody>
          <a:bodyPr wrap="square" lIns="0" tIns="0" rIns="0" bIns="0" rtlCol="0" anchor="ctr"/>
          <a:lstStyle/>
          <a:p>
            <a:pPr>
              <a:lnSpc>
                <a:spcPct val="120000"/>
              </a:lnSpc>
            </a:pPr>
            <a:r>
              <a:rPr lang="en-US" sz="1329" dirty="0">
                <a:solidFill>
                  <a:srgbClr val="E0E2E4">
                    <a:alpha val="70000"/>
                  </a:srgbClr>
                </a:solidFill>
                <a:latin typeface="MiSans" pitchFamily="34" charset="0"/>
                <a:ea typeface="MiSans" pitchFamily="34" charset="-122"/>
                <a:cs typeface="MiSans" pitchFamily="34" charset="-120"/>
              </a:rPr>
              <a:t>• 虚拟机</a:t>
            </a:r>
            <a:endParaRPr lang="en-US" sz="1600" dirty="0"/>
          </a:p>
        </p:txBody>
      </p:sp>
      <p:sp>
        <p:nvSpPr>
          <p:cNvPr id="39" name="Text 37"/>
          <p:cNvSpPr/>
          <p:nvPr/>
        </p:nvSpPr>
        <p:spPr>
          <a:xfrm>
            <a:off x="4641435" y="5704071"/>
            <a:ext cx="3195727" cy="241187"/>
          </a:xfrm>
          <a:prstGeom prst="rect">
            <a:avLst/>
          </a:prstGeom>
          <a:noFill/>
          <a:ln/>
        </p:spPr>
        <p:txBody>
          <a:bodyPr wrap="square" lIns="0" tIns="0" rIns="0" bIns="0" rtlCol="0" anchor="ctr"/>
          <a:lstStyle/>
          <a:p>
            <a:pPr>
              <a:lnSpc>
                <a:spcPct val="120000"/>
              </a:lnSpc>
            </a:pPr>
            <a:r>
              <a:rPr lang="en-US" sz="1329" dirty="0">
                <a:solidFill>
                  <a:srgbClr val="E0E2E4">
                    <a:alpha val="70000"/>
                  </a:srgbClr>
                </a:solidFill>
                <a:latin typeface="MiSans" pitchFamily="34" charset="0"/>
                <a:ea typeface="MiSans" pitchFamily="34" charset="-122"/>
                <a:cs typeface="MiSans" pitchFamily="34" charset="-120"/>
              </a:rPr>
              <a:t>• 硬件级安全</a:t>
            </a:r>
            <a:endParaRPr lang="en-US" sz="1600" dirty="0"/>
          </a:p>
        </p:txBody>
      </p:sp>
      <p:sp>
        <p:nvSpPr>
          <p:cNvPr id="40" name="Text 38"/>
          <p:cNvSpPr/>
          <p:nvPr/>
        </p:nvSpPr>
        <p:spPr>
          <a:xfrm>
            <a:off x="4641435" y="5993496"/>
            <a:ext cx="3195727" cy="241187"/>
          </a:xfrm>
          <a:prstGeom prst="rect">
            <a:avLst/>
          </a:prstGeom>
          <a:noFill/>
          <a:ln/>
        </p:spPr>
        <p:txBody>
          <a:bodyPr wrap="square" lIns="0" tIns="0" rIns="0" bIns="0" rtlCol="0" anchor="ctr"/>
          <a:lstStyle/>
          <a:p>
            <a:pPr>
              <a:lnSpc>
                <a:spcPct val="120000"/>
              </a:lnSpc>
            </a:pPr>
            <a:r>
              <a:rPr lang="en-US" sz="1329" dirty="0">
                <a:solidFill>
                  <a:srgbClr val="E0E2E4">
                    <a:alpha val="70000"/>
                  </a:srgbClr>
                </a:solidFill>
                <a:latin typeface="MiSans" pitchFamily="34" charset="0"/>
                <a:ea typeface="MiSans" pitchFamily="34" charset="-122"/>
                <a:cs typeface="MiSans" pitchFamily="34" charset="-120"/>
              </a:rPr>
              <a:t>• KVM/Xen</a:t>
            </a:r>
            <a:endParaRPr lang="en-US" sz="1600" dirty="0"/>
          </a:p>
        </p:txBody>
      </p:sp>
      <p:sp>
        <p:nvSpPr>
          <p:cNvPr id="41" name="Shape 39"/>
          <p:cNvSpPr/>
          <p:nvPr/>
        </p:nvSpPr>
        <p:spPr>
          <a:xfrm>
            <a:off x="6105987" y="7751805"/>
            <a:ext cx="180890" cy="241187"/>
          </a:xfrm>
          <a:custGeom>
            <a:avLst/>
            <a:gdLst/>
            <a:ahLst/>
            <a:cxnLst/>
            <a:rect l="l" t="t" r="r" b="b"/>
            <a:pathLst>
              <a:path w="180890" h="241187">
                <a:moveTo>
                  <a:pt x="79799" y="236759"/>
                </a:moveTo>
                <a:cubicBezTo>
                  <a:pt x="85687" y="242647"/>
                  <a:pt x="95250" y="242647"/>
                  <a:pt x="101138" y="236759"/>
                </a:cubicBezTo>
                <a:lnTo>
                  <a:pt x="176509" y="161388"/>
                </a:lnTo>
                <a:cubicBezTo>
                  <a:pt x="182398" y="155500"/>
                  <a:pt x="182398" y="145937"/>
                  <a:pt x="176509" y="140049"/>
                </a:cubicBezTo>
                <a:cubicBezTo>
                  <a:pt x="170621" y="134160"/>
                  <a:pt x="161058" y="134160"/>
                  <a:pt x="155170" y="140049"/>
                </a:cubicBezTo>
                <a:lnTo>
                  <a:pt x="105519" y="189699"/>
                </a:lnTo>
                <a:lnTo>
                  <a:pt x="105519" y="15074"/>
                </a:lnTo>
                <a:cubicBezTo>
                  <a:pt x="105519" y="6736"/>
                  <a:pt x="98783" y="0"/>
                  <a:pt x="90445" y="0"/>
                </a:cubicBezTo>
                <a:cubicBezTo>
                  <a:pt x="82107" y="0"/>
                  <a:pt x="75371" y="6736"/>
                  <a:pt x="75371" y="15074"/>
                </a:cubicBezTo>
                <a:lnTo>
                  <a:pt x="75371" y="189699"/>
                </a:lnTo>
                <a:lnTo>
                  <a:pt x="25720" y="140049"/>
                </a:lnTo>
                <a:cubicBezTo>
                  <a:pt x="19832" y="134160"/>
                  <a:pt x="10269" y="134160"/>
                  <a:pt x="4381" y="140049"/>
                </a:cubicBezTo>
                <a:cubicBezTo>
                  <a:pt x="-1507" y="145937"/>
                  <a:pt x="-1507" y="155500"/>
                  <a:pt x="4381" y="161388"/>
                </a:cubicBezTo>
                <a:lnTo>
                  <a:pt x="79752" y="236759"/>
                </a:lnTo>
                <a:close/>
              </a:path>
            </a:pathLst>
          </a:custGeom>
          <a:solidFill>
            <a:srgbClr val="3C8082"/>
          </a:solidFill>
          <a:ln/>
        </p:spPr>
        <p:txBody>
          <a:bodyPr/>
          <a:lstStyle/>
          <a:p>
            <a:endParaRPr lang="zh-CN" altLang="en-US"/>
          </a:p>
        </p:txBody>
      </p:sp>
      <p:sp>
        <p:nvSpPr>
          <p:cNvPr id="42" name="Shape 40"/>
          <p:cNvSpPr/>
          <p:nvPr/>
        </p:nvSpPr>
        <p:spPr>
          <a:xfrm>
            <a:off x="8203654" y="1597864"/>
            <a:ext cx="3702220" cy="6231686"/>
          </a:xfrm>
          <a:custGeom>
            <a:avLst/>
            <a:gdLst/>
            <a:ahLst/>
            <a:cxnLst/>
            <a:rect l="l" t="t" r="r" b="b"/>
            <a:pathLst>
              <a:path w="3702220" h="7537092">
                <a:moveTo>
                  <a:pt x="96480" y="0"/>
                </a:moveTo>
                <a:lnTo>
                  <a:pt x="3605740" y="0"/>
                </a:lnTo>
                <a:cubicBezTo>
                  <a:pt x="3659024" y="0"/>
                  <a:pt x="3702220" y="43195"/>
                  <a:pt x="3702220" y="96480"/>
                </a:cubicBezTo>
                <a:lnTo>
                  <a:pt x="3702220" y="7440612"/>
                </a:lnTo>
                <a:cubicBezTo>
                  <a:pt x="3702220" y="7493896"/>
                  <a:pt x="3659024" y="7537092"/>
                  <a:pt x="3605740" y="7537092"/>
                </a:cubicBezTo>
                <a:lnTo>
                  <a:pt x="96480" y="7537092"/>
                </a:lnTo>
                <a:cubicBezTo>
                  <a:pt x="43195" y="7537092"/>
                  <a:pt x="0" y="7493896"/>
                  <a:pt x="0" y="7440612"/>
                </a:cubicBezTo>
                <a:lnTo>
                  <a:pt x="0" y="96480"/>
                </a:lnTo>
                <a:cubicBezTo>
                  <a:pt x="0" y="43231"/>
                  <a:pt x="43231" y="0"/>
                  <a:pt x="96480"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43" name="Shape 41"/>
          <p:cNvSpPr/>
          <p:nvPr/>
        </p:nvSpPr>
        <p:spPr>
          <a:xfrm>
            <a:off x="9764680" y="1796843"/>
            <a:ext cx="578849" cy="578849"/>
          </a:xfrm>
          <a:custGeom>
            <a:avLst/>
            <a:gdLst/>
            <a:ahLst/>
            <a:cxnLst/>
            <a:rect l="l" t="t" r="r" b="b"/>
            <a:pathLst>
              <a:path w="578849" h="578849">
                <a:moveTo>
                  <a:pt x="96477" y="0"/>
                </a:moveTo>
                <a:lnTo>
                  <a:pt x="482372" y="0"/>
                </a:lnTo>
                <a:cubicBezTo>
                  <a:pt x="535619" y="0"/>
                  <a:pt x="578849" y="43230"/>
                  <a:pt x="578849" y="96477"/>
                </a:cubicBezTo>
                <a:lnTo>
                  <a:pt x="578849" y="482372"/>
                </a:lnTo>
                <a:cubicBezTo>
                  <a:pt x="578849" y="535655"/>
                  <a:pt x="535655" y="578849"/>
                  <a:pt x="482372" y="578849"/>
                </a:cubicBezTo>
                <a:lnTo>
                  <a:pt x="96477" y="578849"/>
                </a:lnTo>
                <a:cubicBezTo>
                  <a:pt x="43194" y="578849"/>
                  <a:pt x="0" y="535655"/>
                  <a:pt x="0" y="482372"/>
                </a:cubicBezTo>
                <a:lnTo>
                  <a:pt x="0" y="96477"/>
                </a:lnTo>
                <a:cubicBezTo>
                  <a:pt x="0" y="43194"/>
                  <a:pt x="43194" y="0"/>
                  <a:pt x="96477" y="0"/>
                </a:cubicBezTo>
                <a:close/>
              </a:path>
            </a:pathLst>
          </a:custGeom>
          <a:solidFill>
            <a:srgbClr val="3C8082"/>
          </a:solidFill>
          <a:ln/>
        </p:spPr>
        <p:txBody>
          <a:bodyPr/>
          <a:lstStyle/>
          <a:p>
            <a:endParaRPr lang="zh-CN" altLang="en-US"/>
          </a:p>
        </p:txBody>
      </p:sp>
      <p:sp>
        <p:nvSpPr>
          <p:cNvPr id="44" name="Shape 42"/>
          <p:cNvSpPr/>
          <p:nvPr/>
        </p:nvSpPr>
        <p:spPr>
          <a:xfrm>
            <a:off x="9909392" y="1941555"/>
            <a:ext cx="289424" cy="289424"/>
          </a:xfrm>
          <a:custGeom>
            <a:avLst/>
            <a:gdLst/>
            <a:ahLst/>
            <a:cxnLst/>
            <a:rect l="l" t="t" r="r" b="b"/>
            <a:pathLst>
              <a:path w="289424" h="289424">
                <a:moveTo>
                  <a:pt x="144712" y="0"/>
                </a:moveTo>
                <a:cubicBezTo>
                  <a:pt x="147312" y="0"/>
                  <a:pt x="149913" y="565"/>
                  <a:pt x="152287" y="1639"/>
                </a:cubicBezTo>
                <a:lnTo>
                  <a:pt x="258786" y="46805"/>
                </a:lnTo>
                <a:cubicBezTo>
                  <a:pt x="271222" y="52062"/>
                  <a:pt x="280493" y="64329"/>
                  <a:pt x="280436" y="79139"/>
                </a:cubicBezTo>
                <a:cubicBezTo>
                  <a:pt x="280154" y="135215"/>
                  <a:pt x="257090" y="237814"/>
                  <a:pt x="159692" y="284450"/>
                </a:cubicBezTo>
                <a:cubicBezTo>
                  <a:pt x="150252" y="288972"/>
                  <a:pt x="139285" y="288972"/>
                  <a:pt x="129845" y="284450"/>
                </a:cubicBezTo>
                <a:cubicBezTo>
                  <a:pt x="32391" y="237814"/>
                  <a:pt x="9384" y="135215"/>
                  <a:pt x="9101" y="79139"/>
                </a:cubicBezTo>
                <a:cubicBezTo>
                  <a:pt x="9045" y="64329"/>
                  <a:pt x="18315" y="52062"/>
                  <a:pt x="30751" y="46805"/>
                </a:cubicBezTo>
                <a:lnTo>
                  <a:pt x="137194" y="1639"/>
                </a:lnTo>
                <a:cubicBezTo>
                  <a:pt x="139568" y="565"/>
                  <a:pt x="142112" y="0"/>
                  <a:pt x="144712" y="0"/>
                </a:cubicBezTo>
                <a:close/>
                <a:moveTo>
                  <a:pt x="144712" y="37761"/>
                </a:moveTo>
                <a:lnTo>
                  <a:pt x="144712" y="251494"/>
                </a:lnTo>
                <a:cubicBezTo>
                  <a:pt x="222721" y="213733"/>
                  <a:pt x="243693" y="130071"/>
                  <a:pt x="244202" y="79987"/>
                </a:cubicBezTo>
                <a:lnTo>
                  <a:pt x="144712" y="37817"/>
                </a:lnTo>
                <a:lnTo>
                  <a:pt x="144712" y="37817"/>
                </a:lnTo>
                <a:close/>
              </a:path>
            </a:pathLst>
          </a:custGeom>
          <a:solidFill>
            <a:srgbClr val="FFFFFF"/>
          </a:solidFill>
          <a:ln/>
        </p:spPr>
        <p:txBody>
          <a:bodyPr/>
          <a:lstStyle/>
          <a:p>
            <a:endParaRPr lang="zh-CN" altLang="en-US"/>
          </a:p>
        </p:txBody>
      </p:sp>
      <p:sp>
        <p:nvSpPr>
          <p:cNvPr id="45" name="Text 43"/>
          <p:cNvSpPr/>
          <p:nvPr/>
        </p:nvSpPr>
        <p:spPr>
          <a:xfrm>
            <a:off x="8342336" y="2472166"/>
            <a:ext cx="3424855" cy="337662"/>
          </a:xfrm>
          <a:prstGeom prst="rect">
            <a:avLst/>
          </a:prstGeom>
          <a:noFill/>
          <a:ln/>
        </p:spPr>
        <p:txBody>
          <a:bodyPr wrap="square" lIns="0" tIns="0" rIns="0" bIns="0" rtlCol="0" anchor="ctr"/>
          <a:lstStyle/>
          <a:p>
            <a:pPr algn="ctr">
              <a:lnSpc>
                <a:spcPct val="120000"/>
              </a:lnSpc>
            </a:pPr>
            <a:r>
              <a:rPr lang="en-US" sz="1899" b="1" dirty="0">
                <a:solidFill>
                  <a:srgbClr val="E0E2E4"/>
                </a:solidFill>
                <a:latin typeface="MiSans" pitchFamily="34" charset="0"/>
                <a:ea typeface="MiSans" pitchFamily="34" charset="-122"/>
                <a:cs typeface="MiSans" pitchFamily="34" charset="-120"/>
              </a:rPr>
              <a:t>核心隔离技术层</a:t>
            </a:r>
            <a:endParaRPr lang="en-US" sz="1600" dirty="0"/>
          </a:p>
        </p:txBody>
      </p:sp>
      <p:sp>
        <p:nvSpPr>
          <p:cNvPr id="46" name="Shape 44"/>
          <p:cNvSpPr/>
          <p:nvPr/>
        </p:nvSpPr>
        <p:spPr>
          <a:xfrm>
            <a:off x="8402633" y="2954540"/>
            <a:ext cx="1603893" cy="2749531"/>
          </a:xfrm>
          <a:custGeom>
            <a:avLst/>
            <a:gdLst/>
            <a:ahLst/>
            <a:cxnLst/>
            <a:rect l="l" t="t" r="r" b="b"/>
            <a:pathLst>
              <a:path w="1603893" h="2749531">
                <a:moveTo>
                  <a:pt x="96474" y="0"/>
                </a:moveTo>
                <a:lnTo>
                  <a:pt x="1507419" y="0"/>
                </a:lnTo>
                <a:cubicBezTo>
                  <a:pt x="1560700" y="0"/>
                  <a:pt x="1603893" y="43193"/>
                  <a:pt x="1603893" y="96474"/>
                </a:cubicBezTo>
                <a:lnTo>
                  <a:pt x="1603893" y="2653057"/>
                </a:lnTo>
                <a:cubicBezTo>
                  <a:pt x="1603893" y="2706338"/>
                  <a:pt x="1560700" y="2749531"/>
                  <a:pt x="1507419" y="2749531"/>
                </a:cubicBezTo>
                <a:lnTo>
                  <a:pt x="96474" y="2749531"/>
                </a:lnTo>
                <a:cubicBezTo>
                  <a:pt x="43193" y="2749531"/>
                  <a:pt x="0" y="2706338"/>
                  <a:pt x="0" y="2653057"/>
                </a:cubicBezTo>
                <a:lnTo>
                  <a:pt x="0" y="96474"/>
                </a:lnTo>
                <a:cubicBezTo>
                  <a:pt x="0" y="43229"/>
                  <a:pt x="43229" y="0"/>
                  <a:pt x="96474" y="0"/>
                </a:cubicBezTo>
                <a:close/>
              </a:path>
            </a:pathLst>
          </a:custGeom>
          <a:solidFill>
            <a:srgbClr val="1A1D21">
              <a:alpha val="50196"/>
            </a:srgbClr>
          </a:solidFill>
          <a:ln/>
        </p:spPr>
        <p:txBody>
          <a:bodyPr/>
          <a:lstStyle/>
          <a:p>
            <a:endParaRPr lang="zh-CN" altLang="en-US"/>
          </a:p>
        </p:txBody>
      </p:sp>
      <p:sp>
        <p:nvSpPr>
          <p:cNvPr id="47" name="Text 45"/>
          <p:cNvSpPr/>
          <p:nvPr/>
        </p:nvSpPr>
        <p:spPr>
          <a:xfrm>
            <a:off x="8456900" y="3051015"/>
            <a:ext cx="1495359" cy="241187"/>
          </a:xfrm>
          <a:prstGeom prst="rect">
            <a:avLst/>
          </a:prstGeom>
          <a:noFill/>
          <a:ln/>
        </p:spPr>
        <p:txBody>
          <a:bodyPr wrap="square" lIns="0" tIns="0" rIns="0" bIns="0" rtlCol="0" anchor="ctr"/>
          <a:lstStyle/>
          <a:p>
            <a:pPr algn="ctr">
              <a:lnSpc>
                <a:spcPct val="120000"/>
              </a:lnSpc>
            </a:pPr>
            <a:r>
              <a:rPr lang="en-US" sz="1329" b="1" dirty="0">
                <a:solidFill>
                  <a:srgbClr val="E0E2E4"/>
                </a:solidFill>
                <a:latin typeface="MiSans" pitchFamily="34" charset="0"/>
                <a:ea typeface="MiSans" pitchFamily="34" charset="-122"/>
                <a:cs typeface="MiSans" pitchFamily="34" charset="-120"/>
              </a:rPr>
              <a:t>Namespaces</a:t>
            </a:r>
            <a:endParaRPr lang="en-US" sz="1600" dirty="0"/>
          </a:p>
        </p:txBody>
      </p:sp>
      <p:sp>
        <p:nvSpPr>
          <p:cNvPr id="48" name="Text 46"/>
          <p:cNvSpPr/>
          <p:nvPr/>
        </p:nvSpPr>
        <p:spPr>
          <a:xfrm>
            <a:off x="8499108" y="3340439"/>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PID命名空间</a:t>
            </a:r>
            <a:endParaRPr lang="en-US" sz="1600" dirty="0"/>
          </a:p>
        </p:txBody>
      </p:sp>
      <p:sp>
        <p:nvSpPr>
          <p:cNvPr id="49" name="Text 47"/>
          <p:cNvSpPr/>
          <p:nvPr/>
        </p:nvSpPr>
        <p:spPr>
          <a:xfrm>
            <a:off x="8499108" y="3557507"/>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Network命名空间</a:t>
            </a:r>
            <a:endParaRPr lang="en-US" sz="1600" dirty="0"/>
          </a:p>
        </p:txBody>
      </p:sp>
      <p:sp>
        <p:nvSpPr>
          <p:cNvPr id="50" name="Text 48"/>
          <p:cNvSpPr/>
          <p:nvPr/>
        </p:nvSpPr>
        <p:spPr>
          <a:xfrm>
            <a:off x="8499108" y="3774576"/>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Mount命名空间</a:t>
            </a:r>
            <a:endParaRPr lang="en-US" sz="1600" dirty="0"/>
          </a:p>
        </p:txBody>
      </p:sp>
      <p:sp>
        <p:nvSpPr>
          <p:cNvPr id="51" name="Text 49"/>
          <p:cNvSpPr/>
          <p:nvPr/>
        </p:nvSpPr>
        <p:spPr>
          <a:xfrm>
            <a:off x="8499108" y="3991644"/>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UTS/IPC/User</a:t>
            </a:r>
            <a:endParaRPr lang="en-US" sz="1600" dirty="0"/>
          </a:p>
        </p:txBody>
      </p:sp>
      <p:sp>
        <p:nvSpPr>
          <p:cNvPr id="52" name="Shape 50"/>
          <p:cNvSpPr/>
          <p:nvPr/>
        </p:nvSpPr>
        <p:spPr>
          <a:xfrm>
            <a:off x="10102341" y="2954540"/>
            <a:ext cx="1603893" cy="2749531"/>
          </a:xfrm>
          <a:custGeom>
            <a:avLst/>
            <a:gdLst/>
            <a:ahLst/>
            <a:cxnLst/>
            <a:rect l="l" t="t" r="r" b="b"/>
            <a:pathLst>
              <a:path w="1603893" h="2749531">
                <a:moveTo>
                  <a:pt x="96474" y="0"/>
                </a:moveTo>
                <a:lnTo>
                  <a:pt x="1507419" y="0"/>
                </a:lnTo>
                <a:cubicBezTo>
                  <a:pt x="1560700" y="0"/>
                  <a:pt x="1603893" y="43193"/>
                  <a:pt x="1603893" y="96474"/>
                </a:cubicBezTo>
                <a:lnTo>
                  <a:pt x="1603893" y="2653057"/>
                </a:lnTo>
                <a:cubicBezTo>
                  <a:pt x="1603893" y="2706338"/>
                  <a:pt x="1560700" y="2749531"/>
                  <a:pt x="1507419" y="2749531"/>
                </a:cubicBezTo>
                <a:lnTo>
                  <a:pt x="96474" y="2749531"/>
                </a:lnTo>
                <a:cubicBezTo>
                  <a:pt x="43193" y="2749531"/>
                  <a:pt x="0" y="2706338"/>
                  <a:pt x="0" y="2653057"/>
                </a:cubicBezTo>
                <a:lnTo>
                  <a:pt x="0" y="96474"/>
                </a:lnTo>
                <a:cubicBezTo>
                  <a:pt x="0" y="43229"/>
                  <a:pt x="43229" y="0"/>
                  <a:pt x="96474" y="0"/>
                </a:cubicBezTo>
                <a:close/>
              </a:path>
            </a:pathLst>
          </a:custGeom>
          <a:solidFill>
            <a:srgbClr val="1A1D21">
              <a:alpha val="50196"/>
            </a:srgbClr>
          </a:solidFill>
          <a:ln/>
        </p:spPr>
        <p:txBody>
          <a:bodyPr/>
          <a:lstStyle/>
          <a:p>
            <a:endParaRPr lang="zh-CN" altLang="en-US"/>
          </a:p>
        </p:txBody>
      </p:sp>
      <p:sp>
        <p:nvSpPr>
          <p:cNvPr id="53" name="Text 51"/>
          <p:cNvSpPr/>
          <p:nvPr/>
        </p:nvSpPr>
        <p:spPr>
          <a:xfrm>
            <a:off x="10156608" y="3051015"/>
            <a:ext cx="1495359" cy="241187"/>
          </a:xfrm>
          <a:prstGeom prst="rect">
            <a:avLst/>
          </a:prstGeom>
          <a:noFill/>
          <a:ln/>
        </p:spPr>
        <p:txBody>
          <a:bodyPr wrap="square" lIns="0" tIns="0" rIns="0" bIns="0" rtlCol="0" anchor="ctr"/>
          <a:lstStyle/>
          <a:p>
            <a:pPr algn="ctr">
              <a:lnSpc>
                <a:spcPct val="120000"/>
              </a:lnSpc>
            </a:pPr>
            <a:r>
              <a:rPr lang="en-US" sz="1329" b="1" dirty="0">
                <a:solidFill>
                  <a:srgbClr val="E0E2E4"/>
                </a:solidFill>
                <a:latin typeface="MiSans" pitchFamily="34" charset="0"/>
                <a:ea typeface="MiSans" pitchFamily="34" charset="-122"/>
                <a:cs typeface="MiSans" pitchFamily="34" charset="-120"/>
              </a:rPr>
              <a:t>CGroups</a:t>
            </a:r>
            <a:endParaRPr lang="en-US" sz="1600" dirty="0"/>
          </a:p>
        </p:txBody>
      </p:sp>
      <p:sp>
        <p:nvSpPr>
          <p:cNvPr id="54" name="Text 52"/>
          <p:cNvSpPr/>
          <p:nvPr/>
        </p:nvSpPr>
        <p:spPr>
          <a:xfrm>
            <a:off x="10198816" y="3340439"/>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CPU控制</a:t>
            </a:r>
            <a:endParaRPr lang="en-US" sz="1600" dirty="0"/>
          </a:p>
        </p:txBody>
      </p:sp>
      <p:sp>
        <p:nvSpPr>
          <p:cNvPr id="55" name="Text 53"/>
          <p:cNvSpPr/>
          <p:nvPr/>
        </p:nvSpPr>
        <p:spPr>
          <a:xfrm>
            <a:off x="10198816" y="3557507"/>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内存控制</a:t>
            </a:r>
            <a:endParaRPr lang="en-US" sz="1600" dirty="0"/>
          </a:p>
        </p:txBody>
      </p:sp>
      <p:sp>
        <p:nvSpPr>
          <p:cNvPr id="56" name="Text 54"/>
          <p:cNvSpPr/>
          <p:nvPr/>
        </p:nvSpPr>
        <p:spPr>
          <a:xfrm>
            <a:off x="10198816" y="3774576"/>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I/O控制</a:t>
            </a:r>
            <a:endParaRPr lang="en-US" sz="1600" dirty="0"/>
          </a:p>
        </p:txBody>
      </p:sp>
      <p:sp>
        <p:nvSpPr>
          <p:cNvPr id="57" name="Text 55"/>
          <p:cNvSpPr/>
          <p:nvPr/>
        </p:nvSpPr>
        <p:spPr>
          <a:xfrm>
            <a:off x="10198816" y="3991644"/>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设备控制</a:t>
            </a:r>
            <a:endParaRPr lang="en-US" sz="1600" dirty="0"/>
          </a:p>
        </p:txBody>
      </p:sp>
      <p:sp>
        <p:nvSpPr>
          <p:cNvPr id="58" name="Shape 56"/>
          <p:cNvSpPr/>
          <p:nvPr/>
        </p:nvSpPr>
        <p:spPr>
          <a:xfrm>
            <a:off x="8402633" y="5800547"/>
            <a:ext cx="1603893" cy="1745590"/>
          </a:xfrm>
          <a:custGeom>
            <a:avLst/>
            <a:gdLst/>
            <a:ahLst/>
            <a:cxnLst/>
            <a:rect l="l" t="t" r="r" b="b"/>
            <a:pathLst>
              <a:path w="1603893" h="2749531">
                <a:moveTo>
                  <a:pt x="96474" y="0"/>
                </a:moveTo>
                <a:lnTo>
                  <a:pt x="1507419" y="0"/>
                </a:lnTo>
                <a:cubicBezTo>
                  <a:pt x="1560700" y="0"/>
                  <a:pt x="1603893" y="43193"/>
                  <a:pt x="1603893" y="96474"/>
                </a:cubicBezTo>
                <a:lnTo>
                  <a:pt x="1603893" y="2653057"/>
                </a:lnTo>
                <a:cubicBezTo>
                  <a:pt x="1603893" y="2706338"/>
                  <a:pt x="1560700" y="2749531"/>
                  <a:pt x="1507419" y="2749531"/>
                </a:cubicBezTo>
                <a:lnTo>
                  <a:pt x="96474" y="2749531"/>
                </a:lnTo>
                <a:cubicBezTo>
                  <a:pt x="43193" y="2749531"/>
                  <a:pt x="0" y="2706338"/>
                  <a:pt x="0" y="2653057"/>
                </a:cubicBezTo>
                <a:lnTo>
                  <a:pt x="0" y="96474"/>
                </a:lnTo>
                <a:cubicBezTo>
                  <a:pt x="0" y="43229"/>
                  <a:pt x="43229" y="0"/>
                  <a:pt x="96474" y="0"/>
                </a:cubicBezTo>
                <a:close/>
              </a:path>
            </a:pathLst>
          </a:custGeom>
          <a:solidFill>
            <a:srgbClr val="1A1D21">
              <a:alpha val="50196"/>
            </a:srgbClr>
          </a:solidFill>
          <a:ln/>
        </p:spPr>
        <p:txBody>
          <a:bodyPr/>
          <a:lstStyle/>
          <a:p>
            <a:endParaRPr lang="zh-CN" altLang="en-US"/>
          </a:p>
        </p:txBody>
      </p:sp>
      <p:sp>
        <p:nvSpPr>
          <p:cNvPr id="59" name="Text 57"/>
          <p:cNvSpPr/>
          <p:nvPr/>
        </p:nvSpPr>
        <p:spPr>
          <a:xfrm>
            <a:off x="8456900" y="5897021"/>
            <a:ext cx="1495359" cy="241187"/>
          </a:xfrm>
          <a:prstGeom prst="rect">
            <a:avLst/>
          </a:prstGeom>
          <a:noFill/>
          <a:ln/>
        </p:spPr>
        <p:txBody>
          <a:bodyPr wrap="square" lIns="0" tIns="0" rIns="0" bIns="0" rtlCol="0" anchor="ctr"/>
          <a:lstStyle/>
          <a:p>
            <a:pPr algn="ctr">
              <a:lnSpc>
                <a:spcPct val="120000"/>
              </a:lnSpc>
            </a:pPr>
            <a:r>
              <a:rPr lang="en-US" sz="1329" b="1" dirty="0">
                <a:solidFill>
                  <a:srgbClr val="E0E2E4"/>
                </a:solidFill>
                <a:latin typeface="MiSans" pitchFamily="34" charset="0"/>
                <a:ea typeface="MiSans" pitchFamily="34" charset="-122"/>
                <a:cs typeface="MiSans" pitchFamily="34" charset="-120"/>
              </a:rPr>
              <a:t>Security</a:t>
            </a:r>
            <a:endParaRPr lang="en-US" sz="1600" dirty="0"/>
          </a:p>
        </p:txBody>
      </p:sp>
      <p:sp>
        <p:nvSpPr>
          <p:cNvPr id="60" name="Text 58"/>
          <p:cNvSpPr/>
          <p:nvPr/>
        </p:nvSpPr>
        <p:spPr>
          <a:xfrm>
            <a:off x="8499108" y="6186445"/>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SELinux</a:t>
            </a:r>
            <a:endParaRPr lang="en-US" sz="1600" dirty="0"/>
          </a:p>
        </p:txBody>
      </p:sp>
      <p:sp>
        <p:nvSpPr>
          <p:cNvPr id="61" name="Text 59"/>
          <p:cNvSpPr/>
          <p:nvPr/>
        </p:nvSpPr>
        <p:spPr>
          <a:xfrm>
            <a:off x="8499108" y="6403513"/>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AppArmor</a:t>
            </a:r>
            <a:endParaRPr lang="en-US" sz="1600" dirty="0"/>
          </a:p>
        </p:txBody>
      </p:sp>
      <p:sp>
        <p:nvSpPr>
          <p:cNvPr id="62" name="Text 60"/>
          <p:cNvSpPr/>
          <p:nvPr/>
        </p:nvSpPr>
        <p:spPr>
          <a:xfrm>
            <a:off x="8499108" y="6620582"/>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Capabilities</a:t>
            </a:r>
            <a:endParaRPr lang="en-US" sz="1600" dirty="0"/>
          </a:p>
        </p:txBody>
      </p:sp>
      <p:sp>
        <p:nvSpPr>
          <p:cNvPr id="63" name="Text 61"/>
          <p:cNvSpPr/>
          <p:nvPr/>
        </p:nvSpPr>
        <p:spPr>
          <a:xfrm>
            <a:off x="8499108" y="6837650"/>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Seccomp</a:t>
            </a:r>
            <a:endParaRPr lang="en-US" sz="1600" dirty="0"/>
          </a:p>
        </p:txBody>
      </p:sp>
      <p:sp>
        <p:nvSpPr>
          <p:cNvPr id="64" name="Shape 62"/>
          <p:cNvSpPr/>
          <p:nvPr/>
        </p:nvSpPr>
        <p:spPr>
          <a:xfrm>
            <a:off x="10102341" y="5800547"/>
            <a:ext cx="1603893" cy="2029004"/>
          </a:xfrm>
          <a:custGeom>
            <a:avLst/>
            <a:gdLst/>
            <a:ahLst/>
            <a:cxnLst/>
            <a:rect l="l" t="t" r="r" b="b"/>
            <a:pathLst>
              <a:path w="1603893" h="2749531">
                <a:moveTo>
                  <a:pt x="96474" y="0"/>
                </a:moveTo>
                <a:lnTo>
                  <a:pt x="1507419" y="0"/>
                </a:lnTo>
                <a:cubicBezTo>
                  <a:pt x="1560700" y="0"/>
                  <a:pt x="1603893" y="43193"/>
                  <a:pt x="1603893" y="96474"/>
                </a:cubicBezTo>
                <a:lnTo>
                  <a:pt x="1603893" y="2653057"/>
                </a:lnTo>
                <a:cubicBezTo>
                  <a:pt x="1603893" y="2706338"/>
                  <a:pt x="1560700" y="2749531"/>
                  <a:pt x="1507419" y="2749531"/>
                </a:cubicBezTo>
                <a:lnTo>
                  <a:pt x="96474" y="2749531"/>
                </a:lnTo>
                <a:cubicBezTo>
                  <a:pt x="43193" y="2749531"/>
                  <a:pt x="0" y="2706338"/>
                  <a:pt x="0" y="2653057"/>
                </a:cubicBezTo>
                <a:lnTo>
                  <a:pt x="0" y="96474"/>
                </a:lnTo>
                <a:cubicBezTo>
                  <a:pt x="0" y="43229"/>
                  <a:pt x="43229" y="0"/>
                  <a:pt x="96474" y="0"/>
                </a:cubicBezTo>
                <a:close/>
              </a:path>
            </a:pathLst>
          </a:custGeom>
          <a:solidFill>
            <a:srgbClr val="1A1D21">
              <a:alpha val="50196"/>
            </a:srgbClr>
          </a:solidFill>
          <a:ln/>
        </p:spPr>
        <p:txBody>
          <a:bodyPr/>
          <a:lstStyle/>
          <a:p>
            <a:endParaRPr lang="zh-CN" altLang="en-US"/>
          </a:p>
        </p:txBody>
      </p:sp>
      <p:sp>
        <p:nvSpPr>
          <p:cNvPr id="65" name="Text 63"/>
          <p:cNvSpPr/>
          <p:nvPr/>
        </p:nvSpPr>
        <p:spPr>
          <a:xfrm>
            <a:off x="10156608" y="5897021"/>
            <a:ext cx="1495359" cy="241187"/>
          </a:xfrm>
          <a:prstGeom prst="rect">
            <a:avLst/>
          </a:prstGeom>
          <a:noFill/>
          <a:ln/>
        </p:spPr>
        <p:txBody>
          <a:bodyPr wrap="square" lIns="0" tIns="0" rIns="0" bIns="0" rtlCol="0" anchor="ctr"/>
          <a:lstStyle/>
          <a:p>
            <a:pPr algn="ctr">
              <a:lnSpc>
                <a:spcPct val="120000"/>
              </a:lnSpc>
            </a:pPr>
            <a:r>
              <a:rPr lang="en-US" sz="1329" b="1" dirty="0">
                <a:solidFill>
                  <a:srgbClr val="E0E2E4"/>
                </a:solidFill>
                <a:latin typeface="MiSans" pitchFamily="34" charset="0"/>
                <a:ea typeface="MiSans" pitchFamily="34" charset="-122"/>
                <a:cs typeface="MiSans" pitchFamily="34" charset="-120"/>
              </a:rPr>
              <a:t>Networking</a:t>
            </a:r>
            <a:endParaRPr lang="en-US" sz="1600" dirty="0"/>
          </a:p>
        </p:txBody>
      </p:sp>
      <p:sp>
        <p:nvSpPr>
          <p:cNvPr id="66" name="Text 64"/>
          <p:cNvSpPr/>
          <p:nvPr/>
        </p:nvSpPr>
        <p:spPr>
          <a:xfrm>
            <a:off x="10198816" y="6186445"/>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虚拟网络接口</a:t>
            </a:r>
            <a:endParaRPr lang="en-US" sz="1600" dirty="0"/>
          </a:p>
        </p:txBody>
      </p:sp>
      <p:sp>
        <p:nvSpPr>
          <p:cNvPr id="67" name="Text 65"/>
          <p:cNvSpPr/>
          <p:nvPr/>
        </p:nvSpPr>
        <p:spPr>
          <a:xfrm>
            <a:off x="10198816" y="6403513"/>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网络命名空间</a:t>
            </a:r>
            <a:endParaRPr lang="en-US" sz="1600" dirty="0"/>
          </a:p>
        </p:txBody>
      </p:sp>
      <p:sp>
        <p:nvSpPr>
          <p:cNvPr id="68" name="Text 66"/>
          <p:cNvSpPr/>
          <p:nvPr/>
        </p:nvSpPr>
        <p:spPr>
          <a:xfrm>
            <a:off x="10198816" y="6620582"/>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流量控制</a:t>
            </a:r>
            <a:endParaRPr lang="en-US" sz="1600" dirty="0"/>
          </a:p>
        </p:txBody>
      </p:sp>
      <p:sp>
        <p:nvSpPr>
          <p:cNvPr id="69" name="Text 67"/>
          <p:cNvSpPr/>
          <p:nvPr/>
        </p:nvSpPr>
        <p:spPr>
          <a:xfrm>
            <a:off x="10198816" y="6837650"/>
            <a:ext cx="1483300"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 防火墙规则</a:t>
            </a:r>
            <a:endParaRPr lang="en-US" sz="1600" dirty="0"/>
          </a:p>
        </p:txBody>
      </p:sp>
      <p:sp>
        <p:nvSpPr>
          <p:cNvPr id="70" name="Shape 68"/>
          <p:cNvSpPr/>
          <p:nvPr/>
        </p:nvSpPr>
        <p:spPr>
          <a:xfrm>
            <a:off x="9963659" y="7751805"/>
            <a:ext cx="180890" cy="241187"/>
          </a:xfrm>
          <a:custGeom>
            <a:avLst/>
            <a:gdLst/>
            <a:ahLst/>
            <a:cxnLst/>
            <a:rect l="l" t="t" r="r" b="b"/>
            <a:pathLst>
              <a:path w="180890" h="241187">
                <a:moveTo>
                  <a:pt x="79799" y="236759"/>
                </a:moveTo>
                <a:cubicBezTo>
                  <a:pt x="85687" y="242647"/>
                  <a:pt x="95250" y="242647"/>
                  <a:pt x="101138" y="236759"/>
                </a:cubicBezTo>
                <a:lnTo>
                  <a:pt x="176509" y="161388"/>
                </a:lnTo>
                <a:cubicBezTo>
                  <a:pt x="182398" y="155500"/>
                  <a:pt x="182398" y="145937"/>
                  <a:pt x="176509" y="140049"/>
                </a:cubicBezTo>
                <a:cubicBezTo>
                  <a:pt x="170621" y="134160"/>
                  <a:pt x="161058" y="134160"/>
                  <a:pt x="155170" y="140049"/>
                </a:cubicBezTo>
                <a:lnTo>
                  <a:pt x="105519" y="189699"/>
                </a:lnTo>
                <a:lnTo>
                  <a:pt x="105519" y="15074"/>
                </a:lnTo>
                <a:cubicBezTo>
                  <a:pt x="105519" y="6736"/>
                  <a:pt x="98783" y="0"/>
                  <a:pt x="90445" y="0"/>
                </a:cubicBezTo>
                <a:cubicBezTo>
                  <a:pt x="82107" y="0"/>
                  <a:pt x="75371" y="6736"/>
                  <a:pt x="75371" y="15074"/>
                </a:cubicBezTo>
                <a:lnTo>
                  <a:pt x="75371" y="189699"/>
                </a:lnTo>
                <a:lnTo>
                  <a:pt x="25720" y="140049"/>
                </a:lnTo>
                <a:cubicBezTo>
                  <a:pt x="19832" y="134160"/>
                  <a:pt x="10269" y="134160"/>
                  <a:pt x="4381" y="140049"/>
                </a:cubicBezTo>
                <a:cubicBezTo>
                  <a:pt x="-1507" y="145937"/>
                  <a:pt x="-1507" y="155500"/>
                  <a:pt x="4381" y="161388"/>
                </a:cubicBezTo>
                <a:lnTo>
                  <a:pt x="79752" y="236759"/>
                </a:lnTo>
                <a:close/>
              </a:path>
            </a:pathLst>
          </a:custGeom>
          <a:solidFill>
            <a:srgbClr val="B38B59"/>
          </a:solidFill>
          <a:ln/>
        </p:spPr>
        <p:txBody>
          <a:bodyPr/>
          <a:lstStyle/>
          <a:p>
            <a:endParaRPr lang="zh-CN" altLang="en-US"/>
          </a:p>
        </p:txBody>
      </p:sp>
      <p:sp>
        <p:nvSpPr>
          <p:cNvPr id="71" name="Shape 69"/>
          <p:cNvSpPr/>
          <p:nvPr/>
        </p:nvSpPr>
        <p:spPr>
          <a:xfrm>
            <a:off x="12061326" y="1597864"/>
            <a:ext cx="3702220" cy="6231686"/>
          </a:xfrm>
          <a:custGeom>
            <a:avLst/>
            <a:gdLst/>
            <a:ahLst/>
            <a:cxnLst/>
            <a:rect l="l" t="t" r="r" b="b"/>
            <a:pathLst>
              <a:path w="3702220" h="7537092">
                <a:moveTo>
                  <a:pt x="96480" y="0"/>
                </a:moveTo>
                <a:lnTo>
                  <a:pt x="3605740" y="0"/>
                </a:lnTo>
                <a:cubicBezTo>
                  <a:pt x="3659024" y="0"/>
                  <a:pt x="3702220" y="43195"/>
                  <a:pt x="3702220" y="96480"/>
                </a:cubicBezTo>
                <a:lnTo>
                  <a:pt x="3702220" y="7440612"/>
                </a:lnTo>
                <a:cubicBezTo>
                  <a:pt x="3702220" y="7493896"/>
                  <a:pt x="3659024" y="7537092"/>
                  <a:pt x="3605740" y="7537092"/>
                </a:cubicBezTo>
                <a:lnTo>
                  <a:pt x="96480" y="7537092"/>
                </a:lnTo>
                <a:cubicBezTo>
                  <a:pt x="43195" y="7537092"/>
                  <a:pt x="0" y="7493896"/>
                  <a:pt x="0" y="7440612"/>
                </a:cubicBezTo>
                <a:lnTo>
                  <a:pt x="0" y="96480"/>
                </a:lnTo>
                <a:cubicBezTo>
                  <a:pt x="0" y="43231"/>
                  <a:pt x="43231" y="0"/>
                  <a:pt x="96480"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72" name="Shape 70"/>
          <p:cNvSpPr/>
          <p:nvPr/>
        </p:nvSpPr>
        <p:spPr>
          <a:xfrm>
            <a:off x="13622352" y="1796843"/>
            <a:ext cx="578849" cy="578849"/>
          </a:xfrm>
          <a:custGeom>
            <a:avLst/>
            <a:gdLst/>
            <a:ahLst/>
            <a:cxnLst/>
            <a:rect l="l" t="t" r="r" b="b"/>
            <a:pathLst>
              <a:path w="578849" h="578849">
                <a:moveTo>
                  <a:pt x="96477" y="0"/>
                </a:moveTo>
                <a:lnTo>
                  <a:pt x="482372" y="0"/>
                </a:lnTo>
                <a:cubicBezTo>
                  <a:pt x="535619" y="0"/>
                  <a:pt x="578849" y="43230"/>
                  <a:pt x="578849" y="96477"/>
                </a:cubicBezTo>
                <a:lnTo>
                  <a:pt x="578849" y="482372"/>
                </a:lnTo>
                <a:cubicBezTo>
                  <a:pt x="578849" y="535655"/>
                  <a:pt x="535655" y="578849"/>
                  <a:pt x="482372" y="578849"/>
                </a:cubicBezTo>
                <a:lnTo>
                  <a:pt x="96477" y="578849"/>
                </a:lnTo>
                <a:cubicBezTo>
                  <a:pt x="43194" y="578849"/>
                  <a:pt x="0" y="535655"/>
                  <a:pt x="0" y="482372"/>
                </a:cubicBezTo>
                <a:lnTo>
                  <a:pt x="0" y="96477"/>
                </a:lnTo>
                <a:cubicBezTo>
                  <a:pt x="0" y="43194"/>
                  <a:pt x="43194" y="0"/>
                  <a:pt x="96477" y="0"/>
                </a:cubicBezTo>
                <a:close/>
              </a:path>
            </a:pathLst>
          </a:custGeom>
          <a:solidFill>
            <a:srgbClr val="B38B59"/>
          </a:solidFill>
          <a:ln/>
        </p:spPr>
        <p:txBody>
          <a:bodyPr/>
          <a:lstStyle/>
          <a:p>
            <a:endParaRPr lang="zh-CN" altLang="en-US"/>
          </a:p>
        </p:txBody>
      </p:sp>
      <p:sp>
        <p:nvSpPr>
          <p:cNvPr id="73" name="Shape 71"/>
          <p:cNvSpPr/>
          <p:nvPr/>
        </p:nvSpPr>
        <p:spPr>
          <a:xfrm>
            <a:off x="13767064" y="1941555"/>
            <a:ext cx="289424" cy="289424"/>
          </a:xfrm>
          <a:custGeom>
            <a:avLst/>
            <a:gdLst/>
            <a:ahLst/>
            <a:cxnLst/>
            <a:rect l="l" t="t" r="r" b="b"/>
            <a:pathLst>
              <a:path w="289424" h="289424">
                <a:moveTo>
                  <a:pt x="99490" y="13567"/>
                </a:moveTo>
                <a:cubicBezTo>
                  <a:pt x="99490" y="6049"/>
                  <a:pt x="93441" y="0"/>
                  <a:pt x="85923" y="0"/>
                </a:cubicBezTo>
                <a:cubicBezTo>
                  <a:pt x="78405" y="0"/>
                  <a:pt x="72356" y="6049"/>
                  <a:pt x="72356" y="13567"/>
                </a:cubicBezTo>
                <a:lnTo>
                  <a:pt x="72356" y="36178"/>
                </a:lnTo>
                <a:cubicBezTo>
                  <a:pt x="52402" y="36178"/>
                  <a:pt x="36178" y="52402"/>
                  <a:pt x="36178" y="72356"/>
                </a:cubicBezTo>
                <a:lnTo>
                  <a:pt x="13567" y="72356"/>
                </a:lnTo>
                <a:cubicBezTo>
                  <a:pt x="6049" y="72356"/>
                  <a:pt x="0" y="78405"/>
                  <a:pt x="0" y="85923"/>
                </a:cubicBezTo>
                <a:cubicBezTo>
                  <a:pt x="0" y="93441"/>
                  <a:pt x="6049" y="99490"/>
                  <a:pt x="13567" y="99490"/>
                </a:cubicBezTo>
                <a:lnTo>
                  <a:pt x="36178" y="99490"/>
                </a:lnTo>
                <a:lnTo>
                  <a:pt x="36178" y="131145"/>
                </a:lnTo>
                <a:lnTo>
                  <a:pt x="13567" y="131145"/>
                </a:lnTo>
                <a:cubicBezTo>
                  <a:pt x="6049" y="131145"/>
                  <a:pt x="0" y="137194"/>
                  <a:pt x="0" y="144712"/>
                </a:cubicBezTo>
                <a:cubicBezTo>
                  <a:pt x="0" y="152230"/>
                  <a:pt x="6049" y="158279"/>
                  <a:pt x="13567" y="158279"/>
                </a:cubicBezTo>
                <a:lnTo>
                  <a:pt x="36178" y="158279"/>
                </a:lnTo>
                <a:lnTo>
                  <a:pt x="36178" y="189935"/>
                </a:lnTo>
                <a:lnTo>
                  <a:pt x="13567" y="189935"/>
                </a:lnTo>
                <a:cubicBezTo>
                  <a:pt x="6049" y="189935"/>
                  <a:pt x="0" y="195983"/>
                  <a:pt x="0" y="203501"/>
                </a:cubicBezTo>
                <a:cubicBezTo>
                  <a:pt x="0" y="211020"/>
                  <a:pt x="6049" y="217068"/>
                  <a:pt x="13567" y="217068"/>
                </a:cubicBezTo>
                <a:lnTo>
                  <a:pt x="36178" y="217068"/>
                </a:lnTo>
                <a:cubicBezTo>
                  <a:pt x="36178" y="237023"/>
                  <a:pt x="52402" y="253246"/>
                  <a:pt x="72356" y="253246"/>
                </a:cubicBezTo>
                <a:lnTo>
                  <a:pt x="72356" y="275858"/>
                </a:lnTo>
                <a:cubicBezTo>
                  <a:pt x="72356" y="283376"/>
                  <a:pt x="78405" y="289424"/>
                  <a:pt x="85923" y="289424"/>
                </a:cubicBezTo>
                <a:cubicBezTo>
                  <a:pt x="93441" y="289424"/>
                  <a:pt x="99490" y="283376"/>
                  <a:pt x="99490" y="275858"/>
                </a:cubicBezTo>
                <a:lnTo>
                  <a:pt x="99490" y="253246"/>
                </a:lnTo>
                <a:lnTo>
                  <a:pt x="131145" y="253246"/>
                </a:lnTo>
                <a:lnTo>
                  <a:pt x="131145" y="275858"/>
                </a:lnTo>
                <a:cubicBezTo>
                  <a:pt x="131145" y="283376"/>
                  <a:pt x="137194" y="289424"/>
                  <a:pt x="144712" y="289424"/>
                </a:cubicBezTo>
                <a:cubicBezTo>
                  <a:pt x="152230" y="289424"/>
                  <a:pt x="158279" y="283376"/>
                  <a:pt x="158279" y="275858"/>
                </a:cubicBezTo>
                <a:lnTo>
                  <a:pt x="158279" y="253246"/>
                </a:lnTo>
                <a:lnTo>
                  <a:pt x="189935" y="253246"/>
                </a:lnTo>
                <a:lnTo>
                  <a:pt x="189935" y="275858"/>
                </a:lnTo>
                <a:cubicBezTo>
                  <a:pt x="189935" y="283376"/>
                  <a:pt x="195983" y="289424"/>
                  <a:pt x="203501" y="289424"/>
                </a:cubicBezTo>
                <a:cubicBezTo>
                  <a:pt x="211020" y="289424"/>
                  <a:pt x="217068" y="283376"/>
                  <a:pt x="217068" y="275858"/>
                </a:cubicBezTo>
                <a:lnTo>
                  <a:pt x="217068" y="253246"/>
                </a:lnTo>
                <a:cubicBezTo>
                  <a:pt x="237023" y="253246"/>
                  <a:pt x="253246" y="237023"/>
                  <a:pt x="253246" y="217068"/>
                </a:cubicBezTo>
                <a:lnTo>
                  <a:pt x="275858" y="217068"/>
                </a:lnTo>
                <a:cubicBezTo>
                  <a:pt x="283376" y="217068"/>
                  <a:pt x="289424" y="211020"/>
                  <a:pt x="289424" y="203501"/>
                </a:cubicBezTo>
                <a:cubicBezTo>
                  <a:pt x="289424" y="195983"/>
                  <a:pt x="283376" y="189935"/>
                  <a:pt x="275858" y="189935"/>
                </a:cubicBezTo>
                <a:lnTo>
                  <a:pt x="253246" y="189935"/>
                </a:lnTo>
                <a:lnTo>
                  <a:pt x="253246" y="158279"/>
                </a:lnTo>
                <a:lnTo>
                  <a:pt x="275858" y="158279"/>
                </a:lnTo>
                <a:cubicBezTo>
                  <a:pt x="283376" y="158279"/>
                  <a:pt x="289424" y="152230"/>
                  <a:pt x="289424" y="144712"/>
                </a:cubicBezTo>
                <a:cubicBezTo>
                  <a:pt x="289424" y="137194"/>
                  <a:pt x="283376" y="131145"/>
                  <a:pt x="275858" y="131145"/>
                </a:cubicBezTo>
                <a:lnTo>
                  <a:pt x="253246" y="131145"/>
                </a:lnTo>
                <a:lnTo>
                  <a:pt x="253246" y="99490"/>
                </a:lnTo>
                <a:lnTo>
                  <a:pt x="275858" y="99490"/>
                </a:lnTo>
                <a:cubicBezTo>
                  <a:pt x="283376" y="99490"/>
                  <a:pt x="289424" y="93441"/>
                  <a:pt x="289424" y="85923"/>
                </a:cubicBezTo>
                <a:cubicBezTo>
                  <a:pt x="289424" y="78405"/>
                  <a:pt x="283376" y="72356"/>
                  <a:pt x="275858" y="72356"/>
                </a:cubicBezTo>
                <a:lnTo>
                  <a:pt x="253246" y="72356"/>
                </a:lnTo>
                <a:cubicBezTo>
                  <a:pt x="253246" y="52402"/>
                  <a:pt x="237023" y="36178"/>
                  <a:pt x="217068" y="36178"/>
                </a:cubicBezTo>
                <a:lnTo>
                  <a:pt x="217068" y="13567"/>
                </a:lnTo>
                <a:cubicBezTo>
                  <a:pt x="217068" y="6049"/>
                  <a:pt x="211020" y="0"/>
                  <a:pt x="203501" y="0"/>
                </a:cubicBezTo>
                <a:cubicBezTo>
                  <a:pt x="195983" y="0"/>
                  <a:pt x="189935" y="6049"/>
                  <a:pt x="189935" y="13567"/>
                </a:cubicBezTo>
                <a:lnTo>
                  <a:pt x="189935" y="36178"/>
                </a:lnTo>
                <a:lnTo>
                  <a:pt x="158279" y="36178"/>
                </a:lnTo>
                <a:lnTo>
                  <a:pt x="158279" y="13567"/>
                </a:lnTo>
                <a:cubicBezTo>
                  <a:pt x="158279" y="6049"/>
                  <a:pt x="152230" y="0"/>
                  <a:pt x="144712" y="0"/>
                </a:cubicBezTo>
                <a:cubicBezTo>
                  <a:pt x="137194" y="0"/>
                  <a:pt x="131145" y="6049"/>
                  <a:pt x="131145" y="13567"/>
                </a:cubicBezTo>
                <a:lnTo>
                  <a:pt x="131145" y="36178"/>
                </a:lnTo>
                <a:lnTo>
                  <a:pt x="99490" y="36178"/>
                </a:lnTo>
                <a:lnTo>
                  <a:pt x="99490" y="13567"/>
                </a:lnTo>
                <a:close/>
                <a:moveTo>
                  <a:pt x="90445" y="72356"/>
                </a:moveTo>
                <a:lnTo>
                  <a:pt x="198979" y="72356"/>
                </a:lnTo>
                <a:cubicBezTo>
                  <a:pt x="208985" y="72356"/>
                  <a:pt x="217068" y="80440"/>
                  <a:pt x="217068" y="90445"/>
                </a:cubicBezTo>
                <a:lnTo>
                  <a:pt x="217068" y="198979"/>
                </a:lnTo>
                <a:cubicBezTo>
                  <a:pt x="217068" y="208985"/>
                  <a:pt x="208985" y="217068"/>
                  <a:pt x="198979" y="217068"/>
                </a:cubicBezTo>
                <a:lnTo>
                  <a:pt x="90445" y="217068"/>
                </a:lnTo>
                <a:cubicBezTo>
                  <a:pt x="80440" y="217068"/>
                  <a:pt x="72356" y="208985"/>
                  <a:pt x="72356" y="198979"/>
                </a:cubicBezTo>
                <a:lnTo>
                  <a:pt x="72356" y="90445"/>
                </a:lnTo>
                <a:cubicBezTo>
                  <a:pt x="72356" y="80440"/>
                  <a:pt x="80440" y="72356"/>
                  <a:pt x="90445" y="72356"/>
                </a:cubicBezTo>
                <a:close/>
                <a:moveTo>
                  <a:pt x="99490" y="99490"/>
                </a:moveTo>
                <a:lnTo>
                  <a:pt x="99490" y="189935"/>
                </a:lnTo>
                <a:lnTo>
                  <a:pt x="189935" y="189935"/>
                </a:lnTo>
                <a:lnTo>
                  <a:pt x="189935" y="99490"/>
                </a:lnTo>
                <a:lnTo>
                  <a:pt x="99490" y="99490"/>
                </a:lnTo>
                <a:close/>
              </a:path>
            </a:pathLst>
          </a:custGeom>
          <a:solidFill>
            <a:srgbClr val="FFFFFF"/>
          </a:solidFill>
          <a:ln/>
        </p:spPr>
        <p:txBody>
          <a:bodyPr/>
          <a:lstStyle/>
          <a:p>
            <a:endParaRPr lang="zh-CN" altLang="en-US"/>
          </a:p>
        </p:txBody>
      </p:sp>
      <p:sp>
        <p:nvSpPr>
          <p:cNvPr id="74" name="Text 72"/>
          <p:cNvSpPr/>
          <p:nvPr/>
        </p:nvSpPr>
        <p:spPr>
          <a:xfrm>
            <a:off x="12200008" y="2472166"/>
            <a:ext cx="3424855" cy="337662"/>
          </a:xfrm>
          <a:prstGeom prst="rect">
            <a:avLst/>
          </a:prstGeom>
          <a:noFill/>
          <a:ln/>
        </p:spPr>
        <p:txBody>
          <a:bodyPr wrap="square" lIns="0" tIns="0" rIns="0" bIns="0" rtlCol="0" anchor="ctr"/>
          <a:lstStyle/>
          <a:p>
            <a:pPr algn="ctr">
              <a:lnSpc>
                <a:spcPct val="120000"/>
              </a:lnSpc>
            </a:pPr>
            <a:r>
              <a:rPr lang="en-US" sz="1899" b="1" dirty="0">
                <a:solidFill>
                  <a:srgbClr val="E0E2E4"/>
                </a:solidFill>
                <a:latin typeface="MiSans" pitchFamily="34" charset="0"/>
                <a:ea typeface="MiSans" pitchFamily="34" charset="-122"/>
                <a:cs typeface="MiSans" pitchFamily="34" charset="-120"/>
              </a:rPr>
              <a:t>Linux内核层</a:t>
            </a:r>
            <a:endParaRPr lang="en-US" sz="1600" dirty="0"/>
          </a:p>
        </p:txBody>
      </p:sp>
      <p:sp>
        <p:nvSpPr>
          <p:cNvPr id="75" name="Shape 73"/>
          <p:cNvSpPr/>
          <p:nvPr/>
        </p:nvSpPr>
        <p:spPr>
          <a:xfrm>
            <a:off x="12260305" y="2954540"/>
            <a:ext cx="3304261" cy="675323"/>
          </a:xfrm>
          <a:custGeom>
            <a:avLst/>
            <a:gdLst/>
            <a:ahLst/>
            <a:cxnLst/>
            <a:rect l="l" t="t" r="r" b="b"/>
            <a:pathLst>
              <a:path w="3304261" h="675323">
                <a:moveTo>
                  <a:pt x="96477" y="0"/>
                </a:moveTo>
                <a:lnTo>
                  <a:pt x="3207784" y="0"/>
                </a:lnTo>
                <a:cubicBezTo>
                  <a:pt x="3261067" y="0"/>
                  <a:pt x="3304261" y="43194"/>
                  <a:pt x="3304261" y="96477"/>
                </a:cubicBezTo>
                <a:lnTo>
                  <a:pt x="3304261" y="578847"/>
                </a:lnTo>
                <a:cubicBezTo>
                  <a:pt x="3304261" y="632129"/>
                  <a:pt x="3261067" y="675323"/>
                  <a:pt x="3207784" y="675323"/>
                </a:cubicBezTo>
                <a:lnTo>
                  <a:pt x="96477" y="675323"/>
                </a:lnTo>
                <a:cubicBezTo>
                  <a:pt x="43194" y="675323"/>
                  <a:pt x="0" y="632129"/>
                  <a:pt x="0" y="578847"/>
                </a:cubicBezTo>
                <a:lnTo>
                  <a:pt x="0" y="96477"/>
                </a:lnTo>
                <a:cubicBezTo>
                  <a:pt x="0" y="43194"/>
                  <a:pt x="43194" y="0"/>
                  <a:pt x="96477" y="0"/>
                </a:cubicBezTo>
                <a:close/>
              </a:path>
            </a:pathLst>
          </a:custGeom>
          <a:solidFill>
            <a:srgbClr val="1A1D21">
              <a:alpha val="50196"/>
            </a:srgbClr>
          </a:solidFill>
          <a:ln/>
        </p:spPr>
        <p:txBody>
          <a:bodyPr/>
          <a:lstStyle/>
          <a:p>
            <a:endParaRPr lang="zh-CN" altLang="en-US"/>
          </a:p>
        </p:txBody>
      </p:sp>
      <p:sp>
        <p:nvSpPr>
          <p:cNvPr id="76" name="Text 74"/>
          <p:cNvSpPr/>
          <p:nvPr/>
        </p:nvSpPr>
        <p:spPr>
          <a:xfrm>
            <a:off x="12356780" y="3051015"/>
            <a:ext cx="3195727" cy="241187"/>
          </a:xfrm>
          <a:prstGeom prst="rect">
            <a:avLst/>
          </a:prstGeom>
          <a:noFill/>
          <a:ln/>
        </p:spPr>
        <p:txBody>
          <a:bodyPr wrap="square" lIns="0" tIns="0" rIns="0" bIns="0" rtlCol="0" anchor="ctr"/>
          <a:lstStyle/>
          <a:p>
            <a:pPr>
              <a:lnSpc>
                <a:spcPct val="120000"/>
              </a:lnSpc>
            </a:pPr>
            <a:r>
              <a:rPr lang="en-US" sz="1329" b="1" dirty="0">
                <a:solidFill>
                  <a:srgbClr val="E0E2E4"/>
                </a:solidFill>
                <a:latin typeface="MiSans" pitchFamily="34" charset="0"/>
                <a:ea typeface="MiSans" pitchFamily="34" charset="-122"/>
                <a:cs typeface="MiSans" pitchFamily="34" charset="-120"/>
              </a:rPr>
              <a:t>进程管理</a:t>
            </a:r>
            <a:endParaRPr lang="en-US" sz="1600" dirty="0"/>
          </a:p>
        </p:txBody>
      </p:sp>
      <p:sp>
        <p:nvSpPr>
          <p:cNvPr id="77" name="Text 75"/>
          <p:cNvSpPr/>
          <p:nvPr/>
        </p:nvSpPr>
        <p:spPr>
          <a:xfrm>
            <a:off x="12356780" y="3340439"/>
            <a:ext cx="3183668"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调度器、生命周期、信号、系统调用</a:t>
            </a:r>
            <a:endParaRPr lang="en-US" sz="1600" dirty="0"/>
          </a:p>
        </p:txBody>
      </p:sp>
      <p:sp>
        <p:nvSpPr>
          <p:cNvPr id="78" name="Shape 76"/>
          <p:cNvSpPr/>
          <p:nvPr/>
        </p:nvSpPr>
        <p:spPr>
          <a:xfrm>
            <a:off x="12260305" y="3726338"/>
            <a:ext cx="3304261" cy="675323"/>
          </a:xfrm>
          <a:custGeom>
            <a:avLst/>
            <a:gdLst/>
            <a:ahLst/>
            <a:cxnLst/>
            <a:rect l="l" t="t" r="r" b="b"/>
            <a:pathLst>
              <a:path w="3304261" h="675323">
                <a:moveTo>
                  <a:pt x="96477" y="0"/>
                </a:moveTo>
                <a:lnTo>
                  <a:pt x="3207784" y="0"/>
                </a:lnTo>
                <a:cubicBezTo>
                  <a:pt x="3261067" y="0"/>
                  <a:pt x="3304261" y="43194"/>
                  <a:pt x="3304261" y="96477"/>
                </a:cubicBezTo>
                <a:lnTo>
                  <a:pt x="3304261" y="578847"/>
                </a:lnTo>
                <a:cubicBezTo>
                  <a:pt x="3304261" y="632129"/>
                  <a:pt x="3261067" y="675323"/>
                  <a:pt x="3207784" y="675323"/>
                </a:cubicBezTo>
                <a:lnTo>
                  <a:pt x="96477" y="675323"/>
                </a:lnTo>
                <a:cubicBezTo>
                  <a:pt x="43194" y="675323"/>
                  <a:pt x="0" y="632129"/>
                  <a:pt x="0" y="578847"/>
                </a:cubicBezTo>
                <a:lnTo>
                  <a:pt x="0" y="96477"/>
                </a:lnTo>
                <a:cubicBezTo>
                  <a:pt x="0" y="43194"/>
                  <a:pt x="43194" y="0"/>
                  <a:pt x="96477" y="0"/>
                </a:cubicBezTo>
                <a:close/>
              </a:path>
            </a:pathLst>
          </a:custGeom>
          <a:solidFill>
            <a:srgbClr val="1A1D21">
              <a:alpha val="50196"/>
            </a:srgbClr>
          </a:solidFill>
          <a:ln/>
        </p:spPr>
        <p:txBody>
          <a:bodyPr/>
          <a:lstStyle/>
          <a:p>
            <a:endParaRPr lang="zh-CN" altLang="en-US"/>
          </a:p>
        </p:txBody>
      </p:sp>
      <p:sp>
        <p:nvSpPr>
          <p:cNvPr id="79" name="Text 77"/>
          <p:cNvSpPr/>
          <p:nvPr/>
        </p:nvSpPr>
        <p:spPr>
          <a:xfrm>
            <a:off x="12356780" y="3822813"/>
            <a:ext cx="3195727" cy="241187"/>
          </a:xfrm>
          <a:prstGeom prst="rect">
            <a:avLst/>
          </a:prstGeom>
          <a:noFill/>
          <a:ln/>
        </p:spPr>
        <p:txBody>
          <a:bodyPr wrap="square" lIns="0" tIns="0" rIns="0" bIns="0" rtlCol="0" anchor="ctr"/>
          <a:lstStyle/>
          <a:p>
            <a:pPr>
              <a:lnSpc>
                <a:spcPct val="120000"/>
              </a:lnSpc>
            </a:pPr>
            <a:r>
              <a:rPr lang="en-US" sz="1329" b="1" dirty="0">
                <a:solidFill>
                  <a:srgbClr val="E0E2E4"/>
                </a:solidFill>
                <a:latin typeface="MiSans" pitchFamily="34" charset="0"/>
                <a:ea typeface="MiSans" pitchFamily="34" charset="-122"/>
                <a:cs typeface="MiSans" pitchFamily="34" charset="-120"/>
              </a:rPr>
              <a:t>内存管理</a:t>
            </a:r>
            <a:endParaRPr lang="en-US" sz="1600" dirty="0"/>
          </a:p>
        </p:txBody>
      </p:sp>
      <p:sp>
        <p:nvSpPr>
          <p:cNvPr id="80" name="Text 78"/>
          <p:cNvSpPr/>
          <p:nvPr/>
        </p:nvSpPr>
        <p:spPr>
          <a:xfrm>
            <a:off x="12356780" y="4112237"/>
            <a:ext cx="3183668"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虚拟内存、页面、分配器、回收</a:t>
            </a:r>
            <a:endParaRPr lang="en-US" sz="1600" dirty="0"/>
          </a:p>
        </p:txBody>
      </p:sp>
      <p:sp>
        <p:nvSpPr>
          <p:cNvPr id="81" name="Shape 79"/>
          <p:cNvSpPr/>
          <p:nvPr/>
        </p:nvSpPr>
        <p:spPr>
          <a:xfrm>
            <a:off x="12260305" y="4498136"/>
            <a:ext cx="3304261" cy="675323"/>
          </a:xfrm>
          <a:custGeom>
            <a:avLst/>
            <a:gdLst/>
            <a:ahLst/>
            <a:cxnLst/>
            <a:rect l="l" t="t" r="r" b="b"/>
            <a:pathLst>
              <a:path w="3304261" h="675323">
                <a:moveTo>
                  <a:pt x="96477" y="0"/>
                </a:moveTo>
                <a:lnTo>
                  <a:pt x="3207784" y="0"/>
                </a:lnTo>
                <a:cubicBezTo>
                  <a:pt x="3261067" y="0"/>
                  <a:pt x="3304261" y="43194"/>
                  <a:pt x="3304261" y="96477"/>
                </a:cubicBezTo>
                <a:lnTo>
                  <a:pt x="3304261" y="578847"/>
                </a:lnTo>
                <a:cubicBezTo>
                  <a:pt x="3304261" y="632129"/>
                  <a:pt x="3261067" y="675323"/>
                  <a:pt x="3207784" y="675323"/>
                </a:cubicBezTo>
                <a:lnTo>
                  <a:pt x="96477" y="675323"/>
                </a:lnTo>
                <a:cubicBezTo>
                  <a:pt x="43194" y="675323"/>
                  <a:pt x="0" y="632129"/>
                  <a:pt x="0" y="578847"/>
                </a:cubicBezTo>
                <a:lnTo>
                  <a:pt x="0" y="96477"/>
                </a:lnTo>
                <a:cubicBezTo>
                  <a:pt x="0" y="43194"/>
                  <a:pt x="43194" y="0"/>
                  <a:pt x="96477" y="0"/>
                </a:cubicBezTo>
                <a:close/>
              </a:path>
            </a:pathLst>
          </a:custGeom>
          <a:solidFill>
            <a:srgbClr val="1A1D21">
              <a:alpha val="50196"/>
            </a:srgbClr>
          </a:solidFill>
          <a:ln/>
        </p:spPr>
        <p:txBody>
          <a:bodyPr/>
          <a:lstStyle/>
          <a:p>
            <a:endParaRPr lang="zh-CN" altLang="en-US"/>
          </a:p>
        </p:txBody>
      </p:sp>
      <p:sp>
        <p:nvSpPr>
          <p:cNvPr id="82" name="Text 80"/>
          <p:cNvSpPr/>
          <p:nvPr/>
        </p:nvSpPr>
        <p:spPr>
          <a:xfrm>
            <a:off x="12356780" y="4594611"/>
            <a:ext cx="3195727" cy="241187"/>
          </a:xfrm>
          <a:prstGeom prst="rect">
            <a:avLst/>
          </a:prstGeom>
          <a:noFill/>
          <a:ln/>
        </p:spPr>
        <p:txBody>
          <a:bodyPr wrap="square" lIns="0" tIns="0" rIns="0" bIns="0" rtlCol="0" anchor="ctr"/>
          <a:lstStyle/>
          <a:p>
            <a:pPr>
              <a:lnSpc>
                <a:spcPct val="120000"/>
              </a:lnSpc>
            </a:pPr>
            <a:r>
              <a:rPr lang="en-US" sz="1329" b="1" dirty="0">
                <a:solidFill>
                  <a:srgbClr val="E0E2E4"/>
                </a:solidFill>
                <a:latin typeface="MiSans" pitchFamily="34" charset="0"/>
                <a:ea typeface="MiSans" pitchFamily="34" charset="-122"/>
                <a:cs typeface="MiSans" pitchFamily="34" charset="-120"/>
              </a:rPr>
              <a:t>文件系统</a:t>
            </a:r>
            <a:endParaRPr lang="en-US" sz="1600" dirty="0"/>
          </a:p>
        </p:txBody>
      </p:sp>
      <p:sp>
        <p:nvSpPr>
          <p:cNvPr id="83" name="Text 81"/>
          <p:cNvSpPr/>
          <p:nvPr/>
        </p:nvSpPr>
        <p:spPr>
          <a:xfrm>
            <a:off x="12356780" y="4884036"/>
            <a:ext cx="3183668"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VFS、驱动、块设备、权限</a:t>
            </a:r>
            <a:endParaRPr lang="en-US" sz="1600" dirty="0"/>
          </a:p>
        </p:txBody>
      </p:sp>
      <p:sp>
        <p:nvSpPr>
          <p:cNvPr id="84" name="Shape 82"/>
          <p:cNvSpPr/>
          <p:nvPr/>
        </p:nvSpPr>
        <p:spPr>
          <a:xfrm>
            <a:off x="12260305" y="5269935"/>
            <a:ext cx="3304261" cy="675323"/>
          </a:xfrm>
          <a:custGeom>
            <a:avLst/>
            <a:gdLst/>
            <a:ahLst/>
            <a:cxnLst/>
            <a:rect l="l" t="t" r="r" b="b"/>
            <a:pathLst>
              <a:path w="3304261" h="675323">
                <a:moveTo>
                  <a:pt x="96477" y="0"/>
                </a:moveTo>
                <a:lnTo>
                  <a:pt x="3207784" y="0"/>
                </a:lnTo>
                <a:cubicBezTo>
                  <a:pt x="3261067" y="0"/>
                  <a:pt x="3304261" y="43194"/>
                  <a:pt x="3304261" y="96477"/>
                </a:cubicBezTo>
                <a:lnTo>
                  <a:pt x="3304261" y="578847"/>
                </a:lnTo>
                <a:cubicBezTo>
                  <a:pt x="3304261" y="632129"/>
                  <a:pt x="3261067" y="675323"/>
                  <a:pt x="3207784" y="675323"/>
                </a:cubicBezTo>
                <a:lnTo>
                  <a:pt x="96477" y="675323"/>
                </a:lnTo>
                <a:cubicBezTo>
                  <a:pt x="43194" y="675323"/>
                  <a:pt x="0" y="632129"/>
                  <a:pt x="0" y="578847"/>
                </a:cubicBezTo>
                <a:lnTo>
                  <a:pt x="0" y="96477"/>
                </a:lnTo>
                <a:cubicBezTo>
                  <a:pt x="0" y="43194"/>
                  <a:pt x="43194" y="0"/>
                  <a:pt x="96477" y="0"/>
                </a:cubicBezTo>
                <a:close/>
              </a:path>
            </a:pathLst>
          </a:custGeom>
          <a:solidFill>
            <a:srgbClr val="1A1D21">
              <a:alpha val="50196"/>
            </a:srgbClr>
          </a:solidFill>
          <a:ln/>
        </p:spPr>
        <p:txBody>
          <a:bodyPr/>
          <a:lstStyle/>
          <a:p>
            <a:endParaRPr lang="zh-CN" altLang="en-US"/>
          </a:p>
        </p:txBody>
      </p:sp>
      <p:sp>
        <p:nvSpPr>
          <p:cNvPr id="85" name="Text 83"/>
          <p:cNvSpPr/>
          <p:nvPr/>
        </p:nvSpPr>
        <p:spPr>
          <a:xfrm>
            <a:off x="12356780" y="5366409"/>
            <a:ext cx="3195727" cy="241187"/>
          </a:xfrm>
          <a:prstGeom prst="rect">
            <a:avLst/>
          </a:prstGeom>
          <a:noFill/>
          <a:ln/>
        </p:spPr>
        <p:txBody>
          <a:bodyPr wrap="square" lIns="0" tIns="0" rIns="0" bIns="0" rtlCol="0" anchor="ctr"/>
          <a:lstStyle/>
          <a:p>
            <a:pPr>
              <a:lnSpc>
                <a:spcPct val="120000"/>
              </a:lnSpc>
            </a:pPr>
            <a:r>
              <a:rPr lang="en-US" sz="1329" b="1" dirty="0">
                <a:solidFill>
                  <a:srgbClr val="E0E2E4"/>
                </a:solidFill>
                <a:latin typeface="MiSans" pitchFamily="34" charset="0"/>
                <a:ea typeface="MiSans" pitchFamily="34" charset="-122"/>
                <a:cs typeface="MiSans" pitchFamily="34" charset="-120"/>
              </a:rPr>
              <a:t>网络子系统</a:t>
            </a:r>
            <a:endParaRPr lang="en-US" sz="1600" dirty="0"/>
          </a:p>
        </p:txBody>
      </p:sp>
      <p:sp>
        <p:nvSpPr>
          <p:cNvPr id="86" name="Text 84"/>
          <p:cNvSpPr/>
          <p:nvPr/>
        </p:nvSpPr>
        <p:spPr>
          <a:xfrm>
            <a:off x="12356780" y="5655834"/>
            <a:ext cx="3183668" cy="192950"/>
          </a:xfrm>
          <a:prstGeom prst="rect">
            <a:avLst/>
          </a:prstGeom>
          <a:noFill/>
          <a:ln/>
        </p:spPr>
        <p:txBody>
          <a:bodyPr wrap="square" lIns="0" tIns="0" rIns="0" bIns="0" rtlCol="0" anchor="ctr"/>
          <a:lstStyle/>
          <a:p>
            <a:pPr>
              <a:lnSpc>
                <a:spcPct val="110000"/>
              </a:lnSpc>
            </a:pPr>
            <a:r>
              <a:rPr lang="en-US" sz="1139" dirty="0">
                <a:solidFill>
                  <a:srgbClr val="E0E2E4">
                    <a:alpha val="70000"/>
                  </a:srgbClr>
                </a:solidFill>
                <a:latin typeface="MiSans" pitchFamily="34" charset="0"/>
                <a:ea typeface="MiSans" pitchFamily="34" charset="-122"/>
                <a:cs typeface="MiSans" pitchFamily="34" charset="-120"/>
              </a:rPr>
              <a:t>协议栈、设备驱动、过滤、路由</a:t>
            </a:r>
            <a:endParaRPr lang="en-US" sz="1600" dirty="0"/>
          </a:p>
        </p:txBody>
      </p:sp>
      <p:sp>
        <p:nvSpPr>
          <p:cNvPr id="87" name="Shape 85"/>
          <p:cNvSpPr/>
          <p:nvPr/>
        </p:nvSpPr>
        <p:spPr>
          <a:xfrm>
            <a:off x="13821331" y="7751805"/>
            <a:ext cx="180890" cy="241187"/>
          </a:xfrm>
          <a:custGeom>
            <a:avLst/>
            <a:gdLst/>
            <a:ahLst/>
            <a:cxnLst/>
            <a:rect l="l" t="t" r="r" b="b"/>
            <a:pathLst>
              <a:path w="180890" h="241187">
                <a:moveTo>
                  <a:pt x="79799" y="236759"/>
                </a:moveTo>
                <a:cubicBezTo>
                  <a:pt x="85687" y="242647"/>
                  <a:pt x="95250" y="242647"/>
                  <a:pt x="101138" y="236759"/>
                </a:cubicBezTo>
                <a:lnTo>
                  <a:pt x="176509" y="161388"/>
                </a:lnTo>
                <a:cubicBezTo>
                  <a:pt x="182398" y="155500"/>
                  <a:pt x="182398" y="145937"/>
                  <a:pt x="176509" y="140049"/>
                </a:cubicBezTo>
                <a:cubicBezTo>
                  <a:pt x="170621" y="134160"/>
                  <a:pt x="161058" y="134160"/>
                  <a:pt x="155170" y="140049"/>
                </a:cubicBezTo>
                <a:lnTo>
                  <a:pt x="105519" y="189699"/>
                </a:lnTo>
                <a:lnTo>
                  <a:pt x="105519" y="15074"/>
                </a:lnTo>
                <a:cubicBezTo>
                  <a:pt x="105519" y="6736"/>
                  <a:pt x="98783" y="0"/>
                  <a:pt x="90445" y="0"/>
                </a:cubicBezTo>
                <a:cubicBezTo>
                  <a:pt x="82107" y="0"/>
                  <a:pt x="75371" y="6736"/>
                  <a:pt x="75371" y="15074"/>
                </a:cubicBezTo>
                <a:lnTo>
                  <a:pt x="75371" y="189699"/>
                </a:lnTo>
                <a:lnTo>
                  <a:pt x="25720" y="140049"/>
                </a:lnTo>
                <a:cubicBezTo>
                  <a:pt x="19832" y="134160"/>
                  <a:pt x="10269" y="134160"/>
                  <a:pt x="4381" y="140049"/>
                </a:cubicBezTo>
                <a:cubicBezTo>
                  <a:pt x="-1507" y="145937"/>
                  <a:pt x="-1507" y="155500"/>
                  <a:pt x="4381" y="161388"/>
                </a:cubicBezTo>
                <a:lnTo>
                  <a:pt x="79752" y="236759"/>
                </a:lnTo>
                <a:close/>
              </a:path>
            </a:pathLst>
          </a:custGeom>
          <a:solidFill>
            <a:srgbClr val="3C8082"/>
          </a:solidFill>
          <a:ln/>
        </p:spPr>
        <p:txBody>
          <a:bodyPr/>
          <a:lstStyle/>
          <a:p>
            <a:endParaRPr lang="zh-CN" altLang="en-US"/>
          </a:p>
        </p:txBody>
      </p:sp>
      <p:sp>
        <p:nvSpPr>
          <p:cNvPr id="88" name="Shape 86"/>
          <p:cNvSpPr/>
          <p:nvPr/>
        </p:nvSpPr>
        <p:spPr>
          <a:xfrm>
            <a:off x="482374" y="8034558"/>
            <a:ext cx="15279193" cy="783858"/>
          </a:xfrm>
          <a:custGeom>
            <a:avLst/>
            <a:gdLst/>
            <a:ahLst/>
            <a:cxnLst/>
            <a:rect l="l" t="t" r="r" b="b"/>
            <a:pathLst>
              <a:path w="15279193" h="783858">
                <a:moveTo>
                  <a:pt x="96477" y="0"/>
                </a:moveTo>
                <a:lnTo>
                  <a:pt x="15182716" y="0"/>
                </a:lnTo>
                <a:cubicBezTo>
                  <a:pt x="15235999" y="0"/>
                  <a:pt x="15279193" y="43194"/>
                  <a:pt x="15279193" y="96477"/>
                </a:cubicBezTo>
                <a:lnTo>
                  <a:pt x="15279193" y="687380"/>
                </a:lnTo>
                <a:cubicBezTo>
                  <a:pt x="15279193" y="740663"/>
                  <a:pt x="15235999" y="783858"/>
                  <a:pt x="15182716" y="783858"/>
                </a:cubicBezTo>
                <a:lnTo>
                  <a:pt x="96477" y="783858"/>
                </a:lnTo>
                <a:cubicBezTo>
                  <a:pt x="43194" y="783858"/>
                  <a:pt x="0" y="740663"/>
                  <a:pt x="0" y="687380"/>
                </a:cubicBezTo>
                <a:lnTo>
                  <a:pt x="0" y="96477"/>
                </a:lnTo>
                <a:cubicBezTo>
                  <a:pt x="0" y="43230"/>
                  <a:pt x="43230" y="0"/>
                  <a:pt x="96477"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89" name="Shape 87"/>
          <p:cNvSpPr/>
          <p:nvPr/>
        </p:nvSpPr>
        <p:spPr>
          <a:xfrm>
            <a:off x="633115" y="8305893"/>
            <a:ext cx="241187" cy="241187"/>
          </a:xfrm>
          <a:custGeom>
            <a:avLst/>
            <a:gdLst/>
            <a:ahLst/>
            <a:cxnLst/>
            <a:rect l="l" t="t" r="r" b="b"/>
            <a:pathLst>
              <a:path w="241187" h="241187">
                <a:moveTo>
                  <a:pt x="120593" y="241187"/>
                </a:moveTo>
                <a:cubicBezTo>
                  <a:pt x="187151" y="241187"/>
                  <a:pt x="241187" y="187151"/>
                  <a:pt x="241187" y="120593"/>
                </a:cubicBezTo>
                <a:cubicBezTo>
                  <a:pt x="241187" y="54036"/>
                  <a:pt x="187151" y="0"/>
                  <a:pt x="120593" y="0"/>
                </a:cubicBezTo>
                <a:cubicBezTo>
                  <a:pt x="54036" y="0"/>
                  <a:pt x="0" y="54036"/>
                  <a:pt x="0" y="120593"/>
                </a:cubicBezTo>
                <a:cubicBezTo>
                  <a:pt x="0" y="187151"/>
                  <a:pt x="54036" y="241187"/>
                  <a:pt x="120593" y="241187"/>
                </a:cubicBezTo>
                <a:close/>
                <a:moveTo>
                  <a:pt x="105519" y="75371"/>
                </a:moveTo>
                <a:cubicBezTo>
                  <a:pt x="105519" y="67051"/>
                  <a:pt x="112274" y="60297"/>
                  <a:pt x="120593" y="60297"/>
                </a:cubicBezTo>
                <a:cubicBezTo>
                  <a:pt x="128913" y="60297"/>
                  <a:pt x="135668" y="67051"/>
                  <a:pt x="135668" y="75371"/>
                </a:cubicBezTo>
                <a:cubicBezTo>
                  <a:pt x="135668" y="83691"/>
                  <a:pt x="128913" y="90445"/>
                  <a:pt x="120593" y="90445"/>
                </a:cubicBezTo>
                <a:cubicBezTo>
                  <a:pt x="112274" y="90445"/>
                  <a:pt x="105519" y="83691"/>
                  <a:pt x="105519" y="75371"/>
                </a:cubicBezTo>
                <a:close/>
                <a:moveTo>
                  <a:pt x="101751" y="105519"/>
                </a:moveTo>
                <a:lnTo>
                  <a:pt x="124362" y="105519"/>
                </a:lnTo>
                <a:cubicBezTo>
                  <a:pt x="130627" y="105519"/>
                  <a:pt x="135668" y="110560"/>
                  <a:pt x="135668" y="116825"/>
                </a:cubicBezTo>
                <a:lnTo>
                  <a:pt x="135668" y="158279"/>
                </a:lnTo>
                <a:lnTo>
                  <a:pt x="139436" y="158279"/>
                </a:lnTo>
                <a:cubicBezTo>
                  <a:pt x="145701" y="158279"/>
                  <a:pt x="150742" y="163319"/>
                  <a:pt x="150742" y="169585"/>
                </a:cubicBezTo>
                <a:cubicBezTo>
                  <a:pt x="150742" y="175850"/>
                  <a:pt x="145701" y="180890"/>
                  <a:pt x="139436" y="180890"/>
                </a:cubicBezTo>
                <a:lnTo>
                  <a:pt x="101751" y="180890"/>
                </a:lnTo>
                <a:cubicBezTo>
                  <a:pt x="95486" y="180890"/>
                  <a:pt x="90445" y="175850"/>
                  <a:pt x="90445" y="169585"/>
                </a:cubicBezTo>
                <a:cubicBezTo>
                  <a:pt x="90445" y="163319"/>
                  <a:pt x="95486" y="158279"/>
                  <a:pt x="101751" y="158279"/>
                </a:cubicBezTo>
                <a:lnTo>
                  <a:pt x="113056" y="158279"/>
                </a:lnTo>
                <a:lnTo>
                  <a:pt x="113056" y="128131"/>
                </a:lnTo>
                <a:lnTo>
                  <a:pt x="101751" y="128131"/>
                </a:lnTo>
                <a:cubicBezTo>
                  <a:pt x="95486" y="128131"/>
                  <a:pt x="90445" y="123090"/>
                  <a:pt x="90445" y="116825"/>
                </a:cubicBezTo>
                <a:cubicBezTo>
                  <a:pt x="90445" y="110560"/>
                  <a:pt x="95486" y="105519"/>
                  <a:pt x="101751" y="105519"/>
                </a:cubicBezTo>
                <a:close/>
              </a:path>
            </a:pathLst>
          </a:custGeom>
          <a:solidFill>
            <a:srgbClr val="B38B59"/>
          </a:solidFill>
          <a:ln/>
        </p:spPr>
        <p:txBody>
          <a:bodyPr/>
          <a:lstStyle/>
          <a:p>
            <a:endParaRPr lang="zh-CN" altLang="en-US"/>
          </a:p>
        </p:txBody>
      </p:sp>
      <p:sp>
        <p:nvSpPr>
          <p:cNvPr id="90" name="Text 88"/>
          <p:cNvSpPr/>
          <p:nvPr/>
        </p:nvSpPr>
        <p:spPr>
          <a:xfrm>
            <a:off x="1019015" y="8185300"/>
            <a:ext cx="14688285" cy="482374"/>
          </a:xfrm>
          <a:prstGeom prst="rect">
            <a:avLst/>
          </a:prstGeom>
          <a:noFill/>
          <a:ln/>
        </p:spPr>
        <p:txBody>
          <a:bodyPr wrap="square" lIns="0" tIns="0" rIns="0" bIns="0" rtlCol="0" anchor="ctr"/>
          <a:lstStyle/>
          <a:p>
            <a:pPr>
              <a:lnSpc>
                <a:spcPct val="100000"/>
              </a:lnSpc>
            </a:pPr>
            <a:r>
              <a:rPr lang="en-US" sz="1519" b="1" dirty="0">
                <a:solidFill>
                  <a:srgbClr val="B38B59"/>
                </a:solidFill>
                <a:latin typeface="MiSans" pitchFamily="34" charset="0"/>
                <a:ea typeface="MiSans" pitchFamily="34" charset="-122"/>
                <a:cs typeface="MiSans" pitchFamily="34" charset="-120"/>
              </a:rPr>
              <a:t>架构设计价值:</a:t>
            </a:r>
            <a:r>
              <a:rPr lang="en-US" sz="1519" dirty="0">
                <a:solidFill>
                  <a:srgbClr val="E0E2E4"/>
                </a:solidFill>
                <a:latin typeface="MiSans" pitchFamily="34" charset="0"/>
                <a:ea typeface="MiSans" pitchFamily="34" charset="-122"/>
                <a:cs typeface="MiSans" pitchFamily="34" charset="-120"/>
              </a:rPr>
              <a:t> 这种分层设计为YARN和Kubernetes提供了统一的隔离技术基础,使得上层容器编排系统能够通过标准化的内核接口实现资源隔离和管理。Namespaces提供资源视图隔离,CGroups负责资源使用控制,Security Modules确保访问安全,三者组合构建出完整的多层次隔离体系。</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465667"/>
            <a:ext cx="338667" cy="338667"/>
          </a:xfrm>
          <a:custGeom>
            <a:avLst/>
            <a:gdLst/>
            <a:ahLst/>
            <a:cxnLst/>
            <a:rect l="l" t="t" r="r" b="b"/>
            <a:pathLst>
              <a:path w="338667" h="338667">
                <a:moveTo>
                  <a:pt x="63500" y="0"/>
                </a:moveTo>
                <a:lnTo>
                  <a:pt x="275167" y="0"/>
                </a:lnTo>
                <a:cubicBezTo>
                  <a:pt x="310213" y="0"/>
                  <a:pt x="338667" y="28453"/>
                  <a:pt x="338667" y="63500"/>
                </a:cubicBezTo>
                <a:lnTo>
                  <a:pt x="338667" y="275167"/>
                </a:lnTo>
                <a:cubicBezTo>
                  <a:pt x="338667" y="310213"/>
                  <a:pt x="310213" y="338667"/>
                  <a:pt x="275167" y="338667"/>
                </a:cubicBezTo>
                <a:lnTo>
                  <a:pt x="63500" y="338667"/>
                </a:lnTo>
                <a:cubicBezTo>
                  <a:pt x="28453" y="338667"/>
                  <a:pt x="0" y="310213"/>
                  <a:pt x="0" y="275167"/>
                </a:cubicBezTo>
                <a:lnTo>
                  <a:pt x="0" y="63500"/>
                </a:lnTo>
                <a:cubicBezTo>
                  <a:pt x="0" y="28453"/>
                  <a:pt x="28453" y="0"/>
                  <a:pt x="63500" y="0"/>
                </a:cubicBezTo>
                <a:close/>
              </a:path>
            </a:pathLst>
          </a:custGeom>
          <a:solidFill>
            <a:srgbClr val="3C8082"/>
          </a:solidFill>
          <a:ln/>
        </p:spPr>
        <p:txBody>
          <a:bodyPr/>
          <a:lstStyle/>
          <a:p>
            <a:endParaRPr lang="zh-CN" altLang="en-US"/>
          </a:p>
        </p:txBody>
      </p:sp>
      <p:sp>
        <p:nvSpPr>
          <p:cNvPr id="3" name="Text 1"/>
          <p:cNvSpPr/>
          <p:nvPr/>
        </p:nvSpPr>
        <p:spPr>
          <a:xfrm>
            <a:off x="381000" y="465667"/>
            <a:ext cx="423333" cy="338667"/>
          </a:xfrm>
          <a:prstGeom prst="rect">
            <a:avLst/>
          </a:prstGeom>
          <a:noFill/>
          <a:ln/>
        </p:spPr>
        <p:txBody>
          <a:bodyPr wrap="square" lIns="0" tIns="0" rIns="0" bIns="0" rtlCol="0" anchor="ctr"/>
          <a:lstStyle/>
          <a:p>
            <a:pPr algn="ctr">
              <a:lnSpc>
                <a:spcPct val="130000"/>
              </a:lnSpc>
            </a:pPr>
            <a:r>
              <a:rPr lang="en-US" sz="1333" b="1" dirty="0">
                <a:solidFill>
                  <a:srgbClr val="FFFFFF"/>
                </a:solidFill>
                <a:latin typeface="Liter" pitchFamily="34" charset="0"/>
                <a:ea typeface="Liter" pitchFamily="34" charset="-122"/>
                <a:cs typeface="Liter" pitchFamily="34" charset="-120"/>
              </a:rPr>
              <a:t>05</a:t>
            </a:r>
            <a:endParaRPr lang="en-US" sz="1600" dirty="0"/>
          </a:p>
        </p:txBody>
      </p:sp>
      <p:sp>
        <p:nvSpPr>
          <p:cNvPr id="4" name="Text 2"/>
          <p:cNvSpPr/>
          <p:nvPr/>
        </p:nvSpPr>
        <p:spPr>
          <a:xfrm>
            <a:off x="889000" y="423333"/>
            <a:ext cx="5842000" cy="423333"/>
          </a:xfrm>
          <a:prstGeom prst="rect">
            <a:avLst/>
          </a:prstGeom>
          <a:noFill/>
          <a:ln/>
        </p:spPr>
        <p:txBody>
          <a:bodyPr wrap="square" lIns="0" tIns="0" rIns="0" bIns="0" rtlCol="0" anchor="ctr"/>
          <a:lstStyle/>
          <a:p>
            <a:pPr>
              <a:lnSpc>
                <a:spcPct val="90000"/>
              </a:lnSpc>
            </a:pPr>
            <a:r>
              <a:rPr lang="en-US" sz="3000" b="1" dirty="0">
                <a:solidFill>
                  <a:srgbClr val="E0E2E4"/>
                </a:solidFill>
                <a:latin typeface="MiSans" pitchFamily="34" charset="0"/>
                <a:ea typeface="MiSans" pitchFamily="34" charset="-122"/>
                <a:cs typeface="MiSans" pitchFamily="34" charset="-120"/>
              </a:rPr>
              <a:t>Linux Namespaces:资源视图隔离</a:t>
            </a:r>
            <a:endParaRPr lang="en-US" sz="1600" dirty="0"/>
          </a:p>
        </p:txBody>
      </p:sp>
      <p:sp>
        <p:nvSpPr>
          <p:cNvPr id="5" name="Text 3"/>
          <p:cNvSpPr/>
          <p:nvPr/>
        </p:nvSpPr>
        <p:spPr>
          <a:xfrm>
            <a:off x="6777864" y="476250"/>
            <a:ext cx="4634442" cy="338667"/>
          </a:xfrm>
          <a:prstGeom prst="rect">
            <a:avLst/>
          </a:prstGeom>
          <a:noFill/>
          <a:ln/>
        </p:spPr>
        <p:txBody>
          <a:bodyPr wrap="square" lIns="0" tIns="0" rIns="0" bIns="0" rtlCol="0" anchor="ctr"/>
          <a:lstStyle/>
          <a:p>
            <a:pPr>
              <a:lnSpc>
                <a:spcPct val="130000"/>
              </a:lnSpc>
            </a:pPr>
            <a:r>
              <a:rPr lang="en-US" sz="1500" b="1" dirty="0">
                <a:solidFill>
                  <a:srgbClr val="B38B59"/>
                </a:solidFill>
                <a:latin typeface="MiSans" pitchFamily="34" charset="0"/>
                <a:ea typeface="MiSans" pitchFamily="34" charset="-122"/>
                <a:cs typeface="MiSans" pitchFamily="34" charset="-120"/>
              </a:rPr>
              <a:t>六种主要Namespace类型的深度解析与应用场景</a:t>
            </a:r>
            <a:endParaRPr lang="en-US" sz="1600" dirty="0"/>
          </a:p>
        </p:txBody>
      </p:sp>
      <p:sp>
        <p:nvSpPr>
          <p:cNvPr id="6" name="Shape 4"/>
          <p:cNvSpPr/>
          <p:nvPr/>
        </p:nvSpPr>
        <p:spPr>
          <a:xfrm>
            <a:off x="428625" y="873651"/>
            <a:ext cx="5016500" cy="3812139"/>
          </a:xfrm>
          <a:custGeom>
            <a:avLst/>
            <a:gdLst/>
            <a:ahLst/>
            <a:cxnLst/>
            <a:rect l="l" t="t" r="r" b="b"/>
            <a:pathLst>
              <a:path w="5016500" h="4910667">
                <a:moveTo>
                  <a:pt x="84660" y="0"/>
                </a:moveTo>
                <a:lnTo>
                  <a:pt x="4931840" y="0"/>
                </a:lnTo>
                <a:cubicBezTo>
                  <a:pt x="4978596" y="0"/>
                  <a:pt x="5016500" y="37904"/>
                  <a:pt x="5016500" y="84660"/>
                </a:cubicBezTo>
                <a:lnTo>
                  <a:pt x="5016500" y="4826007"/>
                </a:lnTo>
                <a:cubicBezTo>
                  <a:pt x="5016500" y="4872763"/>
                  <a:pt x="4978596" y="4910667"/>
                  <a:pt x="4931840" y="4910667"/>
                </a:cubicBezTo>
                <a:lnTo>
                  <a:pt x="84660" y="4910667"/>
                </a:lnTo>
                <a:cubicBezTo>
                  <a:pt x="37904" y="4910667"/>
                  <a:pt x="0" y="4872763"/>
                  <a:pt x="0" y="4826007"/>
                </a:cubicBezTo>
                <a:lnTo>
                  <a:pt x="0" y="84660"/>
                </a:lnTo>
                <a:cubicBezTo>
                  <a:pt x="0" y="37904"/>
                  <a:pt x="37904" y="0"/>
                  <a:pt x="84660"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03250" y="1048275"/>
            <a:ext cx="423333" cy="423333"/>
          </a:xfrm>
          <a:custGeom>
            <a:avLst/>
            <a:gdLst/>
            <a:ahLst/>
            <a:cxnLst/>
            <a:rect l="l" t="t" r="r" b="b"/>
            <a:pathLst>
              <a:path w="423333" h="423333">
                <a:moveTo>
                  <a:pt x="84667" y="0"/>
                </a:moveTo>
                <a:lnTo>
                  <a:pt x="338667" y="0"/>
                </a:lnTo>
                <a:cubicBezTo>
                  <a:pt x="385427" y="0"/>
                  <a:pt x="423333" y="37907"/>
                  <a:pt x="423333" y="84667"/>
                </a:cubicBezTo>
                <a:lnTo>
                  <a:pt x="423333" y="338667"/>
                </a:lnTo>
                <a:cubicBezTo>
                  <a:pt x="423333" y="385427"/>
                  <a:pt x="385427" y="423333"/>
                  <a:pt x="338667" y="423333"/>
                </a:cubicBezTo>
                <a:lnTo>
                  <a:pt x="84667" y="423333"/>
                </a:lnTo>
                <a:cubicBezTo>
                  <a:pt x="37907" y="423333"/>
                  <a:pt x="0" y="385427"/>
                  <a:pt x="0" y="338667"/>
                </a:cubicBezTo>
                <a:lnTo>
                  <a:pt x="0" y="84667"/>
                </a:lnTo>
                <a:cubicBezTo>
                  <a:pt x="0" y="37907"/>
                  <a:pt x="37907" y="0"/>
                  <a:pt x="84667" y="0"/>
                </a:cubicBezTo>
                <a:close/>
              </a:path>
            </a:pathLst>
          </a:custGeom>
          <a:solidFill>
            <a:srgbClr val="3C8082"/>
          </a:solidFill>
          <a:ln/>
        </p:spPr>
        <p:txBody>
          <a:bodyPr/>
          <a:lstStyle/>
          <a:p>
            <a:endParaRPr lang="zh-CN" altLang="en-US"/>
          </a:p>
        </p:txBody>
      </p:sp>
      <p:sp>
        <p:nvSpPr>
          <p:cNvPr id="8" name="Shape 6"/>
          <p:cNvSpPr/>
          <p:nvPr/>
        </p:nvSpPr>
        <p:spPr>
          <a:xfrm>
            <a:off x="730250" y="1175275"/>
            <a:ext cx="169333" cy="169333"/>
          </a:xfrm>
          <a:custGeom>
            <a:avLst/>
            <a:gdLst/>
            <a:ahLst/>
            <a:cxnLst/>
            <a:rect l="l" t="t" r="r" b="b"/>
            <a:pathLst>
              <a:path w="169333" h="169333">
                <a:moveTo>
                  <a:pt x="71008" y="232"/>
                </a:moveTo>
                <a:cubicBezTo>
                  <a:pt x="76729" y="1455"/>
                  <a:pt x="80367" y="7078"/>
                  <a:pt x="79143" y="12799"/>
                </a:cubicBezTo>
                <a:lnTo>
                  <a:pt x="72827" y="42333"/>
                </a:lnTo>
                <a:lnTo>
                  <a:pt x="114664" y="42333"/>
                </a:lnTo>
                <a:lnTo>
                  <a:pt x="121940" y="8367"/>
                </a:lnTo>
                <a:cubicBezTo>
                  <a:pt x="123164" y="2646"/>
                  <a:pt x="128786" y="-992"/>
                  <a:pt x="134508" y="232"/>
                </a:cubicBezTo>
                <a:cubicBezTo>
                  <a:pt x="140229" y="1455"/>
                  <a:pt x="143867" y="7078"/>
                  <a:pt x="142643" y="12799"/>
                </a:cubicBezTo>
                <a:lnTo>
                  <a:pt x="136327" y="42333"/>
                </a:lnTo>
                <a:lnTo>
                  <a:pt x="158750" y="42333"/>
                </a:lnTo>
                <a:cubicBezTo>
                  <a:pt x="164604" y="42333"/>
                  <a:pt x="169333" y="47063"/>
                  <a:pt x="169333" y="52917"/>
                </a:cubicBezTo>
                <a:cubicBezTo>
                  <a:pt x="169333" y="58771"/>
                  <a:pt x="164604" y="63500"/>
                  <a:pt x="158750" y="63500"/>
                </a:cubicBezTo>
                <a:lnTo>
                  <a:pt x="131763" y="63500"/>
                </a:lnTo>
                <a:lnTo>
                  <a:pt x="122701" y="105833"/>
                </a:lnTo>
                <a:lnTo>
                  <a:pt x="145124" y="105833"/>
                </a:lnTo>
                <a:cubicBezTo>
                  <a:pt x="150978" y="105833"/>
                  <a:pt x="155707" y="110563"/>
                  <a:pt x="155707" y="116417"/>
                </a:cubicBezTo>
                <a:cubicBezTo>
                  <a:pt x="155707" y="122271"/>
                  <a:pt x="150978" y="127000"/>
                  <a:pt x="145124" y="127000"/>
                </a:cubicBezTo>
                <a:lnTo>
                  <a:pt x="118136" y="127000"/>
                </a:lnTo>
                <a:lnTo>
                  <a:pt x="110860" y="160966"/>
                </a:lnTo>
                <a:cubicBezTo>
                  <a:pt x="109637" y="166688"/>
                  <a:pt x="104014" y="170326"/>
                  <a:pt x="98293" y="169102"/>
                </a:cubicBezTo>
                <a:cubicBezTo>
                  <a:pt x="92571" y="167878"/>
                  <a:pt x="88933" y="162256"/>
                  <a:pt x="90157" y="156534"/>
                </a:cubicBezTo>
                <a:lnTo>
                  <a:pt x="96474" y="127000"/>
                </a:lnTo>
                <a:lnTo>
                  <a:pt x="54636" y="127000"/>
                </a:lnTo>
                <a:lnTo>
                  <a:pt x="47360" y="160966"/>
                </a:lnTo>
                <a:cubicBezTo>
                  <a:pt x="46137" y="166688"/>
                  <a:pt x="40514" y="170326"/>
                  <a:pt x="34793" y="169102"/>
                </a:cubicBezTo>
                <a:cubicBezTo>
                  <a:pt x="29071" y="167878"/>
                  <a:pt x="25433" y="162256"/>
                  <a:pt x="26657" y="156534"/>
                </a:cubicBezTo>
                <a:lnTo>
                  <a:pt x="33007" y="127000"/>
                </a:lnTo>
                <a:lnTo>
                  <a:pt x="10583" y="127000"/>
                </a:lnTo>
                <a:cubicBezTo>
                  <a:pt x="4729" y="127000"/>
                  <a:pt x="0" y="122271"/>
                  <a:pt x="0" y="116417"/>
                </a:cubicBezTo>
                <a:cubicBezTo>
                  <a:pt x="0" y="110563"/>
                  <a:pt x="4729" y="105833"/>
                  <a:pt x="10583" y="105833"/>
                </a:cubicBezTo>
                <a:lnTo>
                  <a:pt x="37571" y="105833"/>
                </a:lnTo>
                <a:lnTo>
                  <a:pt x="46633" y="63500"/>
                </a:lnTo>
                <a:lnTo>
                  <a:pt x="24209" y="63500"/>
                </a:lnTo>
                <a:cubicBezTo>
                  <a:pt x="18355" y="63500"/>
                  <a:pt x="13626" y="58771"/>
                  <a:pt x="13626" y="52917"/>
                </a:cubicBezTo>
                <a:cubicBezTo>
                  <a:pt x="13626" y="47063"/>
                  <a:pt x="18355" y="42333"/>
                  <a:pt x="24209" y="42333"/>
                </a:cubicBezTo>
                <a:lnTo>
                  <a:pt x="51197" y="42333"/>
                </a:lnTo>
                <a:lnTo>
                  <a:pt x="58473" y="8367"/>
                </a:lnTo>
                <a:cubicBezTo>
                  <a:pt x="59664" y="2646"/>
                  <a:pt x="65286" y="-992"/>
                  <a:pt x="71008" y="232"/>
                </a:cubicBezTo>
                <a:close/>
                <a:moveTo>
                  <a:pt x="68263" y="63500"/>
                </a:moveTo>
                <a:lnTo>
                  <a:pt x="59201" y="105833"/>
                </a:lnTo>
                <a:lnTo>
                  <a:pt x="101038" y="105833"/>
                </a:lnTo>
                <a:lnTo>
                  <a:pt x="110100" y="63500"/>
                </a:lnTo>
                <a:lnTo>
                  <a:pt x="68263" y="63500"/>
                </a:lnTo>
                <a:close/>
              </a:path>
            </a:pathLst>
          </a:custGeom>
          <a:solidFill>
            <a:srgbClr val="FFFFFF"/>
          </a:solidFill>
          <a:ln/>
        </p:spPr>
        <p:txBody>
          <a:bodyPr/>
          <a:lstStyle/>
          <a:p>
            <a:endParaRPr lang="zh-CN" altLang="en-US"/>
          </a:p>
        </p:txBody>
      </p:sp>
      <p:sp>
        <p:nvSpPr>
          <p:cNvPr id="9" name="Text 7"/>
          <p:cNvSpPr/>
          <p:nvPr/>
        </p:nvSpPr>
        <p:spPr>
          <a:xfrm>
            <a:off x="1111250" y="1111775"/>
            <a:ext cx="1651000"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PID Namespace</a:t>
            </a:r>
            <a:endParaRPr lang="en-US" sz="1600" dirty="0"/>
          </a:p>
        </p:txBody>
      </p:sp>
      <p:sp>
        <p:nvSpPr>
          <p:cNvPr id="10" name="Shape 8"/>
          <p:cNvSpPr/>
          <p:nvPr/>
        </p:nvSpPr>
        <p:spPr>
          <a:xfrm>
            <a:off x="603250" y="1598608"/>
            <a:ext cx="4667250" cy="762000"/>
          </a:xfrm>
          <a:custGeom>
            <a:avLst/>
            <a:gdLst/>
            <a:ahLst/>
            <a:cxnLst/>
            <a:rect l="l" t="t" r="r" b="b"/>
            <a:pathLst>
              <a:path w="4667250" h="762000">
                <a:moveTo>
                  <a:pt x="84666" y="0"/>
                </a:moveTo>
                <a:lnTo>
                  <a:pt x="4582584" y="0"/>
                </a:lnTo>
                <a:cubicBezTo>
                  <a:pt x="4629344" y="0"/>
                  <a:pt x="4667250" y="37906"/>
                  <a:pt x="4667250" y="84666"/>
                </a:cubicBezTo>
                <a:lnTo>
                  <a:pt x="4667250" y="677334"/>
                </a:lnTo>
                <a:cubicBezTo>
                  <a:pt x="4667250" y="724094"/>
                  <a:pt x="4629344" y="762000"/>
                  <a:pt x="4582584" y="762000"/>
                </a:cubicBezTo>
                <a:lnTo>
                  <a:pt x="84666" y="762000"/>
                </a:lnTo>
                <a:cubicBezTo>
                  <a:pt x="37906" y="762000"/>
                  <a:pt x="0" y="724094"/>
                  <a:pt x="0" y="677334"/>
                </a:cubicBezTo>
                <a:lnTo>
                  <a:pt x="0" y="84666"/>
                </a:lnTo>
                <a:cubicBezTo>
                  <a:pt x="0" y="37937"/>
                  <a:pt x="37937" y="0"/>
                  <a:pt x="84666" y="0"/>
                </a:cubicBezTo>
                <a:close/>
              </a:path>
            </a:pathLst>
          </a:custGeom>
          <a:solidFill>
            <a:srgbClr val="1A1D21">
              <a:alpha val="50196"/>
            </a:srgbClr>
          </a:solidFill>
          <a:ln/>
        </p:spPr>
        <p:txBody>
          <a:bodyPr/>
          <a:lstStyle/>
          <a:p>
            <a:endParaRPr lang="zh-CN" altLang="en-US"/>
          </a:p>
        </p:txBody>
      </p:sp>
      <p:sp>
        <p:nvSpPr>
          <p:cNvPr id="11" name="Text 9"/>
          <p:cNvSpPr/>
          <p:nvPr/>
        </p:nvSpPr>
        <p:spPr>
          <a:xfrm>
            <a:off x="730250" y="1725608"/>
            <a:ext cx="4497917" cy="254000"/>
          </a:xfrm>
          <a:prstGeom prst="rect">
            <a:avLst/>
          </a:prstGeom>
          <a:noFill/>
          <a:ln/>
        </p:spPr>
        <p:txBody>
          <a:bodyPr wrap="square" lIns="0" tIns="0" rIns="0" bIns="0" rtlCol="0" anchor="ctr"/>
          <a:lstStyle/>
          <a:p>
            <a:pPr>
              <a:lnSpc>
                <a:spcPct val="130000"/>
              </a:lnSpc>
            </a:pPr>
            <a:r>
              <a:rPr lang="en-US" sz="1333" b="1" dirty="0">
                <a:solidFill>
                  <a:srgbClr val="B38B59"/>
                </a:solidFill>
                <a:latin typeface="MiSans" pitchFamily="34" charset="0"/>
                <a:ea typeface="MiSans" pitchFamily="34" charset="-122"/>
                <a:cs typeface="MiSans" pitchFamily="34" charset="-120"/>
              </a:rPr>
              <a:t>隔离资源</a:t>
            </a:r>
            <a:endParaRPr lang="en-US" sz="1600" dirty="0"/>
          </a:p>
        </p:txBody>
      </p:sp>
      <p:sp>
        <p:nvSpPr>
          <p:cNvPr id="12" name="Text 10"/>
          <p:cNvSpPr/>
          <p:nvPr/>
        </p:nvSpPr>
        <p:spPr>
          <a:xfrm>
            <a:off x="730250" y="2021941"/>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进程ID空间,每个PID Namespace都有独立的进程ID编号</a:t>
            </a:r>
            <a:endParaRPr lang="en-US" sz="1600" dirty="0"/>
          </a:p>
        </p:txBody>
      </p:sp>
      <p:sp>
        <p:nvSpPr>
          <p:cNvPr id="13" name="Shape 11"/>
          <p:cNvSpPr/>
          <p:nvPr/>
        </p:nvSpPr>
        <p:spPr>
          <a:xfrm>
            <a:off x="603250" y="2445275"/>
            <a:ext cx="4667250" cy="1270000"/>
          </a:xfrm>
          <a:custGeom>
            <a:avLst/>
            <a:gdLst/>
            <a:ahLst/>
            <a:cxnLst/>
            <a:rect l="l" t="t" r="r" b="b"/>
            <a:pathLst>
              <a:path w="4667250" h="1270000">
                <a:moveTo>
                  <a:pt x="84671" y="0"/>
                </a:moveTo>
                <a:lnTo>
                  <a:pt x="4582579" y="0"/>
                </a:lnTo>
                <a:cubicBezTo>
                  <a:pt x="4629342" y="0"/>
                  <a:pt x="4667250" y="37908"/>
                  <a:pt x="4667250" y="84671"/>
                </a:cubicBezTo>
                <a:lnTo>
                  <a:pt x="4667250" y="1185329"/>
                </a:lnTo>
                <a:cubicBezTo>
                  <a:pt x="4667250" y="1232092"/>
                  <a:pt x="4629342" y="1270000"/>
                  <a:pt x="4582579" y="1270000"/>
                </a:cubicBezTo>
                <a:lnTo>
                  <a:pt x="84671" y="1270000"/>
                </a:lnTo>
                <a:cubicBezTo>
                  <a:pt x="37908" y="1270000"/>
                  <a:pt x="0" y="1232092"/>
                  <a:pt x="0" y="1185329"/>
                </a:cubicBezTo>
                <a:lnTo>
                  <a:pt x="0" y="84671"/>
                </a:lnTo>
                <a:cubicBezTo>
                  <a:pt x="0" y="37940"/>
                  <a:pt x="37940" y="0"/>
                  <a:pt x="84671" y="0"/>
                </a:cubicBezTo>
                <a:close/>
              </a:path>
            </a:pathLst>
          </a:custGeom>
          <a:solidFill>
            <a:srgbClr val="1A1D21">
              <a:alpha val="50196"/>
            </a:srgbClr>
          </a:solidFill>
          <a:ln/>
        </p:spPr>
        <p:txBody>
          <a:bodyPr/>
          <a:lstStyle/>
          <a:p>
            <a:endParaRPr lang="zh-CN" altLang="en-US"/>
          </a:p>
        </p:txBody>
      </p:sp>
      <p:sp>
        <p:nvSpPr>
          <p:cNvPr id="14" name="Text 12"/>
          <p:cNvSpPr/>
          <p:nvPr/>
        </p:nvSpPr>
        <p:spPr>
          <a:xfrm>
            <a:off x="730250" y="2572275"/>
            <a:ext cx="4497917" cy="254000"/>
          </a:xfrm>
          <a:prstGeom prst="rect">
            <a:avLst/>
          </a:prstGeom>
          <a:noFill/>
          <a:ln/>
        </p:spPr>
        <p:txBody>
          <a:bodyPr wrap="square" lIns="0" tIns="0" rIns="0" bIns="0" rtlCol="0" anchor="ctr"/>
          <a:lstStyle/>
          <a:p>
            <a:pPr>
              <a:lnSpc>
                <a:spcPct val="130000"/>
              </a:lnSpc>
            </a:pPr>
            <a:r>
              <a:rPr lang="en-US" sz="1333" b="1" dirty="0">
                <a:solidFill>
                  <a:srgbClr val="B38B59"/>
                </a:solidFill>
                <a:latin typeface="MiSans" pitchFamily="34" charset="0"/>
                <a:ea typeface="MiSans" pitchFamily="34" charset="-122"/>
                <a:cs typeface="MiSans" pitchFamily="34" charset="-120"/>
              </a:rPr>
              <a:t>核心特性</a:t>
            </a:r>
            <a:endParaRPr lang="en-US" sz="1600" dirty="0"/>
          </a:p>
        </p:txBody>
      </p:sp>
      <p:sp>
        <p:nvSpPr>
          <p:cNvPr id="15" name="Text 13"/>
          <p:cNvSpPr/>
          <p:nvPr/>
        </p:nvSpPr>
        <p:spPr>
          <a:xfrm>
            <a:off x="730250" y="2868608"/>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拥有自己的init进程(PID 1)</a:t>
            </a:r>
            <a:endParaRPr lang="en-US" sz="1600" dirty="0"/>
          </a:p>
        </p:txBody>
      </p:sp>
      <p:sp>
        <p:nvSpPr>
          <p:cNvPr id="16" name="Text 14"/>
          <p:cNvSpPr/>
          <p:nvPr/>
        </p:nvSpPr>
        <p:spPr>
          <a:xfrm>
            <a:off x="730250" y="3122608"/>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不同namespace中进程可以有相同PID</a:t>
            </a:r>
            <a:endParaRPr lang="en-US" sz="1600" dirty="0"/>
          </a:p>
        </p:txBody>
      </p:sp>
      <p:sp>
        <p:nvSpPr>
          <p:cNvPr id="17" name="Text 15"/>
          <p:cNvSpPr/>
          <p:nvPr/>
        </p:nvSpPr>
        <p:spPr>
          <a:xfrm>
            <a:off x="730250" y="3376608"/>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父namespace可以看到子namespace进程</a:t>
            </a:r>
            <a:endParaRPr lang="en-US" sz="1600" dirty="0"/>
          </a:p>
        </p:txBody>
      </p:sp>
      <p:sp>
        <p:nvSpPr>
          <p:cNvPr id="18" name="Shape 16"/>
          <p:cNvSpPr/>
          <p:nvPr/>
        </p:nvSpPr>
        <p:spPr>
          <a:xfrm>
            <a:off x="603250" y="3799942"/>
            <a:ext cx="4667250" cy="762000"/>
          </a:xfrm>
          <a:custGeom>
            <a:avLst/>
            <a:gdLst/>
            <a:ahLst/>
            <a:cxnLst/>
            <a:rect l="l" t="t" r="r" b="b"/>
            <a:pathLst>
              <a:path w="4667250" h="973667">
                <a:moveTo>
                  <a:pt x="84670" y="0"/>
                </a:moveTo>
                <a:lnTo>
                  <a:pt x="4582580" y="0"/>
                </a:lnTo>
                <a:cubicBezTo>
                  <a:pt x="4629342" y="0"/>
                  <a:pt x="4667250" y="37908"/>
                  <a:pt x="4667250" y="84670"/>
                </a:cubicBezTo>
                <a:lnTo>
                  <a:pt x="4667250" y="888997"/>
                </a:lnTo>
                <a:cubicBezTo>
                  <a:pt x="4667250" y="935759"/>
                  <a:pt x="4629342" y="973667"/>
                  <a:pt x="4582580" y="973667"/>
                </a:cubicBezTo>
                <a:lnTo>
                  <a:pt x="84670" y="973667"/>
                </a:lnTo>
                <a:cubicBezTo>
                  <a:pt x="37908" y="973667"/>
                  <a:pt x="0" y="935759"/>
                  <a:pt x="0" y="888997"/>
                </a:cubicBezTo>
                <a:lnTo>
                  <a:pt x="0" y="84670"/>
                </a:lnTo>
                <a:cubicBezTo>
                  <a:pt x="0" y="37939"/>
                  <a:pt x="37939" y="0"/>
                  <a:pt x="84670" y="0"/>
                </a:cubicBezTo>
                <a:close/>
              </a:path>
            </a:pathLst>
          </a:custGeom>
          <a:solidFill>
            <a:srgbClr val="1A1D21">
              <a:alpha val="50196"/>
            </a:srgbClr>
          </a:solidFill>
          <a:ln/>
        </p:spPr>
        <p:txBody>
          <a:bodyPr/>
          <a:lstStyle/>
          <a:p>
            <a:endParaRPr lang="zh-CN" altLang="en-US"/>
          </a:p>
        </p:txBody>
      </p:sp>
      <p:sp>
        <p:nvSpPr>
          <p:cNvPr id="19" name="Text 17"/>
          <p:cNvSpPr/>
          <p:nvPr/>
        </p:nvSpPr>
        <p:spPr>
          <a:xfrm>
            <a:off x="730250" y="3926941"/>
            <a:ext cx="4497917" cy="254000"/>
          </a:xfrm>
          <a:prstGeom prst="rect">
            <a:avLst/>
          </a:prstGeom>
          <a:noFill/>
          <a:ln/>
        </p:spPr>
        <p:txBody>
          <a:bodyPr wrap="square" lIns="0" tIns="0" rIns="0" bIns="0" rtlCol="0" anchor="ctr"/>
          <a:lstStyle/>
          <a:p>
            <a:pPr>
              <a:lnSpc>
                <a:spcPct val="130000"/>
              </a:lnSpc>
            </a:pPr>
            <a:r>
              <a:rPr lang="en-US" sz="1333" b="1" dirty="0">
                <a:solidFill>
                  <a:srgbClr val="B38B59"/>
                </a:solidFill>
                <a:latin typeface="MiSans" pitchFamily="34" charset="0"/>
                <a:ea typeface="MiSans" pitchFamily="34" charset="-122"/>
                <a:cs typeface="MiSans" pitchFamily="34" charset="-120"/>
              </a:rPr>
              <a:t>应用场景</a:t>
            </a:r>
            <a:endParaRPr lang="en-US" sz="1600" dirty="0"/>
          </a:p>
        </p:txBody>
      </p:sp>
      <p:sp>
        <p:nvSpPr>
          <p:cNvPr id="20" name="Text 18"/>
          <p:cNvSpPr/>
          <p:nvPr/>
        </p:nvSpPr>
        <p:spPr>
          <a:xfrm>
            <a:off x="730250" y="4223276"/>
            <a:ext cx="4487333" cy="338666"/>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容器中的进程隔离、防止进程间恶意信号发送、实现进程树独立管理</a:t>
            </a:r>
            <a:endParaRPr lang="en-US" sz="1600" dirty="0"/>
          </a:p>
        </p:txBody>
      </p:sp>
      <p:sp>
        <p:nvSpPr>
          <p:cNvPr id="21" name="Shape 19"/>
          <p:cNvSpPr/>
          <p:nvPr/>
        </p:nvSpPr>
        <p:spPr>
          <a:xfrm>
            <a:off x="5621486" y="873651"/>
            <a:ext cx="5016500" cy="3812139"/>
          </a:xfrm>
          <a:custGeom>
            <a:avLst/>
            <a:gdLst/>
            <a:ahLst/>
            <a:cxnLst/>
            <a:rect l="l" t="t" r="r" b="b"/>
            <a:pathLst>
              <a:path w="5016500" h="4910667">
                <a:moveTo>
                  <a:pt x="84660" y="0"/>
                </a:moveTo>
                <a:lnTo>
                  <a:pt x="4931840" y="0"/>
                </a:lnTo>
                <a:cubicBezTo>
                  <a:pt x="4978596" y="0"/>
                  <a:pt x="5016500" y="37904"/>
                  <a:pt x="5016500" y="84660"/>
                </a:cubicBezTo>
                <a:lnTo>
                  <a:pt x="5016500" y="4826007"/>
                </a:lnTo>
                <a:cubicBezTo>
                  <a:pt x="5016500" y="4872763"/>
                  <a:pt x="4978596" y="4910667"/>
                  <a:pt x="4931840" y="4910667"/>
                </a:cubicBezTo>
                <a:lnTo>
                  <a:pt x="84660" y="4910667"/>
                </a:lnTo>
                <a:cubicBezTo>
                  <a:pt x="37904" y="4910667"/>
                  <a:pt x="0" y="4872763"/>
                  <a:pt x="0" y="4826007"/>
                </a:cubicBezTo>
                <a:lnTo>
                  <a:pt x="0" y="84660"/>
                </a:lnTo>
                <a:cubicBezTo>
                  <a:pt x="0" y="37904"/>
                  <a:pt x="37904" y="0"/>
                  <a:pt x="84660"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2" name="Shape 20"/>
          <p:cNvSpPr/>
          <p:nvPr/>
        </p:nvSpPr>
        <p:spPr>
          <a:xfrm>
            <a:off x="5796111" y="1048275"/>
            <a:ext cx="423333" cy="423333"/>
          </a:xfrm>
          <a:custGeom>
            <a:avLst/>
            <a:gdLst/>
            <a:ahLst/>
            <a:cxnLst/>
            <a:rect l="l" t="t" r="r" b="b"/>
            <a:pathLst>
              <a:path w="423333" h="423333">
                <a:moveTo>
                  <a:pt x="84667" y="0"/>
                </a:moveTo>
                <a:lnTo>
                  <a:pt x="338667" y="0"/>
                </a:lnTo>
                <a:cubicBezTo>
                  <a:pt x="385427" y="0"/>
                  <a:pt x="423333" y="37907"/>
                  <a:pt x="423333" y="84667"/>
                </a:cubicBezTo>
                <a:lnTo>
                  <a:pt x="423333" y="338667"/>
                </a:lnTo>
                <a:cubicBezTo>
                  <a:pt x="423333" y="385427"/>
                  <a:pt x="385427" y="423333"/>
                  <a:pt x="338667" y="423333"/>
                </a:cubicBezTo>
                <a:lnTo>
                  <a:pt x="84667" y="423333"/>
                </a:lnTo>
                <a:cubicBezTo>
                  <a:pt x="37907" y="423333"/>
                  <a:pt x="0" y="385427"/>
                  <a:pt x="0" y="338667"/>
                </a:cubicBezTo>
                <a:lnTo>
                  <a:pt x="0" y="84667"/>
                </a:lnTo>
                <a:cubicBezTo>
                  <a:pt x="0" y="37907"/>
                  <a:pt x="37907" y="0"/>
                  <a:pt x="84667" y="0"/>
                </a:cubicBezTo>
                <a:close/>
              </a:path>
            </a:pathLst>
          </a:custGeom>
          <a:solidFill>
            <a:srgbClr val="B38B59"/>
          </a:solidFill>
          <a:ln/>
        </p:spPr>
        <p:txBody>
          <a:bodyPr/>
          <a:lstStyle/>
          <a:p>
            <a:endParaRPr lang="zh-CN" altLang="en-US"/>
          </a:p>
        </p:txBody>
      </p:sp>
      <p:sp>
        <p:nvSpPr>
          <p:cNvPr id="23" name="Shape 21"/>
          <p:cNvSpPr/>
          <p:nvPr/>
        </p:nvSpPr>
        <p:spPr>
          <a:xfrm>
            <a:off x="5912528" y="1175275"/>
            <a:ext cx="190500" cy="169333"/>
          </a:xfrm>
          <a:custGeom>
            <a:avLst/>
            <a:gdLst/>
            <a:ahLst/>
            <a:cxnLst/>
            <a:rect l="l" t="t" r="r" b="b"/>
            <a:pathLst>
              <a:path w="190500" h="169333">
                <a:moveTo>
                  <a:pt x="82021" y="29104"/>
                </a:moveTo>
                <a:lnTo>
                  <a:pt x="108479" y="29104"/>
                </a:lnTo>
                <a:lnTo>
                  <a:pt x="108479" y="44979"/>
                </a:lnTo>
                <a:lnTo>
                  <a:pt x="82021" y="44979"/>
                </a:lnTo>
                <a:lnTo>
                  <a:pt x="82021" y="29104"/>
                </a:lnTo>
                <a:close/>
                <a:moveTo>
                  <a:pt x="79375" y="10583"/>
                </a:moveTo>
                <a:cubicBezTo>
                  <a:pt x="70611" y="10583"/>
                  <a:pt x="63500" y="17694"/>
                  <a:pt x="63500" y="26458"/>
                </a:cubicBezTo>
                <a:lnTo>
                  <a:pt x="63500" y="47625"/>
                </a:lnTo>
                <a:cubicBezTo>
                  <a:pt x="63500" y="56389"/>
                  <a:pt x="70611" y="63500"/>
                  <a:pt x="79375" y="63500"/>
                </a:cubicBezTo>
                <a:lnTo>
                  <a:pt x="84667" y="63500"/>
                </a:lnTo>
                <a:lnTo>
                  <a:pt x="84667" y="74083"/>
                </a:lnTo>
                <a:lnTo>
                  <a:pt x="10583" y="74083"/>
                </a:lnTo>
                <a:cubicBezTo>
                  <a:pt x="4729" y="74083"/>
                  <a:pt x="0" y="78813"/>
                  <a:pt x="0" y="84667"/>
                </a:cubicBezTo>
                <a:cubicBezTo>
                  <a:pt x="0" y="90521"/>
                  <a:pt x="4729" y="95250"/>
                  <a:pt x="10583" y="95250"/>
                </a:cubicBezTo>
                <a:lnTo>
                  <a:pt x="42333" y="95250"/>
                </a:lnTo>
                <a:lnTo>
                  <a:pt x="42333" y="105833"/>
                </a:lnTo>
                <a:lnTo>
                  <a:pt x="37042" y="105833"/>
                </a:lnTo>
                <a:cubicBezTo>
                  <a:pt x="28277" y="105833"/>
                  <a:pt x="21167" y="112944"/>
                  <a:pt x="21167" y="121708"/>
                </a:cubicBezTo>
                <a:lnTo>
                  <a:pt x="21167" y="142875"/>
                </a:lnTo>
                <a:cubicBezTo>
                  <a:pt x="21167" y="151639"/>
                  <a:pt x="28277" y="158750"/>
                  <a:pt x="37042" y="158750"/>
                </a:cubicBezTo>
                <a:lnTo>
                  <a:pt x="68792" y="158750"/>
                </a:lnTo>
                <a:cubicBezTo>
                  <a:pt x="77556" y="158750"/>
                  <a:pt x="84667" y="151639"/>
                  <a:pt x="84667" y="142875"/>
                </a:cubicBezTo>
                <a:lnTo>
                  <a:pt x="84667" y="121708"/>
                </a:lnTo>
                <a:cubicBezTo>
                  <a:pt x="84667" y="112944"/>
                  <a:pt x="77556" y="105833"/>
                  <a:pt x="68792" y="105833"/>
                </a:cubicBezTo>
                <a:lnTo>
                  <a:pt x="63500" y="105833"/>
                </a:lnTo>
                <a:lnTo>
                  <a:pt x="63500" y="95250"/>
                </a:lnTo>
                <a:lnTo>
                  <a:pt x="127000" y="95250"/>
                </a:lnTo>
                <a:lnTo>
                  <a:pt x="127000" y="105833"/>
                </a:lnTo>
                <a:lnTo>
                  <a:pt x="121708" y="105833"/>
                </a:lnTo>
                <a:cubicBezTo>
                  <a:pt x="112944" y="105833"/>
                  <a:pt x="105833" y="112944"/>
                  <a:pt x="105833" y="121708"/>
                </a:cubicBezTo>
                <a:lnTo>
                  <a:pt x="105833" y="142875"/>
                </a:lnTo>
                <a:cubicBezTo>
                  <a:pt x="105833" y="151639"/>
                  <a:pt x="112944" y="158750"/>
                  <a:pt x="121708" y="158750"/>
                </a:cubicBezTo>
                <a:lnTo>
                  <a:pt x="153458" y="158750"/>
                </a:lnTo>
                <a:cubicBezTo>
                  <a:pt x="162223" y="158750"/>
                  <a:pt x="169333" y="151639"/>
                  <a:pt x="169333" y="142875"/>
                </a:cubicBezTo>
                <a:lnTo>
                  <a:pt x="169333" y="121708"/>
                </a:lnTo>
                <a:cubicBezTo>
                  <a:pt x="169333" y="112944"/>
                  <a:pt x="162223" y="105833"/>
                  <a:pt x="153458" y="105833"/>
                </a:cubicBezTo>
                <a:lnTo>
                  <a:pt x="148167" y="105833"/>
                </a:lnTo>
                <a:lnTo>
                  <a:pt x="148167" y="95250"/>
                </a:lnTo>
                <a:lnTo>
                  <a:pt x="179917" y="95250"/>
                </a:lnTo>
                <a:cubicBezTo>
                  <a:pt x="185771" y="95250"/>
                  <a:pt x="190500" y="90521"/>
                  <a:pt x="190500" y="84667"/>
                </a:cubicBezTo>
                <a:cubicBezTo>
                  <a:pt x="190500" y="78813"/>
                  <a:pt x="185771" y="74083"/>
                  <a:pt x="179917" y="74083"/>
                </a:cubicBezTo>
                <a:lnTo>
                  <a:pt x="105833" y="74083"/>
                </a:lnTo>
                <a:lnTo>
                  <a:pt x="105833" y="63500"/>
                </a:lnTo>
                <a:lnTo>
                  <a:pt x="111125" y="63500"/>
                </a:lnTo>
                <a:cubicBezTo>
                  <a:pt x="119889" y="63500"/>
                  <a:pt x="127000" y="56389"/>
                  <a:pt x="127000" y="47625"/>
                </a:cubicBezTo>
                <a:lnTo>
                  <a:pt x="127000" y="26458"/>
                </a:lnTo>
                <a:cubicBezTo>
                  <a:pt x="127000" y="17694"/>
                  <a:pt x="119889" y="10583"/>
                  <a:pt x="111125" y="10583"/>
                </a:cubicBezTo>
                <a:lnTo>
                  <a:pt x="79375" y="10583"/>
                </a:lnTo>
                <a:close/>
                <a:moveTo>
                  <a:pt x="148167" y="124354"/>
                </a:moveTo>
                <a:lnTo>
                  <a:pt x="150813" y="124354"/>
                </a:lnTo>
                <a:lnTo>
                  <a:pt x="150813" y="140229"/>
                </a:lnTo>
                <a:lnTo>
                  <a:pt x="124354" y="140229"/>
                </a:lnTo>
                <a:lnTo>
                  <a:pt x="124354" y="124354"/>
                </a:lnTo>
                <a:lnTo>
                  <a:pt x="148167" y="124354"/>
                </a:lnTo>
                <a:close/>
                <a:moveTo>
                  <a:pt x="63500" y="124354"/>
                </a:moveTo>
                <a:lnTo>
                  <a:pt x="66146" y="124354"/>
                </a:lnTo>
                <a:lnTo>
                  <a:pt x="66146" y="140229"/>
                </a:lnTo>
                <a:lnTo>
                  <a:pt x="39688" y="140229"/>
                </a:lnTo>
                <a:lnTo>
                  <a:pt x="39688" y="124354"/>
                </a:lnTo>
                <a:lnTo>
                  <a:pt x="63500" y="124354"/>
                </a:lnTo>
                <a:close/>
              </a:path>
            </a:pathLst>
          </a:custGeom>
          <a:solidFill>
            <a:srgbClr val="FFFFFF"/>
          </a:solidFill>
          <a:ln/>
        </p:spPr>
        <p:txBody>
          <a:bodyPr/>
          <a:lstStyle/>
          <a:p>
            <a:endParaRPr lang="zh-CN" altLang="en-US"/>
          </a:p>
        </p:txBody>
      </p:sp>
      <p:sp>
        <p:nvSpPr>
          <p:cNvPr id="24" name="Text 22"/>
          <p:cNvSpPr/>
          <p:nvPr/>
        </p:nvSpPr>
        <p:spPr>
          <a:xfrm>
            <a:off x="6304111" y="1111775"/>
            <a:ext cx="2127250"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Network Namespace</a:t>
            </a:r>
            <a:endParaRPr lang="en-US" sz="1600" dirty="0"/>
          </a:p>
        </p:txBody>
      </p:sp>
      <p:sp>
        <p:nvSpPr>
          <p:cNvPr id="25" name="Shape 23"/>
          <p:cNvSpPr/>
          <p:nvPr/>
        </p:nvSpPr>
        <p:spPr>
          <a:xfrm>
            <a:off x="5796111" y="1598608"/>
            <a:ext cx="4667250" cy="762000"/>
          </a:xfrm>
          <a:custGeom>
            <a:avLst/>
            <a:gdLst/>
            <a:ahLst/>
            <a:cxnLst/>
            <a:rect l="l" t="t" r="r" b="b"/>
            <a:pathLst>
              <a:path w="4667250" h="762000">
                <a:moveTo>
                  <a:pt x="84666" y="0"/>
                </a:moveTo>
                <a:lnTo>
                  <a:pt x="4582584" y="0"/>
                </a:lnTo>
                <a:cubicBezTo>
                  <a:pt x="4629344" y="0"/>
                  <a:pt x="4667250" y="37906"/>
                  <a:pt x="4667250" y="84666"/>
                </a:cubicBezTo>
                <a:lnTo>
                  <a:pt x="4667250" y="677334"/>
                </a:lnTo>
                <a:cubicBezTo>
                  <a:pt x="4667250" y="724094"/>
                  <a:pt x="4629344" y="762000"/>
                  <a:pt x="4582584" y="762000"/>
                </a:cubicBezTo>
                <a:lnTo>
                  <a:pt x="84666" y="762000"/>
                </a:lnTo>
                <a:cubicBezTo>
                  <a:pt x="37906" y="762000"/>
                  <a:pt x="0" y="724094"/>
                  <a:pt x="0" y="677334"/>
                </a:cubicBezTo>
                <a:lnTo>
                  <a:pt x="0" y="84666"/>
                </a:lnTo>
                <a:cubicBezTo>
                  <a:pt x="0" y="37937"/>
                  <a:pt x="37937" y="0"/>
                  <a:pt x="84666" y="0"/>
                </a:cubicBezTo>
                <a:close/>
              </a:path>
            </a:pathLst>
          </a:custGeom>
          <a:solidFill>
            <a:srgbClr val="1A1D21">
              <a:alpha val="50196"/>
            </a:srgbClr>
          </a:solidFill>
          <a:ln/>
        </p:spPr>
        <p:txBody>
          <a:bodyPr/>
          <a:lstStyle/>
          <a:p>
            <a:endParaRPr lang="zh-CN" altLang="en-US"/>
          </a:p>
        </p:txBody>
      </p:sp>
      <p:sp>
        <p:nvSpPr>
          <p:cNvPr id="26" name="Text 24"/>
          <p:cNvSpPr/>
          <p:nvPr/>
        </p:nvSpPr>
        <p:spPr>
          <a:xfrm>
            <a:off x="5923111" y="1725608"/>
            <a:ext cx="4497917" cy="254000"/>
          </a:xfrm>
          <a:prstGeom prst="rect">
            <a:avLst/>
          </a:prstGeom>
          <a:noFill/>
          <a:ln/>
        </p:spPr>
        <p:txBody>
          <a:bodyPr wrap="square" lIns="0" tIns="0" rIns="0" bIns="0" rtlCol="0" anchor="ctr"/>
          <a:lstStyle/>
          <a:p>
            <a:pPr>
              <a:lnSpc>
                <a:spcPct val="130000"/>
              </a:lnSpc>
            </a:pPr>
            <a:r>
              <a:rPr lang="en-US" sz="1333" b="1" dirty="0">
                <a:solidFill>
                  <a:srgbClr val="3C8082"/>
                </a:solidFill>
                <a:latin typeface="MiSans" pitchFamily="34" charset="0"/>
                <a:ea typeface="MiSans" pitchFamily="34" charset="-122"/>
                <a:cs typeface="MiSans" pitchFamily="34" charset="-120"/>
              </a:rPr>
              <a:t>隔离资源</a:t>
            </a:r>
            <a:endParaRPr lang="en-US" sz="1600" dirty="0"/>
          </a:p>
        </p:txBody>
      </p:sp>
      <p:sp>
        <p:nvSpPr>
          <p:cNvPr id="27" name="Text 25"/>
          <p:cNvSpPr/>
          <p:nvPr/>
        </p:nvSpPr>
        <p:spPr>
          <a:xfrm>
            <a:off x="5923111" y="2021941"/>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网络接口、路由表、防火墙规则、端口空间</a:t>
            </a:r>
            <a:endParaRPr lang="en-US" sz="1600" dirty="0"/>
          </a:p>
        </p:txBody>
      </p:sp>
      <p:sp>
        <p:nvSpPr>
          <p:cNvPr id="28" name="Shape 26"/>
          <p:cNvSpPr/>
          <p:nvPr/>
        </p:nvSpPr>
        <p:spPr>
          <a:xfrm>
            <a:off x="5796111" y="2445275"/>
            <a:ext cx="4667250" cy="1270000"/>
          </a:xfrm>
          <a:custGeom>
            <a:avLst/>
            <a:gdLst/>
            <a:ahLst/>
            <a:cxnLst/>
            <a:rect l="l" t="t" r="r" b="b"/>
            <a:pathLst>
              <a:path w="4667250" h="1270000">
                <a:moveTo>
                  <a:pt x="84671" y="0"/>
                </a:moveTo>
                <a:lnTo>
                  <a:pt x="4582579" y="0"/>
                </a:lnTo>
                <a:cubicBezTo>
                  <a:pt x="4629342" y="0"/>
                  <a:pt x="4667250" y="37908"/>
                  <a:pt x="4667250" y="84671"/>
                </a:cubicBezTo>
                <a:lnTo>
                  <a:pt x="4667250" y="1185329"/>
                </a:lnTo>
                <a:cubicBezTo>
                  <a:pt x="4667250" y="1232092"/>
                  <a:pt x="4629342" y="1270000"/>
                  <a:pt x="4582579" y="1270000"/>
                </a:cubicBezTo>
                <a:lnTo>
                  <a:pt x="84671" y="1270000"/>
                </a:lnTo>
                <a:cubicBezTo>
                  <a:pt x="37908" y="1270000"/>
                  <a:pt x="0" y="1232092"/>
                  <a:pt x="0" y="1185329"/>
                </a:cubicBezTo>
                <a:lnTo>
                  <a:pt x="0" y="84671"/>
                </a:lnTo>
                <a:cubicBezTo>
                  <a:pt x="0" y="37940"/>
                  <a:pt x="37940" y="0"/>
                  <a:pt x="84671" y="0"/>
                </a:cubicBezTo>
                <a:close/>
              </a:path>
            </a:pathLst>
          </a:custGeom>
          <a:solidFill>
            <a:srgbClr val="1A1D21">
              <a:alpha val="50196"/>
            </a:srgbClr>
          </a:solidFill>
          <a:ln/>
        </p:spPr>
        <p:txBody>
          <a:bodyPr/>
          <a:lstStyle/>
          <a:p>
            <a:endParaRPr lang="zh-CN" altLang="en-US"/>
          </a:p>
        </p:txBody>
      </p:sp>
      <p:sp>
        <p:nvSpPr>
          <p:cNvPr id="29" name="Text 27"/>
          <p:cNvSpPr/>
          <p:nvPr/>
        </p:nvSpPr>
        <p:spPr>
          <a:xfrm>
            <a:off x="5923111" y="2572275"/>
            <a:ext cx="4497917" cy="254000"/>
          </a:xfrm>
          <a:prstGeom prst="rect">
            <a:avLst/>
          </a:prstGeom>
          <a:noFill/>
          <a:ln/>
        </p:spPr>
        <p:txBody>
          <a:bodyPr wrap="square" lIns="0" tIns="0" rIns="0" bIns="0" rtlCol="0" anchor="ctr"/>
          <a:lstStyle/>
          <a:p>
            <a:pPr>
              <a:lnSpc>
                <a:spcPct val="130000"/>
              </a:lnSpc>
            </a:pPr>
            <a:r>
              <a:rPr lang="en-US" sz="1333" b="1" dirty="0">
                <a:solidFill>
                  <a:srgbClr val="3C8082"/>
                </a:solidFill>
                <a:latin typeface="MiSans" pitchFamily="34" charset="0"/>
                <a:ea typeface="MiSans" pitchFamily="34" charset="-122"/>
                <a:cs typeface="MiSans" pitchFamily="34" charset="-120"/>
              </a:rPr>
              <a:t>核心特性</a:t>
            </a:r>
            <a:endParaRPr lang="en-US" sz="1600" dirty="0"/>
          </a:p>
        </p:txBody>
      </p:sp>
      <p:sp>
        <p:nvSpPr>
          <p:cNvPr id="30" name="Text 28"/>
          <p:cNvSpPr/>
          <p:nvPr/>
        </p:nvSpPr>
        <p:spPr>
          <a:xfrm>
            <a:off x="5923111" y="2868608"/>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独立的网络接口和IP地址空间</a:t>
            </a:r>
            <a:endParaRPr lang="en-US" sz="1600" dirty="0"/>
          </a:p>
        </p:txBody>
      </p:sp>
      <p:sp>
        <p:nvSpPr>
          <p:cNvPr id="31" name="Text 29"/>
          <p:cNvSpPr/>
          <p:nvPr/>
        </p:nvSpPr>
        <p:spPr>
          <a:xfrm>
            <a:off x="5923111" y="3122608"/>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独立的路由表和ARP表</a:t>
            </a:r>
            <a:endParaRPr lang="en-US" sz="1600" dirty="0"/>
          </a:p>
        </p:txBody>
      </p:sp>
      <p:sp>
        <p:nvSpPr>
          <p:cNvPr id="32" name="Text 30"/>
          <p:cNvSpPr/>
          <p:nvPr/>
        </p:nvSpPr>
        <p:spPr>
          <a:xfrm>
            <a:off x="5923111" y="3376608"/>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独立的防火墙规则和端口空间</a:t>
            </a:r>
            <a:endParaRPr lang="en-US" sz="1600" dirty="0"/>
          </a:p>
        </p:txBody>
      </p:sp>
      <p:sp>
        <p:nvSpPr>
          <p:cNvPr id="33" name="Shape 31"/>
          <p:cNvSpPr/>
          <p:nvPr/>
        </p:nvSpPr>
        <p:spPr>
          <a:xfrm>
            <a:off x="5796111" y="3799941"/>
            <a:ext cx="4667250" cy="762000"/>
          </a:xfrm>
          <a:custGeom>
            <a:avLst/>
            <a:gdLst/>
            <a:ahLst/>
            <a:cxnLst/>
            <a:rect l="l" t="t" r="r" b="b"/>
            <a:pathLst>
              <a:path w="4667250" h="762000">
                <a:moveTo>
                  <a:pt x="84666" y="0"/>
                </a:moveTo>
                <a:lnTo>
                  <a:pt x="4582584" y="0"/>
                </a:lnTo>
                <a:cubicBezTo>
                  <a:pt x="4629344" y="0"/>
                  <a:pt x="4667250" y="37906"/>
                  <a:pt x="4667250" y="84666"/>
                </a:cubicBezTo>
                <a:lnTo>
                  <a:pt x="4667250" y="677334"/>
                </a:lnTo>
                <a:cubicBezTo>
                  <a:pt x="4667250" y="724094"/>
                  <a:pt x="4629344" y="762000"/>
                  <a:pt x="4582584" y="762000"/>
                </a:cubicBezTo>
                <a:lnTo>
                  <a:pt x="84666" y="762000"/>
                </a:lnTo>
                <a:cubicBezTo>
                  <a:pt x="37906" y="762000"/>
                  <a:pt x="0" y="724094"/>
                  <a:pt x="0" y="677334"/>
                </a:cubicBezTo>
                <a:lnTo>
                  <a:pt x="0" y="84666"/>
                </a:lnTo>
                <a:cubicBezTo>
                  <a:pt x="0" y="37937"/>
                  <a:pt x="37937" y="0"/>
                  <a:pt x="84666" y="0"/>
                </a:cubicBezTo>
                <a:close/>
              </a:path>
            </a:pathLst>
          </a:custGeom>
          <a:solidFill>
            <a:srgbClr val="1A1D21">
              <a:alpha val="50196"/>
            </a:srgbClr>
          </a:solidFill>
          <a:ln/>
        </p:spPr>
        <p:txBody>
          <a:bodyPr/>
          <a:lstStyle/>
          <a:p>
            <a:endParaRPr lang="zh-CN" altLang="en-US"/>
          </a:p>
        </p:txBody>
      </p:sp>
      <p:sp>
        <p:nvSpPr>
          <p:cNvPr id="34" name="Text 32"/>
          <p:cNvSpPr/>
          <p:nvPr/>
        </p:nvSpPr>
        <p:spPr>
          <a:xfrm>
            <a:off x="5923111" y="3926941"/>
            <a:ext cx="4497917" cy="254000"/>
          </a:xfrm>
          <a:prstGeom prst="rect">
            <a:avLst/>
          </a:prstGeom>
          <a:noFill/>
          <a:ln/>
        </p:spPr>
        <p:txBody>
          <a:bodyPr wrap="square" lIns="0" tIns="0" rIns="0" bIns="0" rtlCol="0" anchor="ctr"/>
          <a:lstStyle/>
          <a:p>
            <a:pPr>
              <a:lnSpc>
                <a:spcPct val="130000"/>
              </a:lnSpc>
            </a:pPr>
            <a:r>
              <a:rPr lang="en-US" sz="1333" b="1" dirty="0">
                <a:solidFill>
                  <a:srgbClr val="3C8082"/>
                </a:solidFill>
                <a:latin typeface="MiSans" pitchFamily="34" charset="0"/>
                <a:ea typeface="MiSans" pitchFamily="34" charset="-122"/>
                <a:cs typeface="MiSans" pitchFamily="34" charset="-120"/>
              </a:rPr>
              <a:t>连接方式</a:t>
            </a:r>
            <a:endParaRPr lang="en-US" sz="1600" dirty="0"/>
          </a:p>
        </p:txBody>
      </p:sp>
      <p:sp>
        <p:nvSpPr>
          <p:cNvPr id="35" name="Text 33"/>
          <p:cNvSpPr/>
          <p:nvPr/>
        </p:nvSpPr>
        <p:spPr>
          <a:xfrm>
            <a:off x="5923111" y="4223275"/>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veth pair、bridge、macvlan/ipvlan</a:t>
            </a:r>
            <a:endParaRPr lang="en-US" sz="1600" dirty="0"/>
          </a:p>
        </p:txBody>
      </p:sp>
      <p:sp>
        <p:nvSpPr>
          <p:cNvPr id="36" name="Shape 34"/>
          <p:cNvSpPr/>
          <p:nvPr/>
        </p:nvSpPr>
        <p:spPr>
          <a:xfrm>
            <a:off x="10814348" y="873651"/>
            <a:ext cx="5016500" cy="3812139"/>
          </a:xfrm>
          <a:custGeom>
            <a:avLst/>
            <a:gdLst/>
            <a:ahLst/>
            <a:cxnLst/>
            <a:rect l="l" t="t" r="r" b="b"/>
            <a:pathLst>
              <a:path w="5016500" h="4910667">
                <a:moveTo>
                  <a:pt x="84660" y="0"/>
                </a:moveTo>
                <a:lnTo>
                  <a:pt x="4931840" y="0"/>
                </a:lnTo>
                <a:cubicBezTo>
                  <a:pt x="4978596" y="0"/>
                  <a:pt x="5016500" y="37904"/>
                  <a:pt x="5016500" y="84660"/>
                </a:cubicBezTo>
                <a:lnTo>
                  <a:pt x="5016500" y="4826007"/>
                </a:lnTo>
                <a:cubicBezTo>
                  <a:pt x="5016500" y="4872763"/>
                  <a:pt x="4978596" y="4910667"/>
                  <a:pt x="4931840" y="4910667"/>
                </a:cubicBezTo>
                <a:lnTo>
                  <a:pt x="84660" y="4910667"/>
                </a:lnTo>
                <a:cubicBezTo>
                  <a:pt x="37904" y="4910667"/>
                  <a:pt x="0" y="4872763"/>
                  <a:pt x="0" y="4826007"/>
                </a:cubicBezTo>
                <a:lnTo>
                  <a:pt x="0" y="84660"/>
                </a:lnTo>
                <a:cubicBezTo>
                  <a:pt x="0" y="37904"/>
                  <a:pt x="37904" y="0"/>
                  <a:pt x="84660"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37" name="Shape 35"/>
          <p:cNvSpPr/>
          <p:nvPr/>
        </p:nvSpPr>
        <p:spPr>
          <a:xfrm>
            <a:off x="10988973" y="1048275"/>
            <a:ext cx="423333" cy="423333"/>
          </a:xfrm>
          <a:custGeom>
            <a:avLst/>
            <a:gdLst/>
            <a:ahLst/>
            <a:cxnLst/>
            <a:rect l="l" t="t" r="r" b="b"/>
            <a:pathLst>
              <a:path w="423333" h="423333">
                <a:moveTo>
                  <a:pt x="84667" y="0"/>
                </a:moveTo>
                <a:lnTo>
                  <a:pt x="338667" y="0"/>
                </a:lnTo>
                <a:cubicBezTo>
                  <a:pt x="385427" y="0"/>
                  <a:pt x="423333" y="37907"/>
                  <a:pt x="423333" y="84667"/>
                </a:cubicBezTo>
                <a:lnTo>
                  <a:pt x="423333" y="338667"/>
                </a:lnTo>
                <a:cubicBezTo>
                  <a:pt x="423333" y="385427"/>
                  <a:pt x="385427" y="423333"/>
                  <a:pt x="338667" y="423333"/>
                </a:cubicBezTo>
                <a:lnTo>
                  <a:pt x="84667" y="423333"/>
                </a:lnTo>
                <a:cubicBezTo>
                  <a:pt x="37907" y="423333"/>
                  <a:pt x="0" y="385427"/>
                  <a:pt x="0" y="338667"/>
                </a:cubicBezTo>
                <a:lnTo>
                  <a:pt x="0" y="84667"/>
                </a:lnTo>
                <a:cubicBezTo>
                  <a:pt x="0" y="37907"/>
                  <a:pt x="37907" y="0"/>
                  <a:pt x="84667" y="0"/>
                </a:cubicBezTo>
                <a:close/>
              </a:path>
            </a:pathLst>
          </a:custGeom>
          <a:solidFill>
            <a:srgbClr val="3C8082"/>
          </a:solidFill>
          <a:ln/>
        </p:spPr>
        <p:txBody>
          <a:bodyPr/>
          <a:lstStyle/>
          <a:p>
            <a:endParaRPr lang="zh-CN" altLang="en-US"/>
          </a:p>
        </p:txBody>
      </p:sp>
      <p:sp>
        <p:nvSpPr>
          <p:cNvPr id="38" name="Shape 36"/>
          <p:cNvSpPr/>
          <p:nvPr/>
        </p:nvSpPr>
        <p:spPr>
          <a:xfrm>
            <a:off x="11105389" y="1175275"/>
            <a:ext cx="190500" cy="169333"/>
          </a:xfrm>
          <a:custGeom>
            <a:avLst/>
            <a:gdLst/>
            <a:ahLst/>
            <a:cxnLst/>
            <a:rect l="l" t="t" r="r" b="b"/>
            <a:pathLst>
              <a:path w="190500" h="169333">
                <a:moveTo>
                  <a:pt x="15875" y="7938"/>
                </a:moveTo>
                <a:cubicBezTo>
                  <a:pt x="15875" y="3539"/>
                  <a:pt x="12336" y="0"/>
                  <a:pt x="7938" y="0"/>
                </a:cubicBezTo>
                <a:cubicBezTo>
                  <a:pt x="3539" y="0"/>
                  <a:pt x="0" y="3539"/>
                  <a:pt x="0" y="7938"/>
                </a:cubicBezTo>
                <a:lnTo>
                  <a:pt x="0" y="129646"/>
                </a:lnTo>
                <a:cubicBezTo>
                  <a:pt x="0" y="139865"/>
                  <a:pt x="8301" y="148167"/>
                  <a:pt x="18521" y="148167"/>
                </a:cubicBezTo>
                <a:lnTo>
                  <a:pt x="79375" y="148167"/>
                </a:lnTo>
                <a:lnTo>
                  <a:pt x="79375" y="132292"/>
                </a:lnTo>
                <a:lnTo>
                  <a:pt x="18521" y="132292"/>
                </a:lnTo>
                <a:cubicBezTo>
                  <a:pt x="17066" y="132292"/>
                  <a:pt x="15875" y="131101"/>
                  <a:pt x="15875" y="129646"/>
                </a:cubicBezTo>
                <a:lnTo>
                  <a:pt x="15875" y="52917"/>
                </a:lnTo>
                <a:lnTo>
                  <a:pt x="79375" y="52917"/>
                </a:lnTo>
                <a:lnTo>
                  <a:pt x="79375" y="37042"/>
                </a:lnTo>
                <a:lnTo>
                  <a:pt x="15875" y="37042"/>
                </a:lnTo>
                <a:lnTo>
                  <a:pt x="15875" y="7938"/>
                </a:lnTo>
                <a:close/>
                <a:moveTo>
                  <a:pt x="111125" y="74083"/>
                </a:moveTo>
                <a:lnTo>
                  <a:pt x="174625" y="74083"/>
                </a:lnTo>
                <a:cubicBezTo>
                  <a:pt x="183389" y="74083"/>
                  <a:pt x="190500" y="66973"/>
                  <a:pt x="190500" y="58208"/>
                </a:cubicBezTo>
                <a:lnTo>
                  <a:pt x="190500" y="26458"/>
                </a:lnTo>
                <a:cubicBezTo>
                  <a:pt x="190500" y="17694"/>
                  <a:pt x="183389" y="10583"/>
                  <a:pt x="174625" y="10583"/>
                </a:cubicBezTo>
                <a:lnTo>
                  <a:pt x="147274" y="10583"/>
                </a:lnTo>
                <a:cubicBezTo>
                  <a:pt x="144463" y="10583"/>
                  <a:pt x="141784" y="9459"/>
                  <a:pt x="139799" y="7474"/>
                </a:cubicBezTo>
                <a:lnTo>
                  <a:pt x="136955" y="4630"/>
                </a:lnTo>
                <a:cubicBezTo>
                  <a:pt x="133978" y="1654"/>
                  <a:pt x="129943" y="-33"/>
                  <a:pt x="125743" y="-33"/>
                </a:cubicBezTo>
                <a:lnTo>
                  <a:pt x="111125" y="0"/>
                </a:lnTo>
                <a:cubicBezTo>
                  <a:pt x="102361" y="0"/>
                  <a:pt x="95250" y="7111"/>
                  <a:pt x="95250" y="15875"/>
                </a:cubicBezTo>
                <a:lnTo>
                  <a:pt x="95250" y="58208"/>
                </a:lnTo>
                <a:cubicBezTo>
                  <a:pt x="95250" y="66973"/>
                  <a:pt x="102361" y="74083"/>
                  <a:pt x="111125" y="74083"/>
                </a:cubicBezTo>
                <a:close/>
                <a:moveTo>
                  <a:pt x="111125" y="169333"/>
                </a:moveTo>
                <a:lnTo>
                  <a:pt x="174625" y="169333"/>
                </a:lnTo>
                <a:cubicBezTo>
                  <a:pt x="183389" y="169333"/>
                  <a:pt x="190500" y="162223"/>
                  <a:pt x="190500" y="153458"/>
                </a:cubicBezTo>
                <a:lnTo>
                  <a:pt x="190500" y="121708"/>
                </a:lnTo>
                <a:cubicBezTo>
                  <a:pt x="190500" y="112944"/>
                  <a:pt x="183389" y="105833"/>
                  <a:pt x="174625" y="105833"/>
                </a:cubicBezTo>
                <a:lnTo>
                  <a:pt x="147274" y="105833"/>
                </a:lnTo>
                <a:cubicBezTo>
                  <a:pt x="144463" y="105833"/>
                  <a:pt x="141784" y="104709"/>
                  <a:pt x="139799" y="102724"/>
                </a:cubicBezTo>
                <a:lnTo>
                  <a:pt x="136955" y="99880"/>
                </a:lnTo>
                <a:cubicBezTo>
                  <a:pt x="133978" y="96904"/>
                  <a:pt x="129943" y="95217"/>
                  <a:pt x="125743" y="95217"/>
                </a:cubicBezTo>
                <a:lnTo>
                  <a:pt x="111125" y="95250"/>
                </a:lnTo>
                <a:cubicBezTo>
                  <a:pt x="102361" y="95250"/>
                  <a:pt x="95250" y="102361"/>
                  <a:pt x="95250" y="111125"/>
                </a:cubicBezTo>
                <a:lnTo>
                  <a:pt x="95250" y="153458"/>
                </a:lnTo>
                <a:cubicBezTo>
                  <a:pt x="95250" y="162223"/>
                  <a:pt x="102361" y="169333"/>
                  <a:pt x="111125" y="169333"/>
                </a:cubicBezTo>
                <a:close/>
              </a:path>
            </a:pathLst>
          </a:custGeom>
          <a:solidFill>
            <a:srgbClr val="FFFFFF"/>
          </a:solidFill>
          <a:ln/>
        </p:spPr>
        <p:txBody>
          <a:bodyPr/>
          <a:lstStyle/>
          <a:p>
            <a:endParaRPr lang="zh-CN" altLang="en-US"/>
          </a:p>
        </p:txBody>
      </p:sp>
      <p:sp>
        <p:nvSpPr>
          <p:cNvPr id="39" name="Text 37"/>
          <p:cNvSpPr/>
          <p:nvPr/>
        </p:nvSpPr>
        <p:spPr>
          <a:xfrm>
            <a:off x="11496973" y="1111775"/>
            <a:ext cx="1936750"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Mount Namespace</a:t>
            </a:r>
            <a:endParaRPr lang="en-US" sz="1600" dirty="0"/>
          </a:p>
        </p:txBody>
      </p:sp>
      <p:sp>
        <p:nvSpPr>
          <p:cNvPr id="40" name="Shape 38"/>
          <p:cNvSpPr/>
          <p:nvPr/>
        </p:nvSpPr>
        <p:spPr>
          <a:xfrm>
            <a:off x="10988973" y="1598608"/>
            <a:ext cx="4667250" cy="762000"/>
          </a:xfrm>
          <a:custGeom>
            <a:avLst/>
            <a:gdLst/>
            <a:ahLst/>
            <a:cxnLst/>
            <a:rect l="l" t="t" r="r" b="b"/>
            <a:pathLst>
              <a:path w="4667250" h="762000">
                <a:moveTo>
                  <a:pt x="84666" y="0"/>
                </a:moveTo>
                <a:lnTo>
                  <a:pt x="4582584" y="0"/>
                </a:lnTo>
                <a:cubicBezTo>
                  <a:pt x="4629344" y="0"/>
                  <a:pt x="4667250" y="37906"/>
                  <a:pt x="4667250" y="84666"/>
                </a:cubicBezTo>
                <a:lnTo>
                  <a:pt x="4667250" y="677334"/>
                </a:lnTo>
                <a:cubicBezTo>
                  <a:pt x="4667250" y="724094"/>
                  <a:pt x="4629344" y="762000"/>
                  <a:pt x="4582584" y="762000"/>
                </a:cubicBezTo>
                <a:lnTo>
                  <a:pt x="84666" y="762000"/>
                </a:lnTo>
                <a:cubicBezTo>
                  <a:pt x="37906" y="762000"/>
                  <a:pt x="0" y="724094"/>
                  <a:pt x="0" y="677334"/>
                </a:cubicBezTo>
                <a:lnTo>
                  <a:pt x="0" y="84666"/>
                </a:lnTo>
                <a:cubicBezTo>
                  <a:pt x="0" y="37937"/>
                  <a:pt x="37937" y="0"/>
                  <a:pt x="84666" y="0"/>
                </a:cubicBezTo>
                <a:close/>
              </a:path>
            </a:pathLst>
          </a:custGeom>
          <a:solidFill>
            <a:srgbClr val="1A1D21">
              <a:alpha val="50196"/>
            </a:srgbClr>
          </a:solidFill>
          <a:ln/>
        </p:spPr>
        <p:txBody>
          <a:bodyPr/>
          <a:lstStyle/>
          <a:p>
            <a:endParaRPr lang="zh-CN" altLang="en-US"/>
          </a:p>
        </p:txBody>
      </p:sp>
      <p:sp>
        <p:nvSpPr>
          <p:cNvPr id="41" name="Text 39"/>
          <p:cNvSpPr/>
          <p:nvPr/>
        </p:nvSpPr>
        <p:spPr>
          <a:xfrm>
            <a:off x="11115973" y="1725608"/>
            <a:ext cx="4497917" cy="254000"/>
          </a:xfrm>
          <a:prstGeom prst="rect">
            <a:avLst/>
          </a:prstGeom>
          <a:noFill/>
          <a:ln/>
        </p:spPr>
        <p:txBody>
          <a:bodyPr wrap="square" lIns="0" tIns="0" rIns="0" bIns="0" rtlCol="0" anchor="ctr"/>
          <a:lstStyle/>
          <a:p>
            <a:pPr>
              <a:lnSpc>
                <a:spcPct val="130000"/>
              </a:lnSpc>
            </a:pPr>
            <a:r>
              <a:rPr lang="en-US" sz="1333" b="1" dirty="0">
                <a:solidFill>
                  <a:srgbClr val="B38B59"/>
                </a:solidFill>
                <a:latin typeface="MiSans" pitchFamily="34" charset="0"/>
                <a:ea typeface="MiSans" pitchFamily="34" charset="-122"/>
                <a:cs typeface="MiSans" pitchFamily="34" charset="-120"/>
              </a:rPr>
              <a:t>隔离资源</a:t>
            </a:r>
            <a:endParaRPr lang="en-US" sz="1600" dirty="0"/>
          </a:p>
        </p:txBody>
      </p:sp>
      <p:sp>
        <p:nvSpPr>
          <p:cNvPr id="42" name="Text 40"/>
          <p:cNvSpPr/>
          <p:nvPr/>
        </p:nvSpPr>
        <p:spPr>
          <a:xfrm>
            <a:off x="11115973" y="2021941"/>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文件系统挂载点,每个namespace有独立的文件系统视图</a:t>
            </a:r>
            <a:endParaRPr lang="en-US" sz="1600" dirty="0"/>
          </a:p>
        </p:txBody>
      </p:sp>
      <p:sp>
        <p:nvSpPr>
          <p:cNvPr id="43" name="Shape 41"/>
          <p:cNvSpPr/>
          <p:nvPr/>
        </p:nvSpPr>
        <p:spPr>
          <a:xfrm>
            <a:off x="10988973" y="2445275"/>
            <a:ext cx="4667250" cy="1270000"/>
          </a:xfrm>
          <a:custGeom>
            <a:avLst/>
            <a:gdLst/>
            <a:ahLst/>
            <a:cxnLst/>
            <a:rect l="l" t="t" r="r" b="b"/>
            <a:pathLst>
              <a:path w="4667250" h="1270000">
                <a:moveTo>
                  <a:pt x="84671" y="0"/>
                </a:moveTo>
                <a:lnTo>
                  <a:pt x="4582579" y="0"/>
                </a:lnTo>
                <a:cubicBezTo>
                  <a:pt x="4629342" y="0"/>
                  <a:pt x="4667250" y="37908"/>
                  <a:pt x="4667250" y="84671"/>
                </a:cubicBezTo>
                <a:lnTo>
                  <a:pt x="4667250" y="1185329"/>
                </a:lnTo>
                <a:cubicBezTo>
                  <a:pt x="4667250" y="1232092"/>
                  <a:pt x="4629342" y="1270000"/>
                  <a:pt x="4582579" y="1270000"/>
                </a:cubicBezTo>
                <a:lnTo>
                  <a:pt x="84671" y="1270000"/>
                </a:lnTo>
                <a:cubicBezTo>
                  <a:pt x="37908" y="1270000"/>
                  <a:pt x="0" y="1232092"/>
                  <a:pt x="0" y="1185329"/>
                </a:cubicBezTo>
                <a:lnTo>
                  <a:pt x="0" y="84671"/>
                </a:lnTo>
                <a:cubicBezTo>
                  <a:pt x="0" y="37940"/>
                  <a:pt x="37940" y="0"/>
                  <a:pt x="84671" y="0"/>
                </a:cubicBezTo>
                <a:close/>
              </a:path>
            </a:pathLst>
          </a:custGeom>
          <a:solidFill>
            <a:srgbClr val="1A1D21">
              <a:alpha val="50196"/>
            </a:srgbClr>
          </a:solidFill>
          <a:ln/>
        </p:spPr>
        <p:txBody>
          <a:bodyPr/>
          <a:lstStyle/>
          <a:p>
            <a:endParaRPr lang="zh-CN" altLang="en-US"/>
          </a:p>
        </p:txBody>
      </p:sp>
      <p:sp>
        <p:nvSpPr>
          <p:cNvPr id="44" name="Text 42"/>
          <p:cNvSpPr/>
          <p:nvPr/>
        </p:nvSpPr>
        <p:spPr>
          <a:xfrm>
            <a:off x="11115973" y="2572275"/>
            <a:ext cx="4497917" cy="254000"/>
          </a:xfrm>
          <a:prstGeom prst="rect">
            <a:avLst/>
          </a:prstGeom>
          <a:noFill/>
          <a:ln/>
        </p:spPr>
        <p:txBody>
          <a:bodyPr wrap="square" lIns="0" tIns="0" rIns="0" bIns="0" rtlCol="0" anchor="ctr"/>
          <a:lstStyle/>
          <a:p>
            <a:pPr>
              <a:lnSpc>
                <a:spcPct val="130000"/>
              </a:lnSpc>
            </a:pPr>
            <a:r>
              <a:rPr lang="en-US" sz="1333" b="1" dirty="0">
                <a:solidFill>
                  <a:srgbClr val="B38B59"/>
                </a:solidFill>
                <a:latin typeface="MiSans" pitchFamily="34" charset="0"/>
                <a:ea typeface="MiSans" pitchFamily="34" charset="-122"/>
                <a:cs typeface="MiSans" pitchFamily="34" charset="-120"/>
              </a:rPr>
              <a:t>核心特性</a:t>
            </a:r>
            <a:endParaRPr lang="en-US" sz="1600" dirty="0"/>
          </a:p>
        </p:txBody>
      </p:sp>
      <p:sp>
        <p:nvSpPr>
          <p:cNvPr id="45" name="Text 43"/>
          <p:cNvSpPr/>
          <p:nvPr/>
        </p:nvSpPr>
        <p:spPr>
          <a:xfrm>
            <a:off x="11115973" y="2868608"/>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独立的挂载点树</a:t>
            </a:r>
            <a:endParaRPr lang="en-US" sz="1600" dirty="0"/>
          </a:p>
        </p:txBody>
      </p:sp>
      <p:sp>
        <p:nvSpPr>
          <p:cNvPr id="46" name="Text 44"/>
          <p:cNvSpPr/>
          <p:nvPr/>
        </p:nvSpPr>
        <p:spPr>
          <a:xfrm>
            <a:off x="11115973" y="3122608"/>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支持私有/共享/从属传播类型</a:t>
            </a:r>
            <a:endParaRPr lang="en-US" sz="1600" dirty="0"/>
          </a:p>
        </p:txBody>
      </p:sp>
      <p:sp>
        <p:nvSpPr>
          <p:cNvPr id="47" name="Text 45"/>
          <p:cNvSpPr/>
          <p:nvPr/>
        </p:nvSpPr>
        <p:spPr>
          <a:xfrm>
            <a:off x="11115973" y="3376608"/>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实现文件系统完全隔离</a:t>
            </a:r>
            <a:endParaRPr lang="en-US" sz="1600" dirty="0"/>
          </a:p>
        </p:txBody>
      </p:sp>
      <p:sp>
        <p:nvSpPr>
          <p:cNvPr id="48" name="Shape 46"/>
          <p:cNvSpPr/>
          <p:nvPr/>
        </p:nvSpPr>
        <p:spPr>
          <a:xfrm>
            <a:off x="10988973" y="3799941"/>
            <a:ext cx="4667250" cy="762000"/>
          </a:xfrm>
          <a:custGeom>
            <a:avLst/>
            <a:gdLst/>
            <a:ahLst/>
            <a:cxnLst/>
            <a:rect l="l" t="t" r="r" b="b"/>
            <a:pathLst>
              <a:path w="4667250" h="762000">
                <a:moveTo>
                  <a:pt x="84666" y="0"/>
                </a:moveTo>
                <a:lnTo>
                  <a:pt x="4582584" y="0"/>
                </a:lnTo>
                <a:cubicBezTo>
                  <a:pt x="4629344" y="0"/>
                  <a:pt x="4667250" y="37906"/>
                  <a:pt x="4667250" y="84666"/>
                </a:cubicBezTo>
                <a:lnTo>
                  <a:pt x="4667250" y="677334"/>
                </a:lnTo>
                <a:cubicBezTo>
                  <a:pt x="4667250" y="724094"/>
                  <a:pt x="4629344" y="762000"/>
                  <a:pt x="4582584" y="762000"/>
                </a:cubicBezTo>
                <a:lnTo>
                  <a:pt x="84666" y="762000"/>
                </a:lnTo>
                <a:cubicBezTo>
                  <a:pt x="37906" y="762000"/>
                  <a:pt x="0" y="724094"/>
                  <a:pt x="0" y="677334"/>
                </a:cubicBezTo>
                <a:lnTo>
                  <a:pt x="0" y="84666"/>
                </a:lnTo>
                <a:cubicBezTo>
                  <a:pt x="0" y="37937"/>
                  <a:pt x="37937" y="0"/>
                  <a:pt x="84666" y="0"/>
                </a:cubicBezTo>
                <a:close/>
              </a:path>
            </a:pathLst>
          </a:custGeom>
          <a:solidFill>
            <a:srgbClr val="1A1D21">
              <a:alpha val="50196"/>
            </a:srgbClr>
          </a:solidFill>
          <a:ln/>
        </p:spPr>
        <p:txBody>
          <a:bodyPr/>
          <a:lstStyle/>
          <a:p>
            <a:endParaRPr lang="zh-CN" altLang="en-US"/>
          </a:p>
        </p:txBody>
      </p:sp>
      <p:sp>
        <p:nvSpPr>
          <p:cNvPr id="49" name="Text 47"/>
          <p:cNvSpPr/>
          <p:nvPr/>
        </p:nvSpPr>
        <p:spPr>
          <a:xfrm>
            <a:off x="11115973" y="3926941"/>
            <a:ext cx="4497917" cy="254000"/>
          </a:xfrm>
          <a:prstGeom prst="rect">
            <a:avLst/>
          </a:prstGeom>
          <a:noFill/>
          <a:ln/>
        </p:spPr>
        <p:txBody>
          <a:bodyPr wrap="square" lIns="0" tIns="0" rIns="0" bIns="0" rtlCol="0" anchor="ctr"/>
          <a:lstStyle/>
          <a:p>
            <a:pPr>
              <a:lnSpc>
                <a:spcPct val="130000"/>
              </a:lnSpc>
            </a:pPr>
            <a:r>
              <a:rPr lang="en-US" sz="1333" b="1" dirty="0">
                <a:solidFill>
                  <a:srgbClr val="B38B59"/>
                </a:solidFill>
                <a:latin typeface="MiSans" pitchFamily="34" charset="0"/>
                <a:ea typeface="MiSans" pitchFamily="34" charset="-122"/>
                <a:cs typeface="MiSans" pitchFamily="34" charset="-120"/>
              </a:rPr>
              <a:t>传播类型</a:t>
            </a:r>
            <a:endParaRPr lang="en-US" sz="1600" dirty="0"/>
          </a:p>
        </p:txBody>
      </p:sp>
      <p:sp>
        <p:nvSpPr>
          <p:cNvPr id="50" name="Text 48"/>
          <p:cNvSpPr/>
          <p:nvPr/>
        </p:nvSpPr>
        <p:spPr>
          <a:xfrm>
            <a:off x="11115973" y="4223275"/>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MS_PRIVATE(私有)/MS_SHARED(共享)/MS_SLAVE(从属)</a:t>
            </a:r>
            <a:endParaRPr lang="en-US" sz="1600" dirty="0"/>
          </a:p>
        </p:txBody>
      </p:sp>
      <p:sp>
        <p:nvSpPr>
          <p:cNvPr id="51" name="Shape 49"/>
          <p:cNvSpPr/>
          <p:nvPr/>
        </p:nvSpPr>
        <p:spPr>
          <a:xfrm>
            <a:off x="428625" y="4774640"/>
            <a:ext cx="5016500" cy="3812139"/>
          </a:xfrm>
          <a:custGeom>
            <a:avLst/>
            <a:gdLst/>
            <a:ahLst/>
            <a:cxnLst/>
            <a:rect l="l" t="t" r="r" b="b"/>
            <a:pathLst>
              <a:path w="5016500" h="4699000">
                <a:moveTo>
                  <a:pt x="84676" y="0"/>
                </a:moveTo>
                <a:lnTo>
                  <a:pt x="4931824" y="0"/>
                </a:lnTo>
                <a:cubicBezTo>
                  <a:pt x="4978589" y="0"/>
                  <a:pt x="5016500" y="37911"/>
                  <a:pt x="5016500" y="84676"/>
                </a:cubicBezTo>
                <a:lnTo>
                  <a:pt x="5016500" y="4614324"/>
                </a:lnTo>
                <a:cubicBezTo>
                  <a:pt x="5016500" y="4661089"/>
                  <a:pt x="4978589" y="4699000"/>
                  <a:pt x="4931824" y="4699000"/>
                </a:cubicBezTo>
                <a:lnTo>
                  <a:pt x="84676" y="4699000"/>
                </a:lnTo>
                <a:cubicBezTo>
                  <a:pt x="37911" y="4699000"/>
                  <a:pt x="0" y="4661089"/>
                  <a:pt x="0" y="4614324"/>
                </a:cubicBezTo>
                <a:lnTo>
                  <a:pt x="0" y="84676"/>
                </a:lnTo>
                <a:cubicBezTo>
                  <a:pt x="0" y="37942"/>
                  <a:pt x="37942" y="0"/>
                  <a:pt x="84676"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52" name="Shape 50"/>
          <p:cNvSpPr/>
          <p:nvPr/>
        </p:nvSpPr>
        <p:spPr>
          <a:xfrm>
            <a:off x="603250" y="4949265"/>
            <a:ext cx="423333" cy="423333"/>
          </a:xfrm>
          <a:custGeom>
            <a:avLst/>
            <a:gdLst/>
            <a:ahLst/>
            <a:cxnLst/>
            <a:rect l="l" t="t" r="r" b="b"/>
            <a:pathLst>
              <a:path w="423333" h="423333">
                <a:moveTo>
                  <a:pt x="84667" y="0"/>
                </a:moveTo>
                <a:lnTo>
                  <a:pt x="338667" y="0"/>
                </a:lnTo>
                <a:cubicBezTo>
                  <a:pt x="385427" y="0"/>
                  <a:pt x="423333" y="37907"/>
                  <a:pt x="423333" y="84667"/>
                </a:cubicBezTo>
                <a:lnTo>
                  <a:pt x="423333" y="338667"/>
                </a:lnTo>
                <a:cubicBezTo>
                  <a:pt x="423333" y="385427"/>
                  <a:pt x="385427" y="423333"/>
                  <a:pt x="338667" y="423333"/>
                </a:cubicBezTo>
                <a:lnTo>
                  <a:pt x="84667" y="423333"/>
                </a:lnTo>
                <a:cubicBezTo>
                  <a:pt x="37907" y="423333"/>
                  <a:pt x="0" y="385427"/>
                  <a:pt x="0" y="338667"/>
                </a:cubicBezTo>
                <a:lnTo>
                  <a:pt x="0" y="84667"/>
                </a:lnTo>
                <a:cubicBezTo>
                  <a:pt x="0" y="37907"/>
                  <a:pt x="37907" y="0"/>
                  <a:pt x="84667" y="0"/>
                </a:cubicBezTo>
                <a:close/>
              </a:path>
            </a:pathLst>
          </a:custGeom>
          <a:solidFill>
            <a:srgbClr val="B38B59"/>
          </a:solidFill>
          <a:ln/>
        </p:spPr>
        <p:txBody>
          <a:bodyPr/>
          <a:lstStyle/>
          <a:p>
            <a:endParaRPr lang="zh-CN" altLang="en-US"/>
          </a:p>
        </p:txBody>
      </p:sp>
      <p:sp>
        <p:nvSpPr>
          <p:cNvPr id="53" name="Shape 51"/>
          <p:cNvSpPr/>
          <p:nvPr/>
        </p:nvSpPr>
        <p:spPr>
          <a:xfrm>
            <a:off x="730250" y="5076265"/>
            <a:ext cx="169333" cy="169333"/>
          </a:xfrm>
          <a:custGeom>
            <a:avLst/>
            <a:gdLst/>
            <a:ahLst/>
            <a:cxnLst/>
            <a:rect l="l" t="t" r="r" b="b"/>
            <a:pathLst>
              <a:path w="169333" h="169333">
                <a:moveTo>
                  <a:pt x="21167" y="10583"/>
                </a:moveTo>
                <a:cubicBezTo>
                  <a:pt x="9492" y="10583"/>
                  <a:pt x="0" y="20075"/>
                  <a:pt x="0" y="31750"/>
                </a:cubicBezTo>
                <a:lnTo>
                  <a:pt x="0" y="116417"/>
                </a:lnTo>
                <a:cubicBezTo>
                  <a:pt x="0" y="128091"/>
                  <a:pt x="9492" y="137583"/>
                  <a:pt x="21167" y="137583"/>
                </a:cubicBezTo>
                <a:lnTo>
                  <a:pt x="68792" y="137583"/>
                </a:lnTo>
                <a:lnTo>
                  <a:pt x="63500" y="153458"/>
                </a:lnTo>
                <a:lnTo>
                  <a:pt x="39688" y="153458"/>
                </a:lnTo>
                <a:cubicBezTo>
                  <a:pt x="35289" y="153458"/>
                  <a:pt x="31750" y="156997"/>
                  <a:pt x="31750" y="161396"/>
                </a:cubicBezTo>
                <a:cubicBezTo>
                  <a:pt x="31750" y="165795"/>
                  <a:pt x="35289" y="169333"/>
                  <a:pt x="39688" y="169333"/>
                </a:cubicBezTo>
                <a:lnTo>
                  <a:pt x="129646" y="169333"/>
                </a:lnTo>
                <a:cubicBezTo>
                  <a:pt x="134045" y="169333"/>
                  <a:pt x="137583" y="165795"/>
                  <a:pt x="137583" y="161396"/>
                </a:cubicBezTo>
                <a:cubicBezTo>
                  <a:pt x="137583" y="156997"/>
                  <a:pt x="134045" y="153458"/>
                  <a:pt x="129646" y="153458"/>
                </a:cubicBezTo>
                <a:lnTo>
                  <a:pt x="105833" y="153458"/>
                </a:lnTo>
                <a:lnTo>
                  <a:pt x="100542" y="137583"/>
                </a:lnTo>
                <a:lnTo>
                  <a:pt x="148167" y="137583"/>
                </a:lnTo>
                <a:cubicBezTo>
                  <a:pt x="159841" y="137583"/>
                  <a:pt x="169333" y="128091"/>
                  <a:pt x="169333" y="116417"/>
                </a:cubicBezTo>
                <a:lnTo>
                  <a:pt x="169333" y="31750"/>
                </a:lnTo>
                <a:cubicBezTo>
                  <a:pt x="169333" y="20075"/>
                  <a:pt x="159841" y="10583"/>
                  <a:pt x="148167" y="10583"/>
                </a:cubicBezTo>
                <a:lnTo>
                  <a:pt x="21167" y="10583"/>
                </a:lnTo>
                <a:close/>
                <a:moveTo>
                  <a:pt x="31750" y="31750"/>
                </a:moveTo>
                <a:lnTo>
                  <a:pt x="137583" y="31750"/>
                </a:lnTo>
                <a:cubicBezTo>
                  <a:pt x="143437" y="31750"/>
                  <a:pt x="148167" y="36479"/>
                  <a:pt x="148167" y="42333"/>
                </a:cubicBezTo>
                <a:lnTo>
                  <a:pt x="148167" y="95250"/>
                </a:lnTo>
                <a:cubicBezTo>
                  <a:pt x="148167" y="101104"/>
                  <a:pt x="143437" y="105833"/>
                  <a:pt x="137583" y="105833"/>
                </a:cubicBezTo>
                <a:lnTo>
                  <a:pt x="31750" y="105833"/>
                </a:lnTo>
                <a:cubicBezTo>
                  <a:pt x="25896" y="105833"/>
                  <a:pt x="21167" y="101104"/>
                  <a:pt x="21167" y="95250"/>
                </a:cubicBezTo>
                <a:lnTo>
                  <a:pt x="21167" y="42333"/>
                </a:lnTo>
                <a:cubicBezTo>
                  <a:pt x="21167" y="36479"/>
                  <a:pt x="25896" y="31750"/>
                  <a:pt x="31750" y="31750"/>
                </a:cubicBezTo>
                <a:close/>
              </a:path>
            </a:pathLst>
          </a:custGeom>
          <a:solidFill>
            <a:srgbClr val="FFFFFF"/>
          </a:solidFill>
          <a:ln/>
        </p:spPr>
        <p:txBody>
          <a:bodyPr/>
          <a:lstStyle/>
          <a:p>
            <a:endParaRPr lang="zh-CN" altLang="en-US"/>
          </a:p>
        </p:txBody>
      </p:sp>
      <p:sp>
        <p:nvSpPr>
          <p:cNvPr id="54" name="Text 52"/>
          <p:cNvSpPr/>
          <p:nvPr/>
        </p:nvSpPr>
        <p:spPr>
          <a:xfrm>
            <a:off x="1111250" y="5012765"/>
            <a:ext cx="1714500"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UTS Namespace</a:t>
            </a:r>
            <a:endParaRPr lang="en-US" sz="1600" dirty="0"/>
          </a:p>
        </p:txBody>
      </p:sp>
      <p:sp>
        <p:nvSpPr>
          <p:cNvPr id="55" name="Shape 53"/>
          <p:cNvSpPr/>
          <p:nvPr/>
        </p:nvSpPr>
        <p:spPr>
          <a:xfrm>
            <a:off x="603250" y="5499599"/>
            <a:ext cx="4667250" cy="762000"/>
          </a:xfrm>
          <a:custGeom>
            <a:avLst/>
            <a:gdLst/>
            <a:ahLst/>
            <a:cxnLst/>
            <a:rect l="l" t="t" r="r" b="b"/>
            <a:pathLst>
              <a:path w="4667250" h="762000">
                <a:moveTo>
                  <a:pt x="84666" y="0"/>
                </a:moveTo>
                <a:lnTo>
                  <a:pt x="4582584" y="0"/>
                </a:lnTo>
                <a:cubicBezTo>
                  <a:pt x="4629344" y="0"/>
                  <a:pt x="4667250" y="37906"/>
                  <a:pt x="4667250" y="84666"/>
                </a:cubicBezTo>
                <a:lnTo>
                  <a:pt x="4667250" y="677334"/>
                </a:lnTo>
                <a:cubicBezTo>
                  <a:pt x="4667250" y="724094"/>
                  <a:pt x="4629344" y="762000"/>
                  <a:pt x="4582584" y="762000"/>
                </a:cubicBezTo>
                <a:lnTo>
                  <a:pt x="84666" y="762000"/>
                </a:lnTo>
                <a:cubicBezTo>
                  <a:pt x="37906" y="762000"/>
                  <a:pt x="0" y="724094"/>
                  <a:pt x="0" y="677334"/>
                </a:cubicBezTo>
                <a:lnTo>
                  <a:pt x="0" y="84666"/>
                </a:lnTo>
                <a:cubicBezTo>
                  <a:pt x="0" y="37937"/>
                  <a:pt x="37937" y="0"/>
                  <a:pt x="84666" y="0"/>
                </a:cubicBezTo>
                <a:close/>
              </a:path>
            </a:pathLst>
          </a:custGeom>
          <a:solidFill>
            <a:srgbClr val="1A1D21">
              <a:alpha val="50196"/>
            </a:srgbClr>
          </a:solidFill>
          <a:ln/>
        </p:spPr>
        <p:txBody>
          <a:bodyPr/>
          <a:lstStyle/>
          <a:p>
            <a:endParaRPr lang="zh-CN" altLang="en-US"/>
          </a:p>
        </p:txBody>
      </p:sp>
      <p:sp>
        <p:nvSpPr>
          <p:cNvPr id="56" name="Text 54"/>
          <p:cNvSpPr/>
          <p:nvPr/>
        </p:nvSpPr>
        <p:spPr>
          <a:xfrm>
            <a:off x="730250" y="5626599"/>
            <a:ext cx="4497917" cy="254000"/>
          </a:xfrm>
          <a:prstGeom prst="rect">
            <a:avLst/>
          </a:prstGeom>
          <a:noFill/>
          <a:ln/>
        </p:spPr>
        <p:txBody>
          <a:bodyPr wrap="square" lIns="0" tIns="0" rIns="0" bIns="0" rtlCol="0" anchor="ctr"/>
          <a:lstStyle/>
          <a:p>
            <a:pPr>
              <a:lnSpc>
                <a:spcPct val="130000"/>
              </a:lnSpc>
            </a:pPr>
            <a:r>
              <a:rPr lang="en-US" sz="1333" b="1" dirty="0">
                <a:solidFill>
                  <a:srgbClr val="3C8082"/>
                </a:solidFill>
                <a:latin typeface="MiSans" pitchFamily="34" charset="0"/>
                <a:ea typeface="MiSans" pitchFamily="34" charset="-122"/>
                <a:cs typeface="MiSans" pitchFamily="34" charset="-120"/>
              </a:rPr>
              <a:t>隔离资源</a:t>
            </a:r>
            <a:endParaRPr lang="en-US" sz="1600" dirty="0"/>
          </a:p>
        </p:txBody>
      </p:sp>
      <p:sp>
        <p:nvSpPr>
          <p:cNvPr id="57" name="Text 55"/>
          <p:cNvSpPr/>
          <p:nvPr/>
        </p:nvSpPr>
        <p:spPr>
          <a:xfrm>
            <a:off x="730250" y="5922932"/>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主机名和域名,提供独立的系统标识</a:t>
            </a:r>
            <a:endParaRPr lang="en-US" sz="1600" dirty="0"/>
          </a:p>
        </p:txBody>
      </p:sp>
      <p:sp>
        <p:nvSpPr>
          <p:cNvPr id="58" name="Shape 56"/>
          <p:cNvSpPr/>
          <p:nvPr/>
        </p:nvSpPr>
        <p:spPr>
          <a:xfrm>
            <a:off x="603250" y="6346265"/>
            <a:ext cx="4667250" cy="1270000"/>
          </a:xfrm>
          <a:custGeom>
            <a:avLst/>
            <a:gdLst/>
            <a:ahLst/>
            <a:cxnLst/>
            <a:rect l="l" t="t" r="r" b="b"/>
            <a:pathLst>
              <a:path w="4667250" h="1270000">
                <a:moveTo>
                  <a:pt x="84671" y="0"/>
                </a:moveTo>
                <a:lnTo>
                  <a:pt x="4582579" y="0"/>
                </a:lnTo>
                <a:cubicBezTo>
                  <a:pt x="4629342" y="0"/>
                  <a:pt x="4667250" y="37908"/>
                  <a:pt x="4667250" y="84671"/>
                </a:cubicBezTo>
                <a:lnTo>
                  <a:pt x="4667250" y="1185329"/>
                </a:lnTo>
                <a:cubicBezTo>
                  <a:pt x="4667250" y="1232092"/>
                  <a:pt x="4629342" y="1270000"/>
                  <a:pt x="4582579" y="1270000"/>
                </a:cubicBezTo>
                <a:lnTo>
                  <a:pt x="84671" y="1270000"/>
                </a:lnTo>
                <a:cubicBezTo>
                  <a:pt x="37908" y="1270000"/>
                  <a:pt x="0" y="1232092"/>
                  <a:pt x="0" y="1185329"/>
                </a:cubicBezTo>
                <a:lnTo>
                  <a:pt x="0" y="84671"/>
                </a:lnTo>
                <a:cubicBezTo>
                  <a:pt x="0" y="37940"/>
                  <a:pt x="37940" y="0"/>
                  <a:pt x="84671" y="0"/>
                </a:cubicBezTo>
                <a:close/>
              </a:path>
            </a:pathLst>
          </a:custGeom>
          <a:solidFill>
            <a:srgbClr val="1A1D21">
              <a:alpha val="50196"/>
            </a:srgbClr>
          </a:solidFill>
          <a:ln/>
        </p:spPr>
        <p:txBody>
          <a:bodyPr/>
          <a:lstStyle/>
          <a:p>
            <a:endParaRPr lang="zh-CN" altLang="en-US"/>
          </a:p>
        </p:txBody>
      </p:sp>
      <p:sp>
        <p:nvSpPr>
          <p:cNvPr id="59" name="Text 57"/>
          <p:cNvSpPr/>
          <p:nvPr/>
        </p:nvSpPr>
        <p:spPr>
          <a:xfrm>
            <a:off x="730250" y="6473265"/>
            <a:ext cx="4497917" cy="254000"/>
          </a:xfrm>
          <a:prstGeom prst="rect">
            <a:avLst/>
          </a:prstGeom>
          <a:noFill/>
          <a:ln/>
        </p:spPr>
        <p:txBody>
          <a:bodyPr wrap="square" lIns="0" tIns="0" rIns="0" bIns="0" rtlCol="0" anchor="ctr"/>
          <a:lstStyle/>
          <a:p>
            <a:pPr>
              <a:lnSpc>
                <a:spcPct val="130000"/>
              </a:lnSpc>
            </a:pPr>
            <a:r>
              <a:rPr lang="en-US" sz="1333" b="1" dirty="0">
                <a:solidFill>
                  <a:srgbClr val="3C8082"/>
                </a:solidFill>
                <a:latin typeface="MiSans" pitchFamily="34" charset="0"/>
                <a:ea typeface="MiSans" pitchFamily="34" charset="-122"/>
                <a:cs typeface="MiSans" pitchFamily="34" charset="-120"/>
              </a:rPr>
              <a:t>核心特性</a:t>
            </a:r>
            <a:endParaRPr lang="en-US" sz="1600" dirty="0"/>
          </a:p>
        </p:txBody>
      </p:sp>
      <p:sp>
        <p:nvSpPr>
          <p:cNvPr id="60" name="Text 58"/>
          <p:cNvSpPr/>
          <p:nvPr/>
        </p:nvSpPr>
        <p:spPr>
          <a:xfrm>
            <a:off x="730250" y="6769599"/>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独立的主机名和域名</a:t>
            </a:r>
            <a:endParaRPr lang="en-US" sz="1600" dirty="0"/>
          </a:p>
        </p:txBody>
      </p:sp>
      <p:sp>
        <p:nvSpPr>
          <p:cNvPr id="61" name="Text 59"/>
          <p:cNvSpPr/>
          <p:nvPr/>
        </p:nvSpPr>
        <p:spPr>
          <a:xfrm>
            <a:off x="730250" y="7023599"/>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系统标识隔离</a:t>
            </a:r>
            <a:endParaRPr lang="en-US" sz="1600" dirty="0"/>
          </a:p>
        </p:txBody>
      </p:sp>
      <p:sp>
        <p:nvSpPr>
          <p:cNvPr id="62" name="Text 60"/>
          <p:cNvSpPr/>
          <p:nvPr/>
        </p:nvSpPr>
        <p:spPr>
          <a:xfrm>
            <a:off x="730250" y="7277599"/>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应用兼容性好</a:t>
            </a:r>
            <a:endParaRPr lang="en-US" sz="1600" dirty="0"/>
          </a:p>
        </p:txBody>
      </p:sp>
      <p:sp>
        <p:nvSpPr>
          <p:cNvPr id="63" name="Shape 61"/>
          <p:cNvSpPr/>
          <p:nvPr/>
        </p:nvSpPr>
        <p:spPr>
          <a:xfrm>
            <a:off x="603250" y="7700932"/>
            <a:ext cx="4667250" cy="762000"/>
          </a:xfrm>
          <a:custGeom>
            <a:avLst/>
            <a:gdLst/>
            <a:ahLst/>
            <a:cxnLst/>
            <a:rect l="l" t="t" r="r" b="b"/>
            <a:pathLst>
              <a:path w="4667250" h="762000">
                <a:moveTo>
                  <a:pt x="84666" y="0"/>
                </a:moveTo>
                <a:lnTo>
                  <a:pt x="4582584" y="0"/>
                </a:lnTo>
                <a:cubicBezTo>
                  <a:pt x="4629344" y="0"/>
                  <a:pt x="4667250" y="37906"/>
                  <a:pt x="4667250" y="84666"/>
                </a:cubicBezTo>
                <a:lnTo>
                  <a:pt x="4667250" y="677334"/>
                </a:lnTo>
                <a:cubicBezTo>
                  <a:pt x="4667250" y="724094"/>
                  <a:pt x="4629344" y="762000"/>
                  <a:pt x="4582584" y="762000"/>
                </a:cubicBezTo>
                <a:lnTo>
                  <a:pt x="84666" y="762000"/>
                </a:lnTo>
                <a:cubicBezTo>
                  <a:pt x="37906" y="762000"/>
                  <a:pt x="0" y="724094"/>
                  <a:pt x="0" y="677334"/>
                </a:cubicBezTo>
                <a:lnTo>
                  <a:pt x="0" y="84666"/>
                </a:lnTo>
                <a:cubicBezTo>
                  <a:pt x="0" y="37937"/>
                  <a:pt x="37937" y="0"/>
                  <a:pt x="84666" y="0"/>
                </a:cubicBezTo>
                <a:close/>
              </a:path>
            </a:pathLst>
          </a:custGeom>
          <a:solidFill>
            <a:srgbClr val="1A1D21">
              <a:alpha val="50196"/>
            </a:srgbClr>
          </a:solidFill>
          <a:ln/>
        </p:spPr>
        <p:txBody>
          <a:bodyPr/>
          <a:lstStyle/>
          <a:p>
            <a:endParaRPr lang="zh-CN" altLang="en-US"/>
          </a:p>
        </p:txBody>
      </p:sp>
      <p:sp>
        <p:nvSpPr>
          <p:cNvPr id="64" name="Text 62"/>
          <p:cNvSpPr/>
          <p:nvPr/>
        </p:nvSpPr>
        <p:spPr>
          <a:xfrm>
            <a:off x="730250" y="7827932"/>
            <a:ext cx="4497917" cy="254000"/>
          </a:xfrm>
          <a:prstGeom prst="rect">
            <a:avLst/>
          </a:prstGeom>
          <a:noFill/>
          <a:ln/>
        </p:spPr>
        <p:txBody>
          <a:bodyPr wrap="square" lIns="0" tIns="0" rIns="0" bIns="0" rtlCol="0" anchor="ctr"/>
          <a:lstStyle/>
          <a:p>
            <a:pPr>
              <a:lnSpc>
                <a:spcPct val="130000"/>
              </a:lnSpc>
            </a:pPr>
            <a:r>
              <a:rPr lang="en-US" sz="1333" b="1" dirty="0">
                <a:solidFill>
                  <a:srgbClr val="3C8082"/>
                </a:solidFill>
                <a:latin typeface="MiSans" pitchFamily="34" charset="0"/>
                <a:ea typeface="MiSans" pitchFamily="34" charset="-122"/>
                <a:cs typeface="MiSans" pitchFamily="34" charset="-120"/>
              </a:rPr>
              <a:t>应用场景</a:t>
            </a:r>
            <a:endParaRPr lang="en-US" sz="1600" dirty="0"/>
          </a:p>
        </p:txBody>
      </p:sp>
      <p:sp>
        <p:nvSpPr>
          <p:cNvPr id="65" name="Text 63"/>
          <p:cNvSpPr/>
          <p:nvPr/>
        </p:nvSpPr>
        <p:spPr>
          <a:xfrm>
            <a:off x="730250" y="8124265"/>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容器化部署、多租户环境、服务发现、日志管理</a:t>
            </a:r>
            <a:endParaRPr lang="en-US" sz="1600" dirty="0"/>
          </a:p>
        </p:txBody>
      </p:sp>
      <p:sp>
        <p:nvSpPr>
          <p:cNvPr id="66" name="Shape 64"/>
          <p:cNvSpPr/>
          <p:nvPr/>
        </p:nvSpPr>
        <p:spPr>
          <a:xfrm>
            <a:off x="5621486" y="4774640"/>
            <a:ext cx="5016500" cy="3812139"/>
          </a:xfrm>
          <a:custGeom>
            <a:avLst/>
            <a:gdLst/>
            <a:ahLst/>
            <a:cxnLst/>
            <a:rect l="l" t="t" r="r" b="b"/>
            <a:pathLst>
              <a:path w="5016500" h="4699000">
                <a:moveTo>
                  <a:pt x="84676" y="0"/>
                </a:moveTo>
                <a:lnTo>
                  <a:pt x="4931824" y="0"/>
                </a:lnTo>
                <a:cubicBezTo>
                  <a:pt x="4978589" y="0"/>
                  <a:pt x="5016500" y="37911"/>
                  <a:pt x="5016500" y="84676"/>
                </a:cubicBezTo>
                <a:lnTo>
                  <a:pt x="5016500" y="4614324"/>
                </a:lnTo>
                <a:cubicBezTo>
                  <a:pt x="5016500" y="4661089"/>
                  <a:pt x="4978589" y="4699000"/>
                  <a:pt x="4931824" y="4699000"/>
                </a:cubicBezTo>
                <a:lnTo>
                  <a:pt x="84676" y="4699000"/>
                </a:lnTo>
                <a:cubicBezTo>
                  <a:pt x="37911" y="4699000"/>
                  <a:pt x="0" y="4661089"/>
                  <a:pt x="0" y="4614324"/>
                </a:cubicBezTo>
                <a:lnTo>
                  <a:pt x="0" y="84676"/>
                </a:lnTo>
                <a:cubicBezTo>
                  <a:pt x="0" y="37942"/>
                  <a:pt x="37942" y="0"/>
                  <a:pt x="84676"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7" name="Shape 65"/>
          <p:cNvSpPr/>
          <p:nvPr/>
        </p:nvSpPr>
        <p:spPr>
          <a:xfrm>
            <a:off x="5796111" y="4949265"/>
            <a:ext cx="423333" cy="423333"/>
          </a:xfrm>
          <a:custGeom>
            <a:avLst/>
            <a:gdLst/>
            <a:ahLst/>
            <a:cxnLst/>
            <a:rect l="l" t="t" r="r" b="b"/>
            <a:pathLst>
              <a:path w="423333" h="423333">
                <a:moveTo>
                  <a:pt x="84667" y="0"/>
                </a:moveTo>
                <a:lnTo>
                  <a:pt x="338667" y="0"/>
                </a:lnTo>
                <a:cubicBezTo>
                  <a:pt x="385427" y="0"/>
                  <a:pt x="423333" y="37907"/>
                  <a:pt x="423333" y="84667"/>
                </a:cubicBezTo>
                <a:lnTo>
                  <a:pt x="423333" y="338667"/>
                </a:lnTo>
                <a:cubicBezTo>
                  <a:pt x="423333" y="385427"/>
                  <a:pt x="385427" y="423333"/>
                  <a:pt x="338667" y="423333"/>
                </a:cubicBezTo>
                <a:lnTo>
                  <a:pt x="84667" y="423333"/>
                </a:lnTo>
                <a:cubicBezTo>
                  <a:pt x="37907" y="423333"/>
                  <a:pt x="0" y="385427"/>
                  <a:pt x="0" y="338667"/>
                </a:cubicBezTo>
                <a:lnTo>
                  <a:pt x="0" y="84667"/>
                </a:lnTo>
                <a:cubicBezTo>
                  <a:pt x="0" y="37907"/>
                  <a:pt x="37907" y="0"/>
                  <a:pt x="84667" y="0"/>
                </a:cubicBezTo>
                <a:close/>
              </a:path>
            </a:pathLst>
          </a:custGeom>
          <a:solidFill>
            <a:srgbClr val="3C8082"/>
          </a:solidFill>
          <a:ln/>
        </p:spPr>
        <p:txBody>
          <a:bodyPr/>
          <a:lstStyle/>
          <a:p>
            <a:endParaRPr lang="zh-CN" altLang="en-US"/>
          </a:p>
        </p:txBody>
      </p:sp>
      <p:sp>
        <p:nvSpPr>
          <p:cNvPr id="68" name="Shape 66"/>
          <p:cNvSpPr/>
          <p:nvPr/>
        </p:nvSpPr>
        <p:spPr>
          <a:xfrm>
            <a:off x="5912528" y="5076265"/>
            <a:ext cx="190500" cy="169333"/>
          </a:xfrm>
          <a:custGeom>
            <a:avLst/>
            <a:gdLst/>
            <a:ahLst/>
            <a:cxnLst/>
            <a:rect l="l" t="t" r="r" b="b"/>
            <a:pathLst>
              <a:path w="190500" h="169333">
                <a:moveTo>
                  <a:pt x="127000" y="47625"/>
                </a:moveTo>
                <a:cubicBezTo>
                  <a:pt x="127000" y="79772"/>
                  <a:pt x="98557" y="105833"/>
                  <a:pt x="63500" y="105833"/>
                </a:cubicBezTo>
                <a:cubicBezTo>
                  <a:pt x="54670" y="105833"/>
                  <a:pt x="46269" y="104180"/>
                  <a:pt x="38629" y="101203"/>
                </a:cubicBezTo>
                <a:lnTo>
                  <a:pt x="11642" y="115491"/>
                </a:lnTo>
                <a:cubicBezTo>
                  <a:pt x="8566" y="117111"/>
                  <a:pt x="4796" y="116549"/>
                  <a:pt x="2315" y="114102"/>
                </a:cubicBezTo>
                <a:cubicBezTo>
                  <a:pt x="-165" y="111654"/>
                  <a:pt x="-728" y="107851"/>
                  <a:pt x="926" y="104775"/>
                </a:cubicBezTo>
                <a:lnTo>
                  <a:pt x="12700" y="82550"/>
                </a:lnTo>
                <a:cubicBezTo>
                  <a:pt x="4729" y="72827"/>
                  <a:pt x="0" y="60722"/>
                  <a:pt x="0" y="47625"/>
                </a:cubicBezTo>
                <a:cubicBezTo>
                  <a:pt x="0" y="15478"/>
                  <a:pt x="28443" y="-10583"/>
                  <a:pt x="63500" y="-10583"/>
                </a:cubicBezTo>
                <a:cubicBezTo>
                  <a:pt x="98557" y="-10583"/>
                  <a:pt x="127000" y="15478"/>
                  <a:pt x="127000" y="47625"/>
                </a:cubicBezTo>
                <a:close/>
                <a:moveTo>
                  <a:pt x="127000" y="169333"/>
                </a:moveTo>
                <a:cubicBezTo>
                  <a:pt x="95878" y="169333"/>
                  <a:pt x="69982" y="148795"/>
                  <a:pt x="64558" y="121708"/>
                </a:cubicBezTo>
                <a:cubicBezTo>
                  <a:pt x="104246" y="121212"/>
                  <a:pt x="138741" y="92968"/>
                  <a:pt x="142544" y="54670"/>
                </a:cubicBezTo>
                <a:cubicBezTo>
                  <a:pt x="170094" y="61020"/>
                  <a:pt x="190500" y="83873"/>
                  <a:pt x="190500" y="111125"/>
                </a:cubicBezTo>
                <a:cubicBezTo>
                  <a:pt x="190500" y="124222"/>
                  <a:pt x="185771" y="136327"/>
                  <a:pt x="177800" y="146050"/>
                </a:cubicBezTo>
                <a:lnTo>
                  <a:pt x="189574" y="168275"/>
                </a:lnTo>
                <a:cubicBezTo>
                  <a:pt x="191195" y="171351"/>
                  <a:pt x="190632" y="175121"/>
                  <a:pt x="188185" y="177602"/>
                </a:cubicBezTo>
                <a:cubicBezTo>
                  <a:pt x="185737" y="180082"/>
                  <a:pt x="181934" y="180644"/>
                  <a:pt x="178858" y="178991"/>
                </a:cubicBezTo>
                <a:lnTo>
                  <a:pt x="151871" y="164703"/>
                </a:lnTo>
                <a:cubicBezTo>
                  <a:pt x="144231" y="167680"/>
                  <a:pt x="135830" y="169333"/>
                  <a:pt x="127000" y="169333"/>
                </a:cubicBezTo>
                <a:close/>
              </a:path>
            </a:pathLst>
          </a:custGeom>
          <a:solidFill>
            <a:srgbClr val="FFFFFF"/>
          </a:solidFill>
          <a:ln/>
        </p:spPr>
        <p:txBody>
          <a:bodyPr/>
          <a:lstStyle/>
          <a:p>
            <a:endParaRPr lang="zh-CN" altLang="en-US"/>
          </a:p>
        </p:txBody>
      </p:sp>
      <p:sp>
        <p:nvSpPr>
          <p:cNvPr id="69" name="Text 67"/>
          <p:cNvSpPr/>
          <p:nvPr/>
        </p:nvSpPr>
        <p:spPr>
          <a:xfrm>
            <a:off x="6304111" y="5012765"/>
            <a:ext cx="1640417"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IPC Namespace</a:t>
            </a:r>
            <a:endParaRPr lang="en-US" sz="1600" dirty="0"/>
          </a:p>
        </p:txBody>
      </p:sp>
      <p:sp>
        <p:nvSpPr>
          <p:cNvPr id="70" name="Shape 68"/>
          <p:cNvSpPr/>
          <p:nvPr/>
        </p:nvSpPr>
        <p:spPr>
          <a:xfrm>
            <a:off x="5796111" y="5499599"/>
            <a:ext cx="4667250" cy="762000"/>
          </a:xfrm>
          <a:custGeom>
            <a:avLst/>
            <a:gdLst/>
            <a:ahLst/>
            <a:cxnLst/>
            <a:rect l="l" t="t" r="r" b="b"/>
            <a:pathLst>
              <a:path w="4667250" h="762000">
                <a:moveTo>
                  <a:pt x="84666" y="0"/>
                </a:moveTo>
                <a:lnTo>
                  <a:pt x="4582584" y="0"/>
                </a:lnTo>
                <a:cubicBezTo>
                  <a:pt x="4629344" y="0"/>
                  <a:pt x="4667250" y="37906"/>
                  <a:pt x="4667250" y="84666"/>
                </a:cubicBezTo>
                <a:lnTo>
                  <a:pt x="4667250" y="677334"/>
                </a:lnTo>
                <a:cubicBezTo>
                  <a:pt x="4667250" y="724094"/>
                  <a:pt x="4629344" y="762000"/>
                  <a:pt x="4582584" y="762000"/>
                </a:cubicBezTo>
                <a:lnTo>
                  <a:pt x="84666" y="762000"/>
                </a:lnTo>
                <a:cubicBezTo>
                  <a:pt x="37906" y="762000"/>
                  <a:pt x="0" y="724094"/>
                  <a:pt x="0" y="677334"/>
                </a:cubicBezTo>
                <a:lnTo>
                  <a:pt x="0" y="84666"/>
                </a:lnTo>
                <a:cubicBezTo>
                  <a:pt x="0" y="37937"/>
                  <a:pt x="37937" y="0"/>
                  <a:pt x="84666" y="0"/>
                </a:cubicBezTo>
                <a:close/>
              </a:path>
            </a:pathLst>
          </a:custGeom>
          <a:solidFill>
            <a:srgbClr val="1A1D21">
              <a:alpha val="50196"/>
            </a:srgbClr>
          </a:solidFill>
          <a:ln/>
        </p:spPr>
        <p:txBody>
          <a:bodyPr/>
          <a:lstStyle/>
          <a:p>
            <a:endParaRPr lang="zh-CN" altLang="en-US"/>
          </a:p>
        </p:txBody>
      </p:sp>
      <p:sp>
        <p:nvSpPr>
          <p:cNvPr id="71" name="Text 69"/>
          <p:cNvSpPr/>
          <p:nvPr/>
        </p:nvSpPr>
        <p:spPr>
          <a:xfrm>
            <a:off x="5923111" y="5626599"/>
            <a:ext cx="4497917" cy="254000"/>
          </a:xfrm>
          <a:prstGeom prst="rect">
            <a:avLst/>
          </a:prstGeom>
          <a:noFill/>
          <a:ln/>
        </p:spPr>
        <p:txBody>
          <a:bodyPr wrap="square" lIns="0" tIns="0" rIns="0" bIns="0" rtlCol="0" anchor="ctr"/>
          <a:lstStyle/>
          <a:p>
            <a:pPr>
              <a:lnSpc>
                <a:spcPct val="130000"/>
              </a:lnSpc>
            </a:pPr>
            <a:r>
              <a:rPr lang="en-US" sz="1333" b="1" dirty="0">
                <a:solidFill>
                  <a:srgbClr val="B38B59"/>
                </a:solidFill>
                <a:latin typeface="MiSans" pitchFamily="34" charset="0"/>
                <a:ea typeface="MiSans" pitchFamily="34" charset="-122"/>
                <a:cs typeface="MiSans" pitchFamily="34" charset="-120"/>
              </a:rPr>
              <a:t>隔离资源</a:t>
            </a:r>
            <a:endParaRPr lang="en-US" sz="1600" dirty="0"/>
          </a:p>
        </p:txBody>
      </p:sp>
      <p:sp>
        <p:nvSpPr>
          <p:cNvPr id="72" name="Text 70"/>
          <p:cNvSpPr/>
          <p:nvPr/>
        </p:nvSpPr>
        <p:spPr>
          <a:xfrm>
            <a:off x="5923111" y="5922932"/>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进程间通信资源(System V IPC/POSIX IPC)</a:t>
            </a:r>
            <a:endParaRPr lang="en-US" sz="1600" dirty="0"/>
          </a:p>
        </p:txBody>
      </p:sp>
      <p:sp>
        <p:nvSpPr>
          <p:cNvPr id="73" name="Shape 71"/>
          <p:cNvSpPr/>
          <p:nvPr/>
        </p:nvSpPr>
        <p:spPr>
          <a:xfrm>
            <a:off x="5796111" y="6346265"/>
            <a:ext cx="4667250" cy="1270000"/>
          </a:xfrm>
          <a:custGeom>
            <a:avLst/>
            <a:gdLst/>
            <a:ahLst/>
            <a:cxnLst/>
            <a:rect l="l" t="t" r="r" b="b"/>
            <a:pathLst>
              <a:path w="4667250" h="1270000">
                <a:moveTo>
                  <a:pt x="84671" y="0"/>
                </a:moveTo>
                <a:lnTo>
                  <a:pt x="4582579" y="0"/>
                </a:lnTo>
                <a:cubicBezTo>
                  <a:pt x="4629342" y="0"/>
                  <a:pt x="4667250" y="37908"/>
                  <a:pt x="4667250" y="84671"/>
                </a:cubicBezTo>
                <a:lnTo>
                  <a:pt x="4667250" y="1185329"/>
                </a:lnTo>
                <a:cubicBezTo>
                  <a:pt x="4667250" y="1232092"/>
                  <a:pt x="4629342" y="1270000"/>
                  <a:pt x="4582579" y="1270000"/>
                </a:cubicBezTo>
                <a:lnTo>
                  <a:pt x="84671" y="1270000"/>
                </a:lnTo>
                <a:cubicBezTo>
                  <a:pt x="37908" y="1270000"/>
                  <a:pt x="0" y="1232092"/>
                  <a:pt x="0" y="1185329"/>
                </a:cubicBezTo>
                <a:lnTo>
                  <a:pt x="0" y="84671"/>
                </a:lnTo>
                <a:cubicBezTo>
                  <a:pt x="0" y="37940"/>
                  <a:pt x="37940" y="0"/>
                  <a:pt x="84671" y="0"/>
                </a:cubicBezTo>
                <a:close/>
              </a:path>
            </a:pathLst>
          </a:custGeom>
          <a:solidFill>
            <a:srgbClr val="1A1D21">
              <a:alpha val="50196"/>
            </a:srgbClr>
          </a:solidFill>
          <a:ln/>
        </p:spPr>
        <p:txBody>
          <a:bodyPr/>
          <a:lstStyle/>
          <a:p>
            <a:endParaRPr lang="zh-CN" altLang="en-US"/>
          </a:p>
        </p:txBody>
      </p:sp>
      <p:sp>
        <p:nvSpPr>
          <p:cNvPr id="74" name="Text 72"/>
          <p:cNvSpPr/>
          <p:nvPr/>
        </p:nvSpPr>
        <p:spPr>
          <a:xfrm>
            <a:off x="5923111" y="6473265"/>
            <a:ext cx="4497917" cy="254000"/>
          </a:xfrm>
          <a:prstGeom prst="rect">
            <a:avLst/>
          </a:prstGeom>
          <a:noFill/>
          <a:ln/>
        </p:spPr>
        <p:txBody>
          <a:bodyPr wrap="square" lIns="0" tIns="0" rIns="0" bIns="0" rtlCol="0" anchor="ctr"/>
          <a:lstStyle/>
          <a:p>
            <a:pPr>
              <a:lnSpc>
                <a:spcPct val="130000"/>
              </a:lnSpc>
            </a:pPr>
            <a:r>
              <a:rPr lang="en-US" sz="1333" b="1" dirty="0">
                <a:solidFill>
                  <a:srgbClr val="B38B59"/>
                </a:solidFill>
                <a:latin typeface="MiSans" pitchFamily="34" charset="0"/>
                <a:ea typeface="MiSans" pitchFamily="34" charset="-122"/>
                <a:cs typeface="MiSans" pitchFamily="34" charset="-120"/>
              </a:rPr>
              <a:t>核心特性</a:t>
            </a:r>
            <a:endParaRPr lang="en-US" sz="1600" dirty="0"/>
          </a:p>
        </p:txBody>
      </p:sp>
      <p:sp>
        <p:nvSpPr>
          <p:cNvPr id="75" name="Text 73"/>
          <p:cNvSpPr/>
          <p:nvPr/>
        </p:nvSpPr>
        <p:spPr>
          <a:xfrm>
            <a:off x="5923111" y="6769599"/>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System V IPC隔离</a:t>
            </a:r>
            <a:endParaRPr lang="en-US" sz="1600" dirty="0"/>
          </a:p>
        </p:txBody>
      </p:sp>
      <p:sp>
        <p:nvSpPr>
          <p:cNvPr id="76" name="Text 74"/>
          <p:cNvSpPr/>
          <p:nvPr/>
        </p:nvSpPr>
        <p:spPr>
          <a:xfrm>
            <a:off x="5923111" y="7023599"/>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POSIX IPC隔离</a:t>
            </a:r>
            <a:endParaRPr lang="en-US" sz="1600" dirty="0"/>
          </a:p>
        </p:txBody>
      </p:sp>
      <p:sp>
        <p:nvSpPr>
          <p:cNvPr id="77" name="Text 75"/>
          <p:cNvSpPr/>
          <p:nvPr/>
        </p:nvSpPr>
        <p:spPr>
          <a:xfrm>
            <a:off x="5923111" y="7277599"/>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IPC标识符隔离</a:t>
            </a:r>
            <a:endParaRPr lang="en-US" sz="1600" dirty="0"/>
          </a:p>
        </p:txBody>
      </p:sp>
      <p:sp>
        <p:nvSpPr>
          <p:cNvPr id="78" name="Shape 76"/>
          <p:cNvSpPr/>
          <p:nvPr/>
        </p:nvSpPr>
        <p:spPr>
          <a:xfrm>
            <a:off x="5796111" y="7700932"/>
            <a:ext cx="4667250" cy="762000"/>
          </a:xfrm>
          <a:custGeom>
            <a:avLst/>
            <a:gdLst/>
            <a:ahLst/>
            <a:cxnLst/>
            <a:rect l="l" t="t" r="r" b="b"/>
            <a:pathLst>
              <a:path w="4667250" h="762000">
                <a:moveTo>
                  <a:pt x="84666" y="0"/>
                </a:moveTo>
                <a:lnTo>
                  <a:pt x="4582584" y="0"/>
                </a:lnTo>
                <a:cubicBezTo>
                  <a:pt x="4629344" y="0"/>
                  <a:pt x="4667250" y="37906"/>
                  <a:pt x="4667250" y="84666"/>
                </a:cubicBezTo>
                <a:lnTo>
                  <a:pt x="4667250" y="677334"/>
                </a:lnTo>
                <a:cubicBezTo>
                  <a:pt x="4667250" y="724094"/>
                  <a:pt x="4629344" y="762000"/>
                  <a:pt x="4582584" y="762000"/>
                </a:cubicBezTo>
                <a:lnTo>
                  <a:pt x="84666" y="762000"/>
                </a:lnTo>
                <a:cubicBezTo>
                  <a:pt x="37906" y="762000"/>
                  <a:pt x="0" y="724094"/>
                  <a:pt x="0" y="677334"/>
                </a:cubicBezTo>
                <a:lnTo>
                  <a:pt x="0" y="84666"/>
                </a:lnTo>
                <a:cubicBezTo>
                  <a:pt x="0" y="37937"/>
                  <a:pt x="37937" y="0"/>
                  <a:pt x="84666" y="0"/>
                </a:cubicBezTo>
                <a:close/>
              </a:path>
            </a:pathLst>
          </a:custGeom>
          <a:solidFill>
            <a:srgbClr val="1A1D21">
              <a:alpha val="50196"/>
            </a:srgbClr>
          </a:solidFill>
          <a:ln/>
        </p:spPr>
        <p:txBody>
          <a:bodyPr/>
          <a:lstStyle/>
          <a:p>
            <a:endParaRPr lang="zh-CN" altLang="en-US"/>
          </a:p>
        </p:txBody>
      </p:sp>
      <p:sp>
        <p:nvSpPr>
          <p:cNvPr id="79" name="Text 77"/>
          <p:cNvSpPr/>
          <p:nvPr/>
        </p:nvSpPr>
        <p:spPr>
          <a:xfrm>
            <a:off x="5923111" y="7827932"/>
            <a:ext cx="4497917" cy="254000"/>
          </a:xfrm>
          <a:prstGeom prst="rect">
            <a:avLst/>
          </a:prstGeom>
          <a:noFill/>
          <a:ln/>
        </p:spPr>
        <p:txBody>
          <a:bodyPr wrap="square" lIns="0" tIns="0" rIns="0" bIns="0" rtlCol="0" anchor="ctr"/>
          <a:lstStyle/>
          <a:p>
            <a:pPr>
              <a:lnSpc>
                <a:spcPct val="130000"/>
              </a:lnSpc>
            </a:pPr>
            <a:r>
              <a:rPr lang="en-US" sz="1333" b="1" dirty="0">
                <a:solidFill>
                  <a:srgbClr val="B38B59"/>
                </a:solidFill>
                <a:latin typeface="MiSans" pitchFamily="34" charset="0"/>
                <a:ea typeface="MiSans" pitchFamily="34" charset="-122"/>
                <a:cs typeface="MiSans" pitchFamily="34" charset="-120"/>
              </a:rPr>
              <a:t>安全价值</a:t>
            </a:r>
            <a:endParaRPr lang="en-US" sz="1600" dirty="0"/>
          </a:p>
        </p:txBody>
      </p:sp>
      <p:sp>
        <p:nvSpPr>
          <p:cNvPr id="80" name="Text 78"/>
          <p:cNvSpPr/>
          <p:nvPr/>
        </p:nvSpPr>
        <p:spPr>
          <a:xfrm>
            <a:off x="5923111" y="8124265"/>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防止容器间通过IPC数据泄露、确保多租户IPC资源独立</a:t>
            </a:r>
            <a:endParaRPr lang="en-US" sz="1600" dirty="0"/>
          </a:p>
        </p:txBody>
      </p:sp>
      <p:sp>
        <p:nvSpPr>
          <p:cNvPr id="81" name="Shape 79"/>
          <p:cNvSpPr/>
          <p:nvPr/>
        </p:nvSpPr>
        <p:spPr>
          <a:xfrm>
            <a:off x="10814348" y="4774640"/>
            <a:ext cx="5016500" cy="3812139"/>
          </a:xfrm>
          <a:custGeom>
            <a:avLst/>
            <a:gdLst/>
            <a:ahLst/>
            <a:cxnLst/>
            <a:rect l="l" t="t" r="r" b="b"/>
            <a:pathLst>
              <a:path w="5016500" h="4699000">
                <a:moveTo>
                  <a:pt x="84676" y="0"/>
                </a:moveTo>
                <a:lnTo>
                  <a:pt x="4931824" y="0"/>
                </a:lnTo>
                <a:cubicBezTo>
                  <a:pt x="4978589" y="0"/>
                  <a:pt x="5016500" y="37911"/>
                  <a:pt x="5016500" y="84676"/>
                </a:cubicBezTo>
                <a:lnTo>
                  <a:pt x="5016500" y="4614324"/>
                </a:lnTo>
                <a:cubicBezTo>
                  <a:pt x="5016500" y="4661089"/>
                  <a:pt x="4978589" y="4699000"/>
                  <a:pt x="4931824" y="4699000"/>
                </a:cubicBezTo>
                <a:lnTo>
                  <a:pt x="84676" y="4699000"/>
                </a:lnTo>
                <a:cubicBezTo>
                  <a:pt x="37911" y="4699000"/>
                  <a:pt x="0" y="4661089"/>
                  <a:pt x="0" y="4614324"/>
                </a:cubicBezTo>
                <a:lnTo>
                  <a:pt x="0" y="84676"/>
                </a:lnTo>
                <a:cubicBezTo>
                  <a:pt x="0" y="37942"/>
                  <a:pt x="37942" y="0"/>
                  <a:pt x="84676"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82" name="Shape 80"/>
          <p:cNvSpPr/>
          <p:nvPr/>
        </p:nvSpPr>
        <p:spPr>
          <a:xfrm>
            <a:off x="10988973" y="4949265"/>
            <a:ext cx="423333" cy="423333"/>
          </a:xfrm>
          <a:custGeom>
            <a:avLst/>
            <a:gdLst/>
            <a:ahLst/>
            <a:cxnLst/>
            <a:rect l="l" t="t" r="r" b="b"/>
            <a:pathLst>
              <a:path w="423333" h="423333">
                <a:moveTo>
                  <a:pt x="84667" y="0"/>
                </a:moveTo>
                <a:lnTo>
                  <a:pt x="338667" y="0"/>
                </a:lnTo>
                <a:cubicBezTo>
                  <a:pt x="385427" y="0"/>
                  <a:pt x="423333" y="37907"/>
                  <a:pt x="423333" y="84667"/>
                </a:cubicBezTo>
                <a:lnTo>
                  <a:pt x="423333" y="338667"/>
                </a:lnTo>
                <a:cubicBezTo>
                  <a:pt x="423333" y="385427"/>
                  <a:pt x="385427" y="423333"/>
                  <a:pt x="338667" y="423333"/>
                </a:cubicBezTo>
                <a:lnTo>
                  <a:pt x="84667" y="423333"/>
                </a:lnTo>
                <a:cubicBezTo>
                  <a:pt x="37907" y="423333"/>
                  <a:pt x="0" y="385427"/>
                  <a:pt x="0" y="338667"/>
                </a:cubicBezTo>
                <a:lnTo>
                  <a:pt x="0" y="84667"/>
                </a:lnTo>
                <a:cubicBezTo>
                  <a:pt x="0" y="37907"/>
                  <a:pt x="37907" y="0"/>
                  <a:pt x="84667" y="0"/>
                </a:cubicBezTo>
                <a:close/>
              </a:path>
            </a:pathLst>
          </a:custGeom>
          <a:solidFill>
            <a:srgbClr val="B38B59"/>
          </a:solidFill>
          <a:ln/>
        </p:spPr>
        <p:txBody>
          <a:bodyPr/>
          <a:lstStyle/>
          <a:p>
            <a:endParaRPr lang="zh-CN" altLang="en-US"/>
          </a:p>
        </p:txBody>
      </p:sp>
      <p:sp>
        <p:nvSpPr>
          <p:cNvPr id="83" name="Shape 81"/>
          <p:cNvSpPr/>
          <p:nvPr/>
        </p:nvSpPr>
        <p:spPr>
          <a:xfrm>
            <a:off x="11105389" y="5076265"/>
            <a:ext cx="190500" cy="169333"/>
          </a:xfrm>
          <a:custGeom>
            <a:avLst/>
            <a:gdLst/>
            <a:ahLst/>
            <a:cxnLst/>
            <a:rect l="l" t="t" r="r" b="b"/>
            <a:pathLst>
              <a:path w="190500" h="169333">
                <a:moveTo>
                  <a:pt x="74083" y="82021"/>
                </a:moveTo>
                <a:cubicBezTo>
                  <a:pt x="95987" y="82021"/>
                  <a:pt x="113771" y="64237"/>
                  <a:pt x="113771" y="42333"/>
                </a:cubicBezTo>
                <a:cubicBezTo>
                  <a:pt x="113771" y="20429"/>
                  <a:pt x="95987" y="2646"/>
                  <a:pt x="74083" y="2646"/>
                </a:cubicBezTo>
                <a:cubicBezTo>
                  <a:pt x="52179" y="2646"/>
                  <a:pt x="34396" y="20429"/>
                  <a:pt x="34396" y="42333"/>
                </a:cubicBezTo>
                <a:cubicBezTo>
                  <a:pt x="34396" y="64237"/>
                  <a:pt x="52179" y="82021"/>
                  <a:pt x="74083" y="82021"/>
                </a:cubicBezTo>
                <a:close/>
                <a:moveTo>
                  <a:pt x="64261" y="100542"/>
                </a:moveTo>
                <a:cubicBezTo>
                  <a:pt x="31684" y="100542"/>
                  <a:pt x="5292" y="126934"/>
                  <a:pt x="5292" y="159511"/>
                </a:cubicBezTo>
                <a:cubicBezTo>
                  <a:pt x="5292" y="164935"/>
                  <a:pt x="9690" y="169333"/>
                  <a:pt x="15114" y="169333"/>
                </a:cubicBezTo>
                <a:lnTo>
                  <a:pt x="98293" y="169333"/>
                </a:lnTo>
                <a:cubicBezTo>
                  <a:pt x="86320" y="155244"/>
                  <a:pt x="79375" y="137087"/>
                  <a:pt x="79375" y="117872"/>
                </a:cubicBezTo>
                <a:lnTo>
                  <a:pt x="79375" y="107586"/>
                </a:lnTo>
                <a:cubicBezTo>
                  <a:pt x="79375" y="105172"/>
                  <a:pt x="79706" y="102791"/>
                  <a:pt x="80334" y="100542"/>
                </a:cubicBezTo>
                <a:lnTo>
                  <a:pt x="64261" y="100542"/>
                </a:lnTo>
                <a:close/>
                <a:moveTo>
                  <a:pt x="147274" y="161561"/>
                </a:moveTo>
                <a:lnTo>
                  <a:pt x="142875" y="163645"/>
                </a:lnTo>
                <a:lnTo>
                  <a:pt x="142875" y="101435"/>
                </a:lnTo>
                <a:lnTo>
                  <a:pt x="174625" y="112018"/>
                </a:lnTo>
                <a:lnTo>
                  <a:pt x="174625" y="118500"/>
                </a:lnTo>
                <a:cubicBezTo>
                  <a:pt x="174625" y="136955"/>
                  <a:pt x="163976" y="153723"/>
                  <a:pt x="147274" y="161594"/>
                </a:cubicBezTo>
                <a:close/>
                <a:moveTo>
                  <a:pt x="139535" y="85824"/>
                </a:moveTo>
                <a:lnTo>
                  <a:pt x="102493" y="98160"/>
                </a:lnTo>
                <a:cubicBezTo>
                  <a:pt x="98160" y="99616"/>
                  <a:pt x="95250" y="103651"/>
                  <a:pt x="95250" y="108215"/>
                </a:cubicBezTo>
                <a:lnTo>
                  <a:pt x="95250" y="118500"/>
                </a:lnTo>
                <a:cubicBezTo>
                  <a:pt x="95250" y="143107"/>
                  <a:pt x="109471" y="165497"/>
                  <a:pt x="131696" y="175948"/>
                </a:cubicBezTo>
                <a:lnTo>
                  <a:pt x="137815" y="178825"/>
                </a:lnTo>
                <a:cubicBezTo>
                  <a:pt x="139402" y="179553"/>
                  <a:pt x="141122" y="179950"/>
                  <a:pt x="142842" y="179950"/>
                </a:cubicBezTo>
                <a:cubicBezTo>
                  <a:pt x="144562" y="179950"/>
                  <a:pt x="146315" y="179553"/>
                  <a:pt x="147869" y="178825"/>
                </a:cubicBezTo>
                <a:lnTo>
                  <a:pt x="153988" y="175948"/>
                </a:lnTo>
                <a:cubicBezTo>
                  <a:pt x="176279" y="165464"/>
                  <a:pt x="190500" y="143073"/>
                  <a:pt x="190500" y="118467"/>
                </a:cubicBezTo>
                <a:lnTo>
                  <a:pt x="190500" y="108182"/>
                </a:lnTo>
                <a:cubicBezTo>
                  <a:pt x="190500" y="103617"/>
                  <a:pt x="187590" y="99583"/>
                  <a:pt x="183257" y="98127"/>
                </a:cubicBezTo>
                <a:lnTo>
                  <a:pt x="146215" y="85791"/>
                </a:lnTo>
                <a:cubicBezTo>
                  <a:pt x="144033" y="85064"/>
                  <a:pt x="141684" y="85064"/>
                  <a:pt x="139535" y="85791"/>
                </a:cubicBezTo>
                <a:close/>
              </a:path>
            </a:pathLst>
          </a:custGeom>
          <a:solidFill>
            <a:srgbClr val="FFFFFF"/>
          </a:solidFill>
          <a:ln/>
        </p:spPr>
        <p:txBody>
          <a:bodyPr/>
          <a:lstStyle/>
          <a:p>
            <a:endParaRPr lang="zh-CN" altLang="en-US"/>
          </a:p>
        </p:txBody>
      </p:sp>
      <p:sp>
        <p:nvSpPr>
          <p:cNvPr id="84" name="Text 82"/>
          <p:cNvSpPr/>
          <p:nvPr/>
        </p:nvSpPr>
        <p:spPr>
          <a:xfrm>
            <a:off x="11496973" y="5012765"/>
            <a:ext cx="1756833"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User Namespace</a:t>
            </a:r>
            <a:endParaRPr lang="en-US" sz="1600" dirty="0"/>
          </a:p>
        </p:txBody>
      </p:sp>
      <p:sp>
        <p:nvSpPr>
          <p:cNvPr id="85" name="Shape 83"/>
          <p:cNvSpPr/>
          <p:nvPr/>
        </p:nvSpPr>
        <p:spPr>
          <a:xfrm>
            <a:off x="10988973" y="5499599"/>
            <a:ext cx="4667250" cy="762000"/>
          </a:xfrm>
          <a:custGeom>
            <a:avLst/>
            <a:gdLst/>
            <a:ahLst/>
            <a:cxnLst/>
            <a:rect l="l" t="t" r="r" b="b"/>
            <a:pathLst>
              <a:path w="4667250" h="762000">
                <a:moveTo>
                  <a:pt x="84666" y="0"/>
                </a:moveTo>
                <a:lnTo>
                  <a:pt x="4582584" y="0"/>
                </a:lnTo>
                <a:cubicBezTo>
                  <a:pt x="4629344" y="0"/>
                  <a:pt x="4667250" y="37906"/>
                  <a:pt x="4667250" y="84666"/>
                </a:cubicBezTo>
                <a:lnTo>
                  <a:pt x="4667250" y="677334"/>
                </a:lnTo>
                <a:cubicBezTo>
                  <a:pt x="4667250" y="724094"/>
                  <a:pt x="4629344" y="762000"/>
                  <a:pt x="4582584" y="762000"/>
                </a:cubicBezTo>
                <a:lnTo>
                  <a:pt x="84666" y="762000"/>
                </a:lnTo>
                <a:cubicBezTo>
                  <a:pt x="37906" y="762000"/>
                  <a:pt x="0" y="724094"/>
                  <a:pt x="0" y="677334"/>
                </a:cubicBezTo>
                <a:lnTo>
                  <a:pt x="0" y="84666"/>
                </a:lnTo>
                <a:cubicBezTo>
                  <a:pt x="0" y="37937"/>
                  <a:pt x="37937" y="0"/>
                  <a:pt x="84666" y="0"/>
                </a:cubicBezTo>
                <a:close/>
              </a:path>
            </a:pathLst>
          </a:custGeom>
          <a:solidFill>
            <a:srgbClr val="1A1D21">
              <a:alpha val="50196"/>
            </a:srgbClr>
          </a:solidFill>
          <a:ln/>
        </p:spPr>
        <p:txBody>
          <a:bodyPr/>
          <a:lstStyle/>
          <a:p>
            <a:endParaRPr lang="zh-CN" altLang="en-US"/>
          </a:p>
        </p:txBody>
      </p:sp>
      <p:sp>
        <p:nvSpPr>
          <p:cNvPr id="86" name="Text 84"/>
          <p:cNvSpPr/>
          <p:nvPr/>
        </p:nvSpPr>
        <p:spPr>
          <a:xfrm>
            <a:off x="11115973" y="5626599"/>
            <a:ext cx="4497917" cy="254000"/>
          </a:xfrm>
          <a:prstGeom prst="rect">
            <a:avLst/>
          </a:prstGeom>
          <a:noFill/>
          <a:ln/>
        </p:spPr>
        <p:txBody>
          <a:bodyPr wrap="square" lIns="0" tIns="0" rIns="0" bIns="0" rtlCol="0" anchor="ctr"/>
          <a:lstStyle/>
          <a:p>
            <a:pPr>
              <a:lnSpc>
                <a:spcPct val="130000"/>
              </a:lnSpc>
            </a:pPr>
            <a:r>
              <a:rPr lang="en-US" sz="1333" b="1" dirty="0">
                <a:solidFill>
                  <a:srgbClr val="3C8082"/>
                </a:solidFill>
                <a:latin typeface="MiSans" pitchFamily="34" charset="0"/>
                <a:ea typeface="MiSans" pitchFamily="34" charset="-122"/>
                <a:cs typeface="MiSans" pitchFamily="34" charset="-120"/>
              </a:rPr>
              <a:t>隔离资源</a:t>
            </a:r>
            <a:endParaRPr lang="en-US" sz="1600" dirty="0"/>
          </a:p>
        </p:txBody>
      </p:sp>
      <p:sp>
        <p:nvSpPr>
          <p:cNvPr id="87" name="Text 85"/>
          <p:cNvSpPr/>
          <p:nvPr/>
        </p:nvSpPr>
        <p:spPr>
          <a:xfrm>
            <a:off x="11115973" y="5922932"/>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用户和组ID,提供UID/GID映射机制</a:t>
            </a:r>
            <a:endParaRPr lang="en-US" sz="1600" dirty="0"/>
          </a:p>
        </p:txBody>
      </p:sp>
      <p:sp>
        <p:nvSpPr>
          <p:cNvPr id="88" name="Shape 86"/>
          <p:cNvSpPr/>
          <p:nvPr/>
        </p:nvSpPr>
        <p:spPr>
          <a:xfrm>
            <a:off x="10988973" y="6346265"/>
            <a:ext cx="4667250" cy="1270000"/>
          </a:xfrm>
          <a:custGeom>
            <a:avLst/>
            <a:gdLst/>
            <a:ahLst/>
            <a:cxnLst/>
            <a:rect l="l" t="t" r="r" b="b"/>
            <a:pathLst>
              <a:path w="4667250" h="1270000">
                <a:moveTo>
                  <a:pt x="84671" y="0"/>
                </a:moveTo>
                <a:lnTo>
                  <a:pt x="4582579" y="0"/>
                </a:lnTo>
                <a:cubicBezTo>
                  <a:pt x="4629342" y="0"/>
                  <a:pt x="4667250" y="37908"/>
                  <a:pt x="4667250" y="84671"/>
                </a:cubicBezTo>
                <a:lnTo>
                  <a:pt x="4667250" y="1185329"/>
                </a:lnTo>
                <a:cubicBezTo>
                  <a:pt x="4667250" y="1232092"/>
                  <a:pt x="4629342" y="1270000"/>
                  <a:pt x="4582579" y="1270000"/>
                </a:cubicBezTo>
                <a:lnTo>
                  <a:pt x="84671" y="1270000"/>
                </a:lnTo>
                <a:cubicBezTo>
                  <a:pt x="37908" y="1270000"/>
                  <a:pt x="0" y="1232092"/>
                  <a:pt x="0" y="1185329"/>
                </a:cubicBezTo>
                <a:lnTo>
                  <a:pt x="0" y="84671"/>
                </a:lnTo>
                <a:cubicBezTo>
                  <a:pt x="0" y="37940"/>
                  <a:pt x="37940" y="0"/>
                  <a:pt x="84671" y="0"/>
                </a:cubicBezTo>
                <a:close/>
              </a:path>
            </a:pathLst>
          </a:custGeom>
          <a:solidFill>
            <a:srgbClr val="1A1D21">
              <a:alpha val="50196"/>
            </a:srgbClr>
          </a:solidFill>
          <a:ln/>
        </p:spPr>
        <p:txBody>
          <a:bodyPr/>
          <a:lstStyle/>
          <a:p>
            <a:endParaRPr lang="zh-CN" altLang="en-US"/>
          </a:p>
        </p:txBody>
      </p:sp>
      <p:sp>
        <p:nvSpPr>
          <p:cNvPr id="89" name="Text 87"/>
          <p:cNvSpPr/>
          <p:nvPr/>
        </p:nvSpPr>
        <p:spPr>
          <a:xfrm>
            <a:off x="11115973" y="6473265"/>
            <a:ext cx="4497917" cy="254000"/>
          </a:xfrm>
          <a:prstGeom prst="rect">
            <a:avLst/>
          </a:prstGeom>
          <a:noFill/>
          <a:ln/>
        </p:spPr>
        <p:txBody>
          <a:bodyPr wrap="square" lIns="0" tIns="0" rIns="0" bIns="0" rtlCol="0" anchor="ctr"/>
          <a:lstStyle/>
          <a:p>
            <a:pPr>
              <a:lnSpc>
                <a:spcPct val="130000"/>
              </a:lnSpc>
            </a:pPr>
            <a:r>
              <a:rPr lang="en-US" sz="1333" b="1" dirty="0">
                <a:solidFill>
                  <a:srgbClr val="3C8082"/>
                </a:solidFill>
                <a:latin typeface="MiSans" pitchFamily="34" charset="0"/>
                <a:ea typeface="MiSans" pitchFamily="34" charset="-122"/>
                <a:cs typeface="MiSans" pitchFamily="34" charset="-120"/>
              </a:rPr>
              <a:t>核心特性</a:t>
            </a:r>
            <a:endParaRPr lang="en-US" sz="1600" dirty="0"/>
          </a:p>
        </p:txBody>
      </p:sp>
      <p:sp>
        <p:nvSpPr>
          <p:cNvPr id="90" name="Text 88"/>
          <p:cNvSpPr/>
          <p:nvPr/>
        </p:nvSpPr>
        <p:spPr>
          <a:xfrm>
            <a:off x="11115973" y="6769599"/>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独立的用户和组ID映射</a:t>
            </a:r>
            <a:endParaRPr lang="en-US" sz="1600" dirty="0"/>
          </a:p>
        </p:txBody>
      </p:sp>
      <p:sp>
        <p:nvSpPr>
          <p:cNvPr id="91" name="Text 89"/>
          <p:cNvSpPr/>
          <p:nvPr/>
        </p:nvSpPr>
        <p:spPr>
          <a:xfrm>
            <a:off x="11115973" y="7023599"/>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实现非特权用户创建容器</a:t>
            </a:r>
            <a:endParaRPr lang="en-US" sz="1600" dirty="0"/>
          </a:p>
        </p:txBody>
      </p:sp>
      <p:sp>
        <p:nvSpPr>
          <p:cNvPr id="92" name="Text 90"/>
          <p:cNvSpPr/>
          <p:nvPr/>
        </p:nvSpPr>
        <p:spPr>
          <a:xfrm>
            <a:off x="11115973" y="7277599"/>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 提供最强的安全隔离</a:t>
            </a:r>
            <a:endParaRPr lang="en-US" sz="1600" dirty="0"/>
          </a:p>
        </p:txBody>
      </p:sp>
      <p:sp>
        <p:nvSpPr>
          <p:cNvPr id="93" name="Shape 91"/>
          <p:cNvSpPr/>
          <p:nvPr/>
        </p:nvSpPr>
        <p:spPr>
          <a:xfrm>
            <a:off x="10988973" y="7700932"/>
            <a:ext cx="4667250" cy="762000"/>
          </a:xfrm>
          <a:custGeom>
            <a:avLst/>
            <a:gdLst/>
            <a:ahLst/>
            <a:cxnLst/>
            <a:rect l="l" t="t" r="r" b="b"/>
            <a:pathLst>
              <a:path w="4667250" h="762000">
                <a:moveTo>
                  <a:pt x="84666" y="0"/>
                </a:moveTo>
                <a:lnTo>
                  <a:pt x="4582584" y="0"/>
                </a:lnTo>
                <a:cubicBezTo>
                  <a:pt x="4629344" y="0"/>
                  <a:pt x="4667250" y="37906"/>
                  <a:pt x="4667250" y="84666"/>
                </a:cubicBezTo>
                <a:lnTo>
                  <a:pt x="4667250" y="677334"/>
                </a:lnTo>
                <a:cubicBezTo>
                  <a:pt x="4667250" y="724094"/>
                  <a:pt x="4629344" y="762000"/>
                  <a:pt x="4582584" y="762000"/>
                </a:cubicBezTo>
                <a:lnTo>
                  <a:pt x="84666" y="762000"/>
                </a:lnTo>
                <a:cubicBezTo>
                  <a:pt x="37906" y="762000"/>
                  <a:pt x="0" y="724094"/>
                  <a:pt x="0" y="677334"/>
                </a:cubicBezTo>
                <a:lnTo>
                  <a:pt x="0" y="84666"/>
                </a:lnTo>
                <a:cubicBezTo>
                  <a:pt x="0" y="37937"/>
                  <a:pt x="37937" y="0"/>
                  <a:pt x="84666" y="0"/>
                </a:cubicBezTo>
                <a:close/>
              </a:path>
            </a:pathLst>
          </a:custGeom>
          <a:solidFill>
            <a:srgbClr val="1A1D21">
              <a:alpha val="50196"/>
            </a:srgbClr>
          </a:solidFill>
          <a:ln/>
        </p:spPr>
        <p:txBody>
          <a:bodyPr/>
          <a:lstStyle/>
          <a:p>
            <a:endParaRPr lang="zh-CN" altLang="en-US"/>
          </a:p>
        </p:txBody>
      </p:sp>
      <p:sp>
        <p:nvSpPr>
          <p:cNvPr id="94" name="Text 92"/>
          <p:cNvSpPr/>
          <p:nvPr/>
        </p:nvSpPr>
        <p:spPr>
          <a:xfrm>
            <a:off x="11115973" y="7827932"/>
            <a:ext cx="4497917" cy="254000"/>
          </a:xfrm>
          <a:prstGeom prst="rect">
            <a:avLst/>
          </a:prstGeom>
          <a:noFill/>
          <a:ln/>
        </p:spPr>
        <p:txBody>
          <a:bodyPr wrap="square" lIns="0" tIns="0" rIns="0" bIns="0" rtlCol="0" anchor="ctr"/>
          <a:lstStyle/>
          <a:p>
            <a:pPr>
              <a:lnSpc>
                <a:spcPct val="130000"/>
              </a:lnSpc>
            </a:pPr>
            <a:r>
              <a:rPr lang="en-US" sz="1333" b="1" dirty="0">
                <a:solidFill>
                  <a:srgbClr val="3C8082"/>
                </a:solidFill>
                <a:latin typeface="MiSans" pitchFamily="34" charset="0"/>
                <a:ea typeface="MiSans" pitchFamily="34" charset="-122"/>
                <a:cs typeface="MiSans" pitchFamily="34" charset="-120"/>
              </a:rPr>
              <a:t>安全机制</a:t>
            </a:r>
            <a:endParaRPr lang="en-US" sz="1600" dirty="0"/>
          </a:p>
        </p:txBody>
      </p:sp>
      <p:sp>
        <p:nvSpPr>
          <p:cNvPr id="95" name="Text 93"/>
          <p:cNvSpPr/>
          <p:nvPr/>
        </p:nvSpPr>
        <p:spPr>
          <a:xfrm>
            <a:off x="11115973" y="8124265"/>
            <a:ext cx="4487333"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通过uid_map/gid_map配置文件实现用户身份映射</a:t>
            </a:r>
            <a:endParaRPr lang="en-US" sz="1600" dirty="0"/>
          </a:p>
        </p:txBody>
      </p:sp>
      <p:sp>
        <p:nvSpPr>
          <p:cNvPr id="96" name="Shape 94"/>
          <p:cNvSpPr/>
          <p:nvPr/>
        </p:nvSpPr>
        <p:spPr>
          <a:xfrm>
            <a:off x="428625" y="8602361"/>
            <a:ext cx="15398750" cy="458221"/>
          </a:xfrm>
          <a:custGeom>
            <a:avLst/>
            <a:gdLst/>
            <a:ahLst/>
            <a:cxnLst/>
            <a:rect l="l" t="t" r="r" b="b"/>
            <a:pathLst>
              <a:path w="15398750" h="709083">
                <a:moveTo>
                  <a:pt x="84665" y="0"/>
                </a:moveTo>
                <a:lnTo>
                  <a:pt x="15314085" y="0"/>
                </a:lnTo>
                <a:cubicBezTo>
                  <a:pt x="15360844" y="0"/>
                  <a:pt x="15398750" y="37906"/>
                  <a:pt x="15398750" y="84665"/>
                </a:cubicBezTo>
                <a:lnTo>
                  <a:pt x="15398750" y="624419"/>
                </a:lnTo>
                <a:cubicBezTo>
                  <a:pt x="15398750" y="671178"/>
                  <a:pt x="15360844" y="709083"/>
                  <a:pt x="15314085" y="709083"/>
                </a:cubicBezTo>
                <a:lnTo>
                  <a:pt x="84665" y="709083"/>
                </a:lnTo>
                <a:cubicBezTo>
                  <a:pt x="37937" y="709083"/>
                  <a:pt x="0" y="671146"/>
                  <a:pt x="0" y="624419"/>
                </a:cubicBezTo>
                <a:lnTo>
                  <a:pt x="0" y="84665"/>
                </a:lnTo>
                <a:cubicBezTo>
                  <a:pt x="0" y="37906"/>
                  <a:pt x="37906" y="0"/>
                  <a:pt x="84665"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97" name="Shape 95"/>
          <p:cNvSpPr/>
          <p:nvPr/>
        </p:nvSpPr>
        <p:spPr>
          <a:xfrm>
            <a:off x="574146" y="8725638"/>
            <a:ext cx="238125" cy="211667"/>
          </a:xfrm>
          <a:custGeom>
            <a:avLst/>
            <a:gdLst/>
            <a:ahLst/>
            <a:cxnLst/>
            <a:rect l="l" t="t" r="r" b="b"/>
            <a:pathLst>
              <a:path w="238125" h="211667">
                <a:moveTo>
                  <a:pt x="149159" y="496"/>
                </a:moveTo>
                <a:cubicBezTo>
                  <a:pt x="142131" y="-1530"/>
                  <a:pt x="134813" y="2563"/>
                  <a:pt x="132788" y="9591"/>
                </a:cubicBezTo>
                <a:lnTo>
                  <a:pt x="79871" y="194799"/>
                </a:lnTo>
                <a:cubicBezTo>
                  <a:pt x="77845" y="201827"/>
                  <a:pt x="81938" y="209145"/>
                  <a:pt x="88966" y="211171"/>
                </a:cubicBezTo>
                <a:cubicBezTo>
                  <a:pt x="95994" y="213196"/>
                  <a:pt x="103312" y="209104"/>
                  <a:pt x="105337" y="202076"/>
                </a:cubicBezTo>
                <a:lnTo>
                  <a:pt x="158254" y="16867"/>
                </a:lnTo>
                <a:cubicBezTo>
                  <a:pt x="160280" y="9839"/>
                  <a:pt x="156187" y="2522"/>
                  <a:pt x="149159" y="496"/>
                </a:cubicBezTo>
                <a:close/>
                <a:moveTo>
                  <a:pt x="175865" y="56761"/>
                </a:moveTo>
                <a:cubicBezTo>
                  <a:pt x="170698" y="61929"/>
                  <a:pt x="170698" y="70321"/>
                  <a:pt x="175865" y="75489"/>
                </a:cubicBezTo>
                <a:lnTo>
                  <a:pt x="206210" y="105833"/>
                </a:lnTo>
                <a:lnTo>
                  <a:pt x="175865" y="136178"/>
                </a:lnTo>
                <a:cubicBezTo>
                  <a:pt x="170698" y="141345"/>
                  <a:pt x="170698" y="149738"/>
                  <a:pt x="175865" y="154905"/>
                </a:cubicBezTo>
                <a:cubicBezTo>
                  <a:pt x="181033" y="160073"/>
                  <a:pt x="189425" y="160073"/>
                  <a:pt x="194593" y="154905"/>
                </a:cubicBezTo>
                <a:lnTo>
                  <a:pt x="234280" y="115218"/>
                </a:lnTo>
                <a:cubicBezTo>
                  <a:pt x="239448" y="110050"/>
                  <a:pt x="239448" y="101658"/>
                  <a:pt x="234280" y="96490"/>
                </a:cubicBezTo>
                <a:lnTo>
                  <a:pt x="194593" y="56803"/>
                </a:lnTo>
                <a:cubicBezTo>
                  <a:pt x="189425" y="51635"/>
                  <a:pt x="181033" y="51635"/>
                  <a:pt x="175865" y="56803"/>
                </a:cubicBezTo>
                <a:close/>
                <a:moveTo>
                  <a:pt x="62301" y="56761"/>
                </a:moveTo>
                <a:cubicBezTo>
                  <a:pt x="57133" y="51594"/>
                  <a:pt x="48741" y="51594"/>
                  <a:pt x="43574" y="56761"/>
                </a:cubicBezTo>
                <a:lnTo>
                  <a:pt x="3886" y="96449"/>
                </a:lnTo>
                <a:cubicBezTo>
                  <a:pt x="-1282" y="101617"/>
                  <a:pt x="-1282" y="110009"/>
                  <a:pt x="3886" y="115176"/>
                </a:cubicBezTo>
                <a:lnTo>
                  <a:pt x="43574" y="154864"/>
                </a:lnTo>
                <a:cubicBezTo>
                  <a:pt x="48741" y="160032"/>
                  <a:pt x="57133" y="160032"/>
                  <a:pt x="62301" y="154864"/>
                </a:cubicBezTo>
                <a:cubicBezTo>
                  <a:pt x="67469" y="149696"/>
                  <a:pt x="67469" y="141304"/>
                  <a:pt x="62301" y="136136"/>
                </a:cubicBezTo>
                <a:lnTo>
                  <a:pt x="31957" y="105833"/>
                </a:lnTo>
                <a:lnTo>
                  <a:pt x="62260" y="75489"/>
                </a:lnTo>
                <a:cubicBezTo>
                  <a:pt x="67427" y="70321"/>
                  <a:pt x="67427" y="61929"/>
                  <a:pt x="62260" y="56761"/>
                </a:cubicBezTo>
                <a:close/>
              </a:path>
            </a:pathLst>
          </a:custGeom>
          <a:solidFill>
            <a:srgbClr val="B38B59"/>
          </a:solidFill>
          <a:ln/>
        </p:spPr>
        <p:txBody>
          <a:bodyPr/>
          <a:lstStyle/>
          <a:p>
            <a:endParaRPr lang="zh-CN" altLang="en-US"/>
          </a:p>
        </p:txBody>
      </p:sp>
      <p:sp>
        <p:nvSpPr>
          <p:cNvPr id="98" name="Text 96"/>
          <p:cNvSpPr/>
          <p:nvPr/>
        </p:nvSpPr>
        <p:spPr>
          <a:xfrm>
            <a:off x="952500" y="8674290"/>
            <a:ext cx="14827250" cy="314362"/>
          </a:xfrm>
          <a:prstGeom prst="rect">
            <a:avLst/>
          </a:prstGeom>
          <a:noFill/>
          <a:ln/>
        </p:spPr>
        <p:txBody>
          <a:bodyPr wrap="square" lIns="0" tIns="0" rIns="0" bIns="0" rtlCol="0" anchor="ctr"/>
          <a:lstStyle/>
          <a:p>
            <a:pPr>
              <a:lnSpc>
                <a:spcPct val="100000"/>
              </a:lnSpc>
            </a:pPr>
            <a:r>
              <a:rPr lang="en-US" sz="1333" b="1" dirty="0">
                <a:solidFill>
                  <a:srgbClr val="B38B59"/>
                </a:solidFill>
                <a:latin typeface="MiSans" pitchFamily="34" charset="0"/>
                <a:ea typeface="MiSans" pitchFamily="34" charset="-122"/>
                <a:cs typeface="MiSans" pitchFamily="34" charset="-120"/>
              </a:rPr>
              <a:t>系统调用接口:</a:t>
            </a:r>
            <a:r>
              <a:rPr lang="en-US" sz="1333" dirty="0">
                <a:solidFill>
                  <a:srgbClr val="E0E2E4"/>
                </a:solidFill>
                <a:latin typeface="MiSans" pitchFamily="34" charset="0"/>
                <a:ea typeface="MiSans" pitchFamily="34" charset="-122"/>
                <a:cs typeface="MiSans" pitchFamily="34" charset="-120"/>
              </a:rPr>
              <a:t> Linux提供</a:t>
            </a:r>
            <a:r>
              <a:rPr lang="en-US" sz="1167" dirty="0">
                <a:solidFill>
                  <a:srgbClr val="B38B59"/>
                </a:solidFill>
                <a:highlight>
                  <a:srgbClr val="1A1D21">
                    <a:alpha val="50000"/>
                  </a:srgbClr>
                </a:highlight>
                <a:latin typeface="MiSans" pitchFamily="34" charset="0"/>
                <a:ea typeface="MiSans" pitchFamily="34" charset="-122"/>
                <a:cs typeface="MiSans" pitchFamily="34" charset="-120"/>
              </a:rPr>
              <a:t> clone() </a:t>
            </a:r>
            <a:r>
              <a:rPr lang="en-US" sz="1333" dirty="0">
                <a:solidFill>
                  <a:srgbClr val="E0E2E4"/>
                </a:solidFill>
                <a:latin typeface="MiSans" pitchFamily="34" charset="0"/>
                <a:ea typeface="MiSans" pitchFamily="34" charset="-122"/>
                <a:cs typeface="MiSans" pitchFamily="34" charset="-120"/>
              </a:rPr>
              <a:t>、</a:t>
            </a:r>
            <a:r>
              <a:rPr lang="en-US" sz="1167" dirty="0">
                <a:solidFill>
                  <a:srgbClr val="B38B59"/>
                </a:solidFill>
                <a:highlight>
                  <a:srgbClr val="1A1D21">
                    <a:alpha val="50000"/>
                  </a:srgbClr>
                </a:highlight>
                <a:latin typeface="MiSans" pitchFamily="34" charset="0"/>
                <a:ea typeface="MiSans" pitchFamily="34" charset="-122"/>
                <a:cs typeface="MiSans" pitchFamily="34" charset="-120"/>
              </a:rPr>
              <a:t> unshare() </a:t>
            </a:r>
            <a:r>
              <a:rPr lang="en-US" sz="1333" dirty="0">
                <a:solidFill>
                  <a:srgbClr val="E0E2E4"/>
                </a:solidFill>
                <a:latin typeface="MiSans" pitchFamily="34" charset="0"/>
                <a:ea typeface="MiSans" pitchFamily="34" charset="-122"/>
                <a:cs typeface="MiSans" pitchFamily="34" charset="-120"/>
              </a:rPr>
              <a:t>、</a:t>
            </a:r>
            <a:r>
              <a:rPr lang="en-US" sz="1167" dirty="0">
                <a:solidFill>
                  <a:srgbClr val="B38B59"/>
                </a:solidFill>
                <a:highlight>
                  <a:srgbClr val="1A1D21">
                    <a:alpha val="50000"/>
                  </a:srgbClr>
                </a:highlight>
                <a:latin typeface="MiSans" pitchFamily="34" charset="0"/>
                <a:ea typeface="MiSans" pitchFamily="34" charset="-122"/>
                <a:cs typeface="MiSans" pitchFamily="34" charset="-120"/>
              </a:rPr>
              <a:t> setns() </a:t>
            </a:r>
            <a:r>
              <a:rPr lang="en-US" sz="1333" dirty="0">
                <a:solidFill>
                  <a:srgbClr val="E0E2E4"/>
                </a:solidFill>
                <a:latin typeface="MiSans" pitchFamily="34" charset="0"/>
                <a:ea typeface="MiSans" pitchFamily="34" charset="-122"/>
                <a:cs typeface="MiSans" pitchFamily="34" charset="-120"/>
              </a:rPr>
              <a:t>等系统调用操作namespace。在YARN Container中主要利用PID和Mount Namespace,而Kubernetes则更全面地利用所有类型实现完整隔离。</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43245" y="487569"/>
            <a:ext cx="354596" cy="354596"/>
          </a:xfrm>
          <a:custGeom>
            <a:avLst/>
            <a:gdLst/>
            <a:ahLst/>
            <a:cxnLst/>
            <a:rect l="l" t="t" r="r" b="b"/>
            <a:pathLst>
              <a:path w="354596" h="354596">
                <a:moveTo>
                  <a:pt x="66487" y="0"/>
                </a:moveTo>
                <a:lnTo>
                  <a:pt x="288109" y="0"/>
                </a:lnTo>
                <a:cubicBezTo>
                  <a:pt x="324804" y="0"/>
                  <a:pt x="354596" y="29792"/>
                  <a:pt x="354596" y="66487"/>
                </a:cubicBezTo>
                <a:lnTo>
                  <a:pt x="354596" y="288109"/>
                </a:lnTo>
                <a:cubicBezTo>
                  <a:pt x="354596" y="324804"/>
                  <a:pt x="324804" y="354596"/>
                  <a:pt x="288109" y="354596"/>
                </a:cubicBezTo>
                <a:lnTo>
                  <a:pt x="66487" y="354596"/>
                </a:lnTo>
                <a:cubicBezTo>
                  <a:pt x="29792" y="354596"/>
                  <a:pt x="0" y="324804"/>
                  <a:pt x="0" y="288109"/>
                </a:cubicBezTo>
                <a:lnTo>
                  <a:pt x="0" y="66487"/>
                </a:lnTo>
                <a:cubicBezTo>
                  <a:pt x="0" y="29792"/>
                  <a:pt x="29792" y="0"/>
                  <a:pt x="66487" y="0"/>
                </a:cubicBezTo>
                <a:close/>
              </a:path>
            </a:pathLst>
          </a:custGeom>
          <a:solidFill>
            <a:srgbClr val="3C8082"/>
          </a:solidFill>
          <a:ln/>
        </p:spPr>
        <p:txBody>
          <a:bodyPr/>
          <a:lstStyle/>
          <a:p>
            <a:endParaRPr lang="zh-CN" altLang="en-US"/>
          </a:p>
        </p:txBody>
      </p:sp>
      <p:sp>
        <p:nvSpPr>
          <p:cNvPr id="3" name="Text 1"/>
          <p:cNvSpPr/>
          <p:nvPr/>
        </p:nvSpPr>
        <p:spPr>
          <a:xfrm>
            <a:off x="398920" y="487569"/>
            <a:ext cx="443245" cy="354596"/>
          </a:xfrm>
          <a:prstGeom prst="rect">
            <a:avLst/>
          </a:prstGeom>
          <a:noFill/>
          <a:ln/>
        </p:spPr>
        <p:txBody>
          <a:bodyPr wrap="square" lIns="0" tIns="0" rIns="0" bIns="0" rtlCol="0" anchor="ctr"/>
          <a:lstStyle/>
          <a:p>
            <a:pPr algn="ctr">
              <a:lnSpc>
                <a:spcPct val="130000"/>
              </a:lnSpc>
            </a:pPr>
            <a:r>
              <a:rPr lang="en-US" sz="1396" b="1" dirty="0">
                <a:solidFill>
                  <a:srgbClr val="FFFFFF"/>
                </a:solidFill>
                <a:latin typeface="Liter" pitchFamily="34" charset="0"/>
                <a:ea typeface="Liter" pitchFamily="34" charset="-122"/>
                <a:cs typeface="Liter" pitchFamily="34" charset="-120"/>
              </a:rPr>
              <a:t>06</a:t>
            </a:r>
            <a:endParaRPr lang="en-US" sz="1600" dirty="0"/>
          </a:p>
        </p:txBody>
      </p:sp>
      <p:sp>
        <p:nvSpPr>
          <p:cNvPr id="4" name="Text 2"/>
          <p:cNvSpPr/>
          <p:nvPr/>
        </p:nvSpPr>
        <p:spPr>
          <a:xfrm>
            <a:off x="930814" y="443245"/>
            <a:ext cx="5385423" cy="443245"/>
          </a:xfrm>
          <a:prstGeom prst="rect">
            <a:avLst/>
          </a:prstGeom>
          <a:noFill/>
          <a:ln/>
        </p:spPr>
        <p:txBody>
          <a:bodyPr wrap="square" lIns="0" tIns="0" rIns="0" bIns="0" rtlCol="0" anchor="ctr"/>
          <a:lstStyle/>
          <a:p>
            <a:pPr>
              <a:lnSpc>
                <a:spcPct val="90000"/>
              </a:lnSpc>
            </a:pPr>
            <a:r>
              <a:rPr lang="en-US" sz="3141" b="1" dirty="0">
                <a:solidFill>
                  <a:srgbClr val="E0E2E4"/>
                </a:solidFill>
                <a:latin typeface="MiSans" pitchFamily="34" charset="0"/>
                <a:ea typeface="MiSans" pitchFamily="34" charset="-122"/>
                <a:cs typeface="MiSans" pitchFamily="34" charset="-120"/>
              </a:rPr>
              <a:t>Linux CGroups:资源使用控制</a:t>
            </a:r>
            <a:endParaRPr lang="en-US" sz="1600" dirty="0"/>
          </a:p>
        </p:txBody>
      </p:sp>
      <p:sp>
        <p:nvSpPr>
          <p:cNvPr id="5" name="Text 3"/>
          <p:cNvSpPr/>
          <p:nvPr/>
        </p:nvSpPr>
        <p:spPr>
          <a:xfrm>
            <a:off x="443245" y="975138"/>
            <a:ext cx="15469241" cy="310271"/>
          </a:xfrm>
          <a:prstGeom prst="rect">
            <a:avLst/>
          </a:prstGeom>
          <a:noFill/>
          <a:ln/>
        </p:spPr>
        <p:txBody>
          <a:bodyPr wrap="square" lIns="0" tIns="0" rIns="0" bIns="0" rtlCol="0" anchor="ctr"/>
          <a:lstStyle/>
          <a:p>
            <a:pPr>
              <a:lnSpc>
                <a:spcPct val="130000"/>
              </a:lnSpc>
            </a:pPr>
            <a:r>
              <a:rPr lang="en-US" sz="1571" b="1" dirty="0">
                <a:solidFill>
                  <a:srgbClr val="B38B59"/>
                </a:solidFill>
                <a:latin typeface="MiSans" pitchFamily="34" charset="0"/>
                <a:ea typeface="MiSans" pitchFamily="34" charset="-122"/>
                <a:cs typeface="MiSans" pitchFamily="34" charset="-120"/>
              </a:rPr>
              <a:t>CGroups v1 vs v2架构设计与核心控制器功能详解</a:t>
            </a:r>
            <a:endParaRPr lang="en-US" sz="1600" dirty="0"/>
          </a:p>
        </p:txBody>
      </p:sp>
      <p:sp>
        <p:nvSpPr>
          <p:cNvPr id="6" name="Shape 4"/>
          <p:cNvSpPr/>
          <p:nvPr/>
        </p:nvSpPr>
        <p:spPr>
          <a:xfrm>
            <a:off x="448785" y="1468249"/>
            <a:ext cx="7557322" cy="5167264"/>
          </a:xfrm>
          <a:custGeom>
            <a:avLst/>
            <a:gdLst/>
            <a:ahLst/>
            <a:cxnLst/>
            <a:rect l="l" t="t" r="r" b="b"/>
            <a:pathLst>
              <a:path w="7557322" h="6094615">
                <a:moveTo>
                  <a:pt x="88677" y="0"/>
                </a:moveTo>
                <a:lnTo>
                  <a:pt x="7468646" y="0"/>
                </a:lnTo>
                <a:cubicBezTo>
                  <a:pt x="7517588" y="0"/>
                  <a:pt x="7557322" y="39735"/>
                  <a:pt x="7557322" y="88677"/>
                </a:cubicBezTo>
                <a:lnTo>
                  <a:pt x="7557322" y="6005938"/>
                </a:lnTo>
                <a:cubicBezTo>
                  <a:pt x="7557322" y="6054880"/>
                  <a:pt x="7517588" y="6094615"/>
                  <a:pt x="7468646" y="6094615"/>
                </a:cubicBezTo>
                <a:lnTo>
                  <a:pt x="88677" y="6094615"/>
                </a:lnTo>
                <a:cubicBezTo>
                  <a:pt x="39735" y="6094615"/>
                  <a:pt x="0" y="6054880"/>
                  <a:pt x="0" y="6005938"/>
                </a:cubicBezTo>
                <a:lnTo>
                  <a:pt x="0" y="88677"/>
                </a:lnTo>
                <a:cubicBezTo>
                  <a:pt x="0" y="39735"/>
                  <a:pt x="39735" y="0"/>
                  <a:pt x="88677"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64867" y="1695411"/>
            <a:ext cx="265947" cy="265947"/>
          </a:xfrm>
          <a:custGeom>
            <a:avLst/>
            <a:gdLst/>
            <a:ahLst/>
            <a:cxnLst/>
            <a:rect l="l" t="t" r="r" b="b"/>
            <a:pathLst>
              <a:path w="265947" h="265947">
                <a:moveTo>
                  <a:pt x="99730" y="33243"/>
                </a:moveTo>
                <a:cubicBezTo>
                  <a:pt x="99730" y="24049"/>
                  <a:pt x="107158" y="16622"/>
                  <a:pt x="116352" y="16622"/>
                </a:cubicBezTo>
                <a:lnTo>
                  <a:pt x="149595" y="16622"/>
                </a:lnTo>
                <a:cubicBezTo>
                  <a:pt x="158789" y="16622"/>
                  <a:pt x="166217" y="24049"/>
                  <a:pt x="166217" y="33243"/>
                </a:cubicBezTo>
                <a:lnTo>
                  <a:pt x="166217" y="66487"/>
                </a:lnTo>
                <a:cubicBezTo>
                  <a:pt x="166217" y="75681"/>
                  <a:pt x="158789" y="83108"/>
                  <a:pt x="149595" y="83108"/>
                </a:cubicBezTo>
                <a:lnTo>
                  <a:pt x="145440" y="83108"/>
                </a:lnTo>
                <a:lnTo>
                  <a:pt x="145440" y="116352"/>
                </a:lnTo>
                <a:lnTo>
                  <a:pt x="207771" y="116352"/>
                </a:lnTo>
                <a:cubicBezTo>
                  <a:pt x="228444" y="116352"/>
                  <a:pt x="245170" y="133077"/>
                  <a:pt x="245170" y="153751"/>
                </a:cubicBezTo>
                <a:lnTo>
                  <a:pt x="245170" y="182838"/>
                </a:lnTo>
                <a:lnTo>
                  <a:pt x="249325" y="182838"/>
                </a:lnTo>
                <a:cubicBezTo>
                  <a:pt x="258519" y="182838"/>
                  <a:pt x="265947" y="190266"/>
                  <a:pt x="265947" y="199460"/>
                </a:cubicBezTo>
                <a:lnTo>
                  <a:pt x="265947" y="232703"/>
                </a:lnTo>
                <a:cubicBezTo>
                  <a:pt x="265947" y="241897"/>
                  <a:pt x="258519" y="249325"/>
                  <a:pt x="249325" y="249325"/>
                </a:cubicBezTo>
                <a:lnTo>
                  <a:pt x="216082" y="249325"/>
                </a:lnTo>
                <a:cubicBezTo>
                  <a:pt x="206888" y="249325"/>
                  <a:pt x="199460" y="241897"/>
                  <a:pt x="199460" y="232703"/>
                </a:cubicBezTo>
                <a:lnTo>
                  <a:pt x="199460" y="199460"/>
                </a:lnTo>
                <a:cubicBezTo>
                  <a:pt x="199460" y="190266"/>
                  <a:pt x="206888" y="182838"/>
                  <a:pt x="216082" y="182838"/>
                </a:cubicBezTo>
                <a:lnTo>
                  <a:pt x="220237" y="182838"/>
                </a:lnTo>
                <a:lnTo>
                  <a:pt x="220237" y="153751"/>
                </a:lnTo>
                <a:cubicBezTo>
                  <a:pt x="220237" y="146842"/>
                  <a:pt x="214679" y="141284"/>
                  <a:pt x="207771" y="141284"/>
                </a:cubicBezTo>
                <a:lnTo>
                  <a:pt x="145440" y="141284"/>
                </a:lnTo>
                <a:lnTo>
                  <a:pt x="145440" y="182838"/>
                </a:lnTo>
                <a:lnTo>
                  <a:pt x="149595" y="182838"/>
                </a:lnTo>
                <a:cubicBezTo>
                  <a:pt x="158789" y="182838"/>
                  <a:pt x="166217" y="190266"/>
                  <a:pt x="166217" y="199460"/>
                </a:cubicBezTo>
                <a:lnTo>
                  <a:pt x="166217" y="232703"/>
                </a:lnTo>
                <a:cubicBezTo>
                  <a:pt x="166217" y="241897"/>
                  <a:pt x="158789" y="249325"/>
                  <a:pt x="149595" y="249325"/>
                </a:cubicBezTo>
                <a:lnTo>
                  <a:pt x="116352" y="249325"/>
                </a:lnTo>
                <a:cubicBezTo>
                  <a:pt x="107158" y="249325"/>
                  <a:pt x="99730" y="241897"/>
                  <a:pt x="99730" y="232703"/>
                </a:cubicBezTo>
                <a:lnTo>
                  <a:pt x="99730" y="199460"/>
                </a:lnTo>
                <a:cubicBezTo>
                  <a:pt x="99730" y="190266"/>
                  <a:pt x="107158" y="182838"/>
                  <a:pt x="116352" y="182838"/>
                </a:cubicBezTo>
                <a:lnTo>
                  <a:pt x="120507" y="182838"/>
                </a:lnTo>
                <a:lnTo>
                  <a:pt x="120507" y="141284"/>
                </a:lnTo>
                <a:lnTo>
                  <a:pt x="58176" y="141284"/>
                </a:lnTo>
                <a:cubicBezTo>
                  <a:pt x="51267" y="141284"/>
                  <a:pt x="45710" y="146842"/>
                  <a:pt x="45710" y="153751"/>
                </a:cubicBezTo>
                <a:lnTo>
                  <a:pt x="45710" y="182838"/>
                </a:lnTo>
                <a:lnTo>
                  <a:pt x="49865" y="182838"/>
                </a:lnTo>
                <a:cubicBezTo>
                  <a:pt x="59059" y="182838"/>
                  <a:pt x="66487" y="190266"/>
                  <a:pt x="66487" y="199460"/>
                </a:cubicBezTo>
                <a:lnTo>
                  <a:pt x="66487" y="232703"/>
                </a:lnTo>
                <a:cubicBezTo>
                  <a:pt x="66487" y="241897"/>
                  <a:pt x="59059" y="249325"/>
                  <a:pt x="49865" y="249325"/>
                </a:cubicBezTo>
                <a:lnTo>
                  <a:pt x="16622" y="249325"/>
                </a:lnTo>
                <a:cubicBezTo>
                  <a:pt x="7428" y="249325"/>
                  <a:pt x="0" y="241897"/>
                  <a:pt x="0" y="232703"/>
                </a:cubicBezTo>
                <a:lnTo>
                  <a:pt x="0" y="199460"/>
                </a:lnTo>
                <a:cubicBezTo>
                  <a:pt x="0" y="190266"/>
                  <a:pt x="7428" y="182838"/>
                  <a:pt x="16622" y="182838"/>
                </a:cubicBezTo>
                <a:lnTo>
                  <a:pt x="20777" y="182838"/>
                </a:lnTo>
                <a:lnTo>
                  <a:pt x="20777" y="153751"/>
                </a:lnTo>
                <a:cubicBezTo>
                  <a:pt x="20777" y="133077"/>
                  <a:pt x="37503" y="116352"/>
                  <a:pt x="58176" y="116352"/>
                </a:cubicBezTo>
                <a:lnTo>
                  <a:pt x="120507" y="116352"/>
                </a:lnTo>
                <a:lnTo>
                  <a:pt x="120507" y="83108"/>
                </a:lnTo>
                <a:lnTo>
                  <a:pt x="116352" y="83108"/>
                </a:lnTo>
                <a:cubicBezTo>
                  <a:pt x="107158" y="83108"/>
                  <a:pt x="99730" y="75681"/>
                  <a:pt x="99730" y="66487"/>
                </a:cubicBezTo>
                <a:lnTo>
                  <a:pt x="99730" y="33243"/>
                </a:lnTo>
                <a:close/>
              </a:path>
            </a:pathLst>
          </a:custGeom>
          <a:solidFill>
            <a:srgbClr val="B38B59"/>
          </a:solidFill>
          <a:ln/>
        </p:spPr>
        <p:txBody>
          <a:bodyPr/>
          <a:lstStyle/>
          <a:p>
            <a:endParaRPr lang="zh-CN" altLang="en-US"/>
          </a:p>
        </p:txBody>
      </p:sp>
      <p:sp>
        <p:nvSpPr>
          <p:cNvPr id="8" name="Text 6"/>
          <p:cNvSpPr/>
          <p:nvPr/>
        </p:nvSpPr>
        <p:spPr>
          <a:xfrm>
            <a:off x="964057" y="1651087"/>
            <a:ext cx="6992185" cy="354596"/>
          </a:xfrm>
          <a:prstGeom prst="rect">
            <a:avLst/>
          </a:prstGeom>
          <a:noFill/>
          <a:ln/>
        </p:spPr>
        <p:txBody>
          <a:bodyPr wrap="square" lIns="0" tIns="0" rIns="0" bIns="0" rtlCol="0" anchor="ctr"/>
          <a:lstStyle/>
          <a:p>
            <a:pPr>
              <a:lnSpc>
                <a:spcPct val="110000"/>
              </a:lnSpc>
            </a:pPr>
            <a:r>
              <a:rPr lang="en-US" sz="2094" b="1" dirty="0">
                <a:solidFill>
                  <a:srgbClr val="E0E2E4"/>
                </a:solidFill>
                <a:latin typeface="MiSans" pitchFamily="34" charset="0"/>
                <a:ea typeface="MiSans" pitchFamily="34" charset="-122"/>
                <a:cs typeface="MiSans" pitchFamily="34" charset="-120"/>
              </a:rPr>
              <a:t>CGroups v1 多层次架构</a:t>
            </a:r>
            <a:endParaRPr lang="en-US" sz="1600" dirty="0"/>
          </a:p>
        </p:txBody>
      </p:sp>
      <p:sp>
        <p:nvSpPr>
          <p:cNvPr id="9" name="Shape 7"/>
          <p:cNvSpPr/>
          <p:nvPr/>
        </p:nvSpPr>
        <p:spPr>
          <a:xfrm>
            <a:off x="631624" y="2138656"/>
            <a:ext cx="7191646" cy="1119193"/>
          </a:xfrm>
          <a:custGeom>
            <a:avLst/>
            <a:gdLst/>
            <a:ahLst/>
            <a:cxnLst/>
            <a:rect l="l" t="t" r="r" b="b"/>
            <a:pathLst>
              <a:path w="7191646" h="1119193">
                <a:moveTo>
                  <a:pt x="88651" y="0"/>
                </a:moveTo>
                <a:lnTo>
                  <a:pt x="7102994" y="0"/>
                </a:lnTo>
                <a:cubicBezTo>
                  <a:pt x="7151955" y="0"/>
                  <a:pt x="7191646" y="39691"/>
                  <a:pt x="7191646" y="88651"/>
                </a:cubicBezTo>
                <a:lnTo>
                  <a:pt x="7191646" y="1030542"/>
                </a:lnTo>
                <a:cubicBezTo>
                  <a:pt x="7191646" y="1079502"/>
                  <a:pt x="7151955" y="1119193"/>
                  <a:pt x="7102994" y="1119193"/>
                </a:cubicBezTo>
                <a:lnTo>
                  <a:pt x="88651" y="1119193"/>
                </a:lnTo>
                <a:cubicBezTo>
                  <a:pt x="39691" y="1119193"/>
                  <a:pt x="0" y="1079502"/>
                  <a:pt x="0" y="1030542"/>
                </a:cubicBezTo>
                <a:lnTo>
                  <a:pt x="0" y="88651"/>
                </a:lnTo>
                <a:cubicBezTo>
                  <a:pt x="0" y="39691"/>
                  <a:pt x="39691" y="0"/>
                  <a:pt x="88651" y="0"/>
                </a:cubicBezTo>
                <a:close/>
              </a:path>
            </a:pathLst>
          </a:custGeom>
          <a:solidFill>
            <a:srgbClr val="1A1D21">
              <a:alpha val="50196"/>
            </a:srgbClr>
          </a:solidFill>
          <a:ln/>
        </p:spPr>
        <p:txBody>
          <a:bodyPr/>
          <a:lstStyle/>
          <a:p>
            <a:endParaRPr lang="zh-CN" altLang="en-US"/>
          </a:p>
        </p:txBody>
      </p:sp>
      <p:sp>
        <p:nvSpPr>
          <p:cNvPr id="10" name="Text 8"/>
          <p:cNvSpPr/>
          <p:nvPr/>
        </p:nvSpPr>
        <p:spPr>
          <a:xfrm>
            <a:off x="764597" y="2271629"/>
            <a:ext cx="7003267" cy="254866"/>
          </a:xfrm>
          <a:prstGeom prst="rect">
            <a:avLst/>
          </a:prstGeom>
          <a:noFill/>
          <a:ln/>
        </p:spPr>
        <p:txBody>
          <a:bodyPr wrap="square" lIns="0" tIns="0" rIns="0" bIns="0" rtlCol="0" anchor="ctr"/>
          <a:lstStyle/>
          <a:p>
            <a:pPr>
              <a:lnSpc>
                <a:spcPct val="140000"/>
              </a:lnSpc>
            </a:pPr>
            <a:r>
              <a:rPr lang="en-US" sz="1222" b="1" dirty="0">
                <a:solidFill>
                  <a:srgbClr val="B38B59"/>
                </a:solidFill>
                <a:latin typeface="MiSans" pitchFamily="34" charset="0"/>
                <a:ea typeface="MiSans" pitchFamily="34" charset="-122"/>
                <a:cs typeface="MiSans" pitchFamily="34" charset="-120"/>
              </a:rPr>
              <a:t>设计特点:</a:t>
            </a:r>
            <a:r>
              <a:rPr lang="en-US" sz="1222" dirty="0">
                <a:solidFill>
                  <a:srgbClr val="E0E2E4">
                    <a:alpha val="80000"/>
                  </a:srgbClr>
                </a:solidFill>
                <a:latin typeface="MiSans" pitchFamily="34" charset="0"/>
                <a:ea typeface="MiSans" pitchFamily="34" charset="-122"/>
                <a:cs typeface="MiSans" pitchFamily="34" charset="-120"/>
              </a:rPr>
              <a:t> 每个subsystem维护独立的层次结构,职责分离设计提高专业化程度</a:t>
            </a:r>
            <a:endParaRPr lang="en-US" sz="1600" dirty="0"/>
          </a:p>
        </p:txBody>
      </p:sp>
      <p:sp>
        <p:nvSpPr>
          <p:cNvPr id="11" name="Text 9"/>
          <p:cNvSpPr/>
          <p:nvPr/>
        </p:nvSpPr>
        <p:spPr>
          <a:xfrm>
            <a:off x="764597" y="2568049"/>
            <a:ext cx="7003267" cy="254866"/>
          </a:xfrm>
          <a:prstGeom prst="rect">
            <a:avLst/>
          </a:prstGeom>
          <a:noFill/>
          <a:ln/>
        </p:spPr>
        <p:txBody>
          <a:bodyPr wrap="square" lIns="0" tIns="0" rIns="0" bIns="0" rtlCol="0" anchor="ctr"/>
          <a:lstStyle/>
          <a:p>
            <a:pPr>
              <a:lnSpc>
                <a:spcPct val="140000"/>
              </a:lnSpc>
            </a:pPr>
            <a:r>
              <a:rPr lang="en-US" sz="1222" b="1" dirty="0">
                <a:solidFill>
                  <a:srgbClr val="B38B59"/>
                </a:solidFill>
                <a:latin typeface="MiSans" pitchFamily="34" charset="0"/>
                <a:ea typeface="MiSans" pitchFamily="34" charset="-122"/>
                <a:cs typeface="MiSans" pitchFamily="34" charset="-120"/>
              </a:rPr>
              <a:t>挂载点:</a:t>
            </a:r>
            <a:r>
              <a:rPr lang="en-US" sz="1222" dirty="0">
                <a:solidFill>
                  <a:srgbClr val="3C8082"/>
                </a:solidFill>
                <a:highlight>
                  <a:srgbClr val="1A1D21">
                    <a:alpha val="100000"/>
                  </a:srgbClr>
                </a:highlight>
                <a:latin typeface="MiSans" pitchFamily="34" charset="0"/>
                <a:ea typeface="MiSans" pitchFamily="34" charset="-122"/>
                <a:cs typeface="MiSans" pitchFamily="34" charset="-120"/>
              </a:rPr>
              <a:t> /sys/fs/cgroup/ </a:t>
            </a:r>
            <a:r>
              <a:rPr lang="en-US" sz="1222" dirty="0">
                <a:solidFill>
                  <a:srgbClr val="E0E2E4">
                    <a:alpha val="80000"/>
                  </a:srgbClr>
                </a:solidFill>
                <a:latin typeface="MiSans" pitchFamily="34" charset="0"/>
                <a:ea typeface="MiSans" pitchFamily="34" charset="-122"/>
                <a:cs typeface="MiSans" pitchFamily="34" charset="-120"/>
              </a:rPr>
              <a:t>下多个独立目录树</a:t>
            </a:r>
            <a:endParaRPr lang="en-US" sz="1600" dirty="0"/>
          </a:p>
        </p:txBody>
      </p:sp>
      <p:sp>
        <p:nvSpPr>
          <p:cNvPr id="12" name="Text 10"/>
          <p:cNvSpPr/>
          <p:nvPr/>
        </p:nvSpPr>
        <p:spPr>
          <a:xfrm>
            <a:off x="764597" y="2870010"/>
            <a:ext cx="7003267" cy="254866"/>
          </a:xfrm>
          <a:prstGeom prst="rect">
            <a:avLst/>
          </a:prstGeom>
          <a:noFill/>
          <a:ln/>
        </p:spPr>
        <p:txBody>
          <a:bodyPr wrap="square" lIns="0" tIns="0" rIns="0" bIns="0" rtlCol="0" anchor="ctr"/>
          <a:lstStyle/>
          <a:p>
            <a:pPr>
              <a:lnSpc>
                <a:spcPct val="140000"/>
              </a:lnSpc>
            </a:pPr>
            <a:r>
              <a:rPr lang="en-US" sz="1222" b="1" dirty="0">
                <a:solidFill>
                  <a:srgbClr val="B38B59"/>
                </a:solidFill>
                <a:latin typeface="MiSans" pitchFamily="34" charset="0"/>
                <a:ea typeface="MiSans" pitchFamily="34" charset="-122"/>
                <a:cs typeface="MiSans" pitchFamily="34" charset="-120"/>
              </a:rPr>
              <a:t>配置方式:</a:t>
            </a:r>
            <a:r>
              <a:rPr lang="en-US" sz="1222" dirty="0">
                <a:solidFill>
                  <a:srgbClr val="E0E2E4">
                    <a:alpha val="80000"/>
                  </a:srgbClr>
                </a:solidFill>
                <a:latin typeface="MiSans" pitchFamily="34" charset="0"/>
                <a:ea typeface="MiSans" pitchFamily="34" charset="-122"/>
                <a:cs typeface="MiSans" pitchFamily="34" charset="-120"/>
              </a:rPr>
              <a:t> 分散配置,需要分别管理各个subsystem</a:t>
            </a:r>
            <a:endParaRPr lang="en-US" sz="1600" dirty="0"/>
          </a:p>
        </p:txBody>
      </p:sp>
      <p:sp>
        <p:nvSpPr>
          <p:cNvPr id="13" name="Shape 11"/>
          <p:cNvSpPr/>
          <p:nvPr/>
        </p:nvSpPr>
        <p:spPr>
          <a:xfrm>
            <a:off x="631624" y="3388052"/>
            <a:ext cx="7191646" cy="709192"/>
          </a:xfrm>
          <a:custGeom>
            <a:avLst/>
            <a:gdLst/>
            <a:ahLst/>
            <a:cxnLst/>
            <a:rect l="l" t="t" r="r" b="b"/>
            <a:pathLst>
              <a:path w="7191646" h="709192">
                <a:moveTo>
                  <a:pt x="88649" y="0"/>
                </a:moveTo>
                <a:lnTo>
                  <a:pt x="7102997" y="0"/>
                </a:lnTo>
                <a:cubicBezTo>
                  <a:pt x="7151956" y="0"/>
                  <a:pt x="7191646" y="39689"/>
                  <a:pt x="7191646" y="88649"/>
                </a:cubicBezTo>
                <a:lnTo>
                  <a:pt x="7191646" y="620543"/>
                </a:lnTo>
                <a:cubicBezTo>
                  <a:pt x="7191646" y="669502"/>
                  <a:pt x="7151956" y="709192"/>
                  <a:pt x="7102997" y="709192"/>
                </a:cubicBezTo>
                <a:lnTo>
                  <a:pt x="88649" y="709192"/>
                </a:lnTo>
                <a:cubicBezTo>
                  <a:pt x="39689" y="709192"/>
                  <a:pt x="0" y="669502"/>
                  <a:pt x="0" y="620543"/>
                </a:cubicBezTo>
                <a:lnTo>
                  <a:pt x="0" y="88649"/>
                </a:lnTo>
                <a:cubicBezTo>
                  <a:pt x="0" y="39722"/>
                  <a:pt x="39722" y="0"/>
                  <a:pt x="88649" y="0"/>
                </a:cubicBezTo>
                <a:close/>
              </a:path>
            </a:pathLst>
          </a:custGeom>
          <a:solidFill>
            <a:srgbClr val="3C8082">
              <a:alpha val="20000"/>
            </a:srgbClr>
          </a:solidFill>
          <a:ln/>
        </p:spPr>
        <p:txBody>
          <a:bodyPr/>
          <a:lstStyle/>
          <a:p>
            <a:endParaRPr lang="zh-CN" altLang="en-US"/>
          </a:p>
        </p:txBody>
      </p:sp>
      <p:sp>
        <p:nvSpPr>
          <p:cNvPr id="14" name="Text 12"/>
          <p:cNvSpPr/>
          <p:nvPr/>
        </p:nvSpPr>
        <p:spPr>
          <a:xfrm>
            <a:off x="720273" y="3476701"/>
            <a:ext cx="1385140" cy="265947"/>
          </a:xfrm>
          <a:prstGeom prst="rect">
            <a:avLst/>
          </a:prstGeom>
          <a:noFill/>
          <a:ln/>
        </p:spPr>
        <p:txBody>
          <a:bodyPr wrap="square" lIns="0" tIns="0" rIns="0" bIns="0" rtlCol="0" anchor="ctr"/>
          <a:lstStyle/>
          <a:p>
            <a:pPr>
              <a:lnSpc>
                <a:spcPct val="130000"/>
              </a:lnSpc>
            </a:pPr>
            <a:r>
              <a:rPr lang="en-US" sz="1396" b="1" dirty="0">
                <a:solidFill>
                  <a:srgbClr val="E0E2E4"/>
                </a:solidFill>
                <a:latin typeface="MiSans" pitchFamily="34" charset="0"/>
                <a:ea typeface="MiSans" pitchFamily="34" charset="-122"/>
                <a:cs typeface="MiSans" pitchFamily="34" charset="-120"/>
              </a:rPr>
              <a:t>CPU Subsystem</a:t>
            </a:r>
            <a:endParaRPr lang="en-US" sz="1600" dirty="0"/>
          </a:p>
        </p:txBody>
      </p:sp>
      <p:sp>
        <p:nvSpPr>
          <p:cNvPr id="15" name="Shape 13"/>
          <p:cNvSpPr/>
          <p:nvPr/>
        </p:nvSpPr>
        <p:spPr>
          <a:xfrm>
            <a:off x="7282459" y="3498863"/>
            <a:ext cx="454326" cy="221622"/>
          </a:xfrm>
          <a:custGeom>
            <a:avLst/>
            <a:gdLst/>
            <a:ahLst/>
            <a:cxnLst/>
            <a:rect l="l" t="t" r="r" b="b"/>
            <a:pathLst>
              <a:path w="454326" h="221622">
                <a:moveTo>
                  <a:pt x="44324" y="0"/>
                </a:moveTo>
                <a:lnTo>
                  <a:pt x="410001" y="0"/>
                </a:lnTo>
                <a:cubicBezTo>
                  <a:pt x="434481" y="0"/>
                  <a:pt x="454326" y="19845"/>
                  <a:pt x="454326" y="44324"/>
                </a:cubicBezTo>
                <a:lnTo>
                  <a:pt x="454326" y="177298"/>
                </a:lnTo>
                <a:cubicBezTo>
                  <a:pt x="454326" y="201778"/>
                  <a:pt x="434481" y="221622"/>
                  <a:pt x="410001" y="221622"/>
                </a:cubicBezTo>
                <a:lnTo>
                  <a:pt x="44324" y="221622"/>
                </a:lnTo>
                <a:cubicBezTo>
                  <a:pt x="19845" y="221622"/>
                  <a:pt x="0" y="201778"/>
                  <a:pt x="0" y="177298"/>
                </a:cubicBezTo>
                <a:lnTo>
                  <a:pt x="0" y="44324"/>
                </a:lnTo>
                <a:cubicBezTo>
                  <a:pt x="0" y="19861"/>
                  <a:pt x="19861" y="0"/>
                  <a:pt x="44324" y="0"/>
                </a:cubicBezTo>
                <a:close/>
              </a:path>
            </a:pathLst>
          </a:custGeom>
          <a:solidFill>
            <a:srgbClr val="B38B59">
              <a:alpha val="30196"/>
            </a:srgbClr>
          </a:solidFill>
          <a:ln/>
        </p:spPr>
        <p:txBody>
          <a:bodyPr/>
          <a:lstStyle/>
          <a:p>
            <a:endParaRPr lang="zh-CN" altLang="en-US"/>
          </a:p>
        </p:txBody>
      </p:sp>
      <p:sp>
        <p:nvSpPr>
          <p:cNvPr id="16" name="Text 14"/>
          <p:cNvSpPr/>
          <p:nvPr/>
        </p:nvSpPr>
        <p:spPr>
          <a:xfrm>
            <a:off x="7282459" y="3498863"/>
            <a:ext cx="520813" cy="221622"/>
          </a:xfrm>
          <a:prstGeom prst="rect">
            <a:avLst/>
          </a:prstGeom>
          <a:noFill/>
          <a:ln/>
        </p:spPr>
        <p:txBody>
          <a:bodyPr wrap="square" lIns="88649" tIns="22162" rIns="88649" bIns="22162" rtlCol="0" anchor="ctr"/>
          <a:lstStyle/>
          <a:p>
            <a:pPr>
              <a:lnSpc>
                <a:spcPct val="110000"/>
              </a:lnSpc>
            </a:pPr>
            <a:r>
              <a:rPr lang="en-US" sz="1047" dirty="0">
                <a:solidFill>
                  <a:srgbClr val="E0E2E4"/>
                </a:solidFill>
                <a:latin typeface="MiSans" pitchFamily="34" charset="0"/>
                <a:ea typeface="MiSans" pitchFamily="34" charset="-122"/>
                <a:cs typeface="MiSans" pitchFamily="34" charset="-120"/>
              </a:rPr>
              <a:t>cpu/</a:t>
            </a:r>
            <a:endParaRPr lang="en-US" sz="1600" dirty="0"/>
          </a:p>
        </p:txBody>
      </p:sp>
      <p:sp>
        <p:nvSpPr>
          <p:cNvPr id="17" name="Text 15"/>
          <p:cNvSpPr/>
          <p:nvPr/>
        </p:nvSpPr>
        <p:spPr>
          <a:xfrm>
            <a:off x="720273" y="3786972"/>
            <a:ext cx="7091915" cy="221622"/>
          </a:xfrm>
          <a:prstGeom prst="rect">
            <a:avLst/>
          </a:prstGeom>
          <a:noFill/>
          <a:ln/>
        </p:spPr>
        <p:txBody>
          <a:bodyPr wrap="square" lIns="0" tIns="0" rIns="0" bIns="0" rtlCol="0" anchor="ctr"/>
          <a:lstStyle/>
          <a:p>
            <a:pPr>
              <a:lnSpc>
                <a:spcPct val="120000"/>
              </a:lnSpc>
            </a:pPr>
            <a:r>
              <a:rPr lang="en-US" sz="1222" dirty="0">
                <a:solidFill>
                  <a:srgbClr val="E0E2E4">
                    <a:alpha val="70000"/>
                  </a:srgbClr>
                </a:solidFill>
                <a:latin typeface="MiSans" pitchFamily="34" charset="0"/>
                <a:ea typeface="MiSans" pitchFamily="34" charset="-122"/>
                <a:cs typeface="MiSans" pitchFamily="34" charset="-120"/>
              </a:rPr>
              <a:t>cpu.shares(相对权重)、cpu.cfs_quota_us(绝对限制)、cpu.stat(使用统计)</a:t>
            </a:r>
            <a:endParaRPr lang="en-US" sz="1600" dirty="0"/>
          </a:p>
        </p:txBody>
      </p:sp>
      <p:sp>
        <p:nvSpPr>
          <p:cNvPr id="18" name="Shape 16"/>
          <p:cNvSpPr/>
          <p:nvPr/>
        </p:nvSpPr>
        <p:spPr>
          <a:xfrm>
            <a:off x="631624" y="4185892"/>
            <a:ext cx="7191646" cy="709192"/>
          </a:xfrm>
          <a:custGeom>
            <a:avLst/>
            <a:gdLst/>
            <a:ahLst/>
            <a:cxnLst/>
            <a:rect l="l" t="t" r="r" b="b"/>
            <a:pathLst>
              <a:path w="7191646" h="709192">
                <a:moveTo>
                  <a:pt x="88649" y="0"/>
                </a:moveTo>
                <a:lnTo>
                  <a:pt x="7102997" y="0"/>
                </a:lnTo>
                <a:cubicBezTo>
                  <a:pt x="7151956" y="0"/>
                  <a:pt x="7191646" y="39689"/>
                  <a:pt x="7191646" y="88649"/>
                </a:cubicBezTo>
                <a:lnTo>
                  <a:pt x="7191646" y="620543"/>
                </a:lnTo>
                <a:cubicBezTo>
                  <a:pt x="7191646" y="669502"/>
                  <a:pt x="7151956" y="709192"/>
                  <a:pt x="7102997" y="709192"/>
                </a:cubicBezTo>
                <a:lnTo>
                  <a:pt x="88649" y="709192"/>
                </a:lnTo>
                <a:cubicBezTo>
                  <a:pt x="39689" y="709192"/>
                  <a:pt x="0" y="669502"/>
                  <a:pt x="0" y="620543"/>
                </a:cubicBezTo>
                <a:lnTo>
                  <a:pt x="0" y="88649"/>
                </a:lnTo>
                <a:cubicBezTo>
                  <a:pt x="0" y="39722"/>
                  <a:pt x="39722" y="0"/>
                  <a:pt x="88649" y="0"/>
                </a:cubicBezTo>
                <a:close/>
              </a:path>
            </a:pathLst>
          </a:custGeom>
          <a:solidFill>
            <a:srgbClr val="3C8082">
              <a:alpha val="20000"/>
            </a:srgbClr>
          </a:solidFill>
          <a:ln/>
        </p:spPr>
        <p:txBody>
          <a:bodyPr/>
          <a:lstStyle/>
          <a:p>
            <a:endParaRPr lang="zh-CN" altLang="en-US"/>
          </a:p>
        </p:txBody>
      </p:sp>
      <p:sp>
        <p:nvSpPr>
          <p:cNvPr id="19" name="Text 17"/>
          <p:cNvSpPr/>
          <p:nvPr/>
        </p:nvSpPr>
        <p:spPr>
          <a:xfrm>
            <a:off x="720273" y="4274541"/>
            <a:ext cx="1695411" cy="265947"/>
          </a:xfrm>
          <a:prstGeom prst="rect">
            <a:avLst/>
          </a:prstGeom>
          <a:noFill/>
          <a:ln/>
        </p:spPr>
        <p:txBody>
          <a:bodyPr wrap="square" lIns="0" tIns="0" rIns="0" bIns="0" rtlCol="0" anchor="ctr"/>
          <a:lstStyle/>
          <a:p>
            <a:pPr>
              <a:lnSpc>
                <a:spcPct val="130000"/>
              </a:lnSpc>
            </a:pPr>
            <a:r>
              <a:rPr lang="en-US" sz="1396" b="1" dirty="0">
                <a:solidFill>
                  <a:srgbClr val="E0E2E4"/>
                </a:solidFill>
                <a:latin typeface="MiSans" pitchFamily="34" charset="0"/>
                <a:ea typeface="MiSans" pitchFamily="34" charset="-122"/>
                <a:cs typeface="MiSans" pitchFamily="34" charset="-120"/>
              </a:rPr>
              <a:t>Memory Subsystem</a:t>
            </a:r>
            <a:endParaRPr lang="en-US" sz="1600" dirty="0"/>
          </a:p>
        </p:txBody>
      </p:sp>
      <p:sp>
        <p:nvSpPr>
          <p:cNvPr id="20" name="Shape 18"/>
          <p:cNvSpPr/>
          <p:nvPr/>
        </p:nvSpPr>
        <p:spPr>
          <a:xfrm>
            <a:off x="7006989" y="4296703"/>
            <a:ext cx="731354" cy="221622"/>
          </a:xfrm>
          <a:custGeom>
            <a:avLst/>
            <a:gdLst/>
            <a:ahLst/>
            <a:cxnLst/>
            <a:rect l="l" t="t" r="r" b="b"/>
            <a:pathLst>
              <a:path w="731354" h="221622">
                <a:moveTo>
                  <a:pt x="44324" y="0"/>
                </a:moveTo>
                <a:lnTo>
                  <a:pt x="687029" y="0"/>
                </a:lnTo>
                <a:cubicBezTo>
                  <a:pt x="711509" y="0"/>
                  <a:pt x="731354" y="19845"/>
                  <a:pt x="731354" y="44324"/>
                </a:cubicBezTo>
                <a:lnTo>
                  <a:pt x="731354" y="177298"/>
                </a:lnTo>
                <a:cubicBezTo>
                  <a:pt x="731354" y="201778"/>
                  <a:pt x="711509" y="221622"/>
                  <a:pt x="687029" y="221622"/>
                </a:cubicBezTo>
                <a:lnTo>
                  <a:pt x="44324" y="221622"/>
                </a:lnTo>
                <a:cubicBezTo>
                  <a:pt x="19845" y="221622"/>
                  <a:pt x="0" y="201778"/>
                  <a:pt x="0" y="177298"/>
                </a:cubicBezTo>
                <a:lnTo>
                  <a:pt x="0" y="44324"/>
                </a:lnTo>
                <a:cubicBezTo>
                  <a:pt x="0" y="19861"/>
                  <a:pt x="19861" y="0"/>
                  <a:pt x="44324" y="0"/>
                </a:cubicBezTo>
                <a:close/>
              </a:path>
            </a:pathLst>
          </a:custGeom>
          <a:solidFill>
            <a:srgbClr val="B38B59">
              <a:alpha val="30196"/>
            </a:srgbClr>
          </a:solidFill>
          <a:ln/>
        </p:spPr>
        <p:txBody>
          <a:bodyPr/>
          <a:lstStyle/>
          <a:p>
            <a:endParaRPr lang="zh-CN" altLang="en-US"/>
          </a:p>
        </p:txBody>
      </p:sp>
      <p:sp>
        <p:nvSpPr>
          <p:cNvPr id="21" name="Text 19"/>
          <p:cNvSpPr/>
          <p:nvPr/>
        </p:nvSpPr>
        <p:spPr>
          <a:xfrm>
            <a:off x="7006989" y="4296703"/>
            <a:ext cx="797840" cy="221622"/>
          </a:xfrm>
          <a:prstGeom prst="rect">
            <a:avLst/>
          </a:prstGeom>
          <a:noFill/>
          <a:ln/>
        </p:spPr>
        <p:txBody>
          <a:bodyPr wrap="square" lIns="88649" tIns="22162" rIns="88649" bIns="22162" rtlCol="0" anchor="ctr"/>
          <a:lstStyle/>
          <a:p>
            <a:pPr>
              <a:lnSpc>
                <a:spcPct val="110000"/>
              </a:lnSpc>
            </a:pPr>
            <a:r>
              <a:rPr lang="en-US" sz="1047" dirty="0">
                <a:solidFill>
                  <a:srgbClr val="E0E2E4"/>
                </a:solidFill>
                <a:latin typeface="MiSans" pitchFamily="34" charset="0"/>
                <a:ea typeface="MiSans" pitchFamily="34" charset="-122"/>
                <a:cs typeface="MiSans" pitchFamily="34" charset="-120"/>
              </a:rPr>
              <a:t>memory/</a:t>
            </a:r>
            <a:endParaRPr lang="en-US" sz="1600" dirty="0"/>
          </a:p>
        </p:txBody>
      </p:sp>
      <p:sp>
        <p:nvSpPr>
          <p:cNvPr id="22" name="Text 20"/>
          <p:cNvSpPr/>
          <p:nvPr/>
        </p:nvSpPr>
        <p:spPr>
          <a:xfrm>
            <a:off x="720273" y="4584813"/>
            <a:ext cx="7091915" cy="221622"/>
          </a:xfrm>
          <a:prstGeom prst="rect">
            <a:avLst/>
          </a:prstGeom>
          <a:noFill/>
          <a:ln/>
        </p:spPr>
        <p:txBody>
          <a:bodyPr wrap="square" lIns="0" tIns="0" rIns="0" bIns="0" rtlCol="0" anchor="ctr"/>
          <a:lstStyle/>
          <a:p>
            <a:pPr>
              <a:lnSpc>
                <a:spcPct val="120000"/>
              </a:lnSpc>
            </a:pPr>
            <a:r>
              <a:rPr lang="en-US" sz="1222" dirty="0">
                <a:solidFill>
                  <a:srgbClr val="E0E2E4">
                    <a:alpha val="70000"/>
                  </a:srgbClr>
                </a:solidFill>
                <a:latin typeface="MiSans" pitchFamily="34" charset="0"/>
                <a:ea typeface="MiSans" pitchFamily="34" charset="-122"/>
                <a:cs typeface="MiSans" pitchFamily="34" charset="-120"/>
              </a:rPr>
              <a:t>memory.limit_in_bytes(硬限制)、memory.oom_control(OOM控制)</a:t>
            </a:r>
            <a:endParaRPr lang="en-US" sz="1600" dirty="0"/>
          </a:p>
        </p:txBody>
      </p:sp>
      <p:sp>
        <p:nvSpPr>
          <p:cNvPr id="23" name="Shape 21"/>
          <p:cNvSpPr/>
          <p:nvPr/>
        </p:nvSpPr>
        <p:spPr>
          <a:xfrm>
            <a:off x="631624" y="4983733"/>
            <a:ext cx="7191646" cy="709192"/>
          </a:xfrm>
          <a:custGeom>
            <a:avLst/>
            <a:gdLst/>
            <a:ahLst/>
            <a:cxnLst/>
            <a:rect l="l" t="t" r="r" b="b"/>
            <a:pathLst>
              <a:path w="7191646" h="709192">
                <a:moveTo>
                  <a:pt x="88649" y="0"/>
                </a:moveTo>
                <a:lnTo>
                  <a:pt x="7102997" y="0"/>
                </a:lnTo>
                <a:cubicBezTo>
                  <a:pt x="7151956" y="0"/>
                  <a:pt x="7191646" y="39689"/>
                  <a:pt x="7191646" y="88649"/>
                </a:cubicBezTo>
                <a:lnTo>
                  <a:pt x="7191646" y="620543"/>
                </a:lnTo>
                <a:cubicBezTo>
                  <a:pt x="7191646" y="669502"/>
                  <a:pt x="7151956" y="709192"/>
                  <a:pt x="7102997" y="709192"/>
                </a:cubicBezTo>
                <a:lnTo>
                  <a:pt x="88649" y="709192"/>
                </a:lnTo>
                <a:cubicBezTo>
                  <a:pt x="39689" y="709192"/>
                  <a:pt x="0" y="669502"/>
                  <a:pt x="0" y="620543"/>
                </a:cubicBezTo>
                <a:lnTo>
                  <a:pt x="0" y="88649"/>
                </a:lnTo>
                <a:cubicBezTo>
                  <a:pt x="0" y="39722"/>
                  <a:pt x="39722" y="0"/>
                  <a:pt x="88649" y="0"/>
                </a:cubicBezTo>
                <a:close/>
              </a:path>
            </a:pathLst>
          </a:custGeom>
          <a:solidFill>
            <a:srgbClr val="3C8082">
              <a:alpha val="20000"/>
            </a:srgbClr>
          </a:solidFill>
          <a:ln/>
        </p:spPr>
        <p:txBody>
          <a:bodyPr/>
          <a:lstStyle/>
          <a:p>
            <a:endParaRPr lang="zh-CN" altLang="en-US"/>
          </a:p>
        </p:txBody>
      </p:sp>
      <p:sp>
        <p:nvSpPr>
          <p:cNvPr id="24" name="Text 22"/>
          <p:cNvSpPr/>
          <p:nvPr/>
        </p:nvSpPr>
        <p:spPr>
          <a:xfrm>
            <a:off x="720273" y="5072382"/>
            <a:ext cx="1274329" cy="265947"/>
          </a:xfrm>
          <a:prstGeom prst="rect">
            <a:avLst/>
          </a:prstGeom>
          <a:noFill/>
          <a:ln/>
        </p:spPr>
        <p:txBody>
          <a:bodyPr wrap="square" lIns="0" tIns="0" rIns="0" bIns="0" rtlCol="0" anchor="ctr"/>
          <a:lstStyle/>
          <a:p>
            <a:pPr>
              <a:lnSpc>
                <a:spcPct val="130000"/>
              </a:lnSpc>
            </a:pPr>
            <a:r>
              <a:rPr lang="en-US" sz="1396" b="1" dirty="0">
                <a:solidFill>
                  <a:srgbClr val="E0E2E4"/>
                </a:solidFill>
                <a:latin typeface="MiSans" pitchFamily="34" charset="0"/>
                <a:ea typeface="MiSans" pitchFamily="34" charset="-122"/>
                <a:cs typeface="MiSans" pitchFamily="34" charset="-120"/>
              </a:rPr>
              <a:t>I/O Subsystem</a:t>
            </a:r>
            <a:endParaRPr lang="en-US" sz="1600" dirty="0"/>
          </a:p>
        </p:txBody>
      </p:sp>
      <p:sp>
        <p:nvSpPr>
          <p:cNvPr id="25" name="Shape 23"/>
          <p:cNvSpPr/>
          <p:nvPr/>
        </p:nvSpPr>
        <p:spPr>
          <a:xfrm>
            <a:off x="7222378" y="5094544"/>
            <a:ext cx="520813" cy="221622"/>
          </a:xfrm>
          <a:custGeom>
            <a:avLst/>
            <a:gdLst/>
            <a:ahLst/>
            <a:cxnLst/>
            <a:rect l="l" t="t" r="r" b="b"/>
            <a:pathLst>
              <a:path w="520813" h="221622">
                <a:moveTo>
                  <a:pt x="44324" y="0"/>
                </a:moveTo>
                <a:lnTo>
                  <a:pt x="476488" y="0"/>
                </a:lnTo>
                <a:cubicBezTo>
                  <a:pt x="500968" y="0"/>
                  <a:pt x="520813" y="19845"/>
                  <a:pt x="520813" y="44324"/>
                </a:cubicBezTo>
                <a:lnTo>
                  <a:pt x="520813" y="177298"/>
                </a:lnTo>
                <a:cubicBezTo>
                  <a:pt x="520813" y="201778"/>
                  <a:pt x="500968" y="221622"/>
                  <a:pt x="476488" y="221622"/>
                </a:cubicBezTo>
                <a:lnTo>
                  <a:pt x="44324" y="221622"/>
                </a:lnTo>
                <a:cubicBezTo>
                  <a:pt x="19845" y="221622"/>
                  <a:pt x="0" y="201778"/>
                  <a:pt x="0" y="177298"/>
                </a:cubicBezTo>
                <a:lnTo>
                  <a:pt x="0" y="44324"/>
                </a:lnTo>
                <a:cubicBezTo>
                  <a:pt x="0" y="19861"/>
                  <a:pt x="19861" y="0"/>
                  <a:pt x="44324" y="0"/>
                </a:cubicBezTo>
                <a:close/>
              </a:path>
            </a:pathLst>
          </a:custGeom>
          <a:solidFill>
            <a:srgbClr val="B38B59">
              <a:alpha val="30196"/>
            </a:srgbClr>
          </a:solidFill>
          <a:ln/>
        </p:spPr>
        <p:txBody>
          <a:bodyPr/>
          <a:lstStyle/>
          <a:p>
            <a:endParaRPr lang="zh-CN" altLang="en-US"/>
          </a:p>
        </p:txBody>
      </p:sp>
      <p:sp>
        <p:nvSpPr>
          <p:cNvPr id="26" name="Text 24"/>
          <p:cNvSpPr/>
          <p:nvPr/>
        </p:nvSpPr>
        <p:spPr>
          <a:xfrm>
            <a:off x="7222378" y="5094544"/>
            <a:ext cx="587299" cy="221622"/>
          </a:xfrm>
          <a:prstGeom prst="rect">
            <a:avLst/>
          </a:prstGeom>
          <a:noFill/>
          <a:ln/>
        </p:spPr>
        <p:txBody>
          <a:bodyPr wrap="square" lIns="88649" tIns="22162" rIns="88649" bIns="22162" rtlCol="0" anchor="ctr"/>
          <a:lstStyle/>
          <a:p>
            <a:pPr>
              <a:lnSpc>
                <a:spcPct val="110000"/>
              </a:lnSpc>
            </a:pPr>
            <a:r>
              <a:rPr lang="en-US" sz="1047" dirty="0">
                <a:solidFill>
                  <a:srgbClr val="E0E2E4"/>
                </a:solidFill>
                <a:latin typeface="MiSans" pitchFamily="34" charset="0"/>
                <a:ea typeface="MiSans" pitchFamily="34" charset="-122"/>
                <a:cs typeface="MiSans" pitchFamily="34" charset="-120"/>
              </a:rPr>
              <a:t>blkio/</a:t>
            </a:r>
            <a:endParaRPr lang="en-US" sz="1600" dirty="0"/>
          </a:p>
        </p:txBody>
      </p:sp>
      <p:sp>
        <p:nvSpPr>
          <p:cNvPr id="27" name="Text 25"/>
          <p:cNvSpPr/>
          <p:nvPr/>
        </p:nvSpPr>
        <p:spPr>
          <a:xfrm>
            <a:off x="720273" y="5382653"/>
            <a:ext cx="7091915" cy="221622"/>
          </a:xfrm>
          <a:prstGeom prst="rect">
            <a:avLst/>
          </a:prstGeom>
          <a:noFill/>
          <a:ln/>
        </p:spPr>
        <p:txBody>
          <a:bodyPr wrap="square" lIns="0" tIns="0" rIns="0" bIns="0" rtlCol="0" anchor="ctr"/>
          <a:lstStyle/>
          <a:p>
            <a:pPr>
              <a:lnSpc>
                <a:spcPct val="120000"/>
              </a:lnSpc>
            </a:pPr>
            <a:r>
              <a:rPr lang="en-US" sz="1222" dirty="0">
                <a:solidFill>
                  <a:srgbClr val="E0E2E4">
                    <a:alpha val="70000"/>
                  </a:srgbClr>
                </a:solidFill>
                <a:latin typeface="MiSans" pitchFamily="34" charset="0"/>
                <a:ea typeface="MiSans" pitchFamily="34" charset="-122"/>
                <a:cs typeface="MiSans" pitchFamily="34" charset="-120"/>
              </a:rPr>
              <a:t>blkio.weight(I/O权重)、blkio.throttle.*(带宽/IOPS限制)</a:t>
            </a:r>
            <a:endParaRPr lang="en-US" sz="1600" dirty="0"/>
          </a:p>
        </p:txBody>
      </p:sp>
      <p:sp>
        <p:nvSpPr>
          <p:cNvPr id="28" name="Shape 26"/>
          <p:cNvSpPr/>
          <p:nvPr/>
        </p:nvSpPr>
        <p:spPr>
          <a:xfrm>
            <a:off x="631624" y="5781573"/>
            <a:ext cx="7191646" cy="709192"/>
          </a:xfrm>
          <a:custGeom>
            <a:avLst/>
            <a:gdLst/>
            <a:ahLst/>
            <a:cxnLst/>
            <a:rect l="l" t="t" r="r" b="b"/>
            <a:pathLst>
              <a:path w="7191646" h="709192">
                <a:moveTo>
                  <a:pt x="88649" y="0"/>
                </a:moveTo>
                <a:lnTo>
                  <a:pt x="7102997" y="0"/>
                </a:lnTo>
                <a:cubicBezTo>
                  <a:pt x="7151956" y="0"/>
                  <a:pt x="7191646" y="39689"/>
                  <a:pt x="7191646" y="88649"/>
                </a:cubicBezTo>
                <a:lnTo>
                  <a:pt x="7191646" y="620543"/>
                </a:lnTo>
                <a:cubicBezTo>
                  <a:pt x="7191646" y="669502"/>
                  <a:pt x="7151956" y="709192"/>
                  <a:pt x="7102997" y="709192"/>
                </a:cubicBezTo>
                <a:lnTo>
                  <a:pt x="88649" y="709192"/>
                </a:lnTo>
                <a:cubicBezTo>
                  <a:pt x="39689" y="709192"/>
                  <a:pt x="0" y="669502"/>
                  <a:pt x="0" y="620543"/>
                </a:cubicBezTo>
                <a:lnTo>
                  <a:pt x="0" y="88649"/>
                </a:lnTo>
                <a:cubicBezTo>
                  <a:pt x="0" y="39722"/>
                  <a:pt x="39722" y="0"/>
                  <a:pt x="88649" y="0"/>
                </a:cubicBezTo>
                <a:close/>
              </a:path>
            </a:pathLst>
          </a:custGeom>
          <a:solidFill>
            <a:srgbClr val="3C8082">
              <a:alpha val="20000"/>
            </a:srgbClr>
          </a:solidFill>
          <a:ln/>
        </p:spPr>
        <p:txBody>
          <a:bodyPr/>
          <a:lstStyle/>
          <a:p>
            <a:endParaRPr lang="zh-CN" altLang="en-US"/>
          </a:p>
        </p:txBody>
      </p:sp>
      <p:sp>
        <p:nvSpPr>
          <p:cNvPr id="29" name="Text 27"/>
          <p:cNvSpPr/>
          <p:nvPr/>
        </p:nvSpPr>
        <p:spPr>
          <a:xfrm>
            <a:off x="720273" y="5870222"/>
            <a:ext cx="1584600" cy="265947"/>
          </a:xfrm>
          <a:prstGeom prst="rect">
            <a:avLst/>
          </a:prstGeom>
          <a:noFill/>
          <a:ln/>
        </p:spPr>
        <p:txBody>
          <a:bodyPr wrap="square" lIns="0" tIns="0" rIns="0" bIns="0" rtlCol="0" anchor="ctr"/>
          <a:lstStyle/>
          <a:p>
            <a:pPr>
              <a:lnSpc>
                <a:spcPct val="130000"/>
              </a:lnSpc>
            </a:pPr>
            <a:r>
              <a:rPr lang="en-US" sz="1396" b="1" dirty="0">
                <a:solidFill>
                  <a:srgbClr val="E0E2E4"/>
                </a:solidFill>
                <a:latin typeface="MiSans" pitchFamily="34" charset="0"/>
                <a:ea typeface="MiSans" pitchFamily="34" charset="-122"/>
                <a:cs typeface="MiSans" pitchFamily="34" charset="-120"/>
              </a:rPr>
              <a:t>Device Subsystem</a:t>
            </a:r>
            <a:endParaRPr lang="en-US" sz="1600" dirty="0"/>
          </a:p>
        </p:txBody>
      </p:sp>
      <p:sp>
        <p:nvSpPr>
          <p:cNvPr id="30" name="Shape 28"/>
          <p:cNvSpPr/>
          <p:nvPr/>
        </p:nvSpPr>
        <p:spPr>
          <a:xfrm>
            <a:off x="7049236" y="5892384"/>
            <a:ext cx="687029" cy="221622"/>
          </a:xfrm>
          <a:custGeom>
            <a:avLst/>
            <a:gdLst/>
            <a:ahLst/>
            <a:cxnLst/>
            <a:rect l="l" t="t" r="r" b="b"/>
            <a:pathLst>
              <a:path w="687029" h="221622">
                <a:moveTo>
                  <a:pt x="44324" y="0"/>
                </a:moveTo>
                <a:lnTo>
                  <a:pt x="642705" y="0"/>
                </a:lnTo>
                <a:cubicBezTo>
                  <a:pt x="667185" y="0"/>
                  <a:pt x="687029" y="19845"/>
                  <a:pt x="687029" y="44324"/>
                </a:cubicBezTo>
                <a:lnTo>
                  <a:pt x="687029" y="177298"/>
                </a:lnTo>
                <a:cubicBezTo>
                  <a:pt x="687029" y="201778"/>
                  <a:pt x="667185" y="221622"/>
                  <a:pt x="642705" y="221622"/>
                </a:cubicBezTo>
                <a:lnTo>
                  <a:pt x="44324" y="221622"/>
                </a:lnTo>
                <a:cubicBezTo>
                  <a:pt x="19845" y="221622"/>
                  <a:pt x="0" y="201778"/>
                  <a:pt x="0" y="177298"/>
                </a:cubicBezTo>
                <a:lnTo>
                  <a:pt x="0" y="44324"/>
                </a:lnTo>
                <a:cubicBezTo>
                  <a:pt x="0" y="19861"/>
                  <a:pt x="19861" y="0"/>
                  <a:pt x="44324" y="0"/>
                </a:cubicBezTo>
                <a:close/>
              </a:path>
            </a:pathLst>
          </a:custGeom>
          <a:solidFill>
            <a:srgbClr val="B38B59">
              <a:alpha val="30196"/>
            </a:srgbClr>
          </a:solidFill>
          <a:ln/>
        </p:spPr>
        <p:txBody>
          <a:bodyPr/>
          <a:lstStyle/>
          <a:p>
            <a:endParaRPr lang="zh-CN" altLang="en-US"/>
          </a:p>
        </p:txBody>
      </p:sp>
      <p:sp>
        <p:nvSpPr>
          <p:cNvPr id="31" name="Text 29"/>
          <p:cNvSpPr/>
          <p:nvPr/>
        </p:nvSpPr>
        <p:spPr>
          <a:xfrm>
            <a:off x="7049236" y="5892384"/>
            <a:ext cx="753516" cy="221622"/>
          </a:xfrm>
          <a:prstGeom prst="rect">
            <a:avLst/>
          </a:prstGeom>
          <a:noFill/>
          <a:ln/>
        </p:spPr>
        <p:txBody>
          <a:bodyPr wrap="square" lIns="88649" tIns="22162" rIns="88649" bIns="22162" rtlCol="0" anchor="ctr"/>
          <a:lstStyle/>
          <a:p>
            <a:pPr>
              <a:lnSpc>
                <a:spcPct val="110000"/>
              </a:lnSpc>
            </a:pPr>
            <a:r>
              <a:rPr lang="en-US" sz="1047" dirty="0">
                <a:solidFill>
                  <a:srgbClr val="E0E2E4"/>
                </a:solidFill>
                <a:latin typeface="MiSans" pitchFamily="34" charset="0"/>
                <a:ea typeface="MiSans" pitchFamily="34" charset="-122"/>
                <a:cs typeface="MiSans" pitchFamily="34" charset="-120"/>
              </a:rPr>
              <a:t>devices/</a:t>
            </a:r>
            <a:endParaRPr lang="en-US" sz="1600" dirty="0"/>
          </a:p>
        </p:txBody>
      </p:sp>
      <p:sp>
        <p:nvSpPr>
          <p:cNvPr id="32" name="Text 30"/>
          <p:cNvSpPr/>
          <p:nvPr/>
        </p:nvSpPr>
        <p:spPr>
          <a:xfrm>
            <a:off x="720273" y="6180494"/>
            <a:ext cx="7091915" cy="221622"/>
          </a:xfrm>
          <a:prstGeom prst="rect">
            <a:avLst/>
          </a:prstGeom>
          <a:noFill/>
          <a:ln/>
        </p:spPr>
        <p:txBody>
          <a:bodyPr wrap="square" lIns="0" tIns="0" rIns="0" bIns="0" rtlCol="0" anchor="ctr"/>
          <a:lstStyle/>
          <a:p>
            <a:pPr>
              <a:lnSpc>
                <a:spcPct val="120000"/>
              </a:lnSpc>
            </a:pPr>
            <a:r>
              <a:rPr lang="en-US" sz="1222" dirty="0">
                <a:solidFill>
                  <a:srgbClr val="E0E2E4">
                    <a:alpha val="70000"/>
                  </a:srgbClr>
                </a:solidFill>
                <a:latin typeface="MiSans" pitchFamily="34" charset="0"/>
                <a:ea typeface="MiSans" pitchFamily="34" charset="-122"/>
                <a:cs typeface="MiSans" pitchFamily="34" charset="-120"/>
              </a:rPr>
              <a:t>devices.allow(允许访问)、devices.deny(拒绝访问)</a:t>
            </a:r>
            <a:endParaRPr lang="en-US" sz="1600" dirty="0"/>
          </a:p>
        </p:txBody>
      </p:sp>
      <p:sp>
        <p:nvSpPr>
          <p:cNvPr id="33" name="Shape 31"/>
          <p:cNvSpPr/>
          <p:nvPr/>
        </p:nvSpPr>
        <p:spPr>
          <a:xfrm>
            <a:off x="8242447" y="1468249"/>
            <a:ext cx="7557322" cy="5167264"/>
          </a:xfrm>
          <a:custGeom>
            <a:avLst/>
            <a:gdLst/>
            <a:ahLst/>
            <a:cxnLst/>
            <a:rect l="l" t="t" r="r" b="b"/>
            <a:pathLst>
              <a:path w="7557322" h="6094615">
                <a:moveTo>
                  <a:pt x="88677" y="0"/>
                </a:moveTo>
                <a:lnTo>
                  <a:pt x="7468646" y="0"/>
                </a:lnTo>
                <a:cubicBezTo>
                  <a:pt x="7517588" y="0"/>
                  <a:pt x="7557322" y="39735"/>
                  <a:pt x="7557322" y="88677"/>
                </a:cubicBezTo>
                <a:lnTo>
                  <a:pt x="7557322" y="6005938"/>
                </a:lnTo>
                <a:cubicBezTo>
                  <a:pt x="7557322" y="6054880"/>
                  <a:pt x="7517588" y="6094615"/>
                  <a:pt x="7468646" y="6094615"/>
                </a:cubicBezTo>
                <a:lnTo>
                  <a:pt x="88677" y="6094615"/>
                </a:lnTo>
                <a:cubicBezTo>
                  <a:pt x="39735" y="6094615"/>
                  <a:pt x="0" y="6054880"/>
                  <a:pt x="0" y="6005938"/>
                </a:cubicBezTo>
                <a:lnTo>
                  <a:pt x="0" y="88677"/>
                </a:lnTo>
                <a:cubicBezTo>
                  <a:pt x="0" y="39735"/>
                  <a:pt x="39735" y="0"/>
                  <a:pt x="88677"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34" name="Shape 32"/>
          <p:cNvSpPr/>
          <p:nvPr/>
        </p:nvSpPr>
        <p:spPr>
          <a:xfrm>
            <a:off x="8458529" y="1695411"/>
            <a:ext cx="265947" cy="265947"/>
          </a:xfrm>
          <a:custGeom>
            <a:avLst/>
            <a:gdLst/>
            <a:ahLst/>
            <a:cxnLst/>
            <a:rect l="l" t="t" r="r" b="b"/>
            <a:pathLst>
              <a:path w="265947" h="265947">
                <a:moveTo>
                  <a:pt x="0" y="41554"/>
                </a:moveTo>
                <a:cubicBezTo>
                  <a:pt x="0" y="27789"/>
                  <a:pt x="11168" y="16622"/>
                  <a:pt x="24933" y="16622"/>
                </a:cubicBezTo>
                <a:lnTo>
                  <a:pt x="74798" y="16622"/>
                </a:lnTo>
                <a:cubicBezTo>
                  <a:pt x="88562" y="16622"/>
                  <a:pt x="99730" y="27789"/>
                  <a:pt x="99730" y="41554"/>
                </a:cubicBezTo>
                <a:lnTo>
                  <a:pt x="99730" y="49865"/>
                </a:lnTo>
                <a:lnTo>
                  <a:pt x="166217" y="49865"/>
                </a:lnTo>
                <a:lnTo>
                  <a:pt x="166217" y="41554"/>
                </a:lnTo>
                <a:cubicBezTo>
                  <a:pt x="166217" y="27789"/>
                  <a:pt x="177384" y="16622"/>
                  <a:pt x="191149" y="16622"/>
                </a:cubicBezTo>
                <a:lnTo>
                  <a:pt x="241014" y="16622"/>
                </a:lnTo>
                <a:cubicBezTo>
                  <a:pt x="254779" y="16622"/>
                  <a:pt x="265947" y="27789"/>
                  <a:pt x="265947" y="41554"/>
                </a:cubicBezTo>
                <a:lnTo>
                  <a:pt x="265947" y="91419"/>
                </a:lnTo>
                <a:cubicBezTo>
                  <a:pt x="265947" y="105184"/>
                  <a:pt x="254779" y="116352"/>
                  <a:pt x="241014" y="116352"/>
                </a:cubicBezTo>
                <a:lnTo>
                  <a:pt x="191149" y="116352"/>
                </a:lnTo>
                <a:cubicBezTo>
                  <a:pt x="177384" y="116352"/>
                  <a:pt x="166217" y="105184"/>
                  <a:pt x="166217" y="91419"/>
                </a:cubicBezTo>
                <a:lnTo>
                  <a:pt x="166217" y="83108"/>
                </a:lnTo>
                <a:lnTo>
                  <a:pt x="99730" y="83108"/>
                </a:lnTo>
                <a:lnTo>
                  <a:pt x="99730" y="91419"/>
                </a:lnTo>
                <a:cubicBezTo>
                  <a:pt x="99730" y="95211"/>
                  <a:pt x="98847" y="98847"/>
                  <a:pt x="97341" y="102067"/>
                </a:cubicBezTo>
                <a:lnTo>
                  <a:pt x="132973" y="149595"/>
                </a:lnTo>
                <a:lnTo>
                  <a:pt x="174528" y="149595"/>
                </a:lnTo>
                <a:cubicBezTo>
                  <a:pt x="188292" y="149595"/>
                  <a:pt x="199460" y="160763"/>
                  <a:pt x="199460" y="174528"/>
                </a:cubicBezTo>
                <a:lnTo>
                  <a:pt x="199460" y="224393"/>
                </a:lnTo>
                <a:cubicBezTo>
                  <a:pt x="199460" y="238157"/>
                  <a:pt x="188292" y="249325"/>
                  <a:pt x="174528" y="249325"/>
                </a:cubicBezTo>
                <a:lnTo>
                  <a:pt x="124663" y="249325"/>
                </a:lnTo>
                <a:cubicBezTo>
                  <a:pt x="110898" y="249325"/>
                  <a:pt x="99730" y="238157"/>
                  <a:pt x="99730" y="224393"/>
                </a:cubicBezTo>
                <a:lnTo>
                  <a:pt x="99730" y="174528"/>
                </a:lnTo>
                <a:cubicBezTo>
                  <a:pt x="99730" y="170736"/>
                  <a:pt x="100613" y="167100"/>
                  <a:pt x="102119" y="163879"/>
                </a:cubicBezTo>
                <a:lnTo>
                  <a:pt x="66487" y="116352"/>
                </a:lnTo>
                <a:lnTo>
                  <a:pt x="24933" y="116352"/>
                </a:lnTo>
                <a:cubicBezTo>
                  <a:pt x="11168" y="116352"/>
                  <a:pt x="0" y="105184"/>
                  <a:pt x="0" y="91419"/>
                </a:cubicBezTo>
                <a:lnTo>
                  <a:pt x="0" y="41554"/>
                </a:lnTo>
                <a:close/>
              </a:path>
            </a:pathLst>
          </a:custGeom>
          <a:solidFill>
            <a:srgbClr val="3C8082"/>
          </a:solidFill>
          <a:ln/>
        </p:spPr>
        <p:txBody>
          <a:bodyPr/>
          <a:lstStyle/>
          <a:p>
            <a:endParaRPr lang="zh-CN" altLang="en-US"/>
          </a:p>
        </p:txBody>
      </p:sp>
      <p:sp>
        <p:nvSpPr>
          <p:cNvPr id="35" name="Text 33"/>
          <p:cNvSpPr/>
          <p:nvPr/>
        </p:nvSpPr>
        <p:spPr>
          <a:xfrm>
            <a:off x="8757719" y="1651087"/>
            <a:ext cx="6992185" cy="354596"/>
          </a:xfrm>
          <a:prstGeom prst="rect">
            <a:avLst/>
          </a:prstGeom>
          <a:noFill/>
          <a:ln/>
        </p:spPr>
        <p:txBody>
          <a:bodyPr wrap="square" lIns="0" tIns="0" rIns="0" bIns="0" rtlCol="0" anchor="ctr"/>
          <a:lstStyle/>
          <a:p>
            <a:pPr>
              <a:lnSpc>
                <a:spcPct val="110000"/>
              </a:lnSpc>
            </a:pPr>
            <a:r>
              <a:rPr lang="en-US" sz="2094" b="1" dirty="0">
                <a:solidFill>
                  <a:srgbClr val="E0E2E4"/>
                </a:solidFill>
                <a:latin typeface="MiSans" pitchFamily="34" charset="0"/>
                <a:ea typeface="MiSans" pitchFamily="34" charset="-122"/>
                <a:cs typeface="MiSans" pitchFamily="34" charset="-120"/>
              </a:rPr>
              <a:t>CGroups v2 统一架构</a:t>
            </a:r>
            <a:endParaRPr lang="en-US" sz="1600" dirty="0"/>
          </a:p>
        </p:txBody>
      </p:sp>
      <p:sp>
        <p:nvSpPr>
          <p:cNvPr id="36" name="Shape 34"/>
          <p:cNvSpPr/>
          <p:nvPr/>
        </p:nvSpPr>
        <p:spPr>
          <a:xfrm>
            <a:off x="8425286" y="2138656"/>
            <a:ext cx="7191646" cy="1119193"/>
          </a:xfrm>
          <a:custGeom>
            <a:avLst/>
            <a:gdLst/>
            <a:ahLst/>
            <a:cxnLst/>
            <a:rect l="l" t="t" r="r" b="b"/>
            <a:pathLst>
              <a:path w="7191646" h="1119193">
                <a:moveTo>
                  <a:pt x="88651" y="0"/>
                </a:moveTo>
                <a:lnTo>
                  <a:pt x="7102994" y="0"/>
                </a:lnTo>
                <a:cubicBezTo>
                  <a:pt x="7151955" y="0"/>
                  <a:pt x="7191646" y="39691"/>
                  <a:pt x="7191646" y="88651"/>
                </a:cubicBezTo>
                <a:lnTo>
                  <a:pt x="7191646" y="1030542"/>
                </a:lnTo>
                <a:cubicBezTo>
                  <a:pt x="7191646" y="1079502"/>
                  <a:pt x="7151955" y="1119193"/>
                  <a:pt x="7102994" y="1119193"/>
                </a:cubicBezTo>
                <a:lnTo>
                  <a:pt x="88651" y="1119193"/>
                </a:lnTo>
                <a:cubicBezTo>
                  <a:pt x="39691" y="1119193"/>
                  <a:pt x="0" y="1079502"/>
                  <a:pt x="0" y="1030542"/>
                </a:cubicBezTo>
                <a:lnTo>
                  <a:pt x="0" y="88651"/>
                </a:lnTo>
                <a:cubicBezTo>
                  <a:pt x="0" y="39691"/>
                  <a:pt x="39691" y="0"/>
                  <a:pt x="88651" y="0"/>
                </a:cubicBezTo>
                <a:close/>
              </a:path>
            </a:pathLst>
          </a:custGeom>
          <a:solidFill>
            <a:srgbClr val="1A1D21">
              <a:alpha val="50196"/>
            </a:srgbClr>
          </a:solidFill>
          <a:ln/>
        </p:spPr>
        <p:txBody>
          <a:bodyPr/>
          <a:lstStyle/>
          <a:p>
            <a:endParaRPr lang="zh-CN" altLang="en-US"/>
          </a:p>
        </p:txBody>
      </p:sp>
      <p:sp>
        <p:nvSpPr>
          <p:cNvPr id="37" name="Text 35"/>
          <p:cNvSpPr/>
          <p:nvPr/>
        </p:nvSpPr>
        <p:spPr>
          <a:xfrm>
            <a:off x="8558259" y="2271629"/>
            <a:ext cx="7003267" cy="254866"/>
          </a:xfrm>
          <a:prstGeom prst="rect">
            <a:avLst/>
          </a:prstGeom>
          <a:noFill/>
          <a:ln/>
        </p:spPr>
        <p:txBody>
          <a:bodyPr wrap="square" lIns="0" tIns="0" rIns="0" bIns="0" rtlCol="0" anchor="ctr"/>
          <a:lstStyle/>
          <a:p>
            <a:pPr>
              <a:lnSpc>
                <a:spcPct val="140000"/>
              </a:lnSpc>
            </a:pPr>
            <a:r>
              <a:rPr lang="en-US" sz="1222" b="1" dirty="0">
                <a:solidFill>
                  <a:srgbClr val="3C8082"/>
                </a:solidFill>
                <a:latin typeface="MiSans" pitchFamily="34" charset="0"/>
                <a:ea typeface="MiSans" pitchFamily="34" charset="-122"/>
                <a:cs typeface="MiSans" pitchFamily="34" charset="-120"/>
              </a:rPr>
              <a:t>设计特点:</a:t>
            </a:r>
            <a:r>
              <a:rPr lang="en-US" sz="1222" dirty="0">
                <a:solidFill>
                  <a:srgbClr val="E0E2E4">
                    <a:alpha val="80000"/>
                  </a:srgbClr>
                </a:solidFill>
                <a:latin typeface="MiSans" pitchFamily="34" charset="0"/>
                <a:ea typeface="MiSans" pitchFamily="34" charset="-122"/>
                <a:cs typeface="MiSans" pitchFamily="34" charset="-120"/>
              </a:rPr>
              <a:t> 单一统一层次结构,解决v1复杂性问题</a:t>
            </a:r>
            <a:endParaRPr lang="en-US" sz="1600" dirty="0"/>
          </a:p>
        </p:txBody>
      </p:sp>
      <p:sp>
        <p:nvSpPr>
          <p:cNvPr id="38" name="Text 36"/>
          <p:cNvSpPr/>
          <p:nvPr/>
        </p:nvSpPr>
        <p:spPr>
          <a:xfrm>
            <a:off x="8558259" y="2568049"/>
            <a:ext cx="7003267" cy="254866"/>
          </a:xfrm>
          <a:prstGeom prst="rect">
            <a:avLst/>
          </a:prstGeom>
          <a:noFill/>
          <a:ln/>
        </p:spPr>
        <p:txBody>
          <a:bodyPr wrap="square" lIns="0" tIns="0" rIns="0" bIns="0" rtlCol="0" anchor="ctr"/>
          <a:lstStyle/>
          <a:p>
            <a:pPr>
              <a:lnSpc>
                <a:spcPct val="140000"/>
              </a:lnSpc>
            </a:pPr>
            <a:r>
              <a:rPr lang="en-US" sz="1222" b="1" dirty="0">
                <a:solidFill>
                  <a:srgbClr val="3C8082"/>
                </a:solidFill>
                <a:latin typeface="MiSans" pitchFamily="34" charset="0"/>
                <a:ea typeface="MiSans" pitchFamily="34" charset="-122"/>
                <a:cs typeface="MiSans" pitchFamily="34" charset="-120"/>
              </a:rPr>
              <a:t>挂载点:</a:t>
            </a:r>
            <a:r>
              <a:rPr lang="en-US" sz="1222" dirty="0">
                <a:solidFill>
                  <a:srgbClr val="B38B59"/>
                </a:solidFill>
                <a:highlight>
                  <a:srgbClr val="1A1D21">
                    <a:alpha val="100000"/>
                  </a:srgbClr>
                </a:highlight>
                <a:latin typeface="MiSans" pitchFamily="34" charset="0"/>
                <a:ea typeface="MiSans" pitchFamily="34" charset="-122"/>
                <a:cs typeface="MiSans" pitchFamily="34" charset="-120"/>
              </a:rPr>
              <a:t> /sys/fs/cgroup/ </a:t>
            </a:r>
            <a:r>
              <a:rPr lang="en-US" sz="1222" dirty="0">
                <a:solidFill>
                  <a:srgbClr val="E0E2E4">
                    <a:alpha val="80000"/>
                  </a:srgbClr>
                </a:solidFill>
                <a:latin typeface="MiSans" pitchFamily="34" charset="0"/>
                <a:ea typeface="MiSans" pitchFamily="34" charset="-122"/>
                <a:cs typeface="MiSans" pitchFamily="34" charset="-120"/>
              </a:rPr>
              <a:t>统一目录树</a:t>
            </a:r>
            <a:endParaRPr lang="en-US" sz="1600" dirty="0"/>
          </a:p>
        </p:txBody>
      </p:sp>
      <p:sp>
        <p:nvSpPr>
          <p:cNvPr id="39" name="Text 37"/>
          <p:cNvSpPr/>
          <p:nvPr/>
        </p:nvSpPr>
        <p:spPr>
          <a:xfrm>
            <a:off x="8558259" y="2870010"/>
            <a:ext cx="7003267" cy="254866"/>
          </a:xfrm>
          <a:prstGeom prst="rect">
            <a:avLst/>
          </a:prstGeom>
          <a:noFill/>
          <a:ln/>
        </p:spPr>
        <p:txBody>
          <a:bodyPr wrap="square" lIns="0" tIns="0" rIns="0" bIns="0" rtlCol="0" anchor="ctr"/>
          <a:lstStyle/>
          <a:p>
            <a:pPr>
              <a:lnSpc>
                <a:spcPct val="140000"/>
              </a:lnSpc>
            </a:pPr>
            <a:r>
              <a:rPr lang="en-US" sz="1222" b="1" dirty="0">
                <a:solidFill>
                  <a:srgbClr val="3C8082"/>
                </a:solidFill>
                <a:latin typeface="MiSans" pitchFamily="34" charset="0"/>
                <a:ea typeface="MiSans" pitchFamily="34" charset="-122"/>
                <a:cs typeface="MiSans" pitchFamily="34" charset="-120"/>
              </a:rPr>
              <a:t>配置方式:</a:t>
            </a:r>
            <a:r>
              <a:rPr lang="en-US" sz="1222" dirty="0">
                <a:solidFill>
                  <a:srgbClr val="E0E2E4">
                    <a:alpha val="80000"/>
                  </a:srgbClr>
                </a:solidFill>
                <a:latin typeface="MiSans" pitchFamily="34" charset="0"/>
                <a:ea typeface="MiSans" pitchFamily="34" charset="-122"/>
                <a:cs typeface="MiSans" pitchFamily="34" charset="-120"/>
              </a:rPr>
              <a:t> 集中配置,简化接口,避免分散管理</a:t>
            </a:r>
            <a:endParaRPr lang="en-US" sz="1600" dirty="0"/>
          </a:p>
        </p:txBody>
      </p:sp>
      <p:sp>
        <p:nvSpPr>
          <p:cNvPr id="40" name="Shape 38"/>
          <p:cNvSpPr/>
          <p:nvPr/>
        </p:nvSpPr>
        <p:spPr>
          <a:xfrm>
            <a:off x="8425286" y="3388052"/>
            <a:ext cx="7191646" cy="709192"/>
          </a:xfrm>
          <a:custGeom>
            <a:avLst/>
            <a:gdLst/>
            <a:ahLst/>
            <a:cxnLst/>
            <a:rect l="l" t="t" r="r" b="b"/>
            <a:pathLst>
              <a:path w="7191646" h="709192">
                <a:moveTo>
                  <a:pt x="88649" y="0"/>
                </a:moveTo>
                <a:lnTo>
                  <a:pt x="7102997" y="0"/>
                </a:lnTo>
                <a:cubicBezTo>
                  <a:pt x="7151956" y="0"/>
                  <a:pt x="7191646" y="39689"/>
                  <a:pt x="7191646" y="88649"/>
                </a:cubicBezTo>
                <a:lnTo>
                  <a:pt x="7191646" y="620543"/>
                </a:lnTo>
                <a:cubicBezTo>
                  <a:pt x="7191646" y="669502"/>
                  <a:pt x="7151956" y="709192"/>
                  <a:pt x="7102997" y="709192"/>
                </a:cubicBezTo>
                <a:lnTo>
                  <a:pt x="88649" y="709192"/>
                </a:lnTo>
                <a:cubicBezTo>
                  <a:pt x="39689" y="709192"/>
                  <a:pt x="0" y="669502"/>
                  <a:pt x="0" y="620543"/>
                </a:cubicBezTo>
                <a:lnTo>
                  <a:pt x="0" y="88649"/>
                </a:lnTo>
                <a:cubicBezTo>
                  <a:pt x="0" y="39722"/>
                  <a:pt x="39722" y="0"/>
                  <a:pt x="88649" y="0"/>
                </a:cubicBezTo>
                <a:close/>
              </a:path>
            </a:pathLst>
          </a:custGeom>
          <a:solidFill>
            <a:srgbClr val="B38B59">
              <a:alpha val="20000"/>
            </a:srgbClr>
          </a:solidFill>
          <a:ln/>
        </p:spPr>
        <p:txBody>
          <a:bodyPr/>
          <a:lstStyle/>
          <a:p>
            <a:endParaRPr lang="zh-CN" altLang="en-US"/>
          </a:p>
        </p:txBody>
      </p:sp>
      <p:sp>
        <p:nvSpPr>
          <p:cNvPr id="41" name="Text 39"/>
          <p:cNvSpPr/>
          <p:nvPr/>
        </p:nvSpPr>
        <p:spPr>
          <a:xfrm>
            <a:off x="8513935" y="3476701"/>
            <a:ext cx="7102997" cy="265947"/>
          </a:xfrm>
          <a:prstGeom prst="rect">
            <a:avLst/>
          </a:prstGeom>
          <a:noFill/>
          <a:ln/>
        </p:spPr>
        <p:txBody>
          <a:bodyPr wrap="square" lIns="0" tIns="0" rIns="0" bIns="0" rtlCol="0" anchor="ctr"/>
          <a:lstStyle/>
          <a:p>
            <a:pPr>
              <a:lnSpc>
                <a:spcPct val="130000"/>
              </a:lnSpc>
            </a:pPr>
            <a:r>
              <a:rPr lang="en-US" sz="1396" b="1" dirty="0">
                <a:solidFill>
                  <a:srgbClr val="E0E2E4"/>
                </a:solidFill>
                <a:latin typeface="MiSans" pitchFamily="34" charset="0"/>
                <a:ea typeface="MiSans" pitchFamily="34" charset="-122"/>
                <a:cs typeface="MiSans" pitchFamily="34" charset="-120"/>
              </a:rPr>
              <a:t>CPU Controller</a:t>
            </a:r>
            <a:endParaRPr lang="en-US" sz="1600" dirty="0"/>
          </a:p>
        </p:txBody>
      </p:sp>
      <p:sp>
        <p:nvSpPr>
          <p:cNvPr id="42" name="Text 40"/>
          <p:cNvSpPr/>
          <p:nvPr/>
        </p:nvSpPr>
        <p:spPr>
          <a:xfrm>
            <a:off x="8513935" y="3786972"/>
            <a:ext cx="7091915" cy="221622"/>
          </a:xfrm>
          <a:prstGeom prst="rect">
            <a:avLst/>
          </a:prstGeom>
          <a:noFill/>
          <a:ln/>
        </p:spPr>
        <p:txBody>
          <a:bodyPr wrap="square" lIns="0" tIns="0" rIns="0" bIns="0" rtlCol="0" anchor="ctr"/>
          <a:lstStyle/>
          <a:p>
            <a:pPr>
              <a:lnSpc>
                <a:spcPct val="120000"/>
              </a:lnSpc>
            </a:pPr>
            <a:r>
              <a:rPr lang="en-US" sz="1222" dirty="0">
                <a:solidFill>
                  <a:srgbClr val="E0E2E4">
                    <a:alpha val="70000"/>
                  </a:srgbClr>
                </a:solidFill>
                <a:latin typeface="MiSans" pitchFamily="34" charset="0"/>
                <a:ea typeface="MiSans" pitchFamily="34" charset="-122"/>
                <a:cs typeface="MiSans" pitchFamily="34" charset="-120"/>
              </a:rPr>
              <a:t>cpu.weight(权重分配)、cpu.max(绝对限制)、cpu.pressure(PSI监控)</a:t>
            </a:r>
            <a:endParaRPr lang="en-US" sz="1600" dirty="0"/>
          </a:p>
        </p:txBody>
      </p:sp>
      <p:sp>
        <p:nvSpPr>
          <p:cNvPr id="43" name="Shape 41"/>
          <p:cNvSpPr/>
          <p:nvPr/>
        </p:nvSpPr>
        <p:spPr>
          <a:xfrm>
            <a:off x="8425286" y="4185892"/>
            <a:ext cx="7191646" cy="709192"/>
          </a:xfrm>
          <a:custGeom>
            <a:avLst/>
            <a:gdLst/>
            <a:ahLst/>
            <a:cxnLst/>
            <a:rect l="l" t="t" r="r" b="b"/>
            <a:pathLst>
              <a:path w="7191646" h="709192">
                <a:moveTo>
                  <a:pt x="88649" y="0"/>
                </a:moveTo>
                <a:lnTo>
                  <a:pt x="7102997" y="0"/>
                </a:lnTo>
                <a:cubicBezTo>
                  <a:pt x="7151956" y="0"/>
                  <a:pt x="7191646" y="39689"/>
                  <a:pt x="7191646" y="88649"/>
                </a:cubicBezTo>
                <a:lnTo>
                  <a:pt x="7191646" y="620543"/>
                </a:lnTo>
                <a:cubicBezTo>
                  <a:pt x="7191646" y="669502"/>
                  <a:pt x="7151956" y="709192"/>
                  <a:pt x="7102997" y="709192"/>
                </a:cubicBezTo>
                <a:lnTo>
                  <a:pt x="88649" y="709192"/>
                </a:lnTo>
                <a:cubicBezTo>
                  <a:pt x="39689" y="709192"/>
                  <a:pt x="0" y="669502"/>
                  <a:pt x="0" y="620543"/>
                </a:cubicBezTo>
                <a:lnTo>
                  <a:pt x="0" y="88649"/>
                </a:lnTo>
                <a:cubicBezTo>
                  <a:pt x="0" y="39722"/>
                  <a:pt x="39722" y="0"/>
                  <a:pt x="88649" y="0"/>
                </a:cubicBezTo>
                <a:close/>
              </a:path>
            </a:pathLst>
          </a:custGeom>
          <a:solidFill>
            <a:srgbClr val="B38B59">
              <a:alpha val="20000"/>
            </a:srgbClr>
          </a:solidFill>
          <a:ln/>
        </p:spPr>
        <p:txBody>
          <a:bodyPr/>
          <a:lstStyle/>
          <a:p>
            <a:endParaRPr lang="zh-CN" altLang="en-US"/>
          </a:p>
        </p:txBody>
      </p:sp>
      <p:sp>
        <p:nvSpPr>
          <p:cNvPr id="44" name="Text 42"/>
          <p:cNvSpPr/>
          <p:nvPr/>
        </p:nvSpPr>
        <p:spPr>
          <a:xfrm>
            <a:off x="8513935" y="4274541"/>
            <a:ext cx="7102997" cy="265947"/>
          </a:xfrm>
          <a:prstGeom prst="rect">
            <a:avLst/>
          </a:prstGeom>
          <a:noFill/>
          <a:ln/>
        </p:spPr>
        <p:txBody>
          <a:bodyPr wrap="square" lIns="0" tIns="0" rIns="0" bIns="0" rtlCol="0" anchor="ctr"/>
          <a:lstStyle/>
          <a:p>
            <a:pPr>
              <a:lnSpc>
                <a:spcPct val="130000"/>
              </a:lnSpc>
            </a:pPr>
            <a:r>
              <a:rPr lang="en-US" sz="1396" b="1" dirty="0">
                <a:solidFill>
                  <a:srgbClr val="E0E2E4"/>
                </a:solidFill>
                <a:latin typeface="MiSans" pitchFamily="34" charset="0"/>
                <a:ea typeface="MiSans" pitchFamily="34" charset="-122"/>
                <a:cs typeface="MiSans" pitchFamily="34" charset="-120"/>
              </a:rPr>
              <a:t>Memory Controller</a:t>
            </a:r>
            <a:endParaRPr lang="en-US" sz="1600" dirty="0"/>
          </a:p>
        </p:txBody>
      </p:sp>
      <p:sp>
        <p:nvSpPr>
          <p:cNvPr id="45" name="Text 43"/>
          <p:cNvSpPr/>
          <p:nvPr/>
        </p:nvSpPr>
        <p:spPr>
          <a:xfrm>
            <a:off x="8513935" y="4584813"/>
            <a:ext cx="7091915" cy="221622"/>
          </a:xfrm>
          <a:prstGeom prst="rect">
            <a:avLst/>
          </a:prstGeom>
          <a:noFill/>
          <a:ln/>
        </p:spPr>
        <p:txBody>
          <a:bodyPr wrap="square" lIns="0" tIns="0" rIns="0" bIns="0" rtlCol="0" anchor="ctr"/>
          <a:lstStyle/>
          <a:p>
            <a:pPr>
              <a:lnSpc>
                <a:spcPct val="120000"/>
              </a:lnSpc>
            </a:pPr>
            <a:r>
              <a:rPr lang="en-US" sz="1222" dirty="0">
                <a:solidFill>
                  <a:srgbClr val="E0E2E4">
                    <a:alpha val="70000"/>
                  </a:srgbClr>
                </a:solidFill>
                <a:latin typeface="MiSans" pitchFamily="34" charset="0"/>
                <a:ea typeface="MiSans" pitchFamily="34" charset="-122"/>
                <a:cs typeface="MiSans" pitchFamily="34" charset="-120"/>
              </a:rPr>
              <a:t>memory.max(硬限制)、memory.high(软限制)、memory.current(当前使用)</a:t>
            </a:r>
            <a:endParaRPr lang="en-US" sz="1600" dirty="0"/>
          </a:p>
        </p:txBody>
      </p:sp>
      <p:sp>
        <p:nvSpPr>
          <p:cNvPr id="46" name="Shape 44"/>
          <p:cNvSpPr/>
          <p:nvPr/>
        </p:nvSpPr>
        <p:spPr>
          <a:xfrm>
            <a:off x="8425286" y="4983733"/>
            <a:ext cx="7191646" cy="709192"/>
          </a:xfrm>
          <a:custGeom>
            <a:avLst/>
            <a:gdLst/>
            <a:ahLst/>
            <a:cxnLst/>
            <a:rect l="l" t="t" r="r" b="b"/>
            <a:pathLst>
              <a:path w="7191646" h="709192">
                <a:moveTo>
                  <a:pt x="88649" y="0"/>
                </a:moveTo>
                <a:lnTo>
                  <a:pt x="7102997" y="0"/>
                </a:lnTo>
                <a:cubicBezTo>
                  <a:pt x="7151956" y="0"/>
                  <a:pt x="7191646" y="39689"/>
                  <a:pt x="7191646" y="88649"/>
                </a:cubicBezTo>
                <a:lnTo>
                  <a:pt x="7191646" y="620543"/>
                </a:lnTo>
                <a:cubicBezTo>
                  <a:pt x="7191646" y="669502"/>
                  <a:pt x="7151956" y="709192"/>
                  <a:pt x="7102997" y="709192"/>
                </a:cubicBezTo>
                <a:lnTo>
                  <a:pt x="88649" y="709192"/>
                </a:lnTo>
                <a:cubicBezTo>
                  <a:pt x="39689" y="709192"/>
                  <a:pt x="0" y="669502"/>
                  <a:pt x="0" y="620543"/>
                </a:cubicBezTo>
                <a:lnTo>
                  <a:pt x="0" y="88649"/>
                </a:lnTo>
                <a:cubicBezTo>
                  <a:pt x="0" y="39722"/>
                  <a:pt x="39722" y="0"/>
                  <a:pt x="88649" y="0"/>
                </a:cubicBezTo>
                <a:close/>
              </a:path>
            </a:pathLst>
          </a:custGeom>
          <a:solidFill>
            <a:srgbClr val="B38B59">
              <a:alpha val="20000"/>
            </a:srgbClr>
          </a:solidFill>
          <a:ln/>
        </p:spPr>
        <p:txBody>
          <a:bodyPr/>
          <a:lstStyle/>
          <a:p>
            <a:endParaRPr lang="zh-CN" altLang="en-US"/>
          </a:p>
        </p:txBody>
      </p:sp>
      <p:sp>
        <p:nvSpPr>
          <p:cNvPr id="47" name="Text 45"/>
          <p:cNvSpPr/>
          <p:nvPr/>
        </p:nvSpPr>
        <p:spPr>
          <a:xfrm>
            <a:off x="8513935" y="5072382"/>
            <a:ext cx="7102997" cy="265947"/>
          </a:xfrm>
          <a:prstGeom prst="rect">
            <a:avLst/>
          </a:prstGeom>
          <a:noFill/>
          <a:ln/>
        </p:spPr>
        <p:txBody>
          <a:bodyPr wrap="square" lIns="0" tIns="0" rIns="0" bIns="0" rtlCol="0" anchor="ctr"/>
          <a:lstStyle/>
          <a:p>
            <a:pPr>
              <a:lnSpc>
                <a:spcPct val="130000"/>
              </a:lnSpc>
            </a:pPr>
            <a:r>
              <a:rPr lang="en-US" sz="1396" b="1" dirty="0">
                <a:solidFill>
                  <a:srgbClr val="E0E2E4"/>
                </a:solidFill>
                <a:latin typeface="MiSans" pitchFamily="34" charset="0"/>
                <a:ea typeface="MiSans" pitchFamily="34" charset="-122"/>
                <a:cs typeface="MiSans" pitchFamily="34" charset="-120"/>
              </a:rPr>
              <a:t>I/O Controller</a:t>
            </a:r>
            <a:endParaRPr lang="en-US" sz="1600" dirty="0"/>
          </a:p>
        </p:txBody>
      </p:sp>
      <p:sp>
        <p:nvSpPr>
          <p:cNvPr id="48" name="Text 46"/>
          <p:cNvSpPr/>
          <p:nvPr/>
        </p:nvSpPr>
        <p:spPr>
          <a:xfrm>
            <a:off x="8513935" y="5382653"/>
            <a:ext cx="7091915" cy="221622"/>
          </a:xfrm>
          <a:prstGeom prst="rect">
            <a:avLst/>
          </a:prstGeom>
          <a:noFill/>
          <a:ln/>
        </p:spPr>
        <p:txBody>
          <a:bodyPr wrap="square" lIns="0" tIns="0" rIns="0" bIns="0" rtlCol="0" anchor="ctr"/>
          <a:lstStyle/>
          <a:p>
            <a:pPr>
              <a:lnSpc>
                <a:spcPct val="120000"/>
              </a:lnSpc>
            </a:pPr>
            <a:r>
              <a:rPr lang="en-US" sz="1222" dirty="0">
                <a:solidFill>
                  <a:srgbClr val="E0E2E4">
                    <a:alpha val="70000"/>
                  </a:srgbClr>
                </a:solidFill>
                <a:latin typeface="MiSans" pitchFamily="34" charset="0"/>
                <a:ea typeface="MiSans" pitchFamily="34" charset="-122"/>
                <a:cs typeface="MiSans" pitchFamily="34" charset="-120"/>
              </a:rPr>
              <a:t>io.weight(I/O权重)、io.max(带宽/IOPS限制)</a:t>
            </a:r>
            <a:endParaRPr lang="en-US" sz="1600" dirty="0"/>
          </a:p>
        </p:txBody>
      </p:sp>
      <p:sp>
        <p:nvSpPr>
          <p:cNvPr id="49" name="Shape 47"/>
          <p:cNvSpPr/>
          <p:nvPr/>
        </p:nvSpPr>
        <p:spPr>
          <a:xfrm>
            <a:off x="8425286" y="5781573"/>
            <a:ext cx="7191646" cy="709192"/>
          </a:xfrm>
          <a:custGeom>
            <a:avLst/>
            <a:gdLst/>
            <a:ahLst/>
            <a:cxnLst/>
            <a:rect l="l" t="t" r="r" b="b"/>
            <a:pathLst>
              <a:path w="7191646" h="709192">
                <a:moveTo>
                  <a:pt x="88649" y="0"/>
                </a:moveTo>
                <a:lnTo>
                  <a:pt x="7102997" y="0"/>
                </a:lnTo>
                <a:cubicBezTo>
                  <a:pt x="7151956" y="0"/>
                  <a:pt x="7191646" y="39689"/>
                  <a:pt x="7191646" y="88649"/>
                </a:cubicBezTo>
                <a:lnTo>
                  <a:pt x="7191646" y="620543"/>
                </a:lnTo>
                <a:cubicBezTo>
                  <a:pt x="7191646" y="669502"/>
                  <a:pt x="7151956" y="709192"/>
                  <a:pt x="7102997" y="709192"/>
                </a:cubicBezTo>
                <a:lnTo>
                  <a:pt x="88649" y="709192"/>
                </a:lnTo>
                <a:cubicBezTo>
                  <a:pt x="39689" y="709192"/>
                  <a:pt x="0" y="669502"/>
                  <a:pt x="0" y="620543"/>
                </a:cubicBezTo>
                <a:lnTo>
                  <a:pt x="0" y="88649"/>
                </a:lnTo>
                <a:cubicBezTo>
                  <a:pt x="0" y="39722"/>
                  <a:pt x="39722" y="0"/>
                  <a:pt x="88649" y="0"/>
                </a:cubicBezTo>
                <a:close/>
              </a:path>
            </a:pathLst>
          </a:custGeom>
          <a:solidFill>
            <a:srgbClr val="B38B59">
              <a:alpha val="20000"/>
            </a:srgbClr>
          </a:solidFill>
          <a:ln/>
        </p:spPr>
        <p:txBody>
          <a:bodyPr/>
          <a:lstStyle/>
          <a:p>
            <a:endParaRPr lang="zh-CN" altLang="en-US"/>
          </a:p>
        </p:txBody>
      </p:sp>
      <p:sp>
        <p:nvSpPr>
          <p:cNvPr id="50" name="Text 48"/>
          <p:cNvSpPr/>
          <p:nvPr/>
        </p:nvSpPr>
        <p:spPr>
          <a:xfrm>
            <a:off x="8513935" y="5870222"/>
            <a:ext cx="7102997" cy="265947"/>
          </a:xfrm>
          <a:prstGeom prst="rect">
            <a:avLst/>
          </a:prstGeom>
          <a:noFill/>
          <a:ln/>
        </p:spPr>
        <p:txBody>
          <a:bodyPr wrap="square" lIns="0" tIns="0" rIns="0" bIns="0" rtlCol="0" anchor="ctr"/>
          <a:lstStyle/>
          <a:p>
            <a:pPr>
              <a:lnSpc>
                <a:spcPct val="130000"/>
              </a:lnSpc>
            </a:pPr>
            <a:r>
              <a:rPr lang="en-US" sz="1396" b="1" dirty="0">
                <a:solidFill>
                  <a:srgbClr val="E0E2E4"/>
                </a:solidFill>
                <a:latin typeface="MiSans" pitchFamily="34" charset="0"/>
                <a:ea typeface="MiSans" pitchFamily="34" charset="-122"/>
                <a:cs typeface="MiSans" pitchFamily="34" charset="-120"/>
              </a:rPr>
              <a:t>PID Controller</a:t>
            </a:r>
            <a:endParaRPr lang="en-US" sz="1600" dirty="0"/>
          </a:p>
        </p:txBody>
      </p:sp>
      <p:sp>
        <p:nvSpPr>
          <p:cNvPr id="51" name="Text 49"/>
          <p:cNvSpPr/>
          <p:nvPr/>
        </p:nvSpPr>
        <p:spPr>
          <a:xfrm>
            <a:off x="8513935" y="6180494"/>
            <a:ext cx="7091915" cy="221622"/>
          </a:xfrm>
          <a:prstGeom prst="rect">
            <a:avLst/>
          </a:prstGeom>
          <a:noFill/>
          <a:ln/>
        </p:spPr>
        <p:txBody>
          <a:bodyPr wrap="square" lIns="0" tIns="0" rIns="0" bIns="0" rtlCol="0" anchor="ctr"/>
          <a:lstStyle/>
          <a:p>
            <a:pPr>
              <a:lnSpc>
                <a:spcPct val="120000"/>
              </a:lnSpc>
            </a:pPr>
            <a:r>
              <a:rPr lang="en-US" sz="1222" dirty="0">
                <a:solidFill>
                  <a:srgbClr val="E0E2E4">
                    <a:alpha val="70000"/>
                  </a:srgbClr>
                </a:solidFill>
                <a:latin typeface="MiSans" pitchFamily="34" charset="0"/>
                <a:ea typeface="MiSans" pitchFamily="34" charset="-122"/>
                <a:cs typeface="MiSans" pitchFamily="34" charset="-120"/>
              </a:rPr>
              <a:t>pids.max(进程数限制)、pids.current(当前进程数)</a:t>
            </a:r>
            <a:endParaRPr lang="en-US" sz="1600" dirty="0"/>
          </a:p>
        </p:txBody>
      </p:sp>
      <p:sp>
        <p:nvSpPr>
          <p:cNvPr id="52" name="Shape 50"/>
          <p:cNvSpPr/>
          <p:nvPr/>
        </p:nvSpPr>
        <p:spPr>
          <a:xfrm>
            <a:off x="448785" y="6740287"/>
            <a:ext cx="4997584" cy="2271629"/>
          </a:xfrm>
          <a:custGeom>
            <a:avLst/>
            <a:gdLst/>
            <a:ahLst/>
            <a:cxnLst/>
            <a:rect l="l" t="t" r="r" b="b"/>
            <a:pathLst>
              <a:path w="4997584" h="2271629">
                <a:moveTo>
                  <a:pt x="88639" y="0"/>
                </a:moveTo>
                <a:lnTo>
                  <a:pt x="4908945" y="0"/>
                </a:lnTo>
                <a:cubicBezTo>
                  <a:pt x="4957899" y="0"/>
                  <a:pt x="4997584" y="39685"/>
                  <a:pt x="4997584" y="88639"/>
                </a:cubicBezTo>
                <a:lnTo>
                  <a:pt x="4997584" y="2182990"/>
                </a:lnTo>
                <a:cubicBezTo>
                  <a:pt x="4997584" y="2231944"/>
                  <a:pt x="4957899" y="2271629"/>
                  <a:pt x="4908945" y="2271629"/>
                </a:cubicBezTo>
                <a:lnTo>
                  <a:pt x="88639" y="2271629"/>
                </a:lnTo>
                <a:cubicBezTo>
                  <a:pt x="39685" y="2271629"/>
                  <a:pt x="0" y="2231944"/>
                  <a:pt x="0" y="2182990"/>
                </a:cubicBezTo>
                <a:lnTo>
                  <a:pt x="0" y="88639"/>
                </a:lnTo>
                <a:cubicBezTo>
                  <a:pt x="0" y="39718"/>
                  <a:pt x="39718" y="0"/>
                  <a:pt x="8863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53" name="Text 51"/>
          <p:cNvSpPr/>
          <p:nvPr/>
        </p:nvSpPr>
        <p:spPr>
          <a:xfrm>
            <a:off x="587299" y="6878801"/>
            <a:ext cx="4820286" cy="310271"/>
          </a:xfrm>
          <a:prstGeom prst="rect">
            <a:avLst/>
          </a:prstGeom>
          <a:noFill/>
          <a:ln/>
        </p:spPr>
        <p:txBody>
          <a:bodyPr wrap="square" lIns="0" tIns="0" rIns="0" bIns="0" rtlCol="0" anchor="ctr"/>
          <a:lstStyle/>
          <a:p>
            <a:pPr>
              <a:lnSpc>
                <a:spcPct val="130000"/>
              </a:lnSpc>
            </a:pPr>
            <a:r>
              <a:rPr lang="en-US" sz="1571" b="1" dirty="0">
                <a:solidFill>
                  <a:srgbClr val="E0E2E4"/>
                </a:solidFill>
                <a:latin typeface="MiSans" pitchFamily="34" charset="0"/>
                <a:ea typeface="MiSans" pitchFamily="34" charset="-122"/>
                <a:cs typeface="MiSans" pitchFamily="34" charset="-120"/>
              </a:rPr>
              <a:t>版本演进对比</a:t>
            </a:r>
            <a:endParaRPr lang="en-US" sz="1600" dirty="0"/>
          </a:p>
        </p:txBody>
      </p:sp>
      <p:graphicFrame>
        <p:nvGraphicFramePr>
          <p:cNvPr id="54" name="Table 0"/>
          <p:cNvGraphicFramePr>
            <a:graphicFrameLocks noGrp="1"/>
          </p:cNvGraphicFramePr>
          <p:nvPr>
            <p:extLst>
              <p:ext uri="{D42A27DB-BD31-4B8C-83A1-F6EECF244321}">
                <p14:modId xmlns:p14="http://schemas.microsoft.com/office/powerpoint/2010/main" val="2037533848"/>
              </p:ext>
            </p:extLst>
          </p:nvPr>
        </p:nvGraphicFramePr>
        <p:xfrm>
          <a:off x="587299" y="7277721"/>
          <a:ext cx="4720557" cy="1595680"/>
        </p:xfrm>
        <a:graphic>
          <a:graphicData uri="http://schemas.openxmlformats.org/drawingml/2006/table">
            <a:tbl>
              <a:tblPr/>
              <a:tblGrid>
                <a:gridCol w="1677186">
                  <a:extLst>
                    <a:ext uri="{9D8B030D-6E8A-4147-A177-3AD203B41FA5}">
                      <a16:colId xmlns:a16="http://schemas.microsoft.com/office/drawing/2014/main" val="20000"/>
                    </a:ext>
                  </a:extLst>
                </a:gridCol>
                <a:gridCol w="1677186">
                  <a:extLst>
                    <a:ext uri="{9D8B030D-6E8A-4147-A177-3AD203B41FA5}">
                      <a16:colId xmlns:a16="http://schemas.microsoft.com/office/drawing/2014/main" val="20001"/>
                    </a:ext>
                  </a:extLst>
                </a:gridCol>
                <a:gridCol w="1366185">
                  <a:extLst>
                    <a:ext uri="{9D8B030D-6E8A-4147-A177-3AD203B41FA5}">
                      <a16:colId xmlns:a16="http://schemas.microsoft.com/office/drawing/2014/main" val="20002"/>
                    </a:ext>
                  </a:extLst>
                </a:gridCol>
              </a:tblGrid>
              <a:tr h="319136">
                <a:tc>
                  <a:txBody>
                    <a:bodyPr/>
                    <a:lstStyle/>
                    <a:p>
                      <a:pPr algn="l"/>
                      <a:r>
                        <a:rPr lang="en-US" sz="1200" b="1" u="none" dirty="0">
                          <a:solidFill>
                            <a:srgbClr val="B38B59"/>
                          </a:solidFill>
                          <a:latin typeface="微软雅黑" pitchFamily="34" charset="0"/>
                          <a:ea typeface="微软雅黑" pitchFamily="34" charset="-122"/>
                          <a:cs typeface="微软雅黑" pitchFamily="34" charset="-120"/>
                        </a:rPr>
                        <a:t>维度</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l"/>
                      <a:r>
                        <a:rPr lang="en-US" sz="1200" b="1" u="none" dirty="0">
                          <a:solidFill>
                            <a:srgbClr val="E0E2E4"/>
                          </a:solidFill>
                          <a:latin typeface="微软雅黑" pitchFamily="34" charset="0"/>
                          <a:ea typeface="微软雅黑" pitchFamily="34" charset="-122"/>
                          <a:cs typeface="微软雅黑" pitchFamily="34" charset="-120"/>
                        </a:rPr>
                        <a:t>v1</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l"/>
                      <a:r>
                        <a:rPr lang="en-US" sz="1200" b="1" u="none" dirty="0">
                          <a:solidFill>
                            <a:srgbClr val="E0E2E4"/>
                          </a:solidFill>
                          <a:latin typeface="微软雅黑" pitchFamily="34" charset="0"/>
                          <a:ea typeface="微软雅黑" pitchFamily="34" charset="-122"/>
                          <a:cs typeface="微软雅黑" pitchFamily="34" charset="-120"/>
                        </a:rPr>
                        <a:t>v2</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319136">
                <a:tc>
                  <a:txBody>
                    <a:bodyPr/>
                    <a:lstStyle/>
                    <a:p>
                      <a:r>
                        <a:rPr lang="en-US" sz="1200" u="none" dirty="0">
                          <a:solidFill>
                            <a:srgbClr val="E0E2E4"/>
                          </a:solidFill>
                          <a:latin typeface="微软雅黑" pitchFamily="34" charset="0"/>
                          <a:ea typeface="微软雅黑" pitchFamily="34" charset="-122"/>
                          <a:cs typeface="微软雅黑" pitchFamily="34" charset="-120"/>
                        </a:rPr>
                        <a:t>架构设计</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多独立层次</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统一层次</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319136">
                <a:tc>
                  <a:txBody>
                    <a:bodyPr/>
                    <a:lstStyle/>
                    <a:p>
                      <a:r>
                        <a:rPr lang="en-US" sz="1200" u="none" dirty="0">
                          <a:solidFill>
                            <a:srgbClr val="E0E2E4"/>
                          </a:solidFill>
                          <a:latin typeface="微软雅黑" pitchFamily="34" charset="0"/>
                          <a:ea typeface="微软雅黑" pitchFamily="34" charset="-122"/>
                          <a:cs typeface="微软雅黑" pitchFamily="34" charset="-120"/>
                        </a:rPr>
                        <a:t>控制器管理</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独立挂载</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统一管理</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319136">
                <a:tc>
                  <a:txBody>
                    <a:bodyPr/>
                    <a:lstStyle/>
                    <a:p>
                      <a:r>
                        <a:rPr lang="en-US" sz="1200" u="none" dirty="0">
                          <a:solidFill>
                            <a:srgbClr val="E0E2E4"/>
                          </a:solidFill>
                          <a:latin typeface="微软雅黑" pitchFamily="34" charset="0"/>
                          <a:ea typeface="微软雅黑" pitchFamily="34" charset="-122"/>
                          <a:cs typeface="微软雅黑" pitchFamily="34" charset="-120"/>
                        </a:rPr>
                        <a:t>配置方式</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分散配置</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集中配置</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319136">
                <a:tc>
                  <a:txBody>
                    <a:bodyPr/>
                    <a:lstStyle/>
                    <a:p>
                      <a:r>
                        <a:rPr lang="en-US" sz="1200" u="none" dirty="0">
                          <a:solidFill>
                            <a:srgbClr val="E0E2E4"/>
                          </a:solidFill>
                          <a:latin typeface="微软雅黑" pitchFamily="34" charset="0"/>
                          <a:ea typeface="微软雅黑" pitchFamily="34" charset="-122"/>
                          <a:cs typeface="微软雅黑" pitchFamily="34" charset="-120"/>
                        </a:rPr>
                        <a:t>内存控制</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基础功能</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改进+PSI</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4"/>
                  </a:ext>
                </a:extLst>
              </a:tr>
            </a:tbl>
          </a:graphicData>
        </a:graphic>
      </p:graphicFrame>
      <p:sp>
        <p:nvSpPr>
          <p:cNvPr id="55" name="Shape 52"/>
          <p:cNvSpPr/>
          <p:nvPr/>
        </p:nvSpPr>
        <p:spPr>
          <a:xfrm>
            <a:off x="5546099" y="6740287"/>
            <a:ext cx="5081299" cy="2271629"/>
          </a:xfrm>
          <a:custGeom>
            <a:avLst/>
            <a:gdLst/>
            <a:ahLst/>
            <a:cxnLst/>
            <a:rect l="l" t="t" r="r" b="b"/>
            <a:pathLst>
              <a:path w="4997584" h="2271629">
                <a:moveTo>
                  <a:pt x="88639" y="0"/>
                </a:moveTo>
                <a:lnTo>
                  <a:pt x="4908945" y="0"/>
                </a:lnTo>
                <a:cubicBezTo>
                  <a:pt x="4957899" y="0"/>
                  <a:pt x="4997584" y="39685"/>
                  <a:pt x="4997584" y="88639"/>
                </a:cubicBezTo>
                <a:lnTo>
                  <a:pt x="4997584" y="2182990"/>
                </a:lnTo>
                <a:cubicBezTo>
                  <a:pt x="4997584" y="2231944"/>
                  <a:pt x="4957899" y="2271629"/>
                  <a:pt x="4908945" y="2271629"/>
                </a:cubicBezTo>
                <a:lnTo>
                  <a:pt x="88639" y="2271629"/>
                </a:lnTo>
                <a:cubicBezTo>
                  <a:pt x="39685" y="2271629"/>
                  <a:pt x="0" y="2231944"/>
                  <a:pt x="0" y="2182990"/>
                </a:cubicBezTo>
                <a:lnTo>
                  <a:pt x="0" y="88639"/>
                </a:lnTo>
                <a:cubicBezTo>
                  <a:pt x="0" y="39718"/>
                  <a:pt x="39718" y="0"/>
                  <a:pt x="88639"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56" name="Text 53"/>
          <p:cNvSpPr/>
          <p:nvPr/>
        </p:nvSpPr>
        <p:spPr>
          <a:xfrm>
            <a:off x="5768328" y="6878801"/>
            <a:ext cx="4820286" cy="310271"/>
          </a:xfrm>
          <a:prstGeom prst="rect">
            <a:avLst/>
          </a:prstGeom>
          <a:noFill/>
          <a:ln/>
        </p:spPr>
        <p:txBody>
          <a:bodyPr wrap="square" lIns="0" tIns="0" rIns="0" bIns="0" rtlCol="0" anchor="ctr"/>
          <a:lstStyle/>
          <a:p>
            <a:pPr>
              <a:lnSpc>
                <a:spcPct val="130000"/>
              </a:lnSpc>
            </a:pPr>
            <a:r>
              <a:rPr lang="en-US" sz="1571" b="1" dirty="0">
                <a:solidFill>
                  <a:srgbClr val="E0E2E4"/>
                </a:solidFill>
                <a:latin typeface="MiSans" pitchFamily="34" charset="0"/>
                <a:ea typeface="MiSans" pitchFamily="34" charset="-122"/>
                <a:cs typeface="MiSans" pitchFamily="34" charset="-120"/>
              </a:rPr>
              <a:t>在容器编排中的应用</a:t>
            </a:r>
            <a:endParaRPr lang="en-US" sz="1600" dirty="0"/>
          </a:p>
        </p:txBody>
      </p:sp>
      <p:sp>
        <p:nvSpPr>
          <p:cNvPr id="57" name="Text 54"/>
          <p:cNvSpPr/>
          <p:nvPr/>
        </p:nvSpPr>
        <p:spPr>
          <a:xfrm>
            <a:off x="5584883" y="7394186"/>
            <a:ext cx="4981569" cy="210314"/>
          </a:xfrm>
          <a:prstGeom prst="rect">
            <a:avLst/>
          </a:prstGeom>
          <a:noFill/>
          <a:ln/>
        </p:spPr>
        <p:txBody>
          <a:bodyPr wrap="square" lIns="0" tIns="0" rIns="0" bIns="0" rtlCol="0" anchor="ctr">
            <a:spAutoFit/>
          </a:bodyPr>
          <a:lstStyle/>
          <a:p>
            <a:pPr>
              <a:lnSpc>
                <a:spcPct val="120000"/>
              </a:lnSpc>
            </a:pPr>
            <a:r>
              <a:rPr lang="en-US" sz="1222" b="1" dirty="0">
                <a:solidFill>
                  <a:srgbClr val="3C8082"/>
                </a:solidFill>
                <a:latin typeface="MiSans" pitchFamily="34" charset="0"/>
                <a:ea typeface="MiSans" pitchFamily="34" charset="-122"/>
                <a:cs typeface="MiSans" pitchFamily="34" charset="-120"/>
              </a:rPr>
              <a:t>YARN:</a:t>
            </a:r>
            <a:r>
              <a:rPr lang="en-US" sz="1222" dirty="0">
                <a:solidFill>
                  <a:srgbClr val="E0E2E4">
                    <a:alpha val="80000"/>
                  </a:srgbClr>
                </a:solidFill>
                <a:latin typeface="MiSans" pitchFamily="34" charset="0"/>
                <a:ea typeface="MiSans" pitchFamily="34" charset="-122"/>
                <a:cs typeface="MiSans" pitchFamily="34" charset="-120"/>
              </a:rPr>
              <a:t> 主要使用CGroups v1,通过LinuxContainerExecutor实现资源隔离</a:t>
            </a:r>
            <a:endParaRPr lang="en-US" sz="1600" dirty="0"/>
          </a:p>
        </p:txBody>
      </p:sp>
      <p:sp>
        <p:nvSpPr>
          <p:cNvPr id="58" name="Text 55"/>
          <p:cNvSpPr/>
          <p:nvPr/>
        </p:nvSpPr>
        <p:spPr>
          <a:xfrm>
            <a:off x="5584883" y="7751382"/>
            <a:ext cx="4798124" cy="221622"/>
          </a:xfrm>
          <a:prstGeom prst="rect">
            <a:avLst/>
          </a:prstGeom>
          <a:noFill/>
          <a:ln/>
        </p:spPr>
        <p:txBody>
          <a:bodyPr wrap="square" lIns="0" tIns="0" rIns="0" bIns="0" rtlCol="0" anchor="ctr"/>
          <a:lstStyle/>
          <a:p>
            <a:pPr>
              <a:lnSpc>
                <a:spcPct val="120000"/>
              </a:lnSpc>
            </a:pPr>
            <a:r>
              <a:rPr lang="en-US" sz="1222" b="1" dirty="0">
                <a:solidFill>
                  <a:srgbClr val="3C8082"/>
                </a:solidFill>
                <a:latin typeface="MiSans" pitchFamily="34" charset="0"/>
                <a:ea typeface="MiSans" pitchFamily="34" charset="-122"/>
                <a:cs typeface="MiSans" pitchFamily="34" charset="-120"/>
              </a:rPr>
              <a:t>Kubernetes:</a:t>
            </a:r>
            <a:r>
              <a:rPr lang="en-US" sz="1222" dirty="0">
                <a:solidFill>
                  <a:srgbClr val="E0E2E4">
                    <a:alpha val="80000"/>
                  </a:srgbClr>
                </a:solidFill>
                <a:latin typeface="MiSans" pitchFamily="34" charset="0"/>
                <a:ea typeface="MiSans" pitchFamily="34" charset="-122"/>
                <a:cs typeface="MiSans" pitchFamily="34" charset="-120"/>
              </a:rPr>
              <a:t> 支持CGroups v1/v2,通过kubelet和容器运行时协同管理</a:t>
            </a:r>
            <a:endParaRPr lang="en-US" sz="1600" dirty="0"/>
          </a:p>
        </p:txBody>
      </p:sp>
      <p:sp>
        <p:nvSpPr>
          <p:cNvPr id="59" name="Text 56"/>
          <p:cNvSpPr/>
          <p:nvPr/>
        </p:nvSpPr>
        <p:spPr>
          <a:xfrm>
            <a:off x="5584883" y="8119886"/>
            <a:ext cx="4798124" cy="221622"/>
          </a:xfrm>
          <a:prstGeom prst="rect">
            <a:avLst/>
          </a:prstGeom>
          <a:noFill/>
          <a:ln/>
        </p:spPr>
        <p:txBody>
          <a:bodyPr wrap="square" lIns="0" tIns="0" rIns="0" bIns="0" rtlCol="0" anchor="ctr"/>
          <a:lstStyle/>
          <a:p>
            <a:pPr>
              <a:lnSpc>
                <a:spcPct val="120000"/>
              </a:lnSpc>
            </a:pPr>
            <a:r>
              <a:rPr lang="en-US" sz="1222" b="1" dirty="0">
                <a:solidFill>
                  <a:srgbClr val="3C8082"/>
                </a:solidFill>
                <a:latin typeface="MiSans" pitchFamily="34" charset="0"/>
                <a:ea typeface="MiSans" pitchFamily="34" charset="-122"/>
                <a:cs typeface="MiSans" pitchFamily="34" charset="-120"/>
              </a:rPr>
              <a:t>Docker:</a:t>
            </a:r>
            <a:r>
              <a:rPr lang="en-US" sz="1222" dirty="0">
                <a:solidFill>
                  <a:srgbClr val="E0E2E4">
                    <a:alpha val="80000"/>
                  </a:srgbClr>
                </a:solidFill>
                <a:latin typeface="MiSans" pitchFamily="34" charset="0"/>
                <a:ea typeface="MiSans" pitchFamily="34" charset="-122"/>
                <a:cs typeface="MiSans" pitchFamily="34" charset="-120"/>
              </a:rPr>
              <a:t> 默认使用CGroups v1,逐步迁移到v2支持</a:t>
            </a:r>
            <a:endParaRPr lang="en-US" sz="1600" dirty="0"/>
          </a:p>
        </p:txBody>
      </p:sp>
      <p:sp>
        <p:nvSpPr>
          <p:cNvPr id="60" name="Shape 57"/>
          <p:cNvSpPr/>
          <p:nvPr/>
        </p:nvSpPr>
        <p:spPr>
          <a:xfrm>
            <a:off x="10810843" y="6740287"/>
            <a:ext cx="4997584" cy="2271629"/>
          </a:xfrm>
          <a:custGeom>
            <a:avLst/>
            <a:gdLst/>
            <a:ahLst/>
            <a:cxnLst/>
            <a:rect l="l" t="t" r="r" b="b"/>
            <a:pathLst>
              <a:path w="4997584" h="2271629">
                <a:moveTo>
                  <a:pt x="88639" y="0"/>
                </a:moveTo>
                <a:lnTo>
                  <a:pt x="4908945" y="0"/>
                </a:lnTo>
                <a:cubicBezTo>
                  <a:pt x="4957899" y="0"/>
                  <a:pt x="4997584" y="39685"/>
                  <a:pt x="4997584" y="88639"/>
                </a:cubicBezTo>
                <a:lnTo>
                  <a:pt x="4997584" y="2182990"/>
                </a:lnTo>
                <a:cubicBezTo>
                  <a:pt x="4997584" y="2231944"/>
                  <a:pt x="4957899" y="2271629"/>
                  <a:pt x="4908945" y="2271629"/>
                </a:cubicBezTo>
                <a:lnTo>
                  <a:pt x="88639" y="2271629"/>
                </a:lnTo>
                <a:cubicBezTo>
                  <a:pt x="39685" y="2271629"/>
                  <a:pt x="0" y="2231944"/>
                  <a:pt x="0" y="2182990"/>
                </a:cubicBezTo>
                <a:lnTo>
                  <a:pt x="0" y="88639"/>
                </a:lnTo>
                <a:cubicBezTo>
                  <a:pt x="0" y="39718"/>
                  <a:pt x="39718" y="0"/>
                  <a:pt x="8863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1" name="Text 58"/>
          <p:cNvSpPr/>
          <p:nvPr/>
        </p:nvSpPr>
        <p:spPr>
          <a:xfrm>
            <a:off x="10949357" y="6878801"/>
            <a:ext cx="4820286" cy="310271"/>
          </a:xfrm>
          <a:prstGeom prst="rect">
            <a:avLst/>
          </a:prstGeom>
          <a:noFill/>
          <a:ln/>
        </p:spPr>
        <p:txBody>
          <a:bodyPr wrap="square" lIns="0" tIns="0" rIns="0" bIns="0" rtlCol="0" anchor="ctr"/>
          <a:lstStyle/>
          <a:p>
            <a:pPr>
              <a:lnSpc>
                <a:spcPct val="130000"/>
              </a:lnSpc>
            </a:pPr>
            <a:r>
              <a:rPr lang="en-US" sz="1571" b="1" dirty="0">
                <a:solidFill>
                  <a:srgbClr val="E0E2E4"/>
                </a:solidFill>
                <a:latin typeface="MiSans" pitchFamily="34" charset="0"/>
                <a:ea typeface="MiSans" pitchFamily="34" charset="-122"/>
                <a:cs typeface="MiSans" pitchFamily="34" charset="-120"/>
              </a:rPr>
              <a:t>PSI(Pressure Stall Information)</a:t>
            </a:r>
            <a:endParaRPr lang="en-US" sz="1600" dirty="0"/>
          </a:p>
        </p:txBody>
      </p:sp>
      <p:sp>
        <p:nvSpPr>
          <p:cNvPr id="62" name="Text 59"/>
          <p:cNvSpPr/>
          <p:nvPr/>
        </p:nvSpPr>
        <p:spPr>
          <a:xfrm>
            <a:off x="10949357" y="7277721"/>
            <a:ext cx="4798124" cy="221622"/>
          </a:xfrm>
          <a:prstGeom prst="rect">
            <a:avLst/>
          </a:prstGeom>
          <a:noFill/>
          <a:ln/>
        </p:spPr>
        <p:txBody>
          <a:bodyPr wrap="square" lIns="0" tIns="0" rIns="0" bIns="0" rtlCol="0" anchor="ctr"/>
          <a:lstStyle/>
          <a:p>
            <a:pPr>
              <a:lnSpc>
                <a:spcPct val="120000"/>
              </a:lnSpc>
            </a:pPr>
            <a:r>
              <a:rPr lang="en-US" sz="1222" dirty="0">
                <a:solidFill>
                  <a:srgbClr val="E0E2E4">
                    <a:alpha val="80000"/>
                  </a:srgbClr>
                </a:solidFill>
                <a:latin typeface="MiSans" pitchFamily="34" charset="0"/>
                <a:ea typeface="MiSans" pitchFamily="34" charset="-122"/>
                <a:cs typeface="MiSans" pitchFamily="34" charset="-120"/>
              </a:rPr>
              <a:t>CGroups v2的重要特性,提供资源压力实时监控</a:t>
            </a:r>
            <a:endParaRPr lang="en-US" sz="1600" dirty="0"/>
          </a:p>
        </p:txBody>
      </p:sp>
      <p:sp>
        <p:nvSpPr>
          <p:cNvPr id="63" name="Shape 60"/>
          <p:cNvSpPr/>
          <p:nvPr/>
        </p:nvSpPr>
        <p:spPr>
          <a:xfrm>
            <a:off x="10949357" y="7587992"/>
            <a:ext cx="1518113" cy="443245"/>
          </a:xfrm>
          <a:custGeom>
            <a:avLst/>
            <a:gdLst/>
            <a:ahLst/>
            <a:cxnLst/>
            <a:rect l="l" t="t" r="r" b="b"/>
            <a:pathLst>
              <a:path w="1518113" h="443245">
                <a:moveTo>
                  <a:pt x="44324" y="0"/>
                </a:moveTo>
                <a:lnTo>
                  <a:pt x="1473789" y="0"/>
                </a:lnTo>
                <a:cubicBezTo>
                  <a:pt x="1498268" y="0"/>
                  <a:pt x="1518113" y="19845"/>
                  <a:pt x="1518113" y="44324"/>
                </a:cubicBezTo>
                <a:lnTo>
                  <a:pt x="1518113" y="398920"/>
                </a:lnTo>
                <a:cubicBezTo>
                  <a:pt x="1518113" y="423400"/>
                  <a:pt x="1498268" y="443245"/>
                  <a:pt x="1473789" y="443245"/>
                </a:cubicBezTo>
                <a:lnTo>
                  <a:pt x="44324" y="443245"/>
                </a:lnTo>
                <a:cubicBezTo>
                  <a:pt x="19845" y="443245"/>
                  <a:pt x="0" y="423400"/>
                  <a:pt x="0" y="398920"/>
                </a:cubicBezTo>
                <a:lnTo>
                  <a:pt x="0" y="44324"/>
                </a:lnTo>
                <a:cubicBezTo>
                  <a:pt x="0" y="19861"/>
                  <a:pt x="19861" y="0"/>
                  <a:pt x="44324" y="0"/>
                </a:cubicBezTo>
                <a:close/>
              </a:path>
            </a:pathLst>
          </a:custGeom>
          <a:solidFill>
            <a:srgbClr val="1A1D21">
              <a:alpha val="50196"/>
            </a:srgbClr>
          </a:solidFill>
          <a:ln/>
        </p:spPr>
        <p:txBody>
          <a:bodyPr/>
          <a:lstStyle/>
          <a:p>
            <a:endParaRPr lang="zh-CN" altLang="en-US"/>
          </a:p>
        </p:txBody>
      </p:sp>
      <p:sp>
        <p:nvSpPr>
          <p:cNvPr id="64" name="Text 61"/>
          <p:cNvSpPr/>
          <p:nvPr/>
        </p:nvSpPr>
        <p:spPr>
          <a:xfrm>
            <a:off x="10916113" y="7587992"/>
            <a:ext cx="1584600" cy="443245"/>
          </a:xfrm>
          <a:prstGeom prst="rect">
            <a:avLst/>
          </a:prstGeom>
          <a:noFill/>
          <a:ln/>
        </p:spPr>
        <p:txBody>
          <a:bodyPr wrap="square" lIns="44324" tIns="44324" rIns="44324" bIns="44324" rtlCol="0" anchor="ctr"/>
          <a:lstStyle/>
          <a:p>
            <a:pPr algn="ctr">
              <a:lnSpc>
                <a:spcPct val="110000"/>
              </a:lnSpc>
            </a:pPr>
            <a:r>
              <a:rPr lang="en-US" sz="1047" b="1" dirty="0">
                <a:solidFill>
                  <a:srgbClr val="B38B59"/>
                </a:solidFill>
                <a:latin typeface="MiSans" pitchFamily="34" charset="0"/>
                <a:ea typeface="MiSans" pitchFamily="34" charset="-122"/>
                <a:cs typeface="MiSans" pitchFamily="34" charset="-120"/>
              </a:rPr>
              <a:t>some</a:t>
            </a:r>
            <a:endParaRPr lang="en-US" sz="1600" dirty="0"/>
          </a:p>
          <a:p>
            <a:pPr algn="ctr">
              <a:lnSpc>
                <a:spcPct val="110000"/>
              </a:lnSpc>
            </a:pPr>
            <a:r>
              <a:rPr lang="en-US" sz="1047" dirty="0">
                <a:solidFill>
                  <a:srgbClr val="E0E2E4">
                    <a:alpha val="70000"/>
                  </a:srgbClr>
                </a:solidFill>
                <a:latin typeface="MiSans" pitchFamily="34" charset="0"/>
                <a:ea typeface="MiSans" pitchFamily="34" charset="-122"/>
                <a:cs typeface="MiSans" pitchFamily="34" charset="-120"/>
              </a:rPr>
              <a:t>部分任务等待</a:t>
            </a:r>
            <a:endParaRPr lang="en-US" sz="1600" dirty="0"/>
          </a:p>
        </p:txBody>
      </p:sp>
      <p:sp>
        <p:nvSpPr>
          <p:cNvPr id="65" name="Shape 62"/>
          <p:cNvSpPr/>
          <p:nvPr/>
        </p:nvSpPr>
        <p:spPr>
          <a:xfrm>
            <a:off x="12550751" y="7587992"/>
            <a:ext cx="1518113" cy="443245"/>
          </a:xfrm>
          <a:custGeom>
            <a:avLst/>
            <a:gdLst/>
            <a:ahLst/>
            <a:cxnLst/>
            <a:rect l="l" t="t" r="r" b="b"/>
            <a:pathLst>
              <a:path w="1518113" h="443245">
                <a:moveTo>
                  <a:pt x="44324" y="0"/>
                </a:moveTo>
                <a:lnTo>
                  <a:pt x="1473789" y="0"/>
                </a:lnTo>
                <a:cubicBezTo>
                  <a:pt x="1498268" y="0"/>
                  <a:pt x="1518113" y="19845"/>
                  <a:pt x="1518113" y="44324"/>
                </a:cubicBezTo>
                <a:lnTo>
                  <a:pt x="1518113" y="398920"/>
                </a:lnTo>
                <a:cubicBezTo>
                  <a:pt x="1518113" y="423400"/>
                  <a:pt x="1498268" y="443245"/>
                  <a:pt x="1473789" y="443245"/>
                </a:cubicBezTo>
                <a:lnTo>
                  <a:pt x="44324" y="443245"/>
                </a:lnTo>
                <a:cubicBezTo>
                  <a:pt x="19845" y="443245"/>
                  <a:pt x="0" y="423400"/>
                  <a:pt x="0" y="398920"/>
                </a:cubicBezTo>
                <a:lnTo>
                  <a:pt x="0" y="44324"/>
                </a:lnTo>
                <a:cubicBezTo>
                  <a:pt x="0" y="19861"/>
                  <a:pt x="19861" y="0"/>
                  <a:pt x="44324" y="0"/>
                </a:cubicBezTo>
                <a:close/>
              </a:path>
            </a:pathLst>
          </a:custGeom>
          <a:solidFill>
            <a:srgbClr val="1A1D21">
              <a:alpha val="50196"/>
            </a:srgbClr>
          </a:solidFill>
          <a:ln/>
        </p:spPr>
        <p:txBody>
          <a:bodyPr/>
          <a:lstStyle/>
          <a:p>
            <a:endParaRPr lang="zh-CN" altLang="en-US"/>
          </a:p>
        </p:txBody>
      </p:sp>
      <p:sp>
        <p:nvSpPr>
          <p:cNvPr id="66" name="Text 63"/>
          <p:cNvSpPr/>
          <p:nvPr/>
        </p:nvSpPr>
        <p:spPr>
          <a:xfrm>
            <a:off x="12517508" y="7587992"/>
            <a:ext cx="1584600" cy="443245"/>
          </a:xfrm>
          <a:prstGeom prst="rect">
            <a:avLst/>
          </a:prstGeom>
          <a:noFill/>
          <a:ln/>
        </p:spPr>
        <p:txBody>
          <a:bodyPr wrap="square" lIns="44324" tIns="44324" rIns="44324" bIns="44324" rtlCol="0" anchor="ctr"/>
          <a:lstStyle/>
          <a:p>
            <a:pPr algn="ctr">
              <a:lnSpc>
                <a:spcPct val="110000"/>
              </a:lnSpc>
            </a:pPr>
            <a:r>
              <a:rPr lang="en-US" sz="1047" b="1" dirty="0">
                <a:solidFill>
                  <a:srgbClr val="B38B59"/>
                </a:solidFill>
                <a:latin typeface="MiSans" pitchFamily="34" charset="0"/>
                <a:ea typeface="MiSans" pitchFamily="34" charset="-122"/>
                <a:cs typeface="MiSans" pitchFamily="34" charset="-120"/>
              </a:rPr>
              <a:t>full</a:t>
            </a:r>
            <a:endParaRPr lang="en-US" sz="1600" dirty="0"/>
          </a:p>
          <a:p>
            <a:pPr algn="ctr">
              <a:lnSpc>
                <a:spcPct val="110000"/>
              </a:lnSpc>
            </a:pPr>
            <a:r>
              <a:rPr lang="en-US" sz="1047" dirty="0">
                <a:solidFill>
                  <a:srgbClr val="E0E2E4">
                    <a:alpha val="70000"/>
                  </a:srgbClr>
                </a:solidFill>
                <a:latin typeface="MiSans" pitchFamily="34" charset="0"/>
                <a:ea typeface="MiSans" pitchFamily="34" charset="-122"/>
                <a:cs typeface="MiSans" pitchFamily="34" charset="-120"/>
              </a:rPr>
              <a:t>所有任务等待</a:t>
            </a:r>
            <a:endParaRPr lang="en-US" sz="1600" dirty="0"/>
          </a:p>
        </p:txBody>
      </p:sp>
      <p:sp>
        <p:nvSpPr>
          <p:cNvPr id="67" name="Shape 64"/>
          <p:cNvSpPr/>
          <p:nvPr/>
        </p:nvSpPr>
        <p:spPr>
          <a:xfrm>
            <a:off x="14152146" y="7587992"/>
            <a:ext cx="1518113" cy="443245"/>
          </a:xfrm>
          <a:custGeom>
            <a:avLst/>
            <a:gdLst/>
            <a:ahLst/>
            <a:cxnLst/>
            <a:rect l="l" t="t" r="r" b="b"/>
            <a:pathLst>
              <a:path w="1518113" h="443245">
                <a:moveTo>
                  <a:pt x="44324" y="0"/>
                </a:moveTo>
                <a:lnTo>
                  <a:pt x="1473789" y="0"/>
                </a:lnTo>
                <a:cubicBezTo>
                  <a:pt x="1498268" y="0"/>
                  <a:pt x="1518113" y="19845"/>
                  <a:pt x="1518113" y="44324"/>
                </a:cubicBezTo>
                <a:lnTo>
                  <a:pt x="1518113" y="398920"/>
                </a:lnTo>
                <a:cubicBezTo>
                  <a:pt x="1518113" y="423400"/>
                  <a:pt x="1498268" y="443245"/>
                  <a:pt x="1473789" y="443245"/>
                </a:cubicBezTo>
                <a:lnTo>
                  <a:pt x="44324" y="443245"/>
                </a:lnTo>
                <a:cubicBezTo>
                  <a:pt x="19845" y="443245"/>
                  <a:pt x="0" y="423400"/>
                  <a:pt x="0" y="398920"/>
                </a:cubicBezTo>
                <a:lnTo>
                  <a:pt x="0" y="44324"/>
                </a:lnTo>
                <a:cubicBezTo>
                  <a:pt x="0" y="19861"/>
                  <a:pt x="19861" y="0"/>
                  <a:pt x="44324" y="0"/>
                </a:cubicBezTo>
                <a:close/>
              </a:path>
            </a:pathLst>
          </a:custGeom>
          <a:solidFill>
            <a:srgbClr val="1A1D21">
              <a:alpha val="50196"/>
            </a:srgbClr>
          </a:solidFill>
          <a:ln/>
        </p:spPr>
        <p:txBody>
          <a:bodyPr/>
          <a:lstStyle/>
          <a:p>
            <a:endParaRPr lang="zh-CN" altLang="en-US"/>
          </a:p>
        </p:txBody>
      </p:sp>
      <p:sp>
        <p:nvSpPr>
          <p:cNvPr id="68" name="Text 65"/>
          <p:cNvSpPr/>
          <p:nvPr/>
        </p:nvSpPr>
        <p:spPr>
          <a:xfrm>
            <a:off x="14118903" y="7587992"/>
            <a:ext cx="1584600" cy="443245"/>
          </a:xfrm>
          <a:prstGeom prst="rect">
            <a:avLst/>
          </a:prstGeom>
          <a:noFill/>
          <a:ln/>
        </p:spPr>
        <p:txBody>
          <a:bodyPr wrap="square" lIns="44324" tIns="44324" rIns="44324" bIns="44324" rtlCol="0" anchor="ctr"/>
          <a:lstStyle/>
          <a:p>
            <a:pPr algn="ctr">
              <a:lnSpc>
                <a:spcPct val="110000"/>
              </a:lnSpc>
            </a:pPr>
            <a:r>
              <a:rPr lang="en-US" sz="1047" b="1" dirty="0">
                <a:solidFill>
                  <a:srgbClr val="B38B59"/>
                </a:solidFill>
                <a:latin typeface="MiSans" pitchFamily="34" charset="0"/>
                <a:ea typeface="MiSans" pitchFamily="34" charset="-122"/>
                <a:cs typeface="MiSans" pitchFamily="34" charset="-120"/>
              </a:rPr>
              <a:t>avg10/60/300</a:t>
            </a:r>
            <a:endParaRPr lang="en-US" sz="1600" dirty="0"/>
          </a:p>
          <a:p>
            <a:pPr algn="ctr">
              <a:lnSpc>
                <a:spcPct val="110000"/>
              </a:lnSpc>
            </a:pPr>
            <a:r>
              <a:rPr lang="en-US" sz="1047" dirty="0">
                <a:solidFill>
                  <a:srgbClr val="E0E2E4">
                    <a:alpha val="70000"/>
                  </a:srgbClr>
                </a:solidFill>
                <a:latin typeface="MiSans" pitchFamily="34" charset="0"/>
                <a:ea typeface="MiSans" pitchFamily="34" charset="-122"/>
                <a:cs typeface="MiSans" pitchFamily="34" charset="-120"/>
              </a:rPr>
              <a:t>平均压力值</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48132" y="492946"/>
            <a:ext cx="358506" cy="358506"/>
          </a:xfrm>
          <a:custGeom>
            <a:avLst/>
            <a:gdLst/>
            <a:ahLst/>
            <a:cxnLst/>
            <a:rect l="l" t="t" r="r" b="b"/>
            <a:pathLst>
              <a:path w="358506" h="358506">
                <a:moveTo>
                  <a:pt x="67220" y="0"/>
                </a:moveTo>
                <a:lnTo>
                  <a:pt x="291286" y="0"/>
                </a:lnTo>
                <a:cubicBezTo>
                  <a:pt x="328386" y="0"/>
                  <a:pt x="358506" y="30120"/>
                  <a:pt x="358506" y="67220"/>
                </a:cubicBezTo>
                <a:lnTo>
                  <a:pt x="358506" y="291286"/>
                </a:lnTo>
                <a:cubicBezTo>
                  <a:pt x="358506" y="328411"/>
                  <a:pt x="328411" y="358506"/>
                  <a:pt x="291286" y="358506"/>
                </a:cubicBezTo>
                <a:lnTo>
                  <a:pt x="67220" y="358506"/>
                </a:lnTo>
                <a:cubicBezTo>
                  <a:pt x="30120" y="358506"/>
                  <a:pt x="0" y="328386"/>
                  <a:pt x="0" y="291286"/>
                </a:cubicBezTo>
                <a:lnTo>
                  <a:pt x="0" y="67220"/>
                </a:lnTo>
                <a:cubicBezTo>
                  <a:pt x="0" y="30095"/>
                  <a:pt x="30095" y="0"/>
                  <a:pt x="67220" y="0"/>
                </a:cubicBezTo>
                <a:close/>
              </a:path>
            </a:pathLst>
          </a:custGeom>
          <a:solidFill>
            <a:srgbClr val="3C8082"/>
          </a:solidFill>
          <a:ln/>
        </p:spPr>
        <p:txBody>
          <a:bodyPr/>
          <a:lstStyle/>
          <a:p>
            <a:endParaRPr lang="zh-CN" altLang="en-US"/>
          </a:p>
        </p:txBody>
      </p:sp>
      <p:sp>
        <p:nvSpPr>
          <p:cNvPr id="3" name="Text 1"/>
          <p:cNvSpPr/>
          <p:nvPr/>
        </p:nvSpPr>
        <p:spPr>
          <a:xfrm>
            <a:off x="403319" y="492946"/>
            <a:ext cx="448132" cy="358506"/>
          </a:xfrm>
          <a:prstGeom prst="rect">
            <a:avLst/>
          </a:prstGeom>
          <a:noFill/>
          <a:ln/>
        </p:spPr>
        <p:txBody>
          <a:bodyPr wrap="square" lIns="0" tIns="0" rIns="0" bIns="0" rtlCol="0" anchor="ctr"/>
          <a:lstStyle/>
          <a:p>
            <a:pPr algn="ctr">
              <a:lnSpc>
                <a:spcPct val="130000"/>
              </a:lnSpc>
            </a:pPr>
            <a:r>
              <a:rPr lang="en-US" sz="1411" b="1" dirty="0">
                <a:solidFill>
                  <a:srgbClr val="FFFFFF"/>
                </a:solidFill>
                <a:latin typeface="Liter" pitchFamily="34" charset="0"/>
                <a:ea typeface="Liter" pitchFamily="34" charset="-122"/>
                <a:cs typeface="Liter" pitchFamily="34" charset="-120"/>
              </a:rPr>
              <a:t>07</a:t>
            </a:r>
            <a:endParaRPr lang="en-US" sz="1600" dirty="0"/>
          </a:p>
        </p:txBody>
      </p:sp>
      <p:sp>
        <p:nvSpPr>
          <p:cNvPr id="4" name="Text 2"/>
          <p:cNvSpPr/>
          <p:nvPr/>
        </p:nvSpPr>
        <p:spPr>
          <a:xfrm>
            <a:off x="941078" y="448132"/>
            <a:ext cx="3607465" cy="448132"/>
          </a:xfrm>
          <a:prstGeom prst="rect">
            <a:avLst/>
          </a:prstGeom>
          <a:noFill/>
          <a:ln/>
        </p:spPr>
        <p:txBody>
          <a:bodyPr wrap="square" lIns="0" tIns="0" rIns="0" bIns="0" rtlCol="0" anchor="ctr"/>
          <a:lstStyle/>
          <a:p>
            <a:pPr>
              <a:lnSpc>
                <a:spcPct val="90000"/>
              </a:lnSpc>
            </a:pPr>
            <a:r>
              <a:rPr lang="en-US" sz="3176" b="1" dirty="0">
                <a:solidFill>
                  <a:srgbClr val="E0E2E4"/>
                </a:solidFill>
                <a:latin typeface="MiSans" pitchFamily="34" charset="0"/>
                <a:ea typeface="MiSans" pitchFamily="34" charset="-122"/>
                <a:cs typeface="MiSans" pitchFamily="34" charset="-120"/>
              </a:rPr>
              <a:t>Linux安全隔离机制</a:t>
            </a:r>
            <a:endParaRPr lang="en-US" sz="1600" dirty="0"/>
          </a:p>
        </p:txBody>
      </p:sp>
      <p:sp>
        <p:nvSpPr>
          <p:cNvPr id="5" name="Text 3"/>
          <p:cNvSpPr/>
          <p:nvPr/>
        </p:nvSpPr>
        <p:spPr>
          <a:xfrm>
            <a:off x="448132" y="985891"/>
            <a:ext cx="15460565" cy="313693"/>
          </a:xfrm>
          <a:prstGeom prst="rect">
            <a:avLst/>
          </a:prstGeom>
          <a:noFill/>
          <a:ln/>
        </p:spPr>
        <p:txBody>
          <a:bodyPr wrap="square" lIns="0" tIns="0" rIns="0" bIns="0" rtlCol="0" anchor="ctr"/>
          <a:lstStyle/>
          <a:p>
            <a:pPr>
              <a:lnSpc>
                <a:spcPct val="130000"/>
              </a:lnSpc>
            </a:pPr>
            <a:r>
              <a:rPr lang="en-US" sz="1588" b="1" dirty="0">
                <a:solidFill>
                  <a:srgbClr val="B38B59"/>
                </a:solidFill>
                <a:latin typeface="MiSans" pitchFamily="34" charset="0"/>
                <a:ea typeface="MiSans" pitchFamily="34" charset="-122"/>
                <a:cs typeface="MiSans" pitchFamily="34" charset="-120"/>
              </a:rPr>
              <a:t>LSM框架、Capabilities与Seccomp的多层安全防护</a:t>
            </a:r>
            <a:endParaRPr lang="en-US" sz="1600" dirty="0"/>
          </a:p>
        </p:txBody>
      </p:sp>
      <p:sp>
        <p:nvSpPr>
          <p:cNvPr id="6" name="Shape 4"/>
          <p:cNvSpPr/>
          <p:nvPr/>
        </p:nvSpPr>
        <p:spPr>
          <a:xfrm>
            <a:off x="453734" y="1484438"/>
            <a:ext cx="4985472" cy="5985893"/>
          </a:xfrm>
          <a:custGeom>
            <a:avLst/>
            <a:gdLst/>
            <a:ahLst/>
            <a:cxnLst/>
            <a:rect l="l" t="t" r="r" b="b"/>
            <a:pathLst>
              <a:path w="4985472" h="6789205">
                <a:moveTo>
                  <a:pt x="89639" y="0"/>
                </a:moveTo>
                <a:lnTo>
                  <a:pt x="4895833" y="0"/>
                </a:lnTo>
                <a:cubicBezTo>
                  <a:pt x="4945339" y="0"/>
                  <a:pt x="4985472" y="40133"/>
                  <a:pt x="4985472" y="89639"/>
                </a:cubicBezTo>
                <a:lnTo>
                  <a:pt x="4985472" y="6699566"/>
                </a:lnTo>
                <a:cubicBezTo>
                  <a:pt x="4985472" y="6749072"/>
                  <a:pt x="4945339" y="6789205"/>
                  <a:pt x="4895833" y="6789205"/>
                </a:cubicBezTo>
                <a:lnTo>
                  <a:pt x="89639" y="6789205"/>
                </a:lnTo>
                <a:cubicBezTo>
                  <a:pt x="40133" y="6789205"/>
                  <a:pt x="0" y="6749072"/>
                  <a:pt x="0" y="6699566"/>
                </a:cubicBezTo>
                <a:lnTo>
                  <a:pt x="0" y="89639"/>
                </a:lnTo>
                <a:cubicBezTo>
                  <a:pt x="0" y="40166"/>
                  <a:pt x="40166" y="0"/>
                  <a:pt x="8963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38589" y="1669293"/>
            <a:ext cx="537759" cy="537759"/>
          </a:xfrm>
          <a:custGeom>
            <a:avLst/>
            <a:gdLst/>
            <a:ahLst/>
            <a:cxnLst/>
            <a:rect l="l" t="t" r="r" b="b"/>
            <a:pathLst>
              <a:path w="537759" h="537759">
                <a:moveTo>
                  <a:pt x="89628" y="0"/>
                </a:moveTo>
                <a:lnTo>
                  <a:pt x="448131" y="0"/>
                </a:lnTo>
                <a:cubicBezTo>
                  <a:pt x="497631" y="0"/>
                  <a:pt x="537759" y="40128"/>
                  <a:pt x="537759" y="89628"/>
                </a:cubicBezTo>
                <a:lnTo>
                  <a:pt x="537759" y="448131"/>
                </a:lnTo>
                <a:cubicBezTo>
                  <a:pt x="537759" y="497631"/>
                  <a:pt x="497631" y="537759"/>
                  <a:pt x="448131" y="537759"/>
                </a:cubicBezTo>
                <a:lnTo>
                  <a:pt x="89628" y="537759"/>
                </a:lnTo>
                <a:cubicBezTo>
                  <a:pt x="40128" y="537759"/>
                  <a:pt x="0" y="497631"/>
                  <a:pt x="0" y="448131"/>
                </a:cubicBezTo>
                <a:lnTo>
                  <a:pt x="0" y="89628"/>
                </a:lnTo>
                <a:cubicBezTo>
                  <a:pt x="0" y="40161"/>
                  <a:pt x="40161" y="0"/>
                  <a:pt x="89628" y="0"/>
                </a:cubicBezTo>
                <a:close/>
              </a:path>
            </a:pathLst>
          </a:custGeom>
          <a:solidFill>
            <a:srgbClr val="3C8082"/>
          </a:solidFill>
          <a:ln/>
        </p:spPr>
        <p:txBody>
          <a:bodyPr/>
          <a:lstStyle/>
          <a:p>
            <a:endParaRPr lang="zh-CN" altLang="en-US"/>
          </a:p>
        </p:txBody>
      </p:sp>
      <p:sp>
        <p:nvSpPr>
          <p:cNvPr id="8" name="Shape 6"/>
          <p:cNvSpPr/>
          <p:nvPr/>
        </p:nvSpPr>
        <p:spPr>
          <a:xfrm>
            <a:off x="773028" y="1803733"/>
            <a:ext cx="268879" cy="268879"/>
          </a:xfrm>
          <a:custGeom>
            <a:avLst/>
            <a:gdLst/>
            <a:ahLst/>
            <a:cxnLst/>
            <a:rect l="l" t="t" r="r" b="b"/>
            <a:pathLst>
              <a:path w="268879" h="268879">
                <a:moveTo>
                  <a:pt x="134440" y="0"/>
                </a:moveTo>
                <a:cubicBezTo>
                  <a:pt x="136855" y="0"/>
                  <a:pt x="139271" y="525"/>
                  <a:pt x="141477" y="1523"/>
                </a:cubicBezTo>
                <a:lnTo>
                  <a:pt x="240416" y="43483"/>
                </a:lnTo>
                <a:cubicBezTo>
                  <a:pt x="251969" y="48367"/>
                  <a:pt x="260582" y="59763"/>
                  <a:pt x="260529" y="73522"/>
                </a:cubicBezTo>
                <a:cubicBezTo>
                  <a:pt x="260267" y="125617"/>
                  <a:pt x="238841" y="220933"/>
                  <a:pt x="148356" y="264258"/>
                </a:cubicBezTo>
                <a:cubicBezTo>
                  <a:pt x="139586" y="268459"/>
                  <a:pt x="129398" y="268459"/>
                  <a:pt x="120628" y="264258"/>
                </a:cubicBezTo>
                <a:cubicBezTo>
                  <a:pt x="30091" y="220933"/>
                  <a:pt x="8718" y="125617"/>
                  <a:pt x="8455" y="73522"/>
                </a:cubicBezTo>
                <a:cubicBezTo>
                  <a:pt x="8402" y="59763"/>
                  <a:pt x="17015" y="48367"/>
                  <a:pt x="28568" y="43483"/>
                </a:cubicBezTo>
                <a:lnTo>
                  <a:pt x="127455" y="1523"/>
                </a:lnTo>
                <a:cubicBezTo>
                  <a:pt x="129661" y="525"/>
                  <a:pt x="132024" y="0"/>
                  <a:pt x="134440" y="0"/>
                </a:cubicBezTo>
                <a:close/>
                <a:moveTo>
                  <a:pt x="134440" y="35080"/>
                </a:moveTo>
                <a:lnTo>
                  <a:pt x="134440" y="233641"/>
                </a:lnTo>
                <a:cubicBezTo>
                  <a:pt x="206911" y="198561"/>
                  <a:pt x="226394" y="120838"/>
                  <a:pt x="226867" y="74309"/>
                </a:cubicBezTo>
                <a:lnTo>
                  <a:pt x="134440" y="35133"/>
                </a:lnTo>
                <a:lnTo>
                  <a:pt x="134440" y="35133"/>
                </a:lnTo>
                <a:close/>
              </a:path>
            </a:pathLst>
          </a:custGeom>
          <a:solidFill>
            <a:srgbClr val="FFFFFF"/>
          </a:solidFill>
          <a:ln/>
        </p:spPr>
        <p:txBody>
          <a:bodyPr/>
          <a:lstStyle/>
          <a:p>
            <a:endParaRPr lang="zh-CN" altLang="en-US"/>
          </a:p>
        </p:txBody>
      </p:sp>
      <p:sp>
        <p:nvSpPr>
          <p:cNvPr id="9" name="Text 7"/>
          <p:cNvSpPr/>
          <p:nvPr/>
        </p:nvSpPr>
        <p:spPr>
          <a:xfrm>
            <a:off x="1265974" y="1781326"/>
            <a:ext cx="2498338" cy="313693"/>
          </a:xfrm>
          <a:prstGeom prst="rect">
            <a:avLst/>
          </a:prstGeom>
          <a:noFill/>
          <a:ln/>
        </p:spPr>
        <p:txBody>
          <a:bodyPr wrap="square" lIns="0" tIns="0" rIns="0" bIns="0" rtlCol="0" anchor="ctr"/>
          <a:lstStyle/>
          <a:p>
            <a:pPr>
              <a:lnSpc>
                <a:spcPct val="120000"/>
              </a:lnSpc>
            </a:pPr>
            <a:r>
              <a:rPr lang="en-US" sz="1764" b="1" dirty="0">
                <a:solidFill>
                  <a:srgbClr val="E0E2E4"/>
                </a:solidFill>
                <a:latin typeface="MiSans" pitchFamily="34" charset="0"/>
                <a:ea typeface="MiSans" pitchFamily="34" charset="-122"/>
                <a:cs typeface="MiSans" pitchFamily="34" charset="-120"/>
              </a:rPr>
              <a:t>Linux Security Modules</a:t>
            </a:r>
            <a:endParaRPr lang="en-US" sz="1600" dirty="0"/>
          </a:p>
        </p:txBody>
      </p:sp>
      <p:sp>
        <p:nvSpPr>
          <p:cNvPr id="10" name="Shape 8"/>
          <p:cNvSpPr/>
          <p:nvPr/>
        </p:nvSpPr>
        <p:spPr>
          <a:xfrm>
            <a:off x="638589" y="2341491"/>
            <a:ext cx="4615763" cy="1792529"/>
          </a:xfrm>
          <a:custGeom>
            <a:avLst/>
            <a:gdLst/>
            <a:ahLst/>
            <a:cxnLst/>
            <a:rect l="l" t="t" r="r" b="b"/>
            <a:pathLst>
              <a:path w="4615763" h="1792529">
                <a:moveTo>
                  <a:pt x="89626" y="0"/>
                </a:moveTo>
                <a:lnTo>
                  <a:pt x="4526136" y="0"/>
                </a:lnTo>
                <a:cubicBezTo>
                  <a:pt x="4575636" y="0"/>
                  <a:pt x="4615763" y="40127"/>
                  <a:pt x="4615763" y="89626"/>
                </a:cubicBezTo>
                <a:lnTo>
                  <a:pt x="4615763" y="1702903"/>
                </a:lnTo>
                <a:cubicBezTo>
                  <a:pt x="4615763" y="1752402"/>
                  <a:pt x="4575636" y="1792529"/>
                  <a:pt x="4526136" y="1792529"/>
                </a:cubicBezTo>
                <a:lnTo>
                  <a:pt x="89626" y="1792529"/>
                </a:lnTo>
                <a:cubicBezTo>
                  <a:pt x="40127" y="1792529"/>
                  <a:pt x="0" y="1752402"/>
                  <a:pt x="0" y="1702903"/>
                </a:cubicBezTo>
                <a:lnTo>
                  <a:pt x="0" y="89626"/>
                </a:lnTo>
                <a:cubicBezTo>
                  <a:pt x="0" y="40127"/>
                  <a:pt x="40127" y="0"/>
                  <a:pt x="89626" y="0"/>
                </a:cubicBezTo>
                <a:close/>
              </a:path>
            </a:pathLst>
          </a:custGeom>
          <a:solidFill>
            <a:srgbClr val="1A1D21">
              <a:alpha val="50196"/>
            </a:srgbClr>
          </a:solidFill>
          <a:ln/>
        </p:spPr>
        <p:txBody>
          <a:bodyPr/>
          <a:lstStyle/>
          <a:p>
            <a:endParaRPr lang="zh-CN" altLang="en-US"/>
          </a:p>
        </p:txBody>
      </p:sp>
      <p:sp>
        <p:nvSpPr>
          <p:cNvPr id="11" name="Text 9"/>
          <p:cNvSpPr/>
          <p:nvPr/>
        </p:nvSpPr>
        <p:spPr>
          <a:xfrm>
            <a:off x="773028" y="2475931"/>
            <a:ext cx="4447713" cy="313693"/>
          </a:xfrm>
          <a:prstGeom prst="rect">
            <a:avLst/>
          </a:prstGeom>
          <a:noFill/>
          <a:ln/>
        </p:spPr>
        <p:txBody>
          <a:bodyPr wrap="square" lIns="0" tIns="0" rIns="0" bIns="0" rtlCol="0" anchor="ctr"/>
          <a:lstStyle/>
          <a:p>
            <a:pPr>
              <a:lnSpc>
                <a:spcPct val="130000"/>
              </a:lnSpc>
            </a:pPr>
            <a:r>
              <a:rPr lang="en-US" sz="1588" b="1" dirty="0">
                <a:solidFill>
                  <a:srgbClr val="B38B59"/>
                </a:solidFill>
                <a:latin typeface="MiSans" pitchFamily="34" charset="0"/>
                <a:ea typeface="MiSans" pitchFamily="34" charset="-122"/>
                <a:cs typeface="MiSans" pitchFamily="34" charset="-120"/>
              </a:rPr>
              <a:t>SELinux</a:t>
            </a:r>
            <a:endParaRPr lang="en-US" sz="1600" dirty="0"/>
          </a:p>
        </p:txBody>
      </p:sp>
      <p:sp>
        <p:nvSpPr>
          <p:cNvPr id="12" name="Text 10"/>
          <p:cNvSpPr/>
          <p:nvPr/>
        </p:nvSpPr>
        <p:spPr>
          <a:xfrm>
            <a:off x="773028" y="2879250"/>
            <a:ext cx="4436510" cy="268879"/>
          </a:xfrm>
          <a:prstGeom prst="rect">
            <a:avLst/>
          </a:prstGeom>
          <a:noFill/>
          <a:ln/>
        </p:spPr>
        <p:txBody>
          <a:bodyPr wrap="square" lIns="0" tIns="0" rIns="0" bIns="0" rtlCol="0" anchor="ctr"/>
          <a:lstStyle/>
          <a:p>
            <a:pPr>
              <a:lnSpc>
                <a:spcPct val="130000"/>
              </a:lnSpc>
            </a:pPr>
            <a:r>
              <a:rPr lang="en-US" sz="1411" dirty="0">
                <a:solidFill>
                  <a:srgbClr val="E0E2E4">
                    <a:alpha val="80000"/>
                  </a:srgbClr>
                </a:solidFill>
                <a:latin typeface="MiSans" pitchFamily="34" charset="0"/>
                <a:ea typeface="MiSans" pitchFamily="34" charset="-122"/>
                <a:cs typeface="MiSans" pitchFamily="34" charset="-120"/>
              </a:rPr>
              <a:t>Security-Enhanced Linux,提供强制访问控制(MAC)</a:t>
            </a:r>
            <a:endParaRPr lang="en-US" sz="1600" dirty="0"/>
          </a:p>
        </p:txBody>
      </p:sp>
      <p:sp>
        <p:nvSpPr>
          <p:cNvPr id="13" name="Text 11"/>
          <p:cNvSpPr/>
          <p:nvPr/>
        </p:nvSpPr>
        <p:spPr>
          <a:xfrm>
            <a:off x="773028" y="3237756"/>
            <a:ext cx="4425307" cy="224066"/>
          </a:xfrm>
          <a:prstGeom prst="rect">
            <a:avLst/>
          </a:prstGeom>
          <a:noFill/>
          <a:ln/>
        </p:spPr>
        <p:txBody>
          <a:bodyPr wrap="square" lIns="0" tIns="0" rIns="0" bIns="0" rtlCol="0" anchor="ctr"/>
          <a:lstStyle/>
          <a:p>
            <a:pPr>
              <a:lnSpc>
                <a:spcPct val="120000"/>
              </a:lnSpc>
            </a:pPr>
            <a:r>
              <a:rPr lang="en-US" sz="1235" b="1" dirty="0">
                <a:solidFill>
                  <a:srgbClr val="E0E2E4"/>
                </a:solidFill>
                <a:latin typeface="MiSans" pitchFamily="34" charset="0"/>
                <a:ea typeface="MiSans" pitchFamily="34" charset="-122"/>
                <a:cs typeface="MiSans" pitchFamily="34" charset="-120"/>
              </a:rPr>
              <a:t>Subject:</a:t>
            </a:r>
            <a:r>
              <a:rPr lang="en-US" sz="1235" dirty="0">
                <a:solidFill>
                  <a:srgbClr val="E0E2E4">
                    <a:alpha val="70000"/>
                  </a:srgbClr>
                </a:solidFill>
                <a:latin typeface="MiSans" pitchFamily="34" charset="0"/>
                <a:ea typeface="MiSans" pitchFamily="34" charset="-122"/>
                <a:cs typeface="MiSans" pitchFamily="34" charset="-120"/>
              </a:rPr>
              <a:t> 进程或用户</a:t>
            </a:r>
            <a:endParaRPr lang="en-US" sz="1600" dirty="0"/>
          </a:p>
        </p:txBody>
      </p:sp>
      <p:sp>
        <p:nvSpPr>
          <p:cNvPr id="14" name="Text 12"/>
          <p:cNvSpPr/>
          <p:nvPr/>
        </p:nvSpPr>
        <p:spPr>
          <a:xfrm>
            <a:off x="773028" y="3506635"/>
            <a:ext cx="4425307" cy="224066"/>
          </a:xfrm>
          <a:prstGeom prst="rect">
            <a:avLst/>
          </a:prstGeom>
          <a:noFill/>
          <a:ln/>
        </p:spPr>
        <p:txBody>
          <a:bodyPr wrap="square" lIns="0" tIns="0" rIns="0" bIns="0" rtlCol="0" anchor="ctr"/>
          <a:lstStyle/>
          <a:p>
            <a:pPr>
              <a:lnSpc>
                <a:spcPct val="120000"/>
              </a:lnSpc>
            </a:pPr>
            <a:r>
              <a:rPr lang="en-US" sz="1235" b="1" dirty="0">
                <a:solidFill>
                  <a:srgbClr val="E0E2E4"/>
                </a:solidFill>
                <a:latin typeface="MiSans" pitchFamily="34" charset="0"/>
                <a:ea typeface="MiSans" pitchFamily="34" charset="-122"/>
                <a:cs typeface="MiSans" pitchFamily="34" charset="-120"/>
              </a:rPr>
              <a:t>Object:</a:t>
            </a:r>
            <a:r>
              <a:rPr lang="en-US" sz="1235" dirty="0">
                <a:solidFill>
                  <a:srgbClr val="E0E2E4">
                    <a:alpha val="70000"/>
                  </a:srgbClr>
                </a:solidFill>
                <a:latin typeface="MiSans" pitchFamily="34" charset="0"/>
                <a:ea typeface="MiSans" pitchFamily="34" charset="-122"/>
                <a:cs typeface="MiSans" pitchFamily="34" charset="-120"/>
              </a:rPr>
              <a:t> 文件、目录、网络端口等资源</a:t>
            </a:r>
            <a:endParaRPr lang="en-US" sz="1600" dirty="0"/>
          </a:p>
        </p:txBody>
      </p:sp>
      <p:sp>
        <p:nvSpPr>
          <p:cNvPr id="15" name="Text 13"/>
          <p:cNvSpPr/>
          <p:nvPr/>
        </p:nvSpPr>
        <p:spPr>
          <a:xfrm>
            <a:off x="773028" y="3775515"/>
            <a:ext cx="4425307" cy="224066"/>
          </a:xfrm>
          <a:prstGeom prst="rect">
            <a:avLst/>
          </a:prstGeom>
          <a:noFill/>
          <a:ln/>
        </p:spPr>
        <p:txBody>
          <a:bodyPr wrap="square" lIns="0" tIns="0" rIns="0" bIns="0" rtlCol="0" anchor="ctr"/>
          <a:lstStyle/>
          <a:p>
            <a:pPr>
              <a:lnSpc>
                <a:spcPct val="120000"/>
              </a:lnSpc>
            </a:pPr>
            <a:r>
              <a:rPr lang="en-US" sz="1235" b="1" dirty="0">
                <a:solidFill>
                  <a:srgbClr val="E0E2E4"/>
                </a:solidFill>
                <a:latin typeface="MiSans" pitchFamily="34" charset="0"/>
                <a:ea typeface="MiSans" pitchFamily="34" charset="-122"/>
                <a:cs typeface="MiSans" pitchFamily="34" charset="-120"/>
              </a:rPr>
              <a:t>Policy:</a:t>
            </a:r>
            <a:r>
              <a:rPr lang="en-US" sz="1235" dirty="0">
                <a:solidFill>
                  <a:srgbClr val="E0E2E4">
                    <a:alpha val="70000"/>
                  </a:srgbClr>
                </a:solidFill>
                <a:latin typeface="MiSans" pitchFamily="34" charset="0"/>
                <a:ea typeface="MiSans" pitchFamily="34" charset="-122"/>
                <a:cs typeface="MiSans" pitchFamily="34" charset="-120"/>
              </a:rPr>
              <a:t> 定义Subject对Object的访问权限</a:t>
            </a:r>
            <a:endParaRPr lang="en-US" sz="1600" dirty="0"/>
          </a:p>
        </p:txBody>
      </p:sp>
      <p:sp>
        <p:nvSpPr>
          <p:cNvPr id="16" name="Shape 14"/>
          <p:cNvSpPr/>
          <p:nvPr/>
        </p:nvSpPr>
        <p:spPr>
          <a:xfrm>
            <a:off x="638589" y="4268460"/>
            <a:ext cx="4615763" cy="2106222"/>
          </a:xfrm>
          <a:custGeom>
            <a:avLst/>
            <a:gdLst/>
            <a:ahLst/>
            <a:cxnLst/>
            <a:rect l="l" t="t" r="r" b="b"/>
            <a:pathLst>
              <a:path w="4615763" h="2106222">
                <a:moveTo>
                  <a:pt x="89620" y="0"/>
                </a:moveTo>
                <a:lnTo>
                  <a:pt x="4526143" y="0"/>
                </a:lnTo>
                <a:cubicBezTo>
                  <a:pt x="4575639" y="0"/>
                  <a:pt x="4615763" y="40124"/>
                  <a:pt x="4615763" y="89620"/>
                </a:cubicBezTo>
                <a:lnTo>
                  <a:pt x="4615763" y="2016602"/>
                </a:lnTo>
                <a:cubicBezTo>
                  <a:pt x="4615763" y="2066098"/>
                  <a:pt x="4575639" y="2106222"/>
                  <a:pt x="4526143" y="2106222"/>
                </a:cubicBezTo>
                <a:lnTo>
                  <a:pt x="89620" y="2106222"/>
                </a:lnTo>
                <a:cubicBezTo>
                  <a:pt x="40124" y="2106222"/>
                  <a:pt x="0" y="2066098"/>
                  <a:pt x="0" y="2016602"/>
                </a:cubicBezTo>
                <a:lnTo>
                  <a:pt x="0" y="89620"/>
                </a:lnTo>
                <a:cubicBezTo>
                  <a:pt x="0" y="40157"/>
                  <a:pt x="40157" y="0"/>
                  <a:pt x="89620" y="0"/>
                </a:cubicBezTo>
                <a:close/>
              </a:path>
            </a:pathLst>
          </a:custGeom>
          <a:solidFill>
            <a:srgbClr val="1A1D21">
              <a:alpha val="50196"/>
            </a:srgbClr>
          </a:solidFill>
          <a:ln/>
        </p:spPr>
        <p:txBody>
          <a:bodyPr/>
          <a:lstStyle/>
          <a:p>
            <a:endParaRPr lang="zh-CN" altLang="en-US"/>
          </a:p>
        </p:txBody>
      </p:sp>
      <p:sp>
        <p:nvSpPr>
          <p:cNvPr id="17" name="Text 15"/>
          <p:cNvSpPr/>
          <p:nvPr/>
        </p:nvSpPr>
        <p:spPr>
          <a:xfrm>
            <a:off x="773028" y="4402900"/>
            <a:ext cx="4447713" cy="313693"/>
          </a:xfrm>
          <a:prstGeom prst="rect">
            <a:avLst/>
          </a:prstGeom>
          <a:noFill/>
          <a:ln/>
        </p:spPr>
        <p:txBody>
          <a:bodyPr wrap="square" lIns="0" tIns="0" rIns="0" bIns="0" rtlCol="0" anchor="ctr"/>
          <a:lstStyle/>
          <a:p>
            <a:pPr>
              <a:lnSpc>
                <a:spcPct val="130000"/>
              </a:lnSpc>
            </a:pPr>
            <a:r>
              <a:rPr lang="en-US" sz="1588" b="1" dirty="0">
                <a:solidFill>
                  <a:srgbClr val="B38B59"/>
                </a:solidFill>
                <a:latin typeface="MiSans" pitchFamily="34" charset="0"/>
                <a:ea typeface="MiSans" pitchFamily="34" charset="-122"/>
                <a:cs typeface="MiSans" pitchFamily="34" charset="-120"/>
              </a:rPr>
              <a:t>AppArmor</a:t>
            </a:r>
            <a:endParaRPr lang="en-US" sz="1600" dirty="0"/>
          </a:p>
        </p:txBody>
      </p:sp>
      <p:sp>
        <p:nvSpPr>
          <p:cNvPr id="18" name="Text 16"/>
          <p:cNvSpPr/>
          <p:nvPr/>
        </p:nvSpPr>
        <p:spPr>
          <a:xfrm>
            <a:off x="773028" y="4806219"/>
            <a:ext cx="4436510" cy="268879"/>
          </a:xfrm>
          <a:prstGeom prst="rect">
            <a:avLst/>
          </a:prstGeom>
          <a:noFill/>
          <a:ln/>
        </p:spPr>
        <p:txBody>
          <a:bodyPr wrap="square" lIns="0" tIns="0" rIns="0" bIns="0" rtlCol="0" anchor="ctr"/>
          <a:lstStyle/>
          <a:p>
            <a:pPr>
              <a:lnSpc>
                <a:spcPct val="130000"/>
              </a:lnSpc>
            </a:pPr>
            <a:r>
              <a:rPr lang="en-US" sz="1411" dirty="0">
                <a:solidFill>
                  <a:srgbClr val="E0E2E4">
                    <a:alpha val="80000"/>
                  </a:srgbClr>
                </a:solidFill>
                <a:latin typeface="MiSans" pitchFamily="34" charset="0"/>
                <a:ea typeface="MiSans" pitchFamily="34" charset="-122"/>
                <a:cs typeface="MiSans" pitchFamily="34" charset="-120"/>
              </a:rPr>
              <a:t>提供基于路径的访问控制,配置更简单</a:t>
            </a:r>
            <a:endParaRPr lang="en-US" sz="1600" dirty="0"/>
          </a:p>
        </p:txBody>
      </p:sp>
      <p:sp>
        <p:nvSpPr>
          <p:cNvPr id="19" name="Shape 17"/>
          <p:cNvSpPr/>
          <p:nvPr/>
        </p:nvSpPr>
        <p:spPr>
          <a:xfrm>
            <a:off x="773028" y="5164725"/>
            <a:ext cx="4346884" cy="1075518"/>
          </a:xfrm>
          <a:custGeom>
            <a:avLst/>
            <a:gdLst/>
            <a:ahLst/>
            <a:cxnLst/>
            <a:rect l="l" t="t" r="r" b="b"/>
            <a:pathLst>
              <a:path w="4346884" h="1075518">
                <a:moveTo>
                  <a:pt x="44817" y="0"/>
                </a:moveTo>
                <a:lnTo>
                  <a:pt x="4302067" y="0"/>
                </a:lnTo>
                <a:cubicBezTo>
                  <a:pt x="4326818" y="0"/>
                  <a:pt x="4346884" y="20065"/>
                  <a:pt x="4346884" y="44817"/>
                </a:cubicBezTo>
                <a:lnTo>
                  <a:pt x="4346884" y="1030701"/>
                </a:lnTo>
                <a:cubicBezTo>
                  <a:pt x="4346884" y="1055452"/>
                  <a:pt x="4326818" y="1075518"/>
                  <a:pt x="4302067" y="1075518"/>
                </a:cubicBezTo>
                <a:lnTo>
                  <a:pt x="44817" y="1075518"/>
                </a:lnTo>
                <a:cubicBezTo>
                  <a:pt x="20065" y="1075518"/>
                  <a:pt x="0" y="1055452"/>
                  <a:pt x="0" y="1030701"/>
                </a:cubicBezTo>
                <a:lnTo>
                  <a:pt x="0" y="44817"/>
                </a:lnTo>
                <a:cubicBezTo>
                  <a:pt x="0" y="20065"/>
                  <a:pt x="20065" y="0"/>
                  <a:pt x="44817" y="0"/>
                </a:cubicBezTo>
                <a:close/>
              </a:path>
            </a:pathLst>
          </a:custGeom>
          <a:solidFill>
            <a:srgbClr val="1A1D21">
              <a:alpha val="70196"/>
            </a:srgbClr>
          </a:solidFill>
          <a:ln/>
        </p:spPr>
        <p:txBody>
          <a:bodyPr/>
          <a:lstStyle/>
          <a:p>
            <a:endParaRPr lang="zh-CN" altLang="en-US"/>
          </a:p>
        </p:txBody>
      </p:sp>
      <p:sp>
        <p:nvSpPr>
          <p:cNvPr id="20" name="Text 18"/>
          <p:cNvSpPr/>
          <p:nvPr/>
        </p:nvSpPr>
        <p:spPr>
          <a:xfrm>
            <a:off x="862655" y="5254351"/>
            <a:ext cx="4234850"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/usr/bin/myapp {</a:t>
            </a:r>
            <a:endParaRPr lang="en-US" sz="1600" dirty="0"/>
          </a:p>
        </p:txBody>
      </p:sp>
      <p:sp>
        <p:nvSpPr>
          <p:cNvPr id="21" name="Text 19"/>
          <p:cNvSpPr/>
          <p:nvPr/>
        </p:nvSpPr>
        <p:spPr>
          <a:xfrm>
            <a:off x="952281" y="5433604"/>
            <a:ext cx="4145224"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/etc/myapp.conf r,</a:t>
            </a:r>
            <a:endParaRPr lang="en-US" sz="1600" dirty="0"/>
          </a:p>
        </p:txBody>
      </p:sp>
      <p:sp>
        <p:nvSpPr>
          <p:cNvPr id="22" name="Text 20"/>
          <p:cNvSpPr/>
          <p:nvPr/>
        </p:nvSpPr>
        <p:spPr>
          <a:xfrm>
            <a:off x="952281" y="5612857"/>
            <a:ext cx="4145224"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/var/log/myapp/ rw,</a:t>
            </a:r>
            <a:endParaRPr lang="en-US" sz="1600" dirty="0"/>
          </a:p>
        </p:txBody>
      </p:sp>
      <p:sp>
        <p:nvSpPr>
          <p:cNvPr id="23" name="Text 21"/>
          <p:cNvSpPr/>
          <p:nvPr/>
        </p:nvSpPr>
        <p:spPr>
          <a:xfrm>
            <a:off x="952281" y="5792110"/>
            <a:ext cx="4145224"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deny /etc/shadow r,</a:t>
            </a:r>
            <a:endParaRPr lang="en-US" sz="1600" dirty="0"/>
          </a:p>
        </p:txBody>
      </p:sp>
      <p:sp>
        <p:nvSpPr>
          <p:cNvPr id="24" name="Text 22"/>
          <p:cNvSpPr/>
          <p:nvPr/>
        </p:nvSpPr>
        <p:spPr>
          <a:xfrm>
            <a:off x="862655" y="5971363"/>
            <a:ext cx="4234850"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a:t>
            </a:r>
            <a:endParaRPr lang="en-US" sz="1600" dirty="0"/>
          </a:p>
        </p:txBody>
      </p:sp>
      <p:sp>
        <p:nvSpPr>
          <p:cNvPr id="25" name="Shape 23"/>
          <p:cNvSpPr/>
          <p:nvPr/>
        </p:nvSpPr>
        <p:spPr>
          <a:xfrm>
            <a:off x="5632113" y="1484438"/>
            <a:ext cx="4985472" cy="5985893"/>
          </a:xfrm>
          <a:custGeom>
            <a:avLst/>
            <a:gdLst/>
            <a:ahLst/>
            <a:cxnLst/>
            <a:rect l="l" t="t" r="r" b="b"/>
            <a:pathLst>
              <a:path w="4985472" h="6789205">
                <a:moveTo>
                  <a:pt x="89639" y="0"/>
                </a:moveTo>
                <a:lnTo>
                  <a:pt x="4895833" y="0"/>
                </a:lnTo>
                <a:cubicBezTo>
                  <a:pt x="4945339" y="0"/>
                  <a:pt x="4985472" y="40133"/>
                  <a:pt x="4985472" y="89639"/>
                </a:cubicBezTo>
                <a:lnTo>
                  <a:pt x="4985472" y="6699566"/>
                </a:lnTo>
                <a:cubicBezTo>
                  <a:pt x="4985472" y="6749072"/>
                  <a:pt x="4945339" y="6789205"/>
                  <a:pt x="4895833" y="6789205"/>
                </a:cubicBezTo>
                <a:lnTo>
                  <a:pt x="89639" y="6789205"/>
                </a:lnTo>
                <a:cubicBezTo>
                  <a:pt x="40133" y="6789205"/>
                  <a:pt x="0" y="6749072"/>
                  <a:pt x="0" y="6699566"/>
                </a:cubicBezTo>
                <a:lnTo>
                  <a:pt x="0" y="89639"/>
                </a:lnTo>
                <a:cubicBezTo>
                  <a:pt x="0" y="40166"/>
                  <a:pt x="40166" y="0"/>
                  <a:pt x="89639"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6" name="Shape 24"/>
          <p:cNvSpPr/>
          <p:nvPr/>
        </p:nvSpPr>
        <p:spPr>
          <a:xfrm>
            <a:off x="5816968" y="1669293"/>
            <a:ext cx="537759" cy="537759"/>
          </a:xfrm>
          <a:custGeom>
            <a:avLst/>
            <a:gdLst/>
            <a:ahLst/>
            <a:cxnLst/>
            <a:rect l="l" t="t" r="r" b="b"/>
            <a:pathLst>
              <a:path w="537759" h="537759">
                <a:moveTo>
                  <a:pt x="89628" y="0"/>
                </a:moveTo>
                <a:lnTo>
                  <a:pt x="448131" y="0"/>
                </a:lnTo>
                <a:cubicBezTo>
                  <a:pt x="497631" y="0"/>
                  <a:pt x="537759" y="40128"/>
                  <a:pt x="537759" y="89628"/>
                </a:cubicBezTo>
                <a:lnTo>
                  <a:pt x="537759" y="448131"/>
                </a:lnTo>
                <a:cubicBezTo>
                  <a:pt x="537759" y="497631"/>
                  <a:pt x="497631" y="537759"/>
                  <a:pt x="448131" y="537759"/>
                </a:cubicBezTo>
                <a:lnTo>
                  <a:pt x="89628" y="537759"/>
                </a:lnTo>
                <a:cubicBezTo>
                  <a:pt x="40128" y="537759"/>
                  <a:pt x="0" y="497631"/>
                  <a:pt x="0" y="448131"/>
                </a:cubicBezTo>
                <a:lnTo>
                  <a:pt x="0" y="89628"/>
                </a:lnTo>
                <a:cubicBezTo>
                  <a:pt x="0" y="40161"/>
                  <a:pt x="40161" y="0"/>
                  <a:pt x="89628" y="0"/>
                </a:cubicBezTo>
                <a:close/>
              </a:path>
            </a:pathLst>
          </a:custGeom>
          <a:solidFill>
            <a:srgbClr val="B38B59"/>
          </a:solidFill>
          <a:ln/>
        </p:spPr>
        <p:txBody>
          <a:bodyPr/>
          <a:lstStyle/>
          <a:p>
            <a:endParaRPr lang="zh-CN" altLang="en-US"/>
          </a:p>
        </p:txBody>
      </p:sp>
      <p:sp>
        <p:nvSpPr>
          <p:cNvPr id="27" name="Shape 25"/>
          <p:cNvSpPr/>
          <p:nvPr/>
        </p:nvSpPr>
        <p:spPr>
          <a:xfrm>
            <a:off x="5951407" y="1803733"/>
            <a:ext cx="268879" cy="268879"/>
          </a:xfrm>
          <a:custGeom>
            <a:avLst/>
            <a:gdLst/>
            <a:ahLst/>
            <a:cxnLst/>
            <a:rect l="l" t="t" r="r" b="b"/>
            <a:pathLst>
              <a:path w="268879" h="268879">
                <a:moveTo>
                  <a:pt x="176452" y="184855"/>
                </a:moveTo>
                <a:cubicBezTo>
                  <a:pt x="227497" y="184855"/>
                  <a:pt x="268879" y="143472"/>
                  <a:pt x="268879" y="92427"/>
                </a:cubicBezTo>
                <a:cubicBezTo>
                  <a:pt x="268879" y="41382"/>
                  <a:pt x="227497" y="0"/>
                  <a:pt x="176452" y="0"/>
                </a:cubicBezTo>
                <a:cubicBezTo>
                  <a:pt x="125407" y="0"/>
                  <a:pt x="84025" y="41382"/>
                  <a:pt x="84025" y="92427"/>
                </a:cubicBezTo>
                <a:cubicBezTo>
                  <a:pt x="84025" y="102248"/>
                  <a:pt x="85548" y="111753"/>
                  <a:pt x="88384" y="120628"/>
                </a:cubicBezTo>
                <a:lnTo>
                  <a:pt x="3676" y="205336"/>
                </a:lnTo>
                <a:cubicBezTo>
                  <a:pt x="1313" y="207699"/>
                  <a:pt x="0" y="210902"/>
                  <a:pt x="0" y="214263"/>
                </a:cubicBezTo>
                <a:lnTo>
                  <a:pt x="0" y="256276"/>
                </a:lnTo>
                <a:cubicBezTo>
                  <a:pt x="0" y="263260"/>
                  <a:pt x="5619" y="268879"/>
                  <a:pt x="12604" y="268879"/>
                </a:cubicBezTo>
                <a:lnTo>
                  <a:pt x="54616" y="268879"/>
                </a:lnTo>
                <a:cubicBezTo>
                  <a:pt x="61601" y="268879"/>
                  <a:pt x="67220" y="263260"/>
                  <a:pt x="67220" y="256276"/>
                </a:cubicBezTo>
                <a:lnTo>
                  <a:pt x="67220" y="235269"/>
                </a:lnTo>
                <a:lnTo>
                  <a:pt x="88226" y="235269"/>
                </a:lnTo>
                <a:cubicBezTo>
                  <a:pt x="95211" y="235269"/>
                  <a:pt x="100830" y="229650"/>
                  <a:pt x="100830" y="222666"/>
                </a:cubicBezTo>
                <a:lnTo>
                  <a:pt x="100830" y="201660"/>
                </a:lnTo>
                <a:lnTo>
                  <a:pt x="121836" y="201660"/>
                </a:lnTo>
                <a:cubicBezTo>
                  <a:pt x="125197" y="201660"/>
                  <a:pt x="128400" y="200347"/>
                  <a:pt x="130764" y="197983"/>
                </a:cubicBezTo>
                <a:lnTo>
                  <a:pt x="148251" y="180496"/>
                </a:lnTo>
                <a:cubicBezTo>
                  <a:pt x="157126" y="183332"/>
                  <a:pt x="166632" y="184855"/>
                  <a:pt x="176452" y="184855"/>
                </a:cubicBezTo>
                <a:close/>
                <a:moveTo>
                  <a:pt x="197458" y="50415"/>
                </a:moveTo>
                <a:cubicBezTo>
                  <a:pt x="209052" y="50415"/>
                  <a:pt x="218465" y="59827"/>
                  <a:pt x="218465" y="71421"/>
                </a:cubicBezTo>
                <a:cubicBezTo>
                  <a:pt x="218465" y="83015"/>
                  <a:pt x="209052" y="92427"/>
                  <a:pt x="197458" y="92427"/>
                </a:cubicBezTo>
                <a:cubicBezTo>
                  <a:pt x="185865" y="92427"/>
                  <a:pt x="176452" y="83015"/>
                  <a:pt x="176452" y="71421"/>
                </a:cubicBezTo>
                <a:cubicBezTo>
                  <a:pt x="176452" y="59827"/>
                  <a:pt x="185865" y="50415"/>
                  <a:pt x="197458" y="50415"/>
                </a:cubicBezTo>
                <a:close/>
              </a:path>
            </a:pathLst>
          </a:custGeom>
          <a:solidFill>
            <a:srgbClr val="FFFFFF"/>
          </a:solidFill>
          <a:ln/>
        </p:spPr>
        <p:txBody>
          <a:bodyPr/>
          <a:lstStyle/>
          <a:p>
            <a:endParaRPr lang="zh-CN" altLang="en-US"/>
          </a:p>
        </p:txBody>
      </p:sp>
      <p:sp>
        <p:nvSpPr>
          <p:cNvPr id="28" name="Text 26"/>
          <p:cNvSpPr/>
          <p:nvPr/>
        </p:nvSpPr>
        <p:spPr>
          <a:xfrm>
            <a:off x="6444353" y="1781326"/>
            <a:ext cx="1915766" cy="313693"/>
          </a:xfrm>
          <a:prstGeom prst="rect">
            <a:avLst/>
          </a:prstGeom>
          <a:noFill/>
          <a:ln/>
        </p:spPr>
        <p:txBody>
          <a:bodyPr wrap="square" lIns="0" tIns="0" rIns="0" bIns="0" rtlCol="0" anchor="ctr"/>
          <a:lstStyle/>
          <a:p>
            <a:pPr>
              <a:lnSpc>
                <a:spcPct val="120000"/>
              </a:lnSpc>
            </a:pPr>
            <a:r>
              <a:rPr lang="en-US" sz="1764" b="1" dirty="0">
                <a:solidFill>
                  <a:srgbClr val="E0E2E4"/>
                </a:solidFill>
                <a:latin typeface="MiSans" pitchFamily="34" charset="0"/>
                <a:ea typeface="MiSans" pitchFamily="34" charset="-122"/>
                <a:cs typeface="MiSans" pitchFamily="34" charset="-120"/>
              </a:rPr>
              <a:t>Linux Capabilities</a:t>
            </a:r>
            <a:endParaRPr lang="en-US" sz="1600" dirty="0"/>
          </a:p>
        </p:txBody>
      </p:sp>
      <p:sp>
        <p:nvSpPr>
          <p:cNvPr id="29" name="Shape 27"/>
          <p:cNvSpPr/>
          <p:nvPr/>
        </p:nvSpPr>
        <p:spPr>
          <a:xfrm>
            <a:off x="5816968" y="2341491"/>
            <a:ext cx="4615763" cy="1209957"/>
          </a:xfrm>
          <a:custGeom>
            <a:avLst/>
            <a:gdLst/>
            <a:ahLst/>
            <a:cxnLst/>
            <a:rect l="l" t="t" r="r" b="b"/>
            <a:pathLst>
              <a:path w="4615763" h="1209957">
                <a:moveTo>
                  <a:pt x="89622" y="0"/>
                </a:moveTo>
                <a:lnTo>
                  <a:pt x="4526141" y="0"/>
                </a:lnTo>
                <a:cubicBezTo>
                  <a:pt x="4575638" y="0"/>
                  <a:pt x="4615763" y="40125"/>
                  <a:pt x="4615763" y="89622"/>
                </a:cubicBezTo>
                <a:lnTo>
                  <a:pt x="4615763" y="1120336"/>
                </a:lnTo>
                <a:cubicBezTo>
                  <a:pt x="4615763" y="1169832"/>
                  <a:pt x="4575638" y="1209957"/>
                  <a:pt x="4526141" y="1209957"/>
                </a:cubicBezTo>
                <a:lnTo>
                  <a:pt x="89622" y="1209957"/>
                </a:lnTo>
                <a:cubicBezTo>
                  <a:pt x="40158" y="1209957"/>
                  <a:pt x="0" y="1169799"/>
                  <a:pt x="0" y="1120336"/>
                </a:cubicBezTo>
                <a:lnTo>
                  <a:pt x="0" y="89622"/>
                </a:lnTo>
                <a:cubicBezTo>
                  <a:pt x="0" y="40158"/>
                  <a:pt x="40158" y="0"/>
                  <a:pt x="89622" y="0"/>
                </a:cubicBezTo>
                <a:close/>
              </a:path>
            </a:pathLst>
          </a:custGeom>
          <a:solidFill>
            <a:srgbClr val="1A1D21">
              <a:alpha val="50196"/>
            </a:srgbClr>
          </a:solidFill>
          <a:ln/>
        </p:spPr>
        <p:txBody>
          <a:bodyPr/>
          <a:lstStyle/>
          <a:p>
            <a:endParaRPr lang="zh-CN" altLang="en-US"/>
          </a:p>
        </p:txBody>
      </p:sp>
      <p:sp>
        <p:nvSpPr>
          <p:cNvPr id="30" name="Text 28"/>
          <p:cNvSpPr/>
          <p:nvPr/>
        </p:nvSpPr>
        <p:spPr>
          <a:xfrm>
            <a:off x="5951407" y="2475931"/>
            <a:ext cx="4447713" cy="313693"/>
          </a:xfrm>
          <a:prstGeom prst="rect">
            <a:avLst/>
          </a:prstGeom>
          <a:noFill/>
          <a:ln/>
        </p:spPr>
        <p:txBody>
          <a:bodyPr wrap="square" lIns="0" tIns="0" rIns="0" bIns="0" rtlCol="0" anchor="ctr"/>
          <a:lstStyle/>
          <a:p>
            <a:pPr>
              <a:lnSpc>
                <a:spcPct val="130000"/>
              </a:lnSpc>
            </a:pPr>
            <a:r>
              <a:rPr lang="en-US" sz="1588" b="1" dirty="0">
                <a:solidFill>
                  <a:srgbClr val="3C8082"/>
                </a:solidFill>
                <a:latin typeface="MiSans" pitchFamily="34" charset="0"/>
                <a:ea typeface="MiSans" pitchFamily="34" charset="-122"/>
                <a:cs typeface="MiSans" pitchFamily="34" charset="-120"/>
              </a:rPr>
              <a:t>设计理念</a:t>
            </a:r>
            <a:endParaRPr lang="en-US" sz="1600" dirty="0"/>
          </a:p>
        </p:txBody>
      </p:sp>
      <p:sp>
        <p:nvSpPr>
          <p:cNvPr id="31" name="Text 29"/>
          <p:cNvSpPr/>
          <p:nvPr/>
        </p:nvSpPr>
        <p:spPr>
          <a:xfrm>
            <a:off x="5951407" y="2879250"/>
            <a:ext cx="4436510" cy="537759"/>
          </a:xfrm>
          <a:prstGeom prst="rect">
            <a:avLst/>
          </a:prstGeom>
          <a:noFill/>
          <a:ln/>
        </p:spPr>
        <p:txBody>
          <a:bodyPr wrap="square" lIns="0" tIns="0" rIns="0" bIns="0" rtlCol="0" anchor="ctr"/>
          <a:lstStyle/>
          <a:p>
            <a:pPr>
              <a:lnSpc>
                <a:spcPct val="130000"/>
              </a:lnSpc>
            </a:pPr>
            <a:r>
              <a:rPr lang="en-US" sz="1411" dirty="0">
                <a:solidFill>
                  <a:srgbClr val="E0E2E4">
                    <a:alpha val="80000"/>
                  </a:srgbClr>
                </a:solidFill>
                <a:latin typeface="MiSans" pitchFamily="34" charset="0"/>
                <a:ea typeface="MiSans" pitchFamily="34" charset="-122"/>
                <a:cs typeface="MiSans" pitchFamily="34" charset="-120"/>
              </a:rPr>
              <a:t>将传统的root权限分解为更细粒度的权限集合,实现最小权限原则</a:t>
            </a:r>
            <a:endParaRPr lang="en-US" sz="1600" dirty="0"/>
          </a:p>
        </p:txBody>
      </p:sp>
      <p:sp>
        <p:nvSpPr>
          <p:cNvPr id="32" name="Shape 30"/>
          <p:cNvSpPr/>
          <p:nvPr/>
        </p:nvSpPr>
        <p:spPr>
          <a:xfrm>
            <a:off x="5816968" y="3685888"/>
            <a:ext cx="4615763" cy="1926969"/>
          </a:xfrm>
          <a:custGeom>
            <a:avLst/>
            <a:gdLst/>
            <a:ahLst/>
            <a:cxnLst/>
            <a:rect l="l" t="t" r="r" b="b"/>
            <a:pathLst>
              <a:path w="4615763" h="1926969">
                <a:moveTo>
                  <a:pt x="89623" y="0"/>
                </a:moveTo>
                <a:lnTo>
                  <a:pt x="4526140" y="0"/>
                </a:lnTo>
                <a:cubicBezTo>
                  <a:pt x="4575637" y="0"/>
                  <a:pt x="4615763" y="40126"/>
                  <a:pt x="4615763" y="89623"/>
                </a:cubicBezTo>
                <a:lnTo>
                  <a:pt x="4615763" y="1837346"/>
                </a:lnTo>
                <a:cubicBezTo>
                  <a:pt x="4615763" y="1886843"/>
                  <a:pt x="4575637" y="1926969"/>
                  <a:pt x="4526140" y="1926969"/>
                </a:cubicBezTo>
                <a:lnTo>
                  <a:pt x="89623" y="1926969"/>
                </a:lnTo>
                <a:cubicBezTo>
                  <a:pt x="40126" y="1926969"/>
                  <a:pt x="0" y="1886843"/>
                  <a:pt x="0" y="1837346"/>
                </a:cubicBezTo>
                <a:lnTo>
                  <a:pt x="0" y="89623"/>
                </a:lnTo>
                <a:cubicBezTo>
                  <a:pt x="0" y="40126"/>
                  <a:pt x="40126" y="0"/>
                  <a:pt x="89623" y="0"/>
                </a:cubicBezTo>
                <a:close/>
              </a:path>
            </a:pathLst>
          </a:custGeom>
          <a:solidFill>
            <a:srgbClr val="1A1D21">
              <a:alpha val="50196"/>
            </a:srgbClr>
          </a:solidFill>
          <a:ln/>
        </p:spPr>
        <p:txBody>
          <a:bodyPr/>
          <a:lstStyle/>
          <a:p>
            <a:endParaRPr lang="zh-CN" altLang="en-US"/>
          </a:p>
        </p:txBody>
      </p:sp>
      <p:sp>
        <p:nvSpPr>
          <p:cNvPr id="33" name="Text 31"/>
          <p:cNvSpPr/>
          <p:nvPr/>
        </p:nvSpPr>
        <p:spPr>
          <a:xfrm>
            <a:off x="5951407" y="3820328"/>
            <a:ext cx="4447713" cy="313693"/>
          </a:xfrm>
          <a:prstGeom prst="rect">
            <a:avLst/>
          </a:prstGeom>
          <a:noFill/>
          <a:ln/>
        </p:spPr>
        <p:txBody>
          <a:bodyPr wrap="square" lIns="0" tIns="0" rIns="0" bIns="0" rtlCol="0" anchor="ctr"/>
          <a:lstStyle/>
          <a:p>
            <a:pPr>
              <a:lnSpc>
                <a:spcPct val="130000"/>
              </a:lnSpc>
            </a:pPr>
            <a:r>
              <a:rPr lang="en-US" sz="1588" b="1" dirty="0">
                <a:solidFill>
                  <a:srgbClr val="3C8082"/>
                </a:solidFill>
                <a:latin typeface="MiSans" pitchFamily="34" charset="0"/>
                <a:ea typeface="MiSans" pitchFamily="34" charset="-122"/>
                <a:cs typeface="MiSans" pitchFamily="34" charset="-120"/>
              </a:rPr>
              <a:t>常用Capabilities</a:t>
            </a:r>
            <a:endParaRPr lang="en-US" sz="1600" dirty="0"/>
          </a:p>
        </p:txBody>
      </p:sp>
      <p:sp>
        <p:nvSpPr>
          <p:cNvPr id="34" name="Shape 32"/>
          <p:cNvSpPr/>
          <p:nvPr/>
        </p:nvSpPr>
        <p:spPr>
          <a:xfrm>
            <a:off x="5951407" y="4223647"/>
            <a:ext cx="2128629" cy="582572"/>
          </a:xfrm>
          <a:custGeom>
            <a:avLst/>
            <a:gdLst/>
            <a:ahLst/>
            <a:cxnLst/>
            <a:rect l="l" t="t" r="r" b="b"/>
            <a:pathLst>
              <a:path w="2128629" h="582572">
                <a:moveTo>
                  <a:pt x="44811" y="0"/>
                </a:moveTo>
                <a:lnTo>
                  <a:pt x="2083817" y="0"/>
                </a:lnTo>
                <a:cubicBezTo>
                  <a:pt x="2108566" y="0"/>
                  <a:pt x="2128629" y="20063"/>
                  <a:pt x="2128629" y="44811"/>
                </a:cubicBezTo>
                <a:lnTo>
                  <a:pt x="2128629" y="537761"/>
                </a:lnTo>
                <a:cubicBezTo>
                  <a:pt x="2128629" y="562509"/>
                  <a:pt x="2108566" y="582572"/>
                  <a:pt x="2083817" y="582572"/>
                </a:cubicBezTo>
                <a:lnTo>
                  <a:pt x="44811" y="582572"/>
                </a:lnTo>
                <a:cubicBezTo>
                  <a:pt x="20079" y="582572"/>
                  <a:pt x="0" y="562493"/>
                  <a:pt x="0" y="537761"/>
                </a:cubicBezTo>
                <a:lnTo>
                  <a:pt x="0" y="44811"/>
                </a:lnTo>
                <a:cubicBezTo>
                  <a:pt x="0" y="20079"/>
                  <a:pt x="20079" y="0"/>
                  <a:pt x="44811" y="0"/>
                </a:cubicBezTo>
                <a:close/>
              </a:path>
            </a:pathLst>
          </a:custGeom>
          <a:solidFill>
            <a:srgbClr val="1A1D21">
              <a:alpha val="50196"/>
            </a:srgbClr>
          </a:solidFill>
          <a:ln/>
        </p:spPr>
        <p:txBody>
          <a:bodyPr/>
          <a:lstStyle/>
          <a:p>
            <a:endParaRPr lang="zh-CN" altLang="en-US"/>
          </a:p>
        </p:txBody>
      </p:sp>
      <p:sp>
        <p:nvSpPr>
          <p:cNvPr id="35" name="Text 33"/>
          <p:cNvSpPr/>
          <p:nvPr/>
        </p:nvSpPr>
        <p:spPr>
          <a:xfrm>
            <a:off x="6041034" y="4318875"/>
            <a:ext cx="1338883" cy="207261"/>
          </a:xfrm>
          <a:prstGeom prst="rect">
            <a:avLst/>
          </a:prstGeom>
          <a:noFill/>
          <a:ln/>
        </p:spPr>
        <p:txBody>
          <a:bodyPr wrap="square" lIns="0" tIns="0" rIns="0" bIns="0" rtlCol="0" anchor="ctr"/>
          <a:lstStyle/>
          <a:p>
            <a:pPr>
              <a:lnSpc>
                <a:spcPct val="120000"/>
              </a:lnSpc>
            </a:pPr>
            <a:r>
              <a:rPr lang="en-US" sz="1235" b="1" dirty="0">
                <a:solidFill>
                  <a:srgbClr val="E0E2E4"/>
                </a:solidFill>
                <a:latin typeface="MiSans" pitchFamily="34" charset="0"/>
                <a:ea typeface="MiSans" pitchFamily="34" charset="-122"/>
                <a:cs typeface="MiSans" pitchFamily="34" charset="-120"/>
              </a:rPr>
              <a:t>CAP_NET_ADMIN</a:t>
            </a:r>
            <a:endParaRPr lang="en-US" sz="1600" dirty="0"/>
          </a:p>
        </p:txBody>
      </p:sp>
      <p:sp>
        <p:nvSpPr>
          <p:cNvPr id="36" name="Text 34"/>
          <p:cNvSpPr/>
          <p:nvPr/>
        </p:nvSpPr>
        <p:spPr>
          <a:xfrm>
            <a:off x="6041034" y="4537340"/>
            <a:ext cx="2016595" cy="179253"/>
          </a:xfrm>
          <a:prstGeom prst="rect">
            <a:avLst/>
          </a:prstGeom>
          <a:noFill/>
          <a:ln/>
        </p:spPr>
        <p:txBody>
          <a:bodyPr wrap="square" lIns="0" tIns="0" rIns="0" bIns="0" rtlCol="0" anchor="ctr"/>
          <a:lstStyle/>
          <a:p>
            <a:pPr>
              <a:lnSpc>
                <a:spcPct val="110000"/>
              </a:lnSpc>
            </a:pPr>
            <a:r>
              <a:rPr lang="en-US" sz="1059" dirty="0">
                <a:solidFill>
                  <a:srgbClr val="E0E2E4">
                    <a:alpha val="70000"/>
                  </a:srgbClr>
                </a:solidFill>
                <a:latin typeface="MiSans" pitchFamily="34" charset="0"/>
                <a:ea typeface="MiSans" pitchFamily="34" charset="-122"/>
                <a:cs typeface="MiSans" pitchFamily="34" charset="-120"/>
              </a:rPr>
              <a:t>网络管理权限</a:t>
            </a:r>
            <a:endParaRPr lang="en-US" sz="1600" dirty="0"/>
          </a:p>
        </p:txBody>
      </p:sp>
      <p:sp>
        <p:nvSpPr>
          <p:cNvPr id="37" name="Shape 35"/>
          <p:cNvSpPr/>
          <p:nvPr/>
        </p:nvSpPr>
        <p:spPr>
          <a:xfrm>
            <a:off x="8170888" y="4223647"/>
            <a:ext cx="2128629" cy="582572"/>
          </a:xfrm>
          <a:custGeom>
            <a:avLst/>
            <a:gdLst/>
            <a:ahLst/>
            <a:cxnLst/>
            <a:rect l="l" t="t" r="r" b="b"/>
            <a:pathLst>
              <a:path w="2128629" h="582572">
                <a:moveTo>
                  <a:pt x="44811" y="0"/>
                </a:moveTo>
                <a:lnTo>
                  <a:pt x="2083817" y="0"/>
                </a:lnTo>
                <a:cubicBezTo>
                  <a:pt x="2108566" y="0"/>
                  <a:pt x="2128629" y="20063"/>
                  <a:pt x="2128629" y="44811"/>
                </a:cubicBezTo>
                <a:lnTo>
                  <a:pt x="2128629" y="537761"/>
                </a:lnTo>
                <a:cubicBezTo>
                  <a:pt x="2128629" y="562509"/>
                  <a:pt x="2108566" y="582572"/>
                  <a:pt x="2083817" y="582572"/>
                </a:cubicBezTo>
                <a:lnTo>
                  <a:pt x="44811" y="582572"/>
                </a:lnTo>
                <a:cubicBezTo>
                  <a:pt x="20079" y="582572"/>
                  <a:pt x="0" y="562493"/>
                  <a:pt x="0" y="537761"/>
                </a:cubicBezTo>
                <a:lnTo>
                  <a:pt x="0" y="44811"/>
                </a:lnTo>
                <a:cubicBezTo>
                  <a:pt x="0" y="20079"/>
                  <a:pt x="20079" y="0"/>
                  <a:pt x="44811" y="0"/>
                </a:cubicBezTo>
                <a:close/>
              </a:path>
            </a:pathLst>
          </a:custGeom>
          <a:solidFill>
            <a:srgbClr val="1A1D21">
              <a:alpha val="50196"/>
            </a:srgbClr>
          </a:solidFill>
          <a:ln/>
        </p:spPr>
        <p:txBody>
          <a:bodyPr/>
          <a:lstStyle/>
          <a:p>
            <a:endParaRPr lang="zh-CN" altLang="en-US"/>
          </a:p>
        </p:txBody>
      </p:sp>
      <p:sp>
        <p:nvSpPr>
          <p:cNvPr id="38" name="Text 36"/>
          <p:cNvSpPr/>
          <p:nvPr/>
        </p:nvSpPr>
        <p:spPr>
          <a:xfrm>
            <a:off x="8260514" y="4318875"/>
            <a:ext cx="1323478" cy="207261"/>
          </a:xfrm>
          <a:prstGeom prst="rect">
            <a:avLst/>
          </a:prstGeom>
          <a:noFill/>
          <a:ln/>
        </p:spPr>
        <p:txBody>
          <a:bodyPr wrap="square" lIns="0" tIns="0" rIns="0" bIns="0" rtlCol="0" anchor="ctr"/>
          <a:lstStyle/>
          <a:p>
            <a:pPr>
              <a:lnSpc>
                <a:spcPct val="120000"/>
              </a:lnSpc>
            </a:pPr>
            <a:r>
              <a:rPr lang="en-US" sz="1235" b="1" dirty="0">
                <a:solidFill>
                  <a:srgbClr val="E0E2E4"/>
                </a:solidFill>
                <a:latin typeface="MiSans" pitchFamily="34" charset="0"/>
                <a:ea typeface="MiSans" pitchFamily="34" charset="-122"/>
                <a:cs typeface="MiSans" pitchFamily="34" charset="-120"/>
              </a:rPr>
              <a:t>CAP_SYS_ADMIN</a:t>
            </a:r>
            <a:endParaRPr lang="en-US" sz="1600" dirty="0"/>
          </a:p>
        </p:txBody>
      </p:sp>
      <p:sp>
        <p:nvSpPr>
          <p:cNvPr id="39" name="Text 37"/>
          <p:cNvSpPr/>
          <p:nvPr/>
        </p:nvSpPr>
        <p:spPr>
          <a:xfrm>
            <a:off x="8260514" y="4537340"/>
            <a:ext cx="2016595" cy="179253"/>
          </a:xfrm>
          <a:prstGeom prst="rect">
            <a:avLst/>
          </a:prstGeom>
          <a:noFill/>
          <a:ln/>
        </p:spPr>
        <p:txBody>
          <a:bodyPr wrap="square" lIns="0" tIns="0" rIns="0" bIns="0" rtlCol="0" anchor="ctr"/>
          <a:lstStyle/>
          <a:p>
            <a:pPr>
              <a:lnSpc>
                <a:spcPct val="110000"/>
              </a:lnSpc>
            </a:pPr>
            <a:r>
              <a:rPr lang="en-US" sz="1059" dirty="0">
                <a:solidFill>
                  <a:srgbClr val="E0E2E4">
                    <a:alpha val="70000"/>
                  </a:srgbClr>
                </a:solidFill>
                <a:latin typeface="MiSans" pitchFamily="34" charset="0"/>
                <a:ea typeface="MiSans" pitchFamily="34" charset="-122"/>
                <a:cs typeface="MiSans" pitchFamily="34" charset="-120"/>
              </a:rPr>
              <a:t>系统管理权限</a:t>
            </a:r>
            <a:endParaRPr lang="en-US" sz="1600" dirty="0"/>
          </a:p>
        </p:txBody>
      </p:sp>
      <p:sp>
        <p:nvSpPr>
          <p:cNvPr id="40" name="Shape 38"/>
          <p:cNvSpPr/>
          <p:nvPr/>
        </p:nvSpPr>
        <p:spPr>
          <a:xfrm>
            <a:off x="5951407" y="4895846"/>
            <a:ext cx="2128629" cy="582572"/>
          </a:xfrm>
          <a:custGeom>
            <a:avLst/>
            <a:gdLst/>
            <a:ahLst/>
            <a:cxnLst/>
            <a:rect l="l" t="t" r="r" b="b"/>
            <a:pathLst>
              <a:path w="2128629" h="582572">
                <a:moveTo>
                  <a:pt x="44811" y="0"/>
                </a:moveTo>
                <a:lnTo>
                  <a:pt x="2083817" y="0"/>
                </a:lnTo>
                <a:cubicBezTo>
                  <a:pt x="2108566" y="0"/>
                  <a:pt x="2128629" y="20063"/>
                  <a:pt x="2128629" y="44811"/>
                </a:cubicBezTo>
                <a:lnTo>
                  <a:pt x="2128629" y="537761"/>
                </a:lnTo>
                <a:cubicBezTo>
                  <a:pt x="2128629" y="562509"/>
                  <a:pt x="2108566" y="582572"/>
                  <a:pt x="2083817" y="582572"/>
                </a:cubicBezTo>
                <a:lnTo>
                  <a:pt x="44811" y="582572"/>
                </a:lnTo>
                <a:cubicBezTo>
                  <a:pt x="20079" y="582572"/>
                  <a:pt x="0" y="562493"/>
                  <a:pt x="0" y="537761"/>
                </a:cubicBezTo>
                <a:lnTo>
                  <a:pt x="0" y="44811"/>
                </a:lnTo>
                <a:cubicBezTo>
                  <a:pt x="0" y="20079"/>
                  <a:pt x="20079" y="0"/>
                  <a:pt x="44811" y="0"/>
                </a:cubicBezTo>
                <a:close/>
              </a:path>
            </a:pathLst>
          </a:custGeom>
          <a:solidFill>
            <a:srgbClr val="1A1D21">
              <a:alpha val="50196"/>
            </a:srgbClr>
          </a:solidFill>
          <a:ln/>
        </p:spPr>
        <p:txBody>
          <a:bodyPr/>
          <a:lstStyle/>
          <a:p>
            <a:endParaRPr lang="zh-CN" altLang="en-US"/>
          </a:p>
        </p:txBody>
      </p:sp>
      <p:sp>
        <p:nvSpPr>
          <p:cNvPr id="41" name="Text 39"/>
          <p:cNvSpPr/>
          <p:nvPr/>
        </p:nvSpPr>
        <p:spPr>
          <a:xfrm>
            <a:off x="6041034" y="4991074"/>
            <a:ext cx="1620716" cy="207261"/>
          </a:xfrm>
          <a:prstGeom prst="rect">
            <a:avLst/>
          </a:prstGeom>
          <a:noFill/>
          <a:ln/>
        </p:spPr>
        <p:txBody>
          <a:bodyPr wrap="square" lIns="0" tIns="0" rIns="0" bIns="0" rtlCol="0" anchor="ctr"/>
          <a:lstStyle/>
          <a:p>
            <a:pPr>
              <a:lnSpc>
                <a:spcPct val="120000"/>
              </a:lnSpc>
            </a:pPr>
            <a:r>
              <a:rPr lang="en-US" sz="1235" b="1" dirty="0">
                <a:solidFill>
                  <a:srgbClr val="E0E2E4"/>
                </a:solidFill>
                <a:latin typeface="MiSans" pitchFamily="34" charset="0"/>
                <a:ea typeface="MiSans" pitchFamily="34" charset="-122"/>
                <a:cs typeface="MiSans" pitchFamily="34" charset="-120"/>
              </a:rPr>
              <a:t>CAP_DAC_OVERRIDE</a:t>
            </a:r>
            <a:endParaRPr lang="en-US" sz="1600" dirty="0"/>
          </a:p>
        </p:txBody>
      </p:sp>
      <p:sp>
        <p:nvSpPr>
          <p:cNvPr id="42" name="Text 40"/>
          <p:cNvSpPr/>
          <p:nvPr/>
        </p:nvSpPr>
        <p:spPr>
          <a:xfrm>
            <a:off x="6041034" y="5209538"/>
            <a:ext cx="2016595" cy="179253"/>
          </a:xfrm>
          <a:prstGeom prst="rect">
            <a:avLst/>
          </a:prstGeom>
          <a:noFill/>
          <a:ln/>
        </p:spPr>
        <p:txBody>
          <a:bodyPr wrap="square" lIns="0" tIns="0" rIns="0" bIns="0" rtlCol="0" anchor="ctr"/>
          <a:lstStyle/>
          <a:p>
            <a:pPr>
              <a:lnSpc>
                <a:spcPct val="110000"/>
              </a:lnSpc>
            </a:pPr>
            <a:r>
              <a:rPr lang="en-US" sz="1059" dirty="0">
                <a:solidFill>
                  <a:srgbClr val="E0E2E4">
                    <a:alpha val="70000"/>
                  </a:srgbClr>
                </a:solidFill>
                <a:latin typeface="MiSans" pitchFamily="34" charset="0"/>
                <a:ea typeface="MiSans" pitchFamily="34" charset="-122"/>
                <a:cs typeface="MiSans" pitchFamily="34" charset="-120"/>
              </a:rPr>
              <a:t>忽略文件权限检查</a:t>
            </a:r>
            <a:endParaRPr lang="en-US" sz="1600" dirty="0"/>
          </a:p>
        </p:txBody>
      </p:sp>
      <p:sp>
        <p:nvSpPr>
          <p:cNvPr id="43" name="Shape 41"/>
          <p:cNvSpPr/>
          <p:nvPr/>
        </p:nvSpPr>
        <p:spPr>
          <a:xfrm>
            <a:off x="8170888" y="4895846"/>
            <a:ext cx="2128629" cy="582572"/>
          </a:xfrm>
          <a:custGeom>
            <a:avLst/>
            <a:gdLst/>
            <a:ahLst/>
            <a:cxnLst/>
            <a:rect l="l" t="t" r="r" b="b"/>
            <a:pathLst>
              <a:path w="2128629" h="582572">
                <a:moveTo>
                  <a:pt x="44811" y="0"/>
                </a:moveTo>
                <a:lnTo>
                  <a:pt x="2083817" y="0"/>
                </a:lnTo>
                <a:cubicBezTo>
                  <a:pt x="2108566" y="0"/>
                  <a:pt x="2128629" y="20063"/>
                  <a:pt x="2128629" y="44811"/>
                </a:cubicBezTo>
                <a:lnTo>
                  <a:pt x="2128629" y="537761"/>
                </a:lnTo>
                <a:cubicBezTo>
                  <a:pt x="2128629" y="562509"/>
                  <a:pt x="2108566" y="582572"/>
                  <a:pt x="2083817" y="582572"/>
                </a:cubicBezTo>
                <a:lnTo>
                  <a:pt x="44811" y="582572"/>
                </a:lnTo>
                <a:cubicBezTo>
                  <a:pt x="20079" y="582572"/>
                  <a:pt x="0" y="562493"/>
                  <a:pt x="0" y="537761"/>
                </a:cubicBezTo>
                <a:lnTo>
                  <a:pt x="0" y="44811"/>
                </a:lnTo>
                <a:cubicBezTo>
                  <a:pt x="0" y="20079"/>
                  <a:pt x="20079" y="0"/>
                  <a:pt x="44811" y="0"/>
                </a:cubicBezTo>
                <a:close/>
              </a:path>
            </a:pathLst>
          </a:custGeom>
          <a:solidFill>
            <a:srgbClr val="1A1D21">
              <a:alpha val="50196"/>
            </a:srgbClr>
          </a:solidFill>
          <a:ln/>
        </p:spPr>
        <p:txBody>
          <a:bodyPr/>
          <a:lstStyle/>
          <a:p>
            <a:endParaRPr lang="zh-CN" altLang="en-US"/>
          </a:p>
        </p:txBody>
      </p:sp>
      <p:sp>
        <p:nvSpPr>
          <p:cNvPr id="44" name="Text 42"/>
          <p:cNvSpPr/>
          <p:nvPr/>
        </p:nvSpPr>
        <p:spPr>
          <a:xfrm>
            <a:off x="8260514" y="4991074"/>
            <a:ext cx="1614589" cy="207261"/>
          </a:xfrm>
          <a:prstGeom prst="rect">
            <a:avLst/>
          </a:prstGeom>
          <a:noFill/>
          <a:ln/>
        </p:spPr>
        <p:txBody>
          <a:bodyPr wrap="square" lIns="0" tIns="0" rIns="0" bIns="0" rtlCol="0" anchor="ctr"/>
          <a:lstStyle/>
          <a:p>
            <a:pPr>
              <a:lnSpc>
                <a:spcPct val="120000"/>
              </a:lnSpc>
            </a:pPr>
            <a:r>
              <a:rPr lang="en-US" sz="1235" b="1" dirty="0">
                <a:solidFill>
                  <a:srgbClr val="E0E2E4"/>
                </a:solidFill>
                <a:latin typeface="MiSans" pitchFamily="34" charset="0"/>
                <a:ea typeface="MiSans" pitchFamily="34" charset="-122"/>
                <a:cs typeface="MiSans" pitchFamily="34" charset="-120"/>
              </a:rPr>
              <a:t>CAP_SETUID/SETGID</a:t>
            </a:r>
            <a:endParaRPr lang="en-US" sz="1600" dirty="0"/>
          </a:p>
        </p:txBody>
      </p:sp>
      <p:sp>
        <p:nvSpPr>
          <p:cNvPr id="45" name="Text 43"/>
          <p:cNvSpPr/>
          <p:nvPr/>
        </p:nvSpPr>
        <p:spPr>
          <a:xfrm>
            <a:off x="8260514" y="5209538"/>
            <a:ext cx="2016595" cy="179253"/>
          </a:xfrm>
          <a:prstGeom prst="rect">
            <a:avLst/>
          </a:prstGeom>
          <a:noFill/>
          <a:ln/>
        </p:spPr>
        <p:txBody>
          <a:bodyPr wrap="square" lIns="0" tIns="0" rIns="0" bIns="0" rtlCol="0" anchor="ctr"/>
          <a:lstStyle/>
          <a:p>
            <a:pPr>
              <a:lnSpc>
                <a:spcPct val="110000"/>
              </a:lnSpc>
            </a:pPr>
            <a:r>
              <a:rPr lang="en-US" sz="1059" dirty="0">
                <a:solidFill>
                  <a:srgbClr val="E0E2E4">
                    <a:alpha val="70000"/>
                  </a:srgbClr>
                </a:solidFill>
                <a:latin typeface="MiSans" pitchFamily="34" charset="0"/>
                <a:ea typeface="MiSans" pitchFamily="34" charset="-122"/>
                <a:cs typeface="MiSans" pitchFamily="34" charset="-120"/>
              </a:rPr>
              <a:t>设置用户/组ID</a:t>
            </a:r>
            <a:endParaRPr lang="en-US" sz="1600" dirty="0"/>
          </a:p>
        </p:txBody>
      </p:sp>
      <p:sp>
        <p:nvSpPr>
          <p:cNvPr id="46" name="Shape 44"/>
          <p:cNvSpPr/>
          <p:nvPr/>
        </p:nvSpPr>
        <p:spPr>
          <a:xfrm>
            <a:off x="5816968" y="5747297"/>
            <a:ext cx="4615763" cy="1568463"/>
          </a:xfrm>
          <a:custGeom>
            <a:avLst/>
            <a:gdLst/>
            <a:ahLst/>
            <a:cxnLst/>
            <a:rect l="l" t="t" r="r" b="b"/>
            <a:pathLst>
              <a:path w="4615763" h="1568463">
                <a:moveTo>
                  <a:pt x="89622" y="0"/>
                </a:moveTo>
                <a:lnTo>
                  <a:pt x="4526141" y="0"/>
                </a:lnTo>
                <a:cubicBezTo>
                  <a:pt x="4575638" y="0"/>
                  <a:pt x="4615763" y="40125"/>
                  <a:pt x="4615763" y="89622"/>
                </a:cubicBezTo>
                <a:lnTo>
                  <a:pt x="4615763" y="1478841"/>
                </a:lnTo>
                <a:cubicBezTo>
                  <a:pt x="4615763" y="1528338"/>
                  <a:pt x="4575638" y="1568463"/>
                  <a:pt x="4526141" y="1568463"/>
                </a:cubicBezTo>
                <a:lnTo>
                  <a:pt x="89622" y="1568463"/>
                </a:lnTo>
                <a:cubicBezTo>
                  <a:pt x="40158" y="1568463"/>
                  <a:pt x="0" y="1528305"/>
                  <a:pt x="0" y="1478841"/>
                </a:cubicBezTo>
                <a:lnTo>
                  <a:pt x="0" y="89622"/>
                </a:lnTo>
                <a:cubicBezTo>
                  <a:pt x="0" y="40158"/>
                  <a:pt x="40158" y="0"/>
                  <a:pt x="89622" y="0"/>
                </a:cubicBezTo>
                <a:close/>
              </a:path>
            </a:pathLst>
          </a:custGeom>
          <a:solidFill>
            <a:srgbClr val="1A1D21">
              <a:alpha val="50196"/>
            </a:srgbClr>
          </a:solidFill>
          <a:ln/>
        </p:spPr>
        <p:txBody>
          <a:bodyPr/>
          <a:lstStyle/>
          <a:p>
            <a:endParaRPr lang="zh-CN" altLang="en-US"/>
          </a:p>
        </p:txBody>
      </p:sp>
      <p:sp>
        <p:nvSpPr>
          <p:cNvPr id="47" name="Text 45"/>
          <p:cNvSpPr/>
          <p:nvPr/>
        </p:nvSpPr>
        <p:spPr>
          <a:xfrm>
            <a:off x="5951407" y="5881737"/>
            <a:ext cx="4447713" cy="313693"/>
          </a:xfrm>
          <a:prstGeom prst="rect">
            <a:avLst/>
          </a:prstGeom>
          <a:noFill/>
          <a:ln/>
        </p:spPr>
        <p:txBody>
          <a:bodyPr wrap="square" lIns="0" tIns="0" rIns="0" bIns="0" rtlCol="0" anchor="ctr"/>
          <a:lstStyle/>
          <a:p>
            <a:pPr>
              <a:lnSpc>
                <a:spcPct val="130000"/>
              </a:lnSpc>
            </a:pPr>
            <a:r>
              <a:rPr lang="en-US" sz="1588" b="1" dirty="0">
                <a:solidFill>
                  <a:srgbClr val="3C8082"/>
                </a:solidFill>
                <a:latin typeface="MiSans" pitchFamily="34" charset="0"/>
                <a:ea typeface="MiSans" pitchFamily="34" charset="-122"/>
                <a:cs typeface="MiSans" pitchFamily="34" charset="-120"/>
              </a:rPr>
              <a:t>操作示例</a:t>
            </a:r>
            <a:endParaRPr lang="en-US" sz="1600" dirty="0"/>
          </a:p>
        </p:txBody>
      </p:sp>
      <p:sp>
        <p:nvSpPr>
          <p:cNvPr id="48" name="Shape 46"/>
          <p:cNvSpPr/>
          <p:nvPr/>
        </p:nvSpPr>
        <p:spPr>
          <a:xfrm>
            <a:off x="5951407" y="6285056"/>
            <a:ext cx="4346884" cy="896265"/>
          </a:xfrm>
          <a:custGeom>
            <a:avLst/>
            <a:gdLst/>
            <a:ahLst/>
            <a:cxnLst/>
            <a:rect l="l" t="t" r="r" b="b"/>
            <a:pathLst>
              <a:path w="4346884" h="896265">
                <a:moveTo>
                  <a:pt x="44813" y="0"/>
                </a:moveTo>
                <a:lnTo>
                  <a:pt x="4302070" y="0"/>
                </a:lnTo>
                <a:cubicBezTo>
                  <a:pt x="4326820" y="0"/>
                  <a:pt x="4346884" y="20064"/>
                  <a:pt x="4346884" y="44813"/>
                </a:cubicBezTo>
                <a:lnTo>
                  <a:pt x="4346884" y="851451"/>
                </a:lnTo>
                <a:cubicBezTo>
                  <a:pt x="4346884" y="876201"/>
                  <a:pt x="4326820" y="896265"/>
                  <a:pt x="4302070" y="896265"/>
                </a:cubicBezTo>
                <a:lnTo>
                  <a:pt x="44813" y="896265"/>
                </a:lnTo>
                <a:cubicBezTo>
                  <a:pt x="20064" y="896265"/>
                  <a:pt x="0" y="876201"/>
                  <a:pt x="0" y="851451"/>
                </a:cubicBezTo>
                <a:lnTo>
                  <a:pt x="0" y="44813"/>
                </a:lnTo>
                <a:cubicBezTo>
                  <a:pt x="0" y="20064"/>
                  <a:pt x="20064" y="0"/>
                  <a:pt x="44813" y="0"/>
                </a:cubicBezTo>
                <a:close/>
              </a:path>
            </a:pathLst>
          </a:custGeom>
          <a:solidFill>
            <a:srgbClr val="1A1D21">
              <a:alpha val="70196"/>
            </a:srgbClr>
          </a:solidFill>
          <a:ln/>
        </p:spPr>
        <p:txBody>
          <a:bodyPr/>
          <a:lstStyle/>
          <a:p>
            <a:endParaRPr lang="zh-CN" altLang="en-US"/>
          </a:p>
        </p:txBody>
      </p:sp>
      <p:sp>
        <p:nvSpPr>
          <p:cNvPr id="49" name="Text 47"/>
          <p:cNvSpPr/>
          <p:nvPr/>
        </p:nvSpPr>
        <p:spPr>
          <a:xfrm>
            <a:off x="6041034" y="6374682"/>
            <a:ext cx="4234850"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 查看进程capabilities</a:t>
            </a:r>
            <a:endParaRPr lang="en-US" sz="1600" dirty="0"/>
          </a:p>
        </p:txBody>
      </p:sp>
      <p:sp>
        <p:nvSpPr>
          <p:cNvPr id="50" name="Text 48"/>
          <p:cNvSpPr/>
          <p:nvPr/>
        </p:nvSpPr>
        <p:spPr>
          <a:xfrm>
            <a:off x="6041034" y="6553935"/>
            <a:ext cx="4234850"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cat /proc/$PID/status | grep Cap</a:t>
            </a:r>
            <a:endParaRPr lang="en-US" sz="1600" dirty="0"/>
          </a:p>
        </p:txBody>
      </p:sp>
      <p:sp>
        <p:nvSpPr>
          <p:cNvPr id="51" name="Text 49"/>
          <p:cNvSpPr/>
          <p:nvPr/>
        </p:nvSpPr>
        <p:spPr>
          <a:xfrm>
            <a:off x="6041034" y="6733188"/>
            <a:ext cx="4234850"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 设置capabilities</a:t>
            </a:r>
            <a:endParaRPr lang="en-US" sz="1600" dirty="0"/>
          </a:p>
        </p:txBody>
      </p:sp>
      <p:sp>
        <p:nvSpPr>
          <p:cNvPr id="52" name="Text 50"/>
          <p:cNvSpPr/>
          <p:nvPr/>
        </p:nvSpPr>
        <p:spPr>
          <a:xfrm>
            <a:off x="6041034" y="6912441"/>
            <a:ext cx="4234850"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capsh --drop=cap_net_admin ...</a:t>
            </a:r>
            <a:endParaRPr lang="en-US" sz="1600" dirty="0"/>
          </a:p>
        </p:txBody>
      </p:sp>
      <p:sp>
        <p:nvSpPr>
          <p:cNvPr id="53" name="Shape 51"/>
          <p:cNvSpPr/>
          <p:nvPr/>
        </p:nvSpPr>
        <p:spPr>
          <a:xfrm>
            <a:off x="10810492" y="1484438"/>
            <a:ext cx="4985472" cy="5985893"/>
          </a:xfrm>
          <a:custGeom>
            <a:avLst/>
            <a:gdLst/>
            <a:ahLst/>
            <a:cxnLst/>
            <a:rect l="l" t="t" r="r" b="b"/>
            <a:pathLst>
              <a:path w="4985472" h="6789205">
                <a:moveTo>
                  <a:pt x="89639" y="0"/>
                </a:moveTo>
                <a:lnTo>
                  <a:pt x="4895833" y="0"/>
                </a:lnTo>
                <a:cubicBezTo>
                  <a:pt x="4945339" y="0"/>
                  <a:pt x="4985472" y="40133"/>
                  <a:pt x="4985472" y="89639"/>
                </a:cubicBezTo>
                <a:lnTo>
                  <a:pt x="4985472" y="6699566"/>
                </a:lnTo>
                <a:cubicBezTo>
                  <a:pt x="4985472" y="6749072"/>
                  <a:pt x="4945339" y="6789205"/>
                  <a:pt x="4895833" y="6789205"/>
                </a:cubicBezTo>
                <a:lnTo>
                  <a:pt x="89639" y="6789205"/>
                </a:lnTo>
                <a:cubicBezTo>
                  <a:pt x="40133" y="6789205"/>
                  <a:pt x="0" y="6749072"/>
                  <a:pt x="0" y="6699566"/>
                </a:cubicBezTo>
                <a:lnTo>
                  <a:pt x="0" y="89639"/>
                </a:lnTo>
                <a:cubicBezTo>
                  <a:pt x="0" y="40166"/>
                  <a:pt x="40166" y="0"/>
                  <a:pt x="8963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54" name="Shape 52"/>
          <p:cNvSpPr/>
          <p:nvPr/>
        </p:nvSpPr>
        <p:spPr>
          <a:xfrm>
            <a:off x="10995347" y="1669293"/>
            <a:ext cx="537759" cy="537759"/>
          </a:xfrm>
          <a:custGeom>
            <a:avLst/>
            <a:gdLst/>
            <a:ahLst/>
            <a:cxnLst/>
            <a:rect l="l" t="t" r="r" b="b"/>
            <a:pathLst>
              <a:path w="537759" h="537759">
                <a:moveTo>
                  <a:pt x="89628" y="0"/>
                </a:moveTo>
                <a:lnTo>
                  <a:pt x="448131" y="0"/>
                </a:lnTo>
                <a:cubicBezTo>
                  <a:pt x="497631" y="0"/>
                  <a:pt x="537759" y="40128"/>
                  <a:pt x="537759" y="89628"/>
                </a:cubicBezTo>
                <a:lnTo>
                  <a:pt x="537759" y="448131"/>
                </a:lnTo>
                <a:cubicBezTo>
                  <a:pt x="537759" y="497631"/>
                  <a:pt x="497631" y="537759"/>
                  <a:pt x="448131" y="537759"/>
                </a:cubicBezTo>
                <a:lnTo>
                  <a:pt x="89628" y="537759"/>
                </a:lnTo>
                <a:cubicBezTo>
                  <a:pt x="40128" y="537759"/>
                  <a:pt x="0" y="497631"/>
                  <a:pt x="0" y="448131"/>
                </a:cubicBezTo>
                <a:lnTo>
                  <a:pt x="0" y="89628"/>
                </a:lnTo>
                <a:cubicBezTo>
                  <a:pt x="0" y="40161"/>
                  <a:pt x="40161" y="0"/>
                  <a:pt x="89628" y="0"/>
                </a:cubicBezTo>
                <a:close/>
              </a:path>
            </a:pathLst>
          </a:custGeom>
          <a:solidFill>
            <a:srgbClr val="3C8082"/>
          </a:solidFill>
          <a:ln/>
        </p:spPr>
        <p:txBody>
          <a:bodyPr/>
          <a:lstStyle/>
          <a:p>
            <a:endParaRPr lang="zh-CN" altLang="en-US"/>
          </a:p>
        </p:txBody>
      </p:sp>
      <p:sp>
        <p:nvSpPr>
          <p:cNvPr id="55" name="Shape 53"/>
          <p:cNvSpPr/>
          <p:nvPr/>
        </p:nvSpPr>
        <p:spPr>
          <a:xfrm>
            <a:off x="11129786" y="1803733"/>
            <a:ext cx="268879" cy="268879"/>
          </a:xfrm>
          <a:custGeom>
            <a:avLst/>
            <a:gdLst/>
            <a:ahLst/>
            <a:cxnLst/>
            <a:rect l="l" t="t" r="r" b="b"/>
            <a:pathLst>
              <a:path w="268879" h="268879">
                <a:moveTo>
                  <a:pt x="16805" y="33610"/>
                </a:moveTo>
                <a:cubicBezTo>
                  <a:pt x="10030" y="33610"/>
                  <a:pt x="3886" y="37706"/>
                  <a:pt x="1260" y="44008"/>
                </a:cubicBezTo>
                <a:cubicBezTo>
                  <a:pt x="-1365" y="50310"/>
                  <a:pt x="105" y="57504"/>
                  <a:pt x="4936" y="62283"/>
                </a:cubicBezTo>
                <a:lnTo>
                  <a:pt x="100830" y="158229"/>
                </a:lnTo>
                <a:lnTo>
                  <a:pt x="100830" y="218465"/>
                </a:lnTo>
                <a:cubicBezTo>
                  <a:pt x="100830" y="222928"/>
                  <a:pt x="102615" y="227182"/>
                  <a:pt x="105766" y="230333"/>
                </a:cubicBezTo>
                <a:lnTo>
                  <a:pt x="139376" y="263943"/>
                </a:lnTo>
                <a:cubicBezTo>
                  <a:pt x="144208" y="268774"/>
                  <a:pt x="151402" y="270192"/>
                  <a:pt x="157704" y="267567"/>
                </a:cubicBezTo>
                <a:cubicBezTo>
                  <a:pt x="164006" y="264941"/>
                  <a:pt x="168050" y="258849"/>
                  <a:pt x="168050" y="252074"/>
                </a:cubicBezTo>
                <a:lnTo>
                  <a:pt x="168050" y="158229"/>
                </a:lnTo>
                <a:lnTo>
                  <a:pt x="263943" y="62336"/>
                </a:lnTo>
                <a:cubicBezTo>
                  <a:pt x="268774" y="57504"/>
                  <a:pt x="270192" y="50310"/>
                  <a:pt x="267567" y="44008"/>
                </a:cubicBezTo>
                <a:cubicBezTo>
                  <a:pt x="264941" y="37706"/>
                  <a:pt x="258849" y="33610"/>
                  <a:pt x="252074" y="33610"/>
                </a:cubicBezTo>
                <a:lnTo>
                  <a:pt x="16805" y="33610"/>
                </a:lnTo>
                <a:close/>
              </a:path>
            </a:pathLst>
          </a:custGeom>
          <a:solidFill>
            <a:srgbClr val="FFFFFF"/>
          </a:solidFill>
          <a:ln/>
        </p:spPr>
        <p:txBody>
          <a:bodyPr/>
          <a:lstStyle/>
          <a:p>
            <a:endParaRPr lang="zh-CN" altLang="en-US"/>
          </a:p>
        </p:txBody>
      </p:sp>
      <p:sp>
        <p:nvSpPr>
          <p:cNvPr id="56" name="Text 54"/>
          <p:cNvSpPr/>
          <p:nvPr/>
        </p:nvSpPr>
        <p:spPr>
          <a:xfrm>
            <a:off x="11622732" y="1781326"/>
            <a:ext cx="1064314" cy="313693"/>
          </a:xfrm>
          <a:prstGeom prst="rect">
            <a:avLst/>
          </a:prstGeom>
          <a:noFill/>
          <a:ln/>
        </p:spPr>
        <p:txBody>
          <a:bodyPr wrap="square" lIns="0" tIns="0" rIns="0" bIns="0" rtlCol="0" anchor="ctr"/>
          <a:lstStyle/>
          <a:p>
            <a:pPr>
              <a:lnSpc>
                <a:spcPct val="120000"/>
              </a:lnSpc>
            </a:pPr>
            <a:r>
              <a:rPr lang="en-US" sz="1764" b="1" dirty="0">
                <a:solidFill>
                  <a:srgbClr val="E0E2E4"/>
                </a:solidFill>
                <a:latin typeface="MiSans" pitchFamily="34" charset="0"/>
                <a:ea typeface="MiSans" pitchFamily="34" charset="-122"/>
                <a:cs typeface="MiSans" pitchFamily="34" charset="-120"/>
              </a:rPr>
              <a:t>Seccomp</a:t>
            </a:r>
            <a:endParaRPr lang="en-US" sz="1600" dirty="0"/>
          </a:p>
        </p:txBody>
      </p:sp>
      <p:sp>
        <p:nvSpPr>
          <p:cNvPr id="57" name="Shape 55"/>
          <p:cNvSpPr/>
          <p:nvPr/>
        </p:nvSpPr>
        <p:spPr>
          <a:xfrm>
            <a:off x="10995347" y="2341491"/>
            <a:ext cx="4615763" cy="941078"/>
          </a:xfrm>
          <a:custGeom>
            <a:avLst/>
            <a:gdLst/>
            <a:ahLst/>
            <a:cxnLst/>
            <a:rect l="l" t="t" r="r" b="b"/>
            <a:pathLst>
              <a:path w="4615763" h="941078">
                <a:moveTo>
                  <a:pt x="89628" y="0"/>
                </a:moveTo>
                <a:lnTo>
                  <a:pt x="4526135" y="0"/>
                </a:lnTo>
                <a:cubicBezTo>
                  <a:pt x="4575635" y="0"/>
                  <a:pt x="4615763" y="40128"/>
                  <a:pt x="4615763" y="89628"/>
                </a:cubicBezTo>
                <a:lnTo>
                  <a:pt x="4615763" y="851450"/>
                </a:lnTo>
                <a:cubicBezTo>
                  <a:pt x="4615763" y="900950"/>
                  <a:pt x="4575635" y="941078"/>
                  <a:pt x="4526135" y="941078"/>
                </a:cubicBezTo>
                <a:lnTo>
                  <a:pt x="89628" y="941078"/>
                </a:lnTo>
                <a:cubicBezTo>
                  <a:pt x="40128" y="941078"/>
                  <a:pt x="0" y="900950"/>
                  <a:pt x="0" y="851450"/>
                </a:cubicBezTo>
                <a:lnTo>
                  <a:pt x="0" y="89628"/>
                </a:lnTo>
                <a:cubicBezTo>
                  <a:pt x="0" y="40128"/>
                  <a:pt x="40128" y="0"/>
                  <a:pt x="89628" y="0"/>
                </a:cubicBezTo>
                <a:close/>
              </a:path>
            </a:pathLst>
          </a:custGeom>
          <a:solidFill>
            <a:srgbClr val="1A1D21">
              <a:alpha val="50196"/>
            </a:srgbClr>
          </a:solidFill>
          <a:ln/>
        </p:spPr>
        <p:txBody>
          <a:bodyPr/>
          <a:lstStyle/>
          <a:p>
            <a:endParaRPr lang="zh-CN" altLang="en-US"/>
          </a:p>
        </p:txBody>
      </p:sp>
      <p:sp>
        <p:nvSpPr>
          <p:cNvPr id="58" name="Text 56"/>
          <p:cNvSpPr/>
          <p:nvPr/>
        </p:nvSpPr>
        <p:spPr>
          <a:xfrm>
            <a:off x="11129786" y="2475931"/>
            <a:ext cx="4447713" cy="313693"/>
          </a:xfrm>
          <a:prstGeom prst="rect">
            <a:avLst/>
          </a:prstGeom>
          <a:noFill/>
          <a:ln/>
        </p:spPr>
        <p:txBody>
          <a:bodyPr wrap="square" lIns="0" tIns="0" rIns="0" bIns="0" rtlCol="0" anchor="ctr"/>
          <a:lstStyle/>
          <a:p>
            <a:pPr>
              <a:lnSpc>
                <a:spcPct val="130000"/>
              </a:lnSpc>
            </a:pPr>
            <a:r>
              <a:rPr lang="en-US" sz="1588" b="1" dirty="0">
                <a:solidFill>
                  <a:srgbClr val="B38B59"/>
                </a:solidFill>
                <a:latin typeface="MiSans" pitchFamily="34" charset="0"/>
                <a:ea typeface="MiSans" pitchFamily="34" charset="-122"/>
                <a:cs typeface="MiSans" pitchFamily="34" charset="-120"/>
              </a:rPr>
              <a:t>Secure Computing</a:t>
            </a:r>
            <a:endParaRPr lang="en-US" sz="1600" dirty="0"/>
          </a:p>
        </p:txBody>
      </p:sp>
      <p:sp>
        <p:nvSpPr>
          <p:cNvPr id="59" name="Text 57"/>
          <p:cNvSpPr/>
          <p:nvPr/>
        </p:nvSpPr>
        <p:spPr>
          <a:xfrm>
            <a:off x="11129786" y="2879250"/>
            <a:ext cx="4436510" cy="268879"/>
          </a:xfrm>
          <a:prstGeom prst="rect">
            <a:avLst/>
          </a:prstGeom>
          <a:noFill/>
          <a:ln/>
        </p:spPr>
        <p:txBody>
          <a:bodyPr wrap="square" lIns="0" tIns="0" rIns="0" bIns="0" rtlCol="0" anchor="ctr"/>
          <a:lstStyle/>
          <a:p>
            <a:pPr>
              <a:lnSpc>
                <a:spcPct val="130000"/>
              </a:lnSpc>
            </a:pPr>
            <a:r>
              <a:rPr lang="en-US" sz="1411" dirty="0">
                <a:solidFill>
                  <a:srgbClr val="E0E2E4">
                    <a:alpha val="80000"/>
                  </a:srgbClr>
                </a:solidFill>
                <a:latin typeface="MiSans" pitchFamily="34" charset="0"/>
                <a:ea typeface="MiSans" pitchFamily="34" charset="-122"/>
                <a:cs typeface="MiSans" pitchFamily="34" charset="-120"/>
              </a:rPr>
              <a:t>提供系统调用过滤机制,从根本上防止恶意代码执行</a:t>
            </a:r>
            <a:endParaRPr lang="en-US" sz="1600" dirty="0"/>
          </a:p>
        </p:txBody>
      </p:sp>
      <p:sp>
        <p:nvSpPr>
          <p:cNvPr id="60" name="Shape 58"/>
          <p:cNvSpPr/>
          <p:nvPr/>
        </p:nvSpPr>
        <p:spPr>
          <a:xfrm>
            <a:off x="10995347" y="3417009"/>
            <a:ext cx="4615763" cy="1926969"/>
          </a:xfrm>
          <a:custGeom>
            <a:avLst/>
            <a:gdLst/>
            <a:ahLst/>
            <a:cxnLst/>
            <a:rect l="l" t="t" r="r" b="b"/>
            <a:pathLst>
              <a:path w="4615763" h="1926969">
                <a:moveTo>
                  <a:pt x="89623" y="0"/>
                </a:moveTo>
                <a:lnTo>
                  <a:pt x="4526140" y="0"/>
                </a:lnTo>
                <a:cubicBezTo>
                  <a:pt x="4575637" y="0"/>
                  <a:pt x="4615763" y="40126"/>
                  <a:pt x="4615763" y="89623"/>
                </a:cubicBezTo>
                <a:lnTo>
                  <a:pt x="4615763" y="1837346"/>
                </a:lnTo>
                <a:cubicBezTo>
                  <a:pt x="4615763" y="1886843"/>
                  <a:pt x="4575637" y="1926969"/>
                  <a:pt x="4526140" y="1926969"/>
                </a:cubicBezTo>
                <a:lnTo>
                  <a:pt x="89623" y="1926969"/>
                </a:lnTo>
                <a:cubicBezTo>
                  <a:pt x="40126" y="1926969"/>
                  <a:pt x="0" y="1886843"/>
                  <a:pt x="0" y="1837346"/>
                </a:cubicBezTo>
                <a:lnTo>
                  <a:pt x="0" y="89623"/>
                </a:lnTo>
                <a:cubicBezTo>
                  <a:pt x="0" y="40126"/>
                  <a:pt x="40126" y="0"/>
                  <a:pt x="89623" y="0"/>
                </a:cubicBezTo>
                <a:close/>
              </a:path>
            </a:pathLst>
          </a:custGeom>
          <a:solidFill>
            <a:srgbClr val="1A1D21">
              <a:alpha val="50196"/>
            </a:srgbClr>
          </a:solidFill>
          <a:ln/>
        </p:spPr>
        <p:txBody>
          <a:bodyPr/>
          <a:lstStyle/>
          <a:p>
            <a:endParaRPr lang="zh-CN" altLang="en-US"/>
          </a:p>
        </p:txBody>
      </p:sp>
      <p:sp>
        <p:nvSpPr>
          <p:cNvPr id="61" name="Text 59"/>
          <p:cNvSpPr/>
          <p:nvPr/>
        </p:nvSpPr>
        <p:spPr>
          <a:xfrm>
            <a:off x="11129786" y="3551449"/>
            <a:ext cx="4447713" cy="313693"/>
          </a:xfrm>
          <a:prstGeom prst="rect">
            <a:avLst/>
          </a:prstGeom>
          <a:noFill/>
          <a:ln/>
        </p:spPr>
        <p:txBody>
          <a:bodyPr wrap="square" lIns="0" tIns="0" rIns="0" bIns="0" rtlCol="0" anchor="ctr"/>
          <a:lstStyle/>
          <a:p>
            <a:pPr>
              <a:lnSpc>
                <a:spcPct val="130000"/>
              </a:lnSpc>
            </a:pPr>
            <a:r>
              <a:rPr lang="en-US" sz="1588" b="1" dirty="0">
                <a:solidFill>
                  <a:srgbClr val="B38B59"/>
                </a:solidFill>
                <a:latin typeface="MiSans" pitchFamily="34" charset="0"/>
                <a:ea typeface="MiSans" pitchFamily="34" charset="-122"/>
                <a:cs typeface="MiSans" pitchFamily="34" charset="-120"/>
              </a:rPr>
              <a:t>工作模式</a:t>
            </a:r>
            <a:endParaRPr lang="en-US" sz="1600" dirty="0"/>
          </a:p>
        </p:txBody>
      </p:sp>
      <p:sp>
        <p:nvSpPr>
          <p:cNvPr id="62" name="Shape 60"/>
          <p:cNvSpPr/>
          <p:nvPr/>
        </p:nvSpPr>
        <p:spPr>
          <a:xfrm>
            <a:off x="11129786" y="3954768"/>
            <a:ext cx="4346884" cy="582572"/>
          </a:xfrm>
          <a:custGeom>
            <a:avLst/>
            <a:gdLst/>
            <a:ahLst/>
            <a:cxnLst/>
            <a:rect l="l" t="t" r="r" b="b"/>
            <a:pathLst>
              <a:path w="4346884" h="582572">
                <a:moveTo>
                  <a:pt x="44811" y="0"/>
                </a:moveTo>
                <a:lnTo>
                  <a:pt x="4302072" y="0"/>
                </a:lnTo>
                <a:cubicBezTo>
                  <a:pt x="4326821" y="0"/>
                  <a:pt x="4346884" y="20063"/>
                  <a:pt x="4346884" y="44811"/>
                </a:cubicBezTo>
                <a:lnTo>
                  <a:pt x="4346884" y="537761"/>
                </a:lnTo>
                <a:cubicBezTo>
                  <a:pt x="4346884" y="562509"/>
                  <a:pt x="4326821" y="582572"/>
                  <a:pt x="4302072" y="582572"/>
                </a:cubicBezTo>
                <a:lnTo>
                  <a:pt x="44811" y="582572"/>
                </a:lnTo>
                <a:cubicBezTo>
                  <a:pt x="20079" y="582572"/>
                  <a:pt x="0" y="562493"/>
                  <a:pt x="0" y="537761"/>
                </a:cubicBezTo>
                <a:lnTo>
                  <a:pt x="0" y="44811"/>
                </a:lnTo>
                <a:cubicBezTo>
                  <a:pt x="0" y="20079"/>
                  <a:pt x="20079" y="0"/>
                  <a:pt x="44811" y="0"/>
                </a:cubicBezTo>
                <a:close/>
              </a:path>
            </a:pathLst>
          </a:custGeom>
          <a:solidFill>
            <a:srgbClr val="3C8082">
              <a:alpha val="20000"/>
            </a:srgbClr>
          </a:solidFill>
          <a:ln/>
        </p:spPr>
        <p:txBody>
          <a:bodyPr/>
          <a:lstStyle/>
          <a:p>
            <a:endParaRPr lang="zh-CN" altLang="en-US"/>
          </a:p>
        </p:txBody>
      </p:sp>
      <p:sp>
        <p:nvSpPr>
          <p:cNvPr id="63" name="Text 61"/>
          <p:cNvSpPr/>
          <p:nvPr/>
        </p:nvSpPr>
        <p:spPr>
          <a:xfrm>
            <a:off x="11219413" y="4044394"/>
            <a:ext cx="4246054" cy="224066"/>
          </a:xfrm>
          <a:prstGeom prst="rect">
            <a:avLst/>
          </a:prstGeom>
          <a:noFill/>
          <a:ln/>
        </p:spPr>
        <p:txBody>
          <a:bodyPr wrap="square" lIns="0" tIns="0" rIns="0" bIns="0" rtlCol="0" anchor="ctr"/>
          <a:lstStyle/>
          <a:p>
            <a:pPr>
              <a:lnSpc>
                <a:spcPct val="120000"/>
              </a:lnSpc>
            </a:pPr>
            <a:r>
              <a:rPr lang="en-US" sz="1235" b="1" dirty="0">
                <a:solidFill>
                  <a:srgbClr val="E0E2E4"/>
                </a:solidFill>
                <a:latin typeface="MiSans" pitchFamily="34" charset="0"/>
                <a:ea typeface="MiSans" pitchFamily="34" charset="-122"/>
                <a:cs typeface="MiSans" pitchFamily="34" charset="-120"/>
              </a:rPr>
              <a:t>SECCOMP_MODE_STRICT</a:t>
            </a:r>
            <a:endParaRPr lang="en-US" sz="1600" dirty="0"/>
          </a:p>
        </p:txBody>
      </p:sp>
      <p:sp>
        <p:nvSpPr>
          <p:cNvPr id="64" name="Text 62"/>
          <p:cNvSpPr/>
          <p:nvPr/>
        </p:nvSpPr>
        <p:spPr>
          <a:xfrm>
            <a:off x="11219413" y="4268460"/>
            <a:ext cx="4234850" cy="179253"/>
          </a:xfrm>
          <a:prstGeom prst="rect">
            <a:avLst/>
          </a:prstGeom>
          <a:noFill/>
          <a:ln/>
        </p:spPr>
        <p:txBody>
          <a:bodyPr wrap="square" lIns="0" tIns="0" rIns="0" bIns="0" rtlCol="0" anchor="ctr"/>
          <a:lstStyle/>
          <a:p>
            <a:pPr>
              <a:lnSpc>
                <a:spcPct val="110000"/>
              </a:lnSpc>
            </a:pPr>
            <a:r>
              <a:rPr lang="en-US" sz="1059" dirty="0">
                <a:solidFill>
                  <a:srgbClr val="E0E2E4">
                    <a:alpha val="70000"/>
                  </a:srgbClr>
                </a:solidFill>
                <a:latin typeface="MiSans" pitchFamily="34" charset="0"/>
                <a:ea typeface="MiSans" pitchFamily="34" charset="-122"/>
                <a:cs typeface="MiSans" pitchFamily="34" charset="-120"/>
              </a:rPr>
              <a:t>只允许read、write、exit、sigreturn</a:t>
            </a:r>
            <a:endParaRPr lang="en-US" sz="1600" dirty="0"/>
          </a:p>
        </p:txBody>
      </p:sp>
      <p:sp>
        <p:nvSpPr>
          <p:cNvPr id="65" name="Shape 63"/>
          <p:cNvSpPr/>
          <p:nvPr/>
        </p:nvSpPr>
        <p:spPr>
          <a:xfrm>
            <a:off x="11129786" y="4626966"/>
            <a:ext cx="4346884" cy="582572"/>
          </a:xfrm>
          <a:custGeom>
            <a:avLst/>
            <a:gdLst/>
            <a:ahLst/>
            <a:cxnLst/>
            <a:rect l="l" t="t" r="r" b="b"/>
            <a:pathLst>
              <a:path w="4346884" h="582572">
                <a:moveTo>
                  <a:pt x="44811" y="0"/>
                </a:moveTo>
                <a:lnTo>
                  <a:pt x="4302072" y="0"/>
                </a:lnTo>
                <a:cubicBezTo>
                  <a:pt x="4326821" y="0"/>
                  <a:pt x="4346884" y="20063"/>
                  <a:pt x="4346884" y="44811"/>
                </a:cubicBezTo>
                <a:lnTo>
                  <a:pt x="4346884" y="537761"/>
                </a:lnTo>
                <a:cubicBezTo>
                  <a:pt x="4346884" y="562509"/>
                  <a:pt x="4326821" y="582572"/>
                  <a:pt x="4302072" y="582572"/>
                </a:cubicBezTo>
                <a:lnTo>
                  <a:pt x="44811" y="582572"/>
                </a:lnTo>
                <a:cubicBezTo>
                  <a:pt x="20079" y="582572"/>
                  <a:pt x="0" y="562493"/>
                  <a:pt x="0" y="537761"/>
                </a:cubicBezTo>
                <a:lnTo>
                  <a:pt x="0" y="44811"/>
                </a:lnTo>
                <a:cubicBezTo>
                  <a:pt x="0" y="20079"/>
                  <a:pt x="20079" y="0"/>
                  <a:pt x="44811" y="0"/>
                </a:cubicBezTo>
                <a:close/>
              </a:path>
            </a:pathLst>
          </a:custGeom>
          <a:solidFill>
            <a:srgbClr val="3C8082">
              <a:alpha val="20000"/>
            </a:srgbClr>
          </a:solidFill>
          <a:ln/>
        </p:spPr>
        <p:txBody>
          <a:bodyPr/>
          <a:lstStyle/>
          <a:p>
            <a:endParaRPr lang="zh-CN" altLang="en-US"/>
          </a:p>
        </p:txBody>
      </p:sp>
      <p:sp>
        <p:nvSpPr>
          <p:cNvPr id="66" name="Text 64"/>
          <p:cNvSpPr/>
          <p:nvPr/>
        </p:nvSpPr>
        <p:spPr>
          <a:xfrm>
            <a:off x="11219413" y="4716593"/>
            <a:ext cx="4246054" cy="224066"/>
          </a:xfrm>
          <a:prstGeom prst="rect">
            <a:avLst/>
          </a:prstGeom>
          <a:noFill/>
          <a:ln/>
        </p:spPr>
        <p:txBody>
          <a:bodyPr wrap="square" lIns="0" tIns="0" rIns="0" bIns="0" rtlCol="0" anchor="ctr"/>
          <a:lstStyle/>
          <a:p>
            <a:pPr>
              <a:lnSpc>
                <a:spcPct val="120000"/>
              </a:lnSpc>
            </a:pPr>
            <a:r>
              <a:rPr lang="en-US" sz="1235" b="1" dirty="0">
                <a:solidFill>
                  <a:srgbClr val="E0E2E4"/>
                </a:solidFill>
                <a:latin typeface="MiSans" pitchFamily="34" charset="0"/>
                <a:ea typeface="MiSans" pitchFamily="34" charset="-122"/>
                <a:cs typeface="MiSans" pitchFamily="34" charset="-120"/>
              </a:rPr>
              <a:t>SECCOMP_MODE_FILTER</a:t>
            </a:r>
            <a:endParaRPr lang="en-US" sz="1600" dirty="0"/>
          </a:p>
        </p:txBody>
      </p:sp>
      <p:sp>
        <p:nvSpPr>
          <p:cNvPr id="67" name="Text 65"/>
          <p:cNvSpPr/>
          <p:nvPr/>
        </p:nvSpPr>
        <p:spPr>
          <a:xfrm>
            <a:off x="11219413" y="4940659"/>
            <a:ext cx="4234850" cy="179253"/>
          </a:xfrm>
          <a:prstGeom prst="rect">
            <a:avLst/>
          </a:prstGeom>
          <a:noFill/>
          <a:ln/>
        </p:spPr>
        <p:txBody>
          <a:bodyPr wrap="square" lIns="0" tIns="0" rIns="0" bIns="0" rtlCol="0" anchor="ctr"/>
          <a:lstStyle/>
          <a:p>
            <a:pPr>
              <a:lnSpc>
                <a:spcPct val="110000"/>
              </a:lnSpc>
            </a:pPr>
            <a:r>
              <a:rPr lang="en-US" sz="1059" dirty="0">
                <a:solidFill>
                  <a:srgbClr val="E0E2E4">
                    <a:alpha val="70000"/>
                  </a:srgbClr>
                </a:solidFill>
                <a:latin typeface="MiSans" pitchFamily="34" charset="0"/>
                <a:ea typeface="MiSans" pitchFamily="34" charset="-122"/>
                <a:cs typeface="MiSans" pitchFamily="34" charset="-120"/>
              </a:rPr>
              <a:t>基于BPF的自定义过滤,灵活定义策略</a:t>
            </a:r>
            <a:endParaRPr lang="en-US" sz="1600" dirty="0"/>
          </a:p>
        </p:txBody>
      </p:sp>
      <p:sp>
        <p:nvSpPr>
          <p:cNvPr id="68" name="Shape 66"/>
          <p:cNvSpPr/>
          <p:nvPr/>
        </p:nvSpPr>
        <p:spPr>
          <a:xfrm>
            <a:off x="10995347" y="5478418"/>
            <a:ext cx="4615763" cy="1568463"/>
          </a:xfrm>
          <a:custGeom>
            <a:avLst/>
            <a:gdLst/>
            <a:ahLst/>
            <a:cxnLst/>
            <a:rect l="l" t="t" r="r" b="b"/>
            <a:pathLst>
              <a:path w="4615763" h="1568463">
                <a:moveTo>
                  <a:pt x="89622" y="0"/>
                </a:moveTo>
                <a:lnTo>
                  <a:pt x="4526141" y="0"/>
                </a:lnTo>
                <a:cubicBezTo>
                  <a:pt x="4575638" y="0"/>
                  <a:pt x="4615763" y="40125"/>
                  <a:pt x="4615763" y="89622"/>
                </a:cubicBezTo>
                <a:lnTo>
                  <a:pt x="4615763" y="1478841"/>
                </a:lnTo>
                <a:cubicBezTo>
                  <a:pt x="4615763" y="1528338"/>
                  <a:pt x="4575638" y="1568463"/>
                  <a:pt x="4526141" y="1568463"/>
                </a:cubicBezTo>
                <a:lnTo>
                  <a:pt x="89622" y="1568463"/>
                </a:lnTo>
                <a:cubicBezTo>
                  <a:pt x="40158" y="1568463"/>
                  <a:pt x="0" y="1528305"/>
                  <a:pt x="0" y="1478841"/>
                </a:cubicBezTo>
                <a:lnTo>
                  <a:pt x="0" y="89622"/>
                </a:lnTo>
                <a:cubicBezTo>
                  <a:pt x="0" y="40158"/>
                  <a:pt x="40158" y="0"/>
                  <a:pt x="89622" y="0"/>
                </a:cubicBezTo>
                <a:close/>
              </a:path>
            </a:pathLst>
          </a:custGeom>
          <a:solidFill>
            <a:srgbClr val="1A1D21">
              <a:alpha val="50196"/>
            </a:srgbClr>
          </a:solidFill>
          <a:ln/>
        </p:spPr>
        <p:txBody>
          <a:bodyPr/>
          <a:lstStyle/>
          <a:p>
            <a:endParaRPr lang="zh-CN" altLang="en-US"/>
          </a:p>
        </p:txBody>
      </p:sp>
      <p:sp>
        <p:nvSpPr>
          <p:cNvPr id="69" name="Text 67"/>
          <p:cNvSpPr/>
          <p:nvPr/>
        </p:nvSpPr>
        <p:spPr>
          <a:xfrm>
            <a:off x="11129786" y="5612857"/>
            <a:ext cx="4447713" cy="313693"/>
          </a:xfrm>
          <a:prstGeom prst="rect">
            <a:avLst/>
          </a:prstGeom>
          <a:noFill/>
          <a:ln/>
        </p:spPr>
        <p:txBody>
          <a:bodyPr wrap="square" lIns="0" tIns="0" rIns="0" bIns="0" rtlCol="0" anchor="ctr"/>
          <a:lstStyle/>
          <a:p>
            <a:pPr>
              <a:lnSpc>
                <a:spcPct val="130000"/>
              </a:lnSpc>
            </a:pPr>
            <a:r>
              <a:rPr lang="en-US" sz="1588" b="1" dirty="0">
                <a:solidFill>
                  <a:srgbClr val="B38B59"/>
                </a:solidFill>
                <a:latin typeface="MiSans" pitchFamily="34" charset="0"/>
                <a:ea typeface="MiSans" pitchFamily="34" charset="-122"/>
                <a:cs typeface="MiSans" pitchFamily="34" charset="-120"/>
              </a:rPr>
              <a:t>BPF过滤器示例</a:t>
            </a:r>
            <a:endParaRPr lang="en-US" sz="1600" dirty="0"/>
          </a:p>
        </p:txBody>
      </p:sp>
      <p:sp>
        <p:nvSpPr>
          <p:cNvPr id="70" name="Shape 68"/>
          <p:cNvSpPr/>
          <p:nvPr/>
        </p:nvSpPr>
        <p:spPr>
          <a:xfrm>
            <a:off x="11129786" y="6016176"/>
            <a:ext cx="4346884" cy="896265"/>
          </a:xfrm>
          <a:custGeom>
            <a:avLst/>
            <a:gdLst/>
            <a:ahLst/>
            <a:cxnLst/>
            <a:rect l="l" t="t" r="r" b="b"/>
            <a:pathLst>
              <a:path w="4346884" h="896265">
                <a:moveTo>
                  <a:pt x="44813" y="0"/>
                </a:moveTo>
                <a:lnTo>
                  <a:pt x="4302070" y="0"/>
                </a:lnTo>
                <a:cubicBezTo>
                  <a:pt x="4326820" y="0"/>
                  <a:pt x="4346884" y="20064"/>
                  <a:pt x="4346884" y="44813"/>
                </a:cubicBezTo>
                <a:lnTo>
                  <a:pt x="4346884" y="851451"/>
                </a:lnTo>
                <a:cubicBezTo>
                  <a:pt x="4346884" y="876201"/>
                  <a:pt x="4326820" y="896265"/>
                  <a:pt x="4302070" y="896265"/>
                </a:cubicBezTo>
                <a:lnTo>
                  <a:pt x="44813" y="896265"/>
                </a:lnTo>
                <a:cubicBezTo>
                  <a:pt x="20064" y="896265"/>
                  <a:pt x="0" y="876201"/>
                  <a:pt x="0" y="851451"/>
                </a:cubicBezTo>
                <a:lnTo>
                  <a:pt x="0" y="44813"/>
                </a:lnTo>
                <a:cubicBezTo>
                  <a:pt x="0" y="20064"/>
                  <a:pt x="20064" y="0"/>
                  <a:pt x="44813" y="0"/>
                </a:cubicBezTo>
                <a:close/>
              </a:path>
            </a:pathLst>
          </a:custGeom>
          <a:solidFill>
            <a:srgbClr val="1A1D21">
              <a:alpha val="70196"/>
            </a:srgbClr>
          </a:solidFill>
          <a:ln/>
        </p:spPr>
        <p:txBody>
          <a:bodyPr/>
          <a:lstStyle/>
          <a:p>
            <a:endParaRPr lang="zh-CN" altLang="en-US"/>
          </a:p>
        </p:txBody>
      </p:sp>
      <p:sp>
        <p:nvSpPr>
          <p:cNvPr id="71" name="Text 69"/>
          <p:cNvSpPr/>
          <p:nvPr/>
        </p:nvSpPr>
        <p:spPr>
          <a:xfrm>
            <a:off x="11219413" y="6105803"/>
            <a:ext cx="4234850"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BPF_STMT(BPF_LD+BPF_W+BPF_ABS, offset)</a:t>
            </a:r>
            <a:endParaRPr lang="en-US" sz="1600" dirty="0"/>
          </a:p>
        </p:txBody>
      </p:sp>
      <p:sp>
        <p:nvSpPr>
          <p:cNvPr id="72" name="Text 70"/>
          <p:cNvSpPr/>
          <p:nvPr/>
        </p:nvSpPr>
        <p:spPr>
          <a:xfrm>
            <a:off x="11219413" y="6285056"/>
            <a:ext cx="4234850"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BPF_JUMP(BPF_JMP+BPF_JEQ+BPF_K, nr, 0, 1)</a:t>
            </a:r>
            <a:endParaRPr lang="en-US" sz="1600" dirty="0"/>
          </a:p>
        </p:txBody>
      </p:sp>
      <p:sp>
        <p:nvSpPr>
          <p:cNvPr id="73" name="Text 71"/>
          <p:cNvSpPr/>
          <p:nvPr/>
        </p:nvSpPr>
        <p:spPr>
          <a:xfrm>
            <a:off x="11219413" y="6464309"/>
            <a:ext cx="4234850"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BPF_STMT(BPF_RET+BPF_K, SECCOMP_RET_ALLOW)</a:t>
            </a:r>
            <a:endParaRPr lang="en-US" sz="1600" dirty="0"/>
          </a:p>
        </p:txBody>
      </p:sp>
      <p:sp>
        <p:nvSpPr>
          <p:cNvPr id="74" name="Text 72"/>
          <p:cNvSpPr/>
          <p:nvPr/>
        </p:nvSpPr>
        <p:spPr>
          <a:xfrm>
            <a:off x="11219413" y="6643562"/>
            <a:ext cx="4234850" cy="179253"/>
          </a:xfrm>
          <a:prstGeom prst="rect">
            <a:avLst/>
          </a:prstGeom>
          <a:noFill/>
          <a:ln/>
        </p:spPr>
        <p:txBody>
          <a:bodyPr wrap="square" lIns="0" tIns="0" rIns="0" bIns="0" rtlCol="0" anchor="ctr"/>
          <a:lstStyle/>
          <a:p>
            <a:pPr>
              <a:lnSpc>
                <a:spcPct val="110000"/>
              </a:lnSpc>
            </a:pPr>
            <a:r>
              <a:rPr lang="en-US" sz="1059" dirty="0">
                <a:solidFill>
                  <a:srgbClr val="E0E2E4">
                    <a:alpha val="80000"/>
                  </a:srgbClr>
                </a:solidFill>
                <a:latin typeface="MiSans" pitchFamily="34" charset="0"/>
                <a:ea typeface="MiSans" pitchFamily="34" charset="-122"/>
                <a:cs typeface="MiSans" pitchFamily="34" charset="-120"/>
              </a:rPr>
              <a:t>BPF_STMT(BPF_RET+BPF_K, SECCOMP_RET_KILL)</a:t>
            </a:r>
            <a:endParaRPr lang="en-US" sz="1600" dirty="0"/>
          </a:p>
        </p:txBody>
      </p:sp>
      <p:sp>
        <p:nvSpPr>
          <p:cNvPr id="75" name="Shape 73"/>
          <p:cNvSpPr/>
          <p:nvPr/>
        </p:nvSpPr>
        <p:spPr>
          <a:xfrm>
            <a:off x="453734" y="7618856"/>
            <a:ext cx="7573436" cy="1445227"/>
          </a:xfrm>
          <a:custGeom>
            <a:avLst/>
            <a:gdLst/>
            <a:ahLst/>
            <a:cxnLst/>
            <a:rect l="l" t="t" r="r" b="b"/>
            <a:pathLst>
              <a:path w="7573436" h="1445227">
                <a:moveTo>
                  <a:pt x="89633" y="0"/>
                </a:moveTo>
                <a:lnTo>
                  <a:pt x="7483803" y="0"/>
                </a:lnTo>
                <a:cubicBezTo>
                  <a:pt x="7533306" y="0"/>
                  <a:pt x="7573436" y="40130"/>
                  <a:pt x="7573436" y="89633"/>
                </a:cubicBezTo>
                <a:lnTo>
                  <a:pt x="7573436" y="1355594"/>
                </a:lnTo>
                <a:cubicBezTo>
                  <a:pt x="7573436" y="1405097"/>
                  <a:pt x="7533306" y="1445227"/>
                  <a:pt x="7483803" y="1445227"/>
                </a:cubicBezTo>
                <a:lnTo>
                  <a:pt x="89633" y="1445227"/>
                </a:lnTo>
                <a:cubicBezTo>
                  <a:pt x="40130" y="1445227"/>
                  <a:pt x="0" y="1405097"/>
                  <a:pt x="0" y="1355594"/>
                </a:cubicBezTo>
                <a:lnTo>
                  <a:pt x="0" y="89633"/>
                </a:lnTo>
                <a:cubicBezTo>
                  <a:pt x="0" y="40163"/>
                  <a:pt x="40163" y="0"/>
                  <a:pt x="89633"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6" name="Text 74"/>
          <p:cNvSpPr/>
          <p:nvPr/>
        </p:nvSpPr>
        <p:spPr>
          <a:xfrm>
            <a:off x="593775" y="7758897"/>
            <a:ext cx="7394183" cy="313693"/>
          </a:xfrm>
          <a:prstGeom prst="rect">
            <a:avLst/>
          </a:prstGeom>
          <a:noFill/>
          <a:ln/>
        </p:spPr>
        <p:txBody>
          <a:bodyPr wrap="square" lIns="0" tIns="0" rIns="0" bIns="0" rtlCol="0" anchor="ctr"/>
          <a:lstStyle/>
          <a:p>
            <a:pPr>
              <a:lnSpc>
                <a:spcPct val="130000"/>
              </a:lnSpc>
            </a:pPr>
            <a:r>
              <a:rPr lang="en-US" sz="1588" b="1" dirty="0">
                <a:solidFill>
                  <a:srgbClr val="E0E2E4"/>
                </a:solidFill>
                <a:latin typeface="MiSans" pitchFamily="34" charset="0"/>
                <a:ea typeface="MiSans" pitchFamily="34" charset="-122"/>
                <a:cs typeface="MiSans" pitchFamily="34" charset="-120"/>
              </a:rPr>
              <a:t>容器技术中的安全应用</a:t>
            </a:r>
            <a:endParaRPr lang="en-US" sz="1600" dirty="0"/>
          </a:p>
        </p:txBody>
      </p:sp>
      <p:sp>
        <p:nvSpPr>
          <p:cNvPr id="77" name="Text 75"/>
          <p:cNvSpPr/>
          <p:nvPr/>
        </p:nvSpPr>
        <p:spPr>
          <a:xfrm>
            <a:off x="593775" y="8162216"/>
            <a:ext cx="7371777" cy="224066"/>
          </a:xfrm>
          <a:prstGeom prst="rect">
            <a:avLst/>
          </a:prstGeom>
          <a:noFill/>
          <a:ln/>
        </p:spPr>
        <p:txBody>
          <a:bodyPr wrap="square" lIns="0" tIns="0" rIns="0" bIns="0" rtlCol="0" anchor="ctr"/>
          <a:lstStyle/>
          <a:p>
            <a:pPr>
              <a:lnSpc>
                <a:spcPct val="120000"/>
              </a:lnSpc>
            </a:pPr>
            <a:r>
              <a:rPr lang="en-US" sz="1235" b="1" dirty="0">
                <a:solidFill>
                  <a:srgbClr val="B38B59"/>
                </a:solidFill>
                <a:latin typeface="MiSans" pitchFamily="34" charset="0"/>
                <a:ea typeface="MiSans" pitchFamily="34" charset="-122"/>
                <a:cs typeface="MiSans" pitchFamily="34" charset="-120"/>
              </a:rPr>
              <a:t>YARN:</a:t>
            </a:r>
            <a:r>
              <a:rPr lang="en-US" sz="1235" dirty="0">
                <a:solidFill>
                  <a:srgbClr val="E0E2E4">
                    <a:alpha val="80000"/>
                  </a:srgbClr>
                </a:solidFill>
                <a:latin typeface="MiSans" pitchFamily="34" charset="0"/>
                <a:ea typeface="MiSans" pitchFamily="34" charset="-122"/>
                <a:cs typeface="MiSans" pitchFamily="34" charset="-120"/>
              </a:rPr>
              <a:t> 在Container中主要应用Capabilities和基础权限控制</a:t>
            </a:r>
            <a:endParaRPr lang="en-US" sz="1600" dirty="0"/>
          </a:p>
        </p:txBody>
      </p:sp>
      <p:sp>
        <p:nvSpPr>
          <p:cNvPr id="78" name="Text 76"/>
          <p:cNvSpPr/>
          <p:nvPr/>
        </p:nvSpPr>
        <p:spPr>
          <a:xfrm>
            <a:off x="593775" y="8431095"/>
            <a:ext cx="7371777" cy="224066"/>
          </a:xfrm>
          <a:prstGeom prst="rect">
            <a:avLst/>
          </a:prstGeom>
          <a:noFill/>
          <a:ln/>
        </p:spPr>
        <p:txBody>
          <a:bodyPr wrap="square" lIns="0" tIns="0" rIns="0" bIns="0" rtlCol="0" anchor="ctr"/>
          <a:lstStyle/>
          <a:p>
            <a:pPr>
              <a:lnSpc>
                <a:spcPct val="120000"/>
              </a:lnSpc>
            </a:pPr>
            <a:r>
              <a:rPr lang="en-US" sz="1235" b="1" dirty="0">
                <a:solidFill>
                  <a:srgbClr val="B38B59"/>
                </a:solidFill>
                <a:latin typeface="MiSans" pitchFamily="34" charset="0"/>
                <a:ea typeface="MiSans" pitchFamily="34" charset="-122"/>
                <a:cs typeface="MiSans" pitchFamily="34" charset="-120"/>
              </a:rPr>
              <a:t>Kubernetes:</a:t>
            </a:r>
            <a:r>
              <a:rPr lang="en-US" sz="1235" dirty="0">
                <a:solidFill>
                  <a:srgbClr val="E0E2E4">
                    <a:alpha val="80000"/>
                  </a:srgbClr>
                </a:solidFill>
                <a:latin typeface="MiSans" pitchFamily="34" charset="0"/>
                <a:ea typeface="MiSans" pitchFamily="34" charset="-122"/>
                <a:cs typeface="MiSans" pitchFamily="34" charset="-120"/>
              </a:rPr>
              <a:t> 更广泛地应用Pod安全策略、NetworkPolicy、Seccomp等</a:t>
            </a:r>
            <a:endParaRPr lang="en-US" sz="1600" dirty="0"/>
          </a:p>
        </p:txBody>
      </p:sp>
      <p:sp>
        <p:nvSpPr>
          <p:cNvPr id="79" name="Text 77"/>
          <p:cNvSpPr/>
          <p:nvPr/>
        </p:nvSpPr>
        <p:spPr>
          <a:xfrm>
            <a:off x="593775" y="8699975"/>
            <a:ext cx="7371777" cy="224066"/>
          </a:xfrm>
          <a:prstGeom prst="rect">
            <a:avLst/>
          </a:prstGeom>
          <a:noFill/>
          <a:ln/>
        </p:spPr>
        <p:txBody>
          <a:bodyPr wrap="square" lIns="0" tIns="0" rIns="0" bIns="0" rtlCol="0" anchor="ctr"/>
          <a:lstStyle/>
          <a:p>
            <a:pPr>
              <a:lnSpc>
                <a:spcPct val="120000"/>
              </a:lnSpc>
            </a:pPr>
            <a:r>
              <a:rPr lang="en-US" sz="1235" b="1" dirty="0">
                <a:solidFill>
                  <a:srgbClr val="B38B59"/>
                </a:solidFill>
                <a:latin typeface="MiSans" pitchFamily="34" charset="0"/>
                <a:ea typeface="MiSans" pitchFamily="34" charset="-122"/>
                <a:cs typeface="MiSans" pitchFamily="34" charset="-120"/>
              </a:rPr>
              <a:t>Docker:</a:t>
            </a:r>
            <a:r>
              <a:rPr lang="en-US" sz="1235" dirty="0">
                <a:solidFill>
                  <a:srgbClr val="E0E2E4">
                    <a:alpha val="80000"/>
                  </a:srgbClr>
                </a:solidFill>
                <a:latin typeface="MiSans" pitchFamily="34" charset="0"/>
                <a:ea typeface="MiSans" pitchFamily="34" charset="-122"/>
                <a:cs typeface="MiSans" pitchFamily="34" charset="-120"/>
              </a:rPr>
              <a:t> 默认启用多种安全机制,支持自定义安全配置文件</a:t>
            </a:r>
            <a:endParaRPr lang="en-US" sz="1600" dirty="0"/>
          </a:p>
        </p:txBody>
      </p:sp>
      <p:sp>
        <p:nvSpPr>
          <p:cNvPr id="80" name="Shape 78"/>
          <p:cNvSpPr/>
          <p:nvPr/>
        </p:nvSpPr>
        <p:spPr>
          <a:xfrm>
            <a:off x="8221303" y="7618856"/>
            <a:ext cx="7573436" cy="1445227"/>
          </a:xfrm>
          <a:custGeom>
            <a:avLst/>
            <a:gdLst/>
            <a:ahLst/>
            <a:cxnLst/>
            <a:rect l="l" t="t" r="r" b="b"/>
            <a:pathLst>
              <a:path w="7573436" h="1445227">
                <a:moveTo>
                  <a:pt x="89633" y="0"/>
                </a:moveTo>
                <a:lnTo>
                  <a:pt x="7483803" y="0"/>
                </a:lnTo>
                <a:cubicBezTo>
                  <a:pt x="7533306" y="0"/>
                  <a:pt x="7573436" y="40130"/>
                  <a:pt x="7573436" y="89633"/>
                </a:cubicBezTo>
                <a:lnTo>
                  <a:pt x="7573436" y="1355594"/>
                </a:lnTo>
                <a:cubicBezTo>
                  <a:pt x="7573436" y="1405097"/>
                  <a:pt x="7533306" y="1445227"/>
                  <a:pt x="7483803" y="1445227"/>
                </a:cubicBezTo>
                <a:lnTo>
                  <a:pt x="89633" y="1445227"/>
                </a:lnTo>
                <a:cubicBezTo>
                  <a:pt x="40130" y="1445227"/>
                  <a:pt x="0" y="1405097"/>
                  <a:pt x="0" y="1355594"/>
                </a:cubicBezTo>
                <a:lnTo>
                  <a:pt x="0" y="89633"/>
                </a:lnTo>
                <a:cubicBezTo>
                  <a:pt x="0" y="40163"/>
                  <a:pt x="40163" y="0"/>
                  <a:pt x="89633"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81" name="Text 79"/>
          <p:cNvSpPr/>
          <p:nvPr/>
        </p:nvSpPr>
        <p:spPr>
          <a:xfrm>
            <a:off x="8361344" y="7758897"/>
            <a:ext cx="7394183" cy="313693"/>
          </a:xfrm>
          <a:prstGeom prst="rect">
            <a:avLst/>
          </a:prstGeom>
          <a:noFill/>
          <a:ln/>
        </p:spPr>
        <p:txBody>
          <a:bodyPr wrap="square" lIns="0" tIns="0" rIns="0" bIns="0" rtlCol="0" anchor="ctr"/>
          <a:lstStyle/>
          <a:p>
            <a:pPr>
              <a:lnSpc>
                <a:spcPct val="130000"/>
              </a:lnSpc>
            </a:pPr>
            <a:r>
              <a:rPr lang="en-US" sz="1588" b="1" dirty="0">
                <a:solidFill>
                  <a:srgbClr val="E0E2E4"/>
                </a:solidFill>
                <a:latin typeface="MiSans" pitchFamily="34" charset="0"/>
                <a:ea typeface="MiSans" pitchFamily="34" charset="-122"/>
                <a:cs typeface="MiSans" pitchFamily="34" charset="-120"/>
              </a:rPr>
              <a:t>多层安全防护理念</a:t>
            </a:r>
            <a:endParaRPr lang="en-US" sz="1600" dirty="0"/>
          </a:p>
        </p:txBody>
      </p:sp>
      <p:sp>
        <p:nvSpPr>
          <p:cNvPr id="82" name="Shape 80"/>
          <p:cNvSpPr/>
          <p:nvPr/>
        </p:nvSpPr>
        <p:spPr>
          <a:xfrm>
            <a:off x="8361344" y="8162216"/>
            <a:ext cx="1758919" cy="649792"/>
          </a:xfrm>
          <a:custGeom>
            <a:avLst/>
            <a:gdLst/>
            <a:ahLst/>
            <a:cxnLst/>
            <a:rect l="l" t="t" r="r" b="b"/>
            <a:pathLst>
              <a:path w="1758919" h="649792">
                <a:moveTo>
                  <a:pt x="44816" y="0"/>
                </a:moveTo>
                <a:lnTo>
                  <a:pt x="1714103" y="0"/>
                </a:lnTo>
                <a:cubicBezTo>
                  <a:pt x="1738854" y="0"/>
                  <a:pt x="1758919" y="20065"/>
                  <a:pt x="1758919" y="44816"/>
                </a:cubicBezTo>
                <a:lnTo>
                  <a:pt x="1758919" y="604976"/>
                </a:lnTo>
                <a:cubicBezTo>
                  <a:pt x="1758919" y="629727"/>
                  <a:pt x="1738854" y="649792"/>
                  <a:pt x="1714103" y="649792"/>
                </a:cubicBezTo>
                <a:lnTo>
                  <a:pt x="44816" y="649792"/>
                </a:lnTo>
                <a:cubicBezTo>
                  <a:pt x="20065" y="649792"/>
                  <a:pt x="0" y="629727"/>
                  <a:pt x="0" y="604976"/>
                </a:cubicBezTo>
                <a:lnTo>
                  <a:pt x="0" y="44816"/>
                </a:lnTo>
                <a:cubicBezTo>
                  <a:pt x="0" y="20081"/>
                  <a:pt x="20081" y="0"/>
                  <a:pt x="44816" y="0"/>
                </a:cubicBezTo>
                <a:close/>
              </a:path>
            </a:pathLst>
          </a:custGeom>
          <a:solidFill>
            <a:srgbClr val="1A1D21">
              <a:alpha val="50196"/>
            </a:srgbClr>
          </a:solidFill>
          <a:ln/>
        </p:spPr>
        <p:txBody>
          <a:bodyPr/>
          <a:lstStyle/>
          <a:p>
            <a:endParaRPr lang="zh-CN" altLang="en-US"/>
          </a:p>
        </p:txBody>
      </p:sp>
      <p:sp>
        <p:nvSpPr>
          <p:cNvPr id="83" name="Shape 81"/>
          <p:cNvSpPr/>
          <p:nvPr/>
        </p:nvSpPr>
        <p:spPr>
          <a:xfrm>
            <a:off x="9129208" y="8251842"/>
            <a:ext cx="226867" cy="201660"/>
          </a:xfrm>
          <a:custGeom>
            <a:avLst/>
            <a:gdLst/>
            <a:ahLst/>
            <a:cxnLst/>
            <a:rect l="l" t="t" r="r" b="b"/>
            <a:pathLst>
              <a:path w="226867" h="201660">
                <a:moveTo>
                  <a:pt x="88226" y="97679"/>
                </a:moveTo>
                <a:cubicBezTo>
                  <a:pt x="114312" y="97679"/>
                  <a:pt x="135490" y="76501"/>
                  <a:pt x="135490" y="50415"/>
                </a:cubicBezTo>
                <a:cubicBezTo>
                  <a:pt x="135490" y="24329"/>
                  <a:pt x="114312" y="3151"/>
                  <a:pt x="88226" y="3151"/>
                </a:cubicBezTo>
                <a:cubicBezTo>
                  <a:pt x="62140" y="3151"/>
                  <a:pt x="40962" y="24329"/>
                  <a:pt x="40962" y="50415"/>
                </a:cubicBezTo>
                <a:cubicBezTo>
                  <a:pt x="40962" y="76501"/>
                  <a:pt x="62140" y="97679"/>
                  <a:pt x="88226" y="97679"/>
                </a:cubicBezTo>
                <a:close/>
                <a:moveTo>
                  <a:pt x="76528" y="119735"/>
                </a:moveTo>
                <a:cubicBezTo>
                  <a:pt x="37732" y="119735"/>
                  <a:pt x="6302" y="151166"/>
                  <a:pt x="6302" y="189962"/>
                </a:cubicBezTo>
                <a:cubicBezTo>
                  <a:pt x="6302" y="196421"/>
                  <a:pt x="11540" y="201660"/>
                  <a:pt x="18000" y="201660"/>
                </a:cubicBezTo>
                <a:lnTo>
                  <a:pt x="117057" y="201660"/>
                </a:lnTo>
                <a:cubicBezTo>
                  <a:pt x="102799" y="184881"/>
                  <a:pt x="94528" y="163258"/>
                  <a:pt x="94528" y="140374"/>
                </a:cubicBezTo>
                <a:lnTo>
                  <a:pt x="94528" y="128125"/>
                </a:lnTo>
                <a:cubicBezTo>
                  <a:pt x="94528" y="125249"/>
                  <a:pt x="94922" y="122414"/>
                  <a:pt x="95670" y="119735"/>
                </a:cubicBezTo>
                <a:lnTo>
                  <a:pt x="76528" y="119735"/>
                </a:lnTo>
                <a:close/>
                <a:moveTo>
                  <a:pt x="175389" y="192404"/>
                </a:moveTo>
                <a:lnTo>
                  <a:pt x="170150" y="194885"/>
                </a:lnTo>
                <a:lnTo>
                  <a:pt x="170150" y="120799"/>
                </a:lnTo>
                <a:lnTo>
                  <a:pt x="207961" y="133403"/>
                </a:lnTo>
                <a:lnTo>
                  <a:pt x="207961" y="141122"/>
                </a:lnTo>
                <a:cubicBezTo>
                  <a:pt x="207961" y="163100"/>
                  <a:pt x="195279" y="183069"/>
                  <a:pt x="175389" y="192443"/>
                </a:cubicBezTo>
                <a:close/>
                <a:moveTo>
                  <a:pt x="166172" y="102208"/>
                </a:moveTo>
                <a:lnTo>
                  <a:pt x="122059" y="116900"/>
                </a:lnTo>
                <a:cubicBezTo>
                  <a:pt x="116900" y="118633"/>
                  <a:pt x="113433" y="123438"/>
                  <a:pt x="113433" y="128873"/>
                </a:cubicBezTo>
                <a:lnTo>
                  <a:pt x="113433" y="141122"/>
                </a:lnTo>
                <a:cubicBezTo>
                  <a:pt x="113433" y="170426"/>
                  <a:pt x="130370" y="197091"/>
                  <a:pt x="156838" y="209537"/>
                </a:cubicBezTo>
                <a:lnTo>
                  <a:pt x="164124" y="212964"/>
                </a:lnTo>
                <a:cubicBezTo>
                  <a:pt x="166015" y="213830"/>
                  <a:pt x="168063" y="214303"/>
                  <a:pt x="170111" y="214303"/>
                </a:cubicBezTo>
                <a:cubicBezTo>
                  <a:pt x="172159" y="214303"/>
                  <a:pt x="174246" y="213830"/>
                  <a:pt x="176098" y="212964"/>
                </a:cubicBezTo>
                <a:lnTo>
                  <a:pt x="183384" y="209537"/>
                </a:lnTo>
                <a:cubicBezTo>
                  <a:pt x="209931" y="197051"/>
                  <a:pt x="226867" y="170387"/>
                  <a:pt x="226867" y="141083"/>
                </a:cubicBezTo>
                <a:lnTo>
                  <a:pt x="226867" y="128834"/>
                </a:lnTo>
                <a:cubicBezTo>
                  <a:pt x="226867" y="123398"/>
                  <a:pt x="223401" y="118593"/>
                  <a:pt x="218241" y="116860"/>
                </a:cubicBezTo>
                <a:lnTo>
                  <a:pt x="174128" y="102169"/>
                </a:lnTo>
                <a:cubicBezTo>
                  <a:pt x="171529" y="101302"/>
                  <a:pt x="168732" y="101302"/>
                  <a:pt x="166172" y="102169"/>
                </a:cubicBezTo>
                <a:close/>
              </a:path>
            </a:pathLst>
          </a:custGeom>
          <a:solidFill>
            <a:srgbClr val="3C8082"/>
          </a:solidFill>
          <a:ln/>
        </p:spPr>
        <p:txBody>
          <a:bodyPr/>
          <a:lstStyle/>
          <a:p>
            <a:endParaRPr lang="zh-CN" altLang="en-US"/>
          </a:p>
        </p:txBody>
      </p:sp>
      <p:sp>
        <p:nvSpPr>
          <p:cNvPr id="84" name="Text 82"/>
          <p:cNvSpPr/>
          <p:nvPr/>
        </p:nvSpPr>
        <p:spPr>
          <a:xfrm>
            <a:off x="8411759" y="8498315"/>
            <a:ext cx="1658090" cy="224066"/>
          </a:xfrm>
          <a:prstGeom prst="rect">
            <a:avLst/>
          </a:prstGeom>
          <a:noFill/>
          <a:ln/>
        </p:spPr>
        <p:txBody>
          <a:bodyPr wrap="square" lIns="0" tIns="0" rIns="0" bIns="0" rtlCol="0" anchor="ctr"/>
          <a:lstStyle/>
          <a:p>
            <a:pPr algn="ctr">
              <a:lnSpc>
                <a:spcPct val="120000"/>
              </a:lnSpc>
            </a:pPr>
            <a:r>
              <a:rPr lang="en-US" sz="1235" dirty="0">
                <a:solidFill>
                  <a:srgbClr val="E0E2E4"/>
                </a:solidFill>
                <a:latin typeface="MiSans" pitchFamily="34" charset="0"/>
                <a:ea typeface="MiSans" pitchFamily="34" charset="-122"/>
                <a:cs typeface="MiSans" pitchFamily="34" charset="-120"/>
              </a:rPr>
              <a:t>权限隔离</a:t>
            </a:r>
            <a:endParaRPr lang="en-US" sz="1600" dirty="0"/>
          </a:p>
        </p:txBody>
      </p:sp>
      <p:sp>
        <p:nvSpPr>
          <p:cNvPr id="85" name="Shape 83"/>
          <p:cNvSpPr/>
          <p:nvPr/>
        </p:nvSpPr>
        <p:spPr>
          <a:xfrm>
            <a:off x="10207964" y="8162216"/>
            <a:ext cx="1758919" cy="649792"/>
          </a:xfrm>
          <a:custGeom>
            <a:avLst/>
            <a:gdLst/>
            <a:ahLst/>
            <a:cxnLst/>
            <a:rect l="l" t="t" r="r" b="b"/>
            <a:pathLst>
              <a:path w="1758919" h="649792">
                <a:moveTo>
                  <a:pt x="44816" y="0"/>
                </a:moveTo>
                <a:lnTo>
                  <a:pt x="1714103" y="0"/>
                </a:lnTo>
                <a:cubicBezTo>
                  <a:pt x="1738854" y="0"/>
                  <a:pt x="1758919" y="20065"/>
                  <a:pt x="1758919" y="44816"/>
                </a:cubicBezTo>
                <a:lnTo>
                  <a:pt x="1758919" y="604976"/>
                </a:lnTo>
                <a:cubicBezTo>
                  <a:pt x="1758919" y="629727"/>
                  <a:pt x="1738854" y="649792"/>
                  <a:pt x="1714103" y="649792"/>
                </a:cubicBezTo>
                <a:lnTo>
                  <a:pt x="44816" y="649792"/>
                </a:lnTo>
                <a:cubicBezTo>
                  <a:pt x="20065" y="649792"/>
                  <a:pt x="0" y="629727"/>
                  <a:pt x="0" y="604976"/>
                </a:cubicBezTo>
                <a:lnTo>
                  <a:pt x="0" y="44816"/>
                </a:lnTo>
                <a:cubicBezTo>
                  <a:pt x="0" y="20081"/>
                  <a:pt x="20081" y="0"/>
                  <a:pt x="44816" y="0"/>
                </a:cubicBezTo>
                <a:close/>
              </a:path>
            </a:pathLst>
          </a:custGeom>
          <a:solidFill>
            <a:srgbClr val="1A1D21">
              <a:alpha val="50196"/>
            </a:srgbClr>
          </a:solidFill>
          <a:ln/>
        </p:spPr>
        <p:txBody>
          <a:bodyPr/>
          <a:lstStyle/>
          <a:p>
            <a:endParaRPr lang="zh-CN" altLang="en-US"/>
          </a:p>
        </p:txBody>
      </p:sp>
      <p:sp>
        <p:nvSpPr>
          <p:cNvPr id="86" name="Shape 84"/>
          <p:cNvSpPr/>
          <p:nvPr/>
        </p:nvSpPr>
        <p:spPr>
          <a:xfrm>
            <a:off x="10975828" y="8251842"/>
            <a:ext cx="226867" cy="201660"/>
          </a:xfrm>
          <a:custGeom>
            <a:avLst/>
            <a:gdLst/>
            <a:ahLst/>
            <a:cxnLst/>
            <a:rect l="l" t="t" r="r" b="b"/>
            <a:pathLst>
              <a:path w="226867" h="201660">
                <a:moveTo>
                  <a:pt x="37811" y="0"/>
                </a:moveTo>
                <a:cubicBezTo>
                  <a:pt x="23908" y="0"/>
                  <a:pt x="12604" y="11304"/>
                  <a:pt x="12604" y="25207"/>
                </a:cubicBezTo>
                <a:lnTo>
                  <a:pt x="12604" y="176452"/>
                </a:lnTo>
                <a:cubicBezTo>
                  <a:pt x="12604" y="190356"/>
                  <a:pt x="23908" y="201660"/>
                  <a:pt x="37811" y="201660"/>
                </a:cubicBezTo>
                <a:lnTo>
                  <a:pt x="117057" y="201660"/>
                </a:lnTo>
                <a:cubicBezTo>
                  <a:pt x="102799" y="184881"/>
                  <a:pt x="94528" y="163258"/>
                  <a:pt x="94528" y="140374"/>
                </a:cubicBezTo>
                <a:lnTo>
                  <a:pt x="94528" y="128125"/>
                </a:lnTo>
                <a:cubicBezTo>
                  <a:pt x="94528" y="114576"/>
                  <a:pt x="103193" y="102523"/>
                  <a:pt x="116072" y="98230"/>
                </a:cubicBezTo>
                <a:lnTo>
                  <a:pt x="160185" y="83539"/>
                </a:lnTo>
                <a:cubicBezTo>
                  <a:pt x="161406" y="83145"/>
                  <a:pt x="162627" y="82830"/>
                  <a:pt x="163848" y="82554"/>
                </a:cubicBezTo>
                <a:lnTo>
                  <a:pt x="163848" y="67154"/>
                </a:lnTo>
                <a:cubicBezTo>
                  <a:pt x="163848" y="60458"/>
                  <a:pt x="161209" y="54038"/>
                  <a:pt x="156483" y="49312"/>
                </a:cubicBezTo>
                <a:lnTo>
                  <a:pt x="114497" y="7365"/>
                </a:lnTo>
                <a:cubicBezTo>
                  <a:pt x="109771" y="2639"/>
                  <a:pt x="103390" y="0"/>
                  <a:pt x="96694" y="0"/>
                </a:cubicBezTo>
                <a:lnTo>
                  <a:pt x="37811" y="0"/>
                </a:lnTo>
                <a:close/>
                <a:moveTo>
                  <a:pt x="140807" y="69320"/>
                </a:moveTo>
                <a:lnTo>
                  <a:pt x="103981" y="69320"/>
                </a:lnTo>
                <a:cubicBezTo>
                  <a:pt x="98742" y="69320"/>
                  <a:pt x="94528" y="65106"/>
                  <a:pt x="94528" y="59868"/>
                </a:cubicBezTo>
                <a:lnTo>
                  <a:pt x="94528" y="23041"/>
                </a:lnTo>
                <a:lnTo>
                  <a:pt x="140807" y="69320"/>
                </a:lnTo>
                <a:close/>
                <a:moveTo>
                  <a:pt x="175389" y="192404"/>
                </a:moveTo>
                <a:lnTo>
                  <a:pt x="170150" y="194885"/>
                </a:lnTo>
                <a:lnTo>
                  <a:pt x="170150" y="120799"/>
                </a:lnTo>
                <a:lnTo>
                  <a:pt x="207961" y="133403"/>
                </a:lnTo>
                <a:lnTo>
                  <a:pt x="207961" y="141122"/>
                </a:lnTo>
                <a:cubicBezTo>
                  <a:pt x="207961" y="163100"/>
                  <a:pt x="195279" y="183069"/>
                  <a:pt x="175389" y="192443"/>
                </a:cubicBezTo>
                <a:close/>
                <a:moveTo>
                  <a:pt x="166172" y="102208"/>
                </a:moveTo>
                <a:lnTo>
                  <a:pt x="122059" y="116900"/>
                </a:lnTo>
                <a:cubicBezTo>
                  <a:pt x="116900" y="118633"/>
                  <a:pt x="113433" y="123438"/>
                  <a:pt x="113433" y="128873"/>
                </a:cubicBezTo>
                <a:lnTo>
                  <a:pt x="113433" y="141122"/>
                </a:lnTo>
                <a:cubicBezTo>
                  <a:pt x="113433" y="170426"/>
                  <a:pt x="130370" y="197091"/>
                  <a:pt x="156838" y="209537"/>
                </a:cubicBezTo>
                <a:lnTo>
                  <a:pt x="164124" y="212964"/>
                </a:lnTo>
                <a:cubicBezTo>
                  <a:pt x="166015" y="213830"/>
                  <a:pt x="168063" y="214303"/>
                  <a:pt x="170111" y="214303"/>
                </a:cubicBezTo>
                <a:cubicBezTo>
                  <a:pt x="172159" y="214303"/>
                  <a:pt x="174246" y="213830"/>
                  <a:pt x="176098" y="212964"/>
                </a:cubicBezTo>
                <a:lnTo>
                  <a:pt x="183384" y="209537"/>
                </a:lnTo>
                <a:cubicBezTo>
                  <a:pt x="209931" y="197051"/>
                  <a:pt x="226867" y="170387"/>
                  <a:pt x="226867" y="141083"/>
                </a:cubicBezTo>
                <a:lnTo>
                  <a:pt x="226867" y="128834"/>
                </a:lnTo>
                <a:cubicBezTo>
                  <a:pt x="226867" y="123398"/>
                  <a:pt x="223401" y="118593"/>
                  <a:pt x="218241" y="116860"/>
                </a:cubicBezTo>
                <a:lnTo>
                  <a:pt x="174128" y="102169"/>
                </a:lnTo>
                <a:cubicBezTo>
                  <a:pt x="171529" y="101302"/>
                  <a:pt x="168732" y="101302"/>
                  <a:pt x="166172" y="102169"/>
                </a:cubicBezTo>
                <a:close/>
              </a:path>
            </a:pathLst>
          </a:custGeom>
          <a:solidFill>
            <a:srgbClr val="3C8082"/>
          </a:solidFill>
          <a:ln/>
        </p:spPr>
        <p:txBody>
          <a:bodyPr/>
          <a:lstStyle/>
          <a:p>
            <a:endParaRPr lang="zh-CN" altLang="en-US"/>
          </a:p>
        </p:txBody>
      </p:sp>
      <p:sp>
        <p:nvSpPr>
          <p:cNvPr id="87" name="Text 85"/>
          <p:cNvSpPr/>
          <p:nvPr/>
        </p:nvSpPr>
        <p:spPr>
          <a:xfrm>
            <a:off x="10258379" y="8498315"/>
            <a:ext cx="1658090" cy="224066"/>
          </a:xfrm>
          <a:prstGeom prst="rect">
            <a:avLst/>
          </a:prstGeom>
          <a:noFill/>
          <a:ln/>
        </p:spPr>
        <p:txBody>
          <a:bodyPr wrap="square" lIns="0" tIns="0" rIns="0" bIns="0" rtlCol="0" anchor="ctr"/>
          <a:lstStyle/>
          <a:p>
            <a:pPr algn="ctr">
              <a:lnSpc>
                <a:spcPct val="120000"/>
              </a:lnSpc>
            </a:pPr>
            <a:r>
              <a:rPr lang="en-US" sz="1235" dirty="0">
                <a:solidFill>
                  <a:srgbClr val="E0E2E4"/>
                </a:solidFill>
                <a:latin typeface="MiSans" pitchFamily="34" charset="0"/>
                <a:ea typeface="MiSans" pitchFamily="34" charset="-122"/>
                <a:cs typeface="MiSans" pitchFamily="34" charset="-120"/>
              </a:rPr>
              <a:t>访问控制</a:t>
            </a:r>
            <a:endParaRPr lang="en-US" sz="1600" dirty="0"/>
          </a:p>
        </p:txBody>
      </p:sp>
      <p:sp>
        <p:nvSpPr>
          <p:cNvPr id="88" name="Shape 86"/>
          <p:cNvSpPr/>
          <p:nvPr/>
        </p:nvSpPr>
        <p:spPr>
          <a:xfrm>
            <a:off x="12054672" y="8162216"/>
            <a:ext cx="1758919" cy="649792"/>
          </a:xfrm>
          <a:custGeom>
            <a:avLst/>
            <a:gdLst/>
            <a:ahLst/>
            <a:cxnLst/>
            <a:rect l="l" t="t" r="r" b="b"/>
            <a:pathLst>
              <a:path w="1758919" h="649792">
                <a:moveTo>
                  <a:pt x="44816" y="0"/>
                </a:moveTo>
                <a:lnTo>
                  <a:pt x="1714103" y="0"/>
                </a:lnTo>
                <a:cubicBezTo>
                  <a:pt x="1738854" y="0"/>
                  <a:pt x="1758919" y="20065"/>
                  <a:pt x="1758919" y="44816"/>
                </a:cubicBezTo>
                <a:lnTo>
                  <a:pt x="1758919" y="604976"/>
                </a:lnTo>
                <a:cubicBezTo>
                  <a:pt x="1758919" y="629727"/>
                  <a:pt x="1738854" y="649792"/>
                  <a:pt x="1714103" y="649792"/>
                </a:cubicBezTo>
                <a:lnTo>
                  <a:pt x="44816" y="649792"/>
                </a:lnTo>
                <a:cubicBezTo>
                  <a:pt x="20065" y="649792"/>
                  <a:pt x="0" y="629727"/>
                  <a:pt x="0" y="604976"/>
                </a:cubicBezTo>
                <a:lnTo>
                  <a:pt x="0" y="44816"/>
                </a:lnTo>
                <a:cubicBezTo>
                  <a:pt x="0" y="20081"/>
                  <a:pt x="20081" y="0"/>
                  <a:pt x="44816" y="0"/>
                </a:cubicBezTo>
                <a:close/>
              </a:path>
            </a:pathLst>
          </a:custGeom>
          <a:solidFill>
            <a:srgbClr val="1A1D21">
              <a:alpha val="50196"/>
            </a:srgbClr>
          </a:solidFill>
          <a:ln/>
        </p:spPr>
        <p:txBody>
          <a:bodyPr/>
          <a:lstStyle/>
          <a:p>
            <a:endParaRPr lang="zh-CN" altLang="en-US"/>
          </a:p>
        </p:txBody>
      </p:sp>
      <p:sp>
        <p:nvSpPr>
          <p:cNvPr id="89" name="Shape 87"/>
          <p:cNvSpPr/>
          <p:nvPr/>
        </p:nvSpPr>
        <p:spPr>
          <a:xfrm>
            <a:off x="12835140" y="8251842"/>
            <a:ext cx="201660" cy="201660"/>
          </a:xfrm>
          <a:custGeom>
            <a:avLst/>
            <a:gdLst/>
            <a:ahLst/>
            <a:cxnLst/>
            <a:rect l="l" t="t" r="r" b="b"/>
            <a:pathLst>
              <a:path w="201660" h="201660">
                <a:moveTo>
                  <a:pt x="144628" y="162470"/>
                </a:moveTo>
                <a:lnTo>
                  <a:pt x="39190" y="57032"/>
                </a:lnTo>
                <a:cubicBezTo>
                  <a:pt x="30367" y="69399"/>
                  <a:pt x="25207" y="84524"/>
                  <a:pt x="25207" y="100830"/>
                </a:cubicBezTo>
                <a:cubicBezTo>
                  <a:pt x="25207" y="142580"/>
                  <a:pt x="59080" y="176452"/>
                  <a:pt x="100830" y="176452"/>
                </a:cubicBezTo>
                <a:cubicBezTo>
                  <a:pt x="117175" y="176452"/>
                  <a:pt x="132300" y="171292"/>
                  <a:pt x="144628" y="162470"/>
                </a:cubicBezTo>
                <a:close/>
                <a:moveTo>
                  <a:pt x="162470" y="144628"/>
                </a:moveTo>
                <a:cubicBezTo>
                  <a:pt x="171292" y="132260"/>
                  <a:pt x="176452" y="117136"/>
                  <a:pt x="176452" y="100830"/>
                </a:cubicBezTo>
                <a:cubicBezTo>
                  <a:pt x="176452" y="59080"/>
                  <a:pt x="142580" y="25207"/>
                  <a:pt x="100830" y="25207"/>
                </a:cubicBezTo>
                <a:cubicBezTo>
                  <a:pt x="84484" y="25207"/>
                  <a:pt x="69360" y="30367"/>
                  <a:pt x="57032" y="39190"/>
                </a:cubicBezTo>
                <a:lnTo>
                  <a:pt x="162470" y="144628"/>
                </a:lnTo>
                <a:close/>
                <a:moveTo>
                  <a:pt x="0" y="100830"/>
                </a:moveTo>
                <a:cubicBezTo>
                  <a:pt x="0" y="45180"/>
                  <a:pt x="45180" y="0"/>
                  <a:pt x="100830" y="0"/>
                </a:cubicBezTo>
                <a:cubicBezTo>
                  <a:pt x="156479" y="0"/>
                  <a:pt x="201660" y="45180"/>
                  <a:pt x="201660" y="100830"/>
                </a:cubicBezTo>
                <a:cubicBezTo>
                  <a:pt x="201660" y="156479"/>
                  <a:pt x="156479" y="201660"/>
                  <a:pt x="100830" y="201660"/>
                </a:cubicBezTo>
                <a:cubicBezTo>
                  <a:pt x="45180" y="201660"/>
                  <a:pt x="0" y="156479"/>
                  <a:pt x="0" y="100830"/>
                </a:cubicBezTo>
                <a:close/>
              </a:path>
            </a:pathLst>
          </a:custGeom>
          <a:solidFill>
            <a:srgbClr val="3C8082"/>
          </a:solidFill>
          <a:ln/>
        </p:spPr>
        <p:txBody>
          <a:bodyPr/>
          <a:lstStyle/>
          <a:p>
            <a:endParaRPr lang="zh-CN" altLang="en-US"/>
          </a:p>
        </p:txBody>
      </p:sp>
      <p:sp>
        <p:nvSpPr>
          <p:cNvPr id="90" name="Text 88"/>
          <p:cNvSpPr/>
          <p:nvPr/>
        </p:nvSpPr>
        <p:spPr>
          <a:xfrm>
            <a:off x="12105087" y="8498315"/>
            <a:ext cx="1658090" cy="224066"/>
          </a:xfrm>
          <a:prstGeom prst="rect">
            <a:avLst/>
          </a:prstGeom>
          <a:noFill/>
          <a:ln/>
        </p:spPr>
        <p:txBody>
          <a:bodyPr wrap="square" lIns="0" tIns="0" rIns="0" bIns="0" rtlCol="0" anchor="ctr"/>
          <a:lstStyle/>
          <a:p>
            <a:pPr algn="ctr">
              <a:lnSpc>
                <a:spcPct val="120000"/>
              </a:lnSpc>
            </a:pPr>
            <a:r>
              <a:rPr lang="en-US" sz="1235" dirty="0">
                <a:solidFill>
                  <a:srgbClr val="E0E2E4"/>
                </a:solidFill>
                <a:latin typeface="MiSans" pitchFamily="34" charset="0"/>
                <a:ea typeface="MiSans" pitchFamily="34" charset="-122"/>
                <a:cs typeface="MiSans" pitchFamily="34" charset="-120"/>
              </a:rPr>
              <a:t>系统调用过滤</a:t>
            </a:r>
            <a:endParaRPr lang="en-US" sz="1600" dirty="0"/>
          </a:p>
        </p:txBody>
      </p:sp>
      <p:sp>
        <p:nvSpPr>
          <p:cNvPr id="91" name="Shape 89"/>
          <p:cNvSpPr/>
          <p:nvPr/>
        </p:nvSpPr>
        <p:spPr>
          <a:xfrm>
            <a:off x="13901380" y="8162216"/>
            <a:ext cx="1758919" cy="649792"/>
          </a:xfrm>
          <a:custGeom>
            <a:avLst/>
            <a:gdLst/>
            <a:ahLst/>
            <a:cxnLst/>
            <a:rect l="l" t="t" r="r" b="b"/>
            <a:pathLst>
              <a:path w="1758919" h="649792">
                <a:moveTo>
                  <a:pt x="44816" y="0"/>
                </a:moveTo>
                <a:lnTo>
                  <a:pt x="1714103" y="0"/>
                </a:lnTo>
                <a:cubicBezTo>
                  <a:pt x="1738854" y="0"/>
                  <a:pt x="1758919" y="20065"/>
                  <a:pt x="1758919" y="44816"/>
                </a:cubicBezTo>
                <a:lnTo>
                  <a:pt x="1758919" y="604976"/>
                </a:lnTo>
                <a:cubicBezTo>
                  <a:pt x="1758919" y="629727"/>
                  <a:pt x="1738854" y="649792"/>
                  <a:pt x="1714103" y="649792"/>
                </a:cubicBezTo>
                <a:lnTo>
                  <a:pt x="44816" y="649792"/>
                </a:lnTo>
                <a:cubicBezTo>
                  <a:pt x="20065" y="649792"/>
                  <a:pt x="0" y="629727"/>
                  <a:pt x="0" y="604976"/>
                </a:cubicBezTo>
                <a:lnTo>
                  <a:pt x="0" y="44816"/>
                </a:lnTo>
                <a:cubicBezTo>
                  <a:pt x="0" y="20081"/>
                  <a:pt x="20081" y="0"/>
                  <a:pt x="44816" y="0"/>
                </a:cubicBezTo>
                <a:close/>
              </a:path>
            </a:pathLst>
          </a:custGeom>
          <a:solidFill>
            <a:srgbClr val="1A1D21">
              <a:alpha val="50196"/>
            </a:srgbClr>
          </a:solidFill>
          <a:ln/>
        </p:spPr>
        <p:txBody>
          <a:bodyPr/>
          <a:lstStyle/>
          <a:p>
            <a:endParaRPr lang="zh-CN" altLang="en-US"/>
          </a:p>
        </p:txBody>
      </p:sp>
      <p:sp>
        <p:nvSpPr>
          <p:cNvPr id="92" name="Shape 90"/>
          <p:cNvSpPr/>
          <p:nvPr/>
        </p:nvSpPr>
        <p:spPr>
          <a:xfrm>
            <a:off x="14669244" y="8251842"/>
            <a:ext cx="226867" cy="201660"/>
          </a:xfrm>
          <a:custGeom>
            <a:avLst/>
            <a:gdLst/>
            <a:ahLst/>
            <a:cxnLst/>
            <a:rect l="l" t="t" r="r" b="b"/>
            <a:pathLst>
              <a:path w="226867" h="201660">
                <a:moveTo>
                  <a:pt x="97679" y="34660"/>
                </a:moveTo>
                <a:lnTo>
                  <a:pt x="129188" y="34660"/>
                </a:lnTo>
                <a:lnTo>
                  <a:pt x="129188" y="53566"/>
                </a:lnTo>
                <a:lnTo>
                  <a:pt x="97679" y="53566"/>
                </a:lnTo>
                <a:lnTo>
                  <a:pt x="97679" y="34660"/>
                </a:lnTo>
                <a:close/>
                <a:moveTo>
                  <a:pt x="94528" y="12604"/>
                </a:moveTo>
                <a:cubicBezTo>
                  <a:pt x="84090" y="12604"/>
                  <a:pt x="75622" y="21072"/>
                  <a:pt x="75622" y="31509"/>
                </a:cubicBezTo>
                <a:lnTo>
                  <a:pt x="75622" y="56717"/>
                </a:lnTo>
                <a:cubicBezTo>
                  <a:pt x="75622" y="67154"/>
                  <a:pt x="84090" y="75622"/>
                  <a:pt x="94528" y="75622"/>
                </a:cubicBezTo>
                <a:lnTo>
                  <a:pt x="100830" y="75622"/>
                </a:lnTo>
                <a:lnTo>
                  <a:pt x="100830" y="88226"/>
                </a:lnTo>
                <a:lnTo>
                  <a:pt x="12604" y="88226"/>
                </a:lnTo>
                <a:cubicBezTo>
                  <a:pt x="5632" y="88226"/>
                  <a:pt x="0" y="93858"/>
                  <a:pt x="0" y="100830"/>
                </a:cubicBezTo>
                <a:cubicBezTo>
                  <a:pt x="0" y="107801"/>
                  <a:pt x="5632" y="113433"/>
                  <a:pt x="12604" y="113433"/>
                </a:cubicBezTo>
                <a:lnTo>
                  <a:pt x="50415" y="113433"/>
                </a:lnTo>
                <a:lnTo>
                  <a:pt x="50415" y="126037"/>
                </a:lnTo>
                <a:lnTo>
                  <a:pt x="44113" y="126037"/>
                </a:lnTo>
                <a:cubicBezTo>
                  <a:pt x="33676" y="126037"/>
                  <a:pt x="25207" y="134505"/>
                  <a:pt x="25207" y="144943"/>
                </a:cubicBezTo>
                <a:lnTo>
                  <a:pt x="25207" y="170150"/>
                </a:lnTo>
                <a:cubicBezTo>
                  <a:pt x="25207" y="180588"/>
                  <a:pt x="33676" y="189056"/>
                  <a:pt x="44113" y="189056"/>
                </a:cubicBezTo>
                <a:lnTo>
                  <a:pt x="81924" y="189056"/>
                </a:lnTo>
                <a:cubicBezTo>
                  <a:pt x="92362" y="189056"/>
                  <a:pt x="100830" y="180588"/>
                  <a:pt x="100830" y="170150"/>
                </a:cubicBezTo>
                <a:lnTo>
                  <a:pt x="100830" y="144943"/>
                </a:lnTo>
                <a:cubicBezTo>
                  <a:pt x="100830" y="134505"/>
                  <a:pt x="92362" y="126037"/>
                  <a:pt x="81924" y="126037"/>
                </a:cubicBezTo>
                <a:lnTo>
                  <a:pt x="75622" y="126037"/>
                </a:lnTo>
                <a:lnTo>
                  <a:pt x="75622" y="113433"/>
                </a:lnTo>
                <a:lnTo>
                  <a:pt x="151245" y="113433"/>
                </a:lnTo>
                <a:lnTo>
                  <a:pt x="151245" y="126037"/>
                </a:lnTo>
                <a:lnTo>
                  <a:pt x="144943" y="126037"/>
                </a:lnTo>
                <a:cubicBezTo>
                  <a:pt x="134505" y="126037"/>
                  <a:pt x="126037" y="134505"/>
                  <a:pt x="126037" y="144943"/>
                </a:cubicBezTo>
                <a:lnTo>
                  <a:pt x="126037" y="170150"/>
                </a:lnTo>
                <a:cubicBezTo>
                  <a:pt x="126037" y="180588"/>
                  <a:pt x="134505" y="189056"/>
                  <a:pt x="144943" y="189056"/>
                </a:cubicBezTo>
                <a:lnTo>
                  <a:pt x="182754" y="189056"/>
                </a:lnTo>
                <a:cubicBezTo>
                  <a:pt x="193191" y="189056"/>
                  <a:pt x="201660" y="180588"/>
                  <a:pt x="201660" y="170150"/>
                </a:cubicBezTo>
                <a:lnTo>
                  <a:pt x="201660" y="144943"/>
                </a:lnTo>
                <a:cubicBezTo>
                  <a:pt x="201660" y="134505"/>
                  <a:pt x="193191" y="126037"/>
                  <a:pt x="182754" y="126037"/>
                </a:cubicBezTo>
                <a:lnTo>
                  <a:pt x="176452" y="126037"/>
                </a:lnTo>
                <a:lnTo>
                  <a:pt x="176452" y="113433"/>
                </a:lnTo>
                <a:lnTo>
                  <a:pt x="214263" y="113433"/>
                </a:lnTo>
                <a:cubicBezTo>
                  <a:pt x="221235" y="113433"/>
                  <a:pt x="226867" y="107801"/>
                  <a:pt x="226867" y="100830"/>
                </a:cubicBezTo>
                <a:cubicBezTo>
                  <a:pt x="226867" y="93858"/>
                  <a:pt x="221235" y="88226"/>
                  <a:pt x="214263" y="88226"/>
                </a:cubicBezTo>
                <a:lnTo>
                  <a:pt x="126037" y="88226"/>
                </a:lnTo>
                <a:lnTo>
                  <a:pt x="126037" y="75622"/>
                </a:lnTo>
                <a:lnTo>
                  <a:pt x="132339" y="75622"/>
                </a:lnTo>
                <a:cubicBezTo>
                  <a:pt x="142777" y="75622"/>
                  <a:pt x="151245" y="67154"/>
                  <a:pt x="151245" y="56717"/>
                </a:cubicBezTo>
                <a:lnTo>
                  <a:pt x="151245" y="31509"/>
                </a:lnTo>
                <a:cubicBezTo>
                  <a:pt x="151245" y="21072"/>
                  <a:pt x="142777" y="12604"/>
                  <a:pt x="132339" y="12604"/>
                </a:cubicBezTo>
                <a:lnTo>
                  <a:pt x="94528" y="12604"/>
                </a:lnTo>
                <a:close/>
                <a:moveTo>
                  <a:pt x="176452" y="148094"/>
                </a:moveTo>
                <a:lnTo>
                  <a:pt x="179603" y="148094"/>
                </a:lnTo>
                <a:lnTo>
                  <a:pt x="179603" y="166999"/>
                </a:lnTo>
                <a:lnTo>
                  <a:pt x="148094" y="166999"/>
                </a:lnTo>
                <a:lnTo>
                  <a:pt x="148094" y="148094"/>
                </a:lnTo>
                <a:lnTo>
                  <a:pt x="176452" y="148094"/>
                </a:lnTo>
                <a:close/>
                <a:moveTo>
                  <a:pt x="75622" y="148094"/>
                </a:moveTo>
                <a:lnTo>
                  <a:pt x="78773" y="148094"/>
                </a:lnTo>
                <a:lnTo>
                  <a:pt x="78773" y="166999"/>
                </a:lnTo>
                <a:lnTo>
                  <a:pt x="47264" y="166999"/>
                </a:lnTo>
                <a:lnTo>
                  <a:pt x="47264" y="148094"/>
                </a:lnTo>
                <a:lnTo>
                  <a:pt x="75622" y="148094"/>
                </a:lnTo>
                <a:close/>
              </a:path>
            </a:pathLst>
          </a:custGeom>
          <a:solidFill>
            <a:srgbClr val="3C8082"/>
          </a:solidFill>
          <a:ln/>
        </p:spPr>
        <p:txBody>
          <a:bodyPr/>
          <a:lstStyle/>
          <a:p>
            <a:endParaRPr lang="zh-CN" altLang="en-US"/>
          </a:p>
        </p:txBody>
      </p:sp>
      <p:sp>
        <p:nvSpPr>
          <p:cNvPr id="93" name="Text 91"/>
          <p:cNvSpPr/>
          <p:nvPr/>
        </p:nvSpPr>
        <p:spPr>
          <a:xfrm>
            <a:off x="13951795" y="8498315"/>
            <a:ext cx="1658090" cy="224066"/>
          </a:xfrm>
          <a:prstGeom prst="rect">
            <a:avLst/>
          </a:prstGeom>
          <a:noFill/>
          <a:ln/>
        </p:spPr>
        <p:txBody>
          <a:bodyPr wrap="square" lIns="0" tIns="0" rIns="0" bIns="0" rtlCol="0" anchor="ctr"/>
          <a:lstStyle/>
          <a:p>
            <a:pPr algn="ctr">
              <a:lnSpc>
                <a:spcPct val="120000"/>
              </a:lnSpc>
            </a:pPr>
            <a:r>
              <a:rPr lang="en-US" sz="1235" dirty="0">
                <a:solidFill>
                  <a:srgbClr val="E0E2E4"/>
                </a:solidFill>
                <a:latin typeface="MiSans" pitchFamily="34" charset="0"/>
                <a:ea typeface="MiSans" pitchFamily="34" charset="-122"/>
                <a:cs typeface="MiSans" pitchFamily="34" charset="-120"/>
              </a:rPr>
              <a:t>网络安全</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D21"/>
        </a:solidFill>
        <a:effectLst/>
      </p:bgPr>
    </p:bg>
    <p:spTree>
      <p:nvGrpSpPr>
        <p:cNvPr id="1" name=""/>
        <p:cNvGrpSpPr/>
        <p:nvPr/>
      </p:nvGrpSpPr>
      <p:grpSpPr>
        <a:xfrm>
          <a:off x="0" y="0"/>
          <a:ext cx="0" cy="0"/>
          <a:chOff x="0" y="0"/>
          <a:chExt cx="0" cy="0"/>
        </a:xfrm>
      </p:grpSpPr>
      <p:sp>
        <p:nvSpPr>
          <p:cNvPr id="6" name="Text 3"/>
          <p:cNvSpPr/>
          <p:nvPr/>
        </p:nvSpPr>
        <p:spPr>
          <a:xfrm>
            <a:off x="508000" y="3543300"/>
            <a:ext cx="15621000" cy="1905000"/>
          </a:xfrm>
          <a:prstGeom prst="rect">
            <a:avLst/>
          </a:prstGeom>
          <a:noFill/>
          <a:ln/>
        </p:spPr>
        <p:txBody>
          <a:bodyPr wrap="square" lIns="0" tIns="0" rIns="0" bIns="0" rtlCol="0" anchor="ctr"/>
          <a:lstStyle/>
          <a:p>
            <a:pPr>
              <a:lnSpc>
                <a:spcPct val="100000"/>
              </a:lnSpc>
            </a:pPr>
            <a:r>
              <a:rPr lang="en-US" sz="6000" b="1" dirty="0">
                <a:solidFill>
                  <a:srgbClr val="E0E2E4"/>
                </a:solidFill>
                <a:latin typeface="MiSans" pitchFamily="34" charset="0"/>
                <a:ea typeface="MiSans" pitchFamily="34" charset="-122"/>
                <a:cs typeface="MiSans" pitchFamily="34" charset="-120"/>
              </a:rPr>
              <a:t>YARN Container</a:t>
            </a:r>
            <a:endParaRPr lang="en-US" sz="1600" dirty="0"/>
          </a:p>
          <a:p>
            <a:pPr>
              <a:lnSpc>
                <a:spcPct val="100000"/>
              </a:lnSpc>
            </a:pPr>
            <a:r>
              <a:rPr lang="en-US" sz="6000" b="1" dirty="0">
                <a:solidFill>
                  <a:srgbClr val="E0E2E4"/>
                </a:solidFill>
                <a:latin typeface="MiSans" pitchFamily="34" charset="0"/>
                <a:ea typeface="MiSans" pitchFamily="34" charset="-122"/>
                <a:cs typeface="MiSans" pitchFamily="34" charset="-120"/>
              </a:rPr>
              <a:t>资源模型与隔离技术</a:t>
            </a:r>
            <a:endParaRPr lang="en-US" sz="1600" dirty="0"/>
          </a:p>
        </p:txBody>
      </p:sp>
      <p:sp>
        <p:nvSpPr>
          <p:cNvPr id="7" name="Text 4"/>
          <p:cNvSpPr/>
          <p:nvPr/>
        </p:nvSpPr>
        <p:spPr>
          <a:xfrm>
            <a:off x="508000" y="5753100"/>
            <a:ext cx="15392400" cy="812800"/>
          </a:xfrm>
          <a:prstGeom prst="rect">
            <a:avLst/>
          </a:prstGeom>
          <a:noFill/>
          <a:ln/>
        </p:spPr>
        <p:txBody>
          <a:bodyPr wrap="square" lIns="0" tIns="0" rIns="0" bIns="0" rtlCol="0" anchor="ctr"/>
          <a:lstStyle/>
          <a:p>
            <a:pPr>
              <a:lnSpc>
                <a:spcPct val="110000"/>
              </a:lnSpc>
            </a:pPr>
            <a:r>
              <a:rPr lang="en-US" sz="2400" b="1" dirty="0">
                <a:solidFill>
                  <a:srgbClr val="B38B59"/>
                </a:solidFill>
                <a:latin typeface="MiSans" pitchFamily="34" charset="0"/>
                <a:ea typeface="MiSans" pitchFamily="34" charset="-122"/>
                <a:cs typeface="MiSans" pitchFamily="34" charset="-120"/>
              </a:rPr>
              <a:t>从设计理念到实现机制</a:t>
            </a:r>
            <a:endParaRPr lang="en-US" sz="1600" dirty="0"/>
          </a:p>
          <a:p>
            <a:pPr>
              <a:lnSpc>
                <a:spcPct val="110000"/>
              </a:lnSpc>
            </a:pPr>
            <a:r>
              <a:rPr lang="en-US" sz="2400" b="1" dirty="0">
                <a:solidFill>
                  <a:srgbClr val="B38B59"/>
                </a:solidFill>
                <a:latin typeface="MiSans" pitchFamily="34" charset="0"/>
                <a:ea typeface="MiSans" pitchFamily="34" charset="-122"/>
                <a:cs typeface="MiSans" pitchFamily="34" charset="-120"/>
              </a:rPr>
              <a:t>YARN隔离技术的全栈解析</a:t>
            </a:r>
            <a:endParaRPr lang="en-US" sz="1600" dirty="0"/>
          </a:p>
        </p:txBody>
      </p:sp>
      <p:sp>
        <p:nvSpPr>
          <p:cNvPr id="8" name="Shape 5"/>
          <p:cNvSpPr/>
          <p:nvPr/>
        </p:nvSpPr>
        <p:spPr>
          <a:xfrm>
            <a:off x="508000" y="6972300"/>
            <a:ext cx="2032000" cy="50800"/>
          </a:xfrm>
          <a:custGeom>
            <a:avLst/>
            <a:gdLst/>
            <a:ahLst/>
            <a:cxnLst/>
            <a:rect l="l" t="t" r="r" b="b"/>
            <a:pathLst>
              <a:path w="2032000" h="50800">
                <a:moveTo>
                  <a:pt x="0" y="0"/>
                </a:moveTo>
                <a:lnTo>
                  <a:pt x="2032000" y="0"/>
                </a:lnTo>
                <a:lnTo>
                  <a:pt x="2032000" y="50800"/>
                </a:lnTo>
                <a:lnTo>
                  <a:pt x="0" y="50800"/>
                </a:lnTo>
                <a:lnTo>
                  <a:pt x="0" y="0"/>
                </a:lnTo>
                <a:close/>
              </a:path>
            </a:pathLst>
          </a:custGeom>
          <a:gradFill flip="none" rotWithShape="1">
            <a:gsLst>
              <a:gs pos="0">
                <a:srgbClr val="3C8082"/>
              </a:gs>
              <a:gs pos="100000">
                <a:srgbClr val="B38B59"/>
              </a:gs>
            </a:gsLst>
            <a:lin ang="0" scaled="1"/>
          </a:gradFill>
          <a:ln/>
        </p:spPr>
        <p:txBody>
          <a:bodyPr/>
          <a:lstStyle/>
          <a:p>
            <a:endParaRPr lang="zh-CN" altLang="en-US"/>
          </a:p>
        </p:txBody>
      </p:sp>
      <p:sp>
        <p:nvSpPr>
          <p:cNvPr id="9" name="Shape 1">
            <a:extLst>
              <a:ext uri="{FF2B5EF4-FFF2-40B4-BE49-F238E27FC236}">
                <a16:creationId xmlns:a16="http://schemas.microsoft.com/office/drawing/2014/main" id="{156AE6C6-E1D9-B5BF-83AE-F5D04F17B478}"/>
              </a:ext>
            </a:extLst>
          </p:cNvPr>
          <p:cNvSpPr/>
          <p:nvPr/>
        </p:nvSpPr>
        <p:spPr>
          <a:xfrm>
            <a:off x="508000" y="2257425"/>
            <a:ext cx="1016000" cy="1016000"/>
          </a:xfrm>
          <a:custGeom>
            <a:avLst/>
            <a:gdLst/>
            <a:ahLst/>
            <a:cxnLst/>
            <a:rect l="l" t="t" r="r" b="b"/>
            <a:pathLst>
              <a:path w="1016000" h="1016000">
                <a:moveTo>
                  <a:pt x="152400" y="0"/>
                </a:moveTo>
                <a:lnTo>
                  <a:pt x="863600" y="0"/>
                </a:lnTo>
                <a:cubicBezTo>
                  <a:pt x="947712" y="0"/>
                  <a:pt x="1016000" y="68288"/>
                  <a:pt x="1016000" y="152400"/>
                </a:cubicBezTo>
                <a:lnTo>
                  <a:pt x="1016000" y="863600"/>
                </a:lnTo>
                <a:cubicBezTo>
                  <a:pt x="1016000" y="947712"/>
                  <a:pt x="947712" y="1016000"/>
                  <a:pt x="863600" y="1016000"/>
                </a:cubicBezTo>
                <a:lnTo>
                  <a:pt x="152400" y="1016000"/>
                </a:lnTo>
                <a:cubicBezTo>
                  <a:pt x="68288" y="1016000"/>
                  <a:pt x="0" y="947712"/>
                  <a:pt x="0" y="863600"/>
                </a:cubicBezTo>
                <a:lnTo>
                  <a:pt x="0" y="152400"/>
                </a:lnTo>
                <a:cubicBezTo>
                  <a:pt x="0" y="68288"/>
                  <a:pt x="68288" y="0"/>
                  <a:pt x="152400" y="0"/>
                </a:cubicBezTo>
                <a:close/>
              </a:path>
            </a:pathLst>
          </a:custGeom>
          <a:solidFill>
            <a:srgbClr val="3C8082"/>
          </a:solidFill>
          <a:ln/>
        </p:spPr>
        <p:txBody>
          <a:bodyPr anchor="ctr"/>
          <a:lstStyle/>
          <a:p>
            <a:pPr algn="ctr"/>
            <a:endParaRPr lang="zh-CN" altLang="en-US"/>
          </a:p>
        </p:txBody>
      </p:sp>
      <p:sp>
        <p:nvSpPr>
          <p:cNvPr id="10" name="Text 2">
            <a:extLst>
              <a:ext uri="{FF2B5EF4-FFF2-40B4-BE49-F238E27FC236}">
                <a16:creationId xmlns:a16="http://schemas.microsoft.com/office/drawing/2014/main" id="{EE7BC8A6-B5CF-2CE2-FE9B-07D1F2EF29DE}"/>
              </a:ext>
            </a:extLst>
          </p:cNvPr>
          <p:cNvSpPr/>
          <p:nvPr/>
        </p:nvSpPr>
        <p:spPr>
          <a:xfrm>
            <a:off x="547192" y="2330450"/>
            <a:ext cx="937617" cy="869950"/>
          </a:xfrm>
          <a:prstGeom prst="rect">
            <a:avLst/>
          </a:prstGeom>
          <a:noFill/>
          <a:ln/>
        </p:spPr>
        <p:txBody>
          <a:bodyPr wrap="square" lIns="0" tIns="0" rIns="0" bIns="0" rtlCol="0" anchor="b"/>
          <a:lstStyle/>
          <a:p>
            <a:pPr algn="ctr">
              <a:lnSpc>
                <a:spcPct val="80000"/>
              </a:lnSpc>
            </a:pPr>
            <a:r>
              <a:rPr lang="en-US" sz="4800" b="1" dirty="0">
                <a:solidFill>
                  <a:srgbClr val="FFFFFF"/>
                </a:solidFill>
                <a:latin typeface="Liter" pitchFamily="34" charset="0"/>
                <a:ea typeface="Liter" pitchFamily="34" charset="-122"/>
                <a:cs typeface="Liter" pitchFamily="34" charset="-120"/>
              </a:rPr>
              <a:t>0</a:t>
            </a:r>
            <a:r>
              <a:rPr lang="en-US" altLang="zh-CN" sz="4800" b="1" dirty="0">
                <a:solidFill>
                  <a:srgbClr val="FFFFFF"/>
                </a:solidFill>
                <a:latin typeface="Liter" pitchFamily="34" charset="0"/>
                <a:ea typeface="Liter" pitchFamily="34" charset="-122"/>
                <a:cs typeface="Liter" pitchFamily="34" charset="-120"/>
              </a:rPr>
              <a:t>3</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47824" y="492606"/>
            <a:ext cx="358259" cy="358259"/>
          </a:xfrm>
          <a:custGeom>
            <a:avLst/>
            <a:gdLst/>
            <a:ahLst/>
            <a:cxnLst/>
            <a:rect l="l" t="t" r="r" b="b"/>
            <a:pathLst>
              <a:path w="358259" h="358259">
                <a:moveTo>
                  <a:pt x="67174" y="0"/>
                </a:moveTo>
                <a:lnTo>
                  <a:pt x="291085" y="0"/>
                </a:lnTo>
                <a:cubicBezTo>
                  <a:pt x="328159" y="0"/>
                  <a:pt x="358259" y="30099"/>
                  <a:pt x="358259" y="67174"/>
                </a:cubicBezTo>
                <a:lnTo>
                  <a:pt x="358259" y="291085"/>
                </a:lnTo>
                <a:cubicBezTo>
                  <a:pt x="358259" y="328159"/>
                  <a:pt x="328159" y="358259"/>
                  <a:pt x="291085" y="358259"/>
                </a:cubicBezTo>
                <a:lnTo>
                  <a:pt x="67174" y="358259"/>
                </a:lnTo>
                <a:cubicBezTo>
                  <a:pt x="30099" y="358259"/>
                  <a:pt x="0" y="328159"/>
                  <a:pt x="0" y="291085"/>
                </a:cubicBezTo>
                <a:lnTo>
                  <a:pt x="0" y="67174"/>
                </a:lnTo>
                <a:cubicBezTo>
                  <a:pt x="0" y="30099"/>
                  <a:pt x="30099" y="0"/>
                  <a:pt x="67174" y="0"/>
                </a:cubicBezTo>
                <a:close/>
              </a:path>
            </a:pathLst>
          </a:custGeom>
          <a:solidFill>
            <a:srgbClr val="3C8082"/>
          </a:solidFill>
          <a:ln/>
        </p:spPr>
        <p:txBody>
          <a:bodyPr/>
          <a:lstStyle/>
          <a:p>
            <a:endParaRPr lang="zh-CN" altLang="en-US"/>
          </a:p>
        </p:txBody>
      </p:sp>
      <p:sp>
        <p:nvSpPr>
          <p:cNvPr id="3" name="Text 1"/>
          <p:cNvSpPr/>
          <p:nvPr/>
        </p:nvSpPr>
        <p:spPr>
          <a:xfrm>
            <a:off x="403041" y="492606"/>
            <a:ext cx="447824" cy="358259"/>
          </a:xfrm>
          <a:prstGeom prst="rect">
            <a:avLst/>
          </a:prstGeom>
          <a:noFill/>
          <a:ln/>
        </p:spPr>
        <p:txBody>
          <a:bodyPr wrap="square" lIns="0" tIns="0" rIns="0" bIns="0" rtlCol="0" anchor="ctr"/>
          <a:lstStyle/>
          <a:p>
            <a:pPr algn="ctr">
              <a:lnSpc>
                <a:spcPct val="130000"/>
              </a:lnSpc>
            </a:pPr>
            <a:r>
              <a:rPr lang="en-US" sz="1410" b="1" dirty="0">
                <a:solidFill>
                  <a:srgbClr val="FFFFFF"/>
                </a:solidFill>
                <a:latin typeface="Liter" pitchFamily="34" charset="0"/>
                <a:ea typeface="Liter" pitchFamily="34" charset="-122"/>
                <a:cs typeface="Liter" pitchFamily="34" charset="-120"/>
              </a:rPr>
              <a:t>08</a:t>
            </a:r>
            <a:endParaRPr lang="en-US" sz="1600" dirty="0"/>
          </a:p>
        </p:txBody>
      </p:sp>
      <p:sp>
        <p:nvSpPr>
          <p:cNvPr id="4" name="Text 2"/>
          <p:cNvSpPr/>
          <p:nvPr/>
        </p:nvSpPr>
        <p:spPr>
          <a:xfrm>
            <a:off x="940430" y="447824"/>
            <a:ext cx="4892474" cy="447824"/>
          </a:xfrm>
          <a:prstGeom prst="rect">
            <a:avLst/>
          </a:prstGeom>
          <a:noFill/>
          <a:ln/>
        </p:spPr>
        <p:txBody>
          <a:bodyPr wrap="square" lIns="0" tIns="0" rIns="0" bIns="0" rtlCol="0" anchor="ctr"/>
          <a:lstStyle/>
          <a:p>
            <a:pPr>
              <a:lnSpc>
                <a:spcPct val="90000"/>
              </a:lnSpc>
            </a:pPr>
            <a:r>
              <a:rPr lang="en-US" sz="3174" b="1" dirty="0">
                <a:solidFill>
                  <a:srgbClr val="E0E2E4"/>
                </a:solidFill>
                <a:latin typeface="MiSans" pitchFamily="34" charset="0"/>
                <a:ea typeface="MiSans" pitchFamily="34" charset="-122"/>
                <a:cs typeface="MiSans" pitchFamily="34" charset="-120"/>
              </a:rPr>
              <a:t>YARN架构演进与设计哲学</a:t>
            </a:r>
            <a:endParaRPr lang="en-US" sz="1600" dirty="0"/>
          </a:p>
        </p:txBody>
      </p:sp>
      <p:sp>
        <p:nvSpPr>
          <p:cNvPr id="5" name="Text 3"/>
          <p:cNvSpPr/>
          <p:nvPr/>
        </p:nvSpPr>
        <p:spPr>
          <a:xfrm>
            <a:off x="447824" y="985212"/>
            <a:ext cx="15461113" cy="313477"/>
          </a:xfrm>
          <a:prstGeom prst="rect">
            <a:avLst/>
          </a:prstGeom>
          <a:noFill/>
          <a:ln/>
        </p:spPr>
        <p:txBody>
          <a:bodyPr wrap="square" lIns="0" tIns="0" rIns="0" bIns="0" rtlCol="0" anchor="ctr"/>
          <a:lstStyle/>
          <a:p>
            <a:pPr>
              <a:lnSpc>
                <a:spcPct val="130000"/>
              </a:lnSpc>
            </a:pPr>
            <a:r>
              <a:rPr lang="en-US" sz="1587" b="1" dirty="0">
                <a:solidFill>
                  <a:srgbClr val="B38B59"/>
                </a:solidFill>
                <a:latin typeface="MiSans" pitchFamily="34" charset="0"/>
                <a:ea typeface="MiSans" pitchFamily="34" charset="-122"/>
                <a:cs typeface="MiSans" pitchFamily="34" charset="-120"/>
              </a:rPr>
              <a:t>从MapReduce 1.0到YARN的架构演进与Container抽象设计</a:t>
            </a:r>
            <a:endParaRPr lang="en-US" sz="1600" dirty="0"/>
          </a:p>
        </p:txBody>
      </p:sp>
      <p:sp>
        <p:nvSpPr>
          <p:cNvPr id="6" name="Shape 4"/>
          <p:cNvSpPr/>
          <p:nvPr/>
        </p:nvSpPr>
        <p:spPr>
          <a:xfrm>
            <a:off x="453421" y="1483416"/>
            <a:ext cx="7557025" cy="7265939"/>
          </a:xfrm>
          <a:custGeom>
            <a:avLst/>
            <a:gdLst/>
            <a:ahLst/>
            <a:cxnLst/>
            <a:rect l="l" t="t" r="r" b="b"/>
            <a:pathLst>
              <a:path w="7557025" h="7265939">
                <a:moveTo>
                  <a:pt x="89589" y="0"/>
                </a:moveTo>
                <a:lnTo>
                  <a:pt x="7467436" y="0"/>
                </a:lnTo>
                <a:cubicBezTo>
                  <a:pt x="7516914" y="0"/>
                  <a:pt x="7557025" y="40110"/>
                  <a:pt x="7557025" y="89589"/>
                </a:cubicBezTo>
                <a:lnTo>
                  <a:pt x="7557025" y="7176350"/>
                </a:lnTo>
                <a:cubicBezTo>
                  <a:pt x="7557025" y="7225829"/>
                  <a:pt x="7516914" y="7265939"/>
                  <a:pt x="7467436" y="7265939"/>
                </a:cubicBezTo>
                <a:lnTo>
                  <a:pt x="89589" y="7265939"/>
                </a:lnTo>
                <a:cubicBezTo>
                  <a:pt x="40110" y="7265939"/>
                  <a:pt x="0" y="7225829"/>
                  <a:pt x="0" y="7176350"/>
                </a:cubicBezTo>
                <a:lnTo>
                  <a:pt x="0" y="89589"/>
                </a:lnTo>
                <a:cubicBezTo>
                  <a:pt x="0" y="40110"/>
                  <a:pt x="40110" y="0"/>
                  <a:pt x="8958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54942" y="1712926"/>
            <a:ext cx="302281" cy="268694"/>
          </a:xfrm>
          <a:custGeom>
            <a:avLst/>
            <a:gdLst/>
            <a:ahLst/>
            <a:cxnLst/>
            <a:rect l="l" t="t" r="r" b="b"/>
            <a:pathLst>
              <a:path w="302281" h="268694">
                <a:moveTo>
                  <a:pt x="151140" y="33587"/>
                </a:moveTo>
                <a:cubicBezTo>
                  <a:pt x="206769" y="33587"/>
                  <a:pt x="251901" y="78719"/>
                  <a:pt x="251901" y="134347"/>
                </a:cubicBezTo>
                <a:cubicBezTo>
                  <a:pt x="251901" y="189975"/>
                  <a:pt x="206769" y="235107"/>
                  <a:pt x="151140" y="235107"/>
                </a:cubicBezTo>
                <a:cubicBezTo>
                  <a:pt x="116924" y="235107"/>
                  <a:pt x="86643" y="218052"/>
                  <a:pt x="68433" y="191917"/>
                </a:cubicBezTo>
                <a:cubicBezTo>
                  <a:pt x="63133" y="184307"/>
                  <a:pt x="52637" y="182471"/>
                  <a:pt x="45027" y="187771"/>
                </a:cubicBezTo>
                <a:cubicBezTo>
                  <a:pt x="37418" y="193071"/>
                  <a:pt x="35581" y="203567"/>
                  <a:pt x="40881" y="211177"/>
                </a:cubicBezTo>
                <a:cubicBezTo>
                  <a:pt x="65127" y="245918"/>
                  <a:pt x="105483" y="268694"/>
                  <a:pt x="151140" y="268694"/>
                </a:cubicBezTo>
                <a:cubicBezTo>
                  <a:pt x="225346" y="268694"/>
                  <a:pt x="285488" y="208553"/>
                  <a:pt x="285488" y="134347"/>
                </a:cubicBezTo>
                <a:cubicBezTo>
                  <a:pt x="285488" y="60141"/>
                  <a:pt x="225346" y="0"/>
                  <a:pt x="151140" y="0"/>
                </a:cubicBezTo>
                <a:cubicBezTo>
                  <a:pt x="106166" y="0"/>
                  <a:pt x="66386" y="22094"/>
                  <a:pt x="41983" y="55995"/>
                </a:cubicBezTo>
                <a:lnTo>
                  <a:pt x="41983" y="41983"/>
                </a:lnTo>
                <a:cubicBezTo>
                  <a:pt x="41983" y="32695"/>
                  <a:pt x="34479" y="25190"/>
                  <a:pt x="25190" y="25190"/>
                </a:cubicBezTo>
                <a:cubicBezTo>
                  <a:pt x="15901" y="25190"/>
                  <a:pt x="8397" y="32695"/>
                  <a:pt x="8397" y="41983"/>
                </a:cubicBezTo>
                <a:lnTo>
                  <a:pt x="8397" y="100760"/>
                </a:lnTo>
                <a:cubicBezTo>
                  <a:pt x="8397" y="110049"/>
                  <a:pt x="15901" y="117554"/>
                  <a:pt x="25190" y="117554"/>
                </a:cubicBezTo>
                <a:lnTo>
                  <a:pt x="38100" y="117554"/>
                </a:lnTo>
                <a:cubicBezTo>
                  <a:pt x="38362" y="117554"/>
                  <a:pt x="38625" y="117554"/>
                  <a:pt x="38887" y="117554"/>
                </a:cubicBezTo>
                <a:lnTo>
                  <a:pt x="84019" y="117554"/>
                </a:lnTo>
                <a:cubicBezTo>
                  <a:pt x="93308" y="117554"/>
                  <a:pt x="100813" y="110049"/>
                  <a:pt x="100813" y="100760"/>
                </a:cubicBezTo>
                <a:cubicBezTo>
                  <a:pt x="100813" y="91471"/>
                  <a:pt x="93308" y="83967"/>
                  <a:pt x="84019" y="83967"/>
                </a:cubicBezTo>
                <a:lnTo>
                  <a:pt x="63920" y="83967"/>
                </a:lnTo>
                <a:cubicBezTo>
                  <a:pt x="81290" y="53844"/>
                  <a:pt x="113880" y="33587"/>
                  <a:pt x="151140" y="33587"/>
                </a:cubicBezTo>
                <a:close/>
                <a:moveTo>
                  <a:pt x="163736" y="79769"/>
                </a:moveTo>
                <a:cubicBezTo>
                  <a:pt x="163736" y="72789"/>
                  <a:pt x="158120" y="67174"/>
                  <a:pt x="151140" y="67174"/>
                </a:cubicBezTo>
                <a:cubicBezTo>
                  <a:pt x="144161" y="67174"/>
                  <a:pt x="138545" y="72789"/>
                  <a:pt x="138545" y="79769"/>
                </a:cubicBezTo>
                <a:lnTo>
                  <a:pt x="138545" y="134347"/>
                </a:lnTo>
                <a:cubicBezTo>
                  <a:pt x="138545" y="137706"/>
                  <a:pt x="139857" y="140907"/>
                  <a:pt x="142219" y="143269"/>
                </a:cubicBezTo>
                <a:lnTo>
                  <a:pt x="180004" y="181054"/>
                </a:lnTo>
                <a:cubicBezTo>
                  <a:pt x="184937" y="185987"/>
                  <a:pt x="192914" y="185987"/>
                  <a:pt x="197795" y="181054"/>
                </a:cubicBezTo>
                <a:cubicBezTo>
                  <a:pt x="202675" y="176121"/>
                  <a:pt x="202728" y="168144"/>
                  <a:pt x="197795" y="163263"/>
                </a:cubicBezTo>
                <a:lnTo>
                  <a:pt x="163683" y="129152"/>
                </a:lnTo>
                <a:lnTo>
                  <a:pt x="163683" y="79769"/>
                </a:lnTo>
                <a:close/>
              </a:path>
            </a:pathLst>
          </a:custGeom>
          <a:solidFill>
            <a:srgbClr val="B38B59"/>
          </a:solidFill>
          <a:ln/>
        </p:spPr>
        <p:txBody>
          <a:bodyPr/>
          <a:lstStyle/>
          <a:p>
            <a:endParaRPr lang="zh-CN" altLang="en-US"/>
          </a:p>
        </p:txBody>
      </p:sp>
      <p:sp>
        <p:nvSpPr>
          <p:cNvPr id="8" name="Text 6"/>
          <p:cNvSpPr/>
          <p:nvPr/>
        </p:nvSpPr>
        <p:spPr>
          <a:xfrm>
            <a:off x="974017" y="1668143"/>
            <a:ext cx="6986050" cy="358259"/>
          </a:xfrm>
          <a:prstGeom prst="rect">
            <a:avLst/>
          </a:prstGeom>
          <a:noFill/>
          <a:ln/>
        </p:spPr>
        <p:txBody>
          <a:bodyPr wrap="square" lIns="0" tIns="0" rIns="0" bIns="0" rtlCol="0" anchor="ctr"/>
          <a:lstStyle/>
          <a:p>
            <a:pPr>
              <a:lnSpc>
                <a:spcPct val="110000"/>
              </a:lnSpc>
            </a:pPr>
            <a:r>
              <a:rPr lang="en-US" sz="2116" b="1" dirty="0">
                <a:solidFill>
                  <a:srgbClr val="E0E2E4"/>
                </a:solidFill>
                <a:latin typeface="MiSans" pitchFamily="34" charset="0"/>
                <a:ea typeface="MiSans" pitchFamily="34" charset="-122"/>
                <a:cs typeface="MiSans" pitchFamily="34" charset="-120"/>
              </a:rPr>
              <a:t>MapReduce 1.0的架构局限</a:t>
            </a:r>
            <a:endParaRPr lang="en-US" sz="1600" dirty="0"/>
          </a:p>
        </p:txBody>
      </p:sp>
      <p:sp>
        <p:nvSpPr>
          <p:cNvPr id="9" name="Shape 7"/>
          <p:cNvSpPr/>
          <p:nvPr/>
        </p:nvSpPr>
        <p:spPr>
          <a:xfrm>
            <a:off x="638149" y="2160749"/>
            <a:ext cx="7187570" cy="1231515"/>
          </a:xfrm>
          <a:custGeom>
            <a:avLst/>
            <a:gdLst/>
            <a:ahLst/>
            <a:cxnLst/>
            <a:rect l="l" t="t" r="r" b="b"/>
            <a:pathLst>
              <a:path w="7187570" h="1231515">
                <a:moveTo>
                  <a:pt x="89568" y="0"/>
                </a:moveTo>
                <a:lnTo>
                  <a:pt x="7098002" y="0"/>
                </a:lnTo>
                <a:cubicBezTo>
                  <a:pt x="7147469" y="0"/>
                  <a:pt x="7187570" y="40101"/>
                  <a:pt x="7187570" y="89568"/>
                </a:cubicBezTo>
                <a:lnTo>
                  <a:pt x="7187570" y="1141947"/>
                </a:lnTo>
                <a:cubicBezTo>
                  <a:pt x="7187570" y="1191414"/>
                  <a:pt x="7147469" y="1231515"/>
                  <a:pt x="7098002" y="1231515"/>
                </a:cubicBezTo>
                <a:lnTo>
                  <a:pt x="89568" y="1231515"/>
                </a:lnTo>
                <a:cubicBezTo>
                  <a:pt x="40101" y="1231515"/>
                  <a:pt x="0" y="1191414"/>
                  <a:pt x="0" y="1141947"/>
                </a:cubicBezTo>
                <a:lnTo>
                  <a:pt x="0" y="89568"/>
                </a:lnTo>
                <a:cubicBezTo>
                  <a:pt x="0" y="40134"/>
                  <a:pt x="40134" y="0"/>
                  <a:pt x="89568" y="0"/>
                </a:cubicBezTo>
                <a:close/>
              </a:path>
            </a:pathLst>
          </a:custGeom>
          <a:solidFill>
            <a:srgbClr val="1A1D21">
              <a:alpha val="50196"/>
            </a:srgbClr>
          </a:solidFill>
          <a:ln/>
        </p:spPr>
        <p:txBody>
          <a:bodyPr/>
          <a:lstStyle/>
          <a:p>
            <a:endParaRPr lang="zh-CN" altLang="en-US"/>
          </a:p>
        </p:txBody>
      </p:sp>
      <p:sp>
        <p:nvSpPr>
          <p:cNvPr id="10" name="Shape 8"/>
          <p:cNvSpPr/>
          <p:nvPr/>
        </p:nvSpPr>
        <p:spPr>
          <a:xfrm>
            <a:off x="772496" y="2295096"/>
            <a:ext cx="358259" cy="358259"/>
          </a:xfrm>
          <a:custGeom>
            <a:avLst/>
            <a:gdLst/>
            <a:ahLst/>
            <a:cxnLst/>
            <a:rect l="l" t="t" r="r" b="b"/>
            <a:pathLst>
              <a:path w="358259" h="358259">
                <a:moveTo>
                  <a:pt x="179129" y="0"/>
                </a:moveTo>
                <a:lnTo>
                  <a:pt x="179129" y="0"/>
                </a:lnTo>
                <a:cubicBezTo>
                  <a:pt x="277994" y="0"/>
                  <a:pt x="358259" y="80265"/>
                  <a:pt x="358259" y="179129"/>
                </a:cubicBezTo>
                <a:lnTo>
                  <a:pt x="358259" y="179129"/>
                </a:lnTo>
                <a:cubicBezTo>
                  <a:pt x="358259" y="277994"/>
                  <a:pt x="277994" y="358259"/>
                  <a:pt x="179129" y="358259"/>
                </a:cubicBezTo>
                <a:lnTo>
                  <a:pt x="179129" y="358259"/>
                </a:lnTo>
                <a:cubicBezTo>
                  <a:pt x="80265" y="358259"/>
                  <a:pt x="0" y="277994"/>
                  <a:pt x="0" y="179129"/>
                </a:cubicBezTo>
                <a:lnTo>
                  <a:pt x="0" y="179129"/>
                </a:lnTo>
                <a:cubicBezTo>
                  <a:pt x="0" y="80265"/>
                  <a:pt x="80265" y="0"/>
                  <a:pt x="179129" y="0"/>
                </a:cubicBezTo>
                <a:close/>
              </a:path>
            </a:pathLst>
          </a:custGeom>
          <a:solidFill>
            <a:srgbClr val="B38B59">
              <a:alpha val="30196"/>
            </a:srgbClr>
          </a:solidFill>
          <a:ln/>
        </p:spPr>
        <p:txBody>
          <a:bodyPr/>
          <a:lstStyle/>
          <a:p>
            <a:endParaRPr lang="zh-CN" altLang="en-US"/>
          </a:p>
        </p:txBody>
      </p:sp>
      <p:sp>
        <p:nvSpPr>
          <p:cNvPr id="11" name="Shape 9"/>
          <p:cNvSpPr/>
          <p:nvPr/>
        </p:nvSpPr>
        <p:spPr>
          <a:xfrm>
            <a:off x="862061" y="2384661"/>
            <a:ext cx="179129" cy="179129"/>
          </a:xfrm>
          <a:custGeom>
            <a:avLst/>
            <a:gdLst/>
            <a:ahLst/>
            <a:cxnLst/>
            <a:rect l="l" t="t" r="r" b="b"/>
            <a:pathLst>
              <a:path w="179129" h="179129">
                <a:moveTo>
                  <a:pt x="89565" y="0"/>
                </a:moveTo>
                <a:cubicBezTo>
                  <a:pt x="94708" y="0"/>
                  <a:pt x="99431" y="2834"/>
                  <a:pt x="101880" y="7347"/>
                </a:cubicBezTo>
                <a:lnTo>
                  <a:pt x="177450" y="147292"/>
                </a:lnTo>
                <a:cubicBezTo>
                  <a:pt x="179794" y="151630"/>
                  <a:pt x="179689" y="156878"/>
                  <a:pt x="177170" y="161112"/>
                </a:cubicBezTo>
                <a:cubicBezTo>
                  <a:pt x="174651" y="165345"/>
                  <a:pt x="170068" y="167934"/>
                  <a:pt x="165135" y="167934"/>
                </a:cubicBezTo>
                <a:lnTo>
                  <a:pt x="13994" y="167934"/>
                </a:lnTo>
                <a:cubicBezTo>
                  <a:pt x="9061" y="167934"/>
                  <a:pt x="4513" y="165345"/>
                  <a:pt x="1959" y="161112"/>
                </a:cubicBezTo>
                <a:cubicBezTo>
                  <a:pt x="-595" y="156878"/>
                  <a:pt x="-665" y="151630"/>
                  <a:pt x="1679" y="147292"/>
                </a:cubicBezTo>
                <a:lnTo>
                  <a:pt x="77250" y="7347"/>
                </a:lnTo>
                <a:cubicBezTo>
                  <a:pt x="79699" y="2834"/>
                  <a:pt x="84422" y="0"/>
                  <a:pt x="89565" y="0"/>
                </a:cubicBezTo>
                <a:close/>
                <a:moveTo>
                  <a:pt x="89565" y="58777"/>
                </a:moveTo>
                <a:cubicBezTo>
                  <a:pt x="84912" y="58777"/>
                  <a:pt x="81168" y="62520"/>
                  <a:pt x="81168" y="67174"/>
                </a:cubicBezTo>
                <a:lnTo>
                  <a:pt x="81168" y="106358"/>
                </a:lnTo>
                <a:cubicBezTo>
                  <a:pt x="81168" y="111011"/>
                  <a:pt x="84912" y="114755"/>
                  <a:pt x="89565" y="114755"/>
                </a:cubicBezTo>
                <a:cubicBezTo>
                  <a:pt x="94218" y="114755"/>
                  <a:pt x="97961" y="111011"/>
                  <a:pt x="97961" y="106358"/>
                </a:cubicBezTo>
                <a:lnTo>
                  <a:pt x="97961" y="67174"/>
                </a:lnTo>
                <a:cubicBezTo>
                  <a:pt x="97961" y="62520"/>
                  <a:pt x="94218" y="58777"/>
                  <a:pt x="89565" y="58777"/>
                </a:cubicBezTo>
                <a:close/>
                <a:moveTo>
                  <a:pt x="98906" y="134347"/>
                </a:moveTo>
                <a:cubicBezTo>
                  <a:pt x="99119" y="130880"/>
                  <a:pt x="97389" y="127581"/>
                  <a:pt x="94417" y="125783"/>
                </a:cubicBezTo>
                <a:cubicBezTo>
                  <a:pt x="91445" y="123985"/>
                  <a:pt x="87720" y="123985"/>
                  <a:pt x="84747" y="125783"/>
                </a:cubicBezTo>
                <a:cubicBezTo>
                  <a:pt x="81775" y="127581"/>
                  <a:pt x="80046" y="130880"/>
                  <a:pt x="80258" y="134347"/>
                </a:cubicBezTo>
                <a:cubicBezTo>
                  <a:pt x="80046" y="137814"/>
                  <a:pt x="81775" y="141113"/>
                  <a:pt x="84747" y="142911"/>
                </a:cubicBezTo>
                <a:cubicBezTo>
                  <a:pt x="87720" y="144709"/>
                  <a:pt x="91445" y="144709"/>
                  <a:pt x="94417" y="142911"/>
                </a:cubicBezTo>
                <a:cubicBezTo>
                  <a:pt x="97389" y="141113"/>
                  <a:pt x="99119" y="137814"/>
                  <a:pt x="98906" y="134347"/>
                </a:cubicBezTo>
                <a:close/>
              </a:path>
            </a:pathLst>
          </a:custGeom>
          <a:solidFill>
            <a:srgbClr val="B38B59"/>
          </a:solidFill>
          <a:ln/>
        </p:spPr>
        <p:txBody>
          <a:bodyPr/>
          <a:lstStyle/>
          <a:p>
            <a:endParaRPr lang="zh-CN" altLang="en-US"/>
          </a:p>
        </p:txBody>
      </p:sp>
      <p:sp>
        <p:nvSpPr>
          <p:cNvPr id="12" name="Text 10"/>
          <p:cNvSpPr/>
          <p:nvPr/>
        </p:nvSpPr>
        <p:spPr>
          <a:xfrm>
            <a:off x="1265102" y="2295096"/>
            <a:ext cx="1309884" cy="313477"/>
          </a:xfrm>
          <a:prstGeom prst="rect">
            <a:avLst/>
          </a:prstGeom>
          <a:noFill/>
          <a:ln/>
        </p:spPr>
        <p:txBody>
          <a:bodyPr wrap="square" lIns="0" tIns="0" rIns="0" bIns="0" rtlCol="0" anchor="ctr"/>
          <a:lstStyle/>
          <a:p>
            <a:pPr>
              <a:lnSpc>
                <a:spcPct val="130000"/>
              </a:lnSpc>
            </a:pPr>
            <a:r>
              <a:rPr lang="en-US" sz="1587" b="1" dirty="0">
                <a:solidFill>
                  <a:srgbClr val="E0E2E4"/>
                </a:solidFill>
                <a:latin typeface="MiSans" pitchFamily="34" charset="0"/>
                <a:ea typeface="MiSans" pitchFamily="34" charset="-122"/>
                <a:cs typeface="MiSans" pitchFamily="34" charset="-120"/>
              </a:rPr>
              <a:t>单点故障风险</a:t>
            </a:r>
            <a:endParaRPr lang="en-US" sz="1600" dirty="0"/>
          </a:p>
        </p:txBody>
      </p:sp>
      <p:sp>
        <p:nvSpPr>
          <p:cNvPr id="13" name="Text 11"/>
          <p:cNvSpPr/>
          <p:nvPr/>
        </p:nvSpPr>
        <p:spPr>
          <a:xfrm>
            <a:off x="772496" y="2742920"/>
            <a:ext cx="6997245" cy="514997"/>
          </a:xfrm>
          <a:prstGeom prst="rect">
            <a:avLst/>
          </a:prstGeom>
          <a:noFill/>
          <a:ln/>
        </p:spPr>
        <p:txBody>
          <a:bodyPr wrap="square" lIns="0" tIns="0" rIns="0" bIns="0" rtlCol="0" anchor="ctr"/>
          <a:lstStyle/>
          <a:p>
            <a:pPr>
              <a:lnSpc>
                <a:spcPct val="140000"/>
              </a:lnSpc>
            </a:pPr>
            <a:r>
              <a:rPr lang="en-US" sz="1234" dirty="0">
                <a:solidFill>
                  <a:srgbClr val="E0E2E4">
                    <a:alpha val="80000"/>
                  </a:srgbClr>
                </a:solidFill>
                <a:latin typeface="MiSans" pitchFamily="34" charset="0"/>
                <a:ea typeface="MiSans" pitchFamily="34" charset="-122"/>
                <a:cs typeface="MiSans" pitchFamily="34" charset="-120"/>
              </a:rPr>
              <a:t>JobTracker作为单一的中央控制节点,存在明显的单点故障风险。一旦JobTracker故障,整个集群将不可用,所有正在运行的作业都会失败。</a:t>
            </a:r>
            <a:endParaRPr lang="en-US" sz="1600" dirty="0"/>
          </a:p>
        </p:txBody>
      </p:sp>
      <p:sp>
        <p:nvSpPr>
          <p:cNvPr id="14" name="Shape 12"/>
          <p:cNvSpPr/>
          <p:nvPr/>
        </p:nvSpPr>
        <p:spPr>
          <a:xfrm>
            <a:off x="638149" y="3476231"/>
            <a:ext cx="7187570" cy="1231515"/>
          </a:xfrm>
          <a:custGeom>
            <a:avLst/>
            <a:gdLst/>
            <a:ahLst/>
            <a:cxnLst/>
            <a:rect l="l" t="t" r="r" b="b"/>
            <a:pathLst>
              <a:path w="7187570" h="1231515">
                <a:moveTo>
                  <a:pt x="89568" y="0"/>
                </a:moveTo>
                <a:lnTo>
                  <a:pt x="7098002" y="0"/>
                </a:lnTo>
                <a:cubicBezTo>
                  <a:pt x="7147469" y="0"/>
                  <a:pt x="7187570" y="40101"/>
                  <a:pt x="7187570" y="89568"/>
                </a:cubicBezTo>
                <a:lnTo>
                  <a:pt x="7187570" y="1141947"/>
                </a:lnTo>
                <a:cubicBezTo>
                  <a:pt x="7187570" y="1191414"/>
                  <a:pt x="7147469" y="1231515"/>
                  <a:pt x="7098002" y="1231515"/>
                </a:cubicBezTo>
                <a:lnTo>
                  <a:pt x="89568" y="1231515"/>
                </a:lnTo>
                <a:cubicBezTo>
                  <a:pt x="40101" y="1231515"/>
                  <a:pt x="0" y="1191414"/>
                  <a:pt x="0" y="1141947"/>
                </a:cubicBezTo>
                <a:lnTo>
                  <a:pt x="0" y="89568"/>
                </a:lnTo>
                <a:cubicBezTo>
                  <a:pt x="0" y="40134"/>
                  <a:pt x="40134" y="0"/>
                  <a:pt x="89568" y="0"/>
                </a:cubicBezTo>
                <a:close/>
              </a:path>
            </a:pathLst>
          </a:custGeom>
          <a:solidFill>
            <a:srgbClr val="1A1D21">
              <a:alpha val="50196"/>
            </a:srgbClr>
          </a:solidFill>
          <a:ln/>
        </p:spPr>
        <p:txBody>
          <a:bodyPr/>
          <a:lstStyle/>
          <a:p>
            <a:endParaRPr lang="zh-CN" altLang="en-US"/>
          </a:p>
        </p:txBody>
      </p:sp>
      <p:sp>
        <p:nvSpPr>
          <p:cNvPr id="15" name="Shape 13"/>
          <p:cNvSpPr/>
          <p:nvPr/>
        </p:nvSpPr>
        <p:spPr>
          <a:xfrm>
            <a:off x="772496" y="3610579"/>
            <a:ext cx="358259" cy="358259"/>
          </a:xfrm>
          <a:custGeom>
            <a:avLst/>
            <a:gdLst/>
            <a:ahLst/>
            <a:cxnLst/>
            <a:rect l="l" t="t" r="r" b="b"/>
            <a:pathLst>
              <a:path w="358259" h="358259">
                <a:moveTo>
                  <a:pt x="179129" y="0"/>
                </a:moveTo>
                <a:lnTo>
                  <a:pt x="179129" y="0"/>
                </a:lnTo>
                <a:cubicBezTo>
                  <a:pt x="277994" y="0"/>
                  <a:pt x="358259" y="80265"/>
                  <a:pt x="358259" y="179129"/>
                </a:cubicBezTo>
                <a:lnTo>
                  <a:pt x="358259" y="179129"/>
                </a:lnTo>
                <a:cubicBezTo>
                  <a:pt x="358259" y="277994"/>
                  <a:pt x="277994" y="358259"/>
                  <a:pt x="179129" y="358259"/>
                </a:cubicBezTo>
                <a:lnTo>
                  <a:pt x="179129" y="358259"/>
                </a:lnTo>
                <a:cubicBezTo>
                  <a:pt x="80265" y="358259"/>
                  <a:pt x="0" y="277994"/>
                  <a:pt x="0" y="179129"/>
                </a:cubicBezTo>
                <a:lnTo>
                  <a:pt x="0" y="179129"/>
                </a:lnTo>
                <a:cubicBezTo>
                  <a:pt x="0" y="80265"/>
                  <a:pt x="80265" y="0"/>
                  <a:pt x="179129" y="0"/>
                </a:cubicBezTo>
                <a:close/>
              </a:path>
            </a:pathLst>
          </a:custGeom>
          <a:solidFill>
            <a:srgbClr val="B38B59">
              <a:alpha val="30196"/>
            </a:srgbClr>
          </a:solidFill>
          <a:ln/>
        </p:spPr>
        <p:txBody>
          <a:bodyPr/>
          <a:lstStyle/>
          <a:p>
            <a:endParaRPr lang="zh-CN" altLang="en-US"/>
          </a:p>
        </p:txBody>
      </p:sp>
      <p:sp>
        <p:nvSpPr>
          <p:cNvPr id="16" name="Shape 14"/>
          <p:cNvSpPr/>
          <p:nvPr/>
        </p:nvSpPr>
        <p:spPr>
          <a:xfrm>
            <a:off x="862061" y="3700143"/>
            <a:ext cx="179129" cy="179129"/>
          </a:xfrm>
          <a:custGeom>
            <a:avLst/>
            <a:gdLst/>
            <a:ahLst/>
            <a:cxnLst/>
            <a:rect l="l" t="t" r="r" b="b"/>
            <a:pathLst>
              <a:path w="179129" h="179129">
                <a:moveTo>
                  <a:pt x="22391" y="22391"/>
                </a:moveTo>
                <a:cubicBezTo>
                  <a:pt x="22391" y="16199"/>
                  <a:pt x="17388" y="11196"/>
                  <a:pt x="11196" y="11196"/>
                </a:cubicBezTo>
                <a:cubicBezTo>
                  <a:pt x="5003" y="11196"/>
                  <a:pt x="0" y="16199"/>
                  <a:pt x="0" y="22391"/>
                </a:cubicBezTo>
                <a:lnTo>
                  <a:pt x="0" y="139945"/>
                </a:lnTo>
                <a:cubicBezTo>
                  <a:pt x="0" y="155409"/>
                  <a:pt x="12525" y="167934"/>
                  <a:pt x="27989" y="167934"/>
                </a:cubicBezTo>
                <a:lnTo>
                  <a:pt x="167934" y="167934"/>
                </a:lnTo>
                <a:cubicBezTo>
                  <a:pt x="174126" y="167934"/>
                  <a:pt x="179129" y="162931"/>
                  <a:pt x="179129" y="156738"/>
                </a:cubicBezTo>
                <a:cubicBezTo>
                  <a:pt x="179129" y="150546"/>
                  <a:pt x="174126" y="145543"/>
                  <a:pt x="167934" y="145543"/>
                </a:cubicBezTo>
                <a:lnTo>
                  <a:pt x="27989" y="145543"/>
                </a:lnTo>
                <a:cubicBezTo>
                  <a:pt x="24910" y="145543"/>
                  <a:pt x="22391" y="143024"/>
                  <a:pt x="22391" y="139945"/>
                </a:cubicBezTo>
                <a:lnTo>
                  <a:pt x="22391" y="22391"/>
                </a:lnTo>
                <a:close/>
                <a:moveTo>
                  <a:pt x="164645" y="52689"/>
                </a:moveTo>
                <a:cubicBezTo>
                  <a:pt x="169018" y="48316"/>
                  <a:pt x="169018" y="41214"/>
                  <a:pt x="164645" y="36840"/>
                </a:cubicBezTo>
                <a:cubicBezTo>
                  <a:pt x="160272" y="32467"/>
                  <a:pt x="153170" y="32467"/>
                  <a:pt x="148796" y="36840"/>
                </a:cubicBezTo>
                <a:lnTo>
                  <a:pt x="111956" y="73716"/>
                </a:lnTo>
                <a:lnTo>
                  <a:pt x="91874" y="53669"/>
                </a:lnTo>
                <a:cubicBezTo>
                  <a:pt x="87501" y="49296"/>
                  <a:pt x="80398" y="49296"/>
                  <a:pt x="76025" y="53669"/>
                </a:cubicBezTo>
                <a:lnTo>
                  <a:pt x="42438" y="87256"/>
                </a:lnTo>
                <a:cubicBezTo>
                  <a:pt x="38065" y="91629"/>
                  <a:pt x="38065" y="98731"/>
                  <a:pt x="42438" y="103104"/>
                </a:cubicBezTo>
                <a:cubicBezTo>
                  <a:pt x="46812" y="107478"/>
                  <a:pt x="53914" y="107478"/>
                  <a:pt x="58287" y="103104"/>
                </a:cubicBezTo>
                <a:lnTo>
                  <a:pt x="83967" y="77425"/>
                </a:lnTo>
                <a:lnTo>
                  <a:pt x="104049" y="97507"/>
                </a:lnTo>
                <a:cubicBezTo>
                  <a:pt x="108422" y="101880"/>
                  <a:pt x="115525" y="101880"/>
                  <a:pt x="119898" y="97507"/>
                </a:cubicBezTo>
                <a:lnTo>
                  <a:pt x="164680" y="52724"/>
                </a:lnTo>
                <a:close/>
              </a:path>
            </a:pathLst>
          </a:custGeom>
          <a:solidFill>
            <a:srgbClr val="B38B59"/>
          </a:solidFill>
          <a:ln/>
        </p:spPr>
        <p:txBody>
          <a:bodyPr/>
          <a:lstStyle/>
          <a:p>
            <a:endParaRPr lang="zh-CN" altLang="en-US"/>
          </a:p>
        </p:txBody>
      </p:sp>
      <p:sp>
        <p:nvSpPr>
          <p:cNvPr id="17" name="Text 15"/>
          <p:cNvSpPr/>
          <p:nvPr/>
        </p:nvSpPr>
        <p:spPr>
          <a:xfrm>
            <a:off x="1265102" y="3610579"/>
            <a:ext cx="1108364" cy="313477"/>
          </a:xfrm>
          <a:prstGeom prst="rect">
            <a:avLst/>
          </a:prstGeom>
          <a:noFill/>
          <a:ln/>
        </p:spPr>
        <p:txBody>
          <a:bodyPr wrap="square" lIns="0" tIns="0" rIns="0" bIns="0" rtlCol="0" anchor="ctr"/>
          <a:lstStyle/>
          <a:p>
            <a:pPr>
              <a:lnSpc>
                <a:spcPct val="130000"/>
              </a:lnSpc>
            </a:pPr>
            <a:r>
              <a:rPr lang="en-US" sz="1587" b="1" dirty="0">
                <a:solidFill>
                  <a:srgbClr val="E0E2E4"/>
                </a:solidFill>
                <a:latin typeface="MiSans" pitchFamily="34" charset="0"/>
                <a:ea typeface="MiSans" pitchFamily="34" charset="-122"/>
                <a:cs typeface="MiSans" pitchFamily="34" charset="-120"/>
              </a:rPr>
              <a:t>扩展性瓶颈</a:t>
            </a:r>
            <a:endParaRPr lang="en-US" sz="1600" dirty="0"/>
          </a:p>
        </p:txBody>
      </p:sp>
      <p:sp>
        <p:nvSpPr>
          <p:cNvPr id="18" name="Text 16"/>
          <p:cNvSpPr/>
          <p:nvPr/>
        </p:nvSpPr>
        <p:spPr>
          <a:xfrm>
            <a:off x="772496" y="4058402"/>
            <a:ext cx="6997245" cy="514997"/>
          </a:xfrm>
          <a:prstGeom prst="rect">
            <a:avLst/>
          </a:prstGeom>
          <a:noFill/>
          <a:ln/>
        </p:spPr>
        <p:txBody>
          <a:bodyPr wrap="square" lIns="0" tIns="0" rIns="0" bIns="0" rtlCol="0" anchor="ctr"/>
          <a:lstStyle/>
          <a:p>
            <a:pPr>
              <a:lnSpc>
                <a:spcPct val="140000"/>
              </a:lnSpc>
            </a:pPr>
            <a:r>
              <a:rPr lang="en-US" sz="1234" dirty="0">
                <a:solidFill>
                  <a:srgbClr val="E0E2E4">
                    <a:alpha val="80000"/>
                  </a:srgbClr>
                </a:solidFill>
                <a:latin typeface="MiSans" pitchFamily="34" charset="0"/>
                <a:ea typeface="MiSans" pitchFamily="34" charset="-122"/>
                <a:cs typeface="MiSans" pitchFamily="34" charset="-120"/>
              </a:rPr>
              <a:t>JobTracker需要跟踪集群中所有任务的状态,在大规模集群中成为性能瓶颈。随着节点数量和作业规模的增长,JobTracker的内存消耗和CPU使用率急剧上升。</a:t>
            </a:r>
            <a:endParaRPr lang="en-US" sz="1600" dirty="0"/>
          </a:p>
        </p:txBody>
      </p:sp>
      <p:sp>
        <p:nvSpPr>
          <p:cNvPr id="19" name="Shape 17"/>
          <p:cNvSpPr/>
          <p:nvPr/>
        </p:nvSpPr>
        <p:spPr>
          <a:xfrm>
            <a:off x="638149" y="4791713"/>
            <a:ext cx="7187570" cy="1231515"/>
          </a:xfrm>
          <a:custGeom>
            <a:avLst/>
            <a:gdLst/>
            <a:ahLst/>
            <a:cxnLst/>
            <a:rect l="l" t="t" r="r" b="b"/>
            <a:pathLst>
              <a:path w="7187570" h="1231515">
                <a:moveTo>
                  <a:pt x="89568" y="0"/>
                </a:moveTo>
                <a:lnTo>
                  <a:pt x="7098002" y="0"/>
                </a:lnTo>
                <a:cubicBezTo>
                  <a:pt x="7147469" y="0"/>
                  <a:pt x="7187570" y="40101"/>
                  <a:pt x="7187570" y="89568"/>
                </a:cubicBezTo>
                <a:lnTo>
                  <a:pt x="7187570" y="1141947"/>
                </a:lnTo>
                <a:cubicBezTo>
                  <a:pt x="7187570" y="1191414"/>
                  <a:pt x="7147469" y="1231515"/>
                  <a:pt x="7098002" y="1231515"/>
                </a:cubicBezTo>
                <a:lnTo>
                  <a:pt x="89568" y="1231515"/>
                </a:lnTo>
                <a:cubicBezTo>
                  <a:pt x="40101" y="1231515"/>
                  <a:pt x="0" y="1191414"/>
                  <a:pt x="0" y="1141947"/>
                </a:cubicBezTo>
                <a:lnTo>
                  <a:pt x="0" y="89568"/>
                </a:lnTo>
                <a:cubicBezTo>
                  <a:pt x="0" y="40134"/>
                  <a:pt x="40134" y="0"/>
                  <a:pt x="89568" y="0"/>
                </a:cubicBezTo>
                <a:close/>
              </a:path>
            </a:pathLst>
          </a:custGeom>
          <a:solidFill>
            <a:srgbClr val="1A1D21">
              <a:alpha val="50196"/>
            </a:srgbClr>
          </a:solidFill>
          <a:ln/>
        </p:spPr>
        <p:txBody>
          <a:bodyPr/>
          <a:lstStyle/>
          <a:p>
            <a:endParaRPr lang="zh-CN" altLang="en-US"/>
          </a:p>
        </p:txBody>
      </p:sp>
      <p:sp>
        <p:nvSpPr>
          <p:cNvPr id="20" name="Shape 18"/>
          <p:cNvSpPr/>
          <p:nvPr/>
        </p:nvSpPr>
        <p:spPr>
          <a:xfrm>
            <a:off x="772496" y="4926061"/>
            <a:ext cx="358259" cy="358259"/>
          </a:xfrm>
          <a:custGeom>
            <a:avLst/>
            <a:gdLst/>
            <a:ahLst/>
            <a:cxnLst/>
            <a:rect l="l" t="t" r="r" b="b"/>
            <a:pathLst>
              <a:path w="358259" h="358259">
                <a:moveTo>
                  <a:pt x="179129" y="0"/>
                </a:moveTo>
                <a:lnTo>
                  <a:pt x="179129" y="0"/>
                </a:lnTo>
                <a:cubicBezTo>
                  <a:pt x="277994" y="0"/>
                  <a:pt x="358259" y="80265"/>
                  <a:pt x="358259" y="179129"/>
                </a:cubicBezTo>
                <a:lnTo>
                  <a:pt x="358259" y="179129"/>
                </a:lnTo>
                <a:cubicBezTo>
                  <a:pt x="358259" y="277994"/>
                  <a:pt x="277994" y="358259"/>
                  <a:pt x="179129" y="358259"/>
                </a:cubicBezTo>
                <a:lnTo>
                  <a:pt x="179129" y="358259"/>
                </a:lnTo>
                <a:cubicBezTo>
                  <a:pt x="80265" y="358259"/>
                  <a:pt x="0" y="277994"/>
                  <a:pt x="0" y="179129"/>
                </a:cubicBezTo>
                <a:lnTo>
                  <a:pt x="0" y="179129"/>
                </a:lnTo>
                <a:cubicBezTo>
                  <a:pt x="0" y="80265"/>
                  <a:pt x="80265" y="0"/>
                  <a:pt x="179129" y="0"/>
                </a:cubicBezTo>
                <a:close/>
              </a:path>
            </a:pathLst>
          </a:custGeom>
          <a:solidFill>
            <a:srgbClr val="B38B59">
              <a:alpha val="30196"/>
            </a:srgbClr>
          </a:solidFill>
          <a:ln/>
        </p:spPr>
        <p:txBody>
          <a:bodyPr/>
          <a:lstStyle/>
          <a:p>
            <a:endParaRPr lang="zh-CN" altLang="en-US"/>
          </a:p>
        </p:txBody>
      </p:sp>
      <p:sp>
        <p:nvSpPr>
          <p:cNvPr id="21" name="Shape 19"/>
          <p:cNvSpPr/>
          <p:nvPr/>
        </p:nvSpPr>
        <p:spPr>
          <a:xfrm>
            <a:off x="862061" y="5015625"/>
            <a:ext cx="179129" cy="179129"/>
          </a:xfrm>
          <a:custGeom>
            <a:avLst/>
            <a:gdLst/>
            <a:ahLst/>
            <a:cxnLst/>
            <a:rect l="l" t="t" r="r" b="b"/>
            <a:pathLst>
              <a:path w="179129" h="179129">
                <a:moveTo>
                  <a:pt x="22391" y="22391"/>
                </a:moveTo>
                <a:cubicBezTo>
                  <a:pt x="10041" y="22391"/>
                  <a:pt x="0" y="32432"/>
                  <a:pt x="0" y="44782"/>
                </a:cubicBezTo>
                <a:lnTo>
                  <a:pt x="0" y="47371"/>
                </a:lnTo>
                <a:cubicBezTo>
                  <a:pt x="0" y="49750"/>
                  <a:pt x="1539" y="51780"/>
                  <a:pt x="3534" y="53074"/>
                </a:cubicBezTo>
                <a:cubicBezTo>
                  <a:pt x="8152" y="56083"/>
                  <a:pt x="11196" y="61261"/>
                  <a:pt x="11196" y="67174"/>
                </a:cubicBezTo>
                <a:cubicBezTo>
                  <a:pt x="11196" y="73086"/>
                  <a:pt x="8152" y="78264"/>
                  <a:pt x="3534" y="81273"/>
                </a:cubicBezTo>
                <a:cubicBezTo>
                  <a:pt x="1539" y="82567"/>
                  <a:pt x="0" y="84597"/>
                  <a:pt x="0" y="86976"/>
                </a:cubicBezTo>
                <a:lnTo>
                  <a:pt x="0" y="106358"/>
                </a:lnTo>
                <a:lnTo>
                  <a:pt x="179129" y="106358"/>
                </a:lnTo>
                <a:lnTo>
                  <a:pt x="179129" y="86976"/>
                </a:lnTo>
                <a:cubicBezTo>
                  <a:pt x="179129" y="84597"/>
                  <a:pt x="177590" y="82567"/>
                  <a:pt x="175596" y="81273"/>
                </a:cubicBezTo>
                <a:cubicBezTo>
                  <a:pt x="170978" y="78264"/>
                  <a:pt x="167934" y="73086"/>
                  <a:pt x="167934" y="67174"/>
                </a:cubicBezTo>
                <a:cubicBezTo>
                  <a:pt x="167934" y="61261"/>
                  <a:pt x="170978" y="56083"/>
                  <a:pt x="175596" y="53074"/>
                </a:cubicBezTo>
                <a:cubicBezTo>
                  <a:pt x="177590" y="51780"/>
                  <a:pt x="179129" y="49750"/>
                  <a:pt x="179129" y="47371"/>
                </a:cubicBezTo>
                <a:lnTo>
                  <a:pt x="179129" y="44782"/>
                </a:lnTo>
                <a:cubicBezTo>
                  <a:pt x="179129" y="32432"/>
                  <a:pt x="169088" y="22391"/>
                  <a:pt x="156738" y="22391"/>
                </a:cubicBezTo>
                <a:lnTo>
                  <a:pt x="22391" y="22391"/>
                </a:lnTo>
                <a:close/>
                <a:moveTo>
                  <a:pt x="179129" y="145543"/>
                </a:moveTo>
                <a:lnTo>
                  <a:pt x="179129" y="123152"/>
                </a:lnTo>
                <a:lnTo>
                  <a:pt x="0" y="123152"/>
                </a:lnTo>
                <a:lnTo>
                  <a:pt x="0" y="145543"/>
                </a:lnTo>
                <a:cubicBezTo>
                  <a:pt x="0" y="151735"/>
                  <a:pt x="5003" y="156738"/>
                  <a:pt x="11196" y="156738"/>
                </a:cubicBezTo>
                <a:lnTo>
                  <a:pt x="33587" y="156738"/>
                </a:lnTo>
                <a:lnTo>
                  <a:pt x="33587" y="148342"/>
                </a:lnTo>
                <a:cubicBezTo>
                  <a:pt x="33587" y="143688"/>
                  <a:pt x="37330" y="139945"/>
                  <a:pt x="41983" y="139945"/>
                </a:cubicBezTo>
                <a:cubicBezTo>
                  <a:pt x="46637" y="139945"/>
                  <a:pt x="50380" y="143688"/>
                  <a:pt x="50380" y="148342"/>
                </a:cubicBezTo>
                <a:lnTo>
                  <a:pt x="50380" y="156738"/>
                </a:lnTo>
                <a:lnTo>
                  <a:pt x="81168" y="156738"/>
                </a:lnTo>
                <a:lnTo>
                  <a:pt x="81168" y="148342"/>
                </a:lnTo>
                <a:cubicBezTo>
                  <a:pt x="81168" y="143688"/>
                  <a:pt x="84912" y="139945"/>
                  <a:pt x="89565" y="139945"/>
                </a:cubicBezTo>
                <a:cubicBezTo>
                  <a:pt x="94218" y="139945"/>
                  <a:pt x="97961" y="143688"/>
                  <a:pt x="97961" y="148342"/>
                </a:cubicBezTo>
                <a:lnTo>
                  <a:pt x="97961" y="156738"/>
                </a:lnTo>
                <a:lnTo>
                  <a:pt x="128749" y="156738"/>
                </a:lnTo>
                <a:lnTo>
                  <a:pt x="128749" y="148342"/>
                </a:lnTo>
                <a:cubicBezTo>
                  <a:pt x="128749" y="143688"/>
                  <a:pt x="132493" y="139945"/>
                  <a:pt x="137146" y="139945"/>
                </a:cubicBezTo>
                <a:cubicBezTo>
                  <a:pt x="141799" y="139945"/>
                  <a:pt x="145543" y="143688"/>
                  <a:pt x="145543" y="148342"/>
                </a:cubicBezTo>
                <a:lnTo>
                  <a:pt x="145543" y="156738"/>
                </a:lnTo>
                <a:lnTo>
                  <a:pt x="167934" y="156738"/>
                </a:lnTo>
                <a:cubicBezTo>
                  <a:pt x="174126" y="156738"/>
                  <a:pt x="179129" y="151735"/>
                  <a:pt x="179129" y="145543"/>
                </a:cubicBezTo>
                <a:close/>
                <a:moveTo>
                  <a:pt x="55978" y="55978"/>
                </a:moveTo>
                <a:lnTo>
                  <a:pt x="55978" y="78369"/>
                </a:lnTo>
                <a:cubicBezTo>
                  <a:pt x="55978" y="84562"/>
                  <a:pt x="50975" y="89565"/>
                  <a:pt x="44782" y="89565"/>
                </a:cubicBezTo>
                <a:cubicBezTo>
                  <a:pt x="38590" y="89565"/>
                  <a:pt x="33587" y="84562"/>
                  <a:pt x="33587" y="78369"/>
                </a:cubicBezTo>
                <a:lnTo>
                  <a:pt x="33587" y="55978"/>
                </a:lnTo>
                <a:cubicBezTo>
                  <a:pt x="33587" y="49785"/>
                  <a:pt x="38590" y="44782"/>
                  <a:pt x="44782" y="44782"/>
                </a:cubicBezTo>
                <a:cubicBezTo>
                  <a:pt x="50975" y="44782"/>
                  <a:pt x="55978" y="49785"/>
                  <a:pt x="55978" y="55978"/>
                </a:cubicBezTo>
                <a:close/>
                <a:moveTo>
                  <a:pt x="100760" y="55978"/>
                </a:moveTo>
                <a:lnTo>
                  <a:pt x="100760" y="78369"/>
                </a:lnTo>
                <a:cubicBezTo>
                  <a:pt x="100760" y="84562"/>
                  <a:pt x="95757" y="89565"/>
                  <a:pt x="89565" y="89565"/>
                </a:cubicBezTo>
                <a:cubicBezTo>
                  <a:pt x="83372" y="89565"/>
                  <a:pt x="78369" y="84562"/>
                  <a:pt x="78369" y="78369"/>
                </a:cubicBezTo>
                <a:lnTo>
                  <a:pt x="78369" y="55978"/>
                </a:lnTo>
                <a:cubicBezTo>
                  <a:pt x="78369" y="49785"/>
                  <a:pt x="83372" y="44782"/>
                  <a:pt x="89565" y="44782"/>
                </a:cubicBezTo>
                <a:cubicBezTo>
                  <a:pt x="95757" y="44782"/>
                  <a:pt x="100760" y="49785"/>
                  <a:pt x="100760" y="55978"/>
                </a:cubicBezTo>
                <a:close/>
                <a:moveTo>
                  <a:pt x="145543" y="55978"/>
                </a:moveTo>
                <a:lnTo>
                  <a:pt x="145543" y="78369"/>
                </a:lnTo>
                <a:cubicBezTo>
                  <a:pt x="145543" y="84562"/>
                  <a:pt x="140540" y="89565"/>
                  <a:pt x="134347" y="89565"/>
                </a:cubicBezTo>
                <a:cubicBezTo>
                  <a:pt x="128155" y="89565"/>
                  <a:pt x="123152" y="84562"/>
                  <a:pt x="123152" y="78369"/>
                </a:cubicBezTo>
                <a:lnTo>
                  <a:pt x="123152" y="55978"/>
                </a:lnTo>
                <a:cubicBezTo>
                  <a:pt x="123152" y="49785"/>
                  <a:pt x="128155" y="44782"/>
                  <a:pt x="134347" y="44782"/>
                </a:cubicBezTo>
                <a:cubicBezTo>
                  <a:pt x="140540" y="44782"/>
                  <a:pt x="145543" y="49785"/>
                  <a:pt x="145543" y="55978"/>
                </a:cubicBezTo>
                <a:close/>
              </a:path>
            </a:pathLst>
          </a:custGeom>
          <a:solidFill>
            <a:srgbClr val="B38B59"/>
          </a:solidFill>
          <a:ln/>
        </p:spPr>
        <p:txBody>
          <a:bodyPr/>
          <a:lstStyle/>
          <a:p>
            <a:endParaRPr lang="zh-CN" altLang="en-US"/>
          </a:p>
        </p:txBody>
      </p:sp>
      <p:sp>
        <p:nvSpPr>
          <p:cNvPr id="22" name="Text 20"/>
          <p:cNvSpPr/>
          <p:nvPr/>
        </p:nvSpPr>
        <p:spPr>
          <a:xfrm>
            <a:off x="1265102" y="4926061"/>
            <a:ext cx="1309884" cy="313477"/>
          </a:xfrm>
          <a:prstGeom prst="rect">
            <a:avLst/>
          </a:prstGeom>
          <a:noFill/>
          <a:ln/>
        </p:spPr>
        <p:txBody>
          <a:bodyPr wrap="square" lIns="0" tIns="0" rIns="0" bIns="0" rtlCol="0" anchor="ctr"/>
          <a:lstStyle/>
          <a:p>
            <a:pPr>
              <a:lnSpc>
                <a:spcPct val="130000"/>
              </a:lnSpc>
            </a:pPr>
            <a:r>
              <a:rPr lang="en-US" sz="1587" b="1" dirty="0">
                <a:solidFill>
                  <a:srgbClr val="E0E2E4"/>
                </a:solidFill>
                <a:latin typeface="MiSans" pitchFamily="34" charset="0"/>
                <a:ea typeface="MiSans" pitchFamily="34" charset="-122"/>
                <a:cs typeface="MiSans" pitchFamily="34" charset="-120"/>
              </a:rPr>
              <a:t>资源利用率低</a:t>
            </a:r>
            <a:endParaRPr lang="en-US" sz="1600" dirty="0"/>
          </a:p>
        </p:txBody>
      </p:sp>
      <p:sp>
        <p:nvSpPr>
          <p:cNvPr id="23" name="Text 21"/>
          <p:cNvSpPr/>
          <p:nvPr/>
        </p:nvSpPr>
        <p:spPr>
          <a:xfrm>
            <a:off x="772496" y="5373884"/>
            <a:ext cx="6997245" cy="514997"/>
          </a:xfrm>
          <a:prstGeom prst="rect">
            <a:avLst/>
          </a:prstGeom>
          <a:noFill/>
          <a:ln/>
        </p:spPr>
        <p:txBody>
          <a:bodyPr wrap="square" lIns="0" tIns="0" rIns="0" bIns="0" rtlCol="0" anchor="ctr"/>
          <a:lstStyle/>
          <a:p>
            <a:pPr>
              <a:lnSpc>
                <a:spcPct val="140000"/>
              </a:lnSpc>
            </a:pPr>
            <a:r>
              <a:rPr lang="en-US" sz="1234" dirty="0">
                <a:solidFill>
                  <a:srgbClr val="E0E2E4">
                    <a:alpha val="80000"/>
                  </a:srgbClr>
                </a:solidFill>
                <a:latin typeface="MiSans" pitchFamily="34" charset="0"/>
                <a:ea typeface="MiSans" pitchFamily="34" charset="-122"/>
                <a:cs typeface="MiSans" pitchFamily="34" charset="-120"/>
              </a:rPr>
              <a:t>TaskTracker上的Map和Reduce槽位是静态分配的,无法根据实际需求动态调整。这导致资源浪费严重,特别是在负载不均衡的情况下。</a:t>
            </a:r>
            <a:endParaRPr lang="en-US" sz="1600" dirty="0"/>
          </a:p>
        </p:txBody>
      </p:sp>
      <p:sp>
        <p:nvSpPr>
          <p:cNvPr id="24" name="Shape 22"/>
          <p:cNvSpPr/>
          <p:nvPr/>
        </p:nvSpPr>
        <p:spPr>
          <a:xfrm>
            <a:off x="638149" y="6107196"/>
            <a:ext cx="7187570" cy="1231515"/>
          </a:xfrm>
          <a:custGeom>
            <a:avLst/>
            <a:gdLst/>
            <a:ahLst/>
            <a:cxnLst/>
            <a:rect l="l" t="t" r="r" b="b"/>
            <a:pathLst>
              <a:path w="7187570" h="1231515">
                <a:moveTo>
                  <a:pt x="89568" y="0"/>
                </a:moveTo>
                <a:lnTo>
                  <a:pt x="7098002" y="0"/>
                </a:lnTo>
                <a:cubicBezTo>
                  <a:pt x="7147469" y="0"/>
                  <a:pt x="7187570" y="40101"/>
                  <a:pt x="7187570" y="89568"/>
                </a:cubicBezTo>
                <a:lnTo>
                  <a:pt x="7187570" y="1141947"/>
                </a:lnTo>
                <a:cubicBezTo>
                  <a:pt x="7187570" y="1191414"/>
                  <a:pt x="7147469" y="1231515"/>
                  <a:pt x="7098002" y="1231515"/>
                </a:cubicBezTo>
                <a:lnTo>
                  <a:pt x="89568" y="1231515"/>
                </a:lnTo>
                <a:cubicBezTo>
                  <a:pt x="40101" y="1231515"/>
                  <a:pt x="0" y="1191414"/>
                  <a:pt x="0" y="1141947"/>
                </a:cubicBezTo>
                <a:lnTo>
                  <a:pt x="0" y="89568"/>
                </a:lnTo>
                <a:cubicBezTo>
                  <a:pt x="0" y="40134"/>
                  <a:pt x="40134" y="0"/>
                  <a:pt x="89568" y="0"/>
                </a:cubicBezTo>
                <a:close/>
              </a:path>
            </a:pathLst>
          </a:custGeom>
          <a:solidFill>
            <a:srgbClr val="1A1D21">
              <a:alpha val="50196"/>
            </a:srgbClr>
          </a:solidFill>
          <a:ln/>
        </p:spPr>
        <p:txBody>
          <a:bodyPr/>
          <a:lstStyle/>
          <a:p>
            <a:endParaRPr lang="zh-CN" altLang="en-US"/>
          </a:p>
        </p:txBody>
      </p:sp>
      <p:sp>
        <p:nvSpPr>
          <p:cNvPr id="25" name="Shape 23"/>
          <p:cNvSpPr/>
          <p:nvPr/>
        </p:nvSpPr>
        <p:spPr>
          <a:xfrm>
            <a:off x="772496" y="6241543"/>
            <a:ext cx="358259" cy="358259"/>
          </a:xfrm>
          <a:custGeom>
            <a:avLst/>
            <a:gdLst/>
            <a:ahLst/>
            <a:cxnLst/>
            <a:rect l="l" t="t" r="r" b="b"/>
            <a:pathLst>
              <a:path w="358259" h="358259">
                <a:moveTo>
                  <a:pt x="179129" y="0"/>
                </a:moveTo>
                <a:lnTo>
                  <a:pt x="179129" y="0"/>
                </a:lnTo>
                <a:cubicBezTo>
                  <a:pt x="277994" y="0"/>
                  <a:pt x="358259" y="80265"/>
                  <a:pt x="358259" y="179129"/>
                </a:cubicBezTo>
                <a:lnTo>
                  <a:pt x="358259" y="179129"/>
                </a:lnTo>
                <a:cubicBezTo>
                  <a:pt x="358259" y="277994"/>
                  <a:pt x="277994" y="358259"/>
                  <a:pt x="179129" y="358259"/>
                </a:cubicBezTo>
                <a:lnTo>
                  <a:pt x="179129" y="358259"/>
                </a:lnTo>
                <a:cubicBezTo>
                  <a:pt x="80265" y="358259"/>
                  <a:pt x="0" y="277994"/>
                  <a:pt x="0" y="179129"/>
                </a:cubicBezTo>
                <a:lnTo>
                  <a:pt x="0" y="179129"/>
                </a:lnTo>
                <a:cubicBezTo>
                  <a:pt x="0" y="80265"/>
                  <a:pt x="80265" y="0"/>
                  <a:pt x="179129" y="0"/>
                </a:cubicBezTo>
                <a:close/>
              </a:path>
            </a:pathLst>
          </a:custGeom>
          <a:solidFill>
            <a:srgbClr val="B38B59">
              <a:alpha val="30196"/>
            </a:srgbClr>
          </a:solidFill>
          <a:ln/>
        </p:spPr>
        <p:txBody>
          <a:bodyPr/>
          <a:lstStyle/>
          <a:p>
            <a:endParaRPr lang="zh-CN" altLang="en-US"/>
          </a:p>
        </p:txBody>
      </p:sp>
      <p:sp>
        <p:nvSpPr>
          <p:cNvPr id="26" name="Shape 24"/>
          <p:cNvSpPr/>
          <p:nvPr/>
        </p:nvSpPr>
        <p:spPr>
          <a:xfrm>
            <a:off x="850865" y="6331107"/>
            <a:ext cx="201521" cy="179129"/>
          </a:xfrm>
          <a:custGeom>
            <a:avLst/>
            <a:gdLst/>
            <a:ahLst/>
            <a:cxnLst/>
            <a:rect l="l" t="t" r="r" b="b"/>
            <a:pathLst>
              <a:path w="201521" h="179129">
                <a:moveTo>
                  <a:pt x="126230" y="420"/>
                </a:moveTo>
                <a:cubicBezTo>
                  <a:pt x="120283" y="-1294"/>
                  <a:pt x="114090" y="2169"/>
                  <a:pt x="112376" y="8117"/>
                </a:cubicBezTo>
                <a:lnTo>
                  <a:pt x="67593" y="164855"/>
                </a:lnTo>
                <a:cubicBezTo>
                  <a:pt x="65879" y="170803"/>
                  <a:pt x="69343" y="176995"/>
                  <a:pt x="75290" y="178710"/>
                </a:cubicBezTo>
                <a:cubicBezTo>
                  <a:pt x="81238" y="180424"/>
                  <a:pt x="87431" y="176960"/>
                  <a:pt x="89145" y="171013"/>
                </a:cubicBezTo>
                <a:lnTo>
                  <a:pt x="133927" y="14274"/>
                </a:lnTo>
                <a:cubicBezTo>
                  <a:pt x="135642" y="8327"/>
                  <a:pt x="132178" y="2134"/>
                  <a:pt x="126230" y="420"/>
                </a:cubicBezTo>
                <a:close/>
                <a:moveTo>
                  <a:pt x="148831" y="48036"/>
                </a:moveTo>
                <a:cubicBezTo>
                  <a:pt x="144458" y="52409"/>
                  <a:pt x="144458" y="59512"/>
                  <a:pt x="148831" y="63885"/>
                </a:cubicBezTo>
                <a:lnTo>
                  <a:pt x="174511" y="89565"/>
                </a:lnTo>
                <a:lnTo>
                  <a:pt x="148831" y="115245"/>
                </a:lnTo>
                <a:cubicBezTo>
                  <a:pt x="144458" y="119618"/>
                  <a:pt x="144458" y="126720"/>
                  <a:pt x="148831" y="131093"/>
                </a:cubicBezTo>
                <a:cubicBezTo>
                  <a:pt x="153205" y="135467"/>
                  <a:pt x="160307" y="135467"/>
                  <a:pt x="164680" y="131093"/>
                </a:cubicBezTo>
                <a:lnTo>
                  <a:pt x="198267" y="97507"/>
                </a:lnTo>
                <a:cubicBezTo>
                  <a:pt x="202640" y="93133"/>
                  <a:pt x="202640" y="86031"/>
                  <a:pt x="198267" y="81658"/>
                </a:cubicBezTo>
                <a:lnTo>
                  <a:pt x="164680" y="48071"/>
                </a:lnTo>
                <a:cubicBezTo>
                  <a:pt x="160307" y="43698"/>
                  <a:pt x="153205" y="43698"/>
                  <a:pt x="148831" y="48071"/>
                </a:cubicBezTo>
                <a:close/>
                <a:moveTo>
                  <a:pt x="52724" y="48036"/>
                </a:moveTo>
                <a:cubicBezTo>
                  <a:pt x="48351" y="43663"/>
                  <a:pt x="41249" y="43663"/>
                  <a:pt x="36875" y="48036"/>
                </a:cubicBezTo>
                <a:lnTo>
                  <a:pt x="3289" y="81623"/>
                </a:lnTo>
                <a:cubicBezTo>
                  <a:pt x="-1085" y="85996"/>
                  <a:pt x="-1085" y="93098"/>
                  <a:pt x="3289" y="97472"/>
                </a:cubicBezTo>
                <a:lnTo>
                  <a:pt x="36875" y="131058"/>
                </a:lnTo>
                <a:cubicBezTo>
                  <a:pt x="41249" y="135432"/>
                  <a:pt x="48351" y="135432"/>
                  <a:pt x="52724" y="131058"/>
                </a:cubicBezTo>
                <a:cubicBezTo>
                  <a:pt x="57098" y="126685"/>
                  <a:pt x="57098" y="119583"/>
                  <a:pt x="52724" y="115210"/>
                </a:cubicBezTo>
                <a:lnTo>
                  <a:pt x="27044" y="89565"/>
                </a:lnTo>
                <a:lnTo>
                  <a:pt x="52689" y="63885"/>
                </a:lnTo>
                <a:cubicBezTo>
                  <a:pt x="57063" y="59512"/>
                  <a:pt x="57063" y="52409"/>
                  <a:pt x="52689" y="48036"/>
                </a:cubicBezTo>
                <a:close/>
              </a:path>
            </a:pathLst>
          </a:custGeom>
          <a:solidFill>
            <a:srgbClr val="B38B59"/>
          </a:solidFill>
          <a:ln/>
        </p:spPr>
        <p:txBody>
          <a:bodyPr/>
          <a:lstStyle/>
          <a:p>
            <a:endParaRPr lang="zh-CN" altLang="en-US"/>
          </a:p>
        </p:txBody>
      </p:sp>
      <p:sp>
        <p:nvSpPr>
          <p:cNvPr id="27" name="Text 25"/>
          <p:cNvSpPr/>
          <p:nvPr/>
        </p:nvSpPr>
        <p:spPr>
          <a:xfrm>
            <a:off x="1265102" y="6241543"/>
            <a:ext cx="1309884" cy="313477"/>
          </a:xfrm>
          <a:prstGeom prst="rect">
            <a:avLst/>
          </a:prstGeom>
          <a:noFill/>
          <a:ln/>
        </p:spPr>
        <p:txBody>
          <a:bodyPr wrap="square" lIns="0" tIns="0" rIns="0" bIns="0" rtlCol="0" anchor="ctr"/>
          <a:lstStyle/>
          <a:p>
            <a:pPr>
              <a:lnSpc>
                <a:spcPct val="130000"/>
              </a:lnSpc>
            </a:pPr>
            <a:r>
              <a:rPr lang="en-US" sz="1587" b="1" dirty="0">
                <a:solidFill>
                  <a:srgbClr val="E0E2E4"/>
                </a:solidFill>
                <a:latin typeface="MiSans" pitchFamily="34" charset="0"/>
                <a:ea typeface="MiSans" pitchFamily="34" charset="-122"/>
                <a:cs typeface="MiSans" pitchFamily="34" charset="-120"/>
              </a:rPr>
              <a:t>编程模型局限</a:t>
            </a:r>
            <a:endParaRPr lang="en-US" sz="1600" dirty="0"/>
          </a:p>
        </p:txBody>
      </p:sp>
      <p:sp>
        <p:nvSpPr>
          <p:cNvPr id="28" name="Text 26"/>
          <p:cNvSpPr/>
          <p:nvPr/>
        </p:nvSpPr>
        <p:spPr>
          <a:xfrm>
            <a:off x="772496" y="6689366"/>
            <a:ext cx="6997245" cy="514997"/>
          </a:xfrm>
          <a:prstGeom prst="rect">
            <a:avLst/>
          </a:prstGeom>
          <a:noFill/>
          <a:ln/>
        </p:spPr>
        <p:txBody>
          <a:bodyPr wrap="square" lIns="0" tIns="0" rIns="0" bIns="0" rtlCol="0" anchor="ctr"/>
          <a:lstStyle/>
          <a:p>
            <a:pPr>
              <a:lnSpc>
                <a:spcPct val="140000"/>
              </a:lnSpc>
            </a:pPr>
            <a:r>
              <a:rPr lang="en-US" sz="1234" dirty="0">
                <a:solidFill>
                  <a:srgbClr val="E0E2E4">
                    <a:alpha val="80000"/>
                  </a:srgbClr>
                </a:solidFill>
                <a:latin typeface="MiSans" pitchFamily="34" charset="0"/>
                <a:ea typeface="MiSans" pitchFamily="34" charset="-122"/>
                <a:cs typeface="MiSans" pitchFamily="34" charset="-120"/>
              </a:rPr>
              <a:t>只支持MapReduce编程模型,无法支持其他类型的分布式应用(如Spark、Flink、Storm等),限制了Hadoop生态系统的扩展性。</a:t>
            </a:r>
            <a:endParaRPr lang="en-US" sz="1600" dirty="0"/>
          </a:p>
        </p:txBody>
      </p:sp>
      <p:sp>
        <p:nvSpPr>
          <p:cNvPr id="29" name="Shape 27"/>
          <p:cNvSpPr/>
          <p:nvPr/>
        </p:nvSpPr>
        <p:spPr>
          <a:xfrm>
            <a:off x="8248003" y="1483416"/>
            <a:ext cx="7557025" cy="4702149"/>
          </a:xfrm>
          <a:custGeom>
            <a:avLst/>
            <a:gdLst/>
            <a:ahLst/>
            <a:cxnLst/>
            <a:rect l="l" t="t" r="r" b="b"/>
            <a:pathLst>
              <a:path w="7557025" h="4702149">
                <a:moveTo>
                  <a:pt x="89576" y="0"/>
                </a:moveTo>
                <a:lnTo>
                  <a:pt x="7467449" y="0"/>
                </a:lnTo>
                <a:cubicBezTo>
                  <a:pt x="7516920" y="0"/>
                  <a:pt x="7557025" y="40105"/>
                  <a:pt x="7557025" y="89576"/>
                </a:cubicBezTo>
                <a:lnTo>
                  <a:pt x="7557025" y="4612573"/>
                </a:lnTo>
                <a:cubicBezTo>
                  <a:pt x="7557025" y="4662044"/>
                  <a:pt x="7516920" y="4702149"/>
                  <a:pt x="7467449" y="4702149"/>
                </a:cubicBezTo>
                <a:lnTo>
                  <a:pt x="89576" y="4702149"/>
                </a:lnTo>
                <a:cubicBezTo>
                  <a:pt x="40105" y="4702149"/>
                  <a:pt x="0" y="4662044"/>
                  <a:pt x="0" y="4612573"/>
                </a:cubicBezTo>
                <a:lnTo>
                  <a:pt x="0" y="89576"/>
                </a:lnTo>
                <a:cubicBezTo>
                  <a:pt x="0" y="40138"/>
                  <a:pt x="40138" y="0"/>
                  <a:pt x="89576"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30" name="Shape 28"/>
          <p:cNvSpPr/>
          <p:nvPr/>
        </p:nvSpPr>
        <p:spPr>
          <a:xfrm>
            <a:off x="8466317" y="1712926"/>
            <a:ext cx="268694" cy="268694"/>
          </a:xfrm>
          <a:custGeom>
            <a:avLst/>
            <a:gdLst/>
            <a:ahLst/>
            <a:cxnLst/>
            <a:rect l="l" t="t" r="r" b="b"/>
            <a:pathLst>
              <a:path w="268694" h="268694">
                <a:moveTo>
                  <a:pt x="67174" y="167934"/>
                </a:moveTo>
                <a:lnTo>
                  <a:pt x="12857" y="167934"/>
                </a:lnTo>
                <a:cubicBezTo>
                  <a:pt x="-210" y="167934"/>
                  <a:pt x="-8239" y="153712"/>
                  <a:pt x="-1522" y="142481"/>
                </a:cubicBezTo>
                <a:lnTo>
                  <a:pt x="26240" y="96195"/>
                </a:lnTo>
                <a:cubicBezTo>
                  <a:pt x="30805" y="88585"/>
                  <a:pt x="38992" y="83967"/>
                  <a:pt x="47861" y="83967"/>
                </a:cubicBezTo>
                <a:lnTo>
                  <a:pt x="97717" y="83967"/>
                </a:lnTo>
                <a:cubicBezTo>
                  <a:pt x="137653" y="16321"/>
                  <a:pt x="197217" y="12910"/>
                  <a:pt x="237049" y="18735"/>
                </a:cubicBezTo>
                <a:cubicBezTo>
                  <a:pt x="243767" y="19732"/>
                  <a:pt x="249014" y="24980"/>
                  <a:pt x="249959" y="31645"/>
                </a:cubicBezTo>
                <a:cubicBezTo>
                  <a:pt x="255784" y="71477"/>
                  <a:pt x="252373" y="131041"/>
                  <a:pt x="184727" y="170978"/>
                </a:cubicBezTo>
                <a:lnTo>
                  <a:pt x="184727" y="220833"/>
                </a:lnTo>
                <a:cubicBezTo>
                  <a:pt x="184727" y="229702"/>
                  <a:pt x="180109" y="237889"/>
                  <a:pt x="172500" y="242455"/>
                </a:cubicBezTo>
                <a:lnTo>
                  <a:pt x="126213" y="270216"/>
                </a:lnTo>
                <a:cubicBezTo>
                  <a:pt x="115035" y="276933"/>
                  <a:pt x="100760" y="268852"/>
                  <a:pt x="100760" y="255837"/>
                </a:cubicBezTo>
                <a:lnTo>
                  <a:pt x="100760" y="201521"/>
                </a:lnTo>
                <a:cubicBezTo>
                  <a:pt x="100760" y="182995"/>
                  <a:pt x="85699" y="167934"/>
                  <a:pt x="67174" y="167934"/>
                </a:cubicBezTo>
                <a:lnTo>
                  <a:pt x="67121" y="167934"/>
                </a:lnTo>
                <a:close/>
                <a:moveTo>
                  <a:pt x="209917" y="83967"/>
                </a:moveTo>
                <a:cubicBezTo>
                  <a:pt x="209917" y="70064"/>
                  <a:pt x="198630" y="58777"/>
                  <a:pt x="184727" y="58777"/>
                </a:cubicBezTo>
                <a:cubicBezTo>
                  <a:pt x="170824" y="58777"/>
                  <a:pt x="159537" y="70064"/>
                  <a:pt x="159537" y="83967"/>
                </a:cubicBezTo>
                <a:cubicBezTo>
                  <a:pt x="159537" y="97870"/>
                  <a:pt x="170824" y="109157"/>
                  <a:pt x="184727" y="109157"/>
                </a:cubicBezTo>
                <a:cubicBezTo>
                  <a:pt x="198630" y="109157"/>
                  <a:pt x="209917" y="97870"/>
                  <a:pt x="209917" y="83967"/>
                </a:cubicBezTo>
                <a:close/>
              </a:path>
            </a:pathLst>
          </a:custGeom>
          <a:solidFill>
            <a:srgbClr val="3C8082"/>
          </a:solidFill>
          <a:ln/>
        </p:spPr>
        <p:txBody>
          <a:bodyPr/>
          <a:lstStyle/>
          <a:p>
            <a:endParaRPr lang="zh-CN" altLang="en-US"/>
          </a:p>
        </p:txBody>
      </p:sp>
      <p:sp>
        <p:nvSpPr>
          <p:cNvPr id="31" name="Text 29"/>
          <p:cNvSpPr/>
          <p:nvPr/>
        </p:nvSpPr>
        <p:spPr>
          <a:xfrm>
            <a:off x="8768598" y="1668143"/>
            <a:ext cx="6986050" cy="358259"/>
          </a:xfrm>
          <a:prstGeom prst="rect">
            <a:avLst/>
          </a:prstGeom>
          <a:noFill/>
          <a:ln/>
        </p:spPr>
        <p:txBody>
          <a:bodyPr wrap="square" lIns="0" tIns="0" rIns="0" bIns="0" rtlCol="0" anchor="ctr"/>
          <a:lstStyle/>
          <a:p>
            <a:pPr>
              <a:lnSpc>
                <a:spcPct val="110000"/>
              </a:lnSpc>
            </a:pPr>
            <a:r>
              <a:rPr lang="en-US" sz="2116" b="1" dirty="0">
                <a:solidFill>
                  <a:srgbClr val="E0E2E4"/>
                </a:solidFill>
                <a:latin typeface="MiSans" pitchFamily="34" charset="0"/>
                <a:ea typeface="MiSans" pitchFamily="34" charset="-122"/>
                <a:cs typeface="MiSans" pitchFamily="34" charset="-120"/>
              </a:rPr>
              <a:t>YARN的分离式设计</a:t>
            </a:r>
            <a:endParaRPr lang="en-US" sz="1600" dirty="0"/>
          </a:p>
        </p:txBody>
      </p:sp>
      <p:sp>
        <p:nvSpPr>
          <p:cNvPr id="32" name="Shape 30"/>
          <p:cNvSpPr/>
          <p:nvPr/>
        </p:nvSpPr>
        <p:spPr>
          <a:xfrm>
            <a:off x="8432730" y="2160749"/>
            <a:ext cx="7187570" cy="1500209"/>
          </a:xfrm>
          <a:custGeom>
            <a:avLst/>
            <a:gdLst/>
            <a:ahLst/>
            <a:cxnLst/>
            <a:rect l="l" t="t" r="r" b="b"/>
            <a:pathLst>
              <a:path w="7187570" h="1500209">
                <a:moveTo>
                  <a:pt x="89562" y="0"/>
                </a:moveTo>
                <a:lnTo>
                  <a:pt x="7098008" y="0"/>
                </a:lnTo>
                <a:cubicBezTo>
                  <a:pt x="7147472" y="0"/>
                  <a:pt x="7187570" y="40098"/>
                  <a:pt x="7187570" y="89562"/>
                </a:cubicBezTo>
                <a:lnTo>
                  <a:pt x="7187570" y="1410647"/>
                </a:lnTo>
                <a:cubicBezTo>
                  <a:pt x="7187570" y="1460111"/>
                  <a:pt x="7147472" y="1500209"/>
                  <a:pt x="7098008" y="1500209"/>
                </a:cubicBezTo>
                <a:lnTo>
                  <a:pt x="89562" y="1500209"/>
                </a:lnTo>
                <a:cubicBezTo>
                  <a:pt x="40098" y="1500209"/>
                  <a:pt x="0" y="1460111"/>
                  <a:pt x="0" y="1410647"/>
                </a:cubicBezTo>
                <a:lnTo>
                  <a:pt x="0" y="89562"/>
                </a:lnTo>
                <a:cubicBezTo>
                  <a:pt x="0" y="40132"/>
                  <a:pt x="40132" y="0"/>
                  <a:pt x="89562" y="0"/>
                </a:cubicBezTo>
                <a:close/>
              </a:path>
            </a:pathLst>
          </a:custGeom>
          <a:solidFill>
            <a:srgbClr val="1A1D21">
              <a:alpha val="50196"/>
            </a:srgbClr>
          </a:solidFill>
          <a:ln/>
        </p:spPr>
        <p:txBody>
          <a:bodyPr/>
          <a:lstStyle/>
          <a:p>
            <a:endParaRPr lang="zh-CN" altLang="en-US"/>
          </a:p>
        </p:txBody>
      </p:sp>
      <p:sp>
        <p:nvSpPr>
          <p:cNvPr id="33" name="Text 31"/>
          <p:cNvSpPr/>
          <p:nvPr/>
        </p:nvSpPr>
        <p:spPr>
          <a:xfrm>
            <a:off x="8567077" y="2295096"/>
            <a:ext cx="6997245" cy="514997"/>
          </a:xfrm>
          <a:prstGeom prst="rect">
            <a:avLst/>
          </a:prstGeom>
          <a:noFill/>
          <a:ln/>
        </p:spPr>
        <p:txBody>
          <a:bodyPr wrap="square" lIns="0" tIns="0" rIns="0" bIns="0" rtlCol="0" anchor="ctr"/>
          <a:lstStyle/>
          <a:p>
            <a:pPr>
              <a:lnSpc>
                <a:spcPct val="140000"/>
              </a:lnSpc>
            </a:pPr>
            <a:r>
              <a:rPr lang="en-US" sz="1234" dirty="0">
                <a:solidFill>
                  <a:srgbClr val="E0E2E4">
                    <a:alpha val="80000"/>
                  </a:srgbClr>
                </a:solidFill>
                <a:latin typeface="MiSans" pitchFamily="34" charset="0"/>
                <a:ea typeface="MiSans" pitchFamily="34" charset="-122"/>
                <a:cs typeface="MiSans" pitchFamily="34" charset="-120"/>
              </a:rPr>
              <a:t>YARN (Yet Another Resource Negotiator) 的设计体现了</a:t>
            </a:r>
            <a:r>
              <a:rPr lang="en-US" sz="1234" dirty="0">
                <a:solidFill>
                  <a:srgbClr val="B38B59"/>
                </a:solidFill>
                <a:highlight>
                  <a:srgbClr val="3C8082">
                    <a:alpha val="30000"/>
                  </a:srgbClr>
                </a:highlight>
                <a:latin typeface="MiSans" pitchFamily="34" charset="0"/>
                <a:ea typeface="MiSans" pitchFamily="34" charset="-122"/>
                <a:cs typeface="MiSans" pitchFamily="34" charset="-120"/>
              </a:rPr>
              <a:t> "分离关注点" </a:t>
            </a:r>
            <a:r>
              <a:rPr lang="en-US" sz="1234" dirty="0">
                <a:solidFill>
                  <a:srgbClr val="E0E2E4">
                    <a:alpha val="80000"/>
                  </a:srgbClr>
                </a:solidFill>
                <a:latin typeface="MiSans" pitchFamily="34" charset="0"/>
                <a:ea typeface="MiSans" pitchFamily="34" charset="-122"/>
                <a:cs typeface="MiSans" pitchFamily="34" charset="-120"/>
              </a:rPr>
              <a:t>的软件工程原则,将资源管理和应用调度分离,形成两层架构:</a:t>
            </a:r>
            <a:endParaRPr lang="en-US" sz="1600" dirty="0"/>
          </a:p>
        </p:txBody>
      </p:sp>
      <p:sp>
        <p:nvSpPr>
          <p:cNvPr id="34" name="Shape 32"/>
          <p:cNvSpPr/>
          <p:nvPr/>
        </p:nvSpPr>
        <p:spPr>
          <a:xfrm>
            <a:off x="8567077" y="2894061"/>
            <a:ext cx="3414656" cy="626953"/>
          </a:xfrm>
          <a:custGeom>
            <a:avLst/>
            <a:gdLst/>
            <a:ahLst/>
            <a:cxnLst/>
            <a:rect l="l" t="t" r="r" b="b"/>
            <a:pathLst>
              <a:path w="3414656" h="626953">
                <a:moveTo>
                  <a:pt x="44783" y="0"/>
                </a:moveTo>
                <a:lnTo>
                  <a:pt x="3369872" y="0"/>
                </a:lnTo>
                <a:cubicBezTo>
                  <a:pt x="3394605" y="0"/>
                  <a:pt x="3414656" y="20050"/>
                  <a:pt x="3414656" y="44783"/>
                </a:cubicBezTo>
                <a:lnTo>
                  <a:pt x="3414656" y="582170"/>
                </a:lnTo>
                <a:cubicBezTo>
                  <a:pt x="3414656" y="606903"/>
                  <a:pt x="3394605" y="626953"/>
                  <a:pt x="3369872" y="626953"/>
                </a:cubicBezTo>
                <a:lnTo>
                  <a:pt x="44783" y="626953"/>
                </a:lnTo>
                <a:cubicBezTo>
                  <a:pt x="20050" y="626953"/>
                  <a:pt x="0" y="606903"/>
                  <a:pt x="0" y="582170"/>
                </a:cubicBezTo>
                <a:lnTo>
                  <a:pt x="0" y="44783"/>
                </a:lnTo>
                <a:cubicBezTo>
                  <a:pt x="0" y="20050"/>
                  <a:pt x="20050" y="0"/>
                  <a:pt x="44783" y="0"/>
                </a:cubicBezTo>
                <a:close/>
              </a:path>
            </a:pathLst>
          </a:custGeom>
          <a:solidFill>
            <a:srgbClr val="3C8082">
              <a:alpha val="20000"/>
            </a:srgbClr>
          </a:solidFill>
          <a:ln/>
        </p:spPr>
        <p:txBody>
          <a:bodyPr/>
          <a:lstStyle/>
          <a:p>
            <a:endParaRPr lang="zh-CN" altLang="en-US"/>
          </a:p>
        </p:txBody>
      </p:sp>
      <p:sp>
        <p:nvSpPr>
          <p:cNvPr id="35" name="Text 33"/>
          <p:cNvSpPr/>
          <p:nvPr/>
        </p:nvSpPr>
        <p:spPr>
          <a:xfrm>
            <a:off x="8656642" y="2983625"/>
            <a:ext cx="3313895" cy="223912"/>
          </a:xfrm>
          <a:prstGeom prst="rect">
            <a:avLst/>
          </a:prstGeom>
          <a:noFill/>
          <a:ln/>
        </p:spPr>
        <p:txBody>
          <a:bodyPr wrap="square" lIns="0" tIns="0" rIns="0" bIns="0" rtlCol="0" anchor="ctr"/>
          <a:lstStyle/>
          <a:p>
            <a:pPr>
              <a:lnSpc>
                <a:spcPct val="120000"/>
              </a:lnSpc>
            </a:pPr>
            <a:r>
              <a:rPr lang="en-US" sz="1234" b="1" dirty="0">
                <a:solidFill>
                  <a:srgbClr val="E0E2E4"/>
                </a:solidFill>
                <a:latin typeface="MiSans" pitchFamily="34" charset="0"/>
                <a:ea typeface="MiSans" pitchFamily="34" charset="-122"/>
                <a:cs typeface="MiSans" pitchFamily="34" charset="-120"/>
              </a:rPr>
              <a:t>资源管理层</a:t>
            </a:r>
            <a:endParaRPr lang="en-US" sz="1600" dirty="0"/>
          </a:p>
        </p:txBody>
      </p:sp>
      <p:sp>
        <p:nvSpPr>
          <p:cNvPr id="36" name="Text 34"/>
          <p:cNvSpPr/>
          <p:nvPr/>
        </p:nvSpPr>
        <p:spPr>
          <a:xfrm>
            <a:off x="8656642" y="3252320"/>
            <a:ext cx="3302700" cy="179129"/>
          </a:xfrm>
          <a:prstGeom prst="rect">
            <a:avLst/>
          </a:prstGeom>
          <a:noFill/>
          <a:ln/>
        </p:spPr>
        <p:txBody>
          <a:bodyPr wrap="square" lIns="0" tIns="0" rIns="0" bIns="0" rtlCol="0" anchor="ctr"/>
          <a:lstStyle/>
          <a:p>
            <a:pPr>
              <a:lnSpc>
                <a:spcPct val="110000"/>
              </a:lnSpc>
            </a:pPr>
            <a:r>
              <a:rPr lang="en-US" sz="1058" dirty="0">
                <a:solidFill>
                  <a:srgbClr val="E0E2E4">
                    <a:alpha val="70000"/>
                  </a:srgbClr>
                </a:solidFill>
                <a:latin typeface="MiSans" pitchFamily="34" charset="0"/>
                <a:ea typeface="MiSans" pitchFamily="34" charset="-122"/>
                <a:cs typeface="MiSans" pitchFamily="34" charset="-120"/>
              </a:rPr>
              <a:t>RM + NM,负责集群资源统一管理和分配</a:t>
            </a:r>
            <a:endParaRPr lang="en-US" sz="1600" dirty="0"/>
          </a:p>
        </p:txBody>
      </p:sp>
      <p:sp>
        <p:nvSpPr>
          <p:cNvPr id="37" name="Shape 35"/>
          <p:cNvSpPr/>
          <p:nvPr/>
        </p:nvSpPr>
        <p:spPr>
          <a:xfrm>
            <a:off x="12072522" y="2894061"/>
            <a:ext cx="3414656" cy="626953"/>
          </a:xfrm>
          <a:custGeom>
            <a:avLst/>
            <a:gdLst/>
            <a:ahLst/>
            <a:cxnLst/>
            <a:rect l="l" t="t" r="r" b="b"/>
            <a:pathLst>
              <a:path w="3414656" h="626953">
                <a:moveTo>
                  <a:pt x="44783" y="0"/>
                </a:moveTo>
                <a:lnTo>
                  <a:pt x="3369872" y="0"/>
                </a:lnTo>
                <a:cubicBezTo>
                  <a:pt x="3394605" y="0"/>
                  <a:pt x="3414656" y="20050"/>
                  <a:pt x="3414656" y="44783"/>
                </a:cubicBezTo>
                <a:lnTo>
                  <a:pt x="3414656" y="582170"/>
                </a:lnTo>
                <a:cubicBezTo>
                  <a:pt x="3414656" y="606903"/>
                  <a:pt x="3394605" y="626953"/>
                  <a:pt x="3369872" y="626953"/>
                </a:cubicBezTo>
                <a:lnTo>
                  <a:pt x="44783" y="626953"/>
                </a:lnTo>
                <a:cubicBezTo>
                  <a:pt x="20050" y="626953"/>
                  <a:pt x="0" y="606903"/>
                  <a:pt x="0" y="582170"/>
                </a:cubicBezTo>
                <a:lnTo>
                  <a:pt x="0" y="44783"/>
                </a:lnTo>
                <a:cubicBezTo>
                  <a:pt x="0" y="20050"/>
                  <a:pt x="20050" y="0"/>
                  <a:pt x="44783" y="0"/>
                </a:cubicBezTo>
                <a:close/>
              </a:path>
            </a:pathLst>
          </a:custGeom>
          <a:solidFill>
            <a:srgbClr val="3C8082">
              <a:alpha val="20000"/>
            </a:srgbClr>
          </a:solidFill>
          <a:ln/>
        </p:spPr>
        <p:txBody>
          <a:bodyPr/>
          <a:lstStyle/>
          <a:p>
            <a:endParaRPr lang="zh-CN" altLang="en-US"/>
          </a:p>
        </p:txBody>
      </p:sp>
      <p:sp>
        <p:nvSpPr>
          <p:cNvPr id="38" name="Text 36"/>
          <p:cNvSpPr/>
          <p:nvPr/>
        </p:nvSpPr>
        <p:spPr>
          <a:xfrm>
            <a:off x="12162087" y="2983625"/>
            <a:ext cx="3313895" cy="223912"/>
          </a:xfrm>
          <a:prstGeom prst="rect">
            <a:avLst/>
          </a:prstGeom>
          <a:noFill/>
          <a:ln/>
        </p:spPr>
        <p:txBody>
          <a:bodyPr wrap="square" lIns="0" tIns="0" rIns="0" bIns="0" rtlCol="0" anchor="ctr"/>
          <a:lstStyle/>
          <a:p>
            <a:pPr>
              <a:lnSpc>
                <a:spcPct val="120000"/>
              </a:lnSpc>
            </a:pPr>
            <a:r>
              <a:rPr lang="en-US" sz="1234" b="1" dirty="0">
                <a:solidFill>
                  <a:srgbClr val="E0E2E4"/>
                </a:solidFill>
                <a:latin typeface="MiSans" pitchFamily="34" charset="0"/>
                <a:ea typeface="MiSans" pitchFamily="34" charset="-122"/>
                <a:cs typeface="MiSans" pitchFamily="34" charset="-120"/>
              </a:rPr>
              <a:t>应用管理层</a:t>
            </a:r>
            <a:endParaRPr lang="en-US" sz="1600" dirty="0"/>
          </a:p>
        </p:txBody>
      </p:sp>
      <p:sp>
        <p:nvSpPr>
          <p:cNvPr id="39" name="Text 37"/>
          <p:cNvSpPr/>
          <p:nvPr/>
        </p:nvSpPr>
        <p:spPr>
          <a:xfrm>
            <a:off x="12162087" y="3252320"/>
            <a:ext cx="3302700" cy="179129"/>
          </a:xfrm>
          <a:prstGeom prst="rect">
            <a:avLst/>
          </a:prstGeom>
          <a:noFill/>
          <a:ln/>
        </p:spPr>
        <p:txBody>
          <a:bodyPr wrap="square" lIns="0" tIns="0" rIns="0" bIns="0" rtlCol="0" anchor="ctr"/>
          <a:lstStyle/>
          <a:p>
            <a:pPr>
              <a:lnSpc>
                <a:spcPct val="110000"/>
              </a:lnSpc>
            </a:pPr>
            <a:r>
              <a:rPr lang="en-US" sz="1058" dirty="0">
                <a:solidFill>
                  <a:srgbClr val="E0E2E4">
                    <a:alpha val="70000"/>
                  </a:srgbClr>
                </a:solidFill>
                <a:latin typeface="MiSans" pitchFamily="34" charset="0"/>
                <a:ea typeface="MiSans" pitchFamily="34" charset="-122"/>
                <a:cs typeface="MiSans" pitchFamily="34" charset="-120"/>
              </a:rPr>
              <a:t>AM,负责具体应用的调度和监控</a:t>
            </a:r>
            <a:endParaRPr lang="en-US" sz="1600" dirty="0"/>
          </a:p>
        </p:txBody>
      </p:sp>
      <p:sp>
        <p:nvSpPr>
          <p:cNvPr id="40" name="Text 38"/>
          <p:cNvSpPr/>
          <p:nvPr/>
        </p:nvSpPr>
        <p:spPr>
          <a:xfrm>
            <a:off x="8432730" y="3789708"/>
            <a:ext cx="7288331" cy="313477"/>
          </a:xfrm>
          <a:prstGeom prst="rect">
            <a:avLst/>
          </a:prstGeom>
          <a:noFill/>
          <a:ln/>
        </p:spPr>
        <p:txBody>
          <a:bodyPr wrap="square" lIns="0" tIns="0" rIns="0" bIns="0" rtlCol="0" anchor="ctr"/>
          <a:lstStyle/>
          <a:p>
            <a:pPr>
              <a:lnSpc>
                <a:spcPct val="130000"/>
              </a:lnSpc>
            </a:pPr>
            <a:r>
              <a:rPr lang="en-US" sz="1587" b="1" dirty="0">
                <a:solidFill>
                  <a:srgbClr val="E0E2E4"/>
                </a:solidFill>
                <a:latin typeface="MiSans" pitchFamily="34" charset="0"/>
                <a:ea typeface="MiSans" pitchFamily="34" charset="-122"/>
                <a:cs typeface="MiSans" pitchFamily="34" charset="-120"/>
              </a:rPr>
              <a:t>架构优势</a:t>
            </a:r>
            <a:endParaRPr lang="en-US" sz="1600" dirty="0"/>
          </a:p>
        </p:txBody>
      </p:sp>
      <p:sp>
        <p:nvSpPr>
          <p:cNvPr id="41" name="Shape 39"/>
          <p:cNvSpPr/>
          <p:nvPr/>
        </p:nvSpPr>
        <p:spPr>
          <a:xfrm>
            <a:off x="8432730" y="4192749"/>
            <a:ext cx="3549003" cy="862061"/>
          </a:xfrm>
          <a:custGeom>
            <a:avLst/>
            <a:gdLst/>
            <a:ahLst/>
            <a:cxnLst/>
            <a:rect l="l" t="t" r="r" b="b"/>
            <a:pathLst>
              <a:path w="3549003" h="862061">
                <a:moveTo>
                  <a:pt x="44784" y="0"/>
                </a:moveTo>
                <a:lnTo>
                  <a:pt x="3504219" y="0"/>
                </a:lnTo>
                <a:cubicBezTo>
                  <a:pt x="3528952" y="0"/>
                  <a:pt x="3549003" y="20051"/>
                  <a:pt x="3549003" y="44784"/>
                </a:cubicBezTo>
                <a:lnTo>
                  <a:pt x="3549003" y="817277"/>
                </a:lnTo>
                <a:cubicBezTo>
                  <a:pt x="3549003" y="842010"/>
                  <a:pt x="3528952" y="862061"/>
                  <a:pt x="3504219" y="862061"/>
                </a:cubicBezTo>
                <a:lnTo>
                  <a:pt x="44784" y="862061"/>
                </a:lnTo>
                <a:cubicBezTo>
                  <a:pt x="20051" y="862061"/>
                  <a:pt x="0" y="842010"/>
                  <a:pt x="0" y="817277"/>
                </a:cubicBezTo>
                <a:lnTo>
                  <a:pt x="0" y="44784"/>
                </a:lnTo>
                <a:cubicBezTo>
                  <a:pt x="0" y="20067"/>
                  <a:pt x="20067" y="0"/>
                  <a:pt x="44784" y="0"/>
                </a:cubicBezTo>
                <a:close/>
              </a:path>
            </a:pathLst>
          </a:custGeom>
          <a:solidFill>
            <a:srgbClr val="B38B59">
              <a:alpha val="20000"/>
            </a:srgbClr>
          </a:solidFill>
          <a:ln/>
        </p:spPr>
        <p:txBody>
          <a:bodyPr/>
          <a:lstStyle/>
          <a:p>
            <a:endParaRPr lang="zh-CN" altLang="en-US"/>
          </a:p>
        </p:txBody>
      </p:sp>
      <p:sp>
        <p:nvSpPr>
          <p:cNvPr id="42" name="Shape 40"/>
          <p:cNvSpPr/>
          <p:nvPr/>
        </p:nvSpPr>
        <p:spPr>
          <a:xfrm>
            <a:off x="10109882" y="4310303"/>
            <a:ext cx="201521" cy="201521"/>
          </a:xfrm>
          <a:custGeom>
            <a:avLst/>
            <a:gdLst/>
            <a:ahLst/>
            <a:cxnLst/>
            <a:rect l="l" t="t" r="r" b="b"/>
            <a:pathLst>
              <a:path w="201521" h="201521">
                <a:moveTo>
                  <a:pt x="111781" y="-512"/>
                </a:moveTo>
                <a:cubicBezTo>
                  <a:pt x="104972" y="-4448"/>
                  <a:pt x="96549" y="-4448"/>
                  <a:pt x="89740" y="-512"/>
                </a:cubicBezTo>
                <a:lnTo>
                  <a:pt x="56599" y="18617"/>
                </a:lnTo>
                <a:cubicBezTo>
                  <a:pt x="49790" y="22553"/>
                  <a:pt x="45578" y="29835"/>
                  <a:pt x="45578" y="37706"/>
                </a:cubicBezTo>
                <a:lnTo>
                  <a:pt x="45578" y="77814"/>
                </a:lnTo>
                <a:lnTo>
                  <a:pt x="10824" y="97887"/>
                </a:lnTo>
                <a:cubicBezTo>
                  <a:pt x="4015" y="101823"/>
                  <a:pt x="-197" y="109105"/>
                  <a:pt x="-197" y="116976"/>
                </a:cubicBezTo>
                <a:lnTo>
                  <a:pt x="-197" y="155273"/>
                </a:lnTo>
                <a:cubicBezTo>
                  <a:pt x="-197" y="163145"/>
                  <a:pt x="4015" y="170427"/>
                  <a:pt x="10824" y="174363"/>
                </a:cubicBezTo>
                <a:lnTo>
                  <a:pt x="44004" y="193491"/>
                </a:lnTo>
                <a:cubicBezTo>
                  <a:pt x="50813" y="197427"/>
                  <a:pt x="59236" y="197427"/>
                  <a:pt x="66045" y="193491"/>
                </a:cubicBezTo>
                <a:lnTo>
                  <a:pt x="100800" y="173418"/>
                </a:lnTo>
                <a:lnTo>
                  <a:pt x="135554" y="193491"/>
                </a:lnTo>
                <a:cubicBezTo>
                  <a:pt x="142363" y="197427"/>
                  <a:pt x="150786" y="197427"/>
                  <a:pt x="157595" y="193491"/>
                </a:cubicBezTo>
                <a:lnTo>
                  <a:pt x="190697" y="174363"/>
                </a:lnTo>
                <a:cubicBezTo>
                  <a:pt x="197506" y="170427"/>
                  <a:pt x="201717" y="163145"/>
                  <a:pt x="201717" y="155273"/>
                </a:cubicBezTo>
                <a:lnTo>
                  <a:pt x="201717" y="116976"/>
                </a:lnTo>
                <a:cubicBezTo>
                  <a:pt x="201717" y="109105"/>
                  <a:pt x="197506" y="101823"/>
                  <a:pt x="190697" y="97887"/>
                </a:cubicBezTo>
                <a:lnTo>
                  <a:pt x="155942" y="77814"/>
                </a:lnTo>
                <a:lnTo>
                  <a:pt x="155942" y="37706"/>
                </a:lnTo>
                <a:cubicBezTo>
                  <a:pt x="155942" y="29835"/>
                  <a:pt x="151731" y="22553"/>
                  <a:pt x="144922" y="18617"/>
                </a:cubicBezTo>
                <a:lnTo>
                  <a:pt x="111781" y="-512"/>
                </a:lnTo>
                <a:close/>
                <a:moveTo>
                  <a:pt x="91314" y="115166"/>
                </a:moveTo>
                <a:lnTo>
                  <a:pt x="91314" y="157084"/>
                </a:lnTo>
                <a:lnTo>
                  <a:pt x="56560" y="177157"/>
                </a:lnTo>
                <a:cubicBezTo>
                  <a:pt x="56087" y="177433"/>
                  <a:pt x="55536" y="177590"/>
                  <a:pt x="54985" y="177590"/>
                </a:cubicBezTo>
                <a:lnTo>
                  <a:pt x="54985" y="136145"/>
                </a:lnTo>
                <a:lnTo>
                  <a:pt x="91314" y="115166"/>
                </a:lnTo>
                <a:close/>
                <a:moveTo>
                  <a:pt x="182392" y="115402"/>
                </a:moveTo>
                <a:cubicBezTo>
                  <a:pt x="182667" y="115874"/>
                  <a:pt x="182825" y="116425"/>
                  <a:pt x="182825" y="116976"/>
                </a:cubicBezTo>
                <a:lnTo>
                  <a:pt x="182825" y="155273"/>
                </a:lnTo>
                <a:cubicBezTo>
                  <a:pt x="182825" y="156415"/>
                  <a:pt x="182235" y="157438"/>
                  <a:pt x="181251" y="157989"/>
                </a:cubicBezTo>
                <a:lnTo>
                  <a:pt x="148070" y="177118"/>
                </a:lnTo>
                <a:cubicBezTo>
                  <a:pt x="147598" y="177393"/>
                  <a:pt x="147047" y="177551"/>
                  <a:pt x="146496" y="177551"/>
                </a:cubicBezTo>
                <a:lnTo>
                  <a:pt x="146496" y="136105"/>
                </a:lnTo>
                <a:lnTo>
                  <a:pt x="182392" y="115402"/>
                </a:lnTo>
                <a:close/>
                <a:moveTo>
                  <a:pt x="137089" y="37706"/>
                </a:moveTo>
                <a:lnTo>
                  <a:pt x="137089" y="77814"/>
                </a:lnTo>
                <a:lnTo>
                  <a:pt x="100760" y="98792"/>
                </a:lnTo>
                <a:lnTo>
                  <a:pt x="100760" y="56874"/>
                </a:lnTo>
                <a:lnTo>
                  <a:pt x="136656" y="36171"/>
                </a:lnTo>
                <a:cubicBezTo>
                  <a:pt x="136932" y="36644"/>
                  <a:pt x="137089" y="37195"/>
                  <a:pt x="137089" y="37746"/>
                </a:cubicBezTo>
                <a:close/>
              </a:path>
            </a:pathLst>
          </a:custGeom>
          <a:solidFill>
            <a:srgbClr val="B38B59"/>
          </a:solidFill>
          <a:ln/>
        </p:spPr>
        <p:txBody>
          <a:bodyPr/>
          <a:lstStyle/>
          <a:p>
            <a:endParaRPr lang="zh-CN" altLang="en-US"/>
          </a:p>
        </p:txBody>
      </p:sp>
      <p:sp>
        <p:nvSpPr>
          <p:cNvPr id="43" name="Text 41"/>
          <p:cNvSpPr/>
          <p:nvPr/>
        </p:nvSpPr>
        <p:spPr>
          <a:xfrm>
            <a:off x="8483110" y="4556606"/>
            <a:ext cx="3448242" cy="223912"/>
          </a:xfrm>
          <a:prstGeom prst="rect">
            <a:avLst/>
          </a:prstGeom>
          <a:noFill/>
          <a:ln/>
        </p:spPr>
        <p:txBody>
          <a:bodyPr wrap="square" lIns="0" tIns="0" rIns="0" bIns="0" rtlCol="0" anchor="ctr"/>
          <a:lstStyle/>
          <a:p>
            <a:pPr algn="ctr">
              <a:lnSpc>
                <a:spcPct val="120000"/>
              </a:lnSpc>
            </a:pPr>
            <a:r>
              <a:rPr lang="en-US" sz="1234" b="1" dirty="0">
                <a:solidFill>
                  <a:srgbClr val="E0E2E4"/>
                </a:solidFill>
                <a:latin typeface="MiSans" pitchFamily="34" charset="0"/>
                <a:ea typeface="MiSans" pitchFamily="34" charset="-122"/>
                <a:cs typeface="MiSans" pitchFamily="34" charset="-120"/>
              </a:rPr>
              <a:t>通用性</a:t>
            </a:r>
            <a:endParaRPr lang="en-US" sz="1600" dirty="0"/>
          </a:p>
        </p:txBody>
      </p:sp>
      <p:sp>
        <p:nvSpPr>
          <p:cNvPr id="44" name="Text 42"/>
          <p:cNvSpPr/>
          <p:nvPr/>
        </p:nvSpPr>
        <p:spPr>
          <a:xfrm>
            <a:off x="8488708" y="4780518"/>
            <a:ext cx="3437047" cy="179129"/>
          </a:xfrm>
          <a:prstGeom prst="rect">
            <a:avLst/>
          </a:prstGeom>
          <a:noFill/>
          <a:ln/>
        </p:spPr>
        <p:txBody>
          <a:bodyPr wrap="square" lIns="0" tIns="0" rIns="0" bIns="0" rtlCol="0" anchor="ctr"/>
          <a:lstStyle/>
          <a:p>
            <a:pPr algn="ctr">
              <a:lnSpc>
                <a:spcPct val="110000"/>
              </a:lnSpc>
            </a:pPr>
            <a:r>
              <a:rPr lang="en-US" sz="1058" dirty="0">
                <a:solidFill>
                  <a:srgbClr val="E0E2E4">
                    <a:alpha val="70000"/>
                  </a:srgbClr>
                </a:solidFill>
                <a:latin typeface="MiSans" pitchFamily="34" charset="0"/>
                <a:ea typeface="MiSans" pitchFamily="34" charset="-122"/>
                <a:cs typeface="MiSans" pitchFamily="34" charset="-120"/>
              </a:rPr>
              <a:t>支持多种计算框架</a:t>
            </a:r>
            <a:endParaRPr lang="en-US" sz="1600" dirty="0"/>
          </a:p>
        </p:txBody>
      </p:sp>
      <p:sp>
        <p:nvSpPr>
          <p:cNvPr id="45" name="Shape 43"/>
          <p:cNvSpPr/>
          <p:nvPr/>
        </p:nvSpPr>
        <p:spPr>
          <a:xfrm>
            <a:off x="12072522" y="4192749"/>
            <a:ext cx="3549003" cy="862061"/>
          </a:xfrm>
          <a:custGeom>
            <a:avLst/>
            <a:gdLst/>
            <a:ahLst/>
            <a:cxnLst/>
            <a:rect l="l" t="t" r="r" b="b"/>
            <a:pathLst>
              <a:path w="3549003" h="862061">
                <a:moveTo>
                  <a:pt x="44784" y="0"/>
                </a:moveTo>
                <a:lnTo>
                  <a:pt x="3504219" y="0"/>
                </a:lnTo>
                <a:cubicBezTo>
                  <a:pt x="3528952" y="0"/>
                  <a:pt x="3549003" y="20051"/>
                  <a:pt x="3549003" y="44784"/>
                </a:cubicBezTo>
                <a:lnTo>
                  <a:pt x="3549003" y="817277"/>
                </a:lnTo>
                <a:cubicBezTo>
                  <a:pt x="3549003" y="842010"/>
                  <a:pt x="3528952" y="862061"/>
                  <a:pt x="3504219" y="862061"/>
                </a:cubicBezTo>
                <a:lnTo>
                  <a:pt x="44784" y="862061"/>
                </a:lnTo>
                <a:cubicBezTo>
                  <a:pt x="20051" y="862061"/>
                  <a:pt x="0" y="842010"/>
                  <a:pt x="0" y="817277"/>
                </a:cubicBezTo>
                <a:lnTo>
                  <a:pt x="0" y="44784"/>
                </a:lnTo>
                <a:cubicBezTo>
                  <a:pt x="0" y="20067"/>
                  <a:pt x="20067" y="0"/>
                  <a:pt x="44784" y="0"/>
                </a:cubicBezTo>
                <a:close/>
              </a:path>
            </a:pathLst>
          </a:custGeom>
          <a:solidFill>
            <a:srgbClr val="B38B59">
              <a:alpha val="20000"/>
            </a:srgbClr>
          </a:solidFill>
          <a:ln/>
        </p:spPr>
        <p:txBody>
          <a:bodyPr/>
          <a:lstStyle/>
          <a:p>
            <a:endParaRPr lang="zh-CN" altLang="en-US"/>
          </a:p>
        </p:txBody>
      </p:sp>
      <p:sp>
        <p:nvSpPr>
          <p:cNvPr id="46" name="Shape 44"/>
          <p:cNvSpPr/>
          <p:nvPr/>
        </p:nvSpPr>
        <p:spPr>
          <a:xfrm>
            <a:off x="13762269" y="4310303"/>
            <a:ext cx="176331" cy="201521"/>
          </a:xfrm>
          <a:custGeom>
            <a:avLst/>
            <a:gdLst/>
            <a:ahLst/>
            <a:cxnLst/>
            <a:rect l="l" t="t" r="r" b="b"/>
            <a:pathLst>
              <a:path w="176331" h="201521">
                <a:moveTo>
                  <a:pt x="66124" y="12595"/>
                </a:moveTo>
                <a:lnTo>
                  <a:pt x="9446" y="12595"/>
                </a:lnTo>
                <a:cubicBezTo>
                  <a:pt x="4211" y="12595"/>
                  <a:pt x="0" y="16807"/>
                  <a:pt x="0" y="22041"/>
                </a:cubicBezTo>
                <a:lnTo>
                  <a:pt x="0" y="78719"/>
                </a:lnTo>
                <a:cubicBezTo>
                  <a:pt x="0" y="82537"/>
                  <a:pt x="2283" y="86001"/>
                  <a:pt x="5825" y="87457"/>
                </a:cubicBezTo>
                <a:cubicBezTo>
                  <a:pt x="9368" y="88913"/>
                  <a:pt x="13422" y="88087"/>
                  <a:pt x="16137" y="85410"/>
                </a:cubicBezTo>
                <a:lnTo>
                  <a:pt x="31881" y="69666"/>
                </a:lnTo>
                <a:lnTo>
                  <a:pt x="62975" y="100760"/>
                </a:lnTo>
                <a:lnTo>
                  <a:pt x="31881" y="131854"/>
                </a:lnTo>
                <a:lnTo>
                  <a:pt x="16137" y="116111"/>
                </a:lnTo>
                <a:cubicBezTo>
                  <a:pt x="13422" y="113395"/>
                  <a:pt x="9368" y="112608"/>
                  <a:pt x="5825" y="114064"/>
                </a:cubicBezTo>
                <a:cubicBezTo>
                  <a:pt x="2283" y="115520"/>
                  <a:pt x="0" y="118984"/>
                  <a:pt x="0" y="122802"/>
                </a:cubicBezTo>
                <a:lnTo>
                  <a:pt x="0" y="179479"/>
                </a:lnTo>
                <a:cubicBezTo>
                  <a:pt x="0" y="184714"/>
                  <a:pt x="4211" y="188926"/>
                  <a:pt x="9446" y="188926"/>
                </a:cubicBezTo>
                <a:lnTo>
                  <a:pt x="66124" y="188926"/>
                </a:lnTo>
                <a:cubicBezTo>
                  <a:pt x="69942" y="188926"/>
                  <a:pt x="73405" y="186643"/>
                  <a:pt x="74862" y="183100"/>
                </a:cubicBezTo>
                <a:cubicBezTo>
                  <a:pt x="76318" y="179558"/>
                  <a:pt x="75531" y="175504"/>
                  <a:pt x="72815" y="172788"/>
                </a:cubicBezTo>
                <a:lnTo>
                  <a:pt x="57071" y="157044"/>
                </a:lnTo>
                <a:lnTo>
                  <a:pt x="88165" y="125950"/>
                </a:lnTo>
                <a:lnTo>
                  <a:pt x="119259" y="157044"/>
                </a:lnTo>
                <a:lnTo>
                  <a:pt x="103515" y="172788"/>
                </a:lnTo>
                <a:cubicBezTo>
                  <a:pt x="100800" y="175504"/>
                  <a:pt x="100013" y="179558"/>
                  <a:pt x="101469" y="183100"/>
                </a:cubicBezTo>
                <a:cubicBezTo>
                  <a:pt x="102925" y="186643"/>
                  <a:pt x="106389" y="188926"/>
                  <a:pt x="110207" y="188926"/>
                </a:cubicBezTo>
                <a:lnTo>
                  <a:pt x="166884" y="188926"/>
                </a:lnTo>
                <a:cubicBezTo>
                  <a:pt x="172119" y="188926"/>
                  <a:pt x="176331" y="184714"/>
                  <a:pt x="176331" y="179479"/>
                </a:cubicBezTo>
                <a:lnTo>
                  <a:pt x="176331" y="122802"/>
                </a:lnTo>
                <a:cubicBezTo>
                  <a:pt x="176331" y="118984"/>
                  <a:pt x="174048" y="115520"/>
                  <a:pt x="170505" y="114064"/>
                </a:cubicBezTo>
                <a:cubicBezTo>
                  <a:pt x="166963" y="112608"/>
                  <a:pt x="162909" y="113395"/>
                  <a:pt x="160193" y="116111"/>
                </a:cubicBezTo>
                <a:lnTo>
                  <a:pt x="144449" y="131854"/>
                </a:lnTo>
                <a:lnTo>
                  <a:pt x="113355" y="100760"/>
                </a:lnTo>
                <a:lnTo>
                  <a:pt x="144449" y="69666"/>
                </a:lnTo>
                <a:lnTo>
                  <a:pt x="160193" y="85410"/>
                </a:lnTo>
                <a:cubicBezTo>
                  <a:pt x="162909" y="88126"/>
                  <a:pt x="166963" y="88913"/>
                  <a:pt x="170505" y="87457"/>
                </a:cubicBezTo>
                <a:cubicBezTo>
                  <a:pt x="174048" y="86001"/>
                  <a:pt x="176331" y="82537"/>
                  <a:pt x="176331" y="78719"/>
                </a:cubicBezTo>
                <a:lnTo>
                  <a:pt x="176331" y="22041"/>
                </a:lnTo>
                <a:cubicBezTo>
                  <a:pt x="176331" y="16807"/>
                  <a:pt x="172119" y="12595"/>
                  <a:pt x="166884" y="12595"/>
                </a:cubicBezTo>
                <a:lnTo>
                  <a:pt x="110207" y="12595"/>
                </a:lnTo>
                <a:cubicBezTo>
                  <a:pt x="106389" y="12595"/>
                  <a:pt x="102925" y="14878"/>
                  <a:pt x="101469" y="18420"/>
                </a:cubicBezTo>
                <a:cubicBezTo>
                  <a:pt x="100013" y="21963"/>
                  <a:pt x="100839" y="26017"/>
                  <a:pt x="103515" y="28732"/>
                </a:cubicBezTo>
                <a:lnTo>
                  <a:pt x="119259" y="44476"/>
                </a:lnTo>
                <a:lnTo>
                  <a:pt x="88165" y="75570"/>
                </a:lnTo>
                <a:lnTo>
                  <a:pt x="57071" y="44476"/>
                </a:lnTo>
                <a:lnTo>
                  <a:pt x="72815" y="28732"/>
                </a:lnTo>
                <a:cubicBezTo>
                  <a:pt x="75531" y="26017"/>
                  <a:pt x="76318" y="21963"/>
                  <a:pt x="74862" y="18420"/>
                </a:cubicBezTo>
                <a:cubicBezTo>
                  <a:pt x="73405" y="14878"/>
                  <a:pt x="69942" y="12595"/>
                  <a:pt x="66124" y="12595"/>
                </a:cubicBezTo>
                <a:close/>
              </a:path>
            </a:pathLst>
          </a:custGeom>
          <a:solidFill>
            <a:srgbClr val="B38B59"/>
          </a:solidFill>
          <a:ln/>
        </p:spPr>
        <p:txBody>
          <a:bodyPr/>
          <a:lstStyle/>
          <a:p>
            <a:endParaRPr lang="zh-CN" altLang="en-US"/>
          </a:p>
        </p:txBody>
      </p:sp>
      <p:sp>
        <p:nvSpPr>
          <p:cNvPr id="47" name="Text 45"/>
          <p:cNvSpPr/>
          <p:nvPr/>
        </p:nvSpPr>
        <p:spPr>
          <a:xfrm>
            <a:off x="12122902" y="4556606"/>
            <a:ext cx="3448242" cy="223912"/>
          </a:xfrm>
          <a:prstGeom prst="rect">
            <a:avLst/>
          </a:prstGeom>
          <a:noFill/>
          <a:ln/>
        </p:spPr>
        <p:txBody>
          <a:bodyPr wrap="square" lIns="0" tIns="0" rIns="0" bIns="0" rtlCol="0" anchor="ctr"/>
          <a:lstStyle/>
          <a:p>
            <a:pPr algn="ctr">
              <a:lnSpc>
                <a:spcPct val="120000"/>
              </a:lnSpc>
            </a:pPr>
            <a:r>
              <a:rPr lang="en-US" sz="1234" b="1" dirty="0">
                <a:solidFill>
                  <a:srgbClr val="E0E2E4"/>
                </a:solidFill>
                <a:latin typeface="MiSans" pitchFamily="34" charset="0"/>
                <a:ea typeface="MiSans" pitchFamily="34" charset="-122"/>
                <a:cs typeface="MiSans" pitchFamily="34" charset="-120"/>
              </a:rPr>
              <a:t>可扩展性</a:t>
            </a:r>
            <a:endParaRPr lang="en-US" sz="1600" dirty="0"/>
          </a:p>
        </p:txBody>
      </p:sp>
      <p:sp>
        <p:nvSpPr>
          <p:cNvPr id="48" name="Text 46"/>
          <p:cNvSpPr/>
          <p:nvPr/>
        </p:nvSpPr>
        <p:spPr>
          <a:xfrm>
            <a:off x="12128500" y="4780518"/>
            <a:ext cx="3437047" cy="179129"/>
          </a:xfrm>
          <a:prstGeom prst="rect">
            <a:avLst/>
          </a:prstGeom>
          <a:noFill/>
          <a:ln/>
        </p:spPr>
        <p:txBody>
          <a:bodyPr wrap="square" lIns="0" tIns="0" rIns="0" bIns="0" rtlCol="0" anchor="ctr"/>
          <a:lstStyle/>
          <a:p>
            <a:pPr algn="ctr">
              <a:lnSpc>
                <a:spcPct val="110000"/>
              </a:lnSpc>
            </a:pPr>
            <a:r>
              <a:rPr lang="en-US" sz="1058" dirty="0">
                <a:solidFill>
                  <a:srgbClr val="E0E2E4">
                    <a:alpha val="70000"/>
                  </a:srgbClr>
                </a:solidFill>
                <a:latin typeface="MiSans" pitchFamily="34" charset="0"/>
                <a:ea typeface="MiSans" pitchFamily="34" charset="-122"/>
                <a:cs typeface="MiSans" pitchFamily="34" charset="-120"/>
              </a:rPr>
              <a:t>AM分布式部署</a:t>
            </a:r>
            <a:endParaRPr lang="en-US" sz="1600" dirty="0"/>
          </a:p>
        </p:txBody>
      </p:sp>
      <p:sp>
        <p:nvSpPr>
          <p:cNvPr id="49" name="Shape 47"/>
          <p:cNvSpPr/>
          <p:nvPr/>
        </p:nvSpPr>
        <p:spPr>
          <a:xfrm>
            <a:off x="8432730" y="5138777"/>
            <a:ext cx="3549003" cy="862061"/>
          </a:xfrm>
          <a:custGeom>
            <a:avLst/>
            <a:gdLst/>
            <a:ahLst/>
            <a:cxnLst/>
            <a:rect l="l" t="t" r="r" b="b"/>
            <a:pathLst>
              <a:path w="3549003" h="862061">
                <a:moveTo>
                  <a:pt x="44784" y="0"/>
                </a:moveTo>
                <a:lnTo>
                  <a:pt x="3504219" y="0"/>
                </a:lnTo>
                <a:cubicBezTo>
                  <a:pt x="3528952" y="0"/>
                  <a:pt x="3549003" y="20051"/>
                  <a:pt x="3549003" y="44784"/>
                </a:cubicBezTo>
                <a:lnTo>
                  <a:pt x="3549003" y="817277"/>
                </a:lnTo>
                <a:cubicBezTo>
                  <a:pt x="3549003" y="842010"/>
                  <a:pt x="3528952" y="862061"/>
                  <a:pt x="3504219" y="862061"/>
                </a:cubicBezTo>
                <a:lnTo>
                  <a:pt x="44784" y="862061"/>
                </a:lnTo>
                <a:cubicBezTo>
                  <a:pt x="20051" y="862061"/>
                  <a:pt x="0" y="842010"/>
                  <a:pt x="0" y="817277"/>
                </a:cubicBezTo>
                <a:lnTo>
                  <a:pt x="0" y="44784"/>
                </a:lnTo>
                <a:cubicBezTo>
                  <a:pt x="0" y="20067"/>
                  <a:pt x="20067" y="0"/>
                  <a:pt x="44784" y="0"/>
                </a:cubicBezTo>
                <a:close/>
              </a:path>
            </a:pathLst>
          </a:custGeom>
          <a:solidFill>
            <a:srgbClr val="B38B59">
              <a:alpha val="20000"/>
            </a:srgbClr>
          </a:solidFill>
          <a:ln/>
        </p:spPr>
        <p:txBody>
          <a:bodyPr/>
          <a:lstStyle/>
          <a:p>
            <a:endParaRPr lang="zh-CN" altLang="en-US"/>
          </a:p>
        </p:txBody>
      </p:sp>
      <p:sp>
        <p:nvSpPr>
          <p:cNvPr id="50" name="Shape 48"/>
          <p:cNvSpPr/>
          <p:nvPr/>
        </p:nvSpPr>
        <p:spPr>
          <a:xfrm>
            <a:off x="10109882" y="5256331"/>
            <a:ext cx="201521" cy="201521"/>
          </a:xfrm>
          <a:custGeom>
            <a:avLst/>
            <a:gdLst/>
            <a:ahLst/>
            <a:cxnLst/>
            <a:rect l="l" t="t" r="r" b="b"/>
            <a:pathLst>
              <a:path w="201521" h="201521">
                <a:moveTo>
                  <a:pt x="100760" y="0"/>
                </a:moveTo>
                <a:cubicBezTo>
                  <a:pt x="102571" y="0"/>
                  <a:pt x="104381" y="394"/>
                  <a:pt x="106035" y="1141"/>
                </a:cubicBezTo>
                <a:lnTo>
                  <a:pt x="180188" y="32590"/>
                </a:lnTo>
                <a:cubicBezTo>
                  <a:pt x="188847" y="36250"/>
                  <a:pt x="195302" y="44791"/>
                  <a:pt x="195263" y="55103"/>
                </a:cubicBezTo>
                <a:cubicBezTo>
                  <a:pt x="195066" y="94148"/>
                  <a:pt x="179007" y="165585"/>
                  <a:pt x="111191" y="198057"/>
                </a:cubicBezTo>
                <a:cubicBezTo>
                  <a:pt x="104618" y="201206"/>
                  <a:pt x="96982" y="201206"/>
                  <a:pt x="90409" y="198057"/>
                </a:cubicBezTo>
                <a:cubicBezTo>
                  <a:pt x="22553" y="165585"/>
                  <a:pt x="6534" y="94148"/>
                  <a:pt x="6337" y="55103"/>
                </a:cubicBezTo>
                <a:cubicBezTo>
                  <a:pt x="6298" y="44791"/>
                  <a:pt x="12752" y="36250"/>
                  <a:pt x="21412" y="32590"/>
                </a:cubicBezTo>
                <a:lnTo>
                  <a:pt x="95526" y="1141"/>
                </a:lnTo>
                <a:cubicBezTo>
                  <a:pt x="97179" y="394"/>
                  <a:pt x="98950" y="0"/>
                  <a:pt x="100760" y="0"/>
                </a:cubicBezTo>
                <a:close/>
                <a:moveTo>
                  <a:pt x="100760" y="26292"/>
                </a:moveTo>
                <a:lnTo>
                  <a:pt x="100760" y="175110"/>
                </a:lnTo>
                <a:cubicBezTo>
                  <a:pt x="155076" y="148818"/>
                  <a:pt x="169679" y="90566"/>
                  <a:pt x="170033" y="55694"/>
                </a:cubicBezTo>
                <a:lnTo>
                  <a:pt x="100760" y="26332"/>
                </a:lnTo>
                <a:lnTo>
                  <a:pt x="100760" y="26332"/>
                </a:lnTo>
                <a:close/>
              </a:path>
            </a:pathLst>
          </a:custGeom>
          <a:solidFill>
            <a:srgbClr val="B38B59"/>
          </a:solidFill>
          <a:ln/>
        </p:spPr>
        <p:txBody>
          <a:bodyPr/>
          <a:lstStyle/>
          <a:p>
            <a:endParaRPr lang="zh-CN" altLang="en-US"/>
          </a:p>
        </p:txBody>
      </p:sp>
      <p:sp>
        <p:nvSpPr>
          <p:cNvPr id="51" name="Text 49"/>
          <p:cNvSpPr/>
          <p:nvPr/>
        </p:nvSpPr>
        <p:spPr>
          <a:xfrm>
            <a:off x="8483110" y="5502634"/>
            <a:ext cx="3448242" cy="223912"/>
          </a:xfrm>
          <a:prstGeom prst="rect">
            <a:avLst/>
          </a:prstGeom>
          <a:noFill/>
          <a:ln/>
        </p:spPr>
        <p:txBody>
          <a:bodyPr wrap="square" lIns="0" tIns="0" rIns="0" bIns="0" rtlCol="0" anchor="ctr"/>
          <a:lstStyle/>
          <a:p>
            <a:pPr algn="ctr">
              <a:lnSpc>
                <a:spcPct val="120000"/>
              </a:lnSpc>
            </a:pPr>
            <a:r>
              <a:rPr lang="en-US" sz="1234" b="1" dirty="0">
                <a:solidFill>
                  <a:srgbClr val="E0E2E4"/>
                </a:solidFill>
                <a:latin typeface="MiSans" pitchFamily="34" charset="0"/>
                <a:ea typeface="MiSans" pitchFamily="34" charset="-122"/>
                <a:cs typeface="MiSans" pitchFamily="34" charset="-120"/>
              </a:rPr>
              <a:t>容错性</a:t>
            </a:r>
            <a:endParaRPr lang="en-US" sz="1600" dirty="0"/>
          </a:p>
        </p:txBody>
      </p:sp>
      <p:sp>
        <p:nvSpPr>
          <p:cNvPr id="52" name="Text 50"/>
          <p:cNvSpPr/>
          <p:nvPr/>
        </p:nvSpPr>
        <p:spPr>
          <a:xfrm>
            <a:off x="8488708" y="5726545"/>
            <a:ext cx="3437047" cy="179129"/>
          </a:xfrm>
          <a:prstGeom prst="rect">
            <a:avLst/>
          </a:prstGeom>
          <a:noFill/>
          <a:ln/>
        </p:spPr>
        <p:txBody>
          <a:bodyPr wrap="square" lIns="0" tIns="0" rIns="0" bIns="0" rtlCol="0" anchor="ctr"/>
          <a:lstStyle/>
          <a:p>
            <a:pPr algn="ctr">
              <a:lnSpc>
                <a:spcPct val="110000"/>
              </a:lnSpc>
            </a:pPr>
            <a:r>
              <a:rPr lang="en-US" sz="1058" dirty="0">
                <a:solidFill>
                  <a:srgbClr val="E0E2E4">
                    <a:alpha val="70000"/>
                  </a:srgbClr>
                </a:solidFill>
                <a:latin typeface="MiSans" pitchFamily="34" charset="0"/>
                <a:ea typeface="MiSans" pitchFamily="34" charset="-122"/>
                <a:cs typeface="MiSans" pitchFamily="34" charset="-120"/>
              </a:rPr>
              <a:t>RM高可用,AM故障隔离</a:t>
            </a:r>
            <a:endParaRPr lang="en-US" sz="1600" dirty="0"/>
          </a:p>
        </p:txBody>
      </p:sp>
      <p:sp>
        <p:nvSpPr>
          <p:cNvPr id="53" name="Shape 51"/>
          <p:cNvSpPr/>
          <p:nvPr/>
        </p:nvSpPr>
        <p:spPr>
          <a:xfrm>
            <a:off x="12072522" y="5138777"/>
            <a:ext cx="3549003" cy="862061"/>
          </a:xfrm>
          <a:custGeom>
            <a:avLst/>
            <a:gdLst/>
            <a:ahLst/>
            <a:cxnLst/>
            <a:rect l="l" t="t" r="r" b="b"/>
            <a:pathLst>
              <a:path w="3549003" h="862061">
                <a:moveTo>
                  <a:pt x="44784" y="0"/>
                </a:moveTo>
                <a:lnTo>
                  <a:pt x="3504219" y="0"/>
                </a:lnTo>
                <a:cubicBezTo>
                  <a:pt x="3528952" y="0"/>
                  <a:pt x="3549003" y="20051"/>
                  <a:pt x="3549003" y="44784"/>
                </a:cubicBezTo>
                <a:lnTo>
                  <a:pt x="3549003" y="817277"/>
                </a:lnTo>
                <a:cubicBezTo>
                  <a:pt x="3549003" y="842010"/>
                  <a:pt x="3528952" y="862061"/>
                  <a:pt x="3504219" y="862061"/>
                </a:cubicBezTo>
                <a:lnTo>
                  <a:pt x="44784" y="862061"/>
                </a:lnTo>
                <a:cubicBezTo>
                  <a:pt x="20051" y="862061"/>
                  <a:pt x="0" y="842010"/>
                  <a:pt x="0" y="817277"/>
                </a:cubicBezTo>
                <a:lnTo>
                  <a:pt x="0" y="44784"/>
                </a:lnTo>
                <a:cubicBezTo>
                  <a:pt x="0" y="20067"/>
                  <a:pt x="20067" y="0"/>
                  <a:pt x="44784" y="0"/>
                </a:cubicBezTo>
                <a:close/>
              </a:path>
            </a:pathLst>
          </a:custGeom>
          <a:solidFill>
            <a:srgbClr val="B38B59">
              <a:alpha val="20000"/>
            </a:srgbClr>
          </a:solidFill>
          <a:ln/>
        </p:spPr>
        <p:txBody>
          <a:bodyPr/>
          <a:lstStyle/>
          <a:p>
            <a:endParaRPr lang="zh-CN" altLang="en-US"/>
          </a:p>
        </p:txBody>
      </p:sp>
      <p:sp>
        <p:nvSpPr>
          <p:cNvPr id="54" name="Shape 52"/>
          <p:cNvSpPr/>
          <p:nvPr/>
        </p:nvSpPr>
        <p:spPr>
          <a:xfrm>
            <a:off x="13749674" y="5256331"/>
            <a:ext cx="201521" cy="201521"/>
          </a:xfrm>
          <a:custGeom>
            <a:avLst/>
            <a:gdLst/>
            <a:ahLst/>
            <a:cxnLst/>
            <a:rect l="l" t="t" r="r" b="b"/>
            <a:pathLst>
              <a:path w="201521" h="201521">
                <a:moveTo>
                  <a:pt x="0" y="100760"/>
                </a:moveTo>
                <a:cubicBezTo>
                  <a:pt x="0" y="45149"/>
                  <a:pt x="45149" y="0"/>
                  <a:pt x="100760" y="0"/>
                </a:cubicBezTo>
                <a:cubicBezTo>
                  <a:pt x="156371" y="0"/>
                  <a:pt x="201521" y="45149"/>
                  <a:pt x="201521" y="100760"/>
                </a:cubicBezTo>
                <a:cubicBezTo>
                  <a:pt x="201521" y="156371"/>
                  <a:pt x="156371" y="201521"/>
                  <a:pt x="100760" y="201521"/>
                </a:cubicBezTo>
                <a:cubicBezTo>
                  <a:pt x="45149" y="201521"/>
                  <a:pt x="0" y="156371"/>
                  <a:pt x="0" y="100760"/>
                </a:cubicBezTo>
                <a:close/>
                <a:moveTo>
                  <a:pt x="113355" y="37785"/>
                </a:moveTo>
                <a:cubicBezTo>
                  <a:pt x="113355" y="30834"/>
                  <a:pt x="107712" y="25190"/>
                  <a:pt x="100760" y="25190"/>
                </a:cubicBezTo>
                <a:cubicBezTo>
                  <a:pt x="93809" y="25190"/>
                  <a:pt x="88165" y="30834"/>
                  <a:pt x="88165" y="37785"/>
                </a:cubicBezTo>
                <a:cubicBezTo>
                  <a:pt x="88165" y="44737"/>
                  <a:pt x="93809" y="50380"/>
                  <a:pt x="100760" y="50380"/>
                </a:cubicBezTo>
                <a:cubicBezTo>
                  <a:pt x="107712" y="50380"/>
                  <a:pt x="113355" y="44737"/>
                  <a:pt x="113355" y="37785"/>
                </a:cubicBezTo>
                <a:close/>
                <a:moveTo>
                  <a:pt x="100760" y="163736"/>
                </a:moveTo>
                <a:cubicBezTo>
                  <a:pt x="114654" y="163736"/>
                  <a:pt x="125950" y="152439"/>
                  <a:pt x="125950" y="138545"/>
                </a:cubicBezTo>
                <a:cubicBezTo>
                  <a:pt x="125950" y="132169"/>
                  <a:pt x="123589" y="126305"/>
                  <a:pt x="119653" y="121896"/>
                </a:cubicBezTo>
                <a:lnTo>
                  <a:pt x="147008" y="67226"/>
                </a:lnTo>
                <a:cubicBezTo>
                  <a:pt x="149330" y="62542"/>
                  <a:pt x="147441" y="56874"/>
                  <a:pt x="142796" y="54552"/>
                </a:cubicBezTo>
                <a:cubicBezTo>
                  <a:pt x="138152" y="52230"/>
                  <a:pt x="132445" y="54119"/>
                  <a:pt x="130123" y="58764"/>
                </a:cubicBezTo>
                <a:lnTo>
                  <a:pt x="102768" y="113434"/>
                </a:lnTo>
                <a:cubicBezTo>
                  <a:pt x="102099" y="113395"/>
                  <a:pt x="101429" y="113355"/>
                  <a:pt x="100760" y="113355"/>
                </a:cubicBezTo>
                <a:cubicBezTo>
                  <a:pt x="86866" y="113355"/>
                  <a:pt x="75570" y="124652"/>
                  <a:pt x="75570" y="138545"/>
                </a:cubicBezTo>
                <a:cubicBezTo>
                  <a:pt x="75570" y="152439"/>
                  <a:pt x="86866" y="163736"/>
                  <a:pt x="100760" y="163736"/>
                </a:cubicBezTo>
                <a:close/>
                <a:moveTo>
                  <a:pt x="69273" y="56678"/>
                </a:moveTo>
                <a:cubicBezTo>
                  <a:pt x="69273" y="49726"/>
                  <a:pt x="63629" y="44083"/>
                  <a:pt x="56678" y="44083"/>
                </a:cubicBezTo>
                <a:cubicBezTo>
                  <a:pt x="49726" y="44083"/>
                  <a:pt x="44083" y="49726"/>
                  <a:pt x="44083" y="56678"/>
                </a:cubicBezTo>
                <a:cubicBezTo>
                  <a:pt x="44083" y="63629"/>
                  <a:pt x="49726" y="69273"/>
                  <a:pt x="56678" y="69273"/>
                </a:cubicBezTo>
                <a:cubicBezTo>
                  <a:pt x="63629" y="69273"/>
                  <a:pt x="69273" y="63629"/>
                  <a:pt x="69273" y="56678"/>
                </a:cubicBezTo>
                <a:close/>
                <a:moveTo>
                  <a:pt x="37785" y="113355"/>
                </a:moveTo>
                <a:cubicBezTo>
                  <a:pt x="44737" y="113355"/>
                  <a:pt x="50380" y="107712"/>
                  <a:pt x="50380" y="100760"/>
                </a:cubicBezTo>
                <a:cubicBezTo>
                  <a:pt x="50380" y="93809"/>
                  <a:pt x="44737" y="88165"/>
                  <a:pt x="37785" y="88165"/>
                </a:cubicBezTo>
                <a:cubicBezTo>
                  <a:pt x="30834" y="88165"/>
                  <a:pt x="25190" y="93809"/>
                  <a:pt x="25190" y="100760"/>
                </a:cubicBezTo>
                <a:cubicBezTo>
                  <a:pt x="25190" y="107712"/>
                  <a:pt x="30834" y="113355"/>
                  <a:pt x="37785" y="113355"/>
                </a:cubicBezTo>
                <a:close/>
                <a:moveTo>
                  <a:pt x="176331" y="100760"/>
                </a:moveTo>
                <a:cubicBezTo>
                  <a:pt x="176331" y="93809"/>
                  <a:pt x="170687" y="88165"/>
                  <a:pt x="163736" y="88165"/>
                </a:cubicBezTo>
                <a:cubicBezTo>
                  <a:pt x="156784" y="88165"/>
                  <a:pt x="151140" y="93809"/>
                  <a:pt x="151140" y="100760"/>
                </a:cubicBezTo>
                <a:cubicBezTo>
                  <a:pt x="151140" y="107712"/>
                  <a:pt x="156784" y="113355"/>
                  <a:pt x="163736" y="113355"/>
                </a:cubicBezTo>
                <a:cubicBezTo>
                  <a:pt x="170687" y="113355"/>
                  <a:pt x="176331" y="107712"/>
                  <a:pt x="176331" y="100760"/>
                </a:cubicBezTo>
                <a:close/>
              </a:path>
            </a:pathLst>
          </a:custGeom>
          <a:solidFill>
            <a:srgbClr val="B38B59"/>
          </a:solidFill>
          <a:ln/>
        </p:spPr>
        <p:txBody>
          <a:bodyPr/>
          <a:lstStyle/>
          <a:p>
            <a:endParaRPr lang="zh-CN" altLang="en-US"/>
          </a:p>
        </p:txBody>
      </p:sp>
      <p:sp>
        <p:nvSpPr>
          <p:cNvPr id="55" name="Text 53"/>
          <p:cNvSpPr/>
          <p:nvPr/>
        </p:nvSpPr>
        <p:spPr>
          <a:xfrm>
            <a:off x="12122902" y="5502634"/>
            <a:ext cx="3448242" cy="223912"/>
          </a:xfrm>
          <a:prstGeom prst="rect">
            <a:avLst/>
          </a:prstGeom>
          <a:noFill/>
          <a:ln/>
        </p:spPr>
        <p:txBody>
          <a:bodyPr wrap="square" lIns="0" tIns="0" rIns="0" bIns="0" rtlCol="0" anchor="ctr"/>
          <a:lstStyle/>
          <a:p>
            <a:pPr algn="ctr">
              <a:lnSpc>
                <a:spcPct val="120000"/>
              </a:lnSpc>
            </a:pPr>
            <a:r>
              <a:rPr lang="en-US" sz="1234" b="1" dirty="0">
                <a:solidFill>
                  <a:srgbClr val="E0E2E4"/>
                </a:solidFill>
                <a:latin typeface="MiSans" pitchFamily="34" charset="0"/>
                <a:ea typeface="MiSans" pitchFamily="34" charset="-122"/>
                <a:cs typeface="MiSans" pitchFamily="34" charset="-120"/>
              </a:rPr>
              <a:t>资源利用率</a:t>
            </a:r>
            <a:endParaRPr lang="en-US" sz="1600" dirty="0"/>
          </a:p>
        </p:txBody>
      </p:sp>
      <p:sp>
        <p:nvSpPr>
          <p:cNvPr id="56" name="Text 54"/>
          <p:cNvSpPr/>
          <p:nvPr/>
        </p:nvSpPr>
        <p:spPr>
          <a:xfrm>
            <a:off x="12128500" y="5726545"/>
            <a:ext cx="3437047" cy="179129"/>
          </a:xfrm>
          <a:prstGeom prst="rect">
            <a:avLst/>
          </a:prstGeom>
          <a:noFill/>
          <a:ln/>
        </p:spPr>
        <p:txBody>
          <a:bodyPr wrap="square" lIns="0" tIns="0" rIns="0" bIns="0" rtlCol="0" anchor="ctr"/>
          <a:lstStyle/>
          <a:p>
            <a:pPr algn="ctr">
              <a:lnSpc>
                <a:spcPct val="110000"/>
              </a:lnSpc>
            </a:pPr>
            <a:r>
              <a:rPr lang="en-US" sz="1058" dirty="0">
                <a:solidFill>
                  <a:srgbClr val="E0E2E4">
                    <a:alpha val="70000"/>
                  </a:srgbClr>
                </a:solidFill>
                <a:latin typeface="MiSans" pitchFamily="34" charset="0"/>
                <a:ea typeface="MiSans" pitchFamily="34" charset="-122"/>
                <a:cs typeface="MiSans" pitchFamily="34" charset="-120"/>
              </a:rPr>
              <a:t>动态资源分配</a:t>
            </a:r>
            <a:endParaRPr lang="en-US" sz="1600" dirty="0"/>
          </a:p>
        </p:txBody>
      </p:sp>
      <p:sp>
        <p:nvSpPr>
          <p:cNvPr id="57" name="Shape 55"/>
          <p:cNvSpPr/>
          <p:nvPr/>
        </p:nvSpPr>
        <p:spPr>
          <a:xfrm>
            <a:off x="8248003" y="6370292"/>
            <a:ext cx="7557025" cy="1623361"/>
          </a:xfrm>
          <a:custGeom>
            <a:avLst/>
            <a:gdLst/>
            <a:ahLst/>
            <a:cxnLst/>
            <a:rect l="l" t="t" r="r" b="b"/>
            <a:pathLst>
              <a:path w="7557025" h="1623361">
                <a:moveTo>
                  <a:pt x="89561" y="0"/>
                </a:moveTo>
                <a:lnTo>
                  <a:pt x="7467464" y="0"/>
                </a:lnTo>
                <a:cubicBezTo>
                  <a:pt x="7516927" y="0"/>
                  <a:pt x="7557025" y="40098"/>
                  <a:pt x="7557025" y="89561"/>
                </a:cubicBezTo>
                <a:lnTo>
                  <a:pt x="7557025" y="1533800"/>
                </a:lnTo>
                <a:cubicBezTo>
                  <a:pt x="7557025" y="1583263"/>
                  <a:pt x="7516927" y="1623361"/>
                  <a:pt x="7467464" y="1623361"/>
                </a:cubicBezTo>
                <a:lnTo>
                  <a:pt x="89561" y="1623361"/>
                </a:lnTo>
                <a:cubicBezTo>
                  <a:pt x="40098" y="1623361"/>
                  <a:pt x="0" y="1583263"/>
                  <a:pt x="0" y="1533800"/>
                </a:cubicBezTo>
                <a:lnTo>
                  <a:pt x="0" y="89561"/>
                </a:lnTo>
                <a:cubicBezTo>
                  <a:pt x="0" y="40131"/>
                  <a:pt x="40131" y="0"/>
                  <a:pt x="89561"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58" name="Text 56"/>
          <p:cNvSpPr/>
          <p:nvPr/>
        </p:nvSpPr>
        <p:spPr>
          <a:xfrm>
            <a:off x="8432730" y="6555019"/>
            <a:ext cx="7299526" cy="313477"/>
          </a:xfrm>
          <a:prstGeom prst="rect">
            <a:avLst/>
          </a:prstGeom>
          <a:noFill/>
          <a:ln/>
        </p:spPr>
        <p:txBody>
          <a:bodyPr wrap="square" lIns="0" tIns="0" rIns="0" bIns="0" rtlCol="0" anchor="ctr"/>
          <a:lstStyle/>
          <a:p>
            <a:pPr>
              <a:lnSpc>
                <a:spcPct val="120000"/>
              </a:lnSpc>
            </a:pPr>
            <a:r>
              <a:rPr lang="en-US" sz="1763" b="1" dirty="0">
                <a:solidFill>
                  <a:srgbClr val="E0E2E4"/>
                </a:solidFill>
                <a:latin typeface="MiSans" pitchFamily="34" charset="0"/>
                <a:ea typeface="MiSans" pitchFamily="34" charset="-122"/>
                <a:cs typeface="MiSans" pitchFamily="34" charset="-120"/>
              </a:rPr>
              <a:t>YARN Container抽象设计</a:t>
            </a:r>
            <a:endParaRPr lang="en-US" sz="1600" dirty="0"/>
          </a:p>
        </p:txBody>
      </p:sp>
      <p:sp>
        <p:nvSpPr>
          <p:cNvPr id="59" name="Text 57"/>
          <p:cNvSpPr/>
          <p:nvPr/>
        </p:nvSpPr>
        <p:spPr>
          <a:xfrm>
            <a:off x="8432730" y="6958061"/>
            <a:ext cx="7265939" cy="223912"/>
          </a:xfrm>
          <a:prstGeom prst="rect">
            <a:avLst/>
          </a:prstGeom>
          <a:noFill/>
          <a:ln/>
        </p:spPr>
        <p:txBody>
          <a:bodyPr wrap="square" lIns="0" tIns="0" rIns="0" bIns="0" rtlCol="0" anchor="ctr"/>
          <a:lstStyle/>
          <a:p>
            <a:pPr>
              <a:lnSpc>
                <a:spcPct val="120000"/>
              </a:lnSpc>
            </a:pPr>
            <a:r>
              <a:rPr lang="en-US" sz="1234" b="1" dirty="0">
                <a:solidFill>
                  <a:srgbClr val="B38B59"/>
                </a:solidFill>
                <a:latin typeface="MiSans" pitchFamily="34" charset="0"/>
                <a:ea typeface="MiSans" pitchFamily="34" charset="-122"/>
                <a:cs typeface="MiSans" pitchFamily="34" charset="-120"/>
              </a:rPr>
              <a:t>比虚拟机更轻量:</a:t>
            </a:r>
            <a:r>
              <a:rPr lang="en-US" sz="1234" dirty="0">
                <a:solidFill>
                  <a:srgbClr val="E0E2E4">
                    <a:alpha val="80000"/>
                  </a:srgbClr>
                </a:solidFill>
                <a:latin typeface="MiSans" pitchFamily="34" charset="0"/>
                <a:ea typeface="MiSans" pitchFamily="34" charset="-122"/>
                <a:cs typeface="MiSans" pitchFamily="34" charset="-120"/>
              </a:rPr>
              <a:t> Container不需要运行完整操作系统,启动速度快,资源开销小</a:t>
            </a:r>
            <a:endParaRPr lang="en-US" sz="1600" dirty="0"/>
          </a:p>
        </p:txBody>
      </p:sp>
      <p:sp>
        <p:nvSpPr>
          <p:cNvPr id="60" name="Text 58"/>
          <p:cNvSpPr/>
          <p:nvPr/>
        </p:nvSpPr>
        <p:spPr>
          <a:xfrm>
            <a:off x="8432730" y="7271537"/>
            <a:ext cx="7265939" cy="223912"/>
          </a:xfrm>
          <a:prstGeom prst="rect">
            <a:avLst/>
          </a:prstGeom>
          <a:noFill/>
          <a:ln/>
        </p:spPr>
        <p:txBody>
          <a:bodyPr wrap="square" lIns="0" tIns="0" rIns="0" bIns="0" rtlCol="0" anchor="ctr"/>
          <a:lstStyle/>
          <a:p>
            <a:pPr>
              <a:lnSpc>
                <a:spcPct val="120000"/>
              </a:lnSpc>
            </a:pPr>
            <a:r>
              <a:rPr lang="en-US" sz="1234" b="1" dirty="0">
                <a:solidFill>
                  <a:srgbClr val="B38B59"/>
                </a:solidFill>
                <a:latin typeface="MiSans" pitchFamily="34" charset="0"/>
                <a:ea typeface="MiSans" pitchFamily="34" charset="-122"/>
                <a:cs typeface="MiSans" pitchFamily="34" charset="-120"/>
              </a:rPr>
              <a:t>比进程更安全:</a:t>
            </a:r>
            <a:r>
              <a:rPr lang="en-US" sz="1234" dirty="0">
                <a:solidFill>
                  <a:srgbClr val="E0E2E4">
                    <a:alpha val="80000"/>
                  </a:srgbClr>
                </a:solidFill>
                <a:latin typeface="MiSans" pitchFamily="34" charset="0"/>
                <a:ea typeface="MiSans" pitchFamily="34" charset="-122"/>
                <a:cs typeface="MiSans" pitchFamily="34" charset="-120"/>
              </a:rPr>
              <a:t> 提供比单纯进程更强的隔离保证,包括资源限制和安全隔离</a:t>
            </a:r>
            <a:endParaRPr lang="en-US" sz="1600" dirty="0"/>
          </a:p>
        </p:txBody>
      </p:sp>
      <p:sp>
        <p:nvSpPr>
          <p:cNvPr id="61" name="Text 59"/>
          <p:cNvSpPr/>
          <p:nvPr/>
        </p:nvSpPr>
        <p:spPr>
          <a:xfrm>
            <a:off x="8432730" y="7585014"/>
            <a:ext cx="7265939" cy="223912"/>
          </a:xfrm>
          <a:prstGeom prst="rect">
            <a:avLst/>
          </a:prstGeom>
          <a:noFill/>
          <a:ln/>
        </p:spPr>
        <p:txBody>
          <a:bodyPr wrap="square" lIns="0" tIns="0" rIns="0" bIns="0" rtlCol="0" anchor="ctr"/>
          <a:lstStyle/>
          <a:p>
            <a:pPr>
              <a:lnSpc>
                <a:spcPct val="120000"/>
              </a:lnSpc>
            </a:pPr>
            <a:r>
              <a:rPr lang="en-US" sz="1234" b="1" dirty="0">
                <a:solidFill>
                  <a:srgbClr val="B38B59"/>
                </a:solidFill>
                <a:latin typeface="MiSans" pitchFamily="34" charset="0"/>
                <a:ea typeface="MiSans" pitchFamily="34" charset="-122"/>
                <a:cs typeface="MiSans" pitchFamily="34" charset="-120"/>
              </a:rPr>
              <a:t>适合大数据场景:</a:t>
            </a:r>
            <a:r>
              <a:rPr lang="en-US" sz="1234" dirty="0">
                <a:solidFill>
                  <a:srgbClr val="E0E2E4">
                    <a:alpha val="80000"/>
                  </a:srgbClr>
                </a:solidFill>
                <a:latin typeface="MiSans" pitchFamily="34" charset="0"/>
                <a:ea typeface="MiSans" pitchFamily="34" charset="-122"/>
                <a:cs typeface="MiSans" pitchFamily="34" charset="-120"/>
              </a:rPr>
              <a:t> Container粒度适合大数据应用特点,既能提供足够隔离,又不会带来过大开销</a:t>
            </a:r>
            <a:endParaRPr lang="en-US" sz="1600" dirty="0"/>
          </a:p>
        </p:txBody>
      </p:sp>
      <p:sp>
        <p:nvSpPr>
          <p:cNvPr id="62" name="Shape 60"/>
          <p:cNvSpPr/>
          <p:nvPr/>
        </p:nvSpPr>
        <p:spPr>
          <a:xfrm>
            <a:off x="453421" y="8943791"/>
            <a:ext cx="15349157" cy="727713"/>
          </a:xfrm>
          <a:custGeom>
            <a:avLst/>
            <a:gdLst/>
            <a:ahLst/>
            <a:cxnLst/>
            <a:rect l="l" t="t" r="r" b="b"/>
            <a:pathLst>
              <a:path w="15349157" h="727713">
                <a:moveTo>
                  <a:pt x="89567" y="0"/>
                </a:moveTo>
                <a:lnTo>
                  <a:pt x="15259590" y="0"/>
                </a:lnTo>
                <a:cubicBezTo>
                  <a:pt x="15309057" y="0"/>
                  <a:pt x="15349157" y="40101"/>
                  <a:pt x="15349157" y="89567"/>
                </a:cubicBezTo>
                <a:lnTo>
                  <a:pt x="15349157" y="638147"/>
                </a:lnTo>
                <a:cubicBezTo>
                  <a:pt x="15349157" y="687613"/>
                  <a:pt x="15309057" y="727713"/>
                  <a:pt x="15259590" y="727713"/>
                </a:cubicBezTo>
                <a:lnTo>
                  <a:pt x="89567" y="727713"/>
                </a:lnTo>
                <a:cubicBezTo>
                  <a:pt x="40101" y="727713"/>
                  <a:pt x="0" y="687613"/>
                  <a:pt x="0" y="638147"/>
                </a:cubicBezTo>
                <a:lnTo>
                  <a:pt x="0" y="89567"/>
                </a:lnTo>
                <a:cubicBezTo>
                  <a:pt x="0" y="40134"/>
                  <a:pt x="40134" y="0"/>
                  <a:pt x="89567"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63" name="Shape 61"/>
          <p:cNvSpPr/>
          <p:nvPr/>
        </p:nvSpPr>
        <p:spPr>
          <a:xfrm>
            <a:off x="607361" y="9195692"/>
            <a:ext cx="195923" cy="223912"/>
          </a:xfrm>
          <a:custGeom>
            <a:avLst/>
            <a:gdLst/>
            <a:ahLst/>
            <a:cxnLst/>
            <a:rect l="l" t="t" r="r" b="b"/>
            <a:pathLst>
              <a:path w="195923" h="223912">
                <a:moveTo>
                  <a:pt x="0" y="94463"/>
                </a:moveTo>
                <a:cubicBezTo>
                  <a:pt x="0" y="65468"/>
                  <a:pt x="23485" y="41983"/>
                  <a:pt x="52479" y="41983"/>
                </a:cubicBezTo>
                <a:lnTo>
                  <a:pt x="55978" y="41983"/>
                </a:lnTo>
                <a:cubicBezTo>
                  <a:pt x="63719" y="41983"/>
                  <a:pt x="69972" y="48237"/>
                  <a:pt x="69972" y="55978"/>
                </a:cubicBezTo>
                <a:cubicBezTo>
                  <a:pt x="69972" y="63719"/>
                  <a:pt x="63719" y="69972"/>
                  <a:pt x="55978" y="69972"/>
                </a:cubicBezTo>
                <a:lnTo>
                  <a:pt x="52479" y="69972"/>
                </a:lnTo>
                <a:cubicBezTo>
                  <a:pt x="38966" y="69972"/>
                  <a:pt x="27989" y="80949"/>
                  <a:pt x="27989" y="94463"/>
                </a:cubicBezTo>
                <a:lnTo>
                  <a:pt x="27989" y="97961"/>
                </a:lnTo>
                <a:lnTo>
                  <a:pt x="55978" y="97961"/>
                </a:lnTo>
                <a:cubicBezTo>
                  <a:pt x="71416" y="97961"/>
                  <a:pt x="83967" y="110513"/>
                  <a:pt x="83967" y="125950"/>
                </a:cubicBezTo>
                <a:lnTo>
                  <a:pt x="83967" y="153939"/>
                </a:lnTo>
                <a:cubicBezTo>
                  <a:pt x="83967" y="169377"/>
                  <a:pt x="71416" y="181928"/>
                  <a:pt x="55978" y="181928"/>
                </a:cubicBezTo>
                <a:lnTo>
                  <a:pt x="27989" y="181928"/>
                </a:lnTo>
                <a:cubicBezTo>
                  <a:pt x="12551" y="181928"/>
                  <a:pt x="0" y="169377"/>
                  <a:pt x="0" y="153939"/>
                </a:cubicBezTo>
                <a:lnTo>
                  <a:pt x="0" y="94463"/>
                </a:lnTo>
                <a:close/>
                <a:moveTo>
                  <a:pt x="111956" y="94463"/>
                </a:moveTo>
                <a:cubicBezTo>
                  <a:pt x="111956" y="65468"/>
                  <a:pt x="135440" y="41983"/>
                  <a:pt x="164435" y="41983"/>
                </a:cubicBezTo>
                <a:lnTo>
                  <a:pt x="167934" y="41983"/>
                </a:lnTo>
                <a:cubicBezTo>
                  <a:pt x="175675" y="41983"/>
                  <a:pt x="181928" y="48237"/>
                  <a:pt x="181928" y="55978"/>
                </a:cubicBezTo>
                <a:cubicBezTo>
                  <a:pt x="181928" y="63719"/>
                  <a:pt x="175675" y="69972"/>
                  <a:pt x="167934" y="69972"/>
                </a:cubicBezTo>
                <a:lnTo>
                  <a:pt x="164435" y="69972"/>
                </a:lnTo>
                <a:cubicBezTo>
                  <a:pt x="150922" y="69972"/>
                  <a:pt x="139945" y="80949"/>
                  <a:pt x="139945" y="94463"/>
                </a:cubicBezTo>
                <a:lnTo>
                  <a:pt x="139945" y="97961"/>
                </a:lnTo>
                <a:lnTo>
                  <a:pt x="167934" y="97961"/>
                </a:lnTo>
                <a:cubicBezTo>
                  <a:pt x="183372" y="97961"/>
                  <a:pt x="195923" y="110513"/>
                  <a:pt x="195923" y="125950"/>
                </a:cubicBezTo>
                <a:lnTo>
                  <a:pt x="195923" y="153939"/>
                </a:lnTo>
                <a:cubicBezTo>
                  <a:pt x="195923" y="169377"/>
                  <a:pt x="183372" y="181928"/>
                  <a:pt x="167934" y="181928"/>
                </a:cubicBezTo>
                <a:lnTo>
                  <a:pt x="139945" y="181928"/>
                </a:lnTo>
                <a:cubicBezTo>
                  <a:pt x="124507" y="181928"/>
                  <a:pt x="111956" y="169377"/>
                  <a:pt x="111956" y="153939"/>
                </a:cubicBezTo>
                <a:lnTo>
                  <a:pt x="111956" y="94463"/>
                </a:lnTo>
                <a:close/>
              </a:path>
            </a:pathLst>
          </a:custGeom>
          <a:solidFill>
            <a:srgbClr val="3C8082"/>
          </a:solidFill>
          <a:ln/>
        </p:spPr>
        <p:txBody>
          <a:bodyPr/>
          <a:lstStyle/>
          <a:p>
            <a:endParaRPr lang="zh-CN" altLang="en-US"/>
          </a:p>
        </p:txBody>
      </p:sp>
      <p:sp>
        <p:nvSpPr>
          <p:cNvPr id="64" name="Text 62"/>
          <p:cNvSpPr/>
          <p:nvPr/>
        </p:nvSpPr>
        <p:spPr>
          <a:xfrm>
            <a:off x="951625" y="9083736"/>
            <a:ext cx="14800573" cy="447824"/>
          </a:xfrm>
          <a:prstGeom prst="rect">
            <a:avLst/>
          </a:prstGeom>
          <a:noFill/>
          <a:ln/>
        </p:spPr>
        <p:txBody>
          <a:bodyPr wrap="square" lIns="0" tIns="0" rIns="0" bIns="0" rtlCol="0" anchor="ctr"/>
          <a:lstStyle/>
          <a:p>
            <a:pPr>
              <a:lnSpc>
                <a:spcPct val="100000"/>
              </a:lnSpc>
            </a:pPr>
            <a:r>
              <a:rPr lang="en-US" sz="1410" b="1" dirty="0">
                <a:solidFill>
                  <a:srgbClr val="3C8082"/>
                </a:solidFill>
                <a:latin typeface="MiSans" pitchFamily="34" charset="0"/>
                <a:ea typeface="MiSans" pitchFamily="34" charset="-122"/>
                <a:cs typeface="MiSans" pitchFamily="34" charset="-120"/>
              </a:rPr>
              <a:t>设计哲学总结:</a:t>
            </a:r>
            <a:r>
              <a:rPr lang="en-US" sz="1410" dirty="0">
                <a:solidFill>
                  <a:srgbClr val="E0E2E4"/>
                </a:solidFill>
                <a:latin typeface="MiSans" pitchFamily="34" charset="0"/>
                <a:ea typeface="MiSans" pitchFamily="34" charset="-122"/>
                <a:cs typeface="MiSans" pitchFamily="34" charset="-120"/>
              </a:rPr>
              <a:t> YARN通过</a:t>
            </a:r>
            <a:r>
              <a:rPr lang="en-US" sz="1410" dirty="0">
                <a:solidFill>
                  <a:srgbClr val="E0E2E4"/>
                </a:solidFill>
                <a:highlight>
                  <a:srgbClr val="3C8082">
                    <a:alpha val="30000"/>
                  </a:srgbClr>
                </a:highlight>
                <a:latin typeface="MiSans" pitchFamily="34" charset="0"/>
                <a:ea typeface="MiSans" pitchFamily="34" charset="-122"/>
                <a:cs typeface="MiSans" pitchFamily="34" charset="-120"/>
              </a:rPr>
              <a:t> 资源管理与作业调度分离 </a:t>
            </a:r>
            <a:r>
              <a:rPr lang="en-US" sz="1410" dirty="0">
                <a:solidFill>
                  <a:srgbClr val="E0E2E4"/>
                </a:solidFill>
                <a:latin typeface="MiSans" pitchFamily="34" charset="0"/>
                <a:ea typeface="MiSans" pitchFamily="34" charset="-122"/>
                <a:cs typeface="MiSans" pitchFamily="34" charset="-120"/>
              </a:rPr>
              <a:t>的设计,解决了MapReduce 1.0的核心问题,为大数据生态系统提供了更加灵活和可扩展的基础设施。Container的中等粒度抽象在保证隔离性的同时,兼顾了性能和资源效率,是大数据场景下的理想选择。</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508000" y="558800"/>
            <a:ext cx="406400" cy="406400"/>
          </a:xfrm>
          <a:custGeom>
            <a:avLst/>
            <a:gdLst/>
            <a:ahLst/>
            <a:cxnLst/>
            <a:rect l="l" t="t" r="r" b="b"/>
            <a:pathLst>
              <a:path w="406400" h="406400">
                <a:moveTo>
                  <a:pt x="76200" y="0"/>
                </a:moveTo>
                <a:lnTo>
                  <a:pt x="330200" y="0"/>
                </a:lnTo>
                <a:cubicBezTo>
                  <a:pt x="372256" y="0"/>
                  <a:pt x="406400" y="34144"/>
                  <a:pt x="406400" y="76200"/>
                </a:cubicBezTo>
                <a:lnTo>
                  <a:pt x="406400" y="330200"/>
                </a:lnTo>
                <a:cubicBezTo>
                  <a:pt x="406400" y="372256"/>
                  <a:pt x="372256" y="406400"/>
                  <a:pt x="330200" y="406400"/>
                </a:cubicBezTo>
                <a:lnTo>
                  <a:pt x="76200" y="406400"/>
                </a:lnTo>
                <a:cubicBezTo>
                  <a:pt x="34144" y="406400"/>
                  <a:pt x="0" y="372256"/>
                  <a:pt x="0" y="330200"/>
                </a:cubicBezTo>
                <a:lnTo>
                  <a:pt x="0" y="76200"/>
                </a:lnTo>
                <a:cubicBezTo>
                  <a:pt x="0" y="34144"/>
                  <a:pt x="34144" y="0"/>
                  <a:pt x="76200" y="0"/>
                </a:cubicBezTo>
                <a:close/>
              </a:path>
            </a:pathLst>
          </a:custGeom>
          <a:solidFill>
            <a:srgbClr val="3C8082"/>
          </a:solidFill>
          <a:ln/>
        </p:spPr>
        <p:txBody>
          <a:bodyPr/>
          <a:lstStyle/>
          <a:p>
            <a:endParaRPr lang="zh-CN" altLang="en-US"/>
          </a:p>
        </p:txBody>
      </p:sp>
      <p:sp>
        <p:nvSpPr>
          <p:cNvPr id="3" name="Text 1"/>
          <p:cNvSpPr/>
          <p:nvPr/>
        </p:nvSpPr>
        <p:spPr>
          <a:xfrm>
            <a:off x="457200" y="558800"/>
            <a:ext cx="508000" cy="406400"/>
          </a:xfrm>
          <a:prstGeom prst="rect">
            <a:avLst/>
          </a:prstGeom>
          <a:noFill/>
          <a:ln/>
        </p:spPr>
        <p:txBody>
          <a:bodyPr wrap="square" lIns="0" tIns="0" rIns="0" bIns="0" rtlCol="0" anchor="ctr"/>
          <a:lstStyle/>
          <a:p>
            <a:pPr algn="ctr">
              <a:lnSpc>
                <a:spcPct val="130000"/>
              </a:lnSpc>
            </a:pPr>
            <a:r>
              <a:rPr lang="en-US" sz="1600" b="1" dirty="0">
                <a:solidFill>
                  <a:srgbClr val="FFFFFF"/>
                </a:solidFill>
                <a:latin typeface="Liter" pitchFamily="34" charset="0"/>
                <a:ea typeface="Liter" pitchFamily="34" charset="-122"/>
                <a:cs typeface="Liter" pitchFamily="34" charset="-120"/>
              </a:rPr>
              <a:t>09</a:t>
            </a:r>
            <a:endParaRPr lang="en-US" sz="1600" dirty="0"/>
          </a:p>
        </p:txBody>
      </p:sp>
      <p:sp>
        <p:nvSpPr>
          <p:cNvPr id="4" name="Text 2"/>
          <p:cNvSpPr/>
          <p:nvPr/>
        </p:nvSpPr>
        <p:spPr>
          <a:xfrm>
            <a:off x="1066800" y="508000"/>
            <a:ext cx="5092700" cy="508000"/>
          </a:xfrm>
          <a:prstGeom prst="rect">
            <a:avLst/>
          </a:prstGeom>
          <a:noFill/>
          <a:ln/>
        </p:spPr>
        <p:txBody>
          <a:bodyPr wrap="square" lIns="0" tIns="0" rIns="0" bIns="0" rtlCol="0" anchor="ctr"/>
          <a:lstStyle/>
          <a:p>
            <a:pPr>
              <a:lnSpc>
                <a:spcPct val="90000"/>
              </a:lnSpc>
            </a:pPr>
            <a:r>
              <a:rPr lang="en-US" sz="3600" b="1" dirty="0">
                <a:solidFill>
                  <a:srgbClr val="E0E2E4"/>
                </a:solidFill>
                <a:latin typeface="MiSans" pitchFamily="34" charset="0"/>
                <a:ea typeface="MiSans" pitchFamily="34" charset="-122"/>
                <a:cs typeface="MiSans" pitchFamily="34" charset="-120"/>
              </a:rPr>
              <a:t>YARN隔离技术架构全景</a:t>
            </a:r>
            <a:endParaRPr lang="en-US" sz="1600" dirty="0"/>
          </a:p>
        </p:txBody>
      </p:sp>
      <p:sp>
        <p:nvSpPr>
          <p:cNvPr id="5" name="Text 3"/>
          <p:cNvSpPr/>
          <p:nvPr/>
        </p:nvSpPr>
        <p:spPr>
          <a:xfrm>
            <a:off x="508000" y="1117600"/>
            <a:ext cx="15354300" cy="355600"/>
          </a:xfrm>
          <a:prstGeom prst="rect">
            <a:avLst/>
          </a:prstGeom>
          <a:noFill/>
          <a:ln/>
        </p:spPr>
        <p:txBody>
          <a:bodyPr wrap="square" lIns="0" tIns="0" rIns="0" bIns="0" rtlCol="0" anchor="ctr"/>
          <a:lstStyle/>
          <a:p>
            <a:pPr>
              <a:lnSpc>
                <a:spcPct val="130000"/>
              </a:lnSpc>
            </a:pPr>
            <a:r>
              <a:rPr lang="en-US" sz="1800" b="1" dirty="0">
                <a:solidFill>
                  <a:srgbClr val="B38B59"/>
                </a:solidFill>
                <a:latin typeface="MiSans" pitchFamily="34" charset="0"/>
                <a:ea typeface="MiSans" pitchFamily="34" charset="-122"/>
                <a:cs typeface="MiSans" pitchFamily="34" charset="-120"/>
              </a:rPr>
              <a:t>五层架构设计:从应用层到Linux内核层的完整隔离体系</a:t>
            </a:r>
            <a:endParaRPr lang="en-US" sz="1600" dirty="0"/>
          </a:p>
        </p:txBody>
      </p:sp>
      <p:sp>
        <p:nvSpPr>
          <p:cNvPr id="6" name="Shape 4"/>
          <p:cNvSpPr/>
          <p:nvPr/>
        </p:nvSpPr>
        <p:spPr>
          <a:xfrm>
            <a:off x="514350" y="1682750"/>
            <a:ext cx="2908300" cy="4051300"/>
          </a:xfrm>
          <a:custGeom>
            <a:avLst/>
            <a:gdLst/>
            <a:ahLst/>
            <a:cxnLst/>
            <a:rect l="l" t="t" r="r" b="b"/>
            <a:pathLst>
              <a:path w="2908300" h="4051300">
                <a:moveTo>
                  <a:pt x="101587" y="0"/>
                </a:moveTo>
                <a:lnTo>
                  <a:pt x="2806713" y="0"/>
                </a:lnTo>
                <a:cubicBezTo>
                  <a:pt x="2862818" y="0"/>
                  <a:pt x="2908300" y="45482"/>
                  <a:pt x="2908300" y="101587"/>
                </a:cubicBezTo>
                <a:lnTo>
                  <a:pt x="2908300" y="3949713"/>
                </a:lnTo>
                <a:cubicBezTo>
                  <a:pt x="2908300" y="4005818"/>
                  <a:pt x="2862818" y="4051300"/>
                  <a:pt x="2806713" y="4051300"/>
                </a:cubicBezTo>
                <a:lnTo>
                  <a:pt x="101587" y="4051300"/>
                </a:lnTo>
                <a:cubicBezTo>
                  <a:pt x="45482" y="4051300"/>
                  <a:pt x="0" y="4005818"/>
                  <a:pt x="0" y="3949713"/>
                </a:cubicBezTo>
                <a:lnTo>
                  <a:pt x="0" y="101587"/>
                </a:lnTo>
                <a:cubicBezTo>
                  <a:pt x="0" y="45520"/>
                  <a:pt x="45520" y="0"/>
                  <a:pt x="101587"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1716980" y="1841500"/>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3C8082"/>
          </a:solidFill>
          <a:ln/>
        </p:spPr>
        <p:txBody>
          <a:bodyPr/>
          <a:lstStyle/>
          <a:p>
            <a:endParaRPr lang="zh-CN" altLang="en-US"/>
          </a:p>
        </p:txBody>
      </p:sp>
      <p:sp>
        <p:nvSpPr>
          <p:cNvPr id="8" name="Shape 6"/>
          <p:cNvSpPr/>
          <p:nvPr/>
        </p:nvSpPr>
        <p:spPr>
          <a:xfrm>
            <a:off x="1859855" y="1981200"/>
            <a:ext cx="228600" cy="228600"/>
          </a:xfrm>
          <a:custGeom>
            <a:avLst/>
            <a:gdLst/>
            <a:ahLst/>
            <a:cxn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FFFFFF"/>
          </a:solidFill>
          <a:ln/>
        </p:spPr>
        <p:txBody>
          <a:bodyPr/>
          <a:lstStyle/>
          <a:p>
            <a:endParaRPr lang="zh-CN" altLang="en-US"/>
          </a:p>
        </p:txBody>
      </p:sp>
      <p:sp>
        <p:nvSpPr>
          <p:cNvPr id="9" name="Text 7"/>
          <p:cNvSpPr/>
          <p:nvPr/>
        </p:nvSpPr>
        <p:spPr>
          <a:xfrm>
            <a:off x="615950" y="2451100"/>
            <a:ext cx="2705100" cy="355600"/>
          </a:xfrm>
          <a:prstGeom prst="rect">
            <a:avLst/>
          </a:prstGeom>
          <a:noFill/>
          <a:ln/>
        </p:spPr>
        <p:txBody>
          <a:bodyPr wrap="square" lIns="0" tIns="0" rIns="0" bIns="0" rtlCol="0" anchor="ctr"/>
          <a:lstStyle/>
          <a:p>
            <a:pPr algn="ctr">
              <a:lnSpc>
                <a:spcPct val="130000"/>
              </a:lnSpc>
            </a:pPr>
            <a:r>
              <a:rPr lang="en-US" sz="1800" b="1" dirty="0">
                <a:solidFill>
                  <a:srgbClr val="E0E2E4"/>
                </a:solidFill>
                <a:latin typeface="MiSans" pitchFamily="34" charset="0"/>
                <a:ea typeface="MiSans" pitchFamily="34" charset="-122"/>
                <a:cs typeface="MiSans" pitchFamily="34" charset="-120"/>
              </a:rPr>
              <a:t>应用层隔离</a:t>
            </a:r>
            <a:endParaRPr lang="en-US" sz="1600" dirty="0"/>
          </a:p>
        </p:txBody>
      </p:sp>
      <p:sp>
        <p:nvSpPr>
          <p:cNvPr id="10" name="Shape 8"/>
          <p:cNvSpPr/>
          <p:nvPr/>
        </p:nvSpPr>
        <p:spPr>
          <a:xfrm>
            <a:off x="673100" y="2908300"/>
            <a:ext cx="2590800" cy="609600"/>
          </a:xfrm>
          <a:custGeom>
            <a:avLst/>
            <a:gdLst/>
            <a:ahLst/>
            <a:cxnLst/>
            <a:rect l="l" t="t" r="r" b="b"/>
            <a:pathLst>
              <a:path w="2590800" h="609600">
                <a:moveTo>
                  <a:pt x="50798" y="0"/>
                </a:moveTo>
                <a:lnTo>
                  <a:pt x="2540002" y="0"/>
                </a:lnTo>
                <a:cubicBezTo>
                  <a:pt x="2568057" y="0"/>
                  <a:pt x="2590800" y="22743"/>
                  <a:pt x="2590800" y="50798"/>
                </a:cubicBezTo>
                <a:lnTo>
                  <a:pt x="2590800" y="558802"/>
                </a:lnTo>
                <a:cubicBezTo>
                  <a:pt x="2590800" y="586857"/>
                  <a:pt x="2568057" y="609600"/>
                  <a:pt x="2540002" y="609600"/>
                </a:cubicBezTo>
                <a:lnTo>
                  <a:pt x="50798" y="609600"/>
                </a:lnTo>
                <a:cubicBezTo>
                  <a:pt x="22743" y="609600"/>
                  <a:pt x="0" y="586857"/>
                  <a:pt x="0" y="558802"/>
                </a:cubicBezTo>
                <a:lnTo>
                  <a:pt x="0" y="50798"/>
                </a:lnTo>
                <a:cubicBezTo>
                  <a:pt x="0" y="22743"/>
                  <a:pt x="22743" y="0"/>
                  <a:pt x="50798" y="0"/>
                </a:cubicBezTo>
                <a:close/>
              </a:path>
            </a:pathLst>
          </a:custGeom>
          <a:solidFill>
            <a:srgbClr val="1A1D21">
              <a:alpha val="50196"/>
            </a:srgbClr>
          </a:solidFill>
          <a:ln/>
        </p:spPr>
        <p:txBody>
          <a:bodyPr/>
          <a:lstStyle/>
          <a:p>
            <a:endParaRPr lang="zh-CN" altLang="en-US"/>
          </a:p>
        </p:txBody>
      </p:sp>
      <p:sp>
        <p:nvSpPr>
          <p:cNvPr id="11" name="Text 9"/>
          <p:cNvSpPr/>
          <p:nvPr/>
        </p:nvSpPr>
        <p:spPr>
          <a:xfrm>
            <a:off x="704850" y="2984500"/>
            <a:ext cx="2527300" cy="254000"/>
          </a:xfrm>
          <a:prstGeom prst="rect">
            <a:avLst/>
          </a:prstGeom>
          <a:noFill/>
          <a:ln/>
        </p:spPr>
        <p:txBody>
          <a:bodyPr wrap="square" lIns="0" tIns="0" rIns="0" bIns="0" rtlCol="0" anchor="ctr"/>
          <a:lstStyle/>
          <a:p>
            <a:pPr algn="ctr">
              <a:lnSpc>
                <a:spcPct val="120000"/>
              </a:lnSpc>
            </a:pPr>
            <a:r>
              <a:rPr lang="en-US" sz="1400" b="1" dirty="0">
                <a:solidFill>
                  <a:srgbClr val="E0E2E4"/>
                </a:solidFill>
                <a:latin typeface="MiSans" pitchFamily="34" charset="0"/>
                <a:ea typeface="MiSans" pitchFamily="34" charset="-122"/>
                <a:cs typeface="MiSans" pitchFamily="34" charset="-120"/>
              </a:rPr>
              <a:t>MapReduce</a:t>
            </a:r>
            <a:endParaRPr lang="en-US" sz="1600" dirty="0"/>
          </a:p>
        </p:txBody>
      </p:sp>
      <p:sp>
        <p:nvSpPr>
          <p:cNvPr id="12" name="Text 10"/>
          <p:cNvSpPr/>
          <p:nvPr/>
        </p:nvSpPr>
        <p:spPr>
          <a:xfrm>
            <a:off x="711200" y="3238500"/>
            <a:ext cx="2514600" cy="203200"/>
          </a:xfrm>
          <a:prstGeom prst="rect">
            <a:avLst/>
          </a:prstGeom>
          <a:noFill/>
          <a:ln/>
        </p:spPr>
        <p:txBody>
          <a:bodyPr wrap="square" lIns="0" tIns="0" rIns="0" bIns="0" rtlCol="0" anchor="ctr"/>
          <a:lstStyle/>
          <a:p>
            <a:pPr algn="ctr">
              <a:lnSpc>
                <a:spcPct val="110000"/>
              </a:lnSpc>
            </a:pPr>
            <a:r>
              <a:rPr lang="en-US" sz="1200" dirty="0">
                <a:solidFill>
                  <a:srgbClr val="E0E2E4">
                    <a:alpha val="70000"/>
                  </a:srgbClr>
                </a:solidFill>
                <a:latin typeface="MiSans" pitchFamily="34" charset="0"/>
                <a:ea typeface="MiSans" pitchFamily="34" charset="-122"/>
                <a:cs typeface="MiSans" pitchFamily="34" charset="-120"/>
              </a:rPr>
              <a:t>作业级隔离</a:t>
            </a:r>
            <a:endParaRPr lang="en-US" sz="1600" dirty="0"/>
          </a:p>
        </p:txBody>
      </p:sp>
      <p:sp>
        <p:nvSpPr>
          <p:cNvPr id="13" name="Shape 11"/>
          <p:cNvSpPr/>
          <p:nvPr/>
        </p:nvSpPr>
        <p:spPr>
          <a:xfrm>
            <a:off x="673100" y="3594100"/>
            <a:ext cx="2590800" cy="609600"/>
          </a:xfrm>
          <a:custGeom>
            <a:avLst/>
            <a:gdLst/>
            <a:ahLst/>
            <a:cxnLst/>
            <a:rect l="l" t="t" r="r" b="b"/>
            <a:pathLst>
              <a:path w="2590800" h="609600">
                <a:moveTo>
                  <a:pt x="50798" y="0"/>
                </a:moveTo>
                <a:lnTo>
                  <a:pt x="2540002" y="0"/>
                </a:lnTo>
                <a:cubicBezTo>
                  <a:pt x="2568057" y="0"/>
                  <a:pt x="2590800" y="22743"/>
                  <a:pt x="2590800" y="50798"/>
                </a:cubicBezTo>
                <a:lnTo>
                  <a:pt x="2590800" y="558802"/>
                </a:lnTo>
                <a:cubicBezTo>
                  <a:pt x="2590800" y="586857"/>
                  <a:pt x="2568057" y="609600"/>
                  <a:pt x="2540002" y="609600"/>
                </a:cubicBezTo>
                <a:lnTo>
                  <a:pt x="50798" y="609600"/>
                </a:lnTo>
                <a:cubicBezTo>
                  <a:pt x="22743" y="609600"/>
                  <a:pt x="0" y="586857"/>
                  <a:pt x="0" y="558802"/>
                </a:cubicBezTo>
                <a:lnTo>
                  <a:pt x="0" y="50798"/>
                </a:lnTo>
                <a:cubicBezTo>
                  <a:pt x="0" y="22743"/>
                  <a:pt x="22743" y="0"/>
                  <a:pt x="50798" y="0"/>
                </a:cubicBezTo>
                <a:close/>
              </a:path>
            </a:pathLst>
          </a:custGeom>
          <a:solidFill>
            <a:srgbClr val="1A1D21">
              <a:alpha val="50196"/>
            </a:srgbClr>
          </a:solidFill>
          <a:ln/>
        </p:spPr>
        <p:txBody>
          <a:bodyPr/>
          <a:lstStyle/>
          <a:p>
            <a:endParaRPr lang="zh-CN" altLang="en-US"/>
          </a:p>
        </p:txBody>
      </p:sp>
      <p:sp>
        <p:nvSpPr>
          <p:cNvPr id="14" name="Text 12"/>
          <p:cNvSpPr/>
          <p:nvPr/>
        </p:nvSpPr>
        <p:spPr>
          <a:xfrm>
            <a:off x="704850" y="3670300"/>
            <a:ext cx="2527300" cy="254000"/>
          </a:xfrm>
          <a:prstGeom prst="rect">
            <a:avLst/>
          </a:prstGeom>
          <a:noFill/>
          <a:ln/>
        </p:spPr>
        <p:txBody>
          <a:bodyPr wrap="square" lIns="0" tIns="0" rIns="0" bIns="0" rtlCol="0" anchor="ctr"/>
          <a:lstStyle/>
          <a:p>
            <a:pPr algn="ctr">
              <a:lnSpc>
                <a:spcPct val="120000"/>
              </a:lnSpc>
            </a:pPr>
            <a:r>
              <a:rPr lang="en-US" sz="1400" b="1" dirty="0">
                <a:solidFill>
                  <a:srgbClr val="E0E2E4"/>
                </a:solidFill>
                <a:latin typeface="MiSans" pitchFamily="34" charset="0"/>
                <a:ea typeface="MiSans" pitchFamily="34" charset="-122"/>
                <a:cs typeface="MiSans" pitchFamily="34" charset="-120"/>
              </a:rPr>
              <a:t>Spark</a:t>
            </a:r>
            <a:endParaRPr lang="en-US" sz="1600" dirty="0"/>
          </a:p>
        </p:txBody>
      </p:sp>
      <p:sp>
        <p:nvSpPr>
          <p:cNvPr id="15" name="Text 13"/>
          <p:cNvSpPr/>
          <p:nvPr/>
        </p:nvSpPr>
        <p:spPr>
          <a:xfrm>
            <a:off x="711200" y="3924300"/>
            <a:ext cx="2514600" cy="203200"/>
          </a:xfrm>
          <a:prstGeom prst="rect">
            <a:avLst/>
          </a:prstGeom>
          <a:noFill/>
          <a:ln/>
        </p:spPr>
        <p:txBody>
          <a:bodyPr wrap="square" lIns="0" tIns="0" rIns="0" bIns="0" rtlCol="0" anchor="ctr"/>
          <a:lstStyle/>
          <a:p>
            <a:pPr algn="ctr">
              <a:lnSpc>
                <a:spcPct val="110000"/>
              </a:lnSpc>
            </a:pPr>
            <a:r>
              <a:rPr lang="en-US" sz="1200" dirty="0">
                <a:solidFill>
                  <a:srgbClr val="E0E2E4">
                    <a:alpha val="70000"/>
                  </a:srgbClr>
                </a:solidFill>
                <a:latin typeface="MiSans" pitchFamily="34" charset="0"/>
                <a:ea typeface="MiSans" pitchFamily="34" charset="-122"/>
                <a:cs typeface="MiSans" pitchFamily="34" charset="-120"/>
              </a:rPr>
              <a:t>应用级隔离</a:t>
            </a:r>
            <a:endParaRPr lang="en-US" sz="1600" dirty="0"/>
          </a:p>
        </p:txBody>
      </p:sp>
      <p:sp>
        <p:nvSpPr>
          <p:cNvPr id="16" name="Shape 14"/>
          <p:cNvSpPr/>
          <p:nvPr/>
        </p:nvSpPr>
        <p:spPr>
          <a:xfrm>
            <a:off x="673100" y="4279900"/>
            <a:ext cx="2590800" cy="609600"/>
          </a:xfrm>
          <a:custGeom>
            <a:avLst/>
            <a:gdLst/>
            <a:ahLst/>
            <a:cxnLst/>
            <a:rect l="l" t="t" r="r" b="b"/>
            <a:pathLst>
              <a:path w="2590800" h="609600">
                <a:moveTo>
                  <a:pt x="50798" y="0"/>
                </a:moveTo>
                <a:lnTo>
                  <a:pt x="2540002" y="0"/>
                </a:lnTo>
                <a:cubicBezTo>
                  <a:pt x="2568057" y="0"/>
                  <a:pt x="2590800" y="22743"/>
                  <a:pt x="2590800" y="50798"/>
                </a:cubicBezTo>
                <a:lnTo>
                  <a:pt x="2590800" y="558802"/>
                </a:lnTo>
                <a:cubicBezTo>
                  <a:pt x="2590800" y="586857"/>
                  <a:pt x="2568057" y="609600"/>
                  <a:pt x="2540002" y="609600"/>
                </a:cubicBezTo>
                <a:lnTo>
                  <a:pt x="50798" y="609600"/>
                </a:lnTo>
                <a:cubicBezTo>
                  <a:pt x="22743" y="609600"/>
                  <a:pt x="0" y="586857"/>
                  <a:pt x="0" y="558802"/>
                </a:cubicBezTo>
                <a:lnTo>
                  <a:pt x="0" y="50798"/>
                </a:lnTo>
                <a:cubicBezTo>
                  <a:pt x="0" y="22743"/>
                  <a:pt x="22743" y="0"/>
                  <a:pt x="50798" y="0"/>
                </a:cubicBezTo>
                <a:close/>
              </a:path>
            </a:pathLst>
          </a:custGeom>
          <a:solidFill>
            <a:srgbClr val="1A1D21">
              <a:alpha val="50196"/>
            </a:srgbClr>
          </a:solidFill>
          <a:ln/>
        </p:spPr>
        <p:txBody>
          <a:bodyPr/>
          <a:lstStyle/>
          <a:p>
            <a:endParaRPr lang="zh-CN" altLang="en-US"/>
          </a:p>
        </p:txBody>
      </p:sp>
      <p:sp>
        <p:nvSpPr>
          <p:cNvPr id="17" name="Text 15"/>
          <p:cNvSpPr/>
          <p:nvPr/>
        </p:nvSpPr>
        <p:spPr>
          <a:xfrm>
            <a:off x="704850" y="4356100"/>
            <a:ext cx="2527300" cy="254000"/>
          </a:xfrm>
          <a:prstGeom prst="rect">
            <a:avLst/>
          </a:prstGeom>
          <a:noFill/>
          <a:ln/>
        </p:spPr>
        <p:txBody>
          <a:bodyPr wrap="square" lIns="0" tIns="0" rIns="0" bIns="0" rtlCol="0" anchor="ctr"/>
          <a:lstStyle/>
          <a:p>
            <a:pPr algn="ctr">
              <a:lnSpc>
                <a:spcPct val="120000"/>
              </a:lnSpc>
            </a:pPr>
            <a:r>
              <a:rPr lang="en-US" sz="1400" b="1" dirty="0">
                <a:solidFill>
                  <a:srgbClr val="E0E2E4"/>
                </a:solidFill>
                <a:latin typeface="MiSans" pitchFamily="34" charset="0"/>
                <a:ea typeface="MiSans" pitchFamily="34" charset="-122"/>
                <a:cs typeface="MiSans" pitchFamily="34" charset="-120"/>
              </a:rPr>
              <a:t>Flink</a:t>
            </a:r>
            <a:endParaRPr lang="en-US" sz="1600" dirty="0"/>
          </a:p>
        </p:txBody>
      </p:sp>
      <p:sp>
        <p:nvSpPr>
          <p:cNvPr id="18" name="Text 16"/>
          <p:cNvSpPr/>
          <p:nvPr/>
        </p:nvSpPr>
        <p:spPr>
          <a:xfrm>
            <a:off x="711200" y="4610100"/>
            <a:ext cx="2514600" cy="203200"/>
          </a:xfrm>
          <a:prstGeom prst="rect">
            <a:avLst/>
          </a:prstGeom>
          <a:noFill/>
          <a:ln/>
        </p:spPr>
        <p:txBody>
          <a:bodyPr wrap="square" lIns="0" tIns="0" rIns="0" bIns="0" rtlCol="0" anchor="ctr"/>
          <a:lstStyle/>
          <a:p>
            <a:pPr algn="ctr">
              <a:lnSpc>
                <a:spcPct val="110000"/>
              </a:lnSpc>
            </a:pPr>
            <a:r>
              <a:rPr lang="en-US" sz="1200" dirty="0">
                <a:solidFill>
                  <a:srgbClr val="E0E2E4">
                    <a:alpha val="70000"/>
                  </a:srgbClr>
                </a:solidFill>
                <a:latin typeface="MiSans" pitchFamily="34" charset="0"/>
                <a:ea typeface="MiSans" pitchFamily="34" charset="-122"/>
                <a:cs typeface="MiSans" pitchFamily="34" charset="-120"/>
              </a:rPr>
              <a:t>任务级隔离</a:t>
            </a:r>
            <a:endParaRPr lang="en-US" sz="1600" dirty="0"/>
          </a:p>
        </p:txBody>
      </p:sp>
      <p:sp>
        <p:nvSpPr>
          <p:cNvPr id="19" name="Shape 17"/>
          <p:cNvSpPr/>
          <p:nvPr/>
        </p:nvSpPr>
        <p:spPr>
          <a:xfrm>
            <a:off x="673100" y="4965700"/>
            <a:ext cx="2590800" cy="609600"/>
          </a:xfrm>
          <a:custGeom>
            <a:avLst/>
            <a:gdLst/>
            <a:ahLst/>
            <a:cxnLst/>
            <a:rect l="l" t="t" r="r" b="b"/>
            <a:pathLst>
              <a:path w="2590800" h="609600">
                <a:moveTo>
                  <a:pt x="50798" y="0"/>
                </a:moveTo>
                <a:lnTo>
                  <a:pt x="2540002" y="0"/>
                </a:lnTo>
                <a:cubicBezTo>
                  <a:pt x="2568057" y="0"/>
                  <a:pt x="2590800" y="22743"/>
                  <a:pt x="2590800" y="50798"/>
                </a:cubicBezTo>
                <a:lnTo>
                  <a:pt x="2590800" y="558802"/>
                </a:lnTo>
                <a:cubicBezTo>
                  <a:pt x="2590800" y="586857"/>
                  <a:pt x="2568057" y="609600"/>
                  <a:pt x="2540002" y="609600"/>
                </a:cubicBezTo>
                <a:lnTo>
                  <a:pt x="50798" y="609600"/>
                </a:lnTo>
                <a:cubicBezTo>
                  <a:pt x="22743" y="609600"/>
                  <a:pt x="0" y="586857"/>
                  <a:pt x="0" y="558802"/>
                </a:cubicBezTo>
                <a:lnTo>
                  <a:pt x="0" y="50798"/>
                </a:lnTo>
                <a:cubicBezTo>
                  <a:pt x="0" y="22743"/>
                  <a:pt x="22743" y="0"/>
                  <a:pt x="50798" y="0"/>
                </a:cubicBezTo>
                <a:close/>
              </a:path>
            </a:pathLst>
          </a:custGeom>
          <a:solidFill>
            <a:srgbClr val="1A1D21">
              <a:alpha val="50196"/>
            </a:srgbClr>
          </a:solidFill>
          <a:ln/>
        </p:spPr>
        <p:txBody>
          <a:bodyPr/>
          <a:lstStyle/>
          <a:p>
            <a:endParaRPr lang="zh-CN" altLang="en-US"/>
          </a:p>
        </p:txBody>
      </p:sp>
      <p:sp>
        <p:nvSpPr>
          <p:cNvPr id="20" name="Text 18"/>
          <p:cNvSpPr/>
          <p:nvPr/>
        </p:nvSpPr>
        <p:spPr>
          <a:xfrm>
            <a:off x="704850" y="5041900"/>
            <a:ext cx="2527300" cy="254000"/>
          </a:xfrm>
          <a:prstGeom prst="rect">
            <a:avLst/>
          </a:prstGeom>
          <a:noFill/>
          <a:ln/>
        </p:spPr>
        <p:txBody>
          <a:bodyPr wrap="square" lIns="0" tIns="0" rIns="0" bIns="0" rtlCol="0" anchor="ctr"/>
          <a:lstStyle/>
          <a:p>
            <a:pPr algn="ctr">
              <a:lnSpc>
                <a:spcPct val="120000"/>
              </a:lnSpc>
            </a:pPr>
            <a:r>
              <a:rPr lang="en-US" sz="1400" b="1" dirty="0">
                <a:solidFill>
                  <a:srgbClr val="E0E2E4"/>
                </a:solidFill>
                <a:latin typeface="MiSans" pitchFamily="34" charset="0"/>
                <a:ea typeface="MiSans" pitchFamily="34" charset="-122"/>
                <a:cs typeface="MiSans" pitchFamily="34" charset="-120"/>
              </a:rPr>
              <a:t>其他框架</a:t>
            </a:r>
            <a:endParaRPr lang="en-US" sz="1600" dirty="0"/>
          </a:p>
        </p:txBody>
      </p:sp>
      <p:sp>
        <p:nvSpPr>
          <p:cNvPr id="21" name="Text 19"/>
          <p:cNvSpPr/>
          <p:nvPr/>
        </p:nvSpPr>
        <p:spPr>
          <a:xfrm>
            <a:off x="711200" y="5295900"/>
            <a:ext cx="2514600" cy="203200"/>
          </a:xfrm>
          <a:prstGeom prst="rect">
            <a:avLst/>
          </a:prstGeom>
          <a:noFill/>
          <a:ln/>
        </p:spPr>
        <p:txBody>
          <a:bodyPr wrap="square" lIns="0" tIns="0" rIns="0" bIns="0" rtlCol="0" anchor="ctr"/>
          <a:lstStyle/>
          <a:p>
            <a:pPr algn="ctr">
              <a:lnSpc>
                <a:spcPct val="110000"/>
              </a:lnSpc>
            </a:pPr>
            <a:r>
              <a:rPr lang="en-US" sz="1200" dirty="0">
                <a:solidFill>
                  <a:srgbClr val="E0E2E4">
                    <a:alpha val="70000"/>
                  </a:srgbClr>
                </a:solidFill>
                <a:latin typeface="MiSans" pitchFamily="34" charset="0"/>
                <a:ea typeface="MiSans" pitchFamily="34" charset="-122"/>
                <a:cs typeface="MiSans" pitchFamily="34" charset="-120"/>
              </a:rPr>
              <a:t>自定义策略</a:t>
            </a:r>
            <a:endParaRPr lang="en-US" sz="1600" dirty="0"/>
          </a:p>
        </p:txBody>
      </p:sp>
      <p:sp>
        <p:nvSpPr>
          <p:cNvPr id="22" name="Shape 20"/>
          <p:cNvSpPr/>
          <p:nvPr/>
        </p:nvSpPr>
        <p:spPr>
          <a:xfrm>
            <a:off x="3592810" y="1682750"/>
            <a:ext cx="2908300" cy="4051300"/>
          </a:xfrm>
          <a:custGeom>
            <a:avLst/>
            <a:gdLst/>
            <a:ahLst/>
            <a:cxnLst/>
            <a:rect l="l" t="t" r="r" b="b"/>
            <a:pathLst>
              <a:path w="2908300" h="4051300">
                <a:moveTo>
                  <a:pt x="101587" y="0"/>
                </a:moveTo>
                <a:lnTo>
                  <a:pt x="2806713" y="0"/>
                </a:lnTo>
                <a:cubicBezTo>
                  <a:pt x="2862818" y="0"/>
                  <a:pt x="2908300" y="45482"/>
                  <a:pt x="2908300" y="101587"/>
                </a:cubicBezTo>
                <a:lnTo>
                  <a:pt x="2908300" y="3949713"/>
                </a:lnTo>
                <a:cubicBezTo>
                  <a:pt x="2908300" y="4005818"/>
                  <a:pt x="2862818" y="4051300"/>
                  <a:pt x="2806713" y="4051300"/>
                </a:cubicBezTo>
                <a:lnTo>
                  <a:pt x="101587" y="4051300"/>
                </a:lnTo>
                <a:cubicBezTo>
                  <a:pt x="45482" y="4051300"/>
                  <a:pt x="0" y="4005818"/>
                  <a:pt x="0" y="3949713"/>
                </a:cubicBezTo>
                <a:lnTo>
                  <a:pt x="0" y="101587"/>
                </a:lnTo>
                <a:cubicBezTo>
                  <a:pt x="0" y="45520"/>
                  <a:pt x="45520" y="0"/>
                  <a:pt x="101587"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3" name="Shape 21"/>
          <p:cNvSpPr/>
          <p:nvPr/>
        </p:nvSpPr>
        <p:spPr>
          <a:xfrm>
            <a:off x="4795441" y="1841500"/>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B38B59"/>
          </a:solidFill>
          <a:ln/>
        </p:spPr>
        <p:txBody>
          <a:bodyPr/>
          <a:lstStyle/>
          <a:p>
            <a:endParaRPr lang="zh-CN" altLang="en-US"/>
          </a:p>
        </p:txBody>
      </p:sp>
      <p:sp>
        <p:nvSpPr>
          <p:cNvPr id="24" name="Shape 22"/>
          <p:cNvSpPr/>
          <p:nvPr/>
        </p:nvSpPr>
        <p:spPr>
          <a:xfrm>
            <a:off x="4952603" y="1981200"/>
            <a:ext cx="200025" cy="228600"/>
          </a:xfrm>
          <a:custGeom>
            <a:avLst/>
            <a:gdLst/>
            <a:ahLst/>
            <a:cxnLst/>
            <a:rect l="l" t="t" r="r" b="b"/>
            <a:pathLst>
              <a:path w="200025" h="228600">
                <a:moveTo>
                  <a:pt x="28575" y="14288"/>
                </a:moveTo>
                <a:cubicBezTo>
                  <a:pt x="12814" y="14288"/>
                  <a:pt x="0" y="27102"/>
                  <a:pt x="0" y="42863"/>
                </a:cubicBezTo>
                <a:lnTo>
                  <a:pt x="0" y="71438"/>
                </a:lnTo>
                <a:cubicBezTo>
                  <a:pt x="0" y="87198"/>
                  <a:pt x="12814" y="100013"/>
                  <a:pt x="28575" y="100013"/>
                </a:cubicBezTo>
                <a:lnTo>
                  <a:pt x="171450" y="100013"/>
                </a:lnTo>
                <a:cubicBezTo>
                  <a:pt x="187211" y="100013"/>
                  <a:pt x="200025" y="87198"/>
                  <a:pt x="200025" y="71438"/>
                </a:cubicBezTo>
                <a:lnTo>
                  <a:pt x="200025" y="42863"/>
                </a:lnTo>
                <a:cubicBezTo>
                  <a:pt x="200025" y="27102"/>
                  <a:pt x="187211" y="14288"/>
                  <a:pt x="171450" y="14288"/>
                </a:cubicBezTo>
                <a:lnTo>
                  <a:pt x="28575" y="14288"/>
                </a:lnTo>
                <a:close/>
                <a:moveTo>
                  <a:pt x="125016" y="46434"/>
                </a:moveTo>
                <a:cubicBezTo>
                  <a:pt x="130930" y="46434"/>
                  <a:pt x="135731" y="51236"/>
                  <a:pt x="135731" y="57150"/>
                </a:cubicBezTo>
                <a:cubicBezTo>
                  <a:pt x="135731" y="63064"/>
                  <a:pt x="130930" y="67866"/>
                  <a:pt x="125016" y="67866"/>
                </a:cubicBezTo>
                <a:cubicBezTo>
                  <a:pt x="119102" y="67866"/>
                  <a:pt x="114300" y="63064"/>
                  <a:pt x="114300" y="57150"/>
                </a:cubicBezTo>
                <a:cubicBezTo>
                  <a:pt x="114300" y="51236"/>
                  <a:pt x="119102" y="46434"/>
                  <a:pt x="125016" y="46434"/>
                </a:cubicBezTo>
                <a:close/>
                <a:moveTo>
                  <a:pt x="150019" y="57150"/>
                </a:moveTo>
                <a:cubicBezTo>
                  <a:pt x="150019" y="51236"/>
                  <a:pt x="154820" y="46434"/>
                  <a:pt x="160734" y="46434"/>
                </a:cubicBezTo>
                <a:cubicBezTo>
                  <a:pt x="166648" y="46434"/>
                  <a:pt x="171450" y="51236"/>
                  <a:pt x="171450" y="57150"/>
                </a:cubicBezTo>
                <a:cubicBezTo>
                  <a:pt x="171450" y="63064"/>
                  <a:pt x="166648" y="67866"/>
                  <a:pt x="160734" y="67866"/>
                </a:cubicBezTo>
                <a:cubicBezTo>
                  <a:pt x="154820" y="67866"/>
                  <a:pt x="150019" y="63064"/>
                  <a:pt x="150019" y="57150"/>
                </a:cubicBezTo>
                <a:close/>
                <a:moveTo>
                  <a:pt x="28575" y="128588"/>
                </a:moveTo>
                <a:cubicBezTo>
                  <a:pt x="12814" y="128588"/>
                  <a:pt x="0" y="141402"/>
                  <a:pt x="0" y="157163"/>
                </a:cubicBezTo>
                <a:lnTo>
                  <a:pt x="0" y="185738"/>
                </a:lnTo>
                <a:cubicBezTo>
                  <a:pt x="0" y="201498"/>
                  <a:pt x="12814" y="214313"/>
                  <a:pt x="28575" y="214313"/>
                </a:cubicBezTo>
                <a:lnTo>
                  <a:pt x="171450" y="214313"/>
                </a:lnTo>
                <a:cubicBezTo>
                  <a:pt x="187211" y="214313"/>
                  <a:pt x="200025" y="201498"/>
                  <a:pt x="200025" y="185738"/>
                </a:cubicBezTo>
                <a:lnTo>
                  <a:pt x="200025" y="157163"/>
                </a:lnTo>
                <a:cubicBezTo>
                  <a:pt x="200025" y="141402"/>
                  <a:pt x="187211" y="128588"/>
                  <a:pt x="171450" y="128588"/>
                </a:cubicBezTo>
                <a:lnTo>
                  <a:pt x="28575" y="128588"/>
                </a:lnTo>
                <a:close/>
                <a:moveTo>
                  <a:pt x="125016" y="160734"/>
                </a:moveTo>
                <a:cubicBezTo>
                  <a:pt x="130930" y="160734"/>
                  <a:pt x="135731" y="165536"/>
                  <a:pt x="135731" y="171450"/>
                </a:cubicBezTo>
                <a:cubicBezTo>
                  <a:pt x="135731" y="177364"/>
                  <a:pt x="130930" y="182166"/>
                  <a:pt x="125016" y="182166"/>
                </a:cubicBezTo>
                <a:cubicBezTo>
                  <a:pt x="119102" y="182166"/>
                  <a:pt x="114300" y="177364"/>
                  <a:pt x="114300" y="171450"/>
                </a:cubicBezTo>
                <a:cubicBezTo>
                  <a:pt x="114300" y="165536"/>
                  <a:pt x="119102" y="160734"/>
                  <a:pt x="125016" y="160734"/>
                </a:cubicBezTo>
                <a:close/>
                <a:moveTo>
                  <a:pt x="150019" y="171450"/>
                </a:moveTo>
                <a:cubicBezTo>
                  <a:pt x="150019" y="165536"/>
                  <a:pt x="154820" y="160734"/>
                  <a:pt x="160734" y="160734"/>
                </a:cubicBezTo>
                <a:cubicBezTo>
                  <a:pt x="166648" y="160734"/>
                  <a:pt x="171450" y="165536"/>
                  <a:pt x="171450" y="171450"/>
                </a:cubicBezTo>
                <a:cubicBezTo>
                  <a:pt x="171450" y="177364"/>
                  <a:pt x="166648" y="182166"/>
                  <a:pt x="160734" y="182166"/>
                </a:cubicBezTo>
                <a:cubicBezTo>
                  <a:pt x="154820" y="182166"/>
                  <a:pt x="150019" y="177364"/>
                  <a:pt x="150019" y="171450"/>
                </a:cubicBezTo>
                <a:close/>
              </a:path>
            </a:pathLst>
          </a:custGeom>
          <a:solidFill>
            <a:srgbClr val="FFFFFF"/>
          </a:solidFill>
          <a:ln/>
        </p:spPr>
        <p:txBody>
          <a:bodyPr/>
          <a:lstStyle/>
          <a:p>
            <a:endParaRPr lang="zh-CN" altLang="en-US"/>
          </a:p>
        </p:txBody>
      </p:sp>
      <p:sp>
        <p:nvSpPr>
          <p:cNvPr id="25" name="Text 23"/>
          <p:cNvSpPr/>
          <p:nvPr/>
        </p:nvSpPr>
        <p:spPr>
          <a:xfrm>
            <a:off x="3694410" y="2451100"/>
            <a:ext cx="2705100" cy="355600"/>
          </a:xfrm>
          <a:prstGeom prst="rect">
            <a:avLst/>
          </a:prstGeom>
          <a:noFill/>
          <a:ln/>
        </p:spPr>
        <p:txBody>
          <a:bodyPr wrap="square" lIns="0" tIns="0" rIns="0" bIns="0" rtlCol="0" anchor="ctr"/>
          <a:lstStyle/>
          <a:p>
            <a:pPr algn="ctr">
              <a:lnSpc>
                <a:spcPct val="130000"/>
              </a:lnSpc>
            </a:pPr>
            <a:r>
              <a:rPr lang="en-US" sz="1800" b="1" dirty="0">
                <a:solidFill>
                  <a:srgbClr val="E0E2E4"/>
                </a:solidFill>
                <a:latin typeface="MiSans" pitchFamily="34" charset="0"/>
                <a:ea typeface="MiSans" pitchFamily="34" charset="-122"/>
                <a:cs typeface="MiSans" pitchFamily="34" charset="-120"/>
              </a:rPr>
              <a:t>YARN资源管理层</a:t>
            </a:r>
            <a:endParaRPr lang="en-US" sz="1600" dirty="0"/>
          </a:p>
        </p:txBody>
      </p:sp>
      <p:sp>
        <p:nvSpPr>
          <p:cNvPr id="26" name="Shape 24"/>
          <p:cNvSpPr/>
          <p:nvPr/>
        </p:nvSpPr>
        <p:spPr>
          <a:xfrm>
            <a:off x="3751560" y="2908300"/>
            <a:ext cx="2590800" cy="863600"/>
          </a:xfrm>
          <a:custGeom>
            <a:avLst/>
            <a:gdLst/>
            <a:ahLst/>
            <a:cxnLst/>
            <a:rect l="l" t="t" r="r" b="b"/>
            <a:pathLst>
              <a:path w="2590800" h="863600">
                <a:moveTo>
                  <a:pt x="50797" y="0"/>
                </a:moveTo>
                <a:lnTo>
                  <a:pt x="2540003" y="0"/>
                </a:lnTo>
                <a:cubicBezTo>
                  <a:pt x="2568057" y="0"/>
                  <a:pt x="2590800" y="22743"/>
                  <a:pt x="2590800" y="50797"/>
                </a:cubicBezTo>
                <a:lnTo>
                  <a:pt x="2590800" y="812803"/>
                </a:lnTo>
                <a:cubicBezTo>
                  <a:pt x="2590800" y="840857"/>
                  <a:pt x="2568057" y="863600"/>
                  <a:pt x="2540003" y="863600"/>
                </a:cubicBezTo>
                <a:lnTo>
                  <a:pt x="50797" y="863600"/>
                </a:lnTo>
                <a:cubicBezTo>
                  <a:pt x="22743" y="863600"/>
                  <a:pt x="0" y="840857"/>
                  <a:pt x="0" y="812803"/>
                </a:cubicBezTo>
                <a:lnTo>
                  <a:pt x="0" y="50797"/>
                </a:lnTo>
                <a:cubicBezTo>
                  <a:pt x="0" y="22761"/>
                  <a:pt x="22761" y="0"/>
                  <a:pt x="50797" y="0"/>
                </a:cubicBezTo>
                <a:close/>
              </a:path>
            </a:pathLst>
          </a:custGeom>
          <a:solidFill>
            <a:srgbClr val="1A1D21">
              <a:alpha val="50196"/>
            </a:srgbClr>
          </a:solidFill>
          <a:ln/>
        </p:spPr>
        <p:txBody>
          <a:bodyPr/>
          <a:lstStyle/>
          <a:p>
            <a:endParaRPr lang="zh-CN" altLang="en-US"/>
          </a:p>
        </p:txBody>
      </p:sp>
      <p:sp>
        <p:nvSpPr>
          <p:cNvPr id="27" name="Text 25"/>
          <p:cNvSpPr/>
          <p:nvPr/>
        </p:nvSpPr>
        <p:spPr>
          <a:xfrm>
            <a:off x="3827760" y="2984500"/>
            <a:ext cx="2527300" cy="254000"/>
          </a:xfrm>
          <a:prstGeom prst="rect">
            <a:avLst/>
          </a:prstGeom>
          <a:noFill/>
          <a:ln/>
        </p:spPr>
        <p:txBody>
          <a:bodyPr wrap="square" lIns="0" tIns="0" rIns="0" bIns="0" rtlCol="0" anchor="ctr"/>
          <a:lstStyle/>
          <a:p>
            <a:pPr>
              <a:lnSpc>
                <a:spcPct val="120000"/>
              </a:lnSpc>
            </a:pPr>
            <a:r>
              <a:rPr lang="en-US" sz="1400" b="1" dirty="0">
                <a:solidFill>
                  <a:srgbClr val="E0E2E4"/>
                </a:solidFill>
                <a:latin typeface="MiSans" pitchFamily="34" charset="0"/>
                <a:ea typeface="MiSans" pitchFamily="34" charset="-122"/>
                <a:cs typeface="MiSans" pitchFamily="34" charset="-120"/>
              </a:rPr>
              <a:t>ResourceManager</a:t>
            </a:r>
            <a:endParaRPr lang="en-US" sz="1600" dirty="0"/>
          </a:p>
        </p:txBody>
      </p:sp>
      <p:sp>
        <p:nvSpPr>
          <p:cNvPr id="28" name="Text 26"/>
          <p:cNvSpPr/>
          <p:nvPr/>
        </p:nvSpPr>
        <p:spPr>
          <a:xfrm>
            <a:off x="3827760" y="3263900"/>
            <a:ext cx="2514600" cy="203200"/>
          </a:xfrm>
          <a:prstGeom prst="rect">
            <a:avLst/>
          </a:prstGeom>
          <a:noFill/>
          <a:ln/>
        </p:spPr>
        <p:txBody>
          <a:bodyPr wrap="square" lIns="0" tIns="0" rIns="0" bIns="0" rtlCol="0" anchor="ctr"/>
          <a:lstStyle/>
          <a:p>
            <a:pPr>
              <a:lnSpc>
                <a:spcPct val="110000"/>
              </a:lnSpc>
            </a:pPr>
            <a:r>
              <a:rPr lang="en-US" sz="1200" dirty="0">
                <a:solidFill>
                  <a:srgbClr val="E0E2E4">
                    <a:alpha val="70000"/>
                  </a:srgbClr>
                </a:solidFill>
                <a:latin typeface="MiSans" pitchFamily="34" charset="0"/>
                <a:ea typeface="MiSans" pitchFamily="34" charset="-122"/>
                <a:cs typeface="MiSans" pitchFamily="34" charset="-120"/>
              </a:rPr>
              <a:t>• 资源调度器</a:t>
            </a:r>
            <a:endParaRPr lang="en-US" sz="1600" dirty="0"/>
          </a:p>
        </p:txBody>
      </p:sp>
      <p:sp>
        <p:nvSpPr>
          <p:cNvPr id="29" name="Text 27"/>
          <p:cNvSpPr/>
          <p:nvPr/>
        </p:nvSpPr>
        <p:spPr>
          <a:xfrm>
            <a:off x="3827760" y="3492500"/>
            <a:ext cx="2514600" cy="203200"/>
          </a:xfrm>
          <a:prstGeom prst="rect">
            <a:avLst/>
          </a:prstGeom>
          <a:noFill/>
          <a:ln/>
        </p:spPr>
        <p:txBody>
          <a:bodyPr wrap="square" lIns="0" tIns="0" rIns="0" bIns="0" rtlCol="0" anchor="ctr"/>
          <a:lstStyle/>
          <a:p>
            <a:pPr>
              <a:lnSpc>
                <a:spcPct val="110000"/>
              </a:lnSpc>
            </a:pPr>
            <a:r>
              <a:rPr lang="en-US" sz="1200" dirty="0">
                <a:solidFill>
                  <a:srgbClr val="E0E2E4">
                    <a:alpha val="70000"/>
                  </a:srgbClr>
                </a:solidFill>
                <a:latin typeface="MiSans" pitchFamily="34" charset="0"/>
                <a:ea typeface="MiSans" pitchFamily="34" charset="-122"/>
                <a:cs typeface="MiSans" pitchFamily="34" charset="-120"/>
              </a:rPr>
              <a:t>• 应用管理器</a:t>
            </a:r>
            <a:endParaRPr lang="en-US" sz="1600" dirty="0"/>
          </a:p>
        </p:txBody>
      </p:sp>
      <p:sp>
        <p:nvSpPr>
          <p:cNvPr id="30" name="Shape 28"/>
          <p:cNvSpPr/>
          <p:nvPr/>
        </p:nvSpPr>
        <p:spPr>
          <a:xfrm>
            <a:off x="3751560" y="3848100"/>
            <a:ext cx="2590800" cy="863600"/>
          </a:xfrm>
          <a:custGeom>
            <a:avLst/>
            <a:gdLst/>
            <a:ahLst/>
            <a:cxnLst/>
            <a:rect l="l" t="t" r="r" b="b"/>
            <a:pathLst>
              <a:path w="2590800" h="863600">
                <a:moveTo>
                  <a:pt x="50797" y="0"/>
                </a:moveTo>
                <a:lnTo>
                  <a:pt x="2540003" y="0"/>
                </a:lnTo>
                <a:cubicBezTo>
                  <a:pt x="2568057" y="0"/>
                  <a:pt x="2590800" y="22743"/>
                  <a:pt x="2590800" y="50797"/>
                </a:cubicBezTo>
                <a:lnTo>
                  <a:pt x="2590800" y="812803"/>
                </a:lnTo>
                <a:cubicBezTo>
                  <a:pt x="2590800" y="840857"/>
                  <a:pt x="2568057" y="863600"/>
                  <a:pt x="2540003" y="863600"/>
                </a:cubicBezTo>
                <a:lnTo>
                  <a:pt x="50797" y="863600"/>
                </a:lnTo>
                <a:cubicBezTo>
                  <a:pt x="22743" y="863600"/>
                  <a:pt x="0" y="840857"/>
                  <a:pt x="0" y="812803"/>
                </a:cubicBezTo>
                <a:lnTo>
                  <a:pt x="0" y="50797"/>
                </a:lnTo>
                <a:cubicBezTo>
                  <a:pt x="0" y="22761"/>
                  <a:pt x="22761" y="0"/>
                  <a:pt x="50797" y="0"/>
                </a:cubicBezTo>
                <a:close/>
              </a:path>
            </a:pathLst>
          </a:custGeom>
          <a:solidFill>
            <a:srgbClr val="1A1D21">
              <a:alpha val="50196"/>
            </a:srgbClr>
          </a:solidFill>
          <a:ln/>
        </p:spPr>
        <p:txBody>
          <a:bodyPr/>
          <a:lstStyle/>
          <a:p>
            <a:endParaRPr lang="zh-CN" altLang="en-US"/>
          </a:p>
        </p:txBody>
      </p:sp>
      <p:sp>
        <p:nvSpPr>
          <p:cNvPr id="31" name="Text 29"/>
          <p:cNvSpPr/>
          <p:nvPr/>
        </p:nvSpPr>
        <p:spPr>
          <a:xfrm>
            <a:off x="3827760" y="3924300"/>
            <a:ext cx="2527300" cy="254000"/>
          </a:xfrm>
          <a:prstGeom prst="rect">
            <a:avLst/>
          </a:prstGeom>
          <a:noFill/>
          <a:ln/>
        </p:spPr>
        <p:txBody>
          <a:bodyPr wrap="square" lIns="0" tIns="0" rIns="0" bIns="0" rtlCol="0" anchor="ctr"/>
          <a:lstStyle/>
          <a:p>
            <a:pPr>
              <a:lnSpc>
                <a:spcPct val="120000"/>
              </a:lnSpc>
            </a:pPr>
            <a:r>
              <a:rPr lang="en-US" sz="1400" b="1" dirty="0">
                <a:solidFill>
                  <a:srgbClr val="E0E2E4"/>
                </a:solidFill>
                <a:latin typeface="MiSans" pitchFamily="34" charset="0"/>
                <a:ea typeface="MiSans" pitchFamily="34" charset="-122"/>
                <a:cs typeface="MiSans" pitchFamily="34" charset="-120"/>
              </a:rPr>
              <a:t>NodeManager</a:t>
            </a:r>
            <a:endParaRPr lang="en-US" sz="1600" dirty="0"/>
          </a:p>
        </p:txBody>
      </p:sp>
      <p:sp>
        <p:nvSpPr>
          <p:cNvPr id="32" name="Text 30"/>
          <p:cNvSpPr/>
          <p:nvPr/>
        </p:nvSpPr>
        <p:spPr>
          <a:xfrm>
            <a:off x="3827760" y="4203700"/>
            <a:ext cx="2514600" cy="203200"/>
          </a:xfrm>
          <a:prstGeom prst="rect">
            <a:avLst/>
          </a:prstGeom>
          <a:noFill/>
          <a:ln/>
        </p:spPr>
        <p:txBody>
          <a:bodyPr wrap="square" lIns="0" tIns="0" rIns="0" bIns="0" rtlCol="0" anchor="ctr"/>
          <a:lstStyle/>
          <a:p>
            <a:pPr>
              <a:lnSpc>
                <a:spcPct val="110000"/>
              </a:lnSpc>
            </a:pPr>
            <a:r>
              <a:rPr lang="en-US" sz="1200" dirty="0">
                <a:solidFill>
                  <a:srgbClr val="E0E2E4">
                    <a:alpha val="70000"/>
                  </a:srgbClr>
                </a:solidFill>
                <a:latin typeface="MiSans" pitchFamily="34" charset="0"/>
                <a:ea typeface="MiSans" pitchFamily="34" charset="-122"/>
                <a:cs typeface="MiSans" pitchFamily="34" charset="-120"/>
              </a:rPr>
              <a:t>• 容器管理器</a:t>
            </a:r>
            <a:endParaRPr lang="en-US" sz="1600" dirty="0"/>
          </a:p>
        </p:txBody>
      </p:sp>
      <p:sp>
        <p:nvSpPr>
          <p:cNvPr id="33" name="Text 31"/>
          <p:cNvSpPr/>
          <p:nvPr/>
        </p:nvSpPr>
        <p:spPr>
          <a:xfrm>
            <a:off x="3827760" y="4432300"/>
            <a:ext cx="2514600" cy="203200"/>
          </a:xfrm>
          <a:prstGeom prst="rect">
            <a:avLst/>
          </a:prstGeom>
          <a:noFill/>
          <a:ln/>
        </p:spPr>
        <p:txBody>
          <a:bodyPr wrap="square" lIns="0" tIns="0" rIns="0" bIns="0" rtlCol="0" anchor="ctr"/>
          <a:lstStyle/>
          <a:p>
            <a:pPr>
              <a:lnSpc>
                <a:spcPct val="110000"/>
              </a:lnSpc>
            </a:pPr>
            <a:r>
              <a:rPr lang="en-US" sz="1200" dirty="0">
                <a:solidFill>
                  <a:srgbClr val="E0E2E4">
                    <a:alpha val="70000"/>
                  </a:srgbClr>
                </a:solidFill>
                <a:latin typeface="MiSans" pitchFamily="34" charset="0"/>
                <a:ea typeface="MiSans" pitchFamily="34" charset="-122"/>
                <a:cs typeface="MiSans" pitchFamily="34" charset="-120"/>
              </a:rPr>
              <a:t>• 资源监控器</a:t>
            </a:r>
            <a:endParaRPr lang="en-US" sz="1600" dirty="0"/>
          </a:p>
        </p:txBody>
      </p:sp>
      <p:sp>
        <p:nvSpPr>
          <p:cNvPr id="34" name="Shape 32"/>
          <p:cNvSpPr/>
          <p:nvPr/>
        </p:nvSpPr>
        <p:spPr>
          <a:xfrm>
            <a:off x="6671270" y="1682750"/>
            <a:ext cx="2908300" cy="4051300"/>
          </a:xfrm>
          <a:custGeom>
            <a:avLst/>
            <a:gdLst/>
            <a:ahLst/>
            <a:cxnLst/>
            <a:rect l="l" t="t" r="r" b="b"/>
            <a:pathLst>
              <a:path w="2908300" h="4051300">
                <a:moveTo>
                  <a:pt x="101587" y="0"/>
                </a:moveTo>
                <a:lnTo>
                  <a:pt x="2806713" y="0"/>
                </a:lnTo>
                <a:cubicBezTo>
                  <a:pt x="2862818" y="0"/>
                  <a:pt x="2908300" y="45482"/>
                  <a:pt x="2908300" y="101587"/>
                </a:cubicBezTo>
                <a:lnTo>
                  <a:pt x="2908300" y="3949713"/>
                </a:lnTo>
                <a:cubicBezTo>
                  <a:pt x="2908300" y="4005818"/>
                  <a:pt x="2862818" y="4051300"/>
                  <a:pt x="2806713" y="4051300"/>
                </a:cubicBezTo>
                <a:lnTo>
                  <a:pt x="101587" y="4051300"/>
                </a:lnTo>
                <a:cubicBezTo>
                  <a:pt x="45482" y="4051300"/>
                  <a:pt x="0" y="4005818"/>
                  <a:pt x="0" y="3949713"/>
                </a:cubicBezTo>
                <a:lnTo>
                  <a:pt x="0" y="101587"/>
                </a:lnTo>
                <a:cubicBezTo>
                  <a:pt x="0" y="45520"/>
                  <a:pt x="45520" y="0"/>
                  <a:pt x="101587"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35" name="Shape 33"/>
          <p:cNvSpPr/>
          <p:nvPr/>
        </p:nvSpPr>
        <p:spPr>
          <a:xfrm>
            <a:off x="7873901" y="1841500"/>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3C8082"/>
          </a:solidFill>
          <a:ln/>
        </p:spPr>
        <p:txBody>
          <a:bodyPr/>
          <a:lstStyle/>
          <a:p>
            <a:endParaRPr lang="zh-CN" altLang="en-US"/>
          </a:p>
        </p:txBody>
      </p:sp>
      <p:sp>
        <p:nvSpPr>
          <p:cNvPr id="36" name="Shape 34"/>
          <p:cNvSpPr/>
          <p:nvPr/>
        </p:nvSpPr>
        <p:spPr>
          <a:xfrm>
            <a:off x="8016776" y="1981200"/>
            <a:ext cx="228600" cy="228600"/>
          </a:xfrm>
          <a:custGeom>
            <a:avLst/>
            <a:gdLst/>
            <a:ahLst/>
            <a:cxnLst/>
            <a:rect l="l" t="t" r="r" b="b"/>
            <a:pathLst>
              <a:path w="228600" h="228600">
                <a:moveTo>
                  <a:pt x="100146" y="-1116"/>
                </a:moveTo>
                <a:cubicBezTo>
                  <a:pt x="108987" y="-6206"/>
                  <a:pt x="119881" y="-6206"/>
                  <a:pt x="128721" y="-1116"/>
                </a:cubicBezTo>
                <a:lnTo>
                  <a:pt x="207258" y="44202"/>
                </a:lnTo>
                <a:cubicBezTo>
                  <a:pt x="216098" y="49292"/>
                  <a:pt x="221546" y="58757"/>
                  <a:pt x="221546" y="68937"/>
                </a:cubicBezTo>
                <a:lnTo>
                  <a:pt x="221546" y="159574"/>
                </a:lnTo>
                <a:cubicBezTo>
                  <a:pt x="221546" y="169798"/>
                  <a:pt x="216098" y="179219"/>
                  <a:pt x="207258" y="184309"/>
                </a:cubicBezTo>
                <a:lnTo>
                  <a:pt x="128721" y="229716"/>
                </a:lnTo>
                <a:cubicBezTo>
                  <a:pt x="119881" y="234806"/>
                  <a:pt x="108987" y="234806"/>
                  <a:pt x="100146" y="229716"/>
                </a:cubicBezTo>
                <a:lnTo>
                  <a:pt x="21654" y="184398"/>
                </a:lnTo>
                <a:cubicBezTo>
                  <a:pt x="12814" y="179308"/>
                  <a:pt x="7367" y="169843"/>
                  <a:pt x="7367" y="159663"/>
                </a:cubicBezTo>
                <a:lnTo>
                  <a:pt x="7367" y="69026"/>
                </a:lnTo>
                <a:cubicBezTo>
                  <a:pt x="7367" y="58802"/>
                  <a:pt x="12814" y="49381"/>
                  <a:pt x="21654" y="44291"/>
                </a:cubicBezTo>
                <a:lnTo>
                  <a:pt x="100146" y="-1116"/>
                </a:lnTo>
                <a:close/>
                <a:moveTo>
                  <a:pt x="192926" y="159618"/>
                </a:moveTo>
                <a:lnTo>
                  <a:pt x="192926" y="85457"/>
                </a:lnTo>
                <a:lnTo>
                  <a:pt x="128721" y="122515"/>
                </a:lnTo>
                <a:lnTo>
                  <a:pt x="128721" y="196676"/>
                </a:lnTo>
                <a:lnTo>
                  <a:pt x="192926" y="159618"/>
                </a:lnTo>
                <a:close/>
              </a:path>
            </a:pathLst>
          </a:custGeom>
          <a:solidFill>
            <a:srgbClr val="FFFFFF"/>
          </a:solidFill>
          <a:ln/>
        </p:spPr>
        <p:txBody>
          <a:bodyPr/>
          <a:lstStyle/>
          <a:p>
            <a:endParaRPr lang="zh-CN" altLang="en-US"/>
          </a:p>
        </p:txBody>
      </p:sp>
      <p:sp>
        <p:nvSpPr>
          <p:cNvPr id="37" name="Text 35"/>
          <p:cNvSpPr/>
          <p:nvPr/>
        </p:nvSpPr>
        <p:spPr>
          <a:xfrm>
            <a:off x="6772870" y="2451100"/>
            <a:ext cx="2705100" cy="355600"/>
          </a:xfrm>
          <a:prstGeom prst="rect">
            <a:avLst/>
          </a:prstGeom>
          <a:noFill/>
          <a:ln/>
        </p:spPr>
        <p:txBody>
          <a:bodyPr wrap="square" lIns="0" tIns="0" rIns="0" bIns="0" rtlCol="0" anchor="ctr"/>
          <a:lstStyle/>
          <a:p>
            <a:pPr algn="ctr">
              <a:lnSpc>
                <a:spcPct val="130000"/>
              </a:lnSpc>
            </a:pPr>
            <a:r>
              <a:rPr lang="en-US" sz="1800" b="1" dirty="0">
                <a:solidFill>
                  <a:srgbClr val="E0E2E4"/>
                </a:solidFill>
                <a:latin typeface="MiSans" pitchFamily="34" charset="0"/>
                <a:ea typeface="MiSans" pitchFamily="34" charset="-122"/>
                <a:cs typeface="MiSans" pitchFamily="34" charset="-120"/>
              </a:rPr>
              <a:t>Container抽象层</a:t>
            </a:r>
            <a:endParaRPr lang="en-US" sz="1600" dirty="0"/>
          </a:p>
        </p:txBody>
      </p:sp>
      <p:sp>
        <p:nvSpPr>
          <p:cNvPr id="38" name="Shape 36"/>
          <p:cNvSpPr/>
          <p:nvPr/>
        </p:nvSpPr>
        <p:spPr>
          <a:xfrm>
            <a:off x="6830020" y="2908300"/>
            <a:ext cx="2590800" cy="508000"/>
          </a:xfrm>
          <a:custGeom>
            <a:avLst/>
            <a:gdLst/>
            <a:ahLst/>
            <a:cxnLst/>
            <a:rect l="l" t="t" r="r" b="b"/>
            <a:pathLst>
              <a:path w="2590800" h="508000">
                <a:moveTo>
                  <a:pt x="50800" y="0"/>
                </a:moveTo>
                <a:lnTo>
                  <a:pt x="2540000" y="0"/>
                </a:lnTo>
                <a:cubicBezTo>
                  <a:pt x="2568037" y="0"/>
                  <a:pt x="2590800" y="22763"/>
                  <a:pt x="2590800" y="50800"/>
                </a:cubicBezTo>
                <a:lnTo>
                  <a:pt x="2590800" y="457200"/>
                </a:lnTo>
                <a:cubicBezTo>
                  <a:pt x="2590800" y="485237"/>
                  <a:pt x="2568037" y="508000"/>
                  <a:pt x="2540000" y="508000"/>
                </a:cubicBezTo>
                <a:lnTo>
                  <a:pt x="50800" y="508000"/>
                </a:lnTo>
                <a:cubicBezTo>
                  <a:pt x="22763" y="508000"/>
                  <a:pt x="0" y="485237"/>
                  <a:pt x="0" y="457200"/>
                </a:cubicBezTo>
                <a:lnTo>
                  <a:pt x="0" y="50800"/>
                </a:lnTo>
                <a:cubicBezTo>
                  <a:pt x="0" y="22763"/>
                  <a:pt x="22763" y="0"/>
                  <a:pt x="50800" y="0"/>
                </a:cubicBezTo>
                <a:close/>
              </a:path>
            </a:pathLst>
          </a:custGeom>
          <a:solidFill>
            <a:srgbClr val="1A1D21">
              <a:alpha val="50196"/>
            </a:srgbClr>
          </a:solidFill>
          <a:ln/>
        </p:spPr>
        <p:txBody>
          <a:bodyPr/>
          <a:lstStyle/>
          <a:p>
            <a:endParaRPr lang="zh-CN" altLang="en-US"/>
          </a:p>
        </p:txBody>
      </p:sp>
      <p:sp>
        <p:nvSpPr>
          <p:cNvPr id="39" name="Text 37"/>
          <p:cNvSpPr/>
          <p:nvPr/>
        </p:nvSpPr>
        <p:spPr>
          <a:xfrm>
            <a:off x="6830020" y="2908300"/>
            <a:ext cx="2667000" cy="508000"/>
          </a:xfrm>
          <a:prstGeom prst="rect">
            <a:avLst/>
          </a:prstGeom>
          <a:noFill/>
          <a:ln/>
        </p:spPr>
        <p:txBody>
          <a:bodyPr wrap="square" lIns="50800" tIns="50800" rIns="50800" bIns="50800" rtlCol="0" anchor="ctr"/>
          <a:lstStyle/>
          <a:p>
            <a:pPr>
              <a:lnSpc>
                <a:spcPct val="110000"/>
              </a:lnSpc>
            </a:pPr>
            <a:r>
              <a:rPr lang="en-US" sz="1200" b="1" dirty="0">
                <a:solidFill>
                  <a:srgbClr val="B38B59"/>
                </a:solidFill>
                <a:latin typeface="MiSans" pitchFamily="34" charset="0"/>
                <a:ea typeface="MiSans" pitchFamily="34" charset="-122"/>
                <a:cs typeface="MiSans" pitchFamily="34" charset="-120"/>
              </a:rPr>
              <a:t>标识管理:</a:t>
            </a:r>
            <a:r>
              <a:rPr lang="en-US" sz="1200" dirty="0">
                <a:solidFill>
                  <a:srgbClr val="E0E2E4">
                    <a:alpha val="70000"/>
                  </a:srgbClr>
                </a:solidFill>
                <a:latin typeface="MiSans" pitchFamily="34" charset="0"/>
                <a:ea typeface="MiSans" pitchFamily="34" charset="-122"/>
                <a:cs typeface="MiSans" pitchFamily="34" charset="-120"/>
              </a:rPr>
              <a:t> ContainerID/ApplicationID/Priority</a:t>
            </a:r>
            <a:endParaRPr lang="en-US" sz="1600" dirty="0"/>
          </a:p>
        </p:txBody>
      </p:sp>
      <p:sp>
        <p:nvSpPr>
          <p:cNvPr id="40" name="Shape 38"/>
          <p:cNvSpPr/>
          <p:nvPr/>
        </p:nvSpPr>
        <p:spPr>
          <a:xfrm>
            <a:off x="6830020" y="3467100"/>
            <a:ext cx="2590800" cy="304800"/>
          </a:xfrm>
          <a:custGeom>
            <a:avLst/>
            <a:gdLst/>
            <a:ahLst/>
            <a:cxnLst/>
            <a:rect l="l" t="t" r="r" b="b"/>
            <a:pathLst>
              <a:path w="2590800" h="304800">
                <a:moveTo>
                  <a:pt x="50801" y="0"/>
                </a:moveTo>
                <a:lnTo>
                  <a:pt x="2539999" y="0"/>
                </a:lnTo>
                <a:cubicBezTo>
                  <a:pt x="2568056" y="0"/>
                  <a:pt x="2590800" y="22744"/>
                  <a:pt x="2590800" y="50801"/>
                </a:cubicBezTo>
                <a:lnTo>
                  <a:pt x="2590800" y="253999"/>
                </a:lnTo>
                <a:cubicBezTo>
                  <a:pt x="2590800" y="282056"/>
                  <a:pt x="2568056" y="304800"/>
                  <a:pt x="2539999" y="304800"/>
                </a:cubicBezTo>
                <a:lnTo>
                  <a:pt x="50801" y="304800"/>
                </a:lnTo>
                <a:cubicBezTo>
                  <a:pt x="22744" y="304800"/>
                  <a:pt x="0" y="282056"/>
                  <a:pt x="0" y="253999"/>
                </a:cubicBezTo>
                <a:lnTo>
                  <a:pt x="0" y="50801"/>
                </a:lnTo>
                <a:cubicBezTo>
                  <a:pt x="0" y="22763"/>
                  <a:pt x="22763" y="0"/>
                  <a:pt x="50801" y="0"/>
                </a:cubicBezTo>
                <a:close/>
              </a:path>
            </a:pathLst>
          </a:custGeom>
          <a:solidFill>
            <a:srgbClr val="1A1D21">
              <a:alpha val="50196"/>
            </a:srgbClr>
          </a:solidFill>
          <a:ln/>
        </p:spPr>
        <p:txBody>
          <a:bodyPr/>
          <a:lstStyle/>
          <a:p>
            <a:endParaRPr lang="zh-CN" altLang="en-US"/>
          </a:p>
        </p:txBody>
      </p:sp>
      <p:sp>
        <p:nvSpPr>
          <p:cNvPr id="41" name="Text 39"/>
          <p:cNvSpPr/>
          <p:nvPr/>
        </p:nvSpPr>
        <p:spPr>
          <a:xfrm>
            <a:off x="6830020" y="3467100"/>
            <a:ext cx="2667000" cy="304800"/>
          </a:xfrm>
          <a:prstGeom prst="rect">
            <a:avLst/>
          </a:prstGeom>
          <a:noFill/>
          <a:ln/>
        </p:spPr>
        <p:txBody>
          <a:bodyPr wrap="square" lIns="50800" tIns="50800" rIns="50800" bIns="50800" rtlCol="0" anchor="ctr"/>
          <a:lstStyle/>
          <a:p>
            <a:pPr>
              <a:lnSpc>
                <a:spcPct val="110000"/>
              </a:lnSpc>
            </a:pPr>
            <a:r>
              <a:rPr lang="en-US" sz="1200" b="1" dirty="0">
                <a:solidFill>
                  <a:srgbClr val="B38B59"/>
                </a:solidFill>
                <a:latin typeface="MiSans" pitchFamily="34" charset="0"/>
                <a:ea typeface="MiSans" pitchFamily="34" charset="-122"/>
                <a:cs typeface="MiSans" pitchFamily="34" charset="-120"/>
              </a:rPr>
              <a:t>资源管理:</a:t>
            </a:r>
            <a:r>
              <a:rPr lang="en-US" sz="1200" dirty="0">
                <a:solidFill>
                  <a:srgbClr val="E0E2E4">
                    <a:alpha val="70000"/>
                  </a:srgbClr>
                </a:solidFill>
                <a:latin typeface="MiSans" pitchFamily="34" charset="0"/>
                <a:ea typeface="MiSans" pitchFamily="34" charset="-122"/>
                <a:cs typeface="MiSans" pitchFamily="34" charset="-120"/>
              </a:rPr>
              <a:t> CPU/内存/存储/网络/GPU</a:t>
            </a:r>
            <a:endParaRPr lang="en-US" sz="1600" dirty="0"/>
          </a:p>
        </p:txBody>
      </p:sp>
      <p:sp>
        <p:nvSpPr>
          <p:cNvPr id="42" name="Shape 40"/>
          <p:cNvSpPr/>
          <p:nvPr/>
        </p:nvSpPr>
        <p:spPr>
          <a:xfrm>
            <a:off x="6830020" y="3822700"/>
            <a:ext cx="2590800" cy="304800"/>
          </a:xfrm>
          <a:custGeom>
            <a:avLst/>
            <a:gdLst/>
            <a:ahLst/>
            <a:cxnLst/>
            <a:rect l="l" t="t" r="r" b="b"/>
            <a:pathLst>
              <a:path w="2590800" h="304800">
                <a:moveTo>
                  <a:pt x="50801" y="0"/>
                </a:moveTo>
                <a:lnTo>
                  <a:pt x="2539999" y="0"/>
                </a:lnTo>
                <a:cubicBezTo>
                  <a:pt x="2568056" y="0"/>
                  <a:pt x="2590800" y="22744"/>
                  <a:pt x="2590800" y="50801"/>
                </a:cubicBezTo>
                <a:lnTo>
                  <a:pt x="2590800" y="253999"/>
                </a:lnTo>
                <a:cubicBezTo>
                  <a:pt x="2590800" y="282056"/>
                  <a:pt x="2568056" y="304800"/>
                  <a:pt x="2539999" y="304800"/>
                </a:cubicBezTo>
                <a:lnTo>
                  <a:pt x="50801" y="304800"/>
                </a:lnTo>
                <a:cubicBezTo>
                  <a:pt x="22744" y="304800"/>
                  <a:pt x="0" y="282056"/>
                  <a:pt x="0" y="253999"/>
                </a:cubicBezTo>
                <a:lnTo>
                  <a:pt x="0" y="50801"/>
                </a:lnTo>
                <a:cubicBezTo>
                  <a:pt x="0" y="22763"/>
                  <a:pt x="22763" y="0"/>
                  <a:pt x="50801" y="0"/>
                </a:cubicBezTo>
                <a:close/>
              </a:path>
            </a:pathLst>
          </a:custGeom>
          <a:solidFill>
            <a:srgbClr val="1A1D21">
              <a:alpha val="50196"/>
            </a:srgbClr>
          </a:solidFill>
          <a:ln/>
        </p:spPr>
        <p:txBody>
          <a:bodyPr/>
          <a:lstStyle/>
          <a:p>
            <a:endParaRPr lang="zh-CN" altLang="en-US"/>
          </a:p>
        </p:txBody>
      </p:sp>
      <p:sp>
        <p:nvSpPr>
          <p:cNvPr id="43" name="Text 41"/>
          <p:cNvSpPr/>
          <p:nvPr/>
        </p:nvSpPr>
        <p:spPr>
          <a:xfrm>
            <a:off x="6830020" y="3822700"/>
            <a:ext cx="2667000" cy="304800"/>
          </a:xfrm>
          <a:prstGeom prst="rect">
            <a:avLst/>
          </a:prstGeom>
          <a:noFill/>
          <a:ln/>
        </p:spPr>
        <p:txBody>
          <a:bodyPr wrap="square" lIns="50800" tIns="50800" rIns="50800" bIns="50800" rtlCol="0" anchor="ctr"/>
          <a:lstStyle/>
          <a:p>
            <a:pPr>
              <a:lnSpc>
                <a:spcPct val="110000"/>
              </a:lnSpc>
            </a:pPr>
            <a:r>
              <a:rPr lang="en-US" sz="1200" b="1" dirty="0">
                <a:solidFill>
                  <a:srgbClr val="B38B59"/>
                </a:solidFill>
                <a:latin typeface="MiSans" pitchFamily="34" charset="0"/>
                <a:ea typeface="MiSans" pitchFamily="34" charset="-122"/>
                <a:cs typeface="MiSans" pitchFamily="34" charset="-120"/>
              </a:rPr>
              <a:t>位置管理:</a:t>
            </a:r>
            <a:r>
              <a:rPr lang="en-US" sz="1200" dirty="0">
                <a:solidFill>
                  <a:srgbClr val="E0E2E4">
                    <a:alpha val="70000"/>
                  </a:srgbClr>
                </a:solidFill>
                <a:latin typeface="MiSans" pitchFamily="34" charset="0"/>
                <a:ea typeface="MiSans" pitchFamily="34" charset="-122"/>
                <a:cs typeface="MiSans" pitchFamily="34" charset="-120"/>
              </a:rPr>
              <a:t> 节点/机架/数据本地性</a:t>
            </a:r>
            <a:endParaRPr lang="en-US" sz="1600" dirty="0"/>
          </a:p>
        </p:txBody>
      </p:sp>
      <p:sp>
        <p:nvSpPr>
          <p:cNvPr id="44" name="Shape 42"/>
          <p:cNvSpPr/>
          <p:nvPr/>
        </p:nvSpPr>
        <p:spPr>
          <a:xfrm>
            <a:off x="6830020" y="4178300"/>
            <a:ext cx="2590800" cy="304800"/>
          </a:xfrm>
          <a:custGeom>
            <a:avLst/>
            <a:gdLst/>
            <a:ahLst/>
            <a:cxnLst/>
            <a:rect l="l" t="t" r="r" b="b"/>
            <a:pathLst>
              <a:path w="2590800" h="304800">
                <a:moveTo>
                  <a:pt x="50801" y="0"/>
                </a:moveTo>
                <a:lnTo>
                  <a:pt x="2539999" y="0"/>
                </a:lnTo>
                <a:cubicBezTo>
                  <a:pt x="2568056" y="0"/>
                  <a:pt x="2590800" y="22744"/>
                  <a:pt x="2590800" y="50801"/>
                </a:cubicBezTo>
                <a:lnTo>
                  <a:pt x="2590800" y="253999"/>
                </a:lnTo>
                <a:cubicBezTo>
                  <a:pt x="2590800" y="282056"/>
                  <a:pt x="2568056" y="304800"/>
                  <a:pt x="2539999" y="304800"/>
                </a:cubicBezTo>
                <a:lnTo>
                  <a:pt x="50801" y="304800"/>
                </a:lnTo>
                <a:cubicBezTo>
                  <a:pt x="22744" y="304800"/>
                  <a:pt x="0" y="282056"/>
                  <a:pt x="0" y="253999"/>
                </a:cubicBezTo>
                <a:lnTo>
                  <a:pt x="0" y="50801"/>
                </a:lnTo>
                <a:cubicBezTo>
                  <a:pt x="0" y="22763"/>
                  <a:pt x="22763" y="0"/>
                  <a:pt x="50801" y="0"/>
                </a:cubicBezTo>
                <a:close/>
              </a:path>
            </a:pathLst>
          </a:custGeom>
          <a:solidFill>
            <a:srgbClr val="1A1D21">
              <a:alpha val="50196"/>
            </a:srgbClr>
          </a:solidFill>
          <a:ln/>
        </p:spPr>
        <p:txBody>
          <a:bodyPr/>
          <a:lstStyle/>
          <a:p>
            <a:endParaRPr lang="zh-CN" altLang="en-US"/>
          </a:p>
        </p:txBody>
      </p:sp>
      <p:sp>
        <p:nvSpPr>
          <p:cNvPr id="45" name="Text 43"/>
          <p:cNvSpPr/>
          <p:nvPr/>
        </p:nvSpPr>
        <p:spPr>
          <a:xfrm>
            <a:off x="6830020" y="4178300"/>
            <a:ext cx="2667000" cy="304800"/>
          </a:xfrm>
          <a:prstGeom prst="rect">
            <a:avLst/>
          </a:prstGeom>
          <a:noFill/>
          <a:ln/>
        </p:spPr>
        <p:txBody>
          <a:bodyPr wrap="square" lIns="50800" tIns="50800" rIns="50800" bIns="50800" rtlCol="0" anchor="ctr"/>
          <a:lstStyle/>
          <a:p>
            <a:pPr>
              <a:lnSpc>
                <a:spcPct val="110000"/>
              </a:lnSpc>
            </a:pPr>
            <a:r>
              <a:rPr lang="en-US" sz="1200" b="1" dirty="0">
                <a:solidFill>
                  <a:srgbClr val="B38B59"/>
                </a:solidFill>
                <a:latin typeface="MiSans" pitchFamily="34" charset="0"/>
                <a:ea typeface="MiSans" pitchFamily="34" charset="-122"/>
                <a:cs typeface="MiSans" pitchFamily="34" charset="-120"/>
              </a:rPr>
              <a:t>安全管理:</a:t>
            </a:r>
            <a:r>
              <a:rPr lang="en-US" sz="1200" dirty="0">
                <a:solidFill>
                  <a:srgbClr val="E0E2E4">
                    <a:alpha val="70000"/>
                  </a:srgbClr>
                </a:solidFill>
                <a:latin typeface="MiSans" pitchFamily="34" charset="0"/>
                <a:ea typeface="MiSans" pitchFamily="34" charset="-122"/>
                <a:cs typeface="MiSans" pitchFamily="34" charset="-120"/>
              </a:rPr>
              <a:t> 令牌/权限/安全上下文</a:t>
            </a:r>
            <a:endParaRPr lang="en-US" sz="1600" dirty="0"/>
          </a:p>
        </p:txBody>
      </p:sp>
      <p:sp>
        <p:nvSpPr>
          <p:cNvPr id="46" name="Shape 44"/>
          <p:cNvSpPr/>
          <p:nvPr/>
        </p:nvSpPr>
        <p:spPr>
          <a:xfrm>
            <a:off x="9749730" y="1682750"/>
            <a:ext cx="2908300" cy="4051300"/>
          </a:xfrm>
          <a:custGeom>
            <a:avLst/>
            <a:gdLst/>
            <a:ahLst/>
            <a:cxnLst/>
            <a:rect l="l" t="t" r="r" b="b"/>
            <a:pathLst>
              <a:path w="2908300" h="4051300">
                <a:moveTo>
                  <a:pt x="101587" y="0"/>
                </a:moveTo>
                <a:lnTo>
                  <a:pt x="2806713" y="0"/>
                </a:lnTo>
                <a:cubicBezTo>
                  <a:pt x="2862818" y="0"/>
                  <a:pt x="2908300" y="45482"/>
                  <a:pt x="2908300" y="101587"/>
                </a:cubicBezTo>
                <a:lnTo>
                  <a:pt x="2908300" y="3949713"/>
                </a:lnTo>
                <a:cubicBezTo>
                  <a:pt x="2908300" y="4005818"/>
                  <a:pt x="2862818" y="4051300"/>
                  <a:pt x="2806713" y="4051300"/>
                </a:cubicBezTo>
                <a:lnTo>
                  <a:pt x="101587" y="4051300"/>
                </a:lnTo>
                <a:cubicBezTo>
                  <a:pt x="45482" y="4051300"/>
                  <a:pt x="0" y="4005818"/>
                  <a:pt x="0" y="3949713"/>
                </a:cubicBezTo>
                <a:lnTo>
                  <a:pt x="0" y="101587"/>
                </a:lnTo>
                <a:cubicBezTo>
                  <a:pt x="0" y="45520"/>
                  <a:pt x="45520" y="0"/>
                  <a:pt x="101587"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47" name="Shape 45"/>
          <p:cNvSpPr/>
          <p:nvPr/>
        </p:nvSpPr>
        <p:spPr>
          <a:xfrm>
            <a:off x="10952361" y="1841500"/>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B38B59"/>
          </a:solidFill>
          <a:ln/>
        </p:spPr>
        <p:txBody>
          <a:bodyPr/>
          <a:lstStyle/>
          <a:p>
            <a:endParaRPr lang="zh-CN" altLang="en-US"/>
          </a:p>
        </p:txBody>
      </p:sp>
      <p:sp>
        <p:nvSpPr>
          <p:cNvPr id="48" name="Shape 46"/>
          <p:cNvSpPr/>
          <p:nvPr/>
        </p:nvSpPr>
        <p:spPr>
          <a:xfrm>
            <a:off x="11066661" y="1981200"/>
            <a:ext cx="285750" cy="228600"/>
          </a:xfrm>
          <a:custGeom>
            <a:avLst/>
            <a:gdLst/>
            <a:ahLst/>
            <a:cxnLst/>
            <a:rect l="l" t="t" r="r" b="b"/>
            <a:pathLst>
              <a:path w="285750" h="228600">
                <a:moveTo>
                  <a:pt x="185693" y="93985"/>
                </a:moveTo>
                <a:cubicBezTo>
                  <a:pt x="191140" y="92512"/>
                  <a:pt x="196855" y="95101"/>
                  <a:pt x="199311" y="100146"/>
                </a:cubicBezTo>
                <a:lnTo>
                  <a:pt x="207615" y="116934"/>
                </a:lnTo>
                <a:cubicBezTo>
                  <a:pt x="212214" y="117559"/>
                  <a:pt x="216724" y="118809"/>
                  <a:pt x="220965" y="120551"/>
                </a:cubicBezTo>
                <a:lnTo>
                  <a:pt x="236592" y="110148"/>
                </a:lnTo>
                <a:cubicBezTo>
                  <a:pt x="241280" y="107022"/>
                  <a:pt x="247486" y="107647"/>
                  <a:pt x="251460" y="111621"/>
                </a:cubicBezTo>
                <a:lnTo>
                  <a:pt x="260033" y="120194"/>
                </a:lnTo>
                <a:cubicBezTo>
                  <a:pt x="264006" y="124167"/>
                  <a:pt x="264631" y="130418"/>
                  <a:pt x="261506" y="135062"/>
                </a:cubicBezTo>
                <a:lnTo>
                  <a:pt x="251103" y="150644"/>
                </a:lnTo>
                <a:cubicBezTo>
                  <a:pt x="251951" y="152742"/>
                  <a:pt x="252710" y="154930"/>
                  <a:pt x="253335" y="157207"/>
                </a:cubicBezTo>
                <a:cubicBezTo>
                  <a:pt x="253960" y="159484"/>
                  <a:pt x="254362" y="161717"/>
                  <a:pt x="254675" y="163994"/>
                </a:cubicBezTo>
                <a:lnTo>
                  <a:pt x="271507" y="172298"/>
                </a:lnTo>
                <a:cubicBezTo>
                  <a:pt x="276552" y="174799"/>
                  <a:pt x="279142" y="180514"/>
                  <a:pt x="277669" y="185916"/>
                </a:cubicBezTo>
                <a:lnTo>
                  <a:pt x="274543" y="197614"/>
                </a:lnTo>
                <a:cubicBezTo>
                  <a:pt x="273070" y="203016"/>
                  <a:pt x="268025" y="206678"/>
                  <a:pt x="262399" y="206320"/>
                </a:cubicBezTo>
                <a:lnTo>
                  <a:pt x="243647" y="205115"/>
                </a:lnTo>
                <a:cubicBezTo>
                  <a:pt x="240834" y="208731"/>
                  <a:pt x="237574" y="212080"/>
                  <a:pt x="233869" y="214938"/>
                </a:cubicBezTo>
                <a:lnTo>
                  <a:pt x="235074" y="233645"/>
                </a:lnTo>
                <a:cubicBezTo>
                  <a:pt x="235431" y="239271"/>
                  <a:pt x="231770" y="244361"/>
                  <a:pt x="226368" y="245790"/>
                </a:cubicBezTo>
                <a:lnTo>
                  <a:pt x="214670" y="248915"/>
                </a:lnTo>
                <a:cubicBezTo>
                  <a:pt x="209223" y="250388"/>
                  <a:pt x="203552" y="247799"/>
                  <a:pt x="201052" y="242754"/>
                </a:cubicBezTo>
                <a:lnTo>
                  <a:pt x="192747" y="225966"/>
                </a:lnTo>
                <a:cubicBezTo>
                  <a:pt x="188149" y="225341"/>
                  <a:pt x="183639" y="224091"/>
                  <a:pt x="179397" y="222349"/>
                </a:cubicBezTo>
                <a:lnTo>
                  <a:pt x="163770" y="232752"/>
                </a:lnTo>
                <a:cubicBezTo>
                  <a:pt x="159082" y="235878"/>
                  <a:pt x="152876" y="235253"/>
                  <a:pt x="148903" y="231279"/>
                </a:cubicBezTo>
                <a:lnTo>
                  <a:pt x="140330" y="222706"/>
                </a:lnTo>
                <a:cubicBezTo>
                  <a:pt x="136356" y="218733"/>
                  <a:pt x="135731" y="212527"/>
                  <a:pt x="138857" y="207838"/>
                </a:cubicBezTo>
                <a:lnTo>
                  <a:pt x="149260" y="192212"/>
                </a:lnTo>
                <a:cubicBezTo>
                  <a:pt x="148411" y="190113"/>
                  <a:pt x="147652" y="187925"/>
                  <a:pt x="147027" y="185648"/>
                </a:cubicBezTo>
                <a:cubicBezTo>
                  <a:pt x="146402" y="183371"/>
                  <a:pt x="146000" y="181094"/>
                  <a:pt x="145688" y="178862"/>
                </a:cubicBezTo>
                <a:lnTo>
                  <a:pt x="128855" y="170557"/>
                </a:lnTo>
                <a:cubicBezTo>
                  <a:pt x="123810" y="168057"/>
                  <a:pt x="121265" y="162342"/>
                  <a:pt x="122694" y="156939"/>
                </a:cubicBezTo>
                <a:lnTo>
                  <a:pt x="125819" y="145241"/>
                </a:lnTo>
                <a:cubicBezTo>
                  <a:pt x="127293" y="139839"/>
                  <a:pt x="132338" y="136178"/>
                  <a:pt x="137964" y="136535"/>
                </a:cubicBezTo>
                <a:lnTo>
                  <a:pt x="156671" y="137740"/>
                </a:lnTo>
                <a:cubicBezTo>
                  <a:pt x="159484" y="134124"/>
                  <a:pt x="162744" y="130775"/>
                  <a:pt x="166449" y="127918"/>
                </a:cubicBezTo>
                <a:lnTo>
                  <a:pt x="165244" y="109255"/>
                </a:lnTo>
                <a:cubicBezTo>
                  <a:pt x="164887" y="103629"/>
                  <a:pt x="168548" y="98539"/>
                  <a:pt x="173950" y="97110"/>
                </a:cubicBezTo>
                <a:lnTo>
                  <a:pt x="185648" y="93985"/>
                </a:lnTo>
                <a:close/>
                <a:moveTo>
                  <a:pt x="200204" y="151805"/>
                </a:moveTo>
                <a:cubicBezTo>
                  <a:pt x="189361" y="151817"/>
                  <a:pt x="180568" y="160630"/>
                  <a:pt x="180581" y="171472"/>
                </a:cubicBezTo>
                <a:cubicBezTo>
                  <a:pt x="180593" y="182315"/>
                  <a:pt x="189406" y="191108"/>
                  <a:pt x="200248" y="191095"/>
                </a:cubicBezTo>
                <a:cubicBezTo>
                  <a:pt x="211091" y="191083"/>
                  <a:pt x="219884" y="182270"/>
                  <a:pt x="219871" y="171428"/>
                </a:cubicBezTo>
                <a:cubicBezTo>
                  <a:pt x="219859" y="160585"/>
                  <a:pt x="211046" y="151792"/>
                  <a:pt x="200204" y="151805"/>
                </a:cubicBezTo>
                <a:close/>
                <a:moveTo>
                  <a:pt x="100414" y="-20315"/>
                </a:moveTo>
                <a:lnTo>
                  <a:pt x="112112" y="-17190"/>
                </a:lnTo>
                <a:cubicBezTo>
                  <a:pt x="117515" y="-15716"/>
                  <a:pt x="121176" y="-10626"/>
                  <a:pt x="120819" y="-5045"/>
                </a:cubicBezTo>
                <a:lnTo>
                  <a:pt x="119613" y="13618"/>
                </a:lnTo>
                <a:cubicBezTo>
                  <a:pt x="123319" y="16475"/>
                  <a:pt x="126578" y="19779"/>
                  <a:pt x="129391" y="23440"/>
                </a:cubicBezTo>
                <a:lnTo>
                  <a:pt x="148144" y="22235"/>
                </a:lnTo>
                <a:cubicBezTo>
                  <a:pt x="153725" y="21878"/>
                  <a:pt x="158814" y="25539"/>
                  <a:pt x="160288" y="30941"/>
                </a:cubicBezTo>
                <a:lnTo>
                  <a:pt x="163413" y="42639"/>
                </a:lnTo>
                <a:cubicBezTo>
                  <a:pt x="164842" y="48042"/>
                  <a:pt x="162297" y="53757"/>
                  <a:pt x="157252" y="56257"/>
                </a:cubicBezTo>
                <a:lnTo>
                  <a:pt x="140419" y="64562"/>
                </a:lnTo>
                <a:cubicBezTo>
                  <a:pt x="140107" y="66839"/>
                  <a:pt x="139660" y="69116"/>
                  <a:pt x="139080" y="71348"/>
                </a:cubicBezTo>
                <a:cubicBezTo>
                  <a:pt x="138499" y="73581"/>
                  <a:pt x="137696" y="75813"/>
                  <a:pt x="136847" y="77912"/>
                </a:cubicBezTo>
                <a:lnTo>
                  <a:pt x="147251" y="93538"/>
                </a:lnTo>
                <a:cubicBezTo>
                  <a:pt x="150376" y="98227"/>
                  <a:pt x="149751" y="104433"/>
                  <a:pt x="145777" y="108406"/>
                </a:cubicBezTo>
                <a:lnTo>
                  <a:pt x="137205" y="116979"/>
                </a:lnTo>
                <a:cubicBezTo>
                  <a:pt x="133231" y="120953"/>
                  <a:pt x="127025" y="121578"/>
                  <a:pt x="122337" y="118452"/>
                </a:cubicBezTo>
                <a:lnTo>
                  <a:pt x="106710" y="108049"/>
                </a:lnTo>
                <a:cubicBezTo>
                  <a:pt x="102468" y="109791"/>
                  <a:pt x="97959" y="111041"/>
                  <a:pt x="93360" y="111666"/>
                </a:cubicBezTo>
                <a:lnTo>
                  <a:pt x="85055" y="128454"/>
                </a:lnTo>
                <a:cubicBezTo>
                  <a:pt x="82555" y="133499"/>
                  <a:pt x="76840" y="136044"/>
                  <a:pt x="71438" y="134615"/>
                </a:cubicBezTo>
                <a:lnTo>
                  <a:pt x="59740" y="131490"/>
                </a:lnTo>
                <a:cubicBezTo>
                  <a:pt x="54293" y="130016"/>
                  <a:pt x="50676" y="124926"/>
                  <a:pt x="51033" y="119345"/>
                </a:cubicBezTo>
                <a:lnTo>
                  <a:pt x="52239" y="100638"/>
                </a:lnTo>
                <a:cubicBezTo>
                  <a:pt x="48533" y="97780"/>
                  <a:pt x="45274" y="94476"/>
                  <a:pt x="42461" y="90815"/>
                </a:cubicBezTo>
                <a:lnTo>
                  <a:pt x="23708" y="92020"/>
                </a:lnTo>
                <a:cubicBezTo>
                  <a:pt x="18127" y="92378"/>
                  <a:pt x="13037" y="88716"/>
                  <a:pt x="11564" y="83314"/>
                </a:cubicBezTo>
                <a:lnTo>
                  <a:pt x="8439" y="71616"/>
                </a:lnTo>
                <a:cubicBezTo>
                  <a:pt x="7010" y="66214"/>
                  <a:pt x="9555" y="60499"/>
                  <a:pt x="14600" y="57998"/>
                </a:cubicBezTo>
                <a:lnTo>
                  <a:pt x="31433" y="49694"/>
                </a:lnTo>
                <a:cubicBezTo>
                  <a:pt x="31745" y="47417"/>
                  <a:pt x="32192" y="45184"/>
                  <a:pt x="32772" y="42907"/>
                </a:cubicBezTo>
                <a:cubicBezTo>
                  <a:pt x="33397" y="40630"/>
                  <a:pt x="34111" y="38442"/>
                  <a:pt x="35004" y="36344"/>
                </a:cubicBezTo>
                <a:lnTo>
                  <a:pt x="24601" y="20762"/>
                </a:lnTo>
                <a:cubicBezTo>
                  <a:pt x="21476" y="16073"/>
                  <a:pt x="22101" y="9867"/>
                  <a:pt x="26075" y="5894"/>
                </a:cubicBezTo>
                <a:lnTo>
                  <a:pt x="34647" y="-2679"/>
                </a:lnTo>
                <a:cubicBezTo>
                  <a:pt x="38621" y="-6653"/>
                  <a:pt x="44827" y="-7278"/>
                  <a:pt x="49515" y="-4152"/>
                </a:cubicBezTo>
                <a:lnTo>
                  <a:pt x="65142" y="6251"/>
                </a:lnTo>
                <a:cubicBezTo>
                  <a:pt x="69384" y="4509"/>
                  <a:pt x="73893" y="3259"/>
                  <a:pt x="78492" y="2634"/>
                </a:cubicBezTo>
                <a:lnTo>
                  <a:pt x="86797" y="-14154"/>
                </a:lnTo>
                <a:cubicBezTo>
                  <a:pt x="89297" y="-19199"/>
                  <a:pt x="94967" y="-21744"/>
                  <a:pt x="100414" y="-20315"/>
                </a:cubicBezTo>
                <a:close/>
                <a:moveTo>
                  <a:pt x="85904" y="37505"/>
                </a:moveTo>
                <a:cubicBezTo>
                  <a:pt x="75061" y="37505"/>
                  <a:pt x="66258" y="46307"/>
                  <a:pt x="66258" y="57150"/>
                </a:cubicBezTo>
                <a:cubicBezTo>
                  <a:pt x="66258" y="67993"/>
                  <a:pt x="75061" y="76795"/>
                  <a:pt x="85904" y="76795"/>
                </a:cubicBezTo>
                <a:cubicBezTo>
                  <a:pt x="96746" y="76795"/>
                  <a:pt x="105549" y="67993"/>
                  <a:pt x="105549" y="57150"/>
                </a:cubicBezTo>
                <a:cubicBezTo>
                  <a:pt x="105549" y="46307"/>
                  <a:pt x="96746" y="37505"/>
                  <a:pt x="85904" y="37505"/>
                </a:cubicBezTo>
                <a:close/>
              </a:path>
            </a:pathLst>
          </a:custGeom>
          <a:solidFill>
            <a:srgbClr val="FFFFFF"/>
          </a:solidFill>
          <a:ln/>
        </p:spPr>
        <p:txBody>
          <a:bodyPr/>
          <a:lstStyle/>
          <a:p>
            <a:endParaRPr lang="zh-CN" altLang="en-US"/>
          </a:p>
        </p:txBody>
      </p:sp>
      <p:sp>
        <p:nvSpPr>
          <p:cNvPr id="49" name="Text 47"/>
          <p:cNvSpPr/>
          <p:nvPr/>
        </p:nvSpPr>
        <p:spPr>
          <a:xfrm>
            <a:off x="9851330" y="2451100"/>
            <a:ext cx="2705100" cy="355600"/>
          </a:xfrm>
          <a:prstGeom prst="rect">
            <a:avLst/>
          </a:prstGeom>
          <a:noFill/>
          <a:ln/>
        </p:spPr>
        <p:txBody>
          <a:bodyPr wrap="square" lIns="0" tIns="0" rIns="0" bIns="0" rtlCol="0" anchor="ctr"/>
          <a:lstStyle/>
          <a:p>
            <a:pPr algn="ctr">
              <a:lnSpc>
                <a:spcPct val="130000"/>
              </a:lnSpc>
            </a:pPr>
            <a:r>
              <a:rPr lang="en-US" sz="1800" b="1" dirty="0">
                <a:solidFill>
                  <a:srgbClr val="E0E2E4"/>
                </a:solidFill>
                <a:latin typeface="MiSans" pitchFamily="34" charset="0"/>
                <a:ea typeface="MiSans" pitchFamily="34" charset="-122"/>
                <a:cs typeface="MiSans" pitchFamily="34" charset="-120"/>
              </a:rPr>
              <a:t>ContainerExecutor层</a:t>
            </a:r>
            <a:endParaRPr lang="en-US" sz="1600" dirty="0"/>
          </a:p>
        </p:txBody>
      </p:sp>
      <p:sp>
        <p:nvSpPr>
          <p:cNvPr id="50" name="Shape 48"/>
          <p:cNvSpPr/>
          <p:nvPr/>
        </p:nvSpPr>
        <p:spPr>
          <a:xfrm>
            <a:off x="9908480" y="2908300"/>
            <a:ext cx="2590800" cy="304800"/>
          </a:xfrm>
          <a:custGeom>
            <a:avLst/>
            <a:gdLst/>
            <a:ahLst/>
            <a:cxnLst/>
            <a:rect l="l" t="t" r="r" b="b"/>
            <a:pathLst>
              <a:path w="2590800" h="304800">
                <a:moveTo>
                  <a:pt x="50801" y="0"/>
                </a:moveTo>
                <a:lnTo>
                  <a:pt x="2539999" y="0"/>
                </a:lnTo>
                <a:cubicBezTo>
                  <a:pt x="2568056" y="0"/>
                  <a:pt x="2590800" y="22744"/>
                  <a:pt x="2590800" y="50801"/>
                </a:cubicBezTo>
                <a:lnTo>
                  <a:pt x="2590800" y="253999"/>
                </a:lnTo>
                <a:cubicBezTo>
                  <a:pt x="2590800" y="282056"/>
                  <a:pt x="2568056" y="304800"/>
                  <a:pt x="2539999" y="304800"/>
                </a:cubicBezTo>
                <a:lnTo>
                  <a:pt x="50801" y="304800"/>
                </a:lnTo>
                <a:cubicBezTo>
                  <a:pt x="22744" y="304800"/>
                  <a:pt x="0" y="282056"/>
                  <a:pt x="0" y="253999"/>
                </a:cubicBezTo>
                <a:lnTo>
                  <a:pt x="0" y="50801"/>
                </a:lnTo>
                <a:cubicBezTo>
                  <a:pt x="0" y="22763"/>
                  <a:pt x="22763" y="0"/>
                  <a:pt x="50801" y="0"/>
                </a:cubicBezTo>
                <a:close/>
              </a:path>
            </a:pathLst>
          </a:custGeom>
          <a:solidFill>
            <a:srgbClr val="1A1D21">
              <a:alpha val="50196"/>
            </a:srgbClr>
          </a:solidFill>
          <a:ln/>
        </p:spPr>
        <p:txBody>
          <a:bodyPr/>
          <a:lstStyle/>
          <a:p>
            <a:endParaRPr lang="zh-CN" altLang="en-US"/>
          </a:p>
        </p:txBody>
      </p:sp>
      <p:sp>
        <p:nvSpPr>
          <p:cNvPr id="51" name="Text 49"/>
          <p:cNvSpPr/>
          <p:nvPr/>
        </p:nvSpPr>
        <p:spPr>
          <a:xfrm>
            <a:off x="9908480" y="2908300"/>
            <a:ext cx="2667000" cy="304800"/>
          </a:xfrm>
          <a:prstGeom prst="rect">
            <a:avLst/>
          </a:prstGeom>
          <a:noFill/>
          <a:ln/>
        </p:spPr>
        <p:txBody>
          <a:bodyPr wrap="square" lIns="50800" tIns="50800" rIns="50800" bIns="50800" rtlCol="0" anchor="ctr"/>
          <a:lstStyle/>
          <a:p>
            <a:pPr>
              <a:lnSpc>
                <a:spcPct val="110000"/>
              </a:lnSpc>
            </a:pPr>
            <a:r>
              <a:rPr lang="en-US" sz="1200" b="1" dirty="0">
                <a:solidFill>
                  <a:srgbClr val="3C8082"/>
                </a:solidFill>
                <a:latin typeface="MiSans" pitchFamily="34" charset="0"/>
                <a:ea typeface="MiSans" pitchFamily="34" charset="-122"/>
                <a:cs typeface="MiSans" pitchFamily="34" charset="-120"/>
              </a:rPr>
              <a:t>Default:</a:t>
            </a:r>
            <a:r>
              <a:rPr lang="en-US" sz="1200" dirty="0">
                <a:solidFill>
                  <a:srgbClr val="E0E2E4">
                    <a:alpha val="70000"/>
                  </a:srgbClr>
                </a:solidFill>
                <a:latin typeface="MiSans" pitchFamily="34" charset="0"/>
                <a:ea typeface="MiSans" pitchFamily="34" charset="-122"/>
                <a:cs typeface="MiSans" pitchFamily="34" charset="-120"/>
              </a:rPr>
              <a:t> JVM进程隔离</a:t>
            </a:r>
            <a:endParaRPr lang="en-US" sz="1600" dirty="0"/>
          </a:p>
        </p:txBody>
      </p:sp>
      <p:sp>
        <p:nvSpPr>
          <p:cNvPr id="52" name="Shape 50"/>
          <p:cNvSpPr/>
          <p:nvPr/>
        </p:nvSpPr>
        <p:spPr>
          <a:xfrm>
            <a:off x="9908480" y="3263900"/>
            <a:ext cx="2590800" cy="304800"/>
          </a:xfrm>
          <a:custGeom>
            <a:avLst/>
            <a:gdLst/>
            <a:ahLst/>
            <a:cxnLst/>
            <a:rect l="l" t="t" r="r" b="b"/>
            <a:pathLst>
              <a:path w="2590800" h="304800">
                <a:moveTo>
                  <a:pt x="50801" y="0"/>
                </a:moveTo>
                <a:lnTo>
                  <a:pt x="2539999" y="0"/>
                </a:lnTo>
                <a:cubicBezTo>
                  <a:pt x="2568056" y="0"/>
                  <a:pt x="2590800" y="22744"/>
                  <a:pt x="2590800" y="50801"/>
                </a:cubicBezTo>
                <a:lnTo>
                  <a:pt x="2590800" y="253999"/>
                </a:lnTo>
                <a:cubicBezTo>
                  <a:pt x="2590800" y="282056"/>
                  <a:pt x="2568056" y="304800"/>
                  <a:pt x="2539999" y="304800"/>
                </a:cubicBezTo>
                <a:lnTo>
                  <a:pt x="50801" y="304800"/>
                </a:lnTo>
                <a:cubicBezTo>
                  <a:pt x="22744" y="304800"/>
                  <a:pt x="0" y="282056"/>
                  <a:pt x="0" y="253999"/>
                </a:cubicBezTo>
                <a:lnTo>
                  <a:pt x="0" y="50801"/>
                </a:lnTo>
                <a:cubicBezTo>
                  <a:pt x="0" y="22763"/>
                  <a:pt x="22763" y="0"/>
                  <a:pt x="50801" y="0"/>
                </a:cubicBezTo>
                <a:close/>
              </a:path>
            </a:pathLst>
          </a:custGeom>
          <a:solidFill>
            <a:srgbClr val="1A1D21">
              <a:alpha val="50196"/>
            </a:srgbClr>
          </a:solidFill>
          <a:ln/>
        </p:spPr>
        <p:txBody>
          <a:bodyPr/>
          <a:lstStyle/>
          <a:p>
            <a:endParaRPr lang="zh-CN" altLang="en-US"/>
          </a:p>
        </p:txBody>
      </p:sp>
      <p:sp>
        <p:nvSpPr>
          <p:cNvPr id="53" name="Text 51"/>
          <p:cNvSpPr/>
          <p:nvPr/>
        </p:nvSpPr>
        <p:spPr>
          <a:xfrm>
            <a:off x="9908480" y="3263900"/>
            <a:ext cx="2667000" cy="304800"/>
          </a:xfrm>
          <a:prstGeom prst="rect">
            <a:avLst/>
          </a:prstGeom>
          <a:noFill/>
          <a:ln/>
        </p:spPr>
        <p:txBody>
          <a:bodyPr wrap="square" lIns="50800" tIns="50800" rIns="50800" bIns="50800" rtlCol="0" anchor="ctr"/>
          <a:lstStyle/>
          <a:p>
            <a:pPr>
              <a:lnSpc>
                <a:spcPct val="110000"/>
              </a:lnSpc>
            </a:pPr>
            <a:r>
              <a:rPr lang="en-US" sz="1200" b="1" dirty="0">
                <a:solidFill>
                  <a:srgbClr val="3C8082"/>
                </a:solidFill>
                <a:latin typeface="MiSans" pitchFamily="34" charset="0"/>
                <a:ea typeface="MiSans" pitchFamily="34" charset="-122"/>
                <a:cs typeface="MiSans" pitchFamily="34" charset="-120"/>
              </a:rPr>
              <a:t>Linux:</a:t>
            </a:r>
            <a:r>
              <a:rPr lang="en-US" sz="1200" dirty="0">
                <a:solidFill>
                  <a:srgbClr val="E0E2E4">
                    <a:alpha val="70000"/>
                  </a:srgbClr>
                </a:solidFill>
                <a:latin typeface="MiSans" pitchFamily="34" charset="0"/>
                <a:ea typeface="MiSans" pitchFamily="34" charset="-122"/>
                <a:cs typeface="MiSans" pitchFamily="34" charset="-120"/>
              </a:rPr>
              <a:t> CGroups+Namespace</a:t>
            </a:r>
            <a:endParaRPr lang="en-US" sz="1600" dirty="0"/>
          </a:p>
        </p:txBody>
      </p:sp>
      <p:sp>
        <p:nvSpPr>
          <p:cNvPr id="54" name="Shape 52"/>
          <p:cNvSpPr/>
          <p:nvPr/>
        </p:nvSpPr>
        <p:spPr>
          <a:xfrm>
            <a:off x="9908480" y="3619500"/>
            <a:ext cx="2590800" cy="304800"/>
          </a:xfrm>
          <a:custGeom>
            <a:avLst/>
            <a:gdLst/>
            <a:ahLst/>
            <a:cxnLst/>
            <a:rect l="l" t="t" r="r" b="b"/>
            <a:pathLst>
              <a:path w="2590800" h="304800">
                <a:moveTo>
                  <a:pt x="50801" y="0"/>
                </a:moveTo>
                <a:lnTo>
                  <a:pt x="2539999" y="0"/>
                </a:lnTo>
                <a:cubicBezTo>
                  <a:pt x="2568056" y="0"/>
                  <a:pt x="2590800" y="22744"/>
                  <a:pt x="2590800" y="50801"/>
                </a:cubicBezTo>
                <a:lnTo>
                  <a:pt x="2590800" y="253999"/>
                </a:lnTo>
                <a:cubicBezTo>
                  <a:pt x="2590800" y="282056"/>
                  <a:pt x="2568056" y="304800"/>
                  <a:pt x="2539999" y="304800"/>
                </a:cubicBezTo>
                <a:lnTo>
                  <a:pt x="50801" y="304800"/>
                </a:lnTo>
                <a:cubicBezTo>
                  <a:pt x="22744" y="304800"/>
                  <a:pt x="0" y="282056"/>
                  <a:pt x="0" y="253999"/>
                </a:cubicBezTo>
                <a:lnTo>
                  <a:pt x="0" y="50801"/>
                </a:lnTo>
                <a:cubicBezTo>
                  <a:pt x="0" y="22763"/>
                  <a:pt x="22763" y="0"/>
                  <a:pt x="50801" y="0"/>
                </a:cubicBezTo>
                <a:close/>
              </a:path>
            </a:pathLst>
          </a:custGeom>
          <a:solidFill>
            <a:srgbClr val="1A1D21">
              <a:alpha val="50196"/>
            </a:srgbClr>
          </a:solidFill>
          <a:ln/>
        </p:spPr>
        <p:txBody>
          <a:bodyPr/>
          <a:lstStyle/>
          <a:p>
            <a:endParaRPr lang="zh-CN" altLang="en-US"/>
          </a:p>
        </p:txBody>
      </p:sp>
      <p:sp>
        <p:nvSpPr>
          <p:cNvPr id="55" name="Text 53"/>
          <p:cNvSpPr/>
          <p:nvPr/>
        </p:nvSpPr>
        <p:spPr>
          <a:xfrm>
            <a:off x="9908480" y="3619500"/>
            <a:ext cx="2667000" cy="304800"/>
          </a:xfrm>
          <a:prstGeom prst="rect">
            <a:avLst/>
          </a:prstGeom>
          <a:noFill/>
          <a:ln/>
        </p:spPr>
        <p:txBody>
          <a:bodyPr wrap="square" lIns="50800" tIns="50800" rIns="50800" bIns="50800" rtlCol="0" anchor="ctr"/>
          <a:lstStyle/>
          <a:p>
            <a:pPr>
              <a:lnSpc>
                <a:spcPct val="110000"/>
              </a:lnSpc>
            </a:pPr>
            <a:r>
              <a:rPr lang="en-US" sz="1200" b="1" dirty="0">
                <a:solidFill>
                  <a:srgbClr val="3C8082"/>
                </a:solidFill>
                <a:latin typeface="MiSans" pitchFamily="34" charset="0"/>
                <a:ea typeface="MiSans" pitchFamily="34" charset="-122"/>
                <a:cs typeface="MiSans" pitchFamily="34" charset="-120"/>
              </a:rPr>
              <a:t>Docker:</a:t>
            </a:r>
            <a:r>
              <a:rPr lang="en-US" sz="1200" dirty="0">
                <a:solidFill>
                  <a:srgbClr val="E0E2E4">
                    <a:alpha val="70000"/>
                  </a:srgbClr>
                </a:solidFill>
                <a:latin typeface="MiSans" pitchFamily="34" charset="0"/>
                <a:ea typeface="MiSans" pitchFamily="34" charset="-122"/>
                <a:cs typeface="MiSans" pitchFamily="34" charset="-120"/>
              </a:rPr>
              <a:t> 容器化隔离</a:t>
            </a:r>
            <a:endParaRPr lang="en-US" sz="1600" dirty="0"/>
          </a:p>
        </p:txBody>
      </p:sp>
      <p:sp>
        <p:nvSpPr>
          <p:cNvPr id="56" name="Shape 54"/>
          <p:cNvSpPr/>
          <p:nvPr/>
        </p:nvSpPr>
        <p:spPr>
          <a:xfrm>
            <a:off x="12828191" y="1682750"/>
            <a:ext cx="2908300" cy="4051300"/>
          </a:xfrm>
          <a:custGeom>
            <a:avLst/>
            <a:gdLst/>
            <a:ahLst/>
            <a:cxnLst/>
            <a:rect l="l" t="t" r="r" b="b"/>
            <a:pathLst>
              <a:path w="2908300" h="4051300">
                <a:moveTo>
                  <a:pt x="101587" y="0"/>
                </a:moveTo>
                <a:lnTo>
                  <a:pt x="2806713" y="0"/>
                </a:lnTo>
                <a:cubicBezTo>
                  <a:pt x="2862818" y="0"/>
                  <a:pt x="2908300" y="45482"/>
                  <a:pt x="2908300" y="101587"/>
                </a:cubicBezTo>
                <a:lnTo>
                  <a:pt x="2908300" y="3949713"/>
                </a:lnTo>
                <a:cubicBezTo>
                  <a:pt x="2908300" y="4005818"/>
                  <a:pt x="2862818" y="4051300"/>
                  <a:pt x="2806713" y="4051300"/>
                </a:cubicBezTo>
                <a:lnTo>
                  <a:pt x="101587" y="4051300"/>
                </a:lnTo>
                <a:cubicBezTo>
                  <a:pt x="45482" y="4051300"/>
                  <a:pt x="0" y="4005818"/>
                  <a:pt x="0" y="3949713"/>
                </a:cubicBezTo>
                <a:lnTo>
                  <a:pt x="0" y="101587"/>
                </a:lnTo>
                <a:cubicBezTo>
                  <a:pt x="0" y="45520"/>
                  <a:pt x="45520" y="0"/>
                  <a:pt x="101587"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57" name="Shape 55"/>
          <p:cNvSpPr/>
          <p:nvPr/>
        </p:nvSpPr>
        <p:spPr>
          <a:xfrm>
            <a:off x="14030821" y="1841500"/>
            <a:ext cx="508000" cy="508000"/>
          </a:xfrm>
          <a:custGeom>
            <a:avLst/>
            <a:gdLst/>
            <a:ahLst/>
            <a:cxnLst/>
            <a:rect l="l" t="t" r="r" b="b"/>
            <a:pathLst>
              <a:path w="508000" h="508000">
                <a:moveTo>
                  <a:pt x="101600" y="0"/>
                </a:moveTo>
                <a:lnTo>
                  <a:pt x="406400" y="0"/>
                </a:lnTo>
                <a:cubicBezTo>
                  <a:pt x="462475" y="0"/>
                  <a:pt x="508000" y="45525"/>
                  <a:pt x="508000" y="101600"/>
                </a:cubicBezTo>
                <a:lnTo>
                  <a:pt x="508000" y="406400"/>
                </a:lnTo>
                <a:cubicBezTo>
                  <a:pt x="508000" y="462475"/>
                  <a:pt x="462475" y="508000"/>
                  <a:pt x="406400" y="508000"/>
                </a:cubicBezTo>
                <a:lnTo>
                  <a:pt x="101600" y="508000"/>
                </a:lnTo>
                <a:cubicBezTo>
                  <a:pt x="45525" y="508000"/>
                  <a:pt x="0" y="462475"/>
                  <a:pt x="0" y="406400"/>
                </a:cubicBezTo>
                <a:lnTo>
                  <a:pt x="0" y="101600"/>
                </a:lnTo>
                <a:cubicBezTo>
                  <a:pt x="0" y="45525"/>
                  <a:pt x="45525" y="0"/>
                  <a:pt x="101600" y="0"/>
                </a:cubicBezTo>
                <a:close/>
              </a:path>
            </a:pathLst>
          </a:custGeom>
          <a:solidFill>
            <a:srgbClr val="3C8082"/>
          </a:solidFill>
          <a:ln/>
        </p:spPr>
        <p:txBody>
          <a:bodyPr/>
          <a:lstStyle/>
          <a:p>
            <a:endParaRPr lang="zh-CN" altLang="en-US"/>
          </a:p>
        </p:txBody>
      </p:sp>
      <p:sp>
        <p:nvSpPr>
          <p:cNvPr id="58" name="Shape 56"/>
          <p:cNvSpPr/>
          <p:nvPr/>
        </p:nvSpPr>
        <p:spPr>
          <a:xfrm>
            <a:off x="14173696" y="1981200"/>
            <a:ext cx="228600" cy="228600"/>
          </a:xfrm>
          <a:custGeom>
            <a:avLst/>
            <a:gdLst/>
            <a:ahLst/>
            <a:cxnLst/>
            <a:rect l="l" t="t" r="r" b="b"/>
            <a:pathLst>
              <a:path w="228600" h="228600">
                <a:moveTo>
                  <a:pt x="78581" y="10716"/>
                </a:moveTo>
                <a:cubicBezTo>
                  <a:pt x="78581" y="4777"/>
                  <a:pt x="73804" y="0"/>
                  <a:pt x="67866" y="0"/>
                </a:cubicBezTo>
                <a:cubicBezTo>
                  <a:pt x="61927" y="0"/>
                  <a:pt x="57150" y="4777"/>
                  <a:pt x="57150" y="10716"/>
                </a:cubicBezTo>
                <a:lnTo>
                  <a:pt x="57150" y="28575"/>
                </a:lnTo>
                <a:cubicBezTo>
                  <a:pt x="41389" y="28575"/>
                  <a:pt x="28575" y="41389"/>
                  <a:pt x="28575" y="57150"/>
                </a:cubicBezTo>
                <a:lnTo>
                  <a:pt x="10716" y="57150"/>
                </a:lnTo>
                <a:cubicBezTo>
                  <a:pt x="4777" y="57150"/>
                  <a:pt x="0" y="61927"/>
                  <a:pt x="0" y="67866"/>
                </a:cubicBezTo>
                <a:cubicBezTo>
                  <a:pt x="0" y="73804"/>
                  <a:pt x="4777" y="78581"/>
                  <a:pt x="10716" y="78581"/>
                </a:cubicBezTo>
                <a:lnTo>
                  <a:pt x="28575" y="78581"/>
                </a:lnTo>
                <a:lnTo>
                  <a:pt x="28575" y="103584"/>
                </a:lnTo>
                <a:lnTo>
                  <a:pt x="10716" y="103584"/>
                </a:lnTo>
                <a:cubicBezTo>
                  <a:pt x="4777" y="103584"/>
                  <a:pt x="0" y="108362"/>
                  <a:pt x="0" y="114300"/>
                </a:cubicBezTo>
                <a:cubicBezTo>
                  <a:pt x="0" y="120238"/>
                  <a:pt x="4777" y="125016"/>
                  <a:pt x="10716" y="125016"/>
                </a:cubicBezTo>
                <a:lnTo>
                  <a:pt x="28575" y="125016"/>
                </a:lnTo>
                <a:lnTo>
                  <a:pt x="28575" y="150019"/>
                </a:lnTo>
                <a:lnTo>
                  <a:pt x="10716" y="150019"/>
                </a:lnTo>
                <a:cubicBezTo>
                  <a:pt x="4777" y="150019"/>
                  <a:pt x="0" y="154796"/>
                  <a:pt x="0" y="160734"/>
                </a:cubicBezTo>
                <a:cubicBezTo>
                  <a:pt x="0" y="166673"/>
                  <a:pt x="4777" y="171450"/>
                  <a:pt x="10716" y="171450"/>
                </a:cubicBezTo>
                <a:lnTo>
                  <a:pt x="28575" y="171450"/>
                </a:lnTo>
                <a:cubicBezTo>
                  <a:pt x="28575" y="187211"/>
                  <a:pt x="41389" y="200025"/>
                  <a:pt x="57150" y="200025"/>
                </a:cubicBezTo>
                <a:lnTo>
                  <a:pt x="57150" y="217884"/>
                </a:lnTo>
                <a:cubicBezTo>
                  <a:pt x="57150" y="223823"/>
                  <a:pt x="61927" y="228600"/>
                  <a:pt x="67866" y="228600"/>
                </a:cubicBezTo>
                <a:cubicBezTo>
                  <a:pt x="73804" y="228600"/>
                  <a:pt x="78581" y="223823"/>
                  <a:pt x="78581" y="217884"/>
                </a:cubicBezTo>
                <a:lnTo>
                  <a:pt x="78581" y="200025"/>
                </a:lnTo>
                <a:lnTo>
                  <a:pt x="103584" y="200025"/>
                </a:lnTo>
                <a:lnTo>
                  <a:pt x="103584" y="217884"/>
                </a:lnTo>
                <a:cubicBezTo>
                  <a:pt x="103584" y="223823"/>
                  <a:pt x="108362" y="228600"/>
                  <a:pt x="114300" y="228600"/>
                </a:cubicBezTo>
                <a:cubicBezTo>
                  <a:pt x="120238" y="228600"/>
                  <a:pt x="125016" y="223823"/>
                  <a:pt x="125016" y="217884"/>
                </a:cubicBezTo>
                <a:lnTo>
                  <a:pt x="125016" y="200025"/>
                </a:lnTo>
                <a:lnTo>
                  <a:pt x="150019" y="200025"/>
                </a:lnTo>
                <a:lnTo>
                  <a:pt x="150019" y="217884"/>
                </a:lnTo>
                <a:cubicBezTo>
                  <a:pt x="150019" y="223823"/>
                  <a:pt x="154796" y="228600"/>
                  <a:pt x="160734" y="228600"/>
                </a:cubicBezTo>
                <a:cubicBezTo>
                  <a:pt x="166673" y="228600"/>
                  <a:pt x="171450" y="223823"/>
                  <a:pt x="171450" y="217884"/>
                </a:cubicBezTo>
                <a:lnTo>
                  <a:pt x="171450" y="200025"/>
                </a:lnTo>
                <a:cubicBezTo>
                  <a:pt x="187211" y="200025"/>
                  <a:pt x="200025" y="187211"/>
                  <a:pt x="200025" y="171450"/>
                </a:cubicBezTo>
                <a:lnTo>
                  <a:pt x="217884" y="171450"/>
                </a:lnTo>
                <a:cubicBezTo>
                  <a:pt x="223823" y="171450"/>
                  <a:pt x="228600" y="166673"/>
                  <a:pt x="228600" y="160734"/>
                </a:cubicBezTo>
                <a:cubicBezTo>
                  <a:pt x="228600" y="154796"/>
                  <a:pt x="223823" y="150019"/>
                  <a:pt x="217884" y="150019"/>
                </a:cubicBezTo>
                <a:lnTo>
                  <a:pt x="200025" y="150019"/>
                </a:lnTo>
                <a:lnTo>
                  <a:pt x="200025" y="125016"/>
                </a:lnTo>
                <a:lnTo>
                  <a:pt x="217884" y="125016"/>
                </a:lnTo>
                <a:cubicBezTo>
                  <a:pt x="223823" y="125016"/>
                  <a:pt x="228600" y="120238"/>
                  <a:pt x="228600" y="114300"/>
                </a:cubicBezTo>
                <a:cubicBezTo>
                  <a:pt x="228600" y="108362"/>
                  <a:pt x="223823" y="103584"/>
                  <a:pt x="217884" y="103584"/>
                </a:cubicBezTo>
                <a:lnTo>
                  <a:pt x="200025" y="103584"/>
                </a:lnTo>
                <a:lnTo>
                  <a:pt x="200025" y="78581"/>
                </a:lnTo>
                <a:lnTo>
                  <a:pt x="217884" y="78581"/>
                </a:lnTo>
                <a:cubicBezTo>
                  <a:pt x="223823" y="78581"/>
                  <a:pt x="228600" y="73804"/>
                  <a:pt x="228600" y="67866"/>
                </a:cubicBezTo>
                <a:cubicBezTo>
                  <a:pt x="228600" y="61927"/>
                  <a:pt x="223823" y="57150"/>
                  <a:pt x="217884" y="57150"/>
                </a:cubicBezTo>
                <a:lnTo>
                  <a:pt x="200025" y="57150"/>
                </a:lnTo>
                <a:cubicBezTo>
                  <a:pt x="200025" y="41389"/>
                  <a:pt x="187211" y="28575"/>
                  <a:pt x="171450" y="28575"/>
                </a:cubicBezTo>
                <a:lnTo>
                  <a:pt x="171450" y="10716"/>
                </a:lnTo>
                <a:cubicBezTo>
                  <a:pt x="171450" y="4777"/>
                  <a:pt x="166673" y="0"/>
                  <a:pt x="160734" y="0"/>
                </a:cubicBezTo>
                <a:cubicBezTo>
                  <a:pt x="154796" y="0"/>
                  <a:pt x="150019" y="4777"/>
                  <a:pt x="150019" y="10716"/>
                </a:cubicBezTo>
                <a:lnTo>
                  <a:pt x="150019" y="28575"/>
                </a:lnTo>
                <a:lnTo>
                  <a:pt x="125016" y="28575"/>
                </a:lnTo>
                <a:lnTo>
                  <a:pt x="125016" y="10716"/>
                </a:lnTo>
                <a:cubicBezTo>
                  <a:pt x="125016" y="4777"/>
                  <a:pt x="120238" y="0"/>
                  <a:pt x="114300" y="0"/>
                </a:cubicBezTo>
                <a:cubicBezTo>
                  <a:pt x="108362" y="0"/>
                  <a:pt x="103584" y="4777"/>
                  <a:pt x="103584" y="10716"/>
                </a:cubicBezTo>
                <a:lnTo>
                  <a:pt x="103584" y="28575"/>
                </a:lnTo>
                <a:lnTo>
                  <a:pt x="78581" y="28575"/>
                </a:lnTo>
                <a:lnTo>
                  <a:pt x="78581" y="10716"/>
                </a:lnTo>
                <a:close/>
                <a:moveTo>
                  <a:pt x="71438" y="57150"/>
                </a:moveTo>
                <a:lnTo>
                  <a:pt x="157163" y="57150"/>
                </a:lnTo>
                <a:cubicBezTo>
                  <a:pt x="165065" y="57150"/>
                  <a:pt x="171450" y="63535"/>
                  <a:pt x="171450" y="71438"/>
                </a:cubicBezTo>
                <a:lnTo>
                  <a:pt x="171450" y="157163"/>
                </a:lnTo>
                <a:cubicBezTo>
                  <a:pt x="171450" y="165065"/>
                  <a:pt x="165065" y="171450"/>
                  <a:pt x="157163" y="171450"/>
                </a:cubicBezTo>
                <a:lnTo>
                  <a:pt x="71438" y="171450"/>
                </a:lnTo>
                <a:cubicBezTo>
                  <a:pt x="63535" y="171450"/>
                  <a:pt x="57150" y="165065"/>
                  <a:pt x="57150" y="157163"/>
                </a:cubicBezTo>
                <a:lnTo>
                  <a:pt x="57150" y="71438"/>
                </a:lnTo>
                <a:cubicBezTo>
                  <a:pt x="57150" y="63535"/>
                  <a:pt x="63535" y="57150"/>
                  <a:pt x="71438" y="57150"/>
                </a:cubicBezTo>
                <a:close/>
                <a:moveTo>
                  <a:pt x="78581" y="78581"/>
                </a:moveTo>
                <a:lnTo>
                  <a:pt x="78581" y="150019"/>
                </a:lnTo>
                <a:lnTo>
                  <a:pt x="150019" y="150019"/>
                </a:lnTo>
                <a:lnTo>
                  <a:pt x="150019" y="78581"/>
                </a:lnTo>
                <a:lnTo>
                  <a:pt x="78581" y="78581"/>
                </a:lnTo>
                <a:close/>
              </a:path>
            </a:pathLst>
          </a:custGeom>
          <a:solidFill>
            <a:srgbClr val="FFFFFF"/>
          </a:solidFill>
          <a:ln/>
        </p:spPr>
        <p:txBody>
          <a:bodyPr/>
          <a:lstStyle/>
          <a:p>
            <a:endParaRPr lang="zh-CN" altLang="en-US"/>
          </a:p>
        </p:txBody>
      </p:sp>
      <p:sp>
        <p:nvSpPr>
          <p:cNvPr id="59" name="Text 57"/>
          <p:cNvSpPr/>
          <p:nvPr/>
        </p:nvSpPr>
        <p:spPr>
          <a:xfrm>
            <a:off x="12929791" y="2451100"/>
            <a:ext cx="2705100" cy="355600"/>
          </a:xfrm>
          <a:prstGeom prst="rect">
            <a:avLst/>
          </a:prstGeom>
          <a:noFill/>
          <a:ln/>
        </p:spPr>
        <p:txBody>
          <a:bodyPr wrap="square" lIns="0" tIns="0" rIns="0" bIns="0" rtlCol="0" anchor="ctr"/>
          <a:lstStyle/>
          <a:p>
            <a:pPr algn="ctr">
              <a:lnSpc>
                <a:spcPct val="130000"/>
              </a:lnSpc>
            </a:pPr>
            <a:r>
              <a:rPr lang="en-US" sz="1800" b="1" dirty="0">
                <a:solidFill>
                  <a:srgbClr val="E0E2E4"/>
                </a:solidFill>
                <a:latin typeface="MiSans" pitchFamily="34" charset="0"/>
                <a:ea typeface="MiSans" pitchFamily="34" charset="-122"/>
                <a:cs typeface="MiSans" pitchFamily="34" charset="-120"/>
              </a:rPr>
              <a:t>Linux内核隔离层</a:t>
            </a:r>
            <a:endParaRPr lang="en-US" sz="1600" dirty="0"/>
          </a:p>
        </p:txBody>
      </p:sp>
      <p:sp>
        <p:nvSpPr>
          <p:cNvPr id="60" name="Shape 58"/>
          <p:cNvSpPr/>
          <p:nvPr/>
        </p:nvSpPr>
        <p:spPr>
          <a:xfrm>
            <a:off x="12986941" y="2908300"/>
            <a:ext cx="2590800" cy="304800"/>
          </a:xfrm>
          <a:custGeom>
            <a:avLst/>
            <a:gdLst/>
            <a:ahLst/>
            <a:cxnLst/>
            <a:rect l="l" t="t" r="r" b="b"/>
            <a:pathLst>
              <a:path w="2590800" h="304800">
                <a:moveTo>
                  <a:pt x="50801" y="0"/>
                </a:moveTo>
                <a:lnTo>
                  <a:pt x="2539999" y="0"/>
                </a:lnTo>
                <a:cubicBezTo>
                  <a:pt x="2568056" y="0"/>
                  <a:pt x="2590800" y="22744"/>
                  <a:pt x="2590800" y="50801"/>
                </a:cubicBezTo>
                <a:lnTo>
                  <a:pt x="2590800" y="253999"/>
                </a:lnTo>
                <a:cubicBezTo>
                  <a:pt x="2590800" y="282056"/>
                  <a:pt x="2568056" y="304800"/>
                  <a:pt x="2539999" y="304800"/>
                </a:cubicBezTo>
                <a:lnTo>
                  <a:pt x="50801" y="304800"/>
                </a:lnTo>
                <a:cubicBezTo>
                  <a:pt x="22744" y="304800"/>
                  <a:pt x="0" y="282056"/>
                  <a:pt x="0" y="253999"/>
                </a:cubicBezTo>
                <a:lnTo>
                  <a:pt x="0" y="50801"/>
                </a:lnTo>
                <a:cubicBezTo>
                  <a:pt x="0" y="22763"/>
                  <a:pt x="22763" y="0"/>
                  <a:pt x="50801" y="0"/>
                </a:cubicBezTo>
                <a:close/>
              </a:path>
            </a:pathLst>
          </a:custGeom>
          <a:solidFill>
            <a:srgbClr val="1A1D21">
              <a:alpha val="50196"/>
            </a:srgbClr>
          </a:solidFill>
          <a:ln/>
        </p:spPr>
        <p:txBody>
          <a:bodyPr/>
          <a:lstStyle/>
          <a:p>
            <a:endParaRPr lang="zh-CN" altLang="en-US"/>
          </a:p>
        </p:txBody>
      </p:sp>
      <p:sp>
        <p:nvSpPr>
          <p:cNvPr id="61" name="Text 59"/>
          <p:cNvSpPr/>
          <p:nvPr/>
        </p:nvSpPr>
        <p:spPr>
          <a:xfrm>
            <a:off x="12986941" y="2908300"/>
            <a:ext cx="2667000" cy="304800"/>
          </a:xfrm>
          <a:prstGeom prst="rect">
            <a:avLst/>
          </a:prstGeom>
          <a:noFill/>
          <a:ln/>
        </p:spPr>
        <p:txBody>
          <a:bodyPr wrap="square" lIns="50800" tIns="50800" rIns="50800" bIns="50800" rtlCol="0" anchor="ctr"/>
          <a:lstStyle/>
          <a:p>
            <a:pPr>
              <a:lnSpc>
                <a:spcPct val="110000"/>
              </a:lnSpc>
            </a:pPr>
            <a:r>
              <a:rPr lang="en-US" sz="1200" b="1" dirty="0">
                <a:solidFill>
                  <a:srgbClr val="B38B59"/>
                </a:solidFill>
                <a:latin typeface="MiSans" pitchFamily="34" charset="0"/>
                <a:ea typeface="MiSans" pitchFamily="34" charset="-122"/>
                <a:cs typeface="MiSans" pitchFamily="34" charset="-120"/>
              </a:rPr>
              <a:t>Namespaces:</a:t>
            </a:r>
            <a:r>
              <a:rPr lang="en-US" sz="1200" dirty="0">
                <a:solidFill>
                  <a:srgbClr val="E0E2E4">
                    <a:alpha val="70000"/>
                  </a:srgbClr>
                </a:solidFill>
                <a:latin typeface="MiSans" pitchFamily="34" charset="0"/>
                <a:ea typeface="MiSans" pitchFamily="34" charset="-122"/>
                <a:cs typeface="MiSans" pitchFamily="34" charset="-120"/>
              </a:rPr>
              <a:t> PID/Network/Mount</a:t>
            </a:r>
            <a:endParaRPr lang="en-US" sz="1600" dirty="0"/>
          </a:p>
        </p:txBody>
      </p:sp>
      <p:sp>
        <p:nvSpPr>
          <p:cNvPr id="62" name="Shape 60"/>
          <p:cNvSpPr/>
          <p:nvPr/>
        </p:nvSpPr>
        <p:spPr>
          <a:xfrm>
            <a:off x="12986941" y="3263900"/>
            <a:ext cx="2590800" cy="304800"/>
          </a:xfrm>
          <a:custGeom>
            <a:avLst/>
            <a:gdLst/>
            <a:ahLst/>
            <a:cxnLst/>
            <a:rect l="l" t="t" r="r" b="b"/>
            <a:pathLst>
              <a:path w="2590800" h="304800">
                <a:moveTo>
                  <a:pt x="50801" y="0"/>
                </a:moveTo>
                <a:lnTo>
                  <a:pt x="2539999" y="0"/>
                </a:lnTo>
                <a:cubicBezTo>
                  <a:pt x="2568056" y="0"/>
                  <a:pt x="2590800" y="22744"/>
                  <a:pt x="2590800" y="50801"/>
                </a:cubicBezTo>
                <a:lnTo>
                  <a:pt x="2590800" y="253999"/>
                </a:lnTo>
                <a:cubicBezTo>
                  <a:pt x="2590800" y="282056"/>
                  <a:pt x="2568056" y="304800"/>
                  <a:pt x="2539999" y="304800"/>
                </a:cubicBezTo>
                <a:lnTo>
                  <a:pt x="50801" y="304800"/>
                </a:lnTo>
                <a:cubicBezTo>
                  <a:pt x="22744" y="304800"/>
                  <a:pt x="0" y="282056"/>
                  <a:pt x="0" y="253999"/>
                </a:cubicBezTo>
                <a:lnTo>
                  <a:pt x="0" y="50801"/>
                </a:lnTo>
                <a:cubicBezTo>
                  <a:pt x="0" y="22763"/>
                  <a:pt x="22763" y="0"/>
                  <a:pt x="50801" y="0"/>
                </a:cubicBezTo>
                <a:close/>
              </a:path>
            </a:pathLst>
          </a:custGeom>
          <a:solidFill>
            <a:srgbClr val="1A1D21">
              <a:alpha val="50196"/>
            </a:srgbClr>
          </a:solidFill>
          <a:ln/>
        </p:spPr>
        <p:txBody>
          <a:bodyPr/>
          <a:lstStyle/>
          <a:p>
            <a:endParaRPr lang="zh-CN" altLang="en-US"/>
          </a:p>
        </p:txBody>
      </p:sp>
      <p:sp>
        <p:nvSpPr>
          <p:cNvPr id="63" name="Text 61"/>
          <p:cNvSpPr/>
          <p:nvPr/>
        </p:nvSpPr>
        <p:spPr>
          <a:xfrm>
            <a:off x="12986941" y="3263900"/>
            <a:ext cx="2667000" cy="304800"/>
          </a:xfrm>
          <a:prstGeom prst="rect">
            <a:avLst/>
          </a:prstGeom>
          <a:noFill/>
          <a:ln/>
        </p:spPr>
        <p:txBody>
          <a:bodyPr wrap="square" lIns="50800" tIns="50800" rIns="50800" bIns="50800" rtlCol="0" anchor="ctr"/>
          <a:lstStyle/>
          <a:p>
            <a:pPr>
              <a:lnSpc>
                <a:spcPct val="110000"/>
              </a:lnSpc>
            </a:pPr>
            <a:r>
              <a:rPr lang="en-US" sz="1200" b="1" dirty="0">
                <a:solidFill>
                  <a:srgbClr val="B38B59"/>
                </a:solidFill>
                <a:latin typeface="MiSans" pitchFamily="34" charset="0"/>
                <a:ea typeface="MiSans" pitchFamily="34" charset="-122"/>
                <a:cs typeface="MiSans" pitchFamily="34" charset="-120"/>
              </a:rPr>
              <a:t>CGroups:</a:t>
            </a:r>
            <a:r>
              <a:rPr lang="en-US" sz="1200" dirty="0">
                <a:solidFill>
                  <a:srgbClr val="E0E2E4">
                    <a:alpha val="70000"/>
                  </a:srgbClr>
                </a:solidFill>
                <a:latin typeface="MiSans" pitchFamily="34" charset="0"/>
                <a:ea typeface="MiSans" pitchFamily="34" charset="-122"/>
                <a:cs typeface="MiSans" pitchFamily="34" charset="-120"/>
              </a:rPr>
              <a:t> CPU/Memory/I/O</a:t>
            </a:r>
            <a:endParaRPr lang="en-US" sz="1600" dirty="0"/>
          </a:p>
        </p:txBody>
      </p:sp>
      <p:sp>
        <p:nvSpPr>
          <p:cNvPr id="64" name="Shape 62"/>
          <p:cNvSpPr/>
          <p:nvPr/>
        </p:nvSpPr>
        <p:spPr>
          <a:xfrm>
            <a:off x="12986941" y="3619500"/>
            <a:ext cx="2590800" cy="304800"/>
          </a:xfrm>
          <a:custGeom>
            <a:avLst/>
            <a:gdLst/>
            <a:ahLst/>
            <a:cxnLst/>
            <a:rect l="l" t="t" r="r" b="b"/>
            <a:pathLst>
              <a:path w="2590800" h="304800">
                <a:moveTo>
                  <a:pt x="50801" y="0"/>
                </a:moveTo>
                <a:lnTo>
                  <a:pt x="2539999" y="0"/>
                </a:lnTo>
                <a:cubicBezTo>
                  <a:pt x="2568056" y="0"/>
                  <a:pt x="2590800" y="22744"/>
                  <a:pt x="2590800" y="50801"/>
                </a:cubicBezTo>
                <a:lnTo>
                  <a:pt x="2590800" y="253999"/>
                </a:lnTo>
                <a:cubicBezTo>
                  <a:pt x="2590800" y="282056"/>
                  <a:pt x="2568056" y="304800"/>
                  <a:pt x="2539999" y="304800"/>
                </a:cubicBezTo>
                <a:lnTo>
                  <a:pt x="50801" y="304800"/>
                </a:lnTo>
                <a:cubicBezTo>
                  <a:pt x="22744" y="304800"/>
                  <a:pt x="0" y="282056"/>
                  <a:pt x="0" y="253999"/>
                </a:cubicBezTo>
                <a:lnTo>
                  <a:pt x="0" y="50801"/>
                </a:lnTo>
                <a:cubicBezTo>
                  <a:pt x="0" y="22763"/>
                  <a:pt x="22763" y="0"/>
                  <a:pt x="50801" y="0"/>
                </a:cubicBezTo>
                <a:close/>
              </a:path>
            </a:pathLst>
          </a:custGeom>
          <a:solidFill>
            <a:srgbClr val="1A1D21">
              <a:alpha val="50196"/>
            </a:srgbClr>
          </a:solidFill>
          <a:ln/>
        </p:spPr>
        <p:txBody>
          <a:bodyPr/>
          <a:lstStyle/>
          <a:p>
            <a:endParaRPr lang="zh-CN" altLang="en-US"/>
          </a:p>
        </p:txBody>
      </p:sp>
      <p:sp>
        <p:nvSpPr>
          <p:cNvPr id="65" name="Text 63"/>
          <p:cNvSpPr/>
          <p:nvPr/>
        </p:nvSpPr>
        <p:spPr>
          <a:xfrm>
            <a:off x="12986941" y="3619500"/>
            <a:ext cx="2667000" cy="304800"/>
          </a:xfrm>
          <a:prstGeom prst="rect">
            <a:avLst/>
          </a:prstGeom>
          <a:noFill/>
          <a:ln/>
        </p:spPr>
        <p:txBody>
          <a:bodyPr wrap="square" lIns="50800" tIns="50800" rIns="50800" bIns="50800" rtlCol="0" anchor="ctr"/>
          <a:lstStyle/>
          <a:p>
            <a:pPr>
              <a:lnSpc>
                <a:spcPct val="110000"/>
              </a:lnSpc>
            </a:pPr>
            <a:r>
              <a:rPr lang="en-US" sz="1200" b="1" dirty="0">
                <a:solidFill>
                  <a:srgbClr val="B38B59"/>
                </a:solidFill>
                <a:latin typeface="MiSans" pitchFamily="34" charset="0"/>
                <a:ea typeface="MiSans" pitchFamily="34" charset="-122"/>
                <a:cs typeface="MiSans" pitchFamily="34" charset="-120"/>
              </a:rPr>
              <a:t>Security:</a:t>
            </a:r>
            <a:r>
              <a:rPr lang="en-US" sz="1200" dirty="0">
                <a:solidFill>
                  <a:srgbClr val="E0E2E4">
                    <a:alpha val="70000"/>
                  </a:srgbClr>
                </a:solidFill>
                <a:latin typeface="MiSans" pitchFamily="34" charset="0"/>
                <a:ea typeface="MiSans" pitchFamily="34" charset="-122"/>
                <a:cs typeface="MiSans" pitchFamily="34" charset="-120"/>
              </a:rPr>
              <a:t> Capabilities/SELinux</a:t>
            </a:r>
            <a:endParaRPr lang="en-US" sz="1600" dirty="0"/>
          </a:p>
        </p:txBody>
      </p:sp>
      <p:sp>
        <p:nvSpPr>
          <p:cNvPr id="66" name="Shape 64"/>
          <p:cNvSpPr/>
          <p:nvPr/>
        </p:nvSpPr>
        <p:spPr>
          <a:xfrm>
            <a:off x="12986941" y="3975100"/>
            <a:ext cx="2590800" cy="304800"/>
          </a:xfrm>
          <a:custGeom>
            <a:avLst/>
            <a:gdLst/>
            <a:ahLst/>
            <a:cxnLst/>
            <a:rect l="l" t="t" r="r" b="b"/>
            <a:pathLst>
              <a:path w="2590800" h="304800">
                <a:moveTo>
                  <a:pt x="50801" y="0"/>
                </a:moveTo>
                <a:lnTo>
                  <a:pt x="2539999" y="0"/>
                </a:lnTo>
                <a:cubicBezTo>
                  <a:pt x="2568056" y="0"/>
                  <a:pt x="2590800" y="22744"/>
                  <a:pt x="2590800" y="50801"/>
                </a:cubicBezTo>
                <a:lnTo>
                  <a:pt x="2590800" y="253999"/>
                </a:lnTo>
                <a:cubicBezTo>
                  <a:pt x="2590800" y="282056"/>
                  <a:pt x="2568056" y="304800"/>
                  <a:pt x="2539999" y="304800"/>
                </a:cubicBezTo>
                <a:lnTo>
                  <a:pt x="50801" y="304800"/>
                </a:lnTo>
                <a:cubicBezTo>
                  <a:pt x="22744" y="304800"/>
                  <a:pt x="0" y="282056"/>
                  <a:pt x="0" y="253999"/>
                </a:cubicBezTo>
                <a:lnTo>
                  <a:pt x="0" y="50801"/>
                </a:lnTo>
                <a:cubicBezTo>
                  <a:pt x="0" y="22763"/>
                  <a:pt x="22763" y="0"/>
                  <a:pt x="50801" y="0"/>
                </a:cubicBezTo>
                <a:close/>
              </a:path>
            </a:pathLst>
          </a:custGeom>
          <a:solidFill>
            <a:srgbClr val="1A1D21">
              <a:alpha val="50196"/>
            </a:srgbClr>
          </a:solidFill>
          <a:ln/>
        </p:spPr>
        <p:txBody>
          <a:bodyPr/>
          <a:lstStyle/>
          <a:p>
            <a:endParaRPr lang="zh-CN" altLang="en-US"/>
          </a:p>
        </p:txBody>
      </p:sp>
      <p:sp>
        <p:nvSpPr>
          <p:cNvPr id="67" name="Text 65"/>
          <p:cNvSpPr/>
          <p:nvPr/>
        </p:nvSpPr>
        <p:spPr>
          <a:xfrm>
            <a:off x="12986941" y="3975100"/>
            <a:ext cx="2667000" cy="304800"/>
          </a:xfrm>
          <a:prstGeom prst="rect">
            <a:avLst/>
          </a:prstGeom>
          <a:noFill/>
          <a:ln/>
        </p:spPr>
        <p:txBody>
          <a:bodyPr wrap="square" lIns="50800" tIns="50800" rIns="50800" bIns="50800" rtlCol="0" anchor="ctr"/>
          <a:lstStyle/>
          <a:p>
            <a:pPr>
              <a:lnSpc>
                <a:spcPct val="110000"/>
              </a:lnSpc>
            </a:pPr>
            <a:r>
              <a:rPr lang="en-US" sz="1200" b="1" dirty="0">
                <a:solidFill>
                  <a:srgbClr val="B38B59"/>
                </a:solidFill>
                <a:latin typeface="MiSans" pitchFamily="34" charset="0"/>
                <a:ea typeface="MiSans" pitchFamily="34" charset="-122"/>
                <a:cs typeface="MiSans" pitchFamily="34" charset="-120"/>
              </a:rPr>
              <a:t>Networking:</a:t>
            </a:r>
            <a:r>
              <a:rPr lang="en-US" sz="1200" dirty="0">
                <a:solidFill>
                  <a:srgbClr val="E0E2E4">
                    <a:alpha val="70000"/>
                  </a:srgbClr>
                </a:solidFill>
                <a:latin typeface="MiSans" pitchFamily="34" charset="0"/>
                <a:ea typeface="MiSans" pitchFamily="34" charset="-122"/>
                <a:cs typeface="MiSans" pitchFamily="34" charset="-120"/>
              </a:rPr>
              <a:t> 虚拟网络/流量控制</a:t>
            </a:r>
            <a:endParaRPr lang="en-US" sz="1600" dirty="0"/>
          </a:p>
        </p:txBody>
      </p:sp>
      <p:sp>
        <p:nvSpPr>
          <p:cNvPr id="68" name="Shape 66"/>
          <p:cNvSpPr/>
          <p:nvPr/>
        </p:nvSpPr>
        <p:spPr>
          <a:xfrm>
            <a:off x="514350" y="5848350"/>
            <a:ext cx="4965700" cy="2197100"/>
          </a:xfrm>
          <a:custGeom>
            <a:avLst/>
            <a:gdLst/>
            <a:ahLst/>
            <a:cxnLst/>
            <a:rect l="l" t="t" r="r" b="b"/>
            <a:pathLst>
              <a:path w="4965700" h="2197100">
                <a:moveTo>
                  <a:pt x="101594" y="0"/>
                </a:moveTo>
                <a:lnTo>
                  <a:pt x="4864106" y="0"/>
                </a:lnTo>
                <a:cubicBezTo>
                  <a:pt x="4920215" y="0"/>
                  <a:pt x="4965700" y="45485"/>
                  <a:pt x="4965700" y="101594"/>
                </a:cubicBezTo>
                <a:lnTo>
                  <a:pt x="4965700" y="2095506"/>
                </a:lnTo>
                <a:cubicBezTo>
                  <a:pt x="4965700" y="2151615"/>
                  <a:pt x="4920215" y="2197100"/>
                  <a:pt x="4864106" y="2197100"/>
                </a:cubicBezTo>
                <a:lnTo>
                  <a:pt x="101594" y="2197100"/>
                </a:lnTo>
                <a:cubicBezTo>
                  <a:pt x="45485" y="2197100"/>
                  <a:pt x="0" y="2151615"/>
                  <a:pt x="0" y="2095506"/>
                </a:cubicBezTo>
                <a:lnTo>
                  <a:pt x="0" y="101594"/>
                </a:lnTo>
                <a:cubicBezTo>
                  <a:pt x="0" y="45523"/>
                  <a:pt x="45523" y="0"/>
                  <a:pt x="101594"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9" name="Text 67"/>
          <p:cNvSpPr/>
          <p:nvPr/>
        </p:nvSpPr>
        <p:spPr>
          <a:xfrm>
            <a:off x="673100" y="6007100"/>
            <a:ext cx="4762500" cy="355600"/>
          </a:xfrm>
          <a:prstGeom prst="rect">
            <a:avLst/>
          </a:prstGeom>
          <a:noFill/>
          <a:ln/>
        </p:spPr>
        <p:txBody>
          <a:bodyPr wrap="square" lIns="0" tIns="0" rIns="0" bIns="0" rtlCol="0" anchor="ctr"/>
          <a:lstStyle/>
          <a:p>
            <a:pPr>
              <a:lnSpc>
                <a:spcPct val="130000"/>
              </a:lnSpc>
            </a:pPr>
            <a:r>
              <a:rPr lang="en-US" sz="1800" b="1" dirty="0">
                <a:solidFill>
                  <a:srgbClr val="E0E2E4"/>
                </a:solidFill>
                <a:latin typeface="MiSans" pitchFamily="34" charset="0"/>
                <a:ea typeface="MiSans" pitchFamily="34" charset="-122"/>
                <a:cs typeface="MiSans" pitchFamily="34" charset="-120"/>
              </a:rPr>
              <a:t>架构设计特点</a:t>
            </a:r>
            <a:endParaRPr lang="en-US" sz="1600" dirty="0"/>
          </a:p>
        </p:txBody>
      </p:sp>
      <p:sp>
        <p:nvSpPr>
          <p:cNvPr id="70" name="Shape 68"/>
          <p:cNvSpPr/>
          <p:nvPr/>
        </p:nvSpPr>
        <p:spPr>
          <a:xfrm>
            <a:off x="709613" y="6515100"/>
            <a:ext cx="155575" cy="177800"/>
          </a:xfrm>
          <a:custGeom>
            <a:avLst/>
            <a:gdLst/>
            <a:ahLst/>
            <a:cxnLst/>
            <a:rect l="l" t="t" r="r" b="b"/>
            <a:pathLst>
              <a:path w="155575" h="177800">
                <a:moveTo>
                  <a:pt x="150991" y="24343"/>
                </a:moveTo>
                <a:cubicBezTo>
                  <a:pt x="155957" y="27955"/>
                  <a:pt x="157068" y="34900"/>
                  <a:pt x="153457" y="39866"/>
                </a:cubicBezTo>
                <a:lnTo>
                  <a:pt x="64557" y="162104"/>
                </a:lnTo>
                <a:cubicBezTo>
                  <a:pt x="62647" y="164743"/>
                  <a:pt x="59695" y="166375"/>
                  <a:pt x="56431" y="166653"/>
                </a:cubicBezTo>
                <a:cubicBezTo>
                  <a:pt x="53166" y="166931"/>
                  <a:pt x="50006" y="165715"/>
                  <a:pt x="47714" y="163423"/>
                </a:cubicBezTo>
                <a:lnTo>
                  <a:pt x="3264" y="118973"/>
                </a:lnTo>
                <a:cubicBezTo>
                  <a:pt x="-1077" y="114632"/>
                  <a:pt x="-1077" y="107583"/>
                  <a:pt x="3264" y="103242"/>
                </a:cubicBezTo>
                <a:cubicBezTo>
                  <a:pt x="7605" y="98901"/>
                  <a:pt x="14655" y="98901"/>
                  <a:pt x="18995" y="103242"/>
                </a:cubicBezTo>
                <a:lnTo>
                  <a:pt x="54243" y="138490"/>
                </a:lnTo>
                <a:lnTo>
                  <a:pt x="135503" y="26774"/>
                </a:lnTo>
                <a:cubicBezTo>
                  <a:pt x="139115" y="21808"/>
                  <a:pt x="146060" y="20697"/>
                  <a:pt x="151026" y="24309"/>
                </a:cubicBezTo>
                <a:close/>
              </a:path>
            </a:pathLst>
          </a:custGeom>
          <a:solidFill>
            <a:srgbClr val="B38B59"/>
          </a:solidFill>
          <a:ln/>
        </p:spPr>
        <p:txBody>
          <a:bodyPr/>
          <a:lstStyle/>
          <a:p>
            <a:endParaRPr lang="zh-CN" altLang="en-US"/>
          </a:p>
        </p:txBody>
      </p:sp>
      <p:sp>
        <p:nvSpPr>
          <p:cNvPr id="71" name="Text 69"/>
          <p:cNvSpPr/>
          <p:nvPr/>
        </p:nvSpPr>
        <p:spPr>
          <a:xfrm>
            <a:off x="996950" y="6464300"/>
            <a:ext cx="3733800" cy="254000"/>
          </a:xfrm>
          <a:prstGeom prst="rect">
            <a:avLst/>
          </a:prstGeom>
          <a:noFill/>
          <a:ln/>
        </p:spPr>
        <p:txBody>
          <a:bodyPr wrap="square" lIns="0" tIns="0" rIns="0" bIns="0" rtlCol="0" anchor="ctr"/>
          <a:lstStyle/>
          <a:p>
            <a:pPr>
              <a:lnSpc>
                <a:spcPct val="120000"/>
              </a:lnSpc>
            </a:pPr>
            <a:r>
              <a:rPr lang="en-US" sz="1400" b="1" dirty="0">
                <a:solidFill>
                  <a:srgbClr val="E0E2E4"/>
                </a:solidFill>
                <a:latin typeface="MiSans" pitchFamily="34" charset="0"/>
                <a:ea typeface="MiSans" pitchFamily="34" charset="-122"/>
                <a:cs typeface="MiSans" pitchFamily="34" charset="-120"/>
              </a:rPr>
              <a:t>分层隔离:</a:t>
            </a:r>
            <a:r>
              <a:rPr lang="en-US" sz="1400" dirty="0">
                <a:solidFill>
                  <a:srgbClr val="E0E2E4">
                    <a:alpha val="80000"/>
                  </a:srgbClr>
                </a:solidFill>
                <a:latin typeface="MiSans" pitchFamily="34" charset="0"/>
                <a:ea typeface="MiSans" pitchFamily="34" charset="-122"/>
                <a:cs typeface="MiSans" pitchFamily="34" charset="-120"/>
              </a:rPr>
              <a:t> 从应用层到内核层的多层次隔离体系</a:t>
            </a:r>
            <a:endParaRPr lang="en-US" sz="1600" dirty="0"/>
          </a:p>
        </p:txBody>
      </p:sp>
      <p:sp>
        <p:nvSpPr>
          <p:cNvPr id="72" name="Shape 70"/>
          <p:cNvSpPr/>
          <p:nvPr/>
        </p:nvSpPr>
        <p:spPr>
          <a:xfrm>
            <a:off x="709613" y="6845300"/>
            <a:ext cx="155575" cy="177800"/>
          </a:xfrm>
          <a:custGeom>
            <a:avLst/>
            <a:gdLst/>
            <a:ahLst/>
            <a:cxnLst/>
            <a:rect l="l" t="t" r="r" b="b"/>
            <a:pathLst>
              <a:path w="155575" h="177800">
                <a:moveTo>
                  <a:pt x="150991" y="24343"/>
                </a:moveTo>
                <a:cubicBezTo>
                  <a:pt x="155957" y="27955"/>
                  <a:pt x="157068" y="34900"/>
                  <a:pt x="153457" y="39866"/>
                </a:cubicBezTo>
                <a:lnTo>
                  <a:pt x="64557" y="162104"/>
                </a:lnTo>
                <a:cubicBezTo>
                  <a:pt x="62647" y="164743"/>
                  <a:pt x="59695" y="166375"/>
                  <a:pt x="56431" y="166653"/>
                </a:cubicBezTo>
                <a:cubicBezTo>
                  <a:pt x="53166" y="166931"/>
                  <a:pt x="50006" y="165715"/>
                  <a:pt x="47714" y="163423"/>
                </a:cubicBezTo>
                <a:lnTo>
                  <a:pt x="3264" y="118973"/>
                </a:lnTo>
                <a:cubicBezTo>
                  <a:pt x="-1077" y="114632"/>
                  <a:pt x="-1077" y="107583"/>
                  <a:pt x="3264" y="103242"/>
                </a:cubicBezTo>
                <a:cubicBezTo>
                  <a:pt x="7605" y="98901"/>
                  <a:pt x="14655" y="98901"/>
                  <a:pt x="18995" y="103242"/>
                </a:cubicBezTo>
                <a:lnTo>
                  <a:pt x="54243" y="138490"/>
                </a:lnTo>
                <a:lnTo>
                  <a:pt x="135503" y="26774"/>
                </a:lnTo>
                <a:cubicBezTo>
                  <a:pt x="139115" y="21808"/>
                  <a:pt x="146060" y="20697"/>
                  <a:pt x="151026" y="24309"/>
                </a:cubicBezTo>
                <a:close/>
              </a:path>
            </a:pathLst>
          </a:custGeom>
          <a:solidFill>
            <a:srgbClr val="B38B59"/>
          </a:solidFill>
          <a:ln/>
        </p:spPr>
        <p:txBody>
          <a:bodyPr/>
          <a:lstStyle/>
          <a:p>
            <a:endParaRPr lang="zh-CN" altLang="en-US"/>
          </a:p>
        </p:txBody>
      </p:sp>
      <p:sp>
        <p:nvSpPr>
          <p:cNvPr id="73" name="Text 71"/>
          <p:cNvSpPr/>
          <p:nvPr/>
        </p:nvSpPr>
        <p:spPr>
          <a:xfrm>
            <a:off x="996950" y="6794500"/>
            <a:ext cx="3657600" cy="254000"/>
          </a:xfrm>
          <a:prstGeom prst="rect">
            <a:avLst/>
          </a:prstGeom>
          <a:noFill/>
          <a:ln/>
        </p:spPr>
        <p:txBody>
          <a:bodyPr wrap="square" lIns="0" tIns="0" rIns="0" bIns="0" rtlCol="0" anchor="ctr"/>
          <a:lstStyle/>
          <a:p>
            <a:pPr>
              <a:lnSpc>
                <a:spcPct val="120000"/>
              </a:lnSpc>
            </a:pPr>
            <a:r>
              <a:rPr lang="en-US" sz="1400" b="1" dirty="0">
                <a:solidFill>
                  <a:srgbClr val="E0E2E4"/>
                </a:solidFill>
                <a:latin typeface="MiSans" pitchFamily="34" charset="0"/>
                <a:ea typeface="MiSans" pitchFamily="34" charset="-122"/>
                <a:cs typeface="MiSans" pitchFamily="34" charset="-120"/>
              </a:rPr>
              <a:t>插件化架构:</a:t>
            </a:r>
            <a:r>
              <a:rPr lang="en-US" sz="1400" dirty="0">
                <a:solidFill>
                  <a:srgbClr val="E0E2E4">
                    <a:alpha val="80000"/>
                  </a:srgbClr>
                </a:solidFill>
                <a:latin typeface="MiSans" pitchFamily="34" charset="0"/>
                <a:ea typeface="MiSans" pitchFamily="34" charset="-122"/>
                <a:cs typeface="MiSans" pitchFamily="34" charset="-120"/>
              </a:rPr>
              <a:t> 支持多种ContainerExecutor实现</a:t>
            </a:r>
            <a:endParaRPr lang="en-US" sz="1600" dirty="0"/>
          </a:p>
        </p:txBody>
      </p:sp>
      <p:sp>
        <p:nvSpPr>
          <p:cNvPr id="74" name="Shape 72"/>
          <p:cNvSpPr/>
          <p:nvPr/>
        </p:nvSpPr>
        <p:spPr>
          <a:xfrm>
            <a:off x="709613" y="7175500"/>
            <a:ext cx="155575" cy="177800"/>
          </a:xfrm>
          <a:custGeom>
            <a:avLst/>
            <a:gdLst/>
            <a:ahLst/>
            <a:cxnLst/>
            <a:rect l="l" t="t" r="r" b="b"/>
            <a:pathLst>
              <a:path w="155575" h="177800">
                <a:moveTo>
                  <a:pt x="150991" y="24343"/>
                </a:moveTo>
                <a:cubicBezTo>
                  <a:pt x="155957" y="27955"/>
                  <a:pt x="157068" y="34900"/>
                  <a:pt x="153457" y="39866"/>
                </a:cubicBezTo>
                <a:lnTo>
                  <a:pt x="64557" y="162104"/>
                </a:lnTo>
                <a:cubicBezTo>
                  <a:pt x="62647" y="164743"/>
                  <a:pt x="59695" y="166375"/>
                  <a:pt x="56431" y="166653"/>
                </a:cubicBezTo>
                <a:cubicBezTo>
                  <a:pt x="53166" y="166931"/>
                  <a:pt x="50006" y="165715"/>
                  <a:pt x="47714" y="163423"/>
                </a:cubicBezTo>
                <a:lnTo>
                  <a:pt x="3264" y="118973"/>
                </a:lnTo>
                <a:cubicBezTo>
                  <a:pt x="-1077" y="114632"/>
                  <a:pt x="-1077" y="107583"/>
                  <a:pt x="3264" y="103242"/>
                </a:cubicBezTo>
                <a:cubicBezTo>
                  <a:pt x="7605" y="98901"/>
                  <a:pt x="14655" y="98901"/>
                  <a:pt x="18995" y="103242"/>
                </a:cubicBezTo>
                <a:lnTo>
                  <a:pt x="54243" y="138490"/>
                </a:lnTo>
                <a:lnTo>
                  <a:pt x="135503" y="26774"/>
                </a:lnTo>
                <a:cubicBezTo>
                  <a:pt x="139115" y="21808"/>
                  <a:pt x="146060" y="20697"/>
                  <a:pt x="151026" y="24309"/>
                </a:cubicBezTo>
                <a:close/>
              </a:path>
            </a:pathLst>
          </a:custGeom>
          <a:solidFill>
            <a:srgbClr val="B38B59"/>
          </a:solidFill>
          <a:ln/>
        </p:spPr>
        <p:txBody>
          <a:bodyPr/>
          <a:lstStyle/>
          <a:p>
            <a:endParaRPr lang="zh-CN" altLang="en-US"/>
          </a:p>
        </p:txBody>
      </p:sp>
      <p:sp>
        <p:nvSpPr>
          <p:cNvPr id="75" name="Text 73"/>
          <p:cNvSpPr/>
          <p:nvPr/>
        </p:nvSpPr>
        <p:spPr>
          <a:xfrm>
            <a:off x="996950" y="7124700"/>
            <a:ext cx="3822700" cy="254000"/>
          </a:xfrm>
          <a:prstGeom prst="rect">
            <a:avLst/>
          </a:prstGeom>
          <a:noFill/>
          <a:ln/>
        </p:spPr>
        <p:txBody>
          <a:bodyPr wrap="square" lIns="0" tIns="0" rIns="0" bIns="0" rtlCol="0" anchor="ctr"/>
          <a:lstStyle/>
          <a:p>
            <a:pPr>
              <a:lnSpc>
                <a:spcPct val="120000"/>
              </a:lnSpc>
            </a:pPr>
            <a:r>
              <a:rPr lang="en-US" sz="1400" b="1" dirty="0">
                <a:solidFill>
                  <a:srgbClr val="E0E2E4"/>
                </a:solidFill>
                <a:latin typeface="MiSans" pitchFamily="34" charset="0"/>
                <a:ea typeface="MiSans" pitchFamily="34" charset="-122"/>
                <a:cs typeface="MiSans" pitchFamily="34" charset="-120"/>
              </a:rPr>
              <a:t>统一管理:</a:t>
            </a:r>
            <a:r>
              <a:rPr lang="en-US" sz="1400" dirty="0">
                <a:solidFill>
                  <a:srgbClr val="E0E2E4">
                    <a:alpha val="80000"/>
                  </a:srgbClr>
                </a:solidFill>
                <a:latin typeface="MiSans" pitchFamily="34" charset="0"/>
                <a:ea typeface="MiSans" pitchFamily="34" charset="-122"/>
                <a:cs typeface="MiSans" pitchFamily="34" charset="-120"/>
              </a:rPr>
              <a:t> ContainerManagerImpl提供统一接口</a:t>
            </a:r>
            <a:endParaRPr lang="en-US" sz="1600" dirty="0"/>
          </a:p>
        </p:txBody>
      </p:sp>
      <p:sp>
        <p:nvSpPr>
          <p:cNvPr id="76" name="Shape 74"/>
          <p:cNvSpPr/>
          <p:nvPr/>
        </p:nvSpPr>
        <p:spPr>
          <a:xfrm>
            <a:off x="709613" y="7505700"/>
            <a:ext cx="155575" cy="177800"/>
          </a:xfrm>
          <a:custGeom>
            <a:avLst/>
            <a:gdLst/>
            <a:ahLst/>
            <a:cxnLst/>
            <a:rect l="l" t="t" r="r" b="b"/>
            <a:pathLst>
              <a:path w="155575" h="177800">
                <a:moveTo>
                  <a:pt x="150991" y="24343"/>
                </a:moveTo>
                <a:cubicBezTo>
                  <a:pt x="155957" y="27955"/>
                  <a:pt x="157068" y="34900"/>
                  <a:pt x="153457" y="39866"/>
                </a:cubicBezTo>
                <a:lnTo>
                  <a:pt x="64557" y="162104"/>
                </a:lnTo>
                <a:cubicBezTo>
                  <a:pt x="62647" y="164743"/>
                  <a:pt x="59695" y="166375"/>
                  <a:pt x="56431" y="166653"/>
                </a:cubicBezTo>
                <a:cubicBezTo>
                  <a:pt x="53166" y="166931"/>
                  <a:pt x="50006" y="165715"/>
                  <a:pt x="47714" y="163423"/>
                </a:cubicBezTo>
                <a:lnTo>
                  <a:pt x="3264" y="118973"/>
                </a:lnTo>
                <a:cubicBezTo>
                  <a:pt x="-1077" y="114632"/>
                  <a:pt x="-1077" y="107583"/>
                  <a:pt x="3264" y="103242"/>
                </a:cubicBezTo>
                <a:cubicBezTo>
                  <a:pt x="7605" y="98901"/>
                  <a:pt x="14655" y="98901"/>
                  <a:pt x="18995" y="103242"/>
                </a:cubicBezTo>
                <a:lnTo>
                  <a:pt x="54243" y="138490"/>
                </a:lnTo>
                <a:lnTo>
                  <a:pt x="135503" y="26774"/>
                </a:lnTo>
                <a:cubicBezTo>
                  <a:pt x="139115" y="21808"/>
                  <a:pt x="146060" y="20697"/>
                  <a:pt x="151026" y="24309"/>
                </a:cubicBezTo>
                <a:close/>
              </a:path>
            </a:pathLst>
          </a:custGeom>
          <a:solidFill>
            <a:srgbClr val="B38B59"/>
          </a:solidFill>
          <a:ln/>
        </p:spPr>
        <p:txBody>
          <a:bodyPr/>
          <a:lstStyle/>
          <a:p>
            <a:endParaRPr lang="zh-CN" altLang="en-US"/>
          </a:p>
        </p:txBody>
      </p:sp>
      <p:sp>
        <p:nvSpPr>
          <p:cNvPr id="77" name="Text 75"/>
          <p:cNvSpPr/>
          <p:nvPr/>
        </p:nvSpPr>
        <p:spPr>
          <a:xfrm>
            <a:off x="996950" y="7454900"/>
            <a:ext cx="3200400" cy="254000"/>
          </a:xfrm>
          <a:prstGeom prst="rect">
            <a:avLst/>
          </a:prstGeom>
          <a:noFill/>
          <a:ln/>
        </p:spPr>
        <p:txBody>
          <a:bodyPr wrap="square" lIns="0" tIns="0" rIns="0" bIns="0" rtlCol="0" anchor="ctr"/>
          <a:lstStyle/>
          <a:p>
            <a:pPr>
              <a:lnSpc>
                <a:spcPct val="120000"/>
              </a:lnSpc>
            </a:pPr>
            <a:r>
              <a:rPr lang="en-US" sz="1400" b="1" dirty="0">
                <a:solidFill>
                  <a:srgbClr val="E0E2E4"/>
                </a:solidFill>
                <a:latin typeface="MiSans" pitchFamily="34" charset="0"/>
                <a:ea typeface="MiSans" pitchFamily="34" charset="-122"/>
                <a:cs typeface="MiSans" pitchFamily="34" charset="-120"/>
              </a:rPr>
              <a:t>事件驱动:</a:t>
            </a:r>
            <a:r>
              <a:rPr lang="en-US" sz="1400" dirty="0">
                <a:solidFill>
                  <a:srgbClr val="E0E2E4">
                    <a:alpha val="80000"/>
                  </a:srgbClr>
                </a:solidFill>
                <a:latin typeface="MiSans" pitchFamily="34" charset="0"/>
                <a:ea typeface="MiSans" pitchFamily="34" charset="-122"/>
                <a:cs typeface="MiSans" pitchFamily="34" charset="-120"/>
              </a:rPr>
              <a:t> 基于异步事件处理提高响应性</a:t>
            </a:r>
            <a:endParaRPr lang="en-US" sz="1600" dirty="0"/>
          </a:p>
        </p:txBody>
      </p:sp>
      <p:sp>
        <p:nvSpPr>
          <p:cNvPr id="78" name="Shape 76"/>
          <p:cNvSpPr/>
          <p:nvPr/>
        </p:nvSpPr>
        <p:spPr>
          <a:xfrm>
            <a:off x="5645150" y="5848350"/>
            <a:ext cx="4965700" cy="2197100"/>
          </a:xfrm>
          <a:custGeom>
            <a:avLst/>
            <a:gdLst/>
            <a:ahLst/>
            <a:cxnLst/>
            <a:rect l="l" t="t" r="r" b="b"/>
            <a:pathLst>
              <a:path w="4965700" h="2197100">
                <a:moveTo>
                  <a:pt x="101594" y="0"/>
                </a:moveTo>
                <a:lnTo>
                  <a:pt x="4864106" y="0"/>
                </a:lnTo>
                <a:cubicBezTo>
                  <a:pt x="4920215" y="0"/>
                  <a:pt x="4965700" y="45485"/>
                  <a:pt x="4965700" y="101594"/>
                </a:cubicBezTo>
                <a:lnTo>
                  <a:pt x="4965700" y="2095506"/>
                </a:lnTo>
                <a:cubicBezTo>
                  <a:pt x="4965700" y="2151615"/>
                  <a:pt x="4920215" y="2197100"/>
                  <a:pt x="4864106" y="2197100"/>
                </a:cubicBezTo>
                <a:lnTo>
                  <a:pt x="101594" y="2197100"/>
                </a:lnTo>
                <a:cubicBezTo>
                  <a:pt x="45485" y="2197100"/>
                  <a:pt x="0" y="2151615"/>
                  <a:pt x="0" y="2095506"/>
                </a:cubicBezTo>
                <a:lnTo>
                  <a:pt x="0" y="101594"/>
                </a:lnTo>
                <a:cubicBezTo>
                  <a:pt x="0" y="45523"/>
                  <a:pt x="45523" y="0"/>
                  <a:pt x="101594"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79" name="Text 77"/>
          <p:cNvSpPr/>
          <p:nvPr/>
        </p:nvSpPr>
        <p:spPr>
          <a:xfrm>
            <a:off x="5803900" y="6007100"/>
            <a:ext cx="4762500" cy="355600"/>
          </a:xfrm>
          <a:prstGeom prst="rect">
            <a:avLst/>
          </a:prstGeom>
          <a:noFill/>
          <a:ln/>
        </p:spPr>
        <p:txBody>
          <a:bodyPr wrap="square" lIns="0" tIns="0" rIns="0" bIns="0" rtlCol="0" anchor="ctr"/>
          <a:lstStyle/>
          <a:p>
            <a:pPr>
              <a:lnSpc>
                <a:spcPct val="130000"/>
              </a:lnSpc>
            </a:pPr>
            <a:r>
              <a:rPr lang="en-US" sz="1800" b="1" dirty="0">
                <a:solidFill>
                  <a:srgbClr val="E0E2E4"/>
                </a:solidFill>
                <a:latin typeface="MiSans" pitchFamily="34" charset="0"/>
                <a:ea typeface="MiSans" pitchFamily="34" charset="-122"/>
                <a:cs typeface="MiSans" pitchFamily="34" charset="-120"/>
              </a:rPr>
              <a:t>资源管理职责</a:t>
            </a:r>
            <a:endParaRPr lang="en-US" sz="1600" dirty="0"/>
          </a:p>
        </p:txBody>
      </p:sp>
      <p:sp>
        <p:nvSpPr>
          <p:cNvPr id="80" name="Shape 78"/>
          <p:cNvSpPr/>
          <p:nvPr/>
        </p:nvSpPr>
        <p:spPr>
          <a:xfrm>
            <a:off x="5873750" y="6515100"/>
            <a:ext cx="88900" cy="177800"/>
          </a:xfrm>
          <a:custGeom>
            <a:avLst/>
            <a:gdLst/>
            <a:ahLst/>
            <a:cxnLst/>
            <a:rect l="l" t="t" r="r" b="b"/>
            <a:pathLst>
              <a:path w="88900" h="177800">
                <a:moveTo>
                  <a:pt x="85809" y="81052"/>
                </a:moveTo>
                <a:cubicBezTo>
                  <a:pt x="90150" y="85393"/>
                  <a:pt x="90150" y="92442"/>
                  <a:pt x="85809" y="96783"/>
                </a:cubicBezTo>
                <a:lnTo>
                  <a:pt x="30247" y="152345"/>
                </a:lnTo>
                <a:cubicBezTo>
                  <a:pt x="25906" y="156686"/>
                  <a:pt x="18857" y="156686"/>
                  <a:pt x="14516" y="152345"/>
                </a:cubicBezTo>
                <a:cubicBezTo>
                  <a:pt x="10175" y="148005"/>
                  <a:pt x="10175" y="140955"/>
                  <a:pt x="14516" y="136614"/>
                </a:cubicBezTo>
                <a:lnTo>
                  <a:pt x="62230" y="88900"/>
                </a:lnTo>
                <a:lnTo>
                  <a:pt x="14550" y="41186"/>
                </a:lnTo>
                <a:cubicBezTo>
                  <a:pt x="10210" y="36845"/>
                  <a:pt x="10210" y="29795"/>
                  <a:pt x="14550" y="25455"/>
                </a:cubicBezTo>
                <a:cubicBezTo>
                  <a:pt x="18891" y="21114"/>
                  <a:pt x="25941" y="21114"/>
                  <a:pt x="30282" y="25455"/>
                </a:cubicBezTo>
                <a:lnTo>
                  <a:pt x="85844" y="81017"/>
                </a:lnTo>
                <a:close/>
              </a:path>
            </a:pathLst>
          </a:custGeom>
          <a:solidFill>
            <a:srgbClr val="3C8082"/>
          </a:solidFill>
          <a:ln/>
        </p:spPr>
        <p:txBody>
          <a:bodyPr/>
          <a:lstStyle/>
          <a:p>
            <a:endParaRPr lang="zh-CN" altLang="en-US"/>
          </a:p>
        </p:txBody>
      </p:sp>
      <p:sp>
        <p:nvSpPr>
          <p:cNvPr id="81" name="Text 79"/>
          <p:cNvSpPr/>
          <p:nvPr/>
        </p:nvSpPr>
        <p:spPr>
          <a:xfrm>
            <a:off x="6127750" y="6464300"/>
            <a:ext cx="3835400" cy="254000"/>
          </a:xfrm>
          <a:prstGeom prst="rect">
            <a:avLst/>
          </a:prstGeom>
          <a:noFill/>
          <a:ln/>
        </p:spPr>
        <p:txBody>
          <a:bodyPr wrap="square" lIns="0" tIns="0" rIns="0" bIns="0" rtlCol="0" anchor="ctr"/>
          <a:lstStyle/>
          <a:p>
            <a:pPr>
              <a:lnSpc>
                <a:spcPct val="120000"/>
              </a:lnSpc>
            </a:pPr>
            <a:r>
              <a:rPr lang="en-US" sz="1400" b="1" dirty="0">
                <a:solidFill>
                  <a:srgbClr val="E0E2E4"/>
                </a:solidFill>
                <a:latin typeface="MiSans" pitchFamily="34" charset="0"/>
                <a:ea typeface="MiSans" pitchFamily="34" charset="-122"/>
                <a:cs typeface="MiSans" pitchFamily="34" charset="-120"/>
              </a:rPr>
              <a:t>ResourceManager:</a:t>
            </a:r>
            <a:r>
              <a:rPr lang="en-US" sz="1400" dirty="0">
                <a:solidFill>
                  <a:srgbClr val="E0E2E4">
                    <a:alpha val="80000"/>
                  </a:srgbClr>
                </a:solidFill>
                <a:latin typeface="MiSans" pitchFamily="34" charset="0"/>
                <a:ea typeface="MiSans" pitchFamily="34" charset="-122"/>
                <a:cs typeface="MiSans" pitchFamily="34" charset="-120"/>
              </a:rPr>
              <a:t> 全局资源分配策略,调度决策</a:t>
            </a:r>
            <a:endParaRPr lang="en-US" sz="1600" dirty="0"/>
          </a:p>
        </p:txBody>
      </p:sp>
      <p:sp>
        <p:nvSpPr>
          <p:cNvPr id="82" name="Shape 80"/>
          <p:cNvSpPr/>
          <p:nvPr/>
        </p:nvSpPr>
        <p:spPr>
          <a:xfrm>
            <a:off x="5873750" y="6845300"/>
            <a:ext cx="88900" cy="177800"/>
          </a:xfrm>
          <a:custGeom>
            <a:avLst/>
            <a:gdLst/>
            <a:ahLst/>
            <a:cxnLst/>
            <a:rect l="l" t="t" r="r" b="b"/>
            <a:pathLst>
              <a:path w="88900" h="177800">
                <a:moveTo>
                  <a:pt x="85809" y="81052"/>
                </a:moveTo>
                <a:cubicBezTo>
                  <a:pt x="90150" y="85393"/>
                  <a:pt x="90150" y="92442"/>
                  <a:pt x="85809" y="96783"/>
                </a:cubicBezTo>
                <a:lnTo>
                  <a:pt x="30247" y="152345"/>
                </a:lnTo>
                <a:cubicBezTo>
                  <a:pt x="25906" y="156686"/>
                  <a:pt x="18857" y="156686"/>
                  <a:pt x="14516" y="152345"/>
                </a:cubicBezTo>
                <a:cubicBezTo>
                  <a:pt x="10175" y="148005"/>
                  <a:pt x="10175" y="140955"/>
                  <a:pt x="14516" y="136614"/>
                </a:cubicBezTo>
                <a:lnTo>
                  <a:pt x="62230" y="88900"/>
                </a:lnTo>
                <a:lnTo>
                  <a:pt x="14550" y="41186"/>
                </a:lnTo>
                <a:cubicBezTo>
                  <a:pt x="10210" y="36845"/>
                  <a:pt x="10210" y="29795"/>
                  <a:pt x="14550" y="25455"/>
                </a:cubicBezTo>
                <a:cubicBezTo>
                  <a:pt x="18891" y="21114"/>
                  <a:pt x="25941" y="21114"/>
                  <a:pt x="30282" y="25455"/>
                </a:cubicBezTo>
                <a:lnTo>
                  <a:pt x="85844" y="81017"/>
                </a:lnTo>
                <a:close/>
              </a:path>
            </a:pathLst>
          </a:custGeom>
          <a:solidFill>
            <a:srgbClr val="3C8082"/>
          </a:solidFill>
          <a:ln/>
        </p:spPr>
        <p:txBody>
          <a:bodyPr/>
          <a:lstStyle/>
          <a:p>
            <a:endParaRPr lang="zh-CN" altLang="en-US"/>
          </a:p>
        </p:txBody>
      </p:sp>
      <p:sp>
        <p:nvSpPr>
          <p:cNvPr id="83" name="Text 81"/>
          <p:cNvSpPr/>
          <p:nvPr/>
        </p:nvSpPr>
        <p:spPr>
          <a:xfrm>
            <a:off x="6127750" y="6794500"/>
            <a:ext cx="3873500" cy="254000"/>
          </a:xfrm>
          <a:prstGeom prst="rect">
            <a:avLst/>
          </a:prstGeom>
          <a:noFill/>
          <a:ln/>
        </p:spPr>
        <p:txBody>
          <a:bodyPr wrap="square" lIns="0" tIns="0" rIns="0" bIns="0" rtlCol="0" anchor="ctr"/>
          <a:lstStyle/>
          <a:p>
            <a:pPr>
              <a:lnSpc>
                <a:spcPct val="120000"/>
              </a:lnSpc>
            </a:pPr>
            <a:r>
              <a:rPr lang="en-US" sz="1400" b="1" dirty="0">
                <a:solidFill>
                  <a:srgbClr val="E0E2E4"/>
                </a:solidFill>
                <a:latin typeface="MiSans" pitchFamily="34" charset="0"/>
                <a:ea typeface="MiSans" pitchFamily="34" charset="-122"/>
                <a:cs typeface="MiSans" pitchFamily="34" charset="-120"/>
              </a:rPr>
              <a:t>NodeManager:</a:t>
            </a:r>
            <a:r>
              <a:rPr lang="en-US" sz="1400" dirty="0">
                <a:solidFill>
                  <a:srgbClr val="E0E2E4">
                    <a:alpha val="80000"/>
                  </a:srgbClr>
                </a:solidFill>
                <a:latin typeface="MiSans" pitchFamily="34" charset="0"/>
                <a:ea typeface="MiSans" pitchFamily="34" charset="-122"/>
                <a:cs typeface="MiSans" pitchFamily="34" charset="-120"/>
              </a:rPr>
              <a:t> 节点资源监控,容器生命周期管理</a:t>
            </a:r>
            <a:endParaRPr lang="en-US" sz="1600" dirty="0"/>
          </a:p>
        </p:txBody>
      </p:sp>
      <p:sp>
        <p:nvSpPr>
          <p:cNvPr id="84" name="Shape 82"/>
          <p:cNvSpPr/>
          <p:nvPr/>
        </p:nvSpPr>
        <p:spPr>
          <a:xfrm>
            <a:off x="5873750" y="7175500"/>
            <a:ext cx="88900" cy="177800"/>
          </a:xfrm>
          <a:custGeom>
            <a:avLst/>
            <a:gdLst/>
            <a:ahLst/>
            <a:cxnLst/>
            <a:rect l="l" t="t" r="r" b="b"/>
            <a:pathLst>
              <a:path w="88900" h="177800">
                <a:moveTo>
                  <a:pt x="85809" y="81052"/>
                </a:moveTo>
                <a:cubicBezTo>
                  <a:pt x="90150" y="85393"/>
                  <a:pt x="90150" y="92442"/>
                  <a:pt x="85809" y="96783"/>
                </a:cubicBezTo>
                <a:lnTo>
                  <a:pt x="30247" y="152345"/>
                </a:lnTo>
                <a:cubicBezTo>
                  <a:pt x="25906" y="156686"/>
                  <a:pt x="18857" y="156686"/>
                  <a:pt x="14516" y="152345"/>
                </a:cubicBezTo>
                <a:cubicBezTo>
                  <a:pt x="10175" y="148005"/>
                  <a:pt x="10175" y="140955"/>
                  <a:pt x="14516" y="136614"/>
                </a:cubicBezTo>
                <a:lnTo>
                  <a:pt x="62230" y="88900"/>
                </a:lnTo>
                <a:lnTo>
                  <a:pt x="14550" y="41186"/>
                </a:lnTo>
                <a:cubicBezTo>
                  <a:pt x="10210" y="36845"/>
                  <a:pt x="10210" y="29795"/>
                  <a:pt x="14550" y="25455"/>
                </a:cubicBezTo>
                <a:cubicBezTo>
                  <a:pt x="18891" y="21114"/>
                  <a:pt x="25941" y="21114"/>
                  <a:pt x="30282" y="25455"/>
                </a:cubicBezTo>
                <a:lnTo>
                  <a:pt x="85844" y="81017"/>
                </a:lnTo>
                <a:close/>
              </a:path>
            </a:pathLst>
          </a:custGeom>
          <a:solidFill>
            <a:srgbClr val="3C8082"/>
          </a:solidFill>
          <a:ln/>
        </p:spPr>
        <p:txBody>
          <a:bodyPr/>
          <a:lstStyle/>
          <a:p>
            <a:endParaRPr lang="zh-CN" altLang="en-US"/>
          </a:p>
        </p:txBody>
      </p:sp>
      <p:sp>
        <p:nvSpPr>
          <p:cNvPr id="85" name="Text 83"/>
          <p:cNvSpPr/>
          <p:nvPr/>
        </p:nvSpPr>
        <p:spPr>
          <a:xfrm>
            <a:off x="6127750" y="7124700"/>
            <a:ext cx="3886200" cy="254000"/>
          </a:xfrm>
          <a:prstGeom prst="rect">
            <a:avLst/>
          </a:prstGeom>
          <a:noFill/>
          <a:ln/>
        </p:spPr>
        <p:txBody>
          <a:bodyPr wrap="square" lIns="0" tIns="0" rIns="0" bIns="0" rtlCol="0" anchor="ctr"/>
          <a:lstStyle/>
          <a:p>
            <a:pPr>
              <a:lnSpc>
                <a:spcPct val="120000"/>
              </a:lnSpc>
            </a:pPr>
            <a:r>
              <a:rPr lang="en-US" sz="1400" b="1" dirty="0">
                <a:solidFill>
                  <a:srgbClr val="E0E2E4"/>
                </a:solidFill>
                <a:latin typeface="MiSans" pitchFamily="34" charset="0"/>
                <a:ea typeface="MiSans" pitchFamily="34" charset="-122"/>
                <a:cs typeface="MiSans" pitchFamily="34" charset="-120"/>
              </a:rPr>
              <a:t>ApplicationMaster:</a:t>
            </a:r>
            <a:r>
              <a:rPr lang="en-US" sz="1400" dirty="0">
                <a:solidFill>
                  <a:srgbClr val="E0E2E4">
                    <a:alpha val="80000"/>
                  </a:srgbClr>
                </a:solidFill>
                <a:latin typeface="MiSans" pitchFamily="34" charset="0"/>
                <a:ea typeface="MiSans" pitchFamily="34" charset="-122"/>
                <a:cs typeface="MiSans" pitchFamily="34" charset="-120"/>
              </a:rPr>
              <a:t> 作业调度,资源协商,容错恢复</a:t>
            </a:r>
            <a:endParaRPr lang="en-US" sz="1600" dirty="0"/>
          </a:p>
        </p:txBody>
      </p:sp>
      <p:sp>
        <p:nvSpPr>
          <p:cNvPr id="86" name="Shape 84"/>
          <p:cNvSpPr/>
          <p:nvPr/>
        </p:nvSpPr>
        <p:spPr>
          <a:xfrm>
            <a:off x="5873750" y="7505700"/>
            <a:ext cx="88900" cy="177800"/>
          </a:xfrm>
          <a:custGeom>
            <a:avLst/>
            <a:gdLst/>
            <a:ahLst/>
            <a:cxnLst/>
            <a:rect l="l" t="t" r="r" b="b"/>
            <a:pathLst>
              <a:path w="88900" h="177800">
                <a:moveTo>
                  <a:pt x="85809" y="81052"/>
                </a:moveTo>
                <a:cubicBezTo>
                  <a:pt x="90150" y="85393"/>
                  <a:pt x="90150" y="92442"/>
                  <a:pt x="85809" y="96783"/>
                </a:cubicBezTo>
                <a:lnTo>
                  <a:pt x="30247" y="152345"/>
                </a:lnTo>
                <a:cubicBezTo>
                  <a:pt x="25906" y="156686"/>
                  <a:pt x="18857" y="156686"/>
                  <a:pt x="14516" y="152345"/>
                </a:cubicBezTo>
                <a:cubicBezTo>
                  <a:pt x="10175" y="148005"/>
                  <a:pt x="10175" y="140955"/>
                  <a:pt x="14516" y="136614"/>
                </a:cubicBezTo>
                <a:lnTo>
                  <a:pt x="62230" y="88900"/>
                </a:lnTo>
                <a:lnTo>
                  <a:pt x="14550" y="41186"/>
                </a:lnTo>
                <a:cubicBezTo>
                  <a:pt x="10210" y="36845"/>
                  <a:pt x="10210" y="29795"/>
                  <a:pt x="14550" y="25455"/>
                </a:cubicBezTo>
                <a:cubicBezTo>
                  <a:pt x="18891" y="21114"/>
                  <a:pt x="25941" y="21114"/>
                  <a:pt x="30282" y="25455"/>
                </a:cubicBezTo>
                <a:lnTo>
                  <a:pt x="85844" y="81017"/>
                </a:lnTo>
                <a:close/>
              </a:path>
            </a:pathLst>
          </a:custGeom>
          <a:solidFill>
            <a:srgbClr val="3C8082"/>
          </a:solidFill>
          <a:ln/>
        </p:spPr>
        <p:txBody>
          <a:bodyPr/>
          <a:lstStyle/>
          <a:p>
            <a:endParaRPr lang="zh-CN" altLang="en-US"/>
          </a:p>
        </p:txBody>
      </p:sp>
      <p:sp>
        <p:nvSpPr>
          <p:cNvPr id="87" name="Text 85"/>
          <p:cNvSpPr/>
          <p:nvPr/>
        </p:nvSpPr>
        <p:spPr>
          <a:xfrm>
            <a:off x="6127750" y="7454900"/>
            <a:ext cx="3657600" cy="254000"/>
          </a:xfrm>
          <a:prstGeom prst="rect">
            <a:avLst/>
          </a:prstGeom>
          <a:noFill/>
          <a:ln/>
        </p:spPr>
        <p:txBody>
          <a:bodyPr wrap="square" lIns="0" tIns="0" rIns="0" bIns="0" rtlCol="0" anchor="ctr"/>
          <a:lstStyle/>
          <a:p>
            <a:pPr>
              <a:lnSpc>
                <a:spcPct val="120000"/>
              </a:lnSpc>
            </a:pPr>
            <a:r>
              <a:rPr lang="en-US" sz="1400" b="1" dirty="0">
                <a:solidFill>
                  <a:srgbClr val="E0E2E4"/>
                </a:solidFill>
                <a:latin typeface="MiSans" pitchFamily="34" charset="0"/>
                <a:ea typeface="MiSans" pitchFamily="34" charset="-122"/>
                <a:cs typeface="MiSans" pitchFamily="34" charset="-120"/>
              </a:rPr>
              <a:t>ContainerExecutor:</a:t>
            </a:r>
            <a:r>
              <a:rPr lang="en-US" sz="1400" dirty="0">
                <a:solidFill>
                  <a:srgbClr val="E0E2E4">
                    <a:alpha val="80000"/>
                  </a:srgbClr>
                </a:solidFill>
                <a:latin typeface="MiSans" pitchFamily="34" charset="0"/>
                <a:ea typeface="MiSans" pitchFamily="34" charset="-122"/>
                <a:cs typeface="MiSans" pitchFamily="34" charset="-120"/>
              </a:rPr>
              <a:t> 实际执行资源隔离和控制</a:t>
            </a:r>
            <a:endParaRPr lang="en-US" sz="1600" dirty="0"/>
          </a:p>
        </p:txBody>
      </p:sp>
      <p:sp>
        <p:nvSpPr>
          <p:cNvPr id="88" name="Shape 86"/>
          <p:cNvSpPr/>
          <p:nvPr/>
        </p:nvSpPr>
        <p:spPr>
          <a:xfrm>
            <a:off x="10775950" y="5848350"/>
            <a:ext cx="4965700" cy="2197100"/>
          </a:xfrm>
          <a:custGeom>
            <a:avLst/>
            <a:gdLst/>
            <a:ahLst/>
            <a:cxnLst/>
            <a:rect l="l" t="t" r="r" b="b"/>
            <a:pathLst>
              <a:path w="4965700" h="2197100">
                <a:moveTo>
                  <a:pt x="101594" y="0"/>
                </a:moveTo>
                <a:lnTo>
                  <a:pt x="4864106" y="0"/>
                </a:lnTo>
                <a:cubicBezTo>
                  <a:pt x="4920215" y="0"/>
                  <a:pt x="4965700" y="45485"/>
                  <a:pt x="4965700" y="101594"/>
                </a:cubicBezTo>
                <a:lnTo>
                  <a:pt x="4965700" y="2095506"/>
                </a:lnTo>
                <a:cubicBezTo>
                  <a:pt x="4965700" y="2151615"/>
                  <a:pt x="4920215" y="2197100"/>
                  <a:pt x="4864106" y="2197100"/>
                </a:cubicBezTo>
                <a:lnTo>
                  <a:pt x="101594" y="2197100"/>
                </a:lnTo>
                <a:cubicBezTo>
                  <a:pt x="45485" y="2197100"/>
                  <a:pt x="0" y="2151615"/>
                  <a:pt x="0" y="2095506"/>
                </a:cubicBezTo>
                <a:lnTo>
                  <a:pt x="0" y="101594"/>
                </a:lnTo>
                <a:cubicBezTo>
                  <a:pt x="0" y="45523"/>
                  <a:pt x="45523" y="0"/>
                  <a:pt x="101594"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89" name="Text 87"/>
          <p:cNvSpPr/>
          <p:nvPr/>
        </p:nvSpPr>
        <p:spPr>
          <a:xfrm>
            <a:off x="10934700" y="6007100"/>
            <a:ext cx="4762500" cy="355600"/>
          </a:xfrm>
          <a:prstGeom prst="rect">
            <a:avLst/>
          </a:prstGeom>
          <a:noFill/>
          <a:ln/>
        </p:spPr>
        <p:txBody>
          <a:bodyPr wrap="square" lIns="0" tIns="0" rIns="0" bIns="0" rtlCol="0" anchor="ctr"/>
          <a:lstStyle/>
          <a:p>
            <a:pPr>
              <a:lnSpc>
                <a:spcPct val="130000"/>
              </a:lnSpc>
            </a:pPr>
            <a:r>
              <a:rPr lang="en-US" sz="1800" b="1" dirty="0">
                <a:solidFill>
                  <a:srgbClr val="E0E2E4"/>
                </a:solidFill>
                <a:latin typeface="MiSans" pitchFamily="34" charset="0"/>
                <a:ea typeface="MiSans" pitchFamily="34" charset="-122"/>
                <a:cs typeface="MiSans" pitchFamily="34" charset="-120"/>
              </a:rPr>
              <a:t>隔离技术实现</a:t>
            </a:r>
            <a:endParaRPr lang="en-US" sz="1600" dirty="0"/>
          </a:p>
        </p:txBody>
      </p:sp>
      <p:sp>
        <p:nvSpPr>
          <p:cNvPr id="90" name="Shape 88"/>
          <p:cNvSpPr/>
          <p:nvPr/>
        </p:nvSpPr>
        <p:spPr>
          <a:xfrm>
            <a:off x="10934700" y="6464300"/>
            <a:ext cx="2273300" cy="660400"/>
          </a:xfrm>
          <a:custGeom>
            <a:avLst/>
            <a:gdLst/>
            <a:ahLst/>
            <a:cxnLst/>
            <a:rect l="l" t="t" r="r" b="b"/>
            <a:pathLst>
              <a:path w="2273300" h="660400">
                <a:moveTo>
                  <a:pt x="50798" y="0"/>
                </a:moveTo>
                <a:lnTo>
                  <a:pt x="2222502" y="0"/>
                </a:lnTo>
                <a:cubicBezTo>
                  <a:pt x="2250557" y="0"/>
                  <a:pt x="2273300" y="22743"/>
                  <a:pt x="2273300" y="50798"/>
                </a:cubicBezTo>
                <a:lnTo>
                  <a:pt x="2273300" y="609602"/>
                </a:lnTo>
                <a:cubicBezTo>
                  <a:pt x="2273300" y="637657"/>
                  <a:pt x="2250557" y="660400"/>
                  <a:pt x="2222502" y="660400"/>
                </a:cubicBezTo>
                <a:lnTo>
                  <a:pt x="50798" y="660400"/>
                </a:lnTo>
                <a:cubicBezTo>
                  <a:pt x="22743" y="660400"/>
                  <a:pt x="0" y="637657"/>
                  <a:pt x="0" y="609602"/>
                </a:cubicBezTo>
                <a:lnTo>
                  <a:pt x="0" y="50798"/>
                </a:lnTo>
                <a:cubicBezTo>
                  <a:pt x="0" y="22743"/>
                  <a:pt x="22743" y="0"/>
                  <a:pt x="50798" y="0"/>
                </a:cubicBezTo>
                <a:close/>
              </a:path>
            </a:pathLst>
          </a:custGeom>
          <a:solidFill>
            <a:srgbClr val="1A1D21">
              <a:alpha val="50196"/>
            </a:srgbClr>
          </a:solidFill>
          <a:ln/>
        </p:spPr>
        <p:txBody>
          <a:bodyPr/>
          <a:lstStyle/>
          <a:p>
            <a:endParaRPr lang="zh-CN" altLang="en-US"/>
          </a:p>
        </p:txBody>
      </p:sp>
      <p:sp>
        <p:nvSpPr>
          <p:cNvPr id="91" name="Text 89"/>
          <p:cNvSpPr/>
          <p:nvPr/>
        </p:nvSpPr>
        <p:spPr>
          <a:xfrm>
            <a:off x="10998200" y="6565900"/>
            <a:ext cx="2146300" cy="203200"/>
          </a:xfrm>
          <a:prstGeom prst="rect">
            <a:avLst/>
          </a:prstGeom>
          <a:noFill/>
          <a:ln/>
        </p:spPr>
        <p:txBody>
          <a:bodyPr wrap="square" lIns="0" tIns="0" rIns="0" bIns="0" rtlCol="0" anchor="ctr"/>
          <a:lstStyle/>
          <a:p>
            <a:pPr algn="ctr">
              <a:lnSpc>
                <a:spcPct val="110000"/>
              </a:lnSpc>
            </a:pPr>
            <a:r>
              <a:rPr lang="en-US" sz="1200" b="1" dirty="0">
                <a:solidFill>
                  <a:srgbClr val="E0E2E4"/>
                </a:solidFill>
                <a:latin typeface="MiSans" pitchFamily="34" charset="0"/>
                <a:ea typeface="MiSans" pitchFamily="34" charset="-122"/>
                <a:cs typeface="MiSans" pitchFamily="34" charset="-120"/>
              </a:rPr>
              <a:t>DefaultCE</a:t>
            </a:r>
            <a:endParaRPr lang="en-US" sz="1600" dirty="0"/>
          </a:p>
        </p:txBody>
      </p:sp>
      <p:sp>
        <p:nvSpPr>
          <p:cNvPr id="92" name="Text 90"/>
          <p:cNvSpPr/>
          <p:nvPr/>
        </p:nvSpPr>
        <p:spPr>
          <a:xfrm>
            <a:off x="10998200" y="6819900"/>
            <a:ext cx="2146300" cy="203200"/>
          </a:xfrm>
          <a:prstGeom prst="rect">
            <a:avLst/>
          </a:prstGeom>
          <a:noFill/>
          <a:ln/>
        </p:spPr>
        <p:txBody>
          <a:bodyPr wrap="square" lIns="0" tIns="0" rIns="0" bIns="0" rtlCol="0" anchor="ctr"/>
          <a:lstStyle/>
          <a:p>
            <a:pPr algn="ctr">
              <a:lnSpc>
                <a:spcPct val="110000"/>
              </a:lnSpc>
            </a:pPr>
            <a:r>
              <a:rPr lang="en-US" sz="1200" dirty="0">
                <a:solidFill>
                  <a:srgbClr val="E0E2E4">
                    <a:alpha val="70000"/>
                  </a:srgbClr>
                </a:solidFill>
                <a:latin typeface="MiSans" pitchFamily="34" charset="0"/>
                <a:ea typeface="MiSans" pitchFamily="34" charset="-122"/>
                <a:cs typeface="MiSans" pitchFamily="34" charset="-120"/>
              </a:rPr>
              <a:t>JVM进程隔离</a:t>
            </a:r>
            <a:endParaRPr lang="en-US" sz="1600" dirty="0"/>
          </a:p>
        </p:txBody>
      </p:sp>
      <p:sp>
        <p:nvSpPr>
          <p:cNvPr id="93" name="Shape 91"/>
          <p:cNvSpPr/>
          <p:nvPr/>
        </p:nvSpPr>
        <p:spPr>
          <a:xfrm>
            <a:off x="13309600" y="6464300"/>
            <a:ext cx="2273300" cy="660400"/>
          </a:xfrm>
          <a:custGeom>
            <a:avLst/>
            <a:gdLst/>
            <a:ahLst/>
            <a:cxnLst/>
            <a:rect l="l" t="t" r="r" b="b"/>
            <a:pathLst>
              <a:path w="2273300" h="660400">
                <a:moveTo>
                  <a:pt x="50798" y="0"/>
                </a:moveTo>
                <a:lnTo>
                  <a:pt x="2222502" y="0"/>
                </a:lnTo>
                <a:cubicBezTo>
                  <a:pt x="2250557" y="0"/>
                  <a:pt x="2273300" y="22743"/>
                  <a:pt x="2273300" y="50798"/>
                </a:cubicBezTo>
                <a:lnTo>
                  <a:pt x="2273300" y="609602"/>
                </a:lnTo>
                <a:cubicBezTo>
                  <a:pt x="2273300" y="637657"/>
                  <a:pt x="2250557" y="660400"/>
                  <a:pt x="2222502" y="660400"/>
                </a:cubicBezTo>
                <a:lnTo>
                  <a:pt x="50798" y="660400"/>
                </a:lnTo>
                <a:cubicBezTo>
                  <a:pt x="22743" y="660400"/>
                  <a:pt x="0" y="637657"/>
                  <a:pt x="0" y="609602"/>
                </a:cubicBezTo>
                <a:lnTo>
                  <a:pt x="0" y="50798"/>
                </a:lnTo>
                <a:cubicBezTo>
                  <a:pt x="0" y="22743"/>
                  <a:pt x="22743" y="0"/>
                  <a:pt x="50798" y="0"/>
                </a:cubicBezTo>
                <a:close/>
              </a:path>
            </a:pathLst>
          </a:custGeom>
          <a:solidFill>
            <a:srgbClr val="1A1D21">
              <a:alpha val="50196"/>
            </a:srgbClr>
          </a:solidFill>
          <a:ln/>
        </p:spPr>
        <p:txBody>
          <a:bodyPr/>
          <a:lstStyle/>
          <a:p>
            <a:endParaRPr lang="zh-CN" altLang="en-US"/>
          </a:p>
        </p:txBody>
      </p:sp>
      <p:sp>
        <p:nvSpPr>
          <p:cNvPr id="94" name="Text 92"/>
          <p:cNvSpPr/>
          <p:nvPr/>
        </p:nvSpPr>
        <p:spPr>
          <a:xfrm>
            <a:off x="13373100" y="6565900"/>
            <a:ext cx="2146300" cy="203200"/>
          </a:xfrm>
          <a:prstGeom prst="rect">
            <a:avLst/>
          </a:prstGeom>
          <a:noFill/>
          <a:ln/>
        </p:spPr>
        <p:txBody>
          <a:bodyPr wrap="square" lIns="0" tIns="0" rIns="0" bIns="0" rtlCol="0" anchor="ctr"/>
          <a:lstStyle/>
          <a:p>
            <a:pPr algn="ctr">
              <a:lnSpc>
                <a:spcPct val="110000"/>
              </a:lnSpc>
            </a:pPr>
            <a:r>
              <a:rPr lang="en-US" sz="1200" b="1" dirty="0">
                <a:solidFill>
                  <a:srgbClr val="E0E2E4"/>
                </a:solidFill>
                <a:latin typeface="MiSans" pitchFamily="34" charset="0"/>
                <a:ea typeface="MiSans" pitchFamily="34" charset="-122"/>
                <a:cs typeface="MiSans" pitchFamily="34" charset="-120"/>
              </a:rPr>
              <a:t>LinuxCE</a:t>
            </a:r>
            <a:endParaRPr lang="en-US" sz="1600" dirty="0"/>
          </a:p>
        </p:txBody>
      </p:sp>
      <p:sp>
        <p:nvSpPr>
          <p:cNvPr id="95" name="Text 93"/>
          <p:cNvSpPr/>
          <p:nvPr/>
        </p:nvSpPr>
        <p:spPr>
          <a:xfrm>
            <a:off x="13373100" y="6819900"/>
            <a:ext cx="2146300" cy="203200"/>
          </a:xfrm>
          <a:prstGeom prst="rect">
            <a:avLst/>
          </a:prstGeom>
          <a:noFill/>
          <a:ln/>
        </p:spPr>
        <p:txBody>
          <a:bodyPr wrap="square" lIns="0" tIns="0" rIns="0" bIns="0" rtlCol="0" anchor="ctr"/>
          <a:lstStyle/>
          <a:p>
            <a:pPr algn="ctr">
              <a:lnSpc>
                <a:spcPct val="110000"/>
              </a:lnSpc>
            </a:pPr>
            <a:r>
              <a:rPr lang="en-US" sz="1200" dirty="0">
                <a:solidFill>
                  <a:srgbClr val="E0E2E4">
                    <a:alpha val="70000"/>
                  </a:srgbClr>
                </a:solidFill>
                <a:latin typeface="MiSans" pitchFamily="34" charset="0"/>
                <a:ea typeface="MiSans" pitchFamily="34" charset="-122"/>
                <a:cs typeface="MiSans" pitchFamily="34" charset="-120"/>
              </a:rPr>
              <a:t>CGroups+Namespace</a:t>
            </a:r>
            <a:endParaRPr lang="en-US" sz="1600" dirty="0"/>
          </a:p>
        </p:txBody>
      </p:sp>
      <p:sp>
        <p:nvSpPr>
          <p:cNvPr id="96" name="Shape 94"/>
          <p:cNvSpPr/>
          <p:nvPr/>
        </p:nvSpPr>
        <p:spPr>
          <a:xfrm>
            <a:off x="10934700" y="7226300"/>
            <a:ext cx="2273300" cy="660400"/>
          </a:xfrm>
          <a:custGeom>
            <a:avLst/>
            <a:gdLst/>
            <a:ahLst/>
            <a:cxnLst/>
            <a:rect l="l" t="t" r="r" b="b"/>
            <a:pathLst>
              <a:path w="2273300" h="660400">
                <a:moveTo>
                  <a:pt x="50798" y="0"/>
                </a:moveTo>
                <a:lnTo>
                  <a:pt x="2222502" y="0"/>
                </a:lnTo>
                <a:cubicBezTo>
                  <a:pt x="2250557" y="0"/>
                  <a:pt x="2273300" y="22743"/>
                  <a:pt x="2273300" y="50798"/>
                </a:cubicBezTo>
                <a:lnTo>
                  <a:pt x="2273300" y="609602"/>
                </a:lnTo>
                <a:cubicBezTo>
                  <a:pt x="2273300" y="637657"/>
                  <a:pt x="2250557" y="660400"/>
                  <a:pt x="2222502" y="660400"/>
                </a:cubicBezTo>
                <a:lnTo>
                  <a:pt x="50798" y="660400"/>
                </a:lnTo>
                <a:cubicBezTo>
                  <a:pt x="22743" y="660400"/>
                  <a:pt x="0" y="637657"/>
                  <a:pt x="0" y="609602"/>
                </a:cubicBezTo>
                <a:lnTo>
                  <a:pt x="0" y="50798"/>
                </a:lnTo>
                <a:cubicBezTo>
                  <a:pt x="0" y="22743"/>
                  <a:pt x="22743" y="0"/>
                  <a:pt x="50798" y="0"/>
                </a:cubicBezTo>
                <a:close/>
              </a:path>
            </a:pathLst>
          </a:custGeom>
          <a:solidFill>
            <a:srgbClr val="1A1D21">
              <a:alpha val="50196"/>
            </a:srgbClr>
          </a:solidFill>
          <a:ln/>
        </p:spPr>
        <p:txBody>
          <a:bodyPr/>
          <a:lstStyle/>
          <a:p>
            <a:endParaRPr lang="zh-CN" altLang="en-US"/>
          </a:p>
        </p:txBody>
      </p:sp>
      <p:sp>
        <p:nvSpPr>
          <p:cNvPr id="97" name="Text 95"/>
          <p:cNvSpPr/>
          <p:nvPr/>
        </p:nvSpPr>
        <p:spPr>
          <a:xfrm>
            <a:off x="10998200" y="7327900"/>
            <a:ext cx="2146300" cy="203200"/>
          </a:xfrm>
          <a:prstGeom prst="rect">
            <a:avLst/>
          </a:prstGeom>
          <a:noFill/>
          <a:ln/>
        </p:spPr>
        <p:txBody>
          <a:bodyPr wrap="square" lIns="0" tIns="0" rIns="0" bIns="0" rtlCol="0" anchor="ctr"/>
          <a:lstStyle/>
          <a:p>
            <a:pPr algn="ctr">
              <a:lnSpc>
                <a:spcPct val="110000"/>
              </a:lnSpc>
            </a:pPr>
            <a:r>
              <a:rPr lang="en-US" sz="1200" b="1" dirty="0">
                <a:solidFill>
                  <a:srgbClr val="E0E2E4"/>
                </a:solidFill>
                <a:latin typeface="MiSans" pitchFamily="34" charset="0"/>
                <a:ea typeface="MiSans" pitchFamily="34" charset="-122"/>
                <a:cs typeface="MiSans" pitchFamily="34" charset="-120"/>
              </a:rPr>
              <a:t>DockerCE</a:t>
            </a:r>
            <a:endParaRPr lang="en-US" sz="1600" dirty="0"/>
          </a:p>
        </p:txBody>
      </p:sp>
      <p:sp>
        <p:nvSpPr>
          <p:cNvPr id="98" name="Text 96"/>
          <p:cNvSpPr/>
          <p:nvPr/>
        </p:nvSpPr>
        <p:spPr>
          <a:xfrm>
            <a:off x="10998200" y="7581900"/>
            <a:ext cx="2146300" cy="203200"/>
          </a:xfrm>
          <a:prstGeom prst="rect">
            <a:avLst/>
          </a:prstGeom>
          <a:noFill/>
          <a:ln/>
        </p:spPr>
        <p:txBody>
          <a:bodyPr wrap="square" lIns="0" tIns="0" rIns="0" bIns="0" rtlCol="0" anchor="ctr"/>
          <a:lstStyle/>
          <a:p>
            <a:pPr algn="ctr">
              <a:lnSpc>
                <a:spcPct val="110000"/>
              </a:lnSpc>
            </a:pPr>
            <a:r>
              <a:rPr lang="en-US" sz="1200" dirty="0">
                <a:solidFill>
                  <a:srgbClr val="E0E2E4">
                    <a:alpha val="70000"/>
                  </a:srgbClr>
                </a:solidFill>
                <a:latin typeface="MiSans" pitchFamily="34" charset="0"/>
                <a:ea typeface="MiSans" pitchFamily="34" charset="-122"/>
                <a:cs typeface="MiSans" pitchFamily="34" charset="-120"/>
              </a:rPr>
              <a:t>容器化隔离</a:t>
            </a:r>
            <a:endParaRPr lang="en-US" sz="1600" dirty="0"/>
          </a:p>
        </p:txBody>
      </p:sp>
      <p:sp>
        <p:nvSpPr>
          <p:cNvPr id="99" name="Shape 97"/>
          <p:cNvSpPr/>
          <p:nvPr/>
        </p:nvSpPr>
        <p:spPr>
          <a:xfrm>
            <a:off x="13309600" y="7226300"/>
            <a:ext cx="2273300" cy="660400"/>
          </a:xfrm>
          <a:custGeom>
            <a:avLst/>
            <a:gdLst/>
            <a:ahLst/>
            <a:cxnLst/>
            <a:rect l="l" t="t" r="r" b="b"/>
            <a:pathLst>
              <a:path w="2273300" h="660400">
                <a:moveTo>
                  <a:pt x="50798" y="0"/>
                </a:moveTo>
                <a:lnTo>
                  <a:pt x="2222502" y="0"/>
                </a:lnTo>
                <a:cubicBezTo>
                  <a:pt x="2250557" y="0"/>
                  <a:pt x="2273300" y="22743"/>
                  <a:pt x="2273300" y="50798"/>
                </a:cubicBezTo>
                <a:lnTo>
                  <a:pt x="2273300" y="609602"/>
                </a:lnTo>
                <a:cubicBezTo>
                  <a:pt x="2273300" y="637657"/>
                  <a:pt x="2250557" y="660400"/>
                  <a:pt x="2222502" y="660400"/>
                </a:cubicBezTo>
                <a:lnTo>
                  <a:pt x="50798" y="660400"/>
                </a:lnTo>
                <a:cubicBezTo>
                  <a:pt x="22743" y="660400"/>
                  <a:pt x="0" y="637657"/>
                  <a:pt x="0" y="609602"/>
                </a:cubicBezTo>
                <a:lnTo>
                  <a:pt x="0" y="50798"/>
                </a:lnTo>
                <a:cubicBezTo>
                  <a:pt x="0" y="22743"/>
                  <a:pt x="22743" y="0"/>
                  <a:pt x="50798" y="0"/>
                </a:cubicBezTo>
                <a:close/>
              </a:path>
            </a:pathLst>
          </a:custGeom>
          <a:solidFill>
            <a:srgbClr val="1A1D21">
              <a:alpha val="50196"/>
            </a:srgbClr>
          </a:solidFill>
          <a:ln/>
        </p:spPr>
        <p:txBody>
          <a:bodyPr/>
          <a:lstStyle/>
          <a:p>
            <a:endParaRPr lang="zh-CN" altLang="en-US"/>
          </a:p>
        </p:txBody>
      </p:sp>
      <p:sp>
        <p:nvSpPr>
          <p:cNvPr id="100" name="Text 98"/>
          <p:cNvSpPr/>
          <p:nvPr/>
        </p:nvSpPr>
        <p:spPr>
          <a:xfrm>
            <a:off x="13373100" y="7327900"/>
            <a:ext cx="2146300" cy="203200"/>
          </a:xfrm>
          <a:prstGeom prst="rect">
            <a:avLst/>
          </a:prstGeom>
          <a:noFill/>
          <a:ln/>
        </p:spPr>
        <p:txBody>
          <a:bodyPr wrap="square" lIns="0" tIns="0" rIns="0" bIns="0" rtlCol="0" anchor="ctr"/>
          <a:lstStyle/>
          <a:p>
            <a:pPr algn="ctr">
              <a:lnSpc>
                <a:spcPct val="110000"/>
              </a:lnSpc>
            </a:pPr>
            <a:r>
              <a:rPr lang="en-US" sz="1200" b="1" dirty="0">
                <a:solidFill>
                  <a:srgbClr val="E0E2E4"/>
                </a:solidFill>
                <a:latin typeface="MiSans" pitchFamily="34" charset="0"/>
                <a:ea typeface="MiSans" pitchFamily="34" charset="-122"/>
                <a:cs typeface="MiSans" pitchFamily="34" charset="-120"/>
              </a:rPr>
              <a:t>监控层</a:t>
            </a:r>
            <a:endParaRPr lang="en-US" sz="1600" dirty="0"/>
          </a:p>
        </p:txBody>
      </p:sp>
      <p:sp>
        <p:nvSpPr>
          <p:cNvPr id="101" name="Text 99"/>
          <p:cNvSpPr/>
          <p:nvPr/>
        </p:nvSpPr>
        <p:spPr>
          <a:xfrm>
            <a:off x="13373100" y="7581900"/>
            <a:ext cx="2146300" cy="203200"/>
          </a:xfrm>
          <a:prstGeom prst="rect">
            <a:avLst/>
          </a:prstGeom>
          <a:noFill/>
          <a:ln/>
        </p:spPr>
        <p:txBody>
          <a:bodyPr wrap="square" lIns="0" tIns="0" rIns="0" bIns="0" rtlCol="0" anchor="ctr"/>
          <a:lstStyle/>
          <a:p>
            <a:pPr algn="ctr">
              <a:lnSpc>
                <a:spcPct val="110000"/>
              </a:lnSpc>
            </a:pPr>
            <a:r>
              <a:rPr lang="en-US" sz="1200" dirty="0">
                <a:solidFill>
                  <a:srgbClr val="E0E2E4">
                    <a:alpha val="70000"/>
                  </a:srgbClr>
                </a:solidFill>
                <a:latin typeface="MiSans" pitchFamily="34" charset="0"/>
                <a:ea typeface="MiSans" pitchFamily="34" charset="-122"/>
                <a:cs typeface="MiSans" pitchFamily="34" charset="-120"/>
              </a:rPr>
              <a:t>资源使用统计</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76366" y="524003"/>
            <a:ext cx="381093" cy="381093"/>
          </a:xfrm>
          <a:custGeom>
            <a:avLst/>
            <a:gdLst/>
            <a:ahLst/>
            <a:cxnLst/>
            <a:rect l="l" t="t" r="r" b="b"/>
            <a:pathLst>
              <a:path w="381093" h="381093">
                <a:moveTo>
                  <a:pt x="71455" y="0"/>
                </a:moveTo>
                <a:lnTo>
                  <a:pt x="309638" y="0"/>
                </a:lnTo>
                <a:cubicBezTo>
                  <a:pt x="349102" y="0"/>
                  <a:pt x="381093" y="31991"/>
                  <a:pt x="381093" y="71455"/>
                </a:cubicBezTo>
                <a:lnTo>
                  <a:pt x="381093" y="309638"/>
                </a:lnTo>
                <a:cubicBezTo>
                  <a:pt x="381093" y="349102"/>
                  <a:pt x="349102" y="381093"/>
                  <a:pt x="309638" y="381093"/>
                </a:cubicBezTo>
                <a:lnTo>
                  <a:pt x="71455" y="381093"/>
                </a:lnTo>
                <a:cubicBezTo>
                  <a:pt x="31991" y="381093"/>
                  <a:pt x="0" y="349102"/>
                  <a:pt x="0" y="309638"/>
                </a:cubicBezTo>
                <a:lnTo>
                  <a:pt x="0" y="71455"/>
                </a:lnTo>
                <a:cubicBezTo>
                  <a:pt x="0" y="31991"/>
                  <a:pt x="31991" y="0"/>
                  <a:pt x="71455" y="0"/>
                </a:cubicBezTo>
                <a:close/>
              </a:path>
            </a:pathLst>
          </a:custGeom>
          <a:solidFill>
            <a:srgbClr val="3C8082"/>
          </a:solidFill>
          <a:ln/>
        </p:spPr>
        <p:txBody>
          <a:bodyPr/>
          <a:lstStyle/>
          <a:p>
            <a:endParaRPr lang="zh-CN" altLang="en-US"/>
          </a:p>
        </p:txBody>
      </p:sp>
      <p:sp>
        <p:nvSpPr>
          <p:cNvPr id="3" name="Text 1"/>
          <p:cNvSpPr/>
          <p:nvPr/>
        </p:nvSpPr>
        <p:spPr>
          <a:xfrm>
            <a:off x="428730" y="524003"/>
            <a:ext cx="476366" cy="381093"/>
          </a:xfrm>
          <a:prstGeom prst="rect">
            <a:avLst/>
          </a:prstGeom>
          <a:noFill/>
          <a:ln/>
        </p:spPr>
        <p:txBody>
          <a:bodyPr wrap="square" lIns="0" tIns="0" rIns="0" bIns="0" rtlCol="0" anchor="ctr"/>
          <a:lstStyle/>
          <a:p>
            <a:pPr algn="ctr">
              <a:lnSpc>
                <a:spcPct val="130000"/>
              </a:lnSpc>
            </a:pPr>
            <a:r>
              <a:rPr lang="en-US" sz="1500" b="1" dirty="0">
                <a:solidFill>
                  <a:srgbClr val="FFFFFF"/>
                </a:solidFill>
                <a:latin typeface="Liter" pitchFamily="34" charset="0"/>
                <a:ea typeface="Liter" pitchFamily="34" charset="-122"/>
                <a:cs typeface="Liter" pitchFamily="34" charset="-120"/>
              </a:rPr>
              <a:t>10</a:t>
            </a:r>
            <a:endParaRPr lang="en-US" sz="1600" dirty="0"/>
          </a:p>
        </p:txBody>
      </p:sp>
      <p:sp>
        <p:nvSpPr>
          <p:cNvPr id="4" name="Text 2"/>
          <p:cNvSpPr/>
          <p:nvPr/>
        </p:nvSpPr>
        <p:spPr>
          <a:xfrm>
            <a:off x="1000369" y="476366"/>
            <a:ext cx="4704117" cy="476366"/>
          </a:xfrm>
          <a:prstGeom prst="rect">
            <a:avLst/>
          </a:prstGeom>
          <a:noFill/>
          <a:ln/>
        </p:spPr>
        <p:txBody>
          <a:bodyPr wrap="square" lIns="0" tIns="0" rIns="0" bIns="0" rtlCol="0" anchor="ctr"/>
          <a:lstStyle/>
          <a:p>
            <a:pPr>
              <a:lnSpc>
                <a:spcPct val="90000"/>
              </a:lnSpc>
            </a:pPr>
            <a:r>
              <a:rPr lang="en-US" sz="3376" b="1" dirty="0">
                <a:solidFill>
                  <a:srgbClr val="E0E2E4"/>
                </a:solidFill>
                <a:latin typeface="MiSans" pitchFamily="34" charset="0"/>
                <a:ea typeface="MiSans" pitchFamily="34" charset="-122"/>
                <a:cs typeface="MiSans" pitchFamily="34" charset="-120"/>
              </a:rPr>
              <a:t>Container资源抽象模型</a:t>
            </a:r>
            <a:endParaRPr lang="en-US" sz="1600" dirty="0"/>
          </a:p>
        </p:txBody>
      </p:sp>
      <p:sp>
        <p:nvSpPr>
          <p:cNvPr id="5" name="Text 3"/>
          <p:cNvSpPr/>
          <p:nvPr/>
        </p:nvSpPr>
        <p:spPr>
          <a:xfrm>
            <a:off x="476366" y="1048006"/>
            <a:ext cx="15410450" cy="333456"/>
          </a:xfrm>
          <a:prstGeom prst="rect">
            <a:avLst/>
          </a:prstGeom>
          <a:noFill/>
          <a:ln/>
        </p:spPr>
        <p:txBody>
          <a:bodyPr wrap="square" lIns="0" tIns="0" rIns="0" bIns="0" rtlCol="0" anchor="ctr"/>
          <a:lstStyle/>
          <a:p>
            <a:pPr>
              <a:lnSpc>
                <a:spcPct val="130000"/>
              </a:lnSpc>
            </a:pPr>
            <a:r>
              <a:rPr lang="en-US" sz="1688" b="1" dirty="0">
                <a:solidFill>
                  <a:srgbClr val="B38B59"/>
                </a:solidFill>
                <a:latin typeface="MiSans" pitchFamily="34" charset="0"/>
                <a:ea typeface="MiSans" pitchFamily="34" charset="-122"/>
                <a:cs typeface="MiSans" pitchFamily="34" charset="-120"/>
              </a:rPr>
              <a:t>四大管理维度:标识、资源、位置、安全的完整资源模型</a:t>
            </a:r>
            <a:endParaRPr lang="en-US" sz="1600" dirty="0"/>
          </a:p>
        </p:txBody>
      </p:sp>
      <p:sp>
        <p:nvSpPr>
          <p:cNvPr id="6" name="Shape 4"/>
          <p:cNvSpPr/>
          <p:nvPr/>
        </p:nvSpPr>
        <p:spPr>
          <a:xfrm>
            <a:off x="482321" y="1577963"/>
            <a:ext cx="7550406" cy="5906942"/>
          </a:xfrm>
          <a:custGeom>
            <a:avLst/>
            <a:gdLst/>
            <a:ahLst/>
            <a:cxnLst/>
            <a:rect l="l" t="t" r="r" b="b"/>
            <a:pathLst>
              <a:path w="7550406" h="5906942">
                <a:moveTo>
                  <a:pt x="95279" y="0"/>
                </a:moveTo>
                <a:lnTo>
                  <a:pt x="7455127" y="0"/>
                </a:lnTo>
                <a:cubicBezTo>
                  <a:pt x="7507748" y="0"/>
                  <a:pt x="7550406" y="42658"/>
                  <a:pt x="7550406" y="95279"/>
                </a:cubicBezTo>
                <a:lnTo>
                  <a:pt x="7550406" y="5811663"/>
                </a:lnTo>
                <a:cubicBezTo>
                  <a:pt x="7550406" y="5864284"/>
                  <a:pt x="7507748" y="5906942"/>
                  <a:pt x="7455127" y="5906942"/>
                </a:cubicBezTo>
                <a:lnTo>
                  <a:pt x="95279" y="5906942"/>
                </a:lnTo>
                <a:cubicBezTo>
                  <a:pt x="42658" y="5906942"/>
                  <a:pt x="0" y="5864284"/>
                  <a:pt x="0" y="5811663"/>
                </a:cubicBezTo>
                <a:lnTo>
                  <a:pt x="0" y="95279"/>
                </a:lnTo>
                <a:cubicBezTo>
                  <a:pt x="0" y="42693"/>
                  <a:pt x="42693" y="0"/>
                  <a:pt x="9527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78822" y="1774464"/>
            <a:ext cx="476366" cy="476366"/>
          </a:xfrm>
          <a:custGeom>
            <a:avLst/>
            <a:gdLst/>
            <a:ahLst/>
            <a:cxnLst/>
            <a:rect l="l" t="t" r="r" b="b"/>
            <a:pathLst>
              <a:path w="476366" h="476366">
                <a:moveTo>
                  <a:pt x="95273" y="0"/>
                </a:moveTo>
                <a:lnTo>
                  <a:pt x="381093" y="0"/>
                </a:lnTo>
                <a:cubicBezTo>
                  <a:pt x="433711" y="0"/>
                  <a:pt x="476366" y="42655"/>
                  <a:pt x="476366" y="95273"/>
                </a:cubicBezTo>
                <a:lnTo>
                  <a:pt x="476366" y="381093"/>
                </a:lnTo>
                <a:cubicBezTo>
                  <a:pt x="476366" y="433711"/>
                  <a:pt x="433711" y="476366"/>
                  <a:pt x="381093" y="476366"/>
                </a:cubicBezTo>
                <a:lnTo>
                  <a:pt x="95273" y="476366"/>
                </a:lnTo>
                <a:cubicBezTo>
                  <a:pt x="42655" y="476366"/>
                  <a:pt x="0" y="433711"/>
                  <a:pt x="0" y="381093"/>
                </a:cubicBezTo>
                <a:lnTo>
                  <a:pt x="0" y="95273"/>
                </a:lnTo>
                <a:cubicBezTo>
                  <a:pt x="0" y="42691"/>
                  <a:pt x="42691" y="0"/>
                  <a:pt x="95273" y="0"/>
                </a:cubicBezTo>
                <a:close/>
              </a:path>
            </a:pathLst>
          </a:custGeom>
          <a:solidFill>
            <a:srgbClr val="3C8082"/>
          </a:solidFill>
          <a:ln/>
        </p:spPr>
        <p:txBody>
          <a:bodyPr/>
          <a:lstStyle/>
          <a:p>
            <a:endParaRPr lang="zh-CN" altLang="en-US"/>
          </a:p>
        </p:txBody>
      </p:sp>
      <p:sp>
        <p:nvSpPr>
          <p:cNvPr id="8" name="Shape 6"/>
          <p:cNvSpPr/>
          <p:nvPr/>
        </p:nvSpPr>
        <p:spPr>
          <a:xfrm>
            <a:off x="797914" y="1893556"/>
            <a:ext cx="238183" cy="238183"/>
          </a:xfrm>
          <a:custGeom>
            <a:avLst/>
            <a:gdLst/>
            <a:ahLst/>
            <a:cxnLst/>
            <a:rect l="l" t="t" r="r" b="b"/>
            <a:pathLst>
              <a:path w="238183" h="238183">
                <a:moveTo>
                  <a:pt x="15119" y="44659"/>
                </a:moveTo>
                <a:lnTo>
                  <a:pt x="15119" y="114207"/>
                </a:lnTo>
                <a:cubicBezTo>
                  <a:pt x="15119" y="122115"/>
                  <a:pt x="18236" y="129698"/>
                  <a:pt x="23818" y="135281"/>
                </a:cubicBezTo>
                <a:lnTo>
                  <a:pt x="113137" y="224599"/>
                </a:lnTo>
                <a:cubicBezTo>
                  <a:pt x="124767" y="236229"/>
                  <a:pt x="143608" y="236229"/>
                  <a:pt x="155238" y="224599"/>
                </a:cubicBezTo>
                <a:lnTo>
                  <a:pt x="224785" y="155052"/>
                </a:lnTo>
                <a:cubicBezTo>
                  <a:pt x="236415" y="143422"/>
                  <a:pt x="236415" y="124581"/>
                  <a:pt x="224785" y="112951"/>
                </a:cubicBezTo>
                <a:lnTo>
                  <a:pt x="135467" y="23632"/>
                </a:lnTo>
                <a:cubicBezTo>
                  <a:pt x="129884" y="18003"/>
                  <a:pt x="122348" y="14886"/>
                  <a:pt x="114440" y="14886"/>
                </a:cubicBezTo>
                <a:lnTo>
                  <a:pt x="44892" y="14886"/>
                </a:lnTo>
                <a:cubicBezTo>
                  <a:pt x="28470" y="14886"/>
                  <a:pt x="15119" y="28238"/>
                  <a:pt x="15119" y="44659"/>
                </a:cubicBezTo>
                <a:close/>
                <a:moveTo>
                  <a:pt x="67222" y="52103"/>
                </a:moveTo>
                <a:cubicBezTo>
                  <a:pt x="75438" y="52103"/>
                  <a:pt x="82108" y="58773"/>
                  <a:pt x="82108" y="66989"/>
                </a:cubicBezTo>
                <a:cubicBezTo>
                  <a:pt x="82108" y="75205"/>
                  <a:pt x="75438" y="81875"/>
                  <a:pt x="67222" y="81875"/>
                </a:cubicBezTo>
                <a:cubicBezTo>
                  <a:pt x="59006" y="81875"/>
                  <a:pt x="52335" y="75205"/>
                  <a:pt x="52335" y="66989"/>
                </a:cubicBezTo>
                <a:cubicBezTo>
                  <a:pt x="52335" y="58773"/>
                  <a:pt x="59006" y="52103"/>
                  <a:pt x="67222" y="52103"/>
                </a:cubicBezTo>
                <a:close/>
              </a:path>
            </a:pathLst>
          </a:custGeom>
          <a:solidFill>
            <a:srgbClr val="FFFFFF"/>
          </a:solidFill>
          <a:ln/>
        </p:spPr>
        <p:txBody>
          <a:bodyPr/>
          <a:lstStyle/>
          <a:p>
            <a:endParaRPr lang="zh-CN" altLang="en-US"/>
          </a:p>
        </p:txBody>
      </p:sp>
      <p:sp>
        <p:nvSpPr>
          <p:cNvPr id="9" name="Text 7"/>
          <p:cNvSpPr/>
          <p:nvPr/>
        </p:nvSpPr>
        <p:spPr>
          <a:xfrm>
            <a:off x="1250462" y="1822101"/>
            <a:ext cx="2572378" cy="381093"/>
          </a:xfrm>
          <a:prstGeom prst="rect">
            <a:avLst/>
          </a:prstGeom>
          <a:noFill/>
          <a:ln/>
        </p:spPr>
        <p:txBody>
          <a:bodyPr wrap="square" lIns="0" tIns="0" rIns="0" bIns="0" rtlCol="0" anchor="ctr"/>
          <a:lstStyle/>
          <a:p>
            <a:pPr>
              <a:lnSpc>
                <a:spcPct val="110000"/>
              </a:lnSpc>
            </a:pPr>
            <a:r>
              <a:rPr lang="en-US" sz="2251" b="1" dirty="0">
                <a:solidFill>
                  <a:srgbClr val="E0E2E4"/>
                </a:solidFill>
                <a:latin typeface="MiSans" pitchFamily="34" charset="0"/>
                <a:ea typeface="MiSans" pitchFamily="34" charset="-122"/>
                <a:cs typeface="MiSans" pitchFamily="34" charset="-120"/>
              </a:rPr>
              <a:t>Container标识管理</a:t>
            </a:r>
            <a:endParaRPr lang="en-US" sz="1600" dirty="0"/>
          </a:p>
        </p:txBody>
      </p:sp>
      <p:sp>
        <p:nvSpPr>
          <p:cNvPr id="10" name="Shape 8"/>
          <p:cNvSpPr/>
          <p:nvPr/>
        </p:nvSpPr>
        <p:spPr>
          <a:xfrm>
            <a:off x="678822" y="2393741"/>
            <a:ext cx="7157404" cy="1524372"/>
          </a:xfrm>
          <a:custGeom>
            <a:avLst/>
            <a:gdLst/>
            <a:ahLst/>
            <a:cxnLst/>
            <a:rect l="l" t="t" r="r" b="b"/>
            <a:pathLst>
              <a:path w="7157404" h="1524372">
                <a:moveTo>
                  <a:pt x="95273" y="0"/>
                </a:moveTo>
                <a:lnTo>
                  <a:pt x="7062130" y="0"/>
                </a:lnTo>
                <a:cubicBezTo>
                  <a:pt x="7114748" y="0"/>
                  <a:pt x="7157404" y="42655"/>
                  <a:pt x="7157404" y="95273"/>
                </a:cubicBezTo>
                <a:lnTo>
                  <a:pt x="7157404" y="1429099"/>
                </a:lnTo>
                <a:cubicBezTo>
                  <a:pt x="7157404" y="1481717"/>
                  <a:pt x="7114748" y="1524372"/>
                  <a:pt x="7062130" y="1524372"/>
                </a:cubicBezTo>
                <a:lnTo>
                  <a:pt x="95273" y="1524372"/>
                </a:lnTo>
                <a:cubicBezTo>
                  <a:pt x="42655" y="1524372"/>
                  <a:pt x="0" y="1481717"/>
                  <a:pt x="0" y="1429099"/>
                </a:cubicBezTo>
                <a:lnTo>
                  <a:pt x="0" y="95273"/>
                </a:lnTo>
                <a:cubicBezTo>
                  <a:pt x="0" y="42691"/>
                  <a:pt x="42691" y="0"/>
                  <a:pt x="95273" y="0"/>
                </a:cubicBezTo>
                <a:close/>
              </a:path>
            </a:pathLst>
          </a:custGeom>
          <a:solidFill>
            <a:srgbClr val="1A1D21">
              <a:alpha val="50196"/>
            </a:srgbClr>
          </a:solidFill>
          <a:ln/>
        </p:spPr>
        <p:txBody>
          <a:bodyPr/>
          <a:lstStyle/>
          <a:p>
            <a:endParaRPr lang="zh-CN" altLang="en-US"/>
          </a:p>
        </p:txBody>
      </p:sp>
      <p:sp>
        <p:nvSpPr>
          <p:cNvPr id="11" name="Shape 9"/>
          <p:cNvSpPr/>
          <p:nvPr/>
        </p:nvSpPr>
        <p:spPr>
          <a:xfrm>
            <a:off x="851505" y="2596196"/>
            <a:ext cx="214365" cy="214365"/>
          </a:xfrm>
          <a:custGeom>
            <a:avLst/>
            <a:gdLst/>
            <a:ahLst/>
            <a:cxnLst/>
            <a:rect l="l" t="t" r="r" b="b"/>
            <a:pathLst>
              <a:path w="214365" h="214365">
                <a:moveTo>
                  <a:pt x="89891" y="293"/>
                </a:moveTo>
                <a:cubicBezTo>
                  <a:pt x="97134" y="1842"/>
                  <a:pt x="101740" y="8960"/>
                  <a:pt x="100190" y="16203"/>
                </a:cubicBezTo>
                <a:lnTo>
                  <a:pt x="92194" y="53591"/>
                </a:lnTo>
                <a:lnTo>
                  <a:pt x="145157" y="53591"/>
                </a:lnTo>
                <a:lnTo>
                  <a:pt x="154368" y="10593"/>
                </a:lnTo>
                <a:cubicBezTo>
                  <a:pt x="155917" y="3349"/>
                  <a:pt x="163035" y="-1256"/>
                  <a:pt x="170278" y="293"/>
                </a:cubicBezTo>
                <a:cubicBezTo>
                  <a:pt x="177521" y="1842"/>
                  <a:pt x="182126" y="8960"/>
                  <a:pt x="180577" y="16203"/>
                </a:cubicBezTo>
                <a:lnTo>
                  <a:pt x="172580" y="53591"/>
                </a:lnTo>
                <a:lnTo>
                  <a:pt x="200967" y="53591"/>
                </a:lnTo>
                <a:cubicBezTo>
                  <a:pt x="208378" y="53591"/>
                  <a:pt x="214365" y="59578"/>
                  <a:pt x="214365" y="66989"/>
                </a:cubicBezTo>
                <a:cubicBezTo>
                  <a:pt x="214365" y="74400"/>
                  <a:pt x="208378" y="80387"/>
                  <a:pt x="200967" y="80387"/>
                </a:cubicBezTo>
                <a:lnTo>
                  <a:pt x="166803" y="80387"/>
                </a:lnTo>
                <a:lnTo>
                  <a:pt x="155331" y="133978"/>
                </a:lnTo>
                <a:lnTo>
                  <a:pt x="183717" y="133978"/>
                </a:lnTo>
                <a:cubicBezTo>
                  <a:pt x="191128" y="133978"/>
                  <a:pt x="197115" y="139965"/>
                  <a:pt x="197115" y="147376"/>
                </a:cubicBezTo>
                <a:cubicBezTo>
                  <a:pt x="197115" y="154786"/>
                  <a:pt x="191128" y="160774"/>
                  <a:pt x="183717" y="160774"/>
                </a:cubicBezTo>
                <a:lnTo>
                  <a:pt x="149553" y="160774"/>
                </a:lnTo>
                <a:lnTo>
                  <a:pt x="140342" y="203772"/>
                </a:lnTo>
                <a:cubicBezTo>
                  <a:pt x="138793" y="211015"/>
                  <a:pt x="131675" y="215621"/>
                  <a:pt x="124432" y="214072"/>
                </a:cubicBezTo>
                <a:cubicBezTo>
                  <a:pt x="117189" y="212523"/>
                  <a:pt x="112583" y="205405"/>
                  <a:pt x="114133" y="198162"/>
                </a:cubicBezTo>
                <a:lnTo>
                  <a:pt x="122129" y="160774"/>
                </a:lnTo>
                <a:lnTo>
                  <a:pt x="69166" y="160774"/>
                </a:lnTo>
                <a:lnTo>
                  <a:pt x="59955" y="203772"/>
                </a:lnTo>
                <a:cubicBezTo>
                  <a:pt x="58406" y="211015"/>
                  <a:pt x="51288" y="215621"/>
                  <a:pt x="44045" y="214072"/>
                </a:cubicBezTo>
                <a:cubicBezTo>
                  <a:pt x="36802" y="212523"/>
                  <a:pt x="32197" y="205405"/>
                  <a:pt x="33746" y="198162"/>
                </a:cubicBezTo>
                <a:lnTo>
                  <a:pt x="41784" y="160774"/>
                </a:lnTo>
                <a:lnTo>
                  <a:pt x="13398" y="160774"/>
                </a:lnTo>
                <a:cubicBezTo>
                  <a:pt x="5987" y="160774"/>
                  <a:pt x="0" y="154786"/>
                  <a:pt x="0" y="147376"/>
                </a:cubicBezTo>
                <a:cubicBezTo>
                  <a:pt x="0" y="139965"/>
                  <a:pt x="5987" y="133978"/>
                  <a:pt x="13398" y="133978"/>
                </a:cubicBezTo>
                <a:lnTo>
                  <a:pt x="47562" y="133978"/>
                </a:lnTo>
                <a:lnTo>
                  <a:pt x="59034" y="80387"/>
                </a:lnTo>
                <a:lnTo>
                  <a:pt x="30647" y="80387"/>
                </a:lnTo>
                <a:cubicBezTo>
                  <a:pt x="23237" y="80387"/>
                  <a:pt x="17250" y="74400"/>
                  <a:pt x="17250" y="66989"/>
                </a:cubicBezTo>
                <a:cubicBezTo>
                  <a:pt x="17250" y="59578"/>
                  <a:pt x="23237" y="53591"/>
                  <a:pt x="30647" y="53591"/>
                </a:cubicBezTo>
                <a:lnTo>
                  <a:pt x="64812" y="53591"/>
                </a:lnTo>
                <a:lnTo>
                  <a:pt x="74023" y="10593"/>
                </a:lnTo>
                <a:cubicBezTo>
                  <a:pt x="75530" y="3349"/>
                  <a:pt x="82648" y="-1256"/>
                  <a:pt x="89891" y="293"/>
                </a:cubicBezTo>
                <a:close/>
                <a:moveTo>
                  <a:pt x="86416" y="80387"/>
                </a:moveTo>
                <a:lnTo>
                  <a:pt x="74944" y="133978"/>
                </a:lnTo>
                <a:lnTo>
                  <a:pt x="127907" y="133978"/>
                </a:lnTo>
                <a:lnTo>
                  <a:pt x="139379" y="80387"/>
                </a:lnTo>
                <a:lnTo>
                  <a:pt x="86416" y="80387"/>
                </a:lnTo>
                <a:close/>
              </a:path>
            </a:pathLst>
          </a:custGeom>
          <a:solidFill>
            <a:srgbClr val="B38B59"/>
          </a:solidFill>
          <a:ln/>
        </p:spPr>
        <p:txBody>
          <a:bodyPr/>
          <a:lstStyle/>
          <a:p>
            <a:endParaRPr lang="zh-CN" altLang="en-US"/>
          </a:p>
        </p:txBody>
      </p:sp>
      <p:sp>
        <p:nvSpPr>
          <p:cNvPr id="12" name="Text 10"/>
          <p:cNvSpPr/>
          <p:nvPr/>
        </p:nvSpPr>
        <p:spPr>
          <a:xfrm>
            <a:off x="1184961" y="2536651"/>
            <a:ext cx="1274280" cy="333456"/>
          </a:xfrm>
          <a:prstGeom prst="rect">
            <a:avLst/>
          </a:prstGeom>
          <a:noFill/>
          <a:ln/>
        </p:spPr>
        <p:txBody>
          <a:bodyPr wrap="square" lIns="0" tIns="0" rIns="0" bIns="0" rtlCol="0" anchor="ctr"/>
          <a:lstStyle/>
          <a:p>
            <a:pPr>
              <a:lnSpc>
                <a:spcPct val="130000"/>
              </a:lnSpc>
            </a:pPr>
            <a:r>
              <a:rPr lang="en-US" sz="1688" b="1" dirty="0">
                <a:solidFill>
                  <a:srgbClr val="E0E2E4"/>
                </a:solidFill>
                <a:latin typeface="MiSans" pitchFamily="34" charset="0"/>
                <a:ea typeface="MiSans" pitchFamily="34" charset="-122"/>
                <a:cs typeface="MiSans" pitchFamily="34" charset="-120"/>
              </a:rPr>
              <a:t>ContainerID</a:t>
            </a:r>
            <a:endParaRPr lang="en-US" sz="1600" dirty="0"/>
          </a:p>
        </p:txBody>
      </p:sp>
      <p:sp>
        <p:nvSpPr>
          <p:cNvPr id="13" name="Text 11"/>
          <p:cNvSpPr/>
          <p:nvPr/>
        </p:nvSpPr>
        <p:spPr>
          <a:xfrm>
            <a:off x="821732" y="2965380"/>
            <a:ext cx="6954948" cy="238183"/>
          </a:xfrm>
          <a:prstGeom prst="rect">
            <a:avLst/>
          </a:prstGeom>
          <a:noFill/>
          <a:ln/>
        </p:spPr>
        <p:txBody>
          <a:bodyPr wrap="square" lIns="0" tIns="0" rIns="0" bIns="0" rtlCol="0" anchor="ctr"/>
          <a:lstStyle/>
          <a:p>
            <a:pPr>
              <a:lnSpc>
                <a:spcPct val="120000"/>
              </a:lnSpc>
            </a:pPr>
            <a:r>
              <a:rPr lang="en-US" sz="1313" dirty="0">
                <a:solidFill>
                  <a:srgbClr val="E0E2E4">
                    <a:alpha val="80000"/>
                  </a:srgbClr>
                </a:solidFill>
                <a:latin typeface="MiSans" pitchFamily="34" charset="0"/>
                <a:ea typeface="MiSans" pitchFamily="34" charset="-122"/>
                <a:cs typeface="MiSans" pitchFamily="34" charset="-120"/>
              </a:rPr>
              <a:t>• 全局唯一标识,确保每个Container可唯一识别</a:t>
            </a:r>
            <a:endParaRPr lang="en-US" sz="1600" dirty="0"/>
          </a:p>
        </p:txBody>
      </p:sp>
      <p:sp>
        <p:nvSpPr>
          <p:cNvPr id="14" name="Text 12"/>
          <p:cNvSpPr/>
          <p:nvPr/>
        </p:nvSpPr>
        <p:spPr>
          <a:xfrm>
            <a:off x="821732" y="3251200"/>
            <a:ext cx="6954948" cy="238183"/>
          </a:xfrm>
          <a:prstGeom prst="rect">
            <a:avLst/>
          </a:prstGeom>
          <a:noFill/>
          <a:ln/>
        </p:spPr>
        <p:txBody>
          <a:bodyPr wrap="square" lIns="0" tIns="0" rIns="0" bIns="0" rtlCol="0" anchor="ctr"/>
          <a:lstStyle/>
          <a:p>
            <a:pPr>
              <a:lnSpc>
                <a:spcPct val="120000"/>
              </a:lnSpc>
            </a:pPr>
            <a:r>
              <a:rPr lang="en-US" sz="1313" dirty="0">
                <a:solidFill>
                  <a:srgbClr val="E0E2E4">
                    <a:alpha val="80000"/>
                  </a:srgbClr>
                </a:solidFill>
                <a:latin typeface="MiSans" pitchFamily="34" charset="0"/>
                <a:ea typeface="MiSans" pitchFamily="34" charset="-122"/>
                <a:cs typeface="MiSans" pitchFamily="34" charset="-120"/>
              </a:rPr>
              <a:t>• 包含时间戳信息,记录Container创建时间</a:t>
            </a:r>
            <a:endParaRPr lang="en-US" sz="1600" dirty="0"/>
          </a:p>
        </p:txBody>
      </p:sp>
      <p:sp>
        <p:nvSpPr>
          <p:cNvPr id="15" name="Text 13"/>
          <p:cNvSpPr/>
          <p:nvPr/>
        </p:nvSpPr>
        <p:spPr>
          <a:xfrm>
            <a:off x="821732" y="3537020"/>
            <a:ext cx="6954948" cy="238183"/>
          </a:xfrm>
          <a:prstGeom prst="rect">
            <a:avLst/>
          </a:prstGeom>
          <a:noFill/>
          <a:ln/>
        </p:spPr>
        <p:txBody>
          <a:bodyPr wrap="square" lIns="0" tIns="0" rIns="0" bIns="0" rtlCol="0" anchor="ctr"/>
          <a:lstStyle/>
          <a:p>
            <a:pPr>
              <a:lnSpc>
                <a:spcPct val="120000"/>
              </a:lnSpc>
            </a:pPr>
            <a:r>
              <a:rPr lang="en-US" sz="1313" dirty="0">
                <a:solidFill>
                  <a:srgbClr val="E0E2E4">
                    <a:alpha val="80000"/>
                  </a:srgbClr>
                </a:solidFill>
                <a:latin typeface="MiSans" pitchFamily="34" charset="0"/>
                <a:ea typeface="MiSans" pitchFamily="34" charset="-122"/>
                <a:cs typeface="MiSans" pitchFamily="34" charset="-120"/>
              </a:rPr>
              <a:t>• 包含节点信息,标识Container所在NodeManager</a:t>
            </a:r>
            <a:endParaRPr lang="en-US" sz="1600" dirty="0"/>
          </a:p>
        </p:txBody>
      </p:sp>
      <p:sp>
        <p:nvSpPr>
          <p:cNvPr id="16" name="Shape 14"/>
          <p:cNvSpPr/>
          <p:nvPr/>
        </p:nvSpPr>
        <p:spPr>
          <a:xfrm>
            <a:off x="678822" y="4013386"/>
            <a:ext cx="7157404" cy="1524372"/>
          </a:xfrm>
          <a:custGeom>
            <a:avLst/>
            <a:gdLst/>
            <a:ahLst/>
            <a:cxnLst/>
            <a:rect l="l" t="t" r="r" b="b"/>
            <a:pathLst>
              <a:path w="7157404" h="1524372">
                <a:moveTo>
                  <a:pt x="95273" y="0"/>
                </a:moveTo>
                <a:lnTo>
                  <a:pt x="7062130" y="0"/>
                </a:lnTo>
                <a:cubicBezTo>
                  <a:pt x="7114748" y="0"/>
                  <a:pt x="7157404" y="42655"/>
                  <a:pt x="7157404" y="95273"/>
                </a:cubicBezTo>
                <a:lnTo>
                  <a:pt x="7157404" y="1429099"/>
                </a:lnTo>
                <a:cubicBezTo>
                  <a:pt x="7157404" y="1481717"/>
                  <a:pt x="7114748" y="1524372"/>
                  <a:pt x="7062130" y="1524372"/>
                </a:cubicBezTo>
                <a:lnTo>
                  <a:pt x="95273" y="1524372"/>
                </a:lnTo>
                <a:cubicBezTo>
                  <a:pt x="42655" y="1524372"/>
                  <a:pt x="0" y="1481717"/>
                  <a:pt x="0" y="1429099"/>
                </a:cubicBezTo>
                <a:lnTo>
                  <a:pt x="0" y="95273"/>
                </a:lnTo>
                <a:cubicBezTo>
                  <a:pt x="0" y="42691"/>
                  <a:pt x="42691" y="0"/>
                  <a:pt x="95273" y="0"/>
                </a:cubicBezTo>
                <a:close/>
              </a:path>
            </a:pathLst>
          </a:custGeom>
          <a:solidFill>
            <a:srgbClr val="1A1D21">
              <a:alpha val="50196"/>
            </a:srgbClr>
          </a:solidFill>
          <a:ln/>
        </p:spPr>
        <p:txBody>
          <a:bodyPr/>
          <a:lstStyle/>
          <a:p>
            <a:endParaRPr lang="zh-CN" altLang="en-US"/>
          </a:p>
        </p:txBody>
      </p:sp>
      <p:sp>
        <p:nvSpPr>
          <p:cNvPr id="17" name="Shape 15"/>
          <p:cNvSpPr/>
          <p:nvPr/>
        </p:nvSpPr>
        <p:spPr>
          <a:xfrm>
            <a:off x="864903" y="4215842"/>
            <a:ext cx="187569" cy="214365"/>
          </a:xfrm>
          <a:custGeom>
            <a:avLst/>
            <a:gdLst/>
            <a:ahLst/>
            <a:cxnLst/>
            <a:rect l="l" t="t" r="r" b="b"/>
            <a:pathLst>
              <a:path w="187569" h="214365">
                <a:moveTo>
                  <a:pt x="160774" y="40193"/>
                </a:moveTo>
                <a:lnTo>
                  <a:pt x="107182" y="40193"/>
                </a:lnTo>
                <a:lnTo>
                  <a:pt x="107182" y="93785"/>
                </a:lnTo>
                <a:lnTo>
                  <a:pt x="160774" y="93785"/>
                </a:lnTo>
                <a:lnTo>
                  <a:pt x="160774" y="40193"/>
                </a:lnTo>
                <a:close/>
                <a:moveTo>
                  <a:pt x="187569" y="93785"/>
                </a:moveTo>
                <a:lnTo>
                  <a:pt x="187569" y="174171"/>
                </a:lnTo>
                <a:cubicBezTo>
                  <a:pt x="187569" y="188951"/>
                  <a:pt x="175553" y="200967"/>
                  <a:pt x="160774" y="200967"/>
                </a:cubicBezTo>
                <a:lnTo>
                  <a:pt x="26796" y="200967"/>
                </a:lnTo>
                <a:cubicBezTo>
                  <a:pt x="12016" y="200967"/>
                  <a:pt x="0" y="188951"/>
                  <a:pt x="0" y="174171"/>
                </a:cubicBezTo>
                <a:lnTo>
                  <a:pt x="0" y="40193"/>
                </a:lnTo>
                <a:cubicBezTo>
                  <a:pt x="0" y="25414"/>
                  <a:pt x="12016" y="13398"/>
                  <a:pt x="26796" y="13398"/>
                </a:cubicBezTo>
                <a:lnTo>
                  <a:pt x="160774" y="13398"/>
                </a:lnTo>
                <a:cubicBezTo>
                  <a:pt x="175553" y="13398"/>
                  <a:pt x="187569" y="25414"/>
                  <a:pt x="187569" y="40193"/>
                </a:cubicBezTo>
                <a:lnTo>
                  <a:pt x="187569" y="93785"/>
                </a:lnTo>
                <a:close/>
                <a:moveTo>
                  <a:pt x="26796" y="120580"/>
                </a:moveTo>
                <a:lnTo>
                  <a:pt x="26796" y="174171"/>
                </a:lnTo>
                <a:lnTo>
                  <a:pt x="80387" y="174171"/>
                </a:lnTo>
                <a:lnTo>
                  <a:pt x="80387" y="120580"/>
                </a:lnTo>
                <a:lnTo>
                  <a:pt x="26796" y="120580"/>
                </a:lnTo>
                <a:close/>
                <a:moveTo>
                  <a:pt x="80387" y="93785"/>
                </a:moveTo>
                <a:lnTo>
                  <a:pt x="80387" y="40193"/>
                </a:lnTo>
                <a:lnTo>
                  <a:pt x="26796" y="40193"/>
                </a:lnTo>
                <a:lnTo>
                  <a:pt x="26796" y="93785"/>
                </a:lnTo>
                <a:lnTo>
                  <a:pt x="80387" y="93785"/>
                </a:lnTo>
                <a:close/>
                <a:moveTo>
                  <a:pt x="107182" y="120580"/>
                </a:moveTo>
                <a:lnTo>
                  <a:pt x="107182" y="174171"/>
                </a:lnTo>
                <a:lnTo>
                  <a:pt x="160774" y="174171"/>
                </a:lnTo>
                <a:lnTo>
                  <a:pt x="160774" y="120580"/>
                </a:lnTo>
                <a:lnTo>
                  <a:pt x="107182" y="120580"/>
                </a:lnTo>
                <a:close/>
              </a:path>
            </a:pathLst>
          </a:custGeom>
          <a:solidFill>
            <a:srgbClr val="B38B59"/>
          </a:solidFill>
          <a:ln/>
        </p:spPr>
        <p:txBody>
          <a:bodyPr/>
          <a:lstStyle/>
          <a:p>
            <a:endParaRPr lang="zh-CN" altLang="en-US"/>
          </a:p>
        </p:txBody>
      </p:sp>
      <p:sp>
        <p:nvSpPr>
          <p:cNvPr id="18" name="Text 16"/>
          <p:cNvSpPr/>
          <p:nvPr/>
        </p:nvSpPr>
        <p:spPr>
          <a:xfrm>
            <a:off x="1184961" y="4156296"/>
            <a:ext cx="1417190" cy="333456"/>
          </a:xfrm>
          <a:prstGeom prst="rect">
            <a:avLst/>
          </a:prstGeom>
          <a:noFill/>
          <a:ln/>
        </p:spPr>
        <p:txBody>
          <a:bodyPr wrap="square" lIns="0" tIns="0" rIns="0" bIns="0" rtlCol="0" anchor="ctr"/>
          <a:lstStyle/>
          <a:p>
            <a:pPr>
              <a:lnSpc>
                <a:spcPct val="130000"/>
              </a:lnSpc>
            </a:pPr>
            <a:r>
              <a:rPr lang="en-US" sz="1688" b="1" dirty="0">
                <a:solidFill>
                  <a:srgbClr val="E0E2E4"/>
                </a:solidFill>
                <a:latin typeface="MiSans" pitchFamily="34" charset="0"/>
                <a:ea typeface="MiSans" pitchFamily="34" charset="-122"/>
                <a:cs typeface="MiSans" pitchFamily="34" charset="-120"/>
              </a:rPr>
              <a:t>ApplicationID</a:t>
            </a:r>
            <a:endParaRPr lang="en-US" sz="1600" dirty="0"/>
          </a:p>
        </p:txBody>
      </p:sp>
      <p:sp>
        <p:nvSpPr>
          <p:cNvPr id="19" name="Text 17"/>
          <p:cNvSpPr/>
          <p:nvPr/>
        </p:nvSpPr>
        <p:spPr>
          <a:xfrm>
            <a:off x="821732" y="4585026"/>
            <a:ext cx="6954948" cy="238183"/>
          </a:xfrm>
          <a:prstGeom prst="rect">
            <a:avLst/>
          </a:prstGeom>
          <a:noFill/>
          <a:ln/>
        </p:spPr>
        <p:txBody>
          <a:bodyPr wrap="square" lIns="0" tIns="0" rIns="0" bIns="0" rtlCol="0" anchor="ctr"/>
          <a:lstStyle/>
          <a:p>
            <a:pPr>
              <a:lnSpc>
                <a:spcPct val="120000"/>
              </a:lnSpc>
            </a:pPr>
            <a:r>
              <a:rPr lang="en-US" sz="1313" dirty="0">
                <a:solidFill>
                  <a:srgbClr val="E0E2E4">
                    <a:alpha val="80000"/>
                  </a:srgbClr>
                </a:solidFill>
                <a:latin typeface="MiSans" pitchFamily="34" charset="0"/>
                <a:ea typeface="MiSans" pitchFamily="34" charset="-122"/>
                <a:cs typeface="MiSans" pitchFamily="34" charset="-120"/>
              </a:rPr>
              <a:t>• 应用关联,标识Container所属的应用程序</a:t>
            </a:r>
            <a:endParaRPr lang="en-US" sz="1600" dirty="0"/>
          </a:p>
        </p:txBody>
      </p:sp>
      <p:sp>
        <p:nvSpPr>
          <p:cNvPr id="20" name="Text 18"/>
          <p:cNvSpPr/>
          <p:nvPr/>
        </p:nvSpPr>
        <p:spPr>
          <a:xfrm>
            <a:off x="821732" y="4870845"/>
            <a:ext cx="6954948" cy="238183"/>
          </a:xfrm>
          <a:prstGeom prst="rect">
            <a:avLst/>
          </a:prstGeom>
          <a:noFill/>
          <a:ln/>
        </p:spPr>
        <p:txBody>
          <a:bodyPr wrap="square" lIns="0" tIns="0" rIns="0" bIns="0" rtlCol="0" anchor="ctr"/>
          <a:lstStyle/>
          <a:p>
            <a:pPr>
              <a:lnSpc>
                <a:spcPct val="120000"/>
              </a:lnSpc>
            </a:pPr>
            <a:r>
              <a:rPr lang="en-US" sz="1313" dirty="0">
                <a:solidFill>
                  <a:srgbClr val="E0E2E4">
                    <a:alpha val="80000"/>
                  </a:srgbClr>
                </a:solidFill>
                <a:latin typeface="MiSans" pitchFamily="34" charset="0"/>
                <a:ea typeface="MiSans" pitchFamily="34" charset="-122"/>
                <a:cs typeface="MiSans" pitchFamily="34" charset="-120"/>
              </a:rPr>
              <a:t>• 版本控制,支持应用演进和兼容性管理</a:t>
            </a:r>
            <a:endParaRPr lang="en-US" sz="1600" dirty="0"/>
          </a:p>
        </p:txBody>
      </p:sp>
      <p:sp>
        <p:nvSpPr>
          <p:cNvPr id="21" name="Text 19"/>
          <p:cNvSpPr/>
          <p:nvPr/>
        </p:nvSpPr>
        <p:spPr>
          <a:xfrm>
            <a:off x="821732" y="5156665"/>
            <a:ext cx="6954948" cy="238183"/>
          </a:xfrm>
          <a:prstGeom prst="rect">
            <a:avLst/>
          </a:prstGeom>
          <a:noFill/>
          <a:ln/>
        </p:spPr>
        <p:txBody>
          <a:bodyPr wrap="square" lIns="0" tIns="0" rIns="0" bIns="0" rtlCol="0" anchor="ctr"/>
          <a:lstStyle/>
          <a:p>
            <a:pPr>
              <a:lnSpc>
                <a:spcPct val="120000"/>
              </a:lnSpc>
            </a:pPr>
            <a:r>
              <a:rPr lang="en-US" sz="1313" dirty="0">
                <a:solidFill>
                  <a:srgbClr val="E0E2E4">
                    <a:alpha val="80000"/>
                  </a:srgbClr>
                </a:solidFill>
                <a:latin typeface="MiSans" pitchFamily="34" charset="0"/>
                <a:ea typeface="MiSans" pitchFamily="34" charset="-122"/>
                <a:cs typeface="MiSans" pitchFamily="34" charset="-120"/>
              </a:rPr>
              <a:t>• 生命周期绑定,Container随应用创建和销毁</a:t>
            </a:r>
            <a:endParaRPr lang="en-US" sz="1600" dirty="0"/>
          </a:p>
        </p:txBody>
      </p:sp>
      <p:sp>
        <p:nvSpPr>
          <p:cNvPr id="22" name="Shape 20"/>
          <p:cNvSpPr/>
          <p:nvPr/>
        </p:nvSpPr>
        <p:spPr>
          <a:xfrm>
            <a:off x="678822" y="5633032"/>
            <a:ext cx="7157404" cy="1524372"/>
          </a:xfrm>
          <a:custGeom>
            <a:avLst/>
            <a:gdLst/>
            <a:ahLst/>
            <a:cxnLst/>
            <a:rect l="l" t="t" r="r" b="b"/>
            <a:pathLst>
              <a:path w="7157404" h="1524372">
                <a:moveTo>
                  <a:pt x="95273" y="0"/>
                </a:moveTo>
                <a:lnTo>
                  <a:pt x="7062130" y="0"/>
                </a:lnTo>
                <a:cubicBezTo>
                  <a:pt x="7114748" y="0"/>
                  <a:pt x="7157404" y="42655"/>
                  <a:pt x="7157404" y="95273"/>
                </a:cubicBezTo>
                <a:lnTo>
                  <a:pt x="7157404" y="1429099"/>
                </a:lnTo>
                <a:cubicBezTo>
                  <a:pt x="7157404" y="1481717"/>
                  <a:pt x="7114748" y="1524372"/>
                  <a:pt x="7062130" y="1524372"/>
                </a:cubicBezTo>
                <a:lnTo>
                  <a:pt x="95273" y="1524372"/>
                </a:lnTo>
                <a:cubicBezTo>
                  <a:pt x="42655" y="1524372"/>
                  <a:pt x="0" y="1481717"/>
                  <a:pt x="0" y="1429099"/>
                </a:cubicBezTo>
                <a:lnTo>
                  <a:pt x="0" y="95273"/>
                </a:lnTo>
                <a:cubicBezTo>
                  <a:pt x="0" y="42691"/>
                  <a:pt x="42691" y="0"/>
                  <a:pt x="95273" y="0"/>
                </a:cubicBezTo>
                <a:close/>
              </a:path>
            </a:pathLst>
          </a:custGeom>
          <a:solidFill>
            <a:srgbClr val="1A1D21">
              <a:alpha val="50196"/>
            </a:srgbClr>
          </a:solidFill>
          <a:ln/>
        </p:spPr>
        <p:txBody>
          <a:bodyPr/>
          <a:lstStyle/>
          <a:p>
            <a:endParaRPr lang="zh-CN" altLang="en-US"/>
          </a:p>
        </p:txBody>
      </p:sp>
      <p:sp>
        <p:nvSpPr>
          <p:cNvPr id="23" name="Shape 21"/>
          <p:cNvSpPr/>
          <p:nvPr/>
        </p:nvSpPr>
        <p:spPr>
          <a:xfrm>
            <a:off x="838107" y="5835487"/>
            <a:ext cx="241160" cy="214365"/>
          </a:xfrm>
          <a:custGeom>
            <a:avLst/>
            <a:gdLst/>
            <a:ahLst/>
            <a:cxnLst/>
            <a:rect l="l" t="t" r="r" b="b"/>
            <a:pathLst>
              <a:path w="241160" h="214365">
                <a:moveTo>
                  <a:pt x="63053" y="17333"/>
                </a:moveTo>
                <a:cubicBezTo>
                  <a:pt x="57820" y="12100"/>
                  <a:pt x="49321" y="12100"/>
                  <a:pt x="44087" y="17333"/>
                </a:cubicBezTo>
                <a:lnTo>
                  <a:pt x="3894" y="57527"/>
                </a:lnTo>
                <a:cubicBezTo>
                  <a:pt x="-1340" y="62760"/>
                  <a:pt x="-1340" y="71260"/>
                  <a:pt x="3894" y="76493"/>
                </a:cubicBezTo>
                <a:cubicBezTo>
                  <a:pt x="9127" y="81727"/>
                  <a:pt x="17626" y="81727"/>
                  <a:pt x="22860" y="76493"/>
                </a:cubicBezTo>
                <a:lnTo>
                  <a:pt x="40193" y="59160"/>
                </a:lnTo>
                <a:lnTo>
                  <a:pt x="40193" y="187569"/>
                </a:lnTo>
                <a:cubicBezTo>
                  <a:pt x="40193" y="194980"/>
                  <a:pt x="46181" y="200967"/>
                  <a:pt x="53591" y="200967"/>
                </a:cubicBezTo>
                <a:cubicBezTo>
                  <a:pt x="61002" y="200967"/>
                  <a:pt x="66989" y="194980"/>
                  <a:pt x="66989" y="187569"/>
                </a:cubicBezTo>
                <a:lnTo>
                  <a:pt x="66989" y="59160"/>
                </a:lnTo>
                <a:lnTo>
                  <a:pt x="84322" y="76493"/>
                </a:lnTo>
                <a:cubicBezTo>
                  <a:pt x="89556" y="81727"/>
                  <a:pt x="98055" y="81727"/>
                  <a:pt x="103289" y="76493"/>
                </a:cubicBezTo>
                <a:cubicBezTo>
                  <a:pt x="108522" y="71260"/>
                  <a:pt x="108522" y="62760"/>
                  <a:pt x="103289" y="57527"/>
                </a:cubicBezTo>
                <a:lnTo>
                  <a:pt x="63095" y="17333"/>
                </a:lnTo>
                <a:close/>
                <a:moveTo>
                  <a:pt x="133978" y="200967"/>
                </a:moveTo>
                <a:lnTo>
                  <a:pt x="147376" y="200967"/>
                </a:lnTo>
                <a:cubicBezTo>
                  <a:pt x="154786" y="200967"/>
                  <a:pt x="160774" y="194980"/>
                  <a:pt x="160774" y="187569"/>
                </a:cubicBezTo>
                <a:cubicBezTo>
                  <a:pt x="160774" y="180159"/>
                  <a:pt x="154786" y="174171"/>
                  <a:pt x="147376" y="174171"/>
                </a:cubicBezTo>
                <a:lnTo>
                  <a:pt x="133978" y="174171"/>
                </a:lnTo>
                <a:cubicBezTo>
                  <a:pt x="126567" y="174171"/>
                  <a:pt x="120580" y="180159"/>
                  <a:pt x="120580" y="187569"/>
                </a:cubicBezTo>
                <a:cubicBezTo>
                  <a:pt x="120580" y="194980"/>
                  <a:pt x="126567" y="200967"/>
                  <a:pt x="133978" y="200967"/>
                </a:cubicBezTo>
                <a:close/>
                <a:moveTo>
                  <a:pt x="133978" y="147376"/>
                </a:moveTo>
                <a:lnTo>
                  <a:pt x="174171" y="147376"/>
                </a:lnTo>
                <a:cubicBezTo>
                  <a:pt x="181582" y="147376"/>
                  <a:pt x="187569" y="141389"/>
                  <a:pt x="187569" y="133978"/>
                </a:cubicBezTo>
                <a:cubicBezTo>
                  <a:pt x="187569" y="126567"/>
                  <a:pt x="181582" y="120580"/>
                  <a:pt x="174171" y="120580"/>
                </a:cubicBezTo>
                <a:lnTo>
                  <a:pt x="133978" y="120580"/>
                </a:lnTo>
                <a:cubicBezTo>
                  <a:pt x="126567" y="120580"/>
                  <a:pt x="120580" y="126567"/>
                  <a:pt x="120580" y="133978"/>
                </a:cubicBezTo>
                <a:cubicBezTo>
                  <a:pt x="120580" y="141389"/>
                  <a:pt x="126567" y="147376"/>
                  <a:pt x="133978" y="147376"/>
                </a:cubicBezTo>
                <a:close/>
                <a:moveTo>
                  <a:pt x="133978" y="93785"/>
                </a:moveTo>
                <a:lnTo>
                  <a:pt x="200967" y="93785"/>
                </a:lnTo>
                <a:cubicBezTo>
                  <a:pt x="208378" y="93785"/>
                  <a:pt x="214365" y="87797"/>
                  <a:pt x="214365" y="80387"/>
                </a:cubicBezTo>
                <a:cubicBezTo>
                  <a:pt x="214365" y="72976"/>
                  <a:pt x="208378" y="66989"/>
                  <a:pt x="200967" y="66989"/>
                </a:cubicBezTo>
                <a:lnTo>
                  <a:pt x="133978" y="66989"/>
                </a:lnTo>
                <a:cubicBezTo>
                  <a:pt x="126567" y="66989"/>
                  <a:pt x="120580" y="72976"/>
                  <a:pt x="120580" y="80387"/>
                </a:cubicBezTo>
                <a:cubicBezTo>
                  <a:pt x="120580" y="87797"/>
                  <a:pt x="126567" y="93785"/>
                  <a:pt x="133978" y="93785"/>
                </a:cubicBezTo>
                <a:close/>
                <a:moveTo>
                  <a:pt x="133978" y="40193"/>
                </a:moveTo>
                <a:lnTo>
                  <a:pt x="227763" y="40193"/>
                </a:lnTo>
                <a:cubicBezTo>
                  <a:pt x="235173" y="40193"/>
                  <a:pt x="241160" y="34206"/>
                  <a:pt x="241160" y="26796"/>
                </a:cubicBezTo>
                <a:cubicBezTo>
                  <a:pt x="241160" y="19385"/>
                  <a:pt x="235173" y="13398"/>
                  <a:pt x="227763" y="13398"/>
                </a:cubicBezTo>
                <a:lnTo>
                  <a:pt x="133978" y="13398"/>
                </a:lnTo>
                <a:cubicBezTo>
                  <a:pt x="126567" y="13398"/>
                  <a:pt x="120580" y="19385"/>
                  <a:pt x="120580" y="26796"/>
                </a:cubicBezTo>
                <a:cubicBezTo>
                  <a:pt x="120580" y="34206"/>
                  <a:pt x="126567" y="40193"/>
                  <a:pt x="133978" y="40193"/>
                </a:cubicBezTo>
                <a:close/>
              </a:path>
            </a:pathLst>
          </a:custGeom>
          <a:solidFill>
            <a:srgbClr val="B38B59"/>
          </a:solidFill>
          <a:ln/>
        </p:spPr>
        <p:txBody>
          <a:bodyPr/>
          <a:lstStyle/>
          <a:p>
            <a:endParaRPr lang="zh-CN" altLang="en-US"/>
          </a:p>
        </p:txBody>
      </p:sp>
      <p:sp>
        <p:nvSpPr>
          <p:cNvPr id="24" name="Text 22"/>
          <p:cNvSpPr/>
          <p:nvPr/>
        </p:nvSpPr>
        <p:spPr>
          <a:xfrm>
            <a:off x="1184961" y="5775941"/>
            <a:ext cx="809823" cy="333456"/>
          </a:xfrm>
          <a:prstGeom prst="rect">
            <a:avLst/>
          </a:prstGeom>
          <a:noFill/>
          <a:ln/>
        </p:spPr>
        <p:txBody>
          <a:bodyPr wrap="square" lIns="0" tIns="0" rIns="0" bIns="0" rtlCol="0" anchor="ctr"/>
          <a:lstStyle/>
          <a:p>
            <a:pPr>
              <a:lnSpc>
                <a:spcPct val="130000"/>
              </a:lnSpc>
            </a:pPr>
            <a:r>
              <a:rPr lang="en-US" sz="1688" b="1" dirty="0">
                <a:solidFill>
                  <a:srgbClr val="E0E2E4"/>
                </a:solidFill>
                <a:latin typeface="MiSans" pitchFamily="34" charset="0"/>
                <a:ea typeface="MiSans" pitchFamily="34" charset="-122"/>
                <a:cs typeface="MiSans" pitchFamily="34" charset="-120"/>
              </a:rPr>
              <a:t>Priority</a:t>
            </a:r>
            <a:endParaRPr lang="en-US" sz="1600" dirty="0"/>
          </a:p>
        </p:txBody>
      </p:sp>
      <p:sp>
        <p:nvSpPr>
          <p:cNvPr id="25" name="Text 23"/>
          <p:cNvSpPr/>
          <p:nvPr/>
        </p:nvSpPr>
        <p:spPr>
          <a:xfrm>
            <a:off x="821732" y="6204671"/>
            <a:ext cx="6954948" cy="238183"/>
          </a:xfrm>
          <a:prstGeom prst="rect">
            <a:avLst/>
          </a:prstGeom>
          <a:noFill/>
          <a:ln/>
        </p:spPr>
        <p:txBody>
          <a:bodyPr wrap="square" lIns="0" tIns="0" rIns="0" bIns="0" rtlCol="0" anchor="ctr"/>
          <a:lstStyle/>
          <a:p>
            <a:pPr>
              <a:lnSpc>
                <a:spcPct val="120000"/>
              </a:lnSpc>
            </a:pPr>
            <a:r>
              <a:rPr lang="en-US" sz="1313" dirty="0">
                <a:solidFill>
                  <a:srgbClr val="E0E2E4">
                    <a:alpha val="80000"/>
                  </a:srgbClr>
                </a:solidFill>
                <a:latin typeface="MiSans" pitchFamily="34" charset="0"/>
                <a:ea typeface="MiSans" pitchFamily="34" charset="-122"/>
                <a:cs typeface="MiSans" pitchFamily="34" charset="-120"/>
              </a:rPr>
              <a:t>• 优先级权重,决定资源分配顺序</a:t>
            </a:r>
            <a:endParaRPr lang="en-US" sz="1600" dirty="0"/>
          </a:p>
        </p:txBody>
      </p:sp>
      <p:sp>
        <p:nvSpPr>
          <p:cNvPr id="26" name="Text 24"/>
          <p:cNvSpPr/>
          <p:nvPr/>
        </p:nvSpPr>
        <p:spPr>
          <a:xfrm>
            <a:off x="821732" y="6490491"/>
            <a:ext cx="6954948" cy="238183"/>
          </a:xfrm>
          <a:prstGeom prst="rect">
            <a:avLst/>
          </a:prstGeom>
          <a:noFill/>
          <a:ln/>
        </p:spPr>
        <p:txBody>
          <a:bodyPr wrap="square" lIns="0" tIns="0" rIns="0" bIns="0" rtlCol="0" anchor="ctr"/>
          <a:lstStyle/>
          <a:p>
            <a:pPr>
              <a:lnSpc>
                <a:spcPct val="120000"/>
              </a:lnSpc>
            </a:pPr>
            <a:r>
              <a:rPr lang="en-US" sz="1313" dirty="0">
                <a:solidFill>
                  <a:srgbClr val="E0E2E4">
                    <a:alpha val="80000"/>
                  </a:srgbClr>
                </a:solidFill>
                <a:latin typeface="MiSans" pitchFamily="34" charset="0"/>
                <a:ea typeface="MiSans" pitchFamily="34" charset="-122"/>
                <a:cs typeface="MiSans" pitchFamily="34" charset="-120"/>
              </a:rPr>
              <a:t>• 抢占策略,高优先级可抢占低优先级资源</a:t>
            </a:r>
            <a:endParaRPr lang="en-US" sz="1600" dirty="0"/>
          </a:p>
        </p:txBody>
      </p:sp>
      <p:sp>
        <p:nvSpPr>
          <p:cNvPr id="27" name="Text 25"/>
          <p:cNvSpPr/>
          <p:nvPr/>
        </p:nvSpPr>
        <p:spPr>
          <a:xfrm>
            <a:off x="821732" y="6776311"/>
            <a:ext cx="6954948" cy="238183"/>
          </a:xfrm>
          <a:prstGeom prst="rect">
            <a:avLst/>
          </a:prstGeom>
          <a:noFill/>
          <a:ln/>
        </p:spPr>
        <p:txBody>
          <a:bodyPr wrap="square" lIns="0" tIns="0" rIns="0" bIns="0" rtlCol="0" anchor="ctr"/>
          <a:lstStyle/>
          <a:p>
            <a:pPr>
              <a:lnSpc>
                <a:spcPct val="120000"/>
              </a:lnSpc>
            </a:pPr>
            <a:r>
              <a:rPr lang="en-US" sz="1313" dirty="0">
                <a:solidFill>
                  <a:srgbClr val="E0E2E4">
                    <a:alpha val="80000"/>
                  </a:srgbClr>
                </a:solidFill>
                <a:latin typeface="MiSans" pitchFamily="34" charset="0"/>
                <a:ea typeface="MiSans" pitchFamily="34" charset="-122"/>
                <a:cs typeface="MiSans" pitchFamily="34" charset="-120"/>
              </a:rPr>
              <a:t>• 调度顺序,影响作业的整体执行时间</a:t>
            </a:r>
            <a:endParaRPr lang="en-US" sz="1600" dirty="0"/>
          </a:p>
        </p:txBody>
      </p:sp>
      <p:sp>
        <p:nvSpPr>
          <p:cNvPr id="28" name="Shape 26"/>
          <p:cNvSpPr/>
          <p:nvPr/>
        </p:nvSpPr>
        <p:spPr>
          <a:xfrm>
            <a:off x="8231182" y="1577963"/>
            <a:ext cx="7550406" cy="5906942"/>
          </a:xfrm>
          <a:custGeom>
            <a:avLst/>
            <a:gdLst/>
            <a:ahLst/>
            <a:cxnLst/>
            <a:rect l="l" t="t" r="r" b="b"/>
            <a:pathLst>
              <a:path w="7550406" h="5906942">
                <a:moveTo>
                  <a:pt x="95279" y="0"/>
                </a:moveTo>
                <a:lnTo>
                  <a:pt x="7455127" y="0"/>
                </a:lnTo>
                <a:cubicBezTo>
                  <a:pt x="7507748" y="0"/>
                  <a:pt x="7550406" y="42658"/>
                  <a:pt x="7550406" y="95279"/>
                </a:cubicBezTo>
                <a:lnTo>
                  <a:pt x="7550406" y="5811663"/>
                </a:lnTo>
                <a:cubicBezTo>
                  <a:pt x="7550406" y="5864284"/>
                  <a:pt x="7507748" y="5906942"/>
                  <a:pt x="7455127" y="5906942"/>
                </a:cubicBezTo>
                <a:lnTo>
                  <a:pt x="95279" y="5906942"/>
                </a:lnTo>
                <a:cubicBezTo>
                  <a:pt x="42658" y="5906942"/>
                  <a:pt x="0" y="5864284"/>
                  <a:pt x="0" y="5811663"/>
                </a:cubicBezTo>
                <a:lnTo>
                  <a:pt x="0" y="95279"/>
                </a:lnTo>
                <a:cubicBezTo>
                  <a:pt x="0" y="42693"/>
                  <a:pt x="42693" y="0"/>
                  <a:pt x="95279"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9" name="Shape 27"/>
          <p:cNvSpPr/>
          <p:nvPr/>
        </p:nvSpPr>
        <p:spPr>
          <a:xfrm>
            <a:off x="8427683" y="1774464"/>
            <a:ext cx="476366" cy="476366"/>
          </a:xfrm>
          <a:custGeom>
            <a:avLst/>
            <a:gdLst/>
            <a:ahLst/>
            <a:cxnLst/>
            <a:rect l="l" t="t" r="r" b="b"/>
            <a:pathLst>
              <a:path w="476366" h="476366">
                <a:moveTo>
                  <a:pt x="95273" y="0"/>
                </a:moveTo>
                <a:lnTo>
                  <a:pt x="381093" y="0"/>
                </a:lnTo>
                <a:cubicBezTo>
                  <a:pt x="433711" y="0"/>
                  <a:pt x="476366" y="42655"/>
                  <a:pt x="476366" y="95273"/>
                </a:cubicBezTo>
                <a:lnTo>
                  <a:pt x="476366" y="381093"/>
                </a:lnTo>
                <a:cubicBezTo>
                  <a:pt x="476366" y="433711"/>
                  <a:pt x="433711" y="476366"/>
                  <a:pt x="381093" y="476366"/>
                </a:cubicBezTo>
                <a:lnTo>
                  <a:pt x="95273" y="476366"/>
                </a:lnTo>
                <a:cubicBezTo>
                  <a:pt x="42655" y="476366"/>
                  <a:pt x="0" y="433711"/>
                  <a:pt x="0" y="381093"/>
                </a:cubicBezTo>
                <a:lnTo>
                  <a:pt x="0" y="95273"/>
                </a:lnTo>
                <a:cubicBezTo>
                  <a:pt x="0" y="42691"/>
                  <a:pt x="42691" y="0"/>
                  <a:pt x="95273" y="0"/>
                </a:cubicBezTo>
                <a:close/>
              </a:path>
            </a:pathLst>
          </a:custGeom>
          <a:solidFill>
            <a:srgbClr val="B38B59"/>
          </a:solidFill>
          <a:ln/>
        </p:spPr>
        <p:txBody>
          <a:bodyPr/>
          <a:lstStyle/>
          <a:p>
            <a:endParaRPr lang="zh-CN" altLang="en-US"/>
          </a:p>
        </p:txBody>
      </p:sp>
      <p:sp>
        <p:nvSpPr>
          <p:cNvPr id="30" name="Shape 28"/>
          <p:cNvSpPr/>
          <p:nvPr/>
        </p:nvSpPr>
        <p:spPr>
          <a:xfrm>
            <a:off x="8561661" y="1893556"/>
            <a:ext cx="208410" cy="238183"/>
          </a:xfrm>
          <a:custGeom>
            <a:avLst/>
            <a:gdLst/>
            <a:ahLst/>
            <a:cxnLst/>
            <a:rect l="l" t="t" r="r" b="b"/>
            <a:pathLst>
              <a:path w="208410" h="238183">
                <a:moveTo>
                  <a:pt x="29773" y="14886"/>
                </a:moveTo>
                <a:cubicBezTo>
                  <a:pt x="13351" y="14886"/>
                  <a:pt x="0" y="28238"/>
                  <a:pt x="0" y="44659"/>
                </a:cubicBezTo>
                <a:lnTo>
                  <a:pt x="0" y="74432"/>
                </a:lnTo>
                <a:cubicBezTo>
                  <a:pt x="0" y="90854"/>
                  <a:pt x="13351" y="104205"/>
                  <a:pt x="29773" y="104205"/>
                </a:cubicBezTo>
                <a:lnTo>
                  <a:pt x="178637" y="104205"/>
                </a:lnTo>
                <a:cubicBezTo>
                  <a:pt x="195059" y="104205"/>
                  <a:pt x="208410" y="90854"/>
                  <a:pt x="208410" y="74432"/>
                </a:cubicBezTo>
                <a:lnTo>
                  <a:pt x="208410" y="44659"/>
                </a:lnTo>
                <a:cubicBezTo>
                  <a:pt x="208410" y="28238"/>
                  <a:pt x="195059" y="14886"/>
                  <a:pt x="178637" y="14886"/>
                </a:cubicBezTo>
                <a:lnTo>
                  <a:pt x="29773" y="14886"/>
                </a:lnTo>
                <a:close/>
                <a:moveTo>
                  <a:pt x="130256" y="48381"/>
                </a:moveTo>
                <a:cubicBezTo>
                  <a:pt x="136418" y="48381"/>
                  <a:pt x="141421" y="53384"/>
                  <a:pt x="141421" y="59546"/>
                </a:cubicBezTo>
                <a:cubicBezTo>
                  <a:pt x="141421" y="65708"/>
                  <a:pt x="136418" y="70711"/>
                  <a:pt x="130256" y="70711"/>
                </a:cubicBezTo>
                <a:cubicBezTo>
                  <a:pt x="124094" y="70711"/>
                  <a:pt x="119092" y="65708"/>
                  <a:pt x="119092" y="59546"/>
                </a:cubicBezTo>
                <a:cubicBezTo>
                  <a:pt x="119092" y="53384"/>
                  <a:pt x="124094" y="48381"/>
                  <a:pt x="130256" y="48381"/>
                </a:cubicBezTo>
                <a:close/>
                <a:moveTo>
                  <a:pt x="156308" y="59546"/>
                </a:moveTo>
                <a:cubicBezTo>
                  <a:pt x="156308" y="53384"/>
                  <a:pt x="161310" y="48381"/>
                  <a:pt x="167473" y="48381"/>
                </a:cubicBezTo>
                <a:cubicBezTo>
                  <a:pt x="173635" y="48381"/>
                  <a:pt x="178637" y="53384"/>
                  <a:pt x="178637" y="59546"/>
                </a:cubicBezTo>
                <a:cubicBezTo>
                  <a:pt x="178637" y="65708"/>
                  <a:pt x="173635" y="70711"/>
                  <a:pt x="167473" y="70711"/>
                </a:cubicBezTo>
                <a:cubicBezTo>
                  <a:pt x="161310" y="70711"/>
                  <a:pt x="156308" y="65708"/>
                  <a:pt x="156308" y="59546"/>
                </a:cubicBezTo>
                <a:close/>
                <a:moveTo>
                  <a:pt x="29773" y="133978"/>
                </a:moveTo>
                <a:cubicBezTo>
                  <a:pt x="13351" y="133978"/>
                  <a:pt x="0" y="147329"/>
                  <a:pt x="0" y="163751"/>
                </a:cubicBezTo>
                <a:lnTo>
                  <a:pt x="0" y="193524"/>
                </a:lnTo>
                <a:cubicBezTo>
                  <a:pt x="0" y="209945"/>
                  <a:pt x="13351" y="223297"/>
                  <a:pt x="29773" y="223297"/>
                </a:cubicBezTo>
                <a:lnTo>
                  <a:pt x="178637" y="223297"/>
                </a:lnTo>
                <a:cubicBezTo>
                  <a:pt x="195059" y="223297"/>
                  <a:pt x="208410" y="209945"/>
                  <a:pt x="208410" y="193524"/>
                </a:cubicBezTo>
                <a:lnTo>
                  <a:pt x="208410" y="163751"/>
                </a:lnTo>
                <a:cubicBezTo>
                  <a:pt x="208410" y="147329"/>
                  <a:pt x="195059" y="133978"/>
                  <a:pt x="178637" y="133978"/>
                </a:cubicBezTo>
                <a:lnTo>
                  <a:pt x="29773" y="133978"/>
                </a:lnTo>
                <a:close/>
                <a:moveTo>
                  <a:pt x="130256" y="167473"/>
                </a:moveTo>
                <a:cubicBezTo>
                  <a:pt x="136418" y="167473"/>
                  <a:pt x="141421" y="172475"/>
                  <a:pt x="141421" y="178637"/>
                </a:cubicBezTo>
                <a:cubicBezTo>
                  <a:pt x="141421" y="184799"/>
                  <a:pt x="136418" y="189802"/>
                  <a:pt x="130256" y="189802"/>
                </a:cubicBezTo>
                <a:cubicBezTo>
                  <a:pt x="124094" y="189802"/>
                  <a:pt x="119092" y="184799"/>
                  <a:pt x="119092" y="178637"/>
                </a:cubicBezTo>
                <a:cubicBezTo>
                  <a:pt x="119092" y="172475"/>
                  <a:pt x="124094" y="167473"/>
                  <a:pt x="130256" y="167473"/>
                </a:cubicBezTo>
                <a:close/>
                <a:moveTo>
                  <a:pt x="156308" y="178637"/>
                </a:moveTo>
                <a:cubicBezTo>
                  <a:pt x="156308" y="172475"/>
                  <a:pt x="161310" y="167473"/>
                  <a:pt x="167473" y="167473"/>
                </a:cubicBezTo>
                <a:cubicBezTo>
                  <a:pt x="173635" y="167473"/>
                  <a:pt x="178637" y="172475"/>
                  <a:pt x="178637" y="178637"/>
                </a:cubicBezTo>
                <a:cubicBezTo>
                  <a:pt x="178637" y="184799"/>
                  <a:pt x="173635" y="189802"/>
                  <a:pt x="167473" y="189802"/>
                </a:cubicBezTo>
                <a:cubicBezTo>
                  <a:pt x="161310" y="189802"/>
                  <a:pt x="156308" y="184799"/>
                  <a:pt x="156308" y="178637"/>
                </a:cubicBezTo>
                <a:close/>
              </a:path>
            </a:pathLst>
          </a:custGeom>
          <a:solidFill>
            <a:srgbClr val="FFFFFF"/>
          </a:solidFill>
          <a:ln/>
        </p:spPr>
        <p:txBody>
          <a:bodyPr/>
          <a:lstStyle/>
          <a:p>
            <a:endParaRPr lang="zh-CN" altLang="en-US"/>
          </a:p>
        </p:txBody>
      </p:sp>
      <p:sp>
        <p:nvSpPr>
          <p:cNvPr id="31" name="Text 29"/>
          <p:cNvSpPr/>
          <p:nvPr/>
        </p:nvSpPr>
        <p:spPr>
          <a:xfrm>
            <a:off x="8999322" y="1822101"/>
            <a:ext cx="2572378" cy="381093"/>
          </a:xfrm>
          <a:prstGeom prst="rect">
            <a:avLst/>
          </a:prstGeom>
          <a:noFill/>
          <a:ln/>
        </p:spPr>
        <p:txBody>
          <a:bodyPr wrap="square" lIns="0" tIns="0" rIns="0" bIns="0" rtlCol="0" anchor="ctr"/>
          <a:lstStyle/>
          <a:p>
            <a:pPr>
              <a:lnSpc>
                <a:spcPct val="110000"/>
              </a:lnSpc>
            </a:pPr>
            <a:r>
              <a:rPr lang="en-US" sz="2251" b="1" dirty="0">
                <a:solidFill>
                  <a:srgbClr val="E0E2E4"/>
                </a:solidFill>
                <a:latin typeface="MiSans" pitchFamily="34" charset="0"/>
                <a:ea typeface="MiSans" pitchFamily="34" charset="-122"/>
                <a:cs typeface="MiSans" pitchFamily="34" charset="-120"/>
              </a:rPr>
              <a:t>Container资源管理</a:t>
            </a:r>
            <a:endParaRPr lang="en-US" sz="1600" dirty="0"/>
          </a:p>
        </p:txBody>
      </p:sp>
      <p:sp>
        <p:nvSpPr>
          <p:cNvPr id="32" name="Shape 30"/>
          <p:cNvSpPr/>
          <p:nvPr/>
        </p:nvSpPr>
        <p:spPr>
          <a:xfrm>
            <a:off x="8427683" y="2393741"/>
            <a:ext cx="3525111" cy="1714919"/>
          </a:xfrm>
          <a:custGeom>
            <a:avLst/>
            <a:gdLst/>
            <a:ahLst/>
            <a:cxnLst/>
            <a:rect l="l" t="t" r="r" b="b"/>
            <a:pathLst>
              <a:path w="3525111" h="1714919">
                <a:moveTo>
                  <a:pt x="95281" y="0"/>
                </a:moveTo>
                <a:lnTo>
                  <a:pt x="3429830" y="0"/>
                </a:lnTo>
                <a:cubicBezTo>
                  <a:pt x="3482452" y="0"/>
                  <a:pt x="3525111" y="42659"/>
                  <a:pt x="3525111" y="95281"/>
                </a:cubicBezTo>
                <a:lnTo>
                  <a:pt x="3525111" y="1619638"/>
                </a:lnTo>
                <a:cubicBezTo>
                  <a:pt x="3525111" y="1672260"/>
                  <a:pt x="3482452" y="1714919"/>
                  <a:pt x="3429830" y="1714919"/>
                </a:cubicBezTo>
                <a:lnTo>
                  <a:pt x="95281" y="1714919"/>
                </a:lnTo>
                <a:cubicBezTo>
                  <a:pt x="42659" y="1714919"/>
                  <a:pt x="0" y="1672260"/>
                  <a:pt x="0" y="1619638"/>
                </a:cubicBezTo>
                <a:lnTo>
                  <a:pt x="0" y="95281"/>
                </a:lnTo>
                <a:cubicBezTo>
                  <a:pt x="0" y="42694"/>
                  <a:pt x="42694" y="0"/>
                  <a:pt x="95281" y="0"/>
                </a:cubicBezTo>
                <a:close/>
              </a:path>
            </a:pathLst>
          </a:custGeom>
          <a:solidFill>
            <a:srgbClr val="1A1D21">
              <a:alpha val="50196"/>
            </a:srgbClr>
          </a:solidFill>
          <a:ln/>
        </p:spPr>
        <p:txBody>
          <a:bodyPr/>
          <a:lstStyle/>
          <a:p>
            <a:endParaRPr lang="zh-CN" altLang="en-US"/>
          </a:p>
        </p:txBody>
      </p:sp>
      <p:sp>
        <p:nvSpPr>
          <p:cNvPr id="33" name="Shape 31"/>
          <p:cNvSpPr/>
          <p:nvPr/>
        </p:nvSpPr>
        <p:spPr>
          <a:xfrm>
            <a:off x="8546774" y="2536651"/>
            <a:ext cx="190547" cy="190547"/>
          </a:xfrm>
          <a:custGeom>
            <a:avLst/>
            <a:gdLst/>
            <a:ahLst/>
            <a:cxnLst/>
            <a:rect l="l" t="t" r="r" b="b"/>
            <a:pathLst>
              <a:path w="190547" h="190547">
                <a:moveTo>
                  <a:pt x="65500" y="8932"/>
                </a:moveTo>
                <a:cubicBezTo>
                  <a:pt x="65500" y="3982"/>
                  <a:pt x="61518" y="0"/>
                  <a:pt x="56568" y="0"/>
                </a:cubicBezTo>
                <a:cubicBezTo>
                  <a:pt x="51619" y="0"/>
                  <a:pt x="47637" y="3982"/>
                  <a:pt x="47637" y="8932"/>
                </a:cubicBezTo>
                <a:lnTo>
                  <a:pt x="47637" y="23818"/>
                </a:lnTo>
                <a:cubicBezTo>
                  <a:pt x="34499" y="23818"/>
                  <a:pt x="23818" y="34499"/>
                  <a:pt x="23818" y="47637"/>
                </a:cubicBezTo>
                <a:lnTo>
                  <a:pt x="8932" y="47637"/>
                </a:lnTo>
                <a:cubicBezTo>
                  <a:pt x="3982" y="47637"/>
                  <a:pt x="0" y="51619"/>
                  <a:pt x="0" y="56568"/>
                </a:cubicBezTo>
                <a:cubicBezTo>
                  <a:pt x="0" y="61518"/>
                  <a:pt x="3982" y="65500"/>
                  <a:pt x="8932" y="65500"/>
                </a:cubicBezTo>
                <a:lnTo>
                  <a:pt x="23818" y="65500"/>
                </a:lnTo>
                <a:lnTo>
                  <a:pt x="23818" y="86341"/>
                </a:lnTo>
                <a:lnTo>
                  <a:pt x="8932" y="86341"/>
                </a:lnTo>
                <a:cubicBezTo>
                  <a:pt x="3982" y="86341"/>
                  <a:pt x="0" y="90324"/>
                  <a:pt x="0" y="95273"/>
                </a:cubicBezTo>
                <a:cubicBezTo>
                  <a:pt x="0" y="100223"/>
                  <a:pt x="3982" y="104205"/>
                  <a:pt x="8932" y="104205"/>
                </a:cubicBezTo>
                <a:lnTo>
                  <a:pt x="23818" y="104205"/>
                </a:lnTo>
                <a:lnTo>
                  <a:pt x="23818" y="125046"/>
                </a:lnTo>
                <a:lnTo>
                  <a:pt x="8932" y="125046"/>
                </a:lnTo>
                <a:cubicBezTo>
                  <a:pt x="3982" y="125046"/>
                  <a:pt x="0" y="129028"/>
                  <a:pt x="0" y="133978"/>
                </a:cubicBezTo>
                <a:cubicBezTo>
                  <a:pt x="0" y="138928"/>
                  <a:pt x="3982" y="142910"/>
                  <a:pt x="8932" y="142910"/>
                </a:cubicBezTo>
                <a:lnTo>
                  <a:pt x="23818" y="142910"/>
                </a:lnTo>
                <a:cubicBezTo>
                  <a:pt x="23818" y="156047"/>
                  <a:pt x="34499" y="166728"/>
                  <a:pt x="47637" y="166728"/>
                </a:cubicBezTo>
                <a:lnTo>
                  <a:pt x="47637" y="181615"/>
                </a:lnTo>
                <a:cubicBezTo>
                  <a:pt x="47637" y="186564"/>
                  <a:pt x="51619" y="190547"/>
                  <a:pt x="56568" y="190547"/>
                </a:cubicBezTo>
                <a:cubicBezTo>
                  <a:pt x="61518" y="190547"/>
                  <a:pt x="65500" y="186564"/>
                  <a:pt x="65500" y="181615"/>
                </a:cubicBezTo>
                <a:lnTo>
                  <a:pt x="65500" y="166728"/>
                </a:lnTo>
                <a:lnTo>
                  <a:pt x="86341" y="166728"/>
                </a:lnTo>
                <a:lnTo>
                  <a:pt x="86341" y="181615"/>
                </a:lnTo>
                <a:cubicBezTo>
                  <a:pt x="86341" y="186564"/>
                  <a:pt x="90324" y="190547"/>
                  <a:pt x="95273" y="190547"/>
                </a:cubicBezTo>
                <a:cubicBezTo>
                  <a:pt x="100223" y="190547"/>
                  <a:pt x="104205" y="186564"/>
                  <a:pt x="104205" y="181615"/>
                </a:cubicBezTo>
                <a:lnTo>
                  <a:pt x="104205" y="166728"/>
                </a:lnTo>
                <a:lnTo>
                  <a:pt x="125046" y="166728"/>
                </a:lnTo>
                <a:lnTo>
                  <a:pt x="125046" y="181615"/>
                </a:lnTo>
                <a:cubicBezTo>
                  <a:pt x="125046" y="186564"/>
                  <a:pt x="129028" y="190547"/>
                  <a:pt x="133978" y="190547"/>
                </a:cubicBezTo>
                <a:cubicBezTo>
                  <a:pt x="138928" y="190547"/>
                  <a:pt x="142910" y="186564"/>
                  <a:pt x="142910" y="181615"/>
                </a:cubicBezTo>
                <a:lnTo>
                  <a:pt x="142910" y="166728"/>
                </a:lnTo>
                <a:cubicBezTo>
                  <a:pt x="156047" y="166728"/>
                  <a:pt x="166728" y="156047"/>
                  <a:pt x="166728" y="142910"/>
                </a:cubicBezTo>
                <a:lnTo>
                  <a:pt x="181615" y="142910"/>
                </a:lnTo>
                <a:cubicBezTo>
                  <a:pt x="186564" y="142910"/>
                  <a:pt x="190547" y="138928"/>
                  <a:pt x="190547" y="133978"/>
                </a:cubicBezTo>
                <a:cubicBezTo>
                  <a:pt x="190547" y="129028"/>
                  <a:pt x="186564" y="125046"/>
                  <a:pt x="181615" y="125046"/>
                </a:cubicBezTo>
                <a:lnTo>
                  <a:pt x="166728" y="125046"/>
                </a:lnTo>
                <a:lnTo>
                  <a:pt x="166728" y="104205"/>
                </a:lnTo>
                <a:lnTo>
                  <a:pt x="181615" y="104205"/>
                </a:lnTo>
                <a:cubicBezTo>
                  <a:pt x="186564" y="104205"/>
                  <a:pt x="190547" y="100223"/>
                  <a:pt x="190547" y="95273"/>
                </a:cubicBezTo>
                <a:cubicBezTo>
                  <a:pt x="190547" y="90324"/>
                  <a:pt x="186564" y="86341"/>
                  <a:pt x="181615" y="86341"/>
                </a:cubicBezTo>
                <a:lnTo>
                  <a:pt x="166728" y="86341"/>
                </a:lnTo>
                <a:lnTo>
                  <a:pt x="166728" y="65500"/>
                </a:lnTo>
                <a:lnTo>
                  <a:pt x="181615" y="65500"/>
                </a:lnTo>
                <a:cubicBezTo>
                  <a:pt x="186564" y="65500"/>
                  <a:pt x="190547" y="61518"/>
                  <a:pt x="190547" y="56568"/>
                </a:cubicBezTo>
                <a:cubicBezTo>
                  <a:pt x="190547" y="51619"/>
                  <a:pt x="186564" y="47637"/>
                  <a:pt x="181615" y="47637"/>
                </a:cubicBezTo>
                <a:lnTo>
                  <a:pt x="166728" y="47637"/>
                </a:lnTo>
                <a:cubicBezTo>
                  <a:pt x="166728" y="34499"/>
                  <a:pt x="156047" y="23818"/>
                  <a:pt x="142910" y="23818"/>
                </a:cubicBezTo>
                <a:lnTo>
                  <a:pt x="142910" y="8932"/>
                </a:lnTo>
                <a:cubicBezTo>
                  <a:pt x="142910" y="3982"/>
                  <a:pt x="138928" y="0"/>
                  <a:pt x="133978" y="0"/>
                </a:cubicBezTo>
                <a:cubicBezTo>
                  <a:pt x="129028" y="0"/>
                  <a:pt x="125046" y="3982"/>
                  <a:pt x="125046" y="8932"/>
                </a:cubicBezTo>
                <a:lnTo>
                  <a:pt x="125046" y="23818"/>
                </a:lnTo>
                <a:lnTo>
                  <a:pt x="104205" y="23818"/>
                </a:lnTo>
                <a:lnTo>
                  <a:pt x="104205" y="8932"/>
                </a:lnTo>
                <a:cubicBezTo>
                  <a:pt x="104205" y="3982"/>
                  <a:pt x="100223" y="0"/>
                  <a:pt x="95273" y="0"/>
                </a:cubicBezTo>
                <a:cubicBezTo>
                  <a:pt x="90324" y="0"/>
                  <a:pt x="86341" y="3982"/>
                  <a:pt x="86341" y="8932"/>
                </a:cubicBezTo>
                <a:lnTo>
                  <a:pt x="86341" y="23818"/>
                </a:lnTo>
                <a:lnTo>
                  <a:pt x="65500" y="23818"/>
                </a:lnTo>
                <a:lnTo>
                  <a:pt x="65500" y="8932"/>
                </a:lnTo>
                <a:close/>
                <a:moveTo>
                  <a:pt x="59546" y="47637"/>
                </a:moveTo>
                <a:lnTo>
                  <a:pt x="131001" y="47637"/>
                </a:lnTo>
                <a:cubicBezTo>
                  <a:pt x="137588" y="47637"/>
                  <a:pt x="142910" y="52959"/>
                  <a:pt x="142910" y="59546"/>
                </a:cubicBezTo>
                <a:lnTo>
                  <a:pt x="142910" y="131001"/>
                </a:lnTo>
                <a:cubicBezTo>
                  <a:pt x="142910" y="137588"/>
                  <a:pt x="137588" y="142910"/>
                  <a:pt x="131001" y="142910"/>
                </a:cubicBezTo>
                <a:lnTo>
                  <a:pt x="59546" y="142910"/>
                </a:lnTo>
                <a:cubicBezTo>
                  <a:pt x="52959" y="142910"/>
                  <a:pt x="47637" y="137588"/>
                  <a:pt x="47637" y="131001"/>
                </a:cubicBezTo>
                <a:lnTo>
                  <a:pt x="47637" y="59546"/>
                </a:lnTo>
                <a:cubicBezTo>
                  <a:pt x="47637" y="52959"/>
                  <a:pt x="52959" y="47637"/>
                  <a:pt x="59546" y="47637"/>
                </a:cubicBezTo>
                <a:close/>
                <a:moveTo>
                  <a:pt x="65500" y="65500"/>
                </a:moveTo>
                <a:lnTo>
                  <a:pt x="65500" y="125046"/>
                </a:lnTo>
                <a:lnTo>
                  <a:pt x="125046" y="125046"/>
                </a:lnTo>
                <a:lnTo>
                  <a:pt x="125046" y="65500"/>
                </a:lnTo>
                <a:lnTo>
                  <a:pt x="65500" y="65500"/>
                </a:lnTo>
                <a:close/>
              </a:path>
            </a:pathLst>
          </a:custGeom>
          <a:solidFill>
            <a:srgbClr val="3C8082"/>
          </a:solidFill>
          <a:ln/>
        </p:spPr>
        <p:txBody>
          <a:bodyPr/>
          <a:lstStyle/>
          <a:p>
            <a:endParaRPr lang="zh-CN" altLang="en-US"/>
          </a:p>
        </p:txBody>
      </p:sp>
      <p:sp>
        <p:nvSpPr>
          <p:cNvPr id="34" name="Text 32"/>
          <p:cNvSpPr/>
          <p:nvPr/>
        </p:nvSpPr>
        <p:spPr>
          <a:xfrm>
            <a:off x="8856412" y="2489014"/>
            <a:ext cx="857459" cy="285820"/>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CPU资源</a:t>
            </a:r>
            <a:endParaRPr lang="en-US" sz="1600" dirty="0"/>
          </a:p>
        </p:txBody>
      </p:sp>
      <p:sp>
        <p:nvSpPr>
          <p:cNvPr id="35" name="Text 33"/>
          <p:cNvSpPr/>
          <p:nvPr/>
        </p:nvSpPr>
        <p:spPr>
          <a:xfrm>
            <a:off x="8522956" y="2822470"/>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虚拟核心数(vcores)</a:t>
            </a:r>
            <a:endParaRPr lang="en-US" sz="1600" dirty="0"/>
          </a:p>
        </p:txBody>
      </p:sp>
      <p:sp>
        <p:nvSpPr>
          <p:cNvPr id="36" name="Text 34"/>
          <p:cNvSpPr/>
          <p:nvPr/>
        </p:nvSpPr>
        <p:spPr>
          <a:xfrm>
            <a:off x="8522956" y="3036835"/>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CPU时间片分配</a:t>
            </a:r>
            <a:endParaRPr lang="en-US" sz="1600" dirty="0"/>
          </a:p>
        </p:txBody>
      </p:sp>
      <p:sp>
        <p:nvSpPr>
          <p:cNvPr id="37" name="Text 35"/>
          <p:cNvSpPr/>
          <p:nvPr/>
        </p:nvSpPr>
        <p:spPr>
          <a:xfrm>
            <a:off x="8522956" y="3251200"/>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处理器亲和性</a:t>
            </a:r>
            <a:endParaRPr lang="en-US" sz="1600" dirty="0"/>
          </a:p>
        </p:txBody>
      </p:sp>
      <p:sp>
        <p:nvSpPr>
          <p:cNvPr id="38" name="Text 36"/>
          <p:cNvSpPr/>
          <p:nvPr/>
        </p:nvSpPr>
        <p:spPr>
          <a:xfrm>
            <a:off x="8522956" y="3465565"/>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调度优先级</a:t>
            </a:r>
            <a:endParaRPr lang="en-US" sz="1600" dirty="0"/>
          </a:p>
        </p:txBody>
      </p:sp>
      <p:sp>
        <p:nvSpPr>
          <p:cNvPr id="39" name="Shape 37"/>
          <p:cNvSpPr/>
          <p:nvPr/>
        </p:nvSpPr>
        <p:spPr>
          <a:xfrm>
            <a:off x="12051974" y="2393741"/>
            <a:ext cx="3525111" cy="1714919"/>
          </a:xfrm>
          <a:custGeom>
            <a:avLst/>
            <a:gdLst/>
            <a:ahLst/>
            <a:cxnLst/>
            <a:rect l="l" t="t" r="r" b="b"/>
            <a:pathLst>
              <a:path w="3525111" h="1714919">
                <a:moveTo>
                  <a:pt x="95281" y="0"/>
                </a:moveTo>
                <a:lnTo>
                  <a:pt x="3429830" y="0"/>
                </a:lnTo>
                <a:cubicBezTo>
                  <a:pt x="3482452" y="0"/>
                  <a:pt x="3525111" y="42659"/>
                  <a:pt x="3525111" y="95281"/>
                </a:cubicBezTo>
                <a:lnTo>
                  <a:pt x="3525111" y="1619638"/>
                </a:lnTo>
                <a:cubicBezTo>
                  <a:pt x="3525111" y="1672260"/>
                  <a:pt x="3482452" y="1714919"/>
                  <a:pt x="3429830" y="1714919"/>
                </a:cubicBezTo>
                <a:lnTo>
                  <a:pt x="95281" y="1714919"/>
                </a:lnTo>
                <a:cubicBezTo>
                  <a:pt x="42659" y="1714919"/>
                  <a:pt x="0" y="1672260"/>
                  <a:pt x="0" y="1619638"/>
                </a:cubicBezTo>
                <a:lnTo>
                  <a:pt x="0" y="95281"/>
                </a:lnTo>
                <a:cubicBezTo>
                  <a:pt x="0" y="42694"/>
                  <a:pt x="42694" y="0"/>
                  <a:pt x="95281" y="0"/>
                </a:cubicBezTo>
                <a:close/>
              </a:path>
            </a:pathLst>
          </a:custGeom>
          <a:solidFill>
            <a:srgbClr val="1A1D21">
              <a:alpha val="50196"/>
            </a:srgbClr>
          </a:solidFill>
          <a:ln/>
        </p:spPr>
        <p:txBody>
          <a:bodyPr/>
          <a:lstStyle/>
          <a:p>
            <a:endParaRPr lang="zh-CN" altLang="en-US"/>
          </a:p>
        </p:txBody>
      </p:sp>
      <p:sp>
        <p:nvSpPr>
          <p:cNvPr id="40" name="Shape 38"/>
          <p:cNvSpPr/>
          <p:nvPr/>
        </p:nvSpPr>
        <p:spPr>
          <a:xfrm>
            <a:off x="12171066" y="2536651"/>
            <a:ext cx="190547" cy="190547"/>
          </a:xfrm>
          <a:custGeom>
            <a:avLst/>
            <a:gdLst/>
            <a:ahLst/>
            <a:cxnLst/>
            <a:rect l="l" t="t" r="r" b="b"/>
            <a:pathLst>
              <a:path w="190547" h="190547">
                <a:moveTo>
                  <a:pt x="23818" y="23818"/>
                </a:moveTo>
                <a:cubicBezTo>
                  <a:pt x="10681" y="23818"/>
                  <a:pt x="0" y="34499"/>
                  <a:pt x="0" y="47637"/>
                </a:cubicBezTo>
                <a:lnTo>
                  <a:pt x="0" y="50391"/>
                </a:lnTo>
                <a:cubicBezTo>
                  <a:pt x="0" y="52921"/>
                  <a:pt x="1638" y="55080"/>
                  <a:pt x="3759" y="56457"/>
                </a:cubicBezTo>
                <a:cubicBezTo>
                  <a:pt x="8671" y="59657"/>
                  <a:pt x="11909" y="65165"/>
                  <a:pt x="11909" y="71455"/>
                </a:cubicBezTo>
                <a:cubicBezTo>
                  <a:pt x="11909" y="77744"/>
                  <a:pt x="8671" y="83252"/>
                  <a:pt x="3759" y="86453"/>
                </a:cubicBezTo>
                <a:cubicBezTo>
                  <a:pt x="1638" y="87830"/>
                  <a:pt x="0" y="89989"/>
                  <a:pt x="0" y="92519"/>
                </a:cubicBezTo>
                <a:lnTo>
                  <a:pt x="0" y="113137"/>
                </a:lnTo>
                <a:lnTo>
                  <a:pt x="190547" y="113137"/>
                </a:lnTo>
                <a:lnTo>
                  <a:pt x="190547" y="92519"/>
                </a:lnTo>
                <a:cubicBezTo>
                  <a:pt x="190547" y="89989"/>
                  <a:pt x="188909" y="87830"/>
                  <a:pt x="186788" y="86453"/>
                </a:cubicBezTo>
                <a:cubicBezTo>
                  <a:pt x="181875" y="83252"/>
                  <a:pt x="178637" y="77744"/>
                  <a:pt x="178637" y="71455"/>
                </a:cubicBezTo>
                <a:cubicBezTo>
                  <a:pt x="178637" y="65165"/>
                  <a:pt x="181875" y="59657"/>
                  <a:pt x="186788" y="56457"/>
                </a:cubicBezTo>
                <a:cubicBezTo>
                  <a:pt x="188909" y="55080"/>
                  <a:pt x="190547" y="52921"/>
                  <a:pt x="190547" y="50391"/>
                </a:cubicBezTo>
                <a:lnTo>
                  <a:pt x="190547" y="47637"/>
                </a:lnTo>
                <a:cubicBezTo>
                  <a:pt x="190547" y="34499"/>
                  <a:pt x="179865" y="23818"/>
                  <a:pt x="166728" y="23818"/>
                </a:cubicBezTo>
                <a:lnTo>
                  <a:pt x="23818" y="23818"/>
                </a:lnTo>
                <a:close/>
                <a:moveTo>
                  <a:pt x="190547" y="154819"/>
                </a:moveTo>
                <a:lnTo>
                  <a:pt x="190547" y="131001"/>
                </a:lnTo>
                <a:lnTo>
                  <a:pt x="0" y="131001"/>
                </a:lnTo>
                <a:lnTo>
                  <a:pt x="0" y="154819"/>
                </a:lnTo>
                <a:cubicBezTo>
                  <a:pt x="0" y="161406"/>
                  <a:pt x="5322" y="166728"/>
                  <a:pt x="11909" y="166728"/>
                </a:cubicBezTo>
                <a:lnTo>
                  <a:pt x="35727" y="166728"/>
                </a:lnTo>
                <a:lnTo>
                  <a:pt x="35727" y="157796"/>
                </a:lnTo>
                <a:cubicBezTo>
                  <a:pt x="35727" y="152847"/>
                  <a:pt x="39710" y="148864"/>
                  <a:pt x="44659" y="148864"/>
                </a:cubicBezTo>
                <a:cubicBezTo>
                  <a:pt x="49609" y="148864"/>
                  <a:pt x="53591" y="152847"/>
                  <a:pt x="53591" y="157796"/>
                </a:cubicBezTo>
                <a:lnTo>
                  <a:pt x="53591" y="166728"/>
                </a:lnTo>
                <a:lnTo>
                  <a:pt x="86341" y="166728"/>
                </a:lnTo>
                <a:lnTo>
                  <a:pt x="86341" y="157796"/>
                </a:lnTo>
                <a:cubicBezTo>
                  <a:pt x="86341" y="152847"/>
                  <a:pt x="90324" y="148864"/>
                  <a:pt x="95273" y="148864"/>
                </a:cubicBezTo>
                <a:cubicBezTo>
                  <a:pt x="100223" y="148864"/>
                  <a:pt x="104205" y="152847"/>
                  <a:pt x="104205" y="157796"/>
                </a:cubicBezTo>
                <a:lnTo>
                  <a:pt x="104205" y="166728"/>
                </a:lnTo>
                <a:lnTo>
                  <a:pt x="136955" y="166728"/>
                </a:lnTo>
                <a:lnTo>
                  <a:pt x="136955" y="157796"/>
                </a:lnTo>
                <a:cubicBezTo>
                  <a:pt x="136955" y="152847"/>
                  <a:pt x="140937" y="148864"/>
                  <a:pt x="145887" y="148864"/>
                </a:cubicBezTo>
                <a:cubicBezTo>
                  <a:pt x="150837" y="148864"/>
                  <a:pt x="154819" y="152847"/>
                  <a:pt x="154819" y="157796"/>
                </a:cubicBezTo>
                <a:lnTo>
                  <a:pt x="154819" y="166728"/>
                </a:lnTo>
                <a:lnTo>
                  <a:pt x="178637" y="166728"/>
                </a:lnTo>
                <a:cubicBezTo>
                  <a:pt x="185225" y="166728"/>
                  <a:pt x="190547" y="161406"/>
                  <a:pt x="190547" y="154819"/>
                </a:cubicBezTo>
                <a:close/>
                <a:moveTo>
                  <a:pt x="59546" y="59546"/>
                </a:moveTo>
                <a:lnTo>
                  <a:pt x="59546" y="83364"/>
                </a:lnTo>
                <a:cubicBezTo>
                  <a:pt x="59546" y="89951"/>
                  <a:pt x="54224" y="95273"/>
                  <a:pt x="47637" y="95273"/>
                </a:cubicBezTo>
                <a:cubicBezTo>
                  <a:pt x="41049" y="95273"/>
                  <a:pt x="35727" y="89951"/>
                  <a:pt x="35727" y="83364"/>
                </a:cubicBezTo>
                <a:lnTo>
                  <a:pt x="35727" y="59546"/>
                </a:lnTo>
                <a:cubicBezTo>
                  <a:pt x="35727" y="52959"/>
                  <a:pt x="41049" y="47637"/>
                  <a:pt x="47637" y="47637"/>
                </a:cubicBezTo>
                <a:cubicBezTo>
                  <a:pt x="54224" y="47637"/>
                  <a:pt x="59546" y="52959"/>
                  <a:pt x="59546" y="59546"/>
                </a:cubicBezTo>
                <a:close/>
                <a:moveTo>
                  <a:pt x="107182" y="59546"/>
                </a:moveTo>
                <a:lnTo>
                  <a:pt x="107182" y="83364"/>
                </a:lnTo>
                <a:cubicBezTo>
                  <a:pt x="107182" y="89951"/>
                  <a:pt x="101861" y="95273"/>
                  <a:pt x="95273" y="95273"/>
                </a:cubicBezTo>
                <a:cubicBezTo>
                  <a:pt x="88686" y="95273"/>
                  <a:pt x="83364" y="89951"/>
                  <a:pt x="83364" y="83364"/>
                </a:cubicBezTo>
                <a:lnTo>
                  <a:pt x="83364" y="59546"/>
                </a:lnTo>
                <a:cubicBezTo>
                  <a:pt x="83364" y="52959"/>
                  <a:pt x="88686" y="47637"/>
                  <a:pt x="95273" y="47637"/>
                </a:cubicBezTo>
                <a:cubicBezTo>
                  <a:pt x="101861" y="47637"/>
                  <a:pt x="107182" y="52959"/>
                  <a:pt x="107182" y="59546"/>
                </a:cubicBezTo>
                <a:close/>
                <a:moveTo>
                  <a:pt x="154819" y="59546"/>
                </a:moveTo>
                <a:lnTo>
                  <a:pt x="154819" y="83364"/>
                </a:lnTo>
                <a:cubicBezTo>
                  <a:pt x="154819" y="89951"/>
                  <a:pt x="149497" y="95273"/>
                  <a:pt x="142910" y="95273"/>
                </a:cubicBezTo>
                <a:cubicBezTo>
                  <a:pt x="136323" y="95273"/>
                  <a:pt x="131001" y="89951"/>
                  <a:pt x="131001" y="83364"/>
                </a:cubicBezTo>
                <a:lnTo>
                  <a:pt x="131001" y="59546"/>
                </a:lnTo>
                <a:cubicBezTo>
                  <a:pt x="131001" y="52959"/>
                  <a:pt x="136323" y="47637"/>
                  <a:pt x="142910" y="47637"/>
                </a:cubicBezTo>
                <a:cubicBezTo>
                  <a:pt x="149497" y="47637"/>
                  <a:pt x="154819" y="52959"/>
                  <a:pt x="154819" y="59546"/>
                </a:cubicBezTo>
                <a:close/>
              </a:path>
            </a:pathLst>
          </a:custGeom>
          <a:solidFill>
            <a:srgbClr val="3C8082"/>
          </a:solidFill>
          <a:ln/>
        </p:spPr>
        <p:txBody>
          <a:bodyPr/>
          <a:lstStyle/>
          <a:p>
            <a:endParaRPr lang="zh-CN" altLang="en-US"/>
          </a:p>
        </p:txBody>
      </p:sp>
      <p:sp>
        <p:nvSpPr>
          <p:cNvPr id="41" name="Text 39"/>
          <p:cNvSpPr/>
          <p:nvPr/>
        </p:nvSpPr>
        <p:spPr>
          <a:xfrm>
            <a:off x="12480704" y="2489014"/>
            <a:ext cx="857459" cy="285820"/>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内存资源</a:t>
            </a:r>
            <a:endParaRPr lang="en-US" sz="1600" dirty="0"/>
          </a:p>
        </p:txBody>
      </p:sp>
      <p:sp>
        <p:nvSpPr>
          <p:cNvPr id="42" name="Text 40"/>
          <p:cNvSpPr/>
          <p:nvPr/>
        </p:nvSpPr>
        <p:spPr>
          <a:xfrm>
            <a:off x="12147248" y="2822470"/>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堆内存大小</a:t>
            </a:r>
            <a:endParaRPr lang="en-US" sz="1600" dirty="0"/>
          </a:p>
        </p:txBody>
      </p:sp>
      <p:sp>
        <p:nvSpPr>
          <p:cNvPr id="43" name="Text 41"/>
          <p:cNvSpPr/>
          <p:nvPr/>
        </p:nvSpPr>
        <p:spPr>
          <a:xfrm>
            <a:off x="12147248" y="3036835"/>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堆外内存管理</a:t>
            </a:r>
            <a:endParaRPr lang="en-US" sz="1600" dirty="0"/>
          </a:p>
        </p:txBody>
      </p:sp>
      <p:sp>
        <p:nvSpPr>
          <p:cNvPr id="44" name="Text 42"/>
          <p:cNvSpPr/>
          <p:nvPr/>
        </p:nvSpPr>
        <p:spPr>
          <a:xfrm>
            <a:off x="12147248" y="3251200"/>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内存交换策略</a:t>
            </a:r>
            <a:endParaRPr lang="en-US" sz="1600" dirty="0"/>
          </a:p>
        </p:txBody>
      </p:sp>
      <p:sp>
        <p:nvSpPr>
          <p:cNvPr id="45" name="Text 43"/>
          <p:cNvSpPr/>
          <p:nvPr/>
        </p:nvSpPr>
        <p:spPr>
          <a:xfrm>
            <a:off x="12147248" y="3465565"/>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内存回收策略</a:t>
            </a:r>
            <a:endParaRPr lang="en-US" sz="1600" dirty="0"/>
          </a:p>
        </p:txBody>
      </p:sp>
      <p:sp>
        <p:nvSpPr>
          <p:cNvPr id="46" name="Shape 44"/>
          <p:cNvSpPr/>
          <p:nvPr/>
        </p:nvSpPr>
        <p:spPr>
          <a:xfrm>
            <a:off x="8427683" y="4200676"/>
            <a:ext cx="3525111" cy="1714919"/>
          </a:xfrm>
          <a:custGeom>
            <a:avLst/>
            <a:gdLst/>
            <a:ahLst/>
            <a:cxnLst/>
            <a:rect l="l" t="t" r="r" b="b"/>
            <a:pathLst>
              <a:path w="3525111" h="1714919">
                <a:moveTo>
                  <a:pt x="95281" y="0"/>
                </a:moveTo>
                <a:lnTo>
                  <a:pt x="3429830" y="0"/>
                </a:lnTo>
                <a:cubicBezTo>
                  <a:pt x="3482452" y="0"/>
                  <a:pt x="3525111" y="42659"/>
                  <a:pt x="3525111" y="95281"/>
                </a:cubicBezTo>
                <a:lnTo>
                  <a:pt x="3525111" y="1619638"/>
                </a:lnTo>
                <a:cubicBezTo>
                  <a:pt x="3525111" y="1672260"/>
                  <a:pt x="3482452" y="1714919"/>
                  <a:pt x="3429830" y="1714919"/>
                </a:cubicBezTo>
                <a:lnTo>
                  <a:pt x="95281" y="1714919"/>
                </a:lnTo>
                <a:cubicBezTo>
                  <a:pt x="42659" y="1714919"/>
                  <a:pt x="0" y="1672260"/>
                  <a:pt x="0" y="1619638"/>
                </a:cubicBezTo>
                <a:lnTo>
                  <a:pt x="0" y="95281"/>
                </a:lnTo>
                <a:cubicBezTo>
                  <a:pt x="0" y="42694"/>
                  <a:pt x="42694" y="0"/>
                  <a:pt x="95281" y="0"/>
                </a:cubicBezTo>
                <a:close/>
              </a:path>
            </a:pathLst>
          </a:custGeom>
          <a:solidFill>
            <a:srgbClr val="1A1D21">
              <a:alpha val="50196"/>
            </a:srgbClr>
          </a:solidFill>
          <a:ln/>
        </p:spPr>
        <p:txBody>
          <a:bodyPr/>
          <a:lstStyle/>
          <a:p>
            <a:endParaRPr lang="zh-CN" altLang="en-US"/>
          </a:p>
        </p:txBody>
      </p:sp>
      <p:sp>
        <p:nvSpPr>
          <p:cNvPr id="47" name="Shape 45"/>
          <p:cNvSpPr/>
          <p:nvPr/>
        </p:nvSpPr>
        <p:spPr>
          <a:xfrm>
            <a:off x="8558684" y="4343586"/>
            <a:ext cx="166728" cy="190547"/>
          </a:xfrm>
          <a:custGeom>
            <a:avLst/>
            <a:gdLst/>
            <a:ahLst/>
            <a:cxnLst/>
            <a:rect l="l" t="t" r="r" b="b"/>
            <a:pathLst>
              <a:path w="166728" h="190547">
                <a:moveTo>
                  <a:pt x="23818" y="11909"/>
                </a:moveTo>
                <a:cubicBezTo>
                  <a:pt x="10681" y="11909"/>
                  <a:pt x="0" y="22590"/>
                  <a:pt x="0" y="35727"/>
                </a:cubicBezTo>
                <a:lnTo>
                  <a:pt x="0" y="96799"/>
                </a:lnTo>
                <a:cubicBezTo>
                  <a:pt x="6736" y="92073"/>
                  <a:pt x="14961" y="89319"/>
                  <a:pt x="23818" y="89319"/>
                </a:cubicBezTo>
                <a:lnTo>
                  <a:pt x="142910" y="89319"/>
                </a:lnTo>
                <a:cubicBezTo>
                  <a:pt x="151767" y="89319"/>
                  <a:pt x="159992" y="92073"/>
                  <a:pt x="166728" y="96799"/>
                </a:cubicBezTo>
                <a:lnTo>
                  <a:pt x="166728" y="35727"/>
                </a:lnTo>
                <a:cubicBezTo>
                  <a:pt x="166728" y="22590"/>
                  <a:pt x="156047" y="11909"/>
                  <a:pt x="142910" y="11909"/>
                </a:cubicBezTo>
                <a:lnTo>
                  <a:pt x="23818" y="11909"/>
                </a:lnTo>
                <a:close/>
                <a:moveTo>
                  <a:pt x="166728" y="131001"/>
                </a:moveTo>
                <a:cubicBezTo>
                  <a:pt x="166728" y="117863"/>
                  <a:pt x="156047" y="107182"/>
                  <a:pt x="142910" y="107182"/>
                </a:cubicBezTo>
                <a:lnTo>
                  <a:pt x="23818" y="107182"/>
                </a:lnTo>
                <a:cubicBezTo>
                  <a:pt x="10681" y="107182"/>
                  <a:pt x="0" y="117863"/>
                  <a:pt x="0" y="131001"/>
                </a:cubicBezTo>
                <a:lnTo>
                  <a:pt x="0" y="154819"/>
                </a:lnTo>
                <a:cubicBezTo>
                  <a:pt x="0" y="167956"/>
                  <a:pt x="10681" y="178637"/>
                  <a:pt x="23818" y="178637"/>
                </a:cubicBezTo>
                <a:lnTo>
                  <a:pt x="142910" y="178637"/>
                </a:lnTo>
                <a:cubicBezTo>
                  <a:pt x="156047" y="178637"/>
                  <a:pt x="166728" y="167956"/>
                  <a:pt x="166728" y="154819"/>
                </a:cubicBezTo>
                <a:lnTo>
                  <a:pt x="166728" y="131001"/>
                </a:lnTo>
                <a:close/>
                <a:moveTo>
                  <a:pt x="83364" y="142910"/>
                </a:moveTo>
                <a:cubicBezTo>
                  <a:pt x="83364" y="136337"/>
                  <a:pt x="88700" y="131001"/>
                  <a:pt x="95273" y="131001"/>
                </a:cubicBezTo>
                <a:cubicBezTo>
                  <a:pt x="101846" y="131001"/>
                  <a:pt x="107182" y="136337"/>
                  <a:pt x="107182" y="142910"/>
                </a:cubicBezTo>
                <a:cubicBezTo>
                  <a:pt x="107182" y="149483"/>
                  <a:pt x="101846" y="154819"/>
                  <a:pt x="95273" y="154819"/>
                </a:cubicBezTo>
                <a:cubicBezTo>
                  <a:pt x="88700" y="154819"/>
                  <a:pt x="83364" y="149483"/>
                  <a:pt x="83364" y="142910"/>
                </a:cubicBezTo>
                <a:close/>
                <a:moveTo>
                  <a:pt x="131001" y="131001"/>
                </a:moveTo>
                <a:cubicBezTo>
                  <a:pt x="137574" y="131001"/>
                  <a:pt x="142910" y="136337"/>
                  <a:pt x="142910" y="142910"/>
                </a:cubicBezTo>
                <a:cubicBezTo>
                  <a:pt x="142910" y="149483"/>
                  <a:pt x="137574" y="154819"/>
                  <a:pt x="131001" y="154819"/>
                </a:cubicBezTo>
                <a:cubicBezTo>
                  <a:pt x="124428" y="154819"/>
                  <a:pt x="119092" y="149483"/>
                  <a:pt x="119092" y="142910"/>
                </a:cubicBezTo>
                <a:cubicBezTo>
                  <a:pt x="119092" y="136337"/>
                  <a:pt x="124428" y="131001"/>
                  <a:pt x="131001" y="131001"/>
                </a:cubicBezTo>
                <a:close/>
              </a:path>
            </a:pathLst>
          </a:custGeom>
          <a:solidFill>
            <a:srgbClr val="3C8082"/>
          </a:solidFill>
          <a:ln/>
        </p:spPr>
        <p:txBody>
          <a:bodyPr/>
          <a:lstStyle/>
          <a:p>
            <a:endParaRPr lang="zh-CN" altLang="en-US"/>
          </a:p>
        </p:txBody>
      </p:sp>
      <p:sp>
        <p:nvSpPr>
          <p:cNvPr id="48" name="Text 46"/>
          <p:cNvSpPr/>
          <p:nvPr/>
        </p:nvSpPr>
        <p:spPr>
          <a:xfrm>
            <a:off x="8856412" y="4295949"/>
            <a:ext cx="857459" cy="285820"/>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存储资源</a:t>
            </a:r>
            <a:endParaRPr lang="en-US" sz="1600" dirty="0"/>
          </a:p>
        </p:txBody>
      </p:sp>
      <p:sp>
        <p:nvSpPr>
          <p:cNvPr id="49" name="Text 47"/>
          <p:cNvSpPr/>
          <p:nvPr/>
        </p:nvSpPr>
        <p:spPr>
          <a:xfrm>
            <a:off x="8522956" y="4629406"/>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本地磁盘空间</a:t>
            </a:r>
            <a:endParaRPr lang="en-US" sz="1600" dirty="0"/>
          </a:p>
        </p:txBody>
      </p:sp>
      <p:sp>
        <p:nvSpPr>
          <p:cNvPr id="50" name="Text 48"/>
          <p:cNvSpPr/>
          <p:nvPr/>
        </p:nvSpPr>
        <p:spPr>
          <a:xfrm>
            <a:off x="8522956" y="4843771"/>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临时目录管理</a:t>
            </a:r>
            <a:endParaRPr lang="en-US" sz="1600" dirty="0"/>
          </a:p>
        </p:txBody>
      </p:sp>
      <p:sp>
        <p:nvSpPr>
          <p:cNvPr id="51" name="Text 49"/>
          <p:cNvSpPr/>
          <p:nvPr/>
        </p:nvSpPr>
        <p:spPr>
          <a:xfrm>
            <a:off x="8522956" y="5058136"/>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日志存储路径</a:t>
            </a:r>
            <a:endParaRPr lang="en-US" sz="1600" dirty="0"/>
          </a:p>
        </p:txBody>
      </p:sp>
      <p:sp>
        <p:nvSpPr>
          <p:cNvPr id="52" name="Text 50"/>
          <p:cNvSpPr/>
          <p:nvPr/>
        </p:nvSpPr>
        <p:spPr>
          <a:xfrm>
            <a:off x="8522956" y="5272500"/>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数据本地性</a:t>
            </a:r>
            <a:endParaRPr lang="en-US" sz="1600" dirty="0"/>
          </a:p>
        </p:txBody>
      </p:sp>
      <p:sp>
        <p:nvSpPr>
          <p:cNvPr id="53" name="Shape 51"/>
          <p:cNvSpPr/>
          <p:nvPr/>
        </p:nvSpPr>
        <p:spPr>
          <a:xfrm>
            <a:off x="12051974" y="4200676"/>
            <a:ext cx="3525111" cy="1714919"/>
          </a:xfrm>
          <a:custGeom>
            <a:avLst/>
            <a:gdLst/>
            <a:ahLst/>
            <a:cxnLst/>
            <a:rect l="l" t="t" r="r" b="b"/>
            <a:pathLst>
              <a:path w="3525111" h="1714919">
                <a:moveTo>
                  <a:pt x="95281" y="0"/>
                </a:moveTo>
                <a:lnTo>
                  <a:pt x="3429830" y="0"/>
                </a:lnTo>
                <a:cubicBezTo>
                  <a:pt x="3482452" y="0"/>
                  <a:pt x="3525111" y="42659"/>
                  <a:pt x="3525111" y="95281"/>
                </a:cubicBezTo>
                <a:lnTo>
                  <a:pt x="3525111" y="1619638"/>
                </a:lnTo>
                <a:cubicBezTo>
                  <a:pt x="3525111" y="1672260"/>
                  <a:pt x="3482452" y="1714919"/>
                  <a:pt x="3429830" y="1714919"/>
                </a:cubicBezTo>
                <a:lnTo>
                  <a:pt x="95281" y="1714919"/>
                </a:lnTo>
                <a:cubicBezTo>
                  <a:pt x="42659" y="1714919"/>
                  <a:pt x="0" y="1672260"/>
                  <a:pt x="0" y="1619638"/>
                </a:cubicBezTo>
                <a:lnTo>
                  <a:pt x="0" y="95281"/>
                </a:lnTo>
                <a:cubicBezTo>
                  <a:pt x="0" y="42694"/>
                  <a:pt x="42694" y="0"/>
                  <a:pt x="95281" y="0"/>
                </a:cubicBezTo>
                <a:close/>
              </a:path>
            </a:pathLst>
          </a:custGeom>
          <a:solidFill>
            <a:srgbClr val="1A1D21">
              <a:alpha val="50196"/>
            </a:srgbClr>
          </a:solidFill>
          <a:ln/>
        </p:spPr>
        <p:txBody>
          <a:bodyPr/>
          <a:lstStyle/>
          <a:p>
            <a:endParaRPr lang="zh-CN" altLang="en-US"/>
          </a:p>
        </p:txBody>
      </p:sp>
      <p:sp>
        <p:nvSpPr>
          <p:cNvPr id="54" name="Shape 52"/>
          <p:cNvSpPr/>
          <p:nvPr/>
        </p:nvSpPr>
        <p:spPr>
          <a:xfrm>
            <a:off x="12159157" y="4343586"/>
            <a:ext cx="214365" cy="190547"/>
          </a:xfrm>
          <a:custGeom>
            <a:avLst/>
            <a:gdLst/>
            <a:ahLst/>
            <a:cxnLst/>
            <a:rect l="l" t="t" r="r" b="b"/>
            <a:pathLst>
              <a:path w="214365" h="190547">
                <a:moveTo>
                  <a:pt x="92296" y="32750"/>
                </a:moveTo>
                <a:lnTo>
                  <a:pt x="122069" y="32750"/>
                </a:lnTo>
                <a:lnTo>
                  <a:pt x="122069" y="50614"/>
                </a:lnTo>
                <a:lnTo>
                  <a:pt x="92296" y="50614"/>
                </a:lnTo>
                <a:lnTo>
                  <a:pt x="92296" y="32750"/>
                </a:lnTo>
                <a:close/>
                <a:moveTo>
                  <a:pt x="89319" y="11909"/>
                </a:moveTo>
                <a:cubicBezTo>
                  <a:pt x="79456" y="11909"/>
                  <a:pt x="71455" y="19911"/>
                  <a:pt x="71455" y="29773"/>
                </a:cubicBezTo>
                <a:lnTo>
                  <a:pt x="71455" y="53591"/>
                </a:lnTo>
                <a:cubicBezTo>
                  <a:pt x="71455" y="63453"/>
                  <a:pt x="79456" y="71455"/>
                  <a:pt x="89319" y="71455"/>
                </a:cubicBezTo>
                <a:lnTo>
                  <a:pt x="95273" y="71455"/>
                </a:lnTo>
                <a:lnTo>
                  <a:pt x="95273" y="83364"/>
                </a:lnTo>
                <a:lnTo>
                  <a:pt x="11909" y="83364"/>
                </a:lnTo>
                <a:cubicBezTo>
                  <a:pt x="5322" y="83364"/>
                  <a:pt x="0" y="88686"/>
                  <a:pt x="0" y="95273"/>
                </a:cubicBezTo>
                <a:cubicBezTo>
                  <a:pt x="0" y="101861"/>
                  <a:pt x="5322" y="107182"/>
                  <a:pt x="11909" y="107182"/>
                </a:cubicBezTo>
                <a:lnTo>
                  <a:pt x="47637" y="107182"/>
                </a:lnTo>
                <a:lnTo>
                  <a:pt x="47637" y="119092"/>
                </a:lnTo>
                <a:lnTo>
                  <a:pt x="41682" y="119092"/>
                </a:lnTo>
                <a:cubicBezTo>
                  <a:pt x="31820" y="119092"/>
                  <a:pt x="23818" y="127093"/>
                  <a:pt x="23818" y="136955"/>
                </a:cubicBezTo>
                <a:lnTo>
                  <a:pt x="23818" y="160774"/>
                </a:lnTo>
                <a:cubicBezTo>
                  <a:pt x="23818" y="170636"/>
                  <a:pt x="31820" y="178637"/>
                  <a:pt x="41682" y="178637"/>
                </a:cubicBezTo>
                <a:lnTo>
                  <a:pt x="77410" y="178637"/>
                </a:lnTo>
                <a:cubicBezTo>
                  <a:pt x="87272" y="178637"/>
                  <a:pt x="95273" y="170636"/>
                  <a:pt x="95273" y="160774"/>
                </a:cubicBezTo>
                <a:lnTo>
                  <a:pt x="95273" y="136955"/>
                </a:lnTo>
                <a:cubicBezTo>
                  <a:pt x="95273" y="127093"/>
                  <a:pt x="87272" y="119092"/>
                  <a:pt x="77410" y="119092"/>
                </a:cubicBezTo>
                <a:lnTo>
                  <a:pt x="71455" y="119092"/>
                </a:lnTo>
                <a:lnTo>
                  <a:pt x="71455" y="107182"/>
                </a:lnTo>
                <a:lnTo>
                  <a:pt x="142910" y="107182"/>
                </a:lnTo>
                <a:lnTo>
                  <a:pt x="142910" y="119092"/>
                </a:lnTo>
                <a:lnTo>
                  <a:pt x="136955" y="119092"/>
                </a:lnTo>
                <a:cubicBezTo>
                  <a:pt x="127093" y="119092"/>
                  <a:pt x="119092" y="127093"/>
                  <a:pt x="119092" y="136955"/>
                </a:cubicBezTo>
                <a:lnTo>
                  <a:pt x="119092" y="160774"/>
                </a:lnTo>
                <a:cubicBezTo>
                  <a:pt x="119092" y="170636"/>
                  <a:pt x="127093" y="178637"/>
                  <a:pt x="136955" y="178637"/>
                </a:cubicBezTo>
                <a:lnTo>
                  <a:pt x="172683" y="178637"/>
                </a:lnTo>
                <a:cubicBezTo>
                  <a:pt x="182545" y="178637"/>
                  <a:pt x="190547" y="170636"/>
                  <a:pt x="190547" y="160774"/>
                </a:cubicBezTo>
                <a:lnTo>
                  <a:pt x="190547" y="136955"/>
                </a:lnTo>
                <a:cubicBezTo>
                  <a:pt x="190547" y="127093"/>
                  <a:pt x="182545" y="119092"/>
                  <a:pt x="172683" y="119092"/>
                </a:cubicBezTo>
                <a:lnTo>
                  <a:pt x="166728" y="119092"/>
                </a:lnTo>
                <a:lnTo>
                  <a:pt x="166728" y="107182"/>
                </a:lnTo>
                <a:lnTo>
                  <a:pt x="202456" y="107182"/>
                </a:lnTo>
                <a:cubicBezTo>
                  <a:pt x="209043" y="107182"/>
                  <a:pt x="214365" y="101861"/>
                  <a:pt x="214365" y="95273"/>
                </a:cubicBezTo>
                <a:cubicBezTo>
                  <a:pt x="214365" y="88686"/>
                  <a:pt x="209043" y="83364"/>
                  <a:pt x="202456" y="83364"/>
                </a:cubicBezTo>
                <a:lnTo>
                  <a:pt x="119092" y="83364"/>
                </a:lnTo>
                <a:lnTo>
                  <a:pt x="119092" y="71455"/>
                </a:lnTo>
                <a:lnTo>
                  <a:pt x="125046" y="71455"/>
                </a:lnTo>
                <a:cubicBezTo>
                  <a:pt x="134908" y="71455"/>
                  <a:pt x="142910" y="63453"/>
                  <a:pt x="142910" y="53591"/>
                </a:cubicBezTo>
                <a:lnTo>
                  <a:pt x="142910" y="29773"/>
                </a:lnTo>
                <a:cubicBezTo>
                  <a:pt x="142910" y="19911"/>
                  <a:pt x="134908" y="11909"/>
                  <a:pt x="125046" y="11909"/>
                </a:cubicBezTo>
                <a:lnTo>
                  <a:pt x="89319" y="11909"/>
                </a:lnTo>
                <a:close/>
                <a:moveTo>
                  <a:pt x="166728" y="139933"/>
                </a:moveTo>
                <a:lnTo>
                  <a:pt x="169705" y="139933"/>
                </a:lnTo>
                <a:lnTo>
                  <a:pt x="169705" y="157796"/>
                </a:lnTo>
                <a:lnTo>
                  <a:pt x="139933" y="157796"/>
                </a:lnTo>
                <a:lnTo>
                  <a:pt x="139933" y="139933"/>
                </a:lnTo>
                <a:lnTo>
                  <a:pt x="166728" y="139933"/>
                </a:lnTo>
                <a:close/>
                <a:moveTo>
                  <a:pt x="71455" y="139933"/>
                </a:moveTo>
                <a:lnTo>
                  <a:pt x="74432" y="139933"/>
                </a:lnTo>
                <a:lnTo>
                  <a:pt x="74432" y="157796"/>
                </a:lnTo>
                <a:lnTo>
                  <a:pt x="44659" y="157796"/>
                </a:lnTo>
                <a:lnTo>
                  <a:pt x="44659" y="139933"/>
                </a:lnTo>
                <a:lnTo>
                  <a:pt x="71455" y="139933"/>
                </a:lnTo>
                <a:close/>
              </a:path>
            </a:pathLst>
          </a:custGeom>
          <a:solidFill>
            <a:srgbClr val="3C8082"/>
          </a:solidFill>
          <a:ln/>
        </p:spPr>
        <p:txBody>
          <a:bodyPr/>
          <a:lstStyle/>
          <a:p>
            <a:endParaRPr lang="zh-CN" altLang="en-US"/>
          </a:p>
        </p:txBody>
      </p:sp>
      <p:sp>
        <p:nvSpPr>
          <p:cNvPr id="55" name="Text 53"/>
          <p:cNvSpPr/>
          <p:nvPr/>
        </p:nvSpPr>
        <p:spPr>
          <a:xfrm>
            <a:off x="12480704" y="4295949"/>
            <a:ext cx="857459" cy="285820"/>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网络资源</a:t>
            </a:r>
            <a:endParaRPr lang="en-US" sz="1600" dirty="0"/>
          </a:p>
        </p:txBody>
      </p:sp>
      <p:sp>
        <p:nvSpPr>
          <p:cNvPr id="56" name="Text 54"/>
          <p:cNvSpPr/>
          <p:nvPr/>
        </p:nvSpPr>
        <p:spPr>
          <a:xfrm>
            <a:off x="12147248" y="4629406"/>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网络带宽限制</a:t>
            </a:r>
            <a:endParaRPr lang="en-US" sz="1600" dirty="0"/>
          </a:p>
        </p:txBody>
      </p:sp>
      <p:sp>
        <p:nvSpPr>
          <p:cNvPr id="57" name="Text 55"/>
          <p:cNvSpPr/>
          <p:nvPr/>
        </p:nvSpPr>
        <p:spPr>
          <a:xfrm>
            <a:off x="12147248" y="4843771"/>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端口范围分配</a:t>
            </a:r>
            <a:endParaRPr lang="en-US" sz="1600" dirty="0"/>
          </a:p>
        </p:txBody>
      </p:sp>
      <p:sp>
        <p:nvSpPr>
          <p:cNvPr id="58" name="Text 56"/>
          <p:cNvSpPr/>
          <p:nvPr/>
        </p:nvSpPr>
        <p:spPr>
          <a:xfrm>
            <a:off x="12147248" y="5058136"/>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网络隔离策略</a:t>
            </a:r>
            <a:endParaRPr lang="en-US" sz="1600" dirty="0"/>
          </a:p>
        </p:txBody>
      </p:sp>
      <p:sp>
        <p:nvSpPr>
          <p:cNvPr id="59" name="Text 57"/>
          <p:cNvSpPr/>
          <p:nvPr/>
        </p:nvSpPr>
        <p:spPr>
          <a:xfrm>
            <a:off x="12147248" y="5272500"/>
            <a:ext cx="3406019"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服务质量保障</a:t>
            </a:r>
            <a:endParaRPr lang="en-US" sz="1600" dirty="0"/>
          </a:p>
        </p:txBody>
      </p:sp>
      <p:sp>
        <p:nvSpPr>
          <p:cNvPr id="60" name="Shape 58"/>
          <p:cNvSpPr/>
          <p:nvPr/>
        </p:nvSpPr>
        <p:spPr>
          <a:xfrm>
            <a:off x="8427683" y="6007705"/>
            <a:ext cx="7157404" cy="1286189"/>
          </a:xfrm>
          <a:custGeom>
            <a:avLst/>
            <a:gdLst/>
            <a:ahLst/>
            <a:cxnLst/>
            <a:rect l="l" t="t" r="r" b="b"/>
            <a:pathLst>
              <a:path w="7157404" h="1286189">
                <a:moveTo>
                  <a:pt x="95268" y="0"/>
                </a:moveTo>
                <a:lnTo>
                  <a:pt x="7062136" y="0"/>
                </a:lnTo>
                <a:cubicBezTo>
                  <a:pt x="7114751" y="0"/>
                  <a:pt x="7157404" y="42653"/>
                  <a:pt x="7157404" y="95268"/>
                </a:cubicBezTo>
                <a:lnTo>
                  <a:pt x="7157404" y="1190921"/>
                </a:lnTo>
                <a:cubicBezTo>
                  <a:pt x="7157404" y="1243536"/>
                  <a:pt x="7114751" y="1286189"/>
                  <a:pt x="7062136" y="1286189"/>
                </a:cubicBezTo>
                <a:lnTo>
                  <a:pt x="95268" y="1286189"/>
                </a:lnTo>
                <a:cubicBezTo>
                  <a:pt x="42653" y="1286189"/>
                  <a:pt x="0" y="1243536"/>
                  <a:pt x="0" y="1190921"/>
                </a:cubicBezTo>
                <a:lnTo>
                  <a:pt x="0" y="95268"/>
                </a:lnTo>
                <a:cubicBezTo>
                  <a:pt x="0" y="42653"/>
                  <a:pt x="42653" y="0"/>
                  <a:pt x="95268" y="0"/>
                </a:cubicBezTo>
                <a:close/>
              </a:path>
            </a:pathLst>
          </a:custGeom>
          <a:solidFill>
            <a:srgbClr val="1A1D21">
              <a:alpha val="50196"/>
            </a:srgbClr>
          </a:solidFill>
          <a:ln/>
        </p:spPr>
        <p:txBody>
          <a:bodyPr/>
          <a:lstStyle/>
          <a:p>
            <a:endParaRPr lang="zh-CN" altLang="en-US"/>
          </a:p>
        </p:txBody>
      </p:sp>
      <p:sp>
        <p:nvSpPr>
          <p:cNvPr id="61" name="Shape 59"/>
          <p:cNvSpPr/>
          <p:nvPr/>
        </p:nvSpPr>
        <p:spPr>
          <a:xfrm>
            <a:off x="8546774" y="6150615"/>
            <a:ext cx="190547" cy="190547"/>
          </a:xfrm>
          <a:custGeom>
            <a:avLst/>
            <a:gdLst/>
            <a:ahLst/>
            <a:cxnLst/>
            <a:rect l="l" t="t" r="r" b="b"/>
            <a:pathLst>
              <a:path w="190547" h="190547">
                <a:moveTo>
                  <a:pt x="47637" y="119092"/>
                </a:moveTo>
                <a:lnTo>
                  <a:pt x="9118" y="119092"/>
                </a:lnTo>
                <a:cubicBezTo>
                  <a:pt x="-149" y="119092"/>
                  <a:pt x="-5843" y="109006"/>
                  <a:pt x="-1079" y="101042"/>
                </a:cubicBezTo>
                <a:lnTo>
                  <a:pt x="18608" y="68217"/>
                </a:lnTo>
                <a:cubicBezTo>
                  <a:pt x="21846" y="62821"/>
                  <a:pt x="27652" y="59546"/>
                  <a:pt x="33941" y="59546"/>
                </a:cubicBezTo>
                <a:lnTo>
                  <a:pt x="69296" y="59546"/>
                </a:lnTo>
                <a:cubicBezTo>
                  <a:pt x="97618" y="11574"/>
                  <a:pt x="139858" y="9155"/>
                  <a:pt x="168105" y="13286"/>
                </a:cubicBezTo>
                <a:cubicBezTo>
                  <a:pt x="172869" y="13993"/>
                  <a:pt x="176590" y="17715"/>
                  <a:pt x="177260" y="22441"/>
                </a:cubicBezTo>
                <a:cubicBezTo>
                  <a:pt x="181391" y="50688"/>
                  <a:pt x="178972" y="92929"/>
                  <a:pt x="131001" y="121250"/>
                </a:cubicBezTo>
                <a:lnTo>
                  <a:pt x="131001" y="156605"/>
                </a:lnTo>
                <a:cubicBezTo>
                  <a:pt x="131001" y="162895"/>
                  <a:pt x="127726" y="168701"/>
                  <a:pt x="122329" y="171938"/>
                </a:cubicBezTo>
                <a:lnTo>
                  <a:pt x="89505" y="191626"/>
                </a:lnTo>
                <a:cubicBezTo>
                  <a:pt x="81578" y="196389"/>
                  <a:pt x="71455" y="190658"/>
                  <a:pt x="71455" y="181429"/>
                </a:cubicBezTo>
                <a:lnTo>
                  <a:pt x="71455" y="142910"/>
                </a:lnTo>
                <a:cubicBezTo>
                  <a:pt x="71455" y="129773"/>
                  <a:pt x="60774" y="119092"/>
                  <a:pt x="47637" y="119092"/>
                </a:cubicBezTo>
                <a:lnTo>
                  <a:pt x="47599" y="119092"/>
                </a:lnTo>
                <a:close/>
                <a:moveTo>
                  <a:pt x="148864" y="59546"/>
                </a:moveTo>
                <a:cubicBezTo>
                  <a:pt x="148864" y="49687"/>
                  <a:pt x="140860" y="41682"/>
                  <a:pt x="131001" y="41682"/>
                </a:cubicBezTo>
                <a:cubicBezTo>
                  <a:pt x="121141" y="41682"/>
                  <a:pt x="113137" y="49687"/>
                  <a:pt x="113137" y="59546"/>
                </a:cubicBezTo>
                <a:cubicBezTo>
                  <a:pt x="113137" y="69405"/>
                  <a:pt x="121141" y="77410"/>
                  <a:pt x="131001" y="77410"/>
                </a:cubicBezTo>
                <a:cubicBezTo>
                  <a:pt x="140860" y="77410"/>
                  <a:pt x="148864" y="69405"/>
                  <a:pt x="148864" y="59546"/>
                </a:cubicBezTo>
                <a:close/>
              </a:path>
            </a:pathLst>
          </a:custGeom>
          <a:solidFill>
            <a:srgbClr val="3C8082"/>
          </a:solidFill>
          <a:ln/>
        </p:spPr>
        <p:txBody>
          <a:bodyPr/>
          <a:lstStyle/>
          <a:p>
            <a:endParaRPr lang="zh-CN" altLang="en-US"/>
          </a:p>
        </p:txBody>
      </p:sp>
      <p:sp>
        <p:nvSpPr>
          <p:cNvPr id="62" name="Text 60"/>
          <p:cNvSpPr/>
          <p:nvPr/>
        </p:nvSpPr>
        <p:spPr>
          <a:xfrm>
            <a:off x="8856412" y="6102978"/>
            <a:ext cx="1512463" cy="285820"/>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GPU/自定义资源</a:t>
            </a:r>
            <a:endParaRPr lang="en-US" sz="1600" dirty="0"/>
          </a:p>
        </p:txBody>
      </p:sp>
      <p:sp>
        <p:nvSpPr>
          <p:cNvPr id="63" name="Text 61"/>
          <p:cNvSpPr/>
          <p:nvPr/>
        </p:nvSpPr>
        <p:spPr>
          <a:xfrm>
            <a:off x="8522956" y="6436434"/>
            <a:ext cx="7038312"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GPU卡数、GPU内存、CUDA版本、计算能力</a:t>
            </a:r>
            <a:endParaRPr lang="en-US" sz="1600" dirty="0"/>
          </a:p>
        </p:txBody>
      </p:sp>
      <p:sp>
        <p:nvSpPr>
          <p:cNvPr id="64" name="Text 62"/>
          <p:cNvSpPr/>
          <p:nvPr/>
        </p:nvSpPr>
        <p:spPr>
          <a:xfrm>
            <a:off x="8522956" y="6650799"/>
            <a:ext cx="7038312" cy="190547"/>
          </a:xfrm>
          <a:prstGeom prst="rect">
            <a:avLst/>
          </a:prstGeom>
          <a:noFill/>
          <a:ln/>
        </p:spPr>
        <p:txBody>
          <a:bodyPr wrap="square" lIns="0" tIns="0" rIns="0" bIns="0" rtlCol="0" anchor="ctr"/>
          <a:lstStyle/>
          <a:p>
            <a:pPr>
              <a:lnSpc>
                <a:spcPct val="110000"/>
              </a:lnSpc>
            </a:pPr>
            <a:r>
              <a:rPr lang="en-US" sz="1125" dirty="0">
                <a:solidFill>
                  <a:srgbClr val="E0E2E4">
                    <a:alpha val="70000"/>
                  </a:srgbClr>
                </a:solidFill>
                <a:latin typeface="MiSans" pitchFamily="34" charset="0"/>
                <a:ea typeface="MiSans" pitchFamily="34" charset="-122"/>
                <a:cs typeface="MiSans" pitchFamily="34" charset="-120"/>
              </a:rPr>
              <a:t>• FPGA资源、专用硬件、许可证资源、扩展属性</a:t>
            </a:r>
            <a:endParaRPr lang="en-US" sz="1600" dirty="0"/>
          </a:p>
        </p:txBody>
      </p:sp>
      <p:sp>
        <p:nvSpPr>
          <p:cNvPr id="65" name="Shape 63"/>
          <p:cNvSpPr/>
          <p:nvPr/>
        </p:nvSpPr>
        <p:spPr>
          <a:xfrm>
            <a:off x="482321" y="7642051"/>
            <a:ext cx="7550406" cy="1631555"/>
          </a:xfrm>
          <a:custGeom>
            <a:avLst/>
            <a:gdLst/>
            <a:ahLst/>
            <a:cxnLst/>
            <a:rect l="l" t="t" r="r" b="b"/>
            <a:pathLst>
              <a:path w="7550406" h="1631555">
                <a:moveTo>
                  <a:pt x="95266" y="0"/>
                </a:moveTo>
                <a:lnTo>
                  <a:pt x="7455139" y="0"/>
                </a:lnTo>
                <a:cubicBezTo>
                  <a:pt x="7507754" y="0"/>
                  <a:pt x="7550406" y="42652"/>
                  <a:pt x="7550406" y="95266"/>
                </a:cubicBezTo>
                <a:lnTo>
                  <a:pt x="7550406" y="1536288"/>
                </a:lnTo>
                <a:cubicBezTo>
                  <a:pt x="7550406" y="1588902"/>
                  <a:pt x="7507754" y="1631555"/>
                  <a:pt x="7455139" y="1631555"/>
                </a:cubicBezTo>
                <a:lnTo>
                  <a:pt x="95266" y="1631555"/>
                </a:lnTo>
                <a:cubicBezTo>
                  <a:pt x="42652" y="1631555"/>
                  <a:pt x="0" y="1588902"/>
                  <a:pt x="0" y="1536288"/>
                </a:cubicBezTo>
                <a:lnTo>
                  <a:pt x="0" y="95266"/>
                </a:lnTo>
                <a:cubicBezTo>
                  <a:pt x="0" y="42687"/>
                  <a:pt x="42687" y="0"/>
                  <a:pt x="95266"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6" name="Shape 64"/>
          <p:cNvSpPr/>
          <p:nvPr/>
        </p:nvSpPr>
        <p:spPr>
          <a:xfrm>
            <a:off x="631185" y="7790915"/>
            <a:ext cx="381093" cy="381093"/>
          </a:xfrm>
          <a:custGeom>
            <a:avLst/>
            <a:gdLst/>
            <a:ahLst/>
            <a:cxnLst/>
            <a:rect l="l" t="t" r="r" b="b"/>
            <a:pathLst>
              <a:path w="381093" h="381093">
                <a:moveTo>
                  <a:pt x="95273" y="0"/>
                </a:moveTo>
                <a:lnTo>
                  <a:pt x="285820" y="0"/>
                </a:lnTo>
                <a:cubicBezTo>
                  <a:pt x="338438" y="0"/>
                  <a:pt x="381093" y="42655"/>
                  <a:pt x="381093" y="95273"/>
                </a:cubicBezTo>
                <a:lnTo>
                  <a:pt x="381093" y="285820"/>
                </a:lnTo>
                <a:cubicBezTo>
                  <a:pt x="381093" y="338438"/>
                  <a:pt x="338438" y="381093"/>
                  <a:pt x="285820" y="381093"/>
                </a:cubicBezTo>
                <a:lnTo>
                  <a:pt x="95273" y="381093"/>
                </a:lnTo>
                <a:cubicBezTo>
                  <a:pt x="42655" y="381093"/>
                  <a:pt x="0" y="338438"/>
                  <a:pt x="0" y="285820"/>
                </a:cubicBezTo>
                <a:lnTo>
                  <a:pt x="0" y="95273"/>
                </a:lnTo>
                <a:cubicBezTo>
                  <a:pt x="0" y="42691"/>
                  <a:pt x="42691" y="0"/>
                  <a:pt x="95273" y="0"/>
                </a:cubicBezTo>
                <a:close/>
              </a:path>
            </a:pathLst>
          </a:custGeom>
          <a:solidFill>
            <a:srgbClr val="3C8082"/>
          </a:solidFill>
          <a:ln/>
        </p:spPr>
        <p:txBody>
          <a:bodyPr/>
          <a:lstStyle/>
          <a:p>
            <a:endParaRPr lang="zh-CN" altLang="en-US"/>
          </a:p>
        </p:txBody>
      </p:sp>
      <p:sp>
        <p:nvSpPr>
          <p:cNvPr id="67" name="Shape 65"/>
          <p:cNvSpPr/>
          <p:nvPr/>
        </p:nvSpPr>
        <p:spPr>
          <a:xfrm>
            <a:off x="750277" y="7886188"/>
            <a:ext cx="142910" cy="190547"/>
          </a:xfrm>
          <a:custGeom>
            <a:avLst/>
            <a:gdLst/>
            <a:ahLst/>
            <a:cxnLst/>
            <a:rect l="l" t="t" r="r" b="b"/>
            <a:pathLst>
              <a:path w="142910" h="190547">
                <a:moveTo>
                  <a:pt x="0" y="70190"/>
                </a:moveTo>
                <a:cubicBezTo>
                  <a:pt x="0" y="31410"/>
                  <a:pt x="32006" y="0"/>
                  <a:pt x="71455" y="0"/>
                </a:cubicBezTo>
                <a:cubicBezTo>
                  <a:pt x="110904" y="0"/>
                  <a:pt x="142910" y="31410"/>
                  <a:pt x="142910" y="70190"/>
                </a:cubicBezTo>
                <a:cubicBezTo>
                  <a:pt x="142910" y="114588"/>
                  <a:pt x="98176" y="167807"/>
                  <a:pt x="79494" y="188090"/>
                </a:cubicBezTo>
                <a:cubicBezTo>
                  <a:pt x="75102" y="192854"/>
                  <a:pt x="67771" y="192854"/>
                  <a:pt x="63379" y="188090"/>
                </a:cubicBezTo>
                <a:cubicBezTo>
                  <a:pt x="44697" y="167807"/>
                  <a:pt x="-37" y="114588"/>
                  <a:pt x="-37" y="70190"/>
                </a:cubicBezTo>
                <a:close/>
                <a:moveTo>
                  <a:pt x="71455" y="95273"/>
                </a:moveTo>
                <a:cubicBezTo>
                  <a:pt x="84601" y="95273"/>
                  <a:pt x="95273" y="84601"/>
                  <a:pt x="95273" y="71455"/>
                </a:cubicBezTo>
                <a:cubicBezTo>
                  <a:pt x="95273" y="58309"/>
                  <a:pt x="84601" y="47637"/>
                  <a:pt x="71455" y="47637"/>
                </a:cubicBezTo>
                <a:cubicBezTo>
                  <a:pt x="58309" y="47637"/>
                  <a:pt x="47637" y="58309"/>
                  <a:pt x="47637" y="71455"/>
                </a:cubicBezTo>
                <a:cubicBezTo>
                  <a:pt x="47637" y="84601"/>
                  <a:pt x="58309" y="95273"/>
                  <a:pt x="71455" y="95273"/>
                </a:cubicBezTo>
                <a:close/>
              </a:path>
            </a:pathLst>
          </a:custGeom>
          <a:solidFill>
            <a:srgbClr val="FFFFFF"/>
          </a:solidFill>
          <a:ln/>
        </p:spPr>
        <p:txBody>
          <a:bodyPr/>
          <a:lstStyle/>
          <a:p>
            <a:endParaRPr lang="zh-CN" altLang="en-US"/>
          </a:p>
        </p:txBody>
      </p:sp>
      <p:sp>
        <p:nvSpPr>
          <p:cNvPr id="68" name="Text 66"/>
          <p:cNvSpPr/>
          <p:nvPr/>
        </p:nvSpPr>
        <p:spPr>
          <a:xfrm>
            <a:off x="1107552" y="7814733"/>
            <a:ext cx="1929284" cy="333456"/>
          </a:xfrm>
          <a:prstGeom prst="rect">
            <a:avLst/>
          </a:prstGeom>
          <a:noFill/>
          <a:ln/>
        </p:spPr>
        <p:txBody>
          <a:bodyPr wrap="square" lIns="0" tIns="0" rIns="0" bIns="0" rtlCol="0" anchor="ctr"/>
          <a:lstStyle/>
          <a:p>
            <a:pPr>
              <a:lnSpc>
                <a:spcPct val="130000"/>
              </a:lnSpc>
            </a:pPr>
            <a:r>
              <a:rPr lang="en-US" sz="1688" b="1" dirty="0">
                <a:solidFill>
                  <a:srgbClr val="E0E2E4"/>
                </a:solidFill>
                <a:latin typeface="MiSans" pitchFamily="34" charset="0"/>
                <a:ea typeface="MiSans" pitchFamily="34" charset="-122"/>
                <a:cs typeface="MiSans" pitchFamily="34" charset="-120"/>
              </a:rPr>
              <a:t>Container位置管理</a:t>
            </a:r>
            <a:endParaRPr lang="en-US" sz="1600" dirty="0"/>
          </a:p>
        </p:txBody>
      </p:sp>
      <p:sp>
        <p:nvSpPr>
          <p:cNvPr id="69" name="Shape 67"/>
          <p:cNvSpPr/>
          <p:nvPr/>
        </p:nvSpPr>
        <p:spPr>
          <a:xfrm>
            <a:off x="631185" y="8267281"/>
            <a:ext cx="2358013" cy="857459"/>
          </a:xfrm>
          <a:custGeom>
            <a:avLst/>
            <a:gdLst/>
            <a:ahLst/>
            <a:cxnLst/>
            <a:rect l="l" t="t" r="r" b="b"/>
            <a:pathLst>
              <a:path w="2358013" h="857459">
                <a:moveTo>
                  <a:pt x="47640" y="0"/>
                </a:moveTo>
                <a:lnTo>
                  <a:pt x="2310373" y="0"/>
                </a:lnTo>
                <a:cubicBezTo>
                  <a:pt x="2336684" y="0"/>
                  <a:pt x="2358013" y="21329"/>
                  <a:pt x="2358013" y="47640"/>
                </a:cubicBezTo>
                <a:lnTo>
                  <a:pt x="2358013" y="809819"/>
                </a:lnTo>
                <a:cubicBezTo>
                  <a:pt x="2358013" y="836130"/>
                  <a:pt x="2336684" y="857459"/>
                  <a:pt x="2310373" y="857459"/>
                </a:cubicBezTo>
                <a:lnTo>
                  <a:pt x="47640" y="857459"/>
                </a:lnTo>
                <a:cubicBezTo>
                  <a:pt x="21329" y="857459"/>
                  <a:pt x="0" y="836130"/>
                  <a:pt x="0" y="809819"/>
                </a:cubicBezTo>
                <a:lnTo>
                  <a:pt x="0" y="47640"/>
                </a:lnTo>
                <a:cubicBezTo>
                  <a:pt x="0" y="21347"/>
                  <a:pt x="21347" y="0"/>
                  <a:pt x="47640" y="0"/>
                </a:cubicBezTo>
                <a:close/>
              </a:path>
            </a:pathLst>
          </a:custGeom>
          <a:solidFill>
            <a:srgbClr val="1A1D21">
              <a:alpha val="50196"/>
            </a:srgbClr>
          </a:solidFill>
          <a:ln/>
        </p:spPr>
        <p:txBody>
          <a:bodyPr/>
          <a:lstStyle/>
          <a:p>
            <a:endParaRPr lang="zh-CN" altLang="en-US"/>
          </a:p>
        </p:txBody>
      </p:sp>
      <p:sp>
        <p:nvSpPr>
          <p:cNvPr id="70" name="Text 68"/>
          <p:cNvSpPr/>
          <p:nvPr/>
        </p:nvSpPr>
        <p:spPr>
          <a:xfrm>
            <a:off x="726459" y="8362555"/>
            <a:ext cx="2250831" cy="238183"/>
          </a:xfrm>
          <a:prstGeom prst="rect">
            <a:avLst/>
          </a:prstGeom>
          <a:noFill/>
          <a:ln/>
        </p:spPr>
        <p:txBody>
          <a:bodyPr wrap="square" lIns="0" tIns="0" rIns="0" bIns="0" rtlCol="0" anchor="ctr"/>
          <a:lstStyle/>
          <a:p>
            <a:pPr>
              <a:lnSpc>
                <a:spcPct val="120000"/>
              </a:lnSpc>
            </a:pPr>
            <a:r>
              <a:rPr lang="en-US" sz="1313" b="1" dirty="0">
                <a:solidFill>
                  <a:srgbClr val="E0E2E4"/>
                </a:solidFill>
                <a:latin typeface="MiSans" pitchFamily="34" charset="0"/>
                <a:ea typeface="MiSans" pitchFamily="34" charset="-122"/>
                <a:cs typeface="MiSans" pitchFamily="34" charset="-120"/>
              </a:rPr>
              <a:t>节点位置</a:t>
            </a:r>
            <a:endParaRPr lang="en-US" sz="1600" dirty="0"/>
          </a:p>
        </p:txBody>
      </p:sp>
      <p:sp>
        <p:nvSpPr>
          <p:cNvPr id="71" name="Text 69"/>
          <p:cNvSpPr/>
          <p:nvPr/>
        </p:nvSpPr>
        <p:spPr>
          <a:xfrm>
            <a:off x="726459" y="8648374"/>
            <a:ext cx="2238922" cy="381093"/>
          </a:xfrm>
          <a:prstGeom prst="rect">
            <a:avLst/>
          </a:prstGeom>
          <a:noFill/>
          <a:ln/>
        </p:spPr>
        <p:txBody>
          <a:bodyPr wrap="square" lIns="0" tIns="0" rIns="0" bIns="0" rtlCol="0" anchor="ctr"/>
          <a:lstStyle/>
          <a:p>
            <a:pPr>
              <a:lnSpc>
                <a:spcPct val="110000"/>
              </a:lnSpc>
            </a:pPr>
            <a:r>
              <a:rPr lang="en-US" sz="1125" dirty="0">
                <a:solidFill>
                  <a:srgbClr val="E0E2E4">
                    <a:alpha val="80000"/>
                  </a:srgbClr>
                </a:solidFill>
                <a:latin typeface="MiSans" pitchFamily="34" charset="0"/>
                <a:ea typeface="MiSans" pitchFamily="34" charset="-122"/>
                <a:cs typeface="MiSans" pitchFamily="34" charset="-120"/>
              </a:rPr>
              <a:t>NodeManager地址、端口信息、健康状态</a:t>
            </a:r>
            <a:endParaRPr lang="en-US" sz="1600" dirty="0"/>
          </a:p>
        </p:txBody>
      </p:sp>
      <p:sp>
        <p:nvSpPr>
          <p:cNvPr id="72" name="Shape 70"/>
          <p:cNvSpPr/>
          <p:nvPr/>
        </p:nvSpPr>
        <p:spPr>
          <a:xfrm>
            <a:off x="3079168" y="8267281"/>
            <a:ext cx="2358013" cy="857459"/>
          </a:xfrm>
          <a:custGeom>
            <a:avLst/>
            <a:gdLst/>
            <a:ahLst/>
            <a:cxnLst/>
            <a:rect l="l" t="t" r="r" b="b"/>
            <a:pathLst>
              <a:path w="2358013" h="857459">
                <a:moveTo>
                  <a:pt x="47640" y="0"/>
                </a:moveTo>
                <a:lnTo>
                  <a:pt x="2310373" y="0"/>
                </a:lnTo>
                <a:cubicBezTo>
                  <a:pt x="2336684" y="0"/>
                  <a:pt x="2358013" y="21329"/>
                  <a:pt x="2358013" y="47640"/>
                </a:cubicBezTo>
                <a:lnTo>
                  <a:pt x="2358013" y="809819"/>
                </a:lnTo>
                <a:cubicBezTo>
                  <a:pt x="2358013" y="836130"/>
                  <a:pt x="2336684" y="857459"/>
                  <a:pt x="2310373" y="857459"/>
                </a:cubicBezTo>
                <a:lnTo>
                  <a:pt x="47640" y="857459"/>
                </a:lnTo>
                <a:cubicBezTo>
                  <a:pt x="21329" y="857459"/>
                  <a:pt x="0" y="836130"/>
                  <a:pt x="0" y="809819"/>
                </a:cubicBezTo>
                <a:lnTo>
                  <a:pt x="0" y="47640"/>
                </a:lnTo>
                <a:cubicBezTo>
                  <a:pt x="0" y="21347"/>
                  <a:pt x="21347" y="0"/>
                  <a:pt x="47640" y="0"/>
                </a:cubicBezTo>
                <a:close/>
              </a:path>
            </a:pathLst>
          </a:custGeom>
          <a:solidFill>
            <a:srgbClr val="1A1D21">
              <a:alpha val="50196"/>
            </a:srgbClr>
          </a:solidFill>
          <a:ln/>
        </p:spPr>
        <p:txBody>
          <a:bodyPr/>
          <a:lstStyle/>
          <a:p>
            <a:endParaRPr lang="zh-CN" altLang="en-US"/>
          </a:p>
        </p:txBody>
      </p:sp>
      <p:sp>
        <p:nvSpPr>
          <p:cNvPr id="73" name="Text 71"/>
          <p:cNvSpPr/>
          <p:nvPr/>
        </p:nvSpPr>
        <p:spPr>
          <a:xfrm>
            <a:off x="3174442" y="8362555"/>
            <a:ext cx="2250831" cy="238183"/>
          </a:xfrm>
          <a:prstGeom prst="rect">
            <a:avLst/>
          </a:prstGeom>
          <a:noFill/>
          <a:ln/>
        </p:spPr>
        <p:txBody>
          <a:bodyPr wrap="square" lIns="0" tIns="0" rIns="0" bIns="0" rtlCol="0" anchor="ctr"/>
          <a:lstStyle/>
          <a:p>
            <a:pPr>
              <a:lnSpc>
                <a:spcPct val="120000"/>
              </a:lnSpc>
            </a:pPr>
            <a:r>
              <a:rPr lang="en-US" sz="1313" b="1" dirty="0">
                <a:solidFill>
                  <a:srgbClr val="E0E2E4"/>
                </a:solidFill>
                <a:latin typeface="MiSans" pitchFamily="34" charset="0"/>
                <a:ea typeface="MiSans" pitchFamily="34" charset="-122"/>
                <a:cs typeface="MiSans" pitchFamily="34" charset="-120"/>
              </a:rPr>
              <a:t>机架感知</a:t>
            </a:r>
            <a:endParaRPr lang="en-US" sz="1600" dirty="0"/>
          </a:p>
        </p:txBody>
      </p:sp>
      <p:sp>
        <p:nvSpPr>
          <p:cNvPr id="74" name="Text 72"/>
          <p:cNvSpPr/>
          <p:nvPr/>
        </p:nvSpPr>
        <p:spPr>
          <a:xfrm>
            <a:off x="3174442" y="8648374"/>
            <a:ext cx="2238922" cy="190547"/>
          </a:xfrm>
          <a:prstGeom prst="rect">
            <a:avLst/>
          </a:prstGeom>
          <a:noFill/>
          <a:ln/>
        </p:spPr>
        <p:txBody>
          <a:bodyPr wrap="square" lIns="0" tIns="0" rIns="0" bIns="0" rtlCol="0" anchor="ctr"/>
          <a:lstStyle/>
          <a:p>
            <a:pPr>
              <a:lnSpc>
                <a:spcPct val="110000"/>
              </a:lnSpc>
            </a:pPr>
            <a:r>
              <a:rPr lang="en-US" sz="1125" dirty="0">
                <a:solidFill>
                  <a:srgbClr val="E0E2E4">
                    <a:alpha val="80000"/>
                  </a:srgbClr>
                </a:solidFill>
                <a:latin typeface="MiSans" pitchFamily="34" charset="0"/>
                <a:ea typeface="MiSans" pitchFamily="34" charset="-122"/>
                <a:cs typeface="MiSans" pitchFamily="34" charset="-120"/>
              </a:rPr>
              <a:t>机架拓扑、网络距离、故障域隔离</a:t>
            </a:r>
            <a:endParaRPr lang="en-US" sz="1600" dirty="0"/>
          </a:p>
        </p:txBody>
      </p:sp>
      <p:sp>
        <p:nvSpPr>
          <p:cNvPr id="75" name="Shape 73"/>
          <p:cNvSpPr/>
          <p:nvPr/>
        </p:nvSpPr>
        <p:spPr>
          <a:xfrm>
            <a:off x="5527152" y="8267281"/>
            <a:ext cx="2358013" cy="857459"/>
          </a:xfrm>
          <a:custGeom>
            <a:avLst/>
            <a:gdLst/>
            <a:ahLst/>
            <a:cxnLst/>
            <a:rect l="l" t="t" r="r" b="b"/>
            <a:pathLst>
              <a:path w="2358013" h="857459">
                <a:moveTo>
                  <a:pt x="47640" y="0"/>
                </a:moveTo>
                <a:lnTo>
                  <a:pt x="2310373" y="0"/>
                </a:lnTo>
                <a:cubicBezTo>
                  <a:pt x="2336684" y="0"/>
                  <a:pt x="2358013" y="21329"/>
                  <a:pt x="2358013" y="47640"/>
                </a:cubicBezTo>
                <a:lnTo>
                  <a:pt x="2358013" y="809819"/>
                </a:lnTo>
                <a:cubicBezTo>
                  <a:pt x="2358013" y="836130"/>
                  <a:pt x="2336684" y="857459"/>
                  <a:pt x="2310373" y="857459"/>
                </a:cubicBezTo>
                <a:lnTo>
                  <a:pt x="47640" y="857459"/>
                </a:lnTo>
                <a:cubicBezTo>
                  <a:pt x="21329" y="857459"/>
                  <a:pt x="0" y="836130"/>
                  <a:pt x="0" y="809819"/>
                </a:cubicBezTo>
                <a:lnTo>
                  <a:pt x="0" y="47640"/>
                </a:lnTo>
                <a:cubicBezTo>
                  <a:pt x="0" y="21347"/>
                  <a:pt x="21347" y="0"/>
                  <a:pt x="47640" y="0"/>
                </a:cubicBezTo>
                <a:close/>
              </a:path>
            </a:pathLst>
          </a:custGeom>
          <a:solidFill>
            <a:srgbClr val="1A1D21">
              <a:alpha val="50196"/>
            </a:srgbClr>
          </a:solidFill>
          <a:ln/>
        </p:spPr>
        <p:txBody>
          <a:bodyPr/>
          <a:lstStyle/>
          <a:p>
            <a:endParaRPr lang="zh-CN" altLang="en-US"/>
          </a:p>
        </p:txBody>
      </p:sp>
      <p:sp>
        <p:nvSpPr>
          <p:cNvPr id="76" name="Text 74"/>
          <p:cNvSpPr/>
          <p:nvPr/>
        </p:nvSpPr>
        <p:spPr>
          <a:xfrm>
            <a:off x="5622425" y="8362555"/>
            <a:ext cx="2250831" cy="238183"/>
          </a:xfrm>
          <a:prstGeom prst="rect">
            <a:avLst/>
          </a:prstGeom>
          <a:noFill/>
          <a:ln/>
        </p:spPr>
        <p:txBody>
          <a:bodyPr wrap="square" lIns="0" tIns="0" rIns="0" bIns="0" rtlCol="0" anchor="ctr"/>
          <a:lstStyle/>
          <a:p>
            <a:pPr>
              <a:lnSpc>
                <a:spcPct val="120000"/>
              </a:lnSpc>
            </a:pPr>
            <a:r>
              <a:rPr lang="en-US" sz="1313" b="1" dirty="0">
                <a:solidFill>
                  <a:srgbClr val="E0E2E4"/>
                </a:solidFill>
                <a:latin typeface="MiSans" pitchFamily="34" charset="0"/>
                <a:ea typeface="MiSans" pitchFamily="34" charset="-122"/>
                <a:cs typeface="MiSans" pitchFamily="34" charset="-120"/>
              </a:rPr>
              <a:t>数据本地性</a:t>
            </a:r>
            <a:endParaRPr lang="en-US" sz="1600" dirty="0"/>
          </a:p>
        </p:txBody>
      </p:sp>
      <p:sp>
        <p:nvSpPr>
          <p:cNvPr id="77" name="Text 75"/>
          <p:cNvSpPr/>
          <p:nvPr/>
        </p:nvSpPr>
        <p:spPr>
          <a:xfrm>
            <a:off x="5622425" y="8648374"/>
            <a:ext cx="2238922" cy="381093"/>
          </a:xfrm>
          <a:prstGeom prst="rect">
            <a:avLst/>
          </a:prstGeom>
          <a:noFill/>
          <a:ln/>
        </p:spPr>
        <p:txBody>
          <a:bodyPr wrap="square" lIns="0" tIns="0" rIns="0" bIns="0" rtlCol="0" anchor="ctr"/>
          <a:lstStyle/>
          <a:p>
            <a:pPr>
              <a:lnSpc>
                <a:spcPct val="110000"/>
              </a:lnSpc>
            </a:pPr>
            <a:r>
              <a:rPr lang="en-US" sz="1125" dirty="0">
                <a:solidFill>
                  <a:srgbClr val="E0E2E4">
                    <a:alpha val="80000"/>
                  </a:srgbClr>
                </a:solidFill>
                <a:latin typeface="MiSans" pitchFamily="34" charset="0"/>
                <a:ea typeface="MiSans" pitchFamily="34" charset="-122"/>
                <a:cs typeface="MiSans" pitchFamily="34" charset="-120"/>
              </a:rPr>
              <a:t>HDFS块位置、数据亲和性、传输成本优化</a:t>
            </a:r>
            <a:endParaRPr lang="en-US" sz="1600" dirty="0"/>
          </a:p>
        </p:txBody>
      </p:sp>
      <p:sp>
        <p:nvSpPr>
          <p:cNvPr id="78" name="Shape 76"/>
          <p:cNvSpPr/>
          <p:nvPr/>
        </p:nvSpPr>
        <p:spPr>
          <a:xfrm>
            <a:off x="8231182" y="7642051"/>
            <a:ext cx="7550406" cy="1631555"/>
          </a:xfrm>
          <a:custGeom>
            <a:avLst/>
            <a:gdLst/>
            <a:ahLst/>
            <a:cxnLst/>
            <a:rect l="l" t="t" r="r" b="b"/>
            <a:pathLst>
              <a:path w="7550406" h="1631555">
                <a:moveTo>
                  <a:pt x="95266" y="0"/>
                </a:moveTo>
                <a:lnTo>
                  <a:pt x="7455139" y="0"/>
                </a:lnTo>
                <a:cubicBezTo>
                  <a:pt x="7507754" y="0"/>
                  <a:pt x="7550406" y="42652"/>
                  <a:pt x="7550406" y="95266"/>
                </a:cubicBezTo>
                <a:lnTo>
                  <a:pt x="7550406" y="1536288"/>
                </a:lnTo>
                <a:cubicBezTo>
                  <a:pt x="7550406" y="1588902"/>
                  <a:pt x="7507754" y="1631555"/>
                  <a:pt x="7455139" y="1631555"/>
                </a:cubicBezTo>
                <a:lnTo>
                  <a:pt x="95266" y="1631555"/>
                </a:lnTo>
                <a:cubicBezTo>
                  <a:pt x="42652" y="1631555"/>
                  <a:pt x="0" y="1588902"/>
                  <a:pt x="0" y="1536288"/>
                </a:cubicBezTo>
                <a:lnTo>
                  <a:pt x="0" y="95266"/>
                </a:lnTo>
                <a:cubicBezTo>
                  <a:pt x="0" y="42687"/>
                  <a:pt x="42687" y="0"/>
                  <a:pt x="95266"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79" name="Shape 77"/>
          <p:cNvSpPr/>
          <p:nvPr/>
        </p:nvSpPr>
        <p:spPr>
          <a:xfrm>
            <a:off x="8380046" y="7790915"/>
            <a:ext cx="381093" cy="381093"/>
          </a:xfrm>
          <a:custGeom>
            <a:avLst/>
            <a:gdLst/>
            <a:ahLst/>
            <a:cxnLst/>
            <a:rect l="l" t="t" r="r" b="b"/>
            <a:pathLst>
              <a:path w="381093" h="381093">
                <a:moveTo>
                  <a:pt x="95273" y="0"/>
                </a:moveTo>
                <a:lnTo>
                  <a:pt x="285820" y="0"/>
                </a:lnTo>
                <a:cubicBezTo>
                  <a:pt x="338438" y="0"/>
                  <a:pt x="381093" y="42655"/>
                  <a:pt x="381093" y="95273"/>
                </a:cubicBezTo>
                <a:lnTo>
                  <a:pt x="381093" y="285820"/>
                </a:lnTo>
                <a:cubicBezTo>
                  <a:pt x="381093" y="338438"/>
                  <a:pt x="338438" y="381093"/>
                  <a:pt x="285820" y="381093"/>
                </a:cubicBezTo>
                <a:lnTo>
                  <a:pt x="95273" y="381093"/>
                </a:lnTo>
                <a:cubicBezTo>
                  <a:pt x="42655" y="381093"/>
                  <a:pt x="0" y="338438"/>
                  <a:pt x="0" y="285820"/>
                </a:cubicBezTo>
                <a:lnTo>
                  <a:pt x="0" y="95273"/>
                </a:lnTo>
                <a:cubicBezTo>
                  <a:pt x="0" y="42691"/>
                  <a:pt x="42691" y="0"/>
                  <a:pt x="95273" y="0"/>
                </a:cubicBezTo>
                <a:close/>
              </a:path>
            </a:pathLst>
          </a:custGeom>
          <a:solidFill>
            <a:srgbClr val="B38B59"/>
          </a:solidFill>
          <a:ln/>
        </p:spPr>
        <p:txBody>
          <a:bodyPr/>
          <a:lstStyle/>
          <a:p>
            <a:endParaRPr lang="zh-CN" altLang="en-US"/>
          </a:p>
        </p:txBody>
      </p:sp>
      <p:sp>
        <p:nvSpPr>
          <p:cNvPr id="80" name="Shape 78"/>
          <p:cNvSpPr/>
          <p:nvPr/>
        </p:nvSpPr>
        <p:spPr>
          <a:xfrm>
            <a:off x="8463410" y="7886188"/>
            <a:ext cx="214365" cy="190547"/>
          </a:xfrm>
          <a:custGeom>
            <a:avLst/>
            <a:gdLst/>
            <a:ahLst/>
            <a:cxnLst/>
            <a:rect l="l" t="t" r="r" b="b"/>
            <a:pathLst>
              <a:path w="214365" h="190547">
                <a:moveTo>
                  <a:pt x="83364" y="92296"/>
                </a:moveTo>
                <a:cubicBezTo>
                  <a:pt x="108012" y="92296"/>
                  <a:pt x="128023" y="72285"/>
                  <a:pt x="128023" y="47637"/>
                </a:cubicBezTo>
                <a:cubicBezTo>
                  <a:pt x="128023" y="22988"/>
                  <a:pt x="108012" y="2977"/>
                  <a:pt x="83364" y="2977"/>
                </a:cubicBezTo>
                <a:cubicBezTo>
                  <a:pt x="58716" y="2977"/>
                  <a:pt x="38705" y="22988"/>
                  <a:pt x="38705" y="47637"/>
                </a:cubicBezTo>
                <a:cubicBezTo>
                  <a:pt x="38705" y="72285"/>
                  <a:pt x="58716" y="92296"/>
                  <a:pt x="83364" y="92296"/>
                </a:cubicBezTo>
                <a:close/>
                <a:moveTo>
                  <a:pt x="72311" y="113137"/>
                </a:moveTo>
                <a:cubicBezTo>
                  <a:pt x="35653" y="113137"/>
                  <a:pt x="5955" y="142835"/>
                  <a:pt x="5955" y="179493"/>
                </a:cubicBezTo>
                <a:cubicBezTo>
                  <a:pt x="5955" y="185597"/>
                  <a:pt x="10904" y="190547"/>
                  <a:pt x="17008" y="190547"/>
                </a:cubicBezTo>
                <a:lnTo>
                  <a:pt x="110606" y="190547"/>
                </a:lnTo>
                <a:cubicBezTo>
                  <a:pt x="97134" y="174692"/>
                  <a:pt x="89319" y="154261"/>
                  <a:pt x="89319" y="132638"/>
                </a:cubicBezTo>
                <a:lnTo>
                  <a:pt x="89319" y="121064"/>
                </a:lnTo>
                <a:cubicBezTo>
                  <a:pt x="89319" y="118347"/>
                  <a:pt x="89691" y="115668"/>
                  <a:pt x="90398" y="113137"/>
                </a:cubicBezTo>
                <a:lnTo>
                  <a:pt x="72311" y="113137"/>
                </a:lnTo>
                <a:close/>
                <a:moveTo>
                  <a:pt x="165723" y="181801"/>
                </a:moveTo>
                <a:lnTo>
                  <a:pt x="160774" y="184145"/>
                </a:lnTo>
                <a:lnTo>
                  <a:pt x="160774" y="114142"/>
                </a:lnTo>
                <a:lnTo>
                  <a:pt x="196501" y="126051"/>
                </a:lnTo>
                <a:lnTo>
                  <a:pt x="196501" y="133345"/>
                </a:lnTo>
                <a:cubicBezTo>
                  <a:pt x="196501" y="154112"/>
                  <a:pt x="184518" y="172981"/>
                  <a:pt x="165723" y="181838"/>
                </a:cubicBezTo>
                <a:close/>
                <a:moveTo>
                  <a:pt x="157015" y="96576"/>
                </a:moveTo>
                <a:lnTo>
                  <a:pt x="115333" y="110457"/>
                </a:lnTo>
                <a:cubicBezTo>
                  <a:pt x="110457" y="112095"/>
                  <a:pt x="107182" y="116635"/>
                  <a:pt x="107182" y="121771"/>
                </a:cubicBezTo>
                <a:lnTo>
                  <a:pt x="107182" y="133345"/>
                </a:lnTo>
                <a:cubicBezTo>
                  <a:pt x="107182" y="161034"/>
                  <a:pt x="123185" y="186229"/>
                  <a:pt x="148195" y="197990"/>
                </a:cubicBezTo>
                <a:lnTo>
                  <a:pt x="155080" y="201228"/>
                </a:lnTo>
                <a:cubicBezTo>
                  <a:pt x="156866" y="202046"/>
                  <a:pt x="158801" y="202493"/>
                  <a:pt x="160736" y="202493"/>
                </a:cubicBezTo>
                <a:cubicBezTo>
                  <a:pt x="162672" y="202493"/>
                  <a:pt x="164644" y="202046"/>
                  <a:pt x="166393" y="201228"/>
                </a:cubicBezTo>
                <a:lnTo>
                  <a:pt x="173278" y="197990"/>
                </a:lnTo>
                <a:cubicBezTo>
                  <a:pt x="198362" y="186192"/>
                  <a:pt x="214365" y="160997"/>
                  <a:pt x="214365" y="133308"/>
                </a:cubicBezTo>
                <a:lnTo>
                  <a:pt x="214365" y="121734"/>
                </a:lnTo>
                <a:cubicBezTo>
                  <a:pt x="214365" y="116598"/>
                  <a:pt x="211090" y="112058"/>
                  <a:pt x="206215" y="110420"/>
                </a:cubicBezTo>
                <a:lnTo>
                  <a:pt x="164532" y="96539"/>
                </a:lnTo>
                <a:cubicBezTo>
                  <a:pt x="162076" y="95720"/>
                  <a:pt x="159434" y="95720"/>
                  <a:pt x="157015" y="96539"/>
                </a:cubicBezTo>
                <a:close/>
              </a:path>
            </a:pathLst>
          </a:custGeom>
          <a:solidFill>
            <a:srgbClr val="FFFFFF"/>
          </a:solidFill>
          <a:ln/>
        </p:spPr>
        <p:txBody>
          <a:bodyPr/>
          <a:lstStyle/>
          <a:p>
            <a:endParaRPr lang="zh-CN" altLang="en-US"/>
          </a:p>
        </p:txBody>
      </p:sp>
      <p:sp>
        <p:nvSpPr>
          <p:cNvPr id="81" name="Text 79"/>
          <p:cNvSpPr/>
          <p:nvPr/>
        </p:nvSpPr>
        <p:spPr>
          <a:xfrm>
            <a:off x="8856412" y="7814733"/>
            <a:ext cx="1929284" cy="333456"/>
          </a:xfrm>
          <a:prstGeom prst="rect">
            <a:avLst/>
          </a:prstGeom>
          <a:noFill/>
          <a:ln/>
        </p:spPr>
        <p:txBody>
          <a:bodyPr wrap="square" lIns="0" tIns="0" rIns="0" bIns="0" rtlCol="0" anchor="ctr"/>
          <a:lstStyle/>
          <a:p>
            <a:pPr>
              <a:lnSpc>
                <a:spcPct val="130000"/>
              </a:lnSpc>
            </a:pPr>
            <a:r>
              <a:rPr lang="en-US" sz="1688" b="1" dirty="0">
                <a:solidFill>
                  <a:srgbClr val="E0E2E4"/>
                </a:solidFill>
                <a:latin typeface="MiSans" pitchFamily="34" charset="0"/>
                <a:ea typeface="MiSans" pitchFamily="34" charset="-122"/>
                <a:cs typeface="MiSans" pitchFamily="34" charset="-120"/>
              </a:rPr>
              <a:t>Container安全管理</a:t>
            </a:r>
            <a:endParaRPr lang="en-US" sz="1600" dirty="0"/>
          </a:p>
        </p:txBody>
      </p:sp>
      <p:sp>
        <p:nvSpPr>
          <p:cNvPr id="82" name="Shape 80"/>
          <p:cNvSpPr/>
          <p:nvPr/>
        </p:nvSpPr>
        <p:spPr>
          <a:xfrm>
            <a:off x="8380046" y="8267281"/>
            <a:ext cx="2358013" cy="857459"/>
          </a:xfrm>
          <a:custGeom>
            <a:avLst/>
            <a:gdLst/>
            <a:ahLst/>
            <a:cxnLst/>
            <a:rect l="l" t="t" r="r" b="b"/>
            <a:pathLst>
              <a:path w="2358013" h="857459">
                <a:moveTo>
                  <a:pt x="47640" y="0"/>
                </a:moveTo>
                <a:lnTo>
                  <a:pt x="2310373" y="0"/>
                </a:lnTo>
                <a:cubicBezTo>
                  <a:pt x="2336684" y="0"/>
                  <a:pt x="2358013" y="21329"/>
                  <a:pt x="2358013" y="47640"/>
                </a:cubicBezTo>
                <a:lnTo>
                  <a:pt x="2358013" y="809819"/>
                </a:lnTo>
                <a:cubicBezTo>
                  <a:pt x="2358013" y="836130"/>
                  <a:pt x="2336684" y="857459"/>
                  <a:pt x="2310373" y="857459"/>
                </a:cubicBezTo>
                <a:lnTo>
                  <a:pt x="47640" y="857459"/>
                </a:lnTo>
                <a:cubicBezTo>
                  <a:pt x="21329" y="857459"/>
                  <a:pt x="0" y="836130"/>
                  <a:pt x="0" y="809819"/>
                </a:cubicBezTo>
                <a:lnTo>
                  <a:pt x="0" y="47640"/>
                </a:lnTo>
                <a:cubicBezTo>
                  <a:pt x="0" y="21347"/>
                  <a:pt x="21347" y="0"/>
                  <a:pt x="47640" y="0"/>
                </a:cubicBezTo>
                <a:close/>
              </a:path>
            </a:pathLst>
          </a:custGeom>
          <a:solidFill>
            <a:srgbClr val="1A1D21">
              <a:alpha val="50196"/>
            </a:srgbClr>
          </a:solidFill>
          <a:ln/>
        </p:spPr>
        <p:txBody>
          <a:bodyPr/>
          <a:lstStyle/>
          <a:p>
            <a:endParaRPr lang="zh-CN" altLang="en-US"/>
          </a:p>
        </p:txBody>
      </p:sp>
      <p:sp>
        <p:nvSpPr>
          <p:cNvPr id="83" name="Text 81"/>
          <p:cNvSpPr/>
          <p:nvPr/>
        </p:nvSpPr>
        <p:spPr>
          <a:xfrm>
            <a:off x="8475319" y="8362555"/>
            <a:ext cx="2250831" cy="238183"/>
          </a:xfrm>
          <a:prstGeom prst="rect">
            <a:avLst/>
          </a:prstGeom>
          <a:noFill/>
          <a:ln/>
        </p:spPr>
        <p:txBody>
          <a:bodyPr wrap="square" lIns="0" tIns="0" rIns="0" bIns="0" rtlCol="0" anchor="ctr"/>
          <a:lstStyle/>
          <a:p>
            <a:pPr>
              <a:lnSpc>
                <a:spcPct val="120000"/>
              </a:lnSpc>
            </a:pPr>
            <a:r>
              <a:rPr lang="en-US" sz="1313" b="1" dirty="0">
                <a:solidFill>
                  <a:srgbClr val="E0E2E4"/>
                </a:solidFill>
                <a:latin typeface="MiSans" pitchFamily="34" charset="0"/>
                <a:ea typeface="MiSans" pitchFamily="34" charset="-122"/>
                <a:cs typeface="MiSans" pitchFamily="34" charset="-120"/>
              </a:rPr>
              <a:t>访问令牌</a:t>
            </a:r>
            <a:endParaRPr lang="en-US" sz="1600" dirty="0"/>
          </a:p>
        </p:txBody>
      </p:sp>
      <p:sp>
        <p:nvSpPr>
          <p:cNvPr id="84" name="Text 82"/>
          <p:cNvSpPr/>
          <p:nvPr/>
        </p:nvSpPr>
        <p:spPr>
          <a:xfrm>
            <a:off x="8475319" y="8648374"/>
            <a:ext cx="2238922" cy="381093"/>
          </a:xfrm>
          <a:prstGeom prst="rect">
            <a:avLst/>
          </a:prstGeom>
          <a:noFill/>
          <a:ln/>
        </p:spPr>
        <p:txBody>
          <a:bodyPr wrap="square" lIns="0" tIns="0" rIns="0" bIns="0" rtlCol="0" anchor="ctr"/>
          <a:lstStyle/>
          <a:p>
            <a:pPr>
              <a:lnSpc>
                <a:spcPct val="110000"/>
              </a:lnSpc>
            </a:pPr>
            <a:r>
              <a:rPr lang="en-US" sz="1125" dirty="0">
                <a:solidFill>
                  <a:srgbClr val="E0E2E4">
                    <a:alpha val="80000"/>
                  </a:srgbClr>
                </a:solidFill>
                <a:latin typeface="MiSans" pitchFamily="34" charset="0"/>
                <a:ea typeface="MiSans" pitchFamily="34" charset="-122"/>
                <a:cs typeface="MiSans" pitchFamily="34" charset="-120"/>
              </a:rPr>
              <a:t>ContainerToken、时效性控制、签名验证、防重放攻击</a:t>
            </a:r>
            <a:endParaRPr lang="en-US" sz="1600" dirty="0"/>
          </a:p>
        </p:txBody>
      </p:sp>
      <p:sp>
        <p:nvSpPr>
          <p:cNvPr id="85" name="Shape 83"/>
          <p:cNvSpPr/>
          <p:nvPr/>
        </p:nvSpPr>
        <p:spPr>
          <a:xfrm>
            <a:off x="10828029" y="8267281"/>
            <a:ext cx="2358013" cy="857459"/>
          </a:xfrm>
          <a:custGeom>
            <a:avLst/>
            <a:gdLst/>
            <a:ahLst/>
            <a:cxnLst/>
            <a:rect l="l" t="t" r="r" b="b"/>
            <a:pathLst>
              <a:path w="2358013" h="857459">
                <a:moveTo>
                  <a:pt x="47640" y="0"/>
                </a:moveTo>
                <a:lnTo>
                  <a:pt x="2310373" y="0"/>
                </a:lnTo>
                <a:cubicBezTo>
                  <a:pt x="2336684" y="0"/>
                  <a:pt x="2358013" y="21329"/>
                  <a:pt x="2358013" y="47640"/>
                </a:cubicBezTo>
                <a:lnTo>
                  <a:pt x="2358013" y="809819"/>
                </a:lnTo>
                <a:cubicBezTo>
                  <a:pt x="2358013" y="836130"/>
                  <a:pt x="2336684" y="857459"/>
                  <a:pt x="2310373" y="857459"/>
                </a:cubicBezTo>
                <a:lnTo>
                  <a:pt x="47640" y="857459"/>
                </a:lnTo>
                <a:cubicBezTo>
                  <a:pt x="21329" y="857459"/>
                  <a:pt x="0" y="836130"/>
                  <a:pt x="0" y="809819"/>
                </a:cubicBezTo>
                <a:lnTo>
                  <a:pt x="0" y="47640"/>
                </a:lnTo>
                <a:cubicBezTo>
                  <a:pt x="0" y="21347"/>
                  <a:pt x="21347" y="0"/>
                  <a:pt x="47640" y="0"/>
                </a:cubicBezTo>
                <a:close/>
              </a:path>
            </a:pathLst>
          </a:custGeom>
          <a:solidFill>
            <a:srgbClr val="1A1D21">
              <a:alpha val="50196"/>
            </a:srgbClr>
          </a:solidFill>
          <a:ln/>
        </p:spPr>
        <p:txBody>
          <a:bodyPr/>
          <a:lstStyle/>
          <a:p>
            <a:endParaRPr lang="zh-CN" altLang="en-US"/>
          </a:p>
        </p:txBody>
      </p:sp>
      <p:sp>
        <p:nvSpPr>
          <p:cNvPr id="86" name="Text 84"/>
          <p:cNvSpPr/>
          <p:nvPr/>
        </p:nvSpPr>
        <p:spPr>
          <a:xfrm>
            <a:off x="10923303" y="8362555"/>
            <a:ext cx="2250831" cy="238183"/>
          </a:xfrm>
          <a:prstGeom prst="rect">
            <a:avLst/>
          </a:prstGeom>
          <a:noFill/>
          <a:ln/>
        </p:spPr>
        <p:txBody>
          <a:bodyPr wrap="square" lIns="0" tIns="0" rIns="0" bIns="0" rtlCol="0" anchor="ctr"/>
          <a:lstStyle/>
          <a:p>
            <a:pPr>
              <a:lnSpc>
                <a:spcPct val="120000"/>
              </a:lnSpc>
            </a:pPr>
            <a:r>
              <a:rPr lang="en-US" sz="1313" b="1" dirty="0">
                <a:solidFill>
                  <a:srgbClr val="E0E2E4"/>
                </a:solidFill>
                <a:latin typeface="MiSans" pitchFamily="34" charset="0"/>
                <a:ea typeface="MiSans" pitchFamily="34" charset="-122"/>
                <a:cs typeface="MiSans" pitchFamily="34" charset="-120"/>
              </a:rPr>
              <a:t>权限控制</a:t>
            </a:r>
            <a:endParaRPr lang="en-US" sz="1600" dirty="0"/>
          </a:p>
        </p:txBody>
      </p:sp>
      <p:sp>
        <p:nvSpPr>
          <p:cNvPr id="87" name="Text 85"/>
          <p:cNvSpPr/>
          <p:nvPr/>
        </p:nvSpPr>
        <p:spPr>
          <a:xfrm>
            <a:off x="10923303" y="8648374"/>
            <a:ext cx="2238922" cy="381093"/>
          </a:xfrm>
          <a:prstGeom prst="rect">
            <a:avLst/>
          </a:prstGeom>
          <a:noFill/>
          <a:ln/>
        </p:spPr>
        <p:txBody>
          <a:bodyPr wrap="square" lIns="0" tIns="0" rIns="0" bIns="0" rtlCol="0" anchor="ctr"/>
          <a:lstStyle/>
          <a:p>
            <a:pPr>
              <a:lnSpc>
                <a:spcPct val="110000"/>
              </a:lnSpc>
            </a:pPr>
            <a:r>
              <a:rPr lang="en-US" sz="1125" dirty="0">
                <a:solidFill>
                  <a:srgbClr val="E0E2E4">
                    <a:alpha val="80000"/>
                  </a:srgbClr>
                </a:solidFill>
                <a:latin typeface="MiSans" pitchFamily="34" charset="0"/>
                <a:ea typeface="MiSans" pitchFamily="34" charset="-122"/>
                <a:cs typeface="MiSans" pitchFamily="34" charset="-120"/>
              </a:rPr>
              <a:t>用户身份、组权限、文件权限、网络访问控制</a:t>
            </a:r>
            <a:endParaRPr lang="en-US" sz="1600" dirty="0"/>
          </a:p>
        </p:txBody>
      </p:sp>
      <p:sp>
        <p:nvSpPr>
          <p:cNvPr id="88" name="Shape 86"/>
          <p:cNvSpPr/>
          <p:nvPr/>
        </p:nvSpPr>
        <p:spPr>
          <a:xfrm>
            <a:off x="13276012" y="8267281"/>
            <a:ext cx="2358013" cy="857459"/>
          </a:xfrm>
          <a:custGeom>
            <a:avLst/>
            <a:gdLst/>
            <a:ahLst/>
            <a:cxnLst/>
            <a:rect l="l" t="t" r="r" b="b"/>
            <a:pathLst>
              <a:path w="2358013" h="857459">
                <a:moveTo>
                  <a:pt x="47640" y="0"/>
                </a:moveTo>
                <a:lnTo>
                  <a:pt x="2310373" y="0"/>
                </a:lnTo>
                <a:cubicBezTo>
                  <a:pt x="2336684" y="0"/>
                  <a:pt x="2358013" y="21329"/>
                  <a:pt x="2358013" y="47640"/>
                </a:cubicBezTo>
                <a:lnTo>
                  <a:pt x="2358013" y="809819"/>
                </a:lnTo>
                <a:cubicBezTo>
                  <a:pt x="2358013" y="836130"/>
                  <a:pt x="2336684" y="857459"/>
                  <a:pt x="2310373" y="857459"/>
                </a:cubicBezTo>
                <a:lnTo>
                  <a:pt x="47640" y="857459"/>
                </a:lnTo>
                <a:cubicBezTo>
                  <a:pt x="21329" y="857459"/>
                  <a:pt x="0" y="836130"/>
                  <a:pt x="0" y="809819"/>
                </a:cubicBezTo>
                <a:lnTo>
                  <a:pt x="0" y="47640"/>
                </a:lnTo>
                <a:cubicBezTo>
                  <a:pt x="0" y="21347"/>
                  <a:pt x="21347" y="0"/>
                  <a:pt x="47640" y="0"/>
                </a:cubicBezTo>
                <a:close/>
              </a:path>
            </a:pathLst>
          </a:custGeom>
          <a:solidFill>
            <a:srgbClr val="1A1D21">
              <a:alpha val="50196"/>
            </a:srgbClr>
          </a:solidFill>
          <a:ln/>
        </p:spPr>
        <p:txBody>
          <a:bodyPr/>
          <a:lstStyle/>
          <a:p>
            <a:endParaRPr lang="zh-CN" altLang="en-US"/>
          </a:p>
        </p:txBody>
      </p:sp>
      <p:sp>
        <p:nvSpPr>
          <p:cNvPr id="89" name="Text 87"/>
          <p:cNvSpPr/>
          <p:nvPr/>
        </p:nvSpPr>
        <p:spPr>
          <a:xfrm>
            <a:off x="13371286" y="8362555"/>
            <a:ext cx="2250831" cy="238183"/>
          </a:xfrm>
          <a:prstGeom prst="rect">
            <a:avLst/>
          </a:prstGeom>
          <a:noFill/>
          <a:ln/>
        </p:spPr>
        <p:txBody>
          <a:bodyPr wrap="square" lIns="0" tIns="0" rIns="0" bIns="0" rtlCol="0" anchor="ctr"/>
          <a:lstStyle/>
          <a:p>
            <a:pPr>
              <a:lnSpc>
                <a:spcPct val="120000"/>
              </a:lnSpc>
            </a:pPr>
            <a:r>
              <a:rPr lang="en-US" sz="1313" b="1" dirty="0">
                <a:solidFill>
                  <a:srgbClr val="E0E2E4"/>
                </a:solidFill>
                <a:latin typeface="MiSans" pitchFamily="34" charset="0"/>
                <a:ea typeface="MiSans" pitchFamily="34" charset="-122"/>
                <a:cs typeface="MiSans" pitchFamily="34" charset="-120"/>
              </a:rPr>
              <a:t>安全上下文</a:t>
            </a:r>
            <a:endParaRPr lang="en-US" sz="1600" dirty="0"/>
          </a:p>
        </p:txBody>
      </p:sp>
      <p:sp>
        <p:nvSpPr>
          <p:cNvPr id="90" name="Text 88"/>
          <p:cNvSpPr/>
          <p:nvPr/>
        </p:nvSpPr>
        <p:spPr>
          <a:xfrm>
            <a:off x="13371286" y="8648374"/>
            <a:ext cx="2238922" cy="381093"/>
          </a:xfrm>
          <a:prstGeom prst="rect">
            <a:avLst/>
          </a:prstGeom>
          <a:noFill/>
          <a:ln/>
        </p:spPr>
        <p:txBody>
          <a:bodyPr wrap="square" lIns="0" tIns="0" rIns="0" bIns="0" rtlCol="0" anchor="ctr"/>
          <a:lstStyle/>
          <a:p>
            <a:pPr>
              <a:lnSpc>
                <a:spcPct val="110000"/>
              </a:lnSpc>
            </a:pPr>
            <a:r>
              <a:rPr lang="en-US" sz="1125" dirty="0">
                <a:solidFill>
                  <a:srgbClr val="E0E2E4">
                    <a:alpha val="80000"/>
                  </a:srgbClr>
                </a:solidFill>
                <a:latin typeface="MiSans" pitchFamily="34" charset="0"/>
                <a:ea typeface="MiSans" pitchFamily="34" charset="-122"/>
                <a:cs typeface="MiSans" pitchFamily="34" charset="-120"/>
              </a:rPr>
              <a:t>安全策略、审计日志、合规检查、安全隔离</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50305" y="495335"/>
            <a:ext cx="360244" cy="360244"/>
          </a:xfrm>
          <a:custGeom>
            <a:avLst/>
            <a:gdLst/>
            <a:ahLst/>
            <a:cxnLst/>
            <a:rect l="l" t="t" r="r" b="b"/>
            <a:pathLst>
              <a:path w="360244" h="360244">
                <a:moveTo>
                  <a:pt x="67546" y="0"/>
                </a:moveTo>
                <a:lnTo>
                  <a:pt x="292698" y="0"/>
                </a:lnTo>
                <a:cubicBezTo>
                  <a:pt x="329978" y="0"/>
                  <a:pt x="360244" y="30266"/>
                  <a:pt x="360244" y="67546"/>
                </a:cubicBezTo>
                <a:lnTo>
                  <a:pt x="360244" y="292698"/>
                </a:lnTo>
                <a:cubicBezTo>
                  <a:pt x="360244" y="329978"/>
                  <a:pt x="329978" y="360244"/>
                  <a:pt x="292698" y="360244"/>
                </a:cubicBezTo>
                <a:lnTo>
                  <a:pt x="67546" y="360244"/>
                </a:lnTo>
                <a:cubicBezTo>
                  <a:pt x="30266" y="360244"/>
                  <a:pt x="0" y="329978"/>
                  <a:pt x="0" y="292698"/>
                </a:cubicBezTo>
                <a:lnTo>
                  <a:pt x="0" y="67546"/>
                </a:lnTo>
                <a:cubicBezTo>
                  <a:pt x="0" y="30241"/>
                  <a:pt x="30241" y="0"/>
                  <a:pt x="67546" y="0"/>
                </a:cubicBezTo>
                <a:close/>
              </a:path>
            </a:pathLst>
          </a:custGeom>
          <a:solidFill>
            <a:srgbClr val="3C8082"/>
          </a:solidFill>
          <a:ln/>
        </p:spPr>
        <p:txBody>
          <a:bodyPr/>
          <a:lstStyle/>
          <a:p>
            <a:endParaRPr lang="zh-CN" altLang="en-US"/>
          </a:p>
        </p:txBody>
      </p:sp>
      <p:sp>
        <p:nvSpPr>
          <p:cNvPr id="3" name="Text 1"/>
          <p:cNvSpPr/>
          <p:nvPr/>
        </p:nvSpPr>
        <p:spPr>
          <a:xfrm>
            <a:off x="405274" y="495335"/>
            <a:ext cx="450305" cy="360244"/>
          </a:xfrm>
          <a:prstGeom prst="rect">
            <a:avLst/>
          </a:prstGeom>
          <a:noFill/>
          <a:ln/>
        </p:spPr>
        <p:txBody>
          <a:bodyPr wrap="square" lIns="0" tIns="0" rIns="0" bIns="0" rtlCol="0" anchor="ctr"/>
          <a:lstStyle/>
          <a:p>
            <a:pPr algn="ctr">
              <a:lnSpc>
                <a:spcPct val="130000"/>
              </a:lnSpc>
            </a:pPr>
            <a:r>
              <a:rPr lang="en-US" sz="1418" b="1" dirty="0">
                <a:solidFill>
                  <a:srgbClr val="FFFFFF"/>
                </a:solidFill>
                <a:latin typeface="Liter" pitchFamily="34" charset="0"/>
                <a:ea typeface="Liter" pitchFamily="34" charset="-122"/>
                <a:cs typeface="Liter" pitchFamily="34" charset="-120"/>
              </a:rPr>
              <a:t>11</a:t>
            </a:r>
            <a:endParaRPr lang="en-US" sz="1600" dirty="0"/>
          </a:p>
        </p:txBody>
      </p:sp>
      <p:sp>
        <p:nvSpPr>
          <p:cNvPr id="4" name="Text 2"/>
          <p:cNvSpPr/>
          <p:nvPr/>
        </p:nvSpPr>
        <p:spPr>
          <a:xfrm>
            <a:off x="945640" y="450305"/>
            <a:ext cx="6090371" cy="450305"/>
          </a:xfrm>
          <a:prstGeom prst="rect">
            <a:avLst/>
          </a:prstGeom>
          <a:noFill/>
          <a:ln/>
        </p:spPr>
        <p:txBody>
          <a:bodyPr wrap="square" lIns="0" tIns="0" rIns="0" bIns="0" rtlCol="0" anchor="ctr"/>
          <a:lstStyle/>
          <a:p>
            <a:pPr>
              <a:lnSpc>
                <a:spcPct val="90000"/>
              </a:lnSpc>
            </a:pPr>
            <a:r>
              <a:rPr lang="en-US" sz="3191" b="1" dirty="0">
                <a:solidFill>
                  <a:srgbClr val="E0E2E4"/>
                </a:solidFill>
                <a:latin typeface="MiSans" pitchFamily="34" charset="0"/>
                <a:ea typeface="MiSans" pitchFamily="34" charset="-122"/>
                <a:cs typeface="MiSans" pitchFamily="34" charset="-120"/>
              </a:rPr>
              <a:t>三种ContainerExecutor实现对比</a:t>
            </a:r>
            <a:endParaRPr lang="en-US" sz="1600" dirty="0"/>
          </a:p>
        </p:txBody>
      </p:sp>
      <p:sp>
        <p:nvSpPr>
          <p:cNvPr id="5" name="Text 3"/>
          <p:cNvSpPr/>
          <p:nvPr/>
        </p:nvSpPr>
        <p:spPr>
          <a:xfrm>
            <a:off x="450305" y="990670"/>
            <a:ext cx="15456709" cy="315213"/>
          </a:xfrm>
          <a:prstGeom prst="rect">
            <a:avLst/>
          </a:prstGeom>
          <a:noFill/>
          <a:ln/>
        </p:spPr>
        <p:txBody>
          <a:bodyPr wrap="square" lIns="0" tIns="0" rIns="0" bIns="0" rtlCol="0" anchor="ctr"/>
          <a:lstStyle/>
          <a:p>
            <a:pPr>
              <a:lnSpc>
                <a:spcPct val="130000"/>
              </a:lnSpc>
            </a:pPr>
            <a:r>
              <a:rPr lang="en-US" sz="1596" b="1" dirty="0">
                <a:solidFill>
                  <a:srgbClr val="B38B59"/>
                </a:solidFill>
                <a:latin typeface="MiSans" pitchFamily="34" charset="0"/>
                <a:ea typeface="MiSans" pitchFamily="34" charset="-122"/>
                <a:cs typeface="MiSans" pitchFamily="34" charset="-120"/>
              </a:rPr>
              <a:t>Default vs Linux vs Docker:隔离强度与适用场景的全面对比</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114962784"/>
              </p:ext>
            </p:extLst>
          </p:nvPr>
        </p:nvGraphicFramePr>
        <p:xfrm>
          <a:off x="450305" y="1486006"/>
          <a:ext cx="15355391" cy="5836119"/>
        </p:xfrm>
        <a:graphic>
          <a:graphicData uri="http://schemas.openxmlformats.org/drawingml/2006/table">
            <a:tbl>
              <a:tblPr/>
              <a:tblGrid>
                <a:gridCol w="1497263">
                  <a:extLst>
                    <a:ext uri="{9D8B030D-6E8A-4147-A177-3AD203B41FA5}">
                      <a16:colId xmlns:a16="http://schemas.microsoft.com/office/drawing/2014/main" val="20000"/>
                    </a:ext>
                  </a:extLst>
                </a:gridCol>
                <a:gridCol w="4716942">
                  <a:extLst>
                    <a:ext uri="{9D8B030D-6E8A-4147-A177-3AD203B41FA5}">
                      <a16:colId xmlns:a16="http://schemas.microsoft.com/office/drawing/2014/main" val="20001"/>
                    </a:ext>
                  </a:extLst>
                </a:gridCol>
                <a:gridCol w="4807003">
                  <a:extLst>
                    <a:ext uri="{9D8B030D-6E8A-4147-A177-3AD203B41FA5}">
                      <a16:colId xmlns:a16="http://schemas.microsoft.com/office/drawing/2014/main" val="20002"/>
                    </a:ext>
                  </a:extLst>
                </a:gridCol>
                <a:gridCol w="4334183">
                  <a:extLst>
                    <a:ext uri="{9D8B030D-6E8A-4147-A177-3AD203B41FA5}">
                      <a16:colId xmlns:a16="http://schemas.microsoft.com/office/drawing/2014/main" val="20003"/>
                    </a:ext>
                  </a:extLst>
                </a:gridCol>
              </a:tblGrid>
              <a:tr h="514244">
                <a:tc>
                  <a:txBody>
                    <a:bodyPr/>
                    <a:lstStyle/>
                    <a:p>
                      <a:pPr algn="l"/>
                      <a:r>
                        <a:rPr lang="en-US" sz="1200" b="1" u="none" dirty="0">
                          <a:solidFill>
                            <a:srgbClr val="B38B59"/>
                          </a:solidFill>
                          <a:latin typeface="微软雅黑" pitchFamily="34" charset="0"/>
                          <a:ea typeface="微软雅黑" pitchFamily="34" charset="-122"/>
                          <a:cs typeface="微软雅黑" pitchFamily="34" charset="-120"/>
                        </a:rPr>
                        <a:t>对比维度</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3C8082"/>
                      </a:solidFill>
                      <a:prstDash val="solid"/>
                      <a:round/>
                      <a:headEnd type="none" w="med" len="med"/>
                      <a:tailEnd type="none" w="med" len="med"/>
                    </a:lnB>
                    <a:solidFill>
                      <a:srgbClr val="3C8082">
                        <a:alpha val="20000"/>
                      </a:srgbClr>
                    </a:solidFill>
                  </a:tcPr>
                </a:tc>
                <a:tc>
                  <a:txBody>
                    <a:bodyPr/>
                    <a:lstStyle/>
                    <a:p>
                      <a:pPr algn="l"/>
                      <a:r>
                        <a:rPr lang="en-US" sz="1200" b="1" u="none" dirty="0">
                          <a:solidFill>
                            <a:srgbClr val="E0E2E4"/>
                          </a:solidFill>
                          <a:latin typeface="微软雅黑" pitchFamily="34" charset="0"/>
                          <a:ea typeface="微软雅黑" pitchFamily="34" charset="-122"/>
                          <a:cs typeface="微软雅黑" pitchFamily="34" charset="-120"/>
                        </a:rPr>
                        <a:t>DefaultContainerExecutor</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3C8082"/>
                      </a:solidFill>
                      <a:prstDash val="solid"/>
                      <a:round/>
                      <a:headEnd type="none" w="med" len="med"/>
                      <a:tailEnd type="none" w="med" len="med"/>
                    </a:lnB>
                    <a:solidFill>
                      <a:srgbClr val="3C8082">
                        <a:alpha val="20000"/>
                      </a:srgbClr>
                    </a:solidFill>
                  </a:tcPr>
                </a:tc>
                <a:tc>
                  <a:txBody>
                    <a:bodyPr/>
                    <a:lstStyle/>
                    <a:p>
                      <a:pPr algn="l"/>
                      <a:r>
                        <a:rPr lang="en-US" sz="1200" b="1" u="none" dirty="0">
                          <a:solidFill>
                            <a:srgbClr val="E0E2E4"/>
                          </a:solidFill>
                          <a:latin typeface="微软雅黑" pitchFamily="34" charset="0"/>
                          <a:ea typeface="微软雅黑" pitchFamily="34" charset="-122"/>
                          <a:cs typeface="微软雅黑" pitchFamily="34" charset="-120"/>
                        </a:rPr>
                        <a:t>LinuxContainerExecutor</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3C8082"/>
                      </a:solidFill>
                      <a:prstDash val="solid"/>
                      <a:round/>
                      <a:headEnd type="none" w="med" len="med"/>
                      <a:tailEnd type="none" w="med" len="med"/>
                    </a:lnB>
                    <a:solidFill>
                      <a:srgbClr val="3C8082">
                        <a:alpha val="20000"/>
                      </a:srgbClr>
                    </a:solidFill>
                  </a:tcPr>
                </a:tc>
                <a:tc>
                  <a:txBody>
                    <a:bodyPr/>
                    <a:lstStyle/>
                    <a:p>
                      <a:pPr algn="l"/>
                      <a:r>
                        <a:rPr lang="en-US" sz="1200" b="1" u="none" dirty="0">
                          <a:solidFill>
                            <a:srgbClr val="E0E2E4"/>
                          </a:solidFill>
                          <a:latin typeface="微软雅黑" pitchFamily="34" charset="0"/>
                          <a:ea typeface="微软雅黑" pitchFamily="34" charset="-122"/>
                          <a:cs typeface="微软雅黑" pitchFamily="34" charset="-120"/>
                        </a:rPr>
                        <a:t>LinuxContainerExecutor(Docker)</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3C8082"/>
                      </a:solidFill>
                      <a:prstDash val="solid"/>
                      <a:round/>
                      <a:headEnd type="none" w="med" len="med"/>
                      <a:tailEnd type="none" w="med" len="med"/>
                    </a:lnB>
                    <a:solidFill>
                      <a:srgbClr val="3C8082">
                        <a:alpha val="20000"/>
                      </a:srgbClr>
                    </a:solidFill>
                  </a:tcPr>
                </a:tc>
                <a:extLst>
                  <a:ext uri="{0D108BD9-81ED-4DB2-BD59-A6C34878D82A}">
                    <a16:rowId xmlns:a16="http://schemas.microsoft.com/office/drawing/2014/main" val="10000"/>
                  </a:ext>
                </a:extLst>
              </a:tr>
              <a:tr h="826631">
                <a:tc>
                  <a:txBody>
                    <a:bodyPr/>
                    <a:lstStyle/>
                    <a:p>
                      <a:r>
                        <a:rPr lang="en-US" sz="1200" b="1" u="none" dirty="0">
                          <a:solidFill>
                            <a:srgbClr val="B38B59"/>
                          </a:solidFill>
                          <a:latin typeface="微软雅黑" pitchFamily="34" charset="0"/>
                          <a:ea typeface="微软雅黑" pitchFamily="34" charset="-122"/>
                          <a:cs typeface="微软雅黑" pitchFamily="34" charset="-120"/>
                        </a:rPr>
                        <a:t>隔离级别</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3C808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200" u="none" dirty="0" err="1">
                          <a:solidFill>
                            <a:srgbClr val="E0E2E4"/>
                          </a:solidFill>
                          <a:latin typeface="微软雅黑" pitchFamily="34" charset="0"/>
                          <a:ea typeface="微软雅黑" pitchFamily="34" charset="-122"/>
                          <a:cs typeface="微软雅黑" pitchFamily="34" charset="-120"/>
                        </a:rPr>
                        <a:t>进程级</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依赖JVM进程隔离和操作系统基本权限管理</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3C808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200" u="none" dirty="0" err="1">
                          <a:solidFill>
                            <a:srgbClr val="E0E2E4"/>
                          </a:solidFill>
                          <a:latin typeface="微软雅黑" pitchFamily="34" charset="0"/>
                          <a:ea typeface="微软雅黑" pitchFamily="34" charset="-122"/>
                          <a:cs typeface="微软雅黑" pitchFamily="34" charset="-120"/>
                        </a:rPr>
                        <a:t>系统级</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利用CGroups和Namespace实现内核级隔离</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3C808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200" u="none" dirty="0" err="1">
                          <a:solidFill>
                            <a:srgbClr val="E0E2E4"/>
                          </a:solidFill>
                          <a:latin typeface="微软雅黑" pitchFamily="34" charset="0"/>
                          <a:ea typeface="微软雅黑" pitchFamily="34" charset="-122"/>
                          <a:cs typeface="微软雅黑" pitchFamily="34" charset="-120"/>
                        </a:rPr>
                        <a:t>容器级</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通过Docker引擎实现完整的容器化隔离</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3C808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extLst>
                  <a:ext uri="{0D108BD9-81ED-4DB2-BD59-A6C34878D82A}">
                    <a16:rowId xmlns:a16="http://schemas.microsoft.com/office/drawing/2014/main" val="10001"/>
                  </a:ext>
                </a:extLst>
              </a:tr>
              <a:tr h="826631">
                <a:tc>
                  <a:txBody>
                    <a:bodyPr/>
                    <a:lstStyle/>
                    <a:p>
                      <a:r>
                        <a:rPr lang="en-US" sz="1200" b="1" u="none" dirty="0">
                          <a:solidFill>
                            <a:srgbClr val="B38B59"/>
                          </a:solidFill>
                          <a:latin typeface="微软雅黑" pitchFamily="34" charset="0"/>
                          <a:ea typeface="微软雅黑" pitchFamily="34" charset="-122"/>
                          <a:cs typeface="微软雅黑" pitchFamily="34" charset="-120"/>
                        </a:rPr>
                        <a:t>资源控制</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JVM参数控制</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-Xmx/-Xms 堆内存设置</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线程数限制</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垃圾回收策略</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CGroups精确控制</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CPU时间片分配</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内存使用限制</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I/O带宽控制</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设备访问权限</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Docker资源限制</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容器级CPU限制</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容器级内存限制</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容器存储驱动</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镜像环境隔离</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826631">
                <a:tc>
                  <a:txBody>
                    <a:bodyPr/>
                    <a:lstStyle/>
                    <a:p>
                      <a:r>
                        <a:rPr lang="en-US" sz="1200" b="1" u="none" dirty="0">
                          <a:solidFill>
                            <a:srgbClr val="B38B59"/>
                          </a:solidFill>
                          <a:latin typeface="微软雅黑" pitchFamily="34" charset="0"/>
                          <a:ea typeface="微软雅黑" pitchFamily="34" charset="-122"/>
                          <a:cs typeface="微软雅黑" pitchFamily="34" charset="-120"/>
                        </a:rPr>
                        <a:t>安全性</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较弱</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依赖操作系统和JVM基础安全机制</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强</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多层安全机制,用户隔离,权限控制</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最强</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完整容器安全边界,镜像签名,Seccomp</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extLst>
                  <a:ext uri="{0D108BD9-81ED-4DB2-BD59-A6C34878D82A}">
                    <a16:rowId xmlns:a16="http://schemas.microsoft.com/office/drawing/2014/main" val="10003"/>
                  </a:ext>
                </a:extLst>
              </a:tr>
              <a:tr h="826631">
                <a:tc>
                  <a:txBody>
                    <a:bodyPr/>
                    <a:lstStyle/>
                    <a:p>
                      <a:r>
                        <a:rPr lang="en-US" sz="1200" b="1" u="none" dirty="0">
                          <a:solidFill>
                            <a:srgbClr val="B38B59"/>
                          </a:solidFill>
                          <a:latin typeface="微软雅黑" pitchFamily="34" charset="0"/>
                          <a:ea typeface="微软雅黑" pitchFamily="34" charset="-122"/>
                          <a:cs typeface="微软雅黑" pitchFamily="34" charset="-120"/>
                        </a:rPr>
                        <a:t>启动速度</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快</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JVM进程启动,开销小</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中等</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需要创建CGroups和Namespace</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较慢</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需要拉取镜像,创建容器</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826631">
                <a:tc>
                  <a:txBody>
                    <a:bodyPr/>
                    <a:lstStyle/>
                    <a:p>
                      <a:r>
                        <a:rPr lang="en-US" sz="1200" b="1" u="none" dirty="0">
                          <a:solidFill>
                            <a:srgbClr val="B38B59"/>
                          </a:solidFill>
                          <a:latin typeface="微软雅黑" pitchFamily="34" charset="0"/>
                          <a:ea typeface="微软雅黑" pitchFamily="34" charset="-122"/>
                          <a:cs typeface="微软雅黑" pitchFamily="34" charset="-120"/>
                        </a:rPr>
                        <a:t>兼容性</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强</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跨平台兼容,部署简单</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中等</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依赖Linux内核特性</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良好</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与Docker生态集成</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extLst>
                  <a:ext uri="{0D108BD9-81ED-4DB2-BD59-A6C34878D82A}">
                    <a16:rowId xmlns:a16="http://schemas.microsoft.com/office/drawing/2014/main" val="10005"/>
                  </a:ext>
                </a:extLst>
              </a:tr>
              <a:tr h="826631">
                <a:tc>
                  <a:txBody>
                    <a:bodyPr/>
                    <a:lstStyle/>
                    <a:p>
                      <a:r>
                        <a:rPr lang="en-US" sz="1200" b="1" u="none" dirty="0">
                          <a:solidFill>
                            <a:srgbClr val="B38B59"/>
                          </a:solidFill>
                          <a:latin typeface="微软雅黑" pitchFamily="34" charset="0"/>
                          <a:ea typeface="微软雅黑" pitchFamily="34" charset="-122"/>
                          <a:cs typeface="微软雅黑" pitchFamily="34" charset="-120"/>
                        </a:rPr>
                        <a:t>适用场景</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 开发测试环境</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单用户集群</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教学和学习环境</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小规模生产环境</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 生产环境部署</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多租户集群</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金融行业应用</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云服务平台</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4"/>
                          </a:solidFill>
                          <a:latin typeface="微软雅黑" pitchFamily="34" charset="0"/>
                          <a:ea typeface="微软雅黑" pitchFamily="34" charset="-122"/>
                          <a:cs typeface="微软雅黑" pitchFamily="34" charset="-120"/>
                        </a:rPr>
                        <a:t>• 云原生应用</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微服务架构</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DevOps场景</a:t>
                      </a:r>
                      <a:endParaRPr lang="en-US" sz="1200" dirty="0">
                        <a:latin typeface="微软雅黑" charset="0"/>
                        <a:ea typeface="微软雅黑" charset="0"/>
                        <a:cs typeface="微软雅黑" charset="0"/>
                      </a:endParaRPr>
                    </a:p>
                    <a:p>
                      <a:r>
                        <a:rPr lang="en-US" sz="1200" u="none" dirty="0">
                          <a:solidFill>
                            <a:srgbClr val="E0E2E4"/>
                          </a:solidFill>
                          <a:latin typeface="微软雅黑" pitchFamily="34" charset="0"/>
                          <a:ea typeface="微软雅黑" pitchFamily="34" charset="-122"/>
                          <a:cs typeface="微软雅黑" pitchFamily="34" charset="-120"/>
                        </a:rPr>
                        <a:t>• 混合云部署</a:t>
                      </a:r>
                      <a:endParaRPr lang="en-US" sz="12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6"/>
                  </a:ext>
                </a:extLst>
              </a:tr>
            </a:tbl>
          </a:graphicData>
        </a:graphic>
      </p:graphicFrame>
      <p:sp>
        <p:nvSpPr>
          <p:cNvPr id="7" name="Shape 4"/>
          <p:cNvSpPr/>
          <p:nvPr/>
        </p:nvSpPr>
        <p:spPr>
          <a:xfrm>
            <a:off x="455934" y="7447171"/>
            <a:ext cx="4987125" cy="1677385"/>
          </a:xfrm>
          <a:custGeom>
            <a:avLst/>
            <a:gdLst/>
            <a:ahLst/>
            <a:cxnLst/>
            <a:rect l="l" t="t" r="r" b="b"/>
            <a:pathLst>
              <a:path w="4987125" h="1677385">
                <a:moveTo>
                  <a:pt x="90059" y="0"/>
                </a:moveTo>
                <a:lnTo>
                  <a:pt x="4897066" y="0"/>
                </a:lnTo>
                <a:cubicBezTo>
                  <a:pt x="4946804" y="0"/>
                  <a:pt x="4987125" y="40321"/>
                  <a:pt x="4987125" y="90059"/>
                </a:cubicBezTo>
                <a:lnTo>
                  <a:pt x="4987125" y="1587326"/>
                </a:lnTo>
                <a:cubicBezTo>
                  <a:pt x="4987125" y="1637064"/>
                  <a:pt x="4946804" y="1677385"/>
                  <a:pt x="4897066" y="1677385"/>
                </a:cubicBezTo>
                <a:lnTo>
                  <a:pt x="90059" y="1677385"/>
                </a:lnTo>
                <a:cubicBezTo>
                  <a:pt x="40354" y="1677385"/>
                  <a:pt x="0" y="1637031"/>
                  <a:pt x="0" y="1587326"/>
                </a:cubicBezTo>
                <a:lnTo>
                  <a:pt x="0" y="90059"/>
                </a:lnTo>
                <a:cubicBezTo>
                  <a:pt x="0" y="40354"/>
                  <a:pt x="40354" y="0"/>
                  <a:pt x="9005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8" name="Text 5"/>
          <p:cNvSpPr/>
          <p:nvPr/>
        </p:nvSpPr>
        <p:spPr>
          <a:xfrm>
            <a:off x="596654" y="7587891"/>
            <a:ext cx="4807003" cy="315213"/>
          </a:xfrm>
          <a:prstGeom prst="rect">
            <a:avLst/>
          </a:prstGeom>
          <a:noFill/>
          <a:ln/>
        </p:spPr>
        <p:txBody>
          <a:bodyPr wrap="square" lIns="0" tIns="0" rIns="0" bIns="0" rtlCol="0" anchor="ctr"/>
          <a:lstStyle/>
          <a:p>
            <a:pPr>
              <a:lnSpc>
                <a:spcPct val="130000"/>
              </a:lnSpc>
            </a:pPr>
            <a:r>
              <a:rPr lang="en-US" sz="1596" b="1" dirty="0">
                <a:solidFill>
                  <a:srgbClr val="E0E2E4"/>
                </a:solidFill>
                <a:latin typeface="MiSans" pitchFamily="34" charset="0"/>
                <a:ea typeface="MiSans" pitchFamily="34" charset="-122"/>
                <a:cs typeface="MiSans" pitchFamily="34" charset="-120"/>
              </a:rPr>
              <a:t>技术演进路径</a:t>
            </a:r>
            <a:endParaRPr lang="en-US" sz="1600" dirty="0"/>
          </a:p>
        </p:txBody>
      </p:sp>
      <p:sp>
        <p:nvSpPr>
          <p:cNvPr id="9" name="Shape 6"/>
          <p:cNvSpPr/>
          <p:nvPr/>
        </p:nvSpPr>
        <p:spPr>
          <a:xfrm>
            <a:off x="639661" y="7993165"/>
            <a:ext cx="540366" cy="540366"/>
          </a:xfrm>
          <a:custGeom>
            <a:avLst/>
            <a:gdLst/>
            <a:ahLst/>
            <a:cxnLst/>
            <a:rect l="l" t="t" r="r" b="b"/>
            <a:pathLst>
              <a:path w="540366" h="540366">
                <a:moveTo>
                  <a:pt x="270183" y="0"/>
                </a:moveTo>
                <a:lnTo>
                  <a:pt x="270183" y="0"/>
                </a:lnTo>
                <a:cubicBezTo>
                  <a:pt x="419401" y="0"/>
                  <a:pt x="540366" y="120965"/>
                  <a:pt x="540366" y="270183"/>
                </a:cubicBezTo>
                <a:lnTo>
                  <a:pt x="540366" y="270183"/>
                </a:lnTo>
                <a:cubicBezTo>
                  <a:pt x="540366" y="419401"/>
                  <a:pt x="419401" y="540366"/>
                  <a:pt x="270183" y="540366"/>
                </a:cubicBezTo>
                <a:lnTo>
                  <a:pt x="270183" y="540366"/>
                </a:lnTo>
                <a:cubicBezTo>
                  <a:pt x="120965" y="540366"/>
                  <a:pt x="0" y="419401"/>
                  <a:pt x="0" y="270183"/>
                </a:cubicBezTo>
                <a:lnTo>
                  <a:pt x="0" y="270183"/>
                </a:lnTo>
                <a:cubicBezTo>
                  <a:pt x="0" y="120965"/>
                  <a:pt x="120965" y="0"/>
                  <a:pt x="270183" y="0"/>
                </a:cubicBezTo>
                <a:close/>
              </a:path>
            </a:pathLst>
          </a:custGeom>
          <a:solidFill>
            <a:srgbClr val="6D7275">
              <a:alpha val="30196"/>
            </a:srgbClr>
          </a:solidFill>
          <a:ln/>
        </p:spPr>
        <p:txBody>
          <a:bodyPr/>
          <a:lstStyle/>
          <a:p>
            <a:endParaRPr lang="zh-CN" altLang="en-US"/>
          </a:p>
        </p:txBody>
      </p:sp>
      <p:sp>
        <p:nvSpPr>
          <p:cNvPr id="10" name="Text 7"/>
          <p:cNvSpPr/>
          <p:nvPr/>
        </p:nvSpPr>
        <p:spPr>
          <a:xfrm>
            <a:off x="839396" y="8150772"/>
            <a:ext cx="146349" cy="225152"/>
          </a:xfrm>
          <a:prstGeom prst="rect">
            <a:avLst/>
          </a:prstGeom>
          <a:noFill/>
          <a:ln/>
        </p:spPr>
        <p:txBody>
          <a:bodyPr wrap="square" lIns="0" tIns="0" rIns="0" bIns="0" rtlCol="0" anchor="ctr"/>
          <a:lstStyle/>
          <a:p>
            <a:pPr algn="ctr">
              <a:lnSpc>
                <a:spcPct val="120000"/>
              </a:lnSpc>
            </a:pPr>
            <a:r>
              <a:rPr lang="en-US" sz="1241" b="1" dirty="0">
                <a:solidFill>
                  <a:srgbClr val="E0E2E4"/>
                </a:solidFill>
                <a:latin typeface="MiSans" pitchFamily="34" charset="0"/>
                <a:ea typeface="MiSans" pitchFamily="34" charset="-122"/>
                <a:cs typeface="MiSans" pitchFamily="34" charset="-120"/>
              </a:rPr>
              <a:t>1</a:t>
            </a:r>
            <a:endParaRPr lang="en-US" sz="1600" dirty="0"/>
          </a:p>
        </p:txBody>
      </p:sp>
      <p:sp>
        <p:nvSpPr>
          <p:cNvPr id="11" name="Text 8"/>
          <p:cNvSpPr/>
          <p:nvPr/>
        </p:nvSpPr>
        <p:spPr>
          <a:xfrm>
            <a:off x="557252" y="8578561"/>
            <a:ext cx="709230" cy="225152"/>
          </a:xfrm>
          <a:prstGeom prst="rect">
            <a:avLst/>
          </a:prstGeom>
          <a:noFill/>
          <a:ln/>
        </p:spPr>
        <p:txBody>
          <a:bodyPr wrap="square" lIns="0" tIns="0" rIns="0" bIns="0" rtlCol="0" anchor="ctr"/>
          <a:lstStyle/>
          <a:p>
            <a:pPr algn="ctr">
              <a:lnSpc>
                <a:spcPct val="120000"/>
              </a:lnSpc>
            </a:pPr>
            <a:r>
              <a:rPr lang="en-US" sz="1241" dirty="0">
                <a:solidFill>
                  <a:srgbClr val="E0E2E4"/>
                </a:solidFill>
                <a:latin typeface="MiSans" pitchFamily="34" charset="0"/>
                <a:ea typeface="MiSans" pitchFamily="34" charset="-122"/>
                <a:cs typeface="MiSans" pitchFamily="34" charset="-120"/>
              </a:rPr>
              <a:t>进程级</a:t>
            </a:r>
            <a:endParaRPr lang="en-US" sz="1600" dirty="0"/>
          </a:p>
        </p:txBody>
      </p:sp>
      <p:sp>
        <p:nvSpPr>
          <p:cNvPr id="12" name="Text 9"/>
          <p:cNvSpPr/>
          <p:nvPr/>
        </p:nvSpPr>
        <p:spPr>
          <a:xfrm>
            <a:off x="562881" y="8803714"/>
            <a:ext cx="697972" cy="180122"/>
          </a:xfrm>
          <a:prstGeom prst="rect">
            <a:avLst/>
          </a:prstGeom>
          <a:noFill/>
          <a:ln/>
        </p:spPr>
        <p:txBody>
          <a:bodyPr wrap="square" lIns="0" tIns="0" rIns="0" bIns="0" rtlCol="0" anchor="ctr"/>
          <a:lstStyle/>
          <a:p>
            <a:pPr algn="ctr">
              <a:lnSpc>
                <a:spcPct val="110000"/>
              </a:lnSpc>
            </a:pPr>
            <a:r>
              <a:rPr lang="en-US" sz="1064" dirty="0">
                <a:solidFill>
                  <a:srgbClr val="E0E2E4">
                    <a:alpha val="70000"/>
                  </a:srgbClr>
                </a:solidFill>
                <a:latin typeface="MiSans" pitchFamily="34" charset="0"/>
                <a:ea typeface="MiSans" pitchFamily="34" charset="-122"/>
                <a:cs typeface="MiSans" pitchFamily="34" charset="-120"/>
              </a:rPr>
              <a:t>DefaultCE</a:t>
            </a:r>
            <a:endParaRPr lang="en-US" sz="1600" dirty="0"/>
          </a:p>
        </p:txBody>
      </p:sp>
      <p:sp>
        <p:nvSpPr>
          <p:cNvPr id="13" name="Shape 10"/>
          <p:cNvSpPr/>
          <p:nvPr/>
        </p:nvSpPr>
        <p:spPr>
          <a:xfrm>
            <a:off x="1840620" y="8375924"/>
            <a:ext cx="225152" cy="225152"/>
          </a:xfrm>
          <a:custGeom>
            <a:avLst/>
            <a:gdLst/>
            <a:ahLst/>
            <a:cxnLst/>
            <a:rect l="l" t="t" r="r" b="b"/>
            <a:pathLst>
              <a:path w="225152" h="225152">
                <a:moveTo>
                  <a:pt x="221019" y="122515"/>
                </a:moveTo>
                <a:cubicBezTo>
                  <a:pt x="226516" y="117018"/>
                  <a:pt x="226516" y="108091"/>
                  <a:pt x="221019" y="102594"/>
                </a:cubicBezTo>
                <a:lnTo>
                  <a:pt x="150659" y="32234"/>
                </a:lnTo>
                <a:cubicBezTo>
                  <a:pt x="145162" y="26737"/>
                  <a:pt x="136235" y="26737"/>
                  <a:pt x="130738" y="32234"/>
                </a:cubicBezTo>
                <a:cubicBezTo>
                  <a:pt x="125241" y="37731"/>
                  <a:pt x="125241" y="46658"/>
                  <a:pt x="130738" y="52154"/>
                </a:cubicBezTo>
                <a:lnTo>
                  <a:pt x="177088" y="98504"/>
                </a:lnTo>
                <a:lnTo>
                  <a:pt x="14072" y="98504"/>
                </a:lnTo>
                <a:cubicBezTo>
                  <a:pt x="6288" y="98504"/>
                  <a:pt x="0" y="104793"/>
                  <a:pt x="0" y="112576"/>
                </a:cubicBezTo>
                <a:cubicBezTo>
                  <a:pt x="0" y="120360"/>
                  <a:pt x="6288" y="126648"/>
                  <a:pt x="14072" y="126648"/>
                </a:cubicBezTo>
                <a:lnTo>
                  <a:pt x="177088" y="126648"/>
                </a:lnTo>
                <a:lnTo>
                  <a:pt x="130738" y="172998"/>
                </a:lnTo>
                <a:cubicBezTo>
                  <a:pt x="125241" y="178495"/>
                  <a:pt x="125241" y="187422"/>
                  <a:pt x="130738" y="192919"/>
                </a:cubicBezTo>
                <a:cubicBezTo>
                  <a:pt x="136235" y="198416"/>
                  <a:pt x="145162" y="198416"/>
                  <a:pt x="150659" y="192919"/>
                </a:cubicBezTo>
                <a:lnTo>
                  <a:pt x="221019" y="122559"/>
                </a:lnTo>
                <a:close/>
              </a:path>
            </a:pathLst>
          </a:custGeom>
          <a:solidFill>
            <a:srgbClr val="3C8082"/>
          </a:solidFill>
          <a:ln/>
        </p:spPr>
        <p:txBody>
          <a:bodyPr/>
          <a:lstStyle/>
          <a:p>
            <a:endParaRPr lang="zh-CN" altLang="en-US"/>
          </a:p>
        </p:txBody>
      </p:sp>
      <p:sp>
        <p:nvSpPr>
          <p:cNvPr id="14" name="Shape 11"/>
          <p:cNvSpPr/>
          <p:nvPr/>
        </p:nvSpPr>
        <p:spPr>
          <a:xfrm>
            <a:off x="2683271" y="7993165"/>
            <a:ext cx="540366" cy="540366"/>
          </a:xfrm>
          <a:custGeom>
            <a:avLst/>
            <a:gdLst/>
            <a:ahLst/>
            <a:cxnLst/>
            <a:rect l="l" t="t" r="r" b="b"/>
            <a:pathLst>
              <a:path w="540366" h="540366">
                <a:moveTo>
                  <a:pt x="270183" y="0"/>
                </a:moveTo>
                <a:lnTo>
                  <a:pt x="270183" y="0"/>
                </a:lnTo>
                <a:cubicBezTo>
                  <a:pt x="419401" y="0"/>
                  <a:pt x="540366" y="120965"/>
                  <a:pt x="540366" y="270183"/>
                </a:cubicBezTo>
                <a:lnTo>
                  <a:pt x="540366" y="270183"/>
                </a:lnTo>
                <a:cubicBezTo>
                  <a:pt x="540366" y="419401"/>
                  <a:pt x="419401" y="540366"/>
                  <a:pt x="270183" y="540366"/>
                </a:cubicBezTo>
                <a:lnTo>
                  <a:pt x="270183" y="540366"/>
                </a:lnTo>
                <a:cubicBezTo>
                  <a:pt x="120965" y="540366"/>
                  <a:pt x="0" y="419401"/>
                  <a:pt x="0" y="270183"/>
                </a:cubicBezTo>
                <a:lnTo>
                  <a:pt x="0" y="270183"/>
                </a:lnTo>
                <a:cubicBezTo>
                  <a:pt x="0" y="120965"/>
                  <a:pt x="120965" y="0"/>
                  <a:pt x="270183" y="0"/>
                </a:cubicBezTo>
                <a:close/>
              </a:path>
            </a:pathLst>
          </a:custGeom>
          <a:solidFill>
            <a:srgbClr val="3C8082">
              <a:alpha val="30196"/>
            </a:srgbClr>
          </a:solidFill>
          <a:ln/>
        </p:spPr>
        <p:txBody>
          <a:bodyPr/>
          <a:lstStyle/>
          <a:p>
            <a:endParaRPr lang="zh-CN" altLang="en-US"/>
          </a:p>
        </p:txBody>
      </p:sp>
      <p:sp>
        <p:nvSpPr>
          <p:cNvPr id="15" name="Text 12"/>
          <p:cNvSpPr/>
          <p:nvPr/>
        </p:nvSpPr>
        <p:spPr>
          <a:xfrm>
            <a:off x="2869725" y="8150772"/>
            <a:ext cx="168864" cy="225152"/>
          </a:xfrm>
          <a:prstGeom prst="rect">
            <a:avLst/>
          </a:prstGeom>
          <a:noFill/>
          <a:ln/>
        </p:spPr>
        <p:txBody>
          <a:bodyPr wrap="square" lIns="0" tIns="0" rIns="0" bIns="0" rtlCol="0" anchor="ctr"/>
          <a:lstStyle/>
          <a:p>
            <a:pPr algn="ctr">
              <a:lnSpc>
                <a:spcPct val="120000"/>
              </a:lnSpc>
            </a:pPr>
            <a:r>
              <a:rPr lang="en-US" sz="1241" b="1" dirty="0">
                <a:solidFill>
                  <a:srgbClr val="E0E2E4"/>
                </a:solidFill>
                <a:latin typeface="MiSans" pitchFamily="34" charset="0"/>
                <a:ea typeface="MiSans" pitchFamily="34" charset="-122"/>
                <a:cs typeface="MiSans" pitchFamily="34" charset="-120"/>
              </a:rPr>
              <a:t>2</a:t>
            </a:r>
            <a:endParaRPr lang="en-US" sz="1600" dirty="0"/>
          </a:p>
        </p:txBody>
      </p:sp>
      <p:sp>
        <p:nvSpPr>
          <p:cNvPr id="16" name="Text 13"/>
          <p:cNvSpPr/>
          <p:nvPr/>
        </p:nvSpPr>
        <p:spPr>
          <a:xfrm>
            <a:off x="2643869" y="8578561"/>
            <a:ext cx="619169" cy="225152"/>
          </a:xfrm>
          <a:prstGeom prst="rect">
            <a:avLst/>
          </a:prstGeom>
          <a:noFill/>
          <a:ln/>
        </p:spPr>
        <p:txBody>
          <a:bodyPr wrap="square" lIns="0" tIns="0" rIns="0" bIns="0" rtlCol="0" anchor="ctr"/>
          <a:lstStyle/>
          <a:p>
            <a:pPr algn="ctr">
              <a:lnSpc>
                <a:spcPct val="120000"/>
              </a:lnSpc>
            </a:pPr>
            <a:r>
              <a:rPr lang="en-US" sz="1241" dirty="0">
                <a:solidFill>
                  <a:srgbClr val="E0E2E4"/>
                </a:solidFill>
                <a:latin typeface="MiSans" pitchFamily="34" charset="0"/>
                <a:ea typeface="MiSans" pitchFamily="34" charset="-122"/>
                <a:cs typeface="MiSans" pitchFamily="34" charset="-120"/>
              </a:rPr>
              <a:t>内核级</a:t>
            </a:r>
            <a:endParaRPr lang="en-US" sz="1600" dirty="0"/>
          </a:p>
        </p:txBody>
      </p:sp>
      <p:sp>
        <p:nvSpPr>
          <p:cNvPr id="6" name="Text 14"/>
          <p:cNvSpPr/>
          <p:nvPr/>
        </p:nvSpPr>
        <p:spPr>
          <a:xfrm>
            <a:off x="2649498" y="8803714"/>
            <a:ext cx="607911" cy="180122"/>
          </a:xfrm>
          <a:prstGeom prst="rect">
            <a:avLst/>
          </a:prstGeom>
          <a:noFill/>
          <a:ln/>
        </p:spPr>
        <p:txBody>
          <a:bodyPr wrap="square" lIns="0" tIns="0" rIns="0" bIns="0" rtlCol="0" anchor="ctr"/>
          <a:lstStyle/>
          <a:p>
            <a:pPr algn="ctr">
              <a:lnSpc>
                <a:spcPct val="110000"/>
              </a:lnSpc>
            </a:pPr>
            <a:r>
              <a:rPr lang="en-US" sz="1064" dirty="0">
                <a:solidFill>
                  <a:srgbClr val="E0E2E4">
                    <a:alpha val="70000"/>
                  </a:srgbClr>
                </a:solidFill>
                <a:latin typeface="MiSans" pitchFamily="34" charset="0"/>
                <a:ea typeface="MiSans" pitchFamily="34" charset="-122"/>
                <a:cs typeface="MiSans" pitchFamily="34" charset="-120"/>
              </a:rPr>
              <a:t>LinuxCE</a:t>
            </a:r>
            <a:endParaRPr lang="en-US" sz="1600" dirty="0"/>
          </a:p>
        </p:txBody>
      </p:sp>
      <p:sp>
        <p:nvSpPr>
          <p:cNvPr id="18" name="Shape 15"/>
          <p:cNvSpPr/>
          <p:nvPr/>
        </p:nvSpPr>
        <p:spPr>
          <a:xfrm>
            <a:off x="3841134" y="8375924"/>
            <a:ext cx="225152" cy="225152"/>
          </a:xfrm>
          <a:custGeom>
            <a:avLst/>
            <a:gdLst/>
            <a:ahLst/>
            <a:cxnLst/>
            <a:rect l="l" t="t" r="r" b="b"/>
            <a:pathLst>
              <a:path w="225152" h="225152">
                <a:moveTo>
                  <a:pt x="221019" y="122515"/>
                </a:moveTo>
                <a:cubicBezTo>
                  <a:pt x="226516" y="117018"/>
                  <a:pt x="226516" y="108091"/>
                  <a:pt x="221019" y="102594"/>
                </a:cubicBezTo>
                <a:lnTo>
                  <a:pt x="150659" y="32234"/>
                </a:lnTo>
                <a:cubicBezTo>
                  <a:pt x="145162" y="26737"/>
                  <a:pt x="136235" y="26737"/>
                  <a:pt x="130738" y="32234"/>
                </a:cubicBezTo>
                <a:cubicBezTo>
                  <a:pt x="125241" y="37731"/>
                  <a:pt x="125241" y="46658"/>
                  <a:pt x="130738" y="52154"/>
                </a:cubicBezTo>
                <a:lnTo>
                  <a:pt x="177088" y="98504"/>
                </a:lnTo>
                <a:lnTo>
                  <a:pt x="14072" y="98504"/>
                </a:lnTo>
                <a:cubicBezTo>
                  <a:pt x="6288" y="98504"/>
                  <a:pt x="0" y="104793"/>
                  <a:pt x="0" y="112576"/>
                </a:cubicBezTo>
                <a:cubicBezTo>
                  <a:pt x="0" y="120360"/>
                  <a:pt x="6288" y="126648"/>
                  <a:pt x="14072" y="126648"/>
                </a:cubicBezTo>
                <a:lnTo>
                  <a:pt x="177088" y="126648"/>
                </a:lnTo>
                <a:lnTo>
                  <a:pt x="130738" y="172998"/>
                </a:lnTo>
                <a:cubicBezTo>
                  <a:pt x="125241" y="178495"/>
                  <a:pt x="125241" y="187422"/>
                  <a:pt x="130738" y="192919"/>
                </a:cubicBezTo>
                <a:cubicBezTo>
                  <a:pt x="136235" y="198416"/>
                  <a:pt x="145162" y="198416"/>
                  <a:pt x="150659" y="192919"/>
                </a:cubicBezTo>
                <a:lnTo>
                  <a:pt x="221019" y="122559"/>
                </a:lnTo>
                <a:close/>
              </a:path>
            </a:pathLst>
          </a:custGeom>
          <a:solidFill>
            <a:srgbClr val="3C8082"/>
          </a:solidFill>
          <a:ln/>
        </p:spPr>
        <p:txBody>
          <a:bodyPr/>
          <a:lstStyle/>
          <a:p>
            <a:endParaRPr lang="zh-CN" altLang="en-US"/>
          </a:p>
        </p:txBody>
      </p:sp>
      <p:sp>
        <p:nvSpPr>
          <p:cNvPr id="19" name="Shape 16"/>
          <p:cNvSpPr/>
          <p:nvPr/>
        </p:nvSpPr>
        <p:spPr>
          <a:xfrm>
            <a:off x="4721867" y="7993165"/>
            <a:ext cx="540366" cy="540366"/>
          </a:xfrm>
          <a:custGeom>
            <a:avLst/>
            <a:gdLst/>
            <a:ahLst/>
            <a:cxnLst/>
            <a:rect l="l" t="t" r="r" b="b"/>
            <a:pathLst>
              <a:path w="540366" h="540366">
                <a:moveTo>
                  <a:pt x="270183" y="0"/>
                </a:moveTo>
                <a:lnTo>
                  <a:pt x="270183" y="0"/>
                </a:lnTo>
                <a:cubicBezTo>
                  <a:pt x="419401" y="0"/>
                  <a:pt x="540366" y="120965"/>
                  <a:pt x="540366" y="270183"/>
                </a:cubicBezTo>
                <a:lnTo>
                  <a:pt x="540366" y="270183"/>
                </a:lnTo>
                <a:cubicBezTo>
                  <a:pt x="540366" y="419401"/>
                  <a:pt x="419401" y="540366"/>
                  <a:pt x="270183" y="540366"/>
                </a:cubicBezTo>
                <a:lnTo>
                  <a:pt x="270183" y="540366"/>
                </a:lnTo>
                <a:cubicBezTo>
                  <a:pt x="120965" y="540366"/>
                  <a:pt x="0" y="419401"/>
                  <a:pt x="0" y="270183"/>
                </a:cubicBezTo>
                <a:lnTo>
                  <a:pt x="0" y="270183"/>
                </a:lnTo>
                <a:cubicBezTo>
                  <a:pt x="0" y="120965"/>
                  <a:pt x="120965" y="0"/>
                  <a:pt x="270183" y="0"/>
                </a:cubicBezTo>
                <a:close/>
              </a:path>
            </a:pathLst>
          </a:custGeom>
          <a:solidFill>
            <a:srgbClr val="B38B59">
              <a:alpha val="30196"/>
            </a:srgbClr>
          </a:solidFill>
          <a:ln/>
        </p:spPr>
        <p:txBody>
          <a:bodyPr/>
          <a:lstStyle/>
          <a:p>
            <a:endParaRPr lang="zh-CN" altLang="en-US"/>
          </a:p>
        </p:txBody>
      </p:sp>
      <p:sp>
        <p:nvSpPr>
          <p:cNvPr id="20" name="Text 17"/>
          <p:cNvSpPr/>
          <p:nvPr/>
        </p:nvSpPr>
        <p:spPr>
          <a:xfrm>
            <a:off x="4906298" y="8150772"/>
            <a:ext cx="168864" cy="225152"/>
          </a:xfrm>
          <a:prstGeom prst="rect">
            <a:avLst/>
          </a:prstGeom>
          <a:noFill/>
          <a:ln/>
        </p:spPr>
        <p:txBody>
          <a:bodyPr wrap="square" lIns="0" tIns="0" rIns="0" bIns="0" rtlCol="0" anchor="ctr"/>
          <a:lstStyle/>
          <a:p>
            <a:pPr algn="ctr">
              <a:lnSpc>
                <a:spcPct val="120000"/>
              </a:lnSpc>
            </a:pPr>
            <a:r>
              <a:rPr lang="en-US" sz="1241" b="1" dirty="0">
                <a:solidFill>
                  <a:srgbClr val="E0E2E4"/>
                </a:solidFill>
                <a:latin typeface="MiSans" pitchFamily="34" charset="0"/>
                <a:ea typeface="MiSans" pitchFamily="34" charset="-122"/>
                <a:cs typeface="MiSans" pitchFamily="34" charset="-120"/>
              </a:rPr>
              <a:t>3</a:t>
            </a:r>
            <a:endParaRPr lang="en-US" sz="1600" dirty="0"/>
          </a:p>
        </p:txBody>
      </p:sp>
      <p:sp>
        <p:nvSpPr>
          <p:cNvPr id="21" name="Text 18"/>
          <p:cNvSpPr/>
          <p:nvPr/>
        </p:nvSpPr>
        <p:spPr>
          <a:xfrm>
            <a:off x="4644383" y="8578561"/>
            <a:ext cx="697972" cy="225152"/>
          </a:xfrm>
          <a:prstGeom prst="rect">
            <a:avLst/>
          </a:prstGeom>
          <a:noFill/>
          <a:ln/>
        </p:spPr>
        <p:txBody>
          <a:bodyPr wrap="square" lIns="0" tIns="0" rIns="0" bIns="0" rtlCol="0" anchor="ctr"/>
          <a:lstStyle/>
          <a:p>
            <a:pPr algn="ctr">
              <a:lnSpc>
                <a:spcPct val="120000"/>
              </a:lnSpc>
            </a:pPr>
            <a:r>
              <a:rPr lang="en-US" sz="1241" dirty="0">
                <a:solidFill>
                  <a:srgbClr val="E0E2E4"/>
                </a:solidFill>
                <a:latin typeface="MiSans" pitchFamily="34" charset="0"/>
                <a:ea typeface="MiSans" pitchFamily="34" charset="-122"/>
                <a:cs typeface="MiSans" pitchFamily="34" charset="-120"/>
              </a:rPr>
              <a:t>容器级</a:t>
            </a:r>
            <a:endParaRPr lang="en-US" sz="1600" dirty="0"/>
          </a:p>
        </p:txBody>
      </p:sp>
      <p:sp>
        <p:nvSpPr>
          <p:cNvPr id="22" name="Text 19"/>
          <p:cNvSpPr/>
          <p:nvPr/>
        </p:nvSpPr>
        <p:spPr>
          <a:xfrm>
            <a:off x="4650012" y="8803714"/>
            <a:ext cx="686715" cy="180122"/>
          </a:xfrm>
          <a:prstGeom prst="rect">
            <a:avLst/>
          </a:prstGeom>
          <a:noFill/>
          <a:ln/>
        </p:spPr>
        <p:txBody>
          <a:bodyPr wrap="square" lIns="0" tIns="0" rIns="0" bIns="0" rtlCol="0" anchor="ctr"/>
          <a:lstStyle/>
          <a:p>
            <a:pPr algn="ctr">
              <a:lnSpc>
                <a:spcPct val="110000"/>
              </a:lnSpc>
            </a:pPr>
            <a:r>
              <a:rPr lang="en-US" sz="1064" dirty="0">
                <a:solidFill>
                  <a:srgbClr val="E0E2E4">
                    <a:alpha val="70000"/>
                  </a:srgbClr>
                </a:solidFill>
                <a:latin typeface="MiSans" pitchFamily="34" charset="0"/>
                <a:ea typeface="MiSans" pitchFamily="34" charset="-122"/>
                <a:cs typeface="MiSans" pitchFamily="34" charset="-120"/>
              </a:rPr>
              <a:t>DockerCE</a:t>
            </a:r>
            <a:endParaRPr lang="en-US" sz="1600" dirty="0"/>
          </a:p>
        </p:txBody>
      </p:sp>
      <p:sp>
        <p:nvSpPr>
          <p:cNvPr id="23" name="Shape 20"/>
          <p:cNvSpPr/>
          <p:nvPr/>
        </p:nvSpPr>
        <p:spPr>
          <a:xfrm>
            <a:off x="5632767" y="7447171"/>
            <a:ext cx="4987125" cy="1677385"/>
          </a:xfrm>
          <a:custGeom>
            <a:avLst/>
            <a:gdLst/>
            <a:ahLst/>
            <a:cxnLst/>
            <a:rect l="l" t="t" r="r" b="b"/>
            <a:pathLst>
              <a:path w="4987125" h="1677385">
                <a:moveTo>
                  <a:pt x="90059" y="0"/>
                </a:moveTo>
                <a:lnTo>
                  <a:pt x="4897066" y="0"/>
                </a:lnTo>
                <a:cubicBezTo>
                  <a:pt x="4946804" y="0"/>
                  <a:pt x="4987125" y="40321"/>
                  <a:pt x="4987125" y="90059"/>
                </a:cubicBezTo>
                <a:lnTo>
                  <a:pt x="4987125" y="1587326"/>
                </a:lnTo>
                <a:cubicBezTo>
                  <a:pt x="4987125" y="1637064"/>
                  <a:pt x="4946804" y="1677385"/>
                  <a:pt x="4897066" y="1677385"/>
                </a:cubicBezTo>
                <a:lnTo>
                  <a:pt x="90059" y="1677385"/>
                </a:lnTo>
                <a:cubicBezTo>
                  <a:pt x="40354" y="1677385"/>
                  <a:pt x="0" y="1637031"/>
                  <a:pt x="0" y="1587326"/>
                </a:cubicBezTo>
                <a:lnTo>
                  <a:pt x="0" y="90059"/>
                </a:lnTo>
                <a:cubicBezTo>
                  <a:pt x="0" y="40354"/>
                  <a:pt x="40354" y="0"/>
                  <a:pt x="90059"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4" name="Text 21"/>
          <p:cNvSpPr/>
          <p:nvPr/>
        </p:nvSpPr>
        <p:spPr>
          <a:xfrm>
            <a:off x="5773487" y="7587891"/>
            <a:ext cx="4807003" cy="315213"/>
          </a:xfrm>
          <a:prstGeom prst="rect">
            <a:avLst/>
          </a:prstGeom>
          <a:noFill/>
          <a:ln/>
        </p:spPr>
        <p:txBody>
          <a:bodyPr wrap="square" lIns="0" tIns="0" rIns="0" bIns="0" rtlCol="0" anchor="ctr"/>
          <a:lstStyle/>
          <a:p>
            <a:pPr>
              <a:lnSpc>
                <a:spcPct val="130000"/>
              </a:lnSpc>
            </a:pPr>
            <a:r>
              <a:rPr lang="en-US" sz="1596" b="1" dirty="0">
                <a:solidFill>
                  <a:srgbClr val="E0E2E4"/>
                </a:solidFill>
                <a:latin typeface="MiSans" pitchFamily="34" charset="0"/>
                <a:ea typeface="MiSans" pitchFamily="34" charset="-122"/>
                <a:cs typeface="MiSans" pitchFamily="34" charset="-120"/>
              </a:rPr>
              <a:t>选择建议</a:t>
            </a:r>
            <a:endParaRPr lang="en-US" sz="1600" dirty="0"/>
          </a:p>
        </p:txBody>
      </p:sp>
      <p:sp>
        <p:nvSpPr>
          <p:cNvPr id="25" name="Text 22"/>
          <p:cNvSpPr/>
          <p:nvPr/>
        </p:nvSpPr>
        <p:spPr>
          <a:xfrm>
            <a:off x="5773487" y="7993165"/>
            <a:ext cx="4784488" cy="225152"/>
          </a:xfrm>
          <a:prstGeom prst="rect">
            <a:avLst/>
          </a:prstGeom>
          <a:noFill/>
          <a:ln/>
        </p:spPr>
        <p:txBody>
          <a:bodyPr wrap="square" lIns="0" tIns="0" rIns="0" bIns="0" rtlCol="0" anchor="ctr"/>
          <a:lstStyle/>
          <a:p>
            <a:pPr>
              <a:lnSpc>
                <a:spcPct val="120000"/>
              </a:lnSpc>
            </a:pPr>
            <a:r>
              <a:rPr lang="en-US" sz="1241" b="1" dirty="0">
                <a:solidFill>
                  <a:srgbClr val="3C8082"/>
                </a:solidFill>
                <a:latin typeface="MiSans" pitchFamily="34" charset="0"/>
                <a:ea typeface="MiSans" pitchFamily="34" charset="-122"/>
                <a:cs typeface="MiSans" pitchFamily="34" charset="-120"/>
              </a:rPr>
              <a:t>开发测试:</a:t>
            </a:r>
            <a:r>
              <a:rPr lang="en-US" sz="1241" dirty="0">
                <a:solidFill>
                  <a:srgbClr val="E0E2E4">
                    <a:alpha val="80000"/>
                  </a:srgbClr>
                </a:solidFill>
                <a:latin typeface="MiSans" pitchFamily="34" charset="0"/>
                <a:ea typeface="MiSans" pitchFamily="34" charset="-122"/>
                <a:cs typeface="MiSans" pitchFamily="34" charset="-120"/>
              </a:rPr>
              <a:t> 使用DefaultCE,快速启动,配置简单</a:t>
            </a:r>
            <a:endParaRPr lang="en-US" sz="1600" dirty="0"/>
          </a:p>
        </p:txBody>
      </p:sp>
      <p:sp>
        <p:nvSpPr>
          <p:cNvPr id="26" name="Text 23"/>
          <p:cNvSpPr/>
          <p:nvPr/>
        </p:nvSpPr>
        <p:spPr>
          <a:xfrm>
            <a:off x="5773487" y="8263348"/>
            <a:ext cx="4784488" cy="225152"/>
          </a:xfrm>
          <a:prstGeom prst="rect">
            <a:avLst/>
          </a:prstGeom>
          <a:noFill/>
          <a:ln/>
        </p:spPr>
        <p:txBody>
          <a:bodyPr wrap="square" lIns="0" tIns="0" rIns="0" bIns="0" rtlCol="0" anchor="ctr"/>
          <a:lstStyle/>
          <a:p>
            <a:pPr>
              <a:lnSpc>
                <a:spcPct val="120000"/>
              </a:lnSpc>
            </a:pPr>
            <a:r>
              <a:rPr lang="en-US" sz="1241" b="1" dirty="0">
                <a:solidFill>
                  <a:srgbClr val="3C8082"/>
                </a:solidFill>
                <a:latin typeface="MiSans" pitchFamily="34" charset="0"/>
                <a:ea typeface="MiSans" pitchFamily="34" charset="-122"/>
                <a:cs typeface="MiSans" pitchFamily="34" charset="-120"/>
              </a:rPr>
              <a:t>生产环境:</a:t>
            </a:r>
            <a:r>
              <a:rPr lang="en-US" sz="1241" dirty="0">
                <a:solidFill>
                  <a:srgbClr val="E0E2E4">
                    <a:alpha val="80000"/>
                  </a:srgbClr>
                </a:solidFill>
                <a:latin typeface="MiSans" pitchFamily="34" charset="0"/>
                <a:ea typeface="MiSans" pitchFamily="34" charset="-122"/>
                <a:cs typeface="MiSans" pitchFamily="34" charset="-120"/>
              </a:rPr>
              <a:t> 使用LinuxCE,强隔离,高安全</a:t>
            </a:r>
            <a:endParaRPr lang="en-US" sz="1600" dirty="0"/>
          </a:p>
        </p:txBody>
      </p:sp>
      <p:sp>
        <p:nvSpPr>
          <p:cNvPr id="27" name="Text 24"/>
          <p:cNvSpPr/>
          <p:nvPr/>
        </p:nvSpPr>
        <p:spPr>
          <a:xfrm>
            <a:off x="5773487" y="8533531"/>
            <a:ext cx="4784488" cy="225152"/>
          </a:xfrm>
          <a:prstGeom prst="rect">
            <a:avLst/>
          </a:prstGeom>
          <a:noFill/>
          <a:ln/>
        </p:spPr>
        <p:txBody>
          <a:bodyPr wrap="square" lIns="0" tIns="0" rIns="0" bIns="0" rtlCol="0" anchor="ctr"/>
          <a:lstStyle/>
          <a:p>
            <a:pPr>
              <a:lnSpc>
                <a:spcPct val="120000"/>
              </a:lnSpc>
            </a:pPr>
            <a:r>
              <a:rPr lang="en-US" sz="1241" b="1" dirty="0">
                <a:solidFill>
                  <a:srgbClr val="3C8082"/>
                </a:solidFill>
                <a:latin typeface="MiSans" pitchFamily="34" charset="0"/>
                <a:ea typeface="MiSans" pitchFamily="34" charset="-122"/>
                <a:cs typeface="MiSans" pitchFamily="34" charset="-120"/>
              </a:rPr>
              <a:t>云原生:</a:t>
            </a:r>
            <a:r>
              <a:rPr lang="en-US" sz="1241" dirty="0">
                <a:solidFill>
                  <a:srgbClr val="E0E2E4">
                    <a:alpha val="80000"/>
                  </a:srgbClr>
                </a:solidFill>
                <a:latin typeface="MiSans" pitchFamily="34" charset="0"/>
                <a:ea typeface="MiSans" pitchFamily="34" charset="-122"/>
                <a:cs typeface="MiSans" pitchFamily="34" charset="-120"/>
              </a:rPr>
              <a:t> 使用DockerCE,生态集成,可移植性</a:t>
            </a:r>
            <a:endParaRPr lang="en-US" sz="1600" dirty="0"/>
          </a:p>
        </p:txBody>
      </p:sp>
      <p:sp>
        <p:nvSpPr>
          <p:cNvPr id="28" name="Shape 25"/>
          <p:cNvSpPr/>
          <p:nvPr/>
        </p:nvSpPr>
        <p:spPr>
          <a:xfrm>
            <a:off x="10809600" y="7447171"/>
            <a:ext cx="4987125" cy="1677385"/>
          </a:xfrm>
          <a:custGeom>
            <a:avLst/>
            <a:gdLst/>
            <a:ahLst/>
            <a:cxnLst/>
            <a:rect l="l" t="t" r="r" b="b"/>
            <a:pathLst>
              <a:path w="4987125" h="1677385">
                <a:moveTo>
                  <a:pt x="90059" y="0"/>
                </a:moveTo>
                <a:lnTo>
                  <a:pt x="4897066" y="0"/>
                </a:lnTo>
                <a:cubicBezTo>
                  <a:pt x="4946804" y="0"/>
                  <a:pt x="4987125" y="40321"/>
                  <a:pt x="4987125" y="90059"/>
                </a:cubicBezTo>
                <a:lnTo>
                  <a:pt x="4987125" y="1587326"/>
                </a:lnTo>
                <a:cubicBezTo>
                  <a:pt x="4987125" y="1637064"/>
                  <a:pt x="4946804" y="1677385"/>
                  <a:pt x="4897066" y="1677385"/>
                </a:cubicBezTo>
                <a:lnTo>
                  <a:pt x="90059" y="1677385"/>
                </a:lnTo>
                <a:cubicBezTo>
                  <a:pt x="40354" y="1677385"/>
                  <a:pt x="0" y="1637031"/>
                  <a:pt x="0" y="1587326"/>
                </a:cubicBezTo>
                <a:lnTo>
                  <a:pt x="0" y="90059"/>
                </a:lnTo>
                <a:cubicBezTo>
                  <a:pt x="0" y="40354"/>
                  <a:pt x="40354" y="0"/>
                  <a:pt x="9005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29" name="Text 26"/>
          <p:cNvSpPr/>
          <p:nvPr/>
        </p:nvSpPr>
        <p:spPr>
          <a:xfrm>
            <a:off x="10950320" y="7587891"/>
            <a:ext cx="4807003" cy="315213"/>
          </a:xfrm>
          <a:prstGeom prst="rect">
            <a:avLst/>
          </a:prstGeom>
          <a:noFill/>
          <a:ln/>
        </p:spPr>
        <p:txBody>
          <a:bodyPr wrap="square" lIns="0" tIns="0" rIns="0" bIns="0" rtlCol="0" anchor="ctr"/>
          <a:lstStyle/>
          <a:p>
            <a:pPr>
              <a:lnSpc>
                <a:spcPct val="130000"/>
              </a:lnSpc>
            </a:pPr>
            <a:r>
              <a:rPr lang="en-US" sz="1596" b="1" dirty="0">
                <a:solidFill>
                  <a:srgbClr val="E0E2E4"/>
                </a:solidFill>
                <a:latin typeface="MiSans" pitchFamily="34" charset="0"/>
                <a:ea typeface="MiSans" pitchFamily="34" charset="-122"/>
                <a:cs typeface="MiSans" pitchFamily="34" charset="-120"/>
              </a:rPr>
              <a:t>性能与隔离权衡</a:t>
            </a:r>
            <a:endParaRPr lang="en-US" sz="1600" dirty="0"/>
          </a:p>
        </p:txBody>
      </p:sp>
      <p:sp>
        <p:nvSpPr>
          <p:cNvPr id="30" name="Text 27"/>
          <p:cNvSpPr/>
          <p:nvPr/>
        </p:nvSpPr>
        <p:spPr>
          <a:xfrm>
            <a:off x="10950320" y="7993165"/>
            <a:ext cx="4784488" cy="225152"/>
          </a:xfrm>
          <a:prstGeom prst="rect">
            <a:avLst/>
          </a:prstGeom>
          <a:noFill/>
          <a:ln/>
        </p:spPr>
        <p:txBody>
          <a:bodyPr wrap="square" lIns="0" tIns="0" rIns="0" bIns="0" rtlCol="0" anchor="ctr"/>
          <a:lstStyle/>
          <a:p>
            <a:pPr>
              <a:lnSpc>
                <a:spcPct val="120000"/>
              </a:lnSpc>
            </a:pPr>
            <a:r>
              <a:rPr lang="en-US" sz="1241" dirty="0">
                <a:solidFill>
                  <a:srgbClr val="E0E2E4">
                    <a:alpha val="80000"/>
                  </a:srgbClr>
                </a:solidFill>
                <a:latin typeface="MiSans" pitchFamily="34" charset="0"/>
                <a:ea typeface="MiSans" pitchFamily="34" charset="-122"/>
                <a:cs typeface="MiSans" pitchFamily="34" charset="-120"/>
              </a:rPr>
              <a:t>隔离强度与性能开销成正比,企业应根据实际需求权衡:</a:t>
            </a:r>
            <a:endParaRPr lang="en-US" sz="1600" dirty="0"/>
          </a:p>
        </p:txBody>
      </p:sp>
      <p:sp>
        <p:nvSpPr>
          <p:cNvPr id="31" name="Text 28"/>
          <p:cNvSpPr/>
          <p:nvPr/>
        </p:nvSpPr>
        <p:spPr>
          <a:xfrm>
            <a:off x="10950320" y="8263348"/>
            <a:ext cx="607911" cy="180122"/>
          </a:xfrm>
          <a:prstGeom prst="rect">
            <a:avLst/>
          </a:prstGeom>
          <a:noFill/>
          <a:ln/>
        </p:spPr>
        <p:txBody>
          <a:bodyPr wrap="square" lIns="0" tIns="0" rIns="0" bIns="0" rtlCol="0" anchor="ctr"/>
          <a:lstStyle/>
          <a:p>
            <a:pPr>
              <a:lnSpc>
                <a:spcPct val="110000"/>
              </a:lnSpc>
            </a:pPr>
            <a:r>
              <a:rPr lang="en-US" sz="1064" dirty="0">
                <a:solidFill>
                  <a:srgbClr val="6D7275"/>
                </a:solidFill>
                <a:latin typeface="MiSans" pitchFamily="34" charset="0"/>
                <a:ea typeface="MiSans" pitchFamily="34" charset="-122"/>
                <a:cs typeface="MiSans" pitchFamily="34" charset="-120"/>
              </a:rPr>
              <a:t>性能优先</a:t>
            </a:r>
            <a:endParaRPr lang="en-US" sz="1600" dirty="0"/>
          </a:p>
        </p:txBody>
      </p:sp>
      <p:sp>
        <p:nvSpPr>
          <p:cNvPr id="32" name="Shape 29"/>
          <p:cNvSpPr/>
          <p:nvPr/>
        </p:nvSpPr>
        <p:spPr>
          <a:xfrm>
            <a:off x="11580747" y="8308379"/>
            <a:ext cx="3444831" cy="90061"/>
          </a:xfrm>
          <a:custGeom>
            <a:avLst/>
            <a:gdLst/>
            <a:ahLst/>
            <a:cxnLst/>
            <a:rect l="l" t="t" r="r" b="b"/>
            <a:pathLst>
              <a:path w="3444831" h="90061">
                <a:moveTo>
                  <a:pt x="45030" y="0"/>
                </a:moveTo>
                <a:lnTo>
                  <a:pt x="3399801" y="0"/>
                </a:lnTo>
                <a:cubicBezTo>
                  <a:pt x="3424670" y="0"/>
                  <a:pt x="3444831" y="20161"/>
                  <a:pt x="3444831" y="45030"/>
                </a:cubicBezTo>
                <a:lnTo>
                  <a:pt x="3444831" y="45030"/>
                </a:lnTo>
                <a:cubicBezTo>
                  <a:pt x="3444831" y="69900"/>
                  <a:pt x="3424670" y="90061"/>
                  <a:pt x="3399801" y="90061"/>
                </a:cubicBezTo>
                <a:lnTo>
                  <a:pt x="45030" y="90061"/>
                </a:lnTo>
                <a:cubicBezTo>
                  <a:pt x="20177" y="90061"/>
                  <a:pt x="0" y="69883"/>
                  <a:pt x="0" y="45030"/>
                </a:cubicBezTo>
                <a:lnTo>
                  <a:pt x="0" y="45030"/>
                </a:lnTo>
                <a:cubicBezTo>
                  <a:pt x="0" y="20177"/>
                  <a:pt x="20177" y="0"/>
                  <a:pt x="45030" y="0"/>
                </a:cubicBezTo>
                <a:close/>
              </a:path>
            </a:pathLst>
          </a:custGeom>
          <a:gradFill flip="none" rotWithShape="1">
            <a:gsLst>
              <a:gs pos="0">
                <a:srgbClr val="B38B59"/>
              </a:gs>
              <a:gs pos="50000">
                <a:srgbClr val="3C8082"/>
              </a:gs>
              <a:gs pos="100000">
                <a:srgbClr val="6D7275"/>
              </a:gs>
            </a:gsLst>
            <a:lin ang="0" scaled="1"/>
          </a:gradFill>
          <a:ln/>
        </p:spPr>
        <p:txBody>
          <a:bodyPr/>
          <a:lstStyle/>
          <a:p>
            <a:endParaRPr lang="zh-CN" altLang="en-US"/>
          </a:p>
        </p:txBody>
      </p:sp>
      <p:sp>
        <p:nvSpPr>
          <p:cNvPr id="33" name="Text 30"/>
          <p:cNvSpPr/>
          <p:nvPr/>
        </p:nvSpPr>
        <p:spPr>
          <a:xfrm>
            <a:off x="15113967" y="8263348"/>
            <a:ext cx="607911" cy="180122"/>
          </a:xfrm>
          <a:prstGeom prst="rect">
            <a:avLst/>
          </a:prstGeom>
          <a:noFill/>
          <a:ln/>
        </p:spPr>
        <p:txBody>
          <a:bodyPr wrap="square" lIns="0" tIns="0" rIns="0" bIns="0" rtlCol="0" anchor="ctr"/>
          <a:lstStyle/>
          <a:p>
            <a:pPr>
              <a:lnSpc>
                <a:spcPct val="110000"/>
              </a:lnSpc>
            </a:pPr>
            <a:r>
              <a:rPr lang="en-US" sz="1064" dirty="0">
                <a:solidFill>
                  <a:srgbClr val="B38B59"/>
                </a:solidFill>
                <a:latin typeface="MiSans" pitchFamily="34" charset="0"/>
                <a:ea typeface="MiSans" pitchFamily="34" charset="-122"/>
                <a:cs typeface="MiSans" pitchFamily="34" charset="-120"/>
              </a:rPr>
              <a:t>隔离优先</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43850" y="488235"/>
            <a:ext cx="355080" cy="355080"/>
          </a:xfrm>
          <a:custGeom>
            <a:avLst/>
            <a:gdLst/>
            <a:ahLst/>
            <a:cxnLst/>
            <a:rect l="l" t="t" r="r" b="b"/>
            <a:pathLst>
              <a:path w="355080" h="355080">
                <a:moveTo>
                  <a:pt x="66577" y="0"/>
                </a:moveTo>
                <a:lnTo>
                  <a:pt x="288502" y="0"/>
                </a:lnTo>
                <a:cubicBezTo>
                  <a:pt x="325272" y="0"/>
                  <a:pt x="355080" y="29808"/>
                  <a:pt x="355080" y="66577"/>
                </a:cubicBezTo>
                <a:lnTo>
                  <a:pt x="355080" y="288502"/>
                </a:lnTo>
                <a:cubicBezTo>
                  <a:pt x="355080" y="325272"/>
                  <a:pt x="325272" y="355080"/>
                  <a:pt x="288502" y="355080"/>
                </a:cubicBezTo>
                <a:lnTo>
                  <a:pt x="66577" y="355080"/>
                </a:lnTo>
                <a:cubicBezTo>
                  <a:pt x="29808" y="355080"/>
                  <a:pt x="0" y="325272"/>
                  <a:pt x="0" y="288502"/>
                </a:cubicBezTo>
                <a:lnTo>
                  <a:pt x="0" y="66577"/>
                </a:lnTo>
                <a:cubicBezTo>
                  <a:pt x="0" y="29808"/>
                  <a:pt x="29808" y="0"/>
                  <a:pt x="66577" y="0"/>
                </a:cubicBezTo>
                <a:close/>
              </a:path>
            </a:pathLst>
          </a:custGeom>
          <a:solidFill>
            <a:srgbClr val="3C8082"/>
          </a:solidFill>
          <a:ln/>
        </p:spPr>
        <p:txBody>
          <a:bodyPr/>
          <a:lstStyle/>
          <a:p>
            <a:endParaRPr lang="zh-CN" altLang="en-US"/>
          </a:p>
        </p:txBody>
      </p:sp>
      <p:sp>
        <p:nvSpPr>
          <p:cNvPr id="3" name="Text 1"/>
          <p:cNvSpPr/>
          <p:nvPr/>
        </p:nvSpPr>
        <p:spPr>
          <a:xfrm>
            <a:off x="399465" y="488235"/>
            <a:ext cx="443850" cy="355080"/>
          </a:xfrm>
          <a:prstGeom prst="rect">
            <a:avLst/>
          </a:prstGeom>
          <a:noFill/>
          <a:ln/>
        </p:spPr>
        <p:txBody>
          <a:bodyPr wrap="square" lIns="0" tIns="0" rIns="0" bIns="0" rtlCol="0" anchor="ctr"/>
          <a:lstStyle/>
          <a:p>
            <a:pPr algn="ctr">
              <a:lnSpc>
                <a:spcPct val="130000"/>
              </a:lnSpc>
            </a:pPr>
            <a:r>
              <a:rPr lang="en-US" sz="1398" b="1" dirty="0">
                <a:solidFill>
                  <a:srgbClr val="FFFFFF"/>
                </a:solidFill>
                <a:latin typeface="Liter" pitchFamily="34" charset="0"/>
                <a:ea typeface="Liter" pitchFamily="34" charset="-122"/>
                <a:cs typeface="Liter" pitchFamily="34" charset="-120"/>
              </a:rPr>
              <a:t>12</a:t>
            </a:r>
            <a:endParaRPr lang="en-US" sz="1600" dirty="0"/>
          </a:p>
        </p:txBody>
      </p:sp>
      <p:sp>
        <p:nvSpPr>
          <p:cNvPr id="4" name="Text 2"/>
          <p:cNvSpPr/>
          <p:nvPr/>
        </p:nvSpPr>
        <p:spPr>
          <a:xfrm>
            <a:off x="932085" y="443850"/>
            <a:ext cx="6169513" cy="443850"/>
          </a:xfrm>
          <a:prstGeom prst="rect">
            <a:avLst/>
          </a:prstGeom>
          <a:noFill/>
          <a:ln/>
        </p:spPr>
        <p:txBody>
          <a:bodyPr wrap="square" lIns="0" tIns="0" rIns="0" bIns="0" rtlCol="0" anchor="ctr"/>
          <a:lstStyle/>
          <a:p>
            <a:pPr>
              <a:lnSpc>
                <a:spcPct val="90000"/>
              </a:lnSpc>
            </a:pPr>
            <a:r>
              <a:rPr lang="en-US" sz="3145" b="1" dirty="0">
                <a:solidFill>
                  <a:srgbClr val="E0E2E4"/>
                </a:solidFill>
                <a:latin typeface="MiSans" pitchFamily="34" charset="0"/>
                <a:ea typeface="MiSans" pitchFamily="34" charset="-122"/>
                <a:cs typeface="MiSans" pitchFamily="34" charset="-120"/>
              </a:rPr>
              <a:t>LinuxContainerExecutor深度解析</a:t>
            </a:r>
            <a:endParaRPr lang="en-US" sz="1600" dirty="0"/>
          </a:p>
        </p:txBody>
      </p:sp>
      <p:sp>
        <p:nvSpPr>
          <p:cNvPr id="5" name="Text 3"/>
          <p:cNvSpPr/>
          <p:nvPr/>
        </p:nvSpPr>
        <p:spPr>
          <a:xfrm>
            <a:off x="443850" y="976470"/>
            <a:ext cx="15468167" cy="310695"/>
          </a:xfrm>
          <a:prstGeom prst="rect">
            <a:avLst/>
          </a:prstGeom>
          <a:noFill/>
          <a:ln/>
        </p:spPr>
        <p:txBody>
          <a:bodyPr wrap="square" lIns="0" tIns="0" rIns="0" bIns="0" rtlCol="0" anchor="ctr"/>
          <a:lstStyle/>
          <a:p>
            <a:pPr>
              <a:lnSpc>
                <a:spcPct val="130000"/>
              </a:lnSpc>
            </a:pPr>
            <a:r>
              <a:rPr lang="en-US" sz="1573" b="1" dirty="0">
                <a:solidFill>
                  <a:srgbClr val="B38B59"/>
                </a:solidFill>
                <a:latin typeface="MiSans" pitchFamily="34" charset="0"/>
                <a:ea typeface="MiSans" pitchFamily="34" charset="-122"/>
                <a:cs typeface="MiSans" pitchFamily="34" charset="-120"/>
              </a:rPr>
              <a:t>系统级隔离实现:CGroups、Namespace与用户权限管理的深度集成</a:t>
            </a:r>
            <a:endParaRPr lang="en-US" sz="1600" dirty="0"/>
          </a:p>
        </p:txBody>
      </p:sp>
      <p:sp>
        <p:nvSpPr>
          <p:cNvPr id="6" name="Shape 4"/>
          <p:cNvSpPr/>
          <p:nvPr/>
        </p:nvSpPr>
        <p:spPr>
          <a:xfrm>
            <a:off x="449398" y="1470253"/>
            <a:ext cx="7578736" cy="3717242"/>
          </a:xfrm>
          <a:custGeom>
            <a:avLst/>
            <a:gdLst/>
            <a:ahLst/>
            <a:cxnLst/>
            <a:rect l="l" t="t" r="r" b="b"/>
            <a:pathLst>
              <a:path w="7578736" h="3717242">
                <a:moveTo>
                  <a:pt x="88768" y="0"/>
                </a:moveTo>
                <a:lnTo>
                  <a:pt x="7489968" y="0"/>
                </a:lnTo>
                <a:cubicBezTo>
                  <a:pt x="7538993" y="0"/>
                  <a:pt x="7578736" y="39743"/>
                  <a:pt x="7578736" y="88768"/>
                </a:cubicBezTo>
                <a:lnTo>
                  <a:pt x="7578736" y="3628475"/>
                </a:lnTo>
                <a:cubicBezTo>
                  <a:pt x="7578736" y="3677500"/>
                  <a:pt x="7538993" y="3717242"/>
                  <a:pt x="7489968" y="3717242"/>
                </a:cubicBezTo>
                <a:lnTo>
                  <a:pt x="88768" y="3717242"/>
                </a:lnTo>
                <a:cubicBezTo>
                  <a:pt x="39743" y="3717242"/>
                  <a:pt x="0" y="3677500"/>
                  <a:pt x="0" y="3628475"/>
                </a:cubicBezTo>
                <a:lnTo>
                  <a:pt x="0" y="88768"/>
                </a:lnTo>
                <a:cubicBezTo>
                  <a:pt x="0" y="39775"/>
                  <a:pt x="39775" y="0"/>
                  <a:pt x="88768"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15842" y="1653341"/>
            <a:ext cx="221925" cy="221925"/>
          </a:xfrm>
          <a:custGeom>
            <a:avLst/>
            <a:gdLst/>
            <a:ahLst/>
            <a:cxnLst/>
            <a:rect l="l" t="t" r="r" b="b"/>
            <a:pathLst>
              <a:path w="221925" h="221925">
                <a:moveTo>
                  <a:pt x="76287" y="10403"/>
                </a:moveTo>
                <a:cubicBezTo>
                  <a:pt x="76287" y="4638"/>
                  <a:pt x="71649" y="0"/>
                  <a:pt x="65884" y="0"/>
                </a:cubicBezTo>
                <a:cubicBezTo>
                  <a:pt x="60119" y="0"/>
                  <a:pt x="55481" y="4638"/>
                  <a:pt x="55481" y="10403"/>
                </a:cubicBezTo>
                <a:lnTo>
                  <a:pt x="55481" y="27741"/>
                </a:lnTo>
                <a:cubicBezTo>
                  <a:pt x="40181" y="27741"/>
                  <a:pt x="27741" y="40181"/>
                  <a:pt x="27741" y="55481"/>
                </a:cubicBezTo>
                <a:lnTo>
                  <a:pt x="10403" y="55481"/>
                </a:lnTo>
                <a:cubicBezTo>
                  <a:pt x="4638" y="55481"/>
                  <a:pt x="0" y="60119"/>
                  <a:pt x="0" y="65884"/>
                </a:cubicBezTo>
                <a:cubicBezTo>
                  <a:pt x="0" y="71649"/>
                  <a:pt x="4638" y="76287"/>
                  <a:pt x="10403" y="76287"/>
                </a:cubicBezTo>
                <a:lnTo>
                  <a:pt x="27741" y="76287"/>
                </a:lnTo>
                <a:lnTo>
                  <a:pt x="27741" y="100560"/>
                </a:lnTo>
                <a:lnTo>
                  <a:pt x="10403" y="100560"/>
                </a:lnTo>
                <a:cubicBezTo>
                  <a:pt x="4638" y="100560"/>
                  <a:pt x="0" y="105198"/>
                  <a:pt x="0" y="110962"/>
                </a:cubicBezTo>
                <a:cubicBezTo>
                  <a:pt x="0" y="116727"/>
                  <a:pt x="4638" y="121365"/>
                  <a:pt x="10403" y="121365"/>
                </a:cubicBezTo>
                <a:lnTo>
                  <a:pt x="27741" y="121365"/>
                </a:lnTo>
                <a:lnTo>
                  <a:pt x="27741" y="145638"/>
                </a:lnTo>
                <a:lnTo>
                  <a:pt x="10403" y="145638"/>
                </a:lnTo>
                <a:cubicBezTo>
                  <a:pt x="4638" y="145638"/>
                  <a:pt x="0" y="150276"/>
                  <a:pt x="0" y="156041"/>
                </a:cubicBezTo>
                <a:cubicBezTo>
                  <a:pt x="0" y="161806"/>
                  <a:pt x="4638" y="166444"/>
                  <a:pt x="10403" y="166444"/>
                </a:cubicBezTo>
                <a:lnTo>
                  <a:pt x="27741" y="166444"/>
                </a:lnTo>
                <a:cubicBezTo>
                  <a:pt x="27741" y="181744"/>
                  <a:pt x="40181" y="194184"/>
                  <a:pt x="55481" y="194184"/>
                </a:cubicBezTo>
                <a:lnTo>
                  <a:pt x="55481" y="211522"/>
                </a:lnTo>
                <a:cubicBezTo>
                  <a:pt x="55481" y="217287"/>
                  <a:pt x="60119" y="221925"/>
                  <a:pt x="65884" y="221925"/>
                </a:cubicBezTo>
                <a:cubicBezTo>
                  <a:pt x="71649" y="221925"/>
                  <a:pt x="76287" y="217287"/>
                  <a:pt x="76287" y="211522"/>
                </a:cubicBezTo>
                <a:lnTo>
                  <a:pt x="76287" y="194184"/>
                </a:lnTo>
                <a:lnTo>
                  <a:pt x="100560" y="194184"/>
                </a:lnTo>
                <a:lnTo>
                  <a:pt x="100560" y="211522"/>
                </a:lnTo>
                <a:cubicBezTo>
                  <a:pt x="100560" y="217287"/>
                  <a:pt x="105198" y="221925"/>
                  <a:pt x="110962" y="221925"/>
                </a:cubicBezTo>
                <a:cubicBezTo>
                  <a:pt x="116727" y="221925"/>
                  <a:pt x="121365" y="217287"/>
                  <a:pt x="121365" y="211522"/>
                </a:cubicBezTo>
                <a:lnTo>
                  <a:pt x="121365" y="194184"/>
                </a:lnTo>
                <a:lnTo>
                  <a:pt x="145638" y="194184"/>
                </a:lnTo>
                <a:lnTo>
                  <a:pt x="145638" y="211522"/>
                </a:lnTo>
                <a:cubicBezTo>
                  <a:pt x="145638" y="217287"/>
                  <a:pt x="150276" y="221925"/>
                  <a:pt x="156041" y="221925"/>
                </a:cubicBezTo>
                <a:cubicBezTo>
                  <a:pt x="161806" y="221925"/>
                  <a:pt x="166444" y="217287"/>
                  <a:pt x="166444" y="211522"/>
                </a:cubicBezTo>
                <a:lnTo>
                  <a:pt x="166444" y="194184"/>
                </a:lnTo>
                <a:cubicBezTo>
                  <a:pt x="181744" y="194184"/>
                  <a:pt x="194184" y="181744"/>
                  <a:pt x="194184" y="166444"/>
                </a:cubicBezTo>
                <a:lnTo>
                  <a:pt x="211522" y="166444"/>
                </a:lnTo>
                <a:cubicBezTo>
                  <a:pt x="217287" y="166444"/>
                  <a:pt x="221925" y="161806"/>
                  <a:pt x="221925" y="156041"/>
                </a:cubicBezTo>
                <a:cubicBezTo>
                  <a:pt x="221925" y="150276"/>
                  <a:pt x="217287" y="145638"/>
                  <a:pt x="211522" y="145638"/>
                </a:cubicBezTo>
                <a:lnTo>
                  <a:pt x="194184" y="145638"/>
                </a:lnTo>
                <a:lnTo>
                  <a:pt x="194184" y="121365"/>
                </a:lnTo>
                <a:lnTo>
                  <a:pt x="211522" y="121365"/>
                </a:lnTo>
                <a:cubicBezTo>
                  <a:pt x="217287" y="121365"/>
                  <a:pt x="221925" y="116727"/>
                  <a:pt x="221925" y="110962"/>
                </a:cubicBezTo>
                <a:cubicBezTo>
                  <a:pt x="221925" y="105198"/>
                  <a:pt x="217287" y="100560"/>
                  <a:pt x="211522" y="100560"/>
                </a:cubicBezTo>
                <a:lnTo>
                  <a:pt x="194184" y="100560"/>
                </a:lnTo>
                <a:lnTo>
                  <a:pt x="194184" y="76287"/>
                </a:lnTo>
                <a:lnTo>
                  <a:pt x="211522" y="76287"/>
                </a:lnTo>
                <a:cubicBezTo>
                  <a:pt x="217287" y="76287"/>
                  <a:pt x="221925" y="71649"/>
                  <a:pt x="221925" y="65884"/>
                </a:cubicBezTo>
                <a:cubicBezTo>
                  <a:pt x="221925" y="60119"/>
                  <a:pt x="217287" y="55481"/>
                  <a:pt x="211522" y="55481"/>
                </a:cubicBezTo>
                <a:lnTo>
                  <a:pt x="194184" y="55481"/>
                </a:lnTo>
                <a:cubicBezTo>
                  <a:pt x="194184" y="40181"/>
                  <a:pt x="181744" y="27741"/>
                  <a:pt x="166444" y="27741"/>
                </a:cubicBezTo>
                <a:lnTo>
                  <a:pt x="166444" y="10403"/>
                </a:lnTo>
                <a:cubicBezTo>
                  <a:pt x="166444" y="4638"/>
                  <a:pt x="161806" y="0"/>
                  <a:pt x="156041" y="0"/>
                </a:cubicBezTo>
                <a:cubicBezTo>
                  <a:pt x="150276" y="0"/>
                  <a:pt x="145638" y="4638"/>
                  <a:pt x="145638" y="10403"/>
                </a:cubicBezTo>
                <a:lnTo>
                  <a:pt x="145638" y="27741"/>
                </a:lnTo>
                <a:lnTo>
                  <a:pt x="121365" y="27741"/>
                </a:lnTo>
                <a:lnTo>
                  <a:pt x="121365" y="10403"/>
                </a:lnTo>
                <a:cubicBezTo>
                  <a:pt x="121365" y="4638"/>
                  <a:pt x="116727" y="0"/>
                  <a:pt x="110962" y="0"/>
                </a:cubicBezTo>
                <a:cubicBezTo>
                  <a:pt x="105198" y="0"/>
                  <a:pt x="100560" y="4638"/>
                  <a:pt x="100560" y="10403"/>
                </a:cubicBezTo>
                <a:lnTo>
                  <a:pt x="100560" y="27741"/>
                </a:lnTo>
                <a:lnTo>
                  <a:pt x="76287" y="27741"/>
                </a:lnTo>
                <a:lnTo>
                  <a:pt x="76287" y="10403"/>
                </a:lnTo>
                <a:close/>
                <a:moveTo>
                  <a:pt x="69352" y="55481"/>
                </a:moveTo>
                <a:lnTo>
                  <a:pt x="152573" y="55481"/>
                </a:lnTo>
                <a:cubicBezTo>
                  <a:pt x="160245" y="55481"/>
                  <a:pt x="166444" y="61680"/>
                  <a:pt x="166444" y="69352"/>
                </a:cubicBezTo>
                <a:lnTo>
                  <a:pt x="166444" y="152573"/>
                </a:lnTo>
                <a:cubicBezTo>
                  <a:pt x="166444" y="160245"/>
                  <a:pt x="160245" y="166444"/>
                  <a:pt x="152573" y="166444"/>
                </a:cubicBezTo>
                <a:lnTo>
                  <a:pt x="69352" y="166444"/>
                </a:lnTo>
                <a:cubicBezTo>
                  <a:pt x="61680" y="166444"/>
                  <a:pt x="55481" y="160245"/>
                  <a:pt x="55481" y="152573"/>
                </a:cubicBezTo>
                <a:lnTo>
                  <a:pt x="55481" y="69352"/>
                </a:lnTo>
                <a:cubicBezTo>
                  <a:pt x="55481" y="61680"/>
                  <a:pt x="61680" y="55481"/>
                  <a:pt x="69352" y="55481"/>
                </a:cubicBezTo>
                <a:close/>
                <a:moveTo>
                  <a:pt x="76287" y="76287"/>
                </a:moveTo>
                <a:lnTo>
                  <a:pt x="76287" y="145638"/>
                </a:lnTo>
                <a:lnTo>
                  <a:pt x="145638" y="145638"/>
                </a:lnTo>
                <a:lnTo>
                  <a:pt x="145638" y="76287"/>
                </a:lnTo>
                <a:lnTo>
                  <a:pt x="76287" y="76287"/>
                </a:lnTo>
                <a:close/>
              </a:path>
            </a:pathLst>
          </a:custGeom>
          <a:solidFill>
            <a:srgbClr val="B38B59"/>
          </a:solidFill>
          <a:ln/>
        </p:spPr>
        <p:txBody>
          <a:bodyPr/>
          <a:lstStyle/>
          <a:p>
            <a:endParaRPr lang="zh-CN" altLang="en-US"/>
          </a:p>
        </p:txBody>
      </p:sp>
      <p:sp>
        <p:nvSpPr>
          <p:cNvPr id="8" name="Text 6"/>
          <p:cNvSpPr/>
          <p:nvPr/>
        </p:nvSpPr>
        <p:spPr>
          <a:xfrm>
            <a:off x="865507" y="1608956"/>
            <a:ext cx="7134886" cy="310695"/>
          </a:xfrm>
          <a:prstGeom prst="rect">
            <a:avLst/>
          </a:prstGeom>
          <a:noFill/>
          <a:ln/>
        </p:spPr>
        <p:txBody>
          <a:bodyPr wrap="square" lIns="0" tIns="0" rIns="0" bIns="0" rtlCol="0" anchor="ctr"/>
          <a:lstStyle/>
          <a:p>
            <a:pPr>
              <a:lnSpc>
                <a:spcPct val="120000"/>
              </a:lnSpc>
            </a:pPr>
            <a:r>
              <a:rPr lang="en-US" sz="1747" b="1" dirty="0">
                <a:solidFill>
                  <a:srgbClr val="E0E2E4"/>
                </a:solidFill>
                <a:latin typeface="MiSans" pitchFamily="34" charset="0"/>
                <a:ea typeface="MiSans" pitchFamily="34" charset="-122"/>
                <a:cs typeface="MiSans" pitchFamily="34" charset="-120"/>
              </a:rPr>
              <a:t>基于CGroups的资源隔离</a:t>
            </a:r>
            <a:endParaRPr lang="en-US" sz="1600" dirty="0"/>
          </a:p>
        </p:txBody>
      </p:sp>
      <p:sp>
        <p:nvSpPr>
          <p:cNvPr id="9" name="Shape 7"/>
          <p:cNvSpPr/>
          <p:nvPr/>
        </p:nvSpPr>
        <p:spPr>
          <a:xfrm>
            <a:off x="588101" y="2008420"/>
            <a:ext cx="7301330" cy="687967"/>
          </a:xfrm>
          <a:custGeom>
            <a:avLst/>
            <a:gdLst/>
            <a:ahLst/>
            <a:cxnLst/>
            <a:rect l="l" t="t" r="r" b="b"/>
            <a:pathLst>
              <a:path w="7301330" h="687967">
                <a:moveTo>
                  <a:pt x="88768" y="0"/>
                </a:moveTo>
                <a:lnTo>
                  <a:pt x="7212561" y="0"/>
                </a:lnTo>
                <a:cubicBezTo>
                  <a:pt x="7261587" y="0"/>
                  <a:pt x="7301330" y="39743"/>
                  <a:pt x="7301330" y="88768"/>
                </a:cubicBezTo>
                <a:lnTo>
                  <a:pt x="7301330" y="599199"/>
                </a:lnTo>
                <a:cubicBezTo>
                  <a:pt x="7301330" y="648224"/>
                  <a:pt x="7261587" y="687967"/>
                  <a:pt x="7212561" y="687967"/>
                </a:cubicBezTo>
                <a:lnTo>
                  <a:pt x="88768" y="687967"/>
                </a:lnTo>
                <a:cubicBezTo>
                  <a:pt x="39743" y="687967"/>
                  <a:pt x="0" y="648224"/>
                  <a:pt x="0" y="599199"/>
                </a:cubicBezTo>
                <a:lnTo>
                  <a:pt x="0" y="88768"/>
                </a:lnTo>
                <a:cubicBezTo>
                  <a:pt x="0" y="39743"/>
                  <a:pt x="39743" y="0"/>
                  <a:pt x="88768" y="0"/>
                </a:cubicBezTo>
                <a:close/>
              </a:path>
            </a:pathLst>
          </a:custGeom>
          <a:solidFill>
            <a:srgbClr val="1A1D21">
              <a:alpha val="50196"/>
            </a:srgbClr>
          </a:solidFill>
          <a:ln/>
        </p:spPr>
        <p:txBody>
          <a:bodyPr/>
          <a:lstStyle/>
          <a:p>
            <a:endParaRPr lang="zh-CN" altLang="en-US"/>
          </a:p>
        </p:txBody>
      </p:sp>
      <p:sp>
        <p:nvSpPr>
          <p:cNvPr id="10" name="Text 8"/>
          <p:cNvSpPr/>
          <p:nvPr/>
        </p:nvSpPr>
        <p:spPr>
          <a:xfrm>
            <a:off x="676871" y="2097190"/>
            <a:ext cx="7201463" cy="510427"/>
          </a:xfrm>
          <a:prstGeom prst="rect">
            <a:avLst/>
          </a:prstGeom>
          <a:noFill/>
          <a:ln/>
        </p:spPr>
        <p:txBody>
          <a:bodyPr wrap="square" lIns="0" tIns="0" rIns="0" bIns="0" rtlCol="0" anchor="ctr"/>
          <a:lstStyle/>
          <a:p>
            <a:pPr>
              <a:lnSpc>
                <a:spcPct val="140000"/>
              </a:lnSpc>
            </a:pPr>
            <a:r>
              <a:rPr lang="en-US" sz="1223" dirty="0">
                <a:solidFill>
                  <a:srgbClr val="E0E2E4">
                    <a:alpha val="80000"/>
                  </a:srgbClr>
                </a:solidFill>
                <a:latin typeface="MiSans" pitchFamily="34" charset="0"/>
                <a:ea typeface="MiSans" pitchFamily="34" charset="-122"/>
                <a:cs typeface="MiSans" pitchFamily="34" charset="-120"/>
              </a:rPr>
              <a:t>LinuxContainerExecutor通过CGroups实现精确的系统资源控制和隔离,支持CPU、内存、I/O、网络等多维度资源限制。采用</a:t>
            </a:r>
            <a:r>
              <a:rPr lang="en-US" sz="1223" dirty="0">
                <a:solidFill>
                  <a:srgbClr val="B38B59"/>
                </a:solidFill>
                <a:highlight>
                  <a:srgbClr val="3C8082">
                    <a:alpha val="30000"/>
                  </a:srgbClr>
                </a:highlight>
                <a:latin typeface="MiSans" pitchFamily="34" charset="0"/>
                <a:ea typeface="MiSans" pitchFamily="34" charset="-122"/>
                <a:cs typeface="MiSans" pitchFamily="34" charset="-120"/>
              </a:rPr>
              <a:t> 分层资源管理 </a:t>
            </a:r>
            <a:r>
              <a:rPr lang="en-US" sz="1223" dirty="0">
                <a:solidFill>
                  <a:srgbClr val="E0E2E4">
                    <a:alpha val="80000"/>
                  </a:srgbClr>
                </a:solidFill>
                <a:latin typeface="MiSans" pitchFamily="34" charset="0"/>
                <a:ea typeface="MiSans" pitchFamily="34" charset="-122"/>
                <a:cs typeface="MiSans" pitchFamily="34" charset="-120"/>
              </a:rPr>
              <a:t>策略。</a:t>
            </a:r>
            <a:endParaRPr lang="en-US" sz="1600" dirty="0"/>
          </a:p>
        </p:txBody>
      </p:sp>
      <p:sp>
        <p:nvSpPr>
          <p:cNvPr id="11" name="Shape 9"/>
          <p:cNvSpPr/>
          <p:nvPr/>
        </p:nvSpPr>
        <p:spPr>
          <a:xfrm>
            <a:off x="588101" y="2779610"/>
            <a:ext cx="7301330" cy="710160"/>
          </a:xfrm>
          <a:custGeom>
            <a:avLst/>
            <a:gdLst/>
            <a:ahLst/>
            <a:cxnLst/>
            <a:rect l="l" t="t" r="r" b="b"/>
            <a:pathLst>
              <a:path w="7301330" h="710160">
                <a:moveTo>
                  <a:pt x="88770" y="0"/>
                </a:moveTo>
                <a:lnTo>
                  <a:pt x="7212560" y="0"/>
                </a:lnTo>
                <a:cubicBezTo>
                  <a:pt x="7261586" y="0"/>
                  <a:pt x="7301330" y="39744"/>
                  <a:pt x="7301330" y="88770"/>
                </a:cubicBezTo>
                <a:lnTo>
                  <a:pt x="7301330" y="621390"/>
                </a:lnTo>
                <a:cubicBezTo>
                  <a:pt x="7301330" y="670416"/>
                  <a:pt x="7261586" y="710160"/>
                  <a:pt x="7212560" y="710160"/>
                </a:cubicBezTo>
                <a:lnTo>
                  <a:pt x="88770" y="710160"/>
                </a:lnTo>
                <a:cubicBezTo>
                  <a:pt x="39744" y="710160"/>
                  <a:pt x="0" y="670416"/>
                  <a:pt x="0" y="621390"/>
                </a:cubicBezTo>
                <a:lnTo>
                  <a:pt x="0" y="88770"/>
                </a:lnTo>
                <a:cubicBezTo>
                  <a:pt x="0" y="39776"/>
                  <a:pt x="39776" y="0"/>
                  <a:pt x="88770" y="0"/>
                </a:cubicBezTo>
                <a:close/>
              </a:path>
            </a:pathLst>
          </a:custGeom>
          <a:solidFill>
            <a:srgbClr val="3C8082">
              <a:alpha val="20000"/>
            </a:srgbClr>
          </a:solidFill>
          <a:ln/>
        </p:spPr>
        <p:txBody>
          <a:bodyPr/>
          <a:lstStyle/>
          <a:p>
            <a:endParaRPr lang="zh-CN" altLang="en-US"/>
          </a:p>
        </p:txBody>
      </p:sp>
      <p:sp>
        <p:nvSpPr>
          <p:cNvPr id="12" name="Shape 10"/>
          <p:cNvSpPr/>
          <p:nvPr/>
        </p:nvSpPr>
        <p:spPr>
          <a:xfrm>
            <a:off x="699063" y="2912765"/>
            <a:ext cx="177540" cy="177540"/>
          </a:xfrm>
          <a:custGeom>
            <a:avLst/>
            <a:gdLst/>
            <a:ahLst/>
            <a:cxnLst/>
            <a:rect l="l" t="t" r="r" b="b"/>
            <a:pathLst>
              <a:path w="177540" h="177540">
                <a:moveTo>
                  <a:pt x="66577" y="22192"/>
                </a:moveTo>
                <a:cubicBezTo>
                  <a:pt x="66577" y="16055"/>
                  <a:pt x="71536" y="11096"/>
                  <a:pt x="77674" y="11096"/>
                </a:cubicBezTo>
                <a:lnTo>
                  <a:pt x="99866" y="11096"/>
                </a:lnTo>
                <a:cubicBezTo>
                  <a:pt x="106004" y="11096"/>
                  <a:pt x="110962" y="16055"/>
                  <a:pt x="110962" y="22192"/>
                </a:cubicBezTo>
                <a:lnTo>
                  <a:pt x="110962" y="44385"/>
                </a:lnTo>
                <a:cubicBezTo>
                  <a:pt x="110962" y="50523"/>
                  <a:pt x="106004" y="55481"/>
                  <a:pt x="99866" y="55481"/>
                </a:cubicBezTo>
                <a:lnTo>
                  <a:pt x="97092" y="55481"/>
                </a:lnTo>
                <a:lnTo>
                  <a:pt x="97092" y="77674"/>
                </a:lnTo>
                <a:lnTo>
                  <a:pt x="138703" y="77674"/>
                </a:lnTo>
                <a:cubicBezTo>
                  <a:pt x="152504" y="77674"/>
                  <a:pt x="163670" y="88839"/>
                  <a:pt x="163670" y="102640"/>
                </a:cubicBezTo>
                <a:lnTo>
                  <a:pt x="163670" y="122059"/>
                </a:lnTo>
                <a:lnTo>
                  <a:pt x="166444" y="122059"/>
                </a:lnTo>
                <a:cubicBezTo>
                  <a:pt x="172581" y="122059"/>
                  <a:pt x="177540" y="127017"/>
                  <a:pt x="177540" y="133155"/>
                </a:cubicBezTo>
                <a:lnTo>
                  <a:pt x="177540" y="155347"/>
                </a:lnTo>
                <a:cubicBezTo>
                  <a:pt x="177540" y="161485"/>
                  <a:pt x="172581" y="166444"/>
                  <a:pt x="166444" y="166444"/>
                </a:cubicBezTo>
                <a:lnTo>
                  <a:pt x="144251" y="166444"/>
                </a:lnTo>
                <a:cubicBezTo>
                  <a:pt x="138114" y="166444"/>
                  <a:pt x="133155" y="161485"/>
                  <a:pt x="133155" y="155347"/>
                </a:cubicBezTo>
                <a:lnTo>
                  <a:pt x="133155" y="133155"/>
                </a:lnTo>
                <a:cubicBezTo>
                  <a:pt x="133155" y="127017"/>
                  <a:pt x="138114" y="122059"/>
                  <a:pt x="144251" y="122059"/>
                </a:cubicBezTo>
                <a:lnTo>
                  <a:pt x="147025" y="122059"/>
                </a:lnTo>
                <a:lnTo>
                  <a:pt x="147025" y="102640"/>
                </a:lnTo>
                <a:cubicBezTo>
                  <a:pt x="147025" y="98028"/>
                  <a:pt x="143315" y="94318"/>
                  <a:pt x="138703" y="94318"/>
                </a:cubicBezTo>
                <a:lnTo>
                  <a:pt x="97092" y="94318"/>
                </a:lnTo>
                <a:lnTo>
                  <a:pt x="97092" y="122059"/>
                </a:lnTo>
                <a:lnTo>
                  <a:pt x="99866" y="122059"/>
                </a:lnTo>
                <a:cubicBezTo>
                  <a:pt x="106004" y="122059"/>
                  <a:pt x="110962" y="127017"/>
                  <a:pt x="110962" y="133155"/>
                </a:cubicBezTo>
                <a:lnTo>
                  <a:pt x="110962" y="155347"/>
                </a:lnTo>
                <a:cubicBezTo>
                  <a:pt x="110962" y="161485"/>
                  <a:pt x="106004" y="166444"/>
                  <a:pt x="99866" y="166444"/>
                </a:cubicBezTo>
                <a:lnTo>
                  <a:pt x="77674" y="166444"/>
                </a:lnTo>
                <a:cubicBezTo>
                  <a:pt x="71536" y="166444"/>
                  <a:pt x="66577" y="161485"/>
                  <a:pt x="66577" y="155347"/>
                </a:cubicBezTo>
                <a:lnTo>
                  <a:pt x="66577" y="133155"/>
                </a:lnTo>
                <a:cubicBezTo>
                  <a:pt x="66577" y="127017"/>
                  <a:pt x="71536" y="122059"/>
                  <a:pt x="77674" y="122059"/>
                </a:cubicBezTo>
                <a:lnTo>
                  <a:pt x="80448" y="122059"/>
                </a:lnTo>
                <a:lnTo>
                  <a:pt x="80448" y="94318"/>
                </a:lnTo>
                <a:lnTo>
                  <a:pt x="38837" y="94318"/>
                </a:lnTo>
                <a:cubicBezTo>
                  <a:pt x="34225" y="94318"/>
                  <a:pt x="30515" y="98028"/>
                  <a:pt x="30515" y="102640"/>
                </a:cubicBezTo>
                <a:lnTo>
                  <a:pt x="30515" y="122059"/>
                </a:lnTo>
                <a:lnTo>
                  <a:pt x="33289" y="122059"/>
                </a:lnTo>
                <a:cubicBezTo>
                  <a:pt x="39426" y="122059"/>
                  <a:pt x="44385" y="127017"/>
                  <a:pt x="44385" y="133155"/>
                </a:cubicBezTo>
                <a:lnTo>
                  <a:pt x="44385" y="155347"/>
                </a:lnTo>
                <a:cubicBezTo>
                  <a:pt x="44385" y="161485"/>
                  <a:pt x="39426" y="166444"/>
                  <a:pt x="33289" y="166444"/>
                </a:cubicBezTo>
                <a:lnTo>
                  <a:pt x="11096" y="166444"/>
                </a:lnTo>
                <a:cubicBezTo>
                  <a:pt x="4959" y="166444"/>
                  <a:pt x="0" y="161485"/>
                  <a:pt x="0" y="155347"/>
                </a:cubicBezTo>
                <a:lnTo>
                  <a:pt x="0" y="133155"/>
                </a:lnTo>
                <a:cubicBezTo>
                  <a:pt x="0" y="127017"/>
                  <a:pt x="4959" y="122059"/>
                  <a:pt x="11096" y="122059"/>
                </a:cubicBezTo>
                <a:lnTo>
                  <a:pt x="13870" y="122059"/>
                </a:lnTo>
                <a:lnTo>
                  <a:pt x="13870" y="102640"/>
                </a:lnTo>
                <a:cubicBezTo>
                  <a:pt x="13870" y="88839"/>
                  <a:pt x="25036" y="77674"/>
                  <a:pt x="38837" y="77674"/>
                </a:cubicBezTo>
                <a:lnTo>
                  <a:pt x="80448" y="77674"/>
                </a:lnTo>
                <a:lnTo>
                  <a:pt x="80448" y="55481"/>
                </a:lnTo>
                <a:lnTo>
                  <a:pt x="77674" y="55481"/>
                </a:lnTo>
                <a:cubicBezTo>
                  <a:pt x="71536" y="55481"/>
                  <a:pt x="66577" y="50523"/>
                  <a:pt x="66577" y="44385"/>
                </a:cubicBezTo>
                <a:lnTo>
                  <a:pt x="66577" y="22192"/>
                </a:lnTo>
                <a:close/>
              </a:path>
            </a:pathLst>
          </a:custGeom>
          <a:solidFill>
            <a:srgbClr val="B38B59"/>
          </a:solidFill>
          <a:ln/>
        </p:spPr>
        <p:txBody>
          <a:bodyPr/>
          <a:lstStyle/>
          <a:p>
            <a:endParaRPr lang="zh-CN" altLang="en-US"/>
          </a:p>
        </p:txBody>
      </p:sp>
      <p:sp>
        <p:nvSpPr>
          <p:cNvPr id="13" name="Text 11"/>
          <p:cNvSpPr/>
          <p:nvPr/>
        </p:nvSpPr>
        <p:spPr>
          <a:xfrm>
            <a:off x="898796" y="2868380"/>
            <a:ext cx="6990635" cy="266310"/>
          </a:xfrm>
          <a:prstGeom prst="rect">
            <a:avLst/>
          </a:prstGeom>
          <a:noFill/>
          <a:ln/>
        </p:spPr>
        <p:txBody>
          <a:bodyPr wrap="square" lIns="0" tIns="0" rIns="0" bIns="0" rtlCol="0" anchor="ctr"/>
          <a:lstStyle/>
          <a:p>
            <a:pPr>
              <a:lnSpc>
                <a:spcPct val="130000"/>
              </a:lnSpc>
            </a:pPr>
            <a:r>
              <a:rPr lang="en-US" sz="1398" b="1" dirty="0">
                <a:solidFill>
                  <a:srgbClr val="E0E2E4"/>
                </a:solidFill>
                <a:latin typeface="MiSans" pitchFamily="34" charset="0"/>
                <a:ea typeface="MiSans" pitchFamily="34" charset="-122"/>
                <a:cs typeface="MiSans" pitchFamily="34" charset="-120"/>
              </a:rPr>
              <a:t>YARN层面</a:t>
            </a:r>
            <a:endParaRPr lang="en-US" sz="1600" dirty="0"/>
          </a:p>
        </p:txBody>
      </p:sp>
      <p:sp>
        <p:nvSpPr>
          <p:cNvPr id="14" name="Text 12"/>
          <p:cNvSpPr/>
          <p:nvPr/>
        </p:nvSpPr>
        <p:spPr>
          <a:xfrm>
            <a:off x="676871" y="3179074"/>
            <a:ext cx="7201463" cy="221925"/>
          </a:xfrm>
          <a:prstGeom prst="rect">
            <a:avLst/>
          </a:prstGeom>
          <a:noFill/>
          <a:ln/>
        </p:spPr>
        <p:txBody>
          <a:bodyPr wrap="square" lIns="0" tIns="0" rIns="0" bIns="0" rtlCol="0" anchor="ctr"/>
          <a:lstStyle/>
          <a:p>
            <a:pPr>
              <a:lnSpc>
                <a:spcPct val="120000"/>
              </a:lnSpc>
            </a:pPr>
            <a:r>
              <a:rPr lang="en-US" sz="1223" dirty="0">
                <a:solidFill>
                  <a:srgbClr val="E0E2E4">
                    <a:alpha val="70000"/>
                  </a:srgbClr>
                </a:solidFill>
                <a:latin typeface="MiSans" pitchFamily="34" charset="0"/>
                <a:ea typeface="MiSans" pitchFamily="34" charset="-122"/>
                <a:cs typeface="MiSans" pitchFamily="34" charset="-120"/>
              </a:rPr>
              <a:t>创建应用级CGroup层次结构,为每个Application分配独立的资源组</a:t>
            </a:r>
            <a:endParaRPr lang="en-US" sz="1600" dirty="0"/>
          </a:p>
        </p:txBody>
      </p:sp>
      <p:sp>
        <p:nvSpPr>
          <p:cNvPr id="15" name="Shape 13"/>
          <p:cNvSpPr/>
          <p:nvPr/>
        </p:nvSpPr>
        <p:spPr>
          <a:xfrm>
            <a:off x="588101" y="3556347"/>
            <a:ext cx="7301330" cy="710160"/>
          </a:xfrm>
          <a:custGeom>
            <a:avLst/>
            <a:gdLst/>
            <a:ahLst/>
            <a:cxnLst/>
            <a:rect l="l" t="t" r="r" b="b"/>
            <a:pathLst>
              <a:path w="7301330" h="710160">
                <a:moveTo>
                  <a:pt x="88770" y="0"/>
                </a:moveTo>
                <a:lnTo>
                  <a:pt x="7212560" y="0"/>
                </a:lnTo>
                <a:cubicBezTo>
                  <a:pt x="7261586" y="0"/>
                  <a:pt x="7301330" y="39744"/>
                  <a:pt x="7301330" y="88770"/>
                </a:cubicBezTo>
                <a:lnTo>
                  <a:pt x="7301330" y="621390"/>
                </a:lnTo>
                <a:cubicBezTo>
                  <a:pt x="7301330" y="670416"/>
                  <a:pt x="7261586" y="710160"/>
                  <a:pt x="7212560" y="710160"/>
                </a:cubicBezTo>
                <a:lnTo>
                  <a:pt x="88770" y="710160"/>
                </a:lnTo>
                <a:cubicBezTo>
                  <a:pt x="39744" y="710160"/>
                  <a:pt x="0" y="670416"/>
                  <a:pt x="0" y="621390"/>
                </a:cubicBezTo>
                <a:lnTo>
                  <a:pt x="0" y="88770"/>
                </a:lnTo>
                <a:cubicBezTo>
                  <a:pt x="0" y="39776"/>
                  <a:pt x="39776" y="0"/>
                  <a:pt x="88770" y="0"/>
                </a:cubicBezTo>
                <a:close/>
              </a:path>
            </a:pathLst>
          </a:custGeom>
          <a:solidFill>
            <a:srgbClr val="3C8082">
              <a:alpha val="20000"/>
            </a:srgbClr>
          </a:solidFill>
          <a:ln/>
        </p:spPr>
        <p:txBody>
          <a:bodyPr/>
          <a:lstStyle/>
          <a:p>
            <a:endParaRPr lang="zh-CN" altLang="en-US"/>
          </a:p>
        </p:txBody>
      </p:sp>
      <p:sp>
        <p:nvSpPr>
          <p:cNvPr id="16" name="Shape 14"/>
          <p:cNvSpPr/>
          <p:nvPr/>
        </p:nvSpPr>
        <p:spPr>
          <a:xfrm>
            <a:off x="699063" y="3689502"/>
            <a:ext cx="177540" cy="177540"/>
          </a:xfrm>
          <a:custGeom>
            <a:avLst/>
            <a:gdLst/>
            <a:ahLst/>
            <a:cxnLst/>
            <a:rect l="l" t="t" r="r" b="b"/>
            <a:pathLst>
              <a:path w="177540" h="177540">
                <a:moveTo>
                  <a:pt x="77778" y="-867"/>
                </a:moveTo>
                <a:cubicBezTo>
                  <a:pt x="84644" y="-4820"/>
                  <a:pt x="93104" y="-4820"/>
                  <a:pt x="99970" y="-867"/>
                </a:cubicBezTo>
                <a:lnTo>
                  <a:pt x="160965" y="34329"/>
                </a:lnTo>
                <a:cubicBezTo>
                  <a:pt x="167831" y="38282"/>
                  <a:pt x="172061" y="45633"/>
                  <a:pt x="172061" y="53539"/>
                </a:cubicBezTo>
                <a:lnTo>
                  <a:pt x="172061" y="123931"/>
                </a:lnTo>
                <a:cubicBezTo>
                  <a:pt x="172061" y="131872"/>
                  <a:pt x="167831" y="139189"/>
                  <a:pt x="160965" y="143142"/>
                </a:cubicBezTo>
                <a:lnTo>
                  <a:pt x="99970" y="178407"/>
                </a:lnTo>
                <a:cubicBezTo>
                  <a:pt x="93104" y="182360"/>
                  <a:pt x="84644" y="182360"/>
                  <a:pt x="77778" y="178407"/>
                </a:cubicBezTo>
                <a:lnTo>
                  <a:pt x="16818" y="143211"/>
                </a:lnTo>
                <a:cubicBezTo>
                  <a:pt x="9952" y="139258"/>
                  <a:pt x="5722" y="131907"/>
                  <a:pt x="5722" y="124001"/>
                </a:cubicBezTo>
                <a:lnTo>
                  <a:pt x="5722" y="53609"/>
                </a:lnTo>
                <a:cubicBezTo>
                  <a:pt x="5722" y="45668"/>
                  <a:pt x="9952" y="38351"/>
                  <a:pt x="16818" y="34398"/>
                </a:cubicBezTo>
                <a:lnTo>
                  <a:pt x="77778" y="-867"/>
                </a:lnTo>
                <a:close/>
                <a:moveTo>
                  <a:pt x="149834" y="123966"/>
                </a:moveTo>
                <a:lnTo>
                  <a:pt x="149834" y="66369"/>
                </a:lnTo>
                <a:lnTo>
                  <a:pt x="99970" y="95150"/>
                </a:lnTo>
                <a:lnTo>
                  <a:pt x="99970" y="152747"/>
                </a:lnTo>
                <a:lnTo>
                  <a:pt x="149834" y="123966"/>
                </a:lnTo>
                <a:close/>
              </a:path>
            </a:pathLst>
          </a:custGeom>
          <a:solidFill>
            <a:srgbClr val="B38B59"/>
          </a:solidFill>
          <a:ln/>
        </p:spPr>
        <p:txBody>
          <a:bodyPr/>
          <a:lstStyle/>
          <a:p>
            <a:endParaRPr lang="zh-CN" altLang="en-US"/>
          </a:p>
        </p:txBody>
      </p:sp>
      <p:sp>
        <p:nvSpPr>
          <p:cNvPr id="17" name="Text 15"/>
          <p:cNvSpPr/>
          <p:nvPr/>
        </p:nvSpPr>
        <p:spPr>
          <a:xfrm>
            <a:off x="898796" y="3645117"/>
            <a:ext cx="6990635" cy="266310"/>
          </a:xfrm>
          <a:prstGeom prst="rect">
            <a:avLst/>
          </a:prstGeom>
          <a:noFill/>
          <a:ln/>
        </p:spPr>
        <p:txBody>
          <a:bodyPr wrap="square" lIns="0" tIns="0" rIns="0" bIns="0" rtlCol="0" anchor="ctr"/>
          <a:lstStyle/>
          <a:p>
            <a:pPr>
              <a:lnSpc>
                <a:spcPct val="130000"/>
              </a:lnSpc>
            </a:pPr>
            <a:r>
              <a:rPr lang="en-US" sz="1398" b="1" dirty="0">
                <a:solidFill>
                  <a:srgbClr val="E0E2E4"/>
                </a:solidFill>
                <a:latin typeface="MiSans" pitchFamily="34" charset="0"/>
                <a:ea typeface="MiSans" pitchFamily="34" charset="-122"/>
                <a:cs typeface="MiSans" pitchFamily="34" charset="-120"/>
              </a:rPr>
              <a:t>Container层面</a:t>
            </a:r>
            <a:endParaRPr lang="en-US" sz="1600" dirty="0"/>
          </a:p>
        </p:txBody>
      </p:sp>
      <p:sp>
        <p:nvSpPr>
          <p:cNvPr id="18" name="Text 16"/>
          <p:cNvSpPr/>
          <p:nvPr/>
        </p:nvSpPr>
        <p:spPr>
          <a:xfrm>
            <a:off x="676871" y="3955812"/>
            <a:ext cx="7201463" cy="221925"/>
          </a:xfrm>
          <a:prstGeom prst="rect">
            <a:avLst/>
          </a:prstGeom>
          <a:noFill/>
          <a:ln/>
        </p:spPr>
        <p:txBody>
          <a:bodyPr wrap="square" lIns="0" tIns="0" rIns="0" bIns="0" rtlCol="0" anchor="ctr"/>
          <a:lstStyle/>
          <a:p>
            <a:pPr>
              <a:lnSpc>
                <a:spcPct val="120000"/>
              </a:lnSpc>
            </a:pPr>
            <a:r>
              <a:rPr lang="en-US" sz="1223" dirty="0">
                <a:solidFill>
                  <a:srgbClr val="E0E2E4">
                    <a:alpha val="70000"/>
                  </a:srgbClr>
                </a:solidFill>
                <a:latin typeface="MiSans" pitchFamily="34" charset="0"/>
                <a:ea typeface="MiSans" pitchFamily="34" charset="-122"/>
                <a:cs typeface="MiSans" pitchFamily="34" charset="-120"/>
              </a:rPr>
              <a:t>在应用CGroup下创建容器子组,实现细粒度的资源分配和限制</a:t>
            </a:r>
            <a:endParaRPr lang="en-US" sz="1600" dirty="0"/>
          </a:p>
        </p:txBody>
      </p:sp>
      <p:sp>
        <p:nvSpPr>
          <p:cNvPr id="19" name="Shape 17"/>
          <p:cNvSpPr/>
          <p:nvPr/>
        </p:nvSpPr>
        <p:spPr>
          <a:xfrm>
            <a:off x="588101" y="4333084"/>
            <a:ext cx="7301330" cy="710160"/>
          </a:xfrm>
          <a:custGeom>
            <a:avLst/>
            <a:gdLst/>
            <a:ahLst/>
            <a:cxnLst/>
            <a:rect l="l" t="t" r="r" b="b"/>
            <a:pathLst>
              <a:path w="7301330" h="710160">
                <a:moveTo>
                  <a:pt x="88770" y="0"/>
                </a:moveTo>
                <a:lnTo>
                  <a:pt x="7212560" y="0"/>
                </a:lnTo>
                <a:cubicBezTo>
                  <a:pt x="7261586" y="0"/>
                  <a:pt x="7301330" y="39744"/>
                  <a:pt x="7301330" y="88770"/>
                </a:cubicBezTo>
                <a:lnTo>
                  <a:pt x="7301330" y="621390"/>
                </a:lnTo>
                <a:cubicBezTo>
                  <a:pt x="7301330" y="670416"/>
                  <a:pt x="7261586" y="710160"/>
                  <a:pt x="7212560" y="710160"/>
                </a:cubicBezTo>
                <a:lnTo>
                  <a:pt x="88770" y="710160"/>
                </a:lnTo>
                <a:cubicBezTo>
                  <a:pt x="39744" y="710160"/>
                  <a:pt x="0" y="670416"/>
                  <a:pt x="0" y="621390"/>
                </a:cubicBezTo>
                <a:lnTo>
                  <a:pt x="0" y="88770"/>
                </a:lnTo>
                <a:cubicBezTo>
                  <a:pt x="0" y="39776"/>
                  <a:pt x="39776" y="0"/>
                  <a:pt x="88770" y="0"/>
                </a:cubicBezTo>
                <a:close/>
              </a:path>
            </a:pathLst>
          </a:custGeom>
          <a:solidFill>
            <a:srgbClr val="3C8082">
              <a:alpha val="20000"/>
            </a:srgbClr>
          </a:solidFill>
          <a:ln/>
        </p:spPr>
        <p:txBody>
          <a:bodyPr/>
          <a:lstStyle/>
          <a:p>
            <a:endParaRPr lang="zh-CN" altLang="en-US"/>
          </a:p>
        </p:txBody>
      </p:sp>
      <p:sp>
        <p:nvSpPr>
          <p:cNvPr id="20" name="Shape 18"/>
          <p:cNvSpPr/>
          <p:nvPr/>
        </p:nvSpPr>
        <p:spPr>
          <a:xfrm>
            <a:off x="699063" y="4466239"/>
            <a:ext cx="177540" cy="177540"/>
          </a:xfrm>
          <a:custGeom>
            <a:avLst/>
            <a:gdLst/>
            <a:ahLst/>
            <a:cxnLst/>
            <a:rect l="l" t="t" r="r" b="b"/>
            <a:pathLst>
              <a:path w="177540" h="177540">
                <a:moveTo>
                  <a:pt x="22192" y="22192"/>
                </a:moveTo>
                <a:cubicBezTo>
                  <a:pt x="22192" y="16055"/>
                  <a:pt x="17234" y="11096"/>
                  <a:pt x="11096" y="11096"/>
                </a:cubicBezTo>
                <a:cubicBezTo>
                  <a:pt x="4959" y="11096"/>
                  <a:pt x="0" y="16055"/>
                  <a:pt x="0" y="22192"/>
                </a:cubicBezTo>
                <a:lnTo>
                  <a:pt x="0" y="138703"/>
                </a:lnTo>
                <a:cubicBezTo>
                  <a:pt x="0" y="154030"/>
                  <a:pt x="12414" y="166444"/>
                  <a:pt x="27741" y="166444"/>
                </a:cubicBezTo>
                <a:lnTo>
                  <a:pt x="166444" y="166444"/>
                </a:lnTo>
                <a:cubicBezTo>
                  <a:pt x="172581" y="166444"/>
                  <a:pt x="177540" y="161485"/>
                  <a:pt x="177540" y="155347"/>
                </a:cubicBezTo>
                <a:cubicBezTo>
                  <a:pt x="177540" y="149210"/>
                  <a:pt x="172581" y="144251"/>
                  <a:pt x="166444" y="144251"/>
                </a:cubicBezTo>
                <a:lnTo>
                  <a:pt x="27741" y="144251"/>
                </a:lnTo>
                <a:cubicBezTo>
                  <a:pt x="24689" y="144251"/>
                  <a:pt x="22192" y="141755"/>
                  <a:pt x="22192" y="138703"/>
                </a:cubicBezTo>
                <a:lnTo>
                  <a:pt x="22192" y="22192"/>
                </a:lnTo>
                <a:close/>
                <a:moveTo>
                  <a:pt x="163184" y="52222"/>
                </a:moveTo>
                <a:cubicBezTo>
                  <a:pt x="167519" y="47887"/>
                  <a:pt x="167519" y="40848"/>
                  <a:pt x="163184" y="36514"/>
                </a:cubicBezTo>
                <a:cubicBezTo>
                  <a:pt x="158850" y="32179"/>
                  <a:pt x="151811" y="32179"/>
                  <a:pt x="147476" y="36514"/>
                </a:cubicBezTo>
                <a:lnTo>
                  <a:pt x="110962" y="73062"/>
                </a:lnTo>
                <a:lnTo>
                  <a:pt x="91059" y="53193"/>
                </a:lnTo>
                <a:cubicBezTo>
                  <a:pt x="86724" y="48858"/>
                  <a:pt x="79685" y="48858"/>
                  <a:pt x="75350" y="53193"/>
                </a:cubicBezTo>
                <a:lnTo>
                  <a:pt x="42062" y="86481"/>
                </a:lnTo>
                <a:cubicBezTo>
                  <a:pt x="37727" y="90816"/>
                  <a:pt x="37727" y="97855"/>
                  <a:pt x="42062" y="102189"/>
                </a:cubicBezTo>
                <a:cubicBezTo>
                  <a:pt x="46396" y="106524"/>
                  <a:pt x="53435" y="106524"/>
                  <a:pt x="57770" y="102189"/>
                </a:cubicBezTo>
                <a:lnTo>
                  <a:pt x="83222" y="76737"/>
                </a:lnTo>
                <a:lnTo>
                  <a:pt x="103126" y="96641"/>
                </a:lnTo>
                <a:cubicBezTo>
                  <a:pt x="107460" y="100976"/>
                  <a:pt x="114499" y="100976"/>
                  <a:pt x="118834" y="96641"/>
                </a:cubicBezTo>
                <a:lnTo>
                  <a:pt x="163219" y="52256"/>
                </a:lnTo>
                <a:close/>
              </a:path>
            </a:pathLst>
          </a:custGeom>
          <a:solidFill>
            <a:srgbClr val="B38B59"/>
          </a:solidFill>
          <a:ln/>
        </p:spPr>
        <p:txBody>
          <a:bodyPr/>
          <a:lstStyle/>
          <a:p>
            <a:endParaRPr lang="zh-CN" altLang="en-US"/>
          </a:p>
        </p:txBody>
      </p:sp>
      <p:sp>
        <p:nvSpPr>
          <p:cNvPr id="21" name="Text 19"/>
          <p:cNvSpPr/>
          <p:nvPr/>
        </p:nvSpPr>
        <p:spPr>
          <a:xfrm>
            <a:off x="898796" y="4421854"/>
            <a:ext cx="6990635" cy="266310"/>
          </a:xfrm>
          <a:prstGeom prst="rect">
            <a:avLst/>
          </a:prstGeom>
          <a:noFill/>
          <a:ln/>
        </p:spPr>
        <p:txBody>
          <a:bodyPr wrap="square" lIns="0" tIns="0" rIns="0" bIns="0" rtlCol="0" anchor="ctr"/>
          <a:lstStyle/>
          <a:p>
            <a:pPr>
              <a:lnSpc>
                <a:spcPct val="130000"/>
              </a:lnSpc>
            </a:pPr>
            <a:r>
              <a:rPr lang="en-US" sz="1398" b="1" dirty="0">
                <a:solidFill>
                  <a:srgbClr val="E0E2E4"/>
                </a:solidFill>
                <a:latin typeface="MiSans" pitchFamily="34" charset="0"/>
                <a:ea typeface="MiSans" pitchFamily="34" charset="-122"/>
                <a:cs typeface="MiSans" pitchFamily="34" charset="-120"/>
              </a:rPr>
              <a:t>监控层面</a:t>
            </a:r>
            <a:endParaRPr lang="en-US" sz="1600" dirty="0"/>
          </a:p>
        </p:txBody>
      </p:sp>
      <p:sp>
        <p:nvSpPr>
          <p:cNvPr id="22" name="Text 20"/>
          <p:cNvSpPr/>
          <p:nvPr/>
        </p:nvSpPr>
        <p:spPr>
          <a:xfrm>
            <a:off x="676871" y="4732549"/>
            <a:ext cx="7201463" cy="221925"/>
          </a:xfrm>
          <a:prstGeom prst="rect">
            <a:avLst/>
          </a:prstGeom>
          <a:noFill/>
          <a:ln/>
        </p:spPr>
        <p:txBody>
          <a:bodyPr wrap="square" lIns="0" tIns="0" rIns="0" bIns="0" rtlCol="0" anchor="ctr"/>
          <a:lstStyle/>
          <a:p>
            <a:pPr>
              <a:lnSpc>
                <a:spcPct val="120000"/>
              </a:lnSpc>
            </a:pPr>
            <a:r>
              <a:rPr lang="en-US" sz="1223" dirty="0">
                <a:solidFill>
                  <a:srgbClr val="E0E2E4">
                    <a:alpha val="70000"/>
                  </a:srgbClr>
                </a:solidFill>
                <a:latin typeface="MiSans" pitchFamily="34" charset="0"/>
                <a:ea typeface="MiSans" pitchFamily="34" charset="-122"/>
                <a:cs typeface="MiSans" pitchFamily="34" charset="-120"/>
              </a:rPr>
              <a:t>通过CGroup接口实时获取资源使用情况,支持动态调整和告警</a:t>
            </a:r>
            <a:endParaRPr lang="en-US" sz="1600" dirty="0"/>
          </a:p>
        </p:txBody>
      </p:sp>
      <p:sp>
        <p:nvSpPr>
          <p:cNvPr id="23" name="Shape 21"/>
          <p:cNvSpPr/>
          <p:nvPr/>
        </p:nvSpPr>
        <p:spPr>
          <a:xfrm>
            <a:off x="449398" y="5326198"/>
            <a:ext cx="7578736" cy="2940505"/>
          </a:xfrm>
          <a:custGeom>
            <a:avLst/>
            <a:gdLst/>
            <a:ahLst/>
            <a:cxnLst/>
            <a:rect l="l" t="t" r="r" b="b"/>
            <a:pathLst>
              <a:path w="7578736" h="2940505">
                <a:moveTo>
                  <a:pt x="88774" y="0"/>
                </a:moveTo>
                <a:lnTo>
                  <a:pt x="7489962" y="0"/>
                </a:lnTo>
                <a:cubicBezTo>
                  <a:pt x="7538990" y="0"/>
                  <a:pt x="7578736" y="39745"/>
                  <a:pt x="7578736" y="88774"/>
                </a:cubicBezTo>
                <a:lnTo>
                  <a:pt x="7578736" y="2851731"/>
                </a:lnTo>
                <a:cubicBezTo>
                  <a:pt x="7578736" y="2900760"/>
                  <a:pt x="7538990" y="2940505"/>
                  <a:pt x="7489962" y="2940505"/>
                </a:cubicBezTo>
                <a:lnTo>
                  <a:pt x="88774" y="2940505"/>
                </a:lnTo>
                <a:cubicBezTo>
                  <a:pt x="39745" y="2940505"/>
                  <a:pt x="0" y="2900760"/>
                  <a:pt x="0" y="2851731"/>
                </a:cubicBezTo>
                <a:lnTo>
                  <a:pt x="0" y="88774"/>
                </a:lnTo>
                <a:cubicBezTo>
                  <a:pt x="0" y="39778"/>
                  <a:pt x="39778" y="0"/>
                  <a:pt x="88774"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4" name="Shape 22"/>
          <p:cNvSpPr/>
          <p:nvPr/>
        </p:nvSpPr>
        <p:spPr>
          <a:xfrm>
            <a:off x="601971" y="5509286"/>
            <a:ext cx="249666" cy="221925"/>
          </a:xfrm>
          <a:custGeom>
            <a:avLst/>
            <a:gdLst/>
            <a:ahLst/>
            <a:cxnLst/>
            <a:rect l="l" t="t" r="r" b="b"/>
            <a:pathLst>
              <a:path w="249666" h="221925">
                <a:moveTo>
                  <a:pt x="107495" y="38143"/>
                </a:moveTo>
                <a:lnTo>
                  <a:pt x="142171" y="38143"/>
                </a:lnTo>
                <a:lnTo>
                  <a:pt x="142171" y="58949"/>
                </a:lnTo>
                <a:lnTo>
                  <a:pt x="107495" y="58949"/>
                </a:lnTo>
                <a:lnTo>
                  <a:pt x="107495" y="38143"/>
                </a:lnTo>
                <a:close/>
                <a:moveTo>
                  <a:pt x="104027" y="13870"/>
                </a:moveTo>
                <a:cubicBezTo>
                  <a:pt x="92541" y="13870"/>
                  <a:pt x="83222" y="23189"/>
                  <a:pt x="83222" y="34676"/>
                </a:cubicBezTo>
                <a:lnTo>
                  <a:pt x="83222" y="62416"/>
                </a:lnTo>
                <a:cubicBezTo>
                  <a:pt x="83222" y="73903"/>
                  <a:pt x="92541" y="83222"/>
                  <a:pt x="104027" y="83222"/>
                </a:cubicBezTo>
                <a:lnTo>
                  <a:pt x="110962" y="83222"/>
                </a:lnTo>
                <a:lnTo>
                  <a:pt x="110962" y="97092"/>
                </a:lnTo>
                <a:lnTo>
                  <a:pt x="13870" y="97092"/>
                </a:lnTo>
                <a:cubicBezTo>
                  <a:pt x="6198" y="97092"/>
                  <a:pt x="0" y="103290"/>
                  <a:pt x="0" y="110962"/>
                </a:cubicBezTo>
                <a:cubicBezTo>
                  <a:pt x="0" y="118634"/>
                  <a:pt x="6198" y="124833"/>
                  <a:pt x="13870" y="124833"/>
                </a:cubicBezTo>
                <a:lnTo>
                  <a:pt x="55481" y="124833"/>
                </a:lnTo>
                <a:lnTo>
                  <a:pt x="55481" y="138703"/>
                </a:lnTo>
                <a:lnTo>
                  <a:pt x="48546" y="138703"/>
                </a:lnTo>
                <a:cubicBezTo>
                  <a:pt x="37060" y="138703"/>
                  <a:pt x="27741" y="148022"/>
                  <a:pt x="27741" y="159509"/>
                </a:cubicBezTo>
                <a:lnTo>
                  <a:pt x="27741" y="187249"/>
                </a:lnTo>
                <a:cubicBezTo>
                  <a:pt x="27741" y="198735"/>
                  <a:pt x="37060" y="208055"/>
                  <a:pt x="48546" y="208055"/>
                </a:cubicBezTo>
                <a:lnTo>
                  <a:pt x="90157" y="208055"/>
                </a:lnTo>
                <a:cubicBezTo>
                  <a:pt x="101643" y="208055"/>
                  <a:pt x="110962" y="198735"/>
                  <a:pt x="110962" y="187249"/>
                </a:cubicBezTo>
                <a:lnTo>
                  <a:pt x="110962" y="159509"/>
                </a:lnTo>
                <a:cubicBezTo>
                  <a:pt x="110962" y="148022"/>
                  <a:pt x="101643" y="138703"/>
                  <a:pt x="90157" y="138703"/>
                </a:cubicBezTo>
                <a:lnTo>
                  <a:pt x="83222" y="138703"/>
                </a:lnTo>
                <a:lnTo>
                  <a:pt x="83222" y="124833"/>
                </a:lnTo>
                <a:lnTo>
                  <a:pt x="166444" y="124833"/>
                </a:lnTo>
                <a:lnTo>
                  <a:pt x="166444" y="138703"/>
                </a:lnTo>
                <a:lnTo>
                  <a:pt x="159509" y="138703"/>
                </a:lnTo>
                <a:cubicBezTo>
                  <a:pt x="148022" y="138703"/>
                  <a:pt x="138703" y="148022"/>
                  <a:pt x="138703" y="159509"/>
                </a:cubicBezTo>
                <a:lnTo>
                  <a:pt x="138703" y="187249"/>
                </a:lnTo>
                <a:cubicBezTo>
                  <a:pt x="138703" y="198735"/>
                  <a:pt x="148022" y="208055"/>
                  <a:pt x="159509" y="208055"/>
                </a:cubicBezTo>
                <a:lnTo>
                  <a:pt x="201119" y="208055"/>
                </a:lnTo>
                <a:cubicBezTo>
                  <a:pt x="212606" y="208055"/>
                  <a:pt x="221925" y="198735"/>
                  <a:pt x="221925" y="187249"/>
                </a:cubicBezTo>
                <a:lnTo>
                  <a:pt x="221925" y="159509"/>
                </a:lnTo>
                <a:cubicBezTo>
                  <a:pt x="221925" y="148022"/>
                  <a:pt x="212606" y="138703"/>
                  <a:pt x="201119" y="138703"/>
                </a:cubicBezTo>
                <a:lnTo>
                  <a:pt x="194184" y="138703"/>
                </a:lnTo>
                <a:lnTo>
                  <a:pt x="194184" y="124833"/>
                </a:lnTo>
                <a:lnTo>
                  <a:pt x="235795" y="124833"/>
                </a:lnTo>
                <a:cubicBezTo>
                  <a:pt x="243467" y="124833"/>
                  <a:pt x="249666" y="118634"/>
                  <a:pt x="249666" y="110962"/>
                </a:cubicBezTo>
                <a:cubicBezTo>
                  <a:pt x="249666" y="103290"/>
                  <a:pt x="243467" y="97092"/>
                  <a:pt x="235795" y="97092"/>
                </a:cubicBezTo>
                <a:lnTo>
                  <a:pt x="138703" y="97092"/>
                </a:lnTo>
                <a:lnTo>
                  <a:pt x="138703" y="83222"/>
                </a:lnTo>
                <a:lnTo>
                  <a:pt x="145638" y="83222"/>
                </a:lnTo>
                <a:cubicBezTo>
                  <a:pt x="157125" y="83222"/>
                  <a:pt x="166444" y="73903"/>
                  <a:pt x="166444" y="62416"/>
                </a:cubicBezTo>
                <a:lnTo>
                  <a:pt x="166444" y="34676"/>
                </a:lnTo>
                <a:cubicBezTo>
                  <a:pt x="166444" y="23189"/>
                  <a:pt x="157125" y="13870"/>
                  <a:pt x="145638" y="13870"/>
                </a:cubicBezTo>
                <a:lnTo>
                  <a:pt x="104027" y="13870"/>
                </a:lnTo>
                <a:close/>
                <a:moveTo>
                  <a:pt x="194184" y="162976"/>
                </a:moveTo>
                <a:lnTo>
                  <a:pt x="197652" y="162976"/>
                </a:lnTo>
                <a:lnTo>
                  <a:pt x="197652" y="183782"/>
                </a:lnTo>
                <a:lnTo>
                  <a:pt x="162976" y="183782"/>
                </a:lnTo>
                <a:lnTo>
                  <a:pt x="162976" y="162976"/>
                </a:lnTo>
                <a:lnTo>
                  <a:pt x="194184" y="162976"/>
                </a:lnTo>
                <a:close/>
                <a:moveTo>
                  <a:pt x="83222" y="162976"/>
                </a:moveTo>
                <a:lnTo>
                  <a:pt x="86689" y="162976"/>
                </a:lnTo>
                <a:lnTo>
                  <a:pt x="86689" y="183782"/>
                </a:lnTo>
                <a:lnTo>
                  <a:pt x="52014" y="183782"/>
                </a:lnTo>
                <a:lnTo>
                  <a:pt x="52014" y="162976"/>
                </a:lnTo>
                <a:lnTo>
                  <a:pt x="83222" y="162976"/>
                </a:lnTo>
                <a:close/>
              </a:path>
            </a:pathLst>
          </a:custGeom>
          <a:solidFill>
            <a:srgbClr val="3C8082"/>
          </a:solidFill>
          <a:ln/>
        </p:spPr>
        <p:txBody>
          <a:bodyPr/>
          <a:lstStyle/>
          <a:p>
            <a:endParaRPr lang="zh-CN" altLang="en-US"/>
          </a:p>
        </p:txBody>
      </p:sp>
      <p:sp>
        <p:nvSpPr>
          <p:cNvPr id="25" name="Text 23"/>
          <p:cNvSpPr/>
          <p:nvPr/>
        </p:nvSpPr>
        <p:spPr>
          <a:xfrm>
            <a:off x="865507" y="5464901"/>
            <a:ext cx="7134886" cy="310695"/>
          </a:xfrm>
          <a:prstGeom prst="rect">
            <a:avLst/>
          </a:prstGeom>
          <a:noFill/>
          <a:ln/>
        </p:spPr>
        <p:txBody>
          <a:bodyPr wrap="square" lIns="0" tIns="0" rIns="0" bIns="0" rtlCol="0" anchor="ctr"/>
          <a:lstStyle/>
          <a:p>
            <a:pPr>
              <a:lnSpc>
                <a:spcPct val="120000"/>
              </a:lnSpc>
            </a:pPr>
            <a:r>
              <a:rPr lang="en-US" sz="1747" b="1" dirty="0">
                <a:solidFill>
                  <a:srgbClr val="E0E2E4"/>
                </a:solidFill>
                <a:latin typeface="MiSans" pitchFamily="34" charset="0"/>
                <a:ea typeface="MiSans" pitchFamily="34" charset="-122"/>
                <a:cs typeface="MiSans" pitchFamily="34" charset="-120"/>
              </a:rPr>
              <a:t>基于Namespace的进程隔离</a:t>
            </a:r>
            <a:endParaRPr lang="en-US" sz="1600" dirty="0"/>
          </a:p>
        </p:txBody>
      </p:sp>
      <p:sp>
        <p:nvSpPr>
          <p:cNvPr id="26" name="Shape 24"/>
          <p:cNvSpPr/>
          <p:nvPr/>
        </p:nvSpPr>
        <p:spPr>
          <a:xfrm>
            <a:off x="588101" y="5864366"/>
            <a:ext cx="7301330" cy="710160"/>
          </a:xfrm>
          <a:custGeom>
            <a:avLst/>
            <a:gdLst/>
            <a:ahLst/>
            <a:cxnLst/>
            <a:rect l="l" t="t" r="r" b="b"/>
            <a:pathLst>
              <a:path w="7301330" h="710160">
                <a:moveTo>
                  <a:pt x="88770" y="0"/>
                </a:moveTo>
                <a:lnTo>
                  <a:pt x="7212560" y="0"/>
                </a:lnTo>
                <a:cubicBezTo>
                  <a:pt x="7261586" y="0"/>
                  <a:pt x="7301330" y="39744"/>
                  <a:pt x="7301330" y="88770"/>
                </a:cubicBezTo>
                <a:lnTo>
                  <a:pt x="7301330" y="621390"/>
                </a:lnTo>
                <a:cubicBezTo>
                  <a:pt x="7301330" y="670416"/>
                  <a:pt x="7261586" y="710160"/>
                  <a:pt x="7212560" y="710160"/>
                </a:cubicBezTo>
                <a:lnTo>
                  <a:pt x="88770" y="710160"/>
                </a:lnTo>
                <a:cubicBezTo>
                  <a:pt x="39744" y="710160"/>
                  <a:pt x="0" y="670416"/>
                  <a:pt x="0" y="621390"/>
                </a:cubicBezTo>
                <a:lnTo>
                  <a:pt x="0" y="88770"/>
                </a:lnTo>
                <a:cubicBezTo>
                  <a:pt x="0" y="39776"/>
                  <a:pt x="39776" y="0"/>
                  <a:pt x="88770" y="0"/>
                </a:cubicBezTo>
                <a:close/>
              </a:path>
            </a:pathLst>
          </a:custGeom>
          <a:solidFill>
            <a:srgbClr val="1A1D21">
              <a:alpha val="50196"/>
            </a:srgbClr>
          </a:solidFill>
          <a:ln/>
        </p:spPr>
        <p:txBody>
          <a:bodyPr/>
          <a:lstStyle/>
          <a:p>
            <a:endParaRPr lang="zh-CN" altLang="en-US"/>
          </a:p>
        </p:txBody>
      </p:sp>
      <p:sp>
        <p:nvSpPr>
          <p:cNvPr id="27" name="Text 25"/>
          <p:cNvSpPr/>
          <p:nvPr/>
        </p:nvSpPr>
        <p:spPr>
          <a:xfrm>
            <a:off x="676871" y="5953136"/>
            <a:ext cx="7212560" cy="266310"/>
          </a:xfrm>
          <a:prstGeom prst="rect">
            <a:avLst/>
          </a:prstGeom>
          <a:noFill/>
          <a:ln/>
        </p:spPr>
        <p:txBody>
          <a:bodyPr wrap="square" lIns="0" tIns="0" rIns="0" bIns="0" rtlCol="0" anchor="ctr"/>
          <a:lstStyle/>
          <a:p>
            <a:pPr>
              <a:lnSpc>
                <a:spcPct val="130000"/>
              </a:lnSpc>
            </a:pPr>
            <a:r>
              <a:rPr lang="en-US" sz="1398" b="1" dirty="0">
                <a:solidFill>
                  <a:srgbClr val="E0E2E4"/>
                </a:solidFill>
                <a:latin typeface="MiSans" pitchFamily="34" charset="0"/>
                <a:ea typeface="MiSans" pitchFamily="34" charset="-122"/>
                <a:cs typeface="MiSans" pitchFamily="34" charset="-120"/>
              </a:rPr>
              <a:t>进程隔离</a:t>
            </a:r>
            <a:endParaRPr lang="en-US" sz="1600" dirty="0"/>
          </a:p>
        </p:txBody>
      </p:sp>
      <p:sp>
        <p:nvSpPr>
          <p:cNvPr id="28" name="Text 26"/>
          <p:cNvSpPr/>
          <p:nvPr/>
        </p:nvSpPr>
        <p:spPr>
          <a:xfrm>
            <a:off x="676871" y="6263831"/>
            <a:ext cx="7201463" cy="221925"/>
          </a:xfrm>
          <a:prstGeom prst="rect">
            <a:avLst/>
          </a:prstGeom>
          <a:noFill/>
          <a:ln/>
        </p:spPr>
        <p:txBody>
          <a:bodyPr wrap="square" lIns="0" tIns="0" rIns="0" bIns="0" rtlCol="0" anchor="ctr"/>
          <a:lstStyle/>
          <a:p>
            <a:pPr>
              <a:lnSpc>
                <a:spcPct val="120000"/>
              </a:lnSpc>
            </a:pPr>
            <a:r>
              <a:rPr lang="en-US" sz="1223" dirty="0">
                <a:solidFill>
                  <a:srgbClr val="E0E2E4">
                    <a:alpha val="70000"/>
                  </a:srgbClr>
                </a:solidFill>
                <a:latin typeface="MiSans" pitchFamily="34" charset="0"/>
                <a:ea typeface="MiSans" pitchFamily="34" charset="-122"/>
                <a:cs typeface="MiSans" pitchFamily="34" charset="-120"/>
              </a:rPr>
              <a:t>通过PID Namespace为每个容器创建独立的进程树,防止进程间相互干扰</a:t>
            </a:r>
            <a:endParaRPr lang="en-US" sz="1600" dirty="0"/>
          </a:p>
        </p:txBody>
      </p:sp>
      <p:sp>
        <p:nvSpPr>
          <p:cNvPr id="29" name="Shape 27"/>
          <p:cNvSpPr/>
          <p:nvPr/>
        </p:nvSpPr>
        <p:spPr>
          <a:xfrm>
            <a:off x="588101" y="6641103"/>
            <a:ext cx="7301330" cy="710160"/>
          </a:xfrm>
          <a:custGeom>
            <a:avLst/>
            <a:gdLst/>
            <a:ahLst/>
            <a:cxnLst/>
            <a:rect l="l" t="t" r="r" b="b"/>
            <a:pathLst>
              <a:path w="7301330" h="710160">
                <a:moveTo>
                  <a:pt x="88770" y="0"/>
                </a:moveTo>
                <a:lnTo>
                  <a:pt x="7212560" y="0"/>
                </a:lnTo>
                <a:cubicBezTo>
                  <a:pt x="7261586" y="0"/>
                  <a:pt x="7301330" y="39744"/>
                  <a:pt x="7301330" y="88770"/>
                </a:cubicBezTo>
                <a:lnTo>
                  <a:pt x="7301330" y="621390"/>
                </a:lnTo>
                <a:cubicBezTo>
                  <a:pt x="7301330" y="670416"/>
                  <a:pt x="7261586" y="710160"/>
                  <a:pt x="7212560" y="710160"/>
                </a:cubicBezTo>
                <a:lnTo>
                  <a:pt x="88770" y="710160"/>
                </a:lnTo>
                <a:cubicBezTo>
                  <a:pt x="39744" y="710160"/>
                  <a:pt x="0" y="670416"/>
                  <a:pt x="0" y="621390"/>
                </a:cubicBezTo>
                <a:lnTo>
                  <a:pt x="0" y="88770"/>
                </a:lnTo>
                <a:cubicBezTo>
                  <a:pt x="0" y="39776"/>
                  <a:pt x="39776" y="0"/>
                  <a:pt x="88770" y="0"/>
                </a:cubicBezTo>
                <a:close/>
              </a:path>
            </a:pathLst>
          </a:custGeom>
          <a:solidFill>
            <a:srgbClr val="1A1D21">
              <a:alpha val="50196"/>
            </a:srgbClr>
          </a:solidFill>
          <a:ln/>
        </p:spPr>
        <p:txBody>
          <a:bodyPr/>
          <a:lstStyle/>
          <a:p>
            <a:endParaRPr lang="zh-CN" altLang="en-US"/>
          </a:p>
        </p:txBody>
      </p:sp>
      <p:sp>
        <p:nvSpPr>
          <p:cNvPr id="30" name="Text 28"/>
          <p:cNvSpPr/>
          <p:nvPr/>
        </p:nvSpPr>
        <p:spPr>
          <a:xfrm>
            <a:off x="676871" y="6729873"/>
            <a:ext cx="7212560" cy="266310"/>
          </a:xfrm>
          <a:prstGeom prst="rect">
            <a:avLst/>
          </a:prstGeom>
          <a:noFill/>
          <a:ln/>
        </p:spPr>
        <p:txBody>
          <a:bodyPr wrap="square" lIns="0" tIns="0" rIns="0" bIns="0" rtlCol="0" anchor="ctr"/>
          <a:lstStyle/>
          <a:p>
            <a:pPr>
              <a:lnSpc>
                <a:spcPct val="130000"/>
              </a:lnSpc>
            </a:pPr>
            <a:r>
              <a:rPr lang="en-US" sz="1398" b="1" dirty="0">
                <a:solidFill>
                  <a:srgbClr val="E0E2E4"/>
                </a:solidFill>
                <a:latin typeface="MiSans" pitchFamily="34" charset="0"/>
                <a:ea typeface="MiSans" pitchFamily="34" charset="-122"/>
                <a:cs typeface="MiSans" pitchFamily="34" charset="-120"/>
              </a:rPr>
              <a:t>网络隔离</a:t>
            </a:r>
            <a:endParaRPr lang="en-US" sz="1600" dirty="0"/>
          </a:p>
        </p:txBody>
      </p:sp>
      <p:sp>
        <p:nvSpPr>
          <p:cNvPr id="31" name="Text 29"/>
          <p:cNvSpPr/>
          <p:nvPr/>
        </p:nvSpPr>
        <p:spPr>
          <a:xfrm>
            <a:off x="676871" y="7040568"/>
            <a:ext cx="7201463" cy="221925"/>
          </a:xfrm>
          <a:prstGeom prst="rect">
            <a:avLst/>
          </a:prstGeom>
          <a:noFill/>
          <a:ln/>
        </p:spPr>
        <p:txBody>
          <a:bodyPr wrap="square" lIns="0" tIns="0" rIns="0" bIns="0" rtlCol="0" anchor="ctr"/>
          <a:lstStyle/>
          <a:p>
            <a:pPr>
              <a:lnSpc>
                <a:spcPct val="120000"/>
              </a:lnSpc>
            </a:pPr>
            <a:r>
              <a:rPr lang="en-US" sz="1223" dirty="0">
                <a:solidFill>
                  <a:srgbClr val="E0E2E4">
                    <a:alpha val="70000"/>
                  </a:srgbClr>
                </a:solidFill>
                <a:latin typeface="MiSans" pitchFamily="34" charset="0"/>
                <a:ea typeface="MiSans" pitchFamily="34" charset="-122"/>
                <a:cs typeface="MiSans" pitchFamily="34" charset="-120"/>
              </a:rPr>
              <a:t>通过Network Namespace提供独立的网络栈,支持端口复用和网络安全</a:t>
            </a:r>
            <a:endParaRPr lang="en-US" sz="1600" dirty="0"/>
          </a:p>
        </p:txBody>
      </p:sp>
      <p:sp>
        <p:nvSpPr>
          <p:cNvPr id="32" name="Shape 30"/>
          <p:cNvSpPr/>
          <p:nvPr/>
        </p:nvSpPr>
        <p:spPr>
          <a:xfrm>
            <a:off x="588101" y="7417840"/>
            <a:ext cx="7301330" cy="710160"/>
          </a:xfrm>
          <a:custGeom>
            <a:avLst/>
            <a:gdLst/>
            <a:ahLst/>
            <a:cxnLst/>
            <a:rect l="l" t="t" r="r" b="b"/>
            <a:pathLst>
              <a:path w="7301330" h="710160">
                <a:moveTo>
                  <a:pt x="88770" y="0"/>
                </a:moveTo>
                <a:lnTo>
                  <a:pt x="7212560" y="0"/>
                </a:lnTo>
                <a:cubicBezTo>
                  <a:pt x="7261586" y="0"/>
                  <a:pt x="7301330" y="39744"/>
                  <a:pt x="7301330" y="88770"/>
                </a:cubicBezTo>
                <a:lnTo>
                  <a:pt x="7301330" y="621390"/>
                </a:lnTo>
                <a:cubicBezTo>
                  <a:pt x="7301330" y="670416"/>
                  <a:pt x="7261586" y="710160"/>
                  <a:pt x="7212560" y="710160"/>
                </a:cubicBezTo>
                <a:lnTo>
                  <a:pt x="88770" y="710160"/>
                </a:lnTo>
                <a:cubicBezTo>
                  <a:pt x="39744" y="710160"/>
                  <a:pt x="0" y="670416"/>
                  <a:pt x="0" y="621390"/>
                </a:cubicBezTo>
                <a:lnTo>
                  <a:pt x="0" y="88770"/>
                </a:lnTo>
                <a:cubicBezTo>
                  <a:pt x="0" y="39776"/>
                  <a:pt x="39776" y="0"/>
                  <a:pt x="88770" y="0"/>
                </a:cubicBezTo>
                <a:close/>
              </a:path>
            </a:pathLst>
          </a:custGeom>
          <a:solidFill>
            <a:srgbClr val="1A1D21">
              <a:alpha val="50196"/>
            </a:srgbClr>
          </a:solidFill>
          <a:ln/>
        </p:spPr>
        <p:txBody>
          <a:bodyPr/>
          <a:lstStyle/>
          <a:p>
            <a:endParaRPr lang="zh-CN" altLang="en-US"/>
          </a:p>
        </p:txBody>
      </p:sp>
      <p:sp>
        <p:nvSpPr>
          <p:cNvPr id="33" name="Text 31"/>
          <p:cNvSpPr/>
          <p:nvPr/>
        </p:nvSpPr>
        <p:spPr>
          <a:xfrm>
            <a:off x="676871" y="7506610"/>
            <a:ext cx="7212560" cy="266310"/>
          </a:xfrm>
          <a:prstGeom prst="rect">
            <a:avLst/>
          </a:prstGeom>
          <a:noFill/>
          <a:ln/>
        </p:spPr>
        <p:txBody>
          <a:bodyPr wrap="square" lIns="0" tIns="0" rIns="0" bIns="0" rtlCol="0" anchor="ctr"/>
          <a:lstStyle/>
          <a:p>
            <a:pPr>
              <a:lnSpc>
                <a:spcPct val="130000"/>
              </a:lnSpc>
            </a:pPr>
            <a:r>
              <a:rPr lang="en-US" sz="1398" b="1" dirty="0">
                <a:solidFill>
                  <a:srgbClr val="E0E2E4"/>
                </a:solidFill>
                <a:latin typeface="MiSans" pitchFamily="34" charset="0"/>
                <a:ea typeface="MiSans" pitchFamily="34" charset="-122"/>
                <a:cs typeface="MiSans" pitchFamily="34" charset="-120"/>
              </a:rPr>
              <a:t>文件系统隔离</a:t>
            </a:r>
            <a:endParaRPr lang="en-US" sz="1600" dirty="0"/>
          </a:p>
        </p:txBody>
      </p:sp>
      <p:sp>
        <p:nvSpPr>
          <p:cNvPr id="34" name="Text 32"/>
          <p:cNvSpPr/>
          <p:nvPr/>
        </p:nvSpPr>
        <p:spPr>
          <a:xfrm>
            <a:off x="676871" y="7817305"/>
            <a:ext cx="7201463" cy="221925"/>
          </a:xfrm>
          <a:prstGeom prst="rect">
            <a:avLst/>
          </a:prstGeom>
          <a:noFill/>
          <a:ln/>
        </p:spPr>
        <p:txBody>
          <a:bodyPr wrap="square" lIns="0" tIns="0" rIns="0" bIns="0" rtlCol="0" anchor="ctr"/>
          <a:lstStyle/>
          <a:p>
            <a:pPr>
              <a:lnSpc>
                <a:spcPct val="120000"/>
              </a:lnSpc>
            </a:pPr>
            <a:r>
              <a:rPr lang="en-US" sz="1223" dirty="0">
                <a:solidFill>
                  <a:srgbClr val="E0E2E4">
                    <a:alpha val="70000"/>
                  </a:srgbClr>
                </a:solidFill>
                <a:latin typeface="MiSans" pitchFamily="34" charset="0"/>
                <a:ea typeface="MiSans" pitchFamily="34" charset="-122"/>
                <a:cs typeface="MiSans" pitchFamily="34" charset="-120"/>
              </a:rPr>
              <a:t>通过Mount Namespace创建独立的文件系统视图,确保数据安全和环境一致性</a:t>
            </a:r>
            <a:endParaRPr lang="en-US" sz="1600" dirty="0"/>
          </a:p>
        </p:txBody>
      </p:sp>
      <p:sp>
        <p:nvSpPr>
          <p:cNvPr id="35" name="Shape 33"/>
          <p:cNvSpPr/>
          <p:nvPr/>
        </p:nvSpPr>
        <p:spPr>
          <a:xfrm>
            <a:off x="8221625" y="1470253"/>
            <a:ext cx="7578736" cy="3462029"/>
          </a:xfrm>
          <a:custGeom>
            <a:avLst/>
            <a:gdLst/>
            <a:ahLst/>
            <a:cxnLst/>
            <a:rect l="l" t="t" r="r" b="b"/>
            <a:pathLst>
              <a:path w="7578736" h="3462029">
                <a:moveTo>
                  <a:pt x="88766" y="0"/>
                </a:moveTo>
                <a:lnTo>
                  <a:pt x="7489969" y="0"/>
                </a:lnTo>
                <a:cubicBezTo>
                  <a:pt x="7538994" y="0"/>
                  <a:pt x="7578736" y="39742"/>
                  <a:pt x="7578736" y="88766"/>
                </a:cubicBezTo>
                <a:lnTo>
                  <a:pt x="7578736" y="3373262"/>
                </a:lnTo>
                <a:cubicBezTo>
                  <a:pt x="7578736" y="3422287"/>
                  <a:pt x="7538994" y="3462029"/>
                  <a:pt x="7489969" y="3462029"/>
                </a:cubicBezTo>
                <a:lnTo>
                  <a:pt x="88766" y="3462029"/>
                </a:lnTo>
                <a:cubicBezTo>
                  <a:pt x="39742" y="3462029"/>
                  <a:pt x="0" y="3422287"/>
                  <a:pt x="0" y="3373262"/>
                </a:cubicBezTo>
                <a:lnTo>
                  <a:pt x="0" y="88766"/>
                </a:lnTo>
                <a:cubicBezTo>
                  <a:pt x="0" y="39775"/>
                  <a:pt x="39775" y="0"/>
                  <a:pt x="88766"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36" name="Shape 34"/>
          <p:cNvSpPr/>
          <p:nvPr/>
        </p:nvSpPr>
        <p:spPr>
          <a:xfrm>
            <a:off x="8374198" y="1653341"/>
            <a:ext cx="249666" cy="221925"/>
          </a:xfrm>
          <a:custGeom>
            <a:avLst/>
            <a:gdLst/>
            <a:ahLst/>
            <a:cxnLst/>
            <a:rect l="l" t="t" r="r" b="b"/>
            <a:pathLst>
              <a:path w="249666" h="221925">
                <a:moveTo>
                  <a:pt x="97092" y="107495"/>
                </a:moveTo>
                <a:cubicBezTo>
                  <a:pt x="125799" y="107495"/>
                  <a:pt x="149106" y="84188"/>
                  <a:pt x="149106" y="55481"/>
                </a:cubicBezTo>
                <a:cubicBezTo>
                  <a:pt x="149106" y="26774"/>
                  <a:pt x="125799" y="3468"/>
                  <a:pt x="97092" y="3468"/>
                </a:cubicBezTo>
                <a:cubicBezTo>
                  <a:pt x="68385" y="3468"/>
                  <a:pt x="45078" y="26774"/>
                  <a:pt x="45078" y="55481"/>
                </a:cubicBezTo>
                <a:cubicBezTo>
                  <a:pt x="45078" y="84188"/>
                  <a:pt x="68385" y="107495"/>
                  <a:pt x="97092" y="107495"/>
                </a:cubicBezTo>
                <a:close/>
                <a:moveTo>
                  <a:pt x="84219" y="131768"/>
                </a:moveTo>
                <a:cubicBezTo>
                  <a:pt x="41524" y="131768"/>
                  <a:pt x="6935" y="166357"/>
                  <a:pt x="6935" y="209052"/>
                </a:cubicBezTo>
                <a:cubicBezTo>
                  <a:pt x="6935" y="216160"/>
                  <a:pt x="12700" y="221925"/>
                  <a:pt x="19809" y="221925"/>
                </a:cubicBezTo>
                <a:lnTo>
                  <a:pt x="128820" y="221925"/>
                </a:lnTo>
                <a:cubicBezTo>
                  <a:pt x="113130" y="203460"/>
                  <a:pt x="104027" y="179664"/>
                  <a:pt x="104027" y="154481"/>
                </a:cubicBezTo>
                <a:lnTo>
                  <a:pt x="104027" y="141000"/>
                </a:lnTo>
                <a:cubicBezTo>
                  <a:pt x="104027" y="137836"/>
                  <a:pt x="104461" y="134715"/>
                  <a:pt x="105284" y="131768"/>
                </a:cubicBezTo>
                <a:lnTo>
                  <a:pt x="84219" y="131768"/>
                </a:lnTo>
                <a:close/>
                <a:moveTo>
                  <a:pt x="193014" y="211739"/>
                </a:moveTo>
                <a:lnTo>
                  <a:pt x="187249" y="214470"/>
                </a:lnTo>
                <a:lnTo>
                  <a:pt x="187249" y="132938"/>
                </a:lnTo>
                <a:lnTo>
                  <a:pt x="228860" y="146809"/>
                </a:lnTo>
                <a:lnTo>
                  <a:pt x="228860" y="155304"/>
                </a:lnTo>
                <a:cubicBezTo>
                  <a:pt x="228860" y="179490"/>
                  <a:pt x="214903" y="201466"/>
                  <a:pt x="193014" y="211782"/>
                </a:cubicBezTo>
                <a:close/>
                <a:moveTo>
                  <a:pt x="182871" y="112480"/>
                </a:moveTo>
                <a:lnTo>
                  <a:pt x="134325" y="128647"/>
                </a:lnTo>
                <a:cubicBezTo>
                  <a:pt x="128647" y="130554"/>
                  <a:pt x="124833" y="135842"/>
                  <a:pt x="124833" y="141824"/>
                </a:cubicBezTo>
                <a:lnTo>
                  <a:pt x="124833" y="155304"/>
                </a:lnTo>
                <a:cubicBezTo>
                  <a:pt x="124833" y="187553"/>
                  <a:pt x="143471" y="216897"/>
                  <a:pt x="172599" y="230594"/>
                </a:cubicBezTo>
                <a:lnTo>
                  <a:pt x="180617" y="234365"/>
                </a:lnTo>
                <a:cubicBezTo>
                  <a:pt x="182698" y="235318"/>
                  <a:pt x="184952" y="235839"/>
                  <a:pt x="187206" y="235839"/>
                </a:cubicBezTo>
                <a:cubicBezTo>
                  <a:pt x="189460" y="235839"/>
                  <a:pt x="191757" y="235318"/>
                  <a:pt x="193794" y="234365"/>
                </a:cubicBezTo>
                <a:lnTo>
                  <a:pt x="201813" y="230594"/>
                </a:lnTo>
                <a:cubicBezTo>
                  <a:pt x="231027" y="216854"/>
                  <a:pt x="249666" y="187509"/>
                  <a:pt x="249666" y="155261"/>
                </a:cubicBezTo>
                <a:lnTo>
                  <a:pt x="249666" y="141781"/>
                </a:lnTo>
                <a:cubicBezTo>
                  <a:pt x="249666" y="135799"/>
                  <a:pt x="245851" y="130511"/>
                  <a:pt x="240173" y="128604"/>
                </a:cubicBezTo>
                <a:lnTo>
                  <a:pt x="191627" y="112436"/>
                </a:lnTo>
                <a:cubicBezTo>
                  <a:pt x="188766" y="111483"/>
                  <a:pt x="185689" y="111483"/>
                  <a:pt x="182871" y="112436"/>
                </a:cubicBezTo>
                <a:close/>
              </a:path>
            </a:pathLst>
          </a:custGeom>
          <a:solidFill>
            <a:srgbClr val="B38B59"/>
          </a:solidFill>
          <a:ln/>
        </p:spPr>
        <p:txBody>
          <a:bodyPr/>
          <a:lstStyle/>
          <a:p>
            <a:endParaRPr lang="zh-CN" altLang="en-US"/>
          </a:p>
        </p:txBody>
      </p:sp>
      <p:sp>
        <p:nvSpPr>
          <p:cNvPr id="37" name="Text 35"/>
          <p:cNvSpPr/>
          <p:nvPr/>
        </p:nvSpPr>
        <p:spPr>
          <a:xfrm>
            <a:off x="8637734" y="1608956"/>
            <a:ext cx="7134886" cy="310695"/>
          </a:xfrm>
          <a:prstGeom prst="rect">
            <a:avLst/>
          </a:prstGeom>
          <a:noFill/>
          <a:ln/>
        </p:spPr>
        <p:txBody>
          <a:bodyPr wrap="square" lIns="0" tIns="0" rIns="0" bIns="0" rtlCol="0" anchor="ctr"/>
          <a:lstStyle/>
          <a:p>
            <a:pPr>
              <a:lnSpc>
                <a:spcPct val="120000"/>
              </a:lnSpc>
            </a:pPr>
            <a:r>
              <a:rPr lang="en-US" sz="1747" b="1" dirty="0">
                <a:solidFill>
                  <a:srgbClr val="E0E2E4"/>
                </a:solidFill>
                <a:latin typeface="MiSans" pitchFamily="34" charset="0"/>
                <a:ea typeface="MiSans" pitchFamily="34" charset="-122"/>
                <a:cs typeface="MiSans" pitchFamily="34" charset="-120"/>
              </a:rPr>
              <a:t>用户权限与安全隔离</a:t>
            </a:r>
            <a:endParaRPr lang="en-US" sz="1600" dirty="0"/>
          </a:p>
        </p:txBody>
      </p:sp>
      <p:sp>
        <p:nvSpPr>
          <p:cNvPr id="38" name="Shape 36"/>
          <p:cNvSpPr/>
          <p:nvPr/>
        </p:nvSpPr>
        <p:spPr>
          <a:xfrm>
            <a:off x="8360328" y="2008420"/>
            <a:ext cx="7301330" cy="432754"/>
          </a:xfrm>
          <a:custGeom>
            <a:avLst/>
            <a:gdLst/>
            <a:ahLst/>
            <a:cxnLst/>
            <a:rect l="l" t="t" r="r" b="b"/>
            <a:pathLst>
              <a:path w="7301330" h="432754">
                <a:moveTo>
                  <a:pt x="88771" y="0"/>
                </a:moveTo>
                <a:lnTo>
                  <a:pt x="7212559" y="0"/>
                </a:lnTo>
                <a:cubicBezTo>
                  <a:pt x="7261586" y="0"/>
                  <a:pt x="7301330" y="39744"/>
                  <a:pt x="7301330" y="88771"/>
                </a:cubicBezTo>
                <a:lnTo>
                  <a:pt x="7301330" y="343983"/>
                </a:lnTo>
                <a:cubicBezTo>
                  <a:pt x="7301330" y="393010"/>
                  <a:pt x="7261586" y="432754"/>
                  <a:pt x="7212559" y="432754"/>
                </a:cubicBezTo>
                <a:lnTo>
                  <a:pt x="88771" y="432754"/>
                </a:lnTo>
                <a:cubicBezTo>
                  <a:pt x="39777" y="432754"/>
                  <a:pt x="0" y="392977"/>
                  <a:pt x="0" y="343983"/>
                </a:cubicBezTo>
                <a:lnTo>
                  <a:pt x="0" y="88771"/>
                </a:lnTo>
                <a:cubicBezTo>
                  <a:pt x="0" y="39777"/>
                  <a:pt x="39777" y="0"/>
                  <a:pt x="88771" y="0"/>
                </a:cubicBezTo>
                <a:close/>
              </a:path>
            </a:pathLst>
          </a:custGeom>
          <a:solidFill>
            <a:srgbClr val="1A1D21">
              <a:alpha val="50196"/>
            </a:srgbClr>
          </a:solidFill>
          <a:ln/>
        </p:spPr>
        <p:txBody>
          <a:bodyPr/>
          <a:lstStyle/>
          <a:p>
            <a:endParaRPr lang="zh-CN" altLang="en-US"/>
          </a:p>
        </p:txBody>
      </p:sp>
      <p:sp>
        <p:nvSpPr>
          <p:cNvPr id="39" name="Text 37"/>
          <p:cNvSpPr/>
          <p:nvPr/>
        </p:nvSpPr>
        <p:spPr>
          <a:xfrm>
            <a:off x="8449098" y="2097190"/>
            <a:ext cx="7201463" cy="255214"/>
          </a:xfrm>
          <a:prstGeom prst="rect">
            <a:avLst/>
          </a:prstGeom>
          <a:noFill/>
          <a:ln/>
        </p:spPr>
        <p:txBody>
          <a:bodyPr wrap="square" lIns="0" tIns="0" rIns="0" bIns="0" rtlCol="0" anchor="ctr"/>
          <a:lstStyle/>
          <a:p>
            <a:pPr>
              <a:lnSpc>
                <a:spcPct val="140000"/>
              </a:lnSpc>
            </a:pPr>
            <a:r>
              <a:rPr lang="en-US" sz="1223" dirty="0">
                <a:solidFill>
                  <a:srgbClr val="E0E2E4">
                    <a:alpha val="80000"/>
                  </a:srgbClr>
                </a:solidFill>
                <a:latin typeface="MiSans" pitchFamily="34" charset="0"/>
                <a:ea typeface="MiSans" pitchFamily="34" charset="-122"/>
                <a:cs typeface="MiSans" pitchFamily="34" charset="-120"/>
              </a:rPr>
              <a:t>LinuxContainerExecutor通过</a:t>
            </a:r>
            <a:r>
              <a:rPr lang="en-US" sz="1223" dirty="0">
                <a:solidFill>
                  <a:srgbClr val="3C8082"/>
                </a:solidFill>
                <a:highlight>
                  <a:srgbClr val="B38B59">
                    <a:alpha val="30000"/>
                  </a:srgbClr>
                </a:highlight>
                <a:latin typeface="MiSans" pitchFamily="34" charset="0"/>
                <a:ea typeface="MiSans" pitchFamily="34" charset="-122"/>
                <a:cs typeface="MiSans" pitchFamily="34" charset="-120"/>
              </a:rPr>
              <a:t> 多层防护 </a:t>
            </a:r>
            <a:r>
              <a:rPr lang="en-US" sz="1223" dirty="0">
                <a:solidFill>
                  <a:srgbClr val="E0E2E4">
                    <a:alpha val="80000"/>
                  </a:srgbClr>
                </a:solidFill>
                <a:latin typeface="MiSans" pitchFamily="34" charset="0"/>
                <a:ea typeface="MiSans" pitchFamily="34" charset="-122"/>
                <a:cs typeface="MiSans" pitchFamily="34" charset="-120"/>
              </a:rPr>
              <a:t>策略实现企业级安全保障:</a:t>
            </a:r>
            <a:endParaRPr lang="en-US" sz="1600" dirty="0"/>
          </a:p>
        </p:txBody>
      </p:sp>
      <p:sp>
        <p:nvSpPr>
          <p:cNvPr id="40" name="Shape 38"/>
          <p:cNvSpPr/>
          <p:nvPr/>
        </p:nvSpPr>
        <p:spPr>
          <a:xfrm>
            <a:off x="8360328" y="2527170"/>
            <a:ext cx="7301330" cy="710160"/>
          </a:xfrm>
          <a:custGeom>
            <a:avLst/>
            <a:gdLst/>
            <a:ahLst/>
            <a:cxnLst/>
            <a:rect l="l" t="t" r="r" b="b"/>
            <a:pathLst>
              <a:path w="7301330" h="710160">
                <a:moveTo>
                  <a:pt x="88770" y="0"/>
                </a:moveTo>
                <a:lnTo>
                  <a:pt x="7212560" y="0"/>
                </a:lnTo>
                <a:cubicBezTo>
                  <a:pt x="7261586" y="0"/>
                  <a:pt x="7301330" y="39744"/>
                  <a:pt x="7301330" y="88770"/>
                </a:cubicBezTo>
                <a:lnTo>
                  <a:pt x="7301330" y="621390"/>
                </a:lnTo>
                <a:cubicBezTo>
                  <a:pt x="7301330" y="670416"/>
                  <a:pt x="7261586" y="710160"/>
                  <a:pt x="7212560" y="710160"/>
                </a:cubicBezTo>
                <a:lnTo>
                  <a:pt x="88770" y="710160"/>
                </a:lnTo>
                <a:cubicBezTo>
                  <a:pt x="39744" y="710160"/>
                  <a:pt x="0" y="670416"/>
                  <a:pt x="0" y="621390"/>
                </a:cubicBezTo>
                <a:lnTo>
                  <a:pt x="0" y="88770"/>
                </a:lnTo>
                <a:cubicBezTo>
                  <a:pt x="0" y="39776"/>
                  <a:pt x="39776" y="0"/>
                  <a:pt x="88770" y="0"/>
                </a:cubicBezTo>
                <a:close/>
              </a:path>
            </a:pathLst>
          </a:custGeom>
          <a:solidFill>
            <a:srgbClr val="B38B59">
              <a:alpha val="20000"/>
            </a:srgbClr>
          </a:solidFill>
          <a:ln/>
        </p:spPr>
        <p:txBody>
          <a:bodyPr/>
          <a:lstStyle/>
          <a:p>
            <a:endParaRPr lang="zh-CN" altLang="en-US"/>
          </a:p>
        </p:txBody>
      </p:sp>
      <p:sp>
        <p:nvSpPr>
          <p:cNvPr id="41" name="Text 39"/>
          <p:cNvSpPr/>
          <p:nvPr/>
        </p:nvSpPr>
        <p:spPr>
          <a:xfrm>
            <a:off x="8449098" y="2615940"/>
            <a:ext cx="7212560" cy="266310"/>
          </a:xfrm>
          <a:prstGeom prst="rect">
            <a:avLst/>
          </a:prstGeom>
          <a:noFill/>
          <a:ln/>
        </p:spPr>
        <p:txBody>
          <a:bodyPr wrap="square" lIns="0" tIns="0" rIns="0" bIns="0" rtlCol="0" anchor="ctr"/>
          <a:lstStyle/>
          <a:p>
            <a:pPr>
              <a:lnSpc>
                <a:spcPct val="130000"/>
              </a:lnSpc>
            </a:pPr>
            <a:r>
              <a:rPr lang="en-US" sz="1398" b="1" dirty="0">
                <a:solidFill>
                  <a:srgbClr val="E0E2E4"/>
                </a:solidFill>
                <a:latin typeface="MiSans" pitchFamily="34" charset="0"/>
                <a:ea typeface="MiSans" pitchFamily="34" charset="-122"/>
                <a:cs typeface="MiSans" pitchFamily="34" charset="-120"/>
              </a:rPr>
              <a:t>用户层面</a:t>
            </a:r>
            <a:endParaRPr lang="en-US" sz="1600" dirty="0"/>
          </a:p>
        </p:txBody>
      </p:sp>
      <p:sp>
        <p:nvSpPr>
          <p:cNvPr id="42" name="Text 40"/>
          <p:cNvSpPr/>
          <p:nvPr/>
        </p:nvSpPr>
        <p:spPr>
          <a:xfrm>
            <a:off x="8449098" y="2926635"/>
            <a:ext cx="7201463" cy="221925"/>
          </a:xfrm>
          <a:prstGeom prst="rect">
            <a:avLst/>
          </a:prstGeom>
          <a:noFill/>
          <a:ln/>
        </p:spPr>
        <p:txBody>
          <a:bodyPr wrap="square" lIns="0" tIns="0" rIns="0" bIns="0" rtlCol="0" anchor="ctr"/>
          <a:lstStyle/>
          <a:p>
            <a:pPr>
              <a:lnSpc>
                <a:spcPct val="120000"/>
              </a:lnSpc>
            </a:pPr>
            <a:r>
              <a:rPr lang="en-US" sz="1223" dirty="0">
                <a:solidFill>
                  <a:srgbClr val="E0E2E4">
                    <a:alpha val="70000"/>
                  </a:srgbClr>
                </a:solidFill>
                <a:latin typeface="MiSans" pitchFamily="34" charset="0"/>
                <a:ea typeface="MiSans" pitchFamily="34" charset="-122"/>
                <a:cs typeface="MiSans" pitchFamily="34" charset="-120"/>
              </a:rPr>
              <a:t>通过User Namespace和用户映射实现权限隔离,防止权限提升攻击</a:t>
            </a:r>
            <a:endParaRPr lang="en-US" sz="1600" dirty="0"/>
          </a:p>
        </p:txBody>
      </p:sp>
      <p:sp>
        <p:nvSpPr>
          <p:cNvPr id="43" name="Shape 41"/>
          <p:cNvSpPr/>
          <p:nvPr/>
        </p:nvSpPr>
        <p:spPr>
          <a:xfrm>
            <a:off x="8360328" y="3303907"/>
            <a:ext cx="7301330" cy="710160"/>
          </a:xfrm>
          <a:custGeom>
            <a:avLst/>
            <a:gdLst/>
            <a:ahLst/>
            <a:cxnLst/>
            <a:rect l="l" t="t" r="r" b="b"/>
            <a:pathLst>
              <a:path w="7301330" h="710160">
                <a:moveTo>
                  <a:pt x="88770" y="0"/>
                </a:moveTo>
                <a:lnTo>
                  <a:pt x="7212560" y="0"/>
                </a:lnTo>
                <a:cubicBezTo>
                  <a:pt x="7261586" y="0"/>
                  <a:pt x="7301330" y="39744"/>
                  <a:pt x="7301330" y="88770"/>
                </a:cubicBezTo>
                <a:lnTo>
                  <a:pt x="7301330" y="621390"/>
                </a:lnTo>
                <a:cubicBezTo>
                  <a:pt x="7301330" y="670416"/>
                  <a:pt x="7261586" y="710160"/>
                  <a:pt x="7212560" y="710160"/>
                </a:cubicBezTo>
                <a:lnTo>
                  <a:pt x="88770" y="710160"/>
                </a:lnTo>
                <a:cubicBezTo>
                  <a:pt x="39744" y="710160"/>
                  <a:pt x="0" y="670416"/>
                  <a:pt x="0" y="621390"/>
                </a:cubicBezTo>
                <a:lnTo>
                  <a:pt x="0" y="88770"/>
                </a:lnTo>
                <a:cubicBezTo>
                  <a:pt x="0" y="39776"/>
                  <a:pt x="39776" y="0"/>
                  <a:pt x="88770" y="0"/>
                </a:cubicBezTo>
                <a:close/>
              </a:path>
            </a:pathLst>
          </a:custGeom>
          <a:solidFill>
            <a:srgbClr val="B38B59">
              <a:alpha val="20000"/>
            </a:srgbClr>
          </a:solidFill>
          <a:ln/>
        </p:spPr>
        <p:txBody>
          <a:bodyPr/>
          <a:lstStyle/>
          <a:p>
            <a:endParaRPr lang="zh-CN" altLang="en-US"/>
          </a:p>
        </p:txBody>
      </p:sp>
      <p:sp>
        <p:nvSpPr>
          <p:cNvPr id="44" name="Text 42"/>
          <p:cNvSpPr/>
          <p:nvPr/>
        </p:nvSpPr>
        <p:spPr>
          <a:xfrm>
            <a:off x="8449098" y="3392677"/>
            <a:ext cx="7212560" cy="266310"/>
          </a:xfrm>
          <a:prstGeom prst="rect">
            <a:avLst/>
          </a:prstGeom>
          <a:noFill/>
          <a:ln/>
        </p:spPr>
        <p:txBody>
          <a:bodyPr wrap="square" lIns="0" tIns="0" rIns="0" bIns="0" rtlCol="0" anchor="ctr"/>
          <a:lstStyle/>
          <a:p>
            <a:pPr>
              <a:lnSpc>
                <a:spcPct val="130000"/>
              </a:lnSpc>
            </a:pPr>
            <a:r>
              <a:rPr lang="en-US" sz="1398" b="1" dirty="0">
                <a:solidFill>
                  <a:srgbClr val="E0E2E4"/>
                </a:solidFill>
                <a:latin typeface="MiSans" pitchFamily="34" charset="0"/>
                <a:ea typeface="MiSans" pitchFamily="34" charset="-122"/>
                <a:cs typeface="MiSans" pitchFamily="34" charset="-120"/>
              </a:rPr>
              <a:t>系统层面</a:t>
            </a:r>
            <a:endParaRPr lang="en-US" sz="1600" dirty="0"/>
          </a:p>
        </p:txBody>
      </p:sp>
      <p:sp>
        <p:nvSpPr>
          <p:cNvPr id="45" name="Text 43"/>
          <p:cNvSpPr/>
          <p:nvPr/>
        </p:nvSpPr>
        <p:spPr>
          <a:xfrm>
            <a:off x="8449098" y="3703372"/>
            <a:ext cx="7201463" cy="221925"/>
          </a:xfrm>
          <a:prstGeom prst="rect">
            <a:avLst/>
          </a:prstGeom>
          <a:noFill/>
          <a:ln/>
        </p:spPr>
        <p:txBody>
          <a:bodyPr wrap="square" lIns="0" tIns="0" rIns="0" bIns="0" rtlCol="0" anchor="ctr"/>
          <a:lstStyle/>
          <a:p>
            <a:pPr>
              <a:lnSpc>
                <a:spcPct val="120000"/>
              </a:lnSpc>
            </a:pPr>
            <a:r>
              <a:rPr lang="en-US" sz="1223" dirty="0">
                <a:solidFill>
                  <a:srgbClr val="E0E2E4">
                    <a:alpha val="70000"/>
                  </a:srgbClr>
                </a:solidFill>
                <a:latin typeface="MiSans" pitchFamily="34" charset="0"/>
                <a:ea typeface="MiSans" pitchFamily="34" charset="-122"/>
                <a:cs typeface="MiSans" pitchFamily="34" charset="-120"/>
              </a:rPr>
              <a:t>通过SELinux/AppArmor强制访问控制,限制容器的系统调用和资源访问</a:t>
            </a:r>
            <a:endParaRPr lang="en-US" sz="1600" dirty="0"/>
          </a:p>
        </p:txBody>
      </p:sp>
      <p:sp>
        <p:nvSpPr>
          <p:cNvPr id="46" name="Shape 44"/>
          <p:cNvSpPr/>
          <p:nvPr/>
        </p:nvSpPr>
        <p:spPr>
          <a:xfrm>
            <a:off x="8360328" y="4080644"/>
            <a:ext cx="7301330" cy="710160"/>
          </a:xfrm>
          <a:custGeom>
            <a:avLst/>
            <a:gdLst/>
            <a:ahLst/>
            <a:cxnLst/>
            <a:rect l="l" t="t" r="r" b="b"/>
            <a:pathLst>
              <a:path w="7301330" h="710160">
                <a:moveTo>
                  <a:pt x="88770" y="0"/>
                </a:moveTo>
                <a:lnTo>
                  <a:pt x="7212560" y="0"/>
                </a:lnTo>
                <a:cubicBezTo>
                  <a:pt x="7261586" y="0"/>
                  <a:pt x="7301330" y="39744"/>
                  <a:pt x="7301330" y="88770"/>
                </a:cubicBezTo>
                <a:lnTo>
                  <a:pt x="7301330" y="621390"/>
                </a:lnTo>
                <a:cubicBezTo>
                  <a:pt x="7301330" y="670416"/>
                  <a:pt x="7261586" y="710160"/>
                  <a:pt x="7212560" y="710160"/>
                </a:cubicBezTo>
                <a:lnTo>
                  <a:pt x="88770" y="710160"/>
                </a:lnTo>
                <a:cubicBezTo>
                  <a:pt x="39744" y="710160"/>
                  <a:pt x="0" y="670416"/>
                  <a:pt x="0" y="621390"/>
                </a:cubicBezTo>
                <a:lnTo>
                  <a:pt x="0" y="88770"/>
                </a:lnTo>
                <a:cubicBezTo>
                  <a:pt x="0" y="39776"/>
                  <a:pt x="39776" y="0"/>
                  <a:pt x="88770" y="0"/>
                </a:cubicBezTo>
                <a:close/>
              </a:path>
            </a:pathLst>
          </a:custGeom>
          <a:solidFill>
            <a:srgbClr val="B38B59">
              <a:alpha val="20000"/>
            </a:srgbClr>
          </a:solidFill>
          <a:ln/>
        </p:spPr>
        <p:txBody>
          <a:bodyPr/>
          <a:lstStyle/>
          <a:p>
            <a:endParaRPr lang="zh-CN" altLang="en-US"/>
          </a:p>
        </p:txBody>
      </p:sp>
      <p:sp>
        <p:nvSpPr>
          <p:cNvPr id="47" name="Text 45"/>
          <p:cNvSpPr/>
          <p:nvPr/>
        </p:nvSpPr>
        <p:spPr>
          <a:xfrm>
            <a:off x="8449098" y="4169414"/>
            <a:ext cx="7212560" cy="266310"/>
          </a:xfrm>
          <a:prstGeom prst="rect">
            <a:avLst/>
          </a:prstGeom>
          <a:noFill/>
          <a:ln/>
        </p:spPr>
        <p:txBody>
          <a:bodyPr wrap="square" lIns="0" tIns="0" rIns="0" bIns="0" rtlCol="0" anchor="ctr"/>
          <a:lstStyle/>
          <a:p>
            <a:pPr>
              <a:lnSpc>
                <a:spcPct val="130000"/>
              </a:lnSpc>
            </a:pPr>
            <a:r>
              <a:rPr lang="en-US" sz="1398" b="1" dirty="0">
                <a:solidFill>
                  <a:srgbClr val="E0E2E4"/>
                </a:solidFill>
                <a:latin typeface="MiSans" pitchFamily="34" charset="0"/>
                <a:ea typeface="MiSans" pitchFamily="34" charset="-122"/>
                <a:cs typeface="MiSans" pitchFamily="34" charset="-120"/>
              </a:rPr>
              <a:t>网络层面</a:t>
            </a:r>
            <a:endParaRPr lang="en-US" sz="1600" dirty="0"/>
          </a:p>
        </p:txBody>
      </p:sp>
      <p:sp>
        <p:nvSpPr>
          <p:cNvPr id="48" name="Text 46"/>
          <p:cNvSpPr/>
          <p:nvPr/>
        </p:nvSpPr>
        <p:spPr>
          <a:xfrm>
            <a:off x="8449098" y="4480109"/>
            <a:ext cx="7201463" cy="221925"/>
          </a:xfrm>
          <a:prstGeom prst="rect">
            <a:avLst/>
          </a:prstGeom>
          <a:noFill/>
          <a:ln/>
        </p:spPr>
        <p:txBody>
          <a:bodyPr wrap="square" lIns="0" tIns="0" rIns="0" bIns="0" rtlCol="0" anchor="ctr"/>
          <a:lstStyle/>
          <a:p>
            <a:pPr>
              <a:lnSpc>
                <a:spcPct val="120000"/>
              </a:lnSpc>
            </a:pPr>
            <a:r>
              <a:rPr lang="en-US" sz="1223" dirty="0">
                <a:solidFill>
                  <a:srgbClr val="E0E2E4">
                    <a:alpha val="70000"/>
                  </a:srgbClr>
                </a:solidFill>
                <a:latin typeface="MiSans" pitchFamily="34" charset="0"/>
                <a:ea typeface="MiSans" pitchFamily="34" charset="-122"/>
                <a:cs typeface="MiSans" pitchFamily="34" charset="-120"/>
              </a:rPr>
              <a:t>通过防火墙规则和网络策略,控制容器间的网络通信</a:t>
            </a:r>
            <a:endParaRPr lang="en-US" sz="1600" dirty="0"/>
          </a:p>
        </p:txBody>
      </p:sp>
      <p:sp>
        <p:nvSpPr>
          <p:cNvPr id="49" name="Shape 47"/>
          <p:cNvSpPr/>
          <p:nvPr/>
        </p:nvSpPr>
        <p:spPr>
          <a:xfrm>
            <a:off x="8221625" y="5073758"/>
            <a:ext cx="7578736" cy="2940505"/>
          </a:xfrm>
          <a:custGeom>
            <a:avLst/>
            <a:gdLst/>
            <a:ahLst/>
            <a:cxnLst/>
            <a:rect l="l" t="t" r="r" b="b"/>
            <a:pathLst>
              <a:path w="7578736" h="2940505">
                <a:moveTo>
                  <a:pt x="88774" y="0"/>
                </a:moveTo>
                <a:lnTo>
                  <a:pt x="7489962" y="0"/>
                </a:lnTo>
                <a:cubicBezTo>
                  <a:pt x="7538990" y="0"/>
                  <a:pt x="7578736" y="39745"/>
                  <a:pt x="7578736" y="88774"/>
                </a:cubicBezTo>
                <a:lnTo>
                  <a:pt x="7578736" y="2851731"/>
                </a:lnTo>
                <a:cubicBezTo>
                  <a:pt x="7578736" y="2900760"/>
                  <a:pt x="7538990" y="2940505"/>
                  <a:pt x="7489962" y="2940505"/>
                </a:cubicBezTo>
                <a:lnTo>
                  <a:pt x="88774" y="2940505"/>
                </a:lnTo>
                <a:cubicBezTo>
                  <a:pt x="39745" y="2940505"/>
                  <a:pt x="0" y="2900760"/>
                  <a:pt x="0" y="2851731"/>
                </a:cubicBezTo>
                <a:lnTo>
                  <a:pt x="0" y="88774"/>
                </a:lnTo>
                <a:cubicBezTo>
                  <a:pt x="0" y="39778"/>
                  <a:pt x="39778" y="0"/>
                  <a:pt x="88774"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50" name="Shape 48"/>
          <p:cNvSpPr/>
          <p:nvPr/>
        </p:nvSpPr>
        <p:spPr>
          <a:xfrm>
            <a:off x="8388068" y="5256846"/>
            <a:ext cx="221925" cy="221925"/>
          </a:xfrm>
          <a:custGeom>
            <a:avLst/>
            <a:gdLst/>
            <a:ahLst/>
            <a:cxnLst/>
            <a:rect l="l" t="t" r="r" b="b"/>
            <a:pathLst>
              <a:path w="221925" h="221925">
                <a:moveTo>
                  <a:pt x="13870" y="13870"/>
                </a:moveTo>
                <a:cubicBezTo>
                  <a:pt x="21542" y="13870"/>
                  <a:pt x="27741" y="20069"/>
                  <a:pt x="27741" y="27741"/>
                </a:cubicBezTo>
                <a:lnTo>
                  <a:pt x="27741" y="173379"/>
                </a:lnTo>
                <a:cubicBezTo>
                  <a:pt x="27741" y="177193"/>
                  <a:pt x="30861" y="180314"/>
                  <a:pt x="34676" y="180314"/>
                </a:cubicBezTo>
                <a:lnTo>
                  <a:pt x="208055" y="180314"/>
                </a:lnTo>
                <a:cubicBezTo>
                  <a:pt x="215727" y="180314"/>
                  <a:pt x="221925" y="186512"/>
                  <a:pt x="221925" y="194184"/>
                </a:cubicBezTo>
                <a:cubicBezTo>
                  <a:pt x="221925" y="201856"/>
                  <a:pt x="215727" y="208055"/>
                  <a:pt x="208055" y="208055"/>
                </a:cubicBezTo>
                <a:lnTo>
                  <a:pt x="34676" y="208055"/>
                </a:lnTo>
                <a:cubicBezTo>
                  <a:pt x="15517" y="208055"/>
                  <a:pt x="0" y="192537"/>
                  <a:pt x="0" y="173379"/>
                </a:cubicBezTo>
                <a:lnTo>
                  <a:pt x="0" y="27741"/>
                </a:lnTo>
                <a:cubicBezTo>
                  <a:pt x="0" y="20069"/>
                  <a:pt x="6198" y="13870"/>
                  <a:pt x="13870" y="13870"/>
                </a:cubicBezTo>
                <a:close/>
                <a:moveTo>
                  <a:pt x="104027" y="41611"/>
                </a:moveTo>
                <a:cubicBezTo>
                  <a:pt x="106931" y="41611"/>
                  <a:pt x="109705" y="42825"/>
                  <a:pt x="111699" y="44992"/>
                </a:cubicBezTo>
                <a:lnTo>
                  <a:pt x="142517" y="78584"/>
                </a:lnTo>
                <a:lnTo>
                  <a:pt x="162543" y="58515"/>
                </a:lnTo>
                <a:cubicBezTo>
                  <a:pt x="166617" y="54441"/>
                  <a:pt x="173205" y="54441"/>
                  <a:pt x="177237" y="58515"/>
                </a:cubicBezTo>
                <a:lnTo>
                  <a:pt x="204977" y="86256"/>
                </a:lnTo>
                <a:cubicBezTo>
                  <a:pt x="206928" y="88206"/>
                  <a:pt x="208011" y="90851"/>
                  <a:pt x="208011" y="93625"/>
                </a:cubicBezTo>
                <a:lnTo>
                  <a:pt x="208011" y="142171"/>
                </a:lnTo>
                <a:cubicBezTo>
                  <a:pt x="208011" y="147935"/>
                  <a:pt x="203373" y="152573"/>
                  <a:pt x="197609" y="152573"/>
                </a:cubicBezTo>
                <a:lnTo>
                  <a:pt x="65841" y="152573"/>
                </a:lnTo>
                <a:cubicBezTo>
                  <a:pt x="60076" y="152573"/>
                  <a:pt x="55438" y="147935"/>
                  <a:pt x="55438" y="142171"/>
                </a:cubicBezTo>
                <a:lnTo>
                  <a:pt x="55438" y="93625"/>
                </a:lnTo>
                <a:cubicBezTo>
                  <a:pt x="55438" y="91024"/>
                  <a:pt x="56435" y="88510"/>
                  <a:pt x="58169" y="86603"/>
                </a:cubicBezTo>
                <a:lnTo>
                  <a:pt x="96312" y="44992"/>
                </a:lnTo>
                <a:cubicBezTo>
                  <a:pt x="98262" y="42825"/>
                  <a:pt x="101080" y="41611"/>
                  <a:pt x="103984" y="41611"/>
                </a:cubicBezTo>
                <a:close/>
              </a:path>
            </a:pathLst>
          </a:custGeom>
          <a:solidFill>
            <a:srgbClr val="3C8082"/>
          </a:solidFill>
          <a:ln/>
        </p:spPr>
        <p:txBody>
          <a:bodyPr/>
          <a:lstStyle/>
          <a:p>
            <a:endParaRPr lang="zh-CN" altLang="en-US"/>
          </a:p>
        </p:txBody>
      </p:sp>
      <p:sp>
        <p:nvSpPr>
          <p:cNvPr id="51" name="Text 49"/>
          <p:cNvSpPr/>
          <p:nvPr/>
        </p:nvSpPr>
        <p:spPr>
          <a:xfrm>
            <a:off x="8637734" y="5212461"/>
            <a:ext cx="7134886" cy="310695"/>
          </a:xfrm>
          <a:prstGeom prst="rect">
            <a:avLst/>
          </a:prstGeom>
          <a:noFill/>
          <a:ln/>
        </p:spPr>
        <p:txBody>
          <a:bodyPr wrap="square" lIns="0" tIns="0" rIns="0" bIns="0" rtlCol="0" anchor="ctr"/>
          <a:lstStyle/>
          <a:p>
            <a:pPr>
              <a:lnSpc>
                <a:spcPct val="120000"/>
              </a:lnSpc>
            </a:pPr>
            <a:r>
              <a:rPr lang="en-US" sz="1747" b="1" dirty="0">
                <a:solidFill>
                  <a:srgbClr val="E0E2E4"/>
                </a:solidFill>
                <a:latin typeface="MiSans" pitchFamily="34" charset="0"/>
                <a:ea typeface="MiSans" pitchFamily="34" charset="-122"/>
                <a:cs typeface="MiSans" pitchFamily="34" charset="-120"/>
              </a:rPr>
              <a:t>监控诊断与性能优化</a:t>
            </a:r>
            <a:endParaRPr lang="en-US" sz="1600" dirty="0"/>
          </a:p>
        </p:txBody>
      </p:sp>
      <p:sp>
        <p:nvSpPr>
          <p:cNvPr id="52" name="Shape 50"/>
          <p:cNvSpPr/>
          <p:nvPr/>
        </p:nvSpPr>
        <p:spPr>
          <a:xfrm>
            <a:off x="8360328" y="5611926"/>
            <a:ext cx="7301330" cy="710160"/>
          </a:xfrm>
          <a:custGeom>
            <a:avLst/>
            <a:gdLst/>
            <a:ahLst/>
            <a:cxnLst/>
            <a:rect l="l" t="t" r="r" b="b"/>
            <a:pathLst>
              <a:path w="7301330" h="710160">
                <a:moveTo>
                  <a:pt x="88770" y="0"/>
                </a:moveTo>
                <a:lnTo>
                  <a:pt x="7212560" y="0"/>
                </a:lnTo>
                <a:cubicBezTo>
                  <a:pt x="7261586" y="0"/>
                  <a:pt x="7301330" y="39744"/>
                  <a:pt x="7301330" y="88770"/>
                </a:cubicBezTo>
                <a:lnTo>
                  <a:pt x="7301330" y="621390"/>
                </a:lnTo>
                <a:cubicBezTo>
                  <a:pt x="7301330" y="670416"/>
                  <a:pt x="7261586" y="710160"/>
                  <a:pt x="7212560" y="710160"/>
                </a:cubicBezTo>
                <a:lnTo>
                  <a:pt x="88770" y="710160"/>
                </a:lnTo>
                <a:cubicBezTo>
                  <a:pt x="39744" y="710160"/>
                  <a:pt x="0" y="670416"/>
                  <a:pt x="0" y="621390"/>
                </a:cubicBezTo>
                <a:lnTo>
                  <a:pt x="0" y="88770"/>
                </a:lnTo>
                <a:cubicBezTo>
                  <a:pt x="0" y="39776"/>
                  <a:pt x="39776" y="0"/>
                  <a:pt x="88770" y="0"/>
                </a:cubicBezTo>
                <a:close/>
              </a:path>
            </a:pathLst>
          </a:custGeom>
          <a:solidFill>
            <a:srgbClr val="1A1D21">
              <a:alpha val="50196"/>
            </a:srgbClr>
          </a:solidFill>
          <a:ln/>
        </p:spPr>
        <p:txBody>
          <a:bodyPr/>
          <a:lstStyle/>
          <a:p>
            <a:endParaRPr lang="zh-CN" altLang="en-US"/>
          </a:p>
        </p:txBody>
      </p:sp>
      <p:sp>
        <p:nvSpPr>
          <p:cNvPr id="53" name="Text 51"/>
          <p:cNvSpPr/>
          <p:nvPr/>
        </p:nvSpPr>
        <p:spPr>
          <a:xfrm>
            <a:off x="8449098" y="5700696"/>
            <a:ext cx="7212560" cy="266310"/>
          </a:xfrm>
          <a:prstGeom prst="rect">
            <a:avLst/>
          </a:prstGeom>
          <a:noFill/>
          <a:ln/>
        </p:spPr>
        <p:txBody>
          <a:bodyPr wrap="square" lIns="0" tIns="0" rIns="0" bIns="0" rtlCol="0" anchor="ctr"/>
          <a:lstStyle/>
          <a:p>
            <a:pPr>
              <a:lnSpc>
                <a:spcPct val="130000"/>
              </a:lnSpc>
            </a:pPr>
            <a:r>
              <a:rPr lang="en-US" sz="1398" b="1" dirty="0">
                <a:solidFill>
                  <a:srgbClr val="E0E2E4"/>
                </a:solidFill>
                <a:latin typeface="MiSans" pitchFamily="34" charset="0"/>
                <a:ea typeface="MiSans" pitchFamily="34" charset="-122"/>
                <a:cs typeface="MiSans" pitchFamily="34" charset="-120"/>
              </a:rPr>
              <a:t>系统层面监控</a:t>
            </a:r>
            <a:endParaRPr lang="en-US" sz="1600" dirty="0"/>
          </a:p>
        </p:txBody>
      </p:sp>
      <p:sp>
        <p:nvSpPr>
          <p:cNvPr id="54" name="Text 52"/>
          <p:cNvSpPr/>
          <p:nvPr/>
        </p:nvSpPr>
        <p:spPr>
          <a:xfrm>
            <a:off x="8449098" y="6011391"/>
            <a:ext cx="7201463" cy="221925"/>
          </a:xfrm>
          <a:prstGeom prst="rect">
            <a:avLst/>
          </a:prstGeom>
          <a:noFill/>
          <a:ln/>
        </p:spPr>
        <p:txBody>
          <a:bodyPr wrap="square" lIns="0" tIns="0" rIns="0" bIns="0" rtlCol="0" anchor="ctr"/>
          <a:lstStyle/>
          <a:p>
            <a:pPr>
              <a:lnSpc>
                <a:spcPct val="120000"/>
              </a:lnSpc>
            </a:pPr>
            <a:r>
              <a:rPr lang="en-US" sz="1223" dirty="0">
                <a:solidFill>
                  <a:srgbClr val="E0E2E4">
                    <a:alpha val="70000"/>
                  </a:srgbClr>
                </a:solidFill>
                <a:latin typeface="MiSans" pitchFamily="34" charset="0"/>
                <a:ea typeface="MiSans" pitchFamily="34" charset="-122"/>
                <a:cs typeface="MiSans" pitchFamily="34" charset="-120"/>
              </a:rPr>
              <a:t>通过CGroups接口实时获取资源使用统计,包括CPU、内存、I/O、网络等指标</a:t>
            </a:r>
            <a:endParaRPr lang="en-US" sz="1600" dirty="0"/>
          </a:p>
        </p:txBody>
      </p:sp>
      <p:sp>
        <p:nvSpPr>
          <p:cNvPr id="55" name="Shape 53"/>
          <p:cNvSpPr/>
          <p:nvPr/>
        </p:nvSpPr>
        <p:spPr>
          <a:xfrm>
            <a:off x="8360328" y="6388663"/>
            <a:ext cx="7301330" cy="710160"/>
          </a:xfrm>
          <a:custGeom>
            <a:avLst/>
            <a:gdLst/>
            <a:ahLst/>
            <a:cxnLst/>
            <a:rect l="l" t="t" r="r" b="b"/>
            <a:pathLst>
              <a:path w="7301330" h="710160">
                <a:moveTo>
                  <a:pt x="88770" y="0"/>
                </a:moveTo>
                <a:lnTo>
                  <a:pt x="7212560" y="0"/>
                </a:lnTo>
                <a:cubicBezTo>
                  <a:pt x="7261586" y="0"/>
                  <a:pt x="7301330" y="39744"/>
                  <a:pt x="7301330" y="88770"/>
                </a:cubicBezTo>
                <a:lnTo>
                  <a:pt x="7301330" y="621390"/>
                </a:lnTo>
                <a:cubicBezTo>
                  <a:pt x="7301330" y="670416"/>
                  <a:pt x="7261586" y="710160"/>
                  <a:pt x="7212560" y="710160"/>
                </a:cubicBezTo>
                <a:lnTo>
                  <a:pt x="88770" y="710160"/>
                </a:lnTo>
                <a:cubicBezTo>
                  <a:pt x="39744" y="710160"/>
                  <a:pt x="0" y="670416"/>
                  <a:pt x="0" y="621390"/>
                </a:cubicBezTo>
                <a:lnTo>
                  <a:pt x="0" y="88770"/>
                </a:lnTo>
                <a:cubicBezTo>
                  <a:pt x="0" y="39776"/>
                  <a:pt x="39776" y="0"/>
                  <a:pt x="88770" y="0"/>
                </a:cubicBezTo>
                <a:close/>
              </a:path>
            </a:pathLst>
          </a:custGeom>
          <a:solidFill>
            <a:srgbClr val="1A1D21">
              <a:alpha val="50196"/>
            </a:srgbClr>
          </a:solidFill>
          <a:ln/>
        </p:spPr>
        <p:txBody>
          <a:bodyPr/>
          <a:lstStyle/>
          <a:p>
            <a:endParaRPr lang="zh-CN" altLang="en-US"/>
          </a:p>
        </p:txBody>
      </p:sp>
      <p:sp>
        <p:nvSpPr>
          <p:cNvPr id="56" name="Text 54"/>
          <p:cNvSpPr/>
          <p:nvPr/>
        </p:nvSpPr>
        <p:spPr>
          <a:xfrm>
            <a:off x="8449098" y="6477433"/>
            <a:ext cx="7212560" cy="266310"/>
          </a:xfrm>
          <a:prstGeom prst="rect">
            <a:avLst/>
          </a:prstGeom>
          <a:noFill/>
          <a:ln/>
        </p:spPr>
        <p:txBody>
          <a:bodyPr wrap="square" lIns="0" tIns="0" rIns="0" bIns="0" rtlCol="0" anchor="ctr"/>
          <a:lstStyle/>
          <a:p>
            <a:pPr>
              <a:lnSpc>
                <a:spcPct val="130000"/>
              </a:lnSpc>
            </a:pPr>
            <a:r>
              <a:rPr lang="en-US" sz="1398" b="1" dirty="0">
                <a:solidFill>
                  <a:srgbClr val="E0E2E4"/>
                </a:solidFill>
                <a:latin typeface="MiSans" pitchFamily="34" charset="0"/>
                <a:ea typeface="MiSans" pitchFamily="34" charset="-122"/>
                <a:cs typeface="MiSans" pitchFamily="34" charset="-120"/>
              </a:rPr>
              <a:t>应用层面监控</a:t>
            </a:r>
            <a:endParaRPr lang="en-US" sz="1600" dirty="0"/>
          </a:p>
        </p:txBody>
      </p:sp>
      <p:sp>
        <p:nvSpPr>
          <p:cNvPr id="57" name="Text 55"/>
          <p:cNvSpPr/>
          <p:nvPr/>
        </p:nvSpPr>
        <p:spPr>
          <a:xfrm>
            <a:off x="8449098" y="6788128"/>
            <a:ext cx="7201463" cy="221925"/>
          </a:xfrm>
          <a:prstGeom prst="rect">
            <a:avLst/>
          </a:prstGeom>
          <a:noFill/>
          <a:ln/>
        </p:spPr>
        <p:txBody>
          <a:bodyPr wrap="square" lIns="0" tIns="0" rIns="0" bIns="0" rtlCol="0" anchor="ctr"/>
          <a:lstStyle/>
          <a:p>
            <a:pPr>
              <a:lnSpc>
                <a:spcPct val="120000"/>
              </a:lnSpc>
            </a:pPr>
            <a:r>
              <a:rPr lang="en-US" sz="1223" dirty="0">
                <a:solidFill>
                  <a:srgbClr val="E0E2E4">
                    <a:alpha val="70000"/>
                  </a:srgbClr>
                </a:solidFill>
                <a:latin typeface="MiSans" pitchFamily="34" charset="0"/>
                <a:ea typeface="MiSans" pitchFamily="34" charset="-122"/>
                <a:cs typeface="MiSans" pitchFamily="34" charset="-120"/>
              </a:rPr>
              <a:t>通过JMX和应用日志收集应用运行状态和性能数据</a:t>
            </a:r>
            <a:endParaRPr lang="en-US" sz="1600" dirty="0"/>
          </a:p>
        </p:txBody>
      </p:sp>
      <p:sp>
        <p:nvSpPr>
          <p:cNvPr id="58" name="Shape 56"/>
          <p:cNvSpPr/>
          <p:nvPr/>
        </p:nvSpPr>
        <p:spPr>
          <a:xfrm>
            <a:off x="8360328" y="7165401"/>
            <a:ext cx="7301330" cy="710160"/>
          </a:xfrm>
          <a:custGeom>
            <a:avLst/>
            <a:gdLst/>
            <a:ahLst/>
            <a:cxnLst/>
            <a:rect l="l" t="t" r="r" b="b"/>
            <a:pathLst>
              <a:path w="7301330" h="710160">
                <a:moveTo>
                  <a:pt x="88770" y="0"/>
                </a:moveTo>
                <a:lnTo>
                  <a:pt x="7212560" y="0"/>
                </a:lnTo>
                <a:cubicBezTo>
                  <a:pt x="7261586" y="0"/>
                  <a:pt x="7301330" y="39744"/>
                  <a:pt x="7301330" y="88770"/>
                </a:cubicBezTo>
                <a:lnTo>
                  <a:pt x="7301330" y="621390"/>
                </a:lnTo>
                <a:cubicBezTo>
                  <a:pt x="7301330" y="670416"/>
                  <a:pt x="7261586" y="710160"/>
                  <a:pt x="7212560" y="710160"/>
                </a:cubicBezTo>
                <a:lnTo>
                  <a:pt x="88770" y="710160"/>
                </a:lnTo>
                <a:cubicBezTo>
                  <a:pt x="39744" y="710160"/>
                  <a:pt x="0" y="670416"/>
                  <a:pt x="0" y="621390"/>
                </a:cubicBezTo>
                <a:lnTo>
                  <a:pt x="0" y="88770"/>
                </a:lnTo>
                <a:cubicBezTo>
                  <a:pt x="0" y="39776"/>
                  <a:pt x="39776" y="0"/>
                  <a:pt x="88770" y="0"/>
                </a:cubicBezTo>
                <a:close/>
              </a:path>
            </a:pathLst>
          </a:custGeom>
          <a:solidFill>
            <a:srgbClr val="1A1D21">
              <a:alpha val="50196"/>
            </a:srgbClr>
          </a:solidFill>
          <a:ln/>
        </p:spPr>
        <p:txBody>
          <a:bodyPr/>
          <a:lstStyle/>
          <a:p>
            <a:endParaRPr lang="zh-CN" altLang="en-US"/>
          </a:p>
        </p:txBody>
      </p:sp>
      <p:sp>
        <p:nvSpPr>
          <p:cNvPr id="59" name="Text 57"/>
          <p:cNvSpPr/>
          <p:nvPr/>
        </p:nvSpPr>
        <p:spPr>
          <a:xfrm>
            <a:off x="8449098" y="7254171"/>
            <a:ext cx="7212560" cy="266310"/>
          </a:xfrm>
          <a:prstGeom prst="rect">
            <a:avLst/>
          </a:prstGeom>
          <a:noFill/>
          <a:ln/>
        </p:spPr>
        <p:txBody>
          <a:bodyPr wrap="square" lIns="0" tIns="0" rIns="0" bIns="0" rtlCol="0" anchor="ctr"/>
          <a:lstStyle/>
          <a:p>
            <a:pPr>
              <a:lnSpc>
                <a:spcPct val="130000"/>
              </a:lnSpc>
            </a:pPr>
            <a:r>
              <a:rPr lang="en-US" sz="1398" b="1" dirty="0">
                <a:solidFill>
                  <a:srgbClr val="E0E2E4"/>
                </a:solidFill>
                <a:latin typeface="MiSans" pitchFamily="34" charset="0"/>
                <a:ea typeface="MiSans" pitchFamily="34" charset="-122"/>
                <a:cs typeface="MiSans" pitchFamily="34" charset="-120"/>
              </a:rPr>
              <a:t>容器层面监控</a:t>
            </a:r>
            <a:endParaRPr lang="en-US" sz="1600" dirty="0"/>
          </a:p>
        </p:txBody>
      </p:sp>
      <p:sp>
        <p:nvSpPr>
          <p:cNvPr id="60" name="Text 58"/>
          <p:cNvSpPr/>
          <p:nvPr/>
        </p:nvSpPr>
        <p:spPr>
          <a:xfrm>
            <a:off x="8449098" y="7564866"/>
            <a:ext cx="7201463" cy="221925"/>
          </a:xfrm>
          <a:prstGeom prst="rect">
            <a:avLst/>
          </a:prstGeom>
          <a:noFill/>
          <a:ln/>
        </p:spPr>
        <p:txBody>
          <a:bodyPr wrap="square" lIns="0" tIns="0" rIns="0" bIns="0" rtlCol="0" anchor="ctr"/>
          <a:lstStyle/>
          <a:p>
            <a:pPr>
              <a:lnSpc>
                <a:spcPct val="120000"/>
              </a:lnSpc>
            </a:pPr>
            <a:r>
              <a:rPr lang="en-US" sz="1223" dirty="0">
                <a:solidFill>
                  <a:srgbClr val="E0E2E4">
                    <a:alpha val="70000"/>
                  </a:srgbClr>
                </a:solidFill>
                <a:latin typeface="MiSans" pitchFamily="34" charset="0"/>
                <a:ea typeface="MiSans" pitchFamily="34" charset="-122"/>
                <a:cs typeface="MiSans" pitchFamily="34" charset="-120"/>
              </a:rPr>
              <a:t>通过Namespace监控进程状态和资源消耗</a:t>
            </a:r>
            <a:endParaRPr lang="en-US" sz="1600" dirty="0"/>
          </a:p>
        </p:txBody>
      </p:sp>
      <p:sp>
        <p:nvSpPr>
          <p:cNvPr id="61" name="Shape 59"/>
          <p:cNvSpPr/>
          <p:nvPr/>
        </p:nvSpPr>
        <p:spPr>
          <a:xfrm>
            <a:off x="449398" y="9293279"/>
            <a:ext cx="15357204" cy="721256"/>
          </a:xfrm>
          <a:custGeom>
            <a:avLst/>
            <a:gdLst/>
            <a:ahLst/>
            <a:cxnLst/>
            <a:rect l="l" t="t" r="r" b="b"/>
            <a:pathLst>
              <a:path w="15357204" h="721256">
                <a:moveTo>
                  <a:pt x="88772" y="0"/>
                </a:moveTo>
                <a:lnTo>
                  <a:pt x="15268432" y="0"/>
                </a:lnTo>
                <a:cubicBezTo>
                  <a:pt x="15317459" y="0"/>
                  <a:pt x="15357204" y="39745"/>
                  <a:pt x="15357204" y="88772"/>
                </a:cubicBezTo>
                <a:lnTo>
                  <a:pt x="15357204" y="632484"/>
                </a:lnTo>
                <a:cubicBezTo>
                  <a:pt x="15357204" y="681511"/>
                  <a:pt x="15317459" y="721256"/>
                  <a:pt x="15268432" y="721256"/>
                </a:cubicBezTo>
                <a:lnTo>
                  <a:pt x="88772" y="721256"/>
                </a:lnTo>
                <a:cubicBezTo>
                  <a:pt x="39745" y="721256"/>
                  <a:pt x="0" y="681511"/>
                  <a:pt x="0" y="632484"/>
                </a:cubicBezTo>
                <a:lnTo>
                  <a:pt x="0" y="88772"/>
                </a:lnTo>
                <a:cubicBezTo>
                  <a:pt x="0" y="39777"/>
                  <a:pt x="39777" y="0"/>
                  <a:pt x="88772"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2" name="Shape 60"/>
          <p:cNvSpPr/>
          <p:nvPr/>
        </p:nvSpPr>
        <p:spPr>
          <a:xfrm>
            <a:off x="615842" y="9542945"/>
            <a:ext cx="166444" cy="221925"/>
          </a:xfrm>
          <a:custGeom>
            <a:avLst/>
            <a:gdLst/>
            <a:ahLst/>
            <a:cxnLst/>
            <a:rect l="l" t="t" r="r" b="b"/>
            <a:pathLst>
              <a:path w="166444" h="221925">
                <a:moveTo>
                  <a:pt x="126957" y="166444"/>
                </a:moveTo>
                <a:cubicBezTo>
                  <a:pt x="130121" y="156778"/>
                  <a:pt x="136449" y="148022"/>
                  <a:pt x="143601" y="140480"/>
                </a:cubicBezTo>
                <a:cubicBezTo>
                  <a:pt x="157775" y="125570"/>
                  <a:pt x="166444" y="105414"/>
                  <a:pt x="166444" y="83222"/>
                </a:cubicBezTo>
                <a:cubicBezTo>
                  <a:pt x="166444" y="37276"/>
                  <a:pt x="129167" y="0"/>
                  <a:pt x="83222" y="0"/>
                </a:cubicBezTo>
                <a:cubicBezTo>
                  <a:pt x="37276" y="0"/>
                  <a:pt x="0" y="37276"/>
                  <a:pt x="0" y="83222"/>
                </a:cubicBezTo>
                <a:cubicBezTo>
                  <a:pt x="0" y="105414"/>
                  <a:pt x="8669" y="125570"/>
                  <a:pt x="22843" y="140480"/>
                </a:cubicBezTo>
                <a:cubicBezTo>
                  <a:pt x="29995" y="148022"/>
                  <a:pt x="36366" y="156778"/>
                  <a:pt x="39487" y="166444"/>
                </a:cubicBezTo>
                <a:lnTo>
                  <a:pt x="126913" y="166444"/>
                </a:lnTo>
                <a:close/>
                <a:moveTo>
                  <a:pt x="124833" y="187249"/>
                </a:moveTo>
                <a:lnTo>
                  <a:pt x="41611" y="187249"/>
                </a:lnTo>
                <a:lnTo>
                  <a:pt x="41611" y="194184"/>
                </a:lnTo>
                <a:cubicBezTo>
                  <a:pt x="41611" y="213343"/>
                  <a:pt x="57128" y="228860"/>
                  <a:pt x="76287" y="228860"/>
                </a:cubicBezTo>
                <a:lnTo>
                  <a:pt x="90157" y="228860"/>
                </a:lnTo>
                <a:cubicBezTo>
                  <a:pt x="109315" y="228860"/>
                  <a:pt x="124833" y="213343"/>
                  <a:pt x="124833" y="194184"/>
                </a:cubicBezTo>
                <a:lnTo>
                  <a:pt x="124833" y="187249"/>
                </a:lnTo>
                <a:close/>
                <a:moveTo>
                  <a:pt x="79754" y="48546"/>
                </a:moveTo>
                <a:cubicBezTo>
                  <a:pt x="62503" y="48546"/>
                  <a:pt x="48546" y="62503"/>
                  <a:pt x="48546" y="79754"/>
                </a:cubicBezTo>
                <a:cubicBezTo>
                  <a:pt x="48546" y="85519"/>
                  <a:pt x="43908" y="90157"/>
                  <a:pt x="38143" y="90157"/>
                </a:cubicBezTo>
                <a:cubicBezTo>
                  <a:pt x="32378" y="90157"/>
                  <a:pt x="27741" y="85519"/>
                  <a:pt x="27741" y="79754"/>
                </a:cubicBezTo>
                <a:cubicBezTo>
                  <a:pt x="27741" y="51017"/>
                  <a:pt x="51017" y="27741"/>
                  <a:pt x="79754" y="27741"/>
                </a:cubicBezTo>
                <a:cubicBezTo>
                  <a:pt x="85519" y="27741"/>
                  <a:pt x="90157" y="32378"/>
                  <a:pt x="90157" y="38143"/>
                </a:cubicBezTo>
                <a:cubicBezTo>
                  <a:pt x="90157" y="43908"/>
                  <a:pt x="85519" y="48546"/>
                  <a:pt x="79754" y="48546"/>
                </a:cubicBezTo>
                <a:close/>
              </a:path>
            </a:pathLst>
          </a:custGeom>
          <a:solidFill>
            <a:srgbClr val="B38B59"/>
          </a:solidFill>
          <a:ln/>
        </p:spPr>
        <p:txBody>
          <a:bodyPr/>
          <a:lstStyle/>
          <a:p>
            <a:endParaRPr lang="zh-CN" altLang="en-US"/>
          </a:p>
        </p:txBody>
      </p:sp>
      <p:sp>
        <p:nvSpPr>
          <p:cNvPr id="63" name="Text 61"/>
          <p:cNvSpPr/>
          <p:nvPr/>
        </p:nvSpPr>
        <p:spPr>
          <a:xfrm>
            <a:off x="943181" y="9431982"/>
            <a:ext cx="14813488" cy="443850"/>
          </a:xfrm>
          <a:prstGeom prst="rect">
            <a:avLst/>
          </a:prstGeom>
          <a:noFill/>
          <a:ln/>
        </p:spPr>
        <p:txBody>
          <a:bodyPr wrap="square" lIns="0" tIns="0" rIns="0" bIns="0" rtlCol="0" anchor="ctr"/>
          <a:lstStyle/>
          <a:p>
            <a:pPr>
              <a:lnSpc>
                <a:spcPct val="100000"/>
              </a:lnSpc>
            </a:pPr>
            <a:r>
              <a:rPr lang="en-US" sz="1398" b="1" dirty="0">
                <a:solidFill>
                  <a:srgbClr val="B38B59"/>
                </a:solidFill>
                <a:latin typeface="MiSans" pitchFamily="34" charset="0"/>
                <a:ea typeface="MiSans" pitchFamily="34" charset="-122"/>
                <a:cs typeface="MiSans" pitchFamily="34" charset="-120"/>
              </a:rPr>
              <a:t>综合评价:</a:t>
            </a:r>
            <a:r>
              <a:rPr lang="en-US" sz="1398" dirty="0">
                <a:solidFill>
                  <a:srgbClr val="E0E2E4"/>
                </a:solidFill>
                <a:latin typeface="MiSans" pitchFamily="34" charset="0"/>
                <a:ea typeface="MiSans" pitchFamily="34" charset="-122"/>
                <a:cs typeface="MiSans" pitchFamily="34" charset="-120"/>
              </a:rPr>
              <a:t> LinuxContainerExecutor是企业级生产环境的理想选择,提供了</a:t>
            </a:r>
            <a:r>
              <a:rPr lang="en-US" sz="1398" dirty="0">
                <a:solidFill>
                  <a:srgbClr val="E0E2E4"/>
                </a:solidFill>
                <a:highlight>
                  <a:srgbClr val="3C8082">
                    <a:alpha val="30000"/>
                  </a:srgbClr>
                </a:highlight>
                <a:latin typeface="MiSans" pitchFamily="34" charset="0"/>
                <a:ea typeface="MiSans" pitchFamily="34" charset="-122"/>
                <a:cs typeface="MiSans" pitchFamily="34" charset="-120"/>
              </a:rPr>
              <a:t> 强大的隔离能力 </a:t>
            </a:r>
            <a:r>
              <a:rPr lang="en-US" sz="1398" dirty="0">
                <a:solidFill>
                  <a:srgbClr val="E0E2E4"/>
                </a:solidFill>
                <a:latin typeface="MiSans" pitchFamily="34" charset="0"/>
                <a:ea typeface="MiSans" pitchFamily="34" charset="-122"/>
                <a:cs typeface="MiSans" pitchFamily="34" charset="-120"/>
              </a:rPr>
              <a:t>、</a:t>
            </a:r>
            <a:r>
              <a:rPr lang="en-US" sz="1398" dirty="0">
                <a:solidFill>
                  <a:srgbClr val="E0E2E4"/>
                </a:solidFill>
                <a:highlight>
                  <a:srgbClr val="3C8082">
                    <a:alpha val="30000"/>
                  </a:srgbClr>
                </a:highlight>
                <a:latin typeface="MiSans" pitchFamily="34" charset="0"/>
                <a:ea typeface="MiSans" pitchFamily="34" charset="-122"/>
                <a:cs typeface="MiSans" pitchFamily="34" charset="-120"/>
              </a:rPr>
              <a:t> 精确的资源控制 </a:t>
            </a:r>
            <a:r>
              <a:rPr lang="en-US" sz="1398" dirty="0">
                <a:solidFill>
                  <a:srgbClr val="E0E2E4"/>
                </a:solidFill>
                <a:latin typeface="MiSans" pitchFamily="34" charset="0"/>
                <a:ea typeface="MiSans" pitchFamily="34" charset="-122"/>
                <a:cs typeface="MiSans" pitchFamily="34" charset="-120"/>
              </a:rPr>
              <a:t>和</a:t>
            </a:r>
            <a:r>
              <a:rPr lang="en-US" sz="1398" dirty="0">
                <a:solidFill>
                  <a:srgbClr val="E0E2E4"/>
                </a:solidFill>
                <a:highlight>
                  <a:srgbClr val="3C8082">
                    <a:alpha val="30000"/>
                  </a:srgbClr>
                </a:highlight>
                <a:latin typeface="MiSans" pitchFamily="34" charset="0"/>
                <a:ea typeface="MiSans" pitchFamily="34" charset="-122"/>
                <a:cs typeface="MiSans" pitchFamily="34" charset="-120"/>
              </a:rPr>
              <a:t> 完善的安全机制 </a:t>
            </a:r>
            <a:r>
              <a:rPr lang="en-US" sz="1398" dirty="0">
                <a:solidFill>
                  <a:srgbClr val="E0E2E4"/>
                </a:solidFill>
                <a:latin typeface="MiSans" pitchFamily="34" charset="0"/>
                <a:ea typeface="MiSans" pitchFamily="34" charset="-122"/>
                <a:cs typeface="MiSans" pitchFamily="34" charset="-120"/>
              </a:rPr>
              <a:t>,适合对安全性和稳定性要求较高的大规模部署场景。相比DefaultCE,它在隔离强度、安全性和监控能力上具有显著优势;相比DockerCE,它在性能开销和配置复杂度上取得了更好的平衡。</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66456" y="513102"/>
            <a:ext cx="373165" cy="373165"/>
          </a:xfrm>
          <a:custGeom>
            <a:avLst/>
            <a:gdLst/>
            <a:ahLst/>
            <a:cxnLst/>
            <a:rect l="l" t="t" r="r" b="b"/>
            <a:pathLst>
              <a:path w="373165" h="373165">
                <a:moveTo>
                  <a:pt x="69968" y="0"/>
                </a:moveTo>
                <a:lnTo>
                  <a:pt x="303197" y="0"/>
                </a:lnTo>
                <a:cubicBezTo>
                  <a:pt x="341813" y="0"/>
                  <a:pt x="373165" y="31352"/>
                  <a:pt x="373165" y="69968"/>
                </a:cubicBezTo>
                <a:lnTo>
                  <a:pt x="373165" y="303197"/>
                </a:lnTo>
                <a:cubicBezTo>
                  <a:pt x="373165" y="341813"/>
                  <a:pt x="341813" y="373165"/>
                  <a:pt x="303197" y="373165"/>
                </a:cubicBezTo>
                <a:lnTo>
                  <a:pt x="69968" y="373165"/>
                </a:lnTo>
                <a:cubicBezTo>
                  <a:pt x="31352" y="373165"/>
                  <a:pt x="0" y="341813"/>
                  <a:pt x="0" y="303197"/>
                </a:cubicBezTo>
                <a:lnTo>
                  <a:pt x="0" y="69968"/>
                </a:lnTo>
                <a:cubicBezTo>
                  <a:pt x="0" y="31352"/>
                  <a:pt x="31352" y="0"/>
                  <a:pt x="69968" y="0"/>
                </a:cubicBezTo>
                <a:close/>
              </a:path>
            </a:pathLst>
          </a:custGeom>
          <a:solidFill>
            <a:srgbClr val="3C8082"/>
          </a:solidFill>
          <a:ln/>
        </p:spPr>
        <p:txBody>
          <a:bodyPr/>
          <a:lstStyle/>
          <a:p>
            <a:endParaRPr lang="zh-CN" altLang="en-US"/>
          </a:p>
        </p:txBody>
      </p:sp>
      <p:sp>
        <p:nvSpPr>
          <p:cNvPr id="3" name="Text 1"/>
          <p:cNvSpPr/>
          <p:nvPr/>
        </p:nvSpPr>
        <p:spPr>
          <a:xfrm>
            <a:off x="419811" y="513102"/>
            <a:ext cx="466456" cy="373165"/>
          </a:xfrm>
          <a:prstGeom prst="rect">
            <a:avLst/>
          </a:prstGeom>
          <a:noFill/>
          <a:ln/>
        </p:spPr>
        <p:txBody>
          <a:bodyPr wrap="square" lIns="0" tIns="0" rIns="0" bIns="0" rtlCol="0" anchor="ctr"/>
          <a:lstStyle/>
          <a:p>
            <a:pPr algn="ctr">
              <a:lnSpc>
                <a:spcPct val="130000"/>
              </a:lnSpc>
            </a:pPr>
            <a:r>
              <a:rPr lang="en-US" sz="1469" b="1" dirty="0">
                <a:solidFill>
                  <a:srgbClr val="FFFFFF"/>
                </a:solidFill>
                <a:latin typeface="Liter" pitchFamily="34" charset="0"/>
                <a:ea typeface="Liter" pitchFamily="34" charset="-122"/>
                <a:cs typeface="Liter" pitchFamily="34" charset="-120"/>
              </a:rPr>
              <a:t>13</a:t>
            </a:r>
            <a:endParaRPr lang="en-US" sz="1600" dirty="0"/>
          </a:p>
        </p:txBody>
      </p:sp>
      <p:sp>
        <p:nvSpPr>
          <p:cNvPr id="4" name="Text 2"/>
          <p:cNvSpPr/>
          <p:nvPr/>
        </p:nvSpPr>
        <p:spPr>
          <a:xfrm>
            <a:off x="979558" y="466456"/>
            <a:ext cx="6145561" cy="466456"/>
          </a:xfrm>
          <a:prstGeom prst="rect">
            <a:avLst/>
          </a:prstGeom>
          <a:noFill/>
          <a:ln/>
        </p:spPr>
        <p:txBody>
          <a:bodyPr wrap="square" lIns="0" tIns="0" rIns="0" bIns="0" rtlCol="0" anchor="ctr"/>
          <a:lstStyle/>
          <a:p>
            <a:pPr>
              <a:lnSpc>
                <a:spcPct val="90000"/>
              </a:lnSpc>
            </a:pPr>
            <a:r>
              <a:rPr lang="en-US" sz="3306" b="1" dirty="0">
                <a:solidFill>
                  <a:srgbClr val="E0E2E4"/>
                </a:solidFill>
                <a:latin typeface="MiSans" pitchFamily="34" charset="0"/>
                <a:ea typeface="MiSans" pitchFamily="34" charset="-122"/>
                <a:cs typeface="MiSans" pitchFamily="34" charset="-120"/>
              </a:rPr>
              <a:t>YARN与Docker集成:容器化隔离</a:t>
            </a:r>
            <a:endParaRPr lang="en-US" sz="1600" dirty="0"/>
          </a:p>
        </p:txBody>
      </p:sp>
      <p:sp>
        <p:nvSpPr>
          <p:cNvPr id="5" name="Text 3"/>
          <p:cNvSpPr/>
          <p:nvPr/>
        </p:nvSpPr>
        <p:spPr>
          <a:xfrm>
            <a:off x="466456" y="1026204"/>
            <a:ext cx="15428040" cy="326519"/>
          </a:xfrm>
          <a:prstGeom prst="rect">
            <a:avLst/>
          </a:prstGeom>
          <a:noFill/>
          <a:ln/>
        </p:spPr>
        <p:txBody>
          <a:bodyPr wrap="square" lIns="0" tIns="0" rIns="0" bIns="0" rtlCol="0" anchor="ctr"/>
          <a:lstStyle/>
          <a:p>
            <a:pPr>
              <a:lnSpc>
                <a:spcPct val="130000"/>
              </a:lnSpc>
            </a:pPr>
            <a:r>
              <a:rPr lang="en-US" sz="1653" b="1" dirty="0">
                <a:solidFill>
                  <a:srgbClr val="B38B59"/>
                </a:solidFill>
                <a:latin typeface="MiSans" pitchFamily="34" charset="0"/>
                <a:ea typeface="MiSans" pitchFamily="34" charset="-122"/>
                <a:cs typeface="MiSans" pitchFamily="34" charset="-120"/>
              </a:rPr>
              <a:t>LinuxContainerExecutor的Docker集成模式:分层架构与生态融合</a:t>
            </a:r>
            <a:endParaRPr lang="en-US" sz="1600" dirty="0"/>
          </a:p>
        </p:txBody>
      </p:sp>
      <p:sp>
        <p:nvSpPr>
          <p:cNvPr id="6" name="Shape 4"/>
          <p:cNvSpPr/>
          <p:nvPr/>
        </p:nvSpPr>
        <p:spPr>
          <a:xfrm>
            <a:off x="472287" y="1545136"/>
            <a:ext cx="7556591" cy="5889010"/>
          </a:xfrm>
          <a:custGeom>
            <a:avLst/>
            <a:gdLst/>
            <a:ahLst/>
            <a:cxnLst/>
            <a:rect l="l" t="t" r="r" b="b"/>
            <a:pathLst>
              <a:path w="7556591" h="6238852">
                <a:moveTo>
                  <a:pt x="93271" y="0"/>
                </a:moveTo>
                <a:lnTo>
                  <a:pt x="7463320" y="0"/>
                </a:lnTo>
                <a:cubicBezTo>
                  <a:pt x="7514832" y="0"/>
                  <a:pt x="7556591" y="41759"/>
                  <a:pt x="7556591" y="93271"/>
                </a:cubicBezTo>
                <a:lnTo>
                  <a:pt x="7556591" y="6145581"/>
                </a:lnTo>
                <a:cubicBezTo>
                  <a:pt x="7556591" y="6197093"/>
                  <a:pt x="7514832" y="6238852"/>
                  <a:pt x="7463320" y="6238852"/>
                </a:cubicBezTo>
                <a:lnTo>
                  <a:pt x="93271" y="6238852"/>
                </a:lnTo>
                <a:cubicBezTo>
                  <a:pt x="41759" y="6238852"/>
                  <a:pt x="0" y="6197093"/>
                  <a:pt x="0" y="6145581"/>
                </a:cubicBezTo>
                <a:lnTo>
                  <a:pt x="0" y="93271"/>
                </a:lnTo>
                <a:cubicBezTo>
                  <a:pt x="0" y="41793"/>
                  <a:pt x="41793" y="0"/>
                  <a:pt x="93271"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93854" y="1784195"/>
            <a:ext cx="233228" cy="233228"/>
          </a:xfrm>
          <a:custGeom>
            <a:avLst/>
            <a:gdLst/>
            <a:ahLst/>
            <a:cxnLst/>
            <a:rect l="l" t="t" r="r" b="b"/>
            <a:pathLst>
              <a:path w="233228" h="233228">
                <a:moveTo>
                  <a:pt x="105909" y="2369"/>
                </a:moveTo>
                <a:cubicBezTo>
                  <a:pt x="112697" y="-774"/>
                  <a:pt x="120532" y="-774"/>
                  <a:pt x="127319" y="2369"/>
                </a:cubicBezTo>
                <a:lnTo>
                  <a:pt x="226896" y="48377"/>
                </a:lnTo>
                <a:cubicBezTo>
                  <a:pt x="230768" y="50153"/>
                  <a:pt x="233228" y="54025"/>
                  <a:pt x="233228" y="58307"/>
                </a:cubicBezTo>
                <a:cubicBezTo>
                  <a:pt x="233228" y="62589"/>
                  <a:pt x="230768" y="66461"/>
                  <a:pt x="226896" y="68237"/>
                </a:cubicBezTo>
                <a:lnTo>
                  <a:pt x="127319" y="114245"/>
                </a:lnTo>
                <a:cubicBezTo>
                  <a:pt x="120532" y="117388"/>
                  <a:pt x="112697" y="117388"/>
                  <a:pt x="105909" y="114245"/>
                </a:cubicBezTo>
                <a:lnTo>
                  <a:pt x="6332" y="68237"/>
                </a:lnTo>
                <a:cubicBezTo>
                  <a:pt x="2460" y="66415"/>
                  <a:pt x="0" y="62543"/>
                  <a:pt x="0" y="58307"/>
                </a:cubicBezTo>
                <a:cubicBezTo>
                  <a:pt x="0" y="54071"/>
                  <a:pt x="2460" y="50153"/>
                  <a:pt x="6332" y="48377"/>
                </a:cubicBezTo>
                <a:lnTo>
                  <a:pt x="105909" y="2369"/>
                </a:lnTo>
                <a:close/>
                <a:moveTo>
                  <a:pt x="21911" y="99486"/>
                </a:moveTo>
                <a:lnTo>
                  <a:pt x="96753" y="134061"/>
                </a:lnTo>
                <a:cubicBezTo>
                  <a:pt x="109371" y="139891"/>
                  <a:pt x="123902" y="139891"/>
                  <a:pt x="136520" y="134061"/>
                </a:cubicBezTo>
                <a:lnTo>
                  <a:pt x="211363" y="99486"/>
                </a:lnTo>
                <a:lnTo>
                  <a:pt x="226896" y="106684"/>
                </a:lnTo>
                <a:cubicBezTo>
                  <a:pt x="230768" y="108460"/>
                  <a:pt x="233228" y="112332"/>
                  <a:pt x="233228" y="116614"/>
                </a:cubicBezTo>
                <a:cubicBezTo>
                  <a:pt x="233228" y="120896"/>
                  <a:pt x="230768" y="124768"/>
                  <a:pt x="226896" y="126544"/>
                </a:cubicBezTo>
                <a:lnTo>
                  <a:pt x="127319" y="172552"/>
                </a:lnTo>
                <a:cubicBezTo>
                  <a:pt x="120532" y="175695"/>
                  <a:pt x="112697" y="175695"/>
                  <a:pt x="105909" y="172552"/>
                </a:cubicBezTo>
                <a:lnTo>
                  <a:pt x="6332" y="126544"/>
                </a:lnTo>
                <a:cubicBezTo>
                  <a:pt x="2460" y="124722"/>
                  <a:pt x="0" y="120850"/>
                  <a:pt x="0" y="116614"/>
                </a:cubicBezTo>
                <a:cubicBezTo>
                  <a:pt x="0" y="112378"/>
                  <a:pt x="2460" y="108460"/>
                  <a:pt x="6332" y="106684"/>
                </a:cubicBezTo>
                <a:lnTo>
                  <a:pt x="21865" y="99486"/>
                </a:lnTo>
                <a:close/>
                <a:moveTo>
                  <a:pt x="6332" y="164991"/>
                </a:moveTo>
                <a:lnTo>
                  <a:pt x="21865" y="157793"/>
                </a:lnTo>
                <a:lnTo>
                  <a:pt x="96708" y="192368"/>
                </a:lnTo>
                <a:cubicBezTo>
                  <a:pt x="109326" y="198198"/>
                  <a:pt x="123857" y="198198"/>
                  <a:pt x="136475" y="192368"/>
                </a:cubicBezTo>
                <a:lnTo>
                  <a:pt x="211317" y="157793"/>
                </a:lnTo>
                <a:lnTo>
                  <a:pt x="226851" y="164991"/>
                </a:lnTo>
                <a:cubicBezTo>
                  <a:pt x="230723" y="166767"/>
                  <a:pt x="233183" y="170639"/>
                  <a:pt x="233183" y="174921"/>
                </a:cubicBezTo>
                <a:cubicBezTo>
                  <a:pt x="233183" y="179203"/>
                  <a:pt x="230723" y="183075"/>
                  <a:pt x="226851" y="184852"/>
                </a:cubicBezTo>
                <a:lnTo>
                  <a:pt x="127273" y="230859"/>
                </a:lnTo>
                <a:cubicBezTo>
                  <a:pt x="120486" y="234003"/>
                  <a:pt x="112651" y="234003"/>
                  <a:pt x="105864" y="230859"/>
                </a:cubicBezTo>
                <a:lnTo>
                  <a:pt x="6332" y="184852"/>
                </a:lnTo>
                <a:cubicBezTo>
                  <a:pt x="2460" y="183029"/>
                  <a:pt x="0" y="179157"/>
                  <a:pt x="0" y="174921"/>
                </a:cubicBezTo>
                <a:cubicBezTo>
                  <a:pt x="0" y="170685"/>
                  <a:pt x="2460" y="166767"/>
                  <a:pt x="6332" y="164991"/>
                </a:cubicBezTo>
                <a:close/>
              </a:path>
            </a:pathLst>
          </a:custGeom>
          <a:solidFill>
            <a:srgbClr val="B38B59"/>
          </a:solidFill>
          <a:ln/>
        </p:spPr>
        <p:txBody>
          <a:bodyPr/>
          <a:lstStyle/>
          <a:p>
            <a:endParaRPr lang="zh-CN" altLang="en-US"/>
          </a:p>
        </p:txBody>
      </p:sp>
      <p:sp>
        <p:nvSpPr>
          <p:cNvPr id="8" name="Text 6"/>
          <p:cNvSpPr/>
          <p:nvPr/>
        </p:nvSpPr>
        <p:spPr>
          <a:xfrm>
            <a:off x="956235" y="1737549"/>
            <a:ext cx="6996844" cy="326519"/>
          </a:xfrm>
          <a:prstGeom prst="rect">
            <a:avLst/>
          </a:prstGeom>
          <a:noFill/>
          <a:ln/>
        </p:spPr>
        <p:txBody>
          <a:bodyPr wrap="square" lIns="0" tIns="0" rIns="0" bIns="0" rtlCol="0" anchor="ctr"/>
          <a:lstStyle/>
          <a:p>
            <a:pPr>
              <a:lnSpc>
                <a:spcPct val="120000"/>
              </a:lnSpc>
            </a:pPr>
            <a:r>
              <a:rPr lang="en-US" sz="1836" b="1" dirty="0">
                <a:solidFill>
                  <a:srgbClr val="E0E2E4"/>
                </a:solidFill>
                <a:latin typeface="MiSans" pitchFamily="34" charset="0"/>
                <a:ea typeface="MiSans" pitchFamily="34" charset="-122"/>
                <a:cs typeface="MiSans" pitchFamily="34" charset="-120"/>
              </a:rPr>
              <a:t>分层集成架构</a:t>
            </a:r>
            <a:endParaRPr lang="en-US" sz="1600" dirty="0"/>
          </a:p>
        </p:txBody>
      </p:sp>
      <p:sp>
        <p:nvSpPr>
          <p:cNvPr id="9" name="Shape 7"/>
          <p:cNvSpPr/>
          <p:nvPr/>
        </p:nvSpPr>
        <p:spPr>
          <a:xfrm>
            <a:off x="664700" y="2204006"/>
            <a:ext cx="7171765" cy="979558"/>
          </a:xfrm>
          <a:custGeom>
            <a:avLst/>
            <a:gdLst/>
            <a:ahLst/>
            <a:cxnLst/>
            <a:rect l="l" t="t" r="r" b="b"/>
            <a:pathLst>
              <a:path w="7171765" h="979558">
                <a:moveTo>
                  <a:pt x="93293" y="0"/>
                </a:moveTo>
                <a:lnTo>
                  <a:pt x="7078472" y="0"/>
                </a:lnTo>
                <a:cubicBezTo>
                  <a:pt x="7129961" y="0"/>
                  <a:pt x="7171765" y="41803"/>
                  <a:pt x="7171765" y="93293"/>
                </a:cubicBezTo>
                <a:lnTo>
                  <a:pt x="7171765" y="886265"/>
                </a:lnTo>
                <a:cubicBezTo>
                  <a:pt x="7171765" y="937755"/>
                  <a:pt x="7129961" y="979558"/>
                  <a:pt x="7078472" y="979558"/>
                </a:cubicBezTo>
                <a:lnTo>
                  <a:pt x="93293" y="979558"/>
                </a:lnTo>
                <a:cubicBezTo>
                  <a:pt x="41803" y="979558"/>
                  <a:pt x="0" y="937755"/>
                  <a:pt x="0" y="886265"/>
                </a:cubicBezTo>
                <a:lnTo>
                  <a:pt x="0" y="93293"/>
                </a:lnTo>
                <a:cubicBezTo>
                  <a:pt x="0" y="41803"/>
                  <a:pt x="41803" y="0"/>
                  <a:pt x="93293" y="0"/>
                </a:cubicBezTo>
                <a:close/>
              </a:path>
            </a:pathLst>
          </a:custGeom>
          <a:solidFill>
            <a:srgbClr val="1A1D21">
              <a:alpha val="50196"/>
            </a:srgbClr>
          </a:solidFill>
          <a:ln/>
        </p:spPr>
        <p:txBody>
          <a:bodyPr/>
          <a:lstStyle/>
          <a:p>
            <a:endParaRPr lang="zh-CN" altLang="en-US"/>
          </a:p>
        </p:txBody>
      </p:sp>
      <p:sp>
        <p:nvSpPr>
          <p:cNvPr id="10" name="Shape 8"/>
          <p:cNvSpPr/>
          <p:nvPr/>
        </p:nvSpPr>
        <p:spPr>
          <a:xfrm>
            <a:off x="804637" y="2343943"/>
            <a:ext cx="373165" cy="373165"/>
          </a:xfrm>
          <a:custGeom>
            <a:avLst/>
            <a:gdLst/>
            <a:ahLst/>
            <a:cxnLst/>
            <a:rect l="l" t="t" r="r" b="b"/>
            <a:pathLst>
              <a:path w="373165" h="373165">
                <a:moveTo>
                  <a:pt x="186582" y="0"/>
                </a:moveTo>
                <a:lnTo>
                  <a:pt x="186582" y="0"/>
                </a:lnTo>
                <a:cubicBezTo>
                  <a:pt x="289629" y="0"/>
                  <a:pt x="373165" y="83536"/>
                  <a:pt x="373165" y="186582"/>
                </a:cubicBezTo>
                <a:lnTo>
                  <a:pt x="373165" y="186582"/>
                </a:lnTo>
                <a:cubicBezTo>
                  <a:pt x="373165" y="289629"/>
                  <a:pt x="289629" y="373165"/>
                  <a:pt x="186582" y="373165"/>
                </a:cubicBezTo>
                <a:lnTo>
                  <a:pt x="186582" y="373165"/>
                </a:lnTo>
                <a:cubicBezTo>
                  <a:pt x="83536" y="373165"/>
                  <a:pt x="0" y="289629"/>
                  <a:pt x="0" y="186582"/>
                </a:cubicBezTo>
                <a:lnTo>
                  <a:pt x="0" y="186582"/>
                </a:lnTo>
                <a:cubicBezTo>
                  <a:pt x="0" y="83536"/>
                  <a:pt x="83536" y="0"/>
                  <a:pt x="186582" y="0"/>
                </a:cubicBezTo>
                <a:close/>
              </a:path>
            </a:pathLst>
          </a:custGeom>
          <a:solidFill>
            <a:srgbClr val="B38B59">
              <a:alpha val="30196"/>
            </a:srgbClr>
          </a:solidFill>
          <a:ln/>
        </p:spPr>
        <p:txBody>
          <a:bodyPr/>
          <a:lstStyle/>
          <a:p>
            <a:endParaRPr lang="zh-CN" altLang="en-US"/>
          </a:p>
        </p:txBody>
      </p:sp>
      <p:sp>
        <p:nvSpPr>
          <p:cNvPr id="11" name="Text 9"/>
          <p:cNvSpPr/>
          <p:nvPr/>
        </p:nvSpPr>
        <p:spPr>
          <a:xfrm>
            <a:off x="959060" y="2413911"/>
            <a:ext cx="151598" cy="233228"/>
          </a:xfrm>
          <a:prstGeom prst="rect">
            <a:avLst/>
          </a:prstGeom>
          <a:noFill/>
          <a:ln/>
        </p:spPr>
        <p:txBody>
          <a:bodyPr wrap="square" lIns="0" tIns="0" rIns="0" bIns="0" rtlCol="0" anchor="ctr"/>
          <a:lstStyle/>
          <a:p>
            <a:pPr>
              <a:lnSpc>
                <a:spcPct val="120000"/>
              </a:lnSpc>
            </a:pPr>
            <a:r>
              <a:rPr lang="en-US" sz="1286" b="1" dirty="0">
                <a:solidFill>
                  <a:srgbClr val="B38B59"/>
                </a:solidFill>
                <a:latin typeface="MiSans" pitchFamily="34" charset="0"/>
                <a:ea typeface="MiSans" pitchFamily="34" charset="-122"/>
                <a:cs typeface="MiSans" pitchFamily="34" charset="-120"/>
              </a:rPr>
              <a:t>1</a:t>
            </a:r>
            <a:endParaRPr lang="en-US" sz="1600" dirty="0"/>
          </a:p>
        </p:txBody>
      </p:sp>
      <p:sp>
        <p:nvSpPr>
          <p:cNvPr id="12" name="Text 10"/>
          <p:cNvSpPr/>
          <p:nvPr/>
        </p:nvSpPr>
        <p:spPr>
          <a:xfrm>
            <a:off x="1271093" y="2367265"/>
            <a:ext cx="734669" cy="326519"/>
          </a:xfrm>
          <a:prstGeom prst="rect">
            <a:avLst/>
          </a:prstGeom>
          <a:noFill/>
          <a:ln/>
        </p:spPr>
        <p:txBody>
          <a:bodyPr wrap="square" lIns="0" tIns="0" rIns="0" bIns="0" rtlCol="0" anchor="ctr"/>
          <a:lstStyle/>
          <a:p>
            <a:pPr>
              <a:lnSpc>
                <a:spcPct val="130000"/>
              </a:lnSpc>
            </a:pPr>
            <a:r>
              <a:rPr lang="en-US" sz="1653" b="1" dirty="0">
                <a:solidFill>
                  <a:srgbClr val="E0E2E4"/>
                </a:solidFill>
                <a:latin typeface="MiSans" pitchFamily="34" charset="0"/>
                <a:ea typeface="MiSans" pitchFamily="34" charset="-122"/>
                <a:cs typeface="MiSans" pitchFamily="34" charset="-120"/>
              </a:rPr>
              <a:t>接口层</a:t>
            </a:r>
            <a:endParaRPr lang="en-US" sz="1600" dirty="0"/>
          </a:p>
        </p:txBody>
      </p:sp>
      <p:sp>
        <p:nvSpPr>
          <p:cNvPr id="13" name="Text 11"/>
          <p:cNvSpPr/>
          <p:nvPr/>
        </p:nvSpPr>
        <p:spPr>
          <a:xfrm>
            <a:off x="804637" y="2810399"/>
            <a:ext cx="6973521" cy="233228"/>
          </a:xfrm>
          <a:prstGeom prst="rect">
            <a:avLst/>
          </a:prstGeom>
          <a:noFill/>
          <a:ln/>
        </p:spPr>
        <p:txBody>
          <a:bodyPr wrap="square" lIns="0" tIns="0" rIns="0" bIns="0" rtlCol="0" anchor="ctr"/>
          <a:lstStyle/>
          <a:p>
            <a:pPr>
              <a:lnSpc>
                <a:spcPct val="120000"/>
              </a:lnSpc>
            </a:pPr>
            <a:r>
              <a:rPr lang="en-US" sz="1286" dirty="0">
                <a:solidFill>
                  <a:srgbClr val="E0E2E4">
                    <a:alpha val="80000"/>
                  </a:srgbClr>
                </a:solidFill>
                <a:latin typeface="MiSans" pitchFamily="34" charset="0"/>
                <a:ea typeface="MiSans" pitchFamily="34" charset="-122"/>
                <a:cs typeface="MiSans" pitchFamily="34" charset="-120"/>
              </a:rPr>
              <a:t>通过Docker API与Docker守护进程通信,实现容器生命周期管理(创建/启动/停止/删除)</a:t>
            </a:r>
            <a:endParaRPr lang="en-US" sz="1600" dirty="0"/>
          </a:p>
        </p:txBody>
      </p:sp>
      <p:sp>
        <p:nvSpPr>
          <p:cNvPr id="14" name="Shape 12"/>
          <p:cNvSpPr/>
          <p:nvPr/>
        </p:nvSpPr>
        <p:spPr>
          <a:xfrm>
            <a:off x="664700" y="3276855"/>
            <a:ext cx="7171765" cy="979558"/>
          </a:xfrm>
          <a:custGeom>
            <a:avLst/>
            <a:gdLst/>
            <a:ahLst/>
            <a:cxnLst/>
            <a:rect l="l" t="t" r="r" b="b"/>
            <a:pathLst>
              <a:path w="7171765" h="979558">
                <a:moveTo>
                  <a:pt x="93293" y="0"/>
                </a:moveTo>
                <a:lnTo>
                  <a:pt x="7078472" y="0"/>
                </a:lnTo>
                <a:cubicBezTo>
                  <a:pt x="7129961" y="0"/>
                  <a:pt x="7171765" y="41803"/>
                  <a:pt x="7171765" y="93293"/>
                </a:cubicBezTo>
                <a:lnTo>
                  <a:pt x="7171765" y="886265"/>
                </a:lnTo>
                <a:cubicBezTo>
                  <a:pt x="7171765" y="937755"/>
                  <a:pt x="7129961" y="979558"/>
                  <a:pt x="7078472" y="979558"/>
                </a:cubicBezTo>
                <a:lnTo>
                  <a:pt x="93293" y="979558"/>
                </a:lnTo>
                <a:cubicBezTo>
                  <a:pt x="41803" y="979558"/>
                  <a:pt x="0" y="937755"/>
                  <a:pt x="0" y="886265"/>
                </a:cubicBezTo>
                <a:lnTo>
                  <a:pt x="0" y="93293"/>
                </a:lnTo>
                <a:cubicBezTo>
                  <a:pt x="0" y="41803"/>
                  <a:pt x="41803" y="0"/>
                  <a:pt x="93293" y="0"/>
                </a:cubicBezTo>
                <a:close/>
              </a:path>
            </a:pathLst>
          </a:custGeom>
          <a:solidFill>
            <a:srgbClr val="1A1D21">
              <a:alpha val="50196"/>
            </a:srgbClr>
          </a:solidFill>
          <a:ln/>
        </p:spPr>
        <p:txBody>
          <a:bodyPr/>
          <a:lstStyle/>
          <a:p>
            <a:endParaRPr lang="zh-CN" altLang="en-US"/>
          </a:p>
        </p:txBody>
      </p:sp>
      <p:sp>
        <p:nvSpPr>
          <p:cNvPr id="15" name="Shape 13"/>
          <p:cNvSpPr/>
          <p:nvPr/>
        </p:nvSpPr>
        <p:spPr>
          <a:xfrm>
            <a:off x="804637" y="3416792"/>
            <a:ext cx="373165" cy="373165"/>
          </a:xfrm>
          <a:custGeom>
            <a:avLst/>
            <a:gdLst/>
            <a:ahLst/>
            <a:cxnLst/>
            <a:rect l="l" t="t" r="r" b="b"/>
            <a:pathLst>
              <a:path w="373165" h="373165">
                <a:moveTo>
                  <a:pt x="186582" y="0"/>
                </a:moveTo>
                <a:lnTo>
                  <a:pt x="186582" y="0"/>
                </a:lnTo>
                <a:cubicBezTo>
                  <a:pt x="289629" y="0"/>
                  <a:pt x="373165" y="83536"/>
                  <a:pt x="373165" y="186582"/>
                </a:cubicBezTo>
                <a:lnTo>
                  <a:pt x="373165" y="186582"/>
                </a:lnTo>
                <a:cubicBezTo>
                  <a:pt x="373165" y="289629"/>
                  <a:pt x="289629" y="373165"/>
                  <a:pt x="186582" y="373165"/>
                </a:cubicBezTo>
                <a:lnTo>
                  <a:pt x="186582" y="373165"/>
                </a:lnTo>
                <a:cubicBezTo>
                  <a:pt x="83536" y="373165"/>
                  <a:pt x="0" y="289629"/>
                  <a:pt x="0" y="186582"/>
                </a:cubicBezTo>
                <a:lnTo>
                  <a:pt x="0" y="186582"/>
                </a:lnTo>
                <a:cubicBezTo>
                  <a:pt x="0" y="83536"/>
                  <a:pt x="83536" y="0"/>
                  <a:pt x="186582" y="0"/>
                </a:cubicBezTo>
                <a:close/>
              </a:path>
            </a:pathLst>
          </a:custGeom>
          <a:solidFill>
            <a:srgbClr val="B38B59">
              <a:alpha val="30196"/>
            </a:srgbClr>
          </a:solidFill>
          <a:ln/>
        </p:spPr>
        <p:txBody>
          <a:bodyPr/>
          <a:lstStyle/>
          <a:p>
            <a:endParaRPr lang="zh-CN" altLang="en-US"/>
          </a:p>
        </p:txBody>
      </p:sp>
      <p:sp>
        <p:nvSpPr>
          <p:cNvPr id="16" name="Text 14"/>
          <p:cNvSpPr/>
          <p:nvPr/>
        </p:nvSpPr>
        <p:spPr>
          <a:xfrm>
            <a:off x="945303" y="3486760"/>
            <a:ext cx="174921" cy="233228"/>
          </a:xfrm>
          <a:prstGeom prst="rect">
            <a:avLst/>
          </a:prstGeom>
          <a:noFill/>
          <a:ln/>
        </p:spPr>
        <p:txBody>
          <a:bodyPr wrap="square" lIns="0" tIns="0" rIns="0" bIns="0" rtlCol="0" anchor="ctr"/>
          <a:lstStyle/>
          <a:p>
            <a:pPr>
              <a:lnSpc>
                <a:spcPct val="120000"/>
              </a:lnSpc>
            </a:pPr>
            <a:r>
              <a:rPr lang="en-US" sz="1286" b="1" dirty="0">
                <a:solidFill>
                  <a:srgbClr val="B38B59"/>
                </a:solidFill>
                <a:latin typeface="MiSans" pitchFamily="34" charset="0"/>
                <a:ea typeface="MiSans" pitchFamily="34" charset="-122"/>
                <a:cs typeface="MiSans" pitchFamily="34" charset="-120"/>
              </a:rPr>
              <a:t>2</a:t>
            </a:r>
            <a:endParaRPr lang="en-US" sz="1600" dirty="0"/>
          </a:p>
        </p:txBody>
      </p:sp>
      <p:sp>
        <p:nvSpPr>
          <p:cNvPr id="17" name="Text 15"/>
          <p:cNvSpPr/>
          <p:nvPr/>
        </p:nvSpPr>
        <p:spPr>
          <a:xfrm>
            <a:off x="1271093" y="3440115"/>
            <a:ext cx="734669" cy="326519"/>
          </a:xfrm>
          <a:prstGeom prst="rect">
            <a:avLst/>
          </a:prstGeom>
          <a:noFill/>
          <a:ln/>
        </p:spPr>
        <p:txBody>
          <a:bodyPr wrap="square" lIns="0" tIns="0" rIns="0" bIns="0" rtlCol="0" anchor="ctr"/>
          <a:lstStyle/>
          <a:p>
            <a:pPr>
              <a:lnSpc>
                <a:spcPct val="130000"/>
              </a:lnSpc>
            </a:pPr>
            <a:r>
              <a:rPr lang="en-US" sz="1653" b="1" dirty="0">
                <a:solidFill>
                  <a:srgbClr val="E0E2E4"/>
                </a:solidFill>
                <a:latin typeface="MiSans" pitchFamily="34" charset="0"/>
                <a:ea typeface="MiSans" pitchFamily="34" charset="-122"/>
                <a:cs typeface="MiSans" pitchFamily="34" charset="-120"/>
              </a:rPr>
              <a:t>适配层</a:t>
            </a:r>
            <a:endParaRPr lang="en-US" sz="1600" dirty="0"/>
          </a:p>
        </p:txBody>
      </p:sp>
      <p:sp>
        <p:nvSpPr>
          <p:cNvPr id="18" name="Text 16"/>
          <p:cNvSpPr/>
          <p:nvPr/>
        </p:nvSpPr>
        <p:spPr>
          <a:xfrm>
            <a:off x="804637" y="3883248"/>
            <a:ext cx="6973521" cy="233228"/>
          </a:xfrm>
          <a:prstGeom prst="rect">
            <a:avLst/>
          </a:prstGeom>
          <a:noFill/>
          <a:ln/>
        </p:spPr>
        <p:txBody>
          <a:bodyPr wrap="square" lIns="0" tIns="0" rIns="0" bIns="0" rtlCol="0" anchor="ctr"/>
          <a:lstStyle/>
          <a:p>
            <a:pPr>
              <a:lnSpc>
                <a:spcPct val="120000"/>
              </a:lnSpc>
            </a:pPr>
            <a:r>
              <a:rPr lang="en-US" sz="1286" dirty="0">
                <a:solidFill>
                  <a:srgbClr val="E0E2E4">
                    <a:alpha val="80000"/>
                  </a:srgbClr>
                </a:solidFill>
                <a:latin typeface="MiSans" pitchFamily="34" charset="0"/>
                <a:ea typeface="MiSans" pitchFamily="34" charset="-122"/>
                <a:cs typeface="MiSans" pitchFamily="34" charset="-120"/>
              </a:rPr>
              <a:t>将YARN的资源模型映射到Docker的资源约束,确保资源分配的一致性(CPU、内存、GPU等)</a:t>
            </a:r>
            <a:endParaRPr lang="en-US" sz="1600" dirty="0"/>
          </a:p>
        </p:txBody>
      </p:sp>
      <p:sp>
        <p:nvSpPr>
          <p:cNvPr id="19" name="Shape 17"/>
          <p:cNvSpPr/>
          <p:nvPr/>
        </p:nvSpPr>
        <p:spPr>
          <a:xfrm>
            <a:off x="664700" y="4349704"/>
            <a:ext cx="7171765" cy="979558"/>
          </a:xfrm>
          <a:custGeom>
            <a:avLst/>
            <a:gdLst/>
            <a:ahLst/>
            <a:cxnLst/>
            <a:rect l="l" t="t" r="r" b="b"/>
            <a:pathLst>
              <a:path w="7171765" h="979558">
                <a:moveTo>
                  <a:pt x="93293" y="0"/>
                </a:moveTo>
                <a:lnTo>
                  <a:pt x="7078472" y="0"/>
                </a:lnTo>
                <a:cubicBezTo>
                  <a:pt x="7129961" y="0"/>
                  <a:pt x="7171765" y="41803"/>
                  <a:pt x="7171765" y="93293"/>
                </a:cubicBezTo>
                <a:lnTo>
                  <a:pt x="7171765" y="886265"/>
                </a:lnTo>
                <a:cubicBezTo>
                  <a:pt x="7171765" y="937755"/>
                  <a:pt x="7129961" y="979558"/>
                  <a:pt x="7078472" y="979558"/>
                </a:cubicBezTo>
                <a:lnTo>
                  <a:pt x="93293" y="979558"/>
                </a:lnTo>
                <a:cubicBezTo>
                  <a:pt x="41803" y="979558"/>
                  <a:pt x="0" y="937755"/>
                  <a:pt x="0" y="886265"/>
                </a:cubicBezTo>
                <a:lnTo>
                  <a:pt x="0" y="93293"/>
                </a:lnTo>
                <a:cubicBezTo>
                  <a:pt x="0" y="41803"/>
                  <a:pt x="41803" y="0"/>
                  <a:pt x="93293" y="0"/>
                </a:cubicBezTo>
                <a:close/>
              </a:path>
            </a:pathLst>
          </a:custGeom>
          <a:solidFill>
            <a:srgbClr val="1A1D21">
              <a:alpha val="50196"/>
            </a:srgbClr>
          </a:solidFill>
          <a:ln/>
        </p:spPr>
        <p:txBody>
          <a:bodyPr/>
          <a:lstStyle/>
          <a:p>
            <a:endParaRPr lang="zh-CN" altLang="en-US"/>
          </a:p>
        </p:txBody>
      </p:sp>
      <p:sp>
        <p:nvSpPr>
          <p:cNvPr id="20" name="Shape 18"/>
          <p:cNvSpPr/>
          <p:nvPr/>
        </p:nvSpPr>
        <p:spPr>
          <a:xfrm>
            <a:off x="804637" y="4489641"/>
            <a:ext cx="373165" cy="373165"/>
          </a:xfrm>
          <a:custGeom>
            <a:avLst/>
            <a:gdLst/>
            <a:ahLst/>
            <a:cxnLst/>
            <a:rect l="l" t="t" r="r" b="b"/>
            <a:pathLst>
              <a:path w="373165" h="373165">
                <a:moveTo>
                  <a:pt x="186582" y="0"/>
                </a:moveTo>
                <a:lnTo>
                  <a:pt x="186582" y="0"/>
                </a:lnTo>
                <a:cubicBezTo>
                  <a:pt x="289629" y="0"/>
                  <a:pt x="373165" y="83536"/>
                  <a:pt x="373165" y="186582"/>
                </a:cubicBezTo>
                <a:lnTo>
                  <a:pt x="373165" y="186582"/>
                </a:lnTo>
                <a:cubicBezTo>
                  <a:pt x="373165" y="289629"/>
                  <a:pt x="289629" y="373165"/>
                  <a:pt x="186582" y="373165"/>
                </a:cubicBezTo>
                <a:lnTo>
                  <a:pt x="186582" y="373165"/>
                </a:lnTo>
                <a:cubicBezTo>
                  <a:pt x="83536" y="373165"/>
                  <a:pt x="0" y="289629"/>
                  <a:pt x="0" y="186582"/>
                </a:cubicBezTo>
                <a:lnTo>
                  <a:pt x="0" y="186582"/>
                </a:lnTo>
                <a:cubicBezTo>
                  <a:pt x="0" y="83536"/>
                  <a:pt x="83536" y="0"/>
                  <a:pt x="186582" y="0"/>
                </a:cubicBezTo>
                <a:close/>
              </a:path>
            </a:pathLst>
          </a:custGeom>
          <a:solidFill>
            <a:srgbClr val="B38B59">
              <a:alpha val="30196"/>
            </a:srgbClr>
          </a:solidFill>
          <a:ln/>
        </p:spPr>
        <p:txBody>
          <a:bodyPr/>
          <a:lstStyle/>
          <a:p>
            <a:endParaRPr lang="zh-CN" altLang="en-US"/>
          </a:p>
        </p:txBody>
      </p:sp>
      <p:sp>
        <p:nvSpPr>
          <p:cNvPr id="21" name="Text 19"/>
          <p:cNvSpPr/>
          <p:nvPr/>
        </p:nvSpPr>
        <p:spPr>
          <a:xfrm>
            <a:off x="943207" y="4559610"/>
            <a:ext cx="174921" cy="233228"/>
          </a:xfrm>
          <a:prstGeom prst="rect">
            <a:avLst/>
          </a:prstGeom>
          <a:noFill/>
          <a:ln/>
        </p:spPr>
        <p:txBody>
          <a:bodyPr wrap="square" lIns="0" tIns="0" rIns="0" bIns="0" rtlCol="0" anchor="ctr"/>
          <a:lstStyle/>
          <a:p>
            <a:pPr>
              <a:lnSpc>
                <a:spcPct val="120000"/>
              </a:lnSpc>
            </a:pPr>
            <a:r>
              <a:rPr lang="en-US" sz="1286" b="1" dirty="0">
                <a:solidFill>
                  <a:srgbClr val="B38B59"/>
                </a:solidFill>
                <a:latin typeface="MiSans" pitchFamily="34" charset="0"/>
                <a:ea typeface="MiSans" pitchFamily="34" charset="-122"/>
                <a:cs typeface="MiSans" pitchFamily="34" charset="-120"/>
              </a:rPr>
              <a:t>3</a:t>
            </a:r>
            <a:endParaRPr lang="en-US" sz="1600" dirty="0"/>
          </a:p>
        </p:txBody>
      </p:sp>
      <p:sp>
        <p:nvSpPr>
          <p:cNvPr id="22" name="Text 20"/>
          <p:cNvSpPr/>
          <p:nvPr/>
        </p:nvSpPr>
        <p:spPr>
          <a:xfrm>
            <a:off x="1271093" y="4512964"/>
            <a:ext cx="734669" cy="326519"/>
          </a:xfrm>
          <a:prstGeom prst="rect">
            <a:avLst/>
          </a:prstGeom>
          <a:noFill/>
          <a:ln/>
        </p:spPr>
        <p:txBody>
          <a:bodyPr wrap="square" lIns="0" tIns="0" rIns="0" bIns="0" rtlCol="0" anchor="ctr"/>
          <a:lstStyle/>
          <a:p>
            <a:pPr>
              <a:lnSpc>
                <a:spcPct val="130000"/>
              </a:lnSpc>
            </a:pPr>
            <a:r>
              <a:rPr lang="en-US" sz="1653" b="1" dirty="0">
                <a:solidFill>
                  <a:srgbClr val="E0E2E4"/>
                </a:solidFill>
                <a:latin typeface="MiSans" pitchFamily="34" charset="0"/>
                <a:ea typeface="MiSans" pitchFamily="34" charset="-122"/>
                <a:cs typeface="MiSans" pitchFamily="34" charset="-120"/>
              </a:rPr>
              <a:t>隔离层</a:t>
            </a:r>
            <a:endParaRPr lang="en-US" sz="1600" dirty="0"/>
          </a:p>
        </p:txBody>
      </p:sp>
      <p:sp>
        <p:nvSpPr>
          <p:cNvPr id="23" name="Text 21"/>
          <p:cNvSpPr/>
          <p:nvPr/>
        </p:nvSpPr>
        <p:spPr>
          <a:xfrm>
            <a:off x="804637" y="4956098"/>
            <a:ext cx="6973521" cy="233228"/>
          </a:xfrm>
          <a:prstGeom prst="rect">
            <a:avLst/>
          </a:prstGeom>
          <a:noFill/>
          <a:ln/>
        </p:spPr>
        <p:txBody>
          <a:bodyPr wrap="square" lIns="0" tIns="0" rIns="0" bIns="0" rtlCol="0" anchor="ctr"/>
          <a:lstStyle/>
          <a:p>
            <a:pPr>
              <a:lnSpc>
                <a:spcPct val="120000"/>
              </a:lnSpc>
            </a:pPr>
            <a:r>
              <a:rPr lang="en-US" sz="1286" dirty="0">
                <a:solidFill>
                  <a:srgbClr val="E0E2E4">
                    <a:alpha val="80000"/>
                  </a:srgbClr>
                </a:solidFill>
                <a:latin typeface="MiSans" pitchFamily="34" charset="0"/>
                <a:ea typeface="MiSans" pitchFamily="34" charset="-122"/>
                <a:cs typeface="MiSans" pitchFamily="34" charset="-120"/>
              </a:rPr>
              <a:t>利用Docker的容器技术实现进程、网络、文件系统的完全隔离,提供接近虚拟机的隔离效果</a:t>
            </a:r>
            <a:endParaRPr lang="en-US" sz="1600" dirty="0"/>
          </a:p>
        </p:txBody>
      </p:sp>
      <p:sp>
        <p:nvSpPr>
          <p:cNvPr id="24" name="Shape 22"/>
          <p:cNvSpPr/>
          <p:nvPr/>
        </p:nvSpPr>
        <p:spPr>
          <a:xfrm>
            <a:off x="664700" y="5422554"/>
            <a:ext cx="7171765" cy="979558"/>
          </a:xfrm>
          <a:custGeom>
            <a:avLst/>
            <a:gdLst/>
            <a:ahLst/>
            <a:cxnLst/>
            <a:rect l="l" t="t" r="r" b="b"/>
            <a:pathLst>
              <a:path w="7171765" h="979558">
                <a:moveTo>
                  <a:pt x="93293" y="0"/>
                </a:moveTo>
                <a:lnTo>
                  <a:pt x="7078472" y="0"/>
                </a:lnTo>
                <a:cubicBezTo>
                  <a:pt x="7129961" y="0"/>
                  <a:pt x="7171765" y="41803"/>
                  <a:pt x="7171765" y="93293"/>
                </a:cubicBezTo>
                <a:lnTo>
                  <a:pt x="7171765" y="886265"/>
                </a:lnTo>
                <a:cubicBezTo>
                  <a:pt x="7171765" y="937755"/>
                  <a:pt x="7129961" y="979558"/>
                  <a:pt x="7078472" y="979558"/>
                </a:cubicBezTo>
                <a:lnTo>
                  <a:pt x="93293" y="979558"/>
                </a:lnTo>
                <a:cubicBezTo>
                  <a:pt x="41803" y="979558"/>
                  <a:pt x="0" y="937755"/>
                  <a:pt x="0" y="886265"/>
                </a:cubicBezTo>
                <a:lnTo>
                  <a:pt x="0" y="93293"/>
                </a:lnTo>
                <a:cubicBezTo>
                  <a:pt x="0" y="41803"/>
                  <a:pt x="41803" y="0"/>
                  <a:pt x="93293" y="0"/>
                </a:cubicBezTo>
                <a:close/>
              </a:path>
            </a:pathLst>
          </a:custGeom>
          <a:solidFill>
            <a:srgbClr val="1A1D21">
              <a:alpha val="50196"/>
            </a:srgbClr>
          </a:solidFill>
          <a:ln/>
        </p:spPr>
        <p:txBody>
          <a:bodyPr/>
          <a:lstStyle/>
          <a:p>
            <a:endParaRPr lang="zh-CN" altLang="en-US"/>
          </a:p>
        </p:txBody>
      </p:sp>
      <p:sp>
        <p:nvSpPr>
          <p:cNvPr id="25" name="Shape 23"/>
          <p:cNvSpPr/>
          <p:nvPr/>
        </p:nvSpPr>
        <p:spPr>
          <a:xfrm>
            <a:off x="804637" y="5562491"/>
            <a:ext cx="373165" cy="373165"/>
          </a:xfrm>
          <a:custGeom>
            <a:avLst/>
            <a:gdLst/>
            <a:ahLst/>
            <a:cxnLst/>
            <a:rect l="l" t="t" r="r" b="b"/>
            <a:pathLst>
              <a:path w="373165" h="373165">
                <a:moveTo>
                  <a:pt x="186582" y="0"/>
                </a:moveTo>
                <a:lnTo>
                  <a:pt x="186582" y="0"/>
                </a:lnTo>
                <a:cubicBezTo>
                  <a:pt x="289629" y="0"/>
                  <a:pt x="373165" y="83536"/>
                  <a:pt x="373165" y="186582"/>
                </a:cubicBezTo>
                <a:lnTo>
                  <a:pt x="373165" y="186582"/>
                </a:lnTo>
                <a:cubicBezTo>
                  <a:pt x="373165" y="289629"/>
                  <a:pt x="289629" y="373165"/>
                  <a:pt x="186582" y="373165"/>
                </a:cubicBezTo>
                <a:lnTo>
                  <a:pt x="186582" y="373165"/>
                </a:lnTo>
                <a:cubicBezTo>
                  <a:pt x="83536" y="373165"/>
                  <a:pt x="0" y="289629"/>
                  <a:pt x="0" y="186582"/>
                </a:cubicBezTo>
                <a:lnTo>
                  <a:pt x="0" y="186582"/>
                </a:lnTo>
                <a:cubicBezTo>
                  <a:pt x="0" y="83536"/>
                  <a:pt x="83536" y="0"/>
                  <a:pt x="186582" y="0"/>
                </a:cubicBezTo>
                <a:close/>
              </a:path>
            </a:pathLst>
          </a:custGeom>
          <a:solidFill>
            <a:srgbClr val="B38B59">
              <a:alpha val="30196"/>
            </a:srgbClr>
          </a:solidFill>
          <a:ln/>
        </p:spPr>
        <p:txBody>
          <a:bodyPr/>
          <a:lstStyle/>
          <a:p>
            <a:endParaRPr lang="zh-CN" altLang="en-US"/>
          </a:p>
        </p:txBody>
      </p:sp>
      <p:sp>
        <p:nvSpPr>
          <p:cNvPr id="26" name="Text 24"/>
          <p:cNvSpPr/>
          <p:nvPr/>
        </p:nvSpPr>
        <p:spPr>
          <a:xfrm>
            <a:off x="943298" y="5632459"/>
            <a:ext cx="174921" cy="233228"/>
          </a:xfrm>
          <a:prstGeom prst="rect">
            <a:avLst/>
          </a:prstGeom>
          <a:noFill/>
          <a:ln/>
        </p:spPr>
        <p:txBody>
          <a:bodyPr wrap="square" lIns="0" tIns="0" rIns="0" bIns="0" rtlCol="0" anchor="ctr"/>
          <a:lstStyle/>
          <a:p>
            <a:pPr>
              <a:lnSpc>
                <a:spcPct val="120000"/>
              </a:lnSpc>
            </a:pPr>
            <a:r>
              <a:rPr lang="en-US" sz="1286" b="1" dirty="0">
                <a:solidFill>
                  <a:srgbClr val="B38B59"/>
                </a:solidFill>
                <a:latin typeface="MiSans" pitchFamily="34" charset="0"/>
                <a:ea typeface="MiSans" pitchFamily="34" charset="-122"/>
                <a:cs typeface="MiSans" pitchFamily="34" charset="-120"/>
              </a:rPr>
              <a:t>4</a:t>
            </a:r>
            <a:endParaRPr lang="en-US" sz="1600" dirty="0"/>
          </a:p>
        </p:txBody>
      </p:sp>
      <p:sp>
        <p:nvSpPr>
          <p:cNvPr id="27" name="Text 25"/>
          <p:cNvSpPr/>
          <p:nvPr/>
        </p:nvSpPr>
        <p:spPr>
          <a:xfrm>
            <a:off x="1271093" y="5585813"/>
            <a:ext cx="734669" cy="326519"/>
          </a:xfrm>
          <a:prstGeom prst="rect">
            <a:avLst/>
          </a:prstGeom>
          <a:noFill/>
          <a:ln/>
        </p:spPr>
        <p:txBody>
          <a:bodyPr wrap="square" lIns="0" tIns="0" rIns="0" bIns="0" rtlCol="0" anchor="ctr"/>
          <a:lstStyle/>
          <a:p>
            <a:pPr>
              <a:lnSpc>
                <a:spcPct val="130000"/>
              </a:lnSpc>
            </a:pPr>
            <a:r>
              <a:rPr lang="en-US" sz="1653" b="1" dirty="0">
                <a:solidFill>
                  <a:srgbClr val="E0E2E4"/>
                </a:solidFill>
                <a:latin typeface="MiSans" pitchFamily="34" charset="0"/>
                <a:ea typeface="MiSans" pitchFamily="34" charset="-122"/>
                <a:cs typeface="MiSans" pitchFamily="34" charset="-120"/>
              </a:rPr>
              <a:t>监控层</a:t>
            </a:r>
            <a:endParaRPr lang="en-US" sz="1600" dirty="0"/>
          </a:p>
        </p:txBody>
      </p:sp>
      <p:sp>
        <p:nvSpPr>
          <p:cNvPr id="28" name="Text 26"/>
          <p:cNvSpPr/>
          <p:nvPr/>
        </p:nvSpPr>
        <p:spPr>
          <a:xfrm>
            <a:off x="804637" y="6028947"/>
            <a:ext cx="6973521" cy="233228"/>
          </a:xfrm>
          <a:prstGeom prst="rect">
            <a:avLst/>
          </a:prstGeom>
          <a:noFill/>
          <a:ln/>
        </p:spPr>
        <p:txBody>
          <a:bodyPr wrap="square" lIns="0" tIns="0" rIns="0" bIns="0" rtlCol="0" anchor="ctr"/>
          <a:lstStyle/>
          <a:p>
            <a:pPr>
              <a:lnSpc>
                <a:spcPct val="120000"/>
              </a:lnSpc>
            </a:pPr>
            <a:r>
              <a:rPr lang="en-US" sz="1286" dirty="0">
                <a:solidFill>
                  <a:srgbClr val="E0E2E4">
                    <a:alpha val="80000"/>
                  </a:srgbClr>
                </a:solidFill>
                <a:latin typeface="MiSans" pitchFamily="34" charset="0"/>
                <a:ea typeface="MiSans" pitchFamily="34" charset="-122"/>
                <a:cs typeface="MiSans" pitchFamily="34" charset="-120"/>
              </a:rPr>
              <a:t>通过Docker统计接口收集容器运行状态和资源使用情况,支持实时监控和告警</a:t>
            </a:r>
            <a:endParaRPr lang="en-US" sz="1600" dirty="0"/>
          </a:p>
        </p:txBody>
      </p:sp>
      <p:sp>
        <p:nvSpPr>
          <p:cNvPr id="29" name="Shape 27"/>
          <p:cNvSpPr/>
          <p:nvPr/>
        </p:nvSpPr>
        <p:spPr>
          <a:xfrm>
            <a:off x="8225755" y="1545136"/>
            <a:ext cx="7556591" cy="3253532"/>
          </a:xfrm>
          <a:custGeom>
            <a:avLst/>
            <a:gdLst/>
            <a:ahLst/>
            <a:cxnLst/>
            <a:rect l="l" t="t" r="r" b="b"/>
            <a:pathLst>
              <a:path w="7556591" h="3253532">
                <a:moveTo>
                  <a:pt x="93279" y="0"/>
                </a:moveTo>
                <a:lnTo>
                  <a:pt x="7463312" y="0"/>
                </a:lnTo>
                <a:cubicBezTo>
                  <a:pt x="7514829" y="0"/>
                  <a:pt x="7556591" y="41762"/>
                  <a:pt x="7556591" y="93279"/>
                </a:cubicBezTo>
                <a:lnTo>
                  <a:pt x="7556591" y="3160254"/>
                </a:lnTo>
                <a:cubicBezTo>
                  <a:pt x="7556591" y="3211770"/>
                  <a:pt x="7514829" y="3253532"/>
                  <a:pt x="7463312" y="3253532"/>
                </a:cubicBezTo>
                <a:lnTo>
                  <a:pt x="93279" y="3253532"/>
                </a:lnTo>
                <a:cubicBezTo>
                  <a:pt x="41762" y="3253532"/>
                  <a:pt x="0" y="3211770"/>
                  <a:pt x="0" y="3160254"/>
                </a:cubicBezTo>
                <a:lnTo>
                  <a:pt x="0" y="93279"/>
                </a:lnTo>
                <a:cubicBezTo>
                  <a:pt x="0" y="41797"/>
                  <a:pt x="41797" y="0"/>
                  <a:pt x="93279"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30" name="Shape 28"/>
          <p:cNvSpPr/>
          <p:nvPr/>
        </p:nvSpPr>
        <p:spPr>
          <a:xfrm>
            <a:off x="8447322" y="1784195"/>
            <a:ext cx="233228" cy="233228"/>
          </a:xfrm>
          <a:custGeom>
            <a:avLst/>
            <a:gdLst/>
            <a:ahLst/>
            <a:cxnLst/>
            <a:rect l="l" t="t" r="r" b="b"/>
            <a:pathLst>
              <a:path w="233228" h="233228">
                <a:moveTo>
                  <a:pt x="30019" y="104087"/>
                </a:moveTo>
                <a:cubicBezTo>
                  <a:pt x="36077" y="61723"/>
                  <a:pt x="72565" y="29154"/>
                  <a:pt x="116614" y="29154"/>
                </a:cubicBezTo>
                <a:cubicBezTo>
                  <a:pt x="140757" y="29154"/>
                  <a:pt x="162622" y="38947"/>
                  <a:pt x="178474" y="54754"/>
                </a:cubicBezTo>
                <a:cubicBezTo>
                  <a:pt x="178565" y="54845"/>
                  <a:pt x="178656" y="54936"/>
                  <a:pt x="178747" y="55027"/>
                </a:cubicBezTo>
                <a:lnTo>
                  <a:pt x="182209" y="58307"/>
                </a:lnTo>
                <a:lnTo>
                  <a:pt x="160390" y="58307"/>
                </a:lnTo>
                <a:cubicBezTo>
                  <a:pt x="152327" y="58307"/>
                  <a:pt x="145813" y="64821"/>
                  <a:pt x="145813" y="72884"/>
                </a:cubicBezTo>
                <a:cubicBezTo>
                  <a:pt x="145813" y="80947"/>
                  <a:pt x="152327" y="87461"/>
                  <a:pt x="160390" y="87461"/>
                </a:cubicBezTo>
                <a:lnTo>
                  <a:pt x="218697" y="87461"/>
                </a:lnTo>
                <a:cubicBezTo>
                  <a:pt x="226760" y="87461"/>
                  <a:pt x="233274" y="80947"/>
                  <a:pt x="233274" y="72884"/>
                </a:cubicBezTo>
                <a:lnTo>
                  <a:pt x="233274" y="14577"/>
                </a:lnTo>
                <a:cubicBezTo>
                  <a:pt x="233274" y="6514"/>
                  <a:pt x="226760" y="0"/>
                  <a:pt x="218697" y="0"/>
                </a:cubicBezTo>
                <a:cubicBezTo>
                  <a:pt x="210634" y="0"/>
                  <a:pt x="204120" y="6514"/>
                  <a:pt x="204120" y="14577"/>
                </a:cubicBezTo>
                <a:lnTo>
                  <a:pt x="204120" y="38902"/>
                </a:lnTo>
                <a:lnTo>
                  <a:pt x="198973" y="34028"/>
                </a:lnTo>
                <a:cubicBezTo>
                  <a:pt x="177882" y="13028"/>
                  <a:pt x="148728" y="0"/>
                  <a:pt x="116614" y="0"/>
                </a:cubicBezTo>
                <a:cubicBezTo>
                  <a:pt x="57852" y="0"/>
                  <a:pt x="9247" y="43457"/>
                  <a:pt x="1184" y="99987"/>
                </a:cubicBezTo>
                <a:cubicBezTo>
                  <a:pt x="46" y="107959"/>
                  <a:pt x="5557" y="115339"/>
                  <a:pt x="13529" y="116477"/>
                </a:cubicBezTo>
                <a:cubicBezTo>
                  <a:pt x="21501" y="117616"/>
                  <a:pt x="28880" y="112059"/>
                  <a:pt x="30019" y="104133"/>
                </a:cubicBezTo>
                <a:close/>
                <a:moveTo>
                  <a:pt x="232044" y="133241"/>
                </a:moveTo>
                <a:cubicBezTo>
                  <a:pt x="233183" y="125269"/>
                  <a:pt x="227625" y="117890"/>
                  <a:pt x="219699" y="116751"/>
                </a:cubicBezTo>
                <a:cubicBezTo>
                  <a:pt x="211773" y="115612"/>
                  <a:pt x="204348" y="121169"/>
                  <a:pt x="203209" y="129095"/>
                </a:cubicBezTo>
                <a:cubicBezTo>
                  <a:pt x="197151" y="171459"/>
                  <a:pt x="160663" y="204029"/>
                  <a:pt x="116614" y="204029"/>
                </a:cubicBezTo>
                <a:cubicBezTo>
                  <a:pt x="92471" y="204029"/>
                  <a:pt x="70606" y="194235"/>
                  <a:pt x="54754" y="178429"/>
                </a:cubicBezTo>
                <a:cubicBezTo>
                  <a:pt x="54663" y="178338"/>
                  <a:pt x="54572" y="178246"/>
                  <a:pt x="54481" y="178155"/>
                </a:cubicBezTo>
                <a:lnTo>
                  <a:pt x="51019" y="174876"/>
                </a:lnTo>
                <a:lnTo>
                  <a:pt x="72838" y="174876"/>
                </a:lnTo>
                <a:cubicBezTo>
                  <a:pt x="80901" y="174876"/>
                  <a:pt x="87415" y="168362"/>
                  <a:pt x="87415" y="160299"/>
                </a:cubicBezTo>
                <a:cubicBezTo>
                  <a:pt x="87415" y="152236"/>
                  <a:pt x="80901" y="145722"/>
                  <a:pt x="72838" y="145722"/>
                </a:cubicBezTo>
                <a:lnTo>
                  <a:pt x="14577" y="145768"/>
                </a:lnTo>
                <a:cubicBezTo>
                  <a:pt x="10705" y="145768"/>
                  <a:pt x="6970" y="147316"/>
                  <a:pt x="4236" y="150095"/>
                </a:cubicBezTo>
                <a:cubicBezTo>
                  <a:pt x="1503" y="152874"/>
                  <a:pt x="-46" y="156563"/>
                  <a:pt x="0" y="160481"/>
                </a:cubicBezTo>
                <a:lnTo>
                  <a:pt x="456" y="218332"/>
                </a:lnTo>
                <a:cubicBezTo>
                  <a:pt x="501" y="226395"/>
                  <a:pt x="7106" y="232864"/>
                  <a:pt x="15169" y="232773"/>
                </a:cubicBezTo>
                <a:cubicBezTo>
                  <a:pt x="23232" y="232681"/>
                  <a:pt x="29700" y="226122"/>
                  <a:pt x="29609" y="218059"/>
                </a:cubicBezTo>
                <a:lnTo>
                  <a:pt x="29427" y="194600"/>
                </a:lnTo>
                <a:lnTo>
                  <a:pt x="34301" y="199201"/>
                </a:lnTo>
                <a:cubicBezTo>
                  <a:pt x="55392" y="220200"/>
                  <a:pt x="84500" y="233228"/>
                  <a:pt x="116614" y="233228"/>
                </a:cubicBezTo>
                <a:cubicBezTo>
                  <a:pt x="175377" y="233228"/>
                  <a:pt x="223981" y="189771"/>
                  <a:pt x="232044" y="133241"/>
                </a:cubicBezTo>
                <a:close/>
              </a:path>
            </a:pathLst>
          </a:custGeom>
          <a:solidFill>
            <a:srgbClr val="3C8082"/>
          </a:solidFill>
          <a:ln/>
        </p:spPr>
        <p:txBody>
          <a:bodyPr/>
          <a:lstStyle/>
          <a:p>
            <a:endParaRPr lang="zh-CN" altLang="en-US"/>
          </a:p>
        </p:txBody>
      </p:sp>
      <p:sp>
        <p:nvSpPr>
          <p:cNvPr id="31" name="Text 29"/>
          <p:cNvSpPr/>
          <p:nvPr/>
        </p:nvSpPr>
        <p:spPr>
          <a:xfrm>
            <a:off x="8709704" y="1737549"/>
            <a:ext cx="6996844" cy="326519"/>
          </a:xfrm>
          <a:prstGeom prst="rect">
            <a:avLst/>
          </a:prstGeom>
          <a:noFill/>
          <a:ln/>
        </p:spPr>
        <p:txBody>
          <a:bodyPr wrap="square" lIns="0" tIns="0" rIns="0" bIns="0" rtlCol="0" anchor="ctr"/>
          <a:lstStyle/>
          <a:p>
            <a:pPr>
              <a:lnSpc>
                <a:spcPct val="120000"/>
              </a:lnSpc>
            </a:pPr>
            <a:r>
              <a:rPr lang="en-US" sz="1836" b="1" dirty="0">
                <a:solidFill>
                  <a:srgbClr val="E0E2E4"/>
                </a:solidFill>
                <a:latin typeface="MiSans" pitchFamily="34" charset="0"/>
                <a:ea typeface="MiSans" pitchFamily="34" charset="-122"/>
                <a:cs typeface="MiSans" pitchFamily="34" charset="-120"/>
              </a:rPr>
              <a:t>镜像管理与运行时环境</a:t>
            </a:r>
            <a:endParaRPr lang="en-US" sz="1600" dirty="0"/>
          </a:p>
        </p:txBody>
      </p:sp>
      <p:sp>
        <p:nvSpPr>
          <p:cNvPr id="32" name="Shape 30"/>
          <p:cNvSpPr/>
          <p:nvPr/>
        </p:nvSpPr>
        <p:spPr>
          <a:xfrm>
            <a:off x="8418169" y="2204006"/>
            <a:ext cx="7171765" cy="1515983"/>
          </a:xfrm>
          <a:custGeom>
            <a:avLst/>
            <a:gdLst/>
            <a:ahLst/>
            <a:cxnLst/>
            <a:rect l="l" t="t" r="r" b="b"/>
            <a:pathLst>
              <a:path w="7171765" h="1515983">
                <a:moveTo>
                  <a:pt x="93294" y="0"/>
                </a:moveTo>
                <a:lnTo>
                  <a:pt x="7078471" y="0"/>
                </a:lnTo>
                <a:cubicBezTo>
                  <a:pt x="7129996" y="0"/>
                  <a:pt x="7171765" y="41769"/>
                  <a:pt x="7171765" y="93294"/>
                </a:cubicBezTo>
                <a:lnTo>
                  <a:pt x="7171765" y="1422689"/>
                </a:lnTo>
                <a:cubicBezTo>
                  <a:pt x="7171765" y="1474214"/>
                  <a:pt x="7129996" y="1515983"/>
                  <a:pt x="7078471" y="1515983"/>
                </a:cubicBezTo>
                <a:lnTo>
                  <a:pt x="93294" y="1515983"/>
                </a:lnTo>
                <a:cubicBezTo>
                  <a:pt x="41769" y="1515983"/>
                  <a:pt x="0" y="1474214"/>
                  <a:pt x="0" y="1422689"/>
                </a:cubicBezTo>
                <a:lnTo>
                  <a:pt x="0" y="93294"/>
                </a:lnTo>
                <a:cubicBezTo>
                  <a:pt x="0" y="41769"/>
                  <a:pt x="41769" y="0"/>
                  <a:pt x="93294" y="0"/>
                </a:cubicBezTo>
                <a:close/>
              </a:path>
            </a:pathLst>
          </a:custGeom>
          <a:solidFill>
            <a:srgbClr val="1A1D21">
              <a:alpha val="50196"/>
            </a:srgbClr>
          </a:solidFill>
          <a:ln/>
        </p:spPr>
        <p:txBody>
          <a:bodyPr/>
          <a:lstStyle/>
          <a:p>
            <a:endParaRPr lang="zh-CN" altLang="en-US"/>
          </a:p>
        </p:txBody>
      </p:sp>
      <p:sp>
        <p:nvSpPr>
          <p:cNvPr id="33" name="Text 31"/>
          <p:cNvSpPr/>
          <p:nvPr/>
        </p:nvSpPr>
        <p:spPr>
          <a:xfrm>
            <a:off x="8511460" y="2297297"/>
            <a:ext cx="7078473" cy="279874"/>
          </a:xfrm>
          <a:prstGeom prst="rect">
            <a:avLst/>
          </a:prstGeom>
          <a:noFill/>
          <a:ln/>
        </p:spPr>
        <p:txBody>
          <a:bodyPr wrap="square" lIns="0" tIns="0" rIns="0" bIns="0" rtlCol="0" anchor="ctr"/>
          <a:lstStyle/>
          <a:p>
            <a:pPr>
              <a:lnSpc>
                <a:spcPct val="130000"/>
              </a:lnSpc>
            </a:pPr>
            <a:r>
              <a:rPr lang="en-US" sz="1469" b="1" dirty="0">
                <a:solidFill>
                  <a:srgbClr val="E0E2E4"/>
                </a:solidFill>
                <a:latin typeface="MiSans" pitchFamily="34" charset="0"/>
                <a:ea typeface="MiSans" pitchFamily="34" charset="-122"/>
                <a:cs typeface="MiSans" pitchFamily="34" charset="-120"/>
              </a:rPr>
              <a:t>分层管理策略</a:t>
            </a:r>
            <a:endParaRPr lang="en-US" sz="1600" dirty="0"/>
          </a:p>
        </p:txBody>
      </p:sp>
      <p:sp>
        <p:nvSpPr>
          <p:cNvPr id="34" name="Text 32"/>
          <p:cNvSpPr/>
          <p:nvPr/>
        </p:nvSpPr>
        <p:spPr>
          <a:xfrm>
            <a:off x="8511460" y="2623816"/>
            <a:ext cx="7066812" cy="233228"/>
          </a:xfrm>
          <a:prstGeom prst="rect">
            <a:avLst/>
          </a:prstGeom>
          <a:noFill/>
          <a:ln/>
        </p:spPr>
        <p:txBody>
          <a:bodyPr wrap="square" lIns="0" tIns="0" rIns="0" bIns="0" rtlCol="0" anchor="ctr"/>
          <a:lstStyle/>
          <a:p>
            <a:pPr>
              <a:lnSpc>
                <a:spcPct val="120000"/>
              </a:lnSpc>
            </a:pPr>
            <a:r>
              <a:rPr lang="en-US" sz="1286" dirty="0">
                <a:solidFill>
                  <a:srgbClr val="E0E2E4">
                    <a:alpha val="70000"/>
                  </a:srgbClr>
                </a:solidFill>
                <a:latin typeface="MiSans" pitchFamily="34" charset="0"/>
                <a:ea typeface="MiSans" pitchFamily="34" charset="-122"/>
                <a:cs typeface="MiSans" pitchFamily="34" charset="-120"/>
              </a:rPr>
              <a:t>• </a:t>
            </a:r>
            <a:r>
              <a:rPr lang="en-US" sz="1286" b="1" dirty="0">
                <a:solidFill>
                  <a:srgbClr val="E0E2E4"/>
                </a:solidFill>
                <a:latin typeface="MiSans" pitchFamily="34" charset="0"/>
                <a:ea typeface="MiSans" pitchFamily="34" charset="-122"/>
                <a:cs typeface="MiSans" pitchFamily="34" charset="-120"/>
              </a:rPr>
              <a:t>基础镜像层:</a:t>
            </a:r>
            <a:r>
              <a:rPr lang="en-US" sz="1286" dirty="0">
                <a:solidFill>
                  <a:srgbClr val="E0E2E4">
                    <a:alpha val="70000"/>
                  </a:srgbClr>
                </a:solidFill>
                <a:latin typeface="MiSans" pitchFamily="34" charset="0"/>
                <a:ea typeface="MiSans" pitchFamily="34" charset="-122"/>
                <a:cs typeface="MiSans" pitchFamily="34" charset="-120"/>
              </a:rPr>
              <a:t> 操作系统和基础运行时环境</a:t>
            </a:r>
            <a:endParaRPr lang="en-US" sz="1600" dirty="0"/>
          </a:p>
        </p:txBody>
      </p:sp>
      <p:sp>
        <p:nvSpPr>
          <p:cNvPr id="35" name="Text 33"/>
          <p:cNvSpPr/>
          <p:nvPr/>
        </p:nvSpPr>
        <p:spPr>
          <a:xfrm>
            <a:off x="8511460" y="2880367"/>
            <a:ext cx="7066812" cy="233228"/>
          </a:xfrm>
          <a:prstGeom prst="rect">
            <a:avLst/>
          </a:prstGeom>
          <a:noFill/>
          <a:ln/>
        </p:spPr>
        <p:txBody>
          <a:bodyPr wrap="square" lIns="0" tIns="0" rIns="0" bIns="0" rtlCol="0" anchor="ctr"/>
          <a:lstStyle/>
          <a:p>
            <a:pPr>
              <a:lnSpc>
                <a:spcPct val="120000"/>
              </a:lnSpc>
            </a:pPr>
            <a:r>
              <a:rPr lang="en-US" sz="1286" dirty="0">
                <a:solidFill>
                  <a:srgbClr val="E0E2E4">
                    <a:alpha val="70000"/>
                  </a:srgbClr>
                </a:solidFill>
                <a:latin typeface="MiSans" pitchFamily="34" charset="0"/>
                <a:ea typeface="MiSans" pitchFamily="34" charset="-122"/>
                <a:cs typeface="MiSans" pitchFamily="34" charset="-120"/>
              </a:rPr>
              <a:t>• </a:t>
            </a:r>
            <a:r>
              <a:rPr lang="en-US" sz="1286" b="1" dirty="0">
                <a:solidFill>
                  <a:srgbClr val="E0E2E4"/>
                </a:solidFill>
                <a:latin typeface="MiSans" pitchFamily="34" charset="0"/>
                <a:ea typeface="MiSans" pitchFamily="34" charset="-122"/>
                <a:cs typeface="MiSans" pitchFamily="34" charset="-120"/>
              </a:rPr>
              <a:t>应用镜像层:</a:t>
            </a:r>
            <a:r>
              <a:rPr lang="en-US" sz="1286" dirty="0">
                <a:solidFill>
                  <a:srgbClr val="E0E2E4">
                    <a:alpha val="70000"/>
                  </a:srgbClr>
                </a:solidFill>
                <a:latin typeface="MiSans" pitchFamily="34" charset="0"/>
                <a:ea typeface="MiSans" pitchFamily="34" charset="-122"/>
                <a:cs typeface="MiSans" pitchFamily="34" charset="-120"/>
              </a:rPr>
              <a:t> 特定应用程序和依赖库</a:t>
            </a:r>
            <a:endParaRPr lang="en-US" sz="1600" dirty="0"/>
          </a:p>
        </p:txBody>
      </p:sp>
      <p:sp>
        <p:nvSpPr>
          <p:cNvPr id="36" name="Text 34"/>
          <p:cNvSpPr/>
          <p:nvPr/>
        </p:nvSpPr>
        <p:spPr>
          <a:xfrm>
            <a:off x="8511460" y="3136918"/>
            <a:ext cx="7066812" cy="233228"/>
          </a:xfrm>
          <a:prstGeom prst="rect">
            <a:avLst/>
          </a:prstGeom>
          <a:noFill/>
          <a:ln/>
        </p:spPr>
        <p:txBody>
          <a:bodyPr wrap="square" lIns="0" tIns="0" rIns="0" bIns="0" rtlCol="0" anchor="ctr"/>
          <a:lstStyle/>
          <a:p>
            <a:pPr>
              <a:lnSpc>
                <a:spcPct val="120000"/>
              </a:lnSpc>
            </a:pPr>
            <a:r>
              <a:rPr lang="en-US" sz="1286" dirty="0">
                <a:solidFill>
                  <a:srgbClr val="E0E2E4">
                    <a:alpha val="70000"/>
                  </a:srgbClr>
                </a:solidFill>
                <a:latin typeface="MiSans" pitchFamily="34" charset="0"/>
                <a:ea typeface="MiSans" pitchFamily="34" charset="-122"/>
                <a:cs typeface="MiSans" pitchFamily="34" charset="-120"/>
              </a:rPr>
              <a:t>• </a:t>
            </a:r>
            <a:r>
              <a:rPr lang="en-US" sz="1286" b="1" dirty="0">
                <a:solidFill>
                  <a:srgbClr val="E0E2E4"/>
                </a:solidFill>
                <a:latin typeface="MiSans" pitchFamily="34" charset="0"/>
                <a:ea typeface="MiSans" pitchFamily="34" charset="-122"/>
                <a:cs typeface="MiSans" pitchFamily="34" charset="-120"/>
              </a:rPr>
              <a:t>配置镜像层:</a:t>
            </a:r>
            <a:r>
              <a:rPr lang="en-US" sz="1286" dirty="0">
                <a:solidFill>
                  <a:srgbClr val="E0E2E4">
                    <a:alpha val="70000"/>
                  </a:srgbClr>
                </a:solidFill>
                <a:latin typeface="MiSans" pitchFamily="34" charset="0"/>
                <a:ea typeface="MiSans" pitchFamily="34" charset="-122"/>
                <a:cs typeface="MiSans" pitchFamily="34" charset="-120"/>
              </a:rPr>
              <a:t> 应用配置和环境变量</a:t>
            </a:r>
            <a:endParaRPr lang="en-US" sz="1600" dirty="0"/>
          </a:p>
        </p:txBody>
      </p:sp>
      <p:sp>
        <p:nvSpPr>
          <p:cNvPr id="37" name="Text 35"/>
          <p:cNvSpPr/>
          <p:nvPr/>
        </p:nvSpPr>
        <p:spPr>
          <a:xfrm>
            <a:off x="8511460" y="3393469"/>
            <a:ext cx="7066812" cy="233228"/>
          </a:xfrm>
          <a:prstGeom prst="rect">
            <a:avLst/>
          </a:prstGeom>
          <a:noFill/>
          <a:ln/>
        </p:spPr>
        <p:txBody>
          <a:bodyPr wrap="square" lIns="0" tIns="0" rIns="0" bIns="0" rtlCol="0" anchor="ctr"/>
          <a:lstStyle/>
          <a:p>
            <a:pPr>
              <a:lnSpc>
                <a:spcPct val="120000"/>
              </a:lnSpc>
            </a:pPr>
            <a:r>
              <a:rPr lang="en-US" sz="1286" dirty="0">
                <a:solidFill>
                  <a:srgbClr val="E0E2E4">
                    <a:alpha val="70000"/>
                  </a:srgbClr>
                </a:solidFill>
                <a:latin typeface="MiSans" pitchFamily="34" charset="0"/>
                <a:ea typeface="MiSans" pitchFamily="34" charset="-122"/>
                <a:cs typeface="MiSans" pitchFamily="34" charset="-120"/>
              </a:rPr>
              <a:t>• </a:t>
            </a:r>
            <a:r>
              <a:rPr lang="en-US" sz="1286" b="1" dirty="0">
                <a:solidFill>
                  <a:srgbClr val="E0E2E4"/>
                </a:solidFill>
                <a:latin typeface="MiSans" pitchFamily="34" charset="0"/>
                <a:ea typeface="MiSans" pitchFamily="34" charset="-122"/>
                <a:cs typeface="MiSans" pitchFamily="34" charset="-120"/>
              </a:rPr>
              <a:t>数据镜像层:</a:t>
            </a:r>
            <a:r>
              <a:rPr lang="en-US" sz="1286" dirty="0">
                <a:solidFill>
                  <a:srgbClr val="E0E2E4">
                    <a:alpha val="70000"/>
                  </a:srgbClr>
                </a:solidFill>
                <a:latin typeface="MiSans" pitchFamily="34" charset="0"/>
                <a:ea typeface="MiSans" pitchFamily="34" charset="-122"/>
                <a:cs typeface="MiSans" pitchFamily="34" charset="-120"/>
              </a:rPr>
              <a:t> 持久化数据和临时文件</a:t>
            </a:r>
            <a:endParaRPr lang="en-US" sz="1600" dirty="0"/>
          </a:p>
        </p:txBody>
      </p:sp>
      <p:sp>
        <p:nvSpPr>
          <p:cNvPr id="38" name="Shape 36"/>
          <p:cNvSpPr/>
          <p:nvPr/>
        </p:nvSpPr>
        <p:spPr>
          <a:xfrm>
            <a:off x="8418169" y="3813280"/>
            <a:ext cx="7171765" cy="792976"/>
          </a:xfrm>
          <a:custGeom>
            <a:avLst/>
            <a:gdLst/>
            <a:ahLst/>
            <a:cxnLst/>
            <a:rect l="l" t="t" r="r" b="b"/>
            <a:pathLst>
              <a:path w="7171765" h="792976">
                <a:moveTo>
                  <a:pt x="93294" y="0"/>
                </a:moveTo>
                <a:lnTo>
                  <a:pt x="7078471" y="0"/>
                </a:lnTo>
                <a:cubicBezTo>
                  <a:pt x="7129996" y="0"/>
                  <a:pt x="7171765" y="41769"/>
                  <a:pt x="7171765" y="93294"/>
                </a:cubicBezTo>
                <a:lnTo>
                  <a:pt x="7171765" y="699682"/>
                </a:lnTo>
                <a:cubicBezTo>
                  <a:pt x="7171765" y="751207"/>
                  <a:pt x="7129996" y="792976"/>
                  <a:pt x="7078471" y="792976"/>
                </a:cubicBezTo>
                <a:lnTo>
                  <a:pt x="93294" y="792976"/>
                </a:lnTo>
                <a:cubicBezTo>
                  <a:pt x="41803" y="792976"/>
                  <a:pt x="0" y="751172"/>
                  <a:pt x="0" y="699682"/>
                </a:cubicBezTo>
                <a:lnTo>
                  <a:pt x="0" y="93294"/>
                </a:lnTo>
                <a:cubicBezTo>
                  <a:pt x="0" y="41769"/>
                  <a:pt x="41769" y="0"/>
                  <a:pt x="93294" y="0"/>
                </a:cubicBezTo>
                <a:close/>
              </a:path>
            </a:pathLst>
          </a:custGeom>
          <a:solidFill>
            <a:srgbClr val="1A1D21">
              <a:alpha val="50196"/>
            </a:srgbClr>
          </a:solidFill>
          <a:ln/>
        </p:spPr>
        <p:txBody>
          <a:bodyPr/>
          <a:lstStyle/>
          <a:p>
            <a:endParaRPr lang="zh-CN" altLang="en-US"/>
          </a:p>
        </p:txBody>
      </p:sp>
      <p:sp>
        <p:nvSpPr>
          <p:cNvPr id="39" name="Text 37"/>
          <p:cNvSpPr/>
          <p:nvPr/>
        </p:nvSpPr>
        <p:spPr>
          <a:xfrm>
            <a:off x="8511460" y="3906571"/>
            <a:ext cx="7078473" cy="279874"/>
          </a:xfrm>
          <a:prstGeom prst="rect">
            <a:avLst/>
          </a:prstGeom>
          <a:noFill/>
          <a:ln/>
        </p:spPr>
        <p:txBody>
          <a:bodyPr wrap="square" lIns="0" tIns="0" rIns="0" bIns="0" rtlCol="0" anchor="ctr"/>
          <a:lstStyle/>
          <a:p>
            <a:pPr>
              <a:lnSpc>
                <a:spcPct val="130000"/>
              </a:lnSpc>
            </a:pPr>
            <a:r>
              <a:rPr lang="en-US" sz="1469" b="1" dirty="0">
                <a:solidFill>
                  <a:srgbClr val="E0E2E4"/>
                </a:solidFill>
                <a:latin typeface="MiSans" pitchFamily="34" charset="0"/>
                <a:ea typeface="MiSans" pitchFamily="34" charset="-122"/>
                <a:cs typeface="MiSans" pitchFamily="34" charset="-120"/>
              </a:rPr>
              <a:t>镜像生命周期管理</a:t>
            </a:r>
            <a:endParaRPr lang="en-US" sz="1600" dirty="0"/>
          </a:p>
        </p:txBody>
      </p:sp>
      <p:sp>
        <p:nvSpPr>
          <p:cNvPr id="40" name="Shape 38"/>
          <p:cNvSpPr/>
          <p:nvPr/>
        </p:nvSpPr>
        <p:spPr>
          <a:xfrm>
            <a:off x="8511460" y="4233090"/>
            <a:ext cx="1364385" cy="279874"/>
          </a:xfrm>
          <a:custGeom>
            <a:avLst/>
            <a:gdLst/>
            <a:ahLst/>
            <a:cxnLst/>
            <a:rect l="l" t="t" r="r" b="b"/>
            <a:pathLst>
              <a:path w="1364385" h="279874">
                <a:moveTo>
                  <a:pt x="46647" y="0"/>
                </a:moveTo>
                <a:lnTo>
                  <a:pt x="1317738" y="0"/>
                </a:lnTo>
                <a:cubicBezTo>
                  <a:pt x="1343483" y="0"/>
                  <a:pt x="1364385" y="20902"/>
                  <a:pt x="1364385" y="46647"/>
                </a:cubicBezTo>
                <a:lnTo>
                  <a:pt x="1364385" y="233227"/>
                </a:lnTo>
                <a:cubicBezTo>
                  <a:pt x="1364385" y="258972"/>
                  <a:pt x="1343483" y="279874"/>
                  <a:pt x="1317738" y="279874"/>
                </a:cubicBezTo>
                <a:lnTo>
                  <a:pt x="46647" y="279874"/>
                </a:lnTo>
                <a:cubicBezTo>
                  <a:pt x="20902" y="279874"/>
                  <a:pt x="0" y="258972"/>
                  <a:pt x="0" y="233227"/>
                </a:cubicBezTo>
                <a:lnTo>
                  <a:pt x="0" y="46647"/>
                </a:lnTo>
                <a:cubicBezTo>
                  <a:pt x="0" y="20902"/>
                  <a:pt x="20902" y="0"/>
                  <a:pt x="46647" y="0"/>
                </a:cubicBezTo>
                <a:close/>
              </a:path>
            </a:pathLst>
          </a:custGeom>
          <a:solidFill>
            <a:srgbClr val="3C8082">
              <a:alpha val="20000"/>
            </a:srgbClr>
          </a:solidFill>
          <a:ln/>
        </p:spPr>
        <p:txBody>
          <a:bodyPr/>
          <a:lstStyle/>
          <a:p>
            <a:endParaRPr lang="zh-CN" altLang="en-US"/>
          </a:p>
        </p:txBody>
      </p:sp>
      <p:sp>
        <p:nvSpPr>
          <p:cNvPr id="41" name="Text 39"/>
          <p:cNvSpPr/>
          <p:nvPr/>
        </p:nvSpPr>
        <p:spPr>
          <a:xfrm>
            <a:off x="8476476" y="4233090"/>
            <a:ext cx="1434353" cy="279874"/>
          </a:xfrm>
          <a:prstGeom prst="rect">
            <a:avLst/>
          </a:prstGeom>
          <a:noFill/>
          <a:ln/>
        </p:spPr>
        <p:txBody>
          <a:bodyPr wrap="square" lIns="46646" tIns="46646" rIns="46646" bIns="46646"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构建</a:t>
            </a:r>
            <a:endParaRPr lang="en-US" sz="1600" dirty="0"/>
          </a:p>
        </p:txBody>
      </p:sp>
      <p:sp>
        <p:nvSpPr>
          <p:cNvPr id="42" name="Shape 40"/>
          <p:cNvSpPr/>
          <p:nvPr/>
        </p:nvSpPr>
        <p:spPr>
          <a:xfrm>
            <a:off x="9917570" y="4233090"/>
            <a:ext cx="1364385" cy="279874"/>
          </a:xfrm>
          <a:custGeom>
            <a:avLst/>
            <a:gdLst/>
            <a:ahLst/>
            <a:cxnLst/>
            <a:rect l="l" t="t" r="r" b="b"/>
            <a:pathLst>
              <a:path w="1364385" h="279874">
                <a:moveTo>
                  <a:pt x="46647" y="0"/>
                </a:moveTo>
                <a:lnTo>
                  <a:pt x="1317738" y="0"/>
                </a:lnTo>
                <a:cubicBezTo>
                  <a:pt x="1343483" y="0"/>
                  <a:pt x="1364385" y="20902"/>
                  <a:pt x="1364385" y="46647"/>
                </a:cubicBezTo>
                <a:lnTo>
                  <a:pt x="1364385" y="233227"/>
                </a:lnTo>
                <a:cubicBezTo>
                  <a:pt x="1364385" y="258972"/>
                  <a:pt x="1343483" y="279874"/>
                  <a:pt x="1317738" y="279874"/>
                </a:cubicBezTo>
                <a:lnTo>
                  <a:pt x="46647" y="279874"/>
                </a:lnTo>
                <a:cubicBezTo>
                  <a:pt x="20902" y="279874"/>
                  <a:pt x="0" y="258972"/>
                  <a:pt x="0" y="233227"/>
                </a:cubicBezTo>
                <a:lnTo>
                  <a:pt x="0" y="46647"/>
                </a:lnTo>
                <a:cubicBezTo>
                  <a:pt x="0" y="20902"/>
                  <a:pt x="20902" y="0"/>
                  <a:pt x="46647" y="0"/>
                </a:cubicBezTo>
                <a:close/>
              </a:path>
            </a:pathLst>
          </a:custGeom>
          <a:solidFill>
            <a:srgbClr val="3C8082">
              <a:alpha val="20000"/>
            </a:srgbClr>
          </a:solidFill>
          <a:ln/>
        </p:spPr>
        <p:txBody>
          <a:bodyPr/>
          <a:lstStyle/>
          <a:p>
            <a:endParaRPr lang="zh-CN" altLang="en-US"/>
          </a:p>
        </p:txBody>
      </p:sp>
      <p:sp>
        <p:nvSpPr>
          <p:cNvPr id="43" name="Text 41"/>
          <p:cNvSpPr/>
          <p:nvPr/>
        </p:nvSpPr>
        <p:spPr>
          <a:xfrm>
            <a:off x="9882586" y="4233090"/>
            <a:ext cx="1434353" cy="279874"/>
          </a:xfrm>
          <a:prstGeom prst="rect">
            <a:avLst/>
          </a:prstGeom>
          <a:noFill/>
          <a:ln/>
        </p:spPr>
        <p:txBody>
          <a:bodyPr wrap="square" lIns="46646" tIns="46646" rIns="46646" bIns="46646"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存储</a:t>
            </a:r>
            <a:endParaRPr lang="en-US" sz="1600" dirty="0"/>
          </a:p>
        </p:txBody>
      </p:sp>
      <p:sp>
        <p:nvSpPr>
          <p:cNvPr id="44" name="Shape 42"/>
          <p:cNvSpPr/>
          <p:nvPr/>
        </p:nvSpPr>
        <p:spPr>
          <a:xfrm>
            <a:off x="11323681" y="4233090"/>
            <a:ext cx="1364385" cy="279874"/>
          </a:xfrm>
          <a:custGeom>
            <a:avLst/>
            <a:gdLst/>
            <a:ahLst/>
            <a:cxnLst/>
            <a:rect l="l" t="t" r="r" b="b"/>
            <a:pathLst>
              <a:path w="1364385" h="279874">
                <a:moveTo>
                  <a:pt x="46647" y="0"/>
                </a:moveTo>
                <a:lnTo>
                  <a:pt x="1317738" y="0"/>
                </a:lnTo>
                <a:cubicBezTo>
                  <a:pt x="1343483" y="0"/>
                  <a:pt x="1364385" y="20902"/>
                  <a:pt x="1364385" y="46647"/>
                </a:cubicBezTo>
                <a:lnTo>
                  <a:pt x="1364385" y="233227"/>
                </a:lnTo>
                <a:cubicBezTo>
                  <a:pt x="1364385" y="258972"/>
                  <a:pt x="1343483" y="279874"/>
                  <a:pt x="1317738" y="279874"/>
                </a:cubicBezTo>
                <a:lnTo>
                  <a:pt x="46647" y="279874"/>
                </a:lnTo>
                <a:cubicBezTo>
                  <a:pt x="20902" y="279874"/>
                  <a:pt x="0" y="258972"/>
                  <a:pt x="0" y="233227"/>
                </a:cubicBezTo>
                <a:lnTo>
                  <a:pt x="0" y="46647"/>
                </a:lnTo>
                <a:cubicBezTo>
                  <a:pt x="0" y="20902"/>
                  <a:pt x="20902" y="0"/>
                  <a:pt x="46647" y="0"/>
                </a:cubicBezTo>
                <a:close/>
              </a:path>
            </a:pathLst>
          </a:custGeom>
          <a:solidFill>
            <a:srgbClr val="3C8082">
              <a:alpha val="20000"/>
            </a:srgbClr>
          </a:solidFill>
          <a:ln/>
        </p:spPr>
        <p:txBody>
          <a:bodyPr/>
          <a:lstStyle/>
          <a:p>
            <a:endParaRPr lang="zh-CN" altLang="en-US"/>
          </a:p>
        </p:txBody>
      </p:sp>
      <p:sp>
        <p:nvSpPr>
          <p:cNvPr id="45" name="Text 43"/>
          <p:cNvSpPr/>
          <p:nvPr/>
        </p:nvSpPr>
        <p:spPr>
          <a:xfrm>
            <a:off x="11288697" y="4233090"/>
            <a:ext cx="1434353" cy="279874"/>
          </a:xfrm>
          <a:prstGeom prst="rect">
            <a:avLst/>
          </a:prstGeom>
          <a:noFill/>
          <a:ln/>
        </p:spPr>
        <p:txBody>
          <a:bodyPr wrap="square" lIns="46646" tIns="46646" rIns="46646" bIns="46646"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分发</a:t>
            </a:r>
            <a:endParaRPr lang="en-US" sz="1600" dirty="0"/>
          </a:p>
        </p:txBody>
      </p:sp>
      <p:sp>
        <p:nvSpPr>
          <p:cNvPr id="46" name="Shape 44"/>
          <p:cNvSpPr/>
          <p:nvPr/>
        </p:nvSpPr>
        <p:spPr>
          <a:xfrm>
            <a:off x="12729791" y="4233090"/>
            <a:ext cx="1364385" cy="279874"/>
          </a:xfrm>
          <a:custGeom>
            <a:avLst/>
            <a:gdLst/>
            <a:ahLst/>
            <a:cxnLst/>
            <a:rect l="l" t="t" r="r" b="b"/>
            <a:pathLst>
              <a:path w="1364385" h="279874">
                <a:moveTo>
                  <a:pt x="46647" y="0"/>
                </a:moveTo>
                <a:lnTo>
                  <a:pt x="1317738" y="0"/>
                </a:lnTo>
                <a:cubicBezTo>
                  <a:pt x="1343483" y="0"/>
                  <a:pt x="1364385" y="20902"/>
                  <a:pt x="1364385" y="46647"/>
                </a:cubicBezTo>
                <a:lnTo>
                  <a:pt x="1364385" y="233227"/>
                </a:lnTo>
                <a:cubicBezTo>
                  <a:pt x="1364385" y="258972"/>
                  <a:pt x="1343483" y="279874"/>
                  <a:pt x="1317738" y="279874"/>
                </a:cubicBezTo>
                <a:lnTo>
                  <a:pt x="46647" y="279874"/>
                </a:lnTo>
                <a:cubicBezTo>
                  <a:pt x="20902" y="279874"/>
                  <a:pt x="0" y="258972"/>
                  <a:pt x="0" y="233227"/>
                </a:cubicBezTo>
                <a:lnTo>
                  <a:pt x="0" y="46647"/>
                </a:lnTo>
                <a:cubicBezTo>
                  <a:pt x="0" y="20902"/>
                  <a:pt x="20902" y="0"/>
                  <a:pt x="46647" y="0"/>
                </a:cubicBezTo>
                <a:close/>
              </a:path>
            </a:pathLst>
          </a:custGeom>
          <a:solidFill>
            <a:srgbClr val="3C8082">
              <a:alpha val="20000"/>
            </a:srgbClr>
          </a:solidFill>
          <a:ln/>
        </p:spPr>
        <p:txBody>
          <a:bodyPr/>
          <a:lstStyle/>
          <a:p>
            <a:endParaRPr lang="zh-CN" altLang="en-US"/>
          </a:p>
        </p:txBody>
      </p:sp>
      <p:sp>
        <p:nvSpPr>
          <p:cNvPr id="47" name="Text 45"/>
          <p:cNvSpPr/>
          <p:nvPr/>
        </p:nvSpPr>
        <p:spPr>
          <a:xfrm>
            <a:off x="12694807" y="4233090"/>
            <a:ext cx="1434353" cy="279874"/>
          </a:xfrm>
          <a:prstGeom prst="rect">
            <a:avLst/>
          </a:prstGeom>
          <a:noFill/>
          <a:ln/>
        </p:spPr>
        <p:txBody>
          <a:bodyPr wrap="square" lIns="46646" tIns="46646" rIns="46646" bIns="46646"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更新</a:t>
            </a:r>
            <a:endParaRPr lang="en-US" sz="1600" dirty="0"/>
          </a:p>
        </p:txBody>
      </p:sp>
      <p:sp>
        <p:nvSpPr>
          <p:cNvPr id="48" name="Shape 46"/>
          <p:cNvSpPr/>
          <p:nvPr/>
        </p:nvSpPr>
        <p:spPr>
          <a:xfrm>
            <a:off x="14135902" y="4233090"/>
            <a:ext cx="1364385" cy="279874"/>
          </a:xfrm>
          <a:custGeom>
            <a:avLst/>
            <a:gdLst/>
            <a:ahLst/>
            <a:cxnLst/>
            <a:rect l="l" t="t" r="r" b="b"/>
            <a:pathLst>
              <a:path w="1364385" h="279874">
                <a:moveTo>
                  <a:pt x="46647" y="0"/>
                </a:moveTo>
                <a:lnTo>
                  <a:pt x="1317738" y="0"/>
                </a:lnTo>
                <a:cubicBezTo>
                  <a:pt x="1343483" y="0"/>
                  <a:pt x="1364385" y="20902"/>
                  <a:pt x="1364385" y="46647"/>
                </a:cubicBezTo>
                <a:lnTo>
                  <a:pt x="1364385" y="233227"/>
                </a:lnTo>
                <a:cubicBezTo>
                  <a:pt x="1364385" y="258972"/>
                  <a:pt x="1343483" y="279874"/>
                  <a:pt x="1317738" y="279874"/>
                </a:cubicBezTo>
                <a:lnTo>
                  <a:pt x="46647" y="279874"/>
                </a:lnTo>
                <a:cubicBezTo>
                  <a:pt x="20902" y="279874"/>
                  <a:pt x="0" y="258972"/>
                  <a:pt x="0" y="233227"/>
                </a:cubicBezTo>
                <a:lnTo>
                  <a:pt x="0" y="46647"/>
                </a:lnTo>
                <a:cubicBezTo>
                  <a:pt x="0" y="20902"/>
                  <a:pt x="20902" y="0"/>
                  <a:pt x="46647" y="0"/>
                </a:cubicBezTo>
                <a:close/>
              </a:path>
            </a:pathLst>
          </a:custGeom>
          <a:solidFill>
            <a:srgbClr val="3C8082">
              <a:alpha val="20000"/>
            </a:srgbClr>
          </a:solidFill>
          <a:ln/>
        </p:spPr>
        <p:txBody>
          <a:bodyPr/>
          <a:lstStyle/>
          <a:p>
            <a:endParaRPr lang="zh-CN" altLang="en-US"/>
          </a:p>
        </p:txBody>
      </p:sp>
      <p:sp>
        <p:nvSpPr>
          <p:cNvPr id="49" name="Text 47"/>
          <p:cNvSpPr/>
          <p:nvPr/>
        </p:nvSpPr>
        <p:spPr>
          <a:xfrm>
            <a:off x="14100918" y="4233090"/>
            <a:ext cx="1434353" cy="279874"/>
          </a:xfrm>
          <a:prstGeom prst="rect">
            <a:avLst/>
          </a:prstGeom>
          <a:noFill/>
          <a:ln/>
        </p:spPr>
        <p:txBody>
          <a:bodyPr wrap="square" lIns="46646" tIns="46646" rIns="46646" bIns="46646"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清理</a:t>
            </a:r>
            <a:endParaRPr lang="en-US" sz="1600" dirty="0"/>
          </a:p>
        </p:txBody>
      </p:sp>
      <p:sp>
        <p:nvSpPr>
          <p:cNvPr id="50" name="Shape 48"/>
          <p:cNvSpPr/>
          <p:nvPr/>
        </p:nvSpPr>
        <p:spPr>
          <a:xfrm>
            <a:off x="8225755" y="4950267"/>
            <a:ext cx="7556591" cy="2483879"/>
          </a:xfrm>
          <a:custGeom>
            <a:avLst/>
            <a:gdLst/>
            <a:ahLst/>
            <a:cxnLst/>
            <a:rect l="l" t="t" r="r" b="b"/>
            <a:pathLst>
              <a:path w="7556591" h="2483879">
                <a:moveTo>
                  <a:pt x="93295" y="0"/>
                </a:moveTo>
                <a:lnTo>
                  <a:pt x="7463297" y="0"/>
                </a:lnTo>
                <a:cubicBezTo>
                  <a:pt x="7514822" y="0"/>
                  <a:pt x="7556591" y="41769"/>
                  <a:pt x="7556591" y="93295"/>
                </a:cubicBezTo>
                <a:lnTo>
                  <a:pt x="7556591" y="2390585"/>
                </a:lnTo>
                <a:cubicBezTo>
                  <a:pt x="7556591" y="2442110"/>
                  <a:pt x="7514822" y="2483879"/>
                  <a:pt x="7463297" y="2483879"/>
                </a:cubicBezTo>
                <a:lnTo>
                  <a:pt x="93295" y="2483879"/>
                </a:lnTo>
                <a:cubicBezTo>
                  <a:pt x="41769" y="2483879"/>
                  <a:pt x="0" y="2442110"/>
                  <a:pt x="0" y="2390585"/>
                </a:cubicBezTo>
                <a:lnTo>
                  <a:pt x="0" y="93295"/>
                </a:lnTo>
                <a:cubicBezTo>
                  <a:pt x="0" y="41804"/>
                  <a:pt x="41804" y="0"/>
                  <a:pt x="93295"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51" name="Shape 49"/>
          <p:cNvSpPr/>
          <p:nvPr/>
        </p:nvSpPr>
        <p:spPr>
          <a:xfrm>
            <a:off x="8432745" y="5189326"/>
            <a:ext cx="262382" cy="233228"/>
          </a:xfrm>
          <a:custGeom>
            <a:avLst/>
            <a:gdLst/>
            <a:ahLst/>
            <a:cxnLst/>
            <a:rect l="l" t="t" r="r" b="b"/>
            <a:pathLst>
              <a:path w="262382" h="233228">
                <a:moveTo>
                  <a:pt x="112970" y="40086"/>
                </a:moveTo>
                <a:lnTo>
                  <a:pt x="149412" y="40086"/>
                </a:lnTo>
                <a:lnTo>
                  <a:pt x="149412" y="61951"/>
                </a:lnTo>
                <a:lnTo>
                  <a:pt x="112970" y="61951"/>
                </a:lnTo>
                <a:lnTo>
                  <a:pt x="112970" y="40086"/>
                </a:lnTo>
                <a:close/>
                <a:moveTo>
                  <a:pt x="109326" y="14577"/>
                </a:moveTo>
                <a:cubicBezTo>
                  <a:pt x="97254" y="14577"/>
                  <a:pt x="87461" y="24371"/>
                  <a:pt x="87461" y="36442"/>
                </a:cubicBezTo>
                <a:lnTo>
                  <a:pt x="87461" y="65595"/>
                </a:lnTo>
                <a:cubicBezTo>
                  <a:pt x="87461" y="77667"/>
                  <a:pt x="97254" y="87461"/>
                  <a:pt x="109326" y="87461"/>
                </a:cubicBezTo>
                <a:lnTo>
                  <a:pt x="116614" y="87461"/>
                </a:lnTo>
                <a:lnTo>
                  <a:pt x="116614" y="102037"/>
                </a:lnTo>
                <a:lnTo>
                  <a:pt x="14577" y="102037"/>
                </a:lnTo>
                <a:cubicBezTo>
                  <a:pt x="6514" y="102037"/>
                  <a:pt x="0" y="108551"/>
                  <a:pt x="0" y="116614"/>
                </a:cubicBezTo>
                <a:cubicBezTo>
                  <a:pt x="0" y="124677"/>
                  <a:pt x="6514" y="131191"/>
                  <a:pt x="14577" y="131191"/>
                </a:cubicBezTo>
                <a:lnTo>
                  <a:pt x="58307" y="131191"/>
                </a:lnTo>
                <a:lnTo>
                  <a:pt x="58307" y="145768"/>
                </a:lnTo>
                <a:lnTo>
                  <a:pt x="51019" y="145768"/>
                </a:lnTo>
                <a:cubicBezTo>
                  <a:pt x="38947" y="145768"/>
                  <a:pt x="29154" y="155561"/>
                  <a:pt x="29154" y="167633"/>
                </a:cubicBezTo>
                <a:lnTo>
                  <a:pt x="29154" y="196786"/>
                </a:lnTo>
                <a:cubicBezTo>
                  <a:pt x="29154" y="208858"/>
                  <a:pt x="38947" y="218651"/>
                  <a:pt x="51019" y="218651"/>
                </a:cubicBezTo>
                <a:lnTo>
                  <a:pt x="94749" y="218651"/>
                </a:lnTo>
                <a:cubicBezTo>
                  <a:pt x="106820" y="218651"/>
                  <a:pt x="116614" y="208858"/>
                  <a:pt x="116614" y="196786"/>
                </a:cubicBezTo>
                <a:lnTo>
                  <a:pt x="116614" y="167633"/>
                </a:lnTo>
                <a:cubicBezTo>
                  <a:pt x="116614" y="155561"/>
                  <a:pt x="106820" y="145768"/>
                  <a:pt x="94749" y="145768"/>
                </a:cubicBezTo>
                <a:lnTo>
                  <a:pt x="87461" y="145768"/>
                </a:lnTo>
                <a:lnTo>
                  <a:pt x="87461" y="131191"/>
                </a:lnTo>
                <a:lnTo>
                  <a:pt x="174921" y="131191"/>
                </a:lnTo>
                <a:lnTo>
                  <a:pt x="174921" y="145768"/>
                </a:lnTo>
                <a:lnTo>
                  <a:pt x="167633" y="145768"/>
                </a:lnTo>
                <a:cubicBezTo>
                  <a:pt x="155561" y="145768"/>
                  <a:pt x="145768" y="155561"/>
                  <a:pt x="145768" y="167633"/>
                </a:cubicBezTo>
                <a:lnTo>
                  <a:pt x="145768" y="196786"/>
                </a:lnTo>
                <a:cubicBezTo>
                  <a:pt x="145768" y="208858"/>
                  <a:pt x="155561" y="218651"/>
                  <a:pt x="167633" y="218651"/>
                </a:cubicBezTo>
                <a:lnTo>
                  <a:pt x="211363" y="218651"/>
                </a:lnTo>
                <a:cubicBezTo>
                  <a:pt x="223434" y="218651"/>
                  <a:pt x="233228" y="208858"/>
                  <a:pt x="233228" y="196786"/>
                </a:cubicBezTo>
                <a:lnTo>
                  <a:pt x="233228" y="167633"/>
                </a:lnTo>
                <a:cubicBezTo>
                  <a:pt x="233228" y="155561"/>
                  <a:pt x="223434" y="145768"/>
                  <a:pt x="211363" y="145768"/>
                </a:cubicBezTo>
                <a:lnTo>
                  <a:pt x="204075" y="145768"/>
                </a:lnTo>
                <a:lnTo>
                  <a:pt x="204075" y="131191"/>
                </a:lnTo>
                <a:lnTo>
                  <a:pt x="247805" y="131191"/>
                </a:lnTo>
                <a:cubicBezTo>
                  <a:pt x="255868" y="131191"/>
                  <a:pt x="262382" y="124677"/>
                  <a:pt x="262382" y="116614"/>
                </a:cubicBezTo>
                <a:cubicBezTo>
                  <a:pt x="262382" y="108551"/>
                  <a:pt x="255868" y="102037"/>
                  <a:pt x="247805" y="102037"/>
                </a:cubicBezTo>
                <a:lnTo>
                  <a:pt x="145768" y="102037"/>
                </a:lnTo>
                <a:lnTo>
                  <a:pt x="145768" y="87461"/>
                </a:lnTo>
                <a:lnTo>
                  <a:pt x="153056" y="87461"/>
                </a:lnTo>
                <a:cubicBezTo>
                  <a:pt x="165127" y="87461"/>
                  <a:pt x="174921" y="77667"/>
                  <a:pt x="174921" y="65595"/>
                </a:cubicBezTo>
                <a:lnTo>
                  <a:pt x="174921" y="36442"/>
                </a:lnTo>
                <a:cubicBezTo>
                  <a:pt x="174921" y="24371"/>
                  <a:pt x="165127" y="14577"/>
                  <a:pt x="153056" y="14577"/>
                </a:cubicBezTo>
                <a:lnTo>
                  <a:pt x="109326" y="14577"/>
                </a:lnTo>
                <a:close/>
                <a:moveTo>
                  <a:pt x="204075" y="171277"/>
                </a:moveTo>
                <a:lnTo>
                  <a:pt x="207719" y="171277"/>
                </a:lnTo>
                <a:lnTo>
                  <a:pt x="207719" y="193142"/>
                </a:lnTo>
                <a:lnTo>
                  <a:pt x="171277" y="193142"/>
                </a:lnTo>
                <a:lnTo>
                  <a:pt x="171277" y="171277"/>
                </a:lnTo>
                <a:lnTo>
                  <a:pt x="204075" y="171277"/>
                </a:lnTo>
                <a:close/>
                <a:moveTo>
                  <a:pt x="87461" y="171277"/>
                </a:moveTo>
                <a:lnTo>
                  <a:pt x="91105" y="171277"/>
                </a:lnTo>
                <a:lnTo>
                  <a:pt x="91105" y="193142"/>
                </a:lnTo>
                <a:lnTo>
                  <a:pt x="54663" y="193142"/>
                </a:lnTo>
                <a:lnTo>
                  <a:pt x="54663" y="171277"/>
                </a:lnTo>
                <a:lnTo>
                  <a:pt x="87461" y="171277"/>
                </a:lnTo>
                <a:close/>
              </a:path>
            </a:pathLst>
          </a:custGeom>
          <a:solidFill>
            <a:srgbClr val="B38B59"/>
          </a:solidFill>
          <a:ln/>
        </p:spPr>
        <p:txBody>
          <a:bodyPr/>
          <a:lstStyle/>
          <a:p>
            <a:endParaRPr lang="zh-CN" altLang="en-US"/>
          </a:p>
        </p:txBody>
      </p:sp>
      <p:sp>
        <p:nvSpPr>
          <p:cNvPr id="52" name="Text 50"/>
          <p:cNvSpPr/>
          <p:nvPr/>
        </p:nvSpPr>
        <p:spPr>
          <a:xfrm>
            <a:off x="8709704" y="5142680"/>
            <a:ext cx="6996844" cy="326519"/>
          </a:xfrm>
          <a:prstGeom prst="rect">
            <a:avLst/>
          </a:prstGeom>
          <a:noFill/>
          <a:ln/>
        </p:spPr>
        <p:txBody>
          <a:bodyPr wrap="square" lIns="0" tIns="0" rIns="0" bIns="0" rtlCol="0" anchor="ctr"/>
          <a:lstStyle/>
          <a:p>
            <a:pPr>
              <a:lnSpc>
                <a:spcPct val="120000"/>
              </a:lnSpc>
            </a:pPr>
            <a:r>
              <a:rPr lang="en-US" sz="1836" b="1" dirty="0">
                <a:solidFill>
                  <a:srgbClr val="E0E2E4"/>
                </a:solidFill>
                <a:latin typeface="MiSans" pitchFamily="34" charset="0"/>
                <a:ea typeface="MiSans" pitchFamily="34" charset="-122"/>
                <a:cs typeface="MiSans" pitchFamily="34" charset="-120"/>
              </a:rPr>
              <a:t>网络隔离与存储卷管理</a:t>
            </a:r>
            <a:endParaRPr lang="en-US" sz="1600" dirty="0"/>
          </a:p>
        </p:txBody>
      </p:sp>
      <p:sp>
        <p:nvSpPr>
          <p:cNvPr id="53" name="Shape 51"/>
          <p:cNvSpPr/>
          <p:nvPr/>
        </p:nvSpPr>
        <p:spPr>
          <a:xfrm>
            <a:off x="8418169" y="5609136"/>
            <a:ext cx="7171765" cy="746330"/>
          </a:xfrm>
          <a:custGeom>
            <a:avLst/>
            <a:gdLst/>
            <a:ahLst/>
            <a:cxnLst/>
            <a:rect l="l" t="t" r="r" b="b"/>
            <a:pathLst>
              <a:path w="7171765" h="746330">
                <a:moveTo>
                  <a:pt x="93291" y="0"/>
                </a:moveTo>
                <a:lnTo>
                  <a:pt x="7078473" y="0"/>
                </a:lnTo>
                <a:cubicBezTo>
                  <a:pt x="7129997" y="0"/>
                  <a:pt x="7171765" y="41768"/>
                  <a:pt x="7171765" y="93291"/>
                </a:cubicBezTo>
                <a:lnTo>
                  <a:pt x="7171765" y="653039"/>
                </a:lnTo>
                <a:cubicBezTo>
                  <a:pt x="7171765" y="704562"/>
                  <a:pt x="7129997" y="746330"/>
                  <a:pt x="7078473" y="746330"/>
                </a:cubicBezTo>
                <a:lnTo>
                  <a:pt x="93291" y="746330"/>
                </a:lnTo>
                <a:cubicBezTo>
                  <a:pt x="41802" y="746330"/>
                  <a:pt x="0" y="704528"/>
                  <a:pt x="0" y="653039"/>
                </a:cubicBezTo>
                <a:lnTo>
                  <a:pt x="0" y="93291"/>
                </a:lnTo>
                <a:cubicBezTo>
                  <a:pt x="0" y="41768"/>
                  <a:pt x="41768" y="0"/>
                  <a:pt x="93291" y="0"/>
                </a:cubicBezTo>
                <a:close/>
              </a:path>
            </a:pathLst>
          </a:custGeom>
          <a:solidFill>
            <a:srgbClr val="1A1D21">
              <a:alpha val="50196"/>
            </a:srgbClr>
          </a:solidFill>
          <a:ln/>
        </p:spPr>
        <p:txBody>
          <a:bodyPr/>
          <a:lstStyle/>
          <a:p>
            <a:endParaRPr lang="zh-CN" altLang="en-US"/>
          </a:p>
        </p:txBody>
      </p:sp>
      <p:sp>
        <p:nvSpPr>
          <p:cNvPr id="54" name="Text 52"/>
          <p:cNvSpPr/>
          <p:nvPr/>
        </p:nvSpPr>
        <p:spPr>
          <a:xfrm>
            <a:off x="8511460" y="5702428"/>
            <a:ext cx="7078473" cy="279874"/>
          </a:xfrm>
          <a:prstGeom prst="rect">
            <a:avLst/>
          </a:prstGeom>
          <a:noFill/>
          <a:ln/>
        </p:spPr>
        <p:txBody>
          <a:bodyPr wrap="square" lIns="0" tIns="0" rIns="0" bIns="0" rtlCol="0" anchor="ctr"/>
          <a:lstStyle/>
          <a:p>
            <a:pPr>
              <a:lnSpc>
                <a:spcPct val="130000"/>
              </a:lnSpc>
            </a:pPr>
            <a:r>
              <a:rPr lang="en-US" sz="1469" b="1" dirty="0">
                <a:solidFill>
                  <a:srgbClr val="E0E2E4"/>
                </a:solidFill>
                <a:latin typeface="MiSans" pitchFamily="34" charset="0"/>
                <a:ea typeface="MiSans" pitchFamily="34" charset="-122"/>
                <a:cs typeface="MiSans" pitchFamily="34" charset="-120"/>
              </a:rPr>
              <a:t>多层网络架构</a:t>
            </a:r>
            <a:endParaRPr lang="en-US" sz="1600" dirty="0"/>
          </a:p>
        </p:txBody>
      </p:sp>
      <p:sp>
        <p:nvSpPr>
          <p:cNvPr id="55" name="Text 53"/>
          <p:cNvSpPr/>
          <p:nvPr/>
        </p:nvSpPr>
        <p:spPr>
          <a:xfrm>
            <a:off x="8511460" y="6028947"/>
            <a:ext cx="7066812" cy="233228"/>
          </a:xfrm>
          <a:prstGeom prst="rect">
            <a:avLst/>
          </a:prstGeom>
          <a:noFill/>
          <a:ln/>
        </p:spPr>
        <p:txBody>
          <a:bodyPr wrap="square" lIns="0" tIns="0" rIns="0" bIns="0" rtlCol="0" anchor="ctr"/>
          <a:lstStyle/>
          <a:p>
            <a:pPr>
              <a:lnSpc>
                <a:spcPct val="120000"/>
              </a:lnSpc>
            </a:pPr>
            <a:r>
              <a:rPr lang="en-US" sz="1286" dirty="0">
                <a:solidFill>
                  <a:srgbClr val="E0E2E4">
                    <a:alpha val="70000"/>
                  </a:srgbClr>
                </a:solidFill>
                <a:latin typeface="MiSans" pitchFamily="34" charset="0"/>
                <a:ea typeface="MiSans" pitchFamily="34" charset="-122"/>
                <a:cs typeface="MiSans" pitchFamily="34" charset="-120"/>
              </a:rPr>
              <a:t>容器网络层、主机网络层、集群网络层、服务网络层</a:t>
            </a:r>
            <a:endParaRPr lang="en-US" sz="1600" dirty="0"/>
          </a:p>
        </p:txBody>
      </p:sp>
      <p:sp>
        <p:nvSpPr>
          <p:cNvPr id="56" name="Shape 54"/>
          <p:cNvSpPr/>
          <p:nvPr/>
        </p:nvSpPr>
        <p:spPr>
          <a:xfrm>
            <a:off x="8418169" y="6448758"/>
            <a:ext cx="7171765" cy="792976"/>
          </a:xfrm>
          <a:custGeom>
            <a:avLst/>
            <a:gdLst/>
            <a:ahLst/>
            <a:cxnLst/>
            <a:rect l="l" t="t" r="r" b="b"/>
            <a:pathLst>
              <a:path w="7171765" h="792976">
                <a:moveTo>
                  <a:pt x="93294" y="0"/>
                </a:moveTo>
                <a:lnTo>
                  <a:pt x="7078471" y="0"/>
                </a:lnTo>
                <a:cubicBezTo>
                  <a:pt x="7129996" y="0"/>
                  <a:pt x="7171765" y="41769"/>
                  <a:pt x="7171765" y="93294"/>
                </a:cubicBezTo>
                <a:lnTo>
                  <a:pt x="7171765" y="699682"/>
                </a:lnTo>
                <a:cubicBezTo>
                  <a:pt x="7171765" y="751207"/>
                  <a:pt x="7129996" y="792976"/>
                  <a:pt x="7078471" y="792976"/>
                </a:cubicBezTo>
                <a:lnTo>
                  <a:pt x="93294" y="792976"/>
                </a:lnTo>
                <a:cubicBezTo>
                  <a:pt x="41803" y="792976"/>
                  <a:pt x="0" y="751172"/>
                  <a:pt x="0" y="699682"/>
                </a:cubicBezTo>
                <a:lnTo>
                  <a:pt x="0" y="93294"/>
                </a:lnTo>
                <a:cubicBezTo>
                  <a:pt x="0" y="41769"/>
                  <a:pt x="41769" y="0"/>
                  <a:pt x="93294" y="0"/>
                </a:cubicBezTo>
                <a:close/>
              </a:path>
            </a:pathLst>
          </a:custGeom>
          <a:solidFill>
            <a:srgbClr val="1A1D21">
              <a:alpha val="50196"/>
            </a:srgbClr>
          </a:solidFill>
          <a:ln/>
        </p:spPr>
        <p:txBody>
          <a:bodyPr/>
          <a:lstStyle/>
          <a:p>
            <a:endParaRPr lang="zh-CN" altLang="en-US"/>
          </a:p>
        </p:txBody>
      </p:sp>
      <p:sp>
        <p:nvSpPr>
          <p:cNvPr id="57" name="Text 55"/>
          <p:cNvSpPr/>
          <p:nvPr/>
        </p:nvSpPr>
        <p:spPr>
          <a:xfrm>
            <a:off x="8511460" y="6542049"/>
            <a:ext cx="7078473" cy="279874"/>
          </a:xfrm>
          <a:prstGeom prst="rect">
            <a:avLst/>
          </a:prstGeom>
          <a:noFill/>
          <a:ln/>
        </p:spPr>
        <p:txBody>
          <a:bodyPr wrap="square" lIns="0" tIns="0" rIns="0" bIns="0" rtlCol="0" anchor="ctr"/>
          <a:lstStyle/>
          <a:p>
            <a:pPr>
              <a:lnSpc>
                <a:spcPct val="130000"/>
              </a:lnSpc>
            </a:pPr>
            <a:r>
              <a:rPr lang="en-US" sz="1469" b="1" dirty="0">
                <a:solidFill>
                  <a:srgbClr val="E0E2E4"/>
                </a:solidFill>
                <a:latin typeface="MiSans" pitchFamily="34" charset="0"/>
                <a:ea typeface="MiSans" pitchFamily="34" charset="-122"/>
                <a:cs typeface="MiSans" pitchFamily="34" charset="-120"/>
              </a:rPr>
              <a:t>网络模式配置</a:t>
            </a:r>
            <a:endParaRPr lang="en-US" sz="1600" dirty="0"/>
          </a:p>
        </p:txBody>
      </p:sp>
      <p:sp>
        <p:nvSpPr>
          <p:cNvPr id="58" name="Shape 56"/>
          <p:cNvSpPr/>
          <p:nvPr/>
        </p:nvSpPr>
        <p:spPr>
          <a:xfrm>
            <a:off x="8511460" y="6868568"/>
            <a:ext cx="1714227" cy="279874"/>
          </a:xfrm>
          <a:custGeom>
            <a:avLst/>
            <a:gdLst/>
            <a:ahLst/>
            <a:cxnLst/>
            <a:rect l="l" t="t" r="r" b="b"/>
            <a:pathLst>
              <a:path w="1714227" h="279874">
                <a:moveTo>
                  <a:pt x="46647" y="0"/>
                </a:moveTo>
                <a:lnTo>
                  <a:pt x="1667580" y="0"/>
                </a:lnTo>
                <a:cubicBezTo>
                  <a:pt x="1693325" y="0"/>
                  <a:pt x="1714227" y="20902"/>
                  <a:pt x="1714227" y="46647"/>
                </a:cubicBezTo>
                <a:lnTo>
                  <a:pt x="1714227" y="233227"/>
                </a:lnTo>
                <a:cubicBezTo>
                  <a:pt x="1714227" y="258972"/>
                  <a:pt x="1693325" y="279874"/>
                  <a:pt x="1667580" y="279874"/>
                </a:cubicBezTo>
                <a:lnTo>
                  <a:pt x="46647" y="279874"/>
                </a:lnTo>
                <a:cubicBezTo>
                  <a:pt x="20902" y="279874"/>
                  <a:pt x="0" y="258972"/>
                  <a:pt x="0" y="233227"/>
                </a:cubicBezTo>
                <a:lnTo>
                  <a:pt x="0" y="46647"/>
                </a:lnTo>
                <a:cubicBezTo>
                  <a:pt x="0" y="20902"/>
                  <a:pt x="20902" y="0"/>
                  <a:pt x="46647" y="0"/>
                </a:cubicBezTo>
                <a:close/>
              </a:path>
            </a:pathLst>
          </a:custGeom>
          <a:solidFill>
            <a:srgbClr val="B38B59">
              <a:alpha val="20000"/>
            </a:srgbClr>
          </a:solidFill>
          <a:ln/>
        </p:spPr>
        <p:txBody>
          <a:bodyPr/>
          <a:lstStyle/>
          <a:p>
            <a:endParaRPr lang="zh-CN" altLang="en-US"/>
          </a:p>
        </p:txBody>
      </p:sp>
      <p:sp>
        <p:nvSpPr>
          <p:cNvPr id="59" name="Text 57"/>
          <p:cNvSpPr/>
          <p:nvPr/>
        </p:nvSpPr>
        <p:spPr>
          <a:xfrm>
            <a:off x="8476476" y="6868568"/>
            <a:ext cx="1784195" cy="279874"/>
          </a:xfrm>
          <a:prstGeom prst="rect">
            <a:avLst/>
          </a:prstGeom>
          <a:noFill/>
          <a:ln/>
        </p:spPr>
        <p:txBody>
          <a:bodyPr wrap="square" lIns="46646" tIns="46646" rIns="46646" bIns="46646"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bridge</a:t>
            </a:r>
            <a:endParaRPr lang="en-US" sz="1600" dirty="0"/>
          </a:p>
        </p:txBody>
      </p:sp>
      <p:sp>
        <p:nvSpPr>
          <p:cNvPr id="60" name="Shape 58"/>
          <p:cNvSpPr/>
          <p:nvPr/>
        </p:nvSpPr>
        <p:spPr>
          <a:xfrm>
            <a:off x="10269052" y="6868568"/>
            <a:ext cx="1714227" cy="279874"/>
          </a:xfrm>
          <a:custGeom>
            <a:avLst/>
            <a:gdLst/>
            <a:ahLst/>
            <a:cxnLst/>
            <a:rect l="l" t="t" r="r" b="b"/>
            <a:pathLst>
              <a:path w="1714227" h="279874">
                <a:moveTo>
                  <a:pt x="46647" y="0"/>
                </a:moveTo>
                <a:lnTo>
                  <a:pt x="1667580" y="0"/>
                </a:lnTo>
                <a:cubicBezTo>
                  <a:pt x="1693325" y="0"/>
                  <a:pt x="1714227" y="20902"/>
                  <a:pt x="1714227" y="46647"/>
                </a:cubicBezTo>
                <a:lnTo>
                  <a:pt x="1714227" y="233227"/>
                </a:lnTo>
                <a:cubicBezTo>
                  <a:pt x="1714227" y="258972"/>
                  <a:pt x="1693325" y="279874"/>
                  <a:pt x="1667580" y="279874"/>
                </a:cubicBezTo>
                <a:lnTo>
                  <a:pt x="46647" y="279874"/>
                </a:lnTo>
                <a:cubicBezTo>
                  <a:pt x="20902" y="279874"/>
                  <a:pt x="0" y="258972"/>
                  <a:pt x="0" y="233227"/>
                </a:cubicBezTo>
                <a:lnTo>
                  <a:pt x="0" y="46647"/>
                </a:lnTo>
                <a:cubicBezTo>
                  <a:pt x="0" y="20902"/>
                  <a:pt x="20902" y="0"/>
                  <a:pt x="46647" y="0"/>
                </a:cubicBezTo>
                <a:close/>
              </a:path>
            </a:pathLst>
          </a:custGeom>
          <a:solidFill>
            <a:srgbClr val="B38B59">
              <a:alpha val="20000"/>
            </a:srgbClr>
          </a:solidFill>
          <a:ln/>
        </p:spPr>
        <p:txBody>
          <a:bodyPr/>
          <a:lstStyle/>
          <a:p>
            <a:endParaRPr lang="zh-CN" altLang="en-US"/>
          </a:p>
        </p:txBody>
      </p:sp>
      <p:sp>
        <p:nvSpPr>
          <p:cNvPr id="61" name="Text 59"/>
          <p:cNvSpPr/>
          <p:nvPr/>
        </p:nvSpPr>
        <p:spPr>
          <a:xfrm>
            <a:off x="10234068" y="6868568"/>
            <a:ext cx="1784195" cy="279874"/>
          </a:xfrm>
          <a:prstGeom prst="rect">
            <a:avLst/>
          </a:prstGeom>
          <a:noFill/>
          <a:ln/>
        </p:spPr>
        <p:txBody>
          <a:bodyPr wrap="square" lIns="46646" tIns="46646" rIns="46646" bIns="46646"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host</a:t>
            </a:r>
            <a:endParaRPr lang="en-US" sz="1600" dirty="0"/>
          </a:p>
        </p:txBody>
      </p:sp>
      <p:sp>
        <p:nvSpPr>
          <p:cNvPr id="62" name="Shape 60"/>
          <p:cNvSpPr/>
          <p:nvPr/>
        </p:nvSpPr>
        <p:spPr>
          <a:xfrm>
            <a:off x="12026736" y="6868568"/>
            <a:ext cx="1714227" cy="279874"/>
          </a:xfrm>
          <a:custGeom>
            <a:avLst/>
            <a:gdLst/>
            <a:ahLst/>
            <a:cxnLst/>
            <a:rect l="l" t="t" r="r" b="b"/>
            <a:pathLst>
              <a:path w="1714227" h="279874">
                <a:moveTo>
                  <a:pt x="46647" y="0"/>
                </a:moveTo>
                <a:lnTo>
                  <a:pt x="1667580" y="0"/>
                </a:lnTo>
                <a:cubicBezTo>
                  <a:pt x="1693325" y="0"/>
                  <a:pt x="1714227" y="20902"/>
                  <a:pt x="1714227" y="46647"/>
                </a:cubicBezTo>
                <a:lnTo>
                  <a:pt x="1714227" y="233227"/>
                </a:lnTo>
                <a:cubicBezTo>
                  <a:pt x="1714227" y="258972"/>
                  <a:pt x="1693325" y="279874"/>
                  <a:pt x="1667580" y="279874"/>
                </a:cubicBezTo>
                <a:lnTo>
                  <a:pt x="46647" y="279874"/>
                </a:lnTo>
                <a:cubicBezTo>
                  <a:pt x="20902" y="279874"/>
                  <a:pt x="0" y="258972"/>
                  <a:pt x="0" y="233227"/>
                </a:cubicBezTo>
                <a:lnTo>
                  <a:pt x="0" y="46647"/>
                </a:lnTo>
                <a:cubicBezTo>
                  <a:pt x="0" y="20902"/>
                  <a:pt x="20902" y="0"/>
                  <a:pt x="46647" y="0"/>
                </a:cubicBezTo>
                <a:close/>
              </a:path>
            </a:pathLst>
          </a:custGeom>
          <a:solidFill>
            <a:srgbClr val="B38B59">
              <a:alpha val="20000"/>
            </a:srgbClr>
          </a:solidFill>
          <a:ln/>
        </p:spPr>
        <p:txBody>
          <a:bodyPr/>
          <a:lstStyle/>
          <a:p>
            <a:endParaRPr lang="zh-CN" altLang="en-US"/>
          </a:p>
        </p:txBody>
      </p:sp>
      <p:sp>
        <p:nvSpPr>
          <p:cNvPr id="63" name="Text 61"/>
          <p:cNvSpPr/>
          <p:nvPr/>
        </p:nvSpPr>
        <p:spPr>
          <a:xfrm>
            <a:off x="11991752" y="6868568"/>
            <a:ext cx="1784195" cy="279874"/>
          </a:xfrm>
          <a:prstGeom prst="rect">
            <a:avLst/>
          </a:prstGeom>
          <a:noFill/>
          <a:ln/>
        </p:spPr>
        <p:txBody>
          <a:bodyPr wrap="square" lIns="46646" tIns="46646" rIns="46646" bIns="46646"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none</a:t>
            </a:r>
            <a:endParaRPr lang="en-US" sz="1600" dirty="0"/>
          </a:p>
        </p:txBody>
      </p:sp>
      <p:sp>
        <p:nvSpPr>
          <p:cNvPr id="64" name="Shape 62"/>
          <p:cNvSpPr/>
          <p:nvPr/>
        </p:nvSpPr>
        <p:spPr>
          <a:xfrm>
            <a:off x="13784329" y="6868568"/>
            <a:ext cx="1714227" cy="279874"/>
          </a:xfrm>
          <a:custGeom>
            <a:avLst/>
            <a:gdLst/>
            <a:ahLst/>
            <a:cxnLst/>
            <a:rect l="l" t="t" r="r" b="b"/>
            <a:pathLst>
              <a:path w="1714227" h="279874">
                <a:moveTo>
                  <a:pt x="46647" y="0"/>
                </a:moveTo>
                <a:lnTo>
                  <a:pt x="1667580" y="0"/>
                </a:lnTo>
                <a:cubicBezTo>
                  <a:pt x="1693325" y="0"/>
                  <a:pt x="1714227" y="20902"/>
                  <a:pt x="1714227" y="46647"/>
                </a:cubicBezTo>
                <a:lnTo>
                  <a:pt x="1714227" y="233227"/>
                </a:lnTo>
                <a:cubicBezTo>
                  <a:pt x="1714227" y="258972"/>
                  <a:pt x="1693325" y="279874"/>
                  <a:pt x="1667580" y="279874"/>
                </a:cubicBezTo>
                <a:lnTo>
                  <a:pt x="46647" y="279874"/>
                </a:lnTo>
                <a:cubicBezTo>
                  <a:pt x="20902" y="279874"/>
                  <a:pt x="0" y="258972"/>
                  <a:pt x="0" y="233227"/>
                </a:cubicBezTo>
                <a:lnTo>
                  <a:pt x="0" y="46647"/>
                </a:lnTo>
                <a:cubicBezTo>
                  <a:pt x="0" y="20902"/>
                  <a:pt x="20902" y="0"/>
                  <a:pt x="46647" y="0"/>
                </a:cubicBezTo>
                <a:close/>
              </a:path>
            </a:pathLst>
          </a:custGeom>
          <a:solidFill>
            <a:srgbClr val="B38B59">
              <a:alpha val="20000"/>
            </a:srgbClr>
          </a:solidFill>
          <a:ln/>
        </p:spPr>
        <p:txBody>
          <a:bodyPr/>
          <a:lstStyle/>
          <a:p>
            <a:endParaRPr lang="zh-CN" altLang="en-US"/>
          </a:p>
        </p:txBody>
      </p:sp>
      <p:sp>
        <p:nvSpPr>
          <p:cNvPr id="65" name="Text 63"/>
          <p:cNvSpPr/>
          <p:nvPr/>
        </p:nvSpPr>
        <p:spPr>
          <a:xfrm>
            <a:off x="13749344" y="6868568"/>
            <a:ext cx="1784195" cy="279874"/>
          </a:xfrm>
          <a:prstGeom prst="rect">
            <a:avLst/>
          </a:prstGeom>
          <a:noFill/>
          <a:ln/>
        </p:spPr>
        <p:txBody>
          <a:bodyPr wrap="square" lIns="46646" tIns="46646" rIns="46646" bIns="46646"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overlay</a:t>
            </a:r>
            <a:endParaRPr lang="en-US" sz="1600" dirty="0"/>
          </a:p>
        </p:txBody>
      </p:sp>
      <p:sp>
        <p:nvSpPr>
          <p:cNvPr id="66" name="Shape 64"/>
          <p:cNvSpPr/>
          <p:nvPr/>
        </p:nvSpPr>
        <p:spPr>
          <a:xfrm>
            <a:off x="472287" y="7517599"/>
            <a:ext cx="5002743" cy="1550967"/>
          </a:xfrm>
          <a:custGeom>
            <a:avLst/>
            <a:gdLst/>
            <a:ahLst/>
            <a:cxnLst/>
            <a:rect l="l" t="t" r="r" b="b"/>
            <a:pathLst>
              <a:path w="5002743" h="1550967">
                <a:moveTo>
                  <a:pt x="93291" y="0"/>
                </a:moveTo>
                <a:lnTo>
                  <a:pt x="4909453" y="0"/>
                </a:lnTo>
                <a:cubicBezTo>
                  <a:pt x="4960976" y="0"/>
                  <a:pt x="5002743" y="41768"/>
                  <a:pt x="5002743" y="93291"/>
                </a:cubicBezTo>
                <a:lnTo>
                  <a:pt x="5002743" y="1457676"/>
                </a:lnTo>
                <a:cubicBezTo>
                  <a:pt x="5002743" y="1509199"/>
                  <a:pt x="4960976" y="1550967"/>
                  <a:pt x="4909453" y="1550967"/>
                </a:cubicBezTo>
                <a:lnTo>
                  <a:pt x="93291" y="1550967"/>
                </a:lnTo>
                <a:cubicBezTo>
                  <a:pt x="41768" y="1550967"/>
                  <a:pt x="0" y="1509199"/>
                  <a:pt x="0" y="1457676"/>
                </a:cubicBezTo>
                <a:lnTo>
                  <a:pt x="0" y="93291"/>
                </a:lnTo>
                <a:cubicBezTo>
                  <a:pt x="0" y="41802"/>
                  <a:pt x="41802" y="0"/>
                  <a:pt x="93291"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7" name="Text 65"/>
          <p:cNvSpPr/>
          <p:nvPr/>
        </p:nvSpPr>
        <p:spPr>
          <a:xfrm>
            <a:off x="618055" y="7663366"/>
            <a:ext cx="4816161" cy="326519"/>
          </a:xfrm>
          <a:prstGeom prst="rect">
            <a:avLst/>
          </a:prstGeom>
          <a:noFill/>
          <a:ln/>
        </p:spPr>
        <p:txBody>
          <a:bodyPr wrap="square" lIns="0" tIns="0" rIns="0" bIns="0" rtlCol="0" anchor="ctr"/>
          <a:lstStyle/>
          <a:p>
            <a:pPr>
              <a:lnSpc>
                <a:spcPct val="130000"/>
              </a:lnSpc>
            </a:pPr>
            <a:r>
              <a:rPr lang="en-US" sz="1653" b="1" dirty="0">
                <a:solidFill>
                  <a:srgbClr val="E0E2E4"/>
                </a:solidFill>
                <a:latin typeface="MiSans" pitchFamily="34" charset="0"/>
                <a:ea typeface="MiSans" pitchFamily="34" charset="-122"/>
                <a:cs typeface="MiSans" pitchFamily="34" charset="-120"/>
              </a:rPr>
              <a:t>集成优势</a:t>
            </a:r>
            <a:endParaRPr lang="en-US" sz="1600" dirty="0"/>
          </a:p>
        </p:txBody>
      </p:sp>
      <p:sp>
        <p:nvSpPr>
          <p:cNvPr id="68" name="Shape 66"/>
          <p:cNvSpPr/>
          <p:nvPr/>
        </p:nvSpPr>
        <p:spPr>
          <a:xfrm>
            <a:off x="651581" y="8129822"/>
            <a:ext cx="142852" cy="163260"/>
          </a:xfrm>
          <a:custGeom>
            <a:avLst/>
            <a:gdLst/>
            <a:ahLst/>
            <a:cxnLst/>
            <a:rect l="l" t="t" r="r" b="b"/>
            <a:pathLst>
              <a:path w="142852" h="163260">
                <a:moveTo>
                  <a:pt x="138643" y="22353"/>
                </a:moveTo>
                <a:cubicBezTo>
                  <a:pt x="143203" y="25669"/>
                  <a:pt x="144223" y="32046"/>
                  <a:pt x="140907" y="36606"/>
                </a:cubicBezTo>
                <a:lnTo>
                  <a:pt x="59277" y="148847"/>
                </a:lnTo>
                <a:cubicBezTo>
                  <a:pt x="57524" y="151270"/>
                  <a:pt x="54813" y="152769"/>
                  <a:pt x="51816" y="153024"/>
                </a:cubicBezTo>
                <a:cubicBezTo>
                  <a:pt x="48818" y="153279"/>
                  <a:pt x="45917" y="152163"/>
                  <a:pt x="43812" y="150059"/>
                </a:cubicBezTo>
                <a:lnTo>
                  <a:pt x="2997" y="109244"/>
                </a:lnTo>
                <a:cubicBezTo>
                  <a:pt x="-988" y="105258"/>
                  <a:pt x="-988" y="98785"/>
                  <a:pt x="2997" y="94799"/>
                </a:cubicBezTo>
                <a:cubicBezTo>
                  <a:pt x="6983" y="90813"/>
                  <a:pt x="13456" y="90813"/>
                  <a:pt x="17442" y="94799"/>
                </a:cubicBezTo>
                <a:lnTo>
                  <a:pt x="49807" y="127164"/>
                </a:lnTo>
                <a:lnTo>
                  <a:pt x="124422" y="24585"/>
                </a:lnTo>
                <a:cubicBezTo>
                  <a:pt x="127738" y="20025"/>
                  <a:pt x="134115" y="19004"/>
                  <a:pt x="138675" y="22321"/>
                </a:cubicBezTo>
                <a:close/>
              </a:path>
            </a:pathLst>
          </a:custGeom>
          <a:solidFill>
            <a:srgbClr val="B38B59"/>
          </a:solidFill>
          <a:ln/>
        </p:spPr>
        <p:txBody>
          <a:bodyPr/>
          <a:lstStyle/>
          <a:p>
            <a:endParaRPr lang="zh-CN" altLang="en-US"/>
          </a:p>
        </p:txBody>
      </p:sp>
      <p:sp>
        <p:nvSpPr>
          <p:cNvPr id="69" name="Text 67"/>
          <p:cNvSpPr/>
          <p:nvPr/>
        </p:nvSpPr>
        <p:spPr>
          <a:xfrm>
            <a:off x="915420" y="8083177"/>
            <a:ext cx="2332281" cy="233228"/>
          </a:xfrm>
          <a:prstGeom prst="rect">
            <a:avLst/>
          </a:prstGeom>
          <a:noFill/>
          <a:ln/>
        </p:spPr>
        <p:txBody>
          <a:bodyPr wrap="square" lIns="0" tIns="0" rIns="0" bIns="0" rtlCol="0" anchor="ctr"/>
          <a:lstStyle/>
          <a:p>
            <a:pPr>
              <a:lnSpc>
                <a:spcPct val="120000"/>
              </a:lnSpc>
            </a:pPr>
            <a:r>
              <a:rPr lang="en-US" sz="1286" b="1" dirty="0">
                <a:solidFill>
                  <a:srgbClr val="E0E2E4"/>
                </a:solidFill>
                <a:latin typeface="MiSans" pitchFamily="34" charset="0"/>
                <a:ea typeface="MiSans" pitchFamily="34" charset="-122"/>
                <a:cs typeface="MiSans" pitchFamily="34" charset="-120"/>
              </a:rPr>
              <a:t>标准化部署:</a:t>
            </a:r>
            <a:r>
              <a:rPr lang="en-US" sz="1286" dirty="0">
                <a:solidFill>
                  <a:srgbClr val="E0E2E4">
                    <a:alpha val="80000"/>
                  </a:srgbClr>
                </a:solidFill>
                <a:latin typeface="MiSans" pitchFamily="34" charset="0"/>
                <a:ea typeface="MiSans" pitchFamily="34" charset="-122"/>
                <a:cs typeface="MiSans" pitchFamily="34" charset="-120"/>
              </a:rPr>
              <a:t> 镜像封装,环境一致</a:t>
            </a:r>
            <a:endParaRPr lang="en-US" sz="1600" dirty="0"/>
          </a:p>
        </p:txBody>
      </p:sp>
      <p:sp>
        <p:nvSpPr>
          <p:cNvPr id="70" name="Shape 68"/>
          <p:cNvSpPr/>
          <p:nvPr/>
        </p:nvSpPr>
        <p:spPr>
          <a:xfrm>
            <a:off x="651581" y="8433019"/>
            <a:ext cx="142852" cy="163260"/>
          </a:xfrm>
          <a:custGeom>
            <a:avLst/>
            <a:gdLst/>
            <a:ahLst/>
            <a:cxnLst/>
            <a:rect l="l" t="t" r="r" b="b"/>
            <a:pathLst>
              <a:path w="142852" h="163260">
                <a:moveTo>
                  <a:pt x="138643" y="22353"/>
                </a:moveTo>
                <a:cubicBezTo>
                  <a:pt x="143203" y="25669"/>
                  <a:pt x="144223" y="32046"/>
                  <a:pt x="140907" y="36606"/>
                </a:cubicBezTo>
                <a:lnTo>
                  <a:pt x="59277" y="148847"/>
                </a:lnTo>
                <a:cubicBezTo>
                  <a:pt x="57524" y="151270"/>
                  <a:pt x="54813" y="152769"/>
                  <a:pt x="51816" y="153024"/>
                </a:cubicBezTo>
                <a:cubicBezTo>
                  <a:pt x="48818" y="153279"/>
                  <a:pt x="45917" y="152163"/>
                  <a:pt x="43812" y="150059"/>
                </a:cubicBezTo>
                <a:lnTo>
                  <a:pt x="2997" y="109244"/>
                </a:lnTo>
                <a:cubicBezTo>
                  <a:pt x="-988" y="105258"/>
                  <a:pt x="-988" y="98785"/>
                  <a:pt x="2997" y="94799"/>
                </a:cubicBezTo>
                <a:cubicBezTo>
                  <a:pt x="6983" y="90813"/>
                  <a:pt x="13456" y="90813"/>
                  <a:pt x="17442" y="94799"/>
                </a:cubicBezTo>
                <a:lnTo>
                  <a:pt x="49807" y="127164"/>
                </a:lnTo>
                <a:lnTo>
                  <a:pt x="124422" y="24585"/>
                </a:lnTo>
                <a:cubicBezTo>
                  <a:pt x="127738" y="20025"/>
                  <a:pt x="134115" y="19004"/>
                  <a:pt x="138675" y="22321"/>
                </a:cubicBezTo>
                <a:close/>
              </a:path>
            </a:pathLst>
          </a:custGeom>
          <a:solidFill>
            <a:srgbClr val="B38B59"/>
          </a:solidFill>
          <a:ln/>
        </p:spPr>
        <p:txBody>
          <a:bodyPr/>
          <a:lstStyle/>
          <a:p>
            <a:endParaRPr lang="zh-CN" altLang="en-US"/>
          </a:p>
        </p:txBody>
      </p:sp>
      <p:sp>
        <p:nvSpPr>
          <p:cNvPr id="71" name="Text 69"/>
          <p:cNvSpPr/>
          <p:nvPr/>
        </p:nvSpPr>
        <p:spPr>
          <a:xfrm>
            <a:off x="915420" y="8386373"/>
            <a:ext cx="2495541" cy="233228"/>
          </a:xfrm>
          <a:prstGeom prst="rect">
            <a:avLst/>
          </a:prstGeom>
          <a:noFill/>
          <a:ln/>
        </p:spPr>
        <p:txBody>
          <a:bodyPr wrap="square" lIns="0" tIns="0" rIns="0" bIns="0" rtlCol="0" anchor="ctr"/>
          <a:lstStyle/>
          <a:p>
            <a:pPr>
              <a:lnSpc>
                <a:spcPct val="120000"/>
              </a:lnSpc>
            </a:pPr>
            <a:r>
              <a:rPr lang="en-US" sz="1286" b="1" dirty="0">
                <a:solidFill>
                  <a:srgbClr val="E0E2E4"/>
                </a:solidFill>
                <a:latin typeface="MiSans" pitchFamily="34" charset="0"/>
                <a:ea typeface="MiSans" pitchFamily="34" charset="-122"/>
                <a:cs typeface="MiSans" pitchFamily="34" charset="-120"/>
              </a:rPr>
              <a:t>强隔离能力:</a:t>
            </a:r>
            <a:r>
              <a:rPr lang="en-US" sz="1286" dirty="0">
                <a:solidFill>
                  <a:srgbClr val="E0E2E4">
                    <a:alpha val="80000"/>
                  </a:srgbClr>
                </a:solidFill>
                <a:latin typeface="MiSans" pitchFamily="34" charset="0"/>
                <a:ea typeface="MiSans" pitchFamily="34" charset="-122"/>
                <a:cs typeface="MiSans" pitchFamily="34" charset="-120"/>
              </a:rPr>
              <a:t> 容器级隔离,安全可控</a:t>
            </a:r>
            <a:endParaRPr lang="en-US" sz="1600" dirty="0"/>
          </a:p>
        </p:txBody>
      </p:sp>
      <p:sp>
        <p:nvSpPr>
          <p:cNvPr id="72" name="Shape 70"/>
          <p:cNvSpPr/>
          <p:nvPr/>
        </p:nvSpPr>
        <p:spPr>
          <a:xfrm>
            <a:off x="651581" y="8736216"/>
            <a:ext cx="142852" cy="163260"/>
          </a:xfrm>
          <a:custGeom>
            <a:avLst/>
            <a:gdLst/>
            <a:ahLst/>
            <a:cxnLst/>
            <a:rect l="l" t="t" r="r" b="b"/>
            <a:pathLst>
              <a:path w="142852" h="163260">
                <a:moveTo>
                  <a:pt x="138643" y="22353"/>
                </a:moveTo>
                <a:cubicBezTo>
                  <a:pt x="143203" y="25669"/>
                  <a:pt x="144223" y="32046"/>
                  <a:pt x="140907" y="36606"/>
                </a:cubicBezTo>
                <a:lnTo>
                  <a:pt x="59277" y="148847"/>
                </a:lnTo>
                <a:cubicBezTo>
                  <a:pt x="57524" y="151270"/>
                  <a:pt x="54813" y="152769"/>
                  <a:pt x="51816" y="153024"/>
                </a:cubicBezTo>
                <a:cubicBezTo>
                  <a:pt x="48818" y="153279"/>
                  <a:pt x="45917" y="152163"/>
                  <a:pt x="43812" y="150059"/>
                </a:cubicBezTo>
                <a:lnTo>
                  <a:pt x="2997" y="109244"/>
                </a:lnTo>
                <a:cubicBezTo>
                  <a:pt x="-988" y="105258"/>
                  <a:pt x="-988" y="98785"/>
                  <a:pt x="2997" y="94799"/>
                </a:cubicBezTo>
                <a:cubicBezTo>
                  <a:pt x="6983" y="90813"/>
                  <a:pt x="13456" y="90813"/>
                  <a:pt x="17442" y="94799"/>
                </a:cubicBezTo>
                <a:lnTo>
                  <a:pt x="49807" y="127164"/>
                </a:lnTo>
                <a:lnTo>
                  <a:pt x="124422" y="24585"/>
                </a:lnTo>
                <a:cubicBezTo>
                  <a:pt x="127738" y="20025"/>
                  <a:pt x="134115" y="19004"/>
                  <a:pt x="138675" y="22321"/>
                </a:cubicBezTo>
                <a:close/>
              </a:path>
            </a:pathLst>
          </a:custGeom>
          <a:solidFill>
            <a:srgbClr val="B38B59"/>
          </a:solidFill>
          <a:ln/>
        </p:spPr>
        <p:txBody>
          <a:bodyPr/>
          <a:lstStyle/>
          <a:p>
            <a:endParaRPr lang="zh-CN" altLang="en-US"/>
          </a:p>
        </p:txBody>
      </p:sp>
      <p:sp>
        <p:nvSpPr>
          <p:cNvPr id="73" name="Text 71"/>
          <p:cNvSpPr/>
          <p:nvPr/>
        </p:nvSpPr>
        <p:spPr>
          <a:xfrm>
            <a:off x="915420" y="8689570"/>
            <a:ext cx="2402250" cy="233228"/>
          </a:xfrm>
          <a:prstGeom prst="rect">
            <a:avLst/>
          </a:prstGeom>
          <a:noFill/>
          <a:ln/>
        </p:spPr>
        <p:txBody>
          <a:bodyPr wrap="square" lIns="0" tIns="0" rIns="0" bIns="0" rtlCol="0" anchor="ctr"/>
          <a:lstStyle/>
          <a:p>
            <a:pPr>
              <a:lnSpc>
                <a:spcPct val="120000"/>
              </a:lnSpc>
            </a:pPr>
            <a:r>
              <a:rPr lang="en-US" sz="1286" b="1" dirty="0">
                <a:solidFill>
                  <a:srgbClr val="E0E2E4"/>
                </a:solidFill>
                <a:latin typeface="MiSans" pitchFamily="34" charset="0"/>
                <a:ea typeface="MiSans" pitchFamily="34" charset="-122"/>
                <a:cs typeface="MiSans" pitchFamily="34" charset="-120"/>
              </a:rPr>
              <a:t>生态兼容:</a:t>
            </a:r>
            <a:r>
              <a:rPr lang="en-US" sz="1286" dirty="0">
                <a:solidFill>
                  <a:srgbClr val="E0E2E4">
                    <a:alpha val="80000"/>
                  </a:srgbClr>
                </a:solidFill>
                <a:latin typeface="MiSans" pitchFamily="34" charset="0"/>
                <a:ea typeface="MiSans" pitchFamily="34" charset="-122"/>
                <a:cs typeface="MiSans" pitchFamily="34" charset="-120"/>
              </a:rPr>
              <a:t> 与DevOps工具链集成</a:t>
            </a:r>
            <a:endParaRPr lang="en-US" sz="1600" dirty="0"/>
          </a:p>
        </p:txBody>
      </p:sp>
      <p:sp>
        <p:nvSpPr>
          <p:cNvPr id="74" name="Shape 72"/>
          <p:cNvSpPr/>
          <p:nvPr/>
        </p:nvSpPr>
        <p:spPr>
          <a:xfrm>
            <a:off x="5625717" y="7517599"/>
            <a:ext cx="5002743" cy="1550967"/>
          </a:xfrm>
          <a:custGeom>
            <a:avLst/>
            <a:gdLst/>
            <a:ahLst/>
            <a:cxnLst/>
            <a:rect l="l" t="t" r="r" b="b"/>
            <a:pathLst>
              <a:path w="5002743" h="1550967">
                <a:moveTo>
                  <a:pt x="93291" y="0"/>
                </a:moveTo>
                <a:lnTo>
                  <a:pt x="4909453" y="0"/>
                </a:lnTo>
                <a:cubicBezTo>
                  <a:pt x="4960976" y="0"/>
                  <a:pt x="5002743" y="41768"/>
                  <a:pt x="5002743" y="93291"/>
                </a:cubicBezTo>
                <a:lnTo>
                  <a:pt x="5002743" y="1457676"/>
                </a:lnTo>
                <a:cubicBezTo>
                  <a:pt x="5002743" y="1509199"/>
                  <a:pt x="4960976" y="1550967"/>
                  <a:pt x="4909453" y="1550967"/>
                </a:cubicBezTo>
                <a:lnTo>
                  <a:pt x="93291" y="1550967"/>
                </a:lnTo>
                <a:cubicBezTo>
                  <a:pt x="41768" y="1550967"/>
                  <a:pt x="0" y="1509199"/>
                  <a:pt x="0" y="1457676"/>
                </a:cubicBezTo>
                <a:lnTo>
                  <a:pt x="0" y="93291"/>
                </a:lnTo>
                <a:cubicBezTo>
                  <a:pt x="0" y="41802"/>
                  <a:pt x="41802" y="0"/>
                  <a:pt x="93291"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75" name="Text 73"/>
          <p:cNvSpPr/>
          <p:nvPr/>
        </p:nvSpPr>
        <p:spPr>
          <a:xfrm>
            <a:off x="5771485" y="7663366"/>
            <a:ext cx="4816161" cy="326519"/>
          </a:xfrm>
          <a:prstGeom prst="rect">
            <a:avLst/>
          </a:prstGeom>
          <a:noFill/>
          <a:ln/>
        </p:spPr>
        <p:txBody>
          <a:bodyPr wrap="square" lIns="0" tIns="0" rIns="0" bIns="0" rtlCol="0" anchor="ctr"/>
          <a:lstStyle/>
          <a:p>
            <a:pPr>
              <a:lnSpc>
                <a:spcPct val="130000"/>
              </a:lnSpc>
            </a:pPr>
            <a:r>
              <a:rPr lang="en-US" sz="1653" b="1" dirty="0">
                <a:solidFill>
                  <a:srgbClr val="E0E2E4"/>
                </a:solidFill>
                <a:latin typeface="MiSans" pitchFamily="34" charset="0"/>
                <a:ea typeface="MiSans" pitchFamily="34" charset="-122"/>
                <a:cs typeface="MiSans" pitchFamily="34" charset="-120"/>
              </a:rPr>
              <a:t>镜像安全措施</a:t>
            </a:r>
            <a:endParaRPr lang="en-US" sz="1600" dirty="0"/>
          </a:p>
        </p:txBody>
      </p:sp>
      <p:sp>
        <p:nvSpPr>
          <p:cNvPr id="76" name="Shape 74"/>
          <p:cNvSpPr/>
          <p:nvPr/>
        </p:nvSpPr>
        <p:spPr>
          <a:xfrm>
            <a:off x="5771485" y="8083177"/>
            <a:ext cx="2320620" cy="326519"/>
          </a:xfrm>
          <a:custGeom>
            <a:avLst/>
            <a:gdLst/>
            <a:ahLst/>
            <a:cxnLst/>
            <a:rect l="l" t="t" r="r" b="b"/>
            <a:pathLst>
              <a:path w="2320620" h="326519">
                <a:moveTo>
                  <a:pt x="46647" y="0"/>
                </a:moveTo>
                <a:lnTo>
                  <a:pt x="2273973" y="0"/>
                </a:lnTo>
                <a:cubicBezTo>
                  <a:pt x="2299718" y="0"/>
                  <a:pt x="2320620" y="20902"/>
                  <a:pt x="2320620" y="46647"/>
                </a:cubicBezTo>
                <a:lnTo>
                  <a:pt x="2320620" y="279873"/>
                </a:lnTo>
                <a:cubicBezTo>
                  <a:pt x="2320620" y="305618"/>
                  <a:pt x="2299718" y="326519"/>
                  <a:pt x="2273973" y="326519"/>
                </a:cubicBezTo>
                <a:lnTo>
                  <a:pt x="46647" y="326519"/>
                </a:lnTo>
                <a:cubicBezTo>
                  <a:pt x="20902" y="326519"/>
                  <a:pt x="0" y="305618"/>
                  <a:pt x="0" y="279873"/>
                </a:cubicBezTo>
                <a:lnTo>
                  <a:pt x="0" y="46647"/>
                </a:lnTo>
                <a:cubicBezTo>
                  <a:pt x="0" y="20902"/>
                  <a:pt x="20902" y="0"/>
                  <a:pt x="46647" y="0"/>
                </a:cubicBezTo>
                <a:close/>
              </a:path>
            </a:pathLst>
          </a:custGeom>
          <a:solidFill>
            <a:srgbClr val="1A1D21">
              <a:alpha val="50196"/>
            </a:srgbClr>
          </a:solidFill>
          <a:ln/>
        </p:spPr>
        <p:txBody>
          <a:bodyPr/>
          <a:lstStyle/>
          <a:p>
            <a:endParaRPr lang="zh-CN" altLang="en-US"/>
          </a:p>
        </p:txBody>
      </p:sp>
      <p:sp>
        <p:nvSpPr>
          <p:cNvPr id="77" name="Text 75"/>
          <p:cNvSpPr/>
          <p:nvPr/>
        </p:nvSpPr>
        <p:spPr>
          <a:xfrm>
            <a:off x="5736501" y="8083177"/>
            <a:ext cx="2390588" cy="326519"/>
          </a:xfrm>
          <a:prstGeom prst="rect">
            <a:avLst/>
          </a:prstGeom>
          <a:noFill/>
          <a:ln/>
        </p:spPr>
        <p:txBody>
          <a:bodyPr wrap="square" lIns="69968" tIns="69968" rIns="69968" bIns="69968"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镜像扫描</a:t>
            </a:r>
            <a:endParaRPr lang="en-US" sz="1600" dirty="0"/>
          </a:p>
        </p:txBody>
      </p:sp>
      <p:sp>
        <p:nvSpPr>
          <p:cNvPr id="78" name="Shape 76"/>
          <p:cNvSpPr/>
          <p:nvPr/>
        </p:nvSpPr>
        <p:spPr>
          <a:xfrm>
            <a:off x="8161618" y="8083177"/>
            <a:ext cx="2320620" cy="326519"/>
          </a:xfrm>
          <a:custGeom>
            <a:avLst/>
            <a:gdLst/>
            <a:ahLst/>
            <a:cxnLst/>
            <a:rect l="l" t="t" r="r" b="b"/>
            <a:pathLst>
              <a:path w="2320620" h="326519">
                <a:moveTo>
                  <a:pt x="46647" y="0"/>
                </a:moveTo>
                <a:lnTo>
                  <a:pt x="2273973" y="0"/>
                </a:lnTo>
                <a:cubicBezTo>
                  <a:pt x="2299718" y="0"/>
                  <a:pt x="2320620" y="20902"/>
                  <a:pt x="2320620" y="46647"/>
                </a:cubicBezTo>
                <a:lnTo>
                  <a:pt x="2320620" y="279873"/>
                </a:lnTo>
                <a:cubicBezTo>
                  <a:pt x="2320620" y="305618"/>
                  <a:pt x="2299718" y="326519"/>
                  <a:pt x="2273973" y="326519"/>
                </a:cubicBezTo>
                <a:lnTo>
                  <a:pt x="46647" y="326519"/>
                </a:lnTo>
                <a:cubicBezTo>
                  <a:pt x="20902" y="326519"/>
                  <a:pt x="0" y="305618"/>
                  <a:pt x="0" y="279873"/>
                </a:cubicBezTo>
                <a:lnTo>
                  <a:pt x="0" y="46647"/>
                </a:lnTo>
                <a:cubicBezTo>
                  <a:pt x="0" y="20902"/>
                  <a:pt x="20902" y="0"/>
                  <a:pt x="46647" y="0"/>
                </a:cubicBezTo>
                <a:close/>
              </a:path>
            </a:pathLst>
          </a:custGeom>
          <a:solidFill>
            <a:srgbClr val="1A1D21">
              <a:alpha val="50196"/>
            </a:srgbClr>
          </a:solidFill>
          <a:ln/>
        </p:spPr>
        <p:txBody>
          <a:bodyPr/>
          <a:lstStyle/>
          <a:p>
            <a:endParaRPr lang="zh-CN" altLang="en-US"/>
          </a:p>
        </p:txBody>
      </p:sp>
      <p:sp>
        <p:nvSpPr>
          <p:cNvPr id="79" name="Text 77"/>
          <p:cNvSpPr/>
          <p:nvPr/>
        </p:nvSpPr>
        <p:spPr>
          <a:xfrm>
            <a:off x="8126633" y="8083177"/>
            <a:ext cx="2390588" cy="326519"/>
          </a:xfrm>
          <a:prstGeom prst="rect">
            <a:avLst/>
          </a:prstGeom>
          <a:noFill/>
          <a:ln/>
        </p:spPr>
        <p:txBody>
          <a:bodyPr wrap="square" lIns="69968" tIns="69968" rIns="69968" bIns="69968"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访问控制</a:t>
            </a:r>
            <a:endParaRPr lang="en-US" sz="1600" dirty="0"/>
          </a:p>
        </p:txBody>
      </p:sp>
      <p:sp>
        <p:nvSpPr>
          <p:cNvPr id="80" name="Shape 78"/>
          <p:cNvSpPr/>
          <p:nvPr/>
        </p:nvSpPr>
        <p:spPr>
          <a:xfrm>
            <a:off x="5771485" y="8479665"/>
            <a:ext cx="2320620" cy="326519"/>
          </a:xfrm>
          <a:custGeom>
            <a:avLst/>
            <a:gdLst/>
            <a:ahLst/>
            <a:cxnLst/>
            <a:rect l="l" t="t" r="r" b="b"/>
            <a:pathLst>
              <a:path w="2320620" h="326519">
                <a:moveTo>
                  <a:pt x="46647" y="0"/>
                </a:moveTo>
                <a:lnTo>
                  <a:pt x="2273973" y="0"/>
                </a:lnTo>
                <a:cubicBezTo>
                  <a:pt x="2299718" y="0"/>
                  <a:pt x="2320620" y="20902"/>
                  <a:pt x="2320620" y="46647"/>
                </a:cubicBezTo>
                <a:lnTo>
                  <a:pt x="2320620" y="279873"/>
                </a:lnTo>
                <a:cubicBezTo>
                  <a:pt x="2320620" y="305618"/>
                  <a:pt x="2299718" y="326519"/>
                  <a:pt x="2273973" y="326519"/>
                </a:cubicBezTo>
                <a:lnTo>
                  <a:pt x="46647" y="326519"/>
                </a:lnTo>
                <a:cubicBezTo>
                  <a:pt x="20902" y="326519"/>
                  <a:pt x="0" y="305618"/>
                  <a:pt x="0" y="279873"/>
                </a:cubicBezTo>
                <a:lnTo>
                  <a:pt x="0" y="46647"/>
                </a:lnTo>
                <a:cubicBezTo>
                  <a:pt x="0" y="20902"/>
                  <a:pt x="20902" y="0"/>
                  <a:pt x="46647" y="0"/>
                </a:cubicBezTo>
                <a:close/>
              </a:path>
            </a:pathLst>
          </a:custGeom>
          <a:solidFill>
            <a:srgbClr val="1A1D21">
              <a:alpha val="50196"/>
            </a:srgbClr>
          </a:solidFill>
          <a:ln/>
        </p:spPr>
        <p:txBody>
          <a:bodyPr/>
          <a:lstStyle/>
          <a:p>
            <a:endParaRPr lang="zh-CN" altLang="en-US"/>
          </a:p>
        </p:txBody>
      </p:sp>
      <p:sp>
        <p:nvSpPr>
          <p:cNvPr id="81" name="Text 79"/>
          <p:cNvSpPr/>
          <p:nvPr/>
        </p:nvSpPr>
        <p:spPr>
          <a:xfrm>
            <a:off x="5736501" y="8479665"/>
            <a:ext cx="2390588" cy="326519"/>
          </a:xfrm>
          <a:prstGeom prst="rect">
            <a:avLst/>
          </a:prstGeom>
          <a:noFill/>
          <a:ln/>
        </p:spPr>
        <p:txBody>
          <a:bodyPr wrap="square" lIns="69968" tIns="69968" rIns="69968" bIns="69968"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运行时保护</a:t>
            </a:r>
            <a:endParaRPr lang="en-US" sz="1600" dirty="0"/>
          </a:p>
        </p:txBody>
      </p:sp>
      <p:sp>
        <p:nvSpPr>
          <p:cNvPr id="82" name="Shape 80"/>
          <p:cNvSpPr/>
          <p:nvPr/>
        </p:nvSpPr>
        <p:spPr>
          <a:xfrm>
            <a:off x="8161618" y="8479665"/>
            <a:ext cx="2320620" cy="326519"/>
          </a:xfrm>
          <a:custGeom>
            <a:avLst/>
            <a:gdLst/>
            <a:ahLst/>
            <a:cxnLst/>
            <a:rect l="l" t="t" r="r" b="b"/>
            <a:pathLst>
              <a:path w="2320620" h="326519">
                <a:moveTo>
                  <a:pt x="46647" y="0"/>
                </a:moveTo>
                <a:lnTo>
                  <a:pt x="2273973" y="0"/>
                </a:lnTo>
                <a:cubicBezTo>
                  <a:pt x="2299718" y="0"/>
                  <a:pt x="2320620" y="20902"/>
                  <a:pt x="2320620" y="46647"/>
                </a:cubicBezTo>
                <a:lnTo>
                  <a:pt x="2320620" y="279873"/>
                </a:lnTo>
                <a:cubicBezTo>
                  <a:pt x="2320620" y="305618"/>
                  <a:pt x="2299718" y="326519"/>
                  <a:pt x="2273973" y="326519"/>
                </a:cubicBezTo>
                <a:lnTo>
                  <a:pt x="46647" y="326519"/>
                </a:lnTo>
                <a:cubicBezTo>
                  <a:pt x="20902" y="326519"/>
                  <a:pt x="0" y="305618"/>
                  <a:pt x="0" y="279873"/>
                </a:cubicBezTo>
                <a:lnTo>
                  <a:pt x="0" y="46647"/>
                </a:lnTo>
                <a:cubicBezTo>
                  <a:pt x="0" y="20902"/>
                  <a:pt x="20902" y="0"/>
                  <a:pt x="46647" y="0"/>
                </a:cubicBezTo>
                <a:close/>
              </a:path>
            </a:pathLst>
          </a:custGeom>
          <a:solidFill>
            <a:srgbClr val="1A1D21">
              <a:alpha val="50196"/>
            </a:srgbClr>
          </a:solidFill>
          <a:ln/>
        </p:spPr>
        <p:txBody>
          <a:bodyPr/>
          <a:lstStyle/>
          <a:p>
            <a:endParaRPr lang="zh-CN" altLang="en-US"/>
          </a:p>
        </p:txBody>
      </p:sp>
      <p:sp>
        <p:nvSpPr>
          <p:cNvPr id="83" name="Text 81"/>
          <p:cNvSpPr/>
          <p:nvPr/>
        </p:nvSpPr>
        <p:spPr>
          <a:xfrm>
            <a:off x="8126633" y="8479665"/>
            <a:ext cx="2390588" cy="326519"/>
          </a:xfrm>
          <a:prstGeom prst="rect">
            <a:avLst/>
          </a:prstGeom>
          <a:noFill/>
          <a:ln/>
        </p:spPr>
        <p:txBody>
          <a:bodyPr wrap="square" lIns="69968" tIns="69968" rIns="69968" bIns="69968"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网络安全</a:t>
            </a:r>
            <a:endParaRPr lang="en-US" sz="1600" dirty="0"/>
          </a:p>
        </p:txBody>
      </p:sp>
      <p:sp>
        <p:nvSpPr>
          <p:cNvPr id="84" name="Shape 82"/>
          <p:cNvSpPr/>
          <p:nvPr/>
        </p:nvSpPr>
        <p:spPr>
          <a:xfrm>
            <a:off x="10779148" y="7517599"/>
            <a:ext cx="5002743" cy="1550967"/>
          </a:xfrm>
          <a:custGeom>
            <a:avLst/>
            <a:gdLst/>
            <a:ahLst/>
            <a:cxnLst/>
            <a:rect l="l" t="t" r="r" b="b"/>
            <a:pathLst>
              <a:path w="5002743" h="1550967">
                <a:moveTo>
                  <a:pt x="93291" y="0"/>
                </a:moveTo>
                <a:lnTo>
                  <a:pt x="4909453" y="0"/>
                </a:lnTo>
                <a:cubicBezTo>
                  <a:pt x="4960976" y="0"/>
                  <a:pt x="5002743" y="41768"/>
                  <a:pt x="5002743" y="93291"/>
                </a:cubicBezTo>
                <a:lnTo>
                  <a:pt x="5002743" y="1457676"/>
                </a:lnTo>
                <a:cubicBezTo>
                  <a:pt x="5002743" y="1509199"/>
                  <a:pt x="4960976" y="1550967"/>
                  <a:pt x="4909453" y="1550967"/>
                </a:cubicBezTo>
                <a:lnTo>
                  <a:pt x="93291" y="1550967"/>
                </a:lnTo>
                <a:cubicBezTo>
                  <a:pt x="41768" y="1550967"/>
                  <a:pt x="0" y="1509199"/>
                  <a:pt x="0" y="1457676"/>
                </a:cubicBezTo>
                <a:lnTo>
                  <a:pt x="0" y="93291"/>
                </a:lnTo>
                <a:cubicBezTo>
                  <a:pt x="0" y="41802"/>
                  <a:pt x="41802" y="0"/>
                  <a:pt x="93291"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85" name="Text 83"/>
          <p:cNvSpPr/>
          <p:nvPr/>
        </p:nvSpPr>
        <p:spPr>
          <a:xfrm>
            <a:off x="10924915" y="7663366"/>
            <a:ext cx="4816161" cy="326519"/>
          </a:xfrm>
          <a:prstGeom prst="rect">
            <a:avLst/>
          </a:prstGeom>
          <a:noFill/>
          <a:ln/>
        </p:spPr>
        <p:txBody>
          <a:bodyPr wrap="square" lIns="0" tIns="0" rIns="0" bIns="0" rtlCol="0" anchor="ctr"/>
          <a:lstStyle/>
          <a:p>
            <a:pPr>
              <a:lnSpc>
                <a:spcPct val="130000"/>
              </a:lnSpc>
            </a:pPr>
            <a:r>
              <a:rPr lang="en-US" sz="1653" b="1" dirty="0">
                <a:solidFill>
                  <a:srgbClr val="E0E2E4"/>
                </a:solidFill>
                <a:latin typeface="MiSans" pitchFamily="34" charset="0"/>
                <a:ea typeface="MiSans" pitchFamily="34" charset="-122"/>
                <a:cs typeface="MiSans" pitchFamily="34" charset="-120"/>
              </a:rPr>
              <a:t>性能优化策略</a:t>
            </a:r>
            <a:endParaRPr lang="en-US" sz="1600" dirty="0"/>
          </a:p>
        </p:txBody>
      </p:sp>
      <p:sp>
        <p:nvSpPr>
          <p:cNvPr id="86" name="Shape 84"/>
          <p:cNvSpPr/>
          <p:nvPr/>
        </p:nvSpPr>
        <p:spPr>
          <a:xfrm>
            <a:off x="10924915" y="8083177"/>
            <a:ext cx="2320620" cy="326519"/>
          </a:xfrm>
          <a:custGeom>
            <a:avLst/>
            <a:gdLst/>
            <a:ahLst/>
            <a:cxnLst/>
            <a:rect l="l" t="t" r="r" b="b"/>
            <a:pathLst>
              <a:path w="2320620" h="326519">
                <a:moveTo>
                  <a:pt x="46647" y="0"/>
                </a:moveTo>
                <a:lnTo>
                  <a:pt x="2273973" y="0"/>
                </a:lnTo>
                <a:cubicBezTo>
                  <a:pt x="2299718" y="0"/>
                  <a:pt x="2320620" y="20902"/>
                  <a:pt x="2320620" y="46647"/>
                </a:cubicBezTo>
                <a:lnTo>
                  <a:pt x="2320620" y="279873"/>
                </a:lnTo>
                <a:cubicBezTo>
                  <a:pt x="2320620" y="305618"/>
                  <a:pt x="2299718" y="326519"/>
                  <a:pt x="2273973" y="326519"/>
                </a:cubicBezTo>
                <a:lnTo>
                  <a:pt x="46647" y="326519"/>
                </a:lnTo>
                <a:cubicBezTo>
                  <a:pt x="20902" y="326519"/>
                  <a:pt x="0" y="305618"/>
                  <a:pt x="0" y="279873"/>
                </a:cubicBezTo>
                <a:lnTo>
                  <a:pt x="0" y="46647"/>
                </a:lnTo>
                <a:cubicBezTo>
                  <a:pt x="0" y="20902"/>
                  <a:pt x="20902" y="0"/>
                  <a:pt x="46647" y="0"/>
                </a:cubicBezTo>
                <a:close/>
              </a:path>
            </a:pathLst>
          </a:custGeom>
          <a:solidFill>
            <a:srgbClr val="1A1D21">
              <a:alpha val="50196"/>
            </a:srgbClr>
          </a:solidFill>
          <a:ln/>
        </p:spPr>
        <p:txBody>
          <a:bodyPr/>
          <a:lstStyle/>
          <a:p>
            <a:endParaRPr lang="zh-CN" altLang="en-US"/>
          </a:p>
        </p:txBody>
      </p:sp>
      <p:sp>
        <p:nvSpPr>
          <p:cNvPr id="87" name="Text 85"/>
          <p:cNvSpPr/>
          <p:nvPr/>
        </p:nvSpPr>
        <p:spPr>
          <a:xfrm>
            <a:off x="10889931" y="8083177"/>
            <a:ext cx="2390588" cy="326519"/>
          </a:xfrm>
          <a:prstGeom prst="rect">
            <a:avLst/>
          </a:prstGeom>
          <a:noFill/>
          <a:ln/>
        </p:spPr>
        <p:txBody>
          <a:bodyPr wrap="square" lIns="69968" tIns="69968" rIns="69968" bIns="69968"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镜像优化</a:t>
            </a:r>
            <a:endParaRPr lang="en-US" sz="1600" dirty="0"/>
          </a:p>
        </p:txBody>
      </p:sp>
      <p:sp>
        <p:nvSpPr>
          <p:cNvPr id="88" name="Shape 86"/>
          <p:cNvSpPr/>
          <p:nvPr/>
        </p:nvSpPr>
        <p:spPr>
          <a:xfrm>
            <a:off x="13315048" y="8083177"/>
            <a:ext cx="2320620" cy="326519"/>
          </a:xfrm>
          <a:custGeom>
            <a:avLst/>
            <a:gdLst/>
            <a:ahLst/>
            <a:cxnLst/>
            <a:rect l="l" t="t" r="r" b="b"/>
            <a:pathLst>
              <a:path w="2320620" h="326519">
                <a:moveTo>
                  <a:pt x="46647" y="0"/>
                </a:moveTo>
                <a:lnTo>
                  <a:pt x="2273973" y="0"/>
                </a:lnTo>
                <a:cubicBezTo>
                  <a:pt x="2299718" y="0"/>
                  <a:pt x="2320620" y="20902"/>
                  <a:pt x="2320620" y="46647"/>
                </a:cubicBezTo>
                <a:lnTo>
                  <a:pt x="2320620" y="279873"/>
                </a:lnTo>
                <a:cubicBezTo>
                  <a:pt x="2320620" y="305618"/>
                  <a:pt x="2299718" y="326519"/>
                  <a:pt x="2273973" y="326519"/>
                </a:cubicBezTo>
                <a:lnTo>
                  <a:pt x="46647" y="326519"/>
                </a:lnTo>
                <a:cubicBezTo>
                  <a:pt x="20902" y="326519"/>
                  <a:pt x="0" y="305618"/>
                  <a:pt x="0" y="279873"/>
                </a:cubicBezTo>
                <a:lnTo>
                  <a:pt x="0" y="46647"/>
                </a:lnTo>
                <a:cubicBezTo>
                  <a:pt x="0" y="20902"/>
                  <a:pt x="20902" y="0"/>
                  <a:pt x="46647" y="0"/>
                </a:cubicBezTo>
                <a:close/>
              </a:path>
            </a:pathLst>
          </a:custGeom>
          <a:solidFill>
            <a:srgbClr val="1A1D21">
              <a:alpha val="50196"/>
            </a:srgbClr>
          </a:solidFill>
          <a:ln/>
        </p:spPr>
        <p:txBody>
          <a:bodyPr/>
          <a:lstStyle/>
          <a:p>
            <a:endParaRPr lang="zh-CN" altLang="en-US"/>
          </a:p>
        </p:txBody>
      </p:sp>
      <p:sp>
        <p:nvSpPr>
          <p:cNvPr id="89" name="Text 87"/>
          <p:cNvSpPr/>
          <p:nvPr/>
        </p:nvSpPr>
        <p:spPr>
          <a:xfrm>
            <a:off x="13280064" y="8083177"/>
            <a:ext cx="2390588" cy="326519"/>
          </a:xfrm>
          <a:prstGeom prst="rect">
            <a:avLst/>
          </a:prstGeom>
          <a:noFill/>
          <a:ln/>
        </p:spPr>
        <p:txBody>
          <a:bodyPr wrap="square" lIns="69968" tIns="69968" rIns="69968" bIns="69968"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启动优化</a:t>
            </a:r>
            <a:endParaRPr lang="en-US" sz="1600" dirty="0"/>
          </a:p>
        </p:txBody>
      </p:sp>
      <p:sp>
        <p:nvSpPr>
          <p:cNvPr id="90" name="Shape 88"/>
          <p:cNvSpPr/>
          <p:nvPr/>
        </p:nvSpPr>
        <p:spPr>
          <a:xfrm>
            <a:off x="10924915" y="8479665"/>
            <a:ext cx="2320620" cy="326519"/>
          </a:xfrm>
          <a:custGeom>
            <a:avLst/>
            <a:gdLst/>
            <a:ahLst/>
            <a:cxnLst/>
            <a:rect l="l" t="t" r="r" b="b"/>
            <a:pathLst>
              <a:path w="2320620" h="326519">
                <a:moveTo>
                  <a:pt x="46647" y="0"/>
                </a:moveTo>
                <a:lnTo>
                  <a:pt x="2273973" y="0"/>
                </a:lnTo>
                <a:cubicBezTo>
                  <a:pt x="2299718" y="0"/>
                  <a:pt x="2320620" y="20902"/>
                  <a:pt x="2320620" y="46647"/>
                </a:cubicBezTo>
                <a:lnTo>
                  <a:pt x="2320620" y="279873"/>
                </a:lnTo>
                <a:cubicBezTo>
                  <a:pt x="2320620" y="305618"/>
                  <a:pt x="2299718" y="326519"/>
                  <a:pt x="2273973" y="326519"/>
                </a:cubicBezTo>
                <a:lnTo>
                  <a:pt x="46647" y="326519"/>
                </a:lnTo>
                <a:cubicBezTo>
                  <a:pt x="20902" y="326519"/>
                  <a:pt x="0" y="305618"/>
                  <a:pt x="0" y="279873"/>
                </a:cubicBezTo>
                <a:lnTo>
                  <a:pt x="0" y="46647"/>
                </a:lnTo>
                <a:cubicBezTo>
                  <a:pt x="0" y="20902"/>
                  <a:pt x="20902" y="0"/>
                  <a:pt x="46647" y="0"/>
                </a:cubicBezTo>
                <a:close/>
              </a:path>
            </a:pathLst>
          </a:custGeom>
          <a:solidFill>
            <a:srgbClr val="1A1D21">
              <a:alpha val="50196"/>
            </a:srgbClr>
          </a:solidFill>
          <a:ln/>
        </p:spPr>
        <p:txBody>
          <a:bodyPr/>
          <a:lstStyle/>
          <a:p>
            <a:endParaRPr lang="zh-CN" altLang="en-US"/>
          </a:p>
        </p:txBody>
      </p:sp>
      <p:sp>
        <p:nvSpPr>
          <p:cNvPr id="91" name="Text 89"/>
          <p:cNvSpPr/>
          <p:nvPr/>
        </p:nvSpPr>
        <p:spPr>
          <a:xfrm>
            <a:off x="10889931" y="8479665"/>
            <a:ext cx="2390588" cy="326519"/>
          </a:xfrm>
          <a:prstGeom prst="rect">
            <a:avLst/>
          </a:prstGeom>
          <a:noFill/>
          <a:ln/>
        </p:spPr>
        <p:txBody>
          <a:bodyPr wrap="square" lIns="69968" tIns="69968" rIns="69968" bIns="69968"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运行优化</a:t>
            </a:r>
            <a:endParaRPr lang="en-US" sz="1600" dirty="0"/>
          </a:p>
        </p:txBody>
      </p:sp>
      <p:sp>
        <p:nvSpPr>
          <p:cNvPr id="92" name="Shape 90"/>
          <p:cNvSpPr/>
          <p:nvPr/>
        </p:nvSpPr>
        <p:spPr>
          <a:xfrm>
            <a:off x="13315048" y="8479665"/>
            <a:ext cx="2320620" cy="326519"/>
          </a:xfrm>
          <a:custGeom>
            <a:avLst/>
            <a:gdLst/>
            <a:ahLst/>
            <a:cxnLst/>
            <a:rect l="l" t="t" r="r" b="b"/>
            <a:pathLst>
              <a:path w="2320620" h="326519">
                <a:moveTo>
                  <a:pt x="46647" y="0"/>
                </a:moveTo>
                <a:lnTo>
                  <a:pt x="2273973" y="0"/>
                </a:lnTo>
                <a:cubicBezTo>
                  <a:pt x="2299718" y="0"/>
                  <a:pt x="2320620" y="20902"/>
                  <a:pt x="2320620" y="46647"/>
                </a:cubicBezTo>
                <a:lnTo>
                  <a:pt x="2320620" y="279873"/>
                </a:lnTo>
                <a:cubicBezTo>
                  <a:pt x="2320620" y="305618"/>
                  <a:pt x="2299718" y="326519"/>
                  <a:pt x="2273973" y="326519"/>
                </a:cubicBezTo>
                <a:lnTo>
                  <a:pt x="46647" y="326519"/>
                </a:lnTo>
                <a:cubicBezTo>
                  <a:pt x="20902" y="326519"/>
                  <a:pt x="0" y="305618"/>
                  <a:pt x="0" y="279873"/>
                </a:cubicBezTo>
                <a:lnTo>
                  <a:pt x="0" y="46647"/>
                </a:lnTo>
                <a:cubicBezTo>
                  <a:pt x="0" y="20902"/>
                  <a:pt x="20902" y="0"/>
                  <a:pt x="46647" y="0"/>
                </a:cubicBezTo>
                <a:close/>
              </a:path>
            </a:pathLst>
          </a:custGeom>
          <a:solidFill>
            <a:srgbClr val="1A1D21">
              <a:alpha val="50196"/>
            </a:srgbClr>
          </a:solidFill>
          <a:ln/>
        </p:spPr>
        <p:txBody>
          <a:bodyPr/>
          <a:lstStyle/>
          <a:p>
            <a:endParaRPr lang="zh-CN" altLang="en-US"/>
          </a:p>
        </p:txBody>
      </p:sp>
      <p:sp>
        <p:nvSpPr>
          <p:cNvPr id="93" name="Text 91"/>
          <p:cNvSpPr/>
          <p:nvPr/>
        </p:nvSpPr>
        <p:spPr>
          <a:xfrm>
            <a:off x="13280064" y="8479665"/>
            <a:ext cx="2390588" cy="326519"/>
          </a:xfrm>
          <a:prstGeom prst="rect">
            <a:avLst/>
          </a:prstGeom>
          <a:noFill/>
          <a:ln/>
        </p:spPr>
        <p:txBody>
          <a:bodyPr wrap="square" lIns="69968" tIns="69968" rIns="69968" bIns="69968" rtlCol="0" anchor="ctr"/>
          <a:lstStyle/>
          <a:p>
            <a:pPr algn="ctr">
              <a:lnSpc>
                <a:spcPct val="110000"/>
              </a:lnSpc>
            </a:pPr>
            <a:r>
              <a:rPr lang="en-US" sz="1102" dirty="0">
                <a:solidFill>
                  <a:srgbClr val="E0E2E4">
                    <a:alpha val="70000"/>
                  </a:srgbClr>
                </a:solidFill>
                <a:latin typeface="MiSans" pitchFamily="34" charset="0"/>
                <a:ea typeface="MiSans" pitchFamily="34" charset="-122"/>
                <a:cs typeface="MiSans" pitchFamily="34" charset="-120"/>
              </a:rPr>
              <a:t>网络优化</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D21"/>
        </a:solidFill>
        <a:effectLst/>
      </p:bgPr>
    </p:bg>
    <p:spTree>
      <p:nvGrpSpPr>
        <p:cNvPr id="1" name=""/>
        <p:cNvGrpSpPr/>
        <p:nvPr/>
      </p:nvGrpSpPr>
      <p:grpSpPr>
        <a:xfrm>
          <a:off x="0" y="0"/>
          <a:ext cx="0" cy="0"/>
          <a:chOff x="0" y="0"/>
          <a:chExt cx="0" cy="0"/>
        </a:xfrm>
      </p:grpSpPr>
      <p:sp>
        <p:nvSpPr>
          <p:cNvPr id="6" name="Text 3"/>
          <p:cNvSpPr/>
          <p:nvPr/>
        </p:nvSpPr>
        <p:spPr>
          <a:xfrm>
            <a:off x="508000" y="3543300"/>
            <a:ext cx="15621000" cy="1905000"/>
          </a:xfrm>
          <a:prstGeom prst="rect">
            <a:avLst/>
          </a:prstGeom>
          <a:noFill/>
          <a:ln/>
        </p:spPr>
        <p:txBody>
          <a:bodyPr wrap="square" lIns="0" tIns="0" rIns="0" bIns="0" rtlCol="0" anchor="ctr"/>
          <a:lstStyle/>
          <a:p>
            <a:pPr>
              <a:lnSpc>
                <a:spcPct val="100000"/>
              </a:lnSpc>
            </a:pPr>
            <a:r>
              <a:rPr lang="en-US" sz="6000" b="1" dirty="0">
                <a:solidFill>
                  <a:srgbClr val="E0E2E4"/>
                </a:solidFill>
                <a:latin typeface="MiSans" pitchFamily="34" charset="0"/>
                <a:ea typeface="MiSans" pitchFamily="34" charset="-122"/>
                <a:cs typeface="MiSans" pitchFamily="34" charset="-120"/>
              </a:rPr>
              <a:t>Kubernetes Pod</a:t>
            </a:r>
            <a:endParaRPr lang="en-US" sz="1600" dirty="0"/>
          </a:p>
          <a:p>
            <a:pPr>
              <a:lnSpc>
                <a:spcPct val="100000"/>
              </a:lnSpc>
            </a:pPr>
            <a:r>
              <a:rPr lang="en-US" sz="6000" b="1" dirty="0">
                <a:solidFill>
                  <a:srgbClr val="E0E2E4"/>
                </a:solidFill>
                <a:latin typeface="MiSans" pitchFamily="34" charset="0"/>
                <a:ea typeface="MiSans" pitchFamily="34" charset="-122"/>
                <a:cs typeface="MiSans" pitchFamily="34" charset="-120"/>
              </a:rPr>
              <a:t>资源模型与隔离技术</a:t>
            </a:r>
            <a:endParaRPr lang="en-US" sz="1600" dirty="0"/>
          </a:p>
        </p:txBody>
      </p:sp>
      <p:sp>
        <p:nvSpPr>
          <p:cNvPr id="7" name="Text 4"/>
          <p:cNvSpPr/>
          <p:nvPr/>
        </p:nvSpPr>
        <p:spPr>
          <a:xfrm>
            <a:off x="508000" y="5753100"/>
            <a:ext cx="15392400" cy="812800"/>
          </a:xfrm>
          <a:prstGeom prst="rect">
            <a:avLst/>
          </a:prstGeom>
          <a:noFill/>
          <a:ln/>
        </p:spPr>
        <p:txBody>
          <a:bodyPr wrap="square" lIns="0" tIns="0" rIns="0" bIns="0" rtlCol="0" anchor="ctr"/>
          <a:lstStyle/>
          <a:p>
            <a:pPr>
              <a:lnSpc>
                <a:spcPct val="110000"/>
              </a:lnSpc>
            </a:pPr>
            <a:r>
              <a:rPr lang="en-US" sz="2400" b="1" dirty="0">
                <a:solidFill>
                  <a:srgbClr val="B38B59"/>
                </a:solidFill>
                <a:latin typeface="MiSans" pitchFamily="34" charset="0"/>
                <a:ea typeface="MiSans" pitchFamily="34" charset="-122"/>
                <a:cs typeface="MiSans" pitchFamily="34" charset="-120"/>
              </a:rPr>
              <a:t>云原生时代的容器编排</a:t>
            </a:r>
            <a:endParaRPr lang="en-US" sz="1600" dirty="0"/>
          </a:p>
          <a:p>
            <a:pPr>
              <a:lnSpc>
                <a:spcPct val="110000"/>
              </a:lnSpc>
            </a:pPr>
            <a:r>
              <a:rPr lang="en-US" sz="2400" b="1" dirty="0">
                <a:solidFill>
                  <a:srgbClr val="B38B59"/>
                </a:solidFill>
                <a:latin typeface="MiSans" pitchFamily="34" charset="0"/>
                <a:ea typeface="MiSans" pitchFamily="34" charset="-122"/>
                <a:cs typeface="MiSans" pitchFamily="34" charset="-120"/>
              </a:rPr>
              <a:t>与资源隔离实践</a:t>
            </a:r>
            <a:endParaRPr lang="en-US" sz="1600" dirty="0"/>
          </a:p>
        </p:txBody>
      </p:sp>
      <p:sp>
        <p:nvSpPr>
          <p:cNvPr id="8" name="Shape 5"/>
          <p:cNvSpPr/>
          <p:nvPr/>
        </p:nvSpPr>
        <p:spPr>
          <a:xfrm>
            <a:off x="508000" y="6972300"/>
            <a:ext cx="2032000" cy="50800"/>
          </a:xfrm>
          <a:custGeom>
            <a:avLst/>
            <a:gdLst/>
            <a:ahLst/>
            <a:cxnLst/>
            <a:rect l="l" t="t" r="r" b="b"/>
            <a:pathLst>
              <a:path w="2032000" h="50800">
                <a:moveTo>
                  <a:pt x="0" y="0"/>
                </a:moveTo>
                <a:lnTo>
                  <a:pt x="2032000" y="0"/>
                </a:lnTo>
                <a:lnTo>
                  <a:pt x="2032000" y="50800"/>
                </a:lnTo>
                <a:lnTo>
                  <a:pt x="0" y="50800"/>
                </a:lnTo>
                <a:lnTo>
                  <a:pt x="0" y="0"/>
                </a:lnTo>
                <a:close/>
              </a:path>
            </a:pathLst>
          </a:custGeom>
          <a:gradFill flip="none" rotWithShape="1">
            <a:gsLst>
              <a:gs pos="0">
                <a:srgbClr val="3C8082"/>
              </a:gs>
              <a:gs pos="100000">
                <a:srgbClr val="B38B59"/>
              </a:gs>
            </a:gsLst>
            <a:lin ang="0" scaled="1"/>
          </a:gradFill>
          <a:ln/>
        </p:spPr>
        <p:txBody>
          <a:bodyPr/>
          <a:lstStyle/>
          <a:p>
            <a:endParaRPr lang="zh-CN" altLang="en-US"/>
          </a:p>
        </p:txBody>
      </p:sp>
      <p:sp>
        <p:nvSpPr>
          <p:cNvPr id="9" name="Shape 1">
            <a:extLst>
              <a:ext uri="{FF2B5EF4-FFF2-40B4-BE49-F238E27FC236}">
                <a16:creationId xmlns:a16="http://schemas.microsoft.com/office/drawing/2014/main" id="{B3B1E2EA-E8C0-8232-BF37-26A1241784A3}"/>
              </a:ext>
            </a:extLst>
          </p:cNvPr>
          <p:cNvSpPr/>
          <p:nvPr/>
        </p:nvSpPr>
        <p:spPr>
          <a:xfrm>
            <a:off x="508000" y="2257425"/>
            <a:ext cx="1016000" cy="1016000"/>
          </a:xfrm>
          <a:custGeom>
            <a:avLst/>
            <a:gdLst/>
            <a:ahLst/>
            <a:cxnLst/>
            <a:rect l="l" t="t" r="r" b="b"/>
            <a:pathLst>
              <a:path w="1016000" h="1016000">
                <a:moveTo>
                  <a:pt x="152400" y="0"/>
                </a:moveTo>
                <a:lnTo>
                  <a:pt x="863600" y="0"/>
                </a:lnTo>
                <a:cubicBezTo>
                  <a:pt x="947712" y="0"/>
                  <a:pt x="1016000" y="68288"/>
                  <a:pt x="1016000" y="152400"/>
                </a:cubicBezTo>
                <a:lnTo>
                  <a:pt x="1016000" y="863600"/>
                </a:lnTo>
                <a:cubicBezTo>
                  <a:pt x="1016000" y="947712"/>
                  <a:pt x="947712" y="1016000"/>
                  <a:pt x="863600" y="1016000"/>
                </a:cubicBezTo>
                <a:lnTo>
                  <a:pt x="152400" y="1016000"/>
                </a:lnTo>
                <a:cubicBezTo>
                  <a:pt x="68288" y="1016000"/>
                  <a:pt x="0" y="947712"/>
                  <a:pt x="0" y="863600"/>
                </a:cubicBezTo>
                <a:lnTo>
                  <a:pt x="0" y="152400"/>
                </a:lnTo>
                <a:cubicBezTo>
                  <a:pt x="0" y="68288"/>
                  <a:pt x="68288" y="0"/>
                  <a:pt x="152400" y="0"/>
                </a:cubicBezTo>
                <a:close/>
              </a:path>
            </a:pathLst>
          </a:custGeom>
          <a:solidFill>
            <a:srgbClr val="3C8082"/>
          </a:solidFill>
          <a:ln/>
        </p:spPr>
        <p:txBody>
          <a:bodyPr anchor="ctr"/>
          <a:lstStyle/>
          <a:p>
            <a:pPr algn="ctr"/>
            <a:endParaRPr lang="zh-CN" altLang="en-US"/>
          </a:p>
        </p:txBody>
      </p:sp>
      <p:sp>
        <p:nvSpPr>
          <p:cNvPr id="10" name="Text 2">
            <a:extLst>
              <a:ext uri="{FF2B5EF4-FFF2-40B4-BE49-F238E27FC236}">
                <a16:creationId xmlns:a16="http://schemas.microsoft.com/office/drawing/2014/main" id="{49BD4EB5-0DD1-78AD-BC2C-6519BEE7F7C7}"/>
              </a:ext>
            </a:extLst>
          </p:cNvPr>
          <p:cNvSpPr/>
          <p:nvPr/>
        </p:nvSpPr>
        <p:spPr>
          <a:xfrm>
            <a:off x="547192" y="2330450"/>
            <a:ext cx="937617" cy="869950"/>
          </a:xfrm>
          <a:prstGeom prst="rect">
            <a:avLst/>
          </a:prstGeom>
          <a:noFill/>
          <a:ln/>
        </p:spPr>
        <p:txBody>
          <a:bodyPr wrap="square" lIns="0" tIns="0" rIns="0" bIns="0" rtlCol="0" anchor="b"/>
          <a:lstStyle/>
          <a:p>
            <a:pPr algn="ctr">
              <a:lnSpc>
                <a:spcPct val="80000"/>
              </a:lnSpc>
            </a:pPr>
            <a:r>
              <a:rPr lang="en-US" sz="4800" b="1" dirty="0">
                <a:solidFill>
                  <a:srgbClr val="FFFFFF"/>
                </a:solidFill>
                <a:latin typeface="Liter" pitchFamily="34" charset="0"/>
                <a:ea typeface="Liter" pitchFamily="34" charset="-122"/>
                <a:cs typeface="Liter" pitchFamily="34" charset="-120"/>
              </a:rPr>
              <a:t>0</a:t>
            </a:r>
            <a:r>
              <a:rPr lang="en-US" altLang="zh-CN" sz="4800" b="1" dirty="0">
                <a:solidFill>
                  <a:srgbClr val="FFFFFF"/>
                </a:solidFill>
                <a:latin typeface="Liter" pitchFamily="34" charset="0"/>
                <a:ea typeface="Liter" pitchFamily="34" charset="-122"/>
                <a:cs typeface="Liter" pitchFamily="34" charset="-120"/>
              </a:rPr>
              <a:t>4</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508000" y="558800"/>
            <a:ext cx="406400" cy="406400"/>
          </a:xfrm>
          <a:custGeom>
            <a:avLst/>
            <a:gdLst/>
            <a:ahLst/>
            <a:cxnLst/>
            <a:rect l="l" t="t" r="r" b="b"/>
            <a:pathLst>
              <a:path w="406400" h="406400">
                <a:moveTo>
                  <a:pt x="76200" y="0"/>
                </a:moveTo>
                <a:lnTo>
                  <a:pt x="330200" y="0"/>
                </a:lnTo>
                <a:cubicBezTo>
                  <a:pt x="372256" y="0"/>
                  <a:pt x="406400" y="34144"/>
                  <a:pt x="406400" y="76200"/>
                </a:cubicBezTo>
                <a:lnTo>
                  <a:pt x="406400" y="330200"/>
                </a:lnTo>
                <a:cubicBezTo>
                  <a:pt x="406400" y="372256"/>
                  <a:pt x="372256" y="406400"/>
                  <a:pt x="330200" y="406400"/>
                </a:cubicBezTo>
                <a:lnTo>
                  <a:pt x="76200" y="406400"/>
                </a:lnTo>
                <a:cubicBezTo>
                  <a:pt x="34144" y="406400"/>
                  <a:pt x="0" y="372256"/>
                  <a:pt x="0" y="330200"/>
                </a:cubicBezTo>
                <a:lnTo>
                  <a:pt x="0" y="76200"/>
                </a:lnTo>
                <a:cubicBezTo>
                  <a:pt x="0" y="34144"/>
                  <a:pt x="34144" y="0"/>
                  <a:pt x="76200" y="0"/>
                </a:cubicBezTo>
                <a:close/>
              </a:path>
            </a:pathLst>
          </a:custGeom>
          <a:solidFill>
            <a:srgbClr val="3C8082"/>
          </a:solidFill>
          <a:ln/>
        </p:spPr>
        <p:txBody>
          <a:bodyPr/>
          <a:lstStyle/>
          <a:p>
            <a:endParaRPr lang="zh-CN" altLang="en-US"/>
          </a:p>
        </p:txBody>
      </p:sp>
      <p:sp>
        <p:nvSpPr>
          <p:cNvPr id="3" name="Text 1"/>
          <p:cNvSpPr/>
          <p:nvPr/>
        </p:nvSpPr>
        <p:spPr>
          <a:xfrm>
            <a:off x="457200" y="558800"/>
            <a:ext cx="508000" cy="406400"/>
          </a:xfrm>
          <a:prstGeom prst="rect">
            <a:avLst/>
          </a:prstGeom>
          <a:noFill/>
          <a:ln/>
        </p:spPr>
        <p:txBody>
          <a:bodyPr wrap="square" lIns="0" tIns="0" rIns="0" bIns="0" rtlCol="0" anchor="ctr"/>
          <a:lstStyle/>
          <a:p>
            <a:pPr algn="ctr">
              <a:lnSpc>
                <a:spcPct val="130000"/>
              </a:lnSpc>
            </a:pPr>
            <a:r>
              <a:rPr lang="en-US" sz="1600" b="1" dirty="0">
                <a:solidFill>
                  <a:srgbClr val="FFFFFF"/>
                </a:solidFill>
                <a:latin typeface="Liter" pitchFamily="34" charset="0"/>
                <a:ea typeface="Liter" pitchFamily="34" charset="-122"/>
                <a:cs typeface="Liter" pitchFamily="34" charset="-120"/>
              </a:rPr>
              <a:t>14</a:t>
            </a:r>
            <a:endParaRPr lang="en-US" sz="1600" dirty="0"/>
          </a:p>
        </p:txBody>
      </p:sp>
      <p:sp>
        <p:nvSpPr>
          <p:cNvPr id="4" name="Text 2"/>
          <p:cNvSpPr/>
          <p:nvPr/>
        </p:nvSpPr>
        <p:spPr>
          <a:xfrm>
            <a:off x="1066800" y="508000"/>
            <a:ext cx="6743700" cy="508000"/>
          </a:xfrm>
          <a:prstGeom prst="rect">
            <a:avLst/>
          </a:prstGeom>
          <a:noFill/>
          <a:ln/>
        </p:spPr>
        <p:txBody>
          <a:bodyPr wrap="square" lIns="0" tIns="0" rIns="0" bIns="0" rtlCol="0" anchor="ctr"/>
          <a:lstStyle/>
          <a:p>
            <a:pPr>
              <a:lnSpc>
                <a:spcPct val="90000"/>
              </a:lnSpc>
            </a:pPr>
            <a:r>
              <a:rPr lang="en-US" sz="3600" b="1" dirty="0">
                <a:solidFill>
                  <a:srgbClr val="E0E2E4"/>
                </a:solidFill>
                <a:latin typeface="MiSans" pitchFamily="34" charset="0"/>
                <a:ea typeface="MiSans" pitchFamily="34" charset="-122"/>
                <a:cs typeface="MiSans" pitchFamily="34" charset="-120"/>
              </a:rPr>
              <a:t>Kubernetes架构设计与核心概念</a:t>
            </a:r>
            <a:endParaRPr lang="en-US" sz="1600" dirty="0"/>
          </a:p>
        </p:txBody>
      </p:sp>
      <p:sp>
        <p:nvSpPr>
          <p:cNvPr id="5" name="Text 3"/>
          <p:cNvSpPr/>
          <p:nvPr/>
        </p:nvSpPr>
        <p:spPr>
          <a:xfrm>
            <a:off x="508000" y="1117600"/>
            <a:ext cx="15354300" cy="355600"/>
          </a:xfrm>
          <a:prstGeom prst="rect">
            <a:avLst/>
          </a:prstGeom>
          <a:noFill/>
          <a:ln/>
        </p:spPr>
        <p:txBody>
          <a:bodyPr wrap="square" lIns="0" tIns="0" rIns="0" bIns="0" rtlCol="0" anchor="ctr"/>
          <a:lstStyle/>
          <a:p>
            <a:pPr>
              <a:lnSpc>
                <a:spcPct val="130000"/>
              </a:lnSpc>
            </a:pPr>
            <a:r>
              <a:rPr lang="en-US" sz="1800" b="1" dirty="0">
                <a:solidFill>
                  <a:srgbClr val="B38B59"/>
                </a:solidFill>
                <a:latin typeface="MiSans" pitchFamily="34" charset="0"/>
                <a:ea typeface="MiSans" pitchFamily="34" charset="-122"/>
                <a:cs typeface="MiSans" pitchFamily="34" charset="-120"/>
              </a:rPr>
              <a:t>声明式管理、分布式控制与通用化平台的架构哲学</a:t>
            </a:r>
            <a:endParaRPr lang="en-US" sz="1600" dirty="0"/>
          </a:p>
        </p:txBody>
      </p:sp>
      <p:sp>
        <p:nvSpPr>
          <p:cNvPr id="6" name="Shape 4"/>
          <p:cNvSpPr/>
          <p:nvPr/>
        </p:nvSpPr>
        <p:spPr>
          <a:xfrm>
            <a:off x="514350" y="1682750"/>
            <a:ext cx="7505700" cy="5549900"/>
          </a:xfrm>
          <a:custGeom>
            <a:avLst/>
            <a:gdLst/>
            <a:ahLst/>
            <a:cxnLst/>
            <a:rect l="l" t="t" r="r" b="b"/>
            <a:pathLst>
              <a:path w="7505700" h="5549900">
                <a:moveTo>
                  <a:pt x="101619" y="0"/>
                </a:moveTo>
                <a:lnTo>
                  <a:pt x="7404081" y="0"/>
                </a:lnTo>
                <a:cubicBezTo>
                  <a:pt x="7460204" y="0"/>
                  <a:pt x="7505700" y="45496"/>
                  <a:pt x="7505700" y="101619"/>
                </a:cubicBezTo>
                <a:lnTo>
                  <a:pt x="7505700" y="5448281"/>
                </a:lnTo>
                <a:cubicBezTo>
                  <a:pt x="7505700" y="5504404"/>
                  <a:pt x="7460204" y="5549900"/>
                  <a:pt x="7404081" y="5549900"/>
                </a:cubicBezTo>
                <a:lnTo>
                  <a:pt x="101619" y="5549900"/>
                </a:lnTo>
                <a:cubicBezTo>
                  <a:pt x="45496" y="5549900"/>
                  <a:pt x="0" y="5504404"/>
                  <a:pt x="0" y="5448281"/>
                </a:cubicBezTo>
                <a:lnTo>
                  <a:pt x="0" y="101619"/>
                </a:lnTo>
                <a:cubicBezTo>
                  <a:pt x="0" y="45534"/>
                  <a:pt x="45534" y="0"/>
                  <a:pt x="10161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723900" y="1892300"/>
            <a:ext cx="609600" cy="609600"/>
          </a:xfrm>
          <a:custGeom>
            <a:avLst/>
            <a:gdLst/>
            <a:ahLst/>
            <a:cxnLst/>
            <a:rect l="l" t="t" r="r" b="b"/>
            <a:pathLst>
              <a:path w="609600" h="609600">
                <a:moveTo>
                  <a:pt x="101602" y="0"/>
                </a:moveTo>
                <a:lnTo>
                  <a:pt x="507998" y="0"/>
                </a:lnTo>
                <a:cubicBezTo>
                  <a:pt x="564111" y="0"/>
                  <a:pt x="609600" y="45489"/>
                  <a:pt x="609600" y="101602"/>
                </a:cubicBezTo>
                <a:lnTo>
                  <a:pt x="609600" y="507998"/>
                </a:lnTo>
                <a:cubicBezTo>
                  <a:pt x="609600" y="564111"/>
                  <a:pt x="564111" y="609600"/>
                  <a:pt x="507998" y="609600"/>
                </a:cubicBezTo>
                <a:lnTo>
                  <a:pt x="101602" y="609600"/>
                </a:lnTo>
                <a:cubicBezTo>
                  <a:pt x="45489" y="609600"/>
                  <a:pt x="0" y="564111"/>
                  <a:pt x="0" y="507998"/>
                </a:cubicBezTo>
                <a:lnTo>
                  <a:pt x="0" y="101602"/>
                </a:lnTo>
                <a:cubicBezTo>
                  <a:pt x="0" y="45526"/>
                  <a:pt x="45526" y="0"/>
                  <a:pt x="101602" y="0"/>
                </a:cubicBezTo>
                <a:close/>
              </a:path>
            </a:pathLst>
          </a:custGeom>
          <a:solidFill>
            <a:srgbClr val="3C8082"/>
          </a:solidFill>
          <a:ln/>
        </p:spPr>
        <p:txBody>
          <a:bodyPr/>
          <a:lstStyle/>
          <a:p>
            <a:endParaRPr lang="zh-CN" altLang="en-US"/>
          </a:p>
        </p:txBody>
      </p:sp>
      <p:sp>
        <p:nvSpPr>
          <p:cNvPr id="8" name="Shape 6"/>
          <p:cNvSpPr/>
          <p:nvPr/>
        </p:nvSpPr>
        <p:spPr>
          <a:xfrm>
            <a:off x="876300" y="2044700"/>
            <a:ext cx="304800" cy="304800"/>
          </a:xfrm>
          <a:custGeom>
            <a:avLst/>
            <a:gdLst/>
            <a:ahLst/>
            <a:cxnLst/>
            <a:rect l="l" t="t" r="r" b="b"/>
            <a:pathLst>
              <a:path w="304800" h="304800">
                <a:moveTo>
                  <a:pt x="71438" y="33338"/>
                </a:moveTo>
                <a:cubicBezTo>
                  <a:pt x="71438" y="14942"/>
                  <a:pt x="86380" y="0"/>
                  <a:pt x="104775" y="0"/>
                </a:cubicBezTo>
                <a:lnTo>
                  <a:pt x="119062" y="0"/>
                </a:lnTo>
                <a:cubicBezTo>
                  <a:pt x="129600" y="0"/>
                  <a:pt x="138113" y="8513"/>
                  <a:pt x="138113" y="19050"/>
                </a:cubicBezTo>
                <a:lnTo>
                  <a:pt x="138113" y="285750"/>
                </a:lnTo>
                <a:cubicBezTo>
                  <a:pt x="138113" y="296287"/>
                  <a:pt x="129600" y="304800"/>
                  <a:pt x="119062" y="304800"/>
                </a:cubicBezTo>
                <a:lnTo>
                  <a:pt x="100013" y="304800"/>
                </a:lnTo>
                <a:cubicBezTo>
                  <a:pt x="82272" y="304800"/>
                  <a:pt x="67330" y="292656"/>
                  <a:pt x="63103" y="276225"/>
                </a:cubicBezTo>
                <a:cubicBezTo>
                  <a:pt x="62686" y="276225"/>
                  <a:pt x="62329" y="276225"/>
                  <a:pt x="61912" y="276225"/>
                </a:cubicBezTo>
                <a:cubicBezTo>
                  <a:pt x="35600" y="276225"/>
                  <a:pt x="14288" y="254913"/>
                  <a:pt x="14288" y="228600"/>
                </a:cubicBezTo>
                <a:cubicBezTo>
                  <a:pt x="14288" y="217884"/>
                  <a:pt x="17859" y="208002"/>
                  <a:pt x="23813" y="200025"/>
                </a:cubicBezTo>
                <a:cubicBezTo>
                  <a:pt x="12263" y="191333"/>
                  <a:pt x="4763" y="177522"/>
                  <a:pt x="4763" y="161925"/>
                </a:cubicBezTo>
                <a:cubicBezTo>
                  <a:pt x="4763" y="143530"/>
                  <a:pt x="15240" y="127516"/>
                  <a:pt x="30480" y="119598"/>
                </a:cubicBezTo>
                <a:cubicBezTo>
                  <a:pt x="26253" y="112455"/>
                  <a:pt x="23813" y="104120"/>
                  <a:pt x="23813" y="95250"/>
                </a:cubicBezTo>
                <a:cubicBezTo>
                  <a:pt x="23813" y="68937"/>
                  <a:pt x="45125" y="47625"/>
                  <a:pt x="71438" y="47625"/>
                </a:cubicBezTo>
                <a:lnTo>
                  <a:pt x="71438" y="33338"/>
                </a:lnTo>
                <a:close/>
                <a:moveTo>
                  <a:pt x="233363" y="33338"/>
                </a:moveTo>
                <a:lnTo>
                  <a:pt x="233363" y="47625"/>
                </a:lnTo>
                <a:cubicBezTo>
                  <a:pt x="259675" y="47625"/>
                  <a:pt x="280987" y="68937"/>
                  <a:pt x="280987" y="95250"/>
                </a:cubicBezTo>
                <a:cubicBezTo>
                  <a:pt x="280987" y="104180"/>
                  <a:pt x="278547" y="112514"/>
                  <a:pt x="274320" y="119598"/>
                </a:cubicBezTo>
                <a:cubicBezTo>
                  <a:pt x="289620" y="127516"/>
                  <a:pt x="300038" y="143470"/>
                  <a:pt x="300038" y="161925"/>
                </a:cubicBezTo>
                <a:cubicBezTo>
                  <a:pt x="300038" y="177522"/>
                  <a:pt x="292537" y="191333"/>
                  <a:pt x="280987" y="200025"/>
                </a:cubicBezTo>
                <a:cubicBezTo>
                  <a:pt x="286941" y="208002"/>
                  <a:pt x="290513" y="217884"/>
                  <a:pt x="290513" y="228600"/>
                </a:cubicBezTo>
                <a:cubicBezTo>
                  <a:pt x="290513" y="254913"/>
                  <a:pt x="269200" y="276225"/>
                  <a:pt x="242888" y="276225"/>
                </a:cubicBezTo>
                <a:cubicBezTo>
                  <a:pt x="242471" y="276225"/>
                  <a:pt x="242114" y="276225"/>
                  <a:pt x="241697" y="276225"/>
                </a:cubicBezTo>
                <a:cubicBezTo>
                  <a:pt x="237470" y="292656"/>
                  <a:pt x="222528" y="304800"/>
                  <a:pt x="204787" y="304800"/>
                </a:cubicBezTo>
                <a:lnTo>
                  <a:pt x="185738" y="304800"/>
                </a:lnTo>
                <a:cubicBezTo>
                  <a:pt x="175200" y="304800"/>
                  <a:pt x="166688" y="296287"/>
                  <a:pt x="166688" y="285750"/>
                </a:cubicBezTo>
                <a:lnTo>
                  <a:pt x="166688" y="19050"/>
                </a:lnTo>
                <a:cubicBezTo>
                  <a:pt x="166688" y="8513"/>
                  <a:pt x="175200" y="0"/>
                  <a:pt x="185738" y="0"/>
                </a:cubicBezTo>
                <a:lnTo>
                  <a:pt x="200025" y="0"/>
                </a:lnTo>
                <a:cubicBezTo>
                  <a:pt x="218420" y="0"/>
                  <a:pt x="233363" y="14942"/>
                  <a:pt x="233363" y="33338"/>
                </a:cubicBezTo>
                <a:close/>
              </a:path>
            </a:pathLst>
          </a:custGeom>
          <a:solidFill>
            <a:srgbClr val="FFFFFF"/>
          </a:solidFill>
          <a:ln/>
        </p:spPr>
        <p:txBody>
          <a:bodyPr/>
          <a:lstStyle/>
          <a:p>
            <a:endParaRPr lang="zh-CN" altLang="en-US"/>
          </a:p>
        </p:txBody>
      </p:sp>
      <p:sp>
        <p:nvSpPr>
          <p:cNvPr id="9" name="Text 7"/>
          <p:cNvSpPr/>
          <p:nvPr/>
        </p:nvSpPr>
        <p:spPr>
          <a:xfrm>
            <a:off x="1485900" y="1993900"/>
            <a:ext cx="1371600" cy="406400"/>
          </a:xfrm>
          <a:prstGeom prst="rect">
            <a:avLst/>
          </a:prstGeom>
          <a:noFill/>
          <a:ln/>
        </p:spPr>
        <p:txBody>
          <a:bodyPr wrap="square" lIns="0" tIns="0" rIns="0" bIns="0" rtlCol="0" anchor="ctr"/>
          <a:lstStyle/>
          <a:p>
            <a:pPr>
              <a:lnSpc>
                <a:spcPct val="110000"/>
              </a:lnSpc>
            </a:pPr>
            <a:r>
              <a:rPr lang="en-US" sz="2400" b="1" dirty="0">
                <a:solidFill>
                  <a:srgbClr val="E0E2E4"/>
                </a:solidFill>
                <a:latin typeface="MiSans" pitchFamily="34" charset="0"/>
                <a:ea typeface="MiSans" pitchFamily="34" charset="-122"/>
                <a:cs typeface="MiSans" pitchFamily="34" charset="-120"/>
              </a:rPr>
              <a:t>控制平面</a:t>
            </a:r>
            <a:endParaRPr lang="en-US" sz="1600" dirty="0"/>
          </a:p>
        </p:txBody>
      </p:sp>
      <p:sp>
        <p:nvSpPr>
          <p:cNvPr id="10" name="Shape 8"/>
          <p:cNvSpPr/>
          <p:nvPr/>
        </p:nvSpPr>
        <p:spPr>
          <a:xfrm>
            <a:off x="723900" y="2654300"/>
            <a:ext cx="7086600" cy="1016000"/>
          </a:xfrm>
          <a:custGeom>
            <a:avLst/>
            <a:gdLst/>
            <a:ahLst/>
            <a:cxnLst/>
            <a:rect l="l" t="t" r="r" b="b"/>
            <a:pathLst>
              <a:path w="7086600" h="1016000">
                <a:moveTo>
                  <a:pt x="101600" y="0"/>
                </a:moveTo>
                <a:lnTo>
                  <a:pt x="6985000" y="0"/>
                </a:lnTo>
                <a:cubicBezTo>
                  <a:pt x="7041075" y="0"/>
                  <a:pt x="7086600" y="45525"/>
                  <a:pt x="7086600" y="101600"/>
                </a:cubicBezTo>
                <a:lnTo>
                  <a:pt x="7086600" y="914400"/>
                </a:lnTo>
                <a:cubicBezTo>
                  <a:pt x="7086600" y="970475"/>
                  <a:pt x="7041075" y="1016000"/>
                  <a:pt x="69850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1A1D21">
              <a:alpha val="50196"/>
            </a:srgbClr>
          </a:solidFill>
          <a:ln/>
        </p:spPr>
        <p:txBody>
          <a:bodyPr/>
          <a:lstStyle/>
          <a:p>
            <a:endParaRPr lang="zh-CN" altLang="en-US"/>
          </a:p>
        </p:txBody>
      </p:sp>
      <p:sp>
        <p:nvSpPr>
          <p:cNvPr id="11" name="Shape 9"/>
          <p:cNvSpPr/>
          <p:nvPr/>
        </p:nvSpPr>
        <p:spPr>
          <a:xfrm>
            <a:off x="922338" y="2870200"/>
            <a:ext cx="200025" cy="228600"/>
          </a:xfrm>
          <a:custGeom>
            <a:avLst/>
            <a:gdLst/>
            <a:ahLst/>
            <a:cxnLst/>
            <a:rect l="l" t="t" r="r" b="b"/>
            <a:pathLst>
              <a:path w="200025" h="228600">
                <a:moveTo>
                  <a:pt x="28575" y="14288"/>
                </a:moveTo>
                <a:cubicBezTo>
                  <a:pt x="12814" y="14288"/>
                  <a:pt x="0" y="27102"/>
                  <a:pt x="0" y="42863"/>
                </a:cubicBezTo>
                <a:lnTo>
                  <a:pt x="0" y="71438"/>
                </a:lnTo>
                <a:cubicBezTo>
                  <a:pt x="0" y="87198"/>
                  <a:pt x="12814" y="100013"/>
                  <a:pt x="28575" y="100013"/>
                </a:cubicBezTo>
                <a:lnTo>
                  <a:pt x="171450" y="100013"/>
                </a:lnTo>
                <a:cubicBezTo>
                  <a:pt x="187211" y="100013"/>
                  <a:pt x="200025" y="87198"/>
                  <a:pt x="200025" y="71438"/>
                </a:cubicBezTo>
                <a:lnTo>
                  <a:pt x="200025" y="42863"/>
                </a:lnTo>
                <a:cubicBezTo>
                  <a:pt x="200025" y="27102"/>
                  <a:pt x="187211" y="14288"/>
                  <a:pt x="171450" y="14288"/>
                </a:cubicBezTo>
                <a:lnTo>
                  <a:pt x="28575" y="14288"/>
                </a:lnTo>
                <a:close/>
                <a:moveTo>
                  <a:pt x="125016" y="46434"/>
                </a:moveTo>
                <a:cubicBezTo>
                  <a:pt x="130930" y="46434"/>
                  <a:pt x="135731" y="51236"/>
                  <a:pt x="135731" y="57150"/>
                </a:cubicBezTo>
                <a:cubicBezTo>
                  <a:pt x="135731" y="63064"/>
                  <a:pt x="130930" y="67866"/>
                  <a:pt x="125016" y="67866"/>
                </a:cubicBezTo>
                <a:cubicBezTo>
                  <a:pt x="119102" y="67866"/>
                  <a:pt x="114300" y="63064"/>
                  <a:pt x="114300" y="57150"/>
                </a:cubicBezTo>
                <a:cubicBezTo>
                  <a:pt x="114300" y="51236"/>
                  <a:pt x="119102" y="46434"/>
                  <a:pt x="125016" y="46434"/>
                </a:cubicBezTo>
                <a:close/>
                <a:moveTo>
                  <a:pt x="150019" y="57150"/>
                </a:moveTo>
                <a:cubicBezTo>
                  <a:pt x="150019" y="51236"/>
                  <a:pt x="154820" y="46434"/>
                  <a:pt x="160734" y="46434"/>
                </a:cubicBezTo>
                <a:cubicBezTo>
                  <a:pt x="166648" y="46434"/>
                  <a:pt x="171450" y="51236"/>
                  <a:pt x="171450" y="57150"/>
                </a:cubicBezTo>
                <a:cubicBezTo>
                  <a:pt x="171450" y="63064"/>
                  <a:pt x="166648" y="67866"/>
                  <a:pt x="160734" y="67866"/>
                </a:cubicBezTo>
                <a:cubicBezTo>
                  <a:pt x="154820" y="67866"/>
                  <a:pt x="150019" y="63064"/>
                  <a:pt x="150019" y="57150"/>
                </a:cubicBezTo>
                <a:close/>
                <a:moveTo>
                  <a:pt x="28575" y="128588"/>
                </a:moveTo>
                <a:cubicBezTo>
                  <a:pt x="12814" y="128588"/>
                  <a:pt x="0" y="141402"/>
                  <a:pt x="0" y="157163"/>
                </a:cubicBezTo>
                <a:lnTo>
                  <a:pt x="0" y="185738"/>
                </a:lnTo>
                <a:cubicBezTo>
                  <a:pt x="0" y="201498"/>
                  <a:pt x="12814" y="214313"/>
                  <a:pt x="28575" y="214313"/>
                </a:cubicBezTo>
                <a:lnTo>
                  <a:pt x="171450" y="214313"/>
                </a:lnTo>
                <a:cubicBezTo>
                  <a:pt x="187211" y="214313"/>
                  <a:pt x="200025" y="201498"/>
                  <a:pt x="200025" y="185738"/>
                </a:cubicBezTo>
                <a:lnTo>
                  <a:pt x="200025" y="157163"/>
                </a:lnTo>
                <a:cubicBezTo>
                  <a:pt x="200025" y="141402"/>
                  <a:pt x="187211" y="128588"/>
                  <a:pt x="171450" y="128588"/>
                </a:cubicBezTo>
                <a:lnTo>
                  <a:pt x="28575" y="128588"/>
                </a:lnTo>
                <a:close/>
                <a:moveTo>
                  <a:pt x="125016" y="160734"/>
                </a:moveTo>
                <a:cubicBezTo>
                  <a:pt x="130930" y="160734"/>
                  <a:pt x="135731" y="165536"/>
                  <a:pt x="135731" y="171450"/>
                </a:cubicBezTo>
                <a:cubicBezTo>
                  <a:pt x="135731" y="177364"/>
                  <a:pt x="130930" y="182166"/>
                  <a:pt x="125016" y="182166"/>
                </a:cubicBezTo>
                <a:cubicBezTo>
                  <a:pt x="119102" y="182166"/>
                  <a:pt x="114300" y="177364"/>
                  <a:pt x="114300" y="171450"/>
                </a:cubicBezTo>
                <a:cubicBezTo>
                  <a:pt x="114300" y="165536"/>
                  <a:pt x="119102" y="160734"/>
                  <a:pt x="125016" y="160734"/>
                </a:cubicBezTo>
                <a:close/>
                <a:moveTo>
                  <a:pt x="150019" y="171450"/>
                </a:moveTo>
                <a:cubicBezTo>
                  <a:pt x="150019" y="165536"/>
                  <a:pt x="154820" y="160734"/>
                  <a:pt x="160734" y="160734"/>
                </a:cubicBezTo>
                <a:cubicBezTo>
                  <a:pt x="166648" y="160734"/>
                  <a:pt x="171450" y="165536"/>
                  <a:pt x="171450" y="171450"/>
                </a:cubicBezTo>
                <a:cubicBezTo>
                  <a:pt x="171450" y="177364"/>
                  <a:pt x="166648" y="182166"/>
                  <a:pt x="160734" y="182166"/>
                </a:cubicBezTo>
                <a:cubicBezTo>
                  <a:pt x="154820" y="182166"/>
                  <a:pt x="150019" y="177364"/>
                  <a:pt x="150019" y="171450"/>
                </a:cubicBezTo>
                <a:close/>
              </a:path>
            </a:pathLst>
          </a:custGeom>
          <a:solidFill>
            <a:srgbClr val="B38B59"/>
          </a:solidFill>
          <a:ln/>
        </p:spPr>
        <p:txBody>
          <a:bodyPr/>
          <a:lstStyle/>
          <a:p>
            <a:endParaRPr lang="zh-CN" altLang="en-US"/>
          </a:p>
        </p:txBody>
      </p:sp>
      <p:sp>
        <p:nvSpPr>
          <p:cNvPr id="12" name="Text 10"/>
          <p:cNvSpPr/>
          <p:nvPr/>
        </p:nvSpPr>
        <p:spPr>
          <a:xfrm>
            <a:off x="1263650" y="2806700"/>
            <a:ext cx="1206500" cy="355600"/>
          </a:xfrm>
          <a:prstGeom prst="rect">
            <a:avLst/>
          </a:prstGeom>
          <a:noFill/>
          <a:ln/>
        </p:spPr>
        <p:txBody>
          <a:bodyPr wrap="square" lIns="0" tIns="0" rIns="0" bIns="0" rtlCol="0" anchor="ctr"/>
          <a:lstStyle/>
          <a:p>
            <a:pPr>
              <a:lnSpc>
                <a:spcPct val="130000"/>
              </a:lnSpc>
            </a:pPr>
            <a:r>
              <a:rPr lang="en-US" sz="1800" b="1" dirty="0">
                <a:solidFill>
                  <a:srgbClr val="E0E2E4"/>
                </a:solidFill>
                <a:latin typeface="MiSans" pitchFamily="34" charset="0"/>
                <a:ea typeface="MiSans" pitchFamily="34" charset="-122"/>
                <a:cs typeface="MiSans" pitchFamily="34" charset="-120"/>
              </a:rPr>
              <a:t>API Server</a:t>
            </a:r>
            <a:endParaRPr lang="en-US" sz="1600" dirty="0"/>
          </a:p>
        </p:txBody>
      </p:sp>
      <p:sp>
        <p:nvSpPr>
          <p:cNvPr id="13" name="Text 11"/>
          <p:cNvSpPr/>
          <p:nvPr/>
        </p:nvSpPr>
        <p:spPr>
          <a:xfrm>
            <a:off x="876300" y="3263900"/>
            <a:ext cx="6870700" cy="254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集群的网关,提供RESTful API接口,处理所有API请求,负责认证、授权、准入控制</a:t>
            </a:r>
            <a:endParaRPr lang="en-US" sz="1600" dirty="0"/>
          </a:p>
        </p:txBody>
      </p:sp>
      <p:sp>
        <p:nvSpPr>
          <p:cNvPr id="14" name="Shape 12"/>
          <p:cNvSpPr/>
          <p:nvPr/>
        </p:nvSpPr>
        <p:spPr>
          <a:xfrm>
            <a:off x="723900" y="3771900"/>
            <a:ext cx="7086600" cy="1016000"/>
          </a:xfrm>
          <a:custGeom>
            <a:avLst/>
            <a:gdLst/>
            <a:ahLst/>
            <a:cxnLst/>
            <a:rect l="l" t="t" r="r" b="b"/>
            <a:pathLst>
              <a:path w="7086600" h="1016000">
                <a:moveTo>
                  <a:pt x="101600" y="0"/>
                </a:moveTo>
                <a:lnTo>
                  <a:pt x="6985000" y="0"/>
                </a:lnTo>
                <a:cubicBezTo>
                  <a:pt x="7041075" y="0"/>
                  <a:pt x="7086600" y="45525"/>
                  <a:pt x="7086600" y="101600"/>
                </a:cubicBezTo>
                <a:lnTo>
                  <a:pt x="7086600" y="914400"/>
                </a:lnTo>
                <a:cubicBezTo>
                  <a:pt x="7086600" y="970475"/>
                  <a:pt x="7041075" y="1016000"/>
                  <a:pt x="69850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1A1D21">
              <a:alpha val="50196"/>
            </a:srgbClr>
          </a:solidFill>
          <a:ln/>
        </p:spPr>
        <p:txBody>
          <a:bodyPr/>
          <a:lstStyle/>
          <a:p>
            <a:endParaRPr lang="zh-CN" altLang="en-US"/>
          </a:p>
        </p:txBody>
      </p:sp>
      <p:sp>
        <p:nvSpPr>
          <p:cNvPr id="15" name="Shape 13"/>
          <p:cNvSpPr/>
          <p:nvPr/>
        </p:nvSpPr>
        <p:spPr>
          <a:xfrm>
            <a:off x="922338" y="3987800"/>
            <a:ext cx="200025" cy="228600"/>
          </a:xfrm>
          <a:custGeom>
            <a:avLst/>
            <a:gdLst/>
            <a:ahLst/>
            <a:cxnLst/>
            <a:rect l="l" t="t" r="r" b="b"/>
            <a:pathLst>
              <a:path w="200025" h="228600">
                <a:moveTo>
                  <a:pt x="200025" y="91886"/>
                </a:moveTo>
                <a:cubicBezTo>
                  <a:pt x="193417" y="96262"/>
                  <a:pt x="185827" y="99789"/>
                  <a:pt x="177924" y="102602"/>
                </a:cubicBezTo>
                <a:cubicBezTo>
                  <a:pt x="156939" y="110103"/>
                  <a:pt x="129391" y="114300"/>
                  <a:pt x="100013" y="114300"/>
                </a:cubicBezTo>
                <a:cubicBezTo>
                  <a:pt x="70634" y="114300"/>
                  <a:pt x="43041" y="110058"/>
                  <a:pt x="22101" y="102602"/>
                </a:cubicBezTo>
                <a:cubicBezTo>
                  <a:pt x="14243" y="99789"/>
                  <a:pt x="6608" y="96262"/>
                  <a:pt x="0" y="91886"/>
                </a:cubicBezTo>
                <a:lnTo>
                  <a:pt x="0" y="128588"/>
                </a:lnTo>
                <a:cubicBezTo>
                  <a:pt x="0" y="148322"/>
                  <a:pt x="44782" y="164306"/>
                  <a:pt x="100013" y="164306"/>
                </a:cubicBezTo>
                <a:cubicBezTo>
                  <a:pt x="155243" y="164306"/>
                  <a:pt x="200025" y="148322"/>
                  <a:pt x="200025" y="128588"/>
                </a:cubicBezTo>
                <a:lnTo>
                  <a:pt x="200025" y="91886"/>
                </a:lnTo>
                <a:close/>
                <a:moveTo>
                  <a:pt x="200025" y="57150"/>
                </a:moveTo>
                <a:lnTo>
                  <a:pt x="200025" y="35719"/>
                </a:lnTo>
                <a:cubicBezTo>
                  <a:pt x="200025" y="15984"/>
                  <a:pt x="155243" y="0"/>
                  <a:pt x="100013" y="0"/>
                </a:cubicBezTo>
                <a:cubicBezTo>
                  <a:pt x="44782" y="0"/>
                  <a:pt x="0" y="15984"/>
                  <a:pt x="0" y="35719"/>
                </a:cubicBezTo>
                <a:lnTo>
                  <a:pt x="0" y="57150"/>
                </a:lnTo>
                <a:cubicBezTo>
                  <a:pt x="0" y="76885"/>
                  <a:pt x="44782" y="92869"/>
                  <a:pt x="100013" y="92869"/>
                </a:cubicBezTo>
                <a:cubicBezTo>
                  <a:pt x="155243" y="92869"/>
                  <a:pt x="200025" y="76885"/>
                  <a:pt x="200025" y="57150"/>
                </a:cubicBezTo>
                <a:close/>
                <a:moveTo>
                  <a:pt x="177924" y="174040"/>
                </a:moveTo>
                <a:cubicBezTo>
                  <a:pt x="156984" y="181496"/>
                  <a:pt x="129436" y="185738"/>
                  <a:pt x="100013" y="185738"/>
                </a:cubicBezTo>
                <a:cubicBezTo>
                  <a:pt x="70589" y="185738"/>
                  <a:pt x="43041" y="181496"/>
                  <a:pt x="22101" y="174040"/>
                </a:cubicBezTo>
                <a:cubicBezTo>
                  <a:pt x="14243" y="171227"/>
                  <a:pt x="6608" y="167700"/>
                  <a:pt x="0" y="163324"/>
                </a:cubicBezTo>
                <a:lnTo>
                  <a:pt x="0" y="192881"/>
                </a:lnTo>
                <a:cubicBezTo>
                  <a:pt x="0" y="212616"/>
                  <a:pt x="44782" y="228600"/>
                  <a:pt x="100013" y="228600"/>
                </a:cubicBezTo>
                <a:cubicBezTo>
                  <a:pt x="155243" y="228600"/>
                  <a:pt x="200025" y="212616"/>
                  <a:pt x="200025" y="192881"/>
                </a:cubicBezTo>
                <a:lnTo>
                  <a:pt x="200025" y="163324"/>
                </a:lnTo>
                <a:cubicBezTo>
                  <a:pt x="193417" y="167700"/>
                  <a:pt x="185827" y="171227"/>
                  <a:pt x="177924" y="174040"/>
                </a:cubicBezTo>
                <a:close/>
              </a:path>
            </a:pathLst>
          </a:custGeom>
          <a:solidFill>
            <a:srgbClr val="B38B59"/>
          </a:solidFill>
          <a:ln/>
        </p:spPr>
        <p:txBody>
          <a:bodyPr/>
          <a:lstStyle/>
          <a:p>
            <a:endParaRPr lang="zh-CN" altLang="en-US"/>
          </a:p>
        </p:txBody>
      </p:sp>
      <p:sp>
        <p:nvSpPr>
          <p:cNvPr id="16" name="Text 14"/>
          <p:cNvSpPr/>
          <p:nvPr/>
        </p:nvSpPr>
        <p:spPr>
          <a:xfrm>
            <a:off x="1263650" y="3924300"/>
            <a:ext cx="584200" cy="355600"/>
          </a:xfrm>
          <a:prstGeom prst="rect">
            <a:avLst/>
          </a:prstGeom>
          <a:noFill/>
          <a:ln/>
        </p:spPr>
        <p:txBody>
          <a:bodyPr wrap="square" lIns="0" tIns="0" rIns="0" bIns="0" rtlCol="0" anchor="ctr"/>
          <a:lstStyle/>
          <a:p>
            <a:pPr>
              <a:lnSpc>
                <a:spcPct val="130000"/>
              </a:lnSpc>
            </a:pPr>
            <a:r>
              <a:rPr lang="en-US" sz="1800" b="1" dirty="0">
                <a:solidFill>
                  <a:srgbClr val="E0E2E4"/>
                </a:solidFill>
                <a:latin typeface="MiSans" pitchFamily="34" charset="0"/>
                <a:ea typeface="MiSans" pitchFamily="34" charset="-122"/>
                <a:cs typeface="MiSans" pitchFamily="34" charset="-120"/>
              </a:rPr>
              <a:t>etcd</a:t>
            </a:r>
            <a:endParaRPr lang="en-US" sz="1600" dirty="0"/>
          </a:p>
        </p:txBody>
      </p:sp>
      <p:sp>
        <p:nvSpPr>
          <p:cNvPr id="17" name="Text 15"/>
          <p:cNvSpPr/>
          <p:nvPr/>
        </p:nvSpPr>
        <p:spPr>
          <a:xfrm>
            <a:off x="876300" y="4381500"/>
            <a:ext cx="6870700" cy="254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分布式键值存储,保存集群的所有状态信息,提供高可用的数据存储和一致性保证</a:t>
            </a:r>
            <a:endParaRPr lang="en-US" sz="1600" dirty="0"/>
          </a:p>
        </p:txBody>
      </p:sp>
      <p:sp>
        <p:nvSpPr>
          <p:cNvPr id="18" name="Shape 16"/>
          <p:cNvSpPr/>
          <p:nvPr/>
        </p:nvSpPr>
        <p:spPr>
          <a:xfrm>
            <a:off x="723900" y="4889500"/>
            <a:ext cx="7086600" cy="1016000"/>
          </a:xfrm>
          <a:custGeom>
            <a:avLst/>
            <a:gdLst/>
            <a:ahLst/>
            <a:cxnLst/>
            <a:rect l="l" t="t" r="r" b="b"/>
            <a:pathLst>
              <a:path w="7086600" h="1016000">
                <a:moveTo>
                  <a:pt x="101600" y="0"/>
                </a:moveTo>
                <a:lnTo>
                  <a:pt x="6985000" y="0"/>
                </a:lnTo>
                <a:cubicBezTo>
                  <a:pt x="7041075" y="0"/>
                  <a:pt x="7086600" y="45525"/>
                  <a:pt x="7086600" y="101600"/>
                </a:cubicBezTo>
                <a:lnTo>
                  <a:pt x="7086600" y="914400"/>
                </a:lnTo>
                <a:cubicBezTo>
                  <a:pt x="7086600" y="970475"/>
                  <a:pt x="7041075" y="1016000"/>
                  <a:pt x="69850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1A1D21">
              <a:alpha val="50196"/>
            </a:srgbClr>
          </a:solidFill>
          <a:ln/>
        </p:spPr>
        <p:txBody>
          <a:bodyPr/>
          <a:lstStyle/>
          <a:p>
            <a:endParaRPr lang="zh-CN" altLang="en-US"/>
          </a:p>
        </p:txBody>
      </p:sp>
      <p:sp>
        <p:nvSpPr>
          <p:cNvPr id="19" name="Shape 17"/>
          <p:cNvSpPr/>
          <p:nvPr/>
        </p:nvSpPr>
        <p:spPr>
          <a:xfrm>
            <a:off x="922338" y="5105400"/>
            <a:ext cx="200025" cy="228600"/>
          </a:xfrm>
          <a:custGeom>
            <a:avLst/>
            <a:gdLst/>
            <a:ahLst/>
            <a:cxnLst/>
            <a:rect l="l" t="t" r="r" b="b"/>
            <a:pathLst>
              <a:path w="200025" h="228600">
                <a:moveTo>
                  <a:pt x="57150" y="0"/>
                </a:moveTo>
                <a:cubicBezTo>
                  <a:pt x="65053" y="0"/>
                  <a:pt x="71438" y="6385"/>
                  <a:pt x="71438" y="14288"/>
                </a:cubicBezTo>
                <a:lnTo>
                  <a:pt x="71438" y="28575"/>
                </a:lnTo>
                <a:lnTo>
                  <a:pt x="128588" y="28575"/>
                </a:lnTo>
                <a:lnTo>
                  <a:pt x="128588" y="14288"/>
                </a:lnTo>
                <a:cubicBezTo>
                  <a:pt x="128588" y="6385"/>
                  <a:pt x="134972" y="0"/>
                  <a:pt x="142875" y="0"/>
                </a:cubicBezTo>
                <a:cubicBezTo>
                  <a:pt x="150778" y="0"/>
                  <a:pt x="157163" y="6385"/>
                  <a:pt x="157163" y="14288"/>
                </a:cubicBezTo>
                <a:lnTo>
                  <a:pt x="157163" y="28575"/>
                </a:lnTo>
                <a:lnTo>
                  <a:pt x="171450" y="28575"/>
                </a:lnTo>
                <a:cubicBezTo>
                  <a:pt x="187211" y="28575"/>
                  <a:pt x="200025" y="41389"/>
                  <a:pt x="200025" y="57150"/>
                </a:cubicBezTo>
                <a:lnTo>
                  <a:pt x="200025" y="185738"/>
                </a:lnTo>
                <a:cubicBezTo>
                  <a:pt x="200025" y="201498"/>
                  <a:pt x="187211" y="214313"/>
                  <a:pt x="171450" y="214313"/>
                </a:cubicBezTo>
                <a:lnTo>
                  <a:pt x="28575" y="214313"/>
                </a:lnTo>
                <a:cubicBezTo>
                  <a:pt x="12814" y="214313"/>
                  <a:pt x="0" y="201498"/>
                  <a:pt x="0" y="185738"/>
                </a:cubicBezTo>
                <a:lnTo>
                  <a:pt x="0" y="57150"/>
                </a:lnTo>
                <a:cubicBezTo>
                  <a:pt x="0" y="41389"/>
                  <a:pt x="12814" y="28575"/>
                  <a:pt x="28575" y="28575"/>
                </a:cubicBezTo>
                <a:lnTo>
                  <a:pt x="42863" y="28575"/>
                </a:lnTo>
                <a:lnTo>
                  <a:pt x="42863" y="14288"/>
                </a:lnTo>
                <a:cubicBezTo>
                  <a:pt x="42863" y="6385"/>
                  <a:pt x="49247" y="0"/>
                  <a:pt x="57150" y="0"/>
                </a:cubicBezTo>
                <a:close/>
                <a:moveTo>
                  <a:pt x="28575" y="107156"/>
                </a:moveTo>
                <a:lnTo>
                  <a:pt x="28575" y="121444"/>
                </a:lnTo>
                <a:cubicBezTo>
                  <a:pt x="28575" y="125373"/>
                  <a:pt x="31790" y="128588"/>
                  <a:pt x="35719" y="128588"/>
                </a:cubicBezTo>
                <a:lnTo>
                  <a:pt x="50006" y="128588"/>
                </a:lnTo>
                <a:cubicBezTo>
                  <a:pt x="53935" y="128588"/>
                  <a:pt x="57150" y="125373"/>
                  <a:pt x="57150" y="121444"/>
                </a:cubicBezTo>
                <a:lnTo>
                  <a:pt x="57150" y="107156"/>
                </a:lnTo>
                <a:cubicBezTo>
                  <a:pt x="57150" y="103227"/>
                  <a:pt x="53935" y="100013"/>
                  <a:pt x="50006" y="100013"/>
                </a:cubicBezTo>
                <a:lnTo>
                  <a:pt x="35719" y="100013"/>
                </a:lnTo>
                <a:cubicBezTo>
                  <a:pt x="31790" y="100013"/>
                  <a:pt x="28575" y="103227"/>
                  <a:pt x="28575" y="107156"/>
                </a:cubicBezTo>
                <a:close/>
                <a:moveTo>
                  <a:pt x="85725" y="107156"/>
                </a:moveTo>
                <a:lnTo>
                  <a:pt x="85725" y="121444"/>
                </a:lnTo>
                <a:cubicBezTo>
                  <a:pt x="85725" y="125373"/>
                  <a:pt x="88940" y="128588"/>
                  <a:pt x="92869" y="128588"/>
                </a:cubicBezTo>
                <a:lnTo>
                  <a:pt x="107156" y="128588"/>
                </a:lnTo>
                <a:cubicBezTo>
                  <a:pt x="111085" y="128588"/>
                  <a:pt x="114300" y="125373"/>
                  <a:pt x="114300" y="121444"/>
                </a:cubicBezTo>
                <a:lnTo>
                  <a:pt x="114300" y="107156"/>
                </a:lnTo>
                <a:cubicBezTo>
                  <a:pt x="114300" y="103227"/>
                  <a:pt x="111085" y="100013"/>
                  <a:pt x="107156" y="100013"/>
                </a:cubicBezTo>
                <a:lnTo>
                  <a:pt x="92869" y="100013"/>
                </a:lnTo>
                <a:cubicBezTo>
                  <a:pt x="88940" y="100013"/>
                  <a:pt x="85725" y="103227"/>
                  <a:pt x="85725" y="107156"/>
                </a:cubicBezTo>
                <a:close/>
                <a:moveTo>
                  <a:pt x="150019" y="100013"/>
                </a:moveTo>
                <a:cubicBezTo>
                  <a:pt x="146090" y="100013"/>
                  <a:pt x="142875" y="103227"/>
                  <a:pt x="142875" y="107156"/>
                </a:cubicBezTo>
                <a:lnTo>
                  <a:pt x="142875" y="121444"/>
                </a:lnTo>
                <a:cubicBezTo>
                  <a:pt x="142875" y="125373"/>
                  <a:pt x="146090" y="128588"/>
                  <a:pt x="150019" y="128588"/>
                </a:cubicBezTo>
                <a:lnTo>
                  <a:pt x="164306" y="128588"/>
                </a:lnTo>
                <a:cubicBezTo>
                  <a:pt x="168235" y="128588"/>
                  <a:pt x="171450" y="125373"/>
                  <a:pt x="171450" y="121444"/>
                </a:cubicBezTo>
                <a:lnTo>
                  <a:pt x="171450" y="107156"/>
                </a:lnTo>
                <a:cubicBezTo>
                  <a:pt x="171450" y="103227"/>
                  <a:pt x="168235" y="100013"/>
                  <a:pt x="164306" y="100013"/>
                </a:cubicBezTo>
                <a:lnTo>
                  <a:pt x="150019" y="100013"/>
                </a:lnTo>
                <a:close/>
                <a:moveTo>
                  <a:pt x="28575" y="164306"/>
                </a:moveTo>
                <a:lnTo>
                  <a:pt x="28575" y="178594"/>
                </a:lnTo>
                <a:cubicBezTo>
                  <a:pt x="28575" y="182523"/>
                  <a:pt x="31790" y="185738"/>
                  <a:pt x="35719" y="185738"/>
                </a:cubicBezTo>
                <a:lnTo>
                  <a:pt x="50006" y="185738"/>
                </a:lnTo>
                <a:cubicBezTo>
                  <a:pt x="53935" y="185738"/>
                  <a:pt x="57150" y="182523"/>
                  <a:pt x="57150" y="178594"/>
                </a:cubicBezTo>
                <a:lnTo>
                  <a:pt x="57150" y="164306"/>
                </a:lnTo>
                <a:cubicBezTo>
                  <a:pt x="57150" y="160377"/>
                  <a:pt x="53935" y="157163"/>
                  <a:pt x="50006" y="157163"/>
                </a:cubicBezTo>
                <a:lnTo>
                  <a:pt x="35719" y="157163"/>
                </a:lnTo>
                <a:cubicBezTo>
                  <a:pt x="31790" y="157163"/>
                  <a:pt x="28575" y="160377"/>
                  <a:pt x="28575" y="164306"/>
                </a:cubicBezTo>
                <a:close/>
                <a:moveTo>
                  <a:pt x="92869" y="157163"/>
                </a:moveTo>
                <a:cubicBezTo>
                  <a:pt x="88940" y="157163"/>
                  <a:pt x="85725" y="160377"/>
                  <a:pt x="85725" y="164306"/>
                </a:cubicBezTo>
                <a:lnTo>
                  <a:pt x="85725" y="178594"/>
                </a:lnTo>
                <a:cubicBezTo>
                  <a:pt x="85725" y="182523"/>
                  <a:pt x="88940" y="185738"/>
                  <a:pt x="92869" y="185738"/>
                </a:cubicBezTo>
                <a:lnTo>
                  <a:pt x="107156" y="185738"/>
                </a:lnTo>
                <a:cubicBezTo>
                  <a:pt x="111085" y="185738"/>
                  <a:pt x="114300" y="182523"/>
                  <a:pt x="114300" y="178594"/>
                </a:cubicBezTo>
                <a:lnTo>
                  <a:pt x="114300" y="164306"/>
                </a:lnTo>
                <a:cubicBezTo>
                  <a:pt x="114300" y="160377"/>
                  <a:pt x="111085" y="157163"/>
                  <a:pt x="107156" y="157163"/>
                </a:cubicBezTo>
                <a:lnTo>
                  <a:pt x="92869" y="157163"/>
                </a:lnTo>
                <a:close/>
                <a:moveTo>
                  <a:pt x="142875" y="164306"/>
                </a:moveTo>
                <a:lnTo>
                  <a:pt x="142875" y="178594"/>
                </a:lnTo>
                <a:cubicBezTo>
                  <a:pt x="142875" y="182523"/>
                  <a:pt x="146090" y="185738"/>
                  <a:pt x="150019" y="185738"/>
                </a:cubicBezTo>
                <a:lnTo>
                  <a:pt x="164306" y="185738"/>
                </a:lnTo>
                <a:cubicBezTo>
                  <a:pt x="168235" y="185738"/>
                  <a:pt x="171450" y="182523"/>
                  <a:pt x="171450" y="178594"/>
                </a:cubicBezTo>
                <a:lnTo>
                  <a:pt x="171450" y="164306"/>
                </a:lnTo>
                <a:cubicBezTo>
                  <a:pt x="171450" y="160377"/>
                  <a:pt x="168235" y="157163"/>
                  <a:pt x="164306" y="157163"/>
                </a:cubicBezTo>
                <a:lnTo>
                  <a:pt x="150019" y="157163"/>
                </a:lnTo>
                <a:cubicBezTo>
                  <a:pt x="146090" y="157163"/>
                  <a:pt x="142875" y="160377"/>
                  <a:pt x="142875" y="164306"/>
                </a:cubicBezTo>
                <a:close/>
              </a:path>
            </a:pathLst>
          </a:custGeom>
          <a:solidFill>
            <a:srgbClr val="B38B59"/>
          </a:solidFill>
          <a:ln/>
        </p:spPr>
        <p:txBody>
          <a:bodyPr/>
          <a:lstStyle/>
          <a:p>
            <a:endParaRPr lang="zh-CN" altLang="en-US"/>
          </a:p>
        </p:txBody>
      </p:sp>
      <p:sp>
        <p:nvSpPr>
          <p:cNvPr id="20" name="Text 18"/>
          <p:cNvSpPr/>
          <p:nvPr/>
        </p:nvSpPr>
        <p:spPr>
          <a:xfrm>
            <a:off x="1263650" y="5041900"/>
            <a:ext cx="1168400" cy="355600"/>
          </a:xfrm>
          <a:prstGeom prst="rect">
            <a:avLst/>
          </a:prstGeom>
          <a:noFill/>
          <a:ln/>
        </p:spPr>
        <p:txBody>
          <a:bodyPr wrap="square" lIns="0" tIns="0" rIns="0" bIns="0" rtlCol="0" anchor="ctr"/>
          <a:lstStyle/>
          <a:p>
            <a:pPr>
              <a:lnSpc>
                <a:spcPct val="130000"/>
              </a:lnSpc>
            </a:pPr>
            <a:r>
              <a:rPr lang="en-US" sz="1800" b="1" dirty="0">
                <a:solidFill>
                  <a:srgbClr val="E0E2E4"/>
                </a:solidFill>
                <a:latin typeface="MiSans" pitchFamily="34" charset="0"/>
                <a:ea typeface="MiSans" pitchFamily="34" charset="-122"/>
                <a:cs typeface="MiSans" pitchFamily="34" charset="-120"/>
              </a:rPr>
              <a:t>Scheduler</a:t>
            </a:r>
            <a:endParaRPr lang="en-US" sz="1600" dirty="0"/>
          </a:p>
        </p:txBody>
      </p:sp>
      <p:sp>
        <p:nvSpPr>
          <p:cNvPr id="21" name="Text 19"/>
          <p:cNvSpPr/>
          <p:nvPr/>
        </p:nvSpPr>
        <p:spPr>
          <a:xfrm>
            <a:off x="876300" y="5499100"/>
            <a:ext cx="6870700" cy="254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调度器,负责将Pod分配到合适的节点,考虑资源需求、亲和性、污点和容忍度等因素</a:t>
            </a:r>
            <a:endParaRPr lang="en-US" sz="1600" dirty="0"/>
          </a:p>
        </p:txBody>
      </p:sp>
      <p:sp>
        <p:nvSpPr>
          <p:cNvPr id="22" name="Shape 20"/>
          <p:cNvSpPr/>
          <p:nvPr/>
        </p:nvSpPr>
        <p:spPr>
          <a:xfrm>
            <a:off x="723900" y="6007100"/>
            <a:ext cx="7086600" cy="1016000"/>
          </a:xfrm>
          <a:custGeom>
            <a:avLst/>
            <a:gdLst/>
            <a:ahLst/>
            <a:cxnLst/>
            <a:rect l="l" t="t" r="r" b="b"/>
            <a:pathLst>
              <a:path w="7086600" h="1016000">
                <a:moveTo>
                  <a:pt x="101600" y="0"/>
                </a:moveTo>
                <a:lnTo>
                  <a:pt x="6985000" y="0"/>
                </a:lnTo>
                <a:cubicBezTo>
                  <a:pt x="7041075" y="0"/>
                  <a:pt x="7086600" y="45525"/>
                  <a:pt x="7086600" y="101600"/>
                </a:cubicBezTo>
                <a:lnTo>
                  <a:pt x="7086600" y="914400"/>
                </a:lnTo>
                <a:cubicBezTo>
                  <a:pt x="7086600" y="970475"/>
                  <a:pt x="7041075" y="1016000"/>
                  <a:pt x="69850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1A1D21">
              <a:alpha val="50196"/>
            </a:srgbClr>
          </a:solidFill>
          <a:ln/>
        </p:spPr>
        <p:txBody>
          <a:bodyPr/>
          <a:lstStyle/>
          <a:p>
            <a:endParaRPr lang="zh-CN" altLang="en-US"/>
          </a:p>
        </p:txBody>
      </p:sp>
      <p:sp>
        <p:nvSpPr>
          <p:cNvPr id="23" name="Shape 21"/>
          <p:cNvSpPr/>
          <p:nvPr/>
        </p:nvSpPr>
        <p:spPr>
          <a:xfrm>
            <a:off x="879475" y="6223000"/>
            <a:ext cx="285750" cy="228600"/>
          </a:xfrm>
          <a:custGeom>
            <a:avLst/>
            <a:gdLst/>
            <a:ahLst/>
            <a:cxnLst/>
            <a:rect l="l" t="t" r="r" b="b"/>
            <a:pathLst>
              <a:path w="285750" h="228600">
                <a:moveTo>
                  <a:pt x="185693" y="93985"/>
                </a:moveTo>
                <a:cubicBezTo>
                  <a:pt x="191140" y="92512"/>
                  <a:pt x="196855" y="95101"/>
                  <a:pt x="199311" y="100146"/>
                </a:cubicBezTo>
                <a:lnTo>
                  <a:pt x="207615" y="116934"/>
                </a:lnTo>
                <a:cubicBezTo>
                  <a:pt x="212214" y="117559"/>
                  <a:pt x="216724" y="118809"/>
                  <a:pt x="220965" y="120551"/>
                </a:cubicBezTo>
                <a:lnTo>
                  <a:pt x="236592" y="110148"/>
                </a:lnTo>
                <a:cubicBezTo>
                  <a:pt x="241280" y="107022"/>
                  <a:pt x="247486" y="107647"/>
                  <a:pt x="251460" y="111621"/>
                </a:cubicBezTo>
                <a:lnTo>
                  <a:pt x="260033" y="120194"/>
                </a:lnTo>
                <a:cubicBezTo>
                  <a:pt x="264006" y="124167"/>
                  <a:pt x="264631" y="130418"/>
                  <a:pt x="261506" y="135062"/>
                </a:cubicBezTo>
                <a:lnTo>
                  <a:pt x="251103" y="150644"/>
                </a:lnTo>
                <a:cubicBezTo>
                  <a:pt x="251951" y="152742"/>
                  <a:pt x="252710" y="154930"/>
                  <a:pt x="253335" y="157207"/>
                </a:cubicBezTo>
                <a:cubicBezTo>
                  <a:pt x="253960" y="159484"/>
                  <a:pt x="254362" y="161717"/>
                  <a:pt x="254675" y="163994"/>
                </a:cubicBezTo>
                <a:lnTo>
                  <a:pt x="271507" y="172298"/>
                </a:lnTo>
                <a:cubicBezTo>
                  <a:pt x="276552" y="174799"/>
                  <a:pt x="279142" y="180514"/>
                  <a:pt x="277669" y="185916"/>
                </a:cubicBezTo>
                <a:lnTo>
                  <a:pt x="274543" y="197614"/>
                </a:lnTo>
                <a:cubicBezTo>
                  <a:pt x="273070" y="203016"/>
                  <a:pt x="268025" y="206678"/>
                  <a:pt x="262399" y="206320"/>
                </a:cubicBezTo>
                <a:lnTo>
                  <a:pt x="243647" y="205115"/>
                </a:lnTo>
                <a:cubicBezTo>
                  <a:pt x="240834" y="208731"/>
                  <a:pt x="237574" y="212080"/>
                  <a:pt x="233869" y="214938"/>
                </a:cubicBezTo>
                <a:lnTo>
                  <a:pt x="235074" y="233645"/>
                </a:lnTo>
                <a:cubicBezTo>
                  <a:pt x="235431" y="239271"/>
                  <a:pt x="231770" y="244361"/>
                  <a:pt x="226368" y="245790"/>
                </a:cubicBezTo>
                <a:lnTo>
                  <a:pt x="214670" y="248915"/>
                </a:lnTo>
                <a:cubicBezTo>
                  <a:pt x="209223" y="250388"/>
                  <a:pt x="203552" y="247799"/>
                  <a:pt x="201052" y="242754"/>
                </a:cubicBezTo>
                <a:lnTo>
                  <a:pt x="192747" y="225966"/>
                </a:lnTo>
                <a:cubicBezTo>
                  <a:pt x="188149" y="225341"/>
                  <a:pt x="183639" y="224091"/>
                  <a:pt x="179397" y="222349"/>
                </a:cubicBezTo>
                <a:lnTo>
                  <a:pt x="163770" y="232752"/>
                </a:lnTo>
                <a:cubicBezTo>
                  <a:pt x="159082" y="235878"/>
                  <a:pt x="152876" y="235253"/>
                  <a:pt x="148903" y="231279"/>
                </a:cubicBezTo>
                <a:lnTo>
                  <a:pt x="140330" y="222706"/>
                </a:lnTo>
                <a:cubicBezTo>
                  <a:pt x="136356" y="218733"/>
                  <a:pt x="135731" y="212527"/>
                  <a:pt x="138857" y="207838"/>
                </a:cubicBezTo>
                <a:lnTo>
                  <a:pt x="149260" y="192212"/>
                </a:lnTo>
                <a:cubicBezTo>
                  <a:pt x="148411" y="190113"/>
                  <a:pt x="147652" y="187925"/>
                  <a:pt x="147027" y="185648"/>
                </a:cubicBezTo>
                <a:cubicBezTo>
                  <a:pt x="146402" y="183371"/>
                  <a:pt x="146000" y="181094"/>
                  <a:pt x="145688" y="178862"/>
                </a:cubicBezTo>
                <a:lnTo>
                  <a:pt x="128855" y="170557"/>
                </a:lnTo>
                <a:cubicBezTo>
                  <a:pt x="123810" y="168057"/>
                  <a:pt x="121265" y="162342"/>
                  <a:pt x="122694" y="156939"/>
                </a:cubicBezTo>
                <a:lnTo>
                  <a:pt x="125819" y="145241"/>
                </a:lnTo>
                <a:cubicBezTo>
                  <a:pt x="127293" y="139839"/>
                  <a:pt x="132338" y="136178"/>
                  <a:pt x="137964" y="136535"/>
                </a:cubicBezTo>
                <a:lnTo>
                  <a:pt x="156671" y="137740"/>
                </a:lnTo>
                <a:cubicBezTo>
                  <a:pt x="159484" y="134124"/>
                  <a:pt x="162744" y="130775"/>
                  <a:pt x="166449" y="127918"/>
                </a:cubicBezTo>
                <a:lnTo>
                  <a:pt x="165244" y="109255"/>
                </a:lnTo>
                <a:cubicBezTo>
                  <a:pt x="164887" y="103629"/>
                  <a:pt x="168548" y="98539"/>
                  <a:pt x="173950" y="97110"/>
                </a:cubicBezTo>
                <a:lnTo>
                  <a:pt x="185648" y="93985"/>
                </a:lnTo>
                <a:close/>
                <a:moveTo>
                  <a:pt x="200204" y="151805"/>
                </a:moveTo>
                <a:cubicBezTo>
                  <a:pt x="189361" y="151817"/>
                  <a:pt x="180568" y="160630"/>
                  <a:pt x="180581" y="171472"/>
                </a:cubicBezTo>
                <a:cubicBezTo>
                  <a:pt x="180593" y="182315"/>
                  <a:pt x="189406" y="191108"/>
                  <a:pt x="200248" y="191095"/>
                </a:cubicBezTo>
                <a:cubicBezTo>
                  <a:pt x="211091" y="191083"/>
                  <a:pt x="219884" y="182270"/>
                  <a:pt x="219871" y="171428"/>
                </a:cubicBezTo>
                <a:cubicBezTo>
                  <a:pt x="219859" y="160585"/>
                  <a:pt x="211046" y="151792"/>
                  <a:pt x="200204" y="151805"/>
                </a:cubicBezTo>
                <a:close/>
                <a:moveTo>
                  <a:pt x="100414" y="-20315"/>
                </a:moveTo>
                <a:lnTo>
                  <a:pt x="112112" y="-17190"/>
                </a:lnTo>
                <a:cubicBezTo>
                  <a:pt x="117515" y="-15716"/>
                  <a:pt x="121176" y="-10626"/>
                  <a:pt x="120819" y="-5045"/>
                </a:cubicBezTo>
                <a:lnTo>
                  <a:pt x="119613" y="13618"/>
                </a:lnTo>
                <a:cubicBezTo>
                  <a:pt x="123319" y="16475"/>
                  <a:pt x="126578" y="19779"/>
                  <a:pt x="129391" y="23440"/>
                </a:cubicBezTo>
                <a:lnTo>
                  <a:pt x="148144" y="22235"/>
                </a:lnTo>
                <a:cubicBezTo>
                  <a:pt x="153725" y="21878"/>
                  <a:pt x="158814" y="25539"/>
                  <a:pt x="160288" y="30941"/>
                </a:cubicBezTo>
                <a:lnTo>
                  <a:pt x="163413" y="42639"/>
                </a:lnTo>
                <a:cubicBezTo>
                  <a:pt x="164842" y="48042"/>
                  <a:pt x="162297" y="53757"/>
                  <a:pt x="157252" y="56257"/>
                </a:cubicBezTo>
                <a:lnTo>
                  <a:pt x="140419" y="64562"/>
                </a:lnTo>
                <a:cubicBezTo>
                  <a:pt x="140107" y="66839"/>
                  <a:pt x="139660" y="69116"/>
                  <a:pt x="139080" y="71348"/>
                </a:cubicBezTo>
                <a:cubicBezTo>
                  <a:pt x="138499" y="73581"/>
                  <a:pt x="137696" y="75813"/>
                  <a:pt x="136847" y="77912"/>
                </a:cubicBezTo>
                <a:lnTo>
                  <a:pt x="147251" y="93538"/>
                </a:lnTo>
                <a:cubicBezTo>
                  <a:pt x="150376" y="98227"/>
                  <a:pt x="149751" y="104433"/>
                  <a:pt x="145777" y="108406"/>
                </a:cubicBezTo>
                <a:lnTo>
                  <a:pt x="137205" y="116979"/>
                </a:lnTo>
                <a:cubicBezTo>
                  <a:pt x="133231" y="120953"/>
                  <a:pt x="127025" y="121578"/>
                  <a:pt x="122337" y="118452"/>
                </a:cubicBezTo>
                <a:lnTo>
                  <a:pt x="106710" y="108049"/>
                </a:lnTo>
                <a:cubicBezTo>
                  <a:pt x="102468" y="109791"/>
                  <a:pt x="97959" y="111041"/>
                  <a:pt x="93360" y="111666"/>
                </a:cubicBezTo>
                <a:lnTo>
                  <a:pt x="85055" y="128454"/>
                </a:lnTo>
                <a:cubicBezTo>
                  <a:pt x="82555" y="133499"/>
                  <a:pt x="76840" y="136044"/>
                  <a:pt x="71438" y="134615"/>
                </a:cubicBezTo>
                <a:lnTo>
                  <a:pt x="59740" y="131490"/>
                </a:lnTo>
                <a:cubicBezTo>
                  <a:pt x="54293" y="130016"/>
                  <a:pt x="50676" y="124926"/>
                  <a:pt x="51033" y="119345"/>
                </a:cubicBezTo>
                <a:lnTo>
                  <a:pt x="52239" y="100638"/>
                </a:lnTo>
                <a:cubicBezTo>
                  <a:pt x="48533" y="97780"/>
                  <a:pt x="45274" y="94476"/>
                  <a:pt x="42461" y="90815"/>
                </a:cubicBezTo>
                <a:lnTo>
                  <a:pt x="23708" y="92020"/>
                </a:lnTo>
                <a:cubicBezTo>
                  <a:pt x="18127" y="92378"/>
                  <a:pt x="13037" y="88716"/>
                  <a:pt x="11564" y="83314"/>
                </a:cubicBezTo>
                <a:lnTo>
                  <a:pt x="8439" y="71616"/>
                </a:lnTo>
                <a:cubicBezTo>
                  <a:pt x="7010" y="66214"/>
                  <a:pt x="9555" y="60499"/>
                  <a:pt x="14600" y="57998"/>
                </a:cubicBezTo>
                <a:lnTo>
                  <a:pt x="31433" y="49694"/>
                </a:lnTo>
                <a:cubicBezTo>
                  <a:pt x="31745" y="47417"/>
                  <a:pt x="32192" y="45184"/>
                  <a:pt x="32772" y="42907"/>
                </a:cubicBezTo>
                <a:cubicBezTo>
                  <a:pt x="33397" y="40630"/>
                  <a:pt x="34111" y="38442"/>
                  <a:pt x="35004" y="36344"/>
                </a:cubicBezTo>
                <a:lnTo>
                  <a:pt x="24601" y="20762"/>
                </a:lnTo>
                <a:cubicBezTo>
                  <a:pt x="21476" y="16073"/>
                  <a:pt x="22101" y="9867"/>
                  <a:pt x="26075" y="5894"/>
                </a:cubicBezTo>
                <a:lnTo>
                  <a:pt x="34647" y="-2679"/>
                </a:lnTo>
                <a:cubicBezTo>
                  <a:pt x="38621" y="-6653"/>
                  <a:pt x="44827" y="-7278"/>
                  <a:pt x="49515" y="-4152"/>
                </a:cubicBezTo>
                <a:lnTo>
                  <a:pt x="65142" y="6251"/>
                </a:lnTo>
                <a:cubicBezTo>
                  <a:pt x="69384" y="4509"/>
                  <a:pt x="73893" y="3259"/>
                  <a:pt x="78492" y="2634"/>
                </a:cubicBezTo>
                <a:lnTo>
                  <a:pt x="86797" y="-14154"/>
                </a:lnTo>
                <a:cubicBezTo>
                  <a:pt x="89297" y="-19199"/>
                  <a:pt x="94967" y="-21744"/>
                  <a:pt x="100414" y="-20315"/>
                </a:cubicBezTo>
                <a:close/>
                <a:moveTo>
                  <a:pt x="85904" y="37505"/>
                </a:moveTo>
                <a:cubicBezTo>
                  <a:pt x="75061" y="37505"/>
                  <a:pt x="66258" y="46307"/>
                  <a:pt x="66258" y="57150"/>
                </a:cubicBezTo>
                <a:cubicBezTo>
                  <a:pt x="66258" y="67993"/>
                  <a:pt x="75061" y="76795"/>
                  <a:pt x="85904" y="76795"/>
                </a:cubicBezTo>
                <a:cubicBezTo>
                  <a:pt x="96746" y="76795"/>
                  <a:pt x="105549" y="67993"/>
                  <a:pt x="105549" y="57150"/>
                </a:cubicBezTo>
                <a:cubicBezTo>
                  <a:pt x="105549" y="46307"/>
                  <a:pt x="96746" y="37505"/>
                  <a:pt x="85904" y="37505"/>
                </a:cubicBezTo>
                <a:close/>
              </a:path>
            </a:pathLst>
          </a:custGeom>
          <a:solidFill>
            <a:srgbClr val="B38B59"/>
          </a:solidFill>
          <a:ln/>
        </p:spPr>
        <p:txBody>
          <a:bodyPr/>
          <a:lstStyle/>
          <a:p>
            <a:endParaRPr lang="zh-CN" altLang="en-US"/>
          </a:p>
        </p:txBody>
      </p:sp>
      <p:sp>
        <p:nvSpPr>
          <p:cNvPr id="24" name="Text 22"/>
          <p:cNvSpPr/>
          <p:nvPr/>
        </p:nvSpPr>
        <p:spPr>
          <a:xfrm>
            <a:off x="1263650" y="6159500"/>
            <a:ext cx="2146300" cy="355600"/>
          </a:xfrm>
          <a:prstGeom prst="rect">
            <a:avLst/>
          </a:prstGeom>
          <a:noFill/>
          <a:ln/>
        </p:spPr>
        <p:txBody>
          <a:bodyPr wrap="square" lIns="0" tIns="0" rIns="0" bIns="0" rtlCol="0" anchor="ctr"/>
          <a:lstStyle/>
          <a:p>
            <a:pPr>
              <a:lnSpc>
                <a:spcPct val="130000"/>
              </a:lnSpc>
            </a:pPr>
            <a:r>
              <a:rPr lang="en-US" sz="1800" b="1" dirty="0">
                <a:solidFill>
                  <a:srgbClr val="E0E2E4"/>
                </a:solidFill>
                <a:latin typeface="MiSans" pitchFamily="34" charset="0"/>
                <a:ea typeface="MiSans" pitchFamily="34" charset="-122"/>
                <a:cs typeface="MiSans" pitchFamily="34" charset="-120"/>
              </a:rPr>
              <a:t>Controller Manager</a:t>
            </a:r>
            <a:endParaRPr lang="en-US" sz="1600" dirty="0"/>
          </a:p>
        </p:txBody>
      </p:sp>
      <p:sp>
        <p:nvSpPr>
          <p:cNvPr id="25" name="Text 23"/>
          <p:cNvSpPr/>
          <p:nvPr/>
        </p:nvSpPr>
        <p:spPr>
          <a:xfrm>
            <a:off x="876300" y="6616700"/>
            <a:ext cx="6870700" cy="254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控制器管理器,运行各种控制器,确保集群状态与用户期望一致</a:t>
            </a:r>
            <a:endParaRPr lang="en-US" sz="1600" dirty="0"/>
          </a:p>
        </p:txBody>
      </p:sp>
      <p:sp>
        <p:nvSpPr>
          <p:cNvPr id="26" name="Shape 24"/>
          <p:cNvSpPr/>
          <p:nvPr/>
        </p:nvSpPr>
        <p:spPr>
          <a:xfrm>
            <a:off x="8235950" y="1682750"/>
            <a:ext cx="7505700" cy="5549900"/>
          </a:xfrm>
          <a:custGeom>
            <a:avLst/>
            <a:gdLst/>
            <a:ahLst/>
            <a:cxnLst/>
            <a:rect l="l" t="t" r="r" b="b"/>
            <a:pathLst>
              <a:path w="7505700" h="5549900">
                <a:moveTo>
                  <a:pt x="101619" y="0"/>
                </a:moveTo>
                <a:lnTo>
                  <a:pt x="7404081" y="0"/>
                </a:lnTo>
                <a:cubicBezTo>
                  <a:pt x="7460204" y="0"/>
                  <a:pt x="7505700" y="45496"/>
                  <a:pt x="7505700" y="101619"/>
                </a:cubicBezTo>
                <a:lnTo>
                  <a:pt x="7505700" y="5448281"/>
                </a:lnTo>
                <a:cubicBezTo>
                  <a:pt x="7505700" y="5504404"/>
                  <a:pt x="7460204" y="5549900"/>
                  <a:pt x="7404081" y="5549900"/>
                </a:cubicBezTo>
                <a:lnTo>
                  <a:pt x="101619" y="5549900"/>
                </a:lnTo>
                <a:cubicBezTo>
                  <a:pt x="45496" y="5549900"/>
                  <a:pt x="0" y="5504404"/>
                  <a:pt x="0" y="5448281"/>
                </a:cubicBezTo>
                <a:lnTo>
                  <a:pt x="0" y="101619"/>
                </a:lnTo>
                <a:cubicBezTo>
                  <a:pt x="0" y="45534"/>
                  <a:pt x="45534" y="0"/>
                  <a:pt x="101619"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7" name="Shape 25"/>
          <p:cNvSpPr/>
          <p:nvPr/>
        </p:nvSpPr>
        <p:spPr>
          <a:xfrm>
            <a:off x="8445500" y="1892300"/>
            <a:ext cx="609600" cy="609600"/>
          </a:xfrm>
          <a:custGeom>
            <a:avLst/>
            <a:gdLst/>
            <a:ahLst/>
            <a:cxnLst/>
            <a:rect l="l" t="t" r="r" b="b"/>
            <a:pathLst>
              <a:path w="609600" h="609600">
                <a:moveTo>
                  <a:pt x="101602" y="0"/>
                </a:moveTo>
                <a:lnTo>
                  <a:pt x="507998" y="0"/>
                </a:lnTo>
                <a:cubicBezTo>
                  <a:pt x="564111" y="0"/>
                  <a:pt x="609600" y="45489"/>
                  <a:pt x="609600" y="101602"/>
                </a:cubicBezTo>
                <a:lnTo>
                  <a:pt x="609600" y="507998"/>
                </a:lnTo>
                <a:cubicBezTo>
                  <a:pt x="609600" y="564111"/>
                  <a:pt x="564111" y="609600"/>
                  <a:pt x="507998" y="609600"/>
                </a:cubicBezTo>
                <a:lnTo>
                  <a:pt x="101602" y="609600"/>
                </a:lnTo>
                <a:cubicBezTo>
                  <a:pt x="45489" y="609600"/>
                  <a:pt x="0" y="564111"/>
                  <a:pt x="0" y="507998"/>
                </a:cubicBezTo>
                <a:lnTo>
                  <a:pt x="0" y="101602"/>
                </a:lnTo>
                <a:cubicBezTo>
                  <a:pt x="0" y="45526"/>
                  <a:pt x="45526" y="0"/>
                  <a:pt x="101602" y="0"/>
                </a:cubicBezTo>
                <a:close/>
              </a:path>
            </a:pathLst>
          </a:custGeom>
          <a:solidFill>
            <a:srgbClr val="B38B59"/>
          </a:solidFill>
          <a:ln/>
        </p:spPr>
        <p:txBody>
          <a:bodyPr/>
          <a:lstStyle/>
          <a:p>
            <a:endParaRPr lang="zh-CN" altLang="en-US"/>
          </a:p>
        </p:txBody>
      </p:sp>
      <p:sp>
        <p:nvSpPr>
          <p:cNvPr id="28" name="Shape 26"/>
          <p:cNvSpPr/>
          <p:nvPr/>
        </p:nvSpPr>
        <p:spPr>
          <a:xfrm>
            <a:off x="8597900" y="2044700"/>
            <a:ext cx="304800" cy="304800"/>
          </a:xfrm>
          <a:custGeom>
            <a:avLst/>
            <a:gdLst/>
            <a:ahLst/>
            <a:cxnLst/>
            <a:rect l="l" t="t" r="r" b="b"/>
            <a:pathLst>
              <a:path w="304800" h="304800">
                <a:moveTo>
                  <a:pt x="169069" y="-774"/>
                </a:moveTo>
                <a:cubicBezTo>
                  <a:pt x="158770" y="-6727"/>
                  <a:pt x="146030" y="-6727"/>
                  <a:pt x="135731" y="-774"/>
                </a:cubicBezTo>
                <a:lnTo>
                  <a:pt x="85606" y="28158"/>
                </a:lnTo>
                <a:cubicBezTo>
                  <a:pt x="75307" y="34111"/>
                  <a:pt x="68937" y="45125"/>
                  <a:pt x="68937" y="57031"/>
                </a:cubicBezTo>
                <a:lnTo>
                  <a:pt x="68937" y="117693"/>
                </a:lnTo>
                <a:lnTo>
                  <a:pt x="16371" y="148054"/>
                </a:lnTo>
                <a:cubicBezTo>
                  <a:pt x="6072" y="154007"/>
                  <a:pt x="-298" y="165021"/>
                  <a:pt x="-298" y="176927"/>
                </a:cubicBezTo>
                <a:lnTo>
                  <a:pt x="-298" y="234851"/>
                </a:lnTo>
                <a:cubicBezTo>
                  <a:pt x="-298" y="246757"/>
                  <a:pt x="6072" y="257770"/>
                  <a:pt x="16371" y="263723"/>
                </a:cubicBezTo>
                <a:lnTo>
                  <a:pt x="66556" y="292656"/>
                </a:lnTo>
                <a:cubicBezTo>
                  <a:pt x="76855" y="298609"/>
                  <a:pt x="89595" y="298609"/>
                  <a:pt x="99893" y="292656"/>
                </a:cubicBezTo>
                <a:lnTo>
                  <a:pt x="152460" y="262295"/>
                </a:lnTo>
                <a:lnTo>
                  <a:pt x="205026" y="292656"/>
                </a:lnTo>
                <a:cubicBezTo>
                  <a:pt x="215325" y="298609"/>
                  <a:pt x="228064" y="298609"/>
                  <a:pt x="238363" y="292656"/>
                </a:cubicBezTo>
                <a:lnTo>
                  <a:pt x="288429" y="263723"/>
                </a:lnTo>
                <a:cubicBezTo>
                  <a:pt x="298728" y="257770"/>
                  <a:pt x="305098" y="246757"/>
                  <a:pt x="305098" y="234851"/>
                </a:cubicBezTo>
                <a:lnTo>
                  <a:pt x="305098" y="176927"/>
                </a:lnTo>
                <a:cubicBezTo>
                  <a:pt x="305098" y="165021"/>
                  <a:pt x="298728" y="154007"/>
                  <a:pt x="288429" y="148054"/>
                </a:cubicBezTo>
                <a:lnTo>
                  <a:pt x="235863" y="117693"/>
                </a:lnTo>
                <a:lnTo>
                  <a:pt x="235863" y="57031"/>
                </a:lnTo>
                <a:cubicBezTo>
                  <a:pt x="235863" y="45125"/>
                  <a:pt x="229493" y="34111"/>
                  <a:pt x="219194" y="28158"/>
                </a:cubicBezTo>
                <a:lnTo>
                  <a:pt x="169069" y="-774"/>
                </a:lnTo>
                <a:close/>
                <a:moveTo>
                  <a:pt x="138113" y="174188"/>
                </a:moveTo>
                <a:lnTo>
                  <a:pt x="138113" y="237589"/>
                </a:lnTo>
                <a:lnTo>
                  <a:pt x="85546" y="267950"/>
                </a:lnTo>
                <a:cubicBezTo>
                  <a:pt x="84832" y="268367"/>
                  <a:pt x="83999" y="268605"/>
                  <a:pt x="83165" y="268605"/>
                </a:cubicBezTo>
                <a:lnTo>
                  <a:pt x="83165" y="205919"/>
                </a:lnTo>
                <a:lnTo>
                  <a:pt x="138113" y="174188"/>
                </a:lnTo>
                <a:close/>
                <a:moveTo>
                  <a:pt x="275868" y="174546"/>
                </a:moveTo>
                <a:cubicBezTo>
                  <a:pt x="276285" y="175260"/>
                  <a:pt x="276523" y="176093"/>
                  <a:pt x="276523" y="176927"/>
                </a:cubicBezTo>
                <a:lnTo>
                  <a:pt x="276523" y="234851"/>
                </a:lnTo>
                <a:cubicBezTo>
                  <a:pt x="276523" y="236577"/>
                  <a:pt x="275630" y="238125"/>
                  <a:pt x="274141" y="238958"/>
                </a:cubicBezTo>
                <a:lnTo>
                  <a:pt x="223957" y="267891"/>
                </a:lnTo>
                <a:cubicBezTo>
                  <a:pt x="223242" y="268307"/>
                  <a:pt x="222409" y="268545"/>
                  <a:pt x="221575" y="268545"/>
                </a:cubicBezTo>
                <a:lnTo>
                  <a:pt x="221575" y="205859"/>
                </a:lnTo>
                <a:lnTo>
                  <a:pt x="275868" y="174546"/>
                </a:lnTo>
                <a:close/>
                <a:moveTo>
                  <a:pt x="207347" y="57031"/>
                </a:moveTo>
                <a:lnTo>
                  <a:pt x="207347" y="117693"/>
                </a:lnTo>
                <a:lnTo>
                  <a:pt x="152400" y="149423"/>
                </a:lnTo>
                <a:lnTo>
                  <a:pt x="152400" y="86023"/>
                </a:lnTo>
                <a:lnTo>
                  <a:pt x="206692" y="54709"/>
                </a:lnTo>
                <a:cubicBezTo>
                  <a:pt x="207109" y="55424"/>
                  <a:pt x="207347" y="56257"/>
                  <a:pt x="207347" y="57090"/>
                </a:cubicBezTo>
                <a:close/>
              </a:path>
            </a:pathLst>
          </a:custGeom>
          <a:solidFill>
            <a:srgbClr val="FFFFFF"/>
          </a:solidFill>
          <a:ln/>
        </p:spPr>
        <p:txBody>
          <a:bodyPr/>
          <a:lstStyle/>
          <a:p>
            <a:endParaRPr lang="zh-CN" altLang="en-US"/>
          </a:p>
        </p:txBody>
      </p:sp>
      <p:sp>
        <p:nvSpPr>
          <p:cNvPr id="29" name="Text 27"/>
          <p:cNvSpPr/>
          <p:nvPr/>
        </p:nvSpPr>
        <p:spPr>
          <a:xfrm>
            <a:off x="9207500" y="1993900"/>
            <a:ext cx="1371600" cy="406400"/>
          </a:xfrm>
          <a:prstGeom prst="rect">
            <a:avLst/>
          </a:prstGeom>
          <a:noFill/>
          <a:ln/>
        </p:spPr>
        <p:txBody>
          <a:bodyPr wrap="square" lIns="0" tIns="0" rIns="0" bIns="0" rtlCol="0" anchor="ctr"/>
          <a:lstStyle/>
          <a:p>
            <a:pPr>
              <a:lnSpc>
                <a:spcPct val="110000"/>
              </a:lnSpc>
            </a:pPr>
            <a:r>
              <a:rPr lang="en-US" sz="2400" b="1" dirty="0">
                <a:solidFill>
                  <a:srgbClr val="E0E2E4"/>
                </a:solidFill>
                <a:latin typeface="MiSans" pitchFamily="34" charset="0"/>
                <a:ea typeface="MiSans" pitchFamily="34" charset="-122"/>
                <a:cs typeface="MiSans" pitchFamily="34" charset="-120"/>
              </a:rPr>
              <a:t>数据平面</a:t>
            </a:r>
            <a:endParaRPr lang="en-US" sz="1600" dirty="0"/>
          </a:p>
        </p:txBody>
      </p:sp>
      <p:sp>
        <p:nvSpPr>
          <p:cNvPr id="30" name="Shape 28"/>
          <p:cNvSpPr/>
          <p:nvPr/>
        </p:nvSpPr>
        <p:spPr>
          <a:xfrm>
            <a:off x="8445500" y="2654300"/>
            <a:ext cx="7086600" cy="1016000"/>
          </a:xfrm>
          <a:custGeom>
            <a:avLst/>
            <a:gdLst/>
            <a:ahLst/>
            <a:cxnLst/>
            <a:rect l="l" t="t" r="r" b="b"/>
            <a:pathLst>
              <a:path w="7086600" h="1016000">
                <a:moveTo>
                  <a:pt x="101600" y="0"/>
                </a:moveTo>
                <a:lnTo>
                  <a:pt x="6985000" y="0"/>
                </a:lnTo>
                <a:cubicBezTo>
                  <a:pt x="7041075" y="0"/>
                  <a:pt x="7086600" y="45525"/>
                  <a:pt x="7086600" y="101600"/>
                </a:cubicBezTo>
                <a:lnTo>
                  <a:pt x="7086600" y="914400"/>
                </a:lnTo>
                <a:cubicBezTo>
                  <a:pt x="7086600" y="970475"/>
                  <a:pt x="7041075" y="1016000"/>
                  <a:pt x="69850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1A1D21">
              <a:alpha val="50196"/>
            </a:srgbClr>
          </a:solidFill>
          <a:ln/>
        </p:spPr>
        <p:txBody>
          <a:bodyPr/>
          <a:lstStyle/>
          <a:p>
            <a:endParaRPr lang="zh-CN" altLang="en-US"/>
          </a:p>
        </p:txBody>
      </p:sp>
      <p:sp>
        <p:nvSpPr>
          <p:cNvPr id="31" name="Shape 29"/>
          <p:cNvSpPr/>
          <p:nvPr/>
        </p:nvSpPr>
        <p:spPr>
          <a:xfrm>
            <a:off x="8629650" y="2870200"/>
            <a:ext cx="228600" cy="228600"/>
          </a:xfrm>
          <a:custGeom>
            <a:avLst/>
            <a:gdLst/>
            <a:ahLst/>
            <a:cxnLst/>
            <a:rect l="l" t="t" r="r" b="b"/>
            <a:pathLst>
              <a:path w="228600" h="228600">
                <a:moveTo>
                  <a:pt x="100146" y="-1116"/>
                </a:moveTo>
                <a:cubicBezTo>
                  <a:pt x="108987" y="-6206"/>
                  <a:pt x="119881" y="-6206"/>
                  <a:pt x="128721" y="-1116"/>
                </a:cubicBezTo>
                <a:lnTo>
                  <a:pt x="207258" y="44202"/>
                </a:lnTo>
                <a:cubicBezTo>
                  <a:pt x="216098" y="49292"/>
                  <a:pt x="221546" y="58757"/>
                  <a:pt x="221546" y="68937"/>
                </a:cubicBezTo>
                <a:lnTo>
                  <a:pt x="221546" y="159574"/>
                </a:lnTo>
                <a:cubicBezTo>
                  <a:pt x="221546" y="169798"/>
                  <a:pt x="216098" y="179219"/>
                  <a:pt x="207258" y="184309"/>
                </a:cubicBezTo>
                <a:lnTo>
                  <a:pt x="128721" y="229716"/>
                </a:lnTo>
                <a:cubicBezTo>
                  <a:pt x="119881" y="234806"/>
                  <a:pt x="108987" y="234806"/>
                  <a:pt x="100146" y="229716"/>
                </a:cubicBezTo>
                <a:lnTo>
                  <a:pt x="21654" y="184398"/>
                </a:lnTo>
                <a:cubicBezTo>
                  <a:pt x="12814" y="179308"/>
                  <a:pt x="7367" y="169843"/>
                  <a:pt x="7367" y="159663"/>
                </a:cubicBezTo>
                <a:lnTo>
                  <a:pt x="7367" y="69026"/>
                </a:lnTo>
                <a:cubicBezTo>
                  <a:pt x="7367" y="58802"/>
                  <a:pt x="12814" y="49381"/>
                  <a:pt x="21654" y="44291"/>
                </a:cubicBezTo>
                <a:lnTo>
                  <a:pt x="100146" y="-1116"/>
                </a:lnTo>
                <a:close/>
                <a:moveTo>
                  <a:pt x="192926" y="159618"/>
                </a:moveTo>
                <a:lnTo>
                  <a:pt x="192926" y="85457"/>
                </a:lnTo>
                <a:lnTo>
                  <a:pt x="128721" y="122515"/>
                </a:lnTo>
                <a:lnTo>
                  <a:pt x="128721" y="196676"/>
                </a:lnTo>
                <a:lnTo>
                  <a:pt x="192926" y="159618"/>
                </a:lnTo>
                <a:close/>
              </a:path>
            </a:pathLst>
          </a:custGeom>
          <a:solidFill>
            <a:srgbClr val="3C8082"/>
          </a:solidFill>
          <a:ln/>
        </p:spPr>
        <p:txBody>
          <a:bodyPr/>
          <a:lstStyle/>
          <a:p>
            <a:endParaRPr lang="zh-CN" altLang="en-US"/>
          </a:p>
        </p:txBody>
      </p:sp>
      <p:sp>
        <p:nvSpPr>
          <p:cNvPr id="32" name="Text 30"/>
          <p:cNvSpPr/>
          <p:nvPr/>
        </p:nvSpPr>
        <p:spPr>
          <a:xfrm>
            <a:off x="8985250" y="2806700"/>
            <a:ext cx="889000" cy="355600"/>
          </a:xfrm>
          <a:prstGeom prst="rect">
            <a:avLst/>
          </a:prstGeom>
          <a:noFill/>
          <a:ln/>
        </p:spPr>
        <p:txBody>
          <a:bodyPr wrap="square" lIns="0" tIns="0" rIns="0" bIns="0" rtlCol="0" anchor="ctr"/>
          <a:lstStyle/>
          <a:p>
            <a:pPr>
              <a:lnSpc>
                <a:spcPct val="130000"/>
              </a:lnSpc>
            </a:pPr>
            <a:r>
              <a:rPr lang="en-US" sz="1800" b="1" dirty="0">
                <a:solidFill>
                  <a:srgbClr val="E0E2E4"/>
                </a:solidFill>
                <a:latin typeface="MiSans" pitchFamily="34" charset="0"/>
                <a:ea typeface="MiSans" pitchFamily="34" charset="-122"/>
                <a:cs typeface="MiSans" pitchFamily="34" charset="-120"/>
              </a:rPr>
              <a:t>kubelet</a:t>
            </a:r>
            <a:endParaRPr lang="en-US" sz="1600" dirty="0"/>
          </a:p>
        </p:txBody>
      </p:sp>
      <p:sp>
        <p:nvSpPr>
          <p:cNvPr id="33" name="Text 31"/>
          <p:cNvSpPr/>
          <p:nvPr/>
        </p:nvSpPr>
        <p:spPr>
          <a:xfrm>
            <a:off x="8597900" y="3263900"/>
            <a:ext cx="6870700" cy="254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节点代理,负责管理Pod生命周期,执行容器健康检查,定期向API Server报告节点状态</a:t>
            </a:r>
            <a:endParaRPr lang="en-US" sz="1600" dirty="0"/>
          </a:p>
        </p:txBody>
      </p:sp>
      <p:sp>
        <p:nvSpPr>
          <p:cNvPr id="34" name="Shape 32"/>
          <p:cNvSpPr/>
          <p:nvPr/>
        </p:nvSpPr>
        <p:spPr>
          <a:xfrm>
            <a:off x="8445500" y="3771900"/>
            <a:ext cx="7086600" cy="1016000"/>
          </a:xfrm>
          <a:custGeom>
            <a:avLst/>
            <a:gdLst/>
            <a:ahLst/>
            <a:cxnLst/>
            <a:rect l="l" t="t" r="r" b="b"/>
            <a:pathLst>
              <a:path w="7086600" h="1016000">
                <a:moveTo>
                  <a:pt x="101600" y="0"/>
                </a:moveTo>
                <a:lnTo>
                  <a:pt x="6985000" y="0"/>
                </a:lnTo>
                <a:cubicBezTo>
                  <a:pt x="7041075" y="0"/>
                  <a:pt x="7086600" y="45525"/>
                  <a:pt x="7086600" y="101600"/>
                </a:cubicBezTo>
                <a:lnTo>
                  <a:pt x="7086600" y="914400"/>
                </a:lnTo>
                <a:cubicBezTo>
                  <a:pt x="7086600" y="970475"/>
                  <a:pt x="7041075" y="1016000"/>
                  <a:pt x="69850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1A1D21">
              <a:alpha val="50196"/>
            </a:srgbClr>
          </a:solidFill>
          <a:ln/>
        </p:spPr>
        <p:txBody>
          <a:bodyPr/>
          <a:lstStyle/>
          <a:p>
            <a:endParaRPr lang="zh-CN" altLang="en-US"/>
          </a:p>
        </p:txBody>
      </p:sp>
      <p:sp>
        <p:nvSpPr>
          <p:cNvPr id="35" name="Shape 33"/>
          <p:cNvSpPr/>
          <p:nvPr/>
        </p:nvSpPr>
        <p:spPr>
          <a:xfrm>
            <a:off x="8615363" y="3987800"/>
            <a:ext cx="257175" cy="228600"/>
          </a:xfrm>
          <a:custGeom>
            <a:avLst/>
            <a:gdLst/>
            <a:ahLst/>
            <a:cxnLst/>
            <a:rect l="l" t="t" r="r" b="b"/>
            <a:pathLst>
              <a:path w="257175" h="228600">
                <a:moveTo>
                  <a:pt x="110728" y="39291"/>
                </a:moveTo>
                <a:lnTo>
                  <a:pt x="146447" y="39291"/>
                </a:lnTo>
                <a:lnTo>
                  <a:pt x="146447" y="60722"/>
                </a:lnTo>
                <a:lnTo>
                  <a:pt x="110728" y="60722"/>
                </a:lnTo>
                <a:lnTo>
                  <a:pt x="110728" y="39291"/>
                </a:lnTo>
                <a:close/>
                <a:moveTo>
                  <a:pt x="107156" y="14288"/>
                </a:moveTo>
                <a:cubicBezTo>
                  <a:pt x="95324" y="14288"/>
                  <a:pt x="85725" y="23887"/>
                  <a:pt x="85725" y="35719"/>
                </a:cubicBezTo>
                <a:lnTo>
                  <a:pt x="85725" y="64294"/>
                </a:lnTo>
                <a:cubicBezTo>
                  <a:pt x="85725" y="76126"/>
                  <a:pt x="95324" y="85725"/>
                  <a:pt x="107156" y="85725"/>
                </a:cubicBezTo>
                <a:lnTo>
                  <a:pt x="114300" y="85725"/>
                </a:lnTo>
                <a:lnTo>
                  <a:pt x="114300" y="100013"/>
                </a:lnTo>
                <a:lnTo>
                  <a:pt x="14288" y="100013"/>
                </a:lnTo>
                <a:cubicBezTo>
                  <a:pt x="6385" y="100013"/>
                  <a:pt x="0" y="106397"/>
                  <a:pt x="0" y="114300"/>
                </a:cubicBezTo>
                <a:cubicBezTo>
                  <a:pt x="0" y="122203"/>
                  <a:pt x="6385" y="128588"/>
                  <a:pt x="14288" y="128588"/>
                </a:cubicBezTo>
                <a:lnTo>
                  <a:pt x="57150" y="128588"/>
                </a:lnTo>
                <a:lnTo>
                  <a:pt x="57150" y="142875"/>
                </a:lnTo>
                <a:lnTo>
                  <a:pt x="50006" y="142875"/>
                </a:lnTo>
                <a:cubicBezTo>
                  <a:pt x="38174" y="142875"/>
                  <a:pt x="28575" y="152474"/>
                  <a:pt x="28575" y="164306"/>
                </a:cubicBezTo>
                <a:lnTo>
                  <a:pt x="28575" y="192881"/>
                </a:lnTo>
                <a:cubicBezTo>
                  <a:pt x="28575" y="204713"/>
                  <a:pt x="38174" y="214313"/>
                  <a:pt x="50006" y="214313"/>
                </a:cubicBezTo>
                <a:lnTo>
                  <a:pt x="92869" y="214313"/>
                </a:lnTo>
                <a:cubicBezTo>
                  <a:pt x="104701" y="214313"/>
                  <a:pt x="114300" y="204713"/>
                  <a:pt x="114300" y="192881"/>
                </a:cubicBezTo>
                <a:lnTo>
                  <a:pt x="114300" y="164306"/>
                </a:lnTo>
                <a:cubicBezTo>
                  <a:pt x="114300" y="152474"/>
                  <a:pt x="104701" y="142875"/>
                  <a:pt x="92869" y="142875"/>
                </a:cubicBezTo>
                <a:lnTo>
                  <a:pt x="85725" y="142875"/>
                </a:lnTo>
                <a:lnTo>
                  <a:pt x="85725" y="128588"/>
                </a:lnTo>
                <a:lnTo>
                  <a:pt x="171450" y="128588"/>
                </a:lnTo>
                <a:lnTo>
                  <a:pt x="171450" y="142875"/>
                </a:lnTo>
                <a:lnTo>
                  <a:pt x="164306" y="142875"/>
                </a:lnTo>
                <a:cubicBezTo>
                  <a:pt x="152474" y="142875"/>
                  <a:pt x="142875" y="152474"/>
                  <a:pt x="142875" y="164306"/>
                </a:cubicBezTo>
                <a:lnTo>
                  <a:pt x="142875" y="192881"/>
                </a:lnTo>
                <a:cubicBezTo>
                  <a:pt x="142875" y="204713"/>
                  <a:pt x="152474" y="214313"/>
                  <a:pt x="164306" y="214313"/>
                </a:cubicBezTo>
                <a:lnTo>
                  <a:pt x="207169" y="214313"/>
                </a:lnTo>
                <a:cubicBezTo>
                  <a:pt x="219001" y="214313"/>
                  <a:pt x="228600" y="204713"/>
                  <a:pt x="228600" y="192881"/>
                </a:cubicBezTo>
                <a:lnTo>
                  <a:pt x="228600" y="164306"/>
                </a:lnTo>
                <a:cubicBezTo>
                  <a:pt x="228600" y="152474"/>
                  <a:pt x="219001" y="142875"/>
                  <a:pt x="207169" y="142875"/>
                </a:cubicBezTo>
                <a:lnTo>
                  <a:pt x="200025" y="142875"/>
                </a:lnTo>
                <a:lnTo>
                  <a:pt x="200025" y="128588"/>
                </a:lnTo>
                <a:lnTo>
                  <a:pt x="242888" y="128588"/>
                </a:lnTo>
                <a:cubicBezTo>
                  <a:pt x="250790" y="128588"/>
                  <a:pt x="257175" y="122203"/>
                  <a:pt x="257175" y="114300"/>
                </a:cubicBezTo>
                <a:cubicBezTo>
                  <a:pt x="257175" y="106397"/>
                  <a:pt x="250790" y="100013"/>
                  <a:pt x="242888" y="100013"/>
                </a:cubicBezTo>
                <a:lnTo>
                  <a:pt x="142875" y="100013"/>
                </a:lnTo>
                <a:lnTo>
                  <a:pt x="142875" y="85725"/>
                </a:lnTo>
                <a:lnTo>
                  <a:pt x="150019" y="85725"/>
                </a:lnTo>
                <a:cubicBezTo>
                  <a:pt x="161851" y="85725"/>
                  <a:pt x="171450" y="76126"/>
                  <a:pt x="171450" y="64294"/>
                </a:cubicBezTo>
                <a:lnTo>
                  <a:pt x="171450" y="35719"/>
                </a:lnTo>
                <a:cubicBezTo>
                  <a:pt x="171450" y="23887"/>
                  <a:pt x="161851" y="14288"/>
                  <a:pt x="150019" y="14288"/>
                </a:cubicBezTo>
                <a:lnTo>
                  <a:pt x="107156" y="14288"/>
                </a:lnTo>
                <a:close/>
                <a:moveTo>
                  <a:pt x="200025" y="167878"/>
                </a:moveTo>
                <a:lnTo>
                  <a:pt x="203597" y="167878"/>
                </a:lnTo>
                <a:lnTo>
                  <a:pt x="203597" y="189309"/>
                </a:lnTo>
                <a:lnTo>
                  <a:pt x="167878" y="189309"/>
                </a:lnTo>
                <a:lnTo>
                  <a:pt x="167878" y="167878"/>
                </a:lnTo>
                <a:lnTo>
                  <a:pt x="200025" y="167878"/>
                </a:lnTo>
                <a:close/>
                <a:moveTo>
                  <a:pt x="85725" y="167878"/>
                </a:moveTo>
                <a:lnTo>
                  <a:pt x="89297" y="167878"/>
                </a:lnTo>
                <a:lnTo>
                  <a:pt x="89297" y="189309"/>
                </a:lnTo>
                <a:lnTo>
                  <a:pt x="53578" y="189309"/>
                </a:lnTo>
                <a:lnTo>
                  <a:pt x="53578" y="167878"/>
                </a:lnTo>
                <a:lnTo>
                  <a:pt x="85725" y="167878"/>
                </a:lnTo>
                <a:close/>
              </a:path>
            </a:pathLst>
          </a:custGeom>
          <a:solidFill>
            <a:srgbClr val="3C8082"/>
          </a:solidFill>
          <a:ln/>
        </p:spPr>
        <p:txBody>
          <a:bodyPr/>
          <a:lstStyle/>
          <a:p>
            <a:endParaRPr lang="zh-CN" altLang="en-US"/>
          </a:p>
        </p:txBody>
      </p:sp>
      <p:sp>
        <p:nvSpPr>
          <p:cNvPr id="36" name="Text 34"/>
          <p:cNvSpPr/>
          <p:nvPr/>
        </p:nvSpPr>
        <p:spPr>
          <a:xfrm>
            <a:off x="8985250" y="3924300"/>
            <a:ext cx="1308100" cy="355600"/>
          </a:xfrm>
          <a:prstGeom prst="rect">
            <a:avLst/>
          </a:prstGeom>
          <a:noFill/>
          <a:ln/>
        </p:spPr>
        <p:txBody>
          <a:bodyPr wrap="square" lIns="0" tIns="0" rIns="0" bIns="0" rtlCol="0" anchor="ctr"/>
          <a:lstStyle/>
          <a:p>
            <a:pPr>
              <a:lnSpc>
                <a:spcPct val="130000"/>
              </a:lnSpc>
            </a:pPr>
            <a:r>
              <a:rPr lang="en-US" sz="1800" b="1" dirty="0">
                <a:solidFill>
                  <a:srgbClr val="E0E2E4"/>
                </a:solidFill>
                <a:latin typeface="MiSans" pitchFamily="34" charset="0"/>
                <a:ea typeface="MiSans" pitchFamily="34" charset="-122"/>
                <a:cs typeface="MiSans" pitchFamily="34" charset="-120"/>
              </a:rPr>
              <a:t>kube-proxy</a:t>
            </a:r>
            <a:endParaRPr lang="en-US" sz="1600" dirty="0"/>
          </a:p>
        </p:txBody>
      </p:sp>
      <p:sp>
        <p:nvSpPr>
          <p:cNvPr id="37" name="Text 35"/>
          <p:cNvSpPr/>
          <p:nvPr/>
        </p:nvSpPr>
        <p:spPr>
          <a:xfrm>
            <a:off x="8597900" y="4381500"/>
            <a:ext cx="6870700" cy="254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网络代理,维护节点上的网络规则,实现Service的负载均衡和服务发现功能</a:t>
            </a:r>
            <a:endParaRPr lang="en-US" sz="1600" dirty="0"/>
          </a:p>
        </p:txBody>
      </p:sp>
      <p:sp>
        <p:nvSpPr>
          <p:cNvPr id="38" name="Shape 36"/>
          <p:cNvSpPr/>
          <p:nvPr/>
        </p:nvSpPr>
        <p:spPr>
          <a:xfrm>
            <a:off x="8445500" y="4889500"/>
            <a:ext cx="7086600" cy="1016000"/>
          </a:xfrm>
          <a:custGeom>
            <a:avLst/>
            <a:gdLst/>
            <a:ahLst/>
            <a:cxnLst/>
            <a:rect l="l" t="t" r="r" b="b"/>
            <a:pathLst>
              <a:path w="7086600" h="1016000">
                <a:moveTo>
                  <a:pt x="101600" y="0"/>
                </a:moveTo>
                <a:lnTo>
                  <a:pt x="6985000" y="0"/>
                </a:lnTo>
                <a:cubicBezTo>
                  <a:pt x="7041075" y="0"/>
                  <a:pt x="7086600" y="45525"/>
                  <a:pt x="7086600" y="101600"/>
                </a:cubicBezTo>
                <a:lnTo>
                  <a:pt x="7086600" y="914400"/>
                </a:lnTo>
                <a:cubicBezTo>
                  <a:pt x="7086600" y="970475"/>
                  <a:pt x="7041075" y="1016000"/>
                  <a:pt x="69850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1A1D21">
              <a:alpha val="50196"/>
            </a:srgbClr>
          </a:solidFill>
          <a:ln/>
        </p:spPr>
        <p:txBody>
          <a:bodyPr/>
          <a:lstStyle/>
          <a:p>
            <a:endParaRPr lang="zh-CN" altLang="en-US"/>
          </a:p>
        </p:txBody>
      </p:sp>
      <p:sp>
        <p:nvSpPr>
          <p:cNvPr id="39" name="Shape 37"/>
          <p:cNvSpPr/>
          <p:nvPr/>
        </p:nvSpPr>
        <p:spPr>
          <a:xfrm>
            <a:off x="8629650" y="5105400"/>
            <a:ext cx="228600" cy="228600"/>
          </a:xfrm>
          <a:custGeom>
            <a:avLst/>
            <a:gdLst/>
            <a:ahLst/>
            <a:cxnLst/>
            <a:rect l="l" t="t" r="r" b="b"/>
            <a:pathLst>
              <a:path w="228600" h="228600">
                <a:moveTo>
                  <a:pt x="29423" y="102022"/>
                </a:moveTo>
                <a:cubicBezTo>
                  <a:pt x="35362" y="60499"/>
                  <a:pt x="71125" y="28575"/>
                  <a:pt x="114300" y="28575"/>
                </a:cubicBezTo>
                <a:cubicBezTo>
                  <a:pt x="137964" y="28575"/>
                  <a:pt x="159395" y="38174"/>
                  <a:pt x="174933" y="53667"/>
                </a:cubicBezTo>
                <a:cubicBezTo>
                  <a:pt x="175022" y="53757"/>
                  <a:pt x="175111" y="53846"/>
                  <a:pt x="175200" y="53935"/>
                </a:cubicBezTo>
                <a:lnTo>
                  <a:pt x="178594" y="57150"/>
                </a:lnTo>
                <a:lnTo>
                  <a:pt x="157207" y="57150"/>
                </a:lnTo>
                <a:cubicBezTo>
                  <a:pt x="149304" y="57150"/>
                  <a:pt x="142920" y="63535"/>
                  <a:pt x="142920" y="71438"/>
                </a:cubicBezTo>
                <a:cubicBezTo>
                  <a:pt x="142920" y="79340"/>
                  <a:pt x="149304" y="85725"/>
                  <a:pt x="157207" y="85725"/>
                </a:cubicBezTo>
                <a:lnTo>
                  <a:pt x="214357" y="85725"/>
                </a:lnTo>
                <a:cubicBezTo>
                  <a:pt x="222260" y="85725"/>
                  <a:pt x="228645" y="79340"/>
                  <a:pt x="228645" y="71438"/>
                </a:cubicBezTo>
                <a:lnTo>
                  <a:pt x="228645" y="14288"/>
                </a:lnTo>
                <a:cubicBezTo>
                  <a:pt x="228645" y="6385"/>
                  <a:pt x="222260" y="0"/>
                  <a:pt x="214357" y="0"/>
                </a:cubicBezTo>
                <a:cubicBezTo>
                  <a:pt x="206454" y="0"/>
                  <a:pt x="200070" y="6385"/>
                  <a:pt x="200070" y="14288"/>
                </a:cubicBezTo>
                <a:lnTo>
                  <a:pt x="200070" y="38130"/>
                </a:lnTo>
                <a:lnTo>
                  <a:pt x="195024" y="33352"/>
                </a:lnTo>
                <a:cubicBezTo>
                  <a:pt x="174352" y="12769"/>
                  <a:pt x="145777" y="0"/>
                  <a:pt x="114300" y="0"/>
                </a:cubicBezTo>
                <a:cubicBezTo>
                  <a:pt x="56704" y="0"/>
                  <a:pt x="9064" y="42595"/>
                  <a:pt x="1161" y="98003"/>
                </a:cubicBezTo>
                <a:cubicBezTo>
                  <a:pt x="45" y="105817"/>
                  <a:pt x="5447" y="113050"/>
                  <a:pt x="13261" y="114166"/>
                </a:cubicBezTo>
                <a:cubicBezTo>
                  <a:pt x="21074" y="115282"/>
                  <a:pt x="28307" y="109835"/>
                  <a:pt x="29423" y="102066"/>
                </a:cubicBezTo>
                <a:close/>
                <a:moveTo>
                  <a:pt x="227439" y="130597"/>
                </a:moveTo>
                <a:cubicBezTo>
                  <a:pt x="228555" y="122783"/>
                  <a:pt x="223108" y="115550"/>
                  <a:pt x="215339" y="114434"/>
                </a:cubicBezTo>
                <a:cubicBezTo>
                  <a:pt x="207571" y="113318"/>
                  <a:pt x="200293" y="118765"/>
                  <a:pt x="199177" y="126534"/>
                </a:cubicBezTo>
                <a:cubicBezTo>
                  <a:pt x="193238" y="168057"/>
                  <a:pt x="157475" y="199980"/>
                  <a:pt x="114300" y="199980"/>
                </a:cubicBezTo>
                <a:cubicBezTo>
                  <a:pt x="90636" y="199980"/>
                  <a:pt x="69205" y="190381"/>
                  <a:pt x="53667" y="174888"/>
                </a:cubicBezTo>
                <a:cubicBezTo>
                  <a:pt x="53578" y="174799"/>
                  <a:pt x="53489" y="174709"/>
                  <a:pt x="53400" y="174620"/>
                </a:cubicBezTo>
                <a:lnTo>
                  <a:pt x="50006" y="171405"/>
                </a:lnTo>
                <a:lnTo>
                  <a:pt x="71393" y="171405"/>
                </a:lnTo>
                <a:cubicBezTo>
                  <a:pt x="79296" y="171405"/>
                  <a:pt x="85680" y="165021"/>
                  <a:pt x="85680" y="157118"/>
                </a:cubicBezTo>
                <a:cubicBezTo>
                  <a:pt x="85680" y="149215"/>
                  <a:pt x="79296" y="142830"/>
                  <a:pt x="71393" y="142830"/>
                </a:cubicBezTo>
                <a:lnTo>
                  <a:pt x="14288" y="142875"/>
                </a:lnTo>
                <a:cubicBezTo>
                  <a:pt x="10492" y="142875"/>
                  <a:pt x="6831" y="144393"/>
                  <a:pt x="4152" y="147117"/>
                </a:cubicBezTo>
                <a:cubicBezTo>
                  <a:pt x="1473" y="149840"/>
                  <a:pt x="-45" y="153457"/>
                  <a:pt x="0" y="157296"/>
                </a:cubicBezTo>
                <a:lnTo>
                  <a:pt x="446" y="214000"/>
                </a:lnTo>
                <a:cubicBezTo>
                  <a:pt x="491" y="221903"/>
                  <a:pt x="6965" y="228243"/>
                  <a:pt x="14868" y="228154"/>
                </a:cubicBezTo>
                <a:cubicBezTo>
                  <a:pt x="22771" y="228064"/>
                  <a:pt x="29111" y="221635"/>
                  <a:pt x="29021" y="213732"/>
                </a:cubicBezTo>
                <a:lnTo>
                  <a:pt x="28843" y="190738"/>
                </a:lnTo>
                <a:lnTo>
                  <a:pt x="33620" y="195248"/>
                </a:lnTo>
                <a:cubicBezTo>
                  <a:pt x="54293" y="215831"/>
                  <a:pt x="82823" y="228600"/>
                  <a:pt x="114300" y="228600"/>
                </a:cubicBezTo>
                <a:cubicBezTo>
                  <a:pt x="171896" y="228600"/>
                  <a:pt x="219536" y="186005"/>
                  <a:pt x="227439" y="130597"/>
                </a:cubicBezTo>
                <a:close/>
              </a:path>
            </a:pathLst>
          </a:custGeom>
          <a:solidFill>
            <a:srgbClr val="3C8082"/>
          </a:solidFill>
          <a:ln/>
        </p:spPr>
        <p:txBody>
          <a:bodyPr/>
          <a:lstStyle/>
          <a:p>
            <a:endParaRPr lang="zh-CN" altLang="en-US"/>
          </a:p>
        </p:txBody>
      </p:sp>
      <p:sp>
        <p:nvSpPr>
          <p:cNvPr id="40" name="Text 38"/>
          <p:cNvSpPr/>
          <p:nvPr/>
        </p:nvSpPr>
        <p:spPr>
          <a:xfrm>
            <a:off x="8985250" y="5041900"/>
            <a:ext cx="1257300" cy="355600"/>
          </a:xfrm>
          <a:prstGeom prst="rect">
            <a:avLst/>
          </a:prstGeom>
          <a:noFill/>
          <a:ln/>
        </p:spPr>
        <p:txBody>
          <a:bodyPr wrap="square" lIns="0" tIns="0" rIns="0" bIns="0" rtlCol="0" anchor="ctr"/>
          <a:lstStyle/>
          <a:p>
            <a:pPr>
              <a:lnSpc>
                <a:spcPct val="130000"/>
              </a:lnSpc>
            </a:pPr>
            <a:r>
              <a:rPr lang="en-US" sz="1800" b="1" dirty="0">
                <a:solidFill>
                  <a:srgbClr val="E0E2E4"/>
                </a:solidFill>
                <a:latin typeface="MiSans" pitchFamily="34" charset="0"/>
                <a:ea typeface="MiSans" pitchFamily="34" charset="-122"/>
                <a:cs typeface="MiSans" pitchFamily="34" charset="-120"/>
              </a:rPr>
              <a:t>容器运行时</a:t>
            </a:r>
            <a:endParaRPr lang="en-US" sz="1600" dirty="0"/>
          </a:p>
        </p:txBody>
      </p:sp>
      <p:sp>
        <p:nvSpPr>
          <p:cNvPr id="41" name="Text 39"/>
          <p:cNvSpPr/>
          <p:nvPr/>
        </p:nvSpPr>
        <p:spPr>
          <a:xfrm>
            <a:off x="8597900" y="5499100"/>
            <a:ext cx="6870700" cy="254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容器引擎(Docker/containerd/CRI-O),负责拉取镜像、创建和运行容器</a:t>
            </a:r>
            <a:endParaRPr lang="en-US" sz="1600" dirty="0"/>
          </a:p>
        </p:txBody>
      </p:sp>
      <p:sp>
        <p:nvSpPr>
          <p:cNvPr id="42" name="Shape 40"/>
          <p:cNvSpPr/>
          <p:nvPr/>
        </p:nvSpPr>
        <p:spPr>
          <a:xfrm>
            <a:off x="514350" y="7448550"/>
            <a:ext cx="15227300" cy="1333500"/>
          </a:xfrm>
          <a:custGeom>
            <a:avLst/>
            <a:gdLst/>
            <a:ahLst/>
            <a:cxnLst/>
            <a:rect l="l" t="t" r="r" b="b"/>
            <a:pathLst>
              <a:path w="15227300" h="1333500">
                <a:moveTo>
                  <a:pt x="101599" y="0"/>
                </a:moveTo>
                <a:lnTo>
                  <a:pt x="15125701" y="0"/>
                </a:lnTo>
                <a:cubicBezTo>
                  <a:pt x="15181812" y="0"/>
                  <a:pt x="15227300" y="45488"/>
                  <a:pt x="15227300" y="101599"/>
                </a:cubicBezTo>
                <a:lnTo>
                  <a:pt x="15227300" y="1231901"/>
                </a:lnTo>
                <a:cubicBezTo>
                  <a:pt x="15227300" y="1288012"/>
                  <a:pt x="15181812" y="1333500"/>
                  <a:pt x="15125701" y="1333500"/>
                </a:cubicBezTo>
                <a:lnTo>
                  <a:pt x="101599" y="1333500"/>
                </a:lnTo>
                <a:cubicBezTo>
                  <a:pt x="45488" y="1333500"/>
                  <a:pt x="0" y="1288012"/>
                  <a:pt x="0" y="1231901"/>
                </a:cubicBezTo>
                <a:lnTo>
                  <a:pt x="0" y="101599"/>
                </a:lnTo>
                <a:cubicBezTo>
                  <a:pt x="0" y="45488"/>
                  <a:pt x="45488" y="0"/>
                  <a:pt x="10159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43" name="Shape 41"/>
          <p:cNvSpPr/>
          <p:nvPr/>
        </p:nvSpPr>
        <p:spPr>
          <a:xfrm>
            <a:off x="730250" y="7607300"/>
            <a:ext cx="266700" cy="304800"/>
          </a:xfrm>
          <a:custGeom>
            <a:avLst/>
            <a:gdLst/>
            <a:ahLst/>
            <a:cxnLst/>
            <a:rect l="l" t="t" r="r" b="b"/>
            <a:pathLst>
              <a:path w="266700" h="304800">
                <a:moveTo>
                  <a:pt x="0" y="128588"/>
                </a:moveTo>
                <a:cubicBezTo>
                  <a:pt x="0" y="89118"/>
                  <a:pt x="31968" y="57150"/>
                  <a:pt x="71438" y="57150"/>
                </a:cubicBezTo>
                <a:lnTo>
                  <a:pt x="76200" y="57150"/>
                </a:lnTo>
                <a:cubicBezTo>
                  <a:pt x="86737" y="57150"/>
                  <a:pt x="95250" y="65663"/>
                  <a:pt x="95250" y="76200"/>
                </a:cubicBezTo>
                <a:cubicBezTo>
                  <a:pt x="95250" y="86737"/>
                  <a:pt x="86737" y="95250"/>
                  <a:pt x="76200" y="95250"/>
                </a:cubicBezTo>
                <a:lnTo>
                  <a:pt x="71438" y="95250"/>
                </a:lnTo>
                <a:cubicBezTo>
                  <a:pt x="53042" y="95250"/>
                  <a:pt x="38100" y="110192"/>
                  <a:pt x="38100" y="128588"/>
                </a:cubicBezTo>
                <a:lnTo>
                  <a:pt x="38100" y="133350"/>
                </a:lnTo>
                <a:lnTo>
                  <a:pt x="76200" y="133350"/>
                </a:lnTo>
                <a:cubicBezTo>
                  <a:pt x="97215" y="133350"/>
                  <a:pt x="114300" y="150435"/>
                  <a:pt x="114300" y="171450"/>
                </a:cubicBezTo>
                <a:lnTo>
                  <a:pt x="114300" y="209550"/>
                </a:lnTo>
                <a:cubicBezTo>
                  <a:pt x="114300" y="230565"/>
                  <a:pt x="97215" y="247650"/>
                  <a:pt x="76200" y="247650"/>
                </a:cubicBezTo>
                <a:lnTo>
                  <a:pt x="38100" y="247650"/>
                </a:lnTo>
                <a:cubicBezTo>
                  <a:pt x="17085" y="247650"/>
                  <a:pt x="0" y="230565"/>
                  <a:pt x="0" y="209550"/>
                </a:cubicBezTo>
                <a:lnTo>
                  <a:pt x="0" y="128588"/>
                </a:lnTo>
                <a:close/>
                <a:moveTo>
                  <a:pt x="152400" y="128588"/>
                </a:moveTo>
                <a:cubicBezTo>
                  <a:pt x="152400" y="89118"/>
                  <a:pt x="184368" y="57150"/>
                  <a:pt x="223838" y="57150"/>
                </a:cubicBezTo>
                <a:lnTo>
                  <a:pt x="228600" y="57150"/>
                </a:lnTo>
                <a:cubicBezTo>
                  <a:pt x="239137" y="57150"/>
                  <a:pt x="247650" y="65663"/>
                  <a:pt x="247650" y="76200"/>
                </a:cubicBezTo>
                <a:cubicBezTo>
                  <a:pt x="247650" y="86737"/>
                  <a:pt x="239137" y="95250"/>
                  <a:pt x="228600" y="95250"/>
                </a:cubicBezTo>
                <a:lnTo>
                  <a:pt x="223838" y="95250"/>
                </a:lnTo>
                <a:cubicBezTo>
                  <a:pt x="205442" y="95250"/>
                  <a:pt x="190500" y="110192"/>
                  <a:pt x="190500" y="128588"/>
                </a:cubicBezTo>
                <a:lnTo>
                  <a:pt x="190500" y="133350"/>
                </a:lnTo>
                <a:lnTo>
                  <a:pt x="228600" y="133350"/>
                </a:lnTo>
                <a:cubicBezTo>
                  <a:pt x="249615" y="133350"/>
                  <a:pt x="266700" y="150435"/>
                  <a:pt x="266700" y="171450"/>
                </a:cubicBezTo>
                <a:lnTo>
                  <a:pt x="266700" y="209550"/>
                </a:lnTo>
                <a:cubicBezTo>
                  <a:pt x="266700" y="230565"/>
                  <a:pt x="249615" y="247650"/>
                  <a:pt x="228600" y="247650"/>
                </a:cubicBezTo>
                <a:lnTo>
                  <a:pt x="190500" y="247650"/>
                </a:lnTo>
                <a:cubicBezTo>
                  <a:pt x="169485" y="247650"/>
                  <a:pt x="152400" y="230565"/>
                  <a:pt x="152400" y="209550"/>
                </a:cubicBezTo>
                <a:lnTo>
                  <a:pt x="152400" y="128588"/>
                </a:lnTo>
                <a:close/>
              </a:path>
            </a:pathLst>
          </a:custGeom>
          <a:solidFill>
            <a:srgbClr val="B38B59"/>
          </a:solidFill>
          <a:ln/>
        </p:spPr>
        <p:txBody>
          <a:bodyPr/>
          <a:lstStyle/>
          <a:p>
            <a:endParaRPr lang="zh-CN" altLang="en-US"/>
          </a:p>
        </p:txBody>
      </p:sp>
      <p:sp>
        <p:nvSpPr>
          <p:cNvPr id="44" name="Text 42"/>
          <p:cNvSpPr/>
          <p:nvPr/>
        </p:nvSpPr>
        <p:spPr>
          <a:xfrm>
            <a:off x="1206500" y="7607300"/>
            <a:ext cx="14503400" cy="355600"/>
          </a:xfrm>
          <a:prstGeom prst="rect">
            <a:avLst/>
          </a:prstGeom>
          <a:noFill/>
          <a:ln/>
        </p:spPr>
        <p:txBody>
          <a:bodyPr wrap="square" lIns="0" tIns="0" rIns="0" bIns="0" rtlCol="0" anchor="ctr"/>
          <a:lstStyle/>
          <a:p>
            <a:pPr>
              <a:lnSpc>
                <a:spcPct val="120000"/>
              </a:lnSpc>
            </a:pPr>
            <a:r>
              <a:rPr lang="en-US" sz="2000" b="1" dirty="0">
                <a:solidFill>
                  <a:srgbClr val="E0E2E4"/>
                </a:solidFill>
                <a:latin typeface="MiSans" pitchFamily="34" charset="0"/>
                <a:ea typeface="MiSans" pitchFamily="34" charset="-122"/>
                <a:cs typeface="MiSans" pitchFamily="34" charset="-120"/>
              </a:rPr>
              <a:t>Kubernetes架构哲学</a:t>
            </a:r>
            <a:endParaRPr lang="en-US" sz="1600" dirty="0"/>
          </a:p>
        </p:txBody>
      </p:sp>
      <p:sp>
        <p:nvSpPr>
          <p:cNvPr id="45" name="Text 43"/>
          <p:cNvSpPr/>
          <p:nvPr/>
        </p:nvSpPr>
        <p:spPr>
          <a:xfrm>
            <a:off x="1206500" y="8064500"/>
            <a:ext cx="4775200" cy="254000"/>
          </a:xfrm>
          <a:prstGeom prst="rect">
            <a:avLst/>
          </a:prstGeom>
          <a:noFill/>
          <a:ln/>
        </p:spPr>
        <p:txBody>
          <a:bodyPr wrap="square" lIns="0" tIns="0" rIns="0" bIns="0" rtlCol="0" anchor="ctr"/>
          <a:lstStyle/>
          <a:p>
            <a:pPr>
              <a:lnSpc>
                <a:spcPct val="120000"/>
              </a:lnSpc>
            </a:pPr>
            <a:r>
              <a:rPr lang="en-US" sz="1400" b="1" dirty="0">
                <a:solidFill>
                  <a:srgbClr val="B38B59"/>
                </a:solidFill>
                <a:latin typeface="MiSans" pitchFamily="34" charset="0"/>
                <a:ea typeface="MiSans" pitchFamily="34" charset="-122"/>
                <a:cs typeface="MiSans" pitchFamily="34" charset="-120"/>
              </a:rPr>
              <a:t>声明式管理</a:t>
            </a:r>
            <a:endParaRPr lang="en-US" sz="1600" dirty="0"/>
          </a:p>
        </p:txBody>
      </p:sp>
      <p:sp>
        <p:nvSpPr>
          <p:cNvPr id="46" name="Text 44"/>
          <p:cNvSpPr/>
          <p:nvPr/>
        </p:nvSpPr>
        <p:spPr>
          <a:xfrm>
            <a:off x="1206500" y="8369300"/>
            <a:ext cx="4775200" cy="254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用户描述期望状态,系统自动维护实际状态与期望一致</a:t>
            </a:r>
            <a:endParaRPr lang="en-US" sz="1600" dirty="0"/>
          </a:p>
        </p:txBody>
      </p:sp>
      <p:sp>
        <p:nvSpPr>
          <p:cNvPr id="47" name="Text 45"/>
          <p:cNvSpPr/>
          <p:nvPr/>
        </p:nvSpPr>
        <p:spPr>
          <a:xfrm>
            <a:off x="6049367" y="8064500"/>
            <a:ext cx="4775200" cy="254000"/>
          </a:xfrm>
          <a:prstGeom prst="rect">
            <a:avLst/>
          </a:prstGeom>
          <a:noFill/>
          <a:ln/>
        </p:spPr>
        <p:txBody>
          <a:bodyPr wrap="square" lIns="0" tIns="0" rIns="0" bIns="0" rtlCol="0" anchor="ctr"/>
          <a:lstStyle/>
          <a:p>
            <a:pPr>
              <a:lnSpc>
                <a:spcPct val="120000"/>
              </a:lnSpc>
            </a:pPr>
            <a:r>
              <a:rPr lang="en-US" sz="1400" b="1" dirty="0">
                <a:solidFill>
                  <a:srgbClr val="B38B59"/>
                </a:solidFill>
                <a:latin typeface="MiSans" pitchFamily="34" charset="0"/>
                <a:ea typeface="MiSans" pitchFamily="34" charset="-122"/>
                <a:cs typeface="MiSans" pitchFamily="34" charset="-120"/>
              </a:rPr>
              <a:t>分布式控制</a:t>
            </a:r>
            <a:endParaRPr lang="en-US" sz="1600" dirty="0"/>
          </a:p>
        </p:txBody>
      </p:sp>
      <p:sp>
        <p:nvSpPr>
          <p:cNvPr id="48" name="Text 46"/>
          <p:cNvSpPr/>
          <p:nvPr/>
        </p:nvSpPr>
        <p:spPr>
          <a:xfrm>
            <a:off x="6049367" y="8369300"/>
            <a:ext cx="4775200" cy="254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控制平面组件分布式部署,实现高可用和弹性扩展</a:t>
            </a:r>
            <a:endParaRPr lang="en-US" sz="1600" dirty="0"/>
          </a:p>
        </p:txBody>
      </p:sp>
      <p:sp>
        <p:nvSpPr>
          <p:cNvPr id="49" name="Text 47"/>
          <p:cNvSpPr/>
          <p:nvPr/>
        </p:nvSpPr>
        <p:spPr>
          <a:xfrm>
            <a:off x="10892334" y="8064500"/>
            <a:ext cx="4775200" cy="254000"/>
          </a:xfrm>
          <a:prstGeom prst="rect">
            <a:avLst/>
          </a:prstGeom>
          <a:noFill/>
          <a:ln/>
        </p:spPr>
        <p:txBody>
          <a:bodyPr wrap="square" lIns="0" tIns="0" rIns="0" bIns="0" rtlCol="0" anchor="ctr"/>
          <a:lstStyle/>
          <a:p>
            <a:pPr>
              <a:lnSpc>
                <a:spcPct val="120000"/>
              </a:lnSpc>
            </a:pPr>
            <a:r>
              <a:rPr lang="en-US" sz="1400" b="1" dirty="0">
                <a:solidFill>
                  <a:srgbClr val="B38B59"/>
                </a:solidFill>
                <a:latin typeface="MiSans" pitchFamily="34" charset="0"/>
                <a:ea typeface="MiSans" pitchFamily="34" charset="-122"/>
                <a:cs typeface="MiSans" pitchFamily="34" charset="-120"/>
              </a:rPr>
              <a:t>通用化平台</a:t>
            </a:r>
            <a:endParaRPr lang="en-US" sz="1600" dirty="0"/>
          </a:p>
        </p:txBody>
      </p:sp>
      <p:sp>
        <p:nvSpPr>
          <p:cNvPr id="50" name="Text 48"/>
          <p:cNvSpPr/>
          <p:nvPr/>
        </p:nvSpPr>
        <p:spPr>
          <a:xfrm>
            <a:off x="10892334" y="8369300"/>
            <a:ext cx="4775200" cy="254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适应各种工作负载,从微服务到大数据、AI等多种应用场景</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465667"/>
            <a:ext cx="338667" cy="338667"/>
          </a:xfrm>
          <a:custGeom>
            <a:avLst/>
            <a:gdLst/>
            <a:ahLst/>
            <a:cxnLst/>
            <a:rect l="l" t="t" r="r" b="b"/>
            <a:pathLst>
              <a:path w="338667" h="338667">
                <a:moveTo>
                  <a:pt x="63500" y="0"/>
                </a:moveTo>
                <a:lnTo>
                  <a:pt x="275167" y="0"/>
                </a:lnTo>
                <a:cubicBezTo>
                  <a:pt x="310213" y="0"/>
                  <a:pt x="338667" y="28453"/>
                  <a:pt x="338667" y="63500"/>
                </a:cubicBezTo>
                <a:lnTo>
                  <a:pt x="338667" y="275167"/>
                </a:lnTo>
                <a:cubicBezTo>
                  <a:pt x="338667" y="310213"/>
                  <a:pt x="310213" y="338667"/>
                  <a:pt x="275167" y="338667"/>
                </a:cubicBezTo>
                <a:lnTo>
                  <a:pt x="63500" y="338667"/>
                </a:lnTo>
                <a:cubicBezTo>
                  <a:pt x="28453" y="338667"/>
                  <a:pt x="0" y="310213"/>
                  <a:pt x="0" y="275167"/>
                </a:cubicBezTo>
                <a:lnTo>
                  <a:pt x="0" y="63500"/>
                </a:lnTo>
                <a:cubicBezTo>
                  <a:pt x="0" y="28453"/>
                  <a:pt x="28453" y="0"/>
                  <a:pt x="63500" y="0"/>
                </a:cubicBezTo>
                <a:close/>
              </a:path>
            </a:pathLst>
          </a:custGeom>
          <a:solidFill>
            <a:srgbClr val="3C8082"/>
          </a:solidFill>
          <a:ln/>
        </p:spPr>
        <p:txBody>
          <a:bodyPr/>
          <a:lstStyle/>
          <a:p>
            <a:endParaRPr lang="zh-CN" altLang="en-US"/>
          </a:p>
        </p:txBody>
      </p:sp>
      <p:sp>
        <p:nvSpPr>
          <p:cNvPr id="3" name="Text 1"/>
          <p:cNvSpPr/>
          <p:nvPr/>
        </p:nvSpPr>
        <p:spPr>
          <a:xfrm>
            <a:off x="381000" y="465667"/>
            <a:ext cx="423333" cy="338667"/>
          </a:xfrm>
          <a:prstGeom prst="rect">
            <a:avLst/>
          </a:prstGeom>
          <a:noFill/>
          <a:ln/>
        </p:spPr>
        <p:txBody>
          <a:bodyPr wrap="square" lIns="0" tIns="0" rIns="0" bIns="0" rtlCol="0" anchor="ctr"/>
          <a:lstStyle/>
          <a:p>
            <a:pPr algn="ctr">
              <a:lnSpc>
                <a:spcPct val="130000"/>
              </a:lnSpc>
            </a:pPr>
            <a:r>
              <a:rPr lang="en-US" sz="1333" b="1" dirty="0">
                <a:solidFill>
                  <a:srgbClr val="FFFFFF"/>
                </a:solidFill>
                <a:latin typeface="Liter" pitchFamily="34" charset="0"/>
                <a:ea typeface="Liter" pitchFamily="34" charset="-122"/>
                <a:cs typeface="Liter" pitchFamily="34" charset="-120"/>
              </a:rPr>
              <a:t>15</a:t>
            </a:r>
            <a:endParaRPr lang="en-US" sz="1600" dirty="0"/>
          </a:p>
        </p:txBody>
      </p:sp>
      <p:sp>
        <p:nvSpPr>
          <p:cNvPr id="4" name="Text 2"/>
          <p:cNvSpPr/>
          <p:nvPr/>
        </p:nvSpPr>
        <p:spPr>
          <a:xfrm>
            <a:off x="889000" y="423333"/>
            <a:ext cx="4296833" cy="423333"/>
          </a:xfrm>
          <a:prstGeom prst="rect">
            <a:avLst/>
          </a:prstGeom>
          <a:noFill/>
          <a:ln/>
        </p:spPr>
        <p:txBody>
          <a:bodyPr wrap="square" lIns="0" tIns="0" rIns="0" bIns="0" rtlCol="0" anchor="ctr"/>
          <a:lstStyle/>
          <a:p>
            <a:pPr>
              <a:lnSpc>
                <a:spcPct val="90000"/>
              </a:lnSpc>
            </a:pPr>
            <a:r>
              <a:rPr lang="en-US" sz="3000" b="1" dirty="0">
                <a:solidFill>
                  <a:srgbClr val="E0E2E4"/>
                </a:solidFill>
                <a:latin typeface="MiSans" pitchFamily="34" charset="0"/>
                <a:ea typeface="MiSans" pitchFamily="34" charset="-122"/>
                <a:cs typeface="MiSans" pitchFamily="34" charset="-120"/>
              </a:rPr>
              <a:t>Pod资源模型与隔离体系</a:t>
            </a:r>
            <a:endParaRPr lang="en-US" sz="1600" dirty="0"/>
          </a:p>
        </p:txBody>
      </p:sp>
      <p:sp>
        <p:nvSpPr>
          <p:cNvPr id="5" name="Text 3"/>
          <p:cNvSpPr/>
          <p:nvPr/>
        </p:nvSpPr>
        <p:spPr>
          <a:xfrm>
            <a:off x="423333" y="931333"/>
            <a:ext cx="15504583" cy="296333"/>
          </a:xfrm>
          <a:prstGeom prst="rect">
            <a:avLst/>
          </a:prstGeom>
          <a:noFill/>
          <a:ln/>
        </p:spPr>
        <p:txBody>
          <a:bodyPr wrap="square" lIns="0" tIns="0" rIns="0" bIns="0" rtlCol="0" anchor="ctr"/>
          <a:lstStyle/>
          <a:p>
            <a:pPr>
              <a:lnSpc>
                <a:spcPct val="130000"/>
              </a:lnSpc>
            </a:pPr>
            <a:r>
              <a:rPr lang="en-US" sz="1500" b="1" dirty="0">
                <a:solidFill>
                  <a:srgbClr val="B38B59"/>
                </a:solidFill>
                <a:latin typeface="MiSans" pitchFamily="34" charset="0"/>
                <a:ea typeface="MiSans" pitchFamily="34" charset="-122"/>
                <a:cs typeface="MiSans" pitchFamily="34" charset="-120"/>
              </a:rPr>
              <a:t>最小调度单位的设计理念与多层次资源隔离实现</a:t>
            </a:r>
            <a:endParaRPr lang="en-US" sz="1600" dirty="0"/>
          </a:p>
        </p:txBody>
      </p:sp>
      <p:sp>
        <p:nvSpPr>
          <p:cNvPr id="6" name="Shape 4"/>
          <p:cNvSpPr/>
          <p:nvPr/>
        </p:nvSpPr>
        <p:spPr>
          <a:xfrm>
            <a:off x="428625" y="1402292"/>
            <a:ext cx="7609417" cy="6212416"/>
          </a:xfrm>
          <a:custGeom>
            <a:avLst/>
            <a:gdLst/>
            <a:ahLst/>
            <a:cxnLst/>
            <a:rect l="l" t="t" r="r" b="b"/>
            <a:pathLst>
              <a:path w="7609417" h="7620000">
                <a:moveTo>
                  <a:pt x="84693" y="0"/>
                </a:moveTo>
                <a:lnTo>
                  <a:pt x="7524724" y="0"/>
                </a:lnTo>
                <a:cubicBezTo>
                  <a:pt x="7571498" y="0"/>
                  <a:pt x="7609417" y="37918"/>
                  <a:pt x="7609417" y="84693"/>
                </a:cubicBezTo>
                <a:lnTo>
                  <a:pt x="7609417" y="7535307"/>
                </a:lnTo>
                <a:cubicBezTo>
                  <a:pt x="7609417" y="7582082"/>
                  <a:pt x="7571498" y="7620000"/>
                  <a:pt x="7524724" y="7620000"/>
                </a:cubicBezTo>
                <a:lnTo>
                  <a:pt x="84693" y="7620000"/>
                </a:lnTo>
                <a:cubicBezTo>
                  <a:pt x="37918" y="7620000"/>
                  <a:pt x="0" y="7582082"/>
                  <a:pt x="0" y="7535307"/>
                </a:cubicBezTo>
                <a:lnTo>
                  <a:pt x="0" y="84693"/>
                </a:lnTo>
                <a:cubicBezTo>
                  <a:pt x="0" y="37918"/>
                  <a:pt x="37918" y="0"/>
                  <a:pt x="84693"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35000" y="1619250"/>
            <a:ext cx="254000" cy="254000"/>
          </a:xfrm>
          <a:custGeom>
            <a:avLst/>
            <a:gdLst/>
            <a:ahLst/>
            <a:cxnLst/>
            <a:rect l="l" t="t" r="r" b="b"/>
            <a:pathLst>
              <a:path w="254000" h="254000">
                <a:moveTo>
                  <a:pt x="140891" y="-645"/>
                </a:moveTo>
                <a:cubicBezTo>
                  <a:pt x="132308" y="-5606"/>
                  <a:pt x="121692" y="-5606"/>
                  <a:pt x="113109" y="-645"/>
                </a:cubicBezTo>
                <a:lnTo>
                  <a:pt x="71338" y="23465"/>
                </a:lnTo>
                <a:cubicBezTo>
                  <a:pt x="62756" y="28426"/>
                  <a:pt x="57448" y="37604"/>
                  <a:pt x="57448" y="47526"/>
                </a:cubicBezTo>
                <a:lnTo>
                  <a:pt x="57448" y="98078"/>
                </a:lnTo>
                <a:lnTo>
                  <a:pt x="13643" y="123379"/>
                </a:lnTo>
                <a:cubicBezTo>
                  <a:pt x="5060" y="128339"/>
                  <a:pt x="-248" y="137517"/>
                  <a:pt x="-248" y="147439"/>
                </a:cubicBezTo>
                <a:lnTo>
                  <a:pt x="-248" y="195709"/>
                </a:lnTo>
                <a:cubicBezTo>
                  <a:pt x="-248" y="205631"/>
                  <a:pt x="5060" y="214809"/>
                  <a:pt x="13643" y="219770"/>
                </a:cubicBezTo>
                <a:lnTo>
                  <a:pt x="55463" y="243880"/>
                </a:lnTo>
                <a:cubicBezTo>
                  <a:pt x="64046" y="248841"/>
                  <a:pt x="74662" y="248841"/>
                  <a:pt x="83245" y="243880"/>
                </a:cubicBezTo>
                <a:lnTo>
                  <a:pt x="127050" y="218579"/>
                </a:lnTo>
                <a:lnTo>
                  <a:pt x="170855" y="243880"/>
                </a:lnTo>
                <a:cubicBezTo>
                  <a:pt x="179437" y="248841"/>
                  <a:pt x="190054" y="248841"/>
                  <a:pt x="198636" y="243880"/>
                </a:cubicBezTo>
                <a:lnTo>
                  <a:pt x="240357" y="219770"/>
                </a:lnTo>
                <a:cubicBezTo>
                  <a:pt x="248940" y="214809"/>
                  <a:pt x="254248" y="205631"/>
                  <a:pt x="254248" y="195709"/>
                </a:cubicBezTo>
                <a:lnTo>
                  <a:pt x="254248" y="147439"/>
                </a:lnTo>
                <a:cubicBezTo>
                  <a:pt x="254248" y="137517"/>
                  <a:pt x="248940" y="128339"/>
                  <a:pt x="240357" y="123379"/>
                </a:cubicBezTo>
                <a:lnTo>
                  <a:pt x="196552" y="98078"/>
                </a:lnTo>
                <a:lnTo>
                  <a:pt x="196552" y="47526"/>
                </a:lnTo>
                <a:cubicBezTo>
                  <a:pt x="196552" y="37604"/>
                  <a:pt x="191244" y="28426"/>
                  <a:pt x="182662" y="23465"/>
                </a:cubicBezTo>
                <a:lnTo>
                  <a:pt x="140891" y="-645"/>
                </a:lnTo>
                <a:close/>
                <a:moveTo>
                  <a:pt x="115094" y="145157"/>
                </a:moveTo>
                <a:lnTo>
                  <a:pt x="115094" y="197991"/>
                </a:lnTo>
                <a:lnTo>
                  <a:pt x="71289" y="223292"/>
                </a:lnTo>
                <a:cubicBezTo>
                  <a:pt x="70693" y="223639"/>
                  <a:pt x="69999" y="223838"/>
                  <a:pt x="69304" y="223838"/>
                </a:cubicBezTo>
                <a:lnTo>
                  <a:pt x="69304" y="171599"/>
                </a:lnTo>
                <a:lnTo>
                  <a:pt x="115094" y="145157"/>
                </a:lnTo>
                <a:close/>
                <a:moveTo>
                  <a:pt x="229890" y="145455"/>
                </a:moveTo>
                <a:cubicBezTo>
                  <a:pt x="230237" y="146050"/>
                  <a:pt x="230436" y="146745"/>
                  <a:pt x="230436" y="147439"/>
                </a:cubicBezTo>
                <a:lnTo>
                  <a:pt x="230436" y="195709"/>
                </a:lnTo>
                <a:cubicBezTo>
                  <a:pt x="230436" y="197148"/>
                  <a:pt x="229691" y="198438"/>
                  <a:pt x="228451" y="199132"/>
                </a:cubicBezTo>
                <a:lnTo>
                  <a:pt x="186630" y="223242"/>
                </a:lnTo>
                <a:cubicBezTo>
                  <a:pt x="186035" y="223589"/>
                  <a:pt x="185341" y="223788"/>
                  <a:pt x="184646" y="223788"/>
                </a:cubicBezTo>
                <a:lnTo>
                  <a:pt x="184646" y="171549"/>
                </a:lnTo>
                <a:lnTo>
                  <a:pt x="229890" y="145455"/>
                </a:lnTo>
                <a:close/>
                <a:moveTo>
                  <a:pt x="172789" y="47526"/>
                </a:moveTo>
                <a:lnTo>
                  <a:pt x="172789" y="98078"/>
                </a:lnTo>
                <a:lnTo>
                  <a:pt x="127000" y="124520"/>
                </a:lnTo>
                <a:lnTo>
                  <a:pt x="127000" y="71686"/>
                </a:lnTo>
                <a:lnTo>
                  <a:pt x="172244" y="45591"/>
                </a:lnTo>
                <a:cubicBezTo>
                  <a:pt x="172591" y="46186"/>
                  <a:pt x="172789" y="46881"/>
                  <a:pt x="172789" y="47575"/>
                </a:cubicBezTo>
                <a:close/>
              </a:path>
            </a:pathLst>
          </a:custGeom>
          <a:solidFill>
            <a:srgbClr val="B38B59"/>
          </a:solidFill>
          <a:ln/>
        </p:spPr>
        <p:txBody>
          <a:bodyPr/>
          <a:lstStyle/>
          <a:p>
            <a:endParaRPr lang="zh-CN" altLang="en-US"/>
          </a:p>
        </p:txBody>
      </p:sp>
      <p:sp>
        <p:nvSpPr>
          <p:cNvPr id="8" name="Text 6"/>
          <p:cNvSpPr/>
          <p:nvPr/>
        </p:nvSpPr>
        <p:spPr>
          <a:xfrm>
            <a:off x="920750" y="1576917"/>
            <a:ext cx="7069667" cy="338667"/>
          </a:xfrm>
          <a:prstGeom prst="rect">
            <a:avLst/>
          </a:prstGeom>
          <a:noFill/>
          <a:ln/>
        </p:spPr>
        <p:txBody>
          <a:bodyPr wrap="square" lIns="0" tIns="0" rIns="0" bIns="0" rtlCol="0" anchor="ctr"/>
          <a:lstStyle/>
          <a:p>
            <a:pPr>
              <a:lnSpc>
                <a:spcPct val="110000"/>
              </a:lnSpc>
            </a:pPr>
            <a:r>
              <a:rPr lang="en-US" sz="2000" b="1" dirty="0">
                <a:solidFill>
                  <a:srgbClr val="E0E2E4"/>
                </a:solidFill>
                <a:latin typeface="MiSans" pitchFamily="34" charset="0"/>
                <a:ea typeface="MiSans" pitchFamily="34" charset="-122"/>
                <a:cs typeface="MiSans" pitchFamily="34" charset="-120"/>
              </a:rPr>
              <a:t>Pod设计理念</a:t>
            </a:r>
            <a:endParaRPr lang="en-US" sz="1600" dirty="0"/>
          </a:p>
        </p:txBody>
      </p:sp>
      <p:sp>
        <p:nvSpPr>
          <p:cNvPr id="9" name="Shape 7"/>
          <p:cNvSpPr/>
          <p:nvPr/>
        </p:nvSpPr>
        <p:spPr>
          <a:xfrm>
            <a:off x="603250" y="2042583"/>
            <a:ext cx="7260167" cy="804333"/>
          </a:xfrm>
          <a:custGeom>
            <a:avLst/>
            <a:gdLst/>
            <a:ahLst/>
            <a:cxnLst/>
            <a:rect l="l" t="t" r="r" b="b"/>
            <a:pathLst>
              <a:path w="7260167" h="804333">
                <a:moveTo>
                  <a:pt x="84664" y="0"/>
                </a:moveTo>
                <a:lnTo>
                  <a:pt x="7175503" y="0"/>
                </a:lnTo>
                <a:cubicBezTo>
                  <a:pt x="7222261" y="0"/>
                  <a:pt x="7260167" y="37905"/>
                  <a:pt x="7260167" y="84664"/>
                </a:cubicBezTo>
                <a:lnTo>
                  <a:pt x="7260167" y="719669"/>
                </a:lnTo>
                <a:cubicBezTo>
                  <a:pt x="7260167" y="766428"/>
                  <a:pt x="7222261" y="804333"/>
                  <a:pt x="7175503" y="804333"/>
                </a:cubicBezTo>
                <a:lnTo>
                  <a:pt x="84664" y="804333"/>
                </a:lnTo>
                <a:cubicBezTo>
                  <a:pt x="37905" y="804333"/>
                  <a:pt x="0" y="766428"/>
                  <a:pt x="0" y="719669"/>
                </a:cubicBezTo>
                <a:lnTo>
                  <a:pt x="0" y="84664"/>
                </a:lnTo>
                <a:cubicBezTo>
                  <a:pt x="0" y="37937"/>
                  <a:pt x="37937" y="0"/>
                  <a:pt x="84664" y="0"/>
                </a:cubicBezTo>
                <a:close/>
              </a:path>
            </a:pathLst>
          </a:custGeom>
          <a:solidFill>
            <a:srgbClr val="1A1D21">
              <a:alpha val="50196"/>
            </a:srgbClr>
          </a:solidFill>
          <a:ln/>
        </p:spPr>
        <p:txBody>
          <a:bodyPr/>
          <a:lstStyle/>
          <a:p>
            <a:endParaRPr lang="zh-CN" altLang="en-US"/>
          </a:p>
        </p:txBody>
      </p:sp>
      <p:sp>
        <p:nvSpPr>
          <p:cNvPr id="10" name="Text 8"/>
          <p:cNvSpPr/>
          <p:nvPr/>
        </p:nvSpPr>
        <p:spPr>
          <a:xfrm>
            <a:off x="730250" y="2169583"/>
            <a:ext cx="7090833" cy="550333"/>
          </a:xfrm>
          <a:prstGeom prst="rect">
            <a:avLst/>
          </a:prstGeom>
          <a:noFill/>
          <a:ln/>
        </p:spPr>
        <p:txBody>
          <a:bodyPr wrap="square" lIns="0" tIns="0" rIns="0" bIns="0" rtlCol="0" anchor="ctr"/>
          <a:lstStyle/>
          <a:p>
            <a:pPr>
              <a:lnSpc>
                <a:spcPct val="140000"/>
              </a:lnSpc>
            </a:pPr>
            <a:r>
              <a:rPr lang="en-US" sz="1333" dirty="0">
                <a:solidFill>
                  <a:srgbClr val="E0E2E4">
                    <a:alpha val="80000"/>
                  </a:srgbClr>
                </a:solidFill>
                <a:latin typeface="MiSans" pitchFamily="34" charset="0"/>
                <a:ea typeface="MiSans" pitchFamily="34" charset="-122"/>
                <a:cs typeface="MiSans" pitchFamily="34" charset="-120"/>
              </a:rPr>
              <a:t>Pod是Kubernetes的最小调度单位,设计理念是</a:t>
            </a:r>
            <a:r>
              <a:rPr lang="en-US" sz="1333" dirty="0">
                <a:solidFill>
                  <a:srgbClr val="B38B59"/>
                </a:solidFill>
                <a:highlight>
                  <a:srgbClr val="3C8082">
                    <a:alpha val="30000"/>
                  </a:srgbClr>
                </a:highlight>
                <a:latin typeface="MiSans" pitchFamily="34" charset="0"/>
                <a:ea typeface="MiSans" pitchFamily="34" charset="-122"/>
                <a:cs typeface="MiSans" pitchFamily="34" charset="-120"/>
              </a:rPr>
              <a:t> 将紧密协作的容器组合在一起 </a:t>
            </a:r>
            <a:r>
              <a:rPr lang="en-US" sz="1333" dirty="0">
                <a:solidFill>
                  <a:srgbClr val="E0E2E4">
                    <a:alpha val="80000"/>
                  </a:srgbClr>
                </a:solidFill>
                <a:latin typeface="MiSans" pitchFamily="34" charset="0"/>
                <a:ea typeface="MiSans" pitchFamily="34" charset="-122"/>
                <a:cs typeface="MiSans" pitchFamily="34" charset="-120"/>
              </a:rPr>
              <a:t>,共享网络和存储资源,提高应用部署的灵活性和效率。</a:t>
            </a:r>
            <a:endParaRPr lang="en-US" sz="1600" dirty="0"/>
          </a:p>
        </p:txBody>
      </p:sp>
      <p:sp>
        <p:nvSpPr>
          <p:cNvPr id="11" name="Shape 9"/>
          <p:cNvSpPr/>
          <p:nvPr/>
        </p:nvSpPr>
        <p:spPr>
          <a:xfrm>
            <a:off x="603250" y="2973917"/>
            <a:ext cx="7260167" cy="1608667"/>
          </a:xfrm>
          <a:custGeom>
            <a:avLst/>
            <a:gdLst/>
            <a:ahLst/>
            <a:cxnLst/>
            <a:rect l="l" t="t" r="r" b="b"/>
            <a:pathLst>
              <a:path w="7260167" h="1608667">
                <a:moveTo>
                  <a:pt x="84664" y="0"/>
                </a:moveTo>
                <a:lnTo>
                  <a:pt x="7175503" y="0"/>
                </a:lnTo>
                <a:cubicBezTo>
                  <a:pt x="7222261" y="0"/>
                  <a:pt x="7260167" y="37905"/>
                  <a:pt x="7260167" y="84664"/>
                </a:cubicBezTo>
                <a:lnTo>
                  <a:pt x="7260167" y="1524003"/>
                </a:lnTo>
                <a:cubicBezTo>
                  <a:pt x="7260167" y="1570761"/>
                  <a:pt x="7222261" y="1608667"/>
                  <a:pt x="7175503" y="1608667"/>
                </a:cubicBezTo>
                <a:lnTo>
                  <a:pt x="84664" y="1608667"/>
                </a:lnTo>
                <a:cubicBezTo>
                  <a:pt x="37905" y="1608667"/>
                  <a:pt x="0" y="1570761"/>
                  <a:pt x="0" y="1524003"/>
                </a:cubicBezTo>
                <a:lnTo>
                  <a:pt x="0" y="84664"/>
                </a:lnTo>
                <a:cubicBezTo>
                  <a:pt x="0" y="37937"/>
                  <a:pt x="37937" y="0"/>
                  <a:pt x="84664" y="0"/>
                </a:cubicBezTo>
                <a:close/>
              </a:path>
            </a:pathLst>
          </a:custGeom>
          <a:solidFill>
            <a:srgbClr val="3C8082">
              <a:alpha val="20000"/>
            </a:srgbClr>
          </a:solidFill>
          <a:ln/>
        </p:spPr>
        <p:txBody>
          <a:bodyPr/>
          <a:lstStyle/>
          <a:p>
            <a:endParaRPr lang="zh-CN" altLang="en-US"/>
          </a:p>
        </p:txBody>
      </p:sp>
      <p:sp>
        <p:nvSpPr>
          <p:cNvPr id="12" name="Text 10"/>
          <p:cNvSpPr/>
          <p:nvPr/>
        </p:nvSpPr>
        <p:spPr>
          <a:xfrm>
            <a:off x="730250" y="3100917"/>
            <a:ext cx="7101417" cy="296333"/>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核心特性</a:t>
            </a:r>
            <a:endParaRPr lang="en-US" sz="1600" dirty="0"/>
          </a:p>
        </p:txBody>
      </p:sp>
      <p:sp>
        <p:nvSpPr>
          <p:cNvPr id="13" name="Text 11"/>
          <p:cNvSpPr/>
          <p:nvPr/>
        </p:nvSpPr>
        <p:spPr>
          <a:xfrm>
            <a:off x="730250" y="3481917"/>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B38B59"/>
                </a:solidFill>
                <a:latin typeface="MiSans" pitchFamily="34" charset="0"/>
                <a:ea typeface="MiSans" pitchFamily="34" charset="-122"/>
                <a:cs typeface="MiSans" pitchFamily="34" charset="-120"/>
              </a:rPr>
              <a:t>共享网络:</a:t>
            </a:r>
            <a:r>
              <a:rPr lang="en-US" sz="1167" dirty="0">
                <a:solidFill>
                  <a:srgbClr val="E0E2E4">
                    <a:alpha val="80000"/>
                  </a:srgbClr>
                </a:solidFill>
                <a:latin typeface="MiSans" pitchFamily="34" charset="0"/>
                <a:ea typeface="MiSans" pitchFamily="34" charset="-122"/>
                <a:cs typeface="MiSans" pitchFamily="34" charset="-120"/>
              </a:rPr>
              <a:t> Pod内所有容器共享同一个网络命名空间,可以通过localhost直接通信</a:t>
            </a:r>
            <a:endParaRPr lang="en-US" sz="1600" dirty="0"/>
          </a:p>
        </p:txBody>
      </p:sp>
      <p:sp>
        <p:nvSpPr>
          <p:cNvPr id="14" name="Text 12"/>
          <p:cNvSpPr/>
          <p:nvPr/>
        </p:nvSpPr>
        <p:spPr>
          <a:xfrm>
            <a:off x="730250" y="3735917"/>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B38B59"/>
                </a:solidFill>
                <a:latin typeface="MiSans" pitchFamily="34" charset="0"/>
                <a:ea typeface="MiSans" pitchFamily="34" charset="-122"/>
                <a:cs typeface="MiSans" pitchFamily="34" charset="-120"/>
              </a:rPr>
              <a:t>共享存储:</a:t>
            </a:r>
            <a:r>
              <a:rPr lang="en-US" sz="1167" dirty="0">
                <a:solidFill>
                  <a:srgbClr val="E0E2E4">
                    <a:alpha val="80000"/>
                  </a:srgbClr>
                </a:solidFill>
                <a:latin typeface="MiSans" pitchFamily="34" charset="0"/>
                <a:ea typeface="MiSans" pitchFamily="34" charset="-122"/>
                <a:cs typeface="MiSans" pitchFamily="34" charset="-120"/>
              </a:rPr>
              <a:t> Pod可以挂载多个存储卷,所有容器共享这些存储资源</a:t>
            </a:r>
            <a:endParaRPr lang="en-US" sz="1600" dirty="0"/>
          </a:p>
        </p:txBody>
      </p:sp>
      <p:sp>
        <p:nvSpPr>
          <p:cNvPr id="15" name="Text 13"/>
          <p:cNvSpPr/>
          <p:nvPr/>
        </p:nvSpPr>
        <p:spPr>
          <a:xfrm>
            <a:off x="730250" y="3989917"/>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B38B59"/>
                </a:solidFill>
                <a:latin typeface="MiSans" pitchFamily="34" charset="0"/>
                <a:ea typeface="MiSans" pitchFamily="34" charset="-122"/>
                <a:cs typeface="MiSans" pitchFamily="34" charset="-120"/>
              </a:rPr>
              <a:t>生命周期管理:</a:t>
            </a:r>
            <a:r>
              <a:rPr lang="en-US" sz="1167" dirty="0">
                <a:solidFill>
                  <a:srgbClr val="E0E2E4">
                    <a:alpha val="80000"/>
                  </a:srgbClr>
                </a:solidFill>
                <a:latin typeface="MiSans" pitchFamily="34" charset="0"/>
                <a:ea typeface="MiSans" pitchFamily="34" charset="-122"/>
                <a:cs typeface="MiSans" pitchFamily="34" charset="-120"/>
              </a:rPr>
              <a:t> Pod作为一个整体被创建、调度、销毁,保证容器协同工作</a:t>
            </a:r>
            <a:endParaRPr lang="en-US" sz="1600" dirty="0"/>
          </a:p>
        </p:txBody>
      </p:sp>
      <p:sp>
        <p:nvSpPr>
          <p:cNvPr id="16" name="Text 14"/>
          <p:cNvSpPr/>
          <p:nvPr/>
        </p:nvSpPr>
        <p:spPr>
          <a:xfrm>
            <a:off x="730250" y="4243917"/>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B38B59"/>
                </a:solidFill>
                <a:latin typeface="MiSans" pitchFamily="34" charset="0"/>
                <a:ea typeface="MiSans" pitchFamily="34" charset="-122"/>
                <a:cs typeface="MiSans" pitchFamily="34" charset="-120"/>
              </a:rPr>
              <a:t>原子性调度:</a:t>
            </a:r>
            <a:r>
              <a:rPr lang="en-US" sz="1167" dirty="0">
                <a:solidFill>
                  <a:srgbClr val="E0E2E4">
                    <a:alpha val="80000"/>
                  </a:srgbClr>
                </a:solidFill>
                <a:latin typeface="MiSans" pitchFamily="34" charset="0"/>
                <a:ea typeface="MiSans" pitchFamily="34" charset="-122"/>
                <a:cs typeface="MiSans" pitchFamily="34" charset="-120"/>
              </a:rPr>
              <a:t> Pod内的容器总是被调度到同一个节点,不会被拆分到不同节点</a:t>
            </a:r>
            <a:endParaRPr lang="en-US" sz="1600" dirty="0"/>
          </a:p>
        </p:txBody>
      </p:sp>
      <p:sp>
        <p:nvSpPr>
          <p:cNvPr id="17" name="Shape 15"/>
          <p:cNvSpPr/>
          <p:nvPr/>
        </p:nvSpPr>
        <p:spPr>
          <a:xfrm>
            <a:off x="603250" y="4667250"/>
            <a:ext cx="7260167" cy="1058333"/>
          </a:xfrm>
          <a:custGeom>
            <a:avLst/>
            <a:gdLst/>
            <a:ahLst/>
            <a:cxnLst/>
            <a:rect l="l" t="t" r="r" b="b"/>
            <a:pathLst>
              <a:path w="7260167" h="1058333">
                <a:moveTo>
                  <a:pt x="84667" y="0"/>
                </a:moveTo>
                <a:lnTo>
                  <a:pt x="7175500" y="0"/>
                </a:lnTo>
                <a:cubicBezTo>
                  <a:pt x="7222260" y="0"/>
                  <a:pt x="7260167" y="37907"/>
                  <a:pt x="7260167" y="84667"/>
                </a:cubicBezTo>
                <a:lnTo>
                  <a:pt x="7260167" y="973667"/>
                </a:lnTo>
                <a:cubicBezTo>
                  <a:pt x="7260167" y="1020427"/>
                  <a:pt x="7222260" y="1058333"/>
                  <a:pt x="7175500" y="1058333"/>
                </a:cubicBezTo>
                <a:lnTo>
                  <a:pt x="84667" y="1058333"/>
                </a:lnTo>
                <a:cubicBezTo>
                  <a:pt x="37907" y="1058333"/>
                  <a:pt x="0" y="1020427"/>
                  <a:pt x="0" y="973667"/>
                </a:cubicBezTo>
                <a:lnTo>
                  <a:pt x="0" y="84667"/>
                </a:lnTo>
                <a:cubicBezTo>
                  <a:pt x="0" y="37907"/>
                  <a:pt x="37907" y="0"/>
                  <a:pt x="84667" y="0"/>
                </a:cubicBezTo>
                <a:close/>
              </a:path>
            </a:pathLst>
          </a:custGeom>
          <a:solidFill>
            <a:srgbClr val="3C8082">
              <a:alpha val="20000"/>
            </a:srgbClr>
          </a:solidFill>
          <a:ln/>
        </p:spPr>
        <p:txBody>
          <a:bodyPr/>
          <a:lstStyle/>
          <a:p>
            <a:endParaRPr lang="zh-CN" altLang="en-US"/>
          </a:p>
        </p:txBody>
      </p:sp>
      <p:sp>
        <p:nvSpPr>
          <p:cNvPr id="18" name="Text 16"/>
          <p:cNvSpPr/>
          <p:nvPr/>
        </p:nvSpPr>
        <p:spPr>
          <a:xfrm>
            <a:off x="730250" y="4794250"/>
            <a:ext cx="7101417" cy="296333"/>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与Container的区别</a:t>
            </a:r>
            <a:endParaRPr lang="en-US" sz="1600" dirty="0"/>
          </a:p>
        </p:txBody>
      </p:sp>
      <p:sp>
        <p:nvSpPr>
          <p:cNvPr id="19" name="Text 17"/>
          <p:cNvSpPr/>
          <p:nvPr/>
        </p:nvSpPr>
        <p:spPr>
          <a:xfrm>
            <a:off x="730250" y="5175250"/>
            <a:ext cx="3534833" cy="211667"/>
          </a:xfrm>
          <a:prstGeom prst="rect">
            <a:avLst/>
          </a:prstGeom>
          <a:noFill/>
          <a:ln/>
        </p:spPr>
        <p:txBody>
          <a:bodyPr wrap="square" lIns="0" tIns="0" rIns="0" bIns="0" rtlCol="0" anchor="ctr"/>
          <a:lstStyle/>
          <a:p>
            <a:pPr>
              <a:lnSpc>
                <a:spcPct val="120000"/>
              </a:lnSpc>
            </a:pPr>
            <a:r>
              <a:rPr lang="en-US" sz="1167" b="1" dirty="0">
                <a:solidFill>
                  <a:srgbClr val="B38B59"/>
                </a:solidFill>
                <a:latin typeface="MiSans" pitchFamily="34" charset="0"/>
                <a:ea typeface="MiSans" pitchFamily="34" charset="-122"/>
                <a:cs typeface="MiSans" pitchFamily="34" charset="-120"/>
              </a:rPr>
              <a:t>YARN Container</a:t>
            </a:r>
            <a:endParaRPr lang="en-US" sz="1600" dirty="0"/>
          </a:p>
        </p:txBody>
      </p:sp>
      <p:sp>
        <p:nvSpPr>
          <p:cNvPr id="20" name="Text 18"/>
          <p:cNvSpPr/>
          <p:nvPr/>
        </p:nvSpPr>
        <p:spPr>
          <a:xfrm>
            <a:off x="730250" y="5429250"/>
            <a:ext cx="3524250" cy="169333"/>
          </a:xfrm>
          <a:prstGeom prst="rect">
            <a:avLst/>
          </a:prstGeom>
          <a:noFill/>
          <a:ln/>
        </p:spPr>
        <p:txBody>
          <a:bodyPr wrap="square" lIns="0" tIns="0" rIns="0" bIns="0" rtlCol="0" anchor="ctr"/>
          <a:lstStyle/>
          <a:p>
            <a:pPr>
              <a:lnSpc>
                <a:spcPct val="110000"/>
              </a:lnSpc>
            </a:pPr>
            <a:r>
              <a:rPr lang="en-US" sz="1000" dirty="0">
                <a:solidFill>
                  <a:srgbClr val="E0E2E4">
                    <a:alpha val="80000"/>
                  </a:srgbClr>
                </a:solidFill>
                <a:latin typeface="MiSans" pitchFamily="34" charset="0"/>
                <a:ea typeface="MiSans" pitchFamily="34" charset="-122"/>
                <a:cs typeface="MiSans" pitchFamily="34" charset="-120"/>
              </a:rPr>
              <a:t>单容器,中等粒度,适合批处理作业</a:t>
            </a:r>
            <a:endParaRPr lang="en-US" sz="1600" dirty="0"/>
          </a:p>
        </p:txBody>
      </p:sp>
      <p:sp>
        <p:nvSpPr>
          <p:cNvPr id="21" name="Text 19"/>
          <p:cNvSpPr/>
          <p:nvPr/>
        </p:nvSpPr>
        <p:spPr>
          <a:xfrm>
            <a:off x="4275667" y="5175250"/>
            <a:ext cx="3534833" cy="211667"/>
          </a:xfrm>
          <a:prstGeom prst="rect">
            <a:avLst/>
          </a:prstGeom>
          <a:noFill/>
          <a:ln/>
        </p:spPr>
        <p:txBody>
          <a:bodyPr wrap="square" lIns="0" tIns="0" rIns="0" bIns="0" rtlCol="0" anchor="ctr"/>
          <a:lstStyle/>
          <a:p>
            <a:pPr>
              <a:lnSpc>
                <a:spcPct val="120000"/>
              </a:lnSpc>
            </a:pPr>
            <a:r>
              <a:rPr lang="en-US" sz="1167" b="1" dirty="0">
                <a:solidFill>
                  <a:srgbClr val="B38B59"/>
                </a:solidFill>
                <a:latin typeface="MiSans" pitchFamily="34" charset="0"/>
                <a:ea typeface="MiSans" pitchFamily="34" charset="-122"/>
                <a:cs typeface="MiSans" pitchFamily="34" charset="-120"/>
              </a:rPr>
              <a:t>Kubernetes Pod</a:t>
            </a:r>
            <a:endParaRPr lang="en-US" sz="1600" dirty="0"/>
          </a:p>
        </p:txBody>
      </p:sp>
      <p:sp>
        <p:nvSpPr>
          <p:cNvPr id="22" name="Text 20"/>
          <p:cNvSpPr/>
          <p:nvPr/>
        </p:nvSpPr>
        <p:spPr>
          <a:xfrm>
            <a:off x="4275667" y="5429250"/>
            <a:ext cx="3524250" cy="169333"/>
          </a:xfrm>
          <a:prstGeom prst="rect">
            <a:avLst/>
          </a:prstGeom>
          <a:noFill/>
          <a:ln/>
        </p:spPr>
        <p:txBody>
          <a:bodyPr wrap="square" lIns="0" tIns="0" rIns="0" bIns="0" rtlCol="0" anchor="ctr"/>
          <a:lstStyle/>
          <a:p>
            <a:pPr>
              <a:lnSpc>
                <a:spcPct val="110000"/>
              </a:lnSpc>
            </a:pPr>
            <a:r>
              <a:rPr lang="en-US" sz="1000" dirty="0">
                <a:solidFill>
                  <a:srgbClr val="E0E2E4">
                    <a:alpha val="80000"/>
                  </a:srgbClr>
                </a:solidFill>
                <a:latin typeface="MiSans" pitchFamily="34" charset="0"/>
                <a:ea typeface="MiSans" pitchFamily="34" charset="-122"/>
                <a:cs typeface="MiSans" pitchFamily="34" charset="-120"/>
              </a:rPr>
              <a:t>多容器协作,更细粒度,适合微服务</a:t>
            </a:r>
            <a:endParaRPr lang="en-US" sz="1600" dirty="0"/>
          </a:p>
        </p:txBody>
      </p:sp>
      <p:sp>
        <p:nvSpPr>
          <p:cNvPr id="23" name="Shape 21"/>
          <p:cNvSpPr/>
          <p:nvPr/>
        </p:nvSpPr>
        <p:spPr>
          <a:xfrm>
            <a:off x="8217958" y="1402292"/>
            <a:ext cx="7609417" cy="3185583"/>
          </a:xfrm>
          <a:custGeom>
            <a:avLst/>
            <a:gdLst/>
            <a:ahLst/>
            <a:cxnLst/>
            <a:rect l="l" t="t" r="r" b="b"/>
            <a:pathLst>
              <a:path w="7609417" h="3185583">
                <a:moveTo>
                  <a:pt x="84673" y="0"/>
                </a:moveTo>
                <a:lnTo>
                  <a:pt x="7524744" y="0"/>
                </a:lnTo>
                <a:cubicBezTo>
                  <a:pt x="7571507" y="0"/>
                  <a:pt x="7609417" y="37909"/>
                  <a:pt x="7609417" y="84673"/>
                </a:cubicBezTo>
                <a:lnTo>
                  <a:pt x="7609417" y="3100911"/>
                </a:lnTo>
                <a:cubicBezTo>
                  <a:pt x="7609417" y="3147674"/>
                  <a:pt x="7571507" y="3185583"/>
                  <a:pt x="7524744" y="3185583"/>
                </a:cubicBezTo>
                <a:lnTo>
                  <a:pt x="84673" y="3185583"/>
                </a:lnTo>
                <a:cubicBezTo>
                  <a:pt x="37909" y="3185583"/>
                  <a:pt x="0" y="3147674"/>
                  <a:pt x="0" y="3100911"/>
                </a:cubicBezTo>
                <a:lnTo>
                  <a:pt x="0" y="84673"/>
                </a:lnTo>
                <a:cubicBezTo>
                  <a:pt x="0" y="37941"/>
                  <a:pt x="37941" y="0"/>
                  <a:pt x="84673"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4" name="Shape 22"/>
          <p:cNvSpPr/>
          <p:nvPr/>
        </p:nvSpPr>
        <p:spPr>
          <a:xfrm>
            <a:off x="8419042" y="1619250"/>
            <a:ext cx="211667" cy="211667"/>
          </a:xfrm>
          <a:custGeom>
            <a:avLst/>
            <a:gdLst/>
            <a:ahLst/>
            <a:cxnLst/>
            <a:rect l="l" t="t" r="r" b="b"/>
            <a:pathLst>
              <a:path w="211667" h="211667">
                <a:moveTo>
                  <a:pt x="13229" y="26458"/>
                </a:moveTo>
                <a:cubicBezTo>
                  <a:pt x="5912" y="26458"/>
                  <a:pt x="0" y="32370"/>
                  <a:pt x="0" y="39688"/>
                </a:cubicBezTo>
                <a:cubicBezTo>
                  <a:pt x="0" y="47005"/>
                  <a:pt x="5912" y="52917"/>
                  <a:pt x="13229" y="52917"/>
                </a:cubicBezTo>
                <a:lnTo>
                  <a:pt x="49072" y="52917"/>
                </a:lnTo>
                <a:cubicBezTo>
                  <a:pt x="54157" y="64616"/>
                  <a:pt x="65815" y="72760"/>
                  <a:pt x="79375" y="72760"/>
                </a:cubicBezTo>
                <a:cubicBezTo>
                  <a:pt x="92935" y="72760"/>
                  <a:pt x="104593" y="64616"/>
                  <a:pt x="109678" y="52917"/>
                </a:cubicBezTo>
                <a:lnTo>
                  <a:pt x="198438" y="52917"/>
                </a:lnTo>
                <a:cubicBezTo>
                  <a:pt x="205755" y="52917"/>
                  <a:pt x="211667" y="47005"/>
                  <a:pt x="211667" y="39688"/>
                </a:cubicBezTo>
                <a:cubicBezTo>
                  <a:pt x="211667" y="32370"/>
                  <a:pt x="205755" y="26458"/>
                  <a:pt x="198438" y="26458"/>
                </a:cubicBezTo>
                <a:lnTo>
                  <a:pt x="109678" y="26458"/>
                </a:lnTo>
                <a:cubicBezTo>
                  <a:pt x="104593" y="14759"/>
                  <a:pt x="92935" y="6615"/>
                  <a:pt x="79375" y="6615"/>
                </a:cubicBezTo>
                <a:cubicBezTo>
                  <a:pt x="65815" y="6615"/>
                  <a:pt x="54157" y="14759"/>
                  <a:pt x="49072" y="26458"/>
                </a:cubicBezTo>
                <a:lnTo>
                  <a:pt x="13229" y="26458"/>
                </a:lnTo>
                <a:close/>
                <a:moveTo>
                  <a:pt x="13229" y="92604"/>
                </a:moveTo>
                <a:cubicBezTo>
                  <a:pt x="5912" y="92604"/>
                  <a:pt x="0" y="98516"/>
                  <a:pt x="0" y="105833"/>
                </a:cubicBezTo>
                <a:cubicBezTo>
                  <a:pt x="0" y="113151"/>
                  <a:pt x="5912" y="119063"/>
                  <a:pt x="13229" y="119063"/>
                </a:cubicBezTo>
                <a:lnTo>
                  <a:pt x="115218" y="119063"/>
                </a:lnTo>
                <a:cubicBezTo>
                  <a:pt x="120303" y="130762"/>
                  <a:pt x="131961" y="138906"/>
                  <a:pt x="145521" y="138906"/>
                </a:cubicBezTo>
                <a:cubicBezTo>
                  <a:pt x="159081" y="138906"/>
                  <a:pt x="170739" y="130762"/>
                  <a:pt x="175824" y="119063"/>
                </a:cubicBezTo>
                <a:lnTo>
                  <a:pt x="198438" y="119063"/>
                </a:lnTo>
                <a:cubicBezTo>
                  <a:pt x="205755" y="119063"/>
                  <a:pt x="211667" y="113151"/>
                  <a:pt x="211667" y="105833"/>
                </a:cubicBezTo>
                <a:cubicBezTo>
                  <a:pt x="211667" y="98516"/>
                  <a:pt x="205755" y="92604"/>
                  <a:pt x="198438" y="92604"/>
                </a:cubicBezTo>
                <a:lnTo>
                  <a:pt x="175824" y="92604"/>
                </a:lnTo>
                <a:cubicBezTo>
                  <a:pt x="170739" y="80905"/>
                  <a:pt x="159081" y="72760"/>
                  <a:pt x="145521" y="72760"/>
                </a:cubicBezTo>
                <a:cubicBezTo>
                  <a:pt x="131961" y="72760"/>
                  <a:pt x="120303" y="80905"/>
                  <a:pt x="115218" y="92604"/>
                </a:cubicBezTo>
                <a:lnTo>
                  <a:pt x="13229" y="92604"/>
                </a:lnTo>
                <a:close/>
                <a:moveTo>
                  <a:pt x="13229" y="158750"/>
                </a:moveTo>
                <a:cubicBezTo>
                  <a:pt x="5912" y="158750"/>
                  <a:pt x="0" y="164662"/>
                  <a:pt x="0" y="171979"/>
                </a:cubicBezTo>
                <a:cubicBezTo>
                  <a:pt x="0" y="179297"/>
                  <a:pt x="5912" y="185208"/>
                  <a:pt x="13229" y="185208"/>
                </a:cubicBezTo>
                <a:lnTo>
                  <a:pt x="35843" y="185208"/>
                </a:lnTo>
                <a:cubicBezTo>
                  <a:pt x="40928" y="196908"/>
                  <a:pt x="52586" y="205052"/>
                  <a:pt x="66146" y="205052"/>
                </a:cubicBezTo>
                <a:cubicBezTo>
                  <a:pt x="79706" y="205052"/>
                  <a:pt x="91364" y="196908"/>
                  <a:pt x="96449" y="185208"/>
                </a:cubicBezTo>
                <a:lnTo>
                  <a:pt x="198438" y="185208"/>
                </a:lnTo>
                <a:cubicBezTo>
                  <a:pt x="205755" y="185208"/>
                  <a:pt x="211667" y="179297"/>
                  <a:pt x="211667" y="171979"/>
                </a:cubicBezTo>
                <a:cubicBezTo>
                  <a:pt x="211667" y="164662"/>
                  <a:pt x="205755" y="158750"/>
                  <a:pt x="198438" y="158750"/>
                </a:cubicBezTo>
                <a:lnTo>
                  <a:pt x="96449" y="158750"/>
                </a:lnTo>
                <a:cubicBezTo>
                  <a:pt x="91364" y="147050"/>
                  <a:pt x="79706" y="138906"/>
                  <a:pt x="66146" y="138906"/>
                </a:cubicBezTo>
                <a:cubicBezTo>
                  <a:pt x="52586" y="138906"/>
                  <a:pt x="40928" y="147050"/>
                  <a:pt x="35843" y="158750"/>
                </a:cubicBezTo>
                <a:lnTo>
                  <a:pt x="13229" y="158750"/>
                </a:lnTo>
                <a:close/>
              </a:path>
            </a:pathLst>
          </a:custGeom>
          <a:solidFill>
            <a:srgbClr val="3C8082"/>
          </a:solidFill>
          <a:ln/>
        </p:spPr>
        <p:txBody>
          <a:bodyPr/>
          <a:lstStyle/>
          <a:p>
            <a:endParaRPr lang="zh-CN" altLang="en-US"/>
          </a:p>
        </p:txBody>
      </p:sp>
      <p:sp>
        <p:nvSpPr>
          <p:cNvPr id="25" name="Text 23"/>
          <p:cNvSpPr/>
          <p:nvPr/>
        </p:nvSpPr>
        <p:spPr>
          <a:xfrm>
            <a:off x="8657167" y="1576917"/>
            <a:ext cx="7101417"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资源请求与限制</a:t>
            </a:r>
            <a:endParaRPr lang="en-US" sz="1600" dirty="0"/>
          </a:p>
        </p:txBody>
      </p:sp>
      <p:sp>
        <p:nvSpPr>
          <p:cNvPr id="26" name="Shape 24"/>
          <p:cNvSpPr/>
          <p:nvPr/>
        </p:nvSpPr>
        <p:spPr>
          <a:xfrm>
            <a:off x="8392583" y="1957917"/>
            <a:ext cx="7260167" cy="677333"/>
          </a:xfrm>
          <a:custGeom>
            <a:avLst/>
            <a:gdLst/>
            <a:ahLst/>
            <a:cxnLst/>
            <a:rect l="l" t="t" r="r" b="b"/>
            <a:pathLst>
              <a:path w="7260167" h="677333">
                <a:moveTo>
                  <a:pt x="84667" y="0"/>
                </a:moveTo>
                <a:lnTo>
                  <a:pt x="7175500" y="0"/>
                </a:lnTo>
                <a:cubicBezTo>
                  <a:pt x="7222260" y="0"/>
                  <a:pt x="7260167" y="37907"/>
                  <a:pt x="7260167" y="84667"/>
                </a:cubicBezTo>
                <a:lnTo>
                  <a:pt x="7260167" y="592667"/>
                </a:lnTo>
                <a:cubicBezTo>
                  <a:pt x="7260167" y="639427"/>
                  <a:pt x="7222260" y="677333"/>
                  <a:pt x="7175500" y="677333"/>
                </a:cubicBezTo>
                <a:lnTo>
                  <a:pt x="84667" y="677333"/>
                </a:lnTo>
                <a:cubicBezTo>
                  <a:pt x="37907" y="677333"/>
                  <a:pt x="0" y="639427"/>
                  <a:pt x="0" y="592667"/>
                </a:cubicBezTo>
                <a:lnTo>
                  <a:pt x="0" y="84667"/>
                </a:lnTo>
                <a:cubicBezTo>
                  <a:pt x="0" y="37907"/>
                  <a:pt x="37907" y="0"/>
                  <a:pt x="84667" y="0"/>
                </a:cubicBezTo>
                <a:close/>
              </a:path>
            </a:pathLst>
          </a:custGeom>
          <a:solidFill>
            <a:srgbClr val="1A1D21">
              <a:alpha val="50196"/>
            </a:srgbClr>
          </a:solidFill>
          <a:ln/>
        </p:spPr>
        <p:txBody>
          <a:bodyPr/>
          <a:lstStyle/>
          <a:p>
            <a:endParaRPr lang="zh-CN" altLang="en-US"/>
          </a:p>
        </p:txBody>
      </p:sp>
      <p:sp>
        <p:nvSpPr>
          <p:cNvPr id="27" name="Text 25"/>
          <p:cNvSpPr/>
          <p:nvPr/>
        </p:nvSpPr>
        <p:spPr>
          <a:xfrm>
            <a:off x="8477250" y="2042583"/>
            <a:ext cx="7175500"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requests(资源请求)</a:t>
            </a:r>
            <a:endParaRPr lang="en-US" sz="1600" dirty="0"/>
          </a:p>
        </p:txBody>
      </p:sp>
      <p:sp>
        <p:nvSpPr>
          <p:cNvPr id="28" name="Text 26"/>
          <p:cNvSpPr/>
          <p:nvPr/>
        </p:nvSpPr>
        <p:spPr>
          <a:xfrm>
            <a:off x="8477250" y="2338917"/>
            <a:ext cx="7164917"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调度器进行资源分配时的依据,确保Pod能够获得所需的最小资源量</a:t>
            </a:r>
            <a:endParaRPr lang="en-US" sz="1600" dirty="0"/>
          </a:p>
        </p:txBody>
      </p:sp>
      <p:sp>
        <p:nvSpPr>
          <p:cNvPr id="29" name="Shape 27"/>
          <p:cNvSpPr/>
          <p:nvPr/>
        </p:nvSpPr>
        <p:spPr>
          <a:xfrm>
            <a:off x="8392583" y="2719917"/>
            <a:ext cx="7260167" cy="677333"/>
          </a:xfrm>
          <a:custGeom>
            <a:avLst/>
            <a:gdLst/>
            <a:ahLst/>
            <a:cxnLst/>
            <a:rect l="l" t="t" r="r" b="b"/>
            <a:pathLst>
              <a:path w="7260167" h="677333">
                <a:moveTo>
                  <a:pt x="84667" y="0"/>
                </a:moveTo>
                <a:lnTo>
                  <a:pt x="7175500" y="0"/>
                </a:lnTo>
                <a:cubicBezTo>
                  <a:pt x="7222260" y="0"/>
                  <a:pt x="7260167" y="37907"/>
                  <a:pt x="7260167" y="84667"/>
                </a:cubicBezTo>
                <a:lnTo>
                  <a:pt x="7260167" y="592667"/>
                </a:lnTo>
                <a:cubicBezTo>
                  <a:pt x="7260167" y="639427"/>
                  <a:pt x="7222260" y="677333"/>
                  <a:pt x="7175500" y="677333"/>
                </a:cubicBezTo>
                <a:lnTo>
                  <a:pt x="84667" y="677333"/>
                </a:lnTo>
                <a:cubicBezTo>
                  <a:pt x="37907" y="677333"/>
                  <a:pt x="0" y="639427"/>
                  <a:pt x="0" y="592667"/>
                </a:cubicBezTo>
                <a:lnTo>
                  <a:pt x="0" y="84667"/>
                </a:lnTo>
                <a:cubicBezTo>
                  <a:pt x="0" y="37907"/>
                  <a:pt x="37907" y="0"/>
                  <a:pt x="84667" y="0"/>
                </a:cubicBezTo>
                <a:close/>
              </a:path>
            </a:pathLst>
          </a:custGeom>
          <a:solidFill>
            <a:srgbClr val="1A1D21">
              <a:alpha val="50196"/>
            </a:srgbClr>
          </a:solidFill>
          <a:ln/>
        </p:spPr>
        <p:txBody>
          <a:bodyPr/>
          <a:lstStyle/>
          <a:p>
            <a:endParaRPr lang="zh-CN" altLang="en-US"/>
          </a:p>
        </p:txBody>
      </p:sp>
      <p:sp>
        <p:nvSpPr>
          <p:cNvPr id="30" name="Text 28"/>
          <p:cNvSpPr/>
          <p:nvPr/>
        </p:nvSpPr>
        <p:spPr>
          <a:xfrm>
            <a:off x="8477250" y="2804583"/>
            <a:ext cx="7175500"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limits(资源限制)</a:t>
            </a:r>
            <a:endParaRPr lang="en-US" sz="1600" dirty="0"/>
          </a:p>
        </p:txBody>
      </p:sp>
      <p:sp>
        <p:nvSpPr>
          <p:cNvPr id="31" name="Text 29"/>
          <p:cNvSpPr/>
          <p:nvPr/>
        </p:nvSpPr>
        <p:spPr>
          <a:xfrm>
            <a:off x="8477250" y="3100917"/>
            <a:ext cx="7164917"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容器运行时对资源使用的硬性上限,防止容器消耗过多资源影响其他应用</a:t>
            </a:r>
            <a:endParaRPr lang="en-US" sz="1600" dirty="0"/>
          </a:p>
        </p:txBody>
      </p:sp>
      <p:sp>
        <p:nvSpPr>
          <p:cNvPr id="32" name="Shape 30"/>
          <p:cNvSpPr/>
          <p:nvPr/>
        </p:nvSpPr>
        <p:spPr>
          <a:xfrm>
            <a:off x="8392583" y="3481917"/>
            <a:ext cx="7260167" cy="931333"/>
          </a:xfrm>
          <a:custGeom>
            <a:avLst/>
            <a:gdLst/>
            <a:ahLst/>
            <a:cxnLst/>
            <a:rect l="l" t="t" r="r" b="b"/>
            <a:pathLst>
              <a:path w="7260167" h="931333">
                <a:moveTo>
                  <a:pt x="84668" y="0"/>
                </a:moveTo>
                <a:lnTo>
                  <a:pt x="7175499" y="0"/>
                </a:lnTo>
                <a:cubicBezTo>
                  <a:pt x="7222260" y="0"/>
                  <a:pt x="7260167" y="37907"/>
                  <a:pt x="7260167" y="84668"/>
                </a:cubicBezTo>
                <a:lnTo>
                  <a:pt x="7260167" y="846666"/>
                </a:lnTo>
                <a:cubicBezTo>
                  <a:pt x="7260167" y="893426"/>
                  <a:pt x="7222260" y="931333"/>
                  <a:pt x="7175499" y="931333"/>
                </a:cubicBezTo>
                <a:lnTo>
                  <a:pt x="84668" y="931333"/>
                </a:lnTo>
                <a:cubicBezTo>
                  <a:pt x="37907" y="931333"/>
                  <a:pt x="0" y="893426"/>
                  <a:pt x="0" y="846666"/>
                </a:cubicBezTo>
                <a:lnTo>
                  <a:pt x="0" y="84668"/>
                </a:lnTo>
                <a:cubicBezTo>
                  <a:pt x="0" y="37907"/>
                  <a:pt x="37907" y="0"/>
                  <a:pt x="84668" y="0"/>
                </a:cubicBezTo>
                <a:close/>
              </a:path>
            </a:pathLst>
          </a:custGeom>
          <a:solidFill>
            <a:srgbClr val="1A1D21">
              <a:alpha val="50196"/>
            </a:srgbClr>
          </a:solidFill>
          <a:ln/>
        </p:spPr>
        <p:txBody>
          <a:bodyPr/>
          <a:lstStyle/>
          <a:p>
            <a:endParaRPr lang="zh-CN" altLang="en-US"/>
          </a:p>
        </p:txBody>
      </p:sp>
      <p:sp>
        <p:nvSpPr>
          <p:cNvPr id="33" name="Text 31"/>
          <p:cNvSpPr/>
          <p:nvPr/>
        </p:nvSpPr>
        <p:spPr>
          <a:xfrm>
            <a:off x="8477250" y="3566583"/>
            <a:ext cx="7175500"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QoS分级</a:t>
            </a:r>
            <a:endParaRPr lang="en-US" sz="1600" dirty="0"/>
          </a:p>
        </p:txBody>
      </p:sp>
      <p:sp>
        <p:nvSpPr>
          <p:cNvPr id="34" name="Shape 32"/>
          <p:cNvSpPr/>
          <p:nvPr/>
        </p:nvSpPr>
        <p:spPr>
          <a:xfrm>
            <a:off x="8477250" y="3862917"/>
            <a:ext cx="2307167" cy="465667"/>
          </a:xfrm>
          <a:custGeom>
            <a:avLst/>
            <a:gdLst/>
            <a:ahLst/>
            <a:cxnLst/>
            <a:rect l="l" t="t" r="r" b="b"/>
            <a:pathLst>
              <a:path w="2307167" h="465667">
                <a:moveTo>
                  <a:pt x="42334" y="0"/>
                </a:moveTo>
                <a:lnTo>
                  <a:pt x="2264833" y="0"/>
                </a:lnTo>
                <a:cubicBezTo>
                  <a:pt x="2288213" y="0"/>
                  <a:pt x="2307167" y="18953"/>
                  <a:pt x="2307167" y="42334"/>
                </a:cubicBezTo>
                <a:lnTo>
                  <a:pt x="2307167" y="423333"/>
                </a:lnTo>
                <a:cubicBezTo>
                  <a:pt x="2307167" y="446713"/>
                  <a:pt x="2288213" y="465667"/>
                  <a:pt x="2264833" y="465667"/>
                </a:cubicBezTo>
                <a:lnTo>
                  <a:pt x="42334" y="465667"/>
                </a:lnTo>
                <a:cubicBezTo>
                  <a:pt x="18953" y="465667"/>
                  <a:pt x="0" y="446713"/>
                  <a:pt x="0" y="423333"/>
                </a:cubicBezTo>
                <a:lnTo>
                  <a:pt x="0" y="42334"/>
                </a:lnTo>
                <a:cubicBezTo>
                  <a:pt x="0" y="18953"/>
                  <a:pt x="18953" y="0"/>
                  <a:pt x="42334" y="0"/>
                </a:cubicBezTo>
                <a:close/>
              </a:path>
            </a:pathLst>
          </a:custGeom>
          <a:solidFill>
            <a:srgbClr val="3C8082">
              <a:alpha val="20000"/>
            </a:srgbClr>
          </a:solidFill>
          <a:ln/>
        </p:spPr>
        <p:txBody>
          <a:bodyPr/>
          <a:lstStyle/>
          <a:p>
            <a:endParaRPr lang="zh-CN" altLang="en-US"/>
          </a:p>
        </p:txBody>
      </p:sp>
      <p:sp>
        <p:nvSpPr>
          <p:cNvPr id="35" name="Text 33"/>
          <p:cNvSpPr/>
          <p:nvPr/>
        </p:nvSpPr>
        <p:spPr>
          <a:xfrm>
            <a:off x="8540750" y="3926417"/>
            <a:ext cx="2243667" cy="169333"/>
          </a:xfrm>
          <a:prstGeom prst="rect">
            <a:avLst/>
          </a:prstGeom>
          <a:noFill/>
          <a:ln/>
        </p:spPr>
        <p:txBody>
          <a:bodyPr wrap="square" lIns="0" tIns="0" rIns="0" bIns="0" rtlCol="0" anchor="ctr"/>
          <a:lstStyle/>
          <a:p>
            <a:pPr>
              <a:lnSpc>
                <a:spcPct val="110000"/>
              </a:lnSpc>
            </a:pPr>
            <a:r>
              <a:rPr lang="en-US" sz="1000" b="1" dirty="0">
                <a:solidFill>
                  <a:srgbClr val="E0E2E4"/>
                </a:solidFill>
                <a:latin typeface="MiSans" pitchFamily="34" charset="0"/>
                <a:ea typeface="MiSans" pitchFamily="34" charset="-122"/>
                <a:cs typeface="MiSans" pitchFamily="34" charset="-120"/>
              </a:rPr>
              <a:t>BestEffort</a:t>
            </a:r>
            <a:endParaRPr lang="en-US" sz="1600" dirty="0"/>
          </a:p>
        </p:txBody>
      </p:sp>
      <p:sp>
        <p:nvSpPr>
          <p:cNvPr id="36" name="Text 34"/>
          <p:cNvSpPr/>
          <p:nvPr/>
        </p:nvSpPr>
        <p:spPr>
          <a:xfrm>
            <a:off x="8540750" y="4095750"/>
            <a:ext cx="2243667" cy="169333"/>
          </a:xfrm>
          <a:prstGeom prst="rect">
            <a:avLst/>
          </a:prstGeom>
          <a:noFill/>
          <a:ln/>
        </p:spPr>
        <p:txBody>
          <a:bodyPr wrap="square" lIns="0" tIns="0" rIns="0" bIns="0" rtlCol="0" anchor="ctr"/>
          <a:lstStyle/>
          <a:p>
            <a:pPr>
              <a:lnSpc>
                <a:spcPct val="110000"/>
              </a:lnSpc>
            </a:pPr>
            <a:r>
              <a:rPr lang="en-US" sz="1000" dirty="0">
                <a:solidFill>
                  <a:srgbClr val="E0E2E4">
                    <a:alpha val="70000"/>
                  </a:srgbClr>
                </a:solidFill>
                <a:latin typeface="MiSans" pitchFamily="34" charset="0"/>
                <a:ea typeface="MiSans" pitchFamily="34" charset="-122"/>
                <a:cs typeface="MiSans" pitchFamily="34" charset="-120"/>
              </a:rPr>
              <a:t>无requests/limits</a:t>
            </a:r>
            <a:endParaRPr lang="en-US" sz="1600" dirty="0"/>
          </a:p>
        </p:txBody>
      </p:sp>
      <p:sp>
        <p:nvSpPr>
          <p:cNvPr id="37" name="Shape 35"/>
          <p:cNvSpPr/>
          <p:nvPr/>
        </p:nvSpPr>
        <p:spPr>
          <a:xfrm>
            <a:off x="10869083" y="3862917"/>
            <a:ext cx="2307167" cy="465667"/>
          </a:xfrm>
          <a:custGeom>
            <a:avLst/>
            <a:gdLst/>
            <a:ahLst/>
            <a:cxnLst/>
            <a:rect l="l" t="t" r="r" b="b"/>
            <a:pathLst>
              <a:path w="2307167" h="465667">
                <a:moveTo>
                  <a:pt x="42334" y="0"/>
                </a:moveTo>
                <a:lnTo>
                  <a:pt x="2264833" y="0"/>
                </a:lnTo>
                <a:cubicBezTo>
                  <a:pt x="2288213" y="0"/>
                  <a:pt x="2307167" y="18953"/>
                  <a:pt x="2307167" y="42334"/>
                </a:cubicBezTo>
                <a:lnTo>
                  <a:pt x="2307167" y="423333"/>
                </a:lnTo>
                <a:cubicBezTo>
                  <a:pt x="2307167" y="446713"/>
                  <a:pt x="2288213" y="465667"/>
                  <a:pt x="2264833" y="465667"/>
                </a:cubicBezTo>
                <a:lnTo>
                  <a:pt x="42334" y="465667"/>
                </a:lnTo>
                <a:cubicBezTo>
                  <a:pt x="18953" y="465667"/>
                  <a:pt x="0" y="446713"/>
                  <a:pt x="0" y="423333"/>
                </a:cubicBezTo>
                <a:lnTo>
                  <a:pt x="0" y="42334"/>
                </a:lnTo>
                <a:cubicBezTo>
                  <a:pt x="0" y="18953"/>
                  <a:pt x="18953" y="0"/>
                  <a:pt x="42334" y="0"/>
                </a:cubicBezTo>
                <a:close/>
              </a:path>
            </a:pathLst>
          </a:custGeom>
          <a:solidFill>
            <a:srgbClr val="3C8082">
              <a:alpha val="20000"/>
            </a:srgbClr>
          </a:solidFill>
          <a:ln/>
        </p:spPr>
        <p:txBody>
          <a:bodyPr/>
          <a:lstStyle/>
          <a:p>
            <a:endParaRPr lang="zh-CN" altLang="en-US"/>
          </a:p>
        </p:txBody>
      </p:sp>
      <p:sp>
        <p:nvSpPr>
          <p:cNvPr id="38" name="Text 36"/>
          <p:cNvSpPr/>
          <p:nvPr/>
        </p:nvSpPr>
        <p:spPr>
          <a:xfrm>
            <a:off x="10932583" y="3926417"/>
            <a:ext cx="2243667" cy="169333"/>
          </a:xfrm>
          <a:prstGeom prst="rect">
            <a:avLst/>
          </a:prstGeom>
          <a:noFill/>
          <a:ln/>
        </p:spPr>
        <p:txBody>
          <a:bodyPr wrap="square" lIns="0" tIns="0" rIns="0" bIns="0" rtlCol="0" anchor="ctr"/>
          <a:lstStyle/>
          <a:p>
            <a:pPr>
              <a:lnSpc>
                <a:spcPct val="110000"/>
              </a:lnSpc>
            </a:pPr>
            <a:r>
              <a:rPr lang="en-US" sz="1000" b="1" dirty="0">
                <a:solidFill>
                  <a:srgbClr val="E0E2E4"/>
                </a:solidFill>
                <a:latin typeface="MiSans" pitchFamily="34" charset="0"/>
                <a:ea typeface="MiSans" pitchFamily="34" charset="-122"/>
                <a:cs typeface="MiSans" pitchFamily="34" charset="-120"/>
              </a:rPr>
              <a:t>Burstable</a:t>
            </a:r>
            <a:endParaRPr lang="en-US" sz="1600" dirty="0"/>
          </a:p>
        </p:txBody>
      </p:sp>
      <p:sp>
        <p:nvSpPr>
          <p:cNvPr id="39" name="Text 37"/>
          <p:cNvSpPr/>
          <p:nvPr/>
        </p:nvSpPr>
        <p:spPr>
          <a:xfrm>
            <a:off x="10932583" y="4095750"/>
            <a:ext cx="2243667" cy="169333"/>
          </a:xfrm>
          <a:prstGeom prst="rect">
            <a:avLst/>
          </a:prstGeom>
          <a:noFill/>
          <a:ln/>
        </p:spPr>
        <p:txBody>
          <a:bodyPr wrap="square" lIns="0" tIns="0" rIns="0" bIns="0" rtlCol="0" anchor="ctr"/>
          <a:lstStyle/>
          <a:p>
            <a:pPr>
              <a:lnSpc>
                <a:spcPct val="110000"/>
              </a:lnSpc>
            </a:pPr>
            <a:r>
              <a:rPr lang="en-US" sz="1000" dirty="0">
                <a:solidFill>
                  <a:srgbClr val="E0E2E4">
                    <a:alpha val="70000"/>
                  </a:srgbClr>
                </a:solidFill>
                <a:latin typeface="MiSans" pitchFamily="34" charset="0"/>
                <a:ea typeface="MiSans" pitchFamily="34" charset="-122"/>
                <a:cs typeface="MiSans" pitchFamily="34" charset="-120"/>
              </a:rPr>
              <a:t>有requests,limits&gt;requests</a:t>
            </a:r>
            <a:endParaRPr lang="en-US" sz="1600" dirty="0"/>
          </a:p>
        </p:txBody>
      </p:sp>
      <p:sp>
        <p:nvSpPr>
          <p:cNvPr id="40" name="Shape 38"/>
          <p:cNvSpPr/>
          <p:nvPr/>
        </p:nvSpPr>
        <p:spPr>
          <a:xfrm>
            <a:off x="13260917" y="3862917"/>
            <a:ext cx="2307167" cy="465667"/>
          </a:xfrm>
          <a:custGeom>
            <a:avLst/>
            <a:gdLst/>
            <a:ahLst/>
            <a:cxnLst/>
            <a:rect l="l" t="t" r="r" b="b"/>
            <a:pathLst>
              <a:path w="2307167" h="465667">
                <a:moveTo>
                  <a:pt x="42334" y="0"/>
                </a:moveTo>
                <a:lnTo>
                  <a:pt x="2264833" y="0"/>
                </a:lnTo>
                <a:cubicBezTo>
                  <a:pt x="2288213" y="0"/>
                  <a:pt x="2307167" y="18953"/>
                  <a:pt x="2307167" y="42334"/>
                </a:cubicBezTo>
                <a:lnTo>
                  <a:pt x="2307167" y="423333"/>
                </a:lnTo>
                <a:cubicBezTo>
                  <a:pt x="2307167" y="446713"/>
                  <a:pt x="2288213" y="465667"/>
                  <a:pt x="2264833" y="465667"/>
                </a:cubicBezTo>
                <a:lnTo>
                  <a:pt x="42334" y="465667"/>
                </a:lnTo>
                <a:cubicBezTo>
                  <a:pt x="18953" y="465667"/>
                  <a:pt x="0" y="446713"/>
                  <a:pt x="0" y="423333"/>
                </a:cubicBezTo>
                <a:lnTo>
                  <a:pt x="0" y="42334"/>
                </a:lnTo>
                <a:cubicBezTo>
                  <a:pt x="0" y="18953"/>
                  <a:pt x="18953" y="0"/>
                  <a:pt x="42334" y="0"/>
                </a:cubicBezTo>
                <a:close/>
              </a:path>
            </a:pathLst>
          </a:custGeom>
          <a:solidFill>
            <a:srgbClr val="3C8082">
              <a:alpha val="20000"/>
            </a:srgbClr>
          </a:solidFill>
          <a:ln/>
        </p:spPr>
        <p:txBody>
          <a:bodyPr/>
          <a:lstStyle/>
          <a:p>
            <a:endParaRPr lang="zh-CN" altLang="en-US"/>
          </a:p>
        </p:txBody>
      </p:sp>
      <p:sp>
        <p:nvSpPr>
          <p:cNvPr id="41" name="Text 39"/>
          <p:cNvSpPr/>
          <p:nvPr/>
        </p:nvSpPr>
        <p:spPr>
          <a:xfrm>
            <a:off x="13324417" y="3926417"/>
            <a:ext cx="2243667" cy="169333"/>
          </a:xfrm>
          <a:prstGeom prst="rect">
            <a:avLst/>
          </a:prstGeom>
          <a:noFill/>
          <a:ln/>
        </p:spPr>
        <p:txBody>
          <a:bodyPr wrap="square" lIns="0" tIns="0" rIns="0" bIns="0" rtlCol="0" anchor="ctr"/>
          <a:lstStyle/>
          <a:p>
            <a:pPr>
              <a:lnSpc>
                <a:spcPct val="110000"/>
              </a:lnSpc>
            </a:pPr>
            <a:r>
              <a:rPr lang="en-US" sz="1000" b="1" dirty="0">
                <a:solidFill>
                  <a:srgbClr val="E0E2E4"/>
                </a:solidFill>
                <a:latin typeface="MiSans" pitchFamily="34" charset="0"/>
                <a:ea typeface="MiSans" pitchFamily="34" charset="-122"/>
                <a:cs typeface="MiSans" pitchFamily="34" charset="-120"/>
              </a:rPr>
              <a:t>Guaranteed</a:t>
            </a:r>
            <a:endParaRPr lang="en-US" sz="1600" dirty="0"/>
          </a:p>
        </p:txBody>
      </p:sp>
      <p:sp>
        <p:nvSpPr>
          <p:cNvPr id="42" name="Text 40"/>
          <p:cNvSpPr/>
          <p:nvPr/>
        </p:nvSpPr>
        <p:spPr>
          <a:xfrm>
            <a:off x="13324417" y="4095750"/>
            <a:ext cx="2243667" cy="169333"/>
          </a:xfrm>
          <a:prstGeom prst="rect">
            <a:avLst/>
          </a:prstGeom>
          <a:noFill/>
          <a:ln/>
        </p:spPr>
        <p:txBody>
          <a:bodyPr wrap="square" lIns="0" tIns="0" rIns="0" bIns="0" rtlCol="0" anchor="ctr"/>
          <a:lstStyle/>
          <a:p>
            <a:pPr>
              <a:lnSpc>
                <a:spcPct val="110000"/>
              </a:lnSpc>
            </a:pPr>
            <a:r>
              <a:rPr lang="en-US" sz="1000" dirty="0">
                <a:solidFill>
                  <a:srgbClr val="E0E2E4">
                    <a:alpha val="70000"/>
                  </a:srgbClr>
                </a:solidFill>
                <a:latin typeface="MiSans" pitchFamily="34" charset="0"/>
                <a:ea typeface="MiSans" pitchFamily="34" charset="-122"/>
                <a:cs typeface="MiSans" pitchFamily="34" charset="-120"/>
              </a:rPr>
              <a:t>requests=limits</a:t>
            </a:r>
            <a:endParaRPr lang="en-US" sz="1600" dirty="0"/>
          </a:p>
        </p:txBody>
      </p:sp>
      <p:sp>
        <p:nvSpPr>
          <p:cNvPr id="43" name="Shape 41"/>
          <p:cNvSpPr/>
          <p:nvPr/>
        </p:nvSpPr>
        <p:spPr>
          <a:xfrm>
            <a:off x="8217958" y="4725458"/>
            <a:ext cx="7609417" cy="2889250"/>
          </a:xfrm>
          <a:custGeom>
            <a:avLst/>
            <a:gdLst/>
            <a:ahLst/>
            <a:cxnLst/>
            <a:rect l="l" t="t" r="r" b="b"/>
            <a:pathLst>
              <a:path w="7609417" h="2889250">
                <a:moveTo>
                  <a:pt x="84655" y="0"/>
                </a:moveTo>
                <a:lnTo>
                  <a:pt x="7524762" y="0"/>
                </a:lnTo>
                <a:cubicBezTo>
                  <a:pt x="7571515" y="0"/>
                  <a:pt x="7609417" y="37901"/>
                  <a:pt x="7609417" y="84655"/>
                </a:cubicBezTo>
                <a:lnTo>
                  <a:pt x="7609417" y="2804595"/>
                </a:lnTo>
                <a:cubicBezTo>
                  <a:pt x="7609417" y="2851349"/>
                  <a:pt x="7571515" y="2889250"/>
                  <a:pt x="7524762" y="2889250"/>
                </a:cubicBezTo>
                <a:lnTo>
                  <a:pt x="84655" y="2889250"/>
                </a:lnTo>
                <a:cubicBezTo>
                  <a:pt x="37901" y="2889250"/>
                  <a:pt x="0" y="2851349"/>
                  <a:pt x="0" y="2804595"/>
                </a:cubicBezTo>
                <a:lnTo>
                  <a:pt x="0" y="84655"/>
                </a:lnTo>
                <a:cubicBezTo>
                  <a:pt x="0" y="37933"/>
                  <a:pt x="37933" y="0"/>
                  <a:pt x="84655"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44" name="Shape 42"/>
          <p:cNvSpPr/>
          <p:nvPr/>
        </p:nvSpPr>
        <p:spPr>
          <a:xfrm>
            <a:off x="8419042" y="4942417"/>
            <a:ext cx="211667" cy="211667"/>
          </a:xfrm>
          <a:custGeom>
            <a:avLst/>
            <a:gdLst/>
            <a:ahLst/>
            <a:cxnLst/>
            <a:rect l="l" t="t" r="r" b="b"/>
            <a:pathLst>
              <a:path w="211667" h="211667">
                <a:moveTo>
                  <a:pt x="105833" y="0"/>
                </a:moveTo>
                <a:cubicBezTo>
                  <a:pt x="107735" y="0"/>
                  <a:pt x="109637" y="413"/>
                  <a:pt x="111373" y="1199"/>
                </a:cubicBezTo>
                <a:lnTo>
                  <a:pt x="189260" y="34230"/>
                </a:lnTo>
                <a:cubicBezTo>
                  <a:pt x="198355" y="38075"/>
                  <a:pt x="205135" y="47046"/>
                  <a:pt x="205093" y="57878"/>
                </a:cubicBezTo>
                <a:cubicBezTo>
                  <a:pt x="204887" y="98888"/>
                  <a:pt x="188020" y="173922"/>
                  <a:pt x="116789" y="208029"/>
                </a:cubicBezTo>
                <a:cubicBezTo>
                  <a:pt x="109885" y="211336"/>
                  <a:pt x="101865" y="211336"/>
                  <a:pt x="94961" y="208029"/>
                </a:cubicBezTo>
                <a:cubicBezTo>
                  <a:pt x="23688" y="173922"/>
                  <a:pt x="6863" y="98888"/>
                  <a:pt x="6656" y="57878"/>
                </a:cubicBezTo>
                <a:cubicBezTo>
                  <a:pt x="6615" y="47046"/>
                  <a:pt x="13395" y="38075"/>
                  <a:pt x="22490" y="34230"/>
                </a:cubicBezTo>
                <a:lnTo>
                  <a:pt x="100335" y="1199"/>
                </a:lnTo>
                <a:cubicBezTo>
                  <a:pt x="102071" y="413"/>
                  <a:pt x="103932" y="0"/>
                  <a:pt x="105833" y="0"/>
                </a:cubicBezTo>
                <a:close/>
                <a:moveTo>
                  <a:pt x="105833" y="27616"/>
                </a:moveTo>
                <a:lnTo>
                  <a:pt x="105833" y="183927"/>
                </a:lnTo>
                <a:cubicBezTo>
                  <a:pt x="162884" y="156311"/>
                  <a:pt x="178222" y="95126"/>
                  <a:pt x="178594" y="58498"/>
                </a:cubicBezTo>
                <a:lnTo>
                  <a:pt x="105833" y="27657"/>
                </a:lnTo>
                <a:lnTo>
                  <a:pt x="105833" y="27657"/>
                </a:lnTo>
                <a:close/>
              </a:path>
            </a:pathLst>
          </a:custGeom>
          <a:solidFill>
            <a:srgbClr val="B38B59"/>
          </a:solidFill>
          <a:ln/>
        </p:spPr>
        <p:txBody>
          <a:bodyPr/>
          <a:lstStyle/>
          <a:p>
            <a:endParaRPr lang="zh-CN" altLang="en-US"/>
          </a:p>
        </p:txBody>
      </p:sp>
      <p:sp>
        <p:nvSpPr>
          <p:cNvPr id="45" name="Text 43"/>
          <p:cNvSpPr/>
          <p:nvPr/>
        </p:nvSpPr>
        <p:spPr>
          <a:xfrm>
            <a:off x="8657167" y="4900083"/>
            <a:ext cx="7101417" cy="296333"/>
          </a:xfrm>
          <a:prstGeom prst="rect">
            <a:avLst/>
          </a:prstGeom>
          <a:noFill/>
          <a:ln/>
        </p:spPr>
        <p:txBody>
          <a:bodyPr wrap="square" lIns="0" tIns="0" rIns="0" bIns="0" rtlCol="0" anchor="ctr"/>
          <a:lstStyle/>
          <a:p>
            <a:pPr>
              <a:lnSpc>
                <a:spcPct val="120000"/>
              </a:lnSpc>
            </a:pPr>
            <a:r>
              <a:rPr lang="en-US" sz="1667" b="1" dirty="0">
                <a:solidFill>
                  <a:srgbClr val="E0E2E4"/>
                </a:solidFill>
                <a:latin typeface="MiSans" pitchFamily="34" charset="0"/>
                <a:ea typeface="MiSans" pitchFamily="34" charset="-122"/>
                <a:cs typeface="MiSans" pitchFamily="34" charset="-120"/>
              </a:rPr>
              <a:t>Pod安全策略</a:t>
            </a:r>
            <a:endParaRPr lang="en-US" sz="1600" dirty="0"/>
          </a:p>
        </p:txBody>
      </p:sp>
      <p:sp>
        <p:nvSpPr>
          <p:cNvPr id="46" name="Shape 44"/>
          <p:cNvSpPr/>
          <p:nvPr/>
        </p:nvSpPr>
        <p:spPr>
          <a:xfrm>
            <a:off x="8392583" y="5281083"/>
            <a:ext cx="7260167" cy="677333"/>
          </a:xfrm>
          <a:custGeom>
            <a:avLst/>
            <a:gdLst/>
            <a:ahLst/>
            <a:cxnLst/>
            <a:rect l="l" t="t" r="r" b="b"/>
            <a:pathLst>
              <a:path w="7260167" h="677333">
                <a:moveTo>
                  <a:pt x="84667" y="0"/>
                </a:moveTo>
                <a:lnTo>
                  <a:pt x="7175500" y="0"/>
                </a:lnTo>
                <a:cubicBezTo>
                  <a:pt x="7222260" y="0"/>
                  <a:pt x="7260167" y="37907"/>
                  <a:pt x="7260167" y="84667"/>
                </a:cubicBezTo>
                <a:lnTo>
                  <a:pt x="7260167" y="592667"/>
                </a:lnTo>
                <a:cubicBezTo>
                  <a:pt x="7260167" y="639427"/>
                  <a:pt x="7222260" y="677333"/>
                  <a:pt x="7175500" y="677333"/>
                </a:cubicBezTo>
                <a:lnTo>
                  <a:pt x="84667" y="677333"/>
                </a:lnTo>
                <a:cubicBezTo>
                  <a:pt x="37907" y="677333"/>
                  <a:pt x="0" y="639427"/>
                  <a:pt x="0" y="592667"/>
                </a:cubicBezTo>
                <a:lnTo>
                  <a:pt x="0" y="84667"/>
                </a:lnTo>
                <a:cubicBezTo>
                  <a:pt x="0" y="37907"/>
                  <a:pt x="37907" y="0"/>
                  <a:pt x="84667" y="0"/>
                </a:cubicBezTo>
                <a:close/>
              </a:path>
            </a:pathLst>
          </a:custGeom>
          <a:solidFill>
            <a:srgbClr val="1A1D21">
              <a:alpha val="50196"/>
            </a:srgbClr>
          </a:solidFill>
          <a:ln/>
        </p:spPr>
        <p:txBody>
          <a:bodyPr/>
          <a:lstStyle/>
          <a:p>
            <a:endParaRPr lang="zh-CN" altLang="en-US"/>
          </a:p>
        </p:txBody>
      </p:sp>
      <p:sp>
        <p:nvSpPr>
          <p:cNvPr id="47" name="Text 45"/>
          <p:cNvSpPr/>
          <p:nvPr/>
        </p:nvSpPr>
        <p:spPr>
          <a:xfrm>
            <a:off x="8477250" y="5365750"/>
            <a:ext cx="7175500"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SecurityContext</a:t>
            </a:r>
            <a:endParaRPr lang="en-US" sz="1600" dirty="0"/>
          </a:p>
        </p:txBody>
      </p:sp>
      <p:sp>
        <p:nvSpPr>
          <p:cNvPr id="48" name="Text 46"/>
          <p:cNvSpPr/>
          <p:nvPr/>
        </p:nvSpPr>
        <p:spPr>
          <a:xfrm>
            <a:off x="8477250" y="5662083"/>
            <a:ext cx="7164917"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定义Pod或容器的安全上下文,包括运行用户、权限、SELinux选项等</a:t>
            </a:r>
            <a:endParaRPr lang="en-US" sz="1600" dirty="0"/>
          </a:p>
        </p:txBody>
      </p:sp>
      <p:sp>
        <p:nvSpPr>
          <p:cNvPr id="49" name="Shape 47"/>
          <p:cNvSpPr/>
          <p:nvPr/>
        </p:nvSpPr>
        <p:spPr>
          <a:xfrm>
            <a:off x="8392583" y="6021917"/>
            <a:ext cx="7260167" cy="677333"/>
          </a:xfrm>
          <a:custGeom>
            <a:avLst/>
            <a:gdLst/>
            <a:ahLst/>
            <a:cxnLst/>
            <a:rect l="l" t="t" r="r" b="b"/>
            <a:pathLst>
              <a:path w="7260167" h="677333">
                <a:moveTo>
                  <a:pt x="84667" y="0"/>
                </a:moveTo>
                <a:lnTo>
                  <a:pt x="7175500" y="0"/>
                </a:lnTo>
                <a:cubicBezTo>
                  <a:pt x="7222260" y="0"/>
                  <a:pt x="7260167" y="37907"/>
                  <a:pt x="7260167" y="84667"/>
                </a:cubicBezTo>
                <a:lnTo>
                  <a:pt x="7260167" y="592667"/>
                </a:lnTo>
                <a:cubicBezTo>
                  <a:pt x="7260167" y="639427"/>
                  <a:pt x="7222260" y="677333"/>
                  <a:pt x="7175500" y="677333"/>
                </a:cubicBezTo>
                <a:lnTo>
                  <a:pt x="84667" y="677333"/>
                </a:lnTo>
                <a:cubicBezTo>
                  <a:pt x="37907" y="677333"/>
                  <a:pt x="0" y="639427"/>
                  <a:pt x="0" y="592667"/>
                </a:cubicBezTo>
                <a:lnTo>
                  <a:pt x="0" y="84667"/>
                </a:lnTo>
                <a:cubicBezTo>
                  <a:pt x="0" y="37907"/>
                  <a:pt x="37907" y="0"/>
                  <a:pt x="84667" y="0"/>
                </a:cubicBezTo>
                <a:close/>
              </a:path>
            </a:pathLst>
          </a:custGeom>
          <a:solidFill>
            <a:srgbClr val="1A1D21">
              <a:alpha val="50196"/>
            </a:srgbClr>
          </a:solidFill>
          <a:ln/>
        </p:spPr>
        <p:txBody>
          <a:bodyPr/>
          <a:lstStyle/>
          <a:p>
            <a:endParaRPr lang="zh-CN" altLang="en-US"/>
          </a:p>
        </p:txBody>
      </p:sp>
      <p:sp>
        <p:nvSpPr>
          <p:cNvPr id="50" name="Text 48"/>
          <p:cNvSpPr/>
          <p:nvPr/>
        </p:nvSpPr>
        <p:spPr>
          <a:xfrm>
            <a:off x="8477250" y="6106583"/>
            <a:ext cx="7175500"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NetworkPolicy</a:t>
            </a:r>
            <a:endParaRPr lang="en-US" sz="1600" dirty="0"/>
          </a:p>
        </p:txBody>
      </p:sp>
      <p:sp>
        <p:nvSpPr>
          <p:cNvPr id="51" name="Text 49"/>
          <p:cNvSpPr/>
          <p:nvPr/>
        </p:nvSpPr>
        <p:spPr>
          <a:xfrm>
            <a:off x="8477250" y="6402917"/>
            <a:ext cx="7164917"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定义Pod之间的网络访问策略,实现细粒度的网络隔离和流量控制</a:t>
            </a:r>
            <a:endParaRPr lang="en-US" sz="1600" dirty="0"/>
          </a:p>
        </p:txBody>
      </p:sp>
      <p:sp>
        <p:nvSpPr>
          <p:cNvPr id="52" name="Shape 50"/>
          <p:cNvSpPr/>
          <p:nvPr/>
        </p:nvSpPr>
        <p:spPr>
          <a:xfrm>
            <a:off x="8392583" y="6762750"/>
            <a:ext cx="7260167" cy="677333"/>
          </a:xfrm>
          <a:custGeom>
            <a:avLst/>
            <a:gdLst/>
            <a:ahLst/>
            <a:cxnLst/>
            <a:rect l="l" t="t" r="r" b="b"/>
            <a:pathLst>
              <a:path w="7260167" h="677333">
                <a:moveTo>
                  <a:pt x="84667" y="0"/>
                </a:moveTo>
                <a:lnTo>
                  <a:pt x="7175500" y="0"/>
                </a:lnTo>
                <a:cubicBezTo>
                  <a:pt x="7222260" y="0"/>
                  <a:pt x="7260167" y="37907"/>
                  <a:pt x="7260167" y="84667"/>
                </a:cubicBezTo>
                <a:lnTo>
                  <a:pt x="7260167" y="592667"/>
                </a:lnTo>
                <a:cubicBezTo>
                  <a:pt x="7260167" y="639427"/>
                  <a:pt x="7222260" y="677333"/>
                  <a:pt x="7175500" y="677333"/>
                </a:cubicBezTo>
                <a:lnTo>
                  <a:pt x="84667" y="677333"/>
                </a:lnTo>
                <a:cubicBezTo>
                  <a:pt x="37907" y="677333"/>
                  <a:pt x="0" y="639427"/>
                  <a:pt x="0" y="592667"/>
                </a:cubicBezTo>
                <a:lnTo>
                  <a:pt x="0" y="84667"/>
                </a:lnTo>
                <a:cubicBezTo>
                  <a:pt x="0" y="37907"/>
                  <a:pt x="37907" y="0"/>
                  <a:pt x="84667" y="0"/>
                </a:cubicBezTo>
                <a:close/>
              </a:path>
            </a:pathLst>
          </a:custGeom>
          <a:solidFill>
            <a:srgbClr val="1A1D21">
              <a:alpha val="50196"/>
            </a:srgbClr>
          </a:solidFill>
          <a:ln/>
        </p:spPr>
        <p:txBody>
          <a:bodyPr/>
          <a:lstStyle/>
          <a:p>
            <a:endParaRPr lang="zh-CN" altLang="en-US"/>
          </a:p>
        </p:txBody>
      </p:sp>
      <p:sp>
        <p:nvSpPr>
          <p:cNvPr id="53" name="Text 51"/>
          <p:cNvSpPr/>
          <p:nvPr/>
        </p:nvSpPr>
        <p:spPr>
          <a:xfrm>
            <a:off x="8477250" y="6847417"/>
            <a:ext cx="7175500" cy="254000"/>
          </a:xfrm>
          <a:prstGeom prst="rect">
            <a:avLst/>
          </a:prstGeom>
          <a:noFill/>
          <a:ln/>
        </p:spPr>
        <p:txBody>
          <a:bodyPr wrap="square" lIns="0" tIns="0" rIns="0" bIns="0" rtlCol="0" anchor="ctr"/>
          <a:lstStyle/>
          <a:p>
            <a:pPr>
              <a:lnSpc>
                <a:spcPct val="130000"/>
              </a:lnSpc>
            </a:pPr>
            <a:r>
              <a:rPr lang="en-US" sz="1333" b="1" dirty="0">
                <a:solidFill>
                  <a:srgbClr val="E0E2E4"/>
                </a:solidFill>
                <a:latin typeface="MiSans" pitchFamily="34" charset="0"/>
                <a:ea typeface="MiSans" pitchFamily="34" charset="-122"/>
                <a:cs typeface="MiSans" pitchFamily="34" charset="-120"/>
              </a:rPr>
              <a:t>PodSecurityPolicy</a:t>
            </a:r>
            <a:endParaRPr lang="en-US" sz="1600" dirty="0"/>
          </a:p>
        </p:txBody>
      </p:sp>
      <p:sp>
        <p:nvSpPr>
          <p:cNvPr id="54" name="Text 52"/>
          <p:cNvSpPr/>
          <p:nvPr/>
        </p:nvSpPr>
        <p:spPr>
          <a:xfrm>
            <a:off x="8477250" y="7143750"/>
            <a:ext cx="7164917" cy="211667"/>
          </a:xfrm>
          <a:prstGeom prst="rect">
            <a:avLst/>
          </a:prstGeom>
          <a:noFill/>
          <a:ln/>
        </p:spPr>
        <p:txBody>
          <a:bodyPr wrap="square" lIns="0" tIns="0" rIns="0" bIns="0" rtlCol="0" anchor="ctr"/>
          <a:lstStyle/>
          <a:p>
            <a:pPr>
              <a:lnSpc>
                <a:spcPct val="120000"/>
              </a:lnSpc>
            </a:pPr>
            <a:r>
              <a:rPr lang="en-US" sz="1167" dirty="0">
                <a:solidFill>
                  <a:srgbClr val="E0E2E4">
                    <a:alpha val="70000"/>
                  </a:srgbClr>
                </a:solidFill>
                <a:latin typeface="MiSans" pitchFamily="34" charset="0"/>
                <a:ea typeface="MiSans" pitchFamily="34" charset="-122"/>
                <a:cs typeface="MiSans" pitchFamily="34" charset="-120"/>
              </a:rPr>
              <a:t>集群级的安全策略,限制Pod的创建行为,如特权容器、卷类型等</a:t>
            </a:r>
            <a:endParaRPr lang="en-US" sz="1600" dirty="0"/>
          </a:p>
        </p:txBody>
      </p:sp>
      <p:sp>
        <p:nvSpPr>
          <p:cNvPr id="55" name="Shape 53"/>
          <p:cNvSpPr/>
          <p:nvPr/>
        </p:nvSpPr>
        <p:spPr>
          <a:xfrm>
            <a:off x="428625" y="7661746"/>
            <a:ext cx="5037667" cy="1407583"/>
          </a:xfrm>
          <a:custGeom>
            <a:avLst/>
            <a:gdLst/>
            <a:ahLst/>
            <a:cxnLst/>
            <a:rect l="l" t="t" r="r" b="b"/>
            <a:pathLst>
              <a:path w="5037667" h="1407583">
                <a:moveTo>
                  <a:pt x="84666" y="0"/>
                </a:moveTo>
                <a:lnTo>
                  <a:pt x="4953001" y="0"/>
                </a:lnTo>
                <a:cubicBezTo>
                  <a:pt x="4999760" y="0"/>
                  <a:pt x="5037667" y="37906"/>
                  <a:pt x="5037667" y="84666"/>
                </a:cubicBezTo>
                <a:lnTo>
                  <a:pt x="5037667" y="1322917"/>
                </a:lnTo>
                <a:cubicBezTo>
                  <a:pt x="5037667" y="1369677"/>
                  <a:pt x="4999760" y="1407583"/>
                  <a:pt x="4953001" y="1407583"/>
                </a:cubicBezTo>
                <a:lnTo>
                  <a:pt x="84666" y="1407583"/>
                </a:lnTo>
                <a:cubicBezTo>
                  <a:pt x="37906" y="1407583"/>
                  <a:pt x="0" y="1369677"/>
                  <a:pt x="0" y="1322917"/>
                </a:cubicBezTo>
                <a:lnTo>
                  <a:pt x="0" y="84666"/>
                </a:lnTo>
                <a:cubicBezTo>
                  <a:pt x="0" y="37938"/>
                  <a:pt x="37938" y="0"/>
                  <a:pt x="84666"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56" name="Text 54"/>
          <p:cNvSpPr/>
          <p:nvPr/>
        </p:nvSpPr>
        <p:spPr>
          <a:xfrm>
            <a:off x="560917" y="7794038"/>
            <a:ext cx="4868333" cy="296333"/>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资源配额管理</a:t>
            </a:r>
            <a:endParaRPr lang="en-US" sz="1600" dirty="0"/>
          </a:p>
        </p:txBody>
      </p:sp>
      <p:sp>
        <p:nvSpPr>
          <p:cNvPr id="57" name="Shape 55"/>
          <p:cNvSpPr/>
          <p:nvPr/>
        </p:nvSpPr>
        <p:spPr>
          <a:xfrm>
            <a:off x="619125" y="8217371"/>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58" name="Text 56"/>
          <p:cNvSpPr/>
          <p:nvPr/>
        </p:nvSpPr>
        <p:spPr>
          <a:xfrm>
            <a:off x="830792" y="8175038"/>
            <a:ext cx="3132667"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ResourceQuota:</a:t>
            </a:r>
            <a:r>
              <a:rPr lang="en-US" sz="1167" dirty="0">
                <a:solidFill>
                  <a:srgbClr val="E0E2E4">
                    <a:alpha val="80000"/>
                  </a:srgbClr>
                </a:solidFill>
                <a:latin typeface="MiSans" pitchFamily="34" charset="0"/>
                <a:ea typeface="MiSans" pitchFamily="34" charset="-122"/>
                <a:cs typeface="MiSans" pitchFamily="34" charset="-120"/>
              </a:rPr>
              <a:t> 限制命名空间的总资源使用量</a:t>
            </a:r>
            <a:endParaRPr lang="en-US" sz="1600" dirty="0"/>
          </a:p>
        </p:txBody>
      </p:sp>
      <p:sp>
        <p:nvSpPr>
          <p:cNvPr id="59" name="Shape 57"/>
          <p:cNvSpPr/>
          <p:nvPr/>
        </p:nvSpPr>
        <p:spPr>
          <a:xfrm>
            <a:off x="619125" y="8492538"/>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60" name="Text 58"/>
          <p:cNvSpPr/>
          <p:nvPr/>
        </p:nvSpPr>
        <p:spPr>
          <a:xfrm>
            <a:off x="830792" y="8450204"/>
            <a:ext cx="2846917"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LimitRange:</a:t>
            </a:r>
            <a:r>
              <a:rPr lang="en-US" sz="1167" dirty="0">
                <a:solidFill>
                  <a:srgbClr val="E0E2E4">
                    <a:alpha val="80000"/>
                  </a:srgbClr>
                </a:solidFill>
                <a:latin typeface="MiSans" pitchFamily="34" charset="0"/>
                <a:ea typeface="MiSans" pitchFamily="34" charset="-122"/>
                <a:cs typeface="MiSans" pitchFamily="34" charset="-120"/>
              </a:rPr>
              <a:t> 设置命名空间的默认资源限制</a:t>
            </a:r>
            <a:endParaRPr lang="en-US" sz="1600" dirty="0"/>
          </a:p>
        </p:txBody>
      </p:sp>
      <p:sp>
        <p:nvSpPr>
          <p:cNvPr id="61" name="Shape 59"/>
          <p:cNvSpPr/>
          <p:nvPr/>
        </p:nvSpPr>
        <p:spPr>
          <a:xfrm>
            <a:off x="619125" y="8767704"/>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62" name="Text 60"/>
          <p:cNvSpPr/>
          <p:nvPr/>
        </p:nvSpPr>
        <p:spPr>
          <a:xfrm>
            <a:off x="830792" y="8725371"/>
            <a:ext cx="2783417"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优先级与抢占:</a:t>
            </a:r>
            <a:r>
              <a:rPr lang="en-US" sz="1167" dirty="0">
                <a:solidFill>
                  <a:srgbClr val="E0E2E4">
                    <a:alpha val="80000"/>
                  </a:srgbClr>
                </a:solidFill>
                <a:latin typeface="MiSans" pitchFamily="34" charset="0"/>
                <a:ea typeface="MiSans" pitchFamily="34" charset="-122"/>
                <a:cs typeface="MiSans" pitchFamily="34" charset="-120"/>
              </a:rPr>
              <a:t> 支持Pod优先级和抢占机制</a:t>
            </a:r>
            <a:endParaRPr lang="en-US" sz="1600" dirty="0"/>
          </a:p>
        </p:txBody>
      </p:sp>
      <p:sp>
        <p:nvSpPr>
          <p:cNvPr id="63" name="Shape 61"/>
          <p:cNvSpPr/>
          <p:nvPr/>
        </p:nvSpPr>
        <p:spPr>
          <a:xfrm>
            <a:off x="5607348" y="7661746"/>
            <a:ext cx="5037667" cy="1407583"/>
          </a:xfrm>
          <a:custGeom>
            <a:avLst/>
            <a:gdLst/>
            <a:ahLst/>
            <a:cxnLst/>
            <a:rect l="l" t="t" r="r" b="b"/>
            <a:pathLst>
              <a:path w="5037667" h="1407583">
                <a:moveTo>
                  <a:pt x="84666" y="0"/>
                </a:moveTo>
                <a:lnTo>
                  <a:pt x="4953001" y="0"/>
                </a:lnTo>
                <a:cubicBezTo>
                  <a:pt x="4999760" y="0"/>
                  <a:pt x="5037667" y="37906"/>
                  <a:pt x="5037667" y="84666"/>
                </a:cubicBezTo>
                <a:lnTo>
                  <a:pt x="5037667" y="1322917"/>
                </a:lnTo>
                <a:cubicBezTo>
                  <a:pt x="5037667" y="1369677"/>
                  <a:pt x="4999760" y="1407583"/>
                  <a:pt x="4953001" y="1407583"/>
                </a:cubicBezTo>
                <a:lnTo>
                  <a:pt x="84666" y="1407583"/>
                </a:lnTo>
                <a:cubicBezTo>
                  <a:pt x="37906" y="1407583"/>
                  <a:pt x="0" y="1369677"/>
                  <a:pt x="0" y="1322917"/>
                </a:cubicBezTo>
                <a:lnTo>
                  <a:pt x="0" y="84666"/>
                </a:lnTo>
                <a:cubicBezTo>
                  <a:pt x="0" y="37938"/>
                  <a:pt x="37938" y="0"/>
                  <a:pt x="84666"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64" name="Text 62"/>
          <p:cNvSpPr/>
          <p:nvPr/>
        </p:nvSpPr>
        <p:spPr>
          <a:xfrm>
            <a:off x="5739639" y="7794038"/>
            <a:ext cx="4868333" cy="296333"/>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网络隔离实现</a:t>
            </a:r>
            <a:endParaRPr lang="en-US" sz="1600" dirty="0"/>
          </a:p>
        </p:txBody>
      </p:sp>
      <p:sp>
        <p:nvSpPr>
          <p:cNvPr id="65" name="Shape 63"/>
          <p:cNvSpPr/>
          <p:nvPr/>
        </p:nvSpPr>
        <p:spPr>
          <a:xfrm>
            <a:off x="5797848" y="8217371"/>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3C8082"/>
          </a:solidFill>
          <a:ln/>
        </p:spPr>
        <p:txBody>
          <a:bodyPr/>
          <a:lstStyle/>
          <a:p>
            <a:endParaRPr lang="zh-CN" altLang="en-US"/>
          </a:p>
        </p:txBody>
      </p:sp>
      <p:sp>
        <p:nvSpPr>
          <p:cNvPr id="66" name="Text 64"/>
          <p:cNvSpPr/>
          <p:nvPr/>
        </p:nvSpPr>
        <p:spPr>
          <a:xfrm>
            <a:off x="6009514" y="8175038"/>
            <a:ext cx="2635250"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网络命名空间:</a:t>
            </a:r>
            <a:r>
              <a:rPr lang="en-US" sz="1167" dirty="0">
                <a:solidFill>
                  <a:srgbClr val="E0E2E4">
                    <a:alpha val="80000"/>
                  </a:srgbClr>
                </a:solidFill>
                <a:latin typeface="MiSans" pitchFamily="34" charset="0"/>
                <a:ea typeface="MiSans" pitchFamily="34" charset="-122"/>
                <a:cs typeface="MiSans" pitchFamily="34" charset="-120"/>
              </a:rPr>
              <a:t> 每个Pod拥有独立网络栈</a:t>
            </a:r>
            <a:endParaRPr lang="en-US" sz="1600" dirty="0"/>
          </a:p>
        </p:txBody>
      </p:sp>
      <p:sp>
        <p:nvSpPr>
          <p:cNvPr id="67" name="Shape 65"/>
          <p:cNvSpPr/>
          <p:nvPr/>
        </p:nvSpPr>
        <p:spPr>
          <a:xfrm>
            <a:off x="5797848" y="8492538"/>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3C8082"/>
          </a:solidFill>
          <a:ln/>
        </p:spPr>
        <p:txBody>
          <a:bodyPr/>
          <a:lstStyle/>
          <a:p>
            <a:endParaRPr lang="zh-CN" altLang="en-US"/>
          </a:p>
        </p:txBody>
      </p:sp>
      <p:sp>
        <p:nvSpPr>
          <p:cNvPr id="68" name="Text 66"/>
          <p:cNvSpPr/>
          <p:nvPr/>
        </p:nvSpPr>
        <p:spPr>
          <a:xfrm>
            <a:off x="6009514" y="8450204"/>
            <a:ext cx="3418417"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CNI插件:</a:t>
            </a:r>
            <a:r>
              <a:rPr lang="en-US" sz="1167" dirty="0">
                <a:solidFill>
                  <a:srgbClr val="E0E2E4">
                    <a:alpha val="80000"/>
                  </a:srgbClr>
                </a:solidFill>
                <a:latin typeface="MiSans" pitchFamily="34" charset="0"/>
                <a:ea typeface="MiSans" pitchFamily="34" charset="-122"/>
                <a:cs typeface="MiSans" pitchFamily="34" charset="-120"/>
              </a:rPr>
              <a:t> 支持多种网络插件(Flannel/Calico/Cilium)</a:t>
            </a:r>
            <a:endParaRPr lang="en-US" sz="1600" dirty="0"/>
          </a:p>
        </p:txBody>
      </p:sp>
      <p:sp>
        <p:nvSpPr>
          <p:cNvPr id="69" name="Shape 67"/>
          <p:cNvSpPr/>
          <p:nvPr/>
        </p:nvSpPr>
        <p:spPr>
          <a:xfrm>
            <a:off x="5797848" y="8767704"/>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3C8082"/>
          </a:solidFill>
          <a:ln/>
        </p:spPr>
        <p:txBody>
          <a:bodyPr/>
          <a:lstStyle/>
          <a:p>
            <a:endParaRPr lang="zh-CN" altLang="en-US"/>
          </a:p>
        </p:txBody>
      </p:sp>
      <p:sp>
        <p:nvSpPr>
          <p:cNvPr id="70" name="Text 68"/>
          <p:cNvSpPr/>
          <p:nvPr/>
        </p:nvSpPr>
        <p:spPr>
          <a:xfrm>
            <a:off x="6009514" y="8725371"/>
            <a:ext cx="3238500"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Service Mesh:</a:t>
            </a:r>
            <a:r>
              <a:rPr lang="en-US" sz="1167" dirty="0">
                <a:solidFill>
                  <a:srgbClr val="E0E2E4">
                    <a:alpha val="80000"/>
                  </a:srgbClr>
                </a:solidFill>
                <a:latin typeface="MiSans" pitchFamily="34" charset="0"/>
                <a:ea typeface="MiSans" pitchFamily="34" charset="-122"/>
                <a:cs typeface="MiSans" pitchFamily="34" charset="-120"/>
              </a:rPr>
              <a:t> Istio/Linkerd提供服务间通信安全</a:t>
            </a:r>
            <a:endParaRPr lang="en-US" sz="1600" dirty="0"/>
          </a:p>
        </p:txBody>
      </p:sp>
      <p:sp>
        <p:nvSpPr>
          <p:cNvPr id="71" name="Shape 69"/>
          <p:cNvSpPr/>
          <p:nvPr/>
        </p:nvSpPr>
        <p:spPr>
          <a:xfrm>
            <a:off x="10786153" y="7661746"/>
            <a:ext cx="5037667" cy="1407583"/>
          </a:xfrm>
          <a:custGeom>
            <a:avLst/>
            <a:gdLst/>
            <a:ahLst/>
            <a:cxnLst/>
            <a:rect l="l" t="t" r="r" b="b"/>
            <a:pathLst>
              <a:path w="5037667" h="1407583">
                <a:moveTo>
                  <a:pt x="84666" y="0"/>
                </a:moveTo>
                <a:lnTo>
                  <a:pt x="4953001" y="0"/>
                </a:lnTo>
                <a:cubicBezTo>
                  <a:pt x="4999760" y="0"/>
                  <a:pt x="5037667" y="37906"/>
                  <a:pt x="5037667" y="84666"/>
                </a:cubicBezTo>
                <a:lnTo>
                  <a:pt x="5037667" y="1322917"/>
                </a:lnTo>
                <a:cubicBezTo>
                  <a:pt x="5037667" y="1369677"/>
                  <a:pt x="4999760" y="1407583"/>
                  <a:pt x="4953001" y="1407583"/>
                </a:cubicBezTo>
                <a:lnTo>
                  <a:pt x="84666" y="1407583"/>
                </a:lnTo>
                <a:cubicBezTo>
                  <a:pt x="37906" y="1407583"/>
                  <a:pt x="0" y="1369677"/>
                  <a:pt x="0" y="1322917"/>
                </a:cubicBezTo>
                <a:lnTo>
                  <a:pt x="0" y="84666"/>
                </a:lnTo>
                <a:cubicBezTo>
                  <a:pt x="0" y="37938"/>
                  <a:pt x="37938" y="0"/>
                  <a:pt x="84666"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2" name="Text 70"/>
          <p:cNvSpPr/>
          <p:nvPr/>
        </p:nvSpPr>
        <p:spPr>
          <a:xfrm>
            <a:off x="10918445" y="7794038"/>
            <a:ext cx="4868333" cy="296333"/>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存储隔离体系</a:t>
            </a:r>
            <a:endParaRPr lang="en-US" sz="1600" dirty="0"/>
          </a:p>
        </p:txBody>
      </p:sp>
      <p:sp>
        <p:nvSpPr>
          <p:cNvPr id="73" name="Shape 71"/>
          <p:cNvSpPr/>
          <p:nvPr/>
        </p:nvSpPr>
        <p:spPr>
          <a:xfrm>
            <a:off x="10976653" y="8217371"/>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74" name="Text 72"/>
          <p:cNvSpPr/>
          <p:nvPr/>
        </p:nvSpPr>
        <p:spPr>
          <a:xfrm>
            <a:off x="11188320" y="8175038"/>
            <a:ext cx="2391833"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存储卷(Volume):</a:t>
            </a:r>
            <a:r>
              <a:rPr lang="en-US" sz="1167" dirty="0">
                <a:solidFill>
                  <a:srgbClr val="E0E2E4">
                    <a:alpha val="80000"/>
                  </a:srgbClr>
                </a:solidFill>
                <a:latin typeface="MiSans" pitchFamily="34" charset="0"/>
                <a:ea typeface="MiSans" pitchFamily="34" charset="-122"/>
                <a:cs typeface="MiSans" pitchFamily="34" charset="-120"/>
              </a:rPr>
              <a:t> 支持多种存储类型</a:t>
            </a:r>
            <a:endParaRPr lang="en-US" sz="1600" dirty="0"/>
          </a:p>
        </p:txBody>
      </p:sp>
      <p:sp>
        <p:nvSpPr>
          <p:cNvPr id="75" name="Shape 73"/>
          <p:cNvSpPr/>
          <p:nvPr/>
        </p:nvSpPr>
        <p:spPr>
          <a:xfrm>
            <a:off x="10976653" y="8492538"/>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76" name="Text 74"/>
          <p:cNvSpPr/>
          <p:nvPr/>
        </p:nvSpPr>
        <p:spPr>
          <a:xfrm>
            <a:off x="11188320" y="8450204"/>
            <a:ext cx="2465917"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PV/PVC机制:</a:t>
            </a:r>
            <a:r>
              <a:rPr lang="en-US" sz="1167" dirty="0">
                <a:solidFill>
                  <a:srgbClr val="E0E2E4">
                    <a:alpha val="80000"/>
                  </a:srgbClr>
                </a:solidFill>
                <a:latin typeface="MiSans" pitchFamily="34" charset="0"/>
                <a:ea typeface="MiSans" pitchFamily="34" charset="-122"/>
                <a:cs typeface="MiSans" pitchFamily="34" charset="-120"/>
              </a:rPr>
              <a:t> 持久化卷与声明的绑定</a:t>
            </a:r>
            <a:endParaRPr lang="en-US" sz="1600" dirty="0"/>
          </a:p>
        </p:txBody>
      </p:sp>
      <p:sp>
        <p:nvSpPr>
          <p:cNvPr id="77" name="Shape 75"/>
          <p:cNvSpPr/>
          <p:nvPr/>
        </p:nvSpPr>
        <p:spPr>
          <a:xfrm>
            <a:off x="10976653" y="8767704"/>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78" name="Text 76"/>
          <p:cNvSpPr/>
          <p:nvPr/>
        </p:nvSpPr>
        <p:spPr>
          <a:xfrm>
            <a:off x="11188320" y="8725371"/>
            <a:ext cx="2529417"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StorageClass:</a:t>
            </a:r>
            <a:r>
              <a:rPr lang="en-US" sz="1167" dirty="0">
                <a:solidFill>
                  <a:srgbClr val="E0E2E4">
                    <a:alpha val="80000"/>
                  </a:srgbClr>
                </a:solidFill>
                <a:latin typeface="MiSans" pitchFamily="34" charset="0"/>
                <a:ea typeface="MiSans" pitchFamily="34" charset="-122"/>
                <a:cs typeface="MiSans" pitchFamily="34" charset="-120"/>
              </a:rPr>
              <a:t> 动态供给和存储类管理</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33493" y="476843"/>
            <a:ext cx="346795" cy="346795"/>
          </a:xfrm>
          <a:custGeom>
            <a:avLst/>
            <a:gdLst/>
            <a:ahLst/>
            <a:cxnLst/>
            <a:rect l="l" t="t" r="r" b="b"/>
            <a:pathLst>
              <a:path w="346795" h="346795">
                <a:moveTo>
                  <a:pt x="65024" y="0"/>
                </a:moveTo>
                <a:lnTo>
                  <a:pt x="281771" y="0"/>
                </a:lnTo>
                <a:cubicBezTo>
                  <a:pt x="317682" y="0"/>
                  <a:pt x="346795" y="29112"/>
                  <a:pt x="346795" y="65024"/>
                </a:cubicBezTo>
                <a:lnTo>
                  <a:pt x="346795" y="281771"/>
                </a:lnTo>
                <a:cubicBezTo>
                  <a:pt x="346795" y="317682"/>
                  <a:pt x="317682" y="346795"/>
                  <a:pt x="281771" y="346795"/>
                </a:cubicBezTo>
                <a:lnTo>
                  <a:pt x="65024" y="346795"/>
                </a:lnTo>
                <a:cubicBezTo>
                  <a:pt x="29112" y="346795"/>
                  <a:pt x="0" y="317682"/>
                  <a:pt x="0" y="281771"/>
                </a:cubicBezTo>
                <a:lnTo>
                  <a:pt x="0" y="65024"/>
                </a:lnTo>
                <a:cubicBezTo>
                  <a:pt x="0" y="29112"/>
                  <a:pt x="29112" y="0"/>
                  <a:pt x="65024" y="0"/>
                </a:cubicBezTo>
                <a:close/>
              </a:path>
            </a:pathLst>
          </a:custGeom>
          <a:solidFill>
            <a:srgbClr val="3C8082"/>
          </a:solidFill>
          <a:ln/>
        </p:spPr>
        <p:txBody>
          <a:bodyPr/>
          <a:lstStyle/>
          <a:p>
            <a:endParaRPr lang="zh-CN" altLang="en-US"/>
          </a:p>
        </p:txBody>
      </p:sp>
      <p:sp>
        <p:nvSpPr>
          <p:cNvPr id="3" name="Text 1"/>
          <p:cNvSpPr/>
          <p:nvPr/>
        </p:nvSpPr>
        <p:spPr>
          <a:xfrm>
            <a:off x="390144" y="476843"/>
            <a:ext cx="433493" cy="346795"/>
          </a:xfrm>
          <a:prstGeom prst="rect">
            <a:avLst/>
          </a:prstGeom>
          <a:noFill/>
          <a:ln/>
        </p:spPr>
        <p:txBody>
          <a:bodyPr wrap="square" lIns="0" tIns="0" rIns="0" bIns="0" rtlCol="0" anchor="ctr"/>
          <a:lstStyle/>
          <a:p>
            <a:pPr algn="ctr">
              <a:lnSpc>
                <a:spcPct val="130000"/>
              </a:lnSpc>
            </a:pPr>
            <a:r>
              <a:rPr lang="en-US" sz="1365" b="1" dirty="0">
                <a:solidFill>
                  <a:srgbClr val="FFFFFF"/>
                </a:solidFill>
                <a:latin typeface="Liter" pitchFamily="34" charset="0"/>
                <a:ea typeface="Liter" pitchFamily="34" charset="-122"/>
                <a:cs typeface="Liter" pitchFamily="34" charset="-120"/>
              </a:rPr>
              <a:t>16</a:t>
            </a:r>
            <a:endParaRPr lang="en-US" sz="1600" dirty="0"/>
          </a:p>
        </p:txBody>
      </p:sp>
      <p:sp>
        <p:nvSpPr>
          <p:cNvPr id="4" name="Text 2"/>
          <p:cNvSpPr/>
          <p:nvPr/>
        </p:nvSpPr>
        <p:spPr>
          <a:xfrm>
            <a:off x="910336" y="433493"/>
            <a:ext cx="6502400" cy="433493"/>
          </a:xfrm>
          <a:prstGeom prst="rect">
            <a:avLst/>
          </a:prstGeom>
          <a:noFill/>
          <a:ln/>
        </p:spPr>
        <p:txBody>
          <a:bodyPr wrap="square" lIns="0" tIns="0" rIns="0" bIns="0" rtlCol="0" anchor="ctr"/>
          <a:lstStyle/>
          <a:p>
            <a:pPr>
              <a:lnSpc>
                <a:spcPct val="90000"/>
              </a:lnSpc>
            </a:pPr>
            <a:r>
              <a:rPr lang="en-US" sz="3072" b="1" dirty="0">
                <a:solidFill>
                  <a:srgbClr val="E0E2E4"/>
                </a:solidFill>
                <a:latin typeface="MiSans" pitchFamily="34" charset="0"/>
                <a:ea typeface="MiSans" pitchFamily="34" charset="-122"/>
                <a:cs typeface="MiSans" pitchFamily="34" charset="-120"/>
              </a:rPr>
              <a:t>容器运行时接口(CRI)与多运行时支持</a:t>
            </a:r>
            <a:endParaRPr lang="en-US" sz="1600" dirty="0"/>
          </a:p>
        </p:txBody>
      </p:sp>
      <p:sp>
        <p:nvSpPr>
          <p:cNvPr id="5" name="Text 3"/>
          <p:cNvSpPr/>
          <p:nvPr/>
        </p:nvSpPr>
        <p:spPr>
          <a:xfrm>
            <a:off x="433493" y="953685"/>
            <a:ext cx="15486549" cy="303445"/>
          </a:xfrm>
          <a:prstGeom prst="rect">
            <a:avLst/>
          </a:prstGeom>
          <a:noFill/>
          <a:ln/>
        </p:spPr>
        <p:txBody>
          <a:bodyPr wrap="square" lIns="0" tIns="0" rIns="0" bIns="0" rtlCol="0" anchor="ctr"/>
          <a:lstStyle/>
          <a:p>
            <a:pPr>
              <a:lnSpc>
                <a:spcPct val="130000"/>
              </a:lnSpc>
            </a:pPr>
            <a:r>
              <a:rPr lang="en-US" sz="1536" b="1" dirty="0">
                <a:solidFill>
                  <a:srgbClr val="B38B59"/>
                </a:solidFill>
                <a:latin typeface="MiSans" pitchFamily="34" charset="0"/>
                <a:ea typeface="MiSans" pitchFamily="34" charset="-122"/>
                <a:cs typeface="MiSans" pitchFamily="34" charset="-120"/>
              </a:rPr>
              <a:t>通过CRI实现多种容器运行时的灵活选择与隔离策略</a:t>
            </a:r>
            <a:endParaRPr lang="en-US" sz="1600" dirty="0"/>
          </a:p>
        </p:txBody>
      </p:sp>
      <p:sp>
        <p:nvSpPr>
          <p:cNvPr id="6" name="Shape 4"/>
          <p:cNvSpPr/>
          <p:nvPr/>
        </p:nvSpPr>
        <p:spPr>
          <a:xfrm>
            <a:off x="438912" y="1435947"/>
            <a:ext cx="7596971" cy="5342805"/>
          </a:xfrm>
          <a:custGeom>
            <a:avLst/>
            <a:gdLst/>
            <a:ahLst/>
            <a:cxnLst/>
            <a:rect l="l" t="t" r="r" b="b"/>
            <a:pathLst>
              <a:path w="7596971" h="6448213">
                <a:moveTo>
                  <a:pt x="86728" y="0"/>
                </a:moveTo>
                <a:lnTo>
                  <a:pt x="7510242" y="0"/>
                </a:lnTo>
                <a:cubicBezTo>
                  <a:pt x="7558141" y="0"/>
                  <a:pt x="7596971" y="38830"/>
                  <a:pt x="7596971" y="86728"/>
                </a:cubicBezTo>
                <a:lnTo>
                  <a:pt x="7596971" y="6361485"/>
                </a:lnTo>
                <a:cubicBezTo>
                  <a:pt x="7596971" y="6409384"/>
                  <a:pt x="7558141" y="6448213"/>
                  <a:pt x="7510242" y="6448213"/>
                </a:cubicBezTo>
                <a:lnTo>
                  <a:pt x="86728" y="6448213"/>
                </a:lnTo>
                <a:cubicBezTo>
                  <a:pt x="38830" y="6448213"/>
                  <a:pt x="0" y="6409384"/>
                  <a:pt x="0" y="6361485"/>
                </a:cubicBezTo>
                <a:lnTo>
                  <a:pt x="0" y="86728"/>
                </a:lnTo>
                <a:cubicBezTo>
                  <a:pt x="0" y="38862"/>
                  <a:pt x="38862" y="0"/>
                  <a:pt x="86728"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66496" y="1658112"/>
            <a:ext cx="227584" cy="260096"/>
          </a:xfrm>
          <a:custGeom>
            <a:avLst/>
            <a:gdLst/>
            <a:ahLst/>
            <a:cxnLst/>
            <a:rect l="l" t="t" r="r" b="b"/>
            <a:pathLst>
              <a:path w="227584" h="260096">
                <a:moveTo>
                  <a:pt x="65024" y="-16256"/>
                </a:moveTo>
                <a:cubicBezTo>
                  <a:pt x="74016" y="-16256"/>
                  <a:pt x="81280" y="-8992"/>
                  <a:pt x="81280" y="0"/>
                </a:cubicBezTo>
                <a:lnTo>
                  <a:pt x="81280" y="48768"/>
                </a:lnTo>
                <a:lnTo>
                  <a:pt x="146304" y="48768"/>
                </a:lnTo>
                <a:lnTo>
                  <a:pt x="146304" y="0"/>
                </a:lnTo>
                <a:cubicBezTo>
                  <a:pt x="146304" y="-8992"/>
                  <a:pt x="153568" y="-16256"/>
                  <a:pt x="162560" y="-16256"/>
                </a:cubicBezTo>
                <a:cubicBezTo>
                  <a:pt x="171552" y="-16256"/>
                  <a:pt x="178816" y="-8992"/>
                  <a:pt x="178816" y="0"/>
                </a:cubicBezTo>
                <a:lnTo>
                  <a:pt x="178816" y="48768"/>
                </a:lnTo>
                <a:lnTo>
                  <a:pt x="211328" y="48768"/>
                </a:lnTo>
                <a:cubicBezTo>
                  <a:pt x="220320" y="48768"/>
                  <a:pt x="227584" y="56032"/>
                  <a:pt x="227584" y="65024"/>
                </a:cubicBezTo>
                <a:cubicBezTo>
                  <a:pt x="227584" y="74016"/>
                  <a:pt x="220320" y="81280"/>
                  <a:pt x="211328" y="81280"/>
                </a:cubicBezTo>
                <a:lnTo>
                  <a:pt x="211328" y="113792"/>
                </a:lnTo>
                <a:cubicBezTo>
                  <a:pt x="211328" y="162103"/>
                  <a:pt x="176174" y="202235"/>
                  <a:pt x="130048" y="209956"/>
                </a:cubicBezTo>
                <a:lnTo>
                  <a:pt x="130048" y="243840"/>
                </a:lnTo>
                <a:cubicBezTo>
                  <a:pt x="130048" y="252832"/>
                  <a:pt x="122784" y="260096"/>
                  <a:pt x="113792" y="260096"/>
                </a:cubicBezTo>
                <a:cubicBezTo>
                  <a:pt x="104800" y="260096"/>
                  <a:pt x="97536" y="252832"/>
                  <a:pt x="97536" y="243840"/>
                </a:cubicBezTo>
                <a:lnTo>
                  <a:pt x="97536" y="209956"/>
                </a:lnTo>
                <a:cubicBezTo>
                  <a:pt x="51410" y="202235"/>
                  <a:pt x="16256" y="162103"/>
                  <a:pt x="16256" y="113792"/>
                </a:cubicBezTo>
                <a:lnTo>
                  <a:pt x="16256" y="81280"/>
                </a:lnTo>
                <a:cubicBezTo>
                  <a:pt x="7264" y="81280"/>
                  <a:pt x="0" y="74016"/>
                  <a:pt x="0" y="65024"/>
                </a:cubicBezTo>
                <a:cubicBezTo>
                  <a:pt x="0" y="56032"/>
                  <a:pt x="7264" y="48768"/>
                  <a:pt x="16256" y="48768"/>
                </a:cubicBezTo>
                <a:lnTo>
                  <a:pt x="48768" y="48768"/>
                </a:lnTo>
                <a:lnTo>
                  <a:pt x="48768" y="0"/>
                </a:lnTo>
                <a:cubicBezTo>
                  <a:pt x="48768" y="-8992"/>
                  <a:pt x="56032" y="-16256"/>
                  <a:pt x="65024" y="-16256"/>
                </a:cubicBezTo>
                <a:close/>
              </a:path>
            </a:pathLst>
          </a:custGeom>
          <a:solidFill>
            <a:srgbClr val="B38B59"/>
          </a:solidFill>
          <a:ln/>
        </p:spPr>
        <p:txBody>
          <a:bodyPr/>
          <a:lstStyle/>
          <a:p>
            <a:endParaRPr lang="zh-CN" altLang="en-US"/>
          </a:p>
        </p:txBody>
      </p:sp>
      <p:sp>
        <p:nvSpPr>
          <p:cNvPr id="8" name="Text 6"/>
          <p:cNvSpPr/>
          <p:nvPr/>
        </p:nvSpPr>
        <p:spPr>
          <a:xfrm>
            <a:off x="942848" y="1614763"/>
            <a:ext cx="7044267" cy="346795"/>
          </a:xfrm>
          <a:prstGeom prst="rect">
            <a:avLst/>
          </a:prstGeom>
          <a:noFill/>
          <a:ln/>
        </p:spPr>
        <p:txBody>
          <a:bodyPr wrap="square" lIns="0" tIns="0" rIns="0" bIns="0" rtlCol="0" anchor="ctr"/>
          <a:lstStyle/>
          <a:p>
            <a:pPr>
              <a:lnSpc>
                <a:spcPct val="110000"/>
              </a:lnSpc>
            </a:pPr>
            <a:r>
              <a:rPr lang="en-US" sz="2048" b="1" dirty="0">
                <a:solidFill>
                  <a:srgbClr val="E0E2E4"/>
                </a:solidFill>
                <a:latin typeface="MiSans" pitchFamily="34" charset="0"/>
                <a:ea typeface="MiSans" pitchFamily="34" charset="-122"/>
                <a:cs typeface="MiSans" pitchFamily="34" charset="-120"/>
              </a:rPr>
              <a:t>CRI设计理念</a:t>
            </a:r>
            <a:endParaRPr lang="en-US" sz="1600" dirty="0"/>
          </a:p>
        </p:txBody>
      </p:sp>
      <p:sp>
        <p:nvSpPr>
          <p:cNvPr id="9" name="Shape 7"/>
          <p:cNvSpPr/>
          <p:nvPr/>
        </p:nvSpPr>
        <p:spPr>
          <a:xfrm>
            <a:off x="617728" y="2091605"/>
            <a:ext cx="7239339" cy="823637"/>
          </a:xfrm>
          <a:custGeom>
            <a:avLst/>
            <a:gdLst/>
            <a:ahLst/>
            <a:cxnLst/>
            <a:rect l="l" t="t" r="r" b="b"/>
            <a:pathLst>
              <a:path w="7239339" h="823637">
                <a:moveTo>
                  <a:pt x="86696" y="0"/>
                </a:moveTo>
                <a:lnTo>
                  <a:pt x="7152643" y="0"/>
                </a:lnTo>
                <a:cubicBezTo>
                  <a:pt x="7200524" y="0"/>
                  <a:pt x="7239339" y="38815"/>
                  <a:pt x="7239339" y="86696"/>
                </a:cubicBezTo>
                <a:lnTo>
                  <a:pt x="7239339" y="736941"/>
                </a:lnTo>
                <a:cubicBezTo>
                  <a:pt x="7239339" y="784822"/>
                  <a:pt x="7200524" y="823637"/>
                  <a:pt x="7152643" y="823637"/>
                </a:cubicBezTo>
                <a:lnTo>
                  <a:pt x="86696" y="823637"/>
                </a:lnTo>
                <a:cubicBezTo>
                  <a:pt x="38815" y="823637"/>
                  <a:pt x="0" y="784822"/>
                  <a:pt x="0" y="736941"/>
                </a:cubicBezTo>
                <a:lnTo>
                  <a:pt x="0" y="86696"/>
                </a:lnTo>
                <a:cubicBezTo>
                  <a:pt x="0" y="38847"/>
                  <a:pt x="38847" y="0"/>
                  <a:pt x="86696" y="0"/>
                </a:cubicBezTo>
                <a:close/>
              </a:path>
            </a:pathLst>
          </a:custGeom>
          <a:solidFill>
            <a:srgbClr val="1A1D21">
              <a:alpha val="50196"/>
            </a:srgbClr>
          </a:solidFill>
          <a:ln/>
        </p:spPr>
        <p:txBody>
          <a:bodyPr/>
          <a:lstStyle/>
          <a:p>
            <a:endParaRPr lang="zh-CN" altLang="en-US"/>
          </a:p>
        </p:txBody>
      </p:sp>
      <p:sp>
        <p:nvSpPr>
          <p:cNvPr id="10" name="Text 8"/>
          <p:cNvSpPr/>
          <p:nvPr/>
        </p:nvSpPr>
        <p:spPr>
          <a:xfrm>
            <a:off x="747776" y="2221653"/>
            <a:ext cx="7065941" cy="563541"/>
          </a:xfrm>
          <a:prstGeom prst="rect">
            <a:avLst/>
          </a:prstGeom>
          <a:noFill/>
          <a:ln/>
        </p:spPr>
        <p:txBody>
          <a:bodyPr wrap="square" lIns="0" tIns="0" rIns="0" bIns="0" rtlCol="0" anchor="ctr"/>
          <a:lstStyle/>
          <a:p>
            <a:pPr>
              <a:lnSpc>
                <a:spcPct val="140000"/>
              </a:lnSpc>
            </a:pPr>
            <a:r>
              <a:rPr lang="en-US" sz="1365" dirty="0">
                <a:solidFill>
                  <a:srgbClr val="E0E2E4">
                    <a:alpha val="80000"/>
                  </a:srgbClr>
                </a:solidFill>
                <a:latin typeface="MiSans" pitchFamily="34" charset="0"/>
                <a:ea typeface="MiSans" pitchFamily="34" charset="-122"/>
                <a:cs typeface="MiSans" pitchFamily="34" charset="-120"/>
              </a:rPr>
              <a:t>容器运行时接口(Container Runtime Interface)是Kubernetes定义的</a:t>
            </a:r>
            <a:r>
              <a:rPr lang="en-US" sz="1365" dirty="0">
                <a:solidFill>
                  <a:srgbClr val="B38B59"/>
                </a:solidFill>
                <a:highlight>
                  <a:srgbClr val="3C8082">
                    <a:alpha val="30000"/>
                  </a:srgbClr>
                </a:highlight>
                <a:latin typeface="MiSans" pitchFamily="34" charset="0"/>
                <a:ea typeface="MiSans" pitchFamily="34" charset="-122"/>
                <a:cs typeface="MiSans" pitchFamily="34" charset="-120"/>
              </a:rPr>
              <a:t> 标准API </a:t>
            </a:r>
            <a:r>
              <a:rPr lang="en-US" sz="1365" dirty="0">
                <a:solidFill>
                  <a:srgbClr val="E0E2E4">
                    <a:alpha val="80000"/>
                  </a:srgbClr>
                </a:solidFill>
                <a:latin typeface="MiSans" pitchFamily="34" charset="0"/>
                <a:ea typeface="MiSans" pitchFamily="34" charset="-122"/>
                <a:cs typeface="MiSans" pitchFamily="34" charset="-120"/>
              </a:rPr>
              <a:t>,用于解耦kubelet和容器运行时,支持多种容器引擎的插拔式集成。</a:t>
            </a:r>
            <a:endParaRPr lang="en-US" sz="1600" dirty="0"/>
          </a:p>
        </p:txBody>
      </p:sp>
      <p:sp>
        <p:nvSpPr>
          <p:cNvPr id="11" name="Shape 9"/>
          <p:cNvSpPr/>
          <p:nvPr/>
        </p:nvSpPr>
        <p:spPr>
          <a:xfrm>
            <a:off x="617728" y="3045291"/>
            <a:ext cx="7239339" cy="1387179"/>
          </a:xfrm>
          <a:custGeom>
            <a:avLst/>
            <a:gdLst/>
            <a:ahLst/>
            <a:cxnLst/>
            <a:rect l="l" t="t" r="r" b="b"/>
            <a:pathLst>
              <a:path w="7239339" h="1387179">
                <a:moveTo>
                  <a:pt x="86699" y="0"/>
                </a:moveTo>
                <a:lnTo>
                  <a:pt x="7152640" y="0"/>
                </a:lnTo>
                <a:cubicBezTo>
                  <a:pt x="7200522" y="0"/>
                  <a:pt x="7239339" y="38816"/>
                  <a:pt x="7239339" y="86699"/>
                </a:cubicBezTo>
                <a:lnTo>
                  <a:pt x="7239339" y="1300480"/>
                </a:lnTo>
                <a:cubicBezTo>
                  <a:pt x="7239339" y="1348362"/>
                  <a:pt x="7200522" y="1387179"/>
                  <a:pt x="7152640" y="1387179"/>
                </a:cubicBezTo>
                <a:lnTo>
                  <a:pt x="86699" y="1387179"/>
                </a:lnTo>
                <a:cubicBezTo>
                  <a:pt x="38816" y="1387179"/>
                  <a:pt x="0" y="1348362"/>
                  <a:pt x="0" y="1300480"/>
                </a:cubicBezTo>
                <a:lnTo>
                  <a:pt x="0" y="86699"/>
                </a:lnTo>
                <a:cubicBezTo>
                  <a:pt x="0" y="38848"/>
                  <a:pt x="38848" y="0"/>
                  <a:pt x="86699" y="0"/>
                </a:cubicBezTo>
                <a:close/>
              </a:path>
            </a:pathLst>
          </a:custGeom>
          <a:solidFill>
            <a:srgbClr val="3C8082">
              <a:alpha val="20000"/>
            </a:srgbClr>
          </a:solidFill>
          <a:ln/>
        </p:spPr>
        <p:txBody>
          <a:bodyPr/>
          <a:lstStyle/>
          <a:p>
            <a:endParaRPr lang="zh-CN" altLang="en-US"/>
          </a:p>
        </p:txBody>
      </p:sp>
      <p:sp>
        <p:nvSpPr>
          <p:cNvPr id="12" name="Text 10"/>
          <p:cNvSpPr/>
          <p:nvPr/>
        </p:nvSpPr>
        <p:spPr>
          <a:xfrm>
            <a:off x="747776" y="3175339"/>
            <a:ext cx="7076779" cy="303445"/>
          </a:xfrm>
          <a:prstGeom prst="rect">
            <a:avLst/>
          </a:prstGeom>
          <a:noFill/>
          <a:ln/>
        </p:spPr>
        <p:txBody>
          <a:bodyPr wrap="square" lIns="0" tIns="0" rIns="0" bIns="0" rtlCol="0" anchor="ctr"/>
          <a:lstStyle/>
          <a:p>
            <a:pPr>
              <a:lnSpc>
                <a:spcPct val="130000"/>
              </a:lnSpc>
            </a:pPr>
            <a:r>
              <a:rPr lang="en-US" sz="1536" b="1" dirty="0">
                <a:solidFill>
                  <a:srgbClr val="E0E2E4"/>
                </a:solidFill>
                <a:latin typeface="MiSans" pitchFamily="34" charset="0"/>
                <a:ea typeface="MiSans" pitchFamily="34" charset="-122"/>
                <a:cs typeface="MiSans" pitchFamily="34" charset="-120"/>
              </a:rPr>
              <a:t>核心接口</a:t>
            </a:r>
            <a:endParaRPr lang="en-US" sz="1600" dirty="0"/>
          </a:p>
        </p:txBody>
      </p:sp>
      <p:sp>
        <p:nvSpPr>
          <p:cNvPr id="13" name="Text 11"/>
          <p:cNvSpPr/>
          <p:nvPr/>
        </p:nvSpPr>
        <p:spPr>
          <a:xfrm>
            <a:off x="747776" y="3565483"/>
            <a:ext cx="7055104" cy="216747"/>
          </a:xfrm>
          <a:prstGeom prst="rect">
            <a:avLst/>
          </a:prstGeom>
          <a:noFill/>
          <a:ln/>
        </p:spPr>
        <p:txBody>
          <a:bodyPr wrap="square" lIns="0" tIns="0" rIns="0" bIns="0" rtlCol="0" anchor="ctr"/>
          <a:lstStyle/>
          <a:p>
            <a:pPr>
              <a:lnSpc>
                <a:spcPct val="120000"/>
              </a:lnSpc>
            </a:pPr>
            <a:r>
              <a:rPr lang="en-US" sz="1195" dirty="0">
                <a:solidFill>
                  <a:srgbClr val="E0E2E4">
                    <a:alpha val="80000"/>
                  </a:srgbClr>
                </a:solidFill>
                <a:latin typeface="MiSans" pitchFamily="34" charset="0"/>
                <a:ea typeface="MiSans" pitchFamily="34" charset="-122"/>
                <a:cs typeface="MiSans" pitchFamily="34" charset="-120"/>
              </a:rPr>
              <a:t>• </a:t>
            </a:r>
            <a:r>
              <a:rPr lang="en-US" sz="1195" b="1" dirty="0">
                <a:solidFill>
                  <a:srgbClr val="B38B59"/>
                </a:solidFill>
                <a:latin typeface="MiSans" pitchFamily="34" charset="0"/>
                <a:ea typeface="MiSans" pitchFamily="34" charset="-122"/>
                <a:cs typeface="MiSans" pitchFamily="34" charset="-120"/>
              </a:rPr>
              <a:t>RuntimeService:</a:t>
            </a:r>
            <a:r>
              <a:rPr lang="en-US" sz="1195" dirty="0">
                <a:solidFill>
                  <a:srgbClr val="E0E2E4">
                    <a:alpha val="80000"/>
                  </a:srgbClr>
                </a:solidFill>
                <a:latin typeface="MiSans" pitchFamily="34" charset="0"/>
                <a:ea typeface="MiSans" pitchFamily="34" charset="-122"/>
                <a:cs typeface="MiSans" pitchFamily="34" charset="-120"/>
              </a:rPr>
              <a:t> 容器和Sandbox生命周期管理</a:t>
            </a:r>
            <a:endParaRPr lang="en-US" sz="1600" dirty="0"/>
          </a:p>
        </p:txBody>
      </p:sp>
      <p:sp>
        <p:nvSpPr>
          <p:cNvPr id="14" name="Text 12"/>
          <p:cNvSpPr/>
          <p:nvPr/>
        </p:nvSpPr>
        <p:spPr>
          <a:xfrm>
            <a:off x="747776" y="3825579"/>
            <a:ext cx="7055104" cy="216747"/>
          </a:xfrm>
          <a:prstGeom prst="rect">
            <a:avLst/>
          </a:prstGeom>
          <a:noFill/>
          <a:ln/>
        </p:spPr>
        <p:txBody>
          <a:bodyPr wrap="square" lIns="0" tIns="0" rIns="0" bIns="0" rtlCol="0" anchor="ctr"/>
          <a:lstStyle/>
          <a:p>
            <a:pPr>
              <a:lnSpc>
                <a:spcPct val="120000"/>
              </a:lnSpc>
            </a:pPr>
            <a:r>
              <a:rPr lang="en-US" sz="1195" dirty="0">
                <a:solidFill>
                  <a:srgbClr val="E0E2E4">
                    <a:alpha val="80000"/>
                  </a:srgbClr>
                </a:solidFill>
                <a:latin typeface="MiSans" pitchFamily="34" charset="0"/>
                <a:ea typeface="MiSans" pitchFamily="34" charset="-122"/>
                <a:cs typeface="MiSans" pitchFamily="34" charset="-120"/>
              </a:rPr>
              <a:t>• </a:t>
            </a:r>
            <a:r>
              <a:rPr lang="en-US" sz="1195" b="1" dirty="0">
                <a:solidFill>
                  <a:srgbClr val="B38B59"/>
                </a:solidFill>
                <a:latin typeface="MiSans" pitchFamily="34" charset="0"/>
                <a:ea typeface="MiSans" pitchFamily="34" charset="-122"/>
                <a:cs typeface="MiSans" pitchFamily="34" charset="-120"/>
              </a:rPr>
              <a:t>ImageService:</a:t>
            </a:r>
            <a:r>
              <a:rPr lang="en-US" sz="1195" dirty="0">
                <a:solidFill>
                  <a:srgbClr val="E0E2E4">
                    <a:alpha val="80000"/>
                  </a:srgbClr>
                </a:solidFill>
                <a:latin typeface="MiSans" pitchFamily="34" charset="0"/>
                <a:ea typeface="MiSans" pitchFamily="34" charset="-122"/>
                <a:cs typeface="MiSans" pitchFamily="34" charset="-120"/>
              </a:rPr>
              <a:t> 镜像拉取、查询、删除等操作</a:t>
            </a:r>
            <a:endParaRPr lang="en-US" sz="1600" dirty="0"/>
          </a:p>
        </p:txBody>
      </p:sp>
      <p:sp>
        <p:nvSpPr>
          <p:cNvPr id="15" name="Text 13"/>
          <p:cNvSpPr/>
          <p:nvPr/>
        </p:nvSpPr>
        <p:spPr>
          <a:xfrm>
            <a:off x="747776" y="4085675"/>
            <a:ext cx="7055104" cy="216747"/>
          </a:xfrm>
          <a:prstGeom prst="rect">
            <a:avLst/>
          </a:prstGeom>
          <a:noFill/>
          <a:ln/>
        </p:spPr>
        <p:txBody>
          <a:bodyPr wrap="square" lIns="0" tIns="0" rIns="0" bIns="0" rtlCol="0" anchor="ctr"/>
          <a:lstStyle/>
          <a:p>
            <a:pPr>
              <a:lnSpc>
                <a:spcPct val="120000"/>
              </a:lnSpc>
            </a:pPr>
            <a:r>
              <a:rPr lang="en-US" sz="1195" dirty="0">
                <a:solidFill>
                  <a:srgbClr val="E0E2E4">
                    <a:alpha val="80000"/>
                  </a:srgbClr>
                </a:solidFill>
                <a:latin typeface="MiSans" pitchFamily="34" charset="0"/>
                <a:ea typeface="MiSans" pitchFamily="34" charset="-122"/>
                <a:cs typeface="MiSans" pitchFamily="34" charset="-120"/>
              </a:rPr>
              <a:t>• </a:t>
            </a:r>
            <a:r>
              <a:rPr lang="en-US" sz="1195" b="1" dirty="0">
                <a:solidFill>
                  <a:srgbClr val="B38B59"/>
                </a:solidFill>
                <a:latin typeface="MiSans" pitchFamily="34" charset="0"/>
                <a:ea typeface="MiSans" pitchFamily="34" charset="-122"/>
                <a:cs typeface="MiSans" pitchFamily="34" charset="-120"/>
              </a:rPr>
              <a:t>StreamService:</a:t>
            </a:r>
            <a:r>
              <a:rPr lang="en-US" sz="1195" dirty="0">
                <a:solidFill>
                  <a:srgbClr val="E0E2E4">
                    <a:alpha val="80000"/>
                  </a:srgbClr>
                </a:solidFill>
                <a:latin typeface="MiSans" pitchFamily="34" charset="0"/>
                <a:ea typeface="MiSans" pitchFamily="34" charset="-122"/>
                <a:cs typeface="MiSans" pitchFamily="34" charset="-120"/>
              </a:rPr>
              <a:t> 容器日志和交互式终端</a:t>
            </a:r>
            <a:endParaRPr lang="en-US" sz="1600" dirty="0"/>
          </a:p>
        </p:txBody>
      </p:sp>
      <p:sp>
        <p:nvSpPr>
          <p:cNvPr id="16" name="Shape 14"/>
          <p:cNvSpPr/>
          <p:nvPr/>
        </p:nvSpPr>
        <p:spPr>
          <a:xfrm>
            <a:off x="617728" y="4519168"/>
            <a:ext cx="7239339" cy="1387179"/>
          </a:xfrm>
          <a:custGeom>
            <a:avLst/>
            <a:gdLst/>
            <a:ahLst/>
            <a:cxnLst/>
            <a:rect l="l" t="t" r="r" b="b"/>
            <a:pathLst>
              <a:path w="7239339" h="1387179">
                <a:moveTo>
                  <a:pt x="86699" y="0"/>
                </a:moveTo>
                <a:lnTo>
                  <a:pt x="7152640" y="0"/>
                </a:lnTo>
                <a:cubicBezTo>
                  <a:pt x="7200522" y="0"/>
                  <a:pt x="7239339" y="38816"/>
                  <a:pt x="7239339" y="86699"/>
                </a:cubicBezTo>
                <a:lnTo>
                  <a:pt x="7239339" y="1300480"/>
                </a:lnTo>
                <a:cubicBezTo>
                  <a:pt x="7239339" y="1348362"/>
                  <a:pt x="7200522" y="1387179"/>
                  <a:pt x="7152640" y="1387179"/>
                </a:cubicBezTo>
                <a:lnTo>
                  <a:pt x="86699" y="1387179"/>
                </a:lnTo>
                <a:cubicBezTo>
                  <a:pt x="38816" y="1387179"/>
                  <a:pt x="0" y="1348362"/>
                  <a:pt x="0" y="1300480"/>
                </a:cubicBezTo>
                <a:lnTo>
                  <a:pt x="0" y="86699"/>
                </a:lnTo>
                <a:cubicBezTo>
                  <a:pt x="0" y="38848"/>
                  <a:pt x="38848" y="0"/>
                  <a:pt x="86699" y="0"/>
                </a:cubicBezTo>
                <a:close/>
              </a:path>
            </a:pathLst>
          </a:custGeom>
          <a:solidFill>
            <a:srgbClr val="3C8082">
              <a:alpha val="20000"/>
            </a:srgbClr>
          </a:solidFill>
          <a:ln/>
        </p:spPr>
        <p:txBody>
          <a:bodyPr/>
          <a:lstStyle/>
          <a:p>
            <a:endParaRPr lang="zh-CN" altLang="en-US"/>
          </a:p>
        </p:txBody>
      </p:sp>
      <p:sp>
        <p:nvSpPr>
          <p:cNvPr id="17" name="Text 15"/>
          <p:cNvSpPr/>
          <p:nvPr/>
        </p:nvSpPr>
        <p:spPr>
          <a:xfrm>
            <a:off x="747776" y="4649216"/>
            <a:ext cx="7076779" cy="303445"/>
          </a:xfrm>
          <a:prstGeom prst="rect">
            <a:avLst/>
          </a:prstGeom>
          <a:noFill/>
          <a:ln/>
        </p:spPr>
        <p:txBody>
          <a:bodyPr wrap="square" lIns="0" tIns="0" rIns="0" bIns="0" rtlCol="0" anchor="ctr"/>
          <a:lstStyle/>
          <a:p>
            <a:pPr>
              <a:lnSpc>
                <a:spcPct val="130000"/>
              </a:lnSpc>
            </a:pPr>
            <a:r>
              <a:rPr lang="en-US" sz="1536" b="1" dirty="0">
                <a:solidFill>
                  <a:srgbClr val="E0E2E4"/>
                </a:solidFill>
                <a:latin typeface="MiSans" pitchFamily="34" charset="0"/>
                <a:ea typeface="MiSans" pitchFamily="34" charset="-122"/>
                <a:cs typeface="MiSans" pitchFamily="34" charset="-120"/>
              </a:rPr>
              <a:t>设计优势</a:t>
            </a:r>
            <a:endParaRPr lang="en-US" sz="1600" dirty="0"/>
          </a:p>
        </p:txBody>
      </p:sp>
      <p:sp>
        <p:nvSpPr>
          <p:cNvPr id="18" name="Text 16"/>
          <p:cNvSpPr/>
          <p:nvPr/>
        </p:nvSpPr>
        <p:spPr>
          <a:xfrm>
            <a:off x="747776" y="5039360"/>
            <a:ext cx="7055104" cy="216747"/>
          </a:xfrm>
          <a:prstGeom prst="rect">
            <a:avLst/>
          </a:prstGeom>
          <a:noFill/>
          <a:ln/>
        </p:spPr>
        <p:txBody>
          <a:bodyPr wrap="square" lIns="0" tIns="0" rIns="0" bIns="0" rtlCol="0" anchor="ctr"/>
          <a:lstStyle/>
          <a:p>
            <a:pPr>
              <a:lnSpc>
                <a:spcPct val="120000"/>
              </a:lnSpc>
            </a:pPr>
            <a:r>
              <a:rPr lang="en-US" sz="1195" dirty="0">
                <a:solidFill>
                  <a:srgbClr val="E0E2E4">
                    <a:alpha val="80000"/>
                  </a:srgbClr>
                </a:solidFill>
                <a:latin typeface="MiSans" pitchFamily="34" charset="0"/>
                <a:ea typeface="MiSans" pitchFamily="34" charset="-122"/>
                <a:cs typeface="MiSans" pitchFamily="34" charset="-120"/>
              </a:rPr>
              <a:t>• </a:t>
            </a:r>
            <a:r>
              <a:rPr lang="en-US" sz="1195" b="1" dirty="0">
                <a:solidFill>
                  <a:srgbClr val="B38B59"/>
                </a:solidFill>
                <a:latin typeface="MiSans" pitchFamily="34" charset="0"/>
                <a:ea typeface="MiSans" pitchFamily="34" charset="-122"/>
                <a:cs typeface="MiSans" pitchFamily="34" charset="-120"/>
              </a:rPr>
              <a:t>解耦:</a:t>
            </a:r>
            <a:r>
              <a:rPr lang="en-US" sz="1195" dirty="0">
                <a:solidFill>
                  <a:srgbClr val="E0E2E4">
                    <a:alpha val="80000"/>
                  </a:srgbClr>
                </a:solidFill>
                <a:latin typeface="MiSans" pitchFamily="34" charset="0"/>
                <a:ea typeface="MiSans" pitchFamily="34" charset="-122"/>
                <a:cs typeface="MiSans" pitchFamily="34" charset="-120"/>
              </a:rPr>
              <a:t> kubelet无需硬编码特定运行时实现</a:t>
            </a:r>
            <a:endParaRPr lang="en-US" sz="1600" dirty="0"/>
          </a:p>
        </p:txBody>
      </p:sp>
      <p:sp>
        <p:nvSpPr>
          <p:cNvPr id="19" name="Text 17"/>
          <p:cNvSpPr/>
          <p:nvPr/>
        </p:nvSpPr>
        <p:spPr>
          <a:xfrm>
            <a:off x="747776" y="5299456"/>
            <a:ext cx="7055104" cy="216747"/>
          </a:xfrm>
          <a:prstGeom prst="rect">
            <a:avLst/>
          </a:prstGeom>
          <a:noFill/>
          <a:ln/>
        </p:spPr>
        <p:txBody>
          <a:bodyPr wrap="square" lIns="0" tIns="0" rIns="0" bIns="0" rtlCol="0" anchor="ctr"/>
          <a:lstStyle/>
          <a:p>
            <a:pPr>
              <a:lnSpc>
                <a:spcPct val="120000"/>
              </a:lnSpc>
            </a:pPr>
            <a:r>
              <a:rPr lang="en-US" sz="1195" dirty="0">
                <a:solidFill>
                  <a:srgbClr val="E0E2E4">
                    <a:alpha val="80000"/>
                  </a:srgbClr>
                </a:solidFill>
                <a:latin typeface="MiSans" pitchFamily="34" charset="0"/>
                <a:ea typeface="MiSans" pitchFamily="34" charset="-122"/>
                <a:cs typeface="MiSans" pitchFamily="34" charset="-120"/>
              </a:rPr>
              <a:t>• </a:t>
            </a:r>
            <a:r>
              <a:rPr lang="en-US" sz="1195" b="1" dirty="0">
                <a:solidFill>
                  <a:srgbClr val="B38B59"/>
                </a:solidFill>
                <a:latin typeface="MiSans" pitchFamily="34" charset="0"/>
                <a:ea typeface="MiSans" pitchFamily="34" charset="-122"/>
                <a:cs typeface="MiSans" pitchFamily="34" charset="-120"/>
              </a:rPr>
              <a:t>可扩展:</a:t>
            </a:r>
            <a:r>
              <a:rPr lang="en-US" sz="1195" dirty="0">
                <a:solidFill>
                  <a:srgbClr val="E0E2E4">
                    <a:alpha val="80000"/>
                  </a:srgbClr>
                </a:solidFill>
                <a:latin typeface="MiSans" pitchFamily="34" charset="0"/>
                <a:ea typeface="MiSans" pitchFamily="34" charset="-122"/>
                <a:cs typeface="MiSans" pitchFamily="34" charset="-120"/>
              </a:rPr>
              <a:t> 支持新的容器运行时无缝集成</a:t>
            </a:r>
            <a:endParaRPr lang="en-US" sz="1600" dirty="0"/>
          </a:p>
        </p:txBody>
      </p:sp>
      <p:sp>
        <p:nvSpPr>
          <p:cNvPr id="20" name="Text 18"/>
          <p:cNvSpPr/>
          <p:nvPr/>
        </p:nvSpPr>
        <p:spPr>
          <a:xfrm>
            <a:off x="747776" y="5559552"/>
            <a:ext cx="7055104" cy="216747"/>
          </a:xfrm>
          <a:prstGeom prst="rect">
            <a:avLst/>
          </a:prstGeom>
          <a:noFill/>
          <a:ln/>
        </p:spPr>
        <p:txBody>
          <a:bodyPr wrap="square" lIns="0" tIns="0" rIns="0" bIns="0" rtlCol="0" anchor="ctr"/>
          <a:lstStyle/>
          <a:p>
            <a:pPr>
              <a:lnSpc>
                <a:spcPct val="120000"/>
              </a:lnSpc>
            </a:pPr>
            <a:r>
              <a:rPr lang="en-US" sz="1195" dirty="0">
                <a:solidFill>
                  <a:srgbClr val="E0E2E4">
                    <a:alpha val="80000"/>
                  </a:srgbClr>
                </a:solidFill>
                <a:latin typeface="MiSans" pitchFamily="34" charset="0"/>
                <a:ea typeface="MiSans" pitchFamily="34" charset="-122"/>
                <a:cs typeface="MiSans" pitchFamily="34" charset="-120"/>
              </a:rPr>
              <a:t>• </a:t>
            </a:r>
            <a:r>
              <a:rPr lang="en-US" sz="1195" b="1" dirty="0">
                <a:solidFill>
                  <a:srgbClr val="B38B59"/>
                </a:solidFill>
                <a:latin typeface="MiSans" pitchFamily="34" charset="0"/>
                <a:ea typeface="MiSans" pitchFamily="34" charset="-122"/>
                <a:cs typeface="MiSans" pitchFamily="34" charset="-120"/>
              </a:rPr>
              <a:t>灵活性:</a:t>
            </a:r>
            <a:r>
              <a:rPr lang="en-US" sz="1195" dirty="0">
                <a:solidFill>
                  <a:srgbClr val="E0E2E4">
                    <a:alpha val="80000"/>
                  </a:srgbClr>
                </a:solidFill>
                <a:latin typeface="MiSans" pitchFamily="34" charset="0"/>
                <a:ea typeface="MiSans" pitchFamily="34" charset="-122"/>
                <a:cs typeface="MiSans" pitchFamily="34" charset="-120"/>
              </a:rPr>
              <a:t> 可根据场景选择最适合的运行时</a:t>
            </a:r>
            <a:endParaRPr lang="en-US" sz="1600" dirty="0"/>
          </a:p>
        </p:txBody>
      </p:sp>
      <p:sp>
        <p:nvSpPr>
          <p:cNvPr id="21" name="Shape 19"/>
          <p:cNvSpPr/>
          <p:nvPr/>
        </p:nvSpPr>
        <p:spPr>
          <a:xfrm>
            <a:off x="8222488" y="1435947"/>
            <a:ext cx="7596971" cy="3001941"/>
          </a:xfrm>
          <a:custGeom>
            <a:avLst/>
            <a:gdLst/>
            <a:ahLst/>
            <a:cxnLst/>
            <a:rect l="l" t="t" r="r" b="b"/>
            <a:pathLst>
              <a:path w="7596971" h="3001941">
                <a:moveTo>
                  <a:pt x="86696" y="0"/>
                </a:moveTo>
                <a:lnTo>
                  <a:pt x="7510275" y="0"/>
                </a:lnTo>
                <a:cubicBezTo>
                  <a:pt x="7558156" y="0"/>
                  <a:pt x="7596971" y="38815"/>
                  <a:pt x="7596971" y="86696"/>
                </a:cubicBezTo>
                <a:lnTo>
                  <a:pt x="7596971" y="2915245"/>
                </a:lnTo>
                <a:cubicBezTo>
                  <a:pt x="7596971" y="2963126"/>
                  <a:pt x="7558156" y="3001941"/>
                  <a:pt x="7510275" y="3001941"/>
                </a:cubicBezTo>
                <a:lnTo>
                  <a:pt x="86696" y="3001941"/>
                </a:lnTo>
                <a:cubicBezTo>
                  <a:pt x="38815" y="3001941"/>
                  <a:pt x="0" y="2963126"/>
                  <a:pt x="0" y="2915245"/>
                </a:cubicBezTo>
                <a:lnTo>
                  <a:pt x="0" y="86696"/>
                </a:lnTo>
                <a:cubicBezTo>
                  <a:pt x="0" y="38815"/>
                  <a:pt x="38815" y="0"/>
                  <a:pt x="86696"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2" name="Shape 20"/>
          <p:cNvSpPr/>
          <p:nvPr/>
        </p:nvSpPr>
        <p:spPr>
          <a:xfrm>
            <a:off x="8428397" y="1658112"/>
            <a:ext cx="216747" cy="216747"/>
          </a:xfrm>
          <a:custGeom>
            <a:avLst/>
            <a:gdLst/>
            <a:ahLst/>
            <a:cxnLst/>
            <a:rect l="l" t="t" r="r" b="b"/>
            <a:pathLst>
              <a:path w="216747" h="216747">
                <a:moveTo>
                  <a:pt x="120227" y="-550"/>
                </a:moveTo>
                <a:cubicBezTo>
                  <a:pt x="112903" y="-4784"/>
                  <a:pt x="103844" y="-4784"/>
                  <a:pt x="96520" y="-550"/>
                </a:cubicBezTo>
                <a:lnTo>
                  <a:pt x="60875" y="20024"/>
                </a:lnTo>
                <a:cubicBezTo>
                  <a:pt x="53552" y="24257"/>
                  <a:pt x="49022" y="32089"/>
                  <a:pt x="49022" y="40555"/>
                </a:cubicBezTo>
                <a:lnTo>
                  <a:pt x="49022" y="83693"/>
                </a:lnTo>
                <a:lnTo>
                  <a:pt x="11642" y="105283"/>
                </a:lnTo>
                <a:cubicBezTo>
                  <a:pt x="4318" y="109516"/>
                  <a:pt x="-212" y="117348"/>
                  <a:pt x="-212" y="125815"/>
                </a:cubicBezTo>
                <a:lnTo>
                  <a:pt x="-212" y="167005"/>
                </a:lnTo>
                <a:cubicBezTo>
                  <a:pt x="-212" y="175472"/>
                  <a:pt x="4318" y="183303"/>
                  <a:pt x="11642" y="187537"/>
                </a:cubicBezTo>
                <a:lnTo>
                  <a:pt x="47329" y="208111"/>
                </a:lnTo>
                <a:cubicBezTo>
                  <a:pt x="54652" y="212344"/>
                  <a:pt x="63712" y="212344"/>
                  <a:pt x="71035" y="208111"/>
                </a:cubicBezTo>
                <a:lnTo>
                  <a:pt x="108416" y="186521"/>
                </a:lnTo>
                <a:lnTo>
                  <a:pt x="145796" y="208111"/>
                </a:lnTo>
                <a:cubicBezTo>
                  <a:pt x="153120" y="212344"/>
                  <a:pt x="162179" y="212344"/>
                  <a:pt x="169503" y="208111"/>
                </a:cubicBezTo>
                <a:lnTo>
                  <a:pt x="205105" y="187537"/>
                </a:lnTo>
                <a:cubicBezTo>
                  <a:pt x="212429" y="183303"/>
                  <a:pt x="216958" y="175472"/>
                  <a:pt x="216958" y="167005"/>
                </a:cubicBezTo>
                <a:lnTo>
                  <a:pt x="216958" y="125815"/>
                </a:lnTo>
                <a:cubicBezTo>
                  <a:pt x="216958" y="117348"/>
                  <a:pt x="212429" y="109516"/>
                  <a:pt x="205105" y="105283"/>
                </a:cubicBezTo>
                <a:lnTo>
                  <a:pt x="167725" y="83693"/>
                </a:lnTo>
                <a:lnTo>
                  <a:pt x="167725" y="40555"/>
                </a:lnTo>
                <a:cubicBezTo>
                  <a:pt x="167725" y="32089"/>
                  <a:pt x="163195" y="24257"/>
                  <a:pt x="155871" y="20024"/>
                </a:cubicBezTo>
                <a:lnTo>
                  <a:pt x="120227" y="-550"/>
                </a:lnTo>
                <a:close/>
                <a:moveTo>
                  <a:pt x="98213" y="123867"/>
                </a:moveTo>
                <a:lnTo>
                  <a:pt x="98213" y="168952"/>
                </a:lnTo>
                <a:lnTo>
                  <a:pt x="60833" y="190542"/>
                </a:lnTo>
                <a:cubicBezTo>
                  <a:pt x="60325" y="190839"/>
                  <a:pt x="59732" y="191008"/>
                  <a:pt x="59140" y="191008"/>
                </a:cubicBezTo>
                <a:lnTo>
                  <a:pt x="59140" y="146431"/>
                </a:lnTo>
                <a:lnTo>
                  <a:pt x="98213" y="123867"/>
                </a:lnTo>
                <a:close/>
                <a:moveTo>
                  <a:pt x="196173" y="124121"/>
                </a:moveTo>
                <a:cubicBezTo>
                  <a:pt x="196469" y="124629"/>
                  <a:pt x="196638" y="125222"/>
                  <a:pt x="196638" y="125815"/>
                </a:cubicBezTo>
                <a:lnTo>
                  <a:pt x="196638" y="167005"/>
                </a:lnTo>
                <a:cubicBezTo>
                  <a:pt x="196638" y="168233"/>
                  <a:pt x="196003" y="169333"/>
                  <a:pt x="194945" y="169926"/>
                </a:cubicBezTo>
                <a:lnTo>
                  <a:pt x="159258" y="190500"/>
                </a:lnTo>
                <a:cubicBezTo>
                  <a:pt x="158750" y="190796"/>
                  <a:pt x="158157" y="190966"/>
                  <a:pt x="157565" y="190966"/>
                </a:cubicBezTo>
                <a:lnTo>
                  <a:pt x="157565" y="146389"/>
                </a:lnTo>
                <a:lnTo>
                  <a:pt x="196173" y="124121"/>
                </a:lnTo>
                <a:close/>
                <a:moveTo>
                  <a:pt x="147447" y="40555"/>
                </a:moveTo>
                <a:lnTo>
                  <a:pt x="147447" y="83693"/>
                </a:lnTo>
                <a:lnTo>
                  <a:pt x="108373" y="106257"/>
                </a:lnTo>
                <a:lnTo>
                  <a:pt x="108373" y="61172"/>
                </a:lnTo>
                <a:lnTo>
                  <a:pt x="146981" y="38904"/>
                </a:lnTo>
                <a:cubicBezTo>
                  <a:pt x="147278" y="39412"/>
                  <a:pt x="147447" y="40005"/>
                  <a:pt x="147447" y="40598"/>
                </a:cubicBezTo>
                <a:close/>
              </a:path>
            </a:pathLst>
          </a:custGeom>
          <a:solidFill>
            <a:srgbClr val="3C8082"/>
          </a:solidFill>
          <a:ln/>
        </p:spPr>
        <p:txBody>
          <a:bodyPr/>
          <a:lstStyle/>
          <a:p>
            <a:endParaRPr lang="zh-CN" altLang="en-US"/>
          </a:p>
        </p:txBody>
      </p:sp>
      <p:sp>
        <p:nvSpPr>
          <p:cNvPr id="23" name="Text 21"/>
          <p:cNvSpPr/>
          <p:nvPr/>
        </p:nvSpPr>
        <p:spPr>
          <a:xfrm>
            <a:off x="8672237" y="1614763"/>
            <a:ext cx="7076779" cy="303445"/>
          </a:xfrm>
          <a:prstGeom prst="rect">
            <a:avLst/>
          </a:prstGeom>
          <a:noFill/>
          <a:ln/>
        </p:spPr>
        <p:txBody>
          <a:bodyPr wrap="square" lIns="0" tIns="0" rIns="0" bIns="0" rtlCol="0" anchor="ctr"/>
          <a:lstStyle/>
          <a:p>
            <a:pPr>
              <a:lnSpc>
                <a:spcPct val="120000"/>
              </a:lnSpc>
            </a:pPr>
            <a:r>
              <a:rPr lang="en-US" sz="1707" b="1" dirty="0">
                <a:solidFill>
                  <a:srgbClr val="E0E2E4"/>
                </a:solidFill>
                <a:latin typeface="MiSans" pitchFamily="34" charset="0"/>
                <a:ea typeface="MiSans" pitchFamily="34" charset="-122"/>
                <a:cs typeface="MiSans" pitchFamily="34" charset="-120"/>
              </a:rPr>
              <a:t>主流运行时实现</a:t>
            </a:r>
            <a:endParaRPr lang="en-US" sz="1600" dirty="0"/>
          </a:p>
        </p:txBody>
      </p:sp>
      <p:sp>
        <p:nvSpPr>
          <p:cNvPr id="24" name="Shape 22"/>
          <p:cNvSpPr/>
          <p:nvPr/>
        </p:nvSpPr>
        <p:spPr>
          <a:xfrm>
            <a:off x="8401304" y="2004907"/>
            <a:ext cx="7239339" cy="693589"/>
          </a:xfrm>
          <a:custGeom>
            <a:avLst/>
            <a:gdLst/>
            <a:ahLst/>
            <a:cxnLst/>
            <a:rect l="l" t="t" r="r" b="b"/>
            <a:pathLst>
              <a:path w="7239339" h="693589">
                <a:moveTo>
                  <a:pt x="86699" y="0"/>
                </a:moveTo>
                <a:lnTo>
                  <a:pt x="7152640" y="0"/>
                </a:lnTo>
                <a:cubicBezTo>
                  <a:pt x="7200522" y="0"/>
                  <a:pt x="7239339" y="38816"/>
                  <a:pt x="7239339" y="86699"/>
                </a:cubicBezTo>
                <a:lnTo>
                  <a:pt x="7239339" y="606891"/>
                </a:lnTo>
                <a:cubicBezTo>
                  <a:pt x="7239339" y="654773"/>
                  <a:pt x="7200522" y="693589"/>
                  <a:pt x="7152640" y="693589"/>
                </a:cubicBezTo>
                <a:lnTo>
                  <a:pt x="86699" y="693589"/>
                </a:lnTo>
                <a:cubicBezTo>
                  <a:pt x="38816" y="693589"/>
                  <a:pt x="0" y="654773"/>
                  <a:pt x="0" y="606891"/>
                </a:cubicBezTo>
                <a:lnTo>
                  <a:pt x="0" y="86699"/>
                </a:lnTo>
                <a:cubicBezTo>
                  <a:pt x="0" y="38848"/>
                  <a:pt x="38848" y="0"/>
                  <a:pt x="86699" y="0"/>
                </a:cubicBezTo>
                <a:close/>
              </a:path>
            </a:pathLst>
          </a:custGeom>
          <a:solidFill>
            <a:srgbClr val="1A1D21">
              <a:alpha val="50196"/>
            </a:srgbClr>
          </a:solidFill>
          <a:ln/>
        </p:spPr>
        <p:txBody>
          <a:bodyPr/>
          <a:lstStyle/>
          <a:p>
            <a:endParaRPr lang="zh-CN" altLang="en-US"/>
          </a:p>
        </p:txBody>
      </p:sp>
      <p:sp>
        <p:nvSpPr>
          <p:cNvPr id="25" name="Text 23"/>
          <p:cNvSpPr/>
          <p:nvPr/>
        </p:nvSpPr>
        <p:spPr>
          <a:xfrm>
            <a:off x="8488003" y="2091605"/>
            <a:ext cx="650240" cy="260096"/>
          </a:xfrm>
          <a:prstGeom prst="rect">
            <a:avLst/>
          </a:prstGeom>
          <a:noFill/>
          <a:ln/>
        </p:spPr>
        <p:txBody>
          <a:bodyPr wrap="square" lIns="0" tIns="0" rIns="0" bIns="0" rtlCol="0" anchor="ctr"/>
          <a:lstStyle/>
          <a:p>
            <a:pPr>
              <a:lnSpc>
                <a:spcPct val="130000"/>
              </a:lnSpc>
            </a:pPr>
            <a:r>
              <a:rPr lang="en-US" sz="1365" b="1" dirty="0">
                <a:solidFill>
                  <a:srgbClr val="E0E2E4"/>
                </a:solidFill>
                <a:latin typeface="MiSans" pitchFamily="34" charset="0"/>
                <a:ea typeface="MiSans" pitchFamily="34" charset="-122"/>
                <a:cs typeface="MiSans" pitchFamily="34" charset="-120"/>
              </a:rPr>
              <a:t>Docker</a:t>
            </a:r>
            <a:endParaRPr lang="en-US" sz="1600" dirty="0"/>
          </a:p>
        </p:txBody>
      </p:sp>
      <p:sp>
        <p:nvSpPr>
          <p:cNvPr id="26" name="Shape 24"/>
          <p:cNvSpPr/>
          <p:nvPr/>
        </p:nvSpPr>
        <p:spPr>
          <a:xfrm>
            <a:off x="14732677" y="2113280"/>
            <a:ext cx="823637" cy="216747"/>
          </a:xfrm>
          <a:custGeom>
            <a:avLst/>
            <a:gdLst/>
            <a:ahLst/>
            <a:cxnLst/>
            <a:rect l="l" t="t" r="r" b="b"/>
            <a:pathLst>
              <a:path w="823637" h="216747">
                <a:moveTo>
                  <a:pt x="43349" y="0"/>
                </a:moveTo>
                <a:lnTo>
                  <a:pt x="780288" y="0"/>
                </a:lnTo>
                <a:cubicBezTo>
                  <a:pt x="804229" y="0"/>
                  <a:pt x="823637" y="19408"/>
                  <a:pt x="823637" y="43349"/>
                </a:cubicBezTo>
                <a:lnTo>
                  <a:pt x="823637" y="173397"/>
                </a:lnTo>
                <a:cubicBezTo>
                  <a:pt x="823637" y="197339"/>
                  <a:pt x="804229" y="216747"/>
                  <a:pt x="780288" y="216747"/>
                </a:cubicBezTo>
                <a:lnTo>
                  <a:pt x="43349" y="216747"/>
                </a:lnTo>
                <a:cubicBezTo>
                  <a:pt x="19408" y="216747"/>
                  <a:pt x="0" y="197339"/>
                  <a:pt x="0" y="173397"/>
                </a:cubicBezTo>
                <a:lnTo>
                  <a:pt x="0" y="43349"/>
                </a:lnTo>
                <a:cubicBezTo>
                  <a:pt x="0" y="19408"/>
                  <a:pt x="19408" y="0"/>
                  <a:pt x="43349" y="0"/>
                </a:cubicBezTo>
                <a:close/>
              </a:path>
            </a:pathLst>
          </a:custGeom>
          <a:solidFill>
            <a:srgbClr val="3C8082">
              <a:alpha val="30196"/>
            </a:srgbClr>
          </a:solidFill>
          <a:ln/>
        </p:spPr>
        <p:txBody>
          <a:bodyPr/>
          <a:lstStyle/>
          <a:p>
            <a:endParaRPr lang="zh-CN" altLang="en-US"/>
          </a:p>
        </p:txBody>
      </p:sp>
      <p:sp>
        <p:nvSpPr>
          <p:cNvPr id="27" name="Text 25"/>
          <p:cNvSpPr/>
          <p:nvPr/>
        </p:nvSpPr>
        <p:spPr>
          <a:xfrm>
            <a:off x="14732677" y="2113280"/>
            <a:ext cx="888661" cy="216747"/>
          </a:xfrm>
          <a:prstGeom prst="rect">
            <a:avLst/>
          </a:prstGeom>
          <a:noFill/>
          <a:ln/>
        </p:spPr>
        <p:txBody>
          <a:bodyPr wrap="square" lIns="86699" tIns="21675" rIns="86699" bIns="21675" rtlCol="0" anchor="ctr"/>
          <a:lstStyle/>
          <a:p>
            <a:pPr>
              <a:lnSpc>
                <a:spcPct val="110000"/>
              </a:lnSpc>
            </a:pPr>
            <a:r>
              <a:rPr lang="en-US" sz="1024" dirty="0">
                <a:solidFill>
                  <a:srgbClr val="E0E2E4"/>
                </a:solidFill>
                <a:latin typeface="MiSans" pitchFamily="34" charset="0"/>
                <a:ea typeface="MiSans" pitchFamily="34" charset="-122"/>
                <a:cs typeface="MiSans" pitchFamily="34" charset="-120"/>
              </a:rPr>
              <a:t>传统运行时</a:t>
            </a:r>
            <a:endParaRPr lang="en-US" sz="1600" dirty="0"/>
          </a:p>
        </p:txBody>
      </p:sp>
      <p:sp>
        <p:nvSpPr>
          <p:cNvPr id="28" name="Text 26"/>
          <p:cNvSpPr/>
          <p:nvPr/>
        </p:nvSpPr>
        <p:spPr>
          <a:xfrm>
            <a:off x="8488003" y="2395051"/>
            <a:ext cx="7141803" cy="216747"/>
          </a:xfrm>
          <a:prstGeom prst="rect">
            <a:avLst/>
          </a:prstGeom>
          <a:noFill/>
          <a:ln/>
        </p:spPr>
        <p:txBody>
          <a:bodyPr wrap="square" lIns="0" tIns="0" rIns="0" bIns="0" rtlCol="0" anchor="ctr"/>
          <a:lstStyle/>
          <a:p>
            <a:pPr>
              <a:lnSpc>
                <a:spcPct val="120000"/>
              </a:lnSpc>
            </a:pPr>
            <a:r>
              <a:rPr lang="en-US" sz="1195" dirty="0">
                <a:solidFill>
                  <a:srgbClr val="E0E2E4">
                    <a:alpha val="70000"/>
                  </a:srgbClr>
                </a:solidFill>
                <a:latin typeface="MiSans" pitchFamily="34" charset="0"/>
                <a:ea typeface="MiSans" pitchFamily="34" charset="-122"/>
                <a:cs typeface="MiSans" pitchFamily="34" charset="-120"/>
              </a:rPr>
              <a:t>通过dockershim适配CRI,支持完整的Docker功能,生态成熟但资源开销相对较大</a:t>
            </a:r>
            <a:endParaRPr lang="en-US" sz="1600" dirty="0"/>
          </a:p>
        </p:txBody>
      </p:sp>
      <p:sp>
        <p:nvSpPr>
          <p:cNvPr id="29" name="Shape 27"/>
          <p:cNvSpPr/>
          <p:nvPr/>
        </p:nvSpPr>
        <p:spPr>
          <a:xfrm>
            <a:off x="8401304" y="2785195"/>
            <a:ext cx="7239339" cy="693589"/>
          </a:xfrm>
          <a:custGeom>
            <a:avLst/>
            <a:gdLst/>
            <a:ahLst/>
            <a:cxnLst/>
            <a:rect l="l" t="t" r="r" b="b"/>
            <a:pathLst>
              <a:path w="7239339" h="693589">
                <a:moveTo>
                  <a:pt x="86699" y="0"/>
                </a:moveTo>
                <a:lnTo>
                  <a:pt x="7152640" y="0"/>
                </a:lnTo>
                <a:cubicBezTo>
                  <a:pt x="7200522" y="0"/>
                  <a:pt x="7239339" y="38816"/>
                  <a:pt x="7239339" y="86699"/>
                </a:cubicBezTo>
                <a:lnTo>
                  <a:pt x="7239339" y="606891"/>
                </a:lnTo>
                <a:cubicBezTo>
                  <a:pt x="7239339" y="654773"/>
                  <a:pt x="7200522" y="693589"/>
                  <a:pt x="7152640" y="693589"/>
                </a:cubicBezTo>
                <a:lnTo>
                  <a:pt x="86699" y="693589"/>
                </a:lnTo>
                <a:cubicBezTo>
                  <a:pt x="38816" y="693589"/>
                  <a:pt x="0" y="654773"/>
                  <a:pt x="0" y="606891"/>
                </a:cubicBezTo>
                <a:lnTo>
                  <a:pt x="0" y="86699"/>
                </a:lnTo>
                <a:cubicBezTo>
                  <a:pt x="0" y="38848"/>
                  <a:pt x="38848" y="0"/>
                  <a:pt x="86699" y="0"/>
                </a:cubicBezTo>
                <a:close/>
              </a:path>
            </a:pathLst>
          </a:custGeom>
          <a:solidFill>
            <a:srgbClr val="1A1D21">
              <a:alpha val="50196"/>
            </a:srgbClr>
          </a:solidFill>
          <a:ln/>
        </p:spPr>
        <p:txBody>
          <a:bodyPr/>
          <a:lstStyle/>
          <a:p>
            <a:endParaRPr lang="zh-CN" altLang="en-US"/>
          </a:p>
        </p:txBody>
      </p:sp>
      <p:sp>
        <p:nvSpPr>
          <p:cNvPr id="30" name="Text 28"/>
          <p:cNvSpPr/>
          <p:nvPr/>
        </p:nvSpPr>
        <p:spPr>
          <a:xfrm>
            <a:off x="8488003" y="2871893"/>
            <a:ext cx="942848" cy="260096"/>
          </a:xfrm>
          <a:prstGeom prst="rect">
            <a:avLst/>
          </a:prstGeom>
          <a:noFill/>
          <a:ln/>
        </p:spPr>
        <p:txBody>
          <a:bodyPr wrap="square" lIns="0" tIns="0" rIns="0" bIns="0" rtlCol="0" anchor="ctr"/>
          <a:lstStyle/>
          <a:p>
            <a:pPr>
              <a:lnSpc>
                <a:spcPct val="130000"/>
              </a:lnSpc>
            </a:pPr>
            <a:r>
              <a:rPr lang="en-US" sz="1365" b="1" dirty="0">
                <a:solidFill>
                  <a:srgbClr val="E0E2E4"/>
                </a:solidFill>
                <a:latin typeface="MiSans" pitchFamily="34" charset="0"/>
                <a:ea typeface="MiSans" pitchFamily="34" charset="-122"/>
                <a:cs typeface="MiSans" pitchFamily="34" charset="-120"/>
              </a:rPr>
              <a:t>containerd</a:t>
            </a:r>
            <a:endParaRPr lang="en-US" sz="1600" dirty="0"/>
          </a:p>
        </p:txBody>
      </p:sp>
      <p:sp>
        <p:nvSpPr>
          <p:cNvPr id="31" name="Shape 29"/>
          <p:cNvSpPr/>
          <p:nvPr/>
        </p:nvSpPr>
        <p:spPr>
          <a:xfrm>
            <a:off x="14732677" y="2893568"/>
            <a:ext cx="823637" cy="216747"/>
          </a:xfrm>
          <a:custGeom>
            <a:avLst/>
            <a:gdLst/>
            <a:ahLst/>
            <a:cxnLst/>
            <a:rect l="l" t="t" r="r" b="b"/>
            <a:pathLst>
              <a:path w="823637" h="216747">
                <a:moveTo>
                  <a:pt x="43349" y="0"/>
                </a:moveTo>
                <a:lnTo>
                  <a:pt x="780288" y="0"/>
                </a:lnTo>
                <a:cubicBezTo>
                  <a:pt x="804229" y="0"/>
                  <a:pt x="823637" y="19408"/>
                  <a:pt x="823637" y="43349"/>
                </a:cubicBezTo>
                <a:lnTo>
                  <a:pt x="823637" y="173397"/>
                </a:lnTo>
                <a:cubicBezTo>
                  <a:pt x="823637" y="197339"/>
                  <a:pt x="804229" y="216747"/>
                  <a:pt x="780288" y="216747"/>
                </a:cubicBezTo>
                <a:lnTo>
                  <a:pt x="43349" y="216747"/>
                </a:lnTo>
                <a:cubicBezTo>
                  <a:pt x="19408" y="216747"/>
                  <a:pt x="0" y="197339"/>
                  <a:pt x="0" y="173397"/>
                </a:cubicBezTo>
                <a:lnTo>
                  <a:pt x="0" y="43349"/>
                </a:lnTo>
                <a:cubicBezTo>
                  <a:pt x="0" y="19408"/>
                  <a:pt x="19408" y="0"/>
                  <a:pt x="43349" y="0"/>
                </a:cubicBezTo>
                <a:close/>
              </a:path>
            </a:pathLst>
          </a:custGeom>
          <a:solidFill>
            <a:srgbClr val="B38B59">
              <a:alpha val="30196"/>
            </a:srgbClr>
          </a:solidFill>
          <a:ln/>
        </p:spPr>
        <p:txBody>
          <a:bodyPr/>
          <a:lstStyle/>
          <a:p>
            <a:endParaRPr lang="zh-CN" altLang="en-US"/>
          </a:p>
        </p:txBody>
      </p:sp>
      <p:sp>
        <p:nvSpPr>
          <p:cNvPr id="32" name="Text 30"/>
          <p:cNvSpPr/>
          <p:nvPr/>
        </p:nvSpPr>
        <p:spPr>
          <a:xfrm>
            <a:off x="14732677" y="2893568"/>
            <a:ext cx="888661" cy="216747"/>
          </a:xfrm>
          <a:prstGeom prst="rect">
            <a:avLst/>
          </a:prstGeom>
          <a:noFill/>
          <a:ln/>
        </p:spPr>
        <p:txBody>
          <a:bodyPr wrap="square" lIns="86699" tIns="21675" rIns="86699" bIns="21675" rtlCol="0" anchor="ctr"/>
          <a:lstStyle/>
          <a:p>
            <a:pPr>
              <a:lnSpc>
                <a:spcPct val="110000"/>
              </a:lnSpc>
            </a:pPr>
            <a:r>
              <a:rPr lang="en-US" sz="1024" dirty="0">
                <a:solidFill>
                  <a:srgbClr val="E0E2E4"/>
                </a:solidFill>
                <a:latin typeface="MiSans" pitchFamily="34" charset="0"/>
                <a:ea typeface="MiSans" pitchFamily="34" charset="-122"/>
                <a:cs typeface="MiSans" pitchFamily="34" charset="-120"/>
              </a:rPr>
              <a:t>推荐运行时</a:t>
            </a:r>
            <a:endParaRPr lang="en-US" sz="1600" dirty="0"/>
          </a:p>
        </p:txBody>
      </p:sp>
      <p:sp>
        <p:nvSpPr>
          <p:cNvPr id="33" name="Text 31"/>
          <p:cNvSpPr/>
          <p:nvPr/>
        </p:nvSpPr>
        <p:spPr>
          <a:xfrm>
            <a:off x="8488003" y="3175339"/>
            <a:ext cx="7141803" cy="216747"/>
          </a:xfrm>
          <a:prstGeom prst="rect">
            <a:avLst/>
          </a:prstGeom>
          <a:noFill/>
          <a:ln/>
        </p:spPr>
        <p:txBody>
          <a:bodyPr wrap="square" lIns="0" tIns="0" rIns="0" bIns="0" rtlCol="0" anchor="ctr"/>
          <a:lstStyle/>
          <a:p>
            <a:pPr>
              <a:lnSpc>
                <a:spcPct val="120000"/>
              </a:lnSpc>
            </a:pPr>
            <a:r>
              <a:rPr lang="en-US" sz="1195" dirty="0">
                <a:solidFill>
                  <a:srgbClr val="E0E2E4">
                    <a:alpha val="70000"/>
                  </a:srgbClr>
                </a:solidFill>
                <a:latin typeface="MiSans" pitchFamily="34" charset="0"/>
                <a:ea typeface="MiSans" pitchFamily="34" charset="-122"/>
                <a:cs typeface="MiSans" pitchFamily="34" charset="-120"/>
              </a:rPr>
              <a:t>CNCF毕业项目,轻量级,性能优异,支持完整的容器生命周期管理,是Kubernetes的默认选择</a:t>
            </a:r>
            <a:endParaRPr lang="en-US" sz="1600" dirty="0"/>
          </a:p>
        </p:txBody>
      </p:sp>
      <p:sp>
        <p:nvSpPr>
          <p:cNvPr id="34" name="Shape 32"/>
          <p:cNvSpPr/>
          <p:nvPr/>
        </p:nvSpPr>
        <p:spPr>
          <a:xfrm>
            <a:off x="8401304" y="3565483"/>
            <a:ext cx="7239339" cy="693589"/>
          </a:xfrm>
          <a:custGeom>
            <a:avLst/>
            <a:gdLst/>
            <a:ahLst/>
            <a:cxnLst/>
            <a:rect l="l" t="t" r="r" b="b"/>
            <a:pathLst>
              <a:path w="7239339" h="693589">
                <a:moveTo>
                  <a:pt x="86699" y="0"/>
                </a:moveTo>
                <a:lnTo>
                  <a:pt x="7152640" y="0"/>
                </a:lnTo>
                <a:cubicBezTo>
                  <a:pt x="7200522" y="0"/>
                  <a:pt x="7239339" y="38816"/>
                  <a:pt x="7239339" y="86699"/>
                </a:cubicBezTo>
                <a:lnTo>
                  <a:pt x="7239339" y="606891"/>
                </a:lnTo>
                <a:cubicBezTo>
                  <a:pt x="7239339" y="654773"/>
                  <a:pt x="7200522" y="693589"/>
                  <a:pt x="7152640" y="693589"/>
                </a:cubicBezTo>
                <a:lnTo>
                  <a:pt x="86699" y="693589"/>
                </a:lnTo>
                <a:cubicBezTo>
                  <a:pt x="38816" y="693589"/>
                  <a:pt x="0" y="654773"/>
                  <a:pt x="0" y="606891"/>
                </a:cubicBezTo>
                <a:lnTo>
                  <a:pt x="0" y="86699"/>
                </a:lnTo>
                <a:cubicBezTo>
                  <a:pt x="0" y="38848"/>
                  <a:pt x="38848" y="0"/>
                  <a:pt x="86699" y="0"/>
                </a:cubicBezTo>
                <a:close/>
              </a:path>
            </a:pathLst>
          </a:custGeom>
          <a:solidFill>
            <a:srgbClr val="1A1D21">
              <a:alpha val="50196"/>
            </a:srgbClr>
          </a:solidFill>
          <a:ln/>
        </p:spPr>
        <p:txBody>
          <a:bodyPr/>
          <a:lstStyle/>
          <a:p>
            <a:endParaRPr lang="zh-CN" altLang="en-US"/>
          </a:p>
        </p:txBody>
      </p:sp>
      <p:sp>
        <p:nvSpPr>
          <p:cNvPr id="35" name="Text 33"/>
          <p:cNvSpPr/>
          <p:nvPr/>
        </p:nvSpPr>
        <p:spPr>
          <a:xfrm>
            <a:off x="8488003" y="3652181"/>
            <a:ext cx="574379" cy="260096"/>
          </a:xfrm>
          <a:prstGeom prst="rect">
            <a:avLst/>
          </a:prstGeom>
          <a:noFill/>
          <a:ln/>
        </p:spPr>
        <p:txBody>
          <a:bodyPr wrap="square" lIns="0" tIns="0" rIns="0" bIns="0" rtlCol="0" anchor="ctr"/>
          <a:lstStyle/>
          <a:p>
            <a:pPr>
              <a:lnSpc>
                <a:spcPct val="130000"/>
              </a:lnSpc>
            </a:pPr>
            <a:r>
              <a:rPr lang="en-US" sz="1365" b="1" dirty="0">
                <a:solidFill>
                  <a:srgbClr val="E0E2E4"/>
                </a:solidFill>
                <a:latin typeface="MiSans" pitchFamily="34" charset="0"/>
                <a:ea typeface="MiSans" pitchFamily="34" charset="-122"/>
                <a:cs typeface="MiSans" pitchFamily="34" charset="-120"/>
              </a:rPr>
              <a:t>CRI-O</a:t>
            </a:r>
            <a:endParaRPr lang="en-US" sz="1600" dirty="0"/>
          </a:p>
        </p:txBody>
      </p:sp>
      <p:sp>
        <p:nvSpPr>
          <p:cNvPr id="36" name="Shape 34"/>
          <p:cNvSpPr/>
          <p:nvPr/>
        </p:nvSpPr>
        <p:spPr>
          <a:xfrm>
            <a:off x="14602629" y="3673856"/>
            <a:ext cx="953685" cy="216747"/>
          </a:xfrm>
          <a:custGeom>
            <a:avLst/>
            <a:gdLst/>
            <a:ahLst/>
            <a:cxnLst/>
            <a:rect l="l" t="t" r="r" b="b"/>
            <a:pathLst>
              <a:path w="953685" h="216747">
                <a:moveTo>
                  <a:pt x="43349" y="0"/>
                </a:moveTo>
                <a:lnTo>
                  <a:pt x="910336" y="0"/>
                </a:lnTo>
                <a:cubicBezTo>
                  <a:pt x="934277" y="0"/>
                  <a:pt x="953685" y="19408"/>
                  <a:pt x="953685" y="43349"/>
                </a:cubicBezTo>
                <a:lnTo>
                  <a:pt x="953685" y="173397"/>
                </a:lnTo>
                <a:cubicBezTo>
                  <a:pt x="953685" y="197339"/>
                  <a:pt x="934277" y="216747"/>
                  <a:pt x="910336" y="216747"/>
                </a:cubicBezTo>
                <a:lnTo>
                  <a:pt x="43349" y="216747"/>
                </a:lnTo>
                <a:cubicBezTo>
                  <a:pt x="19408" y="216747"/>
                  <a:pt x="0" y="197339"/>
                  <a:pt x="0" y="173397"/>
                </a:cubicBezTo>
                <a:lnTo>
                  <a:pt x="0" y="43349"/>
                </a:lnTo>
                <a:cubicBezTo>
                  <a:pt x="0" y="19408"/>
                  <a:pt x="19408" y="0"/>
                  <a:pt x="43349" y="0"/>
                </a:cubicBezTo>
                <a:close/>
              </a:path>
            </a:pathLst>
          </a:custGeom>
          <a:solidFill>
            <a:srgbClr val="3C8082">
              <a:alpha val="30196"/>
            </a:srgbClr>
          </a:solidFill>
          <a:ln/>
        </p:spPr>
        <p:txBody>
          <a:bodyPr/>
          <a:lstStyle/>
          <a:p>
            <a:endParaRPr lang="zh-CN" altLang="en-US"/>
          </a:p>
        </p:txBody>
      </p:sp>
      <p:sp>
        <p:nvSpPr>
          <p:cNvPr id="37" name="Text 35"/>
          <p:cNvSpPr/>
          <p:nvPr/>
        </p:nvSpPr>
        <p:spPr>
          <a:xfrm>
            <a:off x="14602629" y="3673856"/>
            <a:ext cx="1018709" cy="216747"/>
          </a:xfrm>
          <a:prstGeom prst="rect">
            <a:avLst/>
          </a:prstGeom>
          <a:noFill/>
          <a:ln/>
        </p:spPr>
        <p:txBody>
          <a:bodyPr wrap="square" lIns="86699" tIns="21675" rIns="86699" bIns="21675" rtlCol="0" anchor="ctr"/>
          <a:lstStyle/>
          <a:p>
            <a:pPr>
              <a:lnSpc>
                <a:spcPct val="110000"/>
              </a:lnSpc>
            </a:pPr>
            <a:r>
              <a:rPr lang="en-US" sz="1024" dirty="0">
                <a:solidFill>
                  <a:srgbClr val="E0E2E4"/>
                </a:solidFill>
                <a:latin typeface="MiSans" pitchFamily="34" charset="0"/>
                <a:ea typeface="MiSans" pitchFamily="34" charset="-122"/>
                <a:cs typeface="MiSans" pitchFamily="34" charset="-120"/>
              </a:rPr>
              <a:t>云原生运行时</a:t>
            </a:r>
            <a:endParaRPr lang="en-US" sz="1600" dirty="0"/>
          </a:p>
        </p:txBody>
      </p:sp>
      <p:sp>
        <p:nvSpPr>
          <p:cNvPr id="38" name="Text 36"/>
          <p:cNvSpPr/>
          <p:nvPr/>
        </p:nvSpPr>
        <p:spPr>
          <a:xfrm>
            <a:off x="8488003" y="3955627"/>
            <a:ext cx="7141803" cy="216747"/>
          </a:xfrm>
          <a:prstGeom prst="rect">
            <a:avLst/>
          </a:prstGeom>
          <a:noFill/>
          <a:ln/>
        </p:spPr>
        <p:txBody>
          <a:bodyPr wrap="square" lIns="0" tIns="0" rIns="0" bIns="0" rtlCol="0" anchor="ctr"/>
          <a:lstStyle/>
          <a:p>
            <a:pPr>
              <a:lnSpc>
                <a:spcPct val="120000"/>
              </a:lnSpc>
            </a:pPr>
            <a:r>
              <a:rPr lang="en-US" sz="1195" dirty="0">
                <a:solidFill>
                  <a:srgbClr val="E0E2E4">
                    <a:alpha val="70000"/>
                  </a:srgbClr>
                </a:solidFill>
                <a:latin typeface="MiSans" pitchFamily="34" charset="0"/>
                <a:ea typeface="MiSans" pitchFamily="34" charset="-122"/>
                <a:cs typeface="MiSans" pitchFamily="34" charset="-120"/>
              </a:rPr>
              <a:t>专为Kubernetes设计,轻量级,专注于OCI兼容的容器运行时,与Kubernetes深度集成</a:t>
            </a:r>
            <a:endParaRPr lang="en-US" sz="1600" dirty="0"/>
          </a:p>
        </p:txBody>
      </p:sp>
      <p:sp>
        <p:nvSpPr>
          <p:cNvPr id="39" name="Shape 37"/>
          <p:cNvSpPr/>
          <p:nvPr/>
        </p:nvSpPr>
        <p:spPr>
          <a:xfrm>
            <a:off x="8222488" y="4578773"/>
            <a:ext cx="7596971" cy="2199979"/>
          </a:xfrm>
          <a:custGeom>
            <a:avLst/>
            <a:gdLst/>
            <a:ahLst/>
            <a:cxnLst/>
            <a:rect l="l" t="t" r="r" b="b"/>
            <a:pathLst>
              <a:path w="7596971" h="2199979">
                <a:moveTo>
                  <a:pt x="86701" y="0"/>
                </a:moveTo>
                <a:lnTo>
                  <a:pt x="7510270" y="0"/>
                </a:lnTo>
                <a:cubicBezTo>
                  <a:pt x="7558153" y="0"/>
                  <a:pt x="7596971" y="38817"/>
                  <a:pt x="7596971" y="86701"/>
                </a:cubicBezTo>
                <a:lnTo>
                  <a:pt x="7596971" y="2113278"/>
                </a:lnTo>
                <a:cubicBezTo>
                  <a:pt x="7596971" y="2161161"/>
                  <a:pt x="7558153" y="2199979"/>
                  <a:pt x="7510270" y="2199979"/>
                </a:cubicBezTo>
                <a:lnTo>
                  <a:pt x="86701" y="2199979"/>
                </a:lnTo>
                <a:cubicBezTo>
                  <a:pt x="38817" y="2199979"/>
                  <a:pt x="0" y="2161161"/>
                  <a:pt x="0" y="2113278"/>
                </a:cubicBezTo>
                <a:lnTo>
                  <a:pt x="0" y="86701"/>
                </a:lnTo>
                <a:cubicBezTo>
                  <a:pt x="0" y="38849"/>
                  <a:pt x="38849" y="0"/>
                  <a:pt x="86701"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40" name="Shape 38"/>
          <p:cNvSpPr/>
          <p:nvPr/>
        </p:nvSpPr>
        <p:spPr>
          <a:xfrm>
            <a:off x="8428397" y="4800939"/>
            <a:ext cx="216747" cy="216747"/>
          </a:xfrm>
          <a:custGeom>
            <a:avLst/>
            <a:gdLst/>
            <a:ahLst/>
            <a:cxnLst/>
            <a:rect l="l" t="t" r="r" b="b"/>
            <a:pathLst>
              <a:path w="216747" h="216747">
                <a:moveTo>
                  <a:pt x="108373" y="0"/>
                </a:moveTo>
                <a:cubicBezTo>
                  <a:pt x="110321" y="0"/>
                  <a:pt x="112268" y="423"/>
                  <a:pt x="114046" y="1228"/>
                </a:cubicBezTo>
                <a:lnTo>
                  <a:pt x="193802" y="35052"/>
                </a:lnTo>
                <a:cubicBezTo>
                  <a:pt x="203115" y="38989"/>
                  <a:pt x="210058" y="48175"/>
                  <a:pt x="210016" y="59267"/>
                </a:cubicBezTo>
                <a:cubicBezTo>
                  <a:pt x="209804" y="101261"/>
                  <a:pt x="192532" y="178096"/>
                  <a:pt x="119592" y="213021"/>
                </a:cubicBezTo>
                <a:cubicBezTo>
                  <a:pt x="112522" y="216408"/>
                  <a:pt x="104309" y="216408"/>
                  <a:pt x="97240" y="213021"/>
                </a:cubicBezTo>
                <a:cubicBezTo>
                  <a:pt x="24257" y="178096"/>
                  <a:pt x="7027" y="101261"/>
                  <a:pt x="6816" y="59267"/>
                </a:cubicBezTo>
                <a:cubicBezTo>
                  <a:pt x="6773" y="48175"/>
                  <a:pt x="13716" y="38989"/>
                  <a:pt x="23029" y="35052"/>
                </a:cubicBezTo>
                <a:lnTo>
                  <a:pt x="102743" y="1228"/>
                </a:lnTo>
                <a:cubicBezTo>
                  <a:pt x="104521" y="423"/>
                  <a:pt x="106426" y="0"/>
                  <a:pt x="108373" y="0"/>
                </a:cubicBezTo>
                <a:close/>
                <a:moveTo>
                  <a:pt x="108373" y="28279"/>
                </a:moveTo>
                <a:lnTo>
                  <a:pt x="108373" y="188341"/>
                </a:lnTo>
                <a:cubicBezTo>
                  <a:pt x="166793" y="160062"/>
                  <a:pt x="182499" y="97409"/>
                  <a:pt x="182880" y="59902"/>
                </a:cubicBezTo>
                <a:lnTo>
                  <a:pt x="108373" y="28321"/>
                </a:lnTo>
                <a:lnTo>
                  <a:pt x="108373" y="28321"/>
                </a:lnTo>
                <a:close/>
              </a:path>
            </a:pathLst>
          </a:custGeom>
          <a:solidFill>
            <a:srgbClr val="B38B59"/>
          </a:solidFill>
          <a:ln/>
        </p:spPr>
        <p:txBody>
          <a:bodyPr/>
          <a:lstStyle/>
          <a:p>
            <a:endParaRPr lang="zh-CN" altLang="en-US"/>
          </a:p>
        </p:txBody>
      </p:sp>
      <p:sp>
        <p:nvSpPr>
          <p:cNvPr id="41" name="Text 39"/>
          <p:cNvSpPr/>
          <p:nvPr/>
        </p:nvSpPr>
        <p:spPr>
          <a:xfrm>
            <a:off x="8672237" y="4757589"/>
            <a:ext cx="7076779" cy="303445"/>
          </a:xfrm>
          <a:prstGeom prst="rect">
            <a:avLst/>
          </a:prstGeom>
          <a:noFill/>
          <a:ln/>
        </p:spPr>
        <p:txBody>
          <a:bodyPr wrap="square" lIns="0" tIns="0" rIns="0" bIns="0" rtlCol="0" anchor="ctr"/>
          <a:lstStyle/>
          <a:p>
            <a:pPr>
              <a:lnSpc>
                <a:spcPct val="120000"/>
              </a:lnSpc>
            </a:pPr>
            <a:r>
              <a:rPr lang="en-US" sz="1707" b="1" dirty="0">
                <a:solidFill>
                  <a:srgbClr val="E0E2E4"/>
                </a:solidFill>
                <a:latin typeface="MiSans" pitchFamily="34" charset="0"/>
                <a:ea typeface="MiSans" pitchFamily="34" charset="-122"/>
                <a:cs typeface="MiSans" pitchFamily="34" charset="-120"/>
              </a:rPr>
              <a:t>运行时分类与隔离策略</a:t>
            </a:r>
            <a:endParaRPr lang="en-US" sz="1600" dirty="0"/>
          </a:p>
        </p:txBody>
      </p:sp>
      <p:sp>
        <p:nvSpPr>
          <p:cNvPr id="42" name="Shape 40"/>
          <p:cNvSpPr/>
          <p:nvPr/>
        </p:nvSpPr>
        <p:spPr>
          <a:xfrm>
            <a:off x="8401304" y="5147733"/>
            <a:ext cx="7239339" cy="693589"/>
          </a:xfrm>
          <a:custGeom>
            <a:avLst/>
            <a:gdLst/>
            <a:ahLst/>
            <a:cxnLst/>
            <a:rect l="l" t="t" r="r" b="b"/>
            <a:pathLst>
              <a:path w="7239339" h="693589">
                <a:moveTo>
                  <a:pt x="86699" y="0"/>
                </a:moveTo>
                <a:lnTo>
                  <a:pt x="7152640" y="0"/>
                </a:lnTo>
                <a:cubicBezTo>
                  <a:pt x="7200522" y="0"/>
                  <a:pt x="7239339" y="38816"/>
                  <a:pt x="7239339" y="86699"/>
                </a:cubicBezTo>
                <a:lnTo>
                  <a:pt x="7239339" y="606891"/>
                </a:lnTo>
                <a:cubicBezTo>
                  <a:pt x="7239339" y="654773"/>
                  <a:pt x="7200522" y="693589"/>
                  <a:pt x="7152640" y="693589"/>
                </a:cubicBezTo>
                <a:lnTo>
                  <a:pt x="86699" y="693589"/>
                </a:lnTo>
                <a:cubicBezTo>
                  <a:pt x="38816" y="693589"/>
                  <a:pt x="0" y="654773"/>
                  <a:pt x="0" y="606891"/>
                </a:cubicBezTo>
                <a:lnTo>
                  <a:pt x="0" y="86699"/>
                </a:lnTo>
                <a:cubicBezTo>
                  <a:pt x="0" y="38848"/>
                  <a:pt x="38848" y="0"/>
                  <a:pt x="86699" y="0"/>
                </a:cubicBezTo>
                <a:close/>
              </a:path>
            </a:pathLst>
          </a:custGeom>
          <a:solidFill>
            <a:srgbClr val="1A1D21">
              <a:alpha val="50196"/>
            </a:srgbClr>
          </a:solidFill>
          <a:ln/>
        </p:spPr>
        <p:txBody>
          <a:bodyPr/>
          <a:lstStyle/>
          <a:p>
            <a:endParaRPr lang="zh-CN" altLang="en-US"/>
          </a:p>
        </p:txBody>
      </p:sp>
      <p:sp>
        <p:nvSpPr>
          <p:cNvPr id="43" name="Text 41"/>
          <p:cNvSpPr/>
          <p:nvPr/>
        </p:nvSpPr>
        <p:spPr>
          <a:xfrm>
            <a:off x="8488003" y="5234432"/>
            <a:ext cx="7152640" cy="260096"/>
          </a:xfrm>
          <a:prstGeom prst="rect">
            <a:avLst/>
          </a:prstGeom>
          <a:noFill/>
          <a:ln/>
        </p:spPr>
        <p:txBody>
          <a:bodyPr wrap="square" lIns="0" tIns="0" rIns="0" bIns="0" rtlCol="0" anchor="ctr"/>
          <a:lstStyle/>
          <a:p>
            <a:pPr>
              <a:lnSpc>
                <a:spcPct val="130000"/>
              </a:lnSpc>
            </a:pPr>
            <a:r>
              <a:rPr lang="en-US" sz="1365" b="1" dirty="0">
                <a:solidFill>
                  <a:srgbClr val="E0E2E4"/>
                </a:solidFill>
                <a:latin typeface="MiSans" pitchFamily="34" charset="0"/>
                <a:ea typeface="MiSans" pitchFamily="34" charset="-122"/>
                <a:cs typeface="MiSans" pitchFamily="34" charset="-120"/>
              </a:rPr>
              <a:t>default运行时</a:t>
            </a:r>
            <a:endParaRPr lang="en-US" sz="1600" dirty="0"/>
          </a:p>
        </p:txBody>
      </p:sp>
      <p:sp>
        <p:nvSpPr>
          <p:cNvPr id="44" name="Text 42"/>
          <p:cNvSpPr/>
          <p:nvPr/>
        </p:nvSpPr>
        <p:spPr>
          <a:xfrm>
            <a:off x="8488003" y="5537877"/>
            <a:ext cx="7141803" cy="216747"/>
          </a:xfrm>
          <a:prstGeom prst="rect">
            <a:avLst/>
          </a:prstGeom>
          <a:noFill/>
          <a:ln/>
        </p:spPr>
        <p:txBody>
          <a:bodyPr wrap="square" lIns="0" tIns="0" rIns="0" bIns="0" rtlCol="0" anchor="ctr"/>
          <a:lstStyle/>
          <a:p>
            <a:pPr>
              <a:lnSpc>
                <a:spcPct val="120000"/>
              </a:lnSpc>
            </a:pPr>
            <a:r>
              <a:rPr lang="en-US" sz="1195" dirty="0">
                <a:solidFill>
                  <a:srgbClr val="E0E2E4">
                    <a:alpha val="70000"/>
                  </a:srgbClr>
                </a:solidFill>
                <a:latin typeface="MiSans" pitchFamily="34" charset="0"/>
                <a:ea typeface="MiSans" pitchFamily="34" charset="-122"/>
                <a:cs typeface="MiSans" pitchFamily="34" charset="-120"/>
              </a:rPr>
              <a:t>默认运行时,适用于大多数工作负载,提供标准的容器隔离能力</a:t>
            </a:r>
            <a:endParaRPr lang="en-US" sz="1600" dirty="0"/>
          </a:p>
        </p:txBody>
      </p:sp>
      <p:sp>
        <p:nvSpPr>
          <p:cNvPr id="45" name="Shape 43"/>
          <p:cNvSpPr/>
          <p:nvPr/>
        </p:nvSpPr>
        <p:spPr>
          <a:xfrm>
            <a:off x="8401304" y="5906347"/>
            <a:ext cx="7239339" cy="693589"/>
          </a:xfrm>
          <a:custGeom>
            <a:avLst/>
            <a:gdLst/>
            <a:ahLst/>
            <a:cxnLst/>
            <a:rect l="l" t="t" r="r" b="b"/>
            <a:pathLst>
              <a:path w="7239339" h="693589">
                <a:moveTo>
                  <a:pt x="86699" y="0"/>
                </a:moveTo>
                <a:lnTo>
                  <a:pt x="7152640" y="0"/>
                </a:lnTo>
                <a:cubicBezTo>
                  <a:pt x="7200522" y="0"/>
                  <a:pt x="7239339" y="38816"/>
                  <a:pt x="7239339" y="86699"/>
                </a:cubicBezTo>
                <a:lnTo>
                  <a:pt x="7239339" y="606891"/>
                </a:lnTo>
                <a:cubicBezTo>
                  <a:pt x="7239339" y="654773"/>
                  <a:pt x="7200522" y="693589"/>
                  <a:pt x="7152640" y="693589"/>
                </a:cubicBezTo>
                <a:lnTo>
                  <a:pt x="86699" y="693589"/>
                </a:lnTo>
                <a:cubicBezTo>
                  <a:pt x="38816" y="693589"/>
                  <a:pt x="0" y="654773"/>
                  <a:pt x="0" y="606891"/>
                </a:cubicBezTo>
                <a:lnTo>
                  <a:pt x="0" y="86699"/>
                </a:lnTo>
                <a:cubicBezTo>
                  <a:pt x="0" y="38848"/>
                  <a:pt x="38848" y="0"/>
                  <a:pt x="86699" y="0"/>
                </a:cubicBezTo>
                <a:close/>
              </a:path>
            </a:pathLst>
          </a:custGeom>
          <a:solidFill>
            <a:srgbClr val="1A1D21">
              <a:alpha val="50196"/>
            </a:srgbClr>
          </a:solidFill>
          <a:ln/>
        </p:spPr>
        <p:txBody>
          <a:bodyPr/>
          <a:lstStyle/>
          <a:p>
            <a:endParaRPr lang="zh-CN" altLang="en-US"/>
          </a:p>
        </p:txBody>
      </p:sp>
      <p:sp>
        <p:nvSpPr>
          <p:cNvPr id="46" name="Text 44"/>
          <p:cNvSpPr/>
          <p:nvPr/>
        </p:nvSpPr>
        <p:spPr>
          <a:xfrm>
            <a:off x="8488003" y="5993045"/>
            <a:ext cx="7152640" cy="260096"/>
          </a:xfrm>
          <a:prstGeom prst="rect">
            <a:avLst/>
          </a:prstGeom>
          <a:noFill/>
          <a:ln/>
        </p:spPr>
        <p:txBody>
          <a:bodyPr wrap="square" lIns="0" tIns="0" rIns="0" bIns="0" rtlCol="0" anchor="ctr"/>
          <a:lstStyle/>
          <a:p>
            <a:pPr>
              <a:lnSpc>
                <a:spcPct val="130000"/>
              </a:lnSpc>
            </a:pPr>
            <a:r>
              <a:rPr lang="en-US" sz="1365" b="1" dirty="0">
                <a:solidFill>
                  <a:srgbClr val="E0E2E4"/>
                </a:solidFill>
                <a:latin typeface="MiSans" pitchFamily="34" charset="0"/>
                <a:ea typeface="MiSans" pitchFamily="34" charset="-122"/>
                <a:cs typeface="MiSans" pitchFamily="34" charset="-120"/>
              </a:rPr>
              <a:t>RuntimeClass</a:t>
            </a:r>
            <a:endParaRPr lang="en-US" sz="1600" dirty="0"/>
          </a:p>
        </p:txBody>
      </p:sp>
      <p:sp>
        <p:nvSpPr>
          <p:cNvPr id="47" name="Text 45"/>
          <p:cNvSpPr/>
          <p:nvPr/>
        </p:nvSpPr>
        <p:spPr>
          <a:xfrm>
            <a:off x="8488003" y="6296491"/>
            <a:ext cx="7141803" cy="216747"/>
          </a:xfrm>
          <a:prstGeom prst="rect">
            <a:avLst/>
          </a:prstGeom>
          <a:noFill/>
          <a:ln/>
        </p:spPr>
        <p:txBody>
          <a:bodyPr wrap="square" lIns="0" tIns="0" rIns="0" bIns="0" rtlCol="0" anchor="ctr"/>
          <a:lstStyle/>
          <a:p>
            <a:pPr>
              <a:lnSpc>
                <a:spcPct val="120000"/>
              </a:lnSpc>
            </a:pPr>
            <a:r>
              <a:rPr lang="en-US" sz="1195" dirty="0">
                <a:solidFill>
                  <a:srgbClr val="E0E2E4">
                    <a:alpha val="70000"/>
                  </a:srgbClr>
                </a:solidFill>
                <a:latin typeface="MiSans" pitchFamily="34" charset="0"/>
                <a:ea typeface="MiSans" pitchFamily="34" charset="-122"/>
                <a:cs typeface="MiSans" pitchFamily="34" charset="-120"/>
              </a:rPr>
              <a:t>支持不同Pod选择不同运行时,如gVisor、gVisor、Kata Containers等安全容器</a:t>
            </a:r>
            <a:endParaRPr lang="en-US" sz="1600" dirty="0"/>
          </a:p>
        </p:txBody>
      </p:sp>
      <p:sp>
        <p:nvSpPr>
          <p:cNvPr id="48" name="Shape 46"/>
          <p:cNvSpPr/>
          <p:nvPr/>
        </p:nvSpPr>
        <p:spPr>
          <a:xfrm>
            <a:off x="438912" y="6966747"/>
            <a:ext cx="5028523" cy="2004907"/>
          </a:xfrm>
          <a:custGeom>
            <a:avLst/>
            <a:gdLst/>
            <a:ahLst/>
            <a:cxnLst/>
            <a:rect l="l" t="t" r="r" b="b"/>
            <a:pathLst>
              <a:path w="5028523" h="2004907">
                <a:moveTo>
                  <a:pt x="86692" y="0"/>
                </a:moveTo>
                <a:lnTo>
                  <a:pt x="4941831" y="0"/>
                </a:lnTo>
                <a:cubicBezTo>
                  <a:pt x="4989709" y="0"/>
                  <a:pt x="5028523" y="38813"/>
                  <a:pt x="5028523" y="86692"/>
                </a:cubicBezTo>
                <a:lnTo>
                  <a:pt x="5028523" y="1918215"/>
                </a:lnTo>
                <a:cubicBezTo>
                  <a:pt x="5028523" y="1966093"/>
                  <a:pt x="4989709" y="2004907"/>
                  <a:pt x="4941831" y="2004907"/>
                </a:cubicBezTo>
                <a:lnTo>
                  <a:pt x="86692" y="2004907"/>
                </a:lnTo>
                <a:cubicBezTo>
                  <a:pt x="38813" y="2004907"/>
                  <a:pt x="0" y="1966093"/>
                  <a:pt x="0" y="1918215"/>
                </a:cubicBezTo>
                <a:lnTo>
                  <a:pt x="0" y="86692"/>
                </a:lnTo>
                <a:cubicBezTo>
                  <a:pt x="0" y="38813"/>
                  <a:pt x="38813" y="0"/>
                  <a:pt x="86692"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49" name="Text 47"/>
          <p:cNvSpPr/>
          <p:nvPr/>
        </p:nvSpPr>
        <p:spPr>
          <a:xfrm>
            <a:off x="574379" y="7102214"/>
            <a:ext cx="4855125" cy="303445"/>
          </a:xfrm>
          <a:prstGeom prst="rect">
            <a:avLst/>
          </a:prstGeom>
          <a:noFill/>
          <a:ln/>
        </p:spPr>
        <p:txBody>
          <a:bodyPr wrap="square" lIns="0" tIns="0" rIns="0" bIns="0" rtlCol="0" anchor="ctr"/>
          <a:lstStyle/>
          <a:p>
            <a:pPr>
              <a:lnSpc>
                <a:spcPct val="130000"/>
              </a:lnSpc>
            </a:pPr>
            <a:r>
              <a:rPr lang="en-US" sz="1536" b="1" dirty="0">
                <a:solidFill>
                  <a:srgbClr val="E0E2E4"/>
                </a:solidFill>
                <a:latin typeface="MiSans" pitchFamily="34" charset="0"/>
                <a:ea typeface="MiSans" pitchFamily="34" charset="-122"/>
                <a:cs typeface="MiSans" pitchFamily="34" charset="-120"/>
              </a:rPr>
              <a:t>运行时对比</a:t>
            </a:r>
            <a:endParaRPr lang="en-US" sz="1600" dirty="0"/>
          </a:p>
        </p:txBody>
      </p:sp>
      <p:graphicFrame>
        <p:nvGraphicFramePr>
          <p:cNvPr id="50" name="Table 0"/>
          <p:cNvGraphicFramePr>
            <a:graphicFrameLocks noGrp="1"/>
          </p:cNvGraphicFramePr>
          <p:nvPr>
            <p:extLst>
              <p:ext uri="{D42A27DB-BD31-4B8C-83A1-F6EECF244321}">
                <p14:modId xmlns:p14="http://schemas.microsoft.com/office/powerpoint/2010/main" val="556031228"/>
              </p:ext>
            </p:extLst>
          </p:nvPr>
        </p:nvGraphicFramePr>
        <p:xfrm>
          <a:off x="574379" y="7492358"/>
          <a:ext cx="4757589" cy="1343830"/>
        </p:xfrm>
        <a:graphic>
          <a:graphicData uri="http://schemas.openxmlformats.org/drawingml/2006/table">
            <a:tbl>
              <a:tblPr/>
              <a:tblGrid>
                <a:gridCol w="1809835">
                  <a:extLst>
                    <a:ext uri="{9D8B030D-6E8A-4147-A177-3AD203B41FA5}">
                      <a16:colId xmlns:a16="http://schemas.microsoft.com/office/drawing/2014/main" val="20000"/>
                    </a:ext>
                  </a:extLst>
                </a:gridCol>
                <a:gridCol w="1473877">
                  <a:extLst>
                    <a:ext uri="{9D8B030D-6E8A-4147-A177-3AD203B41FA5}">
                      <a16:colId xmlns:a16="http://schemas.microsoft.com/office/drawing/2014/main" val="20001"/>
                    </a:ext>
                  </a:extLst>
                </a:gridCol>
                <a:gridCol w="1473877">
                  <a:extLst>
                    <a:ext uri="{9D8B030D-6E8A-4147-A177-3AD203B41FA5}">
                      <a16:colId xmlns:a16="http://schemas.microsoft.com/office/drawing/2014/main" val="20002"/>
                    </a:ext>
                  </a:extLst>
                </a:gridCol>
              </a:tblGrid>
              <a:tr h="268766">
                <a:tc>
                  <a:txBody>
                    <a:bodyPr/>
                    <a:lstStyle/>
                    <a:p>
                      <a:pPr algn="l"/>
                      <a:r>
                        <a:rPr lang="en-US" sz="1000" b="1" u="none" dirty="0">
                          <a:solidFill>
                            <a:srgbClr val="B38B59"/>
                          </a:solidFill>
                          <a:latin typeface="微软雅黑" pitchFamily="34" charset="0"/>
                          <a:ea typeface="微软雅黑" pitchFamily="34" charset="-122"/>
                          <a:cs typeface="微软雅黑" pitchFamily="34" charset="-120"/>
                        </a:rPr>
                        <a:t>运行时</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E0E2E4"/>
                          </a:solidFill>
                          <a:latin typeface="微软雅黑" pitchFamily="34" charset="0"/>
                          <a:ea typeface="微软雅黑" pitchFamily="34" charset="-122"/>
                          <a:cs typeface="微软雅黑" pitchFamily="34" charset="-120"/>
                        </a:rPr>
                        <a:t>隔离强度</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E0E2E4"/>
                          </a:solidFill>
                          <a:latin typeface="微软雅黑" pitchFamily="34" charset="0"/>
                          <a:ea typeface="微软雅黑" pitchFamily="34" charset="-122"/>
                          <a:cs typeface="微软雅黑" pitchFamily="34" charset="-120"/>
                        </a:rPr>
                        <a:t>性能开销</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268766">
                <a:tc>
                  <a:txBody>
                    <a:bodyPr/>
                    <a:lstStyle/>
                    <a:p>
                      <a:r>
                        <a:rPr lang="en-US" sz="1000" u="none" dirty="0">
                          <a:solidFill>
                            <a:srgbClr val="E0E2E4"/>
                          </a:solidFill>
                          <a:latin typeface="微软雅黑" pitchFamily="34" charset="0"/>
                          <a:ea typeface="微软雅黑" pitchFamily="34" charset="-122"/>
                          <a:cs typeface="微软雅黑" pitchFamily="34" charset="-120"/>
                        </a:rPr>
                        <a:t>Docker</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4"/>
                          </a:solidFill>
                          <a:latin typeface="微软雅黑" pitchFamily="34" charset="0"/>
                          <a:ea typeface="微软雅黑" pitchFamily="34" charset="-122"/>
                          <a:cs typeface="微软雅黑" pitchFamily="34" charset="-120"/>
                        </a:rPr>
                        <a:t>中</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4"/>
                          </a:solidFill>
                          <a:latin typeface="微软雅黑" pitchFamily="34" charset="0"/>
                          <a:ea typeface="微软雅黑" pitchFamily="34" charset="-122"/>
                          <a:cs typeface="微软雅黑" pitchFamily="34" charset="-120"/>
                        </a:rPr>
                        <a:t>中</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268766">
                <a:tc>
                  <a:txBody>
                    <a:bodyPr/>
                    <a:lstStyle/>
                    <a:p>
                      <a:r>
                        <a:rPr lang="en-US" sz="1000" u="none" dirty="0">
                          <a:solidFill>
                            <a:srgbClr val="E0E2E4"/>
                          </a:solidFill>
                          <a:latin typeface="微软雅黑" pitchFamily="34" charset="0"/>
                          <a:ea typeface="微软雅黑" pitchFamily="34" charset="-122"/>
                          <a:cs typeface="微软雅黑" pitchFamily="34" charset="-120"/>
                        </a:rPr>
                        <a:t>containerd</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4"/>
                          </a:solidFill>
                          <a:latin typeface="微软雅黑" pitchFamily="34" charset="0"/>
                          <a:ea typeface="微软雅黑" pitchFamily="34" charset="-122"/>
                          <a:cs typeface="微软雅黑" pitchFamily="34" charset="-120"/>
                        </a:rPr>
                        <a:t>中</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4"/>
                          </a:solidFill>
                          <a:latin typeface="微软雅黑" pitchFamily="34" charset="0"/>
                          <a:ea typeface="微软雅黑" pitchFamily="34" charset="-122"/>
                          <a:cs typeface="微软雅黑" pitchFamily="34" charset="-120"/>
                        </a:rPr>
                        <a:t>低</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268766">
                <a:tc>
                  <a:txBody>
                    <a:bodyPr/>
                    <a:lstStyle/>
                    <a:p>
                      <a:r>
                        <a:rPr lang="en-US" sz="1000" u="none" dirty="0">
                          <a:solidFill>
                            <a:srgbClr val="E0E2E4"/>
                          </a:solidFill>
                          <a:latin typeface="微软雅黑" pitchFamily="34" charset="0"/>
                          <a:ea typeface="微软雅黑" pitchFamily="34" charset="-122"/>
                          <a:cs typeface="微软雅黑" pitchFamily="34" charset="-120"/>
                        </a:rPr>
                        <a:t>CRI-O</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4"/>
                          </a:solidFill>
                          <a:latin typeface="微软雅黑" pitchFamily="34" charset="0"/>
                          <a:ea typeface="微软雅黑" pitchFamily="34" charset="-122"/>
                          <a:cs typeface="微软雅黑" pitchFamily="34" charset="-120"/>
                        </a:rPr>
                        <a:t>中</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4"/>
                          </a:solidFill>
                          <a:latin typeface="微软雅黑" pitchFamily="34" charset="0"/>
                          <a:ea typeface="微软雅黑" pitchFamily="34" charset="-122"/>
                          <a:cs typeface="微软雅黑" pitchFamily="34" charset="-120"/>
                        </a:rPr>
                        <a:t>低</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268766">
                <a:tc>
                  <a:txBody>
                    <a:bodyPr/>
                    <a:lstStyle/>
                    <a:p>
                      <a:r>
                        <a:rPr lang="en-US" sz="1000" u="none" dirty="0">
                          <a:solidFill>
                            <a:srgbClr val="E0E2E4"/>
                          </a:solidFill>
                          <a:latin typeface="微软雅黑" pitchFamily="34" charset="0"/>
                          <a:ea typeface="微软雅黑" pitchFamily="34" charset="-122"/>
                          <a:cs typeface="微软雅黑" pitchFamily="34" charset="-120"/>
                        </a:rPr>
                        <a:t>gVisor</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000" u="none" dirty="0">
                          <a:solidFill>
                            <a:srgbClr val="E0E2E4"/>
                          </a:solidFill>
                          <a:latin typeface="微软雅黑" pitchFamily="34" charset="0"/>
                          <a:ea typeface="微软雅黑" pitchFamily="34" charset="-122"/>
                          <a:cs typeface="微软雅黑" pitchFamily="34" charset="-120"/>
                        </a:rPr>
                        <a:t>高</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000" u="none" dirty="0">
                          <a:solidFill>
                            <a:srgbClr val="E0E2E4"/>
                          </a:solidFill>
                          <a:latin typeface="微软雅黑" pitchFamily="34" charset="0"/>
                          <a:ea typeface="微软雅黑" pitchFamily="34" charset="-122"/>
                          <a:cs typeface="微软雅黑" pitchFamily="34" charset="-120"/>
                        </a:rPr>
                        <a:t>高</a:t>
                      </a:r>
                      <a:endParaRPr lang="en-US" sz="10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4"/>
                  </a:ext>
                </a:extLst>
              </a:tr>
            </a:tbl>
          </a:graphicData>
        </a:graphic>
      </p:graphicFrame>
      <p:sp>
        <p:nvSpPr>
          <p:cNvPr id="51" name="Shape 48"/>
          <p:cNvSpPr/>
          <p:nvPr/>
        </p:nvSpPr>
        <p:spPr>
          <a:xfrm>
            <a:off x="5613485" y="6966747"/>
            <a:ext cx="5028523" cy="2004907"/>
          </a:xfrm>
          <a:custGeom>
            <a:avLst/>
            <a:gdLst/>
            <a:ahLst/>
            <a:cxnLst/>
            <a:rect l="l" t="t" r="r" b="b"/>
            <a:pathLst>
              <a:path w="5028523" h="2004907">
                <a:moveTo>
                  <a:pt x="86692" y="0"/>
                </a:moveTo>
                <a:lnTo>
                  <a:pt x="4941831" y="0"/>
                </a:lnTo>
                <a:cubicBezTo>
                  <a:pt x="4989709" y="0"/>
                  <a:pt x="5028523" y="38813"/>
                  <a:pt x="5028523" y="86692"/>
                </a:cubicBezTo>
                <a:lnTo>
                  <a:pt x="5028523" y="1918215"/>
                </a:lnTo>
                <a:cubicBezTo>
                  <a:pt x="5028523" y="1966093"/>
                  <a:pt x="4989709" y="2004907"/>
                  <a:pt x="4941831" y="2004907"/>
                </a:cubicBezTo>
                <a:lnTo>
                  <a:pt x="86692" y="2004907"/>
                </a:lnTo>
                <a:cubicBezTo>
                  <a:pt x="38813" y="2004907"/>
                  <a:pt x="0" y="1966093"/>
                  <a:pt x="0" y="1918215"/>
                </a:cubicBezTo>
                <a:lnTo>
                  <a:pt x="0" y="86692"/>
                </a:lnTo>
                <a:cubicBezTo>
                  <a:pt x="0" y="38813"/>
                  <a:pt x="38813" y="0"/>
                  <a:pt x="86692"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52" name="Text 49"/>
          <p:cNvSpPr/>
          <p:nvPr/>
        </p:nvSpPr>
        <p:spPr>
          <a:xfrm>
            <a:off x="5748951" y="7102214"/>
            <a:ext cx="4855125" cy="303445"/>
          </a:xfrm>
          <a:prstGeom prst="rect">
            <a:avLst/>
          </a:prstGeom>
          <a:noFill/>
          <a:ln/>
        </p:spPr>
        <p:txBody>
          <a:bodyPr wrap="square" lIns="0" tIns="0" rIns="0" bIns="0" rtlCol="0" anchor="ctr"/>
          <a:lstStyle/>
          <a:p>
            <a:pPr>
              <a:lnSpc>
                <a:spcPct val="130000"/>
              </a:lnSpc>
            </a:pPr>
            <a:r>
              <a:rPr lang="en-US" sz="1536" b="1" dirty="0">
                <a:solidFill>
                  <a:srgbClr val="E0E2E4"/>
                </a:solidFill>
                <a:latin typeface="MiSans" pitchFamily="34" charset="0"/>
                <a:ea typeface="MiSans" pitchFamily="34" charset="-122"/>
                <a:cs typeface="MiSans" pitchFamily="34" charset="-120"/>
              </a:rPr>
              <a:t>隔离策略选择</a:t>
            </a:r>
            <a:endParaRPr lang="en-US" sz="1600" dirty="0"/>
          </a:p>
        </p:txBody>
      </p:sp>
      <p:sp>
        <p:nvSpPr>
          <p:cNvPr id="53" name="Shape 50"/>
          <p:cNvSpPr/>
          <p:nvPr/>
        </p:nvSpPr>
        <p:spPr>
          <a:xfrm>
            <a:off x="5808557" y="7535707"/>
            <a:ext cx="75861" cy="151723"/>
          </a:xfrm>
          <a:custGeom>
            <a:avLst/>
            <a:gdLst/>
            <a:ahLst/>
            <a:cxnLst/>
            <a:rect l="l" t="t" r="r" b="b"/>
            <a:pathLst>
              <a:path w="75861" h="151723">
                <a:moveTo>
                  <a:pt x="73224" y="69164"/>
                </a:moveTo>
                <a:cubicBezTo>
                  <a:pt x="76928" y="72868"/>
                  <a:pt x="76928" y="78884"/>
                  <a:pt x="73224" y="82588"/>
                </a:cubicBezTo>
                <a:lnTo>
                  <a:pt x="25811" y="130001"/>
                </a:lnTo>
                <a:cubicBezTo>
                  <a:pt x="22106" y="133706"/>
                  <a:pt x="16091" y="133706"/>
                  <a:pt x="12387" y="130001"/>
                </a:cubicBezTo>
                <a:cubicBezTo>
                  <a:pt x="8683" y="126297"/>
                  <a:pt x="8683" y="120282"/>
                  <a:pt x="12387" y="116578"/>
                </a:cubicBezTo>
                <a:lnTo>
                  <a:pt x="53103" y="75861"/>
                </a:lnTo>
                <a:lnTo>
                  <a:pt x="12416" y="35145"/>
                </a:lnTo>
                <a:cubicBezTo>
                  <a:pt x="8712" y="31441"/>
                  <a:pt x="8712" y="25425"/>
                  <a:pt x="12416" y="21721"/>
                </a:cubicBezTo>
                <a:cubicBezTo>
                  <a:pt x="16121" y="18017"/>
                  <a:pt x="22136" y="18017"/>
                  <a:pt x="25840" y="21721"/>
                </a:cubicBezTo>
                <a:lnTo>
                  <a:pt x="73254" y="69135"/>
                </a:lnTo>
                <a:close/>
              </a:path>
            </a:pathLst>
          </a:custGeom>
          <a:solidFill>
            <a:srgbClr val="3C8082"/>
          </a:solidFill>
          <a:ln/>
        </p:spPr>
        <p:txBody>
          <a:bodyPr/>
          <a:lstStyle/>
          <a:p>
            <a:endParaRPr lang="zh-CN" altLang="en-US"/>
          </a:p>
        </p:txBody>
      </p:sp>
      <p:sp>
        <p:nvSpPr>
          <p:cNvPr id="54" name="Text 51"/>
          <p:cNvSpPr/>
          <p:nvPr/>
        </p:nvSpPr>
        <p:spPr>
          <a:xfrm>
            <a:off x="6025303" y="7492358"/>
            <a:ext cx="1994069" cy="216747"/>
          </a:xfrm>
          <a:prstGeom prst="rect">
            <a:avLst/>
          </a:prstGeom>
          <a:noFill/>
          <a:ln/>
        </p:spPr>
        <p:txBody>
          <a:bodyPr wrap="square" lIns="0" tIns="0" rIns="0" bIns="0" rtlCol="0" anchor="ctr"/>
          <a:lstStyle/>
          <a:p>
            <a:pPr>
              <a:lnSpc>
                <a:spcPct val="120000"/>
              </a:lnSpc>
            </a:pPr>
            <a:r>
              <a:rPr lang="en-US" sz="1195" b="1" dirty="0">
                <a:solidFill>
                  <a:srgbClr val="E0E2E4"/>
                </a:solidFill>
                <a:latin typeface="MiSans" pitchFamily="34" charset="0"/>
                <a:ea typeface="MiSans" pitchFamily="34" charset="-122"/>
                <a:cs typeface="MiSans" pitchFamily="34" charset="-120"/>
              </a:rPr>
              <a:t>可信应用:</a:t>
            </a:r>
            <a:r>
              <a:rPr lang="en-US" sz="1195" dirty="0">
                <a:solidFill>
                  <a:srgbClr val="E0E2E4">
                    <a:alpha val="80000"/>
                  </a:srgbClr>
                </a:solidFill>
                <a:latin typeface="MiSans" pitchFamily="34" charset="0"/>
                <a:ea typeface="MiSans" pitchFamily="34" charset="-122"/>
                <a:cs typeface="MiSans" pitchFamily="34" charset="-120"/>
              </a:rPr>
              <a:t> containerd/CRI-O</a:t>
            </a:r>
            <a:endParaRPr lang="en-US" sz="1600" dirty="0"/>
          </a:p>
        </p:txBody>
      </p:sp>
      <p:sp>
        <p:nvSpPr>
          <p:cNvPr id="55" name="Shape 52"/>
          <p:cNvSpPr/>
          <p:nvPr/>
        </p:nvSpPr>
        <p:spPr>
          <a:xfrm>
            <a:off x="5808557" y="7817478"/>
            <a:ext cx="75861" cy="151723"/>
          </a:xfrm>
          <a:custGeom>
            <a:avLst/>
            <a:gdLst/>
            <a:ahLst/>
            <a:cxnLst/>
            <a:rect l="l" t="t" r="r" b="b"/>
            <a:pathLst>
              <a:path w="75861" h="151723">
                <a:moveTo>
                  <a:pt x="73224" y="69164"/>
                </a:moveTo>
                <a:cubicBezTo>
                  <a:pt x="76928" y="72868"/>
                  <a:pt x="76928" y="78884"/>
                  <a:pt x="73224" y="82588"/>
                </a:cubicBezTo>
                <a:lnTo>
                  <a:pt x="25811" y="130001"/>
                </a:lnTo>
                <a:cubicBezTo>
                  <a:pt x="22106" y="133706"/>
                  <a:pt x="16091" y="133706"/>
                  <a:pt x="12387" y="130001"/>
                </a:cubicBezTo>
                <a:cubicBezTo>
                  <a:pt x="8683" y="126297"/>
                  <a:pt x="8683" y="120282"/>
                  <a:pt x="12387" y="116578"/>
                </a:cubicBezTo>
                <a:lnTo>
                  <a:pt x="53103" y="75861"/>
                </a:lnTo>
                <a:lnTo>
                  <a:pt x="12416" y="35145"/>
                </a:lnTo>
                <a:cubicBezTo>
                  <a:pt x="8712" y="31441"/>
                  <a:pt x="8712" y="25425"/>
                  <a:pt x="12416" y="21721"/>
                </a:cubicBezTo>
                <a:cubicBezTo>
                  <a:pt x="16121" y="18017"/>
                  <a:pt x="22136" y="18017"/>
                  <a:pt x="25840" y="21721"/>
                </a:cubicBezTo>
                <a:lnTo>
                  <a:pt x="73254" y="69135"/>
                </a:lnTo>
                <a:close/>
              </a:path>
            </a:pathLst>
          </a:custGeom>
          <a:solidFill>
            <a:srgbClr val="3C8082"/>
          </a:solidFill>
          <a:ln/>
        </p:spPr>
        <p:txBody>
          <a:bodyPr/>
          <a:lstStyle/>
          <a:p>
            <a:endParaRPr lang="zh-CN" altLang="en-US"/>
          </a:p>
        </p:txBody>
      </p:sp>
      <p:sp>
        <p:nvSpPr>
          <p:cNvPr id="56" name="Text 53"/>
          <p:cNvSpPr/>
          <p:nvPr/>
        </p:nvSpPr>
        <p:spPr>
          <a:xfrm>
            <a:off x="6025303" y="7774129"/>
            <a:ext cx="2373376" cy="216747"/>
          </a:xfrm>
          <a:prstGeom prst="rect">
            <a:avLst/>
          </a:prstGeom>
          <a:noFill/>
          <a:ln/>
        </p:spPr>
        <p:txBody>
          <a:bodyPr wrap="square" lIns="0" tIns="0" rIns="0" bIns="0" rtlCol="0" anchor="ctr"/>
          <a:lstStyle/>
          <a:p>
            <a:pPr>
              <a:lnSpc>
                <a:spcPct val="120000"/>
              </a:lnSpc>
            </a:pPr>
            <a:r>
              <a:rPr lang="en-US" sz="1195" b="1" dirty="0">
                <a:solidFill>
                  <a:srgbClr val="E0E2E4"/>
                </a:solidFill>
                <a:latin typeface="MiSans" pitchFamily="34" charset="0"/>
                <a:ea typeface="MiSans" pitchFamily="34" charset="-122"/>
                <a:cs typeface="MiSans" pitchFamily="34" charset="-120"/>
              </a:rPr>
              <a:t>安全敏感:</a:t>
            </a:r>
            <a:r>
              <a:rPr lang="en-US" sz="1195" dirty="0">
                <a:solidFill>
                  <a:srgbClr val="E0E2E4">
                    <a:alpha val="80000"/>
                  </a:srgbClr>
                </a:solidFill>
                <a:latin typeface="MiSans" pitchFamily="34" charset="0"/>
                <a:ea typeface="MiSans" pitchFamily="34" charset="-122"/>
                <a:cs typeface="MiSans" pitchFamily="34" charset="-120"/>
              </a:rPr>
              <a:t> gVisor/Kata Containers</a:t>
            </a:r>
            <a:endParaRPr lang="en-US" sz="1600" dirty="0"/>
          </a:p>
        </p:txBody>
      </p:sp>
      <p:sp>
        <p:nvSpPr>
          <p:cNvPr id="57" name="Shape 54"/>
          <p:cNvSpPr/>
          <p:nvPr/>
        </p:nvSpPr>
        <p:spPr>
          <a:xfrm>
            <a:off x="5808557" y="8099249"/>
            <a:ext cx="75861" cy="151723"/>
          </a:xfrm>
          <a:custGeom>
            <a:avLst/>
            <a:gdLst/>
            <a:ahLst/>
            <a:cxnLst/>
            <a:rect l="l" t="t" r="r" b="b"/>
            <a:pathLst>
              <a:path w="75861" h="151723">
                <a:moveTo>
                  <a:pt x="73224" y="69164"/>
                </a:moveTo>
                <a:cubicBezTo>
                  <a:pt x="76928" y="72868"/>
                  <a:pt x="76928" y="78884"/>
                  <a:pt x="73224" y="82588"/>
                </a:cubicBezTo>
                <a:lnTo>
                  <a:pt x="25811" y="130001"/>
                </a:lnTo>
                <a:cubicBezTo>
                  <a:pt x="22106" y="133706"/>
                  <a:pt x="16091" y="133706"/>
                  <a:pt x="12387" y="130001"/>
                </a:cubicBezTo>
                <a:cubicBezTo>
                  <a:pt x="8683" y="126297"/>
                  <a:pt x="8683" y="120282"/>
                  <a:pt x="12387" y="116578"/>
                </a:cubicBezTo>
                <a:lnTo>
                  <a:pt x="53103" y="75861"/>
                </a:lnTo>
                <a:lnTo>
                  <a:pt x="12416" y="35145"/>
                </a:lnTo>
                <a:cubicBezTo>
                  <a:pt x="8712" y="31441"/>
                  <a:pt x="8712" y="25425"/>
                  <a:pt x="12416" y="21721"/>
                </a:cubicBezTo>
                <a:cubicBezTo>
                  <a:pt x="16121" y="18017"/>
                  <a:pt x="22136" y="18017"/>
                  <a:pt x="25840" y="21721"/>
                </a:cubicBezTo>
                <a:lnTo>
                  <a:pt x="73254" y="69135"/>
                </a:lnTo>
                <a:close/>
              </a:path>
            </a:pathLst>
          </a:custGeom>
          <a:solidFill>
            <a:srgbClr val="3C8082"/>
          </a:solidFill>
          <a:ln/>
        </p:spPr>
        <p:txBody>
          <a:bodyPr/>
          <a:lstStyle/>
          <a:p>
            <a:endParaRPr lang="zh-CN" altLang="en-US"/>
          </a:p>
        </p:txBody>
      </p:sp>
      <p:sp>
        <p:nvSpPr>
          <p:cNvPr id="58" name="Text 55"/>
          <p:cNvSpPr/>
          <p:nvPr/>
        </p:nvSpPr>
        <p:spPr>
          <a:xfrm>
            <a:off x="6025303" y="8055899"/>
            <a:ext cx="1257131" cy="216747"/>
          </a:xfrm>
          <a:prstGeom prst="rect">
            <a:avLst/>
          </a:prstGeom>
          <a:noFill/>
          <a:ln/>
        </p:spPr>
        <p:txBody>
          <a:bodyPr wrap="square" lIns="0" tIns="0" rIns="0" bIns="0" rtlCol="0" anchor="ctr"/>
          <a:lstStyle/>
          <a:p>
            <a:pPr>
              <a:lnSpc>
                <a:spcPct val="120000"/>
              </a:lnSpc>
            </a:pPr>
            <a:r>
              <a:rPr lang="en-US" sz="1195" b="1" dirty="0">
                <a:solidFill>
                  <a:srgbClr val="E0E2E4"/>
                </a:solidFill>
                <a:latin typeface="MiSans" pitchFamily="34" charset="0"/>
                <a:ea typeface="MiSans" pitchFamily="34" charset="-122"/>
                <a:cs typeface="MiSans" pitchFamily="34" charset="-120"/>
              </a:rPr>
              <a:t>传统兼容:</a:t>
            </a:r>
            <a:r>
              <a:rPr lang="en-US" sz="1195" dirty="0">
                <a:solidFill>
                  <a:srgbClr val="E0E2E4">
                    <a:alpha val="80000"/>
                  </a:srgbClr>
                </a:solidFill>
                <a:latin typeface="MiSans" pitchFamily="34" charset="0"/>
                <a:ea typeface="MiSans" pitchFamily="34" charset="-122"/>
                <a:cs typeface="MiSans" pitchFamily="34" charset="-120"/>
              </a:rPr>
              <a:t> Docker</a:t>
            </a:r>
            <a:endParaRPr lang="en-US" sz="1600" dirty="0"/>
          </a:p>
        </p:txBody>
      </p:sp>
      <p:sp>
        <p:nvSpPr>
          <p:cNvPr id="59" name="Shape 56"/>
          <p:cNvSpPr/>
          <p:nvPr/>
        </p:nvSpPr>
        <p:spPr>
          <a:xfrm>
            <a:off x="10788057" y="6966747"/>
            <a:ext cx="5028523" cy="2004907"/>
          </a:xfrm>
          <a:custGeom>
            <a:avLst/>
            <a:gdLst/>
            <a:ahLst/>
            <a:cxnLst/>
            <a:rect l="l" t="t" r="r" b="b"/>
            <a:pathLst>
              <a:path w="5028523" h="2004907">
                <a:moveTo>
                  <a:pt x="86692" y="0"/>
                </a:moveTo>
                <a:lnTo>
                  <a:pt x="4941831" y="0"/>
                </a:lnTo>
                <a:cubicBezTo>
                  <a:pt x="4989709" y="0"/>
                  <a:pt x="5028523" y="38813"/>
                  <a:pt x="5028523" y="86692"/>
                </a:cubicBezTo>
                <a:lnTo>
                  <a:pt x="5028523" y="1918215"/>
                </a:lnTo>
                <a:cubicBezTo>
                  <a:pt x="5028523" y="1966093"/>
                  <a:pt x="4989709" y="2004907"/>
                  <a:pt x="4941831" y="2004907"/>
                </a:cubicBezTo>
                <a:lnTo>
                  <a:pt x="86692" y="2004907"/>
                </a:lnTo>
                <a:cubicBezTo>
                  <a:pt x="38813" y="2004907"/>
                  <a:pt x="0" y="1966093"/>
                  <a:pt x="0" y="1918215"/>
                </a:cubicBezTo>
                <a:lnTo>
                  <a:pt x="0" y="86692"/>
                </a:lnTo>
                <a:cubicBezTo>
                  <a:pt x="0" y="38813"/>
                  <a:pt x="38813" y="0"/>
                  <a:pt x="86692"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0" name="Text 57"/>
          <p:cNvSpPr/>
          <p:nvPr/>
        </p:nvSpPr>
        <p:spPr>
          <a:xfrm>
            <a:off x="10923524" y="7102214"/>
            <a:ext cx="4855125" cy="303445"/>
          </a:xfrm>
          <a:prstGeom prst="rect">
            <a:avLst/>
          </a:prstGeom>
          <a:noFill/>
          <a:ln/>
        </p:spPr>
        <p:txBody>
          <a:bodyPr wrap="square" lIns="0" tIns="0" rIns="0" bIns="0" rtlCol="0" anchor="ctr"/>
          <a:lstStyle/>
          <a:p>
            <a:pPr>
              <a:lnSpc>
                <a:spcPct val="130000"/>
              </a:lnSpc>
            </a:pPr>
            <a:r>
              <a:rPr lang="en-US" sz="1536" b="1" dirty="0">
                <a:solidFill>
                  <a:srgbClr val="E0E2E4"/>
                </a:solidFill>
                <a:latin typeface="MiSans" pitchFamily="34" charset="0"/>
                <a:ea typeface="MiSans" pitchFamily="34" charset="-122"/>
                <a:cs typeface="MiSans" pitchFamily="34" charset="-120"/>
              </a:rPr>
              <a:t>技术发展趋势</a:t>
            </a:r>
            <a:endParaRPr lang="en-US" sz="1600" dirty="0"/>
          </a:p>
        </p:txBody>
      </p:sp>
      <p:sp>
        <p:nvSpPr>
          <p:cNvPr id="61" name="Shape 58"/>
          <p:cNvSpPr/>
          <p:nvPr/>
        </p:nvSpPr>
        <p:spPr>
          <a:xfrm>
            <a:off x="10935716" y="7535707"/>
            <a:ext cx="170688" cy="151723"/>
          </a:xfrm>
          <a:custGeom>
            <a:avLst/>
            <a:gdLst/>
            <a:ahLst/>
            <a:cxnLst/>
            <a:rect l="l" t="t" r="r" b="b"/>
            <a:pathLst>
              <a:path w="170688" h="151723">
                <a:moveTo>
                  <a:pt x="113792" y="47413"/>
                </a:moveTo>
                <a:cubicBezTo>
                  <a:pt x="108547" y="47413"/>
                  <a:pt x="104309" y="43176"/>
                  <a:pt x="104309" y="37931"/>
                </a:cubicBezTo>
                <a:cubicBezTo>
                  <a:pt x="104309" y="32686"/>
                  <a:pt x="108547" y="28448"/>
                  <a:pt x="113792" y="28448"/>
                </a:cubicBezTo>
                <a:lnTo>
                  <a:pt x="161205" y="28448"/>
                </a:lnTo>
                <a:cubicBezTo>
                  <a:pt x="166450" y="28448"/>
                  <a:pt x="170688" y="32686"/>
                  <a:pt x="170688" y="37931"/>
                </a:cubicBezTo>
                <a:lnTo>
                  <a:pt x="170688" y="85344"/>
                </a:lnTo>
                <a:cubicBezTo>
                  <a:pt x="170688" y="90589"/>
                  <a:pt x="166450" y="94827"/>
                  <a:pt x="161205" y="94827"/>
                </a:cubicBezTo>
                <a:cubicBezTo>
                  <a:pt x="155960" y="94827"/>
                  <a:pt x="151723" y="90589"/>
                  <a:pt x="151723" y="85344"/>
                </a:cubicBezTo>
                <a:lnTo>
                  <a:pt x="151723" y="60837"/>
                </a:lnTo>
                <a:lnTo>
                  <a:pt x="101524" y="111036"/>
                </a:lnTo>
                <a:cubicBezTo>
                  <a:pt x="97820" y="114740"/>
                  <a:pt x="91804" y="114740"/>
                  <a:pt x="88100" y="111036"/>
                </a:cubicBezTo>
                <a:lnTo>
                  <a:pt x="56896" y="79803"/>
                </a:lnTo>
                <a:lnTo>
                  <a:pt x="16180" y="120489"/>
                </a:lnTo>
                <a:cubicBezTo>
                  <a:pt x="12476" y="124193"/>
                  <a:pt x="6460" y="124193"/>
                  <a:pt x="2756" y="120489"/>
                </a:cubicBezTo>
                <a:cubicBezTo>
                  <a:pt x="-948" y="116785"/>
                  <a:pt x="-948" y="110769"/>
                  <a:pt x="2756" y="107065"/>
                </a:cubicBezTo>
                <a:lnTo>
                  <a:pt x="50169" y="59652"/>
                </a:lnTo>
                <a:cubicBezTo>
                  <a:pt x="53873" y="55948"/>
                  <a:pt x="59889" y="55948"/>
                  <a:pt x="63593" y="59652"/>
                </a:cubicBezTo>
                <a:lnTo>
                  <a:pt x="94827" y="90885"/>
                </a:lnTo>
                <a:lnTo>
                  <a:pt x="138299" y="47413"/>
                </a:lnTo>
                <a:lnTo>
                  <a:pt x="113792" y="47413"/>
                </a:lnTo>
                <a:close/>
              </a:path>
            </a:pathLst>
          </a:custGeom>
          <a:solidFill>
            <a:srgbClr val="B38B59"/>
          </a:solidFill>
          <a:ln/>
        </p:spPr>
        <p:txBody>
          <a:bodyPr/>
          <a:lstStyle/>
          <a:p>
            <a:endParaRPr lang="zh-CN" altLang="en-US"/>
          </a:p>
        </p:txBody>
      </p:sp>
      <p:sp>
        <p:nvSpPr>
          <p:cNvPr id="62" name="Text 59"/>
          <p:cNvSpPr/>
          <p:nvPr/>
        </p:nvSpPr>
        <p:spPr>
          <a:xfrm>
            <a:off x="11199876" y="7492358"/>
            <a:ext cx="2080768" cy="216747"/>
          </a:xfrm>
          <a:prstGeom prst="rect">
            <a:avLst/>
          </a:prstGeom>
          <a:noFill/>
          <a:ln/>
        </p:spPr>
        <p:txBody>
          <a:bodyPr wrap="square" lIns="0" tIns="0" rIns="0" bIns="0" rtlCol="0" anchor="ctr"/>
          <a:lstStyle/>
          <a:p>
            <a:pPr>
              <a:lnSpc>
                <a:spcPct val="120000"/>
              </a:lnSpc>
            </a:pPr>
            <a:r>
              <a:rPr lang="en-US" sz="1195" b="1" dirty="0">
                <a:solidFill>
                  <a:srgbClr val="E0E2E4"/>
                </a:solidFill>
                <a:latin typeface="MiSans" pitchFamily="34" charset="0"/>
                <a:ea typeface="MiSans" pitchFamily="34" charset="-122"/>
                <a:cs typeface="MiSans" pitchFamily="34" charset="-120"/>
              </a:rPr>
              <a:t>标准化:</a:t>
            </a:r>
            <a:r>
              <a:rPr lang="en-US" sz="1195" dirty="0">
                <a:solidFill>
                  <a:srgbClr val="E0E2E4">
                    <a:alpha val="80000"/>
                  </a:srgbClr>
                </a:solidFill>
                <a:latin typeface="MiSans" pitchFamily="34" charset="0"/>
                <a:ea typeface="MiSans" pitchFamily="34" charset="-122"/>
                <a:cs typeface="MiSans" pitchFamily="34" charset="-120"/>
              </a:rPr>
              <a:t> OCI规范统一容器标准</a:t>
            </a:r>
            <a:endParaRPr lang="en-US" sz="1600" dirty="0"/>
          </a:p>
        </p:txBody>
      </p:sp>
      <p:sp>
        <p:nvSpPr>
          <p:cNvPr id="63" name="Shape 60"/>
          <p:cNvSpPr/>
          <p:nvPr/>
        </p:nvSpPr>
        <p:spPr>
          <a:xfrm>
            <a:off x="10935716" y="7817478"/>
            <a:ext cx="170688" cy="151723"/>
          </a:xfrm>
          <a:custGeom>
            <a:avLst/>
            <a:gdLst/>
            <a:ahLst/>
            <a:cxnLst/>
            <a:rect l="l" t="t" r="r" b="b"/>
            <a:pathLst>
              <a:path w="170688" h="151723">
                <a:moveTo>
                  <a:pt x="113792" y="47413"/>
                </a:moveTo>
                <a:cubicBezTo>
                  <a:pt x="108547" y="47413"/>
                  <a:pt x="104309" y="43176"/>
                  <a:pt x="104309" y="37931"/>
                </a:cubicBezTo>
                <a:cubicBezTo>
                  <a:pt x="104309" y="32686"/>
                  <a:pt x="108547" y="28448"/>
                  <a:pt x="113792" y="28448"/>
                </a:cubicBezTo>
                <a:lnTo>
                  <a:pt x="161205" y="28448"/>
                </a:lnTo>
                <a:cubicBezTo>
                  <a:pt x="166450" y="28448"/>
                  <a:pt x="170688" y="32686"/>
                  <a:pt x="170688" y="37931"/>
                </a:cubicBezTo>
                <a:lnTo>
                  <a:pt x="170688" y="85344"/>
                </a:lnTo>
                <a:cubicBezTo>
                  <a:pt x="170688" y="90589"/>
                  <a:pt x="166450" y="94827"/>
                  <a:pt x="161205" y="94827"/>
                </a:cubicBezTo>
                <a:cubicBezTo>
                  <a:pt x="155960" y="94827"/>
                  <a:pt x="151723" y="90589"/>
                  <a:pt x="151723" y="85344"/>
                </a:cubicBezTo>
                <a:lnTo>
                  <a:pt x="151723" y="60837"/>
                </a:lnTo>
                <a:lnTo>
                  <a:pt x="101524" y="111036"/>
                </a:lnTo>
                <a:cubicBezTo>
                  <a:pt x="97820" y="114740"/>
                  <a:pt x="91804" y="114740"/>
                  <a:pt x="88100" y="111036"/>
                </a:cubicBezTo>
                <a:lnTo>
                  <a:pt x="56896" y="79803"/>
                </a:lnTo>
                <a:lnTo>
                  <a:pt x="16180" y="120489"/>
                </a:lnTo>
                <a:cubicBezTo>
                  <a:pt x="12476" y="124193"/>
                  <a:pt x="6460" y="124193"/>
                  <a:pt x="2756" y="120489"/>
                </a:cubicBezTo>
                <a:cubicBezTo>
                  <a:pt x="-948" y="116785"/>
                  <a:pt x="-948" y="110769"/>
                  <a:pt x="2756" y="107065"/>
                </a:cubicBezTo>
                <a:lnTo>
                  <a:pt x="50169" y="59652"/>
                </a:lnTo>
                <a:cubicBezTo>
                  <a:pt x="53873" y="55948"/>
                  <a:pt x="59889" y="55948"/>
                  <a:pt x="63593" y="59652"/>
                </a:cubicBezTo>
                <a:lnTo>
                  <a:pt x="94827" y="90885"/>
                </a:lnTo>
                <a:lnTo>
                  <a:pt x="138299" y="47413"/>
                </a:lnTo>
                <a:lnTo>
                  <a:pt x="113792" y="47413"/>
                </a:lnTo>
                <a:close/>
              </a:path>
            </a:pathLst>
          </a:custGeom>
          <a:solidFill>
            <a:srgbClr val="B38B59"/>
          </a:solidFill>
          <a:ln/>
        </p:spPr>
        <p:txBody>
          <a:bodyPr/>
          <a:lstStyle/>
          <a:p>
            <a:endParaRPr lang="zh-CN" altLang="en-US"/>
          </a:p>
        </p:txBody>
      </p:sp>
      <p:sp>
        <p:nvSpPr>
          <p:cNvPr id="64" name="Text 61"/>
          <p:cNvSpPr/>
          <p:nvPr/>
        </p:nvSpPr>
        <p:spPr>
          <a:xfrm>
            <a:off x="11199876" y="7774129"/>
            <a:ext cx="2449237" cy="216747"/>
          </a:xfrm>
          <a:prstGeom prst="rect">
            <a:avLst/>
          </a:prstGeom>
          <a:noFill/>
          <a:ln/>
        </p:spPr>
        <p:txBody>
          <a:bodyPr wrap="square" lIns="0" tIns="0" rIns="0" bIns="0" rtlCol="0" anchor="ctr"/>
          <a:lstStyle/>
          <a:p>
            <a:pPr>
              <a:lnSpc>
                <a:spcPct val="120000"/>
              </a:lnSpc>
            </a:pPr>
            <a:r>
              <a:rPr lang="en-US" sz="1195" b="1" dirty="0">
                <a:solidFill>
                  <a:srgbClr val="E0E2E4"/>
                </a:solidFill>
                <a:latin typeface="MiSans" pitchFamily="34" charset="0"/>
                <a:ea typeface="MiSans" pitchFamily="34" charset="-122"/>
                <a:cs typeface="MiSans" pitchFamily="34" charset="-120"/>
              </a:rPr>
              <a:t>轻量化:</a:t>
            </a:r>
            <a:r>
              <a:rPr lang="en-US" sz="1195" dirty="0">
                <a:solidFill>
                  <a:srgbClr val="E0E2E4">
                    <a:alpha val="80000"/>
                  </a:srgbClr>
                </a:solidFill>
                <a:latin typeface="MiSans" pitchFamily="34" charset="0"/>
                <a:ea typeface="MiSans" pitchFamily="34" charset="-122"/>
                <a:cs typeface="MiSans" pitchFamily="34" charset="-120"/>
              </a:rPr>
              <a:t> containerd/CRI-O成为主流</a:t>
            </a:r>
            <a:endParaRPr lang="en-US" sz="1600" dirty="0"/>
          </a:p>
        </p:txBody>
      </p:sp>
      <p:sp>
        <p:nvSpPr>
          <p:cNvPr id="65" name="Shape 62"/>
          <p:cNvSpPr/>
          <p:nvPr/>
        </p:nvSpPr>
        <p:spPr>
          <a:xfrm>
            <a:off x="10935716" y="8099249"/>
            <a:ext cx="170688" cy="151723"/>
          </a:xfrm>
          <a:custGeom>
            <a:avLst/>
            <a:gdLst/>
            <a:ahLst/>
            <a:cxnLst/>
            <a:rect l="l" t="t" r="r" b="b"/>
            <a:pathLst>
              <a:path w="170688" h="151723">
                <a:moveTo>
                  <a:pt x="113792" y="47413"/>
                </a:moveTo>
                <a:cubicBezTo>
                  <a:pt x="108547" y="47413"/>
                  <a:pt x="104309" y="43176"/>
                  <a:pt x="104309" y="37931"/>
                </a:cubicBezTo>
                <a:cubicBezTo>
                  <a:pt x="104309" y="32686"/>
                  <a:pt x="108547" y="28448"/>
                  <a:pt x="113792" y="28448"/>
                </a:cubicBezTo>
                <a:lnTo>
                  <a:pt x="161205" y="28448"/>
                </a:lnTo>
                <a:cubicBezTo>
                  <a:pt x="166450" y="28448"/>
                  <a:pt x="170688" y="32686"/>
                  <a:pt x="170688" y="37931"/>
                </a:cubicBezTo>
                <a:lnTo>
                  <a:pt x="170688" y="85344"/>
                </a:lnTo>
                <a:cubicBezTo>
                  <a:pt x="170688" y="90589"/>
                  <a:pt x="166450" y="94827"/>
                  <a:pt x="161205" y="94827"/>
                </a:cubicBezTo>
                <a:cubicBezTo>
                  <a:pt x="155960" y="94827"/>
                  <a:pt x="151723" y="90589"/>
                  <a:pt x="151723" y="85344"/>
                </a:cubicBezTo>
                <a:lnTo>
                  <a:pt x="151723" y="60837"/>
                </a:lnTo>
                <a:lnTo>
                  <a:pt x="101524" y="111036"/>
                </a:lnTo>
                <a:cubicBezTo>
                  <a:pt x="97820" y="114740"/>
                  <a:pt x="91804" y="114740"/>
                  <a:pt x="88100" y="111036"/>
                </a:cubicBezTo>
                <a:lnTo>
                  <a:pt x="56896" y="79803"/>
                </a:lnTo>
                <a:lnTo>
                  <a:pt x="16180" y="120489"/>
                </a:lnTo>
                <a:cubicBezTo>
                  <a:pt x="12476" y="124193"/>
                  <a:pt x="6460" y="124193"/>
                  <a:pt x="2756" y="120489"/>
                </a:cubicBezTo>
                <a:cubicBezTo>
                  <a:pt x="-948" y="116785"/>
                  <a:pt x="-948" y="110769"/>
                  <a:pt x="2756" y="107065"/>
                </a:cubicBezTo>
                <a:lnTo>
                  <a:pt x="50169" y="59652"/>
                </a:lnTo>
                <a:cubicBezTo>
                  <a:pt x="53873" y="55948"/>
                  <a:pt x="59889" y="55948"/>
                  <a:pt x="63593" y="59652"/>
                </a:cubicBezTo>
                <a:lnTo>
                  <a:pt x="94827" y="90885"/>
                </a:lnTo>
                <a:lnTo>
                  <a:pt x="138299" y="47413"/>
                </a:lnTo>
                <a:lnTo>
                  <a:pt x="113792" y="47413"/>
                </a:lnTo>
                <a:close/>
              </a:path>
            </a:pathLst>
          </a:custGeom>
          <a:solidFill>
            <a:srgbClr val="B38B59"/>
          </a:solidFill>
          <a:ln/>
        </p:spPr>
        <p:txBody>
          <a:bodyPr/>
          <a:lstStyle/>
          <a:p>
            <a:endParaRPr lang="zh-CN" altLang="en-US"/>
          </a:p>
        </p:txBody>
      </p:sp>
      <p:sp>
        <p:nvSpPr>
          <p:cNvPr id="66" name="Text 63"/>
          <p:cNvSpPr/>
          <p:nvPr/>
        </p:nvSpPr>
        <p:spPr>
          <a:xfrm>
            <a:off x="11199876" y="8055899"/>
            <a:ext cx="2124117" cy="216747"/>
          </a:xfrm>
          <a:prstGeom prst="rect">
            <a:avLst/>
          </a:prstGeom>
          <a:noFill/>
          <a:ln/>
        </p:spPr>
        <p:txBody>
          <a:bodyPr wrap="square" lIns="0" tIns="0" rIns="0" bIns="0" rtlCol="0" anchor="ctr"/>
          <a:lstStyle/>
          <a:p>
            <a:pPr>
              <a:lnSpc>
                <a:spcPct val="120000"/>
              </a:lnSpc>
            </a:pPr>
            <a:r>
              <a:rPr lang="en-US" sz="1195" b="1" dirty="0">
                <a:solidFill>
                  <a:srgbClr val="E0E2E4"/>
                </a:solidFill>
                <a:latin typeface="MiSans" pitchFamily="34" charset="0"/>
                <a:ea typeface="MiSans" pitchFamily="34" charset="-122"/>
                <a:cs typeface="MiSans" pitchFamily="34" charset="-120"/>
              </a:rPr>
              <a:t>安全化:</a:t>
            </a:r>
            <a:r>
              <a:rPr lang="en-US" sz="1195" dirty="0">
                <a:solidFill>
                  <a:srgbClr val="E0E2E4">
                    <a:alpha val="80000"/>
                  </a:srgbClr>
                </a:solidFill>
                <a:latin typeface="MiSans" pitchFamily="34" charset="0"/>
                <a:ea typeface="MiSans" pitchFamily="34" charset="-122"/>
                <a:cs typeface="MiSans" pitchFamily="34" charset="-120"/>
              </a:rPr>
              <a:t> 安全容器技术快速发展</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57271" y="502999"/>
            <a:ext cx="365817" cy="365817"/>
          </a:xfrm>
          <a:custGeom>
            <a:avLst/>
            <a:gdLst/>
            <a:ahLst/>
            <a:cxnLst/>
            <a:rect l="l" t="t" r="r" b="b"/>
            <a:pathLst>
              <a:path w="365817" h="365817">
                <a:moveTo>
                  <a:pt x="68591" y="0"/>
                </a:moveTo>
                <a:lnTo>
                  <a:pt x="297226" y="0"/>
                </a:lnTo>
                <a:cubicBezTo>
                  <a:pt x="335083" y="0"/>
                  <a:pt x="365817" y="30734"/>
                  <a:pt x="365817" y="68591"/>
                </a:cubicBezTo>
                <a:lnTo>
                  <a:pt x="365817" y="297226"/>
                </a:lnTo>
                <a:cubicBezTo>
                  <a:pt x="365817" y="335108"/>
                  <a:pt x="335108" y="365817"/>
                  <a:pt x="297226" y="365817"/>
                </a:cubicBezTo>
                <a:lnTo>
                  <a:pt x="68591" y="365817"/>
                </a:lnTo>
                <a:cubicBezTo>
                  <a:pt x="30734" y="365817"/>
                  <a:pt x="0" y="335083"/>
                  <a:pt x="0" y="297226"/>
                </a:cubicBezTo>
                <a:lnTo>
                  <a:pt x="0" y="68591"/>
                </a:lnTo>
                <a:cubicBezTo>
                  <a:pt x="0" y="30709"/>
                  <a:pt x="30709" y="0"/>
                  <a:pt x="68591" y="0"/>
                </a:cubicBezTo>
                <a:close/>
              </a:path>
            </a:pathLst>
          </a:custGeom>
          <a:solidFill>
            <a:srgbClr val="3C8082"/>
          </a:solidFill>
          <a:ln/>
        </p:spPr>
        <p:txBody>
          <a:bodyPr/>
          <a:lstStyle/>
          <a:p>
            <a:endParaRPr lang="zh-CN" altLang="en-US"/>
          </a:p>
        </p:txBody>
      </p:sp>
      <p:sp>
        <p:nvSpPr>
          <p:cNvPr id="3" name="Text 1"/>
          <p:cNvSpPr/>
          <p:nvPr/>
        </p:nvSpPr>
        <p:spPr>
          <a:xfrm>
            <a:off x="411544" y="502999"/>
            <a:ext cx="457271" cy="365817"/>
          </a:xfrm>
          <a:prstGeom prst="rect">
            <a:avLst/>
          </a:prstGeom>
          <a:noFill/>
          <a:ln/>
        </p:spPr>
        <p:txBody>
          <a:bodyPr wrap="square" lIns="0" tIns="0" rIns="0" bIns="0" rtlCol="0" anchor="ctr"/>
          <a:lstStyle/>
          <a:p>
            <a:pPr algn="ctr">
              <a:lnSpc>
                <a:spcPct val="130000"/>
              </a:lnSpc>
            </a:pPr>
            <a:r>
              <a:rPr lang="en-US" sz="1440" b="1" dirty="0">
                <a:solidFill>
                  <a:srgbClr val="FFFFFF"/>
                </a:solidFill>
                <a:latin typeface="Liter" pitchFamily="34" charset="0"/>
                <a:ea typeface="Liter" pitchFamily="34" charset="-122"/>
                <a:cs typeface="Liter" pitchFamily="34" charset="-120"/>
              </a:rPr>
              <a:t>17</a:t>
            </a:r>
            <a:endParaRPr lang="en-US" sz="1600" dirty="0"/>
          </a:p>
        </p:txBody>
      </p:sp>
      <p:sp>
        <p:nvSpPr>
          <p:cNvPr id="4" name="Text 2"/>
          <p:cNvSpPr/>
          <p:nvPr/>
        </p:nvSpPr>
        <p:spPr>
          <a:xfrm>
            <a:off x="960270" y="457271"/>
            <a:ext cx="5658734" cy="457271"/>
          </a:xfrm>
          <a:prstGeom prst="rect">
            <a:avLst/>
          </a:prstGeom>
          <a:noFill/>
          <a:ln/>
        </p:spPr>
        <p:txBody>
          <a:bodyPr wrap="square" lIns="0" tIns="0" rIns="0" bIns="0" rtlCol="0" anchor="ctr"/>
          <a:lstStyle/>
          <a:p>
            <a:pPr>
              <a:lnSpc>
                <a:spcPct val="90000"/>
              </a:lnSpc>
            </a:pPr>
            <a:r>
              <a:rPr lang="en-US" sz="3241" b="1" dirty="0">
                <a:solidFill>
                  <a:srgbClr val="E0E2E4"/>
                </a:solidFill>
                <a:latin typeface="MiSans" pitchFamily="34" charset="0"/>
                <a:ea typeface="MiSans" pitchFamily="34" charset="-122"/>
                <a:cs typeface="MiSans" pitchFamily="34" charset="-120"/>
              </a:rPr>
              <a:t>Kubernetes网络隔离深度解析</a:t>
            </a:r>
            <a:endParaRPr lang="en-US" sz="1600" dirty="0"/>
          </a:p>
        </p:txBody>
      </p:sp>
      <p:sp>
        <p:nvSpPr>
          <p:cNvPr id="5" name="Text 3"/>
          <p:cNvSpPr/>
          <p:nvPr/>
        </p:nvSpPr>
        <p:spPr>
          <a:xfrm>
            <a:off x="457271" y="1005997"/>
            <a:ext cx="15444343" cy="320090"/>
          </a:xfrm>
          <a:prstGeom prst="rect">
            <a:avLst/>
          </a:prstGeom>
          <a:noFill/>
          <a:ln/>
        </p:spPr>
        <p:txBody>
          <a:bodyPr wrap="square" lIns="0" tIns="0" rIns="0" bIns="0" rtlCol="0" anchor="ctr"/>
          <a:lstStyle/>
          <a:p>
            <a:pPr>
              <a:lnSpc>
                <a:spcPct val="130000"/>
              </a:lnSpc>
            </a:pPr>
            <a:r>
              <a:rPr lang="en-US" sz="1620" b="1" dirty="0">
                <a:solidFill>
                  <a:srgbClr val="B38B59"/>
                </a:solidFill>
                <a:latin typeface="MiSans" pitchFamily="34" charset="0"/>
                <a:ea typeface="MiSans" pitchFamily="34" charset="-122"/>
                <a:cs typeface="MiSans" pitchFamily="34" charset="-120"/>
              </a:rPr>
              <a:t>网络模型、CNI插件与Service Mesh的完整网络隔离体系</a:t>
            </a:r>
            <a:endParaRPr lang="en-US" sz="1600" dirty="0"/>
          </a:p>
        </p:txBody>
      </p:sp>
      <p:sp>
        <p:nvSpPr>
          <p:cNvPr id="6" name="Shape 4"/>
          <p:cNvSpPr/>
          <p:nvPr/>
        </p:nvSpPr>
        <p:spPr>
          <a:xfrm>
            <a:off x="462987" y="1514712"/>
            <a:ext cx="7567842" cy="5635871"/>
          </a:xfrm>
          <a:custGeom>
            <a:avLst/>
            <a:gdLst/>
            <a:ahLst/>
            <a:cxnLst/>
            <a:rect l="l" t="t" r="r" b="b"/>
            <a:pathLst>
              <a:path w="7567842" h="6287482">
                <a:moveTo>
                  <a:pt x="91483" y="0"/>
                </a:moveTo>
                <a:lnTo>
                  <a:pt x="7476360" y="0"/>
                </a:lnTo>
                <a:cubicBezTo>
                  <a:pt x="7526884" y="0"/>
                  <a:pt x="7567842" y="40958"/>
                  <a:pt x="7567842" y="91483"/>
                </a:cubicBezTo>
                <a:lnTo>
                  <a:pt x="7567842" y="6196000"/>
                </a:lnTo>
                <a:cubicBezTo>
                  <a:pt x="7567842" y="6246524"/>
                  <a:pt x="7526884" y="6287482"/>
                  <a:pt x="7476360" y="6287482"/>
                </a:cubicBezTo>
                <a:lnTo>
                  <a:pt x="91483" y="6287482"/>
                </a:lnTo>
                <a:cubicBezTo>
                  <a:pt x="40958" y="6287482"/>
                  <a:pt x="0" y="6246524"/>
                  <a:pt x="0" y="6196000"/>
                </a:cubicBezTo>
                <a:lnTo>
                  <a:pt x="0" y="91483"/>
                </a:lnTo>
                <a:cubicBezTo>
                  <a:pt x="0" y="40992"/>
                  <a:pt x="40992" y="0"/>
                  <a:pt x="91483"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85907" y="1749063"/>
            <a:ext cx="274363" cy="274363"/>
          </a:xfrm>
          <a:custGeom>
            <a:avLst/>
            <a:gdLst/>
            <a:ahLst/>
            <a:cxnLst/>
            <a:rect l="l" t="t" r="r" b="b"/>
            <a:pathLst>
              <a:path w="274363" h="274363">
                <a:moveTo>
                  <a:pt x="0" y="42869"/>
                </a:moveTo>
                <a:cubicBezTo>
                  <a:pt x="0" y="28669"/>
                  <a:pt x="11521" y="17148"/>
                  <a:pt x="25722" y="17148"/>
                </a:cubicBezTo>
                <a:lnTo>
                  <a:pt x="77165" y="17148"/>
                </a:lnTo>
                <a:cubicBezTo>
                  <a:pt x="91365" y="17148"/>
                  <a:pt x="102886" y="28669"/>
                  <a:pt x="102886" y="42869"/>
                </a:cubicBezTo>
                <a:lnTo>
                  <a:pt x="102886" y="51443"/>
                </a:lnTo>
                <a:lnTo>
                  <a:pt x="171477" y="51443"/>
                </a:lnTo>
                <a:lnTo>
                  <a:pt x="171477" y="42869"/>
                </a:lnTo>
                <a:cubicBezTo>
                  <a:pt x="171477" y="28669"/>
                  <a:pt x="182998" y="17148"/>
                  <a:pt x="197198" y="17148"/>
                </a:cubicBezTo>
                <a:lnTo>
                  <a:pt x="248641" y="17148"/>
                </a:lnTo>
                <a:cubicBezTo>
                  <a:pt x="262842" y="17148"/>
                  <a:pt x="274363" y="28669"/>
                  <a:pt x="274363" y="42869"/>
                </a:cubicBezTo>
                <a:lnTo>
                  <a:pt x="274363" y="94312"/>
                </a:lnTo>
                <a:cubicBezTo>
                  <a:pt x="274363" y="108513"/>
                  <a:pt x="262842" y="120034"/>
                  <a:pt x="248641" y="120034"/>
                </a:cubicBezTo>
                <a:lnTo>
                  <a:pt x="197198" y="120034"/>
                </a:lnTo>
                <a:cubicBezTo>
                  <a:pt x="182998" y="120034"/>
                  <a:pt x="171477" y="108513"/>
                  <a:pt x="171477" y="94312"/>
                </a:cubicBezTo>
                <a:lnTo>
                  <a:pt x="171477" y="85738"/>
                </a:lnTo>
                <a:lnTo>
                  <a:pt x="102886" y="85738"/>
                </a:lnTo>
                <a:lnTo>
                  <a:pt x="102886" y="94312"/>
                </a:lnTo>
                <a:cubicBezTo>
                  <a:pt x="102886" y="98224"/>
                  <a:pt x="101975" y="101975"/>
                  <a:pt x="100421" y="105297"/>
                </a:cubicBezTo>
                <a:lnTo>
                  <a:pt x="137181" y="154329"/>
                </a:lnTo>
                <a:lnTo>
                  <a:pt x="180051" y="154329"/>
                </a:lnTo>
                <a:cubicBezTo>
                  <a:pt x="194251" y="154329"/>
                  <a:pt x="205772" y="165850"/>
                  <a:pt x="205772" y="180051"/>
                </a:cubicBezTo>
                <a:lnTo>
                  <a:pt x="205772" y="231494"/>
                </a:lnTo>
                <a:cubicBezTo>
                  <a:pt x="205772" y="245694"/>
                  <a:pt x="194251" y="257215"/>
                  <a:pt x="180051" y="257215"/>
                </a:cubicBezTo>
                <a:lnTo>
                  <a:pt x="128608" y="257215"/>
                </a:lnTo>
                <a:cubicBezTo>
                  <a:pt x="114407" y="257215"/>
                  <a:pt x="102886" y="245694"/>
                  <a:pt x="102886" y="231494"/>
                </a:cubicBezTo>
                <a:lnTo>
                  <a:pt x="102886" y="180051"/>
                </a:lnTo>
                <a:cubicBezTo>
                  <a:pt x="102886" y="176139"/>
                  <a:pt x="103797" y="172388"/>
                  <a:pt x="105351" y="169065"/>
                </a:cubicBezTo>
                <a:lnTo>
                  <a:pt x="68591" y="120034"/>
                </a:lnTo>
                <a:lnTo>
                  <a:pt x="25722" y="120034"/>
                </a:lnTo>
                <a:cubicBezTo>
                  <a:pt x="11521" y="120034"/>
                  <a:pt x="0" y="108513"/>
                  <a:pt x="0" y="94312"/>
                </a:cubicBezTo>
                <a:lnTo>
                  <a:pt x="0" y="42869"/>
                </a:lnTo>
                <a:close/>
              </a:path>
            </a:pathLst>
          </a:custGeom>
          <a:solidFill>
            <a:srgbClr val="B38B59"/>
          </a:solidFill>
          <a:ln/>
        </p:spPr>
        <p:txBody>
          <a:bodyPr/>
          <a:lstStyle/>
          <a:p>
            <a:endParaRPr lang="zh-CN" altLang="en-US"/>
          </a:p>
        </p:txBody>
      </p:sp>
      <p:sp>
        <p:nvSpPr>
          <p:cNvPr id="8" name="Text 6"/>
          <p:cNvSpPr/>
          <p:nvPr/>
        </p:nvSpPr>
        <p:spPr>
          <a:xfrm>
            <a:off x="994565" y="1703336"/>
            <a:ext cx="6984821" cy="365817"/>
          </a:xfrm>
          <a:prstGeom prst="rect">
            <a:avLst/>
          </a:prstGeom>
          <a:noFill/>
          <a:ln/>
        </p:spPr>
        <p:txBody>
          <a:bodyPr wrap="square" lIns="0" tIns="0" rIns="0" bIns="0" rtlCol="0" anchor="ctr"/>
          <a:lstStyle/>
          <a:p>
            <a:pPr>
              <a:lnSpc>
                <a:spcPct val="110000"/>
              </a:lnSpc>
            </a:pPr>
            <a:r>
              <a:rPr lang="en-US" sz="2160" b="1" dirty="0">
                <a:solidFill>
                  <a:srgbClr val="E0E2E4"/>
                </a:solidFill>
                <a:latin typeface="MiSans" pitchFamily="34" charset="0"/>
                <a:ea typeface="MiSans" pitchFamily="34" charset="-122"/>
                <a:cs typeface="MiSans" pitchFamily="34" charset="-120"/>
              </a:rPr>
              <a:t>Kubernetes网络模型</a:t>
            </a:r>
            <a:endParaRPr lang="en-US" sz="1600" dirty="0"/>
          </a:p>
        </p:txBody>
      </p:sp>
      <p:sp>
        <p:nvSpPr>
          <p:cNvPr id="9" name="Shape 7"/>
          <p:cNvSpPr/>
          <p:nvPr/>
        </p:nvSpPr>
        <p:spPr>
          <a:xfrm>
            <a:off x="651612" y="2206335"/>
            <a:ext cx="7190594" cy="1143179"/>
          </a:xfrm>
          <a:custGeom>
            <a:avLst/>
            <a:gdLst/>
            <a:ahLst/>
            <a:cxnLst/>
            <a:rect l="l" t="t" r="r" b="b"/>
            <a:pathLst>
              <a:path w="7190594" h="1143179">
                <a:moveTo>
                  <a:pt x="91454" y="0"/>
                </a:moveTo>
                <a:lnTo>
                  <a:pt x="7099139" y="0"/>
                </a:lnTo>
                <a:cubicBezTo>
                  <a:pt x="7149648" y="0"/>
                  <a:pt x="7190594" y="40945"/>
                  <a:pt x="7190594" y="91454"/>
                </a:cubicBezTo>
                <a:lnTo>
                  <a:pt x="7190594" y="1051724"/>
                </a:lnTo>
                <a:cubicBezTo>
                  <a:pt x="7190594" y="1102233"/>
                  <a:pt x="7149648" y="1143179"/>
                  <a:pt x="7099139" y="1143179"/>
                </a:cubicBezTo>
                <a:lnTo>
                  <a:pt x="91454" y="1143179"/>
                </a:lnTo>
                <a:cubicBezTo>
                  <a:pt x="40945" y="1143179"/>
                  <a:pt x="0" y="1102233"/>
                  <a:pt x="0" y="1051724"/>
                </a:cubicBezTo>
                <a:lnTo>
                  <a:pt x="0" y="91454"/>
                </a:lnTo>
                <a:cubicBezTo>
                  <a:pt x="0" y="40979"/>
                  <a:pt x="40979" y="0"/>
                  <a:pt x="91454" y="0"/>
                </a:cubicBezTo>
                <a:close/>
              </a:path>
            </a:pathLst>
          </a:custGeom>
          <a:solidFill>
            <a:srgbClr val="1A1D21">
              <a:alpha val="50196"/>
            </a:srgbClr>
          </a:solidFill>
          <a:ln/>
        </p:spPr>
        <p:txBody>
          <a:bodyPr/>
          <a:lstStyle/>
          <a:p>
            <a:endParaRPr lang="zh-CN" altLang="en-US"/>
          </a:p>
        </p:txBody>
      </p:sp>
      <p:sp>
        <p:nvSpPr>
          <p:cNvPr id="10" name="Shape 8"/>
          <p:cNvSpPr/>
          <p:nvPr/>
        </p:nvSpPr>
        <p:spPr>
          <a:xfrm>
            <a:off x="817373" y="2400675"/>
            <a:ext cx="205772" cy="205772"/>
          </a:xfrm>
          <a:custGeom>
            <a:avLst/>
            <a:gdLst/>
            <a:ahLst/>
            <a:cxnLst/>
            <a:rect l="l" t="t" r="r" b="b"/>
            <a:pathLst>
              <a:path w="205772" h="205772">
                <a:moveTo>
                  <a:pt x="141428" y="112532"/>
                </a:moveTo>
                <a:lnTo>
                  <a:pt x="64706" y="112532"/>
                </a:lnTo>
                <a:cubicBezTo>
                  <a:pt x="65871" y="138454"/>
                  <a:pt x="71618" y="162327"/>
                  <a:pt x="79777" y="179809"/>
                </a:cubicBezTo>
                <a:cubicBezTo>
                  <a:pt x="84359" y="189656"/>
                  <a:pt x="89302" y="196609"/>
                  <a:pt x="93884" y="200869"/>
                </a:cubicBezTo>
                <a:cubicBezTo>
                  <a:pt x="98385" y="205089"/>
                  <a:pt x="101479" y="205772"/>
                  <a:pt x="103087" y="205772"/>
                </a:cubicBezTo>
                <a:cubicBezTo>
                  <a:pt x="104695" y="205772"/>
                  <a:pt x="107789" y="205089"/>
                  <a:pt x="112291" y="200869"/>
                </a:cubicBezTo>
                <a:cubicBezTo>
                  <a:pt x="116872" y="196609"/>
                  <a:pt x="121816" y="189616"/>
                  <a:pt x="126397" y="179809"/>
                </a:cubicBezTo>
                <a:cubicBezTo>
                  <a:pt x="134556" y="162327"/>
                  <a:pt x="140303" y="138454"/>
                  <a:pt x="141468" y="112532"/>
                </a:cubicBezTo>
                <a:close/>
                <a:moveTo>
                  <a:pt x="64666" y="93241"/>
                </a:moveTo>
                <a:lnTo>
                  <a:pt x="141388" y="93241"/>
                </a:lnTo>
                <a:cubicBezTo>
                  <a:pt x="140263" y="67318"/>
                  <a:pt x="134516" y="43445"/>
                  <a:pt x="126357" y="25963"/>
                </a:cubicBezTo>
                <a:cubicBezTo>
                  <a:pt x="121775" y="16156"/>
                  <a:pt x="116832" y="9163"/>
                  <a:pt x="112250" y="4903"/>
                </a:cubicBezTo>
                <a:cubicBezTo>
                  <a:pt x="107749" y="683"/>
                  <a:pt x="104654" y="0"/>
                  <a:pt x="103047" y="0"/>
                </a:cubicBezTo>
                <a:cubicBezTo>
                  <a:pt x="101439" y="0"/>
                  <a:pt x="98345" y="683"/>
                  <a:pt x="93843" y="4903"/>
                </a:cubicBezTo>
                <a:cubicBezTo>
                  <a:pt x="89262" y="9163"/>
                  <a:pt x="84318" y="16156"/>
                  <a:pt x="79737" y="25963"/>
                </a:cubicBezTo>
                <a:cubicBezTo>
                  <a:pt x="71578" y="43445"/>
                  <a:pt x="65831" y="67318"/>
                  <a:pt x="64666" y="93241"/>
                </a:cubicBezTo>
                <a:close/>
                <a:moveTo>
                  <a:pt x="45374" y="93241"/>
                </a:moveTo>
                <a:cubicBezTo>
                  <a:pt x="46781" y="58838"/>
                  <a:pt x="55663" y="26887"/>
                  <a:pt x="68644" y="5908"/>
                </a:cubicBezTo>
                <a:cubicBezTo>
                  <a:pt x="31629" y="19010"/>
                  <a:pt x="4381" y="52729"/>
                  <a:pt x="603" y="93241"/>
                </a:cubicBezTo>
                <a:lnTo>
                  <a:pt x="45374" y="93241"/>
                </a:lnTo>
                <a:close/>
                <a:moveTo>
                  <a:pt x="603" y="112532"/>
                </a:moveTo>
                <a:cubicBezTo>
                  <a:pt x="4381" y="153043"/>
                  <a:pt x="31629" y="186762"/>
                  <a:pt x="68644" y="199864"/>
                </a:cubicBezTo>
                <a:cubicBezTo>
                  <a:pt x="55663" y="178885"/>
                  <a:pt x="46781" y="146934"/>
                  <a:pt x="45374" y="112532"/>
                </a:cubicBezTo>
                <a:lnTo>
                  <a:pt x="603" y="112532"/>
                </a:lnTo>
                <a:close/>
                <a:moveTo>
                  <a:pt x="160719" y="112532"/>
                </a:moveTo>
                <a:cubicBezTo>
                  <a:pt x="159313" y="146934"/>
                  <a:pt x="150431" y="178885"/>
                  <a:pt x="137449" y="199864"/>
                </a:cubicBezTo>
                <a:cubicBezTo>
                  <a:pt x="174464" y="186722"/>
                  <a:pt x="201713" y="153043"/>
                  <a:pt x="205491" y="112532"/>
                </a:cubicBezTo>
                <a:lnTo>
                  <a:pt x="160719" y="112532"/>
                </a:lnTo>
                <a:close/>
                <a:moveTo>
                  <a:pt x="205491" y="93241"/>
                </a:moveTo>
                <a:cubicBezTo>
                  <a:pt x="201713" y="52729"/>
                  <a:pt x="174464" y="19010"/>
                  <a:pt x="137449" y="5908"/>
                </a:cubicBezTo>
                <a:cubicBezTo>
                  <a:pt x="150431" y="26887"/>
                  <a:pt x="159313" y="58838"/>
                  <a:pt x="160719" y="93241"/>
                </a:cubicBezTo>
                <a:lnTo>
                  <a:pt x="205491" y="93241"/>
                </a:lnTo>
                <a:close/>
              </a:path>
            </a:pathLst>
          </a:custGeom>
          <a:solidFill>
            <a:srgbClr val="B38B59"/>
          </a:solidFill>
          <a:ln/>
        </p:spPr>
        <p:txBody>
          <a:bodyPr/>
          <a:lstStyle/>
          <a:p>
            <a:endParaRPr lang="zh-CN" altLang="en-US"/>
          </a:p>
        </p:txBody>
      </p:sp>
      <p:sp>
        <p:nvSpPr>
          <p:cNvPr id="11" name="Text 9"/>
          <p:cNvSpPr/>
          <p:nvPr/>
        </p:nvSpPr>
        <p:spPr>
          <a:xfrm>
            <a:off x="1137463" y="2343516"/>
            <a:ext cx="880248" cy="320090"/>
          </a:xfrm>
          <a:prstGeom prst="rect">
            <a:avLst/>
          </a:prstGeom>
          <a:noFill/>
          <a:ln/>
        </p:spPr>
        <p:txBody>
          <a:bodyPr wrap="square" lIns="0" tIns="0" rIns="0" bIns="0" rtlCol="0" anchor="ctr"/>
          <a:lstStyle/>
          <a:p>
            <a:pPr>
              <a:lnSpc>
                <a:spcPct val="130000"/>
              </a:lnSpc>
            </a:pPr>
            <a:r>
              <a:rPr lang="en-US" sz="1620" b="1" dirty="0">
                <a:solidFill>
                  <a:srgbClr val="E0E2E4"/>
                </a:solidFill>
                <a:latin typeface="MiSans" pitchFamily="34" charset="0"/>
                <a:ea typeface="MiSans" pitchFamily="34" charset="-122"/>
                <a:cs typeface="MiSans" pitchFamily="34" charset="-120"/>
              </a:rPr>
              <a:t>Pod网络</a:t>
            </a:r>
            <a:endParaRPr lang="en-US" sz="1600" dirty="0"/>
          </a:p>
        </p:txBody>
      </p:sp>
      <p:sp>
        <p:nvSpPr>
          <p:cNvPr id="12" name="Text 10"/>
          <p:cNvSpPr/>
          <p:nvPr/>
        </p:nvSpPr>
        <p:spPr>
          <a:xfrm>
            <a:off x="788793" y="2755060"/>
            <a:ext cx="6996253" cy="457271"/>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每个Pod拥有唯一的IP地址,Pod之间可以直接通信,无需NAT转换。所有Pod处于同一个扁平网络中,无论位于哪个节点。</a:t>
            </a:r>
            <a:endParaRPr lang="en-US" sz="1600" dirty="0"/>
          </a:p>
        </p:txBody>
      </p:sp>
      <p:sp>
        <p:nvSpPr>
          <p:cNvPr id="13" name="Shape 11"/>
          <p:cNvSpPr/>
          <p:nvPr/>
        </p:nvSpPr>
        <p:spPr>
          <a:xfrm>
            <a:off x="651612" y="3440968"/>
            <a:ext cx="7190594" cy="1143179"/>
          </a:xfrm>
          <a:custGeom>
            <a:avLst/>
            <a:gdLst/>
            <a:ahLst/>
            <a:cxnLst/>
            <a:rect l="l" t="t" r="r" b="b"/>
            <a:pathLst>
              <a:path w="7190594" h="1143179">
                <a:moveTo>
                  <a:pt x="91454" y="0"/>
                </a:moveTo>
                <a:lnTo>
                  <a:pt x="7099139" y="0"/>
                </a:lnTo>
                <a:cubicBezTo>
                  <a:pt x="7149648" y="0"/>
                  <a:pt x="7190594" y="40945"/>
                  <a:pt x="7190594" y="91454"/>
                </a:cubicBezTo>
                <a:lnTo>
                  <a:pt x="7190594" y="1051724"/>
                </a:lnTo>
                <a:cubicBezTo>
                  <a:pt x="7190594" y="1102233"/>
                  <a:pt x="7149648" y="1143179"/>
                  <a:pt x="7099139" y="1143179"/>
                </a:cubicBezTo>
                <a:lnTo>
                  <a:pt x="91454" y="1143179"/>
                </a:lnTo>
                <a:cubicBezTo>
                  <a:pt x="40945" y="1143179"/>
                  <a:pt x="0" y="1102233"/>
                  <a:pt x="0" y="1051724"/>
                </a:cubicBezTo>
                <a:lnTo>
                  <a:pt x="0" y="91454"/>
                </a:lnTo>
                <a:cubicBezTo>
                  <a:pt x="0" y="40979"/>
                  <a:pt x="40979" y="0"/>
                  <a:pt x="91454" y="0"/>
                </a:cubicBezTo>
                <a:close/>
              </a:path>
            </a:pathLst>
          </a:custGeom>
          <a:solidFill>
            <a:srgbClr val="1A1D21">
              <a:alpha val="50196"/>
            </a:srgbClr>
          </a:solidFill>
          <a:ln/>
        </p:spPr>
        <p:txBody>
          <a:bodyPr/>
          <a:lstStyle/>
          <a:p>
            <a:endParaRPr lang="zh-CN" altLang="en-US"/>
          </a:p>
        </p:txBody>
      </p:sp>
      <p:sp>
        <p:nvSpPr>
          <p:cNvPr id="14" name="Shape 12"/>
          <p:cNvSpPr/>
          <p:nvPr/>
        </p:nvSpPr>
        <p:spPr>
          <a:xfrm>
            <a:off x="804512" y="3635308"/>
            <a:ext cx="231494" cy="205772"/>
          </a:xfrm>
          <a:custGeom>
            <a:avLst/>
            <a:gdLst/>
            <a:ahLst/>
            <a:cxnLst/>
            <a:rect l="l" t="t" r="r" b="b"/>
            <a:pathLst>
              <a:path w="231494" h="205772">
                <a:moveTo>
                  <a:pt x="99671" y="35367"/>
                </a:moveTo>
                <a:lnTo>
                  <a:pt x="131823" y="35367"/>
                </a:lnTo>
                <a:lnTo>
                  <a:pt x="131823" y="54658"/>
                </a:lnTo>
                <a:lnTo>
                  <a:pt x="99671" y="54658"/>
                </a:lnTo>
                <a:lnTo>
                  <a:pt x="99671" y="35367"/>
                </a:lnTo>
                <a:close/>
                <a:moveTo>
                  <a:pt x="96456" y="12861"/>
                </a:moveTo>
                <a:cubicBezTo>
                  <a:pt x="85805" y="12861"/>
                  <a:pt x="77165" y="21502"/>
                  <a:pt x="77165" y="32152"/>
                </a:cubicBezTo>
                <a:lnTo>
                  <a:pt x="77165" y="57873"/>
                </a:lnTo>
                <a:cubicBezTo>
                  <a:pt x="77165" y="68524"/>
                  <a:pt x="85805" y="77165"/>
                  <a:pt x="96456" y="77165"/>
                </a:cubicBezTo>
                <a:lnTo>
                  <a:pt x="102886" y="77165"/>
                </a:lnTo>
                <a:lnTo>
                  <a:pt x="102886" y="90025"/>
                </a:lnTo>
                <a:lnTo>
                  <a:pt x="12861" y="90025"/>
                </a:lnTo>
                <a:cubicBezTo>
                  <a:pt x="5747" y="90025"/>
                  <a:pt x="0" y="95772"/>
                  <a:pt x="0" y="102886"/>
                </a:cubicBezTo>
                <a:cubicBezTo>
                  <a:pt x="0" y="110000"/>
                  <a:pt x="5747" y="115747"/>
                  <a:pt x="12861" y="115747"/>
                </a:cubicBezTo>
                <a:lnTo>
                  <a:pt x="51443" y="115747"/>
                </a:lnTo>
                <a:lnTo>
                  <a:pt x="51443" y="128608"/>
                </a:lnTo>
                <a:lnTo>
                  <a:pt x="45013" y="128608"/>
                </a:lnTo>
                <a:cubicBezTo>
                  <a:pt x="34362" y="128608"/>
                  <a:pt x="25722" y="137248"/>
                  <a:pt x="25722" y="147899"/>
                </a:cubicBezTo>
                <a:lnTo>
                  <a:pt x="25722" y="173620"/>
                </a:lnTo>
                <a:cubicBezTo>
                  <a:pt x="25722" y="184271"/>
                  <a:pt x="34362" y="192911"/>
                  <a:pt x="45013" y="192911"/>
                </a:cubicBezTo>
                <a:lnTo>
                  <a:pt x="83595" y="192911"/>
                </a:lnTo>
                <a:cubicBezTo>
                  <a:pt x="94245" y="192911"/>
                  <a:pt x="102886" y="184271"/>
                  <a:pt x="102886" y="173620"/>
                </a:cubicBezTo>
                <a:lnTo>
                  <a:pt x="102886" y="147899"/>
                </a:lnTo>
                <a:cubicBezTo>
                  <a:pt x="102886" y="137248"/>
                  <a:pt x="94245" y="128608"/>
                  <a:pt x="83595" y="128608"/>
                </a:cubicBezTo>
                <a:lnTo>
                  <a:pt x="77165" y="128608"/>
                </a:lnTo>
                <a:lnTo>
                  <a:pt x="77165" y="115747"/>
                </a:lnTo>
                <a:lnTo>
                  <a:pt x="154329" y="115747"/>
                </a:lnTo>
                <a:lnTo>
                  <a:pt x="154329" y="128608"/>
                </a:lnTo>
                <a:lnTo>
                  <a:pt x="147899" y="128608"/>
                </a:lnTo>
                <a:cubicBezTo>
                  <a:pt x="137248" y="128608"/>
                  <a:pt x="128608" y="137248"/>
                  <a:pt x="128608" y="147899"/>
                </a:cubicBezTo>
                <a:lnTo>
                  <a:pt x="128608" y="173620"/>
                </a:lnTo>
                <a:cubicBezTo>
                  <a:pt x="128608" y="184271"/>
                  <a:pt x="137248" y="192911"/>
                  <a:pt x="147899" y="192911"/>
                </a:cubicBezTo>
                <a:lnTo>
                  <a:pt x="186481" y="192911"/>
                </a:lnTo>
                <a:cubicBezTo>
                  <a:pt x="197131" y="192911"/>
                  <a:pt x="205772" y="184271"/>
                  <a:pt x="205772" y="173620"/>
                </a:cubicBezTo>
                <a:lnTo>
                  <a:pt x="205772" y="147899"/>
                </a:lnTo>
                <a:cubicBezTo>
                  <a:pt x="205772" y="137248"/>
                  <a:pt x="197131" y="128608"/>
                  <a:pt x="186481" y="128608"/>
                </a:cubicBezTo>
                <a:lnTo>
                  <a:pt x="180051" y="128608"/>
                </a:lnTo>
                <a:lnTo>
                  <a:pt x="180051" y="115747"/>
                </a:lnTo>
                <a:lnTo>
                  <a:pt x="218633" y="115747"/>
                </a:lnTo>
                <a:cubicBezTo>
                  <a:pt x="225747" y="115747"/>
                  <a:pt x="231494" y="110000"/>
                  <a:pt x="231494" y="102886"/>
                </a:cubicBezTo>
                <a:cubicBezTo>
                  <a:pt x="231494" y="95772"/>
                  <a:pt x="225747" y="90025"/>
                  <a:pt x="218633" y="90025"/>
                </a:cubicBezTo>
                <a:lnTo>
                  <a:pt x="128608" y="90025"/>
                </a:lnTo>
                <a:lnTo>
                  <a:pt x="128608" y="77165"/>
                </a:lnTo>
                <a:lnTo>
                  <a:pt x="135038" y="77165"/>
                </a:lnTo>
                <a:cubicBezTo>
                  <a:pt x="145688" y="77165"/>
                  <a:pt x="154329" y="68524"/>
                  <a:pt x="154329" y="57873"/>
                </a:cubicBezTo>
                <a:lnTo>
                  <a:pt x="154329" y="32152"/>
                </a:lnTo>
                <a:cubicBezTo>
                  <a:pt x="154329" y="21502"/>
                  <a:pt x="145688" y="12861"/>
                  <a:pt x="135038" y="12861"/>
                </a:cubicBezTo>
                <a:lnTo>
                  <a:pt x="96456" y="12861"/>
                </a:lnTo>
                <a:close/>
                <a:moveTo>
                  <a:pt x="180051" y="151114"/>
                </a:moveTo>
                <a:lnTo>
                  <a:pt x="183266" y="151114"/>
                </a:lnTo>
                <a:lnTo>
                  <a:pt x="183266" y="170405"/>
                </a:lnTo>
                <a:lnTo>
                  <a:pt x="151114" y="170405"/>
                </a:lnTo>
                <a:lnTo>
                  <a:pt x="151114" y="151114"/>
                </a:lnTo>
                <a:lnTo>
                  <a:pt x="180051" y="151114"/>
                </a:lnTo>
                <a:close/>
                <a:moveTo>
                  <a:pt x="77165" y="151114"/>
                </a:moveTo>
                <a:lnTo>
                  <a:pt x="80380" y="151114"/>
                </a:lnTo>
                <a:lnTo>
                  <a:pt x="80380" y="170405"/>
                </a:lnTo>
                <a:lnTo>
                  <a:pt x="48228" y="170405"/>
                </a:lnTo>
                <a:lnTo>
                  <a:pt x="48228" y="151114"/>
                </a:lnTo>
                <a:lnTo>
                  <a:pt x="77165" y="151114"/>
                </a:lnTo>
                <a:close/>
              </a:path>
            </a:pathLst>
          </a:custGeom>
          <a:solidFill>
            <a:srgbClr val="B38B59"/>
          </a:solidFill>
          <a:ln/>
        </p:spPr>
        <p:txBody>
          <a:bodyPr/>
          <a:lstStyle/>
          <a:p>
            <a:endParaRPr lang="zh-CN" altLang="en-US"/>
          </a:p>
        </p:txBody>
      </p:sp>
      <p:sp>
        <p:nvSpPr>
          <p:cNvPr id="15" name="Text 13"/>
          <p:cNvSpPr/>
          <p:nvPr/>
        </p:nvSpPr>
        <p:spPr>
          <a:xfrm>
            <a:off x="1137463" y="3578149"/>
            <a:ext cx="1211769" cy="320090"/>
          </a:xfrm>
          <a:prstGeom prst="rect">
            <a:avLst/>
          </a:prstGeom>
          <a:noFill/>
          <a:ln/>
        </p:spPr>
        <p:txBody>
          <a:bodyPr wrap="square" lIns="0" tIns="0" rIns="0" bIns="0" rtlCol="0" anchor="ctr"/>
          <a:lstStyle/>
          <a:p>
            <a:pPr>
              <a:lnSpc>
                <a:spcPct val="130000"/>
              </a:lnSpc>
            </a:pPr>
            <a:r>
              <a:rPr lang="en-US" sz="1620" b="1" dirty="0">
                <a:solidFill>
                  <a:srgbClr val="E0E2E4"/>
                </a:solidFill>
                <a:latin typeface="MiSans" pitchFamily="34" charset="0"/>
                <a:ea typeface="MiSans" pitchFamily="34" charset="-122"/>
                <a:cs typeface="MiSans" pitchFamily="34" charset="-120"/>
              </a:rPr>
              <a:t>Service网络</a:t>
            </a:r>
            <a:endParaRPr lang="en-US" sz="1600" dirty="0"/>
          </a:p>
        </p:txBody>
      </p:sp>
      <p:sp>
        <p:nvSpPr>
          <p:cNvPr id="16" name="Text 14"/>
          <p:cNvSpPr/>
          <p:nvPr/>
        </p:nvSpPr>
        <p:spPr>
          <a:xfrm>
            <a:off x="788793" y="3989693"/>
            <a:ext cx="6996253" cy="457271"/>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Service拥有稳定的虚拟IP地址(ClusterIP),通过kube-proxy实现负载均衡和服务发现。Service IP不会随Pod变化而改变。</a:t>
            </a:r>
            <a:endParaRPr lang="en-US" sz="1600" dirty="0"/>
          </a:p>
        </p:txBody>
      </p:sp>
      <p:sp>
        <p:nvSpPr>
          <p:cNvPr id="17" name="Shape 15"/>
          <p:cNvSpPr/>
          <p:nvPr/>
        </p:nvSpPr>
        <p:spPr>
          <a:xfrm>
            <a:off x="651612" y="4675601"/>
            <a:ext cx="7190594" cy="1143179"/>
          </a:xfrm>
          <a:custGeom>
            <a:avLst/>
            <a:gdLst/>
            <a:ahLst/>
            <a:cxnLst/>
            <a:rect l="l" t="t" r="r" b="b"/>
            <a:pathLst>
              <a:path w="7190594" h="1143179">
                <a:moveTo>
                  <a:pt x="91454" y="0"/>
                </a:moveTo>
                <a:lnTo>
                  <a:pt x="7099139" y="0"/>
                </a:lnTo>
                <a:cubicBezTo>
                  <a:pt x="7149648" y="0"/>
                  <a:pt x="7190594" y="40945"/>
                  <a:pt x="7190594" y="91454"/>
                </a:cubicBezTo>
                <a:lnTo>
                  <a:pt x="7190594" y="1051724"/>
                </a:lnTo>
                <a:cubicBezTo>
                  <a:pt x="7190594" y="1102233"/>
                  <a:pt x="7149648" y="1143179"/>
                  <a:pt x="7099139" y="1143179"/>
                </a:cubicBezTo>
                <a:lnTo>
                  <a:pt x="91454" y="1143179"/>
                </a:lnTo>
                <a:cubicBezTo>
                  <a:pt x="40945" y="1143179"/>
                  <a:pt x="0" y="1102233"/>
                  <a:pt x="0" y="1051724"/>
                </a:cubicBezTo>
                <a:lnTo>
                  <a:pt x="0" y="91454"/>
                </a:lnTo>
                <a:cubicBezTo>
                  <a:pt x="0" y="40979"/>
                  <a:pt x="40979" y="0"/>
                  <a:pt x="91454" y="0"/>
                </a:cubicBezTo>
                <a:close/>
              </a:path>
            </a:pathLst>
          </a:custGeom>
          <a:solidFill>
            <a:srgbClr val="1A1D21">
              <a:alpha val="50196"/>
            </a:srgbClr>
          </a:solidFill>
          <a:ln/>
        </p:spPr>
        <p:txBody>
          <a:bodyPr/>
          <a:lstStyle/>
          <a:p>
            <a:endParaRPr lang="zh-CN" altLang="en-US"/>
          </a:p>
        </p:txBody>
      </p:sp>
      <p:sp>
        <p:nvSpPr>
          <p:cNvPr id="18" name="Shape 16"/>
          <p:cNvSpPr/>
          <p:nvPr/>
        </p:nvSpPr>
        <p:spPr>
          <a:xfrm>
            <a:off x="830233" y="4869941"/>
            <a:ext cx="180051" cy="205772"/>
          </a:xfrm>
          <a:custGeom>
            <a:avLst/>
            <a:gdLst/>
            <a:ahLst/>
            <a:cxnLst/>
            <a:rect l="l" t="t" r="r" b="b"/>
            <a:pathLst>
              <a:path w="180051" h="205772">
                <a:moveTo>
                  <a:pt x="25722" y="12861"/>
                </a:moveTo>
                <a:cubicBezTo>
                  <a:pt x="11534" y="12861"/>
                  <a:pt x="0" y="24395"/>
                  <a:pt x="0" y="38582"/>
                </a:cubicBezTo>
                <a:lnTo>
                  <a:pt x="0" y="64304"/>
                </a:lnTo>
                <a:cubicBezTo>
                  <a:pt x="0" y="78491"/>
                  <a:pt x="11534" y="90025"/>
                  <a:pt x="25722" y="90025"/>
                </a:cubicBezTo>
                <a:lnTo>
                  <a:pt x="154329" y="90025"/>
                </a:lnTo>
                <a:cubicBezTo>
                  <a:pt x="168516" y="90025"/>
                  <a:pt x="180051" y="78491"/>
                  <a:pt x="180051" y="64304"/>
                </a:cubicBezTo>
                <a:lnTo>
                  <a:pt x="180051" y="38582"/>
                </a:lnTo>
                <a:cubicBezTo>
                  <a:pt x="180051" y="24395"/>
                  <a:pt x="168516" y="12861"/>
                  <a:pt x="154329" y="12861"/>
                </a:cubicBezTo>
                <a:lnTo>
                  <a:pt x="25722" y="12861"/>
                </a:lnTo>
                <a:close/>
                <a:moveTo>
                  <a:pt x="112532" y="41797"/>
                </a:moveTo>
                <a:cubicBezTo>
                  <a:pt x="117855" y="41797"/>
                  <a:pt x="122177" y="46120"/>
                  <a:pt x="122177" y="51443"/>
                </a:cubicBezTo>
                <a:cubicBezTo>
                  <a:pt x="122177" y="56767"/>
                  <a:pt x="117855" y="61089"/>
                  <a:pt x="112532" y="61089"/>
                </a:cubicBezTo>
                <a:cubicBezTo>
                  <a:pt x="107208" y="61089"/>
                  <a:pt x="102886" y="56767"/>
                  <a:pt x="102886" y="51443"/>
                </a:cubicBezTo>
                <a:cubicBezTo>
                  <a:pt x="102886" y="46120"/>
                  <a:pt x="107208" y="41797"/>
                  <a:pt x="112532" y="41797"/>
                </a:cubicBezTo>
                <a:close/>
                <a:moveTo>
                  <a:pt x="135038" y="51443"/>
                </a:moveTo>
                <a:cubicBezTo>
                  <a:pt x="135038" y="46120"/>
                  <a:pt x="139360" y="41797"/>
                  <a:pt x="144684" y="41797"/>
                </a:cubicBezTo>
                <a:cubicBezTo>
                  <a:pt x="150007" y="41797"/>
                  <a:pt x="154329" y="46120"/>
                  <a:pt x="154329" y="51443"/>
                </a:cubicBezTo>
                <a:cubicBezTo>
                  <a:pt x="154329" y="56767"/>
                  <a:pt x="150007" y="61089"/>
                  <a:pt x="144684" y="61089"/>
                </a:cubicBezTo>
                <a:cubicBezTo>
                  <a:pt x="139360" y="61089"/>
                  <a:pt x="135038" y="56767"/>
                  <a:pt x="135038" y="51443"/>
                </a:cubicBezTo>
                <a:close/>
                <a:moveTo>
                  <a:pt x="25722" y="115747"/>
                </a:moveTo>
                <a:cubicBezTo>
                  <a:pt x="11534" y="115747"/>
                  <a:pt x="0" y="127281"/>
                  <a:pt x="0" y="141468"/>
                </a:cubicBezTo>
                <a:lnTo>
                  <a:pt x="0" y="167190"/>
                </a:lnTo>
                <a:cubicBezTo>
                  <a:pt x="0" y="181377"/>
                  <a:pt x="11534" y="192911"/>
                  <a:pt x="25722" y="192911"/>
                </a:cubicBezTo>
                <a:lnTo>
                  <a:pt x="154329" y="192911"/>
                </a:lnTo>
                <a:cubicBezTo>
                  <a:pt x="168516" y="192911"/>
                  <a:pt x="180051" y="181377"/>
                  <a:pt x="180051" y="167190"/>
                </a:cubicBezTo>
                <a:lnTo>
                  <a:pt x="180051" y="141468"/>
                </a:lnTo>
                <a:cubicBezTo>
                  <a:pt x="180051" y="127281"/>
                  <a:pt x="168516" y="115747"/>
                  <a:pt x="154329" y="115747"/>
                </a:cubicBezTo>
                <a:lnTo>
                  <a:pt x="25722" y="115747"/>
                </a:lnTo>
                <a:close/>
                <a:moveTo>
                  <a:pt x="112532" y="144684"/>
                </a:moveTo>
                <a:cubicBezTo>
                  <a:pt x="117855" y="144684"/>
                  <a:pt x="122177" y="149006"/>
                  <a:pt x="122177" y="154329"/>
                </a:cubicBezTo>
                <a:cubicBezTo>
                  <a:pt x="122177" y="159653"/>
                  <a:pt x="117855" y="163975"/>
                  <a:pt x="112532" y="163975"/>
                </a:cubicBezTo>
                <a:cubicBezTo>
                  <a:pt x="107208" y="163975"/>
                  <a:pt x="102886" y="159653"/>
                  <a:pt x="102886" y="154329"/>
                </a:cubicBezTo>
                <a:cubicBezTo>
                  <a:pt x="102886" y="149006"/>
                  <a:pt x="107208" y="144684"/>
                  <a:pt x="112532" y="144684"/>
                </a:cubicBezTo>
                <a:close/>
                <a:moveTo>
                  <a:pt x="135038" y="154329"/>
                </a:moveTo>
                <a:cubicBezTo>
                  <a:pt x="135038" y="149006"/>
                  <a:pt x="139360" y="144684"/>
                  <a:pt x="144684" y="144684"/>
                </a:cubicBezTo>
                <a:cubicBezTo>
                  <a:pt x="150007" y="144684"/>
                  <a:pt x="154329" y="149006"/>
                  <a:pt x="154329" y="154329"/>
                </a:cubicBezTo>
                <a:cubicBezTo>
                  <a:pt x="154329" y="159653"/>
                  <a:pt x="150007" y="163975"/>
                  <a:pt x="144684" y="163975"/>
                </a:cubicBezTo>
                <a:cubicBezTo>
                  <a:pt x="139360" y="163975"/>
                  <a:pt x="135038" y="159653"/>
                  <a:pt x="135038" y="154329"/>
                </a:cubicBezTo>
                <a:close/>
              </a:path>
            </a:pathLst>
          </a:custGeom>
          <a:solidFill>
            <a:srgbClr val="B38B59"/>
          </a:solidFill>
          <a:ln/>
        </p:spPr>
        <p:txBody>
          <a:bodyPr/>
          <a:lstStyle/>
          <a:p>
            <a:endParaRPr lang="zh-CN" altLang="en-US"/>
          </a:p>
        </p:txBody>
      </p:sp>
      <p:sp>
        <p:nvSpPr>
          <p:cNvPr id="19" name="Text 17"/>
          <p:cNvSpPr/>
          <p:nvPr/>
        </p:nvSpPr>
        <p:spPr>
          <a:xfrm>
            <a:off x="1137463" y="4812782"/>
            <a:ext cx="1017429" cy="320090"/>
          </a:xfrm>
          <a:prstGeom prst="rect">
            <a:avLst/>
          </a:prstGeom>
          <a:noFill/>
          <a:ln/>
        </p:spPr>
        <p:txBody>
          <a:bodyPr wrap="square" lIns="0" tIns="0" rIns="0" bIns="0" rtlCol="0" anchor="ctr"/>
          <a:lstStyle/>
          <a:p>
            <a:pPr>
              <a:lnSpc>
                <a:spcPct val="130000"/>
              </a:lnSpc>
            </a:pPr>
            <a:r>
              <a:rPr lang="en-US" sz="1620" b="1" dirty="0">
                <a:solidFill>
                  <a:srgbClr val="E0E2E4"/>
                </a:solidFill>
                <a:latin typeface="MiSans" pitchFamily="34" charset="0"/>
                <a:ea typeface="MiSans" pitchFamily="34" charset="-122"/>
                <a:cs typeface="MiSans" pitchFamily="34" charset="-120"/>
              </a:rPr>
              <a:t>Node网络</a:t>
            </a:r>
            <a:endParaRPr lang="en-US" sz="1600" dirty="0"/>
          </a:p>
        </p:txBody>
      </p:sp>
      <p:sp>
        <p:nvSpPr>
          <p:cNvPr id="20" name="Text 18"/>
          <p:cNvSpPr/>
          <p:nvPr/>
        </p:nvSpPr>
        <p:spPr>
          <a:xfrm>
            <a:off x="788793" y="5224326"/>
            <a:ext cx="6996253" cy="457271"/>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节点网络用于节点之间以及节点与Pod之间的通信。每个节点拥有唯一的IP地址,节点网络通常由云提供商或数据中心网络提供。</a:t>
            </a:r>
            <a:endParaRPr lang="en-US" sz="1600" dirty="0"/>
          </a:p>
        </p:txBody>
      </p:sp>
      <p:sp>
        <p:nvSpPr>
          <p:cNvPr id="21" name="Shape 19"/>
          <p:cNvSpPr/>
          <p:nvPr/>
        </p:nvSpPr>
        <p:spPr>
          <a:xfrm>
            <a:off x="651612" y="5910233"/>
            <a:ext cx="7190594" cy="1143179"/>
          </a:xfrm>
          <a:custGeom>
            <a:avLst/>
            <a:gdLst/>
            <a:ahLst/>
            <a:cxnLst/>
            <a:rect l="l" t="t" r="r" b="b"/>
            <a:pathLst>
              <a:path w="7190594" h="1143179">
                <a:moveTo>
                  <a:pt x="91454" y="0"/>
                </a:moveTo>
                <a:lnTo>
                  <a:pt x="7099139" y="0"/>
                </a:lnTo>
                <a:cubicBezTo>
                  <a:pt x="7149648" y="0"/>
                  <a:pt x="7190594" y="40945"/>
                  <a:pt x="7190594" y="91454"/>
                </a:cubicBezTo>
                <a:lnTo>
                  <a:pt x="7190594" y="1051724"/>
                </a:lnTo>
                <a:cubicBezTo>
                  <a:pt x="7190594" y="1102233"/>
                  <a:pt x="7149648" y="1143179"/>
                  <a:pt x="7099139" y="1143179"/>
                </a:cubicBezTo>
                <a:lnTo>
                  <a:pt x="91454" y="1143179"/>
                </a:lnTo>
                <a:cubicBezTo>
                  <a:pt x="40945" y="1143179"/>
                  <a:pt x="0" y="1102233"/>
                  <a:pt x="0" y="1051724"/>
                </a:cubicBezTo>
                <a:lnTo>
                  <a:pt x="0" y="91454"/>
                </a:lnTo>
                <a:cubicBezTo>
                  <a:pt x="0" y="40979"/>
                  <a:pt x="40979" y="0"/>
                  <a:pt x="91454" y="0"/>
                </a:cubicBezTo>
                <a:close/>
              </a:path>
            </a:pathLst>
          </a:custGeom>
          <a:solidFill>
            <a:srgbClr val="1A1D21">
              <a:alpha val="50196"/>
            </a:srgbClr>
          </a:solidFill>
          <a:ln/>
        </p:spPr>
        <p:txBody>
          <a:bodyPr/>
          <a:lstStyle/>
          <a:p>
            <a:endParaRPr lang="zh-CN" altLang="en-US"/>
          </a:p>
        </p:txBody>
      </p:sp>
      <p:sp>
        <p:nvSpPr>
          <p:cNvPr id="22" name="Shape 20"/>
          <p:cNvSpPr/>
          <p:nvPr/>
        </p:nvSpPr>
        <p:spPr>
          <a:xfrm>
            <a:off x="817373" y="6104574"/>
            <a:ext cx="205772" cy="205772"/>
          </a:xfrm>
          <a:custGeom>
            <a:avLst/>
            <a:gdLst/>
            <a:ahLst/>
            <a:cxnLst/>
            <a:rect l="l" t="t" r="r" b="b"/>
            <a:pathLst>
              <a:path w="205772" h="205772">
                <a:moveTo>
                  <a:pt x="102886" y="0"/>
                </a:moveTo>
                <a:cubicBezTo>
                  <a:pt x="104735" y="0"/>
                  <a:pt x="106584" y="402"/>
                  <a:pt x="108272" y="1166"/>
                </a:cubicBezTo>
                <a:lnTo>
                  <a:pt x="183989" y="33277"/>
                </a:lnTo>
                <a:cubicBezTo>
                  <a:pt x="192831" y="37015"/>
                  <a:pt x="199422" y="45736"/>
                  <a:pt x="199382" y="56266"/>
                </a:cubicBezTo>
                <a:cubicBezTo>
                  <a:pt x="199181" y="96134"/>
                  <a:pt x="182784" y="169079"/>
                  <a:pt x="113536" y="202235"/>
                </a:cubicBezTo>
                <a:cubicBezTo>
                  <a:pt x="106825" y="205451"/>
                  <a:pt x="99028" y="205451"/>
                  <a:pt x="92316" y="202235"/>
                </a:cubicBezTo>
                <a:cubicBezTo>
                  <a:pt x="23029" y="169079"/>
                  <a:pt x="6672" y="96134"/>
                  <a:pt x="6471" y="56266"/>
                </a:cubicBezTo>
                <a:cubicBezTo>
                  <a:pt x="6430" y="45736"/>
                  <a:pt x="13022" y="37015"/>
                  <a:pt x="21863" y="33277"/>
                </a:cubicBezTo>
                <a:lnTo>
                  <a:pt x="97541" y="1166"/>
                </a:lnTo>
                <a:cubicBezTo>
                  <a:pt x="99229" y="402"/>
                  <a:pt x="101037" y="0"/>
                  <a:pt x="102886" y="0"/>
                </a:cubicBezTo>
                <a:close/>
                <a:moveTo>
                  <a:pt x="102886" y="26847"/>
                </a:moveTo>
                <a:lnTo>
                  <a:pt x="102886" y="178805"/>
                </a:lnTo>
                <a:cubicBezTo>
                  <a:pt x="158348" y="151958"/>
                  <a:pt x="173259" y="92477"/>
                  <a:pt x="173620" y="56869"/>
                </a:cubicBezTo>
                <a:lnTo>
                  <a:pt x="102886" y="26887"/>
                </a:lnTo>
                <a:lnTo>
                  <a:pt x="102886" y="26887"/>
                </a:lnTo>
                <a:close/>
              </a:path>
            </a:pathLst>
          </a:custGeom>
          <a:solidFill>
            <a:srgbClr val="B38B59"/>
          </a:solidFill>
          <a:ln/>
        </p:spPr>
        <p:txBody>
          <a:bodyPr/>
          <a:lstStyle/>
          <a:p>
            <a:endParaRPr lang="zh-CN" altLang="en-US"/>
          </a:p>
        </p:txBody>
      </p:sp>
      <p:sp>
        <p:nvSpPr>
          <p:cNvPr id="23" name="Text 21"/>
          <p:cNvSpPr/>
          <p:nvPr/>
        </p:nvSpPr>
        <p:spPr>
          <a:xfrm>
            <a:off x="1137463" y="6047415"/>
            <a:ext cx="925975" cy="320090"/>
          </a:xfrm>
          <a:prstGeom prst="rect">
            <a:avLst/>
          </a:prstGeom>
          <a:noFill/>
          <a:ln/>
        </p:spPr>
        <p:txBody>
          <a:bodyPr wrap="square" lIns="0" tIns="0" rIns="0" bIns="0" rtlCol="0" anchor="ctr"/>
          <a:lstStyle/>
          <a:p>
            <a:pPr>
              <a:lnSpc>
                <a:spcPct val="130000"/>
              </a:lnSpc>
            </a:pPr>
            <a:r>
              <a:rPr lang="en-US" sz="1620" b="1" dirty="0">
                <a:solidFill>
                  <a:srgbClr val="E0E2E4"/>
                </a:solidFill>
                <a:latin typeface="MiSans" pitchFamily="34" charset="0"/>
                <a:ea typeface="MiSans" pitchFamily="34" charset="-122"/>
                <a:cs typeface="MiSans" pitchFamily="34" charset="-120"/>
              </a:rPr>
              <a:t>网络策略</a:t>
            </a:r>
            <a:endParaRPr lang="en-US" sz="1600" dirty="0"/>
          </a:p>
        </p:txBody>
      </p:sp>
      <p:sp>
        <p:nvSpPr>
          <p:cNvPr id="24" name="Text 22"/>
          <p:cNvSpPr/>
          <p:nvPr/>
        </p:nvSpPr>
        <p:spPr>
          <a:xfrm>
            <a:off x="788793" y="6458959"/>
            <a:ext cx="6996253" cy="457271"/>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NetworkPolicy定义Pod之间的网络访问规则,支持基于标签的选择器和IP地址段的流量控制,实现零信任网络安全模型。</a:t>
            </a:r>
            <a:endParaRPr lang="en-US" sz="1600" dirty="0"/>
          </a:p>
        </p:txBody>
      </p:sp>
      <p:sp>
        <p:nvSpPr>
          <p:cNvPr id="25" name="Shape 23"/>
          <p:cNvSpPr/>
          <p:nvPr/>
        </p:nvSpPr>
        <p:spPr>
          <a:xfrm>
            <a:off x="8226421" y="1514712"/>
            <a:ext cx="7567842" cy="3166605"/>
          </a:xfrm>
          <a:custGeom>
            <a:avLst/>
            <a:gdLst/>
            <a:ahLst/>
            <a:cxnLst/>
            <a:rect l="l" t="t" r="r" b="b"/>
            <a:pathLst>
              <a:path w="7567842" h="3166605">
                <a:moveTo>
                  <a:pt x="91452" y="0"/>
                </a:moveTo>
                <a:lnTo>
                  <a:pt x="7476391" y="0"/>
                </a:lnTo>
                <a:cubicBezTo>
                  <a:pt x="7526898" y="0"/>
                  <a:pt x="7567842" y="40944"/>
                  <a:pt x="7567842" y="91452"/>
                </a:cubicBezTo>
                <a:lnTo>
                  <a:pt x="7567842" y="3075153"/>
                </a:lnTo>
                <a:cubicBezTo>
                  <a:pt x="7567842" y="3125661"/>
                  <a:pt x="7526898" y="3166605"/>
                  <a:pt x="7476391" y="3166605"/>
                </a:cubicBezTo>
                <a:lnTo>
                  <a:pt x="91452" y="3166605"/>
                </a:lnTo>
                <a:cubicBezTo>
                  <a:pt x="40944" y="3166605"/>
                  <a:pt x="0" y="3125661"/>
                  <a:pt x="0" y="3075153"/>
                </a:cubicBezTo>
                <a:lnTo>
                  <a:pt x="0" y="91452"/>
                </a:lnTo>
                <a:cubicBezTo>
                  <a:pt x="0" y="40944"/>
                  <a:pt x="40944" y="0"/>
                  <a:pt x="91452"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6" name="Shape 24"/>
          <p:cNvSpPr/>
          <p:nvPr/>
        </p:nvSpPr>
        <p:spPr>
          <a:xfrm>
            <a:off x="8457914" y="1749063"/>
            <a:ext cx="200056" cy="228636"/>
          </a:xfrm>
          <a:custGeom>
            <a:avLst/>
            <a:gdLst/>
            <a:ahLst/>
            <a:cxnLst/>
            <a:rect l="l" t="t" r="r" b="b"/>
            <a:pathLst>
              <a:path w="200056" h="228636">
                <a:moveTo>
                  <a:pt x="57159" y="-14290"/>
                </a:moveTo>
                <a:cubicBezTo>
                  <a:pt x="65063" y="-14290"/>
                  <a:pt x="71449" y="-7904"/>
                  <a:pt x="71449" y="0"/>
                </a:cubicBezTo>
                <a:lnTo>
                  <a:pt x="71449" y="42869"/>
                </a:lnTo>
                <a:lnTo>
                  <a:pt x="128608" y="42869"/>
                </a:lnTo>
                <a:lnTo>
                  <a:pt x="128608" y="0"/>
                </a:lnTo>
                <a:cubicBezTo>
                  <a:pt x="128608" y="-7904"/>
                  <a:pt x="134993" y="-14290"/>
                  <a:pt x="142897" y="-14290"/>
                </a:cubicBezTo>
                <a:cubicBezTo>
                  <a:pt x="150801" y="-14290"/>
                  <a:pt x="157187" y="-7904"/>
                  <a:pt x="157187" y="0"/>
                </a:cubicBezTo>
                <a:lnTo>
                  <a:pt x="157187" y="42869"/>
                </a:lnTo>
                <a:lnTo>
                  <a:pt x="185767" y="42869"/>
                </a:lnTo>
                <a:cubicBezTo>
                  <a:pt x="193671" y="42869"/>
                  <a:pt x="200056" y="49255"/>
                  <a:pt x="200056" y="57159"/>
                </a:cubicBezTo>
                <a:cubicBezTo>
                  <a:pt x="200056" y="65063"/>
                  <a:pt x="193671" y="71449"/>
                  <a:pt x="185767" y="71449"/>
                </a:cubicBezTo>
                <a:lnTo>
                  <a:pt x="185767" y="100028"/>
                </a:lnTo>
                <a:cubicBezTo>
                  <a:pt x="185767" y="142495"/>
                  <a:pt x="154865" y="177773"/>
                  <a:pt x="114318" y="184561"/>
                </a:cubicBezTo>
                <a:lnTo>
                  <a:pt x="114318" y="214346"/>
                </a:lnTo>
                <a:cubicBezTo>
                  <a:pt x="114318" y="222250"/>
                  <a:pt x="107932" y="228636"/>
                  <a:pt x="100028" y="228636"/>
                </a:cubicBezTo>
                <a:cubicBezTo>
                  <a:pt x="92124" y="228636"/>
                  <a:pt x="85738" y="222250"/>
                  <a:pt x="85738" y="214346"/>
                </a:cubicBezTo>
                <a:lnTo>
                  <a:pt x="85738" y="184561"/>
                </a:lnTo>
                <a:cubicBezTo>
                  <a:pt x="45191" y="177773"/>
                  <a:pt x="14290" y="142495"/>
                  <a:pt x="14290" y="100028"/>
                </a:cubicBezTo>
                <a:lnTo>
                  <a:pt x="14290" y="71449"/>
                </a:lnTo>
                <a:cubicBezTo>
                  <a:pt x="6386" y="71449"/>
                  <a:pt x="0" y="65063"/>
                  <a:pt x="0" y="57159"/>
                </a:cubicBezTo>
                <a:cubicBezTo>
                  <a:pt x="0" y="49255"/>
                  <a:pt x="6386" y="42869"/>
                  <a:pt x="14290" y="42869"/>
                </a:cubicBezTo>
                <a:lnTo>
                  <a:pt x="42869" y="42869"/>
                </a:lnTo>
                <a:lnTo>
                  <a:pt x="42869" y="0"/>
                </a:lnTo>
                <a:cubicBezTo>
                  <a:pt x="42869" y="-7904"/>
                  <a:pt x="49255" y="-14290"/>
                  <a:pt x="57159" y="-14290"/>
                </a:cubicBezTo>
                <a:close/>
              </a:path>
            </a:pathLst>
          </a:custGeom>
          <a:solidFill>
            <a:srgbClr val="3C8082"/>
          </a:solidFill>
          <a:ln/>
        </p:spPr>
        <p:txBody>
          <a:bodyPr/>
          <a:lstStyle/>
          <a:p>
            <a:endParaRPr lang="zh-CN" altLang="en-US"/>
          </a:p>
        </p:txBody>
      </p:sp>
      <p:sp>
        <p:nvSpPr>
          <p:cNvPr id="27" name="Text 25"/>
          <p:cNvSpPr/>
          <p:nvPr/>
        </p:nvSpPr>
        <p:spPr>
          <a:xfrm>
            <a:off x="8700840" y="1703336"/>
            <a:ext cx="7019117" cy="320090"/>
          </a:xfrm>
          <a:prstGeom prst="rect">
            <a:avLst/>
          </a:prstGeom>
          <a:noFill/>
          <a:ln/>
        </p:spPr>
        <p:txBody>
          <a:bodyPr wrap="square" lIns="0" tIns="0" rIns="0" bIns="0" rtlCol="0" anchor="ctr"/>
          <a:lstStyle/>
          <a:p>
            <a:pPr>
              <a:lnSpc>
                <a:spcPct val="120000"/>
              </a:lnSpc>
            </a:pPr>
            <a:r>
              <a:rPr lang="en-US" sz="1800" b="1" dirty="0">
                <a:solidFill>
                  <a:srgbClr val="E0E2E4"/>
                </a:solidFill>
                <a:latin typeface="MiSans" pitchFamily="34" charset="0"/>
                <a:ea typeface="MiSans" pitchFamily="34" charset="-122"/>
                <a:cs typeface="MiSans" pitchFamily="34" charset="-120"/>
              </a:rPr>
              <a:t>CNI插件体系</a:t>
            </a:r>
            <a:endParaRPr lang="en-US" sz="1600" dirty="0"/>
          </a:p>
        </p:txBody>
      </p:sp>
      <p:sp>
        <p:nvSpPr>
          <p:cNvPr id="28" name="Shape 26"/>
          <p:cNvSpPr/>
          <p:nvPr/>
        </p:nvSpPr>
        <p:spPr>
          <a:xfrm>
            <a:off x="8415045" y="2114880"/>
            <a:ext cx="7190594" cy="731634"/>
          </a:xfrm>
          <a:custGeom>
            <a:avLst/>
            <a:gdLst/>
            <a:ahLst/>
            <a:cxnLst/>
            <a:rect l="l" t="t" r="r" b="b"/>
            <a:pathLst>
              <a:path w="7190594" h="731634">
                <a:moveTo>
                  <a:pt x="91454" y="0"/>
                </a:moveTo>
                <a:lnTo>
                  <a:pt x="7099139" y="0"/>
                </a:lnTo>
                <a:cubicBezTo>
                  <a:pt x="7149648" y="0"/>
                  <a:pt x="7190594" y="40945"/>
                  <a:pt x="7190594" y="91454"/>
                </a:cubicBezTo>
                <a:lnTo>
                  <a:pt x="7190594" y="640180"/>
                </a:lnTo>
                <a:cubicBezTo>
                  <a:pt x="7190594" y="690689"/>
                  <a:pt x="7149648" y="731634"/>
                  <a:pt x="7099139" y="731634"/>
                </a:cubicBezTo>
                <a:lnTo>
                  <a:pt x="91454" y="731634"/>
                </a:lnTo>
                <a:cubicBezTo>
                  <a:pt x="40945" y="731634"/>
                  <a:pt x="0" y="690689"/>
                  <a:pt x="0" y="640180"/>
                </a:cubicBezTo>
                <a:lnTo>
                  <a:pt x="0" y="91454"/>
                </a:lnTo>
                <a:cubicBezTo>
                  <a:pt x="0" y="40945"/>
                  <a:pt x="40945" y="0"/>
                  <a:pt x="91454" y="0"/>
                </a:cubicBezTo>
                <a:close/>
              </a:path>
            </a:pathLst>
          </a:custGeom>
          <a:solidFill>
            <a:srgbClr val="1A1D21">
              <a:alpha val="50196"/>
            </a:srgbClr>
          </a:solidFill>
          <a:ln/>
        </p:spPr>
        <p:txBody>
          <a:bodyPr/>
          <a:lstStyle/>
          <a:p>
            <a:endParaRPr lang="zh-CN" altLang="en-US"/>
          </a:p>
        </p:txBody>
      </p:sp>
      <p:sp>
        <p:nvSpPr>
          <p:cNvPr id="29" name="Text 27"/>
          <p:cNvSpPr/>
          <p:nvPr/>
        </p:nvSpPr>
        <p:spPr>
          <a:xfrm>
            <a:off x="8506499" y="2206335"/>
            <a:ext cx="7099139" cy="274363"/>
          </a:xfrm>
          <a:prstGeom prst="rect">
            <a:avLst/>
          </a:prstGeom>
          <a:noFill/>
          <a:ln/>
        </p:spPr>
        <p:txBody>
          <a:bodyPr wrap="square" lIns="0" tIns="0" rIns="0" bIns="0" rtlCol="0" anchor="ctr"/>
          <a:lstStyle/>
          <a:p>
            <a:pPr>
              <a:lnSpc>
                <a:spcPct val="130000"/>
              </a:lnSpc>
            </a:pPr>
            <a:r>
              <a:rPr lang="en-US" sz="1440" b="1" dirty="0">
                <a:solidFill>
                  <a:srgbClr val="E0E2E4"/>
                </a:solidFill>
                <a:latin typeface="MiSans" pitchFamily="34" charset="0"/>
                <a:ea typeface="MiSans" pitchFamily="34" charset="-122"/>
                <a:cs typeface="MiSans" pitchFamily="34" charset="-120"/>
              </a:rPr>
              <a:t>Flannel</a:t>
            </a:r>
            <a:endParaRPr lang="en-US" sz="1600" dirty="0"/>
          </a:p>
        </p:txBody>
      </p:sp>
      <p:sp>
        <p:nvSpPr>
          <p:cNvPr id="30" name="Text 28"/>
          <p:cNvSpPr/>
          <p:nvPr/>
        </p:nvSpPr>
        <p:spPr>
          <a:xfrm>
            <a:off x="8506499" y="2526425"/>
            <a:ext cx="7087707" cy="228636"/>
          </a:xfrm>
          <a:prstGeom prst="rect">
            <a:avLst/>
          </a:prstGeom>
          <a:noFill/>
          <a:ln/>
        </p:spPr>
        <p:txBody>
          <a:bodyPr wrap="square" lIns="0" tIns="0" rIns="0" bIns="0" rtlCol="0" anchor="ctr"/>
          <a:lstStyle/>
          <a:p>
            <a:pPr>
              <a:lnSpc>
                <a:spcPct val="120000"/>
              </a:lnSpc>
            </a:pPr>
            <a:r>
              <a:rPr lang="en-US" sz="1260" dirty="0">
                <a:solidFill>
                  <a:srgbClr val="E0E2E4">
                    <a:alpha val="70000"/>
                  </a:srgbClr>
                </a:solidFill>
                <a:latin typeface="MiSans" pitchFamily="34" charset="0"/>
                <a:ea typeface="MiSans" pitchFamily="34" charset="-122"/>
                <a:cs typeface="MiSans" pitchFamily="34" charset="-120"/>
              </a:rPr>
              <a:t>简单易用的overlay网络,通过VXLAN实现跨节点Pod通信,适合中小规模集群</a:t>
            </a:r>
            <a:endParaRPr lang="en-US" sz="1600" dirty="0"/>
          </a:p>
        </p:txBody>
      </p:sp>
      <p:sp>
        <p:nvSpPr>
          <p:cNvPr id="31" name="Shape 29"/>
          <p:cNvSpPr/>
          <p:nvPr/>
        </p:nvSpPr>
        <p:spPr>
          <a:xfrm>
            <a:off x="8415045" y="2937969"/>
            <a:ext cx="7190594" cy="731634"/>
          </a:xfrm>
          <a:custGeom>
            <a:avLst/>
            <a:gdLst/>
            <a:ahLst/>
            <a:cxnLst/>
            <a:rect l="l" t="t" r="r" b="b"/>
            <a:pathLst>
              <a:path w="7190594" h="731634">
                <a:moveTo>
                  <a:pt x="91454" y="0"/>
                </a:moveTo>
                <a:lnTo>
                  <a:pt x="7099139" y="0"/>
                </a:lnTo>
                <a:cubicBezTo>
                  <a:pt x="7149648" y="0"/>
                  <a:pt x="7190594" y="40945"/>
                  <a:pt x="7190594" y="91454"/>
                </a:cubicBezTo>
                <a:lnTo>
                  <a:pt x="7190594" y="640180"/>
                </a:lnTo>
                <a:cubicBezTo>
                  <a:pt x="7190594" y="690689"/>
                  <a:pt x="7149648" y="731634"/>
                  <a:pt x="7099139" y="731634"/>
                </a:cubicBezTo>
                <a:lnTo>
                  <a:pt x="91454" y="731634"/>
                </a:lnTo>
                <a:cubicBezTo>
                  <a:pt x="40945" y="731634"/>
                  <a:pt x="0" y="690689"/>
                  <a:pt x="0" y="640180"/>
                </a:cubicBezTo>
                <a:lnTo>
                  <a:pt x="0" y="91454"/>
                </a:lnTo>
                <a:cubicBezTo>
                  <a:pt x="0" y="40945"/>
                  <a:pt x="40945" y="0"/>
                  <a:pt x="91454" y="0"/>
                </a:cubicBezTo>
                <a:close/>
              </a:path>
            </a:pathLst>
          </a:custGeom>
          <a:solidFill>
            <a:srgbClr val="1A1D21">
              <a:alpha val="50196"/>
            </a:srgbClr>
          </a:solidFill>
          <a:ln/>
        </p:spPr>
        <p:txBody>
          <a:bodyPr/>
          <a:lstStyle/>
          <a:p>
            <a:endParaRPr lang="zh-CN" altLang="en-US"/>
          </a:p>
        </p:txBody>
      </p:sp>
      <p:sp>
        <p:nvSpPr>
          <p:cNvPr id="32" name="Text 30"/>
          <p:cNvSpPr/>
          <p:nvPr/>
        </p:nvSpPr>
        <p:spPr>
          <a:xfrm>
            <a:off x="8506499" y="3029423"/>
            <a:ext cx="7099139" cy="274363"/>
          </a:xfrm>
          <a:prstGeom prst="rect">
            <a:avLst/>
          </a:prstGeom>
          <a:noFill/>
          <a:ln/>
        </p:spPr>
        <p:txBody>
          <a:bodyPr wrap="square" lIns="0" tIns="0" rIns="0" bIns="0" rtlCol="0" anchor="ctr"/>
          <a:lstStyle/>
          <a:p>
            <a:pPr>
              <a:lnSpc>
                <a:spcPct val="130000"/>
              </a:lnSpc>
            </a:pPr>
            <a:r>
              <a:rPr lang="en-US" sz="1440" b="1" dirty="0">
                <a:solidFill>
                  <a:srgbClr val="E0E2E4"/>
                </a:solidFill>
                <a:latin typeface="MiSans" pitchFamily="34" charset="0"/>
                <a:ea typeface="MiSans" pitchFamily="34" charset="-122"/>
                <a:cs typeface="MiSans" pitchFamily="34" charset="-120"/>
              </a:rPr>
              <a:t>Calico</a:t>
            </a:r>
            <a:endParaRPr lang="en-US" sz="1600" dirty="0"/>
          </a:p>
        </p:txBody>
      </p:sp>
      <p:sp>
        <p:nvSpPr>
          <p:cNvPr id="33" name="Text 31"/>
          <p:cNvSpPr/>
          <p:nvPr/>
        </p:nvSpPr>
        <p:spPr>
          <a:xfrm>
            <a:off x="8506499" y="3349513"/>
            <a:ext cx="7087707" cy="228636"/>
          </a:xfrm>
          <a:prstGeom prst="rect">
            <a:avLst/>
          </a:prstGeom>
          <a:noFill/>
          <a:ln/>
        </p:spPr>
        <p:txBody>
          <a:bodyPr wrap="square" lIns="0" tIns="0" rIns="0" bIns="0" rtlCol="0" anchor="ctr"/>
          <a:lstStyle/>
          <a:p>
            <a:pPr>
              <a:lnSpc>
                <a:spcPct val="120000"/>
              </a:lnSpc>
            </a:pPr>
            <a:r>
              <a:rPr lang="en-US" sz="1260" dirty="0">
                <a:solidFill>
                  <a:srgbClr val="E0E2E4">
                    <a:alpha val="70000"/>
                  </a:srgbClr>
                </a:solidFill>
                <a:latin typeface="MiSans" pitchFamily="34" charset="0"/>
                <a:ea typeface="MiSans" pitchFamily="34" charset="-122"/>
                <a:cs typeface="MiSans" pitchFamily="34" charset="-120"/>
              </a:rPr>
              <a:t>基于BGP的三层网络方案,支持NetworkPolicy,性能优异,适合大规模集群</a:t>
            </a:r>
            <a:endParaRPr lang="en-US" sz="1600" dirty="0"/>
          </a:p>
        </p:txBody>
      </p:sp>
      <p:sp>
        <p:nvSpPr>
          <p:cNvPr id="34" name="Shape 32"/>
          <p:cNvSpPr/>
          <p:nvPr/>
        </p:nvSpPr>
        <p:spPr>
          <a:xfrm>
            <a:off x="8415045" y="3761058"/>
            <a:ext cx="7190594" cy="731634"/>
          </a:xfrm>
          <a:custGeom>
            <a:avLst/>
            <a:gdLst/>
            <a:ahLst/>
            <a:cxnLst/>
            <a:rect l="l" t="t" r="r" b="b"/>
            <a:pathLst>
              <a:path w="7190594" h="731634">
                <a:moveTo>
                  <a:pt x="91454" y="0"/>
                </a:moveTo>
                <a:lnTo>
                  <a:pt x="7099139" y="0"/>
                </a:lnTo>
                <a:cubicBezTo>
                  <a:pt x="7149648" y="0"/>
                  <a:pt x="7190594" y="40945"/>
                  <a:pt x="7190594" y="91454"/>
                </a:cubicBezTo>
                <a:lnTo>
                  <a:pt x="7190594" y="640180"/>
                </a:lnTo>
                <a:cubicBezTo>
                  <a:pt x="7190594" y="690689"/>
                  <a:pt x="7149648" y="731634"/>
                  <a:pt x="7099139" y="731634"/>
                </a:cubicBezTo>
                <a:lnTo>
                  <a:pt x="91454" y="731634"/>
                </a:lnTo>
                <a:cubicBezTo>
                  <a:pt x="40945" y="731634"/>
                  <a:pt x="0" y="690689"/>
                  <a:pt x="0" y="640180"/>
                </a:cubicBezTo>
                <a:lnTo>
                  <a:pt x="0" y="91454"/>
                </a:lnTo>
                <a:cubicBezTo>
                  <a:pt x="0" y="40945"/>
                  <a:pt x="40945" y="0"/>
                  <a:pt x="91454" y="0"/>
                </a:cubicBezTo>
                <a:close/>
              </a:path>
            </a:pathLst>
          </a:custGeom>
          <a:solidFill>
            <a:srgbClr val="1A1D21">
              <a:alpha val="50196"/>
            </a:srgbClr>
          </a:solidFill>
          <a:ln/>
        </p:spPr>
        <p:txBody>
          <a:bodyPr/>
          <a:lstStyle/>
          <a:p>
            <a:endParaRPr lang="zh-CN" altLang="en-US"/>
          </a:p>
        </p:txBody>
      </p:sp>
      <p:sp>
        <p:nvSpPr>
          <p:cNvPr id="35" name="Text 33"/>
          <p:cNvSpPr/>
          <p:nvPr/>
        </p:nvSpPr>
        <p:spPr>
          <a:xfrm>
            <a:off x="8506499" y="3852512"/>
            <a:ext cx="7099139" cy="274363"/>
          </a:xfrm>
          <a:prstGeom prst="rect">
            <a:avLst/>
          </a:prstGeom>
          <a:noFill/>
          <a:ln/>
        </p:spPr>
        <p:txBody>
          <a:bodyPr wrap="square" lIns="0" tIns="0" rIns="0" bIns="0" rtlCol="0" anchor="ctr"/>
          <a:lstStyle/>
          <a:p>
            <a:pPr>
              <a:lnSpc>
                <a:spcPct val="130000"/>
              </a:lnSpc>
            </a:pPr>
            <a:r>
              <a:rPr lang="en-US" sz="1440" b="1" dirty="0">
                <a:solidFill>
                  <a:srgbClr val="E0E2E4"/>
                </a:solidFill>
                <a:latin typeface="MiSans" pitchFamily="34" charset="0"/>
                <a:ea typeface="MiSans" pitchFamily="34" charset="-122"/>
                <a:cs typeface="MiSans" pitchFamily="34" charset="-120"/>
              </a:rPr>
              <a:t>Cilium</a:t>
            </a:r>
            <a:endParaRPr lang="en-US" sz="1600" dirty="0"/>
          </a:p>
        </p:txBody>
      </p:sp>
      <p:sp>
        <p:nvSpPr>
          <p:cNvPr id="36" name="Text 34"/>
          <p:cNvSpPr/>
          <p:nvPr/>
        </p:nvSpPr>
        <p:spPr>
          <a:xfrm>
            <a:off x="8506499" y="4172602"/>
            <a:ext cx="7087707" cy="228636"/>
          </a:xfrm>
          <a:prstGeom prst="rect">
            <a:avLst/>
          </a:prstGeom>
          <a:noFill/>
          <a:ln/>
        </p:spPr>
        <p:txBody>
          <a:bodyPr wrap="square" lIns="0" tIns="0" rIns="0" bIns="0" rtlCol="0" anchor="ctr"/>
          <a:lstStyle/>
          <a:p>
            <a:pPr>
              <a:lnSpc>
                <a:spcPct val="120000"/>
              </a:lnSpc>
            </a:pPr>
            <a:r>
              <a:rPr lang="en-US" sz="1260" dirty="0">
                <a:solidFill>
                  <a:srgbClr val="E0E2E4">
                    <a:alpha val="70000"/>
                  </a:srgbClr>
                </a:solidFill>
                <a:latin typeface="MiSans" pitchFamily="34" charset="0"/>
                <a:ea typeface="MiSans" pitchFamily="34" charset="-122"/>
                <a:cs typeface="MiSans" pitchFamily="34" charset="-120"/>
              </a:rPr>
              <a:t>基于eBPF的下一代网络方案,支持L7网络策略,可观测性强,安全能力突出</a:t>
            </a:r>
            <a:endParaRPr lang="en-US" sz="1600" dirty="0"/>
          </a:p>
        </p:txBody>
      </p:sp>
      <p:sp>
        <p:nvSpPr>
          <p:cNvPr id="37" name="Shape 35"/>
          <p:cNvSpPr/>
          <p:nvPr/>
        </p:nvSpPr>
        <p:spPr>
          <a:xfrm>
            <a:off x="8226421" y="4829930"/>
            <a:ext cx="7567842" cy="2320653"/>
          </a:xfrm>
          <a:custGeom>
            <a:avLst/>
            <a:gdLst/>
            <a:ahLst/>
            <a:cxnLst/>
            <a:rect l="l" t="t" r="r" b="b"/>
            <a:pathLst>
              <a:path w="7567842" h="2320653">
                <a:moveTo>
                  <a:pt x="91457" y="0"/>
                </a:moveTo>
                <a:lnTo>
                  <a:pt x="7476386" y="0"/>
                </a:lnTo>
                <a:cubicBezTo>
                  <a:pt x="7526896" y="0"/>
                  <a:pt x="7567842" y="40947"/>
                  <a:pt x="7567842" y="91457"/>
                </a:cubicBezTo>
                <a:lnTo>
                  <a:pt x="7567842" y="2229196"/>
                </a:lnTo>
                <a:cubicBezTo>
                  <a:pt x="7567842" y="2279706"/>
                  <a:pt x="7526896" y="2320653"/>
                  <a:pt x="7476386" y="2320653"/>
                </a:cubicBezTo>
                <a:lnTo>
                  <a:pt x="91457" y="2320653"/>
                </a:lnTo>
                <a:cubicBezTo>
                  <a:pt x="40947" y="2320653"/>
                  <a:pt x="0" y="2279706"/>
                  <a:pt x="0" y="2229196"/>
                </a:cubicBezTo>
                <a:lnTo>
                  <a:pt x="0" y="91457"/>
                </a:lnTo>
                <a:cubicBezTo>
                  <a:pt x="0" y="40980"/>
                  <a:pt x="40980" y="0"/>
                  <a:pt x="91457"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38" name="Shape 36"/>
          <p:cNvSpPr/>
          <p:nvPr/>
        </p:nvSpPr>
        <p:spPr>
          <a:xfrm>
            <a:off x="8443624" y="5064281"/>
            <a:ext cx="228636" cy="228636"/>
          </a:xfrm>
          <a:custGeom>
            <a:avLst/>
            <a:gdLst/>
            <a:ahLst/>
            <a:cxnLst/>
            <a:rect l="l" t="t" r="r" b="b"/>
            <a:pathLst>
              <a:path w="228636" h="228636">
                <a:moveTo>
                  <a:pt x="114318" y="0"/>
                </a:moveTo>
                <a:cubicBezTo>
                  <a:pt x="116372" y="0"/>
                  <a:pt x="118426" y="447"/>
                  <a:pt x="120302" y="1295"/>
                </a:cubicBezTo>
                <a:lnTo>
                  <a:pt x="204432" y="36975"/>
                </a:lnTo>
                <a:cubicBezTo>
                  <a:pt x="214257" y="41128"/>
                  <a:pt x="221580" y="50818"/>
                  <a:pt x="221536" y="62518"/>
                </a:cubicBezTo>
                <a:cubicBezTo>
                  <a:pt x="221312" y="106816"/>
                  <a:pt x="203093" y="187865"/>
                  <a:pt x="126152" y="224706"/>
                </a:cubicBezTo>
                <a:cubicBezTo>
                  <a:pt x="118694" y="228278"/>
                  <a:pt x="110031" y="228278"/>
                  <a:pt x="102573" y="224706"/>
                </a:cubicBezTo>
                <a:cubicBezTo>
                  <a:pt x="25588" y="187865"/>
                  <a:pt x="7413" y="106816"/>
                  <a:pt x="7190" y="62518"/>
                </a:cubicBezTo>
                <a:cubicBezTo>
                  <a:pt x="7145" y="50818"/>
                  <a:pt x="14468" y="41128"/>
                  <a:pt x="24293" y="36975"/>
                </a:cubicBezTo>
                <a:lnTo>
                  <a:pt x="108379" y="1295"/>
                </a:lnTo>
                <a:cubicBezTo>
                  <a:pt x="110254" y="447"/>
                  <a:pt x="112264" y="0"/>
                  <a:pt x="114318" y="0"/>
                </a:cubicBezTo>
                <a:close/>
                <a:moveTo>
                  <a:pt x="114318" y="29830"/>
                </a:moveTo>
                <a:lnTo>
                  <a:pt x="114318" y="198672"/>
                </a:lnTo>
                <a:cubicBezTo>
                  <a:pt x="175942" y="168842"/>
                  <a:pt x="192509" y="102752"/>
                  <a:pt x="192911" y="63187"/>
                </a:cubicBezTo>
                <a:lnTo>
                  <a:pt x="114318" y="29874"/>
                </a:lnTo>
                <a:lnTo>
                  <a:pt x="114318" y="29874"/>
                </a:lnTo>
                <a:close/>
              </a:path>
            </a:pathLst>
          </a:custGeom>
          <a:solidFill>
            <a:srgbClr val="B38B59"/>
          </a:solidFill>
          <a:ln/>
        </p:spPr>
        <p:txBody>
          <a:bodyPr/>
          <a:lstStyle/>
          <a:p>
            <a:endParaRPr lang="zh-CN" altLang="en-US"/>
          </a:p>
        </p:txBody>
      </p:sp>
      <p:sp>
        <p:nvSpPr>
          <p:cNvPr id="39" name="Text 37"/>
          <p:cNvSpPr/>
          <p:nvPr/>
        </p:nvSpPr>
        <p:spPr>
          <a:xfrm>
            <a:off x="8700840" y="5018554"/>
            <a:ext cx="7019117" cy="320090"/>
          </a:xfrm>
          <a:prstGeom prst="rect">
            <a:avLst/>
          </a:prstGeom>
          <a:noFill/>
          <a:ln/>
        </p:spPr>
        <p:txBody>
          <a:bodyPr wrap="square" lIns="0" tIns="0" rIns="0" bIns="0" rtlCol="0" anchor="ctr"/>
          <a:lstStyle/>
          <a:p>
            <a:pPr>
              <a:lnSpc>
                <a:spcPct val="120000"/>
              </a:lnSpc>
            </a:pPr>
            <a:r>
              <a:rPr lang="en-US" sz="1800" b="1" dirty="0">
                <a:solidFill>
                  <a:srgbClr val="E0E2E4"/>
                </a:solidFill>
                <a:latin typeface="MiSans" pitchFamily="34" charset="0"/>
                <a:ea typeface="MiSans" pitchFamily="34" charset="-122"/>
                <a:cs typeface="MiSans" pitchFamily="34" charset="-120"/>
              </a:rPr>
              <a:t>Service Mesh安全</a:t>
            </a:r>
            <a:endParaRPr lang="en-US" sz="1600" dirty="0"/>
          </a:p>
        </p:txBody>
      </p:sp>
      <p:sp>
        <p:nvSpPr>
          <p:cNvPr id="40" name="Shape 38"/>
          <p:cNvSpPr/>
          <p:nvPr/>
        </p:nvSpPr>
        <p:spPr>
          <a:xfrm>
            <a:off x="8415045" y="5430098"/>
            <a:ext cx="7190594" cy="731634"/>
          </a:xfrm>
          <a:custGeom>
            <a:avLst/>
            <a:gdLst/>
            <a:ahLst/>
            <a:cxnLst/>
            <a:rect l="l" t="t" r="r" b="b"/>
            <a:pathLst>
              <a:path w="7190594" h="731634">
                <a:moveTo>
                  <a:pt x="91454" y="0"/>
                </a:moveTo>
                <a:lnTo>
                  <a:pt x="7099139" y="0"/>
                </a:lnTo>
                <a:cubicBezTo>
                  <a:pt x="7149648" y="0"/>
                  <a:pt x="7190594" y="40945"/>
                  <a:pt x="7190594" y="91454"/>
                </a:cubicBezTo>
                <a:lnTo>
                  <a:pt x="7190594" y="640180"/>
                </a:lnTo>
                <a:cubicBezTo>
                  <a:pt x="7190594" y="690689"/>
                  <a:pt x="7149648" y="731634"/>
                  <a:pt x="7099139" y="731634"/>
                </a:cubicBezTo>
                <a:lnTo>
                  <a:pt x="91454" y="731634"/>
                </a:lnTo>
                <a:cubicBezTo>
                  <a:pt x="40945" y="731634"/>
                  <a:pt x="0" y="690689"/>
                  <a:pt x="0" y="640180"/>
                </a:cubicBezTo>
                <a:lnTo>
                  <a:pt x="0" y="91454"/>
                </a:lnTo>
                <a:cubicBezTo>
                  <a:pt x="0" y="40945"/>
                  <a:pt x="40945" y="0"/>
                  <a:pt x="91454" y="0"/>
                </a:cubicBezTo>
                <a:close/>
              </a:path>
            </a:pathLst>
          </a:custGeom>
          <a:solidFill>
            <a:srgbClr val="1A1D21">
              <a:alpha val="50196"/>
            </a:srgbClr>
          </a:solidFill>
          <a:ln/>
        </p:spPr>
        <p:txBody>
          <a:bodyPr/>
          <a:lstStyle/>
          <a:p>
            <a:endParaRPr lang="zh-CN" altLang="en-US"/>
          </a:p>
        </p:txBody>
      </p:sp>
      <p:sp>
        <p:nvSpPr>
          <p:cNvPr id="41" name="Text 39"/>
          <p:cNvSpPr/>
          <p:nvPr/>
        </p:nvSpPr>
        <p:spPr>
          <a:xfrm>
            <a:off x="8506499" y="5521553"/>
            <a:ext cx="7099139" cy="274363"/>
          </a:xfrm>
          <a:prstGeom prst="rect">
            <a:avLst/>
          </a:prstGeom>
          <a:noFill/>
          <a:ln/>
        </p:spPr>
        <p:txBody>
          <a:bodyPr wrap="square" lIns="0" tIns="0" rIns="0" bIns="0" rtlCol="0" anchor="ctr"/>
          <a:lstStyle/>
          <a:p>
            <a:pPr>
              <a:lnSpc>
                <a:spcPct val="130000"/>
              </a:lnSpc>
            </a:pPr>
            <a:r>
              <a:rPr lang="en-US" sz="1440" b="1" dirty="0">
                <a:solidFill>
                  <a:srgbClr val="E0E2E4"/>
                </a:solidFill>
                <a:latin typeface="MiSans" pitchFamily="34" charset="0"/>
                <a:ea typeface="MiSans" pitchFamily="34" charset="-122"/>
                <a:cs typeface="MiSans" pitchFamily="34" charset="-120"/>
              </a:rPr>
              <a:t>Istio</a:t>
            </a:r>
            <a:endParaRPr lang="en-US" sz="1600" dirty="0"/>
          </a:p>
        </p:txBody>
      </p:sp>
      <p:sp>
        <p:nvSpPr>
          <p:cNvPr id="42" name="Text 40"/>
          <p:cNvSpPr/>
          <p:nvPr/>
        </p:nvSpPr>
        <p:spPr>
          <a:xfrm>
            <a:off x="8506499" y="5841643"/>
            <a:ext cx="7087707" cy="228636"/>
          </a:xfrm>
          <a:prstGeom prst="rect">
            <a:avLst/>
          </a:prstGeom>
          <a:noFill/>
          <a:ln/>
        </p:spPr>
        <p:txBody>
          <a:bodyPr wrap="square" lIns="0" tIns="0" rIns="0" bIns="0" rtlCol="0" anchor="ctr"/>
          <a:lstStyle/>
          <a:p>
            <a:pPr>
              <a:lnSpc>
                <a:spcPct val="120000"/>
              </a:lnSpc>
            </a:pPr>
            <a:r>
              <a:rPr lang="en-US" sz="1260" dirty="0">
                <a:solidFill>
                  <a:srgbClr val="E0E2E4">
                    <a:alpha val="70000"/>
                  </a:srgbClr>
                </a:solidFill>
                <a:latin typeface="MiSans" pitchFamily="34" charset="0"/>
                <a:ea typeface="MiSans" pitchFamily="34" charset="-122"/>
                <a:cs typeface="MiSans" pitchFamily="34" charset="-120"/>
              </a:rPr>
              <a:t>提供mTLS、RBAC、策略执行等安全功能,实现服务间通信的零信任安全</a:t>
            </a:r>
            <a:endParaRPr lang="en-US" sz="1600" dirty="0"/>
          </a:p>
        </p:txBody>
      </p:sp>
      <p:sp>
        <p:nvSpPr>
          <p:cNvPr id="43" name="Shape 41"/>
          <p:cNvSpPr/>
          <p:nvPr/>
        </p:nvSpPr>
        <p:spPr>
          <a:xfrm>
            <a:off x="8415045" y="6230323"/>
            <a:ext cx="7190594" cy="731634"/>
          </a:xfrm>
          <a:custGeom>
            <a:avLst/>
            <a:gdLst/>
            <a:ahLst/>
            <a:cxnLst/>
            <a:rect l="l" t="t" r="r" b="b"/>
            <a:pathLst>
              <a:path w="7190594" h="731634">
                <a:moveTo>
                  <a:pt x="91454" y="0"/>
                </a:moveTo>
                <a:lnTo>
                  <a:pt x="7099139" y="0"/>
                </a:lnTo>
                <a:cubicBezTo>
                  <a:pt x="7149648" y="0"/>
                  <a:pt x="7190594" y="40945"/>
                  <a:pt x="7190594" y="91454"/>
                </a:cubicBezTo>
                <a:lnTo>
                  <a:pt x="7190594" y="640180"/>
                </a:lnTo>
                <a:cubicBezTo>
                  <a:pt x="7190594" y="690689"/>
                  <a:pt x="7149648" y="731634"/>
                  <a:pt x="7099139" y="731634"/>
                </a:cubicBezTo>
                <a:lnTo>
                  <a:pt x="91454" y="731634"/>
                </a:lnTo>
                <a:cubicBezTo>
                  <a:pt x="40945" y="731634"/>
                  <a:pt x="0" y="690689"/>
                  <a:pt x="0" y="640180"/>
                </a:cubicBezTo>
                <a:lnTo>
                  <a:pt x="0" y="91454"/>
                </a:lnTo>
                <a:cubicBezTo>
                  <a:pt x="0" y="40945"/>
                  <a:pt x="40945" y="0"/>
                  <a:pt x="91454" y="0"/>
                </a:cubicBezTo>
                <a:close/>
              </a:path>
            </a:pathLst>
          </a:custGeom>
          <a:solidFill>
            <a:srgbClr val="1A1D21">
              <a:alpha val="50196"/>
            </a:srgbClr>
          </a:solidFill>
          <a:ln/>
        </p:spPr>
        <p:txBody>
          <a:bodyPr/>
          <a:lstStyle/>
          <a:p>
            <a:endParaRPr lang="zh-CN" altLang="en-US"/>
          </a:p>
        </p:txBody>
      </p:sp>
      <p:sp>
        <p:nvSpPr>
          <p:cNvPr id="44" name="Text 42"/>
          <p:cNvSpPr/>
          <p:nvPr/>
        </p:nvSpPr>
        <p:spPr>
          <a:xfrm>
            <a:off x="8506499" y="6321778"/>
            <a:ext cx="7099139" cy="274363"/>
          </a:xfrm>
          <a:prstGeom prst="rect">
            <a:avLst/>
          </a:prstGeom>
          <a:noFill/>
          <a:ln/>
        </p:spPr>
        <p:txBody>
          <a:bodyPr wrap="square" lIns="0" tIns="0" rIns="0" bIns="0" rtlCol="0" anchor="ctr"/>
          <a:lstStyle/>
          <a:p>
            <a:pPr>
              <a:lnSpc>
                <a:spcPct val="130000"/>
              </a:lnSpc>
            </a:pPr>
            <a:r>
              <a:rPr lang="en-US" sz="1440" b="1" dirty="0">
                <a:solidFill>
                  <a:srgbClr val="E0E2E4"/>
                </a:solidFill>
                <a:latin typeface="MiSans" pitchFamily="34" charset="0"/>
                <a:ea typeface="MiSans" pitchFamily="34" charset="-122"/>
                <a:cs typeface="MiSans" pitchFamily="34" charset="-120"/>
              </a:rPr>
              <a:t>Linkerd</a:t>
            </a:r>
            <a:endParaRPr lang="en-US" sz="1600" dirty="0"/>
          </a:p>
        </p:txBody>
      </p:sp>
      <p:sp>
        <p:nvSpPr>
          <p:cNvPr id="45" name="Text 43"/>
          <p:cNvSpPr/>
          <p:nvPr/>
        </p:nvSpPr>
        <p:spPr>
          <a:xfrm>
            <a:off x="8506499" y="6641868"/>
            <a:ext cx="7087707" cy="228636"/>
          </a:xfrm>
          <a:prstGeom prst="rect">
            <a:avLst/>
          </a:prstGeom>
          <a:noFill/>
          <a:ln/>
        </p:spPr>
        <p:txBody>
          <a:bodyPr wrap="square" lIns="0" tIns="0" rIns="0" bIns="0" rtlCol="0" anchor="ctr"/>
          <a:lstStyle/>
          <a:p>
            <a:pPr>
              <a:lnSpc>
                <a:spcPct val="120000"/>
              </a:lnSpc>
            </a:pPr>
            <a:r>
              <a:rPr lang="en-US" sz="1260" dirty="0">
                <a:solidFill>
                  <a:srgbClr val="E0E2E4">
                    <a:alpha val="70000"/>
                  </a:srgbClr>
                </a:solidFill>
                <a:latin typeface="MiSans" pitchFamily="34" charset="0"/>
                <a:ea typeface="MiSans" pitchFamily="34" charset="-122"/>
                <a:cs typeface="MiSans" pitchFamily="34" charset="-120"/>
              </a:rPr>
              <a:t>轻量级Service Mesh,自动mTLS加密,支持细粒度的访问控制和策略管理</a:t>
            </a:r>
            <a:endParaRPr lang="en-US" sz="1600" dirty="0"/>
          </a:p>
        </p:txBody>
      </p:sp>
      <p:sp>
        <p:nvSpPr>
          <p:cNvPr id="46" name="Shape 44"/>
          <p:cNvSpPr/>
          <p:nvPr/>
        </p:nvSpPr>
        <p:spPr>
          <a:xfrm>
            <a:off x="462987" y="7335098"/>
            <a:ext cx="5007122" cy="1749063"/>
          </a:xfrm>
          <a:custGeom>
            <a:avLst/>
            <a:gdLst/>
            <a:ahLst/>
            <a:cxnLst/>
            <a:rect l="l" t="t" r="r" b="b"/>
            <a:pathLst>
              <a:path w="5007122" h="1749063">
                <a:moveTo>
                  <a:pt x="91459" y="0"/>
                </a:moveTo>
                <a:lnTo>
                  <a:pt x="4915664" y="0"/>
                </a:lnTo>
                <a:cubicBezTo>
                  <a:pt x="4966175" y="0"/>
                  <a:pt x="5007122" y="40947"/>
                  <a:pt x="5007122" y="91459"/>
                </a:cubicBezTo>
                <a:lnTo>
                  <a:pt x="5007122" y="1657605"/>
                </a:lnTo>
                <a:cubicBezTo>
                  <a:pt x="5007122" y="1708116"/>
                  <a:pt x="4966175" y="1749063"/>
                  <a:pt x="4915664" y="1749063"/>
                </a:cubicBezTo>
                <a:lnTo>
                  <a:pt x="91459" y="1749063"/>
                </a:lnTo>
                <a:cubicBezTo>
                  <a:pt x="40947" y="1749063"/>
                  <a:pt x="0" y="1708116"/>
                  <a:pt x="0" y="1657605"/>
                </a:cubicBezTo>
                <a:lnTo>
                  <a:pt x="0" y="91459"/>
                </a:lnTo>
                <a:cubicBezTo>
                  <a:pt x="0" y="40981"/>
                  <a:pt x="40981" y="0"/>
                  <a:pt x="9145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47" name="Text 45"/>
          <p:cNvSpPr/>
          <p:nvPr/>
        </p:nvSpPr>
        <p:spPr>
          <a:xfrm>
            <a:off x="605885" y="7477995"/>
            <a:ext cx="4824214" cy="320090"/>
          </a:xfrm>
          <a:prstGeom prst="rect">
            <a:avLst/>
          </a:prstGeom>
          <a:noFill/>
          <a:ln/>
        </p:spPr>
        <p:txBody>
          <a:bodyPr wrap="square" lIns="0" tIns="0" rIns="0" bIns="0" rtlCol="0" anchor="ctr"/>
          <a:lstStyle/>
          <a:p>
            <a:pPr>
              <a:lnSpc>
                <a:spcPct val="130000"/>
              </a:lnSpc>
            </a:pPr>
            <a:r>
              <a:rPr lang="en-US" sz="1620" b="1" dirty="0">
                <a:solidFill>
                  <a:srgbClr val="E0E2E4"/>
                </a:solidFill>
                <a:latin typeface="MiSans" pitchFamily="34" charset="0"/>
                <a:ea typeface="MiSans" pitchFamily="34" charset="-122"/>
                <a:cs typeface="MiSans" pitchFamily="34" charset="-120"/>
              </a:rPr>
              <a:t>网络隔离策略</a:t>
            </a:r>
            <a:endParaRPr lang="en-US" sz="1600" dirty="0"/>
          </a:p>
        </p:txBody>
      </p:sp>
      <p:sp>
        <p:nvSpPr>
          <p:cNvPr id="48" name="Shape 46"/>
          <p:cNvSpPr/>
          <p:nvPr/>
        </p:nvSpPr>
        <p:spPr>
          <a:xfrm>
            <a:off x="638751" y="7935266"/>
            <a:ext cx="140039" cy="160045"/>
          </a:xfrm>
          <a:custGeom>
            <a:avLst/>
            <a:gdLst/>
            <a:ahLst/>
            <a:cxnLst/>
            <a:rect l="l" t="t" r="r" b="b"/>
            <a:pathLst>
              <a:path w="140039" h="160045">
                <a:moveTo>
                  <a:pt x="135913" y="21912"/>
                </a:moveTo>
                <a:cubicBezTo>
                  <a:pt x="140383" y="25163"/>
                  <a:pt x="141384" y="31415"/>
                  <a:pt x="138133" y="35885"/>
                </a:cubicBezTo>
                <a:lnTo>
                  <a:pt x="58110" y="145916"/>
                </a:lnTo>
                <a:cubicBezTo>
                  <a:pt x="56391" y="148292"/>
                  <a:pt x="53734" y="149761"/>
                  <a:pt x="50796" y="150011"/>
                </a:cubicBezTo>
                <a:cubicBezTo>
                  <a:pt x="47857" y="150261"/>
                  <a:pt x="45013" y="149167"/>
                  <a:pt x="42950" y="147104"/>
                </a:cubicBezTo>
                <a:lnTo>
                  <a:pt x="2938" y="107093"/>
                </a:lnTo>
                <a:cubicBezTo>
                  <a:pt x="-969" y="103185"/>
                  <a:pt x="-969" y="96840"/>
                  <a:pt x="2938" y="92932"/>
                </a:cubicBezTo>
                <a:cubicBezTo>
                  <a:pt x="6846" y="89025"/>
                  <a:pt x="13191" y="89025"/>
                  <a:pt x="17099" y="92932"/>
                </a:cubicBezTo>
                <a:lnTo>
                  <a:pt x="48826" y="124660"/>
                </a:lnTo>
                <a:lnTo>
                  <a:pt x="121972" y="24101"/>
                </a:lnTo>
                <a:cubicBezTo>
                  <a:pt x="125223" y="19631"/>
                  <a:pt x="131474" y="18630"/>
                  <a:pt x="135944" y="21881"/>
                </a:cubicBezTo>
                <a:close/>
              </a:path>
            </a:pathLst>
          </a:custGeom>
          <a:solidFill>
            <a:srgbClr val="B38B59"/>
          </a:solidFill>
          <a:ln/>
        </p:spPr>
        <p:txBody>
          <a:bodyPr/>
          <a:lstStyle/>
          <a:p>
            <a:endParaRPr lang="zh-CN" altLang="en-US"/>
          </a:p>
        </p:txBody>
      </p:sp>
      <p:sp>
        <p:nvSpPr>
          <p:cNvPr id="49" name="Text 47"/>
          <p:cNvSpPr/>
          <p:nvPr/>
        </p:nvSpPr>
        <p:spPr>
          <a:xfrm>
            <a:off x="897395" y="7889539"/>
            <a:ext cx="2766492" cy="228636"/>
          </a:xfrm>
          <a:prstGeom prst="rect">
            <a:avLst/>
          </a:prstGeom>
          <a:noFill/>
          <a:ln/>
        </p:spPr>
        <p:txBody>
          <a:bodyPr wrap="square" lIns="0" tIns="0" rIns="0" bIns="0" rtlCol="0" anchor="ctr"/>
          <a:lstStyle/>
          <a:p>
            <a:pPr>
              <a:lnSpc>
                <a:spcPct val="120000"/>
              </a:lnSpc>
            </a:pPr>
            <a:r>
              <a:rPr lang="en-US" sz="1260" b="1" dirty="0">
                <a:solidFill>
                  <a:srgbClr val="E0E2E4"/>
                </a:solidFill>
                <a:latin typeface="MiSans" pitchFamily="34" charset="0"/>
                <a:ea typeface="MiSans" pitchFamily="34" charset="-122"/>
                <a:cs typeface="MiSans" pitchFamily="34" charset="-120"/>
              </a:rPr>
              <a:t>默认拒绝:</a:t>
            </a:r>
            <a:r>
              <a:rPr lang="en-US" sz="1260" dirty="0">
                <a:solidFill>
                  <a:srgbClr val="E0E2E4">
                    <a:alpha val="80000"/>
                  </a:srgbClr>
                </a:solidFill>
                <a:latin typeface="MiSans" pitchFamily="34" charset="0"/>
                <a:ea typeface="MiSans" pitchFamily="34" charset="-122"/>
                <a:cs typeface="MiSans" pitchFamily="34" charset="-120"/>
              </a:rPr>
              <a:t> 所有流量默认拒绝,显式允许</a:t>
            </a:r>
            <a:endParaRPr lang="en-US" sz="1600" dirty="0"/>
          </a:p>
        </p:txBody>
      </p:sp>
      <p:sp>
        <p:nvSpPr>
          <p:cNvPr id="50" name="Shape 48"/>
          <p:cNvSpPr/>
          <p:nvPr/>
        </p:nvSpPr>
        <p:spPr>
          <a:xfrm>
            <a:off x="638751" y="8232493"/>
            <a:ext cx="140039" cy="160045"/>
          </a:xfrm>
          <a:custGeom>
            <a:avLst/>
            <a:gdLst/>
            <a:ahLst/>
            <a:cxnLst/>
            <a:rect l="l" t="t" r="r" b="b"/>
            <a:pathLst>
              <a:path w="140039" h="160045">
                <a:moveTo>
                  <a:pt x="135913" y="21912"/>
                </a:moveTo>
                <a:cubicBezTo>
                  <a:pt x="140383" y="25163"/>
                  <a:pt x="141384" y="31415"/>
                  <a:pt x="138133" y="35885"/>
                </a:cubicBezTo>
                <a:lnTo>
                  <a:pt x="58110" y="145916"/>
                </a:lnTo>
                <a:cubicBezTo>
                  <a:pt x="56391" y="148292"/>
                  <a:pt x="53734" y="149761"/>
                  <a:pt x="50796" y="150011"/>
                </a:cubicBezTo>
                <a:cubicBezTo>
                  <a:pt x="47857" y="150261"/>
                  <a:pt x="45013" y="149167"/>
                  <a:pt x="42950" y="147104"/>
                </a:cubicBezTo>
                <a:lnTo>
                  <a:pt x="2938" y="107093"/>
                </a:lnTo>
                <a:cubicBezTo>
                  <a:pt x="-969" y="103185"/>
                  <a:pt x="-969" y="96840"/>
                  <a:pt x="2938" y="92932"/>
                </a:cubicBezTo>
                <a:cubicBezTo>
                  <a:pt x="6846" y="89025"/>
                  <a:pt x="13191" y="89025"/>
                  <a:pt x="17099" y="92932"/>
                </a:cubicBezTo>
                <a:lnTo>
                  <a:pt x="48826" y="124660"/>
                </a:lnTo>
                <a:lnTo>
                  <a:pt x="121972" y="24101"/>
                </a:lnTo>
                <a:cubicBezTo>
                  <a:pt x="125223" y="19631"/>
                  <a:pt x="131474" y="18630"/>
                  <a:pt x="135944" y="21881"/>
                </a:cubicBezTo>
                <a:close/>
              </a:path>
            </a:pathLst>
          </a:custGeom>
          <a:solidFill>
            <a:srgbClr val="B38B59"/>
          </a:solidFill>
          <a:ln/>
        </p:spPr>
        <p:txBody>
          <a:bodyPr/>
          <a:lstStyle/>
          <a:p>
            <a:endParaRPr lang="zh-CN" altLang="en-US"/>
          </a:p>
        </p:txBody>
      </p:sp>
      <p:sp>
        <p:nvSpPr>
          <p:cNvPr id="51" name="Text 49"/>
          <p:cNvSpPr/>
          <p:nvPr/>
        </p:nvSpPr>
        <p:spPr>
          <a:xfrm>
            <a:off x="897395" y="8186766"/>
            <a:ext cx="2400675" cy="228636"/>
          </a:xfrm>
          <a:prstGeom prst="rect">
            <a:avLst/>
          </a:prstGeom>
          <a:noFill/>
          <a:ln/>
        </p:spPr>
        <p:txBody>
          <a:bodyPr wrap="square" lIns="0" tIns="0" rIns="0" bIns="0" rtlCol="0" anchor="ctr"/>
          <a:lstStyle/>
          <a:p>
            <a:pPr>
              <a:lnSpc>
                <a:spcPct val="120000"/>
              </a:lnSpc>
            </a:pPr>
            <a:r>
              <a:rPr lang="en-US" sz="1260" b="1" dirty="0">
                <a:solidFill>
                  <a:srgbClr val="E0E2E4"/>
                </a:solidFill>
                <a:latin typeface="MiSans" pitchFamily="34" charset="0"/>
                <a:ea typeface="MiSans" pitchFamily="34" charset="-122"/>
                <a:cs typeface="MiSans" pitchFamily="34" charset="-120"/>
              </a:rPr>
              <a:t>标签选择器:</a:t>
            </a:r>
            <a:r>
              <a:rPr lang="en-US" sz="1260" dirty="0">
                <a:solidFill>
                  <a:srgbClr val="E0E2E4">
                    <a:alpha val="80000"/>
                  </a:srgbClr>
                </a:solidFill>
                <a:latin typeface="MiSans" pitchFamily="34" charset="0"/>
                <a:ea typeface="MiSans" pitchFamily="34" charset="-122"/>
                <a:cs typeface="MiSans" pitchFamily="34" charset="-120"/>
              </a:rPr>
              <a:t> 基于标签的灵活策略</a:t>
            </a:r>
            <a:endParaRPr lang="en-US" sz="1600" dirty="0"/>
          </a:p>
        </p:txBody>
      </p:sp>
      <p:sp>
        <p:nvSpPr>
          <p:cNvPr id="52" name="Shape 50"/>
          <p:cNvSpPr/>
          <p:nvPr/>
        </p:nvSpPr>
        <p:spPr>
          <a:xfrm>
            <a:off x="638751" y="8529719"/>
            <a:ext cx="140039" cy="160045"/>
          </a:xfrm>
          <a:custGeom>
            <a:avLst/>
            <a:gdLst/>
            <a:ahLst/>
            <a:cxnLst/>
            <a:rect l="l" t="t" r="r" b="b"/>
            <a:pathLst>
              <a:path w="140039" h="160045">
                <a:moveTo>
                  <a:pt x="135913" y="21912"/>
                </a:moveTo>
                <a:cubicBezTo>
                  <a:pt x="140383" y="25163"/>
                  <a:pt x="141384" y="31415"/>
                  <a:pt x="138133" y="35885"/>
                </a:cubicBezTo>
                <a:lnTo>
                  <a:pt x="58110" y="145916"/>
                </a:lnTo>
                <a:cubicBezTo>
                  <a:pt x="56391" y="148292"/>
                  <a:pt x="53734" y="149761"/>
                  <a:pt x="50796" y="150011"/>
                </a:cubicBezTo>
                <a:cubicBezTo>
                  <a:pt x="47857" y="150261"/>
                  <a:pt x="45013" y="149167"/>
                  <a:pt x="42950" y="147104"/>
                </a:cubicBezTo>
                <a:lnTo>
                  <a:pt x="2938" y="107093"/>
                </a:lnTo>
                <a:cubicBezTo>
                  <a:pt x="-969" y="103185"/>
                  <a:pt x="-969" y="96840"/>
                  <a:pt x="2938" y="92932"/>
                </a:cubicBezTo>
                <a:cubicBezTo>
                  <a:pt x="6846" y="89025"/>
                  <a:pt x="13191" y="89025"/>
                  <a:pt x="17099" y="92932"/>
                </a:cubicBezTo>
                <a:lnTo>
                  <a:pt x="48826" y="124660"/>
                </a:lnTo>
                <a:lnTo>
                  <a:pt x="121972" y="24101"/>
                </a:lnTo>
                <a:cubicBezTo>
                  <a:pt x="125223" y="19631"/>
                  <a:pt x="131474" y="18630"/>
                  <a:pt x="135944" y="21881"/>
                </a:cubicBezTo>
                <a:close/>
              </a:path>
            </a:pathLst>
          </a:custGeom>
          <a:solidFill>
            <a:srgbClr val="B38B59"/>
          </a:solidFill>
          <a:ln/>
        </p:spPr>
        <p:txBody>
          <a:bodyPr/>
          <a:lstStyle/>
          <a:p>
            <a:endParaRPr lang="zh-CN" altLang="en-US"/>
          </a:p>
        </p:txBody>
      </p:sp>
      <p:sp>
        <p:nvSpPr>
          <p:cNvPr id="53" name="Text 51"/>
          <p:cNvSpPr/>
          <p:nvPr/>
        </p:nvSpPr>
        <p:spPr>
          <a:xfrm>
            <a:off x="897395" y="8483992"/>
            <a:ext cx="2309221" cy="228636"/>
          </a:xfrm>
          <a:prstGeom prst="rect">
            <a:avLst/>
          </a:prstGeom>
          <a:noFill/>
          <a:ln/>
        </p:spPr>
        <p:txBody>
          <a:bodyPr wrap="square" lIns="0" tIns="0" rIns="0" bIns="0" rtlCol="0" anchor="ctr"/>
          <a:lstStyle/>
          <a:p>
            <a:pPr>
              <a:lnSpc>
                <a:spcPct val="120000"/>
              </a:lnSpc>
            </a:pPr>
            <a:r>
              <a:rPr lang="en-US" sz="1260" b="1" dirty="0">
                <a:solidFill>
                  <a:srgbClr val="E0E2E4"/>
                </a:solidFill>
                <a:latin typeface="MiSans" pitchFamily="34" charset="0"/>
                <a:ea typeface="MiSans" pitchFamily="34" charset="-122"/>
                <a:cs typeface="MiSans" pitchFamily="34" charset="-120"/>
              </a:rPr>
              <a:t>四层/七层:</a:t>
            </a:r>
            <a:r>
              <a:rPr lang="en-US" sz="1260" dirty="0">
                <a:solidFill>
                  <a:srgbClr val="E0E2E4">
                    <a:alpha val="80000"/>
                  </a:srgbClr>
                </a:solidFill>
                <a:latin typeface="MiSans" pitchFamily="34" charset="0"/>
                <a:ea typeface="MiSans" pitchFamily="34" charset="-122"/>
                <a:cs typeface="MiSans" pitchFamily="34" charset="-120"/>
              </a:rPr>
              <a:t> 支持端口和协议控制</a:t>
            </a:r>
            <a:endParaRPr lang="en-US" sz="1600" dirty="0"/>
          </a:p>
        </p:txBody>
      </p:sp>
      <p:sp>
        <p:nvSpPr>
          <p:cNvPr id="54" name="Shape 52"/>
          <p:cNvSpPr/>
          <p:nvPr/>
        </p:nvSpPr>
        <p:spPr>
          <a:xfrm>
            <a:off x="5623367" y="7335098"/>
            <a:ext cx="5007122" cy="1749063"/>
          </a:xfrm>
          <a:custGeom>
            <a:avLst/>
            <a:gdLst/>
            <a:ahLst/>
            <a:cxnLst/>
            <a:rect l="l" t="t" r="r" b="b"/>
            <a:pathLst>
              <a:path w="5007122" h="1749063">
                <a:moveTo>
                  <a:pt x="91459" y="0"/>
                </a:moveTo>
                <a:lnTo>
                  <a:pt x="4915664" y="0"/>
                </a:lnTo>
                <a:cubicBezTo>
                  <a:pt x="4966175" y="0"/>
                  <a:pt x="5007122" y="40947"/>
                  <a:pt x="5007122" y="91459"/>
                </a:cubicBezTo>
                <a:lnTo>
                  <a:pt x="5007122" y="1657605"/>
                </a:lnTo>
                <a:cubicBezTo>
                  <a:pt x="5007122" y="1708116"/>
                  <a:pt x="4966175" y="1749063"/>
                  <a:pt x="4915664" y="1749063"/>
                </a:cubicBezTo>
                <a:lnTo>
                  <a:pt x="91459" y="1749063"/>
                </a:lnTo>
                <a:cubicBezTo>
                  <a:pt x="40947" y="1749063"/>
                  <a:pt x="0" y="1708116"/>
                  <a:pt x="0" y="1657605"/>
                </a:cubicBezTo>
                <a:lnTo>
                  <a:pt x="0" y="91459"/>
                </a:lnTo>
                <a:cubicBezTo>
                  <a:pt x="0" y="40981"/>
                  <a:pt x="40981" y="0"/>
                  <a:pt x="91459"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55" name="Text 53"/>
          <p:cNvSpPr/>
          <p:nvPr/>
        </p:nvSpPr>
        <p:spPr>
          <a:xfrm>
            <a:off x="5766264" y="7477995"/>
            <a:ext cx="4824214" cy="320090"/>
          </a:xfrm>
          <a:prstGeom prst="rect">
            <a:avLst/>
          </a:prstGeom>
          <a:noFill/>
          <a:ln/>
        </p:spPr>
        <p:txBody>
          <a:bodyPr wrap="square" lIns="0" tIns="0" rIns="0" bIns="0" rtlCol="0" anchor="ctr"/>
          <a:lstStyle/>
          <a:p>
            <a:pPr>
              <a:lnSpc>
                <a:spcPct val="130000"/>
              </a:lnSpc>
            </a:pPr>
            <a:r>
              <a:rPr lang="en-US" sz="1620" b="1" dirty="0">
                <a:solidFill>
                  <a:srgbClr val="E0E2E4"/>
                </a:solidFill>
                <a:latin typeface="MiSans" pitchFamily="34" charset="0"/>
                <a:ea typeface="MiSans" pitchFamily="34" charset="-122"/>
                <a:cs typeface="MiSans" pitchFamily="34" charset="-120"/>
              </a:rPr>
              <a:t>CNI插件对比</a:t>
            </a:r>
            <a:endParaRPr lang="en-US" sz="1600" dirty="0"/>
          </a:p>
        </p:txBody>
      </p:sp>
      <p:sp>
        <p:nvSpPr>
          <p:cNvPr id="56" name="Shape 54"/>
          <p:cNvSpPr/>
          <p:nvPr/>
        </p:nvSpPr>
        <p:spPr>
          <a:xfrm>
            <a:off x="5766264" y="7889539"/>
            <a:ext cx="1531859" cy="525862"/>
          </a:xfrm>
          <a:custGeom>
            <a:avLst/>
            <a:gdLst/>
            <a:ahLst/>
            <a:cxnLst/>
            <a:rect l="l" t="t" r="r" b="b"/>
            <a:pathLst>
              <a:path w="1531859" h="525862">
                <a:moveTo>
                  <a:pt x="45729" y="0"/>
                </a:moveTo>
                <a:lnTo>
                  <a:pt x="1486130" y="0"/>
                </a:lnTo>
                <a:cubicBezTo>
                  <a:pt x="1511386" y="0"/>
                  <a:pt x="1531859" y="20474"/>
                  <a:pt x="1531859" y="45729"/>
                </a:cubicBezTo>
                <a:lnTo>
                  <a:pt x="1531859" y="480133"/>
                </a:lnTo>
                <a:cubicBezTo>
                  <a:pt x="1531859" y="505389"/>
                  <a:pt x="1511386" y="525862"/>
                  <a:pt x="1486130" y="525862"/>
                </a:cubicBezTo>
                <a:lnTo>
                  <a:pt x="45729" y="525862"/>
                </a:lnTo>
                <a:cubicBezTo>
                  <a:pt x="20474" y="525862"/>
                  <a:pt x="0" y="505389"/>
                  <a:pt x="0" y="480133"/>
                </a:cubicBezTo>
                <a:lnTo>
                  <a:pt x="0" y="45729"/>
                </a:lnTo>
                <a:cubicBezTo>
                  <a:pt x="0" y="20490"/>
                  <a:pt x="20490" y="0"/>
                  <a:pt x="45729" y="0"/>
                </a:cubicBezTo>
                <a:close/>
              </a:path>
            </a:pathLst>
          </a:custGeom>
          <a:solidFill>
            <a:srgbClr val="1A1D21">
              <a:alpha val="50196"/>
            </a:srgbClr>
          </a:solidFill>
          <a:ln/>
        </p:spPr>
        <p:txBody>
          <a:bodyPr/>
          <a:lstStyle/>
          <a:p>
            <a:endParaRPr lang="zh-CN" altLang="en-US"/>
          </a:p>
        </p:txBody>
      </p:sp>
      <p:sp>
        <p:nvSpPr>
          <p:cNvPr id="57" name="Text 55"/>
          <p:cNvSpPr/>
          <p:nvPr/>
        </p:nvSpPr>
        <p:spPr>
          <a:xfrm>
            <a:off x="5800560" y="7958130"/>
            <a:ext cx="1463269" cy="182909"/>
          </a:xfrm>
          <a:prstGeom prst="rect">
            <a:avLst/>
          </a:prstGeom>
          <a:noFill/>
          <a:ln/>
        </p:spPr>
        <p:txBody>
          <a:bodyPr wrap="square" lIns="0" tIns="0" rIns="0" bIns="0" rtlCol="0" anchor="ctr"/>
          <a:lstStyle/>
          <a:p>
            <a:pPr algn="ctr">
              <a:lnSpc>
                <a:spcPct val="110000"/>
              </a:lnSpc>
            </a:pPr>
            <a:r>
              <a:rPr lang="en-US" sz="1080" b="1" dirty="0">
                <a:solidFill>
                  <a:srgbClr val="E0E2E4"/>
                </a:solidFill>
                <a:latin typeface="MiSans" pitchFamily="34" charset="0"/>
                <a:ea typeface="MiSans" pitchFamily="34" charset="-122"/>
                <a:cs typeface="MiSans" pitchFamily="34" charset="-120"/>
              </a:rPr>
              <a:t>Flannel</a:t>
            </a:r>
            <a:endParaRPr lang="en-US" sz="1600" dirty="0"/>
          </a:p>
        </p:txBody>
      </p:sp>
      <p:sp>
        <p:nvSpPr>
          <p:cNvPr id="58" name="Text 56"/>
          <p:cNvSpPr/>
          <p:nvPr/>
        </p:nvSpPr>
        <p:spPr>
          <a:xfrm>
            <a:off x="5800560" y="8163902"/>
            <a:ext cx="1463269" cy="182909"/>
          </a:xfrm>
          <a:prstGeom prst="rect">
            <a:avLst/>
          </a:prstGeom>
          <a:noFill/>
          <a:ln/>
        </p:spPr>
        <p:txBody>
          <a:bodyPr wrap="square" lIns="0" tIns="0" rIns="0" bIns="0" rtlCol="0" anchor="ctr"/>
          <a:lstStyle/>
          <a:p>
            <a:pPr algn="ctr">
              <a:lnSpc>
                <a:spcPct val="110000"/>
              </a:lnSpc>
            </a:pPr>
            <a:r>
              <a:rPr lang="en-US" sz="1080" dirty="0">
                <a:solidFill>
                  <a:srgbClr val="E0E2E4">
                    <a:alpha val="70000"/>
                  </a:srgbClr>
                </a:solidFill>
                <a:latin typeface="MiSans" pitchFamily="34" charset="0"/>
                <a:ea typeface="MiSans" pitchFamily="34" charset="-122"/>
                <a:cs typeface="MiSans" pitchFamily="34" charset="-120"/>
              </a:rPr>
              <a:t>简单/Overlay</a:t>
            </a:r>
            <a:endParaRPr lang="en-US" sz="1600" dirty="0"/>
          </a:p>
        </p:txBody>
      </p:sp>
      <p:sp>
        <p:nvSpPr>
          <p:cNvPr id="59" name="Shape 57"/>
          <p:cNvSpPr/>
          <p:nvPr/>
        </p:nvSpPr>
        <p:spPr>
          <a:xfrm>
            <a:off x="7364392" y="7889539"/>
            <a:ext cx="1531859" cy="525862"/>
          </a:xfrm>
          <a:custGeom>
            <a:avLst/>
            <a:gdLst/>
            <a:ahLst/>
            <a:cxnLst/>
            <a:rect l="l" t="t" r="r" b="b"/>
            <a:pathLst>
              <a:path w="1531859" h="525862">
                <a:moveTo>
                  <a:pt x="45729" y="0"/>
                </a:moveTo>
                <a:lnTo>
                  <a:pt x="1486130" y="0"/>
                </a:lnTo>
                <a:cubicBezTo>
                  <a:pt x="1511386" y="0"/>
                  <a:pt x="1531859" y="20474"/>
                  <a:pt x="1531859" y="45729"/>
                </a:cubicBezTo>
                <a:lnTo>
                  <a:pt x="1531859" y="480133"/>
                </a:lnTo>
                <a:cubicBezTo>
                  <a:pt x="1531859" y="505389"/>
                  <a:pt x="1511386" y="525862"/>
                  <a:pt x="1486130" y="525862"/>
                </a:cubicBezTo>
                <a:lnTo>
                  <a:pt x="45729" y="525862"/>
                </a:lnTo>
                <a:cubicBezTo>
                  <a:pt x="20474" y="525862"/>
                  <a:pt x="0" y="505389"/>
                  <a:pt x="0" y="480133"/>
                </a:cubicBezTo>
                <a:lnTo>
                  <a:pt x="0" y="45729"/>
                </a:lnTo>
                <a:cubicBezTo>
                  <a:pt x="0" y="20490"/>
                  <a:pt x="20490" y="0"/>
                  <a:pt x="45729" y="0"/>
                </a:cubicBezTo>
                <a:close/>
              </a:path>
            </a:pathLst>
          </a:custGeom>
          <a:solidFill>
            <a:srgbClr val="1A1D21">
              <a:alpha val="50196"/>
            </a:srgbClr>
          </a:solidFill>
          <a:ln/>
        </p:spPr>
        <p:txBody>
          <a:bodyPr/>
          <a:lstStyle/>
          <a:p>
            <a:endParaRPr lang="zh-CN" altLang="en-US"/>
          </a:p>
        </p:txBody>
      </p:sp>
      <p:sp>
        <p:nvSpPr>
          <p:cNvPr id="60" name="Text 58"/>
          <p:cNvSpPr/>
          <p:nvPr/>
        </p:nvSpPr>
        <p:spPr>
          <a:xfrm>
            <a:off x="7398688" y="7958130"/>
            <a:ext cx="1463269" cy="182909"/>
          </a:xfrm>
          <a:prstGeom prst="rect">
            <a:avLst/>
          </a:prstGeom>
          <a:noFill/>
          <a:ln/>
        </p:spPr>
        <p:txBody>
          <a:bodyPr wrap="square" lIns="0" tIns="0" rIns="0" bIns="0" rtlCol="0" anchor="ctr"/>
          <a:lstStyle/>
          <a:p>
            <a:pPr algn="ctr">
              <a:lnSpc>
                <a:spcPct val="110000"/>
              </a:lnSpc>
            </a:pPr>
            <a:r>
              <a:rPr lang="en-US" sz="1080" b="1" dirty="0">
                <a:solidFill>
                  <a:srgbClr val="E0E2E4"/>
                </a:solidFill>
                <a:latin typeface="MiSans" pitchFamily="34" charset="0"/>
                <a:ea typeface="MiSans" pitchFamily="34" charset="-122"/>
                <a:cs typeface="MiSans" pitchFamily="34" charset="-120"/>
              </a:rPr>
              <a:t>Calico</a:t>
            </a:r>
            <a:endParaRPr lang="en-US" sz="1600" dirty="0"/>
          </a:p>
        </p:txBody>
      </p:sp>
      <p:sp>
        <p:nvSpPr>
          <p:cNvPr id="61" name="Text 59"/>
          <p:cNvSpPr/>
          <p:nvPr/>
        </p:nvSpPr>
        <p:spPr>
          <a:xfrm>
            <a:off x="7398688" y="8163902"/>
            <a:ext cx="1463269" cy="182909"/>
          </a:xfrm>
          <a:prstGeom prst="rect">
            <a:avLst/>
          </a:prstGeom>
          <a:noFill/>
          <a:ln/>
        </p:spPr>
        <p:txBody>
          <a:bodyPr wrap="square" lIns="0" tIns="0" rIns="0" bIns="0" rtlCol="0" anchor="ctr"/>
          <a:lstStyle/>
          <a:p>
            <a:pPr algn="ctr">
              <a:lnSpc>
                <a:spcPct val="110000"/>
              </a:lnSpc>
            </a:pPr>
            <a:r>
              <a:rPr lang="en-US" sz="1080" dirty="0">
                <a:solidFill>
                  <a:srgbClr val="E0E2E4">
                    <a:alpha val="70000"/>
                  </a:srgbClr>
                </a:solidFill>
                <a:latin typeface="MiSans" pitchFamily="34" charset="0"/>
                <a:ea typeface="MiSans" pitchFamily="34" charset="-122"/>
                <a:cs typeface="MiSans" pitchFamily="34" charset="-120"/>
              </a:rPr>
              <a:t>性能/BPG</a:t>
            </a:r>
            <a:endParaRPr lang="en-US" sz="1600" dirty="0"/>
          </a:p>
        </p:txBody>
      </p:sp>
      <p:sp>
        <p:nvSpPr>
          <p:cNvPr id="62" name="Shape 60"/>
          <p:cNvSpPr/>
          <p:nvPr/>
        </p:nvSpPr>
        <p:spPr>
          <a:xfrm>
            <a:off x="8962610" y="7889539"/>
            <a:ext cx="1531859" cy="525862"/>
          </a:xfrm>
          <a:custGeom>
            <a:avLst/>
            <a:gdLst/>
            <a:ahLst/>
            <a:cxnLst/>
            <a:rect l="l" t="t" r="r" b="b"/>
            <a:pathLst>
              <a:path w="1531859" h="525862">
                <a:moveTo>
                  <a:pt x="45729" y="0"/>
                </a:moveTo>
                <a:lnTo>
                  <a:pt x="1486130" y="0"/>
                </a:lnTo>
                <a:cubicBezTo>
                  <a:pt x="1511386" y="0"/>
                  <a:pt x="1531859" y="20474"/>
                  <a:pt x="1531859" y="45729"/>
                </a:cubicBezTo>
                <a:lnTo>
                  <a:pt x="1531859" y="480133"/>
                </a:lnTo>
                <a:cubicBezTo>
                  <a:pt x="1531859" y="505389"/>
                  <a:pt x="1511386" y="525862"/>
                  <a:pt x="1486130" y="525862"/>
                </a:cubicBezTo>
                <a:lnTo>
                  <a:pt x="45729" y="525862"/>
                </a:lnTo>
                <a:cubicBezTo>
                  <a:pt x="20474" y="525862"/>
                  <a:pt x="0" y="505389"/>
                  <a:pt x="0" y="480133"/>
                </a:cubicBezTo>
                <a:lnTo>
                  <a:pt x="0" y="45729"/>
                </a:lnTo>
                <a:cubicBezTo>
                  <a:pt x="0" y="20490"/>
                  <a:pt x="20490" y="0"/>
                  <a:pt x="45729" y="0"/>
                </a:cubicBezTo>
                <a:close/>
              </a:path>
            </a:pathLst>
          </a:custGeom>
          <a:solidFill>
            <a:srgbClr val="1A1D21">
              <a:alpha val="50196"/>
            </a:srgbClr>
          </a:solidFill>
          <a:ln/>
        </p:spPr>
        <p:txBody>
          <a:bodyPr/>
          <a:lstStyle/>
          <a:p>
            <a:endParaRPr lang="zh-CN" altLang="en-US"/>
          </a:p>
        </p:txBody>
      </p:sp>
      <p:sp>
        <p:nvSpPr>
          <p:cNvPr id="63" name="Text 61"/>
          <p:cNvSpPr/>
          <p:nvPr/>
        </p:nvSpPr>
        <p:spPr>
          <a:xfrm>
            <a:off x="8996905" y="7958130"/>
            <a:ext cx="1463269" cy="182909"/>
          </a:xfrm>
          <a:prstGeom prst="rect">
            <a:avLst/>
          </a:prstGeom>
          <a:noFill/>
          <a:ln/>
        </p:spPr>
        <p:txBody>
          <a:bodyPr wrap="square" lIns="0" tIns="0" rIns="0" bIns="0" rtlCol="0" anchor="ctr"/>
          <a:lstStyle/>
          <a:p>
            <a:pPr algn="ctr">
              <a:lnSpc>
                <a:spcPct val="110000"/>
              </a:lnSpc>
            </a:pPr>
            <a:r>
              <a:rPr lang="en-US" sz="1080" b="1" dirty="0">
                <a:solidFill>
                  <a:srgbClr val="E0E2E4"/>
                </a:solidFill>
                <a:latin typeface="MiSans" pitchFamily="34" charset="0"/>
                <a:ea typeface="MiSans" pitchFamily="34" charset="-122"/>
                <a:cs typeface="MiSans" pitchFamily="34" charset="-120"/>
              </a:rPr>
              <a:t>Cilium</a:t>
            </a:r>
            <a:endParaRPr lang="en-US" sz="1600" dirty="0"/>
          </a:p>
        </p:txBody>
      </p:sp>
      <p:sp>
        <p:nvSpPr>
          <p:cNvPr id="64" name="Text 62"/>
          <p:cNvSpPr/>
          <p:nvPr/>
        </p:nvSpPr>
        <p:spPr>
          <a:xfrm>
            <a:off x="8996905" y="8163902"/>
            <a:ext cx="1463269" cy="182909"/>
          </a:xfrm>
          <a:prstGeom prst="rect">
            <a:avLst/>
          </a:prstGeom>
          <a:noFill/>
          <a:ln/>
        </p:spPr>
        <p:txBody>
          <a:bodyPr wrap="square" lIns="0" tIns="0" rIns="0" bIns="0" rtlCol="0" anchor="ctr"/>
          <a:lstStyle/>
          <a:p>
            <a:pPr algn="ctr">
              <a:lnSpc>
                <a:spcPct val="110000"/>
              </a:lnSpc>
            </a:pPr>
            <a:r>
              <a:rPr lang="en-US" sz="1080" dirty="0">
                <a:solidFill>
                  <a:srgbClr val="E0E2E4">
                    <a:alpha val="70000"/>
                  </a:srgbClr>
                </a:solidFill>
                <a:latin typeface="MiSans" pitchFamily="34" charset="0"/>
                <a:ea typeface="MiSans" pitchFamily="34" charset="-122"/>
                <a:cs typeface="MiSans" pitchFamily="34" charset="-120"/>
              </a:rPr>
              <a:t>eBPF/L7安全</a:t>
            </a:r>
            <a:endParaRPr lang="en-US" sz="1600" dirty="0"/>
          </a:p>
        </p:txBody>
      </p:sp>
      <p:sp>
        <p:nvSpPr>
          <p:cNvPr id="65" name="Shape 63"/>
          <p:cNvSpPr/>
          <p:nvPr/>
        </p:nvSpPr>
        <p:spPr>
          <a:xfrm>
            <a:off x="10783747" y="7335098"/>
            <a:ext cx="5007122" cy="1749063"/>
          </a:xfrm>
          <a:custGeom>
            <a:avLst/>
            <a:gdLst/>
            <a:ahLst/>
            <a:cxnLst/>
            <a:rect l="l" t="t" r="r" b="b"/>
            <a:pathLst>
              <a:path w="5007122" h="1749063">
                <a:moveTo>
                  <a:pt x="91459" y="0"/>
                </a:moveTo>
                <a:lnTo>
                  <a:pt x="4915664" y="0"/>
                </a:lnTo>
                <a:cubicBezTo>
                  <a:pt x="4966175" y="0"/>
                  <a:pt x="5007122" y="40947"/>
                  <a:pt x="5007122" y="91459"/>
                </a:cubicBezTo>
                <a:lnTo>
                  <a:pt x="5007122" y="1657605"/>
                </a:lnTo>
                <a:cubicBezTo>
                  <a:pt x="5007122" y="1708116"/>
                  <a:pt x="4966175" y="1749063"/>
                  <a:pt x="4915664" y="1749063"/>
                </a:cubicBezTo>
                <a:lnTo>
                  <a:pt x="91459" y="1749063"/>
                </a:lnTo>
                <a:cubicBezTo>
                  <a:pt x="40947" y="1749063"/>
                  <a:pt x="0" y="1708116"/>
                  <a:pt x="0" y="1657605"/>
                </a:cubicBezTo>
                <a:lnTo>
                  <a:pt x="0" y="91459"/>
                </a:lnTo>
                <a:cubicBezTo>
                  <a:pt x="0" y="40981"/>
                  <a:pt x="40981" y="0"/>
                  <a:pt x="91459"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6" name="Text 64"/>
          <p:cNvSpPr/>
          <p:nvPr/>
        </p:nvSpPr>
        <p:spPr>
          <a:xfrm>
            <a:off x="10926644" y="7477995"/>
            <a:ext cx="4824214" cy="320090"/>
          </a:xfrm>
          <a:prstGeom prst="rect">
            <a:avLst/>
          </a:prstGeom>
          <a:noFill/>
          <a:ln/>
        </p:spPr>
        <p:txBody>
          <a:bodyPr wrap="square" lIns="0" tIns="0" rIns="0" bIns="0" rtlCol="0" anchor="ctr"/>
          <a:lstStyle/>
          <a:p>
            <a:pPr>
              <a:lnSpc>
                <a:spcPct val="130000"/>
              </a:lnSpc>
            </a:pPr>
            <a:r>
              <a:rPr lang="en-US" sz="1620" b="1" dirty="0">
                <a:solidFill>
                  <a:srgbClr val="E0E2E4"/>
                </a:solidFill>
                <a:latin typeface="MiSans" pitchFamily="34" charset="0"/>
                <a:ea typeface="MiSans" pitchFamily="34" charset="-122"/>
                <a:cs typeface="MiSans" pitchFamily="34" charset="-120"/>
              </a:rPr>
              <a:t>网络安全演进</a:t>
            </a:r>
            <a:endParaRPr lang="en-US" sz="1600" dirty="0"/>
          </a:p>
        </p:txBody>
      </p:sp>
      <p:sp>
        <p:nvSpPr>
          <p:cNvPr id="67" name="Shape 65"/>
          <p:cNvSpPr/>
          <p:nvPr/>
        </p:nvSpPr>
        <p:spPr>
          <a:xfrm>
            <a:off x="10926644" y="7889539"/>
            <a:ext cx="4721328" cy="320090"/>
          </a:xfrm>
          <a:custGeom>
            <a:avLst/>
            <a:gdLst/>
            <a:ahLst/>
            <a:cxnLst/>
            <a:rect l="l" t="t" r="r" b="b"/>
            <a:pathLst>
              <a:path w="4721328" h="320090">
                <a:moveTo>
                  <a:pt x="45728" y="0"/>
                </a:moveTo>
                <a:lnTo>
                  <a:pt x="4675600" y="0"/>
                </a:lnTo>
                <a:cubicBezTo>
                  <a:pt x="4700855" y="0"/>
                  <a:pt x="4721328" y="20473"/>
                  <a:pt x="4721328" y="45728"/>
                </a:cubicBezTo>
                <a:lnTo>
                  <a:pt x="4721328" y="274362"/>
                </a:lnTo>
                <a:cubicBezTo>
                  <a:pt x="4721328" y="299617"/>
                  <a:pt x="4700855" y="320090"/>
                  <a:pt x="4675600" y="320090"/>
                </a:cubicBezTo>
                <a:lnTo>
                  <a:pt x="45728" y="320090"/>
                </a:lnTo>
                <a:cubicBezTo>
                  <a:pt x="20473" y="320090"/>
                  <a:pt x="0" y="299617"/>
                  <a:pt x="0" y="274362"/>
                </a:cubicBezTo>
                <a:lnTo>
                  <a:pt x="0" y="45728"/>
                </a:lnTo>
                <a:cubicBezTo>
                  <a:pt x="0" y="20490"/>
                  <a:pt x="20490" y="0"/>
                  <a:pt x="45728" y="0"/>
                </a:cubicBezTo>
                <a:close/>
              </a:path>
            </a:pathLst>
          </a:custGeom>
          <a:solidFill>
            <a:srgbClr val="1A1D21">
              <a:alpha val="50196"/>
            </a:srgbClr>
          </a:solidFill>
          <a:ln/>
        </p:spPr>
        <p:txBody>
          <a:bodyPr/>
          <a:lstStyle/>
          <a:p>
            <a:endParaRPr lang="zh-CN" altLang="en-US"/>
          </a:p>
        </p:txBody>
      </p:sp>
      <p:sp>
        <p:nvSpPr>
          <p:cNvPr id="68" name="Text 66"/>
          <p:cNvSpPr/>
          <p:nvPr/>
        </p:nvSpPr>
        <p:spPr>
          <a:xfrm>
            <a:off x="11018098" y="7935266"/>
            <a:ext cx="880248"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传统防火墙</a:t>
            </a:r>
            <a:endParaRPr lang="en-US" sz="1600" dirty="0"/>
          </a:p>
        </p:txBody>
      </p:sp>
      <p:sp>
        <p:nvSpPr>
          <p:cNvPr id="69" name="Shape 67"/>
          <p:cNvSpPr/>
          <p:nvPr/>
        </p:nvSpPr>
        <p:spPr>
          <a:xfrm>
            <a:off x="15383969" y="7969562"/>
            <a:ext cx="160045" cy="160045"/>
          </a:xfrm>
          <a:custGeom>
            <a:avLst/>
            <a:gdLst/>
            <a:ahLst/>
            <a:cxnLst/>
            <a:rect l="l" t="t" r="r" b="b"/>
            <a:pathLst>
              <a:path w="160045" h="160045">
                <a:moveTo>
                  <a:pt x="157107" y="87087"/>
                </a:moveTo>
                <a:cubicBezTo>
                  <a:pt x="161014" y="83180"/>
                  <a:pt x="161014" y="76834"/>
                  <a:pt x="157107" y="72927"/>
                </a:cubicBezTo>
                <a:lnTo>
                  <a:pt x="107093" y="22913"/>
                </a:lnTo>
                <a:cubicBezTo>
                  <a:pt x="103185" y="19005"/>
                  <a:pt x="96840" y="19005"/>
                  <a:pt x="92932" y="22913"/>
                </a:cubicBezTo>
                <a:cubicBezTo>
                  <a:pt x="89025" y="26820"/>
                  <a:pt x="89025" y="33166"/>
                  <a:pt x="92932" y="37073"/>
                </a:cubicBezTo>
                <a:lnTo>
                  <a:pt x="125879" y="70020"/>
                </a:lnTo>
                <a:lnTo>
                  <a:pt x="10003" y="70020"/>
                </a:lnTo>
                <a:cubicBezTo>
                  <a:pt x="4470" y="70020"/>
                  <a:pt x="0" y="74490"/>
                  <a:pt x="0" y="80023"/>
                </a:cubicBezTo>
                <a:cubicBezTo>
                  <a:pt x="0" y="85555"/>
                  <a:pt x="4470" y="90025"/>
                  <a:pt x="10003" y="90025"/>
                </a:cubicBezTo>
                <a:lnTo>
                  <a:pt x="125879" y="90025"/>
                </a:lnTo>
                <a:lnTo>
                  <a:pt x="92932" y="122972"/>
                </a:lnTo>
                <a:cubicBezTo>
                  <a:pt x="89025" y="126879"/>
                  <a:pt x="89025" y="133225"/>
                  <a:pt x="92932" y="137132"/>
                </a:cubicBezTo>
                <a:cubicBezTo>
                  <a:pt x="96840" y="141040"/>
                  <a:pt x="103185" y="141040"/>
                  <a:pt x="107093" y="137132"/>
                </a:cubicBezTo>
                <a:lnTo>
                  <a:pt x="157107" y="87118"/>
                </a:lnTo>
                <a:close/>
              </a:path>
            </a:pathLst>
          </a:custGeom>
          <a:solidFill>
            <a:srgbClr val="B38B59"/>
          </a:solidFill>
          <a:ln/>
        </p:spPr>
        <p:txBody>
          <a:bodyPr/>
          <a:lstStyle/>
          <a:p>
            <a:endParaRPr lang="zh-CN" altLang="en-US"/>
          </a:p>
        </p:txBody>
      </p:sp>
      <p:sp>
        <p:nvSpPr>
          <p:cNvPr id="70" name="Shape 68"/>
          <p:cNvSpPr/>
          <p:nvPr/>
        </p:nvSpPr>
        <p:spPr>
          <a:xfrm>
            <a:off x="10926644" y="8255356"/>
            <a:ext cx="4721328" cy="320090"/>
          </a:xfrm>
          <a:custGeom>
            <a:avLst/>
            <a:gdLst/>
            <a:ahLst/>
            <a:cxnLst/>
            <a:rect l="l" t="t" r="r" b="b"/>
            <a:pathLst>
              <a:path w="4721328" h="320090">
                <a:moveTo>
                  <a:pt x="45728" y="0"/>
                </a:moveTo>
                <a:lnTo>
                  <a:pt x="4675600" y="0"/>
                </a:lnTo>
                <a:cubicBezTo>
                  <a:pt x="4700855" y="0"/>
                  <a:pt x="4721328" y="20473"/>
                  <a:pt x="4721328" y="45728"/>
                </a:cubicBezTo>
                <a:lnTo>
                  <a:pt x="4721328" y="274362"/>
                </a:lnTo>
                <a:cubicBezTo>
                  <a:pt x="4721328" y="299617"/>
                  <a:pt x="4700855" y="320090"/>
                  <a:pt x="4675600" y="320090"/>
                </a:cubicBezTo>
                <a:lnTo>
                  <a:pt x="45728" y="320090"/>
                </a:lnTo>
                <a:cubicBezTo>
                  <a:pt x="20473" y="320090"/>
                  <a:pt x="0" y="299617"/>
                  <a:pt x="0" y="274362"/>
                </a:cubicBezTo>
                <a:lnTo>
                  <a:pt x="0" y="45728"/>
                </a:lnTo>
                <a:cubicBezTo>
                  <a:pt x="0" y="20490"/>
                  <a:pt x="20490" y="0"/>
                  <a:pt x="45728" y="0"/>
                </a:cubicBezTo>
                <a:close/>
              </a:path>
            </a:pathLst>
          </a:custGeom>
          <a:solidFill>
            <a:srgbClr val="1A1D21">
              <a:alpha val="50196"/>
            </a:srgbClr>
          </a:solidFill>
          <a:ln/>
        </p:spPr>
        <p:txBody>
          <a:bodyPr/>
          <a:lstStyle/>
          <a:p>
            <a:endParaRPr lang="zh-CN" altLang="en-US"/>
          </a:p>
        </p:txBody>
      </p:sp>
      <p:sp>
        <p:nvSpPr>
          <p:cNvPr id="71" name="Text 69"/>
          <p:cNvSpPr/>
          <p:nvPr/>
        </p:nvSpPr>
        <p:spPr>
          <a:xfrm>
            <a:off x="11018098" y="8301084"/>
            <a:ext cx="1131747"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NetworkPolicy</a:t>
            </a:r>
            <a:endParaRPr lang="en-US" sz="1600" dirty="0"/>
          </a:p>
        </p:txBody>
      </p:sp>
      <p:sp>
        <p:nvSpPr>
          <p:cNvPr id="72" name="Shape 70"/>
          <p:cNvSpPr/>
          <p:nvPr/>
        </p:nvSpPr>
        <p:spPr>
          <a:xfrm>
            <a:off x="15383969" y="8335379"/>
            <a:ext cx="160045" cy="160045"/>
          </a:xfrm>
          <a:custGeom>
            <a:avLst/>
            <a:gdLst/>
            <a:ahLst/>
            <a:cxnLst/>
            <a:rect l="l" t="t" r="r" b="b"/>
            <a:pathLst>
              <a:path w="160045" h="160045">
                <a:moveTo>
                  <a:pt x="157107" y="87087"/>
                </a:moveTo>
                <a:cubicBezTo>
                  <a:pt x="161014" y="83180"/>
                  <a:pt x="161014" y="76834"/>
                  <a:pt x="157107" y="72927"/>
                </a:cubicBezTo>
                <a:lnTo>
                  <a:pt x="107093" y="22913"/>
                </a:lnTo>
                <a:cubicBezTo>
                  <a:pt x="103185" y="19005"/>
                  <a:pt x="96840" y="19005"/>
                  <a:pt x="92932" y="22913"/>
                </a:cubicBezTo>
                <a:cubicBezTo>
                  <a:pt x="89025" y="26820"/>
                  <a:pt x="89025" y="33166"/>
                  <a:pt x="92932" y="37073"/>
                </a:cubicBezTo>
                <a:lnTo>
                  <a:pt x="125879" y="70020"/>
                </a:lnTo>
                <a:lnTo>
                  <a:pt x="10003" y="70020"/>
                </a:lnTo>
                <a:cubicBezTo>
                  <a:pt x="4470" y="70020"/>
                  <a:pt x="0" y="74490"/>
                  <a:pt x="0" y="80023"/>
                </a:cubicBezTo>
                <a:cubicBezTo>
                  <a:pt x="0" y="85555"/>
                  <a:pt x="4470" y="90025"/>
                  <a:pt x="10003" y="90025"/>
                </a:cubicBezTo>
                <a:lnTo>
                  <a:pt x="125879" y="90025"/>
                </a:lnTo>
                <a:lnTo>
                  <a:pt x="92932" y="122972"/>
                </a:lnTo>
                <a:cubicBezTo>
                  <a:pt x="89025" y="126879"/>
                  <a:pt x="89025" y="133225"/>
                  <a:pt x="92932" y="137132"/>
                </a:cubicBezTo>
                <a:cubicBezTo>
                  <a:pt x="96840" y="141040"/>
                  <a:pt x="103185" y="141040"/>
                  <a:pt x="107093" y="137132"/>
                </a:cubicBezTo>
                <a:lnTo>
                  <a:pt x="157107" y="87118"/>
                </a:lnTo>
                <a:close/>
              </a:path>
            </a:pathLst>
          </a:custGeom>
          <a:solidFill>
            <a:srgbClr val="B38B59"/>
          </a:solidFill>
          <a:ln/>
        </p:spPr>
        <p:txBody>
          <a:bodyPr/>
          <a:lstStyle/>
          <a:p>
            <a:endParaRPr lang="zh-CN" altLang="en-US"/>
          </a:p>
        </p:txBody>
      </p:sp>
      <p:sp>
        <p:nvSpPr>
          <p:cNvPr id="73" name="Shape 71"/>
          <p:cNvSpPr/>
          <p:nvPr/>
        </p:nvSpPr>
        <p:spPr>
          <a:xfrm>
            <a:off x="10926644" y="8621174"/>
            <a:ext cx="4721328" cy="320090"/>
          </a:xfrm>
          <a:custGeom>
            <a:avLst/>
            <a:gdLst/>
            <a:ahLst/>
            <a:cxnLst/>
            <a:rect l="l" t="t" r="r" b="b"/>
            <a:pathLst>
              <a:path w="4721328" h="320090">
                <a:moveTo>
                  <a:pt x="45728" y="0"/>
                </a:moveTo>
                <a:lnTo>
                  <a:pt x="4675600" y="0"/>
                </a:lnTo>
                <a:cubicBezTo>
                  <a:pt x="4700855" y="0"/>
                  <a:pt x="4721328" y="20473"/>
                  <a:pt x="4721328" y="45728"/>
                </a:cubicBezTo>
                <a:lnTo>
                  <a:pt x="4721328" y="274362"/>
                </a:lnTo>
                <a:cubicBezTo>
                  <a:pt x="4721328" y="299617"/>
                  <a:pt x="4700855" y="320090"/>
                  <a:pt x="4675600" y="320090"/>
                </a:cubicBezTo>
                <a:lnTo>
                  <a:pt x="45728" y="320090"/>
                </a:lnTo>
                <a:cubicBezTo>
                  <a:pt x="20473" y="320090"/>
                  <a:pt x="0" y="299617"/>
                  <a:pt x="0" y="274362"/>
                </a:cubicBezTo>
                <a:lnTo>
                  <a:pt x="0" y="45728"/>
                </a:lnTo>
                <a:cubicBezTo>
                  <a:pt x="0" y="20490"/>
                  <a:pt x="20490" y="0"/>
                  <a:pt x="45728" y="0"/>
                </a:cubicBezTo>
                <a:close/>
              </a:path>
            </a:pathLst>
          </a:custGeom>
          <a:solidFill>
            <a:srgbClr val="1A1D21">
              <a:alpha val="50196"/>
            </a:srgbClr>
          </a:solidFill>
          <a:ln/>
        </p:spPr>
        <p:txBody>
          <a:bodyPr/>
          <a:lstStyle/>
          <a:p>
            <a:endParaRPr lang="zh-CN" altLang="en-US"/>
          </a:p>
        </p:txBody>
      </p:sp>
      <p:sp>
        <p:nvSpPr>
          <p:cNvPr id="74" name="Text 72"/>
          <p:cNvSpPr/>
          <p:nvPr/>
        </p:nvSpPr>
        <p:spPr>
          <a:xfrm>
            <a:off x="11018098" y="8666901"/>
            <a:ext cx="1063156"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Service Mesh</a:t>
            </a:r>
            <a:endParaRPr lang="en-US" sz="1600" dirty="0"/>
          </a:p>
        </p:txBody>
      </p:sp>
      <p:sp>
        <p:nvSpPr>
          <p:cNvPr id="75" name="Shape 73"/>
          <p:cNvSpPr/>
          <p:nvPr/>
        </p:nvSpPr>
        <p:spPr>
          <a:xfrm>
            <a:off x="15393972" y="8701196"/>
            <a:ext cx="140039" cy="160045"/>
          </a:xfrm>
          <a:custGeom>
            <a:avLst/>
            <a:gdLst/>
            <a:ahLst/>
            <a:cxnLst/>
            <a:rect l="l" t="t" r="r" b="b"/>
            <a:pathLst>
              <a:path w="140039" h="160045">
                <a:moveTo>
                  <a:pt x="135913" y="21912"/>
                </a:moveTo>
                <a:cubicBezTo>
                  <a:pt x="140383" y="25163"/>
                  <a:pt x="141384" y="31415"/>
                  <a:pt x="138133" y="35885"/>
                </a:cubicBezTo>
                <a:lnTo>
                  <a:pt x="58110" y="145916"/>
                </a:lnTo>
                <a:cubicBezTo>
                  <a:pt x="56391" y="148292"/>
                  <a:pt x="53734" y="149761"/>
                  <a:pt x="50796" y="150011"/>
                </a:cubicBezTo>
                <a:cubicBezTo>
                  <a:pt x="47857" y="150261"/>
                  <a:pt x="45013" y="149167"/>
                  <a:pt x="42950" y="147104"/>
                </a:cubicBezTo>
                <a:lnTo>
                  <a:pt x="2938" y="107093"/>
                </a:lnTo>
                <a:cubicBezTo>
                  <a:pt x="-969" y="103185"/>
                  <a:pt x="-969" y="96840"/>
                  <a:pt x="2938" y="92932"/>
                </a:cubicBezTo>
                <a:cubicBezTo>
                  <a:pt x="6846" y="89025"/>
                  <a:pt x="13191" y="89025"/>
                  <a:pt x="17099" y="92932"/>
                </a:cubicBezTo>
                <a:lnTo>
                  <a:pt x="48826" y="124660"/>
                </a:lnTo>
                <a:lnTo>
                  <a:pt x="121972" y="24101"/>
                </a:lnTo>
                <a:cubicBezTo>
                  <a:pt x="125223" y="19631"/>
                  <a:pt x="131474" y="18630"/>
                  <a:pt x="135944" y="21881"/>
                </a:cubicBezTo>
                <a:close/>
              </a:path>
            </a:pathLst>
          </a:custGeom>
          <a:solidFill>
            <a:srgbClr val="3C8082"/>
          </a:solidFill>
          <a:ln/>
        </p:spPr>
        <p:txBody>
          <a:bodyPr/>
          <a:lstStyle/>
          <a:p>
            <a:endParaRPr lang="zh-CN" altLang="en-US"/>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58238" y="504062"/>
            <a:ext cx="366591" cy="366591"/>
          </a:xfrm>
          <a:custGeom>
            <a:avLst/>
            <a:gdLst/>
            <a:ahLst/>
            <a:cxnLst/>
            <a:rect l="l" t="t" r="r" b="b"/>
            <a:pathLst>
              <a:path w="366591" h="366591">
                <a:moveTo>
                  <a:pt x="68736" y="0"/>
                </a:moveTo>
                <a:lnTo>
                  <a:pt x="297855" y="0"/>
                </a:lnTo>
                <a:cubicBezTo>
                  <a:pt x="335791" y="0"/>
                  <a:pt x="366591" y="30799"/>
                  <a:pt x="366591" y="68736"/>
                </a:cubicBezTo>
                <a:lnTo>
                  <a:pt x="366591" y="297855"/>
                </a:lnTo>
                <a:cubicBezTo>
                  <a:pt x="366591" y="335791"/>
                  <a:pt x="335791" y="366591"/>
                  <a:pt x="297855" y="366591"/>
                </a:cubicBezTo>
                <a:lnTo>
                  <a:pt x="68736" y="366591"/>
                </a:lnTo>
                <a:cubicBezTo>
                  <a:pt x="30799" y="366591"/>
                  <a:pt x="0" y="335791"/>
                  <a:pt x="0" y="297855"/>
                </a:cubicBezTo>
                <a:lnTo>
                  <a:pt x="0" y="68736"/>
                </a:lnTo>
                <a:cubicBezTo>
                  <a:pt x="0" y="30799"/>
                  <a:pt x="30799" y="0"/>
                  <a:pt x="68736" y="0"/>
                </a:cubicBezTo>
                <a:close/>
              </a:path>
            </a:pathLst>
          </a:custGeom>
          <a:solidFill>
            <a:srgbClr val="3C8082"/>
          </a:solidFill>
          <a:ln/>
        </p:spPr>
        <p:txBody>
          <a:bodyPr/>
          <a:lstStyle/>
          <a:p>
            <a:endParaRPr lang="zh-CN" altLang="en-US"/>
          </a:p>
        </p:txBody>
      </p:sp>
      <p:sp>
        <p:nvSpPr>
          <p:cNvPr id="3" name="Text 1"/>
          <p:cNvSpPr/>
          <p:nvPr/>
        </p:nvSpPr>
        <p:spPr>
          <a:xfrm>
            <a:off x="412414" y="504062"/>
            <a:ext cx="458238" cy="366591"/>
          </a:xfrm>
          <a:prstGeom prst="rect">
            <a:avLst/>
          </a:prstGeom>
          <a:noFill/>
          <a:ln/>
        </p:spPr>
        <p:txBody>
          <a:bodyPr wrap="square" lIns="0" tIns="0" rIns="0" bIns="0" rtlCol="0" anchor="ctr"/>
          <a:lstStyle/>
          <a:p>
            <a:pPr algn="ctr">
              <a:lnSpc>
                <a:spcPct val="130000"/>
              </a:lnSpc>
            </a:pPr>
            <a:r>
              <a:rPr lang="en-US" sz="1443" b="1" dirty="0">
                <a:solidFill>
                  <a:srgbClr val="FFFFFF"/>
                </a:solidFill>
                <a:latin typeface="Liter" pitchFamily="34" charset="0"/>
                <a:ea typeface="Liter" pitchFamily="34" charset="-122"/>
                <a:cs typeface="Liter" pitchFamily="34" charset="-120"/>
              </a:rPr>
              <a:t>18</a:t>
            </a:r>
            <a:endParaRPr lang="en-US" sz="1600" dirty="0"/>
          </a:p>
        </p:txBody>
      </p:sp>
      <p:sp>
        <p:nvSpPr>
          <p:cNvPr id="4" name="Text 2"/>
          <p:cNvSpPr/>
          <p:nvPr/>
        </p:nvSpPr>
        <p:spPr>
          <a:xfrm>
            <a:off x="962300" y="458238"/>
            <a:ext cx="6083112" cy="458238"/>
          </a:xfrm>
          <a:prstGeom prst="rect">
            <a:avLst/>
          </a:prstGeom>
          <a:noFill/>
          <a:ln/>
        </p:spPr>
        <p:txBody>
          <a:bodyPr wrap="square" lIns="0" tIns="0" rIns="0" bIns="0" rtlCol="0" anchor="ctr"/>
          <a:lstStyle/>
          <a:p>
            <a:pPr>
              <a:lnSpc>
                <a:spcPct val="90000"/>
              </a:lnSpc>
            </a:pPr>
            <a:r>
              <a:rPr lang="en-US" sz="3247" b="1" dirty="0">
                <a:solidFill>
                  <a:srgbClr val="E0E2E4"/>
                </a:solidFill>
                <a:latin typeface="MiSans" pitchFamily="34" charset="0"/>
                <a:ea typeface="MiSans" pitchFamily="34" charset="-122"/>
                <a:cs typeface="MiSans" pitchFamily="34" charset="-120"/>
              </a:rPr>
              <a:t>Kubernetes存储隔离与数据管理</a:t>
            </a:r>
            <a:endParaRPr lang="en-US" sz="1600" dirty="0"/>
          </a:p>
        </p:txBody>
      </p:sp>
      <p:sp>
        <p:nvSpPr>
          <p:cNvPr id="5" name="Text 3"/>
          <p:cNvSpPr/>
          <p:nvPr/>
        </p:nvSpPr>
        <p:spPr>
          <a:xfrm>
            <a:off x="458238" y="1008124"/>
            <a:ext cx="15442627" cy="320767"/>
          </a:xfrm>
          <a:prstGeom prst="rect">
            <a:avLst/>
          </a:prstGeom>
          <a:noFill/>
          <a:ln/>
        </p:spPr>
        <p:txBody>
          <a:bodyPr wrap="square" lIns="0" tIns="0" rIns="0" bIns="0" rtlCol="0" anchor="ctr"/>
          <a:lstStyle/>
          <a:p>
            <a:pPr>
              <a:lnSpc>
                <a:spcPct val="130000"/>
              </a:lnSpc>
            </a:pPr>
            <a:r>
              <a:rPr lang="en-US" sz="1624" b="1" dirty="0">
                <a:solidFill>
                  <a:srgbClr val="B38B59"/>
                </a:solidFill>
                <a:latin typeface="MiSans" pitchFamily="34" charset="0"/>
                <a:ea typeface="MiSans" pitchFamily="34" charset="-122"/>
                <a:cs typeface="MiSans" pitchFamily="34" charset="-120"/>
              </a:rPr>
              <a:t>存储卷类型、PV/PVC机制与动态供给的完整存储体系</a:t>
            </a:r>
            <a:endParaRPr lang="en-US" sz="1600" dirty="0"/>
          </a:p>
        </p:txBody>
      </p:sp>
      <p:sp>
        <p:nvSpPr>
          <p:cNvPr id="6" name="Shape 4"/>
          <p:cNvSpPr/>
          <p:nvPr/>
        </p:nvSpPr>
        <p:spPr>
          <a:xfrm>
            <a:off x="463966" y="1517914"/>
            <a:ext cx="7560930" cy="5647786"/>
          </a:xfrm>
          <a:custGeom>
            <a:avLst/>
            <a:gdLst/>
            <a:ahLst/>
            <a:cxnLst/>
            <a:rect l="l" t="t" r="r" b="b"/>
            <a:pathLst>
              <a:path w="7560930" h="6174760">
                <a:moveTo>
                  <a:pt x="91633" y="0"/>
                </a:moveTo>
                <a:lnTo>
                  <a:pt x="7469297" y="0"/>
                </a:lnTo>
                <a:cubicBezTo>
                  <a:pt x="7519905" y="0"/>
                  <a:pt x="7560930" y="41026"/>
                  <a:pt x="7560930" y="91633"/>
                </a:cubicBezTo>
                <a:lnTo>
                  <a:pt x="7560930" y="6083126"/>
                </a:lnTo>
                <a:cubicBezTo>
                  <a:pt x="7560930" y="6133734"/>
                  <a:pt x="7519905" y="6174760"/>
                  <a:pt x="7469297" y="6174760"/>
                </a:cubicBezTo>
                <a:lnTo>
                  <a:pt x="91633" y="6174760"/>
                </a:lnTo>
                <a:cubicBezTo>
                  <a:pt x="41026" y="6174760"/>
                  <a:pt x="0" y="6133734"/>
                  <a:pt x="0" y="6083126"/>
                </a:cubicBezTo>
                <a:lnTo>
                  <a:pt x="0" y="91633"/>
                </a:lnTo>
                <a:cubicBezTo>
                  <a:pt x="0" y="41060"/>
                  <a:pt x="41060" y="0"/>
                  <a:pt x="91633"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704541" y="1752761"/>
            <a:ext cx="240575" cy="274943"/>
          </a:xfrm>
          <a:custGeom>
            <a:avLst/>
            <a:gdLst/>
            <a:ahLst/>
            <a:cxnLst/>
            <a:rect l="l" t="t" r="r" b="b"/>
            <a:pathLst>
              <a:path w="240575" h="274943">
                <a:moveTo>
                  <a:pt x="34368" y="17184"/>
                </a:moveTo>
                <a:cubicBezTo>
                  <a:pt x="15412" y="17184"/>
                  <a:pt x="0" y="32596"/>
                  <a:pt x="0" y="51552"/>
                </a:cubicBezTo>
                <a:lnTo>
                  <a:pt x="0" y="139673"/>
                </a:lnTo>
                <a:cubicBezTo>
                  <a:pt x="9720" y="132853"/>
                  <a:pt x="21587" y="128879"/>
                  <a:pt x="34368" y="128879"/>
                </a:cubicBezTo>
                <a:lnTo>
                  <a:pt x="206207" y="128879"/>
                </a:lnTo>
                <a:cubicBezTo>
                  <a:pt x="218988" y="128879"/>
                  <a:pt x="230855" y="132853"/>
                  <a:pt x="240575" y="139673"/>
                </a:cubicBezTo>
                <a:lnTo>
                  <a:pt x="240575" y="51552"/>
                </a:lnTo>
                <a:cubicBezTo>
                  <a:pt x="240575" y="32596"/>
                  <a:pt x="225163" y="17184"/>
                  <a:pt x="206207" y="17184"/>
                </a:cubicBezTo>
                <a:lnTo>
                  <a:pt x="34368" y="17184"/>
                </a:lnTo>
                <a:close/>
                <a:moveTo>
                  <a:pt x="240575" y="189023"/>
                </a:moveTo>
                <a:cubicBezTo>
                  <a:pt x="240575" y="170067"/>
                  <a:pt x="225163" y="154655"/>
                  <a:pt x="206207" y="154655"/>
                </a:cubicBezTo>
                <a:lnTo>
                  <a:pt x="34368" y="154655"/>
                </a:lnTo>
                <a:cubicBezTo>
                  <a:pt x="15412" y="154655"/>
                  <a:pt x="0" y="170067"/>
                  <a:pt x="0" y="189023"/>
                </a:cubicBezTo>
                <a:lnTo>
                  <a:pt x="0" y="223391"/>
                </a:lnTo>
                <a:cubicBezTo>
                  <a:pt x="0" y="242347"/>
                  <a:pt x="15412" y="257759"/>
                  <a:pt x="34368" y="257759"/>
                </a:cubicBezTo>
                <a:lnTo>
                  <a:pt x="206207" y="257759"/>
                </a:lnTo>
                <a:cubicBezTo>
                  <a:pt x="225163" y="257759"/>
                  <a:pt x="240575" y="242347"/>
                  <a:pt x="240575" y="223391"/>
                </a:cubicBezTo>
                <a:lnTo>
                  <a:pt x="240575" y="189023"/>
                </a:lnTo>
                <a:close/>
                <a:moveTo>
                  <a:pt x="120288" y="206207"/>
                </a:moveTo>
                <a:cubicBezTo>
                  <a:pt x="120288" y="196723"/>
                  <a:pt x="127987" y="189023"/>
                  <a:pt x="137471" y="189023"/>
                </a:cubicBezTo>
                <a:cubicBezTo>
                  <a:pt x="146956" y="189023"/>
                  <a:pt x="154655" y="196723"/>
                  <a:pt x="154655" y="206207"/>
                </a:cubicBezTo>
                <a:cubicBezTo>
                  <a:pt x="154655" y="215691"/>
                  <a:pt x="146956" y="223391"/>
                  <a:pt x="137471" y="223391"/>
                </a:cubicBezTo>
                <a:cubicBezTo>
                  <a:pt x="127987" y="223391"/>
                  <a:pt x="120288" y="215691"/>
                  <a:pt x="120288" y="206207"/>
                </a:cubicBezTo>
                <a:close/>
                <a:moveTo>
                  <a:pt x="189023" y="189023"/>
                </a:moveTo>
                <a:cubicBezTo>
                  <a:pt x="198507" y="189023"/>
                  <a:pt x="206207" y="196723"/>
                  <a:pt x="206207" y="206207"/>
                </a:cubicBezTo>
                <a:cubicBezTo>
                  <a:pt x="206207" y="215691"/>
                  <a:pt x="198507" y="223391"/>
                  <a:pt x="189023" y="223391"/>
                </a:cubicBezTo>
                <a:cubicBezTo>
                  <a:pt x="179539" y="223391"/>
                  <a:pt x="171839" y="215691"/>
                  <a:pt x="171839" y="206207"/>
                </a:cubicBezTo>
                <a:cubicBezTo>
                  <a:pt x="171839" y="196723"/>
                  <a:pt x="179539" y="189023"/>
                  <a:pt x="189023" y="189023"/>
                </a:cubicBezTo>
                <a:close/>
              </a:path>
            </a:pathLst>
          </a:custGeom>
          <a:solidFill>
            <a:srgbClr val="B38B59"/>
          </a:solidFill>
          <a:ln/>
        </p:spPr>
        <p:txBody>
          <a:bodyPr/>
          <a:lstStyle/>
          <a:p>
            <a:endParaRPr lang="zh-CN" altLang="en-US"/>
          </a:p>
        </p:txBody>
      </p:sp>
      <p:sp>
        <p:nvSpPr>
          <p:cNvPr id="8" name="Text 6"/>
          <p:cNvSpPr/>
          <p:nvPr/>
        </p:nvSpPr>
        <p:spPr>
          <a:xfrm>
            <a:off x="996668" y="1706937"/>
            <a:ext cx="6976677" cy="366591"/>
          </a:xfrm>
          <a:prstGeom prst="rect">
            <a:avLst/>
          </a:prstGeom>
          <a:noFill/>
          <a:ln/>
        </p:spPr>
        <p:txBody>
          <a:bodyPr wrap="square" lIns="0" tIns="0" rIns="0" bIns="0" rtlCol="0" anchor="ctr"/>
          <a:lstStyle/>
          <a:p>
            <a:pPr>
              <a:lnSpc>
                <a:spcPct val="110000"/>
              </a:lnSpc>
            </a:pPr>
            <a:r>
              <a:rPr lang="en-US" sz="2165" b="1" dirty="0">
                <a:solidFill>
                  <a:srgbClr val="E0E2E4"/>
                </a:solidFill>
                <a:latin typeface="MiSans" pitchFamily="34" charset="0"/>
                <a:ea typeface="MiSans" pitchFamily="34" charset="-122"/>
                <a:cs typeface="MiSans" pitchFamily="34" charset="-120"/>
              </a:rPr>
              <a:t>存储卷(Volume)类型</a:t>
            </a:r>
            <a:endParaRPr lang="en-US" sz="1600" dirty="0"/>
          </a:p>
        </p:txBody>
      </p:sp>
      <p:sp>
        <p:nvSpPr>
          <p:cNvPr id="9" name="Shape 7"/>
          <p:cNvSpPr/>
          <p:nvPr/>
        </p:nvSpPr>
        <p:spPr>
          <a:xfrm>
            <a:off x="652989" y="2210999"/>
            <a:ext cx="7182884" cy="733181"/>
          </a:xfrm>
          <a:custGeom>
            <a:avLst/>
            <a:gdLst/>
            <a:ahLst/>
            <a:cxnLst/>
            <a:rect l="l" t="t" r="r" b="b"/>
            <a:pathLst>
              <a:path w="7182884" h="733181">
                <a:moveTo>
                  <a:pt x="91648" y="0"/>
                </a:moveTo>
                <a:lnTo>
                  <a:pt x="7091236" y="0"/>
                </a:lnTo>
                <a:cubicBezTo>
                  <a:pt x="7141852" y="0"/>
                  <a:pt x="7182884" y="41032"/>
                  <a:pt x="7182884" y="91648"/>
                </a:cubicBezTo>
                <a:lnTo>
                  <a:pt x="7182884" y="641533"/>
                </a:lnTo>
                <a:cubicBezTo>
                  <a:pt x="7182884" y="692149"/>
                  <a:pt x="7141852" y="733181"/>
                  <a:pt x="7091236" y="733181"/>
                </a:cubicBezTo>
                <a:lnTo>
                  <a:pt x="91648" y="733181"/>
                </a:lnTo>
                <a:cubicBezTo>
                  <a:pt x="41066" y="733181"/>
                  <a:pt x="0" y="692115"/>
                  <a:pt x="0" y="641533"/>
                </a:cubicBezTo>
                <a:lnTo>
                  <a:pt x="0" y="91648"/>
                </a:lnTo>
                <a:cubicBezTo>
                  <a:pt x="0" y="41066"/>
                  <a:pt x="41066" y="0"/>
                  <a:pt x="91648" y="0"/>
                </a:cubicBezTo>
                <a:close/>
              </a:path>
            </a:pathLst>
          </a:custGeom>
          <a:solidFill>
            <a:srgbClr val="1A1D21">
              <a:alpha val="50196"/>
            </a:srgbClr>
          </a:solidFill>
          <a:ln/>
        </p:spPr>
        <p:txBody>
          <a:bodyPr/>
          <a:lstStyle/>
          <a:p>
            <a:endParaRPr lang="zh-CN" altLang="en-US"/>
          </a:p>
        </p:txBody>
      </p:sp>
      <p:sp>
        <p:nvSpPr>
          <p:cNvPr id="10" name="Text 8"/>
          <p:cNvSpPr/>
          <p:nvPr/>
        </p:nvSpPr>
        <p:spPr>
          <a:xfrm>
            <a:off x="744637" y="2302647"/>
            <a:ext cx="7091236" cy="274943"/>
          </a:xfrm>
          <a:prstGeom prst="rect">
            <a:avLst/>
          </a:prstGeom>
          <a:noFill/>
          <a:ln/>
        </p:spPr>
        <p:txBody>
          <a:bodyPr wrap="square" lIns="0" tIns="0" rIns="0" bIns="0" rtlCol="0" anchor="ctr"/>
          <a:lstStyle/>
          <a:p>
            <a:pPr>
              <a:lnSpc>
                <a:spcPct val="130000"/>
              </a:lnSpc>
            </a:pPr>
            <a:r>
              <a:rPr lang="en-US" sz="1443" b="1" dirty="0">
                <a:solidFill>
                  <a:srgbClr val="E0E2E4"/>
                </a:solidFill>
                <a:latin typeface="MiSans" pitchFamily="34" charset="0"/>
                <a:ea typeface="MiSans" pitchFamily="34" charset="-122"/>
                <a:cs typeface="MiSans" pitchFamily="34" charset="-120"/>
              </a:rPr>
              <a:t>emptyDir</a:t>
            </a:r>
            <a:endParaRPr lang="en-US" sz="1600" dirty="0"/>
          </a:p>
        </p:txBody>
      </p:sp>
      <p:sp>
        <p:nvSpPr>
          <p:cNvPr id="11" name="Text 9"/>
          <p:cNvSpPr/>
          <p:nvPr/>
        </p:nvSpPr>
        <p:spPr>
          <a:xfrm>
            <a:off x="744637" y="2623414"/>
            <a:ext cx="7079780" cy="229119"/>
          </a:xfrm>
          <a:prstGeom prst="rect">
            <a:avLst/>
          </a:prstGeom>
          <a:noFill/>
          <a:ln/>
        </p:spPr>
        <p:txBody>
          <a:bodyPr wrap="square" lIns="0" tIns="0" rIns="0" bIns="0" rtlCol="0" anchor="ctr"/>
          <a:lstStyle/>
          <a:p>
            <a:pPr>
              <a:lnSpc>
                <a:spcPct val="120000"/>
              </a:lnSpc>
            </a:pPr>
            <a:r>
              <a:rPr lang="en-US" sz="1263" dirty="0">
                <a:solidFill>
                  <a:srgbClr val="E0E2E4">
                    <a:alpha val="70000"/>
                  </a:srgbClr>
                </a:solidFill>
                <a:latin typeface="MiSans" pitchFamily="34" charset="0"/>
                <a:ea typeface="MiSans" pitchFamily="34" charset="-122"/>
                <a:cs typeface="MiSans" pitchFamily="34" charset="-120"/>
              </a:rPr>
              <a:t>临时存储卷,Pod生命周期内存在,容器重启不丢失,适合临时文件和缓存</a:t>
            </a:r>
            <a:endParaRPr lang="en-US" sz="1600" dirty="0"/>
          </a:p>
        </p:txBody>
      </p:sp>
      <p:sp>
        <p:nvSpPr>
          <p:cNvPr id="12" name="Shape 10"/>
          <p:cNvSpPr/>
          <p:nvPr/>
        </p:nvSpPr>
        <p:spPr>
          <a:xfrm>
            <a:off x="652989" y="3035828"/>
            <a:ext cx="7182884" cy="733181"/>
          </a:xfrm>
          <a:custGeom>
            <a:avLst/>
            <a:gdLst/>
            <a:ahLst/>
            <a:cxnLst/>
            <a:rect l="l" t="t" r="r" b="b"/>
            <a:pathLst>
              <a:path w="7182884" h="733181">
                <a:moveTo>
                  <a:pt x="91648" y="0"/>
                </a:moveTo>
                <a:lnTo>
                  <a:pt x="7091236" y="0"/>
                </a:lnTo>
                <a:cubicBezTo>
                  <a:pt x="7141852" y="0"/>
                  <a:pt x="7182884" y="41032"/>
                  <a:pt x="7182884" y="91648"/>
                </a:cubicBezTo>
                <a:lnTo>
                  <a:pt x="7182884" y="641533"/>
                </a:lnTo>
                <a:cubicBezTo>
                  <a:pt x="7182884" y="692149"/>
                  <a:pt x="7141852" y="733181"/>
                  <a:pt x="7091236" y="733181"/>
                </a:cubicBezTo>
                <a:lnTo>
                  <a:pt x="91648" y="733181"/>
                </a:lnTo>
                <a:cubicBezTo>
                  <a:pt x="41066" y="733181"/>
                  <a:pt x="0" y="692115"/>
                  <a:pt x="0" y="641533"/>
                </a:cubicBezTo>
                <a:lnTo>
                  <a:pt x="0" y="91648"/>
                </a:lnTo>
                <a:cubicBezTo>
                  <a:pt x="0" y="41066"/>
                  <a:pt x="41066" y="0"/>
                  <a:pt x="91648" y="0"/>
                </a:cubicBezTo>
                <a:close/>
              </a:path>
            </a:pathLst>
          </a:custGeom>
          <a:solidFill>
            <a:srgbClr val="1A1D21">
              <a:alpha val="50196"/>
            </a:srgbClr>
          </a:solidFill>
          <a:ln/>
        </p:spPr>
        <p:txBody>
          <a:bodyPr/>
          <a:lstStyle/>
          <a:p>
            <a:endParaRPr lang="zh-CN" altLang="en-US"/>
          </a:p>
        </p:txBody>
      </p:sp>
      <p:sp>
        <p:nvSpPr>
          <p:cNvPr id="13" name="Text 11"/>
          <p:cNvSpPr/>
          <p:nvPr/>
        </p:nvSpPr>
        <p:spPr>
          <a:xfrm>
            <a:off x="744637" y="3127476"/>
            <a:ext cx="7091236" cy="274943"/>
          </a:xfrm>
          <a:prstGeom prst="rect">
            <a:avLst/>
          </a:prstGeom>
          <a:noFill/>
          <a:ln/>
        </p:spPr>
        <p:txBody>
          <a:bodyPr wrap="square" lIns="0" tIns="0" rIns="0" bIns="0" rtlCol="0" anchor="ctr"/>
          <a:lstStyle/>
          <a:p>
            <a:pPr>
              <a:lnSpc>
                <a:spcPct val="130000"/>
              </a:lnSpc>
            </a:pPr>
            <a:r>
              <a:rPr lang="en-US" sz="1443" b="1" dirty="0">
                <a:solidFill>
                  <a:srgbClr val="E0E2E4"/>
                </a:solidFill>
                <a:latin typeface="MiSans" pitchFamily="34" charset="0"/>
                <a:ea typeface="MiSans" pitchFamily="34" charset="-122"/>
                <a:cs typeface="MiSans" pitchFamily="34" charset="-120"/>
              </a:rPr>
              <a:t>hostPath</a:t>
            </a:r>
            <a:endParaRPr lang="en-US" sz="1600" dirty="0"/>
          </a:p>
        </p:txBody>
      </p:sp>
      <p:sp>
        <p:nvSpPr>
          <p:cNvPr id="14" name="Text 12"/>
          <p:cNvSpPr/>
          <p:nvPr/>
        </p:nvSpPr>
        <p:spPr>
          <a:xfrm>
            <a:off x="744637" y="3448242"/>
            <a:ext cx="7079780" cy="229119"/>
          </a:xfrm>
          <a:prstGeom prst="rect">
            <a:avLst/>
          </a:prstGeom>
          <a:noFill/>
          <a:ln/>
        </p:spPr>
        <p:txBody>
          <a:bodyPr wrap="square" lIns="0" tIns="0" rIns="0" bIns="0" rtlCol="0" anchor="ctr"/>
          <a:lstStyle/>
          <a:p>
            <a:pPr>
              <a:lnSpc>
                <a:spcPct val="120000"/>
              </a:lnSpc>
            </a:pPr>
            <a:r>
              <a:rPr lang="en-US" sz="1263" dirty="0">
                <a:solidFill>
                  <a:srgbClr val="E0E2E4">
                    <a:alpha val="70000"/>
                  </a:srgbClr>
                </a:solidFill>
                <a:latin typeface="MiSans" pitchFamily="34" charset="0"/>
                <a:ea typeface="MiSans" pitchFamily="34" charset="-122"/>
                <a:cs typeface="MiSans" pitchFamily="34" charset="-120"/>
              </a:rPr>
              <a:t>挂载宿主机文件或目录,适合需要访问宿主机文件系统的场景,但可移植性差</a:t>
            </a:r>
            <a:endParaRPr lang="en-US" sz="1600" dirty="0"/>
          </a:p>
        </p:txBody>
      </p:sp>
      <p:sp>
        <p:nvSpPr>
          <p:cNvPr id="15" name="Shape 13"/>
          <p:cNvSpPr/>
          <p:nvPr/>
        </p:nvSpPr>
        <p:spPr>
          <a:xfrm>
            <a:off x="652989" y="3860657"/>
            <a:ext cx="7182884" cy="733181"/>
          </a:xfrm>
          <a:custGeom>
            <a:avLst/>
            <a:gdLst/>
            <a:ahLst/>
            <a:cxnLst/>
            <a:rect l="l" t="t" r="r" b="b"/>
            <a:pathLst>
              <a:path w="7182884" h="733181">
                <a:moveTo>
                  <a:pt x="91648" y="0"/>
                </a:moveTo>
                <a:lnTo>
                  <a:pt x="7091236" y="0"/>
                </a:lnTo>
                <a:cubicBezTo>
                  <a:pt x="7141852" y="0"/>
                  <a:pt x="7182884" y="41032"/>
                  <a:pt x="7182884" y="91648"/>
                </a:cubicBezTo>
                <a:lnTo>
                  <a:pt x="7182884" y="641533"/>
                </a:lnTo>
                <a:cubicBezTo>
                  <a:pt x="7182884" y="692149"/>
                  <a:pt x="7141852" y="733181"/>
                  <a:pt x="7091236" y="733181"/>
                </a:cubicBezTo>
                <a:lnTo>
                  <a:pt x="91648" y="733181"/>
                </a:lnTo>
                <a:cubicBezTo>
                  <a:pt x="41066" y="733181"/>
                  <a:pt x="0" y="692115"/>
                  <a:pt x="0" y="641533"/>
                </a:cubicBezTo>
                <a:lnTo>
                  <a:pt x="0" y="91648"/>
                </a:lnTo>
                <a:cubicBezTo>
                  <a:pt x="0" y="41066"/>
                  <a:pt x="41066" y="0"/>
                  <a:pt x="91648" y="0"/>
                </a:cubicBezTo>
                <a:close/>
              </a:path>
            </a:pathLst>
          </a:custGeom>
          <a:solidFill>
            <a:srgbClr val="1A1D21">
              <a:alpha val="50196"/>
            </a:srgbClr>
          </a:solidFill>
          <a:ln/>
        </p:spPr>
        <p:txBody>
          <a:bodyPr/>
          <a:lstStyle/>
          <a:p>
            <a:endParaRPr lang="zh-CN" altLang="en-US"/>
          </a:p>
        </p:txBody>
      </p:sp>
      <p:sp>
        <p:nvSpPr>
          <p:cNvPr id="16" name="Text 14"/>
          <p:cNvSpPr/>
          <p:nvPr/>
        </p:nvSpPr>
        <p:spPr>
          <a:xfrm>
            <a:off x="744637" y="3952304"/>
            <a:ext cx="7091236" cy="274943"/>
          </a:xfrm>
          <a:prstGeom prst="rect">
            <a:avLst/>
          </a:prstGeom>
          <a:noFill/>
          <a:ln/>
        </p:spPr>
        <p:txBody>
          <a:bodyPr wrap="square" lIns="0" tIns="0" rIns="0" bIns="0" rtlCol="0" anchor="ctr"/>
          <a:lstStyle/>
          <a:p>
            <a:pPr>
              <a:lnSpc>
                <a:spcPct val="130000"/>
              </a:lnSpc>
            </a:pPr>
            <a:r>
              <a:rPr lang="en-US" sz="1443" b="1" dirty="0">
                <a:solidFill>
                  <a:srgbClr val="E0E2E4"/>
                </a:solidFill>
                <a:latin typeface="MiSans" pitchFamily="34" charset="0"/>
                <a:ea typeface="MiSans" pitchFamily="34" charset="-122"/>
                <a:cs typeface="MiSans" pitchFamily="34" charset="-120"/>
              </a:rPr>
              <a:t>NFS</a:t>
            </a:r>
            <a:endParaRPr lang="en-US" sz="1600" dirty="0"/>
          </a:p>
        </p:txBody>
      </p:sp>
      <p:sp>
        <p:nvSpPr>
          <p:cNvPr id="17" name="Text 15"/>
          <p:cNvSpPr/>
          <p:nvPr/>
        </p:nvSpPr>
        <p:spPr>
          <a:xfrm>
            <a:off x="744637" y="4273071"/>
            <a:ext cx="7079780" cy="229119"/>
          </a:xfrm>
          <a:prstGeom prst="rect">
            <a:avLst/>
          </a:prstGeom>
          <a:noFill/>
          <a:ln/>
        </p:spPr>
        <p:txBody>
          <a:bodyPr wrap="square" lIns="0" tIns="0" rIns="0" bIns="0" rtlCol="0" anchor="ctr"/>
          <a:lstStyle/>
          <a:p>
            <a:pPr>
              <a:lnSpc>
                <a:spcPct val="120000"/>
              </a:lnSpc>
            </a:pPr>
            <a:r>
              <a:rPr lang="en-US" sz="1263" dirty="0">
                <a:solidFill>
                  <a:srgbClr val="E0E2E4">
                    <a:alpha val="70000"/>
                  </a:srgbClr>
                </a:solidFill>
                <a:latin typeface="MiSans" pitchFamily="34" charset="0"/>
                <a:ea typeface="MiSans" pitchFamily="34" charset="-122"/>
                <a:cs typeface="MiSans" pitchFamily="34" charset="-120"/>
              </a:rPr>
              <a:t>网络文件系统,支持多Pod读写共享,适合需要数据共享的应用场景</a:t>
            </a:r>
            <a:endParaRPr lang="en-US" sz="1600" dirty="0"/>
          </a:p>
        </p:txBody>
      </p:sp>
      <p:sp>
        <p:nvSpPr>
          <p:cNvPr id="18" name="Shape 16"/>
          <p:cNvSpPr/>
          <p:nvPr/>
        </p:nvSpPr>
        <p:spPr>
          <a:xfrm>
            <a:off x="652989" y="4685486"/>
            <a:ext cx="7182884" cy="733181"/>
          </a:xfrm>
          <a:custGeom>
            <a:avLst/>
            <a:gdLst/>
            <a:ahLst/>
            <a:cxnLst/>
            <a:rect l="l" t="t" r="r" b="b"/>
            <a:pathLst>
              <a:path w="7182884" h="733181">
                <a:moveTo>
                  <a:pt x="91648" y="0"/>
                </a:moveTo>
                <a:lnTo>
                  <a:pt x="7091236" y="0"/>
                </a:lnTo>
                <a:cubicBezTo>
                  <a:pt x="7141852" y="0"/>
                  <a:pt x="7182884" y="41032"/>
                  <a:pt x="7182884" y="91648"/>
                </a:cubicBezTo>
                <a:lnTo>
                  <a:pt x="7182884" y="641533"/>
                </a:lnTo>
                <a:cubicBezTo>
                  <a:pt x="7182884" y="692149"/>
                  <a:pt x="7141852" y="733181"/>
                  <a:pt x="7091236" y="733181"/>
                </a:cubicBezTo>
                <a:lnTo>
                  <a:pt x="91648" y="733181"/>
                </a:lnTo>
                <a:cubicBezTo>
                  <a:pt x="41066" y="733181"/>
                  <a:pt x="0" y="692115"/>
                  <a:pt x="0" y="641533"/>
                </a:cubicBezTo>
                <a:lnTo>
                  <a:pt x="0" y="91648"/>
                </a:lnTo>
                <a:cubicBezTo>
                  <a:pt x="0" y="41066"/>
                  <a:pt x="41066" y="0"/>
                  <a:pt x="91648" y="0"/>
                </a:cubicBezTo>
                <a:close/>
              </a:path>
            </a:pathLst>
          </a:custGeom>
          <a:solidFill>
            <a:srgbClr val="1A1D21">
              <a:alpha val="50196"/>
            </a:srgbClr>
          </a:solidFill>
          <a:ln/>
        </p:spPr>
        <p:txBody>
          <a:bodyPr/>
          <a:lstStyle/>
          <a:p>
            <a:endParaRPr lang="zh-CN" altLang="en-US"/>
          </a:p>
        </p:txBody>
      </p:sp>
      <p:sp>
        <p:nvSpPr>
          <p:cNvPr id="19" name="Text 17"/>
          <p:cNvSpPr/>
          <p:nvPr/>
        </p:nvSpPr>
        <p:spPr>
          <a:xfrm>
            <a:off x="744637" y="4777133"/>
            <a:ext cx="7091236" cy="274943"/>
          </a:xfrm>
          <a:prstGeom prst="rect">
            <a:avLst/>
          </a:prstGeom>
          <a:noFill/>
          <a:ln/>
        </p:spPr>
        <p:txBody>
          <a:bodyPr wrap="square" lIns="0" tIns="0" rIns="0" bIns="0" rtlCol="0" anchor="ctr"/>
          <a:lstStyle/>
          <a:p>
            <a:pPr>
              <a:lnSpc>
                <a:spcPct val="130000"/>
              </a:lnSpc>
            </a:pPr>
            <a:r>
              <a:rPr lang="en-US" sz="1443" b="1" dirty="0">
                <a:solidFill>
                  <a:srgbClr val="E0E2E4"/>
                </a:solidFill>
                <a:latin typeface="MiSans" pitchFamily="34" charset="0"/>
                <a:ea typeface="MiSans" pitchFamily="34" charset="-122"/>
                <a:cs typeface="MiSans" pitchFamily="34" charset="-120"/>
              </a:rPr>
              <a:t>ConfigMap/Secret</a:t>
            </a:r>
            <a:endParaRPr lang="en-US" sz="1600" dirty="0"/>
          </a:p>
        </p:txBody>
      </p:sp>
      <p:sp>
        <p:nvSpPr>
          <p:cNvPr id="20" name="Text 18"/>
          <p:cNvSpPr/>
          <p:nvPr/>
        </p:nvSpPr>
        <p:spPr>
          <a:xfrm>
            <a:off x="744637" y="5097900"/>
            <a:ext cx="7079780" cy="229119"/>
          </a:xfrm>
          <a:prstGeom prst="rect">
            <a:avLst/>
          </a:prstGeom>
          <a:noFill/>
          <a:ln/>
        </p:spPr>
        <p:txBody>
          <a:bodyPr wrap="square" lIns="0" tIns="0" rIns="0" bIns="0" rtlCol="0" anchor="ctr"/>
          <a:lstStyle/>
          <a:p>
            <a:pPr>
              <a:lnSpc>
                <a:spcPct val="120000"/>
              </a:lnSpc>
            </a:pPr>
            <a:r>
              <a:rPr lang="en-US" sz="1263" dirty="0">
                <a:solidFill>
                  <a:srgbClr val="E0E2E4">
                    <a:alpha val="70000"/>
                  </a:srgbClr>
                </a:solidFill>
                <a:latin typeface="MiSans" pitchFamily="34" charset="0"/>
                <a:ea typeface="MiSans" pitchFamily="34" charset="-122"/>
                <a:cs typeface="MiSans" pitchFamily="34" charset="-120"/>
              </a:rPr>
              <a:t>配置和敏感信息存储,以卷形式挂载到容器中,支持动态更新</a:t>
            </a:r>
            <a:endParaRPr lang="en-US" sz="1600" dirty="0"/>
          </a:p>
        </p:txBody>
      </p:sp>
      <p:sp>
        <p:nvSpPr>
          <p:cNvPr id="21" name="Shape 19"/>
          <p:cNvSpPr/>
          <p:nvPr/>
        </p:nvSpPr>
        <p:spPr>
          <a:xfrm>
            <a:off x="652989" y="5510314"/>
            <a:ext cx="7182884" cy="733181"/>
          </a:xfrm>
          <a:custGeom>
            <a:avLst/>
            <a:gdLst/>
            <a:ahLst/>
            <a:cxnLst/>
            <a:rect l="l" t="t" r="r" b="b"/>
            <a:pathLst>
              <a:path w="7182884" h="733181">
                <a:moveTo>
                  <a:pt x="91648" y="0"/>
                </a:moveTo>
                <a:lnTo>
                  <a:pt x="7091236" y="0"/>
                </a:lnTo>
                <a:cubicBezTo>
                  <a:pt x="7141852" y="0"/>
                  <a:pt x="7182884" y="41032"/>
                  <a:pt x="7182884" y="91648"/>
                </a:cubicBezTo>
                <a:lnTo>
                  <a:pt x="7182884" y="641533"/>
                </a:lnTo>
                <a:cubicBezTo>
                  <a:pt x="7182884" y="692149"/>
                  <a:pt x="7141852" y="733181"/>
                  <a:pt x="7091236" y="733181"/>
                </a:cubicBezTo>
                <a:lnTo>
                  <a:pt x="91648" y="733181"/>
                </a:lnTo>
                <a:cubicBezTo>
                  <a:pt x="41066" y="733181"/>
                  <a:pt x="0" y="692115"/>
                  <a:pt x="0" y="641533"/>
                </a:cubicBezTo>
                <a:lnTo>
                  <a:pt x="0" y="91648"/>
                </a:lnTo>
                <a:cubicBezTo>
                  <a:pt x="0" y="41066"/>
                  <a:pt x="41066" y="0"/>
                  <a:pt x="91648" y="0"/>
                </a:cubicBezTo>
                <a:close/>
              </a:path>
            </a:pathLst>
          </a:custGeom>
          <a:solidFill>
            <a:srgbClr val="1A1D21">
              <a:alpha val="50196"/>
            </a:srgbClr>
          </a:solidFill>
          <a:ln/>
        </p:spPr>
        <p:txBody>
          <a:bodyPr/>
          <a:lstStyle/>
          <a:p>
            <a:endParaRPr lang="zh-CN" altLang="en-US"/>
          </a:p>
        </p:txBody>
      </p:sp>
      <p:sp>
        <p:nvSpPr>
          <p:cNvPr id="22" name="Text 20"/>
          <p:cNvSpPr/>
          <p:nvPr/>
        </p:nvSpPr>
        <p:spPr>
          <a:xfrm>
            <a:off x="744637" y="5601962"/>
            <a:ext cx="7091236" cy="274943"/>
          </a:xfrm>
          <a:prstGeom prst="rect">
            <a:avLst/>
          </a:prstGeom>
          <a:noFill/>
          <a:ln/>
        </p:spPr>
        <p:txBody>
          <a:bodyPr wrap="square" lIns="0" tIns="0" rIns="0" bIns="0" rtlCol="0" anchor="ctr"/>
          <a:lstStyle/>
          <a:p>
            <a:pPr>
              <a:lnSpc>
                <a:spcPct val="130000"/>
              </a:lnSpc>
            </a:pPr>
            <a:r>
              <a:rPr lang="en-US" sz="1443" b="1" dirty="0">
                <a:solidFill>
                  <a:srgbClr val="E0E2E4"/>
                </a:solidFill>
                <a:latin typeface="MiSans" pitchFamily="34" charset="0"/>
                <a:ea typeface="MiSans" pitchFamily="34" charset="-122"/>
                <a:cs typeface="MiSans" pitchFamily="34" charset="-120"/>
              </a:rPr>
              <a:t>云存储</a:t>
            </a:r>
            <a:endParaRPr lang="en-US" sz="1600" dirty="0"/>
          </a:p>
        </p:txBody>
      </p:sp>
      <p:sp>
        <p:nvSpPr>
          <p:cNvPr id="23" name="Text 21"/>
          <p:cNvSpPr/>
          <p:nvPr/>
        </p:nvSpPr>
        <p:spPr>
          <a:xfrm>
            <a:off x="744637" y="5922729"/>
            <a:ext cx="7079780" cy="229119"/>
          </a:xfrm>
          <a:prstGeom prst="rect">
            <a:avLst/>
          </a:prstGeom>
          <a:noFill/>
          <a:ln/>
        </p:spPr>
        <p:txBody>
          <a:bodyPr wrap="square" lIns="0" tIns="0" rIns="0" bIns="0" rtlCol="0" anchor="ctr"/>
          <a:lstStyle/>
          <a:p>
            <a:pPr>
              <a:lnSpc>
                <a:spcPct val="120000"/>
              </a:lnSpc>
            </a:pPr>
            <a:r>
              <a:rPr lang="en-US" sz="1263" dirty="0">
                <a:solidFill>
                  <a:srgbClr val="E0E2E4">
                    <a:alpha val="70000"/>
                  </a:srgbClr>
                </a:solidFill>
                <a:latin typeface="MiSans" pitchFamily="34" charset="0"/>
                <a:ea typeface="MiSans" pitchFamily="34" charset="-122"/>
                <a:cs typeface="MiSans" pitchFamily="34" charset="-120"/>
              </a:rPr>
              <a:t>AWS EBS、GCP PD、Azure Disk等云存储卷,提供持久化和高性能存储</a:t>
            </a:r>
            <a:endParaRPr lang="en-US" sz="1600" dirty="0"/>
          </a:p>
        </p:txBody>
      </p:sp>
      <p:sp>
        <p:nvSpPr>
          <p:cNvPr id="24" name="Shape 22"/>
          <p:cNvSpPr/>
          <p:nvPr/>
        </p:nvSpPr>
        <p:spPr>
          <a:xfrm>
            <a:off x="8223407" y="1517914"/>
            <a:ext cx="7560930" cy="3173300"/>
          </a:xfrm>
          <a:custGeom>
            <a:avLst/>
            <a:gdLst/>
            <a:ahLst/>
            <a:cxnLst/>
            <a:rect l="l" t="t" r="r" b="b"/>
            <a:pathLst>
              <a:path w="7560930" h="3173300">
                <a:moveTo>
                  <a:pt x="91645" y="0"/>
                </a:moveTo>
                <a:lnTo>
                  <a:pt x="7469285" y="0"/>
                </a:lnTo>
                <a:cubicBezTo>
                  <a:pt x="7519899" y="0"/>
                  <a:pt x="7560930" y="41031"/>
                  <a:pt x="7560930" y="91645"/>
                </a:cubicBezTo>
                <a:lnTo>
                  <a:pt x="7560930" y="3081655"/>
                </a:lnTo>
                <a:cubicBezTo>
                  <a:pt x="7560930" y="3132269"/>
                  <a:pt x="7519899" y="3173300"/>
                  <a:pt x="7469285" y="3173300"/>
                </a:cubicBezTo>
                <a:lnTo>
                  <a:pt x="91645" y="3173300"/>
                </a:lnTo>
                <a:cubicBezTo>
                  <a:pt x="41031" y="3173300"/>
                  <a:pt x="0" y="3132269"/>
                  <a:pt x="0" y="3081655"/>
                </a:cubicBezTo>
                <a:lnTo>
                  <a:pt x="0" y="91645"/>
                </a:lnTo>
                <a:cubicBezTo>
                  <a:pt x="0" y="41065"/>
                  <a:pt x="41065" y="0"/>
                  <a:pt x="91645"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5" name="Shape 23"/>
          <p:cNvSpPr/>
          <p:nvPr/>
        </p:nvSpPr>
        <p:spPr>
          <a:xfrm>
            <a:off x="8455390" y="1752761"/>
            <a:ext cx="200479" cy="229119"/>
          </a:xfrm>
          <a:custGeom>
            <a:avLst/>
            <a:gdLst/>
            <a:ahLst/>
            <a:cxnLst/>
            <a:rect l="l" t="t" r="r" b="b"/>
            <a:pathLst>
              <a:path w="200479" h="229119">
                <a:moveTo>
                  <a:pt x="200479" y="92095"/>
                </a:moveTo>
                <a:cubicBezTo>
                  <a:pt x="193856" y="96481"/>
                  <a:pt x="186249" y="100016"/>
                  <a:pt x="178328" y="102835"/>
                </a:cubicBezTo>
                <a:cubicBezTo>
                  <a:pt x="157296" y="110353"/>
                  <a:pt x="129685" y="114560"/>
                  <a:pt x="100240" y="114560"/>
                </a:cubicBezTo>
                <a:cubicBezTo>
                  <a:pt x="70794" y="114560"/>
                  <a:pt x="43139" y="110308"/>
                  <a:pt x="22151" y="102835"/>
                </a:cubicBezTo>
                <a:cubicBezTo>
                  <a:pt x="14275" y="100016"/>
                  <a:pt x="6623" y="96481"/>
                  <a:pt x="0" y="92095"/>
                </a:cubicBezTo>
                <a:lnTo>
                  <a:pt x="0" y="128879"/>
                </a:lnTo>
                <a:cubicBezTo>
                  <a:pt x="0" y="148659"/>
                  <a:pt x="44884" y="164679"/>
                  <a:pt x="100240" y="164679"/>
                </a:cubicBezTo>
                <a:cubicBezTo>
                  <a:pt x="155595" y="164679"/>
                  <a:pt x="200479" y="148659"/>
                  <a:pt x="200479" y="128879"/>
                </a:cubicBezTo>
                <a:lnTo>
                  <a:pt x="200479" y="92095"/>
                </a:lnTo>
                <a:close/>
                <a:moveTo>
                  <a:pt x="200479" y="57280"/>
                </a:moveTo>
                <a:lnTo>
                  <a:pt x="200479" y="35800"/>
                </a:lnTo>
                <a:cubicBezTo>
                  <a:pt x="200479" y="16020"/>
                  <a:pt x="155595" y="0"/>
                  <a:pt x="100240" y="0"/>
                </a:cubicBezTo>
                <a:cubicBezTo>
                  <a:pt x="44884" y="0"/>
                  <a:pt x="0" y="16020"/>
                  <a:pt x="0" y="35800"/>
                </a:cubicBezTo>
                <a:lnTo>
                  <a:pt x="0" y="57280"/>
                </a:lnTo>
                <a:cubicBezTo>
                  <a:pt x="0" y="77059"/>
                  <a:pt x="44884" y="93080"/>
                  <a:pt x="100240" y="93080"/>
                </a:cubicBezTo>
                <a:cubicBezTo>
                  <a:pt x="155595" y="93080"/>
                  <a:pt x="200479" y="77059"/>
                  <a:pt x="200479" y="57280"/>
                </a:cubicBezTo>
                <a:close/>
                <a:moveTo>
                  <a:pt x="178328" y="174435"/>
                </a:moveTo>
                <a:cubicBezTo>
                  <a:pt x="157340" y="181908"/>
                  <a:pt x="129730" y="186159"/>
                  <a:pt x="100240" y="186159"/>
                </a:cubicBezTo>
                <a:cubicBezTo>
                  <a:pt x="70749" y="186159"/>
                  <a:pt x="43139" y="181908"/>
                  <a:pt x="22151" y="174435"/>
                </a:cubicBezTo>
                <a:cubicBezTo>
                  <a:pt x="14275" y="171616"/>
                  <a:pt x="6623" y="168080"/>
                  <a:pt x="0" y="163695"/>
                </a:cubicBezTo>
                <a:lnTo>
                  <a:pt x="0" y="193319"/>
                </a:lnTo>
                <a:cubicBezTo>
                  <a:pt x="0" y="213099"/>
                  <a:pt x="44884" y="229119"/>
                  <a:pt x="100240" y="229119"/>
                </a:cubicBezTo>
                <a:cubicBezTo>
                  <a:pt x="155595" y="229119"/>
                  <a:pt x="200479" y="213099"/>
                  <a:pt x="200479" y="193319"/>
                </a:cubicBezTo>
                <a:lnTo>
                  <a:pt x="200479" y="163695"/>
                </a:lnTo>
                <a:cubicBezTo>
                  <a:pt x="193856" y="168080"/>
                  <a:pt x="186249" y="171616"/>
                  <a:pt x="178328" y="174435"/>
                </a:cubicBezTo>
                <a:close/>
              </a:path>
            </a:pathLst>
          </a:custGeom>
          <a:solidFill>
            <a:srgbClr val="3C8082"/>
          </a:solidFill>
          <a:ln/>
        </p:spPr>
        <p:txBody>
          <a:bodyPr/>
          <a:lstStyle/>
          <a:p>
            <a:endParaRPr lang="zh-CN" altLang="en-US"/>
          </a:p>
        </p:txBody>
      </p:sp>
      <p:sp>
        <p:nvSpPr>
          <p:cNvPr id="26" name="Text 24"/>
          <p:cNvSpPr/>
          <p:nvPr/>
        </p:nvSpPr>
        <p:spPr>
          <a:xfrm>
            <a:off x="8698829" y="1706937"/>
            <a:ext cx="7011044" cy="320767"/>
          </a:xfrm>
          <a:prstGeom prst="rect">
            <a:avLst/>
          </a:prstGeom>
          <a:noFill/>
          <a:ln/>
        </p:spPr>
        <p:txBody>
          <a:bodyPr wrap="square" lIns="0" tIns="0" rIns="0" bIns="0" rtlCol="0" anchor="ctr"/>
          <a:lstStyle/>
          <a:p>
            <a:pPr>
              <a:lnSpc>
                <a:spcPct val="120000"/>
              </a:lnSpc>
            </a:pPr>
            <a:r>
              <a:rPr lang="en-US" sz="1804" b="1" dirty="0">
                <a:solidFill>
                  <a:srgbClr val="E0E2E4"/>
                </a:solidFill>
                <a:latin typeface="MiSans" pitchFamily="34" charset="0"/>
                <a:ea typeface="MiSans" pitchFamily="34" charset="-122"/>
                <a:cs typeface="MiSans" pitchFamily="34" charset="-120"/>
              </a:rPr>
              <a:t>PV/PVC机制</a:t>
            </a:r>
            <a:endParaRPr lang="en-US" sz="1600" dirty="0"/>
          </a:p>
        </p:txBody>
      </p:sp>
      <p:sp>
        <p:nvSpPr>
          <p:cNvPr id="27" name="Shape 25"/>
          <p:cNvSpPr/>
          <p:nvPr/>
        </p:nvSpPr>
        <p:spPr>
          <a:xfrm>
            <a:off x="8412430" y="2119352"/>
            <a:ext cx="7182884" cy="733181"/>
          </a:xfrm>
          <a:custGeom>
            <a:avLst/>
            <a:gdLst/>
            <a:ahLst/>
            <a:cxnLst/>
            <a:rect l="l" t="t" r="r" b="b"/>
            <a:pathLst>
              <a:path w="7182884" h="733181">
                <a:moveTo>
                  <a:pt x="91648" y="0"/>
                </a:moveTo>
                <a:lnTo>
                  <a:pt x="7091236" y="0"/>
                </a:lnTo>
                <a:cubicBezTo>
                  <a:pt x="7141852" y="0"/>
                  <a:pt x="7182884" y="41032"/>
                  <a:pt x="7182884" y="91648"/>
                </a:cubicBezTo>
                <a:lnTo>
                  <a:pt x="7182884" y="641533"/>
                </a:lnTo>
                <a:cubicBezTo>
                  <a:pt x="7182884" y="692149"/>
                  <a:pt x="7141852" y="733181"/>
                  <a:pt x="7091236" y="733181"/>
                </a:cubicBezTo>
                <a:lnTo>
                  <a:pt x="91648" y="733181"/>
                </a:lnTo>
                <a:cubicBezTo>
                  <a:pt x="41066" y="733181"/>
                  <a:pt x="0" y="692115"/>
                  <a:pt x="0" y="641533"/>
                </a:cubicBezTo>
                <a:lnTo>
                  <a:pt x="0" y="91648"/>
                </a:lnTo>
                <a:cubicBezTo>
                  <a:pt x="0" y="41066"/>
                  <a:pt x="41066" y="0"/>
                  <a:pt x="91648" y="0"/>
                </a:cubicBezTo>
                <a:close/>
              </a:path>
            </a:pathLst>
          </a:custGeom>
          <a:solidFill>
            <a:srgbClr val="1A1D21">
              <a:alpha val="50196"/>
            </a:srgbClr>
          </a:solidFill>
          <a:ln/>
        </p:spPr>
        <p:txBody>
          <a:bodyPr/>
          <a:lstStyle/>
          <a:p>
            <a:endParaRPr lang="zh-CN" altLang="en-US"/>
          </a:p>
        </p:txBody>
      </p:sp>
      <p:sp>
        <p:nvSpPr>
          <p:cNvPr id="28" name="Text 26"/>
          <p:cNvSpPr/>
          <p:nvPr/>
        </p:nvSpPr>
        <p:spPr>
          <a:xfrm>
            <a:off x="8504078" y="2210999"/>
            <a:ext cx="7091236" cy="274943"/>
          </a:xfrm>
          <a:prstGeom prst="rect">
            <a:avLst/>
          </a:prstGeom>
          <a:noFill/>
          <a:ln/>
        </p:spPr>
        <p:txBody>
          <a:bodyPr wrap="square" lIns="0" tIns="0" rIns="0" bIns="0" rtlCol="0" anchor="ctr"/>
          <a:lstStyle/>
          <a:p>
            <a:pPr>
              <a:lnSpc>
                <a:spcPct val="130000"/>
              </a:lnSpc>
            </a:pPr>
            <a:r>
              <a:rPr lang="en-US" sz="1443" b="1" dirty="0">
                <a:solidFill>
                  <a:srgbClr val="E0E2E4"/>
                </a:solidFill>
                <a:latin typeface="MiSans" pitchFamily="34" charset="0"/>
                <a:ea typeface="MiSans" pitchFamily="34" charset="-122"/>
                <a:cs typeface="MiSans" pitchFamily="34" charset="-120"/>
              </a:rPr>
              <a:t>PersistentVolume(PV)</a:t>
            </a:r>
            <a:endParaRPr lang="en-US" sz="1600" dirty="0"/>
          </a:p>
        </p:txBody>
      </p:sp>
      <p:sp>
        <p:nvSpPr>
          <p:cNvPr id="29" name="Text 27"/>
          <p:cNvSpPr/>
          <p:nvPr/>
        </p:nvSpPr>
        <p:spPr>
          <a:xfrm>
            <a:off x="8504078" y="2531766"/>
            <a:ext cx="7079780" cy="229119"/>
          </a:xfrm>
          <a:prstGeom prst="rect">
            <a:avLst/>
          </a:prstGeom>
          <a:noFill/>
          <a:ln/>
        </p:spPr>
        <p:txBody>
          <a:bodyPr wrap="square" lIns="0" tIns="0" rIns="0" bIns="0" rtlCol="0" anchor="ctr"/>
          <a:lstStyle/>
          <a:p>
            <a:pPr>
              <a:lnSpc>
                <a:spcPct val="120000"/>
              </a:lnSpc>
            </a:pPr>
            <a:r>
              <a:rPr lang="en-US" sz="1263" dirty="0">
                <a:solidFill>
                  <a:srgbClr val="E0E2E4">
                    <a:alpha val="70000"/>
                  </a:srgbClr>
                </a:solidFill>
                <a:latin typeface="MiSans" pitchFamily="34" charset="0"/>
                <a:ea typeface="MiSans" pitchFamily="34" charset="-122"/>
                <a:cs typeface="MiSans" pitchFamily="34" charset="-120"/>
              </a:rPr>
              <a:t>集群级别的存储资源,由管理员配置或动态供给,独立于Pod生命周期存在</a:t>
            </a:r>
            <a:endParaRPr lang="en-US" sz="1600" dirty="0"/>
          </a:p>
        </p:txBody>
      </p:sp>
      <p:sp>
        <p:nvSpPr>
          <p:cNvPr id="30" name="Shape 28"/>
          <p:cNvSpPr/>
          <p:nvPr/>
        </p:nvSpPr>
        <p:spPr>
          <a:xfrm>
            <a:off x="8412430" y="2944180"/>
            <a:ext cx="7182884" cy="733181"/>
          </a:xfrm>
          <a:custGeom>
            <a:avLst/>
            <a:gdLst/>
            <a:ahLst/>
            <a:cxnLst/>
            <a:rect l="l" t="t" r="r" b="b"/>
            <a:pathLst>
              <a:path w="7182884" h="733181">
                <a:moveTo>
                  <a:pt x="91648" y="0"/>
                </a:moveTo>
                <a:lnTo>
                  <a:pt x="7091236" y="0"/>
                </a:lnTo>
                <a:cubicBezTo>
                  <a:pt x="7141852" y="0"/>
                  <a:pt x="7182884" y="41032"/>
                  <a:pt x="7182884" y="91648"/>
                </a:cubicBezTo>
                <a:lnTo>
                  <a:pt x="7182884" y="641533"/>
                </a:lnTo>
                <a:cubicBezTo>
                  <a:pt x="7182884" y="692149"/>
                  <a:pt x="7141852" y="733181"/>
                  <a:pt x="7091236" y="733181"/>
                </a:cubicBezTo>
                <a:lnTo>
                  <a:pt x="91648" y="733181"/>
                </a:lnTo>
                <a:cubicBezTo>
                  <a:pt x="41066" y="733181"/>
                  <a:pt x="0" y="692115"/>
                  <a:pt x="0" y="641533"/>
                </a:cubicBezTo>
                <a:lnTo>
                  <a:pt x="0" y="91648"/>
                </a:lnTo>
                <a:cubicBezTo>
                  <a:pt x="0" y="41066"/>
                  <a:pt x="41066" y="0"/>
                  <a:pt x="91648" y="0"/>
                </a:cubicBezTo>
                <a:close/>
              </a:path>
            </a:pathLst>
          </a:custGeom>
          <a:solidFill>
            <a:srgbClr val="1A1D21">
              <a:alpha val="50196"/>
            </a:srgbClr>
          </a:solidFill>
          <a:ln/>
        </p:spPr>
        <p:txBody>
          <a:bodyPr/>
          <a:lstStyle/>
          <a:p>
            <a:endParaRPr lang="zh-CN" altLang="en-US"/>
          </a:p>
        </p:txBody>
      </p:sp>
      <p:sp>
        <p:nvSpPr>
          <p:cNvPr id="31" name="Text 29"/>
          <p:cNvSpPr/>
          <p:nvPr/>
        </p:nvSpPr>
        <p:spPr>
          <a:xfrm>
            <a:off x="8504078" y="3035828"/>
            <a:ext cx="7091236" cy="274943"/>
          </a:xfrm>
          <a:prstGeom prst="rect">
            <a:avLst/>
          </a:prstGeom>
          <a:noFill/>
          <a:ln/>
        </p:spPr>
        <p:txBody>
          <a:bodyPr wrap="square" lIns="0" tIns="0" rIns="0" bIns="0" rtlCol="0" anchor="ctr"/>
          <a:lstStyle/>
          <a:p>
            <a:pPr>
              <a:lnSpc>
                <a:spcPct val="130000"/>
              </a:lnSpc>
            </a:pPr>
            <a:r>
              <a:rPr lang="en-US" sz="1443" b="1" dirty="0">
                <a:solidFill>
                  <a:srgbClr val="E0E2E4"/>
                </a:solidFill>
                <a:latin typeface="MiSans" pitchFamily="34" charset="0"/>
                <a:ea typeface="MiSans" pitchFamily="34" charset="-122"/>
                <a:cs typeface="MiSans" pitchFamily="34" charset="-120"/>
              </a:rPr>
              <a:t>PersistentVolumeClaim(PVC)</a:t>
            </a:r>
            <a:endParaRPr lang="en-US" sz="1600" dirty="0"/>
          </a:p>
        </p:txBody>
      </p:sp>
      <p:sp>
        <p:nvSpPr>
          <p:cNvPr id="32" name="Text 30"/>
          <p:cNvSpPr/>
          <p:nvPr/>
        </p:nvSpPr>
        <p:spPr>
          <a:xfrm>
            <a:off x="8504078" y="3356595"/>
            <a:ext cx="7079780" cy="229119"/>
          </a:xfrm>
          <a:prstGeom prst="rect">
            <a:avLst/>
          </a:prstGeom>
          <a:noFill/>
          <a:ln/>
        </p:spPr>
        <p:txBody>
          <a:bodyPr wrap="square" lIns="0" tIns="0" rIns="0" bIns="0" rtlCol="0" anchor="ctr"/>
          <a:lstStyle/>
          <a:p>
            <a:pPr>
              <a:lnSpc>
                <a:spcPct val="120000"/>
              </a:lnSpc>
            </a:pPr>
            <a:r>
              <a:rPr lang="en-US" sz="1263" dirty="0">
                <a:solidFill>
                  <a:srgbClr val="E0E2E4">
                    <a:alpha val="70000"/>
                  </a:srgbClr>
                </a:solidFill>
                <a:latin typeface="MiSans" pitchFamily="34" charset="0"/>
                <a:ea typeface="MiSans" pitchFamily="34" charset="-122"/>
                <a:cs typeface="MiSans" pitchFamily="34" charset="-120"/>
              </a:rPr>
              <a:t>用户对存储资源的请求,通过PVC绑定到合适的PV,实现存储资源的动态分配</a:t>
            </a:r>
            <a:endParaRPr lang="en-US" sz="1600" dirty="0"/>
          </a:p>
        </p:txBody>
      </p:sp>
      <p:sp>
        <p:nvSpPr>
          <p:cNvPr id="33" name="Shape 31"/>
          <p:cNvSpPr/>
          <p:nvPr/>
        </p:nvSpPr>
        <p:spPr>
          <a:xfrm>
            <a:off x="8412430" y="3769009"/>
            <a:ext cx="7182884" cy="733181"/>
          </a:xfrm>
          <a:custGeom>
            <a:avLst/>
            <a:gdLst/>
            <a:ahLst/>
            <a:cxnLst/>
            <a:rect l="l" t="t" r="r" b="b"/>
            <a:pathLst>
              <a:path w="7182884" h="733181">
                <a:moveTo>
                  <a:pt x="91648" y="0"/>
                </a:moveTo>
                <a:lnTo>
                  <a:pt x="7091236" y="0"/>
                </a:lnTo>
                <a:cubicBezTo>
                  <a:pt x="7141852" y="0"/>
                  <a:pt x="7182884" y="41032"/>
                  <a:pt x="7182884" y="91648"/>
                </a:cubicBezTo>
                <a:lnTo>
                  <a:pt x="7182884" y="641533"/>
                </a:lnTo>
                <a:cubicBezTo>
                  <a:pt x="7182884" y="692149"/>
                  <a:pt x="7141852" y="733181"/>
                  <a:pt x="7091236" y="733181"/>
                </a:cubicBezTo>
                <a:lnTo>
                  <a:pt x="91648" y="733181"/>
                </a:lnTo>
                <a:cubicBezTo>
                  <a:pt x="41066" y="733181"/>
                  <a:pt x="0" y="692115"/>
                  <a:pt x="0" y="641533"/>
                </a:cubicBezTo>
                <a:lnTo>
                  <a:pt x="0" y="91648"/>
                </a:lnTo>
                <a:cubicBezTo>
                  <a:pt x="0" y="41066"/>
                  <a:pt x="41066" y="0"/>
                  <a:pt x="91648" y="0"/>
                </a:cubicBezTo>
                <a:close/>
              </a:path>
            </a:pathLst>
          </a:custGeom>
          <a:solidFill>
            <a:srgbClr val="1A1D21">
              <a:alpha val="50196"/>
            </a:srgbClr>
          </a:solidFill>
          <a:ln/>
        </p:spPr>
        <p:txBody>
          <a:bodyPr/>
          <a:lstStyle/>
          <a:p>
            <a:endParaRPr lang="zh-CN" altLang="en-US"/>
          </a:p>
        </p:txBody>
      </p:sp>
      <p:sp>
        <p:nvSpPr>
          <p:cNvPr id="34" name="Text 32"/>
          <p:cNvSpPr/>
          <p:nvPr/>
        </p:nvSpPr>
        <p:spPr>
          <a:xfrm>
            <a:off x="8504078" y="3860657"/>
            <a:ext cx="7091236" cy="274943"/>
          </a:xfrm>
          <a:prstGeom prst="rect">
            <a:avLst/>
          </a:prstGeom>
          <a:noFill/>
          <a:ln/>
        </p:spPr>
        <p:txBody>
          <a:bodyPr wrap="square" lIns="0" tIns="0" rIns="0" bIns="0" rtlCol="0" anchor="ctr"/>
          <a:lstStyle/>
          <a:p>
            <a:pPr>
              <a:lnSpc>
                <a:spcPct val="130000"/>
              </a:lnSpc>
            </a:pPr>
            <a:r>
              <a:rPr lang="en-US" sz="1443" b="1" dirty="0">
                <a:solidFill>
                  <a:srgbClr val="E0E2E4"/>
                </a:solidFill>
                <a:latin typeface="MiSans" pitchFamily="34" charset="0"/>
                <a:ea typeface="MiSans" pitchFamily="34" charset="-122"/>
                <a:cs typeface="MiSans" pitchFamily="34" charset="-120"/>
              </a:rPr>
              <a:t>绑定机制</a:t>
            </a:r>
            <a:endParaRPr lang="en-US" sz="1600" dirty="0"/>
          </a:p>
        </p:txBody>
      </p:sp>
      <p:sp>
        <p:nvSpPr>
          <p:cNvPr id="35" name="Text 33"/>
          <p:cNvSpPr/>
          <p:nvPr/>
        </p:nvSpPr>
        <p:spPr>
          <a:xfrm>
            <a:off x="8504078" y="4181424"/>
            <a:ext cx="7079780" cy="229119"/>
          </a:xfrm>
          <a:prstGeom prst="rect">
            <a:avLst/>
          </a:prstGeom>
          <a:noFill/>
          <a:ln/>
        </p:spPr>
        <p:txBody>
          <a:bodyPr wrap="square" lIns="0" tIns="0" rIns="0" bIns="0" rtlCol="0" anchor="ctr"/>
          <a:lstStyle/>
          <a:p>
            <a:pPr>
              <a:lnSpc>
                <a:spcPct val="120000"/>
              </a:lnSpc>
            </a:pPr>
            <a:r>
              <a:rPr lang="en-US" sz="1263" dirty="0">
                <a:solidFill>
                  <a:srgbClr val="E0E2E4">
                    <a:alpha val="70000"/>
                  </a:srgbClr>
                </a:solidFill>
                <a:latin typeface="MiSans" pitchFamily="34" charset="0"/>
                <a:ea typeface="MiSans" pitchFamily="34" charset="-122"/>
                <a:cs typeface="MiSans" pitchFamily="34" charset="-120"/>
              </a:rPr>
              <a:t>用户创建PVC声明存储需求,控制平面查找匹配的PV进行绑定,Pod通过PVC使用存储</a:t>
            </a:r>
            <a:endParaRPr lang="en-US" sz="1600" dirty="0"/>
          </a:p>
        </p:txBody>
      </p:sp>
      <p:sp>
        <p:nvSpPr>
          <p:cNvPr id="36" name="Shape 34"/>
          <p:cNvSpPr/>
          <p:nvPr/>
        </p:nvSpPr>
        <p:spPr>
          <a:xfrm>
            <a:off x="8223407" y="4840141"/>
            <a:ext cx="7560930" cy="2325559"/>
          </a:xfrm>
          <a:custGeom>
            <a:avLst/>
            <a:gdLst/>
            <a:ahLst/>
            <a:cxnLst/>
            <a:rect l="l" t="t" r="r" b="b"/>
            <a:pathLst>
              <a:path w="7560930" h="2325559">
                <a:moveTo>
                  <a:pt x="91650" y="0"/>
                </a:moveTo>
                <a:lnTo>
                  <a:pt x="7469280" y="0"/>
                </a:lnTo>
                <a:cubicBezTo>
                  <a:pt x="7519897" y="0"/>
                  <a:pt x="7560930" y="41033"/>
                  <a:pt x="7560930" y="91650"/>
                </a:cubicBezTo>
                <a:lnTo>
                  <a:pt x="7560930" y="2233909"/>
                </a:lnTo>
                <a:cubicBezTo>
                  <a:pt x="7560930" y="2284526"/>
                  <a:pt x="7519897" y="2325559"/>
                  <a:pt x="7469280" y="2325559"/>
                </a:cubicBezTo>
                <a:lnTo>
                  <a:pt x="91650" y="2325559"/>
                </a:lnTo>
                <a:cubicBezTo>
                  <a:pt x="41033" y="2325559"/>
                  <a:pt x="0" y="2284526"/>
                  <a:pt x="0" y="2233909"/>
                </a:cubicBezTo>
                <a:lnTo>
                  <a:pt x="0" y="91650"/>
                </a:lnTo>
                <a:cubicBezTo>
                  <a:pt x="0" y="41067"/>
                  <a:pt x="41067" y="0"/>
                  <a:pt x="91650"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37" name="Shape 35"/>
          <p:cNvSpPr/>
          <p:nvPr/>
        </p:nvSpPr>
        <p:spPr>
          <a:xfrm>
            <a:off x="8441070" y="5074988"/>
            <a:ext cx="229119" cy="229119"/>
          </a:xfrm>
          <a:custGeom>
            <a:avLst/>
            <a:gdLst/>
            <a:ahLst/>
            <a:cxnLst/>
            <a:rect l="l" t="t" r="r" b="b"/>
            <a:pathLst>
              <a:path w="229119" h="229119">
                <a:moveTo>
                  <a:pt x="104043" y="2327"/>
                </a:moveTo>
                <a:cubicBezTo>
                  <a:pt x="110711" y="-761"/>
                  <a:pt x="118408" y="-761"/>
                  <a:pt x="125076" y="2327"/>
                </a:cubicBezTo>
                <a:lnTo>
                  <a:pt x="222899" y="47524"/>
                </a:lnTo>
                <a:cubicBezTo>
                  <a:pt x="226703" y="49270"/>
                  <a:pt x="229119" y="53073"/>
                  <a:pt x="229119" y="57280"/>
                </a:cubicBezTo>
                <a:cubicBezTo>
                  <a:pt x="229119" y="61486"/>
                  <a:pt x="226703" y="65290"/>
                  <a:pt x="222899" y="67035"/>
                </a:cubicBezTo>
                <a:lnTo>
                  <a:pt x="125076" y="112233"/>
                </a:lnTo>
                <a:cubicBezTo>
                  <a:pt x="118408" y="115320"/>
                  <a:pt x="110711" y="115320"/>
                  <a:pt x="104043" y="112233"/>
                </a:cubicBezTo>
                <a:lnTo>
                  <a:pt x="6220" y="67035"/>
                </a:lnTo>
                <a:cubicBezTo>
                  <a:pt x="2416" y="65245"/>
                  <a:pt x="0" y="61442"/>
                  <a:pt x="0" y="57280"/>
                </a:cubicBezTo>
                <a:cubicBezTo>
                  <a:pt x="0" y="53118"/>
                  <a:pt x="2416" y="49270"/>
                  <a:pt x="6220" y="47524"/>
                </a:cubicBezTo>
                <a:lnTo>
                  <a:pt x="104043" y="2327"/>
                </a:lnTo>
                <a:close/>
                <a:moveTo>
                  <a:pt x="21525" y="97734"/>
                </a:moveTo>
                <a:lnTo>
                  <a:pt x="95049" y="131699"/>
                </a:lnTo>
                <a:cubicBezTo>
                  <a:pt x="107444" y="137427"/>
                  <a:pt x="121720" y="137427"/>
                  <a:pt x="134115" y="131699"/>
                </a:cubicBezTo>
                <a:lnTo>
                  <a:pt x="207639" y="97734"/>
                </a:lnTo>
                <a:lnTo>
                  <a:pt x="222899" y="104804"/>
                </a:lnTo>
                <a:cubicBezTo>
                  <a:pt x="226703" y="106549"/>
                  <a:pt x="229119" y="110353"/>
                  <a:pt x="229119" y="114560"/>
                </a:cubicBezTo>
                <a:cubicBezTo>
                  <a:pt x="229119" y="118766"/>
                  <a:pt x="226703" y="122570"/>
                  <a:pt x="222899" y="124315"/>
                </a:cubicBezTo>
                <a:lnTo>
                  <a:pt x="125076" y="169512"/>
                </a:lnTo>
                <a:cubicBezTo>
                  <a:pt x="118408" y="172600"/>
                  <a:pt x="110711" y="172600"/>
                  <a:pt x="104043" y="169512"/>
                </a:cubicBezTo>
                <a:lnTo>
                  <a:pt x="6220" y="124315"/>
                </a:lnTo>
                <a:cubicBezTo>
                  <a:pt x="2416" y="122525"/>
                  <a:pt x="0" y="118721"/>
                  <a:pt x="0" y="114560"/>
                </a:cubicBezTo>
                <a:cubicBezTo>
                  <a:pt x="0" y="110398"/>
                  <a:pt x="2416" y="106549"/>
                  <a:pt x="6220" y="104804"/>
                </a:cubicBezTo>
                <a:lnTo>
                  <a:pt x="21480" y="97734"/>
                </a:lnTo>
                <a:close/>
                <a:moveTo>
                  <a:pt x="6220" y="162084"/>
                </a:moveTo>
                <a:lnTo>
                  <a:pt x="21480" y="155013"/>
                </a:lnTo>
                <a:lnTo>
                  <a:pt x="95004" y="188979"/>
                </a:lnTo>
                <a:cubicBezTo>
                  <a:pt x="107400" y="194706"/>
                  <a:pt x="121675" y="194706"/>
                  <a:pt x="134070" y="188979"/>
                </a:cubicBezTo>
                <a:lnTo>
                  <a:pt x="207594" y="155013"/>
                </a:lnTo>
                <a:lnTo>
                  <a:pt x="222854" y="162084"/>
                </a:lnTo>
                <a:cubicBezTo>
                  <a:pt x="226658" y="163829"/>
                  <a:pt x="229074" y="167633"/>
                  <a:pt x="229074" y="171839"/>
                </a:cubicBezTo>
                <a:cubicBezTo>
                  <a:pt x="229074" y="176046"/>
                  <a:pt x="226658" y="179850"/>
                  <a:pt x="222854" y="181595"/>
                </a:cubicBezTo>
                <a:lnTo>
                  <a:pt x="125031" y="226792"/>
                </a:lnTo>
                <a:cubicBezTo>
                  <a:pt x="118363" y="229880"/>
                  <a:pt x="110666" y="229880"/>
                  <a:pt x="103999" y="226792"/>
                </a:cubicBezTo>
                <a:lnTo>
                  <a:pt x="6220" y="181595"/>
                </a:lnTo>
                <a:cubicBezTo>
                  <a:pt x="2416" y="179805"/>
                  <a:pt x="0" y="176001"/>
                  <a:pt x="0" y="171839"/>
                </a:cubicBezTo>
                <a:cubicBezTo>
                  <a:pt x="0" y="167678"/>
                  <a:pt x="2416" y="163829"/>
                  <a:pt x="6220" y="162084"/>
                </a:cubicBezTo>
                <a:close/>
              </a:path>
            </a:pathLst>
          </a:custGeom>
          <a:solidFill>
            <a:srgbClr val="B38B59"/>
          </a:solidFill>
          <a:ln/>
        </p:spPr>
        <p:txBody>
          <a:bodyPr/>
          <a:lstStyle/>
          <a:p>
            <a:endParaRPr lang="zh-CN" altLang="en-US"/>
          </a:p>
        </p:txBody>
      </p:sp>
      <p:sp>
        <p:nvSpPr>
          <p:cNvPr id="38" name="Text 36"/>
          <p:cNvSpPr/>
          <p:nvPr/>
        </p:nvSpPr>
        <p:spPr>
          <a:xfrm>
            <a:off x="8698829" y="5029164"/>
            <a:ext cx="7011044" cy="320767"/>
          </a:xfrm>
          <a:prstGeom prst="rect">
            <a:avLst/>
          </a:prstGeom>
          <a:noFill/>
          <a:ln/>
        </p:spPr>
        <p:txBody>
          <a:bodyPr wrap="square" lIns="0" tIns="0" rIns="0" bIns="0" rtlCol="0" anchor="ctr"/>
          <a:lstStyle/>
          <a:p>
            <a:pPr>
              <a:lnSpc>
                <a:spcPct val="120000"/>
              </a:lnSpc>
            </a:pPr>
            <a:r>
              <a:rPr lang="en-US" sz="1804" b="1" dirty="0">
                <a:solidFill>
                  <a:srgbClr val="E0E2E4"/>
                </a:solidFill>
                <a:latin typeface="MiSans" pitchFamily="34" charset="0"/>
                <a:ea typeface="MiSans" pitchFamily="34" charset="-122"/>
                <a:cs typeface="MiSans" pitchFamily="34" charset="-120"/>
              </a:rPr>
              <a:t>StorageClass与动态供给</a:t>
            </a:r>
            <a:endParaRPr lang="en-US" sz="1600" dirty="0"/>
          </a:p>
        </p:txBody>
      </p:sp>
      <p:sp>
        <p:nvSpPr>
          <p:cNvPr id="39" name="Shape 37"/>
          <p:cNvSpPr/>
          <p:nvPr/>
        </p:nvSpPr>
        <p:spPr>
          <a:xfrm>
            <a:off x="8412430" y="5441579"/>
            <a:ext cx="7182884" cy="733181"/>
          </a:xfrm>
          <a:custGeom>
            <a:avLst/>
            <a:gdLst/>
            <a:ahLst/>
            <a:cxnLst/>
            <a:rect l="l" t="t" r="r" b="b"/>
            <a:pathLst>
              <a:path w="7182884" h="733181">
                <a:moveTo>
                  <a:pt x="91648" y="0"/>
                </a:moveTo>
                <a:lnTo>
                  <a:pt x="7091236" y="0"/>
                </a:lnTo>
                <a:cubicBezTo>
                  <a:pt x="7141852" y="0"/>
                  <a:pt x="7182884" y="41032"/>
                  <a:pt x="7182884" y="91648"/>
                </a:cubicBezTo>
                <a:lnTo>
                  <a:pt x="7182884" y="641533"/>
                </a:lnTo>
                <a:cubicBezTo>
                  <a:pt x="7182884" y="692149"/>
                  <a:pt x="7141852" y="733181"/>
                  <a:pt x="7091236" y="733181"/>
                </a:cubicBezTo>
                <a:lnTo>
                  <a:pt x="91648" y="733181"/>
                </a:lnTo>
                <a:cubicBezTo>
                  <a:pt x="41066" y="733181"/>
                  <a:pt x="0" y="692115"/>
                  <a:pt x="0" y="641533"/>
                </a:cubicBezTo>
                <a:lnTo>
                  <a:pt x="0" y="91648"/>
                </a:lnTo>
                <a:cubicBezTo>
                  <a:pt x="0" y="41066"/>
                  <a:pt x="41066" y="0"/>
                  <a:pt x="91648" y="0"/>
                </a:cubicBezTo>
                <a:close/>
              </a:path>
            </a:pathLst>
          </a:custGeom>
          <a:solidFill>
            <a:srgbClr val="1A1D21">
              <a:alpha val="50196"/>
            </a:srgbClr>
          </a:solidFill>
          <a:ln/>
        </p:spPr>
        <p:txBody>
          <a:bodyPr/>
          <a:lstStyle/>
          <a:p>
            <a:endParaRPr lang="zh-CN" altLang="en-US"/>
          </a:p>
        </p:txBody>
      </p:sp>
      <p:sp>
        <p:nvSpPr>
          <p:cNvPr id="40" name="Text 38"/>
          <p:cNvSpPr/>
          <p:nvPr/>
        </p:nvSpPr>
        <p:spPr>
          <a:xfrm>
            <a:off x="8504078" y="5533226"/>
            <a:ext cx="7091236" cy="274943"/>
          </a:xfrm>
          <a:prstGeom prst="rect">
            <a:avLst/>
          </a:prstGeom>
          <a:noFill/>
          <a:ln/>
        </p:spPr>
        <p:txBody>
          <a:bodyPr wrap="square" lIns="0" tIns="0" rIns="0" bIns="0" rtlCol="0" anchor="ctr"/>
          <a:lstStyle/>
          <a:p>
            <a:pPr>
              <a:lnSpc>
                <a:spcPct val="130000"/>
              </a:lnSpc>
            </a:pPr>
            <a:r>
              <a:rPr lang="en-US" sz="1443" b="1" dirty="0">
                <a:solidFill>
                  <a:srgbClr val="E0E2E4"/>
                </a:solidFill>
                <a:latin typeface="MiSans" pitchFamily="34" charset="0"/>
                <a:ea typeface="MiSans" pitchFamily="34" charset="-122"/>
                <a:cs typeface="MiSans" pitchFamily="34" charset="-120"/>
              </a:rPr>
              <a:t>StorageClass</a:t>
            </a:r>
            <a:endParaRPr lang="en-US" sz="1600" dirty="0"/>
          </a:p>
        </p:txBody>
      </p:sp>
      <p:sp>
        <p:nvSpPr>
          <p:cNvPr id="41" name="Text 39"/>
          <p:cNvSpPr/>
          <p:nvPr/>
        </p:nvSpPr>
        <p:spPr>
          <a:xfrm>
            <a:off x="8504078" y="5853993"/>
            <a:ext cx="7079780" cy="229119"/>
          </a:xfrm>
          <a:prstGeom prst="rect">
            <a:avLst/>
          </a:prstGeom>
          <a:noFill/>
          <a:ln/>
        </p:spPr>
        <p:txBody>
          <a:bodyPr wrap="square" lIns="0" tIns="0" rIns="0" bIns="0" rtlCol="0" anchor="ctr"/>
          <a:lstStyle/>
          <a:p>
            <a:pPr>
              <a:lnSpc>
                <a:spcPct val="120000"/>
              </a:lnSpc>
            </a:pPr>
            <a:r>
              <a:rPr lang="en-US" sz="1263" dirty="0">
                <a:solidFill>
                  <a:srgbClr val="E0E2E4">
                    <a:alpha val="70000"/>
                  </a:srgbClr>
                </a:solidFill>
                <a:latin typeface="MiSans" pitchFamily="34" charset="0"/>
                <a:ea typeface="MiSans" pitchFamily="34" charset="-122"/>
                <a:cs typeface="MiSans" pitchFamily="34" charset="-120"/>
              </a:rPr>
              <a:t>定义存储类类型和配置参数,如provisioner、reclaimPolicy、allowVolumeExpansion等</a:t>
            </a:r>
            <a:endParaRPr lang="en-US" sz="1600" dirty="0"/>
          </a:p>
        </p:txBody>
      </p:sp>
      <p:sp>
        <p:nvSpPr>
          <p:cNvPr id="42" name="Shape 40"/>
          <p:cNvSpPr/>
          <p:nvPr/>
        </p:nvSpPr>
        <p:spPr>
          <a:xfrm>
            <a:off x="8412430" y="6243495"/>
            <a:ext cx="7182884" cy="733181"/>
          </a:xfrm>
          <a:custGeom>
            <a:avLst/>
            <a:gdLst/>
            <a:ahLst/>
            <a:cxnLst/>
            <a:rect l="l" t="t" r="r" b="b"/>
            <a:pathLst>
              <a:path w="7182884" h="733181">
                <a:moveTo>
                  <a:pt x="91648" y="0"/>
                </a:moveTo>
                <a:lnTo>
                  <a:pt x="7091236" y="0"/>
                </a:lnTo>
                <a:cubicBezTo>
                  <a:pt x="7141852" y="0"/>
                  <a:pt x="7182884" y="41032"/>
                  <a:pt x="7182884" y="91648"/>
                </a:cubicBezTo>
                <a:lnTo>
                  <a:pt x="7182884" y="641533"/>
                </a:lnTo>
                <a:cubicBezTo>
                  <a:pt x="7182884" y="692149"/>
                  <a:pt x="7141852" y="733181"/>
                  <a:pt x="7091236" y="733181"/>
                </a:cubicBezTo>
                <a:lnTo>
                  <a:pt x="91648" y="733181"/>
                </a:lnTo>
                <a:cubicBezTo>
                  <a:pt x="41066" y="733181"/>
                  <a:pt x="0" y="692115"/>
                  <a:pt x="0" y="641533"/>
                </a:cubicBezTo>
                <a:lnTo>
                  <a:pt x="0" y="91648"/>
                </a:lnTo>
                <a:cubicBezTo>
                  <a:pt x="0" y="41066"/>
                  <a:pt x="41066" y="0"/>
                  <a:pt x="91648" y="0"/>
                </a:cubicBezTo>
                <a:close/>
              </a:path>
            </a:pathLst>
          </a:custGeom>
          <a:solidFill>
            <a:srgbClr val="1A1D21">
              <a:alpha val="50196"/>
            </a:srgbClr>
          </a:solidFill>
          <a:ln/>
        </p:spPr>
        <p:txBody>
          <a:bodyPr/>
          <a:lstStyle/>
          <a:p>
            <a:endParaRPr lang="zh-CN" altLang="en-US"/>
          </a:p>
        </p:txBody>
      </p:sp>
      <p:sp>
        <p:nvSpPr>
          <p:cNvPr id="43" name="Text 41"/>
          <p:cNvSpPr/>
          <p:nvPr/>
        </p:nvSpPr>
        <p:spPr>
          <a:xfrm>
            <a:off x="8504078" y="6335143"/>
            <a:ext cx="7091236" cy="274943"/>
          </a:xfrm>
          <a:prstGeom prst="rect">
            <a:avLst/>
          </a:prstGeom>
          <a:noFill/>
          <a:ln/>
        </p:spPr>
        <p:txBody>
          <a:bodyPr wrap="square" lIns="0" tIns="0" rIns="0" bIns="0" rtlCol="0" anchor="ctr"/>
          <a:lstStyle/>
          <a:p>
            <a:pPr>
              <a:lnSpc>
                <a:spcPct val="130000"/>
              </a:lnSpc>
            </a:pPr>
            <a:r>
              <a:rPr lang="en-US" sz="1443" b="1" dirty="0">
                <a:solidFill>
                  <a:srgbClr val="E0E2E4"/>
                </a:solidFill>
                <a:latin typeface="MiSans" pitchFamily="34" charset="0"/>
                <a:ea typeface="MiSans" pitchFamily="34" charset="-122"/>
                <a:cs typeface="MiSans" pitchFamily="34" charset="-120"/>
              </a:rPr>
              <a:t>动态供给</a:t>
            </a:r>
            <a:endParaRPr lang="en-US" sz="1600" dirty="0"/>
          </a:p>
        </p:txBody>
      </p:sp>
      <p:sp>
        <p:nvSpPr>
          <p:cNvPr id="44" name="Text 42"/>
          <p:cNvSpPr/>
          <p:nvPr/>
        </p:nvSpPr>
        <p:spPr>
          <a:xfrm>
            <a:off x="8504078" y="6655910"/>
            <a:ext cx="7079780" cy="229119"/>
          </a:xfrm>
          <a:prstGeom prst="rect">
            <a:avLst/>
          </a:prstGeom>
          <a:noFill/>
          <a:ln/>
        </p:spPr>
        <p:txBody>
          <a:bodyPr wrap="square" lIns="0" tIns="0" rIns="0" bIns="0" rtlCol="0" anchor="ctr"/>
          <a:lstStyle/>
          <a:p>
            <a:pPr>
              <a:lnSpc>
                <a:spcPct val="120000"/>
              </a:lnSpc>
            </a:pPr>
            <a:r>
              <a:rPr lang="en-US" sz="1263" dirty="0">
                <a:solidFill>
                  <a:srgbClr val="E0E2E4">
                    <a:alpha val="70000"/>
                  </a:srgbClr>
                </a:solidFill>
                <a:latin typeface="MiSans" pitchFamily="34" charset="0"/>
                <a:ea typeface="MiSans" pitchFamily="34" charset="-122"/>
                <a:cs typeface="MiSans" pitchFamily="34" charset="-120"/>
              </a:rPr>
              <a:t>用户创建PVC时,自动创建匹配的PV,无需管理员手动预配置存储资源</a:t>
            </a:r>
            <a:endParaRPr lang="en-US" sz="1600" dirty="0"/>
          </a:p>
        </p:txBody>
      </p:sp>
      <p:sp>
        <p:nvSpPr>
          <p:cNvPr id="45" name="Shape 43"/>
          <p:cNvSpPr/>
          <p:nvPr/>
        </p:nvSpPr>
        <p:spPr>
          <a:xfrm>
            <a:off x="463966" y="7260909"/>
            <a:ext cx="5006252" cy="1821497"/>
          </a:xfrm>
          <a:custGeom>
            <a:avLst/>
            <a:gdLst/>
            <a:ahLst/>
            <a:cxnLst/>
            <a:rect l="l" t="t" r="r" b="b"/>
            <a:pathLst>
              <a:path w="5006252" h="1821497">
                <a:moveTo>
                  <a:pt x="91640" y="0"/>
                </a:moveTo>
                <a:lnTo>
                  <a:pt x="4914613" y="0"/>
                </a:lnTo>
                <a:cubicBezTo>
                  <a:pt x="4965224" y="0"/>
                  <a:pt x="5006252" y="41028"/>
                  <a:pt x="5006252" y="91640"/>
                </a:cubicBezTo>
                <a:lnTo>
                  <a:pt x="5006252" y="1729857"/>
                </a:lnTo>
                <a:cubicBezTo>
                  <a:pt x="5006252" y="1780468"/>
                  <a:pt x="4965224" y="1821497"/>
                  <a:pt x="4914613" y="1821497"/>
                </a:cubicBezTo>
                <a:lnTo>
                  <a:pt x="91640" y="1821497"/>
                </a:lnTo>
                <a:cubicBezTo>
                  <a:pt x="41028" y="1821497"/>
                  <a:pt x="0" y="1780468"/>
                  <a:pt x="0" y="1729857"/>
                </a:cubicBezTo>
                <a:lnTo>
                  <a:pt x="0" y="91640"/>
                </a:lnTo>
                <a:cubicBezTo>
                  <a:pt x="0" y="41062"/>
                  <a:pt x="41062" y="0"/>
                  <a:pt x="91640"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46" name="Text 44"/>
          <p:cNvSpPr/>
          <p:nvPr/>
        </p:nvSpPr>
        <p:spPr>
          <a:xfrm>
            <a:off x="607166" y="7404108"/>
            <a:ext cx="4822957" cy="320767"/>
          </a:xfrm>
          <a:prstGeom prst="rect">
            <a:avLst/>
          </a:prstGeom>
          <a:noFill/>
          <a:ln/>
        </p:spPr>
        <p:txBody>
          <a:bodyPr wrap="square" lIns="0" tIns="0" rIns="0" bIns="0" rtlCol="0" anchor="ctr"/>
          <a:lstStyle/>
          <a:p>
            <a:pPr>
              <a:lnSpc>
                <a:spcPct val="130000"/>
              </a:lnSpc>
            </a:pPr>
            <a:r>
              <a:rPr lang="en-US" sz="1624" b="1" dirty="0">
                <a:solidFill>
                  <a:srgbClr val="E0E2E4"/>
                </a:solidFill>
                <a:latin typeface="MiSans" pitchFamily="34" charset="0"/>
                <a:ea typeface="MiSans" pitchFamily="34" charset="-122"/>
                <a:cs typeface="MiSans" pitchFamily="34" charset="-120"/>
              </a:rPr>
              <a:t>存储隔离策略</a:t>
            </a:r>
            <a:endParaRPr lang="en-US" sz="1600" dirty="0"/>
          </a:p>
        </p:txBody>
      </p:sp>
      <p:sp>
        <p:nvSpPr>
          <p:cNvPr id="47" name="Shape 45"/>
          <p:cNvSpPr/>
          <p:nvPr/>
        </p:nvSpPr>
        <p:spPr>
          <a:xfrm>
            <a:off x="640101" y="7862346"/>
            <a:ext cx="140335" cy="160383"/>
          </a:xfrm>
          <a:custGeom>
            <a:avLst/>
            <a:gdLst/>
            <a:ahLst/>
            <a:cxnLst/>
            <a:rect l="l" t="t" r="r" b="b"/>
            <a:pathLst>
              <a:path w="140335" h="160383">
                <a:moveTo>
                  <a:pt x="136201" y="21959"/>
                </a:moveTo>
                <a:cubicBezTo>
                  <a:pt x="140680" y="25217"/>
                  <a:pt x="141682" y="31482"/>
                  <a:pt x="138425" y="35961"/>
                </a:cubicBezTo>
                <a:lnTo>
                  <a:pt x="58233" y="146225"/>
                </a:lnTo>
                <a:cubicBezTo>
                  <a:pt x="56510" y="148605"/>
                  <a:pt x="53847" y="150077"/>
                  <a:pt x="50903" y="150328"/>
                </a:cubicBezTo>
                <a:cubicBezTo>
                  <a:pt x="47958" y="150579"/>
                  <a:pt x="45108" y="149482"/>
                  <a:pt x="43040" y="147415"/>
                </a:cubicBezTo>
                <a:lnTo>
                  <a:pt x="2945" y="107319"/>
                </a:lnTo>
                <a:cubicBezTo>
                  <a:pt x="-971" y="103403"/>
                  <a:pt x="-971" y="97044"/>
                  <a:pt x="2945" y="93129"/>
                </a:cubicBezTo>
                <a:cubicBezTo>
                  <a:pt x="6860" y="89213"/>
                  <a:pt x="13219" y="89213"/>
                  <a:pt x="17135" y="93129"/>
                </a:cubicBezTo>
                <a:lnTo>
                  <a:pt x="48929" y="124924"/>
                </a:lnTo>
                <a:lnTo>
                  <a:pt x="122230" y="24151"/>
                </a:lnTo>
                <a:cubicBezTo>
                  <a:pt x="125487" y="19672"/>
                  <a:pt x="131752" y="18670"/>
                  <a:pt x="136232" y="21927"/>
                </a:cubicBezTo>
                <a:close/>
              </a:path>
            </a:pathLst>
          </a:custGeom>
          <a:solidFill>
            <a:srgbClr val="B38B59"/>
          </a:solidFill>
          <a:ln/>
        </p:spPr>
        <p:txBody>
          <a:bodyPr/>
          <a:lstStyle/>
          <a:p>
            <a:endParaRPr lang="zh-CN" altLang="en-US"/>
          </a:p>
        </p:txBody>
      </p:sp>
      <p:sp>
        <p:nvSpPr>
          <p:cNvPr id="48" name="Text 46"/>
          <p:cNvSpPr/>
          <p:nvPr/>
        </p:nvSpPr>
        <p:spPr>
          <a:xfrm>
            <a:off x="899292" y="7816522"/>
            <a:ext cx="2726517" cy="229119"/>
          </a:xfrm>
          <a:prstGeom prst="rect">
            <a:avLst/>
          </a:prstGeom>
          <a:noFill/>
          <a:ln/>
        </p:spPr>
        <p:txBody>
          <a:bodyPr wrap="square" lIns="0" tIns="0" rIns="0" bIns="0" rtlCol="0" anchor="ctr"/>
          <a:lstStyle/>
          <a:p>
            <a:pPr>
              <a:lnSpc>
                <a:spcPct val="120000"/>
              </a:lnSpc>
            </a:pPr>
            <a:r>
              <a:rPr lang="en-US" sz="1263" b="1" dirty="0">
                <a:solidFill>
                  <a:srgbClr val="E0E2E4"/>
                </a:solidFill>
                <a:latin typeface="MiSans" pitchFamily="34" charset="0"/>
                <a:ea typeface="MiSans" pitchFamily="34" charset="-122"/>
                <a:cs typeface="MiSans" pitchFamily="34" charset="-120"/>
              </a:rPr>
              <a:t>命名空间隔离:</a:t>
            </a:r>
            <a:r>
              <a:rPr lang="en-US" sz="1263" dirty="0">
                <a:solidFill>
                  <a:srgbClr val="E0E2E4">
                    <a:alpha val="80000"/>
                  </a:srgbClr>
                </a:solidFill>
                <a:latin typeface="MiSans" pitchFamily="34" charset="0"/>
                <a:ea typeface="MiSans" pitchFamily="34" charset="-122"/>
                <a:cs typeface="MiSans" pitchFamily="34" charset="-120"/>
              </a:rPr>
              <a:t> PVC在命名空间内隔离</a:t>
            </a:r>
            <a:endParaRPr lang="en-US" sz="1600" dirty="0"/>
          </a:p>
        </p:txBody>
      </p:sp>
      <p:sp>
        <p:nvSpPr>
          <p:cNvPr id="49" name="Shape 47"/>
          <p:cNvSpPr/>
          <p:nvPr/>
        </p:nvSpPr>
        <p:spPr>
          <a:xfrm>
            <a:off x="640101" y="8160201"/>
            <a:ext cx="140335" cy="160383"/>
          </a:xfrm>
          <a:custGeom>
            <a:avLst/>
            <a:gdLst/>
            <a:ahLst/>
            <a:cxnLst/>
            <a:rect l="l" t="t" r="r" b="b"/>
            <a:pathLst>
              <a:path w="140335" h="160383">
                <a:moveTo>
                  <a:pt x="136201" y="21959"/>
                </a:moveTo>
                <a:cubicBezTo>
                  <a:pt x="140680" y="25217"/>
                  <a:pt x="141682" y="31482"/>
                  <a:pt x="138425" y="35961"/>
                </a:cubicBezTo>
                <a:lnTo>
                  <a:pt x="58233" y="146225"/>
                </a:lnTo>
                <a:cubicBezTo>
                  <a:pt x="56510" y="148605"/>
                  <a:pt x="53847" y="150077"/>
                  <a:pt x="50903" y="150328"/>
                </a:cubicBezTo>
                <a:cubicBezTo>
                  <a:pt x="47958" y="150579"/>
                  <a:pt x="45108" y="149482"/>
                  <a:pt x="43040" y="147415"/>
                </a:cubicBezTo>
                <a:lnTo>
                  <a:pt x="2945" y="107319"/>
                </a:lnTo>
                <a:cubicBezTo>
                  <a:pt x="-971" y="103403"/>
                  <a:pt x="-971" y="97044"/>
                  <a:pt x="2945" y="93129"/>
                </a:cubicBezTo>
                <a:cubicBezTo>
                  <a:pt x="6860" y="89213"/>
                  <a:pt x="13219" y="89213"/>
                  <a:pt x="17135" y="93129"/>
                </a:cubicBezTo>
                <a:lnTo>
                  <a:pt x="48929" y="124924"/>
                </a:lnTo>
                <a:lnTo>
                  <a:pt x="122230" y="24151"/>
                </a:lnTo>
                <a:cubicBezTo>
                  <a:pt x="125487" y="19672"/>
                  <a:pt x="131752" y="18670"/>
                  <a:pt x="136232" y="21927"/>
                </a:cubicBezTo>
                <a:close/>
              </a:path>
            </a:pathLst>
          </a:custGeom>
          <a:solidFill>
            <a:srgbClr val="B38B59"/>
          </a:solidFill>
          <a:ln/>
        </p:spPr>
        <p:txBody>
          <a:bodyPr/>
          <a:lstStyle/>
          <a:p>
            <a:endParaRPr lang="zh-CN" altLang="en-US"/>
          </a:p>
        </p:txBody>
      </p:sp>
      <p:sp>
        <p:nvSpPr>
          <p:cNvPr id="50" name="Text 48"/>
          <p:cNvSpPr/>
          <p:nvPr/>
        </p:nvSpPr>
        <p:spPr>
          <a:xfrm>
            <a:off x="899292" y="8114377"/>
            <a:ext cx="2990004" cy="229119"/>
          </a:xfrm>
          <a:prstGeom prst="rect">
            <a:avLst/>
          </a:prstGeom>
          <a:noFill/>
          <a:ln/>
        </p:spPr>
        <p:txBody>
          <a:bodyPr wrap="square" lIns="0" tIns="0" rIns="0" bIns="0" rtlCol="0" anchor="ctr"/>
          <a:lstStyle/>
          <a:p>
            <a:pPr>
              <a:lnSpc>
                <a:spcPct val="120000"/>
              </a:lnSpc>
            </a:pPr>
            <a:r>
              <a:rPr lang="en-US" sz="1263" b="1" dirty="0">
                <a:solidFill>
                  <a:srgbClr val="E0E2E4"/>
                </a:solidFill>
                <a:latin typeface="MiSans" pitchFamily="34" charset="0"/>
                <a:ea typeface="MiSans" pitchFamily="34" charset="-122"/>
                <a:cs typeface="MiSans" pitchFamily="34" charset="-120"/>
              </a:rPr>
              <a:t>访问权限控制:</a:t>
            </a:r>
            <a:r>
              <a:rPr lang="en-US" sz="1263" dirty="0">
                <a:solidFill>
                  <a:srgbClr val="E0E2E4">
                    <a:alpha val="80000"/>
                  </a:srgbClr>
                </a:solidFill>
                <a:latin typeface="MiSans" pitchFamily="34" charset="0"/>
                <a:ea typeface="MiSans" pitchFamily="34" charset="-122"/>
                <a:cs typeface="MiSans" pitchFamily="34" charset="-120"/>
              </a:rPr>
              <a:t> 基于RBAC的存储访问控制</a:t>
            </a:r>
            <a:endParaRPr lang="en-US" sz="1600" dirty="0"/>
          </a:p>
        </p:txBody>
      </p:sp>
      <p:sp>
        <p:nvSpPr>
          <p:cNvPr id="51" name="Shape 49"/>
          <p:cNvSpPr/>
          <p:nvPr/>
        </p:nvSpPr>
        <p:spPr>
          <a:xfrm>
            <a:off x="640101" y="8458056"/>
            <a:ext cx="140335" cy="160383"/>
          </a:xfrm>
          <a:custGeom>
            <a:avLst/>
            <a:gdLst/>
            <a:ahLst/>
            <a:cxnLst/>
            <a:rect l="l" t="t" r="r" b="b"/>
            <a:pathLst>
              <a:path w="140335" h="160383">
                <a:moveTo>
                  <a:pt x="136201" y="21959"/>
                </a:moveTo>
                <a:cubicBezTo>
                  <a:pt x="140680" y="25217"/>
                  <a:pt x="141682" y="31482"/>
                  <a:pt x="138425" y="35961"/>
                </a:cubicBezTo>
                <a:lnTo>
                  <a:pt x="58233" y="146225"/>
                </a:lnTo>
                <a:cubicBezTo>
                  <a:pt x="56510" y="148605"/>
                  <a:pt x="53847" y="150077"/>
                  <a:pt x="50903" y="150328"/>
                </a:cubicBezTo>
                <a:cubicBezTo>
                  <a:pt x="47958" y="150579"/>
                  <a:pt x="45108" y="149482"/>
                  <a:pt x="43040" y="147415"/>
                </a:cubicBezTo>
                <a:lnTo>
                  <a:pt x="2945" y="107319"/>
                </a:lnTo>
                <a:cubicBezTo>
                  <a:pt x="-971" y="103403"/>
                  <a:pt x="-971" y="97044"/>
                  <a:pt x="2945" y="93129"/>
                </a:cubicBezTo>
                <a:cubicBezTo>
                  <a:pt x="6860" y="89213"/>
                  <a:pt x="13219" y="89213"/>
                  <a:pt x="17135" y="93129"/>
                </a:cubicBezTo>
                <a:lnTo>
                  <a:pt x="48929" y="124924"/>
                </a:lnTo>
                <a:lnTo>
                  <a:pt x="122230" y="24151"/>
                </a:lnTo>
                <a:cubicBezTo>
                  <a:pt x="125487" y="19672"/>
                  <a:pt x="131752" y="18670"/>
                  <a:pt x="136232" y="21927"/>
                </a:cubicBezTo>
                <a:close/>
              </a:path>
            </a:pathLst>
          </a:custGeom>
          <a:solidFill>
            <a:srgbClr val="B38B59"/>
          </a:solidFill>
          <a:ln/>
        </p:spPr>
        <p:txBody>
          <a:bodyPr/>
          <a:lstStyle/>
          <a:p>
            <a:endParaRPr lang="zh-CN" altLang="en-US"/>
          </a:p>
        </p:txBody>
      </p:sp>
      <p:sp>
        <p:nvSpPr>
          <p:cNvPr id="52" name="Text 50"/>
          <p:cNvSpPr/>
          <p:nvPr/>
        </p:nvSpPr>
        <p:spPr>
          <a:xfrm>
            <a:off x="899292" y="8412232"/>
            <a:ext cx="2566134" cy="229119"/>
          </a:xfrm>
          <a:prstGeom prst="rect">
            <a:avLst/>
          </a:prstGeom>
          <a:noFill/>
          <a:ln/>
        </p:spPr>
        <p:txBody>
          <a:bodyPr wrap="square" lIns="0" tIns="0" rIns="0" bIns="0" rtlCol="0" anchor="ctr"/>
          <a:lstStyle/>
          <a:p>
            <a:pPr>
              <a:lnSpc>
                <a:spcPct val="120000"/>
              </a:lnSpc>
            </a:pPr>
            <a:r>
              <a:rPr lang="en-US" sz="1263" b="1" dirty="0">
                <a:solidFill>
                  <a:srgbClr val="E0E2E4"/>
                </a:solidFill>
                <a:latin typeface="MiSans" pitchFamily="34" charset="0"/>
                <a:ea typeface="MiSans" pitchFamily="34" charset="-122"/>
                <a:cs typeface="MiSans" pitchFamily="34" charset="-120"/>
              </a:rPr>
              <a:t>加密存储:</a:t>
            </a:r>
            <a:r>
              <a:rPr lang="en-US" sz="1263" dirty="0">
                <a:solidFill>
                  <a:srgbClr val="E0E2E4">
                    <a:alpha val="80000"/>
                  </a:srgbClr>
                </a:solidFill>
                <a:latin typeface="MiSans" pitchFamily="34" charset="0"/>
                <a:ea typeface="MiSans" pitchFamily="34" charset="-122"/>
                <a:cs typeface="MiSans" pitchFamily="34" charset="-120"/>
              </a:rPr>
              <a:t> 支持静态数据和传输加密</a:t>
            </a:r>
            <a:endParaRPr lang="en-US" sz="1600" dirty="0"/>
          </a:p>
        </p:txBody>
      </p:sp>
      <p:sp>
        <p:nvSpPr>
          <p:cNvPr id="53" name="Shape 51"/>
          <p:cNvSpPr/>
          <p:nvPr/>
        </p:nvSpPr>
        <p:spPr>
          <a:xfrm>
            <a:off x="5621652" y="7260909"/>
            <a:ext cx="5006252" cy="1821497"/>
          </a:xfrm>
          <a:custGeom>
            <a:avLst/>
            <a:gdLst/>
            <a:ahLst/>
            <a:cxnLst/>
            <a:rect l="l" t="t" r="r" b="b"/>
            <a:pathLst>
              <a:path w="5006252" h="1821497">
                <a:moveTo>
                  <a:pt x="91640" y="0"/>
                </a:moveTo>
                <a:lnTo>
                  <a:pt x="4914613" y="0"/>
                </a:lnTo>
                <a:cubicBezTo>
                  <a:pt x="4965224" y="0"/>
                  <a:pt x="5006252" y="41028"/>
                  <a:pt x="5006252" y="91640"/>
                </a:cubicBezTo>
                <a:lnTo>
                  <a:pt x="5006252" y="1729857"/>
                </a:lnTo>
                <a:cubicBezTo>
                  <a:pt x="5006252" y="1780468"/>
                  <a:pt x="4965224" y="1821497"/>
                  <a:pt x="4914613" y="1821497"/>
                </a:cubicBezTo>
                <a:lnTo>
                  <a:pt x="91640" y="1821497"/>
                </a:lnTo>
                <a:cubicBezTo>
                  <a:pt x="41028" y="1821497"/>
                  <a:pt x="0" y="1780468"/>
                  <a:pt x="0" y="1729857"/>
                </a:cubicBezTo>
                <a:lnTo>
                  <a:pt x="0" y="91640"/>
                </a:lnTo>
                <a:cubicBezTo>
                  <a:pt x="0" y="41062"/>
                  <a:pt x="41062" y="0"/>
                  <a:pt x="91640"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54" name="Text 52"/>
          <p:cNvSpPr/>
          <p:nvPr/>
        </p:nvSpPr>
        <p:spPr>
          <a:xfrm>
            <a:off x="5764851" y="7404108"/>
            <a:ext cx="4822957" cy="320767"/>
          </a:xfrm>
          <a:prstGeom prst="rect">
            <a:avLst/>
          </a:prstGeom>
          <a:noFill/>
          <a:ln/>
        </p:spPr>
        <p:txBody>
          <a:bodyPr wrap="square" lIns="0" tIns="0" rIns="0" bIns="0" rtlCol="0" anchor="ctr"/>
          <a:lstStyle/>
          <a:p>
            <a:pPr>
              <a:lnSpc>
                <a:spcPct val="130000"/>
              </a:lnSpc>
            </a:pPr>
            <a:r>
              <a:rPr lang="en-US" sz="1624" b="1" dirty="0">
                <a:solidFill>
                  <a:srgbClr val="E0E2E4"/>
                </a:solidFill>
                <a:latin typeface="MiSans" pitchFamily="34" charset="0"/>
                <a:ea typeface="MiSans" pitchFamily="34" charset="-122"/>
                <a:cs typeface="MiSans" pitchFamily="34" charset="-120"/>
              </a:rPr>
              <a:t>存储类型对比</a:t>
            </a:r>
            <a:endParaRPr lang="en-US" sz="1600" dirty="0"/>
          </a:p>
        </p:txBody>
      </p:sp>
      <p:sp>
        <p:nvSpPr>
          <p:cNvPr id="55" name="Shape 53"/>
          <p:cNvSpPr/>
          <p:nvPr/>
        </p:nvSpPr>
        <p:spPr>
          <a:xfrm>
            <a:off x="5764851" y="7816522"/>
            <a:ext cx="2325559" cy="526974"/>
          </a:xfrm>
          <a:custGeom>
            <a:avLst/>
            <a:gdLst/>
            <a:ahLst/>
            <a:cxnLst/>
            <a:rect l="l" t="t" r="r" b="b"/>
            <a:pathLst>
              <a:path w="2325559" h="526974">
                <a:moveTo>
                  <a:pt x="45826" y="0"/>
                </a:moveTo>
                <a:lnTo>
                  <a:pt x="2279733" y="0"/>
                </a:lnTo>
                <a:cubicBezTo>
                  <a:pt x="2305042" y="0"/>
                  <a:pt x="2325559" y="20517"/>
                  <a:pt x="2325559" y="45826"/>
                </a:cubicBezTo>
                <a:lnTo>
                  <a:pt x="2325559" y="481148"/>
                </a:lnTo>
                <a:cubicBezTo>
                  <a:pt x="2325559" y="506457"/>
                  <a:pt x="2305042" y="526974"/>
                  <a:pt x="2279733" y="526974"/>
                </a:cubicBezTo>
                <a:lnTo>
                  <a:pt x="45826" y="526974"/>
                </a:lnTo>
                <a:cubicBezTo>
                  <a:pt x="20517" y="526974"/>
                  <a:pt x="0" y="506457"/>
                  <a:pt x="0" y="481148"/>
                </a:cubicBezTo>
                <a:lnTo>
                  <a:pt x="0" y="45826"/>
                </a:lnTo>
                <a:cubicBezTo>
                  <a:pt x="0" y="20534"/>
                  <a:pt x="20534" y="0"/>
                  <a:pt x="45826" y="0"/>
                </a:cubicBezTo>
                <a:close/>
              </a:path>
            </a:pathLst>
          </a:custGeom>
          <a:solidFill>
            <a:srgbClr val="1A1D21">
              <a:alpha val="50196"/>
            </a:srgbClr>
          </a:solidFill>
          <a:ln/>
        </p:spPr>
        <p:txBody>
          <a:bodyPr/>
          <a:lstStyle/>
          <a:p>
            <a:endParaRPr lang="zh-CN" altLang="en-US"/>
          </a:p>
        </p:txBody>
      </p:sp>
      <p:sp>
        <p:nvSpPr>
          <p:cNvPr id="56" name="Text 54"/>
          <p:cNvSpPr/>
          <p:nvPr/>
        </p:nvSpPr>
        <p:spPr>
          <a:xfrm>
            <a:off x="5799219" y="7885258"/>
            <a:ext cx="2256823" cy="183295"/>
          </a:xfrm>
          <a:prstGeom prst="rect">
            <a:avLst/>
          </a:prstGeom>
          <a:noFill/>
          <a:ln/>
        </p:spPr>
        <p:txBody>
          <a:bodyPr wrap="square" lIns="0" tIns="0" rIns="0" bIns="0" rtlCol="0" anchor="ctr"/>
          <a:lstStyle/>
          <a:p>
            <a:pPr algn="ctr">
              <a:lnSpc>
                <a:spcPct val="110000"/>
              </a:lnSpc>
            </a:pPr>
            <a:r>
              <a:rPr lang="en-US" sz="1082" b="1" dirty="0">
                <a:solidFill>
                  <a:srgbClr val="E0E2E4"/>
                </a:solidFill>
                <a:latin typeface="MiSans" pitchFamily="34" charset="0"/>
                <a:ea typeface="MiSans" pitchFamily="34" charset="-122"/>
                <a:cs typeface="MiSans" pitchFamily="34" charset="-120"/>
              </a:rPr>
              <a:t>临时卷</a:t>
            </a:r>
            <a:endParaRPr lang="en-US" sz="1600" dirty="0"/>
          </a:p>
        </p:txBody>
      </p:sp>
      <p:sp>
        <p:nvSpPr>
          <p:cNvPr id="57" name="Text 55"/>
          <p:cNvSpPr/>
          <p:nvPr/>
        </p:nvSpPr>
        <p:spPr>
          <a:xfrm>
            <a:off x="5799219" y="8091465"/>
            <a:ext cx="2256823" cy="183295"/>
          </a:xfrm>
          <a:prstGeom prst="rect">
            <a:avLst/>
          </a:prstGeom>
          <a:noFill/>
          <a:ln/>
        </p:spPr>
        <p:txBody>
          <a:bodyPr wrap="square" lIns="0" tIns="0" rIns="0" bIns="0" rtlCol="0" anchor="ctr"/>
          <a:lstStyle/>
          <a:p>
            <a:pPr algn="ctr">
              <a:lnSpc>
                <a:spcPct val="110000"/>
              </a:lnSpc>
            </a:pPr>
            <a:r>
              <a:rPr lang="en-US" sz="1082" dirty="0">
                <a:solidFill>
                  <a:srgbClr val="E0E2E4">
                    <a:alpha val="70000"/>
                  </a:srgbClr>
                </a:solidFill>
                <a:latin typeface="MiSans" pitchFamily="34" charset="0"/>
                <a:ea typeface="MiSans" pitchFamily="34" charset="-122"/>
                <a:cs typeface="MiSans" pitchFamily="34" charset="-120"/>
              </a:rPr>
              <a:t>emptyDir/ConfigMap</a:t>
            </a:r>
            <a:endParaRPr lang="en-US" sz="1600" dirty="0"/>
          </a:p>
        </p:txBody>
      </p:sp>
      <p:sp>
        <p:nvSpPr>
          <p:cNvPr id="58" name="Shape 56"/>
          <p:cNvSpPr/>
          <p:nvPr/>
        </p:nvSpPr>
        <p:spPr>
          <a:xfrm>
            <a:off x="8160399" y="7816522"/>
            <a:ext cx="2325559" cy="526974"/>
          </a:xfrm>
          <a:custGeom>
            <a:avLst/>
            <a:gdLst/>
            <a:ahLst/>
            <a:cxnLst/>
            <a:rect l="l" t="t" r="r" b="b"/>
            <a:pathLst>
              <a:path w="2325559" h="526974">
                <a:moveTo>
                  <a:pt x="45826" y="0"/>
                </a:moveTo>
                <a:lnTo>
                  <a:pt x="2279733" y="0"/>
                </a:lnTo>
                <a:cubicBezTo>
                  <a:pt x="2305042" y="0"/>
                  <a:pt x="2325559" y="20517"/>
                  <a:pt x="2325559" y="45826"/>
                </a:cubicBezTo>
                <a:lnTo>
                  <a:pt x="2325559" y="481148"/>
                </a:lnTo>
                <a:cubicBezTo>
                  <a:pt x="2325559" y="506457"/>
                  <a:pt x="2305042" y="526974"/>
                  <a:pt x="2279733" y="526974"/>
                </a:cubicBezTo>
                <a:lnTo>
                  <a:pt x="45826" y="526974"/>
                </a:lnTo>
                <a:cubicBezTo>
                  <a:pt x="20517" y="526974"/>
                  <a:pt x="0" y="506457"/>
                  <a:pt x="0" y="481148"/>
                </a:cubicBezTo>
                <a:lnTo>
                  <a:pt x="0" y="45826"/>
                </a:lnTo>
                <a:cubicBezTo>
                  <a:pt x="0" y="20534"/>
                  <a:pt x="20534" y="0"/>
                  <a:pt x="45826" y="0"/>
                </a:cubicBezTo>
                <a:close/>
              </a:path>
            </a:pathLst>
          </a:custGeom>
          <a:solidFill>
            <a:srgbClr val="1A1D21">
              <a:alpha val="50196"/>
            </a:srgbClr>
          </a:solidFill>
          <a:ln/>
        </p:spPr>
        <p:txBody>
          <a:bodyPr/>
          <a:lstStyle/>
          <a:p>
            <a:endParaRPr lang="zh-CN" altLang="en-US"/>
          </a:p>
        </p:txBody>
      </p:sp>
      <p:sp>
        <p:nvSpPr>
          <p:cNvPr id="59" name="Text 57"/>
          <p:cNvSpPr/>
          <p:nvPr/>
        </p:nvSpPr>
        <p:spPr>
          <a:xfrm>
            <a:off x="8194767" y="7885258"/>
            <a:ext cx="2256823" cy="183295"/>
          </a:xfrm>
          <a:prstGeom prst="rect">
            <a:avLst/>
          </a:prstGeom>
          <a:noFill/>
          <a:ln/>
        </p:spPr>
        <p:txBody>
          <a:bodyPr wrap="square" lIns="0" tIns="0" rIns="0" bIns="0" rtlCol="0" anchor="ctr"/>
          <a:lstStyle/>
          <a:p>
            <a:pPr algn="ctr">
              <a:lnSpc>
                <a:spcPct val="110000"/>
              </a:lnSpc>
            </a:pPr>
            <a:r>
              <a:rPr lang="en-US" sz="1082" b="1" dirty="0">
                <a:solidFill>
                  <a:srgbClr val="E0E2E4"/>
                </a:solidFill>
                <a:latin typeface="MiSans" pitchFamily="34" charset="0"/>
                <a:ea typeface="MiSans" pitchFamily="34" charset="-122"/>
                <a:cs typeface="MiSans" pitchFamily="34" charset="-120"/>
              </a:rPr>
              <a:t>持久卷</a:t>
            </a:r>
            <a:endParaRPr lang="en-US" sz="1600" dirty="0"/>
          </a:p>
        </p:txBody>
      </p:sp>
      <p:sp>
        <p:nvSpPr>
          <p:cNvPr id="60" name="Text 58"/>
          <p:cNvSpPr/>
          <p:nvPr/>
        </p:nvSpPr>
        <p:spPr>
          <a:xfrm>
            <a:off x="8194767" y="8091465"/>
            <a:ext cx="2256823" cy="183295"/>
          </a:xfrm>
          <a:prstGeom prst="rect">
            <a:avLst/>
          </a:prstGeom>
          <a:noFill/>
          <a:ln/>
        </p:spPr>
        <p:txBody>
          <a:bodyPr wrap="square" lIns="0" tIns="0" rIns="0" bIns="0" rtlCol="0" anchor="ctr"/>
          <a:lstStyle/>
          <a:p>
            <a:pPr algn="ctr">
              <a:lnSpc>
                <a:spcPct val="110000"/>
              </a:lnSpc>
            </a:pPr>
            <a:r>
              <a:rPr lang="en-US" sz="1082" dirty="0">
                <a:solidFill>
                  <a:srgbClr val="E0E2E4">
                    <a:alpha val="70000"/>
                  </a:srgbClr>
                </a:solidFill>
                <a:latin typeface="MiSans" pitchFamily="34" charset="0"/>
                <a:ea typeface="MiSans" pitchFamily="34" charset="-122"/>
                <a:cs typeface="MiSans" pitchFamily="34" charset="-120"/>
              </a:rPr>
              <a:t>NFS/云存储</a:t>
            </a:r>
            <a:endParaRPr lang="en-US" sz="1600" dirty="0"/>
          </a:p>
        </p:txBody>
      </p:sp>
      <p:sp>
        <p:nvSpPr>
          <p:cNvPr id="61" name="Shape 59"/>
          <p:cNvSpPr/>
          <p:nvPr/>
        </p:nvSpPr>
        <p:spPr>
          <a:xfrm>
            <a:off x="5764851" y="8412232"/>
            <a:ext cx="2325559" cy="526974"/>
          </a:xfrm>
          <a:custGeom>
            <a:avLst/>
            <a:gdLst/>
            <a:ahLst/>
            <a:cxnLst/>
            <a:rect l="l" t="t" r="r" b="b"/>
            <a:pathLst>
              <a:path w="2325559" h="526974">
                <a:moveTo>
                  <a:pt x="45826" y="0"/>
                </a:moveTo>
                <a:lnTo>
                  <a:pt x="2279733" y="0"/>
                </a:lnTo>
                <a:cubicBezTo>
                  <a:pt x="2305042" y="0"/>
                  <a:pt x="2325559" y="20517"/>
                  <a:pt x="2325559" y="45826"/>
                </a:cubicBezTo>
                <a:lnTo>
                  <a:pt x="2325559" y="481148"/>
                </a:lnTo>
                <a:cubicBezTo>
                  <a:pt x="2325559" y="506457"/>
                  <a:pt x="2305042" y="526974"/>
                  <a:pt x="2279733" y="526974"/>
                </a:cubicBezTo>
                <a:lnTo>
                  <a:pt x="45826" y="526974"/>
                </a:lnTo>
                <a:cubicBezTo>
                  <a:pt x="20517" y="526974"/>
                  <a:pt x="0" y="506457"/>
                  <a:pt x="0" y="481148"/>
                </a:cubicBezTo>
                <a:lnTo>
                  <a:pt x="0" y="45826"/>
                </a:lnTo>
                <a:cubicBezTo>
                  <a:pt x="0" y="20534"/>
                  <a:pt x="20534" y="0"/>
                  <a:pt x="45826" y="0"/>
                </a:cubicBezTo>
                <a:close/>
              </a:path>
            </a:pathLst>
          </a:custGeom>
          <a:solidFill>
            <a:srgbClr val="1A1D21">
              <a:alpha val="50196"/>
            </a:srgbClr>
          </a:solidFill>
          <a:ln/>
        </p:spPr>
        <p:txBody>
          <a:bodyPr/>
          <a:lstStyle/>
          <a:p>
            <a:endParaRPr lang="zh-CN" altLang="en-US"/>
          </a:p>
        </p:txBody>
      </p:sp>
      <p:sp>
        <p:nvSpPr>
          <p:cNvPr id="62" name="Text 60"/>
          <p:cNvSpPr/>
          <p:nvPr/>
        </p:nvSpPr>
        <p:spPr>
          <a:xfrm>
            <a:off x="5799219" y="8480968"/>
            <a:ext cx="2256823" cy="183295"/>
          </a:xfrm>
          <a:prstGeom prst="rect">
            <a:avLst/>
          </a:prstGeom>
          <a:noFill/>
          <a:ln/>
        </p:spPr>
        <p:txBody>
          <a:bodyPr wrap="square" lIns="0" tIns="0" rIns="0" bIns="0" rtlCol="0" anchor="ctr"/>
          <a:lstStyle/>
          <a:p>
            <a:pPr algn="ctr">
              <a:lnSpc>
                <a:spcPct val="110000"/>
              </a:lnSpc>
            </a:pPr>
            <a:r>
              <a:rPr lang="en-US" sz="1082" b="1" dirty="0">
                <a:solidFill>
                  <a:srgbClr val="E0E2E4"/>
                </a:solidFill>
                <a:latin typeface="MiSans" pitchFamily="34" charset="0"/>
                <a:ea typeface="MiSans" pitchFamily="34" charset="-122"/>
                <a:cs typeface="MiSans" pitchFamily="34" charset="-120"/>
              </a:rPr>
              <a:t>配置卷</a:t>
            </a:r>
            <a:endParaRPr lang="en-US" sz="1600" dirty="0"/>
          </a:p>
        </p:txBody>
      </p:sp>
      <p:sp>
        <p:nvSpPr>
          <p:cNvPr id="63" name="Text 61"/>
          <p:cNvSpPr/>
          <p:nvPr/>
        </p:nvSpPr>
        <p:spPr>
          <a:xfrm>
            <a:off x="5799219" y="8687175"/>
            <a:ext cx="2256823" cy="183295"/>
          </a:xfrm>
          <a:prstGeom prst="rect">
            <a:avLst/>
          </a:prstGeom>
          <a:noFill/>
          <a:ln/>
        </p:spPr>
        <p:txBody>
          <a:bodyPr wrap="square" lIns="0" tIns="0" rIns="0" bIns="0" rtlCol="0" anchor="ctr"/>
          <a:lstStyle/>
          <a:p>
            <a:pPr algn="ctr">
              <a:lnSpc>
                <a:spcPct val="110000"/>
              </a:lnSpc>
            </a:pPr>
            <a:r>
              <a:rPr lang="en-US" sz="1082" dirty="0">
                <a:solidFill>
                  <a:srgbClr val="E0E2E4">
                    <a:alpha val="70000"/>
                  </a:srgbClr>
                </a:solidFill>
                <a:latin typeface="MiSans" pitchFamily="34" charset="0"/>
                <a:ea typeface="MiSans" pitchFamily="34" charset="-122"/>
                <a:cs typeface="MiSans" pitchFamily="34" charset="-120"/>
              </a:rPr>
              <a:t>ConfigMap/Secret</a:t>
            </a:r>
            <a:endParaRPr lang="en-US" sz="1600" dirty="0"/>
          </a:p>
        </p:txBody>
      </p:sp>
      <p:sp>
        <p:nvSpPr>
          <p:cNvPr id="64" name="Shape 62"/>
          <p:cNvSpPr/>
          <p:nvPr/>
        </p:nvSpPr>
        <p:spPr>
          <a:xfrm>
            <a:off x="8160399" y="8412232"/>
            <a:ext cx="2325559" cy="526974"/>
          </a:xfrm>
          <a:custGeom>
            <a:avLst/>
            <a:gdLst/>
            <a:ahLst/>
            <a:cxnLst/>
            <a:rect l="l" t="t" r="r" b="b"/>
            <a:pathLst>
              <a:path w="2325559" h="526974">
                <a:moveTo>
                  <a:pt x="45826" y="0"/>
                </a:moveTo>
                <a:lnTo>
                  <a:pt x="2279733" y="0"/>
                </a:lnTo>
                <a:cubicBezTo>
                  <a:pt x="2305042" y="0"/>
                  <a:pt x="2325559" y="20517"/>
                  <a:pt x="2325559" y="45826"/>
                </a:cubicBezTo>
                <a:lnTo>
                  <a:pt x="2325559" y="481148"/>
                </a:lnTo>
                <a:cubicBezTo>
                  <a:pt x="2325559" y="506457"/>
                  <a:pt x="2305042" y="526974"/>
                  <a:pt x="2279733" y="526974"/>
                </a:cubicBezTo>
                <a:lnTo>
                  <a:pt x="45826" y="526974"/>
                </a:lnTo>
                <a:cubicBezTo>
                  <a:pt x="20517" y="526974"/>
                  <a:pt x="0" y="506457"/>
                  <a:pt x="0" y="481148"/>
                </a:cubicBezTo>
                <a:lnTo>
                  <a:pt x="0" y="45826"/>
                </a:lnTo>
                <a:cubicBezTo>
                  <a:pt x="0" y="20534"/>
                  <a:pt x="20534" y="0"/>
                  <a:pt x="45826" y="0"/>
                </a:cubicBezTo>
                <a:close/>
              </a:path>
            </a:pathLst>
          </a:custGeom>
          <a:solidFill>
            <a:srgbClr val="1A1D21">
              <a:alpha val="50196"/>
            </a:srgbClr>
          </a:solidFill>
          <a:ln/>
        </p:spPr>
        <p:txBody>
          <a:bodyPr/>
          <a:lstStyle/>
          <a:p>
            <a:endParaRPr lang="zh-CN" altLang="en-US"/>
          </a:p>
        </p:txBody>
      </p:sp>
      <p:sp>
        <p:nvSpPr>
          <p:cNvPr id="65" name="Text 63"/>
          <p:cNvSpPr/>
          <p:nvPr/>
        </p:nvSpPr>
        <p:spPr>
          <a:xfrm>
            <a:off x="8194767" y="8480968"/>
            <a:ext cx="2256823" cy="183295"/>
          </a:xfrm>
          <a:prstGeom prst="rect">
            <a:avLst/>
          </a:prstGeom>
          <a:noFill/>
          <a:ln/>
        </p:spPr>
        <p:txBody>
          <a:bodyPr wrap="square" lIns="0" tIns="0" rIns="0" bIns="0" rtlCol="0" anchor="ctr"/>
          <a:lstStyle/>
          <a:p>
            <a:pPr algn="ctr">
              <a:lnSpc>
                <a:spcPct val="110000"/>
              </a:lnSpc>
            </a:pPr>
            <a:r>
              <a:rPr lang="en-US" sz="1082" b="1" dirty="0">
                <a:solidFill>
                  <a:srgbClr val="E0E2E4"/>
                </a:solidFill>
                <a:latin typeface="MiSans" pitchFamily="34" charset="0"/>
                <a:ea typeface="MiSans" pitchFamily="34" charset="-122"/>
                <a:cs typeface="MiSans" pitchFamily="34" charset="-120"/>
              </a:rPr>
              <a:t>主机卷</a:t>
            </a:r>
            <a:endParaRPr lang="en-US" sz="1600" dirty="0"/>
          </a:p>
        </p:txBody>
      </p:sp>
      <p:sp>
        <p:nvSpPr>
          <p:cNvPr id="66" name="Text 64"/>
          <p:cNvSpPr/>
          <p:nvPr/>
        </p:nvSpPr>
        <p:spPr>
          <a:xfrm>
            <a:off x="8194767" y="8687175"/>
            <a:ext cx="2256823" cy="183295"/>
          </a:xfrm>
          <a:prstGeom prst="rect">
            <a:avLst/>
          </a:prstGeom>
          <a:noFill/>
          <a:ln/>
        </p:spPr>
        <p:txBody>
          <a:bodyPr wrap="square" lIns="0" tIns="0" rIns="0" bIns="0" rtlCol="0" anchor="ctr"/>
          <a:lstStyle/>
          <a:p>
            <a:pPr algn="ctr">
              <a:lnSpc>
                <a:spcPct val="110000"/>
              </a:lnSpc>
            </a:pPr>
            <a:r>
              <a:rPr lang="en-US" sz="1082" dirty="0">
                <a:solidFill>
                  <a:srgbClr val="E0E2E4">
                    <a:alpha val="70000"/>
                  </a:srgbClr>
                </a:solidFill>
                <a:latin typeface="MiSans" pitchFamily="34" charset="0"/>
                <a:ea typeface="MiSans" pitchFamily="34" charset="-122"/>
                <a:cs typeface="MiSans" pitchFamily="34" charset="-120"/>
              </a:rPr>
              <a:t>hostPath(特权)</a:t>
            </a:r>
            <a:endParaRPr lang="en-US" sz="1600" dirty="0"/>
          </a:p>
        </p:txBody>
      </p:sp>
      <p:sp>
        <p:nvSpPr>
          <p:cNvPr id="67" name="Shape 65"/>
          <p:cNvSpPr/>
          <p:nvPr/>
        </p:nvSpPr>
        <p:spPr>
          <a:xfrm>
            <a:off x="10779338" y="7260909"/>
            <a:ext cx="5006252" cy="1821497"/>
          </a:xfrm>
          <a:custGeom>
            <a:avLst/>
            <a:gdLst/>
            <a:ahLst/>
            <a:cxnLst/>
            <a:rect l="l" t="t" r="r" b="b"/>
            <a:pathLst>
              <a:path w="5006252" h="1821497">
                <a:moveTo>
                  <a:pt x="91640" y="0"/>
                </a:moveTo>
                <a:lnTo>
                  <a:pt x="4914613" y="0"/>
                </a:lnTo>
                <a:cubicBezTo>
                  <a:pt x="4965224" y="0"/>
                  <a:pt x="5006252" y="41028"/>
                  <a:pt x="5006252" y="91640"/>
                </a:cubicBezTo>
                <a:lnTo>
                  <a:pt x="5006252" y="1729857"/>
                </a:lnTo>
                <a:cubicBezTo>
                  <a:pt x="5006252" y="1780468"/>
                  <a:pt x="4965224" y="1821497"/>
                  <a:pt x="4914613" y="1821497"/>
                </a:cubicBezTo>
                <a:lnTo>
                  <a:pt x="91640" y="1821497"/>
                </a:lnTo>
                <a:cubicBezTo>
                  <a:pt x="41028" y="1821497"/>
                  <a:pt x="0" y="1780468"/>
                  <a:pt x="0" y="1729857"/>
                </a:cubicBezTo>
                <a:lnTo>
                  <a:pt x="0" y="91640"/>
                </a:lnTo>
                <a:cubicBezTo>
                  <a:pt x="0" y="41062"/>
                  <a:pt x="41062" y="0"/>
                  <a:pt x="91640"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8" name="Text 66"/>
          <p:cNvSpPr/>
          <p:nvPr/>
        </p:nvSpPr>
        <p:spPr>
          <a:xfrm>
            <a:off x="10922537" y="7404108"/>
            <a:ext cx="4822957" cy="320767"/>
          </a:xfrm>
          <a:prstGeom prst="rect">
            <a:avLst/>
          </a:prstGeom>
          <a:noFill/>
          <a:ln/>
        </p:spPr>
        <p:txBody>
          <a:bodyPr wrap="square" lIns="0" tIns="0" rIns="0" bIns="0" rtlCol="0" anchor="ctr"/>
          <a:lstStyle/>
          <a:p>
            <a:pPr>
              <a:lnSpc>
                <a:spcPct val="130000"/>
              </a:lnSpc>
            </a:pPr>
            <a:r>
              <a:rPr lang="en-US" sz="1624" b="1" dirty="0">
                <a:solidFill>
                  <a:srgbClr val="E0E2E4"/>
                </a:solidFill>
                <a:latin typeface="MiSans" pitchFamily="34" charset="0"/>
                <a:ea typeface="MiSans" pitchFamily="34" charset="-122"/>
                <a:cs typeface="MiSans" pitchFamily="34" charset="-120"/>
              </a:rPr>
              <a:t>数据保护机制</a:t>
            </a:r>
            <a:endParaRPr lang="en-US" sz="1600" dirty="0"/>
          </a:p>
        </p:txBody>
      </p:sp>
      <p:sp>
        <p:nvSpPr>
          <p:cNvPr id="69" name="Shape 67"/>
          <p:cNvSpPr/>
          <p:nvPr/>
        </p:nvSpPr>
        <p:spPr>
          <a:xfrm>
            <a:off x="10965497" y="7862346"/>
            <a:ext cx="120288" cy="160383"/>
          </a:xfrm>
          <a:custGeom>
            <a:avLst/>
            <a:gdLst/>
            <a:ahLst/>
            <a:cxnLst/>
            <a:rect l="l" t="t" r="r" b="b"/>
            <a:pathLst>
              <a:path w="120288" h="160383">
                <a:moveTo>
                  <a:pt x="40096" y="30072"/>
                </a:moveTo>
                <a:lnTo>
                  <a:pt x="40096" y="50120"/>
                </a:lnTo>
                <a:lnTo>
                  <a:pt x="80192" y="50120"/>
                </a:lnTo>
                <a:lnTo>
                  <a:pt x="80192" y="30072"/>
                </a:lnTo>
                <a:cubicBezTo>
                  <a:pt x="80192" y="19014"/>
                  <a:pt x="71201" y="10024"/>
                  <a:pt x="60144" y="10024"/>
                </a:cubicBezTo>
                <a:cubicBezTo>
                  <a:pt x="49086" y="10024"/>
                  <a:pt x="40096" y="19014"/>
                  <a:pt x="40096" y="30072"/>
                </a:cubicBezTo>
                <a:close/>
                <a:moveTo>
                  <a:pt x="20048" y="50120"/>
                </a:moveTo>
                <a:lnTo>
                  <a:pt x="20048" y="30072"/>
                </a:lnTo>
                <a:cubicBezTo>
                  <a:pt x="20048" y="7925"/>
                  <a:pt x="37997" y="-10024"/>
                  <a:pt x="60144" y="-10024"/>
                </a:cubicBezTo>
                <a:cubicBezTo>
                  <a:pt x="82290" y="-10024"/>
                  <a:pt x="100240" y="7925"/>
                  <a:pt x="100240" y="30072"/>
                </a:cubicBezTo>
                <a:lnTo>
                  <a:pt x="100240" y="50120"/>
                </a:lnTo>
                <a:cubicBezTo>
                  <a:pt x="111297" y="50120"/>
                  <a:pt x="120288" y="59110"/>
                  <a:pt x="120288" y="70168"/>
                </a:cubicBezTo>
                <a:lnTo>
                  <a:pt x="120288" y="140335"/>
                </a:lnTo>
                <a:cubicBezTo>
                  <a:pt x="120288" y="151393"/>
                  <a:pt x="111297" y="160383"/>
                  <a:pt x="100240" y="160383"/>
                </a:cubicBezTo>
                <a:lnTo>
                  <a:pt x="20048" y="160383"/>
                </a:lnTo>
                <a:cubicBezTo>
                  <a:pt x="8990" y="160383"/>
                  <a:pt x="0" y="151393"/>
                  <a:pt x="0" y="140335"/>
                </a:cubicBezTo>
                <a:lnTo>
                  <a:pt x="0" y="70168"/>
                </a:lnTo>
                <a:cubicBezTo>
                  <a:pt x="0" y="59110"/>
                  <a:pt x="8990" y="50120"/>
                  <a:pt x="20048" y="50120"/>
                </a:cubicBezTo>
                <a:close/>
              </a:path>
            </a:pathLst>
          </a:custGeom>
          <a:solidFill>
            <a:srgbClr val="B38B59"/>
          </a:solidFill>
          <a:ln/>
        </p:spPr>
        <p:txBody>
          <a:bodyPr/>
          <a:lstStyle/>
          <a:p>
            <a:endParaRPr lang="zh-CN" altLang="en-US"/>
          </a:p>
        </p:txBody>
      </p:sp>
      <p:sp>
        <p:nvSpPr>
          <p:cNvPr id="70" name="Text 68"/>
          <p:cNvSpPr/>
          <p:nvPr/>
        </p:nvSpPr>
        <p:spPr>
          <a:xfrm>
            <a:off x="11214664" y="7816522"/>
            <a:ext cx="2405751" cy="229119"/>
          </a:xfrm>
          <a:prstGeom prst="rect">
            <a:avLst/>
          </a:prstGeom>
          <a:noFill/>
          <a:ln/>
        </p:spPr>
        <p:txBody>
          <a:bodyPr wrap="square" lIns="0" tIns="0" rIns="0" bIns="0" rtlCol="0" anchor="ctr"/>
          <a:lstStyle/>
          <a:p>
            <a:pPr>
              <a:lnSpc>
                <a:spcPct val="120000"/>
              </a:lnSpc>
            </a:pPr>
            <a:r>
              <a:rPr lang="en-US" sz="1263" b="1" dirty="0">
                <a:solidFill>
                  <a:srgbClr val="E0E2E4"/>
                </a:solidFill>
                <a:latin typeface="MiSans" pitchFamily="34" charset="0"/>
                <a:ea typeface="MiSans" pitchFamily="34" charset="-122"/>
                <a:cs typeface="MiSans" pitchFamily="34" charset="-120"/>
              </a:rPr>
              <a:t>卷加密:</a:t>
            </a:r>
            <a:r>
              <a:rPr lang="en-US" sz="1263" dirty="0">
                <a:solidFill>
                  <a:srgbClr val="E0E2E4">
                    <a:alpha val="80000"/>
                  </a:srgbClr>
                </a:solidFill>
                <a:latin typeface="MiSans" pitchFamily="34" charset="0"/>
                <a:ea typeface="MiSans" pitchFamily="34" charset="-122"/>
                <a:cs typeface="MiSans" pitchFamily="34" charset="-120"/>
              </a:rPr>
              <a:t> 存储级加密保护数据安全</a:t>
            </a:r>
            <a:endParaRPr lang="en-US" sz="1600" dirty="0"/>
          </a:p>
        </p:txBody>
      </p:sp>
      <p:sp>
        <p:nvSpPr>
          <p:cNvPr id="71" name="Shape 69"/>
          <p:cNvSpPr/>
          <p:nvPr/>
        </p:nvSpPr>
        <p:spPr>
          <a:xfrm>
            <a:off x="10935425" y="8160201"/>
            <a:ext cx="180431" cy="160383"/>
          </a:xfrm>
          <a:custGeom>
            <a:avLst/>
            <a:gdLst/>
            <a:ahLst/>
            <a:cxnLst/>
            <a:rect l="l" t="t" r="r" b="b"/>
            <a:pathLst>
              <a:path w="180431" h="160383">
                <a:moveTo>
                  <a:pt x="90216" y="20048"/>
                </a:moveTo>
                <a:cubicBezTo>
                  <a:pt x="123420" y="20048"/>
                  <a:pt x="150359" y="46987"/>
                  <a:pt x="150359" y="80192"/>
                </a:cubicBezTo>
                <a:cubicBezTo>
                  <a:pt x="150359" y="113396"/>
                  <a:pt x="123420" y="140335"/>
                  <a:pt x="90216" y="140335"/>
                </a:cubicBezTo>
                <a:cubicBezTo>
                  <a:pt x="69792" y="140335"/>
                  <a:pt x="51717" y="130155"/>
                  <a:pt x="40848" y="114555"/>
                </a:cubicBezTo>
                <a:cubicBezTo>
                  <a:pt x="37684" y="110013"/>
                  <a:pt x="31419" y="108917"/>
                  <a:pt x="26877" y="112080"/>
                </a:cubicBezTo>
                <a:cubicBezTo>
                  <a:pt x="22335" y="115244"/>
                  <a:pt x="21238" y="121509"/>
                  <a:pt x="24402" y="126051"/>
                </a:cubicBezTo>
                <a:cubicBezTo>
                  <a:pt x="38874" y="146788"/>
                  <a:pt x="62963" y="160383"/>
                  <a:pt x="90216" y="160383"/>
                </a:cubicBezTo>
                <a:cubicBezTo>
                  <a:pt x="134509" y="160383"/>
                  <a:pt x="170407" y="124485"/>
                  <a:pt x="170407" y="80192"/>
                </a:cubicBezTo>
                <a:cubicBezTo>
                  <a:pt x="170407" y="35898"/>
                  <a:pt x="134509" y="0"/>
                  <a:pt x="90216" y="0"/>
                </a:cubicBezTo>
                <a:cubicBezTo>
                  <a:pt x="63370" y="0"/>
                  <a:pt x="39626" y="13188"/>
                  <a:pt x="25060" y="33424"/>
                </a:cubicBezTo>
                <a:lnTo>
                  <a:pt x="25060" y="25060"/>
                </a:lnTo>
                <a:cubicBezTo>
                  <a:pt x="25060" y="19515"/>
                  <a:pt x="20580" y="15036"/>
                  <a:pt x="15036" y="15036"/>
                </a:cubicBezTo>
                <a:cubicBezTo>
                  <a:pt x="9491" y="15036"/>
                  <a:pt x="5012" y="19515"/>
                  <a:pt x="5012" y="25060"/>
                </a:cubicBezTo>
                <a:lnTo>
                  <a:pt x="5012" y="60144"/>
                </a:lnTo>
                <a:cubicBezTo>
                  <a:pt x="5012" y="65688"/>
                  <a:pt x="9491" y="70168"/>
                  <a:pt x="15036" y="70168"/>
                </a:cubicBezTo>
                <a:lnTo>
                  <a:pt x="22742" y="70168"/>
                </a:lnTo>
                <a:cubicBezTo>
                  <a:pt x="22898" y="70168"/>
                  <a:pt x="23055" y="70168"/>
                  <a:pt x="23212" y="70168"/>
                </a:cubicBezTo>
                <a:lnTo>
                  <a:pt x="50151" y="70168"/>
                </a:lnTo>
                <a:cubicBezTo>
                  <a:pt x="55696" y="70168"/>
                  <a:pt x="60175" y="65688"/>
                  <a:pt x="60175" y="60144"/>
                </a:cubicBezTo>
                <a:cubicBezTo>
                  <a:pt x="60175" y="54599"/>
                  <a:pt x="55696" y="50120"/>
                  <a:pt x="50151" y="50120"/>
                </a:cubicBezTo>
                <a:lnTo>
                  <a:pt x="38154" y="50120"/>
                </a:lnTo>
                <a:cubicBezTo>
                  <a:pt x="48522" y="32139"/>
                  <a:pt x="67975" y="20048"/>
                  <a:pt x="90216" y="20048"/>
                </a:cubicBezTo>
                <a:close/>
                <a:moveTo>
                  <a:pt x="97734" y="47614"/>
                </a:moveTo>
                <a:cubicBezTo>
                  <a:pt x="97734" y="43448"/>
                  <a:pt x="94382" y="40096"/>
                  <a:pt x="90216" y="40096"/>
                </a:cubicBezTo>
                <a:cubicBezTo>
                  <a:pt x="86049" y="40096"/>
                  <a:pt x="82698" y="43448"/>
                  <a:pt x="82698" y="47614"/>
                </a:cubicBezTo>
                <a:lnTo>
                  <a:pt x="82698" y="80192"/>
                </a:lnTo>
                <a:cubicBezTo>
                  <a:pt x="82698" y="82196"/>
                  <a:pt x="83481" y="84107"/>
                  <a:pt x="84890" y="85517"/>
                </a:cubicBezTo>
                <a:lnTo>
                  <a:pt x="107444" y="108071"/>
                </a:lnTo>
                <a:cubicBezTo>
                  <a:pt x="110389" y="111015"/>
                  <a:pt x="115150" y="111015"/>
                  <a:pt x="118063" y="108071"/>
                </a:cubicBezTo>
                <a:cubicBezTo>
                  <a:pt x="120977" y="105126"/>
                  <a:pt x="121008" y="100365"/>
                  <a:pt x="118063" y="97452"/>
                </a:cubicBezTo>
                <a:lnTo>
                  <a:pt x="97702" y="77091"/>
                </a:lnTo>
                <a:lnTo>
                  <a:pt x="97702" y="47614"/>
                </a:lnTo>
                <a:close/>
              </a:path>
            </a:pathLst>
          </a:custGeom>
          <a:solidFill>
            <a:srgbClr val="B38B59"/>
          </a:solidFill>
          <a:ln/>
        </p:spPr>
        <p:txBody>
          <a:bodyPr/>
          <a:lstStyle/>
          <a:p>
            <a:endParaRPr lang="zh-CN" altLang="en-US"/>
          </a:p>
        </p:txBody>
      </p:sp>
      <p:sp>
        <p:nvSpPr>
          <p:cNvPr id="72" name="Text 70"/>
          <p:cNvSpPr/>
          <p:nvPr/>
        </p:nvSpPr>
        <p:spPr>
          <a:xfrm>
            <a:off x="11214664" y="8114377"/>
            <a:ext cx="2405751" cy="229119"/>
          </a:xfrm>
          <a:prstGeom prst="rect">
            <a:avLst/>
          </a:prstGeom>
          <a:noFill/>
          <a:ln/>
        </p:spPr>
        <p:txBody>
          <a:bodyPr wrap="square" lIns="0" tIns="0" rIns="0" bIns="0" rtlCol="0" anchor="ctr"/>
          <a:lstStyle/>
          <a:p>
            <a:pPr>
              <a:lnSpc>
                <a:spcPct val="120000"/>
              </a:lnSpc>
            </a:pPr>
            <a:r>
              <a:rPr lang="en-US" sz="1263" b="1" dirty="0">
                <a:solidFill>
                  <a:srgbClr val="E0E2E4"/>
                </a:solidFill>
                <a:latin typeface="MiSans" pitchFamily="34" charset="0"/>
                <a:ea typeface="MiSans" pitchFamily="34" charset="-122"/>
                <a:cs typeface="MiSans" pitchFamily="34" charset="-120"/>
              </a:rPr>
              <a:t>快照备份:</a:t>
            </a:r>
            <a:r>
              <a:rPr lang="en-US" sz="1263" dirty="0">
                <a:solidFill>
                  <a:srgbClr val="E0E2E4">
                    <a:alpha val="80000"/>
                  </a:srgbClr>
                </a:solidFill>
                <a:latin typeface="MiSans" pitchFamily="34" charset="0"/>
                <a:ea typeface="MiSans" pitchFamily="34" charset="-122"/>
                <a:cs typeface="MiSans" pitchFamily="34" charset="-120"/>
              </a:rPr>
              <a:t> 支持卷快照和备份恢复</a:t>
            </a:r>
            <a:endParaRPr lang="en-US" sz="1600" dirty="0"/>
          </a:p>
        </p:txBody>
      </p:sp>
      <p:sp>
        <p:nvSpPr>
          <p:cNvPr id="73" name="Shape 71"/>
          <p:cNvSpPr/>
          <p:nvPr/>
        </p:nvSpPr>
        <p:spPr>
          <a:xfrm>
            <a:off x="10945449" y="8458056"/>
            <a:ext cx="160383" cy="160383"/>
          </a:xfrm>
          <a:custGeom>
            <a:avLst/>
            <a:gdLst/>
            <a:ahLst/>
            <a:cxnLst/>
            <a:rect l="l" t="t" r="r" b="b"/>
            <a:pathLst>
              <a:path w="160383" h="160383">
                <a:moveTo>
                  <a:pt x="47708" y="18795"/>
                </a:moveTo>
                <a:cubicBezTo>
                  <a:pt x="62180" y="-6265"/>
                  <a:pt x="98360" y="-6265"/>
                  <a:pt x="112832" y="18795"/>
                </a:cubicBezTo>
                <a:lnTo>
                  <a:pt x="124516" y="39031"/>
                </a:lnTo>
                <a:lnTo>
                  <a:pt x="133193" y="34019"/>
                </a:lnTo>
                <a:cubicBezTo>
                  <a:pt x="135825" y="32484"/>
                  <a:pt x="139114" y="32703"/>
                  <a:pt x="141526" y="34551"/>
                </a:cubicBezTo>
                <a:cubicBezTo>
                  <a:pt x="143938" y="36400"/>
                  <a:pt x="145003" y="39532"/>
                  <a:pt x="144220" y="42477"/>
                </a:cubicBezTo>
                <a:lnTo>
                  <a:pt x="136858" y="69854"/>
                </a:lnTo>
                <a:cubicBezTo>
                  <a:pt x="135793" y="73864"/>
                  <a:pt x="131658" y="76245"/>
                  <a:pt x="127649" y="75180"/>
                </a:cubicBezTo>
                <a:lnTo>
                  <a:pt x="100271" y="67850"/>
                </a:lnTo>
                <a:cubicBezTo>
                  <a:pt x="97326" y="67067"/>
                  <a:pt x="95165" y="64592"/>
                  <a:pt x="94758" y="61585"/>
                </a:cubicBezTo>
                <a:cubicBezTo>
                  <a:pt x="94351" y="58578"/>
                  <a:pt x="95823" y="55602"/>
                  <a:pt x="98454" y="54098"/>
                </a:cubicBezTo>
                <a:lnTo>
                  <a:pt x="107131" y="49086"/>
                </a:lnTo>
                <a:lnTo>
                  <a:pt x="95447" y="28850"/>
                </a:lnTo>
                <a:cubicBezTo>
                  <a:pt x="88681" y="17166"/>
                  <a:pt x="71828" y="17166"/>
                  <a:pt x="65062" y="28850"/>
                </a:cubicBezTo>
                <a:lnTo>
                  <a:pt x="63402" y="31701"/>
                </a:lnTo>
                <a:cubicBezTo>
                  <a:pt x="60645" y="36493"/>
                  <a:pt x="54505" y="38122"/>
                  <a:pt x="49713" y="35366"/>
                </a:cubicBezTo>
                <a:cubicBezTo>
                  <a:pt x="44920" y="32609"/>
                  <a:pt x="43291" y="26470"/>
                  <a:pt x="46048" y="21645"/>
                </a:cubicBezTo>
                <a:lnTo>
                  <a:pt x="47708" y="18795"/>
                </a:lnTo>
                <a:close/>
                <a:moveTo>
                  <a:pt x="140868" y="87428"/>
                </a:moveTo>
                <a:cubicBezTo>
                  <a:pt x="145661" y="84671"/>
                  <a:pt x="151800" y="86300"/>
                  <a:pt x="154557" y="91093"/>
                </a:cubicBezTo>
                <a:lnTo>
                  <a:pt x="156217" y="93943"/>
                </a:lnTo>
                <a:cubicBezTo>
                  <a:pt x="170689" y="119003"/>
                  <a:pt x="152615" y="150328"/>
                  <a:pt x="123671" y="150328"/>
                </a:cubicBezTo>
                <a:lnTo>
                  <a:pt x="100302" y="150328"/>
                </a:lnTo>
                <a:lnTo>
                  <a:pt x="100302" y="160352"/>
                </a:lnTo>
                <a:cubicBezTo>
                  <a:pt x="100302" y="163391"/>
                  <a:pt x="98485" y="166147"/>
                  <a:pt x="95666" y="167306"/>
                </a:cubicBezTo>
                <a:cubicBezTo>
                  <a:pt x="92847" y="168465"/>
                  <a:pt x="89620" y="167839"/>
                  <a:pt x="87459" y="165677"/>
                </a:cubicBezTo>
                <a:lnTo>
                  <a:pt x="67411" y="145629"/>
                </a:lnTo>
                <a:cubicBezTo>
                  <a:pt x="64467" y="142685"/>
                  <a:pt x="64467" y="137923"/>
                  <a:pt x="67411" y="135010"/>
                </a:cubicBezTo>
                <a:lnTo>
                  <a:pt x="87459" y="114962"/>
                </a:lnTo>
                <a:cubicBezTo>
                  <a:pt x="89620" y="112801"/>
                  <a:pt x="92847" y="112174"/>
                  <a:pt x="95666" y="113333"/>
                </a:cubicBezTo>
                <a:cubicBezTo>
                  <a:pt x="98485" y="114492"/>
                  <a:pt x="100302" y="117249"/>
                  <a:pt x="100302" y="120288"/>
                </a:cubicBezTo>
                <a:lnTo>
                  <a:pt x="100302" y="130311"/>
                </a:lnTo>
                <a:lnTo>
                  <a:pt x="123671" y="130311"/>
                </a:lnTo>
                <a:cubicBezTo>
                  <a:pt x="137172" y="130311"/>
                  <a:pt x="145629" y="115683"/>
                  <a:pt x="138863" y="103999"/>
                </a:cubicBezTo>
                <a:lnTo>
                  <a:pt x="137203" y="101148"/>
                </a:lnTo>
                <a:cubicBezTo>
                  <a:pt x="134446" y="96355"/>
                  <a:pt x="136075" y="90216"/>
                  <a:pt x="140868" y="87459"/>
                </a:cubicBezTo>
                <a:close/>
                <a:moveTo>
                  <a:pt x="15976" y="73739"/>
                </a:moveTo>
                <a:lnTo>
                  <a:pt x="7299" y="68727"/>
                </a:lnTo>
                <a:cubicBezTo>
                  <a:pt x="4667" y="67192"/>
                  <a:pt x="3195" y="64247"/>
                  <a:pt x="3602" y="61240"/>
                </a:cubicBezTo>
                <a:cubicBezTo>
                  <a:pt x="4010" y="58233"/>
                  <a:pt x="6171" y="55758"/>
                  <a:pt x="9116" y="54975"/>
                </a:cubicBezTo>
                <a:lnTo>
                  <a:pt x="36493" y="47614"/>
                </a:lnTo>
                <a:cubicBezTo>
                  <a:pt x="40503" y="46549"/>
                  <a:pt x="44638" y="48929"/>
                  <a:pt x="45703" y="52939"/>
                </a:cubicBezTo>
                <a:lnTo>
                  <a:pt x="53033" y="80317"/>
                </a:lnTo>
                <a:cubicBezTo>
                  <a:pt x="53816" y="83262"/>
                  <a:pt x="52751" y="86363"/>
                  <a:pt x="50339" y="88242"/>
                </a:cubicBezTo>
                <a:cubicBezTo>
                  <a:pt x="47927" y="90122"/>
                  <a:pt x="44638" y="90310"/>
                  <a:pt x="42007" y="88775"/>
                </a:cubicBezTo>
                <a:lnTo>
                  <a:pt x="33330" y="83763"/>
                </a:lnTo>
                <a:lnTo>
                  <a:pt x="21645" y="103999"/>
                </a:lnTo>
                <a:cubicBezTo>
                  <a:pt x="14879" y="115683"/>
                  <a:pt x="23337" y="130311"/>
                  <a:pt x="36838" y="130311"/>
                </a:cubicBezTo>
                <a:lnTo>
                  <a:pt x="40158" y="130311"/>
                </a:lnTo>
                <a:cubicBezTo>
                  <a:pt x="45703" y="130311"/>
                  <a:pt x="50182" y="134791"/>
                  <a:pt x="50182" y="140335"/>
                </a:cubicBezTo>
                <a:cubicBezTo>
                  <a:pt x="50182" y="145880"/>
                  <a:pt x="45703" y="150359"/>
                  <a:pt x="40158" y="150359"/>
                </a:cubicBezTo>
                <a:lnTo>
                  <a:pt x="36838" y="150359"/>
                </a:lnTo>
                <a:cubicBezTo>
                  <a:pt x="7925" y="150359"/>
                  <a:pt x="-10149" y="119035"/>
                  <a:pt x="4323" y="93975"/>
                </a:cubicBezTo>
                <a:lnTo>
                  <a:pt x="15976" y="73739"/>
                </a:lnTo>
                <a:close/>
              </a:path>
            </a:pathLst>
          </a:custGeom>
          <a:solidFill>
            <a:srgbClr val="B38B59"/>
          </a:solidFill>
          <a:ln/>
        </p:spPr>
        <p:txBody>
          <a:bodyPr/>
          <a:lstStyle/>
          <a:p>
            <a:endParaRPr lang="zh-CN" altLang="en-US"/>
          </a:p>
        </p:txBody>
      </p:sp>
      <p:sp>
        <p:nvSpPr>
          <p:cNvPr id="74" name="Text 72"/>
          <p:cNvSpPr/>
          <p:nvPr/>
        </p:nvSpPr>
        <p:spPr>
          <a:xfrm>
            <a:off x="11214664" y="8412232"/>
            <a:ext cx="2772341" cy="229119"/>
          </a:xfrm>
          <a:prstGeom prst="rect">
            <a:avLst/>
          </a:prstGeom>
          <a:noFill/>
          <a:ln/>
        </p:spPr>
        <p:txBody>
          <a:bodyPr wrap="square" lIns="0" tIns="0" rIns="0" bIns="0" rtlCol="0" anchor="ctr"/>
          <a:lstStyle/>
          <a:p>
            <a:pPr>
              <a:lnSpc>
                <a:spcPct val="120000"/>
              </a:lnSpc>
            </a:pPr>
            <a:r>
              <a:rPr lang="en-US" sz="1263" b="1" dirty="0">
                <a:solidFill>
                  <a:srgbClr val="E0E2E4"/>
                </a:solidFill>
                <a:latin typeface="MiSans" pitchFamily="34" charset="0"/>
                <a:ea typeface="MiSans" pitchFamily="34" charset="-122"/>
                <a:cs typeface="MiSans" pitchFamily="34" charset="-120"/>
              </a:rPr>
              <a:t>回收策略:</a:t>
            </a:r>
            <a:r>
              <a:rPr lang="en-US" sz="1263" dirty="0">
                <a:solidFill>
                  <a:srgbClr val="E0E2E4">
                    <a:alpha val="80000"/>
                  </a:srgbClr>
                </a:solidFill>
                <a:latin typeface="MiSans" pitchFamily="34" charset="0"/>
                <a:ea typeface="MiSans" pitchFamily="34" charset="-122"/>
                <a:cs typeface="MiSans" pitchFamily="34" charset="-120"/>
              </a:rPr>
              <a:t> Retain/Delete/Recycle策略</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D21"/>
        </a:solidFill>
        <a:effectLst/>
      </p:bgPr>
    </p:bg>
    <p:spTree>
      <p:nvGrpSpPr>
        <p:cNvPr id="1" name=""/>
        <p:cNvGrpSpPr/>
        <p:nvPr/>
      </p:nvGrpSpPr>
      <p:grpSpPr>
        <a:xfrm>
          <a:off x="0" y="0"/>
          <a:ext cx="0" cy="0"/>
          <a:chOff x="0" y="0"/>
          <a:chExt cx="0" cy="0"/>
        </a:xfrm>
      </p:grpSpPr>
      <p:sp>
        <p:nvSpPr>
          <p:cNvPr id="6" name="Text 3"/>
          <p:cNvSpPr/>
          <p:nvPr/>
        </p:nvSpPr>
        <p:spPr>
          <a:xfrm>
            <a:off x="508000" y="4019550"/>
            <a:ext cx="15621000" cy="952500"/>
          </a:xfrm>
          <a:prstGeom prst="rect">
            <a:avLst/>
          </a:prstGeom>
          <a:noFill/>
          <a:ln/>
        </p:spPr>
        <p:txBody>
          <a:bodyPr wrap="square" lIns="0" tIns="0" rIns="0" bIns="0" rtlCol="0" anchor="ctr"/>
          <a:lstStyle/>
          <a:p>
            <a:pPr>
              <a:lnSpc>
                <a:spcPct val="100000"/>
              </a:lnSpc>
            </a:pPr>
            <a:r>
              <a:rPr lang="en-US" sz="6000" b="1" dirty="0">
                <a:solidFill>
                  <a:srgbClr val="E0E2E4"/>
                </a:solidFill>
                <a:latin typeface="MiSans" pitchFamily="34" charset="0"/>
                <a:ea typeface="MiSans" pitchFamily="34" charset="-122"/>
                <a:cs typeface="MiSans" pitchFamily="34" charset="-120"/>
              </a:rPr>
              <a:t>综合对比与技术选型</a:t>
            </a:r>
            <a:endParaRPr lang="en-US" sz="1600" dirty="0"/>
          </a:p>
        </p:txBody>
      </p:sp>
      <p:sp>
        <p:nvSpPr>
          <p:cNvPr id="7" name="Text 4"/>
          <p:cNvSpPr/>
          <p:nvPr/>
        </p:nvSpPr>
        <p:spPr>
          <a:xfrm>
            <a:off x="508000" y="5276850"/>
            <a:ext cx="15392400" cy="812800"/>
          </a:xfrm>
          <a:prstGeom prst="rect">
            <a:avLst/>
          </a:prstGeom>
          <a:noFill/>
          <a:ln/>
        </p:spPr>
        <p:txBody>
          <a:bodyPr wrap="square" lIns="0" tIns="0" rIns="0" bIns="0" rtlCol="0" anchor="ctr"/>
          <a:lstStyle/>
          <a:p>
            <a:pPr>
              <a:lnSpc>
                <a:spcPct val="110000"/>
              </a:lnSpc>
            </a:pPr>
            <a:r>
              <a:rPr lang="en-US" sz="2400" b="1" dirty="0">
                <a:solidFill>
                  <a:srgbClr val="B38B59"/>
                </a:solidFill>
                <a:latin typeface="MiSans" pitchFamily="34" charset="0"/>
                <a:ea typeface="MiSans" pitchFamily="34" charset="-122"/>
                <a:cs typeface="MiSans" pitchFamily="34" charset="-120"/>
              </a:rPr>
              <a:t>多维度对比分析</a:t>
            </a:r>
            <a:endParaRPr lang="en-US" sz="1600" dirty="0"/>
          </a:p>
          <a:p>
            <a:pPr>
              <a:lnSpc>
                <a:spcPct val="110000"/>
              </a:lnSpc>
            </a:pPr>
            <a:r>
              <a:rPr lang="en-US" sz="2400" b="1" dirty="0">
                <a:solidFill>
                  <a:srgbClr val="B38B59"/>
                </a:solidFill>
                <a:latin typeface="MiSans" pitchFamily="34" charset="0"/>
                <a:ea typeface="MiSans" pitchFamily="34" charset="-122"/>
                <a:cs typeface="MiSans" pitchFamily="34" charset="-120"/>
              </a:rPr>
              <a:t>为企业技术决策提供理论依据</a:t>
            </a:r>
            <a:endParaRPr lang="en-US" sz="1600" dirty="0"/>
          </a:p>
        </p:txBody>
      </p:sp>
      <p:sp>
        <p:nvSpPr>
          <p:cNvPr id="8" name="Shape 5"/>
          <p:cNvSpPr/>
          <p:nvPr/>
        </p:nvSpPr>
        <p:spPr>
          <a:xfrm>
            <a:off x="508000" y="6496050"/>
            <a:ext cx="2032000" cy="50800"/>
          </a:xfrm>
          <a:custGeom>
            <a:avLst/>
            <a:gdLst/>
            <a:ahLst/>
            <a:cxnLst/>
            <a:rect l="l" t="t" r="r" b="b"/>
            <a:pathLst>
              <a:path w="2032000" h="50800">
                <a:moveTo>
                  <a:pt x="0" y="0"/>
                </a:moveTo>
                <a:lnTo>
                  <a:pt x="2032000" y="0"/>
                </a:lnTo>
                <a:lnTo>
                  <a:pt x="2032000" y="50800"/>
                </a:lnTo>
                <a:lnTo>
                  <a:pt x="0" y="50800"/>
                </a:lnTo>
                <a:lnTo>
                  <a:pt x="0" y="0"/>
                </a:lnTo>
                <a:close/>
              </a:path>
            </a:pathLst>
          </a:custGeom>
          <a:gradFill flip="none" rotWithShape="1">
            <a:gsLst>
              <a:gs pos="0">
                <a:srgbClr val="3C8082"/>
              </a:gs>
              <a:gs pos="100000">
                <a:srgbClr val="B38B59"/>
              </a:gs>
            </a:gsLst>
            <a:lin ang="0" scaled="1"/>
          </a:gradFill>
          <a:ln/>
        </p:spPr>
        <p:txBody>
          <a:bodyPr/>
          <a:lstStyle/>
          <a:p>
            <a:endParaRPr lang="zh-CN" altLang="en-US"/>
          </a:p>
        </p:txBody>
      </p:sp>
      <p:sp>
        <p:nvSpPr>
          <p:cNvPr id="9" name="Shape 1">
            <a:extLst>
              <a:ext uri="{FF2B5EF4-FFF2-40B4-BE49-F238E27FC236}">
                <a16:creationId xmlns:a16="http://schemas.microsoft.com/office/drawing/2014/main" id="{26D28109-7761-E371-8C47-D3B134217ED8}"/>
              </a:ext>
            </a:extLst>
          </p:cNvPr>
          <p:cNvSpPr/>
          <p:nvPr/>
        </p:nvSpPr>
        <p:spPr>
          <a:xfrm>
            <a:off x="508000" y="2257425"/>
            <a:ext cx="1016000" cy="1016000"/>
          </a:xfrm>
          <a:custGeom>
            <a:avLst/>
            <a:gdLst/>
            <a:ahLst/>
            <a:cxnLst/>
            <a:rect l="l" t="t" r="r" b="b"/>
            <a:pathLst>
              <a:path w="1016000" h="1016000">
                <a:moveTo>
                  <a:pt x="152400" y="0"/>
                </a:moveTo>
                <a:lnTo>
                  <a:pt x="863600" y="0"/>
                </a:lnTo>
                <a:cubicBezTo>
                  <a:pt x="947712" y="0"/>
                  <a:pt x="1016000" y="68288"/>
                  <a:pt x="1016000" y="152400"/>
                </a:cubicBezTo>
                <a:lnTo>
                  <a:pt x="1016000" y="863600"/>
                </a:lnTo>
                <a:cubicBezTo>
                  <a:pt x="1016000" y="947712"/>
                  <a:pt x="947712" y="1016000"/>
                  <a:pt x="863600" y="1016000"/>
                </a:cubicBezTo>
                <a:lnTo>
                  <a:pt x="152400" y="1016000"/>
                </a:lnTo>
                <a:cubicBezTo>
                  <a:pt x="68288" y="1016000"/>
                  <a:pt x="0" y="947712"/>
                  <a:pt x="0" y="863600"/>
                </a:cubicBezTo>
                <a:lnTo>
                  <a:pt x="0" y="152400"/>
                </a:lnTo>
                <a:cubicBezTo>
                  <a:pt x="0" y="68288"/>
                  <a:pt x="68288" y="0"/>
                  <a:pt x="152400" y="0"/>
                </a:cubicBezTo>
                <a:close/>
              </a:path>
            </a:pathLst>
          </a:custGeom>
          <a:solidFill>
            <a:srgbClr val="3C8082"/>
          </a:solidFill>
          <a:ln/>
        </p:spPr>
        <p:txBody>
          <a:bodyPr anchor="ctr"/>
          <a:lstStyle/>
          <a:p>
            <a:pPr algn="ctr"/>
            <a:endParaRPr lang="zh-CN" altLang="en-US"/>
          </a:p>
        </p:txBody>
      </p:sp>
      <p:sp>
        <p:nvSpPr>
          <p:cNvPr id="10" name="Text 2">
            <a:extLst>
              <a:ext uri="{FF2B5EF4-FFF2-40B4-BE49-F238E27FC236}">
                <a16:creationId xmlns:a16="http://schemas.microsoft.com/office/drawing/2014/main" id="{5404DA2E-07EE-39F4-B121-A39BB6F5CF52}"/>
              </a:ext>
            </a:extLst>
          </p:cNvPr>
          <p:cNvSpPr/>
          <p:nvPr/>
        </p:nvSpPr>
        <p:spPr>
          <a:xfrm>
            <a:off x="547192" y="2330450"/>
            <a:ext cx="937617" cy="869950"/>
          </a:xfrm>
          <a:prstGeom prst="rect">
            <a:avLst/>
          </a:prstGeom>
          <a:noFill/>
          <a:ln/>
        </p:spPr>
        <p:txBody>
          <a:bodyPr wrap="square" lIns="0" tIns="0" rIns="0" bIns="0" rtlCol="0" anchor="b"/>
          <a:lstStyle/>
          <a:p>
            <a:pPr algn="ctr">
              <a:lnSpc>
                <a:spcPct val="80000"/>
              </a:lnSpc>
            </a:pPr>
            <a:r>
              <a:rPr lang="en-US" sz="4800" b="1" dirty="0">
                <a:solidFill>
                  <a:srgbClr val="FFFFFF"/>
                </a:solidFill>
                <a:latin typeface="Liter" pitchFamily="34" charset="0"/>
                <a:ea typeface="Liter" pitchFamily="34" charset="-122"/>
                <a:cs typeface="Liter" pitchFamily="34" charset="-120"/>
              </a:rPr>
              <a:t>0</a:t>
            </a:r>
            <a:r>
              <a:rPr lang="en-US" altLang="zh-CN" sz="4800" b="1" dirty="0">
                <a:solidFill>
                  <a:srgbClr val="FFFFFF"/>
                </a:solidFill>
                <a:latin typeface="Liter" pitchFamily="34" charset="0"/>
                <a:ea typeface="Liter" pitchFamily="34" charset="-122"/>
                <a:cs typeface="Liter" pitchFamily="34" charset="-120"/>
              </a:rPr>
              <a:t>5</a:t>
            </a:r>
            <a:endParaRPr lang="en-US" sz="1600"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465667"/>
            <a:ext cx="338667" cy="338667"/>
          </a:xfrm>
          <a:custGeom>
            <a:avLst/>
            <a:gdLst/>
            <a:ahLst/>
            <a:cxnLst/>
            <a:rect l="l" t="t" r="r" b="b"/>
            <a:pathLst>
              <a:path w="338667" h="338667">
                <a:moveTo>
                  <a:pt x="63500" y="0"/>
                </a:moveTo>
                <a:lnTo>
                  <a:pt x="275167" y="0"/>
                </a:lnTo>
                <a:cubicBezTo>
                  <a:pt x="310213" y="0"/>
                  <a:pt x="338667" y="28453"/>
                  <a:pt x="338667" y="63500"/>
                </a:cubicBezTo>
                <a:lnTo>
                  <a:pt x="338667" y="275167"/>
                </a:lnTo>
                <a:cubicBezTo>
                  <a:pt x="338667" y="310213"/>
                  <a:pt x="310213" y="338667"/>
                  <a:pt x="275167" y="338667"/>
                </a:cubicBezTo>
                <a:lnTo>
                  <a:pt x="63500" y="338667"/>
                </a:lnTo>
                <a:cubicBezTo>
                  <a:pt x="28453" y="338667"/>
                  <a:pt x="0" y="310213"/>
                  <a:pt x="0" y="275167"/>
                </a:cubicBezTo>
                <a:lnTo>
                  <a:pt x="0" y="63500"/>
                </a:lnTo>
                <a:cubicBezTo>
                  <a:pt x="0" y="28453"/>
                  <a:pt x="28453" y="0"/>
                  <a:pt x="63500" y="0"/>
                </a:cubicBezTo>
                <a:close/>
              </a:path>
            </a:pathLst>
          </a:custGeom>
          <a:solidFill>
            <a:srgbClr val="3C8082"/>
          </a:solidFill>
          <a:ln/>
        </p:spPr>
        <p:txBody>
          <a:bodyPr/>
          <a:lstStyle/>
          <a:p>
            <a:endParaRPr lang="zh-CN" altLang="en-US"/>
          </a:p>
        </p:txBody>
      </p:sp>
      <p:sp>
        <p:nvSpPr>
          <p:cNvPr id="3" name="Text 1"/>
          <p:cNvSpPr/>
          <p:nvPr/>
        </p:nvSpPr>
        <p:spPr>
          <a:xfrm>
            <a:off x="381000" y="465667"/>
            <a:ext cx="423333" cy="338667"/>
          </a:xfrm>
          <a:prstGeom prst="rect">
            <a:avLst/>
          </a:prstGeom>
          <a:noFill/>
          <a:ln/>
        </p:spPr>
        <p:txBody>
          <a:bodyPr wrap="square" lIns="0" tIns="0" rIns="0" bIns="0" rtlCol="0" anchor="ctr"/>
          <a:lstStyle/>
          <a:p>
            <a:pPr algn="ctr">
              <a:lnSpc>
                <a:spcPct val="130000"/>
              </a:lnSpc>
            </a:pPr>
            <a:r>
              <a:rPr lang="en-US" sz="1333" b="1" dirty="0">
                <a:solidFill>
                  <a:srgbClr val="FFFFFF"/>
                </a:solidFill>
                <a:latin typeface="Liter" pitchFamily="34" charset="0"/>
                <a:ea typeface="Liter" pitchFamily="34" charset="-122"/>
                <a:cs typeface="Liter" pitchFamily="34" charset="-120"/>
              </a:rPr>
              <a:t>19</a:t>
            </a:r>
            <a:endParaRPr lang="en-US" sz="1600" dirty="0"/>
          </a:p>
        </p:txBody>
      </p:sp>
      <p:sp>
        <p:nvSpPr>
          <p:cNvPr id="4" name="Text 2"/>
          <p:cNvSpPr/>
          <p:nvPr/>
        </p:nvSpPr>
        <p:spPr>
          <a:xfrm>
            <a:off x="889000" y="423333"/>
            <a:ext cx="6307667" cy="423333"/>
          </a:xfrm>
          <a:prstGeom prst="rect">
            <a:avLst/>
          </a:prstGeom>
          <a:noFill/>
          <a:ln/>
        </p:spPr>
        <p:txBody>
          <a:bodyPr wrap="square" lIns="0" tIns="0" rIns="0" bIns="0" rtlCol="0" anchor="ctr"/>
          <a:lstStyle/>
          <a:p>
            <a:pPr>
              <a:lnSpc>
                <a:spcPct val="90000"/>
              </a:lnSpc>
            </a:pPr>
            <a:r>
              <a:rPr lang="en-US" sz="3000" b="1" dirty="0">
                <a:solidFill>
                  <a:srgbClr val="E0E2E4"/>
                </a:solidFill>
                <a:latin typeface="MiSans" pitchFamily="34" charset="0"/>
                <a:ea typeface="MiSans" pitchFamily="34" charset="-122"/>
                <a:cs typeface="MiSans" pitchFamily="34" charset="-120"/>
              </a:rPr>
              <a:t>资源抽象模型对比:Container vs Pod</a:t>
            </a:r>
            <a:endParaRPr lang="en-US" sz="1600" dirty="0"/>
          </a:p>
        </p:txBody>
      </p:sp>
      <p:sp>
        <p:nvSpPr>
          <p:cNvPr id="5" name="Text 3"/>
          <p:cNvSpPr/>
          <p:nvPr/>
        </p:nvSpPr>
        <p:spPr>
          <a:xfrm>
            <a:off x="423333" y="931333"/>
            <a:ext cx="15504583" cy="296333"/>
          </a:xfrm>
          <a:prstGeom prst="rect">
            <a:avLst/>
          </a:prstGeom>
          <a:noFill/>
          <a:ln/>
        </p:spPr>
        <p:txBody>
          <a:bodyPr wrap="square" lIns="0" tIns="0" rIns="0" bIns="0" rtlCol="0" anchor="ctr"/>
          <a:lstStyle/>
          <a:p>
            <a:pPr>
              <a:lnSpc>
                <a:spcPct val="130000"/>
              </a:lnSpc>
            </a:pPr>
            <a:r>
              <a:rPr lang="en-US" sz="1500" b="1" dirty="0">
                <a:solidFill>
                  <a:srgbClr val="B38B59"/>
                </a:solidFill>
                <a:latin typeface="MiSans" pitchFamily="34" charset="0"/>
                <a:ea typeface="MiSans" pitchFamily="34" charset="-122"/>
                <a:cs typeface="MiSans" pitchFamily="34" charset="-120"/>
              </a:rPr>
              <a:t>设计理念、粒度、生命周期与可移植性的深度对比</a:t>
            </a:r>
            <a:endParaRPr lang="en-US" sz="1600" dirty="0"/>
          </a:p>
        </p:txBody>
      </p:sp>
      <p:sp>
        <p:nvSpPr>
          <p:cNvPr id="6" name="Shape 4"/>
          <p:cNvSpPr/>
          <p:nvPr/>
        </p:nvSpPr>
        <p:spPr>
          <a:xfrm>
            <a:off x="428625" y="1316564"/>
            <a:ext cx="7609417" cy="6244167"/>
          </a:xfrm>
          <a:custGeom>
            <a:avLst/>
            <a:gdLst/>
            <a:ahLst/>
            <a:cxnLst/>
            <a:rect l="l" t="t" r="r" b="b"/>
            <a:pathLst>
              <a:path w="7609417" h="7874000">
                <a:moveTo>
                  <a:pt x="84693" y="0"/>
                </a:moveTo>
                <a:lnTo>
                  <a:pt x="7524724" y="0"/>
                </a:lnTo>
                <a:cubicBezTo>
                  <a:pt x="7571498" y="0"/>
                  <a:pt x="7609417" y="37918"/>
                  <a:pt x="7609417" y="84693"/>
                </a:cubicBezTo>
                <a:lnTo>
                  <a:pt x="7609417" y="7789307"/>
                </a:lnTo>
                <a:cubicBezTo>
                  <a:pt x="7609417" y="7836082"/>
                  <a:pt x="7571498" y="7874000"/>
                  <a:pt x="7524724" y="7874000"/>
                </a:cubicBezTo>
                <a:lnTo>
                  <a:pt x="84693" y="7874000"/>
                </a:lnTo>
                <a:cubicBezTo>
                  <a:pt x="37918" y="7874000"/>
                  <a:pt x="0" y="7836082"/>
                  <a:pt x="0" y="7789307"/>
                </a:cubicBezTo>
                <a:lnTo>
                  <a:pt x="0" y="84693"/>
                </a:lnTo>
                <a:cubicBezTo>
                  <a:pt x="0" y="37918"/>
                  <a:pt x="37918" y="0"/>
                  <a:pt x="84693"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03250" y="1491189"/>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3C8082"/>
          </a:solidFill>
          <a:ln/>
        </p:spPr>
        <p:txBody>
          <a:bodyPr/>
          <a:lstStyle/>
          <a:p>
            <a:endParaRPr lang="zh-CN" altLang="en-US"/>
          </a:p>
        </p:txBody>
      </p:sp>
      <p:sp>
        <p:nvSpPr>
          <p:cNvPr id="8" name="Shape 6"/>
          <p:cNvSpPr/>
          <p:nvPr/>
        </p:nvSpPr>
        <p:spPr>
          <a:xfrm>
            <a:off x="730250" y="1618189"/>
            <a:ext cx="254000" cy="254000"/>
          </a:xfrm>
          <a:custGeom>
            <a:avLst/>
            <a:gdLst/>
            <a:ahLst/>
            <a:cxnLst/>
            <a:rect l="l" t="t" r="r" b="b"/>
            <a:pathLst>
              <a:path w="254000" h="254000">
                <a:moveTo>
                  <a:pt x="111274" y="-1240"/>
                </a:moveTo>
                <a:cubicBezTo>
                  <a:pt x="121096" y="-6896"/>
                  <a:pt x="133201" y="-6896"/>
                  <a:pt x="143024" y="-1240"/>
                </a:cubicBezTo>
                <a:lnTo>
                  <a:pt x="230287" y="49113"/>
                </a:lnTo>
                <a:cubicBezTo>
                  <a:pt x="240109" y="54769"/>
                  <a:pt x="246162" y="65286"/>
                  <a:pt x="246162" y="76597"/>
                </a:cubicBezTo>
                <a:lnTo>
                  <a:pt x="246162" y="177304"/>
                </a:lnTo>
                <a:cubicBezTo>
                  <a:pt x="246162" y="188664"/>
                  <a:pt x="240109" y="199132"/>
                  <a:pt x="230287" y="204787"/>
                </a:cubicBezTo>
                <a:lnTo>
                  <a:pt x="143024" y="255240"/>
                </a:lnTo>
                <a:cubicBezTo>
                  <a:pt x="133201" y="260896"/>
                  <a:pt x="121096" y="260896"/>
                  <a:pt x="111274" y="255240"/>
                </a:cubicBezTo>
                <a:lnTo>
                  <a:pt x="24061" y="204887"/>
                </a:lnTo>
                <a:cubicBezTo>
                  <a:pt x="14238" y="199231"/>
                  <a:pt x="8186" y="188714"/>
                  <a:pt x="8186" y="177403"/>
                </a:cubicBezTo>
                <a:lnTo>
                  <a:pt x="8186" y="76696"/>
                </a:lnTo>
                <a:cubicBezTo>
                  <a:pt x="8186" y="65336"/>
                  <a:pt x="14238" y="54868"/>
                  <a:pt x="24061" y="49213"/>
                </a:cubicBezTo>
                <a:lnTo>
                  <a:pt x="111274" y="-1240"/>
                </a:lnTo>
                <a:close/>
                <a:moveTo>
                  <a:pt x="214362" y="177354"/>
                </a:moveTo>
                <a:lnTo>
                  <a:pt x="214362" y="94952"/>
                </a:lnTo>
                <a:lnTo>
                  <a:pt x="143024" y="136128"/>
                </a:lnTo>
                <a:lnTo>
                  <a:pt x="143024" y="218529"/>
                </a:lnTo>
                <a:lnTo>
                  <a:pt x="214362" y="177354"/>
                </a:lnTo>
                <a:close/>
              </a:path>
            </a:pathLst>
          </a:custGeom>
          <a:solidFill>
            <a:srgbClr val="FFFFFF"/>
          </a:solidFill>
          <a:ln/>
        </p:spPr>
        <p:txBody>
          <a:bodyPr/>
          <a:lstStyle/>
          <a:p>
            <a:endParaRPr lang="zh-CN" altLang="en-US"/>
          </a:p>
        </p:txBody>
      </p:sp>
      <p:sp>
        <p:nvSpPr>
          <p:cNvPr id="9" name="Text 7"/>
          <p:cNvSpPr/>
          <p:nvPr/>
        </p:nvSpPr>
        <p:spPr>
          <a:xfrm>
            <a:off x="1238250" y="1575855"/>
            <a:ext cx="2010833" cy="338667"/>
          </a:xfrm>
          <a:prstGeom prst="rect">
            <a:avLst/>
          </a:prstGeom>
          <a:noFill/>
          <a:ln/>
        </p:spPr>
        <p:txBody>
          <a:bodyPr wrap="square" lIns="0" tIns="0" rIns="0" bIns="0" rtlCol="0" anchor="ctr"/>
          <a:lstStyle/>
          <a:p>
            <a:pPr>
              <a:lnSpc>
                <a:spcPct val="110000"/>
              </a:lnSpc>
            </a:pPr>
            <a:r>
              <a:rPr lang="en-US" sz="2000" b="1" dirty="0">
                <a:solidFill>
                  <a:srgbClr val="E0E2E4"/>
                </a:solidFill>
                <a:latin typeface="MiSans" pitchFamily="34" charset="0"/>
                <a:ea typeface="MiSans" pitchFamily="34" charset="-122"/>
                <a:cs typeface="MiSans" pitchFamily="34" charset="-120"/>
              </a:rPr>
              <a:t>YARN Container</a:t>
            </a:r>
            <a:endParaRPr lang="en-US" sz="1600" dirty="0"/>
          </a:p>
        </p:txBody>
      </p:sp>
      <p:sp>
        <p:nvSpPr>
          <p:cNvPr id="10" name="Shape 8"/>
          <p:cNvSpPr/>
          <p:nvPr/>
        </p:nvSpPr>
        <p:spPr>
          <a:xfrm>
            <a:off x="603250" y="2126189"/>
            <a:ext cx="7260167" cy="1121833"/>
          </a:xfrm>
          <a:custGeom>
            <a:avLst/>
            <a:gdLst/>
            <a:ahLst/>
            <a:cxnLst/>
            <a:rect l="l" t="t" r="r" b="b"/>
            <a:pathLst>
              <a:path w="7260167" h="1121833">
                <a:moveTo>
                  <a:pt x="84665" y="0"/>
                </a:moveTo>
                <a:lnTo>
                  <a:pt x="7175502" y="0"/>
                </a:lnTo>
                <a:cubicBezTo>
                  <a:pt x="7222261" y="0"/>
                  <a:pt x="7260167" y="37906"/>
                  <a:pt x="7260167" y="84665"/>
                </a:cubicBezTo>
                <a:lnTo>
                  <a:pt x="7260167" y="1037169"/>
                </a:lnTo>
                <a:cubicBezTo>
                  <a:pt x="7260167" y="1083928"/>
                  <a:pt x="7222261" y="1121833"/>
                  <a:pt x="7175502" y="1121833"/>
                </a:cubicBezTo>
                <a:lnTo>
                  <a:pt x="84665" y="1121833"/>
                </a:lnTo>
                <a:cubicBezTo>
                  <a:pt x="37906" y="1121833"/>
                  <a:pt x="0" y="1083928"/>
                  <a:pt x="0" y="1037169"/>
                </a:cubicBezTo>
                <a:lnTo>
                  <a:pt x="0" y="84665"/>
                </a:lnTo>
                <a:cubicBezTo>
                  <a:pt x="0" y="37906"/>
                  <a:pt x="37906" y="0"/>
                  <a:pt x="84665" y="0"/>
                </a:cubicBezTo>
                <a:close/>
              </a:path>
            </a:pathLst>
          </a:custGeom>
          <a:solidFill>
            <a:srgbClr val="1A1D21">
              <a:alpha val="50196"/>
            </a:srgbClr>
          </a:solidFill>
          <a:ln/>
        </p:spPr>
        <p:txBody>
          <a:bodyPr/>
          <a:lstStyle/>
          <a:p>
            <a:endParaRPr lang="zh-CN" altLang="en-US"/>
          </a:p>
        </p:txBody>
      </p:sp>
      <p:sp>
        <p:nvSpPr>
          <p:cNvPr id="11" name="Text 9"/>
          <p:cNvSpPr/>
          <p:nvPr/>
        </p:nvSpPr>
        <p:spPr>
          <a:xfrm>
            <a:off x="730250" y="2253189"/>
            <a:ext cx="7101417" cy="296333"/>
          </a:xfrm>
          <a:prstGeom prst="rect">
            <a:avLst/>
          </a:prstGeom>
          <a:noFill/>
          <a:ln/>
        </p:spPr>
        <p:txBody>
          <a:bodyPr wrap="square" lIns="0" tIns="0" rIns="0" bIns="0" rtlCol="0" anchor="ctr"/>
          <a:lstStyle/>
          <a:p>
            <a:pPr>
              <a:lnSpc>
                <a:spcPct val="130000"/>
              </a:lnSpc>
            </a:pPr>
            <a:r>
              <a:rPr lang="en-US" sz="1500" b="1" dirty="0">
                <a:solidFill>
                  <a:srgbClr val="B38B59"/>
                </a:solidFill>
                <a:latin typeface="MiSans" pitchFamily="34" charset="0"/>
                <a:ea typeface="MiSans" pitchFamily="34" charset="-122"/>
                <a:cs typeface="MiSans" pitchFamily="34" charset="-120"/>
              </a:rPr>
              <a:t>设计粒度</a:t>
            </a:r>
            <a:endParaRPr lang="en-US" sz="1600" dirty="0"/>
          </a:p>
        </p:txBody>
      </p:sp>
      <p:sp>
        <p:nvSpPr>
          <p:cNvPr id="12" name="Text 10"/>
          <p:cNvSpPr/>
          <p:nvPr/>
        </p:nvSpPr>
        <p:spPr>
          <a:xfrm>
            <a:off x="730250" y="2634189"/>
            <a:ext cx="7080250" cy="486833"/>
          </a:xfrm>
          <a:prstGeom prst="rect">
            <a:avLst/>
          </a:prstGeom>
          <a:noFill/>
          <a:ln/>
        </p:spPr>
        <p:txBody>
          <a:bodyPr wrap="square" lIns="0" tIns="0" rIns="0" bIns="0" rtlCol="0" anchor="ctr"/>
          <a:lstStyle/>
          <a:p>
            <a:pPr>
              <a:lnSpc>
                <a:spcPct val="140000"/>
              </a:lnSpc>
            </a:pPr>
            <a:r>
              <a:rPr lang="en-US" sz="1167" dirty="0">
                <a:solidFill>
                  <a:srgbClr val="E0E2E4">
                    <a:alpha val="80000"/>
                  </a:srgbClr>
                </a:solidFill>
                <a:latin typeface="MiSans" pitchFamily="34" charset="0"/>
                <a:ea typeface="MiSans" pitchFamily="34" charset="-122"/>
                <a:cs typeface="MiSans" pitchFamily="34" charset="-120"/>
              </a:rPr>
              <a:t>中等粒度抽象,介于虚拟机和进程之间。每个Container对应一个独立的执行单元,主要运行单一应用程序或服务,适合大数据批处理作业的隔离需求。</a:t>
            </a:r>
            <a:endParaRPr lang="en-US" sz="1600" dirty="0"/>
          </a:p>
        </p:txBody>
      </p:sp>
      <p:sp>
        <p:nvSpPr>
          <p:cNvPr id="13" name="Shape 11"/>
          <p:cNvSpPr/>
          <p:nvPr/>
        </p:nvSpPr>
        <p:spPr>
          <a:xfrm>
            <a:off x="603250" y="3327397"/>
            <a:ext cx="7260167" cy="1354667"/>
          </a:xfrm>
          <a:custGeom>
            <a:avLst/>
            <a:gdLst/>
            <a:ahLst/>
            <a:cxnLst/>
            <a:rect l="l" t="t" r="r" b="b"/>
            <a:pathLst>
              <a:path w="7260167" h="1354667">
                <a:moveTo>
                  <a:pt x="84667" y="0"/>
                </a:moveTo>
                <a:lnTo>
                  <a:pt x="7175500" y="0"/>
                </a:lnTo>
                <a:cubicBezTo>
                  <a:pt x="7222260" y="0"/>
                  <a:pt x="7260167" y="37907"/>
                  <a:pt x="7260167" y="84667"/>
                </a:cubicBezTo>
                <a:lnTo>
                  <a:pt x="7260167" y="1270000"/>
                </a:lnTo>
                <a:cubicBezTo>
                  <a:pt x="7260167" y="1316760"/>
                  <a:pt x="7222260" y="1354667"/>
                  <a:pt x="7175500" y="1354667"/>
                </a:cubicBezTo>
                <a:lnTo>
                  <a:pt x="84667" y="1354667"/>
                </a:lnTo>
                <a:cubicBezTo>
                  <a:pt x="37907" y="1354667"/>
                  <a:pt x="0" y="1316760"/>
                  <a:pt x="0" y="1270000"/>
                </a:cubicBezTo>
                <a:lnTo>
                  <a:pt x="0" y="84667"/>
                </a:lnTo>
                <a:cubicBezTo>
                  <a:pt x="0" y="37907"/>
                  <a:pt x="37907" y="0"/>
                  <a:pt x="84667" y="0"/>
                </a:cubicBezTo>
                <a:close/>
              </a:path>
            </a:pathLst>
          </a:custGeom>
          <a:solidFill>
            <a:srgbClr val="1A1D21">
              <a:alpha val="50196"/>
            </a:srgbClr>
          </a:solidFill>
          <a:ln/>
        </p:spPr>
        <p:txBody>
          <a:bodyPr/>
          <a:lstStyle/>
          <a:p>
            <a:endParaRPr lang="zh-CN" altLang="en-US"/>
          </a:p>
        </p:txBody>
      </p:sp>
      <p:sp>
        <p:nvSpPr>
          <p:cNvPr id="14" name="Text 12"/>
          <p:cNvSpPr/>
          <p:nvPr/>
        </p:nvSpPr>
        <p:spPr>
          <a:xfrm>
            <a:off x="730250" y="3454397"/>
            <a:ext cx="7101417" cy="296333"/>
          </a:xfrm>
          <a:prstGeom prst="rect">
            <a:avLst/>
          </a:prstGeom>
          <a:noFill/>
          <a:ln/>
        </p:spPr>
        <p:txBody>
          <a:bodyPr wrap="square" lIns="0" tIns="0" rIns="0" bIns="0" rtlCol="0" anchor="ctr"/>
          <a:lstStyle/>
          <a:p>
            <a:pPr>
              <a:lnSpc>
                <a:spcPct val="130000"/>
              </a:lnSpc>
            </a:pPr>
            <a:r>
              <a:rPr lang="en-US" sz="1500" b="1" dirty="0">
                <a:solidFill>
                  <a:srgbClr val="B38B59"/>
                </a:solidFill>
                <a:latin typeface="MiSans" pitchFamily="34" charset="0"/>
                <a:ea typeface="MiSans" pitchFamily="34" charset="-122"/>
                <a:cs typeface="MiSans" pitchFamily="34" charset="-120"/>
              </a:rPr>
              <a:t>资源描述</a:t>
            </a:r>
            <a:endParaRPr lang="en-US" sz="1600" dirty="0"/>
          </a:p>
        </p:txBody>
      </p:sp>
      <p:sp>
        <p:nvSpPr>
          <p:cNvPr id="15" name="Text 13"/>
          <p:cNvSpPr/>
          <p:nvPr/>
        </p:nvSpPr>
        <p:spPr>
          <a:xfrm>
            <a:off x="730250" y="3835397"/>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静态配置:</a:t>
            </a:r>
            <a:r>
              <a:rPr lang="en-US" sz="1167" dirty="0">
                <a:solidFill>
                  <a:srgbClr val="E0E2E4">
                    <a:alpha val="80000"/>
                  </a:srgbClr>
                </a:solidFill>
                <a:latin typeface="MiSans" pitchFamily="34" charset="0"/>
                <a:ea typeface="MiSans" pitchFamily="34" charset="-122"/>
                <a:cs typeface="MiSans" pitchFamily="34" charset="-120"/>
              </a:rPr>
              <a:t> 通过Resource对象定义资源需求</a:t>
            </a:r>
            <a:endParaRPr lang="en-US" sz="1600" dirty="0"/>
          </a:p>
        </p:txBody>
      </p:sp>
      <p:sp>
        <p:nvSpPr>
          <p:cNvPr id="16" name="Text 14"/>
          <p:cNvSpPr/>
          <p:nvPr/>
        </p:nvSpPr>
        <p:spPr>
          <a:xfrm>
            <a:off x="730250" y="4089397"/>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集中管理:</a:t>
            </a:r>
            <a:r>
              <a:rPr lang="en-US" sz="1167" dirty="0">
                <a:solidFill>
                  <a:srgbClr val="E0E2E4">
                    <a:alpha val="80000"/>
                  </a:srgbClr>
                </a:solidFill>
                <a:latin typeface="MiSans" pitchFamily="34" charset="0"/>
                <a:ea typeface="MiSans" pitchFamily="34" charset="-122"/>
                <a:cs typeface="MiSans" pitchFamily="34" charset="-120"/>
              </a:rPr>
              <a:t> ResourceManager统一分配资源</a:t>
            </a:r>
            <a:endParaRPr lang="en-US" sz="1600" dirty="0"/>
          </a:p>
        </p:txBody>
      </p:sp>
      <p:sp>
        <p:nvSpPr>
          <p:cNvPr id="17" name="Text 15"/>
          <p:cNvSpPr/>
          <p:nvPr/>
        </p:nvSpPr>
        <p:spPr>
          <a:xfrm>
            <a:off x="730250" y="4343397"/>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物理资源:</a:t>
            </a:r>
            <a:r>
              <a:rPr lang="en-US" sz="1167" dirty="0">
                <a:solidFill>
                  <a:srgbClr val="E0E2E4">
                    <a:alpha val="80000"/>
                  </a:srgbClr>
                </a:solidFill>
                <a:latin typeface="MiSans" pitchFamily="34" charset="0"/>
                <a:ea typeface="MiSans" pitchFamily="34" charset="-122"/>
                <a:cs typeface="MiSans" pitchFamily="34" charset="-120"/>
              </a:rPr>
              <a:t> 主要关注CPU、内存、磁盘等物理资源</a:t>
            </a:r>
            <a:endParaRPr lang="en-US" sz="1600" dirty="0"/>
          </a:p>
        </p:txBody>
      </p:sp>
      <p:sp>
        <p:nvSpPr>
          <p:cNvPr id="18" name="Shape 16"/>
          <p:cNvSpPr/>
          <p:nvPr/>
        </p:nvSpPr>
        <p:spPr>
          <a:xfrm>
            <a:off x="603250" y="4766730"/>
            <a:ext cx="7260167" cy="1354667"/>
          </a:xfrm>
          <a:custGeom>
            <a:avLst/>
            <a:gdLst/>
            <a:ahLst/>
            <a:cxnLst/>
            <a:rect l="l" t="t" r="r" b="b"/>
            <a:pathLst>
              <a:path w="7260167" h="1354667">
                <a:moveTo>
                  <a:pt x="84667" y="0"/>
                </a:moveTo>
                <a:lnTo>
                  <a:pt x="7175500" y="0"/>
                </a:lnTo>
                <a:cubicBezTo>
                  <a:pt x="7222260" y="0"/>
                  <a:pt x="7260167" y="37907"/>
                  <a:pt x="7260167" y="84667"/>
                </a:cubicBezTo>
                <a:lnTo>
                  <a:pt x="7260167" y="1270000"/>
                </a:lnTo>
                <a:cubicBezTo>
                  <a:pt x="7260167" y="1316760"/>
                  <a:pt x="7222260" y="1354667"/>
                  <a:pt x="7175500" y="1354667"/>
                </a:cubicBezTo>
                <a:lnTo>
                  <a:pt x="84667" y="1354667"/>
                </a:lnTo>
                <a:cubicBezTo>
                  <a:pt x="37907" y="1354667"/>
                  <a:pt x="0" y="1316760"/>
                  <a:pt x="0" y="1270000"/>
                </a:cubicBezTo>
                <a:lnTo>
                  <a:pt x="0" y="84667"/>
                </a:lnTo>
                <a:cubicBezTo>
                  <a:pt x="0" y="37907"/>
                  <a:pt x="37907" y="0"/>
                  <a:pt x="84667" y="0"/>
                </a:cubicBezTo>
                <a:close/>
              </a:path>
            </a:pathLst>
          </a:custGeom>
          <a:solidFill>
            <a:srgbClr val="1A1D21">
              <a:alpha val="50196"/>
            </a:srgbClr>
          </a:solidFill>
          <a:ln/>
        </p:spPr>
        <p:txBody>
          <a:bodyPr/>
          <a:lstStyle/>
          <a:p>
            <a:endParaRPr lang="zh-CN" altLang="en-US"/>
          </a:p>
        </p:txBody>
      </p:sp>
      <p:sp>
        <p:nvSpPr>
          <p:cNvPr id="19" name="Text 17"/>
          <p:cNvSpPr/>
          <p:nvPr/>
        </p:nvSpPr>
        <p:spPr>
          <a:xfrm>
            <a:off x="730250" y="4893730"/>
            <a:ext cx="7101417" cy="296333"/>
          </a:xfrm>
          <a:prstGeom prst="rect">
            <a:avLst/>
          </a:prstGeom>
          <a:noFill/>
          <a:ln/>
        </p:spPr>
        <p:txBody>
          <a:bodyPr wrap="square" lIns="0" tIns="0" rIns="0" bIns="0" rtlCol="0" anchor="ctr"/>
          <a:lstStyle/>
          <a:p>
            <a:pPr>
              <a:lnSpc>
                <a:spcPct val="130000"/>
              </a:lnSpc>
            </a:pPr>
            <a:r>
              <a:rPr lang="en-US" sz="1500" b="1" dirty="0">
                <a:solidFill>
                  <a:srgbClr val="B38B59"/>
                </a:solidFill>
                <a:latin typeface="MiSans" pitchFamily="34" charset="0"/>
                <a:ea typeface="MiSans" pitchFamily="34" charset="-122"/>
                <a:cs typeface="MiSans" pitchFamily="34" charset="-120"/>
              </a:rPr>
              <a:t>生命周期</a:t>
            </a:r>
            <a:endParaRPr lang="en-US" sz="1600" dirty="0"/>
          </a:p>
        </p:txBody>
      </p:sp>
      <p:sp>
        <p:nvSpPr>
          <p:cNvPr id="20" name="Text 18"/>
          <p:cNvSpPr/>
          <p:nvPr/>
        </p:nvSpPr>
        <p:spPr>
          <a:xfrm>
            <a:off x="730250" y="5274730"/>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应用绑定:</a:t>
            </a:r>
            <a:r>
              <a:rPr lang="en-US" sz="1167" dirty="0">
                <a:solidFill>
                  <a:srgbClr val="E0E2E4">
                    <a:alpha val="80000"/>
                  </a:srgbClr>
                </a:solidFill>
                <a:latin typeface="MiSans" pitchFamily="34" charset="0"/>
                <a:ea typeface="MiSans" pitchFamily="34" charset="-122"/>
                <a:cs typeface="MiSans" pitchFamily="34" charset="-120"/>
              </a:rPr>
              <a:t> Container生命周期与应用绑定</a:t>
            </a:r>
            <a:endParaRPr lang="en-US" sz="1600" dirty="0"/>
          </a:p>
        </p:txBody>
      </p:sp>
      <p:sp>
        <p:nvSpPr>
          <p:cNvPr id="21" name="Text 19"/>
          <p:cNvSpPr/>
          <p:nvPr/>
        </p:nvSpPr>
        <p:spPr>
          <a:xfrm>
            <a:off x="730250" y="5528730"/>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短生命周期:</a:t>
            </a:r>
            <a:r>
              <a:rPr lang="en-US" sz="1167" dirty="0">
                <a:solidFill>
                  <a:srgbClr val="E0E2E4">
                    <a:alpha val="80000"/>
                  </a:srgbClr>
                </a:solidFill>
                <a:latin typeface="MiSans" pitchFamily="34" charset="0"/>
                <a:ea typeface="MiSans" pitchFamily="34" charset="-122"/>
                <a:cs typeface="MiSans" pitchFamily="34" charset="-120"/>
              </a:rPr>
              <a:t> 适合批处理作业,完成后即销毁</a:t>
            </a:r>
            <a:endParaRPr lang="en-US" sz="1600" dirty="0"/>
          </a:p>
        </p:txBody>
      </p:sp>
      <p:sp>
        <p:nvSpPr>
          <p:cNvPr id="22" name="Text 20"/>
          <p:cNvSpPr/>
          <p:nvPr/>
        </p:nvSpPr>
        <p:spPr>
          <a:xfrm>
            <a:off x="730250" y="5782730"/>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手动管理:</a:t>
            </a:r>
            <a:r>
              <a:rPr lang="en-US" sz="1167" dirty="0">
                <a:solidFill>
                  <a:srgbClr val="E0E2E4">
                    <a:alpha val="80000"/>
                  </a:srgbClr>
                </a:solidFill>
                <a:latin typeface="MiSans" pitchFamily="34" charset="0"/>
                <a:ea typeface="MiSans" pitchFamily="34" charset="-122"/>
                <a:cs typeface="MiSans" pitchFamily="34" charset="-120"/>
              </a:rPr>
              <a:t> 需要显式申请和释放资源</a:t>
            </a:r>
            <a:endParaRPr lang="en-US" sz="1600" dirty="0"/>
          </a:p>
        </p:txBody>
      </p:sp>
      <p:sp>
        <p:nvSpPr>
          <p:cNvPr id="23" name="Shape 21"/>
          <p:cNvSpPr/>
          <p:nvPr/>
        </p:nvSpPr>
        <p:spPr>
          <a:xfrm>
            <a:off x="603250" y="6206064"/>
            <a:ext cx="7260167" cy="1354667"/>
          </a:xfrm>
          <a:custGeom>
            <a:avLst/>
            <a:gdLst/>
            <a:ahLst/>
            <a:cxnLst/>
            <a:rect l="l" t="t" r="r" b="b"/>
            <a:pathLst>
              <a:path w="7260167" h="1354667">
                <a:moveTo>
                  <a:pt x="84667" y="0"/>
                </a:moveTo>
                <a:lnTo>
                  <a:pt x="7175500" y="0"/>
                </a:lnTo>
                <a:cubicBezTo>
                  <a:pt x="7222260" y="0"/>
                  <a:pt x="7260167" y="37907"/>
                  <a:pt x="7260167" y="84667"/>
                </a:cubicBezTo>
                <a:lnTo>
                  <a:pt x="7260167" y="1270000"/>
                </a:lnTo>
                <a:cubicBezTo>
                  <a:pt x="7260167" y="1316760"/>
                  <a:pt x="7222260" y="1354667"/>
                  <a:pt x="7175500" y="1354667"/>
                </a:cubicBezTo>
                <a:lnTo>
                  <a:pt x="84667" y="1354667"/>
                </a:lnTo>
                <a:cubicBezTo>
                  <a:pt x="37907" y="1354667"/>
                  <a:pt x="0" y="1316760"/>
                  <a:pt x="0" y="1270000"/>
                </a:cubicBezTo>
                <a:lnTo>
                  <a:pt x="0" y="84667"/>
                </a:lnTo>
                <a:cubicBezTo>
                  <a:pt x="0" y="37907"/>
                  <a:pt x="37907" y="0"/>
                  <a:pt x="84667" y="0"/>
                </a:cubicBezTo>
                <a:close/>
              </a:path>
            </a:pathLst>
          </a:custGeom>
          <a:solidFill>
            <a:srgbClr val="1A1D21">
              <a:alpha val="50196"/>
            </a:srgbClr>
          </a:solidFill>
          <a:ln/>
        </p:spPr>
        <p:txBody>
          <a:bodyPr/>
          <a:lstStyle/>
          <a:p>
            <a:endParaRPr lang="zh-CN" altLang="en-US"/>
          </a:p>
        </p:txBody>
      </p:sp>
      <p:sp>
        <p:nvSpPr>
          <p:cNvPr id="24" name="Text 22"/>
          <p:cNvSpPr/>
          <p:nvPr/>
        </p:nvSpPr>
        <p:spPr>
          <a:xfrm>
            <a:off x="730250" y="6333064"/>
            <a:ext cx="7101417" cy="296333"/>
          </a:xfrm>
          <a:prstGeom prst="rect">
            <a:avLst/>
          </a:prstGeom>
          <a:noFill/>
          <a:ln/>
        </p:spPr>
        <p:txBody>
          <a:bodyPr wrap="square" lIns="0" tIns="0" rIns="0" bIns="0" rtlCol="0" anchor="ctr"/>
          <a:lstStyle/>
          <a:p>
            <a:pPr>
              <a:lnSpc>
                <a:spcPct val="130000"/>
              </a:lnSpc>
            </a:pPr>
            <a:r>
              <a:rPr lang="en-US" sz="1500" b="1" dirty="0">
                <a:solidFill>
                  <a:srgbClr val="B38B59"/>
                </a:solidFill>
                <a:latin typeface="MiSans" pitchFamily="34" charset="0"/>
                <a:ea typeface="MiSans" pitchFamily="34" charset="-122"/>
                <a:cs typeface="MiSans" pitchFamily="34" charset="-120"/>
              </a:rPr>
              <a:t>可移植性</a:t>
            </a:r>
            <a:endParaRPr lang="en-US" sz="1600" dirty="0"/>
          </a:p>
        </p:txBody>
      </p:sp>
      <p:sp>
        <p:nvSpPr>
          <p:cNvPr id="25" name="Text 23"/>
          <p:cNvSpPr/>
          <p:nvPr/>
        </p:nvSpPr>
        <p:spPr>
          <a:xfrm>
            <a:off x="730250" y="6714064"/>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Hadoop生态:</a:t>
            </a:r>
            <a:r>
              <a:rPr lang="en-US" sz="1167" dirty="0">
                <a:solidFill>
                  <a:srgbClr val="E0E2E4">
                    <a:alpha val="80000"/>
                  </a:srgbClr>
                </a:solidFill>
                <a:latin typeface="MiSans" pitchFamily="34" charset="0"/>
                <a:ea typeface="MiSans" pitchFamily="34" charset="-122"/>
                <a:cs typeface="MiSans" pitchFamily="34" charset="-120"/>
              </a:rPr>
              <a:t> 深度集成Hadoop生态系统</a:t>
            </a:r>
            <a:endParaRPr lang="en-US" sz="1600" dirty="0"/>
          </a:p>
        </p:txBody>
      </p:sp>
      <p:sp>
        <p:nvSpPr>
          <p:cNvPr id="26" name="Text 24"/>
          <p:cNvSpPr/>
          <p:nvPr/>
        </p:nvSpPr>
        <p:spPr>
          <a:xfrm>
            <a:off x="730250" y="6968064"/>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平台依赖:</a:t>
            </a:r>
            <a:r>
              <a:rPr lang="en-US" sz="1167" dirty="0">
                <a:solidFill>
                  <a:srgbClr val="E0E2E4">
                    <a:alpha val="80000"/>
                  </a:srgbClr>
                </a:solidFill>
                <a:latin typeface="MiSans" pitchFamily="34" charset="0"/>
                <a:ea typeface="MiSans" pitchFamily="34" charset="-122"/>
                <a:cs typeface="MiSans" pitchFamily="34" charset="-120"/>
              </a:rPr>
              <a:t> 依赖YARN运行时环境</a:t>
            </a:r>
            <a:endParaRPr lang="en-US" sz="1600" dirty="0"/>
          </a:p>
        </p:txBody>
      </p:sp>
      <p:sp>
        <p:nvSpPr>
          <p:cNvPr id="27" name="Text 25"/>
          <p:cNvSpPr/>
          <p:nvPr/>
        </p:nvSpPr>
        <p:spPr>
          <a:xfrm>
            <a:off x="730250" y="7222064"/>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场景特定:</a:t>
            </a:r>
            <a:r>
              <a:rPr lang="en-US" sz="1167" dirty="0">
                <a:solidFill>
                  <a:srgbClr val="E0E2E4">
                    <a:alpha val="80000"/>
                  </a:srgbClr>
                </a:solidFill>
                <a:latin typeface="MiSans" pitchFamily="34" charset="0"/>
                <a:ea typeface="MiSans" pitchFamily="34" charset="-122"/>
                <a:cs typeface="MiSans" pitchFamily="34" charset="-120"/>
              </a:rPr>
              <a:t> 主要针对大数据处理场景优化</a:t>
            </a:r>
            <a:endParaRPr lang="en-US" sz="1600" dirty="0"/>
          </a:p>
        </p:txBody>
      </p:sp>
      <p:sp>
        <p:nvSpPr>
          <p:cNvPr id="28" name="Shape 26"/>
          <p:cNvSpPr/>
          <p:nvPr/>
        </p:nvSpPr>
        <p:spPr>
          <a:xfrm>
            <a:off x="8217958" y="1316564"/>
            <a:ext cx="7609417" cy="6244167"/>
          </a:xfrm>
          <a:custGeom>
            <a:avLst/>
            <a:gdLst/>
            <a:ahLst/>
            <a:cxnLst/>
            <a:rect l="l" t="t" r="r" b="b"/>
            <a:pathLst>
              <a:path w="7609417" h="7874000">
                <a:moveTo>
                  <a:pt x="84693" y="0"/>
                </a:moveTo>
                <a:lnTo>
                  <a:pt x="7524724" y="0"/>
                </a:lnTo>
                <a:cubicBezTo>
                  <a:pt x="7571498" y="0"/>
                  <a:pt x="7609417" y="37918"/>
                  <a:pt x="7609417" y="84693"/>
                </a:cubicBezTo>
                <a:lnTo>
                  <a:pt x="7609417" y="7789307"/>
                </a:lnTo>
                <a:cubicBezTo>
                  <a:pt x="7609417" y="7836082"/>
                  <a:pt x="7571498" y="7874000"/>
                  <a:pt x="7524724" y="7874000"/>
                </a:cubicBezTo>
                <a:lnTo>
                  <a:pt x="84693" y="7874000"/>
                </a:lnTo>
                <a:cubicBezTo>
                  <a:pt x="37918" y="7874000"/>
                  <a:pt x="0" y="7836082"/>
                  <a:pt x="0" y="7789307"/>
                </a:cubicBezTo>
                <a:lnTo>
                  <a:pt x="0" y="84693"/>
                </a:lnTo>
                <a:cubicBezTo>
                  <a:pt x="0" y="37918"/>
                  <a:pt x="37918" y="0"/>
                  <a:pt x="84693"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9" name="Shape 27"/>
          <p:cNvSpPr/>
          <p:nvPr/>
        </p:nvSpPr>
        <p:spPr>
          <a:xfrm>
            <a:off x="8392583" y="1491189"/>
            <a:ext cx="508000" cy="508000"/>
          </a:xfrm>
          <a:custGeom>
            <a:avLst/>
            <a:gdLst/>
            <a:ahLst/>
            <a:cxnLst/>
            <a:rect l="l" t="t" r="r" b="b"/>
            <a:pathLst>
              <a:path w="508000" h="508000">
                <a:moveTo>
                  <a:pt x="84668" y="0"/>
                </a:moveTo>
                <a:lnTo>
                  <a:pt x="423332" y="0"/>
                </a:lnTo>
                <a:cubicBezTo>
                  <a:pt x="470093" y="0"/>
                  <a:pt x="508000" y="37907"/>
                  <a:pt x="508000" y="84668"/>
                </a:cubicBezTo>
                <a:lnTo>
                  <a:pt x="508000" y="423332"/>
                </a:lnTo>
                <a:cubicBezTo>
                  <a:pt x="508000" y="470093"/>
                  <a:pt x="470093" y="508000"/>
                  <a:pt x="423332" y="508000"/>
                </a:cubicBezTo>
                <a:lnTo>
                  <a:pt x="84668" y="508000"/>
                </a:lnTo>
                <a:cubicBezTo>
                  <a:pt x="37907" y="508000"/>
                  <a:pt x="0" y="470093"/>
                  <a:pt x="0" y="423332"/>
                </a:cubicBezTo>
                <a:lnTo>
                  <a:pt x="0" y="84668"/>
                </a:lnTo>
                <a:cubicBezTo>
                  <a:pt x="0" y="37939"/>
                  <a:pt x="37939" y="0"/>
                  <a:pt x="84668" y="0"/>
                </a:cubicBezTo>
                <a:close/>
              </a:path>
            </a:pathLst>
          </a:custGeom>
          <a:solidFill>
            <a:srgbClr val="B38B59"/>
          </a:solidFill>
          <a:ln/>
        </p:spPr>
        <p:txBody>
          <a:bodyPr/>
          <a:lstStyle/>
          <a:p>
            <a:endParaRPr lang="zh-CN" altLang="en-US"/>
          </a:p>
        </p:txBody>
      </p:sp>
      <p:sp>
        <p:nvSpPr>
          <p:cNvPr id="30" name="Shape 28"/>
          <p:cNvSpPr/>
          <p:nvPr/>
        </p:nvSpPr>
        <p:spPr>
          <a:xfrm>
            <a:off x="8519583" y="1618189"/>
            <a:ext cx="254000" cy="254000"/>
          </a:xfrm>
          <a:custGeom>
            <a:avLst/>
            <a:gdLst/>
            <a:ahLst/>
            <a:cxnLst/>
            <a:rect l="l" t="t" r="r" b="b"/>
            <a:pathLst>
              <a:path w="254000" h="254000">
                <a:moveTo>
                  <a:pt x="140891" y="-645"/>
                </a:moveTo>
                <a:cubicBezTo>
                  <a:pt x="132308" y="-5606"/>
                  <a:pt x="121692" y="-5606"/>
                  <a:pt x="113109" y="-645"/>
                </a:cubicBezTo>
                <a:lnTo>
                  <a:pt x="71338" y="23465"/>
                </a:lnTo>
                <a:cubicBezTo>
                  <a:pt x="62756" y="28426"/>
                  <a:pt x="57448" y="37604"/>
                  <a:pt x="57448" y="47526"/>
                </a:cubicBezTo>
                <a:lnTo>
                  <a:pt x="57448" y="98078"/>
                </a:lnTo>
                <a:lnTo>
                  <a:pt x="13643" y="123379"/>
                </a:lnTo>
                <a:cubicBezTo>
                  <a:pt x="5060" y="128339"/>
                  <a:pt x="-248" y="137517"/>
                  <a:pt x="-248" y="147439"/>
                </a:cubicBezTo>
                <a:lnTo>
                  <a:pt x="-248" y="195709"/>
                </a:lnTo>
                <a:cubicBezTo>
                  <a:pt x="-248" y="205631"/>
                  <a:pt x="5060" y="214809"/>
                  <a:pt x="13643" y="219770"/>
                </a:cubicBezTo>
                <a:lnTo>
                  <a:pt x="55463" y="243880"/>
                </a:lnTo>
                <a:cubicBezTo>
                  <a:pt x="64046" y="248841"/>
                  <a:pt x="74662" y="248841"/>
                  <a:pt x="83245" y="243880"/>
                </a:cubicBezTo>
                <a:lnTo>
                  <a:pt x="127050" y="218579"/>
                </a:lnTo>
                <a:lnTo>
                  <a:pt x="170855" y="243880"/>
                </a:lnTo>
                <a:cubicBezTo>
                  <a:pt x="179437" y="248841"/>
                  <a:pt x="190054" y="248841"/>
                  <a:pt x="198636" y="243880"/>
                </a:cubicBezTo>
                <a:lnTo>
                  <a:pt x="240357" y="219770"/>
                </a:lnTo>
                <a:cubicBezTo>
                  <a:pt x="248940" y="214809"/>
                  <a:pt x="254248" y="205631"/>
                  <a:pt x="254248" y="195709"/>
                </a:cubicBezTo>
                <a:lnTo>
                  <a:pt x="254248" y="147439"/>
                </a:lnTo>
                <a:cubicBezTo>
                  <a:pt x="254248" y="137517"/>
                  <a:pt x="248940" y="128339"/>
                  <a:pt x="240357" y="123379"/>
                </a:cubicBezTo>
                <a:lnTo>
                  <a:pt x="196552" y="98078"/>
                </a:lnTo>
                <a:lnTo>
                  <a:pt x="196552" y="47526"/>
                </a:lnTo>
                <a:cubicBezTo>
                  <a:pt x="196552" y="37604"/>
                  <a:pt x="191244" y="28426"/>
                  <a:pt x="182662" y="23465"/>
                </a:cubicBezTo>
                <a:lnTo>
                  <a:pt x="140891" y="-645"/>
                </a:lnTo>
                <a:close/>
                <a:moveTo>
                  <a:pt x="115094" y="145157"/>
                </a:moveTo>
                <a:lnTo>
                  <a:pt x="115094" y="197991"/>
                </a:lnTo>
                <a:lnTo>
                  <a:pt x="71289" y="223292"/>
                </a:lnTo>
                <a:cubicBezTo>
                  <a:pt x="70693" y="223639"/>
                  <a:pt x="69999" y="223838"/>
                  <a:pt x="69304" y="223838"/>
                </a:cubicBezTo>
                <a:lnTo>
                  <a:pt x="69304" y="171599"/>
                </a:lnTo>
                <a:lnTo>
                  <a:pt x="115094" y="145157"/>
                </a:lnTo>
                <a:close/>
                <a:moveTo>
                  <a:pt x="229890" y="145455"/>
                </a:moveTo>
                <a:cubicBezTo>
                  <a:pt x="230237" y="146050"/>
                  <a:pt x="230436" y="146745"/>
                  <a:pt x="230436" y="147439"/>
                </a:cubicBezTo>
                <a:lnTo>
                  <a:pt x="230436" y="195709"/>
                </a:lnTo>
                <a:cubicBezTo>
                  <a:pt x="230436" y="197148"/>
                  <a:pt x="229691" y="198438"/>
                  <a:pt x="228451" y="199132"/>
                </a:cubicBezTo>
                <a:lnTo>
                  <a:pt x="186630" y="223242"/>
                </a:lnTo>
                <a:cubicBezTo>
                  <a:pt x="186035" y="223589"/>
                  <a:pt x="185341" y="223788"/>
                  <a:pt x="184646" y="223788"/>
                </a:cubicBezTo>
                <a:lnTo>
                  <a:pt x="184646" y="171549"/>
                </a:lnTo>
                <a:lnTo>
                  <a:pt x="229890" y="145455"/>
                </a:lnTo>
                <a:close/>
                <a:moveTo>
                  <a:pt x="172789" y="47526"/>
                </a:moveTo>
                <a:lnTo>
                  <a:pt x="172789" y="98078"/>
                </a:lnTo>
                <a:lnTo>
                  <a:pt x="127000" y="124520"/>
                </a:lnTo>
                <a:lnTo>
                  <a:pt x="127000" y="71686"/>
                </a:lnTo>
                <a:lnTo>
                  <a:pt x="172244" y="45591"/>
                </a:lnTo>
                <a:cubicBezTo>
                  <a:pt x="172591" y="46186"/>
                  <a:pt x="172789" y="46881"/>
                  <a:pt x="172789" y="47575"/>
                </a:cubicBezTo>
                <a:close/>
              </a:path>
            </a:pathLst>
          </a:custGeom>
          <a:solidFill>
            <a:srgbClr val="FFFFFF"/>
          </a:solidFill>
          <a:ln/>
        </p:spPr>
        <p:txBody>
          <a:bodyPr/>
          <a:lstStyle/>
          <a:p>
            <a:endParaRPr lang="zh-CN" altLang="en-US"/>
          </a:p>
        </p:txBody>
      </p:sp>
      <p:sp>
        <p:nvSpPr>
          <p:cNvPr id="31" name="Text 29"/>
          <p:cNvSpPr/>
          <p:nvPr/>
        </p:nvSpPr>
        <p:spPr>
          <a:xfrm>
            <a:off x="9027583" y="1575855"/>
            <a:ext cx="1989667" cy="338667"/>
          </a:xfrm>
          <a:prstGeom prst="rect">
            <a:avLst/>
          </a:prstGeom>
          <a:noFill/>
          <a:ln/>
        </p:spPr>
        <p:txBody>
          <a:bodyPr wrap="square" lIns="0" tIns="0" rIns="0" bIns="0" rtlCol="0" anchor="ctr"/>
          <a:lstStyle/>
          <a:p>
            <a:pPr>
              <a:lnSpc>
                <a:spcPct val="110000"/>
              </a:lnSpc>
            </a:pPr>
            <a:r>
              <a:rPr lang="en-US" sz="2000" b="1" dirty="0">
                <a:solidFill>
                  <a:srgbClr val="E0E2E4"/>
                </a:solidFill>
                <a:latin typeface="MiSans" pitchFamily="34" charset="0"/>
                <a:ea typeface="MiSans" pitchFamily="34" charset="-122"/>
                <a:cs typeface="MiSans" pitchFamily="34" charset="-120"/>
              </a:rPr>
              <a:t>Kubernetes Pod</a:t>
            </a:r>
            <a:endParaRPr lang="en-US" sz="1600" dirty="0"/>
          </a:p>
        </p:txBody>
      </p:sp>
      <p:sp>
        <p:nvSpPr>
          <p:cNvPr id="32" name="Shape 30"/>
          <p:cNvSpPr/>
          <p:nvPr/>
        </p:nvSpPr>
        <p:spPr>
          <a:xfrm>
            <a:off x="8392583" y="2126189"/>
            <a:ext cx="7260167" cy="1121833"/>
          </a:xfrm>
          <a:custGeom>
            <a:avLst/>
            <a:gdLst/>
            <a:ahLst/>
            <a:cxnLst/>
            <a:rect l="l" t="t" r="r" b="b"/>
            <a:pathLst>
              <a:path w="7260167" h="1121833">
                <a:moveTo>
                  <a:pt x="84665" y="0"/>
                </a:moveTo>
                <a:lnTo>
                  <a:pt x="7175502" y="0"/>
                </a:lnTo>
                <a:cubicBezTo>
                  <a:pt x="7222261" y="0"/>
                  <a:pt x="7260167" y="37906"/>
                  <a:pt x="7260167" y="84665"/>
                </a:cubicBezTo>
                <a:lnTo>
                  <a:pt x="7260167" y="1037169"/>
                </a:lnTo>
                <a:cubicBezTo>
                  <a:pt x="7260167" y="1083928"/>
                  <a:pt x="7222261" y="1121833"/>
                  <a:pt x="7175502" y="1121833"/>
                </a:cubicBezTo>
                <a:lnTo>
                  <a:pt x="84665" y="1121833"/>
                </a:lnTo>
                <a:cubicBezTo>
                  <a:pt x="37906" y="1121833"/>
                  <a:pt x="0" y="1083928"/>
                  <a:pt x="0" y="1037169"/>
                </a:cubicBezTo>
                <a:lnTo>
                  <a:pt x="0" y="84665"/>
                </a:lnTo>
                <a:cubicBezTo>
                  <a:pt x="0" y="37906"/>
                  <a:pt x="37906" y="0"/>
                  <a:pt x="84665" y="0"/>
                </a:cubicBezTo>
                <a:close/>
              </a:path>
            </a:pathLst>
          </a:custGeom>
          <a:solidFill>
            <a:srgbClr val="1A1D21">
              <a:alpha val="50196"/>
            </a:srgbClr>
          </a:solidFill>
          <a:ln/>
        </p:spPr>
        <p:txBody>
          <a:bodyPr/>
          <a:lstStyle/>
          <a:p>
            <a:endParaRPr lang="zh-CN" altLang="en-US"/>
          </a:p>
        </p:txBody>
      </p:sp>
      <p:sp>
        <p:nvSpPr>
          <p:cNvPr id="33" name="Text 31"/>
          <p:cNvSpPr/>
          <p:nvPr/>
        </p:nvSpPr>
        <p:spPr>
          <a:xfrm>
            <a:off x="8519583" y="2253189"/>
            <a:ext cx="7101417" cy="296333"/>
          </a:xfrm>
          <a:prstGeom prst="rect">
            <a:avLst/>
          </a:prstGeom>
          <a:noFill/>
          <a:ln/>
        </p:spPr>
        <p:txBody>
          <a:bodyPr wrap="square" lIns="0" tIns="0" rIns="0" bIns="0" rtlCol="0" anchor="ctr"/>
          <a:lstStyle/>
          <a:p>
            <a:pPr>
              <a:lnSpc>
                <a:spcPct val="130000"/>
              </a:lnSpc>
            </a:pPr>
            <a:r>
              <a:rPr lang="en-US" sz="1500" b="1" dirty="0">
                <a:solidFill>
                  <a:srgbClr val="3C8082"/>
                </a:solidFill>
                <a:latin typeface="MiSans" pitchFamily="34" charset="0"/>
                <a:ea typeface="MiSans" pitchFamily="34" charset="-122"/>
                <a:cs typeface="MiSans" pitchFamily="34" charset="-120"/>
              </a:rPr>
              <a:t>设计粒度</a:t>
            </a:r>
            <a:endParaRPr lang="en-US" sz="1600" dirty="0"/>
          </a:p>
        </p:txBody>
      </p:sp>
      <p:sp>
        <p:nvSpPr>
          <p:cNvPr id="34" name="Text 32"/>
          <p:cNvSpPr/>
          <p:nvPr/>
        </p:nvSpPr>
        <p:spPr>
          <a:xfrm>
            <a:off x="8519583" y="2634189"/>
            <a:ext cx="7080250" cy="486833"/>
          </a:xfrm>
          <a:prstGeom prst="rect">
            <a:avLst/>
          </a:prstGeom>
          <a:noFill/>
          <a:ln/>
        </p:spPr>
        <p:txBody>
          <a:bodyPr wrap="square" lIns="0" tIns="0" rIns="0" bIns="0" rtlCol="0" anchor="ctr"/>
          <a:lstStyle/>
          <a:p>
            <a:pPr>
              <a:lnSpc>
                <a:spcPct val="140000"/>
              </a:lnSpc>
            </a:pPr>
            <a:r>
              <a:rPr lang="en-US" sz="1167" dirty="0">
                <a:solidFill>
                  <a:srgbClr val="E0E2E4">
                    <a:alpha val="80000"/>
                  </a:srgbClr>
                </a:solidFill>
                <a:latin typeface="MiSans" pitchFamily="34" charset="0"/>
                <a:ea typeface="MiSans" pitchFamily="34" charset="-122"/>
                <a:cs typeface="MiSans" pitchFamily="34" charset="-120"/>
              </a:rPr>
              <a:t>支持多容器协作的细粒度抽象。Pod可以包含多个紧密耦合的容器,共享网络和存储资源,适合微服务架构和云原生应用场景。</a:t>
            </a:r>
            <a:endParaRPr lang="en-US" sz="1600" dirty="0"/>
          </a:p>
        </p:txBody>
      </p:sp>
      <p:sp>
        <p:nvSpPr>
          <p:cNvPr id="35" name="Shape 33"/>
          <p:cNvSpPr/>
          <p:nvPr/>
        </p:nvSpPr>
        <p:spPr>
          <a:xfrm>
            <a:off x="8392583" y="3327397"/>
            <a:ext cx="7260167" cy="1354667"/>
          </a:xfrm>
          <a:custGeom>
            <a:avLst/>
            <a:gdLst/>
            <a:ahLst/>
            <a:cxnLst/>
            <a:rect l="l" t="t" r="r" b="b"/>
            <a:pathLst>
              <a:path w="7260167" h="1354667">
                <a:moveTo>
                  <a:pt x="84667" y="0"/>
                </a:moveTo>
                <a:lnTo>
                  <a:pt x="7175500" y="0"/>
                </a:lnTo>
                <a:cubicBezTo>
                  <a:pt x="7222260" y="0"/>
                  <a:pt x="7260167" y="37907"/>
                  <a:pt x="7260167" y="84667"/>
                </a:cubicBezTo>
                <a:lnTo>
                  <a:pt x="7260167" y="1270000"/>
                </a:lnTo>
                <a:cubicBezTo>
                  <a:pt x="7260167" y="1316760"/>
                  <a:pt x="7222260" y="1354667"/>
                  <a:pt x="7175500" y="1354667"/>
                </a:cubicBezTo>
                <a:lnTo>
                  <a:pt x="84667" y="1354667"/>
                </a:lnTo>
                <a:cubicBezTo>
                  <a:pt x="37907" y="1354667"/>
                  <a:pt x="0" y="1316760"/>
                  <a:pt x="0" y="1270000"/>
                </a:cubicBezTo>
                <a:lnTo>
                  <a:pt x="0" y="84667"/>
                </a:lnTo>
                <a:cubicBezTo>
                  <a:pt x="0" y="37907"/>
                  <a:pt x="37907" y="0"/>
                  <a:pt x="84667" y="0"/>
                </a:cubicBezTo>
                <a:close/>
              </a:path>
            </a:pathLst>
          </a:custGeom>
          <a:solidFill>
            <a:srgbClr val="1A1D21">
              <a:alpha val="50196"/>
            </a:srgbClr>
          </a:solidFill>
          <a:ln/>
        </p:spPr>
        <p:txBody>
          <a:bodyPr/>
          <a:lstStyle/>
          <a:p>
            <a:endParaRPr lang="zh-CN" altLang="en-US"/>
          </a:p>
        </p:txBody>
      </p:sp>
      <p:sp>
        <p:nvSpPr>
          <p:cNvPr id="36" name="Text 34"/>
          <p:cNvSpPr/>
          <p:nvPr/>
        </p:nvSpPr>
        <p:spPr>
          <a:xfrm>
            <a:off x="8519583" y="3454397"/>
            <a:ext cx="7101417" cy="296333"/>
          </a:xfrm>
          <a:prstGeom prst="rect">
            <a:avLst/>
          </a:prstGeom>
          <a:noFill/>
          <a:ln/>
        </p:spPr>
        <p:txBody>
          <a:bodyPr wrap="square" lIns="0" tIns="0" rIns="0" bIns="0" rtlCol="0" anchor="ctr"/>
          <a:lstStyle/>
          <a:p>
            <a:pPr>
              <a:lnSpc>
                <a:spcPct val="130000"/>
              </a:lnSpc>
            </a:pPr>
            <a:r>
              <a:rPr lang="en-US" sz="1500" b="1" dirty="0">
                <a:solidFill>
                  <a:srgbClr val="3C8082"/>
                </a:solidFill>
                <a:latin typeface="MiSans" pitchFamily="34" charset="0"/>
                <a:ea typeface="MiSans" pitchFamily="34" charset="-122"/>
                <a:cs typeface="MiSans" pitchFamily="34" charset="-120"/>
              </a:rPr>
              <a:t>资源描述</a:t>
            </a:r>
            <a:endParaRPr lang="en-US" sz="1600" dirty="0"/>
          </a:p>
        </p:txBody>
      </p:sp>
      <p:sp>
        <p:nvSpPr>
          <p:cNvPr id="37" name="Text 35"/>
          <p:cNvSpPr/>
          <p:nvPr/>
        </p:nvSpPr>
        <p:spPr>
          <a:xfrm>
            <a:off x="8519583" y="3835397"/>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声明式:</a:t>
            </a:r>
            <a:r>
              <a:rPr lang="en-US" sz="1167" dirty="0">
                <a:solidFill>
                  <a:srgbClr val="E0E2E4">
                    <a:alpha val="80000"/>
                  </a:srgbClr>
                </a:solidFill>
                <a:latin typeface="MiSans" pitchFamily="34" charset="0"/>
                <a:ea typeface="MiSans" pitchFamily="34" charset="-122"/>
                <a:cs typeface="MiSans" pitchFamily="34" charset="-120"/>
              </a:rPr>
              <a:t> 通过YAML/JSON声明期望状态</a:t>
            </a:r>
            <a:endParaRPr lang="en-US" sz="1600" dirty="0"/>
          </a:p>
        </p:txBody>
      </p:sp>
      <p:sp>
        <p:nvSpPr>
          <p:cNvPr id="38" name="Text 36"/>
          <p:cNvSpPr/>
          <p:nvPr/>
        </p:nvSpPr>
        <p:spPr>
          <a:xfrm>
            <a:off x="8519583" y="4089397"/>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分布式控制:</a:t>
            </a:r>
            <a:r>
              <a:rPr lang="en-US" sz="1167" dirty="0">
                <a:solidFill>
                  <a:srgbClr val="E0E2E4">
                    <a:alpha val="80000"/>
                  </a:srgbClr>
                </a:solidFill>
                <a:latin typeface="MiSans" pitchFamily="34" charset="0"/>
                <a:ea typeface="MiSans" pitchFamily="34" charset="-122"/>
                <a:cs typeface="MiSans" pitchFamily="34" charset="-120"/>
              </a:rPr>
              <a:t> 控制平面自动维护状态</a:t>
            </a:r>
            <a:endParaRPr lang="en-US" sz="1600" dirty="0"/>
          </a:p>
        </p:txBody>
      </p:sp>
      <p:sp>
        <p:nvSpPr>
          <p:cNvPr id="39" name="Text 37"/>
          <p:cNvSpPr/>
          <p:nvPr/>
        </p:nvSpPr>
        <p:spPr>
          <a:xfrm>
            <a:off x="8519583" y="4343397"/>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逻辑资源:</a:t>
            </a:r>
            <a:r>
              <a:rPr lang="en-US" sz="1167" dirty="0">
                <a:solidFill>
                  <a:srgbClr val="E0E2E4">
                    <a:alpha val="80000"/>
                  </a:srgbClr>
                </a:solidFill>
                <a:latin typeface="MiSans" pitchFamily="34" charset="0"/>
                <a:ea typeface="MiSans" pitchFamily="34" charset="-122"/>
                <a:cs typeface="MiSans" pitchFamily="34" charset="-120"/>
              </a:rPr>
              <a:t> 支持Service、ConfigMap等逻辑资源</a:t>
            </a:r>
            <a:endParaRPr lang="en-US" sz="1600" dirty="0"/>
          </a:p>
        </p:txBody>
      </p:sp>
      <p:sp>
        <p:nvSpPr>
          <p:cNvPr id="40" name="Shape 38"/>
          <p:cNvSpPr/>
          <p:nvPr/>
        </p:nvSpPr>
        <p:spPr>
          <a:xfrm>
            <a:off x="8392583" y="4766730"/>
            <a:ext cx="7260167" cy="1354667"/>
          </a:xfrm>
          <a:custGeom>
            <a:avLst/>
            <a:gdLst/>
            <a:ahLst/>
            <a:cxnLst/>
            <a:rect l="l" t="t" r="r" b="b"/>
            <a:pathLst>
              <a:path w="7260167" h="1354667">
                <a:moveTo>
                  <a:pt x="84667" y="0"/>
                </a:moveTo>
                <a:lnTo>
                  <a:pt x="7175500" y="0"/>
                </a:lnTo>
                <a:cubicBezTo>
                  <a:pt x="7222260" y="0"/>
                  <a:pt x="7260167" y="37907"/>
                  <a:pt x="7260167" y="84667"/>
                </a:cubicBezTo>
                <a:lnTo>
                  <a:pt x="7260167" y="1270000"/>
                </a:lnTo>
                <a:cubicBezTo>
                  <a:pt x="7260167" y="1316760"/>
                  <a:pt x="7222260" y="1354667"/>
                  <a:pt x="7175500" y="1354667"/>
                </a:cubicBezTo>
                <a:lnTo>
                  <a:pt x="84667" y="1354667"/>
                </a:lnTo>
                <a:cubicBezTo>
                  <a:pt x="37907" y="1354667"/>
                  <a:pt x="0" y="1316760"/>
                  <a:pt x="0" y="1270000"/>
                </a:cubicBezTo>
                <a:lnTo>
                  <a:pt x="0" y="84667"/>
                </a:lnTo>
                <a:cubicBezTo>
                  <a:pt x="0" y="37907"/>
                  <a:pt x="37907" y="0"/>
                  <a:pt x="84667" y="0"/>
                </a:cubicBezTo>
                <a:close/>
              </a:path>
            </a:pathLst>
          </a:custGeom>
          <a:solidFill>
            <a:srgbClr val="1A1D21">
              <a:alpha val="50196"/>
            </a:srgbClr>
          </a:solidFill>
          <a:ln/>
        </p:spPr>
        <p:txBody>
          <a:bodyPr/>
          <a:lstStyle/>
          <a:p>
            <a:endParaRPr lang="zh-CN" altLang="en-US"/>
          </a:p>
        </p:txBody>
      </p:sp>
      <p:sp>
        <p:nvSpPr>
          <p:cNvPr id="41" name="Text 39"/>
          <p:cNvSpPr/>
          <p:nvPr/>
        </p:nvSpPr>
        <p:spPr>
          <a:xfrm>
            <a:off x="8519583" y="4893730"/>
            <a:ext cx="7101417" cy="296333"/>
          </a:xfrm>
          <a:prstGeom prst="rect">
            <a:avLst/>
          </a:prstGeom>
          <a:noFill/>
          <a:ln/>
        </p:spPr>
        <p:txBody>
          <a:bodyPr wrap="square" lIns="0" tIns="0" rIns="0" bIns="0" rtlCol="0" anchor="ctr"/>
          <a:lstStyle/>
          <a:p>
            <a:pPr>
              <a:lnSpc>
                <a:spcPct val="130000"/>
              </a:lnSpc>
            </a:pPr>
            <a:r>
              <a:rPr lang="en-US" sz="1500" b="1" dirty="0">
                <a:solidFill>
                  <a:srgbClr val="3C8082"/>
                </a:solidFill>
                <a:latin typeface="MiSans" pitchFamily="34" charset="0"/>
                <a:ea typeface="MiSans" pitchFamily="34" charset="-122"/>
                <a:cs typeface="MiSans" pitchFamily="34" charset="-120"/>
              </a:rPr>
              <a:t>生命周期</a:t>
            </a:r>
            <a:endParaRPr lang="en-US" sz="1600" dirty="0"/>
          </a:p>
        </p:txBody>
      </p:sp>
      <p:sp>
        <p:nvSpPr>
          <p:cNvPr id="42" name="Text 40"/>
          <p:cNvSpPr/>
          <p:nvPr/>
        </p:nvSpPr>
        <p:spPr>
          <a:xfrm>
            <a:off x="8519583" y="5274730"/>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独立管理:</a:t>
            </a:r>
            <a:r>
              <a:rPr lang="en-US" sz="1167" dirty="0">
                <a:solidFill>
                  <a:srgbClr val="E0E2E4">
                    <a:alpha val="80000"/>
                  </a:srgbClr>
                </a:solidFill>
                <a:latin typeface="MiSans" pitchFamily="34" charset="0"/>
                <a:ea typeface="MiSans" pitchFamily="34" charset="-122"/>
                <a:cs typeface="MiSans" pitchFamily="34" charset="-120"/>
              </a:rPr>
              <a:t> Pod可独立创建、更新、销毁</a:t>
            </a:r>
            <a:endParaRPr lang="en-US" sz="1600" dirty="0"/>
          </a:p>
        </p:txBody>
      </p:sp>
      <p:sp>
        <p:nvSpPr>
          <p:cNvPr id="43" name="Text 41"/>
          <p:cNvSpPr/>
          <p:nvPr/>
        </p:nvSpPr>
        <p:spPr>
          <a:xfrm>
            <a:off x="8519583" y="5528730"/>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长短皆可:</a:t>
            </a:r>
            <a:r>
              <a:rPr lang="en-US" sz="1167" dirty="0">
                <a:solidFill>
                  <a:srgbClr val="E0E2E4">
                    <a:alpha val="80000"/>
                  </a:srgbClr>
                </a:solidFill>
                <a:latin typeface="MiSans" pitchFamily="34" charset="0"/>
                <a:ea typeface="MiSans" pitchFamily="34" charset="-122"/>
                <a:cs typeface="MiSans" pitchFamily="34" charset="-120"/>
              </a:rPr>
              <a:t> 支持长时间运行的服务</a:t>
            </a:r>
            <a:endParaRPr lang="en-US" sz="1600" dirty="0"/>
          </a:p>
        </p:txBody>
      </p:sp>
      <p:sp>
        <p:nvSpPr>
          <p:cNvPr id="44" name="Text 42"/>
          <p:cNvSpPr/>
          <p:nvPr/>
        </p:nvSpPr>
        <p:spPr>
          <a:xfrm>
            <a:off x="8519583" y="5782730"/>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自动管理:</a:t>
            </a:r>
            <a:r>
              <a:rPr lang="en-US" sz="1167" dirty="0">
                <a:solidFill>
                  <a:srgbClr val="E0E2E4">
                    <a:alpha val="80000"/>
                  </a:srgbClr>
                </a:solidFill>
                <a:latin typeface="MiSans" pitchFamily="34" charset="0"/>
                <a:ea typeface="MiSans" pitchFamily="34" charset="-122"/>
                <a:cs typeface="MiSans" pitchFamily="34" charset="-120"/>
              </a:rPr>
              <a:t> 支持滚动更新、自动扩缩容</a:t>
            </a:r>
            <a:endParaRPr lang="en-US" sz="1600" dirty="0"/>
          </a:p>
        </p:txBody>
      </p:sp>
      <p:sp>
        <p:nvSpPr>
          <p:cNvPr id="45" name="Shape 43"/>
          <p:cNvSpPr/>
          <p:nvPr/>
        </p:nvSpPr>
        <p:spPr>
          <a:xfrm>
            <a:off x="8392583" y="6206064"/>
            <a:ext cx="7260167" cy="1354667"/>
          </a:xfrm>
          <a:custGeom>
            <a:avLst/>
            <a:gdLst/>
            <a:ahLst/>
            <a:cxnLst/>
            <a:rect l="l" t="t" r="r" b="b"/>
            <a:pathLst>
              <a:path w="7260167" h="1354667">
                <a:moveTo>
                  <a:pt x="84667" y="0"/>
                </a:moveTo>
                <a:lnTo>
                  <a:pt x="7175500" y="0"/>
                </a:lnTo>
                <a:cubicBezTo>
                  <a:pt x="7222260" y="0"/>
                  <a:pt x="7260167" y="37907"/>
                  <a:pt x="7260167" y="84667"/>
                </a:cubicBezTo>
                <a:lnTo>
                  <a:pt x="7260167" y="1270000"/>
                </a:lnTo>
                <a:cubicBezTo>
                  <a:pt x="7260167" y="1316760"/>
                  <a:pt x="7222260" y="1354667"/>
                  <a:pt x="7175500" y="1354667"/>
                </a:cubicBezTo>
                <a:lnTo>
                  <a:pt x="84667" y="1354667"/>
                </a:lnTo>
                <a:cubicBezTo>
                  <a:pt x="37907" y="1354667"/>
                  <a:pt x="0" y="1316760"/>
                  <a:pt x="0" y="1270000"/>
                </a:cubicBezTo>
                <a:lnTo>
                  <a:pt x="0" y="84667"/>
                </a:lnTo>
                <a:cubicBezTo>
                  <a:pt x="0" y="37907"/>
                  <a:pt x="37907" y="0"/>
                  <a:pt x="84667" y="0"/>
                </a:cubicBezTo>
                <a:close/>
              </a:path>
            </a:pathLst>
          </a:custGeom>
          <a:solidFill>
            <a:srgbClr val="1A1D21">
              <a:alpha val="50196"/>
            </a:srgbClr>
          </a:solidFill>
          <a:ln/>
        </p:spPr>
        <p:txBody>
          <a:bodyPr/>
          <a:lstStyle/>
          <a:p>
            <a:endParaRPr lang="zh-CN" altLang="en-US"/>
          </a:p>
        </p:txBody>
      </p:sp>
      <p:sp>
        <p:nvSpPr>
          <p:cNvPr id="46" name="Text 44"/>
          <p:cNvSpPr/>
          <p:nvPr/>
        </p:nvSpPr>
        <p:spPr>
          <a:xfrm>
            <a:off x="8519583" y="6333064"/>
            <a:ext cx="7101417" cy="296333"/>
          </a:xfrm>
          <a:prstGeom prst="rect">
            <a:avLst/>
          </a:prstGeom>
          <a:noFill/>
          <a:ln/>
        </p:spPr>
        <p:txBody>
          <a:bodyPr wrap="square" lIns="0" tIns="0" rIns="0" bIns="0" rtlCol="0" anchor="ctr"/>
          <a:lstStyle/>
          <a:p>
            <a:pPr>
              <a:lnSpc>
                <a:spcPct val="130000"/>
              </a:lnSpc>
            </a:pPr>
            <a:r>
              <a:rPr lang="en-US" sz="1500" b="1" dirty="0">
                <a:solidFill>
                  <a:srgbClr val="3C8082"/>
                </a:solidFill>
                <a:latin typeface="MiSans" pitchFamily="34" charset="0"/>
                <a:ea typeface="MiSans" pitchFamily="34" charset="-122"/>
                <a:cs typeface="MiSans" pitchFamily="34" charset="-120"/>
              </a:rPr>
              <a:t>可移植性</a:t>
            </a:r>
            <a:endParaRPr lang="en-US" sz="1600" dirty="0"/>
          </a:p>
        </p:txBody>
      </p:sp>
      <p:sp>
        <p:nvSpPr>
          <p:cNvPr id="47" name="Text 45"/>
          <p:cNvSpPr/>
          <p:nvPr/>
        </p:nvSpPr>
        <p:spPr>
          <a:xfrm>
            <a:off x="8519583" y="6714064"/>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云原生:</a:t>
            </a:r>
            <a:r>
              <a:rPr lang="en-US" sz="1167" dirty="0">
                <a:solidFill>
                  <a:srgbClr val="E0E2E4">
                    <a:alpha val="80000"/>
                  </a:srgbClr>
                </a:solidFill>
                <a:latin typeface="MiSans" pitchFamily="34" charset="0"/>
                <a:ea typeface="MiSans" pitchFamily="34" charset="-122"/>
                <a:cs typeface="MiSans" pitchFamily="34" charset="-120"/>
              </a:rPr>
              <a:t> 与云原生生态深度集成</a:t>
            </a:r>
            <a:endParaRPr lang="en-US" sz="1600" dirty="0"/>
          </a:p>
        </p:txBody>
      </p:sp>
      <p:sp>
        <p:nvSpPr>
          <p:cNvPr id="48" name="Text 46"/>
          <p:cNvSpPr/>
          <p:nvPr/>
        </p:nvSpPr>
        <p:spPr>
          <a:xfrm>
            <a:off x="8519583" y="6968064"/>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平台无关:</a:t>
            </a:r>
            <a:r>
              <a:rPr lang="en-US" sz="1167" dirty="0">
                <a:solidFill>
                  <a:srgbClr val="E0E2E4">
                    <a:alpha val="80000"/>
                  </a:srgbClr>
                </a:solidFill>
                <a:latin typeface="MiSans" pitchFamily="34" charset="0"/>
                <a:ea typeface="MiSans" pitchFamily="34" charset="-122"/>
                <a:cs typeface="MiSans" pitchFamily="34" charset="-120"/>
              </a:rPr>
              <a:t> 支持多云和混合云部署</a:t>
            </a:r>
            <a:endParaRPr lang="en-US" sz="1600" dirty="0"/>
          </a:p>
        </p:txBody>
      </p:sp>
      <p:sp>
        <p:nvSpPr>
          <p:cNvPr id="49" name="Text 47"/>
          <p:cNvSpPr/>
          <p:nvPr/>
        </p:nvSpPr>
        <p:spPr>
          <a:xfrm>
            <a:off x="8519583" y="7222064"/>
            <a:ext cx="7080250" cy="211667"/>
          </a:xfrm>
          <a:prstGeom prst="rect">
            <a:avLst/>
          </a:prstGeom>
          <a:noFill/>
          <a:ln/>
        </p:spPr>
        <p:txBody>
          <a:bodyPr wrap="square" lIns="0" tIns="0" rIns="0" bIns="0" rtlCol="0" anchor="ctr"/>
          <a:lstStyle/>
          <a:p>
            <a:pPr>
              <a:lnSpc>
                <a:spcPct val="120000"/>
              </a:lnSpc>
            </a:pPr>
            <a:r>
              <a:rPr lang="en-US" sz="1167" dirty="0">
                <a:solidFill>
                  <a:srgbClr val="E0E2E4">
                    <a:alpha val="80000"/>
                  </a:srgbClr>
                </a:solidFill>
                <a:latin typeface="MiSans" pitchFamily="34" charset="0"/>
                <a:ea typeface="MiSans" pitchFamily="34" charset="-122"/>
                <a:cs typeface="MiSans" pitchFamily="34" charset="-120"/>
              </a:rPr>
              <a:t>• </a:t>
            </a:r>
            <a:r>
              <a:rPr lang="en-US" sz="1167" b="1" dirty="0">
                <a:solidFill>
                  <a:srgbClr val="E0E2E4"/>
                </a:solidFill>
                <a:latin typeface="MiSans" pitchFamily="34" charset="0"/>
                <a:ea typeface="MiSans" pitchFamily="34" charset="-122"/>
                <a:cs typeface="MiSans" pitchFamily="34" charset="-120"/>
              </a:rPr>
              <a:t>通用场景:</a:t>
            </a:r>
            <a:r>
              <a:rPr lang="en-US" sz="1167" dirty="0">
                <a:solidFill>
                  <a:srgbClr val="E0E2E4">
                    <a:alpha val="80000"/>
                  </a:srgbClr>
                </a:solidFill>
                <a:latin typeface="MiSans" pitchFamily="34" charset="0"/>
                <a:ea typeface="MiSans" pitchFamily="34" charset="-122"/>
                <a:cs typeface="MiSans" pitchFamily="34" charset="-120"/>
              </a:rPr>
              <a:t> 适应各种工作负载和应用类型</a:t>
            </a:r>
            <a:endParaRPr lang="en-US" sz="1600" dirty="0"/>
          </a:p>
        </p:txBody>
      </p:sp>
      <p:sp>
        <p:nvSpPr>
          <p:cNvPr id="50" name="Shape 48"/>
          <p:cNvSpPr/>
          <p:nvPr/>
        </p:nvSpPr>
        <p:spPr>
          <a:xfrm>
            <a:off x="428625" y="7658574"/>
            <a:ext cx="5037667" cy="1407583"/>
          </a:xfrm>
          <a:custGeom>
            <a:avLst/>
            <a:gdLst/>
            <a:ahLst/>
            <a:cxnLst/>
            <a:rect l="l" t="t" r="r" b="b"/>
            <a:pathLst>
              <a:path w="5037667" h="1407583">
                <a:moveTo>
                  <a:pt x="84666" y="0"/>
                </a:moveTo>
                <a:lnTo>
                  <a:pt x="4953001" y="0"/>
                </a:lnTo>
                <a:cubicBezTo>
                  <a:pt x="4999760" y="0"/>
                  <a:pt x="5037667" y="37906"/>
                  <a:pt x="5037667" y="84666"/>
                </a:cubicBezTo>
                <a:lnTo>
                  <a:pt x="5037667" y="1322917"/>
                </a:lnTo>
                <a:cubicBezTo>
                  <a:pt x="5037667" y="1369677"/>
                  <a:pt x="4999760" y="1407583"/>
                  <a:pt x="4953001" y="1407583"/>
                </a:cubicBezTo>
                <a:lnTo>
                  <a:pt x="84666" y="1407583"/>
                </a:lnTo>
                <a:cubicBezTo>
                  <a:pt x="37906" y="1407583"/>
                  <a:pt x="0" y="1369677"/>
                  <a:pt x="0" y="1322917"/>
                </a:cubicBezTo>
                <a:lnTo>
                  <a:pt x="0" y="84666"/>
                </a:lnTo>
                <a:cubicBezTo>
                  <a:pt x="0" y="37938"/>
                  <a:pt x="37938" y="0"/>
                  <a:pt x="84666"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51" name="Text 49"/>
          <p:cNvSpPr/>
          <p:nvPr/>
        </p:nvSpPr>
        <p:spPr>
          <a:xfrm>
            <a:off x="560917" y="7790866"/>
            <a:ext cx="4868333" cy="296333"/>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核心差异总结</a:t>
            </a:r>
            <a:endParaRPr lang="en-US" sz="1600" dirty="0"/>
          </a:p>
        </p:txBody>
      </p:sp>
      <p:sp>
        <p:nvSpPr>
          <p:cNvPr id="52" name="Shape 50"/>
          <p:cNvSpPr/>
          <p:nvPr/>
        </p:nvSpPr>
        <p:spPr>
          <a:xfrm>
            <a:off x="619125" y="8214199"/>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53" name="Text 51"/>
          <p:cNvSpPr/>
          <p:nvPr/>
        </p:nvSpPr>
        <p:spPr>
          <a:xfrm>
            <a:off x="830792" y="8171866"/>
            <a:ext cx="2794000"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粒度:</a:t>
            </a:r>
            <a:r>
              <a:rPr lang="en-US" sz="1167" dirty="0">
                <a:solidFill>
                  <a:srgbClr val="E0E2E4">
                    <a:alpha val="80000"/>
                  </a:srgbClr>
                </a:solidFill>
                <a:latin typeface="MiSans" pitchFamily="34" charset="0"/>
                <a:ea typeface="MiSans" pitchFamily="34" charset="-122"/>
                <a:cs typeface="MiSans" pitchFamily="34" charset="-120"/>
              </a:rPr>
              <a:t> Container单容器 vs Pod多容器协作</a:t>
            </a:r>
            <a:endParaRPr lang="en-US" sz="1600" dirty="0"/>
          </a:p>
        </p:txBody>
      </p:sp>
      <p:sp>
        <p:nvSpPr>
          <p:cNvPr id="54" name="Shape 52"/>
          <p:cNvSpPr/>
          <p:nvPr/>
        </p:nvSpPr>
        <p:spPr>
          <a:xfrm>
            <a:off x="619125" y="8489366"/>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55" name="Text 53"/>
          <p:cNvSpPr/>
          <p:nvPr/>
        </p:nvSpPr>
        <p:spPr>
          <a:xfrm>
            <a:off x="830792" y="8447032"/>
            <a:ext cx="1566333"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调度:</a:t>
            </a:r>
            <a:r>
              <a:rPr lang="en-US" sz="1167" dirty="0">
                <a:solidFill>
                  <a:srgbClr val="E0E2E4">
                    <a:alpha val="80000"/>
                  </a:srgbClr>
                </a:solidFill>
                <a:latin typeface="MiSans" pitchFamily="34" charset="0"/>
                <a:ea typeface="MiSans" pitchFamily="34" charset="-122"/>
                <a:cs typeface="MiSans" pitchFamily="34" charset="-120"/>
              </a:rPr>
              <a:t> 集中式 vs 分布式</a:t>
            </a:r>
            <a:endParaRPr lang="en-US" sz="1600" dirty="0"/>
          </a:p>
        </p:txBody>
      </p:sp>
      <p:sp>
        <p:nvSpPr>
          <p:cNvPr id="56" name="Shape 54"/>
          <p:cNvSpPr/>
          <p:nvPr/>
        </p:nvSpPr>
        <p:spPr>
          <a:xfrm>
            <a:off x="619125" y="8764532"/>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B38B59"/>
          </a:solidFill>
          <a:ln/>
        </p:spPr>
        <p:txBody>
          <a:bodyPr/>
          <a:lstStyle/>
          <a:p>
            <a:endParaRPr lang="zh-CN" altLang="en-US"/>
          </a:p>
        </p:txBody>
      </p:sp>
      <p:sp>
        <p:nvSpPr>
          <p:cNvPr id="57" name="Text 55"/>
          <p:cNvSpPr/>
          <p:nvPr/>
        </p:nvSpPr>
        <p:spPr>
          <a:xfrm>
            <a:off x="830792" y="8722199"/>
            <a:ext cx="2455333"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场景:</a:t>
            </a:r>
            <a:r>
              <a:rPr lang="en-US" sz="1167" dirty="0">
                <a:solidFill>
                  <a:srgbClr val="E0E2E4">
                    <a:alpha val="80000"/>
                  </a:srgbClr>
                </a:solidFill>
                <a:latin typeface="MiSans" pitchFamily="34" charset="0"/>
                <a:ea typeface="MiSans" pitchFamily="34" charset="-122"/>
                <a:cs typeface="MiSans" pitchFamily="34" charset="-120"/>
              </a:rPr>
              <a:t> 大数据批处理 vs 云原生微服务</a:t>
            </a:r>
            <a:endParaRPr lang="en-US" sz="1600" dirty="0"/>
          </a:p>
        </p:txBody>
      </p:sp>
      <p:sp>
        <p:nvSpPr>
          <p:cNvPr id="58" name="Shape 56"/>
          <p:cNvSpPr/>
          <p:nvPr/>
        </p:nvSpPr>
        <p:spPr>
          <a:xfrm>
            <a:off x="5607348" y="7658574"/>
            <a:ext cx="5037667" cy="1407583"/>
          </a:xfrm>
          <a:custGeom>
            <a:avLst/>
            <a:gdLst/>
            <a:ahLst/>
            <a:cxnLst/>
            <a:rect l="l" t="t" r="r" b="b"/>
            <a:pathLst>
              <a:path w="5037667" h="1407583">
                <a:moveTo>
                  <a:pt x="84666" y="0"/>
                </a:moveTo>
                <a:lnTo>
                  <a:pt x="4953001" y="0"/>
                </a:lnTo>
                <a:cubicBezTo>
                  <a:pt x="4999760" y="0"/>
                  <a:pt x="5037667" y="37906"/>
                  <a:pt x="5037667" y="84666"/>
                </a:cubicBezTo>
                <a:lnTo>
                  <a:pt x="5037667" y="1322917"/>
                </a:lnTo>
                <a:cubicBezTo>
                  <a:pt x="5037667" y="1369677"/>
                  <a:pt x="4999760" y="1407583"/>
                  <a:pt x="4953001" y="1407583"/>
                </a:cubicBezTo>
                <a:lnTo>
                  <a:pt x="84666" y="1407583"/>
                </a:lnTo>
                <a:cubicBezTo>
                  <a:pt x="37906" y="1407583"/>
                  <a:pt x="0" y="1369677"/>
                  <a:pt x="0" y="1322917"/>
                </a:cubicBezTo>
                <a:lnTo>
                  <a:pt x="0" y="84666"/>
                </a:lnTo>
                <a:cubicBezTo>
                  <a:pt x="0" y="37938"/>
                  <a:pt x="37938" y="0"/>
                  <a:pt x="84666"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59" name="Text 57"/>
          <p:cNvSpPr/>
          <p:nvPr/>
        </p:nvSpPr>
        <p:spPr>
          <a:xfrm>
            <a:off x="5739639" y="7790866"/>
            <a:ext cx="4868333" cy="296333"/>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资源模型优劣</a:t>
            </a:r>
            <a:endParaRPr lang="en-US" sz="1600" dirty="0"/>
          </a:p>
        </p:txBody>
      </p:sp>
      <p:sp>
        <p:nvSpPr>
          <p:cNvPr id="60" name="Shape 58"/>
          <p:cNvSpPr/>
          <p:nvPr/>
        </p:nvSpPr>
        <p:spPr>
          <a:xfrm>
            <a:off x="5739639" y="8171866"/>
            <a:ext cx="2349500" cy="550333"/>
          </a:xfrm>
          <a:custGeom>
            <a:avLst/>
            <a:gdLst/>
            <a:ahLst/>
            <a:cxnLst/>
            <a:rect l="l" t="t" r="r" b="b"/>
            <a:pathLst>
              <a:path w="2349500" h="550333">
                <a:moveTo>
                  <a:pt x="42332" y="0"/>
                </a:moveTo>
                <a:lnTo>
                  <a:pt x="2307168" y="0"/>
                </a:lnTo>
                <a:cubicBezTo>
                  <a:pt x="2330547" y="0"/>
                  <a:pt x="2349500" y="18953"/>
                  <a:pt x="2349500" y="42332"/>
                </a:cubicBezTo>
                <a:lnTo>
                  <a:pt x="2349500" y="508002"/>
                </a:lnTo>
                <a:cubicBezTo>
                  <a:pt x="2349500" y="531381"/>
                  <a:pt x="2330547" y="550333"/>
                  <a:pt x="2307168" y="550333"/>
                </a:cubicBezTo>
                <a:lnTo>
                  <a:pt x="42332" y="550333"/>
                </a:lnTo>
                <a:cubicBezTo>
                  <a:pt x="18953" y="550333"/>
                  <a:pt x="0" y="531381"/>
                  <a:pt x="0" y="508002"/>
                </a:cubicBezTo>
                <a:lnTo>
                  <a:pt x="0" y="42332"/>
                </a:lnTo>
                <a:cubicBezTo>
                  <a:pt x="0" y="18968"/>
                  <a:pt x="18968" y="0"/>
                  <a:pt x="42332" y="0"/>
                </a:cubicBezTo>
                <a:close/>
              </a:path>
            </a:pathLst>
          </a:custGeom>
          <a:solidFill>
            <a:srgbClr val="1A1D21">
              <a:alpha val="50196"/>
            </a:srgbClr>
          </a:solidFill>
          <a:ln/>
        </p:spPr>
        <p:txBody>
          <a:bodyPr/>
          <a:lstStyle/>
          <a:p>
            <a:endParaRPr lang="zh-CN" altLang="en-US"/>
          </a:p>
        </p:txBody>
      </p:sp>
      <p:sp>
        <p:nvSpPr>
          <p:cNvPr id="61" name="Text 59"/>
          <p:cNvSpPr/>
          <p:nvPr/>
        </p:nvSpPr>
        <p:spPr>
          <a:xfrm>
            <a:off x="5824306" y="8256532"/>
            <a:ext cx="2243667" cy="169333"/>
          </a:xfrm>
          <a:prstGeom prst="rect">
            <a:avLst/>
          </a:prstGeom>
          <a:noFill/>
          <a:ln/>
        </p:spPr>
        <p:txBody>
          <a:bodyPr wrap="square" lIns="0" tIns="0" rIns="0" bIns="0" rtlCol="0" anchor="ctr"/>
          <a:lstStyle/>
          <a:p>
            <a:pPr>
              <a:lnSpc>
                <a:spcPct val="110000"/>
              </a:lnSpc>
            </a:pPr>
            <a:r>
              <a:rPr lang="en-US" sz="1000" b="1" dirty="0">
                <a:solidFill>
                  <a:srgbClr val="E0E2E4"/>
                </a:solidFill>
                <a:latin typeface="MiSans" pitchFamily="34" charset="0"/>
                <a:ea typeface="MiSans" pitchFamily="34" charset="-122"/>
                <a:cs typeface="MiSans" pitchFamily="34" charset="-120"/>
              </a:rPr>
              <a:t>Container优势</a:t>
            </a:r>
            <a:endParaRPr lang="en-US" sz="1600" dirty="0"/>
          </a:p>
        </p:txBody>
      </p:sp>
      <p:sp>
        <p:nvSpPr>
          <p:cNvPr id="62" name="Text 60"/>
          <p:cNvSpPr/>
          <p:nvPr/>
        </p:nvSpPr>
        <p:spPr>
          <a:xfrm>
            <a:off x="5824306" y="8468199"/>
            <a:ext cx="2243667" cy="169333"/>
          </a:xfrm>
          <a:prstGeom prst="rect">
            <a:avLst/>
          </a:prstGeom>
          <a:noFill/>
          <a:ln/>
        </p:spPr>
        <p:txBody>
          <a:bodyPr wrap="square" lIns="0" tIns="0" rIns="0" bIns="0" rtlCol="0" anchor="ctr"/>
          <a:lstStyle/>
          <a:p>
            <a:pPr>
              <a:lnSpc>
                <a:spcPct val="110000"/>
              </a:lnSpc>
            </a:pPr>
            <a:r>
              <a:rPr lang="en-US" sz="1000" dirty="0">
                <a:solidFill>
                  <a:srgbClr val="E0E2E4">
                    <a:alpha val="70000"/>
                  </a:srgbClr>
                </a:solidFill>
                <a:latin typeface="MiSans" pitchFamily="34" charset="0"/>
                <a:ea typeface="MiSans" pitchFamily="34" charset="-122"/>
                <a:cs typeface="MiSans" pitchFamily="34" charset="-120"/>
              </a:rPr>
              <a:t>大数据优化、数据本地性</a:t>
            </a:r>
            <a:endParaRPr lang="en-US" sz="1600" dirty="0"/>
          </a:p>
        </p:txBody>
      </p:sp>
      <p:sp>
        <p:nvSpPr>
          <p:cNvPr id="63" name="Shape 61"/>
          <p:cNvSpPr/>
          <p:nvPr/>
        </p:nvSpPr>
        <p:spPr>
          <a:xfrm>
            <a:off x="8170251" y="8171866"/>
            <a:ext cx="2349500" cy="550333"/>
          </a:xfrm>
          <a:custGeom>
            <a:avLst/>
            <a:gdLst/>
            <a:ahLst/>
            <a:cxnLst/>
            <a:rect l="l" t="t" r="r" b="b"/>
            <a:pathLst>
              <a:path w="2349500" h="550333">
                <a:moveTo>
                  <a:pt x="42332" y="0"/>
                </a:moveTo>
                <a:lnTo>
                  <a:pt x="2307168" y="0"/>
                </a:lnTo>
                <a:cubicBezTo>
                  <a:pt x="2330547" y="0"/>
                  <a:pt x="2349500" y="18953"/>
                  <a:pt x="2349500" y="42332"/>
                </a:cubicBezTo>
                <a:lnTo>
                  <a:pt x="2349500" y="508002"/>
                </a:lnTo>
                <a:cubicBezTo>
                  <a:pt x="2349500" y="531381"/>
                  <a:pt x="2330547" y="550333"/>
                  <a:pt x="2307168" y="550333"/>
                </a:cubicBezTo>
                <a:lnTo>
                  <a:pt x="42332" y="550333"/>
                </a:lnTo>
                <a:cubicBezTo>
                  <a:pt x="18953" y="550333"/>
                  <a:pt x="0" y="531381"/>
                  <a:pt x="0" y="508002"/>
                </a:cubicBezTo>
                <a:lnTo>
                  <a:pt x="0" y="42332"/>
                </a:lnTo>
                <a:cubicBezTo>
                  <a:pt x="0" y="18968"/>
                  <a:pt x="18968" y="0"/>
                  <a:pt x="42332" y="0"/>
                </a:cubicBezTo>
                <a:close/>
              </a:path>
            </a:pathLst>
          </a:custGeom>
          <a:solidFill>
            <a:srgbClr val="1A1D21">
              <a:alpha val="50196"/>
            </a:srgbClr>
          </a:solidFill>
          <a:ln/>
        </p:spPr>
        <p:txBody>
          <a:bodyPr/>
          <a:lstStyle/>
          <a:p>
            <a:endParaRPr lang="zh-CN" altLang="en-US"/>
          </a:p>
        </p:txBody>
      </p:sp>
      <p:sp>
        <p:nvSpPr>
          <p:cNvPr id="64" name="Text 62"/>
          <p:cNvSpPr/>
          <p:nvPr/>
        </p:nvSpPr>
        <p:spPr>
          <a:xfrm>
            <a:off x="8254917" y="8256532"/>
            <a:ext cx="2243667" cy="169333"/>
          </a:xfrm>
          <a:prstGeom prst="rect">
            <a:avLst/>
          </a:prstGeom>
          <a:noFill/>
          <a:ln/>
        </p:spPr>
        <p:txBody>
          <a:bodyPr wrap="square" lIns="0" tIns="0" rIns="0" bIns="0" rtlCol="0" anchor="ctr"/>
          <a:lstStyle/>
          <a:p>
            <a:pPr>
              <a:lnSpc>
                <a:spcPct val="110000"/>
              </a:lnSpc>
            </a:pPr>
            <a:r>
              <a:rPr lang="en-US" sz="1000" b="1" dirty="0">
                <a:solidFill>
                  <a:srgbClr val="E0E2E4"/>
                </a:solidFill>
                <a:latin typeface="MiSans" pitchFamily="34" charset="0"/>
                <a:ea typeface="MiSans" pitchFamily="34" charset="-122"/>
                <a:cs typeface="MiSans" pitchFamily="34" charset="-120"/>
              </a:rPr>
              <a:t>Pod优势</a:t>
            </a:r>
            <a:endParaRPr lang="en-US" sz="1600" dirty="0"/>
          </a:p>
        </p:txBody>
      </p:sp>
      <p:sp>
        <p:nvSpPr>
          <p:cNvPr id="65" name="Text 63"/>
          <p:cNvSpPr/>
          <p:nvPr/>
        </p:nvSpPr>
        <p:spPr>
          <a:xfrm>
            <a:off x="8254917" y="8468199"/>
            <a:ext cx="2243667" cy="169333"/>
          </a:xfrm>
          <a:prstGeom prst="rect">
            <a:avLst/>
          </a:prstGeom>
          <a:noFill/>
          <a:ln/>
        </p:spPr>
        <p:txBody>
          <a:bodyPr wrap="square" lIns="0" tIns="0" rIns="0" bIns="0" rtlCol="0" anchor="ctr"/>
          <a:lstStyle/>
          <a:p>
            <a:pPr>
              <a:lnSpc>
                <a:spcPct val="110000"/>
              </a:lnSpc>
            </a:pPr>
            <a:r>
              <a:rPr lang="en-US" sz="1000" dirty="0">
                <a:solidFill>
                  <a:srgbClr val="E0E2E4">
                    <a:alpha val="70000"/>
                  </a:srgbClr>
                </a:solidFill>
                <a:latin typeface="MiSans" pitchFamily="34" charset="0"/>
                <a:ea typeface="MiSans" pitchFamily="34" charset="-122"/>
                <a:cs typeface="MiSans" pitchFamily="34" charset="-120"/>
              </a:rPr>
              <a:t>灵活性、可移植性、生态</a:t>
            </a:r>
            <a:endParaRPr lang="en-US" sz="1600" dirty="0"/>
          </a:p>
        </p:txBody>
      </p:sp>
      <p:sp>
        <p:nvSpPr>
          <p:cNvPr id="66" name="Shape 64"/>
          <p:cNvSpPr/>
          <p:nvPr/>
        </p:nvSpPr>
        <p:spPr>
          <a:xfrm>
            <a:off x="10786153" y="7658574"/>
            <a:ext cx="5037667" cy="1407583"/>
          </a:xfrm>
          <a:custGeom>
            <a:avLst/>
            <a:gdLst/>
            <a:ahLst/>
            <a:cxnLst/>
            <a:rect l="l" t="t" r="r" b="b"/>
            <a:pathLst>
              <a:path w="5037667" h="1407583">
                <a:moveTo>
                  <a:pt x="84666" y="0"/>
                </a:moveTo>
                <a:lnTo>
                  <a:pt x="4953001" y="0"/>
                </a:lnTo>
                <a:cubicBezTo>
                  <a:pt x="4999760" y="0"/>
                  <a:pt x="5037667" y="37906"/>
                  <a:pt x="5037667" y="84666"/>
                </a:cubicBezTo>
                <a:lnTo>
                  <a:pt x="5037667" y="1322917"/>
                </a:lnTo>
                <a:cubicBezTo>
                  <a:pt x="5037667" y="1369677"/>
                  <a:pt x="4999760" y="1407583"/>
                  <a:pt x="4953001" y="1407583"/>
                </a:cubicBezTo>
                <a:lnTo>
                  <a:pt x="84666" y="1407583"/>
                </a:lnTo>
                <a:cubicBezTo>
                  <a:pt x="37906" y="1407583"/>
                  <a:pt x="0" y="1369677"/>
                  <a:pt x="0" y="1322917"/>
                </a:cubicBezTo>
                <a:lnTo>
                  <a:pt x="0" y="84666"/>
                </a:lnTo>
                <a:cubicBezTo>
                  <a:pt x="0" y="37938"/>
                  <a:pt x="37938" y="0"/>
                  <a:pt x="84666"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7" name="Text 65"/>
          <p:cNvSpPr/>
          <p:nvPr/>
        </p:nvSpPr>
        <p:spPr>
          <a:xfrm>
            <a:off x="10918445" y="7790866"/>
            <a:ext cx="4868333" cy="296333"/>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选择建议</a:t>
            </a:r>
            <a:endParaRPr lang="en-US" sz="1600" dirty="0"/>
          </a:p>
        </p:txBody>
      </p:sp>
      <p:sp>
        <p:nvSpPr>
          <p:cNvPr id="68" name="Shape 66"/>
          <p:cNvSpPr/>
          <p:nvPr/>
        </p:nvSpPr>
        <p:spPr>
          <a:xfrm>
            <a:off x="10958132" y="8214199"/>
            <a:ext cx="111125" cy="148167"/>
          </a:xfrm>
          <a:custGeom>
            <a:avLst/>
            <a:gdLst/>
            <a:ahLst/>
            <a:cxnLst/>
            <a:rect l="l" t="t" r="r" b="b"/>
            <a:pathLst>
              <a:path w="111125" h="148167">
                <a:moveTo>
                  <a:pt x="84762" y="111125"/>
                </a:moveTo>
                <a:cubicBezTo>
                  <a:pt x="86874" y="104672"/>
                  <a:pt x="91099" y="98826"/>
                  <a:pt x="95874" y="93791"/>
                </a:cubicBezTo>
                <a:cubicBezTo>
                  <a:pt x="105337" y="83836"/>
                  <a:pt x="111125" y="70379"/>
                  <a:pt x="111125" y="55563"/>
                </a:cubicBezTo>
                <a:cubicBezTo>
                  <a:pt x="111125" y="24887"/>
                  <a:pt x="86238" y="0"/>
                  <a:pt x="55562" y="0"/>
                </a:cubicBezTo>
                <a:cubicBezTo>
                  <a:pt x="24887" y="0"/>
                  <a:pt x="0" y="24887"/>
                  <a:pt x="0" y="55562"/>
                </a:cubicBezTo>
                <a:cubicBezTo>
                  <a:pt x="0" y="70379"/>
                  <a:pt x="5788" y="83836"/>
                  <a:pt x="15251" y="93791"/>
                </a:cubicBezTo>
                <a:cubicBezTo>
                  <a:pt x="20026" y="98826"/>
                  <a:pt x="24280" y="104672"/>
                  <a:pt x="26363" y="111125"/>
                </a:cubicBezTo>
                <a:lnTo>
                  <a:pt x="84733" y="111125"/>
                </a:lnTo>
                <a:close/>
                <a:moveTo>
                  <a:pt x="83344" y="125016"/>
                </a:moveTo>
                <a:lnTo>
                  <a:pt x="27781" y="125016"/>
                </a:lnTo>
                <a:lnTo>
                  <a:pt x="27781" y="129646"/>
                </a:lnTo>
                <a:cubicBezTo>
                  <a:pt x="27781" y="142437"/>
                  <a:pt x="38141" y="152797"/>
                  <a:pt x="50932" y="152797"/>
                </a:cubicBezTo>
                <a:lnTo>
                  <a:pt x="60193" y="152797"/>
                </a:lnTo>
                <a:cubicBezTo>
                  <a:pt x="72984" y="152797"/>
                  <a:pt x="83344" y="142437"/>
                  <a:pt x="83344" y="129646"/>
                </a:cubicBezTo>
                <a:lnTo>
                  <a:pt x="83344" y="125016"/>
                </a:lnTo>
                <a:close/>
                <a:moveTo>
                  <a:pt x="53247" y="32411"/>
                </a:moveTo>
                <a:cubicBezTo>
                  <a:pt x="41730" y="32411"/>
                  <a:pt x="32411" y="41730"/>
                  <a:pt x="32411" y="53247"/>
                </a:cubicBezTo>
                <a:cubicBezTo>
                  <a:pt x="32411" y="57096"/>
                  <a:pt x="29315" y="60193"/>
                  <a:pt x="25466" y="60193"/>
                </a:cubicBezTo>
                <a:cubicBezTo>
                  <a:pt x="21617" y="60193"/>
                  <a:pt x="18521" y="57096"/>
                  <a:pt x="18521" y="53247"/>
                </a:cubicBezTo>
                <a:cubicBezTo>
                  <a:pt x="18521" y="34061"/>
                  <a:pt x="34061" y="18521"/>
                  <a:pt x="53247" y="18521"/>
                </a:cubicBezTo>
                <a:cubicBezTo>
                  <a:pt x="57096" y="18521"/>
                  <a:pt x="60193" y="21617"/>
                  <a:pt x="60193" y="25466"/>
                </a:cubicBezTo>
                <a:cubicBezTo>
                  <a:pt x="60193" y="29315"/>
                  <a:pt x="57096" y="32411"/>
                  <a:pt x="53247" y="32411"/>
                </a:cubicBezTo>
                <a:close/>
              </a:path>
            </a:pathLst>
          </a:custGeom>
          <a:solidFill>
            <a:srgbClr val="B38B59"/>
          </a:solidFill>
          <a:ln/>
        </p:spPr>
        <p:txBody>
          <a:bodyPr/>
          <a:lstStyle/>
          <a:p>
            <a:endParaRPr lang="zh-CN" altLang="en-US"/>
          </a:p>
        </p:txBody>
      </p:sp>
      <p:sp>
        <p:nvSpPr>
          <p:cNvPr id="69" name="Text 67"/>
          <p:cNvSpPr/>
          <p:nvPr/>
        </p:nvSpPr>
        <p:spPr>
          <a:xfrm>
            <a:off x="11188320" y="8171866"/>
            <a:ext cx="2286000"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大数据场景:</a:t>
            </a:r>
            <a:r>
              <a:rPr lang="en-US" sz="1167" dirty="0">
                <a:solidFill>
                  <a:srgbClr val="E0E2E4">
                    <a:alpha val="80000"/>
                  </a:srgbClr>
                </a:solidFill>
                <a:latin typeface="MiSans" pitchFamily="34" charset="0"/>
                <a:ea typeface="MiSans" pitchFamily="34" charset="-122"/>
                <a:cs typeface="MiSans" pitchFamily="34" charset="-120"/>
              </a:rPr>
              <a:t> 选择YARN Container</a:t>
            </a:r>
            <a:endParaRPr lang="en-US" sz="1600" dirty="0"/>
          </a:p>
        </p:txBody>
      </p:sp>
      <p:sp>
        <p:nvSpPr>
          <p:cNvPr id="70" name="Shape 68"/>
          <p:cNvSpPr/>
          <p:nvPr/>
        </p:nvSpPr>
        <p:spPr>
          <a:xfrm>
            <a:off x="10958132" y="8489366"/>
            <a:ext cx="111125" cy="148167"/>
          </a:xfrm>
          <a:custGeom>
            <a:avLst/>
            <a:gdLst/>
            <a:ahLst/>
            <a:cxnLst/>
            <a:rect l="l" t="t" r="r" b="b"/>
            <a:pathLst>
              <a:path w="111125" h="148167">
                <a:moveTo>
                  <a:pt x="84762" y="111125"/>
                </a:moveTo>
                <a:cubicBezTo>
                  <a:pt x="86874" y="104672"/>
                  <a:pt x="91099" y="98826"/>
                  <a:pt x="95874" y="93791"/>
                </a:cubicBezTo>
                <a:cubicBezTo>
                  <a:pt x="105337" y="83836"/>
                  <a:pt x="111125" y="70379"/>
                  <a:pt x="111125" y="55563"/>
                </a:cubicBezTo>
                <a:cubicBezTo>
                  <a:pt x="111125" y="24887"/>
                  <a:pt x="86238" y="0"/>
                  <a:pt x="55562" y="0"/>
                </a:cubicBezTo>
                <a:cubicBezTo>
                  <a:pt x="24887" y="0"/>
                  <a:pt x="0" y="24887"/>
                  <a:pt x="0" y="55562"/>
                </a:cubicBezTo>
                <a:cubicBezTo>
                  <a:pt x="0" y="70379"/>
                  <a:pt x="5788" y="83836"/>
                  <a:pt x="15251" y="93791"/>
                </a:cubicBezTo>
                <a:cubicBezTo>
                  <a:pt x="20026" y="98826"/>
                  <a:pt x="24280" y="104672"/>
                  <a:pt x="26363" y="111125"/>
                </a:cubicBezTo>
                <a:lnTo>
                  <a:pt x="84733" y="111125"/>
                </a:lnTo>
                <a:close/>
                <a:moveTo>
                  <a:pt x="83344" y="125016"/>
                </a:moveTo>
                <a:lnTo>
                  <a:pt x="27781" y="125016"/>
                </a:lnTo>
                <a:lnTo>
                  <a:pt x="27781" y="129646"/>
                </a:lnTo>
                <a:cubicBezTo>
                  <a:pt x="27781" y="142437"/>
                  <a:pt x="38141" y="152797"/>
                  <a:pt x="50932" y="152797"/>
                </a:cubicBezTo>
                <a:lnTo>
                  <a:pt x="60193" y="152797"/>
                </a:lnTo>
                <a:cubicBezTo>
                  <a:pt x="72984" y="152797"/>
                  <a:pt x="83344" y="142437"/>
                  <a:pt x="83344" y="129646"/>
                </a:cubicBezTo>
                <a:lnTo>
                  <a:pt x="83344" y="125016"/>
                </a:lnTo>
                <a:close/>
                <a:moveTo>
                  <a:pt x="53247" y="32411"/>
                </a:moveTo>
                <a:cubicBezTo>
                  <a:pt x="41730" y="32411"/>
                  <a:pt x="32411" y="41730"/>
                  <a:pt x="32411" y="53247"/>
                </a:cubicBezTo>
                <a:cubicBezTo>
                  <a:pt x="32411" y="57096"/>
                  <a:pt x="29315" y="60193"/>
                  <a:pt x="25466" y="60193"/>
                </a:cubicBezTo>
                <a:cubicBezTo>
                  <a:pt x="21617" y="60193"/>
                  <a:pt x="18521" y="57096"/>
                  <a:pt x="18521" y="53247"/>
                </a:cubicBezTo>
                <a:cubicBezTo>
                  <a:pt x="18521" y="34061"/>
                  <a:pt x="34061" y="18521"/>
                  <a:pt x="53247" y="18521"/>
                </a:cubicBezTo>
                <a:cubicBezTo>
                  <a:pt x="57096" y="18521"/>
                  <a:pt x="60193" y="21617"/>
                  <a:pt x="60193" y="25466"/>
                </a:cubicBezTo>
                <a:cubicBezTo>
                  <a:pt x="60193" y="29315"/>
                  <a:pt x="57096" y="32411"/>
                  <a:pt x="53247" y="32411"/>
                </a:cubicBezTo>
                <a:close/>
              </a:path>
            </a:pathLst>
          </a:custGeom>
          <a:solidFill>
            <a:srgbClr val="B38B59"/>
          </a:solidFill>
          <a:ln/>
        </p:spPr>
        <p:txBody>
          <a:bodyPr/>
          <a:lstStyle/>
          <a:p>
            <a:endParaRPr lang="zh-CN" altLang="en-US"/>
          </a:p>
        </p:txBody>
      </p:sp>
      <p:sp>
        <p:nvSpPr>
          <p:cNvPr id="71" name="Text 69"/>
          <p:cNvSpPr/>
          <p:nvPr/>
        </p:nvSpPr>
        <p:spPr>
          <a:xfrm>
            <a:off x="11188320" y="8447032"/>
            <a:ext cx="2275417"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微服务场景:</a:t>
            </a:r>
            <a:r>
              <a:rPr lang="en-US" sz="1167" dirty="0">
                <a:solidFill>
                  <a:srgbClr val="E0E2E4">
                    <a:alpha val="80000"/>
                  </a:srgbClr>
                </a:solidFill>
                <a:latin typeface="MiSans" pitchFamily="34" charset="0"/>
                <a:ea typeface="MiSans" pitchFamily="34" charset="-122"/>
                <a:cs typeface="MiSans" pitchFamily="34" charset="-120"/>
              </a:rPr>
              <a:t> 选择Kubernetes Pod</a:t>
            </a:r>
            <a:endParaRPr lang="en-US" sz="1600" dirty="0"/>
          </a:p>
        </p:txBody>
      </p:sp>
      <p:sp>
        <p:nvSpPr>
          <p:cNvPr id="72" name="Shape 70"/>
          <p:cNvSpPr/>
          <p:nvPr/>
        </p:nvSpPr>
        <p:spPr>
          <a:xfrm>
            <a:off x="10958132" y="8764532"/>
            <a:ext cx="111125" cy="148167"/>
          </a:xfrm>
          <a:custGeom>
            <a:avLst/>
            <a:gdLst/>
            <a:ahLst/>
            <a:cxnLst/>
            <a:rect l="l" t="t" r="r" b="b"/>
            <a:pathLst>
              <a:path w="111125" h="148167">
                <a:moveTo>
                  <a:pt x="84762" y="111125"/>
                </a:moveTo>
                <a:cubicBezTo>
                  <a:pt x="86874" y="104672"/>
                  <a:pt x="91099" y="98826"/>
                  <a:pt x="95874" y="93791"/>
                </a:cubicBezTo>
                <a:cubicBezTo>
                  <a:pt x="105337" y="83836"/>
                  <a:pt x="111125" y="70379"/>
                  <a:pt x="111125" y="55563"/>
                </a:cubicBezTo>
                <a:cubicBezTo>
                  <a:pt x="111125" y="24887"/>
                  <a:pt x="86238" y="0"/>
                  <a:pt x="55562" y="0"/>
                </a:cubicBezTo>
                <a:cubicBezTo>
                  <a:pt x="24887" y="0"/>
                  <a:pt x="0" y="24887"/>
                  <a:pt x="0" y="55562"/>
                </a:cubicBezTo>
                <a:cubicBezTo>
                  <a:pt x="0" y="70379"/>
                  <a:pt x="5788" y="83836"/>
                  <a:pt x="15251" y="93791"/>
                </a:cubicBezTo>
                <a:cubicBezTo>
                  <a:pt x="20026" y="98826"/>
                  <a:pt x="24280" y="104672"/>
                  <a:pt x="26363" y="111125"/>
                </a:cubicBezTo>
                <a:lnTo>
                  <a:pt x="84733" y="111125"/>
                </a:lnTo>
                <a:close/>
                <a:moveTo>
                  <a:pt x="83344" y="125016"/>
                </a:moveTo>
                <a:lnTo>
                  <a:pt x="27781" y="125016"/>
                </a:lnTo>
                <a:lnTo>
                  <a:pt x="27781" y="129646"/>
                </a:lnTo>
                <a:cubicBezTo>
                  <a:pt x="27781" y="142437"/>
                  <a:pt x="38141" y="152797"/>
                  <a:pt x="50932" y="152797"/>
                </a:cubicBezTo>
                <a:lnTo>
                  <a:pt x="60193" y="152797"/>
                </a:lnTo>
                <a:cubicBezTo>
                  <a:pt x="72984" y="152797"/>
                  <a:pt x="83344" y="142437"/>
                  <a:pt x="83344" y="129646"/>
                </a:cubicBezTo>
                <a:lnTo>
                  <a:pt x="83344" y="125016"/>
                </a:lnTo>
                <a:close/>
                <a:moveTo>
                  <a:pt x="53247" y="32411"/>
                </a:moveTo>
                <a:cubicBezTo>
                  <a:pt x="41730" y="32411"/>
                  <a:pt x="32411" y="41730"/>
                  <a:pt x="32411" y="53247"/>
                </a:cubicBezTo>
                <a:cubicBezTo>
                  <a:pt x="32411" y="57096"/>
                  <a:pt x="29315" y="60193"/>
                  <a:pt x="25466" y="60193"/>
                </a:cubicBezTo>
                <a:cubicBezTo>
                  <a:pt x="21617" y="60193"/>
                  <a:pt x="18521" y="57096"/>
                  <a:pt x="18521" y="53247"/>
                </a:cubicBezTo>
                <a:cubicBezTo>
                  <a:pt x="18521" y="34061"/>
                  <a:pt x="34061" y="18521"/>
                  <a:pt x="53247" y="18521"/>
                </a:cubicBezTo>
                <a:cubicBezTo>
                  <a:pt x="57096" y="18521"/>
                  <a:pt x="60193" y="21617"/>
                  <a:pt x="60193" y="25466"/>
                </a:cubicBezTo>
                <a:cubicBezTo>
                  <a:pt x="60193" y="29315"/>
                  <a:pt x="57096" y="32411"/>
                  <a:pt x="53247" y="32411"/>
                </a:cubicBezTo>
                <a:close/>
              </a:path>
            </a:pathLst>
          </a:custGeom>
          <a:solidFill>
            <a:srgbClr val="B38B59"/>
          </a:solidFill>
          <a:ln/>
        </p:spPr>
        <p:txBody>
          <a:bodyPr/>
          <a:lstStyle/>
          <a:p>
            <a:endParaRPr lang="zh-CN" altLang="en-US"/>
          </a:p>
        </p:txBody>
      </p:sp>
      <p:sp>
        <p:nvSpPr>
          <p:cNvPr id="73" name="Text 71"/>
          <p:cNvSpPr/>
          <p:nvPr/>
        </p:nvSpPr>
        <p:spPr>
          <a:xfrm>
            <a:off x="11188320" y="8722199"/>
            <a:ext cx="2169583"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融合场景:</a:t>
            </a:r>
            <a:r>
              <a:rPr lang="en-US" sz="1167" dirty="0">
                <a:solidFill>
                  <a:srgbClr val="E0E2E4">
                    <a:alpha val="80000"/>
                  </a:srgbClr>
                </a:solidFill>
                <a:latin typeface="MiSans" pitchFamily="34" charset="0"/>
                <a:ea typeface="MiSans" pitchFamily="34" charset="-122"/>
                <a:cs typeface="MiSans" pitchFamily="34" charset="-120"/>
              </a:rPr>
              <a:t> Spark on Kubernetes</a:t>
            </a:r>
            <a:endParaRPr lang="en-US"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465667"/>
            <a:ext cx="338667" cy="338667"/>
          </a:xfrm>
          <a:custGeom>
            <a:avLst/>
            <a:gdLst/>
            <a:ahLst/>
            <a:cxnLst/>
            <a:rect l="l" t="t" r="r" b="b"/>
            <a:pathLst>
              <a:path w="338667" h="338667">
                <a:moveTo>
                  <a:pt x="63500" y="0"/>
                </a:moveTo>
                <a:lnTo>
                  <a:pt x="275167" y="0"/>
                </a:lnTo>
                <a:cubicBezTo>
                  <a:pt x="310213" y="0"/>
                  <a:pt x="338667" y="28453"/>
                  <a:pt x="338667" y="63500"/>
                </a:cubicBezTo>
                <a:lnTo>
                  <a:pt x="338667" y="275167"/>
                </a:lnTo>
                <a:cubicBezTo>
                  <a:pt x="338667" y="310213"/>
                  <a:pt x="310213" y="338667"/>
                  <a:pt x="275167" y="338667"/>
                </a:cubicBezTo>
                <a:lnTo>
                  <a:pt x="63500" y="338667"/>
                </a:lnTo>
                <a:cubicBezTo>
                  <a:pt x="28453" y="338667"/>
                  <a:pt x="0" y="310213"/>
                  <a:pt x="0" y="275167"/>
                </a:cubicBezTo>
                <a:lnTo>
                  <a:pt x="0" y="63500"/>
                </a:lnTo>
                <a:cubicBezTo>
                  <a:pt x="0" y="28453"/>
                  <a:pt x="28453" y="0"/>
                  <a:pt x="63500" y="0"/>
                </a:cubicBezTo>
                <a:close/>
              </a:path>
            </a:pathLst>
          </a:custGeom>
          <a:solidFill>
            <a:srgbClr val="3C8082"/>
          </a:solidFill>
          <a:ln/>
        </p:spPr>
        <p:txBody>
          <a:bodyPr/>
          <a:lstStyle/>
          <a:p>
            <a:endParaRPr lang="zh-CN" altLang="en-US"/>
          </a:p>
        </p:txBody>
      </p:sp>
      <p:sp>
        <p:nvSpPr>
          <p:cNvPr id="3" name="Text 1"/>
          <p:cNvSpPr/>
          <p:nvPr/>
        </p:nvSpPr>
        <p:spPr>
          <a:xfrm>
            <a:off x="381000" y="465667"/>
            <a:ext cx="423333" cy="338667"/>
          </a:xfrm>
          <a:prstGeom prst="rect">
            <a:avLst/>
          </a:prstGeom>
          <a:noFill/>
          <a:ln/>
        </p:spPr>
        <p:txBody>
          <a:bodyPr wrap="square" lIns="0" tIns="0" rIns="0" bIns="0" rtlCol="0" anchor="ctr"/>
          <a:lstStyle/>
          <a:p>
            <a:pPr algn="ctr">
              <a:lnSpc>
                <a:spcPct val="130000"/>
              </a:lnSpc>
            </a:pPr>
            <a:r>
              <a:rPr lang="en-US" sz="1333" b="1" dirty="0">
                <a:solidFill>
                  <a:srgbClr val="FFFFFF"/>
                </a:solidFill>
                <a:latin typeface="Liter" pitchFamily="34" charset="0"/>
                <a:ea typeface="Liter" pitchFamily="34" charset="-122"/>
                <a:cs typeface="Liter" pitchFamily="34" charset="-120"/>
              </a:rPr>
              <a:t>20</a:t>
            </a:r>
            <a:endParaRPr lang="en-US" sz="1600" dirty="0"/>
          </a:p>
        </p:txBody>
      </p:sp>
      <p:sp>
        <p:nvSpPr>
          <p:cNvPr id="4" name="Text 2"/>
          <p:cNvSpPr/>
          <p:nvPr/>
        </p:nvSpPr>
        <p:spPr>
          <a:xfrm>
            <a:off x="889000" y="423333"/>
            <a:ext cx="3238500" cy="423333"/>
          </a:xfrm>
          <a:prstGeom prst="rect">
            <a:avLst/>
          </a:prstGeom>
          <a:noFill/>
          <a:ln/>
        </p:spPr>
        <p:txBody>
          <a:bodyPr wrap="square" lIns="0" tIns="0" rIns="0" bIns="0" rtlCol="0" anchor="ctr"/>
          <a:lstStyle/>
          <a:p>
            <a:pPr>
              <a:lnSpc>
                <a:spcPct val="90000"/>
              </a:lnSpc>
            </a:pPr>
            <a:r>
              <a:rPr lang="en-US" sz="3000" b="1" dirty="0">
                <a:solidFill>
                  <a:srgbClr val="E0E2E4"/>
                </a:solidFill>
                <a:latin typeface="MiSans" pitchFamily="34" charset="0"/>
                <a:ea typeface="MiSans" pitchFamily="34" charset="-122"/>
                <a:cs typeface="MiSans" pitchFamily="34" charset="-120"/>
              </a:rPr>
              <a:t>隔离机制全面对比</a:t>
            </a:r>
            <a:endParaRPr lang="en-US" sz="1600" dirty="0"/>
          </a:p>
        </p:txBody>
      </p:sp>
      <p:sp>
        <p:nvSpPr>
          <p:cNvPr id="5" name="Text 3"/>
          <p:cNvSpPr/>
          <p:nvPr/>
        </p:nvSpPr>
        <p:spPr>
          <a:xfrm>
            <a:off x="423333" y="931333"/>
            <a:ext cx="15504583" cy="296333"/>
          </a:xfrm>
          <a:prstGeom prst="rect">
            <a:avLst/>
          </a:prstGeom>
          <a:noFill/>
          <a:ln/>
        </p:spPr>
        <p:txBody>
          <a:bodyPr wrap="square" lIns="0" tIns="0" rIns="0" bIns="0" rtlCol="0" anchor="ctr"/>
          <a:lstStyle/>
          <a:p>
            <a:pPr>
              <a:lnSpc>
                <a:spcPct val="130000"/>
              </a:lnSpc>
            </a:pPr>
            <a:r>
              <a:rPr lang="en-US" sz="1500" b="1" dirty="0">
                <a:solidFill>
                  <a:srgbClr val="B38B59"/>
                </a:solidFill>
                <a:latin typeface="MiSans" pitchFamily="34" charset="0"/>
                <a:ea typeface="MiSans" pitchFamily="34" charset="-122"/>
                <a:cs typeface="MiSans" pitchFamily="34" charset="-120"/>
              </a:rPr>
              <a:t>从进程隔离到安全机制:多维度技术对比分析</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23333" y="1397000"/>
          <a:ext cx="15409333" cy="6646332"/>
        </p:xfrm>
        <a:graphic>
          <a:graphicData uri="http://schemas.openxmlformats.org/drawingml/2006/table">
            <a:tbl>
              <a:tblPr/>
              <a:tblGrid>
                <a:gridCol w="3081867">
                  <a:extLst>
                    <a:ext uri="{9D8B030D-6E8A-4147-A177-3AD203B41FA5}">
                      <a16:colId xmlns:a16="http://schemas.microsoft.com/office/drawing/2014/main" val="20000"/>
                    </a:ext>
                  </a:extLst>
                </a:gridCol>
                <a:gridCol w="6163733">
                  <a:extLst>
                    <a:ext uri="{9D8B030D-6E8A-4147-A177-3AD203B41FA5}">
                      <a16:colId xmlns:a16="http://schemas.microsoft.com/office/drawing/2014/main" val="20001"/>
                    </a:ext>
                  </a:extLst>
                </a:gridCol>
                <a:gridCol w="6163733">
                  <a:extLst>
                    <a:ext uri="{9D8B030D-6E8A-4147-A177-3AD203B41FA5}">
                      <a16:colId xmlns:a16="http://schemas.microsoft.com/office/drawing/2014/main" val="20002"/>
                    </a:ext>
                  </a:extLst>
                </a:gridCol>
              </a:tblGrid>
              <a:tr h="949476">
                <a:tc>
                  <a:txBody>
                    <a:bodyPr/>
                    <a:lstStyle/>
                    <a:p>
                      <a:pPr algn="l"/>
                      <a:r>
                        <a:rPr lang="en-US" sz="1100" b="1" u="none" dirty="0">
                          <a:solidFill>
                            <a:srgbClr val="B38B59"/>
                          </a:solidFill>
                          <a:latin typeface="微软雅黑" pitchFamily="34" charset="0"/>
                          <a:ea typeface="微软雅黑" pitchFamily="34" charset="-122"/>
                          <a:cs typeface="微软雅黑" pitchFamily="34" charset="-120"/>
                        </a:rPr>
                        <a:t>对比维度</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3C8082"/>
                      </a:solidFill>
                      <a:prstDash val="solid"/>
                      <a:round/>
                      <a:headEnd type="none" w="med" len="med"/>
                      <a:tailEnd type="none" w="med" len="med"/>
                    </a:lnB>
                    <a:solidFill>
                      <a:srgbClr val="3C8082">
                        <a:alpha val="20000"/>
                      </a:srgbClr>
                    </a:solidFill>
                  </a:tcPr>
                </a:tc>
                <a:tc>
                  <a:txBody>
                    <a:bodyPr/>
                    <a:lstStyle/>
                    <a:p>
                      <a:pPr algn="l"/>
                      <a:r>
                        <a:rPr lang="en-US" sz="1100" b="1" u="none" dirty="0">
                          <a:solidFill>
                            <a:srgbClr val="E0E2E4"/>
                          </a:solidFill>
                          <a:latin typeface="微软雅黑" pitchFamily="34" charset="0"/>
                          <a:ea typeface="微软雅黑" pitchFamily="34" charset="-122"/>
                          <a:cs typeface="微软雅黑" pitchFamily="34" charset="-120"/>
                        </a:rPr>
                        <a:t>YARN Container</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3C8082"/>
                      </a:solidFill>
                      <a:prstDash val="solid"/>
                      <a:round/>
                      <a:headEnd type="none" w="med" len="med"/>
                      <a:tailEnd type="none" w="med" len="med"/>
                    </a:lnB>
                    <a:solidFill>
                      <a:srgbClr val="3C8082">
                        <a:alpha val="20000"/>
                      </a:srgbClr>
                    </a:solidFill>
                  </a:tcPr>
                </a:tc>
                <a:tc>
                  <a:txBody>
                    <a:bodyPr/>
                    <a:lstStyle/>
                    <a:p>
                      <a:pPr algn="l"/>
                      <a:r>
                        <a:rPr lang="en-US" sz="1100" b="1" u="none" dirty="0">
                          <a:solidFill>
                            <a:srgbClr val="E0E2E4"/>
                          </a:solidFill>
                          <a:latin typeface="微软雅黑" pitchFamily="34" charset="0"/>
                          <a:ea typeface="微软雅黑" pitchFamily="34" charset="-122"/>
                          <a:cs typeface="微软雅黑" pitchFamily="34" charset="-120"/>
                        </a:rPr>
                        <a:t>Kubernetes Pod</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3C8082"/>
                      </a:solidFill>
                      <a:prstDash val="solid"/>
                      <a:round/>
                      <a:headEnd type="none" w="med" len="med"/>
                      <a:tailEnd type="none" w="med" len="med"/>
                    </a:lnB>
                    <a:solidFill>
                      <a:srgbClr val="3C8082">
                        <a:alpha val="20000"/>
                      </a:srgbClr>
                    </a:solidFill>
                  </a:tcPr>
                </a:tc>
                <a:extLst>
                  <a:ext uri="{0D108BD9-81ED-4DB2-BD59-A6C34878D82A}">
                    <a16:rowId xmlns:a16="http://schemas.microsoft.com/office/drawing/2014/main" val="10000"/>
                  </a:ext>
                </a:extLst>
              </a:tr>
              <a:tr h="949476">
                <a:tc>
                  <a:txBody>
                    <a:bodyPr/>
                    <a:lstStyle/>
                    <a:p>
                      <a:r>
                        <a:rPr lang="en-US" sz="1100" b="1" u="none" dirty="0">
                          <a:solidFill>
                            <a:srgbClr val="B38B59"/>
                          </a:solidFill>
                          <a:latin typeface="微软雅黑" pitchFamily="34" charset="0"/>
                          <a:ea typeface="微软雅黑" pitchFamily="34" charset="-122"/>
                          <a:cs typeface="微软雅黑" pitchFamily="34" charset="-120"/>
                        </a:rPr>
                        <a:t>进程隔离</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3C808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100" u="none" dirty="0">
                          <a:solidFill>
                            <a:srgbClr val="E0E2E4"/>
                          </a:solidFill>
                          <a:latin typeface="微软雅黑" pitchFamily="34" charset="0"/>
                          <a:ea typeface="微软雅黑" pitchFamily="34" charset="-122"/>
                          <a:cs typeface="微软雅黑" pitchFamily="34" charset="-120"/>
                        </a:rPr>
                        <a:t>基础进程隔离</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JVM进程边界隔离</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共享宿主机内核空间</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适用于可信环境</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3C808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100" u="none" dirty="0">
                          <a:solidFill>
                            <a:srgbClr val="E0E2E4"/>
                          </a:solidFill>
                          <a:latin typeface="微软雅黑" pitchFamily="34" charset="0"/>
                          <a:ea typeface="微软雅黑" pitchFamily="34" charset="-122"/>
                          <a:cs typeface="微软雅黑" pitchFamily="34" charset="-120"/>
                        </a:rPr>
                        <a:t>完整Namespace隔离</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PID/Network/Mount/UTS/IPC/User Namespace</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独立系统视图和资源空间</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适合多租户环境</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3C808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extLst>
                  <a:ext uri="{0D108BD9-81ED-4DB2-BD59-A6C34878D82A}">
                    <a16:rowId xmlns:a16="http://schemas.microsoft.com/office/drawing/2014/main" val="10001"/>
                  </a:ext>
                </a:extLst>
              </a:tr>
              <a:tr h="949476">
                <a:tc>
                  <a:txBody>
                    <a:bodyPr/>
                    <a:lstStyle/>
                    <a:p>
                      <a:r>
                        <a:rPr lang="en-US" sz="1100" b="1" u="none" dirty="0">
                          <a:solidFill>
                            <a:srgbClr val="B38B59"/>
                          </a:solidFill>
                          <a:latin typeface="微软雅黑" pitchFamily="34" charset="0"/>
                          <a:ea typeface="微软雅黑" pitchFamily="34" charset="-122"/>
                          <a:cs typeface="微软雅黑" pitchFamily="34" charset="-120"/>
                        </a:rPr>
                        <a:t>资源控制</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0E2E4"/>
                          </a:solidFill>
                          <a:latin typeface="微软雅黑" pitchFamily="34" charset="0"/>
                          <a:ea typeface="微软雅黑" pitchFamily="34" charset="-122"/>
                          <a:cs typeface="微软雅黑" pitchFamily="34" charset="-120"/>
                        </a:rPr>
                        <a:t>JVM + CGroups</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JVM参数控制堆内存、线程数</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LinuxContainerExecutor使用CGroups v1</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资源控制精度有限</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0E2E4"/>
                          </a:solidFill>
                          <a:latin typeface="微软雅黑" pitchFamily="34" charset="0"/>
                          <a:ea typeface="微软雅黑" pitchFamily="34" charset="-122"/>
                          <a:cs typeface="微软雅黑" pitchFamily="34" charset="-120"/>
                        </a:rPr>
                        <a:t>CGroups v1/v2</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支持requests/limits资源模型</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QoS分级(BestEffort/Burstable/Guaranteed)</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精确的多维度资源控制</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949476">
                <a:tc>
                  <a:txBody>
                    <a:bodyPr/>
                    <a:lstStyle/>
                    <a:p>
                      <a:r>
                        <a:rPr lang="en-US" sz="1100" b="1" u="none" dirty="0">
                          <a:solidFill>
                            <a:srgbClr val="B38B59"/>
                          </a:solidFill>
                          <a:latin typeface="微软雅黑" pitchFamily="34" charset="0"/>
                          <a:ea typeface="微软雅黑" pitchFamily="34" charset="-122"/>
                          <a:cs typeface="微软雅黑" pitchFamily="34" charset="-120"/>
                        </a:rPr>
                        <a:t>网络隔离</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100" u="none" dirty="0">
                          <a:solidFill>
                            <a:srgbClr val="E0E2E4"/>
                          </a:solidFill>
                          <a:latin typeface="微软雅黑" pitchFamily="34" charset="0"/>
                          <a:ea typeface="微软雅黑" pitchFamily="34" charset="-122"/>
                          <a:cs typeface="微软雅黑" pitchFamily="34" charset="-120"/>
                        </a:rPr>
                        <a:t>端口分配 + CGroups</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基础端口分配避免冲突</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LinuxCE支持Network Namespace</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网络策略能力有限</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100" u="none" dirty="0">
                          <a:solidFill>
                            <a:srgbClr val="E0E2E4"/>
                          </a:solidFill>
                          <a:latin typeface="微软雅黑" pitchFamily="34" charset="0"/>
                          <a:ea typeface="微软雅黑" pitchFamily="34" charset="-122"/>
                          <a:cs typeface="微软雅黑" pitchFamily="34" charset="-120"/>
                        </a:rPr>
                        <a:t>NetworkPolicy + CNI</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基于标签的网络策略</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支持多种CNI插件(Flannel/Calico/Cilium)</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Service Mesh(mTLS/RBAC)</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extLst>
                  <a:ext uri="{0D108BD9-81ED-4DB2-BD59-A6C34878D82A}">
                    <a16:rowId xmlns:a16="http://schemas.microsoft.com/office/drawing/2014/main" val="10003"/>
                  </a:ext>
                </a:extLst>
              </a:tr>
              <a:tr h="949476">
                <a:tc>
                  <a:txBody>
                    <a:bodyPr/>
                    <a:lstStyle/>
                    <a:p>
                      <a:r>
                        <a:rPr lang="en-US" sz="1100" b="1" u="none" dirty="0">
                          <a:solidFill>
                            <a:srgbClr val="B38B59"/>
                          </a:solidFill>
                          <a:latin typeface="微软雅黑" pitchFamily="34" charset="0"/>
                          <a:ea typeface="微软雅黑" pitchFamily="34" charset="-122"/>
                          <a:cs typeface="微软雅黑" pitchFamily="34" charset="-120"/>
                        </a:rPr>
                        <a:t>存储隔离</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0E2E4"/>
                          </a:solidFill>
                          <a:latin typeface="微软雅黑" pitchFamily="34" charset="0"/>
                          <a:ea typeface="微软雅黑" pitchFamily="34" charset="-122"/>
                          <a:cs typeface="微软雅黑" pitchFamily="34" charset="-120"/>
                        </a:rPr>
                        <a:t>目录隔离</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工作目录和临时目录分离</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日志文件隔离</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数据本地性优化(HDFS)</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0E2E4"/>
                          </a:solidFill>
                          <a:latin typeface="微软雅黑" pitchFamily="34" charset="0"/>
                          <a:ea typeface="微软雅黑" pitchFamily="34" charset="-122"/>
                          <a:cs typeface="微软雅黑" pitchFamily="34" charset="-120"/>
                        </a:rPr>
                        <a:t>PV/PVC + StorageClass</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持久化卷与声明绑定机制</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支持多种存储类型(NFS/云存储)</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动态供给和存储类管理</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949476">
                <a:tc>
                  <a:txBody>
                    <a:bodyPr/>
                    <a:lstStyle/>
                    <a:p>
                      <a:r>
                        <a:rPr lang="en-US" sz="1100" b="1" u="none" dirty="0">
                          <a:solidFill>
                            <a:srgbClr val="B38B59"/>
                          </a:solidFill>
                          <a:latin typeface="微软雅黑" pitchFamily="34" charset="0"/>
                          <a:ea typeface="微软雅黑" pitchFamily="34" charset="-122"/>
                          <a:cs typeface="微软雅黑" pitchFamily="34" charset="-120"/>
                        </a:rPr>
                        <a:t>安全隔离</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100" u="none" dirty="0">
                          <a:solidFill>
                            <a:srgbClr val="E0E2E4"/>
                          </a:solidFill>
                          <a:latin typeface="微软雅黑" pitchFamily="34" charset="0"/>
                          <a:ea typeface="微软雅黑" pitchFamily="34" charset="-122"/>
                          <a:cs typeface="微软雅黑" pitchFamily="34" charset="-120"/>
                        </a:rPr>
                        <a:t>基础权限控制</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用户身份验证和文件权限</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ContainerToken访问控制</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有限的安全策略支持</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tc>
                  <a:txBody>
                    <a:bodyPr/>
                    <a:lstStyle/>
                    <a:p>
                      <a:r>
                        <a:rPr lang="en-US" sz="1100" u="none" dirty="0">
                          <a:solidFill>
                            <a:srgbClr val="E0E2E4"/>
                          </a:solidFill>
                          <a:latin typeface="微软雅黑" pitchFamily="34" charset="0"/>
                          <a:ea typeface="微软雅黑" pitchFamily="34" charset="-122"/>
                          <a:cs typeface="微软雅黑" pitchFamily="34" charset="-120"/>
                        </a:rPr>
                        <a:t>多层次安全体系</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SecurityContext/NetworkPolicy</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PodSecurityPolicy/OPA Gatekeeper</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Seccomp/AppArmor/SELinux</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C8082">
                        <a:alpha val="5000"/>
                      </a:srgbClr>
                    </a:solidFill>
                  </a:tcPr>
                </a:tc>
                <a:extLst>
                  <a:ext uri="{0D108BD9-81ED-4DB2-BD59-A6C34878D82A}">
                    <a16:rowId xmlns:a16="http://schemas.microsoft.com/office/drawing/2014/main" val="10005"/>
                  </a:ext>
                </a:extLst>
              </a:tr>
              <a:tr h="949476">
                <a:tc>
                  <a:txBody>
                    <a:bodyPr/>
                    <a:lstStyle/>
                    <a:p>
                      <a:r>
                        <a:rPr lang="en-US" sz="1100" b="1" u="none" dirty="0">
                          <a:solidFill>
                            <a:srgbClr val="B38B59"/>
                          </a:solidFill>
                          <a:latin typeface="微软雅黑" pitchFamily="34" charset="0"/>
                          <a:ea typeface="微软雅黑" pitchFamily="34" charset="-122"/>
                          <a:cs typeface="微软雅黑" pitchFamily="34" charset="-120"/>
                        </a:rPr>
                        <a:t>监控能力</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0E2E4"/>
                          </a:solidFill>
                          <a:latin typeface="微软雅黑" pitchFamily="34" charset="0"/>
                          <a:ea typeface="微软雅黑" pitchFamily="34" charset="-122"/>
                          <a:cs typeface="微软雅黑" pitchFamily="34" charset="-120"/>
                        </a:rPr>
                        <a:t>JMX + CGroups</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JVM内存、GC状态监控</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CGroups资源使用统计</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监控粒度较粗</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0E2E4"/>
                          </a:solidFill>
                          <a:latin typeface="微软雅黑" pitchFamily="34" charset="0"/>
                          <a:ea typeface="微软雅黑" pitchFamily="34" charset="-122"/>
                          <a:cs typeface="微软雅黑" pitchFamily="34" charset="-120"/>
                        </a:rPr>
                        <a:t>完整可观测性</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Metrics Server/Prometheus</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PSI压力监控(v2支持)</a:t>
                      </a:r>
                      <a:endParaRPr lang="en-US" sz="1100" dirty="0">
                        <a:latin typeface="微软雅黑" charset="0"/>
                        <a:ea typeface="微软雅黑" charset="0"/>
                        <a:cs typeface="微软雅黑" charset="0"/>
                      </a:endParaRPr>
                    </a:p>
                    <a:p>
                      <a:r>
                        <a:rPr lang="en-US" sz="1100" u="none" dirty="0">
                          <a:solidFill>
                            <a:srgbClr val="E0E2E4"/>
                          </a:solidFill>
                          <a:latin typeface="微软雅黑" pitchFamily="34" charset="0"/>
                          <a:ea typeface="微软雅黑" pitchFamily="34" charset="-122"/>
                          <a:cs typeface="微软雅黑" pitchFamily="34" charset="-120"/>
                        </a:rPr>
                        <a:t>• 丰富的监控生态</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6"/>
                  </a:ext>
                </a:extLst>
              </a:tr>
            </a:tbl>
          </a:graphicData>
        </a:graphic>
      </p:graphicFrame>
      <p:sp>
        <p:nvSpPr>
          <p:cNvPr id="7" name="Shape 4"/>
          <p:cNvSpPr/>
          <p:nvPr/>
        </p:nvSpPr>
        <p:spPr>
          <a:xfrm>
            <a:off x="428625" y="9720792"/>
            <a:ext cx="5016500" cy="1407583"/>
          </a:xfrm>
          <a:custGeom>
            <a:avLst/>
            <a:gdLst/>
            <a:ahLst/>
            <a:cxnLst/>
            <a:rect l="l" t="t" r="r" b="b"/>
            <a:pathLst>
              <a:path w="5016500" h="1407583">
                <a:moveTo>
                  <a:pt x="84666" y="0"/>
                </a:moveTo>
                <a:lnTo>
                  <a:pt x="4931834" y="0"/>
                </a:lnTo>
                <a:cubicBezTo>
                  <a:pt x="4978594" y="0"/>
                  <a:pt x="5016500" y="37906"/>
                  <a:pt x="5016500" y="84666"/>
                </a:cubicBezTo>
                <a:lnTo>
                  <a:pt x="5016500" y="1322917"/>
                </a:lnTo>
                <a:cubicBezTo>
                  <a:pt x="5016500" y="1369677"/>
                  <a:pt x="4978594" y="1407583"/>
                  <a:pt x="4931834" y="1407583"/>
                </a:cubicBezTo>
                <a:lnTo>
                  <a:pt x="84666" y="1407583"/>
                </a:lnTo>
                <a:cubicBezTo>
                  <a:pt x="37906" y="1407583"/>
                  <a:pt x="0" y="1369677"/>
                  <a:pt x="0" y="1322917"/>
                </a:cubicBezTo>
                <a:lnTo>
                  <a:pt x="0" y="84666"/>
                </a:lnTo>
                <a:cubicBezTo>
                  <a:pt x="0" y="37938"/>
                  <a:pt x="37938" y="0"/>
                  <a:pt x="84666"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8" name="Text 5"/>
          <p:cNvSpPr/>
          <p:nvPr/>
        </p:nvSpPr>
        <p:spPr>
          <a:xfrm>
            <a:off x="560917" y="9853083"/>
            <a:ext cx="4847167" cy="296333"/>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隔离强度评估</a:t>
            </a:r>
            <a:endParaRPr lang="en-US" sz="1600" dirty="0"/>
          </a:p>
        </p:txBody>
      </p:sp>
      <p:sp>
        <p:nvSpPr>
          <p:cNvPr id="9" name="Text 6"/>
          <p:cNvSpPr/>
          <p:nvPr/>
        </p:nvSpPr>
        <p:spPr>
          <a:xfrm>
            <a:off x="560917" y="10234083"/>
            <a:ext cx="1174750" cy="211667"/>
          </a:xfrm>
          <a:prstGeom prst="rect">
            <a:avLst/>
          </a:prstGeom>
          <a:noFill/>
          <a:ln/>
        </p:spPr>
        <p:txBody>
          <a:bodyPr wrap="square" lIns="0" tIns="0" rIns="0" bIns="0" rtlCol="0" anchor="ctr"/>
          <a:lstStyle/>
          <a:p>
            <a:pPr>
              <a:lnSpc>
                <a:spcPct val="120000"/>
              </a:lnSpc>
            </a:pPr>
            <a:r>
              <a:rPr lang="en-US" sz="1167" dirty="0">
                <a:solidFill>
                  <a:srgbClr val="E0E2E4"/>
                </a:solidFill>
                <a:latin typeface="MiSans" pitchFamily="34" charset="0"/>
                <a:ea typeface="MiSans" pitchFamily="34" charset="-122"/>
                <a:cs typeface="MiSans" pitchFamily="34" charset="-120"/>
              </a:rPr>
              <a:t>YARN Container</a:t>
            </a:r>
            <a:endParaRPr lang="en-US" sz="1600" dirty="0"/>
          </a:p>
        </p:txBody>
      </p:sp>
      <p:sp>
        <p:nvSpPr>
          <p:cNvPr id="10" name="Text 7"/>
          <p:cNvSpPr/>
          <p:nvPr/>
        </p:nvSpPr>
        <p:spPr>
          <a:xfrm>
            <a:off x="5012945" y="10234083"/>
            <a:ext cx="370417" cy="211667"/>
          </a:xfrm>
          <a:prstGeom prst="rect">
            <a:avLst/>
          </a:prstGeom>
          <a:noFill/>
          <a:ln/>
        </p:spPr>
        <p:txBody>
          <a:bodyPr wrap="square" lIns="0" tIns="0" rIns="0" bIns="0" rtlCol="0" anchor="ctr"/>
          <a:lstStyle/>
          <a:p>
            <a:pPr>
              <a:lnSpc>
                <a:spcPct val="120000"/>
              </a:lnSpc>
            </a:pPr>
            <a:r>
              <a:rPr lang="en-US" sz="1167" dirty="0">
                <a:solidFill>
                  <a:srgbClr val="B38B59"/>
                </a:solidFill>
                <a:latin typeface="MiSans" pitchFamily="34" charset="0"/>
                <a:ea typeface="MiSans" pitchFamily="34" charset="-122"/>
                <a:cs typeface="MiSans" pitchFamily="34" charset="-120"/>
              </a:rPr>
              <a:t>中等</a:t>
            </a:r>
            <a:endParaRPr lang="en-US" sz="1600" dirty="0"/>
          </a:p>
        </p:txBody>
      </p:sp>
      <p:sp>
        <p:nvSpPr>
          <p:cNvPr id="11" name="Shape 8"/>
          <p:cNvSpPr/>
          <p:nvPr/>
        </p:nvSpPr>
        <p:spPr>
          <a:xfrm>
            <a:off x="560917" y="10488083"/>
            <a:ext cx="4751917" cy="84667"/>
          </a:xfrm>
          <a:custGeom>
            <a:avLst/>
            <a:gdLst/>
            <a:ahLst/>
            <a:cxnLst/>
            <a:rect l="l" t="t" r="r" b="b"/>
            <a:pathLst>
              <a:path w="4751917" h="84667">
                <a:moveTo>
                  <a:pt x="42333" y="0"/>
                </a:moveTo>
                <a:lnTo>
                  <a:pt x="4709583" y="0"/>
                </a:lnTo>
                <a:cubicBezTo>
                  <a:pt x="4732963" y="0"/>
                  <a:pt x="4751917" y="18953"/>
                  <a:pt x="4751917" y="42333"/>
                </a:cubicBezTo>
                <a:lnTo>
                  <a:pt x="4751917" y="42333"/>
                </a:lnTo>
                <a:cubicBezTo>
                  <a:pt x="4751917" y="65713"/>
                  <a:pt x="4732963" y="84667"/>
                  <a:pt x="4709583" y="84667"/>
                </a:cubicBezTo>
                <a:lnTo>
                  <a:pt x="42333" y="84667"/>
                </a:lnTo>
                <a:cubicBezTo>
                  <a:pt x="18953" y="84667"/>
                  <a:pt x="0" y="65713"/>
                  <a:pt x="0" y="42333"/>
                </a:cubicBezTo>
                <a:lnTo>
                  <a:pt x="0" y="42333"/>
                </a:lnTo>
                <a:cubicBezTo>
                  <a:pt x="0" y="18953"/>
                  <a:pt x="18953" y="0"/>
                  <a:pt x="42333" y="0"/>
                </a:cubicBezTo>
                <a:close/>
              </a:path>
            </a:pathLst>
          </a:custGeom>
          <a:solidFill>
            <a:srgbClr val="6D7275">
              <a:alpha val="30196"/>
            </a:srgbClr>
          </a:solidFill>
          <a:ln/>
        </p:spPr>
        <p:txBody>
          <a:bodyPr/>
          <a:lstStyle/>
          <a:p>
            <a:endParaRPr lang="zh-CN" altLang="en-US"/>
          </a:p>
        </p:txBody>
      </p:sp>
      <p:sp>
        <p:nvSpPr>
          <p:cNvPr id="12" name="Shape 9"/>
          <p:cNvSpPr/>
          <p:nvPr/>
        </p:nvSpPr>
        <p:spPr>
          <a:xfrm>
            <a:off x="560917" y="10488083"/>
            <a:ext cx="1894417" cy="84667"/>
          </a:xfrm>
          <a:custGeom>
            <a:avLst/>
            <a:gdLst/>
            <a:ahLst/>
            <a:cxnLst/>
            <a:rect l="l" t="t" r="r" b="b"/>
            <a:pathLst>
              <a:path w="1894417" h="84667">
                <a:moveTo>
                  <a:pt x="42333" y="0"/>
                </a:moveTo>
                <a:lnTo>
                  <a:pt x="1852083" y="0"/>
                </a:lnTo>
                <a:cubicBezTo>
                  <a:pt x="1875463" y="0"/>
                  <a:pt x="1894417" y="18953"/>
                  <a:pt x="1894417" y="42333"/>
                </a:cubicBezTo>
                <a:lnTo>
                  <a:pt x="1894417" y="42333"/>
                </a:lnTo>
                <a:cubicBezTo>
                  <a:pt x="1894417" y="65713"/>
                  <a:pt x="1875463" y="84667"/>
                  <a:pt x="1852083" y="84667"/>
                </a:cubicBezTo>
                <a:lnTo>
                  <a:pt x="42333" y="84667"/>
                </a:lnTo>
                <a:cubicBezTo>
                  <a:pt x="18953" y="84667"/>
                  <a:pt x="0" y="65713"/>
                  <a:pt x="0" y="42333"/>
                </a:cubicBezTo>
                <a:lnTo>
                  <a:pt x="0" y="42333"/>
                </a:lnTo>
                <a:cubicBezTo>
                  <a:pt x="0" y="18953"/>
                  <a:pt x="18953" y="0"/>
                  <a:pt x="42333" y="0"/>
                </a:cubicBezTo>
                <a:close/>
              </a:path>
            </a:pathLst>
          </a:custGeom>
          <a:solidFill>
            <a:srgbClr val="6D7275"/>
          </a:solidFill>
          <a:ln/>
        </p:spPr>
        <p:txBody>
          <a:bodyPr/>
          <a:lstStyle/>
          <a:p>
            <a:endParaRPr lang="zh-CN" altLang="en-US"/>
          </a:p>
        </p:txBody>
      </p:sp>
      <p:sp>
        <p:nvSpPr>
          <p:cNvPr id="13" name="Text 10"/>
          <p:cNvSpPr/>
          <p:nvPr/>
        </p:nvSpPr>
        <p:spPr>
          <a:xfrm>
            <a:off x="560917" y="10657417"/>
            <a:ext cx="1164167" cy="211667"/>
          </a:xfrm>
          <a:prstGeom prst="rect">
            <a:avLst/>
          </a:prstGeom>
          <a:noFill/>
          <a:ln/>
        </p:spPr>
        <p:txBody>
          <a:bodyPr wrap="square" lIns="0" tIns="0" rIns="0" bIns="0" rtlCol="0" anchor="ctr"/>
          <a:lstStyle/>
          <a:p>
            <a:pPr>
              <a:lnSpc>
                <a:spcPct val="120000"/>
              </a:lnSpc>
            </a:pPr>
            <a:r>
              <a:rPr lang="en-US" sz="1167" dirty="0">
                <a:solidFill>
                  <a:srgbClr val="E0E2E4"/>
                </a:solidFill>
                <a:latin typeface="MiSans" pitchFamily="34" charset="0"/>
                <a:ea typeface="MiSans" pitchFamily="34" charset="-122"/>
                <a:cs typeface="MiSans" pitchFamily="34" charset="-120"/>
              </a:rPr>
              <a:t>Kubernetes Pod</a:t>
            </a:r>
            <a:endParaRPr lang="en-US" sz="1600" dirty="0"/>
          </a:p>
        </p:txBody>
      </p:sp>
      <p:sp>
        <p:nvSpPr>
          <p:cNvPr id="14" name="Text 11"/>
          <p:cNvSpPr/>
          <p:nvPr/>
        </p:nvSpPr>
        <p:spPr>
          <a:xfrm>
            <a:off x="5161111" y="10657417"/>
            <a:ext cx="222250" cy="211667"/>
          </a:xfrm>
          <a:prstGeom prst="rect">
            <a:avLst/>
          </a:prstGeom>
          <a:noFill/>
          <a:ln/>
        </p:spPr>
        <p:txBody>
          <a:bodyPr wrap="square" lIns="0" tIns="0" rIns="0" bIns="0" rtlCol="0" anchor="ctr"/>
          <a:lstStyle/>
          <a:p>
            <a:pPr>
              <a:lnSpc>
                <a:spcPct val="120000"/>
              </a:lnSpc>
            </a:pPr>
            <a:r>
              <a:rPr lang="en-US" sz="1167" dirty="0">
                <a:solidFill>
                  <a:srgbClr val="B38B59"/>
                </a:solidFill>
                <a:latin typeface="MiSans" pitchFamily="34" charset="0"/>
                <a:ea typeface="MiSans" pitchFamily="34" charset="-122"/>
                <a:cs typeface="MiSans" pitchFamily="34" charset="-120"/>
              </a:rPr>
              <a:t>强</a:t>
            </a:r>
            <a:endParaRPr lang="en-US" sz="1600" dirty="0"/>
          </a:p>
        </p:txBody>
      </p:sp>
      <p:sp>
        <p:nvSpPr>
          <p:cNvPr id="15" name="Shape 12"/>
          <p:cNvSpPr/>
          <p:nvPr/>
        </p:nvSpPr>
        <p:spPr>
          <a:xfrm>
            <a:off x="560917" y="10911417"/>
            <a:ext cx="4751917" cy="84667"/>
          </a:xfrm>
          <a:custGeom>
            <a:avLst/>
            <a:gdLst/>
            <a:ahLst/>
            <a:cxnLst/>
            <a:rect l="l" t="t" r="r" b="b"/>
            <a:pathLst>
              <a:path w="4751917" h="84667">
                <a:moveTo>
                  <a:pt x="42333" y="0"/>
                </a:moveTo>
                <a:lnTo>
                  <a:pt x="4709583" y="0"/>
                </a:lnTo>
                <a:cubicBezTo>
                  <a:pt x="4732963" y="0"/>
                  <a:pt x="4751917" y="18953"/>
                  <a:pt x="4751917" y="42333"/>
                </a:cubicBezTo>
                <a:lnTo>
                  <a:pt x="4751917" y="42333"/>
                </a:lnTo>
                <a:cubicBezTo>
                  <a:pt x="4751917" y="65713"/>
                  <a:pt x="4732963" y="84667"/>
                  <a:pt x="4709583" y="84667"/>
                </a:cubicBezTo>
                <a:lnTo>
                  <a:pt x="42333" y="84667"/>
                </a:lnTo>
                <a:cubicBezTo>
                  <a:pt x="18953" y="84667"/>
                  <a:pt x="0" y="65713"/>
                  <a:pt x="0" y="42333"/>
                </a:cubicBezTo>
                <a:lnTo>
                  <a:pt x="0" y="42333"/>
                </a:lnTo>
                <a:cubicBezTo>
                  <a:pt x="0" y="18953"/>
                  <a:pt x="18953" y="0"/>
                  <a:pt x="42333" y="0"/>
                </a:cubicBezTo>
                <a:close/>
              </a:path>
            </a:pathLst>
          </a:custGeom>
          <a:solidFill>
            <a:srgbClr val="3C8082">
              <a:alpha val="30196"/>
            </a:srgbClr>
          </a:solidFill>
          <a:ln/>
        </p:spPr>
        <p:txBody>
          <a:bodyPr/>
          <a:lstStyle/>
          <a:p>
            <a:endParaRPr lang="zh-CN" altLang="en-US"/>
          </a:p>
        </p:txBody>
      </p:sp>
      <p:sp>
        <p:nvSpPr>
          <p:cNvPr id="16" name="Shape 13"/>
          <p:cNvSpPr/>
          <p:nvPr/>
        </p:nvSpPr>
        <p:spPr>
          <a:xfrm>
            <a:off x="560917" y="10911417"/>
            <a:ext cx="3799417" cy="84667"/>
          </a:xfrm>
          <a:custGeom>
            <a:avLst/>
            <a:gdLst/>
            <a:ahLst/>
            <a:cxnLst/>
            <a:rect l="l" t="t" r="r" b="b"/>
            <a:pathLst>
              <a:path w="3799417" h="84667">
                <a:moveTo>
                  <a:pt x="42333" y="0"/>
                </a:moveTo>
                <a:lnTo>
                  <a:pt x="3757083" y="0"/>
                </a:lnTo>
                <a:cubicBezTo>
                  <a:pt x="3780463" y="0"/>
                  <a:pt x="3799417" y="18953"/>
                  <a:pt x="3799417" y="42333"/>
                </a:cubicBezTo>
                <a:lnTo>
                  <a:pt x="3799417" y="42333"/>
                </a:lnTo>
                <a:cubicBezTo>
                  <a:pt x="3799417" y="65713"/>
                  <a:pt x="3780463" y="84667"/>
                  <a:pt x="3757083" y="84667"/>
                </a:cubicBezTo>
                <a:lnTo>
                  <a:pt x="42333" y="84667"/>
                </a:lnTo>
                <a:cubicBezTo>
                  <a:pt x="18953" y="84667"/>
                  <a:pt x="0" y="65713"/>
                  <a:pt x="0" y="42333"/>
                </a:cubicBezTo>
                <a:lnTo>
                  <a:pt x="0" y="42333"/>
                </a:lnTo>
                <a:cubicBezTo>
                  <a:pt x="0" y="18953"/>
                  <a:pt x="18953" y="0"/>
                  <a:pt x="42333" y="0"/>
                </a:cubicBezTo>
                <a:close/>
              </a:path>
            </a:pathLst>
          </a:custGeom>
          <a:solidFill>
            <a:srgbClr val="3C8082"/>
          </a:solidFill>
          <a:ln/>
        </p:spPr>
        <p:txBody>
          <a:bodyPr/>
          <a:lstStyle/>
          <a:p>
            <a:endParaRPr lang="zh-CN" altLang="en-US"/>
          </a:p>
        </p:txBody>
      </p:sp>
      <p:sp>
        <p:nvSpPr>
          <p:cNvPr id="17" name="Shape 14"/>
          <p:cNvSpPr/>
          <p:nvPr/>
        </p:nvSpPr>
        <p:spPr>
          <a:xfrm>
            <a:off x="5621486" y="9720792"/>
            <a:ext cx="5016500" cy="1407583"/>
          </a:xfrm>
          <a:custGeom>
            <a:avLst/>
            <a:gdLst/>
            <a:ahLst/>
            <a:cxnLst/>
            <a:rect l="l" t="t" r="r" b="b"/>
            <a:pathLst>
              <a:path w="5016500" h="1407583">
                <a:moveTo>
                  <a:pt x="84666" y="0"/>
                </a:moveTo>
                <a:lnTo>
                  <a:pt x="4931834" y="0"/>
                </a:lnTo>
                <a:cubicBezTo>
                  <a:pt x="4978594" y="0"/>
                  <a:pt x="5016500" y="37906"/>
                  <a:pt x="5016500" y="84666"/>
                </a:cubicBezTo>
                <a:lnTo>
                  <a:pt x="5016500" y="1322917"/>
                </a:lnTo>
                <a:cubicBezTo>
                  <a:pt x="5016500" y="1369677"/>
                  <a:pt x="4978594" y="1407583"/>
                  <a:pt x="4931834" y="1407583"/>
                </a:cubicBezTo>
                <a:lnTo>
                  <a:pt x="84666" y="1407583"/>
                </a:lnTo>
                <a:cubicBezTo>
                  <a:pt x="37906" y="1407583"/>
                  <a:pt x="0" y="1369677"/>
                  <a:pt x="0" y="1322917"/>
                </a:cubicBezTo>
                <a:lnTo>
                  <a:pt x="0" y="84666"/>
                </a:lnTo>
                <a:cubicBezTo>
                  <a:pt x="0" y="37938"/>
                  <a:pt x="37938" y="0"/>
                  <a:pt x="84666"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18" name="Text 15"/>
          <p:cNvSpPr/>
          <p:nvPr/>
        </p:nvSpPr>
        <p:spPr>
          <a:xfrm>
            <a:off x="5753778" y="9853083"/>
            <a:ext cx="4847167" cy="296333"/>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技术实现对比</a:t>
            </a:r>
            <a:endParaRPr lang="en-US" sz="1600" dirty="0"/>
          </a:p>
        </p:txBody>
      </p:sp>
      <p:sp>
        <p:nvSpPr>
          <p:cNvPr id="19" name="Shape 16"/>
          <p:cNvSpPr/>
          <p:nvPr/>
        </p:nvSpPr>
        <p:spPr>
          <a:xfrm>
            <a:off x="5811986" y="10276417"/>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3C8082"/>
          </a:solidFill>
          <a:ln/>
        </p:spPr>
        <p:txBody>
          <a:bodyPr/>
          <a:lstStyle/>
          <a:p>
            <a:endParaRPr lang="zh-CN" altLang="en-US"/>
          </a:p>
        </p:txBody>
      </p:sp>
      <p:sp>
        <p:nvSpPr>
          <p:cNvPr id="20" name="Text 17"/>
          <p:cNvSpPr/>
          <p:nvPr/>
        </p:nvSpPr>
        <p:spPr>
          <a:xfrm>
            <a:off x="6023653" y="10234083"/>
            <a:ext cx="2423583"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Namespace:</a:t>
            </a:r>
            <a:r>
              <a:rPr lang="en-US" sz="1167" dirty="0">
                <a:solidFill>
                  <a:srgbClr val="E0E2E4">
                    <a:alpha val="80000"/>
                  </a:srgbClr>
                </a:solidFill>
                <a:latin typeface="MiSans" pitchFamily="34" charset="0"/>
                <a:ea typeface="MiSans" pitchFamily="34" charset="-122"/>
                <a:cs typeface="MiSans" pitchFamily="34" charset="-120"/>
              </a:rPr>
              <a:t> YARN部分 vs K8s完整</a:t>
            </a:r>
            <a:endParaRPr lang="en-US" sz="1600" dirty="0"/>
          </a:p>
        </p:txBody>
      </p:sp>
      <p:sp>
        <p:nvSpPr>
          <p:cNvPr id="21" name="Shape 18"/>
          <p:cNvSpPr/>
          <p:nvPr/>
        </p:nvSpPr>
        <p:spPr>
          <a:xfrm>
            <a:off x="5811986" y="10551583"/>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3C8082"/>
          </a:solidFill>
          <a:ln/>
        </p:spPr>
        <p:txBody>
          <a:bodyPr/>
          <a:lstStyle/>
          <a:p>
            <a:endParaRPr lang="zh-CN" altLang="en-US"/>
          </a:p>
        </p:txBody>
      </p:sp>
      <p:sp>
        <p:nvSpPr>
          <p:cNvPr id="22" name="Text 19"/>
          <p:cNvSpPr/>
          <p:nvPr/>
        </p:nvSpPr>
        <p:spPr>
          <a:xfrm>
            <a:off x="6023653" y="10509250"/>
            <a:ext cx="2053167"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CGroups:</a:t>
            </a:r>
            <a:r>
              <a:rPr lang="en-US" sz="1167" dirty="0">
                <a:solidFill>
                  <a:srgbClr val="E0E2E4">
                    <a:alpha val="80000"/>
                  </a:srgbClr>
                </a:solidFill>
                <a:latin typeface="MiSans" pitchFamily="34" charset="0"/>
                <a:ea typeface="MiSans" pitchFamily="34" charset="-122"/>
                <a:cs typeface="MiSans" pitchFamily="34" charset="-120"/>
              </a:rPr>
              <a:t> v1部分 vs v1/v2完整</a:t>
            </a:r>
            <a:endParaRPr lang="en-US" sz="1600" dirty="0"/>
          </a:p>
        </p:txBody>
      </p:sp>
      <p:sp>
        <p:nvSpPr>
          <p:cNvPr id="23" name="Shape 20"/>
          <p:cNvSpPr/>
          <p:nvPr/>
        </p:nvSpPr>
        <p:spPr>
          <a:xfrm>
            <a:off x="5811986" y="10826750"/>
            <a:ext cx="74083" cy="148167"/>
          </a:xfrm>
          <a:custGeom>
            <a:avLst/>
            <a:gdLst/>
            <a:ahLst/>
            <a:cxnLst/>
            <a:rect l="l" t="t" r="r" b="b"/>
            <a:pathLst>
              <a:path w="74083" h="148167">
                <a:moveTo>
                  <a:pt x="71508" y="67543"/>
                </a:moveTo>
                <a:cubicBezTo>
                  <a:pt x="75125" y="71161"/>
                  <a:pt x="75125" y="77035"/>
                  <a:pt x="71508" y="80652"/>
                </a:cubicBezTo>
                <a:lnTo>
                  <a:pt x="25206" y="126955"/>
                </a:lnTo>
                <a:cubicBezTo>
                  <a:pt x="21588" y="130572"/>
                  <a:pt x="15714" y="130572"/>
                  <a:pt x="12096" y="126955"/>
                </a:cubicBezTo>
                <a:cubicBezTo>
                  <a:pt x="8479" y="123337"/>
                  <a:pt x="8479" y="117463"/>
                  <a:pt x="12096" y="113845"/>
                </a:cubicBezTo>
                <a:lnTo>
                  <a:pt x="51858" y="74083"/>
                </a:lnTo>
                <a:lnTo>
                  <a:pt x="12125" y="34321"/>
                </a:lnTo>
                <a:cubicBezTo>
                  <a:pt x="8508" y="30704"/>
                  <a:pt x="8508" y="24829"/>
                  <a:pt x="12125" y="21212"/>
                </a:cubicBezTo>
                <a:cubicBezTo>
                  <a:pt x="15743" y="17595"/>
                  <a:pt x="21617" y="17595"/>
                  <a:pt x="25235" y="21212"/>
                </a:cubicBezTo>
                <a:lnTo>
                  <a:pt x="71537" y="67514"/>
                </a:lnTo>
                <a:close/>
              </a:path>
            </a:pathLst>
          </a:custGeom>
          <a:solidFill>
            <a:srgbClr val="3C8082"/>
          </a:solidFill>
          <a:ln/>
        </p:spPr>
        <p:txBody>
          <a:bodyPr/>
          <a:lstStyle/>
          <a:p>
            <a:endParaRPr lang="zh-CN" altLang="en-US"/>
          </a:p>
        </p:txBody>
      </p:sp>
      <p:sp>
        <p:nvSpPr>
          <p:cNvPr id="24" name="Text 21"/>
          <p:cNvSpPr/>
          <p:nvPr/>
        </p:nvSpPr>
        <p:spPr>
          <a:xfrm>
            <a:off x="6023653" y="10784417"/>
            <a:ext cx="1862667"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安全:</a:t>
            </a:r>
            <a:r>
              <a:rPr lang="en-US" sz="1167" dirty="0">
                <a:solidFill>
                  <a:srgbClr val="E0E2E4">
                    <a:alpha val="80000"/>
                  </a:srgbClr>
                </a:solidFill>
                <a:latin typeface="MiSans" pitchFamily="34" charset="0"/>
                <a:ea typeface="MiSans" pitchFamily="34" charset="-122"/>
                <a:cs typeface="MiSans" pitchFamily="34" charset="-120"/>
              </a:rPr>
              <a:t> 基础权限 vs 多层防护</a:t>
            </a:r>
            <a:endParaRPr lang="en-US" sz="1600" dirty="0"/>
          </a:p>
        </p:txBody>
      </p:sp>
      <p:sp>
        <p:nvSpPr>
          <p:cNvPr id="25" name="Shape 22"/>
          <p:cNvSpPr/>
          <p:nvPr/>
        </p:nvSpPr>
        <p:spPr>
          <a:xfrm>
            <a:off x="10814348" y="9720792"/>
            <a:ext cx="5016500" cy="1407583"/>
          </a:xfrm>
          <a:custGeom>
            <a:avLst/>
            <a:gdLst/>
            <a:ahLst/>
            <a:cxnLst/>
            <a:rect l="l" t="t" r="r" b="b"/>
            <a:pathLst>
              <a:path w="5016500" h="1407583">
                <a:moveTo>
                  <a:pt x="84666" y="0"/>
                </a:moveTo>
                <a:lnTo>
                  <a:pt x="4931834" y="0"/>
                </a:lnTo>
                <a:cubicBezTo>
                  <a:pt x="4978594" y="0"/>
                  <a:pt x="5016500" y="37906"/>
                  <a:pt x="5016500" y="84666"/>
                </a:cubicBezTo>
                <a:lnTo>
                  <a:pt x="5016500" y="1322917"/>
                </a:lnTo>
                <a:cubicBezTo>
                  <a:pt x="5016500" y="1369677"/>
                  <a:pt x="4978594" y="1407583"/>
                  <a:pt x="4931834" y="1407583"/>
                </a:cubicBezTo>
                <a:lnTo>
                  <a:pt x="84666" y="1407583"/>
                </a:lnTo>
                <a:cubicBezTo>
                  <a:pt x="37906" y="1407583"/>
                  <a:pt x="0" y="1369677"/>
                  <a:pt x="0" y="1322917"/>
                </a:cubicBezTo>
                <a:lnTo>
                  <a:pt x="0" y="84666"/>
                </a:lnTo>
                <a:cubicBezTo>
                  <a:pt x="0" y="37938"/>
                  <a:pt x="37938" y="0"/>
                  <a:pt x="84666"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26" name="Text 23"/>
          <p:cNvSpPr/>
          <p:nvPr/>
        </p:nvSpPr>
        <p:spPr>
          <a:xfrm>
            <a:off x="10946639" y="9853083"/>
            <a:ext cx="4847167" cy="296333"/>
          </a:xfrm>
          <a:prstGeom prst="rect">
            <a:avLst/>
          </a:prstGeom>
          <a:noFill/>
          <a:ln/>
        </p:spPr>
        <p:txBody>
          <a:bodyPr wrap="square" lIns="0" tIns="0" rIns="0" bIns="0" rtlCol="0" anchor="ctr"/>
          <a:lstStyle/>
          <a:p>
            <a:pPr>
              <a:lnSpc>
                <a:spcPct val="130000"/>
              </a:lnSpc>
            </a:pPr>
            <a:r>
              <a:rPr lang="en-US" sz="1500" b="1" dirty="0">
                <a:solidFill>
                  <a:srgbClr val="E0E2E4"/>
                </a:solidFill>
                <a:latin typeface="MiSans" pitchFamily="34" charset="0"/>
                <a:ea typeface="MiSans" pitchFamily="34" charset="-122"/>
                <a:cs typeface="MiSans" pitchFamily="34" charset="-120"/>
              </a:rPr>
              <a:t>选择建议</a:t>
            </a:r>
            <a:endParaRPr lang="en-US" sz="1600" dirty="0"/>
          </a:p>
        </p:txBody>
      </p:sp>
      <p:sp>
        <p:nvSpPr>
          <p:cNvPr id="27" name="Shape 24"/>
          <p:cNvSpPr/>
          <p:nvPr/>
        </p:nvSpPr>
        <p:spPr>
          <a:xfrm>
            <a:off x="10986327" y="10276417"/>
            <a:ext cx="111125" cy="148167"/>
          </a:xfrm>
          <a:custGeom>
            <a:avLst/>
            <a:gdLst/>
            <a:ahLst/>
            <a:cxnLst/>
            <a:rect l="l" t="t" r="r" b="b"/>
            <a:pathLst>
              <a:path w="111125" h="148167">
                <a:moveTo>
                  <a:pt x="84762" y="111125"/>
                </a:moveTo>
                <a:cubicBezTo>
                  <a:pt x="86874" y="104672"/>
                  <a:pt x="91099" y="98826"/>
                  <a:pt x="95874" y="93791"/>
                </a:cubicBezTo>
                <a:cubicBezTo>
                  <a:pt x="105337" y="83836"/>
                  <a:pt x="111125" y="70379"/>
                  <a:pt x="111125" y="55563"/>
                </a:cubicBezTo>
                <a:cubicBezTo>
                  <a:pt x="111125" y="24887"/>
                  <a:pt x="86238" y="0"/>
                  <a:pt x="55562" y="0"/>
                </a:cubicBezTo>
                <a:cubicBezTo>
                  <a:pt x="24887" y="0"/>
                  <a:pt x="0" y="24887"/>
                  <a:pt x="0" y="55562"/>
                </a:cubicBezTo>
                <a:cubicBezTo>
                  <a:pt x="0" y="70379"/>
                  <a:pt x="5788" y="83836"/>
                  <a:pt x="15251" y="93791"/>
                </a:cubicBezTo>
                <a:cubicBezTo>
                  <a:pt x="20026" y="98826"/>
                  <a:pt x="24280" y="104672"/>
                  <a:pt x="26363" y="111125"/>
                </a:cubicBezTo>
                <a:lnTo>
                  <a:pt x="84733" y="111125"/>
                </a:lnTo>
                <a:close/>
                <a:moveTo>
                  <a:pt x="83344" y="125016"/>
                </a:moveTo>
                <a:lnTo>
                  <a:pt x="27781" y="125016"/>
                </a:lnTo>
                <a:lnTo>
                  <a:pt x="27781" y="129646"/>
                </a:lnTo>
                <a:cubicBezTo>
                  <a:pt x="27781" y="142437"/>
                  <a:pt x="38141" y="152797"/>
                  <a:pt x="50932" y="152797"/>
                </a:cubicBezTo>
                <a:lnTo>
                  <a:pt x="60193" y="152797"/>
                </a:lnTo>
                <a:cubicBezTo>
                  <a:pt x="72984" y="152797"/>
                  <a:pt x="83344" y="142437"/>
                  <a:pt x="83344" y="129646"/>
                </a:cubicBezTo>
                <a:lnTo>
                  <a:pt x="83344" y="125016"/>
                </a:lnTo>
                <a:close/>
                <a:moveTo>
                  <a:pt x="53247" y="32411"/>
                </a:moveTo>
                <a:cubicBezTo>
                  <a:pt x="41730" y="32411"/>
                  <a:pt x="32411" y="41730"/>
                  <a:pt x="32411" y="53247"/>
                </a:cubicBezTo>
                <a:cubicBezTo>
                  <a:pt x="32411" y="57096"/>
                  <a:pt x="29315" y="60193"/>
                  <a:pt x="25466" y="60193"/>
                </a:cubicBezTo>
                <a:cubicBezTo>
                  <a:pt x="21617" y="60193"/>
                  <a:pt x="18521" y="57096"/>
                  <a:pt x="18521" y="53247"/>
                </a:cubicBezTo>
                <a:cubicBezTo>
                  <a:pt x="18521" y="34061"/>
                  <a:pt x="34061" y="18521"/>
                  <a:pt x="53247" y="18521"/>
                </a:cubicBezTo>
                <a:cubicBezTo>
                  <a:pt x="57096" y="18521"/>
                  <a:pt x="60193" y="21617"/>
                  <a:pt x="60193" y="25466"/>
                </a:cubicBezTo>
                <a:cubicBezTo>
                  <a:pt x="60193" y="29315"/>
                  <a:pt x="57096" y="32411"/>
                  <a:pt x="53247" y="32411"/>
                </a:cubicBezTo>
                <a:close/>
              </a:path>
            </a:pathLst>
          </a:custGeom>
          <a:solidFill>
            <a:srgbClr val="B38B59"/>
          </a:solidFill>
          <a:ln/>
        </p:spPr>
        <p:txBody>
          <a:bodyPr/>
          <a:lstStyle/>
          <a:p>
            <a:endParaRPr lang="zh-CN" altLang="en-US"/>
          </a:p>
        </p:txBody>
      </p:sp>
      <p:sp>
        <p:nvSpPr>
          <p:cNvPr id="6" name="Text 25"/>
          <p:cNvSpPr/>
          <p:nvPr/>
        </p:nvSpPr>
        <p:spPr>
          <a:xfrm>
            <a:off x="11216514" y="10234083"/>
            <a:ext cx="2222500"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可信环境:</a:t>
            </a:r>
            <a:r>
              <a:rPr lang="en-US" sz="1167" dirty="0">
                <a:solidFill>
                  <a:srgbClr val="E0E2E4">
                    <a:alpha val="80000"/>
                  </a:srgbClr>
                </a:solidFill>
                <a:latin typeface="MiSans" pitchFamily="34" charset="0"/>
                <a:ea typeface="MiSans" pitchFamily="34" charset="-122"/>
                <a:cs typeface="MiSans" pitchFamily="34" charset="-120"/>
              </a:rPr>
              <a:t> YAREN Container足够</a:t>
            </a:r>
            <a:endParaRPr lang="en-US" sz="1600" dirty="0"/>
          </a:p>
        </p:txBody>
      </p:sp>
      <p:sp>
        <p:nvSpPr>
          <p:cNvPr id="29" name="Shape 26"/>
          <p:cNvSpPr/>
          <p:nvPr/>
        </p:nvSpPr>
        <p:spPr>
          <a:xfrm>
            <a:off x="10986327" y="10551583"/>
            <a:ext cx="111125" cy="148167"/>
          </a:xfrm>
          <a:custGeom>
            <a:avLst/>
            <a:gdLst/>
            <a:ahLst/>
            <a:cxnLst/>
            <a:rect l="l" t="t" r="r" b="b"/>
            <a:pathLst>
              <a:path w="111125" h="148167">
                <a:moveTo>
                  <a:pt x="84762" y="111125"/>
                </a:moveTo>
                <a:cubicBezTo>
                  <a:pt x="86874" y="104672"/>
                  <a:pt x="91099" y="98826"/>
                  <a:pt x="95874" y="93791"/>
                </a:cubicBezTo>
                <a:cubicBezTo>
                  <a:pt x="105337" y="83836"/>
                  <a:pt x="111125" y="70379"/>
                  <a:pt x="111125" y="55563"/>
                </a:cubicBezTo>
                <a:cubicBezTo>
                  <a:pt x="111125" y="24887"/>
                  <a:pt x="86238" y="0"/>
                  <a:pt x="55562" y="0"/>
                </a:cubicBezTo>
                <a:cubicBezTo>
                  <a:pt x="24887" y="0"/>
                  <a:pt x="0" y="24887"/>
                  <a:pt x="0" y="55562"/>
                </a:cubicBezTo>
                <a:cubicBezTo>
                  <a:pt x="0" y="70379"/>
                  <a:pt x="5788" y="83836"/>
                  <a:pt x="15251" y="93791"/>
                </a:cubicBezTo>
                <a:cubicBezTo>
                  <a:pt x="20026" y="98826"/>
                  <a:pt x="24280" y="104672"/>
                  <a:pt x="26363" y="111125"/>
                </a:cubicBezTo>
                <a:lnTo>
                  <a:pt x="84733" y="111125"/>
                </a:lnTo>
                <a:close/>
                <a:moveTo>
                  <a:pt x="83344" y="125016"/>
                </a:moveTo>
                <a:lnTo>
                  <a:pt x="27781" y="125016"/>
                </a:lnTo>
                <a:lnTo>
                  <a:pt x="27781" y="129646"/>
                </a:lnTo>
                <a:cubicBezTo>
                  <a:pt x="27781" y="142437"/>
                  <a:pt x="38141" y="152797"/>
                  <a:pt x="50932" y="152797"/>
                </a:cubicBezTo>
                <a:lnTo>
                  <a:pt x="60193" y="152797"/>
                </a:lnTo>
                <a:cubicBezTo>
                  <a:pt x="72984" y="152797"/>
                  <a:pt x="83344" y="142437"/>
                  <a:pt x="83344" y="129646"/>
                </a:cubicBezTo>
                <a:lnTo>
                  <a:pt x="83344" y="125016"/>
                </a:lnTo>
                <a:close/>
                <a:moveTo>
                  <a:pt x="53247" y="32411"/>
                </a:moveTo>
                <a:cubicBezTo>
                  <a:pt x="41730" y="32411"/>
                  <a:pt x="32411" y="41730"/>
                  <a:pt x="32411" y="53247"/>
                </a:cubicBezTo>
                <a:cubicBezTo>
                  <a:pt x="32411" y="57096"/>
                  <a:pt x="29315" y="60193"/>
                  <a:pt x="25466" y="60193"/>
                </a:cubicBezTo>
                <a:cubicBezTo>
                  <a:pt x="21617" y="60193"/>
                  <a:pt x="18521" y="57096"/>
                  <a:pt x="18521" y="53247"/>
                </a:cubicBezTo>
                <a:cubicBezTo>
                  <a:pt x="18521" y="34061"/>
                  <a:pt x="34061" y="18521"/>
                  <a:pt x="53247" y="18521"/>
                </a:cubicBezTo>
                <a:cubicBezTo>
                  <a:pt x="57096" y="18521"/>
                  <a:pt x="60193" y="21617"/>
                  <a:pt x="60193" y="25466"/>
                </a:cubicBezTo>
                <a:cubicBezTo>
                  <a:pt x="60193" y="29315"/>
                  <a:pt x="57096" y="32411"/>
                  <a:pt x="53247" y="32411"/>
                </a:cubicBezTo>
                <a:close/>
              </a:path>
            </a:pathLst>
          </a:custGeom>
          <a:solidFill>
            <a:srgbClr val="B38B59"/>
          </a:solidFill>
          <a:ln/>
        </p:spPr>
        <p:txBody>
          <a:bodyPr/>
          <a:lstStyle/>
          <a:p>
            <a:endParaRPr lang="zh-CN" altLang="en-US"/>
          </a:p>
        </p:txBody>
      </p:sp>
      <p:sp>
        <p:nvSpPr>
          <p:cNvPr id="30" name="Text 27"/>
          <p:cNvSpPr/>
          <p:nvPr/>
        </p:nvSpPr>
        <p:spPr>
          <a:xfrm>
            <a:off x="11216514" y="10509250"/>
            <a:ext cx="2190750"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多租户/云:</a:t>
            </a:r>
            <a:r>
              <a:rPr lang="en-US" sz="1167" dirty="0">
                <a:solidFill>
                  <a:srgbClr val="E0E2E4">
                    <a:alpha val="80000"/>
                  </a:srgbClr>
                </a:solidFill>
                <a:latin typeface="MiSans" pitchFamily="34" charset="0"/>
                <a:ea typeface="MiSans" pitchFamily="34" charset="-122"/>
                <a:cs typeface="MiSans" pitchFamily="34" charset="-120"/>
              </a:rPr>
              <a:t> Kubernetes Pod更佳</a:t>
            </a:r>
            <a:endParaRPr lang="en-US" sz="1600" dirty="0"/>
          </a:p>
        </p:txBody>
      </p:sp>
      <p:sp>
        <p:nvSpPr>
          <p:cNvPr id="31" name="Shape 28"/>
          <p:cNvSpPr/>
          <p:nvPr/>
        </p:nvSpPr>
        <p:spPr>
          <a:xfrm>
            <a:off x="10986327" y="10826750"/>
            <a:ext cx="111125" cy="148167"/>
          </a:xfrm>
          <a:custGeom>
            <a:avLst/>
            <a:gdLst/>
            <a:ahLst/>
            <a:cxnLst/>
            <a:rect l="l" t="t" r="r" b="b"/>
            <a:pathLst>
              <a:path w="111125" h="148167">
                <a:moveTo>
                  <a:pt x="84762" y="111125"/>
                </a:moveTo>
                <a:cubicBezTo>
                  <a:pt x="86874" y="104672"/>
                  <a:pt x="91099" y="98826"/>
                  <a:pt x="95874" y="93791"/>
                </a:cubicBezTo>
                <a:cubicBezTo>
                  <a:pt x="105337" y="83836"/>
                  <a:pt x="111125" y="70379"/>
                  <a:pt x="111125" y="55563"/>
                </a:cubicBezTo>
                <a:cubicBezTo>
                  <a:pt x="111125" y="24887"/>
                  <a:pt x="86238" y="0"/>
                  <a:pt x="55562" y="0"/>
                </a:cubicBezTo>
                <a:cubicBezTo>
                  <a:pt x="24887" y="0"/>
                  <a:pt x="0" y="24887"/>
                  <a:pt x="0" y="55562"/>
                </a:cubicBezTo>
                <a:cubicBezTo>
                  <a:pt x="0" y="70379"/>
                  <a:pt x="5788" y="83836"/>
                  <a:pt x="15251" y="93791"/>
                </a:cubicBezTo>
                <a:cubicBezTo>
                  <a:pt x="20026" y="98826"/>
                  <a:pt x="24280" y="104672"/>
                  <a:pt x="26363" y="111125"/>
                </a:cubicBezTo>
                <a:lnTo>
                  <a:pt x="84733" y="111125"/>
                </a:lnTo>
                <a:close/>
                <a:moveTo>
                  <a:pt x="83344" y="125016"/>
                </a:moveTo>
                <a:lnTo>
                  <a:pt x="27781" y="125016"/>
                </a:lnTo>
                <a:lnTo>
                  <a:pt x="27781" y="129646"/>
                </a:lnTo>
                <a:cubicBezTo>
                  <a:pt x="27781" y="142437"/>
                  <a:pt x="38141" y="152797"/>
                  <a:pt x="50932" y="152797"/>
                </a:cubicBezTo>
                <a:lnTo>
                  <a:pt x="60193" y="152797"/>
                </a:lnTo>
                <a:cubicBezTo>
                  <a:pt x="72984" y="152797"/>
                  <a:pt x="83344" y="142437"/>
                  <a:pt x="83344" y="129646"/>
                </a:cubicBezTo>
                <a:lnTo>
                  <a:pt x="83344" y="125016"/>
                </a:lnTo>
                <a:close/>
                <a:moveTo>
                  <a:pt x="53247" y="32411"/>
                </a:moveTo>
                <a:cubicBezTo>
                  <a:pt x="41730" y="32411"/>
                  <a:pt x="32411" y="41730"/>
                  <a:pt x="32411" y="53247"/>
                </a:cubicBezTo>
                <a:cubicBezTo>
                  <a:pt x="32411" y="57096"/>
                  <a:pt x="29315" y="60193"/>
                  <a:pt x="25466" y="60193"/>
                </a:cubicBezTo>
                <a:cubicBezTo>
                  <a:pt x="21617" y="60193"/>
                  <a:pt x="18521" y="57096"/>
                  <a:pt x="18521" y="53247"/>
                </a:cubicBezTo>
                <a:cubicBezTo>
                  <a:pt x="18521" y="34061"/>
                  <a:pt x="34061" y="18521"/>
                  <a:pt x="53247" y="18521"/>
                </a:cubicBezTo>
                <a:cubicBezTo>
                  <a:pt x="57096" y="18521"/>
                  <a:pt x="60193" y="21617"/>
                  <a:pt x="60193" y="25466"/>
                </a:cubicBezTo>
                <a:cubicBezTo>
                  <a:pt x="60193" y="29315"/>
                  <a:pt x="57096" y="32411"/>
                  <a:pt x="53247" y="32411"/>
                </a:cubicBezTo>
                <a:close/>
              </a:path>
            </a:pathLst>
          </a:custGeom>
          <a:solidFill>
            <a:srgbClr val="B38B59"/>
          </a:solidFill>
          <a:ln/>
        </p:spPr>
        <p:txBody>
          <a:bodyPr/>
          <a:lstStyle/>
          <a:p>
            <a:endParaRPr lang="zh-CN" altLang="en-US"/>
          </a:p>
        </p:txBody>
      </p:sp>
      <p:sp>
        <p:nvSpPr>
          <p:cNvPr id="32" name="Text 29"/>
          <p:cNvSpPr/>
          <p:nvPr/>
        </p:nvSpPr>
        <p:spPr>
          <a:xfrm>
            <a:off x="11216514" y="10784417"/>
            <a:ext cx="1534583" cy="211667"/>
          </a:xfrm>
          <a:prstGeom prst="rect">
            <a:avLst/>
          </a:prstGeom>
          <a:noFill/>
          <a:ln/>
        </p:spPr>
        <p:txBody>
          <a:bodyPr wrap="square" lIns="0" tIns="0" rIns="0" bIns="0" rtlCol="0" anchor="ctr"/>
          <a:lstStyle/>
          <a:p>
            <a:pPr>
              <a:lnSpc>
                <a:spcPct val="120000"/>
              </a:lnSpc>
            </a:pPr>
            <a:r>
              <a:rPr lang="en-US" sz="1167" b="1" dirty="0">
                <a:solidFill>
                  <a:srgbClr val="E0E2E4"/>
                </a:solidFill>
                <a:latin typeface="MiSans" pitchFamily="34" charset="0"/>
                <a:ea typeface="MiSans" pitchFamily="34" charset="-122"/>
                <a:cs typeface="MiSans" pitchFamily="34" charset="-120"/>
              </a:rPr>
              <a:t>强安全:</a:t>
            </a:r>
            <a:r>
              <a:rPr lang="en-US" sz="1167" dirty="0">
                <a:solidFill>
                  <a:srgbClr val="E0E2E4">
                    <a:alpha val="80000"/>
                  </a:srgbClr>
                </a:solidFill>
                <a:latin typeface="MiSans" pitchFamily="34" charset="0"/>
                <a:ea typeface="MiSans" pitchFamily="34" charset="-122"/>
                <a:cs typeface="MiSans" pitchFamily="34" charset="-120"/>
              </a:rPr>
              <a:t> 安全容器+K8s</a:t>
            </a:r>
            <a:endParaRPr lang="en-US" sz="1600"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57271" y="502999"/>
            <a:ext cx="365817" cy="365817"/>
          </a:xfrm>
          <a:custGeom>
            <a:avLst/>
            <a:gdLst/>
            <a:ahLst/>
            <a:cxnLst/>
            <a:rect l="l" t="t" r="r" b="b"/>
            <a:pathLst>
              <a:path w="365817" h="365817">
                <a:moveTo>
                  <a:pt x="68591" y="0"/>
                </a:moveTo>
                <a:lnTo>
                  <a:pt x="297226" y="0"/>
                </a:lnTo>
                <a:cubicBezTo>
                  <a:pt x="335083" y="0"/>
                  <a:pt x="365817" y="30734"/>
                  <a:pt x="365817" y="68591"/>
                </a:cubicBezTo>
                <a:lnTo>
                  <a:pt x="365817" y="297226"/>
                </a:lnTo>
                <a:cubicBezTo>
                  <a:pt x="365817" y="335108"/>
                  <a:pt x="335108" y="365817"/>
                  <a:pt x="297226" y="365817"/>
                </a:cubicBezTo>
                <a:lnTo>
                  <a:pt x="68591" y="365817"/>
                </a:lnTo>
                <a:cubicBezTo>
                  <a:pt x="30734" y="365817"/>
                  <a:pt x="0" y="335083"/>
                  <a:pt x="0" y="297226"/>
                </a:cubicBezTo>
                <a:lnTo>
                  <a:pt x="0" y="68591"/>
                </a:lnTo>
                <a:cubicBezTo>
                  <a:pt x="0" y="30709"/>
                  <a:pt x="30709" y="0"/>
                  <a:pt x="68591" y="0"/>
                </a:cubicBezTo>
                <a:close/>
              </a:path>
            </a:pathLst>
          </a:custGeom>
          <a:solidFill>
            <a:srgbClr val="3C8082"/>
          </a:solidFill>
          <a:ln/>
        </p:spPr>
        <p:txBody>
          <a:bodyPr/>
          <a:lstStyle/>
          <a:p>
            <a:endParaRPr lang="zh-CN" altLang="en-US"/>
          </a:p>
        </p:txBody>
      </p:sp>
      <p:sp>
        <p:nvSpPr>
          <p:cNvPr id="3" name="Text 1"/>
          <p:cNvSpPr/>
          <p:nvPr/>
        </p:nvSpPr>
        <p:spPr>
          <a:xfrm>
            <a:off x="411544" y="502999"/>
            <a:ext cx="457271" cy="365817"/>
          </a:xfrm>
          <a:prstGeom prst="rect">
            <a:avLst/>
          </a:prstGeom>
          <a:noFill/>
          <a:ln/>
        </p:spPr>
        <p:txBody>
          <a:bodyPr wrap="square" lIns="0" tIns="0" rIns="0" bIns="0" rtlCol="0" anchor="ctr"/>
          <a:lstStyle/>
          <a:p>
            <a:pPr algn="ctr">
              <a:lnSpc>
                <a:spcPct val="130000"/>
              </a:lnSpc>
            </a:pPr>
            <a:r>
              <a:rPr lang="en-US" sz="1440" b="1" dirty="0">
                <a:solidFill>
                  <a:srgbClr val="FFFFFF"/>
                </a:solidFill>
                <a:latin typeface="Liter" pitchFamily="34" charset="0"/>
                <a:ea typeface="Liter" pitchFamily="34" charset="-122"/>
                <a:cs typeface="Liter" pitchFamily="34" charset="-120"/>
              </a:rPr>
              <a:t>21</a:t>
            </a:r>
            <a:endParaRPr lang="en-US" sz="1600" dirty="0"/>
          </a:p>
        </p:txBody>
      </p:sp>
      <p:sp>
        <p:nvSpPr>
          <p:cNvPr id="4" name="Text 2"/>
          <p:cNvSpPr/>
          <p:nvPr/>
        </p:nvSpPr>
        <p:spPr>
          <a:xfrm>
            <a:off x="960270" y="457271"/>
            <a:ext cx="4732759" cy="457271"/>
          </a:xfrm>
          <a:prstGeom prst="rect">
            <a:avLst/>
          </a:prstGeom>
          <a:noFill/>
          <a:ln/>
        </p:spPr>
        <p:txBody>
          <a:bodyPr wrap="square" lIns="0" tIns="0" rIns="0" bIns="0" rtlCol="0" anchor="ctr"/>
          <a:lstStyle/>
          <a:p>
            <a:pPr>
              <a:lnSpc>
                <a:spcPct val="90000"/>
              </a:lnSpc>
            </a:pPr>
            <a:r>
              <a:rPr lang="en-US" sz="3241" b="1" dirty="0">
                <a:solidFill>
                  <a:srgbClr val="E0E2E4"/>
                </a:solidFill>
                <a:latin typeface="MiSans" pitchFamily="34" charset="0"/>
                <a:ea typeface="MiSans" pitchFamily="34" charset="-122"/>
                <a:cs typeface="MiSans" pitchFamily="34" charset="-120"/>
              </a:rPr>
              <a:t>调度策略与性能优化对比</a:t>
            </a:r>
            <a:endParaRPr lang="en-US" sz="1600" dirty="0"/>
          </a:p>
        </p:txBody>
      </p:sp>
      <p:sp>
        <p:nvSpPr>
          <p:cNvPr id="5" name="Text 3"/>
          <p:cNvSpPr/>
          <p:nvPr/>
        </p:nvSpPr>
        <p:spPr>
          <a:xfrm>
            <a:off x="457271" y="1005997"/>
            <a:ext cx="15444343" cy="320090"/>
          </a:xfrm>
          <a:prstGeom prst="rect">
            <a:avLst/>
          </a:prstGeom>
          <a:noFill/>
          <a:ln/>
        </p:spPr>
        <p:txBody>
          <a:bodyPr wrap="square" lIns="0" tIns="0" rIns="0" bIns="0" rtlCol="0" anchor="ctr"/>
          <a:lstStyle/>
          <a:p>
            <a:pPr>
              <a:lnSpc>
                <a:spcPct val="130000"/>
              </a:lnSpc>
            </a:pPr>
            <a:r>
              <a:rPr lang="en-US" sz="1620" b="1" dirty="0">
                <a:solidFill>
                  <a:srgbClr val="B38B59"/>
                </a:solidFill>
                <a:latin typeface="MiSans" pitchFamily="34" charset="0"/>
                <a:ea typeface="MiSans" pitchFamily="34" charset="-122"/>
                <a:cs typeface="MiSans" pitchFamily="34" charset="-120"/>
              </a:rPr>
              <a:t>调度算法、资源优化与不同工作负载下的性能表现</a:t>
            </a:r>
            <a:endParaRPr lang="en-US" sz="1600" dirty="0"/>
          </a:p>
        </p:txBody>
      </p:sp>
      <p:sp>
        <p:nvSpPr>
          <p:cNvPr id="6" name="Shape 4"/>
          <p:cNvSpPr/>
          <p:nvPr/>
        </p:nvSpPr>
        <p:spPr>
          <a:xfrm>
            <a:off x="462987" y="1514712"/>
            <a:ext cx="7567842" cy="6180756"/>
          </a:xfrm>
          <a:custGeom>
            <a:avLst/>
            <a:gdLst/>
            <a:ahLst/>
            <a:cxnLst/>
            <a:rect l="l" t="t" r="r" b="b"/>
            <a:pathLst>
              <a:path w="7567842" h="6630436">
                <a:moveTo>
                  <a:pt x="91434" y="0"/>
                </a:moveTo>
                <a:lnTo>
                  <a:pt x="7476409" y="0"/>
                </a:lnTo>
                <a:cubicBezTo>
                  <a:pt x="7526906" y="0"/>
                  <a:pt x="7567842" y="40936"/>
                  <a:pt x="7567842" y="91434"/>
                </a:cubicBezTo>
                <a:lnTo>
                  <a:pt x="7567842" y="6539002"/>
                </a:lnTo>
                <a:cubicBezTo>
                  <a:pt x="7567842" y="6589500"/>
                  <a:pt x="7526906" y="6630436"/>
                  <a:pt x="7476409" y="6630436"/>
                </a:cubicBezTo>
                <a:lnTo>
                  <a:pt x="91434" y="6630436"/>
                </a:lnTo>
                <a:cubicBezTo>
                  <a:pt x="40936" y="6630436"/>
                  <a:pt x="0" y="6589500"/>
                  <a:pt x="0" y="6539002"/>
                </a:cubicBezTo>
                <a:lnTo>
                  <a:pt x="0" y="91434"/>
                </a:lnTo>
                <a:cubicBezTo>
                  <a:pt x="0" y="40970"/>
                  <a:pt x="40970" y="0"/>
                  <a:pt x="91434"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703055" y="1749063"/>
            <a:ext cx="240068" cy="274363"/>
          </a:xfrm>
          <a:custGeom>
            <a:avLst/>
            <a:gdLst/>
            <a:ahLst/>
            <a:cxnLst/>
            <a:rect l="l" t="t" r="r" b="b"/>
            <a:pathLst>
              <a:path w="240068" h="274363">
                <a:moveTo>
                  <a:pt x="68591" y="0"/>
                </a:moveTo>
                <a:cubicBezTo>
                  <a:pt x="78076" y="0"/>
                  <a:pt x="85738" y="7663"/>
                  <a:pt x="85738" y="17148"/>
                </a:cubicBezTo>
                <a:lnTo>
                  <a:pt x="85738" y="34295"/>
                </a:lnTo>
                <a:lnTo>
                  <a:pt x="154329" y="34295"/>
                </a:lnTo>
                <a:lnTo>
                  <a:pt x="154329" y="17148"/>
                </a:lnTo>
                <a:cubicBezTo>
                  <a:pt x="154329" y="7663"/>
                  <a:pt x="161992" y="0"/>
                  <a:pt x="171477" y="0"/>
                </a:cubicBezTo>
                <a:cubicBezTo>
                  <a:pt x="180962" y="0"/>
                  <a:pt x="188624" y="7663"/>
                  <a:pt x="188624" y="17148"/>
                </a:cubicBezTo>
                <a:lnTo>
                  <a:pt x="188624" y="34295"/>
                </a:lnTo>
                <a:lnTo>
                  <a:pt x="205772" y="34295"/>
                </a:lnTo>
                <a:cubicBezTo>
                  <a:pt x="224688" y="34295"/>
                  <a:pt x="240068" y="49675"/>
                  <a:pt x="240068" y="68591"/>
                </a:cubicBezTo>
                <a:lnTo>
                  <a:pt x="240068" y="222920"/>
                </a:lnTo>
                <a:cubicBezTo>
                  <a:pt x="240068" y="241836"/>
                  <a:pt x="224688" y="257215"/>
                  <a:pt x="205772" y="257215"/>
                </a:cubicBezTo>
                <a:lnTo>
                  <a:pt x="34295" y="257215"/>
                </a:lnTo>
                <a:cubicBezTo>
                  <a:pt x="15379" y="257215"/>
                  <a:pt x="0" y="241836"/>
                  <a:pt x="0" y="222920"/>
                </a:cubicBezTo>
                <a:lnTo>
                  <a:pt x="0" y="68591"/>
                </a:lnTo>
                <a:cubicBezTo>
                  <a:pt x="0" y="49675"/>
                  <a:pt x="15379" y="34295"/>
                  <a:pt x="34295" y="34295"/>
                </a:cubicBezTo>
                <a:lnTo>
                  <a:pt x="51443" y="34295"/>
                </a:lnTo>
                <a:lnTo>
                  <a:pt x="51443" y="17148"/>
                </a:lnTo>
                <a:cubicBezTo>
                  <a:pt x="51443" y="7663"/>
                  <a:pt x="59106" y="0"/>
                  <a:pt x="68591" y="0"/>
                </a:cubicBezTo>
                <a:close/>
                <a:moveTo>
                  <a:pt x="34295" y="128608"/>
                </a:moveTo>
                <a:lnTo>
                  <a:pt x="34295" y="145755"/>
                </a:lnTo>
                <a:cubicBezTo>
                  <a:pt x="34295" y="150471"/>
                  <a:pt x="38154" y="154329"/>
                  <a:pt x="42869" y="154329"/>
                </a:cubicBezTo>
                <a:lnTo>
                  <a:pt x="60017" y="154329"/>
                </a:lnTo>
                <a:cubicBezTo>
                  <a:pt x="64732" y="154329"/>
                  <a:pt x="68591" y="150471"/>
                  <a:pt x="68591" y="145755"/>
                </a:cubicBezTo>
                <a:lnTo>
                  <a:pt x="68591" y="128608"/>
                </a:lnTo>
                <a:cubicBezTo>
                  <a:pt x="68591" y="123892"/>
                  <a:pt x="64732" y="120034"/>
                  <a:pt x="60017" y="120034"/>
                </a:cubicBezTo>
                <a:lnTo>
                  <a:pt x="42869" y="120034"/>
                </a:lnTo>
                <a:cubicBezTo>
                  <a:pt x="38154" y="120034"/>
                  <a:pt x="34295" y="123892"/>
                  <a:pt x="34295" y="128608"/>
                </a:cubicBezTo>
                <a:close/>
                <a:moveTo>
                  <a:pt x="102886" y="128608"/>
                </a:moveTo>
                <a:lnTo>
                  <a:pt x="102886" y="145755"/>
                </a:lnTo>
                <a:cubicBezTo>
                  <a:pt x="102886" y="150471"/>
                  <a:pt x="106744" y="154329"/>
                  <a:pt x="111460" y="154329"/>
                </a:cubicBezTo>
                <a:lnTo>
                  <a:pt x="128608" y="154329"/>
                </a:lnTo>
                <a:cubicBezTo>
                  <a:pt x="133323" y="154329"/>
                  <a:pt x="137181" y="150471"/>
                  <a:pt x="137181" y="145755"/>
                </a:cubicBezTo>
                <a:lnTo>
                  <a:pt x="137181" y="128608"/>
                </a:lnTo>
                <a:cubicBezTo>
                  <a:pt x="137181" y="123892"/>
                  <a:pt x="133323" y="120034"/>
                  <a:pt x="128608" y="120034"/>
                </a:cubicBezTo>
                <a:lnTo>
                  <a:pt x="111460" y="120034"/>
                </a:lnTo>
                <a:cubicBezTo>
                  <a:pt x="106744" y="120034"/>
                  <a:pt x="102886" y="123892"/>
                  <a:pt x="102886" y="128608"/>
                </a:cubicBezTo>
                <a:close/>
                <a:moveTo>
                  <a:pt x="180051" y="120034"/>
                </a:moveTo>
                <a:cubicBezTo>
                  <a:pt x="175335" y="120034"/>
                  <a:pt x="171477" y="123892"/>
                  <a:pt x="171477" y="128608"/>
                </a:cubicBezTo>
                <a:lnTo>
                  <a:pt x="171477" y="145755"/>
                </a:lnTo>
                <a:cubicBezTo>
                  <a:pt x="171477" y="150471"/>
                  <a:pt x="175335" y="154329"/>
                  <a:pt x="180051" y="154329"/>
                </a:cubicBezTo>
                <a:lnTo>
                  <a:pt x="197198" y="154329"/>
                </a:lnTo>
                <a:cubicBezTo>
                  <a:pt x="201914" y="154329"/>
                  <a:pt x="205772" y="150471"/>
                  <a:pt x="205772" y="145755"/>
                </a:cubicBezTo>
                <a:lnTo>
                  <a:pt x="205772" y="128608"/>
                </a:lnTo>
                <a:cubicBezTo>
                  <a:pt x="205772" y="123892"/>
                  <a:pt x="201914" y="120034"/>
                  <a:pt x="197198" y="120034"/>
                </a:cubicBezTo>
                <a:lnTo>
                  <a:pt x="180051" y="120034"/>
                </a:lnTo>
                <a:close/>
                <a:moveTo>
                  <a:pt x="34295" y="197198"/>
                </a:moveTo>
                <a:lnTo>
                  <a:pt x="34295" y="214346"/>
                </a:lnTo>
                <a:cubicBezTo>
                  <a:pt x="34295" y="219062"/>
                  <a:pt x="38154" y="222920"/>
                  <a:pt x="42869" y="222920"/>
                </a:cubicBezTo>
                <a:lnTo>
                  <a:pt x="60017" y="222920"/>
                </a:lnTo>
                <a:cubicBezTo>
                  <a:pt x="64732" y="222920"/>
                  <a:pt x="68591" y="219062"/>
                  <a:pt x="68591" y="214346"/>
                </a:cubicBezTo>
                <a:lnTo>
                  <a:pt x="68591" y="197198"/>
                </a:lnTo>
                <a:cubicBezTo>
                  <a:pt x="68591" y="192483"/>
                  <a:pt x="64732" y="188624"/>
                  <a:pt x="60017" y="188624"/>
                </a:cubicBezTo>
                <a:lnTo>
                  <a:pt x="42869" y="188624"/>
                </a:lnTo>
                <a:cubicBezTo>
                  <a:pt x="38154" y="188624"/>
                  <a:pt x="34295" y="192483"/>
                  <a:pt x="34295" y="197198"/>
                </a:cubicBezTo>
                <a:close/>
                <a:moveTo>
                  <a:pt x="111460" y="188624"/>
                </a:moveTo>
                <a:cubicBezTo>
                  <a:pt x="106744" y="188624"/>
                  <a:pt x="102886" y="192483"/>
                  <a:pt x="102886" y="197198"/>
                </a:cubicBezTo>
                <a:lnTo>
                  <a:pt x="102886" y="214346"/>
                </a:lnTo>
                <a:cubicBezTo>
                  <a:pt x="102886" y="219062"/>
                  <a:pt x="106744" y="222920"/>
                  <a:pt x="111460" y="222920"/>
                </a:cubicBezTo>
                <a:lnTo>
                  <a:pt x="128608" y="222920"/>
                </a:lnTo>
                <a:cubicBezTo>
                  <a:pt x="133323" y="222920"/>
                  <a:pt x="137181" y="219062"/>
                  <a:pt x="137181" y="214346"/>
                </a:cubicBezTo>
                <a:lnTo>
                  <a:pt x="137181" y="197198"/>
                </a:lnTo>
                <a:cubicBezTo>
                  <a:pt x="137181" y="192483"/>
                  <a:pt x="133323" y="188624"/>
                  <a:pt x="128608" y="188624"/>
                </a:cubicBezTo>
                <a:lnTo>
                  <a:pt x="111460" y="188624"/>
                </a:lnTo>
                <a:close/>
                <a:moveTo>
                  <a:pt x="171477" y="197198"/>
                </a:moveTo>
                <a:lnTo>
                  <a:pt x="171477" y="214346"/>
                </a:lnTo>
                <a:cubicBezTo>
                  <a:pt x="171477" y="219062"/>
                  <a:pt x="175335" y="222920"/>
                  <a:pt x="180051" y="222920"/>
                </a:cubicBezTo>
                <a:lnTo>
                  <a:pt x="197198" y="222920"/>
                </a:lnTo>
                <a:cubicBezTo>
                  <a:pt x="201914" y="222920"/>
                  <a:pt x="205772" y="219062"/>
                  <a:pt x="205772" y="214346"/>
                </a:cubicBezTo>
                <a:lnTo>
                  <a:pt x="205772" y="197198"/>
                </a:lnTo>
                <a:cubicBezTo>
                  <a:pt x="205772" y="192483"/>
                  <a:pt x="201914" y="188624"/>
                  <a:pt x="197198" y="188624"/>
                </a:cubicBezTo>
                <a:lnTo>
                  <a:pt x="180051" y="188624"/>
                </a:lnTo>
                <a:cubicBezTo>
                  <a:pt x="175335" y="188624"/>
                  <a:pt x="171477" y="192483"/>
                  <a:pt x="171477" y="197198"/>
                </a:cubicBezTo>
                <a:close/>
              </a:path>
            </a:pathLst>
          </a:custGeom>
          <a:solidFill>
            <a:srgbClr val="B38B59"/>
          </a:solidFill>
          <a:ln/>
        </p:spPr>
        <p:txBody>
          <a:bodyPr/>
          <a:lstStyle/>
          <a:p>
            <a:endParaRPr lang="zh-CN" altLang="en-US"/>
          </a:p>
        </p:txBody>
      </p:sp>
      <p:sp>
        <p:nvSpPr>
          <p:cNvPr id="8" name="Text 6"/>
          <p:cNvSpPr/>
          <p:nvPr/>
        </p:nvSpPr>
        <p:spPr>
          <a:xfrm>
            <a:off x="994565" y="1703336"/>
            <a:ext cx="6984821" cy="365817"/>
          </a:xfrm>
          <a:prstGeom prst="rect">
            <a:avLst/>
          </a:prstGeom>
          <a:noFill/>
          <a:ln/>
        </p:spPr>
        <p:txBody>
          <a:bodyPr wrap="square" lIns="0" tIns="0" rIns="0" bIns="0" rtlCol="0" anchor="ctr"/>
          <a:lstStyle/>
          <a:p>
            <a:pPr>
              <a:lnSpc>
                <a:spcPct val="110000"/>
              </a:lnSpc>
            </a:pPr>
            <a:r>
              <a:rPr lang="en-US" sz="2160" b="1" dirty="0">
                <a:solidFill>
                  <a:srgbClr val="E0E2E4"/>
                </a:solidFill>
                <a:latin typeface="MiSans" pitchFamily="34" charset="0"/>
                <a:ea typeface="MiSans" pitchFamily="34" charset="-122"/>
                <a:cs typeface="MiSans" pitchFamily="34" charset="-120"/>
              </a:rPr>
              <a:t>YARN调度策略</a:t>
            </a:r>
            <a:endParaRPr lang="en-US" sz="1600" dirty="0"/>
          </a:p>
        </p:txBody>
      </p:sp>
      <p:sp>
        <p:nvSpPr>
          <p:cNvPr id="9" name="Shape 7"/>
          <p:cNvSpPr/>
          <p:nvPr/>
        </p:nvSpPr>
        <p:spPr>
          <a:xfrm>
            <a:off x="651612" y="2206335"/>
            <a:ext cx="7190594" cy="1508996"/>
          </a:xfrm>
          <a:custGeom>
            <a:avLst/>
            <a:gdLst/>
            <a:ahLst/>
            <a:cxnLst/>
            <a:rect l="l" t="t" r="r" b="b"/>
            <a:pathLst>
              <a:path w="7190594" h="1508996">
                <a:moveTo>
                  <a:pt x="91460" y="0"/>
                </a:moveTo>
                <a:lnTo>
                  <a:pt x="7099133" y="0"/>
                </a:lnTo>
                <a:cubicBezTo>
                  <a:pt x="7149645" y="0"/>
                  <a:pt x="7190594" y="40948"/>
                  <a:pt x="7190594" y="91460"/>
                </a:cubicBezTo>
                <a:lnTo>
                  <a:pt x="7190594" y="1417536"/>
                </a:lnTo>
                <a:cubicBezTo>
                  <a:pt x="7190594" y="1468048"/>
                  <a:pt x="7149645" y="1508996"/>
                  <a:pt x="7099133" y="1508996"/>
                </a:cubicBezTo>
                <a:lnTo>
                  <a:pt x="91460" y="1508996"/>
                </a:lnTo>
                <a:cubicBezTo>
                  <a:pt x="40948" y="1508996"/>
                  <a:pt x="0" y="1468048"/>
                  <a:pt x="0" y="1417536"/>
                </a:cubicBezTo>
                <a:lnTo>
                  <a:pt x="0" y="91460"/>
                </a:lnTo>
                <a:cubicBezTo>
                  <a:pt x="0" y="40982"/>
                  <a:pt x="40982" y="0"/>
                  <a:pt x="91460" y="0"/>
                </a:cubicBezTo>
                <a:close/>
              </a:path>
            </a:pathLst>
          </a:custGeom>
          <a:solidFill>
            <a:srgbClr val="1A1D21">
              <a:alpha val="50196"/>
            </a:srgbClr>
          </a:solidFill>
          <a:ln/>
        </p:spPr>
        <p:txBody>
          <a:bodyPr/>
          <a:lstStyle/>
          <a:p>
            <a:endParaRPr lang="zh-CN" altLang="en-US"/>
          </a:p>
        </p:txBody>
      </p:sp>
      <p:sp>
        <p:nvSpPr>
          <p:cNvPr id="10" name="Text 8"/>
          <p:cNvSpPr/>
          <p:nvPr/>
        </p:nvSpPr>
        <p:spPr>
          <a:xfrm>
            <a:off x="788793" y="2343516"/>
            <a:ext cx="7019117" cy="320090"/>
          </a:xfrm>
          <a:prstGeom prst="rect">
            <a:avLst/>
          </a:prstGeom>
          <a:noFill/>
          <a:ln/>
        </p:spPr>
        <p:txBody>
          <a:bodyPr wrap="square" lIns="0" tIns="0" rIns="0" bIns="0" rtlCol="0" anchor="ctr"/>
          <a:lstStyle/>
          <a:p>
            <a:pPr>
              <a:lnSpc>
                <a:spcPct val="130000"/>
              </a:lnSpc>
            </a:pPr>
            <a:r>
              <a:rPr lang="en-US" sz="1620" b="1" dirty="0">
                <a:solidFill>
                  <a:srgbClr val="B38B59"/>
                </a:solidFill>
                <a:latin typeface="MiSans" pitchFamily="34" charset="0"/>
                <a:ea typeface="MiSans" pitchFamily="34" charset="-122"/>
                <a:cs typeface="MiSans" pitchFamily="34" charset="-120"/>
              </a:rPr>
              <a:t>数据本地性优化</a:t>
            </a:r>
            <a:endParaRPr lang="en-US" sz="1600" dirty="0"/>
          </a:p>
        </p:txBody>
      </p:sp>
      <p:sp>
        <p:nvSpPr>
          <p:cNvPr id="11" name="Text 9"/>
          <p:cNvSpPr/>
          <p:nvPr/>
        </p:nvSpPr>
        <p:spPr>
          <a:xfrm>
            <a:off x="788793" y="2755060"/>
            <a:ext cx="6996253"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YARN的核心优化策略,通过将计算任务调度到数据所在节点,减少网络数据传输,显著提升性能。</a:t>
            </a:r>
            <a:endParaRPr lang="en-US" sz="1600" dirty="0"/>
          </a:p>
        </p:txBody>
      </p:sp>
      <p:sp>
        <p:nvSpPr>
          <p:cNvPr id="12" name="Shape 10"/>
          <p:cNvSpPr/>
          <p:nvPr/>
        </p:nvSpPr>
        <p:spPr>
          <a:xfrm>
            <a:off x="788793" y="3075150"/>
            <a:ext cx="2240630" cy="502999"/>
          </a:xfrm>
          <a:custGeom>
            <a:avLst/>
            <a:gdLst/>
            <a:ahLst/>
            <a:cxnLst/>
            <a:rect l="l" t="t" r="r" b="b"/>
            <a:pathLst>
              <a:path w="2240630" h="502999">
                <a:moveTo>
                  <a:pt x="45728" y="0"/>
                </a:moveTo>
                <a:lnTo>
                  <a:pt x="2194902" y="0"/>
                </a:lnTo>
                <a:cubicBezTo>
                  <a:pt x="2220157" y="0"/>
                  <a:pt x="2240630" y="20473"/>
                  <a:pt x="2240630" y="45728"/>
                </a:cubicBezTo>
                <a:lnTo>
                  <a:pt x="2240630" y="457271"/>
                </a:lnTo>
                <a:cubicBezTo>
                  <a:pt x="2240630" y="482526"/>
                  <a:pt x="2220157" y="502999"/>
                  <a:pt x="2194902" y="502999"/>
                </a:cubicBezTo>
                <a:lnTo>
                  <a:pt x="45728" y="502999"/>
                </a:lnTo>
                <a:cubicBezTo>
                  <a:pt x="20473" y="502999"/>
                  <a:pt x="0" y="482526"/>
                  <a:pt x="0" y="457271"/>
                </a:cubicBezTo>
                <a:lnTo>
                  <a:pt x="0" y="45728"/>
                </a:lnTo>
                <a:cubicBezTo>
                  <a:pt x="0" y="20490"/>
                  <a:pt x="20490" y="0"/>
                  <a:pt x="45728" y="0"/>
                </a:cubicBezTo>
                <a:close/>
              </a:path>
            </a:pathLst>
          </a:custGeom>
          <a:solidFill>
            <a:srgbClr val="3C8082">
              <a:alpha val="20000"/>
            </a:srgbClr>
          </a:solidFill>
          <a:ln/>
        </p:spPr>
        <p:txBody>
          <a:bodyPr/>
          <a:lstStyle/>
          <a:p>
            <a:endParaRPr lang="zh-CN" altLang="en-US"/>
          </a:p>
        </p:txBody>
      </p:sp>
      <p:sp>
        <p:nvSpPr>
          <p:cNvPr id="13" name="Text 11"/>
          <p:cNvSpPr/>
          <p:nvPr/>
        </p:nvSpPr>
        <p:spPr>
          <a:xfrm>
            <a:off x="823089" y="3143741"/>
            <a:ext cx="2172039" cy="182909"/>
          </a:xfrm>
          <a:prstGeom prst="rect">
            <a:avLst/>
          </a:prstGeom>
          <a:noFill/>
          <a:ln/>
        </p:spPr>
        <p:txBody>
          <a:bodyPr wrap="square" lIns="0" tIns="0" rIns="0" bIns="0" rtlCol="0" anchor="ctr"/>
          <a:lstStyle/>
          <a:p>
            <a:pPr algn="ctr">
              <a:lnSpc>
                <a:spcPct val="110000"/>
              </a:lnSpc>
            </a:pPr>
            <a:r>
              <a:rPr lang="en-US" sz="1080" b="1" dirty="0">
                <a:solidFill>
                  <a:srgbClr val="E0E2E4"/>
                </a:solidFill>
                <a:latin typeface="MiSans" pitchFamily="34" charset="0"/>
                <a:ea typeface="MiSans" pitchFamily="34" charset="-122"/>
                <a:cs typeface="MiSans" pitchFamily="34" charset="-120"/>
              </a:rPr>
              <a:t>NODE_LOCAL</a:t>
            </a:r>
            <a:endParaRPr lang="en-US" sz="1600" dirty="0"/>
          </a:p>
        </p:txBody>
      </p:sp>
      <p:sp>
        <p:nvSpPr>
          <p:cNvPr id="14" name="Text 12"/>
          <p:cNvSpPr/>
          <p:nvPr/>
        </p:nvSpPr>
        <p:spPr>
          <a:xfrm>
            <a:off x="823089" y="3326650"/>
            <a:ext cx="2172039" cy="182909"/>
          </a:xfrm>
          <a:prstGeom prst="rect">
            <a:avLst/>
          </a:prstGeom>
          <a:noFill/>
          <a:ln/>
        </p:spPr>
        <p:txBody>
          <a:bodyPr wrap="square" lIns="0" tIns="0" rIns="0" bIns="0" rtlCol="0" anchor="ctr"/>
          <a:lstStyle/>
          <a:p>
            <a:pPr algn="ctr">
              <a:lnSpc>
                <a:spcPct val="110000"/>
              </a:lnSpc>
            </a:pPr>
            <a:r>
              <a:rPr lang="en-US" sz="1080" dirty="0">
                <a:solidFill>
                  <a:srgbClr val="E0E2E4">
                    <a:alpha val="70000"/>
                  </a:srgbClr>
                </a:solidFill>
                <a:latin typeface="MiSans" pitchFamily="34" charset="0"/>
                <a:ea typeface="MiSans" pitchFamily="34" charset="-122"/>
                <a:cs typeface="MiSans" pitchFamily="34" charset="-120"/>
              </a:rPr>
              <a:t>数据本地</a:t>
            </a:r>
            <a:endParaRPr lang="en-US" sz="1600" dirty="0"/>
          </a:p>
        </p:txBody>
      </p:sp>
      <p:sp>
        <p:nvSpPr>
          <p:cNvPr id="15" name="Shape 13"/>
          <p:cNvSpPr/>
          <p:nvPr/>
        </p:nvSpPr>
        <p:spPr>
          <a:xfrm>
            <a:off x="3125075" y="3075150"/>
            <a:ext cx="2240630" cy="502999"/>
          </a:xfrm>
          <a:custGeom>
            <a:avLst/>
            <a:gdLst/>
            <a:ahLst/>
            <a:cxnLst/>
            <a:rect l="l" t="t" r="r" b="b"/>
            <a:pathLst>
              <a:path w="2240630" h="502999">
                <a:moveTo>
                  <a:pt x="45728" y="0"/>
                </a:moveTo>
                <a:lnTo>
                  <a:pt x="2194902" y="0"/>
                </a:lnTo>
                <a:cubicBezTo>
                  <a:pt x="2220157" y="0"/>
                  <a:pt x="2240630" y="20473"/>
                  <a:pt x="2240630" y="45728"/>
                </a:cubicBezTo>
                <a:lnTo>
                  <a:pt x="2240630" y="457271"/>
                </a:lnTo>
                <a:cubicBezTo>
                  <a:pt x="2240630" y="482526"/>
                  <a:pt x="2220157" y="502999"/>
                  <a:pt x="2194902" y="502999"/>
                </a:cubicBezTo>
                <a:lnTo>
                  <a:pt x="45728" y="502999"/>
                </a:lnTo>
                <a:cubicBezTo>
                  <a:pt x="20473" y="502999"/>
                  <a:pt x="0" y="482526"/>
                  <a:pt x="0" y="457271"/>
                </a:cubicBezTo>
                <a:lnTo>
                  <a:pt x="0" y="45728"/>
                </a:lnTo>
                <a:cubicBezTo>
                  <a:pt x="0" y="20490"/>
                  <a:pt x="20490" y="0"/>
                  <a:pt x="45728" y="0"/>
                </a:cubicBezTo>
                <a:close/>
              </a:path>
            </a:pathLst>
          </a:custGeom>
          <a:solidFill>
            <a:srgbClr val="3C8082">
              <a:alpha val="20000"/>
            </a:srgbClr>
          </a:solidFill>
          <a:ln/>
        </p:spPr>
        <p:txBody>
          <a:bodyPr/>
          <a:lstStyle/>
          <a:p>
            <a:endParaRPr lang="zh-CN" altLang="en-US"/>
          </a:p>
        </p:txBody>
      </p:sp>
      <p:sp>
        <p:nvSpPr>
          <p:cNvPr id="16" name="Text 14"/>
          <p:cNvSpPr/>
          <p:nvPr/>
        </p:nvSpPr>
        <p:spPr>
          <a:xfrm>
            <a:off x="3159371" y="3143741"/>
            <a:ext cx="2172039" cy="182909"/>
          </a:xfrm>
          <a:prstGeom prst="rect">
            <a:avLst/>
          </a:prstGeom>
          <a:noFill/>
          <a:ln/>
        </p:spPr>
        <p:txBody>
          <a:bodyPr wrap="square" lIns="0" tIns="0" rIns="0" bIns="0" rtlCol="0" anchor="ctr"/>
          <a:lstStyle/>
          <a:p>
            <a:pPr algn="ctr">
              <a:lnSpc>
                <a:spcPct val="110000"/>
              </a:lnSpc>
            </a:pPr>
            <a:r>
              <a:rPr lang="en-US" sz="1080" b="1" dirty="0">
                <a:solidFill>
                  <a:srgbClr val="E0E2E4"/>
                </a:solidFill>
                <a:latin typeface="MiSans" pitchFamily="34" charset="0"/>
                <a:ea typeface="MiSans" pitchFamily="34" charset="-122"/>
                <a:cs typeface="MiSans" pitchFamily="34" charset="-120"/>
              </a:rPr>
              <a:t>RACK_LOCAL</a:t>
            </a:r>
            <a:endParaRPr lang="en-US" sz="1600" dirty="0"/>
          </a:p>
        </p:txBody>
      </p:sp>
      <p:sp>
        <p:nvSpPr>
          <p:cNvPr id="17" name="Text 15"/>
          <p:cNvSpPr/>
          <p:nvPr/>
        </p:nvSpPr>
        <p:spPr>
          <a:xfrm>
            <a:off x="3159371" y="3326650"/>
            <a:ext cx="2172039" cy="182909"/>
          </a:xfrm>
          <a:prstGeom prst="rect">
            <a:avLst/>
          </a:prstGeom>
          <a:noFill/>
          <a:ln/>
        </p:spPr>
        <p:txBody>
          <a:bodyPr wrap="square" lIns="0" tIns="0" rIns="0" bIns="0" rtlCol="0" anchor="ctr"/>
          <a:lstStyle/>
          <a:p>
            <a:pPr algn="ctr">
              <a:lnSpc>
                <a:spcPct val="110000"/>
              </a:lnSpc>
            </a:pPr>
            <a:r>
              <a:rPr lang="en-US" sz="1080" dirty="0">
                <a:solidFill>
                  <a:srgbClr val="E0E2E4">
                    <a:alpha val="70000"/>
                  </a:srgbClr>
                </a:solidFill>
                <a:latin typeface="MiSans" pitchFamily="34" charset="0"/>
                <a:ea typeface="MiSans" pitchFamily="34" charset="-122"/>
                <a:cs typeface="MiSans" pitchFamily="34" charset="-120"/>
              </a:rPr>
              <a:t>机架本地</a:t>
            </a:r>
            <a:endParaRPr lang="en-US" sz="1600" dirty="0"/>
          </a:p>
        </p:txBody>
      </p:sp>
      <p:sp>
        <p:nvSpPr>
          <p:cNvPr id="18" name="Shape 16"/>
          <p:cNvSpPr/>
          <p:nvPr/>
        </p:nvSpPr>
        <p:spPr>
          <a:xfrm>
            <a:off x="5461357" y="3075150"/>
            <a:ext cx="2240630" cy="502999"/>
          </a:xfrm>
          <a:custGeom>
            <a:avLst/>
            <a:gdLst/>
            <a:ahLst/>
            <a:cxnLst/>
            <a:rect l="l" t="t" r="r" b="b"/>
            <a:pathLst>
              <a:path w="2240630" h="502999">
                <a:moveTo>
                  <a:pt x="45728" y="0"/>
                </a:moveTo>
                <a:lnTo>
                  <a:pt x="2194902" y="0"/>
                </a:lnTo>
                <a:cubicBezTo>
                  <a:pt x="2220157" y="0"/>
                  <a:pt x="2240630" y="20473"/>
                  <a:pt x="2240630" y="45728"/>
                </a:cubicBezTo>
                <a:lnTo>
                  <a:pt x="2240630" y="457271"/>
                </a:lnTo>
                <a:cubicBezTo>
                  <a:pt x="2240630" y="482526"/>
                  <a:pt x="2220157" y="502999"/>
                  <a:pt x="2194902" y="502999"/>
                </a:cubicBezTo>
                <a:lnTo>
                  <a:pt x="45728" y="502999"/>
                </a:lnTo>
                <a:cubicBezTo>
                  <a:pt x="20473" y="502999"/>
                  <a:pt x="0" y="482526"/>
                  <a:pt x="0" y="457271"/>
                </a:cubicBezTo>
                <a:lnTo>
                  <a:pt x="0" y="45728"/>
                </a:lnTo>
                <a:cubicBezTo>
                  <a:pt x="0" y="20490"/>
                  <a:pt x="20490" y="0"/>
                  <a:pt x="45728" y="0"/>
                </a:cubicBezTo>
                <a:close/>
              </a:path>
            </a:pathLst>
          </a:custGeom>
          <a:solidFill>
            <a:srgbClr val="3C8082">
              <a:alpha val="20000"/>
            </a:srgbClr>
          </a:solidFill>
          <a:ln/>
        </p:spPr>
        <p:txBody>
          <a:bodyPr/>
          <a:lstStyle/>
          <a:p>
            <a:endParaRPr lang="zh-CN" altLang="en-US"/>
          </a:p>
        </p:txBody>
      </p:sp>
      <p:sp>
        <p:nvSpPr>
          <p:cNvPr id="19" name="Text 17"/>
          <p:cNvSpPr/>
          <p:nvPr/>
        </p:nvSpPr>
        <p:spPr>
          <a:xfrm>
            <a:off x="5495653" y="3143741"/>
            <a:ext cx="2172039" cy="182909"/>
          </a:xfrm>
          <a:prstGeom prst="rect">
            <a:avLst/>
          </a:prstGeom>
          <a:noFill/>
          <a:ln/>
        </p:spPr>
        <p:txBody>
          <a:bodyPr wrap="square" lIns="0" tIns="0" rIns="0" bIns="0" rtlCol="0" anchor="ctr"/>
          <a:lstStyle/>
          <a:p>
            <a:pPr algn="ctr">
              <a:lnSpc>
                <a:spcPct val="110000"/>
              </a:lnSpc>
            </a:pPr>
            <a:r>
              <a:rPr lang="en-US" sz="1080" b="1" dirty="0">
                <a:solidFill>
                  <a:srgbClr val="E0E2E4"/>
                </a:solidFill>
                <a:latin typeface="MiSans" pitchFamily="34" charset="0"/>
                <a:ea typeface="MiSans" pitchFamily="34" charset="-122"/>
                <a:cs typeface="MiSans" pitchFamily="34" charset="-120"/>
              </a:rPr>
              <a:t>OFF_SWITCH</a:t>
            </a:r>
            <a:endParaRPr lang="en-US" sz="1600" dirty="0"/>
          </a:p>
        </p:txBody>
      </p:sp>
      <p:sp>
        <p:nvSpPr>
          <p:cNvPr id="20" name="Text 18"/>
          <p:cNvSpPr/>
          <p:nvPr/>
        </p:nvSpPr>
        <p:spPr>
          <a:xfrm>
            <a:off x="5495653" y="3326650"/>
            <a:ext cx="2172039" cy="182909"/>
          </a:xfrm>
          <a:prstGeom prst="rect">
            <a:avLst/>
          </a:prstGeom>
          <a:noFill/>
          <a:ln/>
        </p:spPr>
        <p:txBody>
          <a:bodyPr wrap="square" lIns="0" tIns="0" rIns="0" bIns="0" rtlCol="0" anchor="ctr"/>
          <a:lstStyle/>
          <a:p>
            <a:pPr algn="ctr">
              <a:lnSpc>
                <a:spcPct val="110000"/>
              </a:lnSpc>
            </a:pPr>
            <a:r>
              <a:rPr lang="en-US" sz="1080" dirty="0">
                <a:solidFill>
                  <a:srgbClr val="E0E2E4">
                    <a:alpha val="70000"/>
                  </a:srgbClr>
                </a:solidFill>
                <a:latin typeface="MiSans" pitchFamily="34" charset="0"/>
                <a:ea typeface="MiSans" pitchFamily="34" charset="-122"/>
                <a:cs typeface="MiSans" pitchFamily="34" charset="-120"/>
              </a:rPr>
              <a:t>跨机架</a:t>
            </a:r>
            <a:endParaRPr lang="en-US" sz="1600" dirty="0"/>
          </a:p>
        </p:txBody>
      </p:sp>
      <p:sp>
        <p:nvSpPr>
          <p:cNvPr id="21" name="Shape 19"/>
          <p:cNvSpPr/>
          <p:nvPr/>
        </p:nvSpPr>
        <p:spPr>
          <a:xfrm>
            <a:off x="651612" y="3852512"/>
            <a:ext cx="7190594" cy="1463269"/>
          </a:xfrm>
          <a:custGeom>
            <a:avLst/>
            <a:gdLst/>
            <a:ahLst/>
            <a:cxnLst/>
            <a:rect l="l" t="t" r="r" b="b"/>
            <a:pathLst>
              <a:path w="7190594" h="1463269">
                <a:moveTo>
                  <a:pt x="91454" y="0"/>
                </a:moveTo>
                <a:lnTo>
                  <a:pt x="7099139" y="0"/>
                </a:lnTo>
                <a:cubicBezTo>
                  <a:pt x="7149648" y="0"/>
                  <a:pt x="7190594" y="40945"/>
                  <a:pt x="7190594" y="91454"/>
                </a:cubicBezTo>
                <a:lnTo>
                  <a:pt x="7190594" y="1371814"/>
                </a:lnTo>
                <a:cubicBezTo>
                  <a:pt x="7190594" y="1422323"/>
                  <a:pt x="7149648" y="1463269"/>
                  <a:pt x="7099139" y="1463269"/>
                </a:cubicBezTo>
                <a:lnTo>
                  <a:pt x="91454" y="1463269"/>
                </a:lnTo>
                <a:cubicBezTo>
                  <a:pt x="40945" y="1463269"/>
                  <a:pt x="0" y="1422323"/>
                  <a:pt x="0" y="1371814"/>
                </a:cubicBezTo>
                <a:lnTo>
                  <a:pt x="0" y="91454"/>
                </a:lnTo>
                <a:cubicBezTo>
                  <a:pt x="0" y="40945"/>
                  <a:pt x="40945" y="0"/>
                  <a:pt x="91454" y="0"/>
                </a:cubicBezTo>
                <a:close/>
              </a:path>
            </a:pathLst>
          </a:custGeom>
          <a:solidFill>
            <a:srgbClr val="1A1D21">
              <a:alpha val="50196"/>
            </a:srgbClr>
          </a:solidFill>
          <a:ln/>
        </p:spPr>
        <p:txBody>
          <a:bodyPr/>
          <a:lstStyle/>
          <a:p>
            <a:endParaRPr lang="zh-CN" altLang="en-US"/>
          </a:p>
        </p:txBody>
      </p:sp>
      <p:sp>
        <p:nvSpPr>
          <p:cNvPr id="22" name="Text 20"/>
          <p:cNvSpPr/>
          <p:nvPr/>
        </p:nvSpPr>
        <p:spPr>
          <a:xfrm>
            <a:off x="788793" y="3989693"/>
            <a:ext cx="7019117" cy="320090"/>
          </a:xfrm>
          <a:prstGeom prst="rect">
            <a:avLst/>
          </a:prstGeom>
          <a:noFill/>
          <a:ln/>
        </p:spPr>
        <p:txBody>
          <a:bodyPr wrap="square" lIns="0" tIns="0" rIns="0" bIns="0" rtlCol="0" anchor="ctr"/>
          <a:lstStyle/>
          <a:p>
            <a:pPr>
              <a:lnSpc>
                <a:spcPct val="130000"/>
              </a:lnSpc>
            </a:pPr>
            <a:r>
              <a:rPr lang="en-US" sz="1620" b="1" dirty="0">
                <a:solidFill>
                  <a:srgbClr val="B38B59"/>
                </a:solidFill>
                <a:latin typeface="MiSans" pitchFamily="34" charset="0"/>
                <a:ea typeface="MiSans" pitchFamily="34" charset="-122"/>
                <a:cs typeface="MiSans" pitchFamily="34" charset="-120"/>
              </a:rPr>
              <a:t>批处理作业优化</a:t>
            </a:r>
            <a:endParaRPr lang="en-US" sz="1600" dirty="0"/>
          </a:p>
        </p:txBody>
      </p:sp>
      <p:sp>
        <p:nvSpPr>
          <p:cNvPr id="23" name="Text 21"/>
          <p:cNvSpPr/>
          <p:nvPr/>
        </p:nvSpPr>
        <p:spPr>
          <a:xfrm>
            <a:off x="788793" y="4401238"/>
            <a:ext cx="6996253"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 </a:t>
            </a:r>
            <a:r>
              <a:rPr lang="en-US" sz="1260" b="1" dirty="0">
                <a:solidFill>
                  <a:srgbClr val="E0E2E4"/>
                </a:solidFill>
                <a:latin typeface="MiSans" pitchFamily="34" charset="0"/>
                <a:ea typeface="MiSans" pitchFamily="34" charset="-122"/>
                <a:cs typeface="MiSans" pitchFamily="34" charset="-120"/>
              </a:rPr>
              <a:t>容量调度器:</a:t>
            </a:r>
            <a:r>
              <a:rPr lang="en-US" sz="1260" dirty="0">
                <a:solidFill>
                  <a:srgbClr val="E0E2E4">
                    <a:alpha val="80000"/>
                  </a:srgbClr>
                </a:solidFill>
                <a:latin typeface="MiSans" pitchFamily="34" charset="0"/>
                <a:ea typeface="MiSans" pitchFamily="34" charset="-122"/>
                <a:cs typeface="MiSans" pitchFamily="34" charset="-120"/>
              </a:rPr>
              <a:t> 支持多队列资源分配,适合多租户环境</a:t>
            </a:r>
            <a:endParaRPr lang="en-US" sz="1600" dirty="0"/>
          </a:p>
        </p:txBody>
      </p:sp>
      <p:sp>
        <p:nvSpPr>
          <p:cNvPr id="24" name="Text 22"/>
          <p:cNvSpPr/>
          <p:nvPr/>
        </p:nvSpPr>
        <p:spPr>
          <a:xfrm>
            <a:off x="788793" y="4675601"/>
            <a:ext cx="6996253"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 </a:t>
            </a:r>
            <a:r>
              <a:rPr lang="en-US" sz="1260" b="1" dirty="0">
                <a:solidFill>
                  <a:srgbClr val="E0E2E4"/>
                </a:solidFill>
                <a:latin typeface="MiSans" pitchFamily="34" charset="0"/>
                <a:ea typeface="MiSans" pitchFamily="34" charset="-122"/>
                <a:cs typeface="MiSans" pitchFamily="34" charset="-120"/>
              </a:rPr>
              <a:t>公平调度器:</a:t>
            </a:r>
            <a:r>
              <a:rPr lang="en-US" sz="1260" dirty="0">
                <a:solidFill>
                  <a:srgbClr val="E0E2E4">
                    <a:alpha val="80000"/>
                  </a:srgbClr>
                </a:solidFill>
                <a:latin typeface="MiSans" pitchFamily="34" charset="0"/>
                <a:ea typeface="MiSans" pitchFamily="34" charset="-122"/>
                <a:cs typeface="MiSans" pitchFamily="34" charset="-120"/>
              </a:rPr>
              <a:t> 确保所有应用公平获取资源</a:t>
            </a:r>
            <a:endParaRPr lang="en-US" sz="1600" dirty="0"/>
          </a:p>
        </p:txBody>
      </p:sp>
      <p:sp>
        <p:nvSpPr>
          <p:cNvPr id="25" name="Text 23"/>
          <p:cNvSpPr/>
          <p:nvPr/>
        </p:nvSpPr>
        <p:spPr>
          <a:xfrm>
            <a:off x="788793" y="4949963"/>
            <a:ext cx="6996253"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 </a:t>
            </a:r>
            <a:r>
              <a:rPr lang="en-US" sz="1260" b="1" dirty="0">
                <a:solidFill>
                  <a:srgbClr val="E0E2E4"/>
                </a:solidFill>
                <a:latin typeface="MiSans" pitchFamily="34" charset="0"/>
                <a:ea typeface="MiSans" pitchFamily="34" charset="-122"/>
                <a:cs typeface="MiSans" pitchFamily="34" charset="-120"/>
              </a:rPr>
              <a:t>资源预留:</a:t>
            </a:r>
            <a:r>
              <a:rPr lang="en-US" sz="1260" dirty="0">
                <a:solidFill>
                  <a:srgbClr val="E0E2E4">
                    <a:alpha val="80000"/>
                  </a:srgbClr>
                </a:solidFill>
                <a:latin typeface="MiSans" pitchFamily="34" charset="0"/>
                <a:ea typeface="MiSans" pitchFamily="34" charset="-122"/>
                <a:cs typeface="MiSans" pitchFamily="34" charset="-120"/>
              </a:rPr>
              <a:t> 防止资源碎片,提高利用率</a:t>
            </a:r>
            <a:endParaRPr lang="en-US" sz="1600" dirty="0"/>
          </a:p>
        </p:txBody>
      </p:sp>
      <p:sp>
        <p:nvSpPr>
          <p:cNvPr id="26" name="Shape 24"/>
          <p:cNvSpPr/>
          <p:nvPr/>
        </p:nvSpPr>
        <p:spPr>
          <a:xfrm>
            <a:off x="651612" y="5452962"/>
            <a:ext cx="7190594" cy="1463269"/>
          </a:xfrm>
          <a:custGeom>
            <a:avLst/>
            <a:gdLst/>
            <a:ahLst/>
            <a:cxnLst/>
            <a:rect l="l" t="t" r="r" b="b"/>
            <a:pathLst>
              <a:path w="7190594" h="1463269">
                <a:moveTo>
                  <a:pt x="91454" y="0"/>
                </a:moveTo>
                <a:lnTo>
                  <a:pt x="7099139" y="0"/>
                </a:lnTo>
                <a:cubicBezTo>
                  <a:pt x="7149648" y="0"/>
                  <a:pt x="7190594" y="40945"/>
                  <a:pt x="7190594" y="91454"/>
                </a:cubicBezTo>
                <a:lnTo>
                  <a:pt x="7190594" y="1371814"/>
                </a:lnTo>
                <a:cubicBezTo>
                  <a:pt x="7190594" y="1422323"/>
                  <a:pt x="7149648" y="1463269"/>
                  <a:pt x="7099139" y="1463269"/>
                </a:cubicBezTo>
                <a:lnTo>
                  <a:pt x="91454" y="1463269"/>
                </a:lnTo>
                <a:cubicBezTo>
                  <a:pt x="40945" y="1463269"/>
                  <a:pt x="0" y="1422323"/>
                  <a:pt x="0" y="1371814"/>
                </a:cubicBezTo>
                <a:lnTo>
                  <a:pt x="0" y="91454"/>
                </a:lnTo>
                <a:cubicBezTo>
                  <a:pt x="0" y="40945"/>
                  <a:pt x="40945" y="0"/>
                  <a:pt x="91454" y="0"/>
                </a:cubicBezTo>
                <a:close/>
              </a:path>
            </a:pathLst>
          </a:custGeom>
          <a:solidFill>
            <a:srgbClr val="1A1D21">
              <a:alpha val="50196"/>
            </a:srgbClr>
          </a:solidFill>
          <a:ln/>
        </p:spPr>
        <p:txBody>
          <a:bodyPr/>
          <a:lstStyle/>
          <a:p>
            <a:endParaRPr lang="zh-CN" altLang="en-US"/>
          </a:p>
        </p:txBody>
      </p:sp>
      <p:sp>
        <p:nvSpPr>
          <p:cNvPr id="27" name="Text 25"/>
          <p:cNvSpPr/>
          <p:nvPr/>
        </p:nvSpPr>
        <p:spPr>
          <a:xfrm>
            <a:off x="788793" y="5590143"/>
            <a:ext cx="7019117" cy="320090"/>
          </a:xfrm>
          <a:prstGeom prst="rect">
            <a:avLst/>
          </a:prstGeom>
          <a:noFill/>
          <a:ln/>
        </p:spPr>
        <p:txBody>
          <a:bodyPr wrap="square" lIns="0" tIns="0" rIns="0" bIns="0" rtlCol="0" anchor="ctr"/>
          <a:lstStyle/>
          <a:p>
            <a:pPr>
              <a:lnSpc>
                <a:spcPct val="130000"/>
              </a:lnSpc>
            </a:pPr>
            <a:r>
              <a:rPr lang="en-US" sz="1620" b="1" dirty="0">
                <a:solidFill>
                  <a:srgbClr val="B38B59"/>
                </a:solidFill>
                <a:latin typeface="MiSans" pitchFamily="34" charset="0"/>
                <a:ea typeface="MiSans" pitchFamily="34" charset="-122"/>
                <a:cs typeface="MiSans" pitchFamily="34" charset="-120"/>
              </a:rPr>
              <a:t>性能特征</a:t>
            </a:r>
            <a:endParaRPr lang="en-US" sz="1600" dirty="0"/>
          </a:p>
        </p:txBody>
      </p:sp>
      <p:sp>
        <p:nvSpPr>
          <p:cNvPr id="28" name="Text 26"/>
          <p:cNvSpPr/>
          <p:nvPr/>
        </p:nvSpPr>
        <p:spPr>
          <a:xfrm>
            <a:off x="788793" y="6001688"/>
            <a:ext cx="6996253"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 </a:t>
            </a:r>
            <a:r>
              <a:rPr lang="en-US" sz="1260" b="1" dirty="0">
                <a:solidFill>
                  <a:srgbClr val="E0E2E4"/>
                </a:solidFill>
                <a:latin typeface="MiSans" pitchFamily="34" charset="0"/>
                <a:ea typeface="MiSans" pitchFamily="34" charset="-122"/>
                <a:cs typeface="MiSans" pitchFamily="34" charset="-120"/>
              </a:rPr>
              <a:t>高吞吐量:</a:t>
            </a:r>
            <a:r>
              <a:rPr lang="en-US" sz="1260" dirty="0">
                <a:solidFill>
                  <a:srgbClr val="E0E2E4">
                    <a:alpha val="80000"/>
                  </a:srgbClr>
                </a:solidFill>
                <a:latin typeface="MiSans" pitchFamily="34" charset="0"/>
                <a:ea typeface="MiSans" pitchFamily="34" charset="-122"/>
                <a:cs typeface="MiSans" pitchFamily="34" charset="-120"/>
              </a:rPr>
              <a:t> 适合大规模批处理作业</a:t>
            </a:r>
            <a:endParaRPr lang="en-US" sz="1600" dirty="0"/>
          </a:p>
        </p:txBody>
      </p:sp>
      <p:sp>
        <p:nvSpPr>
          <p:cNvPr id="29" name="Text 27"/>
          <p:cNvSpPr/>
          <p:nvPr/>
        </p:nvSpPr>
        <p:spPr>
          <a:xfrm>
            <a:off x="788793" y="6276051"/>
            <a:ext cx="6996253"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 </a:t>
            </a:r>
            <a:r>
              <a:rPr lang="en-US" sz="1260" b="1" dirty="0">
                <a:solidFill>
                  <a:srgbClr val="E0E2E4"/>
                </a:solidFill>
                <a:latin typeface="MiSans" pitchFamily="34" charset="0"/>
                <a:ea typeface="MiSans" pitchFamily="34" charset="-122"/>
                <a:cs typeface="MiSans" pitchFamily="34" charset="-120"/>
              </a:rPr>
              <a:t>数据亲和性:</a:t>
            </a:r>
            <a:r>
              <a:rPr lang="en-US" sz="1260" dirty="0">
                <a:solidFill>
                  <a:srgbClr val="E0E2E4">
                    <a:alpha val="80000"/>
                  </a:srgbClr>
                </a:solidFill>
                <a:latin typeface="MiSans" pitchFamily="34" charset="0"/>
                <a:ea typeface="MiSans" pitchFamily="34" charset="-122"/>
                <a:cs typeface="MiSans" pitchFamily="34" charset="-120"/>
              </a:rPr>
              <a:t> 减少网络I/O,提升性能</a:t>
            </a:r>
            <a:endParaRPr lang="en-US" sz="1600" dirty="0"/>
          </a:p>
        </p:txBody>
      </p:sp>
      <p:sp>
        <p:nvSpPr>
          <p:cNvPr id="30" name="Text 28"/>
          <p:cNvSpPr/>
          <p:nvPr/>
        </p:nvSpPr>
        <p:spPr>
          <a:xfrm>
            <a:off x="788793" y="6550414"/>
            <a:ext cx="6996253"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 </a:t>
            </a:r>
            <a:r>
              <a:rPr lang="en-US" sz="1260" b="1" dirty="0">
                <a:solidFill>
                  <a:srgbClr val="E0E2E4"/>
                </a:solidFill>
                <a:latin typeface="MiSans" pitchFamily="34" charset="0"/>
                <a:ea typeface="MiSans" pitchFamily="34" charset="-122"/>
                <a:cs typeface="MiSans" pitchFamily="34" charset="-120"/>
              </a:rPr>
              <a:t>集中决策:</a:t>
            </a:r>
            <a:r>
              <a:rPr lang="en-US" sz="1260" dirty="0">
                <a:solidFill>
                  <a:srgbClr val="E0E2E4">
                    <a:alpha val="80000"/>
                  </a:srgbClr>
                </a:solidFill>
                <a:latin typeface="MiSans" pitchFamily="34" charset="0"/>
                <a:ea typeface="MiSans" pitchFamily="34" charset="-122"/>
                <a:cs typeface="MiSans" pitchFamily="34" charset="-120"/>
              </a:rPr>
              <a:t> ResourceManager统一调度</a:t>
            </a:r>
            <a:endParaRPr lang="en-US" sz="1600" dirty="0"/>
          </a:p>
        </p:txBody>
      </p:sp>
      <p:sp>
        <p:nvSpPr>
          <p:cNvPr id="31" name="Shape 29"/>
          <p:cNvSpPr/>
          <p:nvPr/>
        </p:nvSpPr>
        <p:spPr>
          <a:xfrm>
            <a:off x="8226421" y="1514712"/>
            <a:ext cx="7567842" cy="6180756"/>
          </a:xfrm>
          <a:custGeom>
            <a:avLst/>
            <a:gdLst/>
            <a:ahLst/>
            <a:cxnLst/>
            <a:rect l="l" t="t" r="r" b="b"/>
            <a:pathLst>
              <a:path w="7567842" h="6630436">
                <a:moveTo>
                  <a:pt x="91434" y="0"/>
                </a:moveTo>
                <a:lnTo>
                  <a:pt x="7476409" y="0"/>
                </a:lnTo>
                <a:cubicBezTo>
                  <a:pt x="7526906" y="0"/>
                  <a:pt x="7567842" y="40936"/>
                  <a:pt x="7567842" y="91434"/>
                </a:cubicBezTo>
                <a:lnTo>
                  <a:pt x="7567842" y="6539002"/>
                </a:lnTo>
                <a:cubicBezTo>
                  <a:pt x="7567842" y="6589500"/>
                  <a:pt x="7526906" y="6630436"/>
                  <a:pt x="7476409" y="6630436"/>
                </a:cubicBezTo>
                <a:lnTo>
                  <a:pt x="91434" y="6630436"/>
                </a:lnTo>
                <a:cubicBezTo>
                  <a:pt x="40936" y="6630436"/>
                  <a:pt x="0" y="6589500"/>
                  <a:pt x="0" y="6539002"/>
                </a:cubicBezTo>
                <a:lnTo>
                  <a:pt x="0" y="91434"/>
                </a:lnTo>
                <a:cubicBezTo>
                  <a:pt x="0" y="40970"/>
                  <a:pt x="40970" y="0"/>
                  <a:pt x="91434"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32" name="Shape 30"/>
          <p:cNvSpPr/>
          <p:nvPr/>
        </p:nvSpPr>
        <p:spPr>
          <a:xfrm>
            <a:off x="8415045" y="1749063"/>
            <a:ext cx="342954" cy="274363"/>
          </a:xfrm>
          <a:custGeom>
            <a:avLst/>
            <a:gdLst/>
            <a:ahLst/>
            <a:cxnLst/>
            <a:rect l="l" t="t" r="r" b="b"/>
            <a:pathLst>
              <a:path w="342954" h="274363">
                <a:moveTo>
                  <a:pt x="222866" y="112800"/>
                </a:moveTo>
                <a:cubicBezTo>
                  <a:pt x="229404" y="111031"/>
                  <a:pt x="236263" y="114139"/>
                  <a:pt x="239210" y="120195"/>
                </a:cubicBezTo>
                <a:lnTo>
                  <a:pt x="249177" y="140343"/>
                </a:lnTo>
                <a:cubicBezTo>
                  <a:pt x="254697" y="141093"/>
                  <a:pt x="260109" y="142594"/>
                  <a:pt x="265200" y="144684"/>
                </a:cubicBezTo>
                <a:lnTo>
                  <a:pt x="283955" y="132198"/>
                </a:lnTo>
                <a:cubicBezTo>
                  <a:pt x="289581" y="128447"/>
                  <a:pt x="297030" y="129197"/>
                  <a:pt x="301799" y="133966"/>
                </a:cubicBezTo>
                <a:lnTo>
                  <a:pt x="312088" y="144255"/>
                </a:lnTo>
                <a:cubicBezTo>
                  <a:pt x="316857" y="149024"/>
                  <a:pt x="317607" y="156526"/>
                  <a:pt x="313856" y="162099"/>
                </a:cubicBezTo>
                <a:lnTo>
                  <a:pt x="301370" y="180801"/>
                </a:lnTo>
                <a:cubicBezTo>
                  <a:pt x="302389" y="183319"/>
                  <a:pt x="303300" y="185945"/>
                  <a:pt x="304050" y="188678"/>
                </a:cubicBezTo>
                <a:cubicBezTo>
                  <a:pt x="304800" y="191411"/>
                  <a:pt x="305282" y="194090"/>
                  <a:pt x="305657" y="196823"/>
                </a:cubicBezTo>
                <a:lnTo>
                  <a:pt x="325859" y="206790"/>
                </a:lnTo>
                <a:cubicBezTo>
                  <a:pt x="331915" y="209791"/>
                  <a:pt x="335023" y="216650"/>
                  <a:pt x="333254" y="223134"/>
                </a:cubicBezTo>
                <a:lnTo>
                  <a:pt x="329503" y="237174"/>
                </a:lnTo>
                <a:cubicBezTo>
                  <a:pt x="327735" y="243658"/>
                  <a:pt x="321680" y="248052"/>
                  <a:pt x="314928" y="247623"/>
                </a:cubicBezTo>
                <a:lnTo>
                  <a:pt x="292422" y="246176"/>
                </a:lnTo>
                <a:cubicBezTo>
                  <a:pt x="289046" y="250517"/>
                  <a:pt x="285134" y="254536"/>
                  <a:pt x="280686" y="257965"/>
                </a:cubicBezTo>
                <a:lnTo>
                  <a:pt x="282133" y="280418"/>
                </a:lnTo>
                <a:cubicBezTo>
                  <a:pt x="282562" y="287170"/>
                  <a:pt x="278168" y="293279"/>
                  <a:pt x="271684" y="294994"/>
                </a:cubicBezTo>
                <a:lnTo>
                  <a:pt x="257644" y="298745"/>
                </a:lnTo>
                <a:cubicBezTo>
                  <a:pt x="251106" y="300513"/>
                  <a:pt x="244301" y="297405"/>
                  <a:pt x="241300" y="291350"/>
                </a:cubicBezTo>
                <a:lnTo>
                  <a:pt x="231333" y="271201"/>
                </a:lnTo>
                <a:cubicBezTo>
                  <a:pt x="225814" y="270451"/>
                  <a:pt x="220401" y="268951"/>
                  <a:pt x="215311" y="266861"/>
                </a:cubicBezTo>
                <a:lnTo>
                  <a:pt x="196555" y="279346"/>
                </a:lnTo>
                <a:cubicBezTo>
                  <a:pt x="190929" y="283097"/>
                  <a:pt x="183480" y="282347"/>
                  <a:pt x="178711" y="277578"/>
                </a:cubicBezTo>
                <a:lnTo>
                  <a:pt x="168422" y="267289"/>
                </a:lnTo>
                <a:cubicBezTo>
                  <a:pt x="163653" y="262520"/>
                  <a:pt x="162903" y="255072"/>
                  <a:pt x="166654" y="249445"/>
                </a:cubicBezTo>
                <a:lnTo>
                  <a:pt x="179140" y="230690"/>
                </a:lnTo>
                <a:cubicBezTo>
                  <a:pt x="178122" y="228171"/>
                  <a:pt x="177211" y="225546"/>
                  <a:pt x="176460" y="222813"/>
                </a:cubicBezTo>
                <a:cubicBezTo>
                  <a:pt x="175710" y="220080"/>
                  <a:pt x="175228" y="217347"/>
                  <a:pt x="174853" y="214668"/>
                </a:cubicBezTo>
                <a:lnTo>
                  <a:pt x="154651" y="204700"/>
                </a:lnTo>
                <a:cubicBezTo>
                  <a:pt x="148595" y="201700"/>
                  <a:pt x="145541" y="194841"/>
                  <a:pt x="147256" y="188357"/>
                </a:cubicBezTo>
                <a:lnTo>
                  <a:pt x="151007" y="174317"/>
                </a:lnTo>
                <a:cubicBezTo>
                  <a:pt x="152775" y="167833"/>
                  <a:pt x="158830" y="163439"/>
                  <a:pt x="165582" y="163868"/>
                </a:cubicBezTo>
                <a:lnTo>
                  <a:pt x="188035" y="165314"/>
                </a:lnTo>
                <a:cubicBezTo>
                  <a:pt x="191411" y="160974"/>
                  <a:pt x="195323" y="156955"/>
                  <a:pt x="199770" y="153525"/>
                </a:cubicBezTo>
                <a:lnTo>
                  <a:pt x="198324" y="131126"/>
                </a:lnTo>
                <a:cubicBezTo>
                  <a:pt x="197895" y="124374"/>
                  <a:pt x="202289" y="118265"/>
                  <a:pt x="208773" y="116551"/>
                </a:cubicBezTo>
                <a:lnTo>
                  <a:pt x="222813" y="112800"/>
                </a:lnTo>
                <a:close/>
                <a:moveTo>
                  <a:pt x="240282" y="182194"/>
                </a:moveTo>
                <a:cubicBezTo>
                  <a:pt x="227269" y="182209"/>
                  <a:pt x="216716" y="192786"/>
                  <a:pt x="216731" y="205799"/>
                </a:cubicBezTo>
                <a:cubicBezTo>
                  <a:pt x="216745" y="218812"/>
                  <a:pt x="227322" y="229365"/>
                  <a:pt x="240335" y="229350"/>
                </a:cubicBezTo>
                <a:cubicBezTo>
                  <a:pt x="253349" y="229335"/>
                  <a:pt x="263901" y="218758"/>
                  <a:pt x="263887" y="205745"/>
                </a:cubicBezTo>
                <a:cubicBezTo>
                  <a:pt x="263872" y="192732"/>
                  <a:pt x="253295" y="182179"/>
                  <a:pt x="240282" y="182194"/>
                </a:cubicBezTo>
                <a:close/>
                <a:moveTo>
                  <a:pt x="120516" y="-24382"/>
                </a:moveTo>
                <a:lnTo>
                  <a:pt x="134556" y="-20631"/>
                </a:lnTo>
                <a:cubicBezTo>
                  <a:pt x="141040" y="-18862"/>
                  <a:pt x="145434" y="-12754"/>
                  <a:pt x="145005" y="-6055"/>
                </a:cubicBezTo>
                <a:lnTo>
                  <a:pt x="143558" y="16344"/>
                </a:lnTo>
                <a:cubicBezTo>
                  <a:pt x="148006" y="19773"/>
                  <a:pt x="151918" y="23739"/>
                  <a:pt x="155294" y="28133"/>
                </a:cubicBezTo>
                <a:lnTo>
                  <a:pt x="177800" y="26686"/>
                </a:lnTo>
                <a:cubicBezTo>
                  <a:pt x="184498" y="26257"/>
                  <a:pt x="190607" y="30651"/>
                  <a:pt x="192376" y="37135"/>
                </a:cubicBezTo>
                <a:lnTo>
                  <a:pt x="196127" y="51175"/>
                </a:lnTo>
                <a:cubicBezTo>
                  <a:pt x="197841" y="57659"/>
                  <a:pt x="194787" y="64518"/>
                  <a:pt x="188732" y="67519"/>
                </a:cubicBezTo>
                <a:lnTo>
                  <a:pt x="168530" y="77486"/>
                </a:lnTo>
                <a:cubicBezTo>
                  <a:pt x="168154" y="80219"/>
                  <a:pt x="167619" y="82952"/>
                  <a:pt x="166922" y="85631"/>
                </a:cubicBezTo>
                <a:cubicBezTo>
                  <a:pt x="166225" y="88311"/>
                  <a:pt x="165261" y="90990"/>
                  <a:pt x="164243" y="93508"/>
                </a:cubicBezTo>
                <a:lnTo>
                  <a:pt x="176728" y="112264"/>
                </a:lnTo>
                <a:cubicBezTo>
                  <a:pt x="180479" y="117890"/>
                  <a:pt x="179729" y="125339"/>
                  <a:pt x="174960" y="130108"/>
                </a:cubicBezTo>
                <a:lnTo>
                  <a:pt x="164671" y="140397"/>
                </a:lnTo>
                <a:cubicBezTo>
                  <a:pt x="159902" y="145166"/>
                  <a:pt x="152454" y="145916"/>
                  <a:pt x="146827" y="142165"/>
                </a:cubicBezTo>
                <a:lnTo>
                  <a:pt x="128072" y="129679"/>
                </a:lnTo>
                <a:cubicBezTo>
                  <a:pt x="122981" y="131769"/>
                  <a:pt x="117569" y="133270"/>
                  <a:pt x="112049" y="134020"/>
                </a:cubicBezTo>
                <a:lnTo>
                  <a:pt x="102082" y="154168"/>
                </a:lnTo>
                <a:cubicBezTo>
                  <a:pt x="99081" y="160224"/>
                  <a:pt x="92222" y="163278"/>
                  <a:pt x="85738" y="161563"/>
                </a:cubicBezTo>
                <a:lnTo>
                  <a:pt x="71699" y="157812"/>
                </a:lnTo>
                <a:cubicBezTo>
                  <a:pt x="65161" y="156044"/>
                  <a:pt x="60821" y="149935"/>
                  <a:pt x="61249" y="143237"/>
                </a:cubicBezTo>
                <a:lnTo>
                  <a:pt x="62696" y="120784"/>
                </a:lnTo>
                <a:cubicBezTo>
                  <a:pt x="58249" y="117354"/>
                  <a:pt x="54337" y="113389"/>
                  <a:pt x="50961" y="108995"/>
                </a:cubicBezTo>
                <a:lnTo>
                  <a:pt x="28454" y="110442"/>
                </a:lnTo>
                <a:cubicBezTo>
                  <a:pt x="21756" y="110870"/>
                  <a:pt x="15647" y="106476"/>
                  <a:pt x="13879" y="99992"/>
                </a:cubicBezTo>
                <a:lnTo>
                  <a:pt x="10128" y="85953"/>
                </a:lnTo>
                <a:cubicBezTo>
                  <a:pt x="8413" y="79469"/>
                  <a:pt x="11468" y="72610"/>
                  <a:pt x="17523" y="69609"/>
                </a:cubicBezTo>
                <a:lnTo>
                  <a:pt x="37725" y="59642"/>
                </a:lnTo>
                <a:cubicBezTo>
                  <a:pt x="38100" y="56909"/>
                  <a:pt x="38636" y="54230"/>
                  <a:pt x="39332" y="51497"/>
                </a:cubicBezTo>
                <a:cubicBezTo>
                  <a:pt x="40083" y="48764"/>
                  <a:pt x="40940" y="46138"/>
                  <a:pt x="42012" y="43619"/>
                </a:cubicBezTo>
                <a:lnTo>
                  <a:pt x="29526" y="24918"/>
                </a:lnTo>
                <a:cubicBezTo>
                  <a:pt x="25775" y="19291"/>
                  <a:pt x="26525" y="11843"/>
                  <a:pt x="31295" y="7073"/>
                </a:cubicBezTo>
                <a:lnTo>
                  <a:pt x="41583" y="-3215"/>
                </a:lnTo>
                <a:cubicBezTo>
                  <a:pt x="46352" y="-7984"/>
                  <a:pt x="53801" y="-8735"/>
                  <a:pt x="59427" y="-4984"/>
                </a:cubicBezTo>
                <a:lnTo>
                  <a:pt x="78183" y="7502"/>
                </a:lnTo>
                <a:cubicBezTo>
                  <a:pt x="83273" y="5412"/>
                  <a:pt x="88686" y="3912"/>
                  <a:pt x="94205" y="3162"/>
                </a:cubicBezTo>
                <a:lnTo>
                  <a:pt x="104172" y="-16987"/>
                </a:lnTo>
                <a:cubicBezTo>
                  <a:pt x="107173" y="-23042"/>
                  <a:pt x="113978" y="-26097"/>
                  <a:pt x="120516" y="-24382"/>
                </a:cubicBezTo>
                <a:close/>
                <a:moveTo>
                  <a:pt x="103100" y="45013"/>
                </a:moveTo>
                <a:cubicBezTo>
                  <a:pt x="90087" y="45013"/>
                  <a:pt x="79522" y="55578"/>
                  <a:pt x="79522" y="68591"/>
                </a:cubicBezTo>
                <a:cubicBezTo>
                  <a:pt x="79522" y="81604"/>
                  <a:pt x="90087" y="92169"/>
                  <a:pt x="103100" y="92169"/>
                </a:cubicBezTo>
                <a:cubicBezTo>
                  <a:pt x="116114" y="92169"/>
                  <a:pt x="126678" y="81604"/>
                  <a:pt x="126678" y="68591"/>
                </a:cubicBezTo>
                <a:cubicBezTo>
                  <a:pt x="126678" y="55578"/>
                  <a:pt x="116114" y="45013"/>
                  <a:pt x="103100" y="45013"/>
                </a:cubicBezTo>
                <a:close/>
              </a:path>
            </a:pathLst>
          </a:custGeom>
          <a:solidFill>
            <a:srgbClr val="3C8082"/>
          </a:solidFill>
          <a:ln/>
        </p:spPr>
        <p:txBody>
          <a:bodyPr/>
          <a:lstStyle/>
          <a:p>
            <a:endParaRPr lang="zh-CN" altLang="en-US"/>
          </a:p>
        </p:txBody>
      </p:sp>
      <p:sp>
        <p:nvSpPr>
          <p:cNvPr id="33" name="Text 31"/>
          <p:cNvSpPr/>
          <p:nvPr/>
        </p:nvSpPr>
        <p:spPr>
          <a:xfrm>
            <a:off x="8757999" y="1703336"/>
            <a:ext cx="6984821" cy="365817"/>
          </a:xfrm>
          <a:prstGeom prst="rect">
            <a:avLst/>
          </a:prstGeom>
          <a:noFill/>
          <a:ln/>
        </p:spPr>
        <p:txBody>
          <a:bodyPr wrap="square" lIns="0" tIns="0" rIns="0" bIns="0" rtlCol="0" anchor="ctr"/>
          <a:lstStyle/>
          <a:p>
            <a:pPr>
              <a:lnSpc>
                <a:spcPct val="110000"/>
              </a:lnSpc>
            </a:pPr>
            <a:r>
              <a:rPr lang="en-US" sz="2160" b="1" dirty="0">
                <a:solidFill>
                  <a:srgbClr val="E0E2E4"/>
                </a:solidFill>
                <a:latin typeface="MiSans" pitchFamily="34" charset="0"/>
                <a:ea typeface="MiSans" pitchFamily="34" charset="-122"/>
                <a:cs typeface="MiSans" pitchFamily="34" charset="-120"/>
              </a:rPr>
              <a:t>Kubernetes调度策略</a:t>
            </a:r>
            <a:endParaRPr lang="en-US" sz="1600" dirty="0"/>
          </a:p>
        </p:txBody>
      </p:sp>
      <p:sp>
        <p:nvSpPr>
          <p:cNvPr id="34" name="Shape 32"/>
          <p:cNvSpPr/>
          <p:nvPr/>
        </p:nvSpPr>
        <p:spPr>
          <a:xfrm>
            <a:off x="8415045" y="2206335"/>
            <a:ext cx="7190594" cy="2240630"/>
          </a:xfrm>
          <a:custGeom>
            <a:avLst/>
            <a:gdLst/>
            <a:ahLst/>
            <a:cxnLst/>
            <a:rect l="l" t="t" r="r" b="b"/>
            <a:pathLst>
              <a:path w="7190594" h="2240630">
                <a:moveTo>
                  <a:pt x="91463" y="0"/>
                </a:moveTo>
                <a:lnTo>
                  <a:pt x="7099131" y="0"/>
                </a:lnTo>
                <a:cubicBezTo>
                  <a:pt x="7149644" y="0"/>
                  <a:pt x="7190594" y="40949"/>
                  <a:pt x="7190594" y="91463"/>
                </a:cubicBezTo>
                <a:lnTo>
                  <a:pt x="7190594" y="2149168"/>
                </a:lnTo>
                <a:cubicBezTo>
                  <a:pt x="7190594" y="2199681"/>
                  <a:pt x="7149644" y="2240630"/>
                  <a:pt x="7099131" y="2240630"/>
                </a:cubicBezTo>
                <a:lnTo>
                  <a:pt x="91463" y="2240630"/>
                </a:lnTo>
                <a:cubicBezTo>
                  <a:pt x="40949" y="2240630"/>
                  <a:pt x="0" y="2199681"/>
                  <a:pt x="0" y="2149168"/>
                </a:cubicBezTo>
                <a:lnTo>
                  <a:pt x="0" y="91463"/>
                </a:lnTo>
                <a:cubicBezTo>
                  <a:pt x="0" y="40983"/>
                  <a:pt x="40983" y="0"/>
                  <a:pt x="91463" y="0"/>
                </a:cubicBezTo>
                <a:close/>
              </a:path>
            </a:pathLst>
          </a:custGeom>
          <a:solidFill>
            <a:srgbClr val="1A1D21">
              <a:alpha val="50196"/>
            </a:srgbClr>
          </a:solidFill>
          <a:ln/>
        </p:spPr>
        <p:txBody>
          <a:bodyPr/>
          <a:lstStyle/>
          <a:p>
            <a:endParaRPr lang="zh-CN" altLang="en-US"/>
          </a:p>
        </p:txBody>
      </p:sp>
      <p:sp>
        <p:nvSpPr>
          <p:cNvPr id="35" name="Text 33"/>
          <p:cNvSpPr/>
          <p:nvPr/>
        </p:nvSpPr>
        <p:spPr>
          <a:xfrm>
            <a:off x="8552226" y="2343516"/>
            <a:ext cx="7019117" cy="320090"/>
          </a:xfrm>
          <a:prstGeom prst="rect">
            <a:avLst/>
          </a:prstGeom>
          <a:noFill/>
          <a:ln/>
        </p:spPr>
        <p:txBody>
          <a:bodyPr wrap="square" lIns="0" tIns="0" rIns="0" bIns="0" rtlCol="0" anchor="ctr"/>
          <a:lstStyle/>
          <a:p>
            <a:pPr>
              <a:lnSpc>
                <a:spcPct val="130000"/>
              </a:lnSpc>
            </a:pPr>
            <a:r>
              <a:rPr lang="en-US" sz="1620" b="1" dirty="0">
                <a:solidFill>
                  <a:srgbClr val="3C8082"/>
                </a:solidFill>
                <a:latin typeface="MiSans" pitchFamily="34" charset="0"/>
                <a:ea typeface="MiSans" pitchFamily="34" charset="-122"/>
                <a:cs typeface="MiSans" pitchFamily="34" charset="-120"/>
              </a:rPr>
              <a:t>声明式调度</a:t>
            </a:r>
            <a:endParaRPr lang="en-US" sz="1600" dirty="0"/>
          </a:p>
        </p:txBody>
      </p:sp>
      <p:sp>
        <p:nvSpPr>
          <p:cNvPr id="36" name="Text 34"/>
          <p:cNvSpPr/>
          <p:nvPr/>
        </p:nvSpPr>
        <p:spPr>
          <a:xfrm>
            <a:off x="8552226" y="2755060"/>
            <a:ext cx="6996253"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用户通过资源请求、亲和性、污点和容忍度等声明式配置,调度器自动选择最合适的节点。</a:t>
            </a:r>
            <a:endParaRPr lang="en-US" sz="1600" dirty="0"/>
          </a:p>
        </p:txBody>
      </p:sp>
      <p:sp>
        <p:nvSpPr>
          <p:cNvPr id="37" name="Shape 35"/>
          <p:cNvSpPr/>
          <p:nvPr/>
        </p:nvSpPr>
        <p:spPr>
          <a:xfrm>
            <a:off x="8552226" y="3075150"/>
            <a:ext cx="6916231" cy="365817"/>
          </a:xfrm>
          <a:custGeom>
            <a:avLst/>
            <a:gdLst/>
            <a:ahLst/>
            <a:cxnLst/>
            <a:rect l="l" t="t" r="r" b="b"/>
            <a:pathLst>
              <a:path w="6916231" h="365817">
                <a:moveTo>
                  <a:pt x="45727" y="0"/>
                </a:moveTo>
                <a:lnTo>
                  <a:pt x="6870504" y="0"/>
                </a:lnTo>
                <a:cubicBezTo>
                  <a:pt x="6895758" y="0"/>
                  <a:pt x="6916231" y="20473"/>
                  <a:pt x="6916231" y="45727"/>
                </a:cubicBezTo>
                <a:lnTo>
                  <a:pt x="6916231" y="320090"/>
                </a:lnTo>
                <a:cubicBezTo>
                  <a:pt x="6916231" y="345344"/>
                  <a:pt x="6895758" y="365817"/>
                  <a:pt x="6870504" y="365817"/>
                </a:cubicBezTo>
                <a:lnTo>
                  <a:pt x="45727" y="365817"/>
                </a:lnTo>
                <a:cubicBezTo>
                  <a:pt x="20473" y="365817"/>
                  <a:pt x="0" y="345344"/>
                  <a:pt x="0" y="320090"/>
                </a:cubicBezTo>
                <a:lnTo>
                  <a:pt x="0" y="45727"/>
                </a:lnTo>
                <a:cubicBezTo>
                  <a:pt x="0" y="20473"/>
                  <a:pt x="20473" y="0"/>
                  <a:pt x="45727" y="0"/>
                </a:cubicBezTo>
                <a:close/>
              </a:path>
            </a:pathLst>
          </a:custGeom>
          <a:solidFill>
            <a:srgbClr val="B38B59">
              <a:alpha val="20000"/>
            </a:srgbClr>
          </a:solidFill>
          <a:ln/>
        </p:spPr>
        <p:txBody>
          <a:bodyPr/>
          <a:lstStyle/>
          <a:p>
            <a:endParaRPr lang="zh-CN" altLang="en-US"/>
          </a:p>
        </p:txBody>
      </p:sp>
      <p:sp>
        <p:nvSpPr>
          <p:cNvPr id="38" name="Text 36"/>
          <p:cNvSpPr/>
          <p:nvPr/>
        </p:nvSpPr>
        <p:spPr>
          <a:xfrm>
            <a:off x="8552226" y="3075150"/>
            <a:ext cx="6984821" cy="365817"/>
          </a:xfrm>
          <a:prstGeom prst="rect">
            <a:avLst/>
          </a:prstGeom>
          <a:noFill/>
          <a:ln/>
        </p:spPr>
        <p:txBody>
          <a:bodyPr wrap="square" lIns="91454" tIns="91454" rIns="91454" bIns="91454" rtlCol="0" anchor="ctr"/>
          <a:lstStyle/>
          <a:p>
            <a:pPr>
              <a:lnSpc>
                <a:spcPct val="110000"/>
              </a:lnSpc>
            </a:pPr>
            <a:r>
              <a:rPr lang="en-US" sz="1080" b="1" dirty="0">
                <a:solidFill>
                  <a:srgbClr val="E0E2E4"/>
                </a:solidFill>
                <a:latin typeface="MiSans" pitchFamily="34" charset="0"/>
                <a:ea typeface="MiSans" pitchFamily="34" charset="-122"/>
                <a:cs typeface="MiSans" pitchFamily="34" charset="-120"/>
              </a:rPr>
              <a:t>资源请求:</a:t>
            </a:r>
            <a:r>
              <a:rPr lang="en-US" sz="1080" dirty="0">
                <a:solidFill>
                  <a:srgbClr val="E0E2E4">
                    <a:alpha val="70000"/>
                  </a:srgbClr>
                </a:solidFill>
                <a:latin typeface="MiSans" pitchFamily="34" charset="0"/>
                <a:ea typeface="MiSans" pitchFamily="34" charset="-122"/>
                <a:cs typeface="MiSans" pitchFamily="34" charset="-120"/>
              </a:rPr>
              <a:t> requests/limits定义资源需求</a:t>
            </a:r>
            <a:endParaRPr lang="en-US" sz="1600" dirty="0"/>
          </a:p>
        </p:txBody>
      </p:sp>
      <p:sp>
        <p:nvSpPr>
          <p:cNvPr id="39" name="Shape 37"/>
          <p:cNvSpPr/>
          <p:nvPr/>
        </p:nvSpPr>
        <p:spPr>
          <a:xfrm>
            <a:off x="8552226" y="3509558"/>
            <a:ext cx="6916231" cy="365817"/>
          </a:xfrm>
          <a:custGeom>
            <a:avLst/>
            <a:gdLst/>
            <a:ahLst/>
            <a:cxnLst/>
            <a:rect l="l" t="t" r="r" b="b"/>
            <a:pathLst>
              <a:path w="6916231" h="365817">
                <a:moveTo>
                  <a:pt x="45727" y="0"/>
                </a:moveTo>
                <a:lnTo>
                  <a:pt x="6870504" y="0"/>
                </a:lnTo>
                <a:cubicBezTo>
                  <a:pt x="6895758" y="0"/>
                  <a:pt x="6916231" y="20473"/>
                  <a:pt x="6916231" y="45727"/>
                </a:cubicBezTo>
                <a:lnTo>
                  <a:pt x="6916231" y="320090"/>
                </a:lnTo>
                <a:cubicBezTo>
                  <a:pt x="6916231" y="345344"/>
                  <a:pt x="6895758" y="365817"/>
                  <a:pt x="6870504" y="365817"/>
                </a:cubicBezTo>
                <a:lnTo>
                  <a:pt x="45727" y="365817"/>
                </a:lnTo>
                <a:cubicBezTo>
                  <a:pt x="20473" y="365817"/>
                  <a:pt x="0" y="345344"/>
                  <a:pt x="0" y="320090"/>
                </a:cubicBezTo>
                <a:lnTo>
                  <a:pt x="0" y="45727"/>
                </a:lnTo>
                <a:cubicBezTo>
                  <a:pt x="0" y="20473"/>
                  <a:pt x="20473" y="0"/>
                  <a:pt x="45727" y="0"/>
                </a:cubicBezTo>
                <a:close/>
              </a:path>
            </a:pathLst>
          </a:custGeom>
          <a:solidFill>
            <a:srgbClr val="B38B59">
              <a:alpha val="20000"/>
            </a:srgbClr>
          </a:solidFill>
          <a:ln/>
        </p:spPr>
        <p:txBody>
          <a:bodyPr/>
          <a:lstStyle/>
          <a:p>
            <a:endParaRPr lang="zh-CN" altLang="en-US"/>
          </a:p>
        </p:txBody>
      </p:sp>
      <p:sp>
        <p:nvSpPr>
          <p:cNvPr id="40" name="Text 38"/>
          <p:cNvSpPr/>
          <p:nvPr/>
        </p:nvSpPr>
        <p:spPr>
          <a:xfrm>
            <a:off x="8552226" y="3509558"/>
            <a:ext cx="6984821" cy="365817"/>
          </a:xfrm>
          <a:prstGeom prst="rect">
            <a:avLst/>
          </a:prstGeom>
          <a:noFill/>
          <a:ln/>
        </p:spPr>
        <p:txBody>
          <a:bodyPr wrap="square" lIns="91454" tIns="91454" rIns="91454" bIns="91454" rtlCol="0" anchor="ctr"/>
          <a:lstStyle/>
          <a:p>
            <a:pPr>
              <a:lnSpc>
                <a:spcPct val="110000"/>
              </a:lnSpc>
            </a:pPr>
            <a:r>
              <a:rPr lang="en-US" sz="1080" b="1" dirty="0">
                <a:solidFill>
                  <a:srgbClr val="E0E2E4"/>
                </a:solidFill>
                <a:latin typeface="MiSans" pitchFamily="34" charset="0"/>
                <a:ea typeface="MiSans" pitchFamily="34" charset="-122"/>
                <a:cs typeface="MiSans" pitchFamily="34" charset="-120"/>
              </a:rPr>
              <a:t>亲和性:</a:t>
            </a:r>
            <a:r>
              <a:rPr lang="en-US" sz="1080" dirty="0">
                <a:solidFill>
                  <a:srgbClr val="E0E2E4">
                    <a:alpha val="70000"/>
                  </a:srgbClr>
                </a:solidFill>
                <a:latin typeface="MiSans" pitchFamily="34" charset="0"/>
                <a:ea typeface="MiSans" pitchFamily="34" charset="-122"/>
                <a:cs typeface="MiSans" pitchFamily="34" charset="-120"/>
              </a:rPr>
              <a:t> nodeAffinity/podAffinity调度约束</a:t>
            </a:r>
            <a:endParaRPr lang="en-US" sz="1600" dirty="0"/>
          </a:p>
        </p:txBody>
      </p:sp>
      <p:sp>
        <p:nvSpPr>
          <p:cNvPr id="41" name="Shape 39"/>
          <p:cNvSpPr/>
          <p:nvPr/>
        </p:nvSpPr>
        <p:spPr>
          <a:xfrm>
            <a:off x="8552226" y="3943966"/>
            <a:ext cx="6916231" cy="365817"/>
          </a:xfrm>
          <a:custGeom>
            <a:avLst/>
            <a:gdLst/>
            <a:ahLst/>
            <a:cxnLst/>
            <a:rect l="l" t="t" r="r" b="b"/>
            <a:pathLst>
              <a:path w="6916231" h="365817">
                <a:moveTo>
                  <a:pt x="45727" y="0"/>
                </a:moveTo>
                <a:lnTo>
                  <a:pt x="6870504" y="0"/>
                </a:lnTo>
                <a:cubicBezTo>
                  <a:pt x="6895758" y="0"/>
                  <a:pt x="6916231" y="20473"/>
                  <a:pt x="6916231" y="45727"/>
                </a:cubicBezTo>
                <a:lnTo>
                  <a:pt x="6916231" y="320090"/>
                </a:lnTo>
                <a:cubicBezTo>
                  <a:pt x="6916231" y="345344"/>
                  <a:pt x="6895758" y="365817"/>
                  <a:pt x="6870504" y="365817"/>
                </a:cubicBezTo>
                <a:lnTo>
                  <a:pt x="45727" y="365817"/>
                </a:lnTo>
                <a:cubicBezTo>
                  <a:pt x="20473" y="365817"/>
                  <a:pt x="0" y="345344"/>
                  <a:pt x="0" y="320090"/>
                </a:cubicBezTo>
                <a:lnTo>
                  <a:pt x="0" y="45727"/>
                </a:lnTo>
                <a:cubicBezTo>
                  <a:pt x="0" y="20473"/>
                  <a:pt x="20473" y="0"/>
                  <a:pt x="45727" y="0"/>
                </a:cubicBezTo>
                <a:close/>
              </a:path>
            </a:pathLst>
          </a:custGeom>
          <a:solidFill>
            <a:srgbClr val="B38B59">
              <a:alpha val="20000"/>
            </a:srgbClr>
          </a:solidFill>
          <a:ln/>
        </p:spPr>
        <p:txBody>
          <a:bodyPr/>
          <a:lstStyle/>
          <a:p>
            <a:endParaRPr lang="zh-CN" altLang="en-US"/>
          </a:p>
        </p:txBody>
      </p:sp>
      <p:sp>
        <p:nvSpPr>
          <p:cNvPr id="42" name="Text 40"/>
          <p:cNvSpPr/>
          <p:nvPr/>
        </p:nvSpPr>
        <p:spPr>
          <a:xfrm>
            <a:off x="8552226" y="3943966"/>
            <a:ext cx="6984821" cy="365817"/>
          </a:xfrm>
          <a:prstGeom prst="rect">
            <a:avLst/>
          </a:prstGeom>
          <a:noFill/>
          <a:ln/>
        </p:spPr>
        <p:txBody>
          <a:bodyPr wrap="square" lIns="91454" tIns="91454" rIns="91454" bIns="91454" rtlCol="0" anchor="ctr"/>
          <a:lstStyle/>
          <a:p>
            <a:pPr>
              <a:lnSpc>
                <a:spcPct val="110000"/>
              </a:lnSpc>
            </a:pPr>
            <a:r>
              <a:rPr lang="en-US" sz="1080" b="1" dirty="0">
                <a:solidFill>
                  <a:srgbClr val="E0E2E4"/>
                </a:solidFill>
                <a:latin typeface="MiSans" pitchFamily="34" charset="0"/>
                <a:ea typeface="MiSans" pitchFamily="34" charset="-122"/>
                <a:cs typeface="MiSans" pitchFamily="34" charset="-120"/>
              </a:rPr>
              <a:t>污点和容忍度:</a:t>
            </a:r>
            <a:r>
              <a:rPr lang="en-US" sz="1080" dirty="0">
                <a:solidFill>
                  <a:srgbClr val="E0E2E4">
                    <a:alpha val="70000"/>
                  </a:srgbClr>
                </a:solidFill>
                <a:latin typeface="MiSans" pitchFamily="34" charset="0"/>
                <a:ea typeface="MiSans" pitchFamily="34" charset="-122"/>
                <a:cs typeface="MiSans" pitchFamily="34" charset="-120"/>
              </a:rPr>
              <a:t> 控制Pod调度到特定节点</a:t>
            </a:r>
            <a:endParaRPr lang="en-US" sz="1600" dirty="0"/>
          </a:p>
        </p:txBody>
      </p:sp>
      <p:sp>
        <p:nvSpPr>
          <p:cNvPr id="43" name="Shape 41"/>
          <p:cNvSpPr/>
          <p:nvPr/>
        </p:nvSpPr>
        <p:spPr>
          <a:xfrm>
            <a:off x="8415045" y="4584146"/>
            <a:ext cx="7190594" cy="1234633"/>
          </a:xfrm>
          <a:custGeom>
            <a:avLst/>
            <a:gdLst/>
            <a:ahLst/>
            <a:cxnLst/>
            <a:rect l="l" t="t" r="r" b="b"/>
            <a:pathLst>
              <a:path w="7190594" h="1234633">
                <a:moveTo>
                  <a:pt x="91449" y="0"/>
                </a:moveTo>
                <a:lnTo>
                  <a:pt x="7099144" y="0"/>
                </a:lnTo>
                <a:cubicBezTo>
                  <a:pt x="7149650" y="0"/>
                  <a:pt x="7190594" y="40943"/>
                  <a:pt x="7190594" y="91449"/>
                </a:cubicBezTo>
                <a:lnTo>
                  <a:pt x="7190594" y="1143184"/>
                </a:lnTo>
                <a:cubicBezTo>
                  <a:pt x="7190594" y="1193690"/>
                  <a:pt x="7149650" y="1234633"/>
                  <a:pt x="7099144" y="1234633"/>
                </a:cubicBezTo>
                <a:lnTo>
                  <a:pt x="91449" y="1234633"/>
                </a:lnTo>
                <a:cubicBezTo>
                  <a:pt x="40943" y="1234633"/>
                  <a:pt x="0" y="1193690"/>
                  <a:pt x="0" y="1143184"/>
                </a:cubicBezTo>
                <a:lnTo>
                  <a:pt x="0" y="91449"/>
                </a:lnTo>
                <a:cubicBezTo>
                  <a:pt x="0" y="40977"/>
                  <a:pt x="40977" y="0"/>
                  <a:pt x="91449" y="0"/>
                </a:cubicBezTo>
                <a:close/>
              </a:path>
            </a:pathLst>
          </a:custGeom>
          <a:solidFill>
            <a:srgbClr val="1A1D21">
              <a:alpha val="50196"/>
            </a:srgbClr>
          </a:solidFill>
          <a:ln/>
        </p:spPr>
        <p:txBody>
          <a:bodyPr/>
          <a:lstStyle/>
          <a:p>
            <a:endParaRPr lang="zh-CN" altLang="en-US"/>
          </a:p>
        </p:txBody>
      </p:sp>
      <p:sp>
        <p:nvSpPr>
          <p:cNvPr id="44" name="Text 42"/>
          <p:cNvSpPr/>
          <p:nvPr/>
        </p:nvSpPr>
        <p:spPr>
          <a:xfrm>
            <a:off x="8552226" y="4721328"/>
            <a:ext cx="7019117" cy="320090"/>
          </a:xfrm>
          <a:prstGeom prst="rect">
            <a:avLst/>
          </a:prstGeom>
          <a:noFill/>
          <a:ln/>
        </p:spPr>
        <p:txBody>
          <a:bodyPr wrap="square" lIns="0" tIns="0" rIns="0" bIns="0" rtlCol="0" anchor="ctr"/>
          <a:lstStyle/>
          <a:p>
            <a:pPr>
              <a:lnSpc>
                <a:spcPct val="130000"/>
              </a:lnSpc>
            </a:pPr>
            <a:r>
              <a:rPr lang="en-US" sz="1620" b="1" dirty="0">
                <a:solidFill>
                  <a:srgbClr val="3C8082"/>
                </a:solidFill>
                <a:latin typeface="MiSans" pitchFamily="34" charset="0"/>
                <a:ea typeface="MiSans" pitchFamily="34" charset="-122"/>
                <a:cs typeface="MiSans" pitchFamily="34" charset="-120"/>
              </a:rPr>
              <a:t>服务质量分级</a:t>
            </a:r>
            <a:endParaRPr lang="en-US" sz="1600" dirty="0"/>
          </a:p>
        </p:txBody>
      </p:sp>
      <p:sp>
        <p:nvSpPr>
          <p:cNvPr id="45" name="Shape 43"/>
          <p:cNvSpPr/>
          <p:nvPr/>
        </p:nvSpPr>
        <p:spPr>
          <a:xfrm>
            <a:off x="8552226" y="5132872"/>
            <a:ext cx="2240630" cy="548726"/>
          </a:xfrm>
          <a:custGeom>
            <a:avLst/>
            <a:gdLst/>
            <a:ahLst/>
            <a:cxnLst/>
            <a:rect l="l" t="t" r="r" b="b"/>
            <a:pathLst>
              <a:path w="2240630" h="548726">
                <a:moveTo>
                  <a:pt x="45725" y="0"/>
                </a:moveTo>
                <a:lnTo>
                  <a:pt x="2194905" y="0"/>
                </a:lnTo>
                <a:cubicBezTo>
                  <a:pt x="2220158" y="0"/>
                  <a:pt x="2240630" y="20472"/>
                  <a:pt x="2240630" y="45725"/>
                </a:cubicBezTo>
                <a:lnTo>
                  <a:pt x="2240630" y="503000"/>
                </a:lnTo>
                <a:cubicBezTo>
                  <a:pt x="2240630" y="528254"/>
                  <a:pt x="2220158" y="548726"/>
                  <a:pt x="2194905" y="548726"/>
                </a:cubicBezTo>
                <a:lnTo>
                  <a:pt x="45725" y="548726"/>
                </a:lnTo>
                <a:cubicBezTo>
                  <a:pt x="20472" y="548726"/>
                  <a:pt x="0" y="528254"/>
                  <a:pt x="0" y="503000"/>
                </a:cubicBezTo>
                <a:lnTo>
                  <a:pt x="0" y="45725"/>
                </a:lnTo>
                <a:cubicBezTo>
                  <a:pt x="0" y="20489"/>
                  <a:pt x="20489" y="0"/>
                  <a:pt x="45725" y="0"/>
                </a:cubicBezTo>
                <a:close/>
              </a:path>
            </a:pathLst>
          </a:custGeom>
          <a:solidFill>
            <a:srgbClr val="B38B59">
              <a:alpha val="20000"/>
            </a:srgbClr>
          </a:solidFill>
          <a:ln/>
        </p:spPr>
        <p:txBody>
          <a:bodyPr/>
          <a:lstStyle/>
          <a:p>
            <a:endParaRPr lang="zh-CN" altLang="en-US"/>
          </a:p>
        </p:txBody>
      </p:sp>
      <p:sp>
        <p:nvSpPr>
          <p:cNvPr id="46" name="Text 44"/>
          <p:cNvSpPr/>
          <p:nvPr/>
        </p:nvSpPr>
        <p:spPr>
          <a:xfrm>
            <a:off x="8643681" y="5224326"/>
            <a:ext cx="2126312" cy="182909"/>
          </a:xfrm>
          <a:prstGeom prst="rect">
            <a:avLst/>
          </a:prstGeom>
          <a:noFill/>
          <a:ln/>
        </p:spPr>
        <p:txBody>
          <a:bodyPr wrap="square" lIns="0" tIns="0" rIns="0" bIns="0" rtlCol="0" anchor="ctr"/>
          <a:lstStyle/>
          <a:p>
            <a:pPr>
              <a:lnSpc>
                <a:spcPct val="110000"/>
              </a:lnSpc>
            </a:pPr>
            <a:r>
              <a:rPr lang="en-US" sz="1080" b="1" dirty="0">
                <a:solidFill>
                  <a:srgbClr val="E0E2E4"/>
                </a:solidFill>
                <a:latin typeface="MiSans" pitchFamily="34" charset="0"/>
                <a:ea typeface="MiSans" pitchFamily="34" charset="-122"/>
                <a:cs typeface="MiSans" pitchFamily="34" charset="-120"/>
              </a:rPr>
              <a:t>BestEffort</a:t>
            </a:r>
            <a:endParaRPr lang="en-US" sz="1600" dirty="0"/>
          </a:p>
        </p:txBody>
      </p:sp>
      <p:sp>
        <p:nvSpPr>
          <p:cNvPr id="47" name="Text 45"/>
          <p:cNvSpPr/>
          <p:nvPr/>
        </p:nvSpPr>
        <p:spPr>
          <a:xfrm>
            <a:off x="8643681" y="5407235"/>
            <a:ext cx="2126312" cy="182909"/>
          </a:xfrm>
          <a:prstGeom prst="rect">
            <a:avLst/>
          </a:prstGeom>
          <a:noFill/>
          <a:ln/>
        </p:spPr>
        <p:txBody>
          <a:bodyPr wrap="square" lIns="0" tIns="0" rIns="0" bIns="0" rtlCol="0" anchor="ctr"/>
          <a:lstStyle/>
          <a:p>
            <a:pPr>
              <a:lnSpc>
                <a:spcPct val="110000"/>
              </a:lnSpc>
            </a:pPr>
            <a:r>
              <a:rPr lang="en-US" sz="1080" dirty="0">
                <a:solidFill>
                  <a:srgbClr val="E0E2E4">
                    <a:alpha val="70000"/>
                  </a:srgbClr>
                </a:solidFill>
                <a:latin typeface="MiSans" pitchFamily="34" charset="0"/>
                <a:ea typeface="MiSans" pitchFamily="34" charset="-122"/>
                <a:cs typeface="MiSans" pitchFamily="34" charset="-120"/>
              </a:rPr>
              <a:t>最低优先级</a:t>
            </a:r>
            <a:endParaRPr lang="en-US" sz="1600" dirty="0"/>
          </a:p>
        </p:txBody>
      </p:sp>
      <p:sp>
        <p:nvSpPr>
          <p:cNvPr id="48" name="Shape 46"/>
          <p:cNvSpPr/>
          <p:nvPr/>
        </p:nvSpPr>
        <p:spPr>
          <a:xfrm>
            <a:off x="10888508" y="5132872"/>
            <a:ext cx="2240630" cy="548726"/>
          </a:xfrm>
          <a:custGeom>
            <a:avLst/>
            <a:gdLst/>
            <a:ahLst/>
            <a:cxnLst/>
            <a:rect l="l" t="t" r="r" b="b"/>
            <a:pathLst>
              <a:path w="2240630" h="548726">
                <a:moveTo>
                  <a:pt x="45725" y="0"/>
                </a:moveTo>
                <a:lnTo>
                  <a:pt x="2194905" y="0"/>
                </a:lnTo>
                <a:cubicBezTo>
                  <a:pt x="2220158" y="0"/>
                  <a:pt x="2240630" y="20472"/>
                  <a:pt x="2240630" y="45725"/>
                </a:cubicBezTo>
                <a:lnTo>
                  <a:pt x="2240630" y="503000"/>
                </a:lnTo>
                <a:cubicBezTo>
                  <a:pt x="2240630" y="528254"/>
                  <a:pt x="2220158" y="548726"/>
                  <a:pt x="2194905" y="548726"/>
                </a:cubicBezTo>
                <a:lnTo>
                  <a:pt x="45725" y="548726"/>
                </a:lnTo>
                <a:cubicBezTo>
                  <a:pt x="20472" y="548726"/>
                  <a:pt x="0" y="528254"/>
                  <a:pt x="0" y="503000"/>
                </a:cubicBezTo>
                <a:lnTo>
                  <a:pt x="0" y="45725"/>
                </a:lnTo>
                <a:cubicBezTo>
                  <a:pt x="0" y="20489"/>
                  <a:pt x="20489" y="0"/>
                  <a:pt x="45725" y="0"/>
                </a:cubicBezTo>
                <a:close/>
              </a:path>
            </a:pathLst>
          </a:custGeom>
          <a:solidFill>
            <a:srgbClr val="B38B59">
              <a:alpha val="20000"/>
            </a:srgbClr>
          </a:solidFill>
          <a:ln/>
        </p:spPr>
        <p:txBody>
          <a:bodyPr/>
          <a:lstStyle/>
          <a:p>
            <a:endParaRPr lang="zh-CN" altLang="en-US"/>
          </a:p>
        </p:txBody>
      </p:sp>
      <p:sp>
        <p:nvSpPr>
          <p:cNvPr id="49" name="Text 47"/>
          <p:cNvSpPr/>
          <p:nvPr/>
        </p:nvSpPr>
        <p:spPr>
          <a:xfrm>
            <a:off x="10979963" y="5224326"/>
            <a:ext cx="2126312" cy="182909"/>
          </a:xfrm>
          <a:prstGeom prst="rect">
            <a:avLst/>
          </a:prstGeom>
          <a:noFill/>
          <a:ln/>
        </p:spPr>
        <p:txBody>
          <a:bodyPr wrap="square" lIns="0" tIns="0" rIns="0" bIns="0" rtlCol="0" anchor="ctr"/>
          <a:lstStyle/>
          <a:p>
            <a:pPr>
              <a:lnSpc>
                <a:spcPct val="110000"/>
              </a:lnSpc>
            </a:pPr>
            <a:r>
              <a:rPr lang="en-US" sz="1080" b="1" dirty="0">
                <a:solidFill>
                  <a:srgbClr val="E0E2E4"/>
                </a:solidFill>
                <a:latin typeface="MiSans" pitchFamily="34" charset="0"/>
                <a:ea typeface="MiSans" pitchFamily="34" charset="-122"/>
                <a:cs typeface="MiSans" pitchFamily="34" charset="-120"/>
              </a:rPr>
              <a:t>Burstable</a:t>
            </a:r>
            <a:endParaRPr lang="en-US" sz="1600" dirty="0"/>
          </a:p>
        </p:txBody>
      </p:sp>
      <p:sp>
        <p:nvSpPr>
          <p:cNvPr id="50" name="Text 48"/>
          <p:cNvSpPr/>
          <p:nvPr/>
        </p:nvSpPr>
        <p:spPr>
          <a:xfrm>
            <a:off x="10979963" y="5407235"/>
            <a:ext cx="2126312" cy="182909"/>
          </a:xfrm>
          <a:prstGeom prst="rect">
            <a:avLst/>
          </a:prstGeom>
          <a:noFill/>
          <a:ln/>
        </p:spPr>
        <p:txBody>
          <a:bodyPr wrap="square" lIns="0" tIns="0" rIns="0" bIns="0" rtlCol="0" anchor="ctr"/>
          <a:lstStyle/>
          <a:p>
            <a:pPr>
              <a:lnSpc>
                <a:spcPct val="110000"/>
              </a:lnSpc>
            </a:pPr>
            <a:r>
              <a:rPr lang="en-US" sz="1080" dirty="0">
                <a:solidFill>
                  <a:srgbClr val="E0E2E4">
                    <a:alpha val="70000"/>
                  </a:srgbClr>
                </a:solidFill>
                <a:latin typeface="MiSans" pitchFamily="34" charset="0"/>
                <a:ea typeface="MiSans" pitchFamily="34" charset="-122"/>
                <a:cs typeface="MiSans" pitchFamily="34" charset="-120"/>
              </a:rPr>
              <a:t>中等优先级</a:t>
            </a:r>
            <a:endParaRPr lang="en-US" sz="1600" dirty="0"/>
          </a:p>
        </p:txBody>
      </p:sp>
      <p:sp>
        <p:nvSpPr>
          <p:cNvPr id="51" name="Shape 49"/>
          <p:cNvSpPr/>
          <p:nvPr/>
        </p:nvSpPr>
        <p:spPr>
          <a:xfrm>
            <a:off x="13224790" y="5132872"/>
            <a:ext cx="2240630" cy="548726"/>
          </a:xfrm>
          <a:custGeom>
            <a:avLst/>
            <a:gdLst/>
            <a:ahLst/>
            <a:cxnLst/>
            <a:rect l="l" t="t" r="r" b="b"/>
            <a:pathLst>
              <a:path w="2240630" h="548726">
                <a:moveTo>
                  <a:pt x="45725" y="0"/>
                </a:moveTo>
                <a:lnTo>
                  <a:pt x="2194905" y="0"/>
                </a:lnTo>
                <a:cubicBezTo>
                  <a:pt x="2220158" y="0"/>
                  <a:pt x="2240630" y="20472"/>
                  <a:pt x="2240630" y="45725"/>
                </a:cubicBezTo>
                <a:lnTo>
                  <a:pt x="2240630" y="503000"/>
                </a:lnTo>
                <a:cubicBezTo>
                  <a:pt x="2240630" y="528254"/>
                  <a:pt x="2220158" y="548726"/>
                  <a:pt x="2194905" y="548726"/>
                </a:cubicBezTo>
                <a:lnTo>
                  <a:pt x="45725" y="548726"/>
                </a:lnTo>
                <a:cubicBezTo>
                  <a:pt x="20472" y="548726"/>
                  <a:pt x="0" y="528254"/>
                  <a:pt x="0" y="503000"/>
                </a:cubicBezTo>
                <a:lnTo>
                  <a:pt x="0" y="45725"/>
                </a:lnTo>
                <a:cubicBezTo>
                  <a:pt x="0" y="20489"/>
                  <a:pt x="20489" y="0"/>
                  <a:pt x="45725" y="0"/>
                </a:cubicBezTo>
                <a:close/>
              </a:path>
            </a:pathLst>
          </a:custGeom>
          <a:solidFill>
            <a:srgbClr val="B38B59">
              <a:alpha val="20000"/>
            </a:srgbClr>
          </a:solidFill>
          <a:ln/>
        </p:spPr>
        <p:txBody>
          <a:bodyPr/>
          <a:lstStyle/>
          <a:p>
            <a:endParaRPr lang="zh-CN" altLang="en-US"/>
          </a:p>
        </p:txBody>
      </p:sp>
      <p:sp>
        <p:nvSpPr>
          <p:cNvPr id="52" name="Text 50"/>
          <p:cNvSpPr/>
          <p:nvPr/>
        </p:nvSpPr>
        <p:spPr>
          <a:xfrm>
            <a:off x="13316245" y="5224326"/>
            <a:ext cx="2126312" cy="182909"/>
          </a:xfrm>
          <a:prstGeom prst="rect">
            <a:avLst/>
          </a:prstGeom>
          <a:noFill/>
          <a:ln/>
        </p:spPr>
        <p:txBody>
          <a:bodyPr wrap="square" lIns="0" tIns="0" rIns="0" bIns="0" rtlCol="0" anchor="ctr"/>
          <a:lstStyle/>
          <a:p>
            <a:pPr>
              <a:lnSpc>
                <a:spcPct val="110000"/>
              </a:lnSpc>
            </a:pPr>
            <a:r>
              <a:rPr lang="en-US" sz="1080" b="1" dirty="0">
                <a:solidFill>
                  <a:srgbClr val="E0E2E4"/>
                </a:solidFill>
                <a:latin typeface="MiSans" pitchFamily="34" charset="0"/>
                <a:ea typeface="MiSans" pitchFamily="34" charset="-122"/>
                <a:cs typeface="MiSans" pitchFamily="34" charset="-120"/>
              </a:rPr>
              <a:t>Guaranteed</a:t>
            </a:r>
            <a:endParaRPr lang="en-US" sz="1600" dirty="0"/>
          </a:p>
        </p:txBody>
      </p:sp>
      <p:sp>
        <p:nvSpPr>
          <p:cNvPr id="53" name="Text 51"/>
          <p:cNvSpPr/>
          <p:nvPr/>
        </p:nvSpPr>
        <p:spPr>
          <a:xfrm>
            <a:off x="13316245" y="5407235"/>
            <a:ext cx="2126312" cy="182909"/>
          </a:xfrm>
          <a:prstGeom prst="rect">
            <a:avLst/>
          </a:prstGeom>
          <a:noFill/>
          <a:ln/>
        </p:spPr>
        <p:txBody>
          <a:bodyPr wrap="square" lIns="0" tIns="0" rIns="0" bIns="0" rtlCol="0" anchor="ctr"/>
          <a:lstStyle/>
          <a:p>
            <a:pPr>
              <a:lnSpc>
                <a:spcPct val="110000"/>
              </a:lnSpc>
            </a:pPr>
            <a:r>
              <a:rPr lang="en-US" sz="1080" dirty="0">
                <a:solidFill>
                  <a:srgbClr val="E0E2E4">
                    <a:alpha val="70000"/>
                  </a:srgbClr>
                </a:solidFill>
                <a:latin typeface="MiSans" pitchFamily="34" charset="0"/>
                <a:ea typeface="MiSans" pitchFamily="34" charset="-122"/>
                <a:cs typeface="MiSans" pitchFamily="34" charset="-120"/>
              </a:rPr>
              <a:t>最高优先级</a:t>
            </a:r>
            <a:endParaRPr lang="en-US" sz="1600" dirty="0"/>
          </a:p>
        </p:txBody>
      </p:sp>
      <p:sp>
        <p:nvSpPr>
          <p:cNvPr id="54" name="Shape 52"/>
          <p:cNvSpPr/>
          <p:nvPr/>
        </p:nvSpPr>
        <p:spPr>
          <a:xfrm>
            <a:off x="8415045" y="5955961"/>
            <a:ext cx="7190594" cy="1463269"/>
          </a:xfrm>
          <a:custGeom>
            <a:avLst/>
            <a:gdLst/>
            <a:ahLst/>
            <a:cxnLst/>
            <a:rect l="l" t="t" r="r" b="b"/>
            <a:pathLst>
              <a:path w="7190594" h="1463269">
                <a:moveTo>
                  <a:pt x="91454" y="0"/>
                </a:moveTo>
                <a:lnTo>
                  <a:pt x="7099139" y="0"/>
                </a:lnTo>
                <a:cubicBezTo>
                  <a:pt x="7149648" y="0"/>
                  <a:pt x="7190594" y="40945"/>
                  <a:pt x="7190594" y="91454"/>
                </a:cubicBezTo>
                <a:lnTo>
                  <a:pt x="7190594" y="1371814"/>
                </a:lnTo>
                <a:cubicBezTo>
                  <a:pt x="7190594" y="1422323"/>
                  <a:pt x="7149648" y="1463269"/>
                  <a:pt x="7099139" y="1463269"/>
                </a:cubicBezTo>
                <a:lnTo>
                  <a:pt x="91454" y="1463269"/>
                </a:lnTo>
                <a:cubicBezTo>
                  <a:pt x="40945" y="1463269"/>
                  <a:pt x="0" y="1422323"/>
                  <a:pt x="0" y="1371814"/>
                </a:cubicBezTo>
                <a:lnTo>
                  <a:pt x="0" y="91454"/>
                </a:lnTo>
                <a:cubicBezTo>
                  <a:pt x="0" y="40945"/>
                  <a:pt x="40945" y="0"/>
                  <a:pt x="91454" y="0"/>
                </a:cubicBezTo>
                <a:close/>
              </a:path>
            </a:pathLst>
          </a:custGeom>
          <a:solidFill>
            <a:srgbClr val="1A1D21">
              <a:alpha val="50196"/>
            </a:srgbClr>
          </a:solidFill>
          <a:ln/>
        </p:spPr>
        <p:txBody>
          <a:bodyPr/>
          <a:lstStyle/>
          <a:p>
            <a:endParaRPr lang="zh-CN" altLang="en-US"/>
          </a:p>
        </p:txBody>
      </p:sp>
      <p:sp>
        <p:nvSpPr>
          <p:cNvPr id="55" name="Text 53"/>
          <p:cNvSpPr/>
          <p:nvPr/>
        </p:nvSpPr>
        <p:spPr>
          <a:xfrm>
            <a:off x="8552226" y="6093142"/>
            <a:ext cx="7019117" cy="320090"/>
          </a:xfrm>
          <a:prstGeom prst="rect">
            <a:avLst/>
          </a:prstGeom>
          <a:noFill/>
          <a:ln/>
        </p:spPr>
        <p:txBody>
          <a:bodyPr wrap="square" lIns="0" tIns="0" rIns="0" bIns="0" rtlCol="0" anchor="ctr"/>
          <a:lstStyle/>
          <a:p>
            <a:pPr>
              <a:lnSpc>
                <a:spcPct val="130000"/>
              </a:lnSpc>
            </a:pPr>
            <a:r>
              <a:rPr lang="en-US" sz="1620" b="1" dirty="0">
                <a:solidFill>
                  <a:srgbClr val="3C8082"/>
                </a:solidFill>
                <a:latin typeface="MiSans" pitchFamily="34" charset="0"/>
                <a:ea typeface="MiSans" pitchFamily="34" charset="-122"/>
                <a:cs typeface="MiSans" pitchFamily="34" charset="-120"/>
              </a:rPr>
              <a:t>自动扩缩容</a:t>
            </a:r>
            <a:endParaRPr lang="en-US" sz="1600" dirty="0"/>
          </a:p>
        </p:txBody>
      </p:sp>
      <p:sp>
        <p:nvSpPr>
          <p:cNvPr id="56" name="Text 54"/>
          <p:cNvSpPr/>
          <p:nvPr/>
        </p:nvSpPr>
        <p:spPr>
          <a:xfrm>
            <a:off x="8552226" y="6504686"/>
            <a:ext cx="6996253"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 </a:t>
            </a:r>
            <a:r>
              <a:rPr lang="en-US" sz="1260" b="1" dirty="0">
                <a:solidFill>
                  <a:srgbClr val="E0E2E4"/>
                </a:solidFill>
                <a:latin typeface="MiSans" pitchFamily="34" charset="0"/>
                <a:ea typeface="MiSans" pitchFamily="34" charset="-122"/>
                <a:cs typeface="MiSans" pitchFamily="34" charset="-120"/>
              </a:rPr>
              <a:t>HPA:</a:t>
            </a:r>
            <a:r>
              <a:rPr lang="en-US" sz="1260" dirty="0">
                <a:solidFill>
                  <a:srgbClr val="E0E2E4">
                    <a:alpha val="80000"/>
                  </a:srgbClr>
                </a:solidFill>
                <a:latin typeface="MiSans" pitchFamily="34" charset="0"/>
                <a:ea typeface="MiSans" pitchFamily="34" charset="-122"/>
                <a:cs typeface="MiSans" pitchFamily="34" charset="-120"/>
              </a:rPr>
              <a:t> 基于CPU/内存使用率的水平扩缩容</a:t>
            </a:r>
            <a:endParaRPr lang="en-US" sz="1600" dirty="0"/>
          </a:p>
        </p:txBody>
      </p:sp>
      <p:sp>
        <p:nvSpPr>
          <p:cNvPr id="57" name="Text 55"/>
          <p:cNvSpPr/>
          <p:nvPr/>
        </p:nvSpPr>
        <p:spPr>
          <a:xfrm>
            <a:off x="8552226" y="6779049"/>
            <a:ext cx="6996253"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 </a:t>
            </a:r>
            <a:r>
              <a:rPr lang="en-US" sz="1260" b="1" dirty="0">
                <a:solidFill>
                  <a:srgbClr val="E0E2E4"/>
                </a:solidFill>
                <a:latin typeface="MiSans" pitchFamily="34" charset="0"/>
                <a:ea typeface="MiSans" pitchFamily="34" charset="-122"/>
                <a:cs typeface="MiSans" pitchFamily="34" charset="-120"/>
              </a:rPr>
              <a:t>VPA:</a:t>
            </a:r>
            <a:r>
              <a:rPr lang="en-US" sz="1260" dirty="0">
                <a:solidFill>
                  <a:srgbClr val="E0E2E4">
                    <a:alpha val="80000"/>
                  </a:srgbClr>
                </a:solidFill>
                <a:latin typeface="MiSans" pitchFamily="34" charset="0"/>
                <a:ea typeface="MiSans" pitchFamily="34" charset="-122"/>
                <a:cs typeface="MiSans" pitchFamily="34" charset="-120"/>
              </a:rPr>
              <a:t> 垂直扩缩容,自动调整资源请求</a:t>
            </a:r>
            <a:endParaRPr lang="en-US" sz="1600" dirty="0"/>
          </a:p>
        </p:txBody>
      </p:sp>
      <p:sp>
        <p:nvSpPr>
          <p:cNvPr id="58" name="Text 56"/>
          <p:cNvSpPr/>
          <p:nvPr/>
        </p:nvSpPr>
        <p:spPr>
          <a:xfrm>
            <a:off x="8552226" y="7053412"/>
            <a:ext cx="6996253" cy="228636"/>
          </a:xfrm>
          <a:prstGeom prst="rect">
            <a:avLst/>
          </a:prstGeom>
          <a:noFill/>
          <a:ln/>
        </p:spPr>
        <p:txBody>
          <a:bodyPr wrap="square" lIns="0" tIns="0" rIns="0" bIns="0" rtlCol="0" anchor="ctr"/>
          <a:lstStyle/>
          <a:p>
            <a:pPr>
              <a:lnSpc>
                <a:spcPct val="120000"/>
              </a:lnSpc>
            </a:pPr>
            <a:r>
              <a:rPr lang="en-US" sz="1260" dirty="0">
                <a:solidFill>
                  <a:srgbClr val="E0E2E4">
                    <a:alpha val="80000"/>
                  </a:srgbClr>
                </a:solidFill>
                <a:latin typeface="MiSans" pitchFamily="34" charset="0"/>
                <a:ea typeface="MiSans" pitchFamily="34" charset="-122"/>
                <a:cs typeface="MiSans" pitchFamily="34" charset="-120"/>
              </a:rPr>
              <a:t>• </a:t>
            </a:r>
            <a:r>
              <a:rPr lang="en-US" sz="1260" b="1" dirty="0">
                <a:solidFill>
                  <a:srgbClr val="E0E2E4"/>
                </a:solidFill>
                <a:latin typeface="MiSans" pitchFamily="34" charset="0"/>
                <a:ea typeface="MiSans" pitchFamily="34" charset="-122"/>
                <a:cs typeface="MiSans" pitchFamily="34" charset="-120"/>
              </a:rPr>
              <a:t>Cluster Autoscaler:</a:t>
            </a:r>
            <a:r>
              <a:rPr lang="en-US" sz="1260" dirty="0">
                <a:solidFill>
                  <a:srgbClr val="E0E2E4">
                    <a:alpha val="80000"/>
                  </a:srgbClr>
                </a:solidFill>
                <a:latin typeface="MiSans" pitchFamily="34" charset="0"/>
                <a:ea typeface="MiSans" pitchFamily="34" charset="-122"/>
                <a:cs typeface="MiSans" pitchFamily="34" charset="-120"/>
              </a:rPr>
              <a:t> 节点自动扩缩容</a:t>
            </a:r>
            <a:endParaRPr lang="en-US" sz="1600" dirty="0"/>
          </a:p>
        </p:txBody>
      </p:sp>
      <p:sp>
        <p:nvSpPr>
          <p:cNvPr id="59" name="Shape 57"/>
          <p:cNvSpPr/>
          <p:nvPr/>
        </p:nvSpPr>
        <p:spPr>
          <a:xfrm>
            <a:off x="462987" y="7832717"/>
            <a:ext cx="15330025" cy="1154610"/>
          </a:xfrm>
          <a:custGeom>
            <a:avLst/>
            <a:gdLst/>
            <a:ahLst/>
            <a:cxnLst/>
            <a:rect l="l" t="t" r="r" b="b"/>
            <a:pathLst>
              <a:path w="15330025" h="1154610">
                <a:moveTo>
                  <a:pt x="91457" y="0"/>
                </a:moveTo>
                <a:lnTo>
                  <a:pt x="15238569" y="0"/>
                </a:lnTo>
                <a:cubicBezTo>
                  <a:pt x="15289079" y="0"/>
                  <a:pt x="15330025" y="40947"/>
                  <a:pt x="15330025" y="91457"/>
                </a:cubicBezTo>
                <a:lnTo>
                  <a:pt x="15330025" y="1063154"/>
                </a:lnTo>
                <a:cubicBezTo>
                  <a:pt x="15330025" y="1113664"/>
                  <a:pt x="15289079" y="1154610"/>
                  <a:pt x="15238569" y="1154610"/>
                </a:cubicBezTo>
                <a:lnTo>
                  <a:pt x="91457" y="1154610"/>
                </a:lnTo>
                <a:cubicBezTo>
                  <a:pt x="40947" y="1154610"/>
                  <a:pt x="0" y="1113664"/>
                  <a:pt x="0" y="1063154"/>
                </a:cubicBezTo>
                <a:lnTo>
                  <a:pt x="0" y="91457"/>
                </a:lnTo>
                <a:cubicBezTo>
                  <a:pt x="0" y="40947"/>
                  <a:pt x="40947" y="0"/>
                  <a:pt x="91457"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0" name="Shape 58"/>
          <p:cNvSpPr/>
          <p:nvPr/>
        </p:nvSpPr>
        <p:spPr>
          <a:xfrm>
            <a:off x="640180" y="7975614"/>
            <a:ext cx="274363" cy="274363"/>
          </a:xfrm>
          <a:custGeom>
            <a:avLst/>
            <a:gdLst/>
            <a:ahLst/>
            <a:cxnLst/>
            <a:rect l="l" t="t" r="r" b="b"/>
            <a:pathLst>
              <a:path w="274363" h="274363">
                <a:moveTo>
                  <a:pt x="34295" y="34295"/>
                </a:moveTo>
                <a:cubicBezTo>
                  <a:pt x="34295" y="24811"/>
                  <a:pt x="26632" y="17148"/>
                  <a:pt x="17148" y="17148"/>
                </a:cubicBezTo>
                <a:cubicBezTo>
                  <a:pt x="7663" y="17148"/>
                  <a:pt x="0" y="24811"/>
                  <a:pt x="0" y="34295"/>
                </a:cubicBezTo>
                <a:lnTo>
                  <a:pt x="0" y="214346"/>
                </a:lnTo>
                <a:cubicBezTo>
                  <a:pt x="0" y="238031"/>
                  <a:pt x="19184" y="257215"/>
                  <a:pt x="42869" y="257215"/>
                </a:cubicBezTo>
                <a:lnTo>
                  <a:pt x="257215" y="257215"/>
                </a:lnTo>
                <a:cubicBezTo>
                  <a:pt x="266700" y="257215"/>
                  <a:pt x="274363" y="249552"/>
                  <a:pt x="274363" y="240068"/>
                </a:cubicBezTo>
                <a:cubicBezTo>
                  <a:pt x="274363" y="230583"/>
                  <a:pt x="266700" y="222920"/>
                  <a:pt x="257215" y="222920"/>
                </a:cubicBezTo>
                <a:lnTo>
                  <a:pt x="42869" y="222920"/>
                </a:lnTo>
                <a:cubicBezTo>
                  <a:pt x="38154" y="222920"/>
                  <a:pt x="34295" y="219062"/>
                  <a:pt x="34295" y="214346"/>
                </a:cubicBezTo>
                <a:lnTo>
                  <a:pt x="34295" y="34295"/>
                </a:lnTo>
                <a:close/>
                <a:moveTo>
                  <a:pt x="252178" y="80701"/>
                </a:moveTo>
                <a:cubicBezTo>
                  <a:pt x="258876" y="74003"/>
                  <a:pt x="258876" y="63125"/>
                  <a:pt x="252178" y="56427"/>
                </a:cubicBezTo>
                <a:cubicBezTo>
                  <a:pt x="245480" y="49728"/>
                  <a:pt x="234602" y="49728"/>
                  <a:pt x="227903" y="56427"/>
                </a:cubicBezTo>
                <a:lnTo>
                  <a:pt x="171477" y="112907"/>
                </a:lnTo>
                <a:lnTo>
                  <a:pt x="140718" y="82202"/>
                </a:lnTo>
                <a:cubicBezTo>
                  <a:pt x="134020" y="75503"/>
                  <a:pt x="123142" y="75503"/>
                  <a:pt x="116443" y="82202"/>
                </a:cubicBezTo>
                <a:lnTo>
                  <a:pt x="65000" y="133645"/>
                </a:lnTo>
                <a:cubicBezTo>
                  <a:pt x="58302" y="140343"/>
                  <a:pt x="58302" y="151221"/>
                  <a:pt x="65000" y="157919"/>
                </a:cubicBezTo>
                <a:cubicBezTo>
                  <a:pt x="71699" y="164618"/>
                  <a:pt x="82577" y="164618"/>
                  <a:pt x="89275" y="157919"/>
                </a:cubicBezTo>
                <a:lnTo>
                  <a:pt x="128608" y="118587"/>
                </a:lnTo>
                <a:lnTo>
                  <a:pt x="159366" y="149346"/>
                </a:lnTo>
                <a:cubicBezTo>
                  <a:pt x="166065" y="156044"/>
                  <a:pt x="176943" y="156044"/>
                  <a:pt x="183641" y="149346"/>
                </a:cubicBezTo>
                <a:lnTo>
                  <a:pt x="252232" y="80755"/>
                </a:lnTo>
                <a:close/>
              </a:path>
            </a:pathLst>
          </a:custGeom>
          <a:solidFill>
            <a:srgbClr val="B38B59"/>
          </a:solidFill>
          <a:ln/>
        </p:spPr>
        <p:txBody>
          <a:bodyPr/>
          <a:lstStyle/>
          <a:p>
            <a:endParaRPr lang="zh-CN" altLang="en-US"/>
          </a:p>
        </p:txBody>
      </p:sp>
      <p:sp>
        <p:nvSpPr>
          <p:cNvPr id="61" name="Text 59"/>
          <p:cNvSpPr/>
          <p:nvPr/>
        </p:nvSpPr>
        <p:spPr>
          <a:xfrm>
            <a:off x="1086020" y="7975614"/>
            <a:ext cx="14678414" cy="320090"/>
          </a:xfrm>
          <a:prstGeom prst="rect">
            <a:avLst/>
          </a:prstGeom>
          <a:noFill/>
          <a:ln/>
        </p:spPr>
        <p:txBody>
          <a:bodyPr wrap="square" lIns="0" tIns="0" rIns="0" bIns="0" rtlCol="0" anchor="ctr"/>
          <a:lstStyle/>
          <a:p>
            <a:pPr>
              <a:lnSpc>
                <a:spcPct val="120000"/>
              </a:lnSpc>
            </a:pPr>
            <a:r>
              <a:rPr lang="en-US" sz="1800" b="1" dirty="0">
                <a:solidFill>
                  <a:srgbClr val="E0E2E4"/>
                </a:solidFill>
                <a:latin typeface="MiSans" pitchFamily="34" charset="0"/>
                <a:ea typeface="MiSans" pitchFamily="34" charset="-122"/>
                <a:cs typeface="MiSans" pitchFamily="34" charset="-120"/>
              </a:rPr>
              <a:t>性能表现对比</a:t>
            </a:r>
            <a:endParaRPr lang="en-US" sz="1600" dirty="0"/>
          </a:p>
        </p:txBody>
      </p:sp>
      <p:sp>
        <p:nvSpPr>
          <p:cNvPr id="62" name="Text 60"/>
          <p:cNvSpPr/>
          <p:nvPr/>
        </p:nvSpPr>
        <p:spPr>
          <a:xfrm>
            <a:off x="1086020" y="8387158"/>
            <a:ext cx="4847077" cy="228636"/>
          </a:xfrm>
          <a:prstGeom prst="rect">
            <a:avLst/>
          </a:prstGeom>
          <a:noFill/>
          <a:ln/>
        </p:spPr>
        <p:txBody>
          <a:bodyPr wrap="square" lIns="0" tIns="0" rIns="0" bIns="0" rtlCol="0" anchor="ctr"/>
          <a:lstStyle/>
          <a:p>
            <a:pPr>
              <a:lnSpc>
                <a:spcPct val="120000"/>
              </a:lnSpc>
            </a:pPr>
            <a:r>
              <a:rPr lang="en-US" sz="1260" b="1" dirty="0">
                <a:solidFill>
                  <a:srgbClr val="B38B59"/>
                </a:solidFill>
                <a:latin typeface="MiSans" pitchFamily="34" charset="0"/>
                <a:ea typeface="MiSans" pitchFamily="34" charset="-122"/>
                <a:cs typeface="MiSans" pitchFamily="34" charset="-120"/>
              </a:rPr>
              <a:t>批处理作业</a:t>
            </a:r>
            <a:endParaRPr lang="en-US" sz="1600" dirty="0"/>
          </a:p>
        </p:txBody>
      </p:sp>
      <p:sp>
        <p:nvSpPr>
          <p:cNvPr id="63" name="Text 61"/>
          <p:cNvSpPr/>
          <p:nvPr/>
        </p:nvSpPr>
        <p:spPr>
          <a:xfrm>
            <a:off x="1086020" y="8661521"/>
            <a:ext cx="4835646" cy="182909"/>
          </a:xfrm>
          <a:prstGeom prst="rect">
            <a:avLst/>
          </a:prstGeom>
          <a:noFill/>
          <a:ln/>
        </p:spPr>
        <p:txBody>
          <a:bodyPr wrap="square" lIns="0" tIns="0" rIns="0" bIns="0" rtlCol="0" anchor="ctr"/>
          <a:lstStyle/>
          <a:p>
            <a:pPr>
              <a:lnSpc>
                <a:spcPct val="110000"/>
              </a:lnSpc>
            </a:pPr>
            <a:r>
              <a:rPr lang="en-US" sz="1080" b="1" dirty="0">
                <a:solidFill>
                  <a:srgbClr val="E0E2E4"/>
                </a:solidFill>
                <a:latin typeface="MiSans" pitchFamily="34" charset="0"/>
                <a:ea typeface="MiSans" pitchFamily="34" charset="-122"/>
                <a:cs typeface="MiSans" pitchFamily="34" charset="-120"/>
              </a:rPr>
              <a:t>YARN优势:</a:t>
            </a:r>
            <a:r>
              <a:rPr lang="en-US" sz="1080" dirty="0">
                <a:solidFill>
                  <a:srgbClr val="E0E2E4">
                    <a:alpha val="80000"/>
                  </a:srgbClr>
                </a:solidFill>
                <a:latin typeface="MiSans" pitchFamily="34" charset="0"/>
                <a:ea typeface="MiSans" pitchFamily="34" charset="-122"/>
                <a:cs typeface="MiSans" pitchFamily="34" charset="-120"/>
              </a:rPr>
              <a:t> 数据本地性优化,高吞吐量,适合ETL、机器学习训练等场景</a:t>
            </a:r>
            <a:endParaRPr lang="en-US" sz="1600" dirty="0"/>
          </a:p>
        </p:txBody>
      </p:sp>
      <p:sp>
        <p:nvSpPr>
          <p:cNvPr id="64" name="Text 62"/>
          <p:cNvSpPr/>
          <p:nvPr/>
        </p:nvSpPr>
        <p:spPr>
          <a:xfrm>
            <a:off x="5987219" y="8387158"/>
            <a:ext cx="4847077" cy="228636"/>
          </a:xfrm>
          <a:prstGeom prst="rect">
            <a:avLst/>
          </a:prstGeom>
          <a:noFill/>
          <a:ln/>
        </p:spPr>
        <p:txBody>
          <a:bodyPr wrap="square" lIns="0" tIns="0" rIns="0" bIns="0" rtlCol="0" anchor="ctr"/>
          <a:lstStyle/>
          <a:p>
            <a:pPr>
              <a:lnSpc>
                <a:spcPct val="120000"/>
              </a:lnSpc>
            </a:pPr>
            <a:r>
              <a:rPr lang="en-US" sz="1260" b="1" dirty="0">
                <a:solidFill>
                  <a:srgbClr val="B38B59"/>
                </a:solidFill>
                <a:latin typeface="MiSans" pitchFamily="34" charset="0"/>
                <a:ea typeface="MiSans" pitchFamily="34" charset="-122"/>
                <a:cs typeface="MiSans" pitchFamily="34" charset="-120"/>
              </a:rPr>
              <a:t>在线服务</a:t>
            </a:r>
            <a:endParaRPr lang="en-US" sz="1600" dirty="0"/>
          </a:p>
        </p:txBody>
      </p:sp>
      <p:sp>
        <p:nvSpPr>
          <p:cNvPr id="65" name="Text 63"/>
          <p:cNvSpPr/>
          <p:nvPr/>
        </p:nvSpPr>
        <p:spPr>
          <a:xfrm>
            <a:off x="5987219" y="8661521"/>
            <a:ext cx="4835646" cy="182909"/>
          </a:xfrm>
          <a:prstGeom prst="rect">
            <a:avLst/>
          </a:prstGeom>
          <a:noFill/>
          <a:ln/>
        </p:spPr>
        <p:txBody>
          <a:bodyPr wrap="square" lIns="0" tIns="0" rIns="0" bIns="0" rtlCol="0" anchor="ctr"/>
          <a:lstStyle/>
          <a:p>
            <a:pPr>
              <a:lnSpc>
                <a:spcPct val="110000"/>
              </a:lnSpc>
            </a:pPr>
            <a:r>
              <a:rPr lang="en-US" sz="1080" b="1" dirty="0">
                <a:solidFill>
                  <a:srgbClr val="E0E2E4"/>
                </a:solidFill>
                <a:latin typeface="MiSans" pitchFamily="34" charset="0"/>
                <a:ea typeface="MiSans" pitchFamily="34" charset="-122"/>
                <a:cs typeface="MiSans" pitchFamily="34" charset="-120"/>
              </a:rPr>
              <a:t>K8s优势:</a:t>
            </a:r>
            <a:r>
              <a:rPr lang="en-US" sz="1080" dirty="0">
                <a:solidFill>
                  <a:srgbClr val="E0E2E4">
                    <a:alpha val="80000"/>
                  </a:srgbClr>
                </a:solidFill>
                <a:latin typeface="MiSans" pitchFamily="34" charset="0"/>
                <a:ea typeface="MiSans" pitchFamily="34" charset="-122"/>
                <a:cs typeface="MiSans" pitchFamily="34" charset="-120"/>
              </a:rPr>
              <a:t> 弹性扩缩容,负载均衡,适合微服务、Web应用等场景</a:t>
            </a:r>
            <a:endParaRPr lang="en-US" sz="1600" dirty="0"/>
          </a:p>
        </p:txBody>
      </p:sp>
      <p:sp>
        <p:nvSpPr>
          <p:cNvPr id="66" name="Text 64"/>
          <p:cNvSpPr/>
          <p:nvPr/>
        </p:nvSpPr>
        <p:spPr>
          <a:xfrm>
            <a:off x="10888508" y="8387158"/>
            <a:ext cx="4847077" cy="228636"/>
          </a:xfrm>
          <a:prstGeom prst="rect">
            <a:avLst/>
          </a:prstGeom>
          <a:noFill/>
          <a:ln/>
        </p:spPr>
        <p:txBody>
          <a:bodyPr wrap="square" lIns="0" tIns="0" rIns="0" bIns="0" rtlCol="0" anchor="ctr"/>
          <a:lstStyle/>
          <a:p>
            <a:pPr>
              <a:lnSpc>
                <a:spcPct val="120000"/>
              </a:lnSpc>
            </a:pPr>
            <a:r>
              <a:rPr lang="en-US" sz="1260" b="1" dirty="0">
                <a:solidFill>
                  <a:srgbClr val="B38B59"/>
                </a:solidFill>
                <a:latin typeface="MiSans" pitchFamily="34" charset="0"/>
                <a:ea typeface="MiSans" pitchFamily="34" charset="-122"/>
                <a:cs typeface="MiSans" pitchFamily="34" charset="-120"/>
              </a:rPr>
              <a:t>混合负载</a:t>
            </a:r>
            <a:endParaRPr lang="en-US" sz="1600" dirty="0"/>
          </a:p>
        </p:txBody>
      </p:sp>
      <p:sp>
        <p:nvSpPr>
          <p:cNvPr id="67" name="Text 65"/>
          <p:cNvSpPr/>
          <p:nvPr/>
        </p:nvSpPr>
        <p:spPr>
          <a:xfrm>
            <a:off x="10888508" y="8661521"/>
            <a:ext cx="4835646" cy="182909"/>
          </a:xfrm>
          <a:prstGeom prst="rect">
            <a:avLst/>
          </a:prstGeom>
          <a:noFill/>
          <a:ln/>
        </p:spPr>
        <p:txBody>
          <a:bodyPr wrap="square" lIns="0" tIns="0" rIns="0" bIns="0" rtlCol="0" anchor="ctr"/>
          <a:lstStyle/>
          <a:p>
            <a:pPr>
              <a:lnSpc>
                <a:spcPct val="110000"/>
              </a:lnSpc>
            </a:pPr>
            <a:r>
              <a:rPr lang="en-US" sz="1080" b="1" dirty="0">
                <a:solidFill>
                  <a:srgbClr val="E0E2E4"/>
                </a:solidFill>
                <a:latin typeface="MiSans" pitchFamily="34" charset="0"/>
                <a:ea typeface="MiSans" pitchFamily="34" charset="-122"/>
                <a:cs typeface="MiSans" pitchFamily="34" charset="-120"/>
              </a:rPr>
              <a:t>融合方案:</a:t>
            </a:r>
            <a:r>
              <a:rPr lang="en-US" sz="1080" dirty="0">
                <a:solidFill>
                  <a:srgbClr val="E0E2E4">
                    <a:alpha val="80000"/>
                  </a:srgbClr>
                </a:solidFill>
                <a:latin typeface="MiSans" pitchFamily="34" charset="0"/>
                <a:ea typeface="MiSans" pitchFamily="34" charset="-122"/>
                <a:cs typeface="MiSans" pitchFamily="34" charset="-120"/>
              </a:rPr>
              <a:t> Spark on Kubernetes,统一资源管理,兼顾两种技术优势</a:t>
            </a:r>
            <a:endParaRPr lang="en-US" sz="1600"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55031" y="500535"/>
            <a:ext cx="364025" cy="364025"/>
          </a:xfrm>
          <a:custGeom>
            <a:avLst/>
            <a:gdLst/>
            <a:ahLst/>
            <a:cxnLst/>
            <a:rect l="l" t="t" r="r" b="b"/>
            <a:pathLst>
              <a:path w="364025" h="364025">
                <a:moveTo>
                  <a:pt x="68255" y="0"/>
                </a:moveTo>
                <a:lnTo>
                  <a:pt x="295770" y="0"/>
                </a:lnTo>
                <a:cubicBezTo>
                  <a:pt x="333441" y="0"/>
                  <a:pt x="364025" y="30584"/>
                  <a:pt x="364025" y="68255"/>
                </a:cubicBezTo>
                <a:lnTo>
                  <a:pt x="364025" y="295770"/>
                </a:lnTo>
                <a:cubicBezTo>
                  <a:pt x="364025" y="333467"/>
                  <a:pt x="333467" y="364025"/>
                  <a:pt x="295770" y="364025"/>
                </a:cubicBezTo>
                <a:lnTo>
                  <a:pt x="68255" y="364025"/>
                </a:lnTo>
                <a:cubicBezTo>
                  <a:pt x="30584" y="364025"/>
                  <a:pt x="0" y="333441"/>
                  <a:pt x="0" y="295770"/>
                </a:cubicBezTo>
                <a:lnTo>
                  <a:pt x="0" y="68255"/>
                </a:lnTo>
                <a:cubicBezTo>
                  <a:pt x="0" y="30584"/>
                  <a:pt x="30584" y="0"/>
                  <a:pt x="68255" y="0"/>
                </a:cubicBezTo>
                <a:close/>
              </a:path>
            </a:pathLst>
          </a:custGeom>
          <a:solidFill>
            <a:srgbClr val="3C8082"/>
          </a:solidFill>
          <a:ln/>
        </p:spPr>
        <p:txBody>
          <a:bodyPr/>
          <a:lstStyle/>
          <a:p>
            <a:endParaRPr lang="zh-CN" altLang="en-US"/>
          </a:p>
        </p:txBody>
      </p:sp>
      <p:sp>
        <p:nvSpPr>
          <p:cNvPr id="3" name="Text 1"/>
          <p:cNvSpPr/>
          <p:nvPr/>
        </p:nvSpPr>
        <p:spPr>
          <a:xfrm>
            <a:off x="409528" y="500535"/>
            <a:ext cx="455031" cy="364025"/>
          </a:xfrm>
          <a:prstGeom prst="rect">
            <a:avLst/>
          </a:prstGeom>
          <a:noFill/>
          <a:ln/>
        </p:spPr>
        <p:txBody>
          <a:bodyPr wrap="square" lIns="0" tIns="0" rIns="0" bIns="0" rtlCol="0" anchor="ctr"/>
          <a:lstStyle/>
          <a:p>
            <a:pPr algn="ctr">
              <a:lnSpc>
                <a:spcPct val="120000"/>
              </a:lnSpc>
            </a:pPr>
            <a:r>
              <a:rPr lang="en-US" sz="1433" b="1" dirty="0">
                <a:solidFill>
                  <a:srgbClr val="FFFFFF"/>
                </a:solidFill>
                <a:latin typeface="Liter" pitchFamily="34" charset="0"/>
                <a:ea typeface="Liter" pitchFamily="34" charset="-122"/>
                <a:cs typeface="Liter" pitchFamily="34" charset="-120"/>
              </a:rPr>
              <a:t>22</a:t>
            </a:r>
            <a:endParaRPr lang="en-US" sz="1600" dirty="0"/>
          </a:p>
        </p:txBody>
      </p:sp>
      <p:sp>
        <p:nvSpPr>
          <p:cNvPr id="4" name="Text 2"/>
          <p:cNvSpPr/>
          <p:nvPr/>
        </p:nvSpPr>
        <p:spPr>
          <a:xfrm>
            <a:off x="955566" y="455031"/>
            <a:ext cx="5119104" cy="455031"/>
          </a:xfrm>
          <a:prstGeom prst="rect">
            <a:avLst/>
          </a:prstGeom>
          <a:noFill/>
          <a:ln/>
        </p:spPr>
        <p:txBody>
          <a:bodyPr wrap="square" lIns="0" tIns="0" rIns="0" bIns="0" rtlCol="0" anchor="ctr"/>
          <a:lstStyle/>
          <a:p>
            <a:pPr>
              <a:lnSpc>
                <a:spcPct val="90000"/>
              </a:lnSpc>
            </a:pPr>
            <a:r>
              <a:rPr lang="en-US" sz="3225" b="1" dirty="0">
                <a:solidFill>
                  <a:srgbClr val="E0E2E4"/>
                </a:solidFill>
                <a:latin typeface="MiSans" pitchFamily="34" charset="0"/>
                <a:ea typeface="MiSans" pitchFamily="34" charset="-122"/>
                <a:cs typeface="MiSans" pitchFamily="34" charset="-120"/>
              </a:rPr>
              <a:t>生态兼容性与技术演进趋势</a:t>
            </a:r>
            <a:endParaRPr lang="en-US" sz="1600" dirty="0"/>
          </a:p>
        </p:txBody>
      </p:sp>
      <p:sp>
        <p:nvSpPr>
          <p:cNvPr id="5" name="Text 3"/>
          <p:cNvSpPr/>
          <p:nvPr/>
        </p:nvSpPr>
        <p:spPr>
          <a:xfrm>
            <a:off x="455031" y="1001069"/>
            <a:ext cx="15448319" cy="318522"/>
          </a:xfrm>
          <a:prstGeom prst="rect">
            <a:avLst/>
          </a:prstGeom>
          <a:noFill/>
          <a:ln/>
        </p:spPr>
        <p:txBody>
          <a:bodyPr wrap="square" lIns="0" tIns="0" rIns="0" bIns="0" rtlCol="0" anchor="ctr"/>
          <a:lstStyle/>
          <a:p>
            <a:pPr>
              <a:lnSpc>
                <a:spcPct val="130000"/>
              </a:lnSpc>
            </a:pPr>
            <a:r>
              <a:rPr lang="en-US" sz="1612" b="1" dirty="0">
                <a:solidFill>
                  <a:srgbClr val="B38B59"/>
                </a:solidFill>
                <a:latin typeface="MiSans" pitchFamily="34" charset="0"/>
                <a:ea typeface="MiSans" pitchFamily="34" charset="-122"/>
                <a:cs typeface="MiSans" pitchFamily="34" charset="-120"/>
              </a:rPr>
              <a:t>生态系统、技术融合与未来发展的前瞻性分析</a:t>
            </a:r>
            <a:endParaRPr lang="en-US" sz="1600" dirty="0"/>
          </a:p>
        </p:txBody>
      </p:sp>
      <p:sp>
        <p:nvSpPr>
          <p:cNvPr id="6" name="Shape 4"/>
          <p:cNvSpPr/>
          <p:nvPr/>
        </p:nvSpPr>
        <p:spPr>
          <a:xfrm>
            <a:off x="460719" y="1507292"/>
            <a:ext cx="7576274" cy="5896213"/>
          </a:xfrm>
          <a:custGeom>
            <a:avLst/>
            <a:gdLst/>
            <a:ahLst/>
            <a:cxnLst/>
            <a:rect l="l" t="t" r="r" b="b"/>
            <a:pathLst>
              <a:path w="7576274" h="6586581">
                <a:moveTo>
                  <a:pt x="91027" y="0"/>
                </a:moveTo>
                <a:lnTo>
                  <a:pt x="7485248" y="0"/>
                </a:lnTo>
                <a:cubicBezTo>
                  <a:pt x="7535520" y="0"/>
                  <a:pt x="7576274" y="40754"/>
                  <a:pt x="7576274" y="91027"/>
                </a:cubicBezTo>
                <a:lnTo>
                  <a:pt x="7576274" y="6495554"/>
                </a:lnTo>
                <a:cubicBezTo>
                  <a:pt x="7576274" y="6545827"/>
                  <a:pt x="7535520" y="6586581"/>
                  <a:pt x="7485248" y="6586581"/>
                </a:cubicBezTo>
                <a:lnTo>
                  <a:pt x="91027" y="6586581"/>
                </a:lnTo>
                <a:cubicBezTo>
                  <a:pt x="40754" y="6586581"/>
                  <a:pt x="0" y="6545827"/>
                  <a:pt x="0" y="6495554"/>
                </a:cubicBezTo>
                <a:lnTo>
                  <a:pt x="0" y="91027"/>
                </a:lnTo>
                <a:cubicBezTo>
                  <a:pt x="0" y="40788"/>
                  <a:pt x="40788" y="0"/>
                  <a:pt x="91027"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7" name="Shape 5"/>
          <p:cNvSpPr/>
          <p:nvPr/>
        </p:nvSpPr>
        <p:spPr>
          <a:xfrm>
            <a:off x="682547" y="1740495"/>
            <a:ext cx="273019" cy="273019"/>
          </a:xfrm>
          <a:custGeom>
            <a:avLst/>
            <a:gdLst/>
            <a:ahLst/>
            <a:cxnLst/>
            <a:rect l="l" t="t" r="r" b="b"/>
            <a:pathLst>
              <a:path w="273019" h="273019">
                <a:moveTo>
                  <a:pt x="123978" y="2773"/>
                </a:moveTo>
                <a:cubicBezTo>
                  <a:pt x="131924" y="-907"/>
                  <a:pt x="141095" y="-907"/>
                  <a:pt x="149041" y="2773"/>
                </a:cubicBezTo>
                <a:lnTo>
                  <a:pt x="265607" y="56630"/>
                </a:lnTo>
                <a:cubicBezTo>
                  <a:pt x="270139" y="58710"/>
                  <a:pt x="273019" y="63242"/>
                  <a:pt x="273019" y="68255"/>
                </a:cubicBezTo>
                <a:cubicBezTo>
                  <a:pt x="273019" y="73267"/>
                  <a:pt x="270139" y="77800"/>
                  <a:pt x="265607" y="79879"/>
                </a:cubicBezTo>
                <a:lnTo>
                  <a:pt x="149041" y="133737"/>
                </a:lnTo>
                <a:cubicBezTo>
                  <a:pt x="141095" y="137416"/>
                  <a:pt x="131924" y="137416"/>
                  <a:pt x="123978" y="133737"/>
                </a:cubicBezTo>
                <a:lnTo>
                  <a:pt x="7412" y="79879"/>
                </a:lnTo>
                <a:cubicBezTo>
                  <a:pt x="2879" y="77746"/>
                  <a:pt x="0" y="73214"/>
                  <a:pt x="0" y="68255"/>
                </a:cubicBezTo>
                <a:cubicBezTo>
                  <a:pt x="0" y="63296"/>
                  <a:pt x="2879" y="58710"/>
                  <a:pt x="7412" y="56630"/>
                </a:cubicBezTo>
                <a:lnTo>
                  <a:pt x="123978" y="2773"/>
                </a:lnTo>
                <a:close/>
                <a:moveTo>
                  <a:pt x="25649" y="116460"/>
                </a:moveTo>
                <a:lnTo>
                  <a:pt x="113260" y="156933"/>
                </a:lnTo>
                <a:cubicBezTo>
                  <a:pt x="128031" y="163758"/>
                  <a:pt x="145041" y="163758"/>
                  <a:pt x="159812" y="156933"/>
                </a:cubicBezTo>
                <a:lnTo>
                  <a:pt x="247423" y="116460"/>
                </a:lnTo>
                <a:lnTo>
                  <a:pt x="265607" y="124885"/>
                </a:lnTo>
                <a:cubicBezTo>
                  <a:pt x="270139" y="126964"/>
                  <a:pt x="273019" y="131497"/>
                  <a:pt x="273019" y="136509"/>
                </a:cubicBezTo>
                <a:cubicBezTo>
                  <a:pt x="273019" y="141522"/>
                  <a:pt x="270139" y="146054"/>
                  <a:pt x="265607" y="148134"/>
                </a:cubicBezTo>
                <a:lnTo>
                  <a:pt x="149041" y="201991"/>
                </a:lnTo>
                <a:cubicBezTo>
                  <a:pt x="141095" y="205671"/>
                  <a:pt x="131924" y="205671"/>
                  <a:pt x="123978" y="201991"/>
                </a:cubicBezTo>
                <a:lnTo>
                  <a:pt x="7412" y="148134"/>
                </a:lnTo>
                <a:cubicBezTo>
                  <a:pt x="2879" y="146001"/>
                  <a:pt x="0" y="141469"/>
                  <a:pt x="0" y="136509"/>
                </a:cubicBezTo>
                <a:cubicBezTo>
                  <a:pt x="0" y="131550"/>
                  <a:pt x="2879" y="126964"/>
                  <a:pt x="7412" y="124885"/>
                </a:cubicBezTo>
                <a:lnTo>
                  <a:pt x="25596" y="116460"/>
                </a:lnTo>
                <a:close/>
                <a:moveTo>
                  <a:pt x="7412" y="193140"/>
                </a:moveTo>
                <a:lnTo>
                  <a:pt x="25596" y="184714"/>
                </a:lnTo>
                <a:lnTo>
                  <a:pt x="113207" y="225187"/>
                </a:lnTo>
                <a:cubicBezTo>
                  <a:pt x="127978" y="232013"/>
                  <a:pt x="144988" y="232013"/>
                  <a:pt x="159759" y="225187"/>
                </a:cubicBezTo>
                <a:lnTo>
                  <a:pt x="247370" y="184714"/>
                </a:lnTo>
                <a:lnTo>
                  <a:pt x="265554" y="193140"/>
                </a:lnTo>
                <a:cubicBezTo>
                  <a:pt x="270086" y="195219"/>
                  <a:pt x="272966" y="199752"/>
                  <a:pt x="272966" y="204764"/>
                </a:cubicBezTo>
                <a:cubicBezTo>
                  <a:pt x="272966" y="209777"/>
                  <a:pt x="270086" y="214309"/>
                  <a:pt x="265554" y="216389"/>
                </a:cubicBezTo>
                <a:lnTo>
                  <a:pt x="148987" y="270246"/>
                </a:lnTo>
                <a:cubicBezTo>
                  <a:pt x="141042" y="273925"/>
                  <a:pt x="131870" y="273925"/>
                  <a:pt x="123925" y="270246"/>
                </a:cubicBezTo>
                <a:lnTo>
                  <a:pt x="7412" y="216389"/>
                </a:lnTo>
                <a:cubicBezTo>
                  <a:pt x="2879" y="214256"/>
                  <a:pt x="0" y="209723"/>
                  <a:pt x="0" y="204764"/>
                </a:cubicBezTo>
                <a:cubicBezTo>
                  <a:pt x="0" y="199805"/>
                  <a:pt x="2879" y="195219"/>
                  <a:pt x="7412" y="193140"/>
                </a:cubicBezTo>
                <a:close/>
              </a:path>
            </a:pathLst>
          </a:custGeom>
          <a:solidFill>
            <a:srgbClr val="B38B59"/>
          </a:solidFill>
          <a:ln/>
        </p:spPr>
        <p:txBody>
          <a:bodyPr/>
          <a:lstStyle/>
          <a:p>
            <a:endParaRPr lang="zh-CN" altLang="en-US"/>
          </a:p>
        </p:txBody>
      </p:sp>
      <p:sp>
        <p:nvSpPr>
          <p:cNvPr id="8" name="Text 6"/>
          <p:cNvSpPr/>
          <p:nvPr/>
        </p:nvSpPr>
        <p:spPr>
          <a:xfrm>
            <a:off x="989693" y="1694992"/>
            <a:ext cx="6996109" cy="364025"/>
          </a:xfrm>
          <a:prstGeom prst="rect">
            <a:avLst/>
          </a:prstGeom>
          <a:noFill/>
          <a:ln/>
        </p:spPr>
        <p:txBody>
          <a:bodyPr wrap="square" lIns="0" tIns="0" rIns="0" bIns="0" rtlCol="0" anchor="ctr"/>
          <a:lstStyle/>
          <a:p>
            <a:pPr>
              <a:lnSpc>
                <a:spcPct val="110000"/>
              </a:lnSpc>
            </a:pPr>
            <a:r>
              <a:rPr lang="en-US" sz="2150" b="1" dirty="0">
                <a:solidFill>
                  <a:srgbClr val="E0E2E4"/>
                </a:solidFill>
                <a:latin typeface="MiSans" pitchFamily="34" charset="0"/>
                <a:ea typeface="MiSans" pitchFamily="34" charset="-122"/>
                <a:cs typeface="MiSans" pitchFamily="34" charset="-120"/>
              </a:rPr>
              <a:t>YARN生态系统</a:t>
            </a:r>
            <a:endParaRPr lang="en-US" sz="1600" dirty="0"/>
          </a:p>
        </p:txBody>
      </p:sp>
      <p:sp>
        <p:nvSpPr>
          <p:cNvPr id="9" name="Shape 7"/>
          <p:cNvSpPr/>
          <p:nvPr/>
        </p:nvSpPr>
        <p:spPr>
          <a:xfrm>
            <a:off x="648420" y="2195527"/>
            <a:ext cx="7200873" cy="1729120"/>
          </a:xfrm>
          <a:custGeom>
            <a:avLst/>
            <a:gdLst/>
            <a:ahLst/>
            <a:cxnLst/>
            <a:rect l="l" t="t" r="r" b="b"/>
            <a:pathLst>
              <a:path w="7200873" h="1729120">
                <a:moveTo>
                  <a:pt x="91004" y="0"/>
                </a:moveTo>
                <a:lnTo>
                  <a:pt x="7109870" y="0"/>
                </a:lnTo>
                <a:cubicBezTo>
                  <a:pt x="7160130" y="0"/>
                  <a:pt x="7200873" y="40744"/>
                  <a:pt x="7200873" y="91004"/>
                </a:cubicBezTo>
                <a:lnTo>
                  <a:pt x="7200873" y="1638116"/>
                </a:lnTo>
                <a:cubicBezTo>
                  <a:pt x="7200873" y="1688376"/>
                  <a:pt x="7160130" y="1729120"/>
                  <a:pt x="7109870" y="1729120"/>
                </a:cubicBezTo>
                <a:lnTo>
                  <a:pt x="91004" y="1729120"/>
                </a:lnTo>
                <a:cubicBezTo>
                  <a:pt x="40744" y="1729120"/>
                  <a:pt x="0" y="1688376"/>
                  <a:pt x="0" y="1638116"/>
                </a:cubicBezTo>
                <a:lnTo>
                  <a:pt x="0" y="91004"/>
                </a:lnTo>
                <a:cubicBezTo>
                  <a:pt x="0" y="40744"/>
                  <a:pt x="40744" y="0"/>
                  <a:pt x="91004" y="0"/>
                </a:cubicBezTo>
                <a:close/>
              </a:path>
            </a:pathLst>
          </a:custGeom>
          <a:solidFill>
            <a:srgbClr val="1A1D21">
              <a:alpha val="50196"/>
            </a:srgbClr>
          </a:solidFill>
          <a:ln/>
        </p:spPr>
        <p:txBody>
          <a:bodyPr/>
          <a:lstStyle/>
          <a:p>
            <a:endParaRPr lang="zh-CN" altLang="en-US"/>
          </a:p>
        </p:txBody>
      </p:sp>
      <p:sp>
        <p:nvSpPr>
          <p:cNvPr id="10" name="Text 8"/>
          <p:cNvSpPr/>
          <p:nvPr/>
        </p:nvSpPr>
        <p:spPr>
          <a:xfrm>
            <a:off x="784929" y="2332036"/>
            <a:ext cx="7030237" cy="318522"/>
          </a:xfrm>
          <a:prstGeom prst="rect">
            <a:avLst/>
          </a:prstGeom>
          <a:noFill/>
          <a:ln/>
        </p:spPr>
        <p:txBody>
          <a:bodyPr wrap="square" lIns="0" tIns="0" rIns="0" bIns="0" rtlCol="0" anchor="ctr"/>
          <a:lstStyle/>
          <a:p>
            <a:pPr>
              <a:lnSpc>
                <a:spcPct val="130000"/>
              </a:lnSpc>
            </a:pPr>
            <a:r>
              <a:rPr lang="en-US" sz="1612" b="1" dirty="0">
                <a:solidFill>
                  <a:srgbClr val="B38B59"/>
                </a:solidFill>
                <a:latin typeface="MiSans" pitchFamily="34" charset="0"/>
                <a:ea typeface="MiSans" pitchFamily="34" charset="-122"/>
                <a:cs typeface="MiSans" pitchFamily="34" charset="-120"/>
              </a:rPr>
              <a:t>大数据生态集成</a:t>
            </a:r>
            <a:endParaRPr lang="en-US" sz="1600" dirty="0"/>
          </a:p>
        </p:txBody>
      </p:sp>
      <p:sp>
        <p:nvSpPr>
          <p:cNvPr id="11" name="Text 9"/>
          <p:cNvSpPr/>
          <p:nvPr/>
        </p:nvSpPr>
        <p:spPr>
          <a:xfrm>
            <a:off x="784929" y="2741565"/>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深度集成:</a:t>
            </a:r>
            <a:r>
              <a:rPr lang="en-US" sz="1254" dirty="0">
                <a:solidFill>
                  <a:srgbClr val="E0E2E4">
                    <a:alpha val="80000"/>
                  </a:srgbClr>
                </a:solidFill>
                <a:latin typeface="MiSans" pitchFamily="34" charset="0"/>
                <a:ea typeface="MiSans" pitchFamily="34" charset="-122"/>
                <a:cs typeface="MiSans" pitchFamily="34" charset="-120"/>
              </a:rPr>
              <a:t> 与Hadoop、HDFS、HBase、Hive等无缝集成</a:t>
            </a:r>
            <a:endParaRPr lang="en-US" sz="1600" dirty="0"/>
          </a:p>
        </p:txBody>
      </p:sp>
      <p:sp>
        <p:nvSpPr>
          <p:cNvPr id="12" name="Text 10"/>
          <p:cNvSpPr/>
          <p:nvPr/>
        </p:nvSpPr>
        <p:spPr>
          <a:xfrm>
            <a:off x="784929" y="3014584"/>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计算框架:</a:t>
            </a:r>
            <a:r>
              <a:rPr lang="en-US" sz="1254" dirty="0">
                <a:solidFill>
                  <a:srgbClr val="E0E2E4">
                    <a:alpha val="80000"/>
                  </a:srgbClr>
                </a:solidFill>
                <a:latin typeface="MiSans" pitchFamily="34" charset="0"/>
                <a:ea typeface="MiSans" pitchFamily="34" charset="-122"/>
                <a:cs typeface="MiSans" pitchFamily="34" charset="-120"/>
              </a:rPr>
              <a:t> 原生支持MapReduce、Spark、Flink、Storm</a:t>
            </a:r>
            <a:endParaRPr lang="en-US" sz="1600" dirty="0"/>
          </a:p>
        </p:txBody>
      </p:sp>
      <p:sp>
        <p:nvSpPr>
          <p:cNvPr id="13" name="Text 11"/>
          <p:cNvSpPr/>
          <p:nvPr/>
        </p:nvSpPr>
        <p:spPr>
          <a:xfrm>
            <a:off x="784929" y="3287603"/>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数据本地性:</a:t>
            </a:r>
            <a:r>
              <a:rPr lang="en-US" sz="1254" dirty="0">
                <a:solidFill>
                  <a:srgbClr val="E0E2E4">
                    <a:alpha val="80000"/>
                  </a:srgbClr>
                </a:solidFill>
                <a:latin typeface="MiSans" pitchFamily="34" charset="0"/>
                <a:ea typeface="MiSans" pitchFamily="34" charset="-122"/>
                <a:cs typeface="MiSans" pitchFamily="34" charset="-120"/>
              </a:rPr>
              <a:t> 与HDFS协同优化,减少网络I/O</a:t>
            </a:r>
            <a:endParaRPr lang="en-US" sz="1600" dirty="0"/>
          </a:p>
        </p:txBody>
      </p:sp>
      <p:sp>
        <p:nvSpPr>
          <p:cNvPr id="14" name="Text 12"/>
          <p:cNvSpPr/>
          <p:nvPr/>
        </p:nvSpPr>
        <p:spPr>
          <a:xfrm>
            <a:off x="784929" y="3560621"/>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企业级特性:</a:t>
            </a:r>
            <a:r>
              <a:rPr lang="en-US" sz="1254" dirty="0">
                <a:solidFill>
                  <a:srgbClr val="E0E2E4">
                    <a:alpha val="80000"/>
                  </a:srgbClr>
                </a:solidFill>
                <a:latin typeface="MiSans" pitchFamily="34" charset="0"/>
                <a:ea typeface="MiSans" pitchFamily="34" charset="-122"/>
                <a:cs typeface="MiSans" pitchFamily="34" charset="-120"/>
              </a:rPr>
              <a:t> 多租户、安全、审计等企业级支持</a:t>
            </a:r>
            <a:endParaRPr lang="en-US" sz="1600" dirty="0"/>
          </a:p>
        </p:txBody>
      </p:sp>
      <p:sp>
        <p:nvSpPr>
          <p:cNvPr id="15" name="Shape 13"/>
          <p:cNvSpPr/>
          <p:nvPr/>
        </p:nvSpPr>
        <p:spPr>
          <a:xfrm>
            <a:off x="648420" y="4015653"/>
            <a:ext cx="7200873" cy="1456101"/>
          </a:xfrm>
          <a:custGeom>
            <a:avLst/>
            <a:gdLst/>
            <a:ahLst/>
            <a:cxnLst/>
            <a:rect l="l" t="t" r="r" b="b"/>
            <a:pathLst>
              <a:path w="7200873" h="1456101">
                <a:moveTo>
                  <a:pt x="91006" y="0"/>
                </a:moveTo>
                <a:lnTo>
                  <a:pt x="7109867" y="0"/>
                </a:lnTo>
                <a:cubicBezTo>
                  <a:pt x="7160128" y="0"/>
                  <a:pt x="7200873" y="40745"/>
                  <a:pt x="7200873" y="91006"/>
                </a:cubicBezTo>
                <a:lnTo>
                  <a:pt x="7200873" y="1365094"/>
                </a:lnTo>
                <a:cubicBezTo>
                  <a:pt x="7200873" y="1415356"/>
                  <a:pt x="7160128" y="1456101"/>
                  <a:pt x="7109867" y="1456101"/>
                </a:cubicBezTo>
                <a:lnTo>
                  <a:pt x="91006" y="1456101"/>
                </a:lnTo>
                <a:cubicBezTo>
                  <a:pt x="40745" y="1456101"/>
                  <a:pt x="0" y="1415356"/>
                  <a:pt x="0" y="1365094"/>
                </a:cubicBezTo>
                <a:lnTo>
                  <a:pt x="0" y="91006"/>
                </a:lnTo>
                <a:cubicBezTo>
                  <a:pt x="0" y="40745"/>
                  <a:pt x="40745" y="0"/>
                  <a:pt x="91006" y="0"/>
                </a:cubicBezTo>
                <a:close/>
              </a:path>
            </a:pathLst>
          </a:custGeom>
          <a:solidFill>
            <a:srgbClr val="1A1D21">
              <a:alpha val="50196"/>
            </a:srgbClr>
          </a:solidFill>
          <a:ln/>
        </p:spPr>
        <p:txBody>
          <a:bodyPr/>
          <a:lstStyle/>
          <a:p>
            <a:endParaRPr lang="zh-CN" altLang="en-US"/>
          </a:p>
        </p:txBody>
      </p:sp>
      <p:sp>
        <p:nvSpPr>
          <p:cNvPr id="16" name="Text 14"/>
          <p:cNvSpPr/>
          <p:nvPr/>
        </p:nvSpPr>
        <p:spPr>
          <a:xfrm>
            <a:off x="784929" y="4152162"/>
            <a:ext cx="7030237" cy="318522"/>
          </a:xfrm>
          <a:prstGeom prst="rect">
            <a:avLst/>
          </a:prstGeom>
          <a:noFill/>
          <a:ln/>
        </p:spPr>
        <p:txBody>
          <a:bodyPr wrap="square" lIns="0" tIns="0" rIns="0" bIns="0" rtlCol="0" anchor="ctr"/>
          <a:lstStyle/>
          <a:p>
            <a:pPr>
              <a:lnSpc>
                <a:spcPct val="130000"/>
              </a:lnSpc>
            </a:pPr>
            <a:r>
              <a:rPr lang="en-US" sz="1612" b="1" dirty="0">
                <a:solidFill>
                  <a:srgbClr val="B38B59"/>
                </a:solidFill>
                <a:latin typeface="MiSans" pitchFamily="34" charset="0"/>
                <a:ea typeface="MiSans" pitchFamily="34" charset="-122"/>
                <a:cs typeface="MiSans" pitchFamily="34" charset="-120"/>
              </a:rPr>
              <a:t>投资保护与运维经验</a:t>
            </a:r>
            <a:endParaRPr lang="en-US" sz="1600" dirty="0"/>
          </a:p>
        </p:txBody>
      </p:sp>
      <p:sp>
        <p:nvSpPr>
          <p:cNvPr id="17" name="Text 15"/>
          <p:cNvSpPr/>
          <p:nvPr/>
        </p:nvSpPr>
        <p:spPr>
          <a:xfrm>
            <a:off x="784929" y="4561691"/>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既有投资:</a:t>
            </a:r>
            <a:r>
              <a:rPr lang="en-US" sz="1254" dirty="0">
                <a:solidFill>
                  <a:srgbClr val="E0E2E4">
                    <a:alpha val="80000"/>
                  </a:srgbClr>
                </a:solidFill>
                <a:latin typeface="MiSans" pitchFamily="34" charset="0"/>
                <a:ea typeface="MiSans" pitchFamily="34" charset="-122"/>
                <a:cs typeface="MiSans" pitchFamily="34" charset="-120"/>
              </a:rPr>
              <a:t> 保护企业在Hadoop生态的投资</a:t>
            </a:r>
            <a:endParaRPr lang="en-US" sz="1600" dirty="0"/>
          </a:p>
        </p:txBody>
      </p:sp>
      <p:sp>
        <p:nvSpPr>
          <p:cNvPr id="18" name="Text 16"/>
          <p:cNvSpPr/>
          <p:nvPr/>
        </p:nvSpPr>
        <p:spPr>
          <a:xfrm>
            <a:off x="784929" y="4834710"/>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运维经验:</a:t>
            </a:r>
            <a:r>
              <a:rPr lang="en-US" sz="1254" dirty="0">
                <a:solidFill>
                  <a:srgbClr val="E0E2E4">
                    <a:alpha val="80000"/>
                  </a:srgbClr>
                </a:solidFill>
                <a:latin typeface="MiSans" pitchFamily="34" charset="0"/>
                <a:ea typeface="MiSans" pitchFamily="34" charset="-122"/>
                <a:cs typeface="MiSans" pitchFamily="34" charset="-120"/>
              </a:rPr>
              <a:t> 传统企业的Hadoop运维团队和经验</a:t>
            </a:r>
            <a:endParaRPr lang="en-US" sz="1600" dirty="0"/>
          </a:p>
        </p:txBody>
      </p:sp>
      <p:sp>
        <p:nvSpPr>
          <p:cNvPr id="19" name="Text 17"/>
          <p:cNvSpPr/>
          <p:nvPr/>
        </p:nvSpPr>
        <p:spPr>
          <a:xfrm>
            <a:off x="784929" y="5107728"/>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稳定性:</a:t>
            </a:r>
            <a:r>
              <a:rPr lang="en-US" sz="1254" dirty="0">
                <a:solidFill>
                  <a:srgbClr val="E0E2E4">
                    <a:alpha val="80000"/>
                  </a:srgbClr>
                </a:solidFill>
                <a:latin typeface="MiSans" pitchFamily="34" charset="0"/>
                <a:ea typeface="MiSans" pitchFamily="34" charset="-122"/>
                <a:cs typeface="MiSans" pitchFamily="34" charset="-120"/>
              </a:rPr>
              <a:t> 经过多年生产验证,成熟稳定</a:t>
            </a:r>
            <a:endParaRPr lang="en-US" sz="1600" dirty="0"/>
          </a:p>
        </p:txBody>
      </p:sp>
      <p:sp>
        <p:nvSpPr>
          <p:cNvPr id="20" name="Shape 18"/>
          <p:cNvSpPr/>
          <p:nvPr/>
        </p:nvSpPr>
        <p:spPr>
          <a:xfrm>
            <a:off x="648420" y="5562760"/>
            <a:ext cx="7200873" cy="1456101"/>
          </a:xfrm>
          <a:custGeom>
            <a:avLst/>
            <a:gdLst/>
            <a:ahLst/>
            <a:cxnLst/>
            <a:rect l="l" t="t" r="r" b="b"/>
            <a:pathLst>
              <a:path w="7200873" h="1456101">
                <a:moveTo>
                  <a:pt x="91006" y="0"/>
                </a:moveTo>
                <a:lnTo>
                  <a:pt x="7109867" y="0"/>
                </a:lnTo>
                <a:cubicBezTo>
                  <a:pt x="7160128" y="0"/>
                  <a:pt x="7200873" y="40745"/>
                  <a:pt x="7200873" y="91006"/>
                </a:cubicBezTo>
                <a:lnTo>
                  <a:pt x="7200873" y="1365094"/>
                </a:lnTo>
                <a:cubicBezTo>
                  <a:pt x="7200873" y="1415356"/>
                  <a:pt x="7160128" y="1456101"/>
                  <a:pt x="7109867" y="1456101"/>
                </a:cubicBezTo>
                <a:lnTo>
                  <a:pt x="91006" y="1456101"/>
                </a:lnTo>
                <a:cubicBezTo>
                  <a:pt x="40745" y="1456101"/>
                  <a:pt x="0" y="1415356"/>
                  <a:pt x="0" y="1365094"/>
                </a:cubicBezTo>
                <a:lnTo>
                  <a:pt x="0" y="91006"/>
                </a:lnTo>
                <a:cubicBezTo>
                  <a:pt x="0" y="40745"/>
                  <a:pt x="40745" y="0"/>
                  <a:pt x="91006" y="0"/>
                </a:cubicBezTo>
                <a:close/>
              </a:path>
            </a:pathLst>
          </a:custGeom>
          <a:solidFill>
            <a:srgbClr val="1A1D21">
              <a:alpha val="50196"/>
            </a:srgbClr>
          </a:solidFill>
          <a:ln/>
        </p:spPr>
        <p:txBody>
          <a:bodyPr/>
          <a:lstStyle/>
          <a:p>
            <a:endParaRPr lang="zh-CN" altLang="en-US"/>
          </a:p>
        </p:txBody>
      </p:sp>
      <p:sp>
        <p:nvSpPr>
          <p:cNvPr id="21" name="Text 19"/>
          <p:cNvSpPr/>
          <p:nvPr/>
        </p:nvSpPr>
        <p:spPr>
          <a:xfrm>
            <a:off x="784929" y="5699269"/>
            <a:ext cx="7030237" cy="318522"/>
          </a:xfrm>
          <a:prstGeom prst="rect">
            <a:avLst/>
          </a:prstGeom>
          <a:noFill/>
          <a:ln/>
        </p:spPr>
        <p:txBody>
          <a:bodyPr wrap="square" lIns="0" tIns="0" rIns="0" bIns="0" rtlCol="0" anchor="ctr"/>
          <a:lstStyle/>
          <a:p>
            <a:pPr>
              <a:lnSpc>
                <a:spcPct val="130000"/>
              </a:lnSpc>
            </a:pPr>
            <a:r>
              <a:rPr lang="en-US" sz="1612" b="1" dirty="0">
                <a:solidFill>
                  <a:srgbClr val="B38B59"/>
                </a:solidFill>
                <a:latin typeface="MiSans" pitchFamily="34" charset="0"/>
                <a:ea typeface="MiSans" pitchFamily="34" charset="-122"/>
                <a:cs typeface="MiSans" pitchFamily="34" charset="-120"/>
              </a:rPr>
              <a:t>技术演进</a:t>
            </a:r>
            <a:endParaRPr lang="en-US" sz="1600" dirty="0"/>
          </a:p>
        </p:txBody>
      </p:sp>
      <p:sp>
        <p:nvSpPr>
          <p:cNvPr id="22" name="Text 20"/>
          <p:cNvSpPr/>
          <p:nvPr/>
        </p:nvSpPr>
        <p:spPr>
          <a:xfrm>
            <a:off x="784929" y="6108798"/>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云原生支持:</a:t>
            </a:r>
            <a:r>
              <a:rPr lang="en-US" sz="1254" dirty="0">
                <a:solidFill>
                  <a:srgbClr val="E0E2E4">
                    <a:alpha val="80000"/>
                  </a:srgbClr>
                </a:solidFill>
                <a:latin typeface="MiSans" pitchFamily="34" charset="0"/>
                <a:ea typeface="MiSans" pitchFamily="34" charset="-122"/>
                <a:cs typeface="MiSans" pitchFamily="34" charset="-120"/>
              </a:rPr>
              <a:t> YARN on Kubernetes等融合方案</a:t>
            </a:r>
            <a:endParaRPr lang="en-US" sz="1600" dirty="0"/>
          </a:p>
        </p:txBody>
      </p:sp>
      <p:sp>
        <p:nvSpPr>
          <p:cNvPr id="23" name="Text 21"/>
          <p:cNvSpPr/>
          <p:nvPr/>
        </p:nvSpPr>
        <p:spPr>
          <a:xfrm>
            <a:off x="784929" y="6381817"/>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容器化:</a:t>
            </a:r>
            <a:r>
              <a:rPr lang="en-US" sz="1254" dirty="0">
                <a:solidFill>
                  <a:srgbClr val="E0E2E4">
                    <a:alpha val="80000"/>
                  </a:srgbClr>
                </a:solidFill>
                <a:latin typeface="MiSans" pitchFamily="34" charset="0"/>
                <a:ea typeface="MiSans" pitchFamily="34" charset="-122"/>
                <a:cs typeface="MiSans" pitchFamily="34" charset="-120"/>
              </a:rPr>
              <a:t> Docker集成增强隔离能力</a:t>
            </a:r>
            <a:endParaRPr lang="en-US" sz="1600" dirty="0"/>
          </a:p>
        </p:txBody>
      </p:sp>
      <p:sp>
        <p:nvSpPr>
          <p:cNvPr id="24" name="Text 22"/>
          <p:cNvSpPr/>
          <p:nvPr/>
        </p:nvSpPr>
        <p:spPr>
          <a:xfrm>
            <a:off x="784929" y="6654836"/>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AI/ML支持:</a:t>
            </a:r>
            <a:r>
              <a:rPr lang="en-US" sz="1254" dirty="0">
                <a:solidFill>
                  <a:srgbClr val="E0E2E4">
                    <a:alpha val="80000"/>
                  </a:srgbClr>
                </a:solidFill>
                <a:latin typeface="MiSans" pitchFamily="34" charset="0"/>
                <a:ea typeface="MiSans" pitchFamily="34" charset="-122"/>
                <a:cs typeface="MiSans" pitchFamily="34" charset="-120"/>
              </a:rPr>
              <a:t> TensorFlow on YARN等扩展</a:t>
            </a:r>
            <a:endParaRPr lang="en-US" sz="1600" dirty="0"/>
          </a:p>
        </p:txBody>
      </p:sp>
      <p:sp>
        <p:nvSpPr>
          <p:cNvPr id="25" name="Shape 23"/>
          <p:cNvSpPr/>
          <p:nvPr/>
        </p:nvSpPr>
        <p:spPr>
          <a:xfrm>
            <a:off x="8226561" y="1507292"/>
            <a:ext cx="7576274" cy="5896213"/>
          </a:xfrm>
          <a:custGeom>
            <a:avLst/>
            <a:gdLst/>
            <a:ahLst/>
            <a:cxnLst/>
            <a:rect l="l" t="t" r="r" b="b"/>
            <a:pathLst>
              <a:path w="7576274" h="6586581">
                <a:moveTo>
                  <a:pt x="91027" y="0"/>
                </a:moveTo>
                <a:lnTo>
                  <a:pt x="7485248" y="0"/>
                </a:lnTo>
                <a:cubicBezTo>
                  <a:pt x="7535520" y="0"/>
                  <a:pt x="7576274" y="40754"/>
                  <a:pt x="7576274" y="91027"/>
                </a:cubicBezTo>
                <a:lnTo>
                  <a:pt x="7576274" y="6495554"/>
                </a:lnTo>
                <a:cubicBezTo>
                  <a:pt x="7576274" y="6545827"/>
                  <a:pt x="7535520" y="6586581"/>
                  <a:pt x="7485248" y="6586581"/>
                </a:cubicBezTo>
                <a:lnTo>
                  <a:pt x="91027" y="6586581"/>
                </a:lnTo>
                <a:cubicBezTo>
                  <a:pt x="40754" y="6586581"/>
                  <a:pt x="0" y="6545827"/>
                  <a:pt x="0" y="6495554"/>
                </a:cubicBezTo>
                <a:lnTo>
                  <a:pt x="0" y="91027"/>
                </a:lnTo>
                <a:cubicBezTo>
                  <a:pt x="0" y="40788"/>
                  <a:pt x="40788" y="0"/>
                  <a:pt x="91027"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26" name="Shape 24"/>
          <p:cNvSpPr/>
          <p:nvPr/>
        </p:nvSpPr>
        <p:spPr>
          <a:xfrm>
            <a:off x="8431325" y="1740495"/>
            <a:ext cx="307146" cy="273019"/>
          </a:xfrm>
          <a:custGeom>
            <a:avLst/>
            <a:gdLst/>
            <a:ahLst/>
            <a:cxnLst/>
            <a:rect l="l" t="t" r="r" b="b"/>
            <a:pathLst>
              <a:path w="307146" h="273019">
                <a:moveTo>
                  <a:pt x="0" y="179169"/>
                </a:moveTo>
                <a:cubicBezTo>
                  <a:pt x="0" y="221561"/>
                  <a:pt x="34394" y="255955"/>
                  <a:pt x="76787" y="255955"/>
                </a:cubicBezTo>
                <a:lnTo>
                  <a:pt x="238892" y="255955"/>
                </a:lnTo>
                <a:cubicBezTo>
                  <a:pt x="276592" y="255955"/>
                  <a:pt x="307146" y="225401"/>
                  <a:pt x="307146" y="187700"/>
                </a:cubicBezTo>
                <a:cubicBezTo>
                  <a:pt x="307146" y="160185"/>
                  <a:pt x="290882" y="136456"/>
                  <a:pt x="267420" y="125685"/>
                </a:cubicBezTo>
                <a:cubicBezTo>
                  <a:pt x="270993" y="118699"/>
                  <a:pt x="273019" y="110754"/>
                  <a:pt x="273019" y="102382"/>
                </a:cubicBezTo>
                <a:cubicBezTo>
                  <a:pt x="273019" y="74120"/>
                  <a:pt x="250090" y="51191"/>
                  <a:pt x="221828" y="51191"/>
                </a:cubicBezTo>
                <a:cubicBezTo>
                  <a:pt x="212390" y="51191"/>
                  <a:pt x="203591" y="53751"/>
                  <a:pt x="196019" y="58176"/>
                </a:cubicBezTo>
                <a:cubicBezTo>
                  <a:pt x="183168" y="33754"/>
                  <a:pt x="157519" y="17064"/>
                  <a:pt x="127978" y="17064"/>
                </a:cubicBezTo>
                <a:cubicBezTo>
                  <a:pt x="85585" y="17064"/>
                  <a:pt x="51191" y="51458"/>
                  <a:pt x="51191" y="93850"/>
                </a:cubicBezTo>
                <a:cubicBezTo>
                  <a:pt x="51191" y="98116"/>
                  <a:pt x="51564" y="102329"/>
                  <a:pt x="52204" y="106381"/>
                </a:cubicBezTo>
                <a:cubicBezTo>
                  <a:pt x="21863" y="116620"/>
                  <a:pt x="0" y="145361"/>
                  <a:pt x="0" y="179169"/>
                </a:cubicBezTo>
                <a:close/>
              </a:path>
            </a:pathLst>
          </a:custGeom>
          <a:solidFill>
            <a:srgbClr val="3C8082"/>
          </a:solidFill>
          <a:ln/>
        </p:spPr>
        <p:txBody>
          <a:bodyPr/>
          <a:lstStyle/>
          <a:p>
            <a:endParaRPr lang="zh-CN" altLang="en-US"/>
          </a:p>
        </p:txBody>
      </p:sp>
      <p:sp>
        <p:nvSpPr>
          <p:cNvPr id="27" name="Text 25"/>
          <p:cNvSpPr/>
          <p:nvPr/>
        </p:nvSpPr>
        <p:spPr>
          <a:xfrm>
            <a:off x="8755535" y="1694992"/>
            <a:ext cx="6996109" cy="364025"/>
          </a:xfrm>
          <a:prstGeom prst="rect">
            <a:avLst/>
          </a:prstGeom>
          <a:noFill/>
          <a:ln/>
        </p:spPr>
        <p:txBody>
          <a:bodyPr wrap="square" lIns="0" tIns="0" rIns="0" bIns="0" rtlCol="0" anchor="ctr"/>
          <a:lstStyle/>
          <a:p>
            <a:pPr>
              <a:lnSpc>
                <a:spcPct val="110000"/>
              </a:lnSpc>
            </a:pPr>
            <a:r>
              <a:rPr lang="en-US" sz="2150" b="1" dirty="0">
                <a:solidFill>
                  <a:srgbClr val="E0E2E4"/>
                </a:solidFill>
                <a:latin typeface="MiSans" pitchFamily="34" charset="0"/>
                <a:ea typeface="MiSans" pitchFamily="34" charset="-122"/>
                <a:cs typeface="MiSans" pitchFamily="34" charset="-120"/>
              </a:rPr>
              <a:t>Kubernetes云原生生态</a:t>
            </a:r>
            <a:endParaRPr lang="en-US" sz="1600" dirty="0"/>
          </a:p>
        </p:txBody>
      </p:sp>
      <p:sp>
        <p:nvSpPr>
          <p:cNvPr id="28" name="Shape 26"/>
          <p:cNvSpPr/>
          <p:nvPr/>
        </p:nvSpPr>
        <p:spPr>
          <a:xfrm>
            <a:off x="8414261" y="2195527"/>
            <a:ext cx="7200873" cy="1729120"/>
          </a:xfrm>
          <a:custGeom>
            <a:avLst/>
            <a:gdLst/>
            <a:ahLst/>
            <a:cxnLst/>
            <a:rect l="l" t="t" r="r" b="b"/>
            <a:pathLst>
              <a:path w="7200873" h="1729120">
                <a:moveTo>
                  <a:pt x="91004" y="0"/>
                </a:moveTo>
                <a:lnTo>
                  <a:pt x="7109870" y="0"/>
                </a:lnTo>
                <a:cubicBezTo>
                  <a:pt x="7160130" y="0"/>
                  <a:pt x="7200873" y="40744"/>
                  <a:pt x="7200873" y="91004"/>
                </a:cubicBezTo>
                <a:lnTo>
                  <a:pt x="7200873" y="1638116"/>
                </a:lnTo>
                <a:cubicBezTo>
                  <a:pt x="7200873" y="1688376"/>
                  <a:pt x="7160130" y="1729120"/>
                  <a:pt x="7109870" y="1729120"/>
                </a:cubicBezTo>
                <a:lnTo>
                  <a:pt x="91004" y="1729120"/>
                </a:lnTo>
                <a:cubicBezTo>
                  <a:pt x="40744" y="1729120"/>
                  <a:pt x="0" y="1688376"/>
                  <a:pt x="0" y="1638116"/>
                </a:cubicBezTo>
                <a:lnTo>
                  <a:pt x="0" y="91004"/>
                </a:lnTo>
                <a:cubicBezTo>
                  <a:pt x="0" y="40744"/>
                  <a:pt x="40744" y="0"/>
                  <a:pt x="91004" y="0"/>
                </a:cubicBezTo>
                <a:close/>
              </a:path>
            </a:pathLst>
          </a:custGeom>
          <a:solidFill>
            <a:srgbClr val="1A1D21">
              <a:alpha val="50196"/>
            </a:srgbClr>
          </a:solidFill>
          <a:ln/>
        </p:spPr>
        <p:txBody>
          <a:bodyPr/>
          <a:lstStyle/>
          <a:p>
            <a:endParaRPr lang="zh-CN" altLang="en-US"/>
          </a:p>
        </p:txBody>
      </p:sp>
      <p:sp>
        <p:nvSpPr>
          <p:cNvPr id="29" name="Text 27"/>
          <p:cNvSpPr/>
          <p:nvPr/>
        </p:nvSpPr>
        <p:spPr>
          <a:xfrm>
            <a:off x="8550770" y="2332036"/>
            <a:ext cx="7030237" cy="318522"/>
          </a:xfrm>
          <a:prstGeom prst="rect">
            <a:avLst/>
          </a:prstGeom>
          <a:noFill/>
          <a:ln/>
        </p:spPr>
        <p:txBody>
          <a:bodyPr wrap="square" lIns="0" tIns="0" rIns="0" bIns="0" rtlCol="0" anchor="ctr"/>
          <a:lstStyle/>
          <a:p>
            <a:pPr>
              <a:lnSpc>
                <a:spcPct val="130000"/>
              </a:lnSpc>
            </a:pPr>
            <a:r>
              <a:rPr lang="en-US" sz="1612" b="1" dirty="0">
                <a:solidFill>
                  <a:srgbClr val="3C8082"/>
                </a:solidFill>
                <a:latin typeface="MiSans" pitchFamily="34" charset="0"/>
                <a:ea typeface="MiSans" pitchFamily="34" charset="-122"/>
                <a:cs typeface="MiSans" pitchFamily="34" charset="-120"/>
              </a:rPr>
              <a:t>云原生生态集成</a:t>
            </a:r>
            <a:endParaRPr lang="en-US" sz="1600" dirty="0"/>
          </a:p>
        </p:txBody>
      </p:sp>
      <p:sp>
        <p:nvSpPr>
          <p:cNvPr id="30" name="Text 28"/>
          <p:cNvSpPr/>
          <p:nvPr/>
        </p:nvSpPr>
        <p:spPr>
          <a:xfrm>
            <a:off x="8550770" y="2741565"/>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服务网格:</a:t>
            </a:r>
            <a:r>
              <a:rPr lang="en-US" sz="1254" dirty="0">
                <a:solidFill>
                  <a:srgbClr val="E0E2E4">
                    <a:alpha val="80000"/>
                  </a:srgbClr>
                </a:solidFill>
                <a:latin typeface="MiSans" pitchFamily="34" charset="0"/>
                <a:ea typeface="MiSans" pitchFamily="34" charset="-122"/>
                <a:cs typeface="MiSans" pitchFamily="34" charset="-120"/>
              </a:rPr>
              <a:t> Istio/Linkerd提供服务间通信、安全、可观测性</a:t>
            </a:r>
            <a:endParaRPr lang="en-US" sz="1600" dirty="0"/>
          </a:p>
        </p:txBody>
      </p:sp>
      <p:sp>
        <p:nvSpPr>
          <p:cNvPr id="31" name="Text 29"/>
          <p:cNvSpPr/>
          <p:nvPr/>
        </p:nvSpPr>
        <p:spPr>
          <a:xfrm>
            <a:off x="8550770" y="3014584"/>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监控日志:</a:t>
            </a:r>
            <a:r>
              <a:rPr lang="en-US" sz="1254" dirty="0">
                <a:solidFill>
                  <a:srgbClr val="E0E2E4">
                    <a:alpha val="80000"/>
                  </a:srgbClr>
                </a:solidFill>
                <a:latin typeface="MiSans" pitchFamily="34" charset="0"/>
                <a:ea typeface="MiSans" pitchFamily="34" charset="-122"/>
                <a:cs typeface="MiSans" pitchFamily="34" charset="-120"/>
              </a:rPr>
              <a:t> Prometheus/Grafana/ELK完整可观测性方案</a:t>
            </a:r>
            <a:endParaRPr lang="en-US" sz="1600" dirty="0"/>
          </a:p>
        </p:txBody>
      </p:sp>
      <p:sp>
        <p:nvSpPr>
          <p:cNvPr id="32" name="Text 30"/>
          <p:cNvSpPr/>
          <p:nvPr/>
        </p:nvSpPr>
        <p:spPr>
          <a:xfrm>
            <a:off x="8550770" y="3287603"/>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CI/CD:</a:t>
            </a:r>
            <a:r>
              <a:rPr lang="en-US" sz="1254" dirty="0">
                <a:solidFill>
                  <a:srgbClr val="E0E2E4">
                    <a:alpha val="80000"/>
                  </a:srgbClr>
                </a:solidFill>
                <a:latin typeface="MiSans" pitchFamily="34" charset="0"/>
                <a:ea typeface="MiSans" pitchFamily="34" charset="-122"/>
                <a:cs typeface="MiSans" pitchFamily="34" charset="-120"/>
              </a:rPr>
              <a:t> Jenkins/GitLab CI/ArgoCD等DevOps工具链</a:t>
            </a:r>
            <a:endParaRPr lang="en-US" sz="1600" dirty="0"/>
          </a:p>
        </p:txBody>
      </p:sp>
      <p:sp>
        <p:nvSpPr>
          <p:cNvPr id="33" name="Text 31"/>
          <p:cNvSpPr/>
          <p:nvPr/>
        </p:nvSpPr>
        <p:spPr>
          <a:xfrm>
            <a:off x="8550770" y="3560621"/>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多云混合云:</a:t>
            </a:r>
            <a:r>
              <a:rPr lang="en-US" sz="1254" dirty="0">
                <a:solidFill>
                  <a:srgbClr val="E0E2E4">
                    <a:alpha val="80000"/>
                  </a:srgbClr>
                </a:solidFill>
                <a:latin typeface="MiSans" pitchFamily="34" charset="0"/>
                <a:ea typeface="MiSans" pitchFamily="34" charset="-122"/>
                <a:cs typeface="MiSans" pitchFamily="34" charset="-120"/>
              </a:rPr>
              <a:t> 支持跨云和混合云部署,避免厂商锁定</a:t>
            </a:r>
            <a:endParaRPr lang="en-US" sz="1600" dirty="0"/>
          </a:p>
        </p:txBody>
      </p:sp>
      <p:sp>
        <p:nvSpPr>
          <p:cNvPr id="34" name="Shape 32"/>
          <p:cNvSpPr/>
          <p:nvPr/>
        </p:nvSpPr>
        <p:spPr>
          <a:xfrm>
            <a:off x="8414261" y="4015653"/>
            <a:ext cx="7200873" cy="1729120"/>
          </a:xfrm>
          <a:custGeom>
            <a:avLst/>
            <a:gdLst/>
            <a:ahLst/>
            <a:cxnLst/>
            <a:rect l="l" t="t" r="r" b="b"/>
            <a:pathLst>
              <a:path w="7200873" h="1729120">
                <a:moveTo>
                  <a:pt x="91004" y="0"/>
                </a:moveTo>
                <a:lnTo>
                  <a:pt x="7109870" y="0"/>
                </a:lnTo>
                <a:cubicBezTo>
                  <a:pt x="7160130" y="0"/>
                  <a:pt x="7200873" y="40744"/>
                  <a:pt x="7200873" y="91004"/>
                </a:cubicBezTo>
                <a:lnTo>
                  <a:pt x="7200873" y="1638116"/>
                </a:lnTo>
                <a:cubicBezTo>
                  <a:pt x="7200873" y="1688376"/>
                  <a:pt x="7160130" y="1729120"/>
                  <a:pt x="7109870" y="1729120"/>
                </a:cubicBezTo>
                <a:lnTo>
                  <a:pt x="91004" y="1729120"/>
                </a:lnTo>
                <a:cubicBezTo>
                  <a:pt x="40744" y="1729120"/>
                  <a:pt x="0" y="1688376"/>
                  <a:pt x="0" y="1638116"/>
                </a:cubicBezTo>
                <a:lnTo>
                  <a:pt x="0" y="91004"/>
                </a:lnTo>
                <a:cubicBezTo>
                  <a:pt x="0" y="40744"/>
                  <a:pt x="40744" y="0"/>
                  <a:pt x="91004" y="0"/>
                </a:cubicBezTo>
                <a:close/>
              </a:path>
            </a:pathLst>
          </a:custGeom>
          <a:solidFill>
            <a:srgbClr val="1A1D21">
              <a:alpha val="50196"/>
            </a:srgbClr>
          </a:solidFill>
          <a:ln/>
        </p:spPr>
        <p:txBody>
          <a:bodyPr/>
          <a:lstStyle/>
          <a:p>
            <a:endParaRPr lang="zh-CN" altLang="en-US"/>
          </a:p>
        </p:txBody>
      </p:sp>
      <p:sp>
        <p:nvSpPr>
          <p:cNvPr id="35" name="Text 33"/>
          <p:cNvSpPr/>
          <p:nvPr/>
        </p:nvSpPr>
        <p:spPr>
          <a:xfrm>
            <a:off x="8550770" y="4152162"/>
            <a:ext cx="7030237" cy="318522"/>
          </a:xfrm>
          <a:prstGeom prst="rect">
            <a:avLst/>
          </a:prstGeom>
          <a:noFill/>
          <a:ln/>
        </p:spPr>
        <p:txBody>
          <a:bodyPr wrap="square" lIns="0" tIns="0" rIns="0" bIns="0" rtlCol="0" anchor="ctr"/>
          <a:lstStyle/>
          <a:p>
            <a:pPr>
              <a:lnSpc>
                <a:spcPct val="130000"/>
              </a:lnSpc>
            </a:pPr>
            <a:r>
              <a:rPr lang="en-US" sz="1612" b="1" dirty="0">
                <a:solidFill>
                  <a:srgbClr val="3C8082"/>
                </a:solidFill>
                <a:latin typeface="MiSans" pitchFamily="34" charset="0"/>
                <a:ea typeface="MiSans" pitchFamily="34" charset="-122"/>
                <a:cs typeface="MiSans" pitchFamily="34" charset="-120"/>
              </a:rPr>
              <a:t>技术融合趋势</a:t>
            </a:r>
            <a:endParaRPr lang="en-US" sz="1600" dirty="0"/>
          </a:p>
        </p:txBody>
      </p:sp>
      <p:sp>
        <p:nvSpPr>
          <p:cNvPr id="36" name="Text 34"/>
          <p:cNvSpPr/>
          <p:nvPr/>
        </p:nvSpPr>
        <p:spPr>
          <a:xfrm>
            <a:off x="8550770" y="4561691"/>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Spark on K8s:</a:t>
            </a:r>
            <a:r>
              <a:rPr lang="en-US" sz="1254" dirty="0">
                <a:solidFill>
                  <a:srgbClr val="E0E2E4">
                    <a:alpha val="80000"/>
                  </a:srgbClr>
                </a:solidFill>
                <a:latin typeface="MiSans" pitchFamily="34" charset="0"/>
                <a:ea typeface="MiSans" pitchFamily="34" charset="-122"/>
                <a:cs typeface="MiSans" pitchFamily="34" charset="-120"/>
              </a:rPr>
              <a:t> 大数据框架拥抱Kubernetes</a:t>
            </a:r>
            <a:endParaRPr lang="en-US" sz="1600" dirty="0"/>
          </a:p>
        </p:txBody>
      </p:sp>
      <p:sp>
        <p:nvSpPr>
          <p:cNvPr id="37" name="Text 35"/>
          <p:cNvSpPr/>
          <p:nvPr/>
        </p:nvSpPr>
        <p:spPr>
          <a:xfrm>
            <a:off x="8550770" y="4834710"/>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Operator模式:</a:t>
            </a:r>
            <a:r>
              <a:rPr lang="en-US" sz="1254" dirty="0">
                <a:solidFill>
                  <a:srgbClr val="E0E2E4">
                    <a:alpha val="80000"/>
                  </a:srgbClr>
                </a:solidFill>
                <a:latin typeface="MiSans" pitchFamily="34" charset="0"/>
                <a:ea typeface="MiSans" pitchFamily="34" charset="-122"/>
                <a:cs typeface="MiSans" pitchFamily="34" charset="-120"/>
              </a:rPr>
              <a:t> 有状态应用管理标准化</a:t>
            </a:r>
            <a:endParaRPr lang="en-US" sz="1600" dirty="0"/>
          </a:p>
        </p:txBody>
      </p:sp>
      <p:sp>
        <p:nvSpPr>
          <p:cNvPr id="38" name="Text 36"/>
          <p:cNvSpPr/>
          <p:nvPr/>
        </p:nvSpPr>
        <p:spPr>
          <a:xfrm>
            <a:off x="8550770" y="5107728"/>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Serverless:</a:t>
            </a:r>
            <a:r>
              <a:rPr lang="en-US" sz="1254" dirty="0">
                <a:solidFill>
                  <a:srgbClr val="E0E2E4">
                    <a:alpha val="80000"/>
                  </a:srgbClr>
                </a:solidFill>
                <a:latin typeface="MiSans" pitchFamily="34" charset="0"/>
                <a:ea typeface="MiSans" pitchFamily="34" charset="-122"/>
                <a:cs typeface="MiSans" pitchFamily="34" charset="-120"/>
              </a:rPr>
              <a:t> Knative等无服务器计算支持</a:t>
            </a:r>
            <a:endParaRPr lang="en-US" sz="1600" dirty="0"/>
          </a:p>
        </p:txBody>
      </p:sp>
      <p:sp>
        <p:nvSpPr>
          <p:cNvPr id="39" name="Text 37"/>
          <p:cNvSpPr/>
          <p:nvPr/>
        </p:nvSpPr>
        <p:spPr>
          <a:xfrm>
            <a:off x="8550770" y="5380747"/>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边缘计算:</a:t>
            </a:r>
            <a:r>
              <a:rPr lang="en-US" sz="1254" dirty="0">
                <a:solidFill>
                  <a:srgbClr val="E0E2E4">
                    <a:alpha val="80000"/>
                  </a:srgbClr>
                </a:solidFill>
                <a:latin typeface="MiSans" pitchFamily="34" charset="0"/>
                <a:ea typeface="MiSans" pitchFamily="34" charset="-122"/>
                <a:cs typeface="MiSans" pitchFamily="34" charset="-120"/>
              </a:rPr>
              <a:t> KubeEdge等边缘计算扩展</a:t>
            </a:r>
            <a:endParaRPr lang="en-US" sz="1600" dirty="0"/>
          </a:p>
        </p:txBody>
      </p:sp>
      <p:sp>
        <p:nvSpPr>
          <p:cNvPr id="40" name="Shape 38"/>
          <p:cNvSpPr/>
          <p:nvPr/>
        </p:nvSpPr>
        <p:spPr>
          <a:xfrm>
            <a:off x="8414261" y="5835779"/>
            <a:ext cx="7200873" cy="1456101"/>
          </a:xfrm>
          <a:custGeom>
            <a:avLst/>
            <a:gdLst/>
            <a:ahLst/>
            <a:cxnLst/>
            <a:rect l="l" t="t" r="r" b="b"/>
            <a:pathLst>
              <a:path w="7200873" h="1456101">
                <a:moveTo>
                  <a:pt x="91006" y="0"/>
                </a:moveTo>
                <a:lnTo>
                  <a:pt x="7109867" y="0"/>
                </a:lnTo>
                <a:cubicBezTo>
                  <a:pt x="7160128" y="0"/>
                  <a:pt x="7200873" y="40745"/>
                  <a:pt x="7200873" y="91006"/>
                </a:cubicBezTo>
                <a:lnTo>
                  <a:pt x="7200873" y="1365094"/>
                </a:lnTo>
                <a:cubicBezTo>
                  <a:pt x="7200873" y="1415356"/>
                  <a:pt x="7160128" y="1456101"/>
                  <a:pt x="7109867" y="1456101"/>
                </a:cubicBezTo>
                <a:lnTo>
                  <a:pt x="91006" y="1456101"/>
                </a:lnTo>
                <a:cubicBezTo>
                  <a:pt x="40745" y="1456101"/>
                  <a:pt x="0" y="1415356"/>
                  <a:pt x="0" y="1365094"/>
                </a:cubicBezTo>
                <a:lnTo>
                  <a:pt x="0" y="91006"/>
                </a:lnTo>
                <a:cubicBezTo>
                  <a:pt x="0" y="40745"/>
                  <a:pt x="40745" y="0"/>
                  <a:pt x="91006" y="0"/>
                </a:cubicBezTo>
                <a:close/>
              </a:path>
            </a:pathLst>
          </a:custGeom>
          <a:solidFill>
            <a:srgbClr val="1A1D21">
              <a:alpha val="50196"/>
            </a:srgbClr>
          </a:solidFill>
          <a:ln/>
        </p:spPr>
        <p:txBody>
          <a:bodyPr/>
          <a:lstStyle/>
          <a:p>
            <a:endParaRPr lang="zh-CN" altLang="en-US"/>
          </a:p>
        </p:txBody>
      </p:sp>
      <p:sp>
        <p:nvSpPr>
          <p:cNvPr id="41" name="Text 39"/>
          <p:cNvSpPr/>
          <p:nvPr/>
        </p:nvSpPr>
        <p:spPr>
          <a:xfrm>
            <a:off x="8550770" y="5972288"/>
            <a:ext cx="7030237" cy="318522"/>
          </a:xfrm>
          <a:prstGeom prst="rect">
            <a:avLst/>
          </a:prstGeom>
          <a:noFill/>
          <a:ln/>
        </p:spPr>
        <p:txBody>
          <a:bodyPr wrap="square" lIns="0" tIns="0" rIns="0" bIns="0" rtlCol="0" anchor="ctr"/>
          <a:lstStyle/>
          <a:p>
            <a:pPr>
              <a:lnSpc>
                <a:spcPct val="130000"/>
              </a:lnSpc>
            </a:pPr>
            <a:r>
              <a:rPr lang="en-US" sz="1612" b="1" dirty="0">
                <a:solidFill>
                  <a:srgbClr val="3C8082"/>
                </a:solidFill>
                <a:latin typeface="MiSans" pitchFamily="34" charset="0"/>
                <a:ea typeface="MiSans" pitchFamily="34" charset="-122"/>
                <a:cs typeface="MiSans" pitchFamily="34" charset="-120"/>
              </a:rPr>
              <a:t>生态系统优势</a:t>
            </a:r>
            <a:endParaRPr lang="en-US" sz="1600" dirty="0"/>
          </a:p>
        </p:txBody>
      </p:sp>
      <p:sp>
        <p:nvSpPr>
          <p:cNvPr id="42" name="Text 40"/>
          <p:cNvSpPr/>
          <p:nvPr/>
        </p:nvSpPr>
        <p:spPr>
          <a:xfrm>
            <a:off x="8550770" y="6381817"/>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CNCF支持:</a:t>
            </a:r>
            <a:r>
              <a:rPr lang="en-US" sz="1254" dirty="0">
                <a:solidFill>
                  <a:srgbClr val="E0E2E4">
                    <a:alpha val="80000"/>
                  </a:srgbClr>
                </a:solidFill>
                <a:latin typeface="MiSans" pitchFamily="34" charset="0"/>
                <a:ea typeface="MiSans" pitchFamily="34" charset="-122"/>
                <a:cs typeface="MiSans" pitchFamily="34" charset="-120"/>
              </a:rPr>
              <a:t> 强大的社区和基金会支持</a:t>
            </a:r>
            <a:endParaRPr lang="en-US" sz="1600" dirty="0"/>
          </a:p>
        </p:txBody>
      </p:sp>
      <p:sp>
        <p:nvSpPr>
          <p:cNvPr id="43" name="Text 41"/>
          <p:cNvSpPr/>
          <p:nvPr/>
        </p:nvSpPr>
        <p:spPr>
          <a:xfrm>
            <a:off x="8550770" y="6654836"/>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快速迭代:</a:t>
            </a:r>
            <a:r>
              <a:rPr lang="en-US" sz="1254" dirty="0">
                <a:solidFill>
                  <a:srgbClr val="E0E2E4">
                    <a:alpha val="80000"/>
                  </a:srgbClr>
                </a:solidFill>
                <a:latin typeface="MiSans" pitchFamily="34" charset="0"/>
                <a:ea typeface="MiSans" pitchFamily="34" charset="-122"/>
                <a:cs typeface="MiSans" pitchFamily="34" charset="-120"/>
              </a:rPr>
              <a:t> 活跃的开源社区,快速创新</a:t>
            </a:r>
            <a:endParaRPr lang="en-US" sz="1600" dirty="0"/>
          </a:p>
        </p:txBody>
      </p:sp>
      <p:sp>
        <p:nvSpPr>
          <p:cNvPr id="44" name="Text 42"/>
          <p:cNvSpPr/>
          <p:nvPr/>
        </p:nvSpPr>
        <p:spPr>
          <a:xfrm>
            <a:off x="8550770" y="6927854"/>
            <a:ext cx="7007485" cy="227516"/>
          </a:xfrm>
          <a:prstGeom prst="rect">
            <a:avLst/>
          </a:prstGeom>
          <a:noFill/>
          <a:ln/>
        </p:spPr>
        <p:txBody>
          <a:bodyPr wrap="square" lIns="0" tIns="0" rIns="0" bIns="0" rtlCol="0" anchor="ctr"/>
          <a:lstStyle/>
          <a:p>
            <a:pPr>
              <a:lnSpc>
                <a:spcPct val="120000"/>
              </a:lnSpc>
            </a:pPr>
            <a:r>
              <a:rPr lang="en-US" sz="1254" dirty="0">
                <a:solidFill>
                  <a:srgbClr val="E0E2E4">
                    <a:alpha val="80000"/>
                  </a:srgbClr>
                </a:solidFill>
                <a:latin typeface="MiSans" pitchFamily="34" charset="0"/>
                <a:ea typeface="MiSans" pitchFamily="34" charset="-122"/>
                <a:cs typeface="MiSans" pitchFamily="34" charset="-120"/>
              </a:rPr>
              <a:t>• </a:t>
            </a:r>
            <a:r>
              <a:rPr lang="en-US" sz="1254" b="1" dirty="0">
                <a:solidFill>
                  <a:srgbClr val="E0E2E4"/>
                </a:solidFill>
                <a:latin typeface="MiSans" pitchFamily="34" charset="0"/>
                <a:ea typeface="MiSans" pitchFamily="34" charset="-122"/>
                <a:cs typeface="MiSans" pitchFamily="34" charset="-120"/>
              </a:rPr>
              <a:t>标准化:</a:t>
            </a:r>
            <a:r>
              <a:rPr lang="en-US" sz="1254" dirty="0">
                <a:solidFill>
                  <a:srgbClr val="E0E2E4">
                    <a:alpha val="80000"/>
                  </a:srgbClr>
                </a:solidFill>
                <a:latin typeface="MiSans" pitchFamily="34" charset="0"/>
                <a:ea typeface="MiSans" pitchFamily="34" charset="-122"/>
                <a:cs typeface="MiSans" pitchFamily="34" charset="-120"/>
              </a:rPr>
              <a:t> 成为云原生事实标准</a:t>
            </a:r>
            <a:endParaRPr lang="en-US" sz="1600" dirty="0"/>
          </a:p>
        </p:txBody>
      </p:sp>
      <p:sp>
        <p:nvSpPr>
          <p:cNvPr id="45" name="Shape 43"/>
          <p:cNvSpPr/>
          <p:nvPr/>
        </p:nvSpPr>
        <p:spPr>
          <a:xfrm>
            <a:off x="460719" y="7510780"/>
            <a:ext cx="5016722" cy="1512980"/>
          </a:xfrm>
          <a:custGeom>
            <a:avLst/>
            <a:gdLst/>
            <a:ahLst/>
            <a:cxnLst/>
            <a:rect l="l" t="t" r="r" b="b"/>
            <a:pathLst>
              <a:path w="5016722" h="1512980">
                <a:moveTo>
                  <a:pt x="91006" y="0"/>
                </a:moveTo>
                <a:lnTo>
                  <a:pt x="4925716" y="0"/>
                </a:lnTo>
                <a:cubicBezTo>
                  <a:pt x="4975978" y="0"/>
                  <a:pt x="5016722" y="40745"/>
                  <a:pt x="5016722" y="91006"/>
                </a:cubicBezTo>
                <a:lnTo>
                  <a:pt x="5016722" y="1421974"/>
                </a:lnTo>
                <a:cubicBezTo>
                  <a:pt x="5016722" y="1472235"/>
                  <a:pt x="4975978" y="1512980"/>
                  <a:pt x="4925716" y="1512980"/>
                </a:cubicBezTo>
                <a:lnTo>
                  <a:pt x="91006" y="1512980"/>
                </a:lnTo>
                <a:cubicBezTo>
                  <a:pt x="40745" y="1512980"/>
                  <a:pt x="0" y="1472235"/>
                  <a:pt x="0" y="1421974"/>
                </a:cubicBezTo>
                <a:lnTo>
                  <a:pt x="0" y="91006"/>
                </a:lnTo>
                <a:cubicBezTo>
                  <a:pt x="0" y="40778"/>
                  <a:pt x="40778" y="0"/>
                  <a:pt x="91006"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46" name="Text 44"/>
          <p:cNvSpPr/>
          <p:nvPr/>
        </p:nvSpPr>
        <p:spPr>
          <a:xfrm>
            <a:off x="602917" y="7652978"/>
            <a:ext cx="4834710" cy="318522"/>
          </a:xfrm>
          <a:prstGeom prst="rect">
            <a:avLst/>
          </a:prstGeom>
          <a:noFill/>
          <a:ln/>
        </p:spPr>
        <p:txBody>
          <a:bodyPr wrap="square" lIns="0" tIns="0" rIns="0" bIns="0" rtlCol="0" anchor="ctr"/>
          <a:lstStyle/>
          <a:p>
            <a:pPr>
              <a:lnSpc>
                <a:spcPct val="130000"/>
              </a:lnSpc>
            </a:pPr>
            <a:r>
              <a:rPr lang="en-US" sz="1612" b="1" dirty="0">
                <a:solidFill>
                  <a:srgbClr val="E0E2E4"/>
                </a:solidFill>
                <a:latin typeface="MiSans" pitchFamily="34" charset="0"/>
                <a:ea typeface="MiSans" pitchFamily="34" charset="-122"/>
                <a:cs typeface="MiSans" pitchFamily="34" charset="-120"/>
              </a:rPr>
              <a:t>技术选型建议</a:t>
            </a:r>
            <a:endParaRPr lang="en-US" sz="1600" dirty="0"/>
          </a:p>
        </p:txBody>
      </p:sp>
      <p:sp>
        <p:nvSpPr>
          <p:cNvPr id="47" name="Shape 45"/>
          <p:cNvSpPr/>
          <p:nvPr/>
        </p:nvSpPr>
        <p:spPr>
          <a:xfrm>
            <a:off x="635622" y="8108009"/>
            <a:ext cx="139353" cy="159261"/>
          </a:xfrm>
          <a:custGeom>
            <a:avLst/>
            <a:gdLst/>
            <a:ahLst/>
            <a:cxnLst/>
            <a:rect l="l" t="t" r="r" b="b"/>
            <a:pathLst>
              <a:path w="139353" h="159261">
                <a:moveTo>
                  <a:pt x="135247" y="21805"/>
                </a:moveTo>
                <a:cubicBezTo>
                  <a:pt x="139696" y="25040"/>
                  <a:pt x="140691" y="31261"/>
                  <a:pt x="137456" y="35709"/>
                </a:cubicBezTo>
                <a:lnTo>
                  <a:pt x="57825" y="145201"/>
                </a:lnTo>
                <a:cubicBezTo>
                  <a:pt x="56115" y="147565"/>
                  <a:pt x="53471" y="149027"/>
                  <a:pt x="50547" y="149276"/>
                </a:cubicBezTo>
                <a:cubicBezTo>
                  <a:pt x="47623" y="149525"/>
                  <a:pt x="44792" y="148436"/>
                  <a:pt x="42739" y="146383"/>
                </a:cubicBezTo>
                <a:lnTo>
                  <a:pt x="2924" y="106568"/>
                </a:lnTo>
                <a:cubicBezTo>
                  <a:pt x="-964" y="102680"/>
                  <a:pt x="-964" y="96365"/>
                  <a:pt x="2924" y="92477"/>
                </a:cubicBezTo>
                <a:cubicBezTo>
                  <a:pt x="6812" y="88589"/>
                  <a:pt x="13127" y="88589"/>
                  <a:pt x="17015" y="92477"/>
                </a:cubicBezTo>
                <a:lnTo>
                  <a:pt x="48587" y="124049"/>
                </a:lnTo>
                <a:lnTo>
                  <a:pt x="121374" y="23982"/>
                </a:lnTo>
                <a:cubicBezTo>
                  <a:pt x="124609" y="19534"/>
                  <a:pt x="130830" y="18539"/>
                  <a:pt x="135279" y="21774"/>
                </a:cubicBezTo>
                <a:close/>
              </a:path>
            </a:pathLst>
          </a:custGeom>
          <a:solidFill>
            <a:srgbClr val="B38B59"/>
          </a:solidFill>
          <a:ln/>
        </p:spPr>
        <p:txBody>
          <a:bodyPr/>
          <a:lstStyle/>
          <a:p>
            <a:endParaRPr lang="zh-CN" altLang="en-US"/>
          </a:p>
        </p:txBody>
      </p:sp>
      <p:sp>
        <p:nvSpPr>
          <p:cNvPr id="48" name="Text 46"/>
          <p:cNvSpPr/>
          <p:nvPr/>
        </p:nvSpPr>
        <p:spPr>
          <a:xfrm>
            <a:off x="892999" y="8062506"/>
            <a:ext cx="2434418" cy="227516"/>
          </a:xfrm>
          <a:prstGeom prst="rect">
            <a:avLst/>
          </a:prstGeom>
          <a:noFill/>
          <a:ln/>
        </p:spPr>
        <p:txBody>
          <a:bodyPr wrap="square" lIns="0" tIns="0" rIns="0" bIns="0" rtlCol="0" anchor="ctr"/>
          <a:lstStyle/>
          <a:p>
            <a:pPr>
              <a:lnSpc>
                <a:spcPct val="120000"/>
              </a:lnSpc>
            </a:pPr>
            <a:r>
              <a:rPr lang="en-US" sz="1254" b="1" dirty="0">
                <a:solidFill>
                  <a:srgbClr val="E0E2E4"/>
                </a:solidFill>
                <a:latin typeface="MiSans" pitchFamily="34" charset="0"/>
                <a:ea typeface="MiSans" pitchFamily="34" charset="-122"/>
                <a:cs typeface="MiSans" pitchFamily="34" charset="-120"/>
              </a:rPr>
              <a:t>Hadoop生态:</a:t>
            </a:r>
            <a:r>
              <a:rPr lang="en-US" sz="1254" dirty="0">
                <a:solidFill>
                  <a:srgbClr val="E0E2E4">
                    <a:alpha val="80000"/>
                  </a:srgbClr>
                </a:solidFill>
                <a:latin typeface="MiSans" pitchFamily="34" charset="0"/>
                <a:ea typeface="MiSans" pitchFamily="34" charset="-122"/>
                <a:cs typeface="MiSans" pitchFamily="34" charset="-120"/>
              </a:rPr>
              <a:t> 选择YARN保护投资</a:t>
            </a:r>
            <a:endParaRPr lang="en-US" sz="1600" dirty="0"/>
          </a:p>
        </p:txBody>
      </p:sp>
      <p:sp>
        <p:nvSpPr>
          <p:cNvPr id="49" name="Shape 47"/>
          <p:cNvSpPr/>
          <p:nvPr/>
        </p:nvSpPr>
        <p:spPr>
          <a:xfrm>
            <a:off x="635622" y="8403779"/>
            <a:ext cx="139353" cy="159261"/>
          </a:xfrm>
          <a:custGeom>
            <a:avLst/>
            <a:gdLst/>
            <a:ahLst/>
            <a:cxnLst/>
            <a:rect l="l" t="t" r="r" b="b"/>
            <a:pathLst>
              <a:path w="139353" h="159261">
                <a:moveTo>
                  <a:pt x="135247" y="21805"/>
                </a:moveTo>
                <a:cubicBezTo>
                  <a:pt x="139696" y="25040"/>
                  <a:pt x="140691" y="31261"/>
                  <a:pt x="137456" y="35709"/>
                </a:cubicBezTo>
                <a:lnTo>
                  <a:pt x="57825" y="145201"/>
                </a:lnTo>
                <a:cubicBezTo>
                  <a:pt x="56115" y="147565"/>
                  <a:pt x="53471" y="149027"/>
                  <a:pt x="50547" y="149276"/>
                </a:cubicBezTo>
                <a:cubicBezTo>
                  <a:pt x="47623" y="149525"/>
                  <a:pt x="44792" y="148436"/>
                  <a:pt x="42739" y="146383"/>
                </a:cubicBezTo>
                <a:lnTo>
                  <a:pt x="2924" y="106568"/>
                </a:lnTo>
                <a:cubicBezTo>
                  <a:pt x="-964" y="102680"/>
                  <a:pt x="-964" y="96365"/>
                  <a:pt x="2924" y="92477"/>
                </a:cubicBezTo>
                <a:cubicBezTo>
                  <a:pt x="6812" y="88589"/>
                  <a:pt x="13127" y="88589"/>
                  <a:pt x="17015" y="92477"/>
                </a:cubicBezTo>
                <a:lnTo>
                  <a:pt x="48587" y="124049"/>
                </a:lnTo>
                <a:lnTo>
                  <a:pt x="121374" y="23982"/>
                </a:lnTo>
                <a:cubicBezTo>
                  <a:pt x="124609" y="19534"/>
                  <a:pt x="130830" y="18539"/>
                  <a:pt x="135279" y="21774"/>
                </a:cubicBezTo>
                <a:close/>
              </a:path>
            </a:pathLst>
          </a:custGeom>
          <a:solidFill>
            <a:srgbClr val="B38B59"/>
          </a:solidFill>
          <a:ln/>
        </p:spPr>
        <p:txBody>
          <a:bodyPr/>
          <a:lstStyle/>
          <a:p>
            <a:endParaRPr lang="zh-CN" altLang="en-US"/>
          </a:p>
        </p:txBody>
      </p:sp>
      <p:sp>
        <p:nvSpPr>
          <p:cNvPr id="50" name="Text 48"/>
          <p:cNvSpPr/>
          <p:nvPr/>
        </p:nvSpPr>
        <p:spPr>
          <a:xfrm>
            <a:off x="892999" y="8358276"/>
            <a:ext cx="2343412" cy="227516"/>
          </a:xfrm>
          <a:prstGeom prst="rect">
            <a:avLst/>
          </a:prstGeom>
          <a:noFill/>
          <a:ln/>
        </p:spPr>
        <p:txBody>
          <a:bodyPr wrap="square" lIns="0" tIns="0" rIns="0" bIns="0" rtlCol="0" anchor="ctr"/>
          <a:lstStyle/>
          <a:p>
            <a:pPr>
              <a:lnSpc>
                <a:spcPct val="120000"/>
              </a:lnSpc>
            </a:pPr>
            <a:r>
              <a:rPr lang="en-US" sz="1254" b="1" dirty="0">
                <a:solidFill>
                  <a:srgbClr val="E0E2E4"/>
                </a:solidFill>
                <a:latin typeface="MiSans" pitchFamily="34" charset="0"/>
                <a:ea typeface="MiSans" pitchFamily="34" charset="-122"/>
                <a:cs typeface="MiSans" pitchFamily="34" charset="-120"/>
              </a:rPr>
              <a:t>云原生/微服务:</a:t>
            </a:r>
            <a:r>
              <a:rPr lang="en-US" sz="1254" dirty="0">
                <a:solidFill>
                  <a:srgbClr val="E0E2E4">
                    <a:alpha val="80000"/>
                  </a:srgbClr>
                </a:solidFill>
                <a:latin typeface="MiSans" pitchFamily="34" charset="0"/>
                <a:ea typeface="MiSans" pitchFamily="34" charset="-122"/>
                <a:cs typeface="MiSans" pitchFamily="34" charset="-120"/>
              </a:rPr>
              <a:t> 选择Kubernetes</a:t>
            </a:r>
            <a:endParaRPr lang="en-US" sz="1600" dirty="0"/>
          </a:p>
        </p:txBody>
      </p:sp>
      <p:sp>
        <p:nvSpPr>
          <p:cNvPr id="51" name="Shape 49"/>
          <p:cNvSpPr/>
          <p:nvPr/>
        </p:nvSpPr>
        <p:spPr>
          <a:xfrm>
            <a:off x="635622" y="8699550"/>
            <a:ext cx="139353" cy="159261"/>
          </a:xfrm>
          <a:custGeom>
            <a:avLst/>
            <a:gdLst/>
            <a:ahLst/>
            <a:cxnLst/>
            <a:rect l="l" t="t" r="r" b="b"/>
            <a:pathLst>
              <a:path w="139353" h="159261">
                <a:moveTo>
                  <a:pt x="135247" y="21805"/>
                </a:moveTo>
                <a:cubicBezTo>
                  <a:pt x="139696" y="25040"/>
                  <a:pt x="140691" y="31261"/>
                  <a:pt x="137456" y="35709"/>
                </a:cubicBezTo>
                <a:lnTo>
                  <a:pt x="57825" y="145201"/>
                </a:lnTo>
                <a:cubicBezTo>
                  <a:pt x="56115" y="147565"/>
                  <a:pt x="53471" y="149027"/>
                  <a:pt x="50547" y="149276"/>
                </a:cubicBezTo>
                <a:cubicBezTo>
                  <a:pt x="47623" y="149525"/>
                  <a:pt x="44792" y="148436"/>
                  <a:pt x="42739" y="146383"/>
                </a:cubicBezTo>
                <a:lnTo>
                  <a:pt x="2924" y="106568"/>
                </a:lnTo>
                <a:cubicBezTo>
                  <a:pt x="-964" y="102680"/>
                  <a:pt x="-964" y="96365"/>
                  <a:pt x="2924" y="92477"/>
                </a:cubicBezTo>
                <a:cubicBezTo>
                  <a:pt x="6812" y="88589"/>
                  <a:pt x="13127" y="88589"/>
                  <a:pt x="17015" y="92477"/>
                </a:cubicBezTo>
                <a:lnTo>
                  <a:pt x="48587" y="124049"/>
                </a:lnTo>
                <a:lnTo>
                  <a:pt x="121374" y="23982"/>
                </a:lnTo>
                <a:cubicBezTo>
                  <a:pt x="124609" y="19534"/>
                  <a:pt x="130830" y="18539"/>
                  <a:pt x="135279" y="21774"/>
                </a:cubicBezTo>
                <a:close/>
              </a:path>
            </a:pathLst>
          </a:custGeom>
          <a:solidFill>
            <a:srgbClr val="B38B59"/>
          </a:solidFill>
          <a:ln/>
        </p:spPr>
        <p:txBody>
          <a:bodyPr/>
          <a:lstStyle/>
          <a:p>
            <a:endParaRPr lang="zh-CN" altLang="en-US"/>
          </a:p>
        </p:txBody>
      </p:sp>
      <p:sp>
        <p:nvSpPr>
          <p:cNvPr id="52" name="Text 50"/>
          <p:cNvSpPr/>
          <p:nvPr/>
        </p:nvSpPr>
        <p:spPr>
          <a:xfrm>
            <a:off x="892999" y="8654047"/>
            <a:ext cx="2070393" cy="227516"/>
          </a:xfrm>
          <a:prstGeom prst="rect">
            <a:avLst/>
          </a:prstGeom>
          <a:noFill/>
          <a:ln/>
        </p:spPr>
        <p:txBody>
          <a:bodyPr wrap="square" lIns="0" tIns="0" rIns="0" bIns="0" rtlCol="0" anchor="ctr"/>
          <a:lstStyle/>
          <a:p>
            <a:pPr>
              <a:lnSpc>
                <a:spcPct val="120000"/>
              </a:lnSpc>
            </a:pPr>
            <a:r>
              <a:rPr lang="en-US" sz="1254" b="1" dirty="0">
                <a:solidFill>
                  <a:srgbClr val="E0E2E4"/>
                </a:solidFill>
                <a:latin typeface="MiSans" pitchFamily="34" charset="0"/>
                <a:ea typeface="MiSans" pitchFamily="34" charset="-122"/>
                <a:cs typeface="MiSans" pitchFamily="34" charset="-120"/>
              </a:rPr>
              <a:t>混合场景:</a:t>
            </a:r>
            <a:r>
              <a:rPr lang="en-US" sz="1254" dirty="0">
                <a:solidFill>
                  <a:srgbClr val="E0E2E4">
                    <a:alpha val="80000"/>
                  </a:srgbClr>
                </a:solidFill>
                <a:latin typeface="MiSans" pitchFamily="34" charset="0"/>
                <a:ea typeface="MiSans" pitchFamily="34" charset="-122"/>
                <a:cs typeface="MiSans" pitchFamily="34" charset="-120"/>
              </a:rPr>
              <a:t> 采用技术融合方案</a:t>
            </a:r>
            <a:endParaRPr lang="en-US" sz="1600" dirty="0"/>
          </a:p>
        </p:txBody>
      </p:sp>
      <p:sp>
        <p:nvSpPr>
          <p:cNvPr id="53" name="Shape 51"/>
          <p:cNvSpPr/>
          <p:nvPr/>
        </p:nvSpPr>
        <p:spPr>
          <a:xfrm>
            <a:off x="5622749" y="7510780"/>
            <a:ext cx="5016722" cy="1512980"/>
          </a:xfrm>
          <a:custGeom>
            <a:avLst/>
            <a:gdLst/>
            <a:ahLst/>
            <a:cxnLst/>
            <a:rect l="l" t="t" r="r" b="b"/>
            <a:pathLst>
              <a:path w="5016722" h="1512980">
                <a:moveTo>
                  <a:pt x="91006" y="0"/>
                </a:moveTo>
                <a:lnTo>
                  <a:pt x="4925716" y="0"/>
                </a:lnTo>
                <a:cubicBezTo>
                  <a:pt x="4975978" y="0"/>
                  <a:pt x="5016722" y="40745"/>
                  <a:pt x="5016722" y="91006"/>
                </a:cubicBezTo>
                <a:lnTo>
                  <a:pt x="5016722" y="1421974"/>
                </a:lnTo>
                <a:cubicBezTo>
                  <a:pt x="5016722" y="1472235"/>
                  <a:pt x="4975978" y="1512980"/>
                  <a:pt x="4925716" y="1512980"/>
                </a:cubicBezTo>
                <a:lnTo>
                  <a:pt x="91006" y="1512980"/>
                </a:lnTo>
                <a:cubicBezTo>
                  <a:pt x="40745" y="1512980"/>
                  <a:pt x="0" y="1472235"/>
                  <a:pt x="0" y="1421974"/>
                </a:cubicBezTo>
                <a:lnTo>
                  <a:pt x="0" y="91006"/>
                </a:lnTo>
                <a:cubicBezTo>
                  <a:pt x="0" y="40778"/>
                  <a:pt x="40778" y="0"/>
                  <a:pt x="91006"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54" name="Text 52"/>
          <p:cNvSpPr/>
          <p:nvPr/>
        </p:nvSpPr>
        <p:spPr>
          <a:xfrm>
            <a:off x="5764947" y="7652978"/>
            <a:ext cx="4834710" cy="318522"/>
          </a:xfrm>
          <a:prstGeom prst="rect">
            <a:avLst/>
          </a:prstGeom>
          <a:noFill/>
          <a:ln/>
        </p:spPr>
        <p:txBody>
          <a:bodyPr wrap="square" lIns="0" tIns="0" rIns="0" bIns="0" rtlCol="0" anchor="ctr"/>
          <a:lstStyle/>
          <a:p>
            <a:pPr>
              <a:lnSpc>
                <a:spcPct val="130000"/>
              </a:lnSpc>
            </a:pPr>
            <a:r>
              <a:rPr lang="en-US" sz="1612" b="1" dirty="0">
                <a:solidFill>
                  <a:srgbClr val="E0E2E4"/>
                </a:solidFill>
                <a:latin typeface="MiSans" pitchFamily="34" charset="0"/>
                <a:ea typeface="MiSans" pitchFamily="34" charset="-122"/>
                <a:cs typeface="MiSans" pitchFamily="34" charset="-120"/>
              </a:rPr>
              <a:t>融合方案</a:t>
            </a:r>
            <a:endParaRPr lang="en-US" sz="1600" dirty="0"/>
          </a:p>
        </p:txBody>
      </p:sp>
      <p:sp>
        <p:nvSpPr>
          <p:cNvPr id="55" name="Shape 53"/>
          <p:cNvSpPr/>
          <p:nvPr/>
        </p:nvSpPr>
        <p:spPr>
          <a:xfrm>
            <a:off x="5827514" y="8108009"/>
            <a:ext cx="79631" cy="159261"/>
          </a:xfrm>
          <a:custGeom>
            <a:avLst/>
            <a:gdLst/>
            <a:ahLst/>
            <a:cxnLst/>
            <a:rect l="l" t="t" r="r" b="b"/>
            <a:pathLst>
              <a:path w="79631" h="159261">
                <a:moveTo>
                  <a:pt x="76862" y="72601"/>
                </a:moveTo>
                <a:cubicBezTo>
                  <a:pt x="80750" y="76489"/>
                  <a:pt x="80750" y="82803"/>
                  <a:pt x="76862" y="86691"/>
                </a:cubicBezTo>
                <a:lnTo>
                  <a:pt x="27093" y="136461"/>
                </a:lnTo>
                <a:cubicBezTo>
                  <a:pt x="23205" y="140349"/>
                  <a:pt x="16890" y="140349"/>
                  <a:pt x="13002" y="136461"/>
                </a:cubicBezTo>
                <a:cubicBezTo>
                  <a:pt x="9114" y="132572"/>
                  <a:pt x="9114" y="126258"/>
                  <a:pt x="13002" y="122370"/>
                </a:cubicBezTo>
                <a:lnTo>
                  <a:pt x="55741" y="79631"/>
                </a:lnTo>
                <a:lnTo>
                  <a:pt x="13033" y="36891"/>
                </a:lnTo>
                <a:cubicBezTo>
                  <a:pt x="9145" y="33003"/>
                  <a:pt x="9145" y="26689"/>
                  <a:pt x="13033" y="22800"/>
                </a:cubicBezTo>
                <a:cubicBezTo>
                  <a:pt x="16921" y="18912"/>
                  <a:pt x="23236" y="18912"/>
                  <a:pt x="27124" y="22800"/>
                </a:cubicBezTo>
                <a:lnTo>
                  <a:pt x="76893" y="72570"/>
                </a:lnTo>
                <a:close/>
              </a:path>
            </a:pathLst>
          </a:custGeom>
          <a:solidFill>
            <a:srgbClr val="3C8082"/>
          </a:solidFill>
          <a:ln/>
        </p:spPr>
        <p:txBody>
          <a:bodyPr/>
          <a:lstStyle/>
          <a:p>
            <a:endParaRPr lang="zh-CN" altLang="en-US"/>
          </a:p>
        </p:txBody>
      </p:sp>
      <p:sp>
        <p:nvSpPr>
          <p:cNvPr id="56" name="Text 54"/>
          <p:cNvSpPr/>
          <p:nvPr/>
        </p:nvSpPr>
        <p:spPr>
          <a:xfrm>
            <a:off x="6055029" y="8062506"/>
            <a:ext cx="2400291" cy="227516"/>
          </a:xfrm>
          <a:prstGeom prst="rect">
            <a:avLst/>
          </a:prstGeom>
          <a:noFill/>
          <a:ln/>
        </p:spPr>
        <p:txBody>
          <a:bodyPr wrap="square" lIns="0" tIns="0" rIns="0" bIns="0" rtlCol="0" anchor="ctr"/>
          <a:lstStyle/>
          <a:p>
            <a:pPr>
              <a:lnSpc>
                <a:spcPct val="120000"/>
              </a:lnSpc>
            </a:pPr>
            <a:r>
              <a:rPr lang="en-US" sz="1254" b="1" dirty="0">
                <a:solidFill>
                  <a:srgbClr val="E0E2E4"/>
                </a:solidFill>
                <a:latin typeface="MiSans" pitchFamily="34" charset="0"/>
                <a:ea typeface="MiSans" pitchFamily="34" charset="-122"/>
                <a:cs typeface="MiSans" pitchFamily="34" charset="-120"/>
              </a:rPr>
              <a:t>Spark on K8s:</a:t>
            </a:r>
            <a:r>
              <a:rPr lang="en-US" sz="1254" dirty="0">
                <a:solidFill>
                  <a:srgbClr val="E0E2E4">
                    <a:alpha val="80000"/>
                  </a:srgbClr>
                </a:solidFill>
                <a:latin typeface="MiSans" pitchFamily="34" charset="0"/>
                <a:ea typeface="MiSans" pitchFamily="34" charset="-122"/>
                <a:cs typeface="MiSans" pitchFamily="34" charset="-120"/>
              </a:rPr>
              <a:t> 统一资源管理平台</a:t>
            </a:r>
            <a:endParaRPr lang="en-US" sz="1600" dirty="0"/>
          </a:p>
        </p:txBody>
      </p:sp>
      <p:sp>
        <p:nvSpPr>
          <p:cNvPr id="57" name="Shape 55"/>
          <p:cNvSpPr/>
          <p:nvPr/>
        </p:nvSpPr>
        <p:spPr>
          <a:xfrm>
            <a:off x="5827514" y="8403779"/>
            <a:ext cx="79631" cy="159261"/>
          </a:xfrm>
          <a:custGeom>
            <a:avLst/>
            <a:gdLst/>
            <a:ahLst/>
            <a:cxnLst/>
            <a:rect l="l" t="t" r="r" b="b"/>
            <a:pathLst>
              <a:path w="79631" h="159261">
                <a:moveTo>
                  <a:pt x="76862" y="72601"/>
                </a:moveTo>
                <a:cubicBezTo>
                  <a:pt x="80750" y="76489"/>
                  <a:pt x="80750" y="82803"/>
                  <a:pt x="76862" y="86691"/>
                </a:cubicBezTo>
                <a:lnTo>
                  <a:pt x="27093" y="136461"/>
                </a:lnTo>
                <a:cubicBezTo>
                  <a:pt x="23205" y="140349"/>
                  <a:pt x="16890" y="140349"/>
                  <a:pt x="13002" y="136461"/>
                </a:cubicBezTo>
                <a:cubicBezTo>
                  <a:pt x="9114" y="132572"/>
                  <a:pt x="9114" y="126258"/>
                  <a:pt x="13002" y="122370"/>
                </a:cubicBezTo>
                <a:lnTo>
                  <a:pt x="55741" y="79631"/>
                </a:lnTo>
                <a:lnTo>
                  <a:pt x="13033" y="36891"/>
                </a:lnTo>
                <a:cubicBezTo>
                  <a:pt x="9145" y="33003"/>
                  <a:pt x="9145" y="26689"/>
                  <a:pt x="13033" y="22800"/>
                </a:cubicBezTo>
                <a:cubicBezTo>
                  <a:pt x="16921" y="18912"/>
                  <a:pt x="23236" y="18912"/>
                  <a:pt x="27124" y="22800"/>
                </a:cubicBezTo>
                <a:lnTo>
                  <a:pt x="76893" y="72570"/>
                </a:lnTo>
                <a:close/>
              </a:path>
            </a:pathLst>
          </a:custGeom>
          <a:solidFill>
            <a:srgbClr val="3C8082"/>
          </a:solidFill>
          <a:ln/>
        </p:spPr>
        <p:txBody>
          <a:bodyPr/>
          <a:lstStyle/>
          <a:p>
            <a:endParaRPr lang="zh-CN" altLang="en-US"/>
          </a:p>
        </p:txBody>
      </p:sp>
      <p:sp>
        <p:nvSpPr>
          <p:cNvPr id="58" name="Text 56"/>
          <p:cNvSpPr/>
          <p:nvPr/>
        </p:nvSpPr>
        <p:spPr>
          <a:xfrm>
            <a:off x="6055029" y="8358276"/>
            <a:ext cx="2093145" cy="227516"/>
          </a:xfrm>
          <a:prstGeom prst="rect">
            <a:avLst/>
          </a:prstGeom>
          <a:noFill/>
          <a:ln/>
        </p:spPr>
        <p:txBody>
          <a:bodyPr wrap="square" lIns="0" tIns="0" rIns="0" bIns="0" rtlCol="0" anchor="ctr"/>
          <a:lstStyle/>
          <a:p>
            <a:pPr>
              <a:lnSpc>
                <a:spcPct val="120000"/>
              </a:lnSpc>
            </a:pPr>
            <a:r>
              <a:rPr lang="en-US" sz="1254" b="1" dirty="0">
                <a:solidFill>
                  <a:srgbClr val="E0E2E4"/>
                </a:solidFill>
                <a:latin typeface="MiSans" pitchFamily="34" charset="0"/>
                <a:ea typeface="MiSans" pitchFamily="34" charset="-122"/>
                <a:cs typeface="MiSans" pitchFamily="34" charset="-120"/>
              </a:rPr>
              <a:t>YARN on K8s:</a:t>
            </a:r>
            <a:r>
              <a:rPr lang="en-US" sz="1254" dirty="0">
                <a:solidFill>
                  <a:srgbClr val="E0E2E4">
                    <a:alpha val="80000"/>
                  </a:srgbClr>
                </a:solidFill>
                <a:latin typeface="MiSans" pitchFamily="34" charset="0"/>
                <a:ea typeface="MiSans" pitchFamily="34" charset="-122"/>
                <a:cs typeface="MiSans" pitchFamily="34" charset="-120"/>
              </a:rPr>
              <a:t> 保护既有投资</a:t>
            </a:r>
            <a:endParaRPr lang="en-US" sz="1600" dirty="0"/>
          </a:p>
        </p:txBody>
      </p:sp>
      <p:sp>
        <p:nvSpPr>
          <p:cNvPr id="59" name="Shape 57"/>
          <p:cNvSpPr/>
          <p:nvPr/>
        </p:nvSpPr>
        <p:spPr>
          <a:xfrm>
            <a:off x="5827514" y="8699550"/>
            <a:ext cx="79631" cy="159261"/>
          </a:xfrm>
          <a:custGeom>
            <a:avLst/>
            <a:gdLst/>
            <a:ahLst/>
            <a:cxnLst/>
            <a:rect l="l" t="t" r="r" b="b"/>
            <a:pathLst>
              <a:path w="79631" h="159261">
                <a:moveTo>
                  <a:pt x="76862" y="72601"/>
                </a:moveTo>
                <a:cubicBezTo>
                  <a:pt x="80750" y="76489"/>
                  <a:pt x="80750" y="82803"/>
                  <a:pt x="76862" y="86691"/>
                </a:cubicBezTo>
                <a:lnTo>
                  <a:pt x="27093" y="136461"/>
                </a:lnTo>
                <a:cubicBezTo>
                  <a:pt x="23205" y="140349"/>
                  <a:pt x="16890" y="140349"/>
                  <a:pt x="13002" y="136461"/>
                </a:cubicBezTo>
                <a:cubicBezTo>
                  <a:pt x="9114" y="132572"/>
                  <a:pt x="9114" y="126258"/>
                  <a:pt x="13002" y="122370"/>
                </a:cubicBezTo>
                <a:lnTo>
                  <a:pt x="55741" y="79631"/>
                </a:lnTo>
                <a:lnTo>
                  <a:pt x="13033" y="36891"/>
                </a:lnTo>
                <a:cubicBezTo>
                  <a:pt x="9145" y="33003"/>
                  <a:pt x="9145" y="26689"/>
                  <a:pt x="13033" y="22800"/>
                </a:cubicBezTo>
                <a:cubicBezTo>
                  <a:pt x="16921" y="18912"/>
                  <a:pt x="23236" y="18912"/>
                  <a:pt x="27124" y="22800"/>
                </a:cubicBezTo>
                <a:lnTo>
                  <a:pt x="76893" y="72570"/>
                </a:lnTo>
                <a:close/>
              </a:path>
            </a:pathLst>
          </a:custGeom>
          <a:solidFill>
            <a:srgbClr val="3C8082"/>
          </a:solidFill>
          <a:ln/>
        </p:spPr>
        <p:txBody>
          <a:bodyPr/>
          <a:lstStyle/>
          <a:p>
            <a:endParaRPr lang="zh-CN" altLang="en-US"/>
          </a:p>
        </p:txBody>
      </p:sp>
      <p:sp>
        <p:nvSpPr>
          <p:cNvPr id="60" name="Text 58"/>
          <p:cNvSpPr/>
          <p:nvPr/>
        </p:nvSpPr>
        <p:spPr>
          <a:xfrm>
            <a:off x="6055029" y="8654047"/>
            <a:ext cx="2229654" cy="227516"/>
          </a:xfrm>
          <a:prstGeom prst="rect">
            <a:avLst/>
          </a:prstGeom>
          <a:noFill/>
          <a:ln/>
        </p:spPr>
        <p:txBody>
          <a:bodyPr wrap="square" lIns="0" tIns="0" rIns="0" bIns="0" rtlCol="0" anchor="ctr"/>
          <a:lstStyle/>
          <a:p>
            <a:pPr>
              <a:lnSpc>
                <a:spcPct val="120000"/>
              </a:lnSpc>
            </a:pPr>
            <a:r>
              <a:rPr lang="en-US" sz="1254" b="1" dirty="0">
                <a:solidFill>
                  <a:srgbClr val="E0E2E4"/>
                </a:solidFill>
                <a:latin typeface="MiSans" pitchFamily="34" charset="0"/>
                <a:ea typeface="MiSans" pitchFamily="34" charset="-122"/>
                <a:cs typeface="MiSans" pitchFamily="34" charset="-120"/>
              </a:rPr>
              <a:t>多集群联邦:</a:t>
            </a:r>
            <a:r>
              <a:rPr lang="en-US" sz="1254" dirty="0">
                <a:solidFill>
                  <a:srgbClr val="E0E2E4">
                    <a:alpha val="80000"/>
                  </a:srgbClr>
                </a:solidFill>
                <a:latin typeface="MiSans" pitchFamily="34" charset="0"/>
                <a:ea typeface="MiSans" pitchFamily="34" charset="-122"/>
                <a:cs typeface="MiSans" pitchFamily="34" charset="-120"/>
              </a:rPr>
              <a:t> 异构资源统一管理</a:t>
            </a:r>
            <a:endParaRPr lang="en-US" sz="1600" dirty="0"/>
          </a:p>
        </p:txBody>
      </p:sp>
      <p:sp>
        <p:nvSpPr>
          <p:cNvPr id="61" name="Shape 59"/>
          <p:cNvSpPr/>
          <p:nvPr/>
        </p:nvSpPr>
        <p:spPr>
          <a:xfrm>
            <a:off x="10784780" y="7510780"/>
            <a:ext cx="5016722" cy="1512980"/>
          </a:xfrm>
          <a:custGeom>
            <a:avLst/>
            <a:gdLst/>
            <a:ahLst/>
            <a:cxnLst/>
            <a:rect l="l" t="t" r="r" b="b"/>
            <a:pathLst>
              <a:path w="5016722" h="1512980">
                <a:moveTo>
                  <a:pt x="91006" y="0"/>
                </a:moveTo>
                <a:lnTo>
                  <a:pt x="4925716" y="0"/>
                </a:lnTo>
                <a:cubicBezTo>
                  <a:pt x="4975978" y="0"/>
                  <a:pt x="5016722" y="40745"/>
                  <a:pt x="5016722" y="91006"/>
                </a:cubicBezTo>
                <a:lnTo>
                  <a:pt x="5016722" y="1421974"/>
                </a:lnTo>
                <a:cubicBezTo>
                  <a:pt x="5016722" y="1472235"/>
                  <a:pt x="4975978" y="1512980"/>
                  <a:pt x="4925716" y="1512980"/>
                </a:cubicBezTo>
                <a:lnTo>
                  <a:pt x="91006" y="1512980"/>
                </a:lnTo>
                <a:cubicBezTo>
                  <a:pt x="40745" y="1512980"/>
                  <a:pt x="0" y="1472235"/>
                  <a:pt x="0" y="1421974"/>
                </a:cubicBezTo>
                <a:lnTo>
                  <a:pt x="0" y="91006"/>
                </a:lnTo>
                <a:cubicBezTo>
                  <a:pt x="0" y="40778"/>
                  <a:pt x="40778" y="0"/>
                  <a:pt x="91006"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62" name="Text 60"/>
          <p:cNvSpPr/>
          <p:nvPr/>
        </p:nvSpPr>
        <p:spPr>
          <a:xfrm>
            <a:off x="10926977" y="7652978"/>
            <a:ext cx="4834710" cy="318522"/>
          </a:xfrm>
          <a:prstGeom prst="rect">
            <a:avLst/>
          </a:prstGeom>
          <a:noFill/>
          <a:ln/>
        </p:spPr>
        <p:txBody>
          <a:bodyPr wrap="square" lIns="0" tIns="0" rIns="0" bIns="0" rtlCol="0" anchor="ctr"/>
          <a:lstStyle/>
          <a:p>
            <a:pPr>
              <a:lnSpc>
                <a:spcPct val="130000"/>
              </a:lnSpc>
            </a:pPr>
            <a:r>
              <a:rPr lang="en-US" sz="1612" b="1" dirty="0">
                <a:solidFill>
                  <a:srgbClr val="E0E2E4"/>
                </a:solidFill>
                <a:latin typeface="MiSans" pitchFamily="34" charset="0"/>
                <a:ea typeface="MiSans" pitchFamily="34" charset="-122"/>
                <a:cs typeface="MiSans" pitchFamily="34" charset="-120"/>
              </a:rPr>
              <a:t>未来趋势</a:t>
            </a:r>
            <a:endParaRPr lang="en-US" sz="1600" dirty="0"/>
          </a:p>
        </p:txBody>
      </p:sp>
      <p:sp>
        <p:nvSpPr>
          <p:cNvPr id="63" name="Shape 61"/>
          <p:cNvSpPr/>
          <p:nvPr/>
        </p:nvSpPr>
        <p:spPr>
          <a:xfrm>
            <a:off x="10939775" y="8108009"/>
            <a:ext cx="179169" cy="159261"/>
          </a:xfrm>
          <a:custGeom>
            <a:avLst/>
            <a:gdLst/>
            <a:ahLst/>
            <a:cxnLst/>
            <a:rect l="l" t="t" r="r" b="b"/>
            <a:pathLst>
              <a:path w="179169" h="159261">
                <a:moveTo>
                  <a:pt x="119446" y="49769"/>
                </a:moveTo>
                <a:cubicBezTo>
                  <a:pt x="113940" y="49769"/>
                  <a:pt x="109492" y="45321"/>
                  <a:pt x="109492" y="39815"/>
                </a:cubicBezTo>
                <a:cubicBezTo>
                  <a:pt x="109492" y="34310"/>
                  <a:pt x="113940" y="29861"/>
                  <a:pt x="119446" y="29861"/>
                </a:cubicBezTo>
                <a:lnTo>
                  <a:pt x="169215" y="29861"/>
                </a:lnTo>
                <a:cubicBezTo>
                  <a:pt x="174721" y="29861"/>
                  <a:pt x="179169" y="34310"/>
                  <a:pt x="179169" y="39815"/>
                </a:cubicBezTo>
                <a:lnTo>
                  <a:pt x="179169" y="89584"/>
                </a:lnTo>
                <a:cubicBezTo>
                  <a:pt x="179169" y="95090"/>
                  <a:pt x="174721" y="99538"/>
                  <a:pt x="169215" y="99538"/>
                </a:cubicBezTo>
                <a:cubicBezTo>
                  <a:pt x="163709" y="99538"/>
                  <a:pt x="159261" y="95090"/>
                  <a:pt x="159261" y="89584"/>
                </a:cubicBezTo>
                <a:lnTo>
                  <a:pt x="159261" y="63860"/>
                </a:lnTo>
                <a:lnTo>
                  <a:pt x="106568" y="116553"/>
                </a:lnTo>
                <a:cubicBezTo>
                  <a:pt x="102680" y="120441"/>
                  <a:pt x="96365" y="120441"/>
                  <a:pt x="92477" y="116553"/>
                </a:cubicBezTo>
                <a:lnTo>
                  <a:pt x="59723" y="83768"/>
                </a:lnTo>
                <a:lnTo>
                  <a:pt x="16984" y="126476"/>
                </a:lnTo>
                <a:cubicBezTo>
                  <a:pt x="13095" y="130364"/>
                  <a:pt x="6781" y="130364"/>
                  <a:pt x="2893" y="126476"/>
                </a:cubicBezTo>
                <a:cubicBezTo>
                  <a:pt x="-995" y="122587"/>
                  <a:pt x="-995" y="116273"/>
                  <a:pt x="2893" y="112385"/>
                </a:cubicBezTo>
                <a:lnTo>
                  <a:pt x="52662" y="62616"/>
                </a:lnTo>
                <a:cubicBezTo>
                  <a:pt x="56550" y="58728"/>
                  <a:pt x="62865" y="58728"/>
                  <a:pt x="66753" y="62616"/>
                </a:cubicBezTo>
                <a:lnTo>
                  <a:pt x="99538" y="95401"/>
                </a:lnTo>
                <a:lnTo>
                  <a:pt x="145170" y="49769"/>
                </a:lnTo>
                <a:lnTo>
                  <a:pt x="119446" y="49769"/>
                </a:lnTo>
                <a:close/>
              </a:path>
            </a:pathLst>
          </a:custGeom>
          <a:solidFill>
            <a:srgbClr val="B38B59"/>
          </a:solidFill>
          <a:ln/>
        </p:spPr>
        <p:txBody>
          <a:bodyPr/>
          <a:lstStyle/>
          <a:p>
            <a:endParaRPr lang="zh-CN" altLang="en-US"/>
          </a:p>
        </p:txBody>
      </p:sp>
      <p:sp>
        <p:nvSpPr>
          <p:cNvPr id="64" name="Text 62"/>
          <p:cNvSpPr/>
          <p:nvPr/>
        </p:nvSpPr>
        <p:spPr>
          <a:xfrm>
            <a:off x="11217059" y="8062506"/>
            <a:ext cx="2354788" cy="227516"/>
          </a:xfrm>
          <a:prstGeom prst="rect">
            <a:avLst/>
          </a:prstGeom>
          <a:noFill/>
          <a:ln/>
        </p:spPr>
        <p:txBody>
          <a:bodyPr wrap="square" lIns="0" tIns="0" rIns="0" bIns="0" rtlCol="0" anchor="ctr"/>
          <a:lstStyle/>
          <a:p>
            <a:pPr>
              <a:lnSpc>
                <a:spcPct val="120000"/>
              </a:lnSpc>
            </a:pPr>
            <a:r>
              <a:rPr lang="en-US" sz="1254" b="1" dirty="0">
                <a:solidFill>
                  <a:srgbClr val="E0E2E4"/>
                </a:solidFill>
                <a:latin typeface="MiSans" pitchFamily="34" charset="0"/>
                <a:ea typeface="MiSans" pitchFamily="34" charset="-122"/>
                <a:cs typeface="MiSans" pitchFamily="34" charset="-120"/>
              </a:rPr>
              <a:t>统一平台:</a:t>
            </a:r>
            <a:r>
              <a:rPr lang="en-US" sz="1254" dirty="0">
                <a:solidFill>
                  <a:srgbClr val="E0E2E4">
                    <a:alpha val="80000"/>
                  </a:srgbClr>
                </a:solidFill>
                <a:latin typeface="MiSans" pitchFamily="34" charset="0"/>
                <a:ea typeface="MiSans" pitchFamily="34" charset="-122"/>
                <a:cs typeface="MiSans" pitchFamily="34" charset="-120"/>
              </a:rPr>
              <a:t> K8s成为统一基础设施</a:t>
            </a:r>
            <a:endParaRPr lang="en-US" sz="1600" dirty="0"/>
          </a:p>
        </p:txBody>
      </p:sp>
      <p:sp>
        <p:nvSpPr>
          <p:cNvPr id="65" name="Shape 63"/>
          <p:cNvSpPr/>
          <p:nvPr/>
        </p:nvSpPr>
        <p:spPr>
          <a:xfrm>
            <a:off x="10939775" y="8403779"/>
            <a:ext cx="179169" cy="159261"/>
          </a:xfrm>
          <a:custGeom>
            <a:avLst/>
            <a:gdLst/>
            <a:ahLst/>
            <a:cxnLst/>
            <a:rect l="l" t="t" r="r" b="b"/>
            <a:pathLst>
              <a:path w="179169" h="159261">
                <a:moveTo>
                  <a:pt x="119446" y="49769"/>
                </a:moveTo>
                <a:cubicBezTo>
                  <a:pt x="113940" y="49769"/>
                  <a:pt x="109492" y="45321"/>
                  <a:pt x="109492" y="39815"/>
                </a:cubicBezTo>
                <a:cubicBezTo>
                  <a:pt x="109492" y="34310"/>
                  <a:pt x="113940" y="29861"/>
                  <a:pt x="119446" y="29861"/>
                </a:cubicBezTo>
                <a:lnTo>
                  <a:pt x="169215" y="29861"/>
                </a:lnTo>
                <a:cubicBezTo>
                  <a:pt x="174721" y="29861"/>
                  <a:pt x="179169" y="34310"/>
                  <a:pt x="179169" y="39815"/>
                </a:cubicBezTo>
                <a:lnTo>
                  <a:pt x="179169" y="89584"/>
                </a:lnTo>
                <a:cubicBezTo>
                  <a:pt x="179169" y="95090"/>
                  <a:pt x="174721" y="99538"/>
                  <a:pt x="169215" y="99538"/>
                </a:cubicBezTo>
                <a:cubicBezTo>
                  <a:pt x="163709" y="99538"/>
                  <a:pt x="159261" y="95090"/>
                  <a:pt x="159261" y="89584"/>
                </a:cubicBezTo>
                <a:lnTo>
                  <a:pt x="159261" y="63860"/>
                </a:lnTo>
                <a:lnTo>
                  <a:pt x="106568" y="116553"/>
                </a:lnTo>
                <a:cubicBezTo>
                  <a:pt x="102680" y="120441"/>
                  <a:pt x="96365" y="120441"/>
                  <a:pt x="92477" y="116553"/>
                </a:cubicBezTo>
                <a:lnTo>
                  <a:pt x="59723" y="83768"/>
                </a:lnTo>
                <a:lnTo>
                  <a:pt x="16984" y="126476"/>
                </a:lnTo>
                <a:cubicBezTo>
                  <a:pt x="13095" y="130364"/>
                  <a:pt x="6781" y="130364"/>
                  <a:pt x="2893" y="126476"/>
                </a:cubicBezTo>
                <a:cubicBezTo>
                  <a:pt x="-995" y="122587"/>
                  <a:pt x="-995" y="116273"/>
                  <a:pt x="2893" y="112385"/>
                </a:cubicBezTo>
                <a:lnTo>
                  <a:pt x="52662" y="62616"/>
                </a:lnTo>
                <a:cubicBezTo>
                  <a:pt x="56550" y="58728"/>
                  <a:pt x="62865" y="58728"/>
                  <a:pt x="66753" y="62616"/>
                </a:cubicBezTo>
                <a:lnTo>
                  <a:pt x="99538" y="95401"/>
                </a:lnTo>
                <a:lnTo>
                  <a:pt x="145170" y="49769"/>
                </a:lnTo>
                <a:lnTo>
                  <a:pt x="119446" y="49769"/>
                </a:lnTo>
                <a:close/>
              </a:path>
            </a:pathLst>
          </a:custGeom>
          <a:solidFill>
            <a:srgbClr val="B38B59"/>
          </a:solidFill>
          <a:ln/>
        </p:spPr>
        <p:txBody>
          <a:bodyPr/>
          <a:lstStyle/>
          <a:p>
            <a:endParaRPr lang="zh-CN" altLang="en-US"/>
          </a:p>
        </p:txBody>
      </p:sp>
      <p:sp>
        <p:nvSpPr>
          <p:cNvPr id="66" name="Text 64"/>
          <p:cNvSpPr/>
          <p:nvPr/>
        </p:nvSpPr>
        <p:spPr>
          <a:xfrm>
            <a:off x="11217059" y="8358276"/>
            <a:ext cx="2070393" cy="227516"/>
          </a:xfrm>
          <a:prstGeom prst="rect">
            <a:avLst/>
          </a:prstGeom>
          <a:noFill/>
          <a:ln/>
        </p:spPr>
        <p:txBody>
          <a:bodyPr wrap="square" lIns="0" tIns="0" rIns="0" bIns="0" rtlCol="0" anchor="ctr"/>
          <a:lstStyle/>
          <a:p>
            <a:pPr>
              <a:lnSpc>
                <a:spcPct val="120000"/>
              </a:lnSpc>
            </a:pPr>
            <a:r>
              <a:rPr lang="en-US" sz="1254" b="1" dirty="0">
                <a:solidFill>
                  <a:srgbClr val="E0E2E4"/>
                </a:solidFill>
                <a:latin typeface="MiSans" pitchFamily="34" charset="0"/>
                <a:ea typeface="MiSans" pitchFamily="34" charset="-122"/>
                <a:cs typeface="MiSans" pitchFamily="34" charset="-120"/>
              </a:rPr>
              <a:t>技术融合:</a:t>
            </a:r>
            <a:r>
              <a:rPr lang="en-US" sz="1254" dirty="0">
                <a:solidFill>
                  <a:srgbClr val="E0E2E4">
                    <a:alpha val="80000"/>
                  </a:srgbClr>
                </a:solidFill>
                <a:latin typeface="MiSans" pitchFamily="34" charset="0"/>
                <a:ea typeface="MiSans" pitchFamily="34" charset="-122"/>
                <a:cs typeface="MiSans" pitchFamily="34" charset="-120"/>
              </a:rPr>
              <a:t> 大数据拥抱云原生</a:t>
            </a:r>
            <a:endParaRPr lang="en-US" sz="1600" dirty="0"/>
          </a:p>
        </p:txBody>
      </p:sp>
      <p:sp>
        <p:nvSpPr>
          <p:cNvPr id="67" name="Shape 65"/>
          <p:cNvSpPr/>
          <p:nvPr/>
        </p:nvSpPr>
        <p:spPr>
          <a:xfrm>
            <a:off x="10939775" y="8699550"/>
            <a:ext cx="179169" cy="159261"/>
          </a:xfrm>
          <a:custGeom>
            <a:avLst/>
            <a:gdLst/>
            <a:ahLst/>
            <a:cxnLst/>
            <a:rect l="l" t="t" r="r" b="b"/>
            <a:pathLst>
              <a:path w="179169" h="159261">
                <a:moveTo>
                  <a:pt x="119446" y="49769"/>
                </a:moveTo>
                <a:cubicBezTo>
                  <a:pt x="113940" y="49769"/>
                  <a:pt x="109492" y="45321"/>
                  <a:pt x="109492" y="39815"/>
                </a:cubicBezTo>
                <a:cubicBezTo>
                  <a:pt x="109492" y="34310"/>
                  <a:pt x="113940" y="29861"/>
                  <a:pt x="119446" y="29861"/>
                </a:cubicBezTo>
                <a:lnTo>
                  <a:pt x="169215" y="29861"/>
                </a:lnTo>
                <a:cubicBezTo>
                  <a:pt x="174721" y="29861"/>
                  <a:pt x="179169" y="34310"/>
                  <a:pt x="179169" y="39815"/>
                </a:cubicBezTo>
                <a:lnTo>
                  <a:pt x="179169" y="89584"/>
                </a:lnTo>
                <a:cubicBezTo>
                  <a:pt x="179169" y="95090"/>
                  <a:pt x="174721" y="99538"/>
                  <a:pt x="169215" y="99538"/>
                </a:cubicBezTo>
                <a:cubicBezTo>
                  <a:pt x="163709" y="99538"/>
                  <a:pt x="159261" y="95090"/>
                  <a:pt x="159261" y="89584"/>
                </a:cubicBezTo>
                <a:lnTo>
                  <a:pt x="159261" y="63860"/>
                </a:lnTo>
                <a:lnTo>
                  <a:pt x="106568" y="116553"/>
                </a:lnTo>
                <a:cubicBezTo>
                  <a:pt x="102680" y="120441"/>
                  <a:pt x="96365" y="120441"/>
                  <a:pt x="92477" y="116553"/>
                </a:cubicBezTo>
                <a:lnTo>
                  <a:pt x="59723" y="83768"/>
                </a:lnTo>
                <a:lnTo>
                  <a:pt x="16984" y="126476"/>
                </a:lnTo>
                <a:cubicBezTo>
                  <a:pt x="13095" y="130364"/>
                  <a:pt x="6781" y="130364"/>
                  <a:pt x="2893" y="126476"/>
                </a:cubicBezTo>
                <a:cubicBezTo>
                  <a:pt x="-995" y="122587"/>
                  <a:pt x="-995" y="116273"/>
                  <a:pt x="2893" y="112385"/>
                </a:cubicBezTo>
                <a:lnTo>
                  <a:pt x="52662" y="62616"/>
                </a:lnTo>
                <a:cubicBezTo>
                  <a:pt x="56550" y="58728"/>
                  <a:pt x="62865" y="58728"/>
                  <a:pt x="66753" y="62616"/>
                </a:cubicBezTo>
                <a:lnTo>
                  <a:pt x="99538" y="95401"/>
                </a:lnTo>
                <a:lnTo>
                  <a:pt x="145170" y="49769"/>
                </a:lnTo>
                <a:lnTo>
                  <a:pt x="119446" y="49769"/>
                </a:lnTo>
                <a:close/>
              </a:path>
            </a:pathLst>
          </a:custGeom>
          <a:solidFill>
            <a:srgbClr val="B38B59"/>
          </a:solidFill>
          <a:ln/>
        </p:spPr>
        <p:txBody>
          <a:bodyPr/>
          <a:lstStyle/>
          <a:p>
            <a:endParaRPr lang="zh-CN" altLang="en-US"/>
          </a:p>
        </p:txBody>
      </p:sp>
      <p:sp>
        <p:nvSpPr>
          <p:cNvPr id="68" name="Text 66"/>
          <p:cNvSpPr/>
          <p:nvPr/>
        </p:nvSpPr>
        <p:spPr>
          <a:xfrm>
            <a:off x="11217059" y="8654047"/>
            <a:ext cx="2218279" cy="227516"/>
          </a:xfrm>
          <a:prstGeom prst="rect">
            <a:avLst/>
          </a:prstGeom>
          <a:noFill/>
          <a:ln/>
        </p:spPr>
        <p:txBody>
          <a:bodyPr wrap="square" lIns="0" tIns="0" rIns="0" bIns="0" rtlCol="0" anchor="ctr"/>
          <a:lstStyle/>
          <a:p>
            <a:pPr>
              <a:lnSpc>
                <a:spcPct val="120000"/>
              </a:lnSpc>
            </a:pPr>
            <a:r>
              <a:rPr lang="en-US" sz="1254" b="1" dirty="0">
                <a:solidFill>
                  <a:srgbClr val="E0E2E4"/>
                </a:solidFill>
                <a:latin typeface="MiSans" pitchFamily="34" charset="0"/>
                <a:ea typeface="MiSans" pitchFamily="34" charset="-122"/>
                <a:cs typeface="MiSans" pitchFamily="34" charset="-120"/>
              </a:rPr>
              <a:t>智能化:</a:t>
            </a:r>
            <a:r>
              <a:rPr lang="en-US" sz="1254" dirty="0">
                <a:solidFill>
                  <a:srgbClr val="E0E2E4">
                    <a:alpha val="80000"/>
                  </a:srgbClr>
                </a:solidFill>
                <a:latin typeface="MiSans" pitchFamily="34" charset="0"/>
                <a:ea typeface="MiSans" pitchFamily="34" charset="-122"/>
                <a:cs typeface="MiSans" pitchFamily="34" charset="-120"/>
              </a:rPr>
              <a:t> AI驱动的资源调度优化</a:t>
            </a:r>
            <a:endParaRPr lang="en-US" sz="1600"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1D21"/>
        </a:solidFill>
        <a:effectLst/>
      </p:bgPr>
    </p:bg>
    <p:spTree>
      <p:nvGrpSpPr>
        <p:cNvPr id="1" name=""/>
        <p:cNvGrpSpPr/>
        <p:nvPr/>
      </p:nvGrpSpPr>
      <p:grpSpPr>
        <a:xfrm>
          <a:off x="0" y="0"/>
          <a:ext cx="0" cy="0"/>
          <a:chOff x="0" y="0"/>
          <a:chExt cx="0" cy="0"/>
        </a:xfrm>
      </p:grpSpPr>
      <p:sp>
        <p:nvSpPr>
          <p:cNvPr id="4" name="Shape 1"/>
          <p:cNvSpPr/>
          <p:nvPr/>
        </p:nvSpPr>
        <p:spPr>
          <a:xfrm>
            <a:off x="514350" y="381000"/>
            <a:ext cx="2336800" cy="520700"/>
          </a:xfrm>
          <a:custGeom>
            <a:avLst/>
            <a:gdLst/>
            <a:ahLst/>
            <a:cxnLst/>
            <a:rect l="l" t="t" r="r" b="b"/>
            <a:pathLst>
              <a:path w="2336800" h="520700">
                <a:moveTo>
                  <a:pt x="101599" y="0"/>
                </a:moveTo>
                <a:lnTo>
                  <a:pt x="2235201" y="0"/>
                </a:lnTo>
                <a:cubicBezTo>
                  <a:pt x="2291313" y="0"/>
                  <a:pt x="2336800" y="45487"/>
                  <a:pt x="2336800" y="101599"/>
                </a:cubicBezTo>
                <a:lnTo>
                  <a:pt x="2336800" y="419101"/>
                </a:lnTo>
                <a:cubicBezTo>
                  <a:pt x="2336800" y="475213"/>
                  <a:pt x="2291313" y="520700"/>
                  <a:pt x="2235201" y="520700"/>
                </a:cubicBezTo>
                <a:lnTo>
                  <a:pt x="101599" y="520700"/>
                </a:lnTo>
                <a:cubicBezTo>
                  <a:pt x="45487" y="520700"/>
                  <a:pt x="0" y="475213"/>
                  <a:pt x="0" y="419101"/>
                </a:cubicBezTo>
                <a:lnTo>
                  <a:pt x="0" y="101599"/>
                </a:lnTo>
                <a:cubicBezTo>
                  <a:pt x="0" y="45525"/>
                  <a:pt x="45525" y="0"/>
                  <a:pt x="101599" y="0"/>
                </a:cubicBezTo>
                <a:close/>
              </a:path>
            </a:pathLst>
          </a:custGeom>
          <a:solidFill>
            <a:srgbClr val="3C8082">
              <a:alpha val="30196"/>
            </a:srgbClr>
          </a:solidFill>
          <a:ln w="12700">
            <a:solidFill>
              <a:srgbClr val="3C8082">
                <a:alpha val="50196"/>
              </a:srgbClr>
            </a:solidFill>
            <a:prstDash val="solid"/>
          </a:ln>
        </p:spPr>
        <p:txBody>
          <a:bodyPr/>
          <a:lstStyle/>
          <a:p>
            <a:endParaRPr lang="zh-CN" altLang="en-US"/>
          </a:p>
        </p:txBody>
      </p:sp>
      <p:sp>
        <p:nvSpPr>
          <p:cNvPr id="5" name="Text 2"/>
          <p:cNvSpPr/>
          <p:nvPr/>
        </p:nvSpPr>
        <p:spPr>
          <a:xfrm>
            <a:off x="723900" y="508000"/>
            <a:ext cx="2021880" cy="266700"/>
          </a:xfrm>
          <a:prstGeom prst="rect">
            <a:avLst/>
          </a:prstGeom>
          <a:noFill/>
          <a:ln/>
        </p:spPr>
        <p:txBody>
          <a:bodyPr wrap="square" lIns="0" tIns="0" rIns="0" bIns="0" rtlCol="0" anchor="ctr"/>
          <a:lstStyle/>
          <a:p>
            <a:pPr>
              <a:lnSpc>
                <a:spcPct val="130000"/>
              </a:lnSpc>
            </a:pPr>
            <a:r>
              <a:rPr lang="en-US" sz="1600" b="1" kern="0" spc="80" dirty="0">
                <a:solidFill>
                  <a:srgbClr val="B38B59"/>
                </a:solidFill>
                <a:latin typeface="MiSans" pitchFamily="34" charset="0"/>
                <a:ea typeface="MiSans" pitchFamily="34" charset="-122"/>
                <a:cs typeface="MiSans" pitchFamily="34" charset="-120"/>
              </a:rPr>
              <a:t>技术洞察与实践启示</a:t>
            </a:r>
            <a:endParaRPr lang="en-US" sz="1600" dirty="0"/>
          </a:p>
        </p:txBody>
      </p:sp>
      <p:sp>
        <p:nvSpPr>
          <p:cNvPr id="6" name="Text 3"/>
          <p:cNvSpPr/>
          <p:nvPr/>
        </p:nvSpPr>
        <p:spPr>
          <a:xfrm>
            <a:off x="508000" y="1416050"/>
            <a:ext cx="15544800" cy="1524000"/>
          </a:xfrm>
          <a:prstGeom prst="rect">
            <a:avLst/>
          </a:prstGeom>
          <a:noFill/>
          <a:ln/>
        </p:spPr>
        <p:txBody>
          <a:bodyPr wrap="square" lIns="0" tIns="0" rIns="0" bIns="0" rtlCol="0" anchor="ctr"/>
          <a:lstStyle/>
          <a:p>
            <a:pPr>
              <a:lnSpc>
                <a:spcPct val="100000"/>
              </a:lnSpc>
            </a:pPr>
            <a:r>
              <a:rPr lang="en-US" sz="4800" b="1" dirty="0">
                <a:solidFill>
                  <a:srgbClr val="E0E2E4"/>
                </a:solidFill>
                <a:latin typeface="MiSans" pitchFamily="34" charset="0"/>
                <a:ea typeface="MiSans" pitchFamily="34" charset="-122"/>
                <a:cs typeface="MiSans" pitchFamily="34" charset="-120"/>
              </a:rPr>
              <a:t>底层隔离技术的核心差异</a:t>
            </a:r>
            <a:endParaRPr lang="en-US" sz="1600" dirty="0"/>
          </a:p>
          <a:p>
            <a:pPr>
              <a:lnSpc>
                <a:spcPct val="100000"/>
              </a:lnSpc>
            </a:pPr>
            <a:r>
              <a:rPr lang="en-US" sz="4800" b="1" dirty="0">
                <a:solidFill>
                  <a:srgbClr val="E0E2E4"/>
                </a:solidFill>
                <a:latin typeface="MiSans" pitchFamily="34" charset="0"/>
                <a:ea typeface="MiSans" pitchFamily="34" charset="-122"/>
                <a:cs typeface="MiSans" pitchFamily="34" charset="-120"/>
              </a:rPr>
              <a:t>与技术选型原则</a:t>
            </a:r>
            <a:endParaRPr lang="en-US" sz="1600" dirty="0"/>
          </a:p>
        </p:txBody>
      </p:sp>
      <p:sp>
        <p:nvSpPr>
          <p:cNvPr id="7" name="Shape 4"/>
          <p:cNvSpPr/>
          <p:nvPr/>
        </p:nvSpPr>
        <p:spPr>
          <a:xfrm>
            <a:off x="514350" y="3251200"/>
            <a:ext cx="15227300" cy="1270000"/>
          </a:xfrm>
          <a:custGeom>
            <a:avLst/>
            <a:gdLst/>
            <a:ahLst/>
            <a:cxnLst/>
            <a:rect l="l" t="t" r="r" b="b"/>
            <a:pathLst>
              <a:path w="15227300" h="1270000">
                <a:moveTo>
                  <a:pt x="101600" y="0"/>
                </a:moveTo>
                <a:lnTo>
                  <a:pt x="15125700" y="0"/>
                </a:lnTo>
                <a:cubicBezTo>
                  <a:pt x="15181775" y="0"/>
                  <a:pt x="15227300" y="45525"/>
                  <a:pt x="15227300" y="101600"/>
                </a:cubicBezTo>
                <a:lnTo>
                  <a:pt x="15227300" y="1168400"/>
                </a:lnTo>
                <a:cubicBezTo>
                  <a:pt x="15227300" y="1224475"/>
                  <a:pt x="15181775" y="1270000"/>
                  <a:pt x="15125700" y="1270000"/>
                </a:cubicBezTo>
                <a:lnTo>
                  <a:pt x="101600" y="1270000"/>
                </a:lnTo>
                <a:cubicBezTo>
                  <a:pt x="45525" y="1270000"/>
                  <a:pt x="0" y="1224475"/>
                  <a:pt x="0" y="1168400"/>
                </a:cubicBezTo>
                <a:lnTo>
                  <a:pt x="0" y="101600"/>
                </a:lnTo>
                <a:cubicBezTo>
                  <a:pt x="0" y="45525"/>
                  <a:pt x="45525" y="0"/>
                  <a:pt x="101600"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8" name="Text 5"/>
          <p:cNvSpPr/>
          <p:nvPr/>
        </p:nvSpPr>
        <p:spPr>
          <a:xfrm>
            <a:off x="774700" y="3511550"/>
            <a:ext cx="14820900" cy="749300"/>
          </a:xfrm>
          <a:prstGeom prst="rect">
            <a:avLst/>
          </a:prstGeom>
          <a:noFill/>
          <a:ln/>
        </p:spPr>
        <p:txBody>
          <a:bodyPr wrap="square" lIns="0" tIns="0" rIns="0" bIns="0" rtlCol="0" anchor="ctr"/>
          <a:lstStyle/>
          <a:p>
            <a:pPr>
              <a:lnSpc>
                <a:spcPct val="140000"/>
              </a:lnSpc>
            </a:pPr>
            <a:r>
              <a:rPr lang="en-US" sz="1800" b="1" dirty="0">
                <a:solidFill>
                  <a:srgbClr val="B38B59"/>
                </a:solidFill>
                <a:latin typeface="MiSans" pitchFamily="34" charset="0"/>
                <a:ea typeface="MiSans" pitchFamily="34" charset="-122"/>
                <a:cs typeface="MiSans" pitchFamily="34" charset="-120"/>
              </a:rPr>
              <a:t>YARN</a:t>
            </a:r>
            <a:r>
              <a:rPr lang="en-US" sz="1800" dirty="0">
                <a:solidFill>
                  <a:srgbClr val="E0E2E4"/>
                </a:solidFill>
                <a:latin typeface="MiSans" pitchFamily="34" charset="0"/>
                <a:ea typeface="MiSans" pitchFamily="34" charset="-122"/>
                <a:cs typeface="MiSans" pitchFamily="34" charset="-120"/>
              </a:rPr>
              <a:t>专注于</a:t>
            </a:r>
            <a:r>
              <a:rPr lang="en-US" sz="1800" dirty="0">
                <a:solidFill>
                  <a:srgbClr val="E0E2E4"/>
                </a:solidFill>
                <a:highlight>
                  <a:srgbClr val="3C8082">
                    <a:alpha val="30000"/>
                  </a:srgbClr>
                </a:highlight>
                <a:latin typeface="MiSans" pitchFamily="34" charset="0"/>
                <a:ea typeface="MiSans" pitchFamily="34" charset="-122"/>
                <a:cs typeface="MiSans" pitchFamily="34" charset="-120"/>
              </a:rPr>
              <a:t> 大数据批处理场景 </a:t>
            </a:r>
            <a:r>
              <a:rPr lang="en-US" sz="1800" dirty="0">
                <a:solidFill>
                  <a:srgbClr val="E0E2E4"/>
                </a:solidFill>
                <a:latin typeface="MiSans" pitchFamily="34" charset="0"/>
                <a:ea typeface="MiSans" pitchFamily="34" charset="-122"/>
                <a:cs typeface="MiSans" pitchFamily="34" charset="-120"/>
              </a:rPr>
              <a:t>的资源优化,采用</a:t>
            </a:r>
            <a:r>
              <a:rPr lang="en-US" sz="1800" dirty="0">
                <a:solidFill>
                  <a:srgbClr val="E0E2E4"/>
                </a:solidFill>
                <a:highlight>
                  <a:srgbClr val="3C8082">
                    <a:alpha val="30000"/>
                  </a:srgbClr>
                </a:highlight>
                <a:latin typeface="MiSans" pitchFamily="34" charset="0"/>
                <a:ea typeface="MiSans" pitchFamily="34" charset="-122"/>
                <a:cs typeface="MiSans" pitchFamily="34" charset="-120"/>
              </a:rPr>
              <a:t> 集中式资源管理 </a:t>
            </a:r>
            <a:r>
              <a:rPr lang="en-US" sz="1800" dirty="0">
                <a:solidFill>
                  <a:srgbClr val="E0E2E4"/>
                </a:solidFill>
                <a:latin typeface="MiSans" pitchFamily="34" charset="0"/>
                <a:ea typeface="MiSans" pitchFamily="34" charset="-122"/>
                <a:cs typeface="MiSans" pitchFamily="34" charset="-120"/>
              </a:rPr>
              <a:t>和</a:t>
            </a:r>
            <a:r>
              <a:rPr lang="en-US" sz="1800" dirty="0">
                <a:solidFill>
                  <a:srgbClr val="E0E2E4"/>
                </a:solidFill>
                <a:highlight>
                  <a:srgbClr val="3C8082">
                    <a:alpha val="30000"/>
                  </a:srgbClr>
                </a:highlight>
                <a:latin typeface="MiSans" pitchFamily="34" charset="0"/>
                <a:ea typeface="MiSans" pitchFamily="34" charset="-122"/>
                <a:cs typeface="MiSans" pitchFamily="34" charset="-120"/>
              </a:rPr>
              <a:t> 数据本地性优先 </a:t>
            </a:r>
            <a:r>
              <a:rPr lang="en-US" sz="1800" dirty="0">
                <a:solidFill>
                  <a:srgbClr val="E0E2E4"/>
                </a:solidFill>
                <a:latin typeface="MiSans" pitchFamily="34" charset="0"/>
                <a:ea typeface="MiSans" pitchFamily="34" charset="-122"/>
                <a:cs typeface="MiSans" pitchFamily="34" charset="-120"/>
              </a:rPr>
              <a:t>策略,通过Container的中等粒度抽象,在隔离性、性能和资源效率之间取得平衡,适合Hadoop生态和大规模批处理作业。</a:t>
            </a:r>
            <a:endParaRPr lang="en-US" sz="1600" dirty="0"/>
          </a:p>
        </p:txBody>
      </p:sp>
      <p:sp>
        <p:nvSpPr>
          <p:cNvPr id="9" name="Shape 6"/>
          <p:cNvSpPr/>
          <p:nvPr/>
        </p:nvSpPr>
        <p:spPr>
          <a:xfrm>
            <a:off x="514350" y="4730750"/>
            <a:ext cx="15227300" cy="1270000"/>
          </a:xfrm>
          <a:custGeom>
            <a:avLst/>
            <a:gdLst/>
            <a:ahLst/>
            <a:cxnLst/>
            <a:rect l="l" t="t" r="r" b="b"/>
            <a:pathLst>
              <a:path w="15227300" h="1270000">
                <a:moveTo>
                  <a:pt x="101600" y="0"/>
                </a:moveTo>
                <a:lnTo>
                  <a:pt x="15125700" y="0"/>
                </a:lnTo>
                <a:cubicBezTo>
                  <a:pt x="15181775" y="0"/>
                  <a:pt x="15227300" y="45525"/>
                  <a:pt x="15227300" y="101600"/>
                </a:cubicBezTo>
                <a:lnTo>
                  <a:pt x="15227300" y="1168400"/>
                </a:lnTo>
                <a:cubicBezTo>
                  <a:pt x="15227300" y="1224475"/>
                  <a:pt x="15181775" y="1270000"/>
                  <a:pt x="15125700" y="1270000"/>
                </a:cubicBezTo>
                <a:lnTo>
                  <a:pt x="101600" y="1270000"/>
                </a:lnTo>
                <a:cubicBezTo>
                  <a:pt x="45525" y="1270000"/>
                  <a:pt x="0" y="1224475"/>
                  <a:pt x="0" y="1168400"/>
                </a:cubicBezTo>
                <a:lnTo>
                  <a:pt x="0" y="101600"/>
                </a:lnTo>
                <a:cubicBezTo>
                  <a:pt x="0" y="45525"/>
                  <a:pt x="45525" y="0"/>
                  <a:pt x="101600"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10" name="Text 7"/>
          <p:cNvSpPr/>
          <p:nvPr/>
        </p:nvSpPr>
        <p:spPr>
          <a:xfrm>
            <a:off x="774700" y="4991100"/>
            <a:ext cx="14820900" cy="749300"/>
          </a:xfrm>
          <a:prstGeom prst="rect">
            <a:avLst/>
          </a:prstGeom>
          <a:noFill/>
          <a:ln/>
        </p:spPr>
        <p:txBody>
          <a:bodyPr wrap="square" lIns="0" tIns="0" rIns="0" bIns="0" rtlCol="0" anchor="ctr"/>
          <a:lstStyle/>
          <a:p>
            <a:pPr>
              <a:lnSpc>
                <a:spcPct val="140000"/>
              </a:lnSpc>
            </a:pPr>
            <a:r>
              <a:rPr lang="en-US" sz="1800" b="1" dirty="0">
                <a:solidFill>
                  <a:srgbClr val="3C8082"/>
                </a:solidFill>
                <a:latin typeface="MiSans" pitchFamily="34" charset="0"/>
                <a:ea typeface="MiSans" pitchFamily="34" charset="-122"/>
                <a:cs typeface="MiSans" pitchFamily="34" charset="-120"/>
              </a:rPr>
              <a:t>Kubernetes</a:t>
            </a:r>
            <a:r>
              <a:rPr lang="en-US" sz="1800" dirty="0">
                <a:solidFill>
                  <a:srgbClr val="E0E2E4"/>
                </a:solidFill>
                <a:latin typeface="MiSans" pitchFamily="34" charset="0"/>
                <a:ea typeface="MiSans" pitchFamily="34" charset="-122"/>
                <a:cs typeface="MiSans" pitchFamily="34" charset="-120"/>
              </a:rPr>
              <a:t>面向</a:t>
            </a:r>
            <a:r>
              <a:rPr lang="en-US" sz="1800" dirty="0">
                <a:solidFill>
                  <a:srgbClr val="E0E2E4"/>
                </a:solidFill>
                <a:highlight>
                  <a:srgbClr val="B38B59">
                    <a:alpha val="30000"/>
                  </a:srgbClr>
                </a:highlight>
                <a:latin typeface="MiSans" pitchFamily="34" charset="0"/>
                <a:ea typeface="MiSans" pitchFamily="34" charset="-122"/>
                <a:cs typeface="MiSans" pitchFamily="34" charset="-120"/>
              </a:rPr>
              <a:t> 云原生应用 </a:t>
            </a:r>
            <a:r>
              <a:rPr lang="en-US" sz="1800" dirty="0">
                <a:solidFill>
                  <a:srgbClr val="E0E2E4"/>
                </a:solidFill>
                <a:latin typeface="MiSans" pitchFamily="34" charset="0"/>
                <a:ea typeface="MiSans" pitchFamily="34" charset="-122"/>
                <a:cs typeface="MiSans" pitchFamily="34" charset="-120"/>
              </a:rPr>
              <a:t>,构建</a:t>
            </a:r>
            <a:r>
              <a:rPr lang="en-US" sz="1800" dirty="0">
                <a:solidFill>
                  <a:srgbClr val="E0E2E4"/>
                </a:solidFill>
                <a:highlight>
                  <a:srgbClr val="B38B59">
                    <a:alpha val="30000"/>
                  </a:srgbClr>
                </a:highlight>
                <a:latin typeface="MiSans" pitchFamily="34" charset="0"/>
                <a:ea typeface="MiSans" pitchFamily="34" charset="-122"/>
                <a:cs typeface="MiSans" pitchFamily="34" charset="-120"/>
              </a:rPr>
              <a:t> 声明式管理 </a:t>
            </a:r>
            <a:r>
              <a:rPr lang="en-US" sz="1800" dirty="0">
                <a:solidFill>
                  <a:srgbClr val="E0E2E4"/>
                </a:solidFill>
                <a:latin typeface="MiSans" pitchFamily="34" charset="0"/>
                <a:ea typeface="MiSans" pitchFamily="34" charset="-122"/>
                <a:cs typeface="MiSans" pitchFamily="34" charset="-120"/>
              </a:rPr>
              <a:t>和</a:t>
            </a:r>
            <a:r>
              <a:rPr lang="en-US" sz="1800" dirty="0">
                <a:solidFill>
                  <a:srgbClr val="E0E2E4"/>
                </a:solidFill>
                <a:highlight>
                  <a:srgbClr val="B38B59">
                    <a:alpha val="30000"/>
                  </a:srgbClr>
                </a:highlight>
                <a:latin typeface="MiSans" pitchFamily="34" charset="0"/>
                <a:ea typeface="MiSans" pitchFamily="34" charset="-122"/>
                <a:cs typeface="MiSans" pitchFamily="34" charset="-120"/>
              </a:rPr>
              <a:t> 分布式控制 </a:t>
            </a:r>
            <a:r>
              <a:rPr lang="en-US" sz="1800" dirty="0">
                <a:solidFill>
                  <a:srgbClr val="E0E2E4"/>
                </a:solidFill>
                <a:latin typeface="MiSans" pitchFamily="34" charset="0"/>
                <a:ea typeface="MiSans" pitchFamily="34" charset="-122"/>
                <a:cs typeface="MiSans" pitchFamily="34" charset="-120"/>
              </a:rPr>
              <a:t>的容器编排平台,通过Pod的多容器协作模型,提供完整的Namespace/CGroups隔离体系和丰富的云原生生态,适合微服务架构和多云部署。</a:t>
            </a:r>
            <a:endParaRPr lang="en-US" sz="1600" dirty="0"/>
          </a:p>
        </p:txBody>
      </p:sp>
      <p:sp>
        <p:nvSpPr>
          <p:cNvPr id="11" name="Shape 8"/>
          <p:cNvSpPr/>
          <p:nvPr/>
        </p:nvSpPr>
        <p:spPr>
          <a:xfrm>
            <a:off x="514350" y="6413500"/>
            <a:ext cx="4927600" cy="1384300"/>
          </a:xfrm>
          <a:custGeom>
            <a:avLst/>
            <a:gdLst/>
            <a:ahLst/>
            <a:cxnLst/>
            <a:rect l="l" t="t" r="r" b="b"/>
            <a:pathLst>
              <a:path w="4927600" h="1384300">
                <a:moveTo>
                  <a:pt x="101594" y="0"/>
                </a:moveTo>
                <a:lnTo>
                  <a:pt x="4826006" y="0"/>
                </a:lnTo>
                <a:cubicBezTo>
                  <a:pt x="4882115" y="0"/>
                  <a:pt x="4927600" y="45485"/>
                  <a:pt x="4927600" y="101594"/>
                </a:cubicBezTo>
                <a:lnTo>
                  <a:pt x="4927600" y="1282706"/>
                </a:lnTo>
                <a:cubicBezTo>
                  <a:pt x="4927600" y="1338815"/>
                  <a:pt x="4882115" y="1384300"/>
                  <a:pt x="4826006" y="1384300"/>
                </a:cubicBezTo>
                <a:lnTo>
                  <a:pt x="101594" y="1384300"/>
                </a:lnTo>
                <a:cubicBezTo>
                  <a:pt x="45485" y="1384300"/>
                  <a:pt x="0" y="1338815"/>
                  <a:pt x="0" y="1282706"/>
                </a:cubicBezTo>
                <a:lnTo>
                  <a:pt x="0" y="101594"/>
                </a:lnTo>
                <a:cubicBezTo>
                  <a:pt x="0" y="45485"/>
                  <a:pt x="45485" y="0"/>
                  <a:pt x="101594"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12" name="Shape 9"/>
          <p:cNvSpPr/>
          <p:nvPr/>
        </p:nvSpPr>
        <p:spPr>
          <a:xfrm>
            <a:off x="723900" y="6648450"/>
            <a:ext cx="381000" cy="304800"/>
          </a:xfrm>
          <a:custGeom>
            <a:avLst/>
            <a:gdLst/>
            <a:ahLst/>
            <a:cxnLst/>
            <a:rect l="l" t="t" r="r" b="b"/>
            <a:pathLst>
              <a:path w="381000" h="304800">
                <a:moveTo>
                  <a:pt x="228600" y="19050"/>
                </a:moveTo>
                <a:lnTo>
                  <a:pt x="304800" y="19050"/>
                </a:lnTo>
                <a:cubicBezTo>
                  <a:pt x="315337" y="19050"/>
                  <a:pt x="323850" y="27563"/>
                  <a:pt x="323850" y="38100"/>
                </a:cubicBezTo>
                <a:cubicBezTo>
                  <a:pt x="323850" y="48637"/>
                  <a:pt x="315337" y="57150"/>
                  <a:pt x="304800" y="57150"/>
                </a:cubicBezTo>
                <a:lnTo>
                  <a:pt x="237173" y="57150"/>
                </a:lnTo>
                <a:cubicBezTo>
                  <a:pt x="234077" y="72509"/>
                  <a:pt x="223540" y="85189"/>
                  <a:pt x="209550" y="91261"/>
                </a:cubicBezTo>
                <a:lnTo>
                  <a:pt x="209550" y="266700"/>
                </a:lnTo>
                <a:lnTo>
                  <a:pt x="304800" y="266700"/>
                </a:lnTo>
                <a:cubicBezTo>
                  <a:pt x="315337" y="266700"/>
                  <a:pt x="323850" y="275213"/>
                  <a:pt x="323850" y="285750"/>
                </a:cubicBezTo>
                <a:cubicBezTo>
                  <a:pt x="323850" y="296287"/>
                  <a:pt x="315337" y="304800"/>
                  <a:pt x="304800" y="304800"/>
                </a:cubicBezTo>
                <a:lnTo>
                  <a:pt x="76200" y="304800"/>
                </a:lnTo>
                <a:cubicBezTo>
                  <a:pt x="65663" y="304800"/>
                  <a:pt x="57150" y="296287"/>
                  <a:pt x="57150" y="285750"/>
                </a:cubicBezTo>
                <a:cubicBezTo>
                  <a:pt x="57150" y="275213"/>
                  <a:pt x="65663" y="266700"/>
                  <a:pt x="76200" y="266700"/>
                </a:cubicBezTo>
                <a:lnTo>
                  <a:pt x="171450" y="266700"/>
                </a:lnTo>
                <a:lnTo>
                  <a:pt x="171450" y="91261"/>
                </a:lnTo>
                <a:cubicBezTo>
                  <a:pt x="157460" y="85130"/>
                  <a:pt x="146923" y="72450"/>
                  <a:pt x="143828" y="57150"/>
                </a:cubicBezTo>
                <a:lnTo>
                  <a:pt x="76200" y="57150"/>
                </a:lnTo>
                <a:cubicBezTo>
                  <a:pt x="65663" y="57150"/>
                  <a:pt x="57150" y="48637"/>
                  <a:pt x="57150" y="38100"/>
                </a:cubicBezTo>
                <a:cubicBezTo>
                  <a:pt x="57150" y="27563"/>
                  <a:pt x="65663" y="19050"/>
                  <a:pt x="76200" y="19050"/>
                </a:cubicBezTo>
                <a:lnTo>
                  <a:pt x="152400" y="19050"/>
                </a:lnTo>
                <a:cubicBezTo>
                  <a:pt x="161092" y="7501"/>
                  <a:pt x="174903" y="0"/>
                  <a:pt x="190500" y="0"/>
                </a:cubicBezTo>
                <a:cubicBezTo>
                  <a:pt x="206097" y="0"/>
                  <a:pt x="219908" y="7501"/>
                  <a:pt x="228600" y="19050"/>
                </a:cubicBezTo>
                <a:close/>
                <a:moveTo>
                  <a:pt x="261699" y="190500"/>
                </a:moveTo>
                <a:lnTo>
                  <a:pt x="347901" y="190500"/>
                </a:lnTo>
                <a:lnTo>
                  <a:pt x="304800" y="116562"/>
                </a:lnTo>
                <a:lnTo>
                  <a:pt x="261699" y="190500"/>
                </a:lnTo>
                <a:close/>
                <a:moveTo>
                  <a:pt x="304800" y="247650"/>
                </a:moveTo>
                <a:cubicBezTo>
                  <a:pt x="267355" y="247650"/>
                  <a:pt x="236220" y="227409"/>
                  <a:pt x="229791" y="200680"/>
                </a:cubicBezTo>
                <a:cubicBezTo>
                  <a:pt x="228243" y="194131"/>
                  <a:pt x="230386" y="187404"/>
                  <a:pt x="233779" y="181570"/>
                </a:cubicBezTo>
                <a:lnTo>
                  <a:pt x="290453" y="84415"/>
                </a:lnTo>
                <a:cubicBezTo>
                  <a:pt x="293430" y="79296"/>
                  <a:pt x="298906" y="76200"/>
                  <a:pt x="304800" y="76200"/>
                </a:cubicBezTo>
                <a:cubicBezTo>
                  <a:pt x="310694" y="76200"/>
                  <a:pt x="316170" y="79355"/>
                  <a:pt x="319147" y="84415"/>
                </a:cubicBezTo>
                <a:lnTo>
                  <a:pt x="375821" y="181570"/>
                </a:lnTo>
                <a:cubicBezTo>
                  <a:pt x="379214" y="187404"/>
                  <a:pt x="381357" y="194131"/>
                  <a:pt x="379809" y="200680"/>
                </a:cubicBezTo>
                <a:cubicBezTo>
                  <a:pt x="373380" y="227350"/>
                  <a:pt x="342245" y="247650"/>
                  <a:pt x="304800" y="247650"/>
                </a:cubicBezTo>
                <a:close/>
                <a:moveTo>
                  <a:pt x="75486" y="116562"/>
                </a:moveTo>
                <a:lnTo>
                  <a:pt x="32385" y="190500"/>
                </a:lnTo>
                <a:lnTo>
                  <a:pt x="118646" y="190500"/>
                </a:lnTo>
                <a:lnTo>
                  <a:pt x="75486" y="116562"/>
                </a:lnTo>
                <a:close/>
                <a:moveTo>
                  <a:pt x="536" y="200680"/>
                </a:moveTo>
                <a:cubicBezTo>
                  <a:pt x="-1012" y="194131"/>
                  <a:pt x="1131" y="187404"/>
                  <a:pt x="4524" y="181570"/>
                </a:cubicBezTo>
                <a:lnTo>
                  <a:pt x="61198" y="84415"/>
                </a:lnTo>
                <a:cubicBezTo>
                  <a:pt x="64175" y="79296"/>
                  <a:pt x="69652" y="76200"/>
                  <a:pt x="75545" y="76200"/>
                </a:cubicBezTo>
                <a:cubicBezTo>
                  <a:pt x="81439" y="76200"/>
                  <a:pt x="86916" y="79355"/>
                  <a:pt x="89892" y="84415"/>
                </a:cubicBezTo>
                <a:lnTo>
                  <a:pt x="146566" y="181570"/>
                </a:lnTo>
                <a:cubicBezTo>
                  <a:pt x="149959" y="187404"/>
                  <a:pt x="152102" y="194131"/>
                  <a:pt x="150555" y="200680"/>
                </a:cubicBezTo>
                <a:cubicBezTo>
                  <a:pt x="144125" y="227350"/>
                  <a:pt x="112990" y="247650"/>
                  <a:pt x="75545" y="247650"/>
                </a:cubicBezTo>
                <a:cubicBezTo>
                  <a:pt x="38100" y="247650"/>
                  <a:pt x="6965" y="227409"/>
                  <a:pt x="536" y="200680"/>
                </a:cubicBezTo>
                <a:close/>
              </a:path>
            </a:pathLst>
          </a:custGeom>
          <a:solidFill>
            <a:srgbClr val="B38B59"/>
          </a:solidFill>
          <a:ln/>
        </p:spPr>
        <p:txBody>
          <a:bodyPr/>
          <a:lstStyle/>
          <a:p>
            <a:endParaRPr lang="zh-CN" altLang="en-US"/>
          </a:p>
        </p:txBody>
      </p:sp>
      <p:sp>
        <p:nvSpPr>
          <p:cNvPr id="13" name="Text 10"/>
          <p:cNvSpPr/>
          <p:nvPr/>
        </p:nvSpPr>
        <p:spPr>
          <a:xfrm>
            <a:off x="1206500" y="6623050"/>
            <a:ext cx="1651000" cy="355600"/>
          </a:xfrm>
          <a:prstGeom prst="rect">
            <a:avLst/>
          </a:prstGeom>
          <a:noFill/>
          <a:ln/>
        </p:spPr>
        <p:txBody>
          <a:bodyPr wrap="square" lIns="0" tIns="0" rIns="0" bIns="0" rtlCol="0" anchor="ctr"/>
          <a:lstStyle/>
          <a:p>
            <a:pPr>
              <a:lnSpc>
                <a:spcPct val="120000"/>
              </a:lnSpc>
            </a:pPr>
            <a:r>
              <a:rPr lang="en-US" sz="2000" b="1" dirty="0">
                <a:solidFill>
                  <a:srgbClr val="E0E2E4"/>
                </a:solidFill>
                <a:latin typeface="MiSans" pitchFamily="34" charset="0"/>
                <a:ea typeface="MiSans" pitchFamily="34" charset="-122"/>
                <a:cs typeface="MiSans" pitchFamily="34" charset="-120"/>
              </a:rPr>
              <a:t>技术选型原则</a:t>
            </a:r>
            <a:endParaRPr lang="en-US" sz="1600" dirty="0"/>
          </a:p>
        </p:txBody>
      </p:sp>
      <p:sp>
        <p:nvSpPr>
          <p:cNvPr id="14" name="Text 11"/>
          <p:cNvSpPr/>
          <p:nvPr/>
        </p:nvSpPr>
        <p:spPr>
          <a:xfrm>
            <a:off x="723900" y="7080250"/>
            <a:ext cx="4597400" cy="508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基于业务场景、技术栈现状、团队能力、未来规划综合评估,选择最适合的资源管理方案</a:t>
            </a:r>
            <a:endParaRPr lang="en-US" sz="1600" dirty="0"/>
          </a:p>
        </p:txBody>
      </p:sp>
      <p:sp>
        <p:nvSpPr>
          <p:cNvPr id="15" name="Shape 12"/>
          <p:cNvSpPr/>
          <p:nvPr/>
        </p:nvSpPr>
        <p:spPr>
          <a:xfrm>
            <a:off x="5662017" y="6413500"/>
            <a:ext cx="4927600" cy="1384300"/>
          </a:xfrm>
          <a:custGeom>
            <a:avLst/>
            <a:gdLst/>
            <a:ahLst/>
            <a:cxnLst/>
            <a:rect l="l" t="t" r="r" b="b"/>
            <a:pathLst>
              <a:path w="4927600" h="1384300">
                <a:moveTo>
                  <a:pt x="101594" y="0"/>
                </a:moveTo>
                <a:lnTo>
                  <a:pt x="4826006" y="0"/>
                </a:lnTo>
                <a:cubicBezTo>
                  <a:pt x="4882115" y="0"/>
                  <a:pt x="4927600" y="45485"/>
                  <a:pt x="4927600" y="101594"/>
                </a:cubicBezTo>
                <a:lnTo>
                  <a:pt x="4927600" y="1282706"/>
                </a:lnTo>
                <a:cubicBezTo>
                  <a:pt x="4927600" y="1338815"/>
                  <a:pt x="4882115" y="1384300"/>
                  <a:pt x="4826006" y="1384300"/>
                </a:cubicBezTo>
                <a:lnTo>
                  <a:pt x="101594" y="1384300"/>
                </a:lnTo>
                <a:cubicBezTo>
                  <a:pt x="45485" y="1384300"/>
                  <a:pt x="0" y="1338815"/>
                  <a:pt x="0" y="1282706"/>
                </a:cubicBezTo>
                <a:lnTo>
                  <a:pt x="0" y="101594"/>
                </a:lnTo>
                <a:cubicBezTo>
                  <a:pt x="0" y="45485"/>
                  <a:pt x="45485" y="0"/>
                  <a:pt x="101594" y="0"/>
                </a:cubicBezTo>
                <a:close/>
              </a:path>
            </a:pathLst>
          </a:custGeom>
          <a:solidFill>
            <a:srgbClr val="B38B59">
              <a:alpha val="10196"/>
            </a:srgbClr>
          </a:solidFill>
          <a:ln w="12700">
            <a:solidFill>
              <a:srgbClr val="B38B59">
                <a:alpha val="30196"/>
              </a:srgbClr>
            </a:solidFill>
            <a:prstDash val="solid"/>
          </a:ln>
        </p:spPr>
        <p:txBody>
          <a:bodyPr/>
          <a:lstStyle/>
          <a:p>
            <a:endParaRPr lang="zh-CN" altLang="en-US"/>
          </a:p>
        </p:txBody>
      </p:sp>
      <p:sp>
        <p:nvSpPr>
          <p:cNvPr id="16" name="Shape 13"/>
          <p:cNvSpPr/>
          <p:nvPr/>
        </p:nvSpPr>
        <p:spPr>
          <a:xfrm>
            <a:off x="5909667" y="6648450"/>
            <a:ext cx="304800" cy="304800"/>
          </a:xfrm>
          <a:custGeom>
            <a:avLst/>
            <a:gdLst/>
            <a:ahLst/>
            <a:cxnLst/>
            <a:rect l="l" t="t" r="r" b="b"/>
            <a:pathLst>
              <a:path w="304800" h="304800">
                <a:moveTo>
                  <a:pt x="138410" y="3096"/>
                </a:moveTo>
                <a:cubicBezTo>
                  <a:pt x="147280" y="-1012"/>
                  <a:pt x="157520" y="-1012"/>
                  <a:pt x="166390" y="3096"/>
                </a:cubicBezTo>
                <a:lnTo>
                  <a:pt x="296525" y="63222"/>
                </a:lnTo>
                <a:cubicBezTo>
                  <a:pt x="301585" y="65544"/>
                  <a:pt x="304800" y="70604"/>
                  <a:pt x="304800" y="76200"/>
                </a:cubicBezTo>
                <a:cubicBezTo>
                  <a:pt x="304800" y="81796"/>
                  <a:pt x="301585" y="86856"/>
                  <a:pt x="296525" y="89178"/>
                </a:cubicBezTo>
                <a:lnTo>
                  <a:pt x="166390" y="149304"/>
                </a:lnTo>
                <a:cubicBezTo>
                  <a:pt x="157520" y="153412"/>
                  <a:pt x="147280" y="153412"/>
                  <a:pt x="138410" y="149304"/>
                </a:cubicBezTo>
                <a:lnTo>
                  <a:pt x="8275" y="89178"/>
                </a:lnTo>
                <a:cubicBezTo>
                  <a:pt x="3215" y="86797"/>
                  <a:pt x="0" y="81736"/>
                  <a:pt x="0" y="76200"/>
                </a:cubicBezTo>
                <a:cubicBezTo>
                  <a:pt x="0" y="70664"/>
                  <a:pt x="3215" y="65544"/>
                  <a:pt x="8275" y="63222"/>
                </a:cubicBezTo>
                <a:lnTo>
                  <a:pt x="138410" y="3096"/>
                </a:lnTo>
                <a:close/>
                <a:moveTo>
                  <a:pt x="28635" y="130016"/>
                </a:moveTo>
                <a:lnTo>
                  <a:pt x="126444" y="175200"/>
                </a:lnTo>
                <a:cubicBezTo>
                  <a:pt x="142935" y="182820"/>
                  <a:pt x="161925" y="182820"/>
                  <a:pt x="178415" y="175200"/>
                </a:cubicBezTo>
                <a:lnTo>
                  <a:pt x="276225" y="130016"/>
                </a:lnTo>
                <a:lnTo>
                  <a:pt x="296525" y="139422"/>
                </a:lnTo>
                <a:cubicBezTo>
                  <a:pt x="301585" y="141744"/>
                  <a:pt x="304800" y="146804"/>
                  <a:pt x="304800" y="152400"/>
                </a:cubicBezTo>
                <a:cubicBezTo>
                  <a:pt x="304800" y="157996"/>
                  <a:pt x="301585" y="163056"/>
                  <a:pt x="296525" y="165378"/>
                </a:cubicBezTo>
                <a:lnTo>
                  <a:pt x="166390" y="225504"/>
                </a:lnTo>
                <a:cubicBezTo>
                  <a:pt x="157520" y="229612"/>
                  <a:pt x="147280" y="229612"/>
                  <a:pt x="138410" y="225504"/>
                </a:cubicBezTo>
                <a:lnTo>
                  <a:pt x="8275" y="165378"/>
                </a:lnTo>
                <a:cubicBezTo>
                  <a:pt x="3215" y="162997"/>
                  <a:pt x="0" y="157936"/>
                  <a:pt x="0" y="152400"/>
                </a:cubicBezTo>
                <a:cubicBezTo>
                  <a:pt x="0" y="146864"/>
                  <a:pt x="3215" y="141744"/>
                  <a:pt x="8275" y="139422"/>
                </a:cubicBezTo>
                <a:lnTo>
                  <a:pt x="28575" y="130016"/>
                </a:lnTo>
                <a:close/>
                <a:moveTo>
                  <a:pt x="8275" y="215622"/>
                </a:moveTo>
                <a:lnTo>
                  <a:pt x="28575" y="206216"/>
                </a:lnTo>
                <a:lnTo>
                  <a:pt x="126385" y="251400"/>
                </a:lnTo>
                <a:cubicBezTo>
                  <a:pt x="142875" y="259020"/>
                  <a:pt x="161865" y="259020"/>
                  <a:pt x="178356" y="251400"/>
                </a:cubicBezTo>
                <a:lnTo>
                  <a:pt x="276165" y="206216"/>
                </a:lnTo>
                <a:lnTo>
                  <a:pt x="296466" y="215622"/>
                </a:lnTo>
                <a:cubicBezTo>
                  <a:pt x="301526" y="217944"/>
                  <a:pt x="304740" y="223004"/>
                  <a:pt x="304740" y="228600"/>
                </a:cubicBezTo>
                <a:cubicBezTo>
                  <a:pt x="304740" y="234196"/>
                  <a:pt x="301526" y="239256"/>
                  <a:pt x="296466" y="241578"/>
                </a:cubicBezTo>
                <a:lnTo>
                  <a:pt x="166330" y="301704"/>
                </a:lnTo>
                <a:cubicBezTo>
                  <a:pt x="157460" y="305812"/>
                  <a:pt x="147221" y="305812"/>
                  <a:pt x="138351" y="301704"/>
                </a:cubicBezTo>
                <a:lnTo>
                  <a:pt x="8275" y="241578"/>
                </a:lnTo>
                <a:cubicBezTo>
                  <a:pt x="3215" y="239197"/>
                  <a:pt x="0" y="234136"/>
                  <a:pt x="0" y="228600"/>
                </a:cubicBezTo>
                <a:cubicBezTo>
                  <a:pt x="0" y="223064"/>
                  <a:pt x="3215" y="217944"/>
                  <a:pt x="8275" y="215622"/>
                </a:cubicBezTo>
                <a:close/>
              </a:path>
            </a:pathLst>
          </a:custGeom>
          <a:solidFill>
            <a:srgbClr val="3C8082"/>
          </a:solidFill>
          <a:ln/>
        </p:spPr>
        <p:txBody>
          <a:bodyPr/>
          <a:lstStyle/>
          <a:p>
            <a:endParaRPr lang="zh-CN" altLang="en-US"/>
          </a:p>
        </p:txBody>
      </p:sp>
      <p:sp>
        <p:nvSpPr>
          <p:cNvPr id="17" name="Text 14"/>
          <p:cNvSpPr/>
          <p:nvPr/>
        </p:nvSpPr>
        <p:spPr>
          <a:xfrm>
            <a:off x="6354167" y="6623050"/>
            <a:ext cx="1651000" cy="355600"/>
          </a:xfrm>
          <a:prstGeom prst="rect">
            <a:avLst/>
          </a:prstGeom>
          <a:noFill/>
          <a:ln/>
        </p:spPr>
        <p:txBody>
          <a:bodyPr wrap="square" lIns="0" tIns="0" rIns="0" bIns="0" rtlCol="0" anchor="ctr"/>
          <a:lstStyle/>
          <a:p>
            <a:pPr>
              <a:lnSpc>
                <a:spcPct val="120000"/>
              </a:lnSpc>
            </a:pPr>
            <a:r>
              <a:rPr lang="en-US" sz="2000" b="1" dirty="0">
                <a:solidFill>
                  <a:srgbClr val="E0E2E4"/>
                </a:solidFill>
                <a:latin typeface="MiSans" pitchFamily="34" charset="0"/>
                <a:ea typeface="MiSans" pitchFamily="34" charset="-122"/>
                <a:cs typeface="MiSans" pitchFamily="34" charset="-120"/>
              </a:rPr>
              <a:t>技术融合策略</a:t>
            </a:r>
            <a:endParaRPr lang="en-US" sz="1600" dirty="0"/>
          </a:p>
        </p:txBody>
      </p:sp>
      <p:sp>
        <p:nvSpPr>
          <p:cNvPr id="18" name="Text 15"/>
          <p:cNvSpPr/>
          <p:nvPr/>
        </p:nvSpPr>
        <p:spPr>
          <a:xfrm>
            <a:off x="5871567" y="7080250"/>
            <a:ext cx="4597400" cy="508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采用Spark on Kubernetes、YARN on K8s等融合方案,统一资源管理平台,兼顾两种技术优势</a:t>
            </a:r>
            <a:endParaRPr lang="en-US" sz="1600" dirty="0"/>
          </a:p>
        </p:txBody>
      </p:sp>
      <p:sp>
        <p:nvSpPr>
          <p:cNvPr id="19" name="Shape 16"/>
          <p:cNvSpPr/>
          <p:nvPr/>
        </p:nvSpPr>
        <p:spPr>
          <a:xfrm>
            <a:off x="10809784" y="6413500"/>
            <a:ext cx="4927600" cy="1384300"/>
          </a:xfrm>
          <a:custGeom>
            <a:avLst/>
            <a:gdLst/>
            <a:ahLst/>
            <a:cxnLst/>
            <a:rect l="l" t="t" r="r" b="b"/>
            <a:pathLst>
              <a:path w="4927600" h="1384300">
                <a:moveTo>
                  <a:pt x="101594" y="0"/>
                </a:moveTo>
                <a:lnTo>
                  <a:pt x="4826006" y="0"/>
                </a:lnTo>
                <a:cubicBezTo>
                  <a:pt x="4882115" y="0"/>
                  <a:pt x="4927600" y="45485"/>
                  <a:pt x="4927600" y="101594"/>
                </a:cubicBezTo>
                <a:lnTo>
                  <a:pt x="4927600" y="1282706"/>
                </a:lnTo>
                <a:cubicBezTo>
                  <a:pt x="4927600" y="1338815"/>
                  <a:pt x="4882115" y="1384300"/>
                  <a:pt x="4826006" y="1384300"/>
                </a:cubicBezTo>
                <a:lnTo>
                  <a:pt x="101594" y="1384300"/>
                </a:lnTo>
                <a:cubicBezTo>
                  <a:pt x="45485" y="1384300"/>
                  <a:pt x="0" y="1338815"/>
                  <a:pt x="0" y="1282706"/>
                </a:cubicBezTo>
                <a:lnTo>
                  <a:pt x="0" y="101594"/>
                </a:lnTo>
                <a:cubicBezTo>
                  <a:pt x="0" y="45485"/>
                  <a:pt x="45485" y="0"/>
                  <a:pt x="101594" y="0"/>
                </a:cubicBezTo>
                <a:close/>
              </a:path>
            </a:pathLst>
          </a:custGeom>
          <a:solidFill>
            <a:srgbClr val="3C8082">
              <a:alpha val="10196"/>
            </a:srgbClr>
          </a:solidFill>
          <a:ln w="12700">
            <a:solidFill>
              <a:srgbClr val="3C8082">
                <a:alpha val="30196"/>
              </a:srgbClr>
            </a:solidFill>
            <a:prstDash val="solid"/>
          </a:ln>
        </p:spPr>
        <p:txBody>
          <a:bodyPr/>
          <a:lstStyle/>
          <a:p>
            <a:endParaRPr lang="zh-CN" altLang="en-US"/>
          </a:p>
        </p:txBody>
      </p:sp>
      <p:sp>
        <p:nvSpPr>
          <p:cNvPr id="20" name="Shape 17"/>
          <p:cNvSpPr/>
          <p:nvPr/>
        </p:nvSpPr>
        <p:spPr>
          <a:xfrm>
            <a:off x="11057434" y="6648450"/>
            <a:ext cx="304800" cy="304800"/>
          </a:xfrm>
          <a:custGeom>
            <a:avLst/>
            <a:gdLst/>
            <a:ahLst/>
            <a:cxnLst/>
            <a:rect l="l" t="t" r="r" b="b"/>
            <a:pathLst>
              <a:path w="304800" h="304800">
                <a:moveTo>
                  <a:pt x="38100" y="38100"/>
                </a:moveTo>
                <a:cubicBezTo>
                  <a:pt x="38100" y="27563"/>
                  <a:pt x="29587" y="19050"/>
                  <a:pt x="19050" y="19050"/>
                </a:cubicBezTo>
                <a:cubicBezTo>
                  <a:pt x="8513" y="19050"/>
                  <a:pt x="0" y="27563"/>
                  <a:pt x="0" y="38100"/>
                </a:cubicBezTo>
                <a:lnTo>
                  <a:pt x="0" y="238125"/>
                </a:lnTo>
                <a:cubicBezTo>
                  <a:pt x="0" y="264438"/>
                  <a:pt x="21312" y="285750"/>
                  <a:pt x="47625" y="285750"/>
                </a:cubicBezTo>
                <a:lnTo>
                  <a:pt x="285750" y="285750"/>
                </a:lnTo>
                <a:cubicBezTo>
                  <a:pt x="296287" y="285750"/>
                  <a:pt x="304800" y="277237"/>
                  <a:pt x="304800" y="266700"/>
                </a:cubicBezTo>
                <a:cubicBezTo>
                  <a:pt x="304800" y="256163"/>
                  <a:pt x="296287" y="247650"/>
                  <a:pt x="285750" y="247650"/>
                </a:cubicBezTo>
                <a:lnTo>
                  <a:pt x="47625" y="247650"/>
                </a:lnTo>
                <a:cubicBezTo>
                  <a:pt x="42386" y="247650"/>
                  <a:pt x="38100" y="243364"/>
                  <a:pt x="38100" y="238125"/>
                </a:cubicBezTo>
                <a:lnTo>
                  <a:pt x="38100" y="38100"/>
                </a:lnTo>
                <a:close/>
                <a:moveTo>
                  <a:pt x="280154" y="89654"/>
                </a:moveTo>
                <a:cubicBezTo>
                  <a:pt x="287595" y="82213"/>
                  <a:pt x="287595" y="70128"/>
                  <a:pt x="280154" y="62686"/>
                </a:cubicBezTo>
                <a:cubicBezTo>
                  <a:pt x="272713" y="55245"/>
                  <a:pt x="260628" y="55245"/>
                  <a:pt x="253186" y="62686"/>
                </a:cubicBezTo>
                <a:lnTo>
                  <a:pt x="190500" y="125432"/>
                </a:lnTo>
                <a:lnTo>
                  <a:pt x="156329" y="91321"/>
                </a:lnTo>
                <a:cubicBezTo>
                  <a:pt x="148888" y="83880"/>
                  <a:pt x="136803" y="83880"/>
                  <a:pt x="129361" y="91321"/>
                </a:cubicBezTo>
                <a:lnTo>
                  <a:pt x="72211" y="148471"/>
                </a:lnTo>
                <a:cubicBezTo>
                  <a:pt x="64770" y="155912"/>
                  <a:pt x="64770" y="167997"/>
                  <a:pt x="72211" y="175439"/>
                </a:cubicBezTo>
                <a:cubicBezTo>
                  <a:pt x="79653" y="182880"/>
                  <a:pt x="91738" y="182880"/>
                  <a:pt x="99179" y="175439"/>
                </a:cubicBezTo>
                <a:lnTo>
                  <a:pt x="142875" y="131743"/>
                </a:lnTo>
                <a:lnTo>
                  <a:pt x="177046" y="165914"/>
                </a:lnTo>
                <a:cubicBezTo>
                  <a:pt x="184487" y="173355"/>
                  <a:pt x="196572" y="173355"/>
                  <a:pt x="204014" y="165914"/>
                </a:cubicBezTo>
                <a:lnTo>
                  <a:pt x="280214" y="89714"/>
                </a:lnTo>
                <a:close/>
              </a:path>
            </a:pathLst>
          </a:custGeom>
          <a:solidFill>
            <a:srgbClr val="B38B59"/>
          </a:solidFill>
          <a:ln/>
        </p:spPr>
        <p:txBody>
          <a:bodyPr/>
          <a:lstStyle/>
          <a:p>
            <a:endParaRPr lang="zh-CN" altLang="en-US"/>
          </a:p>
        </p:txBody>
      </p:sp>
      <p:sp>
        <p:nvSpPr>
          <p:cNvPr id="21" name="Text 18"/>
          <p:cNvSpPr/>
          <p:nvPr/>
        </p:nvSpPr>
        <p:spPr>
          <a:xfrm>
            <a:off x="11501934" y="6623050"/>
            <a:ext cx="1651000" cy="355600"/>
          </a:xfrm>
          <a:prstGeom prst="rect">
            <a:avLst/>
          </a:prstGeom>
          <a:noFill/>
          <a:ln/>
        </p:spPr>
        <p:txBody>
          <a:bodyPr wrap="square" lIns="0" tIns="0" rIns="0" bIns="0" rtlCol="0" anchor="ctr"/>
          <a:lstStyle/>
          <a:p>
            <a:pPr>
              <a:lnSpc>
                <a:spcPct val="120000"/>
              </a:lnSpc>
            </a:pPr>
            <a:r>
              <a:rPr lang="en-US" sz="2000" b="1" dirty="0">
                <a:solidFill>
                  <a:srgbClr val="E0E2E4"/>
                </a:solidFill>
                <a:latin typeface="MiSans" pitchFamily="34" charset="0"/>
                <a:ea typeface="MiSans" pitchFamily="34" charset="-122"/>
                <a:cs typeface="MiSans" pitchFamily="34" charset="-120"/>
              </a:rPr>
              <a:t>未来发展趋势</a:t>
            </a:r>
            <a:endParaRPr lang="en-US" sz="1600" dirty="0"/>
          </a:p>
        </p:txBody>
      </p:sp>
      <p:sp>
        <p:nvSpPr>
          <p:cNvPr id="22" name="Text 19"/>
          <p:cNvSpPr/>
          <p:nvPr/>
        </p:nvSpPr>
        <p:spPr>
          <a:xfrm>
            <a:off x="11019334" y="7080250"/>
            <a:ext cx="4597400" cy="508000"/>
          </a:xfrm>
          <a:prstGeom prst="rect">
            <a:avLst/>
          </a:prstGeom>
          <a:noFill/>
          <a:ln/>
        </p:spPr>
        <p:txBody>
          <a:bodyPr wrap="square" lIns="0" tIns="0" rIns="0" bIns="0" rtlCol="0" anchor="ctr"/>
          <a:lstStyle/>
          <a:p>
            <a:pPr>
              <a:lnSpc>
                <a:spcPct val="120000"/>
              </a:lnSpc>
            </a:pPr>
            <a:r>
              <a:rPr lang="en-US" sz="1400" dirty="0">
                <a:solidFill>
                  <a:srgbClr val="E0E2E4">
                    <a:alpha val="80000"/>
                  </a:srgbClr>
                </a:solidFill>
                <a:latin typeface="MiSans" pitchFamily="34" charset="0"/>
                <a:ea typeface="MiSans" pitchFamily="34" charset="-122"/>
                <a:cs typeface="MiSans" pitchFamily="34" charset="-120"/>
              </a:rPr>
              <a:t>Kubernetes成为统一基础设施,大数据框架拥抱云原生,技术边界逐渐模糊,生态融合发展</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4066</Words>
  <Application>Microsoft Macintosh PowerPoint</Application>
  <PresentationFormat>自定义</PresentationFormat>
  <Paragraphs>1152</Paragraphs>
  <Slides>30</Slides>
  <Notes>30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30</vt:i4>
      </vt:variant>
    </vt:vector>
  </HeadingPairs>
  <TitlesOfParts>
    <vt:vector size="36" baseType="lpstr">
      <vt:lpstr>MiSans</vt:lpstr>
      <vt:lpstr>微软雅黑</vt:lpstr>
      <vt:lpstr>Liter</vt:lpstr>
      <vt:lpstr>Arial</vt:lpstr>
      <vt:lpstr>Noto Sans SC</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从Linux内核到应用层:YARN与Kubernetes资源隔离技术全栈解析</dc:title>
  <dc:subject>从Linux内核到应用层:YARN与Kubernetes资源隔离技术全栈解析</dc:subject>
  <dc:creator>Kimi</dc:creator>
  <cp:lastModifiedBy>王 天青</cp:lastModifiedBy>
  <cp:revision>6</cp:revision>
  <dcterms:created xsi:type="dcterms:W3CDTF">2025-12-20T05:20:25Z</dcterms:created>
  <dcterms:modified xsi:type="dcterms:W3CDTF">2025-12-20T05:42:04Z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从Linux内核到应用层:YARN与Kubernetes资源隔离技术全栈解析","ContentProducer":"001191110108MACG2KBH8F10000","ProduceID":"19b3a277-0d32-8c3b-8000-00002ea606c6","ReservedCode1":"","ContentPropagator":"001191110108MACG2KBH8F20000","PropagateID":"19b3a277-0d32-8c3b-8000-00002ea606c6","ReservedCode2":""}</vt:lpwstr>
  </property>
</Properties>
</file>