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6256000" cy="9144000"/>
  <p:notesSz cx="9144000" cy="16256000"/>
  <p:embeddedFontLst>
    <p:embeddedFont>
      <p:font typeface="微软雅黑" panose="020B0503020204020204" pitchFamily="34" charset="-122"/>
      <p:regular r:id="rId33"/>
      <p:bold r:id="rId34"/>
    </p:embeddedFont>
    <p:embeddedFont>
      <p:font typeface="MiSans" pitchFamily="2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70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85725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285750" y="0"/>
                </a:moveTo>
                <a:lnTo>
                  <a:pt x="2152650" y="0"/>
                </a:lnTo>
                <a:cubicBezTo>
                  <a:pt x="2310360" y="0"/>
                  <a:pt x="2438400" y="128040"/>
                  <a:pt x="2438400" y="285750"/>
                </a:cubicBezTo>
                <a:lnTo>
                  <a:pt x="2438400" y="285750"/>
                </a:lnTo>
                <a:cubicBezTo>
                  <a:pt x="2438400" y="443460"/>
                  <a:pt x="2310360" y="571500"/>
                  <a:pt x="21526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5500" y="990600"/>
            <a:ext cx="1933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YARN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41500"/>
            <a:ext cx="914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分布式资源管理与调度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2959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753100"/>
            <a:ext cx="872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原理、架构与实现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92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63600" y="68199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统一资源管理平台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8000" y="748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63600" y="73787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多计算框架支持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8000" y="8039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63600" y="79375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高可用与容错机制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493500" y="2755900"/>
            <a:ext cx="2413000" cy="3632200"/>
          </a:xfrm>
          <a:custGeom>
            <a:avLst/>
            <a:gdLst/>
            <a:ahLst/>
            <a:cxnLst/>
            <a:rect l="l" t="t" r="r" b="b"/>
            <a:pathLst>
              <a:path w="2413000" h="3632200">
                <a:moveTo>
                  <a:pt x="203199" y="0"/>
                </a:moveTo>
                <a:lnTo>
                  <a:pt x="2209801" y="0"/>
                </a:lnTo>
                <a:cubicBezTo>
                  <a:pt x="2322025" y="0"/>
                  <a:pt x="2413000" y="90975"/>
                  <a:pt x="2413000" y="203199"/>
                </a:cubicBezTo>
                <a:lnTo>
                  <a:pt x="2413000" y="3429001"/>
                </a:lnTo>
                <a:cubicBezTo>
                  <a:pt x="2413000" y="3541225"/>
                  <a:pt x="2322025" y="3632200"/>
                  <a:pt x="2209801" y="3632200"/>
                </a:cubicBezTo>
                <a:lnTo>
                  <a:pt x="203199" y="3632200"/>
                </a:lnTo>
                <a:cubicBezTo>
                  <a:pt x="90975" y="3632200"/>
                  <a:pt x="0" y="3541225"/>
                  <a:pt x="0" y="3429001"/>
                </a:cubicBezTo>
                <a:lnTo>
                  <a:pt x="0" y="203199"/>
                </a:lnTo>
                <a:cubicBezTo>
                  <a:pt x="0" y="90975"/>
                  <a:pt x="90975" y="0"/>
                  <a:pt x="2031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1474450" y="2736850"/>
            <a:ext cx="2451100" cy="3670300"/>
          </a:xfrm>
          <a:custGeom>
            <a:avLst/>
            <a:gdLst/>
            <a:ahLst/>
            <a:cxnLst/>
            <a:rect l="l" t="t" r="r" b="b"/>
            <a:pathLst>
              <a:path w="2451100" h="3670300">
                <a:moveTo>
                  <a:pt x="203196" y="0"/>
                </a:moveTo>
                <a:lnTo>
                  <a:pt x="2247904" y="0"/>
                </a:lnTo>
                <a:cubicBezTo>
                  <a:pt x="2360126" y="0"/>
                  <a:pt x="2451100" y="90974"/>
                  <a:pt x="2451100" y="203196"/>
                </a:cubicBezTo>
                <a:lnTo>
                  <a:pt x="2451100" y="3467104"/>
                </a:lnTo>
                <a:cubicBezTo>
                  <a:pt x="2451100" y="3579326"/>
                  <a:pt x="2360126" y="3670300"/>
                  <a:pt x="2247904" y="3670300"/>
                </a:cubicBezTo>
                <a:lnTo>
                  <a:pt x="203196" y="3670300"/>
                </a:lnTo>
                <a:cubicBezTo>
                  <a:pt x="90974" y="3670300"/>
                  <a:pt x="0" y="3579326"/>
                  <a:pt x="0" y="3467104"/>
                </a:cubicBezTo>
                <a:lnTo>
                  <a:pt x="0" y="203196"/>
                </a:lnTo>
                <a:cubicBezTo>
                  <a:pt x="0" y="91049"/>
                  <a:pt x="91049" y="0"/>
                  <a:pt x="203196" y="0"/>
                </a:cubicBezTo>
                <a:close/>
              </a:path>
            </a:pathLst>
          </a:custGeom>
          <a:solidFill>
            <a:srgbClr val="3D4A5C">
              <a:alpha val="60000"/>
            </a:srgbClr>
          </a:solidFill>
          <a:ln w="12700">
            <a:solidFill>
              <a:srgbClr val="4A9D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2115800" y="3378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1168400" h="1168400">
                <a:moveTo>
                  <a:pt x="584200" y="0"/>
                </a:moveTo>
                <a:lnTo>
                  <a:pt x="584200" y="0"/>
                </a:lnTo>
                <a:cubicBezTo>
                  <a:pt x="906629" y="0"/>
                  <a:pt x="1168400" y="261771"/>
                  <a:pt x="1168400" y="584200"/>
                </a:cubicBezTo>
                <a:lnTo>
                  <a:pt x="1168400" y="584200"/>
                </a:lnTo>
                <a:cubicBezTo>
                  <a:pt x="1168400" y="906629"/>
                  <a:pt x="906629" y="1168400"/>
                  <a:pt x="584200" y="1168400"/>
                </a:cubicBezTo>
                <a:lnTo>
                  <a:pt x="584200" y="1168400"/>
                </a:lnTo>
                <a:cubicBezTo>
                  <a:pt x="261771" y="1168400"/>
                  <a:pt x="0" y="906629"/>
                  <a:pt x="0" y="584200"/>
                </a:cubicBezTo>
                <a:lnTo>
                  <a:pt x="0" y="584200"/>
                </a:lnTo>
                <a:cubicBezTo>
                  <a:pt x="0" y="261771"/>
                  <a:pt x="261771" y="0"/>
                  <a:pt x="5842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50800">
            <a:solidFill>
              <a:srgbClr val="4A9D9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2395200" y="365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039600" y="49784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2.0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014200" y="53848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1303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5367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3495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3213100"/>
            <a:ext cx="7391400" cy="2032000"/>
          </a:xfrm>
          <a:custGeom>
            <a:avLst/>
            <a:gdLst/>
            <a:ahLst/>
            <a:cxnLst/>
            <a:rect l="l" t="t" r="r" b="b"/>
            <a:pathLst>
              <a:path w="7391400" h="2032000">
                <a:moveTo>
                  <a:pt x="50800" y="0"/>
                </a:moveTo>
                <a:lnTo>
                  <a:pt x="7289800" y="0"/>
                </a:lnTo>
                <a:cubicBezTo>
                  <a:pt x="7345875" y="0"/>
                  <a:pt x="7391400" y="45525"/>
                  <a:pt x="7391400" y="101600"/>
                </a:cubicBezTo>
                <a:lnTo>
                  <a:pt x="7391400" y="1930400"/>
                </a:lnTo>
                <a:cubicBezTo>
                  <a:pt x="7391400" y="1986475"/>
                  <a:pt x="7345875" y="2032000"/>
                  <a:pt x="72898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32131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65200" y="3619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77230" y="37973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82800" y="36195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设计原理与架构演进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82800" y="4178300"/>
            <a:ext cx="553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从MapReduce v1的局限性出发，深入理解YARN的设计动机与架构创新，探索资源管理与作业调度分离的核心理念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3213100"/>
            <a:ext cx="7391400" cy="2032000"/>
          </a:xfrm>
          <a:custGeom>
            <a:avLst/>
            <a:gdLst/>
            <a:ahLst/>
            <a:cxnLst/>
            <a:rect l="l" t="t" r="r" b="b"/>
            <a:pathLst>
              <a:path w="7391400" h="2032000">
                <a:moveTo>
                  <a:pt x="50800" y="0"/>
                </a:moveTo>
                <a:lnTo>
                  <a:pt x="7289800" y="0"/>
                </a:lnTo>
                <a:cubicBezTo>
                  <a:pt x="7345875" y="0"/>
                  <a:pt x="7391400" y="45525"/>
                  <a:pt x="7391400" y="101600"/>
                </a:cubicBezTo>
                <a:lnTo>
                  <a:pt x="7391400" y="1930400"/>
                </a:lnTo>
                <a:cubicBezTo>
                  <a:pt x="7391400" y="1986475"/>
                  <a:pt x="7345875" y="2032000"/>
                  <a:pt x="72898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56600" y="32131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788400" y="3619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68284" y="37973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0" y="36195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应用生命周期与资源管理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0" y="4178300"/>
            <a:ext cx="553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深入理解YARN中应用的完整生命周期、多维资源模型与Container机制，掌握分布式资源管理的核心概念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5651500"/>
            <a:ext cx="7391400" cy="2362200"/>
          </a:xfrm>
          <a:custGeom>
            <a:avLst/>
            <a:gdLst/>
            <a:ahLst/>
            <a:cxnLst/>
            <a:rect l="l" t="t" r="r" b="b"/>
            <a:pathLst>
              <a:path w="7391400" h="2362200">
                <a:moveTo>
                  <a:pt x="50800" y="0"/>
                </a:moveTo>
                <a:lnTo>
                  <a:pt x="7289802" y="0"/>
                </a:lnTo>
                <a:cubicBezTo>
                  <a:pt x="7345913" y="0"/>
                  <a:pt x="7391400" y="45487"/>
                  <a:pt x="7391400" y="101598"/>
                </a:cubicBezTo>
                <a:lnTo>
                  <a:pt x="7391400" y="2260602"/>
                </a:lnTo>
                <a:cubicBezTo>
                  <a:pt x="7391400" y="2316713"/>
                  <a:pt x="7345913" y="2362200"/>
                  <a:pt x="7289802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56515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65200" y="6057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40123" y="62357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82800" y="60579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核心组件与运行机制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82800" y="6616700"/>
            <a:ext cx="5537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剖析ResourceManager、NodeManager、ApplicationMaster的协同工作机制，理解YARN的内部运行原理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5651500"/>
            <a:ext cx="7391400" cy="2362200"/>
          </a:xfrm>
          <a:custGeom>
            <a:avLst/>
            <a:gdLst/>
            <a:ahLst/>
            <a:cxnLst/>
            <a:rect l="l" t="t" r="r" b="b"/>
            <a:pathLst>
              <a:path w="7391400" h="2362200">
                <a:moveTo>
                  <a:pt x="50800" y="0"/>
                </a:moveTo>
                <a:lnTo>
                  <a:pt x="7289802" y="0"/>
                </a:lnTo>
                <a:cubicBezTo>
                  <a:pt x="7345913" y="0"/>
                  <a:pt x="7391400" y="45487"/>
                  <a:pt x="7391400" y="101598"/>
                </a:cubicBezTo>
                <a:lnTo>
                  <a:pt x="7391400" y="2260602"/>
                </a:lnTo>
                <a:cubicBezTo>
                  <a:pt x="7391400" y="2316713"/>
                  <a:pt x="7345913" y="2362200"/>
                  <a:pt x="7289802" y="2362200"/>
                </a:cubicBez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56600" y="5651500"/>
            <a:ext cx="50800" cy="2362200"/>
          </a:xfrm>
          <a:custGeom>
            <a:avLst/>
            <a:gdLst/>
            <a:ahLst/>
            <a:cxnLst/>
            <a:rect l="l" t="t" r="r" b="b"/>
            <a:pathLst>
              <a:path w="50800" h="2362200">
                <a:moveTo>
                  <a:pt x="50800" y="0"/>
                </a:moveTo>
                <a:lnTo>
                  <a:pt x="50800" y="0"/>
                </a:lnTo>
                <a:lnTo>
                  <a:pt x="50800" y="2362200"/>
                </a:lnTo>
                <a:lnTo>
                  <a:pt x="50800" y="2362200"/>
                </a:lnTo>
                <a:cubicBezTo>
                  <a:pt x="22763" y="2362200"/>
                  <a:pt x="0" y="2339437"/>
                  <a:pt x="0" y="2311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788400" y="6057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63720" y="62357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06000" y="60579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调度算法与性能优化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06000" y="6616700"/>
            <a:ext cx="553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掌握YARN的调度策略、数据本地性优化与性能调优方法，提升集群资源利用率和应用执行效率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20700" y="1349375"/>
            <a:ext cx="2921000" cy="736600"/>
          </a:xfrm>
          <a:custGeom>
            <a:avLst/>
            <a:gdLst/>
            <a:ahLst/>
            <a:cxnLst/>
            <a:rect l="l" t="t" r="r" b="b"/>
            <a:pathLst>
              <a:path w="2921000" h="736600">
                <a:moveTo>
                  <a:pt x="368300" y="0"/>
                </a:moveTo>
                <a:lnTo>
                  <a:pt x="2552700" y="0"/>
                </a:lnTo>
                <a:cubicBezTo>
                  <a:pt x="2755970" y="0"/>
                  <a:pt x="2921000" y="165030"/>
                  <a:pt x="2921000" y="368300"/>
                </a:cubicBezTo>
                <a:lnTo>
                  <a:pt x="2921000" y="368300"/>
                </a:lnTo>
                <a:cubicBezTo>
                  <a:pt x="2921000" y="571570"/>
                  <a:pt x="2755970" y="736600"/>
                  <a:pt x="2552700" y="736600"/>
                </a:cubicBezTo>
                <a:lnTo>
                  <a:pt x="368300" y="736600"/>
                </a:lnTo>
                <a:cubicBezTo>
                  <a:pt x="165030" y="736600"/>
                  <a:pt x="0" y="571570"/>
                  <a:pt x="0" y="368300"/>
                </a:cubicBezTo>
                <a:lnTo>
                  <a:pt x="0" y="368300"/>
                </a:lnTo>
                <a:cubicBezTo>
                  <a:pt x="0" y="165030"/>
                  <a:pt x="165030" y="0"/>
                  <a:pt x="3683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9800" y="1514475"/>
            <a:ext cx="22296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05075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架构演进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59475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569075"/>
            <a:ext cx="115697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从MapReduce v1的局限性出发，深入理解YARN的设计动机与架构创新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大数据计算架构的历史演进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0320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06400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23776" y="20574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8400" y="20320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单机时代 (1990s-2000s)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8400" y="2489200"/>
            <a:ext cx="695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传统关系型数据库和单机计算系统主导，面临数据量增长瓶颈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06500" y="2946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524000" y="2921000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Oracle, MySQL, 单机处理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3782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064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8794" y="34036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" y="33782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分布式计算兴起 (2003-2008)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8400" y="3835400"/>
            <a:ext cx="695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发布 GFS、MapReduce、BigTable 三篇奠基性论文，开启分布式计算时代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9200" y="4622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47625" y="101600"/>
                </a:moveTo>
                <a:cubicBezTo>
                  <a:pt x="42347" y="101600"/>
                  <a:pt x="38100" y="105847"/>
                  <a:pt x="38100" y="111125"/>
                </a:cubicBezTo>
                <a:cubicBezTo>
                  <a:pt x="38100" y="116403"/>
                  <a:pt x="42347" y="120650"/>
                  <a:pt x="47625" y="120650"/>
                </a:cubicBezTo>
                <a:lnTo>
                  <a:pt x="104775" y="120650"/>
                </a:lnTo>
                <a:cubicBezTo>
                  <a:pt x="110053" y="120650"/>
                  <a:pt x="114300" y="116403"/>
                  <a:pt x="114300" y="111125"/>
                </a:cubicBezTo>
                <a:cubicBezTo>
                  <a:pt x="114300" y="105847"/>
                  <a:pt x="110053" y="101600"/>
                  <a:pt x="104775" y="101600"/>
                </a:cubicBezTo>
                <a:lnTo>
                  <a:pt x="47625" y="101600"/>
                </a:lnTo>
                <a:close/>
                <a:moveTo>
                  <a:pt x="47625" y="139700"/>
                </a:moveTo>
                <a:cubicBezTo>
                  <a:pt x="42347" y="139700"/>
                  <a:pt x="38100" y="143947"/>
                  <a:pt x="38100" y="149225"/>
                </a:cubicBezTo>
                <a:cubicBezTo>
                  <a:pt x="38100" y="154503"/>
                  <a:pt x="42347" y="158750"/>
                  <a:pt x="47625" y="158750"/>
                </a:cubicBezTo>
                <a:lnTo>
                  <a:pt x="104775" y="158750"/>
                </a:lnTo>
                <a:cubicBezTo>
                  <a:pt x="110053" y="158750"/>
                  <a:pt x="114300" y="154503"/>
                  <a:pt x="114300" y="149225"/>
                </a:cubicBezTo>
                <a:cubicBezTo>
                  <a:pt x="114300" y="143947"/>
                  <a:pt x="110053" y="139700"/>
                  <a:pt x="104775" y="139700"/>
                </a:cubicBezTo>
                <a:lnTo>
                  <a:pt x="47625" y="1397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524000" y="45974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三驾马车: GFS, MapReduce, BigTable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50546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06400" y="505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6512" y="50800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8400" y="50546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生态建立 (2008-2013)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8400" y="5511800"/>
            <a:ext cx="695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Hadoop 项目快速发展，MapReduce v1 成为分布式计算的标准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93800" y="596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524000" y="59436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1.0, MapReduce v1, HDFS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64008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50800" h="1143000">
                <a:moveTo>
                  <a:pt x="0" y="0"/>
                </a:moveTo>
                <a:lnTo>
                  <a:pt x="50800" y="0"/>
                </a:lnTo>
                <a:lnTo>
                  <a:pt x="50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06400" y="640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06611" y="64262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8400" y="64008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多框架融合时代 (2013-至今)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68400" y="6858000"/>
            <a:ext cx="695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YARN、Spark、Flink 等新一代框架出现，实现统一资源管理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93800" y="731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24000" y="72898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YARN, Spark, Flink, 统一平台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35950" y="2038350"/>
            <a:ext cx="7505700" cy="3213100"/>
          </a:xfrm>
          <a:custGeom>
            <a:avLst/>
            <a:gdLst/>
            <a:ahLst/>
            <a:cxnLst/>
            <a:rect l="l" t="t" r="r" b="b"/>
            <a:pathLst>
              <a:path w="7505700" h="3213100">
                <a:moveTo>
                  <a:pt x="101598" y="0"/>
                </a:moveTo>
                <a:lnTo>
                  <a:pt x="7404102" y="0"/>
                </a:lnTo>
                <a:cubicBezTo>
                  <a:pt x="7460213" y="0"/>
                  <a:pt x="7505700" y="45487"/>
                  <a:pt x="7505700" y="101598"/>
                </a:cubicBezTo>
                <a:lnTo>
                  <a:pt x="7505700" y="3111502"/>
                </a:lnTo>
                <a:cubicBezTo>
                  <a:pt x="7505700" y="3167613"/>
                  <a:pt x="7460213" y="3213100"/>
                  <a:pt x="7404102" y="3213100"/>
                </a:cubicBezTo>
                <a:lnTo>
                  <a:pt x="101598" y="3213100"/>
                </a:lnTo>
                <a:cubicBezTo>
                  <a:pt x="45487" y="3213100"/>
                  <a:pt x="0" y="3167613"/>
                  <a:pt x="0" y="3111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78850" y="2400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64600" y="2349500"/>
            <a:ext cx="669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 的历史作用 (2008-2013)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47100" y="2959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02700" y="29083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技术普及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02700" y="3213100"/>
            <a:ext cx="307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将分布式计算从Google等少数公司推广到整个行业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53450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17980" y="3924300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生态建设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17980" y="4229100"/>
            <a:ext cx="306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催生了Hive、Pig、HBase等大数据生态组件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103100" y="2959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477155" y="29083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标准确立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477155" y="32131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确立了分布式计算的基本模式和最佳实践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115800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496800" y="39243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人才培养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496800" y="42291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培养了第一批大数据工程师和架构师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5950" y="5467350"/>
            <a:ext cx="7505700" cy="2095500"/>
          </a:xfrm>
          <a:custGeom>
            <a:avLst/>
            <a:gdLst/>
            <a:ahLst/>
            <a:cxnLst/>
            <a:rect l="l" t="t" r="r" b="b"/>
            <a:pathLst>
              <a:path w="7505700" h="2095500">
                <a:moveTo>
                  <a:pt x="101590" y="0"/>
                </a:moveTo>
                <a:lnTo>
                  <a:pt x="7404110" y="0"/>
                </a:lnTo>
                <a:cubicBezTo>
                  <a:pt x="7460217" y="0"/>
                  <a:pt x="7505700" y="45483"/>
                  <a:pt x="7505700" y="101590"/>
                </a:cubicBezTo>
                <a:lnTo>
                  <a:pt x="7505700" y="1993910"/>
                </a:lnTo>
                <a:cubicBezTo>
                  <a:pt x="7505700" y="2050017"/>
                  <a:pt x="7460217" y="2095500"/>
                  <a:pt x="7404110" y="2095500"/>
                </a:cubicBezTo>
                <a:lnTo>
                  <a:pt x="101590" y="2095500"/>
                </a:lnTo>
                <a:cubicBezTo>
                  <a:pt x="45483" y="2095500"/>
                  <a:pt x="0" y="2050017"/>
                  <a:pt x="0" y="19939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547100" y="622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31300" y="57785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架构挑战的出现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31300" y="61341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随着数据规模从</a:t>
            </a: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TB级</a:t>
            </a: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增长到</a:t>
            </a:r>
            <a:r>
              <a:rPr lang="en-US" sz="16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</a:t>
            </a: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，计算需求从单一批处理扩展到实时流处理、机器学习、图计算等多种模式，MapReduce v1的架构局限性逐渐暴露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103" y="494103"/>
            <a:ext cx="15366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kern="0" spc="78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SCENARIO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4103" y="889386"/>
            <a:ext cx="15490140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企业级应用场景：资源孤岛问题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103" y="1531720"/>
            <a:ext cx="1185848" cy="49410"/>
          </a:xfrm>
          <a:custGeom>
            <a:avLst/>
            <a:gdLst/>
            <a:ahLst/>
            <a:cxnLst/>
            <a:rect l="l" t="t" r="r" b="b"/>
            <a:pathLst>
              <a:path w="1185848" h="49410">
                <a:moveTo>
                  <a:pt x="0" y="0"/>
                </a:moveTo>
                <a:lnTo>
                  <a:pt x="1185848" y="0"/>
                </a:lnTo>
                <a:lnTo>
                  <a:pt x="1185848" y="49410"/>
                </a:lnTo>
                <a:lnTo>
                  <a:pt x="0" y="4941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0280" y="1883769"/>
            <a:ext cx="7547429" cy="2458164"/>
          </a:xfrm>
          <a:custGeom>
            <a:avLst/>
            <a:gdLst/>
            <a:ahLst/>
            <a:cxnLst/>
            <a:rect l="l" t="t" r="r" b="b"/>
            <a:pathLst>
              <a:path w="7547429" h="2458164">
                <a:moveTo>
                  <a:pt x="98818" y="0"/>
                </a:moveTo>
                <a:lnTo>
                  <a:pt x="7448610" y="0"/>
                </a:lnTo>
                <a:cubicBezTo>
                  <a:pt x="7503186" y="0"/>
                  <a:pt x="7547429" y="44242"/>
                  <a:pt x="7547429" y="98818"/>
                </a:cubicBezTo>
                <a:lnTo>
                  <a:pt x="7547429" y="2359346"/>
                </a:lnTo>
                <a:cubicBezTo>
                  <a:pt x="7547429" y="2413922"/>
                  <a:pt x="7503186" y="2458164"/>
                  <a:pt x="7448610" y="2458164"/>
                </a:cubicBezTo>
                <a:lnTo>
                  <a:pt x="98818" y="2458164"/>
                </a:lnTo>
                <a:cubicBezTo>
                  <a:pt x="44279" y="2458164"/>
                  <a:pt x="0" y="2413885"/>
                  <a:pt x="0" y="2359346"/>
                </a:cubicBezTo>
                <a:lnTo>
                  <a:pt x="0" y="98818"/>
                </a:lnTo>
                <a:cubicBezTo>
                  <a:pt x="0" y="44242"/>
                  <a:pt x="44242" y="0"/>
                  <a:pt x="9881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4097" y="2087587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3064" y="2211112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216170" y="99303"/>
                </a:moveTo>
                <a:cubicBezTo>
                  <a:pt x="209029" y="104032"/>
                  <a:pt x="200826" y="107844"/>
                  <a:pt x="192285" y="110884"/>
                </a:cubicBezTo>
                <a:cubicBezTo>
                  <a:pt x="169607" y="118990"/>
                  <a:pt x="139835" y="123526"/>
                  <a:pt x="108085" y="123526"/>
                </a:cubicBezTo>
                <a:cubicBezTo>
                  <a:pt x="76335" y="123526"/>
                  <a:pt x="46515" y="118942"/>
                  <a:pt x="23885" y="110884"/>
                </a:cubicBezTo>
                <a:cubicBezTo>
                  <a:pt x="15392" y="107844"/>
                  <a:pt x="7141" y="104032"/>
                  <a:pt x="0" y="99303"/>
                </a:cubicBezTo>
                <a:lnTo>
                  <a:pt x="0" y="138967"/>
                </a:lnTo>
                <a:cubicBezTo>
                  <a:pt x="0" y="160294"/>
                  <a:pt x="48397" y="177568"/>
                  <a:pt x="108085" y="177568"/>
                </a:cubicBezTo>
                <a:cubicBezTo>
                  <a:pt x="167773" y="177568"/>
                  <a:pt x="216170" y="160294"/>
                  <a:pt x="216170" y="138967"/>
                </a:cubicBezTo>
                <a:lnTo>
                  <a:pt x="216170" y="99303"/>
                </a:lnTo>
                <a:close/>
                <a:moveTo>
                  <a:pt x="216170" y="61763"/>
                </a:moveTo>
                <a:lnTo>
                  <a:pt x="216170" y="38602"/>
                </a:lnTo>
                <a:cubicBezTo>
                  <a:pt x="216170" y="17274"/>
                  <a:pt x="167773" y="0"/>
                  <a:pt x="108085" y="0"/>
                </a:cubicBezTo>
                <a:cubicBezTo>
                  <a:pt x="48397" y="0"/>
                  <a:pt x="0" y="17274"/>
                  <a:pt x="0" y="38602"/>
                </a:cubicBezTo>
                <a:lnTo>
                  <a:pt x="0" y="61763"/>
                </a:lnTo>
                <a:cubicBezTo>
                  <a:pt x="0" y="83090"/>
                  <a:pt x="48397" y="100365"/>
                  <a:pt x="108085" y="100365"/>
                </a:cubicBezTo>
                <a:cubicBezTo>
                  <a:pt x="167773" y="100365"/>
                  <a:pt x="216170" y="83090"/>
                  <a:pt x="216170" y="61763"/>
                </a:cubicBezTo>
                <a:close/>
                <a:moveTo>
                  <a:pt x="192285" y="188087"/>
                </a:moveTo>
                <a:cubicBezTo>
                  <a:pt x="169655" y="196146"/>
                  <a:pt x="139883" y="200729"/>
                  <a:pt x="108085" y="200729"/>
                </a:cubicBezTo>
                <a:cubicBezTo>
                  <a:pt x="76287" y="200729"/>
                  <a:pt x="46515" y="196146"/>
                  <a:pt x="23885" y="188087"/>
                </a:cubicBezTo>
                <a:cubicBezTo>
                  <a:pt x="15392" y="185047"/>
                  <a:pt x="7141" y="181236"/>
                  <a:pt x="0" y="176507"/>
                </a:cubicBezTo>
                <a:lnTo>
                  <a:pt x="0" y="208450"/>
                </a:lnTo>
                <a:cubicBezTo>
                  <a:pt x="0" y="229777"/>
                  <a:pt x="48397" y="247052"/>
                  <a:pt x="108085" y="247052"/>
                </a:cubicBezTo>
                <a:cubicBezTo>
                  <a:pt x="167773" y="247052"/>
                  <a:pt x="216170" y="229777"/>
                  <a:pt x="216170" y="208450"/>
                </a:cubicBezTo>
                <a:lnTo>
                  <a:pt x="216170" y="176507"/>
                </a:lnTo>
                <a:cubicBezTo>
                  <a:pt x="209029" y="181236"/>
                  <a:pt x="200826" y="185047"/>
                  <a:pt x="192285" y="18808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46432" y="2161702"/>
            <a:ext cx="135878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批处理作业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97" y="2729921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夜间4小时处理50TB用户行为日志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97" y="3100498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高吞吐量、可容忍延迟、CPU密集型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97" y="3471076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400节点，每节点12核CPU+32GB内存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97" y="3841653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利用率：</a:t>
            </a:r>
            <a:r>
              <a:rPr lang="en-US" sz="1556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16.7%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（仅夜间使用）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05493" y="1883769"/>
            <a:ext cx="7547429" cy="2458164"/>
          </a:xfrm>
          <a:custGeom>
            <a:avLst/>
            <a:gdLst/>
            <a:ahLst/>
            <a:cxnLst/>
            <a:rect l="l" t="t" r="r" b="b"/>
            <a:pathLst>
              <a:path w="7547429" h="2458164">
                <a:moveTo>
                  <a:pt x="98818" y="0"/>
                </a:moveTo>
                <a:lnTo>
                  <a:pt x="7448610" y="0"/>
                </a:lnTo>
                <a:cubicBezTo>
                  <a:pt x="7503186" y="0"/>
                  <a:pt x="7547429" y="44242"/>
                  <a:pt x="7547429" y="98818"/>
                </a:cubicBezTo>
                <a:lnTo>
                  <a:pt x="7547429" y="2359346"/>
                </a:lnTo>
                <a:cubicBezTo>
                  <a:pt x="7547429" y="2413922"/>
                  <a:pt x="7503186" y="2458164"/>
                  <a:pt x="7448610" y="2458164"/>
                </a:cubicBezTo>
                <a:lnTo>
                  <a:pt x="98818" y="2458164"/>
                </a:lnTo>
                <a:cubicBezTo>
                  <a:pt x="44279" y="2458164"/>
                  <a:pt x="0" y="2413885"/>
                  <a:pt x="0" y="2359346"/>
                </a:cubicBezTo>
                <a:lnTo>
                  <a:pt x="0" y="98818"/>
                </a:lnTo>
                <a:cubicBezTo>
                  <a:pt x="0" y="44242"/>
                  <a:pt x="44242" y="0"/>
                  <a:pt x="9881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409311" y="2087587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48277" y="2211112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163479" y="-4777"/>
                </a:moveTo>
                <a:cubicBezTo>
                  <a:pt x="169221" y="-627"/>
                  <a:pt x="171344" y="6900"/>
                  <a:pt x="168738" y="13462"/>
                </a:cubicBezTo>
                <a:lnTo>
                  <a:pt x="130908" y="108085"/>
                </a:lnTo>
                <a:lnTo>
                  <a:pt x="200729" y="108085"/>
                </a:lnTo>
                <a:cubicBezTo>
                  <a:pt x="207244" y="108085"/>
                  <a:pt x="213034" y="112138"/>
                  <a:pt x="215253" y="118266"/>
                </a:cubicBezTo>
                <a:cubicBezTo>
                  <a:pt x="217473" y="124394"/>
                  <a:pt x="215591" y="131246"/>
                  <a:pt x="210621" y="135396"/>
                </a:cubicBezTo>
                <a:lnTo>
                  <a:pt x="71655" y="251201"/>
                </a:lnTo>
                <a:cubicBezTo>
                  <a:pt x="66202" y="255737"/>
                  <a:pt x="58434" y="255978"/>
                  <a:pt x="52691" y="251829"/>
                </a:cubicBezTo>
                <a:cubicBezTo>
                  <a:pt x="46949" y="247679"/>
                  <a:pt x="44826" y="240152"/>
                  <a:pt x="47432" y="233589"/>
                </a:cubicBezTo>
                <a:lnTo>
                  <a:pt x="85262" y="138967"/>
                </a:lnTo>
                <a:lnTo>
                  <a:pt x="15441" y="138967"/>
                </a:lnTo>
                <a:cubicBezTo>
                  <a:pt x="8927" y="138967"/>
                  <a:pt x="3136" y="134913"/>
                  <a:pt x="917" y="128785"/>
                </a:cubicBezTo>
                <a:cubicBezTo>
                  <a:pt x="-1303" y="122657"/>
                  <a:pt x="579" y="115805"/>
                  <a:pt x="5549" y="111656"/>
                </a:cubicBezTo>
                <a:lnTo>
                  <a:pt x="144516" y="-4150"/>
                </a:lnTo>
                <a:cubicBezTo>
                  <a:pt x="149968" y="-8685"/>
                  <a:pt x="157737" y="-8927"/>
                  <a:pt x="163479" y="-477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051645" y="2161702"/>
            <a:ext cx="1605836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实时推荐服务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09311" y="2729921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白天14小时每秒处理10万次点击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9311" y="3100498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低延迟(&lt;100ms)、高并发、内存密集型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9311" y="3471076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200节点，每节点8核CPU+48GB内存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09311" y="3841653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利用率：</a:t>
            </a:r>
            <a:r>
              <a:rPr lang="en-US" sz="1556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58.3%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（白天使用，夜间闲置）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280" y="4502517"/>
            <a:ext cx="7547429" cy="2458164"/>
          </a:xfrm>
          <a:custGeom>
            <a:avLst/>
            <a:gdLst/>
            <a:ahLst/>
            <a:cxnLst/>
            <a:rect l="l" t="t" r="r" b="b"/>
            <a:pathLst>
              <a:path w="7547429" h="2458164">
                <a:moveTo>
                  <a:pt x="98818" y="0"/>
                </a:moveTo>
                <a:lnTo>
                  <a:pt x="7448610" y="0"/>
                </a:lnTo>
                <a:cubicBezTo>
                  <a:pt x="7503186" y="0"/>
                  <a:pt x="7547429" y="44242"/>
                  <a:pt x="7547429" y="98818"/>
                </a:cubicBezTo>
                <a:lnTo>
                  <a:pt x="7547429" y="2359346"/>
                </a:lnTo>
                <a:cubicBezTo>
                  <a:pt x="7547429" y="2413922"/>
                  <a:pt x="7503186" y="2458164"/>
                  <a:pt x="7448610" y="2458164"/>
                </a:cubicBezTo>
                <a:lnTo>
                  <a:pt x="98818" y="2458164"/>
                </a:lnTo>
                <a:cubicBezTo>
                  <a:pt x="44279" y="2458164"/>
                  <a:pt x="0" y="2413885"/>
                  <a:pt x="0" y="2359346"/>
                </a:cubicBezTo>
                <a:lnTo>
                  <a:pt x="0" y="98818"/>
                </a:lnTo>
                <a:cubicBezTo>
                  <a:pt x="0" y="44242"/>
                  <a:pt x="44242" y="0"/>
                  <a:pt x="9881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04097" y="4706334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7623" y="4829860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57903" y="27021"/>
                </a:moveTo>
                <a:cubicBezTo>
                  <a:pt x="57903" y="12111"/>
                  <a:pt x="70014" y="0"/>
                  <a:pt x="84924" y="0"/>
                </a:cubicBezTo>
                <a:lnTo>
                  <a:pt x="96505" y="0"/>
                </a:lnTo>
                <a:cubicBezTo>
                  <a:pt x="105045" y="0"/>
                  <a:pt x="111945" y="6900"/>
                  <a:pt x="111945" y="15441"/>
                </a:cubicBezTo>
                <a:lnTo>
                  <a:pt x="111945" y="231611"/>
                </a:lnTo>
                <a:cubicBezTo>
                  <a:pt x="111945" y="240152"/>
                  <a:pt x="105045" y="247052"/>
                  <a:pt x="96505" y="247052"/>
                </a:cubicBezTo>
                <a:lnTo>
                  <a:pt x="81064" y="247052"/>
                </a:lnTo>
                <a:cubicBezTo>
                  <a:pt x="66685" y="247052"/>
                  <a:pt x="54573" y="237208"/>
                  <a:pt x="51147" y="223891"/>
                </a:cubicBezTo>
                <a:cubicBezTo>
                  <a:pt x="50810" y="223891"/>
                  <a:pt x="50520" y="223891"/>
                  <a:pt x="50182" y="223891"/>
                </a:cubicBezTo>
                <a:cubicBezTo>
                  <a:pt x="28855" y="223891"/>
                  <a:pt x="11581" y="206616"/>
                  <a:pt x="11581" y="185289"/>
                </a:cubicBezTo>
                <a:cubicBezTo>
                  <a:pt x="11581" y="176603"/>
                  <a:pt x="14476" y="168593"/>
                  <a:pt x="19301" y="162128"/>
                </a:cubicBezTo>
                <a:cubicBezTo>
                  <a:pt x="9940" y="155083"/>
                  <a:pt x="3860" y="143888"/>
                  <a:pt x="3860" y="131246"/>
                </a:cubicBezTo>
                <a:cubicBezTo>
                  <a:pt x="3860" y="116336"/>
                  <a:pt x="12353" y="103356"/>
                  <a:pt x="24705" y="96939"/>
                </a:cubicBezTo>
                <a:cubicBezTo>
                  <a:pt x="21279" y="91149"/>
                  <a:pt x="19301" y="84393"/>
                  <a:pt x="19301" y="77204"/>
                </a:cubicBezTo>
                <a:cubicBezTo>
                  <a:pt x="19301" y="55876"/>
                  <a:pt x="36575" y="38602"/>
                  <a:pt x="57903" y="38602"/>
                </a:cubicBezTo>
                <a:lnTo>
                  <a:pt x="57903" y="27021"/>
                </a:lnTo>
                <a:close/>
                <a:moveTo>
                  <a:pt x="189149" y="27021"/>
                </a:moveTo>
                <a:lnTo>
                  <a:pt x="189149" y="38602"/>
                </a:lnTo>
                <a:cubicBezTo>
                  <a:pt x="210476" y="38602"/>
                  <a:pt x="227751" y="55876"/>
                  <a:pt x="227751" y="77204"/>
                </a:cubicBezTo>
                <a:cubicBezTo>
                  <a:pt x="227751" y="84441"/>
                  <a:pt x="225772" y="91197"/>
                  <a:pt x="222347" y="96939"/>
                </a:cubicBezTo>
                <a:cubicBezTo>
                  <a:pt x="234747" y="103356"/>
                  <a:pt x="243191" y="116288"/>
                  <a:pt x="243191" y="131246"/>
                </a:cubicBezTo>
                <a:cubicBezTo>
                  <a:pt x="243191" y="143888"/>
                  <a:pt x="237112" y="155083"/>
                  <a:pt x="227751" y="162128"/>
                </a:cubicBezTo>
                <a:cubicBezTo>
                  <a:pt x="232576" y="168593"/>
                  <a:pt x="235471" y="176603"/>
                  <a:pt x="235471" y="185289"/>
                </a:cubicBezTo>
                <a:cubicBezTo>
                  <a:pt x="235471" y="206616"/>
                  <a:pt x="218197" y="223891"/>
                  <a:pt x="196869" y="223891"/>
                </a:cubicBezTo>
                <a:cubicBezTo>
                  <a:pt x="196532" y="223891"/>
                  <a:pt x="196242" y="223891"/>
                  <a:pt x="195904" y="223891"/>
                </a:cubicBezTo>
                <a:cubicBezTo>
                  <a:pt x="192478" y="237208"/>
                  <a:pt x="180367" y="247052"/>
                  <a:pt x="165988" y="247052"/>
                </a:cubicBezTo>
                <a:lnTo>
                  <a:pt x="150547" y="247052"/>
                </a:lnTo>
                <a:cubicBezTo>
                  <a:pt x="142006" y="247052"/>
                  <a:pt x="135106" y="240152"/>
                  <a:pt x="135106" y="231611"/>
                </a:cubicBezTo>
                <a:lnTo>
                  <a:pt x="135106" y="15441"/>
                </a:lnTo>
                <a:cubicBezTo>
                  <a:pt x="135106" y="6900"/>
                  <a:pt x="142006" y="0"/>
                  <a:pt x="150547" y="0"/>
                </a:cubicBezTo>
                <a:lnTo>
                  <a:pt x="162128" y="0"/>
                </a:lnTo>
                <a:cubicBezTo>
                  <a:pt x="177038" y="0"/>
                  <a:pt x="189149" y="12111"/>
                  <a:pt x="189149" y="2702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46432" y="4780450"/>
            <a:ext cx="1605836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机器学习训练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97" y="5348669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每周2次，每次8小时训练推荐模型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97" y="5719246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迭代计算、内存密集、中间结果缓存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97" y="6089824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300节点，每节点16核CPU+64GB内存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97" y="6460401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利用率：</a:t>
            </a:r>
            <a:r>
              <a:rPr lang="en-US" sz="1556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9.5%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（极低频使用）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05493" y="4502517"/>
            <a:ext cx="7547429" cy="2458164"/>
          </a:xfrm>
          <a:custGeom>
            <a:avLst/>
            <a:gdLst/>
            <a:ahLst/>
            <a:cxnLst/>
            <a:rect l="l" t="t" r="r" b="b"/>
            <a:pathLst>
              <a:path w="7547429" h="2458164">
                <a:moveTo>
                  <a:pt x="98818" y="0"/>
                </a:moveTo>
                <a:lnTo>
                  <a:pt x="7448610" y="0"/>
                </a:lnTo>
                <a:cubicBezTo>
                  <a:pt x="7503186" y="0"/>
                  <a:pt x="7547429" y="44242"/>
                  <a:pt x="7547429" y="98818"/>
                </a:cubicBezTo>
                <a:lnTo>
                  <a:pt x="7547429" y="2359346"/>
                </a:lnTo>
                <a:cubicBezTo>
                  <a:pt x="7547429" y="2413922"/>
                  <a:pt x="7503186" y="2458164"/>
                  <a:pt x="7448610" y="2458164"/>
                </a:cubicBezTo>
                <a:lnTo>
                  <a:pt x="98818" y="2458164"/>
                </a:lnTo>
                <a:cubicBezTo>
                  <a:pt x="44279" y="2458164"/>
                  <a:pt x="0" y="2413885"/>
                  <a:pt x="0" y="2359346"/>
                </a:cubicBezTo>
                <a:lnTo>
                  <a:pt x="0" y="98818"/>
                </a:lnTo>
                <a:cubicBezTo>
                  <a:pt x="0" y="44242"/>
                  <a:pt x="44242" y="0"/>
                  <a:pt x="9881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09311" y="4706334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32837" y="4829860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0" y="38602"/>
                </a:moveTo>
                <a:cubicBezTo>
                  <a:pt x="0" y="25815"/>
                  <a:pt x="10374" y="15441"/>
                  <a:pt x="23161" y="15441"/>
                </a:cubicBezTo>
                <a:lnTo>
                  <a:pt x="69483" y="15441"/>
                </a:lnTo>
                <a:cubicBezTo>
                  <a:pt x="82270" y="15441"/>
                  <a:pt x="92644" y="25815"/>
                  <a:pt x="92644" y="38602"/>
                </a:cubicBezTo>
                <a:lnTo>
                  <a:pt x="92644" y="46322"/>
                </a:lnTo>
                <a:lnTo>
                  <a:pt x="154407" y="46322"/>
                </a:lnTo>
                <a:lnTo>
                  <a:pt x="154407" y="38602"/>
                </a:lnTo>
                <a:cubicBezTo>
                  <a:pt x="154407" y="25815"/>
                  <a:pt x="164782" y="15441"/>
                  <a:pt x="177568" y="15441"/>
                </a:cubicBezTo>
                <a:lnTo>
                  <a:pt x="223891" y="15441"/>
                </a:lnTo>
                <a:cubicBezTo>
                  <a:pt x="236677" y="15441"/>
                  <a:pt x="247052" y="25815"/>
                  <a:pt x="247052" y="38602"/>
                </a:cubicBezTo>
                <a:lnTo>
                  <a:pt x="247052" y="84924"/>
                </a:lnTo>
                <a:cubicBezTo>
                  <a:pt x="247052" y="97711"/>
                  <a:pt x="236677" y="108085"/>
                  <a:pt x="223891" y="108085"/>
                </a:cubicBezTo>
                <a:lnTo>
                  <a:pt x="177568" y="108085"/>
                </a:lnTo>
                <a:cubicBezTo>
                  <a:pt x="164782" y="108085"/>
                  <a:pt x="154407" y="97711"/>
                  <a:pt x="154407" y="84924"/>
                </a:cubicBezTo>
                <a:lnTo>
                  <a:pt x="154407" y="77204"/>
                </a:lnTo>
                <a:lnTo>
                  <a:pt x="92644" y="77204"/>
                </a:lnTo>
                <a:lnTo>
                  <a:pt x="92644" y="84924"/>
                </a:lnTo>
                <a:cubicBezTo>
                  <a:pt x="92644" y="88446"/>
                  <a:pt x="91824" y="91824"/>
                  <a:pt x="90425" y="94816"/>
                </a:cubicBezTo>
                <a:lnTo>
                  <a:pt x="123526" y="138967"/>
                </a:lnTo>
                <a:lnTo>
                  <a:pt x="162128" y="138967"/>
                </a:lnTo>
                <a:cubicBezTo>
                  <a:pt x="174915" y="138967"/>
                  <a:pt x="185289" y="149341"/>
                  <a:pt x="185289" y="162128"/>
                </a:cubicBezTo>
                <a:lnTo>
                  <a:pt x="185289" y="208450"/>
                </a:lnTo>
                <a:cubicBezTo>
                  <a:pt x="185289" y="221237"/>
                  <a:pt x="174915" y="231611"/>
                  <a:pt x="162128" y="231611"/>
                </a:cubicBezTo>
                <a:lnTo>
                  <a:pt x="115805" y="231611"/>
                </a:lnTo>
                <a:cubicBezTo>
                  <a:pt x="103019" y="231611"/>
                  <a:pt x="92644" y="221237"/>
                  <a:pt x="92644" y="208450"/>
                </a:cubicBezTo>
                <a:lnTo>
                  <a:pt x="92644" y="162128"/>
                </a:lnTo>
                <a:cubicBezTo>
                  <a:pt x="92644" y="158605"/>
                  <a:pt x="93465" y="155228"/>
                  <a:pt x="94864" y="152236"/>
                </a:cubicBezTo>
                <a:lnTo>
                  <a:pt x="61763" y="108085"/>
                </a:lnTo>
                <a:lnTo>
                  <a:pt x="23161" y="108085"/>
                </a:lnTo>
                <a:cubicBezTo>
                  <a:pt x="10374" y="108085"/>
                  <a:pt x="0" y="97711"/>
                  <a:pt x="0" y="84924"/>
                </a:cubicBezTo>
                <a:lnTo>
                  <a:pt x="0" y="38602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051645" y="4780450"/>
            <a:ext cx="1605836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社交网络分析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09311" y="5348669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每月1次，持续12小时分析5亿用户关系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09311" y="5719246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图遍历、消息传递、网络密集型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09311" y="6089824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资源：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100节点，每节点12核CPU+32GB内存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09311" y="6460401"/>
            <a:ext cx="723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利用率：</a:t>
            </a:r>
            <a:r>
              <a:rPr lang="en-US" sz="1556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1.7%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（几乎长期闲置）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6456" y="7127441"/>
            <a:ext cx="4965739" cy="1507015"/>
          </a:xfrm>
          <a:custGeom>
            <a:avLst/>
            <a:gdLst/>
            <a:ahLst/>
            <a:cxnLst/>
            <a:rect l="l" t="t" r="r" b="b"/>
            <a:pathLst>
              <a:path w="4965739" h="1507015">
                <a:moveTo>
                  <a:pt x="98815" y="0"/>
                </a:moveTo>
                <a:lnTo>
                  <a:pt x="4866924" y="0"/>
                </a:lnTo>
                <a:cubicBezTo>
                  <a:pt x="4921498" y="0"/>
                  <a:pt x="4965739" y="44241"/>
                  <a:pt x="4965739" y="98815"/>
                </a:cubicBezTo>
                <a:lnTo>
                  <a:pt x="4965739" y="1408200"/>
                </a:lnTo>
                <a:cubicBezTo>
                  <a:pt x="4965739" y="1462774"/>
                  <a:pt x="4921498" y="1507015"/>
                  <a:pt x="4866924" y="1507015"/>
                </a:cubicBezTo>
                <a:lnTo>
                  <a:pt x="98815" y="1507015"/>
                </a:lnTo>
                <a:cubicBezTo>
                  <a:pt x="44241" y="1507015"/>
                  <a:pt x="0" y="1462774"/>
                  <a:pt x="0" y="1408200"/>
                </a:cubicBezTo>
                <a:lnTo>
                  <a:pt x="0" y="98815"/>
                </a:lnTo>
                <a:cubicBezTo>
                  <a:pt x="0" y="44278"/>
                  <a:pt x="44278" y="0"/>
                  <a:pt x="9881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7040" y="7337435"/>
            <a:ext cx="464457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总投资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3805" y="7683307"/>
            <a:ext cx="473104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5000万元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3216" y="8177410"/>
            <a:ext cx="463221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1000节点数据中心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43297" y="7127441"/>
            <a:ext cx="4965739" cy="1507015"/>
          </a:xfrm>
          <a:custGeom>
            <a:avLst/>
            <a:gdLst/>
            <a:ahLst/>
            <a:cxnLst/>
            <a:rect l="l" t="t" r="r" b="b"/>
            <a:pathLst>
              <a:path w="4965739" h="1507015">
                <a:moveTo>
                  <a:pt x="98815" y="0"/>
                </a:moveTo>
                <a:lnTo>
                  <a:pt x="4866924" y="0"/>
                </a:lnTo>
                <a:cubicBezTo>
                  <a:pt x="4921498" y="0"/>
                  <a:pt x="4965739" y="44241"/>
                  <a:pt x="4965739" y="98815"/>
                </a:cubicBezTo>
                <a:lnTo>
                  <a:pt x="4965739" y="1408200"/>
                </a:lnTo>
                <a:cubicBezTo>
                  <a:pt x="4965739" y="1462774"/>
                  <a:pt x="4921498" y="1507015"/>
                  <a:pt x="4866924" y="1507015"/>
                </a:cubicBezTo>
                <a:lnTo>
                  <a:pt x="98815" y="1507015"/>
                </a:lnTo>
                <a:cubicBezTo>
                  <a:pt x="44241" y="1507015"/>
                  <a:pt x="0" y="1462774"/>
                  <a:pt x="0" y="1408200"/>
                </a:cubicBezTo>
                <a:lnTo>
                  <a:pt x="0" y="98815"/>
                </a:lnTo>
                <a:cubicBezTo>
                  <a:pt x="0" y="44278"/>
                  <a:pt x="44278" y="0"/>
                  <a:pt x="9881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803881" y="7337435"/>
            <a:ext cx="464457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实际利用率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60647" y="7683307"/>
            <a:ext cx="473104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21.4%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10057" y="8177410"/>
            <a:ext cx="463221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资源严重浪费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780138" y="7127441"/>
            <a:ext cx="4965739" cy="1507015"/>
          </a:xfrm>
          <a:custGeom>
            <a:avLst/>
            <a:gdLst/>
            <a:ahLst/>
            <a:cxnLst/>
            <a:rect l="l" t="t" r="r" b="b"/>
            <a:pathLst>
              <a:path w="4965739" h="1507015">
                <a:moveTo>
                  <a:pt x="98815" y="0"/>
                </a:moveTo>
                <a:lnTo>
                  <a:pt x="4866924" y="0"/>
                </a:lnTo>
                <a:cubicBezTo>
                  <a:pt x="4921498" y="0"/>
                  <a:pt x="4965739" y="44241"/>
                  <a:pt x="4965739" y="98815"/>
                </a:cubicBezTo>
                <a:lnTo>
                  <a:pt x="4965739" y="1408200"/>
                </a:lnTo>
                <a:cubicBezTo>
                  <a:pt x="4965739" y="1462774"/>
                  <a:pt x="4921498" y="1507015"/>
                  <a:pt x="4866924" y="1507015"/>
                </a:cubicBezTo>
                <a:lnTo>
                  <a:pt x="98815" y="1507015"/>
                </a:lnTo>
                <a:cubicBezTo>
                  <a:pt x="44241" y="1507015"/>
                  <a:pt x="0" y="1462774"/>
                  <a:pt x="0" y="1408200"/>
                </a:cubicBezTo>
                <a:lnTo>
                  <a:pt x="0" y="98815"/>
                </a:lnTo>
                <a:cubicBezTo>
                  <a:pt x="0" y="44278"/>
                  <a:pt x="44278" y="0"/>
                  <a:pt x="9881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940722" y="7337435"/>
            <a:ext cx="464457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闲置投资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97488" y="7683307"/>
            <a:ext cx="4731040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3900万元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46898" y="8177410"/>
            <a:ext cx="463221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近80%时间闲置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 架构的技术剖析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3683000" cy="3771900"/>
          </a:xfrm>
          <a:custGeom>
            <a:avLst/>
            <a:gdLst/>
            <a:ahLst/>
            <a:cxnLst/>
            <a:rect l="l" t="t" r="r" b="b"/>
            <a:pathLst>
              <a:path w="3683000" h="3771900">
                <a:moveTo>
                  <a:pt x="101614" y="0"/>
                </a:moveTo>
                <a:lnTo>
                  <a:pt x="3581386" y="0"/>
                </a:lnTo>
                <a:cubicBezTo>
                  <a:pt x="3637506" y="0"/>
                  <a:pt x="3683000" y="45494"/>
                  <a:pt x="3683000" y="101614"/>
                </a:cubicBezTo>
                <a:lnTo>
                  <a:pt x="3683000" y="3670286"/>
                </a:lnTo>
                <a:cubicBezTo>
                  <a:pt x="3683000" y="3726406"/>
                  <a:pt x="3637506" y="3771900"/>
                  <a:pt x="3581386" y="3771900"/>
                </a:cubicBezTo>
                <a:lnTo>
                  <a:pt x="101614" y="3771900"/>
                </a:lnTo>
                <a:cubicBezTo>
                  <a:pt x="45494" y="3771900"/>
                  <a:pt x="0" y="3726406"/>
                  <a:pt x="0" y="3670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3900" y="2146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4911" y="22225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1900" y="21717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物理资源层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7051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TaskTracker 直接管理物理资源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3111500"/>
            <a:ext cx="3263900" cy="660400"/>
          </a:xfrm>
          <a:custGeom>
            <a:avLst/>
            <a:gdLst/>
            <a:ahLst/>
            <a:cxnLst/>
            <a:rect l="l" t="t" r="r" b="b"/>
            <a:pathLst>
              <a:path w="3263900" h="660400">
                <a:moveTo>
                  <a:pt x="50798" y="0"/>
                </a:moveTo>
                <a:lnTo>
                  <a:pt x="3213102" y="0"/>
                </a:lnTo>
                <a:cubicBezTo>
                  <a:pt x="3241157" y="0"/>
                  <a:pt x="3263900" y="22743"/>
                  <a:pt x="3263900" y="50798"/>
                </a:cubicBezTo>
                <a:lnTo>
                  <a:pt x="3263900" y="609602"/>
                </a:lnTo>
                <a:cubicBezTo>
                  <a:pt x="3263900" y="637657"/>
                  <a:pt x="3241157" y="660400"/>
                  <a:pt x="32131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1050" y="32131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400" y="3467100"/>
            <a:ext cx="3136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16核/64GB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3848100"/>
            <a:ext cx="3263900" cy="660400"/>
          </a:xfrm>
          <a:custGeom>
            <a:avLst/>
            <a:gdLst/>
            <a:ahLst/>
            <a:cxnLst/>
            <a:rect l="l" t="t" r="r" b="b"/>
            <a:pathLst>
              <a:path w="3263900" h="660400">
                <a:moveTo>
                  <a:pt x="50798" y="0"/>
                </a:moveTo>
                <a:lnTo>
                  <a:pt x="3213102" y="0"/>
                </a:lnTo>
                <a:cubicBezTo>
                  <a:pt x="3241157" y="0"/>
                  <a:pt x="3263900" y="22743"/>
                  <a:pt x="3263900" y="50798"/>
                </a:cubicBezTo>
                <a:lnTo>
                  <a:pt x="3263900" y="609602"/>
                </a:lnTo>
                <a:cubicBezTo>
                  <a:pt x="3263900" y="637657"/>
                  <a:pt x="3241157" y="660400"/>
                  <a:pt x="32131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81050" y="39497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400" y="4203700"/>
            <a:ext cx="3136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16核/64GB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4584700"/>
            <a:ext cx="3263900" cy="660400"/>
          </a:xfrm>
          <a:custGeom>
            <a:avLst/>
            <a:gdLst/>
            <a:ahLst/>
            <a:cxnLst/>
            <a:rect l="l" t="t" r="r" b="b"/>
            <a:pathLst>
              <a:path w="3263900" h="660400">
                <a:moveTo>
                  <a:pt x="50798" y="0"/>
                </a:moveTo>
                <a:lnTo>
                  <a:pt x="3213102" y="0"/>
                </a:lnTo>
                <a:cubicBezTo>
                  <a:pt x="3241157" y="0"/>
                  <a:pt x="3263900" y="22743"/>
                  <a:pt x="3263900" y="50798"/>
                </a:cubicBezTo>
                <a:lnTo>
                  <a:pt x="3263900" y="609602"/>
                </a:lnTo>
                <a:cubicBezTo>
                  <a:pt x="3263900" y="637657"/>
                  <a:pt x="3241157" y="660400"/>
                  <a:pt x="32131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81050" y="46863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7400" y="4940300"/>
            <a:ext cx="3136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16核/64GB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62450" y="1936750"/>
            <a:ext cx="3683000" cy="3771900"/>
          </a:xfrm>
          <a:custGeom>
            <a:avLst/>
            <a:gdLst/>
            <a:ahLst/>
            <a:cxnLst/>
            <a:rect l="l" t="t" r="r" b="b"/>
            <a:pathLst>
              <a:path w="3683000" h="3771900">
                <a:moveTo>
                  <a:pt x="101614" y="0"/>
                </a:moveTo>
                <a:lnTo>
                  <a:pt x="3581386" y="0"/>
                </a:lnTo>
                <a:cubicBezTo>
                  <a:pt x="3637506" y="0"/>
                  <a:pt x="3683000" y="45494"/>
                  <a:pt x="3683000" y="101614"/>
                </a:cubicBezTo>
                <a:lnTo>
                  <a:pt x="3683000" y="3670286"/>
                </a:lnTo>
                <a:cubicBezTo>
                  <a:pt x="3683000" y="3726406"/>
                  <a:pt x="3637506" y="3771900"/>
                  <a:pt x="3581386" y="3771900"/>
                </a:cubicBezTo>
                <a:lnTo>
                  <a:pt x="101614" y="3771900"/>
                </a:lnTo>
                <a:cubicBezTo>
                  <a:pt x="45494" y="3771900"/>
                  <a:pt x="0" y="3726406"/>
                  <a:pt x="0" y="3670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0" y="2146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22912" y="22225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80000" y="21717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资源抽象层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27051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 Slot 机制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8350" y="3117850"/>
            <a:ext cx="3251200" cy="1130300"/>
          </a:xfrm>
          <a:custGeom>
            <a:avLst/>
            <a:gdLst/>
            <a:ahLst/>
            <a:cxnLst/>
            <a:rect l="l" t="t" r="r" b="b"/>
            <a:pathLst>
              <a:path w="3251200" h="1130300">
                <a:moveTo>
                  <a:pt x="50796" y="0"/>
                </a:moveTo>
                <a:lnTo>
                  <a:pt x="3200404" y="0"/>
                </a:lnTo>
                <a:cubicBezTo>
                  <a:pt x="3228458" y="0"/>
                  <a:pt x="3251200" y="22742"/>
                  <a:pt x="3251200" y="50796"/>
                </a:cubicBezTo>
                <a:lnTo>
                  <a:pt x="3251200" y="1079504"/>
                </a:lnTo>
                <a:cubicBezTo>
                  <a:pt x="3251200" y="1107558"/>
                  <a:pt x="3228458" y="1130300"/>
                  <a:pt x="32004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686300" y="3225800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Slots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86300" y="3530600"/>
            <a:ext cx="31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固定数量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固定内存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不可转换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8350" y="4362450"/>
            <a:ext cx="3251200" cy="1130300"/>
          </a:xfrm>
          <a:custGeom>
            <a:avLst/>
            <a:gdLst/>
            <a:ahLst/>
            <a:cxnLst/>
            <a:rect l="l" t="t" r="r" b="b"/>
            <a:pathLst>
              <a:path w="3251200" h="1130300">
                <a:moveTo>
                  <a:pt x="50796" y="0"/>
                </a:moveTo>
                <a:lnTo>
                  <a:pt x="3200404" y="0"/>
                </a:lnTo>
                <a:cubicBezTo>
                  <a:pt x="3228458" y="0"/>
                  <a:pt x="3251200" y="22742"/>
                  <a:pt x="3251200" y="50796"/>
                </a:cubicBezTo>
                <a:lnTo>
                  <a:pt x="3251200" y="1079504"/>
                </a:lnTo>
                <a:cubicBezTo>
                  <a:pt x="3251200" y="1107558"/>
                  <a:pt x="3228458" y="1130300"/>
                  <a:pt x="32004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686300" y="4470400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Slots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86300" y="4775200"/>
            <a:ext cx="31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固定数量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固定内存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不可转换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10550" y="1936750"/>
            <a:ext cx="3683000" cy="3771900"/>
          </a:xfrm>
          <a:custGeom>
            <a:avLst/>
            <a:gdLst/>
            <a:ahLst/>
            <a:cxnLst/>
            <a:rect l="l" t="t" r="r" b="b"/>
            <a:pathLst>
              <a:path w="3683000" h="3771900">
                <a:moveTo>
                  <a:pt x="101614" y="0"/>
                </a:moveTo>
                <a:lnTo>
                  <a:pt x="3581386" y="0"/>
                </a:lnTo>
                <a:cubicBezTo>
                  <a:pt x="3637506" y="0"/>
                  <a:pt x="3683000" y="45494"/>
                  <a:pt x="3683000" y="101614"/>
                </a:cubicBezTo>
                <a:lnTo>
                  <a:pt x="3683000" y="3670286"/>
                </a:lnTo>
                <a:cubicBezTo>
                  <a:pt x="3683000" y="3726406"/>
                  <a:pt x="3637506" y="3771900"/>
                  <a:pt x="3581386" y="3771900"/>
                </a:cubicBezTo>
                <a:lnTo>
                  <a:pt x="101614" y="3771900"/>
                </a:lnTo>
                <a:cubicBezTo>
                  <a:pt x="45494" y="3771900"/>
                  <a:pt x="0" y="3726406"/>
                  <a:pt x="0" y="3670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20100" y="2146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73294" y="22225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28100" y="217170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20100" y="27051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JobTracker 单一控制点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32800" y="3124200"/>
            <a:ext cx="3238500" cy="1803400"/>
          </a:xfrm>
          <a:custGeom>
            <a:avLst/>
            <a:gdLst/>
            <a:ahLst/>
            <a:cxnLst/>
            <a:rect l="l" t="t" r="r" b="b"/>
            <a:pathLst>
              <a:path w="3238500" h="1803400">
                <a:moveTo>
                  <a:pt x="50802" y="0"/>
                </a:moveTo>
                <a:lnTo>
                  <a:pt x="3187698" y="0"/>
                </a:lnTo>
                <a:cubicBezTo>
                  <a:pt x="3215755" y="0"/>
                  <a:pt x="3238500" y="22745"/>
                  <a:pt x="3238500" y="50802"/>
                </a:cubicBezTo>
                <a:lnTo>
                  <a:pt x="3238500" y="1752598"/>
                </a:lnTo>
                <a:cubicBezTo>
                  <a:pt x="3238500" y="1780655"/>
                  <a:pt x="3215755" y="1803400"/>
                  <a:pt x="3187698" y="1803400"/>
                </a:cubicBezTo>
                <a:lnTo>
                  <a:pt x="50802" y="1803400"/>
                </a:lnTo>
                <a:cubicBezTo>
                  <a:pt x="22745" y="1803400"/>
                  <a:pt x="0" y="1780655"/>
                  <a:pt x="0" y="1752598"/>
                </a:cubicBezTo>
                <a:lnTo>
                  <a:pt x="0" y="50802"/>
                </a:lnTo>
                <a:cubicBezTo>
                  <a:pt x="0" y="22745"/>
                  <a:pt x="22745" y="0"/>
                  <a:pt x="508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47100" y="328930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JobTracker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97900" y="3695700"/>
            <a:ext cx="1409700" cy="1066800"/>
          </a:xfrm>
          <a:custGeom>
            <a:avLst/>
            <a:gdLst/>
            <a:ahLst/>
            <a:cxnLst/>
            <a:rect l="l" t="t" r="r" b="b"/>
            <a:pathLst>
              <a:path w="1409700" h="1066800">
                <a:moveTo>
                  <a:pt x="50801" y="0"/>
                </a:moveTo>
                <a:lnTo>
                  <a:pt x="1358899" y="0"/>
                </a:lnTo>
                <a:cubicBezTo>
                  <a:pt x="1386956" y="0"/>
                  <a:pt x="1409700" y="22744"/>
                  <a:pt x="1409700" y="50801"/>
                </a:cubicBezTo>
                <a:lnTo>
                  <a:pt x="1409700" y="1015999"/>
                </a:lnTo>
                <a:cubicBezTo>
                  <a:pt x="1409700" y="1044056"/>
                  <a:pt x="1386956" y="1066800"/>
                  <a:pt x="13588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99500" y="3797300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99500" y="4051300"/>
            <a:ext cx="1282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节点跟踪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Slot分配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资源监控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102850" y="3695700"/>
            <a:ext cx="1409700" cy="1066800"/>
          </a:xfrm>
          <a:custGeom>
            <a:avLst/>
            <a:gdLst/>
            <a:ahLst/>
            <a:cxnLst/>
            <a:rect l="l" t="t" r="r" b="b"/>
            <a:pathLst>
              <a:path w="1409700" h="1066800">
                <a:moveTo>
                  <a:pt x="50801" y="0"/>
                </a:moveTo>
                <a:lnTo>
                  <a:pt x="1358899" y="0"/>
                </a:lnTo>
                <a:cubicBezTo>
                  <a:pt x="1386956" y="0"/>
                  <a:pt x="1409700" y="22744"/>
                  <a:pt x="1409700" y="50801"/>
                </a:cubicBezTo>
                <a:lnTo>
                  <a:pt x="1409700" y="1015999"/>
                </a:lnTo>
                <a:cubicBezTo>
                  <a:pt x="1409700" y="1044056"/>
                  <a:pt x="1386956" y="1066800"/>
                  <a:pt x="13588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204450" y="3797300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作业调度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04450" y="4051300"/>
            <a:ext cx="1282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队列管理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任务分配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进度监控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058650" y="1936750"/>
            <a:ext cx="3683000" cy="3771900"/>
          </a:xfrm>
          <a:custGeom>
            <a:avLst/>
            <a:gdLst/>
            <a:ahLst/>
            <a:cxnLst/>
            <a:rect l="l" t="t" r="r" b="b"/>
            <a:pathLst>
              <a:path w="3683000" h="3771900">
                <a:moveTo>
                  <a:pt x="101614" y="0"/>
                </a:moveTo>
                <a:lnTo>
                  <a:pt x="3581386" y="0"/>
                </a:lnTo>
                <a:cubicBezTo>
                  <a:pt x="3637506" y="0"/>
                  <a:pt x="3683000" y="45494"/>
                  <a:pt x="3683000" y="101614"/>
                </a:cubicBezTo>
                <a:lnTo>
                  <a:pt x="3683000" y="3670286"/>
                </a:lnTo>
                <a:cubicBezTo>
                  <a:pt x="3683000" y="3726406"/>
                  <a:pt x="3637506" y="3771900"/>
                  <a:pt x="3581386" y="3771900"/>
                </a:cubicBezTo>
                <a:lnTo>
                  <a:pt x="101614" y="3771900"/>
                </a:lnTo>
                <a:cubicBezTo>
                  <a:pt x="45494" y="3771900"/>
                  <a:pt x="0" y="3726406"/>
                  <a:pt x="0" y="3670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2268200" y="2146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436376" y="22225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776200" y="217170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268200" y="27051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所有应用必须转换为 MapReduce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268200" y="3111500"/>
            <a:ext cx="3263900" cy="457200"/>
          </a:xfrm>
          <a:custGeom>
            <a:avLst/>
            <a:gdLst/>
            <a:ahLst/>
            <a:cxnLst/>
            <a:rect l="l" t="t" r="r" b="b"/>
            <a:pathLst>
              <a:path w="3263900" h="457200">
                <a:moveTo>
                  <a:pt x="50799" y="0"/>
                </a:moveTo>
                <a:lnTo>
                  <a:pt x="3213101" y="0"/>
                </a:lnTo>
                <a:cubicBezTo>
                  <a:pt x="3241156" y="0"/>
                  <a:pt x="3263900" y="22744"/>
                  <a:pt x="3263900" y="50799"/>
                </a:cubicBezTo>
                <a:lnTo>
                  <a:pt x="3263900" y="406401"/>
                </a:lnTo>
                <a:cubicBezTo>
                  <a:pt x="3263900" y="434456"/>
                  <a:pt x="3241156" y="457200"/>
                  <a:pt x="3213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369800" y="32131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(SQL查询)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68200" y="3644900"/>
            <a:ext cx="3263900" cy="457200"/>
          </a:xfrm>
          <a:custGeom>
            <a:avLst/>
            <a:gdLst/>
            <a:ahLst/>
            <a:cxnLst/>
            <a:rect l="l" t="t" r="r" b="b"/>
            <a:pathLst>
              <a:path w="3263900" h="457200">
                <a:moveTo>
                  <a:pt x="50799" y="0"/>
                </a:moveTo>
                <a:lnTo>
                  <a:pt x="3213101" y="0"/>
                </a:lnTo>
                <a:cubicBezTo>
                  <a:pt x="3241156" y="0"/>
                  <a:pt x="3263900" y="22744"/>
                  <a:pt x="3263900" y="50799"/>
                </a:cubicBezTo>
                <a:lnTo>
                  <a:pt x="3263900" y="406401"/>
                </a:lnTo>
                <a:cubicBezTo>
                  <a:pt x="3263900" y="434456"/>
                  <a:pt x="3241156" y="457200"/>
                  <a:pt x="3213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2369800" y="37465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Pig (数据流)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2268200" y="4178300"/>
            <a:ext cx="3263900" cy="457200"/>
          </a:xfrm>
          <a:custGeom>
            <a:avLst/>
            <a:gdLst/>
            <a:ahLst/>
            <a:cxnLst/>
            <a:rect l="l" t="t" r="r" b="b"/>
            <a:pathLst>
              <a:path w="3263900" h="457200">
                <a:moveTo>
                  <a:pt x="50799" y="0"/>
                </a:moveTo>
                <a:lnTo>
                  <a:pt x="3213101" y="0"/>
                </a:lnTo>
                <a:cubicBezTo>
                  <a:pt x="3241156" y="0"/>
                  <a:pt x="3263900" y="22744"/>
                  <a:pt x="3263900" y="50799"/>
                </a:cubicBezTo>
                <a:lnTo>
                  <a:pt x="3263900" y="406401"/>
                </a:lnTo>
                <a:cubicBezTo>
                  <a:pt x="3263900" y="434456"/>
                  <a:pt x="3241156" y="457200"/>
                  <a:pt x="3213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369800" y="42799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Mahout (机器学习)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268200" y="4711700"/>
            <a:ext cx="3263900" cy="457200"/>
          </a:xfrm>
          <a:custGeom>
            <a:avLst/>
            <a:gdLst/>
            <a:ahLst/>
            <a:cxnLst/>
            <a:rect l="l" t="t" r="r" b="b"/>
            <a:pathLst>
              <a:path w="3263900" h="457200">
                <a:moveTo>
                  <a:pt x="50799" y="0"/>
                </a:moveTo>
                <a:lnTo>
                  <a:pt x="3213101" y="0"/>
                </a:lnTo>
                <a:cubicBezTo>
                  <a:pt x="3241156" y="0"/>
                  <a:pt x="3263900" y="22744"/>
                  <a:pt x="3263900" y="50799"/>
                </a:cubicBezTo>
                <a:lnTo>
                  <a:pt x="3263900" y="406401"/>
                </a:lnTo>
                <a:cubicBezTo>
                  <a:pt x="3263900" y="434456"/>
                  <a:pt x="3241156" y="457200"/>
                  <a:pt x="3213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2369800" y="48133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 MapReduce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14350" y="59245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101606" y="0"/>
                </a:moveTo>
                <a:lnTo>
                  <a:pt x="4825994" y="0"/>
                </a:lnTo>
                <a:cubicBezTo>
                  <a:pt x="4882110" y="0"/>
                  <a:pt x="4927600" y="45490"/>
                  <a:pt x="4927600" y="101606"/>
                </a:cubicBezTo>
                <a:lnTo>
                  <a:pt x="4927600" y="1384294"/>
                </a:lnTo>
                <a:cubicBezTo>
                  <a:pt x="4927600" y="1440410"/>
                  <a:pt x="4882110" y="1485900"/>
                  <a:pt x="48259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55650" y="6184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93800" y="61341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职责耦合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3900" y="6591300"/>
            <a:ext cx="4610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JobTracker同时承担资源管理和作业调度，违反单一职责原则，导致扩展困难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662017" y="59245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101606" y="0"/>
                </a:moveTo>
                <a:lnTo>
                  <a:pt x="4825994" y="0"/>
                </a:lnTo>
                <a:cubicBezTo>
                  <a:pt x="4882110" y="0"/>
                  <a:pt x="4927600" y="45490"/>
                  <a:pt x="4927600" y="101606"/>
                </a:cubicBezTo>
                <a:lnTo>
                  <a:pt x="4927600" y="1384294"/>
                </a:lnTo>
                <a:cubicBezTo>
                  <a:pt x="4927600" y="1440410"/>
                  <a:pt x="4882110" y="1485900"/>
                  <a:pt x="48259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5935067" y="61849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341467" y="61341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框架锁定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871567" y="6591300"/>
            <a:ext cx="4610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所有计算必须转换为MapReduce模型，无法支持Storm、Spark等其他计算框架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09784" y="59245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101606" y="0"/>
                </a:moveTo>
                <a:lnTo>
                  <a:pt x="4825994" y="0"/>
                </a:lnTo>
                <a:cubicBezTo>
                  <a:pt x="4882110" y="0"/>
                  <a:pt x="4927600" y="45490"/>
                  <a:pt x="4927600" y="101606"/>
                </a:cubicBezTo>
                <a:lnTo>
                  <a:pt x="4927600" y="1384294"/>
                </a:lnTo>
                <a:cubicBezTo>
                  <a:pt x="4927600" y="1440410"/>
                  <a:pt x="4882110" y="1485900"/>
                  <a:pt x="48259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1051084" y="6184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489234" y="61341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资源浪费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019334" y="6591300"/>
            <a:ext cx="4610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固定Slot机制导致Map和Reduce资源无法互换，平均资源利用率仅50%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343" y="486343"/>
            <a:ext cx="1538058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kern="0" spc="77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PROBLEMS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6343" y="875417"/>
            <a:ext cx="15502169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 的核心问题分析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6343" y="1507662"/>
            <a:ext cx="1167222" cy="48634"/>
          </a:xfrm>
          <a:custGeom>
            <a:avLst/>
            <a:gdLst/>
            <a:ahLst/>
            <a:cxnLst/>
            <a:rect l="l" t="t" r="r" b="b"/>
            <a:pathLst>
              <a:path w="1167222" h="48634">
                <a:moveTo>
                  <a:pt x="0" y="0"/>
                </a:moveTo>
                <a:lnTo>
                  <a:pt x="1167222" y="0"/>
                </a:lnTo>
                <a:lnTo>
                  <a:pt x="1167222" y="48634"/>
                </a:lnTo>
                <a:lnTo>
                  <a:pt x="0" y="48634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2422" y="1854181"/>
            <a:ext cx="4948536" cy="4559461"/>
          </a:xfrm>
          <a:custGeom>
            <a:avLst/>
            <a:gdLst/>
            <a:ahLst/>
            <a:cxnLst/>
            <a:rect l="l" t="t" r="r" b="b"/>
            <a:pathLst>
              <a:path w="4948536" h="4559461">
                <a:moveTo>
                  <a:pt x="97253" y="0"/>
                </a:moveTo>
                <a:lnTo>
                  <a:pt x="4851282" y="0"/>
                </a:lnTo>
                <a:cubicBezTo>
                  <a:pt x="4904994" y="0"/>
                  <a:pt x="4948536" y="43542"/>
                  <a:pt x="4948536" y="97253"/>
                </a:cubicBezTo>
                <a:lnTo>
                  <a:pt x="4948536" y="4462208"/>
                </a:lnTo>
                <a:cubicBezTo>
                  <a:pt x="4948536" y="4515920"/>
                  <a:pt x="4904994" y="4559461"/>
                  <a:pt x="4851282" y="4559461"/>
                </a:cubicBezTo>
                <a:lnTo>
                  <a:pt x="97253" y="4559461"/>
                </a:lnTo>
                <a:cubicBezTo>
                  <a:pt x="43542" y="4559461"/>
                  <a:pt x="0" y="4515920"/>
                  <a:pt x="0" y="4462208"/>
                </a:cubicBezTo>
                <a:lnTo>
                  <a:pt x="0" y="97253"/>
                </a:lnTo>
                <a:cubicBezTo>
                  <a:pt x="0" y="43578"/>
                  <a:pt x="43578" y="0"/>
                  <a:pt x="9725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41672" y="2103432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9337" y="2249334"/>
            <a:ext cx="328281" cy="291806"/>
          </a:xfrm>
          <a:custGeom>
            <a:avLst/>
            <a:gdLst/>
            <a:ahLst/>
            <a:cxnLst/>
            <a:rect l="l" t="t" r="r" b="b"/>
            <a:pathLst>
              <a:path w="328281" h="291806">
                <a:moveTo>
                  <a:pt x="239087" y="54714"/>
                </a:moveTo>
                <a:cubicBezTo>
                  <a:pt x="229626" y="54714"/>
                  <a:pt x="220450" y="57278"/>
                  <a:pt x="212414" y="61952"/>
                </a:cubicBezTo>
                <a:cubicBezTo>
                  <a:pt x="203409" y="52833"/>
                  <a:pt x="192922" y="45196"/>
                  <a:pt x="181353" y="39439"/>
                </a:cubicBezTo>
                <a:cubicBezTo>
                  <a:pt x="197425" y="25761"/>
                  <a:pt x="217885" y="18238"/>
                  <a:pt x="239087" y="18238"/>
                </a:cubicBezTo>
                <a:cubicBezTo>
                  <a:pt x="288329" y="18238"/>
                  <a:pt x="328281" y="58133"/>
                  <a:pt x="328281" y="107432"/>
                </a:cubicBezTo>
                <a:cubicBezTo>
                  <a:pt x="328281" y="131085"/>
                  <a:pt x="318877" y="153768"/>
                  <a:pt x="302178" y="170467"/>
                </a:cubicBezTo>
                <a:lnTo>
                  <a:pt x="261656" y="210989"/>
                </a:lnTo>
                <a:cubicBezTo>
                  <a:pt x="244957" y="227688"/>
                  <a:pt x="222274" y="237092"/>
                  <a:pt x="198622" y="237092"/>
                </a:cubicBezTo>
                <a:cubicBezTo>
                  <a:pt x="149379" y="237092"/>
                  <a:pt x="109427" y="197197"/>
                  <a:pt x="109427" y="147898"/>
                </a:cubicBezTo>
                <a:cubicBezTo>
                  <a:pt x="109427" y="147043"/>
                  <a:pt x="109427" y="146188"/>
                  <a:pt x="109484" y="145333"/>
                </a:cubicBezTo>
                <a:cubicBezTo>
                  <a:pt x="109769" y="135245"/>
                  <a:pt x="118147" y="127323"/>
                  <a:pt x="128235" y="127608"/>
                </a:cubicBezTo>
                <a:cubicBezTo>
                  <a:pt x="138323" y="127893"/>
                  <a:pt x="146245" y="136271"/>
                  <a:pt x="145960" y="146359"/>
                </a:cubicBezTo>
                <a:cubicBezTo>
                  <a:pt x="145960" y="146872"/>
                  <a:pt x="145960" y="147385"/>
                  <a:pt x="145960" y="147841"/>
                </a:cubicBezTo>
                <a:cubicBezTo>
                  <a:pt x="145960" y="176964"/>
                  <a:pt x="169555" y="200559"/>
                  <a:pt x="198679" y="200559"/>
                </a:cubicBezTo>
                <a:cubicBezTo>
                  <a:pt x="212642" y="200559"/>
                  <a:pt x="226035" y="195031"/>
                  <a:pt x="235952" y="185114"/>
                </a:cubicBezTo>
                <a:lnTo>
                  <a:pt x="276474" y="144592"/>
                </a:lnTo>
                <a:cubicBezTo>
                  <a:pt x="286334" y="134732"/>
                  <a:pt x="291920" y="121282"/>
                  <a:pt x="291920" y="107318"/>
                </a:cubicBezTo>
                <a:cubicBezTo>
                  <a:pt x="291920" y="78195"/>
                  <a:pt x="268324" y="54600"/>
                  <a:pt x="239201" y="54600"/>
                </a:cubicBezTo>
                <a:close/>
                <a:moveTo>
                  <a:pt x="156845" y="98769"/>
                </a:moveTo>
                <a:cubicBezTo>
                  <a:pt x="155763" y="98313"/>
                  <a:pt x="154680" y="97686"/>
                  <a:pt x="153711" y="97003"/>
                </a:cubicBezTo>
                <a:cubicBezTo>
                  <a:pt x="146530" y="93298"/>
                  <a:pt x="138323" y="91189"/>
                  <a:pt x="129717" y="91189"/>
                </a:cubicBezTo>
                <a:cubicBezTo>
                  <a:pt x="115753" y="91189"/>
                  <a:pt x="102360" y="96718"/>
                  <a:pt x="92443" y="106634"/>
                </a:cubicBezTo>
                <a:lnTo>
                  <a:pt x="51921" y="147157"/>
                </a:lnTo>
                <a:cubicBezTo>
                  <a:pt x="42061" y="157016"/>
                  <a:pt x="36476" y="170467"/>
                  <a:pt x="36476" y="184430"/>
                </a:cubicBezTo>
                <a:cubicBezTo>
                  <a:pt x="36476" y="213554"/>
                  <a:pt x="60071" y="237149"/>
                  <a:pt x="89194" y="237149"/>
                </a:cubicBezTo>
                <a:cubicBezTo>
                  <a:pt x="98598" y="237149"/>
                  <a:pt x="107774" y="234641"/>
                  <a:pt x="115810" y="229968"/>
                </a:cubicBezTo>
                <a:cubicBezTo>
                  <a:pt x="124815" y="239087"/>
                  <a:pt x="135302" y="246724"/>
                  <a:pt x="146929" y="252480"/>
                </a:cubicBezTo>
                <a:cubicBezTo>
                  <a:pt x="130857" y="266102"/>
                  <a:pt x="110453" y="273682"/>
                  <a:pt x="89194" y="273682"/>
                </a:cubicBezTo>
                <a:cubicBezTo>
                  <a:pt x="39952" y="273682"/>
                  <a:pt x="0" y="233786"/>
                  <a:pt x="0" y="184487"/>
                </a:cubicBezTo>
                <a:cubicBezTo>
                  <a:pt x="0" y="160835"/>
                  <a:pt x="9404" y="138152"/>
                  <a:pt x="26103" y="121453"/>
                </a:cubicBezTo>
                <a:lnTo>
                  <a:pt x="66625" y="80930"/>
                </a:lnTo>
                <a:cubicBezTo>
                  <a:pt x="83324" y="64231"/>
                  <a:pt x="106007" y="54828"/>
                  <a:pt x="129660" y="54828"/>
                </a:cubicBezTo>
                <a:cubicBezTo>
                  <a:pt x="179016" y="54828"/>
                  <a:pt x="218854" y="95065"/>
                  <a:pt x="218854" y="144250"/>
                </a:cubicBezTo>
                <a:cubicBezTo>
                  <a:pt x="218854" y="144991"/>
                  <a:pt x="218854" y="145732"/>
                  <a:pt x="218854" y="146473"/>
                </a:cubicBezTo>
                <a:cubicBezTo>
                  <a:pt x="218626" y="156561"/>
                  <a:pt x="210248" y="164483"/>
                  <a:pt x="200160" y="164255"/>
                </a:cubicBezTo>
                <a:cubicBezTo>
                  <a:pt x="190073" y="164027"/>
                  <a:pt x="182150" y="155649"/>
                  <a:pt x="182378" y="145561"/>
                </a:cubicBezTo>
                <a:cubicBezTo>
                  <a:pt x="182378" y="145105"/>
                  <a:pt x="182378" y="144706"/>
                  <a:pt x="182378" y="144250"/>
                </a:cubicBezTo>
                <a:cubicBezTo>
                  <a:pt x="182378" y="125043"/>
                  <a:pt x="172120" y="108173"/>
                  <a:pt x="156845" y="9888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71186" y="2225017"/>
            <a:ext cx="1094271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职责耦合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1672" y="2832945"/>
            <a:ext cx="4547303" cy="583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JobTracker承担双重职责，违反软件工程的单一职责原则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5990" y="3611093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97269" y="194537"/>
                </a:moveTo>
                <a:cubicBezTo>
                  <a:pt x="150952" y="194537"/>
                  <a:pt x="194537" y="150952"/>
                  <a:pt x="194537" y="97269"/>
                </a:cubicBezTo>
                <a:cubicBezTo>
                  <a:pt x="194537" y="43585"/>
                  <a:pt x="150952" y="0"/>
                  <a:pt x="97269" y="0"/>
                </a:cubicBezTo>
                <a:cubicBezTo>
                  <a:pt x="43585" y="0"/>
                  <a:pt x="0" y="43585"/>
                  <a:pt x="0" y="97269"/>
                </a:cubicBezTo>
                <a:cubicBezTo>
                  <a:pt x="0" y="150952"/>
                  <a:pt x="43585" y="194537"/>
                  <a:pt x="97269" y="194537"/>
                </a:cubicBezTo>
                <a:close/>
                <a:moveTo>
                  <a:pt x="63453" y="63453"/>
                </a:moveTo>
                <a:cubicBezTo>
                  <a:pt x="67024" y="59881"/>
                  <a:pt x="72799" y="59881"/>
                  <a:pt x="76333" y="63453"/>
                </a:cubicBezTo>
                <a:lnTo>
                  <a:pt x="97231" y="84350"/>
                </a:lnTo>
                <a:lnTo>
                  <a:pt x="118128" y="63453"/>
                </a:lnTo>
                <a:cubicBezTo>
                  <a:pt x="121700" y="59881"/>
                  <a:pt x="127475" y="59881"/>
                  <a:pt x="131009" y="63453"/>
                </a:cubicBezTo>
                <a:cubicBezTo>
                  <a:pt x="134542" y="67024"/>
                  <a:pt x="134580" y="72799"/>
                  <a:pt x="131009" y="76333"/>
                </a:cubicBezTo>
                <a:lnTo>
                  <a:pt x="110111" y="97231"/>
                </a:lnTo>
                <a:lnTo>
                  <a:pt x="131009" y="118128"/>
                </a:lnTo>
                <a:cubicBezTo>
                  <a:pt x="134580" y="121700"/>
                  <a:pt x="134580" y="127475"/>
                  <a:pt x="131009" y="131009"/>
                </a:cubicBezTo>
                <a:cubicBezTo>
                  <a:pt x="127437" y="134542"/>
                  <a:pt x="121662" y="134580"/>
                  <a:pt x="118128" y="131009"/>
                </a:cubicBezTo>
                <a:lnTo>
                  <a:pt x="97231" y="110111"/>
                </a:lnTo>
                <a:lnTo>
                  <a:pt x="76333" y="131009"/>
                </a:lnTo>
                <a:cubicBezTo>
                  <a:pt x="72761" y="134580"/>
                  <a:pt x="66986" y="134580"/>
                  <a:pt x="63453" y="131009"/>
                </a:cubicBezTo>
                <a:cubicBezTo>
                  <a:pt x="59919" y="127437"/>
                  <a:pt x="59881" y="121662"/>
                  <a:pt x="63453" y="118128"/>
                </a:cubicBezTo>
                <a:lnTo>
                  <a:pt x="84350" y="97231"/>
                </a:lnTo>
                <a:lnTo>
                  <a:pt x="63453" y="76333"/>
                </a:lnTo>
                <a:cubicBezTo>
                  <a:pt x="59881" y="72761"/>
                  <a:pt x="59881" y="66986"/>
                  <a:pt x="63453" y="6345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82112" y="3562459"/>
            <a:ext cx="306395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框架锁定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2112" y="3854265"/>
            <a:ext cx="3051800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所有计算都必须转换为MapReduce模型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5990" y="4243339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97269" y="194537"/>
                </a:moveTo>
                <a:cubicBezTo>
                  <a:pt x="150952" y="194537"/>
                  <a:pt x="194537" y="150952"/>
                  <a:pt x="194537" y="97269"/>
                </a:cubicBezTo>
                <a:cubicBezTo>
                  <a:pt x="194537" y="43585"/>
                  <a:pt x="150952" y="0"/>
                  <a:pt x="97269" y="0"/>
                </a:cubicBezTo>
                <a:cubicBezTo>
                  <a:pt x="43585" y="0"/>
                  <a:pt x="0" y="43585"/>
                  <a:pt x="0" y="97269"/>
                </a:cubicBezTo>
                <a:cubicBezTo>
                  <a:pt x="0" y="150952"/>
                  <a:pt x="43585" y="194537"/>
                  <a:pt x="97269" y="194537"/>
                </a:cubicBezTo>
                <a:close/>
                <a:moveTo>
                  <a:pt x="63453" y="63453"/>
                </a:moveTo>
                <a:cubicBezTo>
                  <a:pt x="67024" y="59881"/>
                  <a:pt x="72799" y="59881"/>
                  <a:pt x="76333" y="63453"/>
                </a:cubicBezTo>
                <a:lnTo>
                  <a:pt x="97231" y="84350"/>
                </a:lnTo>
                <a:lnTo>
                  <a:pt x="118128" y="63453"/>
                </a:lnTo>
                <a:cubicBezTo>
                  <a:pt x="121700" y="59881"/>
                  <a:pt x="127475" y="59881"/>
                  <a:pt x="131009" y="63453"/>
                </a:cubicBezTo>
                <a:cubicBezTo>
                  <a:pt x="134542" y="67024"/>
                  <a:pt x="134580" y="72799"/>
                  <a:pt x="131009" y="76333"/>
                </a:cubicBezTo>
                <a:lnTo>
                  <a:pt x="110111" y="97231"/>
                </a:lnTo>
                <a:lnTo>
                  <a:pt x="131009" y="118128"/>
                </a:lnTo>
                <a:cubicBezTo>
                  <a:pt x="134580" y="121700"/>
                  <a:pt x="134580" y="127475"/>
                  <a:pt x="131009" y="131009"/>
                </a:cubicBezTo>
                <a:cubicBezTo>
                  <a:pt x="127437" y="134542"/>
                  <a:pt x="121662" y="134580"/>
                  <a:pt x="118128" y="131009"/>
                </a:cubicBezTo>
                <a:lnTo>
                  <a:pt x="97231" y="110111"/>
                </a:lnTo>
                <a:lnTo>
                  <a:pt x="76333" y="131009"/>
                </a:lnTo>
                <a:cubicBezTo>
                  <a:pt x="72761" y="134580"/>
                  <a:pt x="66986" y="134580"/>
                  <a:pt x="63453" y="131009"/>
                </a:cubicBezTo>
                <a:cubicBezTo>
                  <a:pt x="59919" y="127437"/>
                  <a:pt x="59881" y="121662"/>
                  <a:pt x="63453" y="118128"/>
                </a:cubicBezTo>
                <a:lnTo>
                  <a:pt x="84350" y="97231"/>
                </a:lnTo>
                <a:lnTo>
                  <a:pt x="63453" y="76333"/>
                </a:lnTo>
                <a:cubicBezTo>
                  <a:pt x="59881" y="72761"/>
                  <a:pt x="59881" y="66986"/>
                  <a:pt x="63453" y="6345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82112" y="4194705"/>
            <a:ext cx="3355764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扩展困难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2112" y="4486510"/>
            <a:ext cx="334360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添加新计算模式需修改JobTracker核心代码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5990" y="4875584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97269" y="194537"/>
                </a:moveTo>
                <a:cubicBezTo>
                  <a:pt x="150952" y="194537"/>
                  <a:pt x="194537" y="150952"/>
                  <a:pt x="194537" y="97269"/>
                </a:cubicBezTo>
                <a:cubicBezTo>
                  <a:pt x="194537" y="43585"/>
                  <a:pt x="150952" y="0"/>
                  <a:pt x="97269" y="0"/>
                </a:cubicBezTo>
                <a:cubicBezTo>
                  <a:pt x="43585" y="0"/>
                  <a:pt x="0" y="43585"/>
                  <a:pt x="0" y="97269"/>
                </a:cubicBezTo>
                <a:cubicBezTo>
                  <a:pt x="0" y="150952"/>
                  <a:pt x="43585" y="194537"/>
                  <a:pt x="97269" y="194537"/>
                </a:cubicBezTo>
                <a:close/>
                <a:moveTo>
                  <a:pt x="63453" y="63453"/>
                </a:moveTo>
                <a:cubicBezTo>
                  <a:pt x="67024" y="59881"/>
                  <a:pt x="72799" y="59881"/>
                  <a:pt x="76333" y="63453"/>
                </a:cubicBezTo>
                <a:lnTo>
                  <a:pt x="97231" y="84350"/>
                </a:lnTo>
                <a:lnTo>
                  <a:pt x="118128" y="63453"/>
                </a:lnTo>
                <a:cubicBezTo>
                  <a:pt x="121700" y="59881"/>
                  <a:pt x="127475" y="59881"/>
                  <a:pt x="131009" y="63453"/>
                </a:cubicBezTo>
                <a:cubicBezTo>
                  <a:pt x="134542" y="67024"/>
                  <a:pt x="134580" y="72799"/>
                  <a:pt x="131009" y="76333"/>
                </a:cubicBezTo>
                <a:lnTo>
                  <a:pt x="110111" y="97231"/>
                </a:lnTo>
                <a:lnTo>
                  <a:pt x="131009" y="118128"/>
                </a:lnTo>
                <a:cubicBezTo>
                  <a:pt x="134580" y="121700"/>
                  <a:pt x="134580" y="127475"/>
                  <a:pt x="131009" y="131009"/>
                </a:cubicBezTo>
                <a:cubicBezTo>
                  <a:pt x="127437" y="134542"/>
                  <a:pt x="121662" y="134580"/>
                  <a:pt x="118128" y="131009"/>
                </a:cubicBezTo>
                <a:lnTo>
                  <a:pt x="97231" y="110111"/>
                </a:lnTo>
                <a:lnTo>
                  <a:pt x="76333" y="131009"/>
                </a:lnTo>
                <a:cubicBezTo>
                  <a:pt x="72761" y="134580"/>
                  <a:pt x="66986" y="134580"/>
                  <a:pt x="63453" y="131009"/>
                </a:cubicBezTo>
                <a:cubicBezTo>
                  <a:pt x="59919" y="127437"/>
                  <a:pt x="59881" y="121662"/>
                  <a:pt x="63453" y="118128"/>
                </a:cubicBezTo>
                <a:lnTo>
                  <a:pt x="84350" y="97231"/>
                </a:lnTo>
                <a:lnTo>
                  <a:pt x="63453" y="76333"/>
                </a:lnTo>
                <a:cubicBezTo>
                  <a:pt x="59881" y="72761"/>
                  <a:pt x="59881" y="66986"/>
                  <a:pt x="63453" y="6345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82112" y="4826950"/>
            <a:ext cx="3501666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维护复杂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2112" y="5118755"/>
            <a:ext cx="3489508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资源管理和调度逻辑相互影响，难以独立优化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51168" y="1854181"/>
            <a:ext cx="4948536" cy="4559461"/>
          </a:xfrm>
          <a:custGeom>
            <a:avLst/>
            <a:gdLst/>
            <a:ahLst/>
            <a:cxnLst/>
            <a:rect l="l" t="t" r="r" b="b"/>
            <a:pathLst>
              <a:path w="4948536" h="4559461">
                <a:moveTo>
                  <a:pt x="97253" y="0"/>
                </a:moveTo>
                <a:lnTo>
                  <a:pt x="4851282" y="0"/>
                </a:lnTo>
                <a:cubicBezTo>
                  <a:pt x="4904994" y="0"/>
                  <a:pt x="4948536" y="43542"/>
                  <a:pt x="4948536" y="97253"/>
                </a:cubicBezTo>
                <a:lnTo>
                  <a:pt x="4948536" y="4462208"/>
                </a:lnTo>
                <a:cubicBezTo>
                  <a:pt x="4948536" y="4515920"/>
                  <a:pt x="4904994" y="4559461"/>
                  <a:pt x="4851282" y="4559461"/>
                </a:cubicBezTo>
                <a:lnTo>
                  <a:pt x="97253" y="4559461"/>
                </a:lnTo>
                <a:cubicBezTo>
                  <a:pt x="43542" y="4559461"/>
                  <a:pt x="0" y="4515920"/>
                  <a:pt x="0" y="4462208"/>
                </a:cubicBezTo>
                <a:lnTo>
                  <a:pt x="0" y="97253"/>
                </a:lnTo>
                <a:cubicBezTo>
                  <a:pt x="0" y="43578"/>
                  <a:pt x="43578" y="0"/>
                  <a:pt x="9725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00418" y="2103432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046321" y="224933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00308" y="13678"/>
                </a:moveTo>
                <a:cubicBezTo>
                  <a:pt x="100308" y="6098"/>
                  <a:pt x="94210" y="0"/>
                  <a:pt x="86630" y="0"/>
                </a:cubicBezTo>
                <a:cubicBezTo>
                  <a:pt x="79050" y="0"/>
                  <a:pt x="72951" y="6098"/>
                  <a:pt x="72951" y="13678"/>
                </a:cubicBezTo>
                <a:lnTo>
                  <a:pt x="72951" y="36476"/>
                </a:lnTo>
                <a:cubicBezTo>
                  <a:pt x="52833" y="36476"/>
                  <a:pt x="36476" y="52833"/>
                  <a:pt x="36476" y="72951"/>
                </a:cubicBezTo>
                <a:lnTo>
                  <a:pt x="13678" y="72951"/>
                </a:lnTo>
                <a:cubicBezTo>
                  <a:pt x="6098" y="72951"/>
                  <a:pt x="0" y="79050"/>
                  <a:pt x="0" y="86630"/>
                </a:cubicBezTo>
                <a:cubicBezTo>
                  <a:pt x="0" y="94210"/>
                  <a:pt x="6098" y="100308"/>
                  <a:pt x="13678" y="100308"/>
                </a:cubicBezTo>
                <a:lnTo>
                  <a:pt x="36476" y="100308"/>
                </a:lnTo>
                <a:lnTo>
                  <a:pt x="36476" y="132224"/>
                </a:lnTo>
                <a:lnTo>
                  <a:pt x="13678" y="132224"/>
                </a:lnTo>
                <a:cubicBezTo>
                  <a:pt x="6098" y="132224"/>
                  <a:pt x="0" y="138323"/>
                  <a:pt x="0" y="145903"/>
                </a:cubicBezTo>
                <a:cubicBezTo>
                  <a:pt x="0" y="153483"/>
                  <a:pt x="6098" y="159581"/>
                  <a:pt x="13678" y="159581"/>
                </a:cubicBezTo>
                <a:lnTo>
                  <a:pt x="36476" y="159581"/>
                </a:lnTo>
                <a:lnTo>
                  <a:pt x="36476" y="191497"/>
                </a:lnTo>
                <a:lnTo>
                  <a:pt x="13678" y="191497"/>
                </a:lnTo>
                <a:cubicBezTo>
                  <a:pt x="6098" y="191497"/>
                  <a:pt x="0" y="197596"/>
                  <a:pt x="0" y="205176"/>
                </a:cubicBezTo>
                <a:cubicBezTo>
                  <a:pt x="0" y="212756"/>
                  <a:pt x="6098" y="218854"/>
                  <a:pt x="13678" y="218854"/>
                </a:cubicBezTo>
                <a:lnTo>
                  <a:pt x="36476" y="218854"/>
                </a:lnTo>
                <a:cubicBezTo>
                  <a:pt x="36476" y="238973"/>
                  <a:pt x="52833" y="255330"/>
                  <a:pt x="72951" y="255330"/>
                </a:cubicBezTo>
                <a:lnTo>
                  <a:pt x="72951" y="278127"/>
                </a:lnTo>
                <a:cubicBezTo>
                  <a:pt x="72951" y="285707"/>
                  <a:pt x="79050" y="291806"/>
                  <a:pt x="86630" y="291806"/>
                </a:cubicBezTo>
                <a:cubicBezTo>
                  <a:pt x="94210" y="291806"/>
                  <a:pt x="100308" y="285707"/>
                  <a:pt x="100308" y="278127"/>
                </a:cubicBezTo>
                <a:lnTo>
                  <a:pt x="100308" y="255330"/>
                </a:lnTo>
                <a:lnTo>
                  <a:pt x="132224" y="255330"/>
                </a:lnTo>
                <a:lnTo>
                  <a:pt x="132224" y="278127"/>
                </a:lnTo>
                <a:cubicBezTo>
                  <a:pt x="132224" y="285707"/>
                  <a:pt x="138323" y="291806"/>
                  <a:pt x="145903" y="291806"/>
                </a:cubicBezTo>
                <a:cubicBezTo>
                  <a:pt x="153483" y="291806"/>
                  <a:pt x="159581" y="285707"/>
                  <a:pt x="159581" y="278127"/>
                </a:cubicBezTo>
                <a:lnTo>
                  <a:pt x="159581" y="255330"/>
                </a:lnTo>
                <a:lnTo>
                  <a:pt x="191497" y="255330"/>
                </a:lnTo>
                <a:lnTo>
                  <a:pt x="191497" y="278127"/>
                </a:lnTo>
                <a:cubicBezTo>
                  <a:pt x="191497" y="285707"/>
                  <a:pt x="197596" y="291806"/>
                  <a:pt x="205176" y="291806"/>
                </a:cubicBezTo>
                <a:cubicBezTo>
                  <a:pt x="212756" y="291806"/>
                  <a:pt x="218854" y="285707"/>
                  <a:pt x="218854" y="278127"/>
                </a:cubicBezTo>
                <a:lnTo>
                  <a:pt x="218854" y="255330"/>
                </a:lnTo>
                <a:cubicBezTo>
                  <a:pt x="238973" y="255330"/>
                  <a:pt x="255330" y="238973"/>
                  <a:pt x="255330" y="218854"/>
                </a:cubicBezTo>
                <a:lnTo>
                  <a:pt x="278127" y="218854"/>
                </a:lnTo>
                <a:cubicBezTo>
                  <a:pt x="285707" y="218854"/>
                  <a:pt x="291806" y="212756"/>
                  <a:pt x="291806" y="205176"/>
                </a:cubicBezTo>
                <a:cubicBezTo>
                  <a:pt x="291806" y="197596"/>
                  <a:pt x="285707" y="191497"/>
                  <a:pt x="278127" y="191497"/>
                </a:cubicBezTo>
                <a:lnTo>
                  <a:pt x="255330" y="191497"/>
                </a:lnTo>
                <a:lnTo>
                  <a:pt x="255330" y="159581"/>
                </a:lnTo>
                <a:lnTo>
                  <a:pt x="278127" y="159581"/>
                </a:lnTo>
                <a:cubicBezTo>
                  <a:pt x="285707" y="159581"/>
                  <a:pt x="291806" y="153483"/>
                  <a:pt x="291806" y="145903"/>
                </a:cubicBezTo>
                <a:cubicBezTo>
                  <a:pt x="291806" y="138323"/>
                  <a:pt x="285707" y="132224"/>
                  <a:pt x="278127" y="132224"/>
                </a:cubicBezTo>
                <a:lnTo>
                  <a:pt x="255330" y="132224"/>
                </a:lnTo>
                <a:lnTo>
                  <a:pt x="255330" y="100308"/>
                </a:lnTo>
                <a:lnTo>
                  <a:pt x="278127" y="100308"/>
                </a:lnTo>
                <a:cubicBezTo>
                  <a:pt x="285707" y="100308"/>
                  <a:pt x="291806" y="94210"/>
                  <a:pt x="291806" y="86630"/>
                </a:cubicBezTo>
                <a:cubicBezTo>
                  <a:pt x="291806" y="79050"/>
                  <a:pt x="285707" y="72951"/>
                  <a:pt x="278127" y="72951"/>
                </a:cubicBezTo>
                <a:lnTo>
                  <a:pt x="255330" y="72951"/>
                </a:lnTo>
                <a:cubicBezTo>
                  <a:pt x="255330" y="52833"/>
                  <a:pt x="238973" y="36476"/>
                  <a:pt x="218854" y="36476"/>
                </a:cubicBezTo>
                <a:lnTo>
                  <a:pt x="218854" y="13678"/>
                </a:lnTo>
                <a:cubicBezTo>
                  <a:pt x="218854" y="6098"/>
                  <a:pt x="212756" y="0"/>
                  <a:pt x="205176" y="0"/>
                </a:cubicBezTo>
                <a:cubicBezTo>
                  <a:pt x="197596" y="0"/>
                  <a:pt x="191497" y="6098"/>
                  <a:pt x="191497" y="13678"/>
                </a:cubicBezTo>
                <a:lnTo>
                  <a:pt x="191497" y="36476"/>
                </a:lnTo>
                <a:lnTo>
                  <a:pt x="159581" y="36476"/>
                </a:lnTo>
                <a:lnTo>
                  <a:pt x="159581" y="13678"/>
                </a:lnTo>
                <a:cubicBezTo>
                  <a:pt x="159581" y="6098"/>
                  <a:pt x="153483" y="0"/>
                  <a:pt x="145903" y="0"/>
                </a:cubicBezTo>
                <a:cubicBezTo>
                  <a:pt x="138323" y="0"/>
                  <a:pt x="132224" y="6098"/>
                  <a:pt x="132224" y="13678"/>
                </a:cubicBezTo>
                <a:lnTo>
                  <a:pt x="132224" y="36476"/>
                </a:lnTo>
                <a:lnTo>
                  <a:pt x="100308" y="36476"/>
                </a:lnTo>
                <a:lnTo>
                  <a:pt x="100308" y="13678"/>
                </a:lnTo>
                <a:close/>
                <a:moveTo>
                  <a:pt x="91189" y="72951"/>
                </a:moveTo>
                <a:lnTo>
                  <a:pt x="200616" y="72951"/>
                </a:lnTo>
                <a:cubicBezTo>
                  <a:pt x="210704" y="72951"/>
                  <a:pt x="218854" y="81101"/>
                  <a:pt x="218854" y="91189"/>
                </a:cubicBezTo>
                <a:lnTo>
                  <a:pt x="218854" y="200616"/>
                </a:lnTo>
                <a:cubicBezTo>
                  <a:pt x="218854" y="210704"/>
                  <a:pt x="210704" y="218854"/>
                  <a:pt x="200616" y="218854"/>
                </a:cubicBezTo>
                <a:lnTo>
                  <a:pt x="91189" y="218854"/>
                </a:lnTo>
                <a:cubicBezTo>
                  <a:pt x="81101" y="218854"/>
                  <a:pt x="72951" y="210704"/>
                  <a:pt x="72951" y="200616"/>
                </a:cubicBezTo>
                <a:lnTo>
                  <a:pt x="72951" y="91189"/>
                </a:lnTo>
                <a:cubicBezTo>
                  <a:pt x="72951" y="81101"/>
                  <a:pt x="81101" y="72951"/>
                  <a:pt x="91189" y="72951"/>
                </a:cubicBezTo>
                <a:close/>
                <a:moveTo>
                  <a:pt x="100308" y="100308"/>
                </a:moveTo>
                <a:lnTo>
                  <a:pt x="100308" y="191497"/>
                </a:lnTo>
                <a:lnTo>
                  <a:pt x="191497" y="191497"/>
                </a:lnTo>
                <a:lnTo>
                  <a:pt x="191497" y="100308"/>
                </a:lnTo>
                <a:lnTo>
                  <a:pt x="100308" y="10030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29932" y="2225017"/>
            <a:ext cx="1033478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固定Slot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0418" y="2832945"/>
            <a:ext cx="454730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静态资源划分导致严重的资源浪费问题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0418" y="3270654"/>
            <a:ext cx="4450034" cy="875417"/>
          </a:xfrm>
          <a:custGeom>
            <a:avLst/>
            <a:gdLst/>
            <a:ahLst/>
            <a:cxnLst/>
            <a:rect l="l" t="t" r="r" b="b"/>
            <a:pathLst>
              <a:path w="4450034" h="875417">
                <a:moveTo>
                  <a:pt x="48638" y="0"/>
                </a:moveTo>
                <a:lnTo>
                  <a:pt x="4401396" y="0"/>
                </a:lnTo>
                <a:cubicBezTo>
                  <a:pt x="4428258" y="0"/>
                  <a:pt x="4450034" y="21776"/>
                  <a:pt x="4450034" y="48638"/>
                </a:cubicBezTo>
                <a:lnTo>
                  <a:pt x="4450034" y="826778"/>
                </a:lnTo>
                <a:cubicBezTo>
                  <a:pt x="4450034" y="853641"/>
                  <a:pt x="4428258" y="875417"/>
                  <a:pt x="4401396" y="875417"/>
                </a:cubicBezTo>
                <a:lnTo>
                  <a:pt x="48638" y="875417"/>
                </a:lnTo>
                <a:cubicBezTo>
                  <a:pt x="21776" y="875417"/>
                  <a:pt x="0" y="853641"/>
                  <a:pt x="0" y="82677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46321" y="3416556"/>
            <a:ext cx="425549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Map阶段 (60%时间)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46321" y="3756996"/>
            <a:ext cx="424333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Slots: 100%使用 | Reduce Slots: 0%闲置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00418" y="4243339"/>
            <a:ext cx="4450034" cy="875417"/>
          </a:xfrm>
          <a:custGeom>
            <a:avLst/>
            <a:gdLst/>
            <a:ahLst/>
            <a:cxnLst/>
            <a:rect l="l" t="t" r="r" b="b"/>
            <a:pathLst>
              <a:path w="4450034" h="875417">
                <a:moveTo>
                  <a:pt x="48638" y="0"/>
                </a:moveTo>
                <a:lnTo>
                  <a:pt x="4401396" y="0"/>
                </a:lnTo>
                <a:cubicBezTo>
                  <a:pt x="4428258" y="0"/>
                  <a:pt x="4450034" y="21776"/>
                  <a:pt x="4450034" y="48638"/>
                </a:cubicBezTo>
                <a:lnTo>
                  <a:pt x="4450034" y="826778"/>
                </a:lnTo>
                <a:cubicBezTo>
                  <a:pt x="4450034" y="853641"/>
                  <a:pt x="4428258" y="875417"/>
                  <a:pt x="4401396" y="875417"/>
                </a:cubicBezTo>
                <a:lnTo>
                  <a:pt x="48638" y="875417"/>
                </a:lnTo>
                <a:cubicBezTo>
                  <a:pt x="21776" y="875417"/>
                  <a:pt x="0" y="853641"/>
                  <a:pt x="0" y="826778"/>
                </a:cubicBezTo>
                <a:lnTo>
                  <a:pt x="0" y="48638"/>
                </a:lnTo>
                <a:cubicBezTo>
                  <a:pt x="0" y="21794"/>
                  <a:pt x="21794" y="0"/>
                  <a:pt x="4863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46321" y="4389242"/>
            <a:ext cx="425549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Reduce阶段 (40%时间)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46321" y="4729681"/>
            <a:ext cx="4243339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Slots: 0%闲置 | Reduce Slots: 100%使用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06497" y="5222103"/>
            <a:ext cx="4437876" cy="936209"/>
          </a:xfrm>
          <a:custGeom>
            <a:avLst/>
            <a:gdLst/>
            <a:ahLst/>
            <a:cxnLst/>
            <a:rect l="l" t="t" r="r" b="b"/>
            <a:pathLst>
              <a:path w="4437876" h="936209">
                <a:moveTo>
                  <a:pt x="48636" y="0"/>
                </a:moveTo>
                <a:lnTo>
                  <a:pt x="4389240" y="0"/>
                </a:lnTo>
                <a:cubicBezTo>
                  <a:pt x="4416101" y="0"/>
                  <a:pt x="4437876" y="21775"/>
                  <a:pt x="4437876" y="48636"/>
                </a:cubicBezTo>
                <a:lnTo>
                  <a:pt x="4437876" y="887573"/>
                </a:lnTo>
                <a:cubicBezTo>
                  <a:pt x="4437876" y="914434"/>
                  <a:pt x="4416101" y="936209"/>
                  <a:pt x="4389240" y="936209"/>
                </a:cubicBezTo>
                <a:lnTo>
                  <a:pt x="48636" y="936209"/>
                </a:lnTo>
                <a:cubicBezTo>
                  <a:pt x="21775" y="936209"/>
                  <a:pt x="0" y="914434"/>
                  <a:pt x="0" y="887573"/>
                </a:cubicBezTo>
                <a:lnTo>
                  <a:pt x="0" y="48636"/>
                </a:lnTo>
                <a:cubicBezTo>
                  <a:pt x="0" y="21793"/>
                  <a:pt x="21793" y="0"/>
                  <a:pt x="48636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015924" y="5374085"/>
            <a:ext cx="4219022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平均资源利用率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5528" y="5617257"/>
            <a:ext cx="4279815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9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10008" y="1854181"/>
            <a:ext cx="4948536" cy="4559461"/>
          </a:xfrm>
          <a:custGeom>
            <a:avLst/>
            <a:gdLst/>
            <a:ahLst/>
            <a:cxnLst/>
            <a:rect l="l" t="t" r="r" b="b"/>
            <a:pathLst>
              <a:path w="4948536" h="4559461">
                <a:moveTo>
                  <a:pt x="97253" y="0"/>
                </a:moveTo>
                <a:lnTo>
                  <a:pt x="4851282" y="0"/>
                </a:lnTo>
                <a:cubicBezTo>
                  <a:pt x="4904994" y="0"/>
                  <a:pt x="4948536" y="43542"/>
                  <a:pt x="4948536" y="97253"/>
                </a:cubicBezTo>
                <a:lnTo>
                  <a:pt x="4948536" y="4462208"/>
                </a:lnTo>
                <a:cubicBezTo>
                  <a:pt x="4948536" y="4515920"/>
                  <a:pt x="4904994" y="4559461"/>
                  <a:pt x="4851282" y="4559461"/>
                </a:cubicBezTo>
                <a:lnTo>
                  <a:pt x="97253" y="4559461"/>
                </a:lnTo>
                <a:cubicBezTo>
                  <a:pt x="43542" y="4559461"/>
                  <a:pt x="0" y="4515920"/>
                  <a:pt x="0" y="4462208"/>
                </a:cubicBezTo>
                <a:lnTo>
                  <a:pt x="0" y="97253"/>
                </a:lnTo>
                <a:cubicBezTo>
                  <a:pt x="0" y="43578"/>
                  <a:pt x="43578" y="0"/>
                  <a:pt x="9725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1059259" y="2103432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223399" y="2249334"/>
            <a:ext cx="255330" cy="291806"/>
          </a:xfrm>
          <a:custGeom>
            <a:avLst/>
            <a:gdLst/>
            <a:ahLst/>
            <a:cxnLst/>
            <a:rect l="l" t="t" r="r" b="b"/>
            <a:pathLst>
              <a:path w="255330" h="291806">
                <a:moveTo>
                  <a:pt x="36476" y="18238"/>
                </a:moveTo>
                <a:cubicBezTo>
                  <a:pt x="16357" y="18238"/>
                  <a:pt x="0" y="34595"/>
                  <a:pt x="0" y="54714"/>
                </a:cubicBezTo>
                <a:lnTo>
                  <a:pt x="0" y="91189"/>
                </a:lnTo>
                <a:cubicBezTo>
                  <a:pt x="0" y="111308"/>
                  <a:pt x="16357" y="127665"/>
                  <a:pt x="36476" y="127665"/>
                </a:cubicBezTo>
                <a:lnTo>
                  <a:pt x="218854" y="127665"/>
                </a:lnTo>
                <a:cubicBezTo>
                  <a:pt x="238973" y="127665"/>
                  <a:pt x="255330" y="111308"/>
                  <a:pt x="255330" y="91189"/>
                </a:cubicBezTo>
                <a:lnTo>
                  <a:pt x="255330" y="54714"/>
                </a:lnTo>
                <a:cubicBezTo>
                  <a:pt x="255330" y="34595"/>
                  <a:pt x="238973" y="18238"/>
                  <a:pt x="218854" y="18238"/>
                </a:cubicBezTo>
                <a:lnTo>
                  <a:pt x="36476" y="18238"/>
                </a:lnTo>
                <a:close/>
                <a:moveTo>
                  <a:pt x="159581" y="59273"/>
                </a:moveTo>
                <a:cubicBezTo>
                  <a:pt x="167130" y="59273"/>
                  <a:pt x="173260" y="65402"/>
                  <a:pt x="173260" y="72951"/>
                </a:cubicBezTo>
                <a:cubicBezTo>
                  <a:pt x="173260" y="80501"/>
                  <a:pt x="167130" y="86630"/>
                  <a:pt x="159581" y="86630"/>
                </a:cubicBezTo>
                <a:cubicBezTo>
                  <a:pt x="152032" y="86630"/>
                  <a:pt x="145903" y="80501"/>
                  <a:pt x="145903" y="72951"/>
                </a:cubicBezTo>
                <a:cubicBezTo>
                  <a:pt x="145903" y="65402"/>
                  <a:pt x="152032" y="59273"/>
                  <a:pt x="159581" y="59273"/>
                </a:cubicBezTo>
                <a:close/>
                <a:moveTo>
                  <a:pt x="191497" y="72951"/>
                </a:moveTo>
                <a:cubicBezTo>
                  <a:pt x="191497" y="65402"/>
                  <a:pt x="197626" y="59273"/>
                  <a:pt x="205176" y="59273"/>
                </a:cubicBezTo>
                <a:cubicBezTo>
                  <a:pt x="212725" y="59273"/>
                  <a:pt x="218854" y="65402"/>
                  <a:pt x="218854" y="72951"/>
                </a:cubicBezTo>
                <a:cubicBezTo>
                  <a:pt x="218854" y="80501"/>
                  <a:pt x="212725" y="86630"/>
                  <a:pt x="205176" y="86630"/>
                </a:cubicBezTo>
                <a:cubicBezTo>
                  <a:pt x="197626" y="86630"/>
                  <a:pt x="191497" y="80501"/>
                  <a:pt x="191497" y="72951"/>
                </a:cubicBezTo>
                <a:close/>
                <a:moveTo>
                  <a:pt x="36476" y="164141"/>
                </a:moveTo>
                <a:cubicBezTo>
                  <a:pt x="16357" y="164141"/>
                  <a:pt x="0" y="180498"/>
                  <a:pt x="0" y="200616"/>
                </a:cubicBezTo>
                <a:lnTo>
                  <a:pt x="0" y="237092"/>
                </a:lnTo>
                <a:cubicBezTo>
                  <a:pt x="0" y="257211"/>
                  <a:pt x="16357" y="273568"/>
                  <a:pt x="36476" y="273568"/>
                </a:cubicBezTo>
                <a:lnTo>
                  <a:pt x="218854" y="273568"/>
                </a:lnTo>
                <a:cubicBezTo>
                  <a:pt x="238973" y="273568"/>
                  <a:pt x="255330" y="257211"/>
                  <a:pt x="255330" y="237092"/>
                </a:cubicBezTo>
                <a:lnTo>
                  <a:pt x="255330" y="200616"/>
                </a:lnTo>
                <a:cubicBezTo>
                  <a:pt x="255330" y="180498"/>
                  <a:pt x="238973" y="164141"/>
                  <a:pt x="218854" y="164141"/>
                </a:cubicBezTo>
                <a:lnTo>
                  <a:pt x="36476" y="164141"/>
                </a:lnTo>
                <a:close/>
                <a:moveTo>
                  <a:pt x="159581" y="205176"/>
                </a:moveTo>
                <a:cubicBezTo>
                  <a:pt x="167130" y="205176"/>
                  <a:pt x="173260" y="211305"/>
                  <a:pt x="173260" y="218854"/>
                </a:cubicBezTo>
                <a:cubicBezTo>
                  <a:pt x="173260" y="226403"/>
                  <a:pt x="167130" y="232533"/>
                  <a:pt x="159581" y="232533"/>
                </a:cubicBezTo>
                <a:cubicBezTo>
                  <a:pt x="152032" y="232533"/>
                  <a:pt x="145903" y="226403"/>
                  <a:pt x="145903" y="218854"/>
                </a:cubicBezTo>
                <a:cubicBezTo>
                  <a:pt x="145903" y="211305"/>
                  <a:pt x="152032" y="205176"/>
                  <a:pt x="159581" y="205176"/>
                </a:cubicBezTo>
                <a:close/>
                <a:moveTo>
                  <a:pt x="191497" y="218854"/>
                </a:moveTo>
                <a:cubicBezTo>
                  <a:pt x="191497" y="211305"/>
                  <a:pt x="197626" y="205176"/>
                  <a:pt x="205176" y="205176"/>
                </a:cubicBezTo>
                <a:cubicBezTo>
                  <a:pt x="212725" y="205176"/>
                  <a:pt x="218854" y="211305"/>
                  <a:pt x="218854" y="218854"/>
                </a:cubicBezTo>
                <a:cubicBezTo>
                  <a:pt x="218854" y="226403"/>
                  <a:pt x="212725" y="232533"/>
                  <a:pt x="205176" y="232533"/>
                </a:cubicBezTo>
                <a:cubicBezTo>
                  <a:pt x="197626" y="232533"/>
                  <a:pt x="191497" y="226403"/>
                  <a:pt x="191497" y="21885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788773" y="2225017"/>
            <a:ext cx="1094271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单点瓶颈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59259" y="2832945"/>
            <a:ext cx="454730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JobTracker成为性能和可靠性瓶颈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83576" y="3319288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24317" y="24317"/>
                </a:moveTo>
                <a:cubicBezTo>
                  <a:pt x="24317" y="17592"/>
                  <a:pt x="18884" y="12159"/>
                  <a:pt x="12159" y="12159"/>
                </a:cubicBezTo>
                <a:cubicBezTo>
                  <a:pt x="5433" y="12159"/>
                  <a:pt x="0" y="17592"/>
                  <a:pt x="0" y="24317"/>
                </a:cubicBezTo>
                <a:lnTo>
                  <a:pt x="0" y="151982"/>
                </a:lnTo>
                <a:cubicBezTo>
                  <a:pt x="0" y="168776"/>
                  <a:pt x="13602" y="182378"/>
                  <a:pt x="30396" y="182378"/>
                </a:cubicBezTo>
                <a:lnTo>
                  <a:pt x="182378" y="182378"/>
                </a:lnTo>
                <a:cubicBezTo>
                  <a:pt x="189104" y="182378"/>
                  <a:pt x="194537" y="176945"/>
                  <a:pt x="194537" y="170220"/>
                </a:cubicBezTo>
                <a:cubicBezTo>
                  <a:pt x="194537" y="163495"/>
                  <a:pt x="189104" y="158061"/>
                  <a:pt x="182378" y="158061"/>
                </a:cubicBezTo>
                <a:lnTo>
                  <a:pt x="30396" y="158061"/>
                </a:lnTo>
                <a:cubicBezTo>
                  <a:pt x="27053" y="158061"/>
                  <a:pt x="24317" y="155326"/>
                  <a:pt x="24317" y="151982"/>
                </a:cubicBezTo>
                <a:lnTo>
                  <a:pt x="24317" y="24317"/>
                </a:lnTo>
                <a:close/>
                <a:moveTo>
                  <a:pt x="178807" y="57221"/>
                </a:moveTo>
                <a:cubicBezTo>
                  <a:pt x="183556" y="52472"/>
                  <a:pt x="183556" y="44759"/>
                  <a:pt x="178807" y="40009"/>
                </a:cubicBezTo>
                <a:cubicBezTo>
                  <a:pt x="174057" y="35260"/>
                  <a:pt x="166344" y="35260"/>
                  <a:pt x="161595" y="40009"/>
                </a:cubicBezTo>
                <a:lnTo>
                  <a:pt x="121586" y="80057"/>
                </a:lnTo>
                <a:lnTo>
                  <a:pt x="99776" y="58285"/>
                </a:lnTo>
                <a:cubicBezTo>
                  <a:pt x="95027" y="53536"/>
                  <a:pt x="87314" y="53536"/>
                  <a:pt x="82564" y="58285"/>
                </a:cubicBezTo>
                <a:lnTo>
                  <a:pt x="46089" y="94761"/>
                </a:lnTo>
                <a:cubicBezTo>
                  <a:pt x="41339" y="99510"/>
                  <a:pt x="41339" y="107223"/>
                  <a:pt x="46089" y="111973"/>
                </a:cubicBezTo>
                <a:cubicBezTo>
                  <a:pt x="50838" y="116722"/>
                  <a:pt x="58551" y="116722"/>
                  <a:pt x="63301" y="111973"/>
                </a:cubicBezTo>
                <a:lnTo>
                  <a:pt x="91189" y="84084"/>
                </a:lnTo>
                <a:lnTo>
                  <a:pt x="112999" y="105893"/>
                </a:lnTo>
                <a:cubicBezTo>
                  <a:pt x="117748" y="110643"/>
                  <a:pt x="125461" y="110643"/>
                  <a:pt x="130211" y="105893"/>
                </a:cubicBezTo>
                <a:lnTo>
                  <a:pt x="178845" y="5725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399699" y="3270654"/>
            <a:ext cx="195752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扩展性限制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99699" y="3562459"/>
            <a:ext cx="1945370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节点上限: 4000节点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任务上限: 40000并发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83576" y="4194705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97269" y="0"/>
                </a:moveTo>
                <a:cubicBezTo>
                  <a:pt x="102854" y="0"/>
                  <a:pt x="107983" y="3078"/>
                  <a:pt x="110643" y="7979"/>
                </a:cubicBezTo>
                <a:lnTo>
                  <a:pt x="192713" y="159961"/>
                </a:lnTo>
                <a:cubicBezTo>
                  <a:pt x="195259" y="164673"/>
                  <a:pt x="195145" y="170372"/>
                  <a:pt x="192409" y="174969"/>
                </a:cubicBezTo>
                <a:cubicBezTo>
                  <a:pt x="189674" y="179567"/>
                  <a:pt x="184696" y="182378"/>
                  <a:pt x="179339" y="182378"/>
                </a:cubicBezTo>
                <a:lnTo>
                  <a:pt x="15198" y="182378"/>
                </a:lnTo>
                <a:cubicBezTo>
                  <a:pt x="9841" y="182378"/>
                  <a:pt x="4901" y="179567"/>
                  <a:pt x="2128" y="174969"/>
                </a:cubicBezTo>
                <a:cubicBezTo>
                  <a:pt x="-646" y="170372"/>
                  <a:pt x="-722" y="164673"/>
                  <a:pt x="1824" y="159961"/>
                </a:cubicBezTo>
                <a:lnTo>
                  <a:pt x="83894" y="7979"/>
                </a:lnTo>
                <a:cubicBezTo>
                  <a:pt x="86554" y="3078"/>
                  <a:pt x="91683" y="0"/>
                  <a:pt x="97269" y="0"/>
                </a:cubicBezTo>
                <a:close/>
                <a:moveTo>
                  <a:pt x="97269" y="63832"/>
                </a:moveTo>
                <a:cubicBezTo>
                  <a:pt x="92215" y="63832"/>
                  <a:pt x="88150" y="67898"/>
                  <a:pt x="88150" y="72951"/>
                </a:cubicBezTo>
                <a:lnTo>
                  <a:pt x="88150" y="115506"/>
                </a:lnTo>
                <a:cubicBezTo>
                  <a:pt x="88150" y="120560"/>
                  <a:pt x="92215" y="124625"/>
                  <a:pt x="97269" y="124625"/>
                </a:cubicBezTo>
                <a:cubicBezTo>
                  <a:pt x="102322" y="124625"/>
                  <a:pt x="106387" y="120560"/>
                  <a:pt x="106387" y="115506"/>
                </a:cubicBezTo>
                <a:lnTo>
                  <a:pt x="106387" y="72951"/>
                </a:lnTo>
                <a:cubicBezTo>
                  <a:pt x="106387" y="67898"/>
                  <a:pt x="102322" y="63832"/>
                  <a:pt x="97269" y="63832"/>
                </a:cubicBezTo>
                <a:close/>
                <a:moveTo>
                  <a:pt x="107413" y="145903"/>
                </a:moveTo>
                <a:cubicBezTo>
                  <a:pt x="107644" y="142137"/>
                  <a:pt x="105766" y="138554"/>
                  <a:pt x="102538" y="136602"/>
                </a:cubicBezTo>
                <a:cubicBezTo>
                  <a:pt x="99310" y="134649"/>
                  <a:pt x="95265" y="134649"/>
                  <a:pt x="92037" y="136602"/>
                </a:cubicBezTo>
                <a:cubicBezTo>
                  <a:pt x="88809" y="138554"/>
                  <a:pt x="86931" y="142137"/>
                  <a:pt x="87162" y="145903"/>
                </a:cubicBezTo>
                <a:cubicBezTo>
                  <a:pt x="86931" y="149668"/>
                  <a:pt x="88809" y="153251"/>
                  <a:pt x="92037" y="155204"/>
                </a:cubicBezTo>
                <a:cubicBezTo>
                  <a:pt x="95265" y="157156"/>
                  <a:pt x="99310" y="157156"/>
                  <a:pt x="102538" y="155204"/>
                </a:cubicBezTo>
                <a:cubicBezTo>
                  <a:pt x="105766" y="153251"/>
                  <a:pt x="107644" y="149668"/>
                  <a:pt x="107413" y="14590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399699" y="4146070"/>
            <a:ext cx="150766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单点故障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99699" y="4437876"/>
            <a:ext cx="1495503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年度故障: 9次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可用性: 99.86%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83576" y="5070121"/>
            <a:ext cx="194537" cy="194537"/>
          </a:xfrm>
          <a:custGeom>
            <a:avLst/>
            <a:gdLst/>
            <a:ahLst/>
            <a:cxnLst/>
            <a:rect l="l" t="t" r="r" b="b"/>
            <a:pathLst>
              <a:path w="194537" h="194537">
                <a:moveTo>
                  <a:pt x="97269" y="0"/>
                </a:moveTo>
                <a:cubicBezTo>
                  <a:pt x="150952" y="0"/>
                  <a:pt x="194537" y="43585"/>
                  <a:pt x="194537" y="97269"/>
                </a:cubicBezTo>
                <a:cubicBezTo>
                  <a:pt x="194537" y="150952"/>
                  <a:pt x="150952" y="194537"/>
                  <a:pt x="97269" y="194537"/>
                </a:cubicBezTo>
                <a:cubicBezTo>
                  <a:pt x="43585" y="194537"/>
                  <a:pt x="0" y="150952"/>
                  <a:pt x="0" y="97269"/>
                </a:cubicBezTo>
                <a:cubicBezTo>
                  <a:pt x="0" y="43585"/>
                  <a:pt x="43585" y="0"/>
                  <a:pt x="97269" y="0"/>
                </a:cubicBezTo>
                <a:close/>
                <a:moveTo>
                  <a:pt x="88150" y="45595"/>
                </a:moveTo>
                <a:lnTo>
                  <a:pt x="88150" y="97269"/>
                </a:lnTo>
                <a:cubicBezTo>
                  <a:pt x="88150" y="100308"/>
                  <a:pt x="89669" y="103158"/>
                  <a:pt x="92215" y="104868"/>
                </a:cubicBezTo>
                <a:lnTo>
                  <a:pt x="128691" y="129185"/>
                </a:lnTo>
                <a:cubicBezTo>
                  <a:pt x="132870" y="131996"/>
                  <a:pt x="138532" y="130857"/>
                  <a:pt x="141343" y="126639"/>
                </a:cubicBezTo>
                <a:cubicBezTo>
                  <a:pt x="144155" y="122422"/>
                  <a:pt x="143015" y="116798"/>
                  <a:pt x="138798" y="113987"/>
                </a:cubicBezTo>
                <a:lnTo>
                  <a:pt x="106387" y="92405"/>
                </a:lnTo>
                <a:lnTo>
                  <a:pt x="106387" y="45595"/>
                </a:lnTo>
                <a:cubicBezTo>
                  <a:pt x="106387" y="40541"/>
                  <a:pt x="102322" y="36476"/>
                  <a:pt x="97269" y="36476"/>
                </a:cubicBezTo>
                <a:cubicBezTo>
                  <a:pt x="92215" y="36476"/>
                  <a:pt x="88150" y="40541"/>
                  <a:pt x="88150" y="4559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399699" y="5021487"/>
            <a:ext cx="1823785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响应延迟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99699" y="5313292"/>
            <a:ext cx="1811626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故障恢复时间: 2-4小时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8501" y="6577783"/>
            <a:ext cx="15258998" cy="2066956"/>
          </a:xfrm>
          <a:custGeom>
            <a:avLst/>
            <a:gdLst/>
            <a:ahLst/>
            <a:cxnLst/>
            <a:rect l="l" t="t" r="r" b="b"/>
            <a:pathLst>
              <a:path w="15258998" h="2066956">
                <a:moveTo>
                  <a:pt x="97271" y="0"/>
                </a:moveTo>
                <a:lnTo>
                  <a:pt x="15161727" y="0"/>
                </a:lnTo>
                <a:cubicBezTo>
                  <a:pt x="15215448" y="0"/>
                  <a:pt x="15258998" y="43550"/>
                  <a:pt x="15258998" y="97271"/>
                </a:cubicBezTo>
                <a:lnTo>
                  <a:pt x="15258998" y="1969685"/>
                </a:lnTo>
                <a:cubicBezTo>
                  <a:pt x="15258998" y="2023406"/>
                  <a:pt x="15215448" y="2066956"/>
                  <a:pt x="15161727" y="2066956"/>
                </a:cubicBezTo>
                <a:lnTo>
                  <a:pt x="97271" y="2066956"/>
                </a:lnTo>
                <a:cubicBezTo>
                  <a:pt x="43550" y="2066956"/>
                  <a:pt x="0" y="2023406"/>
                  <a:pt x="0" y="1969685"/>
                </a:cubicBezTo>
                <a:lnTo>
                  <a:pt x="0" y="97271"/>
                </a:lnTo>
                <a:cubicBezTo>
                  <a:pt x="0" y="43550"/>
                  <a:pt x="43550" y="0"/>
                  <a:pt x="9727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63258" y="7390887"/>
            <a:ext cx="328281" cy="437708"/>
          </a:xfrm>
          <a:custGeom>
            <a:avLst/>
            <a:gdLst/>
            <a:ahLst/>
            <a:cxnLst/>
            <a:rect l="l" t="t" r="r" b="b"/>
            <a:pathLst>
              <a:path w="328281" h="437708">
                <a:moveTo>
                  <a:pt x="250400" y="328281"/>
                </a:moveTo>
                <a:cubicBezTo>
                  <a:pt x="256641" y="309217"/>
                  <a:pt x="269122" y="291948"/>
                  <a:pt x="283228" y="277073"/>
                </a:cubicBezTo>
                <a:cubicBezTo>
                  <a:pt x="311183" y="247664"/>
                  <a:pt x="328281" y="207911"/>
                  <a:pt x="328281" y="164141"/>
                </a:cubicBezTo>
                <a:cubicBezTo>
                  <a:pt x="328281" y="73521"/>
                  <a:pt x="254760" y="0"/>
                  <a:pt x="164141" y="0"/>
                </a:cubicBezTo>
                <a:cubicBezTo>
                  <a:pt x="73521" y="0"/>
                  <a:pt x="0" y="73521"/>
                  <a:pt x="0" y="164141"/>
                </a:cubicBezTo>
                <a:cubicBezTo>
                  <a:pt x="0" y="207911"/>
                  <a:pt x="17098" y="247664"/>
                  <a:pt x="45053" y="277073"/>
                </a:cubicBezTo>
                <a:cubicBezTo>
                  <a:pt x="59159" y="291948"/>
                  <a:pt x="71726" y="309217"/>
                  <a:pt x="77881" y="328281"/>
                </a:cubicBezTo>
                <a:lnTo>
                  <a:pt x="250314" y="328281"/>
                </a:lnTo>
                <a:close/>
                <a:moveTo>
                  <a:pt x="246211" y="369316"/>
                </a:moveTo>
                <a:lnTo>
                  <a:pt x="82070" y="369316"/>
                </a:lnTo>
                <a:lnTo>
                  <a:pt x="82070" y="382995"/>
                </a:lnTo>
                <a:cubicBezTo>
                  <a:pt x="82070" y="420781"/>
                  <a:pt x="112676" y="451387"/>
                  <a:pt x="150462" y="451387"/>
                </a:cubicBezTo>
                <a:lnTo>
                  <a:pt x="177819" y="451387"/>
                </a:lnTo>
                <a:cubicBezTo>
                  <a:pt x="215606" y="451387"/>
                  <a:pt x="246211" y="420781"/>
                  <a:pt x="246211" y="382995"/>
                </a:cubicBezTo>
                <a:lnTo>
                  <a:pt x="246211" y="369316"/>
                </a:lnTo>
                <a:close/>
                <a:moveTo>
                  <a:pt x="157301" y="95749"/>
                </a:moveTo>
                <a:cubicBezTo>
                  <a:pt x="123276" y="95749"/>
                  <a:pt x="95749" y="123276"/>
                  <a:pt x="95749" y="157301"/>
                </a:cubicBezTo>
                <a:cubicBezTo>
                  <a:pt x="95749" y="168672"/>
                  <a:pt x="86601" y="177819"/>
                  <a:pt x="75231" y="177819"/>
                </a:cubicBezTo>
                <a:cubicBezTo>
                  <a:pt x="63861" y="177819"/>
                  <a:pt x="54714" y="168672"/>
                  <a:pt x="54714" y="157301"/>
                </a:cubicBezTo>
                <a:cubicBezTo>
                  <a:pt x="54714" y="100622"/>
                  <a:pt x="100622" y="54714"/>
                  <a:pt x="157301" y="54714"/>
                </a:cubicBezTo>
                <a:cubicBezTo>
                  <a:pt x="168672" y="54714"/>
                  <a:pt x="177819" y="63861"/>
                  <a:pt x="177819" y="75231"/>
                </a:cubicBezTo>
                <a:cubicBezTo>
                  <a:pt x="177819" y="86601"/>
                  <a:pt x="168672" y="95749"/>
                  <a:pt x="157301" y="9574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495503" y="6833113"/>
            <a:ext cx="14152568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根本原因分析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95503" y="7319455"/>
            <a:ext cx="14116093" cy="106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v1的根本问题在于</a:t>
            </a:r>
            <a:r>
              <a:rPr lang="en-US" sz="17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资源管理与作业调度的紧耦合</a:t>
            </a: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7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静态Slot资源模型</a:t>
            </a: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以及</a:t>
            </a:r>
            <a:r>
              <a:rPr lang="en-US" sz="17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中心化架构的扩展性限制</a:t>
            </a: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。这些问题导致资源利用率从理论的100%降低到实际的21.4%，年度运维成本增加800万元，新业务上线周期延长到3-6个月。解决方案就是YARN——通过</a:t>
            </a:r>
            <a:r>
              <a:rPr lang="en-US" sz="1723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资源管理与作业调度的分离</a:t>
            </a: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</a:t>
            </a:r>
            <a:r>
              <a:rPr lang="en-US" sz="1723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统一的多框架资源管理平台</a:t>
            </a:r>
            <a:r>
              <a:rPr lang="en-US" sz="17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822" y="478822"/>
            <a:ext cx="15394121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kern="0" spc="75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8822" y="861879"/>
            <a:ext cx="15513826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9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 的设计目标与核心理念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8822" y="1484348"/>
            <a:ext cx="1149172" cy="47882"/>
          </a:xfrm>
          <a:custGeom>
            <a:avLst/>
            <a:gdLst/>
            <a:ahLst/>
            <a:cxnLst/>
            <a:rect l="l" t="t" r="r" b="b"/>
            <a:pathLst>
              <a:path w="1149172" h="47882">
                <a:moveTo>
                  <a:pt x="0" y="0"/>
                </a:moveTo>
                <a:lnTo>
                  <a:pt x="1149172" y="0"/>
                </a:lnTo>
                <a:lnTo>
                  <a:pt x="1149172" y="47882"/>
                </a:lnTo>
                <a:lnTo>
                  <a:pt x="0" y="47882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84807" y="1825508"/>
            <a:ext cx="4955806" cy="4560778"/>
          </a:xfrm>
          <a:custGeom>
            <a:avLst/>
            <a:gdLst/>
            <a:ahLst/>
            <a:cxnLst/>
            <a:rect l="l" t="t" r="r" b="b"/>
            <a:pathLst>
              <a:path w="4955806" h="4560778">
                <a:moveTo>
                  <a:pt x="95776" y="0"/>
                </a:moveTo>
                <a:lnTo>
                  <a:pt x="4860029" y="0"/>
                </a:lnTo>
                <a:cubicBezTo>
                  <a:pt x="4912925" y="0"/>
                  <a:pt x="4955806" y="42881"/>
                  <a:pt x="4955806" y="95776"/>
                </a:cubicBezTo>
                <a:lnTo>
                  <a:pt x="4955806" y="4465001"/>
                </a:lnTo>
                <a:cubicBezTo>
                  <a:pt x="4955806" y="4517897"/>
                  <a:pt x="4912925" y="4560778"/>
                  <a:pt x="4860029" y="4560778"/>
                </a:cubicBezTo>
                <a:lnTo>
                  <a:pt x="95776" y="4560778"/>
                </a:lnTo>
                <a:cubicBezTo>
                  <a:pt x="42881" y="4560778"/>
                  <a:pt x="0" y="4517897"/>
                  <a:pt x="0" y="4465001"/>
                </a:cubicBezTo>
                <a:lnTo>
                  <a:pt x="0" y="95776"/>
                </a:lnTo>
                <a:cubicBezTo>
                  <a:pt x="0" y="42881"/>
                  <a:pt x="42881" y="0"/>
                  <a:pt x="957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0203" y="2070904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95766" y="0"/>
                </a:moveTo>
                <a:lnTo>
                  <a:pt x="478820" y="0"/>
                </a:lnTo>
                <a:cubicBezTo>
                  <a:pt x="531710" y="0"/>
                  <a:pt x="574586" y="42876"/>
                  <a:pt x="574586" y="95766"/>
                </a:cubicBezTo>
                <a:lnTo>
                  <a:pt x="574586" y="478820"/>
                </a:lnTo>
                <a:cubicBezTo>
                  <a:pt x="574586" y="531710"/>
                  <a:pt x="531710" y="574586"/>
                  <a:pt x="478820" y="574586"/>
                </a:cubicBezTo>
                <a:lnTo>
                  <a:pt x="95766" y="574586"/>
                </a:lnTo>
                <a:cubicBezTo>
                  <a:pt x="42876" y="574586"/>
                  <a:pt x="0" y="531710"/>
                  <a:pt x="0" y="478820"/>
                </a:cubicBezTo>
                <a:lnTo>
                  <a:pt x="0" y="95766"/>
                </a:lnTo>
                <a:cubicBezTo>
                  <a:pt x="0" y="42911"/>
                  <a:pt x="42911" y="0"/>
                  <a:pt x="9576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73850" y="2214551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30460" y="2918"/>
                </a:moveTo>
                <a:cubicBezTo>
                  <a:pt x="138821" y="-954"/>
                  <a:pt x="148472" y="-954"/>
                  <a:pt x="156833" y="2918"/>
                </a:cubicBezTo>
                <a:lnTo>
                  <a:pt x="279494" y="59591"/>
                </a:lnTo>
                <a:cubicBezTo>
                  <a:pt x="284263" y="61779"/>
                  <a:pt x="287293" y="66549"/>
                  <a:pt x="287293" y="71823"/>
                </a:cubicBezTo>
                <a:cubicBezTo>
                  <a:pt x="287293" y="77098"/>
                  <a:pt x="284263" y="81867"/>
                  <a:pt x="279494" y="84056"/>
                </a:cubicBezTo>
                <a:lnTo>
                  <a:pt x="156833" y="140729"/>
                </a:lnTo>
                <a:cubicBezTo>
                  <a:pt x="148472" y="144600"/>
                  <a:pt x="138821" y="144600"/>
                  <a:pt x="130460" y="140729"/>
                </a:cubicBezTo>
                <a:lnTo>
                  <a:pt x="7800" y="84056"/>
                </a:lnTo>
                <a:cubicBezTo>
                  <a:pt x="3030" y="81811"/>
                  <a:pt x="0" y="77042"/>
                  <a:pt x="0" y="71823"/>
                </a:cubicBezTo>
                <a:cubicBezTo>
                  <a:pt x="0" y="66605"/>
                  <a:pt x="3030" y="61779"/>
                  <a:pt x="7800" y="59591"/>
                </a:cubicBezTo>
                <a:lnTo>
                  <a:pt x="130460" y="2918"/>
                </a:lnTo>
                <a:close/>
                <a:moveTo>
                  <a:pt x="26990" y="122548"/>
                </a:moveTo>
                <a:lnTo>
                  <a:pt x="119182" y="165137"/>
                </a:lnTo>
                <a:cubicBezTo>
                  <a:pt x="134725" y="172320"/>
                  <a:pt x="152624" y="172320"/>
                  <a:pt x="168167" y="165137"/>
                </a:cubicBezTo>
                <a:lnTo>
                  <a:pt x="260359" y="122548"/>
                </a:lnTo>
                <a:lnTo>
                  <a:pt x="279494" y="131414"/>
                </a:lnTo>
                <a:cubicBezTo>
                  <a:pt x="284263" y="133603"/>
                  <a:pt x="287293" y="138372"/>
                  <a:pt x="287293" y="143647"/>
                </a:cubicBezTo>
                <a:cubicBezTo>
                  <a:pt x="287293" y="148921"/>
                  <a:pt x="284263" y="153691"/>
                  <a:pt x="279494" y="155879"/>
                </a:cubicBezTo>
                <a:lnTo>
                  <a:pt x="156833" y="212552"/>
                </a:lnTo>
                <a:cubicBezTo>
                  <a:pt x="148472" y="216424"/>
                  <a:pt x="138821" y="216424"/>
                  <a:pt x="130460" y="212552"/>
                </a:cubicBezTo>
                <a:lnTo>
                  <a:pt x="7800" y="155879"/>
                </a:lnTo>
                <a:cubicBezTo>
                  <a:pt x="3030" y="153634"/>
                  <a:pt x="0" y="148865"/>
                  <a:pt x="0" y="143647"/>
                </a:cubicBezTo>
                <a:cubicBezTo>
                  <a:pt x="0" y="138428"/>
                  <a:pt x="3030" y="133603"/>
                  <a:pt x="7800" y="131414"/>
                </a:cubicBezTo>
                <a:lnTo>
                  <a:pt x="26934" y="122548"/>
                </a:lnTo>
                <a:close/>
                <a:moveTo>
                  <a:pt x="7800" y="203237"/>
                </a:moveTo>
                <a:lnTo>
                  <a:pt x="26934" y="194372"/>
                </a:lnTo>
                <a:lnTo>
                  <a:pt x="119126" y="236961"/>
                </a:lnTo>
                <a:cubicBezTo>
                  <a:pt x="134669" y="244143"/>
                  <a:pt x="152568" y="244143"/>
                  <a:pt x="168111" y="236961"/>
                </a:cubicBezTo>
                <a:lnTo>
                  <a:pt x="260303" y="194372"/>
                </a:lnTo>
                <a:lnTo>
                  <a:pt x="279437" y="203237"/>
                </a:lnTo>
                <a:cubicBezTo>
                  <a:pt x="284207" y="205426"/>
                  <a:pt x="287237" y="210195"/>
                  <a:pt x="287237" y="215470"/>
                </a:cubicBezTo>
                <a:cubicBezTo>
                  <a:pt x="287237" y="220744"/>
                  <a:pt x="284207" y="225514"/>
                  <a:pt x="279437" y="227702"/>
                </a:cubicBezTo>
                <a:lnTo>
                  <a:pt x="156777" y="284375"/>
                </a:lnTo>
                <a:cubicBezTo>
                  <a:pt x="148416" y="288247"/>
                  <a:pt x="138765" y="288247"/>
                  <a:pt x="130404" y="284375"/>
                </a:cubicBezTo>
                <a:lnTo>
                  <a:pt x="7800" y="227702"/>
                </a:lnTo>
                <a:cubicBezTo>
                  <a:pt x="3030" y="225458"/>
                  <a:pt x="0" y="220688"/>
                  <a:pt x="0" y="215470"/>
                </a:cubicBezTo>
                <a:cubicBezTo>
                  <a:pt x="0" y="210251"/>
                  <a:pt x="3030" y="205426"/>
                  <a:pt x="7800" y="20323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48436" y="2190610"/>
            <a:ext cx="2753225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资源管理与作业调度分离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0203" y="2789137"/>
            <a:ext cx="4560778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解决JobTracker职责过重问题，实现更灵活高效的集群资源管理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0203" y="3507370"/>
            <a:ext cx="4465013" cy="813997"/>
          </a:xfrm>
          <a:custGeom>
            <a:avLst/>
            <a:gdLst/>
            <a:ahLst/>
            <a:cxnLst/>
            <a:rect l="l" t="t" r="r" b="b"/>
            <a:pathLst>
              <a:path w="4465013" h="813997">
                <a:moveTo>
                  <a:pt x="47879" y="0"/>
                </a:moveTo>
                <a:lnTo>
                  <a:pt x="4417134" y="0"/>
                </a:lnTo>
                <a:cubicBezTo>
                  <a:pt x="4443577" y="0"/>
                  <a:pt x="4465013" y="21436"/>
                  <a:pt x="4465013" y="47879"/>
                </a:cubicBezTo>
                <a:lnTo>
                  <a:pt x="4465013" y="766118"/>
                </a:lnTo>
                <a:cubicBezTo>
                  <a:pt x="4465013" y="792561"/>
                  <a:pt x="4443577" y="813997"/>
                  <a:pt x="4417134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3850" y="3651016"/>
            <a:ext cx="427348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3850" y="3938309"/>
            <a:ext cx="4261514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专注于集群级别的资源分配和调度决策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0203" y="4417131"/>
            <a:ext cx="4465013" cy="813997"/>
          </a:xfrm>
          <a:custGeom>
            <a:avLst/>
            <a:gdLst/>
            <a:ahLst/>
            <a:cxnLst/>
            <a:rect l="l" t="t" r="r" b="b"/>
            <a:pathLst>
              <a:path w="4465013" h="813997">
                <a:moveTo>
                  <a:pt x="47879" y="0"/>
                </a:moveTo>
                <a:lnTo>
                  <a:pt x="4417134" y="0"/>
                </a:lnTo>
                <a:cubicBezTo>
                  <a:pt x="4443577" y="0"/>
                  <a:pt x="4465013" y="21436"/>
                  <a:pt x="4465013" y="47879"/>
                </a:cubicBezTo>
                <a:lnTo>
                  <a:pt x="4465013" y="766118"/>
                </a:lnTo>
                <a:cubicBezTo>
                  <a:pt x="4465013" y="792561"/>
                  <a:pt x="4443577" y="813997"/>
                  <a:pt x="4417134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3850" y="4560778"/>
            <a:ext cx="427348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850" y="4848071"/>
            <a:ext cx="4261514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负责单个应用内部的任务调度和监控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0203" y="5326892"/>
            <a:ext cx="4465013" cy="813997"/>
          </a:xfrm>
          <a:custGeom>
            <a:avLst/>
            <a:gdLst/>
            <a:ahLst/>
            <a:cxnLst/>
            <a:rect l="l" t="t" r="r" b="b"/>
            <a:pathLst>
              <a:path w="4465013" h="813997">
                <a:moveTo>
                  <a:pt x="47879" y="0"/>
                </a:moveTo>
                <a:lnTo>
                  <a:pt x="4417134" y="0"/>
                </a:lnTo>
                <a:cubicBezTo>
                  <a:pt x="4443577" y="0"/>
                  <a:pt x="4465013" y="21436"/>
                  <a:pt x="4465013" y="47879"/>
                </a:cubicBezTo>
                <a:lnTo>
                  <a:pt x="4465013" y="766118"/>
                </a:lnTo>
                <a:cubicBezTo>
                  <a:pt x="4465013" y="792561"/>
                  <a:pt x="4443577" y="813997"/>
                  <a:pt x="4417134" y="813997"/>
                </a:cubicBezTo>
                <a:lnTo>
                  <a:pt x="47879" y="813997"/>
                </a:lnTo>
                <a:cubicBezTo>
                  <a:pt x="21436" y="813997"/>
                  <a:pt x="0" y="792561"/>
                  <a:pt x="0" y="766118"/>
                </a:cubicBezTo>
                <a:lnTo>
                  <a:pt x="0" y="47879"/>
                </a:lnTo>
                <a:cubicBezTo>
                  <a:pt x="0" y="21454"/>
                  <a:pt x="21454" y="0"/>
                  <a:pt x="4787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3850" y="5470539"/>
            <a:ext cx="427348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850" y="5757832"/>
            <a:ext cx="4261514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负责单个节点的资源监控和容器生命周期管理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8975" y="1825508"/>
            <a:ext cx="4955806" cy="4560778"/>
          </a:xfrm>
          <a:custGeom>
            <a:avLst/>
            <a:gdLst/>
            <a:ahLst/>
            <a:cxnLst/>
            <a:rect l="l" t="t" r="r" b="b"/>
            <a:pathLst>
              <a:path w="4955806" h="4560778">
                <a:moveTo>
                  <a:pt x="95776" y="0"/>
                </a:moveTo>
                <a:lnTo>
                  <a:pt x="4860029" y="0"/>
                </a:lnTo>
                <a:cubicBezTo>
                  <a:pt x="4912925" y="0"/>
                  <a:pt x="4955806" y="42881"/>
                  <a:pt x="4955806" y="95776"/>
                </a:cubicBezTo>
                <a:lnTo>
                  <a:pt x="4955806" y="4465001"/>
                </a:lnTo>
                <a:cubicBezTo>
                  <a:pt x="4955806" y="4517897"/>
                  <a:pt x="4912925" y="4560778"/>
                  <a:pt x="4860029" y="4560778"/>
                </a:cubicBezTo>
                <a:lnTo>
                  <a:pt x="95776" y="4560778"/>
                </a:lnTo>
                <a:cubicBezTo>
                  <a:pt x="42881" y="4560778"/>
                  <a:pt x="0" y="4517897"/>
                  <a:pt x="0" y="4465001"/>
                </a:cubicBezTo>
                <a:lnTo>
                  <a:pt x="0" y="95776"/>
                </a:lnTo>
                <a:cubicBezTo>
                  <a:pt x="0" y="42881"/>
                  <a:pt x="42881" y="0"/>
                  <a:pt x="957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94371" y="2070904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95766" y="0"/>
                </a:moveTo>
                <a:lnTo>
                  <a:pt x="478820" y="0"/>
                </a:lnTo>
                <a:cubicBezTo>
                  <a:pt x="531710" y="0"/>
                  <a:pt x="574586" y="42876"/>
                  <a:pt x="574586" y="95766"/>
                </a:cubicBezTo>
                <a:lnTo>
                  <a:pt x="574586" y="478820"/>
                </a:lnTo>
                <a:cubicBezTo>
                  <a:pt x="574586" y="531710"/>
                  <a:pt x="531710" y="574586"/>
                  <a:pt x="478820" y="574586"/>
                </a:cubicBezTo>
                <a:lnTo>
                  <a:pt x="95766" y="574586"/>
                </a:lnTo>
                <a:cubicBezTo>
                  <a:pt x="42876" y="574586"/>
                  <a:pt x="0" y="531710"/>
                  <a:pt x="0" y="478820"/>
                </a:cubicBezTo>
                <a:lnTo>
                  <a:pt x="0" y="95766"/>
                </a:lnTo>
                <a:cubicBezTo>
                  <a:pt x="0" y="42911"/>
                  <a:pt x="42911" y="0"/>
                  <a:pt x="9576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038018" y="2214551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07735" y="35912"/>
                </a:moveTo>
                <a:cubicBezTo>
                  <a:pt x="107735" y="25980"/>
                  <a:pt x="115759" y="17956"/>
                  <a:pt x="125691" y="17956"/>
                </a:cubicBezTo>
                <a:lnTo>
                  <a:pt x="161602" y="17956"/>
                </a:lnTo>
                <a:cubicBezTo>
                  <a:pt x="171534" y="17956"/>
                  <a:pt x="179558" y="25980"/>
                  <a:pt x="179558" y="35912"/>
                </a:cubicBezTo>
                <a:lnTo>
                  <a:pt x="179558" y="71823"/>
                </a:lnTo>
                <a:cubicBezTo>
                  <a:pt x="179558" y="81755"/>
                  <a:pt x="171534" y="89779"/>
                  <a:pt x="161602" y="89779"/>
                </a:cubicBezTo>
                <a:lnTo>
                  <a:pt x="157113" y="89779"/>
                </a:lnTo>
                <a:lnTo>
                  <a:pt x="157113" y="125691"/>
                </a:lnTo>
                <a:lnTo>
                  <a:pt x="224448" y="125691"/>
                </a:lnTo>
                <a:cubicBezTo>
                  <a:pt x="246780" y="125691"/>
                  <a:pt x="264848" y="143759"/>
                  <a:pt x="264848" y="166091"/>
                </a:cubicBezTo>
                <a:lnTo>
                  <a:pt x="264848" y="197514"/>
                </a:lnTo>
                <a:lnTo>
                  <a:pt x="269337" y="197514"/>
                </a:lnTo>
                <a:cubicBezTo>
                  <a:pt x="279269" y="197514"/>
                  <a:pt x="287293" y="205538"/>
                  <a:pt x="287293" y="215470"/>
                </a:cubicBezTo>
                <a:lnTo>
                  <a:pt x="287293" y="251381"/>
                </a:lnTo>
                <a:cubicBezTo>
                  <a:pt x="287293" y="261313"/>
                  <a:pt x="279269" y="269337"/>
                  <a:pt x="269337" y="269337"/>
                </a:cubicBezTo>
                <a:lnTo>
                  <a:pt x="233426" y="269337"/>
                </a:lnTo>
                <a:cubicBezTo>
                  <a:pt x="223494" y="269337"/>
                  <a:pt x="215470" y="261313"/>
                  <a:pt x="215470" y="251381"/>
                </a:cubicBezTo>
                <a:lnTo>
                  <a:pt x="215470" y="215470"/>
                </a:lnTo>
                <a:cubicBezTo>
                  <a:pt x="215470" y="205538"/>
                  <a:pt x="223494" y="197514"/>
                  <a:pt x="233426" y="197514"/>
                </a:cubicBezTo>
                <a:lnTo>
                  <a:pt x="237915" y="197514"/>
                </a:lnTo>
                <a:lnTo>
                  <a:pt x="237915" y="166091"/>
                </a:lnTo>
                <a:cubicBezTo>
                  <a:pt x="237915" y="158628"/>
                  <a:pt x="231911" y="152624"/>
                  <a:pt x="224448" y="152624"/>
                </a:cubicBezTo>
                <a:lnTo>
                  <a:pt x="157113" y="152624"/>
                </a:lnTo>
                <a:lnTo>
                  <a:pt x="157113" y="197514"/>
                </a:lnTo>
                <a:lnTo>
                  <a:pt x="161602" y="197514"/>
                </a:lnTo>
                <a:cubicBezTo>
                  <a:pt x="171534" y="197514"/>
                  <a:pt x="179558" y="205538"/>
                  <a:pt x="179558" y="215470"/>
                </a:cubicBezTo>
                <a:lnTo>
                  <a:pt x="179558" y="251381"/>
                </a:lnTo>
                <a:cubicBezTo>
                  <a:pt x="179558" y="261313"/>
                  <a:pt x="171534" y="269337"/>
                  <a:pt x="161602" y="269337"/>
                </a:cubicBezTo>
                <a:lnTo>
                  <a:pt x="125691" y="269337"/>
                </a:lnTo>
                <a:cubicBezTo>
                  <a:pt x="115759" y="269337"/>
                  <a:pt x="107735" y="261313"/>
                  <a:pt x="107735" y="251381"/>
                </a:cubicBezTo>
                <a:lnTo>
                  <a:pt x="107735" y="215470"/>
                </a:lnTo>
                <a:cubicBezTo>
                  <a:pt x="107735" y="205538"/>
                  <a:pt x="115759" y="197514"/>
                  <a:pt x="125691" y="197514"/>
                </a:cubicBezTo>
                <a:lnTo>
                  <a:pt x="130180" y="197514"/>
                </a:lnTo>
                <a:lnTo>
                  <a:pt x="130180" y="152624"/>
                </a:lnTo>
                <a:lnTo>
                  <a:pt x="62845" y="152624"/>
                </a:lnTo>
                <a:cubicBezTo>
                  <a:pt x="55382" y="152624"/>
                  <a:pt x="49378" y="158628"/>
                  <a:pt x="49378" y="166091"/>
                </a:cubicBezTo>
                <a:lnTo>
                  <a:pt x="49378" y="197514"/>
                </a:lnTo>
                <a:lnTo>
                  <a:pt x="53867" y="197514"/>
                </a:lnTo>
                <a:cubicBezTo>
                  <a:pt x="63799" y="197514"/>
                  <a:pt x="71823" y="205538"/>
                  <a:pt x="71823" y="215470"/>
                </a:cubicBezTo>
                <a:lnTo>
                  <a:pt x="71823" y="251381"/>
                </a:lnTo>
                <a:cubicBezTo>
                  <a:pt x="71823" y="261313"/>
                  <a:pt x="63799" y="269337"/>
                  <a:pt x="53867" y="269337"/>
                </a:cubicBezTo>
                <a:lnTo>
                  <a:pt x="17956" y="269337"/>
                </a:lnTo>
                <a:cubicBezTo>
                  <a:pt x="8024" y="269337"/>
                  <a:pt x="0" y="261313"/>
                  <a:pt x="0" y="251381"/>
                </a:cubicBezTo>
                <a:lnTo>
                  <a:pt x="0" y="215470"/>
                </a:lnTo>
                <a:cubicBezTo>
                  <a:pt x="0" y="205538"/>
                  <a:pt x="8024" y="197514"/>
                  <a:pt x="17956" y="197514"/>
                </a:cubicBezTo>
                <a:lnTo>
                  <a:pt x="22445" y="197514"/>
                </a:lnTo>
                <a:lnTo>
                  <a:pt x="22445" y="166091"/>
                </a:lnTo>
                <a:cubicBezTo>
                  <a:pt x="22445" y="143759"/>
                  <a:pt x="40513" y="125691"/>
                  <a:pt x="62845" y="125691"/>
                </a:cubicBezTo>
                <a:lnTo>
                  <a:pt x="130180" y="125691"/>
                </a:lnTo>
                <a:lnTo>
                  <a:pt x="130180" y="89779"/>
                </a:lnTo>
                <a:lnTo>
                  <a:pt x="125691" y="89779"/>
                </a:lnTo>
                <a:cubicBezTo>
                  <a:pt x="115759" y="89779"/>
                  <a:pt x="107735" y="81755"/>
                  <a:pt x="107735" y="71823"/>
                </a:cubicBezTo>
                <a:lnTo>
                  <a:pt x="107735" y="35912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12604" y="2190610"/>
            <a:ext cx="2274404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多计算框架统一支持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94371" y="2789137"/>
            <a:ext cx="4560778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通过标准化资源抽象接口，实现不同计算框架在同一集群中共存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18312" y="3555252"/>
            <a:ext cx="191529" cy="191529"/>
          </a:xfrm>
          <a:custGeom>
            <a:avLst/>
            <a:gdLst/>
            <a:ahLst/>
            <a:cxnLst/>
            <a:rect l="l" t="t" r="r" b="b"/>
            <a:pathLst>
              <a:path w="191529" h="191529">
                <a:moveTo>
                  <a:pt x="95764" y="191529"/>
                </a:moveTo>
                <a:cubicBezTo>
                  <a:pt x="148618" y="191529"/>
                  <a:pt x="191529" y="148618"/>
                  <a:pt x="191529" y="95764"/>
                </a:cubicBezTo>
                <a:cubicBezTo>
                  <a:pt x="191529" y="42911"/>
                  <a:pt x="148618" y="0"/>
                  <a:pt x="95764" y="0"/>
                </a:cubicBezTo>
                <a:cubicBezTo>
                  <a:pt x="42911" y="0"/>
                  <a:pt x="0" y="42911"/>
                  <a:pt x="0" y="95764"/>
                </a:cubicBezTo>
                <a:cubicBezTo>
                  <a:pt x="0" y="148618"/>
                  <a:pt x="42911" y="191529"/>
                  <a:pt x="95764" y="191529"/>
                </a:cubicBezTo>
                <a:close/>
                <a:moveTo>
                  <a:pt x="127337" y="79567"/>
                </a:moveTo>
                <a:lnTo>
                  <a:pt x="97410" y="127449"/>
                </a:lnTo>
                <a:cubicBezTo>
                  <a:pt x="95839" y="129955"/>
                  <a:pt x="93146" y="131526"/>
                  <a:pt x="90191" y="131676"/>
                </a:cubicBezTo>
                <a:cubicBezTo>
                  <a:pt x="87235" y="131826"/>
                  <a:pt x="84392" y="130479"/>
                  <a:pt x="82634" y="128085"/>
                </a:cubicBezTo>
                <a:lnTo>
                  <a:pt x="64678" y="104144"/>
                </a:lnTo>
                <a:cubicBezTo>
                  <a:pt x="61686" y="100178"/>
                  <a:pt x="62509" y="94567"/>
                  <a:pt x="66474" y="91575"/>
                </a:cubicBezTo>
                <a:cubicBezTo>
                  <a:pt x="70439" y="88582"/>
                  <a:pt x="76050" y="89405"/>
                  <a:pt x="79043" y="93370"/>
                </a:cubicBezTo>
                <a:lnTo>
                  <a:pt x="89143" y="106837"/>
                </a:lnTo>
                <a:lnTo>
                  <a:pt x="112112" y="70065"/>
                </a:lnTo>
                <a:cubicBezTo>
                  <a:pt x="114730" y="65875"/>
                  <a:pt x="120267" y="64566"/>
                  <a:pt x="124494" y="67222"/>
                </a:cubicBezTo>
                <a:cubicBezTo>
                  <a:pt x="128721" y="69878"/>
                  <a:pt x="129993" y="75377"/>
                  <a:pt x="127337" y="796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29546" y="3507370"/>
            <a:ext cx="1891346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(批处理)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18312" y="3938309"/>
            <a:ext cx="191529" cy="191529"/>
          </a:xfrm>
          <a:custGeom>
            <a:avLst/>
            <a:gdLst/>
            <a:ahLst/>
            <a:cxnLst/>
            <a:rect l="l" t="t" r="r" b="b"/>
            <a:pathLst>
              <a:path w="191529" h="191529">
                <a:moveTo>
                  <a:pt x="95764" y="191529"/>
                </a:moveTo>
                <a:cubicBezTo>
                  <a:pt x="148618" y="191529"/>
                  <a:pt x="191529" y="148618"/>
                  <a:pt x="191529" y="95764"/>
                </a:cubicBezTo>
                <a:cubicBezTo>
                  <a:pt x="191529" y="42911"/>
                  <a:pt x="148618" y="0"/>
                  <a:pt x="95764" y="0"/>
                </a:cubicBezTo>
                <a:cubicBezTo>
                  <a:pt x="42911" y="0"/>
                  <a:pt x="0" y="42911"/>
                  <a:pt x="0" y="95764"/>
                </a:cubicBezTo>
                <a:cubicBezTo>
                  <a:pt x="0" y="148618"/>
                  <a:pt x="42911" y="191529"/>
                  <a:pt x="95764" y="191529"/>
                </a:cubicBezTo>
                <a:close/>
                <a:moveTo>
                  <a:pt x="127337" y="79567"/>
                </a:moveTo>
                <a:lnTo>
                  <a:pt x="97410" y="127449"/>
                </a:lnTo>
                <a:cubicBezTo>
                  <a:pt x="95839" y="129955"/>
                  <a:pt x="93146" y="131526"/>
                  <a:pt x="90191" y="131676"/>
                </a:cubicBezTo>
                <a:cubicBezTo>
                  <a:pt x="87235" y="131826"/>
                  <a:pt x="84392" y="130479"/>
                  <a:pt x="82634" y="128085"/>
                </a:cubicBezTo>
                <a:lnTo>
                  <a:pt x="64678" y="104144"/>
                </a:lnTo>
                <a:cubicBezTo>
                  <a:pt x="61686" y="100178"/>
                  <a:pt x="62509" y="94567"/>
                  <a:pt x="66474" y="91575"/>
                </a:cubicBezTo>
                <a:cubicBezTo>
                  <a:pt x="70439" y="88582"/>
                  <a:pt x="76050" y="89405"/>
                  <a:pt x="79043" y="93370"/>
                </a:cubicBezTo>
                <a:lnTo>
                  <a:pt x="89143" y="106837"/>
                </a:lnTo>
                <a:lnTo>
                  <a:pt x="112112" y="70065"/>
                </a:lnTo>
                <a:cubicBezTo>
                  <a:pt x="114730" y="65875"/>
                  <a:pt x="120267" y="64566"/>
                  <a:pt x="124494" y="67222"/>
                </a:cubicBezTo>
                <a:cubicBezTo>
                  <a:pt x="128721" y="69878"/>
                  <a:pt x="129993" y="75377"/>
                  <a:pt x="127337" y="796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29546" y="3890427"/>
            <a:ext cx="153223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(内存计算)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18312" y="4321367"/>
            <a:ext cx="191529" cy="191529"/>
          </a:xfrm>
          <a:custGeom>
            <a:avLst/>
            <a:gdLst/>
            <a:ahLst/>
            <a:cxnLst/>
            <a:rect l="l" t="t" r="r" b="b"/>
            <a:pathLst>
              <a:path w="191529" h="191529">
                <a:moveTo>
                  <a:pt x="95764" y="191529"/>
                </a:moveTo>
                <a:cubicBezTo>
                  <a:pt x="148618" y="191529"/>
                  <a:pt x="191529" y="148618"/>
                  <a:pt x="191529" y="95764"/>
                </a:cubicBezTo>
                <a:cubicBezTo>
                  <a:pt x="191529" y="42911"/>
                  <a:pt x="148618" y="0"/>
                  <a:pt x="95764" y="0"/>
                </a:cubicBezTo>
                <a:cubicBezTo>
                  <a:pt x="42911" y="0"/>
                  <a:pt x="0" y="42911"/>
                  <a:pt x="0" y="95764"/>
                </a:cubicBezTo>
                <a:cubicBezTo>
                  <a:pt x="0" y="148618"/>
                  <a:pt x="42911" y="191529"/>
                  <a:pt x="95764" y="191529"/>
                </a:cubicBezTo>
                <a:close/>
                <a:moveTo>
                  <a:pt x="127337" y="79567"/>
                </a:moveTo>
                <a:lnTo>
                  <a:pt x="97410" y="127449"/>
                </a:lnTo>
                <a:cubicBezTo>
                  <a:pt x="95839" y="129955"/>
                  <a:pt x="93146" y="131526"/>
                  <a:pt x="90191" y="131676"/>
                </a:cubicBezTo>
                <a:cubicBezTo>
                  <a:pt x="87235" y="131826"/>
                  <a:pt x="84392" y="130479"/>
                  <a:pt x="82634" y="128085"/>
                </a:cubicBezTo>
                <a:lnTo>
                  <a:pt x="64678" y="104144"/>
                </a:lnTo>
                <a:cubicBezTo>
                  <a:pt x="61686" y="100178"/>
                  <a:pt x="62509" y="94567"/>
                  <a:pt x="66474" y="91575"/>
                </a:cubicBezTo>
                <a:cubicBezTo>
                  <a:pt x="70439" y="88582"/>
                  <a:pt x="76050" y="89405"/>
                  <a:pt x="79043" y="93370"/>
                </a:cubicBezTo>
                <a:lnTo>
                  <a:pt x="89143" y="106837"/>
                </a:lnTo>
                <a:lnTo>
                  <a:pt x="112112" y="70065"/>
                </a:lnTo>
                <a:cubicBezTo>
                  <a:pt x="114730" y="65875"/>
                  <a:pt x="120267" y="64566"/>
                  <a:pt x="124494" y="67222"/>
                </a:cubicBezTo>
                <a:cubicBezTo>
                  <a:pt x="128721" y="69878"/>
                  <a:pt x="129993" y="75377"/>
                  <a:pt x="127337" y="796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229546" y="4273485"/>
            <a:ext cx="124493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(流处理)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18312" y="4704424"/>
            <a:ext cx="191529" cy="191529"/>
          </a:xfrm>
          <a:custGeom>
            <a:avLst/>
            <a:gdLst/>
            <a:ahLst/>
            <a:cxnLst/>
            <a:rect l="l" t="t" r="r" b="b"/>
            <a:pathLst>
              <a:path w="191529" h="191529">
                <a:moveTo>
                  <a:pt x="95764" y="191529"/>
                </a:moveTo>
                <a:cubicBezTo>
                  <a:pt x="148618" y="191529"/>
                  <a:pt x="191529" y="148618"/>
                  <a:pt x="191529" y="95764"/>
                </a:cubicBezTo>
                <a:cubicBezTo>
                  <a:pt x="191529" y="42911"/>
                  <a:pt x="148618" y="0"/>
                  <a:pt x="95764" y="0"/>
                </a:cubicBezTo>
                <a:cubicBezTo>
                  <a:pt x="42911" y="0"/>
                  <a:pt x="0" y="42911"/>
                  <a:pt x="0" y="95764"/>
                </a:cubicBezTo>
                <a:cubicBezTo>
                  <a:pt x="0" y="148618"/>
                  <a:pt x="42911" y="191529"/>
                  <a:pt x="95764" y="191529"/>
                </a:cubicBezTo>
                <a:close/>
                <a:moveTo>
                  <a:pt x="127337" y="79567"/>
                </a:moveTo>
                <a:lnTo>
                  <a:pt x="97410" y="127449"/>
                </a:lnTo>
                <a:cubicBezTo>
                  <a:pt x="95839" y="129955"/>
                  <a:pt x="93146" y="131526"/>
                  <a:pt x="90191" y="131676"/>
                </a:cubicBezTo>
                <a:cubicBezTo>
                  <a:pt x="87235" y="131826"/>
                  <a:pt x="84392" y="130479"/>
                  <a:pt x="82634" y="128085"/>
                </a:cubicBezTo>
                <a:lnTo>
                  <a:pt x="64678" y="104144"/>
                </a:lnTo>
                <a:cubicBezTo>
                  <a:pt x="61686" y="100178"/>
                  <a:pt x="62509" y="94567"/>
                  <a:pt x="66474" y="91575"/>
                </a:cubicBezTo>
                <a:cubicBezTo>
                  <a:pt x="70439" y="88582"/>
                  <a:pt x="76050" y="89405"/>
                  <a:pt x="79043" y="93370"/>
                </a:cubicBezTo>
                <a:lnTo>
                  <a:pt x="89143" y="106837"/>
                </a:lnTo>
                <a:lnTo>
                  <a:pt x="112112" y="70065"/>
                </a:lnTo>
                <a:cubicBezTo>
                  <a:pt x="114730" y="65875"/>
                  <a:pt x="120267" y="64566"/>
                  <a:pt x="124494" y="67222"/>
                </a:cubicBezTo>
                <a:cubicBezTo>
                  <a:pt x="128721" y="69878"/>
                  <a:pt x="129993" y="75377"/>
                  <a:pt x="127337" y="796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29546" y="4656542"/>
            <a:ext cx="1568141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Storm (实时计算)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18312" y="5087482"/>
            <a:ext cx="191529" cy="191529"/>
          </a:xfrm>
          <a:custGeom>
            <a:avLst/>
            <a:gdLst/>
            <a:ahLst/>
            <a:cxnLst/>
            <a:rect l="l" t="t" r="r" b="b"/>
            <a:pathLst>
              <a:path w="191529" h="191529">
                <a:moveTo>
                  <a:pt x="95764" y="191529"/>
                </a:moveTo>
                <a:cubicBezTo>
                  <a:pt x="148618" y="191529"/>
                  <a:pt x="191529" y="148618"/>
                  <a:pt x="191529" y="95764"/>
                </a:cubicBezTo>
                <a:cubicBezTo>
                  <a:pt x="191529" y="42911"/>
                  <a:pt x="148618" y="0"/>
                  <a:pt x="95764" y="0"/>
                </a:cubicBezTo>
                <a:cubicBezTo>
                  <a:pt x="42911" y="0"/>
                  <a:pt x="0" y="42911"/>
                  <a:pt x="0" y="95764"/>
                </a:cubicBezTo>
                <a:cubicBezTo>
                  <a:pt x="0" y="148618"/>
                  <a:pt x="42911" y="191529"/>
                  <a:pt x="95764" y="191529"/>
                </a:cubicBezTo>
                <a:close/>
                <a:moveTo>
                  <a:pt x="127337" y="79567"/>
                </a:moveTo>
                <a:lnTo>
                  <a:pt x="97410" y="127449"/>
                </a:lnTo>
                <a:cubicBezTo>
                  <a:pt x="95839" y="129955"/>
                  <a:pt x="93146" y="131526"/>
                  <a:pt x="90191" y="131676"/>
                </a:cubicBezTo>
                <a:cubicBezTo>
                  <a:pt x="87235" y="131826"/>
                  <a:pt x="84392" y="130479"/>
                  <a:pt x="82634" y="128085"/>
                </a:cubicBezTo>
                <a:lnTo>
                  <a:pt x="64678" y="104144"/>
                </a:lnTo>
                <a:cubicBezTo>
                  <a:pt x="61686" y="100178"/>
                  <a:pt x="62509" y="94567"/>
                  <a:pt x="66474" y="91575"/>
                </a:cubicBezTo>
                <a:cubicBezTo>
                  <a:pt x="70439" y="88582"/>
                  <a:pt x="76050" y="89405"/>
                  <a:pt x="79043" y="93370"/>
                </a:cubicBezTo>
                <a:lnTo>
                  <a:pt x="89143" y="106837"/>
                </a:lnTo>
                <a:lnTo>
                  <a:pt x="112112" y="70065"/>
                </a:lnTo>
                <a:cubicBezTo>
                  <a:pt x="114730" y="65875"/>
                  <a:pt x="120267" y="64566"/>
                  <a:pt x="124494" y="67222"/>
                </a:cubicBezTo>
                <a:cubicBezTo>
                  <a:pt x="128721" y="69878"/>
                  <a:pt x="129993" y="75377"/>
                  <a:pt x="127337" y="796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29546" y="5039599"/>
            <a:ext cx="142449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Giraph (图计算)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13143" y="1825508"/>
            <a:ext cx="4955806" cy="4560778"/>
          </a:xfrm>
          <a:custGeom>
            <a:avLst/>
            <a:gdLst/>
            <a:ahLst/>
            <a:cxnLst/>
            <a:rect l="l" t="t" r="r" b="b"/>
            <a:pathLst>
              <a:path w="4955806" h="4560778">
                <a:moveTo>
                  <a:pt x="95776" y="0"/>
                </a:moveTo>
                <a:lnTo>
                  <a:pt x="4860029" y="0"/>
                </a:lnTo>
                <a:cubicBezTo>
                  <a:pt x="4912925" y="0"/>
                  <a:pt x="4955806" y="42881"/>
                  <a:pt x="4955806" y="95776"/>
                </a:cubicBezTo>
                <a:lnTo>
                  <a:pt x="4955806" y="4465001"/>
                </a:lnTo>
                <a:cubicBezTo>
                  <a:pt x="4955806" y="4517897"/>
                  <a:pt x="4912925" y="4560778"/>
                  <a:pt x="4860029" y="4560778"/>
                </a:cubicBezTo>
                <a:lnTo>
                  <a:pt x="95776" y="4560778"/>
                </a:lnTo>
                <a:cubicBezTo>
                  <a:pt x="42881" y="4560778"/>
                  <a:pt x="0" y="4517897"/>
                  <a:pt x="0" y="4465001"/>
                </a:cubicBezTo>
                <a:lnTo>
                  <a:pt x="0" y="95776"/>
                </a:lnTo>
                <a:cubicBezTo>
                  <a:pt x="0" y="42881"/>
                  <a:pt x="42881" y="0"/>
                  <a:pt x="957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058539" y="2070904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95766" y="0"/>
                </a:moveTo>
                <a:lnTo>
                  <a:pt x="478820" y="0"/>
                </a:lnTo>
                <a:cubicBezTo>
                  <a:pt x="531710" y="0"/>
                  <a:pt x="574586" y="42876"/>
                  <a:pt x="574586" y="95766"/>
                </a:cubicBezTo>
                <a:lnTo>
                  <a:pt x="574586" y="478820"/>
                </a:lnTo>
                <a:cubicBezTo>
                  <a:pt x="574586" y="531710"/>
                  <a:pt x="531710" y="574586"/>
                  <a:pt x="478820" y="574586"/>
                </a:cubicBezTo>
                <a:lnTo>
                  <a:pt x="95766" y="574586"/>
                </a:lnTo>
                <a:cubicBezTo>
                  <a:pt x="42876" y="574586"/>
                  <a:pt x="0" y="531710"/>
                  <a:pt x="0" y="478820"/>
                </a:cubicBezTo>
                <a:lnTo>
                  <a:pt x="0" y="95766"/>
                </a:lnTo>
                <a:cubicBezTo>
                  <a:pt x="0" y="42911"/>
                  <a:pt x="42911" y="0"/>
                  <a:pt x="9576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202186" y="2214551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71823" y="179558"/>
                </a:moveTo>
                <a:lnTo>
                  <a:pt x="13747" y="179558"/>
                </a:lnTo>
                <a:cubicBezTo>
                  <a:pt x="-224" y="179558"/>
                  <a:pt x="-8810" y="164352"/>
                  <a:pt x="-1627" y="152344"/>
                </a:cubicBezTo>
                <a:lnTo>
                  <a:pt x="28056" y="102853"/>
                </a:lnTo>
                <a:cubicBezTo>
                  <a:pt x="32938" y="94717"/>
                  <a:pt x="41691" y="89779"/>
                  <a:pt x="51174" y="89779"/>
                </a:cubicBezTo>
                <a:lnTo>
                  <a:pt x="104480" y="89779"/>
                </a:lnTo>
                <a:cubicBezTo>
                  <a:pt x="147182" y="17451"/>
                  <a:pt x="210869" y="13804"/>
                  <a:pt x="253458" y="20032"/>
                </a:cubicBezTo>
                <a:cubicBezTo>
                  <a:pt x="260640" y="21098"/>
                  <a:pt x="266251" y="26709"/>
                  <a:pt x="267261" y="33835"/>
                </a:cubicBezTo>
                <a:cubicBezTo>
                  <a:pt x="273490" y="76424"/>
                  <a:pt x="269842" y="140111"/>
                  <a:pt x="197514" y="182813"/>
                </a:cubicBezTo>
                <a:lnTo>
                  <a:pt x="197514" y="236119"/>
                </a:lnTo>
                <a:cubicBezTo>
                  <a:pt x="197514" y="245602"/>
                  <a:pt x="192576" y="254355"/>
                  <a:pt x="184440" y="259237"/>
                </a:cubicBezTo>
                <a:lnTo>
                  <a:pt x="134949" y="288920"/>
                </a:lnTo>
                <a:cubicBezTo>
                  <a:pt x="122997" y="296103"/>
                  <a:pt x="107735" y="287461"/>
                  <a:pt x="107735" y="273546"/>
                </a:cubicBezTo>
                <a:lnTo>
                  <a:pt x="107735" y="215470"/>
                </a:lnTo>
                <a:cubicBezTo>
                  <a:pt x="107735" y="195662"/>
                  <a:pt x="91631" y="179558"/>
                  <a:pt x="71823" y="179558"/>
                </a:cubicBezTo>
                <a:lnTo>
                  <a:pt x="71767" y="179558"/>
                </a:lnTo>
                <a:close/>
                <a:moveTo>
                  <a:pt x="224448" y="89779"/>
                </a:moveTo>
                <a:cubicBezTo>
                  <a:pt x="224448" y="74914"/>
                  <a:pt x="212379" y="62845"/>
                  <a:pt x="197514" y="62845"/>
                </a:cubicBezTo>
                <a:cubicBezTo>
                  <a:pt x="182649" y="62845"/>
                  <a:pt x="170580" y="74914"/>
                  <a:pt x="170580" y="89779"/>
                </a:cubicBezTo>
                <a:cubicBezTo>
                  <a:pt x="170580" y="104644"/>
                  <a:pt x="182649" y="116713"/>
                  <a:pt x="197514" y="116713"/>
                </a:cubicBezTo>
                <a:cubicBezTo>
                  <a:pt x="212379" y="116713"/>
                  <a:pt x="224448" y="104644"/>
                  <a:pt x="224448" y="897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776772" y="2190610"/>
            <a:ext cx="2034993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动态资源分配机制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58539" y="2789137"/>
            <a:ext cx="4560778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引入Container概念，替代固定Slot机制，实现更精细化的资源管理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70510" y="3555252"/>
            <a:ext cx="215470" cy="191529"/>
          </a:xfrm>
          <a:custGeom>
            <a:avLst/>
            <a:gdLst/>
            <a:ahLst/>
            <a:cxnLst/>
            <a:rect l="l" t="t" r="r" b="b"/>
            <a:pathLst>
              <a:path w="215470" h="191529">
                <a:moveTo>
                  <a:pt x="115778" y="-7070"/>
                </a:moveTo>
                <a:cubicBezTo>
                  <a:pt x="114244" y="-10063"/>
                  <a:pt x="111139" y="-11971"/>
                  <a:pt x="107772" y="-11971"/>
                </a:cubicBezTo>
                <a:cubicBezTo>
                  <a:pt x="104406" y="-11971"/>
                  <a:pt x="101301" y="-10063"/>
                  <a:pt x="99767" y="-7070"/>
                </a:cubicBezTo>
                <a:lnTo>
                  <a:pt x="72235" y="46872"/>
                </a:lnTo>
                <a:lnTo>
                  <a:pt x="12419" y="56374"/>
                </a:lnTo>
                <a:cubicBezTo>
                  <a:pt x="9090" y="56897"/>
                  <a:pt x="6322" y="59254"/>
                  <a:pt x="5275" y="62471"/>
                </a:cubicBezTo>
                <a:cubicBezTo>
                  <a:pt x="4227" y="65688"/>
                  <a:pt x="5087" y="69205"/>
                  <a:pt x="7444" y="71599"/>
                </a:cubicBezTo>
                <a:lnTo>
                  <a:pt x="50239" y="114431"/>
                </a:lnTo>
                <a:lnTo>
                  <a:pt x="40812" y="174246"/>
                </a:lnTo>
                <a:cubicBezTo>
                  <a:pt x="40288" y="177576"/>
                  <a:pt x="41672" y="180942"/>
                  <a:pt x="44403" y="182925"/>
                </a:cubicBezTo>
                <a:cubicBezTo>
                  <a:pt x="47134" y="184908"/>
                  <a:pt x="50725" y="185207"/>
                  <a:pt x="53755" y="183673"/>
                </a:cubicBezTo>
                <a:lnTo>
                  <a:pt x="107772" y="156216"/>
                </a:lnTo>
                <a:lnTo>
                  <a:pt x="161752" y="183673"/>
                </a:lnTo>
                <a:cubicBezTo>
                  <a:pt x="164745" y="185207"/>
                  <a:pt x="168373" y="184908"/>
                  <a:pt x="171104" y="182925"/>
                </a:cubicBezTo>
                <a:cubicBezTo>
                  <a:pt x="173835" y="180942"/>
                  <a:pt x="175219" y="177613"/>
                  <a:pt x="174695" y="174246"/>
                </a:cubicBezTo>
                <a:lnTo>
                  <a:pt x="165231" y="114431"/>
                </a:lnTo>
                <a:lnTo>
                  <a:pt x="208026" y="71599"/>
                </a:lnTo>
                <a:cubicBezTo>
                  <a:pt x="210420" y="69205"/>
                  <a:pt x="211243" y="65688"/>
                  <a:pt x="210195" y="62471"/>
                </a:cubicBezTo>
                <a:cubicBezTo>
                  <a:pt x="209148" y="59254"/>
                  <a:pt x="206417" y="56897"/>
                  <a:pt x="203050" y="56374"/>
                </a:cubicBezTo>
                <a:lnTo>
                  <a:pt x="143272" y="46872"/>
                </a:lnTo>
                <a:lnTo>
                  <a:pt x="115778" y="-707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393714" y="3507370"/>
            <a:ext cx="311234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93714" y="3794663"/>
            <a:ext cx="3100371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应用可根据实际需求申请不同规格的资源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70510" y="4177720"/>
            <a:ext cx="215470" cy="191529"/>
          </a:xfrm>
          <a:custGeom>
            <a:avLst/>
            <a:gdLst/>
            <a:ahLst/>
            <a:cxnLst/>
            <a:rect l="l" t="t" r="r" b="b"/>
            <a:pathLst>
              <a:path w="215470" h="191529">
                <a:moveTo>
                  <a:pt x="115778" y="-7070"/>
                </a:moveTo>
                <a:cubicBezTo>
                  <a:pt x="114244" y="-10063"/>
                  <a:pt x="111139" y="-11971"/>
                  <a:pt x="107772" y="-11971"/>
                </a:cubicBezTo>
                <a:cubicBezTo>
                  <a:pt x="104406" y="-11971"/>
                  <a:pt x="101301" y="-10063"/>
                  <a:pt x="99767" y="-7070"/>
                </a:cubicBezTo>
                <a:lnTo>
                  <a:pt x="72235" y="46872"/>
                </a:lnTo>
                <a:lnTo>
                  <a:pt x="12419" y="56374"/>
                </a:lnTo>
                <a:cubicBezTo>
                  <a:pt x="9090" y="56897"/>
                  <a:pt x="6322" y="59254"/>
                  <a:pt x="5275" y="62471"/>
                </a:cubicBezTo>
                <a:cubicBezTo>
                  <a:pt x="4227" y="65688"/>
                  <a:pt x="5087" y="69205"/>
                  <a:pt x="7444" y="71599"/>
                </a:cubicBezTo>
                <a:lnTo>
                  <a:pt x="50239" y="114431"/>
                </a:lnTo>
                <a:lnTo>
                  <a:pt x="40812" y="174246"/>
                </a:lnTo>
                <a:cubicBezTo>
                  <a:pt x="40288" y="177576"/>
                  <a:pt x="41672" y="180942"/>
                  <a:pt x="44403" y="182925"/>
                </a:cubicBezTo>
                <a:cubicBezTo>
                  <a:pt x="47134" y="184908"/>
                  <a:pt x="50725" y="185207"/>
                  <a:pt x="53755" y="183673"/>
                </a:cubicBezTo>
                <a:lnTo>
                  <a:pt x="107772" y="156216"/>
                </a:lnTo>
                <a:lnTo>
                  <a:pt x="161752" y="183673"/>
                </a:lnTo>
                <a:cubicBezTo>
                  <a:pt x="164745" y="185207"/>
                  <a:pt x="168373" y="184908"/>
                  <a:pt x="171104" y="182925"/>
                </a:cubicBezTo>
                <a:cubicBezTo>
                  <a:pt x="173835" y="180942"/>
                  <a:pt x="175219" y="177613"/>
                  <a:pt x="174695" y="174246"/>
                </a:cubicBezTo>
                <a:lnTo>
                  <a:pt x="165231" y="114431"/>
                </a:lnTo>
                <a:lnTo>
                  <a:pt x="208026" y="71599"/>
                </a:lnTo>
                <a:cubicBezTo>
                  <a:pt x="210420" y="69205"/>
                  <a:pt x="211243" y="65688"/>
                  <a:pt x="210195" y="62471"/>
                </a:cubicBezTo>
                <a:cubicBezTo>
                  <a:pt x="209148" y="59254"/>
                  <a:pt x="206417" y="56897"/>
                  <a:pt x="203050" y="56374"/>
                </a:cubicBezTo>
                <a:lnTo>
                  <a:pt x="143272" y="46872"/>
                </a:lnTo>
                <a:lnTo>
                  <a:pt x="115778" y="-707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393714" y="4129838"/>
            <a:ext cx="3710869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效率性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93714" y="4417131"/>
            <a:ext cx="369889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避免Map Slot和Reduce Slot无法互换的资源浪费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70510" y="4800189"/>
            <a:ext cx="215470" cy="191529"/>
          </a:xfrm>
          <a:custGeom>
            <a:avLst/>
            <a:gdLst/>
            <a:ahLst/>
            <a:cxnLst/>
            <a:rect l="l" t="t" r="r" b="b"/>
            <a:pathLst>
              <a:path w="215470" h="191529">
                <a:moveTo>
                  <a:pt x="115778" y="-7070"/>
                </a:moveTo>
                <a:cubicBezTo>
                  <a:pt x="114244" y="-10063"/>
                  <a:pt x="111139" y="-11971"/>
                  <a:pt x="107772" y="-11971"/>
                </a:cubicBezTo>
                <a:cubicBezTo>
                  <a:pt x="104406" y="-11971"/>
                  <a:pt x="101301" y="-10063"/>
                  <a:pt x="99767" y="-7070"/>
                </a:cubicBezTo>
                <a:lnTo>
                  <a:pt x="72235" y="46872"/>
                </a:lnTo>
                <a:lnTo>
                  <a:pt x="12419" y="56374"/>
                </a:lnTo>
                <a:cubicBezTo>
                  <a:pt x="9090" y="56897"/>
                  <a:pt x="6322" y="59254"/>
                  <a:pt x="5275" y="62471"/>
                </a:cubicBezTo>
                <a:cubicBezTo>
                  <a:pt x="4227" y="65688"/>
                  <a:pt x="5087" y="69205"/>
                  <a:pt x="7444" y="71599"/>
                </a:cubicBezTo>
                <a:lnTo>
                  <a:pt x="50239" y="114431"/>
                </a:lnTo>
                <a:lnTo>
                  <a:pt x="40812" y="174246"/>
                </a:lnTo>
                <a:cubicBezTo>
                  <a:pt x="40288" y="177576"/>
                  <a:pt x="41672" y="180942"/>
                  <a:pt x="44403" y="182925"/>
                </a:cubicBezTo>
                <a:cubicBezTo>
                  <a:pt x="47134" y="184908"/>
                  <a:pt x="50725" y="185207"/>
                  <a:pt x="53755" y="183673"/>
                </a:cubicBezTo>
                <a:lnTo>
                  <a:pt x="107772" y="156216"/>
                </a:lnTo>
                <a:lnTo>
                  <a:pt x="161752" y="183673"/>
                </a:lnTo>
                <a:cubicBezTo>
                  <a:pt x="164745" y="185207"/>
                  <a:pt x="168373" y="184908"/>
                  <a:pt x="171104" y="182925"/>
                </a:cubicBezTo>
                <a:cubicBezTo>
                  <a:pt x="173835" y="180942"/>
                  <a:pt x="175219" y="177613"/>
                  <a:pt x="174695" y="174246"/>
                </a:cubicBezTo>
                <a:lnTo>
                  <a:pt x="165231" y="114431"/>
                </a:lnTo>
                <a:lnTo>
                  <a:pt x="208026" y="71599"/>
                </a:lnTo>
                <a:cubicBezTo>
                  <a:pt x="210420" y="69205"/>
                  <a:pt x="211243" y="65688"/>
                  <a:pt x="210195" y="62471"/>
                </a:cubicBezTo>
                <a:cubicBezTo>
                  <a:pt x="209148" y="59254"/>
                  <a:pt x="206417" y="56897"/>
                  <a:pt x="203050" y="56374"/>
                </a:cubicBezTo>
                <a:lnTo>
                  <a:pt x="143272" y="46872"/>
                </a:lnTo>
                <a:lnTo>
                  <a:pt x="115778" y="-707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93714" y="4752306"/>
            <a:ext cx="344751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93714" y="5039599"/>
            <a:ext cx="3435546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支持内存密集型、CPU密集型等不同类型应用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4807" y="6541903"/>
            <a:ext cx="7541443" cy="2118786"/>
          </a:xfrm>
          <a:custGeom>
            <a:avLst/>
            <a:gdLst/>
            <a:ahLst/>
            <a:cxnLst/>
            <a:rect l="l" t="t" r="r" b="b"/>
            <a:pathLst>
              <a:path w="7541443" h="2118786">
                <a:moveTo>
                  <a:pt x="95769" y="0"/>
                </a:moveTo>
                <a:lnTo>
                  <a:pt x="7445674" y="0"/>
                </a:lnTo>
                <a:cubicBezTo>
                  <a:pt x="7498566" y="0"/>
                  <a:pt x="7541443" y="42877"/>
                  <a:pt x="7541443" y="95769"/>
                </a:cubicBezTo>
                <a:lnTo>
                  <a:pt x="7541443" y="2023017"/>
                </a:lnTo>
                <a:cubicBezTo>
                  <a:pt x="7541443" y="2075909"/>
                  <a:pt x="7498566" y="2118786"/>
                  <a:pt x="7445674" y="2118786"/>
                </a:cubicBezTo>
                <a:lnTo>
                  <a:pt x="95769" y="2118786"/>
                </a:lnTo>
                <a:cubicBezTo>
                  <a:pt x="42877" y="2118786"/>
                  <a:pt x="0" y="2075909"/>
                  <a:pt x="0" y="2023017"/>
                </a:cubicBezTo>
                <a:lnTo>
                  <a:pt x="0" y="95769"/>
                </a:lnTo>
                <a:cubicBezTo>
                  <a:pt x="0" y="42913"/>
                  <a:pt x="42913" y="0"/>
                  <a:pt x="9576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66115" y="6811240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287293"/>
                </a:moveTo>
                <a:cubicBezTo>
                  <a:pt x="222927" y="287293"/>
                  <a:pt x="287293" y="222927"/>
                  <a:pt x="287293" y="143647"/>
                </a:cubicBezTo>
                <a:cubicBezTo>
                  <a:pt x="287293" y="64366"/>
                  <a:pt x="222927" y="0"/>
                  <a:pt x="143647" y="0"/>
                </a:cubicBezTo>
                <a:cubicBezTo>
                  <a:pt x="64366" y="0"/>
                  <a:pt x="0" y="64366"/>
                  <a:pt x="0" y="143647"/>
                </a:cubicBezTo>
                <a:cubicBezTo>
                  <a:pt x="0" y="222927"/>
                  <a:pt x="64366" y="287293"/>
                  <a:pt x="143647" y="287293"/>
                </a:cubicBezTo>
                <a:close/>
                <a:moveTo>
                  <a:pt x="93707" y="93707"/>
                </a:moveTo>
                <a:cubicBezTo>
                  <a:pt x="98981" y="88432"/>
                  <a:pt x="107510" y="88432"/>
                  <a:pt x="112729" y="93707"/>
                </a:cubicBezTo>
                <a:lnTo>
                  <a:pt x="143590" y="124568"/>
                </a:lnTo>
                <a:lnTo>
                  <a:pt x="174452" y="93707"/>
                </a:lnTo>
                <a:cubicBezTo>
                  <a:pt x="179727" y="88432"/>
                  <a:pt x="188256" y="88432"/>
                  <a:pt x="193474" y="93707"/>
                </a:cubicBezTo>
                <a:cubicBezTo>
                  <a:pt x="198692" y="98981"/>
                  <a:pt x="198748" y="107510"/>
                  <a:pt x="193474" y="112729"/>
                </a:cubicBezTo>
                <a:lnTo>
                  <a:pt x="162612" y="143590"/>
                </a:lnTo>
                <a:lnTo>
                  <a:pt x="193474" y="174452"/>
                </a:lnTo>
                <a:cubicBezTo>
                  <a:pt x="198748" y="179727"/>
                  <a:pt x="198748" y="188256"/>
                  <a:pt x="193474" y="193474"/>
                </a:cubicBezTo>
                <a:cubicBezTo>
                  <a:pt x="188199" y="198692"/>
                  <a:pt x="179670" y="198748"/>
                  <a:pt x="174452" y="193474"/>
                </a:cubicBezTo>
                <a:lnTo>
                  <a:pt x="143590" y="162612"/>
                </a:lnTo>
                <a:lnTo>
                  <a:pt x="112729" y="193474"/>
                </a:lnTo>
                <a:cubicBezTo>
                  <a:pt x="107454" y="198748"/>
                  <a:pt x="98925" y="198748"/>
                  <a:pt x="93707" y="193474"/>
                </a:cubicBezTo>
                <a:cubicBezTo>
                  <a:pt x="88489" y="188199"/>
                  <a:pt x="88432" y="179670"/>
                  <a:pt x="93707" y="174452"/>
                </a:cubicBezTo>
                <a:lnTo>
                  <a:pt x="124568" y="143590"/>
                </a:lnTo>
                <a:lnTo>
                  <a:pt x="93707" y="112729"/>
                </a:lnTo>
                <a:cubicBezTo>
                  <a:pt x="88432" y="107454"/>
                  <a:pt x="88432" y="98925"/>
                  <a:pt x="93707" y="9370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32966" y="6787299"/>
            <a:ext cx="2262433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v1 时代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0203" y="7266121"/>
            <a:ext cx="714641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设计哲学：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"一个框架，一套集群"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0203" y="7649178"/>
            <a:ext cx="7146415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资源利用率：</a:t>
            </a:r>
            <a:r>
              <a:rPr lang="en-US" sz="2262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21.4%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（严重浪费）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0203" y="8128000"/>
            <a:ext cx="714641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多框架支持：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仅支持MapReduce，形成资源孤岛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31059" y="6541903"/>
            <a:ext cx="7541443" cy="2118786"/>
          </a:xfrm>
          <a:custGeom>
            <a:avLst/>
            <a:gdLst/>
            <a:ahLst/>
            <a:cxnLst/>
            <a:rect l="l" t="t" r="r" b="b"/>
            <a:pathLst>
              <a:path w="7541443" h="2118786">
                <a:moveTo>
                  <a:pt x="95769" y="0"/>
                </a:moveTo>
                <a:lnTo>
                  <a:pt x="7445674" y="0"/>
                </a:lnTo>
                <a:cubicBezTo>
                  <a:pt x="7498566" y="0"/>
                  <a:pt x="7541443" y="42877"/>
                  <a:pt x="7541443" y="95769"/>
                </a:cubicBezTo>
                <a:lnTo>
                  <a:pt x="7541443" y="2023017"/>
                </a:lnTo>
                <a:cubicBezTo>
                  <a:pt x="7541443" y="2075909"/>
                  <a:pt x="7498566" y="2118786"/>
                  <a:pt x="7445674" y="2118786"/>
                </a:cubicBezTo>
                <a:lnTo>
                  <a:pt x="95769" y="2118786"/>
                </a:lnTo>
                <a:cubicBezTo>
                  <a:pt x="42877" y="2118786"/>
                  <a:pt x="0" y="2075909"/>
                  <a:pt x="0" y="2023017"/>
                </a:cubicBezTo>
                <a:lnTo>
                  <a:pt x="0" y="95769"/>
                </a:lnTo>
                <a:cubicBezTo>
                  <a:pt x="0" y="42913"/>
                  <a:pt x="42913" y="0"/>
                  <a:pt x="9576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512367" y="6811240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287293"/>
                </a:moveTo>
                <a:cubicBezTo>
                  <a:pt x="222927" y="287293"/>
                  <a:pt x="287293" y="222927"/>
                  <a:pt x="287293" y="143647"/>
                </a:cubicBezTo>
                <a:cubicBezTo>
                  <a:pt x="287293" y="64366"/>
                  <a:pt x="222927" y="0"/>
                  <a:pt x="143647" y="0"/>
                </a:cubicBezTo>
                <a:cubicBezTo>
                  <a:pt x="64366" y="0"/>
                  <a:pt x="0" y="64366"/>
                  <a:pt x="0" y="143647"/>
                </a:cubicBezTo>
                <a:cubicBezTo>
                  <a:pt x="0" y="222927"/>
                  <a:pt x="64366" y="287293"/>
                  <a:pt x="143647" y="287293"/>
                </a:cubicBezTo>
                <a:close/>
                <a:moveTo>
                  <a:pt x="191005" y="119350"/>
                </a:moveTo>
                <a:lnTo>
                  <a:pt x="146115" y="191173"/>
                </a:lnTo>
                <a:cubicBezTo>
                  <a:pt x="143759" y="194933"/>
                  <a:pt x="139719" y="197290"/>
                  <a:pt x="135286" y="197514"/>
                </a:cubicBezTo>
                <a:cubicBezTo>
                  <a:pt x="130853" y="197738"/>
                  <a:pt x="126589" y="195718"/>
                  <a:pt x="123951" y="192127"/>
                </a:cubicBezTo>
                <a:lnTo>
                  <a:pt x="97018" y="156216"/>
                </a:lnTo>
                <a:cubicBezTo>
                  <a:pt x="92529" y="150268"/>
                  <a:pt x="93763" y="141851"/>
                  <a:pt x="99711" y="137362"/>
                </a:cubicBezTo>
                <a:cubicBezTo>
                  <a:pt x="105659" y="132873"/>
                  <a:pt x="114076" y="134108"/>
                  <a:pt x="118565" y="140055"/>
                </a:cubicBezTo>
                <a:lnTo>
                  <a:pt x="133715" y="160256"/>
                </a:lnTo>
                <a:lnTo>
                  <a:pt x="168167" y="105098"/>
                </a:lnTo>
                <a:cubicBezTo>
                  <a:pt x="172095" y="98813"/>
                  <a:pt x="180400" y="96849"/>
                  <a:pt x="186741" y="100833"/>
                </a:cubicBezTo>
                <a:cubicBezTo>
                  <a:pt x="193081" y="104817"/>
                  <a:pt x="194989" y="113066"/>
                  <a:pt x="191005" y="11940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979218" y="6787299"/>
            <a:ext cx="1292819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 时代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76455" y="7266121"/>
            <a:ext cx="714641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设计哲学：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"一个平台，多种框架"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76455" y="7649178"/>
            <a:ext cx="7146415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资源利用率：</a:t>
            </a:r>
            <a:r>
              <a:rPr lang="en-US" sz="2262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75-85%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（显著提升）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76455" y="8128000"/>
            <a:ext cx="714641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多框架支持：</a:t>
            </a:r>
            <a:r>
              <a:rPr lang="en-US" sz="150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MapReduce、Spark、Flink等共存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943" y="442943"/>
            <a:ext cx="15458703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kern="0" spc="7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2943" y="797297"/>
            <a:ext cx="15569439" cy="44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3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 整体架构设计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2943" y="1373123"/>
            <a:ext cx="1063063" cy="44294"/>
          </a:xfrm>
          <a:custGeom>
            <a:avLst/>
            <a:gdLst/>
            <a:ahLst/>
            <a:cxnLst/>
            <a:rect l="l" t="t" r="r" b="b"/>
            <a:pathLst>
              <a:path w="1063063" h="44294">
                <a:moveTo>
                  <a:pt x="0" y="0"/>
                </a:moveTo>
                <a:lnTo>
                  <a:pt x="1063063" y="0"/>
                </a:lnTo>
                <a:lnTo>
                  <a:pt x="1063063" y="44294"/>
                </a:lnTo>
                <a:lnTo>
                  <a:pt x="0" y="44294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4016" y="1694256"/>
            <a:ext cx="4983106" cy="2768392"/>
          </a:xfrm>
          <a:custGeom>
            <a:avLst/>
            <a:gdLst/>
            <a:ahLst/>
            <a:cxnLst/>
            <a:rect l="l" t="t" r="r" b="b"/>
            <a:pathLst>
              <a:path w="4983106" h="2768392">
                <a:moveTo>
                  <a:pt x="88589" y="0"/>
                </a:moveTo>
                <a:lnTo>
                  <a:pt x="4894518" y="0"/>
                </a:lnTo>
                <a:cubicBezTo>
                  <a:pt x="4943444" y="0"/>
                  <a:pt x="4983106" y="39662"/>
                  <a:pt x="4983106" y="88589"/>
                </a:cubicBezTo>
                <a:lnTo>
                  <a:pt x="4983106" y="2679804"/>
                </a:lnTo>
                <a:cubicBezTo>
                  <a:pt x="4983106" y="2728730"/>
                  <a:pt x="4943444" y="2768392"/>
                  <a:pt x="4894518" y="2768392"/>
                </a:cubicBezTo>
                <a:lnTo>
                  <a:pt x="88589" y="2768392"/>
                </a:lnTo>
                <a:cubicBezTo>
                  <a:pt x="39662" y="2768392"/>
                  <a:pt x="0" y="2728730"/>
                  <a:pt x="0" y="2679804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603067" y="1937875"/>
            <a:ext cx="686561" cy="686561"/>
          </a:xfrm>
          <a:custGeom>
            <a:avLst/>
            <a:gdLst/>
            <a:ahLst/>
            <a:cxnLst/>
            <a:rect l="l" t="t" r="r" b="b"/>
            <a:pathLst>
              <a:path w="686561" h="686561">
                <a:moveTo>
                  <a:pt x="343281" y="0"/>
                </a:moveTo>
                <a:lnTo>
                  <a:pt x="343281" y="0"/>
                </a:lnTo>
                <a:cubicBezTo>
                  <a:pt x="532869" y="0"/>
                  <a:pt x="686561" y="153692"/>
                  <a:pt x="686561" y="343281"/>
                </a:cubicBezTo>
                <a:lnTo>
                  <a:pt x="686561" y="343281"/>
                </a:lnTo>
                <a:cubicBezTo>
                  <a:pt x="686561" y="532869"/>
                  <a:pt x="532869" y="686561"/>
                  <a:pt x="343281" y="686561"/>
                </a:cubicBezTo>
                <a:lnTo>
                  <a:pt x="343281" y="686561"/>
                </a:lnTo>
                <a:cubicBezTo>
                  <a:pt x="153692" y="686561"/>
                  <a:pt x="0" y="532869"/>
                  <a:pt x="0" y="343281"/>
                </a:cubicBezTo>
                <a:lnTo>
                  <a:pt x="0" y="343281"/>
                </a:lnTo>
                <a:cubicBezTo>
                  <a:pt x="0" y="153692"/>
                  <a:pt x="153692" y="0"/>
                  <a:pt x="34328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803776" y="2115052"/>
            <a:ext cx="290681" cy="332207"/>
          </a:xfrm>
          <a:custGeom>
            <a:avLst/>
            <a:gdLst/>
            <a:ahLst/>
            <a:cxnLst/>
            <a:rect l="l" t="t" r="r" b="b"/>
            <a:pathLst>
              <a:path w="290681" h="332207">
                <a:moveTo>
                  <a:pt x="145341" y="160913"/>
                </a:moveTo>
                <a:cubicBezTo>
                  <a:pt x="188313" y="160913"/>
                  <a:pt x="223202" y="126024"/>
                  <a:pt x="223202" y="83052"/>
                </a:cubicBezTo>
                <a:cubicBezTo>
                  <a:pt x="223202" y="40079"/>
                  <a:pt x="188313" y="5191"/>
                  <a:pt x="145341" y="5191"/>
                </a:cubicBezTo>
                <a:cubicBezTo>
                  <a:pt x="102368" y="5191"/>
                  <a:pt x="67480" y="40079"/>
                  <a:pt x="67480" y="83052"/>
                </a:cubicBezTo>
                <a:cubicBezTo>
                  <a:pt x="67480" y="126024"/>
                  <a:pt x="102368" y="160913"/>
                  <a:pt x="145341" y="160913"/>
                </a:cubicBezTo>
                <a:close/>
                <a:moveTo>
                  <a:pt x="126070" y="197248"/>
                </a:moveTo>
                <a:cubicBezTo>
                  <a:pt x="62159" y="197248"/>
                  <a:pt x="10381" y="249026"/>
                  <a:pt x="10381" y="312936"/>
                </a:cubicBezTo>
                <a:cubicBezTo>
                  <a:pt x="10381" y="323577"/>
                  <a:pt x="19011" y="332207"/>
                  <a:pt x="29652" y="332207"/>
                </a:cubicBezTo>
                <a:lnTo>
                  <a:pt x="261029" y="332207"/>
                </a:lnTo>
                <a:cubicBezTo>
                  <a:pt x="271670" y="332207"/>
                  <a:pt x="280300" y="323577"/>
                  <a:pt x="280300" y="312936"/>
                </a:cubicBezTo>
                <a:cubicBezTo>
                  <a:pt x="280300" y="249026"/>
                  <a:pt x="228522" y="197248"/>
                  <a:pt x="164611" y="197248"/>
                </a:cubicBezTo>
                <a:lnTo>
                  <a:pt x="126070" y="19724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31193" y="2768392"/>
            <a:ext cx="4628752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6561" y="3255629"/>
            <a:ext cx="4606605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提交应用请求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6561" y="3609984"/>
            <a:ext cx="4606605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查询应用状态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6561" y="3964338"/>
            <a:ext cx="4606605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与RM交互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8004" y="1694256"/>
            <a:ext cx="4983106" cy="2768392"/>
          </a:xfrm>
          <a:custGeom>
            <a:avLst/>
            <a:gdLst/>
            <a:ahLst/>
            <a:cxnLst/>
            <a:rect l="l" t="t" r="r" b="b"/>
            <a:pathLst>
              <a:path w="4983106" h="2768392">
                <a:moveTo>
                  <a:pt x="88589" y="0"/>
                </a:moveTo>
                <a:lnTo>
                  <a:pt x="4894518" y="0"/>
                </a:lnTo>
                <a:cubicBezTo>
                  <a:pt x="4943444" y="0"/>
                  <a:pt x="4983106" y="39662"/>
                  <a:pt x="4983106" y="88589"/>
                </a:cubicBezTo>
                <a:lnTo>
                  <a:pt x="4983106" y="2679804"/>
                </a:lnTo>
                <a:cubicBezTo>
                  <a:pt x="4983106" y="2728730"/>
                  <a:pt x="4943444" y="2768392"/>
                  <a:pt x="4894518" y="2768392"/>
                </a:cubicBezTo>
                <a:lnTo>
                  <a:pt x="88589" y="2768392"/>
                </a:lnTo>
                <a:cubicBezTo>
                  <a:pt x="39662" y="2768392"/>
                  <a:pt x="0" y="2728730"/>
                  <a:pt x="0" y="2679804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787055" y="1937875"/>
            <a:ext cx="686561" cy="686561"/>
          </a:xfrm>
          <a:custGeom>
            <a:avLst/>
            <a:gdLst/>
            <a:ahLst/>
            <a:cxnLst/>
            <a:rect l="l" t="t" r="r" b="b"/>
            <a:pathLst>
              <a:path w="686561" h="686561">
                <a:moveTo>
                  <a:pt x="343281" y="0"/>
                </a:moveTo>
                <a:lnTo>
                  <a:pt x="343281" y="0"/>
                </a:lnTo>
                <a:cubicBezTo>
                  <a:pt x="532869" y="0"/>
                  <a:pt x="686561" y="153692"/>
                  <a:pt x="686561" y="343281"/>
                </a:cubicBezTo>
                <a:lnTo>
                  <a:pt x="686561" y="343281"/>
                </a:lnTo>
                <a:cubicBezTo>
                  <a:pt x="686561" y="532869"/>
                  <a:pt x="532869" y="686561"/>
                  <a:pt x="343281" y="686561"/>
                </a:cubicBezTo>
                <a:lnTo>
                  <a:pt x="343281" y="686561"/>
                </a:lnTo>
                <a:cubicBezTo>
                  <a:pt x="153692" y="686561"/>
                  <a:pt x="0" y="532869"/>
                  <a:pt x="0" y="343281"/>
                </a:cubicBezTo>
                <a:lnTo>
                  <a:pt x="0" y="343281"/>
                </a:lnTo>
                <a:cubicBezTo>
                  <a:pt x="0" y="153692"/>
                  <a:pt x="153692" y="0"/>
                  <a:pt x="34328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987764" y="2115052"/>
            <a:ext cx="290681" cy="332207"/>
          </a:xfrm>
          <a:custGeom>
            <a:avLst/>
            <a:gdLst/>
            <a:ahLst/>
            <a:cxnLst/>
            <a:rect l="l" t="t" r="r" b="b"/>
            <a:pathLst>
              <a:path w="290681" h="332207">
                <a:moveTo>
                  <a:pt x="41526" y="20763"/>
                </a:moveTo>
                <a:cubicBezTo>
                  <a:pt x="18622" y="20763"/>
                  <a:pt x="0" y="39385"/>
                  <a:pt x="0" y="62289"/>
                </a:cubicBezTo>
                <a:lnTo>
                  <a:pt x="0" y="103815"/>
                </a:lnTo>
                <a:cubicBezTo>
                  <a:pt x="0" y="126719"/>
                  <a:pt x="18622" y="145341"/>
                  <a:pt x="41526" y="145341"/>
                </a:cubicBezTo>
                <a:lnTo>
                  <a:pt x="249155" y="145341"/>
                </a:lnTo>
                <a:cubicBezTo>
                  <a:pt x="272059" y="145341"/>
                  <a:pt x="290681" y="126719"/>
                  <a:pt x="290681" y="103815"/>
                </a:cubicBezTo>
                <a:lnTo>
                  <a:pt x="290681" y="62289"/>
                </a:lnTo>
                <a:cubicBezTo>
                  <a:pt x="290681" y="39385"/>
                  <a:pt x="272059" y="20763"/>
                  <a:pt x="249155" y="20763"/>
                </a:cubicBezTo>
                <a:lnTo>
                  <a:pt x="41526" y="20763"/>
                </a:lnTo>
                <a:close/>
                <a:moveTo>
                  <a:pt x="181676" y="67480"/>
                </a:moveTo>
                <a:cubicBezTo>
                  <a:pt x="190270" y="67480"/>
                  <a:pt x="197248" y="74457"/>
                  <a:pt x="197248" y="83052"/>
                </a:cubicBezTo>
                <a:cubicBezTo>
                  <a:pt x="197248" y="91646"/>
                  <a:pt x="190270" y="98624"/>
                  <a:pt x="181676" y="98624"/>
                </a:cubicBezTo>
                <a:cubicBezTo>
                  <a:pt x="173081" y="98624"/>
                  <a:pt x="166104" y="91646"/>
                  <a:pt x="166104" y="83052"/>
                </a:cubicBezTo>
                <a:cubicBezTo>
                  <a:pt x="166104" y="74457"/>
                  <a:pt x="173081" y="67480"/>
                  <a:pt x="181676" y="67480"/>
                </a:cubicBezTo>
                <a:close/>
                <a:moveTo>
                  <a:pt x="218011" y="83052"/>
                </a:moveTo>
                <a:cubicBezTo>
                  <a:pt x="218011" y="74457"/>
                  <a:pt x="224989" y="67480"/>
                  <a:pt x="233583" y="67480"/>
                </a:cubicBezTo>
                <a:cubicBezTo>
                  <a:pt x="242178" y="67480"/>
                  <a:pt x="249155" y="74457"/>
                  <a:pt x="249155" y="83052"/>
                </a:cubicBezTo>
                <a:cubicBezTo>
                  <a:pt x="249155" y="91646"/>
                  <a:pt x="242178" y="98624"/>
                  <a:pt x="233583" y="98624"/>
                </a:cubicBezTo>
                <a:cubicBezTo>
                  <a:pt x="224989" y="98624"/>
                  <a:pt x="218011" y="91646"/>
                  <a:pt x="218011" y="83052"/>
                </a:cubicBezTo>
                <a:close/>
                <a:moveTo>
                  <a:pt x="41526" y="186866"/>
                </a:moveTo>
                <a:cubicBezTo>
                  <a:pt x="18622" y="186866"/>
                  <a:pt x="0" y="205488"/>
                  <a:pt x="0" y="228392"/>
                </a:cubicBezTo>
                <a:lnTo>
                  <a:pt x="0" y="269918"/>
                </a:lnTo>
                <a:cubicBezTo>
                  <a:pt x="0" y="292822"/>
                  <a:pt x="18622" y="311444"/>
                  <a:pt x="41526" y="311444"/>
                </a:cubicBezTo>
                <a:lnTo>
                  <a:pt x="249155" y="311444"/>
                </a:lnTo>
                <a:cubicBezTo>
                  <a:pt x="272059" y="311444"/>
                  <a:pt x="290681" y="292822"/>
                  <a:pt x="290681" y="269918"/>
                </a:cubicBezTo>
                <a:lnTo>
                  <a:pt x="290681" y="228392"/>
                </a:lnTo>
                <a:cubicBezTo>
                  <a:pt x="290681" y="205488"/>
                  <a:pt x="272059" y="186866"/>
                  <a:pt x="249155" y="186866"/>
                </a:cubicBezTo>
                <a:lnTo>
                  <a:pt x="41526" y="186866"/>
                </a:lnTo>
                <a:close/>
                <a:moveTo>
                  <a:pt x="181676" y="233583"/>
                </a:moveTo>
                <a:cubicBezTo>
                  <a:pt x="190270" y="233583"/>
                  <a:pt x="197248" y="240561"/>
                  <a:pt x="197248" y="249155"/>
                </a:cubicBezTo>
                <a:cubicBezTo>
                  <a:pt x="197248" y="257750"/>
                  <a:pt x="190270" y="264728"/>
                  <a:pt x="181676" y="264728"/>
                </a:cubicBezTo>
                <a:cubicBezTo>
                  <a:pt x="173081" y="264728"/>
                  <a:pt x="166104" y="257750"/>
                  <a:pt x="166104" y="249155"/>
                </a:cubicBezTo>
                <a:cubicBezTo>
                  <a:pt x="166104" y="240561"/>
                  <a:pt x="173081" y="233583"/>
                  <a:pt x="181676" y="233583"/>
                </a:cubicBezTo>
                <a:close/>
                <a:moveTo>
                  <a:pt x="218011" y="249155"/>
                </a:moveTo>
                <a:cubicBezTo>
                  <a:pt x="218011" y="240561"/>
                  <a:pt x="224989" y="233583"/>
                  <a:pt x="233583" y="233583"/>
                </a:cubicBezTo>
                <a:cubicBezTo>
                  <a:pt x="242178" y="233583"/>
                  <a:pt x="249155" y="240561"/>
                  <a:pt x="249155" y="249155"/>
                </a:cubicBezTo>
                <a:cubicBezTo>
                  <a:pt x="249155" y="257750"/>
                  <a:pt x="242178" y="264728"/>
                  <a:pt x="233583" y="264728"/>
                </a:cubicBezTo>
                <a:cubicBezTo>
                  <a:pt x="224989" y="264728"/>
                  <a:pt x="218011" y="257750"/>
                  <a:pt x="218011" y="2491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815181" y="2768392"/>
            <a:ext cx="4628752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70549" y="3255629"/>
            <a:ext cx="2214714" cy="575826"/>
          </a:xfrm>
          <a:custGeom>
            <a:avLst/>
            <a:gdLst/>
            <a:ahLst/>
            <a:cxnLst/>
            <a:rect l="l" t="t" r="r" b="b"/>
            <a:pathLst>
              <a:path w="2214714" h="575826">
                <a:moveTo>
                  <a:pt x="44293" y="0"/>
                </a:moveTo>
                <a:lnTo>
                  <a:pt x="2170421" y="0"/>
                </a:lnTo>
                <a:cubicBezTo>
                  <a:pt x="2194883" y="0"/>
                  <a:pt x="2214714" y="19830"/>
                  <a:pt x="2214714" y="44293"/>
                </a:cubicBezTo>
                <a:lnTo>
                  <a:pt x="2214714" y="531533"/>
                </a:lnTo>
                <a:cubicBezTo>
                  <a:pt x="2214714" y="555995"/>
                  <a:pt x="2194883" y="575826"/>
                  <a:pt x="2170421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959138" y="3344218"/>
            <a:ext cx="2115052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59138" y="3565689"/>
            <a:ext cx="2103978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资源调度器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74630" y="3255629"/>
            <a:ext cx="2214714" cy="575826"/>
          </a:xfrm>
          <a:custGeom>
            <a:avLst/>
            <a:gdLst/>
            <a:ahLst/>
            <a:cxnLst/>
            <a:rect l="l" t="t" r="r" b="b"/>
            <a:pathLst>
              <a:path w="2214714" h="575826">
                <a:moveTo>
                  <a:pt x="44293" y="0"/>
                </a:moveTo>
                <a:lnTo>
                  <a:pt x="2170421" y="0"/>
                </a:lnTo>
                <a:cubicBezTo>
                  <a:pt x="2194883" y="0"/>
                  <a:pt x="2214714" y="19830"/>
                  <a:pt x="2214714" y="44293"/>
                </a:cubicBezTo>
                <a:lnTo>
                  <a:pt x="2214714" y="531533"/>
                </a:lnTo>
                <a:cubicBezTo>
                  <a:pt x="2214714" y="555995"/>
                  <a:pt x="2194883" y="575826"/>
                  <a:pt x="2170421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63219" y="3344218"/>
            <a:ext cx="2115052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ApplicationsManager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3219" y="3565689"/>
            <a:ext cx="2103978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应用管理器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22078" y="1694256"/>
            <a:ext cx="4983106" cy="2768392"/>
          </a:xfrm>
          <a:custGeom>
            <a:avLst/>
            <a:gdLst/>
            <a:ahLst/>
            <a:cxnLst/>
            <a:rect l="l" t="t" r="r" b="b"/>
            <a:pathLst>
              <a:path w="4983106" h="2768392">
                <a:moveTo>
                  <a:pt x="88589" y="0"/>
                </a:moveTo>
                <a:lnTo>
                  <a:pt x="4894518" y="0"/>
                </a:lnTo>
                <a:cubicBezTo>
                  <a:pt x="4943444" y="0"/>
                  <a:pt x="4983106" y="39662"/>
                  <a:pt x="4983106" y="88589"/>
                </a:cubicBezTo>
                <a:lnTo>
                  <a:pt x="4983106" y="2679804"/>
                </a:lnTo>
                <a:cubicBezTo>
                  <a:pt x="4983106" y="2728730"/>
                  <a:pt x="4943444" y="2768392"/>
                  <a:pt x="4894518" y="2768392"/>
                </a:cubicBezTo>
                <a:lnTo>
                  <a:pt x="88589" y="2768392"/>
                </a:lnTo>
                <a:cubicBezTo>
                  <a:pt x="39662" y="2768392"/>
                  <a:pt x="0" y="2728730"/>
                  <a:pt x="0" y="2679804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2971129" y="1937875"/>
            <a:ext cx="686561" cy="686561"/>
          </a:xfrm>
          <a:custGeom>
            <a:avLst/>
            <a:gdLst/>
            <a:ahLst/>
            <a:cxnLst/>
            <a:rect l="l" t="t" r="r" b="b"/>
            <a:pathLst>
              <a:path w="686561" h="686561">
                <a:moveTo>
                  <a:pt x="343281" y="0"/>
                </a:moveTo>
                <a:lnTo>
                  <a:pt x="343281" y="0"/>
                </a:lnTo>
                <a:cubicBezTo>
                  <a:pt x="532869" y="0"/>
                  <a:pt x="686561" y="153692"/>
                  <a:pt x="686561" y="343281"/>
                </a:cubicBezTo>
                <a:lnTo>
                  <a:pt x="686561" y="343281"/>
                </a:lnTo>
                <a:cubicBezTo>
                  <a:pt x="686561" y="532869"/>
                  <a:pt x="532869" y="686561"/>
                  <a:pt x="343281" y="686561"/>
                </a:cubicBezTo>
                <a:lnTo>
                  <a:pt x="343281" y="686561"/>
                </a:lnTo>
                <a:cubicBezTo>
                  <a:pt x="153692" y="686561"/>
                  <a:pt x="0" y="532869"/>
                  <a:pt x="0" y="343281"/>
                </a:cubicBezTo>
                <a:lnTo>
                  <a:pt x="0" y="343281"/>
                </a:lnTo>
                <a:cubicBezTo>
                  <a:pt x="0" y="153692"/>
                  <a:pt x="153692" y="0"/>
                  <a:pt x="34328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3109549" y="2115052"/>
            <a:ext cx="415259" cy="332207"/>
          </a:xfrm>
          <a:custGeom>
            <a:avLst/>
            <a:gdLst/>
            <a:ahLst/>
            <a:cxnLst/>
            <a:rect l="l" t="t" r="r" b="b"/>
            <a:pathLst>
              <a:path w="415259" h="332207">
                <a:moveTo>
                  <a:pt x="269853" y="136581"/>
                </a:moveTo>
                <a:cubicBezTo>
                  <a:pt x="277769" y="134440"/>
                  <a:pt x="286074" y="138203"/>
                  <a:pt x="289643" y="145535"/>
                </a:cubicBezTo>
                <a:lnTo>
                  <a:pt x="301712" y="169932"/>
                </a:lnTo>
                <a:cubicBezTo>
                  <a:pt x="308395" y="170840"/>
                  <a:pt x="314948" y="172657"/>
                  <a:pt x="321112" y="175187"/>
                </a:cubicBezTo>
                <a:lnTo>
                  <a:pt x="343821" y="160069"/>
                </a:lnTo>
                <a:cubicBezTo>
                  <a:pt x="350634" y="155527"/>
                  <a:pt x="359653" y="156436"/>
                  <a:pt x="365428" y="162210"/>
                </a:cubicBezTo>
                <a:lnTo>
                  <a:pt x="377886" y="174668"/>
                </a:lnTo>
                <a:cubicBezTo>
                  <a:pt x="383660" y="180443"/>
                  <a:pt x="384569" y="189527"/>
                  <a:pt x="380027" y="196275"/>
                </a:cubicBezTo>
                <a:lnTo>
                  <a:pt x="364909" y="218919"/>
                </a:lnTo>
                <a:cubicBezTo>
                  <a:pt x="366142" y="221969"/>
                  <a:pt x="367245" y="225148"/>
                  <a:pt x="368153" y="228457"/>
                </a:cubicBezTo>
                <a:cubicBezTo>
                  <a:pt x="369061" y="231766"/>
                  <a:pt x="369645" y="235011"/>
                  <a:pt x="370099" y="238320"/>
                </a:cubicBezTo>
                <a:lnTo>
                  <a:pt x="394561" y="250388"/>
                </a:lnTo>
                <a:cubicBezTo>
                  <a:pt x="401893" y="254022"/>
                  <a:pt x="405656" y="262327"/>
                  <a:pt x="403515" y="270178"/>
                </a:cubicBezTo>
                <a:lnTo>
                  <a:pt x="398973" y="287177"/>
                </a:lnTo>
                <a:cubicBezTo>
                  <a:pt x="396832" y="295028"/>
                  <a:pt x="389500" y="300349"/>
                  <a:pt x="381324" y="299830"/>
                </a:cubicBezTo>
                <a:lnTo>
                  <a:pt x="354073" y="298078"/>
                </a:lnTo>
                <a:cubicBezTo>
                  <a:pt x="349985" y="303334"/>
                  <a:pt x="345249" y="308200"/>
                  <a:pt x="339863" y="312353"/>
                </a:cubicBezTo>
                <a:lnTo>
                  <a:pt x="341615" y="339539"/>
                </a:lnTo>
                <a:cubicBezTo>
                  <a:pt x="342134" y="347714"/>
                  <a:pt x="336814" y="355111"/>
                  <a:pt x="328963" y="357187"/>
                </a:cubicBezTo>
                <a:lnTo>
                  <a:pt x="311963" y="361729"/>
                </a:lnTo>
                <a:cubicBezTo>
                  <a:pt x="304047" y="363871"/>
                  <a:pt x="295807" y="360107"/>
                  <a:pt x="292174" y="352775"/>
                </a:cubicBezTo>
                <a:lnTo>
                  <a:pt x="280105" y="328379"/>
                </a:lnTo>
                <a:cubicBezTo>
                  <a:pt x="273422" y="327471"/>
                  <a:pt x="266869" y="325654"/>
                  <a:pt x="260705" y="323123"/>
                </a:cubicBezTo>
                <a:lnTo>
                  <a:pt x="237995" y="338241"/>
                </a:lnTo>
                <a:cubicBezTo>
                  <a:pt x="231182" y="342783"/>
                  <a:pt x="222163" y="341875"/>
                  <a:pt x="216389" y="336100"/>
                </a:cubicBezTo>
                <a:lnTo>
                  <a:pt x="203931" y="323642"/>
                </a:lnTo>
                <a:cubicBezTo>
                  <a:pt x="198156" y="317868"/>
                  <a:pt x="197248" y="308849"/>
                  <a:pt x="201790" y="302036"/>
                </a:cubicBezTo>
                <a:lnTo>
                  <a:pt x="216908" y="279326"/>
                </a:lnTo>
                <a:cubicBezTo>
                  <a:pt x="215675" y="276277"/>
                  <a:pt x="214572" y="273098"/>
                  <a:pt x="213664" y="269788"/>
                </a:cubicBezTo>
                <a:cubicBezTo>
                  <a:pt x="212755" y="266479"/>
                  <a:pt x="212171" y="263170"/>
                  <a:pt x="211717" y="259926"/>
                </a:cubicBezTo>
                <a:lnTo>
                  <a:pt x="187256" y="247858"/>
                </a:lnTo>
                <a:cubicBezTo>
                  <a:pt x="179924" y="244224"/>
                  <a:pt x="176225" y="235919"/>
                  <a:pt x="178302" y="228068"/>
                </a:cubicBezTo>
                <a:lnTo>
                  <a:pt x="182844" y="211068"/>
                </a:lnTo>
                <a:cubicBezTo>
                  <a:pt x="184985" y="203217"/>
                  <a:pt x="192317" y="197897"/>
                  <a:pt x="200492" y="198416"/>
                </a:cubicBezTo>
                <a:lnTo>
                  <a:pt x="227679" y="200168"/>
                </a:lnTo>
                <a:cubicBezTo>
                  <a:pt x="231766" y="194912"/>
                  <a:pt x="236503" y="190046"/>
                  <a:pt x="241888" y="185893"/>
                </a:cubicBezTo>
                <a:lnTo>
                  <a:pt x="240136" y="158772"/>
                </a:lnTo>
                <a:cubicBezTo>
                  <a:pt x="239617" y="150596"/>
                  <a:pt x="244938" y="143199"/>
                  <a:pt x="252789" y="141123"/>
                </a:cubicBezTo>
                <a:lnTo>
                  <a:pt x="269788" y="136581"/>
                </a:lnTo>
                <a:close/>
                <a:moveTo>
                  <a:pt x="290941" y="220606"/>
                </a:moveTo>
                <a:cubicBezTo>
                  <a:pt x="275184" y="220624"/>
                  <a:pt x="262406" y="233431"/>
                  <a:pt x="262424" y="249188"/>
                </a:cubicBezTo>
                <a:cubicBezTo>
                  <a:pt x="262442" y="264944"/>
                  <a:pt x="275249" y="277722"/>
                  <a:pt x="291006" y="277704"/>
                </a:cubicBezTo>
                <a:cubicBezTo>
                  <a:pt x="306762" y="277686"/>
                  <a:pt x="319540" y="264880"/>
                  <a:pt x="319522" y="249123"/>
                </a:cubicBezTo>
                <a:cubicBezTo>
                  <a:pt x="319504" y="233366"/>
                  <a:pt x="306697" y="220588"/>
                  <a:pt x="290941" y="220606"/>
                </a:cubicBezTo>
                <a:close/>
                <a:moveTo>
                  <a:pt x="145925" y="-29522"/>
                </a:moveTo>
                <a:lnTo>
                  <a:pt x="162924" y="-24980"/>
                </a:lnTo>
                <a:cubicBezTo>
                  <a:pt x="170775" y="-22839"/>
                  <a:pt x="176096" y="-15442"/>
                  <a:pt x="175577" y="-7332"/>
                </a:cubicBezTo>
                <a:lnTo>
                  <a:pt x="173825" y="19790"/>
                </a:lnTo>
                <a:cubicBezTo>
                  <a:pt x="179210" y="23942"/>
                  <a:pt x="183947" y="28744"/>
                  <a:pt x="188034" y="34064"/>
                </a:cubicBezTo>
                <a:lnTo>
                  <a:pt x="215286" y="32312"/>
                </a:lnTo>
                <a:cubicBezTo>
                  <a:pt x="223396" y="31793"/>
                  <a:pt x="230793" y="37114"/>
                  <a:pt x="232934" y="44965"/>
                </a:cubicBezTo>
                <a:lnTo>
                  <a:pt x="237476" y="61964"/>
                </a:lnTo>
                <a:cubicBezTo>
                  <a:pt x="239552" y="69815"/>
                  <a:pt x="235854" y="78121"/>
                  <a:pt x="228522" y="81754"/>
                </a:cubicBezTo>
                <a:lnTo>
                  <a:pt x="204061" y="93823"/>
                </a:lnTo>
                <a:cubicBezTo>
                  <a:pt x="203607" y="97132"/>
                  <a:pt x="202958" y="100441"/>
                  <a:pt x="202114" y="103685"/>
                </a:cubicBezTo>
                <a:cubicBezTo>
                  <a:pt x="201271" y="106929"/>
                  <a:pt x="200103" y="110173"/>
                  <a:pt x="198870" y="113223"/>
                </a:cubicBezTo>
                <a:lnTo>
                  <a:pt x="213988" y="135932"/>
                </a:lnTo>
                <a:cubicBezTo>
                  <a:pt x="218530" y="142745"/>
                  <a:pt x="217622" y="151764"/>
                  <a:pt x="211847" y="157539"/>
                </a:cubicBezTo>
                <a:lnTo>
                  <a:pt x="199389" y="169997"/>
                </a:lnTo>
                <a:cubicBezTo>
                  <a:pt x="193614" y="175771"/>
                  <a:pt x="184596" y="176680"/>
                  <a:pt x="177783" y="172138"/>
                </a:cubicBezTo>
                <a:lnTo>
                  <a:pt x="155073" y="157020"/>
                </a:lnTo>
                <a:cubicBezTo>
                  <a:pt x="148909" y="159550"/>
                  <a:pt x="142356" y="161367"/>
                  <a:pt x="135673" y="162275"/>
                </a:cubicBezTo>
                <a:lnTo>
                  <a:pt x="123604" y="186672"/>
                </a:lnTo>
                <a:cubicBezTo>
                  <a:pt x="119971" y="194004"/>
                  <a:pt x="111666" y="197702"/>
                  <a:pt x="103815" y="195626"/>
                </a:cubicBezTo>
                <a:lnTo>
                  <a:pt x="86815" y="191084"/>
                </a:lnTo>
                <a:cubicBezTo>
                  <a:pt x="78899" y="188943"/>
                  <a:pt x="73644" y="181546"/>
                  <a:pt x="74163" y="173435"/>
                </a:cubicBezTo>
                <a:lnTo>
                  <a:pt x="75915" y="146249"/>
                </a:lnTo>
                <a:cubicBezTo>
                  <a:pt x="70529" y="142096"/>
                  <a:pt x="65793" y="137295"/>
                  <a:pt x="61705" y="131974"/>
                </a:cubicBezTo>
                <a:lnTo>
                  <a:pt x="34454" y="133726"/>
                </a:lnTo>
                <a:cubicBezTo>
                  <a:pt x="26343" y="134245"/>
                  <a:pt x="18946" y="128925"/>
                  <a:pt x="16805" y="121074"/>
                </a:cubicBezTo>
                <a:lnTo>
                  <a:pt x="12263" y="104074"/>
                </a:lnTo>
                <a:cubicBezTo>
                  <a:pt x="10187" y="96223"/>
                  <a:pt x="13885" y="87918"/>
                  <a:pt x="21217" y="84285"/>
                </a:cubicBezTo>
                <a:lnTo>
                  <a:pt x="45678" y="72216"/>
                </a:lnTo>
                <a:cubicBezTo>
                  <a:pt x="46133" y="68907"/>
                  <a:pt x="46782" y="65663"/>
                  <a:pt x="47625" y="62354"/>
                </a:cubicBezTo>
                <a:cubicBezTo>
                  <a:pt x="48533" y="59045"/>
                  <a:pt x="49572" y="55865"/>
                  <a:pt x="50869" y="52816"/>
                </a:cubicBezTo>
                <a:lnTo>
                  <a:pt x="35751" y="30171"/>
                </a:lnTo>
                <a:cubicBezTo>
                  <a:pt x="31209" y="23358"/>
                  <a:pt x="32118" y="14339"/>
                  <a:pt x="37892" y="8565"/>
                </a:cubicBezTo>
                <a:lnTo>
                  <a:pt x="50350" y="-3893"/>
                </a:lnTo>
                <a:cubicBezTo>
                  <a:pt x="56125" y="-9668"/>
                  <a:pt x="65144" y="-10576"/>
                  <a:pt x="71957" y="-6034"/>
                </a:cubicBezTo>
                <a:lnTo>
                  <a:pt x="94666" y="9084"/>
                </a:lnTo>
                <a:cubicBezTo>
                  <a:pt x="100830" y="6553"/>
                  <a:pt x="107383" y="4737"/>
                  <a:pt x="114066" y="3828"/>
                </a:cubicBezTo>
                <a:lnTo>
                  <a:pt x="126135" y="-20568"/>
                </a:lnTo>
                <a:cubicBezTo>
                  <a:pt x="129768" y="-27900"/>
                  <a:pt x="138009" y="-31599"/>
                  <a:pt x="145925" y="-29522"/>
                </a:cubicBezTo>
                <a:close/>
                <a:moveTo>
                  <a:pt x="124837" y="54503"/>
                </a:moveTo>
                <a:cubicBezTo>
                  <a:pt x="109081" y="54503"/>
                  <a:pt x="96288" y="67295"/>
                  <a:pt x="96288" y="83052"/>
                </a:cubicBezTo>
                <a:cubicBezTo>
                  <a:pt x="96288" y="98808"/>
                  <a:pt x="109081" y="111601"/>
                  <a:pt x="124837" y="111601"/>
                </a:cubicBezTo>
                <a:cubicBezTo>
                  <a:pt x="140594" y="111601"/>
                  <a:pt x="153386" y="98808"/>
                  <a:pt x="153386" y="83052"/>
                </a:cubicBezTo>
                <a:cubicBezTo>
                  <a:pt x="153386" y="67295"/>
                  <a:pt x="140594" y="54503"/>
                  <a:pt x="124837" y="5450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999255" y="2768392"/>
            <a:ext cx="4628752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54623" y="3255629"/>
            <a:ext cx="4595531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任务调度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54623" y="3521395"/>
            <a:ext cx="4595531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资源协商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54623" y="3787161"/>
            <a:ext cx="4595531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任务监控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4016" y="4661973"/>
            <a:ext cx="15347967" cy="2458332"/>
          </a:xfrm>
          <a:custGeom>
            <a:avLst/>
            <a:gdLst/>
            <a:ahLst/>
            <a:cxnLst/>
            <a:rect l="l" t="t" r="r" b="b"/>
            <a:pathLst>
              <a:path w="15347967" h="2458332">
                <a:moveTo>
                  <a:pt x="88598" y="0"/>
                </a:moveTo>
                <a:lnTo>
                  <a:pt x="15259369" y="0"/>
                </a:lnTo>
                <a:cubicBezTo>
                  <a:pt x="15308300" y="0"/>
                  <a:pt x="15347967" y="39667"/>
                  <a:pt x="15347967" y="88598"/>
                </a:cubicBezTo>
                <a:lnTo>
                  <a:pt x="15347967" y="2369734"/>
                </a:lnTo>
                <a:cubicBezTo>
                  <a:pt x="15347967" y="2418666"/>
                  <a:pt x="15308300" y="2458332"/>
                  <a:pt x="15259369" y="2458332"/>
                </a:cubicBezTo>
                <a:lnTo>
                  <a:pt x="88598" y="2458332"/>
                </a:lnTo>
                <a:cubicBezTo>
                  <a:pt x="39667" y="2458332"/>
                  <a:pt x="0" y="2418666"/>
                  <a:pt x="0" y="2369734"/>
                </a:cubicBezTo>
                <a:lnTo>
                  <a:pt x="0" y="88598"/>
                </a:lnTo>
                <a:cubicBezTo>
                  <a:pt x="0" y="39700"/>
                  <a:pt x="39700" y="0"/>
                  <a:pt x="885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97635" y="4905591"/>
            <a:ext cx="686561" cy="686561"/>
          </a:xfrm>
          <a:custGeom>
            <a:avLst/>
            <a:gdLst/>
            <a:ahLst/>
            <a:cxnLst/>
            <a:rect l="l" t="t" r="r" b="b"/>
            <a:pathLst>
              <a:path w="686561" h="686561">
                <a:moveTo>
                  <a:pt x="343281" y="0"/>
                </a:moveTo>
                <a:lnTo>
                  <a:pt x="343281" y="0"/>
                </a:lnTo>
                <a:cubicBezTo>
                  <a:pt x="532869" y="0"/>
                  <a:pt x="686561" y="153692"/>
                  <a:pt x="686561" y="343281"/>
                </a:cubicBezTo>
                <a:lnTo>
                  <a:pt x="686561" y="343281"/>
                </a:lnTo>
                <a:cubicBezTo>
                  <a:pt x="686561" y="532869"/>
                  <a:pt x="532869" y="686561"/>
                  <a:pt x="343281" y="686561"/>
                </a:cubicBezTo>
                <a:lnTo>
                  <a:pt x="343281" y="686561"/>
                </a:lnTo>
                <a:cubicBezTo>
                  <a:pt x="153692" y="686561"/>
                  <a:pt x="0" y="532869"/>
                  <a:pt x="0" y="343281"/>
                </a:cubicBezTo>
                <a:lnTo>
                  <a:pt x="0" y="343281"/>
                </a:lnTo>
                <a:cubicBezTo>
                  <a:pt x="0" y="153692"/>
                  <a:pt x="153692" y="0"/>
                  <a:pt x="34328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77580" y="5082768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45535" y="-1622"/>
                </a:moveTo>
                <a:cubicBezTo>
                  <a:pt x="158382" y="-9019"/>
                  <a:pt x="174214" y="-9019"/>
                  <a:pt x="187061" y="-1622"/>
                </a:cubicBezTo>
                <a:lnTo>
                  <a:pt x="301192" y="64235"/>
                </a:lnTo>
                <a:cubicBezTo>
                  <a:pt x="314040" y="71632"/>
                  <a:pt x="321955" y="85388"/>
                  <a:pt x="321955" y="100181"/>
                </a:cubicBezTo>
                <a:lnTo>
                  <a:pt x="321955" y="231896"/>
                </a:lnTo>
                <a:cubicBezTo>
                  <a:pt x="321955" y="246755"/>
                  <a:pt x="314040" y="260445"/>
                  <a:pt x="301192" y="267842"/>
                </a:cubicBezTo>
                <a:lnTo>
                  <a:pt x="187061" y="333829"/>
                </a:lnTo>
                <a:cubicBezTo>
                  <a:pt x="174214" y="341226"/>
                  <a:pt x="158382" y="341226"/>
                  <a:pt x="145535" y="333829"/>
                </a:cubicBezTo>
                <a:lnTo>
                  <a:pt x="31469" y="267972"/>
                </a:lnTo>
                <a:cubicBezTo>
                  <a:pt x="18622" y="260575"/>
                  <a:pt x="10706" y="246819"/>
                  <a:pt x="10706" y="232026"/>
                </a:cubicBezTo>
                <a:lnTo>
                  <a:pt x="10706" y="100311"/>
                </a:lnTo>
                <a:cubicBezTo>
                  <a:pt x="10706" y="85452"/>
                  <a:pt x="18622" y="71762"/>
                  <a:pt x="31469" y="64365"/>
                </a:cubicBezTo>
                <a:lnTo>
                  <a:pt x="145535" y="-1622"/>
                </a:lnTo>
                <a:close/>
                <a:moveTo>
                  <a:pt x="280365" y="231961"/>
                </a:moveTo>
                <a:lnTo>
                  <a:pt x="280365" y="124188"/>
                </a:lnTo>
                <a:lnTo>
                  <a:pt x="187061" y="178042"/>
                </a:lnTo>
                <a:lnTo>
                  <a:pt x="187061" y="285815"/>
                </a:lnTo>
                <a:lnTo>
                  <a:pt x="280365" y="23196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72447" y="5071695"/>
            <a:ext cx="3388512" cy="35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 &amp; Container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6561" y="5780403"/>
            <a:ext cx="3621057" cy="1107357"/>
          </a:xfrm>
          <a:custGeom>
            <a:avLst/>
            <a:gdLst/>
            <a:ahLst/>
            <a:cxnLst/>
            <a:rect l="l" t="t" r="r" b="b"/>
            <a:pathLst>
              <a:path w="3621057" h="1107357">
                <a:moveTo>
                  <a:pt x="44294" y="0"/>
                </a:moveTo>
                <a:lnTo>
                  <a:pt x="3576763" y="0"/>
                </a:lnTo>
                <a:cubicBezTo>
                  <a:pt x="3601226" y="0"/>
                  <a:pt x="3621057" y="19831"/>
                  <a:pt x="3621057" y="44294"/>
                </a:cubicBezTo>
                <a:lnTo>
                  <a:pt x="3621057" y="1063063"/>
                </a:lnTo>
                <a:cubicBezTo>
                  <a:pt x="3621057" y="1087526"/>
                  <a:pt x="3601226" y="1107357"/>
                  <a:pt x="3576763" y="1107357"/>
                </a:cubicBezTo>
                <a:lnTo>
                  <a:pt x="44294" y="1107357"/>
                </a:lnTo>
                <a:cubicBezTo>
                  <a:pt x="19831" y="1107357"/>
                  <a:pt x="0" y="1087526"/>
                  <a:pt x="0" y="1063063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364813" y="591328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16428" y="-1298"/>
                </a:moveTo>
                <a:cubicBezTo>
                  <a:pt x="126706" y="-7215"/>
                  <a:pt x="139371" y="-7215"/>
                  <a:pt x="149649" y="-1298"/>
                </a:cubicBezTo>
                <a:lnTo>
                  <a:pt x="240954" y="51388"/>
                </a:lnTo>
                <a:cubicBezTo>
                  <a:pt x="251232" y="57306"/>
                  <a:pt x="257564" y="68310"/>
                  <a:pt x="257564" y="80145"/>
                </a:cubicBezTo>
                <a:lnTo>
                  <a:pt x="257564" y="185517"/>
                </a:lnTo>
                <a:cubicBezTo>
                  <a:pt x="257564" y="197404"/>
                  <a:pt x="251232" y="208356"/>
                  <a:pt x="240954" y="214274"/>
                </a:cubicBezTo>
                <a:lnTo>
                  <a:pt x="149649" y="267063"/>
                </a:lnTo>
                <a:cubicBezTo>
                  <a:pt x="139371" y="272981"/>
                  <a:pt x="126706" y="272981"/>
                  <a:pt x="116428" y="267063"/>
                </a:cubicBezTo>
                <a:lnTo>
                  <a:pt x="25175" y="214377"/>
                </a:lnTo>
                <a:cubicBezTo>
                  <a:pt x="14897" y="208460"/>
                  <a:pt x="8565" y="197456"/>
                  <a:pt x="8565" y="185621"/>
                </a:cubicBezTo>
                <a:lnTo>
                  <a:pt x="8565" y="80249"/>
                </a:lnTo>
                <a:cubicBezTo>
                  <a:pt x="8565" y="68362"/>
                  <a:pt x="14897" y="57410"/>
                  <a:pt x="25175" y="51492"/>
                </a:cubicBezTo>
                <a:lnTo>
                  <a:pt x="116428" y="-1298"/>
                </a:lnTo>
                <a:close/>
                <a:moveTo>
                  <a:pt x="224292" y="185569"/>
                </a:moveTo>
                <a:lnTo>
                  <a:pt x="224292" y="99351"/>
                </a:lnTo>
                <a:lnTo>
                  <a:pt x="149649" y="142434"/>
                </a:lnTo>
                <a:lnTo>
                  <a:pt x="149649" y="228652"/>
                </a:lnTo>
                <a:lnTo>
                  <a:pt x="224292" y="18556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75150" y="6267640"/>
            <a:ext cx="344388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0687" y="6533406"/>
            <a:ext cx="343280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AM主容器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1713" y="5780403"/>
            <a:ext cx="3621057" cy="1107357"/>
          </a:xfrm>
          <a:custGeom>
            <a:avLst/>
            <a:gdLst/>
            <a:ahLst/>
            <a:cxnLst/>
            <a:rect l="l" t="t" r="r" b="b"/>
            <a:pathLst>
              <a:path w="3621057" h="1107357">
                <a:moveTo>
                  <a:pt x="44294" y="0"/>
                </a:moveTo>
                <a:lnTo>
                  <a:pt x="3576763" y="0"/>
                </a:lnTo>
                <a:cubicBezTo>
                  <a:pt x="3601226" y="0"/>
                  <a:pt x="3621057" y="19831"/>
                  <a:pt x="3621057" y="44294"/>
                </a:cubicBezTo>
                <a:lnTo>
                  <a:pt x="3621057" y="1063063"/>
                </a:lnTo>
                <a:cubicBezTo>
                  <a:pt x="3621057" y="1087526"/>
                  <a:pt x="3601226" y="1107357"/>
                  <a:pt x="3576763" y="1107357"/>
                </a:cubicBezTo>
                <a:lnTo>
                  <a:pt x="44294" y="1107357"/>
                </a:lnTo>
                <a:cubicBezTo>
                  <a:pt x="19831" y="1107357"/>
                  <a:pt x="0" y="1087526"/>
                  <a:pt x="0" y="1063063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19964" y="591328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16428" y="-1298"/>
                </a:moveTo>
                <a:cubicBezTo>
                  <a:pt x="126706" y="-7215"/>
                  <a:pt x="139371" y="-7215"/>
                  <a:pt x="149649" y="-1298"/>
                </a:cubicBezTo>
                <a:lnTo>
                  <a:pt x="240954" y="51388"/>
                </a:lnTo>
                <a:cubicBezTo>
                  <a:pt x="251232" y="57306"/>
                  <a:pt x="257564" y="68310"/>
                  <a:pt x="257564" y="80145"/>
                </a:cubicBezTo>
                <a:lnTo>
                  <a:pt x="257564" y="185517"/>
                </a:lnTo>
                <a:cubicBezTo>
                  <a:pt x="257564" y="197404"/>
                  <a:pt x="251232" y="208356"/>
                  <a:pt x="240954" y="214274"/>
                </a:cubicBezTo>
                <a:lnTo>
                  <a:pt x="149649" y="267063"/>
                </a:lnTo>
                <a:cubicBezTo>
                  <a:pt x="139371" y="272981"/>
                  <a:pt x="126706" y="272981"/>
                  <a:pt x="116428" y="267063"/>
                </a:cubicBezTo>
                <a:lnTo>
                  <a:pt x="25175" y="214377"/>
                </a:lnTo>
                <a:cubicBezTo>
                  <a:pt x="14897" y="208460"/>
                  <a:pt x="8565" y="197456"/>
                  <a:pt x="8565" y="185621"/>
                </a:cubicBezTo>
                <a:lnTo>
                  <a:pt x="8565" y="80249"/>
                </a:lnTo>
                <a:cubicBezTo>
                  <a:pt x="8565" y="68362"/>
                  <a:pt x="14897" y="57410"/>
                  <a:pt x="25175" y="51492"/>
                </a:cubicBezTo>
                <a:lnTo>
                  <a:pt x="116428" y="-1298"/>
                </a:lnTo>
                <a:close/>
                <a:moveTo>
                  <a:pt x="224292" y="185569"/>
                </a:moveTo>
                <a:lnTo>
                  <a:pt x="224292" y="99351"/>
                </a:lnTo>
                <a:lnTo>
                  <a:pt x="149649" y="142434"/>
                </a:lnTo>
                <a:lnTo>
                  <a:pt x="149649" y="228652"/>
                </a:lnTo>
                <a:lnTo>
                  <a:pt x="224292" y="18556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30301" y="6267640"/>
            <a:ext cx="344388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35838" y="6533406"/>
            <a:ext cx="343280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96864" y="5780403"/>
            <a:ext cx="3621057" cy="1107357"/>
          </a:xfrm>
          <a:custGeom>
            <a:avLst/>
            <a:gdLst/>
            <a:ahLst/>
            <a:cxnLst/>
            <a:rect l="l" t="t" r="r" b="b"/>
            <a:pathLst>
              <a:path w="3621057" h="1107357">
                <a:moveTo>
                  <a:pt x="44294" y="0"/>
                </a:moveTo>
                <a:lnTo>
                  <a:pt x="3576763" y="0"/>
                </a:lnTo>
                <a:cubicBezTo>
                  <a:pt x="3601226" y="0"/>
                  <a:pt x="3621057" y="19831"/>
                  <a:pt x="3621057" y="44294"/>
                </a:cubicBezTo>
                <a:lnTo>
                  <a:pt x="3621057" y="1063063"/>
                </a:lnTo>
                <a:cubicBezTo>
                  <a:pt x="3621057" y="1087526"/>
                  <a:pt x="3601226" y="1107357"/>
                  <a:pt x="3576763" y="1107357"/>
                </a:cubicBezTo>
                <a:lnTo>
                  <a:pt x="44294" y="1107357"/>
                </a:lnTo>
                <a:cubicBezTo>
                  <a:pt x="19831" y="1107357"/>
                  <a:pt x="0" y="1087526"/>
                  <a:pt x="0" y="1063063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875115" y="591328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16428" y="-1298"/>
                </a:moveTo>
                <a:cubicBezTo>
                  <a:pt x="126706" y="-7215"/>
                  <a:pt x="139371" y="-7215"/>
                  <a:pt x="149649" y="-1298"/>
                </a:cubicBezTo>
                <a:lnTo>
                  <a:pt x="240954" y="51388"/>
                </a:lnTo>
                <a:cubicBezTo>
                  <a:pt x="251232" y="57306"/>
                  <a:pt x="257564" y="68310"/>
                  <a:pt x="257564" y="80145"/>
                </a:cubicBezTo>
                <a:lnTo>
                  <a:pt x="257564" y="185517"/>
                </a:lnTo>
                <a:cubicBezTo>
                  <a:pt x="257564" y="197404"/>
                  <a:pt x="251232" y="208356"/>
                  <a:pt x="240954" y="214274"/>
                </a:cubicBezTo>
                <a:lnTo>
                  <a:pt x="149649" y="267063"/>
                </a:lnTo>
                <a:cubicBezTo>
                  <a:pt x="139371" y="272981"/>
                  <a:pt x="126706" y="272981"/>
                  <a:pt x="116428" y="267063"/>
                </a:cubicBezTo>
                <a:lnTo>
                  <a:pt x="25175" y="214377"/>
                </a:lnTo>
                <a:cubicBezTo>
                  <a:pt x="14897" y="208460"/>
                  <a:pt x="8565" y="197456"/>
                  <a:pt x="8565" y="185621"/>
                </a:cubicBezTo>
                <a:lnTo>
                  <a:pt x="8565" y="80249"/>
                </a:lnTo>
                <a:cubicBezTo>
                  <a:pt x="8565" y="68362"/>
                  <a:pt x="14897" y="57410"/>
                  <a:pt x="25175" y="51492"/>
                </a:cubicBezTo>
                <a:lnTo>
                  <a:pt x="116428" y="-1298"/>
                </a:lnTo>
                <a:close/>
                <a:moveTo>
                  <a:pt x="224292" y="185569"/>
                </a:moveTo>
                <a:lnTo>
                  <a:pt x="224292" y="99351"/>
                </a:lnTo>
                <a:lnTo>
                  <a:pt x="149649" y="142434"/>
                </a:lnTo>
                <a:lnTo>
                  <a:pt x="149649" y="228652"/>
                </a:lnTo>
                <a:lnTo>
                  <a:pt x="224292" y="18556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285452" y="6267640"/>
            <a:ext cx="344388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...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90989" y="6533406"/>
            <a:ext cx="343280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952015" y="5780403"/>
            <a:ext cx="3621057" cy="1107357"/>
          </a:xfrm>
          <a:custGeom>
            <a:avLst/>
            <a:gdLst/>
            <a:ahLst/>
            <a:cxnLst/>
            <a:rect l="l" t="t" r="r" b="b"/>
            <a:pathLst>
              <a:path w="3621057" h="1107357">
                <a:moveTo>
                  <a:pt x="44294" y="0"/>
                </a:moveTo>
                <a:lnTo>
                  <a:pt x="3576763" y="0"/>
                </a:lnTo>
                <a:cubicBezTo>
                  <a:pt x="3601226" y="0"/>
                  <a:pt x="3621057" y="19831"/>
                  <a:pt x="3621057" y="44294"/>
                </a:cubicBezTo>
                <a:lnTo>
                  <a:pt x="3621057" y="1063063"/>
                </a:lnTo>
                <a:cubicBezTo>
                  <a:pt x="3621057" y="1087526"/>
                  <a:pt x="3601226" y="1107357"/>
                  <a:pt x="3576763" y="1107357"/>
                </a:cubicBezTo>
                <a:lnTo>
                  <a:pt x="44294" y="1107357"/>
                </a:lnTo>
                <a:cubicBezTo>
                  <a:pt x="19831" y="1107357"/>
                  <a:pt x="0" y="1087526"/>
                  <a:pt x="0" y="1063063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3630266" y="591328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16428" y="-1298"/>
                </a:moveTo>
                <a:cubicBezTo>
                  <a:pt x="126706" y="-7215"/>
                  <a:pt x="139371" y="-7215"/>
                  <a:pt x="149649" y="-1298"/>
                </a:cubicBezTo>
                <a:lnTo>
                  <a:pt x="240954" y="51388"/>
                </a:lnTo>
                <a:cubicBezTo>
                  <a:pt x="251232" y="57306"/>
                  <a:pt x="257564" y="68310"/>
                  <a:pt x="257564" y="80145"/>
                </a:cubicBezTo>
                <a:lnTo>
                  <a:pt x="257564" y="185517"/>
                </a:lnTo>
                <a:cubicBezTo>
                  <a:pt x="257564" y="197404"/>
                  <a:pt x="251232" y="208356"/>
                  <a:pt x="240954" y="214274"/>
                </a:cubicBezTo>
                <a:lnTo>
                  <a:pt x="149649" y="267063"/>
                </a:lnTo>
                <a:cubicBezTo>
                  <a:pt x="139371" y="272981"/>
                  <a:pt x="126706" y="272981"/>
                  <a:pt x="116428" y="267063"/>
                </a:cubicBezTo>
                <a:lnTo>
                  <a:pt x="25175" y="214377"/>
                </a:lnTo>
                <a:cubicBezTo>
                  <a:pt x="14897" y="208460"/>
                  <a:pt x="8565" y="197456"/>
                  <a:pt x="8565" y="185621"/>
                </a:cubicBezTo>
                <a:lnTo>
                  <a:pt x="8565" y="80249"/>
                </a:lnTo>
                <a:cubicBezTo>
                  <a:pt x="8565" y="68362"/>
                  <a:pt x="14897" y="57410"/>
                  <a:pt x="25175" y="51492"/>
                </a:cubicBezTo>
                <a:lnTo>
                  <a:pt x="116428" y="-1298"/>
                </a:lnTo>
                <a:close/>
                <a:moveTo>
                  <a:pt x="224292" y="185569"/>
                </a:moveTo>
                <a:lnTo>
                  <a:pt x="224292" y="99351"/>
                </a:lnTo>
                <a:lnTo>
                  <a:pt x="149649" y="142434"/>
                </a:lnTo>
                <a:lnTo>
                  <a:pt x="149649" y="228652"/>
                </a:lnTo>
                <a:lnTo>
                  <a:pt x="224292" y="18556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2040604" y="6267640"/>
            <a:ext cx="344388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046140" y="6533406"/>
            <a:ext cx="343280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8480" y="7314093"/>
            <a:ext cx="15359041" cy="1384196"/>
          </a:xfrm>
          <a:custGeom>
            <a:avLst/>
            <a:gdLst/>
            <a:ahLst/>
            <a:cxnLst/>
            <a:rect l="l" t="t" r="r" b="b"/>
            <a:pathLst>
              <a:path w="15359041" h="1384196">
                <a:moveTo>
                  <a:pt x="88589" y="0"/>
                </a:moveTo>
                <a:lnTo>
                  <a:pt x="15270452" y="0"/>
                </a:lnTo>
                <a:cubicBezTo>
                  <a:pt x="15319378" y="0"/>
                  <a:pt x="15359041" y="39662"/>
                  <a:pt x="15359041" y="88589"/>
                </a:cubicBezTo>
                <a:lnTo>
                  <a:pt x="15359041" y="1295608"/>
                </a:lnTo>
                <a:cubicBezTo>
                  <a:pt x="15359041" y="1344534"/>
                  <a:pt x="15319378" y="1384196"/>
                  <a:pt x="15270452" y="1384196"/>
                </a:cubicBezTo>
                <a:lnTo>
                  <a:pt x="88589" y="1384196"/>
                </a:lnTo>
                <a:cubicBezTo>
                  <a:pt x="39662" y="1384196"/>
                  <a:pt x="0" y="1344534"/>
                  <a:pt x="0" y="1295608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58877" y="7552174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195665" y="58629"/>
                </a:moveTo>
                <a:lnTo>
                  <a:pt x="158291" y="96003"/>
                </a:lnTo>
                <a:cubicBezTo>
                  <a:pt x="154710" y="99584"/>
                  <a:pt x="149376" y="100635"/>
                  <a:pt x="144705" y="98689"/>
                </a:cubicBezTo>
                <a:cubicBezTo>
                  <a:pt x="140033" y="96742"/>
                  <a:pt x="137035" y="92226"/>
                  <a:pt x="137035" y="87204"/>
                </a:cubicBezTo>
                <a:lnTo>
                  <a:pt x="137035" y="62289"/>
                </a:lnTo>
                <a:lnTo>
                  <a:pt x="12458" y="62289"/>
                </a:lnTo>
                <a:cubicBezTo>
                  <a:pt x="5567" y="62289"/>
                  <a:pt x="0" y="56722"/>
                  <a:pt x="0" y="49831"/>
                </a:cubicBezTo>
                <a:cubicBezTo>
                  <a:pt x="0" y="42940"/>
                  <a:pt x="5567" y="37373"/>
                  <a:pt x="12458" y="37373"/>
                </a:cubicBezTo>
                <a:lnTo>
                  <a:pt x="137035" y="37373"/>
                </a:lnTo>
                <a:lnTo>
                  <a:pt x="137035" y="12458"/>
                </a:lnTo>
                <a:cubicBezTo>
                  <a:pt x="137035" y="7436"/>
                  <a:pt x="140072" y="2881"/>
                  <a:pt x="144744" y="934"/>
                </a:cubicBezTo>
                <a:cubicBezTo>
                  <a:pt x="149415" y="-1012"/>
                  <a:pt x="154749" y="78"/>
                  <a:pt x="158330" y="3621"/>
                </a:cubicBezTo>
                <a:lnTo>
                  <a:pt x="195704" y="40994"/>
                </a:lnTo>
                <a:cubicBezTo>
                  <a:pt x="200570" y="45860"/>
                  <a:pt x="200570" y="53763"/>
                  <a:pt x="195704" y="58629"/>
                </a:cubicBezTo>
                <a:close/>
                <a:moveTo>
                  <a:pt x="40994" y="195665"/>
                </a:moveTo>
                <a:lnTo>
                  <a:pt x="3621" y="158291"/>
                </a:lnTo>
                <a:cubicBezTo>
                  <a:pt x="-1246" y="153425"/>
                  <a:pt x="-1246" y="145522"/>
                  <a:pt x="3621" y="140656"/>
                </a:cubicBezTo>
                <a:lnTo>
                  <a:pt x="40994" y="103283"/>
                </a:lnTo>
                <a:cubicBezTo>
                  <a:pt x="44575" y="99701"/>
                  <a:pt x="49909" y="98650"/>
                  <a:pt x="54581" y="100596"/>
                </a:cubicBezTo>
                <a:cubicBezTo>
                  <a:pt x="59252" y="102543"/>
                  <a:pt x="62289" y="107098"/>
                  <a:pt x="62289" y="112120"/>
                </a:cubicBezTo>
                <a:lnTo>
                  <a:pt x="62289" y="137035"/>
                </a:lnTo>
                <a:lnTo>
                  <a:pt x="186866" y="137035"/>
                </a:lnTo>
                <a:cubicBezTo>
                  <a:pt x="193757" y="137035"/>
                  <a:pt x="199324" y="142602"/>
                  <a:pt x="199324" y="149493"/>
                </a:cubicBezTo>
                <a:cubicBezTo>
                  <a:pt x="199324" y="156384"/>
                  <a:pt x="193757" y="161951"/>
                  <a:pt x="186866" y="161951"/>
                </a:cubicBezTo>
                <a:lnTo>
                  <a:pt x="62289" y="161951"/>
                </a:lnTo>
                <a:lnTo>
                  <a:pt x="62289" y="186866"/>
                </a:lnTo>
                <a:cubicBezTo>
                  <a:pt x="62289" y="191889"/>
                  <a:pt x="59252" y="196443"/>
                  <a:pt x="54581" y="198390"/>
                </a:cubicBezTo>
                <a:cubicBezTo>
                  <a:pt x="49909" y="200336"/>
                  <a:pt x="44575" y="199246"/>
                  <a:pt x="40994" y="19570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85886" y="7496807"/>
            <a:ext cx="14838583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数据流向与交互协议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193" y="7939749"/>
            <a:ext cx="2923422" cy="575826"/>
          </a:xfrm>
          <a:custGeom>
            <a:avLst/>
            <a:gdLst/>
            <a:ahLst/>
            <a:cxnLst/>
            <a:rect l="l" t="t" r="r" b="b"/>
            <a:pathLst>
              <a:path w="2923422" h="575826">
                <a:moveTo>
                  <a:pt x="44293" y="0"/>
                </a:moveTo>
                <a:lnTo>
                  <a:pt x="2879130" y="0"/>
                </a:lnTo>
                <a:cubicBezTo>
                  <a:pt x="2903592" y="0"/>
                  <a:pt x="2923422" y="19830"/>
                  <a:pt x="2923422" y="44293"/>
                </a:cubicBezTo>
                <a:lnTo>
                  <a:pt x="2923422" y="531533"/>
                </a:lnTo>
                <a:cubicBezTo>
                  <a:pt x="2923422" y="555995"/>
                  <a:pt x="2903592" y="575826"/>
                  <a:pt x="2879130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81025" y="8028338"/>
            <a:ext cx="2823760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提交应用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6561" y="8249809"/>
            <a:ext cx="2812687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RM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648568" y="7939749"/>
            <a:ext cx="2923422" cy="575826"/>
          </a:xfrm>
          <a:custGeom>
            <a:avLst/>
            <a:gdLst/>
            <a:ahLst/>
            <a:cxnLst/>
            <a:rect l="l" t="t" r="r" b="b"/>
            <a:pathLst>
              <a:path w="2923422" h="575826">
                <a:moveTo>
                  <a:pt x="44293" y="0"/>
                </a:moveTo>
                <a:lnTo>
                  <a:pt x="2879130" y="0"/>
                </a:lnTo>
                <a:cubicBezTo>
                  <a:pt x="2903592" y="0"/>
                  <a:pt x="2923422" y="19830"/>
                  <a:pt x="2923422" y="44293"/>
                </a:cubicBezTo>
                <a:lnTo>
                  <a:pt x="2923422" y="531533"/>
                </a:lnTo>
                <a:cubicBezTo>
                  <a:pt x="2923422" y="555995"/>
                  <a:pt x="2903592" y="575826"/>
                  <a:pt x="2879130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3698399" y="8028338"/>
            <a:ext cx="2823760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启动AM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703936" y="8249809"/>
            <a:ext cx="2812687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 → AM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665943" y="7939749"/>
            <a:ext cx="2923422" cy="575826"/>
          </a:xfrm>
          <a:custGeom>
            <a:avLst/>
            <a:gdLst/>
            <a:ahLst/>
            <a:cxnLst/>
            <a:rect l="l" t="t" r="r" b="b"/>
            <a:pathLst>
              <a:path w="2923422" h="575826">
                <a:moveTo>
                  <a:pt x="44293" y="0"/>
                </a:moveTo>
                <a:lnTo>
                  <a:pt x="2879130" y="0"/>
                </a:lnTo>
                <a:cubicBezTo>
                  <a:pt x="2903592" y="0"/>
                  <a:pt x="2923422" y="19830"/>
                  <a:pt x="2923422" y="44293"/>
                </a:cubicBezTo>
                <a:lnTo>
                  <a:pt x="2923422" y="531533"/>
                </a:lnTo>
                <a:cubicBezTo>
                  <a:pt x="2923422" y="555995"/>
                  <a:pt x="2903592" y="575826"/>
                  <a:pt x="2879130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715774" y="8028338"/>
            <a:ext cx="2823760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申请资源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21311" y="8249809"/>
            <a:ext cx="2812687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 → RM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683404" y="7939749"/>
            <a:ext cx="2923422" cy="575826"/>
          </a:xfrm>
          <a:custGeom>
            <a:avLst/>
            <a:gdLst/>
            <a:ahLst/>
            <a:cxnLst/>
            <a:rect l="l" t="t" r="r" b="b"/>
            <a:pathLst>
              <a:path w="2923422" h="575826">
                <a:moveTo>
                  <a:pt x="44293" y="0"/>
                </a:moveTo>
                <a:lnTo>
                  <a:pt x="2879130" y="0"/>
                </a:lnTo>
                <a:cubicBezTo>
                  <a:pt x="2903592" y="0"/>
                  <a:pt x="2923422" y="19830"/>
                  <a:pt x="2923422" y="44293"/>
                </a:cubicBezTo>
                <a:lnTo>
                  <a:pt x="2923422" y="531533"/>
                </a:lnTo>
                <a:cubicBezTo>
                  <a:pt x="2923422" y="555995"/>
                  <a:pt x="2903592" y="575826"/>
                  <a:pt x="2879130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9733235" y="8028338"/>
            <a:ext cx="2823760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分配Container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738772" y="8249809"/>
            <a:ext cx="2812687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 → AM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700779" y="7939749"/>
            <a:ext cx="2923422" cy="575826"/>
          </a:xfrm>
          <a:custGeom>
            <a:avLst/>
            <a:gdLst/>
            <a:ahLst/>
            <a:cxnLst/>
            <a:rect l="l" t="t" r="r" b="b"/>
            <a:pathLst>
              <a:path w="2923422" h="575826">
                <a:moveTo>
                  <a:pt x="44293" y="0"/>
                </a:moveTo>
                <a:lnTo>
                  <a:pt x="2879130" y="0"/>
                </a:lnTo>
                <a:cubicBezTo>
                  <a:pt x="2903592" y="0"/>
                  <a:pt x="2923422" y="19830"/>
                  <a:pt x="2923422" y="44293"/>
                </a:cubicBezTo>
                <a:lnTo>
                  <a:pt x="2923422" y="531533"/>
                </a:lnTo>
                <a:cubicBezTo>
                  <a:pt x="2923422" y="555995"/>
                  <a:pt x="2903592" y="575826"/>
                  <a:pt x="2879130" y="575826"/>
                </a:cubicBezTo>
                <a:lnTo>
                  <a:pt x="44293" y="575826"/>
                </a:lnTo>
                <a:cubicBezTo>
                  <a:pt x="19830" y="575826"/>
                  <a:pt x="0" y="555995"/>
                  <a:pt x="0" y="531533"/>
                </a:cubicBezTo>
                <a:lnTo>
                  <a:pt x="0" y="44293"/>
                </a:lnTo>
                <a:cubicBezTo>
                  <a:pt x="0" y="19847"/>
                  <a:pt x="19847" y="0"/>
                  <a:pt x="44293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2750610" y="8028338"/>
            <a:ext cx="2823760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启动任务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756146" y="8249809"/>
            <a:ext cx="2812687" cy="17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 → NM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818" y="461818"/>
            <a:ext cx="1542472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kern="0" spc="73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1818" y="831273"/>
            <a:ext cx="15540182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7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1818" y="1431636"/>
            <a:ext cx="1108364" cy="46182"/>
          </a:xfrm>
          <a:custGeom>
            <a:avLst/>
            <a:gdLst/>
            <a:ahLst/>
            <a:cxnLst/>
            <a:rect l="l" t="t" r="r" b="b"/>
            <a:pathLst>
              <a:path w="1108364" h="46182">
                <a:moveTo>
                  <a:pt x="0" y="0"/>
                </a:moveTo>
                <a:lnTo>
                  <a:pt x="1108364" y="0"/>
                </a:lnTo>
                <a:lnTo>
                  <a:pt x="1108364" y="46182"/>
                </a:lnTo>
                <a:lnTo>
                  <a:pt x="0" y="46182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3364" y="1766455"/>
            <a:ext cx="7550727" cy="3856182"/>
          </a:xfrm>
          <a:custGeom>
            <a:avLst/>
            <a:gdLst/>
            <a:ahLst/>
            <a:cxnLst/>
            <a:rect l="l" t="t" r="r" b="b"/>
            <a:pathLst>
              <a:path w="7550727" h="3856182">
                <a:moveTo>
                  <a:pt x="92356" y="0"/>
                </a:moveTo>
                <a:lnTo>
                  <a:pt x="7458372" y="0"/>
                </a:lnTo>
                <a:cubicBezTo>
                  <a:pt x="7509378" y="0"/>
                  <a:pt x="7550727" y="41349"/>
                  <a:pt x="7550727" y="92356"/>
                </a:cubicBezTo>
                <a:lnTo>
                  <a:pt x="7550727" y="3763826"/>
                </a:lnTo>
                <a:cubicBezTo>
                  <a:pt x="7550727" y="3814833"/>
                  <a:pt x="7509378" y="3856182"/>
                  <a:pt x="7458372" y="3856182"/>
                </a:cubicBezTo>
                <a:lnTo>
                  <a:pt x="92356" y="3856182"/>
                </a:lnTo>
                <a:cubicBezTo>
                  <a:pt x="41349" y="3856182"/>
                  <a:pt x="0" y="3814833"/>
                  <a:pt x="0" y="3763826"/>
                </a:cubicBezTo>
                <a:lnTo>
                  <a:pt x="0" y="92356"/>
                </a:lnTo>
                <a:cubicBezTo>
                  <a:pt x="0" y="41349"/>
                  <a:pt x="41349" y="0"/>
                  <a:pt x="9235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15818" y="2008909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71682" y="2147455"/>
            <a:ext cx="242455" cy="277091"/>
          </a:xfrm>
          <a:custGeom>
            <a:avLst/>
            <a:gdLst/>
            <a:ahLst/>
            <a:cxnLst/>
            <a:rect l="l" t="t" r="r" b="b"/>
            <a:pathLst>
              <a:path w="242455" h="277091">
                <a:moveTo>
                  <a:pt x="34636" y="17318"/>
                </a:moveTo>
                <a:cubicBezTo>
                  <a:pt x="15532" y="17318"/>
                  <a:pt x="0" y="32850"/>
                  <a:pt x="0" y="51955"/>
                </a:cubicBezTo>
                <a:lnTo>
                  <a:pt x="0" y="86591"/>
                </a:lnTo>
                <a:cubicBezTo>
                  <a:pt x="0" y="105695"/>
                  <a:pt x="15532" y="121227"/>
                  <a:pt x="34636" y="121227"/>
                </a:cubicBezTo>
                <a:lnTo>
                  <a:pt x="207818" y="121227"/>
                </a:lnTo>
                <a:cubicBezTo>
                  <a:pt x="226922" y="121227"/>
                  <a:pt x="242455" y="105695"/>
                  <a:pt x="242455" y="86591"/>
                </a:cubicBezTo>
                <a:lnTo>
                  <a:pt x="242455" y="51955"/>
                </a:lnTo>
                <a:cubicBezTo>
                  <a:pt x="242455" y="32850"/>
                  <a:pt x="226922" y="17318"/>
                  <a:pt x="207818" y="17318"/>
                </a:cubicBezTo>
                <a:lnTo>
                  <a:pt x="34636" y="17318"/>
                </a:lnTo>
                <a:close/>
                <a:moveTo>
                  <a:pt x="151534" y="56284"/>
                </a:moveTo>
                <a:cubicBezTo>
                  <a:pt x="158703" y="56284"/>
                  <a:pt x="164523" y="62104"/>
                  <a:pt x="164523" y="69273"/>
                </a:cubicBezTo>
                <a:cubicBezTo>
                  <a:pt x="164523" y="76441"/>
                  <a:pt x="158703" y="82261"/>
                  <a:pt x="151534" y="82261"/>
                </a:cubicBezTo>
                <a:cubicBezTo>
                  <a:pt x="144365" y="82261"/>
                  <a:pt x="138545" y="76441"/>
                  <a:pt x="138545" y="69273"/>
                </a:cubicBezTo>
                <a:cubicBezTo>
                  <a:pt x="138545" y="62104"/>
                  <a:pt x="144365" y="56284"/>
                  <a:pt x="151534" y="56284"/>
                </a:cubicBezTo>
                <a:close/>
                <a:moveTo>
                  <a:pt x="181841" y="69273"/>
                </a:moveTo>
                <a:cubicBezTo>
                  <a:pt x="181841" y="62104"/>
                  <a:pt x="187661" y="56284"/>
                  <a:pt x="194830" y="56284"/>
                </a:cubicBezTo>
                <a:cubicBezTo>
                  <a:pt x="201998" y="56284"/>
                  <a:pt x="207818" y="62104"/>
                  <a:pt x="207818" y="69273"/>
                </a:cubicBezTo>
                <a:cubicBezTo>
                  <a:pt x="207818" y="76441"/>
                  <a:pt x="201998" y="82261"/>
                  <a:pt x="194830" y="82261"/>
                </a:cubicBezTo>
                <a:cubicBezTo>
                  <a:pt x="187661" y="82261"/>
                  <a:pt x="181841" y="76441"/>
                  <a:pt x="181841" y="69273"/>
                </a:cubicBezTo>
                <a:close/>
                <a:moveTo>
                  <a:pt x="34636" y="155864"/>
                </a:moveTo>
                <a:cubicBezTo>
                  <a:pt x="15532" y="155864"/>
                  <a:pt x="0" y="171396"/>
                  <a:pt x="0" y="190500"/>
                </a:cubicBezTo>
                <a:lnTo>
                  <a:pt x="0" y="225136"/>
                </a:lnTo>
                <a:cubicBezTo>
                  <a:pt x="0" y="244240"/>
                  <a:pt x="15532" y="259773"/>
                  <a:pt x="34636" y="259773"/>
                </a:cubicBezTo>
                <a:lnTo>
                  <a:pt x="207818" y="259773"/>
                </a:lnTo>
                <a:cubicBezTo>
                  <a:pt x="226922" y="259773"/>
                  <a:pt x="242455" y="244240"/>
                  <a:pt x="242455" y="225136"/>
                </a:cubicBezTo>
                <a:lnTo>
                  <a:pt x="242455" y="190500"/>
                </a:lnTo>
                <a:cubicBezTo>
                  <a:pt x="242455" y="171396"/>
                  <a:pt x="226922" y="155864"/>
                  <a:pt x="207818" y="155864"/>
                </a:cubicBezTo>
                <a:lnTo>
                  <a:pt x="34636" y="155864"/>
                </a:lnTo>
                <a:close/>
                <a:moveTo>
                  <a:pt x="151534" y="194830"/>
                </a:moveTo>
                <a:cubicBezTo>
                  <a:pt x="158703" y="194830"/>
                  <a:pt x="164523" y="200650"/>
                  <a:pt x="164523" y="207818"/>
                </a:cubicBezTo>
                <a:cubicBezTo>
                  <a:pt x="164523" y="214987"/>
                  <a:pt x="158703" y="220807"/>
                  <a:pt x="151534" y="220807"/>
                </a:cubicBezTo>
                <a:cubicBezTo>
                  <a:pt x="144365" y="220807"/>
                  <a:pt x="138545" y="214987"/>
                  <a:pt x="138545" y="207818"/>
                </a:cubicBezTo>
                <a:cubicBezTo>
                  <a:pt x="138545" y="200650"/>
                  <a:pt x="144365" y="194830"/>
                  <a:pt x="151534" y="194830"/>
                </a:cubicBezTo>
                <a:close/>
                <a:moveTo>
                  <a:pt x="181841" y="207818"/>
                </a:moveTo>
                <a:cubicBezTo>
                  <a:pt x="181841" y="200650"/>
                  <a:pt x="187661" y="194830"/>
                  <a:pt x="194830" y="194830"/>
                </a:cubicBezTo>
                <a:cubicBezTo>
                  <a:pt x="201998" y="194830"/>
                  <a:pt x="207818" y="200650"/>
                  <a:pt x="207818" y="207818"/>
                </a:cubicBezTo>
                <a:cubicBezTo>
                  <a:pt x="207818" y="214987"/>
                  <a:pt x="201998" y="220807"/>
                  <a:pt x="194830" y="220807"/>
                </a:cubicBezTo>
                <a:cubicBezTo>
                  <a:pt x="187661" y="220807"/>
                  <a:pt x="181841" y="214987"/>
                  <a:pt x="181841" y="20781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08545" y="2008909"/>
            <a:ext cx="2032000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8545" y="2332182"/>
            <a:ext cx="1997364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全局资源管理器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5818" y="2701636"/>
            <a:ext cx="7065818" cy="1154545"/>
          </a:xfrm>
          <a:custGeom>
            <a:avLst/>
            <a:gdLst/>
            <a:ahLst/>
            <a:cxnLst/>
            <a:rect l="l" t="t" r="r" b="b"/>
            <a:pathLst>
              <a:path w="7065818" h="1154545">
                <a:moveTo>
                  <a:pt x="46182" y="0"/>
                </a:moveTo>
                <a:lnTo>
                  <a:pt x="7019636" y="0"/>
                </a:lnTo>
                <a:cubicBezTo>
                  <a:pt x="7045142" y="0"/>
                  <a:pt x="7065818" y="20676"/>
                  <a:pt x="7065818" y="46182"/>
                </a:cubicBezTo>
                <a:lnTo>
                  <a:pt x="7065818" y="1108364"/>
                </a:lnTo>
                <a:cubicBezTo>
                  <a:pt x="7065818" y="1133869"/>
                  <a:pt x="7045142" y="1154545"/>
                  <a:pt x="7019636" y="1154545"/>
                </a:cubicBezTo>
                <a:lnTo>
                  <a:pt x="46182" y="1154545"/>
                </a:lnTo>
                <a:cubicBezTo>
                  <a:pt x="20676" y="1154545"/>
                  <a:pt x="0" y="1133869"/>
                  <a:pt x="0" y="1108364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4364" y="2840182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Scheduler (调度器)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4364" y="3163455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纯粹的资源分配引擎，支持多种调度算法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4364" y="3440545"/>
            <a:ext cx="484909" cy="277091"/>
          </a:xfrm>
          <a:custGeom>
            <a:avLst/>
            <a:gdLst/>
            <a:ahLst/>
            <a:cxnLst/>
            <a:rect l="l" t="t" r="r" b="b"/>
            <a:pathLst>
              <a:path w="484909" h="277091">
                <a:moveTo>
                  <a:pt x="46183" y="0"/>
                </a:moveTo>
                <a:lnTo>
                  <a:pt x="438726" y="0"/>
                </a:lnTo>
                <a:cubicBezTo>
                  <a:pt x="464215" y="0"/>
                  <a:pt x="484909" y="20694"/>
                  <a:pt x="484909" y="46183"/>
                </a:cubicBezTo>
                <a:lnTo>
                  <a:pt x="484909" y="230908"/>
                </a:lnTo>
                <a:cubicBezTo>
                  <a:pt x="484909" y="256397"/>
                  <a:pt x="464215" y="277091"/>
                  <a:pt x="438726" y="277091"/>
                </a:cubicBezTo>
                <a:lnTo>
                  <a:pt x="46183" y="277091"/>
                </a:lnTo>
                <a:cubicBezTo>
                  <a:pt x="20694" y="277091"/>
                  <a:pt x="0" y="256397"/>
                  <a:pt x="0" y="230908"/>
                </a:cubicBezTo>
                <a:lnTo>
                  <a:pt x="0" y="46183"/>
                </a:lnTo>
                <a:cubicBezTo>
                  <a:pt x="0" y="20694"/>
                  <a:pt x="20694" y="0"/>
                  <a:pt x="4618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4364" y="3440545"/>
            <a:ext cx="554182" cy="277091"/>
          </a:xfrm>
          <a:prstGeom prst="rect">
            <a:avLst/>
          </a:prstGeom>
          <a:noFill/>
          <a:ln/>
        </p:spPr>
        <p:txBody>
          <a:bodyPr wrap="square" lIns="92364" tIns="46182" rIns="92364" bIns="46182" rtlCol="0" anchor="ctr"/>
          <a:lstStyle/>
          <a:p>
            <a:pPr>
              <a:lnSpc>
                <a:spcPct val="110000"/>
              </a:lnSpc>
            </a:pPr>
            <a:r>
              <a:rPr lang="en-US" sz="109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84192" y="3440545"/>
            <a:ext cx="738909" cy="277091"/>
          </a:xfrm>
          <a:custGeom>
            <a:avLst/>
            <a:gdLst/>
            <a:ahLst/>
            <a:cxnLst/>
            <a:rect l="l" t="t" r="r" b="b"/>
            <a:pathLst>
              <a:path w="738909" h="277091">
                <a:moveTo>
                  <a:pt x="46183" y="0"/>
                </a:moveTo>
                <a:lnTo>
                  <a:pt x="692726" y="0"/>
                </a:lnTo>
                <a:cubicBezTo>
                  <a:pt x="718215" y="0"/>
                  <a:pt x="738909" y="20694"/>
                  <a:pt x="738909" y="46183"/>
                </a:cubicBezTo>
                <a:lnTo>
                  <a:pt x="738909" y="230908"/>
                </a:lnTo>
                <a:cubicBezTo>
                  <a:pt x="738909" y="256397"/>
                  <a:pt x="718215" y="277091"/>
                  <a:pt x="692726" y="277091"/>
                </a:cubicBezTo>
                <a:lnTo>
                  <a:pt x="46183" y="277091"/>
                </a:lnTo>
                <a:cubicBezTo>
                  <a:pt x="20694" y="277091"/>
                  <a:pt x="0" y="256397"/>
                  <a:pt x="0" y="230908"/>
                </a:cubicBezTo>
                <a:lnTo>
                  <a:pt x="0" y="46183"/>
                </a:lnTo>
                <a:cubicBezTo>
                  <a:pt x="0" y="20694"/>
                  <a:pt x="20694" y="0"/>
                  <a:pt x="4618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384192" y="3440545"/>
            <a:ext cx="808182" cy="277091"/>
          </a:xfrm>
          <a:prstGeom prst="rect">
            <a:avLst/>
          </a:prstGeom>
          <a:noFill/>
          <a:ln/>
        </p:spPr>
        <p:txBody>
          <a:bodyPr wrap="square" lIns="92364" tIns="46182" rIns="92364" bIns="46182" rtlCol="0" anchor="ctr"/>
          <a:lstStyle/>
          <a:p>
            <a:pPr>
              <a:lnSpc>
                <a:spcPct val="110000"/>
              </a:lnSpc>
            </a:pPr>
            <a:r>
              <a:rPr lang="en-US" sz="109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68471" y="3440545"/>
            <a:ext cx="427182" cy="277091"/>
          </a:xfrm>
          <a:custGeom>
            <a:avLst/>
            <a:gdLst/>
            <a:ahLst/>
            <a:cxnLst/>
            <a:rect l="l" t="t" r="r" b="b"/>
            <a:pathLst>
              <a:path w="427182" h="277091">
                <a:moveTo>
                  <a:pt x="46183" y="0"/>
                </a:moveTo>
                <a:lnTo>
                  <a:pt x="380999" y="0"/>
                </a:lnTo>
                <a:cubicBezTo>
                  <a:pt x="406488" y="0"/>
                  <a:pt x="427182" y="20694"/>
                  <a:pt x="427182" y="46183"/>
                </a:cubicBezTo>
                <a:lnTo>
                  <a:pt x="427182" y="230908"/>
                </a:lnTo>
                <a:cubicBezTo>
                  <a:pt x="427182" y="256397"/>
                  <a:pt x="406488" y="277091"/>
                  <a:pt x="380999" y="277091"/>
                </a:cubicBezTo>
                <a:lnTo>
                  <a:pt x="46183" y="277091"/>
                </a:lnTo>
                <a:cubicBezTo>
                  <a:pt x="20694" y="277091"/>
                  <a:pt x="0" y="256397"/>
                  <a:pt x="0" y="230908"/>
                </a:cubicBezTo>
                <a:lnTo>
                  <a:pt x="0" y="46183"/>
                </a:lnTo>
                <a:cubicBezTo>
                  <a:pt x="0" y="20694"/>
                  <a:pt x="20694" y="0"/>
                  <a:pt x="4618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168471" y="3440545"/>
            <a:ext cx="496455" cy="277091"/>
          </a:xfrm>
          <a:prstGeom prst="rect">
            <a:avLst/>
          </a:prstGeom>
          <a:noFill/>
          <a:ln/>
        </p:spPr>
        <p:txBody>
          <a:bodyPr wrap="square" lIns="92364" tIns="46182" rIns="92364" bIns="46182" rtlCol="0" anchor="ctr"/>
          <a:lstStyle/>
          <a:p>
            <a:pPr>
              <a:lnSpc>
                <a:spcPct val="110000"/>
              </a:lnSpc>
            </a:pPr>
            <a:r>
              <a:rPr lang="en-US" sz="109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5818" y="3948545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46186" y="0"/>
                </a:moveTo>
                <a:lnTo>
                  <a:pt x="7019633" y="0"/>
                </a:lnTo>
                <a:cubicBezTo>
                  <a:pt x="7045140" y="0"/>
                  <a:pt x="7065818" y="20678"/>
                  <a:pt x="7065818" y="46186"/>
                </a:cubicBezTo>
                <a:lnTo>
                  <a:pt x="7065818" y="785087"/>
                </a:lnTo>
                <a:cubicBezTo>
                  <a:pt x="7065818" y="810595"/>
                  <a:pt x="7045140" y="831273"/>
                  <a:pt x="7019633" y="831273"/>
                </a:cubicBezTo>
                <a:lnTo>
                  <a:pt x="46186" y="831273"/>
                </a:lnTo>
                <a:cubicBezTo>
                  <a:pt x="20678" y="831273"/>
                  <a:pt x="0" y="810595"/>
                  <a:pt x="0" y="785087"/>
                </a:cubicBezTo>
                <a:lnTo>
                  <a:pt x="0" y="46186"/>
                </a:lnTo>
                <a:cubicBezTo>
                  <a:pt x="0" y="20695"/>
                  <a:pt x="20695" y="0"/>
                  <a:pt x="461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4364" y="4087091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ApplicationsManager (应用管理器)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4364" y="4410364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负责应用全生命周期管理，包括AM启动、故障恢复、状态跟踪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31909" y="1766455"/>
            <a:ext cx="7550727" cy="3856182"/>
          </a:xfrm>
          <a:custGeom>
            <a:avLst/>
            <a:gdLst/>
            <a:ahLst/>
            <a:cxnLst/>
            <a:rect l="l" t="t" r="r" b="b"/>
            <a:pathLst>
              <a:path w="7550727" h="3856182">
                <a:moveTo>
                  <a:pt x="92356" y="0"/>
                </a:moveTo>
                <a:lnTo>
                  <a:pt x="7458372" y="0"/>
                </a:lnTo>
                <a:cubicBezTo>
                  <a:pt x="7509378" y="0"/>
                  <a:pt x="7550727" y="41349"/>
                  <a:pt x="7550727" y="92356"/>
                </a:cubicBezTo>
                <a:lnTo>
                  <a:pt x="7550727" y="3763826"/>
                </a:lnTo>
                <a:cubicBezTo>
                  <a:pt x="7550727" y="3814833"/>
                  <a:pt x="7509378" y="3856182"/>
                  <a:pt x="7458372" y="3856182"/>
                </a:cubicBezTo>
                <a:lnTo>
                  <a:pt x="92356" y="3856182"/>
                </a:lnTo>
                <a:cubicBezTo>
                  <a:pt x="41349" y="3856182"/>
                  <a:pt x="0" y="3814833"/>
                  <a:pt x="0" y="3763826"/>
                </a:cubicBezTo>
                <a:lnTo>
                  <a:pt x="0" y="92356"/>
                </a:lnTo>
                <a:cubicBezTo>
                  <a:pt x="0" y="41349"/>
                  <a:pt x="41349" y="0"/>
                  <a:pt x="9235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74364" y="2008909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12909" y="2147455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121390" y="-1353"/>
                </a:moveTo>
                <a:cubicBezTo>
                  <a:pt x="132105" y="-7523"/>
                  <a:pt x="145310" y="-7523"/>
                  <a:pt x="156026" y="-1353"/>
                </a:cubicBezTo>
                <a:lnTo>
                  <a:pt x="251222" y="53578"/>
                </a:lnTo>
                <a:cubicBezTo>
                  <a:pt x="261937" y="59748"/>
                  <a:pt x="268540" y="71221"/>
                  <a:pt x="268540" y="83560"/>
                </a:cubicBezTo>
                <a:lnTo>
                  <a:pt x="268540" y="193422"/>
                </a:lnTo>
                <a:cubicBezTo>
                  <a:pt x="268540" y="205816"/>
                  <a:pt x="261937" y="217235"/>
                  <a:pt x="251222" y="223405"/>
                </a:cubicBezTo>
                <a:lnTo>
                  <a:pt x="156026" y="278444"/>
                </a:lnTo>
                <a:cubicBezTo>
                  <a:pt x="145310" y="284613"/>
                  <a:pt x="132105" y="284613"/>
                  <a:pt x="121390" y="278444"/>
                </a:cubicBezTo>
                <a:lnTo>
                  <a:pt x="26248" y="223513"/>
                </a:lnTo>
                <a:cubicBezTo>
                  <a:pt x="15532" y="217343"/>
                  <a:pt x="8930" y="205870"/>
                  <a:pt x="8930" y="193531"/>
                </a:cubicBezTo>
                <a:lnTo>
                  <a:pt x="8930" y="83668"/>
                </a:lnTo>
                <a:cubicBezTo>
                  <a:pt x="8930" y="71275"/>
                  <a:pt x="15532" y="59856"/>
                  <a:pt x="26248" y="53686"/>
                </a:cubicBezTo>
                <a:lnTo>
                  <a:pt x="121390" y="-1353"/>
                </a:lnTo>
                <a:close/>
                <a:moveTo>
                  <a:pt x="233850" y="193477"/>
                </a:moveTo>
                <a:lnTo>
                  <a:pt x="233850" y="103584"/>
                </a:lnTo>
                <a:lnTo>
                  <a:pt x="156026" y="148503"/>
                </a:lnTo>
                <a:lnTo>
                  <a:pt x="156026" y="238396"/>
                </a:lnTo>
                <a:lnTo>
                  <a:pt x="233850" y="19347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67091" y="2008909"/>
            <a:ext cx="1616364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67091" y="2332182"/>
            <a:ext cx="1581727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节点管理器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74364" y="2701636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46186" y="0"/>
                </a:moveTo>
                <a:lnTo>
                  <a:pt x="7019633" y="0"/>
                </a:lnTo>
                <a:cubicBezTo>
                  <a:pt x="7045140" y="0"/>
                  <a:pt x="7065818" y="20678"/>
                  <a:pt x="7065818" y="46186"/>
                </a:cubicBezTo>
                <a:lnTo>
                  <a:pt x="7065818" y="785087"/>
                </a:lnTo>
                <a:cubicBezTo>
                  <a:pt x="7065818" y="810595"/>
                  <a:pt x="7045140" y="831273"/>
                  <a:pt x="7019633" y="831273"/>
                </a:cubicBezTo>
                <a:lnTo>
                  <a:pt x="46186" y="831273"/>
                </a:lnTo>
                <a:cubicBezTo>
                  <a:pt x="20678" y="831273"/>
                  <a:pt x="0" y="810595"/>
                  <a:pt x="0" y="785087"/>
                </a:cubicBezTo>
                <a:lnTo>
                  <a:pt x="0" y="46186"/>
                </a:lnTo>
                <a:cubicBezTo>
                  <a:pt x="0" y="20695"/>
                  <a:pt x="20695" y="0"/>
                  <a:pt x="461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12909" y="2840182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容器生命周期管理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12909" y="3163455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负责容器的启动、监控、清理等完整生命周期管理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74364" y="3625273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46186" y="0"/>
                </a:moveTo>
                <a:lnTo>
                  <a:pt x="7019633" y="0"/>
                </a:lnTo>
                <a:cubicBezTo>
                  <a:pt x="7045140" y="0"/>
                  <a:pt x="7065818" y="20678"/>
                  <a:pt x="7065818" y="46186"/>
                </a:cubicBezTo>
                <a:lnTo>
                  <a:pt x="7065818" y="785087"/>
                </a:lnTo>
                <a:cubicBezTo>
                  <a:pt x="7065818" y="810595"/>
                  <a:pt x="7045140" y="831273"/>
                  <a:pt x="7019633" y="831273"/>
                </a:cubicBezTo>
                <a:lnTo>
                  <a:pt x="46186" y="831273"/>
                </a:lnTo>
                <a:cubicBezTo>
                  <a:pt x="20678" y="831273"/>
                  <a:pt x="0" y="810595"/>
                  <a:pt x="0" y="785087"/>
                </a:cubicBezTo>
                <a:lnTo>
                  <a:pt x="0" y="46186"/>
                </a:lnTo>
                <a:cubicBezTo>
                  <a:pt x="0" y="20695"/>
                  <a:pt x="20695" y="0"/>
                  <a:pt x="461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12909" y="3763818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资源监控与健康检查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12909" y="4087091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持续监控CPU、内存、磁盘、网络等关键指标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74364" y="4548909"/>
            <a:ext cx="7065818" cy="831273"/>
          </a:xfrm>
          <a:custGeom>
            <a:avLst/>
            <a:gdLst/>
            <a:ahLst/>
            <a:cxnLst/>
            <a:rect l="l" t="t" r="r" b="b"/>
            <a:pathLst>
              <a:path w="7065818" h="831273">
                <a:moveTo>
                  <a:pt x="46186" y="0"/>
                </a:moveTo>
                <a:lnTo>
                  <a:pt x="7019633" y="0"/>
                </a:lnTo>
                <a:cubicBezTo>
                  <a:pt x="7045140" y="0"/>
                  <a:pt x="7065818" y="20678"/>
                  <a:pt x="7065818" y="46186"/>
                </a:cubicBezTo>
                <a:lnTo>
                  <a:pt x="7065818" y="785087"/>
                </a:lnTo>
                <a:cubicBezTo>
                  <a:pt x="7065818" y="810595"/>
                  <a:pt x="7045140" y="831273"/>
                  <a:pt x="7019633" y="831273"/>
                </a:cubicBezTo>
                <a:lnTo>
                  <a:pt x="46186" y="831273"/>
                </a:lnTo>
                <a:cubicBezTo>
                  <a:pt x="20678" y="831273"/>
                  <a:pt x="0" y="810595"/>
                  <a:pt x="0" y="785087"/>
                </a:cubicBezTo>
                <a:lnTo>
                  <a:pt x="0" y="46186"/>
                </a:lnTo>
                <a:cubicBezTo>
                  <a:pt x="0" y="20695"/>
                  <a:pt x="20695" y="0"/>
                  <a:pt x="461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12909" y="4687455"/>
            <a:ext cx="688109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本地服务支持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12909" y="5010727"/>
            <a:ext cx="6869545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提供日志聚合、文件本地化、安全认证等服务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3364" y="5784273"/>
            <a:ext cx="7550727" cy="2886364"/>
          </a:xfrm>
          <a:custGeom>
            <a:avLst/>
            <a:gdLst/>
            <a:ahLst/>
            <a:cxnLst/>
            <a:rect l="l" t="t" r="r" b="b"/>
            <a:pathLst>
              <a:path w="7550727" h="2886364">
                <a:moveTo>
                  <a:pt x="92364" y="0"/>
                </a:moveTo>
                <a:lnTo>
                  <a:pt x="7458364" y="0"/>
                </a:lnTo>
                <a:cubicBezTo>
                  <a:pt x="7509375" y="0"/>
                  <a:pt x="7550727" y="41353"/>
                  <a:pt x="7550727" y="92364"/>
                </a:cubicBezTo>
                <a:lnTo>
                  <a:pt x="7550727" y="2794000"/>
                </a:lnTo>
                <a:cubicBezTo>
                  <a:pt x="7550727" y="2845011"/>
                  <a:pt x="7509375" y="2886364"/>
                  <a:pt x="7458364" y="2886364"/>
                </a:cubicBezTo>
                <a:lnTo>
                  <a:pt x="92364" y="2886364"/>
                </a:lnTo>
                <a:cubicBezTo>
                  <a:pt x="41353" y="2886364"/>
                  <a:pt x="0" y="2845011"/>
                  <a:pt x="0" y="2794000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15818" y="6026727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19727" y="6165273"/>
            <a:ext cx="346364" cy="277091"/>
          </a:xfrm>
          <a:custGeom>
            <a:avLst/>
            <a:gdLst/>
            <a:ahLst/>
            <a:cxnLst/>
            <a:rect l="l" t="t" r="r" b="b"/>
            <a:pathLst>
              <a:path w="346364" h="277091">
                <a:moveTo>
                  <a:pt x="225082" y="113921"/>
                </a:moveTo>
                <a:cubicBezTo>
                  <a:pt x="231685" y="112135"/>
                  <a:pt x="238612" y="115274"/>
                  <a:pt x="241589" y="121390"/>
                </a:cubicBezTo>
                <a:lnTo>
                  <a:pt x="251655" y="141738"/>
                </a:lnTo>
                <a:cubicBezTo>
                  <a:pt x="257229" y="142496"/>
                  <a:pt x="262695" y="144012"/>
                  <a:pt x="267837" y="146122"/>
                </a:cubicBezTo>
                <a:lnTo>
                  <a:pt x="286778" y="133512"/>
                </a:lnTo>
                <a:cubicBezTo>
                  <a:pt x="292461" y="129724"/>
                  <a:pt x="299983" y="130482"/>
                  <a:pt x="304800" y="135298"/>
                </a:cubicBezTo>
                <a:lnTo>
                  <a:pt x="315191" y="145689"/>
                </a:lnTo>
                <a:cubicBezTo>
                  <a:pt x="320008" y="150506"/>
                  <a:pt x="320765" y="158083"/>
                  <a:pt x="316977" y="163711"/>
                </a:cubicBezTo>
                <a:lnTo>
                  <a:pt x="304367" y="182599"/>
                </a:lnTo>
                <a:cubicBezTo>
                  <a:pt x="305395" y="185142"/>
                  <a:pt x="306315" y="187794"/>
                  <a:pt x="307073" y="190554"/>
                </a:cubicBezTo>
                <a:cubicBezTo>
                  <a:pt x="307831" y="193314"/>
                  <a:pt x="308318" y="196020"/>
                  <a:pt x="308697" y="198780"/>
                </a:cubicBezTo>
                <a:lnTo>
                  <a:pt x="329100" y="208846"/>
                </a:lnTo>
                <a:cubicBezTo>
                  <a:pt x="335215" y="211877"/>
                  <a:pt x="338354" y="218804"/>
                  <a:pt x="336568" y="225353"/>
                </a:cubicBezTo>
                <a:lnTo>
                  <a:pt x="332780" y="239532"/>
                </a:lnTo>
                <a:cubicBezTo>
                  <a:pt x="330994" y="246081"/>
                  <a:pt x="324878" y="250518"/>
                  <a:pt x="318059" y="250085"/>
                </a:cubicBezTo>
                <a:lnTo>
                  <a:pt x="295329" y="248624"/>
                </a:lnTo>
                <a:cubicBezTo>
                  <a:pt x="291920" y="253008"/>
                  <a:pt x="287969" y="257067"/>
                  <a:pt x="283477" y="260530"/>
                </a:cubicBezTo>
                <a:lnTo>
                  <a:pt x="284938" y="283206"/>
                </a:lnTo>
                <a:cubicBezTo>
                  <a:pt x="285371" y="290025"/>
                  <a:pt x="280933" y="296195"/>
                  <a:pt x="274385" y="297927"/>
                </a:cubicBezTo>
                <a:lnTo>
                  <a:pt x="260206" y="301715"/>
                </a:lnTo>
                <a:cubicBezTo>
                  <a:pt x="253603" y="303501"/>
                  <a:pt x="246730" y="300362"/>
                  <a:pt x="243699" y="294247"/>
                </a:cubicBezTo>
                <a:lnTo>
                  <a:pt x="233633" y="273898"/>
                </a:lnTo>
                <a:cubicBezTo>
                  <a:pt x="228059" y="273140"/>
                  <a:pt x="222593" y="271625"/>
                  <a:pt x="217451" y="269514"/>
                </a:cubicBezTo>
                <a:lnTo>
                  <a:pt x="198510" y="282124"/>
                </a:lnTo>
                <a:cubicBezTo>
                  <a:pt x="192827" y="285912"/>
                  <a:pt x="185305" y="285155"/>
                  <a:pt x="180488" y="280338"/>
                </a:cubicBezTo>
                <a:lnTo>
                  <a:pt x="170097" y="269947"/>
                </a:lnTo>
                <a:cubicBezTo>
                  <a:pt x="165280" y="265131"/>
                  <a:pt x="164523" y="257608"/>
                  <a:pt x="168311" y="251925"/>
                </a:cubicBezTo>
                <a:lnTo>
                  <a:pt x="180921" y="232984"/>
                </a:lnTo>
                <a:cubicBezTo>
                  <a:pt x="179893" y="230440"/>
                  <a:pt x="178973" y="227788"/>
                  <a:pt x="178215" y="225028"/>
                </a:cubicBezTo>
                <a:cubicBezTo>
                  <a:pt x="177457" y="222268"/>
                  <a:pt x="176970" y="219508"/>
                  <a:pt x="176591" y="216802"/>
                </a:cubicBezTo>
                <a:lnTo>
                  <a:pt x="156188" y="206736"/>
                </a:lnTo>
                <a:cubicBezTo>
                  <a:pt x="150073" y="203705"/>
                  <a:pt x="146988" y="196778"/>
                  <a:pt x="148720" y="190229"/>
                </a:cubicBezTo>
                <a:lnTo>
                  <a:pt x="152508" y="176050"/>
                </a:lnTo>
                <a:cubicBezTo>
                  <a:pt x="154294" y="169502"/>
                  <a:pt x="160410" y="165064"/>
                  <a:pt x="167229" y="165497"/>
                </a:cubicBezTo>
                <a:lnTo>
                  <a:pt x="189905" y="166958"/>
                </a:lnTo>
                <a:cubicBezTo>
                  <a:pt x="193314" y="162574"/>
                  <a:pt x="197265" y="158515"/>
                  <a:pt x="201757" y="155052"/>
                </a:cubicBezTo>
                <a:lnTo>
                  <a:pt x="200296" y="132430"/>
                </a:lnTo>
                <a:cubicBezTo>
                  <a:pt x="199863" y="125611"/>
                  <a:pt x="204300" y="119441"/>
                  <a:pt x="210849" y="117710"/>
                </a:cubicBezTo>
                <a:lnTo>
                  <a:pt x="225028" y="113921"/>
                </a:lnTo>
                <a:close/>
                <a:moveTo>
                  <a:pt x="242671" y="184006"/>
                </a:moveTo>
                <a:cubicBezTo>
                  <a:pt x="229529" y="184021"/>
                  <a:pt x="218871" y="194703"/>
                  <a:pt x="218886" y="207845"/>
                </a:cubicBezTo>
                <a:cubicBezTo>
                  <a:pt x="218901" y="220988"/>
                  <a:pt x="229583" y="231646"/>
                  <a:pt x="242725" y="231631"/>
                </a:cubicBezTo>
                <a:cubicBezTo>
                  <a:pt x="255868" y="231616"/>
                  <a:pt x="266526" y="220934"/>
                  <a:pt x="266511" y="207791"/>
                </a:cubicBezTo>
                <a:cubicBezTo>
                  <a:pt x="266496" y="194649"/>
                  <a:pt x="255813" y="183991"/>
                  <a:pt x="242671" y="184006"/>
                </a:cubicBezTo>
                <a:close/>
                <a:moveTo>
                  <a:pt x="121714" y="-24624"/>
                </a:moveTo>
                <a:lnTo>
                  <a:pt x="135894" y="-20836"/>
                </a:lnTo>
                <a:cubicBezTo>
                  <a:pt x="142442" y="-19050"/>
                  <a:pt x="146880" y="-12880"/>
                  <a:pt x="146447" y="-6115"/>
                </a:cubicBezTo>
                <a:lnTo>
                  <a:pt x="144986" y="16506"/>
                </a:lnTo>
                <a:cubicBezTo>
                  <a:pt x="149478" y="19970"/>
                  <a:pt x="153428" y="23975"/>
                  <a:pt x="156838" y="28413"/>
                </a:cubicBezTo>
                <a:lnTo>
                  <a:pt x="179568" y="26951"/>
                </a:lnTo>
                <a:cubicBezTo>
                  <a:pt x="186333" y="26518"/>
                  <a:pt x="192502" y="30956"/>
                  <a:pt x="194288" y="37505"/>
                </a:cubicBezTo>
                <a:lnTo>
                  <a:pt x="198077" y="51684"/>
                </a:lnTo>
                <a:cubicBezTo>
                  <a:pt x="199809" y="58232"/>
                  <a:pt x="196724" y="65160"/>
                  <a:pt x="190608" y="68190"/>
                </a:cubicBezTo>
                <a:lnTo>
                  <a:pt x="170205" y="78257"/>
                </a:lnTo>
                <a:cubicBezTo>
                  <a:pt x="169826" y="81017"/>
                  <a:pt x="169285" y="83777"/>
                  <a:pt x="168582" y="86483"/>
                </a:cubicBezTo>
                <a:cubicBezTo>
                  <a:pt x="167878" y="89189"/>
                  <a:pt x="166904" y="91895"/>
                  <a:pt x="165876" y="94438"/>
                </a:cubicBezTo>
                <a:lnTo>
                  <a:pt x="178486" y="113380"/>
                </a:lnTo>
                <a:cubicBezTo>
                  <a:pt x="182274" y="119062"/>
                  <a:pt x="181516" y="126585"/>
                  <a:pt x="176700" y="131402"/>
                </a:cubicBezTo>
                <a:lnTo>
                  <a:pt x="166309" y="141793"/>
                </a:lnTo>
                <a:cubicBezTo>
                  <a:pt x="161492" y="146609"/>
                  <a:pt x="153969" y="147367"/>
                  <a:pt x="148287" y="143579"/>
                </a:cubicBezTo>
                <a:lnTo>
                  <a:pt x="129345" y="130969"/>
                </a:lnTo>
                <a:cubicBezTo>
                  <a:pt x="124204" y="133079"/>
                  <a:pt x="118738" y="134595"/>
                  <a:pt x="113163" y="135352"/>
                </a:cubicBezTo>
                <a:lnTo>
                  <a:pt x="103097" y="155701"/>
                </a:lnTo>
                <a:cubicBezTo>
                  <a:pt x="100067" y="161817"/>
                  <a:pt x="93139" y="164902"/>
                  <a:pt x="86591" y="163170"/>
                </a:cubicBezTo>
                <a:lnTo>
                  <a:pt x="72412" y="159381"/>
                </a:lnTo>
                <a:cubicBezTo>
                  <a:pt x="65809" y="157595"/>
                  <a:pt x="61425" y="151426"/>
                  <a:pt x="61858" y="144661"/>
                </a:cubicBezTo>
                <a:lnTo>
                  <a:pt x="63320" y="121985"/>
                </a:lnTo>
                <a:cubicBezTo>
                  <a:pt x="58828" y="118521"/>
                  <a:pt x="54877" y="114516"/>
                  <a:pt x="51467" y="110079"/>
                </a:cubicBezTo>
                <a:lnTo>
                  <a:pt x="28737" y="111540"/>
                </a:lnTo>
                <a:cubicBezTo>
                  <a:pt x="21972" y="111973"/>
                  <a:pt x="15803" y="107535"/>
                  <a:pt x="14017" y="100987"/>
                </a:cubicBezTo>
                <a:lnTo>
                  <a:pt x="10229" y="86807"/>
                </a:lnTo>
                <a:cubicBezTo>
                  <a:pt x="8497" y="80259"/>
                  <a:pt x="11582" y="73332"/>
                  <a:pt x="17697" y="70301"/>
                </a:cubicBezTo>
                <a:lnTo>
                  <a:pt x="38100" y="60235"/>
                </a:lnTo>
                <a:cubicBezTo>
                  <a:pt x="38479" y="57475"/>
                  <a:pt x="39020" y="54769"/>
                  <a:pt x="39724" y="52009"/>
                </a:cubicBezTo>
                <a:cubicBezTo>
                  <a:pt x="40481" y="49249"/>
                  <a:pt x="41347" y="46597"/>
                  <a:pt x="42430" y="44053"/>
                </a:cubicBezTo>
                <a:lnTo>
                  <a:pt x="29820" y="25165"/>
                </a:lnTo>
                <a:cubicBezTo>
                  <a:pt x="26031" y="19483"/>
                  <a:pt x="26789" y="11960"/>
                  <a:pt x="31606" y="7144"/>
                </a:cubicBezTo>
                <a:lnTo>
                  <a:pt x="41997" y="-3247"/>
                </a:lnTo>
                <a:cubicBezTo>
                  <a:pt x="46813" y="-8064"/>
                  <a:pt x="54336" y="-8821"/>
                  <a:pt x="60018" y="-5033"/>
                </a:cubicBezTo>
                <a:lnTo>
                  <a:pt x="78960" y="7577"/>
                </a:lnTo>
                <a:cubicBezTo>
                  <a:pt x="84101" y="5466"/>
                  <a:pt x="89567" y="3951"/>
                  <a:pt x="95142" y="3193"/>
                </a:cubicBezTo>
                <a:lnTo>
                  <a:pt x="105208" y="-17156"/>
                </a:lnTo>
                <a:cubicBezTo>
                  <a:pt x="108239" y="-23271"/>
                  <a:pt x="115112" y="-26356"/>
                  <a:pt x="121714" y="-24624"/>
                </a:cubicBezTo>
                <a:close/>
                <a:moveTo>
                  <a:pt x="104126" y="45460"/>
                </a:moveTo>
                <a:cubicBezTo>
                  <a:pt x="90983" y="45460"/>
                  <a:pt x="80313" y="56130"/>
                  <a:pt x="80313" y="69273"/>
                </a:cubicBezTo>
                <a:cubicBezTo>
                  <a:pt x="80313" y="82415"/>
                  <a:pt x="90983" y="93085"/>
                  <a:pt x="104126" y="93085"/>
                </a:cubicBezTo>
                <a:cubicBezTo>
                  <a:pt x="117268" y="93085"/>
                  <a:pt x="127938" y="82415"/>
                  <a:pt x="127938" y="69273"/>
                </a:cubicBezTo>
                <a:cubicBezTo>
                  <a:pt x="127938" y="56130"/>
                  <a:pt x="117268" y="45460"/>
                  <a:pt x="104126" y="4546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408545" y="6026727"/>
            <a:ext cx="2032000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08545" y="6350000"/>
            <a:ext cx="1997364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应用主控器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7364" y="6765636"/>
            <a:ext cx="207818" cy="184727"/>
          </a:xfrm>
          <a:custGeom>
            <a:avLst/>
            <a:gdLst/>
            <a:ahLst/>
            <a:cxnLst/>
            <a:rect l="l" t="t" r="r" b="b"/>
            <a:pathLst>
              <a:path w="207818" h="184727">
                <a:moveTo>
                  <a:pt x="97018" y="30740"/>
                </a:moveTo>
                <a:lnTo>
                  <a:pt x="54949" y="77499"/>
                </a:lnTo>
                <a:cubicBezTo>
                  <a:pt x="53289" y="79339"/>
                  <a:pt x="53362" y="82189"/>
                  <a:pt x="55130" y="83957"/>
                </a:cubicBezTo>
                <a:cubicBezTo>
                  <a:pt x="66134" y="94961"/>
                  <a:pt x="83993" y="94961"/>
                  <a:pt x="94997" y="83957"/>
                </a:cubicBezTo>
                <a:lnTo>
                  <a:pt x="106471" y="72484"/>
                </a:lnTo>
                <a:cubicBezTo>
                  <a:pt x="107986" y="70968"/>
                  <a:pt x="109898" y="70139"/>
                  <a:pt x="111847" y="69994"/>
                </a:cubicBezTo>
                <a:cubicBezTo>
                  <a:pt x="114300" y="69778"/>
                  <a:pt x="116826" y="70608"/>
                  <a:pt x="118702" y="72484"/>
                </a:cubicBezTo>
                <a:lnTo>
                  <a:pt x="182418" y="135659"/>
                </a:lnTo>
                <a:lnTo>
                  <a:pt x="207818" y="115455"/>
                </a:lnTo>
                <a:lnTo>
                  <a:pt x="207818" y="11545"/>
                </a:lnTo>
                <a:lnTo>
                  <a:pt x="167409" y="34636"/>
                </a:lnTo>
                <a:lnTo>
                  <a:pt x="158822" y="28900"/>
                </a:lnTo>
                <a:cubicBezTo>
                  <a:pt x="153122" y="25111"/>
                  <a:pt x="146447" y="23091"/>
                  <a:pt x="139592" y="23091"/>
                </a:cubicBezTo>
                <a:lnTo>
                  <a:pt x="114192" y="23091"/>
                </a:lnTo>
                <a:cubicBezTo>
                  <a:pt x="113795" y="23091"/>
                  <a:pt x="113362" y="23091"/>
                  <a:pt x="112965" y="23127"/>
                </a:cubicBezTo>
                <a:cubicBezTo>
                  <a:pt x="106868" y="23452"/>
                  <a:pt x="101131" y="26194"/>
                  <a:pt x="97018" y="30740"/>
                </a:cubicBezTo>
                <a:close/>
                <a:moveTo>
                  <a:pt x="42069" y="65917"/>
                </a:moveTo>
                <a:lnTo>
                  <a:pt x="80602" y="23091"/>
                </a:lnTo>
                <a:lnTo>
                  <a:pt x="66314" y="23091"/>
                </a:lnTo>
                <a:cubicBezTo>
                  <a:pt x="57114" y="23091"/>
                  <a:pt x="48311" y="26735"/>
                  <a:pt x="41816" y="33229"/>
                </a:cubicBezTo>
                <a:lnTo>
                  <a:pt x="40409" y="34636"/>
                </a:lnTo>
                <a:lnTo>
                  <a:pt x="0" y="11545"/>
                </a:lnTo>
                <a:lnTo>
                  <a:pt x="0" y="115455"/>
                </a:lnTo>
                <a:lnTo>
                  <a:pt x="56428" y="162466"/>
                </a:lnTo>
                <a:cubicBezTo>
                  <a:pt x="64727" y="169393"/>
                  <a:pt x="75190" y="173182"/>
                  <a:pt x="85978" y="173182"/>
                </a:cubicBezTo>
                <a:lnTo>
                  <a:pt x="91642" y="173182"/>
                </a:lnTo>
                <a:lnTo>
                  <a:pt x="89116" y="170656"/>
                </a:lnTo>
                <a:cubicBezTo>
                  <a:pt x="85725" y="167265"/>
                  <a:pt x="85725" y="161781"/>
                  <a:pt x="89116" y="158425"/>
                </a:cubicBezTo>
                <a:cubicBezTo>
                  <a:pt x="92508" y="155070"/>
                  <a:pt x="97992" y="155034"/>
                  <a:pt x="101347" y="158425"/>
                </a:cubicBezTo>
                <a:lnTo>
                  <a:pt x="116140" y="173218"/>
                </a:lnTo>
                <a:lnTo>
                  <a:pt x="119387" y="173218"/>
                </a:lnTo>
                <a:cubicBezTo>
                  <a:pt x="126278" y="173218"/>
                  <a:pt x="133025" y="171666"/>
                  <a:pt x="139159" y="168780"/>
                </a:cubicBezTo>
                <a:lnTo>
                  <a:pt x="129526" y="159111"/>
                </a:lnTo>
                <a:cubicBezTo>
                  <a:pt x="126134" y="155719"/>
                  <a:pt x="126134" y="150235"/>
                  <a:pt x="129526" y="146880"/>
                </a:cubicBezTo>
                <a:cubicBezTo>
                  <a:pt x="132917" y="143524"/>
                  <a:pt x="138401" y="143488"/>
                  <a:pt x="141757" y="146880"/>
                </a:cubicBezTo>
                <a:lnTo>
                  <a:pt x="153302" y="158425"/>
                </a:lnTo>
                <a:lnTo>
                  <a:pt x="159616" y="152111"/>
                </a:lnTo>
                <a:cubicBezTo>
                  <a:pt x="162827" y="148900"/>
                  <a:pt x="163765" y="144246"/>
                  <a:pt x="162358" y="140169"/>
                </a:cubicBezTo>
                <a:lnTo>
                  <a:pt x="112604" y="90812"/>
                </a:lnTo>
                <a:lnTo>
                  <a:pt x="107228" y="96188"/>
                </a:lnTo>
                <a:cubicBezTo>
                  <a:pt x="89441" y="113975"/>
                  <a:pt x="60650" y="113975"/>
                  <a:pt x="42863" y="96188"/>
                </a:cubicBezTo>
                <a:cubicBezTo>
                  <a:pt x="34564" y="87890"/>
                  <a:pt x="34239" y="74576"/>
                  <a:pt x="42069" y="6588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39091" y="6719455"/>
            <a:ext cx="356754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资源协商与管理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9091" y="6996545"/>
            <a:ext cx="3556000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根据应用需求向RM请求资源，实时调整资源配置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8909" y="7366000"/>
            <a:ext cx="184727" cy="184727"/>
          </a:xfrm>
          <a:custGeom>
            <a:avLst/>
            <a:gdLst/>
            <a:ahLst/>
            <a:cxnLst/>
            <a:rect l="l" t="t" r="r" b="b"/>
            <a:pathLst>
              <a:path w="184727" h="184727">
                <a:moveTo>
                  <a:pt x="48274" y="13097"/>
                </a:moveTo>
                <a:cubicBezTo>
                  <a:pt x="52207" y="15839"/>
                  <a:pt x="53145" y="21251"/>
                  <a:pt x="50403" y="25147"/>
                </a:cubicBezTo>
                <a:lnTo>
                  <a:pt x="30199" y="54011"/>
                </a:lnTo>
                <a:cubicBezTo>
                  <a:pt x="28719" y="56104"/>
                  <a:pt x="26410" y="57439"/>
                  <a:pt x="23849" y="57655"/>
                </a:cubicBezTo>
                <a:cubicBezTo>
                  <a:pt x="21287" y="57872"/>
                  <a:pt x="18761" y="57006"/>
                  <a:pt x="16957" y="55202"/>
                </a:cubicBezTo>
                <a:lnTo>
                  <a:pt x="2526" y="40770"/>
                </a:lnTo>
                <a:cubicBezTo>
                  <a:pt x="-830" y="37378"/>
                  <a:pt x="-830" y="31894"/>
                  <a:pt x="2526" y="28503"/>
                </a:cubicBezTo>
                <a:cubicBezTo>
                  <a:pt x="5881" y="25111"/>
                  <a:pt x="11401" y="25147"/>
                  <a:pt x="14793" y="28503"/>
                </a:cubicBezTo>
                <a:lnTo>
                  <a:pt x="21936" y="35647"/>
                </a:lnTo>
                <a:lnTo>
                  <a:pt x="36224" y="15226"/>
                </a:lnTo>
                <a:cubicBezTo>
                  <a:pt x="38966" y="11293"/>
                  <a:pt x="44378" y="10355"/>
                  <a:pt x="48274" y="13097"/>
                </a:cubicBezTo>
                <a:close/>
                <a:moveTo>
                  <a:pt x="48274" y="70824"/>
                </a:moveTo>
                <a:cubicBezTo>
                  <a:pt x="52207" y="73566"/>
                  <a:pt x="53145" y="78978"/>
                  <a:pt x="50403" y="82875"/>
                </a:cubicBezTo>
                <a:lnTo>
                  <a:pt x="30199" y="111738"/>
                </a:lnTo>
                <a:cubicBezTo>
                  <a:pt x="28719" y="113831"/>
                  <a:pt x="26410" y="115166"/>
                  <a:pt x="23849" y="115382"/>
                </a:cubicBezTo>
                <a:cubicBezTo>
                  <a:pt x="21287" y="115599"/>
                  <a:pt x="18761" y="114733"/>
                  <a:pt x="16957" y="112929"/>
                </a:cubicBezTo>
                <a:lnTo>
                  <a:pt x="2526" y="98497"/>
                </a:lnTo>
                <a:cubicBezTo>
                  <a:pt x="-866" y="95106"/>
                  <a:pt x="-866" y="89622"/>
                  <a:pt x="2526" y="86266"/>
                </a:cubicBezTo>
                <a:cubicBezTo>
                  <a:pt x="5917" y="82911"/>
                  <a:pt x="11401" y="82875"/>
                  <a:pt x="14757" y="86266"/>
                </a:cubicBezTo>
                <a:lnTo>
                  <a:pt x="21900" y="93410"/>
                </a:lnTo>
                <a:lnTo>
                  <a:pt x="36188" y="72989"/>
                </a:lnTo>
                <a:cubicBezTo>
                  <a:pt x="38930" y="69056"/>
                  <a:pt x="44342" y="68118"/>
                  <a:pt x="48238" y="70860"/>
                </a:cubicBezTo>
                <a:close/>
                <a:moveTo>
                  <a:pt x="80818" y="34636"/>
                </a:moveTo>
                <a:cubicBezTo>
                  <a:pt x="80818" y="28250"/>
                  <a:pt x="85978" y="23091"/>
                  <a:pt x="92364" y="23091"/>
                </a:cubicBezTo>
                <a:lnTo>
                  <a:pt x="173182" y="23091"/>
                </a:lnTo>
                <a:cubicBezTo>
                  <a:pt x="179568" y="23091"/>
                  <a:pt x="184727" y="28250"/>
                  <a:pt x="184727" y="34636"/>
                </a:cubicBezTo>
                <a:cubicBezTo>
                  <a:pt x="184727" y="41022"/>
                  <a:pt x="179568" y="46182"/>
                  <a:pt x="173182" y="46182"/>
                </a:cubicBezTo>
                <a:lnTo>
                  <a:pt x="92364" y="46182"/>
                </a:lnTo>
                <a:cubicBezTo>
                  <a:pt x="85978" y="46182"/>
                  <a:pt x="80818" y="41022"/>
                  <a:pt x="80818" y="34636"/>
                </a:cubicBezTo>
                <a:close/>
                <a:moveTo>
                  <a:pt x="80818" y="92364"/>
                </a:moveTo>
                <a:cubicBezTo>
                  <a:pt x="80818" y="85978"/>
                  <a:pt x="85978" y="80818"/>
                  <a:pt x="92364" y="80818"/>
                </a:cubicBezTo>
                <a:lnTo>
                  <a:pt x="173182" y="80818"/>
                </a:lnTo>
                <a:cubicBezTo>
                  <a:pt x="179568" y="80818"/>
                  <a:pt x="184727" y="85978"/>
                  <a:pt x="184727" y="92364"/>
                </a:cubicBezTo>
                <a:cubicBezTo>
                  <a:pt x="184727" y="98750"/>
                  <a:pt x="179568" y="103909"/>
                  <a:pt x="173182" y="103909"/>
                </a:cubicBezTo>
                <a:lnTo>
                  <a:pt x="92364" y="103909"/>
                </a:lnTo>
                <a:cubicBezTo>
                  <a:pt x="85978" y="103909"/>
                  <a:pt x="80818" y="98750"/>
                  <a:pt x="80818" y="92364"/>
                </a:cubicBezTo>
                <a:close/>
                <a:moveTo>
                  <a:pt x="57727" y="150091"/>
                </a:moveTo>
                <a:cubicBezTo>
                  <a:pt x="57727" y="143705"/>
                  <a:pt x="62887" y="138545"/>
                  <a:pt x="69273" y="138545"/>
                </a:cubicBezTo>
                <a:lnTo>
                  <a:pt x="173182" y="138545"/>
                </a:lnTo>
                <a:cubicBezTo>
                  <a:pt x="179568" y="138545"/>
                  <a:pt x="184727" y="143705"/>
                  <a:pt x="184727" y="150091"/>
                </a:cubicBezTo>
                <a:cubicBezTo>
                  <a:pt x="184727" y="156477"/>
                  <a:pt x="179568" y="161636"/>
                  <a:pt x="173182" y="161636"/>
                </a:cubicBezTo>
                <a:lnTo>
                  <a:pt x="69273" y="161636"/>
                </a:lnTo>
                <a:cubicBezTo>
                  <a:pt x="62887" y="161636"/>
                  <a:pt x="57727" y="156477"/>
                  <a:pt x="57727" y="150091"/>
                </a:cubicBezTo>
                <a:close/>
                <a:moveTo>
                  <a:pt x="23091" y="135659"/>
                </a:moveTo>
                <a:cubicBezTo>
                  <a:pt x="31056" y="135659"/>
                  <a:pt x="37523" y="142126"/>
                  <a:pt x="37523" y="150091"/>
                </a:cubicBezTo>
                <a:cubicBezTo>
                  <a:pt x="37523" y="158056"/>
                  <a:pt x="31056" y="164523"/>
                  <a:pt x="23091" y="164523"/>
                </a:cubicBezTo>
                <a:cubicBezTo>
                  <a:pt x="15126" y="164523"/>
                  <a:pt x="8659" y="158056"/>
                  <a:pt x="8659" y="150091"/>
                </a:cubicBezTo>
                <a:cubicBezTo>
                  <a:pt x="8659" y="142126"/>
                  <a:pt x="15126" y="135659"/>
                  <a:pt x="23091" y="13565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39091" y="7319818"/>
            <a:ext cx="348672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任务调度与优化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39091" y="7596909"/>
            <a:ext cx="3475182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考虑数据本地性、资源需求等因素进行智能调度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8909" y="7966364"/>
            <a:ext cx="184727" cy="184727"/>
          </a:xfrm>
          <a:custGeom>
            <a:avLst/>
            <a:gdLst/>
            <a:ahLst/>
            <a:cxnLst/>
            <a:rect l="l" t="t" r="r" b="b"/>
            <a:pathLst>
              <a:path w="184727" h="184727">
                <a:moveTo>
                  <a:pt x="92364" y="0"/>
                </a:moveTo>
                <a:cubicBezTo>
                  <a:pt x="94023" y="0"/>
                  <a:pt x="95683" y="361"/>
                  <a:pt x="97198" y="1046"/>
                </a:cubicBezTo>
                <a:lnTo>
                  <a:pt x="165172" y="29874"/>
                </a:lnTo>
                <a:cubicBezTo>
                  <a:pt x="173110" y="33229"/>
                  <a:pt x="179027" y="41059"/>
                  <a:pt x="178991" y="50511"/>
                </a:cubicBezTo>
                <a:cubicBezTo>
                  <a:pt x="178810" y="86302"/>
                  <a:pt x="164090" y="151787"/>
                  <a:pt x="101925" y="181552"/>
                </a:cubicBezTo>
                <a:cubicBezTo>
                  <a:pt x="95899" y="184439"/>
                  <a:pt x="88900" y="184439"/>
                  <a:pt x="82875" y="181552"/>
                </a:cubicBezTo>
                <a:cubicBezTo>
                  <a:pt x="20674" y="151787"/>
                  <a:pt x="5989" y="86302"/>
                  <a:pt x="5809" y="50511"/>
                </a:cubicBezTo>
                <a:cubicBezTo>
                  <a:pt x="5773" y="41059"/>
                  <a:pt x="11690" y="33229"/>
                  <a:pt x="19627" y="29874"/>
                </a:cubicBezTo>
                <a:lnTo>
                  <a:pt x="87565" y="1046"/>
                </a:lnTo>
                <a:cubicBezTo>
                  <a:pt x="89080" y="361"/>
                  <a:pt x="90704" y="0"/>
                  <a:pt x="92364" y="0"/>
                </a:cubicBezTo>
                <a:close/>
                <a:moveTo>
                  <a:pt x="92364" y="24101"/>
                </a:moveTo>
                <a:lnTo>
                  <a:pt x="92364" y="160518"/>
                </a:lnTo>
                <a:cubicBezTo>
                  <a:pt x="142153" y="136417"/>
                  <a:pt x="155539" y="83019"/>
                  <a:pt x="155864" y="51053"/>
                </a:cubicBezTo>
                <a:lnTo>
                  <a:pt x="92364" y="24137"/>
                </a:lnTo>
                <a:lnTo>
                  <a:pt x="92364" y="2413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39091" y="7920182"/>
            <a:ext cx="348672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故障处理与容错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9091" y="8197273"/>
            <a:ext cx="3475182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处理任务失败、容器异常、节点故障等异常情况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1909" y="5784273"/>
            <a:ext cx="7550727" cy="2886364"/>
          </a:xfrm>
          <a:custGeom>
            <a:avLst/>
            <a:gdLst/>
            <a:ahLst/>
            <a:cxnLst/>
            <a:rect l="l" t="t" r="r" b="b"/>
            <a:pathLst>
              <a:path w="7550727" h="2886364">
                <a:moveTo>
                  <a:pt x="92364" y="0"/>
                </a:moveTo>
                <a:lnTo>
                  <a:pt x="7458364" y="0"/>
                </a:lnTo>
                <a:cubicBezTo>
                  <a:pt x="7509375" y="0"/>
                  <a:pt x="7550727" y="41353"/>
                  <a:pt x="7550727" y="92364"/>
                </a:cubicBezTo>
                <a:lnTo>
                  <a:pt x="7550727" y="2794000"/>
                </a:lnTo>
                <a:cubicBezTo>
                  <a:pt x="7550727" y="2845011"/>
                  <a:pt x="7509375" y="2886364"/>
                  <a:pt x="7458364" y="2886364"/>
                </a:cubicBezTo>
                <a:lnTo>
                  <a:pt x="92364" y="2886364"/>
                </a:lnTo>
                <a:cubicBezTo>
                  <a:pt x="41353" y="2886364"/>
                  <a:pt x="0" y="2845011"/>
                  <a:pt x="0" y="2794000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474364" y="6026727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630227" y="6165273"/>
            <a:ext cx="242455" cy="277091"/>
          </a:xfrm>
          <a:custGeom>
            <a:avLst/>
            <a:gdLst/>
            <a:ahLst/>
            <a:cxnLst/>
            <a:rect l="l" t="t" r="r" b="b"/>
            <a:pathLst>
              <a:path w="242455" h="277091">
                <a:moveTo>
                  <a:pt x="199917" y="69273"/>
                </a:moveTo>
                <a:lnTo>
                  <a:pt x="181354" y="43295"/>
                </a:lnTo>
                <a:lnTo>
                  <a:pt x="61155" y="43295"/>
                </a:lnTo>
                <a:lnTo>
                  <a:pt x="42592" y="69273"/>
                </a:lnTo>
                <a:lnTo>
                  <a:pt x="199917" y="69273"/>
                </a:lnTo>
                <a:close/>
                <a:moveTo>
                  <a:pt x="0" y="80367"/>
                </a:moveTo>
                <a:cubicBezTo>
                  <a:pt x="0" y="73169"/>
                  <a:pt x="2273" y="66134"/>
                  <a:pt x="6440" y="60235"/>
                </a:cubicBezTo>
                <a:lnTo>
                  <a:pt x="32959" y="23163"/>
                </a:lnTo>
                <a:cubicBezTo>
                  <a:pt x="39453" y="14071"/>
                  <a:pt x="49952" y="8659"/>
                  <a:pt x="61101" y="8659"/>
                </a:cubicBezTo>
                <a:lnTo>
                  <a:pt x="181300" y="8659"/>
                </a:lnTo>
                <a:cubicBezTo>
                  <a:pt x="192502" y="8659"/>
                  <a:pt x="203002" y="14071"/>
                  <a:pt x="209496" y="23163"/>
                </a:cubicBezTo>
                <a:lnTo>
                  <a:pt x="235960" y="60235"/>
                </a:lnTo>
                <a:cubicBezTo>
                  <a:pt x="240182" y="66134"/>
                  <a:pt x="242400" y="73169"/>
                  <a:pt x="242400" y="80367"/>
                </a:cubicBezTo>
                <a:lnTo>
                  <a:pt x="242455" y="225136"/>
                </a:lnTo>
                <a:cubicBezTo>
                  <a:pt x="242455" y="244240"/>
                  <a:pt x="226922" y="259773"/>
                  <a:pt x="207818" y="259773"/>
                </a:cubicBezTo>
                <a:lnTo>
                  <a:pt x="34636" y="259773"/>
                </a:lnTo>
                <a:cubicBezTo>
                  <a:pt x="15532" y="259773"/>
                  <a:pt x="0" y="244240"/>
                  <a:pt x="0" y="225136"/>
                </a:cubicBezTo>
                <a:lnTo>
                  <a:pt x="0" y="8036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167091" y="6026727"/>
            <a:ext cx="115454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67091" y="6350000"/>
            <a:ext cx="1119909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资源容器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7455" y="6765636"/>
            <a:ext cx="184727" cy="184727"/>
          </a:xfrm>
          <a:custGeom>
            <a:avLst/>
            <a:gdLst/>
            <a:ahLst/>
            <a:cxnLst/>
            <a:rect l="l" t="t" r="r" b="b"/>
            <a:pathLst>
              <a:path w="184727" h="184727">
                <a:moveTo>
                  <a:pt x="63500" y="8659"/>
                </a:moveTo>
                <a:cubicBezTo>
                  <a:pt x="63500" y="3861"/>
                  <a:pt x="59639" y="0"/>
                  <a:pt x="54841" y="0"/>
                </a:cubicBezTo>
                <a:cubicBezTo>
                  <a:pt x="50042" y="0"/>
                  <a:pt x="46182" y="3861"/>
                  <a:pt x="46182" y="8659"/>
                </a:cubicBezTo>
                <a:lnTo>
                  <a:pt x="46182" y="23091"/>
                </a:lnTo>
                <a:cubicBezTo>
                  <a:pt x="33446" y="23091"/>
                  <a:pt x="23091" y="33446"/>
                  <a:pt x="23091" y="46182"/>
                </a:cubicBezTo>
                <a:lnTo>
                  <a:pt x="8659" y="46182"/>
                </a:lnTo>
                <a:cubicBezTo>
                  <a:pt x="3861" y="46182"/>
                  <a:pt x="0" y="50042"/>
                  <a:pt x="0" y="54841"/>
                </a:cubicBezTo>
                <a:cubicBezTo>
                  <a:pt x="0" y="59639"/>
                  <a:pt x="3861" y="63500"/>
                  <a:pt x="8659" y="63500"/>
                </a:cubicBezTo>
                <a:lnTo>
                  <a:pt x="23091" y="63500"/>
                </a:lnTo>
                <a:lnTo>
                  <a:pt x="23091" y="83705"/>
                </a:lnTo>
                <a:lnTo>
                  <a:pt x="8659" y="83705"/>
                </a:lnTo>
                <a:cubicBezTo>
                  <a:pt x="3861" y="83705"/>
                  <a:pt x="0" y="87565"/>
                  <a:pt x="0" y="92364"/>
                </a:cubicBezTo>
                <a:cubicBezTo>
                  <a:pt x="0" y="97162"/>
                  <a:pt x="3861" y="101023"/>
                  <a:pt x="8659" y="101023"/>
                </a:cubicBezTo>
                <a:lnTo>
                  <a:pt x="23091" y="101023"/>
                </a:lnTo>
                <a:lnTo>
                  <a:pt x="23091" y="121227"/>
                </a:lnTo>
                <a:lnTo>
                  <a:pt x="8659" y="121227"/>
                </a:lnTo>
                <a:cubicBezTo>
                  <a:pt x="3861" y="121227"/>
                  <a:pt x="0" y="125088"/>
                  <a:pt x="0" y="129886"/>
                </a:cubicBezTo>
                <a:cubicBezTo>
                  <a:pt x="0" y="134685"/>
                  <a:pt x="3861" y="138545"/>
                  <a:pt x="8659" y="138545"/>
                </a:cubicBezTo>
                <a:lnTo>
                  <a:pt x="23091" y="138545"/>
                </a:lnTo>
                <a:cubicBezTo>
                  <a:pt x="23091" y="151282"/>
                  <a:pt x="33446" y="161636"/>
                  <a:pt x="46182" y="161636"/>
                </a:cubicBezTo>
                <a:lnTo>
                  <a:pt x="46182" y="176068"/>
                </a:lnTo>
                <a:cubicBezTo>
                  <a:pt x="46182" y="180867"/>
                  <a:pt x="50042" y="184727"/>
                  <a:pt x="54841" y="184727"/>
                </a:cubicBezTo>
                <a:cubicBezTo>
                  <a:pt x="59639" y="184727"/>
                  <a:pt x="63500" y="180867"/>
                  <a:pt x="63500" y="176068"/>
                </a:cubicBezTo>
                <a:lnTo>
                  <a:pt x="63500" y="161636"/>
                </a:lnTo>
                <a:lnTo>
                  <a:pt x="83705" y="161636"/>
                </a:lnTo>
                <a:lnTo>
                  <a:pt x="83705" y="176068"/>
                </a:lnTo>
                <a:cubicBezTo>
                  <a:pt x="83705" y="180867"/>
                  <a:pt x="87565" y="184727"/>
                  <a:pt x="92364" y="184727"/>
                </a:cubicBezTo>
                <a:cubicBezTo>
                  <a:pt x="97162" y="184727"/>
                  <a:pt x="101023" y="180867"/>
                  <a:pt x="101023" y="176068"/>
                </a:cubicBezTo>
                <a:lnTo>
                  <a:pt x="101023" y="161636"/>
                </a:lnTo>
                <a:lnTo>
                  <a:pt x="121227" y="161636"/>
                </a:lnTo>
                <a:lnTo>
                  <a:pt x="121227" y="176068"/>
                </a:lnTo>
                <a:cubicBezTo>
                  <a:pt x="121227" y="180867"/>
                  <a:pt x="125088" y="184727"/>
                  <a:pt x="129886" y="184727"/>
                </a:cubicBezTo>
                <a:cubicBezTo>
                  <a:pt x="134685" y="184727"/>
                  <a:pt x="138545" y="180867"/>
                  <a:pt x="138545" y="176068"/>
                </a:cubicBezTo>
                <a:lnTo>
                  <a:pt x="138545" y="161636"/>
                </a:lnTo>
                <a:cubicBezTo>
                  <a:pt x="151282" y="161636"/>
                  <a:pt x="161636" y="151282"/>
                  <a:pt x="161636" y="138545"/>
                </a:cubicBezTo>
                <a:lnTo>
                  <a:pt x="176068" y="138545"/>
                </a:lnTo>
                <a:cubicBezTo>
                  <a:pt x="180867" y="138545"/>
                  <a:pt x="184727" y="134685"/>
                  <a:pt x="184727" y="129886"/>
                </a:cubicBezTo>
                <a:cubicBezTo>
                  <a:pt x="184727" y="125088"/>
                  <a:pt x="180867" y="121227"/>
                  <a:pt x="176068" y="121227"/>
                </a:cubicBezTo>
                <a:lnTo>
                  <a:pt x="161636" y="121227"/>
                </a:lnTo>
                <a:lnTo>
                  <a:pt x="161636" y="101023"/>
                </a:lnTo>
                <a:lnTo>
                  <a:pt x="176068" y="101023"/>
                </a:lnTo>
                <a:cubicBezTo>
                  <a:pt x="180867" y="101023"/>
                  <a:pt x="184727" y="97162"/>
                  <a:pt x="184727" y="92364"/>
                </a:cubicBezTo>
                <a:cubicBezTo>
                  <a:pt x="184727" y="87565"/>
                  <a:pt x="180867" y="83705"/>
                  <a:pt x="176068" y="83705"/>
                </a:cubicBezTo>
                <a:lnTo>
                  <a:pt x="161636" y="83705"/>
                </a:lnTo>
                <a:lnTo>
                  <a:pt x="161636" y="63500"/>
                </a:lnTo>
                <a:lnTo>
                  <a:pt x="176068" y="63500"/>
                </a:lnTo>
                <a:cubicBezTo>
                  <a:pt x="180867" y="63500"/>
                  <a:pt x="184727" y="59639"/>
                  <a:pt x="184727" y="54841"/>
                </a:cubicBezTo>
                <a:cubicBezTo>
                  <a:pt x="184727" y="50042"/>
                  <a:pt x="180867" y="46182"/>
                  <a:pt x="176068" y="46182"/>
                </a:cubicBezTo>
                <a:lnTo>
                  <a:pt x="161636" y="46182"/>
                </a:lnTo>
                <a:cubicBezTo>
                  <a:pt x="161636" y="33446"/>
                  <a:pt x="151282" y="23091"/>
                  <a:pt x="138545" y="23091"/>
                </a:cubicBezTo>
                <a:lnTo>
                  <a:pt x="138545" y="8659"/>
                </a:lnTo>
                <a:cubicBezTo>
                  <a:pt x="138545" y="3861"/>
                  <a:pt x="134685" y="0"/>
                  <a:pt x="129886" y="0"/>
                </a:cubicBezTo>
                <a:cubicBezTo>
                  <a:pt x="125088" y="0"/>
                  <a:pt x="121227" y="3861"/>
                  <a:pt x="121227" y="8659"/>
                </a:cubicBezTo>
                <a:lnTo>
                  <a:pt x="121227" y="23091"/>
                </a:lnTo>
                <a:lnTo>
                  <a:pt x="101023" y="23091"/>
                </a:lnTo>
                <a:lnTo>
                  <a:pt x="101023" y="8659"/>
                </a:lnTo>
                <a:cubicBezTo>
                  <a:pt x="101023" y="3861"/>
                  <a:pt x="97162" y="0"/>
                  <a:pt x="92364" y="0"/>
                </a:cubicBezTo>
                <a:cubicBezTo>
                  <a:pt x="87565" y="0"/>
                  <a:pt x="83705" y="3861"/>
                  <a:pt x="83705" y="8659"/>
                </a:cubicBezTo>
                <a:lnTo>
                  <a:pt x="83705" y="23091"/>
                </a:lnTo>
                <a:lnTo>
                  <a:pt x="63500" y="23091"/>
                </a:lnTo>
                <a:lnTo>
                  <a:pt x="63500" y="8659"/>
                </a:lnTo>
                <a:close/>
                <a:moveTo>
                  <a:pt x="57727" y="46182"/>
                </a:moveTo>
                <a:lnTo>
                  <a:pt x="127000" y="46182"/>
                </a:lnTo>
                <a:cubicBezTo>
                  <a:pt x="133386" y="46182"/>
                  <a:pt x="138545" y="51341"/>
                  <a:pt x="138545" y="57727"/>
                </a:cubicBezTo>
                <a:lnTo>
                  <a:pt x="138545" y="127000"/>
                </a:lnTo>
                <a:cubicBezTo>
                  <a:pt x="138545" y="133386"/>
                  <a:pt x="133386" y="138545"/>
                  <a:pt x="127000" y="138545"/>
                </a:cubicBezTo>
                <a:lnTo>
                  <a:pt x="57727" y="138545"/>
                </a:lnTo>
                <a:cubicBezTo>
                  <a:pt x="51341" y="138545"/>
                  <a:pt x="46182" y="133386"/>
                  <a:pt x="46182" y="127000"/>
                </a:cubicBezTo>
                <a:lnTo>
                  <a:pt x="46182" y="57727"/>
                </a:lnTo>
                <a:cubicBezTo>
                  <a:pt x="46182" y="51341"/>
                  <a:pt x="51341" y="46182"/>
                  <a:pt x="57727" y="46182"/>
                </a:cubicBezTo>
                <a:close/>
                <a:moveTo>
                  <a:pt x="63500" y="63500"/>
                </a:moveTo>
                <a:lnTo>
                  <a:pt x="63500" y="121227"/>
                </a:lnTo>
                <a:lnTo>
                  <a:pt x="121227" y="121227"/>
                </a:lnTo>
                <a:lnTo>
                  <a:pt x="121227" y="63500"/>
                </a:lnTo>
                <a:lnTo>
                  <a:pt x="63500" y="635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97636" y="6719455"/>
            <a:ext cx="30018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资源规格定义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97636" y="6996545"/>
            <a:ext cx="2990273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明确定义内存大小、CPU核数等资源数量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97455" y="7366000"/>
            <a:ext cx="184727" cy="184727"/>
          </a:xfrm>
          <a:custGeom>
            <a:avLst/>
            <a:gdLst/>
            <a:ahLst/>
            <a:cxnLst/>
            <a:rect l="l" t="t" r="r" b="b"/>
            <a:pathLst>
              <a:path w="184727" h="184727">
                <a:moveTo>
                  <a:pt x="70391" y="3428"/>
                </a:moveTo>
                <a:cubicBezTo>
                  <a:pt x="71474" y="-1912"/>
                  <a:pt x="76200" y="-5773"/>
                  <a:pt x="81684" y="-5773"/>
                </a:cubicBezTo>
                <a:lnTo>
                  <a:pt x="103260" y="-5773"/>
                </a:lnTo>
                <a:cubicBezTo>
                  <a:pt x="108744" y="-5773"/>
                  <a:pt x="113470" y="-1912"/>
                  <a:pt x="114553" y="3428"/>
                </a:cubicBezTo>
                <a:lnTo>
                  <a:pt x="119784" y="28683"/>
                </a:lnTo>
                <a:cubicBezTo>
                  <a:pt x="124871" y="30848"/>
                  <a:pt x="129634" y="33626"/>
                  <a:pt x="133963" y="36909"/>
                </a:cubicBezTo>
                <a:lnTo>
                  <a:pt x="158425" y="28791"/>
                </a:lnTo>
                <a:cubicBezTo>
                  <a:pt x="163621" y="27060"/>
                  <a:pt x="169321" y="29224"/>
                  <a:pt x="172063" y="33987"/>
                </a:cubicBezTo>
                <a:lnTo>
                  <a:pt x="182851" y="52676"/>
                </a:lnTo>
                <a:cubicBezTo>
                  <a:pt x="185593" y="57439"/>
                  <a:pt x="184619" y="63428"/>
                  <a:pt x="180506" y="67072"/>
                </a:cubicBezTo>
                <a:lnTo>
                  <a:pt x="161276" y="84174"/>
                </a:lnTo>
                <a:cubicBezTo>
                  <a:pt x="161600" y="86843"/>
                  <a:pt x="161745" y="89586"/>
                  <a:pt x="161745" y="92364"/>
                </a:cubicBezTo>
                <a:cubicBezTo>
                  <a:pt x="161745" y="95142"/>
                  <a:pt x="161564" y="97884"/>
                  <a:pt x="161276" y="100554"/>
                </a:cubicBezTo>
                <a:lnTo>
                  <a:pt x="180542" y="117691"/>
                </a:lnTo>
                <a:cubicBezTo>
                  <a:pt x="184655" y="121336"/>
                  <a:pt x="185593" y="127361"/>
                  <a:pt x="182887" y="132087"/>
                </a:cubicBezTo>
                <a:lnTo>
                  <a:pt x="172099" y="150776"/>
                </a:lnTo>
                <a:cubicBezTo>
                  <a:pt x="169357" y="155503"/>
                  <a:pt x="163657" y="157704"/>
                  <a:pt x="158461" y="155972"/>
                </a:cubicBezTo>
                <a:lnTo>
                  <a:pt x="133999" y="147854"/>
                </a:lnTo>
                <a:cubicBezTo>
                  <a:pt x="129634" y="151137"/>
                  <a:pt x="124871" y="153879"/>
                  <a:pt x="119820" y="156080"/>
                </a:cubicBezTo>
                <a:lnTo>
                  <a:pt x="114625" y="181300"/>
                </a:lnTo>
                <a:cubicBezTo>
                  <a:pt x="113506" y="186676"/>
                  <a:pt x="108780" y="190500"/>
                  <a:pt x="103332" y="190500"/>
                </a:cubicBezTo>
                <a:lnTo>
                  <a:pt x="81756" y="190500"/>
                </a:lnTo>
                <a:cubicBezTo>
                  <a:pt x="76272" y="190500"/>
                  <a:pt x="71546" y="186639"/>
                  <a:pt x="70463" y="181300"/>
                </a:cubicBezTo>
                <a:lnTo>
                  <a:pt x="65268" y="156080"/>
                </a:lnTo>
                <a:cubicBezTo>
                  <a:pt x="60181" y="153915"/>
                  <a:pt x="55454" y="151137"/>
                  <a:pt x="51089" y="147854"/>
                </a:cubicBezTo>
                <a:lnTo>
                  <a:pt x="26518" y="155972"/>
                </a:lnTo>
                <a:cubicBezTo>
                  <a:pt x="21323" y="157704"/>
                  <a:pt x="15622" y="155539"/>
                  <a:pt x="12880" y="150776"/>
                </a:cubicBezTo>
                <a:lnTo>
                  <a:pt x="2093" y="132087"/>
                </a:lnTo>
                <a:cubicBezTo>
                  <a:pt x="-649" y="127325"/>
                  <a:pt x="325" y="121336"/>
                  <a:pt x="4438" y="117691"/>
                </a:cubicBezTo>
                <a:lnTo>
                  <a:pt x="23704" y="100554"/>
                </a:lnTo>
                <a:cubicBezTo>
                  <a:pt x="23380" y="97884"/>
                  <a:pt x="23235" y="95142"/>
                  <a:pt x="23235" y="92364"/>
                </a:cubicBezTo>
                <a:cubicBezTo>
                  <a:pt x="23235" y="89586"/>
                  <a:pt x="23416" y="86843"/>
                  <a:pt x="23704" y="84174"/>
                </a:cubicBezTo>
                <a:lnTo>
                  <a:pt x="4438" y="67036"/>
                </a:lnTo>
                <a:cubicBezTo>
                  <a:pt x="325" y="63392"/>
                  <a:pt x="-613" y="57366"/>
                  <a:pt x="2093" y="52640"/>
                </a:cubicBezTo>
                <a:lnTo>
                  <a:pt x="12880" y="33951"/>
                </a:lnTo>
                <a:cubicBezTo>
                  <a:pt x="15622" y="29188"/>
                  <a:pt x="21323" y="27024"/>
                  <a:pt x="26518" y="28755"/>
                </a:cubicBezTo>
                <a:lnTo>
                  <a:pt x="50980" y="36873"/>
                </a:lnTo>
                <a:cubicBezTo>
                  <a:pt x="55346" y="33590"/>
                  <a:pt x="60109" y="30848"/>
                  <a:pt x="65160" y="28647"/>
                </a:cubicBezTo>
                <a:lnTo>
                  <a:pt x="70391" y="3428"/>
                </a:lnTo>
                <a:close/>
                <a:moveTo>
                  <a:pt x="92472" y="121227"/>
                </a:moveTo>
                <a:cubicBezTo>
                  <a:pt x="102784" y="121189"/>
                  <a:pt x="112292" y="115651"/>
                  <a:pt x="117414" y="106702"/>
                </a:cubicBezTo>
                <a:cubicBezTo>
                  <a:pt x="122537" y="97752"/>
                  <a:pt x="122496" y="86749"/>
                  <a:pt x="117306" y="77838"/>
                </a:cubicBezTo>
                <a:cubicBezTo>
                  <a:pt x="112117" y="68927"/>
                  <a:pt x="102567" y="63461"/>
                  <a:pt x="92255" y="63500"/>
                </a:cubicBezTo>
                <a:cubicBezTo>
                  <a:pt x="81943" y="63539"/>
                  <a:pt x="72435" y="69076"/>
                  <a:pt x="67313" y="78026"/>
                </a:cubicBezTo>
                <a:cubicBezTo>
                  <a:pt x="62190" y="86975"/>
                  <a:pt x="62232" y="97978"/>
                  <a:pt x="67421" y="106889"/>
                </a:cubicBezTo>
                <a:cubicBezTo>
                  <a:pt x="72611" y="115800"/>
                  <a:pt x="82160" y="121266"/>
                  <a:pt x="92472" y="12122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97636" y="7319818"/>
            <a:ext cx="267854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运行环境配置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97636" y="7596909"/>
            <a:ext cx="2667000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包含环境变量、依赖库、配置文件等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20545" y="7966364"/>
            <a:ext cx="138545" cy="184727"/>
          </a:xfrm>
          <a:custGeom>
            <a:avLst/>
            <a:gdLst/>
            <a:ahLst/>
            <a:cxnLst/>
            <a:rect l="l" t="t" r="r" b="b"/>
            <a:pathLst>
              <a:path w="138545" h="184727">
                <a:moveTo>
                  <a:pt x="46182" y="34636"/>
                </a:moveTo>
                <a:lnTo>
                  <a:pt x="46182" y="57727"/>
                </a:lnTo>
                <a:lnTo>
                  <a:pt x="92364" y="57727"/>
                </a:lnTo>
                <a:lnTo>
                  <a:pt x="92364" y="34636"/>
                </a:lnTo>
                <a:cubicBezTo>
                  <a:pt x="92364" y="21900"/>
                  <a:pt x="82009" y="11545"/>
                  <a:pt x="69273" y="11545"/>
                </a:cubicBezTo>
                <a:cubicBezTo>
                  <a:pt x="56537" y="11545"/>
                  <a:pt x="46182" y="21900"/>
                  <a:pt x="46182" y="34636"/>
                </a:cubicBezTo>
                <a:close/>
                <a:moveTo>
                  <a:pt x="23091" y="57727"/>
                </a:moveTo>
                <a:lnTo>
                  <a:pt x="23091" y="34636"/>
                </a:lnTo>
                <a:cubicBezTo>
                  <a:pt x="23091" y="9128"/>
                  <a:pt x="43764" y="-11545"/>
                  <a:pt x="69273" y="-11545"/>
                </a:cubicBezTo>
                <a:cubicBezTo>
                  <a:pt x="94781" y="-11545"/>
                  <a:pt x="115455" y="9128"/>
                  <a:pt x="115455" y="34636"/>
                </a:cubicBezTo>
                <a:lnTo>
                  <a:pt x="115455" y="57727"/>
                </a:lnTo>
                <a:cubicBezTo>
                  <a:pt x="128191" y="57727"/>
                  <a:pt x="138545" y="68082"/>
                  <a:pt x="138545" y="80818"/>
                </a:cubicBezTo>
                <a:lnTo>
                  <a:pt x="138545" y="161636"/>
                </a:lnTo>
                <a:cubicBezTo>
                  <a:pt x="138545" y="174372"/>
                  <a:pt x="128191" y="184727"/>
                  <a:pt x="115455" y="184727"/>
                </a:cubicBezTo>
                <a:lnTo>
                  <a:pt x="23091" y="184727"/>
                </a:lnTo>
                <a:cubicBezTo>
                  <a:pt x="10355" y="184727"/>
                  <a:pt x="0" y="174372"/>
                  <a:pt x="0" y="161636"/>
                </a:cubicBezTo>
                <a:lnTo>
                  <a:pt x="0" y="80818"/>
                </a:lnTo>
                <a:cubicBezTo>
                  <a:pt x="0" y="68082"/>
                  <a:pt x="10355" y="57727"/>
                  <a:pt x="23091" y="5772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797636" y="7920182"/>
            <a:ext cx="267854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安全与隔离机制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797636" y="8197273"/>
            <a:ext cx="2667000" cy="230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访问权限控制、进程隔离、资源隔离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850" y="443850"/>
            <a:ext cx="15457070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kern="0" spc="7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EVOLUTION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3850" y="798930"/>
            <a:ext cx="15568033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4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MRv1 到 MRv2 的演进对比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850" y="1375934"/>
            <a:ext cx="1065240" cy="44385"/>
          </a:xfrm>
          <a:custGeom>
            <a:avLst/>
            <a:gdLst/>
            <a:ahLst/>
            <a:cxnLst/>
            <a:rect l="l" t="t" r="r" b="b"/>
            <a:pathLst>
              <a:path w="1065240" h="44385">
                <a:moveTo>
                  <a:pt x="0" y="0"/>
                </a:moveTo>
                <a:lnTo>
                  <a:pt x="1065240" y="0"/>
                </a:lnTo>
                <a:lnTo>
                  <a:pt x="1065240" y="44385"/>
                </a:lnTo>
                <a:lnTo>
                  <a:pt x="0" y="44385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9398" y="1692177"/>
            <a:ext cx="15357204" cy="4849059"/>
          </a:xfrm>
          <a:custGeom>
            <a:avLst/>
            <a:gdLst/>
            <a:ahLst/>
            <a:cxnLst/>
            <a:rect l="l" t="t" r="r" b="b"/>
            <a:pathLst>
              <a:path w="15357204" h="4849059">
                <a:moveTo>
                  <a:pt x="88786" y="0"/>
                </a:moveTo>
                <a:lnTo>
                  <a:pt x="15268418" y="0"/>
                </a:lnTo>
                <a:cubicBezTo>
                  <a:pt x="15317453" y="0"/>
                  <a:pt x="15357204" y="39751"/>
                  <a:pt x="15357204" y="88786"/>
                </a:cubicBezTo>
                <a:lnTo>
                  <a:pt x="15357204" y="4760273"/>
                </a:lnTo>
                <a:cubicBezTo>
                  <a:pt x="15357204" y="4809308"/>
                  <a:pt x="15317453" y="4849059"/>
                  <a:pt x="15268418" y="4849059"/>
                </a:cubicBezTo>
                <a:lnTo>
                  <a:pt x="88786" y="4849059"/>
                </a:lnTo>
                <a:cubicBezTo>
                  <a:pt x="39751" y="4849059"/>
                  <a:pt x="0" y="4809308"/>
                  <a:pt x="0" y="4760273"/>
                </a:cubicBezTo>
                <a:lnTo>
                  <a:pt x="0" y="88786"/>
                </a:lnTo>
                <a:cubicBezTo>
                  <a:pt x="0" y="39784"/>
                  <a:pt x="39784" y="0"/>
                  <a:pt x="8878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871" y="1919651"/>
          <a:ext cx="14902258" cy="4394112"/>
        </p:xfrm>
        <a:graphic>
          <a:graphicData uri="http://schemas.openxmlformats.org/drawingml/2006/table">
            <a:tbl>
              <a:tblPr/>
              <a:tblGrid>
                <a:gridCol w="23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5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26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MapReduce v1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YARN (MRv2)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架构模式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主从架构，JobTracker为单一主节点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分层架构，RM + AM分布式管理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资源管理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JobTracker统一管理所有资源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ResourceManager专门负责资源管理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作业调度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JobTracker内置调度器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ApplicationMaster独立调度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容错机制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JobTracker单点故障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分布式容错，AM可重启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4000节点，40000任务上限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支持万级节点，无任务数量限制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多框架支持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仅支持MapReduce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支持多种计算框架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26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4A9D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资源模型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固定Map/Reduce Slot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5E7E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动态Container分配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49398" y="6729873"/>
            <a:ext cx="4993311" cy="1964035"/>
          </a:xfrm>
          <a:custGeom>
            <a:avLst/>
            <a:gdLst/>
            <a:ahLst/>
            <a:cxnLst/>
            <a:rect l="l" t="t" r="r" b="b"/>
            <a:pathLst>
              <a:path w="4993311" h="1964035">
                <a:moveTo>
                  <a:pt x="88774" y="0"/>
                </a:moveTo>
                <a:lnTo>
                  <a:pt x="4904536" y="0"/>
                </a:lnTo>
                <a:cubicBezTo>
                  <a:pt x="4953565" y="0"/>
                  <a:pt x="4993311" y="39746"/>
                  <a:pt x="4993311" y="88774"/>
                </a:cubicBezTo>
                <a:lnTo>
                  <a:pt x="4993311" y="1875261"/>
                </a:lnTo>
                <a:cubicBezTo>
                  <a:pt x="4993311" y="1924290"/>
                  <a:pt x="4953565" y="1964035"/>
                  <a:pt x="4904536" y="1964035"/>
                </a:cubicBezTo>
                <a:lnTo>
                  <a:pt x="88774" y="1964035"/>
                </a:lnTo>
                <a:cubicBezTo>
                  <a:pt x="39746" y="1964035"/>
                  <a:pt x="0" y="1924290"/>
                  <a:pt x="0" y="1875261"/>
                </a:cubicBezTo>
                <a:lnTo>
                  <a:pt x="0" y="88774"/>
                </a:lnTo>
                <a:cubicBezTo>
                  <a:pt x="0" y="39746"/>
                  <a:pt x="39746" y="0"/>
                  <a:pt x="8877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771027" y="6957346"/>
            <a:ext cx="349532" cy="399465"/>
          </a:xfrm>
          <a:custGeom>
            <a:avLst/>
            <a:gdLst/>
            <a:ahLst/>
            <a:cxnLst/>
            <a:rect l="l" t="t" r="r" b="b"/>
            <a:pathLst>
              <a:path w="349532" h="399465">
                <a:moveTo>
                  <a:pt x="131074" y="24967"/>
                </a:moveTo>
                <a:lnTo>
                  <a:pt x="18725" y="24967"/>
                </a:lnTo>
                <a:cubicBezTo>
                  <a:pt x="8348" y="24967"/>
                  <a:pt x="0" y="33315"/>
                  <a:pt x="0" y="43691"/>
                </a:cubicBezTo>
                <a:lnTo>
                  <a:pt x="0" y="156041"/>
                </a:lnTo>
                <a:cubicBezTo>
                  <a:pt x="0" y="163609"/>
                  <a:pt x="4525" y="170475"/>
                  <a:pt x="11547" y="173362"/>
                </a:cubicBezTo>
                <a:cubicBezTo>
                  <a:pt x="18569" y="176248"/>
                  <a:pt x="26605" y="174610"/>
                  <a:pt x="31988" y="169304"/>
                </a:cubicBezTo>
                <a:lnTo>
                  <a:pt x="63197" y="138096"/>
                </a:lnTo>
                <a:lnTo>
                  <a:pt x="124833" y="199732"/>
                </a:lnTo>
                <a:lnTo>
                  <a:pt x="63197" y="261369"/>
                </a:lnTo>
                <a:lnTo>
                  <a:pt x="31988" y="230160"/>
                </a:lnTo>
                <a:cubicBezTo>
                  <a:pt x="26605" y="224777"/>
                  <a:pt x="18569" y="223217"/>
                  <a:pt x="11547" y="226103"/>
                </a:cubicBezTo>
                <a:cubicBezTo>
                  <a:pt x="4525" y="228990"/>
                  <a:pt x="0" y="235856"/>
                  <a:pt x="0" y="243424"/>
                </a:cubicBezTo>
                <a:lnTo>
                  <a:pt x="0" y="355773"/>
                </a:lnTo>
                <a:cubicBezTo>
                  <a:pt x="0" y="366150"/>
                  <a:pt x="8348" y="374498"/>
                  <a:pt x="18725" y="374498"/>
                </a:cubicBezTo>
                <a:lnTo>
                  <a:pt x="131074" y="374498"/>
                </a:lnTo>
                <a:cubicBezTo>
                  <a:pt x="138642" y="374498"/>
                  <a:pt x="145508" y="369973"/>
                  <a:pt x="148395" y="362951"/>
                </a:cubicBezTo>
                <a:cubicBezTo>
                  <a:pt x="151282" y="355929"/>
                  <a:pt x="149721" y="347893"/>
                  <a:pt x="144338" y="342510"/>
                </a:cubicBezTo>
                <a:lnTo>
                  <a:pt x="113130" y="311302"/>
                </a:lnTo>
                <a:lnTo>
                  <a:pt x="174766" y="249666"/>
                </a:lnTo>
                <a:lnTo>
                  <a:pt x="236402" y="311302"/>
                </a:lnTo>
                <a:lnTo>
                  <a:pt x="205194" y="342510"/>
                </a:lnTo>
                <a:cubicBezTo>
                  <a:pt x="199810" y="347893"/>
                  <a:pt x="198250" y="355929"/>
                  <a:pt x="201137" y="362951"/>
                </a:cubicBezTo>
                <a:cubicBezTo>
                  <a:pt x="204024" y="369973"/>
                  <a:pt x="210889" y="374498"/>
                  <a:pt x="218457" y="374498"/>
                </a:cubicBezTo>
                <a:lnTo>
                  <a:pt x="330807" y="374498"/>
                </a:lnTo>
                <a:cubicBezTo>
                  <a:pt x="341184" y="374498"/>
                  <a:pt x="349532" y="366150"/>
                  <a:pt x="349532" y="355773"/>
                </a:cubicBezTo>
                <a:lnTo>
                  <a:pt x="349532" y="243424"/>
                </a:lnTo>
                <a:cubicBezTo>
                  <a:pt x="349532" y="235856"/>
                  <a:pt x="345007" y="228990"/>
                  <a:pt x="337985" y="226103"/>
                </a:cubicBezTo>
                <a:cubicBezTo>
                  <a:pt x="330963" y="223217"/>
                  <a:pt x="322927" y="224777"/>
                  <a:pt x="317543" y="230160"/>
                </a:cubicBezTo>
                <a:lnTo>
                  <a:pt x="286335" y="261369"/>
                </a:lnTo>
                <a:lnTo>
                  <a:pt x="224699" y="199732"/>
                </a:lnTo>
                <a:lnTo>
                  <a:pt x="286335" y="138096"/>
                </a:lnTo>
                <a:lnTo>
                  <a:pt x="317543" y="169304"/>
                </a:lnTo>
                <a:cubicBezTo>
                  <a:pt x="322927" y="174688"/>
                  <a:pt x="330963" y="176248"/>
                  <a:pt x="337985" y="173362"/>
                </a:cubicBezTo>
                <a:cubicBezTo>
                  <a:pt x="345007" y="170475"/>
                  <a:pt x="349532" y="163609"/>
                  <a:pt x="349532" y="156041"/>
                </a:cubicBezTo>
                <a:lnTo>
                  <a:pt x="349532" y="43691"/>
                </a:lnTo>
                <a:cubicBezTo>
                  <a:pt x="349532" y="33315"/>
                  <a:pt x="341184" y="24967"/>
                  <a:pt x="330807" y="24967"/>
                </a:cubicBezTo>
                <a:lnTo>
                  <a:pt x="218457" y="24967"/>
                </a:lnTo>
                <a:cubicBezTo>
                  <a:pt x="210889" y="24967"/>
                  <a:pt x="204024" y="29492"/>
                  <a:pt x="201137" y="36514"/>
                </a:cubicBezTo>
                <a:cubicBezTo>
                  <a:pt x="198250" y="43535"/>
                  <a:pt x="199888" y="51572"/>
                  <a:pt x="205194" y="56955"/>
                </a:cubicBezTo>
                <a:lnTo>
                  <a:pt x="236402" y="88163"/>
                </a:lnTo>
                <a:lnTo>
                  <a:pt x="174766" y="149799"/>
                </a:lnTo>
                <a:lnTo>
                  <a:pt x="113130" y="88163"/>
                </a:lnTo>
                <a:lnTo>
                  <a:pt x="144338" y="56955"/>
                </a:lnTo>
                <a:cubicBezTo>
                  <a:pt x="149721" y="51572"/>
                  <a:pt x="151282" y="43535"/>
                  <a:pt x="148395" y="36514"/>
                </a:cubicBezTo>
                <a:cubicBezTo>
                  <a:pt x="145508" y="29492"/>
                  <a:pt x="138642" y="24967"/>
                  <a:pt x="131074" y="2496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21390" y="7489966"/>
            <a:ext cx="4649327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扩展性革命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2486" y="7889431"/>
            <a:ext cx="4627134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从4000节点扩展到</a:t>
            </a:r>
            <a:r>
              <a:rPr lang="en-US" sz="139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10000+节点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8034" y="8244511"/>
            <a:ext cx="4616038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分布式架构彻底解决扩展瓶颈</a:t>
            </a:r>
            <a:endParaRPr lang="en-US" sz="1600" dirty="0"/>
          </a:p>
        </p:txBody>
      </p:sp>
      <p:sp>
        <p:nvSpPr>
          <p:cNvPr id="6" name="Shape 9"/>
          <p:cNvSpPr/>
          <p:nvPr/>
        </p:nvSpPr>
        <p:spPr>
          <a:xfrm>
            <a:off x="5630911" y="6729873"/>
            <a:ext cx="4993311" cy="1964035"/>
          </a:xfrm>
          <a:custGeom>
            <a:avLst/>
            <a:gdLst/>
            <a:ahLst/>
            <a:cxnLst/>
            <a:rect l="l" t="t" r="r" b="b"/>
            <a:pathLst>
              <a:path w="4993311" h="1964035">
                <a:moveTo>
                  <a:pt x="88774" y="0"/>
                </a:moveTo>
                <a:lnTo>
                  <a:pt x="4904536" y="0"/>
                </a:lnTo>
                <a:cubicBezTo>
                  <a:pt x="4953565" y="0"/>
                  <a:pt x="4993311" y="39746"/>
                  <a:pt x="4993311" y="88774"/>
                </a:cubicBezTo>
                <a:lnTo>
                  <a:pt x="4993311" y="1875261"/>
                </a:lnTo>
                <a:cubicBezTo>
                  <a:pt x="4993311" y="1924290"/>
                  <a:pt x="4953565" y="1964035"/>
                  <a:pt x="4904536" y="1964035"/>
                </a:cubicBezTo>
                <a:lnTo>
                  <a:pt x="88774" y="1964035"/>
                </a:lnTo>
                <a:cubicBezTo>
                  <a:pt x="39746" y="1964035"/>
                  <a:pt x="0" y="1924290"/>
                  <a:pt x="0" y="1875261"/>
                </a:cubicBezTo>
                <a:lnTo>
                  <a:pt x="0" y="88774"/>
                </a:lnTo>
                <a:cubicBezTo>
                  <a:pt x="0" y="39746"/>
                  <a:pt x="39746" y="0"/>
                  <a:pt x="8877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927574" y="6957346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49933" y="49933"/>
                </a:moveTo>
                <a:cubicBezTo>
                  <a:pt x="49933" y="36123"/>
                  <a:pt x="38776" y="24967"/>
                  <a:pt x="24967" y="24967"/>
                </a:cubicBezTo>
                <a:cubicBezTo>
                  <a:pt x="11157" y="24967"/>
                  <a:pt x="0" y="36123"/>
                  <a:pt x="0" y="49933"/>
                </a:cubicBezTo>
                <a:lnTo>
                  <a:pt x="0" y="312082"/>
                </a:lnTo>
                <a:cubicBezTo>
                  <a:pt x="0" y="346567"/>
                  <a:pt x="27931" y="374498"/>
                  <a:pt x="62416" y="374498"/>
                </a:cubicBezTo>
                <a:lnTo>
                  <a:pt x="374498" y="374498"/>
                </a:lnTo>
                <a:cubicBezTo>
                  <a:pt x="388308" y="374498"/>
                  <a:pt x="399465" y="363341"/>
                  <a:pt x="399465" y="349532"/>
                </a:cubicBezTo>
                <a:cubicBezTo>
                  <a:pt x="399465" y="335722"/>
                  <a:pt x="388308" y="324565"/>
                  <a:pt x="374498" y="324565"/>
                </a:cubicBezTo>
                <a:lnTo>
                  <a:pt x="62416" y="324565"/>
                </a:lnTo>
                <a:cubicBezTo>
                  <a:pt x="55551" y="324565"/>
                  <a:pt x="49933" y="318948"/>
                  <a:pt x="49933" y="312082"/>
                </a:cubicBezTo>
                <a:lnTo>
                  <a:pt x="49933" y="49933"/>
                </a:lnTo>
                <a:close/>
                <a:moveTo>
                  <a:pt x="367164" y="117499"/>
                </a:moveTo>
                <a:cubicBezTo>
                  <a:pt x="376917" y="107746"/>
                  <a:pt x="376917" y="91908"/>
                  <a:pt x="367164" y="82156"/>
                </a:cubicBezTo>
                <a:cubicBezTo>
                  <a:pt x="357412" y="72403"/>
                  <a:pt x="341574" y="72403"/>
                  <a:pt x="331821" y="82156"/>
                </a:cubicBezTo>
                <a:lnTo>
                  <a:pt x="249666" y="164389"/>
                </a:lnTo>
                <a:lnTo>
                  <a:pt x="204882" y="119683"/>
                </a:lnTo>
                <a:cubicBezTo>
                  <a:pt x="195129" y="109931"/>
                  <a:pt x="179291" y="109931"/>
                  <a:pt x="169538" y="119683"/>
                </a:cubicBezTo>
                <a:lnTo>
                  <a:pt x="94639" y="194583"/>
                </a:lnTo>
                <a:cubicBezTo>
                  <a:pt x="84886" y="204336"/>
                  <a:pt x="84886" y="220174"/>
                  <a:pt x="94639" y="229926"/>
                </a:cubicBezTo>
                <a:cubicBezTo>
                  <a:pt x="104391" y="239679"/>
                  <a:pt x="120230" y="239679"/>
                  <a:pt x="129982" y="229926"/>
                </a:cubicBezTo>
                <a:lnTo>
                  <a:pt x="187249" y="172659"/>
                </a:lnTo>
                <a:lnTo>
                  <a:pt x="232033" y="217443"/>
                </a:lnTo>
                <a:cubicBezTo>
                  <a:pt x="241785" y="227196"/>
                  <a:pt x="257624" y="227196"/>
                  <a:pt x="267376" y="217443"/>
                </a:cubicBezTo>
                <a:lnTo>
                  <a:pt x="367242" y="11757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802903" y="7489966"/>
            <a:ext cx="4649327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资源效率提升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13999" y="7889431"/>
            <a:ext cx="4627134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从60-70%提升到</a:t>
            </a:r>
            <a:r>
              <a:rPr lang="en-US" sz="139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80-90%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19547" y="8244511"/>
            <a:ext cx="4616038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动态Container分配显著提升利用率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12425" y="6729873"/>
            <a:ext cx="4993311" cy="1964035"/>
          </a:xfrm>
          <a:custGeom>
            <a:avLst/>
            <a:gdLst/>
            <a:ahLst/>
            <a:cxnLst/>
            <a:rect l="l" t="t" r="r" b="b"/>
            <a:pathLst>
              <a:path w="4993311" h="1964035">
                <a:moveTo>
                  <a:pt x="88774" y="0"/>
                </a:moveTo>
                <a:lnTo>
                  <a:pt x="4904536" y="0"/>
                </a:lnTo>
                <a:cubicBezTo>
                  <a:pt x="4953565" y="0"/>
                  <a:pt x="4993311" y="39746"/>
                  <a:pt x="4993311" y="88774"/>
                </a:cubicBezTo>
                <a:lnTo>
                  <a:pt x="4993311" y="1875261"/>
                </a:lnTo>
                <a:cubicBezTo>
                  <a:pt x="4993311" y="1924290"/>
                  <a:pt x="4953565" y="1964035"/>
                  <a:pt x="4904536" y="1964035"/>
                </a:cubicBezTo>
                <a:lnTo>
                  <a:pt x="88774" y="1964035"/>
                </a:lnTo>
                <a:cubicBezTo>
                  <a:pt x="39746" y="1964035"/>
                  <a:pt x="0" y="1924290"/>
                  <a:pt x="0" y="1875261"/>
                </a:cubicBezTo>
                <a:lnTo>
                  <a:pt x="0" y="88774"/>
                </a:lnTo>
                <a:cubicBezTo>
                  <a:pt x="0" y="39746"/>
                  <a:pt x="39746" y="0"/>
                  <a:pt x="8877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3109087" y="6957346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199732" y="0"/>
                </a:moveTo>
                <a:cubicBezTo>
                  <a:pt x="203321" y="0"/>
                  <a:pt x="206910" y="780"/>
                  <a:pt x="210187" y="2263"/>
                </a:cubicBezTo>
                <a:lnTo>
                  <a:pt x="357178" y="64601"/>
                </a:lnTo>
                <a:cubicBezTo>
                  <a:pt x="374342" y="71857"/>
                  <a:pt x="387138" y="88787"/>
                  <a:pt x="387060" y="109229"/>
                </a:cubicBezTo>
                <a:cubicBezTo>
                  <a:pt x="386669" y="186625"/>
                  <a:pt x="354837" y="328232"/>
                  <a:pt x="220408" y="392599"/>
                </a:cubicBezTo>
                <a:cubicBezTo>
                  <a:pt x="207378" y="398841"/>
                  <a:pt x="192242" y="398841"/>
                  <a:pt x="179213" y="392599"/>
                </a:cubicBezTo>
                <a:cubicBezTo>
                  <a:pt x="44706" y="328232"/>
                  <a:pt x="12951" y="186625"/>
                  <a:pt x="12561" y="109229"/>
                </a:cubicBezTo>
                <a:cubicBezTo>
                  <a:pt x="12483" y="88787"/>
                  <a:pt x="25279" y="71857"/>
                  <a:pt x="42443" y="64601"/>
                </a:cubicBezTo>
                <a:lnTo>
                  <a:pt x="189356" y="2263"/>
                </a:lnTo>
                <a:cubicBezTo>
                  <a:pt x="192633" y="780"/>
                  <a:pt x="196143" y="0"/>
                  <a:pt x="199732" y="0"/>
                </a:cubicBezTo>
                <a:close/>
                <a:moveTo>
                  <a:pt x="199732" y="52118"/>
                </a:moveTo>
                <a:lnTo>
                  <a:pt x="199732" y="347113"/>
                </a:lnTo>
                <a:cubicBezTo>
                  <a:pt x="307401" y="294995"/>
                  <a:pt x="336346" y="179525"/>
                  <a:pt x="337048" y="110399"/>
                </a:cubicBezTo>
                <a:lnTo>
                  <a:pt x="199732" y="52196"/>
                </a:lnTo>
                <a:lnTo>
                  <a:pt x="199732" y="52196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984416" y="7489966"/>
            <a:ext cx="4649327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容错能力增强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95513" y="7889431"/>
            <a:ext cx="4627134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9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故障恢复从小时级缩短到</a:t>
            </a:r>
            <a:r>
              <a:rPr lang="en-US" sz="139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01061" y="8244511"/>
            <a:ext cx="4616038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分布式容错限制故障影响范围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20700" y="1658938"/>
            <a:ext cx="2971800" cy="736600"/>
          </a:xfrm>
          <a:custGeom>
            <a:avLst/>
            <a:gdLst/>
            <a:ahLst/>
            <a:cxnLst/>
            <a:rect l="l" t="t" r="r" b="b"/>
            <a:pathLst>
              <a:path w="2971800" h="736600">
                <a:moveTo>
                  <a:pt x="368300" y="0"/>
                </a:moveTo>
                <a:lnTo>
                  <a:pt x="2603500" y="0"/>
                </a:lnTo>
                <a:cubicBezTo>
                  <a:pt x="2806770" y="0"/>
                  <a:pt x="2971800" y="165030"/>
                  <a:pt x="2971800" y="368300"/>
                </a:cubicBezTo>
                <a:lnTo>
                  <a:pt x="2971800" y="368300"/>
                </a:lnTo>
                <a:cubicBezTo>
                  <a:pt x="2971800" y="571570"/>
                  <a:pt x="2806770" y="736600"/>
                  <a:pt x="2603500" y="736600"/>
                </a:cubicBezTo>
                <a:lnTo>
                  <a:pt x="368300" y="736600"/>
                </a:lnTo>
                <a:cubicBezTo>
                  <a:pt x="165030" y="736600"/>
                  <a:pt x="0" y="571570"/>
                  <a:pt x="0" y="368300"/>
                </a:cubicBezTo>
                <a:lnTo>
                  <a:pt x="0" y="368300"/>
                </a:lnTo>
                <a:cubicBezTo>
                  <a:pt x="0" y="165030"/>
                  <a:pt x="165030" y="0"/>
                  <a:pt x="3683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9800" y="1824038"/>
            <a:ext cx="228113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8146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应用生命周期与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269038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878638"/>
            <a:ext cx="115697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深入理解YARN中应用的完整生命周期、资源模型与Container机制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分布式应用管理的挑战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7505700" cy="3060700"/>
          </a:xfrm>
          <a:custGeom>
            <a:avLst/>
            <a:gdLst/>
            <a:ahLst/>
            <a:cxnLst/>
            <a:rect l="l" t="t" r="r" b="b"/>
            <a:pathLst>
              <a:path w="7505700" h="3060700">
                <a:moveTo>
                  <a:pt x="101615" y="0"/>
                </a:moveTo>
                <a:lnTo>
                  <a:pt x="7404085" y="0"/>
                </a:lnTo>
                <a:cubicBezTo>
                  <a:pt x="7460205" y="0"/>
                  <a:pt x="7505700" y="45495"/>
                  <a:pt x="7505700" y="101615"/>
                </a:cubicBezTo>
                <a:lnTo>
                  <a:pt x="7505700" y="2959085"/>
                </a:lnTo>
                <a:cubicBezTo>
                  <a:pt x="7505700" y="3015205"/>
                  <a:pt x="7460205" y="3060700"/>
                  <a:pt x="7404085" y="3060700"/>
                </a:cubicBezTo>
                <a:lnTo>
                  <a:pt x="101615" y="3060700"/>
                </a:lnTo>
                <a:cubicBezTo>
                  <a:pt x="45495" y="3060700"/>
                  <a:pt x="0" y="3015205"/>
                  <a:pt x="0" y="29590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47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271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36700" y="23241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生命周期管理复杂性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59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分布式应用由多个相互依赖的组件构成，需要精确的时序控制和状态同步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" y="34671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30300" y="3416300"/>
            <a:ext cx="415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多组件协调：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Driver、Executor等需按特定顺序启动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900" y="38227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30300" y="37719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资源解耦：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支持资源的动态申请和释放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900" y="41783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30300" y="41275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区分可恢复和不可恢复故障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900" y="45339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30300" y="44831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维护应用级、组件级、资源级状态一致性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35950" y="1936750"/>
            <a:ext cx="7505700" cy="3060700"/>
          </a:xfrm>
          <a:custGeom>
            <a:avLst/>
            <a:gdLst/>
            <a:ahLst/>
            <a:cxnLst/>
            <a:rect l="l" t="t" r="r" b="b"/>
            <a:pathLst>
              <a:path w="7505700" h="3060700">
                <a:moveTo>
                  <a:pt x="101615" y="0"/>
                </a:moveTo>
                <a:lnTo>
                  <a:pt x="7404085" y="0"/>
                </a:lnTo>
                <a:cubicBezTo>
                  <a:pt x="7460205" y="0"/>
                  <a:pt x="7505700" y="45495"/>
                  <a:pt x="7505700" y="101615"/>
                </a:cubicBezTo>
                <a:lnTo>
                  <a:pt x="7505700" y="2959085"/>
                </a:lnTo>
                <a:cubicBezTo>
                  <a:pt x="7505700" y="3015205"/>
                  <a:pt x="7460205" y="3060700"/>
                  <a:pt x="7404085" y="3060700"/>
                </a:cubicBezTo>
                <a:lnTo>
                  <a:pt x="101615" y="3060700"/>
                </a:lnTo>
                <a:cubicBezTo>
                  <a:pt x="45495" y="3060700"/>
                  <a:pt x="0" y="3015205"/>
                  <a:pt x="0" y="29590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4963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10600" y="234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258300" y="23241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多应用并发管理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96300" y="2959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多种类型应用在同一个集群中并发运行，资源管理复杂性呈指数级增长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72500" y="34671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51900" y="3416300"/>
            <a:ext cx="453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资源竞争：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实时、批处理、机器学习对资源需求差异巨大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72500" y="38227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51900" y="37719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性能干扰：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网络带宽、存储I/O、内存缓存等层面的竞争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72500" y="41783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51900" y="412750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故障传播：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单个应用故障可能引发级联效应（资源泄漏、网络风暴）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72500" y="4533900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12898" y="38100"/>
                </a:moveTo>
                <a:cubicBezTo>
                  <a:pt x="12898" y="32980"/>
                  <a:pt x="15994" y="28337"/>
                  <a:pt x="20757" y="26353"/>
                </a:cubicBezTo>
                <a:cubicBezTo>
                  <a:pt x="25519" y="24368"/>
                  <a:pt x="30956" y="25479"/>
                  <a:pt x="34568" y="29131"/>
                </a:cubicBezTo>
                <a:lnTo>
                  <a:pt x="98068" y="92631"/>
                </a:ln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30917" y="177760"/>
                  <a:pt x="25479" y="178832"/>
                  <a:pt x="20717" y="176847"/>
                </a:cubicBezTo>
                <a:cubicBezTo>
                  <a:pt x="15954" y="174863"/>
                  <a:pt x="12898" y="170220"/>
                  <a:pt x="12898" y="165100"/>
                </a:cubicBezTo>
                <a:lnTo>
                  <a:pt x="12898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51900" y="4483100"/>
            <a:ext cx="521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动态负载平衡：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需在依赖关系、SLA约束、调整成本间找到最优解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700" y="5219700"/>
            <a:ext cx="15214600" cy="1955800"/>
          </a:xfrm>
          <a:custGeom>
            <a:avLst/>
            <a:gdLst/>
            <a:ahLst/>
            <a:cxnLst/>
            <a:rect l="l" t="t" r="r" b="b"/>
            <a:pathLst>
              <a:path w="15214600" h="1955800">
                <a:moveTo>
                  <a:pt x="101604" y="0"/>
                </a:moveTo>
                <a:lnTo>
                  <a:pt x="15112996" y="0"/>
                </a:lnTo>
                <a:cubicBezTo>
                  <a:pt x="15169110" y="0"/>
                  <a:pt x="15214600" y="45490"/>
                  <a:pt x="15214600" y="101604"/>
                </a:cubicBezTo>
                <a:lnTo>
                  <a:pt x="15214600" y="1854196"/>
                </a:lnTo>
                <a:cubicBezTo>
                  <a:pt x="15214600" y="1910310"/>
                  <a:pt x="15169110" y="1955800"/>
                  <a:pt x="151129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01700" y="596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562100" y="5486400"/>
            <a:ext cx="14058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系统设计原则与需求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562100" y="5994400"/>
            <a:ext cx="3365500" cy="914400"/>
          </a:xfrm>
          <a:custGeom>
            <a:avLst/>
            <a:gdLst/>
            <a:ahLst/>
            <a:cxnLst/>
            <a:rect l="l" t="t" r="r" b="b"/>
            <a:pathLst>
              <a:path w="3365500" h="914400">
                <a:moveTo>
                  <a:pt x="50804" y="0"/>
                </a:moveTo>
                <a:lnTo>
                  <a:pt x="3314696" y="0"/>
                </a:lnTo>
                <a:cubicBezTo>
                  <a:pt x="3342754" y="0"/>
                  <a:pt x="3365500" y="22746"/>
                  <a:pt x="3365500" y="50804"/>
                </a:cubicBezTo>
                <a:lnTo>
                  <a:pt x="3365500" y="863596"/>
                </a:lnTo>
                <a:cubicBezTo>
                  <a:pt x="3365500" y="891654"/>
                  <a:pt x="3342754" y="914400"/>
                  <a:pt x="3314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714500" y="61468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职责分离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714500" y="6502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全局资源管理与应用内部调度逻辑分离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76825" y="5994400"/>
            <a:ext cx="3365500" cy="914400"/>
          </a:xfrm>
          <a:custGeom>
            <a:avLst/>
            <a:gdLst/>
            <a:ahLst/>
            <a:cxnLst/>
            <a:rect l="l" t="t" r="r" b="b"/>
            <a:pathLst>
              <a:path w="3365500" h="914400">
                <a:moveTo>
                  <a:pt x="50804" y="0"/>
                </a:moveTo>
                <a:lnTo>
                  <a:pt x="3314696" y="0"/>
                </a:lnTo>
                <a:cubicBezTo>
                  <a:pt x="3342754" y="0"/>
                  <a:pt x="3365500" y="22746"/>
                  <a:pt x="3365500" y="50804"/>
                </a:cubicBezTo>
                <a:lnTo>
                  <a:pt x="3365500" y="863596"/>
                </a:lnTo>
                <a:cubicBezTo>
                  <a:pt x="3365500" y="891654"/>
                  <a:pt x="3342754" y="914400"/>
                  <a:pt x="3314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229225" y="61468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接口标准化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29225" y="6502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统一的资源申请、分配和释放接口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91550" y="5994400"/>
            <a:ext cx="3365500" cy="914400"/>
          </a:xfrm>
          <a:custGeom>
            <a:avLst/>
            <a:gdLst/>
            <a:ahLst/>
            <a:cxnLst/>
            <a:rect l="l" t="t" r="r" b="b"/>
            <a:pathLst>
              <a:path w="3365500" h="914400">
                <a:moveTo>
                  <a:pt x="50804" y="0"/>
                </a:moveTo>
                <a:lnTo>
                  <a:pt x="3314696" y="0"/>
                </a:lnTo>
                <a:cubicBezTo>
                  <a:pt x="3342754" y="0"/>
                  <a:pt x="3365500" y="22746"/>
                  <a:pt x="3365500" y="50804"/>
                </a:cubicBezTo>
                <a:lnTo>
                  <a:pt x="3365500" y="863596"/>
                </a:lnTo>
                <a:cubicBezTo>
                  <a:pt x="3365500" y="891654"/>
                  <a:pt x="3342754" y="914400"/>
                  <a:pt x="3314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743950" y="61468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43950" y="6502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支持资源的动态分配和回收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106275" y="5994400"/>
            <a:ext cx="3365500" cy="914400"/>
          </a:xfrm>
          <a:custGeom>
            <a:avLst/>
            <a:gdLst/>
            <a:ahLst/>
            <a:cxnLst/>
            <a:rect l="l" t="t" r="r" b="b"/>
            <a:pathLst>
              <a:path w="3365500" h="914400">
                <a:moveTo>
                  <a:pt x="50804" y="0"/>
                </a:moveTo>
                <a:lnTo>
                  <a:pt x="3314696" y="0"/>
                </a:lnTo>
                <a:cubicBezTo>
                  <a:pt x="3342754" y="0"/>
                  <a:pt x="3365500" y="22746"/>
                  <a:pt x="3365500" y="50804"/>
                </a:cubicBezTo>
                <a:lnTo>
                  <a:pt x="3365500" y="863596"/>
                </a:lnTo>
                <a:cubicBezTo>
                  <a:pt x="3365500" y="891654"/>
                  <a:pt x="3342754" y="914400"/>
                  <a:pt x="3314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2258675" y="61468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容错与高可用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258675" y="6502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完善的故障检测、隔离和恢复机制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多维资源向量模型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7505700" cy="4229100"/>
          </a:xfrm>
          <a:custGeom>
            <a:avLst/>
            <a:gdLst/>
            <a:ahLst/>
            <a:cxnLst/>
            <a:rect l="l" t="t" r="r" b="b"/>
            <a:pathLst>
              <a:path w="7505700" h="4229100">
                <a:moveTo>
                  <a:pt x="101583" y="0"/>
                </a:moveTo>
                <a:lnTo>
                  <a:pt x="7404117" y="0"/>
                </a:lnTo>
                <a:cubicBezTo>
                  <a:pt x="7460220" y="0"/>
                  <a:pt x="7505700" y="45480"/>
                  <a:pt x="7505700" y="101583"/>
                </a:cubicBezTo>
                <a:lnTo>
                  <a:pt x="7505700" y="4127517"/>
                </a:lnTo>
                <a:cubicBezTo>
                  <a:pt x="7505700" y="4183620"/>
                  <a:pt x="7460220" y="4229100"/>
                  <a:pt x="7404117" y="4229100"/>
                </a:cubicBezTo>
                <a:lnTo>
                  <a:pt x="101583" y="4229100"/>
                </a:lnTo>
                <a:cubicBezTo>
                  <a:pt x="45480" y="4229100"/>
                  <a:pt x="0" y="4183620"/>
                  <a:pt x="0" y="4127517"/>
                </a:cubicBezTo>
                <a:lnTo>
                  <a:pt x="0" y="101583"/>
                </a:lnTo>
                <a:cubicBezTo>
                  <a:pt x="0" y="45518"/>
                  <a:pt x="45518" y="0"/>
                  <a:pt x="10158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47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271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36700" y="23241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资源向量空间理论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59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YARN将所有资源类型映射到n维向量空间，每个维度代表一种资源类型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" y="3467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30300" y="341630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统一操作语义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0300" y="3721100"/>
            <a:ext cx="453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所有资源类型支持相同的数学运算（加法、减法、比较）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" y="412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30300" y="40767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动态扩展能力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0300" y="4381500"/>
            <a:ext cx="364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新资源类型可作为新维度动态添加到向量空间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478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30300" y="47371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资源组合优化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0300" y="5041900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调度器可在多维空间中寻找最优分配方案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5950" y="1936750"/>
            <a:ext cx="7505700" cy="4229100"/>
          </a:xfrm>
          <a:custGeom>
            <a:avLst/>
            <a:gdLst/>
            <a:ahLst/>
            <a:cxnLst/>
            <a:rect l="l" t="t" r="r" b="b"/>
            <a:pathLst>
              <a:path w="7505700" h="4229100">
                <a:moveTo>
                  <a:pt x="101583" y="0"/>
                </a:moveTo>
                <a:lnTo>
                  <a:pt x="7404117" y="0"/>
                </a:lnTo>
                <a:cubicBezTo>
                  <a:pt x="7460220" y="0"/>
                  <a:pt x="7505700" y="45480"/>
                  <a:pt x="7505700" y="101583"/>
                </a:cubicBezTo>
                <a:lnTo>
                  <a:pt x="7505700" y="4127517"/>
                </a:lnTo>
                <a:cubicBezTo>
                  <a:pt x="7505700" y="4183620"/>
                  <a:pt x="7460220" y="4229100"/>
                  <a:pt x="7404117" y="4229100"/>
                </a:cubicBezTo>
                <a:lnTo>
                  <a:pt x="101583" y="4229100"/>
                </a:lnTo>
                <a:cubicBezTo>
                  <a:pt x="45480" y="4229100"/>
                  <a:pt x="0" y="4183620"/>
                  <a:pt x="0" y="4127517"/>
                </a:cubicBezTo>
                <a:lnTo>
                  <a:pt x="0" y="101583"/>
                </a:lnTo>
                <a:cubicBezTo>
                  <a:pt x="0" y="45518"/>
                  <a:pt x="45518" y="0"/>
                  <a:pt x="10158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963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487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258300" y="23241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三层资源架构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96300" y="2959100"/>
            <a:ext cx="6985000" cy="914400"/>
          </a:xfrm>
          <a:custGeom>
            <a:avLst/>
            <a:gdLst/>
            <a:ahLst/>
            <a:cxnLst/>
            <a:rect l="l" t="t" r="r" b="b"/>
            <a:pathLst>
              <a:path w="6985000" h="914400">
                <a:moveTo>
                  <a:pt x="50804" y="0"/>
                </a:moveTo>
                <a:lnTo>
                  <a:pt x="6934196" y="0"/>
                </a:lnTo>
                <a:cubicBezTo>
                  <a:pt x="6962254" y="0"/>
                  <a:pt x="6985000" y="22746"/>
                  <a:pt x="6985000" y="50804"/>
                </a:cubicBezTo>
                <a:lnTo>
                  <a:pt x="6985000" y="863596"/>
                </a:lnTo>
                <a:cubicBezTo>
                  <a:pt x="6985000" y="891654"/>
                  <a:pt x="6962254" y="914400"/>
                  <a:pt x="69341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648700" y="31115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核心资源层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48700" y="34671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内存、CPU - 保证与早期YARN版本的完全兼容性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96300" y="3975100"/>
            <a:ext cx="6985000" cy="914400"/>
          </a:xfrm>
          <a:custGeom>
            <a:avLst/>
            <a:gdLst/>
            <a:ahLst/>
            <a:cxnLst/>
            <a:rect l="l" t="t" r="r" b="b"/>
            <a:pathLst>
              <a:path w="6985000" h="914400">
                <a:moveTo>
                  <a:pt x="50804" y="0"/>
                </a:moveTo>
                <a:lnTo>
                  <a:pt x="6934196" y="0"/>
                </a:lnTo>
                <a:cubicBezTo>
                  <a:pt x="6962254" y="0"/>
                  <a:pt x="6985000" y="22746"/>
                  <a:pt x="6985000" y="50804"/>
                </a:cubicBezTo>
                <a:lnTo>
                  <a:pt x="6985000" y="863596"/>
                </a:lnTo>
                <a:cubicBezTo>
                  <a:pt x="6985000" y="891654"/>
                  <a:pt x="6962254" y="914400"/>
                  <a:pt x="69341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48700" y="41275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标准扩展资源层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48700" y="44831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GPU、FPGA、高速存储等常见新型硬件资源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96300" y="4991100"/>
            <a:ext cx="6985000" cy="914400"/>
          </a:xfrm>
          <a:custGeom>
            <a:avLst/>
            <a:gdLst/>
            <a:ahLst/>
            <a:cxnLst/>
            <a:rect l="l" t="t" r="r" b="b"/>
            <a:pathLst>
              <a:path w="6985000" h="914400">
                <a:moveTo>
                  <a:pt x="50804" y="0"/>
                </a:moveTo>
                <a:lnTo>
                  <a:pt x="6934196" y="0"/>
                </a:lnTo>
                <a:cubicBezTo>
                  <a:pt x="6962254" y="0"/>
                  <a:pt x="6985000" y="22746"/>
                  <a:pt x="6985000" y="50804"/>
                </a:cubicBezTo>
                <a:lnTo>
                  <a:pt x="6985000" y="863596"/>
                </a:lnTo>
                <a:cubicBezTo>
                  <a:pt x="6985000" y="891654"/>
                  <a:pt x="6962254" y="914400"/>
                  <a:pt x="69341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48700" y="51435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自定义资源层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48700" y="54991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特殊加速器、网络带宽等专有资源类型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6381750"/>
            <a:ext cx="4927600" cy="1892300"/>
          </a:xfrm>
          <a:custGeom>
            <a:avLst/>
            <a:gdLst/>
            <a:ahLst/>
            <a:cxnLst/>
            <a:rect l="l" t="t" r="r" b="b"/>
            <a:pathLst>
              <a:path w="4927600" h="1892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1790702"/>
                </a:lnTo>
                <a:cubicBezTo>
                  <a:pt x="4927600" y="1846813"/>
                  <a:pt x="4882113" y="1892300"/>
                  <a:pt x="48260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2751634" y="664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20908"/>
                </a:lnTo>
                <a:cubicBezTo>
                  <a:pt x="0" y="126980"/>
                  <a:pt x="3929" y="132159"/>
                  <a:pt x="9019" y="135463"/>
                </a:cubicBezTo>
                <a:cubicBezTo>
                  <a:pt x="20806" y="143143"/>
                  <a:pt x="28575" y="156359"/>
                  <a:pt x="28575" y="171450"/>
                </a:cubicBezTo>
                <a:cubicBezTo>
                  <a:pt x="28575" y="186541"/>
                  <a:pt x="20806" y="199757"/>
                  <a:pt x="9019" y="207437"/>
                </a:cubicBezTo>
                <a:cubicBezTo>
                  <a:pt x="3929" y="210741"/>
                  <a:pt x="0" y="215920"/>
                  <a:pt x="0" y="221992"/>
                </a:cubicBezTo>
                <a:lnTo>
                  <a:pt x="0" y="271463"/>
                </a:lnTo>
                <a:lnTo>
                  <a:pt x="457200" y="271463"/>
                </a:lnTo>
                <a:lnTo>
                  <a:pt x="457200" y="221992"/>
                </a:lnTo>
                <a:cubicBezTo>
                  <a:pt x="457200" y="215920"/>
                  <a:pt x="453271" y="210741"/>
                  <a:pt x="448181" y="207437"/>
                </a:cubicBezTo>
                <a:cubicBezTo>
                  <a:pt x="436394" y="199757"/>
                  <a:pt x="428625" y="186541"/>
                  <a:pt x="428625" y="171450"/>
                </a:cubicBezTo>
                <a:cubicBezTo>
                  <a:pt x="428625" y="156359"/>
                  <a:pt x="436394" y="143143"/>
                  <a:pt x="448181" y="135463"/>
                </a:cubicBezTo>
                <a:cubicBezTo>
                  <a:pt x="453271" y="132159"/>
                  <a:pt x="457200" y="126980"/>
                  <a:pt x="457200" y="120908"/>
                </a:cubicBez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lose/>
                <a:moveTo>
                  <a:pt x="457200" y="371475"/>
                </a:moveTo>
                <a:lnTo>
                  <a:pt x="457200" y="314325"/>
                </a:lnTo>
                <a:lnTo>
                  <a:pt x="0" y="314325"/>
                </a:ln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85725" y="400050"/>
                </a:lnTo>
                <a:lnTo>
                  <a:pt x="85725" y="378619"/>
                </a:lnTo>
                <a:cubicBezTo>
                  <a:pt x="85725" y="366742"/>
                  <a:pt x="95280" y="357188"/>
                  <a:pt x="107156" y="357188"/>
                </a:cubicBezTo>
                <a:cubicBezTo>
                  <a:pt x="119033" y="357188"/>
                  <a:pt x="128588" y="366742"/>
                  <a:pt x="128588" y="378619"/>
                </a:cubicBezTo>
                <a:lnTo>
                  <a:pt x="128588" y="400050"/>
                </a:lnTo>
                <a:lnTo>
                  <a:pt x="207169" y="400050"/>
                </a:lnTo>
                <a:lnTo>
                  <a:pt x="207169" y="378619"/>
                </a:lnTo>
                <a:cubicBezTo>
                  <a:pt x="207169" y="366742"/>
                  <a:pt x="216724" y="357188"/>
                  <a:pt x="228600" y="357188"/>
                </a:cubicBezTo>
                <a:cubicBezTo>
                  <a:pt x="240476" y="357188"/>
                  <a:pt x="250031" y="366742"/>
                  <a:pt x="250031" y="378619"/>
                </a:cubicBezTo>
                <a:lnTo>
                  <a:pt x="250031" y="400050"/>
                </a:lnTo>
                <a:lnTo>
                  <a:pt x="328613" y="400050"/>
                </a:lnTo>
                <a:lnTo>
                  <a:pt x="328613" y="378619"/>
                </a:lnTo>
                <a:cubicBezTo>
                  <a:pt x="328613" y="366742"/>
                  <a:pt x="338167" y="357188"/>
                  <a:pt x="350044" y="357188"/>
                </a:cubicBezTo>
                <a:cubicBezTo>
                  <a:pt x="361920" y="357188"/>
                  <a:pt x="371475" y="366742"/>
                  <a:pt x="371475" y="378619"/>
                </a:cubicBezTo>
                <a:lnTo>
                  <a:pt x="371475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lose/>
                <a:moveTo>
                  <a:pt x="142875" y="142875"/>
                </a:moveTo>
                <a:lnTo>
                  <a:pt x="142875" y="200025"/>
                </a:lnTo>
                <a:cubicBezTo>
                  <a:pt x="142875" y="215831"/>
                  <a:pt x="130106" y="228600"/>
                  <a:pt x="114300" y="228600"/>
                </a:cubicBezTo>
                <a:cubicBezTo>
                  <a:pt x="98494" y="228600"/>
                  <a:pt x="85725" y="215831"/>
                  <a:pt x="85725" y="200025"/>
                </a:cubicBezTo>
                <a:lnTo>
                  <a:pt x="85725" y="142875"/>
                </a:lnTo>
                <a:cubicBezTo>
                  <a:pt x="85725" y="127069"/>
                  <a:pt x="98494" y="114300"/>
                  <a:pt x="114300" y="114300"/>
                </a:cubicBezTo>
                <a:cubicBezTo>
                  <a:pt x="130106" y="114300"/>
                  <a:pt x="142875" y="127069"/>
                  <a:pt x="142875" y="142875"/>
                </a:cubicBezTo>
                <a:close/>
                <a:moveTo>
                  <a:pt x="257175" y="142875"/>
                </a:moveTo>
                <a:lnTo>
                  <a:pt x="257175" y="200025"/>
                </a:lnTo>
                <a:cubicBezTo>
                  <a:pt x="257175" y="215831"/>
                  <a:pt x="244406" y="228600"/>
                  <a:pt x="228600" y="228600"/>
                </a:cubicBezTo>
                <a:cubicBezTo>
                  <a:pt x="212794" y="228600"/>
                  <a:pt x="200025" y="215831"/>
                  <a:pt x="200025" y="200025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71475" y="142875"/>
                </a:moveTo>
                <a:lnTo>
                  <a:pt x="371475" y="200025"/>
                </a:lnTo>
                <a:cubicBezTo>
                  <a:pt x="371475" y="215831"/>
                  <a:pt x="358706" y="228600"/>
                  <a:pt x="342900" y="228600"/>
                </a:cubicBezTo>
                <a:cubicBezTo>
                  <a:pt x="327094" y="228600"/>
                  <a:pt x="314325" y="215831"/>
                  <a:pt x="314325" y="200025"/>
                </a:cubicBezTo>
                <a:lnTo>
                  <a:pt x="314325" y="142875"/>
                </a:lnTo>
                <a:cubicBezTo>
                  <a:pt x="314325" y="127069"/>
                  <a:pt x="327094" y="114300"/>
                  <a:pt x="342900" y="114300"/>
                </a:cubicBezTo>
                <a:cubicBezTo>
                  <a:pt x="358706" y="114300"/>
                  <a:pt x="371475" y="127069"/>
                  <a:pt x="371475" y="14287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11200" y="7251700"/>
            <a:ext cx="453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核心资源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900" y="77089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内存、CPU - 所有应用均可使用的基础资源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2017" y="6381750"/>
            <a:ext cx="4927600" cy="1892300"/>
          </a:xfrm>
          <a:custGeom>
            <a:avLst/>
            <a:gdLst/>
            <a:ahLst/>
            <a:cxnLst/>
            <a:rect l="l" t="t" r="r" b="b"/>
            <a:pathLst>
              <a:path w="4927600" h="1892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1790702"/>
                </a:lnTo>
                <a:cubicBezTo>
                  <a:pt x="4927600" y="1846813"/>
                  <a:pt x="4882113" y="1892300"/>
                  <a:pt x="48260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899301" y="664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858867" y="7251700"/>
            <a:ext cx="453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扩展资源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71567" y="77089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GPU、FPGA - 为AI和大数据应用提供加速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09784" y="6381750"/>
            <a:ext cx="4927600" cy="1892300"/>
          </a:xfrm>
          <a:custGeom>
            <a:avLst/>
            <a:gdLst/>
            <a:ahLst/>
            <a:cxnLst/>
            <a:rect l="l" t="t" r="r" b="b"/>
            <a:pathLst>
              <a:path w="4927600" h="1892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1790702"/>
                </a:lnTo>
                <a:cubicBezTo>
                  <a:pt x="4927600" y="1846813"/>
                  <a:pt x="4882113" y="1892300"/>
                  <a:pt x="48260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3047067" y="664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7169" y="307181"/>
                </a:moveTo>
                <a:lnTo>
                  <a:pt x="207169" y="250031"/>
                </a:ln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lnTo>
                  <a:pt x="207169" y="207169"/>
                </a:lnTo>
                <a:lnTo>
                  <a:pt x="207169" y="150019"/>
                </a:lnTo>
                <a:cubicBezTo>
                  <a:pt x="207169" y="138142"/>
                  <a:pt x="216724" y="128588"/>
                  <a:pt x="228600" y="128588"/>
                </a:cubicBezTo>
                <a:cubicBezTo>
                  <a:pt x="240476" y="128588"/>
                  <a:pt x="250031" y="138142"/>
                  <a:pt x="250031" y="150019"/>
                </a:cubicBezTo>
                <a:lnTo>
                  <a:pt x="250031" y="207169"/>
                </a:ln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250031" y="250031"/>
                </a:lnTo>
                <a:lnTo>
                  <a:pt x="250031" y="307181"/>
                </a:lnTo>
                <a:cubicBezTo>
                  <a:pt x="250031" y="319058"/>
                  <a:pt x="240476" y="328613"/>
                  <a:pt x="228600" y="328613"/>
                </a:cubicBezTo>
                <a:cubicBezTo>
                  <a:pt x="216724" y="328613"/>
                  <a:pt x="207169" y="319058"/>
                  <a:pt x="207169" y="30718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006634" y="7251700"/>
            <a:ext cx="453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自定义资源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19334" y="77089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特殊硬件 - 支持用户定义的专有资源类型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455" y="465455"/>
            <a:ext cx="15418182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kern="0" spc="73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LIFECYCLE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5455" y="837818"/>
            <a:ext cx="15534545" cy="46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9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生命周期与状态管理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5455" y="1442909"/>
            <a:ext cx="1117091" cy="46545"/>
          </a:xfrm>
          <a:custGeom>
            <a:avLst/>
            <a:gdLst/>
            <a:ahLst/>
            <a:cxnLst/>
            <a:rect l="l" t="t" r="r" b="b"/>
            <a:pathLst>
              <a:path w="1117091" h="46545">
                <a:moveTo>
                  <a:pt x="0" y="0"/>
                </a:moveTo>
                <a:lnTo>
                  <a:pt x="1117091" y="0"/>
                </a:lnTo>
                <a:lnTo>
                  <a:pt x="1117091" y="46545"/>
                </a:lnTo>
                <a:lnTo>
                  <a:pt x="0" y="46545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1273" y="1774545"/>
            <a:ext cx="7563636" cy="4154182"/>
          </a:xfrm>
          <a:custGeom>
            <a:avLst/>
            <a:gdLst/>
            <a:ahLst/>
            <a:cxnLst/>
            <a:rect l="l" t="t" r="r" b="b"/>
            <a:pathLst>
              <a:path w="7563636" h="4154182">
                <a:moveTo>
                  <a:pt x="93095" y="0"/>
                </a:moveTo>
                <a:lnTo>
                  <a:pt x="7470541" y="0"/>
                </a:lnTo>
                <a:cubicBezTo>
                  <a:pt x="7521956" y="0"/>
                  <a:pt x="7563636" y="41680"/>
                  <a:pt x="7563636" y="93095"/>
                </a:cubicBezTo>
                <a:lnTo>
                  <a:pt x="7563636" y="4061087"/>
                </a:lnTo>
                <a:cubicBezTo>
                  <a:pt x="7563636" y="4112502"/>
                  <a:pt x="7521956" y="4154182"/>
                  <a:pt x="7470541" y="4154182"/>
                </a:cubicBezTo>
                <a:lnTo>
                  <a:pt x="93095" y="4154182"/>
                </a:lnTo>
                <a:cubicBezTo>
                  <a:pt x="41680" y="4154182"/>
                  <a:pt x="0" y="4112502"/>
                  <a:pt x="0" y="4061087"/>
                </a:cubicBezTo>
                <a:lnTo>
                  <a:pt x="0" y="93095"/>
                </a:lnTo>
                <a:cubicBezTo>
                  <a:pt x="0" y="41715"/>
                  <a:pt x="41715" y="0"/>
                  <a:pt x="930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9818" y="2013091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93093" y="0"/>
                </a:moveTo>
                <a:lnTo>
                  <a:pt x="465453" y="0"/>
                </a:lnTo>
                <a:cubicBezTo>
                  <a:pt x="516866" y="0"/>
                  <a:pt x="558545" y="41679"/>
                  <a:pt x="558545" y="93093"/>
                </a:cubicBezTo>
                <a:lnTo>
                  <a:pt x="558545" y="465453"/>
                </a:lnTo>
                <a:cubicBezTo>
                  <a:pt x="558545" y="516866"/>
                  <a:pt x="516866" y="558545"/>
                  <a:pt x="465453" y="558545"/>
                </a:cubicBezTo>
                <a:lnTo>
                  <a:pt x="93093" y="558545"/>
                </a:lnTo>
                <a:cubicBezTo>
                  <a:pt x="41679" y="558545"/>
                  <a:pt x="0" y="516866"/>
                  <a:pt x="0" y="465453"/>
                </a:cubicBezTo>
                <a:lnTo>
                  <a:pt x="0" y="93093"/>
                </a:lnTo>
                <a:cubicBezTo>
                  <a:pt x="0" y="41679"/>
                  <a:pt x="41679" y="0"/>
                  <a:pt x="9309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9455" y="21527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279273" y="17455"/>
                </a:moveTo>
                <a:cubicBezTo>
                  <a:pt x="279273" y="76418"/>
                  <a:pt x="237491" y="125618"/>
                  <a:pt x="181964" y="137127"/>
                </a:cubicBezTo>
                <a:cubicBezTo>
                  <a:pt x="177655" y="105436"/>
                  <a:pt x="163418" y="76909"/>
                  <a:pt x="142418" y="54818"/>
                </a:cubicBezTo>
                <a:cubicBezTo>
                  <a:pt x="164291" y="21818"/>
                  <a:pt x="201764" y="0"/>
                  <a:pt x="244364" y="0"/>
                </a:cubicBezTo>
                <a:lnTo>
                  <a:pt x="261818" y="0"/>
                </a:lnTo>
                <a:cubicBezTo>
                  <a:pt x="271473" y="0"/>
                  <a:pt x="279273" y="7800"/>
                  <a:pt x="279273" y="17455"/>
                </a:cubicBezTo>
                <a:close/>
                <a:moveTo>
                  <a:pt x="0" y="52364"/>
                </a:moveTo>
                <a:cubicBezTo>
                  <a:pt x="0" y="42709"/>
                  <a:pt x="7800" y="34909"/>
                  <a:pt x="17455" y="34909"/>
                </a:cubicBezTo>
                <a:lnTo>
                  <a:pt x="34909" y="34909"/>
                </a:lnTo>
                <a:cubicBezTo>
                  <a:pt x="102382" y="34909"/>
                  <a:pt x="157091" y="89618"/>
                  <a:pt x="157091" y="157091"/>
                </a:cubicBezTo>
                <a:lnTo>
                  <a:pt x="157091" y="261818"/>
                </a:lnTo>
                <a:cubicBezTo>
                  <a:pt x="157091" y="271473"/>
                  <a:pt x="149291" y="279273"/>
                  <a:pt x="139636" y="279273"/>
                </a:cubicBezTo>
                <a:cubicBezTo>
                  <a:pt x="129982" y="279273"/>
                  <a:pt x="122182" y="271473"/>
                  <a:pt x="122182" y="261818"/>
                </a:cubicBezTo>
                <a:lnTo>
                  <a:pt x="122182" y="174545"/>
                </a:lnTo>
                <a:cubicBezTo>
                  <a:pt x="54709" y="174545"/>
                  <a:pt x="0" y="119836"/>
                  <a:pt x="0" y="5236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08000" y="2129455"/>
            <a:ext cx="2443636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设计理念：关注点分离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9818" y="2711273"/>
            <a:ext cx="7179636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Container实现了资源封装与任务执行的分离，体现现代分布式系统的核心设计思想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9818" y="3130182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46546" y="0"/>
                </a:moveTo>
                <a:lnTo>
                  <a:pt x="232726" y="0"/>
                </a:lnTo>
                <a:cubicBezTo>
                  <a:pt x="258433" y="0"/>
                  <a:pt x="279273" y="20840"/>
                  <a:pt x="279273" y="46546"/>
                </a:cubicBezTo>
                <a:lnTo>
                  <a:pt x="279273" y="232726"/>
                </a:lnTo>
                <a:cubicBezTo>
                  <a:pt x="279273" y="258433"/>
                  <a:pt x="258433" y="279273"/>
                  <a:pt x="232726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000" y="3176727"/>
            <a:ext cx="128000" cy="18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2182" y="3130182"/>
            <a:ext cx="3106909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资源管理与任务执行分离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2182" y="3409455"/>
            <a:ext cx="3095273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Container只负责资源封装和生命周期管理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9818" y="3735273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46546" y="0"/>
                </a:moveTo>
                <a:lnTo>
                  <a:pt x="232726" y="0"/>
                </a:lnTo>
                <a:cubicBezTo>
                  <a:pt x="258433" y="0"/>
                  <a:pt x="279273" y="20840"/>
                  <a:pt x="279273" y="46546"/>
                </a:cubicBezTo>
                <a:lnTo>
                  <a:pt x="279273" y="232726"/>
                </a:lnTo>
                <a:cubicBezTo>
                  <a:pt x="279273" y="258433"/>
                  <a:pt x="258433" y="279273"/>
                  <a:pt x="232726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10182" y="3781818"/>
            <a:ext cx="151273" cy="18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2182" y="3735273"/>
            <a:ext cx="3677091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全局调度与局部调度分离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2182" y="4014545"/>
            <a:ext cx="366545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RM负责全局资源分配，AM负责应用内部任务调度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9818" y="4340364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46546" y="0"/>
                </a:moveTo>
                <a:lnTo>
                  <a:pt x="232726" y="0"/>
                </a:lnTo>
                <a:cubicBezTo>
                  <a:pt x="258433" y="0"/>
                  <a:pt x="279273" y="20840"/>
                  <a:pt x="279273" y="46546"/>
                </a:cubicBezTo>
                <a:lnTo>
                  <a:pt x="279273" y="232726"/>
                </a:lnTo>
                <a:cubicBezTo>
                  <a:pt x="279273" y="258433"/>
                  <a:pt x="258433" y="279273"/>
                  <a:pt x="232726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8364" y="4386909"/>
            <a:ext cx="151273" cy="18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2182" y="4340364"/>
            <a:ext cx="3514182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资源分配与资源使用分离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2182" y="4619636"/>
            <a:ext cx="350254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资源的分配由调度器决定，使用由应用程序控制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8818" y="1774545"/>
            <a:ext cx="7563636" cy="4154182"/>
          </a:xfrm>
          <a:custGeom>
            <a:avLst/>
            <a:gdLst/>
            <a:ahLst/>
            <a:cxnLst/>
            <a:rect l="l" t="t" r="r" b="b"/>
            <a:pathLst>
              <a:path w="7563636" h="4154182">
                <a:moveTo>
                  <a:pt x="93095" y="0"/>
                </a:moveTo>
                <a:lnTo>
                  <a:pt x="7470541" y="0"/>
                </a:lnTo>
                <a:cubicBezTo>
                  <a:pt x="7521956" y="0"/>
                  <a:pt x="7563636" y="41680"/>
                  <a:pt x="7563636" y="93095"/>
                </a:cubicBezTo>
                <a:lnTo>
                  <a:pt x="7563636" y="4061087"/>
                </a:lnTo>
                <a:cubicBezTo>
                  <a:pt x="7563636" y="4112502"/>
                  <a:pt x="7521956" y="4154182"/>
                  <a:pt x="7470541" y="4154182"/>
                </a:cubicBezTo>
                <a:lnTo>
                  <a:pt x="93095" y="4154182"/>
                </a:lnTo>
                <a:cubicBezTo>
                  <a:pt x="41680" y="4154182"/>
                  <a:pt x="0" y="4112502"/>
                  <a:pt x="0" y="4061087"/>
                </a:cubicBezTo>
                <a:lnTo>
                  <a:pt x="0" y="93095"/>
                </a:lnTo>
                <a:cubicBezTo>
                  <a:pt x="0" y="41715"/>
                  <a:pt x="41715" y="0"/>
                  <a:pt x="930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67364" y="2013091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93093" y="0"/>
                </a:moveTo>
                <a:lnTo>
                  <a:pt x="465453" y="0"/>
                </a:lnTo>
                <a:cubicBezTo>
                  <a:pt x="516866" y="0"/>
                  <a:pt x="558545" y="41679"/>
                  <a:pt x="558545" y="93093"/>
                </a:cubicBezTo>
                <a:lnTo>
                  <a:pt x="558545" y="465453"/>
                </a:lnTo>
                <a:cubicBezTo>
                  <a:pt x="558545" y="516866"/>
                  <a:pt x="516866" y="558545"/>
                  <a:pt x="465453" y="558545"/>
                </a:cubicBezTo>
                <a:lnTo>
                  <a:pt x="93093" y="558545"/>
                </a:lnTo>
                <a:cubicBezTo>
                  <a:pt x="41679" y="558545"/>
                  <a:pt x="0" y="516866"/>
                  <a:pt x="0" y="465453"/>
                </a:cubicBezTo>
                <a:lnTo>
                  <a:pt x="0" y="93093"/>
                </a:lnTo>
                <a:cubicBezTo>
                  <a:pt x="0" y="41679"/>
                  <a:pt x="41679" y="0"/>
                  <a:pt x="9309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07000" y="21527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04727" y="34909"/>
                </a:moveTo>
                <a:cubicBezTo>
                  <a:pt x="104727" y="25255"/>
                  <a:pt x="112527" y="17455"/>
                  <a:pt x="122182" y="17455"/>
                </a:cubicBezTo>
                <a:lnTo>
                  <a:pt x="157091" y="17455"/>
                </a:lnTo>
                <a:cubicBezTo>
                  <a:pt x="166745" y="17455"/>
                  <a:pt x="174545" y="25255"/>
                  <a:pt x="174545" y="34909"/>
                </a:cubicBezTo>
                <a:lnTo>
                  <a:pt x="174545" y="69818"/>
                </a:lnTo>
                <a:cubicBezTo>
                  <a:pt x="174545" y="79473"/>
                  <a:pt x="166745" y="87273"/>
                  <a:pt x="157091" y="87273"/>
                </a:cubicBezTo>
                <a:lnTo>
                  <a:pt x="152727" y="87273"/>
                </a:lnTo>
                <a:lnTo>
                  <a:pt x="152727" y="122182"/>
                </a:lnTo>
                <a:lnTo>
                  <a:pt x="218182" y="122182"/>
                </a:lnTo>
                <a:cubicBezTo>
                  <a:pt x="239891" y="122182"/>
                  <a:pt x="257455" y="139745"/>
                  <a:pt x="257455" y="161455"/>
                </a:cubicBezTo>
                <a:lnTo>
                  <a:pt x="257455" y="192000"/>
                </a:lnTo>
                <a:lnTo>
                  <a:pt x="261818" y="192000"/>
                </a:lnTo>
                <a:cubicBezTo>
                  <a:pt x="271473" y="192000"/>
                  <a:pt x="279273" y="199800"/>
                  <a:pt x="279273" y="209455"/>
                </a:cubicBezTo>
                <a:lnTo>
                  <a:pt x="279273" y="244364"/>
                </a:lnTo>
                <a:cubicBezTo>
                  <a:pt x="279273" y="254018"/>
                  <a:pt x="271473" y="261818"/>
                  <a:pt x="261818" y="261818"/>
                </a:cubicBezTo>
                <a:lnTo>
                  <a:pt x="226909" y="261818"/>
                </a:lnTo>
                <a:cubicBezTo>
                  <a:pt x="217255" y="261818"/>
                  <a:pt x="209455" y="254018"/>
                  <a:pt x="209455" y="244364"/>
                </a:cubicBezTo>
                <a:lnTo>
                  <a:pt x="209455" y="209455"/>
                </a:lnTo>
                <a:cubicBezTo>
                  <a:pt x="209455" y="199800"/>
                  <a:pt x="217255" y="192000"/>
                  <a:pt x="226909" y="192000"/>
                </a:cubicBezTo>
                <a:lnTo>
                  <a:pt x="231273" y="192000"/>
                </a:lnTo>
                <a:lnTo>
                  <a:pt x="231273" y="161455"/>
                </a:lnTo>
                <a:cubicBezTo>
                  <a:pt x="231273" y="154200"/>
                  <a:pt x="225436" y="148364"/>
                  <a:pt x="218182" y="148364"/>
                </a:cubicBezTo>
                <a:lnTo>
                  <a:pt x="152727" y="148364"/>
                </a:lnTo>
                <a:lnTo>
                  <a:pt x="152727" y="192000"/>
                </a:lnTo>
                <a:lnTo>
                  <a:pt x="157091" y="192000"/>
                </a:lnTo>
                <a:cubicBezTo>
                  <a:pt x="166745" y="192000"/>
                  <a:pt x="174545" y="199800"/>
                  <a:pt x="174545" y="209455"/>
                </a:cubicBezTo>
                <a:lnTo>
                  <a:pt x="174545" y="244364"/>
                </a:lnTo>
                <a:cubicBezTo>
                  <a:pt x="174545" y="254018"/>
                  <a:pt x="166745" y="261818"/>
                  <a:pt x="157091" y="261818"/>
                </a:cubicBezTo>
                <a:lnTo>
                  <a:pt x="122182" y="261818"/>
                </a:lnTo>
                <a:cubicBezTo>
                  <a:pt x="112527" y="261818"/>
                  <a:pt x="104727" y="254018"/>
                  <a:pt x="104727" y="244364"/>
                </a:cubicBezTo>
                <a:lnTo>
                  <a:pt x="104727" y="209455"/>
                </a:lnTo>
                <a:cubicBezTo>
                  <a:pt x="104727" y="199800"/>
                  <a:pt x="112527" y="192000"/>
                  <a:pt x="122182" y="192000"/>
                </a:cubicBezTo>
                <a:lnTo>
                  <a:pt x="126545" y="192000"/>
                </a:lnTo>
                <a:lnTo>
                  <a:pt x="126545" y="148364"/>
                </a:lnTo>
                <a:lnTo>
                  <a:pt x="61091" y="148364"/>
                </a:lnTo>
                <a:cubicBezTo>
                  <a:pt x="53836" y="148364"/>
                  <a:pt x="48000" y="154200"/>
                  <a:pt x="48000" y="161455"/>
                </a:cubicBezTo>
                <a:lnTo>
                  <a:pt x="48000" y="192000"/>
                </a:lnTo>
                <a:lnTo>
                  <a:pt x="52364" y="192000"/>
                </a:lnTo>
                <a:cubicBezTo>
                  <a:pt x="62018" y="192000"/>
                  <a:pt x="69818" y="199800"/>
                  <a:pt x="69818" y="209455"/>
                </a:cubicBezTo>
                <a:lnTo>
                  <a:pt x="69818" y="244364"/>
                </a:lnTo>
                <a:cubicBezTo>
                  <a:pt x="69818" y="254018"/>
                  <a:pt x="62018" y="261818"/>
                  <a:pt x="52364" y="261818"/>
                </a:cubicBezTo>
                <a:lnTo>
                  <a:pt x="17455" y="261818"/>
                </a:lnTo>
                <a:cubicBezTo>
                  <a:pt x="7800" y="261818"/>
                  <a:pt x="0" y="254018"/>
                  <a:pt x="0" y="244364"/>
                </a:cubicBezTo>
                <a:lnTo>
                  <a:pt x="0" y="209455"/>
                </a:lnTo>
                <a:cubicBezTo>
                  <a:pt x="0" y="199800"/>
                  <a:pt x="7800" y="192000"/>
                  <a:pt x="17455" y="192000"/>
                </a:cubicBezTo>
                <a:lnTo>
                  <a:pt x="21818" y="192000"/>
                </a:lnTo>
                <a:lnTo>
                  <a:pt x="21818" y="161455"/>
                </a:lnTo>
                <a:cubicBezTo>
                  <a:pt x="21818" y="139745"/>
                  <a:pt x="39382" y="122182"/>
                  <a:pt x="61091" y="122182"/>
                </a:cubicBezTo>
                <a:lnTo>
                  <a:pt x="126545" y="122182"/>
                </a:lnTo>
                <a:lnTo>
                  <a:pt x="126545" y="87273"/>
                </a:lnTo>
                <a:lnTo>
                  <a:pt x="122182" y="87273"/>
                </a:lnTo>
                <a:cubicBezTo>
                  <a:pt x="112527" y="87273"/>
                  <a:pt x="104727" y="79473"/>
                  <a:pt x="104727" y="69818"/>
                </a:cubicBezTo>
                <a:lnTo>
                  <a:pt x="104727" y="3490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65545" y="2129455"/>
            <a:ext cx="1745455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有限状态机模型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67364" y="2711273"/>
            <a:ext cx="7179636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Container生命周期管理采用有限状态机模型，确保状态一致性和并发安全性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67364" y="3130182"/>
            <a:ext cx="7086545" cy="791273"/>
          </a:xfrm>
          <a:custGeom>
            <a:avLst/>
            <a:gdLst/>
            <a:ahLst/>
            <a:cxnLst/>
            <a:rect l="l" t="t" r="r" b="b"/>
            <a:pathLst>
              <a:path w="7086545" h="791273">
                <a:moveTo>
                  <a:pt x="46543" y="0"/>
                </a:moveTo>
                <a:lnTo>
                  <a:pt x="7040003" y="0"/>
                </a:lnTo>
                <a:cubicBezTo>
                  <a:pt x="7065708" y="0"/>
                  <a:pt x="7086545" y="20838"/>
                  <a:pt x="7086545" y="46543"/>
                </a:cubicBezTo>
                <a:lnTo>
                  <a:pt x="7086545" y="744730"/>
                </a:lnTo>
                <a:cubicBezTo>
                  <a:pt x="7086545" y="770435"/>
                  <a:pt x="7065708" y="791273"/>
                  <a:pt x="7040003" y="791273"/>
                </a:cubicBezTo>
                <a:lnTo>
                  <a:pt x="46543" y="791273"/>
                </a:lnTo>
                <a:cubicBezTo>
                  <a:pt x="20838" y="791273"/>
                  <a:pt x="0" y="770435"/>
                  <a:pt x="0" y="744730"/>
                </a:cubicBezTo>
                <a:lnTo>
                  <a:pt x="0" y="46543"/>
                </a:lnTo>
                <a:cubicBezTo>
                  <a:pt x="0" y="20838"/>
                  <a:pt x="20838" y="0"/>
                  <a:pt x="465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07000" y="3269818"/>
            <a:ext cx="690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状态一致性保证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07000" y="3549091"/>
            <a:ext cx="6888727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确保Container在任何时刻都处于明确定义的状态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67364" y="4014545"/>
            <a:ext cx="7086545" cy="791273"/>
          </a:xfrm>
          <a:custGeom>
            <a:avLst/>
            <a:gdLst/>
            <a:ahLst/>
            <a:cxnLst/>
            <a:rect l="l" t="t" r="r" b="b"/>
            <a:pathLst>
              <a:path w="7086545" h="791273">
                <a:moveTo>
                  <a:pt x="46543" y="0"/>
                </a:moveTo>
                <a:lnTo>
                  <a:pt x="7040003" y="0"/>
                </a:lnTo>
                <a:cubicBezTo>
                  <a:pt x="7065708" y="0"/>
                  <a:pt x="7086545" y="20838"/>
                  <a:pt x="7086545" y="46543"/>
                </a:cubicBezTo>
                <a:lnTo>
                  <a:pt x="7086545" y="744730"/>
                </a:lnTo>
                <a:cubicBezTo>
                  <a:pt x="7086545" y="770435"/>
                  <a:pt x="7065708" y="791273"/>
                  <a:pt x="7040003" y="791273"/>
                </a:cubicBezTo>
                <a:lnTo>
                  <a:pt x="46543" y="791273"/>
                </a:lnTo>
                <a:cubicBezTo>
                  <a:pt x="20838" y="791273"/>
                  <a:pt x="0" y="770435"/>
                  <a:pt x="0" y="744730"/>
                </a:cubicBezTo>
                <a:lnTo>
                  <a:pt x="0" y="46543"/>
                </a:lnTo>
                <a:cubicBezTo>
                  <a:pt x="0" y="20838"/>
                  <a:pt x="20838" y="0"/>
                  <a:pt x="465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07000" y="4154182"/>
            <a:ext cx="690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异常处理简化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07000" y="4433455"/>
            <a:ext cx="6888727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每个状态都有明确的进入和退出条件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67364" y="4898909"/>
            <a:ext cx="7086545" cy="791273"/>
          </a:xfrm>
          <a:custGeom>
            <a:avLst/>
            <a:gdLst/>
            <a:ahLst/>
            <a:cxnLst/>
            <a:rect l="l" t="t" r="r" b="b"/>
            <a:pathLst>
              <a:path w="7086545" h="791273">
                <a:moveTo>
                  <a:pt x="46543" y="0"/>
                </a:moveTo>
                <a:lnTo>
                  <a:pt x="7040003" y="0"/>
                </a:lnTo>
                <a:cubicBezTo>
                  <a:pt x="7065708" y="0"/>
                  <a:pt x="7086545" y="20838"/>
                  <a:pt x="7086545" y="46543"/>
                </a:cubicBezTo>
                <a:lnTo>
                  <a:pt x="7086545" y="744730"/>
                </a:lnTo>
                <a:cubicBezTo>
                  <a:pt x="7086545" y="770435"/>
                  <a:pt x="7065708" y="791273"/>
                  <a:pt x="7040003" y="791273"/>
                </a:cubicBezTo>
                <a:lnTo>
                  <a:pt x="46543" y="791273"/>
                </a:lnTo>
                <a:cubicBezTo>
                  <a:pt x="20838" y="791273"/>
                  <a:pt x="0" y="770435"/>
                  <a:pt x="0" y="744730"/>
                </a:cubicBezTo>
                <a:lnTo>
                  <a:pt x="0" y="46543"/>
                </a:lnTo>
                <a:cubicBezTo>
                  <a:pt x="0" y="20838"/>
                  <a:pt x="20838" y="0"/>
                  <a:pt x="465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07000" y="5038545"/>
            <a:ext cx="690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并发安全性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07000" y="5317818"/>
            <a:ext cx="6888727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状态转换的原子性保证多线程环境下的安全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7091" y="6132364"/>
            <a:ext cx="15301818" cy="2536727"/>
          </a:xfrm>
          <a:custGeom>
            <a:avLst/>
            <a:gdLst/>
            <a:ahLst/>
            <a:cxnLst/>
            <a:rect l="l" t="t" r="r" b="b"/>
            <a:pathLst>
              <a:path w="15301818" h="2536727">
                <a:moveTo>
                  <a:pt x="93098" y="0"/>
                </a:moveTo>
                <a:lnTo>
                  <a:pt x="15208720" y="0"/>
                </a:lnTo>
                <a:cubicBezTo>
                  <a:pt x="15260137" y="0"/>
                  <a:pt x="15301818" y="41681"/>
                  <a:pt x="15301818" y="93098"/>
                </a:cubicBezTo>
                <a:lnTo>
                  <a:pt x="15301818" y="2443629"/>
                </a:lnTo>
                <a:cubicBezTo>
                  <a:pt x="15301818" y="2495046"/>
                  <a:pt x="15260137" y="2536727"/>
                  <a:pt x="15208720" y="2536727"/>
                </a:cubicBezTo>
                <a:lnTo>
                  <a:pt x="93098" y="2536727"/>
                </a:lnTo>
                <a:cubicBezTo>
                  <a:pt x="41681" y="2536727"/>
                  <a:pt x="0" y="2495046"/>
                  <a:pt x="0" y="2443629"/>
                </a:cubicBezTo>
                <a:lnTo>
                  <a:pt x="0" y="93098"/>
                </a:lnTo>
                <a:cubicBezTo>
                  <a:pt x="0" y="41716"/>
                  <a:pt x="41716" y="0"/>
                  <a:pt x="930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3273" y="6376727"/>
            <a:ext cx="14929455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状态转换流程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091" y="6900364"/>
            <a:ext cx="907636" cy="907636"/>
          </a:xfrm>
          <a:custGeom>
            <a:avLst/>
            <a:gdLst/>
            <a:ahLst/>
            <a:cxnLst/>
            <a:rect l="l" t="t" r="r" b="b"/>
            <a:pathLst>
              <a:path w="907636" h="907636">
                <a:moveTo>
                  <a:pt x="453818" y="0"/>
                </a:moveTo>
                <a:lnTo>
                  <a:pt x="453818" y="0"/>
                </a:lnTo>
                <a:cubicBezTo>
                  <a:pt x="704455" y="0"/>
                  <a:pt x="907636" y="203181"/>
                  <a:pt x="907636" y="453818"/>
                </a:cubicBezTo>
                <a:lnTo>
                  <a:pt x="907636" y="453818"/>
                </a:lnTo>
                <a:cubicBezTo>
                  <a:pt x="907636" y="704455"/>
                  <a:pt x="704455" y="907636"/>
                  <a:pt x="453818" y="907636"/>
                </a:cubicBezTo>
                <a:lnTo>
                  <a:pt x="453818" y="907636"/>
                </a:lnTo>
                <a:cubicBezTo>
                  <a:pt x="203181" y="907636"/>
                  <a:pt x="0" y="704455"/>
                  <a:pt x="0" y="453818"/>
                </a:cubicBezTo>
                <a:lnTo>
                  <a:pt x="0" y="453818"/>
                </a:lnTo>
                <a:cubicBezTo>
                  <a:pt x="0" y="203181"/>
                  <a:pt x="203181" y="0"/>
                  <a:pt x="45381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82182" y="7214545"/>
            <a:ext cx="209455" cy="279273"/>
          </a:xfrm>
          <a:custGeom>
            <a:avLst/>
            <a:gdLst/>
            <a:ahLst/>
            <a:cxnLst/>
            <a:rect l="l" t="t" r="r" b="b"/>
            <a:pathLst>
              <a:path w="209455" h="279273">
                <a:moveTo>
                  <a:pt x="34909" y="0"/>
                </a:moveTo>
                <a:cubicBezTo>
                  <a:pt x="15655" y="0"/>
                  <a:pt x="0" y="15655"/>
                  <a:pt x="0" y="34909"/>
                </a:cubicBezTo>
                <a:lnTo>
                  <a:pt x="0" y="244364"/>
                </a:lnTo>
                <a:cubicBezTo>
                  <a:pt x="0" y="263618"/>
                  <a:pt x="15655" y="279273"/>
                  <a:pt x="34909" y="279273"/>
                </a:cubicBezTo>
                <a:lnTo>
                  <a:pt x="174545" y="279273"/>
                </a:lnTo>
                <a:cubicBezTo>
                  <a:pt x="193800" y="279273"/>
                  <a:pt x="209455" y="263618"/>
                  <a:pt x="209455" y="244364"/>
                </a:cubicBezTo>
                <a:lnTo>
                  <a:pt x="209455" y="93000"/>
                </a:lnTo>
                <a:cubicBezTo>
                  <a:pt x="209455" y="83727"/>
                  <a:pt x="205800" y="74836"/>
                  <a:pt x="199255" y="68291"/>
                </a:cubicBezTo>
                <a:lnTo>
                  <a:pt x="141109" y="10200"/>
                </a:lnTo>
                <a:cubicBezTo>
                  <a:pt x="134564" y="3655"/>
                  <a:pt x="125727" y="0"/>
                  <a:pt x="116455" y="0"/>
                </a:cubicBezTo>
                <a:lnTo>
                  <a:pt x="34909" y="0"/>
                </a:lnTo>
                <a:close/>
                <a:moveTo>
                  <a:pt x="177545" y="96000"/>
                </a:moveTo>
                <a:lnTo>
                  <a:pt x="126545" y="96000"/>
                </a:lnTo>
                <a:cubicBezTo>
                  <a:pt x="119291" y="96000"/>
                  <a:pt x="113455" y="90164"/>
                  <a:pt x="113455" y="82909"/>
                </a:cubicBezTo>
                <a:lnTo>
                  <a:pt x="113455" y="31909"/>
                </a:lnTo>
                <a:lnTo>
                  <a:pt x="177545" y="960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4909" y="7912727"/>
            <a:ext cx="1024000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727" y="8192000"/>
            <a:ext cx="1012364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新建状态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755364" y="7517091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274145" y="151964"/>
                </a:moveTo>
                <a:cubicBezTo>
                  <a:pt x="280964" y="145145"/>
                  <a:pt x="280964" y="134073"/>
                  <a:pt x="274145" y="127255"/>
                </a:cubicBezTo>
                <a:lnTo>
                  <a:pt x="186873" y="39982"/>
                </a:lnTo>
                <a:cubicBezTo>
                  <a:pt x="180055" y="33164"/>
                  <a:pt x="168982" y="33164"/>
                  <a:pt x="162164" y="39982"/>
                </a:cubicBezTo>
                <a:cubicBezTo>
                  <a:pt x="155345" y="46800"/>
                  <a:pt x="155345" y="57873"/>
                  <a:pt x="162164" y="64691"/>
                </a:cubicBezTo>
                <a:lnTo>
                  <a:pt x="219655" y="122182"/>
                </a:lnTo>
                <a:lnTo>
                  <a:pt x="17455" y="122182"/>
                </a:lnTo>
                <a:cubicBezTo>
                  <a:pt x="7800" y="122182"/>
                  <a:pt x="0" y="129982"/>
                  <a:pt x="0" y="139636"/>
                </a:cubicBezTo>
                <a:cubicBezTo>
                  <a:pt x="0" y="149291"/>
                  <a:pt x="7800" y="157091"/>
                  <a:pt x="17455" y="157091"/>
                </a:cubicBezTo>
                <a:lnTo>
                  <a:pt x="219655" y="157091"/>
                </a:lnTo>
                <a:lnTo>
                  <a:pt x="162164" y="214582"/>
                </a:lnTo>
                <a:cubicBezTo>
                  <a:pt x="155345" y="221400"/>
                  <a:pt x="155345" y="232473"/>
                  <a:pt x="162164" y="239291"/>
                </a:cubicBezTo>
                <a:cubicBezTo>
                  <a:pt x="168982" y="246109"/>
                  <a:pt x="180055" y="246109"/>
                  <a:pt x="186873" y="239291"/>
                </a:cubicBezTo>
                <a:lnTo>
                  <a:pt x="274145" y="15201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227909" y="6900364"/>
            <a:ext cx="907636" cy="907636"/>
          </a:xfrm>
          <a:custGeom>
            <a:avLst/>
            <a:gdLst/>
            <a:ahLst/>
            <a:cxnLst/>
            <a:rect l="l" t="t" r="r" b="b"/>
            <a:pathLst>
              <a:path w="907636" h="907636">
                <a:moveTo>
                  <a:pt x="453818" y="0"/>
                </a:moveTo>
                <a:lnTo>
                  <a:pt x="453818" y="0"/>
                </a:lnTo>
                <a:cubicBezTo>
                  <a:pt x="704455" y="0"/>
                  <a:pt x="907636" y="203181"/>
                  <a:pt x="907636" y="453818"/>
                </a:cubicBezTo>
                <a:lnTo>
                  <a:pt x="907636" y="453818"/>
                </a:lnTo>
                <a:cubicBezTo>
                  <a:pt x="907636" y="704455"/>
                  <a:pt x="704455" y="907636"/>
                  <a:pt x="453818" y="907636"/>
                </a:cubicBezTo>
                <a:lnTo>
                  <a:pt x="453818" y="907636"/>
                </a:lnTo>
                <a:cubicBezTo>
                  <a:pt x="203181" y="907636"/>
                  <a:pt x="0" y="704455"/>
                  <a:pt x="0" y="453818"/>
                </a:cubicBezTo>
                <a:lnTo>
                  <a:pt x="0" y="453818"/>
                </a:lnTo>
                <a:cubicBezTo>
                  <a:pt x="0" y="203181"/>
                  <a:pt x="203181" y="0"/>
                  <a:pt x="45381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559545" y="7214545"/>
            <a:ext cx="244364" cy="279273"/>
          </a:xfrm>
          <a:custGeom>
            <a:avLst/>
            <a:gdLst/>
            <a:ahLst/>
            <a:cxnLst/>
            <a:rect l="l" t="t" r="r" b="b"/>
            <a:pathLst>
              <a:path w="244364" h="279273">
                <a:moveTo>
                  <a:pt x="237164" y="38236"/>
                </a:moveTo>
                <a:cubicBezTo>
                  <a:pt x="244964" y="43909"/>
                  <a:pt x="246709" y="54818"/>
                  <a:pt x="241036" y="62618"/>
                </a:cubicBezTo>
                <a:lnTo>
                  <a:pt x="101400" y="254618"/>
                </a:lnTo>
                <a:cubicBezTo>
                  <a:pt x="98400" y="258764"/>
                  <a:pt x="93764" y="261327"/>
                  <a:pt x="88636" y="261764"/>
                </a:cubicBezTo>
                <a:cubicBezTo>
                  <a:pt x="83509" y="262200"/>
                  <a:pt x="78545" y="260291"/>
                  <a:pt x="74945" y="256691"/>
                </a:cubicBezTo>
                <a:lnTo>
                  <a:pt x="5127" y="186873"/>
                </a:lnTo>
                <a:cubicBezTo>
                  <a:pt x="-1691" y="180055"/>
                  <a:pt x="-1691" y="168982"/>
                  <a:pt x="5127" y="162164"/>
                </a:cubicBezTo>
                <a:cubicBezTo>
                  <a:pt x="11945" y="155345"/>
                  <a:pt x="23018" y="155345"/>
                  <a:pt x="29836" y="162164"/>
                </a:cubicBezTo>
                <a:lnTo>
                  <a:pt x="85200" y="217527"/>
                </a:lnTo>
                <a:lnTo>
                  <a:pt x="212836" y="42055"/>
                </a:lnTo>
                <a:cubicBezTo>
                  <a:pt x="218509" y="34255"/>
                  <a:pt x="229418" y="32509"/>
                  <a:pt x="237218" y="3818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091091" y="7912727"/>
            <a:ext cx="1186909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ALLOCATED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096909" y="8192000"/>
            <a:ext cx="1175273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已分配资源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8909" y="7517091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274145" y="151964"/>
                </a:moveTo>
                <a:cubicBezTo>
                  <a:pt x="280964" y="145145"/>
                  <a:pt x="280964" y="134073"/>
                  <a:pt x="274145" y="127255"/>
                </a:cubicBezTo>
                <a:lnTo>
                  <a:pt x="186873" y="39982"/>
                </a:lnTo>
                <a:cubicBezTo>
                  <a:pt x="180055" y="33164"/>
                  <a:pt x="168982" y="33164"/>
                  <a:pt x="162164" y="39982"/>
                </a:cubicBezTo>
                <a:cubicBezTo>
                  <a:pt x="155345" y="46800"/>
                  <a:pt x="155345" y="57873"/>
                  <a:pt x="162164" y="64691"/>
                </a:cubicBezTo>
                <a:lnTo>
                  <a:pt x="219655" y="122182"/>
                </a:lnTo>
                <a:lnTo>
                  <a:pt x="17455" y="122182"/>
                </a:lnTo>
                <a:cubicBezTo>
                  <a:pt x="7800" y="122182"/>
                  <a:pt x="0" y="129982"/>
                  <a:pt x="0" y="139636"/>
                </a:cubicBezTo>
                <a:cubicBezTo>
                  <a:pt x="0" y="149291"/>
                  <a:pt x="7800" y="157091"/>
                  <a:pt x="17455" y="157091"/>
                </a:cubicBezTo>
                <a:lnTo>
                  <a:pt x="219655" y="157091"/>
                </a:lnTo>
                <a:lnTo>
                  <a:pt x="162164" y="214582"/>
                </a:lnTo>
                <a:cubicBezTo>
                  <a:pt x="155345" y="221400"/>
                  <a:pt x="155345" y="232473"/>
                  <a:pt x="162164" y="239291"/>
                </a:cubicBezTo>
                <a:cubicBezTo>
                  <a:pt x="168982" y="246109"/>
                  <a:pt x="180055" y="246109"/>
                  <a:pt x="186873" y="239291"/>
                </a:cubicBezTo>
                <a:lnTo>
                  <a:pt x="274145" y="15201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725909" y="6900364"/>
            <a:ext cx="907636" cy="907636"/>
          </a:xfrm>
          <a:custGeom>
            <a:avLst/>
            <a:gdLst/>
            <a:ahLst/>
            <a:cxnLst/>
            <a:rect l="l" t="t" r="r" b="b"/>
            <a:pathLst>
              <a:path w="907636" h="907636">
                <a:moveTo>
                  <a:pt x="453818" y="0"/>
                </a:moveTo>
                <a:lnTo>
                  <a:pt x="453818" y="0"/>
                </a:lnTo>
                <a:cubicBezTo>
                  <a:pt x="704455" y="0"/>
                  <a:pt x="907636" y="203181"/>
                  <a:pt x="907636" y="453818"/>
                </a:cubicBezTo>
                <a:lnTo>
                  <a:pt x="907636" y="453818"/>
                </a:lnTo>
                <a:cubicBezTo>
                  <a:pt x="907636" y="704455"/>
                  <a:pt x="704455" y="907636"/>
                  <a:pt x="453818" y="907636"/>
                </a:cubicBezTo>
                <a:lnTo>
                  <a:pt x="453818" y="907636"/>
                </a:lnTo>
                <a:cubicBezTo>
                  <a:pt x="203181" y="907636"/>
                  <a:pt x="0" y="704455"/>
                  <a:pt x="0" y="453818"/>
                </a:cubicBezTo>
                <a:lnTo>
                  <a:pt x="0" y="453818"/>
                </a:lnTo>
                <a:cubicBezTo>
                  <a:pt x="0" y="203181"/>
                  <a:pt x="203181" y="0"/>
                  <a:pt x="45381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075000" y="7214545"/>
            <a:ext cx="209455" cy="279273"/>
          </a:xfrm>
          <a:custGeom>
            <a:avLst/>
            <a:gdLst/>
            <a:ahLst/>
            <a:cxnLst/>
            <a:rect l="l" t="t" r="r" b="b"/>
            <a:pathLst>
              <a:path w="209455" h="279273">
                <a:moveTo>
                  <a:pt x="4036" y="138327"/>
                </a:moveTo>
                <a:cubicBezTo>
                  <a:pt x="1418" y="134127"/>
                  <a:pt x="0" y="129327"/>
                  <a:pt x="0" y="124364"/>
                </a:cubicBezTo>
                <a:lnTo>
                  <a:pt x="0" y="104727"/>
                </a:lnTo>
                <a:cubicBezTo>
                  <a:pt x="0" y="90273"/>
                  <a:pt x="11727" y="78545"/>
                  <a:pt x="26182" y="78545"/>
                </a:cubicBezTo>
                <a:lnTo>
                  <a:pt x="34909" y="78545"/>
                </a:lnTo>
                <a:lnTo>
                  <a:pt x="34909" y="34909"/>
                </a:lnTo>
                <a:cubicBezTo>
                  <a:pt x="34909" y="20455"/>
                  <a:pt x="46636" y="8727"/>
                  <a:pt x="61091" y="8727"/>
                </a:cubicBezTo>
                <a:cubicBezTo>
                  <a:pt x="70527" y="8727"/>
                  <a:pt x="78764" y="13691"/>
                  <a:pt x="83400" y="21164"/>
                </a:cubicBezTo>
                <a:cubicBezTo>
                  <a:pt x="85745" y="9109"/>
                  <a:pt x="96382" y="0"/>
                  <a:pt x="109091" y="0"/>
                </a:cubicBezTo>
                <a:cubicBezTo>
                  <a:pt x="121855" y="0"/>
                  <a:pt x="132491" y="9164"/>
                  <a:pt x="134782" y="21218"/>
                </a:cubicBezTo>
                <a:cubicBezTo>
                  <a:pt x="138764" y="18818"/>
                  <a:pt x="143400" y="17455"/>
                  <a:pt x="148364" y="17455"/>
                </a:cubicBezTo>
                <a:cubicBezTo>
                  <a:pt x="160418" y="17455"/>
                  <a:pt x="170618" y="25636"/>
                  <a:pt x="173618" y="36764"/>
                </a:cubicBezTo>
                <a:cubicBezTo>
                  <a:pt x="176618" y="35564"/>
                  <a:pt x="179836" y="34909"/>
                  <a:pt x="183273" y="34909"/>
                </a:cubicBezTo>
                <a:cubicBezTo>
                  <a:pt x="197727" y="34909"/>
                  <a:pt x="209455" y="46636"/>
                  <a:pt x="209455" y="61091"/>
                </a:cubicBezTo>
                <a:lnTo>
                  <a:pt x="209455" y="113945"/>
                </a:lnTo>
                <a:cubicBezTo>
                  <a:pt x="209455" y="119345"/>
                  <a:pt x="208200" y="124691"/>
                  <a:pt x="205745" y="129545"/>
                </a:cubicBezTo>
                <a:lnTo>
                  <a:pt x="184145" y="172691"/>
                </a:lnTo>
                <a:cubicBezTo>
                  <a:pt x="178255" y="184527"/>
                  <a:pt x="166145" y="192000"/>
                  <a:pt x="152945" y="192000"/>
                </a:cubicBezTo>
                <a:lnTo>
                  <a:pt x="52364" y="192000"/>
                </a:lnTo>
                <a:cubicBezTo>
                  <a:pt x="43364" y="192000"/>
                  <a:pt x="35018" y="187418"/>
                  <a:pt x="30218" y="179782"/>
                </a:cubicBezTo>
                <a:lnTo>
                  <a:pt x="4036" y="138327"/>
                </a:lnTo>
                <a:close/>
                <a:moveTo>
                  <a:pt x="17455" y="261818"/>
                </a:moveTo>
                <a:lnTo>
                  <a:pt x="17455" y="235636"/>
                </a:lnTo>
                <a:cubicBezTo>
                  <a:pt x="17455" y="225982"/>
                  <a:pt x="25255" y="218182"/>
                  <a:pt x="34909" y="218182"/>
                </a:cubicBezTo>
                <a:lnTo>
                  <a:pt x="174545" y="218182"/>
                </a:lnTo>
                <a:cubicBezTo>
                  <a:pt x="184200" y="218182"/>
                  <a:pt x="192000" y="225982"/>
                  <a:pt x="192000" y="235636"/>
                </a:cubicBezTo>
                <a:lnTo>
                  <a:pt x="192000" y="261818"/>
                </a:lnTo>
                <a:cubicBezTo>
                  <a:pt x="192000" y="271473"/>
                  <a:pt x="184200" y="279273"/>
                  <a:pt x="174545" y="279273"/>
                </a:cubicBezTo>
                <a:lnTo>
                  <a:pt x="34909" y="279273"/>
                </a:lnTo>
                <a:cubicBezTo>
                  <a:pt x="25255" y="279273"/>
                  <a:pt x="17455" y="271473"/>
                  <a:pt x="17455" y="26181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664636" y="7912727"/>
            <a:ext cx="1035636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ACQUIRED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70455" y="8192000"/>
            <a:ext cx="1024000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AM已获取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751273" y="7517091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274145" y="151964"/>
                </a:moveTo>
                <a:cubicBezTo>
                  <a:pt x="280964" y="145145"/>
                  <a:pt x="280964" y="134073"/>
                  <a:pt x="274145" y="127255"/>
                </a:cubicBezTo>
                <a:lnTo>
                  <a:pt x="186873" y="39982"/>
                </a:lnTo>
                <a:cubicBezTo>
                  <a:pt x="180055" y="33164"/>
                  <a:pt x="168982" y="33164"/>
                  <a:pt x="162164" y="39982"/>
                </a:cubicBezTo>
                <a:cubicBezTo>
                  <a:pt x="155345" y="46800"/>
                  <a:pt x="155345" y="57873"/>
                  <a:pt x="162164" y="64691"/>
                </a:cubicBezTo>
                <a:lnTo>
                  <a:pt x="219655" y="122182"/>
                </a:lnTo>
                <a:lnTo>
                  <a:pt x="17455" y="122182"/>
                </a:lnTo>
                <a:cubicBezTo>
                  <a:pt x="7800" y="122182"/>
                  <a:pt x="0" y="129982"/>
                  <a:pt x="0" y="139636"/>
                </a:cubicBezTo>
                <a:cubicBezTo>
                  <a:pt x="0" y="149291"/>
                  <a:pt x="7800" y="157091"/>
                  <a:pt x="17455" y="157091"/>
                </a:cubicBezTo>
                <a:lnTo>
                  <a:pt x="219655" y="157091"/>
                </a:lnTo>
                <a:lnTo>
                  <a:pt x="162164" y="214582"/>
                </a:lnTo>
                <a:cubicBezTo>
                  <a:pt x="155345" y="221400"/>
                  <a:pt x="155345" y="232473"/>
                  <a:pt x="162164" y="239291"/>
                </a:cubicBezTo>
                <a:cubicBezTo>
                  <a:pt x="168982" y="246109"/>
                  <a:pt x="180055" y="246109"/>
                  <a:pt x="186873" y="239291"/>
                </a:cubicBezTo>
                <a:lnTo>
                  <a:pt x="274145" y="15201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1145182" y="6900364"/>
            <a:ext cx="907636" cy="907636"/>
          </a:xfrm>
          <a:custGeom>
            <a:avLst/>
            <a:gdLst/>
            <a:ahLst/>
            <a:cxnLst/>
            <a:rect l="l" t="t" r="r" b="b"/>
            <a:pathLst>
              <a:path w="907636" h="907636">
                <a:moveTo>
                  <a:pt x="453818" y="0"/>
                </a:moveTo>
                <a:lnTo>
                  <a:pt x="453818" y="0"/>
                </a:lnTo>
                <a:cubicBezTo>
                  <a:pt x="704455" y="0"/>
                  <a:pt x="907636" y="203181"/>
                  <a:pt x="907636" y="453818"/>
                </a:cubicBezTo>
                <a:lnTo>
                  <a:pt x="907636" y="453818"/>
                </a:lnTo>
                <a:cubicBezTo>
                  <a:pt x="907636" y="704455"/>
                  <a:pt x="704455" y="907636"/>
                  <a:pt x="453818" y="907636"/>
                </a:cubicBezTo>
                <a:lnTo>
                  <a:pt x="453818" y="907636"/>
                </a:lnTo>
                <a:cubicBezTo>
                  <a:pt x="203181" y="907636"/>
                  <a:pt x="0" y="704455"/>
                  <a:pt x="0" y="453818"/>
                </a:cubicBezTo>
                <a:lnTo>
                  <a:pt x="0" y="453818"/>
                </a:lnTo>
                <a:cubicBezTo>
                  <a:pt x="0" y="203181"/>
                  <a:pt x="203181" y="0"/>
                  <a:pt x="45381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476818" y="7214545"/>
            <a:ext cx="244364" cy="279273"/>
          </a:xfrm>
          <a:custGeom>
            <a:avLst/>
            <a:gdLst/>
            <a:ahLst/>
            <a:cxnLst/>
            <a:rect l="l" t="t" r="r" b="b"/>
            <a:pathLst>
              <a:path w="244364" h="279273">
                <a:moveTo>
                  <a:pt x="49745" y="20127"/>
                </a:moveTo>
                <a:cubicBezTo>
                  <a:pt x="42982" y="16418"/>
                  <a:pt x="34800" y="16582"/>
                  <a:pt x="28145" y="20509"/>
                </a:cubicBezTo>
                <a:cubicBezTo>
                  <a:pt x="21491" y="24436"/>
                  <a:pt x="17455" y="31582"/>
                  <a:pt x="17455" y="39273"/>
                </a:cubicBezTo>
                <a:lnTo>
                  <a:pt x="17455" y="240000"/>
                </a:lnTo>
                <a:cubicBezTo>
                  <a:pt x="17455" y="247691"/>
                  <a:pt x="21545" y="254836"/>
                  <a:pt x="28145" y="258764"/>
                </a:cubicBezTo>
                <a:cubicBezTo>
                  <a:pt x="34745" y="262691"/>
                  <a:pt x="42982" y="262855"/>
                  <a:pt x="49745" y="259145"/>
                </a:cubicBezTo>
                <a:lnTo>
                  <a:pt x="233018" y="158782"/>
                </a:lnTo>
                <a:cubicBezTo>
                  <a:pt x="240000" y="154964"/>
                  <a:pt x="244364" y="147600"/>
                  <a:pt x="244364" y="139636"/>
                </a:cubicBezTo>
                <a:cubicBezTo>
                  <a:pt x="244364" y="131673"/>
                  <a:pt x="240000" y="124309"/>
                  <a:pt x="233018" y="120491"/>
                </a:cubicBezTo>
                <a:lnTo>
                  <a:pt x="49745" y="2012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087000" y="7912727"/>
            <a:ext cx="1024000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RUNNING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92818" y="8192000"/>
            <a:ext cx="1012364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运行中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3167455" y="7517091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274145" y="151964"/>
                </a:moveTo>
                <a:cubicBezTo>
                  <a:pt x="280964" y="145145"/>
                  <a:pt x="280964" y="134073"/>
                  <a:pt x="274145" y="127255"/>
                </a:cubicBezTo>
                <a:lnTo>
                  <a:pt x="186873" y="39982"/>
                </a:lnTo>
                <a:cubicBezTo>
                  <a:pt x="180055" y="33164"/>
                  <a:pt x="168982" y="33164"/>
                  <a:pt x="162164" y="39982"/>
                </a:cubicBezTo>
                <a:cubicBezTo>
                  <a:pt x="155345" y="46800"/>
                  <a:pt x="155345" y="57873"/>
                  <a:pt x="162164" y="64691"/>
                </a:cubicBezTo>
                <a:lnTo>
                  <a:pt x="219655" y="122182"/>
                </a:lnTo>
                <a:lnTo>
                  <a:pt x="17455" y="122182"/>
                </a:lnTo>
                <a:cubicBezTo>
                  <a:pt x="7800" y="122182"/>
                  <a:pt x="0" y="129982"/>
                  <a:pt x="0" y="139636"/>
                </a:cubicBezTo>
                <a:cubicBezTo>
                  <a:pt x="0" y="149291"/>
                  <a:pt x="7800" y="157091"/>
                  <a:pt x="17455" y="157091"/>
                </a:cubicBezTo>
                <a:lnTo>
                  <a:pt x="219655" y="157091"/>
                </a:lnTo>
                <a:lnTo>
                  <a:pt x="162164" y="214582"/>
                </a:lnTo>
                <a:cubicBezTo>
                  <a:pt x="155345" y="221400"/>
                  <a:pt x="155345" y="232473"/>
                  <a:pt x="162164" y="239291"/>
                </a:cubicBezTo>
                <a:cubicBezTo>
                  <a:pt x="168982" y="246109"/>
                  <a:pt x="180055" y="246109"/>
                  <a:pt x="186873" y="239291"/>
                </a:cubicBezTo>
                <a:lnTo>
                  <a:pt x="274145" y="15201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4590182" y="6900364"/>
            <a:ext cx="907636" cy="907636"/>
          </a:xfrm>
          <a:custGeom>
            <a:avLst/>
            <a:gdLst/>
            <a:ahLst/>
            <a:cxnLst/>
            <a:rect l="l" t="t" r="r" b="b"/>
            <a:pathLst>
              <a:path w="907636" h="907636">
                <a:moveTo>
                  <a:pt x="453818" y="0"/>
                </a:moveTo>
                <a:lnTo>
                  <a:pt x="453818" y="0"/>
                </a:lnTo>
                <a:cubicBezTo>
                  <a:pt x="704455" y="0"/>
                  <a:pt x="907636" y="203181"/>
                  <a:pt x="907636" y="453818"/>
                </a:cubicBezTo>
                <a:lnTo>
                  <a:pt x="907636" y="453818"/>
                </a:lnTo>
                <a:cubicBezTo>
                  <a:pt x="907636" y="704455"/>
                  <a:pt x="704455" y="907636"/>
                  <a:pt x="453818" y="907636"/>
                </a:cubicBezTo>
                <a:lnTo>
                  <a:pt x="453818" y="907636"/>
                </a:lnTo>
                <a:cubicBezTo>
                  <a:pt x="203181" y="907636"/>
                  <a:pt x="0" y="704455"/>
                  <a:pt x="0" y="453818"/>
                </a:cubicBezTo>
                <a:lnTo>
                  <a:pt x="0" y="453818"/>
                </a:lnTo>
                <a:cubicBezTo>
                  <a:pt x="0" y="203181"/>
                  <a:pt x="203181" y="0"/>
                  <a:pt x="45381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4921818" y="7214545"/>
            <a:ext cx="244364" cy="279273"/>
          </a:xfrm>
          <a:custGeom>
            <a:avLst/>
            <a:gdLst/>
            <a:ahLst/>
            <a:cxnLst/>
            <a:rect l="l" t="t" r="r" b="b"/>
            <a:pathLst>
              <a:path w="244364" h="279273">
                <a:moveTo>
                  <a:pt x="17455" y="0"/>
                </a:moveTo>
                <a:cubicBezTo>
                  <a:pt x="27109" y="0"/>
                  <a:pt x="34909" y="7800"/>
                  <a:pt x="34909" y="17455"/>
                </a:cubicBezTo>
                <a:lnTo>
                  <a:pt x="34909" y="26182"/>
                </a:lnTo>
                <a:lnTo>
                  <a:pt x="72545" y="16800"/>
                </a:lnTo>
                <a:cubicBezTo>
                  <a:pt x="93327" y="11618"/>
                  <a:pt x="115255" y="14018"/>
                  <a:pt x="134455" y="23618"/>
                </a:cubicBezTo>
                <a:cubicBezTo>
                  <a:pt x="159709" y="36273"/>
                  <a:pt x="189436" y="36273"/>
                  <a:pt x="214691" y="23618"/>
                </a:cubicBezTo>
                <a:lnTo>
                  <a:pt x="219927" y="21000"/>
                </a:lnTo>
                <a:cubicBezTo>
                  <a:pt x="231164" y="15327"/>
                  <a:pt x="244364" y="23509"/>
                  <a:pt x="244364" y="36055"/>
                </a:cubicBezTo>
                <a:lnTo>
                  <a:pt x="244364" y="188618"/>
                </a:lnTo>
                <a:cubicBezTo>
                  <a:pt x="244364" y="195873"/>
                  <a:pt x="239836" y="202418"/>
                  <a:pt x="233018" y="204982"/>
                </a:cubicBezTo>
                <a:lnTo>
                  <a:pt x="214091" y="212073"/>
                </a:lnTo>
                <a:cubicBezTo>
                  <a:pt x="188891" y="221509"/>
                  <a:pt x="160855" y="220036"/>
                  <a:pt x="136800" y="208036"/>
                </a:cubicBezTo>
                <a:cubicBezTo>
                  <a:pt x="116127" y="197673"/>
                  <a:pt x="92400" y="195109"/>
                  <a:pt x="69982" y="200727"/>
                </a:cubicBezTo>
                <a:lnTo>
                  <a:pt x="34909" y="209455"/>
                </a:lnTo>
                <a:lnTo>
                  <a:pt x="34909" y="261818"/>
                </a:lnTo>
                <a:cubicBezTo>
                  <a:pt x="34909" y="271473"/>
                  <a:pt x="27109" y="279273"/>
                  <a:pt x="17455" y="279273"/>
                </a:cubicBezTo>
                <a:cubicBezTo>
                  <a:pt x="7800" y="279273"/>
                  <a:pt x="0" y="271473"/>
                  <a:pt x="0" y="261818"/>
                </a:cubicBezTo>
                <a:lnTo>
                  <a:pt x="0" y="17455"/>
                </a:lnTo>
                <a:cubicBezTo>
                  <a:pt x="0" y="7800"/>
                  <a:pt x="7800" y="0"/>
                  <a:pt x="17455" y="0"/>
                </a:cubicBezTo>
                <a:close/>
                <a:moveTo>
                  <a:pt x="34909" y="102055"/>
                </a:moveTo>
                <a:lnTo>
                  <a:pt x="69818" y="94473"/>
                </a:lnTo>
                <a:lnTo>
                  <a:pt x="69818" y="130200"/>
                </a:lnTo>
                <a:lnTo>
                  <a:pt x="34909" y="137782"/>
                </a:lnTo>
                <a:lnTo>
                  <a:pt x="34909" y="173509"/>
                </a:lnTo>
                <a:lnTo>
                  <a:pt x="61527" y="166855"/>
                </a:lnTo>
                <a:cubicBezTo>
                  <a:pt x="64309" y="166145"/>
                  <a:pt x="67036" y="165545"/>
                  <a:pt x="69818" y="165055"/>
                </a:cubicBezTo>
                <a:lnTo>
                  <a:pt x="69818" y="130200"/>
                </a:lnTo>
                <a:lnTo>
                  <a:pt x="91036" y="125618"/>
                </a:lnTo>
                <a:cubicBezTo>
                  <a:pt x="95564" y="124636"/>
                  <a:pt x="100145" y="124255"/>
                  <a:pt x="104727" y="124473"/>
                </a:cubicBezTo>
                <a:lnTo>
                  <a:pt x="104727" y="89564"/>
                </a:lnTo>
                <a:cubicBezTo>
                  <a:pt x="112145" y="89782"/>
                  <a:pt x="119564" y="90982"/>
                  <a:pt x="126764" y="93055"/>
                </a:cubicBezTo>
                <a:lnTo>
                  <a:pt x="139636" y="96818"/>
                </a:lnTo>
                <a:lnTo>
                  <a:pt x="139636" y="133200"/>
                </a:lnTo>
                <a:lnTo>
                  <a:pt x="116891" y="126491"/>
                </a:lnTo>
                <a:cubicBezTo>
                  <a:pt x="112909" y="125345"/>
                  <a:pt x="108818" y="124636"/>
                  <a:pt x="104727" y="124418"/>
                </a:cubicBezTo>
                <a:lnTo>
                  <a:pt x="104727" y="163364"/>
                </a:lnTo>
                <a:cubicBezTo>
                  <a:pt x="116618" y="164400"/>
                  <a:pt x="128345" y="167018"/>
                  <a:pt x="139636" y="171218"/>
                </a:cubicBezTo>
                <a:lnTo>
                  <a:pt x="139636" y="133145"/>
                </a:lnTo>
                <a:lnTo>
                  <a:pt x="152018" y="136800"/>
                </a:lnTo>
                <a:cubicBezTo>
                  <a:pt x="159382" y="138982"/>
                  <a:pt x="166909" y="140291"/>
                  <a:pt x="174545" y="140836"/>
                </a:cubicBezTo>
                <a:lnTo>
                  <a:pt x="174545" y="105818"/>
                </a:lnTo>
                <a:cubicBezTo>
                  <a:pt x="170291" y="105382"/>
                  <a:pt x="166036" y="104564"/>
                  <a:pt x="161891" y="103364"/>
                </a:cubicBezTo>
                <a:lnTo>
                  <a:pt x="139636" y="96818"/>
                </a:lnTo>
                <a:lnTo>
                  <a:pt x="139636" y="63000"/>
                </a:lnTo>
                <a:cubicBezTo>
                  <a:pt x="132545" y="60927"/>
                  <a:pt x="125564" y="58200"/>
                  <a:pt x="118800" y="54818"/>
                </a:cubicBezTo>
                <a:cubicBezTo>
                  <a:pt x="114327" y="52582"/>
                  <a:pt x="109582" y="51000"/>
                  <a:pt x="104727" y="50018"/>
                </a:cubicBezTo>
                <a:lnTo>
                  <a:pt x="104727" y="89509"/>
                </a:lnTo>
                <a:cubicBezTo>
                  <a:pt x="97636" y="89291"/>
                  <a:pt x="90545" y="89945"/>
                  <a:pt x="83618" y="91473"/>
                </a:cubicBezTo>
                <a:lnTo>
                  <a:pt x="69818" y="94473"/>
                </a:lnTo>
                <a:lnTo>
                  <a:pt x="69818" y="53455"/>
                </a:lnTo>
                <a:lnTo>
                  <a:pt x="34909" y="62182"/>
                </a:lnTo>
                <a:lnTo>
                  <a:pt x="34909" y="102055"/>
                </a:lnTo>
                <a:close/>
                <a:moveTo>
                  <a:pt x="174545" y="183109"/>
                </a:moveTo>
                <a:cubicBezTo>
                  <a:pt x="183709" y="183927"/>
                  <a:pt x="193036" y="182727"/>
                  <a:pt x="201818" y="179400"/>
                </a:cubicBezTo>
                <a:lnTo>
                  <a:pt x="209455" y="176564"/>
                </a:lnTo>
                <a:lnTo>
                  <a:pt x="209455" y="137455"/>
                </a:lnTo>
                <a:lnTo>
                  <a:pt x="205145" y="138436"/>
                </a:lnTo>
                <a:cubicBezTo>
                  <a:pt x="195109" y="140782"/>
                  <a:pt x="184800" y="141545"/>
                  <a:pt x="174545" y="140891"/>
                </a:cubicBezTo>
                <a:lnTo>
                  <a:pt x="174545" y="183109"/>
                </a:lnTo>
                <a:close/>
                <a:moveTo>
                  <a:pt x="209455" y="101618"/>
                </a:moveTo>
                <a:lnTo>
                  <a:pt x="209455" y="63000"/>
                </a:lnTo>
                <a:cubicBezTo>
                  <a:pt x="198055" y="66327"/>
                  <a:pt x="186327" y="67964"/>
                  <a:pt x="174545" y="67964"/>
                </a:cubicBezTo>
                <a:lnTo>
                  <a:pt x="174545" y="105818"/>
                </a:lnTo>
                <a:cubicBezTo>
                  <a:pt x="182127" y="106582"/>
                  <a:pt x="189818" y="106091"/>
                  <a:pt x="197291" y="104400"/>
                </a:cubicBezTo>
                <a:lnTo>
                  <a:pt x="209455" y="101564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4503182" y="7912727"/>
            <a:ext cx="1082182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4509000" y="8192000"/>
            <a:ext cx="107054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981" y="445981"/>
            <a:ext cx="1545323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kern="0" spc="7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ISOLATION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981" y="802765"/>
            <a:ext cx="15564730" cy="44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资源隔离与性能优化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981" y="1382540"/>
            <a:ext cx="1070354" cy="44598"/>
          </a:xfrm>
          <a:custGeom>
            <a:avLst/>
            <a:gdLst/>
            <a:ahLst/>
            <a:cxnLst/>
            <a:rect l="l" t="t" r="r" b="b"/>
            <a:pathLst>
              <a:path w="1070354" h="44598">
                <a:moveTo>
                  <a:pt x="0" y="0"/>
                </a:moveTo>
                <a:lnTo>
                  <a:pt x="1070354" y="0"/>
                </a:lnTo>
                <a:lnTo>
                  <a:pt x="1070354" y="44598"/>
                </a:lnTo>
                <a:lnTo>
                  <a:pt x="0" y="44598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1556" y="1700302"/>
            <a:ext cx="15352889" cy="4158771"/>
          </a:xfrm>
          <a:custGeom>
            <a:avLst/>
            <a:gdLst/>
            <a:ahLst/>
            <a:cxnLst/>
            <a:rect l="l" t="t" r="r" b="b"/>
            <a:pathLst>
              <a:path w="15352889" h="4158771">
                <a:moveTo>
                  <a:pt x="89206" y="0"/>
                </a:moveTo>
                <a:lnTo>
                  <a:pt x="15263683" y="0"/>
                </a:lnTo>
                <a:cubicBezTo>
                  <a:pt x="15312950" y="0"/>
                  <a:pt x="15352889" y="39939"/>
                  <a:pt x="15352889" y="89206"/>
                </a:cubicBezTo>
                <a:lnTo>
                  <a:pt x="15352889" y="4069565"/>
                </a:lnTo>
                <a:cubicBezTo>
                  <a:pt x="15352889" y="4118832"/>
                  <a:pt x="15312950" y="4158771"/>
                  <a:pt x="15263683" y="4158771"/>
                </a:cubicBezTo>
                <a:lnTo>
                  <a:pt x="89206" y="4158771"/>
                </a:lnTo>
                <a:cubicBezTo>
                  <a:pt x="39939" y="4158771"/>
                  <a:pt x="0" y="4118832"/>
                  <a:pt x="0" y="4069565"/>
                </a:cubicBezTo>
                <a:lnTo>
                  <a:pt x="0" y="89206"/>
                </a:lnTo>
                <a:cubicBezTo>
                  <a:pt x="0" y="39972"/>
                  <a:pt x="39972" y="0"/>
                  <a:pt x="8920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0121" y="1928867"/>
            <a:ext cx="624373" cy="624373"/>
          </a:xfrm>
          <a:custGeom>
            <a:avLst/>
            <a:gdLst/>
            <a:ahLst/>
            <a:cxnLst/>
            <a:rect l="l" t="t" r="r" b="b"/>
            <a:pathLst>
              <a:path w="624373" h="624373">
                <a:moveTo>
                  <a:pt x="89198" y="0"/>
                </a:moveTo>
                <a:lnTo>
                  <a:pt x="535175" y="0"/>
                </a:lnTo>
                <a:cubicBezTo>
                  <a:pt x="584438" y="0"/>
                  <a:pt x="624373" y="39935"/>
                  <a:pt x="624373" y="89198"/>
                </a:cubicBezTo>
                <a:lnTo>
                  <a:pt x="624373" y="535175"/>
                </a:lnTo>
                <a:cubicBezTo>
                  <a:pt x="624373" y="584438"/>
                  <a:pt x="584438" y="624373"/>
                  <a:pt x="535175" y="624373"/>
                </a:cubicBezTo>
                <a:lnTo>
                  <a:pt x="89198" y="624373"/>
                </a:lnTo>
                <a:cubicBezTo>
                  <a:pt x="39935" y="624373"/>
                  <a:pt x="0" y="584438"/>
                  <a:pt x="0" y="535175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7852" y="2073811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cubicBezTo>
                  <a:pt x="170248" y="0"/>
                  <a:pt x="173253" y="653"/>
                  <a:pt x="175997" y="1895"/>
                </a:cubicBezTo>
                <a:lnTo>
                  <a:pt x="299077" y="54093"/>
                </a:lnTo>
                <a:cubicBezTo>
                  <a:pt x="313450" y="60168"/>
                  <a:pt x="324164" y="74345"/>
                  <a:pt x="324098" y="91461"/>
                </a:cubicBezTo>
                <a:cubicBezTo>
                  <a:pt x="323772" y="156267"/>
                  <a:pt x="297117" y="274840"/>
                  <a:pt x="184555" y="328737"/>
                </a:cubicBezTo>
                <a:cubicBezTo>
                  <a:pt x="173645" y="333963"/>
                  <a:pt x="160971" y="333963"/>
                  <a:pt x="150061" y="328737"/>
                </a:cubicBezTo>
                <a:cubicBezTo>
                  <a:pt x="37434" y="274840"/>
                  <a:pt x="10845" y="156267"/>
                  <a:pt x="10518" y="91461"/>
                </a:cubicBezTo>
                <a:cubicBezTo>
                  <a:pt x="10453" y="74345"/>
                  <a:pt x="21167" y="60168"/>
                  <a:pt x="35539" y="54093"/>
                </a:cubicBezTo>
                <a:lnTo>
                  <a:pt x="158554" y="1895"/>
                </a:lnTo>
                <a:cubicBezTo>
                  <a:pt x="161298" y="653"/>
                  <a:pt x="164238" y="0"/>
                  <a:pt x="167243" y="0"/>
                </a:cubicBezTo>
                <a:close/>
                <a:moveTo>
                  <a:pt x="167243" y="43640"/>
                </a:moveTo>
                <a:lnTo>
                  <a:pt x="167243" y="290650"/>
                </a:lnTo>
                <a:cubicBezTo>
                  <a:pt x="257397" y="247010"/>
                  <a:pt x="281634" y="150323"/>
                  <a:pt x="282222" y="92441"/>
                </a:cubicBezTo>
                <a:lnTo>
                  <a:pt x="167243" y="43705"/>
                </a:lnTo>
                <a:lnTo>
                  <a:pt x="167243" y="43705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82886" y="1928867"/>
            <a:ext cx="6377525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多层次隔离架构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2886" y="2285652"/>
            <a:ext cx="6332927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基于纵深防御（Defense in Depth）思想，构建从硬件到应用的多层次隔离体系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1270" y="2742782"/>
            <a:ext cx="4827742" cy="2876576"/>
          </a:xfrm>
          <a:custGeom>
            <a:avLst/>
            <a:gdLst/>
            <a:ahLst/>
            <a:cxnLst/>
            <a:rect l="l" t="t" r="r" b="b"/>
            <a:pathLst>
              <a:path w="4827742" h="2876576">
                <a:moveTo>
                  <a:pt x="89203" y="0"/>
                </a:moveTo>
                <a:lnTo>
                  <a:pt x="4738539" y="0"/>
                </a:lnTo>
                <a:cubicBezTo>
                  <a:pt x="4787805" y="0"/>
                  <a:pt x="4827742" y="39937"/>
                  <a:pt x="4827742" y="89203"/>
                </a:cubicBezTo>
                <a:lnTo>
                  <a:pt x="4827742" y="2787374"/>
                </a:lnTo>
                <a:cubicBezTo>
                  <a:pt x="4827742" y="2836639"/>
                  <a:pt x="4787805" y="2876576"/>
                  <a:pt x="4738539" y="2876576"/>
                </a:cubicBezTo>
                <a:lnTo>
                  <a:pt x="89203" y="2876576"/>
                </a:lnTo>
                <a:cubicBezTo>
                  <a:pt x="39970" y="2876576"/>
                  <a:pt x="0" y="2836606"/>
                  <a:pt x="0" y="2787374"/>
                </a:cubicBezTo>
                <a:lnTo>
                  <a:pt x="0" y="89203"/>
                </a:lnTo>
                <a:cubicBezTo>
                  <a:pt x="0" y="39970"/>
                  <a:pt x="39970" y="0"/>
                  <a:pt x="8920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790603" y="2932324"/>
            <a:ext cx="624373" cy="624373"/>
          </a:xfrm>
          <a:custGeom>
            <a:avLst/>
            <a:gdLst/>
            <a:ahLst/>
            <a:cxnLst/>
            <a:rect l="l" t="t" r="r" b="b"/>
            <a:pathLst>
              <a:path w="624373" h="624373">
                <a:moveTo>
                  <a:pt x="312187" y="0"/>
                </a:moveTo>
                <a:lnTo>
                  <a:pt x="312187" y="0"/>
                </a:lnTo>
                <a:cubicBezTo>
                  <a:pt x="484602" y="0"/>
                  <a:pt x="624373" y="139771"/>
                  <a:pt x="624373" y="312187"/>
                </a:cubicBezTo>
                <a:lnTo>
                  <a:pt x="624373" y="312187"/>
                </a:lnTo>
                <a:cubicBezTo>
                  <a:pt x="624373" y="484602"/>
                  <a:pt x="484602" y="624373"/>
                  <a:pt x="312187" y="624373"/>
                </a:cubicBezTo>
                <a:lnTo>
                  <a:pt x="312187" y="624373"/>
                </a:lnTo>
                <a:cubicBezTo>
                  <a:pt x="139771" y="624373"/>
                  <a:pt x="0" y="484602"/>
                  <a:pt x="0" y="312187"/>
                </a:cubicBezTo>
                <a:lnTo>
                  <a:pt x="0" y="312187"/>
                </a:lnTo>
                <a:cubicBezTo>
                  <a:pt x="0" y="139771"/>
                  <a:pt x="139771" y="0"/>
                  <a:pt x="31218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002444" y="3110716"/>
            <a:ext cx="200691" cy="267588"/>
          </a:xfrm>
          <a:custGeom>
            <a:avLst/>
            <a:gdLst/>
            <a:ahLst/>
            <a:cxnLst/>
            <a:rect l="l" t="t" r="r" b="b"/>
            <a:pathLst>
              <a:path w="200691" h="267588">
                <a:moveTo>
                  <a:pt x="66897" y="50173"/>
                </a:moveTo>
                <a:lnTo>
                  <a:pt x="66897" y="83621"/>
                </a:lnTo>
                <a:lnTo>
                  <a:pt x="133794" y="83621"/>
                </a:lnTo>
                <a:lnTo>
                  <a:pt x="133794" y="50173"/>
                </a:lnTo>
                <a:cubicBezTo>
                  <a:pt x="133794" y="31724"/>
                  <a:pt x="118795" y="16724"/>
                  <a:pt x="100346" y="16724"/>
                </a:cubicBezTo>
                <a:cubicBezTo>
                  <a:pt x="81897" y="16724"/>
                  <a:pt x="66897" y="31724"/>
                  <a:pt x="66897" y="50173"/>
                </a:cubicBezTo>
                <a:close/>
                <a:moveTo>
                  <a:pt x="33449" y="83621"/>
                </a:moveTo>
                <a:lnTo>
                  <a:pt x="33449" y="50173"/>
                </a:lnTo>
                <a:cubicBezTo>
                  <a:pt x="33449" y="13223"/>
                  <a:pt x="63395" y="-16724"/>
                  <a:pt x="100346" y="-16724"/>
                </a:cubicBezTo>
                <a:cubicBezTo>
                  <a:pt x="137296" y="-16724"/>
                  <a:pt x="167243" y="13223"/>
                  <a:pt x="167243" y="50173"/>
                </a:cubicBezTo>
                <a:lnTo>
                  <a:pt x="167243" y="83621"/>
                </a:lnTo>
                <a:cubicBezTo>
                  <a:pt x="185692" y="83621"/>
                  <a:pt x="200691" y="98621"/>
                  <a:pt x="200691" y="117070"/>
                </a:cubicBezTo>
                <a:lnTo>
                  <a:pt x="200691" y="234140"/>
                </a:lnTo>
                <a:cubicBezTo>
                  <a:pt x="200691" y="252589"/>
                  <a:pt x="185692" y="267588"/>
                  <a:pt x="167243" y="267588"/>
                </a:cubicBezTo>
                <a:lnTo>
                  <a:pt x="33449" y="267588"/>
                </a:lnTo>
                <a:cubicBezTo>
                  <a:pt x="15000" y="267588"/>
                  <a:pt x="0" y="252589"/>
                  <a:pt x="0" y="234140"/>
                </a:cubicBezTo>
                <a:lnTo>
                  <a:pt x="0" y="117070"/>
                </a:lnTo>
                <a:cubicBezTo>
                  <a:pt x="0" y="98621"/>
                  <a:pt x="15000" y="83621"/>
                  <a:pt x="33449" y="8362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0639" y="3645893"/>
            <a:ext cx="4549004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操作系统级隔离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0812" y="4091874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基于Linux CGroups技术，在内核层面实现资源的硬性限制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0812" y="4404060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内存限制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0812" y="4671649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CPU配额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0812" y="4939237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I/O带宽控制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0812" y="5206826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进程级隔离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87" y="2742782"/>
            <a:ext cx="4827742" cy="2876576"/>
          </a:xfrm>
          <a:custGeom>
            <a:avLst/>
            <a:gdLst/>
            <a:ahLst/>
            <a:cxnLst/>
            <a:rect l="l" t="t" r="r" b="b"/>
            <a:pathLst>
              <a:path w="4827742" h="2876576">
                <a:moveTo>
                  <a:pt x="89203" y="0"/>
                </a:moveTo>
                <a:lnTo>
                  <a:pt x="4738539" y="0"/>
                </a:lnTo>
                <a:cubicBezTo>
                  <a:pt x="4787805" y="0"/>
                  <a:pt x="4827742" y="39937"/>
                  <a:pt x="4827742" y="89203"/>
                </a:cubicBezTo>
                <a:lnTo>
                  <a:pt x="4827742" y="2787374"/>
                </a:lnTo>
                <a:cubicBezTo>
                  <a:pt x="4827742" y="2836639"/>
                  <a:pt x="4787805" y="2876576"/>
                  <a:pt x="4738539" y="2876576"/>
                </a:cubicBezTo>
                <a:lnTo>
                  <a:pt x="89203" y="2876576"/>
                </a:lnTo>
                <a:cubicBezTo>
                  <a:pt x="39970" y="2876576"/>
                  <a:pt x="0" y="2836606"/>
                  <a:pt x="0" y="2787374"/>
                </a:cubicBezTo>
                <a:lnTo>
                  <a:pt x="0" y="89203"/>
                </a:lnTo>
                <a:cubicBezTo>
                  <a:pt x="0" y="39970"/>
                  <a:pt x="39970" y="0"/>
                  <a:pt x="8920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814507" y="2932324"/>
            <a:ext cx="624373" cy="624373"/>
          </a:xfrm>
          <a:custGeom>
            <a:avLst/>
            <a:gdLst/>
            <a:ahLst/>
            <a:cxnLst/>
            <a:rect l="l" t="t" r="r" b="b"/>
            <a:pathLst>
              <a:path w="624373" h="624373">
                <a:moveTo>
                  <a:pt x="312187" y="0"/>
                </a:moveTo>
                <a:lnTo>
                  <a:pt x="312187" y="0"/>
                </a:lnTo>
                <a:cubicBezTo>
                  <a:pt x="484602" y="0"/>
                  <a:pt x="624373" y="139771"/>
                  <a:pt x="624373" y="312187"/>
                </a:cubicBezTo>
                <a:lnTo>
                  <a:pt x="624373" y="312187"/>
                </a:lnTo>
                <a:cubicBezTo>
                  <a:pt x="624373" y="484602"/>
                  <a:pt x="484602" y="624373"/>
                  <a:pt x="312187" y="624373"/>
                </a:cubicBezTo>
                <a:lnTo>
                  <a:pt x="312187" y="624373"/>
                </a:lnTo>
                <a:cubicBezTo>
                  <a:pt x="139771" y="624373"/>
                  <a:pt x="0" y="484602"/>
                  <a:pt x="0" y="312187"/>
                </a:cubicBezTo>
                <a:lnTo>
                  <a:pt x="0" y="312187"/>
                </a:lnTo>
                <a:cubicBezTo>
                  <a:pt x="0" y="139771"/>
                  <a:pt x="139771" y="0"/>
                  <a:pt x="31218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976175" y="3110716"/>
            <a:ext cx="301037" cy="267588"/>
          </a:xfrm>
          <a:custGeom>
            <a:avLst/>
            <a:gdLst/>
            <a:ahLst/>
            <a:cxnLst/>
            <a:rect l="l" t="t" r="r" b="b"/>
            <a:pathLst>
              <a:path w="301037" h="267588">
                <a:moveTo>
                  <a:pt x="150519" y="16724"/>
                </a:moveTo>
                <a:cubicBezTo>
                  <a:pt x="108290" y="16724"/>
                  <a:pt x="74475" y="35957"/>
                  <a:pt x="49859" y="58849"/>
                </a:cubicBezTo>
                <a:cubicBezTo>
                  <a:pt x="25400" y="81583"/>
                  <a:pt x="9042" y="108708"/>
                  <a:pt x="1254" y="127366"/>
                </a:cubicBezTo>
                <a:cubicBezTo>
                  <a:pt x="-470" y="131495"/>
                  <a:pt x="-470" y="136094"/>
                  <a:pt x="1254" y="140223"/>
                </a:cubicBezTo>
                <a:cubicBezTo>
                  <a:pt x="9042" y="158881"/>
                  <a:pt x="25400" y="186058"/>
                  <a:pt x="49859" y="208740"/>
                </a:cubicBezTo>
                <a:cubicBezTo>
                  <a:pt x="74475" y="231579"/>
                  <a:pt x="108290" y="250864"/>
                  <a:pt x="150519" y="250864"/>
                </a:cubicBezTo>
                <a:cubicBezTo>
                  <a:pt x="192747" y="250864"/>
                  <a:pt x="226562" y="231631"/>
                  <a:pt x="251178" y="208740"/>
                </a:cubicBezTo>
                <a:cubicBezTo>
                  <a:pt x="275637" y="186005"/>
                  <a:pt x="291995" y="158881"/>
                  <a:pt x="299783" y="140223"/>
                </a:cubicBezTo>
                <a:cubicBezTo>
                  <a:pt x="301507" y="136094"/>
                  <a:pt x="301507" y="131495"/>
                  <a:pt x="299783" y="127366"/>
                </a:cubicBezTo>
                <a:cubicBezTo>
                  <a:pt x="291995" y="108708"/>
                  <a:pt x="275637" y="81531"/>
                  <a:pt x="251178" y="58849"/>
                </a:cubicBezTo>
                <a:cubicBezTo>
                  <a:pt x="226562" y="36009"/>
                  <a:pt x="192747" y="16724"/>
                  <a:pt x="150519" y="16724"/>
                </a:cubicBezTo>
                <a:close/>
                <a:moveTo>
                  <a:pt x="75259" y="133794"/>
                </a:moveTo>
                <a:cubicBezTo>
                  <a:pt x="75259" y="92258"/>
                  <a:pt x="108982" y="58535"/>
                  <a:pt x="150519" y="58535"/>
                </a:cubicBezTo>
                <a:cubicBezTo>
                  <a:pt x="192055" y="58535"/>
                  <a:pt x="225778" y="92258"/>
                  <a:pt x="225778" y="133794"/>
                </a:cubicBezTo>
                <a:cubicBezTo>
                  <a:pt x="225778" y="175331"/>
                  <a:pt x="192055" y="209053"/>
                  <a:pt x="150519" y="209053"/>
                </a:cubicBezTo>
                <a:cubicBezTo>
                  <a:pt x="108982" y="209053"/>
                  <a:pt x="75259" y="175331"/>
                  <a:pt x="75259" y="133794"/>
                </a:cubicBezTo>
                <a:close/>
                <a:moveTo>
                  <a:pt x="150519" y="100346"/>
                </a:moveTo>
                <a:cubicBezTo>
                  <a:pt x="150519" y="118795"/>
                  <a:pt x="135519" y="133794"/>
                  <a:pt x="117070" y="133794"/>
                </a:cubicBezTo>
                <a:cubicBezTo>
                  <a:pt x="111060" y="133794"/>
                  <a:pt x="105415" y="132226"/>
                  <a:pt x="100502" y="129404"/>
                </a:cubicBezTo>
                <a:cubicBezTo>
                  <a:pt x="99980" y="135101"/>
                  <a:pt x="100450" y="140954"/>
                  <a:pt x="102018" y="146756"/>
                </a:cubicBezTo>
                <a:cubicBezTo>
                  <a:pt x="109178" y="173514"/>
                  <a:pt x="136721" y="189402"/>
                  <a:pt x="163480" y="182242"/>
                </a:cubicBezTo>
                <a:cubicBezTo>
                  <a:pt x="190239" y="175082"/>
                  <a:pt x="206127" y="147540"/>
                  <a:pt x="198967" y="120781"/>
                </a:cubicBezTo>
                <a:cubicBezTo>
                  <a:pt x="192591" y="96896"/>
                  <a:pt x="169960" y="81688"/>
                  <a:pt x="146128" y="83778"/>
                </a:cubicBezTo>
                <a:cubicBezTo>
                  <a:pt x="148898" y="88639"/>
                  <a:pt x="150519" y="94283"/>
                  <a:pt x="150519" y="10034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854456" y="3645893"/>
            <a:ext cx="4549004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YARN级隔离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4629" y="4091874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框架层面实现的软性隔离和实时监控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04629" y="4404060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资源使用监控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04629" y="4671649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异常检测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04629" y="4939237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策略执行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04629" y="5206826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动态调整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38991" y="2742782"/>
            <a:ext cx="4827742" cy="2876576"/>
          </a:xfrm>
          <a:custGeom>
            <a:avLst/>
            <a:gdLst/>
            <a:ahLst/>
            <a:cxnLst/>
            <a:rect l="l" t="t" r="r" b="b"/>
            <a:pathLst>
              <a:path w="4827742" h="2876576">
                <a:moveTo>
                  <a:pt x="89203" y="0"/>
                </a:moveTo>
                <a:lnTo>
                  <a:pt x="4738539" y="0"/>
                </a:lnTo>
                <a:cubicBezTo>
                  <a:pt x="4787805" y="0"/>
                  <a:pt x="4827742" y="39937"/>
                  <a:pt x="4827742" y="89203"/>
                </a:cubicBezTo>
                <a:lnTo>
                  <a:pt x="4827742" y="2787374"/>
                </a:lnTo>
                <a:cubicBezTo>
                  <a:pt x="4827742" y="2836639"/>
                  <a:pt x="4787805" y="2876576"/>
                  <a:pt x="4738539" y="2876576"/>
                </a:cubicBezTo>
                <a:lnTo>
                  <a:pt x="89203" y="2876576"/>
                </a:lnTo>
                <a:cubicBezTo>
                  <a:pt x="39970" y="2876576"/>
                  <a:pt x="0" y="2836606"/>
                  <a:pt x="0" y="2787374"/>
                </a:cubicBezTo>
                <a:lnTo>
                  <a:pt x="0" y="89203"/>
                </a:lnTo>
                <a:cubicBezTo>
                  <a:pt x="0" y="39970"/>
                  <a:pt x="39970" y="0"/>
                  <a:pt x="8920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2838411" y="2932324"/>
            <a:ext cx="624373" cy="624373"/>
          </a:xfrm>
          <a:custGeom>
            <a:avLst/>
            <a:gdLst/>
            <a:ahLst/>
            <a:cxnLst/>
            <a:rect l="l" t="t" r="r" b="b"/>
            <a:pathLst>
              <a:path w="624373" h="624373">
                <a:moveTo>
                  <a:pt x="312187" y="0"/>
                </a:moveTo>
                <a:lnTo>
                  <a:pt x="312187" y="0"/>
                </a:lnTo>
                <a:cubicBezTo>
                  <a:pt x="484602" y="0"/>
                  <a:pt x="624373" y="139771"/>
                  <a:pt x="624373" y="312187"/>
                </a:cubicBezTo>
                <a:lnTo>
                  <a:pt x="624373" y="312187"/>
                </a:lnTo>
                <a:cubicBezTo>
                  <a:pt x="624373" y="484602"/>
                  <a:pt x="484602" y="624373"/>
                  <a:pt x="312187" y="624373"/>
                </a:cubicBezTo>
                <a:lnTo>
                  <a:pt x="312187" y="624373"/>
                </a:lnTo>
                <a:cubicBezTo>
                  <a:pt x="139771" y="624373"/>
                  <a:pt x="0" y="484602"/>
                  <a:pt x="0" y="312187"/>
                </a:cubicBezTo>
                <a:lnTo>
                  <a:pt x="0" y="312187"/>
                </a:lnTo>
                <a:cubicBezTo>
                  <a:pt x="0" y="139771"/>
                  <a:pt x="139771" y="0"/>
                  <a:pt x="31218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2983355" y="3110716"/>
            <a:ext cx="334486" cy="267588"/>
          </a:xfrm>
          <a:custGeom>
            <a:avLst/>
            <a:gdLst/>
            <a:ahLst/>
            <a:cxnLst/>
            <a:rect l="l" t="t" r="r" b="b"/>
            <a:pathLst>
              <a:path w="334486" h="267588">
                <a:moveTo>
                  <a:pt x="217363" y="110014"/>
                </a:moveTo>
                <a:cubicBezTo>
                  <a:pt x="223740" y="108290"/>
                  <a:pt x="230429" y="111321"/>
                  <a:pt x="233304" y="117227"/>
                </a:cubicBezTo>
                <a:lnTo>
                  <a:pt x="243025" y="136878"/>
                </a:lnTo>
                <a:cubicBezTo>
                  <a:pt x="248408" y="137609"/>
                  <a:pt x="253686" y="139073"/>
                  <a:pt x="258651" y="141111"/>
                </a:cubicBezTo>
                <a:lnTo>
                  <a:pt x="276944" y="128934"/>
                </a:lnTo>
                <a:cubicBezTo>
                  <a:pt x="282431" y="125275"/>
                  <a:pt x="289696" y="126007"/>
                  <a:pt x="294347" y="130658"/>
                </a:cubicBezTo>
                <a:lnTo>
                  <a:pt x="304382" y="140693"/>
                </a:lnTo>
                <a:cubicBezTo>
                  <a:pt x="309033" y="145344"/>
                  <a:pt x="309765" y="152661"/>
                  <a:pt x="306107" y="158097"/>
                </a:cubicBezTo>
                <a:lnTo>
                  <a:pt x="293929" y="176337"/>
                </a:lnTo>
                <a:cubicBezTo>
                  <a:pt x="294922" y="178793"/>
                  <a:pt x="295811" y="181354"/>
                  <a:pt x="296542" y="184019"/>
                </a:cubicBezTo>
                <a:cubicBezTo>
                  <a:pt x="297274" y="186685"/>
                  <a:pt x="297744" y="189298"/>
                  <a:pt x="298110" y="191963"/>
                </a:cubicBezTo>
                <a:lnTo>
                  <a:pt x="317814" y="201684"/>
                </a:lnTo>
                <a:cubicBezTo>
                  <a:pt x="323719" y="204611"/>
                  <a:pt x="326751" y="211301"/>
                  <a:pt x="325026" y="217625"/>
                </a:cubicBezTo>
                <a:lnTo>
                  <a:pt x="321367" y="231318"/>
                </a:lnTo>
                <a:cubicBezTo>
                  <a:pt x="319643" y="237642"/>
                  <a:pt x="313737" y="241927"/>
                  <a:pt x="307152" y="241509"/>
                </a:cubicBezTo>
                <a:lnTo>
                  <a:pt x="285201" y="240098"/>
                </a:lnTo>
                <a:cubicBezTo>
                  <a:pt x="281909" y="244331"/>
                  <a:pt x="278093" y="248251"/>
                  <a:pt x="273756" y="251596"/>
                </a:cubicBezTo>
                <a:lnTo>
                  <a:pt x="275167" y="273494"/>
                </a:lnTo>
                <a:cubicBezTo>
                  <a:pt x="275585" y="280079"/>
                  <a:pt x="271299" y="286037"/>
                  <a:pt x="264975" y="287710"/>
                </a:cubicBezTo>
                <a:lnTo>
                  <a:pt x="251282" y="291368"/>
                </a:lnTo>
                <a:cubicBezTo>
                  <a:pt x="244906" y="293093"/>
                  <a:pt x="238269" y="290062"/>
                  <a:pt x="235342" y="284156"/>
                </a:cubicBezTo>
                <a:lnTo>
                  <a:pt x="225621" y="264505"/>
                </a:lnTo>
                <a:cubicBezTo>
                  <a:pt x="220238" y="263773"/>
                  <a:pt x="214959" y="262310"/>
                  <a:pt x="209994" y="260272"/>
                </a:cubicBezTo>
                <a:lnTo>
                  <a:pt x="191702" y="272449"/>
                </a:lnTo>
                <a:cubicBezTo>
                  <a:pt x="186214" y="276107"/>
                  <a:pt x="178950" y="275376"/>
                  <a:pt x="174298" y="270724"/>
                </a:cubicBezTo>
                <a:lnTo>
                  <a:pt x="164264" y="260690"/>
                </a:lnTo>
                <a:cubicBezTo>
                  <a:pt x="159612" y="256038"/>
                  <a:pt x="158881" y="248774"/>
                  <a:pt x="162539" y="243286"/>
                </a:cubicBezTo>
                <a:lnTo>
                  <a:pt x="174716" y="224994"/>
                </a:lnTo>
                <a:cubicBezTo>
                  <a:pt x="173723" y="222537"/>
                  <a:pt x="172835" y="219977"/>
                  <a:pt x="172103" y="217311"/>
                </a:cubicBezTo>
                <a:cubicBezTo>
                  <a:pt x="171372" y="214646"/>
                  <a:pt x="170901" y="211980"/>
                  <a:pt x="170535" y="209367"/>
                </a:cubicBezTo>
                <a:lnTo>
                  <a:pt x="150832" y="199646"/>
                </a:lnTo>
                <a:cubicBezTo>
                  <a:pt x="144926" y="196719"/>
                  <a:pt x="141947" y="190030"/>
                  <a:pt x="143620" y="183706"/>
                </a:cubicBezTo>
                <a:lnTo>
                  <a:pt x="147278" y="170013"/>
                </a:lnTo>
                <a:cubicBezTo>
                  <a:pt x="149003" y="163689"/>
                  <a:pt x="154909" y="159403"/>
                  <a:pt x="161494" y="159821"/>
                </a:cubicBezTo>
                <a:lnTo>
                  <a:pt x="183392" y="161233"/>
                </a:lnTo>
                <a:cubicBezTo>
                  <a:pt x="186685" y="156999"/>
                  <a:pt x="190500" y="153079"/>
                  <a:pt x="194838" y="149735"/>
                </a:cubicBezTo>
                <a:lnTo>
                  <a:pt x="193427" y="127888"/>
                </a:lnTo>
                <a:cubicBezTo>
                  <a:pt x="193009" y="121303"/>
                  <a:pt x="197294" y="115345"/>
                  <a:pt x="203618" y="113673"/>
                </a:cubicBezTo>
                <a:lnTo>
                  <a:pt x="217311" y="110014"/>
                </a:lnTo>
                <a:close/>
                <a:moveTo>
                  <a:pt x="234349" y="177695"/>
                </a:moveTo>
                <a:cubicBezTo>
                  <a:pt x="221657" y="177710"/>
                  <a:pt x="211365" y="188026"/>
                  <a:pt x="211379" y="200717"/>
                </a:cubicBezTo>
                <a:cubicBezTo>
                  <a:pt x="211394" y="213409"/>
                  <a:pt x="221709" y="223702"/>
                  <a:pt x="234401" y="223687"/>
                </a:cubicBezTo>
                <a:cubicBezTo>
                  <a:pt x="247093" y="223673"/>
                  <a:pt x="257385" y="213357"/>
                  <a:pt x="257371" y="200665"/>
                </a:cubicBezTo>
                <a:cubicBezTo>
                  <a:pt x="257357" y="187973"/>
                  <a:pt x="247041" y="177681"/>
                  <a:pt x="234349" y="177695"/>
                </a:cubicBezTo>
                <a:close/>
                <a:moveTo>
                  <a:pt x="117540" y="-23780"/>
                </a:moveTo>
                <a:lnTo>
                  <a:pt x="131233" y="-20121"/>
                </a:lnTo>
                <a:cubicBezTo>
                  <a:pt x="137557" y="-18397"/>
                  <a:pt x="141843" y="-12439"/>
                  <a:pt x="141425" y="-5906"/>
                </a:cubicBezTo>
                <a:lnTo>
                  <a:pt x="140014" y="15940"/>
                </a:lnTo>
                <a:cubicBezTo>
                  <a:pt x="144351" y="19285"/>
                  <a:pt x="148167" y="23153"/>
                  <a:pt x="151459" y="27438"/>
                </a:cubicBezTo>
                <a:lnTo>
                  <a:pt x="173410" y="26027"/>
                </a:lnTo>
                <a:cubicBezTo>
                  <a:pt x="179943" y="25609"/>
                  <a:pt x="185901" y="29895"/>
                  <a:pt x="187626" y="36219"/>
                </a:cubicBezTo>
                <a:lnTo>
                  <a:pt x="191284" y="49912"/>
                </a:lnTo>
                <a:cubicBezTo>
                  <a:pt x="192956" y="56235"/>
                  <a:pt x="189977" y="62925"/>
                  <a:pt x="184072" y="65852"/>
                </a:cubicBezTo>
                <a:lnTo>
                  <a:pt x="164368" y="75573"/>
                </a:lnTo>
                <a:cubicBezTo>
                  <a:pt x="164002" y="78238"/>
                  <a:pt x="163480" y="80904"/>
                  <a:pt x="162800" y="83517"/>
                </a:cubicBezTo>
                <a:cubicBezTo>
                  <a:pt x="162121" y="86130"/>
                  <a:pt x="161180" y="88743"/>
                  <a:pt x="160187" y="91200"/>
                </a:cubicBezTo>
                <a:lnTo>
                  <a:pt x="172365" y="109492"/>
                </a:lnTo>
                <a:cubicBezTo>
                  <a:pt x="176023" y="114979"/>
                  <a:pt x="175291" y="122244"/>
                  <a:pt x="170640" y="126895"/>
                </a:cubicBezTo>
                <a:lnTo>
                  <a:pt x="160605" y="136930"/>
                </a:lnTo>
                <a:cubicBezTo>
                  <a:pt x="155954" y="141581"/>
                  <a:pt x="148689" y="142313"/>
                  <a:pt x="143202" y="138655"/>
                </a:cubicBezTo>
                <a:lnTo>
                  <a:pt x="124909" y="126477"/>
                </a:lnTo>
                <a:cubicBezTo>
                  <a:pt x="119944" y="128516"/>
                  <a:pt x="114666" y="129979"/>
                  <a:pt x="109283" y="130711"/>
                </a:cubicBezTo>
                <a:lnTo>
                  <a:pt x="99562" y="150362"/>
                </a:lnTo>
                <a:cubicBezTo>
                  <a:pt x="96635" y="156267"/>
                  <a:pt x="89945" y="159247"/>
                  <a:pt x="83621" y="157574"/>
                </a:cubicBezTo>
                <a:lnTo>
                  <a:pt x="69928" y="153916"/>
                </a:lnTo>
                <a:cubicBezTo>
                  <a:pt x="63552" y="152191"/>
                  <a:pt x="59319" y="146233"/>
                  <a:pt x="59737" y="139700"/>
                </a:cubicBezTo>
                <a:lnTo>
                  <a:pt x="61148" y="117802"/>
                </a:lnTo>
                <a:cubicBezTo>
                  <a:pt x="56810" y="114457"/>
                  <a:pt x="52995" y="110589"/>
                  <a:pt x="49702" y="106304"/>
                </a:cubicBezTo>
                <a:lnTo>
                  <a:pt x="27752" y="107715"/>
                </a:lnTo>
                <a:cubicBezTo>
                  <a:pt x="21219" y="108133"/>
                  <a:pt x="15261" y="103847"/>
                  <a:pt x="13536" y="97523"/>
                </a:cubicBezTo>
                <a:lnTo>
                  <a:pt x="9878" y="83830"/>
                </a:lnTo>
                <a:cubicBezTo>
                  <a:pt x="8205" y="77507"/>
                  <a:pt x="11184" y="70817"/>
                  <a:pt x="17090" y="67890"/>
                </a:cubicBezTo>
                <a:lnTo>
                  <a:pt x="36793" y="58169"/>
                </a:lnTo>
                <a:cubicBezTo>
                  <a:pt x="37159" y="55504"/>
                  <a:pt x="37682" y="52891"/>
                  <a:pt x="38361" y="50225"/>
                </a:cubicBezTo>
                <a:cubicBezTo>
                  <a:pt x="39093" y="47560"/>
                  <a:pt x="39929" y="44999"/>
                  <a:pt x="40974" y="42542"/>
                </a:cubicBezTo>
                <a:lnTo>
                  <a:pt x="28797" y="24302"/>
                </a:lnTo>
                <a:cubicBezTo>
                  <a:pt x="25139" y="18815"/>
                  <a:pt x="25870" y="11550"/>
                  <a:pt x="30522" y="6899"/>
                </a:cubicBezTo>
                <a:lnTo>
                  <a:pt x="40556" y="-3136"/>
                </a:lnTo>
                <a:cubicBezTo>
                  <a:pt x="45208" y="-7787"/>
                  <a:pt x="52472" y="-8519"/>
                  <a:pt x="57960" y="-4860"/>
                </a:cubicBezTo>
                <a:lnTo>
                  <a:pt x="76252" y="7317"/>
                </a:lnTo>
                <a:cubicBezTo>
                  <a:pt x="81217" y="5279"/>
                  <a:pt x="86496" y="3815"/>
                  <a:pt x="91879" y="3084"/>
                </a:cubicBezTo>
                <a:lnTo>
                  <a:pt x="101600" y="-16567"/>
                </a:lnTo>
                <a:cubicBezTo>
                  <a:pt x="104527" y="-22473"/>
                  <a:pt x="111164" y="-25452"/>
                  <a:pt x="117540" y="-23780"/>
                </a:cubicBezTo>
                <a:close/>
                <a:moveTo>
                  <a:pt x="100555" y="43901"/>
                </a:moveTo>
                <a:cubicBezTo>
                  <a:pt x="87863" y="43901"/>
                  <a:pt x="77559" y="54205"/>
                  <a:pt x="77559" y="66897"/>
                </a:cubicBezTo>
                <a:cubicBezTo>
                  <a:pt x="77559" y="79589"/>
                  <a:pt x="87863" y="89893"/>
                  <a:pt x="100555" y="89893"/>
                </a:cubicBezTo>
                <a:cubicBezTo>
                  <a:pt x="113247" y="89893"/>
                  <a:pt x="123551" y="79589"/>
                  <a:pt x="123551" y="66897"/>
                </a:cubicBezTo>
                <a:cubicBezTo>
                  <a:pt x="123551" y="54205"/>
                  <a:pt x="113247" y="43901"/>
                  <a:pt x="100555" y="4390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878360" y="3645893"/>
            <a:ext cx="4549004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应用级隔离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8533" y="4091874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各计算框架在应用层面的资源管理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28533" y="4404060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任务间协调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28533" y="4671649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内存池管理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28533" y="4939237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执行优化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28533" y="5206826"/>
            <a:ext cx="452670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性能调优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1556" y="6048615"/>
            <a:ext cx="7581674" cy="2419446"/>
          </a:xfrm>
          <a:custGeom>
            <a:avLst/>
            <a:gdLst/>
            <a:ahLst/>
            <a:cxnLst/>
            <a:rect l="l" t="t" r="r" b="b"/>
            <a:pathLst>
              <a:path w="7581674" h="2419446">
                <a:moveTo>
                  <a:pt x="89205" y="0"/>
                </a:moveTo>
                <a:lnTo>
                  <a:pt x="7492469" y="0"/>
                </a:lnTo>
                <a:cubicBezTo>
                  <a:pt x="7541735" y="0"/>
                  <a:pt x="7581674" y="39938"/>
                  <a:pt x="7581674" y="89205"/>
                </a:cubicBezTo>
                <a:lnTo>
                  <a:pt x="7581674" y="2330241"/>
                </a:lnTo>
                <a:cubicBezTo>
                  <a:pt x="7581674" y="2379507"/>
                  <a:pt x="7541735" y="2419446"/>
                  <a:pt x="7492469" y="2419446"/>
                </a:cubicBezTo>
                <a:lnTo>
                  <a:pt x="89205" y="2419446"/>
                </a:lnTo>
                <a:cubicBezTo>
                  <a:pt x="39938" y="2419446"/>
                  <a:pt x="0" y="2379507"/>
                  <a:pt x="0" y="2330241"/>
                </a:cubicBezTo>
                <a:lnTo>
                  <a:pt x="0" y="89205"/>
                </a:lnTo>
                <a:cubicBezTo>
                  <a:pt x="0" y="39971"/>
                  <a:pt x="39971" y="0"/>
                  <a:pt x="8920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68971" y="6254881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21512" y="2718"/>
                </a:moveTo>
                <a:cubicBezTo>
                  <a:pt x="129300" y="-888"/>
                  <a:pt x="138289" y="-888"/>
                  <a:pt x="146076" y="2718"/>
                </a:cubicBezTo>
                <a:lnTo>
                  <a:pt x="260324" y="55504"/>
                </a:lnTo>
                <a:cubicBezTo>
                  <a:pt x="264766" y="57542"/>
                  <a:pt x="267588" y="61984"/>
                  <a:pt x="267588" y="66897"/>
                </a:cubicBezTo>
                <a:cubicBezTo>
                  <a:pt x="267588" y="71810"/>
                  <a:pt x="264766" y="76252"/>
                  <a:pt x="260324" y="78291"/>
                </a:cubicBezTo>
                <a:lnTo>
                  <a:pt x="146076" y="131077"/>
                </a:lnTo>
                <a:cubicBezTo>
                  <a:pt x="138289" y="134683"/>
                  <a:pt x="129300" y="134683"/>
                  <a:pt x="121512" y="131077"/>
                </a:cubicBezTo>
                <a:lnTo>
                  <a:pt x="7265" y="78291"/>
                </a:lnTo>
                <a:cubicBezTo>
                  <a:pt x="2822" y="76200"/>
                  <a:pt x="0" y="71758"/>
                  <a:pt x="0" y="66897"/>
                </a:cubicBezTo>
                <a:cubicBezTo>
                  <a:pt x="0" y="62037"/>
                  <a:pt x="2822" y="57542"/>
                  <a:pt x="7265" y="55504"/>
                </a:cubicBezTo>
                <a:lnTo>
                  <a:pt x="121512" y="2718"/>
                </a:lnTo>
                <a:close/>
                <a:moveTo>
                  <a:pt x="25139" y="114143"/>
                </a:moveTo>
                <a:lnTo>
                  <a:pt x="111007" y="153811"/>
                </a:lnTo>
                <a:cubicBezTo>
                  <a:pt x="125484" y="160501"/>
                  <a:pt x="142156" y="160501"/>
                  <a:pt x="156633" y="153811"/>
                </a:cubicBezTo>
                <a:lnTo>
                  <a:pt x="242502" y="114143"/>
                </a:lnTo>
                <a:lnTo>
                  <a:pt x="260324" y="122401"/>
                </a:lnTo>
                <a:cubicBezTo>
                  <a:pt x="264766" y="124439"/>
                  <a:pt x="267588" y="128881"/>
                  <a:pt x="267588" y="133794"/>
                </a:cubicBezTo>
                <a:cubicBezTo>
                  <a:pt x="267588" y="138707"/>
                  <a:pt x="264766" y="143149"/>
                  <a:pt x="260324" y="145188"/>
                </a:cubicBezTo>
                <a:lnTo>
                  <a:pt x="146076" y="197974"/>
                </a:lnTo>
                <a:cubicBezTo>
                  <a:pt x="138289" y="201580"/>
                  <a:pt x="129300" y="201580"/>
                  <a:pt x="121512" y="197974"/>
                </a:cubicBezTo>
                <a:lnTo>
                  <a:pt x="7265" y="145188"/>
                </a:lnTo>
                <a:cubicBezTo>
                  <a:pt x="2822" y="143097"/>
                  <a:pt x="0" y="138655"/>
                  <a:pt x="0" y="133794"/>
                </a:cubicBezTo>
                <a:cubicBezTo>
                  <a:pt x="0" y="128934"/>
                  <a:pt x="2822" y="124439"/>
                  <a:pt x="7265" y="122401"/>
                </a:cubicBezTo>
                <a:lnTo>
                  <a:pt x="25086" y="114143"/>
                </a:lnTo>
                <a:close/>
                <a:moveTo>
                  <a:pt x="7265" y="189298"/>
                </a:moveTo>
                <a:lnTo>
                  <a:pt x="25086" y="181040"/>
                </a:lnTo>
                <a:lnTo>
                  <a:pt x="110955" y="220708"/>
                </a:lnTo>
                <a:cubicBezTo>
                  <a:pt x="125432" y="227398"/>
                  <a:pt x="142104" y="227398"/>
                  <a:pt x="156581" y="220708"/>
                </a:cubicBezTo>
                <a:lnTo>
                  <a:pt x="242450" y="181040"/>
                </a:lnTo>
                <a:lnTo>
                  <a:pt x="260272" y="189298"/>
                </a:lnTo>
                <a:cubicBezTo>
                  <a:pt x="264714" y="191336"/>
                  <a:pt x="267536" y="195779"/>
                  <a:pt x="267536" y="200691"/>
                </a:cubicBezTo>
                <a:cubicBezTo>
                  <a:pt x="267536" y="205604"/>
                  <a:pt x="264714" y="210047"/>
                  <a:pt x="260272" y="212085"/>
                </a:cubicBezTo>
                <a:lnTo>
                  <a:pt x="146024" y="264871"/>
                </a:lnTo>
                <a:cubicBezTo>
                  <a:pt x="138237" y="268477"/>
                  <a:pt x="129247" y="268477"/>
                  <a:pt x="121460" y="264871"/>
                </a:cubicBezTo>
                <a:lnTo>
                  <a:pt x="7265" y="212085"/>
                </a:lnTo>
                <a:cubicBezTo>
                  <a:pt x="2822" y="209994"/>
                  <a:pt x="0" y="205552"/>
                  <a:pt x="0" y="200691"/>
                </a:cubicBezTo>
                <a:cubicBezTo>
                  <a:pt x="0" y="195831"/>
                  <a:pt x="2822" y="191336"/>
                  <a:pt x="7265" y="18929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03802" y="6232582"/>
            <a:ext cx="1895418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三层协同工作原理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7822" y="6678562"/>
            <a:ext cx="178392" cy="178392"/>
          </a:xfrm>
          <a:custGeom>
            <a:avLst/>
            <a:gdLst/>
            <a:ahLst/>
            <a:cxnLst/>
            <a:rect l="l" t="t" r="r" b="b"/>
            <a:pathLst>
              <a:path w="178392" h="178392">
                <a:moveTo>
                  <a:pt x="89196" y="0"/>
                </a:moveTo>
                <a:cubicBezTo>
                  <a:pt x="90799" y="0"/>
                  <a:pt x="92402" y="348"/>
                  <a:pt x="93865" y="1010"/>
                </a:cubicBezTo>
                <a:lnTo>
                  <a:pt x="159508" y="28849"/>
                </a:lnTo>
                <a:cubicBezTo>
                  <a:pt x="167173" y="32090"/>
                  <a:pt x="172887" y="39650"/>
                  <a:pt x="172852" y="48779"/>
                </a:cubicBezTo>
                <a:cubicBezTo>
                  <a:pt x="172678" y="83343"/>
                  <a:pt x="158463" y="146581"/>
                  <a:pt x="98429" y="175326"/>
                </a:cubicBezTo>
                <a:cubicBezTo>
                  <a:pt x="92611" y="178114"/>
                  <a:pt x="85851" y="178114"/>
                  <a:pt x="80033" y="175326"/>
                </a:cubicBezTo>
                <a:cubicBezTo>
                  <a:pt x="19965" y="146581"/>
                  <a:pt x="5784" y="83343"/>
                  <a:pt x="5610" y="48779"/>
                </a:cubicBezTo>
                <a:cubicBezTo>
                  <a:pt x="5575" y="39650"/>
                  <a:pt x="11289" y="32090"/>
                  <a:pt x="18954" y="28849"/>
                </a:cubicBezTo>
                <a:lnTo>
                  <a:pt x="84562" y="1010"/>
                </a:lnTo>
                <a:cubicBezTo>
                  <a:pt x="86026" y="348"/>
                  <a:pt x="87593" y="0"/>
                  <a:pt x="89196" y="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47709" y="6633964"/>
            <a:ext cx="352324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7709" y="6901553"/>
            <a:ext cx="3512099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提供底线保障，确保资源不被恶意或异常进程耗尽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7822" y="7258337"/>
            <a:ext cx="178392" cy="178392"/>
          </a:xfrm>
          <a:custGeom>
            <a:avLst/>
            <a:gdLst/>
            <a:ahLst/>
            <a:cxnLst/>
            <a:rect l="l" t="t" r="r" b="b"/>
            <a:pathLst>
              <a:path w="178392" h="178392">
                <a:moveTo>
                  <a:pt x="22299" y="22299"/>
                </a:moveTo>
                <a:cubicBezTo>
                  <a:pt x="22299" y="16132"/>
                  <a:pt x="17317" y="11150"/>
                  <a:pt x="11150" y="11150"/>
                </a:cubicBezTo>
                <a:cubicBezTo>
                  <a:pt x="4982" y="11150"/>
                  <a:pt x="0" y="16132"/>
                  <a:pt x="0" y="22299"/>
                </a:cubicBezTo>
                <a:lnTo>
                  <a:pt x="0" y="139369"/>
                </a:lnTo>
                <a:cubicBezTo>
                  <a:pt x="0" y="154769"/>
                  <a:pt x="12474" y="167243"/>
                  <a:pt x="27874" y="167243"/>
                </a:cubicBezTo>
                <a:lnTo>
                  <a:pt x="167243" y="167243"/>
                </a:lnTo>
                <a:cubicBezTo>
                  <a:pt x="173410" y="167243"/>
                  <a:pt x="178392" y="162260"/>
                  <a:pt x="178392" y="156093"/>
                </a:cubicBezTo>
                <a:cubicBezTo>
                  <a:pt x="178392" y="149926"/>
                  <a:pt x="173410" y="144944"/>
                  <a:pt x="167243" y="144944"/>
                </a:cubicBezTo>
                <a:lnTo>
                  <a:pt x="27874" y="144944"/>
                </a:lnTo>
                <a:cubicBezTo>
                  <a:pt x="24808" y="144944"/>
                  <a:pt x="22299" y="142435"/>
                  <a:pt x="22299" y="139369"/>
                </a:cubicBezTo>
                <a:lnTo>
                  <a:pt x="22299" y="22299"/>
                </a:lnTo>
                <a:close/>
                <a:moveTo>
                  <a:pt x="163968" y="52472"/>
                </a:moveTo>
                <a:cubicBezTo>
                  <a:pt x="168323" y="48117"/>
                  <a:pt x="168323" y="41044"/>
                  <a:pt x="163968" y="36689"/>
                </a:cubicBezTo>
                <a:cubicBezTo>
                  <a:pt x="159612" y="32334"/>
                  <a:pt x="152539" y="32334"/>
                  <a:pt x="148184" y="36689"/>
                </a:cubicBezTo>
                <a:lnTo>
                  <a:pt x="111495" y="73413"/>
                </a:lnTo>
                <a:lnTo>
                  <a:pt x="91496" y="53448"/>
                </a:lnTo>
                <a:cubicBezTo>
                  <a:pt x="87140" y="49093"/>
                  <a:pt x="80067" y="49093"/>
                  <a:pt x="75712" y="53448"/>
                </a:cubicBezTo>
                <a:lnTo>
                  <a:pt x="42264" y="86897"/>
                </a:lnTo>
                <a:cubicBezTo>
                  <a:pt x="37908" y="91252"/>
                  <a:pt x="37908" y="98325"/>
                  <a:pt x="42264" y="102680"/>
                </a:cubicBezTo>
                <a:cubicBezTo>
                  <a:pt x="46619" y="107035"/>
                  <a:pt x="53692" y="107035"/>
                  <a:pt x="58047" y="102680"/>
                </a:cubicBezTo>
                <a:lnTo>
                  <a:pt x="83621" y="77106"/>
                </a:lnTo>
                <a:lnTo>
                  <a:pt x="103621" y="97105"/>
                </a:lnTo>
                <a:cubicBezTo>
                  <a:pt x="107976" y="101461"/>
                  <a:pt x="115049" y="101461"/>
                  <a:pt x="119404" y="97105"/>
                </a:cubicBezTo>
                <a:lnTo>
                  <a:pt x="164002" y="5250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47709" y="7213739"/>
            <a:ext cx="3211062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7709" y="7481328"/>
            <a:ext cx="3199912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提供智能监控和动态调整，优化资源使用效率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7822" y="7838112"/>
            <a:ext cx="178392" cy="178392"/>
          </a:xfrm>
          <a:custGeom>
            <a:avLst/>
            <a:gdLst/>
            <a:ahLst/>
            <a:cxnLst/>
            <a:rect l="l" t="t" r="r" b="b"/>
            <a:pathLst>
              <a:path w="178392" h="178392">
                <a:moveTo>
                  <a:pt x="0" y="89196"/>
                </a:moveTo>
                <a:cubicBezTo>
                  <a:pt x="0" y="39967"/>
                  <a:pt x="39967" y="0"/>
                  <a:pt x="89196" y="0"/>
                </a:cubicBezTo>
                <a:cubicBezTo>
                  <a:pt x="138425" y="0"/>
                  <a:pt x="178392" y="39967"/>
                  <a:pt x="178392" y="89196"/>
                </a:cubicBezTo>
                <a:cubicBezTo>
                  <a:pt x="178392" y="138425"/>
                  <a:pt x="138425" y="178392"/>
                  <a:pt x="89196" y="178392"/>
                </a:cubicBezTo>
                <a:cubicBezTo>
                  <a:pt x="39967" y="178392"/>
                  <a:pt x="0" y="138425"/>
                  <a:pt x="0" y="89196"/>
                </a:cubicBezTo>
                <a:close/>
                <a:moveTo>
                  <a:pt x="100346" y="33449"/>
                </a:moveTo>
                <a:cubicBezTo>
                  <a:pt x="100346" y="27295"/>
                  <a:pt x="95350" y="22299"/>
                  <a:pt x="89196" y="22299"/>
                </a:cubicBezTo>
                <a:cubicBezTo>
                  <a:pt x="83043" y="22299"/>
                  <a:pt x="78047" y="27295"/>
                  <a:pt x="78047" y="33449"/>
                </a:cubicBezTo>
                <a:cubicBezTo>
                  <a:pt x="78047" y="39602"/>
                  <a:pt x="83043" y="44598"/>
                  <a:pt x="89196" y="44598"/>
                </a:cubicBezTo>
                <a:cubicBezTo>
                  <a:pt x="95350" y="44598"/>
                  <a:pt x="100346" y="39602"/>
                  <a:pt x="100346" y="33449"/>
                </a:cubicBezTo>
                <a:close/>
                <a:moveTo>
                  <a:pt x="89196" y="144944"/>
                </a:moveTo>
                <a:cubicBezTo>
                  <a:pt x="101495" y="144944"/>
                  <a:pt x="111495" y="134944"/>
                  <a:pt x="111495" y="122645"/>
                </a:cubicBezTo>
                <a:cubicBezTo>
                  <a:pt x="111495" y="117000"/>
                  <a:pt x="109405" y="111809"/>
                  <a:pt x="105920" y="107906"/>
                </a:cubicBezTo>
                <a:lnTo>
                  <a:pt x="130136" y="59511"/>
                </a:lnTo>
                <a:cubicBezTo>
                  <a:pt x="132191" y="55364"/>
                  <a:pt x="130519" y="50347"/>
                  <a:pt x="126408" y="48291"/>
                </a:cubicBezTo>
                <a:cubicBezTo>
                  <a:pt x="122296" y="46236"/>
                  <a:pt x="117244" y="47908"/>
                  <a:pt x="115188" y="52019"/>
                </a:cubicBezTo>
                <a:lnTo>
                  <a:pt x="90973" y="100415"/>
                </a:lnTo>
                <a:cubicBezTo>
                  <a:pt x="90381" y="100381"/>
                  <a:pt x="89788" y="100346"/>
                  <a:pt x="89196" y="100346"/>
                </a:cubicBezTo>
                <a:cubicBezTo>
                  <a:pt x="76897" y="100346"/>
                  <a:pt x="66897" y="110345"/>
                  <a:pt x="66897" y="122645"/>
                </a:cubicBezTo>
                <a:cubicBezTo>
                  <a:pt x="66897" y="134944"/>
                  <a:pt x="76897" y="144944"/>
                  <a:pt x="89196" y="144944"/>
                </a:cubicBezTo>
                <a:close/>
                <a:moveTo>
                  <a:pt x="61322" y="50173"/>
                </a:moveTo>
                <a:cubicBezTo>
                  <a:pt x="61322" y="44019"/>
                  <a:pt x="56326" y="39023"/>
                  <a:pt x="50173" y="39023"/>
                </a:cubicBezTo>
                <a:cubicBezTo>
                  <a:pt x="44019" y="39023"/>
                  <a:pt x="39023" y="44019"/>
                  <a:pt x="39023" y="50173"/>
                </a:cubicBezTo>
                <a:cubicBezTo>
                  <a:pt x="39023" y="56326"/>
                  <a:pt x="44019" y="61322"/>
                  <a:pt x="50173" y="61322"/>
                </a:cubicBezTo>
                <a:cubicBezTo>
                  <a:pt x="56326" y="61322"/>
                  <a:pt x="61322" y="56326"/>
                  <a:pt x="61322" y="50173"/>
                </a:cubicBezTo>
                <a:close/>
                <a:moveTo>
                  <a:pt x="33449" y="100346"/>
                </a:moveTo>
                <a:cubicBezTo>
                  <a:pt x="39602" y="100346"/>
                  <a:pt x="44598" y="95350"/>
                  <a:pt x="44598" y="89196"/>
                </a:cubicBezTo>
                <a:cubicBezTo>
                  <a:pt x="44598" y="83043"/>
                  <a:pt x="39602" y="78047"/>
                  <a:pt x="33449" y="78047"/>
                </a:cubicBezTo>
                <a:cubicBezTo>
                  <a:pt x="27295" y="78047"/>
                  <a:pt x="22299" y="83043"/>
                  <a:pt x="22299" y="89196"/>
                </a:cubicBezTo>
                <a:cubicBezTo>
                  <a:pt x="22299" y="95350"/>
                  <a:pt x="27295" y="100346"/>
                  <a:pt x="33449" y="100346"/>
                </a:cubicBezTo>
                <a:close/>
                <a:moveTo>
                  <a:pt x="156093" y="89196"/>
                </a:moveTo>
                <a:cubicBezTo>
                  <a:pt x="156093" y="83043"/>
                  <a:pt x="151097" y="78047"/>
                  <a:pt x="144944" y="78047"/>
                </a:cubicBezTo>
                <a:cubicBezTo>
                  <a:pt x="138790" y="78047"/>
                  <a:pt x="133794" y="83043"/>
                  <a:pt x="133794" y="89196"/>
                </a:cubicBezTo>
                <a:cubicBezTo>
                  <a:pt x="133794" y="95350"/>
                  <a:pt x="138790" y="100346"/>
                  <a:pt x="144944" y="100346"/>
                </a:cubicBezTo>
                <a:cubicBezTo>
                  <a:pt x="151097" y="100346"/>
                  <a:pt x="156093" y="95350"/>
                  <a:pt x="156093" y="8919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47709" y="7793514"/>
            <a:ext cx="243059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7709" y="8061103"/>
            <a:ext cx="241944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提供精细化管理，最大化应用性能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21464" y="6048615"/>
            <a:ext cx="7581674" cy="2419446"/>
          </a:xfrm>
          <a:custGeom>
            <a:avLst/>
            <a:gdLst/>
            <a:ahLst/>
            <a:cxnLst/>
            <a:rect l="l" t="t" r="r" b="b"/>
            <a:pathLst>
              <a:path w="7581674" h="2419446">
                <a:moveTo>
                  <a:pt x="89205" y="0"/>
                </a:moveTo>
                <a:lnTo>
                  <a:pt x="7492469" y="0"/>
                </a:lnTo>
                <a:cubicBezTo>
                  <a:pt x="7541735" y="0"/>
                  <a:pt x="7581674" y="39938"/>
                  <a:pt x="7581674" y="89205"/>
                </a:cubicBezTo>
                <a:lnTo>
                  <a:pt x="7581674" y="2330241"/>
                </a:lnTo>
                <a:cubicBezTo>
                  <a:pt x="7581674" y="2379507"/>
                  <a:pt x="7541735" y="2419446"/>
                  <a:pt x="7492469" y="2419446"/>
                </a:cubicBezTo>
                <a:lnTo>
                  <a:pt x="89205" y="2419446"/>
                </a:lnTo>
                <a:cubicBezTo>
                  <a:pt x="39938" y="2419446"/>
                  <a:pt x="0" y="2379507"/>
                  <a:pt x="0" y="2330241"/>
                </a:cubicBezTo>
                <a:lnTo>
                  <a:pt x="0" y="89205"/>
                </a:lnTo>
                <a:cubicBezTo>
                  <a:pt x="0" y="39971"/>
                  <a:pt x="39971" y="0"/>
                  <a:pt x="8920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22156" y="6254881"/>
            <a:ext cx="301037" cy="267588"/>
          </a:xfrm>
          <a:custGeom>
            <a:avLst/>
            <a:gdLst/>
            <a:ahLst/>
            <a:cxnLst/>
            <a:rect l="l" t="t" r="r" b="b"/>
            <a:pathLst>
              <a:path w="301037" h="267588">
                <a:moveTo>
                  <a:pt x="161755" y="-9878"/>
                </a:moveTo>
                <a:cubicBezTo>
                  <a:pt x="159612" y="-14059"/>
                  <a:pt x="155274" y="-16724"/>
                  <a:pt x="150571" y="-16724"/>
                </a:cubicBezTo>
                <a:cubicBezTo>
                  <a:pt x="145867" y="-16724"/>
                  <a:pt x="141529" y="-14059"/>
                  <a:pt x="139386" y="-9878"/>
                </a:cubicBezTo>
                <a:lnTo>
                  <a:pt x="100921" y="65486"/>
                </a:lnTo>
                <a:lnTo>
                  <a:pt x="17351" y="78761"/>
                </a:lnTo>
                <a:cubicBezTo>
                  <a:pt x="12700" y="79493"/>
                  <a:pt x="8833" y="82785"/>
                  <a:pt x="7369" y="87280"/>
                </a:cubicBezTo>
                <a:cubicBezTo>
                  <a:pt x="5906" y="91774"/>
                  <a:pt x="7108" y="96687"/>
                  <a:pt x="10400" y="100032"/>
                </a:cubicBezTo>
                <a:lnTo>
                  <a:pt x="70190" y="159874"/>
                </a:lnTo>
                <a:lnTo>
                  <a:pt x="57019" y="243443"/>
                </a:lnTo>
                <a:cubicBezTo>
                  <a:pt x="56288" y="248094"/>
                  <a:pt x="58221" y="252798"/>
                  <a:pt x="62037" y="255568"/>
                </a:cubicBezTo>
                <a:cubicBezTo>
                  <a:pt x="65852" y="258338"/>
                  <a:pt x="70869" y="258756"/>
                  <a:pt x="75102" y="256613"/>
                </a:cubicBezTo>
                <a:lnTo>
                  <a:pt x="150571" y="218252"/>
                </a:lnTo>
                <a:lnTo>
                  <a:pt x="225987" y="256613"/>
                </a:lnTo>
                <a:cubicBezTo>
                  <a:pt x="230168" y="258756"/>
                  <a:pt x="235237" y="258338"/>
                  <a:pt x="239053" y="255568"/>
                </a:cubicBezTo>
                <a:cubicBezTo>
                  <a:pt x="242868" y="252798"/>
                  <a:pt x="244802" y="248147"/>
                  <a:pt x="244070" y="243443"/>
                </a:cubicBezTo>
                <a:lnTo>
                  <a:pt x="230847" y="159874"/>
                </a:lnTo>
                <a:lnTo>
                  <a:pt x="290637" y="100032"/>
                </a:lnTo>
                <a:cubicBezTo>
                  <a:pt x="293981" y="96687"/>
                  <a:pt x="295131" y="91774"/>
                  <a:pt x="293668" y="87280"/>
                </a:cubicBezTo>
                <a:cubicBezTo>
                  <a:pt x="292205" y="82785"/>
                  <a:pt x="288389" y="79493"/>
                  <a:pt x="283686" y="78761"/>
                </a:cubicBezTo>
                <a:lnTo>
                  <a:pt x="200169" y="65486"/>
                </a:lnTo>
                <a:lnTo>
                  <a:pt x="161755" y="-987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873711" y="6232582"/>
            <a:ext cx="1003457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38880" y="6678562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717618" y="6633964"/>
            <a:ext cx="3121866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责任分离：</a:t>
            </a:r>
            <a:r>
              <a:rPr lang="en-US" sz="140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每一层都有明确的职责边界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8880" y="7035347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717618" y="6990749"/>
            <a:ext cx="330025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故障隔离：</a:t>
            </a:r>
            <a:r>
              <a:rPr lang="en-US" sz="140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层与层之间通过标准接口通信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38880" y="7392132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17618" y="7347534"/>
            <a:ext cx="294347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可观测性：</a:t>
            </a:r>
            <a:r>
              <a:rPr lang="en-US" sz="140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多层次监控便于问题诊断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38880" y="7748916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17618" y="7704318"/>
            <a:ext cx="330025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安全性：</a:t>
            </a:r>
            <a:r>
              <a:rPr lang="en-US" sz="140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纵深防御确保多租户资源公平性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20700" y="1349375"/>
            <a:ext cx="2971800" cy="736600"/>
          </a:xfrm>
          <a:custGeom>
            <a:avLst/>
            <a:gdLst/>
            <a:ahLst/>
            <a:cxnLst/>
            <a:rect l="l" t="t" r="r" b="b"/>
            <a:pathLst>
              <a:path w="2971800" h="736600">
                <a:moveTo>
                  <a:pt x="368300" y="0"/>
                </a:moveTo>
                <a:lnTo>
                  <a:pt x="2603500" y="0"/>
                </a:lnTo>
                <a:cubicBezTo>
                  <a:pt x="2806770" y="0"/>
                  <a:pt x="2971800" y="165030"/>
                  <a:pt x="2971800" y="368300"/>
                </a:cubicBezTo>
                <a:lnTo>
                  <a:pt x="2971800" y="368300"/>
                </a:lnTo>
                <a:cubicBezTo>
                  <a:pt x="2971800" y="571570"/>
                  <a:pt x="2806770" y="736600"/>
                  <a:pt x="2603500" y="736600"/>
                </a:cubicBezTo>
                <a:lnTo>
                  <a:pt x="368300" y="736600"/>
                </a:lnTo>
                <a:cubicBezTo>
                  <a:pt x="165030" y="736600"/>
                  <a:pt x="0" y="571570"/>
                  <a:pt x="0" y="368300"/>
                </a:cubicBezTo>
                <a:lnTo>
                  <a:pt x="0" y="368300"/>
                </a:lnTo>
                <a:cubicBezTo>
                  <a:pt x="0" y="165030"/>
                  <a:pt x="165030" y="0"/>
                  <a:pt x="3683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9800" y="1514475"/>
            <a:ext cx="228907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05075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运行机制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959475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569075"/>
            <a:ext cx="115697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深入剖析ResourceManager、NodeManager、ApplicationMaster的协同工作机制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416" y="477416"/>
            <a:ext cx="1539665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kern="0" spc="75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7416" y="859348"/>
            <a:ext cx="15516006" cy="47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8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 深度解析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7416" y="1479988"/>
            <a:ext cx="1145797" cy="47742"/>
          </a:xfrm>
          <a:custGeom>
            <a:avLst/>
            <a:gdLst/>
            <a:ahLst/>
            <a:cxnLst/>
            <a:rect l="l" t="t" r="r" b="b"/>
            <a:pathLst>
              <a:path w="1145797" h="47742">
                <a:moveTo>
                  <a:pt x="0" y="0"/>
                </a:moveTo>
                <a:lnTo>
                  <a:pt x="1145797" y="0"/>
                </a:lnTo>
                <a:lnTo>
                  <a:pt x="1145797" y="47742"/>
                </a:lnTo>
                <a:lnTo>
                  <a:pt x="0" y="47742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89351" y="1826115"/>
            <a:ext cx="15277298" cy="5108347"/>
          </a:xfrm>
          <a:custGeom>
            <a:avLst/>
            <a:gdLst/>
            <a:ahLst/>
            <a:cxnLst/>
            <a:rect l="l" t="t" r="r" b="b"/>
            <a:pathLst>
              <a:path w="15277298" h="5108347">
                <a:moveTo>
                  <a:pt x="95475" y="0"/>
                </a:moveTo>
                <a:lnTo>
                  <a:pt x="15181823" y="0"/>
                </a:lnTo>
                <a:cubicBezTo>
                  <a:pt x="15234552" y="0"/>
                  <a:pt x="15277298" y="42746"/>
                  <a:pt x="15277298" y="95475"/>
                </a:cubicBezTo>
                <a:lnTo>
                  <a:pt x="15277298" y="5012872"/>
                </a:lnTo>
                <a:cubicBezTo>
                  <a:pt x="15277298" y="5065601"/>
                  <a:pt x="15234552" y="5108347"/>
                  <a:pt x="15181823" y="5108347"/>
                </a:cubicBezTo>
                <a:lnTo>
                  <a:pt x="95475" y="5108347"/>
                </a:lnTo>
                <a:cubicBezTo>
                  <a:pt x="42746" y="5108347"/>
                  <a:pt x="0" y="5065601"/>
                  <a:pt x="0" y="5012872"/>
                </a:cubicBezTo>
                <a:lnTo>
                  <a:pt x="0" y="95475"/>
                </a:lnTo>
                <a:cubicBezTo>
                  <a:pt x="0" y="42746"/>
                  <a:pt x="42746" y="0"/>
                  <a:pt x="9547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99671" y="2136435"/>
            <a:ext cx="739994" cy="739994"/>
          </a:xfrm>
          <a:custGeom>
            <a:avLst/>
            <a:gdLst/>
            <a:ahLst/>
            <a:cxnLst/>
            <a:rect l="l" t="t" r="r" b="b"/>
            <a:pathLst>
              <a:path w="739994" h="739994">
                <a:moveTo>
                  <a:pt x="369997" y="0"/>
                </a:moveTo>
                <a:lnTo>
                  <a:pt x="369997" y="0"/>
                </a:lnTo>
                <a:cubicBezTo>
                  <a:pt x="574204" y="0"/>
                  <a:pt x="739994" y="165790"/>
                  <a:pt x="739994" y="369997"/>
                </a:cubicBezTo>
                <a:lnTo>
                  <a:pt x="739994" y="369997"/>
                </a:lnTo>
                <a:cubicBezTo>
                  <a:pt x="739994" y="574204"/>
                  <a:pt x="574204" y="739994"/>
                  <a:pt x="369997" y="739994"/>
                </a:cubicBezTo>
                <a:lnTo>
                  <a:pt x="369997" y="739994"/>
                </a:lnTo>
                <a:cubicBezTo>
                  <a:pt x="165790" y="739994"/>
                  <a:pt x="0" y="574204"/>
                  <a:pt x="0" y="369997"/>
                </a:cubicBezTo>
                <a:lnTo>
                  <a:pt x="0" y="369997"/>
                </a:lnTo>
                <a:cubicBezTo>
                  <a:pt x="0" y="165790"/>
                  <a:pt x="165790" y="0"/>
                  <a:pt x="3699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16000" y="2327401"/>
            <a:ext cx="313304" cy="358062"/>
          </a:xfrm>
          <a:custGeom>
            <a:avLst/>
            <a:gdLst/>
            <a:ahLst/>
            <a:cxnLst/>
            <a:rect l="l" t="t" r="r" b="b"/>
            <a:pathLst>
              <a:path w="313304" h="358062">
                <a:moveTo>
                  <a:pt x="44758" y="22379"/>
                </a:moveTo>
                <a:cubicBezTo>
                  <a:pt x="20071" y="22379"/>
                  <a:pt x="0" y="42450"/>
                  <a:pt x="0" y="67137"/>
                </a:cubicBezTo>
                <a:lnTo>
                  <a:pt x="0" y="111894"/>
                </a:lnTo>
                <a:cubicBezTo>
                  <a:pt x="0" y="136581"/>
                  <a:pt x="20071" y="156652"/>
                  <a:pt x="44758" y="156652"/>
                </a:cubicBezTo>
                <a:lnTo>
                  <a:pt x="268546" y="156652"/>
                </a:lnTo>
                <a:cubicBezTo>
                  <a:pt x="293233" y="156652"/>
                  <a:pt x="313304" y="136581"/>
                  <a:pt x="313304" y="111894"/>
                </a:cubicBezTo>
                <a:lnTo>
                  <a:pt x="313304" y="67137"/>
                </a:lnTo>
                <a:cubicBezTo>
                  <a:pt x="313304" y="42450"/>
                  <a:pt x="293233" y="22379"/>
                  <a:pt x="268546" y="22379"/>
                </a:cubicBezTo>
                <a:lnTo>
                  <a:pt x="44758" y="22379"/>
                </a:lnTo>
                <a:close/>
                <a:moveTo>
                  <a:pt x="195815" y="72731"/>
                </a:moveTo>
                <a:cubicBezTo>
                  <a:pt x="205078" y="72731"/>
                  <a:pt x="212599" y="80252"/>
                  <a:pt x="212599" y="89515"/>
                </a:cubicBezTo>
                <a:cubicBezTo>
                  <a:pt x="212599" y="98779"/>
                  <a:pt x="205078" y="106300"/>
                  <a:pt x="195815" y="106300"/>
                </a:cubicBezTo>
                <a:cubicBezTo>
                  <a:pt x="186552" y="106300"/>
                  <a:pt x="179031" y="98779"/>
                  <a:pt x="179031" y="89515"/>
                </a:cubicBezTo>
                <a:cubicBezTo>
                  <a:pt x="179031" y="80252"/>
                  <a:pt x="186552" y="72731"/>
                  <a:pt x="195815" y="72731"/>
                </a:cubicBezTo>
                <a:close/>
                <a:moveTo>
                  <a:pt x="234978" y="89515"/>
                </a:moveTo>
                <a:cubicBezTo>
                  <a:pt x="234978" y="80252"/>
                  <a:pt x="242499" y="72731"/>
                  <a:pt x="251762" y="72731"/>
                </a:cubicBezTo>
                <a:cubicBezTo>
                  <a:pt x="261026" y="72731"/>
                  <a:pt x="268546" y="80252"/>
                  <a:pt x="268546" y="89515"/>
                </a:cubicBezTo>
                <a:cubicBezTo>
                  <a:pt x="268546" y="98779"/>
                  <a:pt x="261026" y="106300"/>
                  <a:pt x="251762" y="106300"/>
                </a:cubicBezTo>
                <a:cubicBezTo>
                  <a:pt x="242499" y="106300"/>
                  <a:pt x="234978" y="98779"/>
                  <a:pt x="234978" y="89515"/>
                </a:cubicBezTo>
                <a:close/>
                <a:moveTo>
                  <a:pt x="44758" y="201410"/>
                </a:moveTo>
                <a:cubicBezTo>
                  <a:pt x="20071" y="201410"/>
                  <a:pt x="0" y="221481"/>
                  <a:pt x="0" y="246167"/>
                </a:cubicBezTo>
                <a:lnTo>
                  <a:pt x="0" y="290925"/>
                </a:lnTo>
                <a:cubicBezTo>
                  <a:pt x="0" y="315612"/>
                  <a:pt x="20071" y="335683"/>
                  <a:pt x="44758" y="335683"/>
                </a:cubicBezTo>
                <a:lnTo>
                  <a:pt x="268546" y="335683"/>
                </a:lnTo>
                <a:cubicBezTo>
                  <a:pt x="293233" y="335683"/>
                  <a:pt x="313304" y="315612"/>
                  <a:pt x="313304" y="290925"/>
                </a:cubicBezTo>
                <a:lnTo>
                  <a:pt x="313304" y="246167"/>
                </a:lnTo>
                <a:cubicBezTo>
                  <a:pt x="313304" y="221481"/>
                  <a:pt x="293233" y="201410"/>
                  <a:pt x="268546" y="201410"/>
                </a:cubicBezTo>
                <a:lnTo>
                  <a:pt x="44758" y="201410"/>
                </a:lnTo>
                <a:close/>
                <a:moveTo>
                  <a:pt x="195815" y="251762"/>
                </a:moveTo>
                <a:cubicBezTo>
                  <a:pt x="205078" y="251762"/>
                  <a:pt x="212599" y="259283"/>
                  <a:pt x="212599" y="268546"/>
                </a:cubicBezTo>
                <a:cubicBezTo>
                  <a:pt x="212599" y="277810"/>
                  <a:pt x="205078" y="285330"/>
                  <a:pt x="195815" y="285330"/>
                </a:cubicBezTo>
                <a:cubicBezTo>
                  <a:pt x="186552" y="285330"/>
                  <a:pt x="179031" y="277810"/>
                  <a:pt x="179031" y="268546"/>
                </a:cubicBezTo>
                <a:cubicBezTo>
                  <a:pt x="179031" y="259283"/>
                  <a:pt x="186552" y="251762"/>
                  <a:pt x="195815" y="251762"/>
                </a:cubicBezTo>
                <a:close/>
                <a:moveTo>
                  <a:pt x="234978" y="268546"/>
                </a:moveTo>
                <a:cubicBezTo>
                  <a:pt x="234978" y="259283"/>
                  <a:pt x="242499" y="251762"/>
                  <a:pt x="251762" y="251762"/>
                </a:cubicBezTo>
                <a:cubicBezTo>
                  <a:pt x="261026" y="251762"/>
                  <a:pt x="268546" y="259283"/>
                  <a:pt x="268546" y="268546"/>
                </a:cubicBezTo>
                <a:cubicBezTo>
                  <a:pt x="268546" y="277810"/>
                  <a:pt x="261026" y="285330"/>
                  <a:pt x="251762" y="285330"/>
                </a:cubicBezTo>
                <a:cubicBezTo>
                  <a:pt x="242499" y="285330"/>
                  <a:pt x="234978" y="277810"/>
                  <a:pt x="234978" y="26854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42567" y="2172241"/>
            <a:ext cx="6755430" cy="381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 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42567" y="2554173"/>
            <a:ext cx="6707689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YARN集群的中央控制节点，承担全局资源管理和应用生命周期管理的核心职责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3703" y="3085298"/>
            <a:ext cx="7232846" cy="3544811"/>
          </a:xfrm>
          <a:custGeom>
            <a:avLst/>
            <a:gdLst/>
            <a:ahLst/>
            <a:cxnLst/>
            <a:rect l="l" t="t" r="r" b="b"/>
            <a:pathLst>
              <a:path w="7232846" h="3544811">
                <a:moveTo>
                  <a:pt x="95497" y="0"/>
                </a:moveTo>
                <a:lnTo>
                  <a:pt x="7137349" y="0"/>
                </a:lnTo>
                <a:cubicBezTo>
                  <a:pt x="7190090" y="0"/>
                  <a:pt x="7232846" y="42756"/>
                  <a:pt x="7232846" y="95497"/>
                </a:cubicBezTo>
                <a:lnTo>
                  <a:pt x="7232846" y="3449313"/>
                </a:lnTo>
                <a:cubicBezTo>
                  <a:pt x="7232846" y="3502055"/>
                  <a:pt x="7190090" y="3544811"/>
                  <a:pt x="7137349" y="3544811"/>
                </a:cubicBezTo>
                <a:lnTo>
                  <a:pt x="95497" y="3544811"/>
                </a:lnTo>
                <a:cubicBezTo>
                  <a:pt x="42756" y="3544811"/>
                  <a:pt x="0" y="3502055"/>
                  <a:pt x="0" y="3449313"/>
                </a:cubicBezTo>
                <a:lnTo>
                  <a:pt x="0" y="95497"/>
                </a:lnTo>
                <a:cubicBezTo>
                  <a:pt x="0" y="42756"/>
                  <a:pt x="42756" y="0"/>
                  <a:pt x="954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38379" y="3329974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95485" y="0"/>
                </a:moveTo>
                <a:lnTo>
                  <a:pt x="477414" y="0"/>
                </a:lnTo>
                <a:cubicBezTo>
                  <a:pt x="530149" y="0"/>
                  <a:pt x="572899" y="42750"/>
                  <a:pt x="572899" y="95485"/>
                </a:cubicBezTo>
                <a:lnTo>
                  <a:pt x="572899" y="477414"/>
                </a:lnTo>
                <a:cubicBezTo>
                  <a:pt x="572899" y="530149"/>
                  <a:pt x="530149" y="572899"/>
                  <a:pt x="477414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199507" y="3473198"/>
            <a:ext cx="250643" cy="286449"/>
          </a:xfrm>
          <a:custGeom>
            <a:avLst/>
            <a:gdLst/>
            <a:ahLst/>
            <a:cxnLst/>
            <a:rect l="l" t="t" r="r" b="b"/>
            <a:pathLst>
              <a:path w="250643" h="286449">
                <a:moveTo>
                  <a:pt x="71612" y="0"/>
                </a:moveTo>
                <a:cubicBezTo>
                  <a:pt x="81515" y="0"/>
                  <a:pt x="89515" y="8000"/>
                  <a:pt x="89515" y="17903"/>
                </a:cubicBezTo>
                <a:lnTo>
                  <a:pt x="89515" y="35806"/>
                </a:lnTo>
                <a:lnTo>
                  <a:pt x="161128" y="35806"/>
                </a:lnTo>
                <a:lnTo>
                  <a:pt x="161128" y="17903"/>
                </a:lnTo>
                <a:cubicBezTo>
                  <a:pt x="161128" y="8000"/>
                  <a:pt x="169128" y="0"/>
                  <a:pt x="179031" y="0"/>
                </a:cubicBezTo>
                <a:cubicBezTo>
                  <a:pt x="188933" y="0"/>
                  <a:pt x="196934" y="8000"/>
                  <a:pt x="196934" y="17903"/>
                </a:cubicBezTo>
                <a:lnTo>
                  <a:pt x="196934" y="35806"/>
                </a:lnTo>
                <a:lnTo>
                  <a:pt x="214837" y="35806"/>
                </a:lnTo>
                <a:cubicBezTo>
                  <a:pt x="234586" y="35806"/>
                  <a:pt x="250643" y="51863"/>
                  <a:pt x="250643" y="71612"/>
                </a:cubicBezTo>
                <a:lnTo>
                  <a:pt x="250643" y="232740"/>
                </a:lnTo>
                <a:cubicBezTo>
                  <a:pt x="250643" y="252489"/>
                  <a:pt x="234586" y="268546"/>
                  <a:pt x="214837" y="268546"/>
                </a:cubicBezTo>
                <a:lnTo>
                  <a:pt x="35806" y="268546"/>
                </a:lnTo>
                <a:cubicBezTo>
                  <a:pt x="16057" y="268546"/>
                  <a:pt x="0" y="252489"/>
                  <a:pt x="0" y="232740"/>
                </a:cubicBezTo>
                <a:lnTo>
                  <a:pt x="0" y="71612"/>
                </a:lnTo>
                <a:cubicBezTo>
                  <a:pt x="0" y="51863"/>
                  <a:pt x="16057" y="35806"/>
                  <a:pt x="35806" y="35806"/>
                </a:cubicBezTo>
                <a:lnTo>
                  <a:pt x="53709" y="35806"/>
                </a:lnTo>
                <a:lnTo>
                  <a:pt x="53709" y="17903"/>
                </a:lnTo>
                <a:cubicBezTo>
                  <a:pt x="53709" y="8000"/>
                  <a:pt x="61710" y="0"/>
                  <a:pt x="71612" y="0"/>
                </a:cubicBezTo>
                <a:close/>
                <a:moveTo>
                  <a:pt x="35806" y="134273"/>
                </a:moveTo>
                <a:lnTo>
                  <a:pt x="35806" y="152176"/>
                </a:lnTo>
                <a:cubicBezTo>
                  <a:pt x="35806" y="157100"/>
                  <a:pt x="39834" y="161128"/>
                  <a:pt x="44758" y="161128"/>
                </a:cubicBezTo>
                <a:lnTo>
                  <a:pt x="62661" y="161128"/>
                </a:lnTo>
                <a:cubicBezTo>
                  <a:pt x="67584" y="161128"/>
                  <a:pt x="71612" y="157100"/>
                  <a:pt x="71612" y="152176"/>
                </a:cubicBezTo>
                <a:lnTo>
                  <a:pt x="71612" y="134273"/>
                </a:lnTo>
                <a:cubicBezTo>
                  <a:pt x="71612" y="129350"/>
                  <a:pt x="67584" y="125322"/>
                  <a:pt x="62661" y="125322"/>
                </a:cubicBezTo>
                <a:lnTo>
                  <a:pt x="44758" y="125322"/>
                </a:lnTo>
                <a:cubicBezTo>
                  <a:pt x="39834" y="125322"/>
                  <a:pt x="35806" y="129350"/>
                  <a:pt x="35806" y="134273"/>
                </a:cubicBezTo>
                <a:close/>
                <a:moveTo>
                  <a:pt x="107419" y="134273"/>
                </a:moveTo>
                <a:lnTo>
                  <a:pt x="107419" y="152176"/>
                </a:lnTo>
                <a:cubicBezTo>
                  <a:pt x="107419" y="157100"/>
                  <a:pt x="111447" y="161128"/>
                  <a:pt x="116370" y="161128"/>
                </a:cubicBezTo>
                <a:lnTo>
                  <a:pt x="134273" y="161128"/>
                </a:lnTo>
                <a:cubicBezTo>
                  <a:pt x="139196" y="161128"/>
                  <a:pt x="143225" y="157100"/>
                  <a:pt x="143225" y="152176"/>
                </a:cubicBezTo>
                <a:lnTo>
                  <a:pt x="143225" y="134273"/>
                </a:lnTo>
                <a:cubicBezTo>
                  <a:pt x="143225" y="129350"/>
                  <a:pt x="139196" y="125322"/>
                  <a:pt x="134273" y="125322"/>
                </a:cubicBezTo>
                <a:lnTo>
                  <a:pt x="116370" y="125322"/>
                </a:lnTo>
                <a:cubicBezTo>
                  <a:pt x="111447" y="125322"/>
                  <a:pt x="107419" y="129350"/>
                  <a:pt x="107419" y="134273"/>
                </a:cubicBezTo>
                <a:close/>
                <a:moveTo>
                  <a:pt x="187982" y="125322"/>
                </a:moveTo>
                <a:cubicBezTo>
                  <a:pt x="183059" y="125322"/>
                  <a:pt x="179031" y="129350"/>
                  <a:pt x="179031" y="134273"/>
                </a:cubicBezTo>
                <a:lnTo>
                  <a:pt x="179031" y="152176"/>
                </a:lnTo>
                <a:cubicBezTo>
                  <a:pt x="179031" y="157100"/>
                  <a:pt x="183059" y="161128"/>
                  <a:pt x="187982" y="161128"/>
                </a:cubicBezTo>
                <a:lnTo>
                  <a:pt x="205885" y="161128"/>
                </a:lnTo>
                <a:cubicBezTo>
                  <a:pt x="210809" y="161128"/>
                  <a:pt x="214837" y="157100"/>
                  <a:pt x="214837" y="152176"/>
                </a:cubicBezTo>
                <a:lnTo>
                  <a:pt x="214837" y="134273"/>
                </a:lnTo>
                <a:cubicBezTo>
                  <a:pt x="214837" y="129350"/>
                  <a:pt x="210809" y="125322"/>
                  <a:pt x="205885" y="125322"/>
                </a:cubicBezTo>
                <a:lnTo>
                  <a:pt x="187982" y="125322"/>
                </a:lnTo>
                <a:close/>
                <a:moveTo>
                  <a:pt x="35806" y="205885"/>
                </a:moveTo>
                <a:lnTo>
                  <a:pt x="35806" y="223789"/>
                </a:lnTo>
                <a:cubicBezTo>
                  <a:pt x="35806" y="228712"/>
                  <a:pt x="39834" y="232740"/>
                  <a:pt x="44758" y="232740"/>
                </a:cubicBezTo>
                <a:lnTo>
                  <a:pt x="62661" y="232740"/>
                </a:lnTo>
                <a:cubicBezTo>
                  <a:pt x="67584" y="232740"/>
                  <a:pt x="71612" y="228712"/>
                  <a:pt x="71612" y="223789"/>
                </a:cubicBezTo>
                <a:lnTo>
                  <a:pt x="71612" y="205885"/>
                </a:lnTo>
                <a:cubicBezTo>
                  <a:pt x="71612" y="200962"/>
                  <a:pt x="67584" y="196934"/>
                  <a:pt x="62661" y="196934"/>
                </a:cubicBezTo>
                <a:lnTo>
                  <a:pt x="44758" y="196934"/>
                </a:lnTo>
                <a:cubicBezTo>
                  <a:pt x="39834" y="196934"/>
                  <a:pt x="35806" y="200962"/>
                  <a:pt x="35806" y="205885"/>
                </a:cubicBezTo>
                <a:close/>
                <a:moveTo>
                  <a:pt x="116370" y="196934"/>
                </a:moveTo>
                <a:cubicBezTo>
                  <a:pt x="111447" y="196934"/>
                  <a:pt x="107419" y="200962"/>
                  <a:pt x="107419" y="205885"/>
                </a:cubicBezTo>
                <a:lnTo>
                  <a:pt x="107419" y="223789"/>
                </a:lnTo>
                <a:cubicBezTo>
                  <a:pt x="107419" y="228712"/>
                  <a:pt x="111447" y="232740"/>
                  <a:pt x="116370" y="232740"/>
                </a:cubicBezTo>
                <a:lnTo>
                  <a:pt x="134273" y="232740"/>
                </a:lnTo>
                <a:cubicBezTo>
                  <a:pt x="139196" y="232740"/>
                  <a:pt x="143225" y="228712"/>
                  <a:pt x="143225" y="223789"/>
                </a:cubicBezTo>
                <a:lnTo>
                  <a:pt x="143225" y="205885"/>
                </a:lnTo>
                <a:cubicBezTo>
                  <a:pt x="143225" y="200962"/>
                  <a:pt x="139196" y="196934"/>
                  <a:pt x="134273" y="196934"/>
                </a:cubicBezTo>
                <a:lnTo>
                  <a:pt x="116370" y="196934"/>
                </a:lnTo>
                <a:close/>
                <a:moveTo>
                  <a:pt x="179031" y="205885"/>
                </a:moveTo>
                <a:lnTo>
                  <a:pt x="179031" y="223789"/>
                </a:lnTo>
                <a:cubicBezTo>
                  <a:pt x="179031" y="228712"/>
                  <a:pt x="183059" y="232740"/>
                  <a:pt x="187982" y="232740"/>
                </a:cubicBezTo>
                <a:lnTo>
                  <a:pt x="205885" y="232740"/>
                </a:lnTo>
                <a:cubicBezTo>
                  <a:pt x="210809" y="232740"/>
                  <a:pt x="214837" y="228712"/>
                  <a:pt x="214837" y="223789"/>
                </a:cubicBezTo>
                <a:lnTo>
                  <a:pt x="214837" y="205885"/>
                </a:lnTo>
                <a:cubicBezTo>
                  <a:pt x="214837" y="200962"/>
                  <a:pt x="210809" y="196934"/>
                  <a:pt x="205885" y="196934"/>
                </a:cubicBezTo>
                <a:lnTo>
                  <a:pt x="187982" y="196934"/>
                </a:lnTo>
                <a:cubicBezTo>
                  <a:pt x="183059" y="196934"/>
                  <a:pt x="179031" y="200962"/>
                  <a:pt x="179031" y="20588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754502" y="3449327"/>
            <a:ext cx="2148370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Scheduler (调度器)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8379" y="4046097"/>
            <a:ext cx="683897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纯粹的资源分配引擎，专注于根据预定义策略进行资源分配决策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38379" y="4475771"/>
            <a:ext cx="6743495" cy="954831"/>
          </a:xfrm>
          <a:custGeom>
            <a:avLst/>
            <a:gdLst/>
            <a:ahLst/>
            <a:cxnLst/>
            <a:rect l="l" t="t" r="r" b="b"/>
            <a:pathLst>
              <a:path w="6743495" h="954831">
                <a:moveTo>
                  <a:pt x="47742" y="0"/>
                </a:moveTo>
                <a:lnTo>
                  <a:pt x="6695753" y="0"/>
                </a:lnTo>
                <a:cubicBezTo>
                  <a:pt x="6722120" y="0"/>
                  <a:pt x="6743495" y="21375"/>
                  <a:pt x="6743495" y="47742"/>
                </a:cubicBezTo>
                <a:lnTo>
                  <a:pt x="6743495" y="907090"/>
                </a:lnTo>
                <a:cubicBezTo>
                  <a:pt x="6743495" y="933457"/>
                  <a:pt x="6722120" y="954831"/>
                  <a:pt x="6695753" y="954831"/>
                </a:cubicBezTo>
                <a:lnTo>
                  <a:pt x="47742" y="954831"/>
                </a:lnTo>
                <a:cubicBezTo>
                  <a:pt x="21375" y="954831"/>
                  <a:pt x="0" y="933457"/>
                  <a:pt x="0" y="907090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81604" y="4618996"/>
            <a:ext cx="6552529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调度算法支持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604" y="4953186"/>
            <a:ext cx="644511" cy="334191"/>
          </a:xfrm>
          <a:custGeom>
            <a:avLst/>
            <a:gdLst/>
            <a:ahLst/>
            <a:cxnLst/>
            <a:rect l="l" t="t" r="r" b="b"/>
            <a:pathLst>
              <a:path w="644511" h="334191">
                <a:moveTo>
                  <a:pt x="47743" y="0"/>
                </a:moveTo>
                <a:lnTo>
                  <a:pt x="596769" y="0"/>
                </a:lnTo>
                <a:cubicBezTo>
                  <a:pt x="623136" y="0"/>
                  <a:pt x="644511" y="21375"/>
                  <a:pt x="644511" y="47743"/>
                </a:cubicBezTo>
                <a:lnTo>
                  <a:pt x="644511" y="286448"/>
                </a:lnTo>
                <a:cubicBezTo>
                  <a:pt x="644511" y="312816"/>
                  <a:pt x="623136" y="334191"/>
                  <a:pt x="596769" y="334191"/>
                </a:cubicBezTo>
                <a:lnTo>
                  <a:pt x="47743" y="334191"/>
                </a:lnTo>
                <a:cubicBezTo>
                  <a:pt x="21375" y="334191"/>
                  <a:pt x="0" y="312816"/>
                  <a:pt x="0" y="286448"/>
                </a:cubicBezTo>
                <a:lnTo>
                  <a:pt x="0" y="47743"/>
                </a:lnTo>
                <a:cubicBezTo>
                  <a:pt x="0" y="21393"/>
                  <a:pt x="21393" y="0"/>
                  <a:pt x="4774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81604" y="4953186"/>
            <a:ext cx="728059" cy="334191"/>
          </a:xfrm>
          <a:prstGeom prst="rect">
            <a:avLst/>
          </a:prstGeom>
          <a:noFill/>
          <a:ln/>
        </p:spPr>
        <p:txBody>
          <a:bodyPr wrap="square" lIns="143225" tIns="47742" rIns="143225" bIns="47742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4022" y="4953186"/>
            <a:ext cx="954831" cy="334191"/>
          </a:xfrm>
          <a:custGeom>
            <a:avLst/>
            <a:gdLst/>
            <a:ahLst/>
            <a:cxnLst/>
            <a:rect l="l" t="t" r="r" b="b"/>
            <a:pathLst>
              <a:path w="954831" h="334191">
                <a:moveTo>
                  <a:pt x="47743" y="0"/>
                </a:moveTo>
                <a:lnTo>
                  <a:pt x="907089" y="0"/>
                </a:lnTo>
                <a:cubicBezTo>
                  <a:pt x="933456" y="0"/>
                  <a:pt x="954831" y="21375"/>
                  <a:pt x="954831" y="47743"/>
                </a:cubicBezTo>
                <a:lnTo>
                  <a:pt x="954831" y="286448"/>
                </a:lnTo>
                <a:cubicBezTo>
                  <a:pt x="954831" y="312816"/>
                  <a:pt x="933456" y="334191"/>
                  <a:pt x="907089" y="334191"/>
                </a:cubicBezTo>
                <a:lnTo>
                  <a:pt x="47743" y="334191"/>
                </a:lnTo>
                <a:cubicBezTo>
                  <a:pt x="21375" y="334191"/>
                  <a:pt x="0" y="312816"/>
                  <a:pt x="0" y="286448"/>
                </a:cubicBezTo>
                <a:lnTo>
                  <a:pt x="0" y="47743"/>
                </a:lnTo>
                <a:cubicBezTo>
                  <a:pt x="0" y="21393"/>
                  <a:pt x="21393" y="0"/>
                  <a:pt x="4774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924022" y="4953186"/>
            <a:ext cx="1038379" cy="334191"/>
          </a:xfrm>
          <a:prstGeom prst="rect">
            <a:avLst/>
          </a:prstGeom>
          <a:noFill/>
          <a:ln/>
        </p:spPr>
        <p:txBody>
          <a:bodyPr wrap="square" lIns="143225" tIns="47742" rIns="143225" bIns="47742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73404" y="4953186"/>
            <a:ext cx="572899" cy="334191"/>
          </a:xfrm>
          <a:custGeom>
            <a:avLst/>
            <a:gdLst/>
            <a:ahLst/>
            <a:cxnLst/>
            <a:rect l="l" t="t" r="r" b="b"/>
            <a:pathLst>
              <a:path w="572899" h="334191">
                <a:moveTo>
                  <a:pt x="47743" y="0"/>
                </a:moveTo>
                <a:lnTo>
                  <a:pt x="525156" y="0"/>
                </a:lnTo>
                <a:cubicBezTo>
                  <a:pt x="551524" y="0"/>
                  <a:pt x="572899" y="21375"/>
                  <a:pt x="572899" y="47743"/>
                </a:cubicBezTo>
                <a:lnTo>
                  <a:pt x="572899" y="286448"/>
                </a:lnTo>
                <a:cubicBezTo>
                  <a:pt x="572899" y="312816"/>
                  <a:pt x="551524" y="334191"/>
                  <a:pt x="525156" y="334191"/>
                </a:cubicBezTo>
                <a:lnTo>
                  <a:pt x="47743" y="334191"/>
                </a:lnTo>
                <a:cubicBezTo>
                  <a:pt x="21375" y="334191"/>
                  <a:pt x="0" y="312816"/>
                  <a:pt x="0" y="286448"/>
                </a:cubicBezTo>
                <a:lnTo>
                  <a:pt x="0" y="47743"/>
                </a:lnTo>
                <a:cubicBezTo>
                  <a:pt x="0" y="21393"/>
                  <a:pt x="21393" y="0"/>
                  <a:pt x="4774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973404" y="4953186"/>
            <a:ext cx="656446" cy="334191"/>
          </a:xfrm>
          <a:prstGeom prst="rect">
            <a:avLst/>
          </a:prstGeom>
          <a:noFill/>
          <a:ln/>
        </p:spPr>
        <p:txBody>
          <a:bodyPr wrap="square" lIns="143225" tIns="47742" rIns="143225" bIns="47742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42998" y="4953186"/>
            <a:ext cx="608705" cy="334191"/>
          </a:xfrm>
          <a:custGeom>
            <a:avLst/>
            <a:gdLst/>
            <a:ahLst/>
            <a:cxnLst/>
            <a:rect l="l" t="t" r="r" b="b"/>
            <a:pathLst>
              <a:path w="608705" h="334191">
                <a:moveTo>
                  <a:pt x="47743" y="0"/>
                </a:moveTo>
                <a:lnTo>
                  <a:pt x="560962" y="0"/>
                </a:lnTo>
                <a:cubicBezTo>
                  <a:pt x="587330" y="0"/>
                  <a:pt x="608705" y="21375"/>
                  <a:pt x="608705" y="47743"/>
                </a:cubicBezTo>
                <a:lnTo>
                  <a:pt x="608705" y="286448"/>
                </a:lnTo>
                <a:cubicBezTo>
                  <a:pt x="608705" y="312816"/>
                  <a:pt x="587330" y="334191"/>
                  <a:pt x="560962" y="334191"/>
                </a:cubicBezTo>
                <a:lnTo>
                  <a:pt x="47743" y="334191"/>
                </a:lnTo>
                <a:cubicBezTo>
                  <a:pt x="21375" y="334191"/>
                  <a:pt x="0" y="312816"/>
                  <a:pt x="0" y="286448"/>
                </a:cubicBezTo>
                <a:lnTo>
                  <a:pt x="0" y="47743"/>
                </a:lnTo>
                <a:cubicBezTo>
                  <a:pt x="0" y="21393"/>
                  <a:pt x="21393" y="0"/>
                  <a:pt x="4774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42998" y="4953186"/>
            <a:ext cx="692253" cy="334191"/>
          </a:xfrm>
          <a:prstGeom prst="rect">
            <a:avLst/>
          </a:prstGeom>
          <a:noFill/>
          <a:ln/>
        </p:spPr>
        <p:txBody>
          <a:bodyPr wrap="square" lIns="143225" tIns="47742" rIns="143225" bIns="47742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8379" y="5526085"/>
            <a:ext cx="6743495" cy="859348"/>
          </a:xfrm>
          <a:custGeom>
            <a:avLst/>
            <a:gdLst/>
            <a:ahLst/>
            <a:cxnLst/>
            <a:rect l="l" t="t" r="r" b="b"/>
            <a:pathLst>
              <a:path w="6743495" h="859348">
                <a:moveTo>
                  <a:pt x="47745" y="0"/>
                </a:moveTo>
                <a:lnTo>
                  <a:pt x="6695749" y="0"/>
                </a:lnTo>
                <a:cubicBezTo>
                  <a:pt x="6722119" y="0"/>
                  <a:pt x="6743495" y="21376"/>
                  <a:pt x="6743495" y="47745"/>
                </a:cubicBezTo>
                <a:lnTo>
                  <a:pt x="6743495" y="811603"/>
                </a:lnTo>
                <a:cubicBezTo>
                  <a:pt x="6743495" y="837972"/>
                  <a:pt x="6722119" y="859348"/>
                  <a:pt x="6695749" y="859348"/>
                </a:cubicBezTo>
                <a:lnTo>
                  <a:pt x="47745" y="859348"/>
                </a:lnTo>
                <a:cubicBezTo>
                  <a:pt x="21376" y="859348"/>
                  <a:pt x="0" y="837972"/>
                  <a:pt x="0" y="811603"/>
                </a:cubicBezTo>
                <a:lnTo>
                  <a:pt x="0" y="47745"/>
                </a:lnTo>
                <a:cubicBezTo>
                  <a:pt x="0" y="21394"/>
                  <a:pt x="21394" y="0"/>
                  <a:pt x="47745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81604" y="5669310"/>
            <a:ext cx="6552529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无状态设计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604" y="6003501"/>
            <a:ext cx="6540593" cy="23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不监控或跟踪应用执行状态，确保调度决策高效性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8052" y="3085298"/>
            <a:ext cx="7232846" cy="3544811"/>
          </a:xfrm>
          <a:custGeom>
            <a:avLst/>
            <a:gdLst/>
            <a:ahLst/>
            <a:cxnLst/>
            <a:rect l="l" t="t" r="r" b="b"/>
            <a:pathLst>
              <a:path w="7232846" h="3544811">
                <a:moveTo>
                  <a:pt x="95497" y="0"/>
                </a:moveTo>
                <a:lnTo>
                  <a:pt x="7137349" y="0"/>
                </a:lnTo>
                <a:cubicBezTo>
                  <a:pt x="7190090" y="0"/>
                  <a:pt x="7232846" y="42756"/>
                  <a:pt x="7232846" y="95497"/>
                </a:cubicBezTo>
                <a:lnTo>
                  <a:pt x="7232846" y="3449313"/>
                </a:lnTo>
                <a:cubicBezTo>
                  <a:pt x="7232846" y="3502055"/>
                  <a:pt x="7190090" y="3544811"/>
                  <a:pt x="7137349" y="3544811"/>
                </a:cubicBezTo>
                <a:lnTo>
                  <a:pt x="95497" y="3544811"/>
                </a:lnTo>
                <a:cubicBezTo>
                  <a:pt x="42756" y="3544811"/>
                  <a:pt x="0" y="3502055"/>
                  <a:pt x="0" y="3449313"/>
                </a:cubicBezTo>
                <a:lnTo>
                  <a:pt x="0" y="95497"/>
                </a:lnTo>
                <a:cubicBezTo>
                  <a:pt x="0" y="42756"/>
                  <a:pt x="42756" y="0"/>
                  <a:pt x="954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72728" y="3329974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95485" y="0"/>
                </a:moveTo>
                <a:lnTo>
                  <a:pt x="477414" y="0"/>
                </a:lnTo>
                <a:cubicBezTo>
                  <a:pt x="530149" y="0"/>
                  <a:pt x="572899" y="42750"/>
                  <a:pt x="572899" y="95485"/>
                </a:cubicBezTo>
                <a:lnTo>
                  <a:pt x="572899" y="477414"/>
                </a:lnTo>
                <a:cubicBezTo>
                  <a:pt x="572899" y="530149"/>
                  <a:pt x="530149" y="572899"/>
                  <a:pt x="477414" y="572899"/>
                </a:cubicBezTo>
                <a:lnTo>
                  <a:pt x="95485" y="572899"/>
                </a:lnTo>
                <a:cubicBezTo>
                  <a:pt x="42750" y="572899"/>
                  <a:pt x="0" y="530149"/>
                  <a:pt x="0" y="477414"/>
                </a:cubicBezTo>
                <a:lnTo>
                  <a:pt x="0" y="95485"/>
                </a:lnTo>
                <a:cubicBezTo>
                  <a:pt x="0" y="42750"/>
                  <a:pt x="42750" y="0"/>
                  <a:pt x="9548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15952" y="3473198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74857" y="20309"/>
                </a:moveTo>
                <a:cubicBezTo>
                  <a:pt x="80956" y="24561"/>
                  <a:pt x="82410" y="32953"/>
                  <a:pt x="78158" y="38995"/>
                </a:cubicBezTo>
                <a:lnTo>
                  <a:pt x="46828" y="83753"/>
                </a:lnTo>
                <a:cubicBezTo>
                  <a:pt x="44534" y="86998"/>
                  <a:pt x="40953" y="89068"/>
                  <a:pt x="36981" y="89404"/>
                </a:cubicBezTo>
                <a:cubicBezTo>
                  <a:pt x="33009" y="89739"/>
                  <a:pt x="29093" y="88396"/>
                  <a:pt x="26295" y="85599"/>
                </a:cubicBezTo>
                <a:lnTo>
                  <a:pt x="3916" y="63220"/>
                </a:lnTo>
                <a:cubicBezTo>
                  <a:pt x="-1287" y="57961"/>
                  <a:pt x="-1287" y="49457"/>
                  <a:pt x="3916" y="44198"/>
                </a:cubicBezTo>
                <a:cubicBezTo>
                  <a:pt x="9119" y="38939"/>
                  <a:pt x="17679" y="38995"/>
                  <a:pt x="22938" y="44198"/>
                </a:cubicBezTo>
                <a:lnTo>
                  <a:pt x="34016" y="55276"/>
                </a:lnTo>
                <a:lnTo>
                  <a:pt x="56171" y="23610"/>
                </a:lnTo>
                <a:cubicBezTo>
                  <a:pt x="60423" y="17511"/>
                  <a:pt x="68815" y="16057"/>
                  <a:pt x="74857" y="20309"/>
                </a:cubicBezTo>
                <a:close/>
                <a:moveTo>
                  <a:pt x="74857" y="109824"/>
                </a:moveTo>
                <a:cubicBezTo>
                  <a:pt x="80956" y="114076"/>
                  <a:pt x="82410" y="122468"/>
                  <a:pt x="78158" y="128511"/>
                </a:cubicBezTo>
                <a:lnTo>
                  <a:pt x="46828" y="173268"/>
                </a:lnTo>
                <a:cubicBezTo>
                  <a:pt x="44534" y="176513"/>
                  <a:pt x="40953" y="178583"/>
                  <a:pt x="36981" y="178919"/>
                </a:cubicBezTo>
                <a:cubicBezTo>
                  <a:pt x="33009" y="179255"/>
                  <a:pt x="29093" y="177912"/>
                  <a:pt x="26295" y="175115"/>
                </a:cubicBezTo>
                <a:lnTo>
                  <a:pt x="3916" y="152736"/>
                </a:lnTo>
                <a:cubicBezTo>
                  <a:pt x="-1343" y="147477"/>
                  <a:pt x="-1343" y="138973"/>
                  <a:pt x="3916" y="133770"/>
                </a:cubicBezTo>
                <a:cubicBezTo>
                  <a:pt x="9175" y="128567"/>
                  <a:pt x="17679" y="128511"/>
                  <a:pt x="22882" y="133770"/>
                </a:cubicBezTo>
                <a:lnTo>
                  <a:pt x="33960" y="144847"/>
                </a:lnTo>
                <a:lnTo>
                  <a:pt x="56115" y="113181"/>
                </a:lnTo>
                <a:cubicBezTo>
                  <a:pt x="60367" y="107083"/>
                  <a:pt x="68759" y="105628"/>
                  <a:pt x="74801" y="109880"/>
                </a:cubicBezTo>
                <a:close/>
                <a:moveTo>
                  <a:pt x="125322" y="53709"/>
                </a:moveTo>
                <a:cubicBezTo>
                  <a:pt x="125322" y="43807"/>
                  <a:pt x="133322" y="35806"/>
                  <a:pt x="143225" y="35806"/>
                </a:cubicBezTo>
                <a:lnTo>
                  <a:pt x="268546" y="35806"/>
                </a:lnTo>
                <a:cubicBezTo>
                  <a:pt x="278449" y="35806"/>
                  <a:pt x="286449" y="43807"/>
                  <a:pt x="286449" y="53709"/>
                </a:cubicBezTo>
                <a:cubicBezTo>
                  <a:pt x="286449" y="63612"/>
                  <a:pt x="278449" y="71612"/>
                  <a:pt x="268546" y="71612"/>
                </a:cubicBezTo>
                <a:lnTo>
                  <a:pt x="143225" y="71612"/>
                </a:lnTo>
                <a:cubicBezTo>
                  <a:pt x="133322" y="71612"/>
                  <a:pt x="125322" y="63612"/>
                  <a:pt x="125322" y="53709"/>
                </a:cubicBezTo>
                <a:close/>
                <a:moveTo>
                  <a:pt x="125322" y="143225"/>
                </a:moveTo>
                <a:cubicBezTo>
                  <a:pt x="125322" y="133322"/>
                  <a:pt x="133322" y="125322"/>
                  <a:pt x="143225" y="125322"/>
                </a:cubicBezTo>
                <a:lnTo>
                  <a:pt x="268546" y="125322"/>
                </a:lnTo>
                <a:cubicBezTo>
                  <a:pt x="278449" y="125322"/>
                  <a:pt x="286449" y="133322"/>
                  <a:pt x="286449" y="143225"/>
                </a:cubicBezTo>
                <a:cubicBezTo>
                  <a:pt x="286449" y="153127"/>
                  <a:pt x="278449" y="161128"/>
                  <a:pt x="268546" y="161128"/>
                </a:cubicBezTo>
                <a:lnTo>
                  <a:pt x="143225" y="161128"/>
                </a:lnTo>
                <a:cubicBezTo>
                  <a:pt x="133322" y="161128"/>
                  <a:pt x="125322" y="153127"/>
                  <a:pt x="125322" y="143225"/>
                </a:cubicBezTo>
                <a:close/>
                <a:moveTo>
                  <a:pt x="89515" y="232740"/>
                </a:moveTo>
                <a:cubicBezTo>
                  <a:pt x="89515" y="222837"/>
                  <a:pt x="97516" y="214837"/>
                  <a:pt x="107419" y="214837"/>
                </a:cubicBezTo>
                <a:lnTo>
                  <a:pt x="268546" y="214837"/>
                </a:lnTo>
                <a:cubicBezTo>
                  <a:pt x="278449" y="214837"/>
                  <a:pt x="286449" y="222837"/>
                  <a:pt x="286449" y="232740"/>
                </a:cubicBezTo>
                <a:cubicBezTo>
                  <a:pt x="286449" y="242643"/>
                  <a:pt x="278449" y="250643"/>
                  <a:pt x="268546" y="250643"/>
                </a:cubicBezTo>
                <a:lnTo>
                  <a:pt x="107419" y="250643"/>
                </a:lnTo>
                <a:cubicBezTo>
                  <a:pt x="97516" y="250643"/>
                  <a:pt x="89515" y="242643"/>
                  <a:pt x="89515" y="232740"/>
                </a:cubicBezTo>
                <a:close/>
                <a:moveTo>
                  <a:pt x="35806" y="210361"/>
                </a:moveTo>
                <a:cubicBezTo>
                  <a:pt x="48157" y="210361"/>
                  <a:pt x="58185" y="220389"/>
                  <a:pt x="58185" y="232740"/>
                </a:cubicBezTo>
                <a:cubicBezTo>
                  <a:pt x="58185" y="245091"/>
                  <a:pt x="48157" y="255119"/>
                  <a:pt x="35806" y="255119"/>
                </a:cubicBezTo>
                <a:cubicBezTo>
                  <a:pt x="23455" y="255119"/>
                  <a:pt x="13427" y="245091"/>
                  <a:pt x="13427" y="232740"/>
                </a:cubicBezTo>
                <a:cubicBezTo>
                  <a:pt x="13427" y="220389"/>
                  <a:pt x="23455" y="210361"/>
                  <a:pt x="35806" y="21036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88851" y="3449327"/>
            <a:ext cx="2422884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ApplicationsManager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72728" y="4046097"/>
            <a:ext cx="683897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负责应用的全生命周期管理，从提交到完成的整个过程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96598" y="4523512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47742" y="119354"/>
                </a:moveTo>
                <a:lnTo>
                  <a:pt x="9138" y="119354"/>
                </a:lnTo>
                <a:cubicBezTo>
                  <a:pt x="-149" y="119354"/>
                  <a:pt x="-5856" y="109246"/>
                  <a:pt x="-1082" y="101264"/>
                </a:cubicBezTo>
                <a:lnTo>
                  <a:pt x="18649" y="68367"/>
                </a:lnTo>
                <a:cubicBezTo>
                  <a:pt x="21894" y="62959"/>
                  <a:pt x="27712" y="59677"/>
                  <a:pt x="34016" y="59677"/>
                </a:cubicBezTo>
                <a:lnTo>
                  <a:pt x="69449" y="59677"/>
                </a:lnTo>
                <a:cubicBezTo>
                  <a:pt x="97833" y="11600"/>
                  <a:pt x="140166" y="9175"/>
                  <a:pt x="168475" y="13315"/>
                </a:cubicBezTo>
                <a:cubicBezTo>
                  <a:pt x="173250" y="14024"/>
                  <a:pt x="176979" y="17754"/>
                  <a:pt x="177651" y="22491"/>
                </a:cubicBezTo>
                <a:cubicBezTo>
                  <a:pt x="181791" y="50800"/>
                  <a:pt x="179367" y="93133"/>
                  <a:pt x="131289" y="121517"/>
                </a:cubicBezTo>
                <a:lnTo>
                  <a:pt x="131289" y="156950"/>
                </a:lnTo>
                <a:cubicBezTo>
                  <a:pt x="131289" y="163254"/>
                  <a:pt x="128007" y="169072"/>
                  <a:pt x="122599" y="172317"/>
                </a:cubicBezTo>
                <a:lnTo>
                  <a:pt x="89702" y="192048"/>
                </a:lnTo>
                <a:cubicBezTo>
                  <a:pt x="81757" y="196822"/>
                  <a:pt x="71612" y="191078"/>
                  <a:pt x="71612" y="181828"/>
                </a:cubicBezTo>
                <a:lnTo>
                  <a:pt x="71612" y="143225"/>
                </a:lnTo>
                <a:cubicBezTo>
                  <a:pt x="71612" y="130058"/>
                  <a:pt x="60908" y="119354"/>
                  <a:pt x="47742" y="119354"/>
                </a:cubicBezTo>
                <a:lnTo>
                  <a:pt x="47704" y="119354"/>
                </a:lnTo>
                <a:close/>
                <a:moveTo>
                  <a:pt x="149192" y="59677"/>
                </a:moveTo>
                <a:cubicBezTo>
                  <a:pt x="149192" y="49796"/>
                  <a:pt x="141170" y="41774"/>
                  <a:pt x="131289" y="41774"/>
                </a:cubicBezTo>
                <a:cubicBezTo>
                  <a:pt x="121408" y="41774"/>
                  <a:pt x="113386" y="49796"/>
                  <a:pt x="113386" y="59677"/>
                </a:cubicBezTo>
                <a:cubicBezTo>
                  <a:pt x="113386" y="69558"/>
                  <a:pt x="121408" y="77580"/>
                  <a:pt x="131289" y="77580"/>
                </a:cubicBezTo>
                <a:cubicBezTo>
                  <a:pt x="141170" y="77580"/>
                  <a:pt x="149192" y="69558"/>
                  <a:pt x="149192" y="5967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06919" y="4475771"/>
            <a:ext cx="206482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06919" y="4762220"/>
            <a:ext cx="2052887" cy="23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AM的启动与故障恢复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96598" y="5144153"/>
            <a:ext cx="190966" cy="190966"/>
          </a:xfrm>
          <a:custGeom>
            <a:avLst/>
            <a:gdLst/>
            <a:ahLst/>
            <a:cxnLst/>
            <a:rect l="l" t="t" r="r" b="b"/>
            <a:pathLst>
              <a:path w="190966" h="190966">
                <a:moveTo>
                  <a:pt x="23871" y="23871"/>
                </a:moveTo>
                <a:cubicBezTo>
                  <a:pt x="23871" y="17269"/>
                  <a:pt x="18537" y="11935"/>
                  <a:pt x="11935" y="11935"/>
                </a:cubicBezTo>
                <a:cubicBezTo>
                  <a:pt x="5334" y="11935"/>
                  <a:pt x="0" y="17269"/>
                  <a:pt x="0" y="23871"/>
                </a:cubicBezTo>
                <a:lnTo>
                  <a:pt x="0" y="149192"/>
                </a:lnTo>
                <a:cubicBezTo>
                  <a:pt x="0" y="165678"/>
                  <a:pt x="13353" y="179031"/>
                  <a:pt x="29838" y="179031"/>
                </a:cubicBezTo>
                <a:lnTo>
                  <a:pt x="179031" y="179031"/>
                </a:lnTo>
                <a:cubicBezTo>
                  <a:pt x="185633" y="179031"/>
                  <a:pt x="190966" y="173697"/>
                  <a:pt x="190966" y="167095"/>
                </a:cubicBezTo>
                <a:cubicBezTo>
                  <a:pt x="190966" y="160494"/>
                  <a:pt x="185633" y="155160"/>
                  <a:pt x="179031" y="155160"/>
                </a:cubicBezTo>
                <a:lnTo>
                  <a:pt x="29838" y="155160"/>
                </a:lnTo>
                <a:cubicBezTo>
                  <a:pt x="26556" y="155160"/>
                  <a:pt x="23871" y="152475"/>
                  <a:pt x="23871" y="149192"/>
                </a:cubicBezTo>
                <a:lnTo>
                  <a:pt x="23871" y="23871"/>
                </a:lnTo>
                <a:close/>
                <a:moveTo>
                  <a:pt x="175525" y="56171"/>
                </a:moveTo>
                <a:cubicBezTo>
                  <a:pt x="180187" y="51509"/>
                  <a:pt x="180187" y="43937"/>
                  <a:pt x="175525" y="39275"/>
                </a:cubicBezTo>
                <a:cubicBezTo>
                  <a:pt x="170863" y="34613"/>
                  <a:pt x="163291" y="34613"/>
                  <a:pt x="158629" y="39275"/>
                </a:cubicBezTo>
                <a:lnTo>
                  <a:pt x="119354" y="78587"/>
                </a:lnTo>
                <a:lnTo>
                  <a:pt x="97945" y="57215"/>
                </a:lnTo>
                <a:cubicBezTo>
                  <a:pt x="93283" y="52553"/>
                  <a:pt x="85711" y="52553"/>
                  <a:pt x="81049" y="57215"/>
                </a:cubicBezTo>
                <a:lnTo>
                  <a:pt x="45243" y="93021"/>
                </a:lnTo>
                <a:cubicBezTo>
                  <a:pt x="40580" y="97684"/>
                  <a:pt x="40580" y="105255"/>
                  <a:pt x="45243" y="109917"/>
                </a:cubicBezTo>
                <a:cubicBezTo>
                  <a:pt x="49905" y="114580"/>
                  <a:pt x="57476" y="114580"/>
                  <a:pt x="62139" y="109917"/>
                </a:cubicBezTo>
                <a:lnTo>
                  <a:pt x="89515" y="82541"/>
                </a:lnTo>
                <a:lnTo>
                  <a:pt x="110925" y="103950"/>
                </a:lnTo>
                <a:cubicBezTo>
                  <a:pt x="115587" y="108612"/>
                  <a:pt x="123158" y="108612"/>
                  <a:pt x="127821" y="103950"/>
                </a:cubicBezTo>
                <a:lnTo>
                  <a:pt x="175562" y="5620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06919" y="5096411"/>
            <a:ext cx="176643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状态跟踪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06919" y="5382860"/>
            <a:ext cx="1754502" cy="23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应用状态的跟踪与维护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4663" y="5764793"/>
            <a:ext cx="214837" cy="190966"/>
          </a:xfrm>
          <a:custGeom>
            <a:avLst/>
            <a:gdLst/>
            <a:ahLst/>
            <a:cxnLst/>
            <a:rect l="l" t="t" r="r" b="b"/>
            <a:pathLst>
              <a:path w="214837" h="190966">
                <a:moveTo>
                  <a:pt x="107419" y="23871"/>
                </a:moveTo>
                <a:cubicBezTo>
                  <a:pt x="146954" y="23871"/>
                  <a:pt x="179031" y="55947"/>
                  <a:pt x="179031" y="95483"/>
                </a:cubicBezTo>
                <a:cubicBezTo>
                  <a:pt x="179031" y="135019"/>
                  <a:pt x="146954" y="167095"/>
                  <a:pt x="107419" y="167095"/>
                </a:cubicBezTo>
                <a:cubicBezTo>
                  <a:pt x="83100" y="167095"/>
                  <a:pt x="61579" y="154974"/>
                  <a:pt x="48637" y="136399"/>
                </a:cubicBezTo>
                <a:cubicBezTo>
                  <a:pt x="44870" y="130991"/>
                  <a:pt x="37410" y="129685"/>
                  <a:pt x="32002" y="133453"/>
                </a:cubicBezTo>
                <a:cubicBezTo>
                  <a:pt x="26594" y="137220"/>
                  <a:pt x="25288" y="144679"/>
                  <a:pt x="29055" y="150088"/>
                </a:cubicBezTo>
                <a:cubicBezTo>
                  <a:pt x="46287" y="174779"/>
                  <a:pt x="74969" y="190966"/>
                  <a:pt x="107419" y="190966"/>
                </a:cubicBezTo>
                <a:cubicBezTo>
                  <a:pt x="160158" y="190966"/>
                  <a:pt x="202902" y="148223"/>
                  <a:pt x="202902" y="95483"/>
                </a:cubicBezTo>
                <a:cubicBezTo>
                  <a:pt x="202902" y="42744"/>
                  <a:pt x="160158" y="0"/>
                  <a:pt x="107419" y="0"/>
                </a:cubicBezTo>
                <a:cubicBezTo>
                  <a:pt x="75454" y="0"/>
                  <a:pt x="47182" y="15702"/>
                  <a:pt x="29838" y="39797"/>
                </a:cubicBezTo>
                <a:lnTo>
                  <a:pt x="29838" y="29838"/>
                </a:lnTo>
                <a:cubicBezTo>
                  <a:pt x="29838" y="23237"/>
                  <a:pt x="24505" y="17903"/>
                  <a:pt x="17903" y="17903"/>
                </a:cubicBezTo>
                <a:cubicBezTo>
                  <a:pt x="11301" y="17903"/>
                  <a:pt x="5968" y="23237"/>
                  <a:pt x="5968" y="29838"/>
                </a:cubicBezTo>
                <a:lnTo>
                  <a:pt x="5968" y="71612"/>
                </a:lnTo>
                <a:cubicBezTo>
                  <a:pt x="5968" y="78214"/>
                  <a:pt x="11301" y="83548"/>
                  <a:pt x="17903" y="83548"/>
                </a:cubicBezTo>
                <a:lnTo>
                  <a:pt x="27078" y="83548"/>
                </a:lnTo>
                <a:cubicBezTo>
                  <a:pt x="27265" y="83548"/>
                  <a:pt x="27451" y="83548"/>
                  <a:pt x="27638" y="83548"/>
                </a:cubicBezTo>
                <a:lnTo>
                  <a:pt x="59714" y="83548"/>
                </a:lnTo>
                <a:cubicBezTo>
                  <a:pt x="66316" y="83548"/>
                  <a:pt x="71650" y="78214"/>
                  <a:pt x="71650" y="71612"/>
                </a:cubicBezTo>
                <a:cubicBezTo>
                  <a:pt x="71650" y="65011"/>
                  <a:pt x="66316" y="59677"/>
                  <a:pt x="59714" y="59677"/>
                </a:cubicBezTo>
                <a:lnTo>
                  <a:pt x="45429" y="59677"/>
                </a:lnTo>
                <a:cubicBezTo>
                  <a:pt x="57775" y="38268"/>
                  <a:pt x="80937" y="23871"/>
                  <a:pt x="107419" y="23871"/>
                </a:cubicBezTo>
                <a:close/>
                <a:moveTo>
                  <a:pt x="116370" y="56693"/>
                </a:moveTo>
                <a:cubicBezTo>
                  <a:pt x="116370" y="51732"/>
                  <a:pt x="112379" y="47742"/>
                  <a:pt x="107419" y="47742"/>
                </a:cubicBezTo>
                <a:cubicBezTo>
                  <a:pt x="102458" y="47742"/>
                  <a:pt x="98467" y="51732"/>
                  <a:pt x="98467" y="56693"/>
                </a:cubicBezTo>
                <a:lnTo>
                  <a:pt x="98467" y="95483"/>
                </a:lnTo>
                <a:cubicBezTo>
                  <a:pt x="98467" y="97870"/>
                  <a:pt x="99399" y="100145"/>
                  <a:pt x="101078" y="101824"/>
                </a:cubicBezTo>
                <a:lnTo>
                  <a:pt x="127932" y="128678"/>
                </a:lnTo>
                <a:cubicBezTo>
                  <a:pt x="131438" y="132184"/>
                  <a:pt x="137108" y="132184"/>
                  <a:pt x="140577" y="128678"/>
                </a:cubicBezTo>
                <a:cubicBezTo>
                  <a:pt x="144045" y="125172"/>
                  <a:pt x="144083" y="119503"/>
                  <a:pt x="140577" y="116034"/>
                </a:cubicBezTo>
                <a:lnTo>
                  <a:pt x="116333" y="91791"/>
                </a:lnTo>
                <a:lnTo>
                  <a:pt x="116333" y="56693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806919" y="5717051"/>
            <a:ext cx="210062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历史信息管理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06919" y="6003501"/>
            <a:ext cx="2088693" cy="23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已完成应用的历史信息存储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3383" y="7143330"/>
            <a:ext cx="4965122" cy="1515794"/>
          </a:xfrm>
          <a:custGeom>
            <a:avLst/>
            <a:gdLst/>
            <a:ahLst/>
            <a:cxnLst/>
            <a:rect l="l" t="t" r="r" b="b"/>
            <a:pathLst>
              <a:path w="4965122" h="1515794">
                <a:moveTo>
                  <a:pt x="95480" y="0"/>
                </a:moveTo>
                <a:lnTo>
                  <a:pt x="4869642" y="0"/>
                </a:lnTo>
                <a:cubicBezTo>
                  <a:pt x="4922374" y="0"/>
                  <a:pt x="4965122" y="42748"/>
                  <a:pt x="4965122" y="95480"/>
                </a:cubicBezTo>
                <a:lnTo>
                  <a:pt x="4965122" y="1420315"/>
                </a:lnTo>
                <a:cubicBezTo>
                  <a:pt x="4965122" y="1473047"/>
                  <a:pt x="4922374" y="1515794"/>
                  <a:pt x="4869642" y="1515794"/>
                </a:cubicBezTo>
                <a:lnTo>
                  <a:pt x="95480" y="1515794"/>
                </a:lnTo>
                <a:cubicBezTo>
                  <a:pt x="42748" y="1515794"/>
                  <a:pt x="0" y="1473047"/>
                  <a:pt x="0" y="1420315"/>
                </a:cubicBezTo>
                <a:lnTo>
                  <a:pt x="0" y="95480"/>
                </a:lnTo>
                <a:cubicBezTo>
                  <a:pt x="0" y="42783"/>
                  <a:pt x="42783" y="0"/>
                  <a:pt x="9548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2809758" y="7340264"/>
            <a:ext cx="313304" cy="358062"/>
          </a:xfrm>
          <a:custGeom>
            <a:avLst/>
            <a:gdLst/>
            <a:ahLst/>
            <a:cxnLst/>
            <a:rect l="l" t="t" r="r" b="b"/>
            <a:pathLst>
              <a:path w="313304" h="358062">
                <a:moveTo>
                  <a:pt x="117489" y="22379"/>
                </a:moveTo>
                <a:lnTo>
                  <a:pt x="16784" y="22379"/>
                </a:lnTo>
                <a:cubicBezTo>
                  <a:pt x="7483" y="22379"/>
                  <a:pt x="0" y="29862"/>
                  <a:pt x="0" y="39163"/>
                </a:cubicBezTo>
                <a:lnTo>
                  <a:pt x="0" y="139868"/>
                </a:lnTo>
                <a:cubicBezTo>
                  <a:pt x="0" y="146651"/>
                  <a:pt x="4056" y="152806"/>
                  <a:pt x="10350" y="155393"/>
                </a:cubicBezTo>
                <a:cubicBezTo>
                  <a:pt x="16644" y="157981"/>
                  <a:pt x="23847" y="156512"/>
                  <a:pt x="28673" y="151757"/>
                </a:cubicBezTo>
                <a:lnTo>
                  <a:pt x="56646" y="123783"/>
                </a:lnTo>
                <a:lnTo>
                  <a:pt x="111894" y="179031"/>
                </a:lnTo>
                <a:lnTo>
                  <a:pt x="56646" y="234279"/>
                </a:lnTo>
                <a:lnTo>
                  <a:pt x="28673" y="206305"/>
                </a:lnTo>
                <a:cubicBezTo>
                  <a:pt x="23847" y="201480"/>
                  <a:pt x="16644" y="200081"/>
                  <a:pt x="10350" y="202669"/>
                </a:cubicBezTo>
                <a:cubicBezTo>
                  <a:pt x="4056" y="205256"/>
                  <a:pt x="0" y="211410"/>
                  <a:pt x="0" y="218194"/>
                </a:cubicBezTo>
                <a:lnTo>
                  <a:pt x="0" y="318899"/>
                </a:lnTo>
                <a:cubicBezTo>
                  <a:pt x="0" y="328200"/>
                  <a:pt x="7483" y="335683"/>
                  <a:pt x="16784" y="335683"/>
                </a:cubicBezTo>
                <a:lnTo>
                  <a:pt x="117489" y="335683"/>
                </a:lnTo>
                <a:cubicBezTo>
                  <a:pt x="124273" y="335683"/>
                  <a:pt x="130427" y="331627"/>
                  <a:pt x="133014" y="325333"/>
                </a:cubicBezTo>
                <a:cubicBezTo>
                  <a:pt x="135602" y="319039"/>
                  <a:pt x="134203" y="311835"/>
                  <a:pt x="129378" y="307010"/>
                </a:cubicBezTo>
                <a:lnTo>
                  <a:pt x="101404" y="279036"/>
                </a:lnTo>
                <a:lnTo>
                  <a:pt x="156652" y="223789"/>
                </a:lnTo>
                <a:lnTo>
                  <a:pt x="211900" y="279036"/>
                </a:lnTo>
                <a:lnTo>
                  <a:pt x="183926" y="307010"/>
                </a:lnTo>
                <a:cubicBezTo>
                  <a:pt x="179101" y="311835"/>
                  <a:pt x="177702" y="319039"/>
                  <a:pt x="180290" y="325333"/>
                </a:cubicBezTo>
                <a:cubicBezTo>
                  <a:pt x="182877" y="331627"/>
                  <a:pt x="189031" y="335683"/>
                  <a:pt x="195815" y="335683"/>
                </a:cubicBezTo>
                <a:lnTo>
                  <a:pt x="296520" y="335683"/>
                </a:lnTo>
                <a:cubicBezTo>
                  <a:pt x="305821" y="335683"/>
                  <a:pt x="313304" y="328200"/>
                  <a:pt x="313304" y="318899"/>
                </a:cubicBezTo>
                <a:lnTo>
                  <a:pt x="313304" y="218194"/>
                </a:lnTo>
                <a:cubicBezTo>
                  <a:pt x="313304" y="211410"/>
                  <a:pt x="309248" y="205256"/>
                  <a:pt x="302954" y="202669"/>
                </a:cubicBezTo>
                <a:cubicBezTo>
                  <a:pt x="296660" y="200081"/>
                  <a:pt x="289456" y="201480"/>
                  <a:pt x="284631" y="206305"/>
                </a:cubicBezTo>
                <a:lnTo>
                  <a:pt x="256657" y="234279"/>
                </a:lnTo>
                <a:lnTo>
                  <a:pt x="201410" y="179031"/>
                </a:lnTo>
                <a:lnTo>
                  <a:pt x="256657" y="123783"/>
                </a:lnTo>
                <a:lnTo>
                  <a:pt x="284631" y="151757"/>
                </a:lnTo>
                <a:cubicBezTo>
                  <a:pt x="289456" y="156582"/>
                  <a:pt x="296660" y="157981"/>
                  <a:pt x="302954" y="155393"/>
                </a:cubicBezTo>
                <a:cubicBezTo>
                  <a:pt x="309248" y="152806"/>
                  <a:pt x="313304" y="146651"/>
                  <a:pt x="313304" y="139868"/>
                </a:cubicBezTo>
                <a:lnTo>
                  <a:pt x="313304" y="39163"/>
                </a:lnTo>
                <a:cubicBezTo>
                  <a:pt x="313304" y="29862"/>
                  <a:pt x="305821" y="22379"/>
                  <a:pt x="296520" y="22379"/>
                </a:cubicBezTo>
                <a:lnTo>
                  <a:pt x="195815" y="22379"/>
                </a:lnTo>
                <a:cubicBezTo>
                  <a:pt x="189031" y="22379"/>
                  <a:pt x="182877" y="26435"/>
                  <a:pt x="180290" y="32729"/>
                </a:cubicBezTo>
                <a:cubicBezTo>
                  <a:pt x="177702" y="39023"/>
                  <a:pt x="179171" y="46226"/>
                  <a:pt x="183926" y="51052"/>
                </a:cubicBezTo>
                <a:lnTo>
                  <a:pt x="211900" y="79025"/>
                </a:lnTo>
                <a:lnTo>
                  <a:pt x="156652" y="134273"/>
                </a:lnTo>
                <a:lnTo>
                  <a:pt x="101404" y="79025"/>
                </a:lnTo>
                <a:lnTo>
                  <a:pt x="129378" y="51052"/>
                </a:lnTo>
                <a:cubicBezTo>
                  <a:pt x="134203" y="46226"/>
                  <a:pt x="135602" y="39023"/>
                  <a:pt x="133014" y="32729"/>
                </a:cubicBezTo>
                <a:cubicBezTo>
                  <a:pt x="130427" y="26435"/>
                  <a:pt x="124273" y="22379"/>
                  <a:pt x="117489" y="223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26608" y="7793809"/>
            <a:ext cx="467867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高可扩展性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576" y="8175742"/>
            <a:ext cx="466673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支持万级节点的大规模集群部署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46465" y="7143330"/>
            <a:ext cx="4965122" cy="1515794"/>
          </a:xfrm>
          <a:custGeom>
            <a:avLst/>
            <a:gdLst/>
            <a:ahLst/>
            <a:cxnLst/>
            <a:rect l="l" t="t" r="r" b="b"/>
            <a:pathLst>
              <a:path w="4965122" h="1515794">
                <a:moveTo>
                  <a:pt x="95480" y="0"/>
                </a:moveTo>
                <a:lnTo>
                  <a:pt x="4869642" y="0"/>
                </a:lnTo>
                <a:cubicBezTo>
                  <a:pt x="4922374" y="0"/>
                  <a:pt x="4965122" y="42748"/>
                  <a:pt x="4965122" y="95480"/>
                </a:cubicBezTo>
                <a:lnTo>
                  <a:pt x="4965122" y="1420315"/>
                </a:lnTo>
                <a:cubicBezTo>
                  <a:pt x="4965122" y="1473047"/>
                  <a:pt x="4922374" y="1515794"/>
                  <a:pt x="4869642" y="1515794"/>
                </a:cubicBezTo>
                <a:lnTo>
                  <a:pt x="95480" y="1515794"/>
                </a:lnTo>
                <a:cubicBezTo>
                  <a:pt x="42748" y="1515794"/>
                  <a:pt x="0" y="1473047"/>
                  <a:pt x="0" y="1420315"/>
                </a:cubicBezTo>
                <a:lnTo>
                  <a:pt x="0" y="95480"/>
                </a:lnTo>
                <a:cubicBezTo>
                  <a:pt x="0" y="42783"/>
                  <a:pt x="42783" y="0"/>
                  <a:pt x="9548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950554" y="7340264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75459"/>
                </a:moveTo>
                <a:lnTo>
                  <a:pt x="168541" y="60912"/>
                </a:lnTo>
                <a:cubicBezTo>
                  <a:pt x="151057" y="36715"/>
                  <a:pt x="123014" y="22379"/>
                  <a:pt x="93082" y="22379"/>
                </a:cubicBezTo>
                <a:cubicBezTo>
                  <a:pt x="41681" y="22379"/>
                  <a:pt x="0" y="64059"/>
                  <a:pt x="0" y="115461"/>
                </a:cubicBezTo>
                <a:lnTo>
                  <a:pt x="0" y="117279"/>
                </a:lnTo>
                <a:cubicBezTo>
                  <a:pt x="0" y="133784"/>
                  <a:pt x="4336" y="150847"/>
                  <a:pt x="11609" y="167841"/>
                </a:cubicBezTo>
                <a:lnTo>
                  <a:pt x="85739" y="167841"/>
                </a:lnTo>
                <a:cubicBezTo>
                  <a:pt x="87977" y="167841"/>
                  <a:pt x="90005" y="166513"/>
                  <a:pt x="90914" y="164415"/>
                </a:cubicBezTo>
                <a:lnTo>
                  <a:pt x="113153" y="111055"/>
                </a:lnTo>
                <a:cubicBezTo>
                  <a:pt x="115741" y="104901"/>
                  <a:pt x="121755" y="100845"/>
                  <a:pt x="128399" y="100705"/>
                </a:cubicBezTo>
                <a:cubicBezTo>
                  <a:pt x="135042" y="100565"/>
                  <a:pt x="141197" y="104481"/>
                  <a:pt x="143924" y="110566"/>
                </a:cubicBezTo>
                <a:lnTo>
                  <a:pt x="179800" y="190220"/>
                </a:lnTo>
                <a:lnTo>
                  <a:pt x="208753" y="132315"/>
                </a:lnTo>
                <a:cubicBezTo>
                  <a:pt x="211620" y="126650"/>
                  <a:pt x="217425" y="123014"/>
                  <a:pt x="223789" y="123014"/>
                </a:cubicBezTo>
                <a:cubicBezTo>
                  <a:pt x="230153" y="123014"/>
                  <a:pt x="235957" y="126580"/>
                  <a:pt x="238824" y="132315"/>
                </a:cubicBezTo>
                <a:lnTo>
                  <a:pt x="255049" y="164694"/>
                </a:lnTo>
                <a:cubicBezTo>
                  <a:pt x="256028" y="166583"/>
                  <a:pt x="257916" y="167771"/>
                  <a:pt x="260084" y="167771"/>
                </a:cubicBezTo>
                <a:lnTo>
                  <a:pt x="346523" y="167771"/>
                </a:lnTo>
                <a:cubicBezTo>
                  <a:pt x="353866" y="150778"/>
                  <a:pt x="358132" y="133714"/>
                  <a:pt x="358132" y="117209"/>
                </a:cubicBezTo>
                <a:lnTo>
                  <a:pt x="358132" y="115391"/>
                </a:lnTo>
                <a:cubicBezTo>
                  <a:pt x="358062" y="64059"/>
                  <a:pt x="316381" y="22379"/>
                  <a:pt x="264980" y="22379"/>
                </a:cubicBezTo>
                <a:cubicBezTo>
                  <a:pt x="235118" y="22379"/>
                  <a:pt x="207004" y="36715"/>
                  <a:pt x="189521" y="60912"/>
                </a:cubicBezTo>
                <a:lnTo>
                  <a:pt x="179031" y="75389"/>
                </a:lnTo>
                <a:close/>
                <a:moveTo>
                  <a:pt x="328410" y="201410"/>
                </a:moveTo>
                <a:lnTo>
                  <a:pt x="260014" y="201410"/>
                </a:lnTo>
                <a:cubicBezTo>
                  <a:pt x="245188" y="201410"/>
                  <a:pt x="231621" y="193018"/>
                  <a:pt x="224977" y="179730"/>
                </a:cubicBezTo>
                <a:lnTo>
                  <a:pt x="223789" y="177352"/>
                </a:lnTo>
                <a:lnTo>
                  <a:pt x="194067" y="236866"/>
                </a:lnTo>
                <a:cubicBezTo>
                  <a:pt x="191199" y="242671"/>
                  <a:pt x="185185" y="246307"/>
                  <a:pt x="178681" y="246167"/>
                </a:cubicBezTo>
                <a:cubicBezTo>
                  <a:pt x="172177" y="246028"/>
                  <a:pt x="166373" y="242181"/>
                  <a:pt x="163715" y="236307"/>
                </a:cubicBezTo>
                <a:lnTo>
                  <a:pt x="129238" y="159729"/>
                </a:lnTo>
                <a:lnTo>
                  <a:pt x="121895" y="177352"/>
                </a:lnTo>
                <a:cubicBezTo>
                  <a:pt x="115811" y="191969"/>
                  <a:pt x="101544" y="201480"/>
                  <a:pt x="85739" y="201480"/>
                </a:cubicBezTo>
                <a:lnTo>
                  <a:pt x="29652" y="201480"/>
                </a:lnTo>
                <a:cubicBezTo>
                  <a:pt x="62661" y="253091"/>
                  <a:pt x="115671" y="300576"/>
                  <a:pt x="148819" y="325892"/>
                </a:cubicBezTo>
                <a:cubicBezTo>
                  <a:pt x="157491" y="332466"/>
                  <a:pt x="168121" y="335753"/>
                  <a:pt x="178961" y="335753"/>
                </a:cubicBezTo>
                <a:cubicBezTo>
                  <a:pt x="189801" y="335753"/>
                  <a:pt x="200501" y="332536"/>
                  <a:pt x="209102" y="325892"/>
                </a:cubicBezTo>
                <a:cubicBezTo>
                  <a:pt x="242391" y="300506"/>
                  <a:pt x="295401" y="253021"/>
                  <a:pt x="328410" y="20141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789689" y="7793809"/>
            <a:ext cx="467867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95657" y="8175742"/>
            <a:ext cx="466673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RM主备模式，故障自动切换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09640" y="7143330"/>
            <a:ext cx="4965122" cy="1515794"/>
          </a:xfrm>
          <a:custGeom>
            <a:avLst/>
            <a:gdLst/>
            <a:ahLst/>
            <a:cxnLst/>
            <a:rect l="l" t="t" r="r" b="b"/>
            <a:pathLst>
              <a:path w="4965122" h="1515794">
                <a:moveTo>
                  <a:pt x="95480" y="0"/>
                </a:moveTo>
                <a:lnTo>
                  <a:pt x="4869642" y="0"/>
                </a:lnTo>
                <a:cubicBezTo>
                  <a:pt x="4922374" y="0"/>
                  <a:pt x="4965122" y="42748"/>
                  <a:pt x="4965122" y="95480"/>
                </a:cubicBezTo>
                <a:lnTo>
                  <a:pt x="4965122" y="1420315"/>
                </a:lnTo>
                <a:cubicBezTo>
                  <a:pt x="4965122" y="1473047"/>
                  <a:pt x="4922374" y="1515794"/>
                  <a:pt x="4869642" y="1515794"/>
                </a:cubicBezTo>
                <a:lnTo>
                  <a:pt x="95480" y="1515794"/>
                </a:lnTo>
                <a:cubicBezTo>
                  <a:pt x="42748" y="1515794"/>
                  <a:pt x="0" y="1473047"/>
                  <a:pt x="0" y="1420315"/>
                </a:cubicBezTo>
                <a:lnTo>
                  <a:pt x="0" y="95480"/>
                </a:lnTo>
                <a:cubicBezTo>
                  <a:pt x="0" y="42783"/>
                  <a:pt x="42783" y="0"/>
                  <a:pt x="9548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3113729" y="7340264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0" y="179031"/>
                </a:moveTo>
                <a:cubicBezTo>
                  <a:pt x="0" y="80221"/>
                  <a:pt x="80221" y="0"/>
                  <a:pt x="179031" y="0"/>
                </a:cubicBezTo>
                <a:cubicBezTo>
                  <a:pt x="277841" y="0"/>
                  <a:pt x="358062" y="80221"/>
                  <a:pt x="358062" y="179031"/>
                </a:cubicBezTo>
                <a:cubicBezTo>
                  <a:pt x="358062" y="277841"/>
                  <a:pt x="277841" y="358062"/>
                  <a:pt x="179031" y="358062"/>
                </a:cubicBezTo>
                <a:cubicBezTo>
                  <a:pt x="80221" y="358062"/>
                  <a:pt x="0" y="277841"/>
                  <a:pt x="0" y="179031"/>
                </a:cubicBezTo>
                <a:close/>
                <a:moveTo>
                  <a:pt x="201410" y="67137"/>
                </a:moveTo>
                <a:cubicBezTo>
                  <a:pt x="201410" y="54785"/>
                  <a:pt x="191382" y="44758"/>
                  <a:pt x="179031" y="44758"/>
                </a:cubicBezTo>
                <a:cubicBezTo>
                  <a:pt x="166680" y="44758"/>
                  <a:pt x="156652" y="54785"/>
                  <a:pt x="156652" y="67137"/>
                </a:cubicBezTo>
                <a:cubicBezTo>
                  <a:pt x="156652" y="79488"/>
                  <a:pt x="166680" y="89515"/>
                  <a:pt x="179031" y="89515"/>
                </a:cubicBezTo>
                <a:cubicBezTo>
                  <a:pt x="191382" y="89515"/>
                  <a:pt x="201410" y="79488"/>
                  <a:pt x="201410" y="67137"/>
                </a:cubicBezTo>
                <a:close/>
                <a:moveTo>
                  <a:pt x="179031" y="290925"/>
                </a:moveTo>
                <a:cubicBezTo>
                  <a:pt x="203718" y="290925"/>
                  <a:pt x="223789" y="270854"/>
                  <a:pt x="223789" y="246167"/>
                </a:cubicBezTo>
                <a:cubicBezTo>
                  <a:pt x="223789" y="234838"/>
                  <a:pt x="219593" y="224418"/>
                  <a:pt x="212599" y="216585"/>
                </a:cubicBezTo>
                <a:lnTo>
                  <a:pt x="261203" y="119447"/>
                </a:lnTo>
                <a:cubicBezTo>
                  <a:pt x="265329" y="111125"/>
                  <a:pt x="261972" y="101055"/>
                  <a:pt x="253720" y="96928"/>
                </a:cubicBezTo>
                <a:cubicBezTo>
                  <a:pt x="245468" y="92802"/>
                  <a:pt x="235328" y="96159"/>
                  <a:pt x="231202" y="104411"/>
                </a:cubicBezTo>
                <a:lnTo>
                  <a:pt x="182597" y="201550"/>
                </a:lnTo>
                <a:cubicBezTo>
                  <a:pt x="181409" y="201480"/>
                  <a:pt x="180220" y="201410"/>
                  <a:pt x="179031" y="201410"/>
                </a:cubicBezTo>
                <a:cubicBezTo>
                  <a:pt x="154344" y="201410"/>
                  <a:pt x="134273" y="221481"/>
                  <a:pt x="134273" y="246167"/>
                </a:cubicBezTo>
                <a:cubicBezTo>
                  <a:pt x="134273" y="270854"/>
                  <a:pt x="154344" y="290925"/>
                  <a:pt x="179031" y="290925"/>
                </a:cubicBezTo>
                <a:close/>
                <a:moveTo>
                  <a:pt x="123084" y="100705"/>
                </a:moveTo>
                <a:cubicBezTo>
                  <a:pt x="123084" y="88354"/>
                  <a:pt x="113056" y="78326"/>
                  <a:pt x="100705" y="78326"/>
                </a:cubicBezTo>
                <a:cubicBezTo>
                  <a:pt x="88354" y="78326"/>
                  <a:pt x="78326" y="88354"/>
                  <a:pt x="78326" y="100705"/>
                </a:cubicBezTo>
                <a:cubicBezTo>
                  <a:pt x="78326" y="113056"/>
                  <a:pt x="88354" y="123084"/>
                  <a:pt x="100705" y="123084"/>
                </a:cubicBezTo>
                <a:cubicBezTo>
                  <a:pt x="113056" y="123084"/>
                  <a:pt x="123084" y="113056"/>
                  <a:pt x="123084" y="100705"/>
                </a:cubicBezTo>
                <a:close/>
                <a:moveTo>
                  <a:pt x="67137" y="201410"/>
                </a:moveTo>
                <a:cubicBezTo>
                  <a:pt x="79488" y="201410"/>
                  <a:pt x="89515" y="191382"/>
                  <a:pt x="89515" y="179031"/>
                </a:cubicBezTo>
                <a:cubicBezTo>
                  <a:pt x="89515" y="166680"/>
                  <a:pt x="79488" y="156652"/>
                  <a:pt x="67137" y="156652"/>
                </a:cubicBezTo>
                <a:cubicBezTo>
                  <a:pt x="54785" y="156652"/>
                  <a:pt x="44758" y="166680"/>
                  <a:pt x="44758" y="179031"/>
                </a:cubicBezTo>
                <a:cubicBezTo>
                  <a:pt x="44758" y="191382"/>
                  <a:pt x="54785" y="201410"/>
                  <a:pt x="67137" y="201410"/>
                </a:cubicBezTo>
                <a:close/>
                <a:moveTo>
                  <a:pt x="313304" y="179031"/>
                </a:moveTo>
                <a:cubicBezTo>
                  <a:pt x="313304" y="166680"/>
                  <a:pt x="303276" y="156652"/>
                  <a:pt x="290925" y="156652"/>
                </a:cubicBezTo>
                <a:cubicBezTo>
                  <a:pt x="278574" y="156652"/>
                  <a:pt x="268546" y="166680"/>
                  <a:pt x="268546" y="179031"/>
                </a:cubicBezTo>
                <a:cubicBezTo>
                  <a:pt x="268546" y="191382"/>
                  <a:pt x="278574" y="201410"/>
                  <a:pt x="290925" y="201410"/>
                </a:cubicBezTo>
                <a:cubicBezTo>
                  <a:pt x="303276" y="201410"/>
                  <a:pt x="313304" y="191382"/>
                  <a:pt x="313304" y="17903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952864" y="7793809"/>
            <a:ext cx="4678673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9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58832" y="8175742"/>
            <a:ext cx="466673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资源分配延迟从秒级降低到毫秒级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374" y="482374"/>
            <a:ext cx="1538772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kern="0" spc="76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2374" y="868273"/>
            <a:ext cx="15508320" cy="48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 深度解析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2374" y="1495359"/>
            <a:ext cx="1157697" cy="48237"/>
          </a:xfrm>
          <a:custGeom>
            <a:avLst/>
            <a:gdLst/>
            <a:ahLst/>
            <a:cxnLst/>
            <a:rect l="l" t="t" r="r" b="b"/>
            <a:pathLst>
              <a:path w="1157697" h="48237">
                <a:moveTo>
                  <a:pt x="0" y="0"/>
                </a:moveTo>
                <a:lnTo>
                  <a:pt x="1157697" y="0"/>
                </a:lnTo>
                <a:lnTo>
                  <a:pt x="1157697" y="48237"/>
                </a:lnTo>
                <a:lnTo>
                  <a:pt x="0" y="48237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4433" y="1845080"/>
            <a:ext cx="15267134" cy="3834872"/>
          </a:xfrm>
          <a:custGeom>
            <a:avLst/>
            <a:gdLst/>
            <a:ahLst/>
            <a:cxnLst/>
            <a:rect l="l" t="t" r="r" b="b"/>
            <a:pathLst>
              <a:path w="15267134" h="3834872">
                <a:moveTo>
                  <a:pt x="96485" y="0"/>
                </a:moveTo>
                <a:lnTo>
                  <a:pt x="15170648" y="0"/>
                </a:lnTo>
                <a:cubicBezTo>
                  <a:pt x="15223936" y="0"/>
                  <a:pt x="15267134" y="43198"/>
                  <a:pt x="15267134" y="96485"/>
                </a:cubicBezTo>
                <a:lnTo>
                  <a:pt x="15267134" y="3738387"/>
                </a:lnTo>
                <a:cubicBezTo>
                  <a:pt x="15267134" y="3791674"/>
                  <a:pt x="15223936" y="3834872"/>
                  <a:pt x="15170648" y="3834872"/>
                </a:cubicBezTo>
                <a:lnTo>
                  <a:pt x="96485" y="3834872"/>
                </a:lnTo>
                <a:cubicBezTo>
                  <a:pt x="43198" y="3834872"/>
                  <a:pt x="0" y="3791674"/>
                  <a:pt x="0" y="3738387"/>
                </a:cubicBezTo>
                <a:lnTo>
                  <a:pt x="0" y="96485"/>
                </a:lnTo>
                <a:cubicBezTo>
                  <a:pt x="0" y="43234"/>
                  <a:pt x="43234" y="0"/>
                  <a:pt x="9648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7976" y="2158623"/>
            <a:ext cx="747680" cy="747680"/>
          </a:xfrm>
          <a:custGeom>
            <a:avLst/>
            <a:gdLst/>
            <a:ahLst/>
            <a:cxnLst/>
            <a:rect l="l" t="t" r="r" b="b"/>
            <a:pathLst>
              <a:path w="747680" h="747680">
                <a:moveTo>
                  <a:pt x="373840" y="0"/>
                </a:moveTo>
                <a:lnTo>
                  <a:pt x="373840" y="0"/>
                </a:lnTo>
                <a:cubicBezTo>
                  <a:pt x="580306" y="0"/>
                  <a:pt x="747680" y="167374"/>
                  <a:pt x="747680" y="373840"/>
                </a:cubicBezTo>
                <a:lnTo>
                  <a:pt x="747680" y="373840"/>
                </a:lnTo>
                <a:cubicBezTo>
                  <a:pt x="747680" y="580306"/>
                  <a:pt x="580306" y="747680"/>
                  <a:pt x="373840" y="747680"/>
                </a:cubicBezTo>
                <a:lnTo>
                  <a:pt x="373840" y="747680"/>
                </a:lnTo>
                <a:cubicBezTo>
                  <a:pt x="167374" y="747680"/>
                  <a:pt x="0" y="580306"/>
                  <a:pt x="0" y="373840"/>
                </a:cubicBezTo>
                <a:lnTo>
                  <a:pt x="0" y="373840"/>
                </a:lnTo>
                <a:cubicBezTo>
                  <a:pt x="0" y="167374"/>
                  <a:pt x="167374" y="0"/>
                  <a:pt x="37384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03941" y="2351573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158491" y="-1767"/>
                </a:moveTo>
                <a:cubicBezTo>
                  <a:pt x="172482" y="-9822"/>
                  <a:pt x="189723" y="-9822"/>
                  <a:pt x="203713" y="-1767"/>
                </a:cubicBezTo>
                <a:lnTo>
                  <a:pt x="328005" y="69954"/>
                </a:lnTo>
                <a:cubicBezTo>
                  <a:pt x="341996" y="78009"/>
                  <a:pt x="350616" y="92989"/>
                  <a:pt x="350616" y="109099"/>
                </a:cubicBezTo>
                <a:lnTo>
                  <a:pt x="350616" y="252540"/>
                </a:lnTo>
                <a:cubicBezTo>
                  <a:pt x="350616" y="268721"/>
                  <a:pt x="341996" y="283630"/>
                  <a:pt x="328005" y="291685"/>
                </a:cubicBezTo>
                <a:lnTo>
                  <a:pt x="203713" y="363547"/>
                </a:lnTo>
                <a:cubicBezTo>
                  <a:pt x="189723" y="371602"/>
                  <a:pt x="172482" y="371602"/>
                  <a:pt x="158491" y="363547"/>
                </a:cubicBezTo>
                <a:lnTo>
                  <a:pt x="34270" y="291827"/>
                </a:lnTo>
                <a:cubicBezTo>
                  <a:pt x="20279" y="283772"/>
                  <a:pt x="11659" y="268792"/>
                  <a:pt x="11659" y="252681"/>
                </a:cubicBezTo>
                <a:lnTo>
                  <a:pt x="11659" y="109241"/>
                </a:lnTo>
                <a:cubicBezTo>
                  <a:pt x="11659" y="93060"/>
                  <a:pt x="20279" y="78150"/>
                  <a:pt x="34270" y="70095"/>
                </a:cubicBezTo>
                <a:lnTo>
                  <a:pt x="158491" y="-1767"/>
                </a:lnTo>
                <a:close/>
                <a:moveTo>
                  <a:pt x="305323" y="252610"/>
                </a:moveTo>
                <a:lnTo>
                  <a:pt x="305323" y="135244"/>
                </a:lnTo>
                <a:lnTo>
                  <a:pt x="203713" y="193892"/>
                </a:lnTo>
                <a:lnTo>
                  <a:pt x="203713" y="311258"/>
                </a:lnTo>
                <a:lnTo>
                  <a:pt x="305323" y="25261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60665" y="2194801"/>
            <a:ext cx="7090896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 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60665" y="2580700"/>
            <a:ext cx="704265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部署在每个工作节点上的本地代理程序，负责该节点上所有容器的管理和资源监控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917" y="3111312"/>
            <a:ext cx="4763442" cy="2267157"/>
          </a:xfrm>
          <a:custGeom>
            <a:avLst/>
            <a:gdLst/>
            <a:ahLst/>
            <a:cxnLst/>
            <a:rect l="l" t="t" r="r" b="b"/>
            <a:pathLst>
              <a:path w="4763442" h="2267157">
                <a:moveTo>
                  <a:pt x="48245" y="0"/>
                </a:moveTo>
                <a:lnTo>
                  <a:pt x="4715197" y="0"/>
                </a:lnTo>
                <a:cubicBezTo>
                  <a:pt x="4741842" y="0"/>
                  <a:pt x="4763442" y="21600"/>
                  <a:pt x="4763442" y="48245"/>
                </a:cubicBezTo>
                <a:lnTo>
                  <a:pt x="4763442" y="2218912"/>
                </a:lnTo>
                <a:cubicBezTo>
                  <a:pt x="4763442" y="2245557"/>
                  <a:pt x="4741842" y="2267157"/>
                  <a:pt x="4715197" y="2267157"/>
                </a:cubicBezTo>
                <a:lnTo>
                  <a:pt x="48245" y="2267157"/>
                </a:lnTo>
                <a:cubicBezTo>
                  <a:pt x="21600" y="2267157"/>
                  <a:pt x="0" y="2245557"/>
                  <a:pt x="0" y="2218912"/>
                </a:cubicBezTo>
                <a:lnTo>
                  <a:pt x="0" y="48245"/>
                </a:lnTo>
                <a:cubicBezTo>
                  <a:pt x="0" y="21618"/>
                  <a:pt x="21618" y="0"/>
                  <a:pt x="4824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19015" y="3352499"/>
            <a:ext cx="241187" cy="241187"/>
          </a:xfrm>
          <a:custGeom>
            <a:avLst/>
            <a:gdLst/>
            <a:ahLst/>
            <a:cxnLst/>
            <a:rect l="l" t="t" r="r" b="b"/>
            <a:pathLst>
              <a:path w="241187" h="241187">
                <a:moveTo>
                  <a:pt x="31043" y="107639"/>
                </a:moveTo>
                <a:cubicBezTo>
                  <a:pt x="37309" y="63830"/>
                  <a:pt x="75041" y="30148"/>
                  <a:pt x="120593" y="30148"/>
                </a:cubicBezTo>
                <a:cubicBezTo>
                  <a:pt x="145560" y="30148"/>
                  <a:pt x="168171" y="40276"/>
                  <a:pt x="184565" y="56622"/>
                </a:cubicBezTo>
                <a:cubicBezTo>
                  <a:pt x="184659" y="56717"/>
                  <a:pt x="184753" y="56811"/>
                  <a:pt x="184847" y="56905"/>
                </a:cubicBezTo>
                <a:lnTo>
                  <a:pt x="188427" y="60297"/>
                </a:lnTo>
                <a:lnTo>
                  <a:pt x="165863" y="60297"/>
                </a:lnTo>
                <a:cubicBezTo>
                  <a:pt x="157525" y="60297"/>
                  <a:pt x="150789" y="67033"/>
                  <a:pt x="150789" y="75371"/>
                </a:cubicBezTo>
                <a:cubicBezTo>
                  <a:pt x="150789" y="83709"/>
                  <a:pt x="157525" y="90445"/>
                  <a:pt x="165863" y="90445"/>
                </a:cubicBezTo>
                <a:lnTo>
                  <a:pt x="226160" y="90445"/>
                </a:lnTo>
                <a:cubicBezTo>
                  <a:pt x="234498" y="90445"/>
                  <a:pt x="241234" y="83709"/>
                  <a:pt x="241234" y="75371"/>
                </a:cubicBezTo>
                <a:lnTo>
                  <a:pt x="241234" y="15074"/>
                </a:lnTo>
                <a:cubicBezTo>
                  <a:pt x="241234" y="6736"/>
                  <a:pt x="234498" y="0"/>
                  <a:pt x="226160" y="0"/>
                </a:cubicBezTo>
                <a:cubicBezTo>
                  <a:pt x="217822" y="0"/>
                  <a:pt x="211086" y="6736"/>
                  <a:pt x="211086" y="15074"/>
                </a:cubicBezTo>
                <a:lnTo>
                  <a:pt x="211086" y="40229"/>
                </a:lnTo>
                <a:lnTo>
                  <a:pt x="205763" y="35189"/>
                </a:lnTo>
                <a:cubicBezTo>
                  <a:pt x="183952" y="13473"/>
                  <a:pt x="153804" y="0"/>
                  <a:pt x="120593" y="0"/>
                </a:cubicBezTo>
                <a:cubicBezTo>
                  <a:pt x="59826" y="0"/>
                  <a:pt x="9563" y="44940"/>
                  <a:pt x="1225" y="103399"/>
                </a:cubicBezTo>
                <a:cubicBezTo>
                  <a:pt x="47" y="111643"/>
                  <a:pt x="5747" y="119274"/>
                  <a:pt x="13991" y="120452"/>
                </a:cubicBezTo>
                <a:cubicBezTo>
                  <a:pt x="22234" y="121630"/>
                  <a:pt x="29866" y="115883"/>
                  <a:pt x="31043" y="107686"/>
                </a:cubicBezTo>
                <a:close/>
                <a:moveTo>
                  <a:pt x="239962" y="137787"/>
                </a:moveTo>
                <a:cubicBezTo>
                  <a:pt x="241140" y="129544"/>
                  <a:pt x="235393" y="121912"/>
                  <a:pt x="227196" y="120735"/>
                </a:cubicBezTo>
                <a:cubicBezTo>
                  <a:pt x="219000" y="119557"/>
                  <a:pt x="211321" y="125304"/>
                  <a:pt x="210144" y="133501"/>
                </a:cubicBezTo>
                <a:cubicBezTo>
                  <a:pt x="203878" y="177310"/>
                  <a:pt x="166146" y="210991"/>
                  <a:pt x="120593" y="210991"/>
                </a:cubicBezTo>
                <a:cubicBezTo>
                  <a:pt x="95627" y="210991"/>
                  <a:pt x="73016" y="200864"/>
                  <a:pt x="56622" y="184517"/>
                </a:cubicBezTo>
                <a:cubicBezTo>
                  <a:pt x="56528" y="184423"/>
                  <a:pt x="56434" y="184329"/>
                  <a:pt x="56340" y="184235"/>
                </a:cubicBezTo>
                <a:lnTo>
                  <a:pt x="52760" y="180843"/>
                </a:lnTo>
                <a:lnTo>
                  <a:pt x="75324" y="180843"/>
                </a:lnTo>
                <a:cubicBezTo>
                  <a:pt x="83662" y="180843"/>
                  <a:pt x="90398" y="174107"/>
                  <a:pt x="90398" y="165769"/>
                </a:cubicBezTo>
                <a:cubicBezTo>
                  <a:pt x="90398" y="157431"/>
                  <a:pt x="83662" y="150695"/>
                  <a:pt x="75324" y="150695"/>
                </a:cubicBezTo>
                <a:lnTo>
                  <a:pt x="15074" y="150742"/>
                </a:lnTo>
                <a:cubicBezTo>
                  <a:pt x="11070" y="150742"/>
                  <a:pt x="7207" y="152343"/>
                  <a:pt x="4381" y="155217"/>
                </a:cubicBezTo>
                <a:cubicBezTo>
                  <a:pt x="1555" y="158091"/>
                  <a:pt x="-47" y="161906"/>
                  <a:pt x="0" y="165957"/>
                </a:cubicBezTo>
                <a:lnTo>
                  <a:pt x="471" y="225783"/>
                </a:lnTo>
                <a:cubicBezTo>
                  <a:pt x="518" y="234121"/>
                  <a:pt x="7349" y="240810"/>
                  <a:pt x="15687" y="240716"/>
                </a:cubicBezTo>
                <a:cubicBezTo>
                  <a:pt x="24024" y="240622"/>
                  <a:pt x="30714" y="233838"/>
                  <a:pt x="30619" y="225500"/>
                </a:cubicBezTo>
                <a:lnTo>
                  <a:pt x="30431" y="201240"/>
                </a:lnTo>
                <a:lnTo>
                  <a:pt x="35471" y="205998"/>
                </a:lnTo>
                <a:cubicBezTo>
                  <a:pt x="57282" y="227714"/>
                  <a:pt x="87383" y="241187"/>
                  <a:pt x="120593" y="241187"/>
                </a:cubicBezTo>
                <a:cubicBezTo>
                  <a:pt x="181361" y="241187"/>
                  <a:pt x="231624" y="196247"/>
                  <a:pt x="239962" y="13778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86825" y="3304261"/>
            <a:ext cx="1845080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容器生命周期管理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8866" y="373839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负责容器的完整生命周期管理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8866" y="4076059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启动容器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8866" y="4365484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监控运行状态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8866" y="465490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处理资源使用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8866" y="4944332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清理工作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46467" y="3111312"/>
            <a:ext cx="4763442" cy="2267157"/>
          </a:xfrm>
          <a:custGeom>
            <a:avLst/>
            <a:gdLst/>
            <a:ahLst/>
            <a:cxnLst/>
            <a:rect l="l" t="t" r="r" b="b"/>
            <a:pathLst>
              <a:path w="4763442" h="2267157">
                <a:moveTo>
                  <a:pt x="48245" y="0"/>
                </a:moveTo>
                <a:lnTo>
                  <a:pt x="4715197" y="0"/>
                </a:lnTo>
                <a:cubicBezTo>
                  <a:pt x="4741842" y="0"/>
                  <a:pt x="4763442" y="21600"/>
                  <a:pt x="4763442" y="48245"/>
                </a:cubicBezTo>
                <a:lnTo>
                  <a:pt x="4763442" y="2218912"/>
                </a:lnTo>
                <a:cubicBezTo>
                  <a:pt x="4763442" y="2245557"/>
                  <a:pt x="4741842" y="2267157"/>
                  <a:pt x="4715197" y="2267157"/>
                </a:cubicBezTo>
                <a:lnTo>
                  <a:pt x="48245" y="2267157"/>
                </a:lnTo>
                <a:cubicBezTo>
                  <a:pt x="21600" y="2267157"/>
                  <a:pt x="0" y="2245557"/>
                  <a:pt x="0" y="2218912"/>
                </a:cubicBezTo>
                <a:lnTo>
                  <a:pt x="0" y="48245"/>
                </a:lnTo>
                <a:cubicBezTo>
                  <a:pt x="0" y="21618"/>
                  <a:pt x="21618" y="0"/>
                  <a:pt x="4824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969565" y="3352499"/>
            <a:ext cx="241187" cy="241187"/>
          </a:xfrm>
          <a:custGeom>
            <a:avLst/>
            <a:gdLst/>
            <a:ahLst/>
            <a:cxnLst/>
            <a:rect l="l" t="t" r="r" b="b"/>
            <a:pathLst>
              <a:path w="241187" h="241187">
                <a:moveTo>
                  <a:pt x="15074" y="15074"/>
                </a:moveTo>
                <a:cubicBezTo>
                  <a:pt x="23412" y="15074"/>
                  <a:pt x="30148" y="21810"/>
                  <a:pt x="30148" y="30148"/>
                </a:cubicBezTo>
                <a:lnTo>
                  <a:pt x="30148" y="188427"/>
                </a:lnTo>
                <a:cubicBezTo>
                  <a:pt x="30148" y="192573"/>
                  <a:pt x="33540" y="195964"/>
                  <a:pt x="37685" y="195964"/>
                </a:cubicBezTo>
                <a:lnTo>
                  <a:pt x="226113" y="195964"/>
                </a:lnTo>
                <a:cubicBezTo>
                  <a:pt x="234451" y="195964"/>
                  <a:pt x="241187" y="202701"/>
                  <a:pt x="241187" y="211039"/>
                </a:cubicBezTo>
                <a:cubicBezTo>
                  <a:pt x="241187" y="219376"/>
                  <a:pt x="234451" y="226113"/>
                  <a:pt x="226113" y="226113"/>
                </a:cubicBezTo>
                <a:lnTo>
                  <a:pt x="37685" y="226113"/>
                </a:lnTo>
                <a:cubicBezTo>
                  <a:pt x="16864" y="226113"/>
                  <a:pt x="0" y="209249"/>
                  <a:pt x="0" y="188427"/>
                </a:cubicBezTo>
                <a:lnTo>
                  <a:pt x="0" y="30148"/>
                </a:lnTo>
                <a:cubicBezTo>
                  <a:pt x="0" y="21810"/>
                  <a:pt x="6736" y="15074"/>
                  <a:pt x="15074" y="15074"/>
                </a:cubicBezTo>
                <a:close/>
                <a:moveTo>
                  <a:pt x="113056" y="45223"/>
                </a:moveTo>
                <a:cubicBezTo>
                  <a:pt x="116213" y="45223"/>
                  <a:pt x="119227" y="46542"/>
                  <a:pt x="121394" y="48897"/>
                </a:cubicBezTo>
                <a:lnTo>
                  <a:pt x="154887" y="85405"/>
                </a:lnTo>
                <a:lnTo>
                  <a:pt x="176651" y="63594"/>
                </a:lnTo>
                <a:cubicBezTo>
                  <a:pt x="181079" y="59166"/>
                  <a:pt x="188239" y="59166"/>
                  <a:pt x="192620" y="63594"/>
                </a:cubicBezTo>
                <a:lnTo>
                  <a:pt x="222768" y="93743"/>
                </a:lnTo>
                <a:cubicBezTo>
                  <a:pt x="224888" y="95862"/>
                  <a:pt x="226066" y="98736"/>
                  <a:pt x="226066" y="101751"/>
                </a:cubicBezTo>
                <a:lnTo>
                  <a:pt x="226066" y="154510"/>
                </a:lnTo>
                <a:cubicBezTo>
                  <a:pt x="226066" y="160776"/>
                  <a:pt x="221025" y="165816"/>
                  <a:pt x="214760" y="165816"/>
                </a:cubicBezTo>
                <a:lnTo>
                  <a:pt x="71555" y="165816"/>
                </a:lnTo>
                <a:cubicBezTo>
                  <a:pt x="65290" y="165816"/>
                  <a:pt x="60250" y="160776"/>
                  <a:pt x="60250" y="154510"/>
                </a:cubicBezTo>
                <a:lnTo>
                  <a:pt x="60250" y="101751"/>
                </a:lnTo>
                <a:cubicBezTo>
                  <a:pt x="60250" y="98924"/>
                  <a:pt x="61333" y="96192"/>
                  <a:pt x="63217" y="94119"/>
                </a:cubicBezTo>
                <a:lnTo>
                  <a:pt x="104671" y="48897"/>
                </a:lnTo>
                <a:cubicBezTo>
                  <a:pt x="106791" y="46542"/>
                  <a:pt x="109853" y="45223"/>
                  <a:pt x="113009" y="4522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37375" y="3304261"/>
            <a:ext cx="2062148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资源监控与健康检查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39417" y="373839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持续监控节点的资源使用情况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39417" y="4076059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CPU使用率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39417" y="4365484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内存占用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39417" y="465490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磁盘空间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39417" y="4944332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网络I/O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97018" y="3111312"/>
            <a:ext cx="4763442" cy="2267157"/>
          </a:xfrm>
          <a:custGeom>
            <a:avLst/>
            <a:gdLst/>
            <a:ahLst/>
            <a:cxnLst/>
            <a:rect l="l" t="t" r="r" b="b"/>
            <a:pathLst>
              <a:path w="4763442" h="2267157">
                <a:moveTo>
                  <a:pt x="48245" y="0"/>
                </a:moveTo>
                <a:lnTo>
                  <a:pt x="4715197" y="0"/>
                </a:lnTo>
                <a:cubicBezTo>
                  <a:pt x="4741842" y="0"/>
                  <a:pt x="4763442" y="21600"/>
                  <a:pt x="4763442" y="48245"/>
                </a:cubicBezTo>
                <a:lnTo>
                  <a:pt x="4763442" y="2218912"/>
                </a:lnTo>
                <a:cubicBezTo>
                  <a:pt x="4763442" y="2245557"/>
                  <a:pt x="4741842" y="2267157"/>
                  <a:pt x="4715197" y="2267157"/>
                </a:cubicBezTo>
                <a:lnTo>
                  <a:pt x="48245" y="2267157"/>
                </a:lnTo>
                <a:cubicBezTo>
                  <a:pt x="21600" y="2267157"/>
                  <a:pt x="0" y="2245557"/>
                  <a:pt x="0" y="2218912"/>
                </a:cubicBezTo>
                <a:lnTo>
                  <a:pt x="0" y="48245"/>
                </a:lnTo>
                <a:cubicBezTo>
                  <a:pt x="0" y="21618"/>
                  <a:pt x="21618" y="0"/>
                  <a:pt x="4824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905042" y="3352499"/>
            <a:ext cx="271335" cy="241187"/>
          </a:xfrm>
          <a:custGeom>
            <a:avLst/>
            <a:gdLst/>
            <a:ahLst/>
            <a:cxnLst/>
            <a:rect l="l" t="t" r="r" b="b"/>
            <a:pathLst>
              <a:path w="271335" h="241187">
                <a:moveTo>
                  <a:pt x="239962" y="46447"/>
                </a:moveTo>
                <a:cubicBezTo>
                  <a:pt x="243542" y="42867"/>
                  <a:pt x="249525" y="43762"/>
                  <a:pt x="251315" y="48473"/>
                </a:cubicBezTo>
                <a:cubicBezTo>
                  <a:pt x="254518" y="56811"/>
                  <a:pt x="256261" y="65902"/>
                  <a:pt x="256261" y="75371"/>
                </a:cubicBezTo>
                <a:cubicBezTo>
                  <a:pt x="256261" y="117013"/>
                  <a:pt x="222533" y="150742"/>
                  <a:pt x="180890" y="150742"/>
                </a:cubicBezTo>
                <a:cubicBezTo>
                  <a:pt x="172647" y="150742"/>
                  <a:pt x="164685" y="149423"/>
                  <a:pt x="157243" y="146973"/>
                </a:cubicBezTo>
                <a:lnTo>
                  <a:pt x="69200" y="235016"/>
                </a:lnTo>
                <a:cubicBezTo>
                  <a:pt x="55963" y="248253"/>
                  <a:pt x="34482" y="248253"/>
                  <a:pt x="21245" y="235016"/>
                </a:cubicBezTo>
                <a:cubicBezTo>
                  <a:pt x="8008" y="221779"/>
                  <a:pt x="8008" y="200298"/>
                  <a:pt x="21245" y="187061"/>
                </a:cubicBezTo>
                <a:lnTo>
                  <a:pt x="109288" y="99019"/>
                </a:lnTo>
                <a:cubicBezTo>
                  <a:pt x="106838" y="91576"/>
                  <a:pt x="105519" y="83662"/>
                  <a:pt x="105519" y="75371"/>
                </a:cubicBezTo>
                <a:cubicBezTo>
                  <a:pt x="105519" y="33728"/>
                  <a:pt x="139248" y="0"/>
                  <a:pt x="180890" y="0"/>
                </a:cubicBezTo>
                <a:cubicBezTo>
                  <a:pt x="190359" y="0"/>
                  <a:pt x="199450" y="1743"/>
                  <a:pt x="207788" y="4946"/>
                </a:cubicBezTo>
                <a:cubicBezTo>
                  <a:pt x="212499" y="6736"/>
                  <a:pt x="213347" y="12719"/>
                  <a:pt x="209814" y="16299"/>
                </a:cubicBezTo>
                <a:lnTo>
                  <a:pt x="168030" y="58083"/>
                </a:lnTo>
                <a:cubicBezTo>
                  <a:pt x="166617" y="59496"/>
                  <a:pt x="165816" y="61427"/>
                  <a:pt x="165816" y="63406"/>
                </a:cubicBezTo>
                <a:lnTo>
                  <a:pt x="165816" y="82908"/>
                </a:lnTo>
                <a:cubicBezTo>
                  <a:pt x="165816" y="87053"/>
                  <a:pt x="169208" y="90445"/>
                  <a:pt x="173353" y="90445"/>
                </a:cubicBezTo>
                <a:lnTo>
                  <a:pt x="192855" y="90445"/>
                </a:lnTo>
                <a:cubicBezTo>
                  <a:pt x="194834" y="90445"/>
                  <a:pt x="196765" y="89644"/>
                  <a:pt x="198178" y="88231"/>
                </a:cubicBezTo>
                <a:lnTo>
                  <a:pt x="239962" y="4644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287926" y="3304261"/>
            <a:ext cx="1410944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本地服务支持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89967" y="373839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提供多种本地服务支持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89967" y="4076059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日志聚合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89967" y="4365484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文件本地化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89967" y="4654908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安全认证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89967" y="4944332"/>
            <a:ext cx="4461958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辅助服务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8404" y="5890991"/>
            <a:ext cx="7537092" cy="2761591"/>
          </a:xfrm>
          <a:custGeom>
            <a:avLst/>
            <a:gdLst/>
            <a:ahLst/>
            <a:cxnLst/>
            <a:rect l="l" t="t" r="r" b="b"/>
            <a:pathLst>
              <a:path w="7537092" h="2761591">
                <a:moveTo>
                  <a:pt x="96462" y="0"/>
                </a:moveTo>
                <a:lnTo>
                  <a:pt x="7440630" y="0"/>
                </a:lnTo>
                <a:cubicBezTo>
                  <a:pt x="7493904" y="0"/>
                  <a:pt x="7537092" y="43188"/>
                  <a:pt x="7537092" y="96462"/>
                </a:cubicBezTo>
                <a:lnTo>
                  <a:pt x="7537092" y="2665128"/>
                </a:lnTo>
                <a:cubicBezTo>
                  <a:pt x="7537092" y="2718403"/>
                  <a:pt x="7493904" y="2761591"/>
                  <a:pt x="7440630" y="2761591"/>
                </a:cubicBezTo>
                <a:lnTo>
                  <a:pt x="96462" y="2761591"/>
                </a:lnTo>
                <a:cubicBezTo>
                  <a:pt x="43188" y="2761591"/>
                  <a:pt x="0" y="2718403"/>
                  <a:pt x="0" y="2665128"/>
                </a:cubicBezTo>
                <a:lnTo>
                  <a:pt x="0" y="96462"/>
                </a:lnTo>
                <a:cubicBezTo>
                  <a:pt x="0" y="43188"/>
                  <a:pt x="43188" y="0"/>
                  <a:pt x="9646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35620" y="6138208"/>
            <a:ext cx="7163252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心跳机制与状态上报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9739" y="6668819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40663"/>
                </a:moveTo>
                <a:lnTo>
                  <a:pt x="90822" y="32824"/>
                </a:lnTo>
                <a:cubicBezTo>
                  <a:pt x="81401" y="19785"/>
                  <a:pt x="66289" y="12059"/>
                  <a:pt x="50159" y="12059"/>
                </a:cubicBezTo>
                <a:cubicBezTo>
                  <a:pt x="22461" y="12059"/>
                  <a:pt x="0" y="34520"/>
                  <a:pt x="0" y="62219"/>
                </a:cubicBezTo>
                <a:lnTo>
                  <a:pt x="0" y="63199"/>
                </a:lnTo>
                <a:cubicBezTo>
                  <a:pt x="0" y="72092"/>
                  <a:pt x="2336" y="81288"/>
                  <a:pt x="6256" y="90445"/>
                </a:cubicBezTo>
                <a:lnTo>
                  <a:pt x="46202" y="90445"/>
                </a:lnTo>
                <a:cubicBezTo>
                  <a:pt x="47408" y="90445"/>
                  <a:pt x="48501" y="89729"/>
                  <a:pt x="48991" y="88599"/>
                </a:cubicBezTo>
                <a:lnTo>
                  <a:pt x="60975" y="59845"/>
                </a:lnTo>
                <a:cubicBezTo>
                  <a:pt x="62369" y="56528"/>
                  <a:pt x="65610" y="54342"/>
                  <a:pt x="69191" y="54267"/>
                </a:cubicBezTo>
                <a:cubicBezTo>
                  <a:pt x="72771" y="54192"/>
                  <a:pt x="76087" y="56302"/>
                  <a:pt x="77557" y="59581"/>
                </a:cubicBezTo>
                <a:lnTo>
                  <a:pt x="96889" y="102504"/>
                </a:lnTo>
                <a:lnTo>
                  <a:pt x="112491" y="71301"/>
                </a:lnTo>
                <a:cubicBezTo>
                  <a:pt x="114036" y="68248"/>
                  <a:pt x="117164" y="66289"/>
                  <a:pt x="120593" y="66289"/>
                </a:cubicBezTo>
                <a:cubicBezTo>
                  <a:pt x="124023" y="66289"/>
                  <a:pt x="127151" y="68211"/>
                  <a:pt x="128696" y="71301"/>
                </a:cubicBezTo>
                <a:lnTo>
                  <a:pt x="137439" y="88749"/>
                </a:lnTo>
                <a:cubicBezTo>
                  <a:pt x="137966" y="89767"/>
                  <a:pt x="138984" y="90407"/>
                  <a:pt x="140152" y="90407"/>
                </a:cubicBezTo>
                <a:lnTo>
                  <a:pt x="186731" y="90407"/>
                </a:lnTo>
                <a:cubicBezTo>
                  <a:pt x="190688" y="81250"/>
                  <a:pt x="192987" y="72055"/>
                  <a:pt x="192987" y="63161"/>
                </a:cubicBezTo>
                <a:lnTo>
                  <a:pt x="192987" y="62181"/>
                </a:lnTo>
                <a:cubicBezTo>
                  <a:pt x="192950" y="34520"/>
                  <a:pt x="170489" y="12059"/>
                  <a:pt x="142790" y="12059"/>
                </a:cubicBezTo>
                <a:cubicBezTo>
                  <a:pt x="126699" y="12059"/>
                  <a:pt x="111549" y="19785"/>
                  <a:pt x="102128" y="32824"/>
                </a:cubicBezTo>
                <a:lnTo>
                  <a:pt x="96475" y="40625"/>
                </a:lnTo>
                <a:close/>
                <a:moveTo>
                  <a:pt x="176971" y="108534"/>
                </a:moveTo>
                <a:lnTo>
                  <a:pt x="140115" y="108534"/>
                </a:lnTo>
                <a:cubicBezTo>
                  <a:pt x="132125" y="108534"/>
                  <a:pt x="124814" y="104012"/>
                  <a:pt x="121234" y="96852"/>
                </a:cubicBezTo>
                <a:lnTo>
                  <a:pt x="120593" y="95570"/>
                </a:lnTo>
                <a:lnTo>
                  <a:pt x="104577" y="127641"/>
                </a:lnTo>
                <a:cubicBezTo>
                  <a:pt x="103032" y="130769"/>
                  <a:pt x="99791" y="132728"/>
                  <a:pt x="96286" y="132653"/>
                </a:cubicBezTo>
                <a:cubicBezTo>
                  <a:pt x="92782" y="132577"/>
                  <a:pt x="89654" y="130505"/>
                  <a:pt x="88222" y="127339"/>
                </a:cubicBezTo>
                <a:lnTo>
                  <a:pt x="69643" y="86074"/>
                </a:lnTo>
                <a:lnTo>
                  <a:pt x="65686" y="95570"/>
                </a:lnTo>
                <a:cubicBezTo>
                  <a:pt x="62407" y="103447"/>
                  <a:pt x="54719" y="108572"/>
                  <a:pt x="46202" y="108572"/>
                </a:cubicBezTo>
                <a:lnTo>
                  <a:pt x="15979" y="108572"/>
                </a:lnTo>
                <a:cubicBezTo>
                  <a:pt x="33766" y="136384"/>
                  <a:pt x="62332" y="161972"/>
                  <a:pt x="80195" y="175614"/>
                </a:cubicBezTo>
                <a:cubicBezTo>
                  <a:pt x="84868" y="179157"/>
                  <a:pt x="90596" y="180928"/>
                  <a:pt x="96437" y="180928"/>
                </a:cubicBezTo>
                <a:cubicBezTo>
                  <a:pt x="102278" y="180928"/>
                  <a:pt x="108044" y="179194"/>
                  <a:pt x="112680" y="175614"/>
                </a:cubicBezTo>
                <a:cubicBezTo>
                  <a:pt x="130618" y="161934"/>
                  <a:pt x="159183" y="136346"/>
                  <a:pt x="176971" y="10853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73282" y="6620582"/>
            <a:ext cx="412429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定期心跳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3282" y="6910006"/>
            <a:ext cx="411223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NodeManager定期向ResourceManager发送心跳信息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9739" y="7295905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192950"/>
                </a:moveTo>
                <a:cubicBezTo>
                  <a:pt x="149721" y="192950"/>
                  <a:pt x="192950" y="149721"/>
                  <a:pt x="192950" y="96475"/>
                </a:cubicBezTo>
                <a:cubicBezTo>
                  <a:pt x="192950" y="43229"/>
                  <a:pt x="149721" y="0"/>
                  <a:pt x="96475" y="0"/>
                </a:cubicBezTo>
                <a:cubicBezTo>
                  <a:pt x="43229" y="0"/>
                  <a:pt x="0" y="43229"/>
                  <a:pt x="0" y="96475"/>
                </a:cubicBezTo>
                <a:cubicBezTo>
                  <a:pt x="0" y="149721"/>
                  <a:pt x="43229" y="192950"/>
                  <a:pt x="96475" y="192950"/>
                </a:cubicBezTo>
                <a:close/>
                <a:moveTo>
                  <a:pt x="84415" y="60297"/>
                </a:moveTo>
                <a:cubicBezTo>
                  <a:pt x="84415" y="53641"/>
                  <a:pt x="89819" y="48237"/>
                  <a:pt x="96475" y="48237"/>
                </a:cubicBezTo>
                <a:cubicBezTo>
                  <a:pt x="103131" y="48237"/>
                  <a:pt x="108534" y="53641"/>
                  <a:pt x="108534" y="60297"/>
                </a:cubicBezTo>
                <a:cubicBezTo>
                  <a:pt x="108534" y="66952"/>
                  <a:pt x="103131" y="72356"/>
                  <a:pt x="96475" y="72356"/>
                </a:cubicBezTo>
                <a:cubicBezTo>
                  <a:pt x="89819" y="72356"/>
                  <a:pt x="84415" y="66952"/>
                  <a:pt x="84415" y="60297"/>
                </a:cubicBezTo>
                <a:close/>
                <a:moveTo>
                  <a:pt x="81401" y="84415"/>
                </a:moveTo>
                <a:lnTo>
                  <a:pt x="99490" y="84415"/>
                </a:lnTo>
                <a:cubicBezTo>
                  <a:pt x="104502" y="84415"/>
                  <a:pt x="108534" y="88448"/>
                  <a:pt x="108534" y="93460"/>
                </a:cubicBezTo>
                <a:lnTo>
                  <a:pt x="108534" y="126623"/>
                </a:lnTo>
                <a:lnTo>
                  <a:pt x="111549" y="126623"/>
                </a:lnTo>
                <a:cubicBezTo>
                  <a:pt x="116561" y="126623"/>
                  <a:pt x="120593" y="130655"/>
                  <a:pt x="120593" y="135668"/>
                </a:cubicBezTo>
                <a:cubicBezTo>
                  <a:pt x="120593" y="140680"/>
                  <a:pt x="116561" y="144712"/>
                  <a:pt x="111549" y="144712"/>
                </a:cubicBezTo>
                <a:lnTo>
                  <a:pt x="81401" y="144712"/>
                </a:lnTo>
                <a:cubicBezTo>
                  <a:pt x="76388" y="144712"/>
                  <a:pt x="72356" y="140680"/>
                  <a:pt x="72356" y="135668"/>
                </a:cubicBezTo>
                <a:cubicBezTo>
                  <a:pt x="72356" y="130655"/>
                  <a:pt x="76388" y="126623"/>
                  <a:pt x="81401" y="126623"/>
                </a:cubicBezTo>
                <a:lnTo>
                  <a:pt x="90445" y="126623"/>
                </a:lnTo>
                <a:lnTo>
                  <a:pt x="90445" y="102504"/>
                </a:lnTo>
                <a:lnTo>
                  <a:pt x="81401" y="102504"/>
                </a:lnTo>
                <a:cubicBezTo>
                  <a:pt x="76388" y="102504"/>
                  <a:pt x="72356" y="98472"/>
                  <a:pt x="72356" y="93460"/>
                </a:cubicBezTo>
                <a:cubicBezTo>
                  <a:pt x="72356" y="88448"/>
                  <a:pt x="76388" y="84415"/>
                  <a:pt x="81401" y="8441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73282" y="7247668"/>
            <a:ext cx="347309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状态同步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3282" y="7537092"/>
            <a:ext cx="3461033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上报节点状态、容器运行状态、资源使用情况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9739" y="7922991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0"/>
                </a:moveTo>
                <a:cubicBezTo>
                  <a:pt x="102015" y="0"/>
                  <a:pt x="107102" y="3053"/>
                  <a:pt x="109740" y="7914"/>
                </a:cubicBezTo>
                <a:lnTo>
                  <a:pt x="191141" y="158656"/>
                </a:lnTo>
                <a:cubicBezTo>
                  <a:pt x="193666" y="163329"/>
                  <a:pt x="193553" y="168982"/>
                  <a:pt x="190839" y="173542"/>
                </a:cubicBezTo>
                <a:cubicBezTo>
                  <a:pt x="188126" y="178101"/>
                  <a:pt x="183189" y="180890"/>
                  <a:pt x="177875" y="180890"/>
                </a:cubicBezTo>
                <a:lnTo>
                  <a:pt x="15074" y="180890"/>
                </a:lnTo>
                <a:cubicBezTo>
                  <a:pt x="9761" y="180890"/>
                  <a:pt x="4861" y="178101"/>
                  <a:pt x="2110" y="173542"/>
                </a:cubicBezTo>
                <a:cubicBezTo>
                  <a:pt x="-641" y="168982"/>
                  <a:pt x="-716" y="163329"/>
                  <a:pt x="1809" y="158656"/>
                </a:cubicBezTo>
                <a:lnTo>
                  <a:pt x="83209" y="7914"/>
                </a:lnTo>
                <a:cubicBezTo>
                  <a:pt x="85847" y="3053"/>
                  <a:pt x="90935" y="0"/>
                  <a:pt x="96475" y="0"/>
                </a:cubicBezTo>
                <a:close/>
                <a:moveTo>
                  <a:pt x="96475" y="63312"/>
                </a:moveTo>
                <a:cubicBezTo>
                  <a:pt x="91463" y="63312"/>
                  <a:pt x="87430" y="67344"/>
                  <a:pt x="87430" y="72356"/>
                </a:cubicBezTo>
                <a:lnTo>
                  <a:pt x="87430" y="114564"/>
                </a:lnTo>
                <a:cubicBezTo>
                  <a:pt x="87430" y="119576"/>
                  <a:pt x="91463" y="123608"/>
                  <a:pt x="96475" y="123608"/>
                </a:cubicBezTo>
                <a:cubicBezTo>
                  <a:pt x="101487" y="123608"/>
                  <a:pt x="105519" y="119576"/>
                  <a:pt x="105519" y="114564"/>
                </a:cubicBezTo>
                <a:lnTo>
                  <a:pt x="105519" y="72356"/>
                </a:lnTo>
                <a:cubicBezTo>
                  <a:pt x="105519" y="67344"/>
                  <a:pt x="101487" y="63312"/>
                  <a:pt x="96475" y="63312"/>
                </a:cubicBezTo>
                <a:close/>
                <a:moveTo>
                  <a:pt x="106537" y="144712"/>
                </a:moveTo>
                <a:cubicBezTo>
                  <a:pt x="106766" y="140977"/>
                  <a:pt x="104903" y="137424"/>
                  <a:pt x="101701" y="135487"/>
                </a:cubicBezTo>
                <a:cubicBezTo>
                  <a:pt x="98500" y="133550"/>
                  <a:pt x="94488" y="133550"/>
                  <a:pt x="91286" y="135487"/>
                </a:cubicBezTo>
                <a:cubicBezTo>
                  <a:pt x="88084" y="137424"/>
                  <a:pt x="86222" y="140977"/>
                  <a:pt x="86450" y="144712"/>
                </a:cubicBezTo>
                <a:cubicBezTo>
                  <a:pt x="86222" y="148447"/>
                  <a:pt x="88084" y="152000"/>
                  <a:pt x="91286" y="153937"/>
                </a:cubicBezTo>
                <a:cubicBezTo>
                  <a:pt x="94488" y="155874"/>
                  <a:pt x="98500" y="155874"/>
                  <a:pt x="101701" y="153937"/>
                </a:cubicBezTo>
                <a:cubicBezTo>
                  <a:pt x="104903" y="152000"/>
                  <a:pt x="106766" y="148447"/>
                  <a:pt x="106537" y="14471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73282" y="7874754"/>
            <a:ext cx="3726338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3282" y="8164178"/>
            <a:ext cx="371427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当检测到节点异常或资源不足时，及时向RM汇报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7772" y="5890991"/>
            <a:ext cx="7537092" cy="2761591"/>
          </a:xfrm>
          <a:custGeom>
            <a:avLst/>
            <a:gdLst/>
            <a:ahLst/>
            <a:cxnLst/>
            <a:rect l="l" t="t" r="r" b="b"/>
            <a:pathLst>
              <a:path w="7537092" h="2761591">
                <a:moveTo>
                  <a:pt x="96462" y="0"/>
                </a:moveTo>
                <a:lnTo>
                  <a:pt x="7440630" y="0"/>
                </a:lnTo>
                <a:cubicBezTo>
                  <a:pt x="7493904" y="0"/>
                  <a:pt x="7537092" y="43188"/>
                  <a:pt x="7537092" y="96462"/>
                </a:cubicBezTo>
                <a:lnTo>
                  <a:pt x="7537092" y="2665128"/>
                </a:lnTo>
                <a:cubicBezTo>
                  <a:pt x="7537092" y="2718403"/>
                  <a:pt x="7493904" y="2761591"/>
                  <a:pt x="7440630" y="2761591"/>
                </a:cubicBezTo>
                <a:lnTo>
                  <a:pt x="96462" y="2761591"/>
                </a:lnTo>
                <a:cubicBezTo>
                  <a:pt x="43188" y="2761591"/>
                  <a:pt x="0" y="2718403"/>
                  <a:pt x="0" y="2665128"/>
                </a:cubicBezTo>
                <a:lnTo>
                  <a:pt x="0" y="96462"/>
                </a:lnTo>
                <a:cubicBezTo>
                  <a:pt x="0" y="43188"/>
                  <a:pt x="43188" y="0"/>
                  <a:pt x="9646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474989" y="6138208"/>
            <a:ext cx="7163252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容器执行机制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99108" y="6668819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0" y="96475"/>
                </a:moveTo>
                <a:cubicBezTo>
                  <a:pt x="0" y="43229"/>
                  <a:pt x="43229" y="0"/>
                  <a:pt x="96475" y="0"/>
                </a:cubicBezTo>
                <a:cubicBezTo>
                  <a:pt x="149721" y="0"/>
                  <a:pt x="192950" y="43229"/>
                  <a:pt x="192950" y="96475"/>
                </a:cubicBezTo>
                <a:cubicBezTo>
                  <a:pt x="192950" y="149721"/>
                  <a:pt x="149721" y="192950"/>
                  <a:pt x="96475" y="192950"/>
                </a:cubicBezTo>
                <a:cubicBezTo>
                  <a:pt x="43229" y="192950"/>
                  <a:pt x="0" y="149721"/>
                  <a:pt x="0" y="96475"/>
                </a:cubicBezTo>
                <a:close/>
                <a:moveTo>
                  <a:pt x="70962" y="55435"/>
                </a:moveTo>
                <a:cubicBezTo>
                  <a:pt x="68098" y="57018"/>
                  <a:pt x="66326" y="60071"/>
                  <a:pt x="66326" y="63312"/>
                </a:cubicBezTo>
                <a:lnTo>
                  <a:pt x="66326" y="129638"/>
                </a:lnTo>
                <a:cubicBezTo>
                  <a:pt x="66326" y="132917"/>
                  <a:pt x="68098" y="135931"/>
                  <a:pt x="70962" y="137514"/>
                </a:cubicBezTo>
                <a:cubicBezTo>
                  <a:pt x="73826" y="139097"/>
                  <a:pt x="77293" y="139059"/>
                  <a:pt x="80119" y="137326"/>
                </a:cubicBezTo>
                <a:lnTo>
                  <a:pt x="134386" y="104163"/>
                </a:lnTo>
                <a:cubicBezTo>
                  <a:pt x="137062" y="102504"/>
                  <a:pt x="138720" y="99603"/>
                  <a:pt x="138720" y="96437"/>
                </a:cubicBezTo>
                <a:cubicBezTo>
                  <a:pt x="138720" y="93272"/>
                  <a:pt x="137062" y="90370"/>
                  <a:pt x="134386" y="88712"/>
                </a:cubicBezTo>
                <a:lnTo>
                  <a:pt x="80119" y="55548"/>
                </a:lnTo>
                <a:cubicBezTo>
                  <a:pt x="77331" y="53853"/>
                  <a:pt x="73826" y="53777"/>
                  <a:pt x="70962" y="5536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812651" y="6620582"/>
            <a:ext cx="246010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容器启动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12651" y="6910006"/>
            <a:ext cx="244804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根据RM指令和AM请求启动容器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99108" y="7295905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24119" y="24119"/>
                </a:moveTo>
                <a:cubicBezTo>
                  <a:pt x="24119" y="17448"/>
                  <a:pt x="18730" y="12059"/>
                  <a:pt x="12059" y="12059"/>
                </a:cubicBezTo>
                <a:cubicBezTo>
                  <a:pt x="5389" y="12059"/>
                  <a:pt x="0" y="17448"/>
                  <a:pt x="0" y="24119"/>
                </a:cubicBezTo>
                <a:lnTo>
                  <a:pt x="0" y="150742"/>
                </a:lnTo>
                <a:cubicBezTo>
                  <a:pt x="0" y="167399"/>
                  <a:pt x="13491" y="180890"/>
                  <a:pt x="30148" y="180890"/>
                </a:cubicBezTo>
                <a:lnTo>
                  <a:pt x="180890" y="180890"/>
                </a:lnTo>
                <a:cubicBezTo>
                  <a:pt x="187561" y="180890"/>
                  <a:pt x="192950" y="175501"/>
                  <a:pt x="192950" y="168831"/>
                </a:cubicBezTo>
                <a:cubicBezTo>
                  <a:pt x="192950" y="162161"/>
                  <a:pt x="187561" y="156772"/>
                  <a:pt x="180890" y="156772"/>
                </a:cubicBezTo>
                <a:lnTo>
                  <a:pt x="30148" y="156772"/>
                </a:lnTo>
                <a:cubicBezTo>
                  <a:pt x="26832" y="156772"/>
                  <a:pt x="24119" y="154058"/>
                  <a:pt x="24119" y="150742"/>
                </a:cubicBezTo>
                <a:lnTo>
                  <a:pt x="24119" y="24119"/>
                </a:lnTo>
                <a:close/>
                <a:moveTo>
                  <a:pt x="177348" y="56754"/>
                </a:moveTo>
                <a:cubicBezTo>
                  <a:pt x="182058" y="52044"/>
                  <a:pt x="182058" y="44393"/>
                  <a:pt x="177348" y="39683"/>
                </a:cubicBezTo>
                <a:cubicBezTo>
                  <a:pt x="172637" y="34972"/>
                  <a:pt x="164987" y="34972"/>
                  <a:pt x="160276" y="39683"/>
                </a:cubicBezTo>
                <a:lnTo>
                  <a:pt x="120593" y="79403"/>
                </a:lnTo>
                <a:lnTo>
                  <a:pt x="98962" y="57809"/>
                </a:lnTo>
                <a:cubicBezTo>
                  <a:pt x="94251" y="53099"/>
                  <a:pt x="86601" y="53099"/>
                  <a:pt x="81891" y="57809"/>
                </a:cubicBezTo>
                <a:lnTo>
                  <a:pt x="45712" y="93988"/>
                </a:lnTo>
                <a:cubicBezTo>
                  <a:pt x="41002" y="98698"/>
                  <a:pt x="41002" y="106348"/>
                  <a:pt x="45712" y="111059"/>
                </a:cubicBezTo>
                <a:cubicBezTo>
                  <a:pt x="50423" y="115770"/>
                  <a:pt x="58073" y="115770"/>
                  <a:pt x="62784" y="111059"/>
                </a:cubicBezTo>
                <a:lnTo>
                  <a:pt x="90445" y="83398"/>
                </a:lnTo>
                <a:lnTo>
                  <a:pt x="112077" y="105029"/>
                </a:lnTo>
                <a:cubicBezTo>
                  <a:pt x="116787" y="109740"/>
                  <a:pt x="124437" y="109740"/>
                  <a:pt x="129148" y="105029"/>
                </a:cubicBezTo>
                <a:lnTo>
                  <a:pt x="177385" y="56792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812651" y="7247668"/>
            <a:ext cx="2291276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资源监控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12651" y="7537092"/>
            <a:ext cx="227921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实时监控容器的资源使用情况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99108" y="7922991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192950"/>
                </a:moveTo>
                <a:cubicBezTo>
                  <a:pt x="149721" y="192950"/>
                  <a:pt x="192950" y="149721"/>
                  <a:pt x="192950" y="96475"/>
                </a:cubicBezTo>
                <a:cubicBezTo>
                  <a:pt x="192950" y="43229"/>
                  <a:pt x="149721" y="0"/>
                  <a:pt x="96475" y="0"/>
                </a:cubicBezTo>
                <a:cubicBezTo>
                  <a:pt x="43229" y="0"/>
                  <a:pt x="0" y="43229"/>
                  <a:pt x="0" y="96475"/>
                </a:cubicBezTo>
                <a:cubicBezTo>
                  <a:pt x="0" y="149721"/>
                  <a:pt x="43229" y="192950"/>
                  <a:pt x="96475" y="192950"/>
                </a:cubicBezTo>
                <a:close/>
                <a:moveTo>
                  <a:pt x="72356" y="60297"/>
                </a:moveTo>
                <a:lnTo>
                  <a:pt x="120593" y="60297"/>
                </a:lnTo>
                <a:cubicBezTo>
                  <a:pt x="127264" y="60297"/>
                  <a:pt x="132653" y="65686"/>
                  <a:pt x="132653" y="72356"/>
                </a:cubicBezTo>
                <a:lnTo>
                  <a:pt x="132653" y="120593"/>
                </a:lnTo>
                <a:cubicBezTo>
                  <a:pt x="132653" y="127264"/>
                  <a:pt x="127264" y="132653"/>
                  <a:pt x="120593" y="132653"/>
                </a:cubicBezTo>
                <a:lnTo>
                  <a:pt x="72356" y="132653"/>
                </a:lnTo>
                <a:cubicBezTo>
                  <a:pt x="65686" y="132653"/>
                  <a:pt x="60297" y="127264"/>
                  <a:pt x="60297" y="120593"/>
                </a:cubicBezTo>
                <a:lnTo>
                  <a:pt x="60297" y="72356"/>
                </a:lnTo>
                <a:cubicBezTo>
                  <a:pt x="60297" y="65686"/>
                  <a:pt x="65686" y="60297"/>
                  <a:pt x="72356" y="6029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812651" y="7874754"/>
            <a:ext cx="296659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容器清理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12651" y="8164178"/>
            <a:ext cx="2954540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容器完成或失败时进行资源回收和清理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62" y="434362"/>
            <a:ext cx="15474148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kern="0" spc="68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4362" y="781852"/>
            <a:ext cx="15582739" cy="43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 深度解析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4362" y="1346522"/>
            <a:ext cx="1042469" cy="43436"/>
          </a:xfrm>
          <a:custGeom>
            <a:avLst/>
            <a:gdLst/>
            <a:ahLst/>
            <a:cxnLst/>
            <a:rect l="l" t="t" r="r" b="b"/>
            <a:pathLst>
              <a:path w="1042469" h="43436">
                <a:moveTo>
                  <a:pt x="0" y="0"/>
                </a:moveTo>
                <a:lnTo>
                  <a:pt x="1042469" y="0"/>
                </a:lnTo>
                <a:lnTo>
                  <a:pt x="1042469" y="43436"/>
                </a:lnTo>
                <a:lnTo>
                  <a:pt x="0" y="43436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5221" y="1661435"/>
            <a:ext cx="15365558" cy="3453178"/>
          </a:xfrm>
          <a:custGeom>
            <a:avLst/>
            <a:gdLst/>
            <a:ahLst/>
            <a:cxnLst/>
            <a:rect l="l" t="t" r="r" b="b"/>
            <a:pathLst>
              <a:path w="15365558" h="3453178">
                <a:moveTo>
                  <a:pt x="86882" y="0"/>
                </a:moveTo>
                <a:lnTo>
                  <a:pt x="15278676" y="0"/>
                </a:lnTo>
                <a:cubicBezTo>
                  <a:pt x="15326659" y="0"/>
                  <a:pt x="15365558" y="38898"/>
                  <a:pt x="15365558" y="86882"/>
                </a:cubicBezTo>
                <a:lnTo>
                  <a:pt x="15365558" y="3366296"/>
                </a:lnTo>
                <a:cubicBezTo>
                  <a:pt x="15365558" y="3414280"/>
                  <a:pt x="15326659" y="3453178"/>
                  <a:pt x="15278676" y="3453178"/>
                </a:cubicBezTo>
                <a:lnTo>
                  <a:pt x="86882" y="3453178"/>
                </a:lnTo>
                <a:cubicBezTo>
                  <a:pt x="38898" y="3453178"/>
                  <a:pt x="0" y="3414280"/>
                  <a:pt x="0" y="3366296"/>
                </a:cubicBezTo>
                <a:lnTo>
                  <a:pt x="0" y="86882"/>
                </a:lnTo>
                <a:cubicBezTo>
                  <a:pt x="0" y="38898"/>
                  <a:pt x="38898" y="0"/>
                  <a:pt x="86882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7556" y="1943770"/>
            <a:ext cx="673261" cy="673261"/>
          </a:xfrm>
          <a:custGeom>
            <a:avLst/>
            <a:gdLst/>
            <a:ahLst/>
            <a:cxnLst/>
            <a:rect l="l" t="t" r="r" b="b"/>
            <a:pathLst>
              <a:path w="673261" h="673261">
                <a:moveTo>
                  <a:pt x="336631" y="0"/>
                </a:moveTo>
                <a:lnTo>
                  <a:pt x="336631" y="0"/>
                </a:lnTo>
                <a:cubicBezTo>
                  <a:pt x="522422" y="0"/>
                  <a:pt x="673261" y="150839"/>
                  <a:pt x="673261" y="336631"/>
                </a:cubicBezTo>
                <a:lnTo>
                  <a:pt x="673261" y="336631"/>
                </a:lnTo>
                <a:cubicBezTo>
                  <a:pt x="673261" y="522422"/>
                  <a:pt x="522422" y="673261"/>
                  <a:pt x="336631" y="673261"/>
                </a:cubicBezTo>
                <a:lnTo>
                  <a:pt x="336631" y="673261"/>
                </a:lnTo>
                <a:cubicBezTo>
                  <a:pt x="150839" y="673261"/>
                  <a:pt x="0" y="522422"/>
                  <a:pt x="0" y="336631"/>
                </a:cubicBezTo>
                <a:lnTo>
                  <a:pt x="0" y="336631"/>
                </a:lnTo>
                <a:cubicBezTo>
                  <a:pt x="0" y="150839"/>
                  <a:pt x="150839" y="0"/>
                  <a:pt x="33663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295" y="2117515"/>
            <a:ext cx="407214" cy="325772"/>
          </a:xfrm>
          <a:custGeom>
            <a:avLst/>
            <a:gdLst/>
            <a:ahLst/>
            <a:cxnLst/>
            <a:rect l="l" t="t" r="r" b="b"/>
            <a:pathLst>
              <a:path w="407214" h="325772">
                <a:moveTo>
                  <a:pt x="264626" y="133935"/>
                </a:moveTo>
                <a:cubicBezTo>
                  <a:pt x="272388" y="131836"/>
                  <a:pt x="280533" y="135526"/>
                  <a:pt x="284032" y="142716"/>
                </a:cubicBezTo>
                <a:lnTo>
                  <a:pt x="295867" y="166640"/>
                </a:lnTo>
                <a:cubicBezTo>
                  <a:pt x="302420" y="167531"/>
                  <a:pt x="308847" y="169312"/>
                  <a:pt x="314891" y="171794"/>
                </a:cubicBezTo>
                <a:lnTo>
                  <a:pt x="337161" y="156968"/>
                </a:lnTo>
                <a:cubicBezTo>
                  <a:pt x="343842" y="152515"/>
                  <a:pt x="352686" y="153405"/>
                  <a:pt x="358349" y="159068"/>
                </a:cubicBezTo>
                <a:lnTo>
                  <a:pt x="370565" y="171285"/>
                </a:lnTo>
                <a:cubicBezTo>
                  <a:pt x="376228" y="176947"/>
                  <a:pt x="377119" y="185855"/>
                  <a:pt x="372665" y="192472"/>
                </a:cubicBezTo>
                <a:lnTo>
                  <a:pt x="357840" y="214678"/>
                </a:lnTo>
                <a:cubicBezTo>
                  <a:pt x="359049" y="217669"/>
                  <a:pt x="360130" y="220787"/>
                  <a:pt x="361021" y="224032"/>
                </a:cubicBezTo>
                <a:cubicBezTo>
                  <a:pt x="361912" y="227277"/>
                  <a:pt x="362484" y="230458"/>
                  <a:pt x="362930" y="233703"/>
                </a:cubicBezTo>
                <a:lnTo>
                  <a:pt x="386917" y="245538"/>
                </a:lnTo>
                <a:cubicBezTo>
                  <a:pt x="394107" y="249101"/>
                  <a:pt x="397798" y="257245"/>
                  <a:pt x="395698" y="264944"/>
                </a:cubicBezTo>
                <a:lnTo>
                  <a:pt x="391244" y="281614"/>
                </a:lnTo>
                <a:cubicBezTo>
                  <a:pt x="389144" y="289313"/>
                  <a:pt x="381954" y="294531"/>
                  <a:pt x="373937" y="294022"/>
                </a:cubicBezTo>
                <a:lnTo>
                  <a:pt x="347214" y="292304"/>
                </a:lnTo>
                <a:cubicBezTo>
                  <a:pt x="343205" y="297457"/>
                  <a:pt x="338561" y="302229"/>
                  <a:pt x="333280" y="306302"/>
                </a:cubicBezTo>
                <a:lnTo>
                  <a:pt x="334997" y="332961"/>
                </a:lnTo>
                <a:cubicBezTo>
                  <a:pt x="335507" y="340978"/>
                  <a:pt x="330289" y="348232"/>
                  <a:pt x="322590" y="350268"/>
                </a:cubicBezTo>
                <a:lnTo>
                  <a:pt x="305920" y="354722"/>
                </a:lnTo>
                <a:cubicBezTo>
                  <a:pt x="298157" y="356822"/>
                  <a:pt x="290077" y="353131"/>
                  <a:pt x="286514" y="345941"/>
                </a:cubicBezTo>
                <a:lnTo>
                  <a:pt x="274679" y="322018"/>
                </a:lnTo>
                <a:cubicBezTo>
                  <a:pt x="268125" y="321127"/>
                  <a:pt x="261699" y="319345"/>
                  <a:pt x="255654" y="316864"/>
                </a:cubicBezTo>
                <a:lnTo>
                  <a:pt x="233385" y="331689"/>
                </a:lnTo>
                <a:cubicBezTo>
                  <a:pt x="226704" y="336143"/>
                  <a:pt x="217860" y="335252"/>
                  <a:pt x="212197" y="329589"/>
                </a:cubicBezTo>
                <a:lnTo>
                  <a:pt x="199980" y="317373"/>
                </a:lnTo>
                <a:cubicBezTo>
                  <a:pt x="194318" y="311710"/>
                  <a:pt x="193427" y="302866"/>
                  <a:pt x="197881" y="296185"/>
                </a:cubicBezTo>
                <a:lnTo>
                  <a:pt x="212706" y="273915"/>
                </a:lnTo>
                <a:cubicBezTo>
                  <a:pt x="211497" y="270925"/>
                  <a:pt x="210415" y="267807"/>
                  <a:pt x="209525" y="264562"/>
                </a:cubicBezTo>
                <a:cubicBezTo>
                  <a:pt x="208634" y="261317"/>
                  <a:pt x="208061" y="258072"/>
                  <a:pt x="207616" y="254891"/>
                </a:cubicBezTo>
                <a:lnTo>
                  <a:pt x="183628" y="243056"/>
                </a:lnTo>
                <a:cubicBezTo>
                  <a:pt x="176438" y="239493"/>
                  <a:pt x="172812" y="231349"/>
                  <a:pt x="174848" y="223650"/>
                </a:cubicBezTo>
                <a:lnTo>
                  <a:pt x="179302" y="206979"/>
                </a:lnTo>
                <a:cubicBezTo>
                  <a:pt x="181401" y="199281"/>
                  <a:pt x="188591" y="194063"/>
                  <a:pt x="196608" y="194572"/>
                </a:cubicBezTo>
                <a:lnTo>
                  <a:pt x="223268" y="196290"/>
                </a:lnTo>
                <a:cubicBezTo>
                  <a:pt x="227277" y="191136"/>
                  <a:pt x="231921" y="186364"/>
                  <a:pt x="237202" y="182292"/>
                </a:cubicBezTo>
                <a:lnTo>
                  <a:pt x="235484" y="155696"/>
                </a:lnTo>
                <a:cubicBezTo>
                  <a:pt x="234975" y="147679"/>
                  <a:pt x="240193" y="140425"/>
                  <a:pt x="247892" y="138389"/>
                </a:cubicBezTo>
                <a:lnTo>
                  <a:pt x="264562" y="133935"/>
                </a:lnTo>
                <a:close/>
                <a:moveTo>
                  <a:pt x="285305" y="216333"/>
                </a:moveTo>
                <a:cubicBezTo>
                  <a:pt x="269853" y="216350"/>
                  <a:pt x="257323" y="228909"/>
                  <a:pt x="257340" y="244360"/>
                </a:cubicBezTo>
                <a:cubicBezTo>
                  <a:pt x="257358" y="259812"/>
                  <a:pt x="269917" y="272342"/>
                  <a:pt x="285368" y="272325"/>
                </a:cubicBezTo>
                <a:cubicBezTo>
                  <a:pt x="300820" y="272307"/>
                  <a:pt x="313350" y="259748"/>
                  <a:pt x="313332" y="244297"/>
                </a:cubicBezTo>
                <a:cubicBezTo>
                  <a:pt x="313315" y="228845"/>
                  <a:pt x="300756" y="216315"/>
                  <a:pt x="285305" y="216333"/>
                </a:cubicBezTo>
                <a:close/>
                <a:moveTo>
                  <a:pt x="143098" y="-28950"/>
                </a:moveTo>
                <a:lnTo>
                  <a:pt x="159768" y="-24496"/>
                </a:lnTo>
                <a:cubicBezTo>
                  <a:pt x="167467" y="-22397"/>
                  <a:pt x="172684" y="-15143"/>
                  <a:pt x="172175" y="-7190"/>
                </a:cubicBezTo>
                <a:lnTo>
                  <a:pt x="170457" y="19406"/>
                </a:lnTo>
                <a:cubicBezTo>
                  <a:pt x="175738" y="23478"/>
                  <a:pt x="180383" y="28187"/>
                  <a:pt x="184392" y="33404"/>
                </a:cubicBezTo>
                <a:lnTo>
                  <a:pt x="211115" y="31686"/>
                </a:lnTo>
                <a:cubicBezTo>
                  <a:pt x="219069" y="31177"/>
                  <a:pt x="226322" y="36395"/>
                  <a:pt x="228422" y="44094"/>
                </a:cubicBezTo>
                <a:lnTo>
                  <a:pt x="232876" y="60764"/>
                </a:lnTo>
                <a:cubicBezTo>
                  <a:pt x="234912" y="68463"/>
                  <a:pt x="231285" y="76607"/>
                  <a:pt x="224095" y="80170"/>
                </a:cubicBezTo>
                <a:lnTo>
                  <a:pt x="200108" y="92005"/>
                </a:lnTo>
                <a:cubicBezTo>
                  <a:pt x="199662" y="95250"/>
                  <a:pt x="199026" y="98495"/>
                  <a:pt x="198199" y="101676"/>
                </a:cubicBezTo>
                <a:cubicBezTo>
                  <a:pt x="197372" y="104858"/>
                  <a:pt x="196226" y="108039"/>
                  <a:pt x="195018" y="111030"/>
                </a:cubicBezTo>
                <a:lnTo>
                  <a:pt x="209843" y="133299"/>
                </a:lnTo>
                <a:cubicBezTo>
                  <a:pt x="214297" y="139980"/>
                  <a:pt x="213406" y="148824"/>
                  <a:pt x="207743" y="154487"/>
                </a:cubicBezTo>
                <a:lnTo>
                  <a:pt x="195527" y="166703"/>
                </a:lnTo>
                <a:cubicBezTo>
                  <a:pt x="189864" y="172366"/>
                  <a:pt x="181020" y="173257"/>
                  <a:pt x="174339" y="168803"/>
                </a:cubicBezTo>
                <a:lnTo>
                  <a:pt x="152069" y="153978"/>
                </a:lnTo>
                <a:cubicBezTo>
                  <a:pt x="146025" y="156459"/>
                  <a:pt x="139598" y="158241"/>
                  <a:pt x="133045" y="159132"/>
                </a:cubicBezTo>
                <a:lnTo>
                  <a:pt x="121210" y="183056"/>
                </a:lnTo>
                <a:cubicBezTo>
                  <a:pt x="117647" y="190245"/>
                  <a:pt x="109503" y="193872"/>
                  <a:pt x="101804" y="191836"/>
                </a:cubicBezTo>
                <a:lnTo>
                  <a:pt x="85133" y="187382"/>
                </a:lnTo>
                <a:cubicBezTo>
                  <a:pt x="77371" y="185283"/>
                  <a:pt x="72217" y="178029"/>
                  <a:pt x="72726" y="170076"/>
                </a:cubicBezTo>
                <a:lnTo>
                  <a:pt x="74444" y="143416"/>
                </a:lnTo>
                <a:cubicBezTo>
                  <a:pt x="69163" y="139344"/>
                  <a:pt x="64518" y="134635"/>
                  <a:pt x="60510" y="129418"/>
                </a:cubicBezTo>
                <a:lnTo>
                  <a:pt x="33786" y="131136"/>
                </a:lnTo>
                <a:cubicBezTo>
                  <a:pt x="25833" y="131645"/>
                  <a:pt x="18579" y="126427"/>
                  <a:pt x="16479" y="118728"/>
                </a:cubicBezTo>
                <a:lnTo>
                  <a:pt x="12026" y="102058"/>
                </a:lnTo>
                <a:cubicBezTo>
                  <a:pt x="9989" y="94359"/>
                  <a:pt x="13616" y="86215"/>
                  <a:pt x="20806" y="82652"/>
                </a:cubicBezTo>
                <a:lnTo>
                  <a:pt x="44794" y="70817"/>
                </a:lnTo>
                <a:cubicBezTo>
                  <a:pt x="45239" y="67572"/>
                  <a:pt x="45875" y="64391"/>
                  <a:pt x="46702" y="61146"/>
                </a:cubicBezTo>
                <a:cubicBezTo>
                  <a:pt x="47593" y="57901"/>
                  <a:pt x="48611" y="54783"/>
                  <a:pt x="49884" y="51793"/>
                </a:cubicBezTo>
                <a:lnTo>
                  <a:pt x="35059" y="29587"/>
                </a:lnTo>
                <a:cubicBezTo>
                  <a:pt x="30605" y="22906"/>
                  <a:pt x="31495" y="14062"/>
                  <a:pt x="37158" y="8399"/>
                </a:cubicBezTo>
                <a:lnTo>
                  <a:pt x="49375" y="-3818"/>
                </a:lnTo>
                <a:cubicBezTo>
                  <a:pt x="55038" y="-9480"/>
                  <a:pt x="63882" y="-10371"/>
                  <a:pt x="70563" y="-5917"/>
                </a:cubicBezTo>
                <a:lnTo>
                  <a:pt x="92832" y="8908"/>
                </a:lnTo>
                <a:cubicBezTo>
                  <a:pt x="98877" y="6426"/>
                  <a:pt x="105303" y="4645"/>
                  <a:pt x="111857" y="3754"/>
                </a:cubicBezTo>
                <a:lnTo>
                  <a:pt x="123691" y="-20170"/>
                </a:lnTo>
                <a:cubicBezTo>
                  <a:pt x="127255" y="-27360"/>
                  <a:pt x="135335" y="-30986"/>
                  <a:pt x="143098" y="-28950"/>
                </a:cubicBezTo>
                <a:close/>
                <a:moveTo>
                  <a:pt x="122419" y="53447"/>
                </a:moveTo>
                <a:cubicBezTo>
                  <a:pt x="106967" y="53447"/>
                  <a:pt x="94423" y="65991"/>
                  <a:pt x="94423" y="81443"/>
                </a:cubicBezTo>
                <a:cubicBezTo>
                  <a:pt x="94423" y="96894"/>
                  <a:pt x="106967" y="109439"/>
                  <a:pt x="122419" y="109439"/>
                </a:cubicBezTo>
                <a:cubicBezTo>
                  <a:pt x="137870" y="109439"/>
                  <a:pt x="150415" y="96894"/>
                  <a:pt x="150415" y="81443"/>
                </a:cubicBezTo>
                <a:cubicBezTo>
                  <a:pt x="150415" y="65991"/>
                  <a:pt x="137870" y="53447"/>
                  <a:pt x="122419" y="5344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85422" y="1976347"/>
            <a:ext cx="7427591" cy="34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 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5422" y="2323837"/>
            <a:ext cx="7384155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每个应用专用的管理器实例，运行在集群的容器中，负责应用的资源协商、任务调度和执行监控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6697" y="2801635"/>
            <a:ext cx="4821419" cy="2041502"/>
          </a:xfrm>
          <a:custGeom>
            <a:avLst/>
            <a:gdLst/>
            <a:ahLst/>
            <a:cxnLst/>
            <a:rect l="l" t="t" r="r" b="b"/>
            <a:pathLst>
              <a:path w="4821419" h="2041502">
                <a:moveTo>
                  <a:pt x="43443" y="0"/>
                </a:moveTo>
                <a:lnTo>
                  <a:pt x="4777976" y="0"/>
                </a:lnTo>
                <a:cubicBezTo>
                  <a:pt x="4801969" y="0"/>
                  <a:pt x="4821419" y="19450"/>
                  <a:pt x="4821419" y="43443"/>
                </a:cubicBezTo>
                <a:lnTo>
                  <a:pt x="4821419" y="1998059"/>
                </a:lnTo>
                <a:cubicBezTo>
                  <a:pt x="4821419" y="2022052"/>
                  <a:pt x="4801969" y="2041502"/>
                  <a:pt x="4777976" y="2041502"/>
                </a:cubicBezTo>
                <a:lnTo>
                  <a:pt x="43443" y="2041502"/>
                </a:lnTo>
                <a:cubicBezTo>
                  <a:pt x="19450" y="2041502"/>
                  <a:pt x="0" y="2022052"/>
                  <a:pt x="0" y="1998059"/>
                </a:cubicBezTo>
                <a:lnTo>
                  <a:pt x="0" y="43443"/>
                </a:lnTo>
                <a:cubicBezTo>
                  <a:pt x="0" y="19466"/>
                  <a:pt x="19466" y="0"/>
                  <a:pt x="434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04016" y="3018816"/>
            <a:ext cx="244329" cy="217181"/>
          </a:xfrm>
          <a:custGeom>
            <a:avLst/>
            <a:gdLst/>
            <a:ahLst/>
            <a:cxnLst/>
            <a:rect l="l" t="t" r="r" b="b"/>
            <a:pathLst>
              <a:path w="244329" h="217181">
                <a:moveTo>
                  <a:pt x="114062" y="36140"/>
                </a:moveTo>
                <a:lnTo>
                  <a:pt x="64603" y="91114"/>
                </a:lnTo>
                <a:cubicBezTo>
                  <a:pt x="62652" y="93278"/>
                  <a:pt x="62736" y="96629"/>
                  <a:pt x="64815" y="98707"/>
                </a:cubicBezTo>
                <a:cubicBezTo>
                  <a:pt x="77753" y="111645"/>
                  <a:pt x="98749" y="111645"/>
                  <a:pt x="111687" y="98707"/>
                </a:cubicBezTo>
                <a:lnTo>
                  <a:pt x="125176" y="85218"/>
                </a:lnTo>
                <a:cubicBezTo>
                  <a:pt x="126958" y="83437"/>
                  <a:pt x="129206" y="82461"/>
                  <a:pt x="131496" y="82291"/>
                </a:cubicBezTo>
                <a:cubicBezTo>
                  <a:pt x="134381" y="82037"/>
                  <a:pt x="137350" y="83012"/>
                  <a:pt x="139556" y="85218"/>
                </a:cubicBezTo>
                <a:lnTo>
                  <a:pt x="214466" y="159492"/>
                </a:lnTo>
                <a:lnTo>
                  <a:pt x="244329" y="135738"/>
                </a:lnTo>
                <a:lnTo>
                  <a:pt x="244329" y="13574"/>
                </a:lnTo>
                <a:lnTo>
                  <a:pt x="196820" y="40721"/>
                </a:lnTo>
                <a:lnTo>
                  <a:pt x="186725" y="33977"/>
                </a:lnTo>
                <a:cubicBezTo>
                  <a:pt x="180023" y="29523"/>
                  <a:pt x="172175" y="27148"/>
                  <a:pt x="164116" y="27148"/>
                </a:cubicBezTo>
                <a:lnTo>
                  <a:pt x="134254" y="27148"/>
                </a:lnTo>
                <a:cubicBezTo>
                  <a:pt x="133787" y="27148"/>
                  <a:pt x="133278" y="27148"/>
                  <a:pt x="132811" y="27190"/>
                </a:cubicBezTo>
                <a:cubicBezTo>
                  <a:pt x="125643" y="27572"/>
                  <a:pt x="118898" y="30796"/>
                  <a:pt x="114062" y="36140"/>
                </a:cubicBezTo>
                <a:close/>
                <a:moveTo>
                  <a:pt x="49460" y="77498"/>
                </a:moveTo>
                <a:lnTo>
                  <a:pt x="94762" y="27148"/>
                </a:lnTo>
                <a:lnTo>
                  <a:pt x="77965" y="27148"/>
                </a:lnTo>
                <a:cubicBezTo>
                  <a:pt x="67148" y="27148"/>
                  <a:pt x="56798" y="31432"/>
                  <a:pt x="49163" y="39067"/>
                </a:cubicBezTo>
                <a:lnTo>
                  <a:pt x="47508" y="40721"/>
                </a:lnTo>
                <a:lnTo>
                  <a:pt x="0" y="13574"/>
                </a:lnTo>
                <a:lnTo>
                  <a:pt x="0" y="135738"/>
                </a:lnTo>
                <a:lnTo>
                  <a:pt x="66342" y="191009"/>
                </a:lnTo>
                <a:cubicBezTo>
                  <a:pt x="76098" y="199153"/>
                  <a:pt x="88399" y="203607"/>
                  <a:pt x="101082" y="203607"/>
                </a:cubicBezTo>
                <a:lnTo>
                  <a:pt x="107742" y="203607"/>
                </a:lnTo>
                <a:lnTo>
                  <a:pt x="104773" y="200638"/>
                </a:lnTo>
                <a:cubicBezTo>
                  <a:pt x="100786" y="196651"/>
                  <a:pt x="100786" y="190203"/>
                  <a:pt x="104773" y="186258"/>
                </a:cubicBezTo>
                <a:cubicBezTo>
                  <a:pt x="108760" y="182313"/>
                  <a:pt x="115208" y="182271"/>
                  <a:pt x="119153" y="186258"/>
                </a:cubicBezTo>
                <a:lnTo>
                  <a:pt x="136544" y="203650"/>
                </a:lnTo>
                <a:lnTo>
                  <a:pt x="140362" y="203650"/>
                </a:lnTo>
                <a:cubicBezTo>
                  <a:pt x="148464" y="203650"/>
                  <a:pt x="156396" y="201826"/>
                  <a:pt x="163607" y="198432"/>
                </a:cubicBezTo>
                <a:lnTo>
                  <a:pt x="152281" y="187064"/>
                </a:lnTo>
                <a:cubicBezTo>
                  <a:pt x="148294" y="183077"/>
                  <a:pt x="148294" y="176629"/>
                  <a:pt x="152281" y="172684"/>
                </a:cubicBezTo>
                <a:cubicBezTo>
                  <a:pt x="156269" y="168739"/>
                  <a:pt x="162716" y="168697"/>
                  <a:pt x="166661" y="172684"/>
                </a:cubicBezTo>
                <a:lnTo>
                  <a:pt x="180235" y="186258"/>
                </a:lnTo>
                <a:lnTo>
                  <a:pt x="187658" y="178835"/>
                </a:lnTo>
                <a:cubicBezTo>
                  <a:pt x="191433" y="175060"/>
                  <a:pt x="192536" y="169588"/>
                  <a:pt x="190882" y="164795"/>
                </a:cubicBezTo>
                <a:lnTo>
                  <a:pt x="132387" y="106767"/>
                </a:lnTo>
                <a:lnTo>
                  <a:pt x="126067" y="113087"/>
                </a:lnTo>
                <a:cubicBezTo>
                  <a:pt x="105155" y="133999"/>
                  <a:pt x="71305" y="133999"/>
                  <a:pt x="50393" y="113087"/>
                </a:cubicBezTo>
                <a:cubicBezTo>
                  <a:pt x="40637" y="103331"/>
                  <a:pt x="40255" y="87678"/>
                  <a:pt x="49460" y="7745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48791" y="2975380"/>
            <a:ext cx="1465972" cy="30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资源协商与管理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0442" y="3366306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根据应用需求向RM请求资源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0442" y="3670359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动态资源申请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0442" y="3930977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实时调整配置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0442" y="4191594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资源释放管理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0442" y="4452211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成本优化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2801635"/>
            <a:ext cx="4821419" cy="2041502"/>
          </a:xfrm>
          <a:custGeom>
            <a:avLst/>
            <a:gdLst/>
            <a:ahLst/>
            <a:cxnLst/>
            <a:rect l="l" t="t" r="r" b="b"/>
            <a:pathLst>
              <a:path w="4821419" h="2041502">
                <a:moveTo>
                  <a:pt x="43443" y="0"/>
                </a:moveTo>
                <a:lnTo>
                  <a:pt x="4777976" y="0"/>
                </a:lnTo>
                <a:cubicBezTo>
                  <a:pt x="4801969" y="0"/>
                  <a:pt x="4821419" y="19450"/>
                  <a:pt x="4821419" y="43443"/>
                </a:cubicBezTo>
                <a:lnTo>
                  <a:pt x="4821419" y="1998059"/>
                </a:lnTo>
                <a:cubicBezTo>
                  <a:pt x="4821419" y="2022052"/>
                  <a:pt x="4801969" y="2041502"/>
                  <a:pt x="4777976" y="2041502"/>
                </a:cubicBezTo>
                <a:lnTo>
                  <a:pt x="43443" y="2041502"/>
                </a:lnTo>
                <a:cubicBezTo>
                  <a:pt x="19450" y="2041502"/>
                  <a:pt x="0" y="2022052"/>
                  <a:pt x="0" y="1998059"/>
                </a:cubicBezTo>
                <a:lnTo>
                  <a:pt x="0" y="43443"/>
                </a:lnTo>
                <a:cubicBezTo>
                  <a:pt x="0" y="19466"/>
                  <a:pt x="19466" y="0"/>
                  <a:pt x="434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915892" y="3018816"/>
            <a:ext cx="217181" cy="217181"/>
          </a:xfrm>
          <a:custGeom>
            <a:avLst/>
            <a:gdLst/>
            <a:ahLst/>
            <a:cxnLst/>
            <a:rect l="l" t="t" r="r" b="b"/>
            <a:pathLst>
              <a:path w="217181" h="217181">
                <a:moveTo>
                  <a:pt x="56756" y="15398"/>
                </a:moveTo>
                <a:cubicBezTo>
                  <a:pt x="61379" y="18622"/>
                  <a:pt x="62482" y="24984"/>
                  <a:pt x="59258" y="29565"/>
                </a:cubicBezTo>
                <a:lnTo>
                  <a:pt x="35504" y="63500"/>
                </a:lnTo>
                <a:cubicBezTo>
                  <a:pt x="33765" y="65960"/>
                  <a:pt x="31050" y="67530"/>
                  <a:pt x="28038" y="67784"/>
                </a:cubicBezTo>
                <a:cubicBezTo>
                  <a:pt x="25027" y="68039"/>
                  <a:pt x="22057" y="67021"/>
                  <a:pt x="19937" y="64900"/>
                </a:cubicBezTo>
                <a:lnTo>
                  <a:pt x="2969" y="47933"/>
                </a:lnTo>
                <a:cubicBezTo>
                  <a:pt x="-976" y="43945"/>
                  <a:pt x="-976" y="37498"/>
                  <a:pt x="2969" y="33510"/>
                </a:cubicBezTo>
                <a:cubicBezTo>
                  <a:pt x="6914" y="29523"/>
                  <a:pt x="13404" y="29565"/>
                  <a:pt x="17391" y="33510"/>
                </a:cubicBezTo>
                <a:lnTo>
                  <a:pt x="25790" y="41909"/>
                </a:lnTo>
                <a:lnTo>
                  <a:pt x="42588" y="17900"/>
                </a:lnTo>
                <a:cubicBezTo>
                  <a:pt x="45812" y="13277"/>
                  <a:pt x="52174" y="12174"/>
                  <a:pt x="56756" y="15398"/>
                </a:cubicBezTo>
                <a:close/>
                <a:moveTo>
                  <a:pt x="56756" y="83267"/>
                </a:moveTo>
                <a:cubicBezTo>
                  <a:pt x="61379" y="86491"/>
                  <a:pt x="62482" y="92853"/>
                  <a:pt x="59258" y="97435"/>
                </a:cubicBezTo>
                <a:lnTo>
                  <a:pt x="35504" y="131369"/>
                </a:lnTo>
                <a:cubicBezTo>
                  <a:pt x="33765" y="133829"/>
                  <a:pt x="31050" y="135399"/>
                  <a:pt x="28038" y="135653"/>
                </a:cubicBezTo>
                <a:cubicBezTo>
                  <a:pt x="25027" y="135908"/>
                  <a:pt x="22057" y="134890"/>
                  <a:pt x="19937" y="132769"/>
                </a:cubicBezTo>
                <a:lnTo>
                  <a:pt x="2969" y="115802"/>
                </a:lnTo>
                <a:cubicBezTo>
                  <a:pt x="-1018" y="111814"/>
                  <a:pt x="-1018" y="105367"/>
                  <a:pt x="2969" y="101422"/>
                </a:cubicBezTo>
                <a:cubicBezTo>
                  <a:pt x="6957" y="97477"/>
                  <a:pt x="13404" y="97435"/>
                  <a:pt x="17349" y="101422"/>
                </a:cubicBezTo>
                <a:lnTo>
                  <a:pt x="25748" y="109821"/>
                </a:lnTo>
                <a:lnTo>
                  <a:pt x="42545" y="85812"/>
                </a:lnTo>
                <a:cubicBezTo>
                  <a:pt x="45769" y="81188"/>
                  <a:pt x="52132" y="80086"/>
                  <a:pt x="56713" y="83309"/>
                </a:cubicBezTo>
                <a:close/>
                <a:moveTo>
                  <a:pt x="95017" y="40721"/>
                </a:moveTo>
                <a:cubicBezTo>
                  <a:pt x="95017" y="33213"/>
                  <a:pt x="101082" y="27148"/>
                  <a:pt x="108591" y="27148"/>
                </a:cubicBezTo>
                <a:lnTo>
                  <a:pt x="203607" y="27148"/>
                </a:lnTo>
                <a:cubicBezTo>
                  <a:pt x="211115" y="27148"/>
                  <a:pt x="217181" y="33213"/>
                  <a:pt x="217181" y="40721"/>
                </a:cubicBezTo>
                <a:cubicBezTo>
                  <a:pt x="217181" y="48229"/>
                  <a:pt x="211115" y="54295"/>
                  <a:pt x="203607" y="54295"/>
                </a:cubicBezTo>
                <a:lnTo>
                  <a:pt x="108591" y="54295"/>
                </a:lnTo>
                <a:cubicBezTo>
                  <a:pt x="101082" y="54295"/>
                  <a:pt x="95017" y="48229"/>
                  <a:pt x="95017" y="40721"/>
                </a:cubicBezTo>
                <a:close/>
                <a:moveTo>
                  <a:pt x="95017" y="108591"/>
                </a:moveTo>
                <a:cubicBezTo>
                  <a:pt x="95017" y="101082"/>
                  <a:pt x="101082" y="95017"/>
                  <a:pt x="108591" y="95017"/>
                </a:cubicBezTo>
                <a:lnTo>
                  <a:pt x="203607" y="95017"/>
                </a:lnTo>
                <a:cubicBezTo>
                  <a:pt x="211115" y="95017"/>
                  <a:pt x="217181" y="101082"/>
                  <a:pt x="217181" y="108591"/>
                </a:cubicBezTo>
                <a:cubicBezTo>
                  <a:pt x="217181" y="116099"/>
                  <a:pt x="211115" y="122164"/>
                  <a:pt x="203607" y="122164"/>
                </a:cubicBezTo>
                <a:lnTo>
                  <a:pt x="108591" y="122164"/>
                </a:lnTo>
                <a:cubicBezTo>
                  <a:pt x="101082" y="122164"/>
                  <a:pt x="95017" y="116099"/>
                  <a:pt x="95017" y="108591"/>
                </a:cubicBezTo>
                <a:close/>
                <a:moveTo>
                  <a:pt x="67869" y="176460"/>
                </a:moveTo>
                <a:cubicBezTo>
                  <a:pt x="67869" y="168952"/>
                  <a:pt x="73935" y="162886"/>
                  <a:pt x="81443" y="162886"/>
                </a:cubicBezTo>
                <a:lnTo>
                  <a:pt x="203607" y="162886"/>
                </a:lnTo>
                <a:cubicBezTo>
                  <a:pt x="211115" y="162886"/>
                  <a:pt x="217181" y="168952"/>
                  <a:pt x="217181" y="176460"/>
                </a:cubicBezTo>
                <a:cubicBezTo>
                  <a:pt x="217181" y="183968"/>
                  <a:pt x="211115" y="190033"/>
                  <a:pt x="203607" y="190033"/>
                </a:cubicBezTo>
                <a:lnTo>
                  <a:pt x="81443" y="190033"/>
                </a:lnTo>
                <a:cubicBezTo>
                  <a:pt x="73935" y="190033"/>
                  <a:pt x="67869" y="183968"/>
                  <a:pt x="67869" y="176460"/>
                </a:cubicBezTo>
                <a:close/>
                <a:moveTo>
                  <a:pt x="27148" y="159492"/>
                </a:moveTo>
                <a:cubicBezTo>
                  <a:pt x="36512" y="159492"/>
                  <a:pt x="44115" y="167095"/>
                  <a:pt x="44115" y="176460"/>
                </a:cubicBezTo>
                <a:cubicBezTo>
                  <a:pt x="44115" y="185824"/>
                  <a:pt x="36512" y="193427"/>
                  <a:pt x="27148" y="193427"/>
                </a:cubicBezTo>
                <a:cubicBezTo>
                  <a:pt x="17783" y="193427"/>
                  <a:pt x="10180" y="185824"/>
                  <a:pt x="10180" y="176460"/>
                </a:cubicBezTo>
                <a:cubicBezTo>
                  <a:pt x="10180" y="167095"/>
                  <a:pt x="17783" y="159492"/>
                  <a:pt x="27148" y="15949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47094" y="2975380"/>
            <a:ext cx="1465972" cy="30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任务调度与优化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88745" y="3366306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将任务调度到相应的容器中执行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88745" y="3670359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数据本地性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88745" y="3930977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资源需求匹配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88745" y="4191594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智能调度策略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88745" y="4452211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性能优化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13387" y="2801635"/>
            <a:ext cx="4821419" cy="2041502"/>
          </a:xfrm>
          <a:custGeom>
            <a:avLst/>
            <a:gdLst/>
            <a:ahLst/>
            <a:cxnLst/>
            <a:rect l="l" t="t" r="r" b="b"/>
            <a:pathLst>
              <a:path w="4821419" h="2041502">
                <a:moveTo>
                  <a:pt x="43443" y="0"/>
                </a:moveTo>
                <a:lnTo>
                  <a:pt x="4777976" y="0"/>
                </a:lnTo>
                <a:cubicBezTo>
                  <a:pt x="4801969" y="0"/>
                  <a:pt x="4821419" y="19450"/>
                  <a:pt x="4821419" y="43443"/>
                </a:cubicBezTo>
                <a:lnTo>
                  <a:pt x="4821419" y="1998059"/>
                </a:lnTo>
                <a:cubicBezTo>
                  <a:pt x="4821419" y="2022052"/>
                  <a:pt x="4801969" y="2041502"/>
                  <a:pt x="4777976" y="2041502"/>
                </a:cubicBezTo>
                <a:lnTo>
                  <a:pt x="43443" y="2041502"/>
                </a:lnTo>
                <a:cubicBezTo>
                  <a:pt x="19450" y="2041502"/>
                  <a:pt x="0" y="2022052"/>
                  <a:pt x="0" y="1998059"/>
                </a:cubicBezTo>
                <a:lnTo>
                  <a:pt x="0" y="43443"/>
                </a:lnTo>
                <a:cubicBezTo>
                  <a:pt x="0" y="19466"/>
                  <a:pt x="19466" y="0"/>
                  <a:pt x="43443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914280" y="3018816"/>
            <a:ext cx="217181" cy="217181"/>
          </a:xfrm>
          <a:custGeom>
            <a:avLst/>
            <a:gdLst/>
            <a:ahLst/>
            <a:cxnLst/>
            <a:rect l="l" t="t" r="r" b="b"/>
            <a:pathLst>
              <a:path w="217181" h="217181">
                <a:moveTo>
                  <a:pt x="108591" y="0"/>
                </a:moveTo>
                <a:cubicBezTo>
                  <a:pt x="110542" y="0"/>
                  <a:pt x="112493" y="424"/>
                  <a:pt x="114275" y="1230"/>
                </a:cubicBezTo>
                <a:lnTo>
                  <a:pt x="194190" y="35122"/>
                </a:lnTo>
                <a:cubicBezTo>
                  <a:pt x="203522" y="39067"/>
                  <a:pt x="210479" y="48272"/>
                  <a:pt x="210437" y="59385"/>
                </a:cubicBezTo>
                <a:cubicBezTo>
                  <a:pt x="210224" y="101464"/>
                  <a:pt x="192918" y="178453"/>
                  <a:pt x="119831" y="213448"/>
                </a:cubicBezTo>
                <a:cubicBezTo>
                  <a:pt x="112747" y="216842"/>
                  <a:pt x="104518" y="216842"/>
                  <a:pt x="97435" y="213448"/>
                </a:cubicBezTo>
                <a:cubicBezTo>
                  <a:pt x="24306" y="178453"/>
                  <a:pt x="7041" y="101464"/>
                  <a:pt x="6829" y="59385"/>
                </a:cubicBezTo>
                <a:cubicBezTo>
                  <a:pt x="6787" y="48272"/>
                  <a:pt x="13743" y="39067"/>
                  <a:pt x="23075" y="35122"/>
                </a:cubicBezTo>
                <a:lnTo>
                  <a:pt x="102949" y="1230"/>
                </a:lnTo>
                <a:cubicBezTo>
                  <a:pt x="104730" y="424"/>
                  <a:pt x="106639" y="0"/>
                  <a:pt x="108591" y="0"/>
                </a:cubicBezTo>
                <a:close/>
                <a:moveTo>
                  <a:pt x="108591" y="28335"/>
                </a:moveTo>
                <a:lnTo>
                  <a:pt x="108591" y="188718"/>
                </a:lnTo>
                <a:cubicBezTo>
                  <a:pt x="167128" y="160383"/>
                  <a:pt x="182865" y="97604"/>
                  <a:pt x="183246" y="60022"/>
                </a:cubicBezTo>
                <a:lnTo>
                  <a:pt x="108591" y="28378"/>
                </a:lnTo>
                <a:lnTo>
                  <a:pt x="108591" y="2837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245481" y="2975380"/>
            <a:ext cx="1465972" cy="30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故障处理与容错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87132" y="3366306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处理各种异常情况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87132" y="3670359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任务失败重试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87132" y="3930977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容器异常处理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87132" y="4191594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节点故障恢复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87132" y="4452211"/>
            <a:ext cx="4549943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状态恢复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792" y="5304647"/>
            <a:ext cx="7590477" cy="3398883"/>
          </a:xfrm>
          <a:custGeom>
            <a:avLst/>
            <a:gdLst/>
            <a:ahLst/>
            <a:cxnLst/>
            <a:rect l="l" t="t" r="r" b="b"/>
            <a:pathLst>
              <a:path w="7590477" h="3398883">
                <a:moveTo>
                  <a:pt x="86875" y="0"/>
                </a:moveTo>
                <a:lnTo>
                  <a:pt x="7503602" y="0"/>
                </a:lnTo>
                <a:cubicBezTo>
                  <a:pt x="7551581" y="0"/>
                  <a:pt x="7590477" y="38895"/>
                  <a:pt x="7590477" y="86875"/>
                </a:cubicBezTo>
                <a:lnTo>
                  <a:pt x="7590477" y="3312008"/>
                </a:lnTo>
                <a:cubicBezTo>
                  <a:pt x="7590477" y="3359988"/>
                  <a:pt x="7551581" y="3398883"/>
                  <a:pt x="7503602" y="3398883"/>
                </a:cubicBezTo>
                <a:lnTo>
                  <a:pt x="86875" y="3398883"/>
                </a:lnTo>
                <a:cubicBezTo>
                  <a:pt x="38895" y="3398883"/>
                  <a:pt x="0" y="3359988"/>
                  <a:pt x="0" y="3312008"/>
                </a:cubicBezTo>
                <a:lnTo>
                  <a:pt x="0" y="86875"/>
                </a:lnTo>
                <a:cubicBezTo>
                  <a:pt x="0" y="38928"/>
                  <a:pt x="38928" y="0"/>
                  <a:pt x="8687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62402" y="5527257"/>
            <a:ext cx="7253846" cy="30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AM与RM的交互协议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2402" y="5961619"/>
            <a:ext cx="347490" cy="347490"/>
          </a:xfrm>
          <a:custGeom>
            <a:avLst/>
            <a:gdLst/>
            <a:ahLst/>
            <a:cxnLst/>
            <a:rect l="l" t="t" r="r" b="b"/>
            <a:pathLst>
              <a:path w="347490" h="347490">
                <a:moveTo>
                  <a:pt x="173745" y="0"/>
                </a:moveTo>
                <a:lnTo>
                  <a:pt x="173745" y="0"/>
                </a:lnTo>
                <a:cubicBezTo>
                  <a:pt x="269637" y="0"/>
                  <a:pt x="347490" y="77852"/>
                  <a:pt x="347490" y="173745"/>
                </a:cubicBezTo>
                <a:lnTo>
                  <a:pt x="347490" y="173745"/>
                </a:lnTo>
                <a:cubicBezTo>
                  <a:pt x="347490" y="269637"/>
                  <a:pt x="269637" y="347490"/>
                  <a:pt x="173745" y="347490"/>
                </a:cubicBezTo>
                <a:lnTo>
                  <a:pt x="173745" y="347490"/>
                </a:lnTo>
                <a:cubicBezTo>
                  <a:pt x="77852" y="347490"/>
                  <a:pt x="0" y="269637"/>
                  <a:pt x="0" y="173745"/>
                </a:cubicBezTo>
                <a:lnTo>
                  <a:pt x="0" y="173745"/>
                </a:lnTo>
                <a:cubicBezTo>
                  <a:pt x="0" y="77852"/>
                  <a:pt x="77852" y="0"/>
                  <a:pt x="17374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06200" y="6026774"/>
            <a:ext cx="141168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0200" y="6005055"/>
            <a:ext cx="1140200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AM向RM注册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2402" y="6439418"/>
            <a:ext cx="347490" cy="347490"/>
          </a:xfrm>
          <a:custGeom>
            <a:avLst/>
            <a:gdLst/>
            <a:ahLst/>
            <a:cxnLst/>
            <a:rect l="l" t="t" r="r" b="b"/>
            <a:pathLst>
              <a:path w="347490" h="347490">
                <a:moveTo>
                  <a:pt x="173745" y="0"/>
                </a:moveTo>
                <a:lnTo>
                  <a:pt x="173745" y="0"/>
                </a:lnTo>
                <a:cubicBezTo>
                  <a:pt x="269637" y="0"/>
                  <a:pt x="347490" y="77852"/>
                  <a:pt x="347490" y="173745"/>
                </a:cubicBezTo>
                <a:lnTo>
                  <a:pt x="347490" y="173745"/>
                </a:lnTo>
                <a:cubicBezTo>
                  <a:pt x="347490" y="269637"/>
                  <a:pt x="269637" y="347490"/>
                  <a:pt x="173745" y="347490"/>
                </a:cubicBezTo>
                <a:lnTo>
                  <a:pt x="173745" y="347490"/>
                </a:lnTo>
                <a:cubicBezTo>
                  <a:pt x="77852" y="347490"/>
                  <a:pt x="0" y="269637"/>
                  <a:pt x="0" y="173745"/>
                </a:cubicBezTo>
                <a:lnTo>
                  <a:pt x="0" y="173745"/>
                </a:lnTo>
                <a:cubicBezTo>
                  <a:pt x="0" y="77852"/>
                  <a:pt x="77852" y="0"/>
                  <a:pt x="17374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93389" y="6504572"/>
            <a:ext cx="162886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0200" y="6482854"/>
            <a:ext cx="2606172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AM向RM申请资源（Container）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2402" y="6917216"/>
            <a:ext cx="347490" cy="347490"/>
          </a:xfrm>
          <a:custGeom>
            <a:avLst/>
            <a:gdLst/>
            <a:ahLst/>
            <a:cxnLst/>
            <a:rect l="l" t="t" r="r" b="b"/>
            <a:pathLst>
              <a:path w="347490" h="347490">
                <a:moveTo>
                  <a:pt x="173745" y="0"/>
                </a:moveTo>
                <a:lnTo>
                  <a:pt x="173745" y="0"/>
                </a:lnTo>
                <a:cubicBezTo>
                  <a:pt x="269637" y="0"/>
                  <a:pt x="347490" y="77852"/>
                  <a:pt x="347490" y="173745"/>
                </a:cubicBezTo>
                <a:lnTo>
                  <a:pt x="347490" y="173745"/>
                </a:lnTo>
                <a:cubicBezTo>
                  <a:pt x="347490" y="269637"/>
                  <a:pt x="269637" y="347490"/>
                  <a:pt x="173745" y="347490"/>
                </a:cubicBezTo>
                <a:lnTo>
                  <a:pt x="173745" y="347490"/>
                </a:lnTo>
                <a:cubicBezTo>
                  <a:pt x="77852" y="347490"/>
                  <a:pt x="0" y="269637"/>
                  <a:pt x="0" y="173745"/>
                </a:cubicBezTo>
                <a:lnTo>
                  <a:pt x="0" y="173745"/>
                </a:lnTo>
                <a:cubicBezTo>
                  <a:pt x="0" y="77852"/>
                  <a:pt x="77852" y="0"/>
                  <a:pt x="17374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91438" y="6982370"/>
            <a:ext cx="162886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40200" y="6960652"/>
            <a:ext cx="2084938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RM根据调度策略分配资源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62402" y="7395014"/>
            <a:ext cx="347490" cy="347490"/>
          </a:xfrm>
          <a:custGeom>
            <a:avLst/>
            <a:gdLst/>
            <a:ahLst/>
            <a:cxnLst/>
            <a:rect l="l" t="t" r="r" b="b"/>
            <a:pathLst>
              <a:path w="347490" h="347490">
                <a:moveTo>
                  <a:pt x="173745" y="0"/>
                </a:moveTo>
                <a:lnTo>
                  <a:pt x="173745" y="0"/>
                </a:lnTo>
                <a:cubicBezTo>
                  <a:pt x="269637" y="0"/>
                  <a:pt x="347490" y="77852"/>
                  <a:pt x="347490" y="173745"/>
                </a:cubicBezTo>
                <a:lnTo>
                  <a:pt x="347490" y="173745"/>
                </a:lnTo>
                <a:cubicBezTo>
                  <a:pt x="347490" y="269637"/>
                  <a:pt x="269637" y="347490"/>
                  <a:pt x="173745" y="347490"/>
                </a:cubicBezTo>
                <a:lnTo>
                  <a:pt x="173745" y="347490"/>
                </a:lnTo>
                <a:cubicBezTo>
                  <a:pt x="77852" y="347490"/>
                  <a:pt x="0" y="269637"/>
                  <a:pt x="0" y="173745"/>
                </a:cubicBezTo>
                <a:lnTo>
                  <a:pt x="0" y="173745"/>
                </a:lnTo>
                <a:cubicBezTo>
                  <a:pt x="0" y="77852"/>
                  <a:pt x="77852" y="0"/>
                  <a:pt x="17374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91523" y="7460168"/>
            <a:ext cx="162886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0200" y="7438450"/>
            <a:ext cx="2953662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AM在NodeManager上启动Container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2402" y="7872812"/>
            <a:ext cx="347490" cy="347490"/>
          </a:xfrm>
          <a:custGeom>
            <a:avLst/>
            <a:gdLst/>
            <a:ahLst/>
            <a:cxnLst/>
            <a:rect l="l" t="t" r="r" b="b"/>
            <a:pathLst>
              <a:path w="347490" h="347490">
                <a:moveTo>
                  <a:pt x="173745" y="0"/>
                </a:moveTo>
                <a:lnTo>
                  <a:pt x="173745" y="0"/>
                </a:lnTo>
                <a:cubicBezTo>
                  <a:pt x="269637" y="0"/>
                  <a:pt x="347490" y="77852"/>
                  <a:pt x="347490" y="173745"/>
                </a:cubicBezTo>
                <a:lnTo>
                  <a:pt x="347490" y="173745"/>
                </a:lnTo>
                <a:cubicBezTo>
                  <a:pt x="347490" y="269637"/>
                  <a:pt x="269637" y="347490"/>
                  <a:pt x="173745" y="347490"/>
                </a:cubicBezTo>
                <a:lnTo>
                  <a:pt x="173745" y="347490"/>
                </a:lnTo>
                <a:cubicBezTo>
                  <a:pt x="77852" y="347490"/>
                  <a:pt x="0" y="269637"/>
                  <a:pt x="0" y="173745"/>
                </a:cubicBezTo>
                <a:lnTo>
                  <a:pt x="0" y="173745"/>
                </a:lnTo>
                <a:cubicBezTo>
                  <a:pt x="0" y="77852"/>
                  <a:pt x="77852" y="0"/>
                  <a:pt x="173745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90760" y="7937967"/>
            <a:ext cx="162886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40200" y="7916248"/>
            <a:ext cx="1737448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AM监控任务执行状态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19623" y="5304647"/>
            <a:ext cx="7590477" cy="3398883"/>
          </a:xfrm>
          <a:custGeom>
            <a:avLst/>
            <a:gdLst/>
            <a:ahLst/>
            <a:cxnLst/>
            <a:rect l="l" t="t" r="r" b="b"/>
            <a:pathLst>
              <a:path w="7590477" h="3398883">
                <a:moveTo>
                  <a:pt x="86875" y="0"/>
                </a:moveTo>
                <a:lnTo>
                  <a:pt x="7503602" y="0"/>
                </a:lnTo>
                <a:cubicBezTo>
                  <a:pt x="7551581" y="0"/>
                  <a:pt x="7590477" y="38895"/>
                  <a:pt x="7590477" y="86875"/>
                </a:cubicBezTo>
                <a:lnTo>
                  <a:pt x="7590477" y="3312008"/>
                </a:lnTo>
                <a:cubicBezTo>
                  <a:pt x="7590477" y="3359988"/>
                  <a:pt x="7551581" y="3398883"/>
                  <a:pt x="7503602" y="3398883"/>
                </a:cubicBezTo>
                <a:lnTo>
                  <a:pt x="86875" y="3398883"/>
                </a:lnTo>
                <a:cubicBezTo>
                  <a:pt x="38895" y="3398883"/>
                  <a:pt x="0" y="3359988"/>
                  <a:pt x="0" y="3312008"/>
                </a:cubicBezTo>
                <a:lnTo>
                  <a:pt x="0" y="86875"/>
                </a:lnTo>
                <a:cubicBezTo>
                  <a:pt x="0" y="38928"/>
                  <a:pt x="38928" y="0"/>
                  <a:pt x="8687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442234" y="5527257"/>
            <a:ext cx="7253846" cy="30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AM的框架特异性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42234" y="5961619"/>
            <a:ext cx="7232128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不同计算框架实现自己的AM，充分利用框架特定的优化策略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42234" y="6352545"/>
            <a:ext cx="7145256" cy="651543"/>
          </a:xfrm>
          <a:custGeom>
            <a:avLst/>
            <a:gdLst/>
            <a:ahLst/>
            <a:cxnLst/>
            <a:rect l="l" t="t" r="r" b="b"/>
            <a:pathLst>
              <a:path w="7145256" h="651543">
                <a:moveTo>
                  <a:pt x="43438" y="0"/>
                </a:moveTo>
                <a:lnTo>
                  <a:pt x="7101817" y="0"/>
                </a:lnTo>
                <a:cubicBezTo>
                  <a:pt x="7125808" y="0"/>
                  <a:pt x="7145256" y="19448"/>
                  <a:pt x="7145256" y="43438"/>
                </a:cubicBezTo>
                <a:lnTo>
                  <a:pt x="7145256" y="608105"/>
                </a:lnTo>
                <a:cubicBezTo>
                  <a:pt x="7145256" y="632095"/>
                  <a:pt x="7125808" y="651543"/>
                  <a:pt x="7101817" y="651543"/>
                </a:cubicBezTo>
                <a:lnTo>
                  <a:pt x="43438" y="651543"/>
                </a:lnTo>
                <a:cubicBezTo>
                  <a:pt x="19448" y="651543"/>
                  <a:pt x="0" y="632095"/>
                  <a:pt x="0" y="608105"/>
                </a:cubicBezTo>
                <a:lnTo>
                  <a:pt x="0" y="43438"/>
                </a:lnTo>
                <a:cubicBezTo>
                  <a:pt x="0" y="19448"/>
                  <a:pt x="19448" y="0"/>
                  <a:pt x="43438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29106" y="6439418"/>
            <a:ext cx="7058383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AM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29106" y="6700035"/>
            <a:ext cx="7047524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处理Map和Reduce任务的调度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42234" y="7090961"/>
            <a:ext cx="7145256" cy="651543"/>
          </a:xfrm>
          <a:custGeom>
            <a:avLst/>
            <a:gdLst/>
            <a:ahLst/>
            <a:cxnLst/>
            <a:rect l="l" t="t" r="r" b="b"/>
            <a:pathLst>
              <a:path w="7145256" h="651543">
                <a:moveTo>
                  <a:pt x="43438" y="0"/>
                </a:moveTo>
                <a:lnTo>
                  <a:pt x="7101817" y="0"/>
                </a:lnTo>
                <a:cubicBezTo>
                  <a:pt x="7125808" y="0"/>
                  <a:pt x="7145256" y="19448"/>
                  <a:pt x="7145256" y="43438"/>
                </a:cubicBezTo>
                <a:lnTo>
                  <a:pt x="7145256" y="608105"/>
                </a:lnTo>
                <a:cubicBezTo>
                  <a:pt x="7145256" y="632095"/>
                  <a:pt x="7125808" y="651543"/>
                  <a:pt x="7101817" y="651543"/>
                </a:cubicBezTo>
                <a:lnTo>
                  <a:pt x="43438" y="651543"/>
                </a:lnTo>
                <a:cubicBezTo>
                  <a:pt x="19448" y="651543"/>
                  <a:pt x="0" y="632095"/>
                  <a:pt x="0" y="608105"/>
                </a:cubicBezTo>
                <a:lnTo>
                  <a:pt x="0" y="43438"/>
                </a:lnTo>
                <a:cubicBezTo>
                  <a:pt x="0" y="19448"/>
                  <a:pt x="19448" y="0"/>
                  <a:pt x="43438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29106" y="7177833"/>
            <a:ext cx="7058383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AM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29106" y="7438450"/>
            <a:ext cx="7047524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管理Driver和Executor的协同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42234" y="7829376"/>
            <a:ext cx="7145256" cy="651543"/>
          </a:xfrm>
          <a:custGeom>
            <a:avLst/>
            <a:gdLst/>
            <a:ahLst/>
            <a:cxnLst/>
            <a:rect l="l" t="t" r="r" b="b"/>
            <a:pathLst>
              <a:path w="7145256" h="651543">
                <a:moveTo>
                  <a:pt x="43438" y="0"/>
                </a:moveTo>
                <a:lnTo>
                  <a:pt x="7101817" y="0"/>
                </a:lnTo>
                <a:cubicBezTo>
                  <a:pt x="7125808" y="0"/>
                  <a:pt x="7145256" y="19448"/>
                  <a:pt x="7145256" y="43438"/>
                </a:cubicBezTo>
                <a:lnTo>
                  <a:pt x="7145256" y="608105"/>
                </a:lnTo>
                <a:cubicBezTo>
                  <a:pt x="7145256" y="632095"/>
                  <a:pt x="7125808" y="651543"/>
                  <a:pt x="7101817" y="651543"/>
                </a:cubicBezTo>
                <a:lnTo>
                  <a:pt x="43438" y="651543"/>
                </a:lnTo>
                <a:cubicBezTo>
                  <a:pt x="19448" y="651543"/>
                  <a:pt x="0" y="632095"/>
                  <a:pt x="0" y="608105"/>
                </a:cubicBezTo>
                <a:lnTo>
                  <a:pt x="0" y="43438"/>
                </a:lnTo>
                <a:cubicBezTo>
                  <a:pt x="0" y="19448"/>
                  <a:pt x="19448" y="0"/>
                  <a:pt x="43438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529106" y="7916248"/>
            <a:ext cx="7058383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AM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29106" y="8176866"/>
            <a:ext cx="7047524" cy="21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协调JobManager和TaskManager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882" y="479882"/>
            <a:ext cx="1539221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kern="0" spc="76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9882" y="863787"/>
            <a:ext cx="15512183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0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应用提交与运行完整流程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9882" y="1487634"/>
            <a:ext cx="1151717" cy="47988"/>
          </a:xfrm>
          <a:custGeom>
            <a:avLst/>
            <a:gdLst/>
            <a:ahLst/>
            <a:cxnLst/>
            <a:rect l="l" t="t" r="r" b="b"/>
            <a:pathLst>
              <a:path w="1151717" h="47988">
                <a:moveTo>
                  <a:pt x="0" y="0"/>
                </a:moveTo>
                <a:lnTo>
                  <a:pt x="1151717" y="0"/>
                </a:lnTo>
                <a:lnTo>
                  <a:pt x="1151717" y="47988"/>
                </a:lnTo>
                <a:lnTo>
                  <a:pt x="0" y="47988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1879" y="1835548"/>
            <a:ext cx="15272242" cy="5638613"/>
          </a:xfrm>
          <a:custGeom>
            <a:avLst/>
            <a:gdLst/>
            <a:ahLst/>
            <a:cxnLst/>
            <a:rect l="l" t="t" r="r" b="b"/>
            <a:pathLst>
              <a:path w="15272242" h="5638613">
                <a:moveTo>
                  <a:pt x="95969" y="0"/>
                </a:moveTo>
                <a:lnTo>
                  <a:pt x="15176273" y="0"/>
                </a:lnTo>
                <a:cubicBezTo>
                  <a:pt x="15229275" y="0"/>
                  <a:pt x="15272242" y="42967"/>
                  <a:pt x="15272242" y="95969"/>
                </a:cubicBezTo>
                <a:lnTo>
                  <a:pt x="15272242" y="5542643"/>
                </a:lnTo>
                <a:cubicBezTo>
                  <a:pt x="15272242" y="5595646"/>
                  <a:pt x="15229275" y="5638613"/>
                  <a:pt x="15176273" y="5638613"/>
                </a:cubicBezTo>
                <a:lnTo>
                  <a:pt x="95969" y="5638613"/>
                </a:lnTo>
                <a:cubicBezTo>
                  <a:pt x="42967" y="5638613"/>
                  <a:pt x="0" y="5595646"/>
                  <a:pt x="0" y="5542643"/>
                </a:cubicBezTo>
                <a:lnTo>
                  <a:pt x="0" y="95969"/>
                </a:lnTo>
                <a:cubicBezTo>
                  <a:pt x="0" y="42967"/>
                  <a:pt x="42967" y="0"/>
                  <a:pt x="9596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820" y="2135475"/>
            <a:ext cx="1479236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应用从提交到完成的端到端流程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1805" y="2759321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217392" y="2951274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424716" y="3095238"/>
            <a:ext cx="251938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9771" y="3719085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提交应用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768" y="4198967"/>
            <a:ext cx="322720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Client向ResourceManager提交应用请求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6860" y="2759321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932446" y="2951274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15401" y="3095238"/>
            <a:ext cx="299926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4826" y="3719085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6823" y="4198967"/>
            <a:ext cx="3227206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RM的ApplicationsManager启动ApplicationMaster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1914" y="2759321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647501" y="2951274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826707" y="3095238"/>
            <a:ext cx="311923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9880" y="3719085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申请资源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1877" y="4198967"/>
            <a:ext cx="322720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AM向RM的Scheduler申请Container资源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936969" y="2759321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3362649" y="2951274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542137" y="3095238"/>
            <a:ext cx="311923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74935" y="3719085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分配资源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86932" y="4198967"/>
            <a:ext cx="3227206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RM根据调度策略分配Container并返回给AM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1805" y="5062754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217392" y="5254707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395379" y="5398672"/>
            <a:ext cx="311923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9771" y="6022518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启动Container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1768" y="6502400"/>
            <a:ext cx="3227206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AM在NodeManager上启动Container执行任务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06860" y="5062754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932446" y="5254707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109778" y="5398672"/>
            <a:ext cx="311923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44826" y="6022518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执行任务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56823" y="6502400"/>
            <a:ext cx="322720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Container中运行任务，处理实际计算逻辑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1914" y="5062754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647501" y="5254707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836830" y="5398672"/>
            <a:ext cx="287929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59880" y="6022518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监控状态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1877" y="6502400"/>
            <a:ext cx="322720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AM持续监控任务执行状态和进度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936969" y="5062754"/>
            <a:ext cx="3527132" cy="2111480"/>
          </a:xfrm>
          <a:custGeom>
            <a:avLst/>
            <a:gdLst/>
            <a:ahLst/>
            <a:cxnLst/>
            <a:rect l="l" t="t" r="r" b="b"/>
            <a:pathLst>
              <a:path w="3527132" h="2111480">
                <a:moveTo>
                  <a:pt x="95967" y="0"/>
                </a:moveTo>
                <a:lnTo>
                  <a:pt x="3431165" y="0"/>
                </a:lnTo>
                <a:cubicBezTo>
                  <a:pt x="3484166" y="0"/>
                  <a:pt x="3527132" y="42966"/>
                  <a:pt x="3527132" y="95967"/>
                </a:cubicBezTo>
                <a:lnTo>
                  <a:pt x="3527132" y="2015514"/>
                </a:lnTo>
                <a:cubicBezTo>
                  <a:pt x="3527132" y="2068515"/>
                  <a:pt x="3484166" y="2111480"/>
                  <a:pt x="3431165" y="2111480"/>
                </a:cubicBezTo>
                <a:lnTo>
                  <a:pt x="95967" y="2111480"/>
                </a:lnTo>
                <a:cubicBezTo>
                  <a:pt x="42966" y="2111480"/>
                  <a:pt x="0" y="2068515"/>
                  <a:pt x="0" y="2015514"/>
                </a:cubicBezTo>
                <a:lnTo>
                  <a:pt x="0" y="95967"/>
                </a:lnTo>
                <a:cubicBezTo>
                  <a:pt x="0" y="43001"/>
                  <a:pt x="43001" y="0"/>
                  <a:pt x="959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3362649" y="5254707"/>
            <a:ext cx="671835" cy="671835"/>
          </a:xfrm>
          <a:custGeom>
            <a:avLst/>
            <a:gdLst/>
            <a:ahLst/>
            <a:cxnLst/>
            <a:rect l="l" t="t" r="r" b="b"/>
            <a:pathLst>
              <a:path w="671835" h="671835">
                <a:moveTo>
                  <a:pt x="335917" y="0"/>
                </a:moveTo>
                <a:lnTo>
                  <a:pt x="335917" y="0"/>
                </a:lnTo>
                <a:cubicBezTo>
                  <a:pt x="521315" y="0"/>
                  <a:pt x="671835" y="150520"/>
                  <a:pt x="671835" y="335917"/>
                </a:cubicBezTo>
                <a:lnTo>
                  <a:pt x="671835" y="335917"/>
                </a:lnTo>
                <a:cubicBezTo>
                  <a:pt x="671835" y="521315"/>
                  <a:pt x="521315" y="671835"/>
                  <a:pt x="335917" y="671835"/>
                </a:cubicBezTo>
                <a:lnTo>
                  <a:pt x="335917" y="671835"/>
                </a:lnTo>
                <a:cubicBezTo>
                  <a:pt x="150520" y="671835"/>
                  <a:pt x="0" y="521315"/>
                  <a:pt x="0" y="335917"/>
                </a:cubicBezTo>
                <a:lnTo>
                  <a:pt x="0" y="335917"/>
                </a:lnTo>
                <a:cubicBezTo>
                  <a:pt x="0" y="150520"/>
                  <a:pt x="150520" y="0"/>
                  <a:pt x="335917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536888" y="5398672"/>
            <a:ext cx="323920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74935" y="6022518"/>
            <a:ext cx="3251200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完成清理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086932" y="6502400"/>
            <a:ext cx="3227206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任务完成后AM进行资源清理和状态上报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5880" y="7684109"/>
            <a:ext cx="15284239" cy="971761"/>
          </a:xfrm>
          <a:custGeom>
            <a:avLst/>
            <a:gdLst/>
            <a:ahLst/>
            <a:cxnLst/>
            <a:rect l="l" t="t" r="r" b="b"/>
            <a:pathLst>
              <a:path w="15284239" h="971761">
                <a:moveTo>
                  <a:pt x="95981" y="0"/>
                </a:moveTo>
                <a:lnTo>
                  <a:pt x="15188258" y="0"/>
                </a:lnTo>
                <a:cubicBezTo>
                  <a:pt x="15241267" y="0"/>
                  <a:pt x="15284239" y="42972"/>
                  <a:pt x="15284239" y="95981"/>
                </a:cubicBezTo>
                <a:lnTo>
                  <a:pt x="15284239" y="875780"/>
                </a:lnTo>
                <a:cubicBezTo>
                  <a:pt x="15284239" y="928789"/>
                  <a:pt x="15241267" y="971761"/>
                  <a:pt x="15188258" y="971761"/>
                </a:cubicBezTo>
                <a:lnTo>
                  <a:pt x="95981" y="971761"/>
                </a:lnTo>
                <a:cubicBezTo>
                  <a:pt x="42972" y="971761"/>
                  <a:pt x="0" y="928789"/>
                  <a:pt x="0" y="875780"/>
                </a:cubicBezTo>
                <a:lnTo>
                  <a:pt x="0" y="95981"/>
                </a:lnTo>
                <a:cubicBezTo>
                  <a:pt x="0" y="42972"/>
                  <a:pt x="42972" y="0"/>
                  <a:pt x="9598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19823" y="8026025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43965" y="287929"/>
                </a:moveTo>
                <a:cubicBezTo>
                  <a:pt x="223421" y="287929"/>
                  <a:pt x="287929" y="223421"/>
                  <a:pt x="287929" y="143965"/>
                </a:cubicBezTo>
                <a:cubicBezTo>
                  <a:pt x="287929" y="64508"/>
                  <a:pt x="223421" y="0"/>
                  <a:pt x="143965" y="0"/>
                </a:cubicBezTo>
                <a:cubicBezTo>
                  <a:pt x="64508" y="0"/>
                  <a:pt x="0" y="64508"/>
                  <a:pt x="0" y="143965"/>
                </a:cubicBezTo>
                <a:cubicBezTo>
                  <a:pt x="0" y="223421"/>
                  <a:pt x="64508" y="287929"/>
                  <a:pt x="143965" y="287929"/>
                </a:cubicBezTo>
                <a:close/>
                <a:moveTo>
                  <a:pt x="125969" y="89978"/>
                </a:moveTo>
                <a:cubicBezTo>
                  <a:pt x="125969" y="80046"/>
                  <a:pt x="134033" y="71982"/>
                  <a:pt x="143965" y="71982"/>
                </a:cubicBezTo>
                <a:cubicBezTo>
                  <a:pt x="153897" y="71982"/>
                  <a:pt x="161960" y="80046"/>
                  <a:pt x="161960" y="89978"/>
                </a:cubicBezTo>
                <a:cubicBezTo>
                  <a:pt x="161960" y="99910"/>
                  <a:pt x="153897" y="107973"/>
                  <a:pt x="143965" y="107973"/>
                </a:cubicBezTo>
                <a:cubicBezTo>
                  <a:pt x="134033" y="107973"/>
                  <a:pt x="125969" y="99910"/>
                  <a:pt x="125969" y="89978"/>
                </a:cubicBezTo>
                <a:close/>
                <a:moveTo>
                  <a:pt x="121470" y="125969"/>
                </a:moveTo>
                <a:lnTo>
                  <a:pt x="148463" y="125969"/>
                </a:lnTo>
                <a:cubicBezTo>
                  <a:pt x="155943" y="125969"/>
                  <a:pt x="161960" y="131986"/>
                  <a:pt x="161960" y="139466"/>
                </a:cubicBezTo>
                <a:lnTo>
                  <a:pt x="161960" y="188954"/>
                </a:lnTo>
                <a:lnTo>
                  <a:pt x="166459" y="188954"/>
                </a:lnTo>
                <a:cubicBezTo>
                  <a:pt x="173938" y="188954"/>
                  <a:pt x="179956" y="194971"/>
                  <a:pt x="179956" y="202450"/>
                </a:cubicBezTo>
                <a:cubicBezTo>
                  <a:pt x="179956" y="209930"/>
                  <a:pt x="173938" y="215947"/>
                  <a:pt x="166459" y="215947"/>
                </a:cubicBezTo>
                <a:lnTo>
                  <a:pt x="121470" y="215947"/>
                </a:lnTo>
                <a:cubicBezTo>
                  <a:pt x="113991" y="215947"/>
                  <a:pt x="107973" y="209930"/>
                  <a:pt x="107973" y="202450"/>
                </a:cubicBezTo>
                <a:cubicBezTo>
                  <a:pt x="107973" y="194971"/>
                  <a:pt x="113991" y="188954"/>
                  <a:pt x="121470" y="188954"/>
                </a:cubicBezTo>
                <a:lnTo>
                  <a:pt x="134967" y="188954"/>
                </a:lnTo>
                <a:lnTo>
                  <a:pt x="134967" y="152962"/>
                </a:lnTo>
                <a:lnTo>
                  <a:pt x="121470" y="152962"/>
                </a:lnTo>
                <a:cubicBezTo>
                  <a:pt x="113991" y="152962"/>
                  <a:pt x="107973" y="146945"/>
                  <a:pt x="107973" y="139466"/>
                </a:cubicBezTo>
                <a:cubicBezTo>
                  <a:pt x="107973" y="131986"/>
                  <a:pt x="113991" y="125969"/>
                  <a:pt x="121470" y="12596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87145" y="7882061"/>
            <a:ext cx="14480437" cy="57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关键设计优势：</a:t>
            </a:r>
            <a:r>
              <a:rPr lang="en-US" sz="151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整个流程实现了</a:t>
            </a:r>
            <a:r>
              <a:rPr lang="en-US" sz="1511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资源管理与作业调度的完全分离</a:t>
            </a:r>
            <a:r>
              <a:rPr lang="en-US" sz="151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。RM只负责资源分配，AM负责任务调度和监控，两者通过标准协议协作，确保系统的可扩展性和容错性。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20700" y="1658938"/>
            <a:ext cx="2971800" cy="736600"/>
          </a:xfrm>
          <a:custGeom>
            <a:avLst/>
            <a:gdLst/>
            <a:ahLst/>
            <a:cxnLst/>
            <a:rect l="l" t="t" r="r" b="b"/>
            <a:pathLst>
              <a:path w="2971800" h="736600">
                <a:moveTo>
                  <a:pt x="368300" y="0"/>
                </a:moveTo>
                <a:lnTo>
                  <a:pt x="2603500" y="0"/>
                </a:lnTo>
                <a:cubicBezTo>
                  <a:pt x="2806770" y="0"/>
                  <a:pt x="2971800" y="165030"/>
                  <a:pt x="2971800" y="368300"/>
                </a:cubicBezTo>
                <a:lnTo>
                  <a:pt x="2971800" y="368300"/>
                </a:lnTo>
                <a:cubicBezTo>
                  <a:pt x="2971800" y="571570"/>
                  <a:pt x="2806770" y="736600"/>
                  <a:pt x="2603500" y="736600"/>
                </a:cubicBezTo>
                <a:lnTo>
                  <a:pt x="368300" y="736600"/>
                </a:lnTo>
                <a:cubicBezTo>
                  <a:pt x="165030" y="736600"/>
                  <a:pt x="0" y="571570"/>
                  <a:pt x="0" y="368300"/>
                </a:cubicBezTo>
                <a:lnTo>
                  <a:pt x="0" y="368300"/>
                </a:lnTo>
                <a:cubicBezTo>
                  <a:pt x="0" y="165030"/>
                  <a:pt x="165030" y="0"/>
                  <a:pt x="3683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9800" y="1824038"/>
            <a:ext cx="228848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8146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调度算法与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269038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878638"/>
            <a:ext cx="115697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掌握YARN的调度策略、数据本地性优化与性能调优方法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980" y="492980"/>
            <a:ext cx="1536863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kern="0" spc="78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2980" y="887363"/>
            <a:ext cx="15491882" cy="49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9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 调度器概览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2980" y="1528237"/>
            <a:ext cx="1183151" cy="49298"/>
          </a:xfrm>
          <a:custGeom>
            <a:avLst/>
            <a:gdLst/>
            <a:ahLst/>
            <a:cxnLst/>
            <a:rect l="l" t="t" r="r" b="b"/>
            <a:pathLst>
              <a:path w="1183151" h="49298">
                <a:moveTo>
                  <a:pt x="0" y="0"/>
                </a:moveTo>
                <a:lnTo>
                  <a:pt x="1183151" y="0"/>
                </a:lnTo>
                <a:lnTo>
                  <a:pt x="1183151" y="49298"/>
                </a:lnTo>
                <a:lnTo>
                  <a:pt x="0" y="49298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5304" y="1885647"/>
            <a:ext cx="4929795" cy="4855848"/>
          </a:xfrm>
          <a:custGeom>
            <a:avLst/>
            <a:gdLst/>
            <a:ahLst/>
            <a:cxnLst/>
            <a:rect l="l" t="t" r="r" b="b"/>
            <a:pathLst>
              <a:path w="4929795" h="4855848">
                <a:moveTo>
                  <a:pt x="98574" y="0"/>
                </a:moveTo>
                <a:lnTo>
                  <a:pt x="4831222" y="0"/>
                </a:lnTo>
                <a:cubicBezTo>
                  <a:pt x="4885662" y="0"/>
                  <a:pt x="4929795" y="44133"/>
                  <a:pt x="4929795" y="98574"/>
                </a:cubicBezTo>
                <a:lnTo>
                  <a:pt x="4929795" y="4757275"/>
                </a:lnTo>
                <a:cubicBezTo>
                  <a:pt x="4929795" y="4811715"/>
                  <a:pt x="4885662" y="4855848"/>
                  <a:pt x="4831222" y="4855848"/>
                </a:cubicBezTo>
                <a:lnTo>
                  <a:pt x="98574" y="4855848"/>
                </a:lnTo>
                <a:cubicBezTo>
                  <a:pt x="44133" y="4855848"/>
                  <a:pt x="0" y="4811715"/>
                  <a:pt x="0" y="4757275"/>
                </a:cubicBezTo>
                <a:lnTo>
                  <a:pt x="0" y="98574"/>
                </a:lnTo>
                <a:cubicBezTo>
                  <a:pt x="0" y="44133"/>
                  <a:pt x="44133" y="0"/>
                  <a:pt x="9857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627331" y="2144461"/>
            <a:ext cx="690171" cy="690171"/>
          </a:xfrm>
          <a:custGeom>
            <a:avLst/>
            <a:gdLst/>
            <a:ahLst/>
            <a:cxnLst/>
            <a:rect l="l" t="t" r="r" b="b"/>
            <a:pathLst>
              <a:path w="690171" h="690171">
                <a:moveTo>
                  <a:pt x="345086" y="0"/>
                </a:moveTo>
                <a:lnTo>
                  <a:pt x="345086" y="0"/>
                </a:lnTo>
                <a:cubicBezTo>
                  <a:pt x="535544" y="0"/>
                  <a:pt x="690171" y="154628"/>
                  <a:pt x="690171" y="345086"/>
                </a:cubicBezTo>
                <a:lnTo>
                  <a:pt x="690171" y="345086"/>
                </a:lnTo>
                <a:cubicBezTo>
                  <a:pt x="690171" y="535544"/>
                  <a:pt x="535544" y="690171"/>
                  <a:pt x="345086" y="690171"/>
                </a:cubicBezTo>
                <a:lnTo>
                  <a:pt x="345086" y="690171"/>
                </a:lnTo>
                <a:cubicBezTo>
                  <a:pt x="154628" y="690171"/>
                  <a:pt x="0" y="535544"/>
                  <a:pt x="0" y="345086"/>
                </a:cubicBezTo>
                <a:lnTo>
                  <a:pt x="0" y="345086"/>
                </a:lnTo>
                <a:cubicBezTo>
                  <a:pt x="0" y="154628"/>
                  <a:pt x="154628" y="0"/>
                  <a:pt x="3450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824522" y="2341653"/>
            <a:ext cx="295788" cy="295788"/>
          </a:xfrm>
          <a:custGeom>
            <a:avLst/>
            <a:gdLst/>
            <a:ahLst/>
            <a:cxnLst/>
            <a:rect l="l" t="t" r="r" b="b"/>
            <a:pathLst>
              <a:path w="295788" h="295788">
                <a:moveTo>
                  <a:pt x="0" y="41595"/>
                </a:moveTo>
                <a:cubicBezTo>
                  <a:pt x="0" y="33969"/>
                  <a:pt x="6182" y="27730"/>
                  <a:pt x="13865" y="27730"/>
                </a:cubicBezTo>
                <a:lnTo>
                  <a:pt x="41595" y="27730"/>
                </a:lnTo>
                <a:cubicBezTo>
                  <a:pt x="49279" y="27730"/>
                  <a:pt x="55460" y="33912"/>
                  <a:pt x="55460" y="41595"/>
                </a:cubicBezTo>
                <a:lnTo>
                  <a:pt x="55460" y="101677"/>
                </a:lnTo>
                <a:lnTo>
                  <a:pt x="69325" y="101677"/>
                </a:lnTo>
                <a:cubicBezTo>
                  <a:pt x="77009" y="101677"/>
                  <a:pt x="83190" y="107859"/>
                  <a:pt x="83190" y="115542"/>
                </a:cubicBezTo>
                <a:cubicBezTo>
                  <a:pt x="83190" y="123226"/>
                  <a:pt x="77009" y="129407"/>
                  <a:pt x="69325" y="129407"/>
                </a:cubicBezTo>
                <a:lnTo>
                  <a:pt x="13865" y="129407"/>
                </a:lnTo>
                <a:cubicBezTo>
                  <a:pt x="6182" y="129407"/>
                  <a:pt x="0" y="123226"/>
                  <a:pt x="0" y="115542"/>
                </a:cubicBezTo>
                <a:cubicBezTo>
                  <a:pt x="0" y="107859"/>
                  <a:pt x="6182" y="101677"/>
                  <a:pt x="13865" y="101677"/>
                </a:cubicBezTo>
                <a:lnTo>
                  <a:pt x="27730" y="101677"/>
                </a:lnTo>
                <a:lnTo>
                  <a:pt x="27730" y="55460"/>
                </a:lnTo>
                <a:lnTo>
                  <a:pt x="13865" y="55460"/>
                </a:lnTo>
                <a:cubicBezTo>
                  <a:pt x="6182" y="55460"/>
                  <a:pt x="0" y="49279"/>
                  <a:pt x="0" y="41595"/>
                </a:cubicBezTo>
                <a:close/>
                <a:moveTo>
                  <a:pt x="17562" y="174006"/>
                </a:moveTo>
                <a:cubicBezTo>
                  <a:pt x="24148" y="169038"/>
                  <a:pt x="32178" y="166381"/>
                  <a:pt x="40440" y="166381"/>
                </a:cubicBezTo>
                <a:lnTo>
                  <a:pt x="43271" y="166381"/>
                </a:lnTo>
                <a:cubicBezTo>
                  <a:pt x="62739" y="166381"/>
                  <a:pt x="78569" y="182210"/>
                  <a:pt x="78569" y="201679"/>
                </a:cubicBezTo>
                <a:cubicBezTo>
                  <a:pt x="78569" y="213002"/>
                  <a:pt x="73138" y="223574"/>
                  <a:pt x="64010" y="230218"/>
                </a:cubicBezTo>
                <a:lnTo>
                  <a:pt x="50145" y="240328"/>
                </a:lnTo>
                <a:lnTo>
                  <a:pt x="69325" y="240328"/>
                </a:lnTo>
                <a:cubicBezTo>
                  <a:pt x="77009" y="240328"/>
                  <a:pt x="83190" y="246509"/>
                  <a:pt x="83190" y="254193"/>
                </a:cubicBezTo>
                <a:cubicBezTo>
                  <a:pt x="83190" y="261876"/>
                  <a:pt x="77009" y="268058"/>
                  <a:pt x="69325" y="268058"/>
                </a:cubicBezTo>
                <a:lnTo>
                  <a:pt x="16927" y="268058"/>
                </a:lnTo>
                <a:cubicBezTo>
                  <a:pt x="7568" y="268058"/>
                  <a:pt x="0" y="260490"/>
                  <a:pt x="0" y="251131"/>
                </a:cubicBezTo>
                <a:cubicBezTo>
                  <a:pt x="0" y="245700"/>
                  <a:pt x="2600" y="240616"/>
                  <a:pt x="6990" y="237439"/>
                </a:cubicBezTo>
                <a:lnTo>
                  <a:pt x="47719" y="207802"/>
                </a:lnTo>
                <a:cubicBezTo>
                  <a:pt x="49683" y="206358"/>
                  <a:pt x="50839" y="204105"/>
                  <a:pt x="50839" y="201679"/>
                </a:cubicBezTo>
                <a:cubicBezTo>
                  <a:pt x="50839" y="197519"/>
                  <a:pt x="47430" y="194111"/>
                  <a:pt x="43271" y="194111"/>
                </a:cubicBezTo>
                <a:lnTo>
                  <a:pt x="40440" y="194111"/>
                </a:lnTo>
                <a:cubicBezTo>
                  <a:pt x="38187" y="194111"/>
                  <a:pt x="35991" y="194862"/>
                  <a:pt x="34200" y="196190"/>
                </a:cubicBezTo>
                <a:lnTo>
                  <a:pt x="22184" y="205203"/>
                </a:lnTo>
                <a:cubicBezTo>
                  <a:pt x="16060" y="209824"/>
                  <a:pt x="7395" y="208553"/>
                  <a:pt x="2773" y="202430"/>
                </a:cubicBezTo>
                <a:cubicBezTo>
                  <a:pt x="-1849" y="196306"/>
                  <a:pt x="-578" y="187640"/>
                  <a:pt x="5546" y="183019"/>
                </a:cubicBezTo>
                <a:lnTo>
                  <a:pt x="17562" y="174006"/>
                </a:lnTo>
                <a:close/>
                <a:moveTo>
                  <a:pt x="129407" y="36973"/>
                </a:moveTo>
                <a:lnTo>
                  <a:pt x="277301" y="36973"/>
                </a:lnTo>
                <a:cubicBezTo>
                  <a:pt x="287526" y="36973"/>
                  <a:pt x="295788" y="45235"/>
                  <a:pt x="295788" y="55460"/>
                </a:cubicBezTo>
                <a:cubicBezTo>
                  <a:pt x="295788" y="65686"/>
                  <a:pt x="287526" y="73947"/>
                  <a:pt x="277301" y="73947"/>
                </a:cubicBezTo>
                <a:lnTo>
                  <a:pt x="129407" y="73947"/>
                </a:lnTo>
                <a:cubicBezTo>
                  <a:pt x="119182" y="73947"/>
                  <a:pt x="110920" y="65686"/>
                  <a:pt x="110920" y="55460"/>
                </a:cubicBezTo>
                <a:cubicBezTo>
                  <a:pt x="110920" y="45235"/>
                  <a:pt x="119182" y="36973"/>
                  <a:pt x="129407" y="36973"/>
                </a:cubicBezTo>
                <a:close/>
                <a:moveTo>
                  <a:pt x="129407" y="129407"/>
                </a:moveTo>
                <a:lnTo>
                  <a:pt x="277301" y="129407"/>
                </a:lnTo>
                <a:cubicBezTo>
                  <a:pt x="287526" y="129407"/>
                  <a:pt x="295788" y="137668"/>
                  <a:pt x="295788" y="147894"/>
                </a:cubicBezTo>
                <a:cubicBezTo>
                  <a:pt x="295788" y="158119"/>
                  <a:pt x="287526" y="166381"/>
                  <a:pt x="277301" y="166381"/>
                </a:cubicBezTo>
                <a:lnTo>
                  <a:pt x="129407" y="166381"/>
                </a:lnTo>
                <a:cubicBezTo>
                  <a:pt x="119182" y="166381"/>
                  <a:pt x="110920" y="158119"/>
                  <a:pt x="110920" y="147894"/>
                </a:cubicBezTo>
                <a:cubicBezTo>
                  <a:pt x="110920" y="137668"/>
                  <a:pt x="119182" y="129407"/>
                  <a:pt x="129407" y="129407"/>
                </a:cubicBezTo>
                <a:close/>
                <a:moveTo>
                  <a:pt x="129407" y="221841"/>
                </a:moveTo>
                <a:lnTo>
                  <a:pt x="277301" y="221841"/>
                </a:lnTo>
                <a:cubicBezTo>
                  <a:pt x="287526" y="221841"/>
                  <a:pt x="295788" y="230102"/>
                  <a:pt x="295788" y="240328"/>
                </a:cubicBezTo>
                <a:cubicBezTo>
                  <a:pt x="295788" y="250553"/>
                  <a:pt x="287526" y="258814"/>
                  <a:pt x="277301" y="258814"/>
                </a:cubicBezTo>
                <a:lnTo>
                  <a:pt x="129407" y="258814"/>
                </a:lnTo>
                <a:cubicBezTo>
                  <a:pt x="119182" y="258814"/>
                  <a:pt x="110920" y="250553"/>
                  <a:pt x="110920" y="240328"/>
                </a:cubicBezTo>
                <a:cubicBezTo>
                  <a:pt x="110920" y="230102"/>
                  <a:pt x="119182" y="221841"/>
                  <a:pt x="129407" y="22184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02496" y="2933228"/>
            <a:ext cx="453541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4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 Scheduler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0983" y="3278314"/>
            <a:ext cx="4498438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先进先出调度器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4118" y="3672697"/>
            <a:ext cx="4412167" cy="1035257"/>
          </a:xfrm>
          <a:custGeom>
            <a:avLst/>
            <a:gdLst/>
            <a:ahLst/>
            <a:cxnLst/>
            <a:rect l="l" t="t" r="r" b="b"/>
            <a:pathLst>
              <a:path w="4412167" h="1035257">
                <a:moveTo>
                  <a:pt x="49299" y="0"/>
                </a:moveTo>
                <a:lnTo>
                  <a:pt x="4362868" y="0"/>
                </a:lnTo>
                <a:cubicBezTo>
                  <a:pt x="4390095" y="0"/>
                  <a:pt x="4412167" y="22072"/>
                  <a:pt x="4412167" y="49299"/>
                </a:cubicBezTo>
                <a:lnTo>
                  <a:pt x="4412167" y="985958"/>
                </a:lnTo>
                <a:cubicBezTo>
                  <a:pt x="4412167" y="1013185"/>
                  <a:pt x="4390095" y="1035257"/>
                  <a:pt x="4362868" y="1035257"/>
                </a:cubicBezTo>
                <a:lnTo>
                  <a:pt x="49299" y="1035257"/>
                </a:lnTo>
                <a:cubicBezTo>
                  <a:pt x="22072" y="1035257"/>
                  <a:pt x="0" y="1013185"/>
                  <a:pt x="0" y="985958"/>
                </a:cubicBezTo>
                <a:lnTo>
                  <a:pt x="0" y="49299"/>
                </a:lnTo>
                <a:cubicBezTo>
                  <a:pt x="0" y="22072"/>
                  <a:pt x="22072" y="0"/>
                  <a:pt x="4929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2714" y="3771293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2714" y="4116379"/>
            <a:ext cx="4301246" cy="49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按照应用提交的先后顺序分配资源，先提交的应用先获得资源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4118" y="4806550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2714" y="4905146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2714" y="5250232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单用户环境、小型集群、测试和开发环境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4118" y="5693914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2714" y="5792509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2714" y="6137595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简单高效，但不支持多租户资源共享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1466" y="1885647"/>
            <a:ext cx="4929795" cy="4855848"/>
          </a:xfrm>
          <a:custGeom>
            <a:avLst/>
            <a:gdLst/>
            <a:ahLst/>
            <a:cxnLst/>
            <a:rect l="l" t="t" r="r" b="b"/>
            <a:pathLst>
              <a:path w="4929795" h="4855848">
                <a:moveTo>
                  <a:pt x="98574" y="0"/>
                </a:moveTo>
                <a:lnTo>
                  <a:pt x="4831222" y="0"/>
                </a:lnTo>
                <a:cubicBezTo>
                  <a:pt x="4885662" y="0"/>
                  <a:pt x="4929795" y="44133"/>
                  <a:pt x="4929795" y="98574"/>
                </a:cubicBezTo>
                <a:lnTo>
                  <a:pt x="4929795" y="4757275"/>
                </a:lnTo>
                <a:cubicBezTo>
                  <a:pt x="4929795" y="4811715"/>
                  <a:pt x="4885662" y="4855848"/>
                  <a:pt x="4831222" y="4855848"/>
                </a:cubicBezTo>
                <a:lnTo>
                  <a:pt x="98574" y="4855848"/>
                </a:lnTo>
                <a:cubicBezTo>
                  <a:pt x="44133" y="4855848"/>
                  <a:pt x="0" y="4811715"/>
                  <a:pt x="0" y="4757275"/>
                </a:cubicBezTo>
                <a:lnTo>
                  <a:pt x="0" y="98574"/>
                </a:lnTo>
                <a:cubicBezTo>
                  <a:pt x="0" y="44133"/>
                  <a:pt x="44133" y="0"/>
                  <a:pt x="9857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783492" y="2144461"/>
            <a:ext cx="690171" cy="690171"/>
          </a:xfrm>
          <a:custGeom>
            <a:avLst/>
            <a:gdLst/>
            <a:ahLst/>
            <a:cxnLst/>
            <a:rect l="l" t="t" r="r" b="b"/>
            <a:pathLst>
              <a:path w="690171" h="690171">
                <a:moveTo>
                  <a:pt x="345086" y="0"/>
                </a:moveTo>
                <a:lnTo>
                  <a:pt x="345086" y="0"/>
                </a:lnTo>
                <a:cubicBezTo>
                  <a:pt x="535544" y="0"/>
                  <a:pt x="690171" y="154628"/>
                  <a:pt x="690171" y="345086"/>
                </a:cubicBezTo>
                <a:lnTo>
                  <a:pt x="690171" y="345086"/>
                </a:lnTo>
                <a:cubicBezTo>
                  <a:pt x="690171" y="535544"/>
                  <a:pt x="535544" y="690171"/>
                  <a:pt x="345086" y="690171"/>
                </a:cubicBezTo>
                <a:lnTo>
                  <a:pt x="345086" y="690171"/>
                </a:lnTo>
                <a:cubicBezTo>
                  <a:pt x="154628" y="690171"/>
                  <a:pt x="0" y="535544"/>
                  <a:pt x="0" y="345086"/>
                </a:cubicBezTo>
                <a:lnTo>
                  <a:pt x="0" y="345086"/>
                </a:lnTo>
                <a:cubicBezTo>
                  <a:pt x="0" y="154628"/>
                  <a:pt x="154628" y="0"/>
                  <a:pt x="3450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999171" y="2341653"/>
            <a:ext cx="258814" cy="295788"/>
          </a:xfrm>
          <a:custGeom>
            <a:avLst/>
            <a:gdLst/>
            <a:ahLst/>
            <a:cxnLst/>
            <a:rect l="l" t="t" r="r" b="b"/>
            <a:pathLst>
              <a:path w="258814" h="295788">
                <a:moveTo>
                  <a:pt x="258814" y="118893"/>
                </a:moveTo>
                <a:cubicBezTo>
                  <a:pt x="250264" y="124554"/>
                  <a:pt x="240443" y="129118"/>
                  <a:pt x="230218" y="132758"/>
                </a:cubicBezTo>
                <a:cubicBezTo>
                  <a:pt x="203065" y="142463"/>
                  <a:pt x="167420" y="147894"/>
                  <a:pt x="129407" y="147894"/>
                </a:cubicBezTo>
                <a:cubicBezTo>
                  <a:pt x="91394" y="147894"/>
                  <a:pt x="55691" y="142406"/>
                  <a:pt x="28597" y="132758"/>
                </a:cubicBezTo>
                <a:cubicBezTo>
                  <a:pt x="18429" y="129118"/>
                  <a:pt x="8550" y="124554"/>
                  <a:pt x="0" y="118893"/>
                </a:cubicBezTo>
                <a:lnTo>
                  <a:pt x="0" y="166381"/>
                </a:lnTo>
                <a:cubicBezTo>
                  <a:pt x="0" y="191915"/>
                  <a:pt x="57944" y="212597"/>
                  <a:pt x="129407" y="212597"/>
                </a:cubicBezTo>
                <a:cubicBezTo>
                  <a:pt x="200870" y="212597"/>
                  <a:pt x="258814" y="191915"/>
                  <a:pt x="258814" y="166381"/>
                </a:cubicBezTo>
                <a:lnTo>
                  <a:pt x="258814" y="118893"/>
                </a:lnTo>
                <a:close/>
                <a:moveTo>
                  <a:pt x="258814" y="73947"/>
                </a:moveTo>
                <a:lnTo>
                  <a:pt x="258814" y="46217"/>
                </a:lnTo>
                <a:cubicBezTo>
                  <a:pt x="258814" y="20682"/>
                  <a:pt x="200870" y="0"/>
                  <a:pt x="129407" y="0"/>
                </a:cubicBezTo>
                <a:cubicBezTo>
                  <a:pt x="57944" y="0"/>
                  <a:pt x="0" y="20682"/>
                  <a:pt x="0" y="46217"/>
                </a:cubicBezTo>
                <a:lnTo>
                  <a:pt x="0" y="73947"/>
                </a:lnTo>
                <a:cubicBezTo>
                  <a:pt x="0" y="99482"/>
                  <a:pt x="57944" y="120164"/>
                  <a:pt x="129407" y="120164"/>
                </a:cubicBezTo>
                <a:cubicBezTo>
                  <a:pt x="200870" y="120164"/>
                  <a:pt x="258814" y="99482"/>
                  <a:pt x="258814" y="73947"/>
                </a:cubicBezTo>
                <a:close/>
                <a:moveTo>
                  <a:pt x="230218" y="225192"/>
                </a:moveTo>
                <a:cubicBezTo>
                  <a:pt x="203123" y="234839"/>
                  <a:pt x="167478" y="240328"/>
                  <a:pt x="129407" y="240328"/>
                </a:cubicBezTo>
                <a:cubicBezTo>
                  <a:pt x="91336" y="240328"/>
                  <a:pt x="55691" y="234839"/>
                  <a:pt x="28597" y="225192"/>
                </a:cubicBezTo>
                <a:cubicBezTo>
                  <a:pt x="18429" y="221552"/>
                  <a:pt x="8550" y="216988"/>
                  <a:pt x="0" y="211326"/>
                </a:cubicBezTo>
                <a:lnTo>
                  <a:pt x="0" y="249571"/>
                </a:lnTo>
                <a:cubicBezTo>
                  <a:pt x="0" y="275106"/>
                  <a:pt x="57944" y="295788"/>
                  <a:pt x="129407" y="295788"/>
                </a:cubicBezTo>
                <a:cubicBezTo>
                  <a:pt x="200870" y="295788"/>
                  <a:pt x="258814" y="275106"/>
                  <a:pt x="258814" y="249571"/>
                </a:cubicBezTo>
                <a:lnTo>
                  <a:pt x="258814" y="211326"/>
                </a:lnTo>
                <a:cubicBezTo>
                  <a:pt x="250264" y="216988"/>
                  <a:pt x="240443" y="221552"/>
                  <a:pt x="230218" y="22519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858657" y="2933228"/>
            <a:ext cx="453541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4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 Scheduler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77144" y="3278314"/>
            <a:ext cx="4498438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容量调度器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20280" y="3672697"/>
            <a:ext cx="4412167" cy="1035257"/>
          </a:xfrm>
          <a:custGeom>
            <a:avLst/>
            <a:gdLst/>
            <a:ahLst/>
            <a:cxnLst/>
            <a:rect l="l" t="t" r="r" b="b"/>
            <a:pathLst>
              <a:path w="4412167" h="1035257">
                <a:moveTo>
                  <a:pt x="49299" y="0"/>
                </a:moveTo>
                <a:lnTo>
                  <a:pt x="4362868" y="0"/>
                </a:lnTo>
                <a:cubicBezTo>
                  <a:pt x="4390095" y="0"/>
                  <a:pt x="4412167" y="22072"/>
                  <a:pt x="4412167" y="49299"/>
                </a:cubicBezTo>
                <a:lnTo>
                  <a:pt x="4412167" y="985958"/>
                </a:lnTo>
                <a:cubicBezTo>
                  <a:pt x="4412167" y="1013185"/>
                  <a:pt x="4390095" y="1035257"/>
                  <a:pt x="4362868" y="1035257"/>
                </a:cubicBezTo>
                <a:lnTo>
                  <a:pt x="49299" y="1035257"/>
                </a:lnTo>
                <a:cubicBezTo>
                  <a:pt x="22072" y="1035257"/>
                  <a:pt x="0" y="1013185"/>
                  <a:pt x="0" y="985958"/>
                </a:cubicBezTo>
                <a:lnTo>
                  <a:pt x="0" y="49299"/>
                </a:lnTo>
                <a:cubicBezTo>
                  <a:pt x="0" y="22072"/>
                  <a:pt x="22072" y="0"/>
                  <a:pt x="4929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18876" y="3771293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18876" y="4116379"/>
            <a:ext cx="4301246" cy="49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支持多队列，每个队列配置最小和最大容量，确保资源隔离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20280" y="4806550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18876" y="4905146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18876" y="5250232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多租户环境、企业级集群、资源隔离要求高的场景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20280" y="5693914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018876" y="5792509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18876" y="6137595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资源隔离好，但可能存在资源浪费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17627" y="1885647"/>
            <a:ext cx="4929795" cy="4855848"/>
          </a:xfrm>
          <a:custGeom>
            <a:avLst/>
            <a:gdLst/>
            <a:ahLst/>
            <a:cxnLst/>
            <a:rect l="l" t="t" r="r" b="b"/>
            <a:pathLst>
              <a:path w="4929795" h="4855848">
                <a:moveTo>
                  <a:pt x="98574" y="0"/>
                </a:moveTo>
                <a:lnTo>
                  <a:pt x="4831222" y="0"/>
                </a:lnTo>
                <a:cubicBezTo>
                  <a:pt x="4885662" y="0"/>
                  <a:pt x="4929795" y="44133"/>
                  <a:pt x="4929795" y="98574"/>
                </a:cubicBezTo>
                <a:lnTo>
                  <a:pt x="4929795" y="4757275"/>
                </a:lnTo>
                <a:cubicBezTo>
                  <a:pt x="4929795" y="4811715"/>
                  <a:pt x="4885662" y="4855848"/>
                  <a:pt x="4831222" y="4855848"/>
                </a:cubicBezTo>
                <a:lnTo>
                  <a:pt x="98574" y="4855848"/>
                </a:lnTo>
                <a:cubicBezTo>
                  <a:pt x="44133" y="4855848"/>
                  <a:pt x="0" y="4811715"/>
                  <a:pt x="0" y="4757275"/>
                </a:cubicBezTo>
                <a:lnTo>
                  <a:pt x="0" y="98574"/>
                </a:lnTo>
                <a:cubicBezTo>
                  <a:pt x="0" y="44133"/>
                  <a:pt x="44133" y="0"/>
                  <a:pt x="9857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2939654" y="2144461"/>
            <a:ext cx="690171" cy="690171"/>
          </a:xfrm>
          <a:custGeom>
            <a:avLst/>
            <a:gdLst/>
            <a:ahLst/>
            <a:cxnLst/>
            <a:rect l="l" t="t" r="r" b="b"/>
            <a:pathLst>
              <a:path w="690171" h="690171">
                <a:moveTo>
                  <a:pt x="345086" y="0"/>
                </a:moveTo>
                <a:lnTo>
                  <a:pt x="345086" y="0"/>
                </a:lnTo>
                <a:cubicBezTo>
                  <a:pt x="535544" y="0"/>
                  <a:pt x="690171" y="154628"/>
                  <a:pt x="690171" y="345086"/>
                </a:cubicBezTo>
                <a:lnTo>
                  <a:pt x="690171" y="345086"/>
                </a:lnTo>
                <a:cubicBezTo>
                  <a:pt x="690171" y="535544"/>
                  <a:pt x="535544" y="690171"/>
                  <a:pt x="345086" y="690171"/>
                </a:cubicBezTo>
                <a:lnTo>
                  <a:pt x="345086" y="690171"/>
                </a:lnTo>
                <a:cubicBezTo>
                  <a:pt x="154628" y="690171"/>
                  <a:pt x="0" y="535544"/>
                  <a:pt x="0" y="345086"/>
                </a:cubicBezTo>
                <a:lnTo>
                  <a:pt x="0" y="345086"/>
                </a:lnTo>
                <a:cubicBezTo>
                  <a:pt x="0" y="154628"/>
                  <a:pt x="154628" y="0"/>
                  <a:pt x="34508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3099872" y="2341653"/>
            <a:ext cx="369735" cy="295788"/>
          </a:xfrm>
          <a:custGeom>
            <a:avLst/>
            <a:gdLst/>
            <a:ahLst/>
            <a:cxnLst/>
            <a:rect l="l" t="t" r="r" b="b"/>
            <a:pathLst>
              <a:path w="369735" h="295788">
                <a:moveTo>
                  <a:pt x="221841" y="18487"/>
                </a:moveTo>
                <a:lnTo>
                  <a:pt x="295788" y="18487"/>
                </a:lnTo>
                <a:cubicBezTo>
                  <a:pt x="306013" y="18487"/>
                  <a:pt x="314274" y="26748"/>
                  <a:pt x="314274" y="36973"/>
                </a:cubicBezTo>
                <a:cubicBezTo>
                  <a:pt x="314274" y="47199"/>
                  <a:pt x="306013" y="55460"/>
                  <a:pt x="295788" y="55460"/>
                </a:cubicBezTo>
                <a:lnTo>
                  <a:pt x="230160" y="55460"/>
                </a:lnTo>
                <a:cubicBezTo>
                  <a:pt x="227156" y="70365"/>
                  <a:pt x="216930" y="82670"/>
                  <a:pt x="203354" y="88563"/>
                </a:cubicBezTo>
                <a:lnTo>
                  <a:pt x="203354" y="258814"/>
                </a:lnTo>
                <a:lnTo>
                  <a:pt x="295788" y="258814"/>
                </a:lnTo>
                <a:cubicBezTo>
                  <a:pt x="306013" y="258814"/>
                  <a:pt x="314274" y="267076"/>
                  <a:pt x="314274" y="277301"/>
                </a:cubicBezTo>
                <a:cubicBezTo>
                  <a:pt x="314274" y="287526"/>
                  <a:pt x="306013" y="295788"/>
                  <a:pt x="295788" y="295788"/>
                </a:cubicBezTo>
                <a:lnTo>
                  <a:pt x="73947" y="295788"/>
                </a:lnTo>
                <a:cubicBezTo>
                  <a:pt x="63721" y="295788"/>
                  <a:pt x="55460" y="287526"/>
                  <a:pt x="55460" y="277301"/>
                </a:cubicBezTo>
                <a:cubicBezTo>
                  <a:pt x="55460" y="267076"/>
                  <a:pt x="63721" y="258814"/>
                  <a:pt x="73947" y="258814"/>
                </a:cubicBezTo>
                <a:lnTo>
                  <a:pt x="166381" y="258814"/>
                </a:lnTo>
                <a:lnTo>
                  <a:pt x="166381" y="88563"/>
                </a:lnTo>
                <a:cubicBezTo>
                  <a:pt x="152804" y="82613"/>
                  <a:pt x="142579" y="70307"/>
                  <a:pt x="139575" y="55460"/>
                </a:cubicBezTo>
                <a:lnTo>
                  <a:pt x="73947" y="55460"/>
                </a:lnTo>
                <a:cubicBezTo>
                  <a:pt x="63721" y="55460"/>
                  <a:pt x="55460" y="47199"/>
                  <a:pt x="55460" y="36973"/>
                </a:cubicBezTo>
                <a:cubicBezTo>
                  <a:pt x="55460" y="26748"/>
                  <a:pt x="63721" y="18487"/>
                  <a:pt x="73947" y="18487"/>
                </a:cubicBezTo>
                <a:lnTo>
                  <a:pt x="147894" y="18487"/>
                </a:lnTo>
                <a:cubicBezTo>
                  <a:pt x="156328" y="7279"/>
                  <a:pt x="169731" y="0"/>
                  <a:pt x="184867" y="0"/>
                </a:cubicBezTo>
                <a:cubicBezTo>
                  <a:pt x="200003" y="0"/>
                  <a:pt x="213406" y="7279"/>
                  <a:pt x="221841" y="18487"/>
                </a:cubicBezTo>
                <a:close/>
                <a:moveTo>
                  <a:pt x="253961" y="184867"/>
                </a:moveTo>
                <a:lnTo>
                  <a:pt x="337614" y="184867"/>
                </a:lnTo>
                <a:lnTo>
                  <a:pt x="295788" y="113116"/>
                </a:lnTo>
                <a:lnTo>
                  <a:pt x="253961" y="184867"/>
                </a:lnTo>
                <a:close/>
                <a:moveTo>
                  <a:pt x="295788" y="240328"/>
                </a:moveTo>
                <a:cubicBezTo>
                  <a:pt x="259450" y="240328"/>
                  <a:pt x="229235" y="220685"/>
                  <a:pt x="222996" y="194746"/>
                </a:cubicBezTo>
                <a:cubicBezTo>
                  <a:pt x="221494" y="188391"/>
                  <a:pt x="223574" y="181863"/>
                  <a:pt x="226867" y="176202"/>
                </a:cubicBezTo>
                <a:lnTo>
                  <a:pt x="281865" y="81919"/>
                </a:lnTo>
                <a:cubicBezTo>
                  <a:pt x="284753" y="76951"/>
                  <a:pt x="290068" y="73947"/>
                  <a:pt x="295788" y="73947"/>
                </a:cubicBezTo>
                <a:cubicBezTo>
                  <a:pt x="301507" y="73947"/>
                  <a:pt x="306822" y="77009"/>
                  <a:pt x="309711" y="81919"/>
                </a:cubicBezTo>
                <a:lnTo>
                  <a:pt x="364709" y="176202"/>
                </a:lnTo>
                <a:cubicBezTo>
                  <a:pt x="368002" y="181863"/>
                  <a:pt x="370081" y="188391"/>
                  <a:pt x="368579" y="194746"/>
                </a:cubicBezTo>
                <a:cubicBezTo>
                  <a:pt x="362340" y="220628"/>
                  <a:pt x="332126" y="240328"/>
                  <a:pt x="295788" y="240328"/>
                </a:cubicBezTo>
                <a:close/>
                <a:moveTo>
                  <a:pt x="73254" y="113116"/>
                </a:moveTo>
                <a:lnTo>
                  <a:pt x="31427" y="184867"/>
                </a:lnTo>
                <a:lnTo>
                  <a:pt x="115138" y="184867"/>
                </a:lnTo>
                <a:lnTo>
                  <a:pt x="73254" y="113116"/>
                </a:lnTo>
                <a:close/>
                <a:moveTo>
                  <a:pt x="520" y="194746"/>
                </a:moveTo>
                <a:cubicBezTo>
                  <a:pt x="-982" y="188391"/>
                  <a:pt x="1098" y="181863"/>
                  <a:pt x="4391" y="176202"/>
                </a:cubicBezTo>
                <a:lnTo>
                  <a:pt x="59389" y="81919"/>
                </a:lnTo>
                <a:cubicBezTo>
                  <a:pt x="62277" y="76951"/>
                  <a:pt x="67592" y="73947"/>
                  <a:pt x="73311" y="73947"/>
                </a:cubicBezTo>
                <a:cubicBezTo>
                  <a:pt x="79031" y="73947"/>
                  <a:pt x="84346" y="77009"/>
                  <a:pt x="87234" y="81919"/>
                </a:cubicBezTo>
                <a:lnTo>
                  <a:pt x="142232" y="176202"/>
                </a:lnTo>
                <a:cubicBezTo>
                  <a:pt x="145525" y="181863"/>
                  <a:pt x="147605" y="188391"/>
                  <a:pt x="146103" y="194746"/>
                </a:cubicBezTo>
                <a:cubicBezTo>
                  <a:pt x="139864" y="220628"/>
                  <a:pt x="109649" y="240328"/>
                  <a:pt x="73311" y="240328"/>
                </a:cubicBezTo>
                <a:cubicBezTo>
                  <a:pt x="36973" y="240328"/>
                  <a:pt x="6759" y="220685"/>
                  <a:pt x="520" y="194746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014819" y="2933228"/>
            <a:ext cx="453541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4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 Scheduler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33306" y="3278314"/>
            <a:ext cx="4498438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公平调度器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76441" y="3672697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175037" y="3771293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75037" y="4116379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确保所有应用获得相等的资源份额，支持权重和抢占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76441" y="4560061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175037" y="4658657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75037" y="5003742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多用户共享集群、要求资源公平分配的环境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76441" y="5447424"/>
            <a:ext cx="4412167" cy="788767"/>
          </a:xfrm>
          <a:custGeom>
            <a:avLst/>
            <a:gdLst/>
            <a:ahLst/>
            <a:cxnLst/>
            <a:rect l="l" t="t" r="r" b="b"/>
            <a:pathLst>
              <a:path w="4412167" h="788767">
                <a:moveTo>
                  <a:pt x="49298" y="0"/>
                </a:moveTo>
                <a:lnTo>
                  <a:pt x="4362869" y="0"/>
                </a:lnTo>
                <a:cubicBezTo>
                  <a:pt x="4390095" y="0"/>
                  <a:pt x="4412167" y="22071"/>
                  <a:pt x="4412167" y="49298"/>
                </a:cubicBezTo>
                <a:lnTo>
                  <a:pt x="4412167" y="739469"/>
                </a:lnTo>
                <a:cubicBezTo>
                  <a:pt x="4412167" y="766696"/>
                  <a:pt x="4390095" y="788767"/>
                  <a:pt x="4362869" y="788767"/>
                </a:cubicBezTo>
                <a:lnTo>
                  <a:pt x="49298" y="788767"/>
                </a:lnTo>
                <a:cubicBezTo>
                  <a:pt x="22071" y="788767"/>
                  <a:pt x="0" y="766696"/>
                  <a:pt x="0" y="739469"/>
                </a:cubicBezTo>
                <a:lnTo>
                  <a:pt x="0" y="49298"/>
                </a:lnTo>
                <a:cubicBezTo>
                  <a:pt x="0" y="22090"/>
                  <a:pt x="22090" y="0"/>
                  <a:pt x="4929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175037" y="5546020"/>
            <a:ext cx="431357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75037" y="5891105"/>
            <a:ext cx="4301246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资源公平，但可能牺牲吞吐量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9142" y="6957174"/>
            <a:ext cx="4942120" cy="1688455"/>
          </a:xfrm>
          <a:custGeom>
            <a:avLst/>
            <a:gdLst/>
            <a:ahLst/>
            <a:cxnLst/>
            <a:rect l="l" t="t" r="r" b="b"/>
            <a:pathLst>
              <a:path w="4942120" h="1688455">
                <a:moveTo>
                  <a:pt x="98589" y="0"/>
                </a:moveTo>
                <a:lnTo>
                  <a:pt x="4843531" y="0"/>
                </a:lnTo>
                <a:cubicBezTo>
                  <a:pt x="4897980" y="0"/>
                  <a:pt x="4942120" y="44140"/>
                  <a:pt x="4942120" y="98589"/>
                </a:cubicBezTo>
                <a:lnTo>
                  <a:pt x="4942120" y="1589866"/>
                </a:lnTo>
                <a:cubicBezTo>
                  <a:pt x="4942120" y="1644315"/>
                  <a:pt x="4897980" y="1688455"/>
                  <a:pt x="4843531" y="1688455"/>
                </a:cubicBezTo>
                <a:lnTo>
                  <a:pt x="98589" y="1688455"/>
                </a:lnTo>
                <a:cubicBezTo>
                  <a:pt x="44140" y="1688455"/>
                  <a:pt x="0" y="1644315"/>
                  <a:pt x="0" y="1589866"/>
                </a:cubicBezTo>
                <a:lnTo>
                  <a:pt x="0" y="98589"/>
                </a:lnTo>
                <a:cubicBezTo>
                  <a:pt x="0" y="44176"/>
                  <a:pt x="44176" y="0"/>
                  <a:pt x="9858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7036" y="7160528"/>
            <a:ext cx="464633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9360" y="7604209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FIFO: </a:t>
            </a:r>
            <a:r>
              <a:rPr lang="en-US" sz="1359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9360" y="7899997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Capacity: </a:t>
            </a:r>
            <a:r>
              <a:rPr lang="en-US" sz="13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9360" y="8195785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Fair: </a:t>
            </a:r>
            <a:r>
              <a:rPr lang="en-US" sz="13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55303" y="6957174"/>
            <a:ext cx="4942120" cy="1688455"/>
          </a:xfrm>
          <a:custGeom>
            <a:avLst/>
            <a:gdLst/>
            <a:ahLst/>
            <a:cxnLst/>
            <a:rect l="l" t="t" r="r" b="b"/>
            <a:pathLst>
              <a:path w="4942120" h="1688455">
                <a:moveTo>
                  <a:pt x="98589" y="0"/>
                </a:moveTo>
                <a:lnTo>
                  <a:pt x="4843531" y="0"/>
                </a:lnTo>
                <a:cubicBezTo>
                  <a:pt x="4897980" y="0"/>
                  <a:pt x="4942120" y="44140"/>
                  <a:pt x="4942120" y="98589"/>
                </a:cubicBezTo>
                <a:lnTo>
                  <a:pt x="4942120" y="1589866"/>
                </a:lnTo>
                <a:cubicBezTo>
                  <a:pt x="4942120" y="1644315"/>
                  <a:pt x="4897980" y="1688455"/>
                  <a:pt x="4843531" y="1688455"/>
                </a:cubicBezTo>
                <a:lnTo>
                  <a:pt x="98589" y="1688455"/>
                </a:lnTo>
                <a:cubicBezTo>
                  <a:pt x="44140" y="1688455"/>
                  <a:pt x="0" y="1644315"/>
                  <a:pt x="0" y="1589866"/>
                </a:cubicBezTo>
                <a:lnTo>
                  <a:pt x="0" y="98589"/>
                </a:lnTo>
                <a:cubicBezTo>
                  <a:pt x="0" y="44176"/>
                  <a:pt x="44176" y="0"/>
                  <a:pt x="9858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5803197" y="7160528"/>
            <a:ext cx="464633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公平性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15522" y="7604209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FIFO: </a:t>
            </a:r>
            <a:r>
              <a:rPr lang="en-US" sz="13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最低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15522" y="7899997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Capacity: </a:t>
            </a:r>
            <a:r>
              <a:rPr lang="en-US" sz="13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815522" y="8195785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Fair: </a:t>
            </a:r>
            <a:r>
              <a:rPr lang="en-US" sz="1359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811465" y="6957174"/>
            <a:ext cx="4942120" cy="1688455"/>
          </a:xfrm>
          <a:custGeom>
            <a:avLst/>
            <a:gdLst/>
            <a:ahLst/>
            <a:cxnLst/>
            <a:rect l="l" t="t" r="r" b="b"/>
            <a:pathLst>
              <a:path w="4942120" h="1688455">
                <a:moveTo>
                  <a:pt x="98589" y="0"/>
                </a:moveTo>
                <a:lnTo>
                  <a:pt x="4843531" y="0"/>
                </a:lnTo>
                <a:cubicBezTo>
                  <a:pt x="4897980" y="0"/>
                  <a:pt x="4942120" y="44140"/>
                  <a:pt x="4942120" y="98589"/>
                </a:cubicBezTo>
                <a:lnTo>
                  <a:pt x="4942120" y="1589866"/>
                </a:lnTo>
                <a:cubicBezTo>
                  <a:pt x="4942120" y="1644315"/>
                  <a:pt x="4897980" y="1688455"/>
                  <a:pt x="4843531" y="1688455"/>
                </a:cubicBezTo>
                <a:lnTo>
                  <a:pt x="98589" y="1688455"/>
                </a:lnTo>
                <a:cubicBezTo>
                  <a:pt x="44140" y="1688455"/>
                  <a:pt x="0" y="1644315"/>
                  <a:pt x="0" y="1589866"/>
                </a:cubicBezTo>
                <a:lnTo>
                  <a:pt x="0" y="98589"/>
                </a:lnTo>
                <a:cubicBezTo>
                  <a:pt x="0" y="44176"/>
                  <a:pt x="44176" y="0"/>
                  <a:pt x="9858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0959359" y="7160528"/>
            <a:ext cx="4646332" cy="3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4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多租户支持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1683" y="7604209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FIFO: </a:t>
            </a:r>
            <a:r>
              <a:rPr lang="en-US" sz="13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不支持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971683" y="7899997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Capacity: </a:t>
            </a:r>
            <a:r>
              <a:rPr lang="en-US" sz="1359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优秀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71683" y="8195785"/>
            <a:ext cx="4621683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Fair: </a:t>
            </a:r>
            <a:r>
              <a:rPr lang="en-US" sz="1359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 SCHEDULER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 Scheduler 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7505700" cy="3568700"/>
          </a:xfrm>
          <a:custGeom>
            <a:avLst/>
            <a:gdLst/>
            <a:ahLst/>
            <a:cxnLst/>
            <a:rect l="l" t="t" r="r" b="b"/>
            <a:pathLst>
              <a:path w="7505700" h="3568700">
                <a:moveTo>
                  <a:pt x="101601" y="0"/>
                </a:moveTo>
                <a:lnTo>
                  <a:pt x="7404099" y="0"/>
                </a:lnTo>
                <a:cubicBezTo>
                  <a:pt x="7460212" y="0"/>
                  <a:pt x="7505700" y="45488"/>
                  <a:pt x="7505700" y="101601"/>
                </a:cubicBezTo>
                <a:lnTo>
                  <a:pt x="7505700" y="3467099"/>
                </a:lnTo>
                <a:cubicBezTo>
                  <a:pt x="7505700" y="3523212"/>
                  <a:pt x="7460212" y="3568700"/>
                  <a:pt x="7404099" y="3568700"/>
                </a:cubicBezTo>
                <a:lnTo>
                  <a:pt x="101601" y="3568700"/>
                </a:lnTo>
                <a:cubicBezTo>
                  <a:pt x="45488" y="3568700"/>
                  <a:pt x="0" y="3523212"/>
                  <a:pt x="0" y="34670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47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271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36700" y="23241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层次化队列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59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支持嵌套队列结构，构建复杂的资源分配层次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700" y="3416300"/>
            <a:ext cx="6985000" cy="863600"/>
          </a:xfrm>
          <a:custGeom>
            <a:avLst/>
            <a:gdLst/>
            <a:ahLst/>
            <a:cxnLst/>
            <a:rect l="l" t="t" r="r" b="b"/>
            <a:pathLst>
              <a:path w="6985000" h="863600">
                <a:moveTo>
                  <a:pt x="50797" y="0"/>
                </a:moveTo>
                <a:lnTo>
                  <a:pt x="6934203" y="0"/>
                </a:lnTo>
                <a:cubicBezTo>
                  <a:pt x="6962257" y="0"/>
                  <a:pt x="6985000" y="22743"/>
                  <a:pt x="6985000" y="50797"/>
                </a:cubicBezTo>
                <a:lnTo>
                  <a:pt x="6985000" y="812803"/>
                </a:lnTo>
                <a:cubicBezTo>
                  <a:pt x="6985000" y="840857"/>
                  <a:pt x="6962257" y="863600"/>
                  <a:pt x="693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7100" y="35687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队列层次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" y="38735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root.production, root.development, root.test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4700" y="4381500"/>
            <a:ext cx="6985000" cy="863600"/>
          </a:xfrm>
          <a:custGeom>
            <a:avLst/>
            <a:gdLst/>
            <a:ahLst/>
            <a:cxnLst/>
            <a:rect l="l" t="t" r="r" b="b"/>
            <a:pathLst>
              <a:path w="6985000" h="863600">
                <a:moveTo>
                  <a:pt x="50797" y="0"/>
                </a:moveTo>
                <a:lnTo>
                  <a:pt x="6934203" y="0"/>
                </a:lnTo>
                <a:cubicBezTo>
                  <a:pt x="6962257" y="0"/>
                  <a:pt x="6985000" y="22743"/>
                  <a:pt x="6985000" y="50797"/>
                </a:cubicBezTo>
                <a:lnTo>
                  <a:pt x="6985000" y="812803"/>
                </a:lnTo>
                <a:cubicBezTo>
                  <a:pt x="6985000" y="840857"/>
                  <a:pt x="6962257" y="863600"/>
                  <a:pt x="693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27100" y="45339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资源继承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" y="48387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子队列继承父队列的资源配置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35950" y="1936750"/>
            <a:ext cx="7505700" cy="3568700"/>
          </a:xfrm>
          <a:custGeom>
            <a:avLst/>
            <a:gdLst/>
            <a:ahLst/>
            <a:cxnLst/>
            <a:rect l="l" t="t" r="r" b="b"/>
            <a:pathLst>
              <a:path w="7505700" h="3568700">
                <a:moveTo>
                  <a:pt x="101601" y="0"/>
                </a:moveTo>
                <a:lnTo>
                  <a:pt x="7404099" y="0"/>
                </a:lnTo>
                <a:cubicBezTo>
                  <a:pt x="7460212" y="0"/>
                  <a:pt x="7505700" y="45488"/>
                  <a:pt x="7505700" y="101601"/>
                </a:cubicBezTo>
                <a:lnTo>
                  <a:pt x="7505700" y="3467099"/>
                </a:lnTo>
                <a:cubicBezTo>
                  <a:pt x="7505700" y="3523212"/>
                  <a:pt x="7460212" y="3568700"/>
                  <a:pt x="7404099" y="3568700"/>
                </a:cubicBezTo>
                <a:lnTo>
                  <a:pt x="101601" y="3568700"/>
                </a:lnTo>
                <a:cubicBezTo>
                  <a:pt x="45488" y="3568700"/>
                  <a:pt x="0" y="3523212"/>
                  <a:pt x="0" y="34670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496300" y="2197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67750" y="234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14300" y="76200"/>
                </a:moveTo>
                <a:cubicBezTo>
                  <a:pt x="114300" y="44658"/>
                  <a:pt x="88692" y="19050"/>
                  <a:pt x="57150" y="19050"/>
                </a:cubicBezTo>
                <a:cubicBezTo>
                  <a:pt x="25608" y="19050"/>
                  <a:pt x="0" y="44658"/>
                  <a:pt x="0" y="76200"/>
                </a:cubicBezTo>
                <a:cubicBezTo>
                  <a:pt x="0" y="107742"/>
                  <a:pt x="25608" y="133350"/>
                  <a:pt x="57150" y="133350"/>
                </a:cubicBezTo>
                <a:cubicBezTo>
                  <a:pt x="88692" y="133350"/>
                  <a:pt x="114300" y="107742"/>
                  <a:pt x="114300" y="76200"/>
                </a:cubicBezTo>
                <a:close/>
                <a:moveTo>
                  <a:pt x="266700" y="228600"/>
                </a:moveTo>
                <a:cubicBezTo>
                  <a:pt x="266700" y="197058"/>
                  <a:pt x="241092" y="171450"/>
                  <a:pt x="209550" y="171450"/>
                </a:cubicBezTo>
                <a:cubicBezTo>
                  <a:pt x="178008" y="171450"/>
                  <a:pt x="152400" y="197058"/>
                  <a:pt x="152400" y="228600"/>
                </a:cubicBezTo>
                <a:cubicBezTo>
                  <a:pt x="152400" y="260142"/>
                  <a:pt x="178008" y="285750"/>
                  <a:pt x="209550" y="285750"/>
                </a:cubicBezTo>
                <a:cubicBezTo>
                  <a:pt x="241092" y="285750"/>
                  <a:pt x="266700" y="260142"/>
                  <a:pt x="266700" y="228600"/>
                </a:cubicBezTo>
                <a:close/>
                <a:moveTo>
                  <a:pt x="261104" y="51554"/>
                </a:moveTo>
                <a:cubicBezTo>
                  <a:pt x="268545" y="44113"/>
                  <a:pt x="268545" y="32028"/>
                  <a:pt x="261104" y="24586"/>
                </a:cubicBezTo>
                <a:cubicBezTo>
                  <a:pt x="253663" y="17145"/>
                  <a:pt x="241578" y="17145"/>
                  <a:pt x="234136" y="24586"/>
                </a:cubicBezTo>
                <a:lnTo>
                  <a:pt x="5536" y="253186"/>
                </a:lnTo>
                <a:cubicBezTo>
                  <a:pt x="-1905" y="260628"/>
                  <a:pt x="-1905" y="272713"/>
                  <a:pt x="5536" y="280154"/>
                </a:cubicBezTo>
                <a:cubicBezTo>
                  <a:pt x="12978" y="287595"/>
                  <a:pt x="25063" y="287595"/>
                  <a:pt x="32504" y="280154"/>
                </a:cubicBezTo>
                <a:lnTo>
                  <a:pt x="261104" y="51554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58300" y="2324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容量保证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96300" y="2959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每个队列配置最小和最大容量，确保资源隔离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96300" y="3416300"/>
            <a:ext cx="6985000" cy="863600"/>
          </a:xfrm>
          <a:custGeom>
            <a:avLst/>
            <a:gdLst/>
            <a:ahLst/>
            <a:cxnLst/>
            <a:rect l="l" t="t" r="r" b="b"/>
            <a:pathLst>
              <a:path w="6985000" h="863600">
                <a:moveTo>
                  <a:pt x="50797" y="0"/>
                </a:moveTo>
                <a:lnTo>
                  <a:pt x="6934203" y="0"/>
                </a:lnTo>
                <a:cubicBezTo>
                  <a:pt x="6962257" y="0"/>
                  <a:pt x="6985000" y="22743"/>
                  <a:pt x="6985000" y="50797"/>
                </a:cubicBezTo>
                <a:lnTo>
                  <a:pt x="6985000" y="812803"/>
                </a:lnTo>
                <a:cubicBezTo>
                  <a:pt x="6985000" y="840857"/>
                  <a:pt x="6962257" y="863600"/>
                  <a:pt x="693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48700" y="35687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最小容量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48700" y="38735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队列在任何情况下都能获得的资源保障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96300" y="4381500"/>
            <a:ext cx="6985000" cy="863600"/>
          </a:xfrm>
          <a:custGeom>
            <a:avLst/>
            <a:gdLst/>
            <a:ahLst/>
            <a:cxnLst/>
            <a:rect l="l" t="t" r="r" b="b"/>
            <a:pathLst>
              <a:path w="6985000" h="863600">
                <a:moveTo>
                  <a:pt x="50797" y="0"/>
                </a:moveTo>
                <a:lnTo>
                  <a:pt x="6934203" y="0"/>
                </a:lnTo>
                <a:cubicBezTo>
                  <a:pt x="6962257" y="0"/>
                  <a:pt x="6985000" y="22743"/>
                  <a:pt x="6985000" y="50797"/>
                </a:cubicBezTo>
                <a:lnTo>
                  <a:pt x="6985000" y="812803"/>
                </a:lnTo>
                <a:cubicBezTo>
                  <a:pt x="6985000" y="840857"/>
                  <a:pt x="6962257" y="863600"/>
                  <a:pt x="693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48700" y="45339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最大容量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48700" y="48387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队列在资源充足时能获得的资源上限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350" y="5721350"/>
            <a:ext cx="7505700" cy="2705100"/>
          </a:xfrm>
          <a:custGeom>
            <a:avLst/>
            <a:gdLst/>
            <a:ahLst/>
            <a:cxnLst/>
            <a:rect l="l" t="t" r="r" b="b"/>
            <a:pathLst>
              <a:path w="7505700" h="2705100">
                <a:moveTo>
                  <a:pt x="101604" y="0"/>
                </a:moveTo>
                <a:lnTo>
                  <a:pt x="7404096" y="0"/>
                </a:lnTo>
                <a:cubicBezTo>
                  <a:pt x="7460211" y="0"/>
                  <a:pt x="7505700" y="45489"/>
                  <a:pt x="7505700" y="101604"/>
                </a:cubicBezTo>
                <a:lnTo>
                  <a:pt x="7505700" y="2603496"/>
                </a:lnTo>
                <a:cubicBezTo>
                  <a:pt x="7505700" y="2659611"/>
                  <a:pt x="7460211" y="2705100"/>
                  <a:pt x="7404096" y="2705100"/>
                </a:cubicBezTo>
                <a:lnTo>
                  <a:pt x="101604" y="2705100"/>
                </a:lnTo>
                <a:cubicBezTo>
                  <a:pt x="45489" y="2705100"/>
                  <a:pt x="0" y="2659611"/>
                  <a:pt x="0" y="26034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74700" y="598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946150" y="6134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536700" y="61087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弹性资源共享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4700" y="67437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空闲资源可分配给其他队列，提高资源利用率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2800" y="7251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30300" y="72009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当队列资源不足时，可借用其他队列的空闲资源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" y="76073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0300" y="75565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资源归还：当原队列需要资源时，借用的资源需归还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800" y="7962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30300" y="79121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提高整体资源利用率，避免资源浪费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5950" y="5721350"/>
            <a:ext cx="7505700" cy="2705100"/>
          </a:xfrm>
          <a:custGeom>
            <a:avLst/>
            <a:gdLst/>
            <a:ahLst/>
            <a:cxnLst/>
            <a:rect l="l" t="t" r="r" b="b"/>
            <a:pathLst>
              <a:path w="7505700" h="2705100">
                <a:moveTo>
                  <a:pt x="101604" y="0"/>
                </a:moveTo>
                <a:lnTo>
                  <a:pt x="7404096" y="0"/>
                </a:lnTo>
                <a:cubicBezTo>
                  <a:pt x="7460211" y="0"/>
                  <a:pt x="7505700" y="45489"/>
                  <a:pt x="7505700" y="101604"/>
                </a:cubicBezTo>
                <a:lnTo>
                  <a:pt x="7505700" y="2603496"/>
                </a:lnTo>
                <a:cubicBezTo>
                  <a:pt x="7505700" y="2659611"/>
                  <a:pt x="7460211" y="2705100"/>
                  <a:pt x="7404096" y="2705100"/>
                </a:cubicBezTo>
                <a:lnTo>
                  <a:pt x="101604" y="2705100"/>
                </a:lnTo>
                <a:cubicBezTo>
                  <a:pt x="45489" y="2705100"/>
                  <a:pt x="0" y="2659611"/>
                  <a:pt x="0" y="26034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96300" y="5981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86800" y="6134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258300" y="61087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96300" y="67437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基于用户和组的访问控制，确保资源安全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09000" y="72517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8900" y="98425"/>
                </a:moveTo>
                <a:cubicBezTo>
                  <a:pt x="115185" y="98425"/>
                  <a:pt x="136525" y="77085"/>
                  <a:pt x="136525" y="50800"/>
                </a:cubicBezTo>
                <a:cubicBezTo>
                  <a:pt x="136525" y="24515"/>
                  <a:pt x="115185" y="3175"/>
                  <a:pt x="88900" y="3175"/>
                </a:cubicBezTo>
                <a:cubicBezTo>
                  <a:pt x="62615" y="3175"/>
                  <a:pt x="41275" y="24515"/>
                  <a:pt x="41275" y="50800"/>
                </a:cubicBezTo>
                <a:cubicBezTo>
                  <a:pt x="41275" y="77085"/>
                  <a:pt x="62615" y="98425"/>
                  <a:pt x="88900" y="98425"/>
                </a:cubicBezTo>
                <a:close/>
                <a:moveTo>
                  <a:pt x="77113" y="120650"/>
                </a:moveTo>
                <a:cubicBezTo>
                  <a:pt x="38021" y="120650"/>
                  <a:pt x="6350" y="152321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17951" y="203200"/>
                </a:lnTo>
                <a:cubicBezTo>
                  <a:pt x="103584" y="186293"/>
                  <a:pt x="95250" y="164505"/>
                  <a:pt x="95250" y="141446"/>
                </a:cubicBezTo>
                <a:lnTo>
                  <a:pt x="95250" y="129103"/>
                </a:lnTo>
                <a:cubicBezTo>
                  <a:pt x="95250" y="126206"/>
                  <a:pt x="95647" y="123349"/>
                  <a:pt x="96401" y="120650"/>
                </a:cubicBezTo>
                <a:lnTo>
                  <a:pt x="77113" y="120650"/>
                </a:lnTo>
                <a:close/>
                <a:moveTo>
                  <a:pt x="176728" y="193873"/>
                </a:moveTo>
                <a:lnTo>
                  <a:pt x="171450" y="196374"/>
                </a:lnTo>
                <a:lnTo>
                  <a:pt x="171450" y="121722"/>
                </a:lnTo>
                <a:lnTo>
                  <a:pt x="209550" y="134422"/>
                </a:lnTo>
                <a:lnTo>
                  <a:pt x="209550" y="142200"/>
                </a:lnTo>
                <a:cubicBezTo>
                  <a:pt x="209550" y="164346"/>
                  <a:pt x="196771" y="184468"/>
                  <a:pt x="176728" y="193913"/>
                </a:cubicBezTo>
                <a:close/>
                <a:moveTo>
                  <a:pt x="167442" y="102989"/>
                </a:moveTo>
                <a:lnTo>
                  <a:pt x="122992" y="117793"/>
                </a:lnTo>
                <a:cubicBezTo>
                  <a:pt x="117792" y="119539"/>
                  <a:pt x="114300" y="124381"/>
                  <a:pt x="114300" y="129858"/>
                </a:cubicBezTo>
                <a:lnTo>
                  <a:pt x="114300" y="142200"/>
                </a:lnTo>
                <a:cubicBezTo>
                  <a:pt x="114300" y="171728"/>
                  <a:pt x="131366" y="198596"/>
                  <a:pt x="158036" y="211138"/>
                </a:cubicBezTo>
                <a:lnTo>
                  <a:pt x="165378" y="214590"/>
                </a:lnTo>
                <a:cubicBezTo>
                  <a:pt x="167283" y="215463"/>
                  <a:pt x="169347" y="215940"/>
                  <a:pt x="171410" y="215940"/>
                </a:cubicBezTo>
                <a:cubicBezTo>
                  <a:pt x="173474" y="215940"/>
                  <a:pt x="175577" y="215463"/>
                  <a:pt x="177443" y="214590"/>
                </a:cubicBezTo>
                <a:lnTo>
                  <a:pt x="184785" y="211138"/>
                </a:lnTo>
                <a:cubicBezTo>
                  <a:pt x="211534" y="198557"/>
                  <a:pt x="228600" y="171688"/>
                  <a:pt x="228600" y="142161"/>
                </a:cubicBezTo>
                <a:lnTo>
                  <a:pt x="228600" y="129818"/>
                </a:lnTo>
                <a:cubicBezTo>
                  <a:pt x="228600" y="124341"/>
                  <a:pt x="225108" y="119499"/>
                  <a:pt x="219908" y="117753"/>
                </a:cubicBezTo>
                <a:lnTo>
                  <a:pt x="175458" y="102949"/>
                </a:lnTo>
                <a:cubicBezTo>
                  <a:pt x="172839" y="102076"/>
                  <a:pt x="170021" y="102076"/>
                  <a:pt x="167442" y="10294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851900" y="72009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用户权限：控制用户提交应用和管理队列的权限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6300" y="76073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851900" y="75565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组权限：基于用户组配置队列访问权限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09000" y="7962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851900" y="79121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ACL控制：细粒度的访问控制列表管理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227" y="427227"/>
            <a:ext cx="15486991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kern="0" spc="67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 SCHEDULER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7227" y="769009"/>
            <a:ext cx="15593798" cy="42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 Scheduler 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7227" y="1324405"/>
            <a:ext cx="1025346" cy="42723"/>
          </a:xfrm>
          <a:custGeom>
            <a:avLst/>
            <a:gdLst/>
            <a:ahLst/>
            <a:cxnLst/>
            <a:rect l="l" t="t" r="r" b="b"/>
            <a:pathLst>
              <a:path w="1025346" h="42723">
                <a:moveTo>
                  <a:pt x="0" y="0"/>
                </a:moveTo>
                <a:lnTo>
                  <a:pt x="1025346" y="0"/>
                </a:lnTo>
                <a:lnTo>
                  <a:pt x="1025346" y="42723"/>
                </a:lnTo>
                <a:lnTo>
                  <a:pt x="0" y="42723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32568" y="1628804"/>
            <a:ext cx="7604647" cy="3086717"/>
          </a:xfrm>
          <a:custGeom>
            <a:avLst/>
            <a:gdLst/>
            <a:ahLst/>
            <a:cxnLst/>
            <a:rect l="l" t="t" r="r" b="b"/>
            <a:pathLst>
              <a:path w="7604647" h="3086717">
                <a:moveTo>
                  <a:pt x="85440" y="0"/>
                </a:moveTo>
                <a:lnTo>
                  <a:pt x="7519206" y="0"/>
                </a:lnTo>
                <a:cubicBezTo>
                  <a:pt x="7566394" y="0"/>
                  <a:pt x="7604647" y="38253"/>
                  <a:pt x="7604647" y="85440"/>
                </a:cubicBezTo>
                <a:lnTo>
                  <a:pt x="7604647" y="3001277"/>
                </a:lnTo>
                <a:cubicBezTo>
                  <a:pt x="7604647" y="3048465"/>
                  <a:pt x="7566394" y="3086717"/>
                  <a:pt x="7519206" y="3086717"/>
                </a:cubicBezTo>
                <a:lnTo>
                  <a:pt x="85440" y="3086717"/>
                </a:lnTo>
                <a:cubicBezTo>
                  <a:pt x="38253" y="3086717"/>
                  <a:pt x="0" y="3048465"/>
                  <a:pt x="0" y="3001277"/>
                </a:cubicBezTo>
                <a:lnTo>
                  <a:pt x="0" y="85440"/>
                </a:lnTo>
                <a:cubicBezTo>
                  <a:pt x="0" y="38285"/>
                  <a:pt x="38285" y="0"/>
                  <a:pt x="8544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1522" y="1847758"/>
            <a:ext cx="512673" cy="512673"/>
          </a:xfrm>
          <a:custGeom>
            <a:avLst/>
            <a:gdLst/>
            <a:ahLst/>
            <a:cxnLst/>
            <a:rect l="l" t="t" r="r" b="b"/>
            <a:pathLst>
              <a:path w="512673" h="512673">
                <a:moveTo>
                  <a:pt x="85447" y="0"/>
                </a:moveTo>
                <a:lnTo>
                  <a:pt x="427226" y="0"/>
                </a:lnTo>
                <a:cubicBezTo>
                  <a:pt x="474417" y="0"/>
                  <a:pt x="512673" y="38256"/>
                  <a:pt x="512673" y="85447"/>
                </a:cubicBezTo>
                <a:lnTo>
                  <a:pt x="512673" y="427226"/>
                </a:lnTo>
                <a:cubicBezTo>
                  <a:pt x="512673" y="474417"/>
                  <a:pt x="474417" y="512673"/>
                  <a:pt x="427226" y="512673"/>
                </a:cubicBezTo>
                <a:lnTo>
                  <a:pt x="85447" y="512673"/>
                </a:lnTo>
                <a:cubicBezTo>
                  <a:pt x="38256" y="512673"/>
                  <a:pt x="0" y="474417"/>
                  <a:pt x="0" y="427226"/>
                </a:cubicBezTo>
                <a:lnTo>
                  <a:pt x="0" y="85447"/>
                </a:lnTo>
                <a:cubicBezTo>
                  <a:pt x="0" y="38288"/>
                  <a:pt x="38288" y="0"/>
                  <a:pt x="8544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5711" y="1975926"/>
            <a:ext cx="224294" cy="256336"/>
          </a:xfrm>
          <a:custGeom>
            <a:avLst/>
            <a:gdLst/>
            <a:ahLst/>
            <a:cxnLst/>
            <a:rect l="l" t="t" r="r" b="b"/>
            <a:pathLst>
              <a:path w="224294" h="256336">
                <a:moveTo>
                  <a:pt x="16021" y="64084"/>
                </a:moveTo>
                <a:cubicBezTo>
                  <a:pt x="7159" y="64084"/>
                  <a:pt x="0" y="71243"/>
                  <a:pt x="0" y="80105"/>
                </a:cubicBezTo>
                <a:cubicBezTo>
                  <a:pt x="0" y="88967"/>
                  <a:pt x="7159" y="96126"/>
                  <a:pt x="16021" y="96126"/>
                </a:cubicBezTo>
                <a:lnTo>
                  <a:pt x="208273" y="96126"/>
                </a:lnTo>
                <a:cubicBezTo>
                  <a:pt x="217135" y="96126"/>
                  <a:pt x="224294" y="88967"/>
                  <a:pt x="224294" y="80105"/>
                </a:cubicBezTo>
                <a:cubicBezTo>
                  <a:pt x="224294" y="71243"/>
                  <a:pt x="217135" y="64084"/>
                  <a:pt x="208273" y="64084"/>
                </a:cubicBezTo>
                <a:lnTo>
                  <a:pt x="16021" y="64084"/>
                </a:lnTo>
                <a:close/>
                <a:moveTo>
                  <a:pt x="16021" y="160210"/>
                </a:moveTo>
                <a:cubicBezTo>
                  <a:pt x="7159" y="160210"/>
                  <a:pt x="0" y="167370"/>
                  <a:pt x="0" y="176231"/>
                </a:cubicBezTo>
                <a:cubicBezTo>
                  <a:pt x="0" y="185093"/>
                  <a:pt x="7159" y="192252"/>
                  <a:pt x="16021" y="192252"/>
                </a:cubicBezTo>
                <a:lnTo>
                  <a:pt x="208273" y="192252"/>
                </a:lnTo>
                <a:cubicBezTo>
                  <a:pt x="217135" y="192252"/>
                  <a:pt x="224294" y="185093"/>
                  <a:pt x="224294" y="176231"/>
                </a:cubicBezTo>
                <a:cubicBezTo>
                  <a:pt x="224294" y="167370"/>
                  <a:pt x="217135" y="160210"/>
                  <a:pt x="208273" y="160210"/>
                </a:cubicBezTo>
                <a:lnTo>
                  <a:pt x="16021" y="16021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92363" y="1954565"/>
            <a:ext cx="1388489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资源公平分配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1522" y="2488599"/>
            <a:ext cx="725218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确保所有应用获得相等的资源份额，实现真正的公平性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1522" y="2873104"/>
            <a:ext cx="7166739" cy="769009"/>
          </a:xfrm>
          <a:custGeom>
            <a:avLst/>
            <a:gdLst/>
            <a:ahLst/>
            <a:cxnLst/>
            <a:rect l="l" t="t" r="r" b="b"/>
            <a:pathLst>
              <a:path w="7166739" h="769009">
                <a:moveTo>
                  <a:pt x="42726" y="0"/>
                </a:moveTo>
                <a:lnTo>
                  <a:pt x="7124012" y="0"/>
                </a:lnTo>
                <a:cubicBezTo>
                  <a:pt x="7147609" y="0"/>
                  <a:pt x="7166739" y="19129"/>
                  <a:pt x="7166739" y="42726"/>
                </a:cubicBezTo>
                <a:lnTo>
                  <a:pt x="7166739" y="726283"/>
                </a:lnTo>
                <a:cubicBezTo>
                  <a:pt x="7166739" y="749880"/>
                  <a:pt x="7147609" y="769009"/>
                  <a:pt x="7124012" y="769009"/>
                </a:cubicBezTo>
                <a:lnTo>
                  <a:pt x="42726" y="769009"/>
                </a:lnTo>
                <a:cubicBezTo>
                  <a:pt x="19129" y="769009"/>
                  <a:pt x="0" y="749880"/>
                  <a:pt x="0" y="726283"/>
                </a:cubicBezTo>
                <a:lnTo>
                  <a:pt x="0" y="42726"/>
                </a:lnTo>
                <a:cubicBezTo>
                  <a:pt x="0" y="19145"/>
                  <a:pt x="19145" y="0"/>
                  <a:pt x="4272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9690" y="3001272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公平性定义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9690" y="3300331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所有活动应用获得相同数量的Container资源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522" y="3727558"/>
            <a:ext cx="7166739" cy="769009"/>
          </a:xfrm>
          <a:custGeom>
            <a:avLst/>
            <a:gdLst/>
            <a:ahLst/>
            <a:cxnLst/>
            <a:rect l="l" t="t" r="r" b="b"/>
            <a:pathLst>
              <a:path w="7166739" h="769009">
                <a:moveTo>
                  <a:pt x="42726" y="0"/>
                </a:moveTo>
                <a:lnTo>
                  <a:pt x="7124012" y="0"/>
                </a:lnTo>
                <a:cubicBezTo>
                  <a:pt x="7147609" y="0"/>
                  <a:pt x="7166739" y="19129"/>
                  <a:pt x="7166739" y="42726"/>
                </a:cubicBezTo>
                <a:lnTo>
                  <a:pt x="7166739" y="726283"/>
                </a:lnTo>
                <a:cubicBezTo>
                  <a:pt x="7166739" y="749880"/>
                  <a:pt x="7147609" y="769009"/>
                  <a:pt x="7124012" y="769009"/>
                </a:cubicBezTo>
                <a:lnTo>
                  <a:pt x="42726" y="769009"/>
                </a:lnTo>
                <a:cubicBezTo>
                  <a:pt x="19129" y="769009"/>
                  <a:pt x="0" y="749880"/>
                  <a:pt x="0" y="726283"/>
                </a:cubicBezTo>
                <a:lnTo>
                  <a:pt x="0" y="42726"/>
                </a:lnTo>
                <a:cubicBezTo>
                  <a:pt x="0" y="19145"/>
                  <a:pt x="19145" y="0"/>
                  <a:pt x="4272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9690" y="3855727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调度周期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9690" y="4154786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每个调度周期选择资源最少的应用进行调度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17534" y="1628804"/>
            <a:ext cx="7604647" cy="3086717"/>
          </a:xfrm>
          <a:custGeom>
            <a:avLst/>
            <a:gdLst/>
            <a:ahLst/>
            <a:cxnLst/>
            <a:rect l="l" t="t" r="r" b="b"/>
            <a:pathLst>
              <a:path w="7604647" h="3086717">
                <a:moveTo>
                  <a:pt x="85440" y="0"/>
                </a:moveTo>
                <a:lnTo>
                  <a:pt x="7519206" y="0"/>
                </a:lnTo>
                <a:cubicBezTo>
                  <a:pt x="7566394" y="0"/>
                  <a:pt x="7604647" y="38253"/>
                  <a:pt x="7604647" y="85440"/>
                </a:cubicBezTo>
                <a:lnTo>
                  <a:pt x="7604647" y="3001277"/>
                </a:lnTo>
                <a:cubicBezTo>
                  <a:pt x="7604647" y="3048465"/>
                  <a:pt x="7566394" y="3086717"/>
                  <a:pt x="7519206" y="3086717"/>
                </a:cubicBezTo>
                <a:lnTo>
                  <a:pt x="85440" y="3086717"/>
                </a:lnTo>
                <a:cubicBezTo>
                  <a:pt x="38253" y="3086717"/>
                  <a:pt x="0" y="3048465"/>
                  <a:pt x="0" y="3001277"/>
                </a:cubicBezTo>
                <a:lnTo>
                  <a:pt x="0" y="85440"/>
                </a:lnTo>
                <a:cubicBezTo>
                  <a:pt x="0" y="38285"/>
                  <a:pt x="38285" y="0"/>
                  <a:pt x="8544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436488" y="1847758"/>
            <a:ext cx="512673" cy="512673"/>
          </a:xfrm>
          <a:custGeom>
            <a:avLst/>
            <a:gdLst/>
            <a:ahLst/>
            <a:cxnLst/>
            <a:rect l="l" t="t" r="r" b="b"/>
            <a:pathLst>
              <a:path w="512673" h="512673">
                <a:moveTo>
                  <a:pt x="85447" y="0"/>
                </a:moveTo>
                <a:lnTo>
                  <a:pt x="427226" y="0"/>
                </a:lnTo>
                <a:cubicBezTo>
                  <a:pt x="474417" y="0"/>
                  <a:pt x="512673" y="38256"/>
                  <a:pt x="512673" y="85447"/>
                </a:cubicBezTo>
                <a:lnTo>
                  <a:pt x="512673" y="427226"/>
                </a:lnTo>
                <a:cubicBezTo>
                  <a:pt x="512673" y="474417"/>
                  <a:pt x="474417" y="512673"/>
                  <a:pt x="427226" y="512673"/>
                </a:cubicBezTo>
                <a:lnTo>
                  <a:pt x="85447" y="512673"/>
                </a:lnTo>
                <a:cubicBezTo>
                  <a:pt x="38256" y="512673"/>
                  <a:pt x="0" y="474417"/>
                  <a:pt x="0" y="427226"/>
                </a:cubicBezTo>
                <a:lnTo>
                  <a:pt x="0" y="85447"/>
                </a:lnTo>
                <a:cubicBezTo>
                  <a:pt x="0" y="38288"/>
                  <a:pt x="38288" y="0"/>
                  <a:pt x="8544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64656" y="1975926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12147" y="48063"/>
                </a:moveTo>
                <a:cubicBezTo>
                  <a:pt x="112147" y="39221"/>
                  <a:pt x="119326" y="32042"/>
                  <a:pt x="128168" y="32042"/>
                </a:cubicBezTo>
                <a:cubicBezTo>
                  <a:pt x="137010" y="32042"/>
                  <a:pt x="144189" y="39221"/>
                  <a:pt x="144189" y="48063"/>
                </a:cubicBezTo>
                <a:cubicBezTo>
                  <a:pt x="144189" y="56905"/>
                  <a:pt x="137010" y="64084"/>
                  <a:pt x="128168" y="64084"/>
                </a:cubicBezTo>
                <a:cubicBezTo>
                  <a:pt x="119326" y="64084"/>
                  <a:pt x="112147" y="56905"/>
                  <a:pt x="112147" y="48063"/>
                </a:cubicBezTo>
                <a:close/>
                <a:moveTo>
                  <a:pt x="173478" y="64084"/>
                </a:moveTo>
                <a:cubicBezTo>
                  <a:pt x="175230" y="59078"/>
                  <a:pt x="176231" y="53670"/>
                  <a:pt x="176231" y="48063"/>
                </a:cubicBezTo>
                <a:cubicBezTo>
                  <a:pt x="176231" y="21528"/>
                  <a:pt x="154703" y="0"/>
                  <a:pt x="128168" y="0"/>
                </a:cubicBezTo>
                <a:cubicBezTo>
                  <a:pt x="101633" y="0"/>
                  <a:pt x="80105" y="21528"/>
                  <a:pt x="80105" y="48063"/>
                </a:cubicBezTo>
                <a:cubicBezTo>
                  <a:pt x="80105" y="53670"/>
                  <a:pt x="81056" y="59078"/>
                  <a:pt x="82859" y="64084"/>
                </a:cubicBezTo>
                <a:lnTo>
                  <a:pt x="71944" y="64084"/>
                </a:lnTo>
                <a:cubicBezTo>
                  <a:pt x="57776" y="64084"/>
                  <a:pt x="45309" y="73346"/>
                  <a:pt x="41254" y="86914"/>
                </a:cubicBezTo>
                <a:lnTo>
                  <a:pt x="1202" y="220389"/>
                </a:lnTo>
                <a:cubicBezTo>
                  <a:pt x="401" y="222993"/>
                  <a:pt x="0" y="225696"/>
                  <a:pt x="0" y="228400"/>
                </a:cubicBezTo>
                <a:cubicBezTo>
                  <a:pt x="0" y="243820"/>
                  <a:pt x="12516" y="256336"/>
                  <a:pt x="27937" y="256336"/>
                </a:cubicBezTo>
                <a:lnTo>
                  <a:pt x="228400" y="256336"/>
                </a:lnTo>
                <a:cubicBezTo>
                  <a:pt x="243820" y="256336"/>
                  <a:pt x="256336" y="243820"/>
                  <a:pt x="256336" y="228400"/>
                </a:cubicBezTo>
                <a:cubicBezTo>
                  <a:pt x="256336" y="225696"/>
                  <a:pt x="255936" y="222993"/>
                  <a:pt x="255135" y="220389"/>
                </a:cubicBezTo>
                <a:lnTo>
                  <a:pt x="215082" y="86964"/>
                </a:lnTo>
                <a:cubicBezTo>
                  <a:pt x="211027" y="73396"/>
                  <a:pt x="198561" y="64134"/>
                  <a:pt x="184392" y="64134"/>
                </a:cubicBezTo>
                <a:lnTo>
                  <a:pt x="173478" y="64134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077329" y="1954565"/>
            <a:ext cx="961261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权重支持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6488" y="2488599"/>
            <a:ext cx="725218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通过权重实现差异化资源分配，支持业务优先级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36488" y="2873104"/>
            <a:ext cx="7166739" cy="769009"/>
          </a:xfrm>
          <a:custGeom>
            <a:avLst/>
            <a:gdLst/>
            <a:ahLst/>
            <a:cxnLst/>
            <a:rect l="l" t="t" r="r" b="b"/>
            <a:pathLst>
              <a:path w="7166739" h="769009">
                <a:moveTo>
                  <a:pt x="42726" y="0"/>
                </a:moveTo>
                <a:lnTo>
                  <a:pt x="7124012" y="0"/>
                </a:lnTo>
                <a:cubicBezTo>
                  <a:pt x="7147609" y="0"/>
                  <a:pt x="7166739" y="19129"/>
                  <a:pt x="7166739" y="42726"/>
                </a:cubicBezTo>
                <a:lnTo>
                  <a:pt x="7166739" y="726283"/>
                </a:lnTo>
                <a:cubicBezTo>
                  <a:pt x="7166739" y="749880"/>
                  <a:pt x="7147609" y="769009"/>
                  <a:pt x="7124012" y="769009"/>
                </a:cubicBezTo>
                <a:lnTo>
                  <a:pt x="42726" y="769009"/>
                </a:lnTo>
                <a:cubicBezTo>
                  <a:pt x="19129" y="769009"/>
                  <a:pt x="0" y="749880"/>
                  <a:pt x="0" y="726283"/>
                </a:cubicBezTo>
                <a:lnTo>
                  <a:pt x="0" y="42726"/>
                </a:lnTo>
                <a:cubicBezTo>
                  <a:pt x="0" y="19145"/>
                  <a:pt x="19145" y="0"/>
                  <a:pt x="4272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64656" y="3001272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权重配置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64656" y="3300331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为不同应用或用户配置不同权重，权重高的获得更多资源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36488" y="3727558"/>
            <a:ext cx="7166739" cy="769009"/>
          </a:xfrm>
          <a:custGeom>
            <a:avLst/>
            <a:gdLst/>
            <a:ahLst/>
            <a:cxnLst/>
            <a:rect l="l" t="t" r="r" b="b"/>
            <a:pathLst>
              <a:path w="7166739" h="769009">
                <a:moveTo>
                  <a:pt x="42726" y="0"/>
                </a:moveTo>
                <a:lnTo>
                  <a:pt x="7124012" y="0"/>
                </a:lnTo>
                <a:cubicBezTo>
                  <a:pt x="7147609" y="0"/>
                  <a:pt x="7166739" y="19129"/>
                  <a:pt x="7166739" y="42726"/>
                </a:cubicBezTo>
                <a:lnTo>
                  <a:pt x="7166739" y="726283"/>
                </a:lnTo>
                <a:cubicBezTo>
                  <a:pt x="7166739" y="749880"/>
                  <a:pt x="7147609" y="769009"/>
                  <a:pt x="7124012" y="769009"/>
                </a:cubicBezTo>
                <a:lnTo>
                  <a:pt x="42726" y="769009"/>
                </a:lnTo>
                <a:cubicBezTo>
                  <a:pt x="19129" y="769009"/>
                  <a:pt x="0" y="749880"/>
                  <a:pt x="0" y="726283"/>
                </a:cubicBezTo>
                <a:lnTo>
                  <a:pt x="0" y="42726"/>
                </a:lnTo>
                <a:cubicBezTo>
                  <a:pt x="0" y="19145"/>
                  <a:pt x="19145" y="0"/>
                  <a:pt x="42726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64656" y="3855727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加权公平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64656" y="4154786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资源分配与权重成正比，实现差异化服务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2568" y="4897093"/>
            <a:ext cx="7604647" cy="3813004"/>
          </a:xfrm>
          <a:custGeom>
            <a:avLst/>
            <a:gdLst/>
            <a:ahLst/>
            <a:cxnLst/>
            <a:rect l="l" t="t" r="r" b="b"/>
            <a:pathLst>
              <a:path w="7604647" h="3813004">
                <a:moveTo>
                  <a:pt x="85449" y="0"/>
                </a:moveTo>
                <a:lnTo>
                  <a:pt x="7519197" y="0"/>
                </a:lnTo>
                <a:cubicBezTo>
                  <a:pt x="7566390" y="0"/>
                  <a:pt x="7604647" y="38257"/>
                  <a:pt x="7604647" y="85449"/>
                </a:cubicBezTo>
                <a:lnTo>
                  <a:pt x="7604647" y="3727555"/>
                </a:lnTo>
                <a:cubicBezTo>
                  <a:pt x="7604647" y="3774747"/>
                  <a:pt x="7566390" y="3813004"/>
                  <a:pt x="7519197" y="3813004"/>
                </a:cubicBezTo>
                <a:lnTo>
                  <a:pt x="85449" y="3813004"/>
                </a:lnTo>
                <a:cubicBezTo>
                  <a:pt x="38257" y="3813004"/>
                  <a:pt x="0" y="3774747"/>
                  <a:pt x="0" y="3727555"/>
                </a:cubicBezTo>
                <a:lnTo>
                  <a:pt x="0" y="85449"/>
                </a:lnTo>
                <a:cubicBezTo>
                  <a:pt x="0" y="38289"/>
                  <a:pt x="38289" y="0"/>
                  <a:pt x="8544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51522" y="5116047"/>
            <a:ext cx="512673" cy="512673"/>
          </a:xfrm>
          <a:custGeom>
            <a:avLst/>
            <a:gdLst/>
            <a:ahLst/>
            <a:cxnLst/>
            <a:rect l="l" t="t" r="r" b="b"/>
            <a:pathLst>
              <a:path w="512673" h="512673">
                <a:moveTo>
                  <a:pt x="85447" y="0"/>
                </a:moveTo>
                <a:lnTo>
                  <a:pt x="427226" y="0"/>
                </a:lnTo>
                <a:cubicBezTo>
                  <a:pt x="474417" y="0"/>
                  <a:pt x="512673" y="38256"/>
                  <a:pt x="512673" y="85447"/>
                </a:cubicBezTo>
                <a:lnTo>
                  <a:pt x="512673" y="427226"/>
                </a:lnTo>
                <a:cubicBezTo>
                  <a:pt x="512673" y="474417"/>
                  <a:pt x="474417" y="512673"/>
                  <a:pt x="427226" y="512673"/>
                </a:cubicBezTo>
                <a:lnTo>
                  <a:pt x="85447" y="512673"/>
                </a:lnTo>
                <a:cubicBezTo>
                  <a:pt x="38256" y="512673"/>
                  <a:pt x="0" y="474417"/>
                  <a:pt x="0" y="427226"/>
                </a:cubicBezTo>
                <a:lnTo>
                  <a:pt x="0" y="85447"/>
                </a:lnTo>
                <a:cubicBezTo>
                  <a:pt x="0" y="38288"/>
                  <a:pt x="38288" y="0"/>
                  <a:pt x="8544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79690" y="5244216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28168" y="32042"/>
                </a:moveTo>
                <a:cubicBezTo>
                  <a:pt x="99731" y="32042"/>
                  <a:pt x="74147" y="44408"/>
                  <a:pt x="56524" y="64084"/>
                </a:cubicBezTo>
                <a:lnTo>
                  <a:pt x="80105" y="64084"/>
                </a:lnTo>
                <a:cubicBezTo>
                  <a:pt x="88967" y="64084"/>
                  <a:pt x="96126" y="71243"/>
                  <a:pt x="96126" y="80105"/>
                </a:cubicBezTo>
                <a:cubicBezTo>
                  <a:pt x="96126" y="88967"/>
                  <a:pt x="88967" y="96126"/>
                  <a:pt x="80105" y="96126"/>
                </a:cubicBezTo>
                <a:lnTo>
                  <a:pt x="16021" y="96126"/>
                </a:lnTo>
                <a:cubicBezTo>
                  <a:pt x="7159" y="96126"/>
                  <a:pt x="0" y="88967"/>
                  <a:pt x="0" y="80105"/>
                </a:cubicBezTo>
                <a:lnTo>
                  <a:pt x="0" y="16021"/>
                </a:lnTo>
                <a:cubicBezTo>
                  <a:pt x="0" y="7159"/>
                  <a:pt x="7159" y="0"/>
                  <a:pt x="16021" y="0"/>
                </a:cubicBezTo>
                <a:cubicBezTo>
                  <a:pt x="24883" y="0"/>
                  <a:pt x="32042" y="7159"/>
                  <a:pt x="32042" y="16021"/>
                </a:cubicBezTo>
                <a:lnTo>
                  <a:pt x="32042" y="43407"/>
                </a:lnTo>
                <a:cubicBezTo>
                  <a:pt x="55523" y="16822"/>
                  <a:pt x="89868" y="0"/>
                  <a:pt x="128168" y="0"/>
                </a:cubicBezTo>
                <a:cubicBezTo>
                  <a:pt x="198961" y="0"/>
                  <a:pt x="256336" y="57375"/>
                  <a:pt x="256336" y="128168"/>
                </a:cubicBezTo>
                <a:cubicBezTo>
                  <a:pt x="256336" y="198961"/>
                  <a:pt x="198961" y="256336"/>
                  <a:pt x="128168" y="256336"/>
                </a:cubicBezTo>
                <a:cubicBezTo>
                  <a:pt x="84611" y="256336"/>
                  <a:pt x="46111" y="234608"/>
                  <a:pt x="22980" y="201414"/>
                </a:cubicBezTo>
                <a:cubicBezTo>
                  <a:pt x="17924" y="194155"/>
                  <a:pt x="19676" y="184192"/>
                  <a:pt x="26935" y="179085"/>
                </a:cubicBezTo>
                <a:cubicBezTo>
                  <a:pt x="34195" y="173978"/>
                  <a:pt x="44158" y="175781"/>
                  <a:pt x="49265" y="183040"/>
                </a:cubicBezTo>
                <a:cubicBezTo>
                  <a:pt x="66688" y="207973"/>
                  <a:pt x="95525" y="224244"/>
                  <a:pt x="128168" y="224244"/>
                </a:cubicBezTo>
                <a:cubicBezTo>
                  <a:pt x="181238" y="224244"/>
                  <a:pt x="224294" y="181188"/>
                  <a:pt x="224294" y="128118"/>
                </a:cubicBezTo>
                <a:cubicBezTo>
                  <a:pt x="224294" y="75048"/>
                  <a:pt x="181238" y="32042"/>
                  <a:pt x="128168" y="32042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92363" y="5222854"/>
            <a:ext cx="961261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抢占机制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1522" y="5756888"/>
            <a:ext cx="725218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回收超额分配的资源，确保公平性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883" y="6184116"/>
            <a:ext cx="170891" cy="170891"/>
          </a:xfrm>
          <a:custGeom>
            <a:avLst/>
            <a:gdLst/>
            <a:ahLst/>
            <a:cxnLst/>
            <a:rect l="l" t="t" r="r" b="b"/>
            <a:pathLst>
              <a:path w="170891" h="170891">
                <a:moveTo>
                  <a:pt x="85445" y="0"/>
                </a:moveTo>
                <a:cubicBezTo>
                  <a:pt x="132604" y="0"/>
                  <a:pt x="170891" y="38287"/>
                  <a:pt x="170891" y="85445"/>
                </a:cubicBezTo>
                <a:cubicBezTo>
                  <a:pt x="170891" y="132604"/>
                  <a:pt x="132604" y="170891"/>
                  <a:pt x="85445" y="170891"/>
                </a:cubicBezTo>
                <a:cubicBezTo>
                  <a:pt x="38287" y="170891"/>
                  <a:pt x="0" y="132604"/>
                  <a:pt x="0" y="85445"/>
                </a:cubicBezTo>
                <a:cubicBezTo>
                  <a:pt x="0" y="38287"/>
                  <a:pt x="38287" y="0"/>
                  <a:pt x="85445" y="0"/>
                </a:cubicBezTo>
                <a:close/>
                <a:moveTo>
                  <a:pt x="77435" y="40053"/>
                </a:moveTo>
                <a:lnTo>
                  <a:pt x="77435" y="85445"/>
                </a:lnTo>
                <a:cubicBezTo>
                  <a:pt x="77435" y="88116"/>
                  <a:pt x="78770" y="90619"/>
                  <a:pt x="81006" y="92121"/>
                </a:cubicBezTo>
                <a:lnTo>
                  <a:pt x="113048" y="113482"/>
                </a:lnTo>
                <a:cubicBezTo>
                  <a:pt x="116720" y="115952"/>
                  <a:pt x="121693" y="114951"/>
                  <a:pt x="124163" y="111246"/>
                </a:cubicBezTo>
                <a:cubicBezTo>
                  <a:pt x="126633" y="107541"/>
                  <a:pt x="125632" y="102601"/>
                  <a:pt x="121927" y="100131"/>
                </a:cubicBezTo>
                <a:lnTo>
                  <a:pt x="93456" y="81173"/>
                </a:lnTo>
                <a:lnTo>
                  <a:pt x="93456" y="40053"/>
                </a:lnTo>
                <a:cubicBezTo>
                  <a:pt x="93456" y="35613"/>
                  <a:pt x="89885" y="32042"/>
                  <a:pt x="85445" y="32042"/>
                </a:cubicBezTo>
                <a:cubicBezTo>
                  <a:pt x="81006" y="32042"/>
                  <a:pt x="77435" y="35613"/>
                  <a:pt x="77435" y="4005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50581" y="6141393"/>
            <a:ext cx="2467238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超时机制：</a:t>
            </a:r>
            <a:r>
              <a:rPr lang="en-US" sz="117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等待一定时间后启动抢占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2883" y="6483175"/>
            <a:ext cx="170891" cy="170891"/>
          </a:xfrm>
          <a:custGeom>
            <a:avLst/>
            <a:gdLst/>
            <a:ahLst/>
            <a:cxnLst/>
            <a:rect l="l" t="t" r="r" b="b"/>
            <a:pathLst>
              <a:path w="170891" h="170891">
                <a:moveTo>
                  <a:pt x="122561" y="137681"/>
                </a:moveTo>
                <a:lnTo>
                  <a:pt x="33210" y="48330"/>
                </a:lnTo>
                <a:cubicBezTo>
                  <a:pt x="25734" y="58811"/>
                  <a:pt x="21361" y="71627"/>
                  <a:pt x="21361" y="85445"/>
                </a:cubicBezTo>
                <a:cubicBezTo>
                  <a:pt x="21361" y="120825"/>
                  <a:pt x="50066" y="149530"/>
                  <a:pt x="85445" y="149530"/>
                </a:cubicBezTo>
                <a:cubicBezTo>
                  <a:pt x="99297" y="149530"/>
                  <a:pt x="112114" y="145157"/>
                  <a:pt x="122561" y="137681"/>
                </a:cubicBezTo>
                <a:close/>
                <a:moveTo>
                  <a:pt x="137681" y="122561"/>
                </a:moveTo>
                <a:cubicBezTo>
                  <a:pt x="145157" y="112080"/>
                  <a:pt x="149530" y="99264"/>
                  <a:pt x="149530" y="85445"/>
                </a:cubicBezTo>
                <a:cubicBezTo>
                  <a:pt x="149530" y="50066"/>
                  <a:pt x="120825" y="21361"/>
                  <a:pt x="85445" y="21361"/>
                </a:cubicBezTo>
                <a:cubicBezTo>
                  <a:pt x="71594" y="21361"/>
                  <a:pt x="58777" y="25734"/>
                  <a:pt x="48330" y="33210"/>
                </a:cubicBezTo>
                <a:lnTo>
                  <a:pt x="137681" y="122561"/>
                </a:lnTo>
                <a:close/>
                <a:moveTo>
                  <a:pt x="0" y="85445"/>
                </a:moveTo>
                <a:cubicBezTo>
                  <a:pt x="0" y="38287"/>
                  <a:pt x="38287" y="0"/>
                  <a:pt x="85445" y="0"/>
                </a:cubicBezTo>
                <a:cubicBezTo>
                  <a:pt x="132604" y="0"/>
                  <a:pt x="170891" y="38287"/>
                  <a:pt x="170891" y="85445"/>
                </a:cubicBezTo>
                <a:cubicBezTo>
                  <a:pt x="170891" y="132604"/>
                  <a:pt x="132604" y="170891"/>
                  <a:pt x="85445" y="170891"/>
                </a:cubicBezTo>
                <a:cubicBezTo>
                  <a:pt x="38287" y="170891"/>
                  <a:pt x="0" y="132604"/>
                  <a:pt x="0" y="8544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50581" y="6440452"/>
            <a:ext cx="2841062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强制终止：</a:t>
            </a:r>
            <a:r>
              <a:rPr lang="en-US" sz="117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终止超额使用资源的Container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1522" y="6782234"/>
            <a:ext cx="213614" cy="170891"/>
          </a:xfrm>
          <a:custGeom>
            <a:avLst/>
            <a:gdLst/>
            <a:ahLst/>
            <a:cxnLst/>
            <a:rect l="l" t="t" r="r" b="b"/>
            <a:pathLst>
              <a:path w="213614" h="170891">
                <a:moveTo>
                  <a:pt x="128168" y="10681"/>
                </a:moveTo>
                <a:lnTo>
                  <a:pt x="170891" y="10681"/>
                </a:lnTo>
                <a:cubicBezTo>
                  <a:pt x="176799" y="10681"/>
                  <a:pt x="181572" y="15454"/>
                  <a:pt x="181572" y="21361"/>
                </a:cubicBezTo>
                <a:cubicBezTo>
                  <a:pt x="181572" y="27269"/>
                  <a:pt x="176799" y="32042"/>
                  <a:pt x="170891" y="32042"/>
                </a:cubicBezTo>
                <a:lnTo>
                  <a:pt x="132975" y="32042"/>
                </a:lnTo>
                <a:cubicBezTo>
                  <a:pt x="131239" y="40653"/>
                  <a:pt x="125331" y="47763"/>
                  <a:pt x="117488" y="51167"/>
                </a:cubicBezTo>
                <a:lnTo>
                  <a:pt x="117488" y="149530"/>
                </a:lnTo>
                <a:lnTo>
                  <a:pt x="170891" y="149530"/>
                </a:lnTo>
                <a:cubicBezTo>
                  <a:pt x="176799" y="149530"/>
                  <a:pt x="181572" y="154302"/>
                  <a:pt x="181572" y="160210"/>
                </a:cubicBezTo>
                <a:cubicBezTo>
                  <a:pt x="181572" y="166118"/>
                  <a:pt x="176799" y="170891"/>
                  <a:pt x="170891" y="170891"/>
                </a:cubicBezTo>
                <a:lnTo>
                  <a:pt x="42723" y="170891"/>
                </a:lnTo>
                <a:cubicBezTo>
                  <a:pt x="36815" y="170891"/>
                  <a:pt x="32042" y="166118"/>
                  <a:pt x="32042" y="160210"/>
                </a:cubicBezTo>
                <a:cubicBezTo>
                  <a:pt x="32042" y="154302"/>
                  <a:pt x="36815" y="149530"/>
                  <a:pt x="42723" y="149530"/>
                </a:cubicBezTo>
                <a:lnTo>
                  <a:pt x="96126" y="149530"/>
                </a:lnTo>
                <a:lnTo>
                  <a:pt x="96126" y="51167"/>
                </a:lnTo>
                <a:cubicBezTo>
                  <a:pt x="88283" y="47729"/>
                  <a:pt x="82375" y="40620"/>
                  <a:pt x="80639" y="32042"/>
                </a:cubicBezTo>
                <a:lnTo>
                  <a:pt x="42723" y="32042"/>
                </a:lnTo>
                <a:cubicBezTo>
                  <a:pt x="36815" y="32042"/>
                  <a:pt x="32042" y="27269"/>
                  <a:pt x="32042" y="21361"/>
                </a:cubicBezTo>
                <a:cubicBezTo>
                  <a:pt x="32042" y="15454"/>
                  <a:pt x="36815" y="10681"/>
                  <a:pt x="42723" y="10681"/>
                </a:cubicBezTo>
                <a:lnTo>
                  <a:pt x="85445" y="10681"/>
                </a:lnTo>
                <a:cubicBezTo>
                  <a:pt x="90319" y="4206"/>
                  <a:pt x="98062" y="0"/>
                  <a:pt x="106807" y="0"/>
                </a:cubicBezTo>
                <a:cubicBezTo>
                  <a:pt x="115552" y="0"/>
                  <a:pt x="123295" y="4206"/>
                  <a:pt x="128168" y="10681"/>
                </a:cubicBezTo>
                <a:close/>
                <a:moveTo>
                  <a:pt x="146726" y="106807"/>
                </a:moveTo>
                <a:lnTo>
                  <a:pt x="195056" y="106807"/>
                </a:lnTo>
                <a:lnTo>
                  <a:pt x="170891" y="65352"/>
                </a:lnTo>
                <a:lnTo>
                  <a:pt x="146726" y="106807"/>
                </a:lnTo>
                <a:close/>
                <a:moveTo>
                  <a:pt x="170891" y="138849"/>
                </a:moveTo>
                <a:cubicBezTo>
                  <a:pt x="149897" y="138849"/>
                  <a:pt x="132440" y="127501"/>
                  <a:pt x="128836" y="112514"/>
                </a:cubicBezTo>
                <a:cubicBezTo>
                  <a:pt x="127968" y="108843"/>
                  <a:pt x="129170" y="105071"/>
                  <a:pt x="131072" y="101800"/>
                </a:cubicBezTo>
                <a:lnTo>
                  <a:pt x="162847" y="47329"/>
                </a:lnTo>
                <a:cubicBezTo>
                  <a:pt x="164516" y="44458"/>
                  <a:pt x="167587" y="42723"/>
                  <a:pt x="170891" y="42723"/>
                </a:cubicBezTo>
                <a:cubicBezTo>
                  <a:pt x="174195" y="42723"/>
                  <a:pt x="177266" y="44492"/>
                  <a:pt x="178935" y="47329"/>
                </a:cubicBezTo>
                <a:lnTo>
                  <a:pt x="210710" y="101800"/>
                </a:lnTo>
                <a:cubicBezTo>
                  <a:pt x="212612" y="105071"/>
                  <a:pt x="213814" y="108843"/>
                  <a:pt x="212946" y="112514"/>
                </a:cubicBezTo>
                <a:cubicBezTo>
                  <a:pt x="209341" y="127467"/>
                  <a:pt x="191885" y="138849"/>
                  <a:pt x="170891" y="138849"/>
                </a:cubicBezTo>
                <a:close/>
                <a:moveTo>
                  <a:pt x="42322" y="65352"/>
                </a:moveTo>
                <a:lnTo>
                  <a:pt x="18157" y="106807"/>
                </a:lnTo>
                <a:lnTo>
                  <a:pt x="66521" y="106807"/>
                </a:lnTo>
                <a:lnTo>
                  <a:pt x="42322" y="65352"/>
                </a:lnTo>
                <a:close/>
                <a:moveTo>
                  <a:pt x="300" y="112514"/>
                </a:moveTo>
                <a:cubicBezTo>
                  <a:pt x="-567" y="108843"/>
                  <a:pt x="634" y="105071"/>
                  <a:pt x="2537" y="101800"/>
                </a:cubicBezTo>
                <a:lnTo>
                  <a:pt x="34312" y="47329"/>
                </a:lnTo>
                <a:cubicBezTo>
                  <a:pt x="35981" y="44458"/>
                  <a:pt x="39051" y="42723"/>
                  <a:pt x="42356" y="42723"/>
                </a:cubicBezTo>
                <a:cubicBezTo>
                  <a:pt x="45660" y="42723"/>
                  <a:pt x="48731" y="44492"/>
                  <a:pt x="50399" y="47329"/>
                </a:cubicBezTo>
                <a:lnTo>
                  <a:pt x="82175" y="101800"/>
                </a:lnTo>
                <a:cubicBezTo>
                  <a:pt x="84077" y="105071"/>
                  <a:pt x="85279" y="108843"/>
                  <a:pt x="84411" y="112514"/>
                </a:cubicBezTo>
                <a:cubicBezTo>
                  <a:pt x="80806" y="127467"/>
                  <a:pt x="63350" y="138849"/>
                  <a:pt x="42356" y="138849"/>
                </a:cubicBezTo>
                <a:cubicBezTo>
                  <a:pt x="21361" y="138849"/>
                  <a:pt x="3905" y="127501"/>
                  <a:pt x="300" y="11251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50581" y="6739511"/>
            <a:ext cx="276629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资源平衡：</a:t>
            </a:r>
            <a:r>
              <a:rPr lang="en-US" sz="117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将资源重新分配给需要的应用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7534" y="4897093"/>
            <a:ext cx="7604647" cy="3813004"/>
          </a:xfrm>
          <a:custGeom>
            <a:avLst/>
            <a:gdLst/>
            <a:ahLst/>
            <a:cxnLst/>
            <a:rect l="l" t="t" r="r" b="b"/>
            <a:pathLst>
              <a:path w="7604647" h="3813004">
                <a:moveTo>
                  <a:pt x="85449" y="0"/>
                </a:moveTo>
                <a:lnTo>
                  <a:pt x="7519197" y="0"/>
                </a:lnTo>
                <a:cubicBezTo>
                  <a:pt x="7566390" y="0"/>
                  <a:pt x="7604647" y="38257"/>
                  <a:pt x="7604647" y="85449"/>
                </a:cubicBezTo>
                <a:lnTo>
                  <a:pt x="7604647" y="3727555"/>
                </a:lnTo>
                <a:cubicBezTo>
                  <a:pt x="7604647" y="3774747"/>
                  <a:pt x="7566390" y="3813004"/>
                  <a:pt x="7519197" y="3813004"/>
                </a:cubicBezTo>
                <a:lnTo>
                  <a:pt x="85449" y="3813004"/>
                </a:lnTo>
                <a:cubicBezTo>
                  <a:pt x="38257" y="3813004"/>
                  <a:pt x="0" y="3774747"/>
                  <a:pt x="0" y="3727555"/>
                </a:cubicBezTo>
                <a:lnTo>
                  <a:pt x="0" y="85449"/>
                </a:lnTo>
                <a:cubicBezTo>
                  <a:pt x="0" y="38289"/>
                  <a:pt x="38289" y="0"/>
                  <a:pt x="8544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36488" y="5116047"/>
            <a:ext cx="512673" cy="512673"/>
          </a:xfrm>
          <a:custGeom>
            <a:avLst/>
            <a:gdLst/>
            <a:ahLst/>
            <a:cxnLst/>
            <a:rect l="l" t="t" r="r" b="b"/>
            <a:pathLst>
              <a:path w="512673" h="512673">
                <a:moveTo>
                  <a:pt x="85447" y="0"/>
                </a:moveTo>
                <a:lnTo>
                  <a:pt x="427226" y="0"/>
                </a:lnTo>
                <a:cubicBezTo>
                  <a:pt x="474417" y="0"/>
                  <a:pt x="512673" y="38256"/>
                  <a:pt x="512673" y="85447"/>
                </a:cubicBezTo>
                <a:lnTo>
                  <a:pt x="512673" y="427226"/>
                </a:lnTo>
                <a:cubicBezTo>
                  <a:pt x="512673" y="474417"/>
                  <a:pt x="474417" y="512673"/>
                  <a:pt x="427226" y="512673"/>
                </a:cubicBezTo>
                <a:lnTo>
                  <a:pt x="85447" y="512673"/>
                </a:lnTo>
                <a:cubicBezTo>
                  <a:pt x="38256" y="512673"/>
                  <a:pt x="0" y="474417"/>
                  <a:pt x="0" y="427226"/>
                </a:cubicBezTo>
                <a:lnTo>
                  <a:pt x="0" y="85447"/>
                </a:lnTo>
                <a:cubicBezTo>
                  <a:pt x="0" y="38288"/>
                  <a:pt x="38288" y="0"/>
                  <a:pt x="8544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564656" y="5244216"/>
            <a:ext cx="256336" cy="256336"/>
          </a:xfrm>
          <a:custGeom>
            <a:avLst/>
            <a:gdLst/>
            <a:ahLst/>
            <a:cxnLst/>
            <a:rect l="l" t="t" r="r" b="b"/>
            <a:pathLst>
              <a:path w="256336" h="256336">
                <a:moveTo>
                  <a:pt x="116403" y="2603"/>
                </a:moveTo>
                <a:cubicBezTo>
                  <a:pt x="123863" y="-851"/>
                  <a:pt x="132474" y="-851"/>
                  <a:pt x="139934" y="2603"/>
                </a:cubicBezTo>
                <a:lnTo>
                  <a:pt x="249377" y="53170"/>
                </a:lnTo>
                <a:cubicBezTo>
                  <a:pt x="253633" y="55122"/>
                  <a:pt x="256336" y="59378"/>
                  <a:pt x="256336" y="64084"/>
                </a:cubicBezTo>
                <a:cubicBezTo>
                  <a:pt x="256336" y="68790"/>
                  <a:pt x="253633" y="73046"/>
                  <a:pt x="249377" y="74998"/>
                </a:cubicBezTo>
                <a:lnTo>
                  <a:pt x="139934" y="125565"/>
                </a:lnTo>
                <a:cubicBezTo>
                  <a:pt x="132474" y="129019"/>
                  <a:pt x="123863" y="129019"/>
                  <a:pt x="116403" y="125565"/>
                </a:cubicBezTo>
                <a:lnTo>
                  <a:pt x="6959" y="74998"/>
                </a:lnTo>
                <a:cubicBezTo>
                  <a:pt x="2704" y="72996"/>
                  <a:pt x="0" y="68740"/>
                  <a:pt x="0" y="64084"/>
                </a:cubicBezTo>
                <a:cubicBezTo>
                  <a:pt x="0" y="59428"/>
                  <a:pt x="2704" y="55122"/>
                  <a:pt x="6959" y="53170"/>
                </a:cubicBezTo>
                <a:lnTo>
                  <a:pt x="116403" y="2603"/>
                </a:lnTo>
                <a:close/>
                <a:moveTo>
                  <a:pt x="24082" y="109343"/>
                </a:moveTo>
                <a:lnTo>
                  <a:pt x="106340" y="147343"/>
                </a:lnTo>
                <a:cubicBezTo>
                  <a:pt x="120208" y="153752"/>
                  <a:pt x="136179" y="153752"/>
                  <a:pt x="150047" y="147343"/>
                </a:cubicBezTo>
                <a:lnTo>
                  <a:pt x="232305" y="109343"/>
                </a:lnTo>
                <a:lnTo>
                  <a:pt x="249377" y="117254"/>
                </a:lnTo>
                <a:cubicBezTo>
                  <a:pt x="253633" y="119206"/>
                  <a:pt x="256336" y="123462"/>
                  <a:pt x="256336" y="128168"/>
                </a:cubicBezTo>
                <a:cubicBezTo>
                  <a:pt x="256336" y="132874"/>
                  <a:pt x="253633" y="137130"/>
                  <a:pt x="249377" y="139083"/>
                </a:cubicBezTo>
                <a:lnTo>
                  <a:pt x="139934" y="189649"/>
                </a:lnTo>
                <a:cubicBezTo>
                  <a:pt x="132474" y="193103"/>
                  <a:pt x="123863" y="193103"/>
                  <a:pt x="116403" y="189649"/>
                </a:cubicBezTo>
                <a:lnTo>
                  <a:pt x="6959" y="139083"/>
                </a:lnTo>
                <a:cubicBezTo>
                  <a:pt x="2704" y="137080"/>
                  <a:pt x="0" y="132824"/>
                  <a:pt x="0" y="128168"/>
                </a:cubicBezTo>
                <a:cubicBezTo>
                  <a:pt x="0" y="123512"/>
                  <a:pt x="2704" y="119206"/>
                  <a:pt x="6959" y="117254"/>
                </a:cubicBezTo>
                <a:lnTo>
                  <a:pt x="24032" y="109343"/>
                </a:lnTo>
                <a:close/>
                <a:moveTo>
                  <a:pt x="6959" y="181338"/>
                </a:moveTo>
                <a:lnTo>
                  <a:pt x="24032" y="173428"/>
                </a:lnTo>
                <a:lnTo>
                  <a:pt x="106289" y="211427"/>
                </a:lnTo>
                <a:cubicBezTo>
                  <a:pt x="120158" y="217836"/>
                  <a:pt x="136129" y="217836"/>
                  <a:pt x="149997" y="211427"/>
                </a:cubicBezTo>
                <a:lnTo>
                  <a:pt x="232255" y="173428"/>
                </a:lnTo>
                <a:lnTo>
                  <a:pt x="249327" y="181338"/>
                </a:lnTo>
                <a:cubicBezTo>
                  <a:pt x="253583" y="183291"/>
                  <a:pt x="256286" y="187546"/>
                  <a:pt x="256286" y="192252"/>
                </a:cubicBezTo>
                <a:cubicBezTo>
                  <a:pt x="256286" y="196958"/>
                  <a:pt x="253583" y="201214"/>
                  <a:pt x="249327" y="203167"/>
                </a:cubicBezTo>
                <a:lnTo>
                  <a:pt x="139884" y="253733"/>
                </a:lnTo>
                <a:cubicBezTo>
                  <a:pt x="132424" y="257188"/>
                  <a:pt x="123812" y="257188"/>
                  <a:pt x="116353" y="253733"/>
                </a:cubicBezTo>
                <a:lnTo>
                  <a:pt x="6959" y="203167"/>
                </a:lnTo>
                <a:cubicBezTo>
                  <a:pt x="2704" y="201164"/>
                  <a:pt x="0" y="196908"/>
                  <a:pt x="0" y="192252"/>
                </a:cubicBezTo>
                <a:cubicBezTo>
                  <a:pt x="0" y="187596"/>
                  <a:pt x="2704" y="183291"/>
                  <a:pt x="6959" y="18133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077329" y="5222854"/>
            <a:ext cx="961261" cy="29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8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调度策略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36488" y="5756888"/>
            <a:ext cx="725218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支持多种调度策略，满足不同场景需求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36488" y="6141393"/>
            <a:ext cx="7166739" cy="726286"/>
          </a:xfrm>
          <a:custGeom>
            <a:avLst/>
            <a:gdLst/>
            <a:ahLst/>
            <a:cxnLst/>
            <a:rect l="l" t="t" r="r" b="b"/>
            <a:pathLst>
              <a:path w="7166739" h="726286">
                <a:moveTo>
                  <a:pt x="42720" y="0"/>
                </a:moveTo>
                <a:lnTo>
                  <a:pt x="7124018" y="0"/>
                </a:lnTo>
                <a:cubicBezTo>
                  <a:pt x="7147612" y="0"/>
                  <a:pt x="7166739" y="19126"/>
                  <a:pt x="7166739" y="42720"/>
                </a:cubicBezTo>
                <a:lnTo>
                  <a:pt x="7166739" y="683566"/>
                </a:lnTo>
                <a:cubicBezTo>
                  <a:pt x="7166739" y="707160"/>
                  <a:pt x="7147612" y="726286"/>
                  <a:pt x="7124018" y="726286"/>
                </a:cubicBezTo>
                <a:lnTo>
                  <a:pt x="42720" y="726286"/>
                </a:lnTo>
                <a:cubicBezTo>
                  <a:pt x="19126" y="726286"/>
                  <a:pt x="0" y="707160"/>
                  <a:pt x="0" y="683566"/>
                </a:cubicBezTo>
                <a:lnTo>
                  <a:pt x="0" y="42720"/>
                </a:lnTo>
                <a:cubicBezTo>
                  <a:pt x="0" y="19142"/>
                  <a:pt x="19142" y="0"/>
                  <a:pt x="4272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64656" y="6269561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FIFO策略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64656" y="6525898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先进先出，适合简单场景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36488" y="6953125"/>
            <a:ext cx="7166739" cy="726286"/>
          </a:xfrm>
          <a:custGeom>
            <a:avLst/>
            <a:gdLst/>
            <a:ahLst/>
            <a:cxnLst/>
            <a:rect l="l" t="t" r="r" b="b"/>
            <a:pathLst>
              <a:path w="7166739" h="726286">
                <a:moveTo>
                  <a:pt x="42720" y="0"/>
                </a:moveTo>
                <a:lnTo>
                  <a:pt x="7124018" y="0"/>
                </a:lnTo>
                <a:cubicBezTo>
                  <a:pt x="7147612" y="0"/>
                  <a:pt x="7166739" y="19126"/>
                  <a:pt x="7166739" y="42720"/>
                </a:cubicBezTo>
                <a:lnTo>
                  <a:pt x="7166739" y="683566"/>
                </a:lnTo>
                <a:cubicBezTo>
                  <a:pt x="7166739" y="707160"/>
                  <a:pt x="7147612" y="726286"/>
                  <a:pt x="7124018" y="726286"/>
                </a:cubicBezTo>
                <a:lnTo>
                  <a:pt x="42720" y="726286"/>
                </a:lnTo>
                <a:cubicBezTo>
                  <a:pt x="19126" y="726286"/>
                  <a:pt x="0" y="707160"/>
                  <a:pt x="0" y="683566"/>
                </a:cubicBezTo>
                <a:lnTo>
                  <a:pt x="0" y="42720"/>
                </a:lnTo>
                <a:cubicBezTo>
                  <a:pt x="0" y="19142"/>
                  <a:pt x="19142" y="0"/>
                  <a:pt x="4272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64656" y="7081293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Fair策略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64656" y="7337629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公平分配，适合多用户共享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36488" y="7764857"/>
            <a:ext cx="7166739" cy="726286"/>
          </a:xfrm>
          <a:custGeom>
            <a:avLst/>
            <a:gdLst/>
            <a:ahLst/>
            <a:cxnLst/>
            <a:rect l="l" t="t" r="r" b="b"/>
            <a:pathLst>
              <a:path w="7166739" h="726286">
                <a:moveTo>
                  <a:pt x="42720" y="0"/>
                </a:moveTo>
                <a:lnTo>
                  <a:pt x="7124018" y="0"/>
                </a:lnTo>
                <a:cubicBezTo>
                  <a:pt x="7147612" y="0"/>
                  <a:pt x="7166739" y="19126"/>
                  <a:pt x="7166739" y="42720"/>
                </a:cubicBezTo>
                <a:lnTo>
                  <a:pt x="7166739" y="683566"/>
                </a:lnTo>
                <a:cubicBezTo>
                  <a:pt x="7166739" y="707160"/>
                  <a:pt x="7147612" y="726286"/>
                  <a:pt x="7124018" y="726286"/>
                </a:cubicBezTo>
                <a:lnTo>
                  <a:pt x="42720" y="726286"/>
                </a:lnTo>
                <a:cubicBezTo>
                  <a:pt x="19126" y="726286"/>
                  <a:pt x="0" y="707160"/>
                  <a:pt x="0" y="683566"/>
                </a:cubicBezTo>
                <a:lnTo>
                  <a:pt x="0" y="42720"/>
                </a:lnTo>
                <a:cubicBezTo>
                  <a:pt x="0" y="19142"/>
                  <a:pt x="19142" y="0"/>
                  <a:pt x="4272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64656" y="7893025"/>
            <a:ext cx="6995848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DRF策略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64656" y="8149361"/>
            <a:ext cx="6985167" cy="21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主导资源公平，适合多维资源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LOCALITY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12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33917" y="1619250"/>
            <a:ext cx="15388167" cy="2137833"/>
          </a:xfrm>
          <a:custGeom>
            <a:avLst/>
            <a:gdLst/>
            <a:ahLst/>
            <a:cxnLst/>
            <a:rect l="l" t="t" r="r" b="b"/>
            <a:pathLst>
              <a:path w="15388167" h="2137833">
                <a:moveTo>
                  <a:pt x="84658" y="0"/>
                </a:moveTo>
                <a:lnTo>
                  <a:pt x="15303508" y="0"/>
                </a:lnTo>
                <a:cubicBezTo>
                  <a:pt x="15350264" y="0"/>
                  <a:pt x="15388167" y="37903"/>
                  <a:pt x="15388167" y="84658"/>
                </a:cubicBezTo>
                <a:lnTo>
                  <a:pt x="15388167" y="2053175"/>
                </a:lnTo>
                <a:cubicBezTo>
                  <a:pt x="15388167" y="2099931"/>
                  <a:pt x="15350264" y="2137833"/>
                  <a:pt x="15303508" y="2137833"/>
                </a:cubicBezTo>
                <a:lnTo>
                  <a:pt x="84658" y="2137833"/>
                </a:lnTo>
                <a:cubicBezTo>
                  <a:pt x="37903" y="2137833"/>
                  <a:pt x="0" y="2099931"/>
                  <a:pt x="0" y="2053175"/>
                </a:cubicBezTo>
                <a:lnTo>
                  <a:pt x="0" y="84658"/>
                </a:lnTo>
                <a:cubicBezTo>
                  <a:pt x="0" y="37903"/>
                  <a:pt x="37903" y="0"/>
                  <a:pt x="8465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6167" y="184150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6083" y="1979083"/>
            <a:ext cx="238125" cy="317500"/>
          </a:xfrm>
          <a:custGeom>
            <a:avLst/>
            <a:gdLst/>
            <a:ahLst/>
            <a:cxnLst/>
            <a:rect l="l" t="t" r="r" b="b"/>
            <a:pathLst>
              <a:path w="238125" h="317500">
                <a:moveTo>
                  <a:pt x="0" y="116954"/>
                </a:moveTo>
                <a:cubicBezTo>
                  <a:pt x="0" y="52338"/>
                  <a:pt x="53330" y="0"/>
                  <a:pt x="119062" y="0"/>
                </a:cubicBezTo>
                <a:cubicBezTo>
                  <a:pt x="184795" y="0"/>
                  <a:pt x="238125" y="52338"/>
                  <a:pt x="238125" y="116954"/>
                </a:cubicBezTo>
                <a:cubicBezTo>
                  <a:pt x="238125" y="190934"/>
                  <a:pt x="163587" y="279611"/>
                  <a:pt x="132457" y="313407"/>
                </a:cubicBezTo>
                <a:cubicBezTo>
                  <a:pt x="125140" y="321345"/>
                  <a:pt x="112923" y="321345"/>
                  <a:pt x="105606" y="313407"/>
                </a:cubicBezTo>
                <a:cubicBezTo>
                  <a:pt x="74476" y="279611"/>
                  <a:pt x="-62" y="190934"/>
                  <a:pt x="-62" y="116954"/>
                </a:cubicBezTo>
                <a:close/>
                <a:moveTo>
                  <a:pt x="119062" y="158750"/>
                </a:moveTo>
                <a:cubicBezTo>
                  <a:pt x="140967" y="158750"/>
                  <a:pt x="158750" y="140967"/>
                  <a:pt x="158750" y="119062"/>
                </a:cubicBezTo>
                <a:cubicBezTo>
                  <a:pt x="158750" y="97158"/>
                  <a:pt x="140967" y="79375"/>
                  <a:pt x="119062" y="79375"/>
                </a:cubicBezTo>
                <a:cubicBezTo>
                  <a:pt x="97158" y="79375"/>
                  <a:pt x="79375" y="97158"/>
                  <a:pt x="79375" y="119062"/>
                </a:cubicBezTo>
                <a:cubicBezTo>
                  <a:pt x="79375" y="140967"/>
                  <a:pt x="97158" y="158750"/>
                  <a:pt x="119062" y="15875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18167" y="1841500"/>
            <a:ext cx="622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数据本地性的重要性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8167" y="2180167"/>
            <a:ext cx="618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数据本地性是分布式计算性能优化的核心，直接影响任务执行效率和集群整体性能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6167" y="2603500"/>
            <a:ext cx="4868333" cy="931333"/>
          </a:xfrm>
          <a:custGeom>
            <a:avLst/>
            <a:gdLst/>
            <a:ahLst/>
            <a:cxnLst/>
            <a:rect l="l" t="t" r="r" b="b"/>
            <a:pathLst>
              <a:path w="4868333" h="931333">
                <a:moveTo>
                  <a:pt x="42329" y="0"/>
                </a:moveTo>
                <a:lnTo>
                  <a:pt x="4826004" y="0"/>
                </a:lnTo>
                <a:cubicBezTo>
                  <a:pt x="4849382" y="0"/>
                  <a:pt x="4868333" y="18951"/>
                  <a:pt x="4868333" y="42329"/>
                </a:cubicBezTo>
                <a:lnTo>
                  <a:pt x="4868333" y="889004"/>
                </a:lnTo>
                <a:cubicBezTo>
                  <a:pt x="4868333" y="912382"/>
                  <a:pt x="4849382" y="931333"/>
                  <a:pt x="4826004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8729" y="281516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02526" y="36380"/>
                </a:moveTo>
                <a:lnTo>
                  <a:pt x="135599" y="36380"/>
                </a:lnTo>
                <a:lnTo>
                  <a:pt x="135599" y="56224"/>
                </a:lnTo>
                <a:lnTo>
                  <a:pt x="102526" y="56224"/>
                </a:lnTo>
                <a:lnTo>
                  <a:pt x="102526" y="36380"/>
                </a:lnTo>
                <a:close/>
                <a:moveTo>
                  <a:pt x="99219" y="13229"/>
                </a:moveTo>
                <a:cubicBezTo>
                  <a:pt x="88263" y="13229"/>
                  <a:pt x="79375" y="22118"/>
                  <a:pt x="79375" y="33073"/>
                </a:cubicBezTo>
                <a:lnTo>
                  <a:pt x="79375" y="59531"/>
                </a:lnTo>
                <a:cubicBezTo>
                  <a:pt x="79375" y="70487"/>
                  <a:pt x="88263" y="79375"/>
                  <a:pt x="99219" y="79375"/>
                </a:cubicBezTo>
                <a:lnTo>
                  <a:pt x="105833" y="79375"/>
                </a:lnTo>
                <a:lnTo>
                  <a:pt x="105833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52917" y="119063"/>
                </a:lnTo>
                <a:lnTo>
                  <a:pt x="52917" y="132292"/>
                </a:lnTo>
                <a:lnTo>
                  <a:pt x="46302" y="132292"/>
                </a:lnTo>
                <a:cubicBezTo>
                  <a:pt x="35347" y="132292"/>
                  <a:pt x="26458" y="141180"/>
                  <a:pt x="26458" y="152135"/>
                </a:cubicBezTo>
                <a:lnTo>
                  <a:pt x="26458" y="178594"/>
                </a:lnTo>
                <a:cubicBezTo>
                  <a:pt x="26458" y="189549"/>
                  <a:pt x="35347" y="198438"/>
                  <a:pt x="46302" y="198438"/>
                </a:cubicBezTo>
                <a:lnTo>
                  <a:pt x="85990" y="198438"/>
                </a:lnTo>
                <a:cubicBezTo>
                  <a:pt x="96945" y="198438"/>
                  <a:pt x="105833" y="189549"/>
                  <a:pt x="105833" y="178594"/>
                </a:cubicBezTo>
                <a:lnTo>
                  <a:pt x="105833" y="152135"/>
                </a:lnTo>
                <a:cubicBezTo>
                  <a:pt x="105833" y="141180"/>
                  <a:pt x="96945" y="132292"/>
                  <a:pt x="85990" y="132292"/>
                </a:cubicBezTo>
                <a:lnTo>
                  <a:pt x="79375" y="132292"/>
                </a:lnTo>
                <a:lnTo>
                  <a:pt x="79375" y="119063"/>
                </a:lnTo>
                <a:lnTo>
                  <a:pt x="158750" y="119063"/>
                </a:lnTo>
                <a:lnTo>
                  <a:pt x="158750" y="132292"/>
                </a:lnTo>
                <a:lnTo>
                  <a:pt x="152135" y="132292"/>
                </a:lnTo>
                <a:cubicBezTo>
                  <a:pt x="141180" y="132292"/>
                  <a:pt x="132292" y="141180"/>
                  <a:pt x="132292" y="152135"/>
                </a:cubicBezTo>
                <a:lnTo>
                  <a:pt x="132292" y="178594"/>
                </a:lnTo>
                <a:cubicBezTo>
                  <a:pt x="132292" y="189549"/>
                  <a:pt x="141180" y="198438"/>
                  <a:pt x="152135" y="198438"/>
                </a:cubicBezTo>
                <a:lnTo>
                  <a:pt x="191823" y="198438"/>
                </a:lnTo>
                <a:cubicBezTo>
                  <a:pt x="202778" y="198438"/>
                  <a:pt x="211667" y="189549"/>
                  <a:pt x="211667" y="178594"/>
                </a:cubicBezTo>
                <a:lnTo>
                  <a:pt x="211667" y="152135"/>
                </a:lnTo>
                <a:cubicBezTo>
                  <a:pt x="211667" y="141180"/>
                  <a:pt x="202778" y="132292"/>
                  <a:pt x="191823" y="132292"/>
                </a:cubicBezTo>
                <a:lnTo>
                  <a:pt x="185208" y="132292"/>
                </a:lnTo>
                <a:lnTo>
                  <a:pt x="185208" y="119063"/>
                </a:lnTo>
                <a:lnTo>
                  <a:pt x="224896" y="119063"/>
                </a:lnTo>
                <a:cubicBezTo>
                  <a:pt x="232213" y="119063"/>
                  <a:pt x="238125" y="113151"/>
                  <a:pt x="238125" y="105833"/>
                </a:cubicBezTo>
                <a:cubicBezTo>
                  <a:pt x="238125" y="98516"/>
                  <a:pt x="232213" y="92604"/>
                  <a:pt x="224896" y="92604"/>
                </a:cubicBezTo>
                <a:lnTo>
                  <a:pt x="132292" y="92604"/>
                </a:lnTo>
                <a:lnTo>
                  <a:pt x="132292" y="79375"/>
                </a:lnTo>
                <a:lnTo>
                  <a:pt x="138906" y="79375"/>
                </a:lnTo>
                <a:cubicBezTo>
                  <a:pt x="149862" y="79375"/>
                  <a:pt x="158750" y="70487"/>
                  <a:pt x="158750" y="59531"/>
                </a:cubicBezTo>
                <a:lnTo>
                  <a:pt x="158750" y="33073"/>
                </a:lnTo>
                <a:cubicBezTo>
                  <a:pt x="158750" y="22118"/>
                  <a:pt x="149862" y="13229"/>
                  <a:pt x="138906" y="13229"/>
                </a:cubicBezTo>
                <a:lnTo>
                  <a:pt x="99219" y="13229"/>
                </a:lnTo>
                <a:close/>
                <a:moveTo>
                  <a:pt x="185208" y="155443"/>
                </a:moveTo>
                <a:lnTo>
                  <a:pt x="188516" y="155443"/>
                </a:lnTo>
                <a:lnTo>
                  <a:pt x="188516" y="175286"/>
                </a:lnTo>
                <a:lnTo>
                  <a:pt x="155443" y="175286"/>
                </a:lnTo>
                <a:lnTo>
                  <a:pt x="155443" y="155443"/>
                </a:lnTo>
                <a:lnTo>
                  <a:pt x="185208" y="155443"/>
                </a:lnTo>
                <a:close/>
                <a:moveTo>
                  <a:pt x="79375" y="155443"/>
                </a:moveTo>
                <a:lnTo>
                  <a:pt x="82682" y="155443"/>
                </a:lnTo>
                <a:lnTo>
                  <a:pt x="82682" y="175286"/>
                </a:lnTo>
                <a:lnTo>
                  <a:pt x="49609" y="175286"/>
                </a:lnTo>
                <a:lnTo>
                  <a:pt x="49609" y="155443"/>
                </a:lnTo>
                <a:lnTo>
                  <a:pt x="79375" y="155443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74750" y="2772833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避免网络传输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500" y="3153833"/>
            <a:ext cx="4603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在数据所在节点执行任务，避免跨网络数据传输，显著降低I/O开销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3833" y="2603500"/>
            <a:ext cx="4868333" cy="931333"/>
          </a:xfrm>
          <a:custGeom>
            <a:avLst/>
            <a:gdLst/>
            <a:ahLst/>
            <a:cxnLst/>
            <a:rect l="l" t="t" r="r" b="b"/>
            <a:pathLst>
              <a:path w="4868333" h="931333">
                <a:moveTo>
                  <a:pt x="42329" y="0"/>
                </a:moveTo>
                <a:lnTo>
                  <a:pt x="4826004" y="0"/>
                </a:lnTo>
                <a:cubicBezTo>
                  <a:pt x="4849382" y="0"/>
                  <a:pt x="4868333" y="18951"/>
                  <a:pt x="4868333" y="42329"/>
                </a:cubicBezTo>
                <a:lnTo>
                  <a:pt x="4868333" y="889004"/>
                </a:lnTo>
                <a:cubicBezTo>
                  <a:pt x="4868333" y="912382"/>
                  <a:pt x="4849382" y="931333"/>
                  <a:pt x="4826004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89625" y="2815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105833"/>
                </a:moveTo>
                <a:cubicBezTo>
                  <a:pt x="0" y="47422"/>
                  <a:pt x="47422" y="0"/>
                  <a:pt x="105833" y="0"/>
                </a:cubicBezTo>
                <a:cubicBezTo>
                  <a:pt x="164244" y="0"/>
                  <a:pt x="211667" y="47422"/>
                  <a:pt x="211667" y="105833"/>
                </a:cubicBezTo>
                <a:cubicBezTo>
                  <a:pt x="211667" y="164244"/>
                  <a:pt x="164244" y="211667"/>
                  <a:pt x="105833" y="211667"/>
                </a:cubicBezTo>
                <a:cubicBezTo>
                  <a:pt x="47422" y="211667"/>
                  <a:pt x="0" y="164244"/>
                  <a:pt x="0" y="105833"/>
                </a:cubicBezTo>
                <a:close/>
                <a:moveTo>
                  <a:pt x="119063" y="39688"/>
                </a:moveTo>
                <a:cubicBezTo>
                  <a:pt x="119063" y="32386"/>
                  <a:pt x="113135" y="26458"/>
                  <a:pt x="105833" y="26458"/>
                </a:cubicBezTo>
                <a:cubicBezTo>
                  <a:pt x="98532" y="26458"/>
                  <a:pt x="92604" y="32386"/>
                  <a:pt x="92604" y="39688"/>
                </a:cubicBezTo>
                <a:cubicBezTo>
                  <a:pt x="92604" y="46989"/>
                  <a:pt x="98532" y="52917"/>
                  <a:pt x="105833" y="52917"/>
                </a:cubicBezTo>
                <a:cubicBezTo>
                  <a:pt x="113135" y="52917"/>
                  <a:pt x="119063" y="46989"/>
                  <a:pt x="119063" y="39688"/>
                </a:cubicBezTo>
                <a:close/>
                <a:moveTo>
                  <a:pt x="105833" y="171979"/>
                </a:moveTo>
                <a:cubicBezTo>
                  <a:pt x="120427" y="171979"/>
                  <a:pt x="132292" y="160114"/>
                  <a:pt x="132292" y="145521"/>
                </a:cubicBezTo>
                <a:cubicBezTo>
                  <a:pt x="132292" y="138824"/>
                  <a:pt x="129811" y="132664"/>
                  <a:pt x="125677" y="128034"/>
                </a:cubicBezTo>
                <a:lnTo>
                  <a:pt x="154409" y="70611"/>
                </a:lnTo>
                <a:cubicBezTo>
                  <a:pt x="156848" y="65691"/>
                  <a:pt x="154864" y="59738"/>
                  <a:pt x="149986" y="57299"/>
                </a:cubicBezTo>
                <a:cubicBezTo>
                  <a:pt x="145107" y="54860"/>
                  <a:pt x="139113" y="56844"/>
                  <a:pt x="136674" y="61722"/>
                </a:cubicBezTo>
                <a:lnTo>
                  <a:pt x="107942" y="119145"/>
                </a:lnTo>
                <a:cubicBezTo>
                  <a:pt x="107239" y="119104"/>
                  <a:pt x="106536" y="119063"/>
                  <a:pt x="105833" y="119063"/>
                </a:cubicBezTo>
                <a:cubicBezTo>
                  <a:pt x="91240" y="119063"/>
                  <a:pt x="79375" y="130927"/>
                  <a:pt x="79375" y="145521"/>
                </a:cubicBezTo>
                <a:cubicBezTo>
                  <a:pt x="79375" y="160114"/>
                  <a:pt x="91240" y="171979"/>
                  <a:pt x="105833" y="171979"/>
                </a:cubicBezTo>
                <a:close/>
                <a:moveTo>
                  <a:pt x="72760" y="59531"/>
                </a:moveTo>
                <a:cubicBezTo>
                  <a:pt x="72760" y="52230"/>
                  <a:pt x="66833" y="46302"/>
                  <a:pt x="59531" y="46302"/>
                </a:cubicBezTo>
                <a:cubicBezTo>
                  <a:pt x="52230" y="46302"/>
                  <a:pt x="46302" y="52230"/>
                  <a:pt x="46302" y="59531"/>
                </a:cubicBezTo>
                <a:cubicBezTo>
                  <a:pt x="46302" y="66833"/>
                  <a:pt x="52230" y="72760"/>
                  <a:pt x="59531" y="72760"/>
                </a:cubicBezTo>
                <a:cubicBezTo>
                  <a:pt x="66833" y="72760"/>
                  <a:pt x="72760" y="66833"/>
                  <a:pt x="72760" y="59531"/>
                </a:cubicBezTo>
                <a:close/>
                <a:moveTo>
                  <a:pt x="39688" y="119063"/>
                </a:moveTo>
                <a:cubicBezTo>
                  <a:pt x="46989" y="119063"/>
                  <a:pt x="52917" y="113135"/>
                  <a:pt x="52917" y="105833"/>
                </a:cubicBezTo>
                <a:cubicBezTo>
                  <a:pt x="52917" y="98532"/>
                  <a:pt x="46989" y="92604"/>
                  <a:pt x="39688" y="92604"/>
                </a:cubicBezTo>
                <a:cubicBezTo>
                  <a:pt x="32386" y="92604"/>
                  <a:pt x="26458" y="98532"/>
                  <a:pt x="26458" y="105833"/>
                </a:cubicBezTo>
                <a:cubicBezTo>
                  <a:pt x="26458" y="113135"/>
                  <a:pt x="32386" y="119063"/>
                  <a:pt x="39688" y="119063"/>
                </a:cubicBezTo>
                <a:close/>
                <a:moveTo>
                  <a:pt x="185208" y="105833"/>
                </a:moveTo>
                <a:cubicBezTo>
                  <a:pt x="185208" y="98532"/>
                  <a:pt x="179281" y="92604"/>
                  <a:pt x="171979" y="92604"/>
                </a:cubicBezTo>
                <a:cubicBezTo>
                  <a:pt x="164678" y="92604"/>
                  <a:pt x="158750" y="98532"/>
                  <a:pt x="158750" y="105833"/>
                </a:cubicBezTo>
                <a:cubicBezTo>
                  <a:pt x="158750" y="113135"/>
                  <a:pt x="164678" y="119063"/>
                  <a:pt x="171979" y="119063"/>
                </a:cubicBezTo>
                <a:cubicBezTo>
                  <a:pt x="179281" y="119063"/>
                  <a:pt x="185208" y="113135"/>
                  <a:pt x="185208" y="10583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2417" y="2772833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提升执行效率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63167" y="3153833"/>
            <a:ext cx="4603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本地数据访问速度远超网络传输，任务执行时间大幅缩短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31500" y="2603500"/>
            <a:ext cx="4868333" cy="931333"/>
          </a:xfrm>
          <a:custGeom>
            <a:avLst/>
            <a:gdLst/>
            <a:ahLst/>
            <a:cxnLst/>
            <a:rect l="l" t="t" r="r" b="b"/>
            <a:pathLst>
              <a:path w="4868333" h="931333">
                <a:moveTo>
                  <a:pt x="42329" y="0"/>
                </a:moveTo>
                <a:lnTo>
                  <a:pt x="4826004" y="0"/>
                </a:lnTo>
                <a:cubicBezTo>
                  <a:pt x="4849382" y="0"/>
                  <a:pt x="4868333" y="18951"/>
                  <a:pt x="4868333" y="42329"/>
                </a:cubicBezTo>
                <a:lnTo>
                  <a:pt x="4868333" y="889004"/>
                </a:lnTo>
                <a:cubicBezTo>
                  <a:pt x="4868333" y="912382"/>
                  <a:pt x="4849382" y="931333"/>
                  <a:pt x="4826004" y="931333"/>
                </a:cubicBezTo>
                <a:lnTo>
                  <a:pt x="42329" y="931333"/>
                </a:lnTo>
                <a:cubicBezTo>
                  <a:pt x="18951" y="931333"/>
                  <a:pt x="0" y="912382"/>
                  <a:pt x="0" y="889004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927292" y="2815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26458"/>
                </a:moveTo>
                <a:cubicBezTo>
                  <a:pt x="26458" y="19141"/>
                  <a:pt x="20547" y="13229"/>
                  <a:pt x="13229" y="13229"/>
                </a:cubicBezTo>
                <a:cubicBezTo>
                  <a:pt x="5912" y="13229"/>
                  <a:pt x="0" y="19141"/>
                  <a:pt x="0" y="26458"/>
                </a:cubicBezTo>
                <a:lnTo>
                  <a:pt x="0" y="165365"/>
                </a:lnTo>
                <a:cubicBezTo>
                  <a:pt x="0" y="183637"/>
                  <a:pt x="14800" y="198438"/>
                  <a:pt x="33073" y="198438"/>
                </a:cubicBezTo>
                <a:lnTo>
                  <a:pt x="198438" y="198438"/>
                </a:lnTo>
                <a:cubicBezTo>
                  <a:pt x="205755" y="198438"/>
                  <a:pt x="211667" y="192526"/>
                  <a:pt x="211667" y="185208"/>
                </a:cubicBezTo>
                <a:cubicBezTo>
                  <a:pt x="211667" y="177891"/>
                  <a:pt x="205755" y="171979"/>
                  <a:pt x="198438" y="171979"/>
                </a:cubicBezTo>
                <a:lnTo>
                  <a:pt x="33073" y="171979"/>
                </a:lnTo>
                <a:cubicBezTo>
                  <a:pt x="29435" y="171979"/>
                  <a:pt x="26458" y="169003"/>
                  <a:pt x="26458" y="165365"/>
                </a:cubicBezTo>
                <a:lnTo>
                  <a:pt x="26458" y="26458"/>
                </a:lnTo>
                <a:close/>
                <a:moveTo>
                  <a:pt x="194551" y="62260"/>
                </a:moveTo>
                <a:cubicBezTo>
                  <a:pt x="199719" y="57092"/>
                  <a:pt x="199719" y="48700"/>
                  <a:pt x="194551" y="43532"/>
                </a:cubicBezTo>
                <a:cubicBezTo>
                  <a:pt x="189384" y="38365"/>
                  <a:pt x="180992" y="38365"/>
                  <a:pt x="175824" y="43532"/>
                </a:cubicBezTo>
                <a:lnTo>
                  <a:pt x="132292" y="87106"/>
                </a:lnTo>
                <a:lnTo>
                  <a:pt x="108562" y="63417"/>
                </a:lnTo>
                <a:cubicBezTo>
                  <a:pt x="103394" y="58250"/>
                  <a:pt x="95002" y="58250"/>
                  <a:pt x="89834" y="63417"/>
                </a:cubicBezTo>
                <a:lnTo>
                  <a:pt x="50147" y="103105"/>
                </a:lnTo>
                <a:cubicBezTo>
                  <a:pt x="44979" y="108272"/>
                  <a:pt x="44979" y="116665"/>
                  <a:pt x="50147" y="121832"/>
                </a:cubicBezTo>
                <a:cubicBezTo>
                  <a:pt x="55314" y="127000"/>
                  <a:pt x="63707" y="127000"/>
                  <a:pt x="68874" y="121832"/>
                </a:cubicBezTo>
                <a:lnTo>
                  <a:pt x="99219" y="91488"/>
                </a:lnTo>
                <a:lnTo>
                  <a:pt x="122949" y="115218"/>
                </a:lnTo>
                <a:cubicBezTo>
                  <a:pt x="128116" y="120385"/>
                  <a:pt x="136508" y="120385"/>
                  <a:pt x="141676" y="115218"/>
                </a:cubicBezTo>
                <a:lnTo>
                  <a:pt x="194593" y="6230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250083" y="2772833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优化集群性能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00833" y="3153833"/>
            <a:ext cx="4603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减少网络拥塞，提升集群整体吞吐量和资源利用率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917" y="3876143"/>
            <a:ext cx="5005917" cy="1703917"/>
          </a:xfrm>
          <a:custGeom>
            <a:avLst/>
            <a:gdLst/>
            <a:ahLst/>
            <a:cxnLst/>
            <a:rect l="l" t="t" r="r" b="b"/>
            <a:pathLst>
              <a:path w="5005917" h="2222500">
                <a:moveTo>
                  <a:pt x="84677" y="0"/>
                </a:moveTo>
                <a:lnTo>
                  <a:pt x="4921239" y="0"/>
                </a:lnTo>
                <a:cubicBezTo>
                  <a:pt x="4968005" y="0"/>
                  <a:pt x="5005917" y="37911"/>
                  <a:pt x="5005917" y="84677"/>
                </a:cubicBezTo>
                <a:lnTo>
                  <a:pt x="5005917" y="2137823"/>
                </a:lnTo>
                <a:cubicBezTo>
                  <a:pt x="5005917" y="2184589"/>
                  <a:pt x="4968005" y="2222500"/>
                  <a:pt x="4921239" y="2222500"/>
                </a:cubicBezTo>
                <a:lnTo>
                  <a:pt x="84677" y="2222500"/>
                </a:lnTo>
                <a:cubicBezTo>
                  <a:pt x="37911" y="2222500"/>
                  <a:pt x="0" y="2184589"/>
                  <a:pt x="0" y="213782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596389" y="4098393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823931" y="431006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250" y="4902727"/>
            <a:ext cx="466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node-local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</a:t>
            </a:r>
            <a:r>
              <a:rPr lang="en-US" altLang="zh-CN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b="1" dirty="0" err="1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同节点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125" y="5264671"/>
            <a:ext cx="463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任务与数据在同一计算节点，性能最优，无需网络传输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26778" y="3876143"/>
            <a:ext cx="5005917" cy="1730376"/>
          </a:xfrm>
          <a:custGeom>
            <a:avLst/>
            <a:gdLst/>
            <a:ahLst/>
            <a:cxnLst/>
            <a:rect l="l" t="t" r="r" b="b"/>
            <a:pathLst>
              <a:path w="5005917" h="2222500">
                <a:moveTo>
                  <a:pt x="84677" y="0"/>
                </a:moveTo>
                <a:lnTo>
                  <a:pt x="4921239" y="0"/>
                </a:lnTo>
                <a:cubicBezTo>
                  <a:pt x="4968005" y="0"/>
                  <a:pt x="5005917" y="37911"/>
                  <a:pt x="5005917" y="84677"/>
                </a:cubicBezTo>
                <a:lnTo>
                  <a:pt x="5005917" y="2137823"/>
                </a:lnTo>
                <a:cubicBezTo>
                  <a:pt x="5005917" y="2184589"/>
                  <a:pt x="4968005" y="2222500"/>
                  <a:pt x="4921239" y="2222500"/>
                </a:cubicBezTo>
                <a:lnTo>
                  <a:pt x="84677" y="2222500"/>
                </a:lnTo>
                <a:cubicBezTo>
                  <a:pt x="37911" y="2222500"/>
                  <a:pt x="0" y="2184589"/>
                  <a:pt x="0" y="213782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789251" y="4098393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00917" y="431006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796111" y="4902727"/>
            <a:ext cx="466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rack-local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</a:t>
            </a:r>
            <a:r>
              <a:rPr lang="en-US" altLang="zh-CN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b="1" dirty="0" err="1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同机架</a:t>
            </a:r>
            <a:r>
              <a:rPr lang="en-US" altLang="zh-CN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01403" y="5283727"/>
            <a:ext cx="4656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11986" y="5264671"/>
            <a:ext cx="463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任务与数据在同一机架不同节点，需跨节点传输但性能较好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19639" y="3876143"/>
            <a:ext cx="5005917" cy="1730376"/>
          </a:xfrm>
          <a:custGeom>
            <a:avLst/>
            <a:gdLst/>
            <a:ahLst/>
            <a:cxnLst/>
            <a:rect l="l" t="t" r="r" b="b"/>
            <a:pathLst>
              <a:path w="5005917" h="2222500">
                <a:moveTo>
                  <a:pt x="84677" y="0"/>
                </a:moveTo>
                <a:lnTo>
                  <a:pt x="4921239" y="0"/>
                </a:lnTo>
                <a:cubicBezTo>
                  <a:pt x="4968005" y="0"/>
                  <a:pt x="5005917" y="37911"/>
                  <a:pt x="5005917" y="84677"/>
                </a:cubicBezTo>
                <a:lnTo>
                  <a:pt x="5005917" y="2137823"/>
                </a:lnTo>
                <a:cubicBezTo>
                  <a:pt x="5005917" y="2184589"/>
                  <a:pt x="4968005" y="2222500"/>
                  <a:pt x="4921239" y="2222500"/>
                </a:cubicBezTo>
                <a:lnTo>
                  <a:pt x="84677" y="2222500"/>
                </a:lnTo>
                <a:cubicBezTo>
                  <a:pt x="37911" y="2222500"/>
                  <a:pt x="0" y="2184589"/>
                  <a:pt x="0" y="213782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2982112" y="4098393"/>
            <a:ext cx="677333" cy="677333"/>
          </a:xfrm>
          <a:custGeom>
            <a:avLst/>
            <a:gdLst/>
            <a:ahLst/>
            <a:cxnLst/>
            <a:rect l="l" t="t" r="r" b="b"/>
            <a:pathLst>
              <a:path w="677333" h="677333">
                <a:moveTo>
                  <a:pt x="338667" y="0"/>
                </a:moveTo>
                <a:lnTo>
                  <a:pt x="338667" y="0"/>
                </a:lnTo>
                <a:cubicBezTo>
                  <a:pt x="525707" y="0"/>
                  <a:pt x="677333" y="151626"/>
                  <a:pt x="677333" y="338667"/>
                </a:cubicBezTo>
                <a:lnTo>
                  <a:pt x="677333" y="338667"/>
                </a:lnTo>
                <a:cubicBezTo>
                  <a:pt x="677333" y="525707"/>
                  <a:pt x="525707" y="677333"/>
                  <a:pt x="338667" y="677333"/>
                </a:cubicBezTo>
                <a:lnTo>
                  <a:pt x="338667" y="677333"/>
                </a:lnTo>
                <a:cubicBezTo>
                  <a:pt x="151626" y="677333"/>
                  <a:pt x="0" y="525707"/>
                  <a:pt x="0" y="338667"/>
                </a:cubicBezTo>
                <a:lnTo>
                  <a:pt x="0" y="338667"/>
                </a:lnTo>
                <a:cubicBezTo>
                  <a:pt x="0" y="151626"/>
                  <a:pt x="151626" y="0"/>
                  <a:pt x="33866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3177904" y="431006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988973" y="4902727"/>
            <a:ext cx="466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off-switch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</a:t>
            </a:r>
            <a:r>
              <a:rPr lang="en-US" altLang="zh-CN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b="1" dirty="0" err="1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跨机架</a:t>
            </a:r>
            <a:r>
              <a:rPr lang="en-US" altLang="zh-CN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94264" y="5283727"/>
            <a:ext cx="4656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04848" y="5264671"/>
            <a:ext cx="463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任务与数据在不同机架，需跨机架网络传输，性能最差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8625" y="5740924"/>
            <a:ext cx="7609417" cy="3312583"/>
          </a:xfrm>
          <a:custGeom>
            <a:avLst/>
            <a:gdLst/>
            <a:ahLst/>
            <a:cxnLst/>
            <a:rect l="l" t="t" r="r" b="b"/>
            <a:pathLst>
              <a:path w="7609417" h="3312583">
                <a:moveTo>
                  <a:pt x="84670" y="0"/>
                </a:moveTo>
                <a:lnTo>
                  <a:pt x="7524747" y="0"/>
                </a:lnTo>
                <a:cubicBezTo>
                  <a:pt x="7571509" y="0"/>
                  <a:pt x="7609417" y="37908"/>
                  <a:pt x="7609417" y="84670"/>
                </a:cubicBezTo>
                <a:lnTo>
                  <a:pt x="7609417" y="3227914"/>
                </a:lnTo>
                <a:cubicBezTo>
                  <a:pt x="7609417" y="3274675"/>
                  <a:pt x="7571509" y="3312583"/>
                  <a:pt x="7524747" y="3312583"/>
                </a:cubicBezTo>
                <a:lnTo>
                  <a:pt x="84670" y="3312583"/>
                </a:lnTo>
                <a:cubicBezTo>
                  <a:pt x="37908" y="3312583"/>
                  <a:pt x="0" y="3274675"/>
                  <a:pt x="0" y="322791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5583" y="5957882"/>
            <a:ext cx="728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调度器的本地性优化策略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6167" y="6423549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2361" y="-6251"/>
                </a:moveTo>
                <a:cubicBezTo>
                  <a:pt x="101005" y="-8897"/>
                  <a:pt x="98260" y="-10583"/>
                  <a:pt x="95283" y="-10583"/>
                </a:cubicBezTo>
                <a:cubicBezTo>
                  <a:pt x="92307" y="-10583"/>
                  <a:pt x="89561" y="-8897"/>
                  <a:pt x="88205" y="-6251"/>
                </a:cubicBezTo>
                <a:lnTo>
                  <a:pt x="63864" y="41440"/>
                </a:lnTo>
                <a:lnTo>
                  <a:pt x="10980" y="49841"/>
                </a:lnTo>
                <a:cubicBezTo>
                  <a:pt x="8037" y="50304"/>
                  <a:pt x="5589" y="52388"/>
                  <a:pt x="4663" y="55232"/>
                </a:cubicBezTo>
                <a:cubicBezTo>
                  <a:pt x="3737" y="58076"/>
                  <a:pt x="4498" y="61185"/>
                  <a:pt x="6582" y="63302"/>
                </a:cubicBezTo>
                <a:lnTo>
                  <a:pt x="44417" y="101170"/>
                </a:lnTo>
                <a:lnTo>
                  <a:pt x="36083" y="154054"/>
                </a:lnTo>
                <a:cubicBezTo>
                  <a:pt x="35620" y="156997"/>
                  <a:pt x="36843" y="159974"/>
                  <a:pt x="39258" y="161727"/>
                </a:cubicBezTo>
                <a:cubicBezTo>
                  <a:pt x="41672" y="163479"/>
                  <a:pt x="44847" y="163744"/>
                  <a:pt x="47526" y="162388"/>
                </a:cubicBezTo>
                <a:lnTo>
                  <a:pt x="95283" y="138113"/>
                </a:lnTo>
                <a:lnTo>
                  <a:pt x="143007" y="162388"/>
                </a:lnTo>
                <a:cubicBezTo>
                  <a:pt x="145653" y="163744"/>
                  <a:pt x="148861" y="163479"/>
                  <a:pt x="151276" y="161727"/>
                </a:cubicBezTo>
                <a:cubicBezTo>
                  <a:pt x="153690" y="159974"/>
                  <a:pt x="154914" y="157030"/>
                  <a:pt x="154451" y="154054"/>
                </a:cubicBezTo>
                <a:lnTo>
                  <a:pt x="146083" y="101170"/>
                </a:lnTo>
                <a:lnTo>
                  <a:pt x="183918" y="63302"/>
                </a:lnTo>
                <a:cubicBezTo>
                  <a:pt x="186035" y="61185"/>
                  <a:pt x="186763" y="58076"/>
                  <a:pt x="185837" y="55232"/>
                </a:cubicBezTo>
                <a:cubicBezTo>
                  <a:pt x="184911" y="52388"/>
                  <a:pt x="182496" y="50304"/>
                  <a:pt x="179520" y="49841"/>
                </a:cubicBezTo>
                <a:lnTo>
                  <a:pt x="126669" y="41440"/>
                </a:lnTo>
                <a:lnTo>
                  <a:pt x="102361" y="-625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41917" y="6381215"/>
            <a:ext cx="481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优先等待：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当本地节点资源不足时，调度器会短暂等待，优先保证本地性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6167" y="6719882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2361" y="-6251"/>
                </a:moveTo>
                <a:cubicBezTo>
                  <a:pt x="101005" y="-8897"/>
                  <a:pt x="98260" y="-10583"/>
                  <a:pt x="95283" y="-10583"/>
                </a:cubicBezTo>
                <a:cubicBezTo>
                  <a:pt x="92307" y="-10583"/>
                  <a:pt x="89561" y="-8897"/>
                  <a:pt x="88205" y="-6251"/>
                </a:cubicBezTo>
                <a:lnTo>
                  <a:pt x="63864" y="41440"/>
                </a:lnTo>
                <a:lnTo>
                  <a:pt x="10980" y="49841"/>
                </a:lnTo>
                <a:cubicBezTo>
                  <a:pt x="8037" y="50304"/>
                  <a:pt x="5589" y="52388"/>
                  <a:pt x="4663" y="55232"/>
                </a:cubicBezTo>
                <a:cubicBezTo>
                  <a:pt x="3737" y="58076"/>
                  <a:pt x="4498" y="61185"/>
                  <a:pt x="6582" y="63302"/>
                </a:cubicBezTo>
                <a:lnTo>
                  <a:pt x="44417" y="101170"/>
                </a:lnTo>
                <a:lnTo>
                  <a:pt x="36083" y="154054"/>
                </a:lnTo>
                <a:cubicBezTo>
                  <a:pt x="35620" y="156997"/>
                  <a:pt x="36843" y="159974"/>
                  <a:pt x="39258" y="161727"/>
                </a:cubicBezTo>
                <a:cubicBezTo>
                  <a:pt x="41672" y="163479"/>
                  <a:pt x="44847" y="163744"/>
                  <a:pt x="47526" y="162388"/>
                </a:cubicBezTo>
                <a:lnTo>
                  <a:pt x="95283" y="138113"/>
                </a:lnTo>
                <a:lnTo>
                  <a:pt x="143007" y="162388"/>
                </a:lnTo>
                <a:cubicBezTo>
                  <a:pt x="145653" y="163744"/>
                  <a:pt x="148861" y="163479"/>
                  <a:pt x="151276" y="161727"/>
                </a:cubicBezTo>
                <a:cubicBezTo>
                  <a:pt x="153690" y="159974"/>
                  <a:pt x="154914" y="157030"/>
                  <a:pt x="154451" y="154054"/>
                </a:cubicBezTo>
                <a:lnTo>
                  <a:pt x="146083" y="101170"/>
                </a:lnTo>
                <a:lnTo>
                  <a:pt x="183918" y="63302"/>
                </a:lnTo>
                <a:cubicBezTo>
                  <a:pt x="186035" y="61185"/>
                  <a:pt x="186763" y="58076"/>
                  <a:pt x="185837" y="55232"/>
                </a:cubicBezTo>
                <a:cubicBezTo>
                  <a:pt x="184911" y="52388"/>
                  <a:pt x="182496" y="50304"/>
                  <a:pt x="179520" y="49841"/>
                </a:cubicBezTo>
                <a:lnTo>
                  <a:pt x="126669" y="41440"/>
                </a:lnTo>
                <a:lnTo>
                  <a:pt x="102361" y="-625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41917" y="6677549"/>
            <a:ext cx="394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降级策略：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等待超时后，逐步降级到rack-local和off-switch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6167" y="7016215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2361" y="-6251"/>
                </a:moveTo>
                <a:cubicBezTo>
                  <a:pt x="101005" y="-8897"/>
                  <a:pt x="98260" y="-10583"/>
                  <a:pt x="95283" y="-10583"/>
                </a:cubicBezTo>
                <a:cubicBezTo>
                  <a:pt x="92307" y="-10583"/>
                  <a:pt x="89561" y="-8897"/>
                  <a:pt x="88205" y="-6251"/>
                </a:cubicBezTo>
                <a:lnTo>
                  <a:pt x="63864" y="41440"/>
                </a:lnTo>
                <a:lnTo>
                  <a:pt x="10980" y="49841"/>
                </a:lnTo>
                <a:cubicBezTo>
                  <a:pt x="8037" y="50304"/>
                  <a:pt x="5589" y="52388"/>
                  <a:pt x="4663" y="55232"/>
                </a:cubicBezTo>
                <a:cubicBezTo>
                  <a:pt x="3737" y="58076"/>
                  <a:pt x="4498" y="61185"/>
                  <a:pt x="6582" y="63302"/>
                </a:cubicBezTo>
                <a:lnTo>
                  <a:pt x="44417" y="101170"/>
                </a:lnTo>
                <a:lnTo>
                  <a:pt x="36083" y="154054"/>
                </a:lnTo>
                <a:cubicBezTo>
                  <a:pt x="35620" y="156997"/>
                  <a:pt x="36843" y="159974"/>
                  <a:pt x="39258" y="161727"/>
                </a:cubicBezTo>
                <a:cubicBezTo>
                  <a:pt x="41672" y="163479"/>
                  <a:pt x="44847" y="163744"/>
                  <a:pt x="47526" y="162388"/>
                </a:cubicBezTo>
                <a:lnTo>
                  <a:pt x="95283" y="138113"/>
                </a:lnTo>
                <a:lnTo>
                  <a:pt x="143007" y="162388"/>
                </a:lnTo>
                <a:cubicBezTo>
                  <a:pt x="145653" y="163744"/>
                  <a:pt x="148861" y="163479"/>
                  <a:pt x="151276" y="161727"/>
                </a:cubicBezTo>
                <a:cubicBezTo>
                  <a:pt x="153690" y="159974"/>
                  <a:pt x="154914" y="157030"/>
                  <a:pt x="154451" y="154054"/>
                </a:cubicBezTo>
                <a:lnTo>
                  <a:pt x="146083" y="101170"/>
                </a:lnTo>
                <a:lnTo>
                  <a:pt x="183918" y="63302"/>
                </a:lnTo>
                <a:cubicBezTo>
                  <a:pt x="186035" y="61185"/>
                  <a:pt x="186763" y="58076"/>
                  <a:pt x="185837" y="55232"/>
                </a:cubicBezTo>
                <a:cubicBezTo>
                  <a:pt x="184911" y="52388"/>
                  <a:pt x="182496" y="50304"/>
                  <a:pt x="179520" y="49841"/>
                </a:cubicBezTo>
                <a:lnTo>
                  <a:pt x="126669" y="41440"/>
                </a:lnTo>
                <a:lnTo>
                  <a:pt x="102361" y="-6251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41917" y="6973882"/>
            <a:ext cx="4074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延迟调度：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通过延迟调度机制，在性能和本地性之间找到平衡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17958" y="5740924"/>
            <a:ext cx="7609417" cy="3312583"/>
          </a:xfrm>
          <a:custGeom>
            <a:avLst/>
            <a:gdLst/>
            <a:ahLst/>
            <a:cxnLst/>
            <a:rect l="l" t="t" r="r" b="b"/>
            <a:pathLst>
              <a:path w="7609417" h="3312583">
                <a:moveTo>
                  <a:pt x="84670" y="0"/>
                </a:moveTo>
                <a:lnTo>
                  <a:pt x="7524747" y="0"/>
                </a:lnTo>
                <a:cubicBezTo>
                  <a:pt x="7571509" y="0"/>
                  <a:pt x="7609417" y="37908"/>
                  <a:pt x="7609417" y="84670"/>
                </a:cubicBezTo>
                <a:lnTo>
                  <a:pt x="7609417" y="3227914"/>
                </a:lnTo>
                <a:cubicBezTo>
                  <a:pt x="7609417" y="3274675"/>
                  <a:pt x="7571509" y="3312583"/>
                  <a:pt x="7524747" y="3312583"/>
                </a:cubicBezTo>
                <a:lnTo>
                  <a:pt x="84670" y="3312583"/>
                </a:lnTo>
                <a:cubicBezTo>
                  <a:pt x="37908" y="3312583"/>
                  <a:pt x="0" y="3274675"/>
                  <a:pt x="0" y="3227914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434917" y="5957882"/>
            <a:ext cx="728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经济价值量化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34917" y="6381215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561917" y="6508215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61917" y="6804549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node-local任务执行时间比off-switch缩短</a:t>
            </a:r>
            <a:r>
              <a:rPr lang="en-US" sz="11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34917" y="7227882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561917" y="7354882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成本节约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61917" y="765121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良好的数据本地性可节省</a:t>
            </a:r>
            <a:r>
              <a:rPr lang="en-US" sz="11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20-30%</a:t>
            </a: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的集群资源成本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34917" y="8074549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61917" y="8201549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网络优化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61917" y="8497882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减少网络流量</a:t>
            </a:r>
            <a:r>
              <a:rPr lang="en-US" sz="11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40-60%</a:t>
            </a: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，降低网络设备负载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DOMINANT RESOURCE FAIRNESS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 算法：主导资源公平性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12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33917" y="1619250"/>
            <a:ext cx="15388167" cy="3196167"/>
          </a:xfrm>
          <a:custGeom>
            <a:avLst/>
            <a:gdLst/>
            <a:ahLst/>
            <a:cxnLst/>
            <a:rect l="l" t="t" r="r" b="b"/>
            <a:pathLst>
              <a:path w="15388167" h="3196167">
                <a:moveTo>
                  <a:pt x="84666" y="0"/>
                </a:moveTo>
                <a:lnTo>
                  <a:pt x="15303500" y="0"/>
                </a:lnTo>
                <a:cubicBezTo>
                  <a:pt x="15350260" y="0"/>
                  <a:pt x="15388167" y="37906"/>
                  <a:pt x="15388167" y="84666"/>
                </a:cubicBezTo>
                <a:lnTo>
                  <a:pt x="15388167" y="3111500"/>
                </a:lnTo>
                <a:cubicBezTo>
                  <a:pt x="15388167" y="3158260"/>
                  <a:pt x="15350260" y="3196167"/>
                  <a:pt x="15303500" y="3196167"/>
                </a:cubicBezTo>
                <a:lnTo>
                  <a:pt x="84666" y="3196167"/>
                </a:lnTo>
                <a:cubicBezTo>
                  <a:pt x="37906" y="3196167"/>
                  <a:pt x="0" y="3158260"/>
                  <a:pt x="0" y="3111500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98500" y="18838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9042" y="2021417"/>
            <a:ext cx="396875" cy="317500"/>
          </a:xfrm>
          <a:custGeom>
            <a:avLst/>
            <a:gdLst/>
            <a:ahLst/>
            <a:cxnLst/>
            <a:rect l="l" t="t" r="r" b="b"/>
            <a:pathLst>
              <a:path w="396875" h="317500">
                <a:moveTo>
                  <a:pt x="73298" y="38695"/>
                </a:moveTo>
                <a:cubicBezTo>
                  <a:pt x="62942" y="35223"/>
                  <a:pt x="57299" y="23937"/>
                  <a:pt x="60771" y="13581"/>
                </a:cubicBezTo>
                <a:cubicBezTo>
                  <a:pt x="64244" y="3225"/>
                  <a:pt x="75468" y="-2418"/>
                  <a:pt x="85886" y="992"/>
                </a:cubicBezTo>
                <a:lnTo>
                  <a:pt x="155959" y="24371"/>
                </a:lnTo>
                <a:cubicBezTo>
                  <a:pt x="164579" y="9798"/>
                  <a:pt x="180516" y="0"/>
                  <a:pt x="198686" y="0"/>
                </a:cubicBezTo>
                <a:cubicBezTo>
                  <a:pt x="226095" y="0"/>
                  <a:pt x="248295" y="22200"/>
                  <a:pt x="248295" y="49609"/>
                </a:cubicBezTo>
                <a:cubicBezTo>
                  <a:pt x="248295" y="51470"/>
                  <a:pt x="248171" y="53268"/>
                  <a:pt x="247985" y="55066"/>
                </a:cubicBezTo>
                <a:lnTo>
                  <a:pt x="324011" y="80429"/>
                </a:lnTo>
                <a:cubicBezTo>
                  <a:pt x="334429" y="83902"/>
                  <a:pt x="340010" y="95126"/>
                  <a:pt x="336538" y="105544"/>
                </a:cubicBezTo>
                <a:cubicBezTo>
                  <a:pt x="333065" y="115962"/>
                  <a:pt x="321841" y="121543"/>
                  <a:pt x="311423" y="118070"/>
                </a:cubicBezTo>
                <a:lnTo>
                  <a:pt x="227397" y="90041"/>
                </a:lnTo>
                <a:cubicBezTo>
                  <a:pt x="224606" y="92025"/>
                  <a:pt x="221630" y="93700"/>
                  <a:pt x="218467" y="95126"/>
                </a:cubicBezTo>
                <a:lnTo>
                  <a:pt x="218467" y="297718"/>
                </a:lnTo>
                <a:cubicBezTo>
                  <a:pt x="218467" y="308694"/>
                  <a:pt x="209600" y="317562"/>
                  <a:pt x="198624" y="317562"/>
                </a:cubicBezTo>
                <a:lnTo>
                  <a:pt x="79561" y="317562"/>
                </a:lnTo>
                <a:cubicBezTo>
                  <a:pt x="68585" y="317562"/>
                  <a:pt x="59717" y="308694"/>
                  <a:pt x="59717" y="297718"/>
                </a:cubicBezTo>
                <a:cubicBezTo>
                  <a:pt x="59717" y="286742"/>
                  <a:pt x="68585" y="277875"/>
                  <a:pt x="79561" y="277875"/>
                </a:cubicBezTo>
                <a:lnTo>
                  <a:pt x="178780" y="277875"/>
                </a:lnTo>
                <a:lnTo>
                  <a:pt x="178780" y="95126"/>
                </a:lnTo>
                <a:cubicBezTo>
                  <a:pt x="165757" y="89421"/>
                  <a:pt x="155711" y="78383"/>
                  <a:pt x="151371" y="64740"/>
                </a:cubicBezTo>
                <a:lnTo>
                  <a:pt x="73298" y="38695"/>
                </a:lnTo>
                <a:close/>
                <a:moveTo>
                  <a:pt x="124520" y="178594"/>
                </a:moveTo>
                <a:lnTo>
                  <a:pt x="79561" y="101575"/>
                </a:lnTo>
                <a:lnTo>
                  <a:pt x="34665" y="178594"/>
                </a:lnTo>
                <a:lnTo>
                  <a:pt x="124520" y="178594"/>
                </a:lnTo>
                <a:close/>
                <a:moveTo>
                  <a:pt x="79623" y="238125"/>
                </a:moveTo>
                <a:cubicBezTo>
                  <a:pt x="40618" y="238125"/>
                  <a:pt x="8186" y="217041"/>
                  <a:pt x="1488" y="189198"/>
                </a:cubicBezTo>
                <a:cubicBezTo>
                  <a:pt x="-124" y="182376"/>
                  <a:pt x="2108" y="175369"/>
                  <a:pt x="5643" y="169292"/>
                </a:cubicBezTo>
                <a:lnTo>
                  <a:pt x="64678" y="68089"/>
                </a:lnTo>
                <a:cubicBezTo>
                  <a:pt x="67779" y="62756"/>
                  <a:pt x="73484" y="59531"/>
                  <a:pt x="79623" y="59531"/>
                </a:cubicBezTo>
                <a:cubicBezTo>
                  <a:pt x="85762" y="59531"/>
                  <a:pt x="91467" y="62818"/>
                  <a:pt x="94568" y="68089"/>
                </a:cubicBezTo>
                <a:lnTo>
                  <a:pt x="153603" y="169292"/>
                </a:lnTo>
                <a:cubicBezTo>
                  <a:pt x="157138" y="175369"/>
                  <a:pt x="159370" y="182376"/>
                  <a:pt x="157758" y="189198"/>
                </a:cubicBezTo>
                <a:cubicBezTo>
                  <a:pt x="151061" y="216979"/>
                  <a:pt x="118628" y="238125"/>
                  <a:pt x="79623" y="238125"/>
                </a:cubicBezTo>
                <a:close/>
                <a:moveTo>
                  <a:pt x="317004" y="180950"/>
                </a:moveTo>
                <a:lnTo>
                  <a:pt x="272107" y="257969"/>
                </a:lnTo>
                <a:lnTo>
                  <a:pt x="361962" y="257969"/>
                </a:lnTo>
                <a:lnTo>
                  <a:pt x="317066" y="180950"/>
                </a:lnTo>
                <a:close/>
                <a:moveTo>
                  <a:pt x="395139" y="268573"/>
                </a:moveTo>
                <a:cubicBezTo>
                  <a:pt x="388441" y="296416"/>
                  <a:pt x="356009" y="317500"/>
                  <a:pt x="317004" y="317500"/>
                </a:cubicBezTo>
                <a:cubicBezTo>
                  <a:pt x="277999" y="317500"/>
                  <a:pt x="245566" y="296416"/>
                  <a:pt x="238869" y="268573"/>
                </a:cubicBezTo>
                <a:cubicBezTo>
                  <a:pt x="237257" y="261751"/>
                  <a:pt x="239489" y="254744"/>
                  <a:pt x="243024" y="248667"/>
                </a:cubicBezTo>
                <a:lnTo>
                  <a:pt x="302059" y="147464"/>
                </a:lnTo>
                <a:cubicBezTo>
                  <a:pt x="305160" y="142131"/>
                  <a:pt x="310865" y="138906"/>
                  <a:pt x="317004" y="138906"/>
                </a:cubicBezTo>
                <a:cubicBezTo>
                  <a:pt x="323143" y="138906"/>
                  <a:pt x="328848" y="142193"/>
                  <a:pt x="331949" y="147464"/>
                </a:cubicBezTo>
                <a:lnTo>
                  <a:pt x="390984" y="248667"/>
                </a:lnTo>
                <a:cubicBezTo>
                  <a:pt x="394519" y="254744"/>
                  <a:pt x="396751" y="261751"/>
                  <a:pt x="395139" y="26857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60500" y="1883833"/>
            <a:ext cx="673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 核心思想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2222500"/>
            <a:ext cx="668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在多维资源环境下，以每个应用的主导资源（消耗比例最大的资源）作为公平分配的基准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" y="2645833"/>
            <a:ext cx="7323667" cy="1905000"/>
          </a:xfrm>
          <a:custGeom>
            <a:avLst/>
            <a:gdLst/>
            <a:ahLst/>
            <a:cxnLst/>
            <a:rect l="l" t="t" r="r" b="b"/>
            <a:pathLst>
              <a:path w="7323667" h="1905000">
                <a:moveTo>
                  <a:pt x="42329" y="0"/>
                </a:moveTo>
                <a:lnTo>
                  <a:pt x="7281338" y="0"/>
                </a:lnTo>
                <a:cubicBezTo>
                  <a:pt x="7304715" y="0"/>
                  <a:pt x="7323667" y="18951"/>
                  <a:pt x="7323667" y="42329"/>
                </a:cubicBezTo>
                <a:lnTo>
                  <a:pt x="7323667" y="1862671"/>
                </a:lnTo>
                <a:cubicBezTo>
                  <a:pt x="7323667" y="1886049"/>
                  <a:pt x="7304715" y="1905000"/>
                  <a:pt x="7281338" y="1905000"/>
                </a:cubicBezTo>
                <a:lnTo>
                  <a:pt x="42329" y="1905000"/>
                </a:lnTo>
                <a:cubicBezTo>
                  <a:pt x="18951" y="1905000"/>
                  <a:pt x="0" y="1886049"/>
                  <a:pt x="0" y="1862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7833" y="2815167"/>
            <a:ext cx="7080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主导资源定义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7833" y="3196167"/>
            <a:ext cx="705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对某个应用来说，主导资源是其需求比例最高的资源类型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7833" y="3492500"/>
            <a:ext cx="6985000" cy="889000"/>
          </a:xfrm>
          <a:custGeom>
            <a:avLst/>
            <a:gdLst/>
            <a:ahLst/>
            <a:cxnLst/>
            <a:rect l="l" t="t" r="r" b="b"/>
            <a:pathLst>
              <a:path w="6985000" h="889000">
                <a:moveTo>
                  <a:pt x="42334" y="0"/>
                </a:moveTo>
                <a:lnTo>
                  <a:pt x="6942666" y="0"/>
                </a:lnTo>
                <a:cubicBezTo>
                  <a:pt x="6966046" y="0"/>
                  <a:pt x="6985000" y="18954"/>
                  <a:pt x="6985000" y="42334"/>
                </a:cubicBezTo>
                <a:lnTo>
                  <a:pt x="6985000" y="846666"/>
                </a:lnTo>
                <a:cubicBezTo>
                  <a:pt x="6985000" y="870046"/>
                  <a:pt x="6966046" y="889000"/>
                  <a:pt x="6942666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52500" y="3577167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3788833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应用A需要(2CPU, 300GB)，集群有(100CPU, 10000GB)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3958167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CPU比例: 2/100=2% | 内存比例: 300/10000=3%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500" y="4127500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主导资源: 内存(3% &gt; 2%)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33833" y="2645833"/>
            <a:ext cx="7323667" cy="1905000"/>
          </a:xfrm>
          <a:custGeom>
            <a:avLst/>
            <a:gdLst/>
            <a:ahLst/>
            <a:cxnLst/>
            <a:rect l="l" t="t" r="r" b="b"/>
            <a:pathLst>
              <a:path w="7323667" h="1905000">
                <a:moveTo>
                  <a:pt x="42329" y="0"/>
                </a:moveTo>
                <a:lnTo>
                  <a:pt x="7281338" y="0"/>
                </a:lnTo>
                <a:cubicBezTo>
                  <a:pt x="7304715" y="0"/>
                  <a:pt x="7323667" y="18951"/>
                  <a:pt x="7323667" y="42329"/>
                </a:cubicBezTo>
                <a:lnTo>
                  <a:pt x="7323667" y="1862671"/>
                </a:lnTo>
                <a:cubicBezTo>
                  <a:pt x="7323667" y="1886049"/>
                  <a:pt x="7304715" y="1905000"/>
                  <a:pt x="7281338" y="1905000"/>
                </a:cubicBezTo>
                <a:lnTo>
                  <a:pt x="42329" y="1905000"/>
                </a:lnTo>
                <a:cubicBezTo>
                  <a:pt x="18951" y="1905000"/>
                  <a:pt x="0" y="1886049"/>
                  <a:pt x="0" y="1862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03167" y="2815167"/>
            <a:ext cx="7080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主导资源份额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03167" y="3196167"/>
            <a:ext cx="705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计算每个应用的主导资源份额，作为公平分配的依据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03167" y="3492500"/>
            <a:ext cx="6985000" cy="550333"/>
          </a:xfrm>
          <a:custGeom>
            <a:avLst/>
            <a:gdLst/>
            <a:ahLst/>
            <a:cxnLst/>
            <a:rect l="l" t="t" r="r" b="b"/>
            <a:pathLst>
              <a:path w="6985000" h="550333">
                <a:moveTo>
                  <a:pt x="42332" y="0"/>
                </a:moveTo>
                <a:lnTo>
                  <a:pt x="6942668" y="0"/>
                </a:lnTo>
                <a:cubicBezTo>
                  <a:pt x="6966047" y="0"/>
                  <a:pt x="6985000" y="18953"/>
                  <a:pt x="6985000" y="42332"/>
                </a:cubicBezTo>
                <a:lnTo>
                  <a:pt x="6985000" y="508002"/>
                </a:lnTo>
                <a:cubicBezTo>
                  <a:pt x="6985000" y="531381"/>
                  <a:pt x="6966047" y="550333"/>
                  <a:pt x="6942668" y="550333"/>
                </a:cubicBezTo>
                <a:lnTo>
                  <a:pt x="42332" y="550333"/>
                </a:lnTo>
                <a:cubicBezTo>
                  <a:pt x="18953" y="550333"/>
                  <a:pt x="0" y="531381"/>
                  <a:pt x="0" y="508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4A5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87833" y="3577167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计算公式：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87833" y="3788833"/>
            <a:ext cx="687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主导资源份额 = max(资源1需求/集群总量, 资源2需求/集群总量, ...)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8625" y="5000625"/>
            <a:ext cx="7609417" cy="3947583"/>
          </a:xfrm>
          <a:custGeom>
            <a:avLst/>
            <a:gdLst/>
            <a:ahLst/>
            <a:cxnLst/>
            <a:rect l="l" t="t" r="r" b="b"/>
            <a:pathLst>
              <a:path w="7609417" h="3947583">
                <a:moveTo>
                  <a:pt x="84676" y="0"/>
                </a:moveTo>
                <a:lnTo>
                  <a:pt x="7524741" y="0"/>
                </a:lnTo>
                <a:cubicBezTo>
                  <a:pt x="7571506" y="0"/>
                  <a:pt x="7609417" y="37911"/>
                  <a:pt x="7609417" y="84676"/>
                </a:cubicBezTo>
                <a:lnTo>
                  <a:pt x="7609417" y="3862908"/>
                </a:lnTo>
                <a:cubicBezTo>
                  <a:pt x="7609417" y="3909673"/>
                  <a:pt x="7571506" y="3947583"/>
                  <a:pt x="7524741" y="3947583"/>
                </a:cubicBezTo>
                <a:lnTo>
                  <a:pt x="84676" y="3947583"/>
                </a:lnTo>
                <a:cubicBezTo>
                  <a:pt x="37911" y="3947583"/>
                  <a:pt x="0" y="3909673"/>
                  <a:pt x="0" y="3862908"/>
                </a:cubicBezTo>
                <a:lnTo>
                  <a:pt x="0" y="84676"/>
                </a:lnTo>
                <a:cubicBezTo>
                  <a:pt x="0" y="37942"/>
                  <a:pt x="37942" y="0"/>
                  <a:pt x="846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5583" y="52175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4333" y="534458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80583" y="5323417"/>
            <a:ext cx="1365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DRF计算示例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583" y="5852583"/>
            <a:ext cx="7175500" cy="973667"/>
          </a:xfrm>
          <a:custGeom>
            <a:avLst/>
            <a:gdLst/>
            <a:ahLst/>
            <a:cxnLst/>
            <a:rect l="l" t="t" r="r" b="b"/>
            <a:pathLst>
              <a:path w="7175500" h="973667">
                <a:moveTo>
                  <a:pt x="42335" y="0"/>
                </a:moveTo>
                <a:lnTo>
                  <a:pt x="7133165" y="0"/>
                </a:lnTo>
                <a:cubicBezTo>
                  <a:pt x="7156546" y="0"/>
                  <a:pt x="7175500" y="18954"/>
                  <a:pt x="7175500" y="42335"/>
                </a:cubicBezTo>
                <a:lnTo>
                  <a:pt x="7175500" y="931332"/>
                </a:lnTo>
                <a:cubicBezTo>
                  <a:pt x="7175500" y="954713"/>
                  <a:pt x="7156546" y="973667"/>
                  <a:pt x="7133165" y="973667"/>
                </a:cubicBezTo>
                <a:lnTo>
                  <a:pt x="42335" y="973667"/>
                </a:lnTo>
                <a:cubicBezTo>
                  <a:pt x="18954" y="973667"/>
                  <a:pt x="0" y="954713"/>
                  <a:pt x="0" y="931332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72583" y="5979583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2583" y="6275917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应用A: (2CPU, 8GB) | 应用B: (6CPU, 2GB)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2583" y="648758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集群: (100CPU, 100GB)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583" y="6910917"/>
            <a:ext cx="7175500" cy="973667"/>
          </a:xfrm>
          <a:custGeom>
            <a:avLst/>
            <a:gdLst/>
            <a:ahLst/>
            <a:cxnLst/>
            <a:rect l="l" t="t" r="r" b="b"/>
            <a:pathLst>
              <a:path w="7175500" h="973667">
                <a:moveTo>
                  <a:pt x="42335" y="0"/>
                </a:moveTo>
                <a:lnTo>
                  <a:pt x="7133165" y="0"/>
                </a:lnTo>
                <a:cubicBezTo>
                  <a:pt x="7156546" y="0"/>
                  <a:pt x="7175500" y="18954"/>
                  <a:pt x="7175500" y="42335"/>
                </a:cubicBezTo>
                <a:lnTo>
                  <a:pt x="7175500" y="931332"/>
                </a:lnTo>
                <a:cubicBezTo>
                  <a:pt x="7175500" y="954713"/>
                  <a:pt x="7156546" y="973667"/>
                  <a:pt x="7133165" y="973667"/>
                </a:cubicBezTo>
                <a:lnTo>
                  <a:pt x="42335" y="973667"/>
                </a:lnTo>
                <a:cubicBezTo>
                  <a:pt x="18954" y="973667"/>
                  <a:pt x="0" y="954713"/>
                  <a:pt x="0" y="931332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72583" y="7037917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主导资源计算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2583" y="7334250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应用A: max(2/100, 8/100) = max(2%, 8%) = </a:t>
            </a:r>
            <a:r>
              <a:rPr lang="en-US" sz="11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2583" y="7545917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应用B: max(6/100, 2/100) = max(6%, 2%) = </a:t>
            </a:r>
            <a:r>
              <a:rPr lang="en-US" sz="1167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583" y="7969250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2583" y="8096250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分配策略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2583" y="839258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DRF优先分配给主导资源份额小的应用B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17958" y="5000625"/>
            <a:ext cx="7609417" cy="3947583"/>
          </a:xfrm>
          <a:custGeom>
            <a:avLst/>
            <a:gdLst/>
            <a:ahLst/>
            <a:cxnLst/>
            <a:rect l="l" t="t" r="r" b="b"/>
            <a:pathLst>
              <a:path w="7609417" h="3947583">
                <a:moveTo>
                  <a:pt x="84676" y="0"/>
                </a:moveTo>
                <a:lnTo>
                  <a:pt x="7524741" y="0"/>
                </a:lnTo>
                <a:cubicBezTo>
                  <a:pt x="7571506" y="0"/>
                  <a:pt x="7609417" y="37911"/>
                  <a:pt x="7609417" y="84676"/>
                </a:cubicBezTo>
                <a:lnTo>
                  <a:pt x="7609417" y="3862908"/>
                </a:lnTo>
                <a:cubicBezTo>
                  <a:pt x="7609417" y="3909673"/>
                  <a:pt x="7571506" y="3947583"/>
                  <a:pt x="7524741" y="3947583"/>
                </a:cubicBezTo>
                <a:lnTo>
                  <a:pt x="84676" y="3947583"/>
                </a:lnTo>
                <a:cubicBezTo>
                  <a:pt x="37911" y="3947583"/>
                  <a:pt x="0" y="3909673"/>
                  <a:pt x="0" y="3862908"/>
                </a:cubicBezTo>
                <a:lnTo>
                  <a:pt x="0" y="84676"/>
                </a:lnTo>
                <a:cubicBezTo>
                  <a:pt x="0" y="37942"/>
                  <a:pt x="37942" y="0"/>
                  <a:pt x="846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434917" y="52175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561917" y="534458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069917" y="5323417"/>
            <a:ext cx="94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DRF优势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56083" y="589491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31250" y="5852583"/>
            <a:ext cx="335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多维资源支持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31250" y="6106583"/>
            <a:ext cx="3344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天然支持CPU、内存、GPU等多维资源的公平分配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56083" y="644525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31250" y="6402917"/>
            <a:ext cx="429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异构负载适应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31250" y="6656917"/>
            <a:ext cx="4286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适应不同类型应用（CPU密集、内存密集、I/O密集）的资源需求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56083" y="699558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31250" y="6953250"/>
            <a:ext cx="364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策略通用性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31250" y="7207250"/>
            <a:ext cx="363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可应用于各种资源类型，无需为每种资源设计专门算法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56083" y="754591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731250" y="7503583"/>
            <a:ext cx="364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避免饿死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31250" y="7757583"/>
            <a:ext cx="363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确保每个应用都能获得合理份额的资源，避免资源饿死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性能优化最佳实践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3900" y="2146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50900" y="227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274" y="-1240"/>
                </a:moveTo>
                <a:cubicBezTo>
                  <a:pt x="121096" y="-6896"/>
                  <a:pt x="133201" y="-6896"/>
                  <a:pt x="143024" y="-1240"/>
                </a:cubicBezTo>
                <a:lnTo>
                  <a:pt x="230287" y="49113"/>
                </a:lnTo>
                <a:cubicBezTo>
                  <a:pt x="240109" y="54769"/>
                  <a:pt x="246162" y="65286"/>
                  <a:pt x="246162" y="76597"/>
                </a:cubicBezTo>
                <a:lnTo>
                  <a:pt x="246162" y="177304"/>
                </a:lnTo>
                <a:cubicBezTo>
                  <a:pt x="246162" y="188664"/>
                  <a:pt x="240109" y="199132"/>
                  <a:pt x="230287" y="204787"/>
                </a:cubicBezTo>
                <a:lnTo>
                  <a:pt x="143024" y="255240"/>
                </a:lnTo>
                <a:cubicBezTo>
                  <a:pt x="133201" y="260896"/>
                  <a:pt x="121096" y="260896"/>
                  <a:pt x="111274" y="255240"/>
                </a:cubicBezTo>
                <a:lnTo>
                  <a:pt x="24061" y="204887"/>
                </a:lnTo>
                <a:cubicBezTo>
                  <a:pt x="14238" y="199231"/>
                  <a:pt x="8186" y="188714"/>
                  <a:pt x="8186" y="177403"/>
                </a:cubicBezTo>
                <a:lnTo>
                  <a:pt x="8186" y="76696"/>
                </a:lnTo>
                <a:cubicBezTo>
                  <a:pt x="8186" y="65336"/>
                  <a:pt x="14238" y="54868"/>
                  <a:pt x="24061" y="49213"/>
                </a:cubicBezTo>
                <a:lnTo>
                  <a:pt x="111274" y="-1240"/>
                </a:lnTo>
                <a:close/>
                <a:moveTo>
                  <a:pt x="214362" y="177354"/>
                </a:moveTo>
                <a:lnTo>
                  <a:pt x="214362" y="94952"/>
                </a:lnTo>
                <a:lnTo>
                  <a:pt x="143024" y="136128"/>
                </a:lnTo>
                <a:lnTo>
                  <a:pt x="143024" y="218529"/>
                </a:lnTo>
                <a:lnTo>
                  <a:pt x="214362" y="177354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84300" y="2222500"/>
            <a:ext cx="205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Container规格优化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755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内存配置：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mapreduce.map.memory.mb=2048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30861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CPU配置：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mapreduce.map.cpu.vcores=1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34163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避免过小：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减少overhead开销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37465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避免过大：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防止资源浪费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5150" y="19367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54700" y="2146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81700" y="227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15100" y="22225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内存与CPU调优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4700" y="2755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堆内存：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-Xmx1536m (留512MB给JVM)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4700" y="30861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排序内存：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mapreduce.task.io.sort.mb=512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4700" y="3416300"/>
            <a:ext cx="463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shuffle内存：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mapreduce.reduce.shuffle.parallelcopies=10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4700" y="40005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CPU绑定：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合理配置CPU核数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75950" y="19367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985500" y="2146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1112500" y="227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645900" y="22225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并行度设置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85500" y="2755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Map数：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mapreduce.job.maps=100-200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85500" y="30861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Reduce数：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mapreduce.job.reduces=20-50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85500" y="3416300"/>
            <a:ext cx="463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split大小：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mapreduce.input.fileinputformat.split.maxsize=256MB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85500" y="40005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并发检查：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避免过度并发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46291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23900" y="48387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82650" y="4965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93563"/>
                </a:moveTo>
                <a:cubicBezTo>
                  <a:pt x="0" y="41870"/>
                  <a:pt x="42664" y="0"/>
                  <a:pt x="95250" y="0"/>
                </a:cubicBezTo>
                <a:cubicBezTo>
                  <a:pt x="147836" y="0"/>
                  <a:pt x="190500" y="41870"/>
                  <a:pt x="190500" y="93563"/>
                </a:cubicBezTo>
                <a:cubicBezTo>
                  <a:pt x="190500" y="152747"/>
                  <a:pt x="130870" y="223689"/>
                  <a:pt x="105966" y="250726"/>
                </a:cubicBezTo>
                <a:cubicBezTo>
                  <a:pt x="100112" y="257076"/>
                  <a:pt x="90339" y="257076"/>
                  <a:pt x="84485" y="250726"/>
                </a:cubicBezTo>
                <a:cubicBezTo>
                  <a:pt x="59581" y="223689"/>
                  <a:pt x="-50" y="152747"/>
                  <a:pt x="-50" y="93563"/>
                </a:cubicBezTo>
                <a:close/>
                <a:moveTo>
                  <a:pt x="95250" y="127000"/>
                </a:moveTo>
                <a:cubicBezTo>
                  <a:pt x="112773" y="127000"/>
                  <a:pt x="127000" y="112773"/>
                  <a:pt x="127000" y="95250"/>
                </a:cubicBezTo>
                <a:cubicBezTo>
                  <a:pt x="127000" y="77727"/>
                  <a:pt x="112773" y="63500"/>
                  <a:pt x="95250" y="63500"/>
                </a:cubicBezTo>
                <a:cubicBezTo>
                  <a:pt x="77727" y="63500"/>
                  <a:pt x="63500" y="77727"/>
                  <a:pt x="63500" y="95250"/>
                </a:cubicBezTo>
                <a:cubicBezTo>
                  <a:pt x="63500" y="112773"/>
                  <a:pt x="77727" y="127000"/>
                  <a:pt x="95250" y="12700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384300" y="49149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3900" y="54483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等待时间：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mapreduce.task.local-wait=10s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3900" y="57785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本地优先：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优先调度到数据所在节点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900" y="61087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启用机架拓扑感知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3900" y="6438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数据分布：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合理分布HDFS数据块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45150" y="46291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54700" y="48387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997575" y="4965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248" y="-15875"/>
                </a:moveTo>
                <a:cubicBezTo>
                  <a:pt x="142581" y="-15875"/>
                  <a:pt x="155029" y="-3427"/>
                  <a:pt x="155029" y="11906"/>
                </a:cubicBezTo>
                <a:cubicBezTo>
                  <a:pt x="155029" y="27239"/>
                  <a:pt x="142581" y="39688"/>
                  <a:pt x="127248" y="39688"/>
                </a:cubicBezTo>
                <a:cubicBezTo>
                  <a:pt x="111915" y="39688"/>
                  <a:pt x="99467" y="27239"/>
                  <a:pt x="99467" y="11906"/>
                </a:cubicBezTo>
                <a:cubicBezTo>
                  <a:pt x="99467" y="-3427"/>
                  <a:pt x="111915" y="-15875"/>
                  <a:pt x="127248" y="-15875"/>
                </a:cubicBezTo>
                <a:close/>
                <a:moveTo>
                  <a:pt x="61317" y="87313"/>
                </a:moveTo>
                <a:cubicBezTo>
                  <a:pt x="59680" y="87313"/>
                  <a:pt x="58241" y="88305"/>
                  <a:pt x="57646" y="89793"/>
                </a:cubicBezTo>
                <a:lnTo>
                  <a:pt x="46732" y="117029"/>
                </a:lnTo>
                <a:cubicBezTo>
                  <a:pt x="43458" y="125164"/>
                  <a:pt x="34230" y="129133"/>
                  <a:pt x="26095" y="125859"/>
                </a:cubicBezTo>
                <a:cubicBezTo>
                  <a:pt x="17959" y="122585"/>
                  <a:pt x="13990" y="113357"/>
                  <a:pt x="17264" y="105221"/>
                </a:cubicBezTo>
                <a:lnTo>
                  <a:pt x="28129" y="77986"/>
                </a:lnTo>
                <a:cubicBezTo>
                  <a:pt x="33586" y="64443"/>
                  <a:pt x="46682" y="55563"/>
                  <a:pt x="61317" y="55563"/>
                </a:cubicBezTo>
                <a:lnTo>
                  <a:pt x="109587" y="55563"/>
                </a:lnTo>
                <a:cubicBezTo>
                  <a:pt x="123726" y="55563"/>
                  <a:pt x="136773" y="63054"/>
                  <a:pt x="143867" y="75257"/>
                </a:cubicBezTo>
                <a:lnTo>
                  <a:pt x="160139" y="103188"/>
                </a:lnTo>
                <a:lnTo>
                  <a:pt x="190698" y="103188"/>
                </a:lnTo>
                <a:cubicBezTo>
                  <a:pt x="199479" y="103188"/>
                  <a:pt x="206573" y="110282"/>
                  <a:pt x="206573" y="119063"/>
                </a:cubicBezTo>
                <a:cubicBezTo>
                  <a:pt x="206573" y="127843"/>
                  <a:pt x="199479" y="134938"/>
                  <a:pt x="190698" y="134938"/>
                </a:cubicBezTo>
                <a:lnTo>
                  <a:pt x="160139" y="134938"/>
                </a:lnTo>
                <a:cubicBezTo>
                  <a:pt x="148828" y="134938"/>
                  <a:pt x="138410" y="128935"/>
                  <a:pt x="132705" y="119162"/>
                </a:cubicBezTo>
                <a:lnTo>
                  <a:pt x="127744" y="110679"/>
                </a:lnTo>
                <a:lnTo>
                  <a:pt x="117475" y="145604"/>
                </a:lnTo>
                <a:lnTo>
                  <a:pt x="154880" y="156815"/>
                </a:lnTo>
                <a:cubicBezTo>
                  <a:pt x="168622" y="160933"/>
                  <a:pt x="175617" y="176163"/>
                  <a:pt x="169813" y="189309"/>
                </a:cubicBezTo>
                <a:lnTo>
                  <a:pt x="141734" y="252512"/>
                </a:lnTo>
                <a:cubicBezTo>
                  <a:pt x="138162" y="260548"/>
                  <a:pt x="128786" y="264120"/>
                  <a:pt x="120799" y="260548"/>
                </a:cubicBezTo>
                <a:cubicBezTo>
                  <a:pt x="112812" y="256977"/>
                  <a:pt x="109190" y="247600"/>
                  <a:pt x="112762" y="239613"/>
                </a:cubicBezTo>
                <a:lnTo>
                  <a:pt x="137170" y="184646"/>
                </a:lnTo>
                <a:lnTo>
                  <a:pt x="89595" y="170359"/>
                </a:lnTo>
                <a:cubicBezTo>
                  <a:pt x="73372" y="165497"/>
                  <a:pt x="63798" y="148679"/>
                  <a:pt x="67915" y="132259"/>
                </a:cubicBezTo>
                <a:lnTo>
                  <a:pt x="79177" y="87313"/>
                </a:lnTo>
                <a:lnTo>
                  <a:pt x="61367" y="87313"/>
                </a:lnTo>
                <a:close/>
                <a:moveTo>
                  <a:pt x="57348" y="177105"/>
                </a:moveTo>
                <a:cubicBezTo>
                  <a:pt x="63946" y="184497"/>
                  <a:pt x="72579" y="190153"/>
                  <a:pt x="82748" y="193179"/>
                </a:cubicBezTo>
                <a:lnTo>
                  <a:pt x="85080" y="193873"/>
                </a:lnTo>
                <a:lnTo>
                  <a:pt x="81657" y="203448"/>
                </a:lnTo>
                <a:cubicBezTo>
                  <a:pt x="78780" y="211534"/>
                  <a:pt x="73720" y="218728"/>
                  <a:pt x="67121" y="224185"/>
                </a:cubicBezTo>
                <a:lnTo>
                  <a:pt x="26243" y="257870"/>
                </a:lnTo>
                <a:cubicBezTo>
                  <a:pt x="19496" y="263426"/>
                  <a:pt x="9475" y="262483"/>
                  <a:pt x="3919" y="255736"/>
                </a:cubicBezTo>
                <a:cubicBezTo>
                  <a:pt x="-1637" y="248989"/>
                  <a:pt x="-695" y="238968"/>
                  <a:pt x="6052" y="233412"/>
                </a:cubicBezTo>
                <a:lnTo>
                  <a:pt x="46930" y="199727"/>
                </a:lnTo>
                <a:cubicBezTo>
                  <a:pt x="49163" y="197892"/>
                  <a:pt x="50800" y="195511"/>
                  <a:pt x="51792" y="192832"/>
                </a:cubicBezTo>
                <a:lnTo>
                  <a:pt x="57348" y="177105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515100" y="491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推测执行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54700" y="54483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启用：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mapreduce.map.speculative=true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54700" y="5778500"/>
            <a:ext cx="463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阈值：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mapreduce.job.speculative.minimum-allowed-tasks=10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54700" y="63627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慢任务：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识别并重新执行慢任务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54700" y="6692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提高作业整体完成时间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775950" y="4629150"/>
            <a:ext cx="4965700" cy="2527300"/>
          </a:xfrm>
          <a:custGeom>
            <a:avLst/>
            <a:gdLst/>
            <a:ahLst/>
            <a:cxnLst/>
            <a:rect l="l" t="t" r="r" b="b"/>
            <a:pathLst>
              <a:path w="4965700" h="2527300">
                <a:moveTo>
                  <a:pt x="101597" y="0"/>
                </a:moveTo>
                <a:lnTo>
                  <a:pt x="4864103" y="0"/>
                </a:lnTo>
                <a:cubicBezTo>
                  <a:pt x="4920213" y="0"/>
                  <a:pt x="4965700" y="45487"/>
                  <a:pt x="4965700" y="101597"/>
                </a:cubicBezTo>
                <a:lnTo>
                  <a:pt x="4965700" y="2425703"/>
                </a:lnTo>
                <a:cubicBezTo>
                  <a:pt x="4965700" y="2481813"/>
                  <a:pt x="4920213" y="2527300"/>
                  <a:pt x="486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0985500" y="48387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112500" y="4965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645900" y="491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队列配置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85500" y="54483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容量设置：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合理配置队列最小/最大容量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85500" y="5778500"/>
            <a:ext cx="463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用户限制：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yarn.scheduler.capacity.maximum-applications-per-user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85500" y="63627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配置应用优先级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85500" y="6692900"/>
            <a:ext cx="463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抢占：</a:t>
            </a: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启用资源抢占机制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0700" y="7327900"/>
            <a:ext cx="15214600" cy="1143000"/>
          </a:xfrm>
          <a:custGeom>
            <a:avLst/>
            <a:gdLst/>
            <a:ahLst/>
            <a:cxnLst/>
            <a:rect l="l" t="t" r="r" b="b"/>
            <a:pathLst>
              <a:path w="15214600" h="1143000">
                <a:moveTo>
                  <a:pt x="101601" y="0"/>
                </a:moveTo>
                <a:lnTo>
                  <a:pt x="15112999" y="0"/>
                </a:lnTo>
                <a:cubicBezTo>
                  <a:pt x="15169112" y="0"/>
                  <a:pt x="15214600" y="45488"/>
                  <a:pt x="15214600" y="101601"/>
                </a:cubicBezTo>
                <a:lnTo>
                  <a:pt x="15214600" y="1041399"/>
                </a:lnTo>
                <a:cubicBezTo>
                  <a:pt x="15214600" y="1097512"/>
                  <a:pt x="15169112" y="1143000"/>
                  <a:pt x="15112999" y="1143000"/>
                </a:cubicBezTo>
                <a:lnTo>
                  <a:pt x="101601" y="1143000"/>
                </a:lnTo>
                <a:cubicBezTo>
                  <a:pt x="45488" y="1143000"/>
                  <a:pt x="0" y="1097512"/>
                  <a:pt x="0" y="10413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12800" y="774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270000" y="7543800"/>
            <a:ext cx="143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性能优化原则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70000" y="80010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监控为先：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通过YARN UI、日志、指标监控性能瓶颈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070600" y="80010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渐进调优：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每次调整一个参数，观察效果后再调整下一个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71200" y="80010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负载适配：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根据实际负载特征调整配置，避免一刀切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134" y="463134"/>
            <a:ext cx="15422359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kern="0" spc="73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 &amp; HA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3134" y="833641"/>
            <a:ext cx="15538142" cy="463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容错机制与高可用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3134" y="1435715"/>
            <a:ext cx="1111521" cy="46313"/>
          </a:xfrm>
          <a:custGeom>
            <a:avLst/>
            <a:gdLst/>
            <a:ahLst/>
            <a:cxnLst/>
            <a:rect l="l" t="t" r="r" b="b"/>
            <a:pathLst>
              <a:path w="1111521" h="46313">
                <a:moveTo>
                  <a:pt x="0" y="0"/>
                </a:moveTo>
                <a:lnTo>
                  <a:pt x="1111521" y="0"/>
                </a:lnTo>
                <a:lnTo>
                  <a:pt x="1111521" y="46313"/>
                </a:lnTo>
                <a:lnTo>
                  <a:pt x="0" y="46313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4712" y="1771487"/>
            <a:ext cx="7549083" cy="4283989"/>
          </a:xfrm>
          <a:custGeom>
            <a:avLst/>
            <a:gdLst/>
            <a:ahLst/>
            <a:cxnLst/>
            <a:rect l="l" t="t" r="r" b="b"/>
            <a:pathLst>
              <a:path w="7549083" h="4283989">
                <a:moveTo>
                  <a:pt x="92620" y="0"/>
                </a:moveTo>
                <a:lnTo>
                  <a:pt x="7456463" y="0"/>
                </a:lnTo>
                <a:cubicBezTo>
                  <a:pt x="7507615" y="0"/>
                  <a:pt x="7549083" y="41467"/>
                  <a:pt x="7549083" y="92620"/>
                </a:cubicBezTo>
                <a:lnTo>
                  <a:pt x="7549083" y="4191369"/>
                </a:lnTo>
                <a:cubicBezTo>
                  <a:pt x="7549083" y="4242521"/>
                  <a:pt x="7507615" y="4283989"/>
                  <a:pt x="7456463" y="4283989"/>
                </a:cubicBezTo>
                <a:lnTo>
                  <a:pt x="92620" y="4283989"/>
                </a:lnTo>
                <a:cubicBezTo>
                  <a:pt x="41467" y="4283989"/>
                  <a:pt x="0" y="4242521"/>
                  <a:pt x="0" y="4191369"/>
                </a:cubicBezTo>
                <a:lnTo>
                  <a:pt x="0" y="92620"/>
                </a:lnTo>
                <a:cubicBezTo>
                  <a:pt x="0" y="41502"/>
                  <a:pt x="41502" y="0"/>
                  <a:pt x="9262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17858" y="2014632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92629" y="0"/>
                </a:moveTo>
                <a:lnTo>
                  <a:pt x="463132" y="0"/>
                </a:lnTo>
                <a:cubicBezTo>
                  <a:pt x="514289" y="0"/>
                  <a:pt x="555761" y="41471"/>
                  <a:pt x="555761" y="92629"/>
                </a:cubicBezTo>
                <a:lnTo>
                  <a:pt x="555761" y="463132"/>
                </a:lnTo>
                <a:cubicBezTo>
                  <a:pt x="555761" y="514289"/>
                  <a:pt x="514289" y="555761"/>
                  <a:pt x="463132" y="555761"/>
                </a:cubicBezTo>
                <a:lnTo>
                  <a:pt x="92629" y="555761"/>
                </a:lnTo>
                <a:cubicBezTo>
                  <a:pt x="41471" y="555761"/>
                  <a:pt x="0" y="514289"/>
                  <a:pt x="0" y="463132"/>
                </a:cubicBezTo>
                <a:lnTo>
                  <a:pt x="0" y="92629"/>
                </a:lnTo>
                <a:cubicBezTo>
                  <a:pt x="0" y="41505"/>
                  <a:pt x="41505" y="0"/>
                  <a:pt x="926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74165" y="2153573"/>
            <a:ext cx="243145" cy="277880"/>
          </a:xfrm>
          <a:custGeom>
            <a:avLst/>
            <a:gdLst/>
            <a:ahLst/>
            <a:cxnLst/>
            <a:rect l="l" t="t" r="r" b="b"/>
            <a:pathLst>
              <a:path w="243145" h="277880">
                <a:moveTo>
                  <a:pt x="34735" y="17368"/>
                </a:moveTo>
                <a:cubicBezTo>
                  <a:pt x="15576" y="17368"/>
                  <a:pt x="0" y="32944"/>
                  <a:pt x="0" y="52103"/>
                </a:cubicBezTo>
                <a:lnTo>
                  <a:pt x="0" y="86838"/>
                </a:lnTo>
                <a:cubicBezTo>
                  <a:pt x="0" y="105996"/>
                  <a:pt x="15576" y="121573"/>
                  <a:pt x="34735" y="121573"/>
                </a:cubicBezTo>
                <a:lnTo>
                  <a:pt x="208410" y="121573"/>
                </a:lnTo>
                <a:cubicBezTo>
                  <a:pt x="227569" y="121573"/>
                  <a:pt x="243145" y="105996"/>
                  <a:pt x="243145" y="86838"/>
                </a:cubicBezTo>
                <a:lnTo>
                  <a:pt x="243145" y="52103"/>
                </a:lnTo>
                <a:cubicBezTo>
                  <a:pt x="243145" y="32944"/>
                  <a:pt x="227569" y="17368"/>
                  <a:pt x="208410" y="17368"/>
                </a:cubicBezTo>
                <a:lnTo>
                  <a:pt x="34735" y="17368"/>
                </a:lnTo>
                <a:close/>
                <a:moveTo>
                  <a:pt x="151966" y="56444"/>
                </a:moveTo>
                <a:cubicBezTo>
                  <a:pt x="159155" y="56444"/>
                  <a:pt x="164991" y="62281"/>
                  <a:pt x="164991" y="69470"/>
                </a:cubicBezTo>
                <a:cubicBezTo>
                  <a:pt x="164991" y="76659"/>
                  <a:pt x="159155" y="82496"/>
                  <a:pt x="151966" y="82496"/>
                </a:cubicBezTo>
                <a:cubicBezTo>
                  <a:pt x="144777" y="82496"/>
                  <a:pt x="138940" y="76659"/>
                  <a:pt x="138940" y="69470"/>
                </a:cubicBezTo>
                <a:cubicBezTo>
                  <a:pt x="138940" y="62281"/>
                  <a:pt x="144777" y="56444"/>
                  <a:pt x="151966" y="56444"/>
                </a:cubicBezTo>
                <a:close/>
                <a:moveTo>
                  <a:pt x="182359" y="69470"/>
                </a:moveTo>
                <a:cubicBezTo>
                  <a:pt x="182359" y="62281"/>
                  <a:pt x="188196" y="56444"/>
                  <a:pt x="195385" y="56444"/>
                </a:cubicBezTo>
                <a:cubicBezTo>
                  <a:pt x="202574" y="56444"/>
                  <a:pt x="208410" y="62281"/>
                  <a:pt x="208410" y="69470"/>
                </a:cubicBezTo>
                <a:cubicBezTo>
                  <a:pt x="208410" y="76659"/>
                  <a:pt x="202574" y="82496"/>
                  <a:pt x="195385" y="82496"/>
                </a:cubicBezTo>
                <a:cubicBezTo>
                  <a:pt x="188196" y="82496"/>
                  <a:pt x="182359" y="76659"/>
                  <a:pt x="182359" y="69470"/>
                </a:cubicBezTo>
                <a:close/>
                <a:moveTo>
                  <a:pt x="34735" y="156308"/>
                </a:moveTo>
                <a:cubicBezTo>
                  <a:pt x="15576" y="156308"/>
                  <a:pt x="0" y="171884"/>
                  <a:pt x="0" y="191043"/>
                </a:cubicBezTo>
                <a:lnTo>
                  <a:pt x="0" y="225778"/>
                </a:lnTo>
                <a:cubicBezTo>
                  <a:pt x="0" y="244936"/>
                  <a:pt x="15576" y="260513"/>
                  <a:pt x="34735" y="260513"/>
                </a:cubicBezTo>
                <a:lnTo>
                  <a:pt x="208410" y="260513"/>
                </a:lnTo>
                <a:cubicBezTo>
                  <a:pt x="227569" y="260513"/>
                  <a:pt x="243145" y="244936"/>
                  <a:pt x="243145" y="225778"/>
                </a:cubicBezTo>
                <a:lnTo>
                  <a:pt x="243145" y="191043"/>
                </a:lnTo>
                <a:cubicBezTo>
                  <a:pt x="243145" y="171884"/>
                  <a:pt x="227569" y="156308"/>
                  <a:pt x="208410" y="156308"/>
                </a:cubicBezTo>
                <a:lnTo>
                  <a:pt x="34735" y="156308"/>
                </a:lnTo>
                <a:close/>
                <a:moveTo>
                  <a:pt x="151966" y="195385"/>
                </a:moveTo>
                <a:cubicBezTo>
                  <a:pt x="159155" y="195385"/>
                  <a:pt x="164991" y="201221"/>
                  <a:pt x="164991" y="208410"/>
                </a:cubicBezTo>
                <a:cubicBezTo>
                  <a:pt x="164991" y="215599"/>
                  <a:pt x="159155" y="221436"/>
                  <a:pt x="151966" y="221436"/>
                </a:cubicBezTo>
                <a:cubicBezTo>
                  <a:pt x="144777" y="221436"/>
                  <a:pt x="138940" y="215599"/>
                  <a:pt x="138940" y="208410"/>
                </a:cubicBezTo>
                <a:cubicBezTo>
                  <a:pt x="138940" y="201221"/>
                  <a:pt x="144777" y="195385"/>
                  <a:pt x="151966" y="195385"/>
                </a:cubicBezTo>
                <a:close/>
                <a:moveTo>
                  <a:pt x="182359" y="208410"/>
                </a:moveTo>
                <a:cubicBezTo>
                  <a:pt x="182359" y="201221"/>
                  <a:pt x="188196" y="195385"/>
                  <a:pt x="195385" y="195385"/>
                </a:cubicBezTo>
                <a:cubicBezTo>
                  <a:pt x="202574" y="195385"/>
                  <a:pt x="208410" y="201221"/>
                  <a:pt x="208410" y="208410"/>
                </a:cubicBezTo>
                <a:cubicBezTo>
                  <a:pt x="208410" y="215599"/>
                  <a:pt x="202574" y="221436"/>
                  <a:pt x="195385" y="221436"/>
                </a:cubicBezTo>
                <a:cubicBezTo>
                  <a:pt x="188196" y="221436"/>
                  <a:pt x="182359" y="215599"/>
                  <a:pt x="182359" y="20841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12558" y="2130416"/>
            <a:ext cx="2732490" cy="32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ResourceManager高可用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858" y="2709333"/>
            <a:ext cx="7155419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通过主备模式实现RM的快速故障切换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858" y="3126154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6798" y="3265094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主备架构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6798" y="3589288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RM和Standby RM，通过ZooKeeper协调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7858" y="4052422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6798" y="4191362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故障切换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6798" y="4515556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Active故障时，Standby自动接管，切换时间通常在</a:t>
            </a:r>
            <a:r>
              <a:rPr lang="en-US" sz="1276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858" y="4978689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6798" y="5117630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状态同步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6798" y="5441823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应用状态和资源分配信息在共享存储中持久化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4738" y="1771487"/>
            <a:ext cx="7549083" cy="4283989"/>
          </a:xfrm>
          <a:custGeom>
            <a:avLst/>
            <a:gdLst/>
            <a:ahLst/>
            <a:cxnLst/>
            <a:rect l="l" t="t" r="r" b="b"/>
            <a:pathLst>
              <a:path w="7549083" h="4283989">
                <a:moveTo>
                  <a:pt x="92620" y="0"/>
                </a:moveTo>
                <a:lnTo>
                  <a:pt x="7456463" y="0"/>
                </a:lnTo>
                <a:cubicBezTo>
                  <a:pt x="7507615" y="0"/>
                  <a:pt x="7549083" y="41467"/>
                  <a:pt x="7549083" y="92620"/>
                </a:cubicBezTo>
                <a:lnTo>
                  <a:pt x="7549083" y="4191369"/>
                </a:lnTo>
                <a:cubicBezTo>
                  <a:pt x="7549083" y="4242521"/>
                  <a:pt x="7507615" y="4283989"/>
                  <a:pt x="7456463" y="4283989"/>
                </a:cubicBezTo>
                <a:lnTo>
                  <a:pt x="92620" y="4283989"/>
                </a:lnTo>
                <a:cubicBezTo>
                  <a:pt x="41467" y="4283989"/>
                  <a:pt x="0" y="4242521"/>
                  <a:pt x="0" y="4191369"/>
                </a:cubicBezTo>
                <a:lnTo>
                  <a:pt x="0" y="92620"/>
                </a:lnTo>
                <a:cubicBezTo>
                  <a:pt x="0" y="41502"/>
                  <a:pt x="41502" y="0"/>
                  <a:pt x="9262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77883" y="2014632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92629" y="0"/>
                </a:moveTo>
                <a:lnTo>
                  <a:pt x="463132" y="0"/>
                </a:lnTo>
                <a:cubicBezTo>
                  <a:pt x="514289" y="0"/>
                  <a:pt x="555761" y="41471"/>
                  <a:pt x="555761" y="92629"/>
                </a:cubicBezTo>
                <a:lnTo>
                  <a:pt x="555761" y="463132"/>
                </a:lnTo>
                <a:cubicBezTo>
                  <a:pt x="555761" y="514289"/>
                  <a:pt x="514289" y="555761"/>
                  <a:pt x="463132" y="555761"/>
                </a:cubicBezTo>
                <a:lnTo>
                  <a:pt x="92629" y="555761"/>
                </a:lnTo>
                <a:cubicBezTo>
                  <a:pt x="41471" y="555761"/>
                  <a:pt x="0" y="514289"/>
                  <a:pt x="0" y="463132"/>
                </a:cubicBezTo>
                <a:lnTo>
                  <a:pt x="0" y="92629"/>
                </a:lnTo>
                <a:cubicBezTo>
                  <a:pt x="0" y="41505"/>
                  <a:pt x="41505" y="0"/>
                  <a:pt x="926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16823" y="2153573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21735" y="-1357"/>
                </a:moveTo>
                <a:cubicBezTo>
                  <a:pt x="132482" y="-7544"/>
                  <a:pt x="145724" y="-7544"/>
                  <a:pt x="156471" y="-1357"/>
                </a:cubicBezTo>
                <a:lnTo>
                  <a:pt x="251938" y="53731"/>
                </a:lnTo>
                <a:cubicBezTo>
                  <a:pt x="262684" y="59918"/>
                  <a:pt x="269305" y="71424"/>
                  <a:pt x="269305" y="83798"/>
                </a:cubicBezTo>
                <a:lnTo>
                  <a:pt x="269305" y="193974"/>
                </a:lnTo>
                <a:cubicBezTo>
                  <a:pt x="269305" y="206402"/>
                  <a:pt x="262684" y="217854"/>
                  <a:pt x="251938" y="224041"/>
                </a:cubicBezTo>
                <a:lnTo>
                  <a:pt x="156471" y="279237"/>
                </a:lnTo>
                <a:cubicBezTo>
                  <a:pt x="145724" y="285424"/>
                  <a:pt x="132482" y="285424"/>
                  <a:pt x="121735" y="279237"/>
                </a:cubicBezTo>
                <a:lnTo>
                  <a:pt x="26323" y="224150"/>
                </a:lnTo>
                <a:cubicBezTo>
                  <a:pt x="15576" y="217962"/>
                  <a:pt x="8955" y="206456"/>
                  <a:pt x="8955" y="194082"/>
                </a:cubicBezTo>
                <a:lnTo>
                  <a:pt x="8955" y="83907"/>
                </a:lnTo>
                <a:cubicBezTo>
                  <a:pt x="8955" y="71478"/>
                  <a:pt x="15576" y="60026"/>
                  <a:pt x="26323" y="53839"/>
                </a:cubicBezTo>
                <a:lnTo>
                  <a:pt x="121735" y="-1357"/>
                </a:lnTo>
                <a:close/>
                <a:moveTo>
                  <a:pt x="234516" y="194028"/>
                </a:moveTo>
                <a:lnTo>
                  <a:pt x="234516" y="103879"/>
                </a:lnTo>
                <a:lnTo>
                  <a:pt x="156471" y="148926"/>
                </a:lnTo>
                <a:lnTo>
                  <a:pt x="156471" y="239075"/>
                </a:lnTo>
                <a:lnTo>
                  <a:pt x="234516" y="19402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72584" y="2130416"/>
            <a:ext cx="2547236" cy="32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NodeManager故障处理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77883" y="2709333"/>
            <a:ext cx="7155419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心跳超时检测和黑名单机制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77883" y="3126154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16823" y="3265094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心跳检测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16823" y="3589288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NM定期向RM发送心跳，超时后RM标记节点为失效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77883" y="4052422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16823" y="4191362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任务重调度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16823" y="4515556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失效节点上的Container任务在其他健康节点上重新执行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77883" y="4978689"/>
            <a:ext cx="7062792" cy="833641"/>
          </a:xfrm>
          <a:custGeom>
            <a:avLst/>
            <a:gdLst/>
            <a:ahLst/>
            <a:cxnLst/>
            <a:rect l="l" t="t" r="r" b="b"/>
            <a:pathLst>
              <a:path w="7062792" h="833641">
                <a:moveTo>
                  <a:pt x="46317" y="0"/>
                </a:moveTo>
                <a:lnTo>
                  <a:pt x="7016475" y="0"/>
                </a:lnTo>
                <a:cubicBezTo>
                  <a:pt x="7042055" y="0"/>
                  <a:pt x="7062792" y="20737"/>
                  <a:pt x="7062792" y="46317"/>
                </a:cubicBezTo>
                <a:lnTo>
                  <a:pt x="7062792" y="787324"/>
                </a:lnTo>
                <a:cubicBezTo>
                  <a:pt x="7062792" y="812904"/>
                  <a:pt x="7042055" y="833641"/>
                  <a:pt x="7016475" y="833641"/>
                </a:cubicBezTo>
                <a:lnTo>
                  <a:pt x="46317" y="833641"/>
                </a:lnTo>
                <a:cubicBezTo>
                  <a:pt x="20737" y="833641"/>
                  <a:pt x="0" y="812904"/>
                  <a:pt x="0" y="787324"/>
                </a:cubicBezTo>
                <a:lnTo>
                  <a:pt x="0" y="46317"/>
                </a:lnTo>
                <a:cubicBezTo>
                  <a:pt x="0" y="20737"/>
                  <a:pt x="20737" y="0"/>
                  <a:pt x="46317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16823" y="5117630"/>
            <a:ext cx="687753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黑名单机制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16823" y="5441823"/>
            <a:ext cx="6865960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频繁失效的节点会被加入黑名单，暂时不再分配任务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8923" y="6211783"/>
            <a:ext cx="7560661" cy="2466188"/>
          </a:xfrm>
          <a:custGeom>
            <a:avLst/>
            <a:gdLst/>
            <a:ahLst/>
            <a:cxnLst/>
            <a:rect l="l" t="t" r="r" b="b"/>
            <a:pathLst>
              <a:path w="7560661" h="2466188">
                <a:moveTo>
                  <a:pt x="92630" y="0"/>
                </a:moveTo>
                <a:lnTo>
                  <a:pt x="7468031" y="0"/>
                </a:lnTo>
                <a:cubicBezTo>
                  <a:pt x="7519189" y="0"/>
                  <a:pt x="7560661" y="41472"/>
                  <a:pt x="7560661" y="92630"/>
                </a:cubicBezTo>
                <a:lnTo>
                  <a:pt x="7560661" y="2373558"/>
                </a:lnTo>
                <a:cubicBezTo>
                  <a:pt x="7560661" y="2424716"/>
                  <a:pt x="7519189" y="2466188"/>
                  <a:pt x="7468031" y="2466188"/>
                </a:cubicBezTo>
                <a:lnTo>
                  <a:pt x="92630" y="2466188"/>
                </a:lnTo>
                <a:cubicBezTo>
                  <a:pt x="41472" y="2466188"/>
                  <a:pt x="0" y="2424716"/>
                  <a:pt x="0" y="2373558"/>
                </a:cubicBezTo>
                <a:lnTo>
                  <a:pt x="0" y="92630"/>
                </a:lnTo>
                <a:cubicBezTo>
                  <a:pt x="0" y="41472"/>
                  <a:pt x="41472" y="0"/>
                  <a:pt x="9263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06279" y="6449140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92629" y="0"/>
                </a:moveTo>
                <a:lnTo>
                  <a:pt x="463132" y="0"/>
                </a:lnTo>
                <a:cubicBezTo>
                  <a:pt x="514289" y="0"/>
                  <a:pt x="555761" y="41471"/>
                  <a:pt x="555761" y="92629"/>
                </a:cubicBezTo>
                <a:lnTo>
                  <a:pt x="555761" y="463132"/>
                </a:lnTo>
                <a:cubicBezTo>
                  <a:pt x="555761" y="514289"/>
                  <a:pt x="514289" y="555761"/>
                  <a:pt x="463132" y="555761"/>
                </a:cubicBezTo>
                <a:lnTo>
                  <a:pt x="92629" y="555761"/>
                </a:lnTo>
                <a:cubicBezTo>
                  <a:pt x="41471" y="555761"/>
                  <a:pt x="0" y="514289"/>
                  <a:pt x="0" y="463132"/>
                </a:cubicBezTo>
                <a:lnTo>
                  <a:pt x="0" y="92629"/>
                </a:lnTo>
                <a:cubicBezTo>
                  <a:pt x="0" y="41505"/>
                  <a:pt x="41505" y="0"/>
                  <a:pt x="926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10484" y="6588080"/>
            <a:ext cx="347350" cy="277880"/>
          </a:xfrm>
          <a:custGeom>
            <a:avLst/>
            <a:gdLst/>
            <a:ahLst/>
            <a:cxnLst/>
            <a:rect l="l" t="t" r="r" b="b"/>
            <a:pathLst>
              <a:path w="347350" h="277880">
                <a:moveTo>
                  <a:pt x="225724" y="114246"/>
                </a:moveTo>
                <a:cubicBezTo>
                  <a:pt x="232345" y="112455"/>
                  <a:pt x="239292" y="115603"/>
                  <a:pt x="242277" y="121735"/>
                </a:cubicBezTo>
                <a:lnTo>
                  <a:pt x="252372" y="142142"/>
                </a:lnTo>
                <a:cubicBezTo>
                  <a:pt x="257962" y="142902"/>
                  <a:pt x="263444" y="144422"/>
                  <a:pt x="268600" y="146538"/>
                </a:cubicBezTo>
                <a:lnTo>
                  <a:pt x="287595" y="133893"/>
                </a:lnTo>
                <a:cubicBezTo>
                  <a:pt x="293294" y="130094"/>
                  <a:pt x="300838" y="130853"/>
                  <a:pt x="305668" y="135684"/>
                </a:cubicBezTo>
                <a:lnTo>
                  <a:pt x="316089" y="146104"/>
                </a:lnTo>
                <a:cubicBezTo>
                  <a:pt x="320919" y="150935"/>
                  <a:pt x="321679" y="158533"/>
                  <a:pt x="317880" y="164177"/>
                </a:cubicBezTo>
                <a:lnTo>
                  <a:pt x="305234" y="183119"/>
                </a:lnTo>
                <a:cubicBezTo>
                  <a:pt x="306265" y="185670"/>
                  <a:pt x="307188" y="188329"/>
                  <a:pt x="307948" y="191097"/>
                </a:cubicBezTo>
                <a:cubicBezTo>
                  <a:pt x="308708" y="193865"/>
                  <a:pt x="309196" y="196579"/>
                  <a:pt x="309576" y="199347"/>
                </a:cubicBezTo>
                <a:lnTo>
                  <a:pt x="330037" y="209441"/>
                </a:lnTo>
                <a:cubicBezTo>
                  <a:pt x="336170" y="212481"/>
                  <a:pt x="339318" y="219428"/>
                  <a:pt x="337527" y="225995"/>
                </a:cubicBezTo>
                <a:lnTo>
                  <a:pt x="333728" y="240215"/>
                </a:lnTo>
                <a:cubicBezTo>
                  <a:pt x="331937" y="246782"/>
                  <a:pt x="325804" y="251232"/>
                  <a:pt x="318965" y="250798"/>
                </a:cubicBezTo>
                <a:lnTo>
                  <a:pt x="296171" y="249332"/>
                </a:lnTo>
                <a:cubicBezTo>
                  <a:pt x="292751" y="253729"/>
                  <a:pt x="288789" y="257799"/>
                  <a:pt x="284285" y="261273"/>
                </a:cubicBezTo>
                <a:lnTo>
                  <a:pt x="285750" y="284013"/>
                </a:lnTo>
                <a:cubicBezTo>
                  <a:pt x="286184" y="290852"/>
                  <a:pt x="281734" y="297039"/>
                  <a:pt x="275167" y="298776"/>
                </a:cubicBezTo>
                <a:lnTo>
                  <a:pt x="260947" y="302575"/>
                </a:lnTo>
                <a:cubicBezTo>
                  <a:pt x="254326" y="304366"/>
                  <a:pt x="247433" y="301218"/>
                  <a:pt x="244394" y="295085"/>
                </a:cubicBezTo>
                <a:lnTo>
                  <a:pt x="234299" y="274678"/>
                </a:lnTo>
                <a:cubicBezTo>
                  <a:pt x="228709" y="273918"/>
                  <a:pt x="223227" y="272399"/>
                  <a:pt x="218071" y="270282"/>
                </a:cubicBezTo>
                <a:lnTo>
                  <a:pt x="199075" y="282928"/>
                </a:lnTo>
                <a:cubicBezTo>
                  <a:pt x="193376" y="286727"/>
                  <a:pt x="185832" y="285967"/>
                  <a:pt x="181002" y="281137"/>
                </a:cubicBezTo>
                <a:lnTo>
                  <a:pt x="170582" y="270716"/>
                </a:lnTo>
                <a:cubicBezTo>
                  <a:pt x="165751" y="265886"/>
                  <a:pt x="164991" y="258342"/>
                  <a:pt x="168791" y="252643"/>
                </a:cubicBezTo>
                <a:lnTo>
                  <a:pt x="181436" y="233647"/>
                </a:lnTo>
                <a:cubicBezTo>
                  <a:pt x="180405" y="231097"/>
                  <a:pt x="179482" y="228437"/>
                  <a:pt x="178723" y="225669"/>
                </a:cubicBezTo>
                <a:cubicBezTo>
                  <a:pt x="177963" y="222901"/>
                  <a:pt x="177474" y="220133"/>
                  <a:pt x="177094" y="217420"/>
                </a:cubicBezTo>
                <a:lnTo>
                  <a:pt x="156633" y="207325"/>
                </a:lnTo>
                <a:cubicBezTo>
                  <a:pt x="150500" y="204285"/>
                  <a:pt x="147407" y="197338"/>
                  <a:pt x="149144" y="190771"/>
                </a:cubicBezTo>
                <a:lnTo>
                  <a:pt x="152943" y="176552"/>
                </a:lnTo>
                <a:cubicBezTo>
                  <a:pt x="154734" y="169985"/>
                  <a:pt x="160867" y="165534"/>
                  <a:pt x="167705" y="165968"/>
                </a:cubicBezTo>
                <a:lnTo>
                  <a:pt x="190446" y="167434"/>
                </a:lnTo>
                <a:cubicBezTo>
                  <a:pt x="193865" y="163038"/>
                  <a:pt x="197827" y="158967"/>
                  <a:pt x="202332" y="155494"/>
                </a:cubicBezTo>
                <a:lnTo>
                  <a:pt x="200866" y="132807"/>
                </a:lnTo>
                <a:cubicBezTo>
                  <a:pt x="200432" y="125969"/>
                  <a:pt x="204882" y="119782"/>
                  <a:pt x="211450" y="118045"/>
                </a:cubicBezTo>
                <a:lnTo>
                  <a:pt x="225669" y="114246"/>
                </a:lnTo>
                <a:close/>
                <a:moveTo>
                  <a:pt x="243362" y="184530"/>
                </a:moveTo>
                <a:cubicBezTo>
                  <a:pt x="230182" y="184545"/>
                  <a:pt x="219494" y="195257"/>
                  <a:pt x="219509" y="208437"/>
                </a:cubicBezTo>
                <a:cubicBezTo>
                  <a:pt x="219524" y="221617"/>
                  <a:pt x="230237" y="232306"/>
                  <a:pt x="243417" y="232291"/>
                </a:cubicBezTo>
                <a:cubicBezTo>
                  <a:pt x="256597" y="232276"/>
                  <a:pt x="267285" y="221563"/>
                  <a:pt x="267270" y="208383"/>
                </a:cubicBezTo>
                <a:cubicBezTo>
                  <a:pt x="267255" y="195203"/>
                  <a:pt x="256542" y="184515"/>
                  <a:pt x="243362" y="184530"/>
                </a:cubicBezTo>
                <a:close/>
                <a:moveTo>
                  <a:pt x="122061" y="-24694"/>
                </a:moveTo>
                <a:lnTo>
                  <a:pt x="136281" y="-20895"/>
                </a:lnTo>
                <a:cubicBezTo>
                  <a:pt x="142848" y="-19104"/>
                  <a:pt x="147298" y="-12917"/>
                  <a:pt x="146864" y="-6133"/>
                </a:cubicBezTo>
                <a:lnTo>
                  <a:pt x="145399" y="16553"/>
                </a:lnTo>
                <a:cubicBezTo>
                  <a:pt x="149903" y="20027"/>
                  <a:pt x="153865" y="24043"/>
                  <a:pt x="157285" y="28494"/>
                </a:cubicBezTo>
                <a:lnTo>
                  <a:pt x="180079" y="27028"/>
                </a:lnTo>
                <a:cubicBezTo>
                  <a:pt x="186864" y="26594"/>
                  <a:pt x="193051" y="31044"/>
                  <a:pt x="194842" y="37612"/>
                </a:cubicBezTo>
                <a:lnTo>
                  <a:pt x="198641" y="51831"/>
                </a:lnTo>
                <a:cubicBezTo>
                  <a:pt x="200378" y="58398"/>
                  <a:pt x="197284" y="65345"/>
                  <a:pt x="191151" y="68385"/>
                </a:cubicBezTo>
                <a:lnTo>
                  <a:pt x="170690" y="78479"/>
                </a:lnTo>
                <a:cubicBezTo>
                  <a:pt x="170310" y="81247"/>
                  <a:pt x="169768" y="84015"/>
                  <a:pt x="169062" y="86729"/>
                </a:cubicBezTo>
                <a:cubicBezTo>
                  <a:pt x="168356" y="89443"/>
                  <a:pt x="167379" y="92156"/>
                  <a:pt x="166348" y="94707"/>
                </a:cubicBezTo>
                <a:lnTo>
                  <a:pt x="178994" y="113703"/>
                </a:lnTo>
                <a:cubicBezTo>
                  <a:pt x="182793" y="119402"/>
                  <a:pt x="182033" y="126946"/>
                  <a:pt x="177203" y="131776"/>
                </a:cubicBezTo>
                <a:lnTo>
                  <a:pt x="166782" y="142197"/>
                </a:lnTo>
                <a:cubicBezTo>
                  <a:pt x="161952" y="147027"/>
                  <a:pt x="154408" y="147787"/>
                  <a:pt x="148709" y="143988"/>
                </a:cubicBezTo>
                <a:lnTo>
                  <a:pt x="129714" y="131342"/>
                </a:lnTo>
                <a:cubicBezTo>
                  <a:pt x="124558" y="133459"/>
                  <a:pt x="119076" y="134978"/>
                  <a:pt x="113486" y="135738"/>
                </a:cubicBezTo>
                <a:lnTo>
                  <a:pt x="103391" y="156145"/>
                </a:lnTo>
                <a:cubicBezTo>
                  <a:pt x="100352" y="162278"/>
                  <a:pt x="93405" y="165371"/>
                  <a:pt x="86838" y="163635"/>
                </a:cubicBezTo>
                <a:lnTo>
                  <a:pt x="72618" y="159835"/>
                </a:lnTo>
                <a:cubicBezTo>
                  <a:pt x="65997" y="158044"/>
                  <a:pt x="61600" y="151857"/>
                  <a:pt x="62035" y="145073"/>
                </a:cubicBezTo>
                <a:lnTo>
                  <a:pt x="63500" y="122332"/>
                </a:lnTo>
                <a:cubicBezTo>
                  <a:pt x="58995" y="118859"/>
                  <a:pt x="55033" y="114843"/>
                  <a:pt x="51614" y="110392"/>
                </a:cubicBezTo>
                <a:lnTo>
                  <a:pt x="28819" y="111858"/>
                </a:lnTo>
                <a:cubicBezTo>
                  <a:pt x="22035" y="112292"/>
                  <a:pt x="15848" y="107841"/>
                  <a:pt x="14057" y="101274"/>
                </a:cubicBezTo>
                <a:lnTo>
                  <a:pt x="10258" y="87055"/>
                </a:lnTo>
                <a:cubicBezTo>
                  <a:pt x="8521" y="80488"/>
                  <a:pt x="11615" y="73541"/>
                  <a:pt x="17747" y="70501"/>
                </a:cubicBezTo>
                <a:lnTo>
                  <a:pt x="38209" y="60406"/>
                </a:lnTo>
                <a:cubicBezTo>
                  <a:pt x="38588" y="57638"/>
                  <a:pt x="39131" y="54925"/>
                  <a:pt x="39837" y="52157"/>
                </a:cubicBezTo>
                <a:cubicBezTo>
                  <a:pt x="40597" y="49389"/>
                  <a:pt x="41465" y="46729"/>
                  <a:pt x="42550" y="44179"/>
                </a:cubicBezTo>
                <a:lnTo>
                  <a:pt x="29905" y="25237"/>
                </a:lnTo>
                <a:cubicBezTo>
                  <a:pt x="26106" y="19538"/>
                  <a:pt x="26865" y="11994"/>
                  <a:pt x="31696" y="7164"/>
                </a:cubicBezTo>
                <a:lnTo>
                  <a:pt x="42116" y="-3256"/>
                </a:lnTo>
                <a:cubicBezTo>
                  <a:pt x="46947" y="-8087"/>
                  <a:pt x="54491" y="-8847"/>
                  <a:pt x="60189" y="-5047"/>
                </a:cubicBezTo>
                <a:lnTo>
                  <a:pt x="79185" y="7598"/>
                </a:lnTo>
                <a:cubicBezTo>
                  <a:pt x="84341" y="5482"/>
                  <a:pt x="89823" y="3962"/>
                  <a:pt x="95413" y="3202"/>
                </a:cubicBezTo>
                <a:lnTo>
                  <a:pt x="105508" y="-17205"/>
                </a:lnTo>
                <a:cubicBezTo>
                  <a:pt x="108547" y="-23338"/>
                  <a:pt x="115440" y="-26431"/>
                  <a:pt x="122061" y="-24694"/>
                </a:cubicBezTo>
                <a:close/>
                <a:moveTo>
                  <a:pt x="104422" y="45590"/>
                </a:moveTo>
                <a:cubicBezTo>
                  <a:pt x="91242" y="45590"/>
                  <a:pt x="80542" y="56290"/>
                  <a:pt x="80542" y="69470"/>
                </a:cubicBezTo>
                <a:cubicBezTo>
                  <a:pt x="80542" y="82650"/>
                  <a:pt x="91242" y="93350"/>
                  <a:pt x="104422" y="93350"/>
                </a:cubicBezTo>
                <a:cubicBezTo>
                  <a:pt x="117602" y="93350"/>
                  <a:pt x="128303" y="82650"/>
                  <a:pt x="128303" y="69470"/>
                </a:cubicBezTo>
                <a:cubicBezTo>
                  <a:pt x="128303" y="56290"/>
                  <a:pt x="117602" y="45590"/>
                  <a:pt x="104422" y="4559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00980" y="6564923"/>
            <a:ext cx="2500923" cy="32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ApplicationMaster容错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6279" y="7143840"/>
            <a:ext cx="7178575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AM失败后RM自动重启，保障应用执行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9436" y="7606974"/>
            <a:ext cx="185254" cy="185254"/>
          </a:xfrm>
          <a:custGeom>
            <a:avLst/>
            <a:gdLst/>
            <a:ahLst/>
            <a:cxnLst/>
            <a:rect l="l" t="t" r="r" b="b"/>
            <a:pathLst>
              <a:path w="185254" h="185254">
                <a:moveTo>
                  <a:pt x="92627" y="39041"/>
                </a:moveTo>
                <a:lnTo>
                  <a:pt x="87199" y="31515"/>
                </a:lnTo>
                <a:cubicBezTo>
                  <a:pt x="78154" y="18996"/>
                  <a:pt x="63645" y="11578"/>
                  <a:pt x="48159" y="11578"/>
                </a:cubicBezTo>
                <a:cubicBezTo>
                  <a:pt x="21565" y="11578"/>
                  <a:pt x="0" y="33143"/>
                  <a:pt x="0" y="59737"/>
                </a:cubicBezTo>
                <a:lnTo>
                  <a:pt x="0" y="60678"/>
                </a:lnTo>
                <a:cubicBezTo>
                  <a:pt x="0" y="69217"/>
                  <a:pt x="2243" y="78045"/>
                  <a:pt x="6006" y="86838"/>
                </a:cubicBezTo>
                <a:lnTo>
                  <a:pt x="44360" y="86838"/>
                </a:lnTo>
                <a:cubicBezTo>
                  <a:pt x="45517" y="86838"/>
                  <a:pt x="46567" y="86150"/>
                  <a:pt x="47037" y="85065"/>
                </a:cubicBezTo>
                <a:lnTo>
                  <a:pt x="58543" y="57458"/>
                </a:lnTo>
                <a:cubicBezTo>
                  <a:pt x="59882" y="54274"/>
                  <a:pt x="62993" y="52175"/>
                  <a:pt x="66431" y="52103"/>
                </a:cubicBezTo>
                <a:cubicBezTo>
                  <a:pt x="69868" y="52030"/>
                  <a:pt x="73052" y="54056"/>
                  <a:pt x="74463" y="57204"/>
                </a:cubicBezTo>
                <a:lnTo>
                  <a:pt x="93025" y="98416"/>
                </a:lnTo>
                <a:lnTo>
                  <a:pt x="108004" y="68457"/>
                </a:lnTo>
                <a:cubicBezTo>
                  <a:pt x="109488" y="65526"/>
                  <a:pt x="112491" y="63645"/>
                  <a:pt x="115783" y="63645"/>
                </a:cubicBezTo>
                <a:cubicBezTo>
                  <a:pt x="119076" y="63645"/>
                  <a:pt x="122079" y="65490"/>
                  <a:pt x="123563" y="68457"/>
                </a:cubicBezTo>
                <a:lnTo>
                  <a:pt x="131957" y="85209"/>
                </a:lnTo>
                <a:cubicBezTo>
                  <a:pt x="132464" y="86186"/>
                  <a:pt x="133440" y="86801"/>
                  <a:pt x="134562" y="86801"/>
                </a:cubicBezTo>
                <a:lnTo>
                  <a:pt x="179283" y="86801"/>
                </a:lnTo>
                <a:cubicBezTo>
                  <a:pt x="183083" y="78009"/>
                  <a:pt x="185290" y="69181"/>
                  <a:pt x="185290" y="60642"/>
                </a:cubicBezTo>
                <a:lnTo>
                  <a:pt x="185290" y="59701"/>
                </a:lnTo>
                <a:cubicBezTo>
                  <a:pt x="185254" y="33143"/>
                  <a:pt x="163689" y="11578"/>
                  <a:pt x="137095" y="11578"/>
                </a:cubicBezTo>
                <a:cubicBezTo>
                  <a:pt x="121645" y="11578"/>
                  <a:pt x="107100" y="18996"/>
                  <a:pt x="98054" y="31515"/>
                </a:cubicBezTo>
                <a:lnTo>
                  <a:pt x="92627" y="39005"/>
                </a:lnTo>
                <a:close/>
                <a:moveTo>
                  <a:pt x="169912" y="104205"/>
                </a:moveTo>
                <a:lnTo>
                  <a:pt x="134526" y="104205"/>
                </a:lnTo>
                <a:cubicBezTo>
                  <a:pt x="126855" y="104205"/>
                  <a:pt x="119836" y="99863"/>
                  <a:pt x="116399" y="92989"/>
                </a:cubicBezTo>
                <a:lnTo>
                  <a:pt x="115783" y="91758"/>
                </a:lnTo>
                <a:lnTo>
                  <a:pt x="100406" y="122550"/>
                </a:lnTo>
                <a:cubicBezTo>
                  <a:pt x="98923" y="125553"/>
                  <a:pt x="95811" y="127434"/>
                  <a:pt x="92446" y="127362"/>
                </a:cubicBezTo>
                <a:cubicBezTo>
                  <a:pt x="89081" y="127289"/>
                  <a:pt x="86078" y="125299"/>
                  <a:pt x="84703" y="122260"/>
                </a:cubicBezTo>
                <a:lnTo>
                  <a:pt x="66865" y="82640"/>
                </a:lnTo>
                <a:lnTo>
                  <a:pt x="63066" y="91758"/>
                </a:lnTo>
                <a:cubicBezTo>
                  <a:pt x="59918" y="99321"/>
                  <a:pt x="52537" y="104241"/>
                  <a:pt x="44360" y="104241"/>
                </a:cubicBezTo>
                <a:lnTo>
                  <a:pt x="15341" y="104241"/>
                </a:lnTo>
                <a:cubicBezTo>
                  <a:pt x="32419" y="130944"/>
                  <a:pt x="59846" y="155512"/>
                  <a:pt x="76996" y="168610"/>
                </a:cubicBezTo>
                <a:cubicBezTo>
                  <a:pt x="81483" y="172011"/>
                  <a:pt x="86982" y="173711"/>
                  <a:pt x="92591" y="173711"/>
                </a:cubicBezTo>
                <a:cubicBezTo>
                  <a:pt x="98199" y="173711"/>
                  <a:pt x="103735" y="172047"/>
                  <a:pt x="108185" y="168610"/>
                </a:cubicBezTo>
                <a:cubicBezTo>
                  <a:pt x="125408" y="155475"/>
                  <a:pt x="152834" y="130908"/>
                  <a:pt x="169912" y="104205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30473" y="7560661"/>
            <a:ext cx="2998792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心跳监控：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RM通过心跳监控AM健康状态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9436" y="7931168"/>
            <a:ext cx="185254" cy="185254"/>
          </a:xfrm>
          <a:custGeom>
            <a:avLst/>
            <a:gdLst/>
            <a:ahLst/>
            <a:cxnLst/>
            <a:rect l="l" t="t" r="r" b="b"/>
            <a:pathLst>
              <a:path w="185254" h="185254">
                <a:moveTo>
                  <a:pt x="158008" y="27028"/>
                </a:moveTo>
                <a:lnTo>
                  <a:pt x="162097" y="30900"/>
                </a:lnTo>
                <a:lnTo>
                  <a:pt x="162097" y="11578"/>
                </a:lnTo>
                <a:cubicBezTo>
                  <a:pt x="162097" y="5174"/>
                  <a:pt x="167271" y="0"/>
                  <a:pt x="173675" y="0"/>
                </a:cubicBezTo>
                <a:cubicBezTo>
                  <a:pt x="180079" y="0"/>
                  <a:pt x="185254" y="5174"/>
                  <a:pt x="185254" y="11578"/>
                </a:cubicBezTo>
                <a:lnTo>
                  <a:pt x="185254" y="57892"/>
                </a:lnTo>
                <a:cubicBezTo>
                  <a:pt x="185254" y="64296"/>
                  <a:pt x="180079" y="69470"/>
                  <a:pt x="173675" y="69470"/>
                </a:cubicBezTo>
                <a:lnTo>
                  <a:pt x="127362" y="69470"/>
                </a:lnTo>
                <a:cubicBezTo>
                  <a:pt x="120958" y="69470"/>
                  <a:pt x="115783" y="64296"/>
                  <a:pt x="115783" y="57892"/>
                </a:cubicBezTo>
                <a:cubicBezTo>
                  <a:pt x="115783" y="51487"/>
                  <a:pt x="120958" y="46313"/>
                  <a:pt x="127362" y="46313"/>
                </a:cubicBezTo>
                <a:lnTo>
                  <a:pt x="144693" y="46313"/>
                </a:lnTo>
                <a:lnTo>
                  <a:pt x="141943" y="43708"/>
                </a:lnTo>
                <a:cubicBezTo>
                  <a:pt x="141871" y="43636"/>
                  <a:pt x="141799" y="43564"/>
                  <a:pt x="141726" y="43491"/>
                </a:cubicBezTo>
                <a:cubicBezTo>
                  <a:pt x="114589" y="16354"/>
                  <a:pt x="70628" y="16354"/>
                  <a:pt x="43491" y="43491"/>
                </a:cubicBezTo>
                <a:cubicBezTo>
                  <a:pt x="16354" y="70628"/>
                  <a:pt x="16354" y="114589"/>
                  <a:pt x="43491" y="141726"/>
                </a:cubicBezTo>
                <a:cubicBezTo>
                  <a:pt x="70628" y="168863"/>
                  <a:pt x="114589" y="168863"/>
                  <a:pt x="141726" y="141726"/>
                </a:cubicBezTo>
                <a:cubicBezTo>
                  <a:pt x="144693" y="138759"/>
                  <a:pt x="147334" y="135611"/>
                  <a:pt x="149650" y="132283"/>
                </a:cubicBezTo>
                <a:cubicBezTo>
                  <a:pt x="153305" y="127036"/>
                  <a:pt x="160541" y="125770"/>
                  <a:pt x="165787" y="129424"/>
                </a:cubicBezTo>
                <a:cubicBezTo>
                  <a:pt x="171034" y="133079"/>
                  <a:pt x="172300" y="140315"/>
                  <a:pt x="168646" y="145562"/>
                </a:cubicBezTo>
                <a:cubicBezTo>
                  <a:pt x="165570" y="149976"/>
                  <a:pt x="162061" y="154173"/>
                  <a:pt x="158117" y="158117"/>
                </a:cubicBezTo>
                <a:cubicBezTo>
                  <a:pt x="121934" y="194299"/>
                  <a:pt x="63283" y="194299"/>
                  <a:pt x="27137" y="158117"/>
                </a:cubicBezTo>
                <a:cubicBezTo>
                  <a:pt x="-9009" y="121934"/>
                  <a:pt x="-9046" y="63319"/>
                  <a:pt x="27137" y="27137"/>
                </a:cubicBezTo>
                <a:cubicBezTo>
                  <a:pt x="63283" y="-9009"/>
                  <a:pt x="121826" y="-9046"/>
                  <a:pt x="158008" y="27028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30473" y="7884855"/>
            <a:ext cx="3647179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自动重启：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AM失败后在新的Container中重新启动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7858" y="8255362"/>
            <a:ext cx="208410" cy="185254"/>
          </a:xfrm>
          <a:custGeom>
            <a:avLst/>
            <a:gdLst/>
            <a:ahLst/>
            <a:cxnLst/>
            <a:rect l="l" t="t" r="r" b="b"/>
            <a:pathLst>
              <a:path w="208410" h="185254">
                <a:moveTo>
                  <a:pt x="104205" y="23157"/>
                </a:moveTo>
                <a:cubicBezTo>
                  <a:pt x="142558" y="23157"/>
                  <a:pt x="173675" y="54274"/>
                  <a:pt x="173675" y="92627"/>
                </a:cubicBezTo>
                <a:cubicBezTo>
                  <a:pt x="173675" y="130980"/>
                  <a:pt x="142558" y="162097"/>
                  <a:pt x="104205" y="162097"/>
                </a:cubicBezTo>
                <a:cubicBezTo>
                  <a:pt x="80614" y="162097"/>
                  <a:pt x="59737" y="150338"/>
                  <a:pt x="47182" y="132319"/>
                </a:cubicBezTo>
                <a:cubicBezTo>
                  <a:pt x="43527" y="127072"/>
                  <a:pt x="36291" y="125806"/>
                  <a:pt x="31044" y="129460"/>
                </a:cubicBezTo>
                <a:cubicBezTo>
                  <a:pt x="25798" y="133115"/>
                  <a:pt x="24532" y="140351"/>
                  <a:pt x="28186" y="145598"/>
                </a:cubicBezTo>
                <a:cubicBezTo>
                  <a:pt x="44902" y="169550"/>
                  <a:pt x="72726" y="185254"/>
                  <a:pt x="104205" y="185254"/>
                </a:cubicBezTo>
                <a:cubicBezTo>
                  <a:pt x="155367" y="185254"/>
                  <a:pt x="196832" y="143789"/>
                  <a:pt x="196832" y="92627"/>
                </a:cubicBezTo>
                <a:cubicBezTo>
                  <a:pt x="196832" y="41465"/>
                  <a:pt x="155367" y="0"/>
                  <a:pt x="104205" y="0"/>
                </a:cubicBezTo>
                <a:cubicBezTo>
                  <a:pt x="73197" y="0"/>
                  <a:pt x="45771" y="15233"/>
                  <a:pt x="28946" y="38607"/>
                </a:cubicBezTo>
                <a:lnTo>
                  <a:pt x="28946" y="28946"/>
                </a:lnTo>
                <a:cubicBezTo>
                  <a:pt x="28946" y="22542"/>
                  <a:pt x="23772" y="17368"/>
                  <a:pt x="17368" y="17368"/>
                </a:cubicBezTo>
                <a:cubicBezTo>
                  <a:pt x="10963" y="17368"/>
                  <a:pt x="5789" y="22542"/>
                  <a:pt x="5789" y="28946"/>
                </a:cubicBezTo>
                <a:lnTo>
                  <a:pt x="5789" y="69470"/>
                </a:lnTo>
                <a:cubicBezTo>
                  <a:pt x="5789" y="75874"/>
                  <a:pt x="10963" y="81048"/>
                  <a:pt x="17368" y="81048"/>
                </a:cubicBezTo>
                <a:lnTo>
                  <a:pt x="26268" y="81048"/>
                </a:lnTo>
                <a:cubicBezTo>
                  <a:pt x="26449" y="81048"/>
                  <a:pt x="26630" y="81048"/>
                  <a:pt x="26811" y="81048"/>
                </a:cubicBezTo>
                <a:lnTo>
                  <a:pt x="57928" y="81048"/>
                </a:lnTo>
                <a:cubicBezTo>
                  <a:pt x="64332" y="81048"/>
                  <a:pt x="69506" y="75874"/>
                  <a:pt x="69506" y="69470"/>
                </a:cubicBezTo>
                <a:cubicBezTo>
                  <a:pt x="69506" y="63066"/>
                  <a:pt x="64332" y="57892"/>
                  <a:pt x="57928" y="57892"/>
                </a:cubicBezTo>
                <a:lnTo>
                  <a:pt x="44070" y="57892"/>
                </a:lnTo>
                <a:cubicBezTo>
                  <a:pt x="56046" y="37123"/>
                  <a:pt x="78516" y="23157"/>
                  <a:pt x="104205" y="23157"/>
                </a:cubicBezTo>
                <a:close/>
                <a:moveTo>
                  <a:pt x="112889" y="54997"/>
                </a:moveTo>
                <a:cubicBezTo>
                  <a:pt x="112889" y="50185"/>
                  <a:pt x="109017" y="46313"/>
                  <a:pt x="104205" y="46313"/>
                </a:cubicBezTo>
                <a:cubicBezTo>
                  <a:pt x="99393" y="46313"/>
                  <a:pt x="95521" y="50185"/>
                  <a:pt x="95521" y="54997"/>
                </a:cubicBezTo>
                <a:lnTo>
                  <a:pt x="95521" y="92627"/>
                </a:lnTo>
                <a:cubicBezTo>
                  <a:pt x="95521" y="94942"/>
                  <a:pt x="96426" y="97150"/>
                  <a:pt x="98054" y="98778"/>
                </a:cubicBezTo>
                <a:lnTo>
                  <a:pt x="124105" y="124829"/>
                </a:lnTo>
                <a:cubicBezTo>
                  <a:pt x="127507" y="128230"/>
                  <a:pt x="133006" y="128230"/>
                  <a:pt x="136371" y="124829"/>
                </a:cubicBezTo>
                <a:cubicBezTo>
                  <a:pt x="139736" y="121428"/>
                  <a:pt x="139772" y="115928"/>
                  <a:pt x="136371" y="112563"/>
                </a:cubicBezTo>
                <a:lnTo>
                  <a:pt x="112853" y="89045"/>
                </a:lnTo>
                <a:lnTo>
                  <a:pt x="112853" y="54997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30473" y="8209048"/>
            <a:ext cx="3728228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状态恢复：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AM可以从检查点恢复已完成的任务状态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8949" y="6211783"/>
            <a:ext cx="7560661" cy="2466188"/>
          </a:xfrm>
          <a:custGeom>
            <a:avLst/>
            <a:gdLst/>
            <a:ahLst/>
            <a:cxnLst/>
            <a:rect l="l" t="t" r="r" b="b"/>
            <a:pathLst>
              <a:path w="7560661" h="2466188">
                <a:moveTo>
                  <a:pt x="92630" y="0"/>
                </a:moveTo>
                <a:lnTo>
                  <a:pt x="7468031" y="0"/>
                </a:lnTo>
                <a:cubicBezTo>
                  <a:pt x="7519189" y="0"/>
                  <a:pt x="7560661" y="41472"/>
                  <a:pt x="7560661" y="92630"/>
                </a:cubicBezTo>
                <a:lnTo>
                  <a:pt x="7560661" y="2373558"/>
                </a:lnTo>
                <a:cubicBezTo>
                  <a:pt x="7560661" y="2424716"/>
                  <a:pt x="7519189" y="2466188"/>
                  <a:pt x="7468031" y="2466188"/>
                </a:cubicBezTo>
                <a:lnTo>
                  <a:pt x="92630" y="2466188"/>
                </a:lnTo>
                <a:cubicBezTo>
                  <a:pt x="41472" y="2466188"/>
                  <a:pt x="0" y="2424716"/>
                  <a:pt x="0" y="2373558"/>
                </a:cubicBezTo>
                <a:lnTo>
                  <a:pt x="0" y="92630"/>
                </a:lnTo>
                <a:cubicBezTo>
                  <a:pt x="0" y="41472"/>
                  <a:pt x="41472" y="0"/>
                  <a:pt x="9263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66305" y="6449140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92629" y="0"/>
                </a:moveTo>
                <a:lnTo>
                  <a:pt x="463132" y="0"/>
                </a:lnTo>
                <a:cubicBezTo>
                  <a:pt x="514289" y="0"/>
                  <a:pt x="555761" y="41471"/>
                  <a:pt x="555761" y="92629"/>
                </a:cubicBezTo>
                <a:lnTo>
                  <a:pt x="555761" y="463132"/>
                </a:lnTo>
                <a:cubicBezTo>
                  <a:pt x="555761" y="514289"/>
                  <a:pt x="514289" y="555761"/>
                  <a:pt x="463132" y="555761"/>
                </a:cubicBezTo>
                <a:lnTo>
                  <a:pt x="92629" y="555761"/>
                </a:lnTo>
                <a:cubicBezTo>
                  <a:pt x="41471" y="555761"/>
                  <a:pt x="0" y="514289"/>
                  <a:pt x="0" y="463132"/>
                </a:cubicBezTo>
                <a:lnTo>
                  <a:pt x="0" y="92629"/>
                </a:lnTo>
                <a:cubicBezTo>
                  <a:pt x="0" y="41505"/>
                  <a:pt x="41505" y="0"/>
                  <a:pt x="92629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622613" y="6588080"/>
            <a:ext cx="243145" cy="277880"/>
          </a:xfrm>
          <a:custGeom>
            <a:avLst/>
            <a:gdLst/>
            <a:ahLst/>
            <a:cxnLst/>
            <a:rect l="l" t="t" r="r" b="b"/>
            <a:pathLst>
              <a:path w="243145" h="277880">
                <a:moveTo>
                  <a:pt x="200486" y="69470"/>
                </a:moveTo>
                <a:lnTo>
                  <a:pt x="181871" y="43419"/>
                </a:lnTo>
                <a:lnTo>
                  <a:pt x="61329" y="43419"/>
                </a:lnTo>
                <a:lnTo>
                  <a:pt x="42713" y="69470"/>
                </a:lnTo>
                <a:lnTo>
                  <a:pt x="200486" y="69470"/>
                </a:lnTo>
                <a:close/>
                <a:moveTo>
                  <a:pt x="0" y="80596"/>
                </a:moveTo>
                <a:cubicBezTo>
                  <a:pt x="0" y="73378"/>
                  <a:pt x="2279" y="66322"/>
                  <a:pt x="6459" y="60406"/>
                </a:cubicBezTo>
                <a:lnTo>
                  <a:pt x="33053" y="23229"/>
                </a:lnTo>
                <a:cubicBezTo>
                  <a:pt x="39565" y="14111"/>
                  <a:pt x="50094" y="8684"/>
                  <a:pt x="61275" y="8684"/>
                </a:cubicBezTo>
                <a:lnTo>
                  <a:pt x="181816" y="8684"/>
                </a:lnTo>
                <a:cubicBezTo>
                  <a:pt x="193051" y="8684"/>
                  <a:pt x="203580" y="14111"/>
                  <a:pt x="210093" y="23229"/>
                </a:cubicBezTo>
                <a:lnTo>
                  <a:pt x="236632" y="60406"/>
                </a:lnTo>
                <a:cubicBezTo>
                  <a:pt x="240866" y="66322"/>
                  <a:pt x="243091" y="73378"/>
                  <a:pt x="243091" y="80596"/>
                </a:cubicBezTo>
                <a:lnTo>
                  <a:pt x="243145" y="225778"/>
                </a:lnTo>
                <a:cubicBezTo>
                  <a:pt x="243145" y="244936"/>
                  <a:pt x="227569" y="260513"/>
                  <a:pt x="208410" y="260513"/>
                </a:cubicBezTo>
                <a:lnTo>
                  <a:pt x="34735" y="260513"/>
                </a:lnTo>
                <a:cubicBezTo>
                  <a:pt x="15576" y="260513"/>
                  <a:pt x="0" y="244936"/>
                  <a:pt x="0" y="225778"/>
                </a:cubicBezTo>
                <a:lnTo>
                  <a:pt x="0" y="80596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161006" y="6564923"/>
            <a:ext cx="2084103" cy="32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Container故障恢复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66305" y="7143840"/>
            <a:ext cx="7178575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任务失败重试和资源重新分配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89462" y="7606974"/>
            <a:ext cx="185254" cy="185254"/>
          </a:xfrm>
          <a:custGeom>
            <a:avLst/>
            <a:gdLst/>
            <a:ahLst/>
            <a:cxnLst/>
            <a:rect l="l" t="t" r="r" b="b"/>
            <a:pathLst>
              <a:path w="185254" h="185254">
                <a:moveTo>
                  <a:pt x="23844" y="82677"/>
                </a:moveTo>
                <a:cubicBezTo>
                  <a:pt x="28656" y="49027"/>
                  <a:pt x="57638" y="23157"/>
                  <a:pt x="92627" y="23157"/>
                </a:cubicBezTo>
                <a:cubicBezTo>
                  <a:pt x="111803" y="23157"/>
                  <a:pt x="129171" y="30936"/>
                  <a:pt x="141762" y="43491"/>
                </a:cubicBezTo>
                <a:cubicBezTo>
                  <a:pt x="141835" y="43564"/>
                  <a:pt x="141907" y="43636"/>
                  <a:pt x="141979" y="43708"/>
                </a:cubicBezTo>
                <a:lnTo>
                  <a:pt x="144729" y="46313"/>
                </a:lnTo>
                <a:lnTo>
                  <a:pt x="127398" y="46313"/>
                </a:lnTo>
                <a:cubicBezTo>
                  <a:pt x="120994" y="46313"/>
                  <a:pt x="115820" y="51487"/>
                  <a:pt x="115820" y="57892"/>
                </a:cubicBezTo>
                <a:cubicBezTo>
                  <a:pt x="115820" y="64296"/>
                  <a:pt x="120994" y="69470"/>
                  <a:pt x="127398" y="69470"/>
                </a:cubicBezTo>
                <a:lnTo>
                  <a:pt x="173711" y="69470"/>
                </a:lnTo>
                <a:cubicBezTo>
                  <a:pt x="180116" y="69470"/>
                  <a:pt x="185290" y="64296"/>
                  <a:pt x="185290" y="57892"/>
                </a:cubicBezTo>
                <a:lnTo>
                  <a:pt x="185290" y="11578"/>
                </a:lnTo>
                <a:cubicBezTo>
                  <a:pt x="185290" y="5174"/>
                  <a:pt x="180116" y="0"/>
                  <a:pt x="173711" y="0"/>
                </a:cubicBezTo>
                <a:cubicBezTo>
                  <a:pt x="167307" y="0"/>
                  <a:pt x="162133" y="5174"/>
                  <a:pt x="162133" y="11578"/>
                </a:cubicBezTo>
                <a:lnTo>
                  <a:pt x="162133" y="30900"/>
                </a:lnTo>
                <a:lnTo>
                  <a:pt x="158044" y="27028"/>
                </a:lnTo>
                <a:cubicBezTo>
                  <a:pt x="141292" y="10348"/>
                  <a:pt x="118135" y="0"/>
                  <a:pt x="92627" y="0"/>
                </a:cubicBezTo>
                <a:cubicBezTo>
                  <a:pt x="45952" y="0"/>
                  <a:pt x="7345" y="34518"/>
                  <a:pt x="941" y="79420"/>
                </a:cubicBezTo>
                <a:cubicBezTo>
                  <a:pt x="36" y="85752"/>
                  <a:pt x="4414" y="91614"/>
                  <a:pt x="10746" y="92518"/>
                </a:cubicBezTo>
                <a:cubicBezTo>
                  <a:pt x="17078" y="93423"/>
                  <a:pt x="22940" y="89009"/>
                  <a:pt x="23844" y="82713"/>
                </a:cubicBezTo>
                <a:close/>
                <a:moveTo>
                  <a:pt x="184313" y="105833"/>
                </a:moveTo>
                <a:cubicBezTo>
                  <a:pt x="185217" y="99501"/>
                  <a:pt x="180803" y="93640"/>
                  <a:pt x="174507" y="92735"/>
                </a:cubicBezTo>
                <a:cubicBezTo>
                  <a:pt x="168212" y="91831"/>
                  <a:pt x="162314" y="96245"/>
                  <a:pt x="161409" y="102541"/>
                </a:cubicBezTo>
                <a:cubicBezTo>
                  <a:pt x="156597" y="136190"/>
                  <a:pt x="127615" y="162061"/>
                  <a:pt x="92627" y="162061"/>
                </a:cubicBezTo>
                <a:cubicBezTo>
                  <a:pt x="73450" y="162061"/>
                  <a:pt x="56083" y="154281"/>
                  <a:pt x="43491" y="141726"/>
                </a:cubicBezTo>
                <a:cubicBezTo>
                  <a:pt x="43419" y="141654"/>
                  <a:pt x="43346" y="141581"/>
                  <a:pt x="43274" y="141509"/>
                </a:cubicBezTo>
                <a:lnTo>
                  <a:pt x="40524" y="138904"/>
                </a:lnTo>
                <a:lnTo>
                  <a:pt x="57856" y="138904"/>
                </a:lnTo>
                <a:cubicBezTo>
                  <a:pt x="64260" y="138904"/>
                  <a:pt x="69434" y="133730"/>
                  <a:pt x="69434" y="127326"/>
                </a:cubicBezTo>
                <a:cubicBezTo>
                  <a:pt x="69434" y="120921"/>
                  <a:pt x="64260" y="115747"/>
                  <a:pt x="57856" y="115747"/>
                </a:cubicBezTo>
                <a:lnTo>
                  <a:pt x="11578" y="115783"/>
                </a:lnTo>
                <a:cubicBezTo>
                  <a:pt x="8503" y="115783"/>
                  <a:pt x="5536" y="117014"/>
                  <a:pt x="3365" y="119221"/>
                </a:cubicBezTo>
                <a:cubicBezTo>
                  <a:pt x="1194" y="121428"/>
                  <a:pt x="-36" y="124359"/>
                  <a:pt x="0" y="127470"/>
                </a:cubicBezTo>
                <a:lnTo>
                  <a:pt x="362" y="173422"/>
                </a:lnTo>
                <a:cubicBezTo>
                  <a:pt x="398" y="179826"/>
                  <a:pt x="5644" y="184964"/>
                  <a:pt x="12049" y="184892"/>
                </a:cubicBezTo>
                <a:cubicBezTo>
                  <a:pt x="18453" y="184819"/>
                  <a:pt x="23591" y="179609"/>
                  <a:pt x="23519" y="173205"/>
                </a:cubicBezTo>
                <a:lnTo>
                  <a:pt x="23374" y="154571"/>
                </a:lnTo>
                <a:lnTo>
                  <a:pt x="27245" y="158225"/>
                </a:lnTo>
                <a:cubicBezTo>
                  <a:pt x="43998" y="174905"/>
                  <a:pt x="67118" y="185254"/>
                  <a:pt x="92627" y="185254"/>
                </a:cubicBezTo>
                <a:cubicBezTo>
                  <a:pt x="139302" y="185254"/>
                  <a:pt x="177909" y="150736"/>
                  <a:pt x="184313" y="105833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90499" y="7560661"/>
            <a:ext cx="4793436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失败重试：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任务失败后在其他Container上重新执行，默认重试4次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89462" y="7931168"/>
            <a:ext cx="185254" cy="185254"/>
          </a:xfrm>
          <a:custGeom>
            <a:avLst/>
            <a:gdLst/>
            <a:ahLst/>
            <a:cxnLst/>
            <a:rect l="l" t="t" r="r" b="b"/>
            <a:pathLst>
              <a:path w="185254" h="185254">
                <a:moveTo>
                  <a:pt x="146104" y="12447"/>
                </a:moveTo>
                <a:cubicBezTo>
                  <a:pt x="150446" y="10638"/>
                  <a:pt x="155403" y="11651"/>
                  <a:pt x="158732" y="14943"/>
                </a:cubicBezTo>
                <a:lnTo>
                  <a:pt x="181889" y="38100"/>
                </a:lnTo>
                <a:cubicBezTo>
                  <a:pt x="184060" y="40271"/>
                  <a:pt x="185290" y="43202"/>
                  <a:pt x="185290" y="46277"/>
                </a:cubicBezTo>
                <a:cubicBezTo>
                  <a:pt x="185290" y="49353"/>
                  <a:pt x="184060" y="52283"/>
                  <a:pt x="181889" y="54454"/>
                </a:cubicBezTo>
                <a:lnTo>
                  <a:pt x="158732" y="77611"/>
                </a:lnTo>
                <a:cubicBezTo>
                  <a:pt x="155403" y="80940"/>
                  <a:pt x="150446" y="81917"/>
                  <a:pt x="146104" y="80108"/>
                </a:cubicBezTo>
                <a:cubicBezTo>
                  <a:pt x="141762" y="78299"/>
                  <a:pt x="138940" y="74138"/>
                  <a:pt x="138940" y="69470"/>
                </a:cubicBezTo>
                <a:lnTo>
                  <a:pt x="138940" y="57892"/>
                </a:lnTo>
                <a:lnTo>
                  <a:pt x="127362" y="57892"/>
                </a:lnTo>
                <a:cubicBezTo>
                  <a:pt x="123707" y="57892"/>
                  <a:pt x="120270" y="59592"/>
                  <a:pt x="118099" y="62523"/>
                </a:cubicBezTo>
                <a:lnTo>
                  <a:pt x="106376" y="78154"/>
                </a:lnTo>
                <a:lnTo>
                  <a:pt x="91903" y="58869"/>
                </a:lnTo>
                <a:lnTo>
                  <a:pt x="99574" y="48629"/>
                </a:lnTo>
                <a:cubicBezTo>
                  <a:pt x="106123" y="39873"/>
                  <a:pt x="116435" y="34735"/>
                  <a:pt x="127362" y="34735"/>
                </a:cubicBezTo>
                <a:lnTo>
                  <a:pt x="138940" y="34735"/>
                </a:lnTo>
                <a:lnTo>
                  <a:pt x="138940" y="23157"/>
                </a:lnTo>
                <a:cubicBezTo>
                  <a:pt x="138940" y="18489"/>
                  <a:pt x="141762" y="14256"/>
                  <a:pt x="146104" y="12447"/>
                </a:cubicBezTo>
                <a:close/>
                <a:moveTo>
                  <a:pt x="55721" y="107100"/>
                </a:moveTo>
                <a:lnTo>
                  <a:pt x="70194" y="126385"/>
                </a:lnTo>
                <a:lnTo>
                  <a:pt x="62523" y="136625"/>
                </a:lnTo>
                <a:cubicBezTo>
                  <a:pt x="55974" y="145381"/>
                  <a:pt x="45662" y="150519"/>
                  <a:pt x="34735" y="150519"/>
                </a:cubicBezTo>
                <a:lnTo>
                  <a:pt x="11578" y="150519"/>
                </a:lnTo>
                <a:cubicBezTo>
                  <a:pt x="5174" y="150519"/>
                  <a:pt x="0" y="145344"/>
                  <a:pt x="0" y="138940"/>
                </a:cubicBezTo>
                <a:cubicBezTo>
                  <a:pt x="0" y="132536"/>
                  <a:pt x="5174" y="127362"/>
                  <a:pt x="11578" y="127362"/>
                </a:cubicBezTo>
                <a:lnTo>
                  <a:pt x="34735" y="127362"/>
                </a:lnTo>
                <a:cubicBezTo>
                  <a:pt x="38389" y="127362"/>
                  <a:pt x="41827" y="125661"/>
                  <a:pt x="43998" y="122730"/>
                </a:cubicBezTo>
                <a:lnTo>
                  <a:pt x="55721" y="107100"/>
                </a:lnTo>
                <a:close/>
                <a:moveTo>
                  <a:pt x="158696" y="170274"/>
                </a:moveTo>
                <a:cubicBezTo>
                  <a:pt x="155367" y="173603"/>
                  <a:pt x="150410" y="174580"/>
                  <a:pt x="146068" y="172771"/>
                </a:cubicBezTo>
                <a:cubicBezTo>
                  <a:pt x="141726" y="170962"/>
                  <a:pt x="138940" y="166764"/>
                  <a:pt x="138940" y="162097"/>
                </a:cubicBezTo>
                <a:lnTo>
                  <a:pt x="138940" y="150519"/>
                </a:lnTo>
                <a:lnTo>
                  <a:pt x="127362" y="150519"/>
                </a:lnTo>
                <a:cubicBezTo>
                  <a:pt x="116435" y="150519"/>
                  <a:pt x="106123" y="145381"/>
                  <a:pt x="99574" y="136625"/>
                </a:cubicBezTo>
                <a:lnTo>
                  <a:pt x="43998" y="62523"/>
                </a:lnTo>
                <a:cubicBezTo>
                  <a:pt x="41827" y="59592"/>
                  <a:pt x="38389" y="57892"/>
                  <a:pt x="34735" y="57892"/>
                </a:cubicBezTo>
                <a:lnTo>
                  <a:pt x="11578" y="57892"/>
                </a:lnTo>
                <a:cubicBezTo>
                  <a:pt x="5174" y="57892"/>
                  <a:pt x="0" y="52718"/>
                  <a:pt x="0" y="46313"/>
                </a:cubicBezTo>
                <a:cubicBezTo>
                  <a:pt x="0" y="39909"/>
                  <a:pt x="5174" y="34735"/>
                  <a:pt x="11578" y="34735"/>
                </a:cubicBezTo>
                <a:lnTo>
                  <a:pt x="34735" y="34735"/>
                </a:lnTo>
                <a:cubicBezTo>
                  <a:pt x="45662" y="34735"/>
                  <a:pt x="55974" y="39873"/>
                  <a:pt x="62523" y="48629"/>
                </a:cubicBezTo>
                <a:lnTo>
                  <a:pt x="118099" y="122730"/>
                </a:lnTo>
                <a:cubicBezTo>
                  <a:pt x="120270" y="125661"/>
                  <a:pt x="123707" y="127362"/>
                  <a:pt x="127362" y="127362"/>
                </a:cubicBezTo>
                <a:lnTo>
                  <a:pt x="138940" y="127362"/>
                </a:lnTo>
                <a:lnTo>
                  <a:pt x="138940" y="115783"/>
                </a:lnTo>
                <a:cubicBezTo>
                  <a:pt x="138940" y="111116"/>
                  <a:pt x="141762" y="106883"/>
                  <a:pt x="146104" y="105074"/>
                </a:cubicBezTo>
                <a:cubicBezTo>
                  <a:pt x="150446" y="103264"/>
                  <a:pt x="155403" y="104277"/>
                  <a:pt x="158732" y="107570"/>
                </a:cubicBezTo>
                <a:lnTo>
                  <a:pt x="181889" y="130727"/>
                </a:lnTo>
                <a:cubicBezTo>
                  <a:pt x="184060" y="132898"/>
                  <a:pt x="185290" y="135828"/>
                  <a:pt x="185290" y="138904"/>
                </a:cubicBezTo>
                <a:cubicBezTo>
                  <a:pt x="185290" y="141979"/>
                  <a:pt x="184060" y="144910"/>
                  <a:pt x="181889" y="147081"/>
                </a:cubicBezTo>
                <a:lnTo>
                  <a:pt x="158732" y="170238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790499" y="7884855"/>
            <a:ext cx="4376615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资源重分配：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AM向RM申请新的Container来执行失败的任务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89462" y="8255362"/>
            <a:ext cx="185254" cy="185254"/>
          </a:xfrm>
          <a:custGeom>
            <a:avLst/>
            <a:gdLst/>
            <a:ahLst/>
            <a:cxnLst/>
            <a:rect l="l" t="t" r="r" b="b"/>
            <a:pathLst>
              <a:path w="185254" h="185254">
                <a:moveTo>
                  <a:pt x="92627" y="0"/>
                </a:moveTo>
                <a:cubicBezTo>
                  <a:pt x="94291" y="0"/>
                  <a:pt x="95956" y="362"/>
                  <a:pt x="97475" y="1049"/>
                </a:cubicBezTo>
                <a:lnTo>
                  <a:pt x="165643" y="29959"/>
                </a:lnTo>
                <a:cubicBezTo>
                  <a:pt x="173603" y="33324"/>
                  <a:pt x="179537" y="41175"/>
                  <a:pt x="179501" y="50655"/>
                </a:cubicBezTo>
                <a:cubicBezTo>
                  <a:pt x="179320" y="86548"/>
                  <a:pt x="164557" y="152219"/>
                  <a:pt x="102215" y="182070"/>
                </a:cubicBezTo>
                <a:cubicBezTo>
                  <a:pt x="96173" y="184964"/>
                  <a:pt x="89153" y="184964"/>
                  <a:pt x="83111" y="182070"/>
                </a:cubicBezTo>
                <a:cubicBezTo>
                  <a:pt x="20732" y="152219"/>
                  <a:pt x="6006" y="86548"/>
                  <a:pt x="5825" y="50655"/>
                </a:cubicBezTo>
                <a:cubicBezTo>
                  <a:pt x="5789" y="41175"/>
                  <a:pt x="11723" y="33324"/>
                  <a:pt x="19683" y="29959"/>
                </a:cubicBezTo>
                <a:lnTo>
                  <a:pt x="87815" y="1049"/>
                </a:lnTo>
                <a:cubicBezTo>
                  <a:pt x="89334" y="362"/>
                  <a:pt x="90962" y="0"/>
                  <a:pt x="92627" y="0"/>
                </a:cubicBezTo>
                <a:close/>
                <a:moveTo>
                  <a:pt x="92627" y="24170"/>
                </a:moveTo>
                <a:lnTo>
                  <a:pt x="92627" y="160975"/>
                </a:lnTo>
                <a:cubicBezTo>
                  <a:pt x="142558" y="136805"/>
                  <a:pt x="155982" y="83256"/>
                  <a:pt x="156308" y="51198"/>
                </a:cubicBezTo>
                <a:lnTo>
                  <a:pt x="92627" y="24206"/>
                </a:lnTo>
                <a:lnTo>
                  <a:pt x="92627" y="24206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790499" y="8209048"/>
            <a:ext cx="3809276" cy="23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容错策略：</a:t>
            </a:r>
            <a:r>
              <a:rPr lang="en-US" sz="127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支持多种容错策略（重试、忽略、终止）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97729" y="802100"/>
            <a:ext cx="15660542" cy="71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62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7768" y="1802470"/>
            <a:ext cx="1524372" cy="47637"/>
          </a:xfrm>
          <a:custGeom>
            <a:avLst/>
            <a:gdLst/>
            <a:ahLst/>
            <a:cxnLst/>
            <a:rect l="l" t="t" r="r" b="b"/>
            <a:pathLst>
              <a:path w="1524372" h="47637">
                <a:moveTo>
                  <a:pt x="0" y="0"/>
                </a:moveTo>
                <a:lnTo>
                  <a:pt x="1524372" y="0"/>
                </a:lnTo>
                <a:lnTo>
                  <a:pt x="1524372" y="47637"/>
                </a:lnTo>
                <a:lnTo>
                  <a:pt x="0" y="47637"/>
                </a:lnTo>
                <a:lnTo>
                  <a:pt x="0" y="0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038420" y="2237154"/>
            <a:ext cx="12183068" cy="1857829"/>
          </a:xfrm>
          <a:custGeom>
            <a:avLst/>
            <a:gdLst/>
            <a:ahLst/>
            <a:cxnLst/>
            <a:rect l="l" t="t" r="r" b="b"/>
            <a:pathLst>
              <a:path w="12183068" h="1857829">
                <a:moveTo>
                  <a:pt x="95269" y="0"/>
                </a:moveTo>
                <a:lnTo>
                  <a:pt x="12087799" y="0"/>
                </a:lnTo>
                <a:cubicBezTo>
                  <a:pt x="12140415" y="0"/>
                  <a:pt x="12183068" y="42654"/>
                  <a:pt x="12183068" y="95269"/>
                </a:cubicBezTo>
                <a:lnTo>
                  <a:pt x="12183068" y="1762559"/>
                </a:lnTo>
                <a:cubicBezTo>
                  <a:pt x="12183068" y="1815175"/>
                  <a:pt x="12140415" y="1857829"/>
                  <a:pt x="12087799" y="1857829"/>
                </a:cubicBezTo>
                <a:lnTo>
                  <a:pt x="95269" y="1857829"/>
                </a:lnTo>
                <a:cubicBezTo>
                  <a:pt x="42654" y="1857829"/>
                  <a:pt x="0" y="1815175"/>
                  <a:pt x="0" y="1762559"/>
                </a:cubicBezTo>
                <a:lnTo>
                  <a:pt x="0" y="95269"/>
                </a:lnTo>
                <a:cubicBezTo>
                  <a:pt x="0" y="42689"/>
                  <a:pt x="42689" y="0"/>
                  <a:pt x="95269" y="0"/>
                </a:cubicBezTo>
                <a:close/>
              </a:path>
            </a:pathLst>
          </a:custGeom>
          <a:solidFill>
            <a:srgbClr val="3D4A5C">
              <a:alpha val="40000"/>
            </a:srgbClr>
          </a:solidFill>
          <a:ln w="12700">
            <a:solidFill>
              <a:srgbClr val="4A9D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2365922" y="2576565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142910" y="285820"/>
                </a:moveTo>
                <a:cubicBezTo>
                  <a:pt x="221784" y="285820"/>
                  <a:pt x="285820" y="221784"/>
                  <a:pt x="285820" y="142910"/>
                </a:cubicBezTo>
                <a:cubicBezTo>
                  <a:pt x="285820" y="64036"/>
                  <a:pt x="221784" y="0"/>
                  <a:pt x="142910" y="0"/>
                </a:cubicBezTo>
                <a:cubicBezTo>
                  <a:pt x="64036" y="0"/>
                  <a:pt x="0" y="64036"/>
                  <a:pt x="0" y="142910"/>
                </a:cubicBezTo>
                <a:cubicBezTo>
                  <a:pt x="0" y="221784"/>
                  <a:pt x="64036" y="285820"/>
                  <a:pt x="142910" y="285820"/>
                </a:cubicBezTo>
                <a:close/>
                <a:moveTo>
                  <a:pt x="190025" y="118738"/>
                </a:moveTo>
                <a:lnTo>
                  <a:pt x="145366" y="190193"/>
                </a:lnTo>
                <a:cubicBezTo>
                  <a:pt x="143022" y="193933"/>
                  <a:pt x="139002" y="196278"/>
                  <a:pt x="134592" y="196501"/>
                </a:cubicBezTo>
                <a:cubicBezTo>
                  <a:pt x="130182" y="196724"/>
                  <a:pt x="125939" y="194715"/>
                  <a:pt x="123316" y="191142"/>
                </a:cubicBezTo>
                <a:lnTo>
                  <a:pt x="96520" y="155415"/>
                </a:lnTo>
                <a:cubicBezTo>
                  <a:pt x="92054" y="149497"/>
                  <a:pt x="93282" y="141124"/>
                  <a:pt x="99200" y="136658"/>
                </a:cubicBezTo>
                <a:cubicBezTo>
                  <a:pt x="105117" y="132192"/>
                  <a:pt x="113491" y="133420"/>
                  <a:pt x="117956" y="139337"/>
                </a:cubicBezTo>
                <a:lnTo>
                  <a:pt x="133029" y="159434"/>
                </a:lnTo>
                <a:lnTo>
                  <a:pt x="167305" y="104559"/>
                </a:lnTo>
                <a:cubicBezTo>
                  <a:pt x="171213" y="98306"/>
                  <a:pt x="179475" y="96353"/>
                  <a:pt x="185783" y="100316"/>
                </a:cubicBezTo>
                <a:cubicBezTo>
                  <a:pt x="192091" y="104280"/>
                  <a:pt x="193989" y="112486"/>
                  <a:pt x="190025" y="11879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687469" y="2528928"/>
            <a:ext cx="11385155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核心成就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330194" y="3100568"/>
            <a:ext cx="11706702" cy="70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8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YARN通过</a:t>
            </a:r>
            <a:r>
              <a:rPr lang="en-US" sz="1688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资源管理与作业调度的分离</a:t>
            </a:r>
            <a:r>
              <a:rPr lang="en-US" sz="168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，构建了统一的多框架资源管理平台，从根本上解决了MapReduce v1的扩展性瓶颈和资源孤岛问题。从架构解耦、统一平台、动态分配三个核心创新出发，YARN支撑了现代大数据生态系统的繁荣发展。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38420" y="4386757"/>
            <a:ext cx="3930022" cy="2107921"/>
          </a:xfrm>
          <a:custGeom>
            <a:avLst/>
            <a:gdLst/>
            <a:ahLst/>
            <a:cxnLst/>
            <a:rect l="l" t="t" r="r" b="b"/>
            <a:pathLst>
              <a:path w="3930022" h="2107921">
                <a:moveTo>
                  <a:pt x="95278" y="0"/>
                </a:moveTo>
                <a:lnTo>
                  <a:pt x="3834744" y="0"/>
                </a:lnTo>
                <a:cubicBezTo>
                  <a:pt x="3887365" y="0"/>
                  <a:pt x="3930022" y="42657"/>
                  <a:pt x="3930022" y="95278"/>
                </a:cubicBezTo>
                <a:lnTo>
                  <a:pt x="3930022" y="2012643"/>
                </a:lnTo>
                <a:cubicBezTo>
                  <a:pt x="3930022" y="2065263"/>
                  <a:pt x="3887365" y="2107921"/>
                  <a:pt x="3834744" y="2107921"/>
                </a:cubicBezTo>
                <a:lnTo>
                  <a:pt x="95278" y="2107921"/>
                </a:lnTo>
                <a:cubicBezTo>
                  <a:pt x="42657" y="2107921"/>
                  <a:pt x="0" y="2065263"/>
                  <a:pt x="0" y="2012643"/>
                </a:cubicBezTo>
                <a:lnTo>
                  <a:pt x="0" y="95278"/>
                </a:lnTo>
                <a:cubicBezTo>
                  <a:pt x="0" y="42693"/>
                  <a:pt x="42693" y="0"/>
                  <a:pt x="9527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620291" y="4630895"/>
            <a:ext cx="762186" cy="762186"/>
          </a:xfrm>
          <a:custGeom>
            <a:avLst/>
            <a:gdLst/>
            <a:ahLst/>
            <a:cxnLst/>
            <a:rect l="l" t="t" r="r" b="b"/>
            <a:pathLst>
              <a:path w="762186" h="762186">
                <a:moveTo>
                  <a:pt x="381093" y="0"/>
                </a:moveTo>
                <a:lnTo>
                  <a:pt x="381093" y="0"/>
                </a:lnTo>
                <a:cubicBezTo>
                  <a:pt x="591424" y="0"/>
                  <a:pt x="762186" y="170762"/>
                  <a:pt x="762186" y="381093"/>
                </a:cubicBezTo>
                <a:lnTo>
                  <a:pt x="762186" y="381093"/>
                </a:lnTo>
                <a:cubicBezTo>
                  <a:pt x="762186" y="591424"/>
                  <a:pt x="591424" y="762186"/>
                  <a:pt x="381093" y="762186"/>
                </a:cubicBezTo>
                <a:lnTo>
                  <a:pt x="381093" y="762186"/>
                </a:lnTo>
                <a:cubicBezTo>
                  <a:pt x="170762" y="762186"/>
                  <a:pt x="0" y="591424"/>
                  <a:pt x="0" y="381093"/>
                </a:cubicBezTo>
                <a:lnTo>
                  <a:pt x="0" y="381093"/>
                </a:lnTo>
                <a:cubicBezTo>
                  <a:pt x="0" y="170762"/>
                  <a:pt x="170762" y="0"/>
                  <a:pt x="38109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848053" y="4833350"/>
            <a:ext cx="312615" cy="357275"/>
          </a:xfrm>
          <a:custGeom>
            <a:avLst/>
            <a:gdLst/>
            <a:ahLst/>
            <a:cxnLst/>
            <a:rect l="l" t="t" r="r" b="b"/>
            <a:pathLst>
              <a:path w="312615" h="357275">
                <a:moveTo>
                  <a:pt x="117231" y="22330"/>
                </a:moveTo>
                <a:lnTo>
                  <a:pt x="16747" y="22330"/>
                </a:lnTo>
                <a:cubicBezTo>
                  <a:pt x="7466" y="22330"/>
                  <a:pt x="0" y="29796"/>
                  <a:pt x="0" y="39077"/>
                </a:cubicBezTo>
                <a:lnTo>
                  <a:pt x="0" y="139560"/>
                </a:lnTo>
                <a:cubicBezTo>
                  <a:pt x="0" y="146329"/>
                  <a:pt x="4047" y="152470"/>
                  <a:pt x="10327" y="155052"/>
                </a:cubicBezTo>
                <a:cubicBezTo>
                  <a:pt x="16608" y="157634"/>
                  <a:pt x="23795" y="156168"/>
                  <a:pt x="28610" y="151423"/>
                </a:cubicBezTo>
                <a:lnTo>
                  <a:pt x="56522" y="123511"/>
                </a:lnTo>
                <a:lnTo>
                  <a:pt x="111648" y="178637"/>
                </a:lnTo>
                <a:lnTo>
                  <a:pt x="56522" y="233764"/>
                </a:lnTo>
                <a:lnTo>
                  <a:pt x="28610" y="205852"/>
                </a:lnTo>
                <a:cubicBezTo>
                  <a:pt x="23795" y="201037"/>
                  <a:pt x="16608" y="199641"/>
                  <a:pt x="10327" y="202223"/>
                </a:cubicBezTo>
                <a:cubicBezTo>
                  <a:pt x="4047" y="204805"/>
                  <a:pt x="0" y="210946"/>
                  <a:pt x="0" y="217714"/>
                </a:cubicBezTo>
                <a:lnTo>
                  <a:pt x="0" y="318198"/>
                </a:lnTo>
                <a:cubicBezTo>
                  <a:pt x="0" y="327479"/>
                  <a:pt x="7466" y="334945"/>
                  <a:pt x="16747" y="334945"/>
                </a:cubicBezTo>
                <a:lnTo>
                  <a:pt x="117231" y="334945"/>
                </a:lnTo>
                <a:cubicBezTo>
                  <a:pt x="123999" y="334945"/>
                  <a:pt x="130140" y="330898"/>
                  <a:pt x="132722" y="324618"/>
                </a:cubicBezTo>
                <a:cubicBezTo>
                  <a:pt x="135304" y="318337"/>
                  <a:pt x="133908" y="311150"/>
                  <a:pt x="129093" y="306335"/>
                </a:cubicBezTo>
                <a:lnTo>
                  <a:pt x="101181" y="278423"/>
                </a:lnTo>
                <a:lnTo>
                  <a:pt x="156308" y="223297"/>
                </a:lnTo>
                <a:lnTo>
                  <a:pt x="211434" y="278423"/>
                </a:lnTo>
                <a:lnTo>
                  <a:pt x="183522" y="306335"/>
                </a:lnTo>
                <a:cubicBezTo>
                  <a:pt x="178707" y="311150"/>
                  <a:pt x="177312" y="318337"/>
                  <a:pt x="179893" y="324618"/>
                </a:cubicBezTo>
                <a:cubicBezTo>
                  <a:pt x="182475" y="330898"/>
                  <a:pt x="188616" y="334945"/>
                  <a:pt x="195385" y="334945"/>
                </a:cubicBezTo>
                <a:lnTo>
                  <a:pt x="295868" y="334945"/>
                </a:lnTo>
                <a:cubicBezTo>
                  <a:pt x="305149" y="334945"/>
                  <a:pt x="312615" y="327479"/>
                  <a:pt x="312615" y="318198"/>
                </a:cubicBezTo>
                <a:lnTo>
                  <a:pt x="312615" y="217714"/>
                </a:lnTo>
                <a:cubicBezTo>
                  <a:pt x="312615" y="210946"/>
                  <a:pt x="308568" y="204805"/>
                  <a:pt x="302288" y="202223"/>
                </a:cubicBezTo>
                <a:cubicBezTo>
                  <a:pt x="296008" y="199641"/>
                  <a:pt x="288820" y="201037"/>
                  <a:pt x="284005" y="205852"/>
                </a:cubicBezTo>
                <a:lnTo>
                  <a:pt x="256093" y="233764"/>
                </a:lnTo>
                <a:lnTo>
                  <a:pt x="200967" y="178637"/>
                </a:lnTo>
                <a:lnTo>
                  <a:pt x="256093" y="123511"/>
                </a:lnTo>
                <a:lnTo>
                  <a:pt x="284005" y="151423"/>
                </a:lnTo>
                <a:cubicBezTo>
                  <a:pt x="288820" y="156238"/>
                  <a:pt x="296008" y="157634"/>
                  <a:pt x="302288" y="155052"/>
                </a:cubicBezTo>
                <a:cubicBezTo>
                  <a:pt x="308568" y="152470"/>
                  <a:pt x="312615" y="146329"/>
                  <a:pt x="312615" y="139560"/>
                </a:cubicBezTo>
                <a:lnTo>
                  <a:pt x="312615" y="39077"/>
                </a:lnTo>
                <a:cubicBezTo>
                  <a:pt x="312615" y="29796"/>
                  <a:pt x="305149" y="22330"/>
                  <a:pt x="295868" y="22330"/>
                </a:cubicBezTo>
                <a:lnTo>
                  <a:pt x="195385" y="22330"/>
                </a:lnTo>
                <a:cubicBezTo>
                  <a:pt x="188616" y="22330"/>
                  <a:pt x="182475" y="26377"/>
                  <a:pt x="179893" y="32657"/>
                </a:cubicBezTo>
                <a:cubicBezTo>
                  <a:pt x="177312" y="38937"/>
                  <a:pt x="178777" y="46125"/>
                  <a:pt x="183522" y="50940"/>
                </a:cubicBezTo>
                <a:lnTo>
                  <a:pt x="211434" y="78852"/>
                </a:lnTo>
                <a:lnTo>
                  <a:pt x="156308" y="133978"/>
                </a:lnTo>
                <a:lnTo>
                  <a:pt x="101181" y="78852"/>
                </a:lnTo>
                <a:lnTo>
                  <a:pt x="129093" y="50940"/>
                </a:lnTo>
                <a:cubicBezTo>
                  <a:pt x="133908" y="46125"/>
                  <a:pt x="135304" y="38937"/>
                  <a:pt x="132722" y="32657"/>
                </a:cubicBezTo>
                <a:cubicBezTo>
                  <a:pt x="130140" y="26377"/>
                  <a:pt x="123999" y="22330"/>
                  <a:pt x="117231" y="22330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2223012" y="5535990"/>
            <a:ext cx="356083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234921" y="5964720"/>
            <a:ext cx="3537020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从4000节点扩展到</a:t>
            </a: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10000+节点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66897" y="4386757"/>
            <a:ext cx="3930022" cy="2107921"/>
          </a:xfrm>
          <a:custGeom>
            <a:avLst/>
            <a:gdLst/>
            <a:ahLst/>
            <a:cxnLst/>
            <a:rect l="l" t="t" r="r" b="b"/>
            <a:pathLst>
              <a:path w="3930022" h="2107921">
                <a:moveTo>
                  <a:pt x="95278" y="0"/>
                </a:moveTo>
                <a:lnTo>
                  <a:pt x="3834744" y="0"/>
                </a:lnTo>
                <a:cubicBezTo>
                  <a:pt x="3887365" y="0"/>
                  <a:pt x="3930022" y="42657"/>
                  <a:pt x="3930022" y="95278"/>
                </a:cubicBezTo>
                <a:lnTo>
                  <a:pt x="3930022" y="2012643"/>
                </a:lnTo>
                <a:cubicBezTo>
                  <a:pt x="3930022" y="2065263"/>
                  <a:pt x="3887365" y="2107921"/>
                  <a:pt x="3834744" y="2107921"/>
                </a:cubicBezTo>
                <a:lnTo>
                  <a:pt x="95278" y="2107921"/>
                </a:lnTo>
                <a:cubicBezTo>
                  <a:pt x="42657" y="2107921"/>
                  <a:pt x="0" y="2065263"/>
                  <a:pt x="0" y="2012643"/>
                </a:cubicBezTo>
                <a:lnTo>
                  <a:pt x="0" y="95278"/>
                </a:lnTo>
                <a:cubicBezTo>
                  <a:pt x="0" y="42693"/>
                  <a:pt x="42693" y="0"/>
                  <a:pt x="9527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7748768" y="4630895"/>
            <a:ext cx="762186" cy="762186"/>
          </a:xfrm>
          <a:custGeom>
            <a:avLst/>
            <a:gdLst/>
            <a:ahLst/>
            <a:cxnLst/>
            <a:rect l="l" t="t" r="r" b="b"/>
            <a:pathLst>
              <a:path w="762186" h="762186">
                <a:moveTo>
                  <a:pt x="381093" y="0"/>
                </a:moveTo>
                <a:lnTo>
                  <a:pt x="381093" y="0"/>
                </a:lnTo>
                <a:cubicBezTo>
                  <a:pt x="591424" y="0"/>
                  <a:pt x="762186" y="170762"/>
                  <a:pt x="762186" y="381093"/>
                </a:cubicBezTo>
                <a:lnTo>
                  <a:pt x="762186" y="381093"/>
                </a:lnTo>
                <a:cubicBezTo>
                  <a:pt x="762186" y="591424"/>
                  <a:pt x="591424" y="762186"/>
                  <a:pt x="381093" y="762186"/>
                </a:cubicBezTo>
                <a:lnTo>
                  <a:pt x="381093" y="762186"/>
                </a:lnTo>
                <a:cubicBezTo>
                  <a:pt x="170762" y="762186"/>
                  <a:pt x="0" y="591424"/>
                  <a:pt x="0" y="381093"/>
                </a:cubicBezTo>
                <a:lnTo>
                  <a:pt x="0" y="381093"/>
                </a:lnTo>
                <a:cubicBezTo>
                  <a:pt x="0" y="170762"/>
                  <a:pt x="170762" y="0"/>
                  <a:pt x="38109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7954201" y="483335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44659" y="44659"/>
                </a:moveTo>
                <a:cubicBezTo>
                  <a:pt x="44659" y="32308"/>
                  <a:pt x="34681" y="22330"/>
                  <a:pt x="22330" y="22330"/>
                </a:cubicBezTo>
                <a:cubicBezTo>
                  <a:pt x="9979" y="22330"/>
                  <a:pt x="0" y="32308"/>
                  <a:pt x="0" y="44659"/>
                </a:cubicBezTo>
                <a:lnTo>
                  <a:pt x="0" y="279121"/>
                </a:lnTo>
                <a:cubicBezTo>
                  <a:pt x="0" y="309964"/>
                  <a:pt x="24981" y="334945"/>
                  <a:pt x="55824" y="334945"/>
                </a:cubicBezTo>
                <a:lnTo>
                  <a:pt x="334945" y="334945"/>
                </a:lnTo>
                <a:cubicBezTo>
                  <a:pt x="347296" y="334945"/>
                  <a:pt x="357275" y="324966"/>
                  <a:pt x="357275" y="312615"/>
                </a:cubicBezTo>
                <a:cubicBezTo>
                  <a:pt x="357275" y="300264"/>
                  <a:pt x="347296" y="290286"/>
                  <a:pt x="334945" y="290286"/>
                </a:cubicBezTo>
                <a:lnTo>
                  <a:pt x="55824" y="290286"/>
                </a:lnTo>
                <a:cubicBezTo>
                  <a:pt x="49684" y="290286"/>
                  <a:pt x="44659" y="285262"/>
                  <a:pt x="44659" y="279121"/>
                </a:cubicBezTo>
                <a:lnTo>
                  <a:pt x="44659" y="44659"/>
                </a:lnTo>
                <a:close/>
                <a:moveTo>
                  <a:pt x="328386" y="105089"/>
                </a:moveTo>
                <a:cubicBezTo>
                  <a:pt x="337108" y="96366"/>
                  <a:pt x="337108" y="82201"/>
                  <a:pt x="328386" y="73479"/>
                </a:cubicBezTo>
                <a:cubicBezTo>
                  <a:pt x="319663" y="64756"/>
                  <a:pt x="305498" y="64756"/>
                  <a:pt x="296775" y="73479"/>
                </a:cubicBezTo>
                <a:lnTo>
                  <a:pt x="223297" y="147027"/>
                </a:lnTo>
                <a:lnTo>
                  <a:pt x="183243" y="107043"/>
                </a:lnTo>
                <a:cubicBezTo>
                  <a:pt x="174520" y="98320"/>
                  <a:pt x="160355" y="98320"/>
                  <a:pt x="151632" y="107043"/>
                </a:cubicBezTo>
                <a:lnTo>
                  <a:pt x="84643" y="174032"/>
                </a:lnTo>
                <a:cubicBezTo>
                  <a:pt x="75921" y="182754"/>
                  <a:pt x="75921" y="196920"/>
                  <a:pt x="84643" y="205642"/>
                </a:cubicBezTo>
                <a:cubicBezTo>
                  <a:pt x="93366" y="214365"/>
                  <a:pt x="107531" y="214365"/>
                  <a:pt x="116254" y="205642"/>
                </a:cubicBezTo>
                <a:lnTo>
                  <a:pt x="167473" y="154424"/>
                </a:lnTo>
                <a:lnTo>
                  <a:pt x="207526" y="194477"/>
                </a:lnTo>
                <a:cubicBezTo>
                  <a:pt x="216249" y="203200"/>
                  <a:pt x="230414" y="203200"/>
                  <a:pt x="239137" y="194477"/>
                </a:cubicBezTo>
                <a:lnTo>
                  <a:pt x="328455" y="105159"/>
                </a:ln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351489" y="5535990"/>
            <a:ext cx="356083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资源利用率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63398" y="5964720"/>
            <a:ext cx="3537020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从21.4%提升到</a:t>
            </a: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75-85%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295374" y="4386757"/>
            <a:ext cx="3930022" cy="2107921"/>
          </a:xfrm>
          <a:custGeom>
            <a:avLst/>
            <a:gdLst/>
            <a:ahLst/>
            <a:cxnLst/>
            <a:rect l="l" t="t" r="r" b="b"/>
            <a:pathLst>
              <a:path w="3930022" h="2107921">
                <a:moveTo>
                  <a:pt x="95278" y="0"/>
                </a:moveTo>
                <a:lnTo>
                  <a:pt x="3834744" y="0"/>
                </a:lnTo>
                <a:cubicBezTo>
                  <a:pt x="3887365" y="0"/>
                  <a:pt x="3930022" y="42657"/>
                  <a:pt x="3930022" y="95278"/>
                </a:cubicBezTo>
                <a:lnTo>
                  <a:pt x="3930022" y="2012643"/>
                </a:lnTo>
                <a:cubicBezTo>
                  <a:pt x="3930022" y="2065263"/>
                  <a:pt x="3887365" y="2107921"/>
                  <a:pt x="3834744" y="2107921"/>
                </a:cubicBezTo>
                <a:lnTo>
                  <a:pt x="95278" y="2107921"/>
                </a:lnTo>
                <a:cubicBezTo>
                  <a:pt x="42657" y="2107921"/>
                  <a:pt x="0" y="2065263"/>
                  <a:pt x="0" y="2012643"/>
                </a:cubicBezTo>
                <a:lnTo>
                  <a:pt x="0" y="95278"/>
                </a:lnTo>
                <a:cubicBezTo>
                  <a:pt x="0" y="42693"/>
                  <a:pt x="42693" y="0"/>
                  <a:pt x="95278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127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11877245" y="4630895"/>
            <a:ext cx="762186" cy="762186"/>
          </a:xfrm>
          <a:custGeom>
            <a:avLst/>
            <a:gdLst/>
            <a:ahLst/>
            <a:cxnLst/>
            <a:rect l="l" t="t" r="r" b="b"/>
            <a:pathLst>
              <a:path w="762186" h="762186">
                <a:moveTo>
                  <a:pt x="381093" y="0"/>
                </a:moveTo>
                <a:lnTo>
                  <a:pt x="381093" y="0"/>
                </a:lnTo>
                <a:cubicBezTo>
                  <a:pt x="591424" y="0"/>
                  <a:pt x="762186" y="170762"/>
                  <a:pt x="762186" y="381093"/>
                </a:cubicBezTo>
                <a:lnTo>
                  <a:pt x="762186" y="381093"/>
                </a:lnTo>
                <a:cubicBezTo>
                  <a:pt x="762186" y="591424"/>
                  <a:pt x="591424" y="762186"/>
                  <a:pt x="381093" y="762186"/>
                </a:cubicBezTo>
                <a:lnTo>
                  <a:pt x="381093" y="762186"/>
                </a:lnTo>
                <a:cubicBezTo>
                  <a:pt x="170762" y="762186"/>
                  <a:pt x="0" y="591424"/>
                  <a:pt x="0" y="381093"/>
                </a:cubicBezTo>
                <a:lnTo>
                  <a:pt x="0" y="381093"/>
                </a:lnTo>
                <a:cubicBezTo>
                  <a:pt x="0" y="170762"/>
                  <a:pt x="170762" y="0"/>
                  <a:pt x="381093" y="0"/>
                </a:cubicBezTo>
                <a:close/>
              </a:path>
            </a:pathLst>
          </a:custGeom>
          <a:solidFill>
            <a:srgbClr val="4A9D9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12082678" y="483335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62239" y="3629"/>
                </a:moveTo>
                <a:cubicBezTo>
                  <a:pt x="172636" y="-1186"/>
                  <a:pt x="184638" y="-1186"/>
                  <a:pt x="195036" y="3629"/>
                </a:cubicBezTo>
                <a:lnTo>
                  <a:pt x="347575" y="74107"/>
                </a:lnTo>
                <a:cubicBezTo>
                  <a:pt x="353507" y="76828"/>
                  <a:pt x="357275" y="82759"/>
                  <a:pt x="357275" y="89319"/>
                </a:cubicBezTo>
                <a:cubicBezTo>
                  <a:pt x="357275" y="95878"/>
                  <a:pt x="353507" y="101809"/>
                  <a:pt x="347575" y="104531"/>
                </a:cubicBezTo>
                <a:lnTo>
                  <a:pt x="195036" y="175009"/>
                </a:lnTo>
                <a:cubicBezTo>
                  <a:pt x="184638" y="179824"/>
                  <a:pt x="172636" y="179824"/>
                  <a:pt x="162239" y="175009"/>
                </a:cubicBezTo>
                <a:lnTo>
                  <a:pt x="9699" y="104531"/>
                </a:lnTo>
                <a:cubicBezTo>
                  <a:pt x="3768" y="101740"/>
                  <a:pt x="0" y="95808"/>
                  <a:pt x="0" y="89319"/>
                </a:cubicBezTo>
                <a:cubicBezTo>
                  <a:pt x="0" y="82829"/>
                  <a:pt x="3768" y="76828"/>
                  <a:pt x="9699" y="74107"/>
                </a:cubicBezTo>
                <a:lnTo>
                  <a:pt x="162239" y="3629"/>
                </a:lnTo>
                <a:close/>
                <a:moveTo>
                  <a:pt x="33564" y="152400"/>
                </a:moveTo>
                <a:lnTo>
                  <a:pt x="148213" y="205363"/>
                </a:lnTo>
                <a:cubicBezTo>
                  <a:pt x="167542" y="214295"/>
                  <a:pt x="189802" y="214295"/>
                  <a:pt x="209131" y="205363"/>
                </a:cubicBezTo>
                <a:lnTo>
                  <a:pt x="323780" y="152400"/>
                </a:lnTo>
                <a:lnTo>
                  <a:pt x="347575" y="163425"/>
                </a:lnTo>
                <a:cubicBezTo>
                  <a:pt x="353507" y="166147"/>
                  <a:pt x="357275" y="172078"/>
                  <a:pt x="357275" y="178637"/>
                </a:cubicBezTo>
                <a:cubicBezTo>
                  <a:pt x="357275" y="185197"/>
                  <a:pt x="353507" y="191128"/>
                  <a:pt x="347575" y="193849"/>
                </a:cubicBezTo>
                <a:lnTo>
                  <a:pt x="195036" y="264327"/>
                </a:lnTo>
                <a:cubicBezTo>
                  <a:pt x="184638" y="269142"/>
                  <a:pt x="172636" y="269142"/>
                  <a:pt x="162239" y="264327"/>
                </a:cubicBezTo>
                <a:lnTo>
                  <a:pt x="9699" y="193849"/>
                </a:lnTo>
                <a:cubicBezTo>
                  <a:pt x="3768" y="191058"/>
                  <a:pt x="0" y="185127"/>
                  <a:pt x="0" y="178637"/>
                </a:cubicBezTo>
                <a:cubicBezTo>
                  <a:pt x="0" y="172148"/>
                  <a:pt x="3768" y="166147"/>
                  <a:pt x="9699" y="163425"/>
                </a:cubicBezTo>
                <a:lnTo>
                  <a:pt x="33495" y="152400"/>
                </a:lnTo>
                <a:close/>
                <a:moveTo>
                  <a:pt x="9699" y="252744"/>
                </a:moveTo>
                <a:lnTo>
                  <a:pt x="33495" y="241719"/>
                </a:lnTo>
                <a:lnTo>
                  <a:pt x="148143" y="294682"/>
                </a:lnTo>
                <a:cubicBezTo>
                  <a:pt x="167473" y="303614"/>
                  <a:pt x="189732" y="303614"/>
                  <a:pt x="209062" y="294682"/>
                </a:cubicBezTo>
                <a:lnTo>
                  <a:pt x="323710" y="241719"/>
                </a:lnTo>
                <a:lnTo>
                  <a:pt x="347505" y="252744"/>
                </a:lnTo>
                <a:cubicBezTo>
                  <a:pt x="353437" y="255465"/>
                  <a:pt x="357205" y="261397"/>
                  <a:pt x="357205" y="267956"/>
                </a:cubicBezTo>
                <a:cubicBezTo>
                  <a:pt x="357205" y="274515"/>
                  <a:pt x="353437" y="280447"/>
                  <a:pt x="347505" y="283168"/>
                </a:cubicBezTo>
                <a:lnTo>
                  <a:pt x="194966" y="353646"/>
                </a:lnTo>
                <a:cubicBezTo>
                  <a:pt x="184569" y="358461"/>
                  <a:pt x="172566" y="358461"/>
                  <a:pt x="162169" y="353646"/>
                </a:cubicBezTo>
                <a:lnTo>
                  <a:pt x="9699" y="283168"/>
                </a:lnTo>
                <a:cubicBezTo>
                  <a:pt x="3768" y="280377"/>
                  <a:pt x="0" y="274446"/>
                  <a:pt x="0" y="267956"/>
                </a:cubicBezTo>
                <a:cubicBezTo>
                  <a:pt x="0" y="261466"/>
                  <a:pt x="3768" y="255465"/>
                  <a:pt x="9699" y="252744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10479966" y="5535990"/>
            <a:ext cx="356083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75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多框架支持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491875" y="5964720"/>
            <a:ext cx="3537020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统一支持</a:t>
            </a: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MapReduce、Spark、Flink</a:t>
            </a:r>
            <a:r>
              <a:rPr lang="en-US" sz="15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044374" y="6798361"/>
            <a:ext cx="12171159" cy="1738737"/>
          </a:xfrm>
          <a:custGeom>
            <a:avLst/>
            <a:gdLst/>
            <a:ahLst/>
            <a:cxnLst/>
            <a:rect l="l" t="t" r="r" b="b"/>
            <a:pathLst>
              <a:path w="12171159" h="1738737">
                <a:moveTo>
                  <a:pt x="95265" y="0"/>
                </a:moveTo>
                <a:lnTo>
                  <a:pt x="12075894" y="0"/>
                </a:lnTo>
                <a:cubicBezTo>
                  <a:pt x="12128507" y="0"/>
                  <a:pt x="12171159" y="42652"/>
                  <a:pt x="12171159" y="95265"/>
                </a:cubicBezTo>
                <a:lnTo>
                  <a:pt x="12171159" y="1643472"/>
                </a:lnTo>
                <a:cubicBezTo>
                  <a:pt x="12171159" y="1696085"/>
                  <a:pt x="12128507" y="1738737"/>
                  <a:pt x="12075894" y="1738737"/>
                </a:cubicBezTo>
                <a:lnTo>
                  <a:pt x="95265" y="1738737"/>
                </a:lnTo>
                <a:cubicBezTo>
                  <a:pt x="42687" y="1738737"/>
                  <a:pt x="0" y="1696050"/>
                  <a:pt x="0" y="1643472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4A9D9C">
              <a:alpha val="20000"/>
            </a:srgbClr>
          </a:solidFill>
          <a:ln w="25400">
            <a:solidFill>
              <a:srgbClr val="4A9D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2377831" y="7143727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71455" y="178637"/>
                </a:moveTo>
                <a:lnTo>
                  <a:pt x="13677" y="178637"/>
                </a:lnTo>
                <a:cubicBezTo>
                  <a:pt x="-223" y="178637"/>
                  <a:pt x="-8764" y="163509"/>
                  <a:pt x="-1619" y="151563"/>
                </a:cubicBezTo>
                <a:lnTo>
                  <a:pt x="27912" y="102326"/>
                </a:lnTo>
                <a:cubicBezTo>
                  <a:pt x="32769" y="94231"/>
                  <a:pt x="41477" y="89319"/>
                  <a:pt x="50912" y="89319"/>
                </a:cubicBezTo>
                <a:lnTo>
                  <a:pt x="103945" y="89319"/>
                </a:lnTo>
                <a:cubicBezTo>
                  <a:pt x="146427" y="17361"/>
                  <a:pt x="209787" y="13733"/>
                  <a:pt x="252158" y="19929"/>
                </a:cubicBezTo>
                <a:cubicBezTo>
                  <a:pt x="259303" y="20990"/>
                  <a:pt x="264886" y="26572"/>
                  <a:pt x="265891" y="33662"/>
                </a:cubicBezTo>
                <a:cubicBezTo>
                  <a:pt x="272087" y="76033"/>
                  <a:pt x="268458" y="139393"/>
                  <a:pt x="196501" y="181875"/>
                </a:cubicBezTo>
                <a:lnTo>
                  <a:pt x="196501" y="234908"/>
                </a:lnTo>
                <a:cubicBezTo>
                  <a:pt x="196501" y="244342"/>
                  <a:pt x="191589" y="253051"/>
                  <a:pt x="183494" y="257908"/>
                </a:cubicBezTo>
                <a:lnTo>
                  <a:pt x="134257" y="287439"/>
                </a:lnTo>
                <a:cubicBezTo>
                  <a:pt x="122367" y="294584"/>
                  <a:pt x="107182" y="285987"/>
                  <a:pt x="107182" y="272143"/>
                </a:cubicBezTo>
                <a:lnTo>
                  <a:pt x="107182" y="214365"/>
                </a:lnTo>
                <a:cubicBezTo>
                  <a:pt x="107182" y="194659"/>
                  <a:pt x="91161" y="178637"/>
                  <a:pt x="71455" y="178637"/>
                </a:cubicBezTo>
                <a:lnTo>
                  <a:pt x="71399" y="178637"/>
                </a:lnTo>
                <a:close/>
                <a:moveTo>
                  <a:pt x="223297" y="89319"/>
                </a:moveTo>
                <a:cubicBezTo>
                  <a:pt x="223297" y="74530"/>
                  <a:pt x="211290" y="62523"/>
                  <a:pt x="196501" y="62523"/>
                </a:cubicBezTo>
                <a:cubicBezTo>
                  <a:pt x="181712" y="62523"/>
                  <a:pt x="169705" y="74530"/>
                  <a:pt x="169705" y="89319"/>
                </a:cubicBezTo>
                <a:cubicBezTo>
                  <a:pt x="169705" y="104108"/>
                  <a:pt x="181712" y="116114"/>
                  <a:pt x="196501" y="116114"/>
                </a:cubicBezTo>
                <a:cubicBezTo>
                  <a:pt x="211290" y="116114"/>
                  <a:pt x="223297" y="104108"/>
                  <a:pt x="223297" y="89319"/>
                </a:cubicBezTo>
                <a:close/>
              </a:path>
            </a:pathLst>
          </a:custGeom>
          <a:solidFill>
            <a:srgbClr val="4A9D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2699378" y="7096090"/>
            <a:ext cx="11361336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未来发展方向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342103" y="7667730"/>
            <a:ext cx="3822840" cy="57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云原生融合：</a:t>
            </a:r>
            <a:r>
              <a:rPr lang="en-US" sz="15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与Kubernetes等容器编排平台深度集成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64124" y="7667730"/>
            <a:ext cx="3822840" cy="57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AI负载优化：</a:t>
            </a:r>
            <a:r>
              <a:rPr lang="en-US" sz="15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针对机器学习和深度学习负载的资源调度优化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86237" y="7667730"/>
            <a:ext cx="3822840" cy="57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细粒度隔离：</a:t>
            </a:r>
            <a:r>
              <a:rPr lang="en-US" sz="15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更精细的资源隔离和QoS保障机制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04911" y="8930100"/>
            <a:ext cx="15446177" cy="381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51" b="1" dirty="0">
                <a:solidFill>
                  <a:srgbClr val="4A9D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感谢学习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22775" y="9406467"/>
            <a:ext cx="15410450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 分布式资源管理与调度 - 原理、架构与实现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2420</Words>
  <Application>Microsoft Macintosh PowerPoint</Application>
  <PresentationFormat>自定义</PresentationFormat>
  <Paragraphs>815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MiSans</vt:lpstr>
      <vt:lpstr>微软雅黑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YARN 分布式资源管理与调度</dc:title>
  <dc:subject>YARN 分布式资源管理与调度</dc:subject>
  <dc:creator>Kimi</dc:creator>
  <cp:lastModifiedBy>王 天青</cp:lastModifiedBy>
  <cp:revision>2</cp:revision>
  <dcterms:created xsi:type="dcterms:W3CDTF">2025-12-20T03:34:07Z</dcterms:created>
  <dcterms:modified xsi:type="dcterms:W3CDTF">2025-12-20T05:01:58Z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{"Label":"YARN 分布式资源管理与调度","ContentProducer":"001191110108MACG2KBH8F10000","ProduceID":"19b39c90-5f52-89e0-8000-00007c22c173","ReservedCode1":"","ContentPropagator":"001191110108MACG2KBH8F20000","PropagateID":"19b39c90-5f52-89e0-8000-00007c22c173","ReservedCode2":""}</vt:lpwstr>
  </property>
</Properties>
</file>