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303"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97" r:id="rId29"/>
    <p:sldId id="298" r:id="rId30"/>
    <p:sldId id="299" r:id="rId31"/>
    <p:sldId id="300" r:id="rId32"/>
    <p:sldId id="301" r:id="rId33"/>
    <p:sldId id="302" r:id="rId34"/>
  </p:sldIdLst>
  <p:sldSz cx="16256000" cy="9144000"/>
  <p:notesSz cx="9144000" cy="16256000"/>
  <p:embeddedFontLst>
    <p:embeddedFont>
      <p:font typeface="MiSans" pitchFamily="2" charset="-122"/>
      <p:regular r:id="rId36"/>
    </p:embeddedFont>
    <p:embeddedFont>
      <p:font typeface="微软雅黑" panose="020B0503020204020204" pitchFamily="34" charset="-122"/>
      <p:regular r:id="rId37"/>
      <p:bold r:id="rId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90" d="100"/>
          <a:sy n="90" d="100"/>
        </p:scale>
        <p:origin x="4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009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docs.confluent.io/8d89f0f9d266b6699878877266bbc18b20c35e8e.png"/>
          <p:cNvPicPr>
            <a:picLocks noChangeAspect="1"/>
          </p:cNvPicPr>
          <p:nvPr/>
        </p:nvPicPr>
        <p:blipFill>
          <a:blip r:embed="rId3">
            <a:alphaModFix amt="30000"/>
          </a:blip>
          <a:srcRect t="10051" b="10051"/>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alpha val="95000"/>
                </a:srgbClr>
              </a:gs>
              <a:gs pos="50000">
                <a:srgbClr val="1A1D21">
                  <a:alpha val="85000"/>
                </a:srgbClr>
              </a:gs>
              <a:gs pos="100000">
                <a:srgbClr val="000000">
                  <a:alpha val="0"/>
                </a:srgbClr>
              </a:gs>
            </a:gsLst>
            <a:lin ang="2700000" scaled="1"/>
          </a:gradFill>
          <a:ln/>
        </p:spPr>
        <p:txBody>
          <a:bodyPr/>
          <a:lstStyle/>
          <a:p>
            <a:endParaRPr lang="zh-CN" altLang="en-US"/>
          </a:p>
        </p:txBody>
      </p:sp>
      <p:sp>
        <p:nvSpPr>
          <p:cNvPr id="4" name="Shape 1"/>
          <p:cNvSpPr/>
          <p:nvPr/>
        </p:nvSpPr>
        <p:spPr>
          <a:xfrm>
            <a:off x="520700" y="1555750"/>
            <a:ext cx="2768600" cy="533400"/>
          </a:xfrm>
          <a:custGeom>
            <a:avLst/>
            <a:gdLst/>
            <a:ahLst/>
            <a:cxnLst/>
            <a:rect l="l" t="t" r="r" b="b"/>
            <a:pathLst>
              <a:path w="2768600" h="533400">
                <a:moveTo>
                  <a:pt x="0" y="0"/>
                </a:moveTo>
                <a:lnTo>
                  <a:pt x="2768600" y="0"/>
                </a:lnTo>
                <a:lnTo>
                  <a:pt x="2768600" y="533400"/>
                </a:lnTo>
                <a:lnTo>
                  <a:pt x="0" y="533400"/>
                </a:lnTo>
                <a:lnTo>
                  <a:pt x="0" y="0"/>
                </a:lnTo>
                <a:close/>
              </a:path>
            </a:pathLst>
          </a:custGeom>
          <a:solidFill>
            <a:srgbClr val="000000">
              <a:alpha val="0"/>
            </a:srgbClr>
          </a:solidFill>
          <a:ln w="25400">
            <a:solidFill>
              <a:srgbClr val="D69E2E"/>
            </a:solidFill>
            <a:prstDash val="solid"/>
          </a:ln>
        </p:spPr>
        <p:txBody>
          <a:bodyPr/>
          <a:lstStyle/>
          <a:p>
            <a:endParaRPr lang="zh-CN" altLang="en-US"/>
          </a:p>
        </p:txBody>
      </p:sp>
      <p:sp>
        <p:nvSpPr>
          <p:cNvPr id="5" name="Text 2"/>
          <p:cNvSpPr/>
          <p:nvPr/>
        </p:nvSpPr>
        <p:spPr>
          <a:xfrm>
            <a:off x="787400" y="1689100"/>
            <a:ext cx="2335808" cy="266700"/>
          </a:xfrm>
          <a:prstGeom prst="rect">
            <a:avLst/>
          </a:prstGeom>
          <a:noFill/>
          <a:ln/>
        </p:spPr>
        <p:txBody>
          <a:bodyPr wrap="square" lIns="0" tIns="0" rIns="0" bIns="0" rtlCol="0" anchor="ctr"/>
          <a:lstStyle/>
          <a:p>
            <a:pPr>
              <a:lnSpc>
                <a:spcPct val="130000"/>
              </a:lnSpc>
            </a:pPr>
            <a:r>
              <a:rPr lang="en-US" sz="1600" b="1" kern="0" spc="480" dirty="0">
                <a:solidFill>
                  <a:srgbClr val="D69E2E"/>
                </a:solidFill>
                <a:latin typeface="MiSans" pitchFamily="34" charset="0"/>
                <a:ea typeface="MiSans" pitchFamily="34" charset="-122"/>
                <a:cs typeface="MiSans" pitchFamily="34" charset="-120"/>
              </a:rPr>
              <a:t>APACHE KAFKA</a:t>
            </a:r>
            <a:endParaRPr lang="en-US" sz="1600" dirty="0"/>
          </a:p>
        </p:txBody>
      </p:sp>
      <p:sp>
        <p:nvSpPr>
          <p:cNvPr id="6" name="Text 3"/>
          <p:cNvSpPr/>
          <p:nvPr/>
        </p:nvSpPr>
        <p:spPr>
          <a:xfrm>
            <a:off x="508000" y="2508250"/>
            <a:ext cx="16002000" cy="3048000"/>
          </a:xfrm>
          <a:prstGeom prst="rect">
            <a:avLst/>
          </a:prstGeom>
          <a:noFill/>
          <a:ln/>
        </p:spPr>
        <p:txBody>
          <a:bodyPr wrap="square" lIns="0" tIns="0" rIns="0" bIns="0" rtlCol="0" anchor="ctr"/>
          <a:lstStyle/>
          <a:p>
            <a:pPr>
              <a:lnSpc>
                <a:spcPct val="80000"/>
              </a:lnSpc>
            </a:pPr>
            <a:r>
              <a:rPr lang="en-US" sz="12000" b="1" dirty="0">
                <a:solidFill>
                  <a:srgbClr val="E2E8F0"/>
                </a:solidFill>
                <a:latin typeface="MiSans" pitchFamily="34" charset="0"/>
                <a:ea typeface="MiSans" pitchFamily="34" charset="-122"/>
                <a:cs typeface="MiSans" pitchFamily="34" charset="-120"/>
              </a:rPr>
              <a:t>Kafka</a:t>
            </a:r>
            <a:endParaRPr lang="en-US" sz="1600" dirty="0"/>
          </a:p>
          <a:p>
            <a:pPr>
              <a:lnSpc>
                <a:spcPct val="80000"/>
              </a:lnSpc>
            </a:pPr>
            <a:r>
              <a:rPr lang="en-US" sz="12000" b="1" dirty="0">
                <a:solidFill>
                  <a:srgbClr val="E2E8F0"/>
                </a:solidFill>
                <a:latin typeface="MiSans" pitchFamily="34" charset="0"/>
                <a:ea typeface="MiSans" pitchFamily="34" charset="-122"/>
                <a:cs typeface="MiSans" pitchFamily="34" charset="-120"/>
              </a:rPr>
              <a:t>设计与实现</a:t>
            </a:r>
            <a:endParaRPr lang="en-US" sz="1600" dirty="0"/>
          </a:p>
        </p:txBody>
      </p:sp>
      <p:sp>
        <p:nvSpPr>
          <p:cNvPr id="7" name="Text 4"/>
          <p:cNvSpPr/>
          <p:nvPr/>
        </p:nvSpPr>
        <p:spPr>
          <a:xfrm>
            <a:off x="508000" y="5962650"/>
            <a:ext cx="75692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MiSans" pitchFamily="34" charset="0"/>
                <a:ea typeface="MiSans" pitchFamily="34" charset="-122"/>
                <a:cs typeface="MiSans" pitchFamily="34" charset="-120"/>
              </a:rPr>
              <a:t>Grissom</a:t>
            </a:r>
            <a:endParaRPr lang="en-US" sz="1600" dirty="0"/>
          </a:p>
        </p:txBody>
      </p:sp>
      <p:sp>
        <p:nvSpPr>
          <p:cNvPr id="8" name="Text 5"/>
          <p:cNvSpPr/>
          <p:nvPr/>
        </p:nvSpPr>
        <p:spPr>
          <a:xfrm>
            <a:off x="508000" y="6521450"/>
            <a:ext cx="7531100" cy="749300"/>
          </a:xfrm>
          <a:prstGeom prst="rect">
            <a:avLst/>
          </a:prstGeom>
          <a:noFill/>
          <a:ln/>
        </p:spPr>
        <p:txBody>
          <a:bodyPr wrap="square" lIns="0" tIns="0" rIns="0" bIns="0" rtlCol="0" anchor="ctr"/>
          <a:lstStyle/>
          <a:p>
            <a:pPr>
              <a:lnSpc>
                <a:spcPct val="140000"/>
              </a:lnSpc>
            </a:pPr>
            <a:r>
              <a:rPr lang="en-US" sz="1800" dirty="0">
                <a:solidFill>
                  <a:srgbClr val="718096"/>
                </a:solidFill>
                <a:latin typeface="MiSans" pitchFamily="34" charset="0"/>
                <a:ea typeface="MiSans" pitchFamily="34" charset="-122"/>
                <a:cs typeface="MiSans" pitchFamily="34" charset="-120"/>
              </a:rPr>
              <a:t>从核心概念到生态集成</a:t>
            </a:r>
            <a:endParaRPr lang="en-US" sz="1600" dirty="0"/>
          </a:p>
          <a:p>
            <a:pPr>
              <a:lnSpc>
                <a:spcPct val="140000"/>
              </a:lnSpc>
            </a:pPr>
            <a:r>
              <a:rPr lang="en-US" sz="1800" dirty="0">
                <a:solidFill>
                  <a:srgbClr val="718096"/>
                </a:solidFill>
                <a:latin typeface="MiSans" pitchFamily="34" charset="0"/>
                <a:ea typeface="MiSans" pitchFamily="34" charset="-122"/>
                <a:cs typeface="MiSans" pitchFamily="34" charset="-120"/>
              </a:rPr>
              <a:t>深入剖析分布式消息系统</a:t>
            </a:r>
            <a:endParaRPr lang="en-US" sz="1600" dirty="0"/>
          </a:p>
        </p:txBody>
      </p:sp>
      <p:sp>
        <p:nvSpPr>
          <p:cNvPr id="9" name="Shape 6"/>
          <p:cNvSpPr/>
          <p:nvPr/>
        </p:nvSpPr>
        <p:spPr>
          <a:xfrm>
            <a:off x="8356600" y="5962650"/>
            <a:ext cx="50800" cy="762000"/>
          </a:xfrm>
          <a:custGeom>
            <a:avLst/>
            <a:gdLst/>
            <a:ahLst/>
            <a:cxnLst/>
            <a:rect l="l" t="t" r="r" b="b"/>
            <a:pathLst>
              <a:path w="50800" h="762000">
                <a:moveTo>
                  <a:pt x="0" y="0"/>
                </a:moveTo>
                <a:lnTo>
                  <a:pt x="50800" y="0"/>
                </a:lnTo>
                <a:lnTo>
                  <a:pt x="50800" y="762000"/>
                </a:lnTo>
                <a:lnTo>
                  <a:pt x="0" y="762000"/>
                </a:lnTo>
                <a:lnTo>
                  <a:pt x="0" y="0"/>
                </a:lnTo>
                <a:close/>
              </a:path>
            </a:pathLst>
          </a:custGeom>
          <a:solidFill>
            <a:srgbClr val="D69E2E"/>
          </a:solidFill>
          <a:ln/>
        </p:spPr>
        <p:txBody>
          <a:bodyPr/>
          <a:lstStyle/>
          <a:p>
            <a:endParaRPr lang="zh-CN" altLang="en-US"/>
          </a:p>
        </p:txBody>
      </p:sp>
      <p:sp>
        <p:nvSpPr>
          <p:cNvPr id="10" name="Text 7"/>
          <p:cNvSpPr/>
          <p:nvPr/>
        </p:nvSpPr>
        <p:spPr>
          <a:xfrm>
            <a:off x="8686800" y="5962650"/>
            <a:ext cx="16256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版本</a:t>
            </a:r>
            <a:endParaRPr lang="en-US" sz="1600" dirty="0"/>
          </a:p>
        </p:txBody>
      </p:sp>
      <p:sp>
        <p:nvSpPr>
          <p:cNvPr id="11" name="Text 8"/>
          <p:cNvSpPr/>
          <p:nvPr/>
        </p:nvSpPr>
        <p:spPr>
          <a:xfrm>
            <a:off x="8686800" y="6318250"/>
            <a:ext cx="16891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MiSans" pitchFamily="34" charset="0"/>
                <a:ea typeface="MiSans" pitchFamily="34" charset="-122"/>
                <a:cs typeface="MiSans" pitchFamily="34" charset="-120"/>
              </a:rPr>
              <a:t>Kafka 3.6.x</a:t>
            </a:r>
            <a:endParaRPr lang="en-US" sz="1600" dirty="0"/>
          </a:p>
        </p:txBody>
      </p:sp>
      <p:sp>
        <p:nvSpPr>
          <p:cNvPr id="12" name="Shape 9"/>
          <p:cNvSpPr/>
          <p:nvPr/>
        </p:nvSpPr>
        <p:spPr>
          <a:xfrm>
            <a:off x="10547449" y="5962650"/>
            <a:ext cx="50800" cy="762000"/>
          </a:xfrm>
          <a:custGeom>
            <a:avLst/>
            <a:gdLst/>
            <a:ahLst/>
            <a:cxnLst/>
            <a:rect l="l" t="t" r="r" b="b"/>
            <a:pathLst>
              <a:path w="50800" h="762000">
                <a:moveTo>
                  <a:pt x="0" y="0"/>
                </a:moveTo>
                <a:lnTo>
                  <a:pt x="50800" y="0"/>
                </a:lnTo>
                <a:lnTo>
                  <a:pt x="50800" y="762000"/>
                </a:lnTo>
                <a:lnTo>
                  <a:pt x="0" y="762000"/>
                </a:lnTo>
                <a:lnTo>
                  <a:pt x="0" y="0"/>
                </a:lnTo>
                <a:close/>
              </a:path>
            </a:pathLst>
          </a:custGeom>
          <a:solidFill>
            <a:srgbClr val="D69E2E"/>
          </a:solidFill>
          <a:ln/>
        </p:spPr>
        <p:txBody>
          <a:bodyPr/>
          <a:lstStyle/>
          <a:p>
            <a:endParaRPr lang="zh-CN" altLang="en-US"/>
          </a:p>
        </p:txBody>
      </p:sp>
      <p:sp>
        <p:nvSpPr>
          <p:cNvPr id="13" name="Text 10"/>
          <p:cNvSpPr/>
          <p:nvPr/>
        </p:nvSpPr>
        <p:spPr>
          <a:xfrm>
            <a:off x="10877649" y="5962650"/>
            <a:ext cx="6985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级别</a:t>
            </a:r>
            <a:endParaRPr lang="en-US" sz="1600" dirty="0"/>
          </a:p>
        </p:txBody>
      </p:sp>
      <p:sp>
        <p:nvSpPr>
          <p:cNvPr id="14" name="Text 11"/>
          <p:cNvSpPr/>
          <p:nvPr/>
        </p:nvSpPr>
        <p:spPr>
          <a:xfrm>
            <a:off x="10877649" y="6318250"/>
            <a:ext cx="762000" cy="406400"/>
          </a:xfrm>
          <a:prstGeom prst="rect">
            <a:avLst/>
          </a:prstGeom>
          <a:noFill/>
          <a:ln/>
        </p:spPr>
        <p:txBody>
          <a:bodyPr wrap="square" lIns="0" tIns="0" rIns="0" bIns="0" rtlCol="0" anchor="ctr"/>
          <a:lstStyle/>
          <a:p>
            <a:pPr>
              <a:lnSpc>
                <a:spcPct val="110000"/>
              </a:lnSpc>
            </a:pPr>
            <a:r>
              <a:rPr lang="en-US" sz="2400" b="1" dirty="0">
                <a:solidFill>
                  <a:srgbClr val="E2E8F0"/>
                </a:solidFill>
                <a:latin typeface="MiSans" pitchFamily="34" charset="0"/>
                <a:ea typeface="MiSans" pitchFamily="34" charset="-122"/>
                <a:cs typeface="MiSans" pitchFamily="34" charset="-120"/>
              </a:rPr>
              <a:t>进阶</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CONTENTS</a:t>
            </a:r>
            <a:endParaRPr lang="en-US" sz="1600" dirty="0"/>
          </a:p>
        </p:txBody>
      </p:sp>
      <p:sp>
        <p:nvSpPr>
          <p:cNvPr id="3" name="Text 1"/>
          <p:cNvSpPr/>
          <p:nvPr/>
        </p:nvSpPr>
        <p:spPr>
          <a:xfrm>
            <a:off x="508000" y="914400"/>
            <a:ext cx="15544800" cy="609600"/>
          </a:xfrm>
          <a:prstGeom prst="rect">
            <a:avLst/>
          </a:prstGeom>
          <a:noFill/>
          <a:ln/>
        </p:spPr>
        <p:txBody>
          <a:bodyPr wrap="square" lIns="0" tIns="0" rIns="0" bIns="0" rtlCol="0" anchor="ctr"/>
          <a:lstStyle/>
          <a:p>
            <a:pPr>
              <a:lnSpc>
                <a:spcPct val="80000"/>
              </a:lnSpc>
            </a:pPr>
            <a:r>
              <a:rPr lang="en-US" sz="4800" b="1" dirty="0">
                <a:solidFill>
                  <a:srgbClr val="E2E8F0"/>
                </a:solidFill>
                <a:latin typeface="MiSans" pitchFamily="34" charset="0"/>
                <a:ea typeface="MiSans" pitchFamily="34" charset="-122"/>
                <a:cs typeface="MiSans" pitchFamily="34" charset="-120"/>
              </a:rPr>
              <a:t>目录</a:t>
            </a:r>
            <a:endParaRPr lang="en-US" sz="1600" dirty="0"/>
          </a:p>
        </p:txBody>
      </p:sp>
      <p:sp>
        <p:nvSpPr>
          <p:cNvPr id="4" name="Shape 2"/>
          <p:cNvSpPr/>
          <p:nvPr/>
        </p:nvSpPr>
        <p:spPr>
          <a:xfrm>
            <a:off x="533400" y="2844800"/>
            <a:ext cx="7442200" cy="1422400"/>
          </a:xfrm>
          <a:custGeom>
            <a:avLst/>
            <a:gdLst/>
            <a:ahLst/>
            <a:cxnLst/>
            <a:rect l="l" t="t" r="r" b="b"/>
            <a:pathLst>
              <a:path w="7442200" h="1422400">
                <a:moveTo>
                  <a:pt x="50800" y="0"/>
                </a:moveTo>
                <a:lnTo>
                  <a:pt x="7340598" y="0"/>
                </a:lnTo>
                <a:cubicBezTo>
                  <a:pt x="7396711" y="0"/>
                  <a:pt x="7442200" y="45489"/>
                  <a:pt x="7442200" y="101602"/>
                </a:cubicBezTo>
                <a:lnTo>
                  <a:pt x="7442200" y="1320798"/>
                </a:lnTo>
                <a:cubicBezTo>
                  <a:pt x="7442200" y="1376911"/>
                  <a:pt x="7396711" y="1422400"/>
                  <a:pt x="7340598" y="1422400"/>
                </a:cubicBezTo>
                <a:lnTo>
                  <a:pt x="50800" y="1422400"/>
                </a:lnTo>
                <a:cubicBezTo>
                  <a:pt x="22744" y="1422400"/>
                  <a:pt x="0" y="1399656"/>
                  <a:pt x="0" y="13716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33400" y="2844800"/>
            <a:ext cx="50800" cy="1422400"/>
          </a:xfrm>
          <a:custGeom>
            <a:avLst/>
            <a:gdLst/>
            <a:ahLst/>
            <a:cxnLst/>
            <a:rect l="l" t="t" r="r" b="b"/>
            <a:pathLst>
              <a:path w="50800" h="1422400">
                <a:moveTo>
                  <a:pt x="50800" y="0"/>
                </a:moveTo>
                <a:lnTo>
                  <a:pt x="50800" y="0"/>
                </a:lnTo>
                <a:lnTo>
                  <a:pt x="50800" y="1422400"/>
                </a:lnTo>
                <a:lnTo>
                  <a:pt x="50800" y="1422400"/>
                </a:lnTo>
                <a:cubicBezTo>
                  <a:pt x="22763" y="1422400"/>
                  <a:pt x="0" y="1399637"/>
                  <a:pt x="0" y="13716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6" name="Shape 4"/>
          <p:cNvSpPr/>
          <p:nvPr/>
        </p:nvSpPr>
        <p:spPr>
          <a:xfrm>
            <a:off x="863600" y="31496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7" name="Text 5"/>
          <p:cNvSpPr/>
          <p:nvPr/>
        </p:nvSpPr>
        <p:spPr>
          <a:xfrm>
            <a:off x="1075630" y="3327400"/>
            <a:ext cx="584200" cy="457200"/>
          </a:xfrm>
          <a:prstGeom prst="rect">
            <a:avLst/>
          </a:prstGeom>
          <a:noFill/>
          <a:ln/>
        </p:spPr>
        <p:txBody>
          <a:bodyPr wrap="square" lIns="0" tIns="0" rIns="0" bIns="0" rtlCol="0" anchor="ctr"/>
          <a:lstStyle/>
          <a:p>
            <a:pPr>
              <a:lnSpc>
                <a:spcPct val="100000"/>
              </a:lnSpc>
            </a:pPr>
            <a:r>
              <a:rPr lang="en-US" sz="3000" b="1" dirty="0">
                <a:solidFill>
                  <a:srgbClr val="1A1D21"/>
                </a:solidFill>
                <a:latin typeface="MiSans" pitchFamily="34" charset="0"/>
                <a:ea typeface="MiSans" pitchFamily="34" charset="-122"/>
                <a:cs typeface="MiSans" pitchFamily="34" charset="-120"/>
              </a:rPr>
              <a:t>01</a:t>
            </a:r>
            <a:endParaRPr lang="en-US" sz="1600" dirty="0"/>
          </a:p>
        </p:txBody>
      </p:sp>
      <p:sp>
        <p:nvSpPr>
          <p:cNvPr id="8" name="Text 6"/>
          <p:cNvSpPr/>
          <p:nvPr/>
        </p:nvSpPr>
        <p:spPr>
          <a:xfrm>
            <a:off x="1879600" y="3162300"/>
            <a:ext cx="59182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Kafka 概览与核心概念</a:t>
            </a:r>
            <a:endParaRPr lang="en-US" sz="1600" dirty="0"/>
          </a:p>
        </p:txBody>
      </p:sp>
      <p:sp>
        <p:nvSpPr>
          <p:cNvPr id="9" name="Text 7"/>
          <p:cNvSpPr/>
          <p:nvPr/>
        </p:nvSpPr>
        <p:spPr>
          <a:xfrm>
            <a:off x="1879600" y="3619500"/>
            <a:ext cx="5892800" cy="330200"/>
          </a:xfrm>
          <a:prstGeom prst="rect">
            <a:avLst/>
          </a:prstGeom>
          <a:noFill/>
          <a:ln/>
        </p:spPr>
        <p:txBody>
          <a:bodyPr wrap="square" lIns="0" tIns="0" rIns="0" bIns="0" rtlCol="0" anchor="ctr"/>
          <a:lstStyle/>
          <a:p>
            <a:pPr>
              <a:lnSpc>
                <a:spcPct val="140000"/>
              </a:lnSpc>
            </a:pPr>
            <a:r>
              <a:rPr lang="en-US" sz="1600" dirty="0">
                <a:solidFill>
                  <a:srgbClr val="718096"/>
                </a:solidFill>
                <a:latin typeface="MiSans" pitchFamily="34" charset="0"/>
                <a:ea typeface="MiSans" pitchFamily="34" charset="-122"/>
                <a:cs typeface="MiSans" pitchFamily="34" charset="-120"/>
              </a:rPr>
              <a:t>技术背景 · 发展历程 · 核心概念 · 消息传递语义</a:t>
            </a:r>
            <a:endParaRPr lang="en-US" sz="1600" dirty="0"/>
          </a:p>
        </p:txBody>
      </p:sp>
      <p:sp>
        <p:nvSpPr>
          <p:cNvPr id="10" name="Shape 8"/>
          <p:cNvSpPr/>
          <p:nvPr/>
        </p:nvSpPr>
        <p:spPr>
          <a:xfrm>
            <a:off x="8305800" y="2844800"/>
            <a:ext cx="7442200" cy="1422400"/>
          </a:xfrm>
          <a:custGeom>
            <a:avLst/>
            <a:gdLst/>
            <a:ahLst/>
            <a:cxnLst/>
            <a:rect l="l" t="t" r="r" b="b"/>
            <a:pathLst>
              <a:path w="7442200" h="1422400">
                <a:moveTo>
                  <a:pt x="50800" y="0"/>
                </a:moveTo>
                <a:lnTo>
                  <a:pt x="7340598" y="0"/>
                </a:lnTo>
                <a:cubicBezTo>
                  <a:pt x="7396711" y="0"/>
                  <a:pt x="7442200" y="45489"/>
                  <a:pt x="7442200" y="101602"/>
                </a:cubicBezTo>
                <a:lnTo>
                  <a:pt x="7442200" y="1320798"/>
                </a:lnTo>
                <a:cubicBezTo>
                  <a:pt x="7442200" y="1376911"/>
                  <a:pt x="7396711" y="1422400"/>
                  <a:pt x="7340598" y="1422400"/>
                </a:cubicBezTo>
                <a:lnTo>
                  <a:pt x="50800" y="1422400"/>
                </a:lnTo>
                <a:cubicBezTo>
                  <a:pt x="22744" y="1422400"/>
                  <a:pt x="0" y="1399656"/>
                  <a:pt x="0" y="13716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11" name="Shape 9"/>
          <p:cNvSpPr/>
          <p:nvPr/>
        </p:nvSpPr>
        <p:spPr>
          <a:xfrm>
            <a:off x="8305800" y="2844800"/>
            <a:ext cx="50800" cy="1422400"/>
          </a:xfrm>
          <a:custGeom>
            <a:avLst/>
            <a:gdLst/>
            <a:ahLst/>
            <a:cxnLst/>
            <a:rect l="l" t="t" r="r" b="b"/>
            <a:pathLst>
              <a:path w="50800" h="1422400">
                <a:moveTo>
                  <a:pt x="50800" y="0"/>
                </a:moveTo>
                <a:lnTo>
                  <a:pt x="50800" y="0"/>
                </a:lnTo>
                <a:lnTo>
                  <a:pt x="50800" y="1422400"/>
                </a:lnTo>
                <a:lnTo>
                  <a:pt x="50800" y="1422400"/>
                </a:lnTo>
                <a:cubicBezTo>
                  <a:pt x="22763" y="1422400"/>
                  <a:pt x="0" y="1399637"/>
                  <a:pt x="0" y="13716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12" name="Shape 10"/>
          <p:cNvSpPr/>
          <p:nvPr/>
        </p:nvSpPr>
        <p:spPr>
          <a:xfrm>
            <a:off x="8636000" y="31496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3" name="Text 11"/>
          <p:cNvSpPr/>
          <p:nvPr/>
        </p:nvSpPr>
        <p:spPr>
          <a:xfrm>
            <a:off x="8815884" y="3327400"/>
            <a:ext cx="647700" cy="457200"/>
          </a:xfrm>
          <a:prstGeom prst="rect">
            <a:avLst/>
          </a:prstGeom>
          <a:noFill/>
          <a:ln/>
        </p:spPr>
        <p:txBody>
          <a:bodyPr wrap="square" lIns="0" tIns="0" rIns="0" bIns="0" rtlCol="0" anchor="ctr"/>
          <a:lstStyle/>
          <a:p>
            <a:pPr>
              <a:lnSpc>
                <a:spcPct val="100000"/>
              </a:lnSpc>
            </a:pPr>
            <a:r>
              <a:rPr lang="en-US" sz="3000" b="1" dirty="0">
                <a:solidFill>
                  <a:srgbClr val="1A1D21"/>
                </a:solidFill>
                <a:latin typeface="MiSans" pitchFamily="34" charset="0"/>
                <a:ea typeface="MiSans" pitchFamily="34" charset="-122"/>
                <a:cs typeface="MiSans" pitchFamily="34" charset="-120"/>
              </a:rPr>
              <a:t>02</a:t>
            </a:r>
            <a:endParaRPr lang="en-US" sz="1600" dirty="0"/>
          </a:p>
        </p:txBody>
      </p:sp>
      <p:sp>
        <p:nvSpPr>
          <p:cNvPr id="14" name="Text 12"/>
          <p:cNvSpPr/>
          <p:nvPr/>
        </p:nvSpPr>
        <p:spPr>
          <a:xfrm>
            <a:off x="9652000" y="3162300"/>
            <a:ext cx="59182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生产者与消费者机制</a:t>
            </a:r>
            <a:endParaRPr lang="en-US" sz="1600" dirty="0"/>
          </a:p>
        </p:txBody>
      </p:sp>
      <p:sp>
        <p:nvSpPr>
          <p:cNvPr id="15" name="Text 13"/>
          <p:cNvSpPr/>
          <p:nvPr/>
        </p:nvSpPr>
        <p:spPr>
          <a:xfrm>
            <a:off x="9652000" y="3619500"/>
            <a:ext cx="5892800" cy="330200"/>
          </a:xfrm>
          <a:prstGeom prst="rect">
            <a:avLst/>
          </a:prstGeom>
          <a:noFill/>
          <a:ln/>
        </p:spPr>
        <p:txBody>
          <a:bodyPr wrap="square" lIns="0" tIns="0" rIns="0" bIns="0" rtlCol="0" anchor="ctr"/>
          <a:lstStyle/>
          <a:p>
            <a:pPr>
              <a:lnSpc>
                <a:spcPct val="140000"/>
              </a:lnSpc>
            </a:pPr>
            <a:r>
              <a:rPr lang="en-US" sz="1600" dirty="0">
                <a:solidFill>
                  <a:srgbClr val="718096"/>
                </a:solidFill>
                <a:latin typeface="MiSans" pitchFamily="34" charset="0"/>
                <a:ea typeface="MiSans" pitchFamily="34" charset="-122"/>
                <a:cs typeface="MiSans" pitchFamily="34" charset="-120"/>
              </a:rPr>
              <a:t>Producer 架构 · Consumer 机制 · 可靠性保障</a:t>
            </a:r>
            <a:endParaRPr lang="en-US" sz="1600" dirty="0"/>
          </a:p>
        </p:txBody>
      </p:sp>
      <p:sp>
        <p:nvSpPr>
          <p:cNvPr id="16" name="Shape 14"/>
          <p:cNvSpPr/>
          <p:nvPr/>
        </p:nvSpPr>
        <p:spPr>
          <a:xfrm>
            <a:off x="533400" y="4572000"/>
            <a:ext cx="7442200" cy="1422400"/>
          </a:xfrm>
          <a:custGeom>
            <a:avLst/>
            <a:gdLst/>
            <a:ahLst/>
            <a:cxnLst/>
            <a:rect l="l" t="t" r="r" b="b"/>
            <a:pathLst>
              <a:path w="7442200" h="1422400">
                <a:moveTo>
                  <a:pt x="50800" y="0"/>
                </a:moveTo>
                <a:lnTo>
                  <a:pt x="7340598" y="0"/>
                </a:lnTo>
                <a:cubicBezTo>
                  <a:pt x="7396711" y="0"/>
                  <a:pt x="7442200" y="45489"/>
                  <a:pt x="7442200" y="101602"/>
                </a:cubicBezTo>
                <a:lnTo>
                  <a:pt x="7442200" y="1320798"/>
                </a:lnTo>
                <a:cubicBezTo>
                  <a:pt x="7442200" y="1376911"/>
                  <a:pt x="7396711" y="1422400"/>
                  <a:pt x="7340598" y="1422400"/>
                </a:cubicBezTo>
                <a:lnTo>
                  <a:pt x="50800" y="1422400"/>
                </a:lnTo>
                <a:cubicBezTo>
                  <a:pt x="22744" y="1422400"/>
                  <a:pt x="0" y="1399656"/>
                  <a:pt x="0" y="13716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17" name="Shape 15"/>
          <p:cNvSpPr/>
          <p:nvPr/>
        </p:nvSpPr>
        <p:spPr>
          <a:xfrm>
            <a:off x="533400" y="4572000"/>
            <a:ext cx="50800" cy="1422400"/>
          </a:xfrm>
          <a:custGeom>
            <a:avLst/>
            <a:gdLst/>
            <a:ahLst/>
            <a:cxnLst/>
            <a:rect l="l" t="t" r="r" b="b"/>
            <a:pathLst>
              <a:path w="50800" h="1422400">
                <a:moveTo>
                  <a:pt x="50800" y="0"/>
                </a:moveTo>
                <a:lnTo>
                  <a:pt x="50800" y="0"/>
                </a:lnTo>
                <a:lnTo>
                  <a:pt x="50800" y="1422400"/>
                </a:lnTo>
                <a:lnTo>
                  <a:pt x="50800" y="1422400"/>
                </a:lnTo>
                <a:cubicBezTo>
                  <a:pt x="22763" y="1422400"/>
                  <a:pt x="0" y="1399637"/>
                  <a:pt x="0" y="13716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18" name="Shape 16"/>
          <p:cNvSpPr/>
          <p:nvPr/>
        </p:nvSpPr>
        <p:spPr>
          <a:xfrm>
            <a:off x="863600" y="48768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19" name="Text 17"/>
          <p:cNvSpPr/>
          <p:nvPr/>
        </p:nvSpPr>
        <p:spPr>
          <a:xfrm>
            <a:off x="1038523" y="5054600"/>
            <a:ext cx="647700" cy="457200"/>
          </a:xfrm>
          <a:prstGeom prst="rect">
            <a:avLst/>
          </a:prstGeom>
          <a:noFill/>
          <a:ln/>
        </p:spPr>
        <p:txBody>
          <a:bodyPr wrap="square" lIns="0" tIns="0" rIns="0" bIns="0" rtlCol="0" anchor="ctr"/>
          <a:lstStyle/>
          <a:p>
            <a:pPr>
              <a:lnSpc>
                <a:spcPct val="100000"/>
              </a:lnSpc>
            </a:pPr>
            <a:r>
              <a:rPr lang="en-US" sz="3000" b="1" dirty="0">
                <a:solidFill>
                  <a:srgbClr val="1A1D21"/>
                </a:solidFill>
                <a:latin typeface="MiSans" pitchFamily="34" charset="0"/>
                <a:ea typeface="MiSans" pitchFamily="34" charset="-122"/>
                <a:cs typeface="MiSans" pitchFamily="34" charset="-120"/>
              </a:rPr>
              <a:t>03</a:t>
            </a:r>
            <a:endParaRPr lang="en-US" sz="1600" dirty="0"/>
          </a:p>
        </p:txBody>
      </p:sp>
      <p:sp>
        <p:nvSpPr>
          <p:cNvPr id="20" name="Text 18"/>
          <p:cNvSpPr/>
          <p:nvPr/>
        </p:nvSpPr>
        <p:spPr>
          <a:xfrm>
            <a:off x="1879600" y="4889500"/>
            <a:ext cx="59182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Broker 内部机制</a:t>
            </a:r>
            <a:endParaRPr lang="en-US" sz="1600" dirty="0"/>
          </a:p>
        </p:txBody>
      </p:sp>
      <p:sp>
        <p:nvSpPr>
          <p:cNvPr id="21" name="Text 19"/>
          <p:cNvSpPr/>
          <p:nvPr/>
        </p:nvSpPr>
        <p:spPr>
          <a:xfrm>
            <a:off x="1879600" y="5346700"/>
            <a:ext cx="5892800" cy="330200"/>
          </a:xfrm>
          <a:prstGeom prst="rect">
            <a:avLst/>
          </a:prstGeom>
          <a:noFill/>
          <a:ln/>
        </p:spPr>
        <p:txBody>
          <a:bodyPr wrap="square" lIns="0" tIns="0" rIns="0" bIns="0" rtlCol="0" anchor="ctr"/>
          <a:lstStyle/>
          <a:p>
            <a:pPr>
              <a:lnSpc>
                <a:spcPct val="140000"/>
              </a:lnSpc>
            </a:pPr>
            <a:r>
              <a:rPr lang="en-US" sz="1600" dirty="0">
                <a:solidFill>
                  <a:srgbClr val="718096"/>
                </a:solidFill>
                <a:latin typeface="MiSans" pitchFamily="34" charset="0"/>
                <a:ea typeface="MiSans" pitchFamily="34" charset="-122"/>
                <a:cs typeface="MiSans" pitchFamily="34" charset="-120"/>
              </a:rPr>
              <a:t>网络层架构 · 存储引擎 · 副本同步 · 一致性保障</a:t>
            </a:r>
            <a:endParaRPr lang="en-US" sz="1600" dirty="0"/>
          </a:p>
        </p:txBody>
      </p:sp>
      <p:sp>
        <p:nvSpPr>
          <p:cNvPr id="22" name="Shape 20"/>
          <p:cNvSpPr/>
          <p:nvPr/>
        </p:nvSpPr>
        <p:spPr>
          <a:xfrm>
            <a:off x="8305800" y="4572000"/>
            <a:ext cx="7442200" cy="1422400"/>
          </a:xfrm>
          <a:custGeom>
            <a:avLst/>
            <a:gdLst/>
            <a:ahLst/>
            <a:cxnLst/>
            <a:rect l="l" t="t" r="r" b="b"/>
            <a:pathLst>
              <a:path w="7442200" h="1422400">
                <a:moveTo>
                  <a:pt x="50800" y="0"/>
                </a:moveTo>
                <a:lnTo>
                  <a:pt x="7340598" y="0"/>
                </a:lnTo>
                <a:cubicBezTo>
                  <a:pt x="7396711" y="0"/>
                  <a:pt x="7442200" y="45489"/>
                  <a:pt x="7442200" y="101602"/>
                </a:cubicBezTo>
                <a:lnTo>
                  <a:pt x="7442200" y="1320798"/>
                </a:lnTo>
                <a:cubicBezTo>
                  <a:pt x="7442200" y="1376911"/>
                  <a:pt x="7396711" y="1422400"/>
                  <a:pt x="7340598" y="1422400"/>
                </a:cubicBezTo>
                <a:lnTo>
                  <a:pt x="50800" y="1422400"/>
                </a:lnTo>
                <a:cubicBezTo>
                  <a:pt x="22744" y="1422400"/>
                  <a:pt x="0" y="1399656"/>
                  <a:pt x="0" y="13716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3" name="Shape 21"/>
          <p:cNvSpPr/>
          <p:nvPr/>
        </p:nvSpPr>
        <p:spPr>
          <a:xfrm>
            <a:off x="8305800" y="4572000"/>
            <a:ext cx="50800" cy="1422400"/>
          </a:xfrm>
          <a:custGeom>
            <a:avLst/>
            <a:gdLst/>
            <a:ahLst/>
            <a:cxnLst/>
            <a:rect l="l" t="t" r="r" b="b"/>
            <a:pathLst>
              <a:path w="50800" h="1422400">
                <a:moveTo>
                  <a:pt x="50800" y="0"/>
                </a:moveTo>
                <a:lnTo>
                  <a:pt x="50800" y="0"/>
                </a:lnTo>
                <a:lnTo>
                  <a:pt x="50800" y="1422400"/>
                </a:lnTo>
                <a:lnTo>
                  <a:pt x="50800" y="1422400"/>
                </a:lnTo>
                <a:cubicBezTo>
                  <a:pt x="22763" y="1422400"/>
                  <a:pt x="0" y="1399637"/>
                  <a:pt x="0" y="13716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24" name="Shape 22"/>
          <p:cNvSpPr/>
          <p:nvPr/>
        </p:nvSpPr>
        <p:spPr>
          <a:xfrm>
            <a:off x="8636000" y="4876800"/>
            <a:ext cx="812800" cy="812800"/>
          </a:xfrm>
          <a:custGeom>
            <a:avLst/>
            <a:gdLst/>
            <a:ahLst/>
            <a:cxnLst/>
            <a:rect l="l" t="t" r="r" b="b"/>
            <a:pathLst>
              <a:path w="812800" h="812800">
                <a:moveTo>
                  <a:pt x="101600" y="0"/>
                </a:moveTo>
                <a:lnTo>
                  <a:pt x="711200" y="0"/>
                </a:lnTo>
                <a:cubicBezTo>
                  <a:pt x="767275" y="0"/>
                  <a:pt x="812800" y="45525"/>
                  <a:pt x="812800" y="101600"/>
                </a:cubicBezTo>
                <a:lnTo>
                  <a:pt x="812800" y="711200"/>
                </a:lnTo>
                <a:cubicBezTo>
                  <a:pt x="812800" y="767275"/>
                  <a:pt x="767275" y="812800"/>
                  <a:pt x="711200" y="812800"/>
                </a:cubicBezTo>
                <a:lnTo>
                  <a:pt x="101600" y="812800"/>
                </a:lnTo>
                <a:cubicBezTo>
                  <a:pt x="45525" y="812800"/>
                  <a:pt x="0" y="767275"/>
                  <a:pt x="0" y="711200"/>
                </a:cubicBezTo>
                <a:lnTo>
                  <a:pt x="0" y="101600"/>
                </a:lnTo>
                <a:cubicBezTo>
                  <a:pt x="0" y="45525"/>
                  <a:pt x="45525" y="0"/>
                  <a:pt x="101600" y="0"/>
                </a:cubicBezTo>
                <a:close/>
              </a:path>
            </a:pathLst>
          </a:custGeom>
          <a:solidFill>
            <a:srgbClr val="D69E2E"/>
          </a:solidFill>
          <a:ln/>
        </p:spPr>
        <p:txBody>
          <a:bodyPr/>
          <a:lstStyle/>
          <a:p>
            <a:endParaRPr lang="zh-CN" altLang="en-US"/>
          </a:p>
        </p:txBody>
      </p:sp>
      <p:sp>
        <p:nvSpPr>
          <p:cNvPr id="25" name="Text 23"/>
          <p:cNvSpPr/>
          <p:nvPr/>
        </p:nvSpPr>
        <p:spPr>
          <a:xfrm>
            <a:off x="8811320" y="5054600"/>
            <a:ext cx="647700" cy="457200"/>
          </a:xfrm>
          <a:prstGeom prst="rect">
            <a:avLst/>
          </a:prstGeom>
          <a:noFill/>
          <a:ln/>
        </p:spPr>
        <p:txBody>
          <a:bodyPr wrap="square" lIns="0" tIns="0" rIns="0" bIns="0" rtlCol="0" anchor="ctr"/>
          <a:lstStyle/>
          <a:p>
            <a:pPr>
              <a:lnSpc>
                <a:spcPct val="100000"/>
              </a:lnSpc>
            </a:pPr>
            <a:r>
              <a:rPr lang="en-US" sz="3000" b="1" dirty="0">
                <a:solidFill>
                  <a:srgbClr val="1A1D21"/>
                </a:solidFill>
                <a:latin typeface="MiSans" pitchFamily="34" charset="0"/>
                <a:ea typeface="MiSans" pitchFamily="34" charset="-122"/>
                <a:cs typeface="MiSans" pitchFamily="34" charset="-120"/>
              </a:rPr>
              <a:t>04</a:t>
            </a:r>
            <a:endParaRPr lang="en-US" sz="1600" dirty="0"/>
          </a:p>
        </p:txBody>
      </p:sp>
      <p:sp>
        <p:nvSpPr>
          <p:cNvPr id="26" name="Text 24"/>
          <p:cNvSpPr/>
          <p:nvPr/>
        </p:nvSpPr>
        <p:spPr>
          <a:xfrm>
            <a:off x="9652000" y="4889500"/>
            <a:ext cx="5918200" cy="355600"/>
          </a:xfrm>
          <a:prstGeom prst="rect">
            <a:avLst/>
          </a:prstGeom>
          <a:noFill/>
          <a:ln/>
        </p:spPr>
        <p:txBody>
          <a:bodyPr wrap="square" lIns="0" tIns="0" rIns="0" bIns="0" rtlCol="0" anchor="ctr"/>
          <a:lstStyle/>
          <a:p>
            <a:pPr>
              <a:lnSpc>
                <a:spcPct val="120000"/>
              </a:lnSpc>
            </a:pPr>
            <a:r>
              <a:rPr lang="en-US" altLang="zh-CN" sz="2000" b="1" dirty="0" err="1">
                <a:solidFill>
                  <a:srgbClr val="E2E8F0"/>
                </a:solidFill>
                <a:latin typeface="MiSans" pitchFamily="34" charset="0"/>
                <a:ea typeface="MiSans" pitchFamily="34" charset="-122"/>
                <a:cs typeface="MiSans" pitchFamily="34" charset="-120"/>
              </a:rPr>
              <a:t>总结与展望</a:t>
            </a:r>
            <a:endParaRPr lang="en-US" altLang="zh-CN" sz="1600" dirty="0"/>
          </a:p>
        </p:txBody>
      </p:sp>
      <p:sp>
        <p:nvSpPr>
          <p:cNvPr id="27" name="Text 25"/>
          <p:cNvSpPr/>
          <p:nvPr/>
        </p:nvSpPr>
        <p:spPr>
          <a:xfrm>
            <a:off x="9652000" y="5346700"/>
            <a:ext cx="5892800" cy="330200"/>
          </a:xfrm>
          <a:prstGeom prst="rect">
            <a:avLst/>
          </a:prstGeom>
          <a:noFill/>
          <a:ln/>
        </p:spPr>
        <p:txBody>
          <a:bodyPr wrap="square" lIns="0" tIns="0" rIns="0" bIns="0" rtlCol="0" anchor="ctr"/>
          <a:lstStyle/>
          <a:p>
            <a:pPr>
              <a:lnSpc>
                <a:spcPct val="140000"/>
              </a:lnSpc>
            </a:pPr>
            <a:r>
              <a:rPr lang="en-US" altLang="zh-CN" sz="1600" dirty="0" err="1">
                <a:solidFill>
                  <a:srgbClr val="718096"/>
                </a:solidFill>
                <a:latin typeface="MiSans" pitchFamily="34" charset="0"/>
                <a:ea typeface="MiSans" pitchFamily="34" charset="-122"/>
                <a:cs typeface="MiSans" pitchFamily="34" charset="-120"/>
              </a:rPr>
              <a:t>技术体系梳理</a:t>
            </a:r>
            <a:r>
              <a:rPr lang="en-US" altLang="zh-CN" sz="1600" dirty="0">
                <a:solidFill>
                  <a:srgbClr val="718096"/>
                </a:solidFill>
                <a:latin typeface="MiSans" pitchFamily="34" charset="0"/>
                <a:ea typeface="MiSans" pitchFamily="34" charset="-122"/>
                <a:cs typeface="MiSans" pitchFamily="34" charset="-120"/>
              </a:rPr>
              <a:t> · </a:t>
            </a:r>
            <a:r>
              <a:rPr lang="en-US" altLang="zh-CN" sz="1600" dirty="0" err="1">
                <a:solidFill>
                  <a:srgbClr val="718096"/>
                </a:solidFill>
                <a:latin typeface="MiSans" pitchFamily="34" charset="0"/>
                <a:ea typeface="MiSans" pitchFamily="34" charset="-122"/>
                <a:cs typeface="MiSans" pitchFamily="34" charset="-120"/>
              </a:rPr>
              <a:t>发展趋势</a:t>
            </a:r>
            <a:r>
              <a:rPr lang="en-US" altLang="zh-CN" sz="1600" dirty="0">
                <a:solidFill>
                  <a:srgbClr val="718096"/>
                </a:solidFill>
                <a:latin typeface="MiSans" pitchFamily="34" charset="0"/>
                <a:ea typeface="MiSans" pitchFamily="34" charset="-122"/>
                <a:cs typeface="MiSans" pitchFamily="34" charset="-120"/>
              </a:rPr>
              <a:t> · </a:t>
            </a:r>
            <a:r>
              <a:rPr lang="en-US" altLang="zh-CN" sz="1600" dirty="0" err="1">
                <a:solidFill>
                  <a:srgbClr val="718096"/>
                </a:solidFill>
                <a:latin typeface="MiSans" pitchFamily="34" charset="0"/>
                <a:ea typeface="MiSans" pitchFamily="34" charset="-122"/>
                <a:cs typeface="MiSans" pitchFamily="34" charset="-120"/>
              </a:rPr>
              <a:t>学习建议</a:t>
            </a:r>
            <a:endParaRPr lang="en-US" altLang="zh-CN"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daxg39y63pxwu.cloudfront.net/ccea23b73e10531a443b4663703be4ca7c098b52.png"/>
          <p:cNvPicPr>
            <a:picLocks noChangeAspect="1"/>
          </p:cNvPicPr>
          <p:nvPr/>
        </p:nvPicPr>
        <p:blipFill>
          <a:blip r:embed="rId3">
            <a:alphaModFix amt="20000"/>
          </a:blip>
          <a:srcRect t="3125" b="3125"/>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txBody>
          <a:bodyPr/>
          <a:lstStyle/>
          <a:p>
            <a:endParaRPr lang="zh-CN" altLang="en-US"/>
          </a:p>
        </p:txBody>
      </p:sp>
      <p:sp>
        <p:nvSpPr>
          <p:cNvPr id="4" name="Text 1"/>
          <p:cNvSpPr/>
          <p:nvPr/>
        </p:nvSpPr>
        <p:spPr>
          <a:xfrm>
            <a:off x="508000" y="2254250"/>
            <a:ext cx="1982788" cy="336550"/>
          </a:xfrm>
          <a:prstGeom prst="rect">
            <a:avLst/>
          </a:prstGeom>
          <a:noFill/>
          <a:ln/>
        </p:spPr>
        <p:txBody>
          <a:bodyPr wrap="square" lIns="0" tIns="0" rIns="0" bIns="0" rtlCol="0" anchor="ctr"/>
          <a:lstStyle/>
          <a:p>
            <a:pPr>
              <a:lnSpc>
                <a:spcPct val="120000"/>
              </a:lnSpc>
            </a:pPr>
            <a:r>
              <a:rPr lang="en-US" sz="2000" b="1" kern="0" spc="800" dirty="0">
                <a:solidFill>
                  <a:srgbClr val="D69E2E"/>
                </a:solidFill>
                <a:latin typeface="MiSans" pitchFamily="34" charset="0"/>
                <a:ea typeface="MiSans" pitchFamily="34" charset="-122"/>
                <a:cs typeface="MiSans" pitchFamily="34" charset="-120"/>
              </a:rPr>
              <a:t>CHAPTER</a:t>
            </a:r>
            <a:endParaRPr lang="en-US" sz="1600" dirty="0"/>
          </a:p>
        </p:txBody>
      </p:sp>
      <p:sp>
        <p:nvSpPr>
          <p:cNvPr id="5" name="Text 2"/>
          <p:cNvSpPr/>
          <p:nvPr/>
        </p:nvSpPr>
        <p:spPr>
          <a:xfrm>
            <a:off x="508000" y="3289300"/>
            <a:ext cx="3086100" cy="2032000"/>
          </a:xfrm>
          <a:prstGeom prst="rect">
            <a:avLst/>
          </a:prstGeom>
          <a:noFill/>
          <a:ln/>
        </p:spPr>
        <p:txBody>
          <a:bodyPr wrap="square" lIns="0" tIns="0" rIns="0" bIns="0" rtlCol="0" anchor="ctr"/>
          <a:lstStyle/>
          <a:p>
            <a:pPr>
              <a:lnSpc>
                <a:spcPct val="80000"/>
              </a:lnSpc>
            </a:pPr>
            <a:r>
              <a:rPr lang="en-US" sz="16000" b="1" dirty="0">
                <a:solidFill>
                  <a:srgbClr val="D69E2E"/>
                </a:solidFill>
                <a:latin typeface="MiSans" pitchFamily="34" charset="0"/>
                <a:ea typeface="MiSans" pitchFamily="34" charset="-122"/>
                <a:cs typeface="MiSans" pitchFamily="34" charset="-120"/>
              </a:rPr>
              <a:t>01</a:t>
            </a:r>
            <a:endParaRPr lang="en-US" sz="1600" dirty="0"/>
          </a:p>
        </p:txBody>
      </p:sp>
      <p:sp>
        <p:nvSpPr>
          <p:cNvPr id="6" name="Text 3"/>
          <p:cNvSpPr/>
          <p:nvPr/>
        </p:nvSpPr>
        <p:spPr>
          <a:xfrm>
            <a:off x="2987080" y="3009900"/>
            <a:ext cx="4838700" cy="1905000"/>
          </a:xfrm>
          <a:prstGeom prst="rect">
            <a:avLst/>
          </a:prstGeom>
          <a:noFill/>
          <a:ln/>
        </p:spPr>
        <p:txBody>
          <a:bodyPr wrap="square" lIns="0" tIns="0" rIns="0" bIns="0" rtlCol="0" anchor="ctr"/>
          <a:lstStyle/>
          <a:p>
            <a:pPr>
              <a:lnSpc>
                <a:spcPct val="100000"/>
              </a:lnSpc>
            </a:pPr>
            <a:r>
              <a:rPr lang="en-US" sz="6000" b="1" dirty="0">
                <a:solidFill>
                  <a:srgbClr val="E2E8F0"/>
                </a:solidFill>
                <a:latin typeface="MiSans" pitchFamily="34" charset="0"/>
                <a:ea typeface="MiSans" pitchFamily="34" charset="-122"/>
                <a:cs typeface="MiSans" pitchFamily="34" charset="-120"/>
              </a:rPr>
              <a:t>Kafka 概览与</a:t>
            </a:r>
            <a:endParaRPr lang="en-US" sz="1600" dirty="0"/>
          </a:p>
          <a:p>
            <a:pPr>
              <a:lnSpc>
                <a:spcPct val="100000"/>
              </a:lnSpc>
            </a:pPr>
            <a:r>
              <a:rPr lang="en-US" sz="6000" b="1" dirty="0">
                <a:solidFill>
                  <a:srgbClr val="E2E8F0"/>
                </a:solidFill>
                <a:latin typeface="MiSans" pitchFamily="34" charset="0"/>
                <a:ea typeface="MiSans" pitchFamily="34" charset="-122"/>
                <a:cs typeface="MiSans" pitchFamily="34" charset="-120"/>
              </a:rPr>
              <a:t>核心概念</a:t>
            </a:r>
            <a:endParaRPr lang="en-US" sz="1600" dirty="0"/>
          </a:p>
        </p:txBody>
      </p:sp>
      <p:sp>
        <p:nvSpPr>
          <p:cNvPr id="7" name="Shape 4"/>
          <p:cNvSpPr/>
          <p:nvPr/>
        </p:nvSpPr>
        <p:spPr>
          <a:xfrm>
            <a:off x="533400"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8" name="Text 5"/>
          <p:cNvSpPr/>
          <p:nvPr/>
        </p:nvSpPr>
        <p:spPr>
          <a:xfrm>
            <a:off x="812800"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学习重点</a:t>
            </a:r>
            <a:endParaRPr lang="en-US" sz="1600" dirty="0"/>
          </a:p>
        </p:txBody>
      </p:sp>
      <p:sp>
        <p:nvSpPr>
          <p:cNvPr id="9" name="Text 6"/>
          <p:cNvSpPr/>
          <p:nvPr/>
        </p:nvSpPr>
        <p:spPr>
          <a:xfrm>
            <a:off x="812800" y="6184900"/>
            <a:ext cx="3022600" cy="7112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理解 Kafka 的技术背景与发展历程</a:t>
            </a:r>
            <a:endParaRPr lang="en-US" sz="1600" dirty="0"/>
          </a:p>
        </p:txBody>
      </p:sp>
      <p:sp>
        <p:nvSpPr>
          <p:cNvPr id="10" name="Shape 7"/>
          <p:cNvSpPr/>
          <p:nvPr/>
        </p:nvSpPr>
        <p:spPr>
          <a:xfrm>
            <a:off x="4004667"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1" name="Text 8"/>
          <p:cNvSpPr/>
          <p:nvPr/>
        </p:nvSpPr>
        <p:spPr>
          <a:xfrm>
            <a:off x="4284067"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核心内容</a:t>
            </a:r>
            <a:endParaRPr lang="en-US" sz="1600" dirty="0"/>
          </a:p>
        </p:txBody>
      </p:sp>
      <p:sp>
        <p:nvSpPr>
          <p:cNvPr id="12" name="Text 9"/>
          <p:cNvSpPr/>
          <p:nvPr/>
        </p:nvSpPr>
        <p:spPr>
          <a:xfrm>
            <a:off x="4284067" y="6184900"/>
            <a:ext cx="3022600" cy="3556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掌握核心概念与架构体系</a:t>
            </a:r>
            <a:endParaRPr lang="en-US" sz="1600" dirty="0"/>
          </a:p>
        </p:txBody>
      </p:sp>
      <p:sp>
        <p:nvSpPr>
          <p:cNvPr id="13" name="Shape 10"/>
          <p:cNvSpPr/>
          <p:nvPr/>
        </p:nvSpPr>
        <p:spPr>
          <a:xfrm>
            <a:off x="7476034"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4" name="Text 11"/>
          <p:cNvSpPr/>
          <p:nvPr/>
        </p:nvSpPr>
        <p:spPr>
          <a:xfrm>
            <a:off x="7755434"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学习目标</a:t>
            </a:r>
            <a:endParaRPr lang="en-US" sz="1600" dirty="0"/>
          </a:p>
        </p:txBody>
      </p:sp>
      <p:sp>
        <p:nvSpPr>
          <p:cNvPr id="15" name="Text 12"/>
          <p:cNvSpPr/>
          <p:nvPr/>
        </p:nvSpPr>
        <p:spPr>
          <a:xfrm>
            <a:off x="7755434" y="6184900"/>
            <a:ext cx="3022600" cy="3556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建立完整的知识体系</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28900" cy="254000"/>
          </a:xfrm>
          <a:prstGeom prst="rect">
            <a:avLst/>
          </a:prstGeom>
          <a:noFill/>
          <a:ln/>
        </p:spPr>
        <p:txBody>
          <a:bodyPr wrap="square" lIns="0" tIns="0" rIns="0" bIns="0" rtlCol="0" anchor="ctr"/>
          <a:lstStyle/>
          <a:p>
            <a:pPr>
              <a:lnSpc>
                <a:spcPct val="120000"/>
              </a:lnSpc>
            </a:pPr>
            <a:r>
              <a:rPr lang="en-US" sz="1400" b="1" kern="0" spc="420" dirty="0">
                <a:solidFill>
                  <a:srgbClr val="D69E2E"/>
                </a:solidFill>
                <a:latin typeface="MiSans" pitchFamily="34" charset="0"/>
                <a:ea typeface="MiSans" pitchFamily="34" charset="-122"/>
                <a:cs typeface="MiSans" pitchFamily="34" charset="-120"/>
              </a:rPr>
              <a:t>1.1 技术背景</a:t>
            </a:r>
            <a:endParaRPr lang="en-US" sz="1600" dirty="0"/>
          </a:p>
        </p:txBody>
      </p:sp>
      <p:sp>
        <p:nvSpPr>
          <p:cNvPr id="3" name="Text 1"/>
          <p:cNvSpPr/>
          <p:nvPr/>
        </p:nvSpPr>
        <p:spPr>
          <a:xfrm>
            <a:off x="508000" y="8636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为什么大数据领域需要消息队列系统</a:t>
            </a:r>
            <a:endParaRPr lang="en-US" sz="1600" dirty="0"/>
          </a:p>
        </p:txBody>
      </p:sp>
      <p:sp>
        <p:nvSpPr>
          <p:cNvPr id="4" name="Shape 2"/>
          <p:cNvSpPr/>
          <p:nvPr/>
        </p:nvSpPr>
        <p:spPr>
          <a:xfrm>
            <a:off x="268284" y="2555880"/>
            <a:ext cx="254000" cy="254000"/>
          </a:xfrm>
          <a:custGeom>
            <a:avLst/>
            <a:gdLst/>
            <a:ahLst/>
            <a:cxnLst/>
            <a:rect l="l" t="t" r="r" b="b"/>
            <a:pathLst>
              <a:path w="254000" h="254000">
                <a:moveTo>
                  <a:pt x="127000" y="0"/>
                </a:moveTo>
                <a:cubicBezTo>
                  <a:pt x="134293" y="0"/>
                  <a:pt x="140990" y="4018"/>
                  <a:pt x="144463" y="10418"/>
                </a:cubicBezTo>
                <a:lnTo>
                  <a:pt x="251619" y="208855"/>
                </a:lnTo>
                <a:cubicBezTo>
                  <a:pt x="254943" y="215007"/>
                  <a:pt x="254794" y="222448"/>
                  <a:pt x="251222" y="228451"/>
                </a:cubicBezTo>
                <a:cubicBezTo>
                  <a:pt x="247650" y="234454"/>
                  <a:pt x="241151" y="238125"/>
                  <a:pt x="234156" y="238125"/>
                </a:cubicBezTo>
                <a:lnTo>
                  <a:pt x="19844" y="238125"/>
                </a:lnTo>
                <a:cubicBezTo>
                  <a:pt x="12849" y="238125"/>
                  <a:pt x="6400" y="234454"/>
                  <a:pt x="2778" y="228451"/>
                </a:cubicBezTo>
                <a:cubicBezTo>
                  <a:pt x="-843" y="222448"/>
                  <a:pt x="-943" y="215007"/>
                  <a:pt x="2381" y="208855"/>
                </a:cubicBezTo>
                <a:lnTo>
                  <a:pt x="109538" y="10418"/>
                </a:lnTo>
                <a:cubicBezTo>
                  <a:pt x="113010" y="4018"/>
                  <a:pt x="119707" y="0"/>
                  <a:pt x="127000" y="0"/>
                </a:cubicBezTo>
                <a:close/>
                <a:moveTo>
                  <a:pt x="127000" y="83344"/>
                </a:moveTo>
                <a:cubicBezTo>
                  <a:pt x="120402" y="83344"/>
                  <a:pt x="115094" y="88652"/>
                  <a:pt x="115094" y="95250"/>
                </a:cubicBezTo>
                <a:lnTo>
                  <a:pt x="115094" y="150813"/>
                </a:lnTo>
                <a:cubicBezTo>
                  <a:pt x="115094" y="157411"/>
                  <a:pt x="120402" y="162719"/>
                  <a:pt x="127000" y="162719"/>
                </a:cubicBezTo>
                <a:cubicBezTo>
                  <a:pt x="133598" y="162719"/>
                  <a:pt x="138906" y="157411"/>
                  <a:pt x="138906" y="150813"/>
                </a:cubicBezTo>
                <a:lnTo>
                  <a:pt x="138906" y="95250"/>
                </a:lnTo>
                <a:cubicBezTo>
                  <a:pt x="138906" y="88652"/>
                  <a:pt x="133598" y="83344"/>
                  <a:pt x="127000" y="83344"/>
                </a:cubicBezTo>
                <a:close/>
                <a:moveTo>
                  <a:pt x="140246" y="190500"/>
                </a:moveTo>
                <a:cubicBezTo>
                  <a:pt x="140547" y="185583"/>
                  <a:pt x="138095" y="180906"/>
                  <a:pt x="133880" y="178356"/>
                </a:cubicBezTo>
                <a:cubicBezTo>
                  <a:pt x="129666" y="175807"/>
                  <a:pt x="124384" y="175807"/>
                  <a:pt x="120169" y="178356"/>
                </a:cubicBezTo>
                <a:cubicBezTo>
                  <a:pt x="115955" y="180906"/>
                  <a:pt x="113503" y="185583"/>
                  <a:pt x="113804" y="190500"/>
                </a:cubicBezTo>
                <a:cubicBezTo>
                  <a:pt x="113503" y="195417"/>
                  <a:pt x="115955" y="200094"/>
                  <a:pt x="120169" y="202644"/>
                </a:cubicBezTo>
                <a:cubicBezTo>
                  <a:pt x="124384" y="205193"/>
                  <a:pt x="129666" y="205193"/>
                  <a:pt x="133880" y="202644"/>
                </a:cubicBezTo>
                <a:cubicBezTo>
                  <a:pt x="138095" y="200094"/>
                  <a:pt x="140547" y="195417"/>
                  <a:pt x="140246" y="190500"/>
                </a:cubicBezTo>
                <a:close/>
              </a:path>
            </a:pathLst>
          </a:custGeom>
          <a:solidFill>
            <a:srgbClr val="D69E2E"/>
          </a:solidFill>
          <a:ln/>
        </p:spPr>
        <p:txBody>
          <a:bodyPr/>
          <a:lstStyle/>
          <a:p>
            <a:endParaRPr lang="zh-CN" altLang="en-US"/>
          </a:p>
        </p:txBody>
      </p:sp>
      <p:sp>
        <p:nvSpPr>
          <p:cNvPr id="5" name="Text 3"/>
          <p:cNvSpPr/>
          <p:nvPr/>
        </p:nvSpPr>
        <p:spPr>
          <a:xfrm>
            <a:off x="554034" y="2505080"/>
            <a:ext cx="73025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大数据处理的挑战</a:t>
            </a:r>
            <a:endParaRPr lang="en-US" sz="1600" dirty="0"/>
          </a:p>
        </p:txBody>
      </p:sp>
      <p:sp>
        <p:nvSpPr>
          <p:cNvPr id="6" name="Text 4"/>
          <p:cNvSpPr/>
          <p:nvPr/>
        </p:nvSpPr>
        <p:spPr>
          <a:xfrm>
            <a:off x="236534" y="3063880"/>
            <a:ext cx="7581900" cy="508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数据洪流问题:</a:t>
            </a:r>
            <a:r>
              <a:rPr lang="en-US" sz="1400" dirty="0">
                <a:solidFill>
                  <a:srgbClr val="E2E8F0"/>
                </a:solidFill>
                <a:latin typeface="MiSans" pitchFamily="34" charset="0"/>
                <a:ea typeface="MiSans" pitchFamily="34" charset="-122"/>
                <a:cs typeface="MiSans" pitchFamily="34" charset="-120"/>
              </a:rPr>
              <a:t> 互联网应用每天产生 TB 甚至 PB 级别的数据，传统系统无法处理如此高的数据吞吐量</a:t>
            </a:r>
            <a:endParaRPr lang="en-US" sz="1600" dirty="0"/>
          </a:p>
        </p:txBody>
      </p:sp>
      <p:sp>
        <p:nvSpPr>
          <p:cNvPr id="7" name="Text 5"/>
          <p:cNvSpPr/>
          <p:nvPr/>
        </p:nvSpPr>
        <p:spPr>
          <a:xfrm>
            <a:off x="236534" y="36734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系统耦合性:</a:t>
            </a:r>
            <a:r>
              <a:rPr lang="en-US" sz="1400" dirty="0">
                <a:solidFill>
                  <a:srgbClr val="E2E8F0"/>
                </a:solidFill>
                <a:latin typeface="MiSans" pitchFamily="34" charset="0"/>
                <a:ea typeface="MiSans" pitchFamily="34" charset="-122"/>
                <a:cs typeface="MiSans" pitchFamily="34" charset="-120"/>
              </a:rPr>
              <a:t> 数据生产者和消费者直接耦合，系统扩展性和容错性差</a:t>
            </a:r>
            <a:endParaRPr lang="en-US" sz="1600" dirty="0"/>
          </a:p>
        </p:txBody>
      </p:sp>
      <p:sp>
        <p:nvSpPr>
          <p:cNvPr id="8" name="Text 6"/>
          <p:cNvSpPr/>
          <p:nvPr/>
        </p:nvSpPr>
        <p:spPr>
          <a:xfrm>
            <a:off x="236534" y="40290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实时性要求:</a:t>
            </a:r>
            <a:r>
              <a:rPr lang="en-US" sz="1400" dirty="0">
                <a:solidFill>
                  <a:srgbClr val="E2E8F0"/>
                </a:solidFill>
                <a:latin typeface="MiSans" pitchFamily="34" charset="0"/>
                <a:ea typeface="MiSans" pitchFamily="34" charset="-122"/>
                <a:cs typeface="MiSans" pitchFamily="34" charset="-120"/>
              </a:rPr>
              <a:t> 业务对实时数据处理的需求日益增长，批处理架构无法满足低延迟要求</a:t>
            </a:r>
            <a:endParaRPr lang="en-US" sz="1600" dirty="0"/>
          </a:p>
        </p:txBody>
      </p:sp>
      <p:sp>
        <p:nvSpPr>
          <p:cNvPr id="9" name="Text 7"/>
          <p:cNvSpPr/>
          <p:nvPr/>
        </p:nvSpPr>
        <p:spPr>
          <a:xfrm>
            <a:off x="236534" y="43846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数据多样性:</a:t>
            </a:r>
            <a:r>
              <a:rPr lang="en-US" sz="1400" dirty="0">
                <a:solidFill>
                  <a:srgbClr val="E2E8F0"/>
                </a:solidFill>
                <a:latin typeface="MiSans" pitchFamily="34" charset="0"/>
                <a:ea typeface="MiSans" pitchFamily="34" charset="-122"/>
                <a:cs typeface="MiSans" pitchFamily="34" charset="-120"/>
              </a:rPr>
              <a:t> 结构化、半结构化、非结构化数据需要统一的处理平台</a:t>
            </a:r>
            <a:endParaRPr lang="en-US" sz="1600" dirty="0"/>
          </a:p>
        </p:txBody>
      </p:sp>
      <p:sp>
        <p:nvSpPr>
          <p:cNvPr id="10" name="Shape 8"/>
          <p:cNvSpPr/>
          <p:nvPr/>
        </p:nvSpPr>
        <p:spPr>
          <a:xfrm>
            <a:off x="268284" y="4943480"/>
            <a:ext cx="254000" cy="254000"/>
          </a:xfrm>
          <a:custGeom>
            <a:avLst/>
            <a:gdLst/>
            <a:ahLst/>
            <a:cxnLst/>
            <a:rect l="l" t="t" r="r" b="b"/>
            <a:pathLst>
              <a:path w="254000" h="254000">
                <a:moveTo>
                  <a:pt x="127000" y="254000"/>
                </a:moveTo>
                <a:cubicBezTo>
                  <a:pt x="197093" y="254000"/>
                  <a:pt x="254000" y="197093"/>
                  <a:pt x="254000" y="127000"/>
                </a:cubicBezTo>
                <a:cubicBezTo>
                  <a:pt x="254000" y="56907"/>
                  <a:pt x="197093" y="0"/>
                  <a:pt x="127000" y="0"/>
                </a:cubicBezTo>
                <a:cubicBezTo>
                  <a:pt x="56907" y="0"/>
                  <a:pt x="0" y="56907"/>
                  <a:pt x="0" y="127000"/>
                </a:cubicBezTo>
                <a:cubicBezTo>
                  <a:pt x="0" y="197093"/>
                  <a:pt x="56907" y="254000"/>
                  <a:pt x="127000" y="254000"/>
                </a:cubicBezTo>
                <a:close/>
                <a:moveTo>
                  <a:pt x="168870" y="105519"/>
                </a:moveTo>
                <a:lnTo>
                  <a:pt x="129183" y="169019"/>
                </a:lnTo>
                <a:cubicBezTo>
                  <a:pt x="127099" y="172343"/>
                  <a:pt x="123527" y="174427"/>
                  <a:pt x="119608" y="174625"/>
                </a:cubicBezTo>
                <a:cubicBezTo>
                  <a:pt x="115689" y="174823"/>
                  <a:pt x="111919" y="173038"/>
                  <a:pt x="109587" y="169863"/>
                </a:cubicBezTo>
                <a:lnTo>
                  <a:pt x="85775" y="138113"/>
                </a:lnTo>
                <a:cubicBezTo>
                  <a:pt x="81806" y="132854"/>
                  <a:pt x="82897" y="125413"/>
                  <a:pt x="88156" y="121444"/>
                </a:cubicBezTo>
                <a:cubicBezTo>
                  <a:pt x="93414" y="117475"/>
                  <a:pt x="100856" y="118566"/>
                  <a:pt x="104825" y="123825"/>
                </a:cubicBezTo>
                <a:lnTo>
                  <a:pt x="118219" y="141684"/>
                </a:lnTo>
                <a:lnTo>
                  <a:pt x="148679" y="92918"/>
                </a:lnTo>
                <a:cubicBezTo>
                  <a:pt x="152152" y="87362"/>
                  <a:pt x="159494" y="85626"/>
                  <a:pt x="165100" y="89148"/>
                </a:cubicBezTo>
                <a:cubicBezTo>
                  <a:pt x="170706" y="92670"/>
                  <a:pt x="172393" y="99963"/>
                  <a:pt x="168870" y="105569"/>
                </a:cubicBezTo>
                <a:close/>
              </a:path>
            </a:pathLst>
          </a:custGeom>
          <a:solidFill>
            <a:srgbClr val="D69E2E"/>
          </a:solidFill>
          <a:ln/>
        </p:spPr>
        <p:txBody>
          <a:bodyPr/>
          <a:lstStyle/>
          <a:p>
            <a:endParaRPr lang="zh-CN" altLang="en-US"/>
          </a:p>
        </p:txBody>
      </p:sp>
      <p:sp>
        <p:nvSpPr>
          <p:cNvPr id="11" name="Text 9"/>
          <p:cNvSpPr/>
          <p:nvPr/>
        </p:nvSpPr>
        <p:spPr>
          <a:xfrm>
            <a:off x="554034" y="4892680"/>
            <a:ext cx="73025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消息队列的核心价值</a:t>
            </a:r>
            <a:endParaRPr lang="en-US" sz="1600" dirty="0"/>
          </a:p>
        </p:txBody>
      </p:sp>
      <p:sp>
        <p:nvSpPr>
          <p:cNvPr id="12" name="Text 10"/>
          <p:cNvSpPr/>
          <p:nvPr/>
        </p:nvSpPr>
        <p:spPr>
          <a:xfrm>
            <a:off x="236534" y="54514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解耦系统组件:</a:t>
            </a:r>
            <a:r>
              <a:rPr lang="en-US" sz="1400" dirty="0">
                <a:solidFill>
                  <a:srgbClr val="E2E8F0"/>
                </a:solidFill>
                <a:latin typeface="MiSans" pitchFamily="34" charset="0"/>
                <a:ea typeface="MiSans" pitchFamily="34" charset="-122"/>
                <a:cs typeface="MiSans" pitchFamily="34" charset="-120"/>
              </a:rPr>
              <a:t> 通过异步消息传递，解耦数据生产者和消费者，提高系统灵活性和可维护性</a:t>
            </a:r>
            <a:endParaRPr lang="en-US" sz="1600" dirty="0"/>
          </a:p>
        </p:txBody>
      </p:sp>
      <p:sp>
        <p:nvSpPr>
          <p:cNvPr id="13" name="Text 11"/>
          <p:cNvSpPr/>
          <p:nvPr/>
        </p:nvSpPr>
        <p:spPr>
          <a:xfrm>
            <a:off x="236534" y="58070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缓冲和削峰:</a:t>
            </a:r>
            <a:r>
              <a:rPr lang="en-US" sz="1400" dirty="0">
                <a:solidFill>
                  <a:srgbClr val="E2E8F0"/>
                </a:solidFill>
                <a:latin typeface="MiSans" pitchFamily="34" charset="0"/>
                <a:ea typeface="MiSans" pitchFamily="34" charset="-122"/>
                <a:cs typeface="MiSans" pitchFamily="34" charset="-120"/>
              </a:rPr>
              <a:t> 应对突发流量，平衡生产者和消费者的处理能力差异</a:t>
            </a:r>
            <a:endParaRPr lang="en-US" sz="1600" dirty="0"/>
          </a:p>
        </p:txBody>
      </p:sp>
      <p:sp>
        <p:nvSpPr>
          <p:cNvPr id="14" name="Text 12"/>
          <p:cNvSpPr/>
          <p:nvPr/>
        </p:nvSpPr>
        <p:spPr>
          <a:xfrm>
            <a:off x="236534" y="61626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保证数据可靠性:</a:t>
            </a:r>
            <a:r>
              <a:rPr lang="en-US" sz="1400" dirty="0">
                <a:solidFill>
                  <a:srgbClr val="E2E8F0"/>
                </a:solidFill>
                <a:latin typeface="MiSans" pitchFamily="34" charset="0"/>
                <a:ea typeface="MiSans" pitchFamily="34" charset="-122"/>
                <a:cs typeface="MiSans" pitchFamily="34" charset="-120"/>
              </a:rPr>
              <a:t> 确保数据在传输过程中不丢失，支持重试和恢复机制</a:t>
            </a:r>
            <a:endParaRPr lang="en-US" sz="1600" dirty="0"/>
          </a:p>
        </p:txBody>
      </p:sp>
      <p:sp>
        <p:nvSpPr>
          <p:cNvPr id="15" name="Text 13"/>
          <p:cNvSpPr/>
          <p:nvPr/>
        </p:nvSpPr>
        <p:spPr>
          <a:xfrm>
            <a:off x="236534" y="6518280"/>
            <a:ext cx="75819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支持多种消费模式:</a:t>
            </a:r>
            <a:r>
              <a:rPr lang="en-US" sz="1400" dirty="0">
                <a:solidFill>
                  <a:srgbClr val="E2E8F0"/>
                </a:solidFill>
                <a:latin typeface="MiSans" pitchFamily="34" charset="0"/>
                <a:ea typeface="MiSans" pitchFamily="34" charset="-122"/>
                <a:cs typeface="MiSans" pitchFamily="34" charset="-120"/>
              </a:rPr>
              <a:t> 支持发布-订阅、点对点等多种消息模式，适应不同业务场景</a:t>
            </a:r>
            <a:endParaRPr lang="en-US" sz="1600" dirty="0"/>
          </a:p>
        </p:txBody>
      </p:sp>
      <p:sp>
        <p:nvSpPr>
          <p:cNvPr id="16" name="Shape 14"/>
          <p:cNvSpPr/>
          <p:nvPr/>
        </p:nvSpPr>
        <p:spPr>
          <a:xfrm>
            <a:off x="8015284" y="2555880"/>
            <a:ext cx="254000" cy="254000"/>
          </a:xfrm>
          <a:custGeom>
            <a:avLst/>
            <a:gdLst/>
            <a:ahLst/>
            <a:cxnLst/>
            <a:rect l="l" t="t" r="r" b="b"/>
            <a:pathLst>
              <a:path w="254000" h="254000">
                <a:moveTo>
                  <a:pt x="127000" y="254000"/>
                </a:moveTo>
                <a:cubicBezTo>
                  <a:pt x="197093" y="254000"/>
                  <a:pt x="254000" y="197093"/>
                  <a:pt x="254000" y="127000"/>
                </a:cubicBezTo>
                <a:cubicBezTo>
                  <a:pt x="254000" y="56907"/>
                  <a:pt x="197093" y="0"/>
                  <a:pt x="127000" y="0"/>
                </a:cubicBezTo>
                <a:cubicBezTo>
                  <a:pt x="56907" y="0"/>
                  <a:pt x="0" y="56907"/>
                  <a:pt x="0" y="127000"/>
                </a:cubicBezTo>
                <a:cubicBezTo>
                  <a:pt x="0" y="197093"/>
                  <a:pt x="56907" y="254000"/>
                  <a:pt x="127000" y="254000"/>
                </a:cubicBezTo>
                <a:close/>
                <a:moveTo>
                  <a:pt x="82848" y="82848"/>
                </a:moveTo>
                <a:cubicBezTo>
                  <a:pt x="87511" y="78184"/>
                  <a:pt x="95052" y="78184"/>
                  <a:pt x="99665" y="82848"/>
                </a:cubicBezTo>
                <a:lnTo>
                  <a:pt x="126950" y="110133"/>
                </a:lnTo>
                <a:lnTo>
                  <a:pt x="154236" y="82848"/>
                </a:lnTo>
                <a:cubicBezTo>
                  <a:pt x="158899" y="78184"/>
                  <a:pt x="166439" y="78184"/>
                  <a:pt x="171053" y="82848"/>
                </a:cubicBezTo>
                <a:cubicBezTo>
                  <a:pt x="175667" y="87511"/>
                  <a:pt x="175716" y="95052"/>
                  <a:pt x="171053" y="99665"/>
                </a:cubicBezTo>
                <a:lnTo>
                  <a:pt x="143768" y="126950"/>
                </a:lnTo>
                <a:lnTo>
                  <a:pt x="171053" y="154236"/>
                </a:lnTo>
                <a:cubicBezTo>
                  <a:pt x="175716" y="158899"/>
                  <a:pt x="175716" y="166439"/>
                  <a:pt x="171053" y="171053"/>
                </a:cubicBezTo>
                <a:cubicBezTo>
                  <a:pt x="166390" y="175667"/>
                  <a:pt x="158849" y="175716"/>
                  <a:pt x="154236" y="171053"/>
                </a:cubicBezTo>
                <a:lnTo>
                  <a:pt x="126950" y="143768"/>
                </a:lnTo>
                <a:lnTo>
                  <a:pt x="99665" y="171053"/>
                </a:lnTo>
                <a:cubicBezTo>
                  <a:pt x="95002" y="175716"/>
                  <a:pt x="87461" y="175716"/>
                  <a:pt x="82848" y="171053"/>
                </a:cubicBezTo>
                <a:cubicBezTo>
                  <a:pt x="78234" y="166390"/>
                  <a:pt x="78184" y="158849"/>
                  <a:pt x="82848" y="154236"/>
                </a:cubicBezTo>
                <a:lnTo>
                  <a:pt x="110133" y="126950"/>
                </a:lnTo>
                <a:lnTo>
                  <a:pt x="82848" y="99665"/>
                </a:lnTo>
                <a:cubicBezTo>
                  <a:pt x="78184" y="95002"/>
                  <a:pt x="78184" y="87461"/>
                  <a:pt x="82848" y="82848"/>
                </a:cubicBezTo>
                <a:close/>
              </a:path>
            </a:pathLst>
          </a:custGeom>
          <a:solidFill>
            <a:srgbClr val="718096"/>
          </a:solidFill>
          <a:ln/>
        </p:spPr>
        <p:txBody>
          <a:bodyPr/>
          <a:lstStyle/>
          <a:p>
            <a:endParaRPr lang="zh-CN" altLang="en-US"/>
          </a:p>
        </p:txBody>
      </p:sp>
      <p:sp>
        <p:nvSpPr>
          <p:cNvPr id="17" name="Text 15"/>
          <p:cNvSpPr/>
          <p:nvPr/>
        </p:nvSpPr>
        <p:spPr>
          <a:xfrm>
            <a:off x="8301034" y="2505080"/>
            <a:ext cx="73025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传统消息队列的局限性</a:t>
            </a:r>
            <a:endParaRPr lang="en-US" sz="1600" dirty="0"/>
          </a:p>
        </p:txBody>
      </p:sp>
      <p:sp>
        <p:nvSpPr>
          <p:cNvPr id="18" name="Text 16"/>
          <p:cNvSpPr/>
          <p:nvPr/>
        </p:nvSpPr>
        <p:spPr>
          <a:xfrm>
            <a:off x="7983534" y="3063880"/>
            <a:ext cx="7581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吞吐量瓶颈:</a:t>
            </a:r>
            <a:r>
              <a:rPr lang="en-US" sz="1400" dirty="0">
                <a:solidFill>
                  <a:srgbClr val="E2E8F0"/>
                </a:solidFill>
                <a:latin typeface="MiSans" pitchFamily="34" charset="0"/>
                <a:ea typeface="MiSans" pitchFamily="34" charset="-122"/>
                <a:cs typeface="MiSans" pitchFamily="34" charset="-120"/>
              </a:rPr>
              <a:t> 基于内存的设计无法处理互联网级别的高吞吐量需求</a:t>
            </a:r>
            <a:endParaRPr lang="en-US" sz="1600" dirty="0"/>
          </a:p>
        </p:txBody>
      </p:sp>
      <p:sp>
        <p:nvSpPr>
          <p:cNvPr id="19" name="Text 17"/>
          <p:cNvSpPr/>
          <p:nvPr/>
        </p:nvSpPr>
        <p:spPr>
          <a:xfrm>
            <a:off x="7983534" y="3419480"/>
            <a:ext cx="7581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持久化能力有限:</a:t>
            </a:r>
            <a:r>
              <a:rPr lang="en-US" sz="1400" dirty="0">
                <a:solidFill>
                  <a:srgbClr val="E2E8F0"/>
                </a:solidFill>
                <a:latin typeface="MiSans" pitchFamily="34" charset="0"/>
                <a:ea typeface="MiSans" pitchFamily="34" charset="-122"/>
                <a:cs typeface="MiSans" pitchFamily="34" charset="-120"/>
              </a:rPr>
              <a:t> 对消息的长期存储支持不足，不适合作为数据 backbone</a:t>
            </a:r>
            <a:endParaRPr lang="en-US" sz="1600" dirty="0"/>
          </a:p>
        </p:txBody>
      </p:sp>
      <p:sp>
        <p:nvSpPr>
          <p:cNvPr id="20" name="Text 18"/>
          <p:cNvSpPr/>
          <p:nvPr/>
        </p:nvSpPr>
        <p:spPr>
          <a:xfrm>
            <a:off x="7983534" y="3775080"/>
            <a:ext cx="7581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扩展性挑战:</a:t>
            </a:r>
            <a:r>
              <a:rPr lang="en-US" sz="1400" dirty="0">
                <a:solidFill>
                  <a:srgbClr val="E2E8F0"/>
                </a:solidFill>
                <a:latin typeface="MiSans" pitchFamily="34" charset="0"/>
                <a:ea typeface="MiSans" pitchFamily="34" charset="-122"/>
                <a:cs typeface="MiSans" pitchFamily="34" charset="-120"/>
              </a:rPr>
              <a:t> 集群扩展复杂，难以实现真正的水平扩展</a:t>
            </a:r>
            <a:endParaRPr lang="en-US" sz="1600" dirty="0"/>
          </a:p>
        </p:txBody>
      </p:sp>
      <p:sp>
        <p:nvSpPr>
          <p:cNvPr id="21" name="Text 19"/>
          <p:cNvSpPr/>
          <p:nvPr/>
        </p:nvSpPr>
        <p:spPr>
          <a:xfrm>
            <a:off x="7983534" y="4130680"/>
            <a:ext cx="7581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生态系统薄弱:</a:t>
            </a:r>
            <a:r>
              <a:rPr lang="en-US" sz="1400" dirty="0">
                <a:solidFill>
                  <a:srgbClr val="E2E8F0"/>
                </a:solidFill>
                <a:latin typeface="MiSans" pitchFamily="34" charset="0"/>
                <a:ea typeface="MiSans" pitchFamily="34" charset="-122"/>
                <a:cs typeface="MiSans" pitchFamily="34" charset="-120"/>
              </a:rPr>
              <a:t> 缺乏与大数据生态系统的深度集成</a:t>
            </a:r>
            <a:endParaRPr lang="en-US" sz="1600" dirty="0"/>
          </a:p>
        </p:txBody>
      </p:sp>
      <p:sp>
        <p:nvSpPr>
          <p:cNvPr id="22" name="Shape 20"/>
          <p:cNvSpPr/>
          <p:nvPr/>
        </p:nvSpPr>
        <p:spPr>
          <a:xfrm>
            <a:off x="8008934" y="4638680"/>
            <a:ext cx="50800" cy="1016000"/>
          </a:xfrm>
          <a:custGeom>
            <a:avLst/>
            <a:gdLst/>
            <a:ahLst/>
            <a:cxnLst/>
            <a:rect l="l" t="t" r="r" b="b"/>
            <a:pathLst>
              <a:path w="50800" h="1016000">
                <a:moveTo>
                  <a:pt x="0" y="0"/>
                </a:moveTo>
                <a:lnTo>
                  <a:pt x="50800" y="0"/>
                </a:lnTo>
                <a:lnTo>
                  <a:pt x="50800" y="1016000"/>
                </a:lnTo>
                <a:lnTo>
                  <a:pt x="0" y="1016000"/>
                </a:lnTo>
                <a:lnTo>
                  <a:pt x="0" y="0"/>
                </a:lnTo>
                <a:close/>
              </a:path>
            </a:pathLst>
          </a:custGeom>
          <a:solidFill>
            <a:srgbClr val="D69E2E"/>
          </a:solidFill>
          <a:ln/>
        </p:spPr>
        <p:txBody>
          <a:bodyPr/>
          <a:lstStyle/>
          <a:p>
            <a:endParaRPr lang="zh-CN" altLang="en-US"/>
          </a:p>
        </p:txBody>
      </p:sp>
      <p:sp>
        <p:nvSpPr>
          <p:cNvPr id="23" name="Text 21"/>
          <p:cNvSpPr/>
          <p:nvPr/>
        </p:nvSpPr>
        <p:spPr>
          <a:xfrm>
            <a:off x="8288334" y="4638680"/>
            <a:ext cx="72771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技术演进</a:t>
            </a:r>
            <a:endParaRPr lang="en-US" sz="1600" dirty="0"/>
          </a:p>
        </p:txBody>
      </p:sp>
      <p:sp>
        <p:nvSpPr>
          <p:cNvPr id="24" name="Text 22"/>
          <p:cNvSpPr/>
          <p:nvPr/>
        </p:nvSpPr>
        <p:spPr>
          <a:xfrm>
            <a:off x="8288334" y="4994280"/>
            <a:ext cx="7916866" cy="660400"/>
          </a:xfrm>
          <a:prstGeom prst="rect">
            <a:avLst/>
          </a:prstGeom>
          <a:noFill/>
          <a:ln/>
        </p:spPr>
        <p:txBody>
          <a:bodyPr wrap="square" lIns="0" tIns="0" rIns="0" bIns="0" rtlCol="0" anchor="ctr"/>
          <a:lstStyle/>
          <a:p>
            <a:pPr>
              <a:lnSpc>
                <a:spcPct val="140000"/>
              </a:lnSpc>
            </a:pPr>
            <a:r>
              <a:rPr lang="en-US" sz="1600" dirty="0">
                <a:solidFill>
                  <a:srgbClr val="E2E8F0"/>
                </a:solidFill>
                <a:latin typeface="MiSans" pitchFamily="34" charset="0"/>
                <a:ea typeface="MiSans" pitchFamily="34" charset="-122"/>
                <a:cs typeface="MiSans" pitchFamily="34" charset="-120"/>
              </a:rPr>
              <a:t>正是这些挑战催生了 Kafka 的诞生——一个专门为大数据场景设计的分布式消息系统。</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99033" y="499033"/>
            <a:ext cx="15357741" cy="299420"/>
          </a:xfrm>
          <a:prstGeom prst="rect">
            <a:avLst/>
          </a:prstGeom>
          <a:noFill/>
          <a:ln/>
        </p:spPr>
        <p:txBody>
          <a:bodyPr wrap="square" lIns="0" tIns="0" rIns="0" bIns="0" rtlCol="0" anchor="ctr"/>
          <a:lstStyle/>
          <a:p>
            <a:pPr>
              <a:lnSpc>
                <a:spcPct val="130000"/>
              </a:lnSpc>
            </a:pPr>
            <a:r>
              <a:rPr lang="en-US" sz="1572" b="1" kern="0" spc="79" dirty="0">
                <a:solidFill>
                  <a:srgbClr val="D69E2E"/>
                </a:solidFill>
                <a:latin typeface="MiSans" pitchFamily="34" charset="0"/>
                <a:ea typeface="MiSans" pitchFamily="34" charset="-122"/>
                <a:cs typeface="MiSans" pitchFamily="34" charset="-120"/>
              </a:rPr>
              <a:t>1.2 KAFKA 简介</a:t>
            </a:r>
            <a:endParaRPr lang="en-US" sz="1600" dirty="0"/>
          </a:p>
        </p:txBody>
      </p:sp>
      <p:sp>
        <p:nvSpPr>
          <p:cNvPr id="3" name="Text 1"/>
          <p:cNvSpPr/>
          <p:nvPr/>
        </p:nvSpPr>
        <p:spPr>
          <a:xfrm>
            <a:off x="499033" y="898259"/>
            <a:ext cx="15482499" cy="499033"/>
          </a:xfrm>
          <a:prstGeom prst="rect">
            <a:avLst/>
          </a:prstGeom>
          <a:noFill/>
          <a:ln/>
        </p:spPr>
        <p:txBody>
          <a:bodyPr wrap="square" lIns="0" tIns="0" rIns="0" bIns="0" rtlCol="0" anchor="ctr"/>
          <a:lstStyle/>
          <a:p>
            <a:pPr>
              <a:lnSpc>
                <a:spcPct val="90000"/>
              </a:lnSpc>
            </a:pPr>
            <a:r>
              <a:rPr lang="en-US" sz="3536" b="1" dirty="0">
                <a:solidFill>
                  <a:srgbClr val="E2E8F0"/>
                </a:solidFill>
                <a:latin typeface="MiSans" pitchFamily="34" charset="0"/>
                <a:ea typeface="MiSans" pitchFamily="34" charset="-122"/>
                <a:cs typeface="MiSans" pitchFamily="34" charset="-120"/>
              </a:rPr>
              <a:t>Kafka 简介与发展历程</a:t>
            </a:r>
            <a:endParaRPr lang="en-US" sz="1600" dirty="0"/>
          </a:p>
        </p:txBody>
      </p:sp>
      <p:sp>
        <p:nvSpPr>
          <p:cNvPr id="4" name="Text 2"/>
          <p:cNvSpPr/>
          <p:nvPr/>
        </p:nvSpPr>
        <p:spPr>
          <a:xfrm>
            <a:off x="499033" y="1696712"/>
            <a:ext cx="7585302" cy="399226"/>
          </a:xfrm>
          <a:prstGeom prst="rect">
            <a:avLst/>
          </a:prstGeom>
          <a:noFill/>
          <a:ln/>
        </p:spPr>
        <p:txBody>
          <a:bodyPr wrap="square" lIns="0" tIns="0" rIns="0" bIns="0" rtlCol="0" anchor="ctr"/>
          <a:lstStyle/>
          <a:p>
            <a:pPr>
              <a:lnSpc>
                <a:spcPct val="110000"/>
              </a:lnSpc>
            </a:pPr>
            <a:r>
              <a:rPr lang="en-US" sz="2358" b="1" dirty="0">
                <a:solidFill>
                  <a:srgbClr val="D69E2E"/>
                </a:solidFill>
                <a:latin typeface="MiSans" pitchFamily="34" charset="0"/>
                <a:ea typeface="MiSans" pitchFamily="34" charset="-122"/>
                <a:cs typeface="MiSans" pitchFamily="34" charset="-120"/>
              </a:rPr>
              <a:t>发展历程</a:t>
            </a:r>
            <a:endParaRPr lang="en-US" sz="1600" dirty="0"/>
          </a:p>
        </p:txBody>
      </p:sp>
      <p:sp>
        <p:nvSpPr>
          <p:cNvPr id="5" name="Text 3"/>
          <p:cNvSpPr/>
          <p:nvPr/>
        </p:nvSpPr>
        <p:spPr>
          <a:xfrm>
            <a:off x="499033" y="2295552"/>
            <a:ext cx="7535398" cy="973114"/>
          </a:xfrm>
          <a:prstGeom prst="rect">
            <a:avLst/>
          </a:prstGeom>
          <a:noFill/>
          <a:ln/>
        </p:spPr>
        <p:txBody>
          <a:bodyPr wrap="square" lIns="0" tIns="0" rIns="0" bIns="0" rtlCol="0" anchor="ctr"/>
          <a:lstStyle/>
          <a:p>
            <a:pPr>
              <a:lnSpc>
                <a:spcPct val="140000"/>
              </a:lnSpc>
            </a:pPr>
            <a:r>
              <a:rPr lang="en-US" sz="1572" dirty="0">
                <a:solidFill>
                  <a:srgbClr val="E2E8F0">
                    <a:alpha val="90000"/>
                  </a:srgbClr>
                </a:solidFill>
                <a:latin typeface="MiSans" pitchFamily="34" charset="0"/>
                <a:ea typeface="MiSans" pitchFamily="34" charset="-122"/>
                <a:cs typeface="MiSans" pitchFamily="34" charset="-120"/>
              </a:rPr>
              <a:t>Apache Kafka 最初由 </a:t>
            </a:r>
            <a:r>
              <a:rPr lang="en-US" sz="1572" b="1" dirty="0">
                <a:solidFill>
                  <a:srgbClr val="D69E2E"/>
                </a:solidFill>
                <a:latin typeface="MiSans" pitchFamily="34" charset="0"/>
                <a:ea typeface="MiSans" pitchFamily="34" charset="-122"/>
                <a:cs typeface="MiSans" pitchFamily="34" charset="-120"/>
              </a:rPr>
              <a:t>LinkedIn 公司</a:t>
            </a:r>
            <a:r>
              <a:rPr lang="en-US" sz="1572" dirty="0">
                <a:solidFill>
                  <a:srgbClr val="E2E8F0">
                    <a:alpha val="90000"/>
                  </a:srgbClr>
                </a:solidFill>
                <a:latin typeface="MiSans" pitchFamily="34" charset="0"/>
                <a:ea typeface="MiSans" pitchFamily="34" charset="-122"/>
                <a:cs typeface="MiSans" pitchFamily="34" charset="-120"/>
              </a:rPr>
              <a:t> 开发，于 </a:t>
            </a:r>
            <a:r>
              <a:rPr lang="en-US" sz="1572" b="1" dirty="0">
                <a:solidFill>
                  <a:srgbClr val="D69E2E"/>
                </a:solidFill>
                <a:latin typeface="MiSans" pitchFamily="34" charset="0"/>
                <a:ea typeface="MiSans" pitchFamily="34" charset="-122"/>
                <a:cs typeface="MiSans" pitchFamily="34" charset="-120"/>
              </a:rPr>
              <a:t>2011 年</a:t>
            </a:r>
            <a:r>
              <a:rPr lang="en-US" sz="1572" dirty="0">
                <a:solidFill>
                  <a:srgbClr val="E2E8F0">
                    <a:alpha val="90000"/>
                  </a:srgbClr>
                </a:solidFill>
                <a:latin typeface="MiSans" pitchFamily="34" charset="0"/>
                <a:ea typeface="MiSans" pitchFamily="34" charset="-122"/>
                <a:cs typeface="MiSans" pitchFamily="34" charset="-120"/>
              </a:rPr>
              <a:t> 开源，</a:t>
            </a:r>
            <a:r>
              <a:rPr lang="en-US" sz="1572" b="1" dirty="0">
                <a:solidFill>
                  <a:srgbClr val="D69E2E"/>
                </a:solidFill>
                <a:latin typeface="MiSans" pitchFamily="34" charset="0"/>
                <a:ea typeface="MiSans" pitchFamily="34" charset="-122"/>
                <a:cs typeface="MiSans" pitchFamily="34" charset="-120"/>
              </a:rPr>
              <a:t>2012 年</a:t>
            </a:r>
            <a:r>
              <a:rPr lang="en-US" sz="1572" dirty="0">
                <a:solidFill>
                  <a:srgbClr val="E2E8F0">
                    <a:alpha val="90000"/>
                  </a:srgbClr>
                </a:solidFill>
                <a:latin typeface="MiSans" pitchFamily="34" charset="0"/>
                <a:ea typeface="MiSans" pitchFamily="34" charset="-122"/>
                <a:cs typeface="MiSans" pitchFamily="34" charset="-120"/>
              </a:rPr>
              <a:t> 成为 Apache 孵化器项目，</a:t>
            </a:r>
            <a:r>
              <a:rPr lang="en-US" sz="1572" b="1" dirty="0">
                <a:solidFill>
                  <a:srgbClr val="D69E2E"/>
                </a:solidFill>
                <a:latin typeface="MiSans" pitchFamily="34" charset="0"/>
                <a:ea typeface="MiSans" pitchFamily="34" charset="-122"/>
                <a:cs typeface="MiSans" pitchFamily="34" charset="-120"/>
              </a:rPr>
              <a:t>2014 年</a:t>
            </a:r>
            <a:r>
              <a:rPr lang="en-US" sz="1572" dirty="0">
                <a:solidFill>
                  <a:srgbClr val="E2E8F0">
                    <a:alpha val="90000"/>
                  </a:srgbClr>
                </a:solidFill>
                <a:latin typeface="MiSans" pitchFamily="34" charset="0"/>
                <a:ea typeface="MiSans" pitchFamily="34" charset="-122"/>
                <a:cs typeface="MiSans" pitchFamily="34" charset="-120"/>
              </a:rPr>
              <a:t> 正式成为 Apache 顶级项目。Kafka 的设计目标是解决传统消息队列在大规模实时数据处理方面的性能瓶颈和可靠性问题。</a:t>
            </a:r>
            <a:endParaRPr lang="en-US" sz="1600" dirty="0"/>
          </a:p>
        </p:txBody>
      </p:sp>
      <p:grpSp>
        <p:nvGrpSpPr>
          <p:cNvPr id="54" name="组合 53">
            <a:extLst>
              <a:ext uri="{FF2B5EF4-FFF2-40B4-BE49-F238E27FC236}">
                <a16:creationId xmlns:a16="http://schemas.microsoft.com/office/drawing/2014/main" id="{CD677637-64F8-1B75-175E-D1ED122250A2}"/>
              </a:ext>
            </a:extLst>
          </p:cNvPr>
          <p:cNvGrpSpPr/>
          <p:nvPr/>
        </p:nvGrpSpPr>
        <p:grpSpPr>
          <a:xfrm>
            <a:off x="517066" y="7500213"/>
            <a:ext cx="7410640" cy="1147776"/>
            <a:chOff x="523985" y="5068109"/>
            <a:chExt cx="7410640" cy="1147776"/>
          </a:xfrm>
        </p:grpSpPr>
        <p:sp>
          <p:nvSpPr>
            <p:cNvPr id="6" name="Shape 4"/>
            <p:cNvSpPr/>
            <p:nvPr/>
          </p:nvSpPr>
          <p:spPr>
            <a:xfrm>
              <a:off x="523985" y="5068109"/>
              <a:ext cx="7410640" cy="1147776"/>
            </a:xfrm>
            <a:custGeom>
              <a:avLst/>
              <a:gdLst/>
              <a:ahLst/>
              <a:cxnLst/>
              <a:rect l="l" t="t" r="r" b="b"/>
              <a:pathLst>
                <a:path w="7410640" h="1147776">
                  <a:moveTo>
                    <a:pt x="49903" y="0"/>
                  </a:moveTo>
                  <a:lnTo>
                    <a:pt x="7310829" y="0"/>
                  </a:lnTo>
                  <a:cubicBezTo>
                    <a:pt x="7365953" y="0"/>
                    <a:pt x="7410640" y="44687"/>
                    <a:pt x="7410640" y="99811"/>
                  </a:cubicBezTo>
                  <a:lnTo>
                    <a:pt x="7410640" y="1047965"/>
                  </a:lnTo>
                  <a:cubicBezTo>
                    <a:pt x="7410640" y="1103089"/>
                    <a:pt x="7365953" y="1147776"/>
                    <a:pt x="7310829" y="1147776"/>
                  </a:cubicBezTo>
                  <a:lnTo>
                    <a:pt x="49903" y="1147776"/>
                  </a:lnTo>
                  <a:cubicBezTo>
                    <a:pt x="22342" y="1147776"/>
                    <a:pt x="0" y="1125433"/>
                    <a:pt x="0" y="1097873"/>
                  </a:cubicBezTo>
                  <a:lnTo>
                    <a:pt x="0" y="49903"/>
                  </a:lnTo>
                  <a:cubicBezTo>
                    <a:pt x="0" y="22361"/>
                    <a:pt x="22361" y="0"/>
                    <a:pt x="49903" y="0"/>
                  </a:cubicBezTo>
                  <a:close/>
                </a:path>
              </a:pathLst>
            </a:custGeom>
            <a:solidFill>
              <a:srgbClr val="4A5568">
                <a:alpha val="20000"/>
              </a:srgbClr>
            </a:solidFill>
            <a:ln/>
          </p:spPr>
          <p:txBody>
            <a:bodyPr/>
            <a:lstStyle/>
            <a:p>
              <a:endParaRPr lang="zh-CN" altLang="en-US"/>
            </a:p>
          </p:txBody>
        </p:sp>
        <p:sp>
          <p:nvSpPr>
            <p:cNvPr id="7" name="Shape 5"/>
            <p:cNvSpPr/>
            <p:nvPr/>
          </p:nvSpPr>
          <p:spPr>
            <a:xfrm>
              <a:off x="523985" y="5068109"/>
              <a:ext cx="49903" cy="1147776"/>
            </a:xfrm>
            <a:custGeom>
              <a:avLst/>
              <a:gdLst/>
              <a:ahLst/>
              <a:cxnLst/>
              <a:rect l="l" t="t" r="r" b="b"/>
              <a:pathLst>
                <a:path w="49903" h="1147776">
                  <a:moveTo>
                    <a:pt x="49903" y="0"/>
                  </a:moveTo>
                  <a:lnTo>
                    <a:pt x="49903" y="0"/>
                  </a:lnTo>
                  <a:lnTo>
                    <a:pt x="49903" y="1147776"/>
                  </a:lnTo>
                  <a:lnTo>
                    <a:pt x="49903" y="1147776"/>
                  </a:lnTo>
                  <a:cubicBezTo>
                    <a:pt x="22342" y="1147776"/>
                    <a:pt x="0" y="1125433"/>
                    <a:pt x="0" y="1097873"/>
                  </a:cubicBezTo>
                  <a:lnTo>
                    <a:pt x="0" y="49903"/>
                  </a:lnTo>
                  <a:cubicBezTo>
                    <a:pt x="0" y="22361"/>
                    <a:pt x="22361" y="0"/>
                    <a:pt x="49903" y="0"/>
                  </a:cubicBezTo>
                  <a:close/>
                </a:path>
              </a:pathLst>
            </a:custGeom>
            <a:solidFill>
              <a:srgbClr val="D69E2E"/>
            </a:solidFill>
            <a:ln/>
          </p:spPr>
          <p:txBody>
            <a:bodyPr/>
            <a:lstStyle/>
            <a:p>
              <a:endParaRPr lang="zh-CN" altLang="en-US"/>
            </a:p>
          </p:txBody>
        </p:sp>
        <p:sp>
          <p:nvSpPr>
            <p:cNvPr id="8" name="Text 6"/>
            <p:cNvSpPr/>
            <p:nvPr/>
          </p:nvSpPr>
          <p:spPr>
            <a:xfrm>
              <a:off x="748550" y="5267722"/>
              <a:ext cx="1085397" cy="349323"/>
            </a:xfrm>
            <a:prstGeom prst="rect">
              <a:avLst/>
            </a:prstGeom>
            <a:noFill/>
            <a:ln/>
          </p:spPr>
          <p:txBody>
            <a:bodyPr wrap="square" lIns="0" tIns="0" rIns="0" bIns="0" rtlCol="0" anchor="ctr"/>
            <a:lstStyle/>
            <a:p>
              <a:pPr>
                <a:lnSpc>
                  <a:spcPct val="130000"/>
                </a:lnSpc>
              </a:pPr>
              <a:r>
                <a:rPr lang="en-US" sz="1768" b="1" dirty="0">
                  <a:solidFill>
                    <a:srgbClr val="D69E2E"/>
                  </a:solidFill>
                  <a:latin typeface="MiSans" pitchFamily="34" charset="0"/>
                  <a:ea typeface="MiSans" pitchFamily="34" charset="-122"/>
                  <a:cs typeface="MiSans" pitchFamily="34" charset="-120"/>
                </a:rPr>
                <a:t>Kafka 3.0</a:t>
              </a:r>
              <a:endParaRPr lang="en-US" sz="1600" dirty="0"/>
            </a:p>
          </p:txBody>
        </p:sp>
        <p:sp>
          <p:nvSpPr>
            <p:cNvPr id="9" name="Text 7"/>
            <p:cNvSpPr/>
            <p:nvPr/>
          </p:nvSpPr>
          <p:spPr>
            <a:xfrm>
              <a:off x="7095528" y="5317625"/>
              <a:ext cx="723598" cy="249517"/>
            </a:xfrm>
            <a:prstGeom prst="rect">
              <a:avLst/>
            </a:prstGeom>
            <a:noFill/>
            <a:ln/>
          </p:spPr>
          <p:txBody>
            <a:bodyPr wrap="square" lIns="0" tIns="0" rIns="0" bIns="0" rtlCol="0" anchor="ctr"/>
            <a:lstStyle/>
            <a:p>
              <a:pPr>
                <a:lnSpc>
                  <a:spcPct val="120000"/>
                </a:lnSpc>
              </a:pPr>
              <a:r>
                <a:rPr lang="en-US" sz="1375" dirty="0">
                  <a:solidFill>
                    <a:srgbClr val="718096"/>
                  </a:solidFill>
                  <a:latin typeface="MiSans" pitchFamily="34" charset="0"/>
                  <a:ea typeface="MiSans" pitchFamily="34" charset="-122"/>
                  <a:cs typeface="MiSans" pitchFamily="34" charset="-120"/>
                </a:rPr>
                <a:t>2021.09</a:t>
              </a:r>
              <a:endParaRPr lang="en-US" sz="1600" dirty="0"/>
            </a:p>
          </p:txBody>
        </p:sp>
        <p:sp>
          <p:nvSpPr>
            <p:cNvPr id="10" name="Text 8"/>
            <p:cNvSpPr/>
            <p:nvPr/>
          </p:nvSpPr>
          <p:spPr>
            <a:xfrm>
              <a:off x="748550" y="5716852"/>
              <a:ext cx="7086269" cy="299420"/>
            </a:xfrm>
            <a:prstGeom prst="rect">
              <a:avLst/>
            </a:prstGeom>
            <a:noFill/>
            <a:ln/>
          </p:spPr>
          <p:txBody>
            <a:bodyPr wrap="square" lIns="0" tIns="0" rIns="0" bIns="0" rtlCol="0" anchor="ctr"/>
            <a:lstStyle/>
            <a:p>
              <a:pPr>
                <a:lnSpc>
                  <a:spcPct val="130000"/>
                </a:lnSpc>
              </a:pPr>
              <a:r>
                <a:rPr lang="en-US" sz="1572" dirty="0">
                  <a:solidFill>
                    <a:srgbClr val="E2E8F0">
                      <a:alpha val="80000"/>
                    </a:srgbClr>
                  </a:solidFill>
                  <a:latin typeface="MiSans" pitchFamily="34" charset="0"/>
                  <a:ea typeface="MiSans" pitchFamily="34" charset="-122"/>
                  <a:cs typeface="MiSans" pitchFamily="34" charset="-120"/>
                </a:rPr>
                <a:t>KRaft 模式 (无需 ZooKeeper) - 架构革命性变革</a:t>
              </a:r>
              <a:endParaRPr lang="en-US" sz="1600" dirty="0"/>
            </a:p>
          </p:txBody>
        </p:sp>
      </p:grpSp>
      <p:grpSp>
        <p:nvGrpSpPr>
          <p:cNvPr id="53" name="组合 52">
            <a:extLst>
              <a:ext uri="{FF2B5EF4-FFF2-40B4-BE49-F238E27FC236}">
                <a16:creationId xmlns:a16="http://schemas.microsoft.com/office/drawing/2014/main" id="{59C22650-3953-7F88-0C33-96CEF37C1222}"/>
              </a:ext>
            </a:extLst>
          </p:cNvPr>
          <p:cNvGrpSpPr/>
          <p:nvPr/>
        </p:nvGrpSpPr>
        <p:grpSpPr>
          <a:xfrm>
            <a:off x="517066" y="4935718"/>
            <a:ext cx="7410640" cy="1147776"/>
            <a:chOff x="523985" y="6365595"/>
            <a:chExt cx="7410640" cy="1147776"/>
          </a:xfrm>
        </p:grpSpPr>
        <p:sp>
          <p:nvSpPr>
            <p:cNvPr id="11" name="Shape 9"/>
            <p:cNvSpPr/>
            <p:nvPr/>
          </p:nvSpPr>
          <p:spPr>
            <a:xfrm>
              <a:off x="523985" y="6365595"/>
              <a:ext cx="7410640" cy="1147776"/>
            </a:xfrm>
            <a:custGeom>
              <a:avLst/>
              <a:gdLst/>
              <a:ahLst/>
              <a:cxnLst/>
              <a:rect l="l" t="t" r="r" b="b"/>
              <a:pathLst>
                <a:path w="7410640" h="1147776">
                  <a:moveTo>
                    <a:pt x="49903" y="0"/>
                  </a:moveTo>
                  <a:lnTo>
                    <a:pt x="7310829" y="0"/>
                  </a:lnTo>
                  <a:cubicBezTo>
                    <a:pt x="7365953" y="0"/>
                    <a:pt x="7410640" y="44687"/>
                    <a:pt x="7410640" y="99811"/>
                  </a:cubicBezTo>
                  <a:lnTo>
                    <a:pt x="7410640" y="1047965"/>
                  </a:lnTo>
                  <a:cubicBezTo>
                    <a:pt x="7410640" y="1103089"/>
                    <a:pt x="7365953" y="1147776"/>
                    <a:pt x="7310829" y="1147776"/>
                  </a:cubicBezTo>
                  <a:lnTo>
                    <a:pt x="49903" y="1147776"/>
                  </a:lnTo>
                  <a:cubicBezTo>
                    <a:pt x="22342" y="1147776"/>
                    <a:pt x="0" y="1125433"/>
                    <a:pt x="0" y="1097873"/>
                  </a:cubicBezTo>
                  <a:lnTo>
                    <a:pt x="0" y="49903"/>
                  </a:lnTo>
                  <a:cubicBezTo>
                    <a:pt x="0" y="22361"/>
                    <a:pt x="22361" y="0"/>
                    <a:pt x="49903" y="0"/>
                  </a:cubicBezTo>
                  <a:close/>
                </a:path>
              </a:pathLst>
            </a:custGeom>
            <a:solidFill>
              <a:srgbClr val="4A5568">
                <a:alpha val="20000"/>
              </a:srgbClr>
            </a:solidFill>
            <a:ln/>
          </p:spPr>
          <p:txBody>
            <a:bodyPr/>
            <a:lstStyle/>
            <a:p>
              <a:endParaRPr lang="zh-CN" altLang="en-US"/>
            </a:p>
          </p:txBody>
        </p:sp>
        <p:sp>
          <p:nvSpPr>
            <p:cNvPr id="12" name="Shape 10"/>
            <p:cNvSpPr/>
            <p:nvPr/>
          </p:nvSpPr>
          <p:spPr>
            <a:xfrm>
              <a:off x="523985" y="6365595"/>
              <a:ext cx="49903" cy="1147776"/>
            </a:xfrm>
            <a:custGeom>
              <a:avLst/>
              <a:gdLst/>
              <a:ahLst/>
              <a:cxnLst/>
              <a:rect l="l" t="t" r="r" b="b"/>
              <a:pathLst>
                <a:path w="49903" h="1147776">
                  <a:moveTo>
                    <a:pt x="49903" y="0"/>
                  </a:moveTo>
                  <a:lnTo>
                    <a:pt x="49903" y="0"/>
                  </a:lnTo>
                  <a:lnTo>
                    <a:pt x="49903" y="1147776"/>
                  </a:lnTo>
                  <a:lnTo>
                    <a:pt x="49903" y="1147776"/>
                  </a:lnTo>
                  <a:cubicBezTo>
                    <a:pt x="22342" y="1147776"/>
                    <a:pt x="0" y="1125433"/>
                    <a:pt x="0" y="1097873"/>
                  </a:cubicBezTo>
                  <a:lnTo>
                    <a:pt x="0" y="49903"/>
                  </a:lnTo>
                  <a:cubicBezTo>
                    <a:pt x="0" y="22361"/>
                    <a:pt x="22361" y="0"/>
                    <a:pt x="49903" y="0"/>
                  </a:cubicBezTo>
                  <a:close/>
                </a:path>
              </a:pathLst>
            </a:custGeom>
            <a:solidFill>
              <a:srgbClr val="718096"/>
            </a:solidFill>
            <a:ln/>
          </p:spPr>
          <p:txBody>
            <a:bodyPr/>
            <a:lstStyle/>
            <a:p>
              <a:endParaRPr lang="zh-CN" altLang="en-US"/>
            </a:p>
          </p:txBody>
        </p:sp>
        <p:sp>
          <p:nvSpPr>
            <p:cNvPr id="13" name="Text 11"/>
            <p:cNvSpPr/>
            <p:nvPr/>
          </p:nvSpPr>
          <p:spPr>
            <a:xfrm>
              <a:off x="748550" y="6565208"/>
              <a:ext cx="1122824" cy="349323"/>
            </a:xfrm>
            <a:prstGeom prst="rect">
              <a:avLst/>
            </a:prstGeom>
            <a:noFill/>
            <a:ln/>
          </p:spPr>
          <p:txBody>
            <a:bodyPr wrap="square" lIns="0" tIns="0" rIns="0" bIns="0" rtlCol="0" anchor="ctr"/>
            <a:lstStyle/>
            <a:p>
              <a:pPr>
                <a:lnSpc>
                  <a:spcPct val="130000"/>
                </a:lnSpc>
              </a:pPr>
              <a:r>
                <a:rPr lang="en-US" sz="1768" b="1" dirty="0">
                  <a:solidFill>
                    <a:srgbClr val="718096"/>
                  </a:solidFill>
                  <a:latin typeface="MiSans" pitchFamily="34" charset="0"/>
                  <a:ea typeface="MiSans" pitchFamily="34" charset="-122"/>
                  <a:cs typeface="MiSans" pitchFamily="34" charset="-120"/>
                </a:rPr>
                <a:t>Kafka 0.11</a:t>
              </a:r>
              <a:endParaRPr lang="en-US" sz="1600" dirty="0"/>
            </a:p>
          </p:txBody>
        </p:sp>
        <p:sp>
          <p:nvSpPr>
            <p:cNvPr id="14" name="Text 12"/>
            <p:cNvSpPr/>
            <p:nvPr/>
          </p:nvSpPr>
          <p:spPr>
            <a:xfrm>
              <a:off x="7102156" y="6615111"/>
              <a:ext cx="711122" cy="249517"/>
            </a:xfrm>
            <a:prstGeom prst="rect">
              <a:avLst/>
            </a:prstGeom>
            <a:noFill/>
            <a:ln/>
          </p:spPr>
          <p:txBody>
            <a:bodyPr wrap="square" lIns="0" tIns="0" rIns="0" bIns="0" rtlCol="0" anchor="ctr"/>
            <a:lstStyle/>
            <a:p>
              <a:pPr>
                <a:lnSpc>
                  <a:spcPct val="120000"/>
                </a:lnSpc>
              </a:pPr>
              <a:r>
                <a:rPr lang="en-US" sz="1375" dirty="0">
                  <a:solidFill>
                    <a:srgbClr val="718096"/>
                  </a:solidFill>
                  <a:latin typeface="MiSans" pitchFamily="34" charset="0"/>
                  <a:ea typeface="MiSans" pitchFamily="34" charset="-122"/>
                  <a:cs typeface="MiSans" pitchFamily="34" charset="-120"/>
                </a:rPr>
                <a:t>2017.06</a:t>
              </a:r>
              <a:endParaRPr lang="en-US" sz="1600" dirty="0"/>
            </a:p>
          </p:txBody>
        </p:sp>
        <p:sp>
          <p:nvSpPr>
            <p:cNvPr id="15" name="Text 13"/>
            <p:cNvSpPr/>
            <p:nvPr/>
          </p:nvSpPr>
          <p:spPr>
            <a:xfrm>
              <a:off x="748550" y="7014338"/>
              <a:ext cx="7086269" cy="299420"/>
            </a:xfrm>
            <a:prstGeom prst="rect">
              <a:avLst/>
            </a:prstGeom>
            <a:noFill/>
            <a:ln/>
          </p:spPr>
          <p:txBody>
            <a:bodyPr wrap="square" lIns="0" tIns="0" rIns="0" bIns="0" rtlCol="0" anchor="ctr"/>
            <a:lstStyle/>
            <a:p>
              <a:pPr>
                <a:lnSpc>
                  <a:spcPct val="130000"/>
                </a:lnSpc>
              </a:pPr>
              <a:r>
                <a:rPr lang="en-US" sz="1572" dirty="0">
                  <a:solidFill>
                    <a:srgbClr val="E2E8F0">
                      <a:alpha val="80000"/>
                    </a:srgbClr>
                  </a:solidFill>
                  <a:latin typeface="MiSans" pitchFamily="34" charset="0"/>
                  <a:ea typeface="MiSans" pitchFamily="34" charset="-122"/>
                  <a:cs typeface="MiSans" pitchFamily="34" charset="-120"/>
                </a:rPr>
                <a:t>事务支持、幂等生产者 - 强一致性保障</a:t>
              </a:r>
              <a:endParaRPr lang="en-US" sz="1600" dirty="0"/>
            </a:p>
          </p:txBody>
        </p:sp>
      </p:grpSp>
      <p:grpSp>
        <p:nvGrpSpPr>
          <p:cNvPr id="52" name="组合 51">
            <a:extLst>
              <a:ext uri="{FF2B5EF4-FFF2-40B4-BE49-F238E27FC236}">
                <a16:creationId xmlns:a16="http://schemas.microsoft.com/office/drawing/2014/main" id="{6A1797A4-D633-28E4-C9A9-623DC1509022}"/>
              </a:ext>
            </a:extLst>
          </p:cNvPr>
          <p:cNvGrpSpPr/>
          <p:nvPr/>
        </p:nvGrpSpPr>
        <p:grpSpPr>
          <a:xfrm>
            <a:off x="523985" y="3592160"/>
            <a:ext cx="7410640" cy="1147776"/>
            <a:chOff x="523985" y="7663081"/>
            <a:chExt cx="7410640" cy="1147776"/>
          </a:xfrm>
        </p:grpSpPr>
        <p:sp>
          <p:nvSpPr>
            <p:cNvPr id="16" name="Shape 14"/>
            <p:cNvSpPr/>
            <p:nvPr/>
          </p:nvSpPr>
          <p:spPr>
            <a:xfrm>
              <a:off x="523985" y="7663081"/>
              <a:ext cx="7410640" cy="1147776"/>
            </a:xfrm>
            <a:custGeom>
              <a:avLst/>
              <a:gdLst/>
              <a:ahLst/>
              <a:cxnLst/>
              <a:rect l="l" t="t" r="r" b="b"/>
              <a:pathLst>
                <a:path w="7410640" h="1147776">
                  <a:moveTo>
                    <a:pt x="49903" y="0"/>
                  </a:moveTo>
                  <a:lnTo>
                    <a:pt x="7310829" y="0"/>
                  </a:lnTo>
                  <a:cubicBezTo>
                    <a:pt x="7365953" y="0"/>
                    <a:pt x="7410640" y="44687"/>
                    <a:pt x="7410640" y="99811"/>
                  </a:cubicBezTo>
                  <a:lnTo>
                    <a:pt x="7410640" y="1047965"/>
                  </a:lnTo>
                  <a:cubicBezTo>
                    <a:pt x="7410640" y="1103089"/>
                    <a:pt x="7365953" y="1147776"/>
                    <a:pt x="7310829" y="1147776"/>
                  </a:cubicBezTo>
                  <a:lnTo>
                    <a:pt x="49903" y="1147776"/>
                  </a:lnTo>
                  <a:cubicBezTo>
                    <a:pt x="22342" y="1147776"/>
                    <a:pt x="0" y="1125433"/>
                    <a:pt x="0" y="1097873"/>
                  </a:cubicBezTo>
                  <a:lnTo>
                    <a:pt x="0" y="49903"/>
                  </a:lnTo>
                  <a:cubicBezTo>
                    <a:pt x="0" y="22361"/>
                    <a:pt x="22361" y="0"/>
                    <a:pt x="49903" y="0"/>
                  </a:cubicBezTo>
                  <a:close/>
                </a:path>
              </a:pathLst>
            </a:custGeom>
            <a:solidFill>
              <a:srgbClr val="4A5568">
                <a:alpha val="20000"/>
              </a:srgbClr>
            </a:solidFill>
            <a:ln/>
          </p:spPr>
          <p:txBody>
            <a:bodyPr/>
            <a:lstStyle/>
            <a:p>
              <a:endParaRPr lang="zh-CN" altLang="en-US"/>
            </a:p>
          </p:txBody>
        </p:sp>
        <p:sp>
          <p:nvSpPr>
            <p:cNvPr id="17" name="Shape 15"/>
            <p:cNvSpPr/>
            <p:nvPr/>
          </p:nvSpPr>
          <p:spPr>
            <a:xfrm>
              <a:off x="523985" y="7663081"/>
              <a:ext cx="49903" cy="1147776"/>
            </a:xfrm>
            <a:custGeom>
              <a:avLst/>
              <a:gdLst/>
              <a:ahLst/>
              <a:cxnLst/>
              <a:rect l="l" t="t" r="r" b="b"/>
              <a:pathLst>
                <a:path w="49903" h="1147776">
                  <a:moveTo>
                    <a:pt x="49903" y="0"/>
                  </a:moveTo>
                  <a:lnTo>
                    <a:pt x="49903" y="0"/>
                  </a:lnTo>
                  <a:lnTo>
                    <a:pt x="49903" y="1147776"/>
                  </a:lnTo>
                  <a:lnTo>
                    <a:pt x="49903" y="1147776"/>
                  </a:lnTo>
                  <a:cubicBezTo>
                    <a:pt x="22342" y="1147776"/>
                    <a:pt x="0" y="1125433"/>
                    <a:pt x="0" y="1097873"/>
                  </a:cubicBezTo>
                  <a:lnTo>
                    <a:pt x="0" y="49903"/>
                  </a:lnTo>
                  <a:cubicBezTo>
                    <a:pt x="0" y="22361"/>
                    <a:pt x="22361" y="0"/>
                    <a:pt x="49903" y="0"/>
                  </a:cubicBezTo>
                  <a:close/>
                </a:path>
              </a:pathLst>
            </a:custGeom>
            <a:solidFill>
              <a:srgbClr val="718096"/>
            </a:solidFill>
            <a:ln/>
          </p:spPr>
          <p:txBody>
            <a:bodyPr/>
            <a:lstStyle/>
            <a:p>
              <a:endParaRPr lang="zh-CN" altLang="en-US"/>
            </a:p>
          </p:txBody>
        </p:sp>
        <p:sp>
          <p:nvSpPr>
            <p:cNvPr id="18" name="Text 16"/>
            <p:cNvSpPr/>
            <p:nvPr/>
          </p:nvSpPr>
          <p:spPr>
            <a:xfrm>
              <a:off x="748550" y="7862694"/>
              <a:ext cx="1185203" cy="349323"/>
            </a:xfrm>
            <a:prstGeom prst="rect">
              <a:avLst/>
            </a:prstGeom>
            <a:noFill/>
            <a:ln/>
          </p:spPr>
          <p:txBody>
            <a:bodyPr wrap="square" lIns="0" tIns="0" rIns="0" bIns="0" rtlCol="0" anchor="ctr"/>
            <a:lstStyle/>
            <a:p>
              <a:pPr>
                <a:lnSpc>
                  <a:spcPct val="130000"/>
                </a:lnSpc>
              </a:pPr>
              <a:r>
                <a:rPr lang="en-US" sz="1768" b="1" dirty="0">
                  <a:solidFill>
                    <a:srgbClr val="718096"/>
                  </a:solidFill>
                  <a:latin typeface="MiSans" pitchFamily="34" charset="0"/>
                  <a:ea typeface="MiSans" pitchFamily="34" charset="-122"/>
                  <a:cs typeface="MiSans" pitchFamily="34" charset="-120"/>
                </a:rPr>
                <a:t>Kafka 0.10</a:t>
              </a:r>
              <a:endParaRPr lang="en-US" sz="1600" dirty="0"/>
            </a:p>
          </p:txBody>
        </p:sp>
        <p:sp>
          <p:nvSpPr>
            <p:cNvPr id="19" name="Text 17"/>
            <p:cNvSpPr/>
            <p:nvPr/>
          </p:nvSpPr>
          <p:spPr>
            <a:xfrm>
              <a:off x="7088413" y="7912597"/>
              <a:ext cx="723598" cy="249517"/>
            </a:xfrm>
            <a:prstGeom prst="rect">
              <a:avLst/>
            </a:prstGeom>
            <a:noFill/>
            <a:ln/>
          </p:spPr>
          <p:txBody>
            <a:bodyPr wrap="square" lIns="0" tIns="0" rIns="0" bIns="0" rtlCol="0" anchor="ctr"/>
            <a:lstStyle/>
            <a:p>
              <a:pPr>
                <a:lnSpc>
                  <a:spcPct val="120000"/>
                </a:lnSpc>
              </a:pPr>
              <a:r>
                <a:rPr lang="en-US" sz="1375" dirty="0">
                  <a:solidFill>
                    <a:srgbClr val="718096"/>
                  </a:solidFill>
                  <a:latin typeface="MiSans" pitchFamily="34" charset="0"/>
                  <a:ea typeface="MiSans" pitchFamily="34" charset="-122"/>
                  <a:cs typeface="MiSans" pitchFamily="34" charset="-120"/>
                </a:rPr>
                <a:t>2016.05</a:t>
              </a:r>
              <a:endParaRPr lang="en-US" sz="1600" dirty="0"/>
            </a:p>
          </p:txBody>
        </p:sp>
        <p:sp>
          <p:nvSpPr>
            <p:cNvPr id="20" name="Text 18"/>
            <p:cNvSpPr/>
            <p:nvPr/>
          </p:nvSpPr>
          <p:spPr>
            <a:xfrm>
              <a:off x="748550" y="8311823"/>
              <a:ext cx="7086269" cy="299420"/>
            </a:xfrm>
            <a:prstGeom prst="rect">
              <a:avLst/>
            </a:prstGeom>
            <a:noFill/>
            <a:ln/>
          </p:spPr>
          <p:txBody>
            <a:bodyPr wrap="square" lIns="0" tIns="0" rIns="0" bIns="0" rtlCol="0" anchor="ctr"/>
            <a:lstStyle/>
            <a:p>
              <a:pPr>
                <a:lnSpc>
                  <a:spcPct val="130000"/>
                </a:lnSpc>
              </a:pPr>
              <a:r>
                <a:rPr lang="en-US" sz="1572" dirty="0">
                  <a:solidFill>
                    <a:srgbClr val="E2E8F0">
                      <a:alpha val="80000"/>
                    </a:srgbClr>
                  </a:solidFill>
                  <a:latin typeface="MiSans" pitchFamily="34" charset="0"/>
                  <a:ea typeface="MiSans" pitchFamily="34" charset="-122"/>
                  <a:cs typeface="MiSans" pitchFamily="34" charset="-120"/>
                </a:rPr>
                <a:t>Kafka Streams、Exactly-Once 语义 - 流处理能力引入</a:t>
              </a:r>
              <a:endParaRPr lang="en-US" sz="1600" dirty="0"/>
            </a:p>
          </p:txBody>
        </p:sp>
      </p:grpSp>
      <p:sp>
        <p:nvSpPr>
          <p:cNvPr id="21" name="Text 19"/>
          <p:cNvSpPr/>
          <p:nvPr/>
        </p:nvSpPr>
        <p:spPr>
          <a:xfrm>
            <a:off x="8328295" y="1696712"/>
            <a:ext cx="7585302" cy="399226"/>
          </a:xfrm>
          <a:prstGeom prst="rect">
            <a:avLst/>
          </a:prstGeom>
          <a:noFill/>
          <a:ln/>
        </p:spPr>
        <p:txBody>
          <a:bodyPr wrap="square" lIns="0" tIns="0" rIns="0" bIns="0" rtlCol="0" anchor="ctr"/>
          <a:lstStyle/>
          <a:p>
            <a:pPr>
              <a:lnSpc>
                <a:spcPct val="110000"/>
              </a:lnSpc>
            </a:pPr>
            <a:r>
              <a:rPr lang="en-US" sz="2358" b="1" dirty="0">
                <a:solidFill>
                  <a:srgbClr val="D69E2E"/>
                </a:solidFill>
                <a:latin typeface="MiSans" pitchFamily="34" charset="0"/>
                <a:ea typeface="MiSans" pitchFamily="34" charset="-122"/>
                <a:cs typeface="MiSans" pitchFamily="34" charset="-120"/>
              </a:rPr>
              <a:t>核心设计目标</a:t>
            </a:r>
            <a:endParaRPr lang="en-US" sz="1600" dirty="0"/>
          </a:p>
        </p:txBody>
      </p:sp>
      <p:sp>
        <p:nvSpPr>
          <p:cNvPr id="22" name="Shape 20"/>
          <p:cNvSpPr/>
          <p:nvPr/>
        </p:nvSpPr>
        <p:spPr>
          <a:xfrm>
            <a:off x="8328295" y="2295552"/>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23" name="Shape 21"/>
          <p:cNvSpPr/>
          <p:nvPr/>
        </p:nvSpPr>
        <p:spPr>
          <a:xfrm>
            <a:off x="8478005" y="2445262"/>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D69E2E"/>
          </a:solidFill>
          <a:ln/>
        </p:spPr>
        <p:txBody>
          <a:bodyPr/>
          <a:lstStyle/>
          <a:p>
            <a:endParaRPr lang="zh-CN" altLang="en-US"/>
          </a:p>
        </p:txBody>
      </p:sp>
      <p:sp>
        <p:nvSpPr>
          <p:cNvPr id="24" name="Text 22"/>
          <p:cNvSpPr/>
          <p:nvPr/>
        </p:nvSpPr>
        <p:spPr>
          <a:xfrm>
            <a:off x="8643213" y="2520117"/>
            <a:ext cx="162186"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1</a:t>
            </a:r>
            <a:endParaRPr lang="en-US" sz="1600" dirty="0"/>
          </a:p>
        </p:txBody>
      </p:sp>
      <p:sp>
        <p:nvSpPr>
          <p:cNvPr id="25" name="Text 23"/>
          <p:cNvSpPr/>
          <p:nvPr/>
        </p:nvSpPr>
        <p:spPr>
          <a:xfrm>
            <a:off x="9026942" y="2445262"/>
            <a:ext cx="5988396"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高吞吐量设计</a:t>
            </a:r>
            <a:endParaRPr lang="en-US" sz="1600" dirty="0"/>
          </a:p>
        </p:txBody>
      </p:sp>
      <p:sp>
        <p:nvSpPr>
          <p:cNvPr id="26" name="Text 24"/>
          <p:cNvSpPr/>
          <p:nvPr/>
        </p:nvSpPr>
        <p:spPr>
          <a:xfrm>
            <a:off x="9026942" y="2794585"/>
            <a:ext cx="5975920"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通过顺序磁盘 I/O、批量处理、零拷贝等技术，实现每秒百万级消息处理能力</a:t>
            </a:r>
            <a:endParaRPr lang="en-US" sz="1600" dirty="0"/>
          </a:p>
        </p:txBody>
      </p:sp>
      <p:sp>
        <p:nvSpPr>
          <p:cNvPr id="27" name="Shape 25"/>
          <p:cNvSpPr/>
          <p:nvPr/>
        </p:nvSpPr>
        <p:spPr>
          <a:xfrm>
            <a:off x="8328295" y="3377830"/>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28" name="Shape 26"/>
          <p:cNvSpPr/>
          <p:nvPr/>
        </p:nvSpPr>
        <p:spPr>
          <a:xfrm>
            <a:off x="8478005" y="3527540"/>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D69E2E"/>
          </a:solidFill>
          <a:ln/>
        </p:spPr>
        <p:txBody>
          <a:bodyPr/>
          <a:lstStyle/>
          <a:p>
            <a:endParaRPr lang="zh-CN" altLang="en-US"/>
          </a:p>
        </p:txBody>
      </p:sp>
      <p:sp>
        <p:nvSpPr>
          <p:cNvPr id="29" name="Text 27"/>
          <p:cNvSpPr/>
          <p:nvPr/>
        </p:nvSpPr>
        <p:spPr>
          <a:xfrm>
            <a:off x="8628495" y="3602394"/>
            <a:ext cx="187137"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2</a:t>
            </a:r>
            <a:endParaRPr lang="en-US" sz="1600" dirty="0"/>
          </a:p>
        </p:txBody>
      </p:sp>
      <p:sp>
        <p:nvSpPr>
          <p:cNvPr id="30" name="Text 28"/>
          <p:cNvSpPr/>
          <p:nvPr/>
        </p:nvSpPr>
        <p:spPr>
          <a:xfrm>
            <a:off x="9026942" y="3527540"/>
            <a:ext cx="5688976"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持久化存储</a:t>
            </a:r>
            <a:endParaRPr lang="en-US" sz="1600" dirty="0"/>
          </a:p>
        </p:txBody>
      </p:sp>
      <p:sp>
        <p:nvSpPr>
          <p:cNvPr id="31" name="Text 29"/>
          <p:cNvSpPr/>
          <p:nvPr/>
        </p:nvSpPr>
        <p:spPr>
          <a:xfrm>
            <a:off x="9026942" y="3876863"/>
            <a:ext cx="5676500"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将所有消息持久化到磁盘，支持可配置的保留策略，可作为数据存储系统</a:t>
            </a:r>
            <a:endParaRPr lang="en-US" sz="1600" dirty="0"/>
          </a:p>
        </p:txBody>
      </p:sp>
      <p:sp>
        <p:nvSpPr>
          <p:cNvPr id="32" name="Shape 30"/>
          <p:cNvSpPr/>
          <p:nvPr/>
        </p:nvSpPr>
        <p:spPr>
          <a:xfrm>
            <a:off x="8328295" y="4460107"/>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33" name="Shape 31"/>
          <p:cNvSpPr/>
          <p:nvPr/>
        </p:nvSpPr>
        <p:spPr>
          <a:xfrm>
            <a:off x="8478005" y="4609817"/>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D69E2E"/>
          </a:solidFill>
          <a:ln/>
        </p:spPr>
        <p:txBody>
          <a:bodyPr/>
          <a:lstStyle/>
          <a:p>
            <a:endParaRPr lang="zh-CN" altLang="en-US"/>
          </a:p>
        </p:txBody>
      </p:sp>
      <p:sp>
        <p:nvSpPr>
          <p:cNvPr id="34" name="Text 32"/>
          <p:cNvSpPr/>
          <p:nvPr/>
        </p:nvSpPr>
        <p:spPr>
          <a:xfrm>
            <a:off x="8626253" y="4684672"/>
            <a:ext cx="187137"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3</a:t>
            </a:r>
            <a:endParaRPr lang="en-US" sz="1600" dirty="0"/>
          </a:p>
        </p:txBody>
      </p:sp>
      <p:sp>
        <p:nvSpPr>
          <p:cNvPr id="35" name="Text 33"/>
          <p:cNvSpPr/>
          <p:nvPr/>
        </p:nvSpPr>
        <p:spPr>
          <a:xfrm>
            <a:off x="9026942" y="4609817"/>
            <a:ext cx="5838686"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分布式架构</a:t>
            </a:r>
            <a:endParaRPr lang="en-US" sz="1600" dirty="0"/>
          </a:p>
        </p:txBody>
      </p:sp>
      <p:sp>
        <p:nvSpPr>
          <p:cNvPr id="36" name="Text 34"/>
          <p:cNvSpPr/>
          <p:nvPr/>
        </p:nvSpPr>
        <p:spPr>
          <a:xfrm>
            <a:off x="9026942" y="4959140"/>
            <a:ext cx="5826210"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通过分区机制和副本复制，支持水平扩展到数百台服务器，处理 PB 级数据</a:t>
            </a:r>
            <a:endParaRPr lang="en-US" sz="1600" dirty="0"/>
          </a:p>
        </p:txBody>
      </p:sp>
      <p:sp>
        <p:nvSpPr>
          <p:cNvPr id="37" name="Shape 35"/>
          <p:cNvSpPr/>
          <p:nvPr/>
        </p:nvSpPr>
        <p:spPr>
          <a:xfrm>
            <a:off x="8328295" y="5542385"/>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38" name="Shape 36"/>
          <p:cNvSpPr/>
          <p:nvPr/>
        </p:nvSpPr>
        <p:spPr>
          <a:xfrm>
            <a:off x="8478005" y="5692095"/>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718096"/>
          </a:solidFill>
          <a:ln/>
        </p:spPr>
        <p:txBody>
          <a:bodyPr/>
          <a:lstStyle/>
          <a:p>
            <a:endParaRPr lang="zh-CN" altLang="en-US"/>
          </a:p>
        </p:txBody>
      </p:sp>
      <p:sp>
        <p:nvSpPr>
          <p:cNvPr id="39" name="Text 37"/>
          <p:cNvSpPr/>
          <p:nvPr/>
        </p:nvSpPr>
        <p:spPr>
          <a:xfrm>
            <a:off x="8626351" y="5766950"/>
            <a:ext cx="187137"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4</a:t>
            </a:r>
            <a:endParaRPr lang="en-US" sz="1600" dirty="0"/>
          </a:p>
        </p:txBody>
      </p:sp>
      <p:sp>
        <p:nvSpPr>
          <p:cNvPr id="40" name="Text 38"/>
          <p:cNvSpPr/>
          <p:nvPr/>
        </p:nvSpPr>
        <p:spPr>
          <a:xfrm>
            <a:off x="9026942" y="5692095"/>
            <a:ext cx="5339653"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实时处理能力</a:t>
            </a:r>
            <a:endParaRPr lang="en-US" sz="1600" dirty="0"/>
          </a:p>
        </p:txBody>
      </p:sp>
      <p:sp>
        <p:nvSpPr>
          <p:cNvPr id="41" name="Text 39"/>
          <p:cNvSpPr/>
          <p:nvPr/>
        </p:nvSpPr>
        <p:spPr>
          <a:xfrm>
            <a:off x="9026942" y="6041418"/>
            <a:ext cx="5327177"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低延迟消息传递，支持实时数据管道和流处理应用，毫秒级数据处理</a:t>
            </a:r>
            <a:endParaRPr lang="en-US" sz="1600" dirty="0"/>
          </a:p>
        </p:txBody>
      </p:sp>
      <p:sp>
        <p:nvSpPr>
          <p:cNvPr id="42" name="Shape 40"/>
          <p:cNvSpPr/>
          <p:nvPr/>
        </p:nvSpPr>
        <p:spPr>
          <a:xfrm>
            <a:off x="8328295" y="6624663"/>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43" name="Shape 41"/>
          <p:cNvSpPr/>
          <p:nvPr/>
        </p:nvSpPr>
        <p:spPr>
          <a:xfrm>
            <a:off x="8478005" y="6774373"/>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718096"/>
          </a:solidFill>
          <a:ln/>
        </p:spPr>
        <p:txBody>
          <a:bodyPr/>
          <a:lstStyle/>
          <a:p>
            <a:endParaRPr lang="zh-CN" altLang="en-US"/>
          </a:p>
        </p:txBody>
      </p:sp>
      <p:sp>
        <p:nvSpPr>
          <p:cNvPr id="44" name="Text 42"/>
          <p:cNvSpPr/>
          <p:nvPr/>
        </p:nvSpPr>
        <p:spPr>
          <a:xfrm>
            <a:off x="8625474" y="6849228"/>
            <a:ext cx="187137"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5</a:t>
            </a:r>
            <a:endParaRPr lang="en-US" sz="1600" dirty="0"/>
          </a:p>
        </p:txBody>
      </p:sp>
      <p:sp>
        <p:nvSpPr>
          <p:cNvPr id="45" name="Text 43"/>
          <p:cNvSpPr/>
          <p:nvPr/>
        </p:nvSpPr>
        <p:spPr>
          <a:xfrm>
            <a:off x="9026942" y="6774373"/>
            <a:ext cx="5464411"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可靠性保障</a:t>
            </a:r>
            <a:endParaRPr lang="en-US" sz="1600" dirty="0"/>
          </a:p>
        </p:txBody>
      </p:sp>
      <p:sp>
        <p:nvSpPr>
          <p:cNvPr id="46" name="Text 44"/>
          <p:cNvSpPr/>
          <p:nvPr/>
        </p:nvSpPr>
        <p:spPr>
          <a:xfrm>
            <a:off x="9026942" y="7123696"/>
            <a:ext cx="5451936"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多副本机制确保数据可靠性，故障自动转移，支持 Exactly-Once 语义</a:t>
            </a:r>
            <a:endParaRPr lang="en-US" sz="1600" dirty="0"/>
          </a:p>
        </p:txBody>
      </p:sp>
      <p:sp>
        <p:nvSpPr>
          <p:cNvPr id="47" name="Shape 45"/>
          <p:cNvSpPr/>
          <p:nvPr/>
        </p:nvSpPr>
        <p:spPr>
          <a:xfrm>
            <a:off x="8328295" y="7706941"/>
            <a:ext cx="7435592" cy="935687"/>
          </a:xfrm>
          <a:custGeom>
            <a:avLst/>
            <a:gdLst/>
            <a:ahLst/>
            <a:cxnLst/>
            <a:rect l="l" t="t" r="r" b="b"/>
            <a:pathLst>
              <a:path w="7435592" h="935687">
                <a:moveTo>
                  <a:pt x="99810" y="0"/>
                </a:moveTo>
                <a:lnTo>
                  <a:pt x="7335782" y="0"/>
                </a:lnTo>
                <a:cubicBezTo>
                  <a:pt x="7390905" y="0"/>
                  <a:pt x="7435592" y="44686"/>
                  <a:pt x="7435592" y="99810"/>
                </a:cubicBezTo>
                <a:lnTo>
                  <a:pt x="7435592" y="835877"/>
                </a:lnTo>
                <a:cubicBezTo>
                  <a:pt x="7435592" y="891001"/>
                  <a:pt x="7390905" y="935687"/>
                  <a:pt x="7335782" y="935687"/>
                </a:cubicBezTo>
                <a:lnTo>
                  <a:pt x="99810" y="935687"/>
                </a:lnTo>
                <a:cubicBezTo>
                  <a:pt x="44686" y="935687"/>
                  <a:pt x="0" y="891001"/>
                  <a:pt x="0" y="835877"/>
                </a:cubicBezTo>
                <a:lnTo>
                  <a:pt x="0" y="99810"/>
                </a:lnTo>
                <a:cubicBezTo>
                  <a:pt x="0" y="44723"/>
                  <a:pt x="44723" y="0"/>
                  <a:pt x="99810" y="0"/>
                </a:cubicBezTo>
                <a:close/>
              </a:path>
            </a:pathLst>
          </a:custGeom>
          <a:solidFill>
            <a:srgbClr val="4A5568">
              <a:alpha val="20000"/>
            </a:srgbClr>
          </a:solidFill>
          <a:ln/>
        </p:spPr>
        <p:txBody>
          <a:bodyPr/>
          <a:lstStyle/>
          <a:p>
            <a:endParaRPr lang="zh-CN" altLang="en-US"/>
          </a:p>
        </p:txBody>
      </p:sp>
      <p:sp>
        <p:nvSpPr>
          <p:cNvPr id="48" name="Shape 46"/>
          <p:cNvSpPr/>
          <p:nvPr/>
        </p:nvSpPr>
        <p:spPr>
          <a:xfrm>
            <a:off x="8478005" y="7856651"/>
            <a:ext cx="399226" cy="399226"/>
          </a:xfrm>
          <a:custGeom>
            <a:avLst/>
            <a:gdLst/>
            <a:ahLst/>
            <a:cxnLst/>
            <a:rect l="l" t="t" r="r" b="b"/>
            <a:pathLst>
              <a:path w="399226" h="399226">
                <a:moveTo>
                  <a:pt x="199613" y="0"/>
                </a:moveTo>
                <a:lnTo>
                  <a:pt x="199613" y="0"/>
                </a:lnTo>
                <a:cubicBezTo>
                  <a:pt x="309783" y="0"/>
                  <a:pt x="399226" y="89444"/>
                  <a:pt x="399226" y="199613"/>
                </a:cubicBezTo>
                <a:lnTo>
                  <a:pt x="399226" y="199613"/>
                </a:lnTo>
                <a:cubicBezTo>
                  <a:pt x="399226" y="309783"/>
                  <a:pt x="309783" y="399226"/>
                  <a:pt x="199613" y="399226"/>
                </a:cubicBezTo>
                <a:lnTo>
                  <a:pt x="199613" y="399226"/>
                </a:lnTo>
                <a:cubicBezTo>
                  <a:pt x="89444" y="399226"/>
                  <a:pt x="0" y="309783"/>
                  <a:pt x="0" y="199613"/>
                </a:cubicBezTo>
                <a:lnTo>
                  <a:pt x="0" y="199613"/>
                </a:lnTo>
                <a:cubicBezTo>
                  <a:pt x="0" y="89444"/>
                  <a:pt x="89444" y="0"/>
                  <a:pt x="199613" y="0"/>
                </a:cubicBezTo>
                <a:close/>
              </a:path>
            </a:pathLst>
          </a:custGeom>
          <a:solidFill>
            <a:srgbClr val="718096"/>
          </a:solidFill>
          <a:ln/>
        </p:spPr>
        <p:txBody>
          <a:bodyPr/>
          <a:lstStyle/>
          <a:p>
            <a:endParaRPr lang="zh-CN" altLang="en-US"/>
          </a:p>
        </p:txBody>
      </p:sp>
      <p:sp>
        <p:nvSpPr>
          <p:cNvPr id="49" name="Text 47"/>
          <p:cNvSpPr/>
          <p:nvPr/>
        </p:nvSpPr>
        <p:spPr>
          <a:xfrm>
            <a:off x="8625084" y="7931506"/>
            <a:ext cx="187137" cy="249517"/>
          </a:xfrm>
          <a:prstGeom prst="rect">
            <a:avLst/>
          </a:prstGeom>
          <a:noFill/>
          <a:ln/>
        </p:spPr>
        <p:txBody>
          <a:bodyPr wrap="square" lIns="0" tIns="0" rIns="0" bIns="0" rtlCol="0" anchor="ctr"/>
          <a:lstStyle/>
          <a:p>
            <a:pPr>
              <a:lnSpc>
                <a:spcPct val="120000"/>
              </a:lnSpc>
            </a:pPr>
            <a:r>
              <a:rPr lang="en-US" sz="1375" b="1" dirty="0">
                <a:solidFill>
                  <a:srgbClr val="1A1D21"/>
                </a:solidFill>
                <a:latin typeface="MiSans" pitchFamily="34" charset="0"/>
                <a:ea typeface="MiSans" pitchFamily="34" charset="-122"/>
                <a:cs typeface="MiSans" pitchFamily="34" charset="-120"/>
              </a:rPr>
              <a:t>6</a:t>
            </a:r>
            <a:endParaRPr lang="en-US" sz="1600" dirty="0"/>
          </a:p>
        </p:txBody>
      </p:sp>
      <p:sp>
        <p:nvSpPr>
          <p:cNvPr id="50" name="Text 48"/>
          <p:cNvSpPr/>
          <p:nvPr/>
        </p:nvSpPr>
        <p:spPr>
          <a:xfrm>
            <a:off x="9026942" y="7856651"/>
            <a:ext cx="6088203" cy="299420"/>
          </a:xfrm>
          <a:prstGeom prst="rect">
            <a:avLst/>
          </a:prstGeom>
          <a:noFill/>
          <a:ln/>
        </p:spPr>
        <p:txBody>
          <a:bodyPr wrap="square" lIns="0" tIns="0" rIns="0" bIns="0" rtlCol="0" anchor="ctr"/>
          <a:lstStyle/>
          <a:p>
            <a:pPr>
              <a:lnSpc>
                <a:spcPct val="130000"/>
              </a:lnSpc>
            </a:pPr>
            <a:r>
              <a:rPr lang="en-US" sz="1572" b="1" dirty="0">
                <a:solidFill>
                  <a:srgbClr val="E2E8F0"/>
                </a:solidFill>
                <a:latin typeface="MiSans" pitchFamily="34" charset="0"/>
                <a:ea typeface="MiSans" pitchFamily="34" charset="-122"/>
                <a:cs typeface="MiSans" pitchFamily="34" charset="-120"/>
              </a:rPr>
              <a:t>生态系统集成</a:t>
            </a:r>
            <a:endParaRPr lang="en-US" sz="1600" dirty="0"/>
          </a:p>
        </p:txBody>
      </p:sp>
      <p:sp>
        <p:nvSpPr>
          <p:cNvPr id="51" name="Text 49"/>
          <p:cNvSpPr/>
          <p:nvPr/>
        </p:nvSpPr>
        <p:spPr>
          <a:xfrm>
            <a:off x="9026942" y="8205974"/>
            <a:ext cx="6075727" cy="286944"/>
          </a:xfrm>
          <a:prstGeom prst="rect">
            <a:avLst/>
          </a:prstGeom>
          <a:noFill/>
          <a:ln/>
        </p:spPr>
        <p:txBody>
          <a:bodyPr wrap="square" lIns="0" tIns="0" rIns="0" bIns="0" rtlCol="0" anchor="ctr"/>
          <a:lstStyle/>
          <a:p>
            <a:pPr>
              <a:lnSpc>
                <a:spcPct val="140000"/>
              </a:lnSpc>
            </a:pPr>
            <a:r>
              <a:rPr lang="en-US" sz="1375" dirty="0">
                <a:solidFill>
                  <a:srgbClr val="E2E8F0">
                    <a:alpha val="80000"/>
                  </a:srgbClr>
                </a:solidFill>
                <a:latin typeface="MiSans" pitchFamily="34" charset="0"/>
                <a:ea typeface="MiSans" pitchFamily="34" charset="-122"/>
                <a:cs typeface="MiSans" pitchFamily="34" charset="-120"/>
              </a:rPr>
              <a:t>通过 Kafka Connect 实现与各种数据系统的无缝连接，完整数据处理解决方案</a:t>
            </a:r>
            <a:endParaRPr lang="en-US" sz="1600" dirty="0"/>
          </a:p>
        </p:txBody>
      </p:sp>
      <p:sp>
        <p:nvSpPr>
          <p:cNvPr id="55" name="文本框 54">
            <a:extLst>
              <a:ext uri="{FF2B5EF4-FFF2-40B4-BE49-F238E27FC236}">
                <a16:creationId xmlns:a16="http://schemas.microsoft.com/office/drawing/2014/main" id="{23EE3EC4-D115-D4F7-2ED8-ACF7F2A32532}"/>
              </a:ext>
            </a:extLst>
          </p:cNvPr>
          <p:cNvSpPr txBox="1"/>
          <p:nvPr/>
        </p:nvSpPr>
        <p:spPr>
          <a:xfrm>
            <a:off x="3838962" y="6586189"/>
            <a:ext cx="738664" cy="411330"/>
          </a:xfrm>
          <a:prstGeom prst="rect">
            <a:avLst/>
          </a:prstGeom>
          <a:noFill/>
        </p:spPr>
        <p:txBody>
          <a:bodyPr vert="eaVert" wrap="none" rtlCol="0" anchor="ctr">
            <a:spAutoFit/>
          </a:bodyPr>
          <a:lstStyle/>
          <a:p>
            <a:pPr algn="ctr"/>
            <a:r>
              <a:rPr kumimoji="1" lang="en-US" altLang="zh-CN" sz="3600" dirty="0">
                <a:solidFill>
                  <a:schemeClr val="bg1"/>
                </a:solidFill>
                <a:latin typeface="Calibri" panose="020F0502020204030204" pitchFamily="34" charset="0"/>
                <a:ea typeface="KaiTi" panose="02010609060101010101" pitchFamily="49" charset="-122"/>
                <a:cs typeface="Calibri" panose="020F0502020204030204" pitchFamily="34" charset="0"/>
              </a:rPr>
              <a:t>…</a:t>
            </a:r>
            <a:endParaRPr kumimoji="1" lang="zh-CN" altLang="en-US" sz="3600" dirty="0">
              <a:solidFill>
                <a:schemeClr val="bg1"/>
              </a:solidFill>
              <a:latin typeface="Calibri" panose="020F0502020204030204" pitchFamily="34" charset="0"/>
              <a:ea typeface="KaiTi" panose="02010609060101010101" pitchFamily="49" charset="-122"/>
              <a:cs typeface="Calibri" panose="020F0502020204030204" pitchFamily="34" charset="0"/>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97125" y="497125"/>
            <a:ext cx="15361174" cy="298275"/>
          </a:xfrm>
          <a:prstGeom prst="rect">
            <a:avLst/>
          </a:prstGeom>
          <a:noFill/>
          <a:ln/>
        </p:spPr>
        <p:txBody>
          <a:bodyPr wrap="square" lIns="0" tIns="0" rIns="0" bIns="0" rtlCol="0" anchor="ctr"/>
          <a:lstStyle/>
          <a:p>
            <a:pPr>
              <a:lnSpc>
                <a:spcPct val="130000"/>
              </a:lnSpc>
            </a:pPr>
            <a:r>
              <a:rPr lang="en-US" sz="1566" b="1" kern="0" spc="78" dirty="0">
                <a:solidFill>
                  <a:srgbClr val="D69E2E"/>
                </a:solidFill>
                <a:latin typeface="MiSans" pitchFamily="34" charset="0"/>
                <a:ea typeface="MiSans" pitchFamily="34" charset="-122"/>
                <a:cs typeface="MiSans" pitchFamily="34" charset="-120"/>
              </a:rPr>
              <a:t>1.2.3 技术对比</a:t>
            </a:r>
            <a:endParaRPr lang="en-US" sz="1600" dirty="0"/>
          </a:p>
        </p:txBody>
      </p:sp>
      <p:sp>
        <p:nvSpPr>
          <p:cNvPr id="3" name="Text 1"/>
          <p:cNvSpPr/>
          <p:nvPr/>
        </p:nvSpPr>
        <p:spPr>
          <a:xfrm>
            <a:off x="497125" y="894826"/>
            <a:ext cx="15485456" cy="497125"/>
          </a:xfrm>
          <a:prstGeom prst="rect">
            <a:avLst/>
          </a:prstGeom>
          <a:noFill/>
          <a:ln/>
        </p:spPr>
        <p:txBody>
          <a:bodyPr wrap="square" lIns="0" tIns="0" rIns="0" bIns="0" rtlCol="0" anchor="ctr"/>
          <a:lstStyle/>
          <a:p>
            <a:pPr>
              <a:lnSpc>
                <a:spcPct val="90000"/>
              </a:lnSpc>
            </a:pPr>
            <a:r>
              <a:rPr lang="en-US" sz="3523" b="1" dirty="0">
                <a:solidFill>
                  <a:srgbClr val="E2E8F0"/>
                </a:solidFill>
                <a:latin typeface="MiSans" pitchFamily="34" charset="0"/>
                <a:ea typeface="MiSans" pitchFamily="34" charset="-122"/>
                <a:cs typeface="MiSans" pitchFamily="34" charset="-120"/>
              </a:rPr>
              <a:t>Kafka 与传统消息队列的技术对比</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97125" y="1590801"/>
          <a:ext cx="15261750" cy="5915789"/>
        </p:xfrm>
        <a:graphic>
          <a:graphicData uri="http://schemas.openxmlformats.org/drawingml/2006/table">
            <a:tbl>
              <a:tblPr/>
              <a:tblGrid>
                <a:gridCol w="1741357">
                  <a:extLst>
                    <a:ext uri="{9D8B030D-6E8A-4147-A177-3AD203B41FA5}">
                      <a16:colId xmlns:a16="http://schemas.microsoft.com/office/drawing/2014/main" val="20000"/>
                    </a:ext>
                  </a:extLst>
                </a:gridCol>
                <a:gridCol w="4564843">
                  <a:extLst>
                    <a:ext uri="{9D8B030D-6E8A-4147-A177-3AD203B41FA5}">
                      <a16:colId xmlns:a16="http://schemas.microsoft.com/office/drawing/2014/main" val="20001"/>
                    </a:ext>
                  </a:extLst>
                </a:gridCol>
                <a:gridCol w="4913114">
                  <a:extLst>
                    <a:ext uri="{9D8B030D-6E8A-4147-A177-3AD203B41FA5}">
                      <a16:colId xmlns:a16="http://schemas.microsoft.com/office/drawing/2014/main" val="20002"/>
                    </a:ext>
                  </a:extLst>
                </a:gridCol>
                <a:gridCol w="4042436">
                  <a:extLst>
                    <a:ext uri="{9D8B030D-6E8A-4147-A177-3AD203B41FA5}">
                      <a16:colId xmlns:a16="http://schemas.microsoft.com/office/drawing/2014/main" val="20003"/>
                    </a:ext>
                  </a:extLst>
                </a:gridCol>
              </a:tblGrid>
              <a:tr h="537799">
                <a:tc>
                  <a:txBody>
                    <a:bodyPr/>
                    <a:lstStyle/>
                    <a:p>
                      <a:pPr algn="l"/>
                      <a:r>
                        <a:rPr lang="en-US" sz="1500" b="1" u="none" dirty="0">
                          <a:solidFill>
                            <a:srgbClr val="D69E2E"/>
                          </a:solidFill>
                          <a:latin typeface="微软雅黑" pitchFamily="34" charset="0"/>
                          <a:ea typeface="微软雅黑" pitchFamily="34" charset="-122"/>
                          <a:cs typeface="微软雅黑" pitchFamily="34" charset="-120"/>
                        </a:rPr>
                        <a:t>对比维度</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500" b="1" u="none" dirty="0">
                          <a:solidFill>
                            <a:srgbClr val="718096"/>
                          </a:solidFill>
                          <a:latin typeface="微软雅黑" pitchFamily="34" charset="0"/>
                          <a:ea typeface="微软雅黑" pitchFamily="34" charset="-122"/>
                          <a:cs typeface="微软雅黑" pitchFamily="34" charset="-120"/>
                        </a:rPr>
                        <a:t>传统消息队列(RabbitMQ/ActiveMQ)</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500" b="1" u="none" dirty="0">
                          <a:solidFill>
                            <a:srgbClr val="D69E2E"/>
                          </a:solidFill>
                          <a:latin typeface="微软雅黑" pitchFamily="34" charset="0"/>
                          <a:ea typeface="微软雅黑" pitchFamily="34" charset="-122"/>
                          <a:cs typeface="微软雅黑" pitchFamily="34" charset="-120"/>
                        </a:rPr>
                        <a:t>Apache Kafka</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500" b="1" u="none" dirty="0">
                          <a:solidFill>
                            <a:srgbClr val="D69E2E"/>
                          </a:solidFill>
                          <a:latin typeface="微软雅黑" pitchFamily="34" charset="0"/>
                          <a:ea typeface="微软雅黑" pitchFamily="34" charset="-122"/>
                          <a:cs typeface="微软雅黑" pitchFamily="34" charset="-120"/>
                        </a:rPr>
                        <a:t>Kafka 优势说明</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extLst>
                  <a:ext uri="{0D108BD9-81ED-4DB2-BD59-A6C34878D82A}">
                    <a16:rowId xmlns:a16="http://schemas.microsoft.com/office/drawing/2014/main" val="10000"/>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设计目标</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企业应用集成、事务消息</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大数据实时数据管道、流处理平台</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专为大规模实时数据处理设计</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1"/>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消息模型</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点对点(Queue)、发布订阅(Topic)</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分布式提交日志、分区有序流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支持高吞吐并行处理</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2"/>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消息持久化</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通常内存存储，持久化可选</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磁盘持久化，可配置保留时间</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支持长期存储和回溯消费</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3"/>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吞吐量</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万级 QPS</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百万级 QPS，GB/s 级别吞吐量</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高吞吐量设计，性能提升百倍</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4"/>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扩展性</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垂直扩展为主</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水平扩展，天然支持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更容易应对数据增长</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5"/>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消息顺序</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单个消费者顺序</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分区级别严格顺序</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分区级别的顺序保证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6"/>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事务模型</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ACID/XA 事务</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流式事务 (Stream Transaction)</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专注流处理的 Exactly-Once</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7"/>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重播能力</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有限支持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原生支持，可配置保留时间</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更好的数据重播支持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8"/>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生态系统</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主要面向 Java 企业应用</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丰富的大数据生态系统集成</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更完整的数据处理解决方案</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9"/>
                  </a:ext>
                </a:extLst>
              </a:tr>
              <a:tr h="537799">
                <a:tc>
                  <a:txBody>
                    <a:bodyPr/>
                    <a:lstStyle/>
                    <a:p>
                      <a:r>
                        <a:rPr lang="en-US" sz="1500" b="1" u="none" dirty="0">
                          <a:solidFill>
                            <a:srgbClr val="E2E8F0"/>
                          </a:solidFill>
                          <a:latin typeface="微软雅黑" pitchFamily="34" charset="0"/>
                          <a:ea typeface="微软雅黑" pitchFamily="34" charset="-122"/>
                          <a:cs typeface="微软雅黑" pitchFamily="34" charset="-120"/>
                        </a:rPr>
                        <a:t>适用场景</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订单处理、交易系统、工作流</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D69E2E"/>
                          </a:solidFill>
                          <a:latin typeface="微软雅黑" pitchFamily="34" charset="0"/>
                          <a:ea typeface="微软雅黑" pitchFamily="34" charset="-122"/>
                          <a:cs typeface="微软雅黑" pitchFamily="34" charset="-120"/>
                        </a:rPr>
                        <a:t>实时数据分析、日志聚合、事件溯源</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500" u="none" dirty="0">
                          <a:solidFill>
                            <a:srgbClr val="E2E8F0"/>
                          </a:solidFill>
                          <a:latin typeface="微软雅黑" pitchFamily="34" charset="0"/>
                          <a:ea typeface="微软雅黑" pitchFamily="34" charset="-122"/>
                          <a:cs typeface="微软雅黑" pitchFamily="34" charset="-120"/>
                        </a:rPr>
                        <a:t>更广泛的实时数据处理场景</a:t>
                      </a:r>
                      <a:endParaRPr lang="en-US" sz="15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10"/>
                  </a:ext>
                </a:extLst>
              </a:tr>
            </a:tbl>
          </a:graphicData>
        </a:graphic>
      </p:graphicFrame>
      <p:sp>
        <p:nvSpPr>
          <p:cNvPr id="5" name="Shape 2"/>
          <p:cNvSpPr/>
          <p:nvPr/>
        </p:nvSpPr>
        <p:spPr>
          <a:xfrm>
            <a:off x="521982" y="7908663"/>
            <a:ext cx="4933969" cy="944538"/>
          </a:xfrm>
          <a:custGeom>
            <a:avLst/>
            <a:gdLst/>
            <a:ahLst/>
            <a:cxnLst/>
            <a:rect l="l" t="t" r="r" b="b"/>
            <a:pathLst>
              <a:path w="4933969" h="944538">
                <a:moveTo>
                  <a:pt x="49713" y="0"/>
                </a:moveTo>
                <a:lnTo>
                  <a:pt x="4834547" y="0"/>
                </a:lnTo>
                <a:cubicBezTo>
                  <a:pt x="4889457" y="0"/>
                  <a:pt x="4933969" y="44513"/>
                  <a:pt x="4933969" y="99422"/>
                </a:cubicBezTo>
                <a:lnTo>
                  <a:pt x="4933969" y="845116"/>
                </a:lnTo>
                <a:cubicBezTo>
                  <a:pt x="4933969" y="900025"/>
                  <a:pt x="4889457" y="944538"/>
                  <a:pt x="4834547" y="944538"/>
                </a:cubicBezTo>
                <a:lnTo>
                  <a:pt x="49713" y="944538"/>
                </a:lnTo>
                <a:cubicBezTo>
                  <a:pt x="22257" y="944538"/>
                  <a:pt x="0" y="922281"/>
                  <a:pt x="0" y="894826"/>
                </a:cubicBezTo>
                <a:lnTo>
                  <a:pt x="0" y="49713"/>
                </a:lnTo>
                <a:cubicBezTo>
                  <a:pt x="0" y="22275"/>
                  <a:pt x="22275" y="0"/>
                  <a:pt x="49713" y="0"/>
                </a:cubicBezTo>
                <a:close/>
              </a:path>
            </a:pathLst>
          </a:custGeom>
          <a:solidFill>
            <a:srgbClr val="4A5568">
              <a:alpha val="30196"/>
            </a:srgbClr>
          </a:solidFill>
          <a:ln/>
        </p:spPr>
        <p:txBody>
          <a:bodyPr/>
          <a:lstStyle/>
          <a:p>
            <a:endParaRPr lang="zh-CN" altLang="en-US"/>
          </a:p>
        </p:txBody>
      </p:sp>
      <p:sp>
        <p:nvSpPr>
          <p:cNvPr id="6" name="Shape 3"/>
          <p:cNvSpPr/>
          <p:nvPr/>
        </p:nvSpPr>
        <p:spPr>
          <a:xfrm>
            <a:off x="521982" y="7908663"/>
            <a:ext cx="49713" cy="944538"/>
          </a:xfrm>
          <a:custGeom>
            <a:avLst/>
            <a:gdLst/>
            <a:ahLst/>
            <a:cxnLst/>
            <a:rect l="l" t="t" r="r" b="b"/>
            <a:pathLst>
              <a:path w="49713" h="944538">
                <a:moveTo>
                  <a:pt x="49713" y="0"/>
                </a:moveTo>
                <a:lnTo>
                  <a:pt x="49713" y="0"/>
                </a:lnTo>
                <a:lnTo>
                  <a:pt x="49713" y="944538"/>
                </a:lnTo>
                <a:lnTo>
                  <a:pt x="49713" y="944538"/>
                </a:lnTo>
                <a:cubicBezTo>
                  <a:pt x="22257" y="944538"/>
                  <a:pt x="0" y="922281"/>
                  <a:pt x="0" y="894826"/>
                </a:cubicBezTo>
                <a:lnTo>
                  <a:pt x="0" y="49713"/>
                </a:lnTo>
                <a:cubicBezTo>
                  <a:pt x="0" y="22275"/>
                  <a:pt x="22275" y="0"/>
                  <a:pt x="49713" y="0"/>
                </a:cubicBezTo>
                <a:close/>
              </a:path>
            </a:pathLst>
          </a:custGeom>
          <a:solidFill>
            <a:srgbClr val="D69E2E"/>
          </a:solidFill>
          <a:ln/>
        </p:spPr>
        <p:txBody>
          <a:bodyPr/>
          <a:lstStyle/>
          <a:p>
            <a:endParaRPr lang="zh-CN" altLang="en-US"/>
          </a:p>
        </p:txBody>
      </p:sp>
      <p:sp>
        <p:nvSpPr>
          <p:cNvPr id="4" name="Text 4"/>
          <p:cNvSpPr/>
          <p:nvPr/>
        </p:nvSpPr>
        <p:spPr>
          <a:xfrm>
            <a:off x="695976" y="8057800"/>
            <a:ext cx="4710263" cy="298275"/>
          </a:xfrm>
          <a:prstGeom prst="rect">
            <a:avLst/>
          </a:prstGeom>
          <a:noFill/>
          <a:ln/>
        </p:spPr>
        <p:txBody>
          <a:bodyPr wrap="square" lIns="0" tIns="0" rIns="0" bIns="0" rtlCol="0" anchor="ctr"/>
          <a:lstStyle/>
          <a:p>
            <a:pPr>
              <a:lnSpc>
                <a:spcPct val="130000"/>
              </a:lnSpc>
            </a:pPr>
            <a:r>
              <a:rPr lang="en-US" sz="1566" b="1" dirty="0">
                <a:solidFill>
                  <a:srgbClr val="D69E2E"/>
                </a:solidFill>
                <a:latin typeface="MiSans" pitchFamily="34" charset="0"/>
                <a:ea typeface="MiSans" pitchFamily="34" charset="-122"/>
                <a:cs typeface="MiSans" pitchFamily="34" charset="-120"/>
              </a:rPr>
              <a:t>Kafka 技术优势</a:t>
            </a:r>
            <a:endParaRPr lang="en-US" sz="1600" dirty="0"/>
          </a:p>
        </p:txBody>
      </p:sp>
      <p:sp>
        <p:nvSpPr>
          <p:cNvPr id="8" name="Text 5"/>
          <p:cNvSpPr/>
          <p:nvPr/>
        </p:nvSpPr>
        <p:spPr>
          <a:xfrm>
            <a:off x="695976" y="8455501"/>
            <a:ext cx="4697835"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分区机制 + 并行消费：通过 Topic 分区实现水平扩展</a:t>
            </a:r>
            <a:endParaRPr lang="en-US" sz="1600" dirty="0"/>
          </a:p>
        </p:txBody>
      </p:sp>
      <p:sp>
        <p:nvSpPr>
          <p:cNvPr id="9" name="Shape 6"/>
          <p:cNvSpPr/>
          <p:nvPr/>
        </p:nvSpPr>
        <p:spPr>
          <a:xfrm>
            <a:off x="5677327" y="7908663"/>
            <a:ext cx="4933969" cy="944538"/>
          </a:xfrm>
          <a:custGeom>
            <a:avLst/>
            <a:gdLst/>
            <a:ahLst/>
            <a:cxnLst/>
            <a:rect l="l" t="t" r="r" b="b"/>
            <a:pathLst>
              <a:path w="4933969" h="944538">
                <a:moveTo>
                  <a:pt x="49713" y="0"/>
                </a:moveTo>
                <a:lnTo>
                  <a:pt x="4834547" y="0"/>
                </a:lnTo>
                <a:cubicBezTo>
                  <a:pt x="4889457" y="0"/>
                  <a:pt x="4933969" y="44513"/>
                  <a:pt x="4933969" y="99422"/>
                </a:cubicBezTo>
                <a:lnTo>
                  <a:pt x="4933969" y="845116"/>
                </a:lnTo>
                <a:cubicBezTo>
                  <a:pt x="4933969" y="900025"/>
                  <a:pt x="4889457" y="944538"/>
                  <a:pt x="4834547" y="944538"/>
                </a:cubicBezTo>
                <a:lnTo>
                  <a:pt x="49713" y="944538"/>
                </a:lnTo>
                <a:cubicBezTo>
                  <a:pt x="22257" y="944538"/>
                  <a:pt x="0" y="922281"/>
                  <a:pt x="0" y="894826"/>
                </a:cubicBezTo>
                <a:lnTo>
                  <a:pt x="0" y="49713"/>
                </a:lnTo>
                <a:cubicBezTo>
                  <a:pt x="0" y="22275"/>
                  <a:pt x="22275" y="0"/>
                  <a:pt x="49713" y="0"/>
                </a:cubicBezTo>
                <a:close/>
              </a:path>
            </a:pathLst>
          </a:custGeom>
          <a:solidFill>
            <a:srgbClr val="4A5568">
              <a:alpha val="30196"/>
            </a:srgbClr>
          </a:solidFill>
          <a:ln/>
        </p:spPr>
        <p:txBody>
          <a:bodyPr/>
          <a:lstStyle/>
          <a:p>
            <a:endParaRPr lang="zh-CN" altLang="en-US"/>
          </a:p>
        </p:txBody>
      </p:sp>
      <p:sp>
        <p:nvSpPr>
          <p:cNvPr id="10" name="Shape 7"/>
          <p:cNvSpPr/>
          <p:nvPr/>
        </p:nvSpPr>
        <p:spPr>
          <a:xfrm>
            <a:off x="5677327" y="7908663"/>
            <a:ext cx="49713" cy="944538"/>
          </a:xfrm>
          <a:custGeom>
            <a:avLst/>
            <a:gdLst/>
            <a:ahLst/>
            <a:cxnLst/>
            <a:rect l="l" t="t" r="r" b="b"/>
            <a:pathLst>
              <a:path w="49713" h="944538">
                <a:moveTo>
                  <a:pt x="49713" y="0"/>
                </a:moveTo>
                <a:lnTo>
                  <a:pt x="49713" y="0"/>
                </a:lnTo>
                <a:lnTo>
                  <a:pt x="49713" y="944538"/>
                </a:lnTo>
                <a:lnTo>
                  <a:pt x="49713" y="944538"/>
                </a:lnTo>
                <a:cubicBezTo>
                  <a:pt x="22257" y="944538"/>
                  <a:pt x="0" y="922281"/>
                  <a:pt x="0" y="894826"/>
                </a:cubicBezTo>
                <a:lnTo>
                  <a:pt x="0" y="49713"/>
                </a:lnTo>
                <a:cubicBezTo>
                  <a:pt x="0" y="22275"/>
                  <a:pt x="22275" y="0"/>
                  <a:pt x="49713" y="0"/>
                </a:cubicBezTo>
                <a:close/>
              </a:path>
            </a:pathLst>
          </a:custGeom>
          <a:solidFill>
            <a:srgbClr val="D69E2E"/>
          </a:solidFill>
          <a:ln/>
        </p:spPr>
        <p:txBody>
          <a:bodyPr/>
          <a:lstStyle/>
          <a:p>
            <a:endParaRPr lang="zh-CN" altLang="en-US"/>
          </a:p>
        </p:txBody>
      </p:sp>
      <p:sp>
        <p:nvSpPr>
          <p:cNvPr id="11" name="Text 8"/>
          <p:cNvSpPr/>
          <p:nvPr/>
        </p:nvSpPr>
        <p:spPr>
          <a:xfrm>
            <a:off x="5851321" y="8057800"/>
            <a:ext cx="4710263" cy="298275"/>
          </a:xfrm>
          <a:prstGeom prst="rect">
            <a:avLst/>
          </a:prstGeom>
          <a:noFill/>
          <a:ln/>
        </p:spPr>
        <p:txBody>
          <a:bodyPr wrap="square" lIns="0" tIns="0" rIns="0" bIns="0" rtlCol="0" anchor="ctr"/>
          <a:lstStyle/>
          <a:p>
            <a:pPr>
              <a:lnSpc>
                <a:spcPct val="130000"/>
              </a:lnSpc>
            </a:pPr>
            <a:r>
              <a:rPr lang="en-US" sz="1566" b="1" dirty="0">
                <a:solidFill>
                  <a:srgbClr val="D69E2E"/>
                </a:solidFill>
                <a:latin typeface="MiSans" pitchFamily="34" charset="0"/>
                <a:ea typeface="MiSans" pitchFamily="34" charset="-122"/>
                <a:cs typeface="MiSans" pitchFamily="34" charset="-120"/>
              </a:rPr>
              <a:t>顺序磁盘 I/O</a:t>
            </a:r>
            <a:endParaRPr lang="en-US" sz="1600" dirty="0"/>
          </a:p>
        </p:txBody>
      </p:sp>
      <p:sp>
        <p:nvSpPr>
          <p:cNvPr id="12" name="Text 9"/>
          <p:cNvSpPr/>
          <p:nvPr/>
        </p:nvSpPr>
        <p:spPr>
          <a:xfrm>
            <a:off x="5851321" y="8455501"/>
            <a:ext cx="4697835"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利用顺序磁盘写入优势，普通磁盘也能达到很高吞吐量</a:t>
            </a:r>
            <a:endParaRPr lang="en-US" sz="1600" dirty="0"/>
          </a:p>
        </p:txBody>
      </p:sp>
      <p:sp>
        <p:nvSpPr>
          <p:cNvPr id="13" name="Shape 10"/>
          <p:cNvSpPr/>
          <p:nvPr/>
        </p:nvSpPr>
        <p:spPr>
          <a:xfrm>
            <a:off x="10832673" y="7908663"/>
            <a:ext cx="4933969" cy="944538"/>
          </a:xfrm>
          <a:custGeom>
            <a:avLst/>
            <a:gdLst/>
            <a:ahLst/>
            <a:cxnLst/>
            <a:rect l="l" t="t" r="r" b="b"/>
            <a:pathLst>
              <a:path w="4933969" h="944538">
                <a:moveTo>
                  <a:pt x="49713" y="0"/>
                </a:moveTo>
                <a:lnTo>
                  <a:pt x="4834547" y="0"/>
                </a:lnTo>
                <a:cubicBezTo>
                  <a:pt x="4889457" y="0"/>
                  <a:pt x="4933969" y="44513"/>
                  <a:pt x="4933969" y="99422"/>
                </a:cubicBezTo>
                <a:lnTo>
                  <a:pt x="4933969" y="845116"/>
                </a:lnTo>
                <a:cubicBezTo>
                  <a:pt x="4933969" y="900025"/>
                  <a:pt x="4889457" y="944538"/>
                  <a:pt x="4834547" y="944538"/>
                </a:cubicBezTo>
                <a:lnTo>
                  <a:pt x="49713" y="944538"/>
                </a:lnTo>
                <a:cubicBezTo>
                  <a:pt x="22257" y="944538"/>
                  <a:pt x="0" y="922281"/>
                  <a:pt x="0" y="894826"/>
                </a:cubicBezTo>
                <a:lnTo>
                  <a:pt x="0" y="49713"/>
                </a:lnTo>
                <a:cubicBezTo>
                  <a:pt x="0" y="22275"/>
                  <a:pt x="22275" y="0"/>
                  <a:pt x="49713" y="0"/>
                </a:cubicBezTo>
                <a:close/>
              </a:path>
            </a:pathLst>
          </a:custGeom>
          <a:solidFill>
            <a:srgbClr val="4A5568">
              <a:alpha val="30196"/>
            </a:srgbClr>
          </a:solidFill>
          <a:ln/>
        </p:spPr>
        <p:txBody>
          <a:bodyPr/>
          <a:lstStyle/>
          <a:p>
            <a:endParaRPr lang="zh-CN" altLang="en-US"/>
          </a:p>
        </p:txBody>
      </p:sp>
      <p:sp>
        <p:nvSpPr>
          <p:cNvPr id="14" name="Shape 11"/>
          <p:cNvSpPr/>
          <p:nvPr/>
        </p:nvSpPr>
        <p:spPr>
          <a:xfrm>
            <a:off x="10832673" y="7908663"/>
            <a:ext cx="49713" cy="944538"/>
          </a:xfrm>
          <a:custGeom>
            <a:avLst/>
            <a:gdLst/>
            <a:ahLst/>
            <a:cxnLst/>
            <a:rect l="l" t="t" r="r" b="b"/>
            <a:pathLst>
              <a:path w="49713" h="944538">
                <a:moveTo>
                  <a:pt x="49713" y="0"/>
                </a:moveTo>
                <a:lnTo>
                  <a:pt x="49713" y="0"/>
                </a:lnTo>
                <a:lnTo>
                  <a:pt x="49713" y="944538"/>
                </a:lnTo>
                <a:lnTo>
                  <a:pt x="49713" y="944538"/>
                </a:lnTo>
                <a:cubicBezTo>
                  <a:pt x="22257" y="944538"/>
                  <a:pt x="0" y="922281"/>
                  <a:pt x="0" y="894826"/>
                </a:cubicBezTo>
                <a:lnTo>
                  <a:pt x="0" y="49713"/>
                </a:lnTo>
                <a:cubicBezTo>
                  <a:pt x="0" y="22275"/>
                  <a:pt x="22275" y="0"/>
                  <a:pt x="49713" y="0"/>
                </a:cubicBezTo>
                <a:close/>
              </a:path>
            </a:pathLst>
          </a:custGeom>
          <a:solidFill>
            <a:srgbClr val="D69E2E"/>
          </a:solidFill>
          <a:ln/>
        </p:spPr>
        <p:txBody>
          <a:bodyPr/>
          <a:lstStyle/>
          <a:p>
            <a:endParaRPr lang="zh-CN" altLang="en-US"/>
          </a:p>
        </p:txBody>
      </p:sp>
      <p:sp>
        <p:nvSpPr>
          <p:cNvPr id="15" name="Text 12"/>
          <p:cNvSpPr/>
          <p:nvPr/>
        </p:nvSpPr>
        <p:spPr>
          <a:xfrm>
            <a:off x="11006667" y="8057800"/>
            <a:ext cx="4710263" cy="298275"/>
          </a:xfrm>
          <a:prstGeom prst="rect">
            <a:avLst/>
          </a:prstGeom>
          <a:noFill/>
          <a:ln/>
        </p:spPr>
        <p:txBody>
          <a:bodyPr wrap="square" lIns="0" tIns="0" rIns="0" bIns="0" rtlCol="0" anchor="ctr"/>
          <a:lstStyle/>
          <a:p>
            <a:pPr>
              <a:lnSpc>
                <a:spcPct val="130000"/>
              </a:lnSpc>
            </a:pPr>
            <a:r>
              <a:rPr lang="en-US" sz="1566" b="1" dirty="0">
                <a:solidFill>
                  <a:srgbClr val="D69E2E"/>
                </a:solidFill>
                <a:latin typeface="MiSans" pitchFamily="34" charset="0"/>
                <a:ea typeface="MiSans" pitchFamily="34" charset="-122"/>
                <a:cs typeface="MiSans" pitchFamily="34" charset="-120"/>
              </a:rPr>
              <a:t>零拷贝技术</a:t>
            </a:r>
            <a:endParaRPr lang="en-US" sz="1600" dirty="0"/>
          </a:p>
        </p:txBody>
      </p:sp>
      <p:sp>
        <p:nvSpPr>
          <p:cNvPr id="16" name="Text 13"/>
          <p:cNvSpPr/>
          <p:nvPr/>
        </p:nvSpPr>
        <p:spPr>
          <a:xfrm>
            <a:off x="11006667" y="8455501"/>
            <a:ext cx="4697835"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减少内核态和用户态数据拷贝，提升网络传输性能</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85254" y="485254"/>
            <a:ext cx="15382543" cy="291152"/>
          </a:xfrm>
          <a:prstGeom prst="rect">
            <a:avLst/>
          </a:prstGeom>
          <a:noFill/>
          <a:ln/>
        </p:spPr>
        <p:txBody>
          <a:bodyPr wrap="square" lIns="0" tIns="0" rIns="0" bIns="0" rtlCol="0" anchor="ctr"/>
          <a:lstStyle/>
          <a:p>
            <a:pPr>
              <a:lnSpc>
                <a:spcPct val="120000"/>
              </a:lnSpc>
            </a:pPr>
            <a:r>
              <a:rPr lang="en-US" sz="1528" b="1" kern="0" spc="76" dirty="0">
                <a:solidFill>
                  <a:srgbClr val="D69E2E"/>
                </a:solidFill>
                <a:latin typeface="MiSans" pitchFamily="34" charset="0"/>
                <a:ea typeface="MiSans" pitchFamily="34" charset="-122"/>
                <a:cs typeface="MiSans" pitchFamily="34" charset="-120"/>
              </a:rPr>
              <a:t>1.2.4 生态系统</a:t>
            </a:r>
            <a:endParaRPr lang="en-US" sz="1600" dirty="0"/>
          </a:p>
        </p:txBody>
      </p:sp>
      <p:sp>
        <p:nvSpPr>
          <p:cNvPr id="3" name="Text 1"/>
          <p:cNvSpPr/>
          <p:nvPr/>
        </p:nvSpPr>
        <p:spPr>
          <a:xfrm>
            <a:off x="485254" y="873457"/>
            <a:ext cx="15503857" cy="485254"/>
          </a:xfrm>
          <a:prstGeom prst="rect">
            <a:avLst/>
          </a:prstGeom>
          <a:noFill/>
          <a:ln/>
        </p:spPr>
        <p:txBody>
          <a:bodyPr wrap="square" lIns="0" tIns="0" rIns="0" bIns="0" rtlCol="0" anchor="ctr"/>
          <a:lstStyle/>
          <a:p>
            <a:pPr>
              <a:lnSpc>
                <a:spcPct val="90000"/>
              </a:lnSpc>
            </a:pPr>
            <a:r>
              <a:rPr lang="en-US" sz="3439" b="1" dirty="0">
                <a:solidFill>
                  <a:srgbClr val="E2E8F0"/>
                </a:solidFill>
                <a:latin typeface="MiSans" pitchFamily="34" charset="0"/>
                <a:ea typeface="MiSans" pitchFamily="34" charset="-122"/>
                <a:cs typeface="MiSans" pitchFamily="34" charset="-120"/>
              </a:rPr>
              <a:t>Kafka 生态系统组件概览</a:t>
            </a:r>
            <a:endParaRPr lang="en-US" sz="1600" dirty="0"/>
          </a:p>
        </p:txBody>
      </p:sp>
      <p:sp>
        <p:nvSpPr>
          <p:cNvPr id="4" name="Shape 2"/>
          <p:cNvSpPr/>
          <p:nvPr/>
        </p:nvSpPr>
        <p:spPr>
          <a:xfrm>
            <a:off x="509516" y="1552812"/>
            <a:ext cx="9074245" cy="2232167"/>
          </a:xfrm>
          <a:custGeom>
            <a:avLst/>
            <a:gdLst/>
            <a:ahLst/>
            <a:cxnLst/>
            <a:rect l="l" t="t" r="r" b="b"/>
            <a:pathLst>
              <a:path w="9074245" h="2232167">
                <a:moveTo>
                  <a:pt x="48525" y="0"/>
                </a:moveTo>
                <a:lnTo>
                  <a:pt x="8977190" y="0"/>
                </a:lnTo>
                <a:cubicBezTo>
                  <a:pt x="9030792" y="0"/>
                  <a:pt x="9074245" y="43453"/>
                  <a:pt x="9074245" y="97055"/>
                </a:cubicBezTo>
                <a:lnTo>
                  <a:pt x="9074245" y="2135113"/>
                </a:lnTo>
                <a:cubicBezTo>
                  <a:pt x="9074245" y="2188714"/>
                  <a:pt x="9030792" y="2232167"/>
                  <a:pt x="8977190" y="2232167"/>
                </a:cubicBezTo>
                <a:lnTo>
                  <a:pt x="48525" y="2232167"/>
                </a:lnTo>
                <a:cubicBezTo>
                  <a:pt x="21726" y="2232167"/>
                  <a:pt x="0" y="2210442"/>
                  <a:pt x="0" y="2183642"/>
                </a:cubicBezTo>
                <a:lnTo>
                  <a:pt x="0" y="48525"/>
                </a:lnTo>
                <a:cubicBezTo>
                  <a:pt x="0" y="21726"/>
                  <a:pt x="21726" y="0"/>
                  <a:pt x="48525" y="0"/>
                </a:cubicBezTo>
                <a:close/>
              </a:path>
            </a:pathLst>
          </a:custGeom>
          <a:solidFill>
            <a:srgbClr val="4A5568">
              <a:alpha val="20000"/>
            </a:srgbClr>
          </a:solidFill>
          <a:ln/>
        </p:spPr>
        <p:txBody>
          <a:bodyPr/>
          <a:lstStyle/>
          <a:p>
            <a:endParaRPr lang="zh-CN" altLang="en-US"/>
          </a:p>
        </p:txBody>
      </p:sp>
      <p:sp>
        <p:nvSpPr>
          <p:cNvPr id="5" name="Shape 3"/>
          <p:cNvSpPr/>
          <p:nvPr/>
        </p:nvSpPr>
        <p:spPr>
          <a:xfrm>
            <a:off x="509516" y="1552812"/>
            <a:ext cx="48525" cy="2232167"/>
          </a:xfrm>
          <a:custGeom>
            <a:avLst/>
            <a:gdLst/>
            <a:ahLst/>
            <a:cxnLst/>
            <a:rect l="l" t="t" r="r" b="b"/>
            <a:pathLst>
              <a:path w="48525" h="2232167">
                <a:moveTo>
                  <a:pt x="48525" y="0"/>
                </a:moveTo>
                <a:lnTo>
                  <a:pt x="48525" y="0"/>
                </a:lnTo>
                <a:lnTo>
                  <a:pt x="48525" y="2232167"/>
                </a:lnTo>
                <a:lnTo>
                  <a:pt x="48525" y="2232167"/>
                </a:lnTo>
                <a:cubicBezTo>
                  <a:pt x="21726" y="2232167"/>
                  <a:pt x="0" y="2210442"/>
                  <a:pt x="0" y="2183642"/>
                </a:cubicBezTo>
                <a:lnTo>
                  <a:pt x="0" y="48525"/>
                </a:lnTo>
                <a:cubicBezTo>
                  <a:pt x="0" y="21726"/>
                  <a:pt x="21726" y="0"/>
                  <a:pt x="48525" y="0"/>
                </a:cubicBezTo>
                <a:close/>
              </a:path>
            </a:pathLst>
          </a:custGeom>
          <a:solidFill>
            <a:srgbClr val="D69E2E"/>
          </a:solidFill>
          <a:ln/>
        </p:spPr>
        <p:txBody>
          <a:bodyPr/>
          <a:lstStyle/>
          <a:p>
            <a:endParaRPr lang="zh-CN" altLang="en-US"/>
          </a:p>
        </p:txBody>
      </p:sp>
      <p:sp>
        <p:nvSpPr>
          <p:cNvPr id="6" name="Shape 4"/>
          <p:cNvSpPr/>
          <p:nvPr/>
        </p:nvSpPr>
        <p:spPr>
          <a:xfrm>
            <a:off x="727881" y="1746913"/>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D69E2E"/>
          </a:solidFill>
          <a:ln/>
        </p:spPr>
        <p:txBody>
          <a:bodyPr/>
          <a:lstStyle/>
          <a:p>
            <a:endParaRPr lang="zh-CN" altLang="en-US"/>
          </a:p>
        </p:txBody>
      </p:sp>
      <p:sp>
        <p:nvSpPr>
          <p:cNvPr id="7" name="Shape 5"/>
          <p:cNvSpPr/>
          <p:nvPr/>
        </p:nvSpPr>
        <p:spPr>
          <a:xfrm>
            <a:off x="864358" y="1880358"/>
            <a:ext cx="218364" cy="218364"/>
          </a:xfrm>
          <a:custGeom>
            <a:avLst/>
            <a:gdLst/>
            <a:ahLst/>
            <a:cxnLst/>
            <a:rect l="l" t="t" r="r" b="b"/>
            <a:pathLst>
              <a:path w="218364" h="218364">
                <a:moveTo>
                  <a:pt x="99160" y="2218"/>
                </a:moveTo>
                <a:cubicBezTo>
                  <a:pt x="105514" y="-725"/>
                  <a:pt x="112850" y="-725"/>
                  <a:pt x="119205" y="2218"/>
                </a:cubicBezTo>
                <a:lnTo>
                  <a:pt x="212436" y="45294"/>
                </a:lnTo>
                <a:cubicBezTo>
                  <a:pt x="216061" y="46957"/>
                  <a:pt x="218364" y="50582"/>
                  <a:pt x="218364" y="54591"/>
                </a:cubicBezTo>
                <a:cubicBezTo>
                  <a:pt x="218364" y="58600"/>
                  <a:pt x="216061" y="62225"/>
                  <a:pt x="212436" y="63889"/>
                </a:cubicBezTo>
                <a:lnTo>
                  <a:pt x="119205" y="106964"/>
                </a:lnTo>
                <a:cubicBezTo>
                  <a:pt x="112850" y="109907"/>
                  <a:pt x="105514" y="109907"/>
                  <a:pt x="99160" y="106964"/>
                </a:cubicBezTo>
                <a:lnTo>
                  <a:pt x="5928" y="63889"/>
                </a:lnTo>
                <a:cubicBezTo>
                  <a:pt x="2303" y="62183"/>
                  <a:pt x="0" y="58557"/>
                  <a:pt x="0" y="54591"/>
                </a:cubicBezTo>
                <a:cubicBezTo>
                  <a:pt x="0" y="50625"/>
                  <a:pt x="2303" y="46957"/>
                  <a:pt x="5928" y="45294"/>
                </a:cubicBezTo>
                <a:lnTo>
                  <a:pt x="99160" y="2218"/>
                </a:lnTo>
                <a:close/>
                <a:moveTo>
                  <a:pt x="20514" y="93146"/>
                </a:moveTo>
                <a:lnTo>
                  <a:pt x="90587" y="125517"/>
                </a:lnTo>
                <a:cubicBezTo>
                  <a:pt x="102401" y="130976"/>
                  <a:pt x="116006" y="130976"/>
                  <a:pt x="127820" y="125517"/>
                </a:cubicBezTo>
                <a:lnTo>
                  <a:pt x="197893" y="93146"/>
                </a:lnTo>
                <a:lnTo>
                  <a:pt x="212436" y="99885"/>
                </a:lnTo>
                <a:cubicBezTo>
                  <a:pt x="216061" y="101548"/>
                  <a:pt x="218364" y="105173"/>
                  <a:pt x="218364" y="109182"/>
                </a:cubicBezTo>
                <a:cubicBezTo>
                  <a:pt x="218364" y="113191"/>
                  <a:pt x="216061" y="116816"/>
                  <a:pt x="212436" y="118480"/>
                </a:cubicBezTo>
                <a:lnTo>
                  <a:pt x="119205" y="161555"/>
                </a:lnTo>
                <a:cubicBezTo>
                  <a:pt x="112850" y="164498"/>
                  <a:pt x="105514" y="164498"/>
                  <a:pt x="99160" y="161555"/>
                </a:cubicBezTo>
                <a:lnTo>
                  <a:pt x="5928" y="118480"/>
                </a:lnTo>
                <a:cubicBezTo>
                  <a:pt x="2303" y="116774"/>
                  <a:pt x="0" y="113148"/>
                  <a:pt x="0" y="109182"/>
                </a:cubicBezTo>
                <a:cubicBezTo>
                  <a:pt x="0" y="105216"/>
                  <a:pt x="2303" y="101548"/>
                  <a:pt x="5928" y="99885"/>
                </a:cubicBezTo>
                <a:lnTo>
                  <a:pt x="20472" y="93146"/>
                </a:lnTo>
                <a:close/>
                <a:moveTo>
                  <a:pt x="5928" y="154476"/>
                </a:moveTo>
                <a:lnTo>
                  <a:pt x="20472" y="147737"/>
                </a:lnTo>
                <a:lnTo>
                  <a:pt x="90544" y="180108"/>
                </a:lnTo>
                <a:cubicBezTo>
                  <a:pt x="102358" y="185567"/>
                  <a:pt x="115963" y="185567"/>
                  <a:pt x="127777" y="180108"/>
                </a:cubicBezTo>
                <a:lnTo>
                  <a:pt x="197850" y="147737"/>
                </a:lnTo>
                <a:lnTo>
                  <a:pt x="212393" y="154476"/>
                </a:lnTo>
                <a:cubicBezTo>
                  <a:pt x="216018" y="156139"/>
                  <a:pt x="218322" y="159764"/>
                  <a:pt x="218322" y="163773"/>
                </a:cubicBezTo>
                <a:cubicBezTo>
                  <a:pt x="218322" y="167782"/>
                  <a:pt x="216018" y="171407"/>
                  <a:pt x="212393" y="173071"/>
                </a:cubicBezTo>
                <a:lnTo>
                  <a:pt x="119162" y="216146"/>
                </a:lnTo>
                <a:cubicBezTo>
                  <a:pt x="112807" y="219089"/>
                  <a:pt x="105472" y="219089"/>
                  <a:pt x="99117" y="216146"/>
                </a:cubicBezTo>
                <a:lnTo>
                  <a:pt x="5928" y="173071"/>
                </a:lnTo>
                <a:cubicBezTo>
                  <a:pt x="2303" y="171365"/>
                  <a:pt x="0" y="167740"/>
                  <a:pt x="0" y="163773"/>
                </a:cubicBezTo>
                <a:cubicBezTo>
                  <a:pt x="0" y="159807"/>
                  <a:pt x="2303" y="156139"/>
                  <a:pt x="5928" y="154476"/>
                </a:cubicBezTo>
                <a:close/>
              </a:path>
            </a:pathLst>
          </a:custGeom>
          <a:solidFill>
            <a:srgbClr val="1A1D21"/>
          </a:solidFill>
          <a:ln/>
        </p:spPr>
        <p:txBody>
          <a:bodyPr/>
          <a:lstStyle/>
          <a:p>
            <a:endParaRPr lang="zh-CN" altLang="en-US"/>
          </a:p>
        </p:txBody>
      </p:sp>
      <p:sp>
        <p:nvSpPr>
          <p:cNvPr id="8" name="Text 6"/>
          <p:cNvSpPr/>
          <p:nvPr/>
        </p:nvSpPr>
        <p:spPr>
          <a:xfrm>
            <a:off x="1358710" y="1819701"/>
            <a:ext cx="1346579" cy="339678"/>
          </a:xfrm>
          <a:prstGeom prst="rect">
            <a:avLst/>
          </a:prstGeom>
          <a:noFill/>
          <a:ln/>
        </p:spPr>
        <p:txBody>
          <a:bodyPr wrap="square" lIns="0" tIns="0" rIns="0" bIns="0" rtlCol="0" anchor="ctr"/>
          <a:lstStyle/>
          <a:p>
            <a:pPr>
              <a:lnSpc>
                <a:spcPct val="120000"/>
              </a:lnSpc>
            </a:pPr>
            <a:r>
              <a:rPr lang="en-US" sz="1910" b="1" dirty="0">
                <a:solidFill>
                  <a:srgbClr val="D69E2E"/>
                </a:solidFill>
                <a:latin typeface="MiSans" pitchFamily="34" charset="0"/>
                <a:ea typeface="MiSans" pitchFamily="34" charset="-122"/>
                <a:cs typeface="MiSans" pitchFamily="34" charset="-120"/>
              </a:rPr>
              <a:t>Kafka Core</a:t>
            </a:r>
            <a:endParaRPr lang="en-US" sz="1600" dirty="0"/>
          </a:p>
        </p:txBody>
      </p:sp>
      <p:sp>
        <p:nvSpPr>
          <p:cNvPr id="9" name="Text 7"/>
          <p:cNvSpPr/>
          <p:nvPr/>
        </p:nvSpPr>
        <p:spPr>
          <a:xfrm>
            <a:off x="727881" y="2377743"/>
            <a:ext cx="8758830"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Kafka 的核心引擎，提供分布式消息传递的基础功能</a:t>
            </a:r>
            <a:endParaRPr lang="en-US" sz="1600" dirty="0"/>
          </a:p>
        </p:txBody>
      </p:sp>
      <p:sp>
        <p:nvSpPr>
          <p:cNvPr id="10" name="Text 8"/>
          <p:cNvSpPr/>
          <p:nvPr/>
        </p:nvSpPr>
        <p:spPr>
          <a:xfrm>
            <a:off x="727881" y="2765946"/>
            <a:ext cx="8746699" cy="242627"/>
          </a:xfrm>
          <a:prstGeom prst="rect">
            <a:avLst/>
          </a:prstGeom>
          <a:noFill/>
          <a:ln/>
        </p:spPr>
        <p:txBody>
          <a:bodyPr wrap="square" lIns="0" tIns="0" rIns="0" bIns="0" rtlCol="0" anchor="ctr"/>
          <a:lstStyle/>
          <a:p>
            <a:pPr>
              <a:lnSpc>
                <a:spcPct val="120000"/>
              </a:lnSpc>
            </a:pPr>
            <a:r>
              <a:rPr lang="en-US" sz="1337" b="1" dirty="0">
                <a:solidFill>
                  <a:srgbClr val="D69E2E"/>
                </a:solidFill>
                <a:latin typeface="MiSans" pitchFamily="34" charset="0"/>
                <a:ea typeface="MiSans" pitchFamily="34" charset="-122"/>
                <a:cs typeface="MiSans" pitchFamily="34" charset="-120"/>
              </a:rPr>
              <a:t>Broker:</a:t>
            </a:r>
            <a:r>
              <a:rPr lang="en-US" sz="1337" dirty="0">
                <a:solidFill>
                  <a:srgbClr val="E2E8F0">
                    <a:alpha val="80000"/>
                  </a:srgbClr>
                </a:solidFill>
                <a:latin typeface="MiSans" pitchFamily="34" charset="0"/>
                <a:ea typeface="MiSans" pitchFamily="34" charset="-122"/>
                <a:cs typeface="MiSans" pitchFamily="34" charset="-120"/>
              </a:rPr>
              <a:t> 消息代理节点，负责消息存储和传递</a:t>
            </a:r>
            <a:endParaRPr lang="en-US" sz="1600" dirty="0"/>
          </a:p>
        </p:txBody>
      </p:sp>
      <p:sp>
        <p:nvSpPr>
          <p:cNvPr id="11" name="Text 9"/>
          <p:cNvSpPr/>
          <p:nvPr/>
        </p:nvSpPr>
        <p:spPr>
          <a:xfrm>
            <a:off x="727881" y="3057099"/>
            <a:ext cx="8746699" cy="242627"/>
          </a:xfrm>
          <a:prstGeom prst="rect">
            <a:avLst/>
          </a:prstGeom>
          <a:noFill/>
          <a:ln/>
        </p:spPr>
        <p:txBody>
          <a:bodyPr wrap="square" lIns="0" tIns="0" rIns="0" bIns="0" rtlCol="0" anchor="ctr"/>
          <a:lstStyle/>
          <a:p>
            <a:pPr>
              <a:lnSpc>
                <a:spcPct val="120000"/>
              </a:lnSpc>
            </a:pPr>
            <a:r>
              <a:rPr lang="en-US" sz="1337" b="1" dirty="0">
                <a:solidFill>
                  <a:srgbClr val="D69E2E"/>
                </a:solidFill>
                <a:latin typeface="MiSans" pitchFamily="34" charset="0"/>
                <a:ea typeface="MiSans" pitchFamily="34" charset="-122"/>
                <a:cs typeface="MiSans" pitchFamily="34" charset="-120"/>
              </a:rPr>
              <a:t>Topic:</a:t>
            </a:r>
            <a:r>
              <a:rPr lang="en-US" sz="1337" dirty="0">
                <a:solidFill>
                  <a:srgbClr val="E2E8F0">
                    <a:alpha val="80000"/>
                  </a:srgbClr>
                </a:solidFill>
                <a:latin typeface="MiSans" pitchFamily="34" charset="0"/>
                <a:ea typeface="MiSans" pitchFamily="34" charset="-122"/>
                <a:cs typeface="MiSans" pitchFamily="34" charset="-120"/>
              </a:rPr>
              <a:t> 消息的逻辑分类，类似于数据库的表</a:t>
            </a:r>
            <a:endParaRPr lang="en-US" sz="1600" dirty="0"/>
          </a:p>
        </p:txBody>
      </p:sp>
      <p:sp>
        <p:nvSpPr>
          <p:cNvPr id="12" name="Text 10"/>
          <p:cNvSpPr/>
          <p:nvPr/>
        </p:nvSpPr>
        <p:spPr>
          <a:xfrm>
            <a:off x="727881" y="3348251"/>
            <a:ext cx="8746699" cy="242627"/>
          </a:xfrm>
          <a:prstGeom prst="rect">
            <a:avLst/>
          </a:prstGeom>
          <a:noFill/>
          <a:ln/>
        </p:spPr>
        <p:txBody>
          <a:bodyPr wrap="square" lIns="0" tIns="0" rIns="0" bIns="0" rtlCol="0" anchor="ctr"/>
          <a:lstStyle/>
          <a:p>
            <a:pPr>
              <a:lnSpc>
                <a:spcPct val="120000"/>
              </a:lnSpc>
            </a:pPr>
            <a:r>
              <a:rPr lang="en-US" sz="1337" b="1" dirty="0">
                <a:solidFill>
                  <a:srgbClr val="D69E2E"/>
                </a:solidFill>
                <a:latin typeface="MiSans" pitchFamily="34" charset="0"/>
                <a:ea typeface="MiSans" pitchFamily="34" charset="-122"/>
                <a:cs typeface="MiSans" pitchFamily="34" charset="-120"/>
              </a:rPr>
              <a:t>Partition:</a:t>
            </a:r>
            <a:r>
              <a:rPr lang="en-US" sz="1337" dirty="0">
                <a:solidFill>
                  <a:srgbClr val="E2E8F0">
                    <a:alpha val="80000"/>
                  </a:srgbClr>
                </a:solidFill>
                <a:latin typeface="MiSans" pitchFamily="34" charset="0"/>
                <a:ea typeface="MiSans" pitchFamily="34" charset="-122"/>
                <a:cs typeface="MiSans" pitchFamily="34" charset="-120"/>
              </a:rPr>
              <a:t> Topic 的分区，支持并行处理和水平扩展</a:t>
            </a:r>
            <a:endParaRPr lang="en-US" sz="1600" dirty="0"/>
          </a:p>
        </p:txBody>
      </p:sp>
      <p:sp>
        <p:nvSpPr>
          <p:cNvPr id="13" name="Shape 11"/>
          <p:cNvSpPr/>
          <p:nvPr/>
        </p:nvSpPr>
        <p:spPr>
          <a:xfrm>
            <a:off x="509516" y="3930555"/>
            <a:ext cx="9074245" cy="1941015"/>
          </a:xfrm>
          <a:custGeom>
            <a:avLst/>
            <a:gdLst/>
            <a:ahLst/>
            <a:cxnLst/>
            <a:rect l="l" t="t" r="r" b="b"/>
            <a:pathLst>
              <a:path w="9074245" h="1941015">
                <a:moveTo>
                  <a:pt x="48525" y="0"/>
                </a:moveTo>
                <a:lnTo>
                  <a:pt x="8977194" y="0"/>
                </a:lnTo>
                <a:cubicBezTo>
                  <a:pt x="9030794" y="0"/>
                  <a:pt x="9074245" y="43451"/>
                  <a:pt x="9074245" y="97051"/>
                </a:cubicBezTo>
                <a:lnTo>
                  <a:pt x="9074245" y="1843964"/>
                </a:lnTo>
                <a:cubicBezTo>
                  <a:pt x="9074245" y="1897564"/>
                  <a:pt x="9030794" y="1941015"/>
                  <a:pt x="8977194" y="1941015"/>
                </a:cubicBezTo>
                <a:lnTo>
                  <a:pt x="48525" y="1941015"/>
                </a:lnTo>
                <a:cubicBezTo>
                  <a:pt x="21726" y="1941015"/>
                  <a:pt x="0" y="1919289"/>
                  <a:pt x="0" y="1892490"/>
                </a:cubicBezTo>
                <a:lnTo>
                  <a:pt x="0" y="48525"/>
                </a:lnTo>
                <a:cubicBezTo>
                  <a:pt x="0" y="21743"/>
                  <a:pt x="21743" y="0"/>
                  <a:pt x="48525" y="0"/>
                </a:cubicBezTo>
                <a:close/>
              </a:path>
            </a:pathLst>
          </a:custGeom>
          <a:solidFill>
            <a:srgbClr val="4A5568">
              <a:alpha val="20000"/>
            </a:srgbClr>
          </a:solidFill>
          <a:ln/>
        </p:spPr>
        <p:txBody>
          <a:bodyPr/>
          <a:lstStyle/>
          <a:p>
            <a:endParaRPr lang="zh-CN" altLang="en-US"/>
          </a:p>
        </p:txBody>
      </p:sp>
      <p:sp>
        <p:nvSpPr>
          <p:cNvPr id="14" name="Shape 12"/>
          <p:cNvSpPr/>
          <p:nvPr/>
        </p:nvSpPr>
        <p:spPr>
          <a:xfrm>
            <a:off x="509516" y="3930555"/>
            <a:ext cx="48525" cy="1941015"/>
          </a:xfrm>
          <a:custGeom>
            <a:avLst/>
            <a:gdLst/>
            <a:ahLst/>
            <a:cxnLst/>
            <a:rect l="l" t="t" r="r" b="b"/>
            <a:pathLst>
              <a:path w="48525" h="1941015">
                <a:moveTo>
                  <a:pt x="48525" y="0"/>
                </a:moveTo>
                <a:lnTo>
                  <a:pt x="48525" y="0"/>
                </a:lnTo>
                <a:lnTo>
                  <a:pt x="48525" y="1941015"/>
                </a:lnTo>
                <a:lnTo>
                  <a:pt x="48525" y="1941015"/>
                </a:lnTo>
                <a:cubicBezTo>
                  <a:pt x="21726" y="1941015"/>
                  <a:pt x="0" y="1919289"/>
                  <a:pt x="0" y="1892490"/>
                </a:cubicBezTo>
                <a:lnTo>
                  <a:pt x="0" y="48525"/>
                </a:lnTo>
                <a:cubicBezTo>
                  <a:pt x="0" y="21726"/>
                  <a:pt x="21726" y="0"/>
                  <a:pt x="48525" y="0"/>
                </a:cubicBezTo>
                <a:close/>
              </a:path>
            </a:pathLst>
          </a:custGeom>
          <a:solidFill>
            <a:srgbClr val="718096"/>
          </a:solidFill>
          <a:ln/>
        </p:spPr>
        <p:txBody>
          <a:bodyPr/>
          <a:lstStyle/>
          <a:p>
            <a:endParaRPr lang="zh-CN" altLang="en-US"/>
          </a:p>
        </p:txBody>
      </p:sp>
      <p:sp>
        <p:nvSpPr>
          <p:cNvPr id="15" name="Shape 13"/>
          <p:cNvSpPr/>
          <p:nvPr/>
        </p:nvSpPr>
        <p:spPr>
          <a:xfrm>
            <a:off x="727881" y="4124657"/>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718096"/>
          </a:solidFill>
          <a:ln/>
        </p:spPr>
        <p:txBody>
          <a:bodyPr/>
          <a:lstStyle/>
          <a:p>
            <a:endParaRPr lang="zh-CN" altLang="en-US"/>
          </a:p>
        </p:txBody>
      </p:sp>
      <p:sp>
        <p:nvSpPr>
          <p:cNvPr id="16" name="Shape 14"/>
          <p:cNvSpPr/>
          <p:nvPr/>
        </p:nvSpPr>
        <p:spPr>
          <a:xfrm>
            <a:off x="864358" y="4258101"/>
            <a:ext cx="218364" cy="218364"/>
          </a:xfrm>
          <a:custGeom>
            <a:avLst/>
            <a:gdLst/>
            <a:ahLst/>
            <a:cxnLst/>
            <a:rect l="l" t="t" r="r" b="b"/>
            <a:pathLst>
              <a:path w="218364" h="218364">
                <a:moveTo>
                  <a:pt x="0" y="40943"/>
                </a:moveTo>
                <a:cubicBezTo>
                  <a:pt x="0" y="33394"/>
                  <a:pt x="6099" y="27296"/>
                  <a:pt x="13648" y="27296"/>
                </a:cubicBezTo>
                <a:lnTo>
                  <a:pt x="177421" y="27296"/>
                </a:lnTo>
                <a:cubicBezTo>
                  <a:pt x="184970" y="27296"/>
                  <a:pt x="191069" y="33394"/>
                  <a:pt x="191069" y="40943"/>
                </a:cubicBezTo>
                <a:cubicBezTo>
                  <a:pt x="191069" y="48492"/>
                  <a:pt x="184970" y="54591"/>
                  <a:pt x="177421" y="54591"/>
                </a:cubicBezTo>
                <a:lnTo>
                  <a:pt x="13648" y="54591"/>
                </a:lnTo>
                <a:cubicBezTo>
                  <a:pt x="6099" y="54591"/>
                  <a:pt x="0" y="48492"/>
                  <a:pt x="0" y="40943"/>
                </a:cubicBezTo>
                <a:close/>
                <a:moveTo>
                  <a:pt x="27296" y="109182"/>
                </a:moveTo>
                <a:cubicBezTo>
                  <a:pt x="27296" y="101633"/>
                  <a:pt x="33394" y="95534"/>
                  <a:pt x="40943" y="95534"/>
                </a:cubicBezTo>
                <a:lnTo>
                  <a:pt x="204716" y="95534"/>
                </a:lnTo>
                <a:cubicBezTo>
                  <a:pt x="212265" y="95534"/>
                  <a:pt x="218364" y="101633"/>
                  <a:pt x="218364" y="109182"/>
                </a:cubicBezTo>
                <a:cubicBezTo>
                  <a:pt x="218364" y="116731"/>
                  <a:pt x="212265" y="122830"/>
                  <a:pt x="204716" y="122830"/>
                </a:cubicBezTo>
                <a:lnTo>
                  <a:pt x="40943" y="122830"/>
                </a:lnTo>
                <a:cubicBezTo>
                  <a:pt x="33394" y="122830"/>
                  <a:pt x="27296" y="116731"/>
                  <a:pt x="27296" y="109182"/>
                </a:cubicBezTo>
                <a:close/>
                <a:moveTo>
                  <a:pt x="191069" y="177421"/>
                </a:moveTo>
                <a:cubicBezTo>
                  <a:pt x="191069" y="184970"/>
                  <a:pt x="184970" y="191069"/>
                  <a:pt x="177421" y="191069"/>
                </a:cubicBezTo>
                <a:lnTo>
                  <a:pt x="13648" y="191069"/>
                </a:lnTo>
                <a:cubicBezTo>
                  <a:pt x="6099" y="191069"/>
                  <a:pt x="0" y="184970"/>
                  <a:pt x="0" y="177421"/>
                </a:cubicBezTo>
                <a:cubicBezTo>
                  <a:pt x="0" y="169872"/>
                  <a:pt x="6099" y="163773"/>
                  <a:pt x="13648" y="163773"/>
                </a:cubicBezTo>
                <a:lnTo>
                  <a:pt x="177421" y="163773"/>
                </a:lnTo>
                <a:cubicBezTo>
                  <a:pt x="184970" y="163773"/>
                  <a:pt x="191069" y="169872"/>
                  <a:pt x="191069" y="177421"/>
                </a:cubicBezTo>
                <a:close/>
              </a:path>
            </a:pathLst>
          </a:custGeom>
          <a:solidFill>
            <a:srgbClr val="1A1D21"/>
          </a:solidFill>
          <a:ln/>
        </p:spPr>
        <p:txBody>
          <a:bodyPr/>
          <a:lstStyle/>
          <a:p>
            <a:endParaRPr lang="zh-CN" altLang="en-US"/>
          </a:p>
        </p:txBody>
      </p:sp>
      <p:sp>
        <p:nvSpPr>
          <p:cNvPr id="17" name="Text 15"/>
          <p:cNvSpPr/>
          <p:nvPr/>
        </p:nvSpPr>
        <p:spPr>
          <a:xfrm>
            <a:off x="1358710" y="4197445"/>
            <a:ext cx="1722651" cy="339678"/>
          </a:xfrm>
          <a:prstGeom prst="rect">
            <a:avLst/>
          </a:prstGeom>
          <a:noFill/>
          <a:ln/>
        </p:spPr>
        <p:txBody>
          <a:bodyPr wrap="square" lIns="0" tIns="0" rIns="0" bIns="0" rtlCol="0" anchor="ctr"/>
          <a:lstStyle/>
          <a:p>
            <a:pPr>
              <a:lnSpc>
                <a:spcPct val="120000"/>
              </a:lnSpc>
            </a:pPr>
            <a:r>
              <a:rPr lang="en-US" sz="1910" b="1" dirty="0">
                <a:solidFill>
                  <a:srgbClr val="718096"/>
                </a:solidFill>
                <a:latin typeface="MiSans" pitchFamily="34" charset="0"/>
                <a:ea typeface="MiSans" pitchFamily="34" charset="-122"/>
                <a:cs typeface="MiSans" pitchFamily="34" charset="-120"/>
              </a:rPr>
              <a:t>Kafka Streams</a:t>
            </a:r>
            <a:endParaRPr lang="en-US" sz="1600" dirty="0"/>
          </a:p>
        </p:txBody>
      </p:sp>
      <p:sp>
        <p:nvSpPr>
          <p:cNvPr id="18" name="Text 16"/>
          <p:cNvSpPr/>
          <p:nvPr/>
        </p:nvSpPr>
        <p:spPr>
          <a:xfrm>
            <a:off x="727881" y="4755487"/>
            <a:ext cx="8758830"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流处理库，用于构建实时流处理应用</a:t>
            </a:r>
            <a:endParaRPr lang="en-US" sz="1600" dirty="0"/>
          </a:p>
        </p:txBody>
      </p:sp>
      <p:sp>
        <p:nvSpPr>
          <p:cNvPr id="19" name="Text 17"/>
          <p:cNvSpPr/>
          <p:nvPr/>
        </p:nvSpPr>
        <p:spPr>
          <a:xfrm>
            <a:off x="727881" y="5143690"/>
            <a:ext cx="8746699" cy="242627"/>
          </a:xfrm>
          <a:prstGeom prst="rect">
            <a:avLst/>
          </a:prstGeom>
          <a:noFill/>
          <a:ln/>
        </p:spPr>
        <p:txBody>
          <a:bodyPr wrap="square" lIns="0" tIns="0" rIns="0" bIns="0"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 提供高级流处理 DSL 和低级 Processor API</a:t>
            </a:r>
            <a:endParaRPr lang="en-US" sz="1600" dirty="0"/>
          </a:p>
        </p:txBody>
      </p:sp>
      <p:sp>
        <p:nvSpPr>
          <p:cNvPr id="20" name="Text 18"/>
          <p:cNvSpPr/>
          <p:nvPr/>
        </p:nvSpPr>
        <p:spPr>
          <a:xfrm>
            <a:off x="727881" y="5434842"/>
            <a:ext cx="8746699" cy="242627"/>
          </a:xfrm>
          <a:prstGeom prst="rect">
            <a:avLst/>
          </a:prstGeom>
          <a:noFill/>
          <a:ln/>
        </p:spPr>
        <p:txBody>
          <a:bodyPr wrap="square" lIns="0" tIns="0" rIns="0" bIns="0"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 支持有状态处理、窗口操作、连接操作等</a:t>
            </a:r>
            <a:endParaRPr lang="en-US" sz="1600" dirty="0"/>
          </a:p>
        </p:txBody>
      </p:sp>
      <p:sp>
        <p:nvSpPr>
          <p:cNvPr id="21" name="Shape 19"/>
          <p:cNvSpPr/>
          <p:nvPr/>
        </p:nvSpPr>
        <p:spPr>
          <a:xfrm>
            <a:off x="509516" y="6017146"/>
            <a:ext cx="9074245" cy="1649863"/>
          </a:xfrm>
          <a:custGeom>
            <a:avLst/>
            <a:gdLst/>
            <a:ahLst/>
            <a:cxnLst/>
            <a:rect l="l" t="t" r="r" b="b"/>
            <a:pathLst>
              <a:path w="9074245" h="1649863">
                <a:moveTo>
                  <a:pt x="48525" y="0"/>
                </a:moveTo>
                <a:lnTo>
                  <a:pt x="8977200" y="0"/>
                </a:lnTo>
                <a:cubicBezTo>
                  <a:pt x="9030796" y="0"/>
                  <a:pt x="9074245" y="43448"/>
                  <a:pt x="9074245" y="97045"/>
                </a:cubicBezTo>
                <a:lnTo>
                  <a:pt x="9074245" y="1552818"/>
                </a:lnTo>
                <a:cubicBezTo>
                  <a:pt x="9074245" y="1606414"/>
                  <a:pt x="9030796" y="1649863"/>
                  <a:pt x="8977200" y="1649863"/>
                </a:cubicBezTo>
                <a:lnTo>
                  <a:pt x="48525" y="1649863"/>
                </a:lnTo>
                <a:cubicBezTo>
                  <a:pt x="21726" y="1649863"/>
                  <a:pt x="0" y="1628137"/>
                  <a:pt x="0" y="1601337"/>
                </a:cubicBezTo>
                <a:lnTo>
                  <a:pt x="0" y="48525"/>
                </a:lnTo>
                <a:cubicBezTo>
                  <a:pt x="0" y="21726"/>
                  <a:pt x="21726" y="0"/>
                  <a:pt x="48525" y="0"/>
                </a:cubicBezTo>
                <a:close/>
              </a:path>
            </a:pathLst>
          </a:custGeom>
          <a:solidFill>
            <a:srgbClr val="4A5568">
              <a:alpha val="20000"/>
            </a:srgbClr>
          </a:solidFill>
          <a:ln/>
        </p:spPr>
        <p:txBody>
          <a:bodyPr/>
          <a:lstStyle/>
          <a:p>
            <a:endParaRPr lang="zh-CN" altLang="en-US"/>
          </a:p>
        </p:txBody>
      </p:sp>
      <p:sp>
        <p:nvSpPr>
          <p:cNvPr id="22" name="Shape 20"/>
          <p:cNvSpPr/>
          <p:nvPr/>
        </p:nvSpPr>
        <p:spPr>
          <a:xfrm>
            <a:off x="509516" y="6017146"/>
            <a:ext cx="48525" cy="1649863"/>
          </a:xfrm>
          <a:custGeom>
            <a:avLst/>
            <a:gdLst/>
            <a:ahLst/>
            <a:cxnLst/>
            <a:rect l="l" t="t" r="r" b="b"/>
            <a:pathLst>
              <a:path w="48525" h="1649863">
                <a:moveTo>
                  <a:pt x="48525" y="0"/>
                </a:moveTo>
                <a:lnTo>
                  <a:pt x="48525" y="0"/>
                </a:lnTo>
                <a:lnTo>
                  <a:pt x="48525" y="1649863"/>
                </a:lnTo>
                <a:lnTo>
                  <a:pt x="48525" y="1649863"/>
                </a:lnTo>
                <a:cubicBezTo>
                  <a:pt x="21726" y="1649863"/>
                  <a:pt x="0" y="1628137"/>
                  <a:pt x="0" y="1601337"/>
                </a:cubicBezTo>
                <a:lnTo>
                  <a:pt x="0" y="48525"/>
                </a:lnTo>
                <a:cubicBezTo>
                  <a:pt x="0" y="21726"/>
                  <a:pt x="21726" y="0"/>
                  <a:pt x="48525" y="0"/>
                </a:cubicBezTo>
                <a:close/>
              </a:path>
            </a:pathLst>
          </a:custGeom>
          <a:solidFill>
            <a:srgbClr val="718096"/>
          </a:solidFill>
          <a:ln/>
        </p:spPr>
        <p:txBody>
          <a:bodyPr/>
          <a:lstStyle/>
          <a:p>
            <a:endParaRPr lang="zh-CN" altLang="en-US"/>
          </a:p>
        </p:txBody>
      </p:sp>
      <p:sp>
        <p:nvSpPr>
          <p:cNvPr id="23" name="Shape 21"/>
          <p:cNvSpPr/>
          <p:nvPr/>
        </p:nvSpPr>
        <p:spPr>
          <a:xfrm>
            <a:off x="727881" y="6211248"/>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718096"/>
          </a:solidFill>
          <a:ln/>
        </p:spPr>
        <p:txBody>
          <a:bodyPr/>
          <a:lstStyle/>
          <a:p>
            <a:endParaRPr lang="zh-CN" altLang="en-US"/>
          </a:p>
        </p:txBody>
      </p:sp>
      <p:sp>
        <p:nvSpPr>
          <p:cNvPr id="24" name="Shape 22"/>
          <p:cNvSpPr/>
          <p:nvPr/>
        </p:nvSpPr>
        <p:spPr>
          <a:xfrm>
            <a:off x="878006" y="6344693"/>
            <a:ext cx="191069" cy="218364"/>
          </a:xfrm>
          <a:custGeom>
            <a:avLst/>
            <a:gdLst/>
            <a:ahLst/>
            <a:cxnLst/>
            <a:rect l="l" t="t" r="r" b="b"/>
            <a:pathLst>
              <a:path w="191069" h="218364">
                <a:moveTo>
                  <a:pt x="54591" y="-13648"/>
                </a:moveTo>
                <a:cubicBezTo>
                  <a:pt x="62140" y="-13648"/>
                  <a:pt x="68239" y="-7549"/>
                  <a:pt x="68239" y="0"/>
                </a:cubicBezTo>
                <a:lnTo>
                  <a:pt x="68239" y="40943"/>
                </a:lnTo>
                <a:lnTo>
                  <a:pt x="122830" y="40943"/>
                </a:lnTo>
                <a:lnTo>
                  <a:pt x="122830" y="0"/>
                </a:lnTo>
                <a:cubicBezTo>
                  <a:pt x="122830" y="-7549"/>
                  <a:pt x="128929" y="-13648"/>
                  <a:pt x="136478" y="-13648"/>
                </a:cubicBezTo>
                <a:cubicBezTo>
                  <a:pt x="144027" y="-13648"/>
                  <a:pt x="150125" y="-7549"/>
                  <a:pt x="150125" y="0"/>
                </a:cubicBezTo>
                <a:lnTo>
                  <a:pt x="150125" y="40943"/>
                </a:lnTo>
                <a:lnTo>
                  <a:pt x="177421" y="40943"/>
                </a:lnTo>
                <a:cubicBezTo>
                  <a:pt x="184970" y="40943"/>
                  <a:pt x="191069" y="47042"/>
                  <a:pt x="191069" y="54591"/>
                </a:cubicBezTo>
                <a:cubicBezTo>
                  <a:pt x="191069" y="62140"/>
                  <a:pt x="184970" y="68239"/>
                  <a:pt x="177421" y="68239"/>
                </a:cubicBezTo>
                <a:lnTo>
                  <a:pt x="177421" y="95534"/>
                </a:lnTo>
                <a:cubicBezTo>
                  <a:pt x="177421" y="136094"/>
                  <a:pt x="147908" y="169787"/>
                  <a:pt x="109182" y="176269"/>
                </a:cubicBezTo>
                <a:lnTo>
                  <a:pt x="109182" y="204716"/>
                </a:lnTo>
                <a:cubicBezTo>
                  <a:pt x="109182" y="212265"/>
                  <a:pt x="103083" y="218364"/>
                  <a:pt x="95534" y="218364"/>
                </a:cubicBezTo>
                <a:cubicBezTo>
                  <a:pt x="87985" y="218364"/>
                  <a:pt x="81887" y="212265"/>
                  <a:pt x="81887" y="204716"/>
                </a:cubicBezTo>
                <a:lnTo>
                  <a:pt x="81887" y="176269"/>
                </a:lnTo>
                <a:cubicBezTo>
                  <a:pt x="43161" y="169787"/>
                  <a:pt x="13648" y="136094"/>
                  <a:pt x="13648" y="95534"/>
                </a:cubicBezTo>
                <a:lnTo>
                  <a:pt x="13648" y="68239"/>
                </a:lnTo>
                <a:cubicBezTo>
                  <a:pt x="6099" y="68239"/>
                  <a:pt x="0" y="62140"/>
                  <a:pt x="0" y="54591"/>
                </a:cubicBezTo>
                <a:cubicBezTo>
                  <a:pt x="0" y="47042"/>
                  <a:pt x="6099" y="40943"/>
                  <a:pt x="13648" y="40943"/>
                </a:cubicBezTo>
                <a:lnTo>
                  <a:pt x="40943" y="40943"/>
                </a:lnTo>
                <a:lnTo>
                  <a:pt x="40943" y="0"/>
                </a:lnTo>
                <a:cubicBezTo>
                  <a:pt x="40943" y="-7549"/>
                  <a:pt x="47042" y="-13648"/>
                  <a:pt x="54591" y="-13648"/>
                </a:cubicBezTo>
                <a:close/>
              </a:path>
            </a:pathLst>
          </a:custGeom>
          <a:solidFill>
            <a:srgbClr val="1A1D21"/>
          </a:solidFill>
          <a:ln/>
        </p:spPr>
        <p:txBody>
          <a:bodyPr/>
          <a:lstStyle/>
          <a:p>
            <a:endParaRPr lang="zh-CN" altLang="en-US"/>
          </a:p>
        </p:txBody>
      </p:sp>
      <p:sp>
        <p:nvSpPr>
          <p:cNvPr id="25" name="Text 23"/>
          <p:cNvSpPr/>
          <p:nvPr/>
        </p:nvSpPr>
        <p:spPr>
          <a:xfrm>
            <a:off x="1358710" y="6284036"/>
            <a:ext cx="1746913" cy="339678"/>
          </a:xfrm>
          <a:prstGeom prst="rect">
            <a:avLst/>
          </a:prstGeom>
          <a:noFill/>
          <a:ln/>
        </p:spPr>
        <p:txBody>
          <a:bodyPr wrap="square" lIns="0" tIns="0" rIns="0" bIns="0" rtlCol="0" anchor="ctr"/>
          <a:lstStyle/>
          <a:p>
            <a:pPr>
              <a:lnSpc>
                <a:spcPct val="120000"/>
              </a:lnSpc>
            </a:pPr>
            <a:r>
              <a:rPr lang="en-US" sz="1910" b="1" dirty="0">
                <a:solidFill>
                  <a:srgbClr val="718096"/>
                </a:solidFill>
                <a:latin typeface="MiSans" pitchFamily="34" charset="0"/>
                <a:ea typeface="MiSans" pitchFamily="34" charset="-122"/>
                <a:cs typeface="MiSans" pitchFamily="34" charset="-120"/>
              </a:rPr>
              <a:t>Kafka Connect</a:t>
            </a:r>
            <a:endParaRPr lang="en-US" sz="1600" dirty="0"/>
          </a:p>
        </p:txBody>
      </p:sp>
      <p:sp>
        <p:nvSpPr>
          <p:cNvPr id="26" name="Text 24"/>
          <p:cNvSpPr/>
          <p:nvPr/>
        </p:nvSpPr>
        <p:spPr>
          <a:xfrm>
            <a:off x="727881" y="6842078"/>
            <a:ext cx="8758830"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数据集成框架，用于连接 Kafka 与其他数据系统</a:t>
            </a:r>
            <a:endParaRPr lang="en-US" sz="1600" dirty="0"/>
          </a:p>
        </p:txBody>
      </p:sp>
      <p:sp>
        <p:nvSpPr>
          <p:cNvPr id="27" name="Text 25"/>
          <p:cNvSpPr/>
          <p:nvPr/>
        </p:nvSpPr>
        <p:spPr>
          <a:xfrm>
            <a:off x="727881" y="7230281"/>
            <a:ext cx="4343021" cy="242627"/>
          </a:xfrm>
          <a:prstGeom prst="rect">
            <a:avLst/>
          </a:prstGeom>
          <a:noFill/>
          <a:ln/>
        </p:spPr>
        <p:txBody>
          <a:bodyPr wrap="square" lIns="0" tIns="0" rIns="0" bIns="0" rtlCol="0" anchor="ctr"/>
          <a:lstStyle/>
          <a:p>
            <a:pPr>
              <a:lnSpc>
                <a:spcPct val="120000"/>
              </a:lnSpc>
            </a:pPr>
            <a:r>
              <a:rPr lang="en-US" sz="1337" b="1" dirty="0">
                <a:solidFill>
                  <a:srgbClr val="718096"/>
                </a:solidFill>
                <a:latin typeface="MiSans" pitchFamily="34" charset="0"/>
                <a:ea typeface="MiSans" pitchFamily="34" charset="-122"/>
                <a:cs typeface="MiSans" pitchFamily="34" charset="-120"/>
              </a:rPr>
              <a:t>Source Connector:</a:t>
            </a:r>
            <a:r>
              <a:rPr lang="en-US" sz="1337" dirty="0">
                <a:solidFill>
                  <a:srgbClr val="E2E8F0">
                    <a:alpha val="80000"/>
                  </a:srgbClr>
                </a:solidFill>
                <a:latin typeface="MiSans" pitchFamily="34" charset="0"/>
                <a:ea typeface="MiSans" pitchFamily="34" charset="-122"/>
                <a:cs typeface="MiSans" pitchFamily="34" charset="-120"/>
              </a:rPr>
              <a:t> 从外部系统读取数据到 Kafka</a:t>
            </a:r>
            <a:endParaRPr lang="en-US" sz="1600" dirty="0"/>
          </a:p>
        </p:txBody>
      </p:sp>
      <p:sp>
        <p:nvSpPr>
          <p:cNvPr id="28" name="Text 26"/>
          <p:cNvSpPr/>
          <p:nvPr/>
        </p:nvSpPr>
        <p:spPr>
          <a:xfrm>
            <a:off x="5130705" y="7230281"/>
            <a:ext cx="4343021" cy="242627"/>
          </a:xfrm>
          <a:prstGeom prst="rect">
            <a:avLst/>
          </a:prstGeom>
          <a:noFill/>
          <a:ln/>
        </p:spPr>
        <p:txBody>
          <a:bodyPr wrap="square" lIns="0" tIns="0" rIns="0" bIns="0" rtlCol="0" anchor="ctr"/>
          <a:lstStyle/>
          <a:p>
            <a:pPr>
              <a:lnSpc>
                <a:spcPct val="120000"/>
              </a:lnSpc>
            </a:pPr>
            <a:r>
              <a:rPr lang="en-US" sz="1337" b="1" dirty="0">
                <a:solidFill>
                  <a:srgbClr val="718096"/>
                </a:solidFill>
                <a:latin typeface="MiSans" pitchFamily="34" charset="0"/>
                <a:ea typeface="MiSans" pitchFamily="34" charset="-122"/>
                <a:cs typeface="MiSans" pitchFamily="34" charset="-120"/>
              </a:rPr>
              <a:t>Sink Connector:</a:t>
            </a:r>
            <a:r>
              <a:rPr lang="en-US" sz="1337" dirty="0">
                <a:solidFill>
                  <a:srgbClr val="E2E8F0">
                    <a:alpha val="80000"/>
                  </a:srgbClr>
                </a:solidFill>
                <a:latin typeface="MiSans" pitchFamily="34" charset="0"/>
                <a:ea typeface="MiSans" pitchFamily="34" charset="-122"/>
                <a:cs typeface="MiSans" pitchFamily="34" charset="-120"/>
              </a:rPr>
              <a:t> 从 Kafka 写入数据到外部系统</a:t>
            </a:r>
            <a:endParaRPr lang="en-US" sz="1600" dirty="0"/>
          </a:p>
        </p:txBody>
      </p:sp>
      <p:sp>
        <p:nvSpPr>
          <p:cNvPr id="29" name="Shape 27"/>
          <p:cNvSpPr/>
          <p:nvPr/>
        </p:nvSpPr>
        <p:spPr>
          <a:xfrm>
            <a:off x="9800419" y="1552812"/>
            <a:ext cx="5980752" cy="1941015"/>
          </a:xfrm>
          <a:custGeom>
            <a:avLst/>
            <a:gdLst/>
            <a:ahLst/>
            <a:cxnLst/>
            <a:rect l="l" t="t" r="r" b="b"/>
            <a:pathLst>
              <a:path w="5980752" h="1941015">
                <a:moveTo>
                  <a:pt x="48525" y="0"/>
                </a:moveTo>
                <a:lnTo>
                  <a:pt x="5883701" y="0"/>
                </a:lnTo>
                <a:cubicBezTo>
                  <a:pt x="5937301" y="0"/>
                  <a:pt x="5980752" y="43451"/>
                  <a:pt x="5980752" y="97051"/>
                </a:cubicBezTo>
                <a:lnTo>
                  <a:pt x="5980752" y="1843964"/>
                </a:lnTo>
                <a:cubicBezTo>
                  <a:pt x="5980752" y="1897564"/>
                  <a:pt x="5937301" y="1941015"/>
                  <a:pt x="5883701" y="1941015"/>
                </a:cubicBezTo>
                <a:lnTo>
                  <a:pt x="48525" y="1941015"/>
                </a:lnTo>
                <a:cubicBezTo>
                  <a:pt x="21726" y="1941015"/>
                  <a:pt x="0" y="1919289"/>
                  <a:pt x="0" y="1892490"/>
                </a:cubicBezTo>
                <a:lnTo>
                  <a:pt x="0" y="48525"/>
                </a:lnTo>
                <a:cubicBezTo>
                  <a:pt x="0" y="21743"/>
                  <a:pt x="21743" y="0"/>
                  <a:pt x="48525" y="0"/>
                </a:cubicBezTo>
                <a:close/>
              </a:path>
            </a:pathLst>
          </a:custGeom>
          <a:solidFill>
            <a:srgbClr val="4A5568">
              <a:alpha val="20000"/>
            </a:srgbClr>
          </a:solidFill>
          <a:ln/>
        </p:spPr>
        <p:txBody>
          <a:bodyPr/>
          <a:lstStyle/>
          <a:p>
            <a:endParaRPr lang="zh-CN" altLang="en-US"/>
          </a:p>
        </p:txBody>
      </p:sp>
      <p:sp>
        <p:nvSpPr>
          <p:cNvPr id="30" name="Shape 28"/>
          <p:cNvSpPr/>
          <p:nvPr/>
        </p:nvSpPr>
        <p:spPr>
          <a:xfrm>
            <a:off x="9800419" y="1552812"/>
            <a:ext cx="48525" cy="1941015"/>
          </a:xfrm>
          <a:custGeom>
            <a:avLst/>
            <a:gdLst/>
            <a:ahLst/>
            <a:cxnLst/>
            <a:rect l="l" t="t" r="r" b="b"/>
            <a:pathLst>
              <a:path w="48525" h="1941015">
                <a:moveTo>
                  <a:pt x="48525" y="0"/>
                </a:moveTo>
                <a:lnTo>
                  <a:pt x="48525" y="0"/>
                </a:lnTo>
                <a:lnTo>
                  <a:pt x="48525" y="1941015"/>
                </a:lnTo>
                <a:lnTo>
                  <a:pt x="48525" y="1941015"/>
                </a:lnTo>
                <a:cubicBezTo>
                  <a:pt x="21726" y="1941015"/>
                  <a:pt x="0" y="1919289"/>
                  <a:pt x="0" y="1892490"/>
                </a:cubicBezTo>
                <a:lnTo>
                  <a:pt x="0" y="48525"/>
                </a:lnTo>
                <a:cubicBezTo>
                  <a:pt x="0" y="21726"/>
                  <a:pt x="21726" y="0"/>
                  <a:pt x="48525" y="0"/>
                </a:cubicBezTo>
                <a:close/>
              </a:path>
            </a:pathLst>
          </a:custGeom>
          <a:solidFill>
            <a:srgbClr val="D69E2E"/>
          </a:solidFill>
          <a:ln/>
        </p:spPr>
        <p:txBody>
          <a:bodyPr/>
          <a:lstStyle/>
          <a:p>
            <a:endParaRPr lang="zh-CN" altLang="en-US"/>
          </a:p>
        </p:txBody>
      </p:sp>
      <p:sp>
        <p:nvSpPr>
          <p:cNvPr id="31" name="Shape 29"/>
          <p:cNvSpPr/>
          <p:nvPr/>
        </p:nvSpPr>
        <p:spPr>
          <a:xfrm>
            <a:off x="10018784" y="1746913"/>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D69E2E"/>
          </a:solidFill>
          <a:ln/>
        </p:spPr>
        <p:txBody>
          <a:bodyPr/>
          <a:lstStyle/>
          <a:p>
            <a:endParaRPr lang="zh-CN" altLang="en-US"/>
          </a:p>
        </p:txBody>
      </p:sp>
      <p:sp>
        <p:nvSpPr>
          <p:cNvPr id="32" name="Shape 30"/>
          <p:cNvSpPr/>
          <p:nvPr/>
        </p:nvSpPr>
        <p:spPr>
          <a:xfrm>
            <a:off x="10168909" y="1880358"/>
            <a:ext cx="191069" cy="218364"/>
          </a:xfrm>
          <a:custGeom>
            <a:avLst/>
            <a:gdLst/>
            <a:ahLst/>
            <a:cxnLst/>
            <a:rect l="l" t="t" r="r" b="b"/>
            <a:pathLst>
              <a:path w="191069" h="218364">
                <a:moveTo>
                  <a:pt x="191069" y="87772"/>
                </a:moveTo>
                <a:cubicBezTo>
                  <a:pt x="184757" y="91952"/>
                  <a:pt x="177506" y="95321"/>
                  <a:pt x="169957" y="98008"/>
                </a:cubicBezTo>
                <a:cubicBezTo>
                  <a:pt x="149912" y="105173"/>
                  <a:pt x="123598" y="109182"/>
                  <a:pt x="95534" y="109182"/>
                </a:cubicBezTo>
                <a:cubicBezTo>
                  <a:pt x="67471" y="109182"/>
                  <a:pt x="41114" y="105130"/>
                  <a:pt x="21111" y="98008"/>
                </a:cubicBezTo>
                <a:cubicBezTo>
                  <a:pt x="13605" y="95321"/>
                  <a:pt x="6312" y="91952"/>
                  <a:pt x="0" y="87772"/>
                </a:cubicBezTo>
                <a:lnTo>
                  <a:pt x="0" y="122830"/>
                </a:lnTo>
                <a:cubicBezTo>
                  <a:pt x="0" y="141681"/>
                  <a:pt x="42777" y="156949"/>
                  <a:pt x="95534" y="156949"/>
                </a:cubicBezTo>
                <a:cubicBezTo>
                  <a:pt x="148291" y="156949"/>
                  <a:pt x="191069" y="141681"/>
                  <a:pt x="191069" y="122830"/>
                </a:cubicBezTo>
                <a:lnTo>
                  <a:pt x="191069" y="87772"/>
                </a:lnTo>
                <a:close/>
                <a:moveTo>
                  <a:pt x="191069" y="54591"/>
                </a:moveTo>
                <a:lnTo>
                  <a:pt x="191069" y="34119"/>
                </a:lnTo>
                <a:cubicBezTo>
                  <a:pt x="191069" y="15268"/>
                  <a:pt x="148291" y="0"/>
                  <a:pt x="95534" y="0"/>
                </a:cubicBezTo>
                <a:cubicBezTo>
                  <a:pt x="42777" y="0"/>
                  <a:pt x="0" y="15268"/>
                  <a:pt x="0" y="34119"/>
                </a:cubicBezTo>
                <a:lnTo>
                  <a:pt x="0" y="54591"/>
                </a:lnTo>
                <a:cubicBezTo>
                  <a:pt x="0" y="73442"/>
                  <a:pt x="42777" y="88710"/>
                  <a:pt x="95534" y="88710"/>
                </a:cubicBezTo>
                <a:cubicBezTo>
                  <a:pt x="148291" y="88710"/>
                  <a:pt x="191069" y="73442"/>
                  <a:pt x="191069" y="54591"/>
                </a:cubicBezTo>
                <a:close/>
                <a:moveTo>
                  <a:pt x="169957" y="166247"/>
                </a:moveTo>
                <a:cubicBezTo>
                  <a:pt x="149955" y="173369"/>
                  <a:pt x="123640" y="177421"/>
                  <a:pt x="95534" y="177421"/>
                </a:cubicBezTo>
                <a:cubicBezTo>
                  <a:pt x="67428" y="177421"/>
                  <a:pt x="41114" y="173369"/>
                  <a:pt x="21111" y="166247"/>
                </a:cubicBezTo>
                <a:cubicBezTo>
                  <a:pt x="13605" y="163560"/>
                  <a:pt x="6312" y="160191"/>
                  <a:pt x="0" y="156011"/>
                </a:cubicBezTo>
                <a:lnTo>
                  <a:pt x="0" y="184245"/>
                </a:lnTo>
                <a:cubicBezTo>
                  <a:pt x="0" y="203096"/>
                  <a:pt x="42777" y="218364"/>
                  <a:pt x="95534" y="218364"/>
                </a:cubicBezTo>
                <a:cubicBezTo>
                  <a:pt x="148291" y="218364"/>
                  <a:pt x="191069" y="203096"/>
                  <a:pt x="191069" y="184245"/>
                </a:cubicBezTo>
                <a:lnTo>
                  <a:pt x="191069" y="156011"/>
                </a:lnTo>
                <a:cubicBezTo>
                  <a:pt x="184757" y="160191"/>
                  <a:pt x="177506" y="163560"/>
                  <a:pt x="169957" y="166247"/>
                </a:cubicBezTo>
                <a:close/>
              </a:path>
            </a:pathLst>
          </a:custGeom>
          <a:solidFill>
            <a:srgbClr val="1A1D21"/>
          </a:solidFill>
          <a:ln/>
        </p:spPr>
        <p:txBody>
          <a:bodyPr/>
          <a:lstStyle/>
          <a:p>
            <a:endParaRPr lang="zh-CN" altLang="en-US"/>
          </a:p>
        </p:txBody>
      </p:sp>
      <p:sp>
        <p:nvSpPr>
          <p:cNvPr id="33" name="Text 31"/>
          <p:cNvSpPr/>
          <p:nvPr/>
        </p:nvSpPr>
        <p:spPr>
          <a:xfrm>
            <a:off x="10649613" y="1819701"/>
            <a:ext cx="897719" cy="339678"/>
          </a:xfrm>
          <a:prstGeom prst="rect">
            <a:avLst/>
          </a:prstGeom>
          <a:noFill/>
          <a:ln/>
        </p:spPr>
        <p:txBody>
          <a:bodyPr wrap="square" lIns="0" tIns="0" rIns="0" bIns="0" rtlCol="0" anchor="ctr"/>
          <a:lstStyle/>
          <a:p>
            <a:pPr>
              <a:lnSpc>
                <a:spcPct val="120000"/>
              </a:lnSpc>
            </a:pPr>
            <a:r>
              <a:rPr lang="en-US" sz="1910" b="1" dirty="0">
                <a:solidFill>
                  <a:srgbClr val="D69E2E"/>
                </a:solidFill>
                <a:latin typeface="MiSans" pitchFamily="34" charset="0"/>
                <a:ea typeface="MiSans" pitchFamily="34" charset="-122"/>
                <a:cs typeface="MiSans" pitchFamily="34" charset="-120"/>
              </a:rPr>
              <a:t>ksqlDB</a:t>
            </a:r>
            <a:endParaRPr lang="en-US" sz="1600" dirty="0"/>
          </a:p>
        </p:txBody>
      </p:sp>
      <p:sp>
        <p:nvSpPr>
          <p:cNvPr id="34" name="Text 32"/>
          <p:cNvSpPr/>
          <p:nvPr/>
        </p:nvSpPr>
        <p:spPr>
          <a:xfrm>
            <a:off x="10018784" y="2377743"/>
            <a:ext cx="5665337"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基于 SQL 的流处理引擎</a:t>
            </a:r>
            <a:endParaRPr lang="en-US" sz="1600" dirty="0"/>
          </a:p>
        </p:txBody>
      </p:sp>
      <p:sp>
        <p:nvSpPr>
          <p:cNvPr id="35" name="Text 33"/>
          <p:cNvSpPr/>
          <p:nvPr/>
        </p:nvSpPr>
        <p:spPr>
          <a:xfrm>
            <a:off x="10018784" y="2765946"/>
            <a:ext cx="5653206" cy="242627"/>
          </a:xfrm>
          <a:prstGeom prst="rect">
            <a:avLst/>
          </a:prstGeom>
          <a:noFill/>
          <a:ln/>
        </p:spPr>
        <p:txBody>
          <a:bodyPr wrap="square" lIns="0" tIns="0" rIns="0" bIns="0"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 提供声明式的流处理 SQL 接口</a:t>
            </a:r>
            <a:endParaRPr lang="en-US" sz="1600" dirty="0"/>
          </a:p>
        </p:txBody>
      </p:sp>
      <p:sp>
        <p:nvSpPr>
          <p:cNvPr id="36" name="Text 34"/>
          <p:cNvSpPr/>
          <p:nvPr/>
        </p:nvSpPr>
        <p:spPr>
          <a:xfrm>
            <a:off x="10018784" y="3057099"/>
            <a:ext cx="5653206" cy="242627"/>
          </a:xfrm>
          <a:prstGeom prst="rect">
            <a:avLst/>
          </a:prstGeom>
          <a:noFill/>
          <a:ln/>
        </p:spPr>
        <p:txBody>
          <a:bodyPr wrap="square" lIns="0" tIns="0" rIns="0" bIns="0"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 支持流表连接、聚合、过滤等操作</a:t>
            </a:r>
            <a:endParaRPr lang="en-US" sz="1600" dirty="0"/>
          </a:p>
        </p:txBody>
      </p:sp>
      <p:sp>
        <p:nvSpPr>
          <p:cNvPr id="37" name="Shape 35"/>
          <p:cNvSpPr/>
          <p:nvPr/>
        </p:nvSpPr>
        <p:spPr>
          <a:xfrm>
            <a:off x="9800419" y="3639403"/>
            <a:ext cx="5980752" cy="1746913"/>
          </a:xfrm>
          <a:custGeom>
            <a:avLst/>
            <a:gdLst/>
            <a:ahLst/>
            <a:cxnLst/>
            <a:rect l="l" t="t" r="r" b="b"/>
            <a:pathLst>
              <a:path w="5980752" h="1746913">
                <a:moveTo>
                  <a:pt x="48525" y="0"/>
                </a:moveTo>
                <a:lnTo>
                  <a:pt x="5883694" y="0"/>
                </a:lnTo>
                <a:cubicBezTo>
                  <a:pt x="5937298" y="0"/>
                  <a:pt x="5980752" y="43455"/>
                  <a:pt x="5980752" y="97059"/>
                </a:cubicBezTo>
                <a:lnTo>
                  <a:pt x="5980752" y="1649855"/>
                </a:lnTo>
                <a:cubicBezTo>
                  <a:pt x="5980752" y="1703459"/>
                  <a:pt x="5937298" y="1746913"/>
                  <a:pt x="5883694" y="1746913"/>
                </a:cubicBezTo>
                <a:lnTo>
                  <a:pt x="48525" y="1746913"/>
                </a:lnTo>
                <a:cubicBezTo>
                  <a:pt x="21726" y="1746913"/>
                  <a:pt x="0" y="1725188"/>
                  <a:pt x="0" y="1698388"/>
                </a:cubicBezTo>
                <a:lnTo>
                  <a:pt x="0" y="48525"/>
                </a:lnTo>
                <a:cubicBezTo>
                  <a:pt x="0" y="21726"/>
                  <a:pt x="21726" y="0"/>
                  <a:pt x="48525" y="0"/>
                </a:cubicBezTo>
                <a:close/>
              </a:path>
            </a:pathLst>
          </a:custGeom>
          <a:solidFill>
            <a:srgbClr val="4A5568">
              <a:alpha val="20000"/>
            </a:srgbClr>
          </a:solidFill>
          <a:ln/>
        </p:spPr>
        <p:txBody>
          <a:bodyPr/>
          <a:lstStyle/>
          <a:p>
            <a:endParaRPr lang="zh-CN" altLang="en-US"/>
          </a:p>
        </p:txBody>
      </p:sp>
      <p:sp>
        <p:nvSpPr>
          <p:cNvPr id="38" name="Shape 36"/>
          <p:cNvSpPr/>
          <p:nvPr/>
        </p:nvSpPr>
        <p:spPr>
          <a:xfrm>
            <a:off x="9800419" y="3639403"/>
            <a:ext cx="48525" cy="1746913"/>
          </a:xfrm>
          <a:custGeom>
            <a:avLst/>
            <a:gdLst/>
            <a:ahLst/>
            <a:cxnLst/>
            <a:rect l="l" t="t" r="r" b="b"/>
            <a:pathLst>
              <a:path w="48525" h="1746913">
                <a:moveTo>
                  <a:pt x="48525" y="0"/>
                </a:moveTo>
                <a:lnTo>
                  <a:pt x="48525" y="0"/>
                </a:lnTo>
                <a:lnTo>
                  <a:pt x="48525" y="1746913"/>
                </a:lnTo>
                <a:lnTo>
                  <a:pt x="48525" y="1746913"/>
                </a:lnTo>
                <a:cubicBezTo>
                  <a:pt x="21726" y="1746913"/>
                  <a:pt x="0" y="1725188"/>
                  <a:pt x="0" y="1698388"/>
                </a:cubicBezTo>
                <a:lnTo>
                  <a:pt x="0" y="48525"/>
                </a:lnTo>
                <a:cubicBezTo>
                  <a:pt x="0" y="21726"/>
                  <a:pt x="21726" y="0"/>
                  <a:pt x="48525" y="0"/>
                </a:cubicBezTo>
                <a:close/>
              </a:path>
            </a:pathLst>
          </a:custGeom>
          <a:solidFill>
            <a:srgbClr val="718096"/>
          </a:solidFill>
          <a:ln/>
        </p:spPr>
        <p:txBody>
          <a:bodyPr/>
          <a:lstStyle/>
          <a:p>
            <a:endParaRPr lang="zh-CN" altLang="en-US"/>
          </a:p>
        </p:txBody>
      </p:sp>
      <p:sp>
        <p:nvSpPr>
          <p:cNvPr id="39" name="Shape 37"/>
          <p:cNvSpPr/>
          <p:nvPr/>
        </p:nvSpPr>
        <p:spPr>
          <a:xfrm>
            <a:off x="10018784" y="3833504"/>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718096"/>
          </a:solidFill>
          <a:ln/>
        </p:spPr>
        <p:txBody>
          <a:bodyPr/>
          <a:lstStyle/>
          <a:p>
            <a:endParaRPr lang="zh-CN" altLang="en-US"/>
          </a:p>
        </p:txBody>
      </p:sp>
      <p:sp>
        <p:nvSpPr>
          <p:cNvPr id="40" name="Shape 38"/>
          <p:cNvSpPr/>
          <p:nvPr/>
        </p:nvSpPr>
        <p:spPr>
          <a:xfrm>
            <a:off x="10141613" y="3966949"/>
            <a:ext cx="245660" cy="218364"/>
          </a:xfrm>
          <a:custGeom>
            <a:avLst/>
            <a:gdLst/>
            <a:ahLst/>
            <a:cxnLst/>
            <a:rect l="l" t="t" r="r" b="b"/>
            <a:pathLst>
              <a:path w="245660" h="218364">
                <a:moveTo>
                  <a:pt x="153879" y="512"/>
                </a:moveTo>
                <a:cubicBezTo>
                  <a:pt x="146628" y="-1578"/>
                  <a:pt x="139079" y="2644"/>
                  <a:pt x="136989" y="9895"/>
                </a:cubicBezTo>
                <a:lnTo>
                  <a:pt x="82398" y="200963"/>
                </a:lnTo>
                <a:cubicBezTo>
                  <a:pt x="80309" y="208214"/>
                  <a:pt x="84531" y="215763"/>
                  <a:pt x="91781" y="217852"/>
                </a:cubicBezTo>
                <a:cubicBezTo>
                  <a:pt x="99032" y="219942"/>
                  <a:pt x="106580" y="215720"/>
                  <a:pt x="108670" y="208470"/>
                </a:cubicBezTo>
                <a:lnTo>
                  <a:pt x="163261" y="17401"/>
                </a:lnTo>
                <a:cubicBezTo>
                  <a:pt x="165351" y="10151"/>
                  <a:pt x="161129" y="2602"/>
                  <a:pt x="153879" y="512"/>
                </a:cubicBezTo>
                <a:close/>
                <a:moveTo>
                  <a:pt x="181430" y="58557"/>
                </a:moveTo>
                <a:cubicBezTo>
                  <a:pt x="176099" y="63889"/>
                  <a:pt x="176099" y="72546"/>
                  <a:pt x="181430" y="77878"/>
                </a:cubicBezTo>
                <a:lnTo>
                  <a:pt x="212734" y="109182"/>
                </a:lnTo>
                <a:lnTo>
                  <a:pt x="181430" y="140487"/>
                </a:lnTo>
                <a:cubicBezTo>
                  <a:pt x="176099" y="145818"/>
                  <a:pt x="176099" y="154476"/>
                  <a:pt x="181430" y="159807"/>
                </a:cubicBezTo>
                <a:cubicBezTo>
                  <a:pt x="186761" y="165138"/>
                  <a:pt x="195419" y="165138"/>
                  <a:pt x="200750" y="159807"/>
                </a:cubicBezTo>
                <a:lnTo>
                  <a:pt x="241693" y="118863"/>
                </a:lnTo>
                <a:cubicBezTo>
                  <a:pt x="247024" y="113532"/>
                  <a:pt x="247024" y="104875"/>
                  <a:pt x="241693" y="99543"/>
                </a:cubicBezTo>
                <a:lnTo>
                  <a:pt x="200750" y="58600"/>
                </a:lnTo>
                <a:cubicBezTo>
                  <a:pt x="195419" y="53269"/>
                  <a:pt x="186761" y="53269"/>
                  <a:pt x="181430" y="58600"/>
                </a:cubicBezTo>
                <a:close/>
                <a:moveTo>
                  <a:pt x="64272" y="58557"/>
                </a:moveTo>
                <a:cubicBezTo>
                  <a:pt x="58941" y="53226"/>
                  <a:pt x="50283" y="53226"/>
                  <a:pt x="44952" y="58557"/>
                </a:cubicBezTo>
                <a:lnTo>
                  <a:pt x="4009" y="99501"/>
                </a:lnTo>
                <a:cubicBezTo>
                  <a:pt x="-1322" y="104832"/>
                  <a:pt x="-1322" y="113490"/>
                  <a:pt x="4009" y="118821"/>
                </a:cubicBezTo>
                <a:lnTo>
                  <a:pt x="44952" y="159764"/>
                </a:lnTo>
                <a:cubicBezTo>
                  <a:pt x="50283" y="165095"/>
                  <a:pt x="58941" y="165095"/>
                  <a:pt x="64272" y="159764"/>
                </a:cubicBezTo>
                <a:cubicBezTo>
                  <a:pt x="69604" y="154433"/>
                  <a:pt x="69604" y="145775"/>
                  <a:pt x="64272" y="140444"/>
                </a:cubicBezTo>
                <a:lnTo>
                  <a:pt x="32968" y="109182"/>
                </a:lnTo>
                <a:lnTo>
                  <a:pt x="64230" y="77878"/>
                </a:lnTo>
                <a:cubicBezTo>
                  <a:pt x="69561" y="72546"/>
                  <a:pt x="69561" y="63889"/>
                  <a:pt x="64230" y="58557"/>
                </a:cubicBezTo>
                <a:close/>
              </a:path>
            </a:pathLst>
          </a:custGeom>
          <a:solidFill>
            <a:srgbClr val="1A1D21"/>
          </a:solidFill>
          <a:ln/>
        </p:spPr>
        <p:txBody>
          <a:bodyPr/>
          <a:lstStyle/>
          <a:p>
            <a:endParaRPr lang="zh-CN" altLang="en-US"/>
          </a:p>
        </p:txBody>
      </p:sp>
      <p:sp>
        <p:nvSpPr>
          <p:cNvPr id="41" name="Text 39"/>
          <p:cNvSpPr/>
          <p:nvPr/>
        </p:nvSpPr>
        <p:spPr>
          <a:xfrm>
            <a:off x="10649613" y="3906293"/>
            <a:ext cx="1577075" cy="339678"/>
          </a:xfrm>
          <a:prstGeom prst="rect">
            <a:avLst/>
          </a:prstGeom>
          <a:noFill/>
          <a:ln/>
        </p:spPr>
        <p:txBody>
          <a:bodyPr wrap="square" lIns="0" tIns="0" rIns="0" bIns="0" rtlCol="0" anchor="ctr"/>
          <a:lstStyle/>
          <a:p>
            <a:pPr>
              <a:lnSpc>
                <a:spcPct val="120000"/>
              </a:lnSpc>
            </a:pPr>
            <a:r>
              <a:rPr lang="en-US" sz="1910" b="1" dirty="0">
                <a:solidFill>
                  <a:srgbClr val="718096"/>
                </a:solidFill>
                <a:latin typeface="MiSans" pitchFamily="34" charset="0"/>
                <a:ea typeface="MiSans" pitchFamily="34" charset="-122"/>
                <a:cs typeface="MiSans" pitchFamily="34" charset="-120"/>
              </a:rPr>
              <a:t>Kafka Clients</a:t>
            </a:r>
            <a:endParaRPr lang="en-US" sz="1600" dirty="0"/>
          </a:p>
        </p:txBody>
      </p:sp>
      <p:sp>
        <p:nvSpPr>
          <p:cNvPr id="42" name="Text 40"/>
          <p:cNvSpPr/>
          <p:nvPr/>
        </p:nvSpPr>
        <p:spPr>
          <a:xfrm>
            <a:off x="10018784" y="4464334"/>
            <a:ext cx="5665337"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各种编程语言的客户端库</a:t>
            </a:r>
            <a:endParaRPr lang="en-US" sz="1600" dirty="0"/>
          </a:p>
        </p:txBody>
      </p:sp>
      <p:sp>
        <p:nvSpPr>
          <p:cNvPr id="43" name="Shape 41"/>
          <p:cNvSpPr/>
          <p:nvPr/>
        </p:nvSpPr>
        <p:spPr>
          <a:xfrm>
            <a:off x="10018784" y="4852537"/>
            <a:ext cx="545910" cy="339678"/>
          </a:xfrm>
          <a:custGeom>
            <a:avLst/>
            <a:gdLst/>
            <a:ahLst/>
            <a:cxnLst/>
            <a:rect l="l" t="t" r="r" b="b"/>
            <a:pathLst>
              <a:path w="545910" h="339678">
                <a:moveTo>
                  <a:pt x="48526" y="0"/>
                </a:moveTo>
                <a:lnTo>
                  <a:pt x="497384" y="0"/>
                </a:lnTo>
                <a:cubicBezTo>
                  <a:pt x="524184" y="0"/>
                  <a:pt x="545910" y="21726"/>
                  <a:pt x="545910" y="48526"/>
                </a:cubicBezTo>
                <a:lnTo>
                  <a:pt x="545910" y="291151"/>
                </a:lnTo>
                <a:cubicBezTo>
                  <a:pt x="545910" y="317952"/>
                  <a:pt x="524184" y="339678"/>
                  <a:pt x="497384" y="339678"/>
                </a:cubicBezTo>
                <a:lnTo>
                  <a:pt x="48526" y="339678"/>
                </a:lnTo>
                <a:cubicBezTo>
                  <a:pt x="21726" y="339678"/>
                  <a:pt x="0" y="317952"/>
                  <a:pt x="0" y="291151"/>
                </a:cubicBezTo>
                <a:lnTo>
                  <a:pt x="0" y="48526"/>
                </a:lnTo>
                <a:cubicBezTo>
                  <a:pt x="0" y="21744"/>
                  <a:pt x="21744" y="0"/>
                  <a:pt x="48526" y="0"/>
                </a:cubicBezTo>
                <a:close/>
              </a:path>
            </a:pathLst>
          </a:custGeom>
          <a:solidFill>
            <a:srgbClr val="4A5568">
              <a:alpha val="40000"/>
            </a:srgbClr>
          </a:solidFill>
          <a:ln/>
        </p:spPr>
        <p:txBody>
          <a:bodyPr/>
          <a:lstStyle/>
          <a:p>
            <a:endParaRPr lang="zh-CN" altLang="en-US"/>
          </a:p>
        </p:txBody>
      </p:sp>
      <p:sp>
        <p:nvSpPr>
          <p:cNvPr id="44" name="Text 42"/>
          <p:cNvSpPr/>
          <p:nvPr/>
        </p:nvSpPr>
        <p:spPr>
          <a:xfrm>
            <a:off x="10018784" y="4852537"/>
            <a:ext cx="630830" cy="339678"/>
          </a:xfrm>
          <a:prstGeom prst="rect">
            <a:avLst/>
          </a:prstGeom>
          <a:noFill/>
          <a:ln/>
        </p:spPr>
        <p:txBody>
          <a:bodyPr wrap="square" lIns="97051" tIns="48525" rIns="97051" bIns="48525"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Java</a:t>
            </a:r>
            <a:endParaRPr lang="en-US" sz="1600" dirty="0"/>
          </a:p>
        </p:txBody>
      </p:sp>
      <p:sp>
        <p:nvSpPr>
          <p:cNvPr id="45" name="Shape 43"/>
          <p:cNvSpPr/>
          <p:nvPr/>
        </p:nvSpPr>
        <p:spPr>
          <a:xfrm>
            <a:off x="10657006" y="4852537"/>
            <a:ext cx="740012" cy="339678"/>
          </a:xfrm>
          <a:custGeom>
            <a:avLst/>
            <a:gdLst/>
            <a:ahLst/>
            <a:cxnLst/>
            <a:rect l="l" t="t" r="r" b="b"/>
            <a:pathLst>
              <a:path w="740012" h="339678">
                <a:moveTo>
                  <a:pt x="48526" y="0"/>
                </a:moveTo>
                <a:lnTo>
                  <a:pt x="691486" y="0"/>
                </a:lnTo>
                <a:cubicBezTo>
                  <a:pt x="718286" y="0"/>
                  <a:pt x="740012" y="21726"/>
                  <a:pt x="740012" y="48526"/>
                </a:cubicBezTo>
                <a:lnTo>
                  <a:pt x="740012" y="291151"/>
                </a:lnTo>
                <a:cubicBezTo>
                  <a:pt x="740012" y="317952"/>
                  <a:pt x="718286" y="339678"/>
                  <a:pt x="691486" y="339678"/>
                </a:cubicBezTo>
                <a:lnTo>
                  <a:pt x="48526" y="339678"/>
                </a:lnTo>
                <a:cubicBezTo>
                  <a:pt x="21726" y="339678"/>
                  <a:pt x="0" y="317952"/>
                  <a:pt x="0" y="291151"/>
                </a:cubicBezTo>
                <a:lnTo>
                  <a:pt x="0" y="48526"/>
                </a:lnTo>
                <a:cubicBezTo>
                  <a:pt x="0" y="21744"/>
                  <a:pt x="21744" y="0"/>
                  <a:pt x="48526" y="0"/>
                </a:cubicBezTo>
                <a:close/>
              </a:path>
            </a:pathLst>
          </a:custGeom>
          <a:solidFill>
            <a:srgbClr val="4A5568">
              <a:alpha val="40000"/>
            </a:srgbClr>
          </a:solidFill>
          <a:ln/>
        </p:spPr>
        <p:txBody>
          <a:bodyPr/>
          <a:lstStyle/>
          <a:p>
            <a:endParaRPr lang="zh-CN" altLang="en-US"/>
          </a:p>
        </p:txBody>
      </p:sp>
      <p:sp>
        <p:nvSpPr>
          <p:cNvPr id="46" name="Text 44"/>
          <p:cNvSpPr/>
          <p:nvPr/>
        </p:nvSpPr>
        <p:spPr>
          <a:xfrm>
            <a:off x="10657006" y="4852537"/>
            <a:ext cx="824931" cy="339678"/>
          </a:xfrm>
          <a:prstGeom prst="rect">
            <a:avLst/>
          </a:prstGeom>
          <a:noFill/>
          <a:ln/>
        </p:spPr>
        <p:txBody>
          <a:bodyPr wrap="square" lIns="97051" tIns="48525" rIns="97051" bIns="48525"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Python</a:t>
            </a:r>
            <a:endParaRPr lang="en-US" sz="1600" dirty="0"/>
          </a:p>
        </p:txBody>
      </p:sp>
      <p:sp>
        <p:nvSpPr>
          <p:cNvPr id="47" name="Shape 45"/>
          <p:cNvSpPr/>
          <p:nvPr/>
        </p:nvSpPr>
        <p:spPr>
          <a:xfrm>
            <a:off x="11492173" y="4852537"/>
            <a:ext cx="412466" cy="339678"/>
          </a:xfrm>
          <a:custGeom>
            <a:avLst/>
            <a:gdLst/>
            <a:ahLst/>
            <a:cxnLst/>
            <a:rect l="l" t="t" r="r" b="b"/>
            <a:pathLst>
              <a:path w="412466" h="339678">
                <a:moveTo>
                  <a:pt x="48526" y="0"/>
                </a:moveTo>
                <a:lnTo>
                  <a:pt x="363939" y="0"/>
                </a:lnTo>
                <a:cubicBezTo>
                  <a:pt x="390740" y="0"/>
                  <a:pt x="412466" y="21726"/>
                  <a:pt x="412466" y="48526"/>
                </a:cubicBezTo>
                <a:lnTo>
                  <a:pt x="412466" y="291151"/>
                </a:lnTo>
                <a:cubicBezTo>
                  <a:pt x="412466" y="317952"/>
                  <a:pt x="390740" y="339678"/>
                  <a:pt x="363939" y="339678"/>
                </a:cubicBezTo>
                <a:lnTo>
                  <a:pt x="48526" y="339678"/>
                </a:lnTo>
                <a:cubicBezTo>
                  <a:pt x="21726" y="339678"/>
                  <a:pt x="0" y="317952"/>
                  <a:pt x="0" y="291151"/>
                </a:cubicBezTo>
                <a:lnTo>
                  <a:pt x="0" y="48526"/>
                </a:lnTo>
                <a:cubicBezTo>
                  <a:pt x="0" y="21744"/>
                  <a:pt x="21744" y="0"/>
                  <a:pt x="48526" y="0"/>
                </a:cubicBezTo>
                <a:close/>
              </a:path>
            </a:pathLst>
          </a:custGeom>
          <a:solidFill>
            <a:srgbClr val="4A5568">
              <a:alpha val="40000"/>
            </a:srgbClr>
          </a:solidFill>
          <a:ln/>
        </p:spPr>
        <p:txBody>
          <a:bodyPr/>
          <a:lstStyle/>
          <a:p>
            <a:endParaRPr lang="zh-CN" altLang="en-US"/>
          </a:p>
        </p:txBody>
      </p:sp>
      <p:sp>
        <p:nvSpPr>
          <p:cNvPr id="48" name="Text 46"/>
          <p:cNvSpPr/>
          <p:nvPr/>
        </p:nvSpPr>
        <p:spPr>
          <a:xfrm>
            <a:off x="11492173" y="4852537"/>
            <a:ext cx="497385" cy="339678"/>
          </a:xfrm>
          <a:prstGeom prst="rect">
            <a:avLst/>
          </a:prstGeom>
          <a:noFill/>
          <a:ln/>
        </p:spPr>
        <p:txBody>
          <a:bodyPr wrap="square" lIns="97051" tIns="48525" rIns="97051" bIns="48525"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Go</a:t>
            </a:r>
            <a:endParaRPr lang="en-US" sz="1600" dirty="0"/>
          </a:p>
        </p:txBody>
      </p:sp>
      <p:sp>
        <p:nvSpPr>
          <p:cNvPr id="49" name="Shape 47"/>
          <p:cNvSpPr/>
          <p:nvPr/>
        </p:nvSpPr>
        <p:spPr>
          <a:xfrm>
            <a:off x="12005481" y="4852537"/>
            <a:ext cx="558042" cy="339678"/>
          </a:xfrm>
          <a:custGeom>
            <a:avLst/>
            <a:gdLst/>
            <a:ahLst/>
            <a:cxnLst/>
            <a:rect l="l" t="t" r="r" b="b"/>
            <a:pathLst>
              <a:path w="558042" h="339678">
                <a:moveTo>
                  <a:pt x="48526" y="0"/>
                </a:moveTo>
                <a:lnTo>
                  <a:pt x="509515" y="0"/>
                </a:lnTo>
                <a:cubicBezTo>
                  <a:pt x="536316" y="0"/>
                  <a:pt x="558042" y="21726"/>
                  <a:pt x="558042" y="48526"/>
                </a:cubicBezTo>
                <a:lnTo>
                  <a:pt x="558042" y="291151"/>
                </a:lnTo>
                <a:cubicBezTo>
                  <a:pt x="558042" y="317952"/>
                  <a:pt x="536316" y="339678"/>
                  <a:pt x="509515" y="339678"/>
                </a:cubicBezTo>
                <a:lnTo>
                  <a:pt x="48526" y="339678"/>
                </a:lnTo>
                <a:cubicBezTo>
                  <a:pt x="21726" y="339678"/>
                  <a:pt x="0" y="317952"/>
                  <a:pt x="0" y="291151"/>
                </a:cubicBezTo>
                <a:lnTo>
                  <a:pt x="0" y="48526"/>
                </a:lnTo>
                <a:cubicBezTo>
                  <a:pt x="0" y="21744"/>
                  <a:pt x="21744" y="0"/>
                  <a:pt x="48526" y="0"/>
                </a:cubicBezTo>
                <a:close/>
              </a:path>
            </a:pathLst>
          </a:custGeom>
          <a:solidFill>
            <a:srgbClr val="4A5568">
              <a:alpha val="40000"/>
            </a:srgbClr>
          </a:solidFill>
          <a:ln/>
        </p:spPr>
        <p:txBody>
          <a:bodyPr/>
          <a:lstStyle/>
          <a:p>
            <a:endParaRPr lang="zh-CN" altLang="en-US"/>
          </a:p>
        </p:txBody>
      </p:sp>
      <p:sp>
        <p:nvSpPr>
          <p:cNvPr id="50" name="Text 48"/>
          <p:cNvSpPr/>
          <p:nvPr/>
        </p:nvSpPr>
        <p:spPr>
          <a:xfrm>
            <a:off x="12005481" y="4852537"/>
            <a:ext cx="642961" cy="339678"/>
          </a:xfrm>
          <a:prstGeom prst="rect">
            <a:avLst/>
          </a:prstGeom>
          <a:noFill/>
          <a:ln/>
        </p:spPr>
        <p:txBody>
          <a:bodyPr wrap="square" lIns="97051" tIns="48525" rIns="97051" bIns="48525" rtlCol="0" anchor="ctr"/>
          <a:lstStyle/>
          <a:p>
            <a:pPr>
              <a:lnSpc>
                <a:spcPct val="120000"/>
              </a:lnSpc>
            </a:pPr>
            <a:r>
              <a:rPr lang="en-US" sz="1337" dirty="0">
                <a:solidFill>
                  <a:srgbClr val="E2E8F0">
                    <a:alpha val="80000"/>
                  </a:srgbClr>
                </a:solidFill>
                <a:latin typeface="MiSans" pitchFamily="34" charset="0"/>
                <a:ea typeface="MiSans" pitchFamily="34" charset="-122"/>
                <a:cs typeface="MiSans" pitchFamily="34" charset="-120"/>
              </a:rPr>
              <a:t>.NET</a:t>
            </a:r>
            <a:endParaRPr lang="en-US" sz="1600" dirty="0"/>
          </a:p>
        </p:txBody>
      </p:sp>
      <p:sp>
        <p:nvSpPr>
          <p:cNvPr id="51" name="Shape 49"/>
          <p:cNvSpPr/>
          <p:nvPr/>
        </p:nvSpPr>
        <p:spPr>
          <a:xfrm>
            <a:off x="9800419" y="5531893"/>
            <a:ext cx="5980752" cy="1941015"/>
          </a:xfrm>
          <a:custGeom>
            <a:avLst/>
            <a:gdLst/>
            <a:ahLst/>
            <a:cxnLst/>
            <a:rect l="l" t="t" r="r" b="b"/>
            <a:pathLst>
              <a:path w="5980752" h="1941015">
                <a:moveTo>
                  <a:pt x="48525" y="0"/>
                </a:moveTo>
                <a:lnTo>
                  <a:pt x="5883701" y="0"/>
                </a:lnTo>
                <a:cubicBezTo>
                  <a:pt x="5937301" y="0"/>
                  <a:pt x="5980752" y="43451"/>
                  <a:pt x="5980752" y="97051"/>
                </a:cubicBezTo>
                <a:lnTo>
                  <a:pt x="5980752" y="1843964"/>
                </a:lnTo>
                <a:cubicBezTo>
                  <a:pt x="5980752" y="1897564"/>
                  <a:pt x="5937301" y="1941015"/>
                  <a:pt x="5883701" y="1941015"/>
                </a:cubicBezTo>
                <a:lnTo>
                  <a:pt x="48525" y="1941015"/>
                </a:lnTo>
                <a:cubicBezTo>
                  <a:pt x="21726" y="1941015"/>
                  <a:pt x="0" y="1919289"/>
                  <a:pt x="0" y="1892490"/>
                </a:cubicBezTo>
                <a:lnTo>
                  <a:pt x="0" y="48525"/>
                </a:lnTo>
                <a:cubicBezTo>
                  <a:pt x="0" y="21743"/>
                  <a:pt x="21743" y="0"/>
                  <a:pt x="48525" y="0"/>
                </a:cubicBezTo>
                <a:close/>
              </a:path>
            </a:pathLst>
          </a:custGeom>
          <a:solidFill>
            <a:srgbClr val="4A5568">
              <a:alpha val="20000"/>
            </a:srgbClr>
          </a:solidFill>
          <a:ln/>
        </p:spPr>
        <p:txBody>
          <a:bodyPr/>
          <a:lstStyle/>
          <a:p>
            <a:endParaRPr lang="zh-CN" altLang="en-US"/>
          </a:p>
        </p:txBody>
      </p:sp>
      <p:sp>
        <p:nvSpPr>
          <p:cNvPr id="52" name="Shape 50"/>
          <p:cNvSpPr/>
          <p:nvPr/>
        </p:nvSpPr>
        <p:spPr>
          <a:xfrm>
            <a:off x="9800419" y="5531893"/>
            <a:ext cx="48525" cy="1941015"/>
          </a:xfrm>
          <a:custGeom>
            <a:avLst/>
            <a:gdLst/>
            <a:ahLst/>
            <a:cxnLst/>
            <a:rect l="l" t="t" r="r" b="b"/>
            <a:pathLst>
              <a:path w="48525" h="1941015">
                <a:moveTo>
                  <a:pt x="48525" y="0"/>
                </a:moveTo>
                <a:lnTo>
                  <a:pt x="48525" y="0"/>
                </a:lnTo>
                <a:lnTo>
                  <a:pt x="48525" y="1941015"/>
                </a:lnTo>
                <a:lnTo>
                  <a:pt x="48525" y="1941015"/>
                </a:lnTo>
                <a:cubicBezTo>
                  <a:pt x="21726" y="1941015"/>
                  <a:pt x="0" y="1919289"/>
                  <a:pt x="0" y="1892490"/>
                </a:cubicBezTo>
                <a:lnTo>
                  <a:pt x="0" y="48525"/>
                </a:lnTo>
                <a:cubicBezTo>
                  <a:pt x="0" y="21726"/>
                  <a:pt x="21726" y="0"/>
                  <a:pt x="48525" y="0"/>
                </a:cubicBezTo>
                <a:close/>
              </a:path>
            </a:pathLst>
          </a:custGeom>
          <a:solidFill>
            <a:srgbClr val="D69E2E"/>
          </a:solidFill>
          <a:ln/>
        </p:spPr>
        <p:txBody>
          <a:bodyPr/>
          <a:lstStyle/>
          <a:p>
            <a:endParaRPr lang="zh-CN" altLang="en-US"/>
          </a:p>
        </p:txBody>
      </p:sp>
      <p:sp>
        <p:nvSpPr>
          <p:cNvPr id="53" name="Shape 51"/>
          <p:cNvSpPr/>
          <p:nvPr/>
        </p:nvSpPr>
        <p:spPr>
          <a:xfrm>
            <a:off x="10018784" y="5725994"/>
            <a:ext cx="485254" cy="485254"/>
          </a:xfrm>
          <a:custGeom>
            <a:avLst/>
            <a:gdLst/>
            <a:ahLst/>
            <a:cxnLst/>
            <a:rect l="l" t="t" r="r" b="b"/>
            <a:pathLst>
              <a:path w="485254" h="485254">
                <a:moveTo>
                  <a:pt x="97051" y="0"/>
                </a:moveTo>
                <a:lnTo>
                  <a:pt x="388203" y="0"/>
                </a:lnTo>
                <a:cubicBezTo>
                  <a:pt x="441803" y="0"/>
                  <a:pt x="485254" y="43451"/>
                  <a:pt x="485254" y="97051"/>
                </a:cubicBezTo>
                <a:lnTo>
                  <a:pt x="485254" y="388203"/>
                </a:lnTo>
                <a:cubicBezTo>
                  <a:pt x="485254" y="441803"/>
                  <a:pt x="441803" y="485254"/>
                  <a:pt x="388203" y="485254"/>
                </a:cubicBezTo>
                <a:lnTo>
                  <a:pt x="97051" y="485254"/>
                </a:lnTo>
                <a:cubicBezTo>
                  <a:pt x="43451" y="485254"/>
                  <a:pt x="0" y="441803"/>
                  <a:pt x="0" y="388203"/>
                </a:cubicBezTo>
                <a:lnTo>
                  <a:pt x="0" y="97051"/>
                </a:lnTo>
                <a:cubicBezTo>
                  <a:pt x="0" y="43487"/>
                  <a:pt x="43487" y="0"/>
                  <a:pt x="97051" y="0"/>
                </a:cubicBezTo>
                <a:close/>
              </a:path>
            </a:pathLst>
          </a:custGeom>
          <a:solidFill>
            <a:srgbClr val="D69E2E"/>
          </a:solidFill>
          <a:ln/>
        </p:spPr>
        <p:txBody>
          <a:bodyPr/>
          <a:lstStyle/>
          <a:p>
            <a:endParaRPr lang="zh-CN" altLang="en-US"/>
          </a:p>
        </p:txBody>
      </p:sp>
      <p:sp>
        <p:nvSpPr>
          <p:cNvPr id="54" name="Shape 52"/>
          <p:cNvSpPr/>
          <p:nvPr/>
        </p:nvSpPr>
        <p:spPr>
          <a:xfrm>
            <a:off x="10155261" y="5859439"/>
            <a:ext cx="218364" cy="218364"/>
          </a:xfrm>
          <a:custGeom>
            <a:avLst/>
            <a:gdLst/>
            <a:ahLst/>
            <a:cxnLst/>
            <a:rect l="l" t="t" r="r" b="b"/>
            <a:pathLst>
              <a:path w="218364" h="218364">
                <a:moveTo>
                  <a:pt x="81887" y="27296"/>
                </a:moveTo>
                <a:cubicBezTo>
                  <a:pt x="81887" y="19747"/>
                  <a:pt x="87985" y="13648"/>
                  <a:pt x="95534" y="13648"/>
                </a:cubicBezTo>
                <a:lnTo>
                  <a:pt x="122830" y="13648"/>
                </a:lnTo>
                <a:cubicBezTo>
                  <a:pt x="130379" y="13648"/>
                  <a:pt x="136478" y="19747"/>
                  <a:pt x="136478" y="27296"/>
                </a:cubicBezTo>
                <a:lnTo>
                  <a:pt x="136478" y="54591"/>
                </a:lnTo>
                <a:cubicBezTo>
                  <a:pt x="136478" y="62140"/>
                  <a:pt x="130379" y="68239"/>
                  <a:pt x="122830" y="68239"/>
                </a:cubicBezTo>
                <a:lnTo>
                  <a:pt x="119418" y="68239"/>
                </a:lnTo>
                <a:lnTo>
                  <a:pt x="119418" y="95534"/>
                </a:lnTo>
                <a:lnTo>
                  <a:pt x="170597" y="95534"/>
                </a:lnTo>
                <a:cubicBezTo>
                  <a:pt x="187571" y="95534"/>
                  <a:pt x="201304" y="109267"/>
                  <a:pt x="201304" y="126242"/>
                </a:cubicBezTo>
                <a:lnTo>
                  <a:pt x="201304" y="150125"/>
                </a:lnTo>
                <a:lnTo>
                  <a:pt x="204716" y="150125"/>
                </a:lnTo>
                <a:cubicBezTo>
                  <a:pt x="212265" y="150125"/>
                  <a:pt x="218364" y="156224"/>
                  <a:pt x="218364" y="163773"/>
                </a:cubicBezTo>
                <a:lnTo>
                  <a:pt x="218364" y="191069"/>
                </a:lnTo>
                <a:cubicBezTo>
                  <a:pt x="218364" y="198618"/>
                  <a:pt x="212265" y="204716"/>
                  <a:pt x="204716" y="204716"/>
                </a:cubicBezTo>
                <a:lnTo>
                  <a:pt x="177421" y="204716"/>
                </a:lnTo>
                <a:cubicBezTo>
                  <a:pt x="169872" y="204716"/>
                  <a:pt x="163773" y="198618"/>
                  <a:pt x="163773" y="191069"/>
                </a:cubicBezTo>
                <a:lnTo>
                  <a:pt x="163773" y="163773"/>
                </a:lnTo>
                <a:cubicBezTo>
                  <a:pt x="163773" y="156224"/>
                  <a:pt x="169872" y="150125"/>
                  <a:pt x="177421" y="150125"/>
                </a:cubicBezTo>
                <a:lnTo>
                  <a:pt x="180833" y="150125"/>
                </a:lnTo>
                <a:lnTo>
                  <a:pt x="180833" y="126242"/>
                </a:lnTo>
                <a:cubicBezTo>
                  <a:pt x="180833" y="120569"/>
                  <a:pt x="176269" y="116006"/>
                  <a:pt x="170597" y="116006"/>
                </a:cubicBezTo>
                <a:lnTo>
                  <a:pt x="119418" y="116006"/>
                </a:lnTo>
                <a:lnTo>
                  <a:pt x="119418" y="150125"/>
                </a:lnTo>
                <a:lnTo>
                  <a:pt x="122830" y="150125"/>
                </a:lnTo>
                <a:cubicBezTo>
                  <a:pt x="130379" y="150125"/>
                  <a:pt x="136478" y="156224"/>
                  <a:pt x="136478" y="163773"/>
                </a:cubicBezTo>
                <a:lnTo>
                  <a:pt x="136478" y="191069"/>
                </a:lnTo>
                <a:cubicBezTo>
                  <a:pt x="136478" y="198618"/>
                  <a:pt x="130379" y="204716"/>
                  <a:pt x="122830" y="204716"/>
                </a:cubicBezTo>
                <a:lnTo>
                  <a:pt x="95534" y="204716"/>
                </a:lnTo>
                <a:cubicBezTo>
                  <a:pt x="87985" y="204716"/>
                  <a:pt x="81887" y="198618"/>
                  <a:pt x="81887" y="191069"/>
                </a:cubicBezTo>
                <a:lnTo>
                  <a:pt x="81887" y="163773"/>
                </a:lnTo>
                <a:cubicBezTo>
                  <a:pt x="81887" y="156224"/>
                  <a:pt x="87985" y="150125"/>
                  <a:pt x="95534" y="150125"/>
                </a:cubicBezTo>
                <a:lnTo>
                  <a:pt x="98946" y="150125"/>
                </a:lnTo>
                <a:lnTo>
                  <a:pt x="98946" y="116006"/>
                </a:lnTo>
                <a:lnTo>
                  <a:pt x="47767" y="116006"/>
                </a:lnTo>
                <a:cubicBezTo>
                  <a:pt x="42095" y="116006"/>
                  <a:pt x="37531" y="120569"/>
                  <a:pt x="37531" y="126242"/>
                </a:cubicBezTo>
                <a:lnTo>
                  <a:pt x="37531" y="150125"/>
                </a:lnTo>
                <a:lnTo>
                  <a:pt x="40943" y="150125"/>
                </a:lnTo>
                <a:cubicBezTo>
                  <a:pt x="48492" y="150125"/>
                  <a:pt x="54591" y="156224"/>
                  <a:pt x="54591" y="163773"/>
                </a:cubicBezTo>
                <a:lnTo>
                  <a:pt x="54591" y="191069"/>
                </a:lnTo>
                <a:cubicBezTo>
                  <a:pt x="54591" y="198618"/>
                  <a:pt x="48492" y="204716"/>
                  <a:pt x="40943" y="204716"/>
                </a:cubicBezTo>
                <a:lnTo>
                  <a:pt x="13648" y="204716"/>
                </a:lnTo>
                <a:cubicBezTo>
                  <a:pt x="6099" y="204716"/>
                  <a:pt x="0" y="198618"/>
                  <a:pt x="0" y="191069"/>
                </a:cubicBezTo>
                <a:lnTo>
                  <a:pt x="0" y="163773"/>
                </a:lnTo>
                <a:cubicBezTo>
                  <a:pt x="0" y="156224"/>
                  <a:pt x="6099" y="150125"/>
                  <a:pt x="13648" y="150125"/>
                </a:cubicBezTo>
                <a:lnTo>
                  <a:pt x="17060" y="150125"/>
                </a:lnTo>
                <a:lnTo>
                  <a:pt x="17060" y="126242"/>
                </a:lnTo>
                <a:cubicBezTo>
                  <a:pt x="17060" y="109267"/>
                  <a:pt x="30793" y="95534"/>
                  <a:pt x="47767" y="95534"/>
                </a:cubicBezTo>
                <a:lnTo>
                  <a:pt x="98946" y="95534"/>
                </a:lnTo>
                <a:lnTo>
                  <a:pt x="98946" y="68239"/>
                </a:lnTo>
                <a:lnTo>
                  <a:pt x="95534" y="68239"/>
                </a:lnTo>
                <a:cubicBezTo>
                  <a:pt x="87985" y="68239"/>
                  <a:pt x="81887" y="62140"/>
                  <a:pt x="81887" y="54591"/>
                </a:cubicBezTo>
                <a:lnTo>
                  <a:pt x="81887" y="27296"/>
                </a:lnTo>
                <a:close/>
              </a:path>
            </a:pathLst>
          </a:custGeom>
          <a:solidFill>
            <a:srgbClr val="1A1D21"/>
          </a:solidFill>
          <a:ln/>
        </p:spPr>
        <p:txBody>
          <a:bodyPr/>
          <a:lstStyle/>
          <a:p>
            <a:endParaRPr lang="zh-CN" altLang="en-US"/>
          </a:p>
        </p:txBody>
      </p:sp>
      <p:sp>
        <p:nvSpPr>
          <p:cNvPr id="55" name="Text 53"/>
          <p:cNvSpPr/>
          <p:nvPr/>
        </p:nvSpPr>
        <p:spPr>
          <a:xfrm>
            <a:off x="10649613" y="5798782"/>
            <a:ext cx="1334448" cy="339678"/>
          </a:xfrm>
          <a:prstGeom prst="rect">
            <a:avLst/>
          </a:prstGeom>
          <a:noFill/>
          <a:ln/>
        </p:spPr>
        <p:txBody>
          <a:bodyPr wrap="square" lIns="0" tIns="0" rIns="0" bIns="0" rtlCol="0" anchor="ctr"/>
          <a:lstStyle/>
          <a:p>
            <a:pPr>
              <a:lnSpc>
                <a:spcPct val="120000"/>
              </a:lnSpc>
            </a:pPr>
            <a:r>
              <a:rPr lang="en-US" sz="1910" b="1" dirty="0">
                <a:solidFill>
                  <a:srgbClr val="D69E2E"/>
                </a:solidFill>
                <a:latin typeface="MiSans" pitchFamily="34" charset="0"/>
                <a:ea typeface="MiSans" pitchFamily="34" charset="-122"/>
                <a:cs typeface="MiSans" pitchFamily="34" charset="-120"/>
              </a:rPr>
              <a:t>元数据管理</a:t>
            </a:r>
            <a:endParaRPr lang="en-US" sz="1600" dirty="0"/>
          </a:p>
        </p:txBody>
      </p:sp>
      <p:sp>
        <p:nvSpPr>
          <p:cNvPr id="56" name="Text 54"/>
          <p:cNvSpPr/>
          <p:nvPr/>
        </p:nvSpPr>
        <p:spPr>
          <a:xfrm>
            <a:off x="10018784" y="6356824"/>
            <a:ext cx="5665337" cy="291152"/>
          </a:xfrm>
          <a:prstGeom prst="rect">
            <a:avLst/>
          </a:prstGeom>
          <a:noFill/>
          <a:ln/>
        </p:spPr>
        <p:txBody>
          <a:bodyPr wrap="square" lIns="0" tIns="0" rIns="0" bIns="0" rtlCol="0" anchor="ctr"/>
          <a:lstStyle/>
          <a:p>
            <a:pPr>
              <a:lnSpc>
                <a:spcPct val="120000"/>
              </a:lnSpc>
            </a:pPr>
            <a:r>
              <a:rPr lang="en-US" sz="1528" dirty="0">
                <a:solidFill>
                  <a:srgbClr val="E2E8F0">
                    <a:alpha val="90000"/>
                  </a:srgbClr>
                </a:solidFill>
                <a:latin typeface="MiSans" pitchFamily="34" charset="0"/>
                <a:ea typeface="MiSans" pitchFamily="34" charset="-122"/>
                <a:cs typeface="MiSans" pitchFamily="34" charset="-120"/>
              </a:rPr>
              <a:t>集群协调和元数据存储</a:t>
            </a:r>
            <a:endParaRPr lang="en-US" sz="1600" dirty="0"/>
          </a:p>
        </p:txBody>
      </p:sp>
      <p:sp>
        <p:nvSpPr>
          <p:cNvPr id="57" name="Text 55"/>
          <p:cNvSpPr/>
          <p:nvPr/>
        </p:nvSpPr>
        <p:spPr>
          <a:xfrm>
            <a:off x="10018784" y="6745027"/>
            <a:ext cx="5653206" cy="242627"/>
          </a:xfrm>
          <a:prstGeom prst="rect">
            <a:avLst/>
          </a:prstGeom>
          <a:noFill/>
          <a:ln/>
        </p:spPr>
        <p:txBody>
          <a:bodyPr wrap="square" lIns="0" tIns="0" rIns="0" bIns="0" rtlCol="0" anchor="ctr"/>
          <a:lstStyle/>
          <a:p>
            <a:pPr>
              <a:lnSpc>
                <a:spcPct val="120000"/>
              </a:lnSpc>
            </a:pPr>
            <a:r>
              <a:rPr lang="en-US" sz="1337" b="1" dirty="0">
                <a:solidFill>
                  <a:srgbClr val="D69E2E"/>
                </a:solidFill>
                <a:latin typeface="MiSans" pitchFamily="34" charset="0"/>
                <a:ea typeface="MiSans" pitchFamily="34" charset="-122"/>
                <a:cs typeface="MiSans" pitchFamily="34" charset="-120"/>
              </a:rPr>
              <a:t>ZooKeeper (旧):</a:t>
            </a:r>
            <a:r>
              <a:rPr lang="en-US" sz="1337" dirty="0">
                <a:solidFill>
                  <a:srgbClr val="E2E8F0">
                    <a:alpha val="80000"/>
                  </a:srgbClr>
                </a:solidFill>
                <a:latin typeface="MiSans" pitchFamily="34" charset="0"/>
                <a:ea typeface="MiSans" pitchFamily="34" charset="-122"/>
                <a:cs typeface="MiSans" pitchFamily="34" charset="-120"/>
              </a:rPr>
              <a:t> 外部 ZK 集群管理元数据</a:t>
            </a:r>
            <a:endParaRPr lang="en-US" sz="1600" dirty="0"/>
          </a:p>
        </p:txBody>
      </p:sp>
      <p:sp>
        <p:nvSpPr>
          <p:cNvPr id="58" name="Text 56"/>
          <p:cNvSpPr/>
          <p:nvPr/>
        </p:nvSpPr>
        <p:spPr>
          <a:xfrm>
            <a:off x="10018784" y="7036179"/>
            <a:ext cx="5653206" cy="242627"/>
          </a:xfrm>
          <a:prstGeom prst="rect">
            <a:avLst/>
          </a:prstGeom>
          <a:noFill/>
          <a:ln/>
        </p:spPr>
        <p:txBody>
          <a:bodyPr wrap="square" lIns="0" tIns="0" rIns="0" bIns="0" rtlCol="0" anchor="ctr"/>
          <a:lstStyle/>
          <a:p>
            <a:pPr>
              <a:lnSpc>
                <a:spcPct val="120000"/>
              </a:lnSpc>
            </a:pPr>
            <a:r>
              <a:rPr lang="en-US" sz="1337" b="1" dirty="0">
                <a:solidFill>
                  <a:srgbClr val="D69E2E"/>
                </a:solidFill>
                <a:latin typeface="MiSans" pitchFamily="34" charset="0"/>
                <a:ea typeface="MiSans" pitchFamily="34" charset="-122"/>
                <a:cs typeface="MiSans" pitchFamily="34" charset="-120"/>
              </a:rPr>
              <a:t>KRaft (新):</a:t>
            </a:r>
            <a:r>
              <a:rPr lang="en-US" sz="1337" dirty="0">
                <a:solidFill>
                  <a:srgbClr val="E2E8F0">
                    <a:alpha val="80000"/>
                  </a:srgbClr>
                </a:solidFill>
                <a:latin typeface="MiSans" pitchFamily="34" charset="0"/>
                <a:ea typeface="MiSans" pitchFamily="34" charset="-122"/>
                <a:cs typeface="MiSans" pitchFamily="34" charset="-120"/>
              </a:rPr>
              <a:t> 内置 Raft 共识算法，简化部署</a:t>
            </a:r>
            <a:endParaRPr lang="en-US" sz="1600" dirty="0"/>
          </a:p>
        </p:txBody>
      </p:sp>
      <p:sp>
        <p:nvSpPr>
          <p:cNvPr id="59" name="Shape 57"/>
          <p:cNvSpPr/>
          <p:nvPr/>
        </p:nvSpPr>
        <p:spPr>
          <a:xfrm>
            <a:off x="9782222" y="7624549"/>
            <a:ext cx="5992884" cy="1031164"/>
          </a:xfrm>
          <a:custGeom>
            <a:avLst/>
            <a:gdLst/>
            <a:ahLst/>
            <a:cxnLst/>
            <a:rect l="l" t="t" r="r" b="b"/>
            <a:pathLst>
              <a:path w="5992884" h="1031164">
                <a:moveTo>
                  <a:pt x="97053" y="0"/>
                </a:moveTo>
                <a:lnTo>
                  <a:pt x="5895830" y="0"/>
                </a:lnTo>
                <a:cubicBezTo>
                  <a:pt x="5949431" y="0"/>
                  <a:pt x="5992884" y="43452"/>
                  <a:pt x="5992884" y="97053"/>
                </a:cubicBezTo>
                <a:lnTo>
                  <a:pt x="5992884" y="934111"/>
                </a:lnTo>
                <a:cubicBezTo>
                  <a:pt x="5992884" y="987712"/>
                  <a:pt x="5949431" y="1031164"/>
                  <a:pt x="5895830" y="1031164"/>
                </a:cubicBezTo>
                <a:lnTo>
                  <a:pt x="97053" y="1031164"/>
                </a:lnTo>
                <a:cubicBezTo>
                  <a:pt x="43452" y="1031164"/>
                  <a:pt x="0" y="987712"/>
                  <a:pt x="0" y="934111"/>
                </a:cubicBezTo>
                <a:lnTo>
                  <a:pt x="0" y="97053"/>
                </a:lnTo>
                <a:cubicBezTo>
                  <a:pt x="0" y="43452"/>
                  <a:pt x="43452" y="0"/>
                  <a:pt x="97053"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60" name="Shape 58"/>
          <p:cNvSpPr/>
          <p:nvPr/>
        </p:nvSpPr>
        <p:spPr>
          <a:xfrm>
            <a:off x="10006652" y="7891439"/>
            <a:ext cx="194101" cy="194101"/>
          </a:xfrm>
          <a:custGeom>
            <a:avLst/>
            <a:gdLst/>
            <a:ahLst/>
            <a:cxnLst/>
            <a:rect l="l" t="t" r="r" b="b"/>
            <a:pathLst>
              <a:path w="194101" h="194101">
                <a:moveTo>
                  <a:pt x="97051" y="194101"/>
                </a:moveTo>
                <a:cubicBezTo>
                  <a:pt x="150615" y="194101"/>
                  <a:pt x="194101" y="150615"/>
                  <a:pt x="194101" y="97051"/>
                </a:cubicBezTo>
                <a:cubicBezTo>
                  <a:pt x="194101" y="43487"/>
                  <a:pt x="150615" y="0"/>
                  <a:pt x="97051" y="0"/>
                </a:cubicBezTo>
                <a:cubicBezTo>
                  <a:pt x="43487" y="0"/>
                  <a:pt x="0" y="43487"/>
                  <a:pt x="0" y="97051"/>
                </a:cubicBezTo>
                <a:cubicBezTo>
                  <a:pt x="0" y="150615"/>
                  <a:pt x="43487" y="194101"/>
                  <a:pt x="97051" y="194101"/>
                </a:cubicBezTo>
                <a:close/>
                <a:moveTo>
                  <a:pt x="84919" y="60657"/>
                </a:moveTo>
                <a:cubicBezTo>
                  <a:pt x="84919" y="53961"/>
                  <a:pt x="90355" y="48525"/>
                  <a:pt x="97051" y="48525"/>
                </a:cubicBezTo>
                <a:cubicBezTo>
                  <a:pt x="103746" y="48525"/>
                  <a:pt x="109182" y="53961"/>
                  <a:pt x="109182" y="60657"/>
                </a:cubicBezTo>
                <a:cubicBezTo>
                  <a:pt x="109182" y="67352"/>
                  <a:pt x="103746" y="72788"/>
                  <a:pt x="97051" y="72788"/>
                </a:cubicBezTo>
                <a:cubicBezTo>
                  <a:pt x="90355" y="72788"/>
                  <a:pt x="84919" y="67352"/>
                  <a:pt x="84919" y="60657"/>
                </a:cubicBezTo>
                <a:close/>
                <a:moveTo>
                  <a:pt x="81887" y="84919"/>
                </a:moveTo>
                <a:lnTo>
                  <a:pt x="100084" y="84919"/>
                </a:lnTo>
                <a:cubicBezTo>
                  <a:pt x="105126" y="84919"/>
                  <a:pt x="109182" y="88976"/>
                  <a:pt x="109182" y="94018"/>
                </a:cubicBezTo>
                <a:lnTo>
                  <a:pt x="109182" y="127379"/>
                </a:lnTo>
                <a:lnTo>
                  <a:pt x="112215" y="127379"/>
                </a:lnTo>
                <a:cubicBezTo>
                  <a:pt x="117257" y="127379"/>
                  <a:pt x="121313" y="131436"/>
                  <a:pt x="121313" y="136478"/>
                </a:cubicBezTo>
                <a:cubicBezTo>
                  <a:pt x="121313" y="141520"/>
                  <a:pt x="117257" y="145576"/>
                  <a:pt x="112215" y="145576"/>
                </a:cubicBezTo>
                <a:lnTo>
                  <a:pt x="81887" y="145576"/>
                </a:lnTo>
                <a:cubicBezTo>
                  <a:pt x="76844" y="145576"/>
                  <a:pt x="72788" y="141520"/>
                  <a:pt x="72788" y="136478"/>
                </a:cubicBezTo>
                <a:cubicBezTo>
                  <a:pt x="72788" y="131436"/>
                  <a:pt x="76844" y="127379"/>
                  <a:pt x="81887" y="127379"/>
                </a:cubicBezTo>
                <a:lnTo>
                  <a:pt x="90985" y="127379"/>
                </a:lnTo>
                <a:lnTo>
                  <a:pt x="90985" y="103116"/>
                </a:lnTo>
                <a:lnTo>
                  <a:pt x="81887" y="103116"/>
                </a:lnTo>
                <a:cubicBezTo>
                  <a:pt x="76844" y="103116"/>
                  <a:pt x="72788" y="99060"/>
                  <a:pt x="72788" y="94018"/>
                </a:cubicBezTo>
                <a:cubicBezTo>
                  <a:pt x="72788" y="88976"/>
                  <a:pt x="76844" y="84919"/>
                  <a:pt x="81887" y="84919"/>
                </a:cubicBezTo>
                <a:close/>
              </a:path>
            </a:pathLst>
          </a:custGeom>
          <a:solidFill>
            <a:srgbClr val="D69E2E"/>
          </a:solidFill>
          <a:ln/>
        </p:spPr>
        <p:txBody>
          <a:bodyPr/>
          <a:lstStyle/>
          <a:p>
            <a:endParaRPr lang="zh-CN" altLang="en-US"/>
          </a:p>
        </p:txBody>
      </p:sp>
      <p:sp>
        <p:nvSpPr>
          <p:cNvPr id="61" name="Text 59"/>
          <p:cNvSpPr/>
          <p:nvPr/>
        </p:nvSpPr>
        <p:spPr>
          <a:xfrm>
            <a:off x="10317722" y="7824716"/>
            <a:ext cx="5354268" cy="630830"/>
          </a:xfrm>
          <a:prstGeom prst="rect">
            <a:avLst/>
          </a:prstGeom>
          <a:noFill/>
          <a:ln/>
        </p:spPr>
        <p:txBody>
          <a:bodyPr wrap="square" lIns="0" tIns="0" rIns="0" bIns="0" rtlCol="0" anchor="ctr"/>
          <a:lstStyle/>
          <a:p>
            <a:pPr>
              <a:lnSpc>
                <a:spcPct val="140000"/>
              </a:lnSpc>
            </a:pPr>
            <a:r>
              <a:rPr lang="en-US" sz="1528" dirty="0">
                <a:solidFill>
                  <a:srgbClr val="E2E8F0">
                    <a:alpha val="90000"/>
                  </a:srgbClr>
                </a:solidFill>
                <a:latin typeface="MiSans" pitchFamily="34" charset="0"/>
                <a:ea typeface="MiSans" pitchFamily="34" charset="-122"/>
                <a:cs typeface="MiSans" pitchFamily="34" charset="-120"/>
              </a:rPr>
              <a:t>Kafka 生态系统提供了从数据摄入、处理到输出的完整流水线，满足各种实时数据处理需求。</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0955" y="500955"/>
            <a:ext cx="15354280" cy="300573"/>
          </a:xfrm>
          <a:prstGeom prst="rect">
            <a:avLst/>
          </a:prstGeom>
          <a:noFill/>
          <a:ln/>
        </p:spPr>
        <p:txBody>
          <a:bodyPr wrap="square" lIns="0" tIns="0" rIns="0" bIns="0" rtlCol="0" anchor="ctr"/>
          <a:lstStyle/>
          <a:p>
            <a:pPr>
              <a:lnSpc>
                <a:spcPct val="120000"/>
              </a:lnSpc>
            </a:pPr>
            <a:r>
              <a:rPr lang="en-US" sz="1578" b="1" kern="0" spc="79" dirty="0">
                <a:solidFill>
                  <a:srgbClr val="D69E2E"/>
                </a:solidFill>
                <a:latin typeface="MiSans" pitchFamily="34" charset="0"/>
                <a:ea typeface="MiSans" pitchFamily="34" charset="-122"/>
                <a:cs typeface="MiSans" pitchFamily="34" charset="-120"/>
              </a:rPr>
              <a:t>1.3.1 核心概念</a:t>
            </a:r>
            <a:endParaRPr lang="en-US" sz="1600" dirty="0"/>
          </a:p>
        </p:txBody>
      </p:sp>
      <p:sp>
        <p:nvSpPr>
          <p:cNvPr id="3" name="Text 1"/>
          <p:cNvSpPr/>
          <p:nvPr/>
        </p:nvSpPr>
        <p:spPr>
          <a:xfrm>
            <a:off x="500955" y="901720"/>
            <a:ext cx="15479519" cy="500955"/>
          </a:xfrm>
          <a:prstGeom prst="rect">
            <a:avLst/>
          </a:prstGeom>
          <a:noFill/>
          <a:ln/>
        </p:spPr>
        <p:txBody>
          <a:bodyPr wrap="square" lIns="0" tIns="0" rIns="0" bIns="0" rtlCol="0" anchor="ctr"/>
          <a:lstStyle/>
          <a:p>
            <a:pPr>
              <a:lnSpc>
                <a:spcPct val="90000"/>
              </a:lnSpc>
            </a:pPr>
            <a:r>
              <a:rPr lang="en-US" sz="3550" b="1" dirty="0">
                <a:solidFill>
                  <a:srgbClr val="E2E8F0"/>
                </a:solidFill>
                <a:latin typeface="MiSans" pitchFamily="34" charset="0"/>
                <a:ea typeface="MiSans" pitchFamily="34" charset="-122"/>
                <a:cs typeface="MiSans" pitchFamily="34" charset="-120"/>
              </a:rPr>
              <a:t>Kafka 核心概念体系</a:t>
            </a:r>
            <a:endParaRPr lang="en-US" sz="1600" dirty="0"/>
          </a:p>
        </p:txBody>
      </p:sp>
      <p:sp>
        <p:nvSpPr>
          <p:cNvPr id="4" name="Shape 2"/>
          <p:cNvSpPr/>
          <p:nvPr/>
        </p:nvSpPr>
        <p:spPr>
          <a:xfrm>
            <a:off x="526003" y="1603057"/>
            <a:ext cx="7501806" cy="1728296"/>
          </a:xfrm>
          <a:custGeom>
            <a:avLst/>
            <a:gdLst/>
            <a:ahLst/>
            <a:cxnLst/>
            <a:rect l="l" t="t" r="r" b="b"/>
            <a:pathLst>
              <a:path w="7501806" h="1728296">
                <a:moveTo>
                  <a:pt x="50096" y="0"/>
                </a:moveTo>
                <a:lnTo>
                  <a:pt x="7401617" y="0"/>
                </a:lnTo>
                <a:cubicBezTo>
                  <a:pt x="7456950" y="0"/>
                  <a:pt x="7501806" y="44856"/>
                  <a:pt x="7501806" y="100189"/>
                </a:cubicBezTo>
                <a:lnTo>
                  <a:pt x="7501806" y="1628107"/>
                </a:lnTo>
                <a:cubicBezTo>
                  <a:pt x="7501806" y="1683440"/>
                  <a:pt x="7456950" y="1728296"/>
                  <a:pt x="7401617" y="1728296"/>
                </a:cubicBezTo>
                <a:lnTo>
                  <a:pt x="50096" y="1728296"/>
                </a:lnTo>
                <a:cubicBezTo>
                  <a:pt x="22429" y="1728296"/>
                  <a:pt x="0" y="1705867"/>
                  <a:pt x="0" y="1678200"/>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5" name="Shape 3"/>
          <p:cNvSpPr/>
          <p:nvPr/>
        </p:nvSpPr>
        <p:spPr>
          <a:xfrm>
            <a:off x="526003" y="1603057"/>
            <a:ext cx="50096" cy="1728296"/>
          </a:xfrm>
          <a:custGeom>
            <a:avLst/>
            <a:gdLst/>
            <a:ahLst/>
            <a:cxnLst/>
            <a:rect l="l" t="t" r="r" b="b"/>
            <a:pathLst>
              <a:path w="50096" h="1728296">
                <a:moveTo>
                  <a:pt x="50096" y="0"/>
                </a:moveTo>
                <a:lnTo>
                  <a:pt x="50096" y="0"/>
                </a:lnTo>
                <a:lnTo>
                  <a:pt x="50096" y="1728296"/>
                </a:lnTo>
                <a:lnTo>
                  <a:pt x="50096" y="1728296"/>
                </a:lnTo>
                <a:cubicBezTo>
                  <a:pt x="22429" y="1728296"/>
                  <a:pt x="0" y="1705867"/>
                  <a:pt x="0" y="1678200"/>
                </a:cubicBezTo>
                <a:lnTo>
                  <a:pt x="0" y="50096"/>
                </a:lnTo>
                <a:cubicBezTo>
                  <a:pt x="0" y="22447"/>
                  <a:pt x="22447" y="0"/>
                  <a:pt x="50096" y="0"/>
                </a:cubicBezTo>
                <a:close/>
              </a:path>
            </a:pathLst>
          </a:custGeom>
          <a:solidFill>
            <a:srgbClr val="D69E2E"/>
          </a:solidFill>
          <a:ln/>
        </p:spPr>
        <p:txBody>
          <a:bodyPr/>
          <a:lstStyle/>
          <a:p>
            <a:endParaRPr lang="zh-CN" altLang="en-US"/>
          </a:p>
        </p:txBody>
      </p:sp>
      <p:sp>
        <p:nvSpPr>
          <p:cNvPr id="6" name="Text 4"/>
          <p:cNvSpPr/>
          <p:nvPr/>
        </p:nvSpPr>
        <p:spPr>
          <a:xfrm>
            <a:off x="701337" y="1753344"/>
            <a:ext cx="7301424" cy="350669"/>
          </a:xfrm>
          <a:prstGeom prst="rect">
            <a:avLst/>
          </a:prstGeom>
          <a:noFill/>
          <a:ln/>
        </p:spPr>
        <p:txBody>
          <a:bodyPr wrap="square" lIns="0" tIns="0" rIns="0" bIns="0" rtlCol="0" anchor="ctr"/>
          <a:lstStyle/>
          <a:p>
            <a:pPr>
              <a:lnSpc>
                <a:spcPct val="120000"/>
              </a:lnSpc>
            </a:pPr>
            <a:r>
              <a:rPr lang="en-US" sz="1972" b="1" dirty="0">
                <a:solidFill>
                  <a:srgbClr val="D69E2E"/>
                </a:solidFill>
                <a:latin typeface="MiSans" pitchFamily="34" charset="0"/>
                <a:ea typeface="MiSans" pitchFamily="34" charset="-122"/>
                <a:cs typeface="MiSans" pitchFamily="34" charset="-120"/>
              </a:rPr>
              <a:t>Topic (主题)</a:t>
            </a:r>
            <a:endParaRPr lang="en-US" sz="1600" dirty="0"/>
          </a:p>
        </p:txBody>
      </p:sp>
      <p:sp>
        <p:nvSpPr>
          <p:cNvPr id="7" name="Text 5"/>
          <p:cNvSpPr/>
          <p:nvPr/>
        </p:nvSpPr>
        <p:spPr>
          <a:xfrm>
            <a:off x="701337" y="2204203"/>
            <a:ext cx="7276376" cy="976863"/>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Topic 是消息的逻辑分类，类似于数据库中的表。每个 Topic 都有一个唯一的名称，Producer 将消息发送到特定的 Topic，Consumer 从特定的 Topic 消费消息。</a:t>
            </a:r>
            <a:endParaRPr lang="en-US" sz="1600" dirty="0"/>
          </a:p>
        </p:txBody>
      </p:sp>
      <p:sp>
        <p:nvSpPr>
          <p:cNvPr id="8" name="Shape 6"/>
          <p:cNvSpPr/>
          <p:nvPr/>
        </p:nvSpPr>
        <p:spPr>
          <a:xfrm>
            <a:off x="526003" y="3431544"/>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9" name="Shape 7"/>
          <p:cNvSpPr/>
          <p:nvPr/>
        </p:nvSpPr>
        <p:spPr>
          <a:xfrm>
            <a:off x="526003" y="3431544"/>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718096"/>
          </a:solidFill>
          <a:ln/>
        </p:spPr>
        <p:txBody>
          <a:bodyPr/>
          <a:lstStyle/>
          <a:p>
            <a:endParaRPr lang="zh-CN" altLang="en-US"/>
          </a:p>
        </p:txBody>
      </p:sp>
      <p:sp>
        <p:nvSpPr>
          <p:cNvPr id="10" name="Text 8"/>
          <p:cNvSpPr/>
          <p:nvPr/>
        </p:nvSpPr>
        <p:spPr>
          <a:xfrm>
            <a:off x="701337" y="3581831"/>
            <a:ext cx="7301424" cy="350669"/>
          </a:xfrm>
          <a:prstGeom prst="rect">
            <a:avLst/>
          </a:prstGeom>
          <a:noFill/>
          <a:ln/>
        </p:spPr>
        <p:txBody>
          <a:bodyPr wrap="square" lIns="0" tIns="0" rIns="0" bIns="0" rtlCol="0" anchor="ctr"/>
          <a:lstStyle/>
          <a:p>
            <a:pPr>
              <a:lnSpc>
                <a:spcPct val="120000"/>
              </a:lnSpc>
            </a:pPr>
            <a:r>
              <a:rPr lang="en-US" sz="1972" b="1" dirty="0">
                <a:solidFill>
                  <a:srgbClr val="718096"/>
                </a:solidFill>
                <a:latin typeface="MiSans" pitchFamily="34" charset="0"/>
                <a:ea typeface="MiSans" pitchFamily="34" charset="-122"/>
                <a:cs typeface="MiSans" pitchFamily="34" charset="-120"/>
              </a:rPr>
              <a:t>Partition (分区)</a:t>
            </a:r>
            <a:endParaRPr lang="en-US" sz="1600" dirty="0"/>
          </a:p>
        </p:txBody>
      </p:sp>
      <p:sp>
        <p:nvSpPr>
          <p:cNvPr id="11" name="Text 9"/>
          <p:cNvSpPr/>
          <p:nvPr/>
        </p:nvSpPr>
        <p:spPr>
          <a:xfrm>
            <a:off x="701337" y="4032690"/>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每个 Topic 可以被分为多个 Partition，Partition 是 Kafka 实现水平扩展和并行处理的基础。每个 Partition 是一个</a:t>
            </a:r>
            <a:r>
              <a:rPr lang="en-US" sz="1578" b="1" dirty="0">
                <a:solidFill>
                  <a:srgbClr val="D69E2E"/>
                </a:solidFill>
                <a:latin typeface="MiSans" pitchFamily="34" charset="0"/>
                <a:ea typeface="MiSans" pitchFamily="34" charset="-122"/>
                <a:cs typeface="MiSans" pitchFamily="34" charset="-120"/>
              </a:rPr>
              <a:t>有序的</a:t>
            </a:r>
            <a:r>
              <a:rPr lang="en-US" sz="1578" dirty="0">
                <a:solidFill>
                  <a:srgbClr val="E2E8F0">
                    <a:alpha val="90000"/>
                  </a:srgbClr>
                </a:solidFill>
                <a:latin typeface="MiSans" pitchFamily="34" charset="0"/>
                <a:ea typeface="MiSans" pitchFamily="34" charset="-122"/>
                <a:cs typeface="MiSans" pitchFamily="34" charset="-120"/>
              </a:rPr>
              <a:t>、</a:t>
            </a:r>
            <a:r>
              <a:rPr lang="en-US" sz="1578" b="1" dirty="0">
                <a:solidFill>
                  <a:srgbClr val="D69E2E"/>
                </a:solidFill>
                <a:latin typeface="MiSans" pitchFamily="34" charset="0"/>
                <a:ea typeface="MiSans" pitchFamily="34" charset="-122"/>
                <a:cs typeface="MiSans" pitchFamily="34" charset="-120"/>
              </a:rPr>
              <a:t>不可变的</a:t>
            </a:r>
            <a:r>
              <a:rPr lang="en-US" sz="1578" dirty="0">
                <a:solidFill>
                  <a:srgbClr val="E2E8F0">
                    <a:alpha val="90000"/>
                  </a:srgbClr>
                </a:solidFill>
                <a:latin typeface="MiSans" pitchFamily="34" charset="0"/>
                <a:ea typeface="MiSans" pitchFamily="34" charset="-122"/>
                <a:cs typeface="MiSans" pitchFamily="34" charset="-120"/>
              </a:rPr>
              <a:t>消息序列。</a:t>
            </a:r>
            <a:endParaRPr lang="en-US" sz="1600" dirty="0"/>
          </a:p>
        </p:txBody>
      </p:sp>
      <p:sp>
        <p:nvSpPr>
          <p:cNvPr id="12" name="Shape 10"/>
          <p:cNvSpPr/>
          <p:nvPr/>
        </p:nvSpPr>
        <p:spPr>
          <a:xfrm>
            <a:off x="526003" y="4934410"/>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13" name="Shape 11"/>
          <p:cNvSpPr/>
          <p:nvPr/>
        </p:nvSpPr>
        <p:spPr>
          <a:xfrm>
            <a:off x="526003" y="4934410"/>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718096"/>
          </a:solidFill>
          <a:ln/>
        </p:spPr>
        <p:txBody>
          <a:bodyPr/>
          <a:lstStyle/>
          <a:p>
            <a:endParaRPr lang="zh-CN" altLang="en-US"/>
          </a:p>
        </p:txBody>
      </p:sp>
      <p:sp>
        <p:nvSpPr>
          <p:cNvPr id="14" name="Text 12"/>
          <p:cNvSpPr/>
          <p:nvPr/>
        </p:nvSpPr>
        <p:spPr>
          <a:xfrm>
            <a:off x="701337" y="5084696"/>
            <a:ext cx="7301424" cy="350669"/>
          </a:xfrm>
          <a:prstGeom prst="rect">
            <a:avLst/>
          </a:prstGeom>
          <a:noFill/>
          <a:ln/>
        </p:spPr>
        <p:txBody>
          <a:bodyPr wrap="square" lIns="0" tIns="0" rIns="0" bIns="0" rtlCol="0" anchor="ctr"/>
          <a:lstStyle/>
          <a:p>
            <a:pPr>
              <a:lnSpc>
                <a:spcPct val="120000"/>
              </a:lnSpc>
            </a:pPr>
            <a:r>
              <a:rPr lang="en-US" sz="1972" b="1" dirty="0">
                <a:solidFill>
                  <a:srgbClr val="718096"/>
                </a:solidFill>
                <a:latin typeface="MiSans" pitchFamily="34" charset="0"/>
                <a:ea typeface="MiSans" pitchFamily="34" charset="-122"/>
                <a:cs typeface="MiSans" pitchFamily="34" charset="-120"/>
              </a:rPr>
              <a:t>Broker (代理)</a:t>
            </a:r>
            <a:endParaRPr lang="en-US" sz="1600" dirty="0"/>
          </a:p>
        </p:txBody>
      </p:sp>
      <p:sp>
        <p:nvSpPr>
          <p:cNvPr id="15" name="Text 13"/>
          <p:cNvSpPr/>
          <p:nvPr/>
        </p:nvSpPr>
        <p:spPr>
          <a:xfrm>
            <a:off x="701337" y="5535556"/>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Broker 是 Kafka 集群中的单个服务器节点，负责消息的</a:t>
            </a:r>
            <a:r>
              <a:rPr lang="en-US" sz="1578" b="1" dirty="0">
                <a:solidFill>
                  <a:srgbClr val="D69E2E"/>
                </a:solidFill>
                <a:latin typeface="MiSans" pitchFamily="34" charset="0"/>
                <a:ea typeface="MiSans" pitchFamily="34" charset="-122"/>
                <a:cs typeface="MiSans" pitchFamily="34" charset="-120"/>
              </a:rPr>
              <a:t>存储</a:t>
            </a:r>
            <a:r>
              <a:rPr lang="en-US" sz="1578" dirty="0">
                <a:solidFill>
                  <a:srgbClr val="E2E8F0">
                    <a:alpha val="90000"/>
                  </a:srgbClr>
                </a:solidFill>
                <a:latin typeface="MiSans" pitchFamily="34" charset="0"/>
                <a:ea typeface="MiSans" pitchFamily="34" charset="-122"/>
                <a:cs typeface="MiSans" pitchFamily="34" charset="-120"/>
              </a:rPr>
              <a:t>和</a:t>
            </a:r>
            <a:r>
              <a:rPr lang="en-US" sz="1578" b="1" dirty="0">
                <a:solidFill>
                  <a:srgbClr val="D69E2E"/>
                </a:solidFill>
                <a:latin typeface="MiSans" pitchFamily="34" charset="0"/>
                <a:ea typeface="MiSans" pitchFamily="34" charset="-122"/>
                <a:cs typeface="MiSans" pitchFamily="34" charset="-120"/>
              </a:rPr>
              <a:t>传递</a:t>
            </a:r>
            <a:r>
              <a:rPr lang="en-US" sz="1578" dirty="0">
                <a:solidFill>
                  <a:srgbClr val="E2E8F0">
                    <a:alpha val="90000"/>
                  </a:srgbClr>
                </a:solidFill>
                <a:latin typeface="MiSans" pitchFamily="34" charset="0"/>
                <a:ea typeface="MiSans" pitchFamily="34" charset="-122"/>
                <a:cs typeface="MiSans" pitchFamily="34" charset="-120"/>
              </a:rPr>
              <a:t>。一个 Kafka 集群通常包含多个 Broker。</a:t>
            </a:r>
            <a:endParaRPr lang="en-US" sz="1600" dirty="0"/>
          </a:p>
        </p:txBody>
      </p:sp>
      <p:sp>
        <p:nvSpPr>
          <p:cNvPr id="16" name="Shape 14"/>
          <p:cNvSpPr/>
          <p:nvPr/>
        </p:nvSpPr>
        <p:spPr>
          <a:xfrm>
            <a:off x="526003" y="6437276"/>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17" name="Shape 15"/>
          <p:cNvSpPr/>
          <p:nvPr/>
        </p:nvSpPr>
        <p:spPr>
          <a:xfrm>
            <a:off x="526003" y="6437276"/>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D69E2E"/>
          </a:solidFill>
          <a:ln/>
        </p:spPr>
        <p:txBody>
          <a:bodyPr/>
          <a:lstStyle/>
          <a:p>
            <a:endParaRPr lang="zh-CN" altLang="en-US"/>
          </a:p>
        </p:txBody>
      </p:sp>
      <p:sp>
        <p:nvSpPr>
          <p:cNvPr id="18" name="Text 16"/>
          <p:cNvSpPr/>
          <p:nvPr/>
        </p:nvSpPr>
        <p:spPr>
          <a:xfrm>
            <a:off x="701337" y="6587562"/>
            <a:ext cx="7301424" cy="350669"/>
          </a:xfrm>
          <a:prstGeom prst="rect">
            <a:avLst/>
          </a:prstGeom>
          <a:noFill/>
          <a:ln/>
        </p:spPr>
        <p:txBody>
          <a:bodyPr wrap="square" lIns="0" tIns="0" rIns="0" bIns="0" rtlCol="0" anchor="ctr"/>
          <a:lstStyle/>
          <a:p>
            <a:pPr>
              <a:lnSpc>
                <a:spcPct val="120000"/>
              </a:lnSpc>
            </a:pPr>
            <a:r>
              <a:rPr lang="en-US" sz="1972" b="1" dirty="0">
                <a:solidFill>
                  <a:srgbClr val="D69E2E"/>
                </a:solidFill>
                <a:latin typeface="MiSans" pitchFamily="34" charset="0"/>
                <a:ea typeface="MiSans" pitchFamily="34" charset="-122"/>
                <a:cs typeface="MiSans" pitchFamily="34" charset="-120"/>
              </a:rPr>
              <a:t>Producer (生产者)</a:t>
            </a:r>
            <a:endParaRPr lang="en-US" sz="1600" dirty="0"/>
          </a:p>
        </p:txBody>
      </p:sp>
      <p:sp>
        <p:nvSpPr>
          <p:cNvPr id="19" name="Text 17"/>
          <p:cNvSpPr/>
          <p:nvPr/>
        </p:nvSpPr>
        <p:spPr>
          <a:xfrm>
            <a:off x="701337" y="7038422"/>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Producer 是向 Kafka Topic 发送消息的客户端应用程序。Producer 负责决定将消息发送到哪个 Partition。</a:t>
            </a:r>
            <a:endParaRPr lang="en-US" sz="1600" dirty="0"/>
          </a:p>
        </p:txBody>
      </p:sp>
      <p:sp>
        <p:nvSpPr>
          <p:cNvPr id="20" name="Shape 18"/>
          <p:cNvSpPr/>
          <p:nvPr/>
        </p:nvSpPr>
        <p:spPr>
          <a:xfrm>
            <a:off x="8251771" y="1603057"/>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21" name="Shape 19"/>
          <p:cNvSpPr/>
          <p:nvPr/>
        </p:nvSpPr>
        <p:spPr>
          <a:xfrm>
            <a:off x="8251771" y="1603057"/>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718096"/>
          </a:solidFill>
          <a:ln/>
        </p:spPr>
        <p:txBody>
          <a:bodyPr/>
          <a:lstStyle/>
          <a:p>
            <a:endParaRPr lang="zh-CN" altLang="en-US"/>
          </a:p>
        </p:txBody>
      </p:sp>
      <p:sp>
        <p:nvSpPr>
          <p:cNvPr id="22" name="Text 20"/>
          <p:cNvSpPr/>
          <p:nvPr/>
        </p:nvSpPr>
        <p:spPr>
          <a:xfrm>
            <a:off x="8427106" y="1753344"/>
            <a:ext cx="7301424" cy="350669"/>
          </a:xfrm>
          <a:prstGeom prst="rect">
            <a:avLst/>
          </a:prstGeom>
          <a:noFill/>
          <a:ln/>
        </p:spPr>
        <p:txBody>
          <a:bodyPr wrap="square" lIns="0" tIns="0" rIns="0" bIns="0" rtlCol="0" anchor="ctr"/>
          <a:lstStyle/>
          <a:p>
            <a:pPr>
              <a:lnSpc>
                <a:spcPct val="120000"/>
              </a:lnSpc>
            </a:pPr>
            <a:r>
              <a:rPr lang="en-US" sz="1972" b="1" dirty="0">
                <a:solidFill>
                  <a:srgbClr val="718096"/>
                </a:solidFill>
                <a:latin typeface="MiSans" pitchFamily="34" charset="0"/>
                <a:ea typeface="MiSans" pitchFamily="34" charset="-122"/>
                <a:cs typeface="MiSans" pitchFamily="34" charset="-120"/>
              </a:rPr>
              <a:t>Consumer (消费者)</a:t>
            </a:r>
            <a:endParaRPr lang="en-US" sz="1600" dirty="0"/>
          </a:p>
        </p:txBody>
      </p:sp>
      <p:sp>
        <p:nvSpPr>
          <p:cNvPr id="23" name="Text 21"/>
          <p:cNvSpPr/>
          <p:nvPr/>
        </p:nvSpPr>
        <p:spPr>
          <a:xfrm>
            <a:off x="8427106" y="2204203"/>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Consumer 是从 Kafka Topic 读取消息的客户端应用程序。Consumer 可以组成 Consumer Group 来实现并行消费。</a:t>
            </a:r>
            <a:endParaRPr lang="en-US" sz="1600" dirty="0"/>
          </a:p>
        </p:txBody>
      </p:sp>
      <p:sp>
        <p:nvSpPr>
          <p:cNvPr id="24" name="Shape 22"/>
          <p:cNvSpPr/>
          <p:nvPr/>
        </p:nvSpPr>
        <p:spPr>
          <a:xfrm>
            <a:off x="8251771" y="3105923"/>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25" name="Shape 23"/>
          <p:cNvSpPr/>
          <p:nvPr/>
        </p:nvSpPr>
        <p:spPr>
          <a:xfrm>
            <a:off x="8251771" y="3105923"/>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D69E2E"/>
          </a:solidFill>
          <a:ln/>
        </p:spPr>
        <p:txBody>
          <a:bodyPr/>
          <a:lstStyle/>
          <a:p>
            <a:endParaRPr lang="zh-CN" altLang="en-US"/>
          </a:p>
        </p:txBody>
      </p:sp>
      <p:sp>
        <p:nvSpPr>
          <p:cNvPr id="26" name="Text 24"/>
          <p:cNvSpPr/>
          <p:nvPr/>
        </p:nvSpPr>
        <p:spPr>
          <a:xfrm>
            <a:off x="8427106" y="3256210"/>
            <a:ext cx="7301424" cy="350669"/>
          </a:xfrm>
          <a:prstGeom prst="rect">
            <a:avLst/>
          </a:prstGeom>
          <a:noFill/>
          <a:ln/>
        </p:spPr>
        <p:txBody>
          <a:bodyPr wrap="square" lIns="0" tIns="0" rIns="0" bIns="0" rtlCol="0" anchor="ctr"/>
          <a:lstStyle/>
          <a:p>
            <a:pPr>
              <a:lnSpc>
                <a:spcPct val="120000"/>
              </a:lnSpc>
            </a:pPr>
            <a:r>
              <a:rPr lang="en-US" sz="1972" b="1" dirty="0">
                <a:solidFill>
                  <a:srgbClr val="D69E2E"/>
                </a:solidFill>
                <a:latin typeface="MiSans" pitchFamily="34" charset="0"/>
                <a:ea typeface="MiSans" pitchFamily="34" charset="-122"/>
                <a:cs typeface="MiSans" pitchFamily="34" charset="-120"/>
              </a:rPr>
              <a:t>Consumer Group (消费者组)</a:t>
            </a:r>
            <a:endParaRPr lang="en-US" sz="1600" dirty="0"/>
          </a:p>
        </p:txBody>
      </p:sp>
      <p:sp>
        <p:nvSpPr>
          <p:cNvPr id="27" name="Text 25"/>
          <p:cNvSpPr/>
          <p:nvPr/>
        </p:nvSpPr>
        <p:spPr>
          <a:xfrm>
            <a:off x="8427106" y="3707069"/>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多个 Consumer 可以组成一个 Consumer Group，共同消费一个 Topic 的消息。Group 内的每个 Consumer 消费不同的 Partition，实现负载均衡。</a:t>
            </a:r>
            <a:endParaRPr lang="en-US" sz="1600" dirty="0"/>
          </a:p>
        </p:txBody>
      </p:sp>
      <p:sp>
        <p:nvSpPr>
          <p:cNvPr id="28" name="Shape 26"/>
          <p:cNvSpPr/>
          <p:nvPr/>
        </p:nvSpPr>
        <p:spPr>
          <a:xfrm>
            <a:off x="8251771" y="4608789"/>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29" name="Shape 27"/>
          <p:cNvSpPr/>
          <p:nvPr/>
        </p:nvSpPr>
        <p:spPr>
          <a:xfrm>
            <a:off x="8251771" y="4608789"/>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718096"/>
          </a:solidFill>
          <a:ln/>
        </p:spPr>
        <p:txBody>
          <a:bodyPr/>
          <a:lstStyle/>
          <a:p>
            <a:endParaRPr lang="zh-CN" altLang="en-US"/>
          </a:p>
        </p:txBody>
      </p:sp>
      <p:sp>
        <p:nvSpPr>
          <p:cNvPr id="30" name="Text 28"/>
          <p:cNvSpPr/>
          <p:nvPr/>
        </p:nvSpPr>
        <p:spPr>
          <a:xfrm>
            <a:off x="8427106" y="4759076"/>
            <a:ext cx="7301424" cy="350669"/>
          </a:xfrm>
          <a:prstGeom prst="rect">
            <a:avLst/>
          </a:prstGeom>
          <a:noFill/>
          <a:ln/>
        </p:spPr>
        <p:txBody>
          <a:bodyPr wrap="square" lIns="0" tIns="0" rIns="0" bIns="0" rtlCol="0" anchor="ctr"/>
          <a:lstStyle/>
          <a:p>
            <a:pPr>
              <a:lnSpc>
                <a:spcPct val="120000"/>
              </a:lnSpc>
            </a:pPr>
            <a:r>
              <a:rPr lang="en-US" sz="1972" b="1" dirty="0">
                <a:solidFill>
                  <a:srgbClr val="718096"/>
                </a:solidFill>
                <a:latin typeface="MiSans" pitchFamily="34" charset="0"/>
                <a:ea typeface="MiSans" pitchFamily="34" charset="-122"/>
                <a:cs typeface="MiSans" pitchFamily="34" charset="-120"/>
              </a:rPr>
              <a:t>Offset (偏移量)</a:t>
            </a:r>
            <a:endParaRPr lang="en-US" sz="1600" dirty="0"/>
          </a:p>
        </p:txBody>
      </p:sp>
      <p:sp>
        <p:nvSpPr>
          <p:cNvPr id="31" name="Text 29"/>
          <p:cNvSpPr/>
          <p:nvPr/>
        </p:nvSpPr>
        <p:spPr>
          <a:xfrm>
            <a:off x="8427106" y="5209935"/>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Offset 是消息在 Partition 中的唯一标识，表示消息的位置。Consumer 通过维护 Offset 来跟踪消费进度。</a:t>
            </a:r>
            <a:endParaRPr lang="en-US" sz="1600" dirty="0"/>
          </a:p>
        </p:txBody>
      </p:sp>
      <p:sp>
        <p:nvSpPr>
          <p:cNvPr id="32" name="Shape 30"/>
          <p:cNvSpPr/>
          <p:nvPr/>
        </p:nvSpPr>
        <p:spPr>
          <a:xfrm>
            <a:off x="8251771" y="6111655"/>
            <a:ext cx="7501806" cy="1402675"/>
          </a:xfrm>
          <a:custGeom>
            <a:avLst/>
            <a:gdLst/>
            <a:ahLst/>
            <a:cxnLst/>
            <a:rect l="l" t="t" r="r" b="b"/>
            <a:pathLst>
              <a:path w="7501806" h="1402675">
                <a:moveTo>
                  <a:pt x="50096" y="0"/>
                </a:moveTo>
                <a:lnTo>
                  <a:pt x="7401613" y="0"/>
                </a:lnTo>
                <a:cubicBezTo>
                  <a:pt x="7456948" y="0"/>
                  <a:pt x="7501806" y="44858"/>
                  <a:pt x="7501806" y="100193"/>
                </a:cubicBezTo>
                <a:lnTo>
                  <a:pt x="7501806" y="1302482"/>
                </a:lnTo>
                <a:cubicBezTo>
                  <a:pt x="7501806" y="1357817"/>
                  <a:pt x="7456948" y="1402675"/>
                  <a:pt x="7401613" y="1402675"/>
                </a:cubicBezTo>
                <a:lnTo>
                  <a:pt x="50096" y="1402675"/>
                </a:lnTo>
                <a:cubicBezTo>
                  <a:pt x="22429" y="1402675"/>
                  <a:pt x="0" y="1380246"/>
                  <a:pt x="0" y="1352579"/>
                </a:cubicBezTo>
                <a:lnTo>
                  <a:pt x="0" y="50096"/>
                </a:lnTo>
                <a:cubicBezTo>
                  <a:pt x="0" y="22447"/>
                  <a:pt x="22447" y="0"/>
                  <a:pt x="50096" y="0"/>
                </a:cubicBezTo>
                <a:close/>
              </a:path>
            </a:pathLst>
          </a:custGeom>
          <a:solidFill>
            <a:srgbClr val="4A5568">
              <a:alpha val="20000"/>
            </a:srgbClr>
          </a:solidFill>
          <a:ln/>
        </p:spPr>
        <p:txBody>
          <a:bodyPr/>
          <a:lstStyle/>
          <a:p>
            <a:endParaRPr lang="zh-CN" altLang="en-US"/>
          </a:p>
        </p:txBody>
      </p:sp>
      <p:sp>
        <p:nvSpPr>
          <p:cNvPr id="33" name="Shape 31"/>
          <p:cNvSpPr/>
          <p:nvPr/>
        </p:nvSpPr>
        <p:spPr>
          <a:xfrm>
            <a:off x="8251771" y="6111655"/>
            <a:ext cx="50096" cy="1402675"/>
          </a:xfrm>
          <a:custGeom>
            <a:avLst/>
            <a:gdLst/>
            <a:ahLst/>
            <a:cxnLst/>
            <a:rect l="l" t="t" r="r" b="b"/>
            <a:pathLst>
              <a:path w="50096" h="1402675">
                <a:moveTo>
                  <a:pt x="50096" y="0"/>
                </a:moveTo>
                <a:lnTo>
                  <a:pt x="50096" y="0"/>
                </a:lnTo>
                <a:lnTo>
                  <a:pt x="50096" y="1402675"/>
                </a:lnTo>
                <a:lnTo>
                  <a:pt x="50096" y="1402675"/>
                </a:lnTo>
                <a:cubicBezTo>
                  <a:pt x="22429" y="1402675"/>
                  <a:pt x="0" y="1380246"/>
                  <a:pt x="0" y="1352579"/>
                </a:cubicBezTo>
                <a:lnTo>
                  <a:pt x="0" y="50096"/>
                </a:lnTo>
                <a:cubicBezTo>
                  <a:pt x="0" y="22447"/>
                  <a:pt x="22447" y="0"/>
                  <a:pt x="50096" y="0"/>
                </a:cubicBezTo>
                <a:close/>
              </a:path>
            </a:pathLst>
          </a:custGeom>
          <a:solidFill>
            <a:srgbClr val="718096"/>
          </a:solidFill>
          <a:ln/>
        </p:spPr>
        <p:txBody>
          <a:bodyPr/>
          <a:lstStyle/>
          <a:p>
            <a:endParaRPr lang="zh-CN" altLang="en-US"/>
          </a:p>
        </p:txBody>
      </p:sp>
      <p:sp>
        <p:nvSpPr>
          <p:cNvPr id="34" name="Text 32"/>
          <p:cNvSpPr/>
          <p:nvPr/>
        </p:nvSpPr>
        <p:spPr>
          <a:xfrm>
            <a:off x="8427106" y="6261941"/>
            <a:ext cx="7301424" cy="350669"/>
          </a:xfrm>
          <a:prstGeom prst="rect">
            <a:avLst/>
          </a:prstGeom>
          <a:noFill/>
          <a:ln/>
        </p:spPr>
        <p:txBody>
          <a:bodyPr wrap="square" lIns="0" tIns="0" rIns="0" bIns="0" rtlCol="0" anchor="ctr"/>
          <a:lstStyle/>
          <a:p>
            <a:pPr>
              <a:lnSpc>
                <a:spcPct val="120000"/>
              </a:lnSpc>
            </a:pPr>
            <a:r>
              <a:rPr lang="en-US" sz="1972" b="1" dirty="0">
                <a:solidFill>
                  <a:srgbClr val="718096"/>
                </a:solidFill>
                <a:latin typeface="MiSans" pitchFamily="34" charset="0"/>
                <a:ea typeface="MiSans" pitchFamily="34" charset="-122"/>
                <a:cs typeface="MiSans" pitchFamily="34" charset="-120"/>
              </a:rPr>
              <a:t>Replication (副本)</a:t>
            </a:r>
            <a:endParaRPr lang="en-US" sz="1600" dirty="0"/>
          </a:p>
        </p:txBody>
      </p:sp>
      <p:sp>
        <p:nvSpPr>
          <p:cNvPr id="35" name="Text 33"/>
          <p:cNvSpPr/>
          <p:nvPr/>
        </p:nvSpPr>
        <p:spPr>
          <a:xfrm>
            <a:off x="8427106" y="6712801"/>
            <a:ext cx="7276376" cy="651242"/>
          </a:xfrm>
          <a:prstGeom prst="rect">
            <a:avLst/>
          </a:prstGeom>
          <a:noFill/>
          <a:ln/>
        </p:spPr>
        <p:txBody>
          <a:bodyPr wrap="square" lIns="0" tIns="0" rIns="0" bIns="0" rtlCol="0" anchor="ctr"/>
          <a:lstStyle/>
          <a:p>
            <a:pPr>
              <a:lnSpc>
                <a:spcPct val="140000"/>
              </a:lnSpc>
            </a:pPr>
            <a:r>
              <a:rPr lang="en-US" sz="1578" dirty="0">
                <a:solidFill>
                  <a:srgbClr val="E2E8F0">
                    <a:alpha val="90000"/>
                  </a:srgbClr>
                </a:solidFill>
                <a:latin typeface="MiSans" pitchFamily="34" charset="0"/>
                <a:ea typeface="MiSans" pitchFamily="34" charset="-122"/>
                <a:cs typeface="MiSans" pitchFamily="34" charset="-120"/>
              </a:rPr>
              <a:t>每个 Partition 可以有多个副本，分布在不同的 Broker 上。副本分为 </a:t>
            </a:r>
            <a:r>
              <a:rPr lang="en-US" sz="1578" b="1" dirty="0">
                <a:solidFill>
                  <a:srgbClr val="D69E2E"/>
                </a:solidFill>
                <a:latin typeface="MiSans" pitchFamily="34" charset="0"/>
                <a:ea typeface="MiSans" pitchFamily="34" charset="-122"/>
                <a:cs typeface="MiSans" pitchFamily="34" charset="-120"/>
              </a:rPr>
              <a:t>Leader</a:t>
            </a:r>
            <a:r>
              <a:rPr lang="en-US" sz="1578" dirty="0">
                <a:solidFill>
                  <a:srgbClr val="E2E8F0">
                    <a:alpha val="90000"/>
                  </a:srgbClr>
                </a:solidFill>
                <a:latin typeface="MiSans" pitchFamily="34" charset="0"/>
                <a:ea typeface="MiSans" pitchFamily="34" charset="-122"/>
                <a:cs typeface="MiSans" pitchFamily="34" charset="-120"/>
              </a:rPr>
              <a:t> 和 </a:t>
            </a:r>
            <a:r>
              <a:rPr lang="en-US" sz="1578" b="1" dirty="0">
                <a:solidFill>
                  <a:srgbClr val="D69E2E"/>
                </a:solidFill>
                <a:latin typeface="MiSans" pitchFamily="34" charset="0"/>
                <a:ea typeface="MiSans" pitchFamily="34" charset="-122"/>
                <a:cs typeface="MiSans" pitchFamily="34" charset="-120"/>
              </a:rPr>
              <a:t>Follower</a:t>
            </a:r>
            <a:r>
              <a:rPr lang="en-US" sz="1578" dirty="0">
                <a:solidFill>
                  <a:srgbClr val="E2E8F0">
                    <a:alpha val="90000"/>
                  </a:srgbClr>
                </a:solidFill>
                <a:latin typeface="MiSans" pitchFamily="34" charset="0"/>
                <a:ea typeface="MiSans" pitchFamily="34" charset="-122"/>
                <a:cs typeface="MiSans" pitchFamily="34" charset="-120"/>
              </a:rPr>
              <a:t>，Leader 负责处理读写请求，Follower 从 Leader 同步数据。</a:t>
            </a:r>
            <a:endParaRPr lang="en-US" sz="1600" dirty="0"/>
          </a:p>
        </p:txBody>
      </p:sp>
      <p:sp>
        <p:nvSpPr>
          <p:cNvPr id="36" name="Shape 34"/>
          <p:cNvSpPr/>
          <p:nvPr/>
        </p:nvSpPr>
        <p:spPr>
          <a:xfrm>
            <a:off x="507217" y="8123401"/>
            <a:ext cx="15241565" cy="638718"/>
          </a:xfrm>
          <a:custGeom>
            <a:avLst/>
            <a:gdLst/>
            <a:ahLst/>
            <a:cxnLst/>
            <a:rect l="l" t="t" r="r" b="b"/>
            <a:pathLst>
              <a:path w="15241565" h="638718">
                <a:moveTo>
                  <a:pt x="100189" y="0"/>
                </a:moveTo>
                <a:lnTo>
                  <a:pt x="15141376" y="0"/>
                </a:lnTo>
                <a:cubicBezTo>
                  <a:pt x="15196709" y="0"/>
                  <a:pt x="15241565" y="44856"/>
                  <a:pt x="15241565" y="100189"/>
                </a:cubicBezTo>
                <a:lnTo>
                  <a:pt x="15241565" y="538529"/>
                </a:lnTo>
                <a:cubicBezTo>
                  <a:pt x="15241565" y="593862"/>
                  <a:pt x="15196709" y="638718"/>
                  <a:pt x="15141376" y="638718"/>
                </a:cubicBezTo>
                <a:lnTo>
                  <a:pt x="100189" y="638718"/>
                </a:lnTo>
                <a:cubicBezTo>
                  <a:pt x="44856" y="638718"/>
                  <a:pt x="0" y="593862"/>
                  <a:pt x="0" y="538529"/>
                </a:cubicBezTo>
                <a:lnTo>
                  <a:pt x="0" y="100189"/>
                </a:lnTo>
                <a:cubicBezTo>
                  <a:pt x="0" y="44893"/>
                  <a:pt x="44893" y="0"/>
                  <a:pt x="100189"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37" name="Shape 35"/>
          <p:cNvSpPr/>
          <p:nvPr/>
        </p:nvSpPr>
        <p:spPr>
          <a:xfrm>
            <a:off x="713861" y="8348831"/>
            <a:ext cx="150287" cy="200382"/>
          </a:xfrm>
          <a:custGeom>
            <a:avLst/>
            <a:gdLst/>
            <a:ahLst/>
            <a:cxnLst/>
            <a:rect l="l" t="t" r="r" b="b"/>
            <a:pathLst>
              <a:path w="150287" h="200382">
                <a:moveTo>
                  <a:pt x="114633" y="150287"/>
                </a:moveTo>
                <a:cubicBezTo>
                  <a:pt x="117490" y="141559"/>
                  <a:pt x="123204" y="133653"/>
                  <a:pt x="129661" y="126843"/>
                </a:cubicBezTo>
                <a:cubicBezTo>
                  <a:pt x="142459" y="113380"/>
                  <a:pt x="150287" y="95182"/>
                  <a:pt x="150287" y="75143"/>
                </a:cubicBezTo>
                <a:cubicBezTo>
                  <a:pt x="150287" y="33658"/>
                  <a:pt x="116629" y="0"/>
                  <a:pt x="75143" y="0"/>
                </a:cubicBezTo>
                <a:cubicBezTo>
                  <a:pt x="33658" y="0"/>
                  <a:pt x="0" y="33658"/>
                  <a:pt x="0" y="75143"/>
                </a:cubicBezTo>
                <a:cubicBezTo>
                  <a:pt x="0" y="95182"/>
                  <a:pt x="7827" y="113380"/>
                  <a:pt x="20625" y="126843"/>
                </a:cubicBezTo>
                <a:cubicBezTo>
                  <a:pt x="27083" y="133653"/>
                  <a:pt x="32836" y="141559"/>
                  <a:pt x="35654" y="150287"/>
                </a:cubicBezTo>
                <a:lnTo>
                  <a:pt x="114594" y="150287"/>
                </a:lnTo>
                <a:close/>
                <a:moveTo>
                  <a:pt x="112715" y="169072"/>
                </a:moveTo>
                <a:lnTo>
                  <a:pt x="37572" y="169072"/>
                </a:lnTo>
                <a:lnTo>
                  <a:pt x="37572" y="175334"/>
                </a:lnTo>
                <a:cubicBezTo>
                  <a:pt x="37572" y="192633"/>
                  <a:pt x="51583" y="206644"/>
                  <a:pt x="68881" y="206644"/>
                </a:cubicBezTo>
                <a:lnTo>
                  <a:pt x="81405" y="206644"/>
                </a:lnTo>
                <a:cubicBezTo>
                  <a:pt x="98704" y="206644"/>
                  <a:pt x="112715" y="192633"/>
                  <a:pt x="112715" y="175334"/>
                </a:cubicBezTo>
                <a:lnTo>
                  <a:pt x="112715" y="169072"/>
                </a:lnTo>
                <a:close/>
                <a:moveTo>
                  <a:pt x="72012" y="43834"/>
                </a:moveTo>
                <a:cubicBezTo>
                  <a:pt x="56436" y="43834"/>
                  <a:pt x="43834" y="56436"/>
                  <a:pt x="43834" y="72012"/>
                </a:cubicBezTo>
                <a:cubicBezTo>
                  <a:pt x="43834" y="77218"/>
                  <a:pt x="39646" y="81405"/>
                  <a:pt x="34441" y="81405"/>
                </a:cubicBezTo>
                <a:cubicBezTo>
                  <a:pt x="29235" y="81405"/>
                  <a:pt x="25048" y="77218"/>
                  <a:pt x="25048" y="72012"/>
                </a:cubicBezTo>
                <a:cubicBezTo>
                  <a:pt x="25048" y="46064"/>
                  <a:pt x="46064" y="25048"/>
                  <a:pt x="72012" y="25048"/>
                </a:cubicBezTo>
                <a:cubicBezTo>
                  <a:pt x="77218" y="25048"/>
                  <a:pt x="81405" y="29235"/>
                  <a:pt x="81405" y="34441"/>
                </a:cubicBezTo>
                <a:cubicBezTo>
                  <a:pt x="81405" y="39646"/>
                  <a:pt x="77218" y="43834"/>
                  <a:pt x="72012" y="43834"/>
                </a:cubicBezTo>
                <a:close/>
              </a:path>
            </a:pathLst>
          </a:custGeom>
          <a:solidFill>
            <a:srgbClr val="D69E2E"/>
          </a:solidFill>
          <a:ln/>
        </p:spPr>
        <p:txBody>
          <a:bodyPr/>
          <a:lstStyle/>
          <a:p>
            <a:endParaRPr lang="zh-CN" altLang="en-US"/>
          </a:p>
        </p:txBody>
      </p:sp>
      <p:sp>
        <p:nvSpPr>
          <p:cNvPr id="38" name="Text 36"/>
          <p:cNvSpPr/>
          <p:nvPr/>
        </p:nvSpPr>
        <p:spPr>
          <a:xfrm>
            <a:off x="1013045" y="8279950"/>
            <a:ext cx="14679380" cy="325621"/>
          </a:xfrm>
          <a:prstGeom prst="rect">
            <a:avLst/>
          </a:prstGeom>
          <a:noFill/>
          <a:ln/>
        </p:spPr>
        <p:txBody>
          <a:bodyPr wrap="square" lIns="0" tIns="0" rIns="0" bIns="0" rtlCol="0" anchor="ctr"/>
          <a:lstStyle/>
          <a:p>
            <a:pPr>
              <a:lnSpc>
                <a:spcPct val="140000"/>
              </a:lnSpc>
            </a:pPr>
            <a:r>
              <a:rPr lang="en-US" sz="1578" b="1" dirty="0">
                <a:solidFill>
                  <a:srgbClr val="D69E2E"/>
                </a:solidFill>
                <a:latin typeface="MiSans" pitchFamily="34" charset="0"/>
                <a:ea typeface="MiSans" pitchFamily="34" charset="-122"/>
                <a:cs typeface="MiSans" pitchFamily="34" charset="-120"/>
              </a:rPr>
              <a:t>设计哲学:</a:t>
            </a:r>
            <a:r>
              <a:rPr lang="en-US" sz="1578" dirty="0">
                <a:solidFill>
                  <a:srgbClr val="E2E8F0">
                    <a:alpha val="90000"/>
                  </a:srgbClr>
                </a:solidFill>
                <a:latin typeface="MiSans" pitchFamily="34" charset="0"/>
                <a:ea typeface="MiSans" pitchFamily="34" charset="-122"/>
                <a:cs typeface="MiSans" pitchFamily="34" charset="-120"/>
              </a:rPr>
              <a:t> Kafka 的核心概念虽然不多，但通过精心的组合和设计，共同构成了一个高性能、高可靠、可扩展的分布式消息系统。</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97125" y="497125"/>
            <a:ext cx="15361174" cy="298275"/>
          </a:xfrm>
          <a:prstGeom prst="rect">
            <a:avLst/>
          </a:prstGeom>
          <a:noFill/>
          <a:ln/>
        </p:spPr>
        <p:txBody>
          <a:bodyPr wrap="square" lIns="0" tIns="0" rIns="0" bIns="0" rtlCol="0" anchor="ctr"/>
          <a:lstStyle/>
          <a:p>
            <a:pPr>
              <a:lnSpc>
                <a:spcPct val="130000"/>
              </a:lnSpc>
            </a:pPr>
            <a:r>
              <a:rPr lang="en-US" sz="1566" b="1" kern="0" spc="78" dirty="0">
                <a:solidFill>
                  <a:srgbClr val="D69E2E"/>
                </a:solidFill>
                <a:latin typeface="MiSans" pitchFamily="34" charset="0"/>
                <a:ea typeface="MiSans" pitchFamily="34" charset="-122"/>
                <a:cs typeface="MiSans" pitchFamily="34" charset="-120"/>
              </a:rPr>
              <a:t>1.3.2 架构概述</a:t>
            </a:r>
            <a:endParaRPr lang="en-US" sz="1600" dirty="0"/>
          </a:p>
        </p:txBody>
      </p:sp>
      <p:sp>
        <p:nvSpPr>
          <p:cNvPr id="3" name="Text 1"/>
          <p:cNvSpPr/>
          <p:nvPr/>
        </p:nvSpPr>
        <p:spPr>
          <a:xfrm>
            <a:off x="497125" y="894826"/>
            <a:ext cx="15485456" cy="497125"/>
          </a:xfrm>
          <a:prstGeom prst="rect">
            <a:avLst/>
          </a:prstGeom>
          <a:noFill/>
          <a:ln/>
        </p:spPr>
        <p:txBody>
          <a:bodyPr wrap="square" lIns="0" tIns="0" rIns="0" bIns="0" rtlCol="0" anchor="ctr"/>
          <a:lstStyle/>
          <a:p>
            <a:pPr>
              <a:lnSpc>
                <a:spcPct val="90000"/>
              </a:lnSpc>
            </a:pPr>
            <a:r>
              <a:rPr lang="en-US" sz="3523" b="1" dirty="0">
                <a:solidFill>
                  <a:srgbClr val="E2E8F0"/>
                </a:solidFill>
                <a:latin typeface="MiSans" pitchFamily="34" charset="0"/>
                <a:ea typeface="MiSans" pitchFamily="34" charset="-122"/>
                <a:cs typeface="MiSans" pitchFamily="34" charset="-120"/>
              </a:rPr>
              <a:t>Kafka 架构概述</a:t>
            </a:r>
            <a:endParaRPr lang="en-US" sz="1600" dirty="0"/>
          </a:p>
        </p:txBody>
      </p:sp>
      <p:pic>
        <p:nvPicPr>
          <p:cNvPr id="4" name="Image 0" descr="https://kimi-web-img.moonshot.cn/img/substackcdn.com/697e04f26b644fa7feb0bd70f7d8379720c9bce7.png"/>
          <p:cNvPicPr>
            <a:picLocks noChangeAspect="1"/>
          </p:cNvPicPr>
          <p:nvPr/>
        </p:nvPicPr>
        <p:blipFill>
          <a:blip r:embed="rId3"/>
          <a:srcRect l="5328" r="5328"/>
          <a:stretch/>
        </p:blipFill>
        <p:spPr>
          <a:xfrm>
            <a:off x="497125" y="1590801"/>
            <a:ext cx="10116502" cy="7258031"/>
          </a:xfrm>
          <a:prstGeom prst="roundRect">
            <a:avLst>
              <a:gd name="adj" fmla="val 1370"/>
            </a:avLst>
          </a:prstGeom>
        </p:spPr>
      </p:pic>
      <p:sp>
        <p:nvSpPr>
          <p:cNvPr id="5" name="Shape 2"/>
          <p:cNvSpPr/>
          <p:nvPr/>
        </p:nvSpPr>
        <p:spPr>
          <a:xfrm>
            <a:off x="10807817" y="1692362"/>
            <a:ext cx="4958826" cy="1292526"/>
          </a:xfrm>
          <a:custGeom>
            <a:avLst/>
            <a:gdLst/>
            <a:ahLst/>
            <a:cxnLst/>
            <a:rect l="l" t="t" r="r" b="b"/>
            <a:pathLst>
              <a:path w="4958826" h="1292526">
                <a:moveTo>
                  <a:pt x="99421" y="0"/>
                </a:moveTo>
                <a:lnTo>
                  <a:pt x="4859405" y="0"/>
                </a:lnTo>
                <a:cubicBezTo>
                  <a:pt x="4914313" y="0"/>
                  <a:pt x="4958826" y="44512"/>
                  <a:pt x="4958826" y="99421"/>
                </a:cubicBezTo>
                <a:lnTo>
                  <a:pt x="4958826" y="1193105"/>
                </a:lnTo>
                <a:cubicBezTo>
                  <a:pt x="4958826" y="1248014"/>
                  <a:pt x="4914313" y="1292526"/>
                  <a:pt x="4859405" y="1292526"/>
                </a:cubicBezTo>
                <a:lnTo>
                  <a:pt x="99421" y="1292526"/>
                </a:lnTo>
                <a:cubicBezTo>
                  <a:pt x="44512" y="1292526"/>
                  <a:pt x="0" y="1248014"/>
                  <a:pt x="0" y="1193105"/>
                </a:cubicBezTo>
                <a:lnTo>
                  <a:pt x="0" y="99421"/>
                </a:lnTo>
                <a:cubicBezTo>
                  <a:pt x="0" y="44549"/>
                  <a:pt x="44549" y="0"/>
                  <a:pt x="99421" y="0"/>
                </a:cubicBezTo>
                <a:close/>
              </a:path>
            </a:pathLst>
          </a:custGeom>
          <a:solidFill>
            <a:srgbClr val="4A5568">
              <a:alpha val="20000"/>
            </a:srgbClr>
          </a:solidFill>
          <a:ln/>
        </p:spPr>
        <p:txBody>
          <a:bodyPr/>
          <a:lstStyle/>
          <a:p>
            <a:endParaRPr lang="zh-CN" altLang="en-US"/>
          </a:p>
        </p:txBody>
      </p:sp>
      <p:sp>
        <p:nvSpPr>
          <p:cNvPr id="6" name="Shape 3"/>
          <p:cNvSpPr/>
          <p:nvPr/>
        </p:nvSpPr>
        <p:spPr>
          <a:xfrm>
            <a:off x="10956954" y="1841500"/>
            <a:ext cx="397700" cy="397700"/>
          </a:xfrm>
          <a:custGeom>
            <a:avLst/>
            <a:gdLst/>
            <a:ahLst/>
            <a:cxnLst/>
            <a:rect l="l" t="t" r="r" b="b"/>
            <a:pathLst>
              <a:path w="397700" h="397700">
                <a:moveTo>
                  <a:pt x="198850" y="0"/>
                </a:moveTo>
                <a:lnTo>
                  <a:pt x="198850" y="0"/>
                </a:lnTo>
                <a:cubicBezTo>
                  <a:pt x="308599" y="0"/>
                  <a:pt x="397700" y="89102"/>
                  <a:pt x="397700" y="198850"/>
                </a:cubicBezTo>
                <a:lnTo>
                  <a:pt x="397700" y="198850"/>
                </a:lnTo>
                <a:cubicBezTo>
                  <a:pt x="397700" y="308599"/>
                  <a:pt x="308599" y="397700"/>
                  <a:pt x="198850" y="397700"/>
                </a:cubicBezTo>
                <a:lnTo>
                  <a:pt x="198850" y="397700"/>
                </a:lnTo>
                <a:cubicBezTo>
                  <a:pt x="89102" y="397700"/>
                  <a:pt x="0" y="308599"/>
                  <a:pt x="0" y="198850"/>
                </a:cubicBezTo>
                <a:lnTo>
                  <a:pt x="0" y="198850"/>
                </a:lnTo>
                <a:cubicBezTo>
                  <a:pt x="0" y="89102"/>
                  <a:pt x="89102" y="0"/>
                  <a:pt x="198850" y="0"/>
                </a:cubicBezTo>
                <a:close/>
              </a:path>
            </a:pathLst>
          </a:custGeom>
          <a:solidFill>
            <a:srgbClr val="D69E2E"/>
          </a:solidFill>
          <a:ln/>
        </p:spPr>
        <p:txBody>
          <a:bodyPr/>
          <a:lstStyle/>
          <a:p>
            <a:endParaRPr lang="zh-CN" altLang="en-US"/>
          </a:p>
        </p:txBody>
      </p:sp>
      <p:sp>
        <p:nvSpPr>
          <p:cNvPr id="7" name="Text 4"/>
          <p:cNvSpPr/>
          <p:nvPr/>
        </p:nvSpPr>
        <p:spPr>
          <a:xfrm>
            <a:off x="11121530" y="1916069"/>
            <a:ext cx="161566" cy="248563"/>
          </a:xfrm>
          <a:prstGeom prst="rect">
            <a:avLst/>
          </a:prstGeom>
          <a:noFill/>
          <a:ln/>
        </p:spPr>
        <p:txBody>
          <a:bodyPr wrap="square" lIns="0" tIns="0" rIns="0" bIns="0" rtlCol="0" anchor="ctr"/>
          <a:lstStyle/>
          <a:p>
            <a:pPr>
              <a:lnSpc>
                <a:spcPct val="120000"/>
              </a:lnSpc>
            </a:pPr>
            <a:r>
              <a:rPr lang="en-US" sz="1370" b="1" dirty="0">
                <a:solidFill>
                  <a:srgbClr val="1A1D21"/>
                </a:solidFill>
                <a:latin typeface="MiSans" pitchFamily="34" charset="0"/>
                <a:ea typeface="MiSans" pitchFamily="34" charset="-122"/>
                <a:cs typeface="MiSans" pitchFamily="34" charset="-120"/>
              </a:rPr>
              <a:t>1</a:t>
            </a:r>
            <a:endParaRPr lang="en-US" sz="1600" dirty="0"/>
          </a:p>
        </p:txBody>
      </p:sp>
      <p:sp>
        <p:nvSpPr>
          <p:cNvPr id="8" name="Text 5"/>
          <p:cNvSpPr/>
          <p:nvPr/>
        </p:nvSpPr>
        <p:spPr>
          <a:xfrm>
            <a:off x="11454080" y="1866356"/>
            <a:ext cx="1056391" cy="347988"/>
          </a:xfrm>
          <a:prstGeom prst="rect">
            <a:avLst/>
          </a:prstGeom>
          <a:noFill/>
          <a:ln/>
        </p:spPr>
        <p:txBody>
          <a:bodyPr wrap="square" lIns="0" tIns="0" rIns="0" bIns="0" rtlCol="0" anchor="ctr"/>
          <a:lstStyle/>
          <a:p>
            <a:pPr>
              <a:lnSpc>
                <a:spcPct val="130000"/>
              </a:lnSpc>
            </a:pPr>
            <a:r>
              <a:rPr lang="en-US" sz="1761" b="1" dirty="0">
                <a:solidFill>
                  <a:srgbClr val="D69E2E"/>
                </a:solidFill>
                <a:latin typeface="MiSans" pitchFamily="34" charset="0"/>
                <a:ea typeface="MiSans" pitchFamily="34" charset="-122"/>
                <a:cs typeface="MiSans" pitchFamily="34" charset="-120"/>
              </a:rPr>
              <a:t>Producer</a:t>
            </a:r>
            <a:endParaRPr lang="en-US" sz="1600" dirty="0"/>
          </a:p>
        </p:txBody>
      </p:sp>
      <p:sp>
        <p:nvSpPr>
          <p:cNvPr id="9" name="Text 6"/>
          <p:cNvSpPr/>
          <p:nvPr/>
        </p:nvSpPr>
        <p:spPr>
          <a:xfrm>
            <a:off x="10956954" y="2338625"/>
            <a:ext cx="4747547" cy="497125"/>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将消息发送到 Kafka 集群。Producer A/B/C 可以向不同的 Topic 发送消息。</a:t>
            </a:r>
            <a:endParaRPr lang="en-US" sz="1600" dirty="0"/>
          </a:p>
        </p:txBody>
      </p:sp>
      <p:sp>
        <p:nvSpPr>
          <p:cNvPr id="10" name="Shape 7"/>
          <p:cNvSpPr/>
          <p:nvPr/>
        </p:nvSpPr>
        <p:spPr>
          <a:xfrm>
            <a:off x="10807817" y="3134026"/>
            <a:ext cx="4958826" cy="1292526"/>
          </a:xfrm>
          <a:custGeom>
            <a:avLst/>
            <a:gdLst/>
            <a:ahLst/>
            <a:cxnLst/>
            <a:rect l="l" t="t" r="r" b="b"/>
            <a:pathLst>
              <a:path w="4958826" h="1292526">
                <a:moveTo>
                  <a:pt x="99421" y="0"/>
                </a:moveTo>
                <a:lnTo>
                  <a:pt x="4859405" y="0"/>
                </a:lnTo>
                <a:cubicBezTo>
                  <a:pt x="4914313" y="0"/>
                  <a:pt x="4958826" y="44512"/>
                  <a:pt x="4958826" y="99421"/>
                </a:cubicBezTo>
                <a:lnTo>
                  <a:pt x="4958826" y="1193105"/>
                </a:lnTo>
                <a:cubicBezTo>
                  <a:pt x="4958826" y="1248014"/>
                  <a:pt x="4914313" y="1292526"/>
                  <a:pt x="4859405" y="1292526"/>
                </a:cubicBezTo>
                <a:lnTo>
                  <a:pt x="99421" y="1292526"/>
                </a:lnTo>
                <a:cubicBezTo>
                  <a:pt x="44512" y="1292526"/>
                  <a:pt x="0" y="1248014"/>
                  <a:pt x="0" y="1193105"/>
                </a:cubicBezTo>
                <a:lnTo>
                  <a:pt x="0" y="99421"/>
                </a:lnTo>
                <a:cubicBezTo>
                  <a:pt x="0" y="44549"/>
                  <a:pt x="44549" y="0"/>
                  <a:pt x="99421" y="0"/>
                </a:cubicBezTo>
                <a:close/>
              </a:path>
            </a:pathLst>
          </a:custGeom>
          <a:solidFill>
            <a:srgbClr val="4A5568">
              <a:alpha val="20000"/>
            </a:srgbClr>
          </a:solidFill>
          <a:ln/>
        </p:spPr>
        <p:txBody>
          <a:bodyPr/>
          <a:lstStyle/>
          <a:p>
            <a:endParaRPr lang="zh-CN" altLang="en-US"/>
          </a:p>
        </p:txBody>
      </p:sp>
      <p:sp>
        <p:nvSpPr>
          <p:cNvPr id="11" name="Shape 8"/>
          <p:cNvSpPr/>
          <p:nvPr/>
        </p:nvSpPr>
        <p:spPr>
          <a:xfrm>
            <a:off x="10956954" y="3283164"/>
            <a:ext cx="397700" cy="397700"/>
          </a:xfrm>
          <a:custGeom>
            <a:avLst/>
            <a:gdLst/>
            <a:ahLst/>
            <a:cxnLst/>
            <a:rect l="l" t="t" r="r" b="b"/>
            <a:pathLst>
              <a:path w="397700" h="397700">
                <a:moveTo>
                  <a:pt x="198850" y="0"/>
                </a:moveTo>
                <a:lnTo>
                  <a:pt x="198850" y="0"/>
                </a:lnTo>
                <a:cubicBezTo>
                  <a:pt x="308599" y="0"/>
                  <a:pt x="397700" y="89102"/>
                  <a:pt x="397700" y="198850"/>
                </a:cubicBezTo>
                <a:lnTo>
                  <a:pt x="397700" y="198850"/>
                </a:lnTo>
                <a:cubicBezTo>
                  <a:pt x="397700" y="308599"/>
                  <a:pt x="308599" y="397700"/>
                  <a:pt x="198850" y="397700"/>
                </a:cubicBezTo>
                <a:lnTo>
                  <a:pt x="198850" y="397700"/>
                </a:lnTo>
                <a:cubicBezTo>
                  <a:pt x="89102" y="397700"/>
                  <a:pt x="0" y="308599"/>
                  <a:pt x="0" y="198850"/>
                </a:cubicBezTo>
                <a:lnTo>
                  <a:pt x="0" y="198850"/>
                </a:lnTo>
                <a:cubicBezTo>
                  <a:pt x="0" y="89102"/>
                  <a:pt x="89102" y="0"/>
                  <a:pt x="198850" y="0"/>
                </a:cubicBezTo>
                <a:close/>
              </a:path>
            </a:pathLst>
          </a:custGeom>
          <a:solidFill>
            <a:srgbClr val="718096"/>
          </a:solidFill>
          <a:ln/>
        </p:spPr>
        <p:txBody>
          <a:bodyPr/>
          <a:lstStyle/>
          <a:p>
            <a:endParaRPr lang="zh-CN" altLang="en-US"/>
          </a:p>
        </p:txBody>
      </p:sp>
      <p:sp>
        <p:nvSpPr>
          <p:cNvPr id="12" name="Text 9"/>
          <p:cNvSpPr/>
          <p:nvPr/>
        </p:nvSpPr>
        <p:spPr>
          <a:xfrm>
            <a:off x="11106869" y="3357732"/>
            <a:ext cx="186422" cy="248563"/>
          </a:xfrm>
          <a:prstGeom prst="rect">
            <a:avLst/>
          </a:prstGeom>
          <a:noFill/>
          <a:ln/>
        </p:spPr>
        <p:txBody>
          <a:bodyPr wrap="square" lIns="0" tIns="0" rIns="0" bIns="0" rtlCol="0" anchor="ctr"/>
          <a:lstStyle/>
          <a:p>
            <a:pPr>
              <a:lnSpc>
                <a:spcPct val="120000"/>
              </a:lnSpc>
            </a:pPr>
            <a:r>
              <a:rPr lang="en-US" sz="1370" b="1" dirty="0">
                <a:solidFill>
                  <a:srgbClr val="1A1D21"/>
                </a:solidFill>
                <a:latin typeface="MiSans" pitchFamily="34" charset="0"/>
                <a:ea typeface="MiSans" pitchFamily="34" charset="-122"/>
                <a:cs typeface="MiSans" pitchFamily="34" charset="-120"/>
              </a:rPr>
              <a:t>2</a:t>
            </a:r>
            <a:endParaRPr lang="en-US" sz="1600" dirty="0"/>
          </a:p>
        </p:txBody>
      </p:sp>
      <p:sp>
        <p:nvSpPr>
          <p:cNvPr id="13" name="Text 10"/>
          <p:cNvSpPr/>
          <p:nvPr/>
        </p:nvSpPr>
        <p:spPr>
          <a:xfrm>
            <a:off x="11454080" y="3308020"/>
            <a:ext cx="1304954" cy="347988"/>
          </a:xfrm>
          <a:prstGeom prst="rect">
            <a:avLst/>
          </a:prstGeom>
          <a:noFill/>
          <a:ln/>
        </p:spPr>
        <p:txBody>
          <a:bodyPr wrap="square" lIns="0" tIns="0" rIns="0" bIns="0" rtlCol="0" anchor="ctr"/>
          <a:lstStyle/>
          <a:p>
            <a:pPr>
              <a:lnSpc>
                <a:spcPct val="130000"/>
              </a:lnSpc>
            </a:pPr>
            <a:r>
              <a:rPr lang="en-US" sz="1761" b="1" dirty="0">
                <a:solidFill>
                  <a:srgbClr val="718096"/>
                </a:solidFill>
                <a:latin typeface="MiSans" pitchFamily="34" charset="0"/>
                <a:ea typeface="MiSans" pitchFamily="34" charset="-122"/>
                <a:cs typeface="MiSans" pitchFamily="34" charset="-120"/>
              </a:rPr>
              <a:t>Broker 集群</a:t>
            </a:r>
            <a:endParaRPr lang="en-US" sz="1600" dirty="0"/>
          </a:p>
        </p:txBody>
      </p:sp>
      <p:sp>
        <p:nvSpPr>
          <p:cNvPr id="14" name="Text 11"/>
          <p:cNvSpPr/>
          <p:nvPr/>
        </p:nvSpPr>
        <p:spPr>
          <a:xfrm>
            <a:off x="10956954" y="3780289"/>
            <a:ext cx="4747547" cy="497125"/>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由 Broker 1/2/3 组成，承担数据存储和流量转发，每个 Broker 既是 Leader 也是 Follower。</a:t>
            </a:r>
            <a:endParaRPr lang="en-US" sz="1600" dirty="0"/>
          </a:p>
        </p:txBody>
      </p:sp>
      <p:sp>
        <p:nvSpPr>
          <p:cNvPr id="15" name="Shape 12"/>
          <p:cNvSpPr/>
          <p:nvPr/>
        </p:nvSpPr>
        <p:spPr>
          <a:xfrm>
            <a:off x="10807817" y="4575690"/>
            <a:ext cx="4958826" cy="1292526"/>
          </a:xfrm>
          <a:custGeom>
            <a:avLst/>
            <a:gdLst/>
            <a:ahLst/>
            <a:cxnLst/>
            <a:rect l="l" t="t" r="r" b="b"/>
            <a:pathLst>
              <a:path w="4958826" h="1292526">
                <a:moveTo>
                  <a:pt x="99421" y="0"/>
                </a:moveTo>
                <a:lnTo>
                  <a:pt x="4859405" y="0"/>
                </a:lnTo>
                <a:cubicBezTo>
                  <a:pt x="4914313" y="0"/>
                  <a:pt x="4958826" y="44512"/>
                  <a:pt x="4958826" y="99421"/>
                </a:cubicBezTo>
                <a:lnTo>
                  <a:pt x="4958826" y="1193105"/>
                </a:lnTo>
                <a:cubicBezTo>
                  <a:pt x="4958826" y="1248014"/>
                  <a:pt x="4914313" y="1292526"/>
                  <a:pt x="4859405" y="1292526"/>
                </a:cubicBezTo>
                <a:lnTo>
                  <a:pt x="99421" y="1292526"/>
                </a:lnTo>
                <a:cubicBezTo>
                  <a:pt x="44512" y="1292526"/>
                  <a:pt x="0" y="1248014"/>
                  <a:pt x="0" y="1193105"/>
                </a:cubicBezTo>
                <a:lnTo>
                  <a:pt x="0" y="99421"/>
                </a:lnTo>
                <a:cubicBezTo>
                  <a:pt x="0" y="44549"/>
                  <a:pt x="44549" y="0"/>
                  <a:pt x="99421" y="0"/>
                </a:cubicBezTo>
                <a:close/>
              </a:path>
            </a:pathLst>
          </a:custGeom>
          <a:solidFill>
            <a:srgbClr val="4A5568">
              <a:alpha val="20000"/>
            </a:srgbClr>
          </a:solidFill>
          <a:ln/>
        </p:spPr>
        <p:txBody>
          <a:bodyPr/>
          <a:lstStyle/>
          <a:p>
            <a:endParaRPr lang="zh-CN" altLang="en-US"/>
          </a:p>
        </p:txBody>
      </p:sp>
      <p:sp>
        <p:nvSpPr>
          <p:cNvPr id="16" name="Shape 13"/>
          <p:cNvSpPr/>
          <p:nvPr/>
        </p:nvSpPr>
        <p:spPr>
          <a:xfrm>
            <a:off x="10956954" y="4724827"/>
            <a:ext cx="397700" cy="397700"/>
          </a:xfrm>
          <a:custGeom>
            <a:avLst/>
            <a:gdLst/>
            <a:ahLst/>
            <a:cxnLst/>
            <a:rect l="l" t="t" r="r" b="b"/>
            <a:pathLst>
              <a:path w="397700" h="397700">
                <a:moveTo>
                  <a:pt x="198850" y="0"/>
                </a:moveTo>
                <a:lnTo>
                  <a:pt x="198850" y="0"/>
                </a:lnTo>
                <a:cubicBezTo>
                  <a:pt x="308599" y="0"/>
                  <a:pt x="397700" y="89102"/>
                  <a:pt x="397700" y="198850"/>
                </a:cubicBezTo>
                <a:lnTo>
                  <a:pt x="397700" y="198850"/>
                </a:lnTo>
                <a:cubicBezTo>
                  <a:pt x="397700" y="308599"/>
                  <a:pt x="308599" y="397700"/>
                  <a:pt x="198850" y="397700"/>
                </a:cubicBezTo>
                <a:lnTo>
                  <a:pt x="198850" y="397700"/>
                </a:lnTo>
                <a:cubicBezTo>
                  <a:pt x="89102" y="397700"/>
                  <a:pt x="0" y="308599"/>
                  <a:pt x="0" y="198850"/>
                </a:cubicBezTo>
                <a:lnTo>
                  <a:pt x="0" y="198850"/>
                </a:lnTo>
                <a:cubicBezTo>
                  <a:pt x="0" y="89102"/>
                  <a:pt x="89102" y="0"/>
                  <a:pt x="198850" y="0"/>
                </a:cubicBezTo>
                <a:close/>
              </a:path>
            </a:pathLst>
          </a:custGeom>
          <a:solidFill>
            <a:srgbClr val="D69E2E"/>
          </a:solidFill>
          <a:ln/>
        </p:spPr>
        <p:txBody>
          <a:bodyPr/>
          <a:lstStyle/>
          <a:p>
            <a:endParaRPr lang="zh-CN" altLang="en-US"/>
          </a:p>
        </p:txBody>
      </p:sp>
      <p:sp>
        <p:nvSpPr>
          <p:cNvPr id="17" name="Text 14"/>
          <p:cNvSpPr/>
          <p:nvPr/>
        </p:nvSpPr>
        <p:spPr>
          <a:xfrm>
            <a:off x="11104635" y="4799396"/>
            <a:ext cx="186422" cy="248563"/>
          </a:xfrm>
          <a:prstGeom prst="rect">
            <a:avLst/>
          </a:prstGeom>
          <a:noFill/>
          <a:ln/>
        </p:spPr>
        <p:txBody>
          <a:bodyPr wrap="square" lIns="0" tIns="0" rIns="0" bIns="0" rtlCol="0" anchor="ctr"/>
          <a:lstStyle/>
          <a:p>
            <a:pPr>
              <a:lnSpc>
                <a:spcPct val="120000"/>
              </a:lnSpc>
            </a:pPr>
            <a:r>
              <a:rPr lang="en-US" sz="1370" b="1" dirty="0">
                <a:solidFill>
                  <a:srgbClr val="1A1D21"/>
                </a:solidFill>
                <a:latin typeface="MiSans" pitchFamily="34" charset="0"/>
                <a:ea typeface="MiSans" pitchFamily="34" charset="-122"/>
                <a:cs typeface="MiSans" pitchFamily="34" charset="-120"/>
              </a:rPr>
              <a:t>3</a:t>
            </a:r>
            <a:endParaRPr lang="en-US" sz="1600" dirty="0"/>
          </a:p>
        </p:txBody>
      </p:sp>
      <p:sp>
        <p:nvSpPr>
          <p:cNvPr id="18" name="Text 15"/>
          <p:cNvSpPr/>
          <p:nvPr/>
        </p:nvSpPr>
        <p:spPr>
          <a:xfrm>
            <a:off x="11454080" y="4749683"/>
            <a:ext cx="1826936" cy="347988"/>
          </a:xfrm>
          <a:prstGeom prst="rect">
            <a:avLst/>
          </a:prstGeom>
          <a:noFill/>
          <a:ln/>
        </p:spPr>
        <p:txBody>
          <a:bodyPr wrap="square" lIns="0" tIns="0" rIns="0" bIns="0" rtlCol="0" anchor="ctr"/>
          <a:lstStyle/>
          <a:p>
            <a:pPr>
              <a:lnSpc>
                <a:spcPct val="130000"/>
              </a:lnSpc>
            </a:pPr>
            <a:r>
              <a:rPr lang="en-US" sz="1761" b="1" dirty="0">
                <a:solidFill>
                  <a:srgbClr val="D69E2E"/>
                </a:solidFill>
                <a:latin typeface="MiSans" pitchFamily="34" charset="0"/>
                <a:ea typeface="MiSans" pitchFamily="34" charset="-122"/>
                <a:cs typeface="MiSans" pitchFamily="34" charset="-120"/>
              </a:rPr>
              <a:t>Topic &amp; Partition</a:t>
            </a:r>
            <a:endParaRPr lang="en-US" sz="1600" dirty="0"/>
          </a:p>
        </p:txBody>
      </p:sp>
      <p:sp>
        <p:nvSpPr>
          <p:cNvPr id="19" name="Text 16"/>
          <p:cNvSpPr/>
          <p:nvPr/>
        </p:nvSpPr>
        <p:spPr>
          <a:xfrm>
            <a:off x="10956954" y="5221953"/>
            <a:ext cx="4747547" cy="497125"/>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Topic A 和 B 均被切分为 Partition 0 和 1，分布在不同的 Broker 上实现水平扩展。</a:t>
            </a:r>
            <a:endParaRPr lang="en-US" sz="1600" dirty="0"/>
          </a:p>
        </p:txBody>
      </p:sp>
      <p:sp>
        <p:nvSpPr>
          <p:cNvPr id="20" name="Shape 17"/>
          <p:cNvSpPr/>
          <p:nvPr/>
        </p:nvSpPr>
        <p:spPr>
          <a:xfrm>
            <a:off x="10807817" y="6017353"/>
            <a:ext cx="4958826" cy="1292526"/>
          </a:xfrm>
          <a:custGeom>
            <a:avLst/>
            <a:gdLst/>
            <a:ahLst/>
            <a:cxnLst/>
            <a:rect l="l" t="t" r="r" b="b"/>
            <a:pathLst>
              <a:path w="4958826" h="1292526">
                <a:moveTo>
                  <a:pt x="99421" y="0"/>
                </a:moveTo>
                <a:lnTo>
                  <a:pt x="4859405" y="0"/>
                </a:lnTo>
                <a:cubicBezTo>
                  <a:pt x="4914313" y="0"/>
                  <a:pt x="4958826" y="44512"/>
                  <a:pt x="4958826" y="99421"/>
                </a:cubicBezTo>
                <a:lnTo>
                  <a:pt x="4958826" y="1193105"/>
                </a:lnTo>
                <a:cubicBezTo>
                  <a:pt x="4958826" y="1248014"/>
                  <a:pt x="4914313" y="1292526"/>
                  <a:pt x="4859405" y="1292526"/>
                </a:cubicBezTo>
                <a:lnTo>
                  <a:pt x="99421" y="1292526"/>
                </a:lnTo>
                <a:cubicBezTo>
                  <a:pt x="44512" y="1292526"/>
                  <a:pt x="0" y="1248014"/>
                  <a:pt x="0" y="1193105"/>
                </a:cubicBezTo>
                <a:lnTo>
                  <a:pt x="0" y="99421"/>
                </a:lnTo>
                <a:cubicBezTo>
                  <a:pt x="0" y="44549"/>
                  <a:pt x="44549" y="0"/>
                  <a:pt x="99421" y="0"/>
                </a:cubicBezTo>
                <a:close/>
              </a:path>
            </a:pathLst>
          </a:custGeom>
          <a:solidFill>
            <a:srgbClr val="4A5568">
              <a:alpha val="20000"/>
            </a:srgbClr>
          </a:solidFill>
          <a:ln/>
        </p:spPr>
        <p:txBody>
          <a:bodyPr/>
          <a:lstStyle/>
          <a:p>
            <a:endParaRPr lang="zh-CN" altLang="en-US"/>
          </a:p>
        </p:txBody>
      </p:sp>
      <p:sp>
        <p:nvSpPr>
          <p:cNvPr id="21" name="Shape 18"/>
          <p:cNvSpPr/>
          <p:nvPr/>
        </p:nvSpPr>
        <p:spPr>
          <a:xfrm>
            <a:off x="10956954" y="6166491"/>
            <a:ext cx="397700" cy="397700"/>
          </a:xfrm>
          <a:custGeom>
            <a:avLst/>
            <a:gdLst/>
            <a:ahLst/>
            <a:cxnLst/>
            <a:rect l="l" t="t" r="r" b="b"/>
            <a:pathLst>
              <a:path w="397700" h="397700">
                <a:moveTo>
                  <a:pt x="198850" y="0"/>
                </a:moveTo>
                <a:lnTo>
                  <a:pt x="198850" y="0"/>
                </a:lnTo>
                <a:cubicBezTo>
                  <a:pt x="308599" y="0"/>
                  <a:pt x="397700" y="89102"/>
                  <a:pt x="397700" y="198850"/>
                </a:cubicBezTo>
                <a:lnTo>
                  <a:pt x="397700" y="198850"/>
                </a:lnTo>
                <a:cubicBezTo>
                  <a:pt x="397700" y="308599"/>
                  <a:pt x="308599" y="397700"/>
                  <a:pt x="198850" y="397700"/>
                </a:cubicBezTo>
                <a:lnTo>
                  <a:pt x="198850" y="397700"/>
                </a:lnTo>
                <a:cubicBezTo>
                  <a:pt x="89102" y="397700"/>
                  <a:pt x="0" y="308599"/>
                  <a:pt x="0" y="198850"/>
                </a:cubicBezTo>
                <a:lnTo>
                  <a:pt x="0" y="198850"/>
                </a:lnTo>
                <a:cubicBezTo>
                  <a:pt x="0" y="89102"/>
                  <a:pt x="89102" y="0"/>
                  <a:pt x="198850" y="0"/>
                </a:cubicBezTo>
                <a:close/>
              </a:path>
            </a:pathLst>
          </a:custGeom>
          <a:solidFill>
            <a:srgbClr val="718096"/>
          </a:solidFill>
          <a:ln/>
        </p:spPr>
        <p:txBody>
          <a:bodyPr/>
          <a:lstStyle/>
          <a:p>
            <a:endParaRPr lang="zh-CN" altLang="en-US"/>
          </a:p>
        </p:txBody>
      </p:sp>
      <p:sp>
        <p:nvSpPr>
          <p:cNvPr id="22" name="Text 19"/>
          <p:cNvSpPr/>
          <p:nvPr/>
        </p:nvSpPr>
        <p:spPr>
          <a:xfrm>
            <a:off x="11104732" y="6241060"/>
            <a:ext cx="186422" cy="248563"/>
          </a:xfrm>
          <a:prstGeom prst="rect">
            <a:avLst/>
          </a:prstGeom>
          <a:noFill/>
          <a:ln/>
        </p:spPr>
        <p:txBody>
          <a:bodyPr wrap="square" lIns="0" tIns="0" rIns="0" bIns="0" rtlCol="0" anchor="ctr"/>
          <a:lstStyle/>
          <a:p>
            <a:pPr>
              <a:lnSpc>
                <a:spcPct val="120000"/>
              </a:lnSpc>
            </a:pPr>
            <a:r>
              <a:rPr lang="en-US" sz="1370" b="1" dirty="0">
                <a:solidFill>
                  <a:srgbClr val="1A1D21"/>
                </a:solidFill>
                <a:latin typeface="MiSans" pitchFamily="34" charset="0"/>
                <a:ea typeface="MiSans" pitchFamily="34" charset="-122"/>
                <a:cs typeface="MiSans" pitchFamily="34" charset="-120"/>
              </a:rPr>
              <a:t>4</a:t>
            </a:r>
            <a:endParaRPr lang="en-US" sz="1600" dirty="0"/>
          </a:p>
        </p:txBody>
      </p:sp>
      <p:sp>
        <p:nvSpPr>
          <p:cNvPr id="23" name="Text 20"/>
          <p:cNvSpPr/>
          <p:nvPr/>
        </p:nvSpPr>
        <p:spPr>
          <a:xfrm>
            <a:off x="11454080" y="6191347"/>
            <a:ext cx="1006679" cy="347988"/>
          </a:xfrm>
          <a:prstGeom prst="rect">
            <a:avLst/>
          </a:prstGeom>
          <a:noFill/>
          <a:ln/>
        </p:spPr>
        <p:txBody>
          <a:bodyPr wrap="square" lIns="0" tIns="0" rIns="0" bIns="0" rtlCol="0" anchor="ctr"/>
          <a:lstStyle/>
          <a:p>
            <a:pPr>
              <a:lnSpc>
                <a:spcPct val="130000"/>
              </a:lnSpc>
            </a:pPr>
            <a:r>
              <a:rPr lang="en-US" sz="1761" b="1" dirty="0">
                <a:solidFill>
                  <a:srgbClr val="718096"/>
                </a:solidFill>
                <a:latin typeface="MiSans" pitchFamily="34" charset="0"/>
                <a:ea typeface="MiSans" pitchFamily="34" charset="-122"/>
                <a:cs typeface="MiSans" pitchFamily="34" charset="-120"/>
              </a:rPr>
              <a:t>副本机制</a:t>
            </a:r>
            <a:endParaRPr lang="en-US" sz="1600" dirty="0"/>
          </a:p>
        </p:txBody>
      </p:sp>
      <p:sp>
        <p:nvSpPr>
          <p:cNvPr id="24" name="Text 21"/>
          <p:cNvSpPr/>
          <p:nvPr/>
        </p:nvSpPr>
        <p:spPr>
          <a:xfrm>
            <a:off x="10956954" y="6663616"/>
            <a:ext cx="4747547" cy="497125"/>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每个 Partition 都有 Leader 和 Follower 副本，确保单机故障时不丢失数据。</a:t>
            </a:r>
            <a:endParaRPr lang="en-US" sz="1600" dirty="0"/>
          </a:p>
        </p:txBody>
      </p:sp>
      <p:sp>
        <p:nvSpPr>
          <p:cNvPr id="25" name="Shape 22"/>
          <p:cNvSpPr/>
          <p:nvPr/>
        </p:nvSpPr>
        <p:spPr>
          <a:xfrm>
            <a:off x="10807817" y="7459017"/>
            <a:ext cx="4958826" cy="1292526"/>
          </a:xfrm>
          <a:custGeom>
            <a:avLst/>
            <a:gdLst/>
            <a:ahLst/>
            <a:cxnLst/>
            <a:rect l="l" t="t" r="r" b="b"/>
            <a:pathLst>
              <a:path w="4958826" h="1292526">
                <a:moveTo>
                  <a:pt x="99421" y="0"/>
                </a:moveTo>
                <a:lnTo>
                  <a:pt x="4859405" y="0"/>
                </a:lnTo>
                <a:cubicBezTo>
                  <a:pt x="4914313" y="0"/>
                  <a:pt x="4958826" y="44512"/>
                  <a:pt x="4958826" y="99421"/>
                </a:cubicBezTo>
                <a:lnTo>
                  <a:pt x="4958826" y="1193105"/>
                </a:lnTo>
                <a:cubicBezTo>
                  <a:pt x="4958826" y="1248014"/>
                  <a:pt x="4914313" y="1292526"/>
                  <a:pt x="4859405" y="1292526"/>
                </a:cubicBezTo>
                <a:lnTo>
                  <a:pt x="99421" y="1292526"/>
                </a:lnTo>
                <a:cubicBezTo>
                  <a:pt x="44512" y="1292526"/>
                  <a:pt x="0" y="1248014"/>
                  <a:pt x="0" y="1193105"/>
                </a:cubicBezTo>
                <a:lnTo>
                  <a:pt x="0" y="99421"/>
                </a:lnTo>
                <a:cubicBezTo>
                  <a:pt x="0" y="44549"/>
                  <a:pt x="44549" y="0"/>
                  <a:pt x="99421" y="0"/>
                </a:cubicBezTo>
                <a:close/>
              </a:path>
            </a:pathLst>
          </a:custGeom>
          <a:solidFill>
            <a:srgbClr val="4A5568">
              <a:alpha val="20000"/>
            </a:srgbClr>
          </a:solidFill>
          <a:ln/>
        </p:spPr>
        <p:txBody>
          <a:bodyPr/>
          <a:lstStyle/>
          <a:p>
            <a:endParaRPr lang="zh-CN" altLang="en-US"/>
          </a:p>
        </p:txBody>
      </p:sp>
      <p:sp>
        <p:nvSpPr>
          <p:cNvPr id="26" name="Shape 23"/>
          <p:cNvSpPr/>
          <p:nvPr/>
        </p:nvSpPr>
        <p:spPr>
          <a:xfrm>
            <a:off x="10956954" y="7608154"/>
            <a:ext cx="397700" cy="397700"/>
          </a:xfrm>
          <a:custGeom>
            <a:avLst/>
            <a:gdLst/>
            <a:ahLst/>
            <a:cxnLst/>
            <a:rect l="l" t="t" r="r" b="b"/>
            <a:pathLst>
              <a:path w="397700" h="397700">
                <a:moveTo>
                  <a:pt x="198850" y="0"/>
                </a:moveTo>
                <a:lnTo>
                  <a:pt x="198850" y="0"/>
                </a:lnTo>
                <a:cubicBezTo>
                  <a:pt x="308599" y="0"/>
                  <a:pt x="397700" y="89102"/>
                  <a:pt x="397700" y="198850"/>
                </a:cubicBezTo>
                <a:lnTo>
                  <a:pt x="397700" y="198850"/>
                </a:lnTo>
                <a:cubicBezTo>
                  <a:pt x="397700" y="308599"/>
                  <a:pt x="308599" y="397700"/>
                  <a:pt x="198850" y="397700"/>
                </a:cubicBezTo>
                <a:lnTo>
                  <a:pt x="198850" y="397700"/>
                </a:lnTo>
                <a:cubicBezTo>
                  <a:pt x="89102" y="397700"/>
                  <a:pt x="0" y="308599"/>
                  <a:pt x="0" y="198850"/>
                </a:cubicBezTo>
                <a:lnTo>
                  <a:pt x="0" y="198850"/>
                </a:lnTo>
                <a:cubicBezTo>
                  <a:pt x="0" y="89102"/>
                  <a:pt x="89102" y="0"/>
                  <a:pt x="198850" y="0"/>
                </a:cubicBezTo>
                <a:close/>
              </a:path>
            </a:pathLst>
          </a:custGeom>
          <a:solidFill>
            <a:srgbClr val="D69E2E"/>
          </a:solidFill>
          <a:ln/>
        </p:spPr>
        <p:txBody>
          <a:bodyPr/>
          <a:lstStyle/>
          <a:p>
            <a:endParaRPr lang="zh-CN" altLang="en-US"/>
          </a:p>
        </p:txBody>
      </p:sp>
      <p:sp>
        <p:nvSpPr>
          <p:cNvPr id="27" name="Text 24"/>
          <p:cNvSpPr/>
          <p:nvPr/>
        </p:nvSpPr>
        <p:spPr>
          <a:xfrm>
            <a:off x="11103859" y="7682723"/>
            <a:ext cx="186422" cy="248563"/>
          </a:xfrm>
          <a:prstGeom prst="rect">
            <a:avLst/>
          </a:prstGeom>
          <a:noFill/>
          <a:ln/>
        </p:spPr>
        <p:txBody>
          <a:bodyPr wrap="square" lIns="0" tIns="0" rIns="0" bIns="0" rtlCol="0" anchor="ctr"/>
          <a:lstStyle/>
          <a:p>
            <a:pPr>
              <a:lnSpc>
                <a:spcPct val="120000"/>
              </a:lnSpc>
            </a:pPr>
            <a:r>
              <a:rPr lang="en-US" sz="1370" b="1" dirty="0">
                <a:solidFill>
                  <a:srgbClr val="1A1D21"/>
                </a:solidFill>
                <a:latin typeface="MiSans" pitchFamily="34" charset="0"/>
                <a:ea typeface="MiSans" pitchFamily="34" charset="-122"/>
                <a:cs typeface="MiSans" pitchFamily="34" charset="-120"/>
              </a:rPr>
              <a:t>5</a:t>
            </a:r>
            <a:endParaRPr lang="en-US" sz="1600" dirty="0"/>
          </a:p>
        </p:txBody>
      </p:sp>
      <p:sp>
        <p:nvSpPr>
          <p:cNvPr id="28" name="Text 25"/>
          <p:cNvSpPr/>
          <p:nvPr/>
        </p:nvSpPr>
        <p:spPr>
          <a:xfrm>
            <a:off x="11454080" y="7633011"/>
            <a:ext cx="1864220" cy="347988"/>
          </a:xfrm>
          <a:prstGeom prst="rect">
            <a:avLst/>
          </a:prstGeom>
          <a:noFill/>
          <a:ln/>
        </p:spPr>
        <p:txBody>
          <a:bodyPr wrap="square" lIns="0" tIns="0" rIns="0" bIns="0" rtlCol="0" anchor="ctr"/>
          <a:lstStyle/>
          <a:p>
            <a:pPr>
              <a:lnSpc>
                <a:spcPct val="130000"/>
              </a:lnSpc>
            </a:pPr>
            <a:r>
              <a:rPr lang="en-US" sz="1761" b="1" dirty="0">
                <a:solidFill>
                  <a:srgbClr val="D69E2E"/>
                </a:solidFill>
                <a:latin typeface="MiSans" pitchFamily="34" charset="0"/>
                <a:ea typeface="MiSans" pitchFamily="34" charset="-122"/>
                <a:cs typeface="MiSans" pitchFamily="34" charset="-120"/>
              </a:rPr>
              <a:t>Consumer Group</a:t>
            </a:r>
            <a:endParaRPr lang="en-US" sz="1600" dirty="0"/>
          </a:p>
        </p:txBody>
      </p:sp>
      <p:sp>
        <p:nvSpPr>
          <p:cNvPr id="29" name="Text 26"/>
          <p:cNvSpPr/>
          <p:nvPr/>
        </p:nvSpPr>
        <p:spPr>
          <a:xfrm>
            <a:off x="10956954" y="8105280"/>
            <a:ext cx="4747547" cy="497125"/>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Consumer Group X/Y/Z 订阅 Topic，组内实例并行消费不同 Partition。</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032" y="0"/>
            <a:ext cx="16251936" cy="914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图片 2" descr="图示&#10;&#10;AI 生成的内容可能不正确。">
            <a:extLst>
              <a:ext uri="{FF2B5EF4-FFF2-40B4-BE49-F238E27FC236}">
                <a16:creationId xmlns:a16="http://schemas.microsoft.com/office/drawing/2014/main" id="{7C2E6176-6B8E-6AAD-2FB0-D39D2B99A6E1}"/>
              </a:ext>
            </a:extLst>
          </p:cNvPr>
          <p:cNvPicPr>
            <a:picLocks noChangeAspect="1"/>
          </p:cNvPicPr>
          <p:nvPr/>
        </p:nvPicPr>
        <p:blipFill>
          <a:blip r:embed="rId2"/>
          <a:srcRect l="870"/>
          <a:stretch>
            <a:fillRect/>
          </a:stretch>
        </p:blipFill>
        <p:spPr>
          <a:xfrm>
            <a:off x="20" y="1709"/>
            <a:ext cx="16255980" cy="9142291"/>
          </a:xfrm>
          <a:prstGeom prst="rect">
            <a:avLst/>
          </a:prstGeom>
        </p:spPr>
      </p:pic>
    </p:spTree>
    <p:extLst>
      <p:ext uri="{BB962C8B-B14F-4D97-AF65-F5344CB8AC3E}">
        <p14:creationId xmlns:p14="http://schemas.microsoft.com/office/powerpoint/2010/main" val="666609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1.3.3 消息传递语义</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消息传递语义详解</a:t>
            </a:r>
            <a:endParaRPr lang="en-US" sz="1600" dirty="0"/>
          </a:p>
        </p:txBody>
      </p:sp>
      <p:sp>
        <p:nvSpPr>
          <p:cNvPr id="4" name="Shape 2"/>
          <p:cNvSpPr/>
          <p:nvPr/>
        </p:nvSpPr>
        <p:spPr>
          <a:xfrm>
            <a:off x="508000" y="1651000"/>
            <a:ext cx="4940300" cy="6197600"/>
          </a:xfrm>
          <a:custGeom>
            <a:avLst/>
            <a:gdLst/>
            <a:ahLst/>
            <a:cxnLst/>
            <a:rect l="l" t="t" r="r" b="b"/>
            <a:pathLst>
              <a:path w="4940300" h="6197600">
                <a:moveTo>
                  <a:pt x="50800" y="0"/>
                </a:moveTo>
                <a:lnTo>
                  <a:pt x="4889500" y="0"/>
                </a:lnTo>
                <a:cubicBezTo>
                  <a:pt x="4917537" y="0"/>
                  <a:pt x="4940300" y="22763"/>
                  <a:pt x="4940300" y="50800"/>
                </a:cubicBezTo>
                <a:lnTo>
                  <a:pt x="4940300" y="6095978"/>
                </a:lnTo>
                <a:cubicBezTo>
                  <a:pt x="4940300" y="6152102"/>
                  <a:pt x="4894802" y="6197600"/>
                  <a:pt x="4838678" y="6197600"/>
                </a:cubicBezTo>
                <a:lnTo>
                  <a:pt x="101622" y="6197600"/>
                </a:lnTo>
                <a:cubicBezTo>
                  <a:pt x="45498" y="6197600"/>
                  <a:pt x="0" y="6152102"/>
                  <a:pt x="0" y="6095978"/>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08000" y="1651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718096"/>
          </a:solidFill>
          <a:ln/>
        </p:spPr>
        <p:txBody>
          <a:bodyPr/>
          <a:lstStyle/>
          <a:p>
            <a:endParaRPr lang="zh-CN" altLang="en-US"/>
          </a:p>
        </p:txBody>
      </p:sp>
      <p:sp>
        <p:nvSpPr>
          <p:cNvPr id="6" name="Shape 4"/>
          <p:cNvSpPr/>
          <p:nvPr/>
        </p:nvSpPr>
        <p:spPr>
          <a:xfrm>
            <a:off x="711200" y="18796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718096"/>
          </a:solidFill>
          <a:ln/>
        </p:spPr>
        <p:txBody>
          <a:bodyPr/>
          <a:lstStyle/>
          <a:p>
            <a:endParaRPr lang="zh-CN" altLang="en-US"/>
          </a:p>
        </p:txBody>
      </p:sp>
      <p:sp>
        <p:nvSpPr>
          <p:cNvPr id="7" name="Text 5"/>
          <p:cNvSpPr/>
          <p:nvPr/>
        </p:nvSpPr>
        <p:spPr>
          <a:xfrm>
            <a:off x="965994" y="2006600"/>
            <a:ext cx="228600" cy="355600"/>
          </a:xfrm>
          <a:prstGeom prst="rect">
            <a:avLst/>
          </a:prstGeom>
          <a:noFill/>
          <a:ln/>
        </p:spPr>
        <p:txBody>
          <a:bodyPr wrap="square" lIns="0" tIns="0" rIns="0" bIns="0" rtlCol="0" anchor="ctr"/>
          <a:lstStyle/>
          <a:p>
            <a:pPr>
              <a:lnSpc>
                <a:spcPct val="120000"/>
              </a:lnSpc>
            </a:pPr>
            <a:r>
              <a:rPr lang="en-US" sz="2000" b="1" dirty="0">
                <a:solidFill>
                  <a:srgbClr val="1A1D21"/>
                </a:solidFill>
                <a:latin typeface="MiSans" pitchFamily="34" charset="0"/>
                <a:ea typeface="MiSans" pitchFamily="34" charset="-122"/>
                <a:cs typeface="MiSans" pitchFamily="34" charset="-120"/>
              </a:rPr>
              <a:t>1</a:t>
            </a:r>
            <a:endParaRPr lang="en-US" sz="1600" dirty="0"/>
          </a:p>
        </p:txBody>
      </p:sp>
      <p:sp>
        <p:nvSpPr>
          <p:cNvPr id="8" name="Text 6"/>
          <p:cNvSpPr/>
          <p:nvPr/>
        </p:nvSpPr>
        <p:spPr>
          <a:xfrm>
            <a:off x="1473200" y="1981200"/>
            <a:ext cx="2133600" cy="406400"/>
          </a:xfrm>
          <a:prstGeom prst="rect">
            <a:avLst/>
          </a:prstGeom>
          <a:noFill/>
          <a:ln/>
        </p:spPr>
        <p:txBody>
          <a:bodyPr wrap="square" lIns="0" tIns="0" rIns="0" bIns="0" rtlCol="0" anchor="ctr"/>
          <a:lstStyle/>
          <a:p>
            <a:pPr>
              <a:lnSpc>
                <a:spcPct val="110000"/>
              </a:lnSpc>
            </a:pPr>
            <a:r>
              <a:rPr lang="en-US" sz="2400" b="1" dirty="0">
                <a:solidFill>
                  <a:srgbClr val="718096"/>
                </a:solidFill>
                <a:latin typeface="MiSans" pitchFamily="34" charset="0"/>
                <a:ea typeface="MiSans" pitchFamily="34" charset="-122"/>
                <a:cs typeface="MiSans" pitchFamily="34" charset="-120"/>
              </a:rPr>
              <a:t>At Least Once</a:t>
            </a:r>
            <a:endParaRPr lang="en-US" sz="1600" dirty="0"/>
          </a:p>
        </p:txBody>
      </p:sp>
      <p:sp>
        <p:nvSpPr>
          <p:cNvPr id="9" name="Text 7"/>
          <p:cNvSpPr/>
          <p:nvPr/>
        </p:nvSpPr>
        <p:spPr>
          <a:xfrm>
            <a:off x="711200" y="2641600"/>
            <a:ext cx="46609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至少一次</a:t>
            </a:r>
            <a:endParaRPr lang="en-US" sz="1600" dirty="0"/>
          </a:p>
        </p:txBody>
      </p:sp>
      <p:sp>
        <p:nvSpPr>
          <p:cNvPr id="10" name="Text 8"/>
          <p:cNvSpPr/>
          <p:nvPr/>
        </p:nvSpPr>
        <p:spPr>
          <a:xfrm>
            <a:off x="711200" y="3098800"/>
            <a:ext cx="4635500" cy="304800"/>
          </a:xfrm>
          <a:prstGeom prst="rect">
            <a:avLst/>
          </a:prstGeom>
          <a:noFill/>
          <a:ln/>
        </p:spPr>
        <p:txBody>
          <a:bodyPr wrap="square" lIns="0" tIns="0" rIns="0" bIns="0" rtlCol="0" anchor="ctr"/>
          <a:lstStyle/>
          <a:p>
            <a:pPr>
              <a:lnSpc>
                <a:spcPct val="130000"/>
              </a:lnSpc>
            </a:pPr>
            <a:r>
              <a:rPr lang="en-US" sz="1600" dirty="0">
                <a:solidFill>
                  <a:srgbClr val="E2E8F0">
                    <a:alpha val="80000"/>
                  </a:srgbClr>
                </a:solidFill>
                <a:latin typeface="MiSans" pitchFamily="34" charset="0"/>
                <a:ea typeface="MiSans" pitchFamily="34" charset="-122"/>
                <a:cs typeface="MiSans" pitchFamily="34" charset="-120"/>
              </a:rPr>
              <a:t>消息</a:t>
            </a:r>
            <a:r>
              <a:rPr lang="en-US" sz="1600" b="1" dirty="0">
                <a:solidFill>
                  <a:srgbClr val="D69E2E"/>
                </a:solidFill>
                <a:latin typeface="MiSans" pitchFamily="34" charset="0"/>
                <a:ea typeface="MiSans" pitchFamily="34" charset="-122"/>
                <a:cs typeface="MiSans" pitchFamily="34" charset="-120"/>
              </a:rPr>
              <a:t>绝不会丢失</a:t>
            </a:r>
            <a:r>
              <a:rPr lang="en-US" sz="1600" dirty="0">
                <a:solidFill>
                  <a:srgbClr val="E2E8F0">
                    <a:alpha val="80000"/>
                  </a:srgbClr>
                </a:solidFill>
                <a:latin typeface="MiSans" pitchFamily="34" charset="0"/>
                <a:ea typeface="MiSans" pitchFamily="34" charset="-122"/>
                <a:cs typeface="MiSans" pitchFamily="34" charset="-120"/>
              </a:rPr>
              <a:t>，但</a:t>
            </a:r>
            <a:r>
              <a:rPr lang="en-US" sz="1600" b="1" dirty="0">
                <a:solidFill>
                  <a:srgbClr val="718096"/>
                </a:solidFill>
                <a:latin typeface="MiSans" pitchFamily="34" charset="0"/>
                <a:ea typeface="MiSans" pitchFamily="34" charset="-122"/>
                <a:cs typeface="MiSans" pitchFamily="34" charset="-120"/>
              </a:rPr>
              <a:t>可能重复</a:t>
            </a:r>
            <a:r>
              <a:rPr lang="en-US" sz="1600" dirty="0">
                <a:solidFill>
                  <a:srgbClr val="E2E8F0">
                    <a:alpha val="80000"/>
                  </a:srgbClr>
                </a:solidFill>
                <a:latin typeface="MiSans" pitchFamily="34" charset="0"/>
                <a:ea typeface="MiSans" pitchFamily="34" charset="-122"/>
                <a:cs typeface="MiSans" pitchFamily="34" charset="-120"/>
              </a:rPr>
              <a:t>。</a:t>
            </a:r>
            <a:endParaRPr lang="en-US" sz="1600" dirty="0"/>
          </a:p>
        </p:txBody>
      </p:sp>
      <p:sp>
        <p:nvSpPr>
          <p:cNvPr id="11" name="Shape 9"/>
          <p:cNvSpPr/>
          <p:nvPr/>
        </p:nvSpPr>
        <p:spPr>
          <a:xfrm>
            <a:off x="711200" y="3556000"/>
            <a:ext cx="4533900" cy="1320800"/>
          </a:xfrm>
          <a:custGeom>
            <a:avLst/>
            <a:gdLst/>
            <a:ahLst/>
            <a:cxnLst/>
            <a:rect l="l" t="t" r="r" b="b"/>
            <a:pathLst>
              <a:path w="4533900" h="1320800">
                <a:moveTo>
                  <a:pt x="50798" y="0"/>
                </a:moveTo>
                <a:lnTo>
                  <a:pt x="4483102" y="0"/>
                </a:lnTo>
                <a:cubicBezTo>
                  <a:pt x="4511157" y="0"/>
                  <a:pt x="4533900" y="22743"/>
                  <a:pt x="4533900" y="50798"/>
                </a:cubicBezTo>
                <a:lnTo>
                  <a:pt x="4533900" y="1270002"/>
                </a:lnTo>
                <a:cubicBezTo>
                  <a:pt x="4533900" y="1298057"/>
                  <a:pt x="4511157" y="1320800"/>
                  <a:pt x="4483102" y="1320800"/>
                </a:cubicBezTo>
                <a:lnTo>
                  <a:pt x="50798" y="1320800"/>
                </a:lnTo>
                <a:cubicBezTo>
                  <a:pt x="22743" y="1320800"/>
                  <a:pt x="0" y="1298057"/>
                  <a:pt x="0" y="12700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12" name="Text 10"/>
          <p:cNvSpPr/>
          <p:nvPr/>
        </p:nvSpPr>
        <p:spPr>
          <a:xfrm>
            <a:off x="863600" y="3708400"/>
            <a:ext cx="43180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配置方式:</a:t>
            </a:r>
            <a:endParaRPr lang="en-US" sz="1600" dirty="0"/>
          </a:p>
        </p:txBody>
      </p:sp>
      <p:sp>
        <p:nvSpPr>
          <p:cNvPr id="13" name="Text 11"/>
          <p:cNvSpPr/>
          <p:nvPr/>
        </p:nvSpPr>
        <p:spPr>
          <a:xfrm>
            <a:off x="863600" y="4013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acks=all</a:t>
            </a:r>
            <a:endParaRPr lang="en-US" sz="1600" dirty="0"/>
          </a:p>
        </p:txBody>
      </p:sp>
      <p:sp>
        <p:nvSpPr>
          <p:cNvPr id="14" name="Text 12"/>
          <p:cNvSpPr/>
          <p:nvPr/>
        </p:nvSpPr>
        <p:spPr>
          <a:xfrm>
            <a:off x="863600" y="4267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retries=N</a:t>
            </a:r>
            <a:endParaRPr lang="en-US" sz="1600" dirty="0"/>
          </a:p>
        </p:txBody>
      </p:sp>
      <p:sp>
        <p:nvSpPr>
          <p:cNvPr id="15" name="Text 13"/>
          <p:cNvSpPr/>
          <p:nvPr/>
        </p:nvSpPr>
        <p:spPr>
          <a:xfrm>
            <a:off x="863600" y="4521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enable.auto.commit=false</a:t>
            </a:r>
            <a:endParaRPr lang="en-US" sz="1600" dirty="0"/>
          </a:p>
        </p:txBody>
      </p:sp>
      <p:sp>
        <p:nvSpPr>
          <p:cNvPr id="16" name="Text 14"/>
          <p:cNvSpPr/>
          <p:nvPr/>
        </p:nvSpPr>
        <p:spPr>
          <a:xfrm>
            <a:off x="711200" y="6680200"/>
            <a:ext cx="46228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适用场景:</a:t>
            </a:r>
            <a:endParaRPr lang="en-US" sz="1600" dirty="0"/>
          </a:p>
        </p:txBody>
      </p:sp>
      <p:sp>
        <p:nvSpPr>
          <p:cNvPr id="17" name="Text 15"/>
          <p:cNvSpPr/>
          <p:nvPr/>
        </p:nvSpPr>
        <p:spPr>
          <a:xfrm>
            <a:off x="711200" y="6985000"/>
            <a:ext cx="46228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日志收集、页面点击流等允许少量重复的场景。</a:t>
            </a:r>
            <a:endParaRPr lang="en-US" sz="1600" dirty="0"/>
          </a:p>
        </p:txBody>
      </p:sp>
      <p:sp>
        <p:nvSpPr>
          <p:cNvPr id="18" name="Shape 16"/>
          <p:cNvSpPr/>
          <p:nvPr/>
        </p:nvSpPr>
        <p:spPr>
          <a:xfrm>
            <a:off x="711200" y="7340600"/>
            <a:ext cx="4533900" cy="304800"/>
          </a:xfrm>
          <a:custGeom>
            <a:avLst/>
            <a:gdLst/>
            <a:ahLst/>
            <a:cxnLst/>
            <a:rect l="l" t="t" r="r" b="b"/>
            <a:pathLst>
              <a:path w="4533900" h="304800">
                <a:moveTo>
                  <a:pt x="152400" y="0"/>
                </a:moveTo>
                <a:lnTo>
                  <a:pt x="4381500" y="0"/>
                </a:lnTo>
                <a:cubicBezTo>
                  <a:pt x="4465612" y="0"/>
                  <a:pt x="4533900" y="68288"/>
                  <a:pt x="4533900" y="152400"/>
                </a:cubicBezTo>
                <a:lnTo>
                  <a:pt x="4533900" y="152400"/>
                </a:lnTo>
                <a:cubicBezTo>
                  <a:pt x="4533900" y="236512"/>
                  <a:pt x="4465612" y="304800"/>
                  <a:pt x="43815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alpha val="20000"/>
            </a:srgbClr>
          </a:solidFill>
          <a:ln/>
        </p:spPr>
        <p:txBody>
          <a:bodyPr/>
          <a:lstStyle/>
          <a:p>
            <a:endParaRPr lang="zh-CN" altLang="en-US"/>
          </a:p>
        </p:txBody>
      </p:sp>
      <p:sp>
        <p:nvSpPr>
          <p:cNvPr id="19" name="Text 17"/>
          <p:cNvSpPr/>
          <p:nvPr/>
        </p:nvSpPr>
        <p:spPr>
          <a:xfrm>
            <a:off x="825500" y="7391400"/>
            <a:ext cx="4305300" cy="203200"/>
          </a:xfrm>
          <a:prstGeom prst="rect">
            <a:avLst/>
          </a:prstGeom>
          <a:noFill/>
          <a:ln/>
        </p:spPr>
        <p:txBody>
          <a:bodyPr wrap="square" lIns="0" tIns="0" rIns="0" bIns="0" rtlCol="0" anchor="ctr"/>
          <a:lstStyle/>
          <a:p>
            <a:pPr algn="ctr">
              <a:lnSpc>
                <a:spcPct val="110000"/>
              </a:lnSpc>
            </a:pPr>
            <a:r>
              <a:rPr lang="en-US" sz="1200" dirty="0">
                <a:solidFill>
                  <a:srgbClr val="E2E8F0">
                    <a:alpha val="80000"/>
                  </a:srgbClr>
                </a:solidFill>
                <a:latin typeface="MiSans" pitchFamily="34" charset="0"/>
                <a:ea typeface="MiSans" pitchFamily="34" charset="-122"/>
                <a:cs typeface="MiSans" pitchFamily="34" charset="-120"/>
              </a:rPr>
              <a:t>Kafka 默认配置</a:t>
            </a:r>
            <a:endParaRPr lang="en-US" sz="1600" dirty="0"/>
          </a:p>
        </p:txBody>
      </p:sp>
      <p:sp>
        <p:nvSpPr>
          <p:cNvPr id="20" name="Shape 18"/>
          <p:cNvSpPr/>
          <p:nvPr/>
        </p:nvSpPr>
        <p:spPr>
          <a:xfrm>
            <a:off x="5655667" y="1651000"/>
            <a:ext cx="4940300" cy="6197600"/>
          </a:xfrm>
          <a:custGeom>
            <a:avLst/>
            <a:gdLst/>
            <a:ahLst/>
            <a:cxnLst/>
            <a:rect l="l" t="t" r="r" b="b"/>
            <a:pathLst>
              <a:path w="4940300" h="6197600">
                <a:moveTo>
                  <a:pt x="50800" y="0"/>
                </a:moveTo>
                <a:lnTo>
                  <a:pt x="4889500" y="0"/>
                </a:lnTo>
                <a:cubicBezTo>
                  <a:pt x="4917537" y="0"/>
                  <a:pt x="4940300" y="22763"/>
                  <a:pt x="4940300" y="50800"/>
                </a:cubicBezTo>
                <a:lnTo>
                  <a:pt x="4940300" y="6095978"/>
                </a:lnTo>
                <a:cubicBezTo>
                  <a:pt x="4940300" y="6152102"/>
                  <a:pt x="4894802" y="6197600"/>
                  <a:pt x="4838678" y="6197600"/>
                </a:cubicBezTo>
                <a:lnTo>
                  <a:pt x="101622" y="6197600"/>
                </a:lnTo>
                <a:cubicBezTo>
                  <a:pt x="45498" y="6197600"/>
                  <a:pt x="0" y="6152102"/>
                  <a:pt x="0" y="6095978"/>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1" name="Shape 19"/>
          <p:cNvSpPr/>
          <p:nvPr/>
        </p:nvSpPr>
        <p:spPr>
          <a:xfrm>
            <a:off x="5655667" y="1651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D69E2E"/>
          </a:solidFill>
          <a:ln/>
        </p:spPr>
        <p:txBody>
          <a:bodyPr/>
          <a:lstStyle/>
          <a:p>
            <a:endParaRPr lang="zh-CN" altLang="en-US"/>
          </a:p>
        </p:txBody>
      </p:sp>
      <p:sp>
        <p:nvSpPr>
          <p:cNvPr id="22" name="Shape 20"/>
          <p:cNvSpPr/>
          <p:nvPr/>
        </p:nvSpPr>
        <p:spPr>
          <a:xfrm>
            <a:off x="5858867" y="18796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D69E2E"/>
          </a:solidFill>
          <a:ln/>
        </p:spPr>
        <p:txBody>
          <a:bodyPr/>
          <a:lstStyle/>
          <a:p>
            <a:endParaRPr lang="zh-CN" altLang="en-US"/>
          </a:p>
        </p:txBody>
      </p:sp>
      <p:sp>
        <p:nvSpPr>
          <p:cNvPr id="23" name="Text 21"/>
          <p:cNvSpPr/>
          <p:nvPr/>
        </p:nvSpPr>
        <p:spPr>
          <a:xfrm>
            <a:off x="6092230" y="2006600"/>
            <a:ext cx="266700" cy="355600"/>
          </a:xfrm>
          <a:prstGeom prst="rect">
            <a:avLst/>
          </a:prstGeom>
          <a:noFill/>
          <a:ln/>
        </p:spPr>
        <p:txBody>
          <a:bodyPr wrap="square" lIns="0" tIns="0" rIns="0" bIns="0" rtlCol="0" anchor="ctr"/>
          <a:lstStyle/>
          <a:p>
            <a:pPr>
              <a:lnSpc>
                <a:spcPct val="120000"/>
              </a:lnSpc>
            </a:pPr>
            <a:r>
              <a:rPr lang="en-US" sz="2000" b="1" dirty="0">
                <a:solidFill>
                  <a:srgbClr val="1A1D21"/>
                </a:solidFill>
                <a:latin typeface="MiSans" pitchFamily="34" charset="0"/>
                <a:ea typeface="MiSans" pitchFamily="34" charset="-122"/>
                <a:cs typeface="MiSans" pitchFamily="34" charset="-120"/>
              </a:rPr>
              <a:t>2</a:t>
            </a:r>
            <a:endParaRPr lang="en-US" sz="1600" dirty="0"/>
          </a:p>
        </p:txBody>
      </p:sp>
      <p:sp>
        <p:nvSpPr>
          <p:cNvPr id="24" name="Text 22"/>
          <p:cNvSpPr/>
          <p:nvPr/>
        </p:nvSpPr>
        <p:spPr>
          <a:xfrm>
            <a:off x="6620867" y="1981200"/>
            <a:ext cx="1968500" cy="406400"/>
          </a:xfrm>
          <a:prstGeom prst="rect">
            <a:avLst/>
          </a:prstGeom>
          <a:noFill/>
          <a:ln/>
        </p:spPr>
        <p:txBody>
          <a:bodyPr wrap="square" lIns="0" tIns="0" rIns="0" bIns="0" rtlCol="0" anchor="ctr"/>
          <a:lstStyle/>
          <a:p>
            <a:pPr>
              <a:lnSpc>
                <a:spcPct val="110000"/>
              </a:lnSpc>
            </a:pPr>
            <a:r>
              <a:rPr lang="en-US" sz="2400" b="1" dirty="0">
                <a:solidFill>
                  <a:srgbClr val="D69E2E"/>
                </a:solidFill>
                <a:latin typeface="MiSans" pitchFamily="34" charset="0"/>
                <a:ea typeface="MiSans" pitchFamily="34" charset="-122"/>
                <a:cs typeface="MiSans" pitchFamily="34" charset="-120"/>
              </a:rPr>
              <a:t>Exactly Once</a:t>
            </a:r>
            <a:endParaRPr lang="en-US" sz="1600" dirty="0"/>
          </a:p>
        </p:txBody>
      </p:sp>
      <p:sp>
        <p:nvSpPr>
          <p:cNvPr id="25" name="Text 23"/>
          <p:cNvSpPr/>
          <p:nvPr/>
        </p:nvSpPr>
        <p:spPr>
          <a:xfrm>
            <a:off x="5858867" y="2641600"/>
            <a:ext cx="46609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精确一次</a:t>
            </a:r>
            <a:endParaRPr lang="en-US" sz="1600" dirty="0"/>
          </a:p>
        </p:txBody>
      </p:sp>
      <p:sp>
        <p:nvSpPr>
          <p:cNvPr id="26" name="Text 24"/>
          <p:cNvSpPr/>
          <p:nvPr/>
        </p:nvSpPr>
        <p:spPr>
          <a:xfrm>
            <a:off x="5858867" y="3098800"/>
            <a:ext cx="4635500" cy="304800"/>
          </a:xfrm>
          <a:prstGeom prst="rect">
            <a:avLst/>
          </a:prstGeom>
          <a:noFill/>
          <a:ln/>
        </p:spPr>
        <p:txBody>
          <a:bodyPr wrap="square" lIns="0" tIns="0" rIns="0" bIns="0" rtlCol="0" anchor="ctr"/>
          <a:lstStyle/>
          <a:p>
            <a:pPr>
              <a:lnSpc>
                <a:spcPct val="130000"/>
              </a:lnSpc>
            </a:pPr>
            <a:r>
              <a:rPr lang="en-US" sz="1600" dirty="0">
                <a:solidFill>
                  <a:srgbClr val="E2E8F0">
                    <a:alpha val="80000"/>
                  </a:srgbClr>
                </a:solidFill>
                <a:latin typeface="MiSans" pitchFamily="34" charset="0"/>
                <a:ea typeface="MiSans" pitchFamily="34" charset="-122"/>
                <a:cs typeface="MiSans" pitchFamily="34" charset="-120"/>
              </a:rPr>
              <a:t>消息</a:t>
            </a:r>
            <a:r>
              <a:rPr lang="en-US" sz="1600" b="1" dirty="0">
                <a:solidFill>
                  <a:srgbClr val="D69E2E"/>
                </a:solidFill>
                <a:latin typeface="MiSans" pitchFamily="34" charset="0"/>
                <a:ea typeface="MiSans" pitchFamily="34" charset="-122"/>
                <a:cs typeface="MiSans" pitchFamily="34" charset="-120"/>
              </a:rPr>
              <a:t>既不丢失也不重复</a:t>
            </a:r>
            <a:r>
              <a:rPr lang="en-US" sz="1600" dirty="0">
                <a:solidFill>
                  <a:srgbClr val="E2E8F0">
                    <a:alpha val="80000"/>
                  </a:srgbClr>
                </a:solidFill>
                <a:latin typeface="MiSans" pitchFamily="34" charset="0"/>
                <a:ea typeface="MiSans" pitchFamily="34" charset="-122"/>
                <a:cs typeface="MiSans" pitchFamily="34" charset="-120"/>
              </a:rPr>
              <a:t>，就像只发送了一次。</a:t>
            </a:r>
            <a:endParaRPr lang="en-US" sz="1600" dirty="0"/>
          </a:p>
        </p:txBody>
      </p:sp>
      <p:sp>
        <p:nvSpPr>
          <p:cNvPr id="27" name="Shape 25"/>
          <p:cNvSpPr/>
          <p:nvPr/>
        </p:nvSpPr>
        <p:spPr>
          <a:xfrm>
            <a:off x="5858867" y="3556000"/>
            <a:ext cx="4533900" cy="1320800"/>
          </a:xfrm>
          <a:custGeom>
            <a:avLst/>
            <a:gdLst/>
            <a:ahLst/>
            <a:cxnLst/>
            <a:rect l="l" t="t" r="r" b="b"/>
            <a:pathLst>
              <a:path w="4533900" h="1320800">
                <a:moveTo>
                  <a:pt x="50798" y="0"/>
                </a:moveTo>
                <a:lnTo>
                  <a:pt x="4483102" y="0"/>
                </a:lnTo>
                <a:cubicBezTo>
                  <a:pt x="4511157" y="0"/>
                  <a:pt x="4533900" y="22743"/>
                  <a:pt x="4533900" y="50798"/>
                </a:cubicBezTo>
                <a:lnTo>
                  <a:pt x="4533900" y="1270002"/>
                </a:lnTo>
                <a:cubicBezTo>
                  <a:pt x="4533900" y="1298057"/>
                  <a:pt x="4511157" y="1320800"/>
                  <a:pt x="4483102" y="1320800"/>
                </a:cubicBezTo>
                <a:lnTo>
                  <a:pt x="50798" y="1320800"/>
                </a:lnTo>
                <a:cubicBezTo>
                  <a:pt x="22743" y="1320800"/>
                  <a:pt x="0" y="1298057"/>
                  <a:pt x="0" y="12700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28" name="Text 26"/>
          <p:cNvSpPr/>
          <p:nvPr/>
        </p:nvSpPr>
        <p:spPr>
          <a:xfrm>
            <a:off x="6011267" y="3708400"/>
            <a:ext cx="43180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配置方式:</a:t>
            </a:r>
            <a:endParaRPr lang="en-US" sz="1600" dirty="0"/>
          </a:p>
        </p:txBody>
      </p:sp>
      <p:sp>
        <p:nvSpPr>
          <p:cNvPr id="29" name="Text 27"/>
          <p:cNvSpPr/>
          <p:nvPr/>
        </p:nvSpPr>
        <p:spPr>
          <a:xfrm>
            <a:off x="6011267" y="4013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enable.idempotence=true</a:t>
            </a:r>
            <a:endParaRPr lang="en-US" sz="1600" dirty="0"/>
          </a:p>
        </p:txBody>
      </p:sp>
      <p:sp>
        <p:nvSpPr>
          <p:cNvPr id="30" name="Text 28"/>
          <p:cNvSpPr/>
          <p:nvPr/>
        </p:nvSpPr>
        <p:spPr>
          <a:xfrm>
            <a:off x="6011267" y="4267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transactional.id=xxx</a:t>
            </a:r>
            <a:endParaRPr lang="en-US" sz="1600" dirty="0"/>
          </a:p>
        </p:txBody>
      </p:sp>
      <p:sp>
        <p:nvSpPr>
          <p:cNvPr id="31" name="Text 29"/>
          <p:cNvSpPr/>
          <p:nvPr/>
        </p:nvSpPr>
        <p:spPr>
          <a:xfrm>
            <a:off x="6011267" y="4521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isolation.level=read_committed</a:t>
            </a:r>
            <a:endParaRPr lang="en-US" sz="1600" dirty="0"/>
          </a:p>
        </p:txBody>
      </p:sp>
      <p:sp>
        <p:nvSpPr>
          <p:cNvPr id="32" name="Text 30"/>
          <p:cNvSpPr/>
          <p:nvPr/>
        </p:nvSpPr>
        <p:spPr>
          <a:xfrm>
            <a:off x="5858867" y="6680200"/>
            <a:ext cx="46228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适用场景:</a:t>
            </a:r>
            <a:endParaRPr lang="en-US" sz="1600" dirty="0"/>
          </a:p>
        </p:txBody>
      </p:sp>
      <p:sp>
        <p:nvSpPr>
          <p:cNvPr id="33" name="Text 31"/>
          <p:cNvSpPr/>
          <p:nvPr/>
        </p:nvSpPr>
        <p:spPr>
          <a:xfrm>
            <a:off x="5858867" y="6985000"/>
            <a:ext cx="46228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金融交易、订单计费等对数据一致性要求极高的场景。</a:t>
            </a:r>
            <a:endParaRPr lang="en-US" sz="1600" dirty="0"/>
          </a:p>
        </p:txBody>
      </p:sp>
      <p:sp>
        <p:nvSpPr>
          <p:cNvPr id="34" name="Shape 32"/>
          <p:cNvSpPr/>
          <p:nvPr/>
        </p:nvSpPr>
        <p:spPr>
          <a:xfrm>
            <a:off x="5858867" y="7340600"/>
            <a:ext cx="4533900" cy="304800"/>
          </a:xfrm>
          <a:custGeom>
            <a:avLst/>
            <a:gdLst/>
            <a:ahLst/>
            <a:cxnLst/>
            <a:rect l="l" t="t" r="r" b="b"/>
            <a:pathLst>
              <a:path w="4533900" h="304800">
                <a:moveTo>
                  <a:pt x="152400" y="0"/>
                </a:moveTo>
                <a:lnTo>
                  <a:pt x="4381500" y="0"/>
                </a:lnTo>
                <a:cubicBezTo>
                  <a:pt x="4465612" y="0"/>
                  <a:pt x="4533900" y="68288"/>
                  <a:pt x="4533900" y="152400"/>
                </a:cubicBezTo>
                <a:lnTo>
                  <a:pt x="4533900" y="152400"/>
                </a:lnTo>
                <a:cubicBezTo>
                  <a:pt x="4533900" y="236512"/>
                  <a:pt x="4465612" y="304800"/>
                  <a:pt x="43815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alpha val="20000"/>
            </a:srgbClr>
          </a:solidFill>
          <a:ln/>
        </p:spPr>
        <p:txBody>
          <a:bodyPr/>
          <a:lstStyle/>
          <a:p>
            <a:endParaRPr lang="zh-CN" altLang="en-US"/>
          </a:p>
        </p:txBody>
      </p:sp>
      <p:sp>
        <p:nvSpPr>
          <p:cNvPr id="35" name="Text 33"/>
          <p:cNvSpPr/>
          <p:nvPr/>
        </p:nvSpPr>
        <p:spPr>
          <a:xfrm>
            <a:off x="5973167" y="7391400"/>
            <a:ext cx="4305300" cy="203200"/>
          </a:xfrm>
          <a:prstGeom prst="rect">
            <a:avLst/>
          </a:prstGeom>
          <a:noFill/>
          <a:ln/>
        </p:spPr>
        <p:txBody>
          <a:bodyPr wrap="square" lIns="0" tIns="0" rIns="0" bIns="0" rtlCol="0" anchor="ctr"/>
          <a:lstStyle/>
          <a:p>
            <a:pPr algn="ctr">
              <a:lnSpc>
                <a:spcPct val="110000"/>
              </a:lnSpc>
            </a:pPr>
            <a:r>
              <a:rPr lang="en-US" sz="1200" dirty="0">
                <a:solidFill>
                  <a:srgbClr val="E2E8F0">
                    <a:alpha val="80000"/>
                  </a:srgbClr>
                </a:solidFill>
                <a:latin typeface="MiSans" pitchFamily="34" charset="0"/>
                <a:ea typeface="MiSans" pitchFamily="34" charset="-122"/>
                <a:cs typeface="MiSans" pitchFamily="34" charset="-120"/>
              </a:rPr>
              <a:t>Kafka 0.11+ 支持</a:t>
            </a:r>
            <a:endParaRPr lang="en-US" sz="1600" dirty="0"/>
          </a:p>
        </p:txBody>
      </p:sp>
      <p:sp>
        <p:nvSpPr>
          <p:cNvPr id="36" name="Shape 34"/>
          <p:cNvSpPr/>
          <p:nvPr/>
        </p:nvSpPr>
        <p:spPr>
          <a:xfrm>
            <a:off x="10803434" y="1651000"/>
            <a:ext cx="4940300" cy="6197600"/>
          </a:xfrm>
          <a:custGeom>
            <a:avLst/>
            <a:gdLst/>
            <a:ahLst/>
            <a:cxnLst/>
            <a:rect l="l" t="t" r="r" b="b"/>
            <a:pathLst>
              <a:path w="4940300" h="6197600">
                <a:moveTo>
                  <a:pt x="50800" y="0"/>
                </a:moveTo>
                <a:lnTo>
                  <a:pt x="4889500" y="0"/>
                </a:lnTo>
                <a:cubicBezTo>
                  <a:pt x="4917537" y="0"/>
                  <a:pt x="4940300" y="22763"/>
                  <a:pt x="4940300" y="50800"/>
                </a:cubicBezTo>
                <a:lnTo>
                  <a:pt x="4940300" y="6095978"/>
                </a:lnTo>
                <a:cubicBezTo>
                  <a:pt x="4940300" y="6152102"/>
                  <a:pt x="4894802" y="6197600"/>
                  <a:pt x="4838678" y="6197600"/>
                </a:cubicBezTo>
                <a:lnTo>
                  <a:pt x="101622" y="6197600"/>
                </a:lnTo>
                <a:cubicBezTo>
                  <a:pt x="45498" y="6197600"/>
                  <a:pt x="0" y="6152102"/>
                  <a:pt x="0" y="6095978"/>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37" name="Shape 35"/>
          <p:cNvSpPr/>
          <p:nvPr/>
        </p:nvSpPr>
        <p:spPr>
          <a:xfrm>
            <a:off x="10803434" y="1651000"/>
            <a:ext cx="4940300" cy="50800"/>
          </a:xfrm>
          <a:custGeom>
            <a:avLst/>
            <a:gdLst/>
            <a:ahLst/>
            <a:cxnLst/>
            <a:rect l="l" t="t" r="r" b="b"/>
            <a:pathLst>
              <a:path w="4940300" h="50800">
                <a:moveTo>
                  <a:pt x="50800" y="0"/>
                </a:moveTo>
                <a:lnTo>
                  <a:pt x="4889500" y="0"/>
                </a:lnTo>
                <a:cubicBezTo>
                  <a:pt x="4917537" y="0"/>
                  <a:pt x="4940300" y="22763"/>
                  <a:pt x="4940300" y="50800"/>
                </a:cubicBezTo>
                <a:lnTo>
                  <a:pt x="4940300" y="50800"/>
                </a:lnTo>
                <a:lnTo>
                  <a:pt x="0" y="50800"/>
                </a:lnTo>
                <a:lnTo>
                  <a:pt x="0" y="50800"/>
                </a:lnTo>
                <a:cubicBezTo>
                  <a:pt x="0" y="22763"/>
                  <a:pt x="22763" y="0"/>
                  <a:pt x="50800" y="0"/>
                </a:cubicBezTo>
                <a:close/>
              </a:path>
            </a:pathLst>
          </a:custGeom>
          <a:solidFill>
            <a:srgbClr val="718096"/>
          </a:solidFill>
          <a:ln/>
        </p:spPr>
        <p:txBody>
          <a:bodyPr/>
          <a:lstStyle/>
          <a:p>
            <a:endParaRPr lang="zh-CN" altLang="en-US"/>
          </a:p>
        </p:txBody>
      </p:sp>
      <p:sp>
        <p:nvSpPr>
          <p:cNvPr id="38" name="Shape 36"/>
          <p:cNvSpPr/>
          <p:nvPr/>
        </p:nvSpPr>
        <p:spPr>
          <a:xfrm>
            <a:off x="11006634" y="18796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718096"/>
          </a:solidFill>
          <a:ln/>
        </p:spPr>
        <p:txBody>
          <a:bodyPr/>
          <a:lstStyle/>
          <a:p>
            <a:endParaRPr lang="zh-CN" altLang="en-US"/>
          </a:p>
        </p:txBody>
      </p:sp>
      <p:sp>
        <p:nvSpPr>
          <p:cNvPr id="39" name="Text 37"/>
          <p:cNvSpPr/>
          <p:nvPr/>
        </p:nvSpPr>
        <p:spPr>
          <a:xfrm>
            <a:off x="11231761" y="2006600"/>
            <a:ext cx="292100" cy="355600"/>
          </a:xfrm>
          <a:prstGeom prst="rect">
            <a:avLst/>
          </a:prstGeom>
          <a:noFill/>
          <a:ln/>
        </p:spPr>
        <p:txBody>
          <a:bodyPr wrap="square" lIns="0" tIns="0" rIns="0" bIns="0" rtlCol="0" anchor="ctr"/>
          <a:lstStyle/>
          <a:p>
            <a:pPr>
              <a:lnSpc>
                <a:spcPct val="120000"/>
              </a:lnSpc>
            </a:pPr>
            <a:r>
              <a:rPr lang="en-US" sz="2000" b="1" dirty="0">
                <a:solidFill>
                  <a:srgbClr val="1A1D21"/>
                </a:solidFill>
                <a:latin typeface="MiSans" pitchFamily="34" charset="0"/>
                <a:ea typeface="MiSans" pitchFamily="34" charset="-122"/>
                <a:cs typeface="MiSans" pitchFamily="34" charset="-120"/>
              </a:rPr>
              <a:t>0</a:t>
            </a:r>
            <a:endParaRPr lang="en-US" sz="1600" dirty="0"/>
          </a:p>
        </p:txBody>
      </p:sp>
      <p:sp>
        <p:nvSpPr>
          <p:cNvPr id="40" name="Text 38"/>
          <p:cNvSpPr/>
          <p:nvPr/>
        </p:nvSpPr>
        <p:spPr>
          <a:xfrm>
            <a:off x="11768634" y="1981200"/>
            <a:ext cx="2070100" cy="406400"/>
          </a:xfrm>
          <a:prstGeom prst="rect">
            <a:avLst/>
          </a:prstGeom>
          <a:noFill/>
          <a:ln/>
        </p:spPr>
        <p:txBody>
          <a:bodyPr wrap="square" lIns="0" tIns="0" rIns="0" bIns="0" rtlCol="0" anchor="ctr"/>
          <a:lstStyle/>
          <a:p>
            <a:pPr>
              <a:lnSpc>
                <a:spcPct val="110000"/>
              </a:lnSpc>
            </a:pPr>
            <a:r>
              <a:rPr lang="en-US" sz="2400" b="1" dirty="0">
                <a:solidFill>
                  <a:srgbClr val="718096"/>
                </a:solidFill>
                <a:latin typeface="MiSans" pitchFamily="34" charset="0"/>
                <a:ea typeface="MiSans" pitchFamily="34" charset="-122"/>
                <a:cs typeface="MiSans" pitchFamily="34" charset="-120"/>
              </a:rPr>
              <a:t>At Most Once</a:t>
            </a:r>
            <a:endParaRPr lang="en-US" sz="1600" dirty="0"/>
          </a:p>
        </p:txBody>
      </p:sp>
      <p:sp>
        <p:nvSpPr>
          <p:cNvPr id="41" name="Text 39"/>
          <p:cNvSpPr/>
          <p:nvPr/>
        </p:nvSpPr>
        <p:spPr>
          <a:xfrm>
            <a:off x="11006634" y="2641600"/>
            <a:ext cx="4660900" cy="355600"/>
          </a:xfrm>
          <a:prstGeom prst="rect">
            <a:avLst/>
          </a:prstGeom>
          <a:noFill/>
          <a:ln/>
        </p:spPr>
        <p:txBody>
          <a:bodyPr wrap="square" lIns="0" tIns="0" rIns="0" bIns="0" rtlCol="0" anchor="ctr"/>
          <a:lstStyle/>
          <a:p>
            <a:pPr>
              <a:lnSpc>
                <a:spcPct val="120000"/>
              </a:lnSpc>
            </a:pPr>
            <a:r>
              <a:rPr lang="en-US" sz="2000" b="1" dirty="0">
                <a:solidFill>
                  <a:srgbClr val="E2E8F0"/>
                </a:solidFill>
                <a:latin typeface="MiSans" pitchFamily="34" charset="0"/>
                <a:ea typeface="MiSans" pitchFamily="34" charset="-122"/>
                <a:cs typeface="MiSans" pitchFamily="34" charset="-120"/>
              </a:rPr>
              <a:t>至多一次</a:t>
            </a:r>
            <a:endParaRPr lang="en-US" sz="1600" dirty="0"/>
          </a:p>
        </p:txBody>
      </p:sp>
      <p:sp>
        <p:nvSpPr>
          <p:cNvPr id="42" name="Text 40"/>
          <p:cNvSpPr/>
          <p:nvPr/>
        </p:nvSpPr>
        <p:spPr>
          <a:xfrm>
            <a:off x="11006634" y="3098800"/>
            <a:ext cx="4635500" cy="304800"/>
          </a:xfrm>
          <a:prstGeom prst="rect">
            <a:avLst/>
          </a:prstGeom>
          <a:noFill/>
          <a:ln/>
        </p:spPr>
        <p:txBody>
          <a:bodyPr wrap="square" lIns="0" tIns="0" rIns="0" bIns="0" rtlCol="0" anchor="ctr"/>
          <a:lstStyle/>
          <a:p>
            <a:pPr>
              <a:lnSpc>
                <a:spcPct val="130000"/>
              </a:lnSpc>
            </a:pPr>
            <a:r>
              <a:rPr lang="en-US" sz="1600" dirty="0">
                <a:solidFill>
                  <a:srgbClr val="E2E8F0">
                    <a:alpha val="80000"/>
                  </a:srgbClr>
                </a:solidFill>
                <a:latin typeface="MiSans" pitchFamily="34" charset="0"/>
                <a:ea typeface="MiSans" pitchFamily="34" charset="-122"/>
                <a:cs typeface="MiSans" pitchFamily="34" charset="-120"/>
              </a:rPr>
              <a:t>消息</a:t>
            </a:r>
            <a:r>
              <a:rPr lang="en-US" sz="1600" b="1" dirty="0">
                <a:solidFill>
                  <a:srgbClr val="718096"/>
                </a:solidFill>
                <a:latin typeface="MiSans" pitchFamily="34" charset="0"/>
                <a:ea typeface="MiSans" pitchFamily="34" charset="-122"/>
                <a:cs typeface="MiSans" pitchFamily="34" charset="-120"/>
              </a:rPr>
              <a:t>可能丢失</a:t>
            </a:r>
            <a:r>
              <a:rPr lang="en-US" sz="1600" dirty="0">
                <a:solidFill>
                  <a:srgbClr val="E2E8F0">
                    <a:alpha val="80000"/>
                  </a:srgbClr>
                </a:solidFill>
                <a:latin typeface="MiSans" pitchFamily="34" charset="0"/>
                <a:ea typeface="MiSans" pitchFamily="34" charset="-122"/>
                <a:cs typeface="MiSans" pitchFamily="34" charset="-120"/>
              </a:rPr>
              <a:t>，但</a:t>
            </a:r>
            <a:r>
              <a:rPr lang="en-US" sz="1600" b="1" dirty="0">
                <a:solidFill>
                  <a:srgbClr val="D69E2E"/>
                </a:solidFill>
                <a:latin typeface="MiSans" pitchFamily="34" charset="0"/>
                <a:ea typeface="MiSans" pitchFamily="34" charset="-122"/>
                <a:cs typeface="MiSans" pitchFamily="34" charset="-120"/>
              </a:rPr>
              <a:t>绝不重复</a:t>
            </a:r>
            <a:r>
              <a:rPr lang="en-US" sz="1600" dirty="0">
                <a:solidFill>
                  <a:srgbClr val="E2E8F0">
                    <a:alpha val="80000"/>
                  </a:srgbClr>
                </a:solidFill>
                <a:latin typeface="MiSans" pitchFamily="34" charset="0"/>
                <a:ea typeface="MiSans" pitchFamily="34" charset="-122"/>
                <a:cs typeface="MiSans" pitchFamily="34" charset="-120"/>
              </a:rPr>
              <a:t>。</a:t>
            </a:r>
            <a:endParaRPr lang="en-US" sz="1600" dirty="0"/>
          </a:p>
        </p:txBody>
      </p:sp>
      <p:sp>
        <p:nvSpPr>
          <p:cNvPr id="43" name="Shape 41"/>
          <p:cNvSpPr/>
          <p:nvPr/>
        </p:nvSpPr>
        <p:spPr>
          <a:xfrm>
            <a:off x="11006634" y="3556000"/>
            <a:ext cx="4533900" cy="1320800"/>
          </a:xfrm>
          <a:custGeom>
            <a:avLst/>
            <a:gdLst/>
            <a:ahLst/>
            <a:cxnLst/>
            <a:rect l="l" t="t" r="r" b="b"/>
            <a:pathLst>
              <a:path w="4533900" h="1320800">
                <a:moveTo>
                  <a:pt x="50798" y="0"/>
                </a:moveTo>
                <a:lnTo>
                  <a:pt x="4483102" y="0"/>
                </a:lnTo>
                <a:cubicBezTo>
                  <a:pt x="4511157" y="0"/>
                  <a:pt x="4533900" y="22743"/>
                  <a:pt x="4533900" y="50798"/>
                </a:cubicBezTo>
                <a:lnTo>
                  <a:pt x="4533900" y="1270002"/>
                </a:lnTo>
                <a:cubicBezTo>
                  <a:pt x="4533900" y="1298057"/>
                  <a:pt x="4511157" y="1320800"/>
                  <a:pt x="4483102" y="1320800"/>
                </a:cubicBezTo>
                <a:lnTo>
                  <a:pt x="50798" y="1320800"/>
                </a:lnTo>
                <a:cubicBezTo>
                  <a:pt x="22743" y="1320800"/>
                  <a:pt x="0" y="1298057"/>
                  <a:pt x="0" y="1270002"/>
                </a:cubicBezTo>
                <a:lnTo>
                  <a:pt x="0" y="50798"/>
                </a:lnTo>
                <a:cubicBezTo>
                  <a:pt x="0" y="22743"/>
                  <a:pt x="22743" y="0"/>
                  <a:pt x="50798" y="0"/>
                </a:cubicBezTo>
                <a:close/>
              </a:path>
            </a:pathLst>
          </a:custGeom>
          <a:solidFill>
            <a:srgbClr val="1A1D21">
              <a:alpha val="50196"/>
            </a:srgbClr>
          </a:solidFill>
          <a:ln/>
        </p:spPr>
        <p:txBody>
          <a:bodyPr/>
          <a:lstStyle/>
          <a:p>
            <a:endParaRPr lang="zh-CN" altLang="en-US"/>
          </a:p>
        </p:txBody>
      </p:sp>
      <p:sp>
        <p:nvSpPr>
          <p:cNvPr id="44" name="Text 42"/>
          <p:cNvSpPr/>
          <p:nvPr/>
        </p:nvSpPr>
        <p:spPr>
          <a:xfrm>
            <a:off x="11159034" y="3708400"/>
            <a:ext cx="43180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配置方式:</a:t>
            </a:r>
            <a:endParaRPr lang="en-US" sz="1600" dirty="0"/>
          </a:p>
        </p:txBody>
      </p:sp>
      <p:sp>
        <p:nvSpPr>
          <p:cNvPr id="45" name="Text 43"/>
          <p:cNvSpPr/>
          <p:nvPr/>
        </p:nvSpPr>
        <p:spPr>
          <a:xfrm>
            <a:off x="11159034" y="4013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acks=0</a:t>
            </a:r>
            <a:endParaRPr lang="en-US" sz="1600" dirty="0"/>
          </a:p>
        </p:txBody>
      </p:sp>
      <p:sp>
        <p:nvSpPr>
          <p:cNvPr id="46" name="Text 44"/>
          <p:cNvSpPr/>
          <p:nvPr/>
        </p:nvSpPr>
        <p:spPr>
          <a:xfrm>
            <a:off x="11159034" y="4267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retries=0</a:t>
            </a:r>
            <a:endParaRPr lang="en-US" sz="1600" dirty="0"/>
          </a:p>
        </p:txBody>
      </p:sp>
      <p:sp>
        <p:nvSpPr>
          <p:cNvPr id="47" name="Text 45"/>
          <p:cNvSpPr/>
          <p:nvPr/>
        </p:nvSpPr>
        <p:spPr>
          <a:xfrm>
            <a:off x="11159034" y="4521200"/>
            <a:ext cx="43053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enable.auto.commit=true</a:t>
            </a:r>
            <a:endParaRPr lang="en-US" sz="1600" dirty="0"/>
          </a:p>
        </p:txBody>
      </p:sp>
      <p:sp>
        <p:nvSpPr>
          <p:cNvPr id="48" name="Text 46"/>
          <p:cNvSpPr/>
          <p:nvPr/>
        </p:nvSpPr>
        <p:spPr>
          <a:xfrm>
            <a:off x="11006634" y="6426200"/>
            <a:ext cx="46228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适用场景:</a:t>
            </a:r>
            <a:endParaRPr lang="en-US" sz="1600" dirty="0"/>
          </a:p>
        </p:txBody>
      </p:sp>
      <p:sp>
        <p:nvSpPr>
          <p:cNvPr id="49" name="Text 47"/>
          <p:cNvSpPr/>
          <p:nvPr/>
        </p:nvSpPr>
        <p:spPr>
          <a:xfrm>
            <a:off x="11006634" y="6731000"/>
            <a:ext cx="4622800" cy="508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实时监控指标采样等对数据丢失不敏感但追求极高吞吐量的场景。</a:t>
            </a:r>
            <a:endParaRPr lang="en-US" sz="1600" dirty="0"/>
          </a:p>
        </p:txBody>
      </p:sp>
      <p:sp>
        <p:nvSpPr>
          <p:cNvPr id="50" name="Shape 48"/>
          <p:cNvSpPr/>
          <p:nvPr/>
        </p:nvSpPr>
        <p:spPr>
          <a:xfrm>
            <a:off x="11006634" y="7340600"/>
            <a:ext cx="4533900" cy="304800"/>
          </a:xfrm>
          <a:custGeom>
            <a:avLst/>
            <a:gdLst/>
            <a:ahLst/>
            <a:cxnLst/>
            <a:rect l="l" t="t" r="r" b="b"/>
            <a:pathLst>
              <a:path w="4533900" h="304800">
                <a:moveTo>
                  <a:pt x="152400" y="0"/>
                </a:moveTo>
                <a:lnTo>
                  <a:pt x="4381500" y="0"/>
                </a:lnTo>
                <a:cubicBezTo>
                  <a:pt x="4465612" y="0"/>
                  <a:pt x="4533900" y="68288"/>
                  <a:pt x="4533900" y="152400"/>
                </a:cubicBezTo>
                <a:lnTo>
                  <a:pt x="4533900" y="152400"/>
                </a:lnTo>
                <a:cubicBezTo>
                  <a:pt x="4533900" y="236512"/>
                  <a:pt x="4465612" y="304800"/>
                  <a:pt x="43815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alpha val="20000"/>
            </a:srgbClr>
          </a:solidFill>
          <a:ln/>
        </p:spPr>
        <p:txBody>
          <a:bodyPr/>
          <a:lstStyle/>
          <a:p>
            <a:endParaRPr lang="zh-CN" altLang="en-US"/>
          </a:p>
        </p:txBody>
      </p:sp>
      <p:sp>
        <p:nvSpPr>
          <p:cNvPr id="51" name="Text 49"/>
          <p:cNvSpPr/>
          <p:nvPr/>
        </p:nvSpPr>
        <p:spPr>
          <a:xfrm>
            <a:off x="11120934" y="7391400"/>
            <a:ext cx="4305300" cy="203200"/>
          </a:xfrm>
          <a:prstGeom prst="rect">
            <a:avLst/>
          </a:prstGeom>
          <a:noFill/>
          <a:ln/>
        </p:spPr>
        <p:txBody>
          <a:bodyPr wrap="square" lIns="0" tIns="0" rIns="0" bIns="0" rtlCol="0" anchor="ctr"/>
          <a:lstStyle/>
          <a:p>
            <a:pPr algn="ctr">
              <a:lnSpc>
                <a:spcPct val="110000"/>
              </a:lnSpc>
            </a:pPr>
            <a:r>
              <a:rPr lang="en-US" sz="1200" dirty="0">
                <a:solidFill>
                  <a:srgbClr val="E2E8F0">
                    <a:alpha val="80000"/>
                  </a:srgbClr>
                </a:solidFill>
                <a:latin typeface="MiSans" pitchFamily="34" charset="0"/>
                <a:ea typeface="MiSans" pitchFamily="34" charset="-122"/>
                <a:cs typeface="MiSans" pitchFamily="34" charset="-120"/>
              </a:rPr>
              <a:t>最少使用</a:t>
            </a:r>
            <a:endParaRPr lang="en-US" sz="1600" dirty="0"/>
          </a:p>
        </p:txBody>
      </p:sp>
      <p:sp>
        <p:nvSpPr>
          <p:cNvPr id="52" name="Shape 50"/>
          <p:cNvSpPr/>
          <p:nvPr/>
        </p:nvSpPr>
        <p:spPr>
          <a:xfrm>
            <a:off x="514350" y="8007350"/>
            <a:ext cx="15227300" cy="622300"/>
          </a:xfrm>
          <a:custGeom>
            <a:avLst/>
            <a:gdLst/>
            <a:ahLst/>
            <a:cxnLst/>
            <a:rect l="l" t="t" r="r" b="b"/>
            <a:pathLst>
              <a:path w="15227300" h="622300">
                <a:moveTo>
                  <a:pt x="101603" y="0"/>
                </a:moveTo>
                <a:lnTo>
                  <a:pt x="15125697" y="0"/>
                </a:lnTo>
                <a:cubicBezTo>
                  <a:pt x="15181811" y="0"/>
                  <a:pt x="15227300" y="45489"/>
                  <a:pt x="15227300" y="101603"/>
                </a:cubicBezTo>
                <a:lnTo>
                  <a:pt x="15227300" y="520697"/>
                </a:lnTo>
                <a:cubicBezTo>
                  <a:pt x="15227300" y="576811"/>
                  <a:pt x="15181811" y="622300"/>
                  <a:pt x="15125697" y="622300"/>
                </a:cubicBezTo>
                <a:lnTo>
                  <a:pt x="101603" y="622300"/>
                </a:lnTo>
                <a:cubicBezTo>
                  <a:pt x="45489" y="622300"/>
                  <a:pt x="0" y="576811"/>
                  <a:pt x="0" y="520697"/>
                </a:cubicBezTo>
                <a:lnTo>
                  <a:pt x="0" y="101603"/>
                </a:lnTo>
                <a:cubicBezTo>
                  <a:pt x="0" y="45527"/>
                  <a:pt x="45527" y="0"/>
                  <a:pt x="101603"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53" name="Shape 51"/>
          <p:cNvSpPr/>
          <p:nvPr/>
        </p:nvSpPr>
        <p:spPr>
          <a:xfrm>
            <a:off x="698500" y="822325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01600" y="53975"/>
                </a:moveTo>
                <a:cubicBezTo>
                  <a:pt x="106878" y="53975"/>
                  <a:pt x="111125" y="58222"/>
                  <a:pt x="111125" y="63500"/>
                </a:cubicBezTo>
                <a:lnTo>
                  <a:pt x="111125" y="107950"/>
                </a:lnTo>
                <a:cubicBezTo>
                  <a:pt x="111125" y="113228"/>
                  <a:pt x="106878" y="117475"/>
                  <a:pt x="101600" y="117475"/>
                </a:cubicBezTo>
                <a:cubicBezTo>
                  <a:pt x="96322" y="117475"/>
                  <a:pt x="92075" y="113228"/>
                  <a:pt x="92075" y="107950"/>
                </a:cubicBezTo>
                <a:lnTo>
                  <a:pt x="92075" y="63500"/>
                </a:lnTo>
                <a:cubicBezTo>
                  <a:pt x="92075" y="58222"/>
                  <a:pt x="96322" y="53975"/>
                  <a:pt x="101600" y="53975"/>
                </a:cubicBezTo>
                <a:close/>
                <a:moveTo>
                  <a:pt x="91003" y="139700"/>
                </a:moveTo>
                <a:cubicBezTo>
                  <a:pt x="90762" y="135767"/>
                  <a:pt x="92724" y="132024"/>
                  <a:pt x="96096" y="129985"/>
                </a:cubicBezTo>
                <a:cubicBezTo>
                  <a:pt x="99468" y="127945"/>
                  <a:pt x="103693" y="127945"/>
                  <a:pt x="107065" y="129985"/>
                </a:cubicBezTo>
                <a:cubicBezTo>
                  <a:pt x="110436" y="132024"/>
                  <a:pt x="112398" y="135767"/>
                  <a:pt x="112157" y="139700"/>
                </a:cubicBezTo>
                <a:cubicBezTo>
                  <a:pt x="112398" y="143633"/>
                  <a:pt x="110436" y="147376"/>
                  <a:pt x="107065" y="149415"/>
                </a:cubicBezTo>
                <a:cubicBezTo>
                  <a:pt x="103693" y="151455"/>
                  <a:pt x="99468" y="151455"/>
                  <a:pt x="96096" y="149415"/>
                </a:cubicBezTo>
                <a:cubicBezTo>
                  <a:pt x="92724" y="147376"/>
                  <a:pt x="90762" y="143633"/>
                  <a:pt x="91003" y="139700"/>
                </a:cubicBezTo>
                <a:close/>
              </a:path>
            </a:pathLst>
          </a:custGeom>
          <a:solidFill>
            <a:srgbClr val="D69E2E"/>
          </a:solidFill>
          <a:ln/>
        </p:spPr>
        <p:txBody>
          <a:bodyPr/>
          <a:lstStyle/>
          <a:p>
            <a:endParaRPr lang="zh-CN" altLang="en-US"/>
          </a:p>
        </p:txBody>
      </p:sp>
      <p:sp>
        <p:nvSpPr>
          <p:cNvPr id="54" name="Text 52"/>
          <p:cNvSpPr/>
          <p:nvPr/>
        </p:nvSpPr>
        <p:spPr>
          <a:xfrm>
            <a:off x="1028700" y="8166100"/>
            <a:ext cx="146558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重要区别:</a:t>
            </a:r>
            <a:r>
              <a:rPr lang="en-US" sz="1600" dirty="0">
                <a:solidFill>
                  <a:srgbClr val="E2E8F0">
                    <a:alpha val="90000"/>
                  </a:srgbClr>
                </a:solidFill>
                <a:latin typeface="MiSans" pitchFamily="34" charset="0"/>
                <a:ea typeface="MiSans" pitchFamily="34" charset="-122"/>
                <a:cs typeface="MiSans" pitchFamily="34" charset="-120"/>
              </a:rPr>
              <a:t> Kafka 的 Exactly-Once 是流处理语义，保证 Read-Process-Write 链路的精确一次，而非端到端的业务处理保证。</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miro.medium.com/cd0ac55cddb4f9cb8e0850e2e8db7f16bffa64ef.png"/>
          <p:cNvPicPr>
            <a:picLocks noChangeAspect="1"/>
          </p:cNvPicPr>
          <p:nvPr/>
        </p:nvPicPr>
        <p:blipFill>
          <a:blip r:embed="rId3">
            <a:alphaModFix amt="20000"/>
          </a:blip>
          <a:srcRect t="8022" b="8022"/>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txBody>
          <a:bodyPr/>
          <a:lstStyle/>
          <a:p>
            <a:endParaRPr lang="zh-CN" altLang="en-US"/>
          </a:p>
        </p:txBody>
      </p:sp>
      <p:sp>
        <p:nvSpPr>
          <p:cNvPr id="4" name="Text 1"/>
          <p:cNvSpPr/>
          <p:nvPr/>
        </p:nvSpPr>
        <p:spPr>
          <a:xfrm>
            <a:off x="13765213" y="2254250"/>
            <a:ext cx="1982788" cy="336550"/>
          </a:xfrm>
          <a:prstGeom prst="rect">
            <a:avLst/>
          </a:prstGeom>
          <a:noFill/>
          <a:ln/>
        </p:spPr>
        <p:txBody>
          <a:bodyPr wrap="square" lIns="0" tIns="0" rIns="0" bIns="0" rtlCol="0" anchor="ctr"/>
          <a:lstStyle/>
          <a:p>
            <a:pPr algn="r">
              <a:lnSpc>
                <a:spcPct val="120000"/>
              </a:lnSpc>
            </a:pPr>
            <a:r>
              <a:rPr lang="en-US" sz="2000" b="1" kern="0" spc="800" dirty="0">
                <a:solidFill>
                  <a:srgbClr val="D69E2E"/>
                </a:solidFill>
                <a:latin typeface="MiSans" pitchFamily="34" charset="0"/>
                <a:ea typeface="MiSans" pitchFamily="34" charset="-122"/>
                <a:cs typeface="MiSans" pitchFamily="34" charset="-120"/>
              </a:rPr>
              <a:t>CHAPTER</a:t>
            </a:r>
            <a:endParaRPr lang="en-US" sz="1600" dirty="0"/>
          </a:p>
        </p:txBody>
      </p:sp>
      <p:sp>
        <p:nvSpPr>
          <p:cNvPr id="5" name="Text 2"/>
          <p:cNvSpPr/>
          <p:nvPr/>
        </p:nvSpPr>
        <p:spPr>
          <a:xfrm>
            <a:off x="7972524" y="3009900"/>
            <a:ext cx="4953000" cy="1905000"/>
          </a:xfrm>
          <a:prstGeom prst="rect">
            <a:avLst/>
          </a:prstGeom>
          <a:noFill/>
          <a:ln/>
        </p:spPr>
        <p:txBody>
          <a:bodyPr wrap="square" lIns="0" tIns="0" rIns="0" bIns="0" rtlCol="0" anchor="ctr"/>
          <a:lstStyle/>
          <a:p>
            <a:pPr algn="r">
              <a:lnSpc>
                <a:spcPct val="100000"/>
              </a:lnSpc>
            </a:pPr>
            <a:r>
              <a:rPr lang="en-US" sz="6000" b="1" dirty="0">
                <a:solidFill>
                  <a:srgbClr val="E2E8F0"/>
                </a:solidFill>
                <a:latin typeface="MiSans" pitchFamily="34" charset="0"/>
                <a:ea typeface="MiSans" pitchFamily="34" charset="-122"/>
                <a:cs typeface="MiSans" pitchFamily="34" charset="-120"/>
              </a:rPr>
              <a:t>Kafka 生产者</a:t>
            </a:r>
            <a:endParaRPr lang="en-US" sz="1600" dirty="0"/>
          </a:p>
          <a:p>
            <a:pPr algn="r">
              <a:lnSpc>
                <a:spcPct val="100000"/>
              </a:lnSpc>
            </a:pPr>
            <a:r>
              <a:rPr lang="en-US" sz="6000" b="1" dirty="0">
                <a:solidFill>
                  <a:srgbClr val="E2E8F0"/>
                </a:solidFill>
                <a:latin typeface="MiSans" pitchFamily="34" charset="0"/>
                <a:ea typeface="MiSans" pitchFamily="34" charset="-122"/>
                <a:cs typeface="MiSans" pitchFamily="34" charset="-120"/>
              </a:rPr>
              <a:t>与消费者机制</a:t>
            </a:r>
            <a:endParaRPr lang="en-US" sz="1600" dirty="0"/>
          </a:p>
        </p:txBody>
      </p:sp>
      <p:sp>
        <p:nvSpPr>
          <p:cNvPr id="6" name="Text 3"/>
          <p:cNvSpPr/>
          <p:nvPr/>
        </p:nvSpPr>
        <p:spPr>
          <a:xfrm>
            <a:off x="12315924" y="3289300"/>
            <a:ext cx="3429000" cy="2032000"/>
          </a:xfrm>
          <a:prstGeom prst="rect">
            <a:avLst/>
          </a:prstGeom>
          <a:noFill/>
          <a:ln/>
        </p:spPr>
        <p:txBody>
          <a:bodyPr wrap="square" lIns="0" tIns="0" rIns="0" bIns="0" rtlCol="0" anchor="ctr"/>
          <a:lstStyle/>
          <a:p>
            <a:pPr algn="r">
              <a:lnSpc>
                <a:spcPct val="80000"/>
              </a:lnSpc>
            </a:pPr>
            <a:r>
              <a:rPr lang="en-US" sz="16000" b="1" dirty="0">
                <a:solidFill>
                  <a:srgbClr val="D69E2E"/>
                </a:solidFill>
                <a:latin typeface="MiSans" pitchFamily="34" charset="0"/>
                <a:ea typeface="MiSans" pitchFamily="34" charset="-122"/>
                <a:cs typeface="MiSans" pitchFamily="34" charset="-120"/>
              </a:rPr>
              <a:t>02</a:t>
            </a:r>
            <a:endParaRPr lang="en-US" sz="1600" dirty="0"/>
          </a:p>
        </p:txBody>
      </p:sp>
      <p:sp>
        <p:nvSpPr>
          <p:cNvPr id="7" name="Shape 4"/>
          <p:cNvSpPr/>
          <p:nvPr/>
        </p:nvSpPr>
        <p:spPr>
          <a:xfrm>
            <a:off x="8775700"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8" name="Text 5"/>
          <p:cNvSpPr/>
          <p:nvPr/>
        </p:nvSpPr>
        <p:spPr>
          <a:xfrm>
            <a:off x="5499100" y="58293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学习重点</a:t>
            </a:r>
            <a:endParaRPr lang="en-US" sz="1600" dirty="0"/>
          </a:p>
        </p:txBody>
      </p:sp>
      <p:sp>
        <p:nvSpPr>
          <p:cNvPr id="9" name="Text 6"/>
          <p:cNvSpPr/>
          <p:nvPr/>
        </p:nvSpPr>
        <p:spPr>
          <a:xfrm>
            <a:off x="4294188" y="6184900"/>
            <a:ext cx="4202112"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掌握 Producer 和 Consumer 架构设计</a:t>
            </a:r>
            <a:endParaRPr lang="en-US" sz="1600" dirty="0"/>
          </a:p>
        </p:txBody>
      </p:sp>
      <p:sp>
        <p:nvSpPr>
          <p:cNvPr id="10" name="Shape 7"/>
          <p:cNvSpPr/>
          <p:nvPr/>
        </p:nvSpPr>
        <p:spPr>
          <a:xfrm>
            <a:off x="12246967"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1" name="Text 8"/>
          <p:cNvSpPr/>
          <p:nvPr/>
        </p:nvSpPr>
        <p:spPr>
          <a:xfrm>
            <a:off x="8970367" y="58293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核心内容</a:t>
            </a:r>
            <a:endParaRPr lang="en-US" sz="1600" dirty="0"/>
          </a:p>
        </p:txBody>
      </p:sp>
      <p:sp>
        <p:nvSpPr>
          <p:cNvPr id="12" name="Text 9"/>
          <p:cNvSpPr/>
          <p:nvPr/>
        </p:nvSpPr>
        <p:spPr>
          <a:xfrm>
            <a:off x="8944967" y="6184900"/>
            <a:ext cx="3022600"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理解消息发送与消费流程</a:t>
            </a:r>
            <a:endParaRPr lang="en-US" sz="1600" dirty="0"/>
          </a:p>
        </p:txBody>
      </p:sp>
      <p:sp>
        <p:nvSpPr>
          <p:cNvPr id="13" name="Shape 10"/>
          <p:cNvSpPr/>
          <p:nvPr/>
        </p:nvSpPr>
        <p:spPr>
          <a:xfrm>
            <a:off x="15718334"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4" name="Text 11"/>
          <p:cNvSpPr/>
          <p:nvPr/>
        </p:nvSpPr>
        <p:spPr>
          <a:xfrm>
            <a:off x="12441734" y="58293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学习目标</a:t>
            </a:r>
            <a:endParaRPr lang="en-US" sz="1600" dirty="0"/>
          </a:p>
        </p:txBody>
      </p:sp>
      <p:sp>
        <p:nvSpPr>
          <p:cNvPr id="15" name="Text 12"/>
          <p:cNvSpPr/>
          <p:nvPr/>
        </p:nvSpPr>
        <p:spPr>
          <a:xfrm>
            <a:off x="12416334" y="6184900"/>
            <a:ext cx="3022600"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精通可靠性保障机制</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2.1.1 Producer 架构</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Kafka Producer 核心组件与架构</a:t>
            </a:r>
            <a:endParaRPr lang="en-US" sz="1600" dirty="0"/>
          </a:p>
        </p:txBody>
      </p:sp>
      <p:sp>
        <p:nvSpPr>
          <p:cNvPr id="4" name="Text 2"/>
          <p:cNvSpPr/>
          <p:nvPr/>
        </p:nvSpPr>
        <p:spPr>
          <a:xfrm>
            <a:off x="508000" y="1625600"/>
            <a:ext cx="7620000" cy="406400"/>
          </a:xfrm>
          <a:prstGeom prst="rect">
            <a:avLst/>
          </a:prstGeom>
          <a:noFill/>
          <a:ln/>
        </p:spPr>
        <p:txBody>
          <a:bodyPr wrap="square" lIns="0" tIns="0" rIns="0" bIns="0" rtlCol="0" anchor="ctr"/>
          <a:lstStyle/>
          <a:p>
            <a:pPr>
              <a:lnSpc>
                <a:spcPct val="110000"/>
              </a:lnSpc>
            </a:pPr>
            <a:r>
              <a:rPr lang="en-US" sz="2400" b="1" dirty="0">
                <a:solidFill>
                  <a:srgbClr val="D69E2E"/>
                </a:solidFill>
                <a:latin typeface="MiSans" pitchFamily="34" charset="0"/>
                <a:ea typeface="MiSans" pitchFamily="34" charset="-122"/>
                <a:cs typeface="MiSans" pitchFamily="34" charset="-120"/>
              </a:rPr>
              <a:t>KafkaProducer 类结构</a:t>
            </a:r>
            <a:endParaRPr lang="en-US" sz="1600" dirty="0"/>
          </a:p>
        </p:txBody>
      </p:sp>
      <p:sp>
        <p:nvSpPr>
          <p:cNvPr id="5" name="Shape 3"/>
          <p:cNvSpPr/>
          <p:nvPr/>
        </p:nvSpPr>
        <p:spPr>
          <a:xfrm>
            <a:off x="508000" y="2184400"/>
            <a:ext cx="7467600" cy="6096000"/>
          </a:xfrm>
          <a:custGeom>
            <a:avLst/>
            <a:gdLst/>
            <a:ahLst/>
            <a:cxnLst/>
            <a:rect l="l" t="t" r="r" b="b"/>
            <a:pathLst>
              <a:path w="7467600" h="6096000">
                <a:moveTo>
                  <a:pt x="101620" y="0"/>
                </a:moveTo>
                <a:lnTo>
                  <a:pt x="7365980" y="0"/>
                </a:lnTo>
                <a:cubicBezTo>
                  <a:pt x="7422103" y="0"/>
                  <a:pt x="7467600" y="45497"/>
                  <a:pt x="7467600" y="101620"/>
                </a:cubicBezTo>
                <a:lnTo>
                  <a:pt x="7467600" y="5994380"/>
                </a:lnTo>
                <a:cubicBezTo>
                  <a:pt x="7467600" y="6050503"/>
                  <a:pt x="7422103" y="6096000"/>
                  <a:pt x="7365980" y="6096000"/>
                </a:cubicBezTo>
                <a:lnTo>
                  <a:pt x="101620" y="6096000"/>
                </a:lnTo>
                <a:cubicBezTo>
                  <a:pt x="45497" y="6096000"/>
                  <a:pt x="0" y="6050503"/>
                  <a:pt x="0" y="5994380"/>
                </a:cubicBezTo>
                <a:lnTo>
                  <a:pt x="0" y="101620"/>
                </a:lnTo>
                <a:cubicBezTo>
                  <a:pt x="0" y="45535"/>
                  <a:pt x="45535" y="0"/>
                  <a:pt x="101620" y="0"/>
                </a:cubicBezTo>
                <a:close/>
              </a:path>
            </a:pathLst>
          </a:custGeom>
          <a:solidFill>
            <a:srgbClr val="1A1D21">
              <a:alpha val="60000"/>
            </a:srgbClr>
          </a:solidFill>
          <a:ln/>
        </p:spPr>
        <p:txBody>
          <a:bodyPr/>
          <a:lstStyle/>
          <a:p>
            <a:endParaRPr lang="zh-CN" altLang="en-US"/>
          </a:p>
        </p:txBody>
      </p:sp>
      <p:sp>
        <p:nvSpPr>
          <p:cNvPr id="6" name="Text 4"/>
          <p:cNvSpPr/>
          <p:nvPr/>
        </p:nvSpPr>
        <p:spPr>
          <a:xfrm>
            <a:off x="711200" y="2387600"/>
            <a:ext cx="7137400" cy="5892800"/>
          </a:xfrm>
          <a:prstGeom prst="rect">
            <a:avLst/>
          </a:prstGeom>
          <a:noFill/>
          <a:ln/>
        </p:spPr>
        <p:txBody>
          <a:bodyPr wrap="square" lIns="0" tIns="0" rIns="0" bIns="0" rtlCol="0" anchor="ctr"/>
          <a:lstStyle/>
          <a:p>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来源：基于 </a:t>
            </a:r>
            <a:r>
              <a:rPr lang="en-US" altLang="zh-CN" sz="1400" i="1" dirty="0">
                <a:solidFill>
                  <a:srgbClr val="00B050"/>
                </a:solidFill>
                <a:latin typeface="Calibri" panose="020F0502020204030204" pitchFamily="34" charset="0"/>
                <a:cs typeface="Calibri" panose="020F0502020204030204" pitchFamily="34" charset="0"/>
              </a:rPr>
              <a:t>Kafka 3.6.x </a:t>
            </a:r>
            <a:r>
              <a:rPr lang="zh-CN" altLang="en-US" sz="1400" i="1" dirty="0">
                <a:solidFill>
                  <a:srgbClr val="00B050"/>
                </a:solidFill>
                <a:latin typeface="Calibri" panose="020F0502020204030204" pitchFamily="34" charset="0"/>
                <a:cs typeface="Calibri" panose="020F0502020204030204" pitchFamily="34" charset="0"/>
              </a:rPr>
              <a:t>简化伪代码</a:t>
            </a:r>
            <a:endParaRPr lang="zh-CN" altLang="en-US" sz="1400" dirty="0">
              <a:solidFill>
                <a:srgbClr val="00B050"/>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public class </a:t>
            </a:r>
            <a:r>
              <a:rPr lang="en-US" altLang="zh-CN" sz="1400" dirty="0" err="1">
                <a:solidFill>
                  <a:schemeClr val="bg1"/>
                </a:solidFill>
                <a:latin typeface="Calibri" panose="020F0502020204030204" pitchFamily="34" charset="0"/>
                <a:cs typeface="Calibri" panose="020F0502020204030204" pitchFamily="34" charset="0"/>
              </a:rPr>
              <a:t>KafkaProducer</a:t>
            </a:r>
            <a:r>
              <a:rPr lang="en-US" altLang="zh-CN" sz="1400" dirty="0">
                <a:solidFill>
                  <a:schemeClr val="bg1"/>
                </a:solidFill>
                <a:latin typeface="Calibri" panose="020F0502020204030204" pitchFamily="34" charset="0"/>
                <a:cs typeface="Calibri" panose="020F0502020204030204" pitchFamily="34" charset="0"/>
              </a:rPr>
              <a:t>&lt;K, V&gt; {</a:t>
            </a:r>
          </a:p>
          <a:p>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rgbClr val="00B050"/>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核心组件</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a:t>
            </a:r>
            <a:r>
              <a:rPr lang="en-US" altLang="zh-CN" sz="1400" dirty="0" err="1">
                <a:solidFill>
                  <a:schemeClr val="bg1"/>
                </a:solidFill>
                <a:latin typeface="Calibri" panose="020F0502020204030204" pitchFamily="34" charset="0"/>
                <a:cs typeface="Calibri" panose="020F0502020204030204" pitchFamily="34" charset="0"/>
              </a:rPr>
              <a:t>ProducerConfig</a:t>
            </a:r>
            <a:r>
              <a:rPr lang="en-US" altLang="zh-CN" sz="1400" dirty="0">
                <a:solidFill>
                  <a:schemeClr val="bg1"/>
                </a:solidFill>
                <a:latin typeface="Calibri" panose="020F0502020204030204" pitchFamily="34" charset="0"/>
                <a:cs typeface="Calibri" panose="020F0502020204030204" pitchFamily="34" charset="0"/>
              </a:rPr>
              <a:t> config;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配置管理</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Serializer&lt;K&gt; </a:t>
            </a:r>
            <a:r>
              <a:rPr lang="en-US" altLang="zh-CN" sz="1400" dirty="0" err="1">
                <a:solidFill>
                  <a:schemeClr val="bg1"/>
                </a:solidFill>
                <a:latin typeface="Calibri" panose="020F0502020204030204" pitchFamily="34" charset="0"/>
                <a:cs typeface="Calibri" panose="020F0502020204030204" pitchFamily="34" charset="0"/>
              </a:rPr>
              <a:t>keySerializer</a:t>
            </a:r>
            <a:r>
              <a:rPr lang="en-US" altLang="zh-CN" sz="1400" dirty="0">
                <a:solidFill>
                  <a:schemeClr val="bg1"/>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键序列化器</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Serializer&lt;V&gt; </a:t>
            </a:r>
            <a:r>
              <a:rPr lang="en-US" altLang="zh-CN" sz="1400" dirty="0" err="1">
                <a:solidFill>
                  <a:schemeClr val="bg1"/>
                </a:solidFill>
                <a:latin typeface="Calibri" panose="020F0502020204030204" pitchFamily="34" charset="0"/>
                <a:cs typeface="Calibri" panose="020F0502020204030204" pitchFamily="34" charset="0"/>
              </a:rPr>
              <a:t>valueSerializer</a:t>
            </a:r>
            <a:r>
              <a:rPr lang="en-US" altLang="zh-CN" sz="1400" dirty="0">
                <a:solidFill>
                  <a:schemeClr val="bg1"/>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值序列化器</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Partitioner partitioner;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分区器</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Metadata metadata;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元数据管理</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a:t>
            </a:r>
            <a:r>
              <a:rPr lang="en-US" altLang="zh-CN" sz="1400" dirty="0" err="1">
                <a:solidFill>
                  <a:schemeClr val="bg1"/>
                </a:solidFill>
                <a:latin typeface="Calibri" panose="020F0502020204030204" pitchFamily="34" charset="0"/>
                <a:cs typeface="Calibri" panose="020F0502020204030204" pitchFamily="34" charset="0"/>
              </a:rPr>
              <a:t>RecordAccumulator</a:t>
            </a:r>
            <a:r>
              <a:rPr lang="en-US" altLang="zh-CN" sz="1400" dirty="0">
                <a:solidFill>
                  <a:schemeClr val="bg1"/>
                </a:solidFill>
                <a:latin typeface="Calibri" panose="020F0502020204030204" pitchFamily="34" charset="0"/>
                <a:cs typeface="Calibri" panose="020F0502020204030204" pitchFamily="34" charset="0"/>
              </a:rPr>
              <a:t> accumulator;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记录累加器</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Sender sender;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发送线程</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private Metrics metrics;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指标监控</a:t>
            </a:r>
            <a:endParaRPr lang="zh-CN" altLang="en-US" sz="1400" dirty="0">
              <a:solidFill>
                <a:srgbClr val="00B050"/>
              </a:solidFill>
              <a:latin typeface="Calibri" panose="020F0502020204030204" pitchFamily="34" charset="0"/>
              <a:cs typeface="Calibri" panose="020F0502020204030204" pitchFamily="34" charset="0"/>
            </a:endParaRPr>
          </a:p>
          <a:p>
            <a:endParaRPr lang="zh-CN" altLang="en-US" sz="1400" dirty="0">
              <a:solidFill>
                <a:schemeClr val="bg1"/>
              </a:solidFill>
              <a:latin typeface="Calibri" panose="020F0502020204030204" pitchFamily="34" charset="0"/>
              <a:cs typeface="Calibri" panose="020F0502020204030204" pitchFamily="34" charset="0"/>
            </a:endParaRPr>
          </a:p>
          <a:p>
            <a:r>
              <a:rPr lang="zh-CN" altLang="en-US" sz="1400" dirty="0">
                <a:solidFill>
                  <a:srgbClr val="00B050"/>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核心方法</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public Future&lt;</a:t>
            </a:r>
            <a:r>
              <a:rPr lang="en-US" altLang="zh-CN" sz="1400" dirty="0" err="1">
                <a:solidFill>
                  <a:schemeClr val="bg1"/>
                </a:solidFill>
                <a:latin typeface="Calibri" panose="020F0502020204030204" pitchFamily="34" charset="0"/>
                <a:cs typeface="Calibri" panose="020F0502020204030204" pitchFamily="34" charset="0"/>
              </a:rPr>
              <a:t>RecordMetadata</a:t>
            </a:r>
            <a:r>
              <a:rPr lang="en-US" altLang="zh-CN" sz="1400" dirty="0">
                <a:solidFill>
                  <a:schemeClr val="bg1"/>
                </a:solidFill>
                <a:latin typeface="Calibri" panose="020F0502020204030204" pitchFamily="34" charset="0"/>
                <a:cs typeface="Calibri" panose="020F0502020204030204" pitchFamily="34" charset="0"/>
              </a:rPr>
              <a:t>&gt; send(</a:t>
            </a:r>
            <a:r>
              <a:rPr lang="en-US" altLang="zh-CN" sz="1400" dirty="0" err="1">
                <a:solidFill>
                  <a:schemeClr val="bg1"/>
                </a:solidFill>
                <a:latin typeface="Calibri" panose="020F0502020204030204" pitchFamily="34" charset="0"/>
                <a:cs typeface="Calibri" panose="020F0502020204030204" pitchFamily="34" charset="0"/>
              </a:rPr>
              <a:t>ProducerRecord</a:t>
            </a:r>
            <a:r>
              <a:rPr lang="en-US" altLang="zh-CN" sz="1400" dirty="0">
                <a:solidFill>
                  <a:schemeClr val="bg1"/>
                </a:solidFill>
                <a:latin typeface="Calibri" panose="020F0502020204030204" pitchFamily="34" charset="0"/>
                <a:cs typeface="Calibri" panose="020F0502020204030204" pitchFamily="34" charset="0"/>
              </a:rPr>
              <a:t>&lt;K, V&gt; record) {</a:t>
            </a:r>
          </a:p>
          <a:p>
            <a:r>
              <a:rPr lang="en-US" altLang="zh-CN" sz="1400" dirty="0">
                <a:solidFill>
                  <a:schemeClr val="bg1"/>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发送消息到指定 </a:t>
            </a:r>
            <a:r>
              <a:rPr lang="en-US" altLang="zh-CN" sz="1400" i="1" dirty="0">
                <a:solidFill>
                  <a:srgbClr val="00B050"/>
                </a:solidFill>
                <a:latin typeface="Calibri" panose="020F0502020204030204" pitchFamily="34" charset="0"/>
                <a:cs typeface="Calibri" panose="020F0502020204030204" pitchFamily="34" charset="0"/>
              </a:rPr>
              <a:t>Topic</a:t>
            </a:r>
            <a:endParaRPr lang="en-US" altLang="zh-CN" sz="1400" dirty="0">
              <a:solidFill>
                <a:srgbClr val="00B050"/>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    }</a:t>
            </a:r>
          </a:p>
          <a:p>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    public void flush() {</a:t>
            </a:r>
          </a:p>
          <a:p>
            <a:r>
              <a:rPr lang="en-US" altLang="zh-CN" sz="1400" dirty="0">
                <a:solidFill>
                  <a:schemeClr val="bg1"/>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强制刷新所有缓冲消息</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a:t>
            </a:r>
          </a:p>
          <a:p>
            <a:endParaRPr lang="en-US" altLang="zh-CN" sz="1400" dirty="0">
              <a:solidFill>
                <a:schemeClr val="bg1"/>
              </a:solidFill>
              <a:latin typeface="Calibri" panose="020F0502020204030204" pitchFamily="34" charset="0"/>
              <a:cs typeface="Calibri" panose="020F0502020204030204" pitchFamily="34" charset="0"/>
            </a:endParaRPr>
          </a:p>
          <a:p>
            <a:r>
              <a:rPr lang="en-US" altLang="zh-CN" sz="1400" dirty="0">
                <a:solidFill>
                  <a:schemeClr val="bg1"/>
                </a:solidFill>
                <a:latin typeface="Calibri" panose="020F0502020204030204" pitchFamily="34" charset="0"/>
                <a:cs typeface="Calibri" panose="020F0502020204030204" pitchFamily="34" charset="0"/>
              </a:rPr>
              <a:t>    public void close() {</a:t>
            </a:r>
          </a:p>
          <a:p>
            <a:r>
              <a:rPr lang="en-US" altLang="zh-CN" sz="1400" dirty="0">
                <a:solidFill>
                  <a:srgbClr val="00B050"/>
                </a:solidFill>
                <a:latin typeface="Calibri" panose="020F0502020204030204" pitchFamily="34" charset="0"/>
                <a:cs typeface="Calibri" panose="020F0502020204030204" pitchFamily="34" charset="0"/>
              </a:rPr>
              <a:t>        </a:t>
            </a:r>
            <a:r>
              <a:rPr lang="en-US" altLang="zh-CN" sz="1400" i="1" dirty="0">
                <a:solidFill>
                  <a:srgbClr val="00B050"/>
                </a:solidFill>
                <a:latin typeface="Calibri" panose="020F0502020204030204" pitchFamily="34" charset="0"/>
                <a:cs typeface="Calibri" panose="020F0502020204030204" pitchFamily="34" charset="0"/>
              </a:rPr>
              <a:t>// </a:t>
            </a:r>
            <a:r>
              <a:rPr lang="zh-CN" altLang="en-US" sz="1400" i="1" dirty="0">
                <a:solidFill>
                  <a:srgbClr val="00B050"/>
                </a:solidFill>
                <a:latin typeface="Calibri" panose="020F0502020204030204" pitchFamily="34" charset="0"/>
                <a:cs typeface="Calibri" panose="020F0502020204030204" pitchFamily="34" charset="0"/>
              </a:rPr>
              <a:t>关闭 </a:t>
            </a:r>
            <a:r>
              <a:rPr lang="en-US" altLang="zh-CN" sz="1400" i="1" dirty="0">
                <a:solidFill>
                  <a:srgbClr val="00B050"/>
                </a:solidFill>
                <a:latin typeface="Calibri" panose="020F0502020204030204" pitchFamily="34" charset="0"/>
                <a:cs typeface="Calibri" panose="020F0502020204030204" pitchFamily="34" charset="0"/>
              </a:rPr>
              <a:t>Producer </a:t>
            </a:r>
            <a:r>
              <a:rPr lang="zh-CN" altLang="en-US" sz="1400" i="1" dirty="0">
                <a:solidFill>
                  <a:srgbClr val="00B050"/>
                </a:solidFill>
                <a:latin typeface="Calibri" panose="020F0502020204030204" pitchFamily="34" charset="0"/>
                <a:cs typeface="Calibri" panose="020F0502020204030204" pitchFamily="34" charset="0"/>
              </a:rPr>
              <a:t>释放资源</a:t>
            </a:r>
            <a:endParaRPr lang="zh-CN" altLang="en-US" sz="1400" dirty="0">
              <a:solidFill>
                <a:srgbClr val="00B050"/>
              </a:solidFill>
              <a:latin typeface="Calibri" panose="020F0502020204030204" pitchFamily="34" charset="0"/>
              <a:cs typeface="Calibri" panose="020F0502020204030204" pitchFamily="34" charset="0"/>
            </a:endParaRPr>
          </a:p>
          <a:p>
            <a:r>
              <a:rPr lang="zh-CN" altLang="en-US" sz="1400" dirty="0">
                <a:solidFill>
                  <a:schemeClr val="bg1"/>
                </a:solidFill>
                <a:latin typeface="Calibri" panose="020F0502020204030204" pitchFamily="34" charset="0"/>
                <a:cs typeface="Calibri" panose="020F0502020204030204" pitchFamily="34" charset="0"/>
              </a:rPr>
              <a:t>    </a:t>
            </a:r>
            <a:r>
              <a:rPr lang="en-US" altLang="zh-CN" sz="1400" dirty="0">
                <a:solidFill>
                  <a:schemeClr val="bg1"/>
                </a:solidFill>
                <a:latin typeface="Calibri" panose="020F0502020204030204" pitchFamily="34" charset="0"/>
                <a:cs typeface="Calibri" panose="020F0502020204030204" pitchFamily="34" charset="0"/>
              </a:rPr>
              <a:t>}</a:t>
            </a:r>
          </a:p>
          <a:p>
            <a:r>
              <a:rPr lang="en-US" altLang="zh-CN" sz="1400" dirty="0">
                <a:solidFill>
                  <a:schemeClr val="bg1"/>
                </a:solidFill>
                <a:latin typeface="Calibri" panose="020F0502020204030204" pitchFamily="34" charset="0"/>
                <a:cs typeface="Calibri" panose="020F0502020204030204" pitchFamily="34" charset="0"/>
              </a:rPr>
              <a:t>}</a:t>
            </a:r>
            <a:endParaRPr lang="zh-CN" altLang="en-US" sz="1400" dirty="0">
              <a:solidFill>
                <a:schemeClr val="bg1"/>
              </a:solidFill>
              <a:latin typeface="Calibri" panose="020F0502020204030204" pitchFamily="34" charset="0"/>
              <a:cs typeface="Calibri" panose="020F0502020204030204" pitchFamily="34" charset="0"/>
            </a:endParaRPr>
          </a:p>
          <a:p>
            <a:pPr>
              <a:lnSpc>
                <a:spcPct val="110000"/>
              </a:lnSpc>
            </a:pPr>
            <a:endParaRPr lang="en-US" sz="1400" dirty="0">
              <a:solidFill>
                <a:schemeClr val="bg1"/>
              </a:solidFill>
              <a:latin typeface="Calibri" panose="020F0502020204030204" pitchFamily="34" charset="0"/>
              <a:cs typeface="Calibri" panose="020F0502020204030204" pitchFamily="34" charset="0"/>
            </a:endParaRPr>
          </a:p>
        </p:txBody>
      </p:sp>
      <p:sp>
        <p:nvSpPr>
          <p:cNvPr id="7" name="Text 5"/>
          <p:cNvSpPr/>
          <p:nvPr/>
        </p:nvSpPr>
        <p:spPr>
          <a:xfrm>
            <a:off x="8280400" y="1625600"/>
            <a:ext cx="7620000" cy="406400"/>
          </a:xfrm>
          <a:prstGeom prst="rect">
            <a:avLst/>
          </a:prstGeom>
          <a:noFill/>
          <a:ln/>
        </p:spPr>
        <p:txBody>
          <a:bodyPr wrap="square" lIns="0" tIns="0" rIns="0" bIns="0" rtlCol="0" anchor="ctr"/>
          <a:lstStyle/>
          <a:p>
            <a:pPr>
              <a:lnSpc>
                <a:spcPct val="110000"/>
              </a:lnSpc>
            </a:pPr>
            <a:r>
              <a:rPr lang="en-US" sz="2400" b="1" dirty="0">
                <a:solidFill>
                  <a:srgbClr val="D69E2E"/>
                </a:solidFill>
                <a:latin typeface="MiSans" pitchFamily="34" charset="0"/>
                <a:ea typeface="MiSans" pitchFamily="34" charset="-122"/>
                <a:cs typeface="MiSans" pitchFamily="34" charset="-120"/>
              </a:rPr>
              <a:t>组件功能说明</a:t>
            </a:r>
            <a:endParaRPr lang="en-US" sz="1600" dirty="0"/>
          </a:p>
        </p:txBody>
      </p:sp>
      <p:sp>
        <p:nvSpPr>
          <p:cNvPr id="8" name="Shape 6"/>
          <p:cNvSpPr/>
          <p:nvPr/>
        </p:nvSpPr>
        <p:spPr>
          <a:xfrm>
            <a:off x="8280400" y="2184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9" name="Shape 7"/>
          <p:cNvSpPr/>
          <p:nvPr/>
        </p:nvSpPr>
        <p:spPr>
          <a:xfrm>
            <a:off x="8432800" y="2336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solidFill>
          <a:ln/>
        </p:spPr>
        <p:txBody>
          <a:bodyPr/>
          <a:lstStyle/>
          <a:p>
            <a:endParaRPr lang="zh-CN" altLang="en-US"/>
          </a:p>
        </p:txBody>
      </p:sp>
      <p:sp>
        <p:nvSpPr>
          <p:cNvPr id="10" name="Text 8"/>
          <p:cNvSpPr/>
          <p:nvPr/>
        </p:nvSpPr>
        <p:spPr>
          <a:xfrm>
            <a:off x="8555236" y="2387600"/>
            <a:ext cx="1397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8839200" y="2336800"/>
            <a:ext cx="15748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ProducerConfig</a:t>
            </a:r>
            <a:endParaRPr lang="en-US" sz="1600" dirty="0"/>
          </a:p>
        </p:txBody>
      </p:sp>
      <p:sp>
        <p:nvSpPr>
          <p:cNvPr id="12" name="Text 10"/>
          <p:cNvSpPr/>
          <p:nvPr/>
        </p:nvSpPr>
        <p:spPr>
          <a:xfrm>
            <a:off x="8432800" y="2692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管理所有配置参数，如 bootstrap.servers、acks、retries 等</a:t>
            </a:r>
            <a:endParaRPr lang="en-US" sz="1600" dirty="0"/>
          </a:p>
        </p:txBody>
      </p:sp>
      <p:sp>
        <p:nvSpPr>
          <p:cNvPr id="13" name="Shape 11"/>
          <p:cNvSpPr/>
          <p:nvPr/>
        </p:nvSpPr>
        <p:spPr>
          <a:xfrm>
            <a:off x="8280400" y="3200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14" name="Shape 12"/>
          <p:cNvSpPr/>
          <p:nvPr/>
        </p:nvSpPr>
        <p:spPr>
          <a:xfrm>
            <a:off x="8432800" y="3352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solidFill>
          <a:ln/>
        </p:spPr>
        <p:txBody>
          <a:bodyPr/>
          <a:lstStyle/>
          <a:p>
            <a:endParaRPr lang="zh-CN" altLang="en-US"/>
          </a:p>
        </p:txBody>
      </p:sp>
      <p:sp>
        <p:nvSpPr>
          <p:cNvPr id="15" name="Text 13"/>
          <p:cNvSpPr/>
          <p:nvPr/>
        </p:nvSpPr>
        <p:spPr>
          <a:xfrm>
            <a:off x="8542338" y="34036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8839200" y="3352800"/>
            <a:ext cx="9525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Serializer</a:t>
            </a:r>
            <a:endParaRPr lang="en-US" sz="1600" dirty="0"/>
          </a:p>
        </p:txBody>
      </p:sp>
      <p:sp>
        <p:nvSpPr>
          <p:cNvPr id="17" name="Text 15"/>
          <p:cNvSpPr/>
          <p:nvPr/>
        </p:nvSpPr>
        <p:spPr>
          <a:xfrm>
            <a:off x="8432800" y="3708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负责将键值对序列化为字节数组，支持多种序列化格式</a:t>
            </a:r>
            <a:endParaRPr lang="en-US" sz="1600" dirty="0"/>
          </a:p>
        </p:txBody>
      </p:sp>
      <p:sp>
        <p:nvSpPr>
          <p:cNvPr id="18" name="Shape 16"/>
          <p:cNvSpPr/>
          <p:nvPr/>
        </p:nvSpPr>
        <p:spPr>
          <a:xfrm>
            <a:off x="8280400" y="4216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19" name="Shape 17"/>
          <p:cNvSpPr/>
          <p:nvPr/>
        </p:nvSpPr>
        <p:spPr>
          <a:xfrm>
            <a:off x="8432800" y="4368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solidFill>
          <a:ln/>
        </p:spPr>
        <p:txBody>
          <a:bodyPr/>
          <a:lstStyle/>
          <a:p>
            <a:endParaRPr lang="zh-CN" altLang="en-US"/>
          </a:p>
        </p:txBody>
      </p:sp>
      <p:sp>
        <p:nvSpPr>
          <p:cNvPr id="20" name="Text 18"/>
          <p:cNvSpPr/>
          <p:nvPr/>
        </p:nvSpPr>
        <p:spPr>
          <a:xfrm>
            <a:off x="8540353" y="44196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3</a:t>
            </a:r>
            <a:endParaRPr lang="en-US" sz="1600" dirty="0"/>
          </a:p>
        </p:txBody>
      </p:sp>
      <p:sp>
        <p:nvSpPr>
          <p:cNvPr id="21" name="Text 19"/>
          <p:cNvSpPr/>
          <p:nvPr/>
        </p:nvSpPr>
        <p:spPr>
          <a:xfrm>
            <a:off x="8839200" y="4368800"/>
            <a:ext cx="10795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Partitioner</a:t>
            </a:r>
            <a:endParaRPr lang="en-US" sz="1600" dirty="0"/>
          </a:p>
        </p:txBody>
      </p:sp>
      <p:sp>
        <p:nvSpPr>
          <p:cNvPr id="22" name="Text 20"/>
          <p:cNvSpPr/>
          <p:nvPr/>
        </p:nvSpPr>
        <p:spPr>
          <a:xfrm>
            <a:off x="8432800" y="4724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决定消息发送到哪个 Partition，支持自定义分区策略</a:t>
            </a:r>
            <a:endParaRPr lang="en-US" sz="1600" dirty="0"/>
          </a:p>
        </p:txBody>
      </p:sp>
      <p:sp>
        <p:nvSpPr>
          <p:cNvPr id="23" name="Shape 21"/>
          <p:cNvSpPr/>
          <p:nvPr/>
        </p:nvSpPr>
        <p:spPr>
          <a:xfrm>
            <a:off x="8280400" y="5232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24" name="Shape 22"/>
          <p:cNvSpPr/>
          <p:nvPr/>
        </p:nvSpPr>
        <p:spPr>
          <a:xfrm>
            <a:off x="8432800" y="5384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solidFill>
          <a:ln/>
        </p:spPr>
        <p:txBody>
          <a:bodyPr/>
          <a:lstStyle/>
          <a:p>
            <a:endParaRPr lang="zh-CN" altLang="en-US"/>
          </a:p>
        </p:txBody>
      </p:sp>
      <p:sp>
        <p:nvSpPr>
          <p:cNvPr id="25" name="Text 23"/>
          <p:cNvSpPr/>
          <p:nvPr/>
        </p:nvSpPr>
        <p:spPr>
          <a:xfrm>
            <a:off x="8540452" y="54356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4</a:t>
            </a:r>
            <a:endParaRPr lang="en-US" sz="1600" dirty="0"/>
          </a:p>
        </p:txBody>
      </p:sp>
      <p:sp>
        <p:nvSpPr>
          <p:cNvPr id="26" name="Text 24"/>
          <p:cNvSpPr/>
          <p:nvPr/>
        </p:nvSpPr>
        <p:spPr>
          <a:xfrm>
            <a:off x="8839200" y="5384800"/>
            <a:ext cx="9779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Metadata</a:t>
            </a:r>
            <a:endParaRPr lang="en-US" sz="1600" dirty="0"/>
          </a:p>
        </p:txBody>
      </p:sp>
      <p:sp>
        <p:nvSpPr>
          <p:cNvPr id="27" name="Text 25"/>
          <p:cNvSpPr/>
          <p:nvPr/>
        </p:nvSpPr>
        <p:spPr>
          <a:xfrm>
            <a:off x="8432800" y="5740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维护集群元数据信息，包括 Topic、Partition、Broker 等</a:t>
            </a:r>
            <a:endParaRPr lang="en-US" sz="1600" dirty="0"/>
          </a:p>
        </p:txBody>
      </p:sp>
      <p:sp>
        <p:nvSpPr>
          <p:cNvPr id="28" name="Shape 26"/>
          <p:cNvSpPr/>
          <p:nvPr/>
        </p:nvSpPr>
        <p:spPr>
          <a:xfrm>
            <a:off x="8280400" y="6248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29" name="Shape 27"/>
          <p:cNvSpPr/>
          <p:nvPr/>
        </p:nvSpPr>
        <p:spPr>
          <a:xfrm>
            <a:off x="8432800" y="6400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solidFill>
          <a:ln/>
        </p:spPr>
        <p:txBody>
          <a:bodyPr/>
          <a:lstStyle/>
          <a:p>
            <a:endParaRPr lang="zh-CN" altLang="en-US"/>
          </a:p>
        </p:txBody>
      </p:sp>
      <p:sp>
        <p:nvSpPr>
          <p:cNvPr id="30" name="Text 28"/>
          <p:cNvSpPr/>
          <p:nvPr/>
        </p:nvSpPr>
        <p:spPr>
          <a:xfrm>
            <a:off x="8539659" y="64516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5</a:t>
            </a:r>
            <a:endParaRPr lang="en-US" sz="1600" dirty="0"/>
          </a:p>
        </p:txBody>
      </p:sp>
      <p:sp>
        <p:nvSpPr>
          <p:cNvPr id="31" name="Text 29"/>
          <p:cNvSpPr/>
          <p:nvPr/>
        </p:nvSpPr>
        <p:spPr>
          <a:xfrm>
            <a:off x="8839200" y="6400800"/>
            <a:ext cx="19431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RecordAccumulator</a:t>
            </a:r>
            <a:endParaRPr lang="en-US" sz="1600" dirty="0"/>
          </a:p>
        </p:txBody>
      </p:sp>
      <p:sp>
        <p:nvSpPr>
          <p:cNvPr id="32" name="Text 30"/>
          <p:cNvSpPr/>
          <p:nvPr/>
        </p:nvSpPr>
        <p:spPr>
          <a:xfrm>
            <a:off x="8432800" y="6756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消息累加器，实现批量发送和内存管理</a:t>
            </a:r>
            <a:endParaRPr lang="en-US" sz="1600" dirty="0"/>
          </a:p>
        </p:txBody>
      </p:sp>
      <p:sp>
        <p:nvSpPr>
          <p:cNvPr id="33" name="Shape 31"/>
          <p:cNvSpPr/>
          <p:nvPr/>
        </p:nvSpPr>
        <p:spPr>
          <a:xfrm>
            <a:off x="8280400" y="7264400"/>
            <a:ext cx="7467600" cy="914400"/>
          </a:xfrm>
          <a:custGeom>
            <a:avLst/>
            <a:gdLst/>
            <a:ahLst/>
            <a:cxnLst/>
            <a:rect l="l" t="t" r="r" b="b"/>
            <a:pathLst>
              <a:path w="7467600" h="914400">
                <a:moveTo>
                  <a:pt x="101599" y="0"/>
                </a:moveTo>
                <a:lnTo>
                  <a:pt x="7366001" y="0"/>
                </a:lnTo>
                <a:cubicBezTo>
                  <a:pt x="7422113" y="0"/>
                  <a:pt x="7467600" y="45487"/>
                  <a:pt x="7467600" y="101599"/>
                </a:cubicBezTo>
                <a:lnTo>
                  <a:pt x="7467600" y="812801"/>
                </a:lnTo>
                <a:cubicBezTo>
                  <a:pt x="7467600" y="868913"/>
                  <a:pt x="7422113" y="914400"/>
                  <a:pt x="7366001" y="914400"/>
                </a:cubicBezTo>
                <a:lnTo>
                  <a:pt x="101599" y="914400"/>
                </a:lnTo>
                <a:cubicBezTo>
                  <a:pt x="45487" y="914400"/>
                  <a:pt x="0" y="868913"/>
                  <a:pt x="0" y="812801"/>
                </a:cubicBezTo>
                <a:lnTo>
                  <a:pt x="0" y="101599"/>
                </a:lnTo>
                <a:cubicBezTo>
                  <a:pt x="0" y="45525"/>
                  <a:pt x="45525" y="0"/>
                  <a:pt x="101599" y="0"/>
                </a:cubicBezTo>
                <a:close/>
              </a:path>
            </a:pathLst>
          </a:custGeom>
          <a:solidFill>
            <a:srgbClr val="4A5568">
              <a:alpha val="20000"/>
            </a:srgbClr>
          </a:solidFill>
          <a:ln/>
        </p:spPr>
        <p:txBody>
          <a:bodyPr/>
          <a:lstStyle/>
          <a:p>
            <a:endParaRPr lang="zh-CN" altLang="en-US"/>
          </a:p>
        </p:txBody>
      </p:sp>
      <p:sp>
        <p:nvSpPr>
          <p:cNvPr id="34" name="Shape 32"/>
          <p:cNvSpPr/>
          <p:nvPr/>
        </p:nvSpPr>
        <p:spPr>
          <a:xfrm>
            <a:off x="8432800" y="7416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solidFill>
          <a:ln/>
        </p:spPr>
        <p:txBody>
          <a:bodyPr/>
          <a:lstStyle/>
          <a:p>
            <a:endParaRPr lang="zh-CN" altLang="en-US"/>
          </a:p>
        </p:txBody>
      </p:sp>
      <p:sp>
        <p:nvSpPr>
          <p:cNvPr id="35" name="Text 33"/>
          <p:cNvSpPr/>
          <p:nvPr/>
        </p:nvSpPr>
        <p:spPr>
          <a:xfrm>
            <a:off x="8539361" y="74676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6</a:t>
            </a:r>
            <a:endParaRPr lang="en-US" sz="1600" dirty="0"/>
          </a:p>
        </p:txBody>
      </p:sp>
      <p:sp>
        <p:nvSpPr>
          <p:cNvPr id="36" name="Text 34"/>
          <p:cNvSpPr/>
          <p:nvPr/>
        </p:nvSpPr>
        <p:spPr>
          <a:xfrm>
            <a:off x="8839200" y="7416800"/>
            <a:ext cx="7620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Sender</a:t>
            </a:r>
            <a:endParaRPr lang="en-US" sz="1600" dirty="0"/>
          </a:p>
        </p:txBody>
      </p:sp>
      <p:sp>
        <p:nvSpPr>
          <p:cNvPr id="37" name="Text 35"/>
          <p:cNvSpPr/>
          <p:nvPr/>
        </p:nvSpPr>
        <p:spPr>
          <a:xfrm>
            <a:off x="8432800" y="7772400"/>
            <a:ext cx="7251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后台发送线程，负责与 Broker 的网络通信</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39648" y="439648"/>
            <a:ext cx="15464633" cy="263789"/>
          </a:xfrm>
          <a:prstGeom prst="rect">
            <a:avLst/>
          </a:prstGeom>
          <a:noFill/>
          <a:ln/>
        </p:spPr>
        <p:txBody>
          <a:bodyPr wrap="square" lIns="0" tIns="0" rIns="0" bIns="0" rtlCol="0" anchor="ctr"/>
          <a:lstStyle/>
          <a:p>
            <a:pPr>
              <a:lnSpc>
                <a:spcPct val="130000"/>
              </a:lnSpc>
            </a:pPr>
            <a:r>
              <a:rPr lang="en-US" sz="1385" b="1" kern="0" spc="69" dirty="0">
                <a:solidFill>
                  <a:srgbClr val="D69E2E"/>
                </a:solidFill>
                <a:latin typeface="MiSans" pitchFamily="34" charset="0"/>
                <a:ea typeface="MiSans" pitchFamily="34" charset="-122"/>
                <a:cs typeface="MiSans" pitchFamily="34" charset="-120"/>
              </a:rPr>
              <a:t>2.1.3 分区策略</a:t>
            </a:r>
            <a:endParaRPr lang="en-US" sz="1600" dirty="0"/>
          </a:p>
        </p:txBody>
      </p:sp>
      <p:sp>
        <p:nvSpPr>
          <p:cNvPr id="3" name="Text 1"/>
          <p:cNvSpPr/>
          <p:nvPr/>
        </p:nvSpPr>
        <p:spPr>
          <a:xfrm>
            <a:off x="439648" y="791367"/>
            <a:ext cx="15574545" cy="439648"/>
          </a:xfrm>
          <a:prstGeom prst="rect">
            <a:avLst/>
          </a:prstGeom>
          <a:noFill/>
          <a:ln/>
        </p:spPr>
        <p:txBody>
          <a:bodyPr wrap="square" lIns="0" tIns="0" rIns="0" bIns="0" rtlCol="0" anchor="ctr"/>
          <a:lstStyle/>
          <a:p>
            <a:pPr>
              <a:lnSpc>
                <a:spcPct val="90000"/>
              </a:lnSpc>
            </a:pPr>
            <a:r>
              <a:rPr lang="en-US" sz="3116" b="1" dirty="0">
                <a:solidFill>
                  <a:srgbClr val="E2E8F0"/>
                </a:solidFill>
                <a:latin typeface="MiSans" pitchFamily="34" charset="0"/>
                <a:ea typeface="MiSans" pitchFamily="34" charset="-122"/>
                <a:cs typeface="MiSans" pitchFamily="34" charset="-120"/>
              </a:rPr>
              <a:t>分区选择策略与实现</a:t>
            </a:r>
            <a:endParaRPr lang="en-US" sz="1600" dirty="0"/>
          </a:p>
        </p:txBody>
      </p:sp>
      <p:sp>
        <p:nvSpPr>
          <p:cNvPr id="4" name="Shape 2"/>
          <p:cNvSpPr/>
          <p:nvPr/>
        </p:nvSpPr>
        <p:spPr>
          <a:xfrm>
            <a:off x="461631" y="1406875"/>
            <a:ext cx="7539970" cy="4528379"/>
          </a:xfrm>
          <a:custGeom>
            <a:avLst/>
            <a:gdLst/>
            <a:ahLst/>
            <a:cxnLst/>
            <a:rect l="l" t="t" r="r" b="b"/>
            <a:pathLst>
              <a:path w="7539970" h="4528379">
                <a:moveTo>
                  <a:pt x="43965" y="0"/>
                </a:moveTo>
                <a:lnTo>
                  <a:pt x="7452029" y="0"/>
                </a:lnTo>
                <a:cubicBezTo>
                  <a:pt x="7500598" y="0"/>
                  <a:pt x="7539970" y="39373"/>
                  <a:pt x="7539970" y="87941"/>
                </a:cubicBezTo>
                <a:lnTo>
                  <a:pt x="7539970" y="4440438"/>
                </a:lnTo>
                <a:cubicBezTo>
                  <a:pt x="7539970" y="4489006"/>
                  <a:pt x="7500598" y="4528379"/>
                  <a:pt x="7452029" y="4528379"/>
                </a:cubicBezTo>
                <a:lnTo>
                  <a:pt x="43965" y="4528379"/>
                </a:lnTo>
                <a:cubicBezTo>
                  <a:pt x="19684" y="4528379"/>
                  <a:pt x="0" y="4508695"/>
                  <a:pt x="0" y="4484414"/>
                </a:cubicBezTo>
                <a:lnTo>
                  <a:pt x="0" y="43965"/>
                </a:lnTo>
                <a:cubicBezTo>
                  <a:pt x="0" y="19684"/>
                  <a:pt x="19684" y="0"/>
                  <a:pt x="43965" y="0"/>
                </a:cubicBezTo>
                <a:close/>
              </a:path>
            </a:pathLst>
          </a:custGeom>
          <a:solidFill>
            <a:srgbClr val="4A5568">
              <a:alpha val="20000"/>
            </a:srgbClr>
          </a:solidFill>
          <a:ln/>
        </p:spPr>
        <p:txBody>
          <a:bodyPr/>
          <a:lstStyle/>
          <a:p>
            <a:endParaRPr lang="zh-CN" altLang="en-US"/>
          </a:p>
        </p:txBody>
      </p:sp>
      <p:sp>
        <p:nvSpPr>
          <p:cNvPr id="5" name="Shape 3"/>
          <p:cNvSpPr/>
          <p:nvPr/>
        </p:nvSpPr>
        <p:spPr>
          <a:xfrm>
            <a:off x="461631" y="1406875"/>
            <a:ext cx="43965" cy="4528379"/>
          </a:xfrm>
          <a:custGeom>
            <a:avLst/>
            <a:gdLst/>
            <a:ahLst/>
            <a:cxnLst/>
            <a:rect l="l" t="t" r="r" b="b"/>
            <a:pathLst>
              <a:path w="43965" h="4528379">
                <a:moveTo>
                  <a:pt x="43965" y="0"/>
                </a:moveTo>
                <a:lnTo>
                  <a:pt x="43965" y="0"/>
                </a:lnTo>
                <a:lnTo>
                  <a:pt x="43965" y="4528379"/>
                </a:lnTo>
                <a:lnTo>
                  <a:pt x="43965" y="4528379"/>
                </a:lnTo>
                <a:cubicBezTo>
                  <a:pt x="19684" y="4528379"/>
                  <a:pt x="0" y="4508695"/>
                  <a:pt x="0" y="4484414"/>
                </a:cubicBezTo>
                <a:lnTo>
                  <a:pt x="0" y="43965"/>
                </a:lnTo>
                <a:cubicBezTo>
                  <a:pt x="0" y="19684"/>
                  <a:pt x="19684" y="0"/>
                  <a:pt x="43965" y="0"/>
                </a:cubicBezTo>
                <a:close/>
              </a:path>
            </a:pathLst>
          </a:custGeom>
          <a:solidFill>
            <a:srgbClr val="D69E2E"/>
          </a:solidFill>
          <a:ln/>
        </p:spPr>
        <p:txBody>
          <a:bodyPr/>
          <a:lstStyle/>
          <a:p>
            <a:endParaRPr lang="zh-CN" altLang="en-US"/>
          </a:p>
        </p:txBody>
      </p:sp>
      <p:sp>
        <p:nvSpPr>
          <p:cNvPr id="6" name="Text 4"/>
          <p:cNvSpPr/>
          <p:nvPr/>
        </p:nvSpPr>
        <p:spPr>
          <a:xfrm>
            <a:off x="659473" y="1582734"/>
            <a:ext cx="7276181" cy="307754"/>
          </a:xfrm>
          <a:prstGeom prst="rect">
            <a:avLst/>
          </a:prstGeom>
          <a:noFill/>
          <a:ln/>
        </p:spPr>
        <p:txBody>
          <a:bodyPr wrap="square" lIns="0" tIns="0" rIns="0" bIns="0" rtlCol="0" anchor="ctr"/>
          <a:lstStyle/>
          <a:p>
            <a:pPr>
              <a:lnSpc>
                <a:spcPct val="120000"/>
              </a:lnSpc>
            </a:pPr>
            <a:r>
              <a:rPr lang="en-US" sz="1731" b="1" dirty="0">
                <a:solidFill>
                  <a:srgbClr val="D69E2E"/>
                </a:solidFill>
                <a:latin typeface="MiSans" pitchFamily="34" charset="0"/>
                <a:ea typeface="MiSans" pitchFamily="34" charset="-122"/>
                <a:cs typeface="MiSans" pitchFamily="34" charset="-120"/>
              </a:rPr>
              <a:t>默认分区器 (DefaultPartitioner)</a:t>
            </a:r>
            <a:endParaRPr lang="en-US" sz="1600" dirty="0"/>
          </a:p>
        </p:txBody>
      </p:sp>
      <p:sp>
        <p:nvSpPr>
          <p:cNvPr id="7" name="Shape 5"/>
          <p:cNvSpPr/>
          <p:nvPr/>
        </p:nvSpPr>
        <p:spPr>
          <a:xfrm>
            <a:off x="659473" y="2022383"/>
            <a:ext cx="7166269" cy="3077539"/>
          </a:xfrm>
          <a:custGeom>
            <a:avLst/>
            <a:gdLst/>
            <a:ahLst/>
            <a:cxnLst/>
            <a:rect l="l" t="t" r="r" b="b"/>
            <a:pathLst>
              <a:path w="7166269" h="3077539">
                <a:moveTo>
                  <a:pt x="43978" y="0"/>
                </a:moveTo>
                <a:lnTo>
                  <a:pt x="7122291" y="0"/>
                </a:lnTo>
                <a:cubicBezTo>
                  <a:pt x="7146579" y="0"/>
                  <a:pt x="7166269" y="19690"/>
                  <a:pt x="7166269" y="43978"/>
                </a:cubicBezTo>
                <a:lnTo>
                  <a:pt x="7166269" y="3033561"/>
                </a:lnTo>
                <a:cubicBezTo>
                  <a:pt x="7166269" y="3057849"/>
                  <a:pt x="7146579" y="3077539"/>
                  <a:pt x="7122291" y="3077539"/>
                </a:cubicBezTo>
                <a:lnTo>
                  <a:pt x="43978" y="3077539"/>
                </a:lnTo>
                <a:cubicBezTo>
                  <a:pt x="19690" y="3077539"/>
                  <a:pt x="0" y="3057849"/>
                  <a:pt x="0" y="3033561"/>
                </a:cubicBezTo>
                <a:lnTo>
                  <a:pt x="0" y="43978"/>
                </a:lnTo>
                <a:cubicBezTo>
                  <a:pt x="0" y="19690"/>
                  <a:pt x="19690" y="0"/>
                  <a:pt x="43978" y="0"/>
                </a:cubicBezTo>
                <a:close/>
              </a:path>
            </a:pathLst>
          </a:custGeom>
          <a:solidFill>
            <a:srgbClr val="1A1D21">
              <a:alpha val="60000"/>
            </a:srgbClr>
          </a:solidFill>
          <a:ln/>
        </p:spPr>
        <p:txBody>
          <a:bodyPr/>
          <a:lstStyle/>
          <a:p>
            <a:endParaRPr lang="zh-CN" altLang="en-US"/>
          </a:p>
        </p:txBody>
      </p:sp>
      <p:sp>
        <p:nvSpPr>
          <p:cNvPr id="8" name="Text 6"/>
          <p:cNvSpPr/>
          <p:nvPr/>
        </p:nvSpPr>
        <p:spPr>
          <a:xfrm>
            <a:off x="791367" y="2154277"/>
            <a:ext cx="6968427" cy="2813750"/>
          </a:xfrm>
          <a:prstGeom prst="rect">
            <a:avLst/>
          </a:prstGeom>
          <a:noFill/>
          <a:ln/>
        </p:spPr>
        <p:txBody>
          <a:bodyPr wrap="square" lIns="0" tIns="0" rIns="0" bIns="0" rtlCol="0" anchor="ctr"/>
          <a:lstStyle/>
          <a:p>
            <a:r>
              <a:rPr lang="en-US" altLang="zh-CN" sz="1200" dirty="0">
                <a:solidFill>
                  <a:schemeClr val="bg1"/>
                </a:solidFill>
              </a:rPr>
              <a:t>public int partition(String topic, Object key, byte[] </a:t>
            </a:r>
            <a:r>
              <a:rPr lang="en-US" altLang="zh-CN" sz="1200" dirty="0" err="1">
                <a:solidFill>
                  <a:schemeClr val="bg1"/>
                </a:solidFill>
              </a:rPr>
              <a:t>keyBytes</a:t>
            </a:r>
            <a:r>
              <a:rPr lang="en-US" altLang="zh-CN" sz="1200" dirty="0">
                <a:solidFill>
                  <a:schemeClr val="bg1"/>
                </a:solidFill>
              </a:rPr>
              <a:t>,</a:t>
            </a:r>
          </a:p>
          <a:p>
            <a:r>
              <a:rPr lang="en-US" altLang="zh-CN" sz="1200" dirty="0">
                <a:solidFill>
                  <a:schemeClr val="bg1"/>
                </a:solidFill>
              </a:rPr>
              <a:t>                    Object value, byte[] </a:t>
            </a:r>
            <a:r>
              <a:rPr lang="en-US" altLang="zh-CN" sz="1200" dirty="0" err="1">
                <a:solidFill>
                  <a:schemeClr val="bg1"/>
                </a:solidFill>
              </a:rPr>
              <a:t>valueBytes</a:t>
            </a:r>
            <a:r>
              <a:rPr lang="en-US" altLang="zh-CN" sz="1200" dirty="0">
                <a:solidFill>
                  <a:schemeClr val="bg1"/>
                </a:solidFill>
              </a:rPr>
              <a:t>, Cluster cluster) {</a:t>
            </a:r>
          </a:p>
          <a:p>
            <a:endParaRPr lang="en-US" altLang="zh-CN" sz="1200" dirty="0">
              <a:solidFill>
                <a:schemeClr val="bg1"/>
              </a:solidFill>
            </a:endParaRPr>
          </a:p>
          <a:p>
            <a:r>
              <a:rPr lang="en-US" altLang="zh-CN" sz="1200" dirty="0">
                <a:solidFill>
                  <a:schemeClr val="bg1"/>
                </a:solidFill>
              </a:rPr>
              <a:t>    List&lt;</a:t>
            </a:r>
            <a:r>
              <a:rPr lang="en-US" altLang="zh-CN" sz="1200" dirty="0" err="1">
                <a:solidFill>
                  <a:schemeClr val="bg1"/>
                </a:solidFill>
              </a:rPr>
              <a:t>PartitionInfo</a:t>
            </a:r>
            <a:r>
              <a:rPr lang="en-US" altLang="zh-CN" sz="1200" dirty="0">
                <a:solidFill>
                  <a:schemeClr val="bg1"/>
                </a:solidFill>
              </a:rPr>
              <a:t>&gt; partitions = </a:t>
            </a:r>
            <a:r>
              <a:rPr lang="en-US" altLang="zh-CN" sz="1200" dirty="0" err="1">
                <a:solidFill>
                  <a:schemeClr val="bg1"/>
                </a:solidFill>
              </a:rPr>
              <a:t>cluster.partitionsForTopic</a:t>
            </a:r>
            <a:r>
              <a:rPr lang="en-US" altLang="zh-CN" sz="1200" dirty="0">
                <a:solidFill>
                  <a:schemeClr val="bg1"/>
                </a:solidFill>
              </a:rPr>
              <a:t>(topic);</a:t>
            </a:r>
          </a:p>
          <a:p>
            <a:r>
              <a:rPr lang="en-US" altLang="zh-CN" sz="1200" dirty="0">
                <a:solidFill>
                  <a:schemeClr val="bg1"/>
                </a:solidFill>
              </a:rPr>
              <a:t>    int </a:t>
            </a:r>
            <a:r>
              <a:rPr lang="en-US" altLang="zh-CN" sz="1200" dirty="0" err="1">
                <a:solidFill>
                  <a:schemeClr val="bg1"/>
                </a:solidFill>
              </a:rPr>
              <a:t>numPartitions</a:t>
            </a:r>
            <a:r>
              <a:rPr lang="en-US" altLang="zh-CN" sz="1200" dirty="0">
                <a:solidFill>
                  <a:schemeClr val="bg1"/>
                </a:solidFill>
              </a:rPr>
              <a:t> = </a:t>
            </a:r>
            <a:r>
              <a:rPr lang="en-US" altLang="zh-CN" sz="1200" dirty="0" err="1">
                <a:solidFill>
                  <a:schemeClr val="bg1"/>
                </a:solidFill>
              </a:rPr>
              <a:t>partitions.size</a:t>
            </a:r>
            <a:r>
              <a:rPr lang="en-US" altLang="zh-CN" sz="1200" dirty="0">
                <a:solidFill>
                  <a:schemeClr val="bg1"/>
                </a:solidFill>
              </a:rPr>
              <a:t>();</a:t>
            </a:r>
          </a:p>
          <a:p>
            <a:endParaRPr lang="en-US" altLang="zh-CN" sz="1200" dirty="0">
              <a:solidFill>
                <a:schemeClr val="bg1"/>
              </a:solidFill>
            </a:endParaRPr>
          </a:p>
          <a:p>
            <a:r>
              <a:rPr lang="en-US" altLang="zh-CN" sz="1200" dirty="0">
                <a:solidFill>
                  <a:schemeClr val="bg1"/>
                </a:solidFill>
              </a:rPr>
              <a:t>    if (</a:t>
            </a:r>
            <a:r>
              <a:rPr lang="en-US" altLang="zh-CN" sz="1200" dirty="0" err="1">
                <a:solidFill>
                  <a:schemeClr val="bg1"/>
                </a:solidFill>
              </a:rPr>
              <a:t>keyBytes</a:t>
            </a:r>
            <a:r>
              <a:rPr lang="en-US" altLang="zh-CN" sz="1200" dirty="0">
                <a:solidFill>
                  <a:schemeClr val="bg1"/>
                </a:solidFill>
              </a:rPr>
              <a:t> == null) {</a:t>
            </a: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无 </a:t>
            </a:r>
            <a:r>
              <a:rPr lang="en-US" altLang="zh-CN" sz="1200" i="1" dirty="0">
                <a:solidFill>
                  <a:srgbClr val="00B050"/>
                </a:solidFill>
              </a:rPr>
              <a:t>key</a:t>
            </a:r>
            <a:r>
              <a:rPr lang="zh-CN" altLang="en-US" sz="1200" i="1" dirty="0">
                <a:solidFill>
                  <a:srgbClr val="00B050"/>
                </a:solidFill>
              </a:rPr>
              <a:t>：使用粘性分区策略（</a:t>
            </a:r>
            <a:r>
              <a:rPr lang="en-US" altLang="zh-CN" sz="1200" i="1" dirty="0">
                <a:solidFill>
                  <a:srgbClr val="00B050"/>
                </a:solidFill>
              </a:rPr>
              <a:t>Kafka 2.4+</a:t>
            </a:r>
            <a:r>
              <a:rPr lang="zh-CN" altLang="en-US" sz="1200" i="1" dirty="0">
                <a:solidFill>
                  <a:srgbClr val="00B050"/>
                </a:solidFill>
              </a:rPr>
              <a:t>）</a:t>
            </a:r>
            <a:endParaRPr lang="en-US" altLang="zh-CN" sz="1200" dirty="0">
              <a:solidFill>
                <a:srgbClr val="00B050"/>
              </a:solidFill>
            </a:endParaRP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在批量内保持相同分区，提高批量处理效率</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return </a:t>
            </a:r>
            <a:r>
              <a:rPr lang="en-US" altLang="zh-CN" sz="1200" dirty="0" err="1">
                <a:solidFill>
                  <a:schemeClr val="bg1"/>
                </a:solidFill>
              </a:rPr>
              <a:t>stickyPartition</a:t>
            </a:r>
            <a:r>
              <a:rPr lang="en-US" altLang="zh-CN" sz="1200" dirty="0">
                <a:solidFill>
                  <a:schemeClr val="bg1"/>
                </a:solidFill>
              </a:rPr>
              <a:t>(topic, </a:t>
            </a:r>
            <a:r>
              <a:rPr lang="en-US" altLang="zh-CN" sz="1200" dirty="0" err="1">
                <a:solidFill>
                  <a:schemeClr val="bg1"/>
                </a:solidFill>
              </a:rPr>
              <a:t>numPartitions</a:t>
            </a:r>
            <a:r>
              <a:rPr lang="en-US" altLang="zh-CN" sz="1200" dirty="0">
                <a:solidFill>
                  <a:schemeClr val="bg1"/>
                </a:solidFill>
              </a:rPr>
              <a:t>);</a:t>
            </a:r>
          </a:p>
          <a:p>
            <a:r>
              <a:rPr lang="en-US" altLang="zh-CN" sz="1200" dirty="0">
                <a:solidFill>
                  <a:schemeClr val="bg1"/>
                </a:solidFill>
              </a:rPr>
              <a:t>    } else {</a:t>
            </a:r>
          </a:p>
          <a:p>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有 </a:t>
            </a:r>
            <a:r>
              <a:rPr lang="en-US" altLang="zh-CN" sz="1200" i="1" dirty="0">
                <a:solidFill>
                  <a:srgbClr val="00B050"/>
                </a:solidFill>
              </a:rPr>
              <a:t>key</a:t>
            </a:r>
            <a:r>
              <a:rPr lang="zh-CN" altLang="en-US" sz="1200" i="1" dirty="0">
                <a:solidFill>
                  <a:srgbClr val="00B050"/>
                </a:solidFill>
              </a:rPr>
              <a:t>：使用哈希策略确保相同 </a:t>
            </a:r>
            <a:r>
              <a:rPr lang="en-US" altLang="zh-CN" sz="1200" i="1" dirty="0">
                <a:solidFill>
                  <a:srgbClr val="00B050"/>
                </a:solidFill>
              </a:rPr>
              <a:t>key </a:t>
            </a:r>
            <a:r>
              <a:rPr lang="zh-CN" altLang="en-US" sz="1200" i="1" dirty="0">
                <a:solidFill>
                  <a:srgbClr val="00B050"/>
                </a:solidFill>
              </a:rPr>
              <a:t>到同一分区</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return </a:t>
            </a:r>
            <a:r>
              <a:rPr lang="en-US" altLang="zh-CN" sz="1200" dirty="0" err="1">
                <a:solidFill>
                  <a:schemeClr val="bg1"/>
                </a:solidFill>
              </a:rPr>
              <a:t>Utils.toPositive</a:t>
            </a:r>
            <a:r>
              <a:rPr lang="en-US" altLang="zh-CN" sz="1200" dirty="0">
                <a:solidFill>
                  <a:schemeClr val="bg1"/>
                </a:solidFill>
              </a:rPr>
              <a:t>(Utils.murmur2(</a:t>
            </a:r>
            <a:r>
              <a:rPr lang="en-US" altLang="zh-CN" sz="1200" dirty="0" err="1">
                <a:solidFill>
                  <a:schemeClr val="bg1"/>
                </a:solidFill>
              </a:rPr>
              <a:t>keyBytes</a:t>
            </a:r>
            <a:r>
              <a:rPr lang="en-US" altLang="zh-CN" sz="1200" dirty="0">
                <a:solidFill>
                  <a:schemeClr val="bg1"/>
                </a:solidFill>
              </a:rPr>
              <a:t>)) % </a:t>
            </a:r>
            <a:r>
              <a:rPr lang="en-US" altLang="zh-CN" sz="1200" dirty="0" err="1">
                <a:solidFill>
                  <a:schemeClr val="bg1"/>
                </a:solidFill>
              </a:rPr>
              <a:t>numPartitions</a:t>
            </a:r>
            <a:r>
              <a:rPr lang="en-US" altLang="zh-CN" sz="1200" dirty="0">
                <a:solidFill>
                  <a:schemeClr val="bg1"/>
                </a:solidFill>
              </a:rPr>
              <a:t>;</a:t>
            </a:r>
          </a:p>
          <a:p>
            <a:r>
              <a:rPr lang="en-US" altLang="zh-CN" sz="1200" dirty="0">
                <a:solidFill>
                  <a:schemeClr val="bg1"/>
                </a:solidFill>
              </a:rPr>
              <a:t>    }</a:t>
            </a:r>
          </a:p>
          <a:p>
            <a:r>
              <a:rPr lang="en-US" altLang="zh-CN" sz="1200" dirty="0">
                <a:solidFill>
                  <a:schemeClr val="bg1"/>
                </a:solidFill>
              </a:rPr>
              <a:t>}</a:t>
            </a:r>
          </a:p>
          <a:p>
            <a:pPr>
              <a:lnSpc>
                <a:spcPct val="110000"/>
              </a:lnSpc>
            </a:pPr>
            <a:endParaRPr lang="en-US" sz="1200" dirty="0">
              <a:solidFill>
                <a:schemeClr val="bg1"/>
              </a:solidFill>
            </a:endParaRPr>
          </a:p>
        </p:txBody>
      </p:sp>
      <p:sp>
        <p:nvSpPr>
          <p:cNvPr id="9" name="Shape 7"/>
          <p:cNvSpPr/>
          <p:nvPr/>
        </p:nvSpPr>
        <p:spPr>
          <a:xfrm>
            <a:off x="681455" y="5275781"/>
            <a:ext cx="153877" cy="153877"/>
          </a:xfrm>
          <a:custGeom>
            <a:avLst/>
            <a:gdLst/>
            <a:ahLst/>
            <a:cxnLst/>
            <a:rect l="l" t="t" r="r" b="b"/>
            <a:pathLst>
              <a:path w="153877" h="153877">
                <a:moveTo>
                  <a:pt x="151052" y="83731"/>
                </a:moveTo>
                <a:cubicBezTo>
                  <a:pt x="154809" y="79974"/>
                  <a:pt x="154809" y="73873"/>
                  <a:pt x="151052" y="70116"/>
                </a:cubicBezTo>
                <a:lnTo>
                  <a:pt x="102965" y="22030"/>
                </a:lnTo>
                <a:cubicBezTo>
                  <a:pt x="99209" y="18273"/>
                  <a:pt x="93108" y="18273"/>
                  <a:pt x="89351" y="22030"/>
                </a:cubicBezTo>
                <a:cubicBezTo>
                  <a:pt x="85594" y="25786"/>
                  <a:pt x="85594" y="31887"/>
                  <a:pt x="89351" y="35644"/>
                </a:cubicBezTo>
                <a:lnTo>
                  <a:pt x="121028" y="67321"/>
                </a:lnTo>
                <a:lnTo>
                  <a:pt x="9617" y="67321"/>
                </a:lnTo>
                <a:cubicBezTo>
                  <a:pt x="4298" y="67321"/>
                  <a:pt x="0" y="71619"/>
                  <a:pt x="0" y="76938"/>
                </a:cubicBezTo>
                <a:cubicBezTo>
                  <a:pt x="0" y="82258"/>
                  <a:pt x="4298" y="86556"/>
                  <a:pt x="9617" y="86556"/>
                </a:cubicBezTo>
                <a:lnTo>
                  <a:pt x="121028" y="86556"/>
                </a:lnTo>
                <a:lnTo>
                  <a:pt x="89351" y="118233"/>
                </a:lnTo>
                <a:cubicBezTo>
                  <a:pt x="85594" y="121990"/>
                  <a:pt x="85594" y="128091"/>
                  <a:pt x="89351" y="131847"/>
                </a:cubicBezTo>
                <a:cubicBezTo>
                  <a:pt x="93108" y="135604"/>
                  <a:pt x="99209" y="135604"/>
                  <a:pt x="102965" y="131847"/>
                </a:cubicBezTo>
                <a:lnTo>
                  <a:pt x="151052" y="83761"/>
                </a:lnTo>
                <a:close/>
              </a:path>
            </a:pathLst>
          </a:custGeom>
          <a:solidFill>
            <a:srgbClr val="D69E2E"/>
          </a:solidFill>
          <a:ln/>
        </p:spPr>
        <p:txBody>
          <a:bodyPr/>
          <a:lstStyle/>
          <a:p>
            <a:endParaRPr lang="zh-CN" altLang="en-US"/>
          </a:p>
        </p:txBody>
      </p:sp>
      <p:sp>
        <p:nvSpPr>
          <p:cNvPr id="10" name="Text 8"/>
          <p:cNvSpPr/>
          <p:nvPr/>
        </p:nvSpPr>
        <p:spPr>
          <a:xfrm>
            <a:off x="939748" y="5231816"/>
            <a:ext cx="4231616" cy="219824"/>
          </a:xfrm>
          <a:prstGeom prst="rect">
            <a:avLst/>
          </a:prstGeom>
          <a:noFill/>
          <a:ln/>
        </p:spPr>
        <p:txBody>
          <a:bodyPr wrap="square" lIns="0" tIns="0" rIns="0" bIns="0" rtlCol="0" anchor="ctr"/>
          <a:lstStyle/>
          <a:p>
            <a:pPr>
              <a:lnSpc>
                <a:spcPct val="120000"/>
              </a:lnSpc>
            </a:pPr>
            <a:r>
              <a:rPr lang="en-US" sz="1212" b="1" dirty="0">
                <a:solidFill>
                  <a:srgbClr val="D69E2E"/>
                </a:solidFill>
                <a:latin typeface="MiSans" pitchFamily="34" charset="0"/>
                <a:ea typeface="MiSans" pitchFamily="34" charset="-122"/>
                <a:cs typeface="MiSans" pitchFamily="34" charset="-120"/>
              </a:rPr>
              <a:t>有 key：</a:t>
            </a:r>
            <a:r>
              <a:rPr lang="en-US" sz="1212" dirty="0">
                <a:solidFill>
                  <a:srgbClr val="E2E8F0">
                    <a:alpha val="80000"/>
                  </a:srgbClr>
                </a:solidFill>
                <a:latin typeface="MiSans" pitchFamily="34" charset="0"/>
                <a:ea typeface="MiSans" pitchFamily="34" charset="-122"/>
                <a:cs typeface="MiSans" pitchFamily="34" charset="-120"/>
              </a:rPr>
              <a:t>使用哈希策略确保相同 key 到同一分区，保证顺序性</a:t>
            </a:r>
            <a:endParaRPr lang="en-US" sz="1600" dirty="0"/>
          </a:p>
        </p:txBody>
      </p:sp>
      <p:sp>
        <p:nvSpPr>
          <p:cNvPr id="11" name="Shape 9"/>
          <p:cNvSpPr/>
          <p:nvPr/>
        </p:nvSpPr>
        <p:spPr>
          <a:xfrm>
            <a:off x="681455" y="5583535"/>
            <a:ext cx="153877" cy="153877"/>
          </a:xfrm>
          <a:custGeom>
            <a:avLst/>
            <a:gdLst/>
            <a:ahLst/>
            <a:cxnLst/>
            <a:rect l="l" t="t" r="r" b="b"/>
            <a:pathLst>
              <a:path w="153877" h="153877">
                <a:moveTo>
                  <a:pt x="151052" y="83731"/>
                </a:moveTo>
                <a:cubicBezTo>
                  <a:pt x="154809" y="79974"/>
                  <a:pt x="154809" y="73873"/>
                  <a:pt x="151052" y="70116"/>
                </a:cubicBezTo>
                <a:lnTo>
                  <a:pt x="102965" y="22030"/>
                </a:lnTo>
                <a:cubicBezTo>
                  <a:pt x="99209" y="18273"/>
                  <a:pt x="93108" y="18273"/>
                  <a:pt x="89351" y="22030"/>
                </a:cubicBezTo>
                <a:cubicBezTo>
                  <a:pt x="85594" y="25786"/>
                  <a:pt x="85594" y="31887"/>
                  <a:pt x="89351" y="35644"/>
                </a:cubicBezTo>
                <a:lnTo>
                  <a:pt x="121028" y="67321"/>
                </a:lnTo>
                <a:lnTo>
                  <a:pt x="9617" y="67321"/>
                </a:lnTo>
                <a:cubicBezTo>
                  <a:pt x="4298" y="67321"/>
                  <a:pt x="0" y="71619"/>
                  <a:pt x="0" y="76938"/>
                </a:cubicBezTo>
                <a:cubicBezTo>
                  <a:pt x="0" y="82258"/>
                  <a:pt x="4298" y="86556"/>
                  <a:pt x="9617" y="86556"/>
                </a:cubicBezTo>
                <a:lnTo>
                  <a:pt x="121028" y="86556"/>
                </a:lnTo>
                <a:lnTo>
                  <a:pt x="89351" y="118233"/>
                </a:lnTo>
                <a:cubicBezTo>
                  <a:pt x="85594" y="121990"/>
                  <a:pt x="85594" y="128091"/>
                  <a:pt x="89351" y="131847"/>
                </a:cubicBezTo>
                <a:cubicBezTo>
                  <a:pt x="93108" y="135604"/>
                  <a:pt x="99209" y="135604"/>
                  <a:pt x="102965" y="131847"/>
                </a:cubicBezTo>
                <a:lnTo>
                  <a:pt x="151052" y="83761"/>
                </a:lnTo>
                <a:close/>
              </a:path>
            </a:pathLst>
          </a:custGeom>
          <a:solidFill>
            <a:srgbClr val="D69E2E"/>
          </a:solidFill>
          <a:ln/>
        </p:spPr>
        <p:txBody>
          <a:bodyPr/>
          <a:lstStyle/>
          <a:p>
            <a:endParaRPr lang="zh-CN" altLang="en-US"/>
          </a:p>
        </p:txBody>
      </p:sp>
      <p:sp>
        <p:nvSpPr>
          <p:cNvPr id="12" name="Text 10"/>
          <p:cNvSpPr/>
          <p:nvPr/>
        </p:nvSpPr>
        <p:spPr>
          <a:xfrm>
            <a:off x="939748" y="5539570"/>
            <a:ext cx="5814350" cy="219824"/>
          </a:xfrm>
          <a:prstGeom prst="rect">
            <a:avLst/>
          </a:prstGeom>
          <a:noFill/>
          <a:ln/>
        </p:spPr>
        <p:txBody>
          <a:bodyPr wrap="square" lIns="0" tIns="0" rIns="0" bIns="0" rtlCol="0" anchor="ctr"/>
          <a:lstStyle/>
          <a:p>
            <a:pPr>
              <a:lnSpc>
                <a:spcPct val="120000"/>
              </a:lnSpc>
            </a:pPr>
            <a:r>
              <a:rPr lang="en-US" sz="1212" b="1" dirty="0">
                <a:solidFill>
                  <a:srgbClr val="D69E2E"/>
                </a:solidFill>
                <a:latin typeface="MiSans" pitchFamily="34" charset="0"/>
                <a:ea typeface="MiSans" pitchFamily="34" charset="-122"/>
                <a:cs typeface="MiSans" pitchFamily="34" charset="-120"/>
              </a:rPr>
              <a:t>无 key：</a:t>
            </a:r>
            <a:r>
              <a:rPr lang="en-US" sz="1212" dirty="0">
                <a:solidFill>
                  <a:srgbClr val="E2E8F0">
                    <a:alpha val="80000"/>
                  </a:srgbClr>
                </a:solidFill>
                <a:latin typeface="MiSans" pitchFamily="34" charset="0"/>
                <a:ea typeface="MiSans" pitchFamily="34" charset="-122"/>
                <a:cs typeface="MiSans" pitchFamily="34" charset="-120"/>
              </a:rPr>
              <a:t>使用粘性分区策略(Kafka 2.4+)，在批量内保持相同分区，提高批量处理效率</a:t>
            </a:r>
            <a:endParaRPr lang="en-US" sz="1600" dirty="0"/>
          </a:p>
        </p:txBody>
      </p:sp>
      <p:sp>
        <p:nvSpPr>
          <p:cNvPr id="13" name="Shape 11"/>
          <p:cNvSpPr/>
          <p:nvPr/>
        </p:nvSpPr>
        <p:spPr>
          <a:xfrm>
            <a:off x="461631" y="6067148"/>
            <a:ext cx="7539970" cy="2637890"/>
          </a:xfrm>
          <a:custGeom>
            <a:avLst/>
            <a:gdLst/>
            <a:ahLst/>
            <a:cxnLst/>
            <a:rect l="l" t="t" r="r" b="b"/>
            <a:pathLst>
              <a:path w="7539970" h="2637890">
                <a:moveTo>
                  <a:pt x="43965" y="0"/>
                </a:moveTo>
                <a:lnTo>
                  <a:pt x="7452049" y="0"/>
                </a:lnTo>
                <a:cubicBezTo>
                  <a:pt x="7500607" y="0"/>
                  <a:pt x="7539970" y="39364"/>
                  <a:pt x="7539970" y="87921"/>
                </a:cubicBezTo>
                <a:lnTo>
                  <a:pt x="7539970" y="2549970"/>
                </a:lnTo>
                <a:cubicBezTo>
                  <a:pt x="7539970" y="2598527"/>
                  <a:pt x="7500607" y="2637890"/>
                  <a:pt x="7452049" y="2637890"/>
                </a:cubicBezTo>
                <a:lnTo>
                  <a:pt x="43965" y="2637890"/>
                </a:lnTo>
                <a:cubicBezTo>
                  <a:pt x="19684" y="2637890"/>
                  <a:pt x="0" y="2618207"/>
                  <a:pt x="0" y="2593926"/>
                </a:cubicBezTo>
                <a:lnTo>
                  <a:pt x="0" y="43965"/>
                </a:lnTo>
                <a:cubicBezTo>
                  <a:pt x="0" y="19684"/>
                  <a:pt x="19684" y="0"/>
                  <a:pt x="43965" y="0"/>
                </a:cubicBezTo>
                <a:close/>
              </a:path>
            </a:pathLst>
          </a:custGeom>
          <a:solidFill>
            <a:srgbClr val="4A5568">
              <a:alpha val="20000"/>
            </a:srgbClr>
          </a:solidFill>
          <a:ln/>
        </p:spPr>
        <p:txBody>
          <a:bodyPr/>
          <a:lstStyle/>
          <a:p>
            <a:endParaRPr lang="zh-CN" altLang="en-US"/>
          </a:p>
        </p:txBody>
      </p:sp>
      <p:sp>
        <p:nvSpPr>
          <p:cNvPr id="14" name="Shape 12"/>
          <p:cNvSpPr/>
          <p:nvPr/>
        </p:nvSpPr>
        <p:spPr>
          <a:xfrm>
            <a:off x="461631" y="6067148"/>
            <a:ext cx="43965" cy="2637890"/>
          </a:xfrm>
          <a:custGeom>
            <a:avLst/>
            <a:gdLst/>
            <a:ahLst/>
            <a:cxnLst/>
            <a:rect l="l" t="t" r="r" b="b"/>
            <a:pathLst>
              <a:path w="43965" h="2637890">
                <a:moveTo>
                  <a:pt x="43965" y="0"/>
                </a:moveTo>
                <a:lnTo>
                  <a:pt x="43965" y="0"/>
                </a:lnTo>
                <a:lnTo>
                  <a:pt x="43965" y="2637890"/>
                </a:lnTo>
                <a:lnTo>
                  <a:pt x="43965" y="2637890"/>
                </a:lnTo>
                <a:cubicBezTo>
                  <a:pt x="19684" y="2637890"/>
                  <a:pt x="0" y="2618207"/>
                  <a:pt x="0" y="2593926"/>
                </a:cubicBezTo>
                <a:lnTo>
                  <a:pt x="0" y="43965"/>
                </a:lnTo>
                <a:cubicBezTo>
                  <a:pt x="0" y="19684"/>
                  <a:pt x="19684" y="0"/>
                  <a:pt x="43965" y="0"/>
                </a:cubicBezTo>
                <a:close/>
              </a:path>
            </a:pathLst>
          </a:custGeom>
          <a:solidFill>
            <a:srgbClr val="718096"/>
          </a:solidFill>
          <a:ln/>
        </p:spPr>
        <p:txBody>
          <a:bodyPr/>
          <a:lstStyle/>
          <a:p>
            <a:endParaRPr lang="zh-CN" altLang="en-US"/>
          </a:p>
        </p:txBody>
      </p:sp>
      <p:sp>
        <p:nvSpPr>
          <p:cNvPr id="15" name="Text 13"/>
          <p:cNvSpPr/>
          <p:nvPr/>
        </p:nvSpPr>
        <p:spPr>
          <a:xfrm>
            <a:off x="659473" y="6243007"/>
            <a:ext cx="7276181" cy="307754"/>
          </a:xfrm>
          <a:prstGeom prst="rect">
            <a:avLst/>
          </a:prstGeom>
          <a:noFill/>
          <a:ln/>
        </p:spPr>
        <p:txBody>
          <a:bodyPr wrap="square" lIns="0" tIns="0" rIns="0" bIns="0" rtlCol="0" anchor="ctr"/>
          <a:lstStyle/>
          <a:p>
            <a:pPr>
              <a:lnSpc>
                <a:spcPct val="120000"/>
              </a:lnSpc>
            </a:pPr>
            <a:r>
              <a:rPr lang="en-US" sz="1731" b="1" dirty="0">
                <a:solidFill>
                  <a:srgbClr val="718096"/>
                </a:solidFill>
                <a:latin typeface="MiSans" pitchFamily="34" charset="0"/>
                <a:ea typeface="MiSans" pitchFamily="34" charset="-122"/>
                <a:cs typeface="MiSans" pitchFamily="34" charset="-120"/>
              </a:rPr>
              <a:t>自定义分区器</a:t>
            </a:r>
            <a:endParaRPr lang="en-US" sz="1600" dirty="0"/>
          </a:p>
        </p:txBody>
      </p:sp>
      <p:sp>
        <p:nvSpPr>
          <p:cNvPr id="16" name="Shape 14"/>
          <p:cNvSpPr/>
          <p:nvPr/>
        </p:nvSpPr>
        <p:spPr>
          <a:xfrm>
            <a:off x="659473" y="6682656"/>
            <a:ext cx="7166269" cy="1846523"/>
          </a:xfrm>
          <a:custGeom>
            <a:avLst/>
            <a:gdLst/>
            <a:ahLst/>
            <a:cxnLst/>
            <a:rect l="l" t="t" r="r" b="b"/>
            <a:pathLst>
              <a:path w="7166269" h="1846523">
                <a:moveTo>
                  <a:pt x="43966" y="0"/>
                </a:moveTo>
                <a:lnTo>
                  <a:pt x="7122303" y="0"/>
                </a:lnTo>
                <a:cubicBezTo>
                  <a:pt x="7146585" y="0"/>
                  <a:pt x="7166269" y="19684"/>
                  <a:pt x="7166269" y="43966"/>
                </a:cubicBezTo>
                <a:lnTo>
                  <a:pt x="7166269" y="1802558"/>
                </a:lnTo>
                <a:cubicBezTo>
                  <a:pt x="7166269" y="1826839"/>
                  <a:pt x="7146585" y="1846523"/>
                  <a:pt x="7122303" y="1846523"/>
                </a:cubicBezTo>
                <a:lnTo>
                  <a:pt x="43966" y="1846523"/>
                </a:lnTo>
                <a:cubicBezTo>
                  <a:pt x="19684" y="1846523"/>
                  <a:pt x="0" y="1826839"/>
                  <a:pt x="0" y="1802558"/>
                </a:cubicBezTo>
                <a:lnTo>
                  <a:pt x="0" y="43966"/>
                </a:lnTo>
                <a:cubicBezTo>
                  <a:pt x="0" y="19700"/>
                  <a:pt x="19700" y="0"/>
                  <a:pt x="43966" y="0"/>
                </a:cubicBezTo>
                <a:close/>
              </a:path>
            </a:pathLst>
          </a:custGeom>
          <a:solidFill>
            <a:srgbClr val="1A1D21">
              <a:alpha val="60000"/>
            </a:srgbClr>
          </a:solidFill>
          <a:ln/>
        </p:spPr>
        <p:txBody>
          <a:bodyPr/>
          <a:lstStyle/>
          <a:p>
            <a:endParaRPr lang="zh-CN" altLang="en-US"/>
          </a:p>
        </p:txBody>
      </p:sp>
      <p:sp>
        <p:nvSpPr>
          <p:cNvPr id="17" name="Text 15"/>
          <p:cNvSpPr/>
          <p:nvPr/>
        </p:nvSpPr>
        <p:spPr>
          <a:xfrm>
            <a:off x="791367" y="6814550"/>
            <a:ext cx="6968427" cy="1582734"/>
          </a:xfrm>
          <a:prstGeom prst="rect">
            <a:avLst/>
          </a:prstGeom>
          <a:noFill/>
          <a:ln/>
        </p:spPr>
        <p:txBody>
          <a:bodyPr wrap="square" lIns="0" tIns="0" rIns="0" bIns="0" numCol="1" rtlCol="0" anchor="ctr"/>
          <a:lstStyle/>
          <a:p>
            <a:r>
              <a:rPr lang="en-US" altLang="zh-CN" sz="800" dirty="0">
                <a:solidFill>
                  <a:schemeClr val="bg1"/>
                </a:solidFill>
                <a:latin typeface="Calibri" panose="020F0502020204030204" pitchFamily="34" charset="0"/>
                <a:cs typeface="Calibri" panose="020F0502020204030204" pitchFamily="34" charset="0"/>
              </a:rPr>
              <a:t>public class </a:t>
            </a:r>
            <a:r>
              <a:rPr lang="en-US" altLang="zh-CN" sz="800" dirty="0" err="1">
                <a:solidFill>
                  <a:schemeClr val="bg1"/>
                </a:solidFill>
                <a:latin typeface="Calibri" panose="020F0502020204030204" pitchFamily="34" charset="0"/>
                <a:cs typeface="Calibri" panose="020F0502020204030204" pitchFamily="34" charset="0"/>
              </a:rPr>
              <a:t>CustomPartitioner</a:t>
            </a:r>
            <a:r>
              <a:rPr lang="en-US" altLang="zh-CN" sz="800" dirty="0">
                <a:solidFill>
                  <a:schemeClr val="bg1"/>
                </a:solidFill>
                <a:latin typeface="Calibri" panose="020F0502020204030204" pitchFamily="34" charset="0"/>
                <a:cs typeface="Calibri" panose="020F0502020204030204" pitchFamily="34" charset="0"/>
              </a:rPr>
              <a:t> implements Partitioner {</a:t>
            </a:r>
          </a:p>
          <a:p>
            <a:endParaRPr lang="en-US" altLang="zh-CN" sz="800" dirty="0">
              <a:solidFill>
                <a:schemeClr val="bg1"/>
              </a:solidFill>
              <a:latin typeface="Calibri" panose="020F0502020204030204" pitchFamily="34" charset="0"/>
              <a:cs typeface="Calibri" panose="020F0502020204030204" pitchFamily="34" charset="0"/>
            </a:endParaRPr>
          </a:p>
          <a:p>
            <a:r>
              <a:rPr lang="en-US" altLang="zh-CN" sz="800" dirty="0">
                <a:solidFill>
                  <a:schemeClr val="bg1"/>
                </a:solidFill>
                <a:latin typeface="Calibri" panose="020F0502020204030204" pitchFamily="34" charset="0"/>
                <a:cs typeface="Calibri" panose="020F0502020204030204" pitchFamily="34" charset="0"/>
              </a:rPr>
              <a:t>    @Override</a:t>
            </a:r>
          </a:p>
          <a:p>
            <a:r>
              <a:rPr lang="en-US" altLang="zh-CN" sz="800" dirty="0">
                <a:solidFill>
                  <a:schemeClr val="bg1"/>
                </a:solidFill>
                <a:latin typeface="Calibri" panose="020F0502020204030204" pitchFamily="34" charset="0"/>
                <a:cs typeface="Calibri" panose="020F0502020204030204" pitchFamily="34" charset="0"/>
              </a:rPr>
              <a:t>    public int partition(String topic, Object key, byte[] </a:t>
            </a:r>
            <a:r>
              <a:rPr lang="en-US" altLang="zh-CN" sz="800" dirty="0" err="1">
                <a:solidFill>
                  <a:schemeClr val="bg1"/>
                </a:solidFill>
                <a:latin typeface="Calibri" panose="020F0502020204030204" pitchFamily="34" charset="0"/>
                <a:cs typeface="Calibri" panose="020F0502020204030204" pitchFamily="34" charset="0"/>
              </a:rPr>
              <a:t>keyBytes</a:t>
            </a:r>
            <a:r>
              <a:rPr lang="en-US" altLang="zh-CN" sz="800" dirty="0">
                <a:solidFill>
                  <a:schemeClr val="bg1"/>
                </a:solidFill>
                <a:latin typeface="Calibri" panose="020F0502020204030204" pitchFamily="34" charset="0"/>
                <a:cs typeface="Calibri" panose="020F0502020204030204" pitchFamily="34" charset="0"/>
              </a:rPr>
              <a:t>,</a:t>
            </a:r>
          </a:p>
          <a:p>
            <a:r>
              <a:rPr lang="en-US" altLang="zh-CN" sz="800" dirty="0">
                <a:solidFill>
                  <a:schemeClr val="bg1"/>
                </a:solidFill>
                <a:latin typeface="Calibri" panose="020F0502020204030204" pitchFamily="34" charset="0"/>
                <a:cs typeface="Calibri" panose="020F0502020204030204" pitchFamily="34" charset="0"/>
              </a:rPr>
              <a:t>                        Object value, byte[] </a:t>
            </a:r>
            <a:r>
              <a:rPr lang="en-US" altLang="zh-CN" sz="800" dirty="0" err="1">
                <a:solidFill>
                  <a:schemeClr val="bg1"/>
                </a:solidFill>
                <a:latin typeface="Calibri" panose="020F0502020204030204" pitchFamily="34" charset="0"/>
                <a:cs typeface="Calibri" panose="020F0502020204030204" pitchFamily="34" charset="0"/>
              </a:rPr>
              <a:t>valueBytes</a:t>
            </a:r>
            <a:r>
              <a:rPr lang="en-US" altLang="zh-CN" sz="800" dirty="0">
                <a:solidFill>
                  <a:schemeClr val="bg1"/>
                </a:solidFill>
                <a:latin typeface="Calibri" panose="020F0502020204030204" pitchFamily="34" charset="0"/>
                <a:cs typeface="Calibri" panose="020F0502020204030204" pitchFamily="34" charset="0"/>
              </a:rPr>
              <a:t>, Cluster cluster) {</a:t>
            </a:r>
          </a:p>
          <a:p>
            <a:r>
              <a:rPr lang="en-US" altLang="zh-CN" sz="800" dirty="0">
                <a:solidFill>
                  <a:srgbClr val="00B050"/>
                </a:solidFill>
                <a:latin typeface="Calibri" panose="020F0502020204030204" pitchFamily="34" charset="0"/>
                <a:cs typeface="Calibri" panose="020F0502020204030204" pitchFamily="34" charset="0"/>
              </a:rPr>
              <a:t>        </a:t>
            </a:r>
            <a:r>
              <a:rPr lang="en-US" altLang="zh-CN" sz="800" i="1" dirty="0">
                <a:solidFill>
                  <a:srgbClr val="00B050"/>
                </a:solidFill>
                <a:latin typeface="Calibri" panose="020F0502020204030204" pitchFamily="34" charset="0"/>
                <a:cs typeface="Calibri" panose="020F0502020204030204" pitchFamily="34" charset="0"/>
              </a:rPr>
              <a:t>// </a:t>
            </a:r>
            <a:r>
              <a:rPr lang="zh-CN" altLang="en-US" sz="800" i="1" dirty="0">
                <a:solidFill>
                  <a:srgbClr val="00B050"/>
                </a:solidFill>
                <a:latin typeface="Calibri" panose="020F0502020204030204" pitchFamily="34" charset="0"/>
                <a:cs typeface="Calibri" panose="020F0502020204030204" pitchFamily="34" charset="0"/>
              </a:rPr>
              <a:t>自定义分区逻辑，如基于业务字段分区</a:t>
            </a:r>
            <a:endParaRPr lang="zh-CN" altLang="en-US" sz="800" dirty="0">
              <a:solidFill>
                <a:srgbClr val="00B050"/>
              </a:solidFill>
              <a:latin typeface="Calibri" panose="020F0502020204030204" pitchFamily="34" charset="0"/>
              <a:cs typeface="Calibri" panose="020F0502020204030204" pitchFamily="34" charset="0"/>
            </a:endParaRPr>
          </a:p>
          <a:p>
            <a:r>
              <a:rPr lang="zh-CN" altLang="en-US" sz="800" dirty="0">
                <a:solidFill>
                  <a:schemeClr val="bg1"/>
                </a:solidFill>
                <a:latin typeface="Calibri" panose="020F0502020204030204" pitchFamily="34" charset="0"/>
                <a:cs typeface="Calibri" panose="020F0502020204030204" pitchFamily="34" charset="0"/>
              </a:rPr>
              <a:t>        </a:t>
            </a:r>
            <a:r>
              <a:rPr lang="en-US" altLang="zh-CN" sz="800" dirty="0">
                <a:solidFill>
                  <a:schemeClr val="bg1"/>
                </a:solidFill>
                <a:latin typeface="Calibri" panose="020F0502020204030204" pitchFamily="34" charset="0"/>
                <a:cs typeface="Calibri" panose="020F0502020204030204" pitchFamily="34" charset="0"/>
              </a:rPr>
              <a:t>return </a:t>
            </a:r>
            <a:r>
              <a:rPr lang="en-US" altLang="zh-CN" sz="800" dirty="0" err="1">
                <a:solidFill>
                  <a:schemeClr val="bg1"/>
                </a:solidFill>
                <a:latin typeface="Calibri" panose="020F0502020204030204" pitchFamily="34" charset="0"/>
                <a:cs typeface="Calibri" panose="020F0502020204030204" pitchFamily="34" charset="0"/>
              </a:rPr>
              <a:t>calculatePartition</a:t>
            </a:r>
            <a:r>
              <a:rPr lang="en-US" altLang="zh-CN" sz="800" dirty="0">
                <a:solidFill>
                  <a:schemeClr val="bg1"/>
                </a:solidFill>
                <a:latin typeface="Calibri" panose="020F0502020204030204" pitchFamily="34" charset="0"/>
                <a:cs typeface="Calibri" panose="020F0502020204030204" pitchFamily="34" charset="0"/>
              </a:rPr>
              <a:t>(key, value, </a:t>
            </a:r>
            <a:r>
              <a:rPr lang="en-US" altLang="zh-CN" sz="800" dirty="0" err="1">
                <a:solidFill>
                  <a:schemeClr val="bg1"/>
                </a:solidFill>
                <a:latin typeface="Calibri" panose="020F0502020204030204" pitchFamily="34" charset="0"/>
                <a:cs typeface="Calibri" panose="020F0502020204030204" pitchFamily="34" charset="0"/>
              </a:rPr>
              <a:t>cluster.partitionsForTopic</a:t>
            </a:r>
            <a:r>
              <a:rPr lang="en-US" altLang="zh-CN" sz="800" dirty="0">
                <a:solidFill>
                  <a:schemeClr val="bg1"/>
                </a:solidFill>
                <a:latin typeface="Calibri" panose="020F0502020204030204" pitchFamily="34" charset="0"/>
                <a:cs typeface="Calibri" panose="020F0502020204030204" pitchFamily="34" charset="0"/>
              </a:rPr>
              <a:t>(topic).size());</a:t>
            </a:r>
          </a:p>
          <a:p>
            <a:r>
              <a:rPr lang="en-US" altLang="zh-CN" sz="800" dirty="0">
                <a:solidFill>
                  <a:schemeClr val="bg1"/>
                </a:solidFill>
                <a:latin typeface="Calibri" panose="020F0502020204030204" pitchFamily="34" charset="0"/>
                <a:cs typeface="Calibri" panose="020F0502020204030204" pitchFamily="34" charset="0"/>
              </a:rPr>
              <a:t>    }</a:t>
            </a:r>
          </a:p>
          <a:p>
            <a:endParaRPr lang="en-US" altLang="zh-CN" sz="800" dirty="0">
              <a:solidFill>
                <a:schemeClr val="bg1"/>
              </a:solidFill>
              <a:latin typeface="Calibri" panose="020F0502020204030204" pitchFamily="34" charset="0"/>
              <a:cs typeface="Calibri" panose="020F0502020204030204" pitchFamily="34" charset="0"/>
            </a:endParaRPr>
          </a:p>
          <a:p>
            <a:r>
              <a:rPr lang="en-US" altLang="zh-CN" sz="800" dirty="0">
                <a:solidFill>
                  <a:schemeClr val="bg1"/>
                </a:solidFill>
                <a:latin typeface="Calibri" panose="020F0502020204030204" pitchFamily="34" charset="0"/>
                <a:cs typeface="Calibri" panose="020F0502020204030204" pitchFamily="34" charset="0"/>
              </a:rPr>
              <a:t>    @Override</a:t>
            </a:r>
          </a:p>
          <a:p>
            <a:r>
              <a:rPr lang="en-US" altLang="zh-CN" sz="800" dirty="0">
                <a:solidFill>
                  <a:schemeClr val="bg1"/>
                </a:solidFill>
                <a:latin typeface="Calibri" panose="020F0502020204030204" pitchFamily="34" charset="0"/>
                <a:cs typeface="Calibri" panose="020F0502020204030204" pitchFamily="34" charset="0"/>
              </a:rPr>
              <a:t>    public void close() {}</a:t>
            </a:r>
          </a:p>
          <a:p>
            <a:endParaRPr lang="en-US" altLang="zh-CN" sz="800" dirty="0">
              <a:solidFill>
                <a:schemeClr val="bg1"/>
              </a:solidFill>
              <a:latin typeface="Calibri" panose="020F0502020204030204" pitchFamily="34" charset="0"/>
              <a:cs typeface="Calibri" panose="020F0502020204030204" pitchFamily="34" charset="0"/>
            </a:endParaRPr>
          </a:p>
          <a:p>
            <a:r>
              <a:rPr lang="en-US" altLang="zh-CN" sz="800" dirty="0">
                <a:solidFill>
                  <a:schemeClr val="bg1"/>
                </a:solidFill>
                <a:latin typeface="Calibri" panose="020F0502020204030204" pitchFamily="34" charset="0"/>
                <a:cs typeface="Calibri" panose="020F0502020204030204" pitchFamily="34" charset="0"/>
              </a:rPr>
              <a:t>    @Override</a:t>
            </a:r>
          </a:p>
          <a:p>
            <a:r>
              <a:rPr lang="en-US" altLang="zh-CN" sz="800" dirty="0">
                <a:solidFill>
                  <a:schemeClr val="bg1"/>
                </a:solidFill>
                <a:latin typeface="Calibri" panose="020F0502020204030204" pitchFamily="34" charset="0"/>
                <a:cs typeface="Calibri" panose="020F0502020204030204" pitchFamily="34" charset="0"/>
              </a:rPr>
              <a:t>    public void configure(Map&lt;String, ?&gt; configs) {}</a:t>
            </a:r>
          </a:p>
          <a:p>
            <a:r>
              <a:rPr lang="en-US" altLang="zh-CN" sz="800" dirty="0">
                <a:solidFill>
                  <a:schemeClr val="bg1"/>
                </a:solidFill>
                <a:latin typeface="Calibri" panose="020F0502020204030204" pitchFamily="34" charset="0"/>
                <a:cs typeface="Calibri" panose="020F0502020204030204" pitchFamily="34" charset="0"/>
              </a:rPr>
              <a:t>}</a:t>
            </a:r>
          </a:p>
        </p:txBody>
      </p:sp>
      <p:sp>
        <p:nvSpPr>
          <p:cNvPr id="18" name="Shape 16"/>
          <p:cNvSpPr/>
          <p:nvPr/>
        </p:nvSpPr>
        <p:spPr>
          <a:xfrm>
            <a:off x="8282478" y="1406875"/>
            <a:ext cx="7539970" cy="2637890"/>
          </a:xfrm>
          <a:custGeom>
            <a:avLst/>
            <a:gdLst/>
            <a:ahLst/>
            <a:cxnLst/>
            <a:rect l="l" t="t" r="r" b="b"/>
            <a:pathLst>
              <a:path w="7539970" h="2637890">
                <a:moveTo>
                  <a:pt x="43965" y="0"/>
                </a:moveTo>
                <a:lnTo>
                  <a:pt x="7452049" y="0"/>
                </a:lnTo>
                <a:cubicBezTo>
                  <a:pt x="7500607" y="0"/>
                  <a:pt x="7539970" y="39364"/>
                  <a:pt x="7539970" y="87921"/>
                </a:cubicBezTo>
                <a:lnTo>
                  <a:pt x="7539970" y="2549970"/>
                </a:lnTo>
                <a:cubicBezTo>
                  <a:pt x="7539970" y="2598527"/>
                  <a:pt x="7500607" y="2637890"/>
                  <a:pt x="7452049" y="2637890"/>
                </a:cubicBezTo>
                <a:lnTo>
                  <a:pt x="43965" y="2637890"/>
                </a:lnTo>
                <a:cubicBezTo>
                  <a:pt x="19684" y="2637890"/>
                  <a:pt x="0" y="2618207"/>
                  <a:pt x="0" y="2593926"/>
                </a:cubicBezTo>
                <a:lnTo>
                  <a:pt x="0" y="43965"/>
                </a:lnTo>
                <a:cubicBezTo>
                  <a:pt x="0" y="19684"/>
                  <a:pt x="19684" y="0"/>
                  <a:pt x="43965" y="0"/>
                </a:cubicBezTo>
                <a:close/>
              </a:path>
            </a:pathLst>
          </a:custGeom>
          <a:solidFill>
            <a:srgbClr val="4A5568">
              <a:alpha val="20000"/>
            </a:srgbClr>
          </a:solidFill>
          <a:ln/>
        </p:spPr>
        <p:txBody>
          <a:bodyPr/>
          <a:lstStyle/>
          <a:p>
            <a:endParaRPr lang="zh-CN" altLang="en-US"/>
          </a:p>
        </p:txBody>
      </p:sp>
      <p:sp>
        <p:nvSpPr>
          <p:cNvPr id="19" name="Shape 17"/>
          <p:cNvSpPr/>
          <p:nvPr/>
        </p:nvSpPr>
        <p:spPr>
          <a:xfrm>
            <a:off x="8282478" y="1406875"/>
            <a:ext cx="43965" cy="2637890"/>
          </a:xfrm>
          <a:custGeom>
            <a:avLst/>
            <a:gdLst/>
            <a:ahLst/>
            <a:cxnLst/>
            <a:rect l="l" t="t" r="r" b="b"/>
            <a:pathLst>
              <a:path w="43965" h="2637890">
                <a:moveTo>
                  <a:pt x="43965" y="0"/>
                </a:moveTo>
                <a:lnTo>
                  <a:pt x="43965" y="0"/>
                </a:lnTo>
                <a:lnTo>
                  <a:pt x="43965" y="2637890"/>
                </a:lnTo>
                <a:lnTo>
                  <a:pt x="43965" y="2637890"/>
                </a:lnTo>
                <a:cubicBezTo>
                  <a:pt x="19684" y="2637890"/>
                  <a:pt x="0" y="2618207"/>
                  <a:pt x="0" y="2593926"/>
                </a:cubicBezTo>
                <a:lnTo>
                  <a:pt x="0" y="43965"/>
                </a:lnTo>
                <a:cubicBezTo>
                  <a:pt x="0" y="19684"/>
                  <a:pt x="19684" y="0"/>
                  <a:pt x="43965" y="0"/>
                </a:cubicBezTo>
                <a:close/>
              </a:path>
            </a:pathLst>
          </a:custGeom>
          <a:solidFill>
            <a:srgbClr val="D69E2E"/>
          </a:solidFill>
          <a:ln/>
        </p:spPr>
        <p:txBody>
          <a:bodyPr/>
          <a:lstStyle/>
          <a:p>
            <a:endParaRPr lang="zh-CN" altLang="en-US"/>
          </a:p>
        </p:txBody>
      </p:sp>
      <p:sp>
        <p:nvSpPr>
          <p:cNvPr id="20" name="Text 18"/>
          <p:cNvSpPr/>
          <p:nvPr/>
        </p:nvSpPr>
        <p:spPr>
          <a:xfrm>
            <a:off x="8480320" y="1582734"/>
            <a:ext cx="7276181" cy="307754"/>
          </a:xfrm>
          <a:prstGeom prst="rect">
            <a:avLst/>
          </a:prstGeom>
          <a:noFill/>
          <a:ln/>
        </p:spPr>
        <p:txBody>
          <a:bodyPr wrap="square" lIns="0" tIns="0" rIns="0" bIns="0" rtlCol="0" anchor="ctr"/>
          <a:lstStyle/>
          <a:p>
            <a:pPr>
              <a:lnSpc>
                <a:spcPct val="120000"/>
              </a:lnSpc>
            </a:pPr>
            <a:r>
              <a:rPr lang="en-US" sz="1731" b="1" dirty="0">
                <a:solidFill>
                  <a:srgbClr val="D69E2E"/>
                </a:solidFill>
                <a:latin typeface="MiSans" pitchFamily="34" charset="0"/>
                <a:ea typeface="MiSans" pitchFamily="34" charset="-122"/>
                <a:cs typeface="MiSans" pitchFamily="34" charset="-120"/>
              </a:rPr>
              <a:t>分区策略选择建议</a:t>
            </a:r>
            <a:endParaRPr lang="en-US" sz="1600" dirty="0"/>
          </a:p>
        </p:txBody>
      </p:sp>
      <p:sp>
        <p:nvSpPr>
          <p:cNvPr id="21" name="Shape 19"/>
          <p:cNvSpPr/>
          <p:nvPr/>
        </p:nvSpPr>
        <p:spPr>
          <a:xfrm>
            <a:off x="8480320" y="2022383"/>
            <a:ext cx="351719" cy="351719"/>
          </a:xfrm>
          <a:custGeom>
            <a:avLst/>
            <a:gdLst/>
            <a:ahLst/>
            <a:cxnLst/>
            <a:rect l="l" t="t" r="r" b="b"/>
            <a:pathLst>
              <a:path w="351719" h="351719">
                <a:moveTo>
                  <a:pt x="175859" y="0"/>
                </a:moveTo>
                <a:lnTo>
                  <a:pt x="175859" y="0"/>
                </a:lnTo>
                <a:cubicBezTo>
                  <a:pt x="272984" y="0"/>
                  <a:pt x="351719" y="78735"/>
                  <a:pt x="351719" y="175859"/>
                </a:cubicBezTo>
                <a:lnTo>
                  <a:pt x="351719" y="175859"/>
                </a:lnTo>
                <a:cubicBezTo>
                  <a:pt x="351719" y="272984"/>
                  <a:pt x="272984" y="351719"/>
                  <a:pt x="175859" y="351719"/>
                </a:cubicBezTo>
                <a:lnTo>
                  <a:pt x="175859" y="351719"/>
                </a:lnTo>
                <a:cubicBezTo>
                  <a:pt x="78735" y="351719"/>
                  <a:pt x="0" y="272984"/>
                  <a:pt x="0" y="175859"/>
                </a:cubicBezTo>
                <a:lnTo>
                  <a:pt x="0" y="175859"/>
                </a:lnTo>
                <a:cubicBezTo>
                  <a:pt x="0" y="78735"/>
                  <a:pt x="78735" y="0"/>
                  <a:pt x="175859" y="0"/>
                </a:cubicBezTo>
                <a:close/>
              </a:path>
            </a:pathLst>
          </a:custGeom>
          <a:solidFill>
            <a:srgbClr val="D69E2E"/>
          </a:solidFill>
          <a:ln/>
        </p:spPr>
        <p:txBody>
          <a:bodyPr/>
          <a:lstStyle/>
          <a:p>
            <a:endParaRPr lang="zh-CN" altLang="en-US"/>
          </a:p>
        </p:txBody>
      </p:sp>
      <p:sp>
        <p:nvSpPr>
          <p:cNvPr id="22" name="Shape 20"/>
          <p:cNvSpPr/>
          <p:nvPr/>
        </p:nvSpPr>
        <p:spPr>
          <a:xfrm>
            <a:off x="8581989" y="2121304"/>
            <a:ext cx="153877" cy="153877"/>
          </a:xfrm>
          <a:custGeom>
            <a:avLst/>
            <a:gdLst/>
            <a:ahLst/>
            <a:cxnLst/>
            <a:rect l="l" t="t" r="r" b="b"/>
            <a:pathLst>
              <a:path w="153877" h="153877">
                <a:moveTo>
                  <a:pt x="100982" y="105790"/>
                </a:moveTo>
                <a:cubicBezTo>
                  <a:pt x="130194" y="105790"/>
                  <a:pt x="153877" y="82108"/>
                  <a:pt x="153877" y="52895"/>
                </a:cubicBezTo>
                <a:cubicBezTo>
                  <a:pt x="153877" y="23683"/>
                  <a:pt x="130194" y="0"/>
                  <a:pt x="100982" y="0"/>
                </a:cubicBezTo>
                <a:cubicBezTo>
                  <a:pt x="71769" y="0"/>
                  <a:pt x="48087" y="23683"/>
                  <a:pt x="48087" y="52895"/>
                </a:cubicBezTo>
                <a:cubicBezTo>
                  <a:pt x="48087" y="58515"/>
                  <a:pt x="48958" y="63955"/>
                  <a:pt x="50581" y="69034"/>
                </a:cubicBezTo>
                <a:lnTo>
                  <a:pt x="2104" y="117511"/>
                </a:lnTo>
                <a:cubicBezTo>
                  <a:pt x="751" y="118864"/>
                  <a:pt x="0" y="120697"/>
                  <a:pt x="0" y="122621"/>
                </a:cubicBezTo>
                <a:lnTo>
                  <a:pt x="0" y="146664"/>
                </a:lnTo>
                <a:cubicBezTo>
                  <a:pt x="0" y="150661"/>
                  <a:pt x="3216" y="153877"/>
                  <a:pt x="7213" y="153877"/>
                </a:cubicBezTo>
                <a:lnTo>
                  <a:pt x="31256" y="153877"/>
                </a:lnTo>
                <a:cubicBezTo>
                  <a:pt x="35253" y="153877"/>
                  <a:pt x="38469" y="150661"/>
                  <a:pt x="38469" y="146664"/>
                </a:cubicBezTo>
                <a:lnTo>
                  <a:pt x="38469" y="134642"/>
                </a:lnTo>
                <a:lnTo>
                  <a:pt x="50491" y="134642"/>
                </a:lnTo>
                <a:cubicBezTo>
                  <a:pt x="54488" y="134642"/>
                  <a:pt x="57704" y="131427"/>
                  <a:pt x="57704" y="127429"/>
                </a:cubicBezTo>
                <a:lnTo>
                  <a:pt x="57704" y="115408"/>
                </a:lnTo>
                <a:lnTo>
                  <a:pt x="69725" y="115408"/>
                </a:lnTo>
                <a:cubicBezTo>
                  <a:pt x="71649" y="115408"/>
                  <a:pt x="73482" y="114656"/>
                  <a:pt x="74835" y="113304"/>
                </a:cubicBezTo>
                <a:lnTo>
                  <a:pt x="84843" y="103296"/>
                </a:lnTo>
                <a:cubicBezTo>
                  <a:pt x="89922" y="104919"/>
                  <a:pt x="95362" y="105790"/>
                  <a:pt x="100982" y="105790"/>
                </a:cubicBezTo>
                <a:close/>
                <a:moveTo>
                  <a:pt x="113003" y="28852"/>
                </a:moveTo>
                <a:cubicBezTo>
                  <a:pt x="119638" y="28852"/>
                  <a:pt x="125025" y="34239"/>
                  <a:pt x="125025" y="40874"/>
                </a:cubicBezTo>
                <a:cubicBezTo>
                  <a:pt x="125025" y="47508"/>
                  <a:pt x="119638" y="52895"/>
                  <a:pt x="113003" y="52895"/>
                </a:cubicBezTo>
                <a:cubicBezTo>
                  <a:pt x="106368" y="52895"/>
                  <a:pt x="100982" y="47508"/>
                  <a:pt x="100982" y="40874"/>
                </a:cubicBezTo>
                <a:cubicBezTo>
                  <a:pt x="100982" y="34239"/>
                  <a:pt x="106368" y="28852"/>
                  <a:pt x="113003" y="28852"/>
                </a:cubicBezTo>
                <a:close/>
              </a:path>
            </a:pathLst>
          </a:custGeom>
          <a:solidFill>
            <a:srgbClr val="1A1D21"/>
          </a:solidFill>
          <a:ln/>
        </p:spPr>
        <p:txBody>
          <a:bodyPr/>
          <a:lstStyle/>
          <a:p>
            <a:endParaRPr lang="zh-CN" altLang="en-US"/>
          </a:p>
        </p:txBody>
      </p:sp>
      <p:sp>
        <p:nvSpPr>
          <p:cNvPr id="23" name="Text 21"/>
          <p:cNvSpPr/>
          <p:nvPr/>
        </p:nvSpPr>
        <p:spPr>
          <a:xfrm>
            <a:off x="8963933" y="2022383"/>
            <a:ext cx="4132695" cy="263789"/>
          </a:xfrm>
          <a:prstGeom prst="rect">
            <a:avLst/>
          </a:prstGeom>
          <a:noFill/>
          <a:ln/>
        </p:spPr>
        <p:txBody>
          <a:bodyPr wrap="square" lIns="0" tIns="0" rIns="0" bIns="0" rtlCol="0" anchor="ctr"/>
          <a:lstStyle/>
          <a:p>
            <a:pPr>
              <a:lnSpc>
                <a:spcPct val="130000"/>
              </a:lnSpc>
            </a:pPr>
            <a:r>
              <a:rPr lang="en-US" sz="1385" b="1" dirty="0">
                <a:solidFill>
                  <a:srgbClr val="E2E8F0"/>
                </a:solidFill>
                <a:latin typeface="MiSans" pitchFamily="34" charset="0"/>
                <a:ea typeface="MiSans" pitchFamily="34" charset="-122"/>
                <a:cs typeface="MiSans" pitchFamily="34" charset="-120"/>
              </a:rPr>
              <a:t>使用 key</a:t>
            </a:r>
            <a:endParaRPr lang="en-US" sz="1600" dirty="0"/>
          </a:p>
        </p:txBody>
      </p:sp>
      <p:sp>
        <p:nvSpPr>
          <p:cNvPr id="24" name="Text 22"/>
          <p:cNvSpPr/>
          <p:nvPr/>
        </p:nvSpPr>
        <p:spPr>
          <a:xfrm>
            <a:off x="8963933" y="2330137"/>
            <a:ext cx="4121704" cy="219824"/>
          </a:xfrm>
          <a:prstGeom prst="rect">
            <a:avLst/>
          </a:prstGeom>
          <a:noFill/>
          <a:ln/>
        </p:spPr>
        <p:txBody>
          <a:bodyPr wrap="square" lIns="0" tIns="0" rIns="0" bIns="0" rtlCol="0" anchor="ctr"/>
          <a:lstStyle/>
          <a:p>
            <a:pPr>
              <a:lnSpc>
                <a:spcPct val="120000"/>
              </a:lnSpc>
            </a:pPr>
            <a:r>
              <a:rPr lang="en-US" sz="1212" dirty="0">
                <a:solidFill>
                  <a:srgbClr val="E2E8F0">
                    <a:alpha val="80000"/>
                  </a:srgbClr>
                </a:solidFill>
                <a:latin typeface="MiSans" pitchFamily="34" charset="0"/>
                <a:ea typeface="MiSans" pitchFamily="34" charset="-122"/>
                <a:cs typeface="MiSans" pitchFamily="34" charset="-120"/>
              </a:rPr>
              <a:t>当需要保证相同 key 的消息顺序时，使用 key 进行哈希分区</a:t>
            </a:r>
            <a:endParaRPr lang="en-US" sz="1600" dirty="0"/>
          </a:p>
        </p:txBody>
      </p:sp>
      <p:sp>
        <p:nvSpPr>
          <p:cNvPr id="25" name="Shape 23"/>
          <p:cNvSpPr/>
          <p:nvPr/>
        </p:nvSpPr>
        <p:spPr>
          <a:xfrm>
            <a:off x="8480320" y="2681855"/>
            <a:ext cx="351719" cy="351719"/>
          </a:xfrm>
          <a:custGeom>
            <a:avLst/>
            <a:gdLst/>
            <a:ahLst/>
            <a:cxnLst/>
            <a:rect l="l" t="t" r="r" b="b"/>
            <a:pathLst>
              <a:path w="351719" h="351719">
                <a:moveTo>
                  <a:pt x="175859" y="0"/>
                </a:moveTo>
                <a:lnTo>
                  <a:pt x="175859" y="0"/>
                </a:lnTo>
                <a:cubicBezTo>
                  <a:pt x="272984" y="0"/>
                  <a:pt x="351719" y="78735"/>
                  <a:pt x="351719" y="175859"/>
                </a:cubicBezTo>
                <a:lnTo>
                  <a:pt x="351719" y="175859"/>
                </a:lnTo>
                <a:cubicBezTo>
                  <a:pt x="351719" y="272984"/>
                  <a:pt x="272984" y="351719"/>
                  <a:pt x="175859" y="351719"/>
                </a:cubicBezTo>
                <a:lnTo>
                  <a:pt x="175859" y="351719"/>
                </a:lnTo>
                <a:cubicBezTo>
                  <a:pt x="78735" y="351719"/>
                  <a:pt x="0" y="272984"/>
                  <a:pt x="0" y="175859"/>
                </a:cubicBezTo>
                <a:lnTo>
                  <a:pt x="0" y="175859"/>
                </a:lnTo>
                <a:cubicBezTo>
                  <a:pt x="0" y="78735"/>
                  <a:pt x="78735" y="0"/>
                  <a:pt x="175859" y="0"/>
                </a:cubicBezTo>
                <a:close/>
              </a:path>
            </a:pathLst>
          </a:custGeom>
          <a:solidFill>
            <a:srgbClr val="718096"/>
          </a:solidFill>
          <a:ln/>
        </p:spPr>
        <p:txBody>
          <a:bodyPr/>
          <a:lstStyle/>
          <a:p>
            <a:endParaRPr lang="zh-CN" altLang="en-US"/>
          </a:p>
        </p:txBody>
      </p:sp>
      <p:sp>
        <p:nvSpPr>
          <p:cNvPr id="26" name="Shape 24"/>
          <p:cNvSpPr/>
          <p:nvPr/>
        </p:nvSpPr>
        <p:spPr>
          <a:xfrm>
            <a:off x="8581989" y="2780776"/>
            <a:ext cx="153877" cy="153877"/>
          </a:xfrm>
          <a:custGeom>
            <a:avLst/>
            <a:gdLst/>
            <a:ahLst/>
            <a:cxnLst/>
            <a:rect l="l" t="t" r="r" b="b"/>
            <a:pathLst>
              <a:path w="153877" h="153877">
                <a:moveTo>
                  <a:pt x="19806" y="68674"/>
                </a:moveTo>
                <a:cubicBezTo>
                  <a:pt x="23803" y="40723"/>
                  <a:pt x="47876" y="19235"/>
                  <a:pt x="76938" y="19235"/>
                </a:cubicBezTo>
                <a:cubicBezTo>
                  <a:pt x="92867" y="19235"/>
                  <a:pt x="107293" y="25696"/>
                  <a:pt x="117752" y="36125"/>
                </a:cubicBezTo>
                <a:cubicBezTo>
                  <a:pt x="117812" y="36185"/>
                  <a:pt x="117872" y="36245"/>
                  <a:pt x="117932" y="36305"/>
                </a:cubicBezTo>
                <a:lnTo>
                  <a:pt x="120216" y="38469"/>
                </a:lnTo>
                <a:lnTo>
                  <a:pt x="105820" y="38469"/>
                </a:lnTo>
                <a:cubicBezTo>
                  <a:pt x="100501" y="38469"/>
                  <a:pt x="96203" y="42767"/>
                  <a:pt x="96203" y="48087"/>
                </a:cubicBezTo>
                <a:cubicBezTo>
                  <a:pt x="96203" y="53406"/>
                  <a:pt x="100501" y="57704"/>
                  <a:pt x="105820" y="57704"/>
                </a:cubicBezTo>
                <a:lnTo>
                  <a:pt x="144290" y="57704"/>
                </a:lnTo>
                <a:cubicBezTo>
                  <a:pt x="149609" y="57704"/>
                  <a:pt x="153907" y="53406"/>
                  <a:pt x="153907" y="48087"/>
                </a:cubicBezTo>
                <a:lnTo>
                  <a:pt x="153907" y="9617"/>
                </a:lnTo>
                <a:cubicBezTo>
                  <a:pt x="153907" y="4298"/>
                  <a:pt x="149609" y="0"/>
                  <a:pt x="144290" y="0"/>
                </a:cubicBezTo>
                <a:cubicBezTo>
                  <a:pt x="138970" y="0"/>
                  <a:pt x="134672" y="4298"/>
                  <a:pt x="134672" y="9617"/>
                </a:cubicBezTo>
                <a:lnTo>
                  <a:pt x="134672" y="25666"/>
                </a:lnTo>
                <a:lnTo>
                  <a:pt x="131276" y="22450"/>
                </a:lnTo>
                <a:cubicBezTo>
                  <a:pt x="117361" y="8595"/>
                  <a:pt x="98127" y="0"/>
                  <a:pt x="76938" y="0"/>
                </a:cubicBezTo>
                <a:cubicBezTo>
                  <a:pt x="38169" y="0"/>
                  <a:pt x="6101" y="28672"/>
                  <a:pt x="781" y="65969"/>
                </a:cubicBezTo>
                <a:cubicBezTo>
                  <a:pt x="30" y="71228"/>
                  <a:pt x="3667" y="76097"/>
                  <a:pt x="8926" y="76848"/>
                </a:cubicBezTo>
                <a:cubicBezTo>
                  <a:pt x="14186" y="77600"/>
                  <a:pt x="19054" y="73933"/>
                  <a:pt x="19806" y="68704"/>
                </a:cubicBezTo>
                <a:close/>
                <a:moveTo>
                  <a:pt x="153096" y="87908"/>
                </a:moveTo>
                <a:cubicBezTo>
                  <a:pt x="153847" y="82649"/>
                  <a:pt x="150180" y="77780"/>
                  <a:pt x="144951" y="77029"/>
                </a:cubicBezTo>
                <a:cubicBezTo>
                  <a:pt x="139721" y="76277"/>
                  <a:pt x="134823" y="79944"/>
                  <a:pt x="134071" y="85173"/>
                </a:cubicBezTo>
                <a:cubicBezTo>
                  <a:pt x="130074" y="113124"/>
                  <a:pt x="106001" y="134612"/>
                  <a:pt x="76938" y="134612"/>
                </a:cubicBezTo>
                <a:cubicBezTo>
                  <a:pt x="61010" y="134612"/>
                  <a:pt x="46584" y="128151"/>
                  <a:pt x="36125" y="117722"/>
                </a:cubicBezTo>
                <a:cubicBezTo>
                  <a:pt x="36065" y="117662"/>
                  <a:pt x="36005" y="117602"/>
                  <a:pt x="35945" y="117542"/>
                </a:cubicBezTo>
                <a:lnTo>
                  <a:pt x="33661" y="115378"/>
                </a:lnTo>
                <a:lnTo>
                  <a:pt x="48056" y="115378"/>
                </a:lnTo>
                <a:cubicBezTo>
                  <a:pt x="53376" y="115378"/>
                  <a:pt x="57674" y="111080"/>
                  <a:pt x="57674" y="105760"/>
                </a:cubicBezTo>
                <a:cubicBezTo>
                  <a:pt x="57674" y="100441"/>
                  <a:pt x="53376" y="96143"/>
                  <a:pt x="48056" y="96143"/>
                </a:cubicBezTo>
                <a:lnTo>
                  <a:pt x="9617" y="96173"/>
                </a:lnTo>
                <a:cubicBezTo>
                  <a:pt x="7063" y="96173"/>
                  <a:pt x="4598" y="97195"/>
                  <a:pt x="2795" y="99028"/>
                </a:cubicBezTo>
                <a:cubicBezTo>
                  <a:pt x="992" y="100862"/>
                  <a:pt x="-30" y="103296"/>
                  <a:pt x="0" y="105881"/>
                </a:cubicBezTo>
                <a:lnTo>
                  <a:pt x="301" y="144049"/>
                </a:lnTo>
                <a:cubicBezTo>
                  <a:pt x="331" y="149369"/>
                  <a:pt x="4688" y="153637"/>
                  <a:pt x="10008" y="153576"/>
                </a:cubicBezTo>
                <a:cubicBezTo>
                  <a:pt x="15328" y="153516"/>
                  <a:pt x="19595" y="149189"/>
                  <a:pt x="19535" y="143869"/>
                </a:cubicBezTo>
                <a:lnTo>
                  <a:pt x="19415" y="128391"/>
                </a:lnTo>
                <a:lnTo>
                  <a:pt x="22631" y="131427"/>
                </a:lnTo>
                <a:cubicBezTo>
                  <a:pt x="36546" y="145281"/>
                  <a:pt x="55750" y="153877"/>
                  <a:pt x="76938" y="153877"/>
                </a:cubicBezTo>
                <a:cubicBezTo>
                  <a:pt x="115708" y="153877"/>
                  <a:pt x="147776" y="125205"/>
                  <a:pt x="153096" y="87908"/>
                </a:cubicBezTo>
                <a:close/>
              </a:path>
            </a:pathLst>
          </a:custGeom>
          <a:solidFill>
            <a:srgbClr val="1A1D21"/>
          </a:solidFill>
          <a:ln/>
        </p:spPr>
        <p:txBody>
          <a:bodyPr/>
          <a:lstStyle/>
          <a:p>
            <a:endParaRPr lang="zh-CN" altLang="en-US"/>
          </a:p>
        </p:txBody>
      </p:sp>
      <p:sp>
        <p:nvSpPr>
          <p:cNvPr id="27" name="Text 25"/>
          <p:cNvSpPr/>
          <p:nvPr/>
        </p:nvSpPr>
        <p:spPr>
          <a:xfrm>
            <a:off x="8963933" y="2681855"/>
            <a:ext cx="3539170" cy="263789"/>
          </a:xfrm>
          <a:prstGeom prst="rect">
            <a:avLst/>
          </a:prstGeom>
          <a:noFill/>
          <a:ln/>
        </p:spPr>
        <p:txBody>
          <a:bodyPr wrap="square" lIns="0" tIns="0" rIns="0" bIns="0" rtlCol="0" anchor="ctr"/>
          <a:lstStyle/>
          <a:p>
            <a:pPr>
              <a:lnSpc>
                <a:spcPct val="130000"/>
              </a:lnSpc>
            </a:pPr>
            <a:r>
              <a:rPr lang="en-US" sz="1385" b="1" dirty="0">
                <a:solidFill>
                  <a:srgbClr val="E2E8F0"/>
                </a:solidFill>
                <a:latin typeface="MiSans" pitchFamily="34" charset="0"/>
                <a:ea typeface="MiSans" pitchFamily="34" charset="-122"/>
                <a:cs typeface="MiSans" pitchFamily="34" charset="-120"/>
              </a:rPr>
              <a:t>轮询策略</a:t>
            </a:r>
            <a:endParaRPr lang="en-US" sz="1600" dirty="0"/>
          </a:p>
        </p:txBody>
      </p:sp>
      <p:sp>
        <p:nvSpPr>
          <p:cNvPr id="28" name="Text 26"/>
          <p:cNvSpPr/>
          <p:nvPr/>
        </p:nvSpPr>
        <p:spPr>
          <a:xfrm>
            <a:off x="8963933" y="2989609"/>
            <a:ext cx="3528178" cy="219824"/>
          </a:xfrm>
          <a:prstGeom prst="rect">
            <a:avLst/>
          </a:prstGeom>
          <a:noFill/>
          <a:ln/>
        </p:spPr>
        <p:txBody>
          <a:bodyPr wrap="square" lIns="0" tIns="0" rIns="0" bIns="0" rtlCol="0" anchor="ctr"/>
          <a:lstStyle/>
          <a:p>
            <a:pPr>
              <a:lnSpc>
                <a:spcPct val="120000"/>
              </a:lnSpc>
            </a:pPr>
            <a:r>
              <a:rPr lang="en-US" sz="1212" dirty="0">
                <a:solidFill>
                  <a:srgbClr val="E2E8F0">
                    <a:alpha val="80000"/>
                  </a:srgbClr>
                </a:solidFill>
                <a:latin typeface="MiSans" pitchFamily="34" charset="0"/>
                <a:ea typeface="MiSans" pitchFamily="34" charset="-122"/>
                <a:cs typeface="MiSans" pitchFamily="34" charset="-120"/>
              </a:rPr>
              <a:t>当需要均匀分布负载时，使用粘性分区策略(无 key)</a:t>
            </a:r>
            <a:endParaRPr lang="en-US" sz="1600" dirty="0"/>
          </a:p>
        </p:txBody>
      </p:sp>
      <p:sp>
        <p:nvSpPr>
          <p:cNvPr id="29" name="Shape 27"/>
          <p:cNvSpPr/>
          <p:nvPr/>
        </p:nvSpPr>
        <p:spPr>
          <a:xfrm>
            <a:off x="8480320" y="3341328"/>
            <a:ext cx="351719" cy="351719"/>
          </a:xfrm>
          <a:custGeom>
            <a:avLst/>
            <a:gdLst/>
            <a:ahLst/>
            <a:cxnLst/>
            <a:rect l="l" t="t" r="r" b="b"/>
            <a:pathLst>
              <a:path w="351719" h="351719">
                <a:moveTo>
                  <a:pt x="175859" y="0"/>
                </a:moveTo>
                <a:lnTo>
                  <a:pt x="175859" y="0"/>
                </a:lnTo>
                <a:cubicBezTo>
                  <a:pt x="272984" y="0"/>
                  <a:pt x="351719" y="78735"/>
                  <a:pt x="351719" y="175859"/>
                </a:cubicBezTo>
                <a:lnTo>
                  <a:pt x="351719" y="175859"/>
                </a:lnTo>
                <a:cubicBezTo>
                  <a:pt x="351719" y="272984"/>
                  <a:pt x="272984" y="351719"/>
                  <a:pt x="175859" y="351719"/>
                </a:cubicBezTo>
                <a:lnTo>
                  <a:pt x="175859" y="351719"/>
                </a:lnTo>
                <a:cubicBezTo>
                  <a:pt x="78735" y="351719"/>
                  <a:pt x="0" y="272984"/>
                  <a:pt x="0" y="175859"/>
                </a:cubicBezTo>
                <a:lnTo>
                  <a:pt x="0" y="175859"/>
                </a:lnTo>
                <a:cubicBezTo>
                  <a:pt x="0" y="78735"/>
                  <a:pt x="78735" y="0"/>
                  <a:pt x="175859" y="0"/>
                </a:cubicBezTo>
                <a:close/>
              </a:path>
            </a:pathLst>
          </a:custGeom>
          <a:solidFill>
            <a:srgbClr val="D69E2E"/>
          </a:solidFill>
          <a:ln/>
        </p:spPr>
        <p:txBody>
          <a:bodyPr/>
          <a:lstStyle/>
          <a:p>
            <a:endParaRPr lang="zh-CN" altLang="en-US"/>
          </a:p>
        </p:txBody>
      </p:sp>
      <p:sp>
        <p:nvSpPr>
          <p:cNvPr id="30" name="Shape 28"/>
          <p:cNvSpPr/>
          <p:nvPr/>
        </p:nvSpPr>
        <p:spPr>
          <a:xfrm>
            <a:off x="8581989" y="3440249"/>
            <a:ext cx="153877" cy="153877"/>
          </a:xfrm>
          <a:custGeom>
            <a:avLst/>
            <a:gdLst/>
            <a:ahLst/>
            <a:cxnLst/>
            <a:rect l="l" t="t" r="r" b="b"/>
            <a:pathLst>
              <a:path w="153877" h="153877">
                <a:moveTo>
                  <a:pt x="58636" y="2855"/>
                </a:moveTo>
                <a:cubicBezTo>
                  <a:pt x="59537" y="-1593"/>
                  <a:pt x="63474" y="-4809"/>
                  <a:pt x="68042" y="-4809"/>
                </a:cubicBezTo>
                <a:lnTo>
                  <a:pt x="86015" y="-4809"/>
                </a:lnTo>
                <a:cubicBezTo>
                  <a:pt x="90583" y="-4809"/>
                  <a:pt x="94520" y="-1593"/>
                  <a:pt x="95422" y="2855"/>
                </a:cubicBezTo>
                <a:lnTo>
                  <a:pt x="99780" y="23893"/>
                </a:lnTo>
                <a:cubicBezTo>
                  <a:pt x="104017" y="25696"/>
                  <a:pt x="107984" y="28010"/>
                  <a:pt x="111591" y="30745"/>
                </a:cubicBezTo>
                <a:lnTo>
                  <a:pt x="131968" y="23983"/>
                </a:lnTo>
                <a:cubicBezTo>
                  <a:pt x="136295" y="22541"/>
                  <a:pt x="141044" y="24344"/>
                  <a:pt x="143328" y="28311"/>
                </a:cubicBezTo>
                <a:lnTo>
                  <a:pt x="152314" y="43879"/>
                </a:lnTo>
                <a:cubicBezTo>
                  <a:pt x="154598" y="47846"/>
                  <a:pt x="153787" y="52835"/>
                  <a:pt x="150361" y="55871"/>
                </a:cubicBezTo>
                <a:lnTo>
                  <a:pt x="134342" y="70116"/>
                </a:lnTo>
                <a:cubicBezTo>
                  <a:pt x="134612" y="72340"/>
                  <a:pt x="134732" y="74624"/>
                  <a:pt x="134732" y="76938"/>
                </a:cubicBezTo>
                <a:cubicBezTo>
                  <a:pt x="134732" y="79253"/>
                  <a:pt x="134582" y="81537"/>
                  <a:pt x="134342" y="83761"/>
                </a:cubicBezTo>
                <a:lnTo>
                  <a:pt x="150391" y="98036"/>
                </a:lnTo>
                <a:cubicBezTo>
                  <a:pt x="153817" y="101072"/>
                  <a:pt x="154598" y="106091"/>
                  <a:pt x="152344" y="110028"/>
                </a:cubicBezTo>
                <a:lnTo>
                  <a:pt x="143358" y="125596"/>
                </a:lnTo>
                <a:cubicBezTo>
                  <a:pt x="141074" y="129533"/>
                  <a:pt x="136325" y="131366"/>
                  <a:pt x="131998" y="129924"/>
                </a:cubicBezTo>
                <a:lnTo>
                  <a:pt x="111621" y="123162"/>
                </a:lnTo>
                <a:cubicBezTo>
                  <a:pt x="107984" y="125897"/>
                  <a:pt x="104017" y="128181"/>
                  <a:pt x="99810" y="130014"/>
                </a:cubicBezTo>
                <a:lnTo>
                  <a:pt x="95482" y="151022"/>
                </a:lnTo>
                <a:cubicBezTo>
                  <a:pt x="94550" y="155500"/>
                  <a:pt x="90613" y="158686"/>
                  <a:pt x="86075" y="158686"/>
                </a:cubicBezTo>
                <a:lnTo>
                  <a:pt x="68103" y="158686"/>
                </a:lnTo>
                <a:cubicBezTo>
                  <a:pt x="63534" y="158686"/>
                  <a:pt x="59597" y="155470"/>
                  <a:pt x="58696" y="151022"/>
                </a:cubicBezTo>
                <a:lnTo>
                  <a:pt x="54368" y="130014"/>
                </a:lnTo>
                <a:cubicBezTo>
                  <a:pt x="50130" y="128211"/>
                  <a:pt x="46193" y="125897"/>
                  <a:pt x="42557" y="123162"/>
                </a:cubicBezTo>
                <a:lnTo>
                  <a:pt x="22090" y="129924"/>
                </a:lnTo>
                <a:cubicBezTo>
                  <a:pt x="17762" y="131366"/>
                  <a:pt x="13013" y="129563"/>
                  <a:pt x="10729" y="125596"/>
                </a:cubicBezTo>
                <a:lnTo>
                  <a:pt x="1743" y="110028"/>
                </a:lnTo>
                <a:cubicBezTo>
                  <a:pt x="-541" y="106061"/>
                  <a:pt x="270" y="101072"/>
                  <a:pt x="3697" y="98036"/>
                </a:cubicBezTo>
                <a:lnTo>
                  <a:pt x="19746" y="83761"/>
                </a:lnTo>
                <a:cubicBezTo>
                  <a:pt x="19475" y="81537"/>
                  <a:pt x="19355" y="79253"/>
                  <a:pt x="19355" y="76938"/>
                </a:cubicBezTo>
                <a:cubicBezTo>
                  <a:pt x="19355" y="74624"/>
                  <a:pt x="19505" y="72340"/>
                  <a:pt x="19746" y="70116"/>
                </a:cubicBezTo>
                <a:lnTo>
                  <a:pt x="3697" y="55841"/>
                </a:lnTo>
                <a:cubicBezTo>
                  <a:pt x="270" y="52805"/>
                  <a:pt x="-511" y="47786"/>
                  <a:pt x="1743" y="43849"/>
                </a:cubicBezTo>
                <a:lnTo>
                  <a:pt x="10729" y="28281"/>
                </a:lnTo>
                <a:cubicBezTo>
                  <a:pt x="13013" y="24314"/>
                  <a:pt x="17762" y="22511"/>
                  <a:pt x="22090" y="23953"/>
                </a:cubicBezTo>
                <a:lnTo>
                  <a:pt x="42466" y="30715"/>
                </a:lnTo>
                <a:cubicBezTo>
                  <a:pt x="46103" y="27980"/>
                  <a:pt x="50070" y="25696"/>
                  <a:pt x="54278" y="23863"/>
                </a:cubicBezTo>
                <a:lnTo>
                  <a:pt x="58636" y="2855"/>
                </a:lnTo>
                <a:close/>
                <a:moveTo>
                  <a:pt x="77029" y="100982"/>
                </a:moveTo>
                <a:cubicBezTo>
                  <a:pt x="85618" y="100950"/>
                  <a:pt x="93539" y="96337"/>
                  <a:pt x="97806" y="88882"/>
                </a:cubicBezTo>
                <a:cubicBezTo>
                  <a:pt x="102073" y="81427"/>
                  <a:pt x="102038" y="72262"/>
                  <a:pt x="97715" y="64839"/>
                </a:cubicBezTo>
                <a:cubicBezTo>
                  <a:pt x="93393" y="57416"/>
                  <a:pt x="85438" y="52863"/>
                  <a:pt x="76848" y="52895"/>
                </a:cubicBezTo>
                <a:cubicBezTo>
                  <a:pt x="68258" y="52927"/>
                  <a:pt x="60338" y="57540"/>
                  <a:pt x="56071" y="64995"/>
                </a:cubicBezTo>
                <a:cubicBezTo>
                  <a:pt x="51804" y="72450"/>
                  <a:pt x="51839" y="81615"/>
                  <a:pt x="56161" y="89038"/>
                </a:cubicBezTo>
                <a:cubicBezTo>
                  <a:pt x="60484" y="96461"/>
                  <a:pt x="68439" y="101014"/>
                  <a:pt x="77029" y="100982"/>
                </a:cubicBezTo>
                <a:close/>
              </a:path>
            </a:pathLst>
          </a:custGeom>
          <a:solidFill>
            <a:srgbClr val="1A1D21"/>
          </a:solidFill>
          <a:ln/>
        </p:spPr>
        <p:txBody>
          <a:bodyPr/>
          <a:lstStyle/>
          <a:p>
            <a:endParaRPr lang="zh-CN" altLang="en-US"/>
          </a:p>
        </p:txBody>
      </p:sp>
      <p:sp>
        <p:nvSpPr>
          <p:cNvPr id="31" name="Text 29"/>
          <p:cNvSpPr/>
          <p:nvPr/>
        </p:nvSpPr>
        <p:spPr>
          <a:xfrm>
            <a:off x="8963933" y="3341328"/>
            <a:ext cx="3528178" cy="263789"/>
          </a:xfrm>
          <a:prstGeom prst="rect">
            <a:avLst/>
          </a:prstGeom>
          <a:noFill/>
          <a:ln/>
        </p:spPr>
        <p:txBody>
          <a:bodyPr wrap="square" lIns="0" tIns="0" rIns="0" bIns="0" rtlCol="0" anchor="ctr"/>
          <a:lstStyle/>
          <a:p>
            <a:pPr>
              <a:lnSpc>
                <a:spcPct val="130000"/>
              </a:lnSpc>
            </a:pPr>
            <a:r>
              <a:rPr lang="en-US" sz="1385" b="1" dirty="0">
                <a:solidFill>
                  <a:srgbClr val="E2E8F0"/>
                </a:solidFill>
                <a:latin typeface="MiSans" pitchFamily="34" charset="0"/>
                <a:ea typeface="MiSans" pitchFamily="34" charset="-122"/>
                <a:cs typeface="MiSans" pitchFamily="34" charset="-120"/>
              </a:rPr>
              <a:t>自定义策略</a:t>
            </a:r>
            <a:endParaRPr lang="en-US" sz="1600" dirty="0"/>
          </a:p>
        </p:txBody>
      </p:sp>
      <p:sp>
        <p:nvSpPr>
          <p:cNvPr id="32" name="Text 30"/>
          <p:cNvSpPr/>
          <p:nvPr/>
        </p:nvSpPr>
        <p:spPr>
          <a:xfrm>
            <a:off x="8963933" y="3649082"/>
            <a:ext cx="3517187" cy="219824"/>
          </a:xfrm>
          <a:prstGeom prst="rect">
            <a:avLst/>
          </a:prstGeom>
          <a:noFill/>
          <a:ln/>
        </p:spPr>
        <p:txBody>
          <a:bodyPr wrap="square" lIns="0" tIns="0" rIns="0" bIns="0" rtlCol="0" anchor="ctr"/>
          <a:lstStyle/>
          <a:p>
            <a:pPr>
              <a:lnSpc>
                <a:spcPct val="120000"/>
              </a:lnSpc>
            </a:pPr>
            <a:r>
              <a:rPr lang="en-US" sz="1212" dirty="0">
                <a:solidFill>
                  <a:srgbClr val="E2E8F0">
                    <a:alpha val="80000"/>
                  </a:srgbClr>
                </a:solidFill>
                <a:latin typeface="MiSans" pitchFamily="34" charset="0"/>
                <a:ea typeface="MiSans" pitchFamily="34" charset="-122"/>
                <a:cs typeface="MiSans" pitchFamily="34" charset="-120"/>
              </a:rPr>
              <a:t>当有特殊业务需求时，实现自定义 Partitioner 接口</a:t>
            </a:r>
            <a:endParaRPr lang="en-US" sz="1600" dirty="0"/>
          </a:p>
        </p:txBody>
      </p:sp>
      <p:sp>
        <p:nvSpPr>
          <p:cNvPr id="33" name="Shape 31"/>
          <p:cNvSpPr/>
          <p:nvPr/>
        </p:nvSpPr>
        <p:spPr>
          <a:xfrm>
            <a:off x="8282478" y="4176660"/>
            <a:ext cx="7539970" cy="3077539"/>
          </a:xfrm>
          <a:custGeom>
            <a:avLst/>
            <a:gdLst/>
            <a:ahLst/>
            <a:cxnLst/>
            <a:rect l="l" t="t" r="r" b="b"/>
            <a:pathLst>
              <a:path w="7539970" h="3077539">
                <a:moveTo>
                  <a:pt x="43965" y="0"/>
                </a:moveTo>
                <a:lnTo>
                  <a:pt x="7452045" y="0"/>
                </a:lnTo>
                <a:cubicBezTo>
                  <a:pt x="7500605" y="0"/>
                  <a:pt x="7539970" y="39365"/>
                  <a:pt x="7539970" y="87925"/>
                </a:cubicBezTo>
                <a:lnTo>
                  <a:pt x="7539970" y="2989614"/>
                </a:lnTo>
                <a:cubicBezTo>
                  <a:pt x="7539970" y="3038173"/>
                  <a:pt x="7500605" y="3077539"/>
                  <a:pt x="7452045" y="3077539"/>
                </a:cubicBezTo>
                <a:lnTo>
                  <a:pt x="43965" y="3077539"/>
                </a:lnTo>
                <a:cubicBezTo>
                  <a:pt x="19684" y="3077539"/>
                  <a:pt x="0" y="3057855"/>
                  <a:pt x="0" y="3033574"/>
                </a:cubicBezTo>
                <a:lnTo>
                  <a:pt x="0" y="43965"/>
                </a:lnTo>
                <a:cubicBezTo>
                  <a:pt x="0" y="19700"/>
                  <a:pt x="19700" y="0"/>
                  <a:pt x="43965" y="0"/>
                </a:cubicBezTo>
                <a:close/>
              </a:path>
            </a:pathLst>
          </a:custGeom>
          <a:solidFill>
            <a:srgbClr val="4A5568">
              <a:alpha val="20000"/>
            </a:srgbClr>
          </a:solidFill>
          <a:ln/>
        </p:spPr>
        <p:txBody>
          <a:bodyPr/>
          <a:lstStyle/>
          <a:p>
            <a:endParaRPr lang="zh-CN" altLang="en-US"/>
          </a:p>
        </p:txBody>
      </p:sp>
      <p:sp>
        <p:nvSpPr>
          <p:cNvPr id="34" name="Shape 32"/>
          <p:cNvSpPr/>
          <p:nvPr/>
        </p:nvSpPr>
        <p:spPr>
          <a:xfrm>
            <a:off x="8282478" y="4176660"/>
            <a:ext cx="43965" cy="3077539"/>
          </a:xfrm>
          <a:custGeom>
            <a:avLst/>
            <a:gdLst/>
            <a:ahLst/>
            <a:cxnLst/>
            <a:rect l="l" t="t" r="r" b="b"/>
            <a:pathLst>
              <a:path w="43965" h="3077539">
                <a:moveTo>
                  <a:pt x="43965" y="0"/>
                </a:moveTo>
                <a:lnTo>
                  <a:pt x="43965" y="0"/>
                </a:lnTo>
                <a:lnTo>
                  <a:pt x="43965" y="3077539"/>
                </a:lnTo>
                <a:lnTo>
                  <a:pt x="43965" y="3077539"/>
                </a:lnTo>
                <a:cubicBezTo>
                  <a:pt x="19684" y="3077539"/>
                  <a:pt x="0" y="3057855"/>
                  <a:pt x="0" y="3033574"/>
                </a:cubicBezTo>
                <a:lnTo>
                  <a:pt x="0" y="43965"/>
                </a:lnTo>
                <a:cubicBezTo>
                  <a:pt x="0" y="19684"/>
                  <a:pt x="19684" y="0"/>
                  <a:pt x="43965" y="0"/>
                </a:cubicBezTo>
                <a:close/>
              </a:path>
            </a:pathLst>
          </a:custGeom>
          <a:solidFill>
            <a:srgbClr val="718096"/>
          </a:solidFill>
          <a:ln/>
        </p:spPr>
        <p:txBody>
          <a:bodyPr/>
          <a:lstStyle/>
          <a:p>
            <a:endParaRPr lang="zh-CN" altLang="en-US"/>
          </a:p>
        </p:txBody>
      </p:sp>
      <p:sp>
        <p:nvSpPr>
          <p:cNvPr id="35" name="Text 33"/>
          <p:cNvSpPr/>
          <p:nvPr/>
        </p:nvSpPr>
        <p:spPr>
          <a:xfrm>
            <a:off x="8480320" y="4352519"/>
            <a:ext cx="7276181" cy="307754"/>
          </a:xfrm>
          <a:prstGeom prst="rect">
            <a:avLst/>
          </a:prstGeom>
          <a:noFill/>
          <a:ln/>
        </p:spPr>
        <p:txBody>
          <a:bodyPr wrap="square" lIns="0" tIns="0" rIns="0" bIns="0" rtlCol="0" anchor="ctr"/>
          <a:lstStyle/>
          <a:p>
            <a:pPr>
              <a:lnSpc>
                <a:spcPct val="120000"/>
              </a:lnSpc>
            </a:pPr>
            <a:r>
              <a:rPr lang="en-US" sz="1731" b="1" dirty="0">
                <a:solidFill>
                  <a:srgbClr val="718096"/>
                </a:solidFill>
                <a:latin typeface="MiSans" pitchFamily="34" charset="0"/>
                <a:ea typeface="MiSans" pitchFamily="34" charset="-122"/>
                <a:cs typeface="MiSans" pitchFamily="34" charset="-120"/>
              </a:rPr>
              <a:t>分区策略示例</a:t>
            </a:r>
            <a:endParaRPr lang="en-US" sz="1600" dirty="0"/>
          </a:p>
        </p:txBody>
      </p:sp>
      <p:sp>
        <p:nvSpPr>
          <p:cNvPr id="36" name="Shape 34"/>
          <p:cNvSpPr/>
          <p:nvPr/>
        </p:nvSpPr>
        <p:spPr>
          <a:xfrm>
            <a:off x="8480320" y="4792168"/>
            <a:ext cx="7166269" cy="703437"/>
          </a:xfrm>
          <a:custGeom>
            <a:avLst/>
            <a:gdLst/>
            <a:ahLst/>
            <a:cxnLst/>
            <a:rect l="l" t="t" r="r" b="b"/>
            <a:pathLst>
              <a:path w="7166269" h="703437">
                <a:moveTo>
                  <a:pt x="43965" y="0"/>
                </a:moveTo>
                <a:lnTo>
                  <a:pt x="7122304" y="0"/>
                </a:lnTo>
                <a:cubicBezTo>
                  <a:pt x="7146585" y="0"/>
                  <a:pt x="7166269" y="19684"/>
                  <a:pt x="7166269" y="43965"/>
                </a:cubicBezTo>
                <a:lnTo>
                  <a:pt x="7166269" y="659473"/>
                </a:lnTo>
                <a:cubicBezTo>
                  <a:pt x="7166269" y="683754"/>
                  <a:pt x="7146585" y="703437"/>
                  <a:pt x="7122304" y="703437"/>
                </a:cubicBezTo>
                <a:lnTo>
                  <a:pt x="43965" y="703437"/>
                </a:lnTo>
                <a:cubicBezTo>
                  <a:pt x="19684" y="703437"/>
                  <a:pt x="0" y="683754"/>
                  <a:pt x="0" y="659473"/>
                </a:cubicBezTo>
                <a:lnTo>
                  <a:pt x="0" y="43965"/>
                </a:lnTo>
                <a:cubicBezTo>
                  <a:pt x="0" y="19684"/>
                  <a:pt x="19684" y="0"/>
                  <a:pt x="43965" y="0"/>
                </a:cubicBezTo>
                <a:close/>
              </a:path>
            </a:pathLst>
          </a:custGeom>
          <a:solidFill>
            <a:srgbClr val="1A1D21">
              <a:alpha val="60000"/>
            </a:srgbClr>
          </a:solidFill>
          <a:ln/>
        </p:spPr>
        <p:txBody>
          <a:bodyPr/>
          <a:lstStyle/>
          <a:p>
            <a:endParaRPr lang="zh-CN" altLang="en-US"/>
          </a:p>
        </p:txBody>
      </p:sp>
      <p:sp>
        <p:nvSpPr>
          <p:cNvPr id="37" name="Text 35"/>
          <p:cNvSpPr/>
          <p:nvPr/>
        </p:nvSpPr>
        <p:spPr>
          <a:xfrm>
            <a:off x="8612214" y="4924062"/>
            <a:ext cx="6979419" cy="219824"/>
          </a:xfrm>
          <a:prstGeom prst="rect">
            <a:avLst/>
          </a:prstGeom>
          <a:noFill/>
          <a:ln/>
        </p:spPr>
        <p:txBody>
          <a:bodyPr wrap="square" lIns="0" tIns="0" rIns="0" bIns="0" rtlCol="0" anchor="ctr"/>
          <a:lstStyle/>
          <a:p>
            <a:pPr>
              <a:lnSpc>
                <a:spcPct val="120000"/>
              </a:lnSpc>
            </a:pPr>
            <a:r>
              <a:rPr lang="en-US" sz="1212" b="1" dirty="0">
                <a:solidFill>
                  <a:srgbClr val="D69E2E"/>
                </a:solidFill>
                <a:latin typeface="MiSans" pitchFamily="34" charset="0"/>
                <a:ea typeface="MiSans" pitchFamily="34" charset="-122"/>
                <a:cs typeface="MiSans" pitchFamily="34" charset="-120"/>
              </a:rPr>
              <a:t>按用户 ID 分区:</a:t>
            </a:r>
            <a:endParaRPr lang="en-US" sz="1600" dirty="0"/>
          </a:p>
        </p:txBody>
      </p:sp>
      <p:sp>
        <p:nvSpPr>
          <p:cNvPr id="38" name="Text 36"/>
          <p:cNvSpPr/>
          <p:nvPr/>
        </p:nvSpPr>
        <p:spPr>
          <a:xfrm>
            <a:off x="8612214" y="5187851"/>
            <a:ext cx="6968427" cy="175859"/>
          </a:xfrm>
          <a:prstGeom prst="rect">
            <a:avLst/>
          </a:prstGeom>
          <a:noFill/>
          <a:ln/>
        </p:spPr>
        <p:txBody>
          <a:bodyPr wrap="square" lIns="0" tIns="0" rIns="0" bIns="0" rtlCol="0" anchor="ctr"/>
          <a:lstStyle/>
          <a:p>
            <a:pPr>
              <a:lnSpc>
                <a:spcPct val="110000"/>
              </a:lnSpc>
            </a:pPr>
            <a:r>
              <a:rPr lang="en-US" sz="1039" dirty="0">
                <a:solidFill>
                  <a:srgbClr val="E2E8F0">
                    <a:alpha val="80000"/>
                  </a:srgbClr>
                </a:solidFill>
                <a:latin typeface="MiSans" pitchFamily="34" charset="0"/>
                <a:ea typeface="MiSans" pitchFamily="34" charset="-122"/>
                <a:cs typeface="MiSans" pitchFamily="34" charset="-120"/>
              </a:rPr>
              <a:t>相同用户 ID 的消息进入同一分区，保证用户行为顺序</a:t>
            </a:r>
            <a:endParaRPr lang="en-US" sz="1600" dirty="0"/>
          </a:p>
        </p:txBody>
      </p:sp>
      <p:sp>
        <p:nvSpPr>
          <p:cNvPr id="39" name="Shape 37"/>
          <p:cNvSpPr/>
          <p:nvPr/>
        </p:nvSpPr>
        <p:spPr>
          <a:xfrm>
            <a:off x="8480320" y="5583535"/>
            <a:ext cx="7166269" cy="703437"/>
          </a:xfrm>
          <a:custGeom>
            <a:avLst/>
            <a:gdLst/>
            <a:ahLst/>
            <a:cxnLst/>
            <a:rect l="l" t="t" r="r" b="b"/>
            <a:pathLst>
              <a:path w="7166269" h="703437">
                <a:moveTo>
                  <a:pt x="43965" y="0"/>
                </a:moveTo>
                <a:lnTo>
                  <a:pt x="7122304" y="0"/>
                </a:lnTo>
                <a:cubicBezTo>
                  <a:pt x="7146585" y="0"/>
                  <a:pt x="7166269" y="19684"/>
                  <a:pt x="7166269" y="43965"/>
                </a:cubicBezTo>
                <a:lnTo>
                  <a:pt x="7166269" y="659473"/>
                </a:lnTo>
                <a:cubicBezTo>
                  <a:pt x="7166269" y="683754"/>
                  <a:pt x="7146585" y="703437"/>
                  <a:pt x="7122304" y="703437"/>
                </a:cubicBezTo>
                <a:lnTo>
                  <a:pt x="43965" y="703437"/>
                </a:lnTo>
                <a:cubicBezTo>
                  <a:pt x="19684" y="703437"/>
                  <a:pt x="0" y="683754"/>
                  <a:pt x="0" y="659473"/>
                </a:cubicBezTo>
                <a:lnTo>
                  <a:pt x="0" y="43965"/>
                </a:lnTo>
                <a:cubicBezTo>
                  <a:pt x="0" y="19684"/>
                  <a:pt x="19684" y="0"/>
                  <a:pt x="43965" y="0"/>
                </a:cubicBezTo>
                <a:close/>
              </a:path>
            </a:pathLst>
          </a:custGeom>
          <a:solidFill>
            <a:srgbClr val="1A1D21">
              <a:alpha val="60000"/>
            </a:srgbClr>
          </a:solidFill>
          <a:ln/>
        </p:spPr>
        <p:txBody>
          <a:bodyPr/>
          <a:lstStyle/>
          <a:p>
            <a:endParaRPr lang="zh-CN" altLang="en-US"/>
          </a:p>
        </p:txBody>
      </p:sp>
      <p:sp>
        <p:nvSpPr>
          <p:cNvPr id="40" name="Text 38"/>
          <p:cNvSpPr/>
          <p:nvPr/>
        </p:nvSpPr>
        <p:spPr>
          <a:xfrm>
            <a:off x="8612214" y="5715429"/>
            <a:ext cx="6979419" cy="219824"/>
          </a:xfrm>
          <a:prstGeom prst="rect">
            <a:avLst/>
          </a:prstGeom>
          <a:noFill/>
          <a:ln/>
        </p:spPr>
        <p:txBody>
          <a:bodyPr wrap="square" lIns="0" tIns="0" rIns="0" bIns="0" rtlCol="0" anchor="ctr"/>
          <a:lstStyle/>
          <a:p>
            <a:pPr>
              <a:lnSpc>
                <a:spcPct val="120000"/>
              </a:lnSpc>
            </a:pPr>
            <a:r>
              <a:rPr lang="en-US" sz="1212" b="1" dirty="0">
                <a:solidFill>
                  <a:srgbClr val="D69E2E"/>
                </a:solidFill>
                <a:latin typeface="MiSans" pitchFamily="34" charset="0"/>
                <a:ea typeface="MiSans" pitchFamily="34" charset="-122"/>
                <a:cs typeface="MiSans" pitchFamily="34" charset="-120"/>
              </a:rPr>
              <a:t>按地区分区:</a:t>
            </a:r>
            <a:endParaRPr lang="en-US" sz="1600" dirty="0"/>
          </a:p>
        </p:txBody>
      </p:sp>
      <p:sp>
        <p:nvSpPr>
          <p:cNvPr id="41" name="Text 39"/>
          <p:cNvSpPr/>
          <p:nvPr/>
        </p:nvSpPr>
        <p:spPr>
          <a:xfrm>
            <a:off x="8612214" y="5979218"/>
            <a:ext cx="6968427" cy="175859"/>
          </a:xfrm>
          <a:prstGeom prst="rect">
            <a:avLst/>
          </a:prstGeom>
          <a:noFill/>
          <a:ln/>
        </p:spPr>
        <p:txBody>
          <a:bodyPr wrap="square" lIns="0" tIns="0" rIns="0" bIns="0" rtlCol="0" anchor="ctr"/>
          <a:lstStyle/>
          <a:p>
            <a:pPr>
              <a:lnSpc>
                <a:spcPct val="110000"/>
              </a:lnSpc>
            </a:pPr>
            <a:r>
              <a:rPr lang="en-US" sz="1039" dirty="0">
                <a:solidFill>
                  <a:srgbClr val="E2E8F0">
                    <a:alpha val="80000"/>
                  </a:srgbClr>
                </a:solidFill>
                <a:latin typeface="MiSans" pitchFamily="34" charset="0"/>
                <a:ea typeface="MiSans" pitchFamily="34" charset="-122"/>
                <a:cs typeface="MiSans" pitchFamily="34" charset="-120"/>
              </a:rPr>
              <a:t>不同地区的数据进入不同分区，实现数据本地化</a:t>
            </a:r>
            <a:endParaRPr lang="en-US" sz="1600" dirty="0"/>
          </a:p>
        </p:txBody>
      </p:sp>
      <p:sp>
        <p:nvSpPr>
          <p:cNvPr id="42" name="Shape 40"/>
          <p:cNvSpPr/>
          <p:nvPr/>
        </p:nvSpPr>
        <p:spPr>
          <a:xfrm>
            <a:off x="8480320" y="6374902"/>
            <a:ext cx="7166269" cy="703437"/>
          </a:xfrm>
          <a:custGeom>
            <a:avLst/>
            <a:gdLst/>
            <a:ahLst/>
            <a:cxnLst/>
            <a:rect l="l" t="t" r="r" b="b"/>
            <a:pathLst>
              <a:path w="7166269" h="703437">
                <a:moveTo>
                  <a:pt x="43965" y="0"/>
                </a:moveTo>
                <a:lnTo>
                  <a:pt x="7122304" y="0"/>
                </a:lnTo>
                <a:cubicBezTo>
                  <a:pt x="7146585" y="0"/>
                  <a:pt x="7166269" y="19684"/>
                  <a:pt x="7166269" y="43965"/>
                </a:cubicBezTo>
                <a:lnTo>
                  <a:pt x="7166269" y="659473"/>
                </a:lnTo>
                <a:cubicBezTo>
                  <a:pt x="7166269" y="683754"/>
                  <a:pt x="7146585" y="703437"/>
                  <a:pt x="7122304" y="703437"/>
                </a:cubicBezTo>
                <a:lnTo>
                  <a:pt x="43965" y="703437"/>
                </a:lnTo>
                <a:cubicBezTo>
                  <a:pt x="19684" y="703437"/>
                  <a:pt x="0" y="683754"/>
                  <a:pt x="0" y="659473"/>
                </a:cubicBezTo>
                <a:lnTo>
                  <a:pt x="0" y="43965"/>
                </a:lnTo>
                <a:cubicBezTo>
                  <a:pt x="0" y="19684"/>
                  <a:pt x="19684" y="0"/>
                  <a:pt x="43965" y="0"/>
                </a:cubicBezTo>
                <a:close/>
              </a:path>
            </a:pathLst>
          </a:custGeom>
          <a:solidFill>
            <a:srgbClr val="1A1D21">
              <a:alpha val="60000"/>
            </a:srgbClr>
          </a:solidFill>
          <a:ln/>
        </p:spPr>
        <p:txBody>
          <a:bodyPr/>
          <a:lstStyle/>
          <a:p>
            <a:endParaRPr lang="zh-CN" altLang="en-US"/>
          </a:p>
        </p:txBody>
      </p:sp>
      <p:sp>
        <p:nvSpPr>
          <p:cNvPr id="43" name="Text 41"/>
          <p:cNvSpPr/>
          <p:nvPr/>
        </p:nvSpPr>
        <p:spPr>
          <a:xfrm>
            <a:off x="8612214" y="6506796"/>
            <a:ext cx="6979419" cy="219824"/>
          </a:xfrm>
          <a:prstGeom prst="rect">
            <a:avLst/>
          </a:prstGeom>
          <a:noFill/>
          <a:ln/>
        </p:spPr>
        <p:txBody>
          <a:bodyPr wrap="square" lIns="0" tIns="0" rIns="0" bIns="0" rtlCol="0" anchor="ctr"/>
          <a:lstStyle/>
          <a:p>
            <a:pPr>
              <a:lnSpc>
                <a:spcPct val="120000"/>
              </a:lnSpc>
            </a:pPr>
            <a:r>
              <a:rPr lang="en-US" sz="1212" b="1" dirty="0">
                <a:solidFill>
                  <a:srgbClr val="D69E2E"/>
                </a:solidFill>
                <a:latin typeface="MiSans" pitchFamily="34" charset="0"/>
                <a:ea typeface="MiSans" pitchFamily="34" charset="-122"/>
                <a:cs typeface="MiSans" pitchFamily="34" charset="-120"/>
              </a:rPr>
              <a:t>按业务优先级分区:</a:t>
            </a:r>
            <a:endParaRPr lang="en-US" sz="1600" dirty="0"/>
          </a:p>
        </p:txBody>
      </p:sp>
      <p:sp>
        <p:nvSpPr>
          <p:cNvPr id="44" name="Text 42"/>
          <p:cNvSpPr/>
          <p:nvPr/>
        </p:nvSpPr>
        <p:spPr>
          <a:xfrm>
            <a:off x="8612214" y="6770586"/>
            <a:ext cx="6968427" cy="175859"/>
          </a:xfrm>
          <a:prstGeom prst="rect">
            <a:avLst/>
          </a:prstGeom>
          <a:noFill/>
          <a:ln/>
        </p:spPr>
        <p:txBody>
          <a:bodyPr wrap="square" lIns="0" tIns="0" rIns="0" bIns="0" rtlCol="0" anchor="ctr"/>
          <a:lstStyle/>
          <a:p>
            <a:pPr>
              <a:lnSpc>
                <a:spcPct val="110000"/>
              </a:lnSpc>
            </a:pPr>
            <a:r>
              <a:rPr lang="en-US" sz="1039" dirty="0">
                <a:solidFill>
                  <a:srgbClr val="E2E8F0">
                    <a:alpha val="80000"/>
                  </a:srgbClr>
                </a:solidFill>
                <a:latin typeface="MiSans" pitchFamily="34" charset="0"/>
                <a:ea typeface="MiSans" pitchFamily="34" charset="-122"/>
                <a:cs typeface="MiSans" pitchFamily="34" charset="-120"/>
              </a:rPr>
              <a:t>高优先级消息进入专用分区，确保快速处理</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2.1.4 性能优化</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Producer 批量处理与性能优化</a:t>
            </a:r>
            <a:endParaRPr lang="en-US" sz="1600" dirty="0"/>
          </a:p>
        </p:txBody>
      </p:sp>
      <p:sp>
        <p:nvSpPr>
          <p:cNvPr id="4" name="Shape 2"/>
          <p:cNvSpPr/>
          <p:nvPr/>
        </p:nvSpPr>
        <p:spPr>
          <a:xfrm>
            <a:off x="533400" y="1625600"/>
            <a:ext cx="7442200" cy="4927600"/>
          </a:xfrm>
          <a:custGeom>
            <a:avLst/>
            <a:gdLst/>
            <a:ahLst/>
            <a:cxnLst/>
            <a:rect l="l" t="t" r="r" b="b"/>
            <a:pathLst>
              <a:path w="7442200" h="4927600">
                <a:moveTo>
                  <a:pt x="50800" y="0"/>
                </a:moveTo>
                <a:lnTo>
                  <a:pt x="7340593" y="0"/>
                </a:lnTo>
                <a:cubicBezTo>
                  <a:pt x="7396709" y="0"/>
                  <a:pt x="7442200" y="45491"/>
                  <a:pt x="7442200" y="101607"/>
                </a:cubicBezTo>
                <a:lnTo>
                  <a:pt x="7442200" y="4825993"/>
                </a:lnTo>
                <a:cubicBezTo>
                  <a:pt x="7442200" y="4882109"/>
                  <a:pt x="7396709" y="4927600"/>
                  <a:pt x="7340593" y="4927600"/>
                </a:cubicBezTo>
                <a:lnTo>
                  <a:pt x="50800" y="4927600"/>
                </a:lnTo>
                <a:cubicBezTo>
                  <a:pt x="22744" y="4927600"/>
                  <a:pt x="0" y="4904856"/>
                  <a:pt x="0" y="4876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33400" y="1625600"/>
            <a:ext cx="50800" cy="4927600"/>
          </a:xfrm>
          <a:custGeom>
            <a:avLst/>
            <a:gdLst/>
            <a:ahLst/>
            <a:cxnLst/>
            <a:rect l="l" t="t" r="r" b="b"/>
            <a:pathLst>
              <a:path w="50800" h="4927600">
                <a:moveTo>
                  <a:pt x="50800" y="0"/>
                </a:moveTo>
                <a:lnTo>
                  <a:pt x="50800" y="0"/>
                </a:lnTo>
                <a:lnTo>
                  <a:pt x="50800" y="4927600"/>
                </a:lnTo>
                <a:lnTo>
                  <a:pt x="50800" y="4927600"/>
                </a:lnTo>
                <a:cubicBezTo>
                  <a:pt x="22763" y="4927600"/>
                  <a:pt x="0" y="4904837"/>
                  <a:pt x="0" y="48768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6" name="Text 4"/>
          <p:cNvSpPr/>
          <p:nvPr/>
        </p:nvSpPr>
        <p:spPr>
          <a:xfrm>
            <a:off x="7620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批量处理配置</a:t>
            </a:r>
            <a:endParaRPr lang="en-US" sz="1600" dirty="0"/>
          </a:p>
        </p:txBody>
      </p:sp>
      <p:sp>
        <p:nvSpPr>
          <p:cNvPr id="7" name="Shape 5"/>
          <p:cNvSpPr/>
          <p:nvPr/>
        </p:nvSpPr>
        <p:spPr>
          <a:xfrm>
            <a:off x="762000" y="2336800"/>
            <a:ext cx="7010400" cy="2540000"/>
          </a:xfrm>
          <a:custGeom>
            <a:avLst/>
            <a:gdLst/>
            <a:ahLst/>
            <a:cxnLst/>
            <a:rect l="l" t="t" r="r" b="b"/>
            <a:pathLst>
              <a:path w="7010400" h="2540000">
                <a:moveTo>
                  <a:pt x="50800" y="0"/>
                </a:moveTo>
                <a:lnTo>
                  <a:pt x="6959600" y="0"/>
                </a:lnTo>
                <a:cubicBezTo>
                  <a:pt x="6987637" y="0"/>
                  <a:pt x="7010400" y="22763"/>
                  <a:pt x="7010400" y="50800"/>
                </a:cubicBezTo>
                <a:lnTo>
                  <a:pt x="7010400" y="2489200"/>
                </a:lnTo>
                <a:cubicBezTo>
                  <a:pt x="7010400" y="2517237"/>
                  <a:pt x="6987637" y="2540000"/>
                  <a:pt x="6959600" y="2540000"/>
                </a:cubicBezTo>
                <a:lnTo>
                  <a:pt x="50800" y="2540000"/>
                </a:lnTo>
                <a:cubicBezTo>
                  <a:pt x="22763" y="2540000"/>
                  <a:pt x="0" y="2517237"/>
                  <a:pt x="0" y="2489200"/>
                </a:cubicBezTo>
                <a:lnTo>
                  <a:pt x="0" y="50800"/>
                </a:lnTo>
                <a:cubicBezTo>
                  <a:pt x="0" y="22763"/>
                  <a:pt x="22763" y="0"/>
                  <a:pt x="50800" y="0"/>
                </a:cubicBezTo>
                <a:close/>
              </a:path>
            </a:pathLst>
          </a:custGeom>
          <a:solidFill>
            <a:srgbClr val="1A1D21">
              <a:alpha val="60000"/>
            </a:srgbClr>
          </a:solidFill>
          <a:ln/>
        </p:spPr>
        <p:txBody>
          <a:bodyPr/>
          <a:lstStyle/>
          <a:p>
            <a:endParaRPr lang="zh-CN" altLang="en-US"/>
          </a:p>
        </p:txBody>
      </p:sp>
      <p:sp>
        <p:nvSpPr>
          <p:cNvPr id="8" name="Text 6"/>
          <p:cNvSpPr/>
          <p:nvPr/>
        </p:nvSpPr>
        <p:spPr>
          <a:xfrm>
            <a:off x="914400" y="2489200"/>
            <a:ext cx="6781800" cy="2235200"/>
          </a:xfrm>
          <a:prstGeom prst="rect">
            <a:avLst/>
          </a:prstGeom>
          <a:noFill/>
          <a:ln/>
        </p:spPr>
        <p:txBody>
          <a:bodyPr wrap="square" lIns="0" tIns="0" rIns="0" bIns="0" rtlCol="0" anchor="ctr"/>
          <a:lstStyle/>
          <a:p>
            <a:pPr>
              <a:lnSpc>
                <a:spcPct val="110000"/>
              </a:lnSpc>
            </a:pPr>
            <a:r>
              <a:rPr lang="en-US" sz="1200" dirty="0">
                <a:solidFill>
                  <a:srgbClr val="00B050"/>
                </a:solidFill>
                <a:latin typeface="MiSans" pitchFamily="34" charset="0"/>
                <a:ea typeface="MiSans" pitchFamily="34" charset="-122"/>
                <a:cs typeface="MiSans" pitchFamily="34" charset="-120"/>
              </a:rPr>
              <a:t># </a:t>
            </a:r>
            <a:r>
              <a:rPr lang="en-US" sz="1200" dirty="0" err="1">
                <a:solidFill>
                  <a:srgbClr val="00B050"/>
                </a:solidFill>
                <a:latin typeface="MiSans" pitchFamily="34" charset="0"/>
                <a:ea typeface="MiSans" pitchFamily="34" charset="-122"/>
                <a:cs typeface="MiSans" pitchFamily="34" charset="-120"/>
              </a:rPr>
              <a:t>批量大小限制（字节</a:t>
            </a:r>
            <a:r>
              <a:rPr lang="en-US" sz="1200" dirty="0">
                <a:solidFill>
                  <a:srgbClr val="00B050"/>
                </a:solidFill>
                <a:latin typeface="MiSans" pitchFamily="34" charset="0"/>
                <a:ea typeface="MiSans" pitchFamily="34" charset="-122"/>
                <a:cs typeface="MiSans" pitchFamily="34" charset="-120"/>
              </a:rPr>
              <a:t>）</a:t>
            </a:r>
          </a:p>
          <a:p>
            <a:pPr>
              <a:lnSpc>
                <a:spcPct val="110000"/>
              </a:lnSpc>
            </a:pPr>
            <a:r>
              <a:rPr lang="en-US" sz="1200" dirty="0">
                <a:solidFill>
                  <a:srgbClr val="718096"/>
                </a:solidFill>
                <a:latin typeface="MiSans" pitchFamily="34" charset="0"/>
                <a:ea typeface="MiSans" pitchFamily="34" charset="-122"/>
                <a:cs typeface="MiSans" pitchFamily="34" charset="-120"/>
              </a:rPr>
              <a:t> </a:t>
            </a:r>
            <a:r>
              <a:rPr lang="en-US" sz="1200" dirty="0">
                <a:solidFill>
                  <a:srgbClr val="D69E2E"/>
                </a:solidFill>
                <a:latin typeface="MiSans" pitchFamily="34" charset="0"/>
                <a:ea typeface="MiSans" pitchFamily="34" charset="-122"/>
                <a:cs typeface="MiSans" pitchFamily="34" charset="-120"/>
              </a:rPr>
              <a:t>batch.size</a:t>
            </a:r>
            <a:r>
              <a:rPr lang="en-US" sz="1200" dirty="0">
                <a:solidFill>
                  <a:srgbClr val="718096"/>
                </a:solidFill>
                <a:latin typeface="MiSans" pitchFamily="34" charset="0"/>
                <a:ea typeface="MiSans" pitchFamily="34" charset="-122"/>
                <a:cs typeface="MiSans" pitchFamily="34" charset="-120"/>
              </a:rPr>
              <a:t>=16384 </a:t>
            </a:r>
          </a:p>
          <a:p>
            <a:pPr>
              <a:lnSpc>
                <a:spcPct val="110000"/>
              </a:lnSpc>
            </a:pPr>
            <a:r>
              <a:rPr lang="en-US" sz="1200" dirty="0">
                <a:solidFill>
                  <a:srgbClr val="00B050"/>
                </a:solidFill>
                <a:latin typeface="MiSans" pitchFamily="34" charset="0"/>
                <a:ea typeface="MiSans" pitchFamily="34" charset="-122"/>
                <a:cs typeface="MiSans" pitchFamily="34" charset="-120"/>
              </a:rPr>
              <a:t># </a:t>
            </a:r>
            <a:r>
              <a:rPr lang="en-US" sz="1200" dirty="0" err="1">
                <a:solidFill>
                  <a:srgbClr val="00B050"/>
                </a:solidFill>
                <a:latin typeface="MiSans" pitchFamily="34" charset="0"/>
                <a:ea typeface="MiSans" pitchFamily="34" charset="-122"/>
                <a:cs typeface="MiSans" pitchFamily="34" charset="-120"/>
              </a:rPr>
              <a:t>等待时间（毫秒</a:t>
            </a:r>
            <a:r>
              <a:rPr lang="en-US" sz="1200" dirty="0">
                <a:solidFill>
                  <a:srgbClr val="00B050"/>
                </a:solidFill>
                <a:latin typeface="MiSans" pitchFamily="34" charset="0"/>
                <a:ea typeface="MiSans" pitchFamily="34" charset="-122"/>
                <a:cs typeface="MiSans" pitchFamily="34" charset="-120"/>
              </a:rPr>
              <a:t>）</a:t>
            </a:r>
          </a:p>
          <a:p>
            <a:pPr>
              <a:lnSpc>
                <a:spcPct val="110000"/>
              </a:lnSpc>
            </a:pPr>
            <a:r>
              <a:rPr lang="en-US" sz="1200" dirty="0">
                <a:solidFill>
                  <a:srgbClr val="718096"/>
                </a:solidFill>
                <a:latin typeface="MiSans" pitchFamily="34" charset="0"/>
                <a:ea typeface="MiSans" pitchFamily="34" charset="-122"/>
                <a:cs typeface="MiSans" pitchFamily="34" charset="-120"/>
              </a:rPr>
              <a:t> </a:t>
            </a:r>
            <a:r>
              <a:rPr lang="en-US" sz="1200" dirty="0">
                <a:solidFill>
                  <a:srgbClr val="D69E2E"/>
                </a:solidFill>
                <a:latin typeface="MiSans" pitchFamily="34" charset="0"/>
                <a:ea typeface="MiSans" pitchFamily="34" charset="-122"/>
                <a:cs typeface="MiSans" pitchFamily="34" charset="-120"/>
              </a:rPr>
              <a:t>linger.ms</a:t>
            </a:r>
            <a:r>
              <a:rPr lang="en-US" sz="1200" dirty="0">
                <a:solidFill>
                  <a:srgbClr val="718096"/>
                </a:solidFill>
                <a:latin typeface="MiSans" pitchFamily="34" charset="0"/>
                <a:ea typeface="MiSans" pitchFamily="34" charset="-122"/>
                <a:cs typeface="MiSans" pitchFamily="34" charset="-120"/>
              </a:rPr>
              <a:t>=5 </a:t>
            </a:r>
          </a:p>
          <a:p>
            <a:pPr>
              <a:lnSpc>
                <a:spcPct val="110000"/>
              </a:lnSpc>
            </a:pPr>
            <a:r>
              <a:rPr lang="en-US" sz="1200" dirty="0">
                <a:solidFill>
                  <a:srgbClr val="00B050"/>
                </a:solidFill>
                <a:latin typeface="MiSans" pitchFamily="34" charset="0"/>
                <a:ea typeface="MiSans" pitchFamily="34" charset="-122"/>
                <a:cs typeface="MiSans" pitchFamily="34" charset="-120"/>
              </a:rPr>
              <a:t># 缓冲区大小（字节） </a:t>
            </a:r>
          </a:p>
          <a:p>
            <a:pPr>
              <a:lnSpc>
                <a:spcPct val="110000"/>
              </a:lnSpc>
            </a:pPr>
            <a:r>
              <a:rPr lang="en-US" sz="1200" dirty="0" err="1">
                <a:solidFill>
                  <a:srgbClr val="D69E2E"/>
                </a:solidFill>
                <a:latin typeface="MiSans" pitchFamily="34" charset="0"/>
                <a:ea typeface="MiSans" pitchFamily="34" charset="-122"/>
                <a:cs typeface="MiSans" pitchFamily="34" charset="-120"/>
              </a:rPr>
              <a:t>buffer.memory</a:t>
            </a:r>
            <a:r>
              <a:rPr lang="en-US" sz="1200" dirty="0">
                <a:solidFill>
                  <a:srgbClr val="718096"/>
                </a:solidFill>
                <a:latin typeface="MiSans" pitchFamily="34" charset="0"/>
                <a:ea typeface="MiSans" pitchFamily="34" charset="-122"/>
                <a:cs typeface="MiSans" pitchFamily="34" charset="-120"/>
              </a:rPr>
              <a:t>=33554432 </a:t>
            </a:r>
          </a:p>
          <a:p>
            <a:pPr>
              <a:lnSpc>
                <a:spcPct val="110000"/>
              </a:lnSpc>
            </a:pPr>
            <a:r>
              <a:rPr lang="en-US" sz="1200" dirty="0">
                <a:solidFill>
                  <a:srgbClr val="00B050"/>
                </a:solidFill>
                <a:latin typeface="MiSans" pitchFamily="34" charset="0"/>
                <a:ea typeface="MiSans" pitchFamily="34" charset="-122"/>
                <a:cs typeface="MiSans" pitchFamily="34" charset="-120"/>
              </a:rPr>
              <a:t># </a:t>
            </a:r>
            <a:r>
              <a:rPr lang="en-US" sz="1200" dirty="0" err="1">
                <a:solidFill>
                  <a:srgbClr val="00B050"/>
                </a:solidFill>
                <a:latin typeface="MiSans" pitchFamily="34" charset="0"/>
                <a:ea typeface="MiSans" pitchFamily="34" charset="-122"/>
                <a:cs typeface="MiSans" pitchFamily="34" charset="-120"/>
              </a:rPr>
              <a:t>压缩类型</a:t>
            </a:r>
            <a:endParaRPr lang="en-US" sz="1200" dirty="0">
              <a:solidFill>
                <a:srgbClr val="00B050"/>
              </a:solidFill>
              <a:latin typeface="MiSans" pitchFamily="34" charset="0"/>
              <a:ea typeface="MiSans" pitchFamily="34" charset="-122"/>
              <a:cs typeface="MiSans" pitchFamily="34" charset="-120"/>
            </a:endParaRPr>
          </a:p>
          <a:p>
            <a:pPr>
              <a:lnSpc>
                <a:spcPct val="110000"/>
              </a:lnSpc>
            </a:pPr>
            <a:r>
              <a:rPr lang="en-US" sz="1200" dirty="0">
                <a:solidFill>
                  <a:srgbClr val="718096"/>
                </a:solidFill>
                <a:latin typeface="MiSans" pitchFamily="34" charset="0"/>
                <a:ea typeface="MiSans" pitchFamily="34" charset="-122"/>
                <a:cs typeface="MiSans" pitchFamily="34" charset="-120"/>
              </a:rPr>
              <a:t> </a:t>
            </a:r>
            <a:r>
              <a:rPr lang="en-US" sz="1200" dirty="0">
                <a:solidFill>
                  <a:srgbClr val="D69E2E"/>
                </a:solidFill>
                <a:latin typeface="MiSans" pitchFamily="34" charset="0"/>
                <a:ea typeface="MiSans" pitchFamily="34" charset="-122"/>
                <a:cs typeface="MiSans" pitchFamily="34" charset="-120"/>
              </a:rPr>
              <a:t>compression.type</a:t>
            </a:r>
            <a:r>
              <a:rPr lang="en-US" sz="1200" dirty="0">
                <a:solidFill>
                  <a:srgbClr val="718096"/>
                </a:solidFill>
                <a:latin typeface="MiSans" pitchFamily="34" charset="0"/>
                <a:ea typeface="MiSans" pitchFamily="34" charset="-122"/>
                <a:cs typeface="MiSans" pitchFamily="34" charset="-120"/>
              </a:rPr>
              <a:t>=none</a:t>
            </a:r>
            <a:endParaRPr lang="en-US" sz="1600" dirty="0"/>
          </a:p>
        </p:txBody>
      </p:sp>
      <p:sp>
        <p:nvSpPr>
          <p:cNvPr id="9" name="Text 7"/>
          <p:cNvSpPr/>
          <p:nvPr/>
        </p:nvSpPr>
        <p:spPr>
          <a:xfrm>
            <a:off x="762000" y="502920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batch.size:</a:t>
            </a:r>
            <a:r>
              <a:rPr lang="en-US" sz="1400" dirty="0">
                <a:solidFill>
                  <a:srgbClr val="E2E8F0">
                    <a:alpha val="80000"/>
                  </a:srgbClr>
                </a:solidFill>
                <a:latin typeface="MiSans" pitchFamily="34" charset="0"/>
                <a:ea typeface="MiSans" pitchFamily="34" charset="-122"/>
                <a:cs typeface="MiSans" pitchFamily="34" charset="-120"/>
              </a:rPr>
              <a:t> 单个批次的消息大小上限，默认 16KB</a:t>
            </a:r>
            <a:endParaRPr lang="en-US" sz="1600" dirty="0"/>
          </a:p>
        </p:txBody>
      </p:sp>
      <p:sp>
        <p:nvSpPr>
          <p:cNvPr id="10" name="Text 8"/>
          <p:cNvSpPr/>
          <p:nvPr/>
        </p:nvSpPr>
        <p:spPr>
          <a:xfrm>
            <a:off x="762000" y="538480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linger.ms:</a:t>
            </a:r>
            <a:r>
              <a:rPr lang="en-US" sz="1400" dirty="0">
                <a:solidFill>
                  <a:srgbClr val="E2E8F0">
                    <a:alpha val="80000"/>
                  </a:srgbClr>
                </a:solidFill>
                <a:latin typeface="MiSans" pitchFamily="34" charset="0"/>
                <a:ea typeface="MiSans" pitchFamily="34" charset="-122"/>
                <a:cs typeface="MiSans" pitchFamily="34" charset="-120"/>
              </a:rPr>
              <a:t> 等待更多消息加入批次的时间，默认 5ms</a:t>
            </a:r>
            <a:endParaRPr lang="en-US" sz="1600" dirty="0"/>
          </a:p>
        </p:txBody>
      </p:sp>
      <p:sp>
        <p:nvSpPr>
          <p:cNvPr id="11" name="Text 9"/>
          <p:cNvSpPr/>
          <p:nvPr/>
        </p:nvSpPr>
        <p:spPr>
          <a:xfrm>
            <a:off x="762000" y="574040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buffer.memory:</a:t>
            </a:r>
            <a:r>
              <a:rPr lang="en-US" sz="1400" dirty="0">
                <a:solidFill>
                  <a:srgbClr val="E2E8F0">
                    <a:alpha val="80000"/>
                  </a:srgbClr>
                </a:solidFill>
                <a:latin typeface="MiSans" pitchFamily="34" charset="0"/>
                <a:ea typeface="MiSans" pitchFamily="34" charset="-122"/>
                <a:cs typeface="MiSans" pitchFamily="34" charset="-120"/>
              </a:rPr>
              <a:t> 客户端总缓冲区大小，默认 32MB</a:t>
            </a:r>
            <a:endParaRPr lang="en-US" sz="1600" dirty="0"/>
          </a:p>
        </p:txBody>
      </p:sp>
      <p:sp>
        <p:nvSpPr>
          <p:cNvPr id="12" name="Text 10"/>
          <p:cNvSpPr/>
          <p:nvPr/>
        </p:nvSpPr>
        <p:spPr>
          <a:xfrm>
            <a:off x="762000" y="609600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compression.type:</a:t>
            </a:r>
            <a:r>
              <a:rPr lang="en-US" sz="1400" dirty="0">
                <a:solidFill>
                  <a:srgbClr val="E2E8F0">
                    <a:alpha val="80000"/>
                  </a:srgbClr>
                </a:solidFill>
                <a:latin typeface="MiSans" pitchFamily="34" charset="0"/>
                <a:ea typeface="MiSans" pitchFamily="34" charset="-122"/>
                <a:cs typeface="MiSans" pitchFamily="34" charset="-120"/>
              </a:rPr>
              <a:t> 压缩算法(none/gzip/snappy/lz4)</a:t>
            </a:r>
            <a:endParaRPr lang="en-US" sz="1600" dirty="0"/>
          </a:p>
        </p:txBody>
      </p:sp>
      <p:sp>
        <p:nvSpPr>
          <p:cNvPr id="13" name="Shape 11"/>
          <p:cNvSpPr/>
          <p:nvPr/>
        </p:nvSpPr>
        <p:spPr>
          <a:xfrm>
            <a:off x="533400" y="67056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14" name="Shape 12"/>
          <p:cNvSpPr/>
          <p:nvPr/>
        </p:nvSpPr>
        <p:spPr>
          <a:xfrm>
            <a:off x="533400" y="67056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15" name="Text 13"/>
          <p:cNvSpPr/>
          <p:nvPr/>
        </p:nvSpPr>
        <p:spPr>
          <a:xfrm>
            <a:off x="762000" y="690880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批量处理优势</a:t>
            </a:r>
            <a:endParaRPr lang="en-US" sz="1600" dirty="0"/>
          </a:p>
        </p:txBody>
      </p:sp>
      <p:sp>
        <p:nvSpPr>
          <p:cNvPr id="16" name="Shape 14"/>
          <p:cNvSpPr/>
          <p:nvPr/>
        </p:nvSpPr>
        <p:spPr>
          <a:xfrm>
            <a:off x="798513" y="74676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718096"/>
          </a:solidFill>
          <a:ln/>
        </p:spPr>
        <p:txBody>
          <a:bodyPr/>
          <a:lstStyle/>
          <a:p>
            <a:endParaRPr lang="zh-CN" altLang="en-US"/>
          </a:p>
        </p:txBody>
      </p:sp>
      <p:sp>
        <p:nvSpPr>
          <p:cNvPr id="17" name="Text 15"/>
          <p:cNvSpPr/>
          <p:nvPr/>
        </p:nvSpPr>
        <p:spPr>
          <a:xfrm>
            <a:off x="1085850" y="7416800"/>
            <a:ext cx="50038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减少网络请求:</a:t>
            </a:r>
            <a:r>
              <a:rPr lang="en-US" sz="1400" dirty="0">
                <a:solidFill>
                  <a:srgbClr val="E2E8F0">
                    <a:alpha val="80000"/>
                  </a:srgbClr>
                </a:solidFill>
                <a:latin typeface="MiSans" pitchFamily="34" charset="0"/>
                <a:ea typeface="MiSans" pitchFamily="34" charset="-122"/>
                <a:cs typeface="MiSans" pitchFamily="34" charset="-120"/>
              </a:rPr>
              <a:t> 将多个消息合并为一个网络请求，显著减少 RTT</a:t>
            </a:r>
            <a:endParaRPr lang="en-US" sz="1600" dirty="0"/>
          </a:p>
        </p:txBody>
      </p:sp>
      <p:sp>
        <p:nvSpPr>
          <p:cNvPr id="18" name="Shape 16"/>
          <p:cNvSpPr/>
          <p:nvPr/>
        </p:nvSpPr>
        <p:spPr>
          <a:xfrm>
            <a:off x="798513" y="78232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718096"/>
          </a:solidFill>
          <a:ln/>
        </p:spPr>
        <p:txBody>
          <a:bodyPr/>
          <a:lstStyle/>
          <a:p>
            <a:endParaRPr lang="zh-CN" altLang="en-US"/>
          </a:p>
        </p:txBody>
      </p:sp>
      <p:sp>
        <p:nvSpPr>
          <p:cNvPr id="19" name="Text 17"/>
          <p:cNvSpPr/>
          <p:nvPr/>
        </p:nvSpPr>
        <p:spPr>
          <a:xfrm>
            <a:off x="1085850" y="7772400"/>
            <a:ext cx="42672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提高吞吐量:</a:t>
            </a:r>
            <a:r>
              <a:rPr lang="en-US" sz="1400" dirty="0">
                <a:solidFill>
                  <a:srgbClr val="E2E8F0">
                    <a:alpha val="80000"/>
                  </a:srgbClr>
                </a:solidFill>
                <a:latin typeface="MiSans" pitchFamily="34" charset="0"/>
                <a:ea typeface="MiSans" pitchFamily="34" charset="-122"/>
                <a:cs typeface="MiSans" pitchFamily="34" charset="-120"/>
              </a:rPr>
              <a:t> 显著减少网络往返开销，提升系统吞吐量</a:t>
            </a:r>
            <a:endParaRPr lang="en-US" sz="1600" dirty="0"/>
          </a:p>
        </p:txBody>
      </p:sp>
      <p:sp>
        <p:nvSpPr>
          <p:cNvPr id="20" name="Shape 18"/>
          <p:cNvSpPr/>
          <p:nvPr/>
        </p:nvSpPr>
        <p:spPr>
          <a:xfrm>
            <a:off x="798513" y="81788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718096"/>
          </a:solidFill>
          <a:ln/>
        </p:spPr>
        <p:txBody>
          <a:bodyPr/>
          <a:lstStyle/>
          <a:p>
            <a:endParaRPr lang="zh-CN" altLang="en-US"/>
          </a:p>
        </p:txBody>
      </p:sp>
      <p:sp>
        <p:nvSpPr>
          <p:cNvPr id="21" name="Text 19"/>
          <p:cNvSpPr/>
          <p:nvPr/>
        </p:nvSpPr>
        <p:spPr>
          <a:xfrm>
            <a:off x="1085850" y="8128000"/>
            <a:ext cx="34925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降低 CPU 开销:</a:t>
            </a:r>
            <a:r>
              <a:rPr lang="en-US" sz="1400" dirty="0">
                <a:solidFill>
                  <a:srgbClr val="E2E8F0">
                    <a:alpha val="80000"/>
                  </a:srgbClr>
                </a:solidFill>
                <a:latin typeface="MiSans" pitchFamily="34" charset="0"/>
                <a:ea typeface="MiSans" pitchFamily="34" charset="-122"/>
                <a:cs typeface="MiSans" pitchFamily="34" charset="-120"/>
              </a:rPr>
              <a:t> 减少序列化和网络处理次数</a:t>
            </a:r>
            <a:endParaRPr lang="en-US" sz="1600" dirty="0"/>
          </a:p>
        </p:txBody>
      </p:sp>
      <p:sp>
        <p:nvSpPr>
          <p:cNvPr id="22" name="Shape 20"/>
          <p:cNvSpPr/>
          <p:nvPr/>
        </p:nvSpPr>
        <p:spPr>
          <a:xfrm>
            <a:off x="8305800" y="1625600"/>
            <a:ext cx="7442200" cy="3810000"/>
          </a:xfrm>
          <a:custGeom>
            <a:avLst/>
            <a:gdLst/>
            <a:ahLst/>
            <a:cxnLst/>
            <a:rect l="l" t="t" r="r" b="b"/>
            <a:pathLst>
              <a:path w="7442200" h="3810000">
                <a:moveTo>
                  <a:pt x="50800" y="0"/>
                </a:moveTo>
                <a:lnTo>
                  <a:pt x="7340587" y="0"/>
                </a:lnTo>
                <a:cubicBezTo>
                  <a:pt x="7396706" y="0"/>
                  <a:pt x="7442200" y="45494"/>
                  <a:pt x="7442200" y="101613"/>
                </a:cubicBezTo>
                <a:lnTo>
                  <a:pt x="7442200" y="3708387"/>
                </a:lnTo>
                <a:cubicBezTo>
                  <a:pt x="7442200" y="3764506"/>
                  <a:pt x="7396706" y="3810000"/>
                  <a:pt x="7340587" y="3810000"/>
                </a:cubicBezTo>
                <a:lnTo>
                  <a:pt x="50800" y="3810000"/>
                </a:lnTo>
                <a:cubicBezTo>
                  <a:pt x="22744" y="3810000"/>
                  <a:pt x="0" y="3787256"/>
                  <a:pt x="0" y="37592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3" name="Shape 21"/>
          <p:cNvSpPr/>
          <p:nvPr/>
        </p:nvSpPr>
        <p:spPr>
          <a:xfrm>
            <a:off x="8305800" y="1625600"/>
            <a:ext cx="50800" cy="3810000"/>
          </a:xfrm>
          <a:custGeom>
            <a:avLst/>
            <a:gdLst/>
            <a:ahLst/>
            <a:cxnLst/>
            <a:rect l="l" t="t" r="r" b="b"/>
            <a:pathLst>
              <a:path w="50800" h="3810000">
                <a:moveTo>
                  <a:pt x="50800" y="0"/>
                </a:moveTo>
                <a:lnTo>
                  <a:pt x="50800" y="0"/>
                </a:lnTo>
                <a:lnTo>
                  <a:pt x="50800" y="3810000"/>
                </a:lnTo>
                <a:lnTo>
                  <a:pt x="50800" y="3810000"/>
                </a:lnTo>
                <a:cubicBezTo>
                  <a:pt x="22763" y="3810000"/>
                  <a:pt x="0" y="3787237"/>
                  <a:pt x="0" y="37592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24" name="Text 22"/>
          <p:cNvSpPr/>
          <p:nvPr/>
        </p:nvSpPr>
        <p:spPr>
          <a:xfrm>
            <a:off x="85344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性能优化策略</a:t>
            </a:r>
            <a:endParaRPr lang="en-US" sz="1600" dirty="0"/>
          </a:p>
        </p:txBody>
      </p:sp>
      <p:sp>
        <p:nvSpPr>
          <p:cNvPr id="25" name="Shape 23"/>
          <p:cNvSpPr/>
          <p:nvPr/>
        </p:nvSpPr>
        <p:spPr>
          <a:xfrm>
            <a:off x="8534400" y="2336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D69E2E"/>
          </a:solidFill>
          <a:ln/>
        </p:spPr>
        <p:txBody>
          <a:bodyPr/>
          <a:lstStyle/>
          <a:p>
            <a:endParaRPr lang="zh-CN" altLang="en-US"/>
          </a:p>
        </p:txBody>
      </p:sp>
      <p:sp>
        <p:nvSpPr>
          <p:cNvPr id="26" name="Text 24"/>
          <p:cNvSpPr/>
          <p:nvPr/>
        </p:nvSpPr>
        <p:spPr>
          <a:xfrm>
            <a:off x="8702576" y="2413000"/>
            <a:ext cx="165100" cy="254000"/>
          </a:xfrm>
          <a:prstGeom prst="rect">
            <a:avLst/>
          </a:prstGeom>
          <a:noFill/>
          <a:ln/>
        </p:spPr>
        <p:txBody>
          <a:bodyPr wrap="square" lIns="0" tIns="0" rIns="0" bIns="0" rtlCol="0" anchor="ctr"/>
          <a:lstStyle/>
          <a:p>
            <a:pPr>
              <a:lnSpc>
                <a:spcPct val="120000"/>
              </a:lnSpc>
            </a:pPr>
            <a:r>
              <a:rPr lang="en-US" sz="1400" b="1" dirty="0">
                <a:solidFill>
                  <a:srgbClr val="1A1D21"/>
                </a:solidFill>
                <a:latin typeface="MiSans" pitchFamily="34" charset="0"/>
                <a:ea typeface="MiSans" pitchFamily="34" charset="-122"/>
                <a:cs typeface="MiSans" pitchFamily="34" charset="-120"/>
              </a:rPr>
              <a:t>1</a:t>
            </a:r>
            <a:endParaRPr lang="en-US" sz="1600" dirty="0"/>
          </a:p>
        </p:txBody>
      </p:sp>
      <p:sp>
        <p:nvSpPr>
          <p:cNvPr id="27" name="Text 25"/>
          <p:cNvSpPr/>
          <p:nvPr/>
        </p:nvSpPr>
        <p:spPr>
          <a:xfrm>
            <a:off x="9093200" y="2336800"/>
            <a:ext cx="5054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调整批量大小</a:t>
            </a:r>
            <a:endParaRPr lang="en-US" sz="1600" dirty="0"/>
          </a:p>
        </p:txBody>
      </p:sp>
      <p:sp>
        <p:nvSpPr>
          <p:cNvPr id="28" name="Text 26"/>
          <p:cNvSpPr/>
          <p:nvPr/>
        </p:nvSpPr>
        <p:spPr>
          <a:xfrm>
            <a:off x="9093200" y="2692400"/>
            <a:ext cx="50419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根据消息大小和网络条件调整 batch.size，大消息使用更大批次</a:t>
            </a:r>
            <a:endParaRPr lang="en-US" sz="1600" dirty="0"/>
          </a:p>
        </p:txBody>
      </p:sp>
      <p:sp>
        <p:nvSpPr>
          <p:cNvPr id="29" name="Shape 27"/>
          <p:cNvSpPr/>
          <p:nvPr/>
        </p:nvSpPr>
        <p:spPr>
          <a:xfrm>
            <a:off x="8534400" y="3098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18096"/>
          </a:solidFill>
          <a:ln/>
        </p:spPr>
        <p:txBody>
          <a:bodyPr/>
          <a:lstStyle/>
          <a:p>
            <a:endParaRPr lang="zh-CN" altLang="en-US"/>
          </a:p>
        </p:txBody>
      </p:sp>
      <p:sp>
        <p:nvSpPr>
          <p:cNvPr id="30" name="Text 28"/>
          <p:cNvSpPr/>
          <p:nvPr/>
        </p:nvSpPr>
        <p:spPr>
          <a:xfrm>
            <a:off x="8687594" y="3175000"/>
            <a:ext cx="190500" cy="254000"/>
          </a:xfrm>
          <a:prstGeom prst="rect">
            <a:avLst/>
          </a:prstGeom>
          <a:noFill/>
          <a:ln/>
        </p:spPr>
        <p:txBody>
          <a:bodyPr wrap="square" lIns="0" tIns="0" rIns="0" bIns="0" rtlCol="0" anchor="ctr"/>
          <a:lstStyle/>
          <a:p>
            <a:pPr>
              <a:lnSpc>
                <a:spcPct val="120000"/>
              </a:lnSpc>
            </a:pPr>
            <a:r>
              <a:rPr lang="en-US" sz="1400" b="1" dirty="0">
                <a:solidFill>
                  <a:srgbClr val="1A1D21"/>
                </a:solidFill>
                <a:latin typeface="MiSans" pitchFamily="34" charset="0"/>
                <a:ea typeface="MiSans" pitchFamily="34" charset="-122"/>
                <a:cs typeface="MiSans" pitchFamily="34" charset="-120"/>
              </a:rPr>
              <a:t>2</a:t>
            </a:r>
            <a:endParaRPr lang="en-US" sz="1600" dirty="0"/>
          </a:p>
        </p:txBody>
      </p:sp>
      <p:sp>
        <p:nvSpPr>
          <p:cNvPr id="31" name="Text 29"/>
          <p:cNvSpPr/>
          <p:nvPr/>
        </p:nvSpPr>
        <p:spPr>
          <a:xfrm>
            <a:off x="9093200" y="3098800"/>
            <a:ext cx="48133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合理设置等待时间</a:t>
            </a:r>
            <a:endParaRPr lang="en-US" sz="1600" dirty="0"/>
          </a:p>
        </p:txBody>
      </p:sp>
      <p:sp>
        <p:nvSpPr>
          <p:cNvPr id="32" name="Text 30"/>
          <p:cNvSpPr/>
          <p:nvPr/>
        </p:nvSpPr>
        <p:spPr>
          <a:xfrm>
            <a:off x="9093200" y="3454400"/>
            <a:ext cx="48006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平衡延迟和吞吐量，设置 linger.ms，高吞吐场景可适当增大</a:t>
            </a:r>
            <a:endParaRPr lang="en-US" sz="1600" dirty="0"/>
          </a:p>
        </p:txBody>
      </p:sp>
      <p:sp>
        <p:nvSpPr>
          <p:cNvPr id="33" name="Shape 31"/>
          <p:cNvSpPr/>
          <p:nvPr/>
        </p:nvSpPr>
        <p:spPr>
          <a:xfrm>
            <a:off x="8534400" y="3860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D69E2E"/>
          </a:solidFill>
          <a:ln/>
        </p:spPr>
        <p:txBody>
          <a:bodyPr/>
          <a:lstStyle/>
          <a:p>
            <a:endParaRPr lang="zh-CN" altLang="en-US"/>
          </a:p>
        </p:txBody>
      </p:sp>
      <p:sp>
        <p:nvSpPr>
          <p:cNvPr id="34" name="Text 32"/>
          <p:cNvSpPr/>
          <p:nvPr/>
        </p:nvSpPr>
        <p:spPr>
          <a:xfrm>
            <a:off x="8685312" y="3937000"/>
            <a:ext cx="190500" cy="254000"/>
          </a:xfrm>
          <a:prstGeom prst="rect">
            <a:avLst/>
          </a:prstGeom>
          <a:noFill/>
          <a:ln/>
        </p:spPr>
        <p:txBody>
          <a:bodyPr wrap="square" lIns="0" tIns="0" rIns="0" bIns="0" rtlCol="0" anchor="ctr"/>
          <a:lstStyle/>
          <a:p>
            <a:pPr>
              <a:lnSpc>
                <a:spcPct val="120000"/>
              </a:lnSpc>
            </a:pPr>
            <a:r>
              <a:rPr lang="en-US" sz="1400" b="1" dirty="0">
                <a:solidFill>
                  <a:srgbClr val="1A1D21"/>
                </a:solidFill>
                <a:latin typeface="MiSans" pitchFamily="34" charset="0"/>
                <a:ea typeface="MiSans" pitchFamily="34" charset="-122"/>
                <a:cs typeface="MiSans" pitchFamily="34" charset="-120"/>
              </a:rPr>
              <a:t>3</a:t>
            </a:r>
            <a:endParaRPr lang="en-US" sz="1600" dirty="0"/>
          </a:p>
        </p:txBody>
      </p:sp>
      <p:sp>
        <p:nvSpPr>
          <p:cNvPr id="35" name="Text 33"/>
          <p:cNvSpPr/>
          <p:nvPr/>
        </p:nvSpPr>
        <p:spPr>
          <a:xfrm>
            <a:off x="9093200" y="3860800"/>
            <a:ext cx="50546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启用压缩</a:t>
            </a:r>
            <a:endParaRPr lang="en-US" sz="1600" dirty="0"/>
          </a:p>
        </p:txBody>
      </p:sp>
      <p:sp>
        <p:nvSpPr>
          <p:cNvPr id="36" name="Text 34"/>
          <p:cNvSpPr/>
          <p:nvPr/>
        </p:nvSpPr>
        <p:spPr>
          <a:xfrm>
            <a:off x="9093200" y="4216400"/>
            <a:ext cx="50419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对于文本数据启用压缩(snappy/lz4 压缩算法)，减少网络传输量</a:t>
            </a:r>
            <a:endParaRPr lang="en-US" sz="1600" dirty="0"/>
          </a:p>
        </p:txBody>
      </p:sp>
      <p:sp>
        <p:nvSpPr>
          <p:cNvPr id="37" name="Shape 35"/>
          <p:cNvSpPr/>
          <p:nvPr/>
        </p:nvSpPr>
        <p:spPr>
          <a:xfrm>
            <a:off x="8534400" y="4622800"/>
            <a:ext cx="406400" cy="406400"/>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18096"/>
          </a:solidFill>
          <a:ln/>
        </p:spPr>
        <p:txBody>
          <a:bodyPr/>
          <a:lstStyle/>
          <a:p>
            <a:endParaRPr lang="zh-CN" altLang="en-US"/>
          </a:p>
        </p:txBody>
      </p:sp>
      <p:sp>
        <p:nvSpPr>
          <p:cNvPr id="38" name="Text 36"/>
          <p:cNvSpPr/>
          <p:nvPr/>
        </p:nvSpPr>
        <p:spPr>
          <a:xfrm>
            <a:off x="8685411" y="4699000"/>
            <a:ext cx="190500" cy="254000"/>
          </a:xfrm>
          <a:prstGeom prst="rect">
            <a:avLst/>
          </a:prstGeom>
          <a:noFill/>
          <a:ln/>
        </p:spPr>
        <p:txBody>
          <a:bodyPr wrap="square" lIns="0" tIns="0" rIns="0" bIns="0" rtlCol="0" anchor="ctr"/>
          <a:lstStyle/>
          <a:p>
            <a:pPr>
              <a:lnSpc>
                <a:spcPct val="120000"/>
              </a:lnSpc>
            </a:pPr>
            <a:r>
              <a:rPr lang="en-US" sz="1400" b="1" dirty="0">
                <a:solidFill>
                  <a:srgbClr val="1A1D21"/>
                </a:solidFill>
                <a:latin typeface="MiSans" pitchFamily="34" charset="0"/>
                <a:ea typeface="MiSans" pitchFamily="34" charset="-122"/>
                <a:cs typeface="MiSans" pitchFamily="34" charset="-120"/>
              </a:rPr>
              <a:t>4</a:t>
            </a:r>
            <a:endParaRPr lang="en-US" sz="1600" dirty="0"/>
          </a:p>
        </p:txBody>
      </p:sp>
      <p:sp>
        <p:nvSpPr>
          <p:cNvPr id="39" name="Text 37"/>
          <p:cNvSpPr/>
          <p:nvPr/>
        </p:nvSpPr>
        <p:spPr>
          <a:xfrm>
            <a:off x="9093200" y="4622800"/>
            <a:ext cx="4787900" cy="304800"/>
          </a:xfrm>
          <a:prstGeom prst="rect">
            <a:avLst/>
          </a:prstGeom>
          <a:noFill/>
          <a:ln/>
        </p:spPr>
        <p:txBody>
          <a:bodyPr wrap="square" lIns="0" tIns="0" rIns="0" bIns="0" rtlCol="0" anchor="ctr"/>
          <a:lstStyle/>
          <a:p>
            <a:pPr>
              <a:lnSpc>
                <a:spcPct val="130000"/>
              </a:lnSpc>
            </a:pPr>
            <a:r>
              <a:rPr lang="en-US" sz="1600" b="1" dirty="0">
                <a:solidFill>
                  <a:srgbClr val="E2E8F0"/>
                </a:solidFill>
                <a:latin typeface="MiSans" pitchFamily="34" charset="0"/>
                <a:ea typeface="MiSans" pitchFamily="34" charset="-122"/>
                <a:cs typeface="MiSans" pitchFamily="34" charset="-120"/>
              </a:rPr>
              <a:t>优化缓冲区</a:t>
            </a:r>
            <a:endParaRPr lang="en-US" sz="1600" dirty="0"/>
          </a:p>
        </p:txBody>
      </p:sp>
      <p:sp>
        <p:nvSpPr>
          <p:cNvPr id="40" name="Text 38"/>
          <p:cNvSpPr/>
          <p:nvPr/>
        </p:nvSpPr>
        <p:spPr>
          <a:xfrm>
            <a:off x="9093200" y="4978400"/>
            <a:ext cx="47752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确保 buffer.memory 足够大，避免阻塞，根据生产速率调整</a:t>
            </a:r>
            <a:endParaRPr lang="en-US" sz="1600" dirty="0"/>
          </a:p>
        </p:txBody>
      </p:sp>
      <p:sp>
        <p:nvSpPr>
          <p:cNvPr id="41" name="Shape 39"/>
          <p:cNvSpPr/>
          <p:nvPr/>
        </p:nvSpPr>
        <p:spPr>
          <a:xfrm>
            <a:off x="8305800" y="5588000"/>
            <a:ext cx="7442200" cy="2438400"/>
          </a:xfrm>
          <a:custGeom>
            <a:avLst/>
            <a:gdLst/>
            <a:ahLst/>
            <a:cxnLst/>
            <a:rect l="l" t="t" r="r" b="b"/>
            <a:pathLst>
              <a:path w="7442200" h="2438400">
                <a:moveTo>
                  <a:pt x="50800" y="0"/>
                </a:moveTo>
                <a:lnTo>
                  <a:pt x="7340592" y="0"/>
                </a:lnTo>
                <a:cubicBezTo>
                  <a:pt x="7396708" y="0"/>
                  <a:pt x="7442200" y="45492"/>
                  <a:pt x="7442200" y="101608"/>
                </a:cubicBezTo>
                <a:lnTo>
                  <a:pt x="7442200" y="2336792"/>
                </a:lnTo>
                <a:cubicBezTo>
                  <a:pt x="7442200" y="2392908"/>
                  <a:pt x="7396708" y="2438400"/>
                  <a:pt x="7340592" y="2438400"/>
                </a:cubicBezTo>
                <a:lnTo>
                  <a:pt x="50800" y="2438400"/>
                </a:lnTo>
                <a:cubicBezTo>
                  <a:pt x="22744" y="2438400"/>
                  <a:pt x="0" y="2415656"/>
                  <a:pt x="0" y="23876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42" name="Shape 40"/>
          <p:cNvSpPr/>
          <p:nvPr/>
        </p:nvSpPr>
        <p:spPr>
          <a:xfrm>
            <a:off x="8305800" y="5588000"/>
            <a:ext cx="50800" cy="2438400"/>
          </a:xfrm>
          <a:custGeom>
            <a:avLst/>
            <a:gdLst/>
            <a:ahLst/>
            <a:cxnLst/>
            <a:rect l="l" t="t" r="r" b="b"/>
            <a:pathLst>
              <a:path w="50800" h="2438400">
                <a:moveTo>
                  <a:pt x="50800" y="0"/>
                </a:moveTo>
                <a:lnTo>
                  <a:pt x="50800" y="0"/>
                </a:lnTo>
                <a:lnTo>
                  <a:pt x="50800" y="2438400"/>
                </a:lnTo>
                <a:lnTo>
                  <a:pt x="50800" y="2438400"/>
                </a:lnTo>
                <a:cubicBezTo>
                  <a:pt x="22763" y="2438400"/>
                  <a:pt x="0" y="2415637"/>
                  <a:pt x="0" y="23876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43" name="Text 41"/>
          <p:cNvSpPr/>
          <p:nvPr/>
        </p:nvSpPr>
        <p:spPr>
          <a:xfrm>
            <a:off x="8534400" y="57912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批量处理流程</a:t>
            </a:r>
            <a:endParaRPr lang="en-US" sz="1600" dirty="0"/>
          </a:p>
        </p:txBody>
      </p:sp>
      <p:sp>
        <p:nvSpPr>
          <p:cNvPr id="44" name="Shape 42"/>
          <p:cNvSpPr/>
          <p:nvPr/>
        </p:nvSpPr>
        <p:spPr>
          <a:xfrm>
            <a:off x="8534400" y="62992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solidFill>
          <a:ln/>
        </p:spPr>
        <p:txBody>
          <a:bodyPr/>
          <a:lstStyle/>
          <a:p>
            <a:endParaRPr lang="zh-CN" altLang="en-US"/>
          </a:p>
        </p:txBody>
      </p:sp>
      <p:sp>
        <p:nvSpPr>
          <p:cNvPr id="45" name="Text 43"/>
          <p:cNvSpPr/>
          <p:nvPr/>
        </p:nvSpPr>
        <p:spPr>
          <a:xfrm>
            <a:off x="8656836" y="6350000"/>
            <a:ext cx="1397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1</a:t>
            </a:r>
            <a:endParaRPr lang="en-US" sz="1600" dirty="0"/>
          </a:p>
        </p:txBody>
      </p:sp>
      <p:sp>
        <p:nvSpPr>
          <p:cNvPr id="46" name="Text 44"/>
          <p:cNvSpPr/>
          <p:nvPr/>
        </p:nvSpPr>
        <p:spPr>
          <a:xfrm>
            <a:off x="8940800" y="6324600"/>
            <a:ext cx="24638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消息进入 RecordAccumulator</a:t>
            </a:r>
            <a:endParaRPr lang="en-US" sz="1600" dirty="0"/>
          </a:p>
        </p:txBody>
      </p:sp>
      <p:sp>
        <p:nvSpPr>
          <p:cNvPr id="47" name="Shape 45"/>
          <p:cNvSpPr/>
          <p:nvPr/>
        </p:nvSpPr>
        <p:spPr>
          <a:xfrm>
            <a:off x="8534400" y="6705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solidFill>
          <a:ln/>
        </p:spPr>
        <p:txBody>
          <a:bodyPr/>
          <a:lstStyle/>
          <a:p>
            <a:endParaRPr lang="zh-CN" altLang="en-US"/>
          </a:p>
        </p:txBody>
      </p:sp>
      <p:sp>
        <p:nvSpPr>
          <p:cNvPr id="48" name="Text 46"/>
          <p:cNvSpPr/>
          <p:nvPr/>
        </p:nvSpPr>
        <p:spPr>
          <a:xfrm>
            <a:off x="8643938" y="67564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2</a:t>
            </a:r>
            <a:endParaRPr lang="en-US" sz="1600" dirty="0"/>
          </a:p>
        </p:txBody>
      </p:sp>
      <p:sp>
        <p:nvSpPr>
          <p:cNvPr id="49" name="Text 47"/>
          <p:cNvSpPr/>
          <p:nvPr/>
        </p:nvSpPr>
        <p:spPr>
          <a:xfrm>
            <a:off x="8940800" y="6731000"/>
            <a:ext cx="2298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按 Topic-Partition 分组累积</a:t>
            </a:r>
            <a:endParaRPr lang="en-US" sz="1600" dirty="0"/>
          </a:p>
        </p:txBody>
      </p:sp>
      <p:sp>
        <p:nvSpPr>
          <p:cNvPr id="50" name="Shape 48"/>
          <p:cNvSpPr/>
          <p:nvPr/>
        </p:nvSpPr>
        <p:spPr>
          <a:xfrm>
            <a:off x="8534400" y="71120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D69E2E"/>
          </a:solidFill>
          <a:ln/>
        </p:spPr>
        <p:txBody>
          <a:bodyPr/>
          <a:lstStyle/>
          <a:p>
            <a:endParaRPr lang="zh-CN" altLang="en-US"/>
          </a:p>
        </p:txBody>
      </p:sp>
      <p:sp>
        <p:nvSpPr>
          <p:cNvPr id="51" name="Text 49"/>
          <p:cNvSpPr/>
          <p:nvPr/>
        </p:nvSpPr>
        <p:spPr>
          <a:xfrm>
            <a:off x="8641953" y="71628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3</a:t>
            </a:r>
            <a:endParaRPr lang="en-US" sz="1600" dirty="0"/>
          </a:p>
        </p:txBody>
      </p:sp>
      <p:sp>
        <p:nvSpPr>
          <p:cNvPr id="52" name="Text 50"/>
          <p:cNvSpPr/>
          <p:nvPr/>
        </p:nvSpPr>
        <p:spPr>
          <a:xfrm>
            <a:off x="8940800" y="7137400"/>
            <a:ext cx="23368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达到 batch.size 或 linger.ms</a:t>
            </a:r>
            <a:endParaRPr lang="en-US" sz="1600" dirty="0"/>
          </a:p>
        </p:txBody>
      </p:sp>
      <p:sp>
        <p:nvSpPr>
          <p:cNvPr id="53" name="Shape 51"/>
          <p:cNvSpPr/>
          <p:nvPr/>
        </p:nvSpPr>
        <p:spPr>
          <a:xfrm>
            <a:off x="8534400" y="75184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718096"/>
          </a:solidFill>
          <a:ln/>
        </p:spPr>
        <p:txBody>
          <a:bodyPr/>
          <a:lstStyle/>
          <a:p>
            <a:endParaRPr lang="zh-CN" altLang="en-US"/>
          </a:p>
        </p:txBody>
      </p:sp>
      <p:sp>
        <p:nvSpPr>
          <p:cNvPr id="54" name="Text 52"/>
          <p:cNvSpPr/>
          <p:nvPr/>
        </p:nvSpPr>
        <p:spPr>
          <a:xfrm>
            <a:off x="8642052" y="7569200"/>
            <a:ext cx="165100" cy="203200"/>
          </a:xfrm>
          <a:prstGeom prst="rect">
            <a:avLst/>
          </a:prstGeom>
          <a:noFill/>
          <a:ln/>
        </p:spPr>
        <p:txBody>
          <a:bodyPr wrap="square" lIns="0" tIns="0" rIns="0" bIns="0" rtlCol="0" anchor="ctr"/>
          <a:lstStyle/>
          <a:p>
            <a:pPr>
              <a:lnSpc>
                <a:spcPct val="110000"/>
              </a:lnSpc>
            </a:pPr>
            <a:r>
              <a:rPr lang="en-US" sz="1200" b="1" dirty="0">
                <a:solidFill>
                  <a:srgbClr val="1A1D21"/>
                </a:solidFill>
                <a:latin typeface="MiSans" pitchFamily="34" charset="0"/>
                <a:ea typeface="MiSans" pitchFamily="34" charset="-122"/>
                <a:cs typeface="MiSans" pitchFamily="34" charset="-120"/>
              </a:rPr>
              <a:t>4</a:t>
            </a:r>
            <a:endParaRPr lang="en-US" sz="1600" dirty="0"/>
          </a:p>
        </p:txBody>
      </p:sp>
      <p:sp>
        <p:nvSpPr>
          <p:cNvPr id="55" name="Text 53"/>
          <p:cNvSpPr/>
          <p:nvPr/>
        </p:nvSpPr>
        <p:spPr>
          <a:xfrm>
            <a:off x="8940800" y="7543800"/>
            <a:ext cx="25527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Sender 线程批量发送到 Broker</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41739" y="441739"/>
            <a:ext cx="15460870" cy="265043"/>
          </a:xfrm>
          <a:prstGeom prst="rect">
            <a:avLst/>
          </a:prstGeom>
          <a:noFill/>
          <a:ln/>
        </p:spPr>
        <p:txBody>
          <a:bodyPr wrap="square" lIns="0" tIns="0" rIns="0" bIns="0" rtlCol="0" anchor="ctr"/>
          <a:lstStyle/>
          <a:p>
            <a:pPr>
              <a:lnSpc>
                <a:spcPct val="130000"/>
              </a:lnSpc>
            </a:pPr>
            <a:r>
              <a:rPr lang="en-US" sz="1391" b="1" kern="0" spc="70" dirty="0">
                <a:solidFill>
                  <a:srgbClr val="D69E2E"/>
                </a:solidFill>
                <a:latin typeface="MiSans" pitchFamily="34" charset="0"/>
                <a:ea typeface="MiSans" pitchFamily="34" charset="-122"/>
                <a:cs typeface="MiSans" pitchFamily="34" charset="-120"/>
              </a:rPr>
              <a:t>2.1.5 可靠性配置</a:t>
            </a:r>
            <a:endParaRPr lang="en-US" sz="1600" dirty="0"/>
          </a:p>
        </p:txBody>
      </p:sp>
      <p:sp>
        <p:nvSpPr>
          <p:cNvPr id="3" name="Text 1"/>
          <p:cNvSpPr/>
          <p:nvPr/>
        </p:nvSpPr>
        <p:spPr>
          <a:xfrm>
            <a:off x="441739" y="795130"/>
            <a:ext cx="15571304" cy="441739"/>
          </a:xfrm>
          <a:prstGeom prst="rect">
            <a:avLst/>
          </a:prstGeom>
          <a:noFill/>
          <a:ln/>
        </p:spPr>
        <p:txBody>
          <a:bodyPr wrap="square" lIns="0" tIns="0" rIns="0" bIns="0" rtlCol="0" anchor="ctr"/>
          <a:lstStyle/>
          <a:p>
            <a:pPr>
              <a:lnSpc>
                <a:spcPct val="90000"/>
              </a:lnSpc>
            </a:pPr>
            <a:r>
              <a:rPr lang="en-US" sz="3130" b="1" dirty="0">
                <a:solidFill>
                  <a:srgbClr val="E2E8F0"/>
                </a:solidFill>
                <a:latin typeface="MiSans" pitchFamily="34" charset="0"/>
                <a:ea typeface="MiSans" pitchFamily="34" charset="-122"/>
                <a:cs typeface="MiSans" pitchFamily="34" charset="-120"/>
              </a:rPr>
              <a:t>消息确认机制与可靠性配置</a:t>
            </a:r>
            <a:endParaRPr lang="en-US" sz="1600" dirty="0"/>
          </a:p>
        </p:txBody>
      </p:sp>
      <p:sp>
        <p:nvSpPr>
          <p:cNvPr id="4" name="Shape 2"/>
          <p:cNvSpPr/>
          <p:nvPr/>
        </p:nvSpPr>
        <p:spPr>
          <a:xfrm>
            <a:off x="463826" y="1413565"/>
            <a:ext cx="7531652" cy="3710609"/>
          </a:xfrm>
          <a:custGeom>
            <a:avLst/>
            <a:gdLst/>
            <a:ahLst/>
            <a:cxnLst/>
            <a:rect l="l" t="t" r="r" b="b"/>
            <a:pathLst>
              <a:path w="7531652" h="3710609">
                <a:moveTo>
                  <a:pt x="44174" y="0"/>
                </a:moveTo>
                <a:lnTo>
                  <a:pt x="7443303" y="0"/>
                </a:lnTo>
                <a:cubicBezTo>
                  <a:pt x="7492097" y="0"/>
                  <a:pt x="7531652" y="39555"/>
                  <a:pt x="7531652" y="88350"/>
                </a:cubicBezTo>
                <a:lnTo>
                  <a:pt x="7531652" y="3622259"/>
                </a:lnTo>
                <a:cubicBezTo>
                  <a:pt x="7531652" y="3671053"/>
                  <a:pt x="7492097" y="3710609"/>
                  <a:pt x="7443303" y="3710609"/>
                </a:cubicBezTo>
                <a:lnTo>
                  <a:pt x="44174" y="3710609"/>
                </a:lnTo>
                <a:cubicBezTo>
                  <a:pt x="19777" y="3710609"/>
                  <a:pt x="0" y="3690831"/>
                  <a:pt x="0" y="3666435"/>
                </a:cubicBezTo>
                <a:lnTo>
                  <a:pt x="0" y="44174"/>
                </a:lnTo>
                <a:cubicBezTo>
                  <a:pt x="0" y="19794"/>
                  <a:pt x="19794" y="0"/>
                  <a:pt x="44174" y="0"/>
                </a:cubicBezTo>
                <a:close/>
              </a:path>
            </a:pathLst>
          </a:custGeom>
          <a:solidFill>
            <a:srgbClr val="4A5568">
              <a:alpha val="20000"/>
            </a:srgbClr>
          </a:solidFill>
          <a:ln/>
        </p:spPr>
        <p:txBody>
          <a:bodyPr/>
          <a:lstStyle/>
          <a:p>
            <a:endParaRPr lang="zh-CN" altLang="en-US"/>
          </a:p>
        </p:txBody>
      </p:sp>
      <p:sp>
        <p:nvSpPr>
          <p:cNvPr id="5" name="Shape 3"/>
          <p:cNvSpPr/>
          <p:nvPr/>
        </p:nvSpPr>
        <p:spPr>
          <a:xfrm>
            <a:off x="463826" y="1413565"/>
            <a:ext cx="44174" cy="3710609"/>
          </a:xfrm>
          <a:custGeom>
            <a:avLst/>
            <a:gdLst/>
            <a:ahLst/>
            <a:cxnLst/>
            <a:rect l="l" t="t" r="r" b="b"/>
            <a:pathLst>
              <a:path w="44174" h="3710609">
                <a:moveTo>
                  <a:pt x="44174" y="0"/>
                </a:moveTo>
                <a:lnTo>
                  <a:pt x="44174" y="0"/>
                </a:lnTo>
                <a:lnTo>
                  <a:pt x="44174" y="3710609"/>
                </a:lnTo>
                <a:lnTo>
                  <a:pt x="44174" y="3710609"/>
                </a:lnTo>
                <a:cubicBezTo>
                  <a:pt x="19777" y="3710609"/>
                  <a:pt x="0" y="3690831"/>
                  <a:pt x="0" y="3666435"/>
                </a:cubicBezTo>
                <a:lnTo>
                  <a:pt x="0" y="44174"/>
                </a:lnTo>
                <a:cubicBezTo>
                  <a:pt x="0" y="19794"/>
                  <a:pt x="19794" y="0"/>
                  <a:pt x="44174" y="0"/>
                </a:cubicBezTo>
                <a:close/>
              </a:path>
            </a:pathLst>
          </a:custGeom>
          <a:solidFill>
            <a:srgbClr val="D69E2E"/>
          </a:solidFill>
          <a:ln/>
        </p:spPr>
        <p:txBody>
          <a:bodyPr/>
          <a:lstStyle/>
          <a:p>
            <a:endParaRPr lang="zh-CN" altLang="en-US"/>
          </a:p>
        </p:txBody>
      </p:sp>
      <p:sp>
        <p:nvSpPr>
          <p:cNvPr id="6" name="Text 4"/>
          <p:cNvSpPr/>
          <p:nvPr/>
        </p:nvSpPr>
        <p:spPr>
          <a:xfrm>
            <a:off x="662609" y="1590261"/>
            <a:ext cx="7266609" cy="309217"/>
          </a:xfrm>
          <a:prstGeom prst="rect">
            <a:avLst/>
          </a:prstGeom>
          <a:noFill/>
          <a:ln/>
        </p:spPr>
        <p:txBody>
          <a:bodyPr wrap="square" lIns="0" tIns="0" rIns="0" bIns="0" rtlCol="0" anchor="ctr"/>
          <a:lstStyle/>
          <a:p>
            <a:pPr>
              <a:lnSpc>
                <a:spcPct val="120000"/>
              </a:lnSpc>
            </a:pPr>
            <a:r>
              <a:rPr lang="en-US" sz="1739" b="1" dirty="0">
                <a:solidFill>
                  <a:srgbClr val="D69E2E"/>
                </a:solidFill>
                <a:latin typeface="MiSans" pitchFamily="34" charset="0"/>
                <a:ea typeface="MiSans" pitchFamily="34" charset="-122"/>
                <a:cs typeface="MiSans" pitchFamily="34" charset="-120"/>
              </a:rPr>
              <a:t>acks 配置详解</a:t>
            </a:r>
            <a:endParaRPr lang="en-US" sz="1600" dirty="0"/>
          </a:p>
        </p:txBody>
      </p:sp>
      <p:sp>
        <p:nvSpPr>
          <p:cNvPr id="7" name="Shape 5"/>
          <p:cNvSpPr/>
          <p:nvPr/>
        </p:nvSpPr>
        <p:spPr>
          <a:xfrm>
            <a:off x="662609" y="2032000"/>
            <a:ext cx="7156174" cy="2915478"/>
          </a:xfrm>
          <a:custGeom>
            <a:avLst/>
            <a:gdLst/>
            <a:ahLst/>
            <a:cxnLst/>
            <a:rect l="l" t="t" r="r" b="b"/>
            <a:pathLst>
              <a:path w="7156174" h="2915478">
                <a:moveTo>
                  <a:pt x="44169" y="0"/>
                </a:moveTo>
                <a:lnTo>
                  <a:pt x="7112004" y="0"/>
                </a:lnTo>
                <a:cubicBezTo>
                  <a:pt x="7136399" y="0"/>
                  <a:pt x="7156174" y="19775"/>
                  <a:pt x="7156174" y="44169"/>
                </a:cubicBezTo>
                <a:lnTo>
                  <a:pt x="7156174" y="2871309"/>
                </a:lnTo>
                <a:cubicBezTo>
                  <a:pt x="7156174" y="2895703"/>
                  <a:pt x="7136399" y="2915478"/>
                  <a:pt x="7112004" y="2915478"/>
                </a:cubicBezTo>
                <a:lnTo>
                  <a:pt x="44169" y="2915478"/>
                </a:lnTo>
                <a:cubicBezTo>
                  <a:pt x="19775" y="2915478"/>
                  <a:pt x="0" y="2895703"/>
                  <a:pt x="0" y="2871309"/>
                </a:cubicBezTo>
                <a:lnTo>
                  <a:pt x="0" y="44169"/>
                </a:lnTo>
                <a:cubicBezTo>
                  <a:pt x="0" y="19792"/>
                  <a:pt x="19792" y="0"/>
                  <a:pt x="44169" y="0"/>
                </a:cubicBezTo>
                <a:close/>
              </a:path>
            </a:pathLst>
          </a:custGeom>
          <a:solidFill>
            <a:srgbClr val="1A1D21">
              <a:alpha val="60000"/>
            </a:srgbClr>
          </a:solidFill>
          <a:ln/>
        </p:spPr>
        <p:txBody>
          <a:bodyPr/>
          <a:lstStyle/>
          <a:p>
            <a:endParaRPr lang="zh-CN" altLang="en-US"/>
          </a:p>
        </p:txBody>
      </p:sp>
      <p:sp>
        <p:nvSpPr>
          <p:cNvPr id="8" name="Text 6"/>
          <p:cNvSpPr/>
          <p:nvPr/>
        </p:nvSpPr>
        <p:spPr>
          <a:xfrm>
            <a:off x="795130" y="2164522"/>
            <a:ext cx="6957391" cy="2650435"/>
          </a:xfrm>
          <a:prstGeom prst="rect">
            <a:avLst/>
          </a:prstGeom>
          <a:noFill/>
          <a:ln/>
        </p:spPr>
        <p:txBody>
          <a:bodyPr wrap="square" lIns="0" tIns="0" rIns="0" bIns="0" rtlCol="0" anchor="ctr"/>
          <a:lstStyle/>
          <a:p>
            <a:pPr>
              <a:lnSpc>
                <a:spcPct val="110000"/>
              </a:lnSpc>
            </a:pPr>
            <a:r>
              <a:rPr lang="en-US" sz="1043" dirty="0">
                <a:solidFill>
                  <a:srgbClr val="00B050"/>
                </a:solidFill>
                <a:latin typeface="MiSans" pitchFamily="34" charset="0"/>
                <a:ea typeface="MiSans" pitchFamily="34" charset="-122"/>
                <a:cs typeface="MiSans" pitchFamily="34" charset="-120"/>
              </a:rPr>
              <a:t>// </a:t>
            </a:r>
            <a:r>
              <a:rPr lang="en-US" sz="1043" dirty="0" err="1">
                <a:solidFill>
                  <a:srgbClr val="00B050"/>
                </a:solidFill>
                <a:latin typeface="MiSans" pitchFamily="34" charset="0"/>
                <a:ea typeface="MiSans" pitchFamily="34" charset="-122"/>
                <a:cs typeface="MiSans" pitchFamily="34" charset="-120"/>
              </a:rPr>
              <a:t>消息确认配置示例</a:t>
            </a:r>
            <a:r>
              <a:rPr lang="en-US" sz="1043" dirty="0">
                <a:solidFill>
                  <a:srgbClr val="00B050"/>
                </a:solidFill>
                <a:latin typeface="MiSans" pitchFamily="34" charset="0"/>
                <a:ea typeface="MiSans" pitchFamily="34" charset="-122"/>
                <a:cs typeface="MiSans" pitchFamily="34" charset="-120"/>
              </a:rPr>
              <a:t> </a:t>
            </a:r>
          </a:p>
          <a:p>
            <a:pPr>
              <a:lnSpc>
                <a:spcPct val="110000"/>
              </a:lnSpc>
            </a:pPr>
            <a:r>
              <a:rPr lang="en-US" sz="1043" dirty="0">
                <a:solidFill>
                  <a:srgbClr val="718096"/>
                </a:solidFill>
                <a:latin typeface="MiSans" pitchFamily="34" charset="0"/>
                <a:ea typeface="MiSans" pitchFamily="34" charset="-122"/>
                <a:cs typeface="MiSans" pitchFamily="34" charset="-120"/>
              </a:rPr>
              <a:t>Properties props = </a:t>
            </a:r>
            <a:r>
              <a:rPr lang="en-US" sz="1043" dirty="0">
                <a:solidFill>
                  <a:srgbClr val="D69E2E"/>
                </a:solidFill>
                <a:latin typeface="MiSans" pitchFamily="34" charset="0"/>
                <a:ea typeface="MiSans" pitchFamily="34" charset="-122"/>
                <a:cs typeface="MiSans" pitchFamily="34" charset="-120"/>
              </a:rPr>
              <a:t>new</a:t>
            </a:r>
            <a:r>
              <a:rPr lang="en-US" sz="1043" dirty="0">
                <a:solidFill>
                  <a:srgbClr val="718096"/>
                </a:solidFill>
                <a:latin typeface="MiSans" pitchFamily="34" charset="0"/>
                <a:ea typeface="MiSans" pitchFamily="34" charset="-122"/>
                <a:cs typeface="MiSans" pitchFamily="34" charset="-120"/>
              </a:rPr>
              <a:t> Properties(); </a:t>
            </a:r>
          </a:p>
          <a:p>
            <a:pPr>
              <a:lnSpc>
                <a:spcPct val="110000"/>
              </a:lnSpc>
            </a:pPr>
            <a:endParaRPr lang="en-US" sz="1043" dirty="0">
              <a:solidFill>
                <a:srgbClr val="718096"/>
              </a:solidFill>
              <a:latin typeface="MiSans" pitchFamily="34" charset="0"/>
              <a:ea typeface="MiSans" pitchFamily="34" charset="-122"/>
              <a:cs typeface="MiSans" pitchFamily="34" charset="-120"/>
            </a:endParaRPr>
          </a:p>
          <a:p>
            <a:pPr>
              <a:lnSpc>
                <a:spcPct val="110000"/>
              </a:lnSpc>
            </a:pPr>
            <a:r>
              <a:rPr lang="en-US" sz="1043" dirty="0">
                <a:solidFill>
                  <a:srgbClr val="D69E2E"/>
                </a:solidFill>
                <a:latin typeface="MiSans" pitchFamily="34" charset="0"/>
                <a:ea typeface="MiSans" pitchFamily="34" charset="-122"/>
                <a:cs typeface="MiSans" pitchFamily="34" charset="-120"/>
              </a:rPr>
              <a:t>// </a:t>
            </a:r>
            <a:r>
              <a:rPr lang="en-US" sz="1043" dirty="0" err="1">
                <a:solidFill>
                  <a:srgbClr val="D69E2E"/>
                </a:solidFill>
                <a:latin typeface="MiSans" pitchFamily="34" charset="0"/>
                <a:ea typeface="MiSans" pitchFamily="34" charset="-122"/>
                <a:cs typeface="MiSans" pitchFamily="34" charset="-120"/>
              </a:rPr>
              <a:t>最高可靠性</a:t>
            </a:r>
            <a:endParaRPr lang="en-US" sz="1043" dirty="0">
              <a:solidFill>
                <a:srgbClr val="D69E2E"/>
              </a:solidFill>
              <a:latin typeface="MiSans" pitchFamily="34" charset="0"/>
              <a:ea typeface="MiSans" pitchFamily="34" charset="-122"/>
              <a:cs typeface="MiSans" pitchFamily="34" charset="-120"/>
            </a:endParaRPr>
          </a:p>
          <a:p>
            <a:pPr>
              <a:lnSpc>
                <a:spcPct val="110000"/>
              </a:lnSpc>
            </a:pPr>
            <a:r>
              <a:rPr lang="en-US" sz="1043" dirty="0">
                <a:solidFill>
                  <a:srgbClr val="718096"/>
                </a:solidFill>
                <a:latin typeface="MiSans" pitchFamily="34" charset="0"/>
                <a:ea typeface="MiSans" pitchFamily="34" charset="-122"/>
                <a:cs typeface="MiSans" pitchFamily="34" charset="-120"/>
              </a:rPr>
              <a:t> props.put(</a:t>
            </a:r>
            <a:r>
              <a:rPr lang="en-US" sz="1043" dirty="0">
                <a:solidFill>
                  <a:srgbClr val="E2E8F0"/>
                </a:solidFill>
                <a:latin typeface="MiSans" pitchFamily="34" charset="0"/>
                <a:ea typeface="MiSans" pitchFamily="34" charset="-122"/>
                <a:cs typeface="MiSans" pitchFamily="34" charset="-120"/>
              </a:rPr>
              <a:t>"acks"</a:t>
            </a:r>
            <a:r>
              <a:rPr lang="en-US" sz="1043" dirty="0">
                <a:solidFill>
                  <a:srgbClr val="718096"/>
                </a:solidFill>
                <a:latin typeface="MiSans" pitchFamily="34" charset="0"/>
                <a:ea typeface="MiSans" pitchFamily="34" charset="-122"/>
                <a:cs typeface="MiSans" pitchFamily="34" charset="-120"/>
              </a:rPr>
              <a:t>, </a:t>
            </a:r>
            <a:r>
              <a:rPr lang="en-US" sz="1043" dirty="0">
                <a:solidFill>
                  <a:srgbClr val="E2E8F0"/>
                </a:solidFill>
                <a:latin typeface="MiSans" pitchFamily="34" charset="0"/>
                <a:ea typeface="MiSans" pitchFamily="34" charset="-122"/>
                <a:cs typeface="MiSans" pitchFamily="34" charset="-120"/>
              </a:rPr>
              <a:t>"all"</a:t>
            </a:r>
            <a:r>
              <a:rPr lang="en-US" sz="1043" dirty="0">
                <a:solidFill>
                  <a:srgbClr val="718096"/>
                </a:solidFill>
                <a:latin typeface="MiSans" pitchFamily="34" charset="0"/>
                <a:ea typeface="MiSans" pitchFamily="34" charset="-122"/>
                <a:cs typeface="MiSans" pitchFamily="34" charset="-120"/>
              </a:rPr>
              <a:t>); </a:t>
            </a:r>
          </a:p>
          <a:p>
            <a:pPr>
              <a:lnSpc>
                <a:spcPct val="110000"/>
              </a:lnSpc>
            </a:pPr>
            <a:r>
              <a:rPr lang="en-US" sz="1043" dirty="0">
                <a:solidFill>
                  <a:srgbClr val="D69E2E"/>
                </a:solidFill>
                <a:latin typeface="MiSans" pitchFamily="34" charset="0"/>
                <a:ea typeface="MiSans" pitchFamily="34" charset="-122"/>
                <a:cs typeface="MiSans" pitchFamily="34" charset="-120"/>
              </a:rPr>
              <a:t>// </a:t>
            </a:r>
            <a:r>
              <a:rPr lang="en-US" sz="1043" dirty="0" err="1">
                <a:solidFill>
                  <a:srgbClr val="D69E2E"/>
                </a:solidFill>
                <a:latin typeface="MiSans" pitchFamily="34" charset="0"/>
                <a:ea typeface="MiSans" pitchFamily="34" charset="-122"/>
                <a:cs typeface="MiSans" pitchFamily="34" charset="-120"/>
              </a:rPr>
              <a:t>中等可靠性</a:t>
            </a:r>
            <a:r>
              <a:rPr lang="en-US" sz="1043" dirty="0">
                <a:solidFill>
                  <a:srgbClr val="718096"/>
                </a:solidFill>
                <a:latin typeface="MiSans" pitchFamily="34" charset="0"/>
                <a:ea typeface="MiSans" pitchFamily="34" charset="-122"/>
                <a:cs typeface="MiSans" pitchFamily="34" charset="-120"/>
              </a:rPr>
              <a:t> </a:t>
            </a:r>
          </a:p>
          <a:p>
            <a:pPr>
              <a:lnSpc>
                <a:spcPct val="110000"/>
              </a:lnSpc>
            </a:pPr>
            <a:r>
              <a:rPr lang="en-US" sz="1043" dirty="0" err="1">
                <a:solidFill>
                  <a:srgbClr val="718096"/>
                </a:solidFill>
                <a:latin typeface="MiSans" pitchFamily="34" charset="0"/>
                <a:ea typeface="MiSans" pitchFamily="34" charset="-122"/>
                <a:cs typeface="MiSans" pitchFamily="34" charset="-120"/>
              </a:rPr>
              <a:t>props.put</a:t>
            </a:r>
            <a:r>
              <a:rPr lang="en-US" sz="1043" dirty="0">
                <a:solidFill>
                  <a:srgbClr val="718096"/>
                </a:solidFill>
                <a:latin typeface="MiSans" pitchFamily="34" charset="0"/>
                <a:ea typeface="MiSans" pitchFamily="34" charset="-122"/>
                <a:cs typeface="MiSans" pitchFamily="34" charset="-120"/>
              </a:rPr>
              <a:t>(</a:t>
            </a:r>
            <a:r>
              <a:rPr lang="en-US" sz="1043" dirty="0">
                <a:solidFill>
                  <a:srgbClr val="E2E8F0"/>
                </a:solidFill>
                <a:latin typeface="MiSans" pitchFamily="34" charset="0"/>
                <a:ea typeface="MiSans" pitchFamily="34" charset="-122"/>
                <a:cs typeface="MiSans" pitchFamily="34" charset="-120"/>
              </a:rPr>
              <a:t>"acks"</a:t>
            </a:r>
            <a:r>
              <a:rPr lang="en-US" sz="1043" dirty="0">
                <a:solidFill>
                  <a:srgbClr val="718096"/>
                </a:solidFill>
                <a:latin typeface="MiSans" pitchFamily="34" charset="0"/>
                <a:ea typeface="MiSans" pitchFamily="34" charset="-122"/>
                <a:cs typeface="MiSans" pitchFamily="34" charset="-120"/>
              </a:rPr>
              <a:t>, </a:t>
            </a:r>
            <a:r>
              <a:rPr lang="en-US" sz="1043" dirty="0">
                <a:solidFill>
                  <a:srgbClr val="E2E8F0"/>
                </a:solidFill>
                <a:latin typeface="MiSans" pitchFamily="34" charset="0"/>
                <a:ea typeface="MiSans" pitchFamily="34" charset="-122"/>
                <a:cs typeface="MiSans" pitchFamily="34" charset="-120"/>
              </a:rPr>
              <a:t>"1"</a:t>
            </a:r>
            <a:r>
              <a:rPr lang="en-US" sz="1043" dirty="0">
                <a:solidFill>
                  <a:srgbClr val="718096"/>
                </a:solidFill>
                <a:latin typeface="MiSans" pitchFamily="34" charset="0"/>
                <a:ea typeface="MiSans" pitchFamily="34" charset="-122"/>
                <a:cs typeface="MiSans" pitchFamily="34" charset="-120"/>
              </a:rPr>
              <a:t>); </a:t>
            </a:r>
          </a:p>
          <a:p>
            <a:pPr>
              <a:lnSpc>
                <a:spcPct val="110000"/>
              </a:lnSpc>
            </a:pPr>
            <a:r>
              <a:rPr lang="en-US" sz="1043" dirty="0">
                <a:solidFill>
                  <a:srgbClr val="D69E2E"/>
                </a:solidFill>
                <a:latin typeface="MiSans" pitchFamily="34" charset="0"/>
                <a:ea typeface="MiSans" pitchFamily="34" charset="-122"/>
                <a:cs typeface="MiSans" pitchFamily="34" charset="-120"/>
              </a:rPr>
              <a:t>// </a:t>
            </a:r>
            <a:r>
              <a:rPr lang="en-US" sz="1043" dirty="0" err="1">
                <a:solidFill>
                  <a:srgbClr val="D69E2E"/>
                </a:solidFill>
                <a:latin typeface="MiSans" pitchFamily="34" charset="0"/>
                <a:ea typeface="MiSans" pitchFamily="34" charset="-122"/>
                <a:cs typeface="MiSans" pitchFamily="34" charset="-120"/>
              </a:rPr>
              <a:t>最低可靠性，最高性能</a:t>
            </a:r>
            <a:r>
              <a:rPr lang="en-US" sz="1043" dirty="0">
                <a:solidFill>
                  <a:srgbClr val="718096"/>
                </a:solidFill>
                <a:latin typeface="MiSans" pitchFamily="34" charset="0"/>
                <a:ea typeface="MiSans" pitchFamily="34" charset="-122"/>
                <a:cs typeface="MiSans" pitchFamily="34" charset="-120"/>
              </a:rPr>
              <a:t> </a:t>
            </a:r>
          </a:p>
          <a:p>
            <a:pPr>
              <a:lnSpc>
                <a:spcPct val="110000"/>
              </a:lnSpc>
            </a:pPr>
            <a:r>
              <a:rPr lang="en-US" sz="1043" dirty="0" err="1">
                <a:solidFill>
                  <a:srgbClr val="718096"/>
                </a:solidFill>
                <a:latin typeface="MiSans" pitchFamily="34" charset="0"/>
                <a:ea typeface="MiSans" pitchFamily="34" charset="-122"/>
                <a:cs typeface="MiSans" pitchFamily="34" charset="-120"/>
              </a:rPr>
              <a:t>props.put</a:t>
            </a:r>
            <a:r>
              <a:rPr lang="en-US" sz="1043" dirty="0">
                <a:solidFill>
                  <a:srgbClr val="718096"/>
                </a:solidFill>
                <a:latin typeface="MiSans" pitchFamily="34" charset="0"/>
                <a:ea typeface="MiSans" pitchFamily="34" charset="-122"/>
                <a:cs typeface="MiSans" pitchFamily="34" charset="-120"/>
              </a:rPr>
              <a:t>(</a:t>
            </a:r>
            <a:r>
              <a:rPr lang="en-US" sz="1043" dirty="0">
                <a:solidFill>
                  <a:srgbClr val="E2E8F0"/>
                </a:solidFill>
                <a:latin typeface="MiSans" pitchFamily="34" charset="0"/>
                <a:ea typeface="MiSans" pitchFamily="34" charset="-122"/>
                <a:cs typeface="MiSans" pitchFamily="34" charset="-120"/>
              </a:rPr>
              <a:t>"acks"</a:t>
            </a:r>
            <a:r>
              <a:rPr lang="en-US" sz="1043" dirty="0">
                <a:solidFill>
                  <a:srgbClr val="718096"/>
                </a:solidFill>
                <a:latin typeface="MiSans" pitchFamily="34" charset="0"/>
                <a:ea typeface="MiSans" pitchFamily="34" charset="-122"/>
                <a:cs typeface="MiSans" pitchFamily="34" charset="-120"/>
              </a:rPr>
              <a:t>, </a:t>
            </a:r>
            <a:r>
              <a:rPr lang="en-US" sz="1043" dirty="0">
                <a:solidFill>
                  <a:srgbClr val="E2E8F0"/>
                </a:solidFill>
                <a:latin typeface="MiSans" pitchFamily="34" charset="0"/>
                <a:ea typeface="MiSans" pitchFamily="34" charset="-122"/>
                <a:cs typeface="MiSans" pitchFamily="34" charset="-120"/>
              </a:rPr>
              <a:t>"0"</a:t>
            </a:r>
            <a:r>
              <a:rPr lang="en-US" sz="1043" dirty="0">
                <a:solidFill>
                  <a:srgbClr val="718096"/>
                </a:solidFill>
                <a:latin typeface="MiSans" pitchFamily="34" charset="0"/>
                <a:ea typeface="MiSans" pitchFamily="34" charset="-122"/>
                <a:cs typeface="MiSans" pitchFamily="34" charset="-120"/>
              </a:rPr>
              <a:t>); </a:t>
            </a:r>
          </a:p>
          <a:p>
            <a:pPr>
              <a:lnSpc>
                <a:spcPct val="110000"/>
              </a:lnSpc>
            </a:pPr>
            <a:endParaRPr lang="en-US" sz="1043" dirty="0">
              <a:solidFill>
                <a:srgbClr val="718096"/>
              </a:solidFill>
              <a:latin typeface="MiSans" pitchFamily="34" charset="0"/>
              <a:ea typeface="MiSans" pitchFamily="34" charset="-122"/>
              <a:cs typeface="MiSans" pitchFamily="34" charset="-120"/>
            </a:endParaRPr>
          </a:p>
          <a:p>
            <a:pPr>
              <a:lnSpc>
                <a:spcPct val="110000"/>
              </a:lnSpc>
            </a:pPr>
            <a:r>
              <a:rPr lang="en-US" sz="1043" dirty="0">
                <a:solidFill>
                  <a:srgbClr val="D69E2E"/>
                </a:solidFill>
                <a:latin typeface="MiSans" pitchFamily="34" charset="0"/>
                <a:ea typeface="MiSans" pitchFamily="34" charset="-122"/>
                <a:cs typeface="MiSans" pitchFamily="34" charset="-120"/>
              </a:rPr>
              <a:t>// </a:t>
            </a:r>
            <a:r>
              <a:rPr lang="en-US" sz="1043" dirty="0" err="1">
                <a:solidFill>
                  <a:srgbClr val="D69E2E"/>
                </a:solidFill>
                <a:latin typeface="MiSans" pitchFamily="34" charset="0"/>
                <a:ea typeface="MiSans" pitchFamily="34" charset="-122"/>
                <a:cs typeface="MiSans" pitchFamily="34" charset="-120"/>
              </a:rPr>
              <a:t>重试配置</a:t>
            </a:r>
            <a:r>
              <a:rPr lang="en-US" sz="1043" dirty="0">
                <a:solidFill>
                  <a:srgbClr val="718096"/>
                </a:solidFill>
                <a:latin typeface="MiSans" pitchFamily="34" charset="0"/>
                <a:ea typeface="MiSans" pitchFamily="34" charset="-122"/>
                <a:cs typeface="MiSans" pitchFamily="34" charset="-120"/>
              </a:rPr>
              <a:t> </a:t>
            </a:r>
          </a:p>
          <a:p>
            <a:pPr>
              <a:lnSpc>
                <a:spcPct val="110000"/>
              </a:lnSpc>
            </a:pPr>
            <a:r>
              <a:rPr lang="en-US" sz="1043" dirty="0" err="1">
                <a:solidFill>
                  <a:srgbClr val="718096"/>
                </a:solidFill>
                <a:latin typeface="MiSans" pitchFamily="34" charset="0"/>
                <a:ea typeface="MiSans" pitchFamily="34" charset="-122"/>
                <a:cs typeface="MiSans" pitchFamily="34" charset="-120"/>
              </a:rPr>
              <a:t>props.put</a:t>
            </a:r>
            <a:r>
              <a:rPr lang="en-US" sz="1043" dirty="0">
                <a:solidFill>
                  <a:srgbClr val="718096"/>
                </a:solidFill>
                <a:latin typeface="MiSans" pitchFamily="34" charset="0"/>
                <a:ea typeface="MiSans" pitchFamily="34" charset="-122"/>
                <a:cs typeface="MiSans" pitchFamily="34" charset="-120"/>
              </a:rPr>
              <a:t>(</a:t>
            </a:r>
            <a:r>
              <a:rPr lang="en-US" sz="1043" dirty="0">
                <a:solidFill>
                  <a:srgbClr val="E2E8F0"/>
                </a:solidFill>
                <a:latin typeface="MiSans" pitchFamily="34" charset="0"/>
                <a:ea typeface="MiSans" pitchFamily="34" charset="-122"/>
                <a:cs typeface="MiSans" pitchFamily="34" charset="-120"/>
              </a:rPr>
              <a:t>"retries"</a:t>
            </a:r>
            <a:r>
              <a:rPr lang="en-US" sz="1043" dirty="0">
                <a:solidFill>
                  <a:srgbClr val="718096"/>
                </a:solidFill>
                <a:latin typeface="MiSans" pitchFamily="34" charset="0"/>
                <a:ea typeface="MiSans" pitchFamily="34" charset="-122"/>
                <a:cs typeface="MiSans" pitchFamily="34" charset="-120"/>
              </a:rPr>
              <a:t>, </a:t>
            </a:r>
            <a:r>
              <a:rPr lang="en-US" sz="1043" dirty="0">
                <a:solidFill>
                  <a:srgbClr val="E2E8F0"/>
                </a:solidFill>
                <a:latin typeface="MiSans" pitchFamily="34" charset="0"/>
                <a:ea typeface="MiSans" pitchFamily="34" charset="-122"/>
                <a:cs typeface="MiSans" pitchFamily="34" charset="-120"/>
              </a:rPr>
              <a:t>3</a:t>
            </a:r>
            <a:r>
              <a:rPr lang="en-US" sz="1043" dirty="0">
                <a:solidFill>
                  <a:srgbClr val="718096"/>
                </a:solidFill>
                <a:latin typeface="MiSans" pitchFamily="34" charset="0"/>
                <a:ea typeface="MiSans" pitchFamily="34" charset="-122"/>
                <a:cs typeface="MiSans" pitchFamily="34" charset="-120"/>
              </a:rPr>
              <a:t>); props.put(</a:t>
            </a:r>
            <a:r>
              <a:rPr lang="en-US" sz="1043" dirty="0">
                <a:solidFill>
                  <a:srgbClr val="E2E8F0"/>
                </a:solidFill>
                <a:latin typeface="MiSans" pitchFamily="34" charset="0"/>
                <a:ea typeface="MiSans" pitchFamily="34" charset="-122"/>
                <a:cs typeface="MiSans" pitchFamily="34" charset="-120"/>
              </a:rPr>
              <a:t>"retry.backoff.ms"</a:t>
            </a:r>
            <a:r>
              <a:rPr lang="en-US" sz="1043" dirty="0">
                <a:solidFill>
                  <a:srgbClr val="718096"/>
                </a:solidFill>
                <a:latin typeface="MiSans" pitchFamily="34" charset="0"/>
                <a:ea typeface="MiSans" pitchFamily="34" charset="-122"/>
                <a:cs typeface="MiSans" pitchFamily="34" charset="-120"/>
              </a:rPr>
              <a:t>, </a:t>
            </a:r>
            <a:r>
              <a:rPr lang="en-US" sz="1043" dirty="0">
                <a:solidFill>
                  <a:srgbClr val="E2E8F0"/>
                </a:solidFill>
                <a:latin typeface="MiSans" pitchFamily="34" charset="0"/>
                <a:ea typeface="MiSans" pitchFamily="34" charset="-122"/>
                <a:cs typeface="MiSans" pitchFamily="34" charset="-120"/>
              </a:rPr>
              <a:t>100</a:t>
            </a:r>
            <a:r>
              <a:rPr lang="en-US" sz="1043" dirty="0">
                <a:solidFill>
                  <a:srgbClr val="718096"/>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463826" y="5256696"/>
            <a:ext cx="7531652" cy="3357217"/>
          </a:xfrm>
          <a:custGeom>
            <a:avLst/>
            <a:gdLst/>
            <a:ahLst/>
            <a:cxnLst/>
            <a:rect l="l" t="t" r="r" b="b"/>
            <a:pathLst>
              <a:path w="7531652" h="3357217">
                <a:moveTo>
                  <a:pt x="44174" y="0"/>
                </a:moveTo>
                <a:lnTo>
                  <a:pt x="7443290" y="0"/>
                </a:lnTo>
                <a:cubicBezTo>
                  <a:pt x="7492091" y="0"/>
                  <a:pt x="7531652" y="39561"/>
                  <a:pt x="7531652" y="88362"/>
                </a:cubicBezTo>
                <a:lnTo>
                  <a:pt x="7531652" y="3268855"/>
                </a:lnTo>
                <a:cubicBezTo>
                  <a:pt x="7531652" y="3317656"/>
                  <a:pt x="7492091" y="3357217"/>
                  <a:pt x="7443290" y="3357217"/>
                </a:cubicBezTo>
                <a:lnTo>
                  <a:pt x="44174" y="3357217"/>
                </a:lnTo>
                <a:cubicBezTo>
                  <a:pt x="19777" y="3357217"/>
                  <a:pt x="0" y="3337440"/>
                  <a:pt x="0" y="3313043"/>
                </a:cubicBezTo>
                <a:lnTo>
                  <a:pt x="0" y="44174"/>
                </a:lnTo>
                <a:cubicBezTo>
                  <a:pt x="0" y="19794"/>
                  <a:pt x="19794" y="0"/>
                  <a:pt x="44174" y="0"/>
                </a:cubicBezTo>
                <a:close/>
              </a:path>
            </a:pathLst>
          </a:custGeom>
          <a:solidFill>
            <a:srgbClr val="4A5568">
              <a:alpha val="20000"/>
            </a:srgbClr>
          </a:solidFill>
          <a:ln/>
        </p:spPr>
        <p:txBody>
          <a:bodyPr/>
          <a:lstStyle/>
          <a:p>
            <a:endParaRPr lang="zh-CN" altLang="en-US"/>
          </a:p>
        </p:txBody>
      </p:sp>
      <p:sp>
        <p:nvSpPr>
          <p:cNvPr id="10" name="Shape 8"/>
          <p:cNvSpPr/>
          <p:nvPr/>
        </p:nvSpPr>
        <p:spPr>
          <a:xfrm>
            <a:off x="463826" y="5256696"/>
            <a:ext cx="44174" cy="3357217"/>
          </a:xfrm>
          <a:custGeom>
            <a:avLst/>
            <a:gdLst/>
            <a:ahLst/>
            <a:cxnLst/>
            <a:rect l="l" t="t" r="r" b="b"/>
            <a:pathLst>
              <a:path w="44174" h="3357217">
                <a:moveTo>
                  <a:pt x="44174" y="0"/>
                </a:moveTo>
                <a:lnTo>
                  <a:pt x="44174" y="0"/>
                </a:lnTo>
                <a:lnTo>
                  <a:pt x="44174" y="3357217"/>
                </a:lnTo>
                <a:lnTo>
                  <a:pt x="44174" y="3357217"/>
                </a:lnTo>
                <a:cubicBezTo>
                  <a:pt x="19777" y="3357217"/>
                  <a:pt x="0" y="3337440"/>
                  <a:pt x="0" y="3313043"/>
                </a:cubicBezTo>
                <a:lnTo>
                  <a:pt x="0" y="44174"/>
                </a:lnTo>
                <a:cubicBezTo>
                  <a:pt x="0" y="19794"/>
                  <a:pt x="19794" y="0"/>
                  <a:pt x="44174" y="0"/>
                </a:cubicBezTo>
                <a:close/>
              </a:path>
            </a:pathLst>
          </a:custGeom>
          <a:solidFill>
            <a:srgbClr val="718096"/>
          </a:solidFill>
          <a:ln/>
        </p:spPr>
        <p:txBody>
          <a:bodyPr/>
          <a:lstStyle/>
          <a:p>
            <a:endParaRPr lang="zh-CN" altLang="en-US"/>
          </a:p>
        </p:txBody>
      </p:sp>
      <p:sp>
        <p:nvSpPr>
          <p:cNvPr id="11" name="Text 9"/>
          <p:cNvSpPr/>
          <p:nvPr/>
        </p:nvSpPr>
        <p:spPr>
          <a:xfrm>
            <a:off x="662609" y="5433391"/>
            <a:ext cx="7266609" cy="309217"/>
          </a:xfrm>
          <a:prstGeom prst="rect">
            <a:avLst/>
          </a:prstGeom>
          <a:noFill/>
          <a:ln/>
        </p:spPr>
        <p:txBody>
          <a:bodyPr wrap="square" lIns="0" tIns="0" rIns="0" bIns="0" rtlCol="0" anchor="ctr"/>
          <a:lstStyle/>
          <a:p>
            <a:pPr>
              <a:lnSpc>
                <a:spcPct val="120000"/>
              </a:lnSpc>
            </a:pPr>
            <a:r>
              <a:rPr lang="en-US" sz="1739" b="1" dirty="0">
                <a:solidFill>
                  <a:srgbClr val="718096"/>
                </a:solidFill>
                <a:latin typeface="MiSans" pitchFamily="34" charset="0"/>
                <a:ea typeface="MiSans" pitchFamily="34" charset="-122"/>
                <a:cs typeface="MiSans" pitchFamily="34" charset="-120"/>
              </a:rPr>
              <a:t>acks 配置说明</a:t>
            </a:r>
            <a:endParaRPr lang="en-US" sz="1600" dirty="0"/>
          </a:p>
        </p:txBody>
      </p:sp>
      <p:sp>
        <p:nvSpPr>
          <p:cNvPr id="12" name="Shape 10"/>
          <p:cNvSpPr/>
          <p:nvPr/>
        </p:nvSpPr>
        <p:spPr>
          <a:xfrm>
            <a:off x="662609" y="5875130"/>
            <a:ext cx="7156174" cy="795130"/>
          </a:xfrm>
          <a:custGeom>
            <a:avLst/>
            <a:gdLst/>
            <a:ahLst/>
            <a:cxnLst/>
            <a:rect l="l" t="t" r="r" b="b"/>
            <a:pathLst>
              <a:path w="7156174" h="795130">
                <a:moveTo>
                  <a:pt x="44177" y="0"/>
                </a:moveTo>
                <a:lnTo>
                  <a:pt x="7111996" y="0"/>
                </a:lnTo>
                <a:cubicBezTo>
                  <a:pt x="7136395" y="0"/>
                  <a:pt x="7156174" y="19779"/>
                  <a:pt x="7156174" y="44177"/>
                </a:cubicBezTo>
                <a:lnTo>
                  <a:pt x="7156174" y="750953"/>
                </a:lnTo>
                <a:cubicBezTo>
                  <a:pt x="7156174" y="775352"/>
                  <a:pt x="7136395" y="795130"/>
                  <a:pt x="7111996" y="795130"/>
                </a:cubicBezTo>
                <a:lnTo>
                  <a:pt x="44177" y="795130"/>
                </a:lnTo>
                <a:cubicBezTo>
                  <a:pt x="19779" y="795130"/>
                  <a:pt x="0" y="775352"/>
                  <a:pt x="0" y="750953"/>
                </a:cubicBezTo>
                <a:lnTo>
                  <a:pt x="0" y="44177"/>
                </a:lnTo>
                <a:cubicBezTo>
                  <a:pt x="0" y="19779"/>
                  <a:pt x="19779" y="0"/>
                  <a:pt x="44177" y="0"/>
                </a:cubicBezTo>
                <a:close/>
              </a:path>
            </a:pathLst>
          </a:custGeom>
          <a:solidFill>
            <a:srgbClr val="1A1D21">
              <a:alpha val="60000"/>
            </a:srgbClr>
          </a:solidFill>
          <a:ln/>
        </p:spPr>
        <p:txBody>
          <a:bodyPr/>
          <a:lstStyle/>
          <a:p>
            <a:endParaRPr lang="zh-CN" altLang="en-US"/>
          </a:p>
        </p:txBody>
      </p:sp>
      <p:sp>
        <p:nvSpPr>
          <p:cNvPr id="13" name="Text 11"/>
          <p:cNvSpPr/>
          <p:nvPr/>
        </p:nvSpPr>
        <p:spPr>
          <a:xfrm>
            <a:off x="795130" y="6007652"/>
            <a:ext cx="662609" cy="265043"/>
          </a:xfrm>
          <a:prstGeom prst="rect">
            <a:avLst/>
          </a:prstGeom>
          <a:noFill/>
          <a:ln/>
        </p:spPr>
        <p:txBody>
          <a:bodyPr wrap="square" lIns="0" tIns="0" rIns="0" bIns="0" rtlCol="0" anchor="ctr"/>
          <a:lstStyle/>
          <a:p>
            <a:pPr>
              <a:lnSpc>
                <a:spcPct val="130000"/>
              </a:lnSpc>
            </a:pPr>
            <a:r>
              <a:rPr lang="en-US" sz="1391" b="1" dirty="0">
                <a:solidFill>
                  <a:srgbClr val="E2E8F0"/>
                </a:solidFill>
                <a:latin typeface="MiSans" pitchFamily="34" charset="0"/>
                <a:ea typeface="MiSans" pitchFamily="34" charset="-122"/>
                <a:cs typeface="MiSans" pitchFamily="34" charset="-120"/>
              </a:rPr>
              <a:t>acks=0</a:t>
            </a:r>
            <a:endParaRPr lang="en-US" sz="1600" dirty="0"/>
          </a:p>
        </p:txBody>
      </p:sp>
      <p:sp>
        <p:nvSpPr>
          <p:cNvPr id="14" name="Shape 12"/>
          <p:cNvSpPr/>
          <p:nvPr/>
        </p:nvSpPr>
        <p:spPr>
          <a:xfrm>
            <a:off x="6846957" y="6007652"/>
            <a:ext cx="839304" cy="265043"/>
          </a:xfrm>
          <a:custGeom>
            <a:avLst/>
            <a:gdLst/>
            <a:ahLst/>
            <a:cxnLst/>
            <a:rect l="l" t="t" r="r" b="b"/>
            <a:pathLst>
              <a:path w="839304" h="265043">
                <a:moveTo>
                  <a:pt x="44175" y="0"/>
                </a:moveTo>
                <a:lnTo>
                  <a:pt x="795130" y="0"/>
                </a:lnTo>
                <a:cubicBezTo>
                  <a:pt x="819527" y="0"/>
                  <a:pt x="839304" y="19778"/>
                  <a:pt x="839304" y="44175"/>
                </a:cubicBezTo>
                <a:lnTo>
                  <a:pt x="839304" y="220869"/>
                </a:lnTo>
                <a:cubicBezTo>
                  <a:pt x="839304" y="245266"/>
                  <a:pt x="819527" y="265043"/>
                  <a:pt x="795130" y="265043"/>
                </a:cubicBezTo>
                <a:lnTo>
                  <a:pt x="44175" y="265043"/>
                </a:lnTo>
                <a:cubicBezTo>
                  <a:pt x="19778" y="265043"/>
                  <a:pt x="0" y="245266"/>
                  <a:pt x="0" y="220869"/>
                </a:cubicBezTo>
                <a:lnTo>
                  <a:pt x="0" y="44175"/>
                </a:lnTo>
                <a:cubicBezTo>
                  <a:pt x="0" y="19794"/>
                  <a:pt x="19794" y="0"/>
                  <a:pt x="44175" y="0"/>
                </a:cubicBezTo>
                <a:close/>
              </a:path>
            </a:pathLst>
          </a:custGeom>
          <a:solidFill>
            <a:srgbClr val="718096">
              <a:alpha val="30196"/>
            </a:srgbClr>
          </a:solidFill>
          <a:ln/>
        </p:spPr>
        <p:txBody>
          <a:bodyPr/>
          <a:lstStyle/>
          <a:p>
            <a:endParaRPr lang="zh-CN" altLang="en-US"/>
          </a:p>
        </p:txBody>
      </p:sp>
      <p:sp>
        <p:nvSpPr>
          <p:cNvPr id="15" name="Text 13"/>
          <p:cNvSpPr/>
          <p:nvPr/>
        </p:nvSpPr>
        <p:spPr>
          <a:xfrm>
            <a:off x="6846957" y="6007652"/>
            <a:ext cx="905565" cy="265043"/>
          </a:xfrm>
          <a:prstGeom prst="rect">
            <a:avLst/>
          </a:prstGeom>
          <a:noFill/>
          <a:ln/>
        </p:spPr>
        <p:txBody>
          <a:bodyPr wrap="square" lIns="88348" tIns="44174" rIns="88348" bIns="44174" rtlCol="0" anchor="ctr"/>
          <a:lstStyle/>
          <a:p>
            <a:pPr>
              <a:lnSpc>
                <a:spcPct val="110000"/>
              </a:lnSpc>
            </a:pPr>
            <a:r>
              <a:rPr lang="en-US" sz="1043" dirty="0">
                <a:solidFill>
                  <a:srgbClr val="E2E8F0">
                    <a:alpha val="60000"/>
                  </a:srgbClr>
                </a:solidFill>
                <a:latin typeface="MiSans" pitchFamily="34" charset="0"/>
                <a:ea typeface="MiSans" pitchFamily="34" charset="-122"/>
                <a:cs typeface="MiSans" pitchFamily="34" charset="-120"/>
              </a:rPr>
              <a:t>最低可靠性</a:t>
            </a:r>
            <a:endParaRPr lang="en-US" sz="1600" dirty="0"/>
          </a:p>
        </p:txBody>
      </p:sp>
      <p:sp>
        <p:nvSpPr>
          <p:cNvPr id="16" name="Text 14"/>
          <p:cNvSpPr/>
          <p:nvPr/>
        </p:nvSpPr>
        <p:spPr>
          <a:xfrm>
            <a:off x="795130" y="6316870"/>
            <a:ext cx="6968435" cy="220870"/>
          </a:xfrm>
          <a:prstGeom prst="rect">
            <a:avLst/>
          </a:prstGeom>
          <a:noFill/>
          <a:ln/>
        </p:spPr>
        <p:txBody>
          <a:bodyPr wrap="square" lIns="0" tIns="0" rIns="0" bIns="0" rtlCol="0" anchor="ctr"/>
          <a:lstStyle/>
          <a:p>
            <a:pPr>
              <a:lnSpc>
                <a:spcPct val="120000"/>
              </a:lnSpc>
            </a:pPr>
            <a:r>
              <a:rPr lang="en-US" sz="1217" dirty="0">
                <a:solidFill>
                  <a:srgbClr val="E2E8F0">
                    <a:alpha val="80000"/>
                  </a:srgbClr>
                </a:solidFill>
                <a:latin typeface="MiSans" pitchFamily="34" charset="0"/>
                <a:ea typeface="MiSans" pitchFamily="34" charset="-122"/>
                <a:cs typeface="MiSans" pitchFamily="34" charset="-120"/>
              </a:rPr>
              <a:t>Producer 不等待任何确认，消息可能丢失。最高性能，最低可靠性。</a:t>
            </a:r>
            <a:endParaRPr lang="en-US" sz="1600" dirty="0"/>
          </a:p>
        </p:txBody>
      </p:sp>
      <p:sp>
        <p:nvSpPr>
          <p:cNvPr id="17" name="Shape 15"/>
          <p:cNvSpPr/>
          <p:nvPr/>
        </p:nvSpPr>
        <p:spPr>
          <a:xfrm>
            <a:off x="662609" y="6758609"/>
            <a:ext cx="7156174" cy="795130"/>
          </a:xfrm>
          <a:custGeom>
            <a:avLst/>
            <a:gdLst/>
            <a:ahLst/>
            <a:cxnLst/>
            <a:rect l="l" t="t" r="r" b="b"/>
            <a:pathLst>
              <a:path w="7156174" h="795130">
                <a:moveTo>
                  <a:pt x="44177" y="0"/>
                </a:moveTo>
                <a:lnTo>
                  <a:pt x="7111996" y="0"/>
                </a:lnTo>
                <a:cubicBezTo>
                  <a:pt x="7136395" y="0"/>
                  <a:pt x="7156174" y="19779"/>
                  <a:pt x="7156174" y="44177"/>
                </a:cubicBezTo>
                <a:lnTo>
                  <a:pt x="7156174" y="750953"/>
                </a:lnTo>
                <a:cubicBezTo>
                  <a:pt x="7156174" y="775352"/>
                  <a:pt x="7136395" y="795130"/>
                  <a:pt x="7111996" y="795130"/>
                </a:cubicBezTo>
                <a:lnTo>
                  <a:pt x="44177" y="795130"/>
                </a:lnTo>
                <a:cubicBezTo>
                  <a:pt x="19779" y="795130"/>
                  <a:pt x="0" y="775352"/>
                  <a:pt x="0" y="750953"/>
                </a:cubicBezTo>
                <a:lnTo>
                  <a:pt x="0" y="44177"/>
                </a:lnTo>
                <a:cubicBezTo>
                  <a:pt x="0" y="19779"/>
                  <a:pt x="19779" y="0"/>
                  <a:pt x="44177" y="0"/>
                </a:cubicBezTo>
                <a:close/>
              </a:path>
            </a:pathLst>
          </a:custGeom>
          <a:solidFill>
            <a:srgbClr val="1A1D21">
              <a:alpha val="60000"/>
            </a:srgbClr>
          </a:solidFill>
          <a:ln/>
        </p:spPr>
        <p:txBody>
          <a:bodyPr/>
          <a:lstStyle/>
          <a:p>
            <a:endParaRPr lang="zh-CN" altLang="en-US"/>
          </a:p>
        </p:txBody>
      </p:sp>
      <p:sp>
        <p:nvSpPr>
          <p:cNvPr id="18" name="Text 16"/>
          <p:cNvSpPr/>
          <p:nvPr/>
        </p:nvSpPr>
        <p:spPr>
          <a:xfrm>
            <a:off x="795130" y="6891130"/>
            <a:ext cx="618435" cy="265043"/>
          </a:xfrm>
          <a:prstGeom prst="rect">
            <a:avLst/>
          </a:prstGeom>
          <a:noFill/>
          <a:ln/>
        </p:spPr>
        <p:txBody>
          <a:bodyPr wrap="square" lIns="0" tIns="0" rIns="0" bIns="0" rtlCol="0" anchor="ctr"/>
          <a:lstStyle/>
          <a:p>
            <a:pPr>
              <a:lnSpc>
                <a:spcPct val="130000"/>
              </a:lnSpc>
            </a:pPr>
            <a:r>
              <a:rPr lang="en-US" sz="1391" b="1" dirty="0">
                <a:solidFill>
                  <a:srgbClr val="E2E8F0"/>
                </a:solidFill>
                <a:latin typeface="MiSans" pitchFamily="34" charset="0"/>
                <a:ea typeface="MiSans" pitchFamily="34" charset="-122"/>
                <a:cs typeface="MiSans" pitchFamily="34" charset="-120"/>
              </a:rPr>
              <a:t>acks=1</a:t>
            </a:r>
            <a:endParaRPr lang="en-US" sz="1600" dirty="0"/>
          </a:p>
        </p:txBody>
      </p:sp>
      <p:sp>
        <p:nvSpPr>
          <p:cNvPr id="19" name="Shape 17"/>
          <p:cNvSpPr/>
          <p:nvPr/>
        </p:nvSpPr>
        <p:spPr>
          <a:xfrm>
            <a:off x="6846957" y="6891130"/>
            <a:ext cx="839304" cy="265043"/>
          </a:xfrm>
          <a:custGeom>
            <a:avLst/>
            <a:gdLst/>
            <a:ahLst/>
            <a:cxnLst/>
            <a:rect l="l" t="t" r="r" b="b"/>
            <a:pathLst>
              <a:path w="839304" h="265043">
                <a:moveTo>
                  <a:pt x="44175" y="0"/>
                </a:moveTo>
                <a:lnTo>
                  <a:pt x="795130" y="0"/>
                </a:lnTo>
                <a:cubicBezTo>
                  <a:pt x="819527" y="0"/>
                  <a:pt x="839304" y="19778"/>
                  <a:pt x="839304" y="44175"/>
                </a:cubicBezTo>
                <a:lnTo>
                  <a:pt x="839304" y="220869"/>
                </a:lnTo>
                <a:cubicBezTo>
                  <a:pt x="839304" y="245266"/>
                  <a:pt x="819527" y="265043"/>
                  <a:pt x="795130" y="265043"/>
                </a:cubicBezTo>
                <a:lnTo>
                  <a:pt x="44175" y="265043"/>
                </a:lnTo>
                <a:cubicBezTo>
                  <a:pt x="19778" y="265043"/>
                  <a:pt x="0" y="245266"/>
                  <a:pt x="0" y="220869"/>
                </a:cubicBezTo>
                <a:lnTo>
                  <a:pt x="0" y="44175"/>
                </a:lnTo>
                <a:cubicBezTo>
                  <a:pt x="0" y="19794"/>
                  <a:pt x="19794" y="0"/>
                  <a:pt x="44175" y="0"/>
                </a:cubicBezTo>
                <a:close/>
              </a:path>
            </a:pathLst>
          </a:custGeom>
          <a:solidFill>
            <a:srgbClr val="718096">
              <a:alpha val="30196"/>
            </a:srgbClr>
          </a:solidFill>
          <a:ln/>
        </p:spPr>
        <p:txBody>
          <a:bodyPr/>
          <a:lstStyle/>
          <a:p>
            <a:endParaRPr lang="zh-CN" altLang="en-US"/>
          </a:p>
        </p:txBody>
      </p:sp>
      <p:sp>
        <p:nvSpPr>
          <p:cNvPr id="20" name="Text 18"/>
          <p:cNvSpPr/>
          <p:nvPr/>
        </p:nvSpPr>
        <p:spPr>
          <a:xfrm>
            <a:off x="6846957" y="6891130"/>
            <a:ext cx="905565" cy="265043"/>
          </a:xfrm>
          <a:prstGeom prst="rect">
            <a:avLst/>
          </a:prstGeom>
          <a:noFill/>
          <a:ln/>
        </p:spPr>
        <p:txBody>
          <a:bodyPr wrap="square" lIns="88348" tIns="44174" rIns="88348" bIns="44174" rtlCol="0" anchor="ctr"/>
          <a:lstStyle/>
          <a:p>
            <a:pPr>
              <a:lnSpc>
                <a:spcPct val="110000"/>
              </a:lnSpc>
            </a:pPr>
            <a:r>
              <a:rPr lang="en-US" sz="1043" dirty="0">
                <a:solidFill>
                  <a:srgbClr val="E2E8F0">
                    <a:alpha val="60000"/>
                  </a:srgbClr>
                </a:solidFill>
                <a:latin typeface="MiSans" pitchFamily="34" charset="0"/>
                <a:ea typeface="MiSans" pitchFamily="34" charset="-122"/>
                <a:cs typeface="MiSans" pitchFamily="34" charset="-120"/>
              </a:rPr>
              <a:t>中等可靠性</a:t>
            </a:r>
            <a:endParaRPr lang="en-US" sz="1600" dirty="0"/>
          </a:p>
        </p:txBody>
      </p:sp>
      <p:sp>
        <p:nvSpPr>
          <p:cNvPr id="21" name="Text 19"/>
          <p:cNvSpPr/>
          <p:nvPr/>
        </p:nvSpPr>
        <p:spPr>
          <a:xfrm>
            <a:off x="795130" y="7200348"/>
            <a:ext cx="6968435" cy="220870"/>
          </a:xfrm>
          <a:prstGeom prst="rect">
            <a:avLst/>
          </a:prstGeom>
          <a:noFill/>
          <a:ln/>
        </p:spPr>
        <p:txBody>
          <a:bodyPr wrap="square" lIns="0" tIns="0" rIns="0" bIns="0" rtlCol="0" anchor="ctr"/>
          <a:lstStyle/>
          <a:p>
            <a:pPr>
              <a:lnSpc>
                <a:spcPct val="120000"/>
              </a:lnSpc>
            </a:pPr>
            <a:r>
              <a:rPr lang="en-US" sz="1217" dirty="0">
                <a:solidFill>
                  <a:srgbClr val="E2E8F0">
                    <a:alpha val="80000"/>
                  </a:srgbClr>
                </a:solidFill>
                <a:latin typeface="MiSans" pitchFamily="34" charset="0"/>
                <a:ea typeface="MiSans" pitchFamily="34" charset="-122"/>
                <a:cs typeface="MiSans" pitchFamily="34" charset="-120"/>
              </a:rPr>
              <a:t>Leader 副本写入成功即确认。如果 Leader 故障可能丢失数据。</a:t>
            </a:r>
            <a:endParaRPr lang="en-US" sz="1600" dirty="0"/>
          </a:p>
        </p:txBody>
      </p:sp>
      <p:sp>
        <p:nvSpPr>
          <p:cNvPr id="22" name="Shape 20"/>
          <p:cNvSpPr/>
          <p:nvPr/>
        </p:nvSpPr>
        <p:spPr>
          <a:xfrm>
            <a:off x="662609" y="7642087"/>
            <a:ext cx="7156174" cy="795130"/>
          </a:xfrm>
          <a:custGeom>
            <a:avLst/>
            <a:gdLst/>
            <a:ahLst/>
            <a:cxnLst/>
            <a:rect l="l" t="t" r="r" b="b"/>
            <a:pathLst>
              <a:path w="7156174" h="795130">
                <a:moveTo>
                  <a:pt x="44177" y="0"/>
                </a:moveTo>
                <a:lnTo>
                  <a:pt x="7111996" y="0"/>
                </a:lnTo>
                <a:cubicBezTo>
                  <a:pt x="7136395" y="0"/>
                  <a:pt x="7156174" y="19779"/>
                  <a:pt x="7156174" y="44177"/>
                </a:cubicBezTo>
                <a:lnTo>
                  <a:pt x="7156174" y="750953"/>
                </a:lnTo>
                <a:cubicBezTo>
                  <a:pt x="7156174" y="775352"/>
                  <a:pt x="7136395" y="795130"/>
                  <a:pt x="7111996" y="795130"/>
                </a:cubicBezTo>
                <a:lnTo>
                  <a:pt x="44177" y="795130"/>
                </a:lnTo>
                <a:cubicBezTo>
                  <a:pt x="19779" y="795130"/>
                  <a:pt x="0" y="775352"/>
                  <a:pt x="0" y="750953"/>
                </a:cubicBezTo>
                <a:lnTo>
                  <a:pt x="0" y="44177"/>
                </a:lnTo>
                <a:cubicBezTo>
                  <a:pt x="0" y="19779"/>
                  <a:pt x="19779" y="0"/>
                  <a:pt x="44177" y="0"/>
                </a:cubicBezTo>
                <a:close/>
              </a:path>
            </a:pathLst>
          </a:custGeom>
          <a:solidFill>
            <a:srgbClr val="1A1D21">
              <a:alpha val="60000"/>
            </a:srgbClr>
          </a:solidFill>
          <a:ln/>
        </p:spPr>
        <p:txBody>
          <a:bodyPr/>
          <a:lstStyle/>
          <a:p>
            <a:endParaRPr lang="zh-CN" altLang="en-US"/>
          </a:p>
        </p:txBody>
      </p:sp>
      <p:sp>
        <p:nvSpPr>
          <p:cNvPr id="23" name="Text 21"/>
          <p:cNvSpPr/>
          <p:nvPr/>
        </p:nvSpPr>
        <p:spPr>
          <a:xfrm>
            <a:off x="795130" y="7774609"/>
            <a:ext cx="739913" cy="265043"/>
          </a:xfrm>
          <a:prstGeom prst="rect">
            <a:avLst/>
          </a:prstGeom>
          <a:noFill/>
          <a:ln/>
        </p:spPr>
        <p:txBody>
          <a:bodyPr wrap="square" lIns="0" tIns="0" rIns="0" bIns="0" rtlCol="0" anchor="ctr"/>
          <a:lstStyle/>
          <a:p>
            <a:pPr>
              <a:lnSpc>
                <a:spcPct val="130000"/>
              </a:lnSpc>
            </a:pPr>
            <a:r>
              <a:rPr lang="en-US" sz="1391" b="1" dirty="0">
                <a:solidFill>
                  <a:srgbClr val="E2E8F0"/>
                </a:solidFill>
                <a:latin typeface="MiSans" pitchFamily="34" charset="0"/>
                <a:ea typeface="MiSans" pitchFamily="34" charset="-122"/>
                <a:cs typeface="MiSans" pitchFamily="34" charset="-120"/>
              </a:rPr>
              <a:t>acks=all</a:t>
            </a:r>
            <a:endParaRPr lang="en-US" sz="1600" dirty="0"/>
          </a:p>
        </p:txBody>
      </p:sp>
      <p:sp>
        <p:nvSpPr>
          <p:cNvPr id="24" name="Shape 22"/>
          <p:cNvSpPr/>
          <p:nvPr/>
        </p:nvSpPr>
        <p:spPr>
          <a:xfrm>
            <a:off x="6846957" y="7774609"/>
            <a:ext cx="839304" cy="265043"/>
          </a:xfrm>
          <a:custGeom>
            <a:avLst/>
            <a:gdLst/>
            <a:ahLst/>
            <a:cxnLst/>
            <a:rect l="l" t="t" r="r" b="b"/>
            <a:pathLst>
              <a:path w="839304" h="265043">
                <a:moveTo>
                  <a:pt x="44175" y="0"/>
                </a:moveTo>
                <a:lnTo>
                  <a:pt x="795130" y="0"/>
                </a:lnTo>
                <a:cubicBezTo>
                  <a:pt x="819527" y="0"/>
                  <a:pt x="839304" y="19778"/>
                  <a:pt x="839304" y="44175"/>
                </a:cubicBezTo>
                <a:lnTo>
                  <a:pt x="839304" y="220869"/>
                </a:lnTo>
                <a:cubicBezTo>
                  <a:pt x="839304" y="245266"/>
                  <a:pt x="819527" y="265043"/>
                  <a:pt x="795130" y="265043"/>
                </a:cubicBezTo>
                <a:lnTo>
                  <a:pt x="44175" y="265043"/>
                </a:lnTo>
                <a:cubicBezTo>
                  <a:pt x="19778" y="265043"/>
                  <a:pt x="0" y="245266"/>
                  <a:pt x="0" y="220869"/>
                </a:cubicBezTo>
                <a:lnTo>
                  <a:pt x="0" y="44175"/>
                </a:lnTo>
                <a:cubicBezTo>
                  <a:pt x="0" y="19794"/>
                  <a:pt x="19794" y="0"/>
                  <a:pt x="44175" y="0"/>
                </a:cubicBezTo>
                <a:close/>
              </a:path>
            </a:pathLst>
          </a:custGeom>
          <a:solidFill>
            <a:srgbClr val="D69E2E">
              <a:alpha val="30196"/>
            </a:srgbClr>
          </a:solidFill>
          <a:ln/>
        </p:spPr>
        <p:txBody>
          <a:bodyPr/>
          <a:lstStyle/>
          <a:p>
            <a:endParaRPr lang="zh-CN" altLang="en-US"/>
          </a:p>
        </p:txBody>
      </p:sp>
      <p:sp>
        <p:nvSpPr>
          <p:cNvPr id="25" name="Text 23"/>
          <p:cNvSpPr/>
          <p:nvPr/>
        </p:nvSpPr>
        <p:spPr>
          <a:xfrm>
            <a:off x="6846957" y="7774609"/>
            <a:ext cx="905565" cy="265043"/>
          </a:xfrm>
          <a:prstGeom prst="rect">
            <a:avLst/>
          </a:prstGeom>
          <a:noFill/>
          <a:ln/>
        </p:spPr>
        <p:txBody>
          <a:bodyPr wrap="square" lIns="88348" tIns="44174" rIns="88348" bIns="44174"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最高可靠性</a:t>
            </a:r>
            <a:endParaRPr lang="en-US" sz="1600" dirty="0"/>
          </a:p>
        </p:txBody>
      </p:sp>
      <p:sp>
        <p:nvSpPr>
          <p:cNvPr id="26" name="Text 24"/>
          <p:cNvSpPr/>
          <p:nvPr/>
        </p:nvSpPr>
        <p:spPr>
          <a:xfrm>
            <a:off x="795130" y="8083826"/>
            <a:ext cx="6968435" cy="220870"/>
          </a:xfrm>
          <a:prstGeom prst="rect">
            <a:avLst/>
          </a:prstGeom>
          <a:noFill/>
          <a:ln/>
        </p:spPr>
        <p:txBody>
          <a:bodyPr wrap="square" lIns="0" tIns="0" rIns="0" bIns="0" rtlCol="0" anchor="ctr"/>
          <a:lstStyle/>
          <a:p>
            <a:pPr>
              <a:lnSpc>
                <a:spcPct val="120000"/>
              </a:lnSpc>
            </a:pPr>
            <a:r>
              <a:rPr lang="en-US" sz="1217" dirty="0">
                <a:solidFill>
                  <a:srgbClr val="E2E8F0">
                    <a:alpha val="80000"/>
                  </a:srgbClr>
                </a:solidFill>
                <a:latin typeface="MiSans" pitchFamily="34" charset="0"/>
                <a:ea typeface="MiSans" pitchFamily="34" charset="-122"/>
                <a:cs typeface="MiSans" pitchFamily="34" charset="-120"/>
              </a:rPr>
              <a:t>所有 ISR 副本都写入成功才确认。最高可靠性，不会丢失数据。</a:t>
            </a:r>
            <a:endParaRPr lang="en-US" sz="1600" dirty="0"/>
          </a:p>
        </p:txBody>
      </p:sp>
      <p:sp>
        <p:nvSpPr>
          <p:cNvPr id="27" name="Shape 25"/>
          <p:cNvSpPr/>
          <p:nvPr/>
        </p:nvSpPr>
        <p:spPr>
          <a:xfrm>
            <a:off x="8282609" y="1413565"/>
            <a:ext cx="7531652" cy="5212522"/>
          </a:xfrm>
          <a:custGeom>
            <a:avLst/>
            <a:gdLst/>
            <a:ahLst/>
            <a:cxnLst/>
            <a:rect l="l" t="t" r="r" b="b"/>
            <a:pathLst>
              <a:path w="7531652" h="5212522">
                <a:moveTo>
                  <a:pt x="44174" y="0"/>
                </a:moveTo>
                <a:lnTo>
                  <a:pt x="7443300" y="0"/>
                </a:lnTo>
                <a:cubicBezTo>
                  <a:pt x="7492096" y="0"/>
                  <a:pt x="7531652" y="39557"/>
                  <a:pt x="7531652" y="88352"/>
                </a:cubicBezTo>
                <a:lnTo>
                  <a:pt x="7531652" y="5124169"/>
                </a:lnTo>
                <a:cubicBezTo>
                  <a:pt x="7531652" y="5172965"/>
                  <a:pt x="7492096" y="5212522"/>
                  <a:pt x="7443300" y="5212522"/>
                </a:cubicBezTo>
                <a:lnTo>
                  <a:pt x="44174" y="5212522"/>
                </a:lnTo>
                <a:cubicBezTo>
                  <a:pt x="19777" y="5212522"/>
                  <a:pt x="0" y="5192744"/>
                  <a:pt x="0" y="5168348"/>
                </a:cubicBezTo>
                <a:lnTo>
                  <a:pt x="0" y="44174"/>
                </a:lnTo>
                <a:cubicBezTo>
                  <a:pt x="0" y="19794"/>
                  <a:pt x="19794" y="0"/>
                  <a:pt x="44174" y="0"/>
                </a:cubicBezTo>
                <a:close/>
              </a:path>
            </a:pathLst>
          </a:custGeom>
          <a:solidFill>
            <a:srgbClr val="4A5568">
              <a:alpha val="20000"/>
            </a:srgbClr>
          </a:solidFill>
          <a:ln/>
        </p:spPr>
        <p:txBody>
          <a:bodyPr/>
          <a:lstStyle/>
          <a:p>
            <a:endParaRPr lang="zh-CN" altLang="en-US"/>
          </a:p>
        </p:txBody>
      </p:sp>
      <p:sp>
        <p:nvSpPr>
          <p:cNvPr id="28" name="Shape 26"/>
          <p:cNvSpPr/>
          <p:nvPr/>
        </p:nvSpPr>
        <p:spPr>
          <a:xfrm>
            <a:off x="8282609" y="1413565"/>
            <a:ext cx="44174" cy="5212522"/>
          </a:xfrm>
          <a:custGeom>
            <a:avLst/>
            <a:gdLst/>
            <a:ahLst/>
            <a:cxnLst/>
            <a:rect l="l" t="t" r="r" b="b"/>
            <a:pathLst>
              <a:path w="44174" h="5212522">
                <a:moveTo>
                  <a:pt x="44174" y="0"/>
                </a:moveTo>
                <a:lnTo>
                  <a:pt x="44174" y="0"/>
                </a:lnTo>
                <a:lnTo>
                  <a:pt x="44174" y="5212522"/>
                </a:lnTo>
                <a:lnTo>
                  <a:pt x="44174" y="5212522"/>
                </a:lnTo>
                <a:cubicBezTo>
                  <a:pt x="19777" y="5212522"/>
                  <a:pt x="0" y="5192744"/>
                  <a:pt x="0" y="5168348"/>
                </a:cubicBezTo>
                <a:lnTo>
                  <a:pt x="0" y="44174"/>
                </a:lnTo>
                <a:cubicBezTo>
                  <a:pt x="0" y="19794"/>
                  <a:pt x="19794" y="0"/>
                  <a:pt x="44174" y="0"/>
                </a:cubicBezTo>
                <a:close/>
              </a:path>
            </a:pathLst>
          </a:custGeom>
          <a:solidFill>
            <a:srgbClr val="D69E2E"/>
          </a:solidFill>
          <a:ln/>
        </p:spPr>
        <p:txBody>
          <a:bodyPr/>
          <a:lstStyle/>
          <a:p>
            <a:endParaRPr lang="zh-CN" altLang="en-US"/>
          </a:p>
        </p:txBody>
      </p:sp>
      <p:sp>
        <p:nvSpPr>
          <p:cNvPr id="29" name="Text 27"/>
          <p:cNvSpPr/>
          <p:nvPr/>
        </p:nvSpPr>
        <p:spPr>
          <a:xfrm>
            <a:off x="8481391" y="1590261"/>
            <a:ext cx="7266609" cy="309217"/>
          </a:xfrm>
          <a:prstGeom prst="rect">
            <a:avLst/>
          </a:prstGeom>
          <a:noFill/>
          <a:ln/>
        </p:spPr>
        <p:txBody>
          <a:bodyPr wrap="square" lIns="0" tIns="0" rIns="0" bIns="0" rtlCol="0" anchor="ctr"/>
          <a:lstStyle/>
          <a:p>
            <a:pPr>
              <a:lnSpc>
                <a:spcPct val="120000"/>
              </a:lnSpc>
            </a:pPr>
            <a:r>
              <a:rPr lang="en-US" sz="1739" b="1" dirty="0">
                <a:solidFill>
                  <a:srgbClr val="D69E2E"/>
                </a:solidFill>
                <a:latin typeface="MiSans" pitchFamily="34" charset="0"/>
                <a:ea typeface="MiSans" pitchFamily="34" charset="-122"/>
                <a:cs typeface="MiSans" pitchFamily="34" charset="-120"/>
              </a:rPr>
              <a:t>可靠性配置建议</a:t>
            </a:r>
            <a:endParaRPr lang="en-US" sz="1600" dirty="0"/>
          </a:p>
        </p:txBody>
      </p:sp>
      <p:sp>
        <p:nvSpPr>
          <p:cNvPr id="30" name="Shape 28"/>
          <p:cNvSpPr/>
          <p:nvPr/>
        </p:nvSpPr>
        <p:spPr>
          <a:xfrm>
            <a:off x="8481391" y="2032000"/>
            <a:ext cx="7156174" cy="1457739"/>
          </a:xfrm>
          <a:custGeom>
            <a:avLst/>
            <a:gdLst/>
            <a:ahLst/>
            <a:cxnLst/>
            <a:rect l="l" t="t" r="r" b="b"/>
            <a:pathLst>
              <a:path w="7156174" h="1457739">
                <a:moveTo>
                  <a:pt x="44169" y="0"/>
                </a:moveTo>
                <a:lnTo>
                  <a:pt x="7112004" y="0"/>
                </a:lnTo>
                <a:cubicBezTo>
                  <a:pt x="7136399" y="0"/>
                  <a:pt x="7156174" y="19775"/>
                  <a:pt x="7156174" y="44169"/>
                </a:cubicBezTo>
                <a:lnTo>
                  <a:pt x="7156174" y="1413570"/>
                </a:lnTo>
                <a:cubicBezTo>
                  <a:pt x="7156174" y="1437964"/>
                  <a:pt x="7136399" y="1457739"/>
                  <a:pt x="7112004" y="1457739"/>
                </a:cubicBezTo>
                <a:lnTo>
                  <a:pt x="44169" y="1457739"/>
                </a:lnTo>
                <a:cubicBezTo>
                  <a:pt x="19775" y="1457739"/>
                  <a:pt x="0" y="1437964"/>
                  <a:pt x="0" y="1413570"/>
                </a:cubicBezTo>
                <a:lnTo>
                  <a:pt x="0" y="44169"/>
                </a:lnTo>
                <a:cubicBezTo>
                  <a:pt x="0" y="19792"/>
                  <a:pt x="19792" y="0"/>
                  <a:pt x="44169" y="0"/>
                </a:cubicBezTo>
                <a:close/>
              </a:path>
            </a:pathLst>
          </a:custGeom>
          <a:solidFill>
            <a:srgbClr val="1A1D21">
              <a:alpha val="60000"/>
            </a:srgbClr>
          </a:solidFill>
          <a:ln/>
        </p:spPr>
        <p:txBody>
          <a:bodyPr/>
          <a:lstStyle/>
          <a:p>
            <a:endParaRPr lang="zh-CN" altLang="en-US"/>
          </a:p>
        </p:txBody>
      </p:sp>
      <p:sp>
        <p:nvSpPr>
          <p:cNvPr id="31" name="Text 29"/>
          <p:cNvSpPr/>
          <p:nvPr/>
        </p:nvSpPr>
        <p:spPr>
          <a:xfrm>
            <a:off x="8613913" y="2164522"/>
            <a:ext cx="6979478" cy="265043"/>
          </a:xfrm>
          <a:prstGeom prst="rect">
            <a:avLst/>
          </a:prstGeom>
          <a:noFill/>
          <a:ln/>
        </p:spPr>
        <p:txBody>
          <a:bodyPr wrap="square" lIns="0" tIns="0" rIns="0" bIns="0" rtlCol="0" anchor="ctr"/>
          <a:lstStyle/>
          <a:p>
            <a:pPr>
              <a:lnSpc>
                <a:spcPct val="130000"/>
              </a:lnSpc>
            </a:pPr>
            <a:r>
              <a:rPr lang="en-US" sz="1391" b="1" dirty="0">
                <a:solidFill>
                  <a:srgbClr val="D69E2E"/>
                </a:solidFill>
                <a:latin typeface="MiSans" pitchFamily="34" charset="0"/>
                <a:ea typeface="MiSans" pitchFamily="34" charset="-122"/>
                <a:cs typeface="MiSans" pitchFamily="34" charset="-120"/>
              </a:rPr>
              <a:t>最高可靠性(金融交易)</a:t>
            </a:r>
            <a:endParaRPr lang="en-US" sz="1600" dirty="0"/>
          </a:p>
        </p:txBody>
      </p:sp>
      <p:sp>
        <p:nvSpPr>
          <p:cNvPr id="32" name="Text 30"/>
          <p:cNvSpPr/>
          <p:nvPr/>
        </p:nvSpPr>
        <p:spPr>
          <a:xfrm>
            <a:off x="8613913" y="2517913"/>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acks=all</a:t>
            </a:r>
            <a:endParaRPr lang="en-US" sz="1600" dirty="0"/>
          </a:p>
        </p:txBody>
      </p:sp>
      <p:sp>
        <p:nvSpPr>
          <p:cNvPr id="33" name="Text 31"/>
          <p:cNvSpPr/>
          <p:nvPr/>
        </p:nvSpPr>
        <p:spPr>
          <a:xfrm>
            <a:off x="8613913" y="2738783"/>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retries=Integer.MAX_VALUE</a:t>
            </a:r>
            <a:endParaRPr lang="en-US" sz="1600" dirty="0"/>
          </a:p>
        </p:txBody>
      </p:sp>
      <p:sp>
        <p:nvSpPr>
          <p:cNvPr id="34" name="Text 32"/>
          <p:cNvSpPr/>
          <p:nvPr/>
        </p:nvSpPr>
        <p:spPr>
          <a:xfrm>
            <a:off x="8613913" y="2959652"/>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max.in.flight.requests.per.connection=1</a:t>
            </a:r>
            <a:endParaRPr lang="en-US" sz="1600" dirty="0"/>
          </a:p>
        </p:txBody>
      </p:sp>
      <p:sp>
        <p:nvSpPr>
          <p:cNvPr id="35" name="Text 33"/>
          <p:cNvSpPr/>
          <p:nvPr/>
        </p:nvSpPr>
        <p:spPr>
          <a:xfrm>
            <a:off x="8613913" y="3180522"/>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enable.idempotence=true</a:t>
            </a:r>
            <a:endParaRPr lang="en-US" sz="1600" dirty="0"/>
          </a:p>
        </p:txBody>
      </p:sp>
      <p:sp>
        <p:nvSpPr>
          <p:cNvPr id="36" name="Shape 34"/>
          <p:cNvSpPr/>
          <p:nvPr/>
        </p:nvSpPr>
        <p:spPr>
          <a:xfrm>
            <a:off x="8481391" y="3622261"/>
            <a:ext cx="7156174" cy="1236870"/>
          </a:xfrm>
          <a:custGeom>
            <a:avLst/>
            <a:gdLst/>
            <a:ahLst/>
            <a:cxnLst/>
            <a:rect l="l" t="t" r="r" b="b"/>
            <a:pathLst>
              <a:path w="7156174" h="1236870">
                <a:moveTo>
                  <a:pt x="44169" y="0"/>
                </a:moveTo>
                <a:lnTo>
                  <a:pt x="7112005" y="0"/>
                </a:lnTo>
                <a:cubicBezTo>
                  <a:pt x="7136399" y="0"/>
                  <a:pt x="7156174" y="19775"/>
                  <a:pt x="7156174" y="44169"/>
                </a:cubicBezTo>
                <a:lnTo>
                  <a:pt x="7156174" y="1192701"/>
                </a:lnTo>
                <a:cubicBezTo>
                  <a:pt x="7156174" y="1217095"/>
                  <a:pt x="7136399" y="1236870"/>
                  <a:pt x="7112005" y="1236870"/>
                </a:cubicBezTo>
                <a:lnTo>
                  <a:pt x="44169" y="1236870"/>
                </a:lnTo>
                <a:cubicBezTo>
                  <a:pt x="19775" y="1236870"/>
                  <a:pt x="0" y="1217095"/>
                  <a:pt x="0" y="1192701"/>
                </a:cubicBezTo>
                <a:lnTo>
                  <a:pt x="0" y="44169"/>
                </a:lnTo>
                <a:cubicBezTo>
                  <a:pt x="0" y="19791"/>
                  <a:pt x="19791" y="0"/>
                  <a:pt x="44169" y="0"/>
                </a:cubicBezTo>
                <a:close/>
              </a:path>
            </a:pathLst>
          </a:custGeom>
          <a:solidFill>
            <a:srgbClr val="1A1D21">
              <a:alpha val="60000"/>
            </a:srgbClr>
          </a:solidFill>
          <a:ln/>
        </p:spPr>
        <p:txBody>
          <a:bodyPr/>
          <a:lstStyle/>
          <a:p>
            <a:endParaRPr lang="zh-CN" altLang="en-US"/>
          </a:p>
        </p:txBody>
      </p:sp>
      <p:sp>
        <p:nvSpPr>
          <p:cNvPr id="37" name="Text 35"/>
          <p:cNvSpPr/>
          <p:nvPr/>
        </p:nvSpPr>
        <p:spPr>
          <a:xfrm>
            <a:off x="8613913" y="3754783"/>
            <a:ext cx="6979478" cy="265043"/>
          </a:xfrm>
          <a:prstGeom prst="rect">
            <a:avLst/>
          </a:prstGeom>
          <a:noFill/>
          <a:ln/>
        </p:spPr>
        <p:txBody>
          <a:bodyPr wrap="square" lIns="0" tIns="0" rIns="0" bIns="0" rtlCol="0" anchor="ctr"/>
          <a:lstStyle/>
          <a:p>
            <a:pPr>
              <a:lnSpc>
                <a:spcPct val="130000"/>
              </a:lnSpc>
            </a:pPr>
            <a:r>
              <a:rPr lang="en-US" sz="1391" b="1" dirty="0">
                <a:solidFill>
                  <a:srgbClr val="718096"/>
                </a:solidFill>
                <a:latin typeface="MiSans" pitchFamily="34" charset="0"/>
                <a:ea typeface="MiSans" pitchFamily="34" charset="-122"/>
                <a:cs typeface="MiSans" pitchFamily="34" charset="-120"/>
              </a:rPr>
              <a:t>平衡配置(一般业务)</a:t>
            </a:r>
            <a:endParaRPr lang="en-US" sz="1600" dirty="0"/>
          </a:p>
        </p:txBody>
      </p:sp>
      <p:sp>
        <p:nvSpPr>
          <p:cNvPr id="38" name="Text 36"/>
          <p:cNvSpPr/>
          <p:nvPr/>
        </p:nvSpPr>
        <p:spPr>
          <a:xfrm>
            <a:off x="8613913" y="4108174"/>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acks=all</a:t>
            </a:r>
            <a:endParaRPr lang="en-US" sz="1600" dirty="0"/>
          </a:p>
        </p:txBody>
      </p:sp>
      <p:sp>
        <p:nvSpPr>
          <p:cNvPr id="39" name="Text 37"/>
          <p:cNvSpPr/>
          <p:nvPr/>
        </p:nvSpPr>
        <p:spPr>
          <a:xfrm>
            <a:off x="8613913" y="4329043"/>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retries=3</a:t>
            </a:r>
            <a:endParaRPr lang="en-US" sz="1600" dirty="0"/>
          </a:p>
        </p:txBody>
      </p:sp>
      <p:sp>
        <p:nvSpPr>
          <p:cNvPr id="40" name="Text 38"/>
          <p:cNvSpPr/>
          <p:nvPr/>
        </p:nvSpPr>
        <p:spPr>
          <a:xfrm>
            <a:off x="8613913" y="4549913"/>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max.in.flight.requests.per.connection=5</a:t>
            </a:r>
            <a:endParaRPr lang="en-US" sz="1600" dirty="0"/>
          </a:p>
        </p:txBody>
      </p:sp>
      <p:sp>
        <p:nvSpPr>
          <p:cNvPr id="41" name="Shape 39"/>
          <p:cNvSpPr/>
          <p:nvPr/>
        </p:nvSpPr>
        <p:spPr>
          <a:xfrm>
            <a:off x="8481391" y="4991652"/>
            <a:ext cx="7156174" cy="1457739"/>
          </a:xfrm>
          <a:custGeom>
            <a:avLst/>
            <a:gdLst/>
            <a:ahLst/>
            <a:cxnLst/>
            <a:rect l="l" t="t" r="r" b="b"/>
            <a:pathLst>
              <a:path w="7156174" h="1457739">
                <a:moveTo>
                  <a:pt x="44169" y="0"/>
                </a:moveTo>
                <a:lnTo>
                  <a:pt x="7112004" y="0"/>
                </a:lnTo>
                <a:cubicBezTo>
                  <a:pt x="7136399" y="0"/>
                  <a:pt x="7156174" y="19775"/>
                  <a:pt x="7156174" y="44169"/>
                </a:cubicBezTo>
                <a:lnTo>
                  <a:pt x="7156174" y="1413570"/>
                </a:lnTo>
                <a:cubicBezTo>
                  <a:pt x="7156174" y="1437964"/>
                  <a:pt x="7136399" y="1457739"/>
                  <a:pt x="7112004" y="1457739"/>
                </a:cubicBezTo>
                <a:lnTo>
                  <a:pt x="44169" y="1457739"/>
                </a:lnTo>
                <a:cubicBezTo>
                  <a:pt x="19775" y="1457739"/>
                  <a:pt x="0" y="1437964"/>
                  <a:pt x="0" y="1413570"/>
                </a:cubicBezTo>
                <a:lnTo>
                  <a:pt x="0" y="44169"/>
                </a:lnTo>
                <a:cubicBezTo>
                  <a:pt x="0" y="19792"/>
                  <a:pt x="19792" y="0"/>
                  <a:pt x="44169" y="0"/>
                </a:cubicBezTo>
                <a:close/>
              </a:path>
            </a:pathLst>
          </a:custGeom>
          <a:solidFill>
            <a:srgbClr val="1A1D21">
              <a:alpha val="60000"/>
            </a:srgbClr>
          </a:solidFill>
          <a:ln/>
        </p:spPr>
        <p:txBody>
          <a:bodyPr/>
          <a:lstStyle/>
          <a:p>
            <a:endParaRPr lang="zh-CN" altLang="en-US"/>
          </a:p>
        </p:txBody>
      </p:sp>
      <p:sp>
        <p:nvSpPr>
          <p:cNvPr id="42" name="Text 40"/>
          <p:cNvSpPr/>
          <p:nvPr/>
        </p:nvSpPr>
        <p:spPr>
          <a:xfrm>
            <a:off x="8613913" y="5124174"/>
            <a:ext cx="6979478" cy="265043"/>
          </a:xfrm>
          <a:prstGeom prst="rect">
            <a:avLst/>
          </a:prstGeom>
          <a:noFill/>
          <a:ln/>
        </p:spPr>
        <p:txBody>
          <a:bodyPr wrap="square" lIns="0" tIns="0" rIns="0" bIns="0" rtlCol="0" anchor="ctr"/>
          <a:lstStyle/>
          <a:p>
            <a:pPr>
              <a:lnSpc>
                <a:spcPct val="130000"/>
              </a:lnSpc>
            </a:pPr>
            <a:r>
              <a:rPr lang="en-US" sz="1391" b="1" dirty="0">
                <a:solidFill>
                  <a:srgbClr val="718096"/>
                </a:solidFill>
                <a:latin typeface="MiSans" pitchFamily="34" charset="0"/>
                <a:ea typeface="MiSans" pitchFamily="34" charset="-122"/>
                <a:cs typeface="MiSans" pitchFamily="34" charset="-120"/>
              </a:rPr>
              <a:t>高吞吐配置(日志收集)</a:t>
            </a:r>
            <a:endParaRPr lang="en-US" sz="1600" dirty="0"/>
          </a:p>
        </p:txBody>
      </p:sp>
      <p:sp>
        <p:nvSpPr>
          <p:cNvPr id="43" name="Text 41"/>
          <p:cNvSpPr/>
          <p:nvPr/>
        </p:nvSpPr>
        <p:spPr>
          <a:xfrm>
            <a:off x="8613913" y="5477565"/>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acks=1</a:t>
            </a:r>
            <a:endParaRPr lang="en-US" sz="1600" dirty="0"/>
          </a:p>
        </p:txBody>
      </p:sp>
      <p:sp>
        <p:nvSpPr>
          <p:cNvPr id="44" name="Text 42"/>
          <p:cNvSpPr/>
          <p:nvPr/>
        </p:nvSpPr>
        <p:spPr>
          <a:xfrm>
            <a:off x="8613913" y="5698435"/>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retries=0</a:t>
            </a:r>
            <a:endParaRPr lang="en-US" sz="1600" dirty="0"/>
          </a:p>
        </p:txBody>
      </p:sp>
      <p:sp>
        <p:nvSpPr>
          <p:cNvPr id="45" name="Text 43"/>
          <p:cNvSpPr/>
          <p:nvPr/>
        </p:nvSpPr>
        <p:spPr>
          <a:xfrm>
            <a:off x="8613913" y="5919304"/>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batch.size=16384</a:t>
            </a:r>
            <a:endParaRPr lang="en-US" sz="1600" dirty="0"/>
          </a:p>
        </p:txBody>
      </p:sp>
      <p:sp>
        <p:nvSpPr>
          <p:cNvPr id="46" name="Text 44"/>
          <p:cNvSpPr/>
          <p:nvPr/>
        </p:nvSpPr>
        <p:spPr>
          <a:xfrm>
            <a:off x="8613913" y="6140174"/>
            <a:ext cx="6957391" cy="176696"/>
          </a:xfrm>
          <a:prstGeom prst="rect">
            <a:avLst/>
          </a:prstGeom>
          <a:noFill/>
          <a:ln/>
        </p:spPr>
        <p:txBody>
          <a:bodyPr wrap="square" lIns="0" tIns="0" rIns="0" bIns="0" rtlCol="0" anchor="ctr"/>
          <a:lstStyle/>
          <a:p>
            <a:pPr>
              <a:lnSpc>
                <a:spcPct val="110000"/>
              </a:lnSpc>
            </a:pPr>
            <a:r>
              <a:rPr lang="en-US" sz="1043" dirty="0">
                <a:solidFill>
                  <a:srgbClr val="E2E8F0">
                    <a:alpha val="80000"/>
                  </a:srgbClr>
                </a:solidFill>
                <a:latin typeface="MiSans" pitchFamily="34" charset="0"/>
                <a:ea typeface="MiSans" pitchFamily="34" charset="-122"/>
                <a:cs typeface="MiSans" pitchFamily="34" charset="-120"/>
              </a:rPr>
              <a:t>linger.ms=5</a:t>
            </a:r>
            <a:endParaRPr lang="en-US" sz="1600" dirty="0"/>
          </a:p>
        </p:txBody>
      </p:sp>
      <p:sp>
        <p:nvSpPr>
          <p:cNvPr id="47" name="Shape 45"/>
          <p:cNvSpPr/>
          <p:nvPr/>
        </p:nvSpPr>
        <p:spPr>
          <a:xfrm>
            <a:off x="8282609" y="6787120"/>
            <a:ext cx="7531652" cy="1943652"/>
          </a:xfrm>
          <a:custGeom>
            <a:avLst/>
            <a:gdLst/>
            <a:ahLst/>
            <a:cxnLst/>
            <a:rect l="l" t="t" r="r" b="b"/>
            <a:pathLst>
              <a:path w="7531652" h="1943652">
                <a:moveTo>
                  <a:pt x="44174" y="0"/>
                </a:moveTo>
                <a:lnTo>
                  <a:pt x="7443313" y="0"/>
                </a:lnTo>
                <a:cubicBezTo>
                  <a:pt x="7492101" y="0"/>
                  <a:pt x="7531652" y="39551"/>
                  <a:pt x="7531652" y="88339"/>
                </a:cubicBezTo>
                <a:lnTo>
                  <a:pt x="7531652" y="1855313"/>
                </a:lnTo>
                <a:cubicBezTo>
                  <a:pt x="7531652" y="1904101"/>
                  <a:pt x="7492101" y="1943652"/>
                  <a:pt x="7443313" y="1943652"/>
                </a:cubicBezTo>
                <a:lnTo>
                  <a:pt x="44174" y="1943652"/>
                </a:lnTo>
                <a:cubicBezTo>
                  <a:pt x="19777" y="1943652"/>
                  <a:pt x="0" y="1923875"/>
                  <a:pt x="0" y="1899478"/>
                </a:cubicBezTo>
                <a:lnTo>
                  <a:pt x="0" y="44174"/>
                </a:lnTo>
                <a:cubicBezTo>
                  <a:pt x="0" y="19794"/>
                  <a:pt x="19794" y="0"/>
                  <a:pt x="44174" y="0"/>
                </a:cubicBezTo>
                <a:close/>
              </a:path>
            </a:pathLst>
          </a:custGeom>
          <a:solidFill>
            <a:srgbClr val="4A5568">
              <a:alpha val="20000"/>
            </a:srgbClr>
          </a:solidFill>
          <a:ln/>
        </p:spPr>
        <p:txBody>
          <a:bodyPr/>
          <a:lstStyle/>
          <a:p>
            <a:endParaRPr lang="zh-CN" altLang="en-US"/>
          </a:p>
        </p:txBody>
      </p:sp>
      <p:sp>
        <p:nvSpPr>
          <p:cNvPr id="48" name="Shape 46"/>
          <p:cNvSpPr/>
          <p:nvPr/>
        </p:nvSpPr>
        <p:spPr>
          <a:xfrm>
            <a:off x="8282609" y="6787120"/>
            <a:ext cx="44174" cy="1943652"/>
          </a:xfrm>
          <a:custGeom>
            <a:avLst/>
            <a:gdLst/>
            <a:ahLst/>
            <a:cxnLst/>
            <a:rect l="l" t="t" r="r" b="b"/>
            <a:pathLst>
              <a:path w="44174" h="1943652">
                <a:moveTo>
                  <a:pt x="44174" y="0"/>
                </a:moveTo>
                <a:lnTo>
                  <a:pt x="44174" y="0"/>
                </a:lnTo>
                <a:lnTo>
                  <a:pt x="44174" y="1943652"/>
                </a:lnTo>
                <a:lnTo>
                  <a:pt x="44174" y="1943652"/>
                </a:lnTo>
                <a:cubicBezTo>
                  <a:pt x="19777" y="1943652"/>
                  <a:pt x="0" y="1923875"/>
                  <a:pt x="0" y="1899478"/>
                </a:cubicBezTo>
                <a:lnTo>
                  <a:pt x="0" y="44174"/>
                </a:lnTo>
                <a:cubicBezTo>
                  <a:pt x="0" y="19794"/>
                  <a:pt x="19794" y="0"/>
                  <a:pt x="44174" y="0"/>
                </a:cubicBezTo>
                <a:close/>
              </a:path>
            </a:pathLst>
          </a:custGeom>
          <a:solidFill>
            <a:srgbClr val="D69E2E"/>
          </a:solidFill>
          <a:ln/>
        </p:spPr>
        <p:txBody>
          <a:bodyPr/>
          <a:lstStyle/>
          <a:p>
            <a:endParaRPr lang="zh-CN" altLang="en-US"/>
          </a:p>
        </p:txBody>
      </p:sp>
      <p:sp>
        <p:nvSpPr>
          <p:cNvPr id="49" name="Text 47"/>
          <p:cNvSpPr/>
          <p:nvPr/>
        </p:nvSpPr>
        <p:spPr>
          <a:xfrm>
            <a:off x="8481391" y="6963816"/>
            <a:ext cx="7266609" cy="309217"/>
          </a:xfrm>
          <a:prstGeom prst="rect">
            <a:avLst/>
          </a:prstGeom>
          <a:noFill/>
          <a:ln/>
        </p:spPr>
        <p:txBody>
          <a:bodyPr wrap="square" lIns="0" tIns="0" rIns="0" bIns="0" rtlCol="0" anchor="ctr"/>
          <a:lstStyle/>
          <a:p>
            <a:pPr>
              <a:lnSpc>
                <a:spcPct val="120000"/>
              </a:lnSpc>
            </a:pPr>
            <a:r>
              <a:rPr lang="en-US" sz="1739" b="1" dirty="0">
                <a:solidFill>
                  <a:srgbClr val="D69E2E"/>
                </a:solidFill>
                <a:latin typeface="MiSans" pitchFamily="34" charset="0"/>
                <a:ea typeface="MiSans" pitchFamily="34" charset="-122"/>
                <a:cs typeface="MiSans" pitchFamily="34" charset="-120"/>
              </a:rPr>
              <a:t>重试机制配置</a:t>
            </a:r>
            <a:endParaRPr lang="en-US" sz="1600" dirty="0"/>
          </a:p>
        </p:txBody>
      </p:sp>
      <p:sp>
        <p:nvSpPr>
          <p:cNvPr id="50" name="Text 48"/>
          <p:cNvSpPr/>
          <p:nvPr/>
        </p:nvSpPr>
        <p:spPr>
          <a:xfrm>
            <a:off x="8481391" y="7405555"/>
            <a:ext cx="7233478" cy="220870"/>
          </a:xfrm>
          <a:prstGeom prst="rect">
            <a:avLst/>
          </a:prstGeom>
          <a:noFill/>
          <a:ln/>
        </p:spPr>
        <p:txBody>
          <a:bodyPr wrap="square" lIns="0" tIns="0" rIns="0" bIns="0" rtlCol="0" anchor="ctr"/>
          <a:lstStyle/>
          <a:p>
            <a:pPr>
              <a:lnSpc>
                <a:spcPct val="120000"/>
              </a:lnSpc>
            </a:pPr>
            <a:r>
              <a:rPr lang="en-US" sz="1217" b="1" dirty="0">
                <a:solidFill>
                  <a:srgbClr val="D69E2E"/>
                </a:solidFill>
                <a:latin typeface="MiSans" pitchFamily="34" charset="0"/>
                <a:ea typeface="MiSans" pitchFamily="34" charset="-122"/>
                <a:cs typeface="MiSans" pitchFamily="34" charset="-120"/>
              </a:rPr>
              <a:t>retries:</a:t>
            </a:r>
            <a:r>
              <a:rPr lang="en-US" sz="1217" dirty="0">
                <a:solidFill>
                  <a:srgbClr val="E2E8F0">
                    <a:alpha val="80000"/>
                  </a:srgbClr>
                </a:solidFill>
                <a:latin typeface="MiSans" pitchFamily="34" charset="0"/>
                <a:ea typeface="MiSans" pitchFamily="34" charset="-122"/>
                <a:cs typeface="MiSans" pitchFamily="34" charset="-120"/>
              </a:rPr>
              <a:t> 重试次数，默认 Integer.MAX_VALUE</a:t>
            </a:r>
            <a:endParaRPr lang="en-US" sz="1600" dirty="0"/>
          </a:p>
        </p:txBody>
      </p:sp>
      <p:sp>
        <p:nvSpPr>
          <p:cNvPr id="51" name="Text 49"/>
          <p:cNvSpPr/>
          <p:nvPr/>
        </p:nvSpPr>
        <p:spPr>
          <a:xfrm>
            <a:off x="8481391" y="7714772"/>
            <a:ext cx="7233478" cy="220870"/>
          </a:xfrm>
          <a:prstGeom prst="rect">
            <a:avLst/>
          </a:prstGeom>
          <a:noFill/>
          <a:ln/>
        </p:spPr>
        <p:txBody>
          <a:bodyPr wrap="square" lIns="0" tIns="0" rIns="0" bIns="0" rtlCol="0" anchor="ctr"/>
          <a:lstStyle/>
          <a:p>
            <a:pPr>
              <a:lnSpc>
                <a:spcPct val="120000"/>
              </a:lnSpc>
            </a:pPr>
            <a:r>
              <a:rPr lang="en-US" sz="1217" b="1" dirty="0">
                <a:solidFill>
                  <a:srgbClr val="D69E2E"/>
                </a:solidFill>
                <a:latin typeface="MiSans" pitchFamily="34" charset="0"/>
                <a:ea typeface="MiSans" pitchFamily="34" charset="-122"/>
                <a:cs typeface="MiSans" pitchFamily="34" charset="-120"/>
              </a:rPr>
              <a:t>retry.backoff.ms:</a:t>
            </a:r>
            <a:r>
              <a:rPr lang="en-US" sz="1217" dirty="0">
                <a:solidFill>
                  <a:srgbClr val="E2E8F0">
                    <a:alpha val="80000"/>
                  </a:srgbClr>
                </a:solidFill>
                <a:latin typeface="MiSans" pitchFamily="34" charset="0"/>
                <a:ea typeface="MiSans" pitchFamily="34" charset="-122"/>
                <a:cs typeface="MiSans" pitchFamily="34" charset="-120"/>
              </a:rPr>
              <a:t> 重试间隔，默认 100ms</a:t>
            </a:r>
            <a:endParaRPr lang="en-US" sz="1600" dirty="0"/>
          </a:p>
        </p:txBody>
      </p:sp>
      <p:sp>
        <p:nvSpPr>
          <p:cNvPr id="52" name="Text 50"/>
          <p:cNvSpPr/>
          <p:nvPr/>
        </p:nvSpPr>
        <p:spPr>
          <a:xfrm>
            <a:off x="8481391" y="8023989"/>
            <a:ext cx="7233478" cy="220870"/>
          </a:xfrm>
          <a:prstGeom prst="rect">
            <a:avLst/>
          </a:prstGeom>
          <a:noFill/>
          <a:ln/>
        </p:spPr>
        <p:txBody>
          <a:bodyPr wrap="square" lIns="0" tIns="0" rIns="0" bIns="0" rtlCol="0" anchor="ctr"/>
          <a:lstStyle/>
          <a:p>
            <a:pPr>
              <a:lnSpc>
                <a:spcPct val="120000"/>
              </a:lnSpc>
            </a:pPr>
            <a:r>
              <a:rPr lang="en-US" sz="1217" b="1" dirty="0">
                <a:solidFill>
                  <a:srgbClr val="D69E2E"/>
                </a:solidFill>
                <a:latin typeface="MiSans" pitchFamily="34" charset="0"/>
                <a:ea typeface="MiSans" pitchFamily="34" charset="-122"/>
                <a:cs typeface="MiSans" pitchFamily="34" charset="-120"/>
              </a:rPr>
              <a:t>delivery.timeout.ms:</a:t>
            </a:r>
            <a:r>
              <a:rPr lang="en-US" sz="1217" dirty="0">
                <a:solidFill>
                  <a:srgbClr val="E2E8F0">
                    <a:alpha val="80000"/>
                  </a:srgbClr>
                </a:solidFill>
                <a:latin typeface="MiSans" pitchFamily="34" charset="0"/>
                <a:ea typeface="MiSans" pitchFamily="34" charset="-122"/>
                <a:cs typeface="MiSans" pitchFamily="34" charset="-120"/>
              </a:rPr>
              <a:t> 总超时时间，默认 120000ms</a:t>
            </a:r>
            <a:endParaRPr lang="en-US" sz="1600" dirty="0"/>
          </a:p>
        </p:txBody>
      </p:sp>
      <p:sp>
        <p:nvSpPr>
          <p:cNvPr id="53" name="Text 51"/>
          <p:cNvSpPr/>
          <p:nvPr/>
        </p:nvSpPr>
        <p:spPr>
          <a:xfrm>
            <a:off x="8481391" y="8333207"/>
            <a:ext cx="7233478" cy="220870"/>
          </a:xfrm>
          <a:prstGeom prst="rect">
            <a:avLst/>
          </a:prstGeom>
          <a:noFill/>
          <a:ln/>
        </p:spPr>
        <p:txBody>
          <a:bodyPr wrap="square" lIns="0" tIns="0" rIns="0" bIns="0" rtlCol="0" anchor="ctr"/>
          <a:lstStyle/>
          <a:p>
            <a:pPr>
              <a:lnSpc>
                <a:spcPct val="120000"/>
              </a:lnSpc>
            </a:pPr>
            <a:r>
              <a:rPr lang="en-US" sz="1217" b="1" dirty="0">
                <a:solidFill>
                  <a:srgbClr val="D69E2E"/>
                </a:solidFill>
                <a:latin typeface="MiSans" pitchFamily="34" charset="0"/>
                <a:ea typeface="MiSans" pitchFamily="34" charset="-122"/>
                <a:cs typeface="MiSans" pitchFamily="34" charset="-120"/>
              </a:rPr>
              <a:t>max.in.flight.requests.per.connection:</a:t>
            </a:r>
            <a:r>
              <a:rPr lang="en-US" sz="1217" dirty="0">
                <a:solidFill>
                  <a:srgbClr val="E2E8F0">
                    <a:alpha val="80000"/>
                  </a:srgbClr>
                </a:solidFill>
                <a:latin typeface="MiSans" pitchFamily="34" charset="0"/>
                <a:ea typeface="MiSans" pitchFamily="34" charset="-122"/>
                <a:cs typeface="MiSans" pitchFamily="34" charset="-120"/>
              </a:rPr>
              <a:t> 保证顺序需设为 1</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76366" y="476366"/>
            <a:ext cx="15398541" cy="285820"/>
          </a:xfrm>
          <a:prstGeom prst="rect">
            <a:avLst/>
          </a:prstGeom>
          <a:noFill/>
          <a:ln/>
        </p:spPr>
        <p:txBody>
          <a:bodyPr wrap="square" lIns="0" tIns="0" rIns="0" bIns="0" rtlCol="0" anchor="ctr"/>
          <a:lstStyle/>
          <a:p>
            <a:pPr>
              <a:lnSpc>
                <a:spcPct val="130000"/>
              </a:lnSpc>
            </a:pPr>
            <a:r>
              <a:rPr lang="en-US" sz="1500" b="1" kern="0" spc="75" dirty="0">
                <a:solidFill>
                  <a:srgbClr val="D69E2E"/>
                </a:solidFill>
                <a:latin typeface="MiSans" pitchFamily="34" charset="0"/>
                <a:ea typeface="MiSans" pitchFamily="34" charset="-122"/>
                <a:cs typeface="MiSans" pitchFamily="34" charset="-120"/>
              </a:rPr>
              <a:t>2.2.1 Consumer 架构</a:t>
            </a:r>
            <a:endParaRPr lang="en-US" sz="1600" dirty="0"/>
          </a:p>
        </p:txBody>
      </p:sp>
      <p:sp>
        <p:nvSpPr>
          <p:cNvPr id="3" name="Text 1"/>
          <p:cNvSpPr/>
          <p:nvPr/>
        </p:nvSpPr>
        <p:spPr>
          <a:xfrm>
            <a:off x="476366" y="857459"/>
            <a:ext cx="15517632" cy="476366"/>
          </a:xfrm>
          <a:prstGeom prst="rect">
            <a:avLst/>
          </a:prstGeom>
          <a:noFill/>
          <a:ln/>
        </p:spPr>
        <p:txBody>
          <a:bodyPr wrap="square" lIns="0" tIns="0" rIns="0" bIns="0" rtlCol="0" anchor="ctr"/>
          <a:lstStyle/>
          <a:p>
            <a:pPr>
              <a:lnSpc>
                <a:spcPct val="90000"/>
              </a:lnSpc>
            </a:pPr>
            <a:r>
              <a:rPr lang="en-US" sz="3376" b="1" dirty="0">
                <a:solidFill>
                  <a:srgbClr val="E2E8F0"/>
                </a:solidFill>
                <a:latin typeface="MiSans" pitchFamily="34" charset="0"/>
                <a:ea typeface="MiSans" pitchFamily="34" charset="-122"/>
                <a:cs typeface="MiSans" pitchFamily="34" charset="-120"/>
              </a:rPr>
              <a:t>Kafka Consumer 核心组件与消费者组机制</a:t>
            </a:r>
            <a:endParaRPr lang="en-US" sz="1600" dirty="0"/>
          </a:p>
        </p:txBody>
      </p:sp>
      <p:sp>
        <p:nvSpPr>
          <p:cNvPr id="4" name="Text 2"/>
          <p:cNvSpPr/>
          <p:nvPr/>
        </p:nvSpPr>
        <p:spPr>
          <a:xfrm>
            <a:off x="476366" y="1524372"/>
            <a:ext cx="7657588" cy="381093"/>
          </a:xfrm>
          <a:prstGeom prst="rect">
            <a:avLst/>
          </a:prstGeom>
          <a:noFill/>
          <a:ln/>
        </p:spPr>
        <p:txBody>
          <a:bodyPr wrap="square" lIns="0" tIns="0" rIns="0" bIns="0" rtlCol="0" anchor="ctr"/>
          <a:lstStyle/>
          <a:p>
            <a:pPr>
              <a:lnSpc>
                <a:spcPct val="110000"/>
              </a:lnSpc>
            </a:pPr>
            <a:r>
              <a:rPr lang="en-US" sz="2251" b="1" dirty="0">
                <a:solidFill>
                  <a:srgbClr val="D69E2E"/>
                </a:solidFill>
                <a:latin typeface="MiSans" pitchFamily="34" charset="0"/>
                <a:ea typeface="MiSans" pitchFamily="34" charset="-122"/>
                <a:cs typeface="MiSans" pitchFamily="34" charset="-120"/>
              </a:rPr>
              <a:t>KafkaConsumer 类结构</a:t>
            </a:r>
            <a:endParaRPr lang="en-US" sz="1600" dirty="0"/>
          </a:p>
        </p:txBody>
      </p:sp>
      <p:sp>
        <p:nvSpPr>
          <p:cNvPr id="5" name="Shape 3"/>
          <p:cNvSpPr/>
          <p:nvPr/>
        </p:nvSpPr>
        <p:spPr>
          <a:xfrm>
            <a:off x="476366" y="2048375"/>
            <a:ext cx="7514678" cy="6192762"/>
          </a:xfrm>
          <a:custGeom>
            <a:avLst/>
            <a:gdLst/>
            <a:ahLst/>
            <a:cxnLst/>
            <a:rect l="l" t="t" r="r" b="b"/>
            <a:pathLst>
              <a:path w="7514678" h="6192762">
                <a:moveTo>
                  <a:pt x="95245" y="0"/>
                </a:moveTo>
                <a:lnTo>
                  <a:pt x="7419434" y="0"/>
                </a:lnTo>
                <a:cubicBezTo>
                  <a:pt x="7472036" y="0"/>
                  <a:pt x="7514678" y="42642"/>
                  <a:pt x="7514678" y="95245"/>
                </a:cubicBezTo>
                <a:lnTo>
                  <a:pt x="7514678" y="6097517"/>
                </a:lnTo>
                <a:cubicBezTo>
                  <a:pt x="7514678" y="6150119"/>
                  <a:pt x="7472036" y="6192762"/>
                  <a:pt x="7419434" y="6192762"/>
                </a:cubicBezTo>
                <a:lnTo>
                  <a:pt x="95245" y="6192762"/>
                </a:lnTo>
                <a:cubicBezTo>
                  <a:pt x="42642" y="6192762"/>
                  <a:pt x="0" y="6150119"/>
                  <a:pt x="0" y="6097517"/>
                </a:cubicBezTo>
                <a:lnTo>
                  <a:pt x="0" y="95245"/>
                </a:lnTo>
                <a:cubicBezTo>
                  <a:pt x="0" y="42678"/>
                  <a:pt x="42678" y="0"/>
                  <a:pt x="95245" y="0"/>
                </a:cubicBezTo>
                <a:close/>
              </a:path>
            </a:pathLst>
          </a:custGeom>
          <a:solidFill>
            <a:srgbClr val="1A1D21">
              <a:alpha val="60000"/>
            </a:srgbClr>
          </a:solidFill>
          <a:ln/>
        </p:spPr>
        <p:txBody>
          <a:bodyPr/>
          <a:lstStyle/>
          <a:p>
            <a:endParaRPr lang="zh-CN" altLang="en-US"/>
          </a:p>
        </p:txBody>
      </p:sp>
      <p:sp>
        <p:nvSpPr>
          <p:cNvPr id="6" name="Text 4"/>
          <p:cNvSpPr/>
          <p:nvPr/>
        </p:nvSpPr>
        <p:spPr>
          <a:xfrm>
            <a:off x="666913" y="2238922"/>
            <a:ext cx="7205040" cy="5525849"/>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a:t>
            </a:r>
            <a:r>
              <a:rPr lang="en-US" altLang="zh-CN" sz="1200" dirty="0" err="1">
                <a:solidFill>
                  <a:schemeClr val="bg1"/>
                </a:solidFill>
                <a:latin typeface="Calibri" panose="020F0502020204030204" pitchFamily="34" charset="0"/>
                <a:cs typeface="Calibri" panose="020F0502020204030204" pitchFamily="34" charset="0"/>
              </a:rPr>
              <a:t>KafkaConsumer</a:t>
            </a:r>
            <a:r>
              <a:rPr lang="en-US" altLang="zh-CN" sz="1200" dirty="0">
                <a:solidFill>
                  <a:schemeClr val="bg1"/>
                </a:solidFill>
                <a:latin typeface="Calibri" panose="020F0502020204030204" pitchFamily="34" charset="0"/>
                <a:cs typeface="Calibri" panose="020F0502020204030204" pitchFamily="34" charset="0"/>
              </a:rPr>
              <a:t>&lt;K, V&gt;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chemeClr val="bg1"/>
                </a:solidFill>
                <a:latin typeface="Calibri" panose="020F0502020204030204" pitchFamily="34" charset="0"/>
                <a:cs typeface="Calibri" panose="020F0502020204030204" pitchFamily="34" charset="0"/>
              </a:rPr>
              <a:t>// </a:t>
            </a:r>
            <a:r>
              <a:rPr lang="zh-CN" altLang="en-US" sz="1200" i="1" dirty="0">
                <a:solidFill>
                  <a:schemeClr val="bg1"/>
                </a:solidFill>
                <a:latin typeface="Calibri" panose="020F0502020204030204" pitchFamily="34" charset="0"/>
                <a:cs typeface="Calibri" panose="020F0502020204030204" pitchFamily="34" charset="0"/>
              </a:rPr>
              <a:t>核心组件</a:t>
            </a:r>
            <a:endParaRPr lang="zh-CN" altLang="en-US" sz="1200" dirty="0">
              <a:solidFill>
                <a:schemeClr val="bg1"/>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a:t>
            </a:r>
            <a:r>
              <a:rPr lang="en-US" altLang="zh-CN" sz="1200" dirty="0" err="1">
                <a:solidFill>
                  <a:schemeClr val="bg1"/>
                </a:solidFill>
                <a:latin typeface="Calibri" panose="020F0502020204030204" pitchFamily="34" charset="0"/>
                <a:cs typeface="Calibri" panose="020F0502020204030204" pitchFamily="34" charset="0"/>
              </a:rPr>
              <a:t>ConsumerConfig</a:t>
            </a:r>
            <a:r>
              <a:rPr lang="en-US" altLang="zh-CN" sz="1200" dirty="0">
                <a:solidFill>
                  <a:schemeClr val="bg1"/>
                </a:solidFill>
                <a:latin typeface="Calibri" panose="020F0502020204030204" pitchFamily="34" charset="0"/>
                <a:cs typeface="Calibri" panose="020F0502020204030204" pitchFamily="34" charset="0"/>
              </a:rPr>
              <a:t> config;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配置管理</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a:t>
            </a:r>
            <a:r>
              <a:rPr lang="en-US" altLang="zh-CN" sz="1200" dirty="0" err="1">
                <a:solidFill>
                  <a:schemeClr val="bg1"/>
                </a:solidFill>
                <a:latin typeface="Calibri" panose="020F0502020204030204" pitchFamily="34" charset="0"/>
                <a:cs typeface="Calibri" panose="020F0502020204030204" pitchFamily="34" charset="0"/>
              </a:rPr>
              <a:t>Deserializer</a:t>
            </a:r>
            <a:r>
              <a:rPr lang="en-US" altLang="zh-CN" sz="1200" dirty="0">
                <a:solidFill>
                  <a:schemeClr val="bg1"/>
                </a:solidFill>
                <a:latin typeface="Calibri" panose="020F0502020204030204" pitchFamily="34" charset="0"/>
                <a:cs typeface="Calibri" panose="020F0502020204030204" pitchFamily="34" charset="0"/>
              </a:rPr>
              <a:t>&lt;K&gt; </a:t>
            </a:r>
            <a:r>
              <a:rPr lang="en-US" altLang="zh-CN" sz="1200" dirty="0" err="1">
                <a:solidFill>
                  <a:schemeClr val="bg1"/>
                </a:solidFill>
                <a:latin typeface="Calibri" panose="020F0502020204030204" pitchFamily="34" charset="0"/>
                <a:cs typeface="Calibri" panose="020F0502020204030204" pitchFamily="34" charset="0"/>
              </a:rPr>
              <a:t>keyDeserializer</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键反序列化器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a:t>
            </a:r>
            <a:r>
              <a:rPr lang="en-US" altLang="zh-CN" sz="1200" dirty="0" err="1">
                <a:solidFill>
                  <a:schemeClr val="bg1"/>
                </a:solidFill>
                <a:latin typeface="Calibri" panose="020F0502020204030204" pitchFamily="34" charset="0"/>
                <a:cs typeface="Calibri" panose="020F0502020204030204" pitchFamily="34" charset="0"/>
              </a:rPr>
              <a:t>Deserializer</a:t>
            </a:r>
            <a:r>
              <a:rPr lang="en-US" altLang="zh-CN" sz="1200" dirty="0">
                <a:solidFill>
                  <a:schemeClr val="bg1"/>
                </a:solidFill>
                <a:latin typeface="Calibri" panose="020F0502020204030204" pitchFamily="34" charset="0"/>
                <a:cs typeface="Calibri" panose="020F0502020204030204" pitchFamily="34" charset="0"/>
              </a:rPr>
              <a:t>&lt;V&gt; </a:t>
            </a:r>
            <a:r>
              <a:rPr lang="en-US" altLang="zh-CN" sz="1200" dirty="0" err="1">
                <a:solidFill>
                  <a:schemeClr val="bg1"/>
                </a:solidFill>
                <a:latin typeface="Calibri" panose="020F0502020204030204" pitchFamily="34" charset="0"/>
                <a:cs typeface="Calibri" panose="020F0502020204030204" pitchFamily="34" charset="0"/>
              </a:rPr>
              <a:t>valueDeserializer</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值反序列化器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a:t>
            </a:r>
            <a:r>
              <a:rPr lang="en-US" altLang="zh-CN" sz="1200" dirty="0" err="1">
                <a:solidFill>
                  <a:schemeClr val="bg1"/>
                </a:solidFill>
                <a:latin typeface="Calibri" panose="020F0502020204030204" pitchFamily="34" charset="0"/>
                <a:cs typeface="Calibri" panose="020F0502020204030204" pitchFamily="34" charset="0"/>
              </a:rPr>
              <a:t>SubscriptionState</a:t>
            </a:r>
            <a:r>
              <a:rPr lang="en-US" altLang="zh-CN" sz="1200" dirty="0">
                <a:solidFill>
                  <a:schemeClr val="bg1"/>
                </a:solidFill>
                <a:latin typeface="Calibri" panose="020F0502020204030204" pitchFamily="34" charset="0"/>
                <a:cs typeface="Calibri" panose="020F0502020204030204" pitchFamily="34" charset="0"/>
              </a:rPr>
              <a:t> subscription;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订阅状态管理</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a:t>
            </a:r>
            <a:r>
              <a:rPr lang="en-US" altLang="zh-CN" sz="1200" dirty="0" err="1">
                <a:solidFill>
                  <a:schemeClr val="bg1"/>
                </a:solidFill>
                <a:latin typeface="Calibri" panose="020F0502020204030204" pitchFamily="34" charset="0"/>
                <a:cs typeface="Calibri" panose="020F0502020204030204" pitchFamily="34" charset="0"/>
              </a:rPr>
              <a:t>ConsumerCoordinator</a:t>
            </a:r>
            <a:r>
              <a:rPr lang="en-US" altLang="zh-CN" sz="1200" dirty="0">
                <a:solidFill>
                  <a:schemeClr val="bg1"/>
                </a:solidFill>
                <a:latin typeface="Calibri" panose="020F0502020204030204" pitchFamily="34" charset="0"/>
                <a:cs typeface="Calibri" panose="020F0502020204030204" pitchFamily="34" charset="0"/>
              </a:rPr>
              <a:t> coordinator;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协调器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Fetcher&lt;K, V&gt; fetcher;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消息获取器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Metrics metrics;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指标监控</a:t>
            </a:r>
            <a:endParaRPr lang="zh-CN" altLang="en-US" sz="1200" dirty="0">
              <a:solidFill>
                <a:srgbClr val="00B050"/>
              </a:solidFill>
              <a:latin typeface="Calibri" panose="020F0502020204030204" pitchFamily="34" charset="0"/>
              <a:cs typeface="Calibri" panose="020F0502020204030204" pitchFamily="34" charset="0"/>
            </a:endParaRPr>
          </a:p>
          <a:p>
            <a:endParaRPr lang="zh-CN" altLang="en-US" sz="1200" dirty="0">
              <a:solidFill>
                <a:schemeClr val="bg1"/>
              </a:solidFill>
              <a:latin typeface="Calibri" panose="020F0502020204030204" pitchFamily="34" charset="0"/>
              <a:cs typeface="Calibri" panose="020F0502020204030204" pitchFamily="34" charset="0"/>
            </a:endParaRPr>
          </a:p>
          <a:p>
            <a:r>
              <a:rPr lang="zh-CN" altLang="en-US"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核心方法</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public void subscribe(Collection&lt;String&gt; topics)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订阅 </a:t>
            </a:r>
            <a:r>
              <a:rPr lang="en-US" altLang="zh-CN" sz="1200" i="1" dirty="0">
                <a:solidFill>
                  <a:srgbClr val="00B050"/>
                </a:solidFill>
                <a:latin typeface="Calibri" panose="020F0502020204030204" pitchFamily="34" charset="0"/>
                <a:cs typeface="Calibri" panose="020F0502020204030204" pitchFamily="34" charset="0"/>
              </a:rPr>
              <a:t>Topic</a:t>
            </a:r>
            <a:endParaRPr lang="en-US" altLang="zh-CN" sz="1200" dirty="0">
              <a:solidFill>
                <a:srgbClr val="00B050"/>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public </a:t>
            </a:r>
            <a:r>
              <a:rPr lang="en-US" altLang="zh-CN" sz="1200" dirty="0" err="1">
                <a:solidFill>
                  <a:schemeClr val="bg1"/>
                </a:solidFill>
                <a:latin typeface="Calibri" panose="020F0502020204030204" pitchFamily="34" charset="0"/>
                <a:cs typeface="Calibri" panose="020F0502020204030204" pitchFamily="34" charset="0"/>
              </a:rPr>
              <a:t>ConsumerRecords</a:t>
            </a:r>
            <a:r>
              <a:rPr lang="en-US" altLang="zh-CN" sz="1200" dirty="0">
                <a:solidFill>
                  <a:schemeClr val="bg1"/>
                </a:solidFill>
                <a:latin typeface="Calibri" panose="020F0502020204030204" pitchFamily="34" charset="0"/>
                <a:cs typeface="Calibri" panose="020F0502020204030204" pitchFamily="34" charset="0"/>
              </a:rPr>
              <a:t>&lt;K, V&gt; poll(Duration timeout)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拉取消息</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public void </a:t>
            </a:r>
            <a:r>
              <a:rPr lang="en-US" altLang="zh-CN" sz="1200" dirty="0" err="1">
                <a:solidFill>
                  <a:schemeClr val="bg1"/>
                </a:solidFill>
                <a:latin typeface="Calibri" panose="020F0502020204030204" pitchFamily="34" charset="0"/>
                <a:cs typeface="Calibri" panose="020F0502020204030204" pitchFamily="34" charset="0"/>
              </a:rPr>
              <a:t>commitSync</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同步提交偏移量</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public void </a:t>
            </a:r>
            <a:r>
              <a:rPr lang="en-US" altLang="zh-CN" sz="1200" dirty="0" err="1">
                <a:solidFill>
                  <a:schemeClr val="bg1"/>
                </a:solidFill>
                <a:latin typeface="Calibri" panose="020F0502020204030204" pitchFamily="34" charset="0"/>
                <a:cs typeface="Calibri" panose="020F0502020204030204" pitchFamily="34" charset="0"/>
              </a:rPr>
              <a:t>commitAsync</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异步提交偏移量</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p:txBody>
      </p:sp>
      <p:sp>
        <p:nvSpPr>
          <p:cNvPr id="7" name="Text 5"/>
          <p:cNvSpPr/>
          <p:nvPr/>
        </p:nvSpPr>
        <p:spPr>
          <a:xfrm>
            <a:off x="8272864" y="1524372"/>
            <a:ext cx="7657588" cy="381093"/>
          </a:xfrm>
          <a:prstGeom prst="rect">
            <a:avLst/>
          </a:prstGeom>
          <a:noFill/>
          <a:ln/>
        </p:spPr>
        <p:txBody>
          <a:bodyPr wrap="square" lIns="0" tIns="0" rIns="0" bIns="0" rtlCol="0" anchor="ctr"/>
          <a:lstStyle/>
          <a:p>
            <a:pPr>
              <a:lnSpc>
                <a:spcPct val="110000"/>
              </a:lnSpc>
            </a:pPr>
            <a:r>
              <a:rPr lang="en-US" sz="2251" b="1" dirty="0">
                <a:solidFill>
                  <a:srgbClr val="D69E2E"/>
                </a:solidFill>
                <a:latin typeface="MiSans" pitchFamily="34" charset="0"/>
                <a:ea typeface="MiSans" pitchFamily="34" charset="-122"/>
                <a:cs typeface="MiSans" pitchFamily="34" charset="-120"/>
              </a:rPr>
              <a:t>组件功能说明</a:t>
            </a:r>
            <a:endParaRPr lang="en-US" sz="1600" dirty="0"/>
          </a:p>
        </p:txBody>
      </p:sp>
      <p:sp>
        <p:nvSpPr>
          <p:cNvPr id="8" name="Shape 6"/>
          <p:cNvSpPr/>
          <p:nvPr/>
        </p:nvSpPr>
        <p:spPr>
          <a:xfrm>
            <a:off x="8272864" y="2048375"/>
            <a:ext cx="7514678" cy="857459"/>
          </a:xfrm>
          <a:custGeom>
            <a:avLst/>
            <a:gdLst/>
            <a:ahLst/>
            <a:cxnLst/>
            <a:rect l="l" t="t" r="r" b="b"/>
            <a:pathLst>
              <a:path w="7514678" h="857459">
                <a:moveTo>
                  <a:pt x="95272" y="0"/>
                </a:moveTo>
                <a:lnTo>
                  <a:pt x="7419406" y="0"/>
                </a:lnTo>
                <a:cubicBezTo>
                  <a:pt x="7472024" y="0"/>
                  <a:pt x="7514678" y="42655"/>
                  <a:pt x="7514678" y="95272"/>
                </a:cubicBezTo>
                <a:lnTo>
                  <a:pt x="7514678" y="762187"/>
                </a:lnTo>
                <a:cubicBezTo>
                  <a:pt x="7514678" y="814804"/>
                  <a:pt x="7472024" y="857459"/>
                  <a:pt x="7419406" y="857459"/>
                </a:cubicBezTo>
                <a:lnTo>
                  <a:pt x="95272" y="857459"/>
                </a:lnTo>
                <a:cubicBezTo>
                  <a:pt x="42655" y="857459"/>
                  <a:pt x="0" y="814804"/>
                  <a:pt x="0" y="762187"/>
                </a:cubicBezTo>
                <a:lnTo>
                  <a:pt x="0" y="95272"/>
                </a:lnTo>
                <a:cubicBezTo>
                  <a:pt x="0" y="42655"/>
                  <a:pt x="42655" y="0"/>
                  <a:pt x="95272" y="0"/>
                </a:cubicBezTo>
                <a:close/>
              </a:path>
            </a:pathLst>
          </a:custGeom>
          <a:solidFill>
            <a:srgbClr val="4A5568">
              <a:alpha val="20000"/>
            </a:srgbClr>
          </a:solidFill>
          <a:ln/>
        </p:spPr>
        <p:txBody>
          <a:bodyPr/>
          <a:lstStyle/>
          <a:p>
            <a:endParaRPr lang="zh-CN" altLang="en-US"/>
          </a:p>
        </p:txBody>
      </p:sp>
      <p:sp>
        <p:nvSpPr>
          <p:cNvPr id="9" name="Shape 7"/>
          <p:cNvSpPr/>
          <p:nvPr/>
        </p:nvSpPr>
        <p:spPr>
          <a:xfrm>
            <a:off x="8415774" y="2191285"/>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D69E2E"/>
          </a:solidFill>
          <a:ln/>
        </p:spPr>
        <p:txBody>
          <a:bodyPr/>
          <a:lstStyle/>
          <a:p>
            <a:endParaRPr lang="zh-CN" altLang="en-US"/>
          </a:p>
        </p:txBody>
      </p:sp>
      <p:sp>
        <p:nvSpPr>
          <p:cNvPr id="10" name="Text 8"/>
          <p:cNvSpPr/>
          <p:nvPr/>
        </p:nvSpPr>
        <p:spPr>
          <a:xfrm>
            <a:off x="8530585" y="2238922"/>
            <a:ext cx="131001" cy="190547"/>
          </a:xfrm>
          <a:prstGeom prst="rect">
            <a:avLst/>
          </a:prstGeom>
          <a:noFill/>
          <a:ln/>
        </p:spPr>
        <p:txBody>
          <a:bodyPr wrap="square" lIns="0" tIns="0" rIns="0" bIns="0" rtlCol="0" anchor="ctr"/>
          <a:lstStyle/>
          <a:p>
            <a:pPr>
              <a:lnSpc>
                <a:spcPct val="110000"/>
              </a:lnSpc>
            </a:pPr>
            <a:r>
              <a:rPr lang="en-US" sz="1125" b="1" dirty="0">
                <a:solidFill>
                  <a:srgbClr val="1A1D21"/>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8796867" y="2191285"/>
            <a:ext cx="1572009" cy="285820"/>
          </a:xfrm>
          <a:prstGeom prst="rect">
            <a:avLst/>
          </a:prstGeom>
          <a:noFill/>
          <a:ln/>
        </p:spPr>
        <p:txBody>
          <a:bodyPr wrap="square" lIns="0" tIns="0" rIns="0" bIns="0" rtlCol="0" anchor="ctr"/>
          <a:lstStyle/>
          <a:p>
            <a:pPr>
              <a:lnSpc>
                <a:spcPct val="130000"/>
              </a:lnSpc>
            </a:pPr>
            <a:r>
              <a:rPr lang="en-US" sz="1500" b="1" dirty="0">
                <a:solidFill>
                  <a:srgbClr val="D69E2E"/>
                </a:solidFill>
                <a:latin typeface="MiSans" pitchFamily="34" charset="0"/>
                <a:ea typeface="MiSans" pitchFamily="34" charset="-122"/>
                <a:cs typeface="MiSans" pitchFamily="34" charset="-120"/>
              </a:rPr>
              <a:t>ConsumerConfig</a:t>
            </a:r>
            <a:endParaRPr lang="en-US" sz="1600" dirty="0"/>
          </a:p>
        </p:txBody>
      </p:sp>
      <p:sp>
        <p:nvSpPr>
          <p:cNvPr id="12" name="Text 10"/>
          <p:cNvSpPr/>
          <p:nvPr/>
        </p:nvSpPr>
        <p:spPr>
          <a:xfrm>
            <a:off x="8415774" y="2524741"/>
            <a:ext cx="7312223" cy="238183"/>
          </a:xfrm>
          <a:prstGeom prst="rect">
            <a:avLst/>
          </a:prstGeom>
          <a:noFill/>
          <a:ln/>
        </p:spPr>
        <p:txBody>
          <a:bodyPr wrap="square" lIns="0" tIns="0" rIns="0" bIns="0" rtlCol="0" anchor="ctr"/>
          <a:lstStyle/>
          <a:p>
            <a:pPr>
              <a:lnSpc>
                <a:spcPct val="120000"/>
              </a:lnSpc>
            </a:pPr>
            <a:r>
              <a:rPr lang="en-US" sz="1313" dirty="0">
                <a:solidFill>
                  <a:srgbClr val="E2E8F0">
                    <a:alpha val="80000"/>
                  </a:srgbClr>
                </a:solidFill>
                <a:latin typeface="MiSans" pitchFamily="34" charset="0"/>
                <a:ea typeface="MiSans" pitchFamily="34" charset="-122"/>
                <a:cs typeface="MiSans" pitchFamily="34" charset="-120"/>
              </a:rPr>
              <a:t>管理所有配置参数，如 group.id、auto.offset.reset 等</a:t>
            </a:r>
            <a:endParaRPr lang="en-US" sz="1600" dirty="0"/>
          </a:p>
        </p:txBody>
      </p:sp>
      <p:sp>
        <p:nvSpPr>
          <p:cNvPr id="13" name="Shape 11"/>
          <p:cNvSpPr/>
          <p:nvPr/>
        </p:nvSpPr>
        <p:spPr>
          <a:xfrm>
            <a:off x="8272864" y="3001108"/>
            <a:ext cx="7514678" cy="857459"/>
          </a:xfrm>
          <a:custGeom>
            <a:avLst/>
            <a:gdLst/>
            <a:ahLst/>
            <a:cxnLst/>
            <a:rect l="l" t="t" r="r" b="b"/>
            <a:pathLst>
              <a:path w="7514678" h="857459">
                <a:moveTo>
                  <a:pt x="95272" y="0"/>
                </a:moveTo>
                <a:lnTo>
                  <a:pt x="7419406" y="0"/>
                </a:lnTo>
                <a:cubicBezTo>
                  <a:pt x="7472024" y="0"/>
                  <a:pt x="7514678" y="42655"/>
                  <a:pt x="7514678" y="95272"/>
                </a:cubicBezTo>
                <a:lnTo>
                  <a:pt x="7514678" y="762187"/>
                </a:lnTo>
                <a:cubicBezTo>
                  <a:pt x="7514678" y="814804"/>
                  <a:pt x="7472024" y="857459"/>
                  <a:pt x="7419406" y="857459"/>
                </a:cubicBezTo>
                <a:lnTo>
                  <a:pt x="95272" y="857459"/>
                </a:lnTo>
                <a:cubicBezTo>
                  <a:pt x="42655" y="857459"/>
                  <a:pt x="0" y="814804"/>
                  <a:pt x="0" y="762187"/>
                </a:cubicBezTo>
                <a:lnTo>
                  <a:pt x="0" y="95272"/>
                </a:lnTo>
                <a:cubicBezTo>
                  <a:pt x="0" y="42655"/>
                  <a:pt x="42655" y="0"/>
                  <a:pt x="95272" y="0"/>
                </a:cubicBezTo>
                <a:close/>
              </a:path>
            </a:pathLst>
          </a:custGeom>
          <a:solidFill>
            <a:srgbClr val="4A5568">
              <a:alpha val="20000"/>
            </a:srgbClr>
          </a:solidFill>
          <a:ln/>
        </p:spPr>
        <p:txBody>
          <a:bodyPr/>
          <a:lstStyle/>
          <a:p>
            <a:endParaRPr lang="zh-CN" altLang="en-US"/>
          </a:p>
        </p:txBody>
      </p:sp>
      <p:sp>
        <p:nvSpPr>
          <p:cNvPr id="14" name="Shape 12"/>
          <p:cNvSpPr/>
          <p:nvPr/>
        </p:nvSpPr>
        <p:spPr>
          <a:xfrm>
            <a:off x="8415774" y="3144018"/>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718096"/>
          </a:solidFill>
          <a:ln/>
        </p:spPr>
        <p:txBody>
          <a:bodyPr/>
          <a:lstStyle/>
          <a:p>
            <a:endParaRPr lang="zh-CN" altLang="en-US"/>
          </a:p>
        </p:txBody>
      </p:sp>
      <p:sp>
        <p:nvSpPr>
          <p:cNvPr id="15" name="Text 13"/>
          <p:cNvSpPr/>
          <p:nvPr/>
        </p:nvSpPr>
        <p:spPr>
          <a:xfrm>
            <a:off x="8518490" y="3191654"/>
            <a:ext cx="154819" cy="190547"/>
          </a:xfrm>
          <a:prstGeom prst="rect">
            <a:avLst/>
          </a:prstGeom>
          <a:noFill/>
          <a:ln/>
        </p:spPr>
        <p:txBody>
          <a:bodyPr wrap="square" lIns="0" tIns="0" rIns="0" bIns="0" rtlCol="0" anchor="ctr"/>
          <a:lstStyle/>
          <a:p>
            <a:pPr>
              <a:lnSpc>
                <a:spcPct val="110000"/>
              </a:lnSpc>
            </a:pPr>
            <a:r>
              <a:rPr lang="en-US" sz="1125" b="1" dirty="0">
                <a:solidFill>
                  <a:srgbClr val="1A1D21"/>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8796867" y="3144018"/>
            <a:ext cx="1119461" cy="285820"/>
          </a:xfrm>
          <a:prstGeom prst="rect">
            <a:avLst/>
          </a:prstGeom>
          <a:noFill/>
          <a:ln/>
        </p:spPr>
        <p:txBody>
          <a:bodyPr wrap="square" lIns="0" tIns="0" rIns="0" bIns="0" rtlCol="0" anchor="ctr"/>
          <a:lstStyle/>
          <a:p>
            <a:pPr>
              <a:lnSpc>
                <a:spcPct val="130000"/>
              </a:lnSpc>
            </a:pPr>
            <a:r>
              <a:rPr lang="en-US" sz="1500" b="1" dirty="0">
                <a:solidFill>
                  <a:srgbClr val="718096"/>
                </a:solidFill>
                <a:latin typeface="MiSans" pitchFamily="34" charset="0"/>
                <a:ea typeface="MiSans" pitchFamily="34" charset="-122"/>
                <a:cs typeface="MiSans" pitchFamily="34" charset="-120"/>
              </a:rPr>
              <a:t>Deserializer</a:t>
            </a:r>
            <a:endParaRPr lang="en-US" sz="1600" dirty="0"/>
          </a:p>
        </p:txBody>
      </p:sp>
      <p:sp>
        <p:nvSpPr>
          <p:cNvPr id="17" name="Text 15"/>
          <p:cNvSpPr/>
          <p:nvPr/>
        </p:nvSpPr>
        <p:spPr>
          <a:xfrm>
            <a:off x="8415774" y="3477474"/>
            <a:ext cx="7312223" cy="238183"/>
          </a:xfrm>
          <a:prstGeom prst="rect">
            <a:avLst/>
          </a:prstGeom>
          <a:noFill/>
          <a:ln/>
        </p:spPr>
        <p:txBody>
          <a:bodyPr wrap="square" lIns="0" tIns="0" rIns="0" bIns="0" rtlCol="0" anchor="ctr"/>
          <a:lstStyle/>
          <a:p>
            <a:pPr>
              <a:lnSpc>
                <a:spcPct val="120000"/>
              </a:lnSpc>
            </a:pPr>
            <a:r>
              <a:rPr lang="en-US" sz="1313" dirty="0">
                <a:solidFill>
                  <a:srgbClr val="E2E8F0">
                    <a:alpha val="80000"/>
                  </a:srgbClr>
                </a:solidFill>
                <a:latin typeface="MiSans" pitchFamily="34" charset="0"/>
                <a:ea typeface="MiSans" pitchFamily="34" charset="-122"/>
                <a:cs typeface="MiSans" pitchFamily="34" charset="-120"/>
              </a:rPr>
              <a:t>负责将字节数组反序列化为键值对象</a:t>
            </a:r>
            <a:endParaRPr lang="en-US" sz="1600" dirty="0"/>
          </a:p>
        </p:txBody>
      </p:sp>
      <p:sp>
        <p:nvSpPr>
          <p:cNvPr id="18" name="Shape 16"/>
          <p:cNvSpPr/>
          <p:nvPr/>
        </p:nvSpPr>
        <p:spPr>
          <a:xfrm>
            <a:off x="8272864" y="3953840"/>
            <a:ext cx="7514678" cy="857459"/>
          </a:xfrm>
          <a:custGeom>
            <a:avLst/>
            <a:gdLst/>
            <a:ahLst/>
            <a:cxnLst/>
            <a:rect l="l" t="t" r="r" b="b"/>
            <a:pathLst>
              <a:path w="7514678" h="857459">
                <a:moveTo>
                  <a:pt x="95272" y="0"/>
                </a:moveTo>
                <a:lnTo>
                  <a:pt x="7419406" y="0"/>
                </a:lnTo>
                <a:cubicBezTo>
                  <a:pt x="7472024" y="0"/>
                  <a:pt x="7514678" y="42655"/>
                  <a:pt x="7514678" y="95272"/>
                </a:cubicBezTo>
                <a:lnTo>
                  <a:pt x="7514678" y="762187"/>
                </a:lnTo>
                <a:cubicBezTo>
                  <a:pt x="7514678" y="814804"/>
                  <a:pt x="7472024" y="857459"/>
                  <a:pt x="7419406" y="857459"/>
                </a:cubicBezTo>
                <a:lnTo>
                  <a:pt x="95272" y="857459"/>
                </a:lnTo>
                <a:cubicBezTo>
                  <a:pt x="42655" y="857459"/>
                  <a:pt x="0" y="814804"/>
                  <a:pt x="0" y="762187"/>
                </a:cubicBezTo>
                <a:lnTo>
                  <a:pt x="0" y="95272"/>
                </a:lnTo>
                <a:cubicBezTo>
                  <a:pt x="0" y="42655"/>
                  <a:pt x="42655" y="0"/>
                  <a:pt x="95272" y="0"/>
                </a:cubicBezTo>
                <a:close/>
              </a:path>
            </a:pathLst>
          </a:custGeom>
          <a:solidFill>
            <a:srgbClr val="4A5568">
              <a:alpha val="20000"/>
            </a:srgbClr>
          </a:solidFill>
          <a:ln/>
        </p:spPr>
        <p:txBody>
          <a:bodyPr/>
          <a:lstStyle/>
          <a:p>
            <a:endParaRPr lang="zh-CN" altLang="en-US"/>
          </a:p>
        </p:txBody>
      </p:sp>
      <p:sp>
        <p:nvSpPr>
          <p:cNvPr id="19" name="Shape 17"/>
          <p:cNvSpPr/>
          <p:nvPr/>
        </p:nvSpPr>
        <p:spPr>
          <a:xfrm>
            <a:off x="8415774" y="4096750"/>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D69E2E"/>
          </a:solidFill>
          <a:ln/>
        </p:spPr>
        <p:txBody>
          <a:bodyPr/>
          <a:lstStyle/>
          <a:p>
            <a:endParaRPr lang="zh-CN" altLang="en-US"/>
          </a:p>
        </p:txBody>
      </p:sp>
      <p:sp>
        <p:nvSpPr>
          <p:cNvPr id="20" name="Text 18"/>
          <p:cNvSpPr/>
          <p:nvPr/>
        </p:nvSpPr>
        <p:spPr>
          <a:xfrm>
            <a:off x="8516629" y="4144387"/>
            <a:ext cx="154819" cy="190547"/>
          </a:xfrm>
          <a:prstGeom prst="rect">
            <a:avLst/>
          </a:prstGeom>
          <a:noFill/>
          <a:ln/>
        </p:spPr>
        <p:txBody>
          <a:bodyPr wrap="square" lIns="0" tIns="0" rIns="0" bIns="0" rtlCol="0" anchor="ctr"/>
          <a:lstStyle/>
          <a:p>
            <a:pPr>
              <a:lnSpc>
                <a:spcPct val="110000"/>
              </a:lnSpc>
            </a:pPr>
            <a:r>
              <a:rPr lang="en-US" sz="1125" b="1" dirty="0">
                <a:solidFill>
                  <a:srgbClr val="1A1D21"/>
                </a:solidFill>
                <a:latin typeface="MiSans" pitchFamily="34" charset="0"/>
                <a:ea typeface="MiSans" pitchFamily="34" charset="-122"/>
                <a:cs typeface="MiSans" pitchFamily="34" charset="-120"/>
              </a:rPr>
              <a:t>3</a:t>
            </a:r>
            <a:endParaRPr lang="en-US" sz="1600" dirty="0"/>
          </a:p>
        </p:txBody>
      </p:sp>
      <p:sp>
        <p:nvSpPr>
          <p:cNvPr id="21" name="Text 19"/>
          <p:cNvSpPr/>
          <p:nvPr/>
        </p:nvSpPr>
        <p:spPr>
          <a:xfrm>
            <a:off x="8796867" y="4096750"/>
            <a:ext cx="1643464" cy="285820"/>
          </a:xfrm>
          <a:prstGeom prst="rect">
            <a:avLst/>
          </a:prstGeom>
          <a:noFill/>
          <a:ln/>
        </p:spPr>
        <p:txBody>
          <a:bodyPr wrap="square" lIns="0" tIns="0" rIns="0" bIns="0" rtlCol="0" anchor="ctr"/>
          <a:lstStyle/>
          <a:p>
            <a:pPr>
              <a:lnSpc>
                <a:spcPct val="130000"/>
              </a:lnSpc>
            </a:pPr>
            <a:r>
              <a:rPr lang="en-US" sz="1500" b="1" dirty="0">
                <a:solidFill>
                  <a:srgbClr val="D69E2E"/>
                </a:solidFill>
                <a:latin typeface="MiSans" pitchFamily="34" charset="0"/>
                <a:ea typeface="MiSans" pitchFamily="34" charset="-122"/>
                <a:cs typeface="MiSans" pitchFamily="34" charset="-120"/>
              </a:rPr>
              <a:t>SubscriptionState</a:t>
            </a:r>
            <a:endParaRPr lang="en-US" sz="1600" dirty="0"/>
          </a:p>
        </p:txBody>
      </p:sp>
      <p:sp>
        <p:nvSpPr>
          <p:cNvPr id="22" name="Text 20"/>
          <p:cNvSpPr/>
          <p:nvPr/>
        </p:nvSpPr>
        <p:spPr>
          <a:xfrm>
            <a:off x="8415774" y="4430207"/>
            <a:ext cx="7312223" cy="238183"/>
          </a:xfrm>
          <a:prstGeom prst="rect">
            <a:avLst/>
          </a:prstGeom>
          <a:noFill/>
          <a:ln/>
        </p:spPr>
        <p:txBody>
          <a:bodyPr wrap="square" lIns="0" tIns="0" rIns="0" bIns="0" rtlCol="0" anchor="ctr"/>
          <a:lstStyle/>
          <a:p>
            <a:pPr>
              <a:lnSpc>
                <a:spcPct val="120000"/>
              </a:lnSpc>
            </a:pPr>
            <a:r>
              <a:rPr lang="en-US" sz="1313" dirty="0">
                <a:solidFill>
                  <a:srgbClr val="E2E8F0">
                    <a:alpha val="80000"/>
                  </a:srgbClr>
                </a:solidFill>
                <a:latin typeface="MiSans" pitchFamily="34" charset="0"/>
                <a:ea typeface="MiSans" pitchFamily="34" charset="-122"/>
                <a:cs typeface="MiSans" pitchFamily="34" charset="-120"/>
              </a:rPr>
              <a:t>维护订阅状态和分配的分区信息</a:t>
            </a:r>
            <a:endParaRPr lang="en-US" sz="1600" dirty="0"/>
          </a:p>
        </p:txBody>
      </p:sp>
      <p:sp>
        <p:nvSpPr>
          <p:cNvPr id="23" name="Shape 21"/>
          <p:cNvSpPr/>
          <p:nvPr/>
        </p:nvSpPr>
        <p:spPr>
          <a:xfrm>
            <a:off x="8272864" y="4906573"/>
            <a:ext cx="7514678" cy="857459"/>
          </a:xfrm>
          <a:custGeom>
            <a:avLst/>
            <a:gdLst/>
            <a:ahLst/>
            <a:cxnLst/>
            <a:rect l="l" t="t" r="r" b="b"/>
            <a:pathLst>
              <a:path w="7514678" h="857459">
                <a:moveTo>
                  <a:pt x="95272" y="0"/>
                </a:moveTo>
                <a:lnTo>
                  <a:pt x="7419406" y="0"/>
                </a:lnTo>
                <a:cubicBezTo>
                  <a:pt x="7472024" y="0"/>
                  <a:pt x="7514678" y="42655"/>
                  <a:pt x="7514678" y="95272"/>
                </a:cubicBezTo>
                <a:lnTo>
                  <a:pt x="7514678" y="762187"/>
                </a:lnTo>
                <a:cubicBezTo>
                  <a:pt x="7514678" y="814804"/>
                  <a:pt x="7472024" y="857459"/>
                  <a:pt x="7419406" y="857459"/>
                </a:cubicBezTo>
                <a:lnTo>
                  <a:pt x="95272" y="857459"/>
                </a:lnTo>
                <a:cubicBezTo>
                  <a:pt x="42655" y="857459"/>
                  <a:pt x="0" y="814804"/>
                  <a:pt x="0" y="762187"/>
                </a:cubicBezTo>
                <a:lnTo>
                  <a:pt x="0" y="95272"/>
                </a:lnTo>
                <a:cubicBezTo>
                  <a:pt x="0" y="42655"/>
                  <a:pt x="42655" y="0"/>
                  <a:pt x="95272" y="0"/>
                </a:cubicBezTo>
                <a:close/>
              </a:path>
            </a:pathLst>
          </a:custGeom>
          <a:solidFill>
            <a:srgbClr val="4A5568">
              <a:alpha val="20000"/>
            </a:srgbClr>
          </a:solidFill>
          <a:ln/>
        </p:spPr>
        <p:txBody>
          <a:bodyPr/>
          <a:lstStyle/>
          <a:p>
            <a:endParaRPr lang="zh-CN" altLang="en-US"/>
          </a:p>
        </p:txBody>
      </p:sp>
      <p:sp>
        <p:nvSpPr>
          <p:cNvPr id="24" name="Shape 22"/>
          <p:cNvSpPr/>
          <p:nvPr/>
        </p:nvSpPr>
        <p:spPr>
          <a:xfrm>
            <a:off x="8415774" y="5049483"/>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718096"/>
          </a:solidFill>
          <a:ln/>
        </p:spPr>
        <p:txBody>
          <a:bodyPr/>
          <a:lstStyle/>
          <a:p>
            <a:endParaRPr lang="zh-CN" altLang="en-US"/>
          </a:p>
        </p:txBody>
      </p:sp>
      <p:sp>
        <p:nvSpPr>
          <p:cNvPr id="25" name="Text 23"/>
          <p:cNvSpPr/>
          <p:nvPr/>
        </p:nvSpPr>
        <p:spPr>
          <a:xfrm>
            <a:off x="8516722" y="5097119"/>
            <a:ext cx="154819" cy="190547"/>
          </a:xfrm>
          <a:prstGeom prst="rect">
            <a:avLst/>
          </a:prstGeom>
          <a:noFill/>
          <a:ln/>
        </p:spPr>
        <p:txBody>
          <a:bodyPr wrap="square" lIns="0" tIns="0" rIns="0" bIns="0" rtlCol="0" anchor="ctr"/>
          <a:lstStyle/>
          <a:p>
            <a:pPr>
              <a:lnSpc>
                <a:spcPct val="110000"/>
              </a:lnSpc>
            </a:pPr>
            <a:r>
              <a:rPr lang="en-US" sz="1125" b="1" dirty="0">
                <a:solidFill>
                  <a:srgbClr val="1A1D21"/>
                </a:solidFill>
                <a:latin typeface="MiSans" pitchFamily="34" charset="0"/>
                <a:ea typeface="MiSans" pitchFamily="34" charset="-122"/>
                <a:cs typeface="MiSans" pitchFamily="34" charset="-120"/>
              </a:rPr>
              <a:t>4</a:t>
            </a:r>
            <a:endParaRPr lang="en-US" sz="1600" dirty="0"/>
          </a:p>
        </p:txBody>
      </p:sp>
      <p:sp>
        <p:nvSpPr>
          <p:cNvPr id="26" name="Text 24"/>
          <p:cNvSpPr/>
          <p:nvPr/>
        </p:nvSpPr>
        <p:spPr>
          <a:xfrm>
            <a:off x="8796867" y="5049483"/>
            <a:ext cx="2036466" cy="285820"/>
          </a:xfrm>
          <a:prstGeom prst="rect">
            <a:avLst/>
          </a:prstGeom>
          <a:noFill/>
          <a:ln/>
        </p:spPr>
        <p:txBody>
          <a:bodyPr wrap="square" lIns="0" tIns="0" rIns="0" bIns="0" rtlCol="0" anchor="ctr"/>
          <a:lstStyle/>
          <a:p>
            <a:pPr>
              <a:lnSpc>
                <a:spcPct val="130000"/>
              </a:lnSpc>
            </a:pPr>
            <a:r>
              <a:rPr lang="en-US" sz="1500" b="1" dirty="0">
                <a:solidFill>
                  <a:srgbClr val="718096"/>
                </a:solidFill>
                <a:latin typeface="MiSans" pitchFamily="34" charset="0"/>
                <a:ea typeface="MiSans" pitchFamily="34" charset="-122"/>
                <a:cs typeface="MiSans" pitchFamily="34" charset="-120"/>
              </a:rPr>
              <a:t>ConsumerCoordinator</a:t>
            </a:r>
            <a:endParaRPr lang="en-US" sz="1600" dirty="0"/>
          </a:p>
        </p:txBody>
      </p:sp>
      <p:sp>
        <p:nvSpPr>
          <p:cNvPr id="27" name="Text 25"/>
          <p:cNvSpPr/>
          <p:nvPr/>
        </p:nvSpPr>
        <p:spPr>
          <a:xfrm>
            <a:off x="8415774" y="5382939"/>
            <a:ext cx="7312223" cy="238183"/>
          </a:xfrm>
          <a:prstGeom prst="rect">
            <a:avLst/>
          </a:prstGeom>
          <a:noFill/>
          <a:ln/>
        </p:spPr>
        <p:txBody>
          <a:bodyPr wrap="square" lIns="0" tIns="0" rIns="0" bIns="0" rtlCol="0" anchor="ctr"/>
          <a:lstStyle/>
          <a:p>
            <a:pPr>
              <a:lnSpc>
                <a:spcPct val="120000"/>
              </a:lnSpc>
            </a:pPr>
            <a:r>
              <a:rPr lang="en-US" sz="1313" dirty="0">
                <a:solidFill>
                  <a:srgbClr val="E2E8F0">
                    <a:alpha val="80000"/>
                  </a:srgbClr>
                </a:solidFill>
                <a:latin typeface="MiSans" pitchFamily="34" charset="0"/>
                <a:ea typeface="MiSans" pitchFamily="34" charset="-122"/>
                <a:cs typeface="MiSans" pitchFamily="34" charset="-120"/>
              </a:rPr>
              <a:t>处理消费者组协调和重平衡</a:t>
            </a:r>
            <a:endParaRPr lang="en-US" sz="1600" dirty="0"/>
          </a:p>
        </p:txBody>
      </p:sp>
      <p:sp>
        <p:nvSpPr>
          <p:cNvPr id="28" name="Shape 26"/>
          <p:cNvSpPr/>
          <p:nvPr/>
        </p:nvSpPr>
        <p:spPr>
          <a:xfrm>
            <a:off x="8272864" y="5859305"/>
            <a:ext cx="7514678" cy="857459"/>
          </a:xfrm>
          <a:custGeom>
            <a:avLst/>
            <a:gdLst/>
            <a:ahLst/>
            <a:cxnLst/>
            <a:rect l="l" t="t" r="r" b="b"/>
            <a:pathLst>
              <a:path w="7514678" h="857459">
                <a:moveTo>
                  <a:pt x="95272" y="0"/>
                </a:moveTo>
                <a:lnTo>
                  <a:pt x="7419406" y="0"/>
                </a:lnTo>
                <a:cubicBezTo>
                  <a:pt x="7472024" y="0"/>
                  <a:pt x="7514678" y="42655"/>
                  <a:pt x="7514678" y="95272"/>
                </a:cubicBezTo>
                <a:lnTo>
                  <a:pt x="7514678" y="762187"/>
                </a:lnTo>
                <a:cubicBezTo>
                  <a:pt x="7514678" y="814804"/>
                  <a:pt x="7472024" y="857459"/>
                  <a:pt x="7419406" y="857459"/>
                </a:cubicBezTo>
                <a:lnTo>
                  <a:pt x="95272" y="857459"/>
                </a:lnTo>
                <a:cubicBezTo>
                  <a:pt x="42655" y="857459"/>
                  <a:pt x="0" y="814804"/>
                  <a:pt x="0" y="762187"/>
                </a:cubicBezTo>
                <a:lnTo>
                  <a:pt x="0" y="95272"/>
                </a:lnTo>
                <a:cubicBezTo>
                  <a:pt x="0" y="42655"/>
                  <a:pt x="42655" y="0"/>
                  <a:pt x="95272" y="0"/>
                </a:cubicBezTo>
                <a:close/>
              </a:path>
            </a:pathLst>
          </a:custGeom>
          <a:solidFill>
            <a:srgbClr val="4A5568">
              <a:alpha val="20000"/>
            </a:srgbClr>
          </a:solidFill>
          <a:ln/>
        </p:spPr>
        <p:txBody>
          <a:bodyPr/>
          <a:lstStyle/>
          <a:p>
            <a:endParaRPr lang="zh-CN" altLang="en-US"/>
          </a:p>
        </p:txBody>
      </p:sp>
      <p:sp>
        <p:nvSpPr>
          <p:cNvPr id="29" name="Shape 27"/>
          <p:cNvSpPr/>
          <p:nvPr/>
        </p:nvSpPr>
        <p:spPr>
          <a:xfrm>
            <a:off x="8415774" y="6002215"/>
            <a:ext cx="285820" cy="285820"/>
          </a:xfrm>
          <a:custGeom>
            <a:avLst/>
            <a:gdLst/>
            <a:ahLst/>
            <a:cxnLst/>
            <a:rect l="l" t="t" r="r" b="b"/>
            <a:pathLst>
              <a:path w="285820" h="285820">
                <a:moveTo>
                  <a:pt x="142910" y="0"/>
                </a:moveTo>
                <a:lnTo>
                  <a:pt x="142910" y="0"/>
                </a:lnTo>
                <a:cubicBezTo>
                  <a:pt x="221837" y="0"/>
                  <a:pt x="285820" y="63983"/>
                  <a:pt x="285820" y="142910"/>
                </a:cubicBezTo>
                <a:lnTo>
                  <a:pt x="285820" y="142910"/>
                </a:lnTo>
                <a:cubicBezTo>
                  <a:pt x="285820" y="221837"/>
                  <a:pt x="221837" y="285820"/>
                  <a:pt x="142910" y="285820"/>
                </a:cubicBezTo>
                <a:lnTo>
                  <a:pt x="142910" y="285820"/>
                </a:lnTo>
                <a:cubicBezTo>
                  <a:pt x="63983" y="285820"/>
                  <a:pt x="0" y="221837"/>
                  <a:pt x="0" y="142910"/>
                </a:cubicBezTo>
                <a:lnTo>
                  <a:pt x="0" y="142910"/>
                </a:lnTo>
                <a:cubicBezTo>
                  <a:pt x="0" y="63983"/>
                  <a:pt x="63983" y="0"/>
                  <a:pt x="142910" y="0"/>
                </a:cubicBezTo>
                <a:close/>
              </a:path>
            </a:pathLst>
          </a:custGeom>
          <a:solidFill>
            <a:srgbClr val="D69E2E"/>
          </a:solidFill>
          <a:ln/>
        </p:spPr>
        <p:txBody>
          <a:bodyPr/>
          <a:lstStyle/>
          <a:p>
            <a:endParaRPr lang="zh-CN" altLang="en-US"/>
          </a:p>
        </p:txBody>
      </p:sp>
      <p:sp>
        <p:nvSpPr>
          <p:cNvPr id="30" name="Text 28"/>
          <p:cNvSpPr/>
          <p:nvPr/>
        </p:nvSpPr>
        <p:spPr>
          <a:xfrm>
            <a:off x="8515978" y="6049852"/>
            <a:ext cx="154819" cy="190547"/>
          </a:xfrm>
          <a:prstGeom prst="rect">
            <a:avLst/>
          </a:prstGeom>
          <a:noFill/>
          <a:ln/>
        </p:spPr>
        <p:txBody>
          <a:bodyPr wrap="square" lIns="0" tIns="0" rIns="0" bIns="0" rtlCol="0" anchor="ctr"/>
          <a:lstStyle/>
          <a:p>
            <a:pPr>
              <a:lnSpc>
                <a:spcPct val="110000"/>
              </a:lnSpc>
            </a:pPr>
            <a:r>
              <a:rPr lang="en-US" sz="1125" b="1" dirty="0">
                <a:solidFill>
                  <a:srgbClr val="1A1D21"/>
                </a:solidFill>
                <a:latin typeface="MiSans" pitchFamily="34" charset="0"/>
                <a:ea typeface="MiSans" pitchFamily="34" charset="-122"/>
                <a:cs typeface="MiSans" pitchFamily="34" charset="-120"/>
              </a:rPr>
              <a:t>5</a:t>
            </a:r>
            <a:endParaRPr lang="en-US" sz="1600" dirty="0"/>
          </a:p>
        </p:txBody>
      </p:sp>
      <p:sp>
        <p:nvSpPr>
          <p:cNvPr id="31" name="Text 29"/>
          <p:cNvSpPr/>
          <p:nvPr/>
        </p:nvSpPr>
        <p:spPr>
          <a:xfrm>
            <a:off x="8796867" y="6002215"/>
            <a:ext cx="762186" cy="285820"/>
          </a:xfrm>
          <a:prstGeom prst="rect">
            <a:avLst/>
          </a:prstGeom>
          <a:noFill/>
          <a:ln/>
        </p:spPr>
        <p:txBody>
          <a:bodyPr wrap="square" lIns="0" tIns="0" rIns="0" bIns="0" rtlCol="0" anchor="ctr"/>
          <a:lstStyle/>
          <a:p>
            <a:pPr>
              <a:lnSpc>
                <a:spcPct val="130000"/>
              </a:lnSpc>
            </a:pPr>
            <a:r>
              <a:rPr lang="en-US" sz="1500" b="1" dirty="0">
                <a:solidFill>
                  <a:srgbClr val="D69E2E"/>
                </a:solidFill>
                <a:latin typeface="MiSans" pitchFamily="34" charset="0"/>
                <a:ea typeface="MiSans" pitchFamily="34" charset="-122"/>
                <a:cs typeface="MiSans" pitchFamily="34" charset="-120"/>
              </a:rPr>
              <a:t>Fetcher</a:t>
            </a:r>
            <a:endParaRPr lang="en-US" sz="1600" dirty="0"/>
          </a:p>
        </p:txBody>
      </p:sp>
      <p:sp>
        <p:nvSpPr>
          <p:cNvPr id="32" name="Text 30"/>
          <p:cNvSpPr/>
          <p:nvPr/>
        </p:nvSpPr>
        <p:spPr>
          <a:xfrm>
            <a:off x="8415774" y="6335672"/>
            <a:ext cx="7312223" cy="238183"/>
          </a:xfrm>
          <a:prstGeom prst="rect">
            <a:avLst/>
          </a:prstGeom>
          <a:noFill/>
          <a:ln/>
        </p:spPr>
        <p:txBody>
          <a:bodyPr wrap="square" lIns="0" tIns="0" rIns="0" bIns="0" rtlCol="0" anchor="ctr"/>
          <a:lstStyle/>
          <a:p>
            <a:pPr>
              <a:lnSpc>
                <a:spcPct val="120000"/>
              </a:lnSpc>
            </a:pPr>
            <a:r>
              <a:rPr lang="en-US" sz="1313" dirty="0">
                <a:solidFill>
                  <a:srgbClr val="E2E8F0">
                    <a:alpha val="80000"/>
                  </a:srgbClr>
                </a:solidFill>
                <a:latin typeface="MiSans" pitchFamily="34" charset="0"/>
                <a:ea typeface="MiSans" pitchFamily="34" charset="-122"/>
                <a:cs typeface="MiSans" pitchFamily="34" charset="-120"/>
              </a:rPr>
              <a:t>负责从 Broker 拉取消息和管理偏移量</a:t>
            </a:r>
            <a:endParaRPr lang="en-US" sz="1600" dirty="0"/>
          </a:p>
        </p:txBody>
      </p:sp>
      <p:sp>
        <p:nvSpPr>
          <p:cNvPr id="33" name="Shape 31"/>
          <p:cNvSpPr/>
          <p:nvPr/>
        </p:nvSpPr>
        <p:spPr>
          <a:xfrm>
            <a:off x="8296682" y="6907311"/>
            <a:ext cx="7490860" cy="1762555"/>
          </a:xfrm>
          <a:custGeom>
            <a:avLst/>
            <a:gdLst/>
            <a:ahLst/>
            <a:cxnLst/>
            <a:rect l="l" t="t" r="r" b="b"/>
            <a:pathLst>
              <a:path w="7490860" h="1762555">
                <a:moveTo>
                  <a:pt x="47637" y="0"/>
                </a:moveTo>
                <a:lnTo>
                  <a:pt x="7395594" y="0"/>
                </a:lnTo>
                <a:cubicBezTo>
                  <a:pt x="7448208" y="0"/>
                  <a:pt x="7490860" y="42652"/>
                  <a:pt x="7490860" y="95266"/>
                </a:cubicBezTo>
                <a:lnTo>
                  <a:pt x="7490860" y="1667289"/>
                </a:lnTo>
                <a:cubicBezTo>
                  <a:pt x="7490860" y="1719903"/>
                  <a:pt x="7448208" y="1762555"/>
                  <a:pt x="7395594" y="1762555"/>
                </a:cubicBezTo>
                <a:lnTo>
                  <a:pt x="47637" y="1762555"/>
                </a:lnTo>
                <a:cubicBezTo>
                  <a:pt x="21328" y="1762555"/>
                  <a:pt x="0" y="1741228"/>
                  <a:pt x="0" y="1714919"/>
                </a:cubicBezTo>
                <a:lnTo>
                  <a:pt x="0" y="47637"/>
                </a:lnTo>
                <a:cubicBezTo>
                  <a:pt x="0" y="21345"/>
                  <a:pt x="21345" y="0"/>
                  <a:pt x="47637" y="0"/>
                </a:cubicBezTo>
                <a:close/>
              </a:path>
            </a:pathLst>
          </a:custGeom>
          <a:solidFill>
            <a:srgbClr val="4A5568">
              <a:alpha val="20000"/>
            </a:srgbClr>
          </a:solidFill>
          <a:ln/>
        </p:spPr>
        <p:txBody>
          <a:bodyPr/>
          <a:lstStyle/>
          <a:p>
            <a:endParaRPr lang="zh-CN" altLang="en-US"/>
          </a:p>
        </p:txBody>
      </p:sp>
      <p:sp>
        <p:nvSpPr>
          <p:cNvPr id="34" name="Shape 32"/>
          <p:cNvSpPr/>
          <p:nvPr/>
        </p:nvSpPr>
        <p:spPr>
          <a:xfrm>
            <a:off x="8296682" y="6907311"/>
            <a:ext cx="47637" cy="1762555"/>
          </a:xfrm>
          <a:custGeom>
            <a:avLst/>
            <a:gdLst/>
            <a:ahLst/>
            <a:cxnLst/>
            <a:rect l="l" t="t" r="r" b="b"/>
            <a:pathLst>
              <a:path w="47637" h="1762555">
                <a:moveTo>
                  <a:pt x="47637" y="0"/>
                </a:moveTo>
                <a:lnTo>
                  <a:pt x="47637" y="0"/>
                </a:lnTo>
                <a:lnTo>
                  <a:pt x="47637" y="1762555"/>
                </a:lnTo>
                <a:lnTo>
                  <a:pt x="47637" y="1762555"/>
                </a:lnTo>
                <a:cubicBezTo>
                  <a:pt x="21328" y="1762555"/>
                  <a:pt x="0" y="1741228"/>
                  <a:pt x="0" y="1714919"/>
                </a:cubicBezTo>
                <a:lnTo>
                  <a:pt x="0" y="47637"/>
                </a:lnTo>
                <a:cubicBezTo>
                  <a:pt x="0" y="21345"/>
                  <a:pt x="21345" y="0"/>
                  <a:pt x="47637" y="0"/>
                </a:cubicBezTo>
                <a:close/>
              </a:path>
            </a:pathLst>
          </a:custGeom>
          <a:solidFill>
            <a:srgbClr val="D69E2E"/>
          </a:solidFill>
          <a:ln/>
        </p:spPr>
        <p:txBody>
          <a:bodyPr/>
          <a:lstStyle/>
          <a:p>
            <a:endParaRPr lang="zh-CN" altLang="en-US"/>
          </a:p>
        </p:txBody>
      </p:sp>
      <p:sp>
        <p:nvSpPr>
          <p:cNvPr id="35" name="Text 33"/>
          <p:cNvSpPr/>
          <p:nvPr/>
        </p:nvSpPr>
        <p:spPr>
          <a:xfrm>
            <a:off x="8511047" y="7097858"/>
            <a:ext cx="7205040" cy="333456"/>
          </a:xfrm>
          <a:prstGeom prst="rect">
            <a:avLst/>
          </a:prstGeom>
          <a:noFill/>
          <a:ln/>
        </p:spPr>
        <p:txBody>
          <a:bodyPr wrap="square" lIns="0" tIns="0" rIns="0" bIns="0" rtlCol="0" anchor="ctr"/>
          <a:lstStyle/>
          <a:p>
            <a:pPr>
              <a:lnSpc>
                <a:spcPct val="120000"/>
              </a:lnSpc>
            </a:pPr>
            <a:r>
              <a:rPr lang="en-US" sz="1875" b="1" dirty="0">
                <a:solidFill>
                  <a:srgbClr val="D69E2E"/>
                </a:solidFill>
                <a:latin typeface="MiSans" pitchFamily="34" charset="0"/>
                <a:ea typeface="MiSans" pitchFamily="34" charset="-122"/>
                <a:cs typeface="MiSans" pitchFamily="34" charset="-120"/>
              </a:rPr>
              <a:t>消费者组特性</a:t>
            </a:r>
            <a:endParaRPr lang="en-US" sz="1600" dirty="0"/>
          </a:p>
        </p:txBody>
      </p:sp>
      <p:sp>
        <p:nvSpPr>
          <p:cNvPr id="36" name="Text 34"/>
          <p:cNvSpPr/>
          <p:nvPr/>
        </p:nvSpPr>
        <p:spPr>
          <a:xfrm>
            <a:off x="8511047" y="7574224"/>
            <a:ext cx="7169313" cy="238183"/>
          </a:xfrm>
          <a:prstGeom prst="rect">
            <a:avLst/>
          </a:prstGeom>
          <a:noFill/>
          <a:ln/>
        </p:spPr>
        <p:txBody>
          <a:bodyPr wrap="square" lIns="0" tIns="0" rIns="0" bIns="0" rtlCol="0" anchor="ctr"/>
          <a:lstStyle/>
          <a:p>
            <a:pPr>
              <a:lnSpc>
                <a:spcPct val="120000"/>
              </a:lnSpc>
            </a:pPr>
            <a:r>
              <a:rPr lang="en-US" sz="1313" b="1" dirty="0">
                <a:solidFill>
                  <a:srgbClr val="D69E2E"/>
                </a:solidFill>
                <a:latin typeface="MiSans" pitchFamily="34" charset="0"/>
                <a:ea typeface="MiSans" pitchFamily="34" charset="-122"/>
                <a:cs typeface="MiSans" pitchFamily="34" charset="-120"/>
              </a:rPr>
              <a:t>负载均衡:</a:t>
            </a:r>
            <a:r>
              <a:rPr lang="en-US" sz="1313" dirty="0">
                <a:solidFill>
                  <a:srgbClr val="E2E8F0">
                    <a:alpha val="80000"/>
                  </a:srgbClr>
                </a:solidFill>
                <a:latin typeface="MiSans" pitchFamily="34" charset="0"/>
                <a:ea typeface="MiSans" pitchFamily="34" charset="-122"/>
                <a:cs typeface="MiSans" pitchFamily="34" charset="-120"/>
              </a:rPr>
              <a:t> 一个 Partition 只能被组内的一个 Consumer 消费</a:t>
            </a:r>
            <a:endParaRPr lang="en-US" sz="1600" dirty="0"/>
          </a:p>
        </p:txBody>
      </p:sp>
      <p:sp>
        <p:nvSpPr>
          <p:cNvPr id="37" name="Text 35"/>
          <p:cNvSpPr/>
          <p:nvPr/>
        </p:nvSpPr>
        <p:spPr>
          <a:xfrm>
            <a:off x="8511047" y="7907681"/>
            <a:ext cx="7169313" cy="238183"/>
          </a:xfrm>
          <a:prstGeom prst="rect">
            <a:avLst/>
          </a:prstGeom>
          <a:noFill/>
          <a:ln/>
        </p:spPr>
        <p:txBody>
          <a:bodyPr wrap="square" lIns="0" tIns="0" rIns="0" bIns="0" rtlCol="0" anchor="ctr"/>
          <a:lstStyle/>
          <a:p>
            <a:pPr>
              <a:lnSpc>
                <a:spcPct val="120000"/>
              </a:lnSpc>
            </a:pPr>
            <a:r>
              <a:rPr lang="en-US" sz="1313" b="1" dirty="0">
                <a:solidFill>
                  <a:srgbClr val="D69E2E"/>
                </a:solidFill>
                <a:latin typeface="MiSans" pitchFamily="34" charset="0"/>
                <a:ea typeface="MiSans" pitchFamily="34" charset="-122"/>
                <a:cs typeface="MiSans" pitchFamily="34" charset="-120"/>
              </a:rPr>
              <a:t>容错性:</a:t>
            </a:r>
            <a:r>
              <a:rPr lang="en-US" sz="1313" dirty="0">
                <a:solidFill>
                  <a:srgbClr val="E2E8F0">
                    <a:alpha val="80000"/>
                  </a:srgbClr>
                </a:solidFill>
                <a:latin typeface="MiSans" pitchFamily="34" charset="0"/>
                <a:ea typeface="MiSans" pitchFamily="34" charset="-122"/>
                <a:cs typeface="MiSans" pitchFamily="34" charset="-120"/>
              </a:rPr>
              <a:t> Consumer 故障时，其 Partition 会被重新分配</a:t>
            </a:r>
            <a:endParaRPr lang="en-US" sz="1600" dirty="0"/>
          </a:p>
        </p:txBody>
      </p:sp>
      <p:sp>
        <p:nvSpPr>
          <p:cNvPr id="38" name="Text 36"/>
          <p:cNvSpPr/>
          <p:nvPr/>
        </p:nvSpPr>
        <p:spPr>
          <a:xfrm>
            <a:off x="8511047" y="8241137"/>
            <a:ext cx="7169313" cy="238183"/>
          </a:xfrm>
          <a:prstGeom prst="rect">
            <a:avLst/>
          </a:prstGeom>
          <a:noFill/>
          <a:ln/>
        </p:spPr>
        <p:txBody>
          <a:bodyPr wrap="square" lIns="0" tIns="0" rIns="0" bIns="0" rtlCol="0" anchor="ctr"/>
          <a:lstStyle/>
          <a:p>
            <a:pPr>
              <a:lnSpc>
                <a:spcPct val="120000"/>
              </a:lnSpc>
            </a:pPr>
            <a:r>
              <a:rPr lang="en-US" sz="1313" b="1" dirty="0">
                <a:solidFill>
                  <a:srgbClr val="D69E2E"/>
                </a:solidFill>
                <a:latin typeface="MiSans" pitchFamily="34" charset="0"/>
                <a:ea typeface="MiSans" pitchFamily="34" charset="-122"/>
                <a:cs typeface="MiSans" pitchFamily="34" charset="-120"/>
              </a:rPr>
              <a:t>扩展性:</a:t>
            </a:r>
            <a:r>
              <a:rPr lang="en-US" sz="1313" dirty="0">
                <a:solidFill>
                  <a:srgbClr val="E2E8F0">
                    <a:alpha val="80000"/>
                  </a:srgbClr>
                </a:solidFill>
                <a:latin typeface="MiSans" pitchFamily="34" charset="0"/>
                <a:ea typeface="MiSans" pitchFamily="34" charset="-122"/>
                <a:cs typeface="MiSans" pitchFamily="34" charset="-120"/>
              </a:rPr>
              <a:t> 可以动态增加或减少 Consumer 数量</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37577" y="437577"/>
            <a:ext cx="15468361" cy="262546"/>
          </a:xfrm>
          <a:prstGeom prst="rect">
            <a:avLst/>
          </a:prstGeom>
          <a:noFill/>
          <a:ln/>
        </p:spPr>
        <p:txBody>
          <a:bodyPr wrap="square" lIns="0" tIns="0" rIns="0" bIns="0" rtlCol="0" anchor="ctr"/>
          <a:lstStyle/>
          <a:p>
            <a:pPr>
              <a:lnSpc>
                <a:spcPct val="130000"/>
              </a:lnSpc>
            </a:pPr>
            <a:r>
              <a:rPr lang="en-US" sz="1378" b="1" kern="0" spc="69" dirty="0">
                <a:solidFill>
                  <a:srgbClr val="D69E2E"/>
                </a:solidFill>
                <a:latin typeface="MiSans" pitchFamily="34" charset="0"/>
                <a:ea typeface="MiSans" pitchFamily="34" charset="-122"/>
                <a:cs typeface="MiSans" pitchFamily="34" charset="-120"/>
              </a:rPr>
              <a:t>2.2.3 偏移量管理</a:t>
            </a:r>
            <a:endParaRPr lang="en-US" sz="1600" dirty="0"/>
          </a:p>
        </p:txBody>
      </p:sp>
      <p:sp>
        <p:nvSpPr>
          <p:cNvPr id="3" name="Text 1"/>
          <p:cNvSpPr/>
          <p:nvPr/>
        </p:nvSpPr>
        <p:spPr>
          <a:xfrm>
            <a:off x="437577" y="787639"/>
            <a:ext cx="15577755" cy="437577"/>
          </a:xfrm>
          <a:prstGeom prst="rect">
            <a:avLst/>
          </a:prstGeom>
          <a:noFill/>
          <a:ln/>
        </p:spPr>
        <p:txBody>
          <a:bodyPr wrap="square" lIns="0" tIns="0" rIns="0" bIns="0" rtlCol="0" anchor="ctr"/>
          <a:lstStyle/>
          <a:p>
            <a:pPr>
              <a:lnSpc>
                <a:spcPct val="90000"/>
              </a:lnSpc>
            </a:pPr>
            <a:r>
              <a:rPr lang="en-US" sz="3101" b="1" dirty="0">
                <a:solidFill>
                  <a:srgbClr val="E2E8F0"/>
                </a:solidFill>
                <a:latin typeface="MiSans" pitchFamily="34" charset="0"/>
                <a:ea typeface="MiSans" pitchFamily="34" charset="-122"/>
                <a:cs typeface="MiSans" pitchFamily="34" charset="-120"/>
              </a:rPr>
              <a:t>偏移量管理策略</a:t>
            </a:r>
            <a:endParaRPr lang="en-US" sz="1600" dirty="0"/>
          </a:p>
        </p:txBody>
      </p:sp>
      <p:sp>
        <p:nvSpPr>
          <p:cNvPr id="4" name="Shape 2"/>
          <p:cNvSpPr/>
          <p:nvPr/>
        </p:nvSpPr>
        <p:spPr>
          <a:xfrm>
            <a:off x="459456" y="1400248"/>
            <a:ext cx="7537271" cy="2537949"/>
          </a:xfrm>
          <a:custGeom>
            <a:avLst/>
            <a:gdLst/>
            <a:ahLst/>
            <a:cxnLst/>
            <a:rect l="l" t="t" r="r" b="b"/>
            <a:pathLst>
              <a:path w="7537271" h="2537949">
                <a:moveTo>
                  <a:pt x="43758" y="0"/>
                </a:moveTo>
                <a:lnTo>
                  <a:pt x="7449762" y="0"/>
                </a:lnTo>
                <a:cubicBezTo>
                  <a:pt x="7498092" y="0"/>
                  <a:pt x="7537271" y="39179"/>
                  <a:pt x="7537271" y="87508"/>
                </a:cubicBezTo>
                <a:lnTo>
                  <a:pt x="7537271" y="2450440"/>
                </a:lnTo>
                <a:cubicBezTo>
                  <a:pt x="7537271" y="2498770"/>
                  <a:pt x="7498092" y="2537949"/>
                  <a:pt x="7449762" y="2537949"/>
                </a:cubicBezTo>
                <a:lnTo>
                  <a:pt x="43758" y="2537949"/>
                </a:lnTo>
                <a:cubicBezTo>
                  <a:pt x="19591" y="2537949"/>
                  <a:pt x="0" y="2518358"/>
                  <a:pt x="0" y="2494191"/>
                </a:cubicBezTo>
                <a:lnTo>
                  <a:pt x="0" y="43758"/>
                </a:lnTo>
                <a:cubicBezTo>
                  <a:pt x="0" y="19607"/>
                  <a:pt x="19607" y="0"/>
                  <a:pt x="43758" y="0"/>
                </a:cubicBezTo>
                <a:close/>
              </a:path>
            </a:pathLst>
          </a:custGeom>
          <a:solidFill>
            <a:srgbClr val="4A5568">
              <a:alpha val="20000"/>
            </a:srgbClr>
          </a:solidFill>
          <a:ln/>
        </p:spPr>
        <p:txBody>
          <a:bodyPr/>
          <a:lstStyle/>
          <a:p>
            <a:endParaRPr lang="zh-CN" altLang="en-US"/>
          </a:p>
        </p:txBody>
      </p:sp>
      <p:sp>
        <p:nvSpPr>
          <p:cNvPr id="5" name="Shape 3"/>
          <p:cNvSpPr/>
          <p:nvPr/>
        </p:nvSpPr>
        <p:spPr>
          <a:xfrm>
            <a:off x="459456" y="1400248"/>
            <a:ext cx="43758" cy="2537949"/>
          </a:xfrm>
          <a:custGeom>
            <a:avLst/>
            <a:gdLst/>
            <a:ahLst/>
            <a:cxnLst/>
            <a:rect l="l" t="t" r="r" b="b"/>
            <a:pathLst>
              <a:path w="43758" h="2537949">
                <a:moveTo>
                  <a:pt x="43758" y="0"/>
                </a:moveTo>
                <a:lnTo>
                  <a:pt x="43758" y="0"/>
                </a:lnTo>
                <a:lnTo>
                  <a:pt x="43758" y="2537949"/>
                </a:lnTo>
                <a:lnTo>
                  <a:pt x="43758" y="2537949"/>
                </a:lnTo>
                <a:cubicBezTo>
                  <a:pt x="19591" y="2537949"/>
                  <a:pt x="0" y="2518358"/>
                  <a:pt x="0" y="2494191"/>
                </a:cubicBezTo>
                <a:lnTo>
                  <a:pt x="0" y="43758"/>
                </a:lnTo>
                <a:cubicBezTo>
                  <a:pt x="0" y="19607"/>
                  <a:pt x="19607" y="0"/>
                  <a:pt x="43758" y="0"/>
                </a:cubicBezTo>
                <a:close/>
              </a:path>
            </a:pathLst>
          </a:custGeom>
          <a:solidFill>
            <a:srgbClr val="718096"/>
          </a:solidFill>
          <a:ln/>
        </p:spPr>
        <p:txBody>
          <a:bodyPr/>
          <a:lstStyle/>
          <a:p>
            <a:endParaRPr lang="zh-CN" altLang="en-US"/>
          </a:p>
        </p:txBody>
      </p:sp>
      <p:sp>
        <p:nvSpPr>
          <p:cNvPr id="6" name="Text 4"/>
          <p:cNvSpPr/>
          <p:nvPr/>
        </p:nvSpPr>
        <p:spPr>
          <a:xfrm>
            <a:off x="656366" y="1575279"/>
            <a:ext cx="7274724" cy="306304"/>
          </a:xfrm>
          <a:prstGeom prst="rect">
            <a:avLst/>
          </a:prstGeom>
          <a:noFill/>
          <a:ln/>
        </p:spPr>
        <p:txBody>
          <a:bodyPr wrap="square" lIns="0" tIns="0" rIns="0" bIns="0" rtlCol="0" anchor="ctr"/>
          <a:lstStyle/>
          <a:p>
            <a:pPr>
              <a:lnSpc>
                <a:spcPct val="120000"/>
              </a:lnSpc>
            </a:pPr>
            <a:r>
              <a:rPr lang="en-US" sz="1723" b="1" dirty="0">
                <a:solidFill>
                  <a:srgbClr val="718096"/>
                </a:solidFill>
                <a:latin typeface="MiSans" pitchFamily="34" charset="0"/>
                <a:ea typeface="MiSans" pitchFamily="34" charset="-122"/>
                <a:cs typeface="MiSans" pitchFamily="34" charset="-120"/>
              </a:rPr>
              <a:t>自动提交偏移量</a:t>
            </a:r>
            <a:endParaRPr lang="en-US" sz="1600" dirty="0"/>
          </a:p>
        </p:txBody>
      </p:sp>
      <p:sp>
        <p:nvSpPr>
          <p:cNvPr id="7" name="Shape 5"/>
          <p:cNvSpPr/>
          <p:nvPr/>
        </p:nvSpPr>
        <p:spPr>
          <a:xfrm>
            <a:off x="656366" y="2012856"/>
            <a:ext cx="7165330" cy="787639"/>
          </a:xfrm>
          <a:custGeom>
            <a:avLst/>
            <a:gdLst/>
            <a:ahLst/>
            <a:cxnLst/>
            <a:rect l="l" t="t" r="r" b="b"/>
            <a:pathLst>
              <a:path w="7165330" h="787639">
                <a:moveTo>
                  <a:pt x="43761" y="0"/>
                </a:moveTo>
                <a:lnTo>
                  <a:pt x="7121569" y="0"/>
                </a:lnTo>
                <a:cubicBezTo>
                  <a:pt x="7145737" y="0"/>
                  <a:pt x="7165330" y="19593"/>
                  <a:pt x="7165330" y="43761"/>
                </a:cubicBezTo>
                <a:lnTo>
                  <a:pt x="7165330" y="743878"/>
                </a:lnTo>
                <a:cubicBezTo>
                  <a:pt x="7165330" y="768047"/>
                  <a:pt x="7145737" y="787639"/>
                  <a:pt x="7121569" y="787639"/>
                </a:cubicBezTo>
                <a:lnTo>
                  <a:pt x="43761" y="787639"/>
                </a:lnTo>
                <a:cubicBezTo>
                  <a:pt x="19593" y="787639"/>
                  <a:pt x="0" y="768047"/>
                  <a:pt x="0" y="743878"/>
                </a:cubicBezTo>
                <a:lnTo>
                  <a:pt x="0" y="43761"/>
                </a:lnTo>
                <a:cubicBezTo>
                  <a:pt x="0" y="19593"/>
                  <a:pt x="19593" y="0"/>
                  <a:pt x="43761" y="0"/>
                </a:cubicBezTo>
                <a:close/>
              </a:path>
            </a:pathLst>
          </a:custGeom>
          <a:solidFill>
            <a:srgbClr val="1A1D21">
              <a:alpha val="60000"/>
            </a:srgbClr>
          </a:solidFill>
          <a:ln/>
        </p:spPr>
        <p:txBody>
          <a:bodyPr/>
          <a:lstStyle/>
          <a:p>
            <a:endParaRPr lang="zh-CN" altLang="en-US"/>
          </a:p>
        </p:txBody>
      </p:sp>
      <p:sp>
        <p:nvSpPr>
          <p:cNvPr id="8" name="Text 6"/>
          <p:cNvSpPr/>
          <p:nvPr/>
        </p:nvSpPr>
        <p:spPr>
          <a:xfrm>
            <a:off x="787639" y="2144129"/>
            <a:ext cx="6968420" cy="525093"/>
          </a:xfrm>
          <a:prstGeom prst="rect">
            <a:avLst/>
          </a:prstGeom>
          <a:noFill/>
          <a:ln/>
        </p:spPr>
        <p:txBody>
          <a:bodyPr wrap="square" lIns="0" tIns="0" rIns="0" bIns="0" rtlCol="0" anchor="ctr"/>
          <a:lstStyle/>
          <a:p>
            <a:pPr>
              <a:lnSpc>
                <a:spcPct val="110000"/>
              </a:lnSpc>
            </a:pPr>
            <a:r>
              <a:rPr lang="en-US" sz="1034" dirty="0">
                <a:solidFill>
                  <a:srgbClr val="718096"/>
                </a:solidFill>
                <a:latin typeface="MiSans" pitchFamily="34" charset="0"/>
                <a:ea typeface="MiSans" pitchFamily="34" charset="-122"/>
                <a:cs typeface="MiSans" pitchFamily="34" charset="-120"/>
              </a:rPr>
              <a:t>// 自动提交（简单但不安全） </a:t>
            </a:r>
          </a:p>
          <a:p>
            <a:pPr>
              <a:lnSpc>
                <a:spcPct val="110000"/>
              </a:lnSpc>
            </a:pPr>
            <a:r>
              <a:rPr lang="en-US" sz="1034" dirty="0" err="1">
                <a:solidFill>
                  <a:srgbClr val="718096"/>
                </a:solidFill>
                <a:latin typeface="MiSans" pitchFamily="34" charset="0"/>
                <a:ea typeface="MiSans" pitchFamily="34" charset="-122"/>
                <a:cs typeface="MiSans" pitchFamily="34" charset="-120"/>
              </a:rPr>
              <a:t>props.put</a:t>
            </a:r>
            <a:r>
              <a:rPr lang="en-US" sz="1034" dirty="0">
                <a:solidFill>
                  <a:srgbClr val="718096"/>
                </a:solidFill>
                <a:latin typeface="MiSans" pitchFamily="34" charset="0"/>
                <a:ea typeface="MiSans" pitchFamily="34" charset="-122"/>
                <a:cs typeface="MiSans" pitchFamily="34" charset="-120"/>
              </a:rPr>
              <a:t>(</a:t>
            </a:r>
            <a:r>
              <a:rPr lang="en-US" sz="1034" dirty="0">
                <a:solidFill>
                  <a:srgbClr val="E2E8F0"/>
                </a:solidFill>
                <a:latin typeface="MiSans" pitchFamily="34" charset="0"/>
                <a:ea typeface="MiSans" pitchFamily="34" charset="-122"/>
                <a:cs typeface="MiSans" pitchFamily="34" charset="-120"/>
              </a:rPr>
              <a:t>"enable.auto.commit"</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"true"</a:t>
            </a:r>
            <a:r>
              <a:rPr lang="en-US" sz="1034" dirty="0">
                <a:solidFill>
                  <a:srgbClr val="718096"/>
                </a:solidFill>
                <a:latin typeface="MiSans" pitchFamily="34" charset="0"/>
                <a:ea typeface="MiSans" pitchFamily="34" charset="-122"/>
                <a:cs typeface="MiSans" pitchFamily="34" charset="-120"/>
              </a:rPr>
              <a:t>); </a:t>
            </a:r>
          </a:p>
          <a:p>
            <a:pPr>
              <a:lnSpc>
                <a:spcPct val="110000"/>
              </a:lnSpc>
            </a:pPr>
            <a:r>
              <a:rPr lang="en-US" sz="1034" dirty="0" err="1">
                <a:solidFill>
                  <a:srgbClr val="718096"/>
                </a:solidFill>
                <a:latin typeface="MiSans" pitchFamily="34" charset="0"/>
                <a:ea typeface="MiSans" pitchFamily="34" charset="-122"/>
                <a:cs typeface="MiSans" pitchFamily="34" charset="-120"/>
              </a:rPr>
              <a:t>props.put</a:t>
            </a:r>
            <a:r>
              <a:rPr lang="en-US" sz="1034" dirty="0">
                <a:solidFill>
                  <a:srgbClr val="718096"/>
                </a:solidFill>
                <a:latin typeface="MiSans" pitchFamily="34" charset="0"/>
                <a:ea typeface="MiSans" pitchFamily="34" charset="-122"/>
                <a:cs typeface="MiSans" pitchFamily="34" charset="-120"/>
              </a:rPr>
              <a:t>(</a:t>
            </a:r>
            <a:r>
              <a:rPr lang="en-US" sz="1034" dirty="0">
                <a:solidFill>
                  <a:srgbClr val="E2E8F0"/>
                </a:solidFill>
                <a:latin typeface="MiSans" pitchFamily="34" charset="0"/>
                <a:ea typeface="MiSans" pitchFamily="34" charset="-122"/>
                <a:cs typeface="MiSans" pitchFamily="34" charset="-120"/>
              </a:rPr>
              <a:t>"auto.commit.interval.ms"</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"5000"</a:t>
            </a:r>
            <a:r>
              <a:rPr lang="en-US" sz="1034" dirty="0">
                <a:solidFill>
                  <a:srgbClr val="718096"/>
                </a:solidFill>
                <a:latin typeface="MiSans" pitchFamily="34" charset="0"/>
                <a:ea typeface="MiSans" pitchFamily="34" charset="-122"/>
                <a:cs typeface="MiSans" pitchFamily="34" charset="-120"/>
              </a:rPr>
              <a:t>);</a:t>
            </a:r>
            <a:endParaRPr lang="en-US" sz="1600" dirty="0"/>
          </a:p>
        </p:txBody>
      </p:sp>
      <p:sp>
        <p:nvSpPr>
          <p:cNvPr id="9" name="Shape 7"/>
          <p:cNvSpPr/>
          <p:nvPr/>
        </p:nvSpPr>
        <p:spPr>
          <a:xfrm>
            <a:off x="687817" y="2975526"/>
            <a:ext cx="134008" cy="153152"/>
          </a:xfrm>
          <a:custGeom>
            <a:avLst/>
            <a:gdLst/>
            <a:ahLst/>
            <a:cxnLst/>
            <a:rect l="l" t="t" r="r" b="b"/>
            <a:pathLst>
              <a:path w="134008" h="153152">
                <a:moveTo>
                  <a:pt x="76576" y="19144"/>
                </a:moveTo>
                <a:cubicBezTo>
                  <a:pt x="76576" y="13849"/>
                  <a:pt x="72299" y="9572"/>
                  <a:pt x="67004" y="9572"/>
                </a:cubicBezTo>
                <a:cubicBezTo>
                  <a:pt x="61710" y="9572"/>
                  <a:pt x="57432" y="13849"/>
                  <a:pt x="57432" y="19144"/>
                </a:cubicBezTo>
                <a:lnTo>
                  <a:pt x="57432" y="67004"/>
                </a:lnTo>
                <a:lnTo>
                  <a:pt x="9572" y="67004"/>
                </a:lnTo>
                <a:cubicBezTo>
                  <a:pt x="4277" y="67004"/>
                  <a:pt x="0" y="71282"/>
                  <a:pt x="0" y="76576"/>
                </a:cubicBezTo>
                <a:cubicBezTo>
                  <a:pt x="0" y="81871"/>
                  <a:pt x="4277" y="86148"/>
                  <a:pt x="9572" y="86148"/>
                </a:cubicBezTo>
                <a:lnTo>
                  <a:pt x="57432" y="86148"/>
                </a:lnTo>
                <a:lnTo>
                  <a:pt x="57432" y="134008"/>
                </a:lnTo>
                <a:cubicBezTo>
                  <a:pt x="57432" y="139303"/>
                  <a:pt x="61710" y="143580"/>
                  <a:pt x="67004" y="143580"/>
                </a:cubicBezTo>
                <a:cubicBezTo>
                  <a:pt x="72299" y="143580"/>
                  <a:pt x="76576" y="139303"/>
                  <a:pt x="76576" y="134008"/>
                </a:cubicBezTo>
                <a:lnTo>
                  <a:pt x="76576" y="86148"/>
                </a:lnTo>
                <a:lnTo>
                  <a:pt x="124436" y="86148"/>
                </a:lnTo>
                <a:cubicBezTo>
                  <a:pt x="129731" y="86148"/>
                  <a:pt x="134008" y="81871"/>
                  <a:pt x="134008" y="76576"/>
                </a:cubicBezTo>
                <a:cubicBezTo>
                  <a:pt x="134008" y="71282"/>
                  <a:pt x="129731" y="67004"/>
                  <a:pt x="124436" y="67004"/>
                </a:cubicBezTo>
                <a:lnTo>
                  <a:pt x="76576" y="67004"/>
                </a:lnTo>
                <a:lnTo>
                  <a:pt x="76576" y="19144"/>
                </a:lnTo>
                <a:close/>
              </a:path>
            </a:pathLst>
          </a:custGeom>
          <a:solidFill>
            <a:srgbClr val="718096"/>
          </a:solidFill>
          <a:ln/>
        </p:spPr>
        <p:txBody>
          <a:bodyPr/>
          <a:lstStyle/>
          <a:p>
            <a:endParaRPr lang="zh-CN" altLang="en-US"/>
          </a:p>
        </p:txBody>
      </p:sp>
      <p:sp>
        <p:nvSpPr>
          <p:cNvPr id="10" name="Text 8"/>
          <p:cNvSpPr/>
          <p:nvPr/>
        </p:nvSpPr>
        <p:spPr>
          <a:xfrm>
            <a:off x="935322" y="2931769"/>
            <a:ext cx="2067553"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实现简单，无需手动提交代码</a:t>
            </a:r>
            <a:endParaRPr lang="en-US" sz="1600" dirty="0"/>
          </a:p>
        </p:txBody>
      </p:sp>
      <p:sp>
        <p:nvSpPr>
          <p:cNvPr id="11" name="Shape 9"/>
          <p:cNvSpPr/>
          <p:nvPr/>
        </p:nvSpPr>
        <p:spPr>
          <a:xfrm>
            <a:off x="687817" y="3281830"/>
            <a:ext cx="134008" cy="153152"/>
          </a:xfrm>
          <a:custGeom>
            <a:avLst/>
            <a:gdLst/>
            <a:ahLst/>
            <a:cxnLst/>
            <a:rect l="l" t="t" r="r" b="b"/>
            <a:pathLst>
              <a:path w="134008" h="153152">
                <a:moveTo>
                  <a:pt x="0" y="76576"/>
                </a:moveTo>
                <a:cubicBezTo>
                  <a:pt x="0" y="71282"/>
                  <a:pt x="4277" y="67004"/>
                  <a:pt x="9572" y="67004"/>
                </a:cubicBezTo>
                <a:lnTo>
                  <a:pt x="124436" y="67004"/>
                </a:lnTo>
                <a:cubicBezTo>
                  <a:pt x="129731" y="67004"/>
                  <a:pt x="134008" y="71282"/>
                  <a:pt x="134008" y="76576"/>
                </a:cubicBezTo>
                <a:cubicBezTo>
                  <a:pt x="134008" y="81871"/>
                  <a:pt x="129731" y="86148"/>
                  <a:pt x="124436" y="86148"/>
                </a:cubicBezTo>
                <a:lnTo>
                  <a:pt x="9572" y="86148"/>
                </a:lnTo>
                <a:cubicBezTo>
                  <a:pt x="4277" y="86148"/>
                  <a:pt x="0" y="81871"/>
                  <a:pt x="0" y="76576"/>
                </a:cubicBezTo>
                <a:close/>
              </a:path>
            </a:pathLst>
          </a:custGeom>
          <a:solidFill>
            <a:srgbClr val="718096"/>
          </a:solidFill>
          <a:ln/>
        </p:spPr>
        <p:txBody>
          <a:bodyPr/>
          <a:lstStyle/>
          <a:p>
            <a:endParaRPr lang="zh-CN" altLang="en-US"/>
          </a:p>
        </p:txBody>
      </p:sp>
      <p:sp>
        <p:nvSpPr>
          <p:cNvPr id="12" name="Text 10"/>
          <p:cNvSpPr/>
          <p:nvPr/>
        </p:nvSpPr>
        <p:spPr>
          <a:xfrm>
            <a:off x="935322" y="3238073"/>
            <a:ext cx="2920829"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可能导致消息重复消费(处理失败后已提交)</a:t>
            </a:r>
            <a:endParaRPr lang="en-US" sz="1600" dirty="0"/>
          </a:p>
        </p:txBody>
      </p:sp>
      <p:sp>
        <p:nvSpPr>
          <p:cNvPr id="13" name="Shape 11"/>
          <p:cNvSpPr/>
          <p:nvPr/>
        </p:nvSpPr>
        <p:spPr>
          <a:xfrm>
            <a:off x="687817" y="3588135"/>
            <a:ext cx="134008" cy="153152"/>
          </a:xfrm>
          <a:custGeom>
            <a:avLst/>
            <a:gdLst/>
            <a:ahLst/>
            <a:cxnLst/>
            <a:rect l="l" t="t" r="r" b="b"/>
            <a:pathLst>
              <a:path w="134008" h="153152">
                <a:moveTo>
                  <a:pt x="0" y="76576"/>
                </a:moveTo>
                <a:cubicBezTo>
                  <a:pt x="0" y="71282"/>
                  <a:pt x="4277" y="67004"/>
                  <a:pt x="9572" y="67004"/>
                </a:cubicBezTo>
                <a:lnTo>
                  <a:pt x="124436" y="67004"/>
                </a:lnTo>
                <a:cubicBezTo>
                  <a:pt x="129731" y="67004"/>
                  <a:pt x="134008" y="71282"/>
                  <a:pt x="134008" y="76576"/>
                </a:cubicBezTo>
                <a:cubicBezTo>
                  <a:pt x="134008" y="81871"/>
                  <a:pt x="129731" y="86148"/>
                  <a:pt x="124436" y="86148"/>
                </a:cubicBezTo>
                <a:lnTo>
                  <a:pt x="9572" y="86148"/>
                </a:lnTo>
                <a:cubicBezTo>
                  <a:pt x="4277" y="86148"/>
                  <a:pt x="0" y="81871"/>
                  <a:pt x="0" y="76576"/>
                </a:cubicBezTo>
                <a:close/>
              </a:path>
            </a:pathLst>
          </a:custGeom>
          <a:solidFill>
            <a:srgbClr val="718096"/>
          </a:solidFill>
          <a:ln/>
        </p:spPr>
        <p:txBody>
          <a:bodyPr/>
          <a:lstStyle/>
          <a:p>
            <a:endParaRPr lang="zh-CN" altLang="en-US"/>
          </a:p>
        </p:txBody>
      </p:sp>
      <p:sp>
        <p:nvSpPr>
          <p:cNvPr id="14" name="Text 12"/>
          <p:cNvSpPr/>
          <p:nvPr/>
        </p:nvSpPr>
        <p:spPr>
          <a:xfrm>
            <a:off x="935322" y="3544377"/>
            <a:ext cx="1608097"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无法精确控制提交时机</a:t>
            </a:r>
            <a:endParaRPr lang="en-US" sz="1600" dirty="0"/>
          </a:p>
        </p:txBody>
      </p:sp>
      <p:sp>
        <p:nvSpPr>
          <p:cNvPr id="15" name="Shape 13"/>
          <p:cNvSpPr/>
          <p:nvPr/>
        </p:nvSpPr>
        <p:spPr>
          <a:xfrm>
            <a:off x="459456" y="4069470"/>
            <a:ext cx="7537271" cy="4638320"/>
          </a:xfrm>
          <a:custGeom>
            <a:avLst/>
            <a:gdLst/>
            <a:ahLst/>
            <a:cxnLst/>
            <a:rect l="l" t="t" r="r" b="b"/>
            <a:pathLst>
              <a:path w="7537271" h="4638320">
                <a:moveTo>
                  <a:pt x="43758" y="0"/>
                </a:moveTo>
                <a:lnTo>
                  <a:pt x="7449745" y="0"/>
                </a:lnTo>
                <a:cubicBezTo>
                  <a:pt x="7498084" y="0"/>
                  <a:pt x="7537271" y="39186"/>
                  <a:pt x="7537271" y="87525"/>
                </a:cubicBezTo>
                <a:lnTo>
                  <a:pt x="7537271" y="4550795"/>
                </a:lnTo>
                <a:cubicBezTo>
                  <a:pt x="7537271" y="4599134"/>
                  <a:pt x="7498084" y="4638320"/>
                  <a:pt x="7449745" y="4638320"/>
                </a:cubicBezTo>
                <a:lnTo>
                  <a:pt x="43758" y="4638320"/>
                </a:lnTo>
                <a:cubicBezTo>
                  <a:pt x="19591" y="4638320"/>
                  <a:pt x="0" y="4618729"/>
                  <a:pt x="0" y="4594563"/>
                </a:cubicBezTo>
                <a:lnTo>
                  <a:pt x="0" y="43758"/>
                </a:lnTo>
                <a:cubicBezTo>
                  <a:pt x="0" y="19607"/>
                  <a:pt x="19607" y="0"/>
                  <a:pt x="43758" y="0"/>
                </a:cubicBezTo>
                <a:close/>
              </a:path>
            </a:pathLst>
          </a:custGeom>
          <a:solidFill>
            <a:srgbClr val="4A5568">
              <a:alpha val="20000"/>
            </a:srgbClr>
          </a:solidFill>
          <a:ln/>
        </p:spPr>
        <p:txBody>
          <a:bodyPr/>
          <a:lstStyle/>
          <a:p>
            <a:endParaRPr lang="zh-CN" altLang="en-US"/>
          </a:p>
        </p:txBody>
      </p:sp>
      <p:sp>
        <p:nvSpPr>
          <p:cNvPr id="16" name="Shape 14"/>
          <p:cNvSpPr/>
          <p:nvPr/>
        </p:nvSpPr>
        <p:spPr>
          <a:xfrm>
            <a:off x="459456" y="4069470"/>
            <a:ext cx="43758" cy="4638320"/>
          </a:xfrm>
          <a:custGeom>
            <a:avLst/>
            <a:gdLst/>
            <a:ahLst/>
            <a:cxnLst/>
            <a:rect l="l" t="t" r="r" b="b"/>
            <a:pathLst>
              <a:path w="43758" h="4638320">
                <a:moveTo>
                  <a:pt x="43758" y="0"/>
                </a:moveTo>
                <a:lnTo>
                  <a:pt x="43758" y="0"/>
                </a:lnTo>
                <a:lnTo>
                  <a:pt x="43758" y="4638320"/>
                </a:lnTo>
                <a:lnTo>
                  <a:pt x="43758" y="4638320"/>
                </a:lnTo>
                <a:cubicBezTo>
                  <a:pt x="19591" y="4638320"/>
                  <a:pt x="0" y="4618729"/>
                  <a:pt x="0" y="4594563"/>
                </a:cubicBezTo>
                <a:lnTo>
                  <a:pt x="0" y="43758"/>
                </a:lnTo>
                <a:cubicBezTo>
                  <a:pt x="0" y="19607"/>
                  <a:pt x="19607" y="0"/>
                  <a:pt x="43758" y="0"/>
                </a:cubicBezTo>
                <a:close/>
              </a:path>
            </a:pathLst>
          </a:custGeom>
          <a:solidFill>
            <a:srgbClr val="D69E2E"/>
          </a:solidFill>
          <a:ln/>
        </p:spPr>
        <p:txBody>
          <a:bodyPr/>
          <a:lstStyle/>
          <a:p>
            <a:endParaRPr lang="zh-CN" altLang="en-US"/>
          </a:p>
        </p:txBody>
      </p:sp>
      <p:sp>
        <p:nvSpPr>
          <p:cNvPr id="17" name="Text 15"/>
          <p:cNvSpPr/>
          <p:nvPr/>
        </p:nvSpPr>
        <p:spPr>
          <a:xfrm>
            <a:off x="656366" y="4244501"/>
            <a:ext cx="7274724" cy="306304"/>
          </a:xfrm>
          <a:prstGeom prst="rect">
            <a:avLst/>
          </a:prstGeom>
          <a:noFill/>
          <a:ln/>
        </p:spPr>
        <p:txBody>
          <a:bodyPr wrap="square" lIns="0" tIns="0" rIns="0" bIns="0" rtlCol="0" anchor="ctr"/>
          <a:lstStyle/>
          <a:p>
            <a:pPr>
              <a:lnSpc>
                <a:spcPct val="120000"/>
              </a:lnSpc>
            </a:pPr>
            <a:r>
              <a:rPr lang="en-US" sz="1723" b="1" dirty="0">
                <a:solidFill>
                  <a:srgbClr val="D69E2E"/>
                </a:solidFill>
                <a:latin typeface="MiSans" pitchFamily="34" charset="0"/>
                <a:ea typeface="MiSans" pitchFamily="34" charset="-122"/>
                <a:cs typeface="MiSans" pitchFamily="34" charset="-120"/>
              </a:rPr>
              <a:t>手动提交偏移量</a:t>
            </a:r>
            <a:endParaRPr lang="en-US" sz="1600" dirty="0"/>
          </a:p>
        </p:txBody>
      </p:sp>
      <p:sp>
        <p:nvSpPr>
          <p:cNvPr id="18" name="Shape 16"/>
          <p:cNvSpPr/>
          <p:nvPr/>
        </p:nvSpPr>
        <p:spPr>
          <a:xfrm>
            <a:off x="656366" y="4682078"/>
            <a:ext cx="7165330" cy="2888011"/>
          </a:xfrm>
          <a:custGeom>
            <a:avLst/>
            <a:gdLst/>
            <a:ahLst/>
            <a:cxnLst/>
            <a:rect l="l" t="t" r="r" b="b"/>
            <a:pathLst>
              <a:path w="7165330" h="2888011">
                <a:moveTo>
                  <a:pt x="43753" y="0"/>
                </a:moveTo>
                <a:lnTo>
                  <a:pt x="7121576" y="0"/>
                </a:lnTo>
                <a:cubicBezTo>
                  <a:pt x="7145741" y="0"/>
                  <a:pt x="7165330" y="19589"/>
                  <a:pt x="7165330" y="43753"/>
                </a:cubicBezTo>
                <a:lnTo>
                  <a:pt x="7165330" y="2844257"/>
                </a:lnTo>
                <a:cubicBezTo>
                  <a:pt x="7165330" y="2868422"/>
                  <a:pt x="7145741" y="2888011"/>
                  <a:pt x="7121576" y="2888011"/>
                </a:cubicBezTo>
                <a:lnTo>
                  <a:pt x="43753" y="2888011"/>
                </a:lnTo>
                <a:cubicBezTo>
                  <a:pt x="19589" y="2888011"/>
                  <a:pt x="0" y="2868422"/>
                  <a:pt x="0" y="2844257"/>
                </a:cubicBezTo>
                <a:lnTo>
                  <a:pt x="0" y="43753"/>
                </a:lnTo>
                <a:cubicBezTo>
                  <a:pt x="0" y="19589"/>
                  <a:pt x="19589" y="0"/>
                  <a:pt x="43753" y="0"/>
                </a:cubicBezTo>
                <a:close/>
              </a:path>
            </a:pathLst>
          </a:custGeom>
          <a:solidFill>
            <a:srgbClr val="1A1D21">
              <a:alpha val="60000"/>
            </a:srgbClr>
          </a:solidFill>
          <a:ln/>
        </p:spPr>
        <p:txBody>
          <a:bodyPr/>
          <a:lstStyle/>
          <a:p>
            <a:endParaRPr lang="zh-CN" altLang="en-US" dirty="0"/>
          </a:p>
        </p:txBody>
      </p:sp>
      <p:sp>
        <p:nvSpPr>
          <p:cNvPr id="19" name="Text 17"/>
          <p:cNvSpPr/>
          <p:nvPr/>
        </p:nvSpPr>
        <p:spPr>
          <a:xfrm>
            <a:off x="787639" y="4813351"/>
            <a:ext cx="6968420" cy="2625464"/>
          </a:xfrm>
          <a:prstGeom prst="rect">
            <a:avLst/>
          </a:prstGeom>
          <a:noFill/>
          <a:ln/>
        </p:spPr>
        <p:txBody>
          <a:bodyPr wrap="square" lIns="0" tIns="0" rIns="0" bIns="0" numCol="2" rtlCol="0" anchor="ctr"/>
          <a:lstStyle/>
          <a:p>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自动提交（简单但不安全）</a:t>
            </a:r>
          </a:p>
          <a:p>
            <a:r>
              <a:rPr lang="en-US" altLang="zh-CN" sz="1200" dirty="0" err="1">
                <a:solidFill>
                  <a:schemeClr val="bg1"/>
                </a:solidFill>
                <a:latin typeface="Calibri" panose="020F0502020204030204" pitchFamily="34" charset="0"/>
                <a:cs typeface="Calibri" panose="020F0502020204030204" pitchFamily="34" charset="0"/>
              </a:rPr>
              <a:t>props.put</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enable.auto.commit</a:t>
            </a:r>
            <a:r>
              <a:rPr lang="en-US" altLang="zh-CN" sz="1200" dirty="0">
                <a:solidFill>
                  <a:schemeClr val="bg1"/>
                </a:solidFill>
                <a:latin typeface="Calibri" panose="020F0502020204030204" pitchFamily="34" charset="0"/>
                <a:cs typeface="Calibri" panose="020F0502020204030204" pitchFamily="34" charset="0"/>
              </a:rPr>
              <a:t>", "true");</a:t>
            </a:r>
          </a:p>
          <a:p>
            <a:r>
              <a:rPr lang="en-US" altLang="zh-CN" sz="1200" dirty="0" err="1">
                <a:solidFill>
                  <a:schemeClr val="bg1"/>
                </a:solidFill>
                <a:latin typeface="Calibri" panose="020F0502020204030204" pitchFamily="34" charset="0"/>
                <a:cs typeface="Calibri" panose="020F0502020204030204" pitchFamily="34" charset="0"/>
              </a:rPr>
              <a:t>props.put</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auto.commit.interval.ms</a:t>
            </a:r>
            <a:r>
              <a:rPr lang="en-US" altLang="zh-CN" sz="1200" dirty="0">
                <a:solidFill>
                  <a:schemeClr val="bg1"/>
                </a:solidFill>
                <a:latin typeface="Calibri" panose="020F0502020204030204" pitchFamily="34" charset="0"/>
                <a:cs typeface="Calibri" panose="020F0502020204030204" pitchFamily="34" charset="0"/>
              </a:rPr>
              <a:t>", "5000");</a:t>
            </a:r>
          </a:p>
          <a:p>
            <a:br>
              <a:rPr lang="en-US" altLang="zh-CN" sz="1200" dirty="0">
                <a:solidFill>
                  <a:schemeClr val="bg1"/>
                </a:solidFill>
                <a:latin typeface="Calibri" panose="020F0502020204030204" pitchFamily="34" charset="0"/>
                <a:cs typeface="Calibri" panose="020F0502020204030204" pitchFamily="34" charset="0"/>
              </a:rPr>
            </a:br>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手动提交（推荐用于关键业务）</a:t>
            </a:r>
          </a:p>
          <a:p>
            <a:r>
              <a:rPr lang="en-US" altLang="zh-CN" sz="1200" dirty="0" err="1">
                <a:solidFill>
                  <a:schemeClr val="bg1"/>
                </a:solidFill>
                <a:latin typeface="Calibri" panose="020F0502020204030204" pitchFamily="34" charset="0"/>
                <a:cs typeface="Calibri" panose="020F0502020204030204" pitchFamily="34" charset="0"/>
              </a:rPr>
              <a:t>props.put</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enable.auto.commit</a:t>
            </a:r>
            <a:r>
              <a:rPr lang="en-US" altLang="zh-CN" sz="1200" dirty="0">
                <a:solidFill>
                  <a:schemeClr val="bg1"/>
                </a:solidFill>
                <a:latin typeface="Calibri" panose="020F0502020204030204" pitchFamily="34" charset="0"/>
                <a:cs typeface="Calibri" panose="020F0502020204030204" pitchFamily="34" charset="0"/>
              </a:rPr>
              <a:t>", "false");</a:t>
            </a:r>
          </a:p>
          <a:p>
            <a:br>
              <a:rPr lang="en-US" altLang="zh-CN" sz="1200" dirty="0">
                <a:solidFill>
                  <a:schemeClr val="bg1"/>
                </a:solidFill>
                <a:latin typeface="Calibri" panose="020F0502020204030204" pitchFamily="34" charset="0"/>
                <a:cs typeface="Calibri" panose="020F0502020204030204" pitchFamily="34" charset="0"/>
              </a:rPr>
            </a:br>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同步提交</a:t>
            </a:r>
          </a:p>
          <a:p>
            <a:r>
              <a:rPr lang="en-US" altLang="zh-CN" sz="1200" dirty="0" err="1">
                <a:solidFill>
                  <a:schemeClr val="bg1"/>
                </a:solidFill>
                <a:latin typeface="Calibri" panose="020F0502020204030204" pitchFamily="34" charset="0"/>
                <a:cs typeface="Calibri" panose="020F0502020204030204" pitchFamily="34" charset="0"/>
              </a:rPr>
              <a:t>consumer.commitSync</a:t>
            </a:r>
            <a:r>
              <a:rPr lang="en-US" altLang="zh-CN" sz="1200" dirty="0">
                <a:solidFill>
                  <a:schemeClr val="bg1"/>
                </a:solidFill>
                <a:latin typeface="Calibri" panose="020F0502020204030204" pitchFamily="34" charset="0"/>
                <a:cs typeface="Calibri" panose="020F0502020204030204" pitchFamily="34" charset="0"/>
              </a:rPr>
              <a:t>();</a:t>
            </a:r>
          </a:p>
          <a:p>
            <a:br>
              <a:rPr lang="en-US" altLang="zh-CN" sz="1200" dirty="0">
                <a:solidFill>
                  <a:schemeClr val="bg1"/>
                </a:solidFill>
                <a:latin typeface="Calibri" panose="020F0502020204030204" pitchFamily="34" charset="0"/>
                <a:cs typeface="Calibri" panose="020F0502020204030204" pitchFamily="34" charset="0"/>
              </a:rPr>
            </a:br>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异步提交</a:t>
            </a:r>
          </a:p>
          <a:p>
            <a:r>
              <a:rPr lang="en-US" altLang="zh-CN" sz="1200" dirty="0" err="1">
                <a:solidFill>
                  <a:schemeClr val="bg1"/>
                </a:solidFill>
                <a:latin typeface="Calibri" panose="020F0502020204030204" pitchFamily="34" charset="0"/>
                <a:cs typeface="Calibri" panose="020F0502020204030204" pitchFamily="34" charset="0"/>
              </a:rPr>
              <a:t>consumer.commitAsync</a:t>
            </a:r>
            <a:r>
              <a:rPr lang="en-US" altLang="zh-CN" sz="1200" dirty="0">
                <a:solidFill>
                  <a:schemeClr val="bg1"/>
                </a:solidFill>
                <a:latin typeface="Calibri" panose="020F0502020204030204" pitchFamily="34" charset="0"/>
                <a:cs typeface="Calibri" panose="020F0502020204030204" pitchFamily="34" charset="0"/>
              </a:rPr>
              <a:t>((offsets, exception) -&gt; {</a:t>
            </a:r>
          </a:p>
          <a:p>
            <a:r>
              <a:rPr lang="en-US" altLang="zh-CN" sz="1200" dirty="0">
                <a:solidFill>
                  <a:schemeClr val="bg1"/>
                </a:solidFill>
                <a:latin typeface="Calibri" panose="020F0502020204030204" pitchFamily="34" charset="0"/>
                <a:cs typeface="Calibri" panose="020F0502020204030204" pitchFamily="34" charset="0"/>
              </a:rPr>
              <a:t>if (exception != null)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System.out.println</a:t>
            </a:r>
            <a:r>
              <a:rPr lang="en-US" altLang="zh-CN" sz="1200" dirty="0">
                <a:solidFill>
                  <a:schemeClr val="bg1"/>
                </a:solidFill>
                <a:latin typeface="Calibri" panose="020F0502020204030204" pitchFamily="34" charset="0"/>
                <a:cs typeface="Calibri" panose="020F0502020204030204" pitchFamily="34" charset="0"/>
              </a:rPr>
              <a:t>("</a:t>
            </a:r>
            <a:r>
              <a:rPr lang="zh-CN" altLang="en-US" sz="1200" dirty="0">
                <a:solidFill>
                  <a:schemeClr val="bg1"/>
                </a:solidFill>
                <a:latin typeface="Calibri" panose="020F0502020204030204" pitchFamily="34" charset="0"/>
                <a:cs typeface="Calibri" panose="020F0502020204030204" pitchFamily="34" charset="0"/>
              </a:rPr>
              <a:t>提交失败</a:t>
            </a:r>
            <a:r>
              <a:rPr lang="en-US" altLang="zh-CN" sz="1200" dirty="0">
                <a:solidFill>
                  <a:schemeClr val="bg1"/>
                </a:solidFill>
                <a:latin typeface="Calibri" panose="020F0502020204030204" pitchFamily="34" charset="0"/>
                <a:cs typeface="Calibri" panose="020F0502020204030204" pitchFamily="34" charset="0"/>
              </a:rPr>
              <a:t>: "</a:t>
            </a:r>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exception.getMessage</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else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System.out.println</a:t>
            </a:r>
            <a:r>
              <a:rPr lang="en-US" altLang="zh-CN" sz="1200" dirty="0">
                <a:solidFill>
                  <a:schemeClr val="bg1"/>
                </a:solidFill>
                <a:latin typeface="Calibri" panose="020F0502020204030204" pitchFamily="34" charset="0"/>
                <a:cs typeface="Calibri" panose="020F0502020204030204" pitchFamily="34" charset="0"/>
              </a:rPr>
              <a:t>("</a:t>
            </a:r>
            <a:r>
              <a:rPr lang="zh-CN" altLang="en-US" sz="1200" dirty="0">
                <a:solidFill>
                  <a:schemeClr val="bg1"/>
                </a:solidFill>
                <a:latin typeface="Calibri" panose="020F0502020204030204" pitchFamily="34" charset="0"/>
                <a:cs typeface="Calibri" panose="020F0502020204030204" pitchFamily="34" charset="0"/>
              </a:rPr>
              <a:t>提交成功</a:t>
            </a:r>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p:txBody>
      </p:sp>
      <p:sp>
        <p:nvSpPr>
          <p:cNvPr id="20" name="Shape 18"/>
          <p:cNvSpPr/>
          <p:nvPr/>
        </p:nvSpPr>
        <p:spPr>
          <a:xfrm>
            <a:off x="687817" y="7745120"/>
            <a:ext cx="134008" cy="153152"/>
          </a:xfrm>
          <a:custGeom>
            <a:avLst/>
            <a:gdLst/>
            <a:ahLst/>
            <a:cxnLst/>
            <a:rect l="l" t="t" r="r" b="b"/>
            <a:pathLst>
              <a:path w="134008" h="153152">
                <a:moveTo>
                  <a:pt x="76576" y="19144"/>
                </a:moveTo>
                <a:cubicBezTo>
                  <a:pt x="76576" y="13849"/>
                  <a:pt x="72299" y="9572"/>
                  <a:pt x="67004" y="9572"/>
                </a:cubicBezTo>
                <a:cubicBezTo>
                  <a:pt x="61710" y="9572"/>
                  <a:pt x="57432" y="13849"/>
                  <a:pt x="57432" y="19144"/>
                </a:cubicBezTo>
                <a:lnTo>
                  <a:pt x="57432" y="67004"/>
                </a:lnTo>
                <a:lnTo>
                  <a:pt x="9572" y="67004"/>
                </a:lnTo>
                <a:cubicBezTo>
                  <a:pt x="4277" y="67004"/>
                  <a:pt x="0" y="71282"/>
                  <a:pt x="0" y="76576"/>
                </a:cubicBezTo>
                <a:cubicBezTo>
                  <a:pt x="0" y="81871"/>
                  <a:pt x="4277" y="86148"/>
                  <a:pt x="9572" y="86148"/>
                </a:cubicBezTo>
                <a:lnTo>
                  <a:pt x="57432" y="86148"/>
                </a:lnTo>
                <a:lnTo>
                  <a:pt x="57432" y="134008"/>
                </a:lnTo>
                <a:cubicBezTo>
                  <a:pt x="57432" y="139303"/>
                  <a:pt x="61710" y="143580"/>
                  <a:pt x="67004" y="143580"/>
                </a:cubicBezTo>
                <a:cubicBezTo>
                  <a:pt x="72299" y="143580"/>
                  <a:pt x="76576" y="139303"/>
                  <a:pt x="76576" y="134008"/>
                </a:cubicBezTo>
                <a:lnTo>
                  <a:pt x="76576" y="86148"/>
                </a:lnTo>
                <a:lnTo>
                  <a:pt x="124436" y="86148"/>
                </a:lnTo>
                <a:cubicBezTo>
                  <a:pt x="129731" y="86148"/>
                  <a:pt x="134008" y="81871"/>
                  <a:pt x="134008" y="76576"/>
                </a:cubicBezTo>
                <a:cubicBezTo>
                  <a:pt x="134008" y="71282"/>
                  <a:pt x="129731" y="67004"/>
                  <a:pt x="124436" y="67004"/>
                </a:cubicBezTo>
                <a:lnTo>
                  <a:pt x="76576" y="67004"/>
                </a:lnTo>
                <a:lnTo>
                  <a:pt x="76576" y="19144"/>
                </a:lnTo>
                <a:close/>
              </a:path>
            </a:pathLst>
          </a:custGeom>
          <a:solidFill>
            <a:srgbClr val="D69E2E"/>
          </a:solidFill>
          <a:ln/>
        </p:spPr>
        <p:txBody>
          <a:bodyPr/>
          <a:lstStyle/>
          <a:p>
            <a:endParaRPr lang="zh-CN" altLang="en-US"/>
          </a:p>
        </p:txBody>
      </p:sp>
      <p:sp>
        <p:nvSpPr>
          <p:cNvPr id="21" name="Text 19"/>
          <p:cNvSpPr/>
          <p:nvPr/>
        </p:nvSpPr>
        <p:spPr>
          <a:xfrm>
            <a:off x="935322" y="7701362"/>
            <a:ext cx="2527009"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精确控制提交时机，处理成功后提交</a:t>
            </a:r>
            <a:endParaRPr lang="en-US" sz="1600" dirty="0"/>
          </a:p>
        </p:txBody>
      </p:sp>
      <p:sp>
        <p:nvSpPr>
          <p:cNvPr id="22" name="Shape 20"/>
          <p:cNvSpPr/>
          <p:nvPr/>
        </p:nvSpPr>
        <p:spPr>
          <a:xfrm>
            <a:off x="687817" y="8051424"/>
            <a:ext cx="134008" cy="153152"/>
          </a:xfrm>
          <a:custGeom>
            <a:avLst/>
            <a:gdLst/>
            <a:ahLst/>
            <a:cxnLst/>
            <a:rect l="l" t="t" r="r" b="b"/>
            <a:pathLst>
              <a:path w="134008" h="153152">
                <a:moveTo>
                  <a:pt x="76576" y="19144"/>
                </a:moveTo>
                <a:cubicBezTo>
                  <a:pt x="76576" y="13849"/>
                  <a:pt x="72299" y="9572"/>
                  <a:pt x="67004" y="9572"/>
                </a:cubicBezTo>
                <a:cubicBezTo>
                  <a:pt x="61710" y="9572"/>
                  <a:pt x="57432" y="13849"/>
                  <a:pt x="57432" y="19144"/>
                </a:cubicBezTo>
                <a:lnTo>
                  <a:pt x="57432" y="67004"/>
                </a:lnTo>
                <a:lnTo>
                  <a:pt x="9572" y="67004"/>
                </a:lnTo>
                <a:cubicBezTo>
                  <a:pt x="4277" y="67004"/>
                  <a:pt x="0" y="71282"/>
                  <a:pt x="0" y="76576"/>
                </a:cubicBezTo>
                <a:cubicBezTo>
                  <a:pt x="0" y="81871"/>
                  <a:pt x="4277" y="86148"/>
                  <a:pt x="9572" y="86148"/>
                </a:cubicBezTo>
                <a:lnTo>
                  <a:pt x="57432" y="86148"/>
                </a:lnTo>
                <a:lnTo>
                  <a:pt x="57432" y="134008"/>
                </a:lnTo>
                <a:cubicBezTo>
                  <a:pt x="57432" y="139303"/>
                  <a:pt x="61710" y="143580"/>
                  <a:pt x="67004" y="143580"/>
                </a:cubicBezTo>
                <a:cubicBezTo>
                  <a:pt x="72299" y="143580"/>
                  <a:pt x="76576" y="139303"/>
                  <a:pt x="76576" y="134008"/>
                </a:cubicBezTo>
                <a:lnTo>
                  <a:pt x="76576" y="86148"/>
                </a:lnTo>
                <a:lnTo>
                  <a:pt x="124436" y="86148"/>
                </a:lnTo>
                <a:cubicBezTo>
                  <a:pt x="129731" y="86148"/>
                  <a:pt x="134008" y="81871"/>
                  <a:pt x="134008" y="76576"/>
                </a:cubicBezTo>
                <a:cubicBezTo>
                  <a:pt x="134008" y="71282"/>
                  <a:pt x="129731" y="67004"/>
                  <a:pt x="124436" y="67004"/>
                </a:cubicBezTo>
                <a:lnTo>
                  <a:pt x="76576" y="67004"/>
                </a:lnTo>
                <a:lnTo>
                  <a:pt x="76576" y="19144"/>
                </a:lnTo>
                <a:close/>
              </a:path>
            </a:pathLst>
          </a:custGeom>
          <a:solidFill>
            <a:srgbClr val="D69E2E"/>
          </a:solidFill>
          <a:ln/>
        </p:spPr>
        <p:txBody>
          <a:bodyPr/>
          <a:lstStyle/>
          <a:p>
            <a:endParaRPr lang="zh-CN" altLang="en-US"/>
          </a:p>
        </p:txBody>
      </p:sp>
      <p:sp>
        <p:nvSpPr>
          <p:cNvPr id="23" name="Text 21"/>
          <p:cNvSpPr/>
          <p:nvPr/>
        </p:nvSpPr>
        <p:spPr>
          <a:xfrm>
            <a:off x="935322" y="8007666"/>
            <a:ext cx="3095860"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避免消息重复消费，保证 Exactly-Once 语义</a:t>
            </a:r>
            <a:endParaRPr lang="en-US" sz="1600" dirty="0"/>
          </a:p>
        </p:txBody>
      </p:sp>
      <p:sp>
        <p:nvSpPr>
          <p:cNvPr id="24" name="Shape 22"/>
          <p:cNvSpPr/>
          <p:nvPr/>
        </p:nvSpPr>
        <p:spPr>
          <a:xfrm>
            <a:off x="687817" y="8357728"/>
            <a:ext cx="134008" cy="153152"/>
          </a:xfrm>
          <a:custGeom>
            <a:avLst/>
            <a:gdLst/>
            <a:ahLst/>
            <a:cxnLst/>
            <a:rect l="l" t="t" r="r" b="b"/>
            <a:pathLst>
              <a:path w="134008" h="153152">
                <a:moveTo>
                  <a:pt x="0" y="76576"/>
                </a:moveTo>
                <a:cubicBezTo>
                  <a:pt x="0" y="71282"/>
                  <a:pt x="4277" y="67004"/>
                  <a:pt x="9572" y="67004"/>
                </a:cubicBezTo>
                <a:lnTo>
                  <a:pt x="124436" y="67004"/>
                </a:lnTo>
                <a:cubicBezTo>
                  <a:pt x="129731" y="67004"/>
                  <a:pt x="134008" y="71282"/>
                  <a:pt x="134008" y="76576"/>
                </a:cubicBezTo>
                <a:cubicBezTo>
                  <a:pt x="134008" y="81871"/>
                  <a:pt x="129731" y="86148"/>
                  <a:pt x="124436" y="86148"/>
                </a:cubicBezTo>
                <a:lnTo>
                  <a:pt x="9572" y="86148"/>
                </a:lnTo>
                <a:cubicBezTo>
                  <a:pt x="4277" y="86148"/>
                  <a:pt x="0" y="81871"/>
                  <a:pt x="0" y="76576"/>
                </a:cubicBezTo>
                <a:close/>
              </a:path>
            </a:pathLst>
          </a:custGeom>
          <a:solidFill>
            <a:srgbClr val="D69E2E"/>
          </a:solidFill>
          <a:ln/>
        </p:spPr>
        <p:txBody>
          <a:bodyPr/>
          <a:lstStyle/>
          <a:p>
            <a:endParaRPr lang="zh-CN" altLang="en-US"/>
          </a:p>
        </p:txBody>
      </p:sp>
      <p:sp>
        <p:nvSpPr>
          <p:cNvPr id="25" name="Text 23"/>
          <p:cNvSpPr/>
          <p:nvPr/>
        </p:nvSpPr>
        <p:spPr>
          <a:xfrm>
            <a:off x="935322" y="8313970"/>
            <a:ext cx="2067553"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需要开发者自行处理提交逻辑</a:t>
            </a:r>
            <a:endParaRPr lang="en-US" sz="1600" dirty="0"/>
          </a:p>
        </p:txBody>
      </p:sp>
      <p:sp>
        <p:nvSpPr>
          <p:cNvPr id="26" name="Shape 24"/>
          <p:cNvSpPr/>
          <p:nvPr/>
        </p:nvSpPr>
        <p:spPr>
          <a:xfrm>
            <a:off x="8282349" y="1400248"/>
            <a:ext cx="7537271" cy="3413104"/>
          </a:xfrm>
          <a:custGeom>
            <a:avLst/>
            <a:gdLst/>
            <a:ahLst/>
            <a:cxnLst/>
            <a:rect l="l" t="t" r="r" b="b"/>
            <a:pathLst>
              <a:path w="7537271" h="3413104">
                <a:moveTo>
                  <a:pt x="43758" y="0"/>
                </a:moveTo>
                <a:lnTo>
                  <a:pt x="7449759" y="0"/>
                </a:lnTo>
                <a:cubicBezTo>
                  <a:pt x="7498090" y="0"/>
                  <a:pt x="7537271" y="39180"/>
                  <a:pt x="7537271" y="87512"/>
                </a:cubicBezTo>
                <a:lnTo>
                  <a:pt x="7537271" y="3325592"/>
                </a:lnTo>
                <a:cubicBezTo>
                  <a:pt x="7537271" y="3373923"/>
                  <a:pt x="7498090" y="3413104"/>
                  <a:pt x="7449759" y="3413104"/>
                </a:cubicBezTo>
                <a:lnTo>
                  <a:pt x="43758" y="3413104"/>
                </a:lnTo>
                <a:cubicBezTo>
                  <a:pt x="19591" y="3413104"/>
                  <a:pt x="0" y="3393513"/>
                  <a:pt x="0" y="3369346"/>
                </a:cubicBezTo>
                <a:lnTo>
                  <a:pt x="0" y="43758"/>
                </a:lnTo>
                <a:cubicBezTo>
                  <a:pt x="0" y="19607"/>
                  <a:pt x="19607" y="0"/>
                  <a:pt x="43758" y="0"/>
                </a:cubicBezTo>
                <a:close/>
              </a:path>
            </a:pathLst>
          </a:custGeom>
          <a:solidFill>
            <a:srgbClr val="4A5568">
              <a:alpha val="20000"/>
            </a:srgbClr>
          </a:solidFill>
          <a:ln/>
        </p:spPr>
        <p:txBody>
          <a:bodyPr/>
          <a:lstStyle/>
          <a:p>
            <a:endParaRPr lang="zh-CN" altLang="en-US"/>
          </a:p>
        </p:txBody>
      </p:sp>
      <p:sp>
        <p:nvSpPr>
          <p:cNvPr id="27" name="Shape 25"/>
          <p:cNvSpPr/>
          <p:nvPr/>
        </p:nvSpPr>
        <p:spPr>
          <a:xfrm>
            <a:off x="8282349" y="1400248"/>
            <a:ext cx="43758" cy="3413104"/>
          </a:xfrm>
          <a:custGeom>
            <a:avLst/>
            <a:gdLst/>
            <a:ahLst/>
            <a:cxnLst/>
            <a:rect l="l" t="t" r="r" b="b"/>
            <a:pathLst>
              <a:path w="43758" h="3413104">
                <a:moveTo>
                  <a:pt x="43758" y="0"/>
                </a:moveTo>
                <a:lnTo>
                  <a:pt x="43758" y="0"/>
                </a:lnTo>
                <a:lnTo>
                  <a:pt x="43758" y="3413104"/>
                </a:lnTo>
                <a:lnTo>
                  <a:pt x="43758" y="3413104"/>
                </a:lnTo>
                <a:cubicBezTo>
                  <a:pt x="19591" y="3413104"/>
                  <a:pt x="0" y="3393513"/>
                  <a:pt x="0" y="3369346"/>
                </a:cubicBezTo>
                <a:lnTo>
                  <a:pt x="0" y="43758"/>
                </a:lnTo>
                <a:cubicBezTo>
                  <a:pt x="0" y="19607"/>
                  <a:pt x="19607" y="0"/>
                  <a:pt x="43758" y="0"/>
                </a:cubicBezTo>
                <a:close/>
              </a:path>
            </a:pathLst>
          </a:custGeom>
          <a:solidFill>
            <a:srgbClr val="D69E2E"/>
          </a:solidFill>
          <a:ln/>
        </p:spPr>
        <p:txBody>
          <a:bodyPr/>
          <a:lstStyle/>
          <a:p>
            <a:endParaRPr lang="zh-CN" altLang="en-US"/>
          </a:p>
        </p:txBody>
      </p:sp>
      <p:sp>
        <p:nvSpPr>
          <p:cNvPr id="28" name="Text 26"/>
          <p:cNvSpPr/>
          <p:nvPr/>
        </p:nvSpPr>
        <p:spPr>
          <a:xfrm>
            <a:off x="8479258" y="1575279"/>
            <a:ext cx="7274724" cy="306304"/>
          </a:xfrm>
          <a:prstGeom prst="rect">
            <a:avLst/>
          </a:prstGeom>
          <a:noFill/>
          <a:ln/>
        </p:spPr>
        <p:txBody>
          <a:bodyPr wrap="square" lIns="0" tIns="0" rIns="0" bIns="0" rtlCol="0" anchor="ctr"/>
          <a:lstStyle/>
          <a:p>
            <a:pPr>
              <a:lnSpc>
                <a:spcPct val="120000"/>
              </a:lnSpc>
            </a:pPr>
            <a:r>
              <a:rPr lang="en-US" sz="1723" b="1" dirty="0">
                <a:solidFill>
                  <a:srgbClr val="D69E2E"/>
                </a:solidFill>
                <a:latin typeface="MiSans" pitchFamily="34" charset="0"/>
                <a:ea typeface="MiSans" pitchFamily="34" charset="-122"/>
                <a:cs typeface="MiSans" pitchFamily="34" charset="-120"/>
              </a:rPr>
              <a:t>偏移量重置策略</a:t>
            </a:r>
            <a:endParaRPr lang="en-US" sz="1600" dirty="0"/>
          </a:p>
        </p:txBody>
      </p:sp>
      <p:sp>
        <p:nvSpPr>
          <p:cNvPr id="29" name="Shape 27"/>
          <p:cNvSpPr/>
          <p:nvPr/>
        </p:nvSpPr>
        <p:spPr>
          <a:xfrm>
            <a:off x="8479258" y="2012856"/>
            <a:ext cx="7165330" cy="787639"/>
          </a:xfrm>
          <a:custGeom>
            <a:avLst/>
            <a:gdLst/>
            <a:ahLst/>
            <a:cxnLst/>
            <a:rect l="l" t="t" r="r" b="b"/>
            <a:pathLst>
              <a:path w="7165330" h="787639">
                <a:moveTo>
                  <a:pt x="43761" y="0"/>
                </a:moveTo>
                <a:lnTo>
                  <a:pt x="7121569" y="0"/>
                </a:lnTo>
                <a:cubicBezTo>
                  <a:pt x="7145737" y="0"/>
                  <a:pt x="7165330" y="19593"/>
                  <a:pt x="7165330" y="43761"/>
                </a:cubicBezTo>
                <a:lnTo>
                  <a:pt x="7165330" y="743878"/>
                </a:lnTo>
                <a:cubicBezTo>
                  <a:pt x="7165330" y="768047"/>
                  <a:pt x="7145737" y="787639"/>
                  <a:pt x="7121569" y="787639"/>
                </a:cubicBezTo>
                <a:lnTo>
                  <a:pt x="43761" y="787639"/>
                </a:lnTo>
                <a:cubicBezTo>
                  <a:pt x="19593" y="787639"/>
                  <a:pt x="0" y="768047"/>
                  <a:pt x="0" y="743878"/>
                </a:cubicBezTo>
                <a:lnTo>
                  <a:pt x="0" y="43761"/>
                </a:lnTo>
                <a:cubicBezTo>
                  <a:pt x="0" y="19593"/>
                  <a:pt x="19593" y="0"/>
                  <a:pt x="43761" y="0"/>
                </a:cubicBezTo>
                <a:close/>
              </a:path>
            </a:pathLst>
          </a:custGeom>
          <a:solidFill>
            <a:srgbClr val="1A1D21">
              <a:alpha val="60000"/>
            </a:srgbClr>
          </a:solidFill>
          <a:ln/>
        </p:spPr>
        <p:txBody>
          <a:bodyPr/>
          <a:lstStyle/>
          <a:p>
            <a:endParaRPr lang="zh-CN" altLang="en-US"/>
          </a:p>
        </p:txBody>
      </p:sp>
      <p:sp>
        <p:nvSpPr>
          <p:cNvPr id="30" name="Text 28"/>
          <p:cNvSpPr/>
          <p:nvPr/>
        </p:nvSpPr>
        <p:spPr>
          <a:xfrm>
            <a:off x="8610532" y="2144129"/>
            <a:ext cx="667306" cy="262546"/>
          </a:xfrm>
          <a:prstGeom prst="rect">
            <a:avLst/>
          </a:prstGeom>
          <a:noFill/>
          <a:ln/>
        </p:spPr>
        <p:txBody>
          <a:bodyPr wrap="square" lIns="0" tIns="0" rIns="0" bIns="0" rtlCol="0" anchor="ctr"/>
          <a:lstStyle/>
          <a:p>
            <a:pPr>
              <a:lnSpc>
                <a:spcPct val="130000"/>
              </a:lnSpc>
            </a:pPr>
            <a:r>
              <a:rPr lang="en-US" sz="1378" b="1" dirty="0">
                <a:solidFill>
                  <a:srgbClr val="E2E8F0"/>
                </a:solidFill>
                <a:latin typeface="MiSans" pitchFamily="34" charset="0"/>
                <a:ea typeface="MiSans" pitchFamily="34" charset="-122"/>
                <a:cs typeface="MiSans" pitchFamily="34" charset="-120"/>
              </a:rPr>
              <a:t>earliest</a:t>
            </a:r>
            <a:endParaRPr lang="en-US" sz="1600" dirty="0"/>
          </a:p>
        </p:txBody>
      </p:sp>
      <p:sp>
        <p:nvSpPr>
          <p:cNvPr id="31" name="Shape 29"/>
          <p:cNvSpPr/>
          <p:nvPr/>
        </p:nvSpPr>
        <p:spPr>
          <a:xfrm>
            <a:off x="15076934" y="2144129"/>
            <a:ext cx="437577" cy="262546"/>
          </a:xfrm>
          <a:custGeom>
            <a:avLst/>
            <a:gdLst/>
            <a:ahLst/>
            <a:cxnLst/>
            <a:rect l="l" t="t" r="r" b="b"/>
            <a:pathLst>
              <a:path w="437577" h="262546">
                <a:moveTo>
                  <a:pt x="43759" y="0"/>
                </a:moveTo>
                <a:lnTo>
                  <a:pt x="393819" y="0"/>
                </a:lnTo>
                <a:cubicBezTo>
                  <a:pt x="417986" y="0"/>
                  <a:pt x="437577" y="19591"/>
                  <a:pt x="437577" y="43759"/>
                </a:cubicBezTo>
                <a:lnTo>
                  <a:pt x="437577" y="218788"/>
                </a:lnTo>
                <a:cubicBezTo>
                  <a:pt x="437577" y="242955"/>
                  <a:pt x="417986" y="262546"/>
                  <a:pt x="393819" y="262546"/>
                </a:cubicBezTo>
                <a:lnTo>
                  <a:pt x="43759" y="262546"/>
                </a:lnTo>
                <a:cubicBezTo>
                  <a:pt x="19591" y="262546"/>
                  <a:pt x="0" y="242955"/>
                  <a:pt x="0" y="218788"/>
                </a:cubicBezTo>
                <a:lnTo>
                  <a:pt x="0" y="43759"/>
                </a:lnTo>
                <a:cubicBezTo>
                  <a:pt x="0" y="19591"/>
                  <a:pt x="19591" y="0"/>
                  <a:pt x="43759" y="0"/>
                </a:cubicBezTo>
                <a:close/>
              </a:path>
            </a:pathLst>
          </a:custGeom>
          <a:solidFill>
            <a:srgbClr val="D69E2E">
              <a:alpha val="30196"/>
            </a:srgbClr>
          </a:solidFill>
          <a:ln/>
        </p:spPr>
        <p:txBody>
          <a:bodyPr/>
          <a:lstStyle/>
          <a:p>
            <a:endParaRPr lang="zh-CN" altLang="en-US"/>
          </a:p>
        </p:txBody>
      </p:sp>
      <p:sp>
        <p:nvSpPr>
          <p:cNvPr id="32" name="Text 30"/>
          <p:cNvSpPr/>
          <p:nvPr/>
        </p:nvSpPr>
        <p:spPr>
          <a:xfrm>
            <a:off x="15076934" y="2144129"/>
            <a:ext cx="503214" cy="262546"/>
          </a:xfrm>
          <a:prstGeom prst="rect">
            <a:avLst/>
          </a:prstGeom>
          <a:noFill/>
          <a:ln/>
        </p:spPr>
        <p:txBody>
          <a:bodyPr wrap="square" lIns="87515" tIns="43758" rIns="87515" bIns="43758" rtlCol="0" anchor="ctr"/>
          <a:lstStyle/>
          <a:p>
            <a:pPr>
              <a:lnSpc>
                <a:spcPct val="110000"/>
              </a:lnSpc>
            </a:pPr>
            <a:r>
              <a:rPr lang="en-US" sz="1034" dirty="0">
                <a:solidFill>
                  <a:srgbClr val="E2E8F0">
                    <a:alpha val="80000"/>
                  </a:srgbClr>
                </a:solidFill>
                <a:latin typeface="MiSans" pitchFamily="34" charset="0"/>
                <a:ea typeface="MiSans" pitchFamily="34" charset="-122"/>
                <a:cs typeface="MiSans" pitchFamily="34" charset="-120"/>
              </a:rPr>
              <a:t>最早</a:t>
            </a:r>
            <a:endParaRPr lang="en-US" sz="1600" dirty="0"/>
          </a:p>
        </p:txBody>
      </p:sp>
      <p:sp>
        <p:nvSpPr>
          <p:cNvPr id="33" name="Text 31"/>
          <p:cNvSpPr/>
          <p:nvPr/>
        </p:nvSpPr>
        <p:spPr>
          <a:xfrm>
            <a:off x="8610532" y="2450433"/>
            <a:ext cx="6979359"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从最早的消息开始消费，即从起始偏移量开始</a:t>
            </a:r>
            <a:endParaRPr lang="en-US" sz="1600" dirty="0"/>
          </a:p>
        </p:txBody>
      </p:sp>
      <p:sp>
        <p:nvSpPr>
          <p:cNvPr id="34" name="Shape 32"/>
          <p:cNvSpPr/>
          <p:nvPr/>
        </p:nvSpPr>
        <p:spPr>
          <a:xfrm>
            <a:off x="8479258" y="2931769"/>
            <a:ext cx="7165330" cy="787639"/>
          </a:xfrm>
          <a:custGeom>
            <a:avLst/>
            <a:gdLst/>
            <a:ahLst/>
            <a:cxnLst/>
            <a:rect l="l" t="t" r="r" b="b"/>
            <a:pathLst>
              <a:path w="7165330" h="787639">
                <a:moveTo>
                  <a:pt x="43761" y="0"/>
                </a:moveTo>
                <a:lnTo>
                  <a:pt x="7121569" y="0"/>
                </a:lnTo>
                <a:cubicBezTo>
                  <a:pt x="7145737" y="0"/>
                  <a:pt x="7165330" y="19593"/>
                  <a:pt x="7165330" y="43761"/>
                </a:cubicBezTo>
                <a:lnTo>
                  <a:pt x="7165330" y="743878"/>
                </a:lnTo>
                <a:cubicBezTo>
                  <a:pt x="7165330" y="768047"/>
                  <a:pt x="7145737" y="787639"/>
                  <a:pt x="7121569" y="787639"/>
                </a:cubicBezTo>
                <a:lnTo>
                  <a:pt x="43761" y="787639"/>
                </a:lnTo>
                <a:cubicBezTo>
                  <a:pt x="19593" y="787639"/>
                  <a:pt x="0" y="768047"/>
                  <a:pt x="0" y="743878"/>
                </a:cubicBezTo>
                <a:lnTo>
                  <a:pt x="0" y="43761"/>
                </a:lnTo>
                <a:cubicBezTo>
                  <a:pt x="0" y="19593"/>
                  <a:pt x="19593" y="0"/>
                  <a:pt x="43761" y="0"/>
                </a:cubicBezTo>
                <a:close/>
              </a:path>
            </a:pathLst>
          </a:custGeom>
          <a:solidFill>
            <a:srgbClr val="1A1D21">
              <a:alpha val="60000"/>
            </a:srgbClr>
          </a:solidFill>
          <a:ln/>
        </p:spPr>
        <p:txBody>
          <a:bodyPr/>
          <a:lstStyle/>
          <a:p>
            <a:endParaRPr lang="zh-CN" altLang="en-US"/>
          </a:p>
        </p:txBody>
      </p:sp>
      <p:sp>
        <p:nvSpPr>
          <p:cNvPr id="35" name="Text 33"/>
          <p:cNvSpPr/>
          <p:nvPr/>
        </p:nvSpPr>
        <p:spPr>
          <a:xfrm>
            <a:off x="8610532" y="3063042"/>
            <a:ext cx="525093" cy="262546"/>
          </a:xfrm>
          <a:prstGeom prst="rect">
            <a:avLst/>
          </a:prstGeom>
          <a:noFill/>
          <a:ln/>
        </p:spPr>
        <p:txBody>
          <a:bodyPr wrap="square" lIns="0" tIns="0" rIns="0" bIns="0" rtlCol="0" anchor="ctr"/>
          <a:lstStyle/>
          <a:p>
            <a:pPr>
              <a:lnSpc>
                <a:spcPct val="130000"/>
              </a:lnSpc>
            </a:pPr>
            <a:r>
              <a:rPr lang="en-US" sz="1378" b="1" dirty="0">
                <a:solidFill>
                  <a:srgbClr val="E2E8F0"/>
                </a:solidFill>
                <a:latin typeface="MiSans" pitchFamily="34" charset="0"/>
                <a:ea typeface="MiSans" pitchFamily="34" charset="-122"/>
                <a:cs typeface="MiSans" pitchFamily="34" charset="-120"/>
              </a:rPr>
              <a:t>latest</a:t>
            </a:r>
            <a:endParaRPr lang="en-US" sz="1600" dirty="0"/>
          </a:p>
        </p:txBody>
      </p:sp>
      <p:sp>
        <p:nvSpPr>
          <p:cNvPr id="36" name="Shape 34"/>
          <p:cNvSpPr/>
          <p:nvPr/>
        </p:nvSpPr>
        <p:spPr>
          <a:xfrm>
            <a:off x="15076934" y="3063042"/>
            <a:ext cx="437577" cy="262546"/>
          </a:xfrm>
          <a:custGeom>
            <a:avLst/>
            <a:gdLst/>
            <a:ahLst/>
            <a:cxnLst/>
            <a:rect l="l" t="t" r="r" b="b"/>
            <a:pathLst>
              <a:path w="437577" h="262546">
                <a:moveTo>
                  <a:pt x="43759" y="0"/>
                </a:moveTo>
                <a:lnTo>
                  <a:pt x="393819" y="0"/>
                </a:lnTo>
                <a:cubicBezTo>
                  <a:pt x="417986" y="0"/>
                  <a:pt x="437577" y="19591"/>
                  <a:pt x="437577" y="43759"/>
                </a:cubicBezTo>
                <a:lnTo>
                  <a:pt x="437577" y="218788"/>
                </a:lnTo>
                <a:cubicBezTo>
                  <a:pt x="437577" y="242955"/>
                  <a:pt x="417986" y="262546"/>
                  <a:pt x="393819" y="262546"/>
                </a:cubicBezTo>
                <a:lnTo>
                  <a:pt x="43759" y="262546"/>
                </a:lnTo>
                <a:cubicBezTo>
                  <a:pt x="19591" y="262546"/>
                  <a:pt x="0" y="242955"/>
                  <a:pt x="0" y="218788"/>
                </a:cubicBezTo>
                <a:lnTo>
                  <a:pt x="0" y="43759"/>
                </a:lnTo>
                <a:cubicBezTo>
                  <a:pt x="0" y="19591"/>
                  <a:pt x="19591" y="0"/>
                  <a:pt x="43759" y="0"/>
                </a:cubicBezTo>
                <a:close/>
              </a:path>
            </a:pathLst>
          </a:custGeom>
          <a:solidFill>
            <a:srgbClr val="718096">
              <a:alpha val="30196"/>
            </a:srgbClr>
          </a:solidFill>
          <a:ln/>
        </p:spPr>
        <p:txBody>
          <a:bodyPr/>
          <a:lstStyle/>
          <a:p>
            <a:endParaRPr lang="zh-CN" altLang="en-US"/>
          </a:p>
        </p:txBody>
      </p:sp>
      <p:sp>
        <p:nvSpPr>
          <p:cNvPr id="37" name="Text 35"/>
          <p:cNvSpPr/>
          <p:nvPr/>
        </p:nvSpPr>
        <p:spPr>
          <a:xfrm>
            <a:off x="15076934" y="3063042"/>
            <a:ext cx="503214" cy="262546"/>
          </a:xfrm>
          <a:prstGeom prst="rect">
            <a:avLst/>
          </a:prstGeom>
          <a:noFill/>
          <a:ln/>
        </p:spPr>
        <p:txBody>
          <a:bodyPr wrap="square" lIns="87515" tIns="43758" rIns="87515" bIns="43758" rtlCol="0" anchor="ctr"/>
          <a:lstStyle/>
          <a:p>
            <a:pPr>
              <a:lnSpc>
                <a:spcPct val="110000"/>
              </a:lnSpc>
            </a:pPr>
            <a:r>
              <a:rPr lang="en-US" sz="1034" dirty="0">
                <a:solidFill>
                  <a:srgbClr val="E2E8F0">
                    <a:alpha val="60000"/>
                  </a:srgbClr>
                </a:solidFill>
                <a:latin typeface="MiSans" pitchFamily="34" charset="0"/>
                <a:ea typeface="MiSans" pitchFamily="34" charset="-122"/>
                <a:cs typeface="MiSans" pitchFamily="34" charset="-120"/>
              </a:rPr>
              <a:t>最新</a:t>
            </a:r>
            <a:endParaRPr lang="en-US" sz="1600" dirty="0"/>
          </a:p>
        </p:txBody>
      </p:sp>
      <p:sp>
        <p:nvSpPr>
          <p:cNvPr id="38" name="Text 36"/>
          <p:cNvSpPr/>
          <p:nvPr/>
        </p:nvSpPr>
        <p:spPr>
          <a:xfrm>
            <a:off x="8610532" y="3369346"/>
            <a:ext cx="6979359"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从最新的消息开始消费，即从末尾偏移量开始</a:t>
            </a:r>
            <a:endParaRPr lang="en-US" sz="1600" dirty="0"/>
          </a:p>
        </p:txBody>
      </p:sp>
      <p:sp>
        <p:nvSpPr>
          <p:cNvPr id="39" name="Shape 37"/>
          <p:cNvSpPr/>
          <p:nvPr/>
        </p:nvSpPr>
        <p:spPr>
          <a:xfrm>
            <a:off x="8479258" y="3850681"/>
            <a:ext cx="7165330" cy="787639"/>
          </a:xfrm>
          <a:custGeom>
            <a:avLst/>
            <a:gdLst/>
            <a:ahLst/>
            <a:cxnLst/>
            <a:rect l="l" t="t" r="r" b="b"/>
            <a:pathLst>
              <a:path w="7165330" h="787639">
                <a:moveTo>
                  <a:pt x="43761" y="0"/>
                </a:moveTo>
                <a:lnTo>
                  <a:pt x="7121569" y="0"/>
                </a:lnTo>
                <a:cubicBezTo>
                  <a:pt x="7145737" y="0"/>
                  <a:pt x="7165330" y="19593"/>
                  <a:pt x="7165330" y="43761"/>
                </a:cubicBezTo>
                <a:lnTo>
                  <a:pt x="7165330" y="743878"/>
                </a:lnTo>
                <a:cubicBezTo>
                  <a:pt x="7165330" y="768047"/>
                  <a:pt x="7145737" y="787639"/>
                  <a:pt x="7121569" y="787639"/>
                </a:cubicBezTo>
                <a:lnTo>
                  <a:pt x="43761" y="787639"/>
                </a:lnTo>
                <a:cubicBezTo>
                  <a:pt x="19593" y="787639"/>
                  <a:pt x="0" y="768047"/>
                  <a:pt x="0" y="743878"/>
                </a:cubicBezTo>
                <a:lnTo>
                  <a:pt x="0" y="43761"/>
                </a:lnTo>
                <a:cubicBezTo>
                  <a:pt x="0" y="19593"/>
                  <a:pt x="19593" y="0"/>
                  <a:pt x="43761" y="0"/>
                </a:cubicBezTo>
                <a:close/>
              </a:path>
            </a:pathLst>
          </a:custGeom>
          <a:solidFill>
            <a:srgbClr val="1A1D21">
              <a:alpha val="60000"/>
            </a:srgbClr>
          </a:solidFill>
          <a:ln/>
        </p:spPr>
        <p:txBody>
          <a:bodyPr/>
          <a:lstStyle/>
          <a:p>
            <a:endParaRPr lang="zh-CN" altLang="en-US"/>
          </a:p>
        </p:txBody>
      </p:sp>
      <p:sp>
        <p:nvSpPr>
          <p:cNvPr id="40" name="Text 38"/>
          <p:cNvSpPr/>
          <p:nvPr/>
        </p:nvSpPr>
        <p:spPr>
          <a:xfrm>
            <a:off x="8610532" y="3981954"/>
            <a:ext cx="492275" cy="262546"/>
          </a:xfrm>
          <a:prstGeom prst="rect">
            <a:avLst/>
          </a:prstGeom>
          <a:noFill/>
          <a:ln/>
        </p:spPr>
        <p:txBody>
          <a:bodyPr wrap="square" lIns="0" tIns="0" rIns="0" bIns="0" rtlCol="0" anchor="ctr"/>
          <a:lstStyle/>
          <a:p>
            <a:pPr>
              <a:lnSpc>
                <a:spcPct val="130000"/>
              </a:lnSpc>
            </a:pPr>
            <a:r>
              <a:rPr lang="en-US" sz="1378" b="1" dirty="0">
                <a:solidFill>
                  <a:srgbClr val="E2E8F0"/>
                </a:solidFill>
                <a:latin typeface="MiSans" pitchFamily="34" charset="0"/>
                <a:ea typeface="MiSans" pitchFamily="34" charset="-122"/>
                <a:cs typeface="MiSans" pitchFamily="34" charset="-120"/>
              </a:rPr>
              <a:t>none</a:t>
            </a:r>
            <a:endParaRPr lang="en-US" sz="1600" dirty="0"/>
          </a:p>
        </p:txBody>
      </p:sp>
      <p:sp>
        <p:nvSpPr>
          <p:cNvPr id="41" name="Shape 39"/>
          <p:cNvSpPr/>
          <p:nvPr/>
        </p:nvSpPr>
        <p:spPr>
          <a:xfrm>
            <a:off x="15208207" y="3981954"/>
            <a:ext cx="306304" cy="262546"/>
          </a:xfrm>
          <a:custGeom>
            <a:avLst/>
            <a:gdLst/>
            <a:ahLst/>
            <a:cxnLst/>
            <a:rect l="l" t="t" r="r" b="b"/>
            <a:pathLst>
              <a:path w="306304" h="262546">
                <a:moveTo>
                  <a:pt x="43759" y="0"/>
                </a:moveTo>
                <a:lnTo>
                  <a:pt x="262546" y="0"/>
                </a:lnTo>
                <a:cubicBezTo>
                  <a:pt x="286713" y="0"/>
                  <a:pt x="306304" y="19591"/>
                  <a:pt x="306304" y="43759"/>
                </a:cubicBezTo>
                <a:lnTo>
                  <a:pt x="306304" y="218788"/>
                </a:lnTo>
                <a:cubicBezTo>
                  <a:pt x="306304" y="242955"/>
                  <a:pt x="286713" y="262546"/>
                  <a:pt x="262546" y="262546"/>
                </a:cubicBezTo>
                <a:lnTo>
                  <a:pt x="43759" y="262546"/>
                </a:lnTo>
                <a:cubicBezTo>
                  <a:pt x="19591" y="262546"/>
                  <a:pt x="0" y="242955"/>
                  <a:pt x="0" y="218788"/>
                </a:cubicBezTo>
                <a:lnTo>
                  <a:pt x="0" y="43759"/>
                </a:lnTo>
                <a:cubicBezTo>
                  <a:pt x="0" y="19591"/>
                  <a:pt x="19591" y="0"/>
                  <a:pt x="43759" y="0"/>
                </a:cubicBezTo>
                <a:close/>
              </a:path>
            </a:pathLst>
          </a:custGeom>
          <a:solidFill>
            <a:srgbClr val="718096">
              <a:alpha val="30196"/>
            </a:srgbClr>
          </a:solidFill>
          <a:ln/>
        </p:spPr>
        <p:txBody>
          <a:bodyPr/>
          <a:lstStyle/>
          <a:p>
            <a:endParaRPr lang="zh-CN" altLang="en-US"/>
          </a:p>
        </p:txBody>
      </p:sp>
      <p:sp>
        <p:nvSpPr>
          <p:cNvPr id="42" name="Text 40"/>
          <p:cNvSpPr/>
          <p:nvPr/>
        </p:nvSpPr>
        <p:spPr>
          <a:xfrm>
            <a:off x="15208207" y="3981954"/>
            <a:ext cx="371941" cy="262546"/>
          </a:xfrm>
          <a:prstGeom prst="rect">
            <a:avLst/>
          </a:prstGeom>
          <a:noFill/>
          <a:ln/>
        </p:spPr>
        <p:txBody>
          <a:bodyPr wrap="square" lIns="87515" tIns="43758" rIns="87515" bIns="43758" rtlCol="0" anchor="ctr"/>
          <a:lstStyle/>
          <a:p>
            <a:pPr>
              <a:lnSpc>
                <a:spcPct val="110000"/>
              </a:lnSpc>
            </a:pPr>
            <a:r>
              <a:rPr lang="en-US" sz="1034" dirty="0">
                <a:solidFill>
                  <a:srgbClr val="E2E8F0">
                    <a:alpha val="60000"/>
                  </a:srgbClr>
                </a:solidFill>
                <a:latin typeface="MiSans" pitchFamily="34" charset="0"/>
                <a:ea typeface="MiSans" pitchFamily="34" charset="-122"/>
                <a:cs typeface="MiSans" pitchFamily="34" charset="-120"/>
              </a:rPr>
              <a:t>无</a:t>
            </a:r>
            <a:endParaRPr lang="en-US" sz="1600" dirty="0"/>
          </a:p>
        </p:txBody>
      </p:sp>
      <p:sp>
        <p:nvSpPr>
          <p:cNvPr id="43" name="Text 41"/>
          <p:cNvSpPr/>
          <p:nvPr/>
        </p:nvSpPr>
        <p:spPr>
          <a:xfrm>
            <a:off x="8610532" y="4288258"/>
            <a:ext cx="6979359" cy="218789"/>
          </a:xfrm>
          <a:prstGeom prst="rect">
            <a:avLst/>
          </a:prstGeom>
          <a:noFill/>
          <a:ln/>
        </p:spPr>
        <p:txBody>
          <a:bodyPr wrap="square" lIns="0" tIns="0" rIns="0" bIns="0" rtlCol="0" anchor="ctr"/>
          <a:lstStyle/>
          <a:p>
            <a:pPr>
              <a:lnSpc>
                <a:spcPct val="120000"/>
              </a:lnSpc>
            </a:pPr>
            <a:r>
              <a:rPr lang="en-US" sz="1206" dirty="0">
                <a:solidFill>
                  <a:srgbClr val="E2E8F0">
                    <a:alpha val="80000"/>
                  </a:srgbClr>
                </a:solidFill>
                <a:latin typeface="MiSans" pitchFamily="34" charset="0"/>
                <a:ea typeface="MiSans" pitchFamily="34" charset="-122"/>
                <a:cs typeface="MiSans" pitchFamily="34" charset="-120"/>
              </a:rPr>
              <a:t>如果没有偏移量则抛出异常，需要手动指定偏移量</a:t>
            </a:r>
            <a:endParaRPr lang="en-US" sz="1600" dirty="0"/>
          </a:p>
        </p:txBody>
      </p:sp>
      <p:sp>
        <p:nvSpPr>
          <p:cNvPr id="44" name="Shape 42"/>
          <p:cNvSpPr/>
          <p:nvPr/>
        </p:nvSpPr>
        <p:spPr>
          <a:xfrm>
            <a:off x="8282349" y="4944624"/>
            <a:ext cx="7537271" cy="2275402"/>
          </a:xfrm>
          <a:custGeom>
            <a:avLst/>
            <a:gdLst/>
            <a:ahLst/>
            <a:cxnLst/>
            <a:rect l="l" t="t" r="r" b="b"/>
            <a:pathLst>
              <a:path w="7537271" h="2275402">
                <a:moveTo>
                  <a:pt x="43758" y="0"/>
                </a:moveTo>
                <a:lnTo>
                  <a:pt x="7449759" y="0"/>
                </a:lnTo>
                <a:cubicBezTo>
                  <a:pt x="7498090" y="0"/>
                  <a:pt x="7537271" y="39180"/>
                  <a:pt x="7537271" y="87512"/>
                </a:cubicBezTo>
                <a:lnTo>
                  <a:pt x="7537271" y="2187890"/>
                </a:lnTo>
                <a:cubicBezTo>
                  <a:pt x="7537271" y="2236222"/>
                  <a:pt x="7498090" y="2275402"/>
                  <a:pt x="7449759" y="2275402"/>
                </a:cubicBezTo>
                <a:lnTo>
                  <a:pt x="43758" y="2275402"/>
                </a:lnTo>
                <a:cubicBezTo>
                  <a:pt x="19591" y="2275402"/>
                  <a:pt x="0" y="2255811"/>
                  <a:pt x="0" y="2231645"/>
                </a:cubicBezTo>
                <a:lnTo>
                  <a:pt x="0" y="43758"/>
                </a:lnTo>
                <a:cubicBezTo>
                  <a:pt x="0" y="19607"/>
                  <a:pt x="19607" y="0"/>
                  <a:pt x="43758" y="0"/>
                </a:cubicBezTo>
                <a:close/>
              </a:path>
            </a:pathLst>
          </a:custGeom>
          <a:solidFill>
            <a:srgbClr val="4A5568">
              <a:alpha val="20000"/>
            </a:srgbClr>
          </a:solidFill>
          <a:ln/>
        </p:spPr>
        <p:txBody>
          <a:bodyPr/>
          <a:lstStyle/>
          <a:p>
            <a:endParaRPr lang="zh-CN" altLang="en-US"/>
          </a:p>
        </p:txBody>
      </p:sp>
      <p:sp>
        <p:nvSpPr>
          <p:cNvPr id="45" name="Shape 43"/>
          <p:cNvSpPr/>
          <p:nvPr/>
        </p:nvSpPr>
        <p:spPr>
          <a:xfrm>
            <a:off x="8282349" y="4944624"/>
            <a:ext cx="43758" cy="2275402"/>
          </a:xfrm>
          <a:custGeom>
            <a:avLst/>
            <a:gdLst/>
            <a:ahLst/>
            <a:cxnLst/>
            <a:rect l="l" t="t" r="r" b="b"/>
            <a:pathLst>
              <a:path w="43758" h="2275402">
                <a:moveTo>
                  <a:pt x="43758" y="0"/>
                </a:moveTo>
                <a:lnTo>
                  <a:pt x="43758" y="0"/>
                </a:lnTo>
                <a:lnTo>
                  <a:pt x="43758" y="2275402"/>
                </a:lnTo>
                <a:lnTo>
                  <a:pt x="43758" y="2275402"/>
                </a:lnTo>
                <a:cubicBezTo>
                  <a:pt x="19591" y="2275402"/>
                  <a:pt x="0" y="2255811"/>
                  <a:pt x="0" y="2231645"/>
                </a:cubicBezTo>
                <a:lnTo>
                  <a:pt x="0" y="43758"/>
                </a:lnTo>
                <a:cubicBezTo>
                  <a:pt x="0" y="19607"/>
                  <a:pt x="19607" y="0"/>
                  <a:pt x="43758" y="0"/>
                </a:cubicBezTo>
                <a:close/>
              </a:path>
            </a:pathLst>
          </a:custGeom>
          <a:solidFill>
            <a:srgbClr val="718096"/>
          </a:solidFill>
          <a:ln/>
        </p:spPr>
        <p:txBody>
          <a:bodyPr/>
          <a:lstStyle/>
          <a:p>
            <a:endParaRPr lang="zh-CN" altLang="en-US"/>
          </a:p>
        </p:txBody>
      </p:sp>
      <p:sp>
        <p:nvSpPr>
          <p:cNvPr id="46" name="Text 44"/>
          <p:cNvSpPr/>
          <p:nvPr/>
        </p:nvSpPr>
        <p:spPr>
          <a:xfrm>
            <a:off x="8479258" y="5119655"/>
            <a:ext cx="7274724" cy="306304"/>
          </a:xfrm>
          <a:prstGeom prst="rect">
            <a:avLst/>
          </a:prstGeom>
          <a:noFill/>
          <a:ln/>
        </p:spPr>
        <p:txBody>
          <a:bodyPr wrap="square" lIns="0" tIns="0" rIns="0" bIns="0" rtlCol="0" anchor="ctr"/>
          <a:lstStyle/>
          <a:p>
            <a:pPr>
              <a:lnSpc>
                <a:spcPct val="120000"/>
              </a:lnSpc>
            </a:pPr>
            <a:r>
              <a:rPr lang="en-US" sz="1723" b="1" dirty="0">
                <a:solidFill>
                  <a:srgbClr val="718096"/>
                </a:solidFill>
                <a:latin typeface="MiSans" pitchFamily="34" charset="0"/>
                <a:ea typeface="MiSans" pitchFamily="34" charset="-122"/>
                <a:cs typeface="MiSans" pitchFamily="34" charset="-120"/>
              </a:rPr>
              <a:t>最佳实践配置</a:t>
            </a:r>
            <a:endParaRPr lang="en-US" sz="1600" dirty="0"/>
          </a:p>
        </p:txBody>
      </p:sp>
      <p:sp>
        <p:nvSpPr>
          <p:cNvPr id="47" name="Shape 45"/>
          <p:cNvSpPr/>
          <p:nvPr/>
        </p:nvSpPr>
        <p:spPr>
          <a:xfrm>
            <a:off x="8479258" y="5557233"/>
            <a:ext cx="7165330" cy="1487763"/>
          </a:xfrm>
          <a:custGeom>
            <a:avLst/>
            <a:gdLst/>
            <a:ahLst/>
            <a:cxnLst/>
            <a:rect l="l" t="t" r="r" b="b"/>
            <a:pathLst>
              <a:path w="7165330" h="1487763">
                <a:moveTo>
                  <a:pt x="43755" y="0"/>
                </a:moveTo>
                <a:lnTo>
                  <a:pt x="7121575" y="0"/>
                </a:lnTo>
                <a:cubicBezTo>
                  <a:pt x="7145740" y="0"/>
                  <a:pt x="7165330" y="19590"/>
                  <a:pt x="7165330" y="43755"/>
                </a:cubicBezTo>
                <a:lnTo>
                  <a:pt x="7165330" y="1444008"/>
                </a:lnTo>
                <a:cubicBezTo>
                  <a:pt x="7165330" y="1468173"/>
                  <a:pt x="7145740" y="1487763"/>
                  <a:pt x="7121575" y="1487763"/>
                </a:cubicBezTo>
                <a:lnTo>
                  <a:pt x="43755" y="1487763"/>
                </a:lnTo>
                <a:cubicBezTo>
                  <a:pt x="19590" y="1487763"/>
                  <a:pt x="0" y="1468173"/>
                  <a:pt x="0" y="1444008"/>
                </a:cubicBezTo>
                <a:lnTo>
                  <a:pt x="0" y="43755"/>
                </a:lnTo>
                <a:cubicBezTo>
                  <a:pt x="0" y="19606"/>
                  <a:pt x="19606" y="0"/>
                  <a:pt x="43755" y="0"/>
                </a:cubicBezTo>
                <a:close/>
              </a:path>
            </a:pathLst>
          </a:custGeom>
          <a:solidFill>
            <a:srgbClr val="1A1D21">
              <a:alpha val="60000"/>
            </a:srgbClr>
          </a:solidFill>
          <a:ln/>
        </p:spPr>
        <p:txBody>
          <a:bodyPr/>
          <a:lstStyle/>
          <a:p>
            <a:endParaRPr lang="zh-CN" altLang="en-US"/>
          </a:p>
        </p:txBody>
      </p:sp>
      <p:sp>
        <p:nvSpPr>
          <p:cNvPr id="48" name="Text 46"/>
          <p:cNvSpPr/>
          <p:nvPr/>
        </p:nvSpPr>
        <p:spPr>
          <a:xfrm>
            <a:off x="8610532" y="5688506"/>
            <a:ext cx="6968420" cy="1225217"/>
          </a:xfrm>
          <a:prstGeom prst="rect">
            <a:avLst/>
          </a:prstGeom>
          <a:noFill/>
          <a:ln/>
        </p:spPr>
        <p:txBody>
          <a:bodyPr wrap="square" lIns="0" tIns="0" rIns="0" bIns="0" rtlCol="0" anchor="ctr"/>
          <a:lstStyle/>
          <a:p>
            <a:pPr>
              <a:lnSpc>
                <a:spcPct val="110000"/>
              </a:lnSpc>
            </a:pPr>
            <a:r>
              <a:rPr lang="en-US" sz="1034" dirty="0">
                <a:solidFill>
                  <a:srgbClr val="718096"/>
                </a:solidFill>
                <a:latin typeface="MiSans" pitchFamily="34" charset="0"/>
                <a:ea typeface="MiSans" pitchFamily="34" charset="-122"/>
                <a:cs typeface="MiSans" pitchFamily="34" charset="-120"/>
              </a:rPr>
              <a:t>Properties props = </a:t>
            </a:r>
            <a:r>
              <a:rPr lang="en-US" sz="1034" dirty="0">
                <a:solidFill>
                  <a:srgbClr val="D69E2E"/>
                </a:solidFill>
                <a:latin typeface="MiSans" pitchFamily="34" charset="0"/>
                <a:ea typeface="MiSans" pitchFamily="34" charset="-122"/>
                <a:cs typeface="MiSans" pitchFamily="34" charset="-120"/>
              </a:rPr>
              <a:t>new</a:t>
            </a:r>
            <a:r>
              <a:rPr lang="en-US" sz="1034" dirty="0">
                <a:solidFill>
                  <a:srgbClr val="718096"/>
                </a:solidFill>
                <a:latin typeface="MiSans" pitchFamily="34" charset="0"/>
                <a:ea typeface="MiSans" pitchFamily="34" charset="-122"/>
                <a:cs typeface="MiSans" pitchFamily="34" charset="-120"/>
              </a:rPr>
              <a:t> Properties(); </a:t>
            </a:r>
          </a:p>
          <a:p>
            <a:pPr>
              <a:lnSpc>
                <a:spcPct val="110000"/>
              </a:lnSpc>
            </a:pPr>
            <a:r>
              <a:rPr lang="en-US" sz="1034" dirty="0" err="1">
                <a:solidFill>
                  <a:srgbClr val="718096"/>
                </a:solidFill>
                <a:latin typeface="MiSans" pitchFamily="34" charset="0"/>
                <a:ea typeface="MiSans" pitchFamily="34" charset="-122"/>
                <a:cs typeface="MiSans" pitchFamily="34" charset="-120"/>
              </a:rPr>
              <a:t>props.put</a:t>
            </a:r>
            <a:r>
              <a:rPr lang="en-US" sz="1034" dirty="0">
                <a:solidFill>
                  <a:srgbClr val="718096"/>
                </a:solidFill>
                <a:latin typeface="MiSans" pitchFamily="34" charset="0"/>
                <a:ea typeface="MiSans" pitchFamily="34" charset="-122"/>
                <a:cs typeface="MiSans" pitchFamily="34" charset="-120"/>
              </a:rPr>
              <a:t>(</a:t>
            </a:r>
            <a:r>
              <a:rPr lang="en-US" sz="1034" dirty="0">
                <a:solidFill>
                  <a:srgbClr val="E2E8F0"/>
                </a:solidFill>
                <a:latin typeface="MiSans" pitchFamily="34" charset="0"/>
                <a:ea typeface="MiSans" pitchFamily="34" charset="-122"/>
                <a:cs typeface="MiSans" pitchFamily="34" charset="-120"/>
              </a:rPr>
              <a:t>"bootstrap.servers"</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"localhost:9092"</a:t>
            </a:r>
            <a:r>
              <a:rPr lang="en-US" sz="1034" dirty="0">
                <a:solidFill>
                  <a:srgbClr val="718096"/>
                </a:solidFill>
                <a:latin typeface="MiSans" pitchFamily="34" charset="0"/>
                <a:ea typeface="MiSans" pitchFamily="34" charset="-122"/>
                <a:cs typeface="MiSans" pitchFamily="34" charset="-120"/>
              </a:rPr>
              <a:t>);</a:t>
            </a:r>
          </a:p>
          <a:p>
            <a:pPr>
              <a:lnSpc>
                <a:spcPct val="110000"/>
              </a:lnSpc>
            </a:pPr>
            <a:r>
              <a:rPr lang="en-US" sz="1034" dirty="0">
                <a:solidFill>
                  <a:srgbClr val="718096"/>
                </a:solidFill>
                <a:latin typeface="MiSans" pitchFamily="34" charset="0"/>
                <a:ea typeface="MiSans" pitchFamily="34" charset="-122"/>
                <a:cs typeface="MiSans" pitchFamily="34" charset="-120"/>
              </a:rPr>
              <a:t> props.put(</a:t>
            </a:r>
            <a:r>
              <a:rPr lang="en-US" sz="1034" dirty="0">
                <a:solidFill>
                  <a:srgbClr val="E2E8F0"/>
                </a:solidFill>
                <a:latin typeface="MiSans" pitchFamily="34" charset="0"/>
                <a:ea typeface="MiSans" pitchFamily="34" charset="-122"/>
                <a:cs typeface="MiSans" pitchFamily="34" charset="-120"/>
              </a:rPr>
              <a:t>"group.id"</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"my-application"</a:t>
            </a:r>
            <a:r>
              <a:rPr lang="en-US" sz="1034" dirty="0">
                <a:solidFill>
                  <a:srgbClr val="718096"/>
                </a:solidFill>
                <a:latin typeface="MiSans" pitchFamily="34" charset="0"/>
                <a:ea typeface="MiSans" pitchFamily="34" charset="-122"/>
                <a:cs typeface="MiSans" pitchFamily="34" charset="-120"/>
              </a:rPr>
              <a:t>); </a:t>
            </a:r>
          </a:p>
          <a:p>
            <a:pPr>
              <a:lnSpc>
                <a:spcPct val="110000"/>
              </a:lnSpc>
            </a:pPr>
            <a:r>
              <a:rPr lang="en-US" sz="1034" dirty="0">
                <a:solidFill>
                  <a:srgbClr val="00B050"/>
                </a:solidFill>
                <a:latin typeface="MiSans" pitchFamily="34" charset="0"/>
                <a:ea typeface="MiSans" pitchFamily="34" charset="-122"/>
                <a:cs typeface="MiSans" pitchFamily="34" charset="-120"/>
              </a:rPr>
              <a:t>// </a:t>
            </a:r>
            <a:r>
              <a:rPr lang="en-US" sz="1034" dirty="0" err="1">
                <a:solidFill>
                  <a:srgbClr val="00B050"/>
                </a:solidFill>
                <a:latin typeface="MiSans" pitchFamily="34" charset="0"/>
                <a:ea typeface="MiSans" pitchFamily="34" charset="-122"/>
                <a:cs typeface="MiSans" pitchFamily="34" charset="-120"/>
              </a:rPr>
              <a:t>偏移量配置</a:t>
            </a:r>
            <a:r>
              <a:rPr lang="en-US" sz="1034" dirty="0">
                <a:solidFill>
                  <a:srgbClr val="00B050"/>
                </a:solidFill>
                <a:latin typeface="MiSans" pitchFamily="34" charset="0"/>
                <a:ea typeface="MiSans" pitchFamily="34" charset="-122"/>
                <a:cs typeface="MiSans" pitchFamily="34" charset="-120"/>
              </a:rPr>
              <a:t> </a:t>
            </a:r>
          </a:p>
          <a:p>
            <a:pPr>
              <a:lnSpc>
                <a:spcPct val="110000"/>
              </a:lnSpc>
            </a:pPr>
            <a:r>
              <a:rPr lang="en-US" sz="1034" dirty="0" err="1">
                <a:solidFill>
                  <a:srgbClr val="718096"/>
                </a:solidFill>
                <a:latin typeface="MiSans" pitchFamily="34" charset="0"/>
                <a:ea typeface="MiSans" pitchFamily="34" charset="-122"/>
                <a:cs typeface="MiSans" pitchFamily="34" charset="-120"/>
              </a:rPr>
              <a:t>props.put</a:t>
            </a:r>
            <a:r>
              <a:rPr lang="en-US" sz="1034" dirty="0">
                <a:solidFill>
                  <a:srgbClr val="718096"/>
                </a:solidFill>
                <a:latin typeface="MiSans" pitchFamily="34" charset="0"/>
                <a:ea typeface="MiSans" pitchFamily="34" charset="-122"/>
                <a:cs typeface="MiSans" pitchFamily="34" charset="-120"/>
              </a:rPr>
              <a:t>(</a:t>
            </a:r>
            <a:r>
              <a:rPr lang="en-US" sz="1034" dirty="0">
                <a:solidFill>
                  <a:srgbClr val="E2E8F0"/>
                </a:solidFill>
                <a:latin typeface="MiSans" pitchFamily="34" charset="0"/>
                <a:ea typeface="MiSans" pitchFamily="34" charset="-122"/>
                <a:cs typeface="MiSans" pitchFamily="34" charset="-120"/>
              </a:rPr>
              <a:t>"auto.offset.reset"</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"earliest"</a:t>
            </a:r>
            <a:r>
              <a:rPr lang="en-US" sz="1034" dirty="0">
                <a:solidFill>
                  <a:srgbClr val="718096"/>
                </a:solidFill>
                <a:latin typeface="MiSans" pitchFamily="34" charset="0"/>
                <a:ea typeface="MiSans" pitchFamily="34" charset="-122"/>
                <a:cs typeface="MiSans" pitchFamily="34" charset="-120"/>
              </a:rPr>
              <a:t>); </a:t>
            </a:r>
          </a:p>
          <a:p>
            <a:pPr>
              <a:lnSpc>
                <a:spcPct val="110000"/>
              </a:lnSpc>
            </a:pPr>
            <a:r>
              <a:rPr lang="en-US" sz="1034" dirty="0" err="1">
                <a:solidFill>
                  <a:srgbClr val="718096"/>
                </a:solidFill>
                <a:latin typeface="MiSans" pitchFamily="34" charset="0"/>
                <a:ea typeface="MiSans" pitchFamily="34" charset="-122"/>
                <a:cs typeface="MiSans" pitchFamily="34" charset="-120"/>
              </a:rPr>
              <a:t>props.put</a:t>
            </a:r>
            <a:r>
              <a:rPr lang="en-US" sz="1034" dirty="0">
                <a:solidFill>
                  <a:srgbClr val="718096"/>
                </a:solidFill>
                <a:latin typeface="MiSans" pitchFamily="34" charset="0"/>
                <a:ea typeface="MiSans" pitchFamily="34" charset="-122"/>
                <a:cs typeface="MiSans" pitchFamily="34" charset="-120"/>
              </a:rPr>
              <a:t>(</a:t>
            </a:r>
            <a:r>
              <a:rPr lang="en-US" sz="1034" dirty="0">
                <a:solidFill>
                  <a:srgbClr val="E2E8F0"/>
                </a:solidFill>
                <a:latin typeface="MiSans" pitchFamily="34" charset="0"/>
                <a:ea typeface="MiSans" pitchFamily="34" charset="-122"/>
                <a:cs typeface="MiSans" pitchFamily="34" charset="-120"/>
              </a:rPr>
              <a:t>"enable.auto.commit"</a:t>
            </a:r>
            <a:r>
              <a:rPr lang="en-US" sz="1034" dirty="0">
                <a:solidFill>
                  <a:srgbClr val="718096"/>
                </a:solidFill>
                <a:latin typeface="MiSans" pitchFamily="34" charset="0"/>
                <a:ea typeface="MiSans" pitchFamily="34" charset="-122"/>
                <a:cs typeface="MiSans" pitchFamily="34" charset="-120"/>
              </a:rPr>
              <a:t>, </a:t>
            </a:r>
            <a:r>
              <a:rPr lang="en-US" sz="1034" dirty="0">
                <a:solidFill>
                  <a:srgbClr val="E2E8F0"/>
                </a:solidFill>
                <a:latin typeface="MiSans" pitchFamily="34" charset="0"/>
                <a:ea typeface="MiSans" pitchFamily="34" charset="-122"/>
                <a:cs typeface="MiSans" pitchFamily="34" charset="-120"/>
              </a:rPr>
              <a:t>"false"</a:t>
            </a:r>
            <a:r>
              <a:rPr lang="en-US" sz="1034" dirty="0">
                <a:solidFill>
                  <a:srgbClr val="718096"/>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99800" y="499800"/>
            <a:ext cx="15356360" cy="299880"/>
          </a:xfrm>
          <a:prstGeom prst="rect">
            <a:avLst/>
          </a:prstGeom>
          <a:noFill/>
          <a:ln/>
        </p:spPr>
        <p:txBody>
          <a:bodyPr wrap="square" lIns="0" tIns="0" rIns="0" bIns="0" rtlCol="0" anchor="ctr"/>
          <a:lstStyle/>
          <a:p>
            <a:pPr>
              <a:lnSpc>
                <a:spcPct val="130000"/>
              </a:lnSpc>
            </a:pPr>
            <a:r>
              <a:rPr lang="en-US" sz="1574" b="1" kern="0" spc="79" dirty="0">
                <a:solidFill>
                  <a:srgbClr val="D69E2E"/>
                </a:solidFill>
                <a:latin typeface="MiSans" pitchFamily="34" charset="0"/>
                <a:ea typeface="MiSans" pitchFamily="34" charset="-122"/>
                <a:cs typeface="MiSans" pitchFamily="34" charset="-120"/>
              </a:rPr>
              <a:t>2.3.1 精确一次语义</a:t>
            </a:r>
            <a:endParaRPr lang="en-US" sz="1600" dirty="0"/>
          </a:p>
        </p:txBody>
      </p:sp>
      <p:sp>
        <p:nvSpPr>
          <p:cNvPr id="3" name="Text 1"/>
          <p:cNvSpPr/>
          <p:nvPr/>
        </p:nvSpPr>
        <p:spPr>
          <a:xfrm>
            <a:off x="499800" y="899640"/>
            <a:ext cx="15481310" cy="499800"/>
          </a:xfrm>
          <a:prstGeom prst="rect">
            <a:avLst/>
          </a:prstGeom>
          <a:noFill/>
          <a:ln/>
        </p:spPr>
        <p:txBody>
          <a:bodyPr wrap="square" lIns="0" tIns="0" rIns="0" bIns="0" rtlCol="0" anchor="ctr"/>
          <a:lstStyle/>
          <a:p>
            <a:pPr>
              <a:lnSpc>
                <a:spcPct val="90000"/>
              </a:lnSpc>
            </a:pPr>
            <a:r>
              <a:rPr lang="en-US" sz="3542" b="1" dirty="0">
                <a:solidFill>
                  <a:srgbClr val="E2E8F0"/>
                </a:solidFill>
                <a:latin typeface="MiSans" pitchFamily="34" charset="0"/>
                <a:ea typeface="MiSans" pitchFamily="34" charset="-122"/>
                <a:cs typeface="MiSans" pitchFamily="34" charset="-120"/>
              </a:rPr>
              <a:t>精确一次语义实现</a:t>
            </a:r>
            <a:endParaRPr lang="en-US" sz="1600" dirty="0"/>
          </a:p>
        </p:txBody>
      </p:sp>
      <p:sp>
        <p:nvSpPr>
          <p:cNvPr id="4" name="Shape 2"/>
          <p:cNvSpPr/>
          <p:nvPr/>
        </p:nvSpPr>
        <p:spPr>
          <a:xfrm>
            <a:off x="524790" y="1599360"/>
            <a:ext cx="7459517" cy="3698521"/>
          </a:xfrm>
          <a:custGeom>
            <a:avLst/>
            <a:gdLst/>
            <a:ahLst/>
            <a:cxnLst/>
            <a:rect l="l" t="t" r="r" b="b"/>
            <a:pathLst>
              <a:path w="7459517" h="3698521">
                <a:moveTo>
                  <a:pt x="49980" y="0"/>
                </a:moveTo>
                <a:lnTo>
                  <a:pt x="7359546" y="0"/>
                </a:lnTo>
                <a:cubicBezTo>
                  <a:pt x="7414759" y="0"/>
                  <a:pt x="7459517" y="44759"/>
                  <a:pt x="7459517" y="99971"/>
                </a:cubicBezTo>
                <a:lnTo>
                  <a:pt x="7459517" y="3598550"/>
                </a:lnTo>
                <a:cubicBezTo>
                  <a:pt x="7459517" y="3653763"/>
                  <a:pt x="7414759" y="3698521"/>
                  <a:pt x="7359546" y="3698521"/>
                </a:cubicBezTo>
                <a:lnTo>
                  <a:pt x="49980" y="3698521"/>
                </a:lnTo>
                <a:cubicBezTo>
                  <a:pt x="22377" y="3698521"/>
                  <a:pt x="0" y="3676144"/>
                  <a:pt x="0" y="3648541"/>
                </a:cubicBezTo>
                <a:lnTo>
                  <a:pt x="0" y="49980"/>
                </a:lnTo>
                <a:cubicBezTo>
                  <a:pt x="0" y="22395"/>
                  <a:pt x="22395" y="0"/>
                  <a:pt x="49980" y="0"/>
                </a:cubicBezTo>
                <a:close/>
              </a:path>
            </a:pathLst>
          </a:custGeom>
          <a:solidFill>
            <a:srgbClr val="4A5568">
              <a:alpha val="20000"/>
            </a:srgbClr>
          </a:solidFill>
          <a:ln/>
        </p:spPr>
        <p:txBody>
          <a:bodyPr/>
          <a:lstStyle/>
          <a:p>
            <a:endParaRPr lang="zh-CN" altLang="en-US"/>
          </a:p>
        </p:txBody>
      </p:sp>
      <p:sp>
        <p:nvSpPr>
          <p:cNvPr id="5" name="Shape 3"/>
          <p:cNvSpPr/>
          <p:nvPr/>
        </p:nvSpPr>
        <p:spPr>
          <a:xfrm>
            <a:off x="524790" y="1599360"/>
            <a:ext cx="49980" cy="3698521"/>
          </a:xfrm>
          <a:custGeom>
            <a:avLst/>
            <a:gdLst/>
            <a:ahLst/>
            <a:cxnLst/>
            <a:rect l="l" t="t" r="r" b="b"/>
            <a:pathLst>
              <a:path w="49980" h="3698521">
                <a:moveTo>
                  <a:pt x="49980" y="0"/>
                </a:moveTo>
                <a:lnTo>
                  <a:pt x="49980" y="0"/>
                </a:lnTo>
                <a:lnTo>
                  <a:pt x="49980" y="3698521"/>
                </a:lnTo>
                <a:lnTo>
                  <a:pt x="49980" y="3698521"/>
                </a:lnTo>
                <a:cubicBezTo>
                  <a:pt x="22377" y="3698521"/>
                  <a:pt x="0" y="3676144"/>
                  <a:pt x="0" y="3648541"/>
                </a:cubicBezTo>
                <a:lnTo>
                  <a:pt x="0" y="49980"/>
                </a:lnTo>
                <a:cubicBezTo>
                  <a:pt x="0" y="22395"/>
                  <a:pt x="22395" y="0"/>
                  <a:pt x="49980" y="0"/>
                </a:cubicBezTo>
                <a:close/>
              </a:path>
            </a:pathLst>
          </a:custGeom>
          <a:solidFill>
            <a:srgbClr val="D69E2E"/>
          </a:solidFill>
          <a:ln/>
        </p:spPr>
        <p:txBody>
          <a:bodyPr/>
          <a:lstStyle/>
          <a:p>
            <a:endParaRPr lang="zh-CN" altLang="en-US"/>
          </a:p>
        </p:txBody>
      </p:sp>
      <p:sp>
        <p:nvSpPr>
          <p:cNvPr id="6" name="Text 4"/>
          <p:cNvSpPr/>
          <p:nvPr/>
        </p:nvSpPr>
        <p:spPr>
          <a:xfrm>
            <a:off x="749700" y="1799281"/>
            <a:ext cx="7159637" cy="349860"/>
          </a:xfrm>
          <a:prstGeom prst="rect">
            <a:avLst/>
          </a:prstGeom>
          <a:noFill/>
          <a:ln/>
        </p:spPr>
        <p:txBody>
          <a:bodyPr wrap="square" lIns="0" tIns="0" rIns="0" bIns="0" rtlCol="0" anchor="ctr"/>
          <a:lstStyle/>
          <a:p>
            <a:pPr>
              <a:lnSpc>
                <a:spcPct val="120000"/>
              </a:lnSpc>
            </a:pPr>
            <a:r>
              <a:rPr lang="en-US" sz="1968" b="1" dirty="0">
                <a:solidFill>
                  <a:srgbClr val="D69E2E"/>
                </a:solidFill>
                <a:latin typeface="MiSans" pitchFamily="34" charset="0"/>
                <a:ea typeface="MiSans" pitchFamily="34" charset="-122"/>
                <a:cs typeface="MiSans" pitchFamily="34" charset="-120"/>
              </a:rPr>
              <a:t>幂等生产者配置</a:t>
            </a:r>
            <a:endParaRPr lang="en-US" sz="1600" dirty="0"/>
          </a:p>
        </p:txBody>
      </p:sp>
      <p:sp>
        <p:nvSpPr>
          <p:cNvPr id="7" name="Shape 5"/>
          <p:cNvSpPr/>
          <p:nvPr/>
        </p:nvSpPr>
        <p:spPr>
          <a:xfrm>
            <a:off x="749700" y="2299081"/>
            <a:ext cx="7034687" cy="1699321"/>
          </a:xfrm>
          <a:custGeom>
            <a:avLst/>
            <a:gdLst/>
            <a:ahLst/>
            <a:cxnLst/>
            <a:rect l="l" t="t" r="r" b="b"/>
            <a:pathLst>
              <a:path w="7034687" h="1699321">
                <a:moveTo>
                  <a:pt x="49977" y="0"/>
                </a:moveTo>
                <a:lnTo>
                  <a:pt x="6984710" y="0"/>
                </a:lnTo>
                <a:cubicBezTo>
                  <a:pt x="7012312" y="0"/>
                  <a:pt x="7034687" y="22375"/>
                  <a:pt x="7034687" y="49977"/>
                </a:cubicBezTo>
                <a:lnTo>
                  <a:pt x="7034687" y="1649344"/>
                </a:lnTo>
                <a:cubicBezTo>
                  <a:pt x="7034687" y="1676945"/>
                  <a:pt x="7012312" y="1699321"/>
                  <a:pt x="6984710" y="1699321"/>
                </a:cubicBezTo>
                <a:lnTo>
                  <a:pt x="49977" y="1699321"/>
                </a:lnTo>
                <a:cubicBezTo>
                  <a:pt x="22375" y="1699321"/>
                  <a:pt x="0" y="1676945"/>
                  <a:pt x="0" y="1649344"/>
                </a:cubicBezTo>
                <a:lnTo>
                  <a:pt x="0" y="49977"/>
                </a:lnTo>
                <a:cubicBezTo>
                  <a:pt x="0" y="22394"/>
                  <a:pt x="22394" y="0"/>
                  <a:pt x="49977" y="0"/>
                </a:cubicBezTo>
                <a:close/>
              </a:path>
            </a:pathLst>
          </a:custGeom>
          <a:solidFill>
            <a:srgbClr val="1A1D21">
              <a:alpha val="60000"/>
            </a:srgbClr>
          </a:solidFill>
          <a:ln/>
        </p:spPr>
        <p:txBody>
          <a:bodyPr/>
          <a:lstStyle/>
          <a:p>
            <a:endParaRPr lang="zh-CN" altLang="en-US"/>
          </a:p>
        </p:txBody>
      </p:sp>
      <p:sp>
        <p:nvSpPr>
          <p:cNvPr id="8" name="Text 6"/>
          <p:cNvSpPr/>
          <p:nvPr/>
        </p:nvSpPr>
        <p:spPr>
          <a:xfrm>
            <a:off x="899640" y="2449021"/>
            <a:ext cx="6809777" cy="1399440"/>
          </a:xfrm>
          <a:prstGeom prst="rect">
            <a:avLst/>
          </a:prstGeom>
          <a:noFill/>
          <a:ln/>
        </p:spPr>
        <p:txBody>
          <a:bodyPr wrap="square" lIns="0" tIns="0" rIns="0" bIns="0" rtlCol="0" anchor="ctr"/>
          <a:lstStyle/>
          <a:p>
            <a:pPr>
              <a:lnSpc>
                <a:spcPct val="110000"/>
              </a:lnSpc>
            </a:pPr>
            <a:r>
              <a:rPr lang="en-US" sz="1181" dirty="0">
                <a:solidFill>
                  <a:srgbClr val="718096"/>
                </a:solidFill>
                <a:latin typeface="MiSans" pitchFamily="34" charset="0"/>
                <a:ea typeface="MiSans" pitchFamily="34" charset="-122"/>
                <a:cs typeface="MiSans" pitchFamily="34" charset="-120"/>
              </a:rPr>
              <a:t>// </a:t>
            </a:r>
            <a:r>
              <a:rPr lang="en-US" sz="1181" dirty="0" err="1">
                <a:solidFill>
                  <a:srgbClr val="718096"/>
                </a:solidFill>
                <a:latin typeface="MiSans" pitchFamily="34" charset="0"/>
                <a:ea typeface="MiSans" pitchFamily="34" charset="-122"/>
                <a:cs typeface="MiSans" pitchFamily="34" charset="-120"/>
              </a:rPr>
              <a:t>启用幂等生产者（防止重复消息</a:t>
            </a:r>
            <a:r>
              <a:rPr lang="en-US" sz="1181" dirty="0">
                <a:solidFill>
                  <a:srgbClr val="718096"/>
                </a:solidFill>
                <a:latin typeface="MiSans" pitchFamily="34" charset="0"/>
                <a:ea typeface="MiSans" pitchFamily="34" charset="-122"/>
                <a:cs typeface="MiSans" pitchFamily="34" charset="-120"/>
              </a:rPr>
              <a:t>）</a:t>
            </a:r>
          </a:p>
          <a:p>
            <a:pPr>
              <a:lnSpc>
                <a:spcPct val="110000"/>
              </a:lnSpc>
            </a:pPr>
            <a:r>
              <a:rPr lang="en-US" sz="1181" dirty="0">
                <a:solidFill>
                  <a:srgbClr val="718096"/>
                </a:solidFill>
                <a:latin typeface="MiSans" pitchFamily="34" charset="0"/>
                <a:ea typeface="MiSans" pitchFamily="34" charset="-122"/>
                <a:cs typeface="MiSans" pitchFamily="34" charset="-120"/>
              </a:rPr>
              <a:t> props.put(</a:t>
            </a:r>
            <a:r>
              <a:rPr lang="en-US" sz="1181" dirty="0">
                <a:solidFill>
                  <a:srgbClr val="E2E8F0"/>
                </a:solidFill>
                <a:latin typeface="MiSans" pitchFamily="34" charset="0"/>
                <a:ea typeface="MiSans" pitchFamily="34" charset="-122"/>
                <a:cs typeface="MiSans" pitchFamily="34" charset="-120"/>
              </a:rPr>
              <a:t>"enable.idempotence"</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"true"</a:t>
            </a:r>
            <a:r>
              <a:rPr lang="en-US" sz="1181" dirty="0">
                <a:solidFill>
                  <a:srgbClr val="718096"/>
                </a:solidFill>
                <a:latin typeface="MiSans" pitchFamily="34" charset="0"/>
                <a:ea typeface="MiSans" pitchFamily="34" charset="-122"/>
                <a:cs typeface="MiSans" pitchFamily="34" charset="-120"/>
              </a:rPr>
              <a:t>); </a:t>
            </a:r>
          </a:p>
          <a:p>
            <a:r>
              <a:rPr lang="en-US" altLang="zh-CN" sz="1181" dirty="0" err="1">
                <a:solidFill>
                  <a:srgbClr val="718096"/>
                </a:solidFill>
                <a:latin typeface="MiSans" pitchFamily="34" charset="0"/>
                <a:ea typeface="MiSans" pitchFamily="34" charset="-122"/>
                <a:cs typeface="MiSans" pitchFamily="34" charset="-120"/>
              </a:rPr>
              <a:t>props.put</a:t>
            </a:r>
            <a:r>
              <a:rPr lang="en-US" altLang="zh-CN" sz="1181" dirty="0">
                <a:solidFill>
                  <a:srgbClr val="718096"/>
                </a:solidFill>
                <a:latin typeface="MiSans" pitchFamily="34" charset="0"/>
                <a:ea typeface="MiSans" pitchFamily="34" charset="-122"/>
                <a:cs typeface="MiSans" pitchFamily="34" charset="-120"/>
              </a:rPr>
              <a:t>(</a:t>
            </a:r>
            <a:r>
              <a:rPr lang="en-US" altLang="zh-CN" sz="1181" dirty="0">
                <a:solidFill>
                  <a:srgbClr val="E2E8F0"/>
                </a:solidFill>
                <a:latin typeface="MiSans" pitchFamily="34" charset="0"/>
                <a:ea typeface="MiSans" pitchFamily="34" charset="-122"/>
                <a:cs typeface="MiSans" pitchFamily="34" charset="-120"/>
              </a:rPr>
              <a:t>"</a:t>
            </a:r>
            <a:r>
              <a:rPr lang="en-US" altLang="zh-CN" sz="1181" dirty="0" err="1">
                <a:solidFill>
                  <a:srgbClr val="E2E8F0"/>
                </a:solidFill>
                <a:latin typeface="MiSans" pitchFamily="34" charset="0"/>
                <a:ea typeface="MiSans" pitchFamily="34" charset="-122"/>
                <a:cs typeface="MiSans" pitchFamily="34" charset="-120"/>
              </a:rPr>
              <a:t>max.in.flight.requests.per.connection</a:t>
            </a:r>
            <a:r>
              <a:rPr lang="en-US" altLang="zh-CN" sz="1181" dirty="0">
                <a:solidFill>
                  <a:srgbClr val="E2E8F0"/>
                </a:solidFill>
                <a:latin typeface="MiSans" pitchFamily="34" charset="0"/>
                <a:ea typeface="MiSans" pitchFamily="34" charset="-122"/>
                <a:cs typeface="MiSans" pitchFamily="34" charset="-120"/>
              </a:rPr>
              <a:t>"</a:t>
            </a:r>
            <a:r>
              <a:rPr lang="en-US" altLang="zh-CN" sz="1181" dirty="0">
                <a:solidFill>
                  <a:srgbClr val="718096"/>
                </a:solidFill>
                <a:latin typeface="MiSans" pitchFamily="34" charset="0"/>
                <a:ea typeface="MiSans" pitchFamily="34" charset="-122"/>
                <a:cs typeface="MiSans" pitchFamily="34" charset="-120"/>
              </a:rPr>
              <a:t>, </a:t>
            </a:r>
            <a:r>
              <a:rPr lang="en-US" altLang="zh-CN" sz="1181" dirty="0">
                <a:solidFill>
                  <a:srgbClr val="E2E8F0"/>
                </a:solidFill>
                <a:latin typeface="MiSans" pitchFamily="34" charset="0"/>
                <a:ea typeface="MiSans" pitchFamily="34" charset="-122"/>
                <a:cs typeface="MiSans" pitchFamily="34" charset="-120"/>
              </a:rPr>
              <a:t>5</a:t>
            </a:r>
            <a:r>
              <a:rPr lang="en-US" altLang="zh-CN" sz="1181" dirty="0">
                <a:solidFill>
                  <a:srgbClr val="718096"/>
                </a:solidFill>
                <a:latin typeface="MiSans" pitchFamily="34" charset="0"/>
                <a:ea typeface="MiSans" pitchFamily="34" charset="-122"/>
                <a:cs typeface="MiSans" pitchFamily="34" charset="-120"/>
              </a:rPr>
              <a:t>); // </a:t>
            </a:r>
            <a:r>
              <a:rPr lang="zh-CN" altLang="en-US" sz="1181" dirty="0">
                <a:solidFill>
                  <a:srgbClr val="718096"/>
                </a:solidFill>
                <a:latin typeface="MiSans" pitchFamily="34" charset="0"/>
                <a:ea typeface="MiSans" pitchFamily="34" charset="-122"/>
                <a:cs typeface="MiSans" pitchFamily="34" charset="-120"/>
              </a:rPr>
              <a:t>可大于</a:t>
            </a:r>
            <a:r>
              <a:rPr lang="en-US" altLang="zh-CN" sz="1181" dirty="0">
                <a:solidFill>
                  <a:srgbClr val="718096"/>
                </a:solidFill>
                <a:latin typeface="MiSans" pitchFamily="34" charset="0"/>
                <a:ea typeface="MiSans" pitchFamily="34" charset="-122"/>
                <a:cs typeface="MiSans" pitchFamily="34" charset="-120"/>
              </a:rPr>
              <a:t>1</a:t>
            </a:r>
            <a:endParaRPr lang="zh-CN" altLang="en-US" sz="1181" dirty="0">
              <a:solidFill>
                <a:srgbClr val="718096"/>
              </a:solidFill>
              <a:latin typeface="MiSans" pitchFamily="34" charset="0"/>
              <a:ea typeface="MiSans" pitchFamily="34" charset="-122"/>
              <a:cs typeface="MiSans" pitchFamily="34" charset="-120"/>
            </a:endParaRPr>
          </a:p>
        </p:txBody>
      </p:sp>
      <p:sp>
        <p:nvSpPr>
          <p:cNvPr id="9" name="Text 7"/>
          <p:cNvSpPr/>
          <p:nvPr/>
        </p:nvSpPr>
        <p:spPr>
          <a:xfrm>
            <a:off x="749700" y="4148341"/>
            <a:ext cx="7122152" cy="249900"/>
          </a:xfrm>
          <a:prstGeom prst="rect">
            <a:avLst/>
          </a:prstGeom>
          <a:noFill/>
          <a:ln/>
        </p:spPr>
        <p:txBody>
          <a:bodyPr wrap="square" lIns="0" tIns="0" rIns="0" bIns="0" rtlCol="0" anchor="ctr"/>
          <a:lstStyle/>
          <a:p>
            <a:pPr>
              <a:lnSpc>
                <a:spcPct val="120000"/>
              </a:lnSpc>
            </a:pPr>
            <a:r>
              <a:rPr lang="en-US" sz="1377" b="1" dirty="0">
                <a:solidFill>
                  <a:srgbClr val="D69E2E"/>
                </a:solidFill>
                <a:latin typeface="MiSans" pitchFamily="34" charset="0"/>
                <a:ea typeface="MiSans" pitchFamily="34" charset="-122"/>
                <a:cs typeface="MiSans" pitchFamily="34" charset="-120"/>
              </a:rPr>
              <a:t>工作原理:</a:t>
            </a:r>
            <a:r>
              <a:rPr lang="en-US" sz="1377" dirty="0">
                <a:solidFill>
                  <a:srgbClr val="E2E8F0">
                    <a:alpha val="80000"/>
                  </a:srgbClr>
                </a:solidFill>
                <a:latin typeface="MiSans" pitchFamily="34" charset="0"/>
                <a:ea typeface="MiSans" pitchFamily="34" charset="-122"/>
                <a:cs typeface="MiSans" pitchFamily="34" charset="-120"/>
              </a:rPr>
              <a:t> Producer 被分配一个 PID，每条消息带有序列号，Broker 自动去重</a:t>
            </a:r>
            <a:endParaRPr lang="en-US" sz="1600" dirty="0"/>
          </a:p>
        </p:txBody>
      </p:sp>
      <p:sp>
        <p:nvSpPr>
          <p:cNvPr id="10" name="Text 8"/>
          <p:cNvSpPr/>
          <p:nvPr/>
        </p:nvSpPr>
        <p:spPr>
          <a:xfrm>
            <a:off x="749700" y="4498201"/>
            <a:ext cx="7122152" cy="249900"/>
          </a:xfrm>
          <a:prstGeom prst="rect">
            <a:avLst/>
          </a:prstGeom>
          <a:noFill/>
          <a:ln/>
        </p:spPr>
        <p:txBody>
          <a:bodyPr wrap="square" lIns="0" tIns="0" rIns="0" bIns="0" rtlCol="0" anchor="ctr"/>
          <a:lstStyle/>
          <a:p>
            <a:pPr>
              <a:lnSpc>
                <a:spcPct val="120000"/>
              </a:lnSpc>
            </a:pPr>
            <a:r>
              <a:rPr lang="en-US" sz="1377" b="1" dirty="0">
                <a:solidFill>
                  <a:srgbClr val="D69E2E"/>
                </a:solidFill>
                <a:latin typeface="MiSans" pitchFamily="34" charset="0"/>
                <a:ea typeface="MiSans" pitchFamily="34" charset="-122"/>
                <a:cs typeface="MiSans" pitchFamily="34" charset="-120"/>
              </a:rPr>
              <a:t>作用范围:</a:t>
            </a:r>
            <a:r>
              <a:rPr lang="en-US" sz="1377" dirty="0">
                <a:solidFill>
                  <a:srgbClr val="E2E8F0">
                    <a:alpha val="80000"/>
                  </a:srgbClr>
                </a:solidFill>
                <a:latin typeface="MiSans" pitchFamily="34" charset="0"/>
                <a:ea typeface="MiSans" pitchFamily="34" charset="-122"/>
                <a:cs typeface="MiSans" pitchFamily="34" charset="-120"/>
              </a:rPr>
              <a:t> 单个 Producer 会话的单分区幂等性</a:t>
            </a:r>
            <a:endParaRPr lang="en-US" sz="1600" dirty="0"/>
          </a:p>
        </p:txBody>
      </p:sp>
      <p:sp>
        <p:nvSpPr>
          <p:cNvPr id="11" name="Text 9"/>
          <p:cNvSpPr/>
          <p:nvPr/>
        </p:nvSpPr>
        <p:spPr>
          <a:xfrm>
            <a:off x="749700" y="4848061"/>
            <a:ext cx="7122152" cy="249900"/>
          </a:xfrm>
          <a:prstGeom prst="rect">
            <a:avLst/>
          </a:prstGeom>
          <a:noFill/>
          <a:ln/>
        </p:spPr>
        <p:txBody>
          <a:bodyPr wrap="square" lIns="0" tIns="0" rIns="0" bIns="0" rtlCol="0" anchor="ctr"/>
          <a:lstStyle/>
          <a:p>
            <a:pPr>
              <a:lnSpc>
                <a:spcPct val="120000"/>
              </a:lnSpc>
            </a:pPr>
            <a:r>
              <a:rPr lang="en-US" sz="1377" b="1" dirty="0">
                <a:solidFill>
                  <a:srgbClr val="D69E2E"/>
                </a:solidFill>
                <a:latin typeface="MiSans" pitchFamily="34" charset="0"/>
                <a:ea typeface="MiSans" pitchFamily="34" charset="-122"/>
                <a:cs typeface="MiSans" pitchFamily="34" charset="-120"/>
              </a:rPr>
              <a:t>适用场景:</a:t>
            </a:r>
            <a:r>
              <a:rPr lang="en-US" sz="1377" dirty="0">
                <a:solidFill>
                  <a:srgbClr val="E2E8F0">
                    <a:alpha val="80000"/>
                  </a:srgbClr>
                </a:solidFill>
                <a:latin typeface="MiSans" pitchFamily="34" charset="0"/>
                <a:ea typeface="MiSans" pitchFamily="34" charset="-122"/>
                <a:cs typeface="MiSans" pitchFamily="34" charset="-120"/>
              </a:rPr>
              <a:t> 网络重试导致的重复消息问题</a:t>
            </a:r>
            <a:endParaRPr lang="en-US" sz="1600" dirty="0"/>
          </a:p>
        </p:txBody>
      </p:sp>
      <p:sp>
        <p:nvSpPr>
          <p:cNvPr id="12" name="Shape 10"/>
          <p:cNvSpPr/>
          <p:nvPr/>
        </p:nvSpPr>
        <p:spPr>
          <a:xfrm>
            <a:off x="524790" y="5447822"/>
            <a:ext cx="7459517" cy="3148741"/>
          </a:xfrm>
          <a:custGeom>
            <a:avLst/>
            <a:gdLst/>
            <a:ahLst/>
            <a:cxnLst/>
            <a:rect l="l" t="t" r="r" b="b"/>
            <a:pathLst>
              <a:path w="7459517" h="3148741">
                <a:moveTo>
                  <a:pt x="49980" y="0"/>
                </a:moveTo>
                <a:lnTo>
                  <a:pt x="7359545" y="0"/>
                </a:lnTo>
                <a:cubicBezTo>
                  <a:pt x="7414758" y="0"/>
                  <a:pt x="7459517" y="44759"/>
                  <a:pt x="7459517" y="99973"/>
                </a:cubicBezTo>
                <a:lnTo>
                  <a:pt x="7459517" y="3048768"/>
                </a:lnTo>
                <a:cubicBezTo>
                  <a:pt x="7459517" y="3103982"/>
                  <a:pt x="7414758" y="3148741"/>
                  <a:pt x="7359545" y="3148741"/>
                </a:cubicBezTo>
                <a:lnTo>
                  <a:pt x="49980" y="3148741"/>
                </a:lnTo>
                <a:cubicBezTo>
                  <a:pt x="22377" y="3148741"/>
                  <a:pt x="0" y="3126364"/>
                  <a:pt x="0" y="3098761"/>
                </a:cubicBezTo>
                <a:lnTo>
                  <a:pt x="0" y="49980"/>
                </a:lnTo>
                <a:cubicBezTo>
                  <a:pt x="0" y="22395"/>
                  <a:pt x="22395" y="0"/>
                  <a:pt x="49980" y="0"/>
                </a:cubicBezTo>
                <a:close/>
              </a:path>
            </a:pathLst>
          </a:custGeom>
          <a:solidFill>
            <a:srgbClr val="4A5568">
              <a:alpha val="20000"/>
            </a:srgbClr>
          </a:solidFill>
          <a:ln/>
        </p:spPr>
        <p:txBody>
          <a:bodyPr/>
          <a:lstStyle/>
          <a:p>
            <a:endParaRPr lang="zh-CN" altLang="en-US"/>
          </a:p>
        </p:txBody>
      </p:sp>
      <p:sp>
        <p:nvSpPr>
          <p:cNvPr id="13" name="Shape 11"/>
          <p:cNvSpPr/>
          <p:nvPr/>
        </p:nvSpPr>
        <p:spPr>
          <a:xfrm>
            <a:off x="524790" y="5447822"/>
            <a:ext cx="49980" cy="3148741"/>
          </a:xfrm>
          <a:custGeom>
            <a:avLst/>
            <a:gdLst/>
            <a:ahLst/>
            <a:cxnLst/>
            <a:rect l="l" t="t" r="r" b="b"/>
            <a:pathLst>
              <a:path w="49980" h="3148741">
                <a:moveTo>
                  <a:pt x="49980" y="0"/>
                </a:moveTo>
                <a:lnTo>
                  <a:pt x="49980" y="0"/>
                </a:lnTo>
                <a:lnTo>
                  <a:pt x="49980" y="3148741"/>
                </a:lnTo>
                <a:lnTo>
                  <a:pt x="49980" y="3148741"/>
                </a:lnTo>
                <a:cubicBezTo>
                  <a:pt x="22377" y="3148741"/>
                  <a:pt x="0" y="3126364"/>
                  <a:pt x="0" y="3098761"/>
                </a:cubicBezTo>
                <a:lnTo>
                  <a:pt x="0" y="49980"/>
                </a:lnTo>
                <a:cubicBezTo>
                  <a:pt x="0" y="22395"/>
                  <a:pt x="22395" y="0"/>
                  <a:pt x="49980" y="0"/>
                </a:cubicBezTo>
                <a:close/>
              </a:path>
            </a:pathLst>
          </a:custGeom>
          <a:solidFill>
            <a:srgbClr val="718096"/>
          </a:solidFill>
          <a:ln/>
        </p:spPr>
        <p:txBody>
          <a:bodyPr/>
          <a:lstStyle/>
          <a:p>
            <a:endParaRPr lang="zh-CN" altLang="en-US"/>
          </a:p>
        </p:txBody>
      </p:sp>
      <p:sp>
        <p:nvSpPr>
          <p:cNvPr id="14" name="Text 12"/>
          <p:cNvSpPr/>
          <p:nvPr/>
        </p:nvSpPr>
        <p:spPr>
          <a:xfrm>
            <a:off x="749700" y="5647742"/>
            <a:ext cx="7159637" cy="349860"/>
          </a:xfrm>
          <a:prstGeom prst="rect">
            <a:avLst/>
          </a:prstGeom>
          <a:noFill/>
          <a:ln/>
        </p:spPr>
        <p:txBody>
          <a:bodyPr wrap="square" lIns="0" tIns="0" rIns="0" bIns="0" rtlCol="0" anchor="ctr"/>
          <a:lstStyle/>
          <a:p>
            <a:pPr>
              <a:lnSpc>
                <a:spcPct val="120000"/>
              </a:lnSpc>
            </a:pPr>
            <a:r>
              <a:rPr lang="en-US" sz="1968" b="1" dirty="0">
                <a:solidFill>
                  <a:srgbClr val="718096"/>
                </a:solidFill>
                <a:latin typeface="MiSans" pitchFamily="34" charset="0"/>
                <a:ea typeface="MiSans" pitchFamily="34" charset="-122"/>
                <a:cs typeface="MiSans" pitchFamily="34" charset="-120"/>
              </a:rPr>
              <a:t>事务机制配置</a:t>
            </a:r>
            <a:endParaRPr lang="en-US" sz="1600" dirty="0"/>
          </a:p>
        </p:txBody>
      </p:sp>
      <p:sp>
        <p:nvSpPr>
          <p:cNvPr id="15" name="Shape 13"/>
          <p:cNvSpPr/>
          <p:nvPr/>
        </p:nvSpPr>
        <p:spPr>
          <a:xfrm>
            <a:off x="749700" y="6147542"/>
            <a:ext cx="7034687" cy="1499400"/>
          </a:xfrm>
          <a:custGeom>
            <a:avLst/>
            <a:gdLst/>
            <a:ahLst/>
            <a:cxnLst/>
            <a:rect l="l" t="t" r="r" b="b"/>
            <a:pathLst>
              <a:path w="7034687" h="1499400">
                <a:moveTo>
                  <a:pt x="49975" y="0"/>
                </a:moveTo>
                <a:lnTo>
                  <a:pt x="6984712" y="0"/>
                </a:lnTo>
                <a:cubicBezTo>
                  <a:pt x="7012313" y="0"/>
                  <a:pt x="7034687" y="22375"/>
                  <a:pt x="7034687" y="49975"/>
                </a:cubicBezTo>
                <a:lnTo>
                  <a:pt x="7034687" y="1449425"/>
                </a:lnTo>
                <a:cubicBezTo>
                  <a:pt x="7034687" y="1477026"/>
                  <a:pt x="7012313" y="1499400"/>
                  <a:pt x="6984712" y="1499400"/>
                </a:cubicBezTo>
                <a:lnTo>
                  <a:pt x="49975" y="1499400"/>
                </a:lnTo>
                <a:cubicBezTo>
                  <a:pt x="22375" y="1499400"/>
                  <a:pt x="0" y="1477026"/>
                  <a:pt x="0" y="1449425"/>
                </a:cubicBezTo>
                <a:lnTo>
                  <a:pt x="0" y="49975"/>
                </a:lnTo>
                <a:cubicBezTo>
                  <a:pt x="0" y="22393"/>
                  <a:pt x="22393" y="0"/>
                  <a:pt x="49975" y="0"/>
                </a:cubicBezTo>
                <a:close/>
              </a:path>
            </a:pathLst>
          </a:custGeom>
          <a:solidFill>
            <a:srgbClr val="1A1D21">
              <a:alpha val="60000"/>
            </a:srgbClr>
          </a:solidFill>
          <a:ln/>
        </p:spPr>
        <p:txBody>
          <a:bodyPr/>
          <a:lstStyle/>
          <a:p>
            <a:endParaRPr lang="zh-CN" altLang="en-US"/>
          </a:p>
        </p:txBody>
      </p:sp>
      <p:sp>
        <p:nvSpPr>
          <p:cNvPr id="16" name="Text 14"/>
          <p:cNvSpPr/>
          <p:nvPr/>
        </p:nvSpPr>
        <p:spPr>
          <a:xfrm>
            <a:off x="899640" y="6297482"/>
            <a:ext cx="6809777" cy="1199520"/>
          </a:xfrm>
          <a:prstGeom prst="rect">
            <a:avLst/>
          </a:prstGeom>
          <a:noFill/>
          <a:ln/>
        </p:spPr>
        <p:txBody>
          <a:bodyPr wrap="square" lIns="0" tIns="0" rIns="0" bIns="0" rtlCol="0" anchor="ctr"/>
          <a:lstStyle/>
          <a:p>
            <a:pPr>
              <a:lnSpc>
                <a:spcPct val="110000"/>
              </a:lnSpc>
            </a:pPr>
            <a:r>
              <a:rPr lang="en-US" sz="1181" dirty="0">
                <a:solidFill>
                  <a:srgbClr val="718096"/>
                </a:solidFill>
                <a:latin typeface="MiSans" pitchFamily="34" charset="0"/>
                <a:ea typeface="MiSans" pitchFamily="34" charset="-122"/>
                <a:cs typeface="MiSans" pitchFamily="34" charset="-120"/>
              </a:rPr>
              <a:t>// </a:t>
            </a:r>
            <a:r>
              <a:rPr lang="en-US" sz="1181" dirty="0" err="1">
                <a:solidFill>
                  <a:srgbClr val="718096"/>
                </a:solidFill>
                <a:latin typeface="MiSans" pitchFamily="34" charset="0"/>
                <a:ea typeface="MiSans" pitchFamily="34" charset="-122"/>
                <a:cs typeface="MiSans" pitchFamily="34" charset="-120"/>
              </a:rPr>
              <a:t>配置精确一次语义</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"enable.idempotence"</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"true"</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"transactional.id"</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"my-transactional-id"</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a:solidFill>
                  <a:srgbClr val="718096"/>
                </a:solidFill>
                <a:latin typeface="MiSans" pitchFamily="34" charset="0"/>
                <a:ea typeface="MiSans" pitchFamily="34" charset="-122"/>
                <a:cs typeface="MiSans" pitchFamily="34" charset="-120"/>
              </a:rPr>
              <a:t>// Consumer </a:t>
            </a:r>
            <a:r>
              <a:rPr lang="en-US" sz="1181" dirty="0" err="1">
                <a:solidFill>
                  <a:srgbClr val="718096"/>
                </a:solidFill>
                <a:latin typeface="MiSans" pitchFamily="34" charset="0"/>
                <a:ea typeface="MiSans" pitchFamily="34" charset="-122"/>
                <a:cs typeface="MiSans" pitchFamily="34" charset="-120"/>
              </a:rPr>
              <a:t>配置</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"isolation.level"</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"read_committed"</a:t>
            </a:r>
            <a:r>
              <a:rPr lang="en-US" sz="1181" dirty="0">
                <a:solidFill>
                  <a:srgbClr val="718096"/>
                </a:solidFill>
                <a:latin typeface="MiSans" pitchFamily="34" charset="0"/>
                <a:ea typeface="MiSans" pitchFamily="34" charset="-122"/>
                <a:cs typeface="MiSans" pitchFamily="34" charset="-120"/>
              </a:rPr>
              <a:t>);</a:t>
            </a:r>
            <a:endParaRPr lang="en-US" sz="1600" dirty="0"/>
          </a:p>
        </p:txBody>
      </p:sp>
      <p:sp>
        <p:nvSpPr>
          <p:cNvPr id="17" name="Text 15"/>
          <p:cNvSpPr/>
          <p:nvPr/>
        </p:nvSpPr>
        <p:spPr>
          <a:xfrm>
            <a:off x="749700" y="7796882"/>
            <a:ext cx="7122152" cy="249900"/>
          </a:xfrm>
          <a:prstGeom prst="rect">
            <a:avLst/>
          </a:prstGeom>
          <a:noFill/>
          <a:ln/>
        </p:spPr>
        <p:txBody>
          <a:bodyPr wrap="square" lIns="0" tIns="0" rIns="0" bIns="0" rtlCol="0" anchor="ctr"/>
          <a:lstStyle/>
          <a:p>
            <a:pPr>
              <a:lnSpc>
                <a:spcPct val="120000"/>
              </a:lnSpc>
            </a:pPr>
            <a:r>
              <a:rPr lang="en-US" sz="1377" b="1" dirty="0">
                <a:solidFill>
                  <a:srgbClr val="718096"/>
                </a:solidFill>
                <a:latin typeface="MiSans" pitchFamily="34" charset="0"/>
                <a:ea typeface="MiSans" pitchFamily="34" charset="-122"/>
                <a:cs typeface="MiSans" pitchFamily="34" charset="-120"/>
              </a:rPr>
              <a:t>工作原理:</a:t>
            </a:r>
            <a:r>
              <a:rPr lang="en-US" sz="1377" dirty="0">
                <a:solidFill>
                  <a:srgbClr val="E2E8F0">
                    <a:alpha val="80000"/>
                  </a:srgbClr>
                </a:solidFill>
                <a:latin typeface="MiSans" pitchFamily="34" charset="0"/>
                <a:ea typeface="MiSans" pitchFamily="34" charset="-122"/>
                <a:cs typeface="MiSans" pitchFamily="34" charset="-120"/>
              </a:rPr>
              <a:t> 解决跨 Partition 写入的原子性，支持 Consume-Transform-Produce 模式</a:t>
            </a:r>
            <a:endParaRPr lang="en-US" sz="1600" dirty="0"/>
          </a:p>
        </p:txBody>
      </p:sp>
      <p:sp>
        <p:nvSpPr>
          <p:cNvPr id="18" name="Text 16"/>
          <p:cNvSpPr/>
          <p:nvPr/>
        </p:nvSpPr>
        <p:spPr>
          <a:xfrm>
            <a:off x="749700" y="8146743"/>
            <a:ext cx="7122152" cy="249900"/>
          </a:xfrm>
          <a:prstGeom prst="rect">
            <a:avLst/>
          </a:prstGeom>
          <a:noFill/>
          <a:ln/>
        </p:spPr>
        <p:txBody>
          <a:bodyPr wrap="square" lIns="0" tIns="0" rIns="0" bIns="0" rtlCol="0" anchor="ctr"/>
          <a:lstStyle/>
          <a:p>
            <a:pPr>
              <a:lnSpc>
                <a:spcPct val="120000"/>
              </a:lnSpc>
            </a:pPr>
            <a:r>
              <a:rPr lang="en-US" sz="1377" b="1" dirty="0">
                <a:solidFill>
                  <a:srgbClr val="718096"/>
                </a:solidFill>
                <a:latin typeface="MiSans" pitchFamily="34" charset="0"/>
                <a:ea typeface="MiSans" pitchFamily="34" charset="-122"/>
                <a:cs typeface="MiSans" pitchFamily="34" charset="-120"/>
              </a:rPr>
              <a:t>隔离级别:</a:t>
            </a:r>
            <a:r>
              <a:rPr lang="en-US" sz="1377" dirty="0">
                <a:solidFill>
                  <a:srgbClr val="E2E8F0">
                    <a:alpha val="80000"/>
                  </a:srgbClr>
                </a:solidFill>
                <a:latin typeface="MiSans" pitchFamily="34" charset="0"/>
                <a:ea typeface="MiSans" pitchFamily="34" charset="-122"/>
                <a:cs typeface="MiSans" pitchFamily="34" charset="-120"/>
              </a:rPr>
              <a:t> read_committed 确保只读取已提交事务的消息</a:t>
            </a:r>
            <a:endParaRPr lang="en-US" sz="1600" dirty="0"/>
          </a:p>
        </p:txBody>
      </p:sp>
      <p:sp>
        <p:nvSpPr>
          <p:cNvPr id="19" name="Shape 17"/>
          <p:cNvSpPr/>
          <p:nvPr/>
        </p:nvSpPr>
        <p:spPr>
          <a:xfrm>
            <a:off x="8304980" y="1599360"/>
            <a:ext cx="7459517" cy="4098361"/>
          </a:xfrm>
          <a:custGeom>
            <a:avLst/>
            <a:gdLst/>
            <a:ahLst/>
            <a:cxnLst/>
            <a:rect l="l" t="t" r="r" b="b"/>
            <a:pathLst>
              <a:path w="7459517" h="4098361">
                <a:moveTo>
                  <a:pt x="49980" y="0"/>
                </a:moveTo>
                <a:lnTo>
                  <a:pt x="7359558" y="0"/>
                </a:lnTo>
                <a:cubicBezTo>
                  <a:pt x="7414764" y="0"/>
                  <a:pt x="7459517" y="44753"/>
                  <a:pt x="7459517" y="99959"/>
                </a:cubicBezTo>
                <a:lnTo>
                  <a:pt x="7459517" y="3998402"/>
                </a:lnTo>
                <a:cubicBezTo>
                  <a:pt x="7459517" y="4053608"/>
                  <a:pt x="7414764" y="4098361"/>
                  <a:pt x="7359558" y="4098361"/>
                </a:cubicBezTo>
                <a:lnTo>
                  <a:pt x="49980" y="4098361"/>
                </a:lnTo>
                <a:cubicBezTo>
                  <a:pt x="22377" y="4098361"/>
                  <a:pt x="0" y="4075984"/>
                  <a:pt x="0" y="4048381"/>
                </a:cubicBezTo>
                <a:lnTo>
                  <a:pt x="0" y="49980"/>
                </a:lnTo>
                <a:cubicBezTo>
                  <a:pt x="0" y="22395"/>
                  <a:pt x="22395" y="0"/>
                  <a:pt x="49980" y="0"/>
                </a:cubicBezTo>
                <a:close/>
              </a:path>
            </a:pathLst>
          </a:custGeom>
          <a:solidFill>
            <a:srgbClr val="4A5568">
              <a:alpha val="20000"/>
            </a:srgbClr>
          </a:solidFill>
          <a:ln/>
        </p:spPr>
        <p:txBody>
          <a:bodyPr/>
          <a:lstStyle/>
          <a:p>
            <a:endParaRPr lang="zh-CN" altLang="en-US"/>
          </a:p>
        </p:txBody>
      </p:sp>
      <p:sp>
        <p:nvSpPr>
          <p:cNvPr id="20" name="Shape 18"/>
          <p:cNvSpPr/>
          <p:nvPr/>
        </p:nvSpPr>
        <p:spPr>
          <a:xfrm>
            <a:off x="8304980" y="1599360"/>
            <a:ext cx="49980" cy="4098361"/>
          </a:xfrm>
          <a:custGeom>
            <a:avLst/>
            <a:gdLst/>
            <a:ahLst/>
            <a:cxnLst/>
            <a:rect l="l" t="t" r="r" b="b"/>
            <a:pathLst>
              <a:path w="49980" h="4098361">
                <a:moveTo>
                  <a:pt x="49980" y="0"/>
                </a:moveTo>
                <a:lnTo>
                  <a:pt x="49980" y="0"/>
                </a:lnTo>
                <a:lnTo>
                  <a:pt x="49980" y="4098361"/>
                </a:lnTo>
                <a:lnTo>
                  <a:pt x="49980" y="4098361"/>
                </a:lnTo>
                <a:cubicBezTo>
                  <a:pt x="22377" y="4098361"/>
                  <a:pt x="0" y="4075984"/>
                  <a:pt x="0" y="4048381"/>
                </a:cubicBezTo>
                <a:lnTo>
                  <a:pt x="0" y="49980"/>
                </a:lnTo>
                <a:cubicBezTo>
                  <a:pt x="0" y="22395"/>
                  <a:pt x="22395" y="0"/>
                  <a:pt x="49980" y="0"/>
                </a:cubicBezTo>
                <a:close/>
              </a:path>
            </a:pathLst>
          </a:custGeom>
          <a:solidFill>
            <a:srgbClr val="D69E2E"/>
          </a:solidFill>
          <a:ln/>
        </p:spPr>
        <p:txBody>
          <a:bodyPr/>
          <a:lstStyle/>
          <a:p>
            <a:endParaRPr lang="zh-CN" altLang="en-US"/>
          </a:p>
        </p:txBody>
      </p:sp>
      <p:sp>
        <p:nvSpPr>
          <p:cNvPr id="21" name="Text 19"/>
          <p:cNvSpPr/>
          <p:nvPr/>
        </p:nvSpPr>
        <p:spPr>
          <a:xfrm>
            <a:off x="8529890" y="1799281"/>
            <a:ext cx="7159637" cy="349860"/>
          </a:xfrm>
          <a:prstGeom prst="rect">
            <a:avLst/>
          </a:prstGeom>
          <a:noFill/>
          <a:ln/>
        </p:spPr>
        <p:txBody>
          <a:bodyPr wrap="square" lIns="0" tIns="0" rIns="0" bIns="0" rtlCol="0" anchor="ctr"/>
          <a:lstStyle/>
          <a:p>
            <a:pPr>
              <a:lnSpc>
                <a:spcPct val="120000"/>
              </a:lnSpc>
            </a:pPr>
            <a:r>
              <a:rPr lang="en-US" sz="1968" b="1" dirty="0">
                <a:solidFill>
                  <a:srgbClr val="D69E2E"/>
                </a:solidFill>
                <a:latin typeface="MiSans" pitchFamily="34" charset="0"/>
                <a:ea typeface="MiSans" pitchFamily="34" charset="-122"/>
                <a:cs typeface="MiSans" pitchFamily="34" charset="-120"/>
              </a:rPr>
              <a:t>事务 API 使用示例</a:t>
            </a:r>
            <a:endParaRPr lang="en-US" sz="1600" dirty="0"/>
          </a:p>
        </p:txBody>
      </p:sp>
      <p:sp>
        <p:nvSpPr>
          <p:cNvPr id="22" name="Shape 20"/>
          <p:cNvSpPr/>
          <p:nvPr/>
        </p:nvSpPr>
        <p:spPr>
          <a:xfrm>
            <a:off x="8529890" y="2299081"/>
            <a:ext cx="7034687" cy="3198721"/>
          </a:xfrm>
          <a:custGeom>
            <a:avLst/>
            <a:gdLst/>
            <a:ahLst/>
            <a:cxnLst/>
            <a:rect l="l" t="t" r="r" b="b"/>
            <a:pathLst>
              <a:path w="7034687" h="3198721">
                <a:moveTo>
                  <a:pt x="49996" y="0"/>
                </a:moveTo>
                <a:lnTo>
                  <a:pt x="6984691" y="0"/>
                </a:lnTo>
                <a:cubicBezTo>
                  <a:pt x="7012303" y="0"/>
                  <a:pt x="7034687" y="22384"/>
                  <a:pt x="7034687" y="49996"/>
                </a:cubicBezTo>
                <a:lnTo>
                  <a:pt x="7034687" y="3148725"/>
                </a:lnTo>
                <a:cubicBezTo>
                  <a:pt x="7034687" y="3176337"/>
                  <a:pt x="7012303" y="3198721"/>
                  <a:pt x="6984691" y="3198721"/>
                </a:cubicBezTo>
                <a:lnTo>
                  <a:pt x="49996" y="3198721"/>
                </a:lnTo>
                <a:cubicBezTo>
                  <a:pt x="22384" y="3198721"/>
                  <a:pt x="0" y="3176337"/>
                  <a:pt x="0" y="3148725"/>
                </a:cubicBezTo>
                <a:lnTo>
                  <a:pt x="0" y="49996"/>
                </a:lnTo>
                <a:cubicBezTo>
                  <a:pt x="0" y="22402"/>
                  <a:pt x="22402" y="0"/>
                  <a:pt x="49996" y="0"/>
                </a:cubicBezTo>
                <a:close/>
              </a:path>
            </a:pathLst>
          </a:custGeom>
          <a:solidFill>
            <a:srgbClr val="1A1D21">
              <a:alpha val="60000"/>
            </a:srgbClr>
          </a:solidFill>
          <a:ln/>
        </p:spPr>
        <p:txBody>
          <a:bodyPr/>
          <a:lstStyle/>
          <a:p>
            <a:endParaRPr lang="zh-CN" altLang="en-US"/>
          </a:p>
        </p:txBody>
      </p:sp>
      <p:sp>
        <p:nvSpPr>
          <p:cNvPr id="23" name="Text 21"/>
          <p:cNvSpPr/>
          <p:nvPr/>
        </p:nvSpPr>
        <p:spPr>
          <a:xfrm>
            <a:off x="8679830" y="2449021"/>
            <a:ext cx="6809777" cy="3048781"/>
          </a:xfrm>
          <a:prstGeom prst="rect">
            <a:avLst/>
          </a:prstGeom>
          <a:noFill/>
          <a:ln/>
        </p:spPr>
        <p:txBody>
          <a:bodyPr wrap="square" lIns="0" tIns="0" rIns="0" bIns="0" rtlCol="0" anchor="t"/>
          <a:lstStyle/>
          <a:p>
            <a:r>
              <a:rPr lang="en-US" altLang="zh-CN" sz="1200" dirty="0" err="1">
                <a:solidFill>
                  <a:schemeClr val="bg1"/>
                </a:solidFill>
                <a:latin typeface="Calibri" panose="020F0502020204030204" pitchFamily="34" charset="0"/>
                <a:cs typeface="Calibri" panose="020F0502020204030204" pitchFamily="34" charset="0"/>
              </a:rPr>
              <a:t>producer.initTransactions</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try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producer.beginTransaction</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 </a:t>
            </a:r>
            <a:r>
              <a:rPr lang="zh-CN" altLang="en-US" sz="1200" dirty="0">
                <a:solidFill>
                  <a:srgbClr val="00B050"/>
                </a:solidFill>
                <a:latin typeface="Calibri" panose="020F0502020204030204" pitchFamily="34" charset="0"/>
                <a:cs typeface="Calibri" panose="020F0502020204030204" pitchFamily="34" charset="0"/>
              </a:rPr>
              <a:t>发送消息</a:t>
            </a: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producer.send</a:t>
            </a:r>
            <a:r>
              <a:rPr lang="en-US" altLang="zh-CN" sz="1200" dirty="0">
                <a:solidFill>
                  <a:schemeClr val="bg1"/>
                </a:solidFill>
                <a:latin typeface="Calibri" panose="020F0502020204030204" pitchFamily="34" charset="0"/>
                <a:cs typeface="Calibri" panose="020F0502020204030204" pitchFamily="34" charset="0"/>
              </a:rPr>
              <a:t>(record1);</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producer.send</a:t>
            </a:r>
            <a:r>
              <a:rPr lang="en-US" altLang="zh-CN" sz="1200" dirty="0">
                <a:solidFill>
                  <a:schemeClr val="bg1"/>
                </a:solidFill>
                <a:latin typeface="Calibri" panose="020F0502020204030204" pitchFamily="34" charset="0"/>
                <a:cs typeface="Calibri" panose="020F0502020204030204" pitchFamily="34" charset="0"/>
              </a:rPr>
              <a:t>(record2);</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 </a:t>
            </a:r>
            <a:r>
              <a:rPr lang="zh-CN" altLang="en-US" sz="1200" dirty="0">
                <a:solidFill>
                  <a:srgbClr val="00B050"/>
                </a:solidFill>
                <a:latin typeface="Calibri" panose="020F0502020204030204" pitchFamily="34" charset="0"/>
                <a:cs typeface="Calibri" panose="020F0502020204030204" pitchFamily="34" charset="0"/>
              </a:rPr>
              <a:t>提交事务</a:t>
            </a: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producer.commitTransaction</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catch (</a:t>
            </a:r>
            <a:r>
              <a:rPr lang="en-US" altLang="zh-CN" sz="1200" dirty="0" err="1">
                <a:solidFill>
                  <a:schemeClr val="bg1"/>
                </a:solidFill>
                <a:latin typeface="Calibri" panose="020F0502020204030204" pitchFamily="34" charset="0"/>
                <a:cs typeface="Calibri" panose="020F0502020204030204" pitchFamily="34" charset="0"/>
              </a:rPr>
              <a:t>ProducerFencedException</a:t>
            </a:r>
            <a:r>
              <a:rPr lang="en-US" altLang="zh-CN" sz="1200" dirty="0">
                <a:solidFill>
                  <a:schemeClr val="bg1"/>
                </a:solidFill>
                <a:latin typeface="Calibri" panose="020F0502020204030204" pitchFamily="34" charset="0"/>
                <a:cs typeface="Calibri" panose="020F0502020204030204" pitchFamily="34" charset="0"/>
              </a:rPr>
              <a:t> e)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producer.close</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catch (</a:t>
            </a:r>
            <a:r>
              <a:rPr lang="en-US" altLang="zh-CN" sz="1200" dirty="0" err="1">
                <a:solidFill>
                  <a:schemeClr val="bg1"/>
                </a:solidFill>
                <a:latin typeface="Calibri" panose="020F0502020204030204" pitchFamily="34" charset="0"/>
                <a:cs typeface="Calibri" panose="020F0502020204030204" pitchFamily="34" charset="0"/>
              </a:rPr>
              <a:t>KafkaException</a:t>
            </a:r>
            <a:r>
              <a:rPr lang="en-US" altLang="zh-CN" sz="1200" dirty="0">
                <a:solidFill>
                  <a:schemeClr val="bg1"/>
                </a:solidFill>
                <a:latin typeface="Calibri" panose="020F0502020204030204" pitchFamily="34" charset="0"/>
                <a:cs typeface="Calibri" panose="020F0502020204030204" pitchFamily="34" charset="0"/>
              </a:rPr>
              <a:t> e)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producer.abortTransaction</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中止事务</a:t>
            </a:r>
          </a:p>
          <a:p>
            <a:r>
              <a:rPr lang="en-US" altLang="zh-CN" sz="1200" dirty="0">
                <a:solidFill>
                  <a:schemeClr val="bg1"/>
                </a:solidFill>
                <a:latin typeface="Calibri" panose="020F0502020204030204" pitchFamily="34" charset="0"/>
                <a:cs typeface="Calibri" panose="020F0502020204030204" pitchFamily="34" charset="0"/>
              </a:rPr>
              <a:t>}</a:t>
            </a:r>
          </a:p>
        </p:txBody>
      </p:sp>
      <p:sp>
        <p:nvSpPr>
          <p:cNvPr id="24" name="Shape 22"/>
          <p:cNvSpPr/>
          <p:nvPr/>
        </p:nvSpPr>
        <p:spPr>
          <a:xfrm>
            <a:off x="8304980" y="5847662"/>
            <a:ext cx="7459517" cy="2798881"/>
          </a:xfrm>
          <a:custGeom>
            <a:avLst/>
            <a:gdLst/>
            <a:ahLst/>
            <a:cxnLst/>
            <a:rect l="l" t="t" r="r" b="b"/>
            <a:pathLst>
              <a:path w="7459517" h="2798881">
                <a:moveTo>
                  <a:pt x="49980" y="0"/>
                </a:moveTo>
                <a:lnTo>
                  <a:pt x="7359569" y="0"/>
                </a:lnTo>
                <a:cubicBezTo>
                  <a:pt x="7414769" y="0"/>
                  <a:pt x="7459517" y="44748"/>
                  <a:pt x="7459517" y="99948"/>
                </a:cubicBezTo>
                <a:lnTo>
                  <a:pt x="7459517" y="2698933"/>
                </a:lnTo>
                <a:cubicBezTo>
                  <a:pt x="7459517" y="2754133"/>
                  <a:pt x="7414769" y="2798881"/>
                  <a:pt x="7359569" y="2798881"/>
                </a:cubicBezTo>
                <a:lnTo>
                  <a:pt x="49980" y="2798881"/>
                </a:lnTo>
                <a:cubicBezTo>
                  <a:pt x="22377" y="2798881"/>
                  <a:pt x="0" y="2776504"/>
                  <a:pt x="0" y="2748901"/>
                </a:cubicBezTo>
                <a:lnTo>
                  <a:pt x="0" y="49980"/>
                </a:lnTo>
                <a:cubicBezTo>
                  <a:pt x="0" y="22395"/>
                  <a:pt x="22395" y="0"/>
                  <a:pt x="49980" y="0"/>
                </a:cubicBezTo>
                <a:close/>
              </a:path>
            </a:pathLst>
          </a:custGeom>
          <a:solidFill>
            <a:srgbClr val="4A5568">
              <a:alpha val="20000"/>
            </a:srgbClr>
          </a:solidFill>
          <a:ln/>
        </p:spPr>
        <p:txBody>
          <a:bodyPr/>
          <a:lstStyle/>
          <a:p>
            <a:endParaRPr lang="zh-CN" altLang="en-US"/>
          </a:p>
        </p:txBody>
      </p:sp>
      <p:sp>
        <p:nvSpPr>
          <p:cNvPr id="25" name="Shape 23"/>
          <p:cNvSpPr/>
          <p:nvPr/>
        </p:nvSpPr>
        <p:spPr>
          <a:xfrm>
            <a:off x="8304980" y="5847662"/>
            <a:ext cx="49980" cy="2798881"/>
          </a:xfrm>
          <a:custGeom>
            <a:avLst/>
            <a:gdLst/>
            <a:ahLst/>
            <a:cxnLst/>
            <a:rect l="l" t="t" r="r" b="b"/>
            <a:pathLst>
              <a:path w="49980" h="2798881">
                <a:moveTo>
                  <a:pt x="49980" y="0"/>
                </a:moveTo>
                <a:lnTo>
                  <a:pt x="49980" y="0"/>
                </a:lnTo>
                <a:lnTo>
                  <a:pt x="49980" y="2798881"/>
                </a:lnTo>
                <a:lnTo>
                  <a:pt x="49980" y="2798881"/>
                </a:lnTo>
                <a:cubicBezTo>
                  <a:pt x="22377" y="2798881"/>
                  <a:pt x="0" y="2776504"/>
                  <a:pt x="0" y="2748901"/>
                </a:cubicBezTo>
                <a:lnTo>
                  <a:pt x="0" y="49980"/>
                </a:lnTo>
                <a:cubicBezTo>
                  <a:pt x="0" y="22395"/>
                  <a:pt x="22395" y="0"/>
                  <a:pt x="49980" y="0"/>
                </a:cubicBezTo>
                <a:close/>
              </a:path>
            </a:pathLst>
          </a:custGeom>
          <a:solidFill>
            <a:srgbClr val="D69E2E"/>
          </a:solidFill>
          <a:ln/>
        </p:spPr>
        <p:txBody>
          <a:bodyPr/>
          <a:lstStyle/>
          <a:p>
            <a:endParaRPr lang="zh-CN" altLang="en-US"/>
          </a:p>
        </p:txBody>
      </p:sp>
      <p:sp>
        <p:nvSpPr>
          <p:cNvPr id="26" name="Text 24"/>
          <p:cNvSpPr/>
          <p:nvPr/>
        </p:nvSpPr>
        <p:spPr>
          <a:xfrm>
            <a:off x="8529890" y="6047582"/>
            <a:ext cx="7159637" cy="349860"/>
          </a:xfrm>
          <a:prstGeom prst="rect">
            <a:avLst/>
          </a:prstGeom>
          <a:noFill/>
          <a:ln/>
        </p:spPr>
        <p:txBody>
          <a:bodyPr wrap="square" lIns="0" tIns="0" rIns="0" bIns="0" rtlCol="0" anchor="ctr"/>
          <a:lstStyle/>
          <a:p>
            <a:pPr>
              <a:lnSpc>
                <a:spcPct val="120000"/>
              </a:lnSpc>
            </a:pPr>
            <a:r>
              <a:rPr lang="en-US" sz="1968" b="1" dirty="0">
                <a:solidFill>
                  <a:srgbClr val="D69E2E"/>
                </a:solidFill>
                <a:latin typeface="MiSans" pitchFamily="34" charset="0"/>
                <a:ea typeface="MiSans" pitchFamily="34" charset="-122"/>
                <a:cs typeface="MiSans" pitchFamily="34" charset="-120"/>
              </a:rPr>
              <a:t>Exactly-Once 完整配置</a:t>
            </a:r>
            <a:endParaRPr lang="en-US" sz="1600" dirty="0"/>
          </a:p>
        </p:txBody>
      </p:sp>
      <p:sp>
        <p:nvSpPr>
          <p:cNvPr id="27" name="Shape 25"/>
          <p:cNvSpPr/>
          <p:nvPr/>
        </p:nvSpPr>
        <p:spPr>
          <a:xfrm>
            <a:off x="8529890" y="6547382"/>
            <a:ext cx="7034687" cy="1899241"/>
          </a:xfrm>
          <a:custGeom>
            <a:avLst/>
            <a:gdLst/>
            <a:ahLst/>
            <a:cxnLst/>
            <a:rect l="l" t="t" r="r" b="b"/>
            <a:pathLst>
              <a:path w="7034687" h="1899241">
                <a:moveTo>
                  <a:pt x="49988" y="0"/>
                </a:moveTo>
                <a:lnTo>
                  <a:pt x="6984699" y="0"/>
                </a:lnTo>
                <a:cubicBezTo>
                  <a:pt x="7012307" y="0"/>
                  <a:pt x="7034687" y="22380"/>
                  <a:pt x="7034687" y="49988"/>
                </a:cubicBezTo>
                <a:lnTo>
                  <a:pt x="7034687" y="1849253"/>
                </a:lnTo>
                <a:cubicBezTo>
                  <a:pt x="7034687" y="1876860"/>
                  <a:pt x="7012307" y="1899241"/>
                  <a:pt x="6984699" y="1899241"/>
                </a:cubicBezTo>
                <a:lnTo>
                  <a:pt x="49988" y="1899241"/>
                </a:lnTo>
                <a:cubicBezTo>
                  <a:pt x="22380" y="1899241"/>
                  <a:pt x="0" y="1876860"/>
                  <a:pt x="0" y="1849253"/>
                </a:cubicBezTo>
                <a:lnTo>
                  <a:pt x="0" y="49988"/>
                </a:lnTo>
                <a:cubicBezTo>
                  <a:pt x="0" y="22380"/>
                  <a:pt x="22380" y="0"/>
                  <a:pt x="49988" y="0"/>
                </a:cubicBezTo>
                <a:close/>
              </a:path>
            </a:pathLst>
          </a:custGeom>
          <a:solidFill>
            <a:srgbClr val="1A1D21">
              <a:alpha val="60000"/>
            </a:srgbClr>
          </a:solidFill>
          <a:ln/>
        </p:spPr>
        <p:txBody>
          <a:bodyPr/>
          <a:lstStyle/>
          <a:p>
            <a:endParaRPr lang="zh-CN" altLang="en-US"/>
          </a:p>
        </p:txBody>
      </p:sp>
      <p:sp>
        <p:nvSpPr>
          <p:cNvPr id="28" name="Text 26"/>
          <p:cNvSpPr/>
          <p:nvPr/>
        </p:nvSpPr>
        <p:spPr>
          <a:xfrm>
            <a:off x="8679830" y="6697322"/>
            <a:ext cx="6809777" cy="1599360"/>
          </a:xfrm>
          <a:prstGeom prst="rect">
            <a:avLst/>
          </a:prstGeom>
          <a:noFill/>
          <a:ln/>
        </p:spPr>
        <p:txBody>
          <a:bodyPr wrap="square" lIns="0" tIns="0" rIns="0" bIns="0" rtlCol="0" anchor="ctr"/>
          <a:lstStyle/>
          <a:p>
            <a:pPr>
              <a:lnSpc>
                <a:spcPct val="110000"/>
              </a:lnSpc>
            </a:pPr>
            <a:r>
              <a:rPr lang="en-US" sz="1181" dirty="0">
                <a:solidFill>
                  <a:srgbClr val="718096"/>
                </a:solidFill>
                <a:latin typeface="MiSans" pitchFamily="34" charset="0"/>
                <a:ea typeface="MiSans" pitchFamily="34" charset="-122"/>
                <a:cs typeface="MiSans" pitchFamily="34" charset="-120"/>
              </a:rPr>
              <a:t>// Producer </a:t>
            </a:r>
            <a:r>
              <a:rPr lang="en-US" sz="1181" dirty="0" err="1">
                <a:solidFill>
                  <a:srgbClr val="718096"/>
                </a:solidFill>
                <a:latin typeface="MiSans" pitchFamily="34" charset="0"/>
                <a:ea typeface="MiSans" pitchFamily="34" charset="-122"/>
                <a:cs typeface="MiSans" pitchFamily="34" charset="-120"/>
              </a:rPr>
              <a:t>配置</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"enable.idempotence"</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"true"</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"transactional.id"</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a:t>
            </a:r>
            <a:r>
              <a:rPr lang="en-US" sz="1181" dirty="0" err="1">
                <a:solidFill>
                  <a:srgbClr val="E2E8F0"/>
                </a:solidFill>
                <a:latin typeface="MiSans" pitchFamily="34" charset="0"/>
                <a:ea typeface="MiSans" pitchFamily="34" charset="-122"/>
                <a:cs typeface="MiSans" pitchFamily="34" charset="-120"/>
              </a:rPr>
              <a:t>txn</a:t>
            </a:r>
            <a:r>
              <a:rPr lang="en-US" sz="1181" dirty="0">
                <a:solidFill>
                  <a:srgbClr val="E2E8F0"/>
                </a:solidFill>
                <a:latin typeface="MiSans" pitchFamily="34" charset="0"/>
                <a:ea typeface="MiSans" pitchFamily="34" charset="-122"/>
                <a:cs typeface="MiSans" pitchFamily="34" charset="-120"/>
              </a:rPr>
              <a:t>-id"</a:t>
            </a:r>
            <a:r>
              <a:rPr lang="en-US" sz="1181" dirty="0">
                <a:solidFill>
                  <a:srgbClr val="718096"/>
                </a:solidFill>
                <a:latin typeface="MiSans" pitchFamily="34" charset="0"/>
                <a:ea typeface="MiSans" pitchFamily="34" charset="-122"/>
                <a:cs typeface="MiSans" pitchFamily="34" charset="-120"/>
              </a:rPr>
              <a:t>);</a:t>
            </a:r>
          </a:p>
          <a:p>
            <a:pPr>
              <a:lnSpc>
                <a:spcPct val="110000"/>
              </a:lnSpc>
            </a:pPr>
            <a:r>
              <a:rPr lang="en-US" sz="1181" dirty="0">
                <a:solidFill>
                  <a:srgbClr val="718096"/>
                </a:solidFill>
                <a:latin typeface="MiSans" pitchFamily="34" charset="0"/>
                <a:ea typeface="MiSans" pitchFamily="34" charset="-122"/>
                <a:cs typeface="MiSans" pitchFamily="34" charset="-120"/>
              </a:rPr>
              <a:t> props.put(</a:t>
            </a:r>
            <a:r>
              <a:rPr lang="en-US" sz="1181" dirty="0">
                <a:solidFill>
                  <a:srgbClr val="E2E8F0"/>
                </a:solidFill>
                <a:latin typeface="MiSans" pitchFamily="34" charset="0"/>
                <a:ea typeface="MiSans" pitchFamily="34" charset="-122"/>
                <a:cs typeface="MiSans" pitchFamily="34" charset="-120"/>
              </a:rPr>
              <a:t>"acks"</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"all"</a:t>
            </a:r>
            <a:r>
              <a:rPr lang="en-US" sz="1181" dirty="0">
                <a:solidFill>
                  <a:srgbClr val="718096"/>
                </a:solidFill>
                <a:latin typeface="MiSans" pitchFamily="34" charset="0"/>
                <a:ea typeface="MiSans" pitchFamily="34" charset="-122"/>
                <a:cs typeface="MiSans" pitchFamily="34" charset="-120"/>
              </a:rPr>
              <a:t>); </a:t>
            </a:r>
          </a:p>
          <a:p>
            <a:pPr>
              <a:lnSpc>
                <a:spcPct val="110000"/>
              </a:lnSpc>
            </a:pPr>
            <a:endParaRPr lang="en-US" sz="1181" dirty="0">
              <a:solidFill>
                <a:srgbClr val="718096"/>
              </a:solidFill>
              <a:latin typeface="MiSans" pitchFamily="34" charset="0"/>
              <a:ea typeface="MiSans" pitchFamily="34" charset="-122"/>
              <a:cs typeface="MiSans" pitchFamily="34" charset="-120"/>
            </a:endParaRPr>
          </a:p>
          <a:p>
            <a:pPr>
              <a:lnSpc>
                <a:spcPct val="110000"/>
              </a:lnSpc>
            </a:pPr>
            <a:r>
              <a:rPr lang="en-US" sz="1181" dirty="0">
                <a:solidFill>
                  <a:srgbClr val="718096"/>
                </a:solidFill>
                <a:latin typeface="MiSans" pitchFamily="34" charset="0"/>
                <a:ea typeface="MiSans" pitchFamily="34" charset="-122"/>
                <a:cs typeface="MiSans" pitchFamily="34" charset="-120"/>
              </a:rPr>
              <a:t>// Consumer </a:t>
            </a:r>
            <a:r>
              <a:rPr lang="en-US" sz="1181" dirty="0" err="1">
                <a:solidFill>
                  <a:srgbClr val="718096"/>
                </a:solidFill>
                <a:latin typeface="MiSans" pitchFamily="34" charset="0"/>
                <a:ea typeface="MiSans" pitchFamily="34" charset="-122"/>
                <a:cs typeface="MiSans" pitchFamily="34" charset="-120"/>
              </a:rPr>
              <a:t>配置</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"isolation.level"</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"read_committed"</a:t>
            </a:r>
            <a:r>
              <a:rPr lang="en-US" sz="1181" dirty="0">
                <a:solidFill>
                  <a:srgbClr val="718096"/>
                </a:solidFill>
                <a:latin typeface="MiSans" pitchFamily="34" charset="0"/>
                <a:ea typeface="MiSans" pitchFamily="34" charset="-122"/>
                <a:cs typeface="MiSans" pitchFamily="34" charset="-120"/>
              </a:rPr>
              <a:t>); </a:t>
            </a:r>
          </a:p>
          <a:p>
            <a:pPr>
              <a:lnSpc>
                <a:spcPct val="110000"/>
              </a:lnSpc>
            </a:pPr>
            <a:r>
              <a:rPr lang="en-US" sz="1181" dirty="0" err="1">
                <a:solidFill>
                  <a:srgbClr val="718096"/>
                </a:solidFill>
                <a:latin typeface="MiSans" pitchFamily="34" charset="0"/>
                <a:ea typeface="MiSans" pitchFamily="34" charset="-122"/>
                <a:cs typeface="MiSans" pitchFamily="34" charset="-120"/>
              </a:rPr>
              <a:t>props.put</a:t>
            </a:r>
            <a:r>
              <a:rPr lang="en-US" sz="1181" dirty="0">
                <a:solidFill>
                  <a:srgbClr val="718096"/>
                </a:solidFill>
                <a:latin typeface="MiSans" pitchFamily="34" charset="0"/>
                <a:ea typeface="MiSans" pitchFamily="34" charset="-122"/>
                <a:cs typeface="MiSans" pitchFamily="34" charset="-120"/>
              </a:rPr>
              <a:t>(</a:t>
            </a:r>
            <a:r>
              <a:rPr lang="en-US" sz="1181" dirty="0">
                <a:solidFill>
                  <a:srgbClr val="E2E8F0"/>
                </a:solidFill>
                <a:latin typeface="MiSans" pitchFamily="34" charset="0"/>
                <a:ea typeface="MiSans" pitchFamily="34" charset="-122"/>
                <a:cs typeface="MiSans" pitchFamily="34" charset="-120"/>
              </a:rPr>
              <a:t>"enable.auto.commit"</a:t>
            </a:r>
            <a:r>
              <a:rPr lang="en-US" sz="1181" dirty="0">
                <a:solidFill>
                  <a:srgbClr val="718096"/>
                </a:solidFill>
                <a:latin typeface="MiSans" pitchFamily="34" charset="0"/>
                <a:ea typeface="MiSans" pitchFamily="34" charset="-122"/>
                <a:cs typeface="MiSans" pitchFamily="34" charset="-120"/>
              </a:rPr>
              <a:t>, </a:t>
            </a:r>
            <a:r>
              <a:rPr lang="en-US" sz="1181" dirty="0">
                <a:solidFill>
                  <a:srgbClr val="E2E8F0"/>
                </a:solidFill>
                <a:latin typeface="MiSans" pitchFamily="34" charset="0"/>
                <a:ea typeface="MiSans" pitchFamily="34" charset="-122"/>
                <a:cs typeface="MiSans" pitchFamily="34" charset="-120"/>
              </a:rPr>
              <a:t>"false"</a:t>
            </a:r>
            <a:r>
              <a:rPr lang="en-US" sz="1181" dirty="0">
                <a:solidFill>
                  <a:srgbClr val="718096"/>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miro.medium.com/f010d170ef882ddbb325e105b1ab968798102068.png"/>
          <p:cNvPicPr>
            <a:picLocks noChangeAspect="1"/>
          </p:cNvPicPr>
          <p:nvPr/>
        </p:nvPicPr>
        <p:blipFill>
          <a:blip r:embed="rId3">
            <a:alphaModFix amt="20000"/>
          </a:blip>
          <a:srcRect l="1778" r="1778"/>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txBody>
          <a:bodyPr/>
          <a:lstStyle/>
          <a:p>
            <a:endParaRPr lang="zh-CN" altLang="en-US"/>
          </a:p>
        </p:txBody>
      </p:sp>
      <p:sp>
        <p:nvSpPr>
          <p:cNvPr id="4" name="Text 1"/>
          <p:cNvSpPr/>
          <p:nvPr/>
        </p:nvSpPr>
        <p:spPr>
          <a:xfrm>
            <a:off x="508000" y="2254250"/>
            <a:ext cx="1982788" cy="336550"/>
          </a:xfrm>
          <a:prstGeom prst="rect">
            <a:avLst/>
          </a:prstGeom>
          <a:noFill/>
          <a:ln/>
        </p:spPr>
        <p:txBody>
          <a:bodyPr wrap="square" lIns="0" tIns="0" rIns="0" bIns="0" rtlCol="0" anchor="ctr"/>
          <a:lstStyle/>
          <a:p>
            <a:pPr>
              <a:lnSpc>
                <a:spcPct val="120000"/>
              </a:lnSpc>
            </a:pPr>
            <a:r>
              <a:rPr lang="en-US" sz="2000" b="1" kern="0" spc="800" dirty="0">
                <a:solidFill>
                  <a:srgbClr val="D69E2E"/>
                </a:solidFill>
                <a:latin typeface="MiSans" pitchFamily="34" charset="0"/>
                <a:ea typeface="MiSans" pitchFamily="34" charset="-122"/>
                <a:cs typeface="MiSans" pitchFamily="34" charset="-120"/>
              </a:rPr>
              <a:t>CHAPTER</a:t>
            </a:r>
            <a:endParaRPr lang="en-US" sz="1600" dirty="0"/>
          </a:p>
        </p:txBody>
      </p:sp>
      <p:sp>
        <p:nvSpPr>
          <p:cNvPr id="5" name="Text 2"/>
          <p:cNvSpPr/>
          <p:nvPr/>
        </p:nvSpPr>
        <p:spPr>
          <a:xfrm>
            <a:off x="508000" y="3289300"/>
            <a:ext cx="3479800" cy="2032000"/>
          </a:xfrm>
          <a:prstGeom prst="rect">
            <a:avLst/>
          </a:prstGeom>
          <a:noFill/>
          <a:ln/>
        </p:spPr>
        <p:txBody>
          <a:bodyPr wrap="square" lIns="0" tIns="0" rIns="0" bIns="0" rtlCol="0" anchor="ctr"/>
          <a:lstStyle/>
          <a:p>
            <a:pPr>
              <a:lnSpc>
                <a:spcPct val="80000"/>
              </a:lnSpc>
            </a:pPr>
            <a:r>
              <a:rPr lang="en-US" sz="16000" b="1" dirty="0">
                <a:solidFill>
                  <a:srgbClr val="D69E2E"/>
                </a:solidFill>
                <a:latin typeface="MiSans" pitchFamily="34" charset="0"/>
                <a:ea typeface="MiSans" pitchFamily="34" charset="-122"/>
                <a:cs typeface="MiSans" pitchFamily="34" charset="-120"/>
              </a:rPr>
              <a:t>03</a:t>
            </a:r>
            <a:endParaRPr lang="en-US" sz="1600" dirty="0"/>
          </a:p>
        </p:txBody>
      </p:sp>
      <p:sp>
        <p:nvSpPr>
          <p:cNvPr id="6" name="Text 3"/>
          <p:cNvSpPr/>
          <p:nvPr/>
        </p:nvSpPr>
        <p:spPr>
          <a:xfrm>
            <a:off x="3383359" y="3009900"/>
            <a:ext cx="4864100" cy="1905000"/>
          </a:xfrm>
          <a:prstGeom prst="rect">
            <a:avLst/>
          </a:prstGeom>
          <a:noFill/>
          <a:ln/>
        </p:spPr>
        <p:txBody>
          <a:bodyPr wrap="square" lIns="0" tIns="0" rIns="0" bIns="0" rtlCol="0" anchor="ctr"/>
          <a:lstStyle/>
          <a:p>
            <a:pPr>
              <a:lnSpc>
                <a:spcPct val="100000"/>
              </a:lnSpc>
            </a:pPr>
            <a:r>
              <a:rPr lang="en-US" sz="6000" b="1" dirty="0">
                <a:solidFill>
                  <a:srgbClr val="E2E8F0"/>
                </a:solidFill>
                <a:latin typeface="MiSans" pitchFamily="34" charset="0"/>
                <a:ea typeface="MiSans" pitchFamily="34" charset="-122"/>
                <a:cs typeface="MiSans" pitchFamily="34" charset="-120"/>
              </a:rPr>
              <a:t>Kafka Broker</a:t>
            </a:r>
            <a:endParaRPr lang="en-US" sz="1600" dirty="0"/>
          </a:p>
          <a:p>
            <a:pPr>
              <a:lnSpc>
                <a:spcPct val="100000"/>
              </a:lnSpc>
            </a:pPr>
            <a:r>
              <a:rPr lang="en-US" sz="6000" b="1" dirty="0">
                <a:solidFill>
                  <a:srgbClr val="E2E8F0"/>
                </a:solidFill>
                <a:latin typeface="MiSans" pitchFamily="34" charset="0"/>
                <a:ea typeface="MiSans" pitchFamily="34" charset="-122"/>
                <a:cs typeface="MiSans" pitchFamily="34" charset="-120"/>
              </a:rPr>
              <a:t>内部机制</a:t>
            </a:r>
            <a:endParaRPr lang="en-US" sz="1600" dirty="0"/>
          </a:p>
        </p:txBody>
      </p:sp>
      <p:sp>
        <p:nvSpPr>
          <p:cNvPr id="7" name="Shape 4"/>
          <p:cNvSpPr/>
          <p:nvPr/>
        </p:nvSpPr>
        <p:spPr>
          <a:xfrm>
            <a:off x="533400"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8" name="Text 5"/>
          <p:cNvSpPr/>
          <p:nvPr/>
        </p:nvSpPr>
        <p:spPr>
          <a:xfrm>
            <a:off x="812800"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学习重点</a:t>
            </a:r>
            <a:endParaRPr lang="en-US" sz="1600" dirty="0"/>
          </a:p>
        </p:txBody>
      </p:sp>
      <p:sp>
        <p:nvSpPr>
          <p:cNvPr id="9" name="Text 6"/>
          <p:cNvSpPr/>
          <p:nvPr/>
        </p:nvSpPr>
        <p:spPr>
          <a:xfrm>
            <a:off x="812800" y="6184900"/>
            <a:ext cx="3022600" cy="7112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剖析 Broker 核心架构与存储引擎</a:t>
            </a:r>
            <a:endParaRPr lang="en-US" sz="1600" dirty="0"/>
          </a:p>
        </p:txBody>
      </p:sp>
      <p:sp>
        <p:nvSpPr>
          <p:cNvPr id="10" name="Shape 7"/>
          <p:cNvSpPr/>
          <p:nvPr/>
        </p:nvSpPr>
        <p:spPr>
          <a:xfrm>
            <a:off x="4004667"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1" name="Text 8"/>
          <p:cNvSpPr/>
          <p:nvPr/>
        </p:nvSpPr>
        <p:spPr>
          <a:xfrm>
            <a:off x="4284067"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核心内容</a:t>
            </a:r>
            <a:endParaRPr lang="en-US" sz="1600" dirty="0"/>
          </a:p>
        </p:txBody>
      </p:sp>
      <p:sp>
        <p:nvSpPr>
          <p:cNvPr id="12" name="Text 9"/>
          <p:cNvSpPr/>
          <p:nvPr/>
        </p:nvSpPr>
        <p:spPr>
          <a:xfrm>
            <a:off x="4284067" y="6184900"/>
            <a:ext cx="3022600" cy="3556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理解副本同步与一致性保障</a:t>
            </a:r>
            <a:endParaRPr lang="en-US" sz="1600" dirty="0"/>
          </a:p>
        </p:txBody>
      </p:sp>
      <p:sp>
        <p:nvSpPr>
          <p:cNvPr id="13" name="Shape 10"/>
          <p:cNvSpPr/>
          <p:nvPr/>
        </p:nvSpPr>
        <p:spPr>
          <a:xfrm>
            <a:off x="7476034" y="58293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4" name="Text 11"/>
          <p:cNvSpPr/>
          <p:nvPr/>
        </p:nvSpPr>
        <p:spPr>
          <a:xfrm>
            <a:off x="7755434" y="5829300"/>
            <a:ext cx="2997200" cy="254000"/>
          </a:xfrm>
          <a:prstGeom prst="rect">
            <a:avLst/>
          </a:prstGeom>
          <a:noFill/>
          <a:ln/>
        </p:spPr>
        <p:txBody>
          <a:bodyPr wrap="square" lIns="0" tIns="0" rIns="0" bIns="0" rtlCol="0" anchor="ctr"/>
          <a:lstStyle/>
          <a:p>
            <a:pPr>
              <a:lnSpc>
                <a:spcPct val="120000"/>
              </a:lnSpc>
            </a:pPr>
            <a:r>
              <a:rPr lang="en-US" sz="1400" kern="0" spc="70" dirty="0">
                <a:solidFill>
                  <a:srgbClr val="718096"/>
                </a:solidFill>
                <a:latin typeface="MiSans" pitchFamily="34" charset="0"/>
                <a:ea typeface="MiSans" pitchFamily="34" charset="-122"/>
                <a:cs typeface="MiSans" pitchFamily="34" charset="-120"/>
              </a:rPr>
              <a:t>学习目标</a:t>
            </a:r>
            <a:endParaRPr lang="en-US" sz="1600" dirty="0"/>
          </a:p>
        </p:txBody>
      </p:sp>
      <p:sp>
        <p:nvSpPr>
          <p:cNvPr id="15" name="Text 12"/>
          <p:cNvSpPr/>
          <p:nvPr/>
        </p:nvSpPr>
        <p:spPr>
          <a:xfrm>
            <a:off x="7755434" y="6184900"/>
            <a:ext cx="3022600" cy="355600"/>
          </a:xfrm>
          <a:prstGeom prst="rect">
            <a:avLst/>
          </a:prstGeom>
          <a:noFill/>
          <a:ln/>
        </p:spPr>
        <p:txBody>
          <a:bodyPr wrap="square" lIns="0" tIns="0" rIns="0" bIns="0" rtlCol="0" anchor="ctr"/>
          <a:lstStyle/>
          <a:p>
            <a:pPr>
              <a:lnSpc>
                <a:spcPct val="130000"/>
              </a:lnSpc>
            </a:pPr>
            <a:r>
              <a:rPr lang="en-US" sz="1800" dirty="0">
                <a:solidFill>
                  <a:srgbClr val="E2E8F0"/>
                </a:solidFill>
                <a:latin typeface="MiSans" pitchFamily="34" charset="0"/>
                <a:ea typeface="MiSans" pitchFamily="34" charset="-122"/>
                <a:cs typeface="MiSans" pitchFamily="34" charset="-120"/>
              </a:rPr>
              <a:t>掌握性能调优与故障处理</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33493" y="433493"/>
            <a:ext cx="15475712" cy="260096"/>
          </a:xfrm>
          <a:prstGeom prst="rect">
            <a:avLst/>
          </a:prstGeom>
          <a:noFill/>
          <a:ln/>
        </p:spPr>
        <p:txBody>
          <a:bodyPr wrap="square" lIns="0" tIns="0" rIns="0" bIns="0" rtlCol="0" anchor="ctr"/>
          <a:lstStyle/>
          <a:p>
            <a:pPr>
              <a:lnSpc>
                <a:spcPct val="130000"/>
              </a:lnSpc>
            </a:pPr>
            <a:r>
              <a:rPr lang="en-US" sz="1365" b="1" kern="0" spc="68" dirty="0">
                <a:solidFill>
                  <a:srgbClr val="D69E2E"/>
                </a:solidFill>
                <a:latin typeface="MiSans" pitchFamily="34" charset="0"/>
                <a:ea typeface="MiSans" pitchFamily="34" charset="-122"/>
                <a:cs typeface="MiSans" pitchFamily="34" charset="-120"/>
              </a:rPr>
              <a:t>3.1.1 Broker 架构</a:t>
            </a:r>
            <a:endParaRPr lang="en-US" sz="1600" dirty="0"/>
          </a:p>
        </p:txBody>
      </p:sp>
      <p:sp>
        <p:nvSpPr>
          <p:cNvPr id="3" name="Text 1"/>
          <p:cNvSpPr/>
          <p:nvPr/>
        </p:nvSpPr>
        <p:spPr>
          <a:xfrm>
            <a:off x="433493" y="780288"/>
            <a:ext cx="15584085" cy="433493"/>
          </a:xfrm>
          <a:prstGeom prst="rect">
            <a:avLst/>
          </a:prstGeom>
          <a:noFill/>
          <a:ln/>
        </p:spPr>
        <p:txBody>
          <a:bodyPr wrap="square" lIns="0" tIns="0" rIns="0" bIns="0" rtlCol="0" anchor="ctr"/>
          <a:lstStyle/>
          <a:p>
            <a:pPr>
              <a:lnSpc>
                <a:spcPct val="90000"/>
              </a:lnSpc>
            </a:pPr>
            <a:r>
              <a:rPr lang="en-US" sz="3072" b="1" dirty="0">
                <a:solidFill>
                  <a:srgbClr val="E2E8F0"/>
                </a:solidFill>
                <a:latin typeface="MiSans" pitchFamily="34" charset="0"/>
                <a:ea typeface="MiSans" pitchFamily="34" charset="-122"/>
                <a:cs typeface="MiSans" pitchFamily="34" charset="-120"/>
              </a:rPr>
              <a:t>Kafka Broker 核心组件与网络层架构</a:t>
            </a:r>
            <a:endParaRPr lang="en-US" sz="1600" dirty="0"/>
          </a:p>
        </p:txBody>
      </p:sp>
      <p:sp>
        <p:nvSpPr>
          <p:cNvPr id="4" name="Text 2"/>
          <p:cNvSpPr/>
          <p:nvPr/>
        </p:nvSpPr>
        <p:spPr>
          <a:xfrm>
            <a:off x="433493" y="1387179"/>
            <a:ext cx="7694507" cy="346795"/>
          </a:xfrm>
          <a:prstGeom prst="rect">
            <a:avLst/>
          </a:prstGeom>
          <a:noFill/>
          <a:ln/>
        </p:spPr>
        <p:txBody>
          <a:bodyPr wrap="square" lIns="0" tIns="0" rIns="0" bIns="0" rtlCol="0" anchor="ctr"/>
          <a:lstStyle/>
          <a:p>
            <a:pPr>
              <a:lnSpc>
                <a:spcPct val="110000"/>
              </a:lnSpc>
            </a:pPr>
            <a:r>
              <a:rPr lang="en-US" sz="2048" b="1" dirty="0">
                <a:solidFill>
                  <a:srgbClr val="D69E2E"/>
                </a:solidFill>
                <a:latin typeface="MiSans" pitchFamily="34" charset="0"/>
                <a:ea typeface="MiSans" pitchFamily="34" charset="-122"/>
                <a:cs typeface="MiSans" pitchFamily="34" charset="-120"/>
              </a:rPr>
              <a:t>KafkaServer 类结构</a:t>
            </a:r>
            <a:endParaRPr lang="en-US" sz="1600" dirty="0"/>
          </a:p>
        </p:txBody>
      </p:sp>
      <p:sp>
        <p:nvSpPr>
          <p:cNvPr id="5" name="Shape 3"/>
          <p:cNvSpPr/>
          <p:nvPr/>
        </p:nvSpPr>
        <p:spPr>
          <a:xfrm>
            <a:off x="433493" y="1864021"/>
            <a:ext cx="7564459" cy="5635413"/>
          </a:xfrm>
          <a:custGeom>
            <a:avLst/>
            <a:gdLst/>
            <a:ahLst/>
            <a:cxnLst/>
            <a:rect l="l" t="t" r="r" b="b"/>
            <a:pathLst>
              <a:path w="7564459" h="5635413">
                <a:moveTo>
                  <a:pt x="86673" y="0"/>
                </a:moveTo>
                <a:lnTo>
                  <a:pt x="7477786" y="0"/>
                </a:lnTo>
                <a:cubicBezTo>
                  <a:pt x="7525654" y="0"/>
                  <a:pt x="7564459" y="38805"/>
                  <a:pt x="7564459" y="86673"/>
                </a:cubicBezTo>
                <a:lnTo>
                  <a:pt x="7564459" y="5548741"/>
                </a:lnTo>
                <a:cubicBezTo>
                  <a:pt x="7564459" y="5596609"/>
                  <a:pt x="7525654" y="5635413"/>
                  <a:pt x="7477786" y="5635413"/>
                </a:cubicBezTo>
                <a:lnTo>
                  <a:pt x="86673" y="5635413"/>
                </a:lnTo>
                <a:cubicBezTo>
                  <a:pt x="38805" y="5635413"/>
                  <a:pt x="0" y="5596609"/>
                  <a:pt x="0" y="5548741"/>
                </a:cubicBezTo>
                <a:lnTo>
                  <a:pt x="0" y="86673"/>
                </a:lnTo>
                <a:cubicBezTo>
                  <a:pt x="0" y="38805"/>
                  <a:pt x="38805" y="0"/>
                  <a:pt x="86673" y="0"/>
                </a:cubicBezTo>
                <a:close/>
              </a:path>
            </a:pathLst>
          </a:custGeom>
          <a:solidFill>
            <a:srgbClr val="1A1D21">
              <a:alpha val="60000"/>
            </a:srgbClr>
          </a:solidFill>
          <a:ln/>
        </p:spPr>
        <p:txBody>
          <a:bodyPr/>
          <a:lstStyle/>
          <a:p>
            <a:endParaRPr lang="zh-CN" altLang="en-US"/>
          </a:p>
        </p:txBody>
      </p:sp>
      <p:sp>
        <p:nvSpPr>
          <p:cNvPr id="6" name="Text 4"/>
          <p:cNvSpPr/>
          <p:nvPr/>
        </p:nvSpPr>
        <p:spPr>
          <a:xfrm>
            <a:off x="606891" y="2037419"/>
            <a:ext cx="7282688" cy="6673088"/>
          </a:xfrm>
          <a:prstGeom prst="rect">
            <a:avLst/>
          </a:prstGeom>
          <a:noFill/>
          <a:ln/>
        </p:spPr>
        <p:txBody>
          <a:bodyPr wrap="square" lIns="0" tIns="0" rIns="0" bIns="0" rtlCol="0" anchor="ctr"/>
          <a:lstStyle/>
          <a:p>
            <a:r>
              <a:rPr lang="en-US" altLang="zh-CN" sz="1200" dirty="0">
                <a:solidFill>
                  <a:schemeClr val="bg1"/>
                </a:solidFill>
              </a:rPr>
              <a:t>public class </a:t>
            </a:r>
            <a:r>
              <a:rPr lang="en-US" altLang="zh-CN" sz="1200" dirty="0" err="1">
                <a:solidFill>
                  <a:schemeClr val="bg1"/>
                </a:solidFill>
              </a:rPr>
              <a:t>KafkaServer</a:t>
            </a:r>
            <a:r>
              <a:rPr lang="en-US" altLang="zh-CN" sz="1200" dirty="0">
                <a:solidFill>
                  <a:schemeClr val="bg1"/>
                </a:solidFill>
              </a:rPr>
              <a:t> {</a:t>
            </a:r>
          </a:p>
          <a:p>
            <a:endParaRPr lang="en-US" altLang="zh-CN" sz="1200" dirty="0">
              <a:solidFill>
                <a:schemeClr val="bg1"/>
              </a:solidFill>
            </a:endParaRP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核心组件</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KafkaConfig</a:t>
            </a:r>
            <a:r>
              <a:rPr lang="en-US" altLang="zh-CN" sz="1200" dirty="0">
                <a:solidFill>
                  <a:schemeClr val="bg1"/>
                </a:solidFill>
              </a:rPr>
              <a:t> config;              </a:t>
            </a:r>
            <a:r>
              <a:rPr lang="en-US" altLang="zh-CN" sz="1200" i="1" dirty="0">
                <a:solidFill>
                  <a:srgbClr val="00B050"/>
                </a:solidFill>
              </a:rPr>
              <a:t>// </a:t>
            </a:r>
            <a:r>
              <a:rPr lang="zh-CN" altLang="en-US" sz="1200" i="1" dirty="0">
                <a:solidFill>
                  <a:srgbClr val="00B050"/>
                </a:solidFill>
              </a:rPr>
              <a:t>配置管理</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SocketServer</a:t>
            </a:r>
            <a:r>
              <a:rPr lang="en-US" altLang="zh-CN" sz="1200" dirty="0">
                <a:solidFill>
                  <a:schemeClr val="bg1"/>
                </a:solidFill>
              </a:rPr>
              <a:t> </a:t>
            </a:r>
            <a:r>
              <a:rPr lang="en-US" altLang="zh-CN" sz="1200" dirty="0" err="1">
                <a:solidFill>
                  <a:schemeClr val="bg1"/>
                </a:solidFill>
              </a:rPr>
              <a:t>socketServer</a:t>
            </a:r>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网络服务层</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RequestHandlerPool</a:t>
            </a:r>
            <a:r>
              <a:rPr lang="en-US" altLang="zh-CN" sz="1200" dirty="0">
                <a:solidFill>
                  <a:schemeClr val="bg1"/>
                </a:solidFill>
              </a:rPr>
              <a:t> </a:t>
            </a:r>
            <a:r>
              <a:rPr lang="en-US" altLang="zh-CN" sz="1200" dirty="0" err="1">
                <a:solidFill>
                  <a:schemeClr val="bg1"/>
                </a:solidFill>
              </a:rPr>
              <a:t>requestHandlerPool</a:t>
            </a:r>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请求处理池</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KafkaApis</a:t>
            </a:r>
            <a:r>
              <a:rPr lang="en-US" altLang="zh-CN" sz="1200" dirty="0">
                <a:solidFill>
                  <a:schemeClr val="bg1"/>
                </a:solidFill>
              </a:rPr>
              <a:t> </a:t>
            </a:r>
            <a:r>
              <a:rPr lang="en-US" altLang="zh-CN" sz="1200" dirty="0" err="1">
                <a:solidFill>
                  <a:schemeClr val="bg1"/>
                </a:solidFill>
              </a:rPr>
              <a:t>kafkaApis</a:t>
            </a:r>
            <a:r>
              <a:rPr lang="en-US" altLang="zh-CN" sz="1200" dirty="0">
                <a:solidFill>
                  <a:schemeClr val="bg1"/>
                </a:solidFill>
              </a:rPr>
              <a:t>;          </a:t>
            </a:r>
            <a:r>
              <a:rPr lang="en-US" altLang="zh-CN" sz="1200" i="1" dirty="0">
                <a:solidFill>
                  <a:srgbClr val="00B050"/>
                </a:solidFill>
              </a:rPr>
              <a:t>// API </a:t>
            </a:r>
            <a:r>
              <a:rPr lang="zh-CN" altLang="en-US" sz="1200" i="1" dirty="0">
                <a:solidFill>
                  <a:srgbClr val="00B050"/>
                </a:solidFill>
              </a:rPr>
              <a:t>处理层</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ReplicaManager</a:t>
            </a:r>
            <a:r>
              <a:rPr lang="en-US" altLang="zh-CN" sz="1200" dirty="0">
                <a:solidFill>
                  <a:schemeClr val="bg1"/>
                </a:solidFill>
              </a:rPr>
              <a:t> </a:t>
            </a:r>
            <a:r>
              <a:rPr lang="en-US" altLang="zh-CN" sz="1200" dirty="0" err="1">
                <a:solidFill>
                  <a:schemeClr val="bg1"/>
                </a:solidFill>
              </a:rPr>
              <a:t>replicaManager</a:t>
            </a:r>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副本管理器</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a:t>
            </a:r>
            <a:r>
              <a:rPr lang="en-US" altLang="zh-CN" sz="1200" dirty="0" err="1">
                <a:solidFill>
                  <a:schemeClr val="bg1"/>
                </a:solidFill>
              </a:rPr>
              <a:t>LogManager</a:t>
            </a:r>
            <a:r>
              <a:rPr lang="en-US" altLang="zh-CN" sz="1200" dirty="0">
                <a:solidFill>
                  <a:schemeClr val="bg1"/>
                </a:solidFill>
              </a:rPr>
              <a:t> </a:t>
            </a:r>
            <a:r>
              <a:rPr lang="en-US" altLang="zh-CN" sz="1200" dirty="0" err="1">
                <a:solidFill>
                  <a:schemeClr val="bg1"/>
                </a:solidFill>
              </a:rPr>
              <a:t>logManager</a:t>
            </a:r>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日志管理器</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Coordinator coordinator</a:t>
            </a:r>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协调器（</a:t>
            </a:r>
            <a:r>
              <a:rPr lang="en-US" altLang="zh-CN" sz="1200" i="1" dirty="0">
                <a:solidFill>
                  <a:srgbClr val="00B050"/>
                </a:solidFill>
              </a:rPr>
              <a:t>Group</a:t>
            </a:r>
            <a:r>
              <a:rPr lang="zh-CN" altLang="en-US" sz="1200" i="1" dirty="0">
                <a:solidFill>
                  <a:srgbClr val="00B050"/>
                </a:solidFill>
              </a:rPr>
              <a:t>、</a:t>
            </a:r>
            <a:r>
              <a:rPr lang="en-US" altLang="zh-CN" sz="1200" i="1" dirty="0">
                <a:solidFill>
                  <a:srgbClr val="00B050"/>
                </a:solidFill>
              </a:rPr>
              <a:t>Transaction</a:t>
            </a:r>
            <a:r>
              <a:rPr lang="zh-CN" altLang="en-US" sz="1200" i="1" dirty="0">
                <a:solidFill>
                  <a:srgbClr val="00B050"/>
                </a:solidFill>
              </a:rPr>
              <a:t>）</a:t>
            </a:r>
            <a:endParaRPr lang="en-US" altLang="zh-CN" sz="1200" dirty="0">
              <a:solidFill>
                <a:srgbClr val="00B050"/>
              </a:solidFill>
            </a:endParaRPr>
          </a:p>
          <a:p>
            <a:r>
              <a:rPr lang="en-US" altLang="zh-CN" sz="1200" dirty="0">
                <a:solidFill>
                  <a:schemeClr val="bg1"/>
                </a:solidFill>
              </a:rPr>
              <a:t>    private Metrics metrics;               </a:t>
            </a:r>
            <a:r>
              <a:rPr lang="en-US" altLang="zh-CN" sz="1200" i="1" dirty="0">
                <a:solidFill>
                  <a:srgbClr val="00B050"/>
                </a:solidFill>
              </a:rPr>
              <a:t>// </a:t>
            </a:r>
            <a:r>
              <a:rPr lang="zh-CN" altLang="en-US" sz="1200" i="1" dirty="0">
                <a:solidFill>
                  <a:srgbClr val="00B050"/>
                </a:solidFill>
              </a:rPr>
              <a:t>指标监控</a:t>
            </a:r>
            <a:endParaRPr lang="zh-CN" altLang="en-US" sz="1200" dirty="0">
              <a:solidFill>
                <a:srgbClr val="00B050"/>
              </a:solidFill>
            </a:endParaRPr>
          </a:p>
          <a:p>
            <a:endParaRPr lang="zh-CN" altLang="en-US" sz="1200" dirty="0">
              <a:solidFill>
                <a:schemeClr val="bg1"/>
              </a:solidFill>
            </a:endParaRPr>
          </a:p>
          <a:p>
            <a:r>
              <a:rPr lang="zh-CN" altLang="en-US" sz="1200" dirty="0">
                <a:solidFill>
                  <a:srgbClr val="00B050"/>
                </a:solidFill>
              </a:rPr>
              <a:t>    </a:t>
            </a:r>
            <a:r>
              <a:rPr lang="en-US" altLang="zh-CN" sz="1200" i="1" dirty="0">
                <a:solidFill>
                  <a:srgbClr val="00B050"/>
                </a:solidFill>
              </a:rPr>
              <a:t>// </a:t>
            </a:r>
            <a:r>
              <a:rPr lang="zh-CN" altLang="en-US" sz="1200" i="1" dirty="0">
                <a:solidFill>
                  <a:srgbClr val="00B050"/>
                </a:solidFill>
              </a:rPr>
              <a:t>元数据管理（</a:t>
            </a:r>
            <a:r>
              <a:rPr lang="en-US" altLang="zh-CN" sz="1200" i="1" dirty="0" err="1">
                <a:solidFill>
                  <a:srgbClr val="00B050"/>
                </a:solidFill>
              </a:rPr>
              <a:t>ZooKeeper</a:t>
            </a:r>
            <a:r>
              <a:rPr lang="en-US" altLang="zh-CN" sz="1200" i="1" dirty="0">
                <a:solidFill>
                  <a:srgbClr val="00B050"/>
                </a:solidFill>
              </a:rPr>
              <a:t> </a:t>
            </a:r>
            <a:r>
              <a:rPr lang="zh-CN" altLang="en-US" sz="1200" i="1" dirty="0">
                <a:solidFill>
                  <a:srgbClr val="00B050"/>
                </a:solidFill>
              </a:rPr>
              <a:t>或 </a:t>
            </a:r>
            <a:r>
              <a:rPr lang="en-US" altLang="zh-CN" sz="1200" i="1" dirty="0" err="1">
                <a:solidFill>
                  <a:srgbClr val="00B050"/>
                </a:solidFill>
              </a:rPr>
              <a:t>KRaft</a:t>
            </a:r>
            <a:r>
              <a:rPr lang="zh-CN" altLang="en-US" sz="1200" i="1" dirty="0">
                <a:solidFill>
                  <a:srgbClr val="00B050"/>
                </a:solidFill>
              </a:rPr>
              <a:t>）</a:t>
            </a:r>
            <a:endParaRPr lang="en-US" altLang="zh-CN" sz="1200" dirty="0">
              <a:solidFill>
                <a:srgbClr val="00B050"/>
              </a:solidFill>
            </a:endParaRPr>
          </a:p>
          <a:p>
            <a:r>
              <a:rPr lang="en-US" altLang="zh-CN" sz="1200" dirty="0">
                <a:solidFill>
                  <a:schemeClr val="bg1"/>
                </a:solidFill>
              </a:rPr>
              <a:t>    private </a:t>
            </a:r>
            <a:r>
              <a:rPr lang="en-US" altLang="zh-CN" sz="1200" dirty="0" err="1">
                <a:solidFill>
                  <a:schemeClr val="bg1"/>
                </a:solidFill>
              </a:rPr>
              <a:t>MetadataCache</a:t>
            </a:r>
            <a:r>
              <a:rPr lang="en-US" altLang="zh-CN" sz="1200" dirty="0">
                <a:solidFill>
                  <a:schemeClr val="bg1"/>
                </a:solidFill>
              </a:rPr>
              <a:t> </a:t>
            </a:r>
            <a:r>
              <a:rPr lang="en-US" altLang="zh-CN" sz="1200" dirty="0" err="1">
                <a:solidFill>
                  <a:schemeClr val="bg1"/>
                </a:solidFill>
              </a:rPr>
              <a:t>metadataCache</a:t>
            </a:r>
            <a:r>
              <a:rPr lang="en-US" altLang="zh-CN" sz="1200" dirty="0">
                <a:solidFill>
                  <a:schemeClr val="bg1"/>
                </a:solidFill>
              </a:rPr>
              <a:t>;   </a:t>
            </a:r>
            <a:r>
              <a:rPr lang="en-US" altLang="zh-CN" sz="1200" i="1" dirty="0">
                <a:solidFill>
                  <a:srgbClr val="00B050"/>
                </a:solidFill>
              </a:rPr>
              <a:t>// </a:t>
            </a:r>
            <a:r>
              <a:rPr lang="zh-CN" altLang="en-US" sz="1200" i="1" dirty="0">
                <a:solidFill>
                  <a:srgbClr val="00B050"/>
                </a:solidFill>
              </a:rPr>
              <a:t>元数据缓存</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private Controller controller;         </a:t>
            </a:r>
            <a:r>
              <a:rPr lang="en-US" altLang="zh-CN" sz="1200" i="1" dirty="0">
                <a:solidFill>
                  <a:srgbClr val="00B050"/>
                </a:solidFill>
              </a:rPr>
              <a:t>// </a:t>
            </a:r>
            <a:r>
              <a:rPr lang="zh-CN" altLang="en-US" sz="1200" i="1" dirty="0">
                <a:solidFill>
                  <a:srgbClr val="00B050"/>
                </a:solidFill>
              </a:rPr>
              <a:t>控制器（</a:t>
            </a:r>
            <a:r>
              <a:rPr lang="en-US" altLang="zh-CN" sz="1200" i="1" dirty="0" err="1">
                <a:solidFill>
                  <a:srgbClr val="00B050"/>
                </a:solidFill>
              </a:rPr>
              <a:t>KRaft</a:t>
            </a:r>
            <a:r>
              <a:rPr lang="en-US" altLang="zh-CN" sz="1200" i="1" dirty="0">
                <a:solidFill>
                  <a:srgbClr val="00B050"/>
                </a:solidFill>
              </a:rPr>
              <a:t> </a:t>
            </a:r>
            <a:r>
              <a:rPr lang="zh-CN" altLang="en-US" sz="1200" i="1" dirty="0">
                <a:solidFill>
                  <a:srgbClr val="00B050"/>
                </a:solidFill>
              </a:rPr>
              <a:t>模式）</a:t>
            </a:r>
            <a:endParaRPr lang="zh-CN" altLang="en-US" sz="1200" dirty="0">
              <a:solidFill>
                <a:srgbClr val="00B050"/>
              </a:solidFill>
            </a:endParaRPr>
          </a:p>
          <a:p>
            <a:endParaRPr lang="zh-CN" altLang="en-US" sz="1200" dirty="0">
              <a:solidFill>
                <a:schemeClr val="bg1"/>
              </a:solidFill>
            </a:endParaRPr>
          </a:p>
          <a:p>
            <a:r>
              <a:rPr lang="zh-CN" altLang="en-US" sz="1200" dirty="0">
                <a:solidFill>
                  <a:srgbClr val="00B050"/>
                </a:solidFill>
              </a:rPr>
              <a:t>    </a:t>
            </a:r>
            <a:r>
              <a:rPr lang="en-US" altLang="zh-CN" sz="1200" i="1" dirty="0">
                <a:solidFill>
                  <a:srgbClr val="00B050"/>
                </a:solidFill>
              </a:rPr>
              <a:t>// </a:t>
            </a:r>
            <a:r>
              <a:rPr lang="zh-CN" altLang="en-US" sz="1200" i="1" dirty="0">
                <a:solidFill>
                  <a:srgbClr val="00B050"/>
                </a:solidFill>
              </a:rPr>
              <a:t>元数据管理模式说明：</a:t>
            </a:r>
            <a:endParaRPr lang="zh-CN" altLang="en-US" sz="1200" dirty="0">
              <a:solidFill>
                <a:srgbClr val="00B050"/>
              </a:solidFill>
            </a:endParaRPr>
          </a:p>
          <a:p>
            <a:r>
              <a:rPr lang="zh-CN" altLang="en-US" sz="1200" dirty="0">
                <a:solidFill>
                  <a:srgbClr val="00B050"/>
                </a:solidFill>
              </a:rPr>
              <a:t>    </a:t>
            </a:r>
            <a:r>
              <a:rPr lang="en-US" altLang="zh-CN" sz="1200" i="1" dirty="0">
                <a:solidFill>
                  <a:srgbClr val="00B050"/>
                </a:solidFill>
              </a:rPr>
              <a:t>// - </a:t>
            </a:r>
            <a:r>
              <a:rPr lang="en-US" altLang="zh-CN" sz="1200" i="1" dirty="0" err="1">
                <a:solidFill>
                  <a:srgbClr val="00B050"/>
                </a:solidFill>
              </a:rPr>
              <a:t>ZooKeeper</a:t>
            </a:r>
            <a:r>
              <a:rPr lang="en-US" altLang="zh-CN" sz="1200" i="1" dirty="0">
                <a:solidFill>
                  <a:srgbClr val="00B050"/>
                </a:solidFill>
              </a:rPr>
              <a:t> </a:t>
            </a:r>
            <a:r>
              <a:rPr lang="zh-CN" altLang="en-US" sz="1200" i="1" dirty="0">
                <a:solidFill>
                  <a:srgbClr val="00B050"/>
                </a:solidFill>
              </a:rPr>
              <a:t>模式：依赖外部 </a:t>
            </a:r>
            <a:r>
              <a:rPr lang="en-US" altLang="zh-CN" sz="1200" i="1" dirty="0" err="1">
                <a:solidFill>
                  <a:srgbClr val="00B050"/>
                </a:solidFill>
              </a:rPr>
              <a:t>ZooKeeper</a:t>
            </a:r>
            <a:r>
              <a:rPr lang="en-US" altLang="zh-CN" sz="1200" i="1" dirty="0">
                <a:solidFill>
                  <a:srgbClr val="00B050"/>
                </a:solidFill>
              </a:rPr>
              <a:t> </a:t>
            </a:r>
            <a:r>
              <a:rPr lang="zh-CN" altLang="en-US" sz="1200" i="1" dirty="0">
                <a:solidFill>
                  <a:srgbClr val="00B050"/>
                </a:solidFill>
              </a:rPr>
              <a:t>集群进行元数据管理和控制器选举</a:t>
            </a:r>
            <a:endParaRPr lang="zh-CN" altLang="en-US" sz="1200" dirty="0">
              <a:solidFill>
                <a:srgbClr val="00B050"/>
              </a:solidFill>
            </a:endParaRPr>
          </a:p>
          <a:p>
            <a:r>
              <a:rPr lang="zh-CN" altLang="en-US" sz="1200" dirty="0">
                <a:solidFill>
                  <a:srgbClr val="00B050"/>
                </a:solidFill>
              </a:rPr>
              <a:t>    </a:t>
            </a:r>
            <a:r>
              <a:rPr lang="en-US" altLang="zh-CN" sz="1200" i="1" dirty="0">
                <a:solidFill>
                  <a:srgbClr val="00B050"/>
                </a:solidFill>
              </a:rPr>
              <a:t>// - </a:t>
            </a:r>
            <a:r>
              <a:rPr lang="en-US" altLang="zh-CN" sz="1200" i="1" dirty="0" err="1">
                <a:solidFill>
                  <a:srgbClr val="00B050"/>
                </a:solidFill>
              </a:rPr>
              <a:t>KRaft</a:t>
            </a:r>
            <a:r>
              <a:rPr lang="en-US" altLang="zh-CN" sz="1200" i="1" dirty="0">
                <a:solidFill>
                  <a:srgbClr val="00B050"/>
                </a:solidFill>
              </a:rPr>
              <a:t> </a:t>
            </a:r>
            <a:r>
              <a:rPr lang="zh-CN" altLang="en-US" sz="1200" i="1" dirty="0">
                <a:solidFill>
                  <a:srgbClr val="00B050"/>
                </a:solidFill>
              </a:rPr>
              <a:t>模式：使用内置的 </a:t>
            </a:r>
            <a:r>
              <a:rPr lang="en-US" altLang="zh-CN" sz="1200" i="1" dirty="0">
                <a:solidFill>
                  <a:srgbClr val="00B050"/>
                </a:solidFill>
              </a:rPr>
              <a:t>Raft </a:t>
            </a:r>
            <a:r>
              <a:rPr lang="zh-CN" altLang="en-US" sz="1200" i="1" dirty="0">
                <a:solidFill>
                  <a:srgbClr val="00B050"/>
                </a:solidFill>
              </a:rPr>
              <a:t>共识算法，无需外部依赖，简化部署和维护</a:t>
            </a:r>
            <a:endParaRPr lang="zh-CN" altLang="en-US" sz="1200" dirty="0">
              <a:solidFill>
                <a:srgbClr val="00B050"/>
              </a:solidFill>
            </a:endParaRPr>
          </a:p>
          <a:p>
            <a:r>
              <a:rPr lang="zh-CN" altLang="en-US" sz="1200" dirty="0">
                <a:solidFill>
                  <a:srgbClr val="00B050"/>
                </a:solidFill>
              </a:rPr>
              <a:t>    </a:t>
            </a:r>
            <a:r>
              <a:rPr lang="en-US" altLang="zh-CN" sz="1200" i="1" dirty="0">
                <a:solidFill>
                  <a:srgbClr val="00B050"/>
                </a:solidFill>
              </a:rPr>
              <a:t>//   </a:t>
            </a:r>
            <a:r>
              <a:rPr lang="zh-CN" altLang="en-US" sz="1200" i="1" dirty="0">
                <a:solidFill>
                  <a:srgbClr val="00B050"/>
                </a:solidFill>
              </a:rPr>
              <a:t>优势：减少外部依赖、降低运维复杂度、提高元数据操作性能 </a:t>
            </a:r>
            <a:r>
              <a:rPr lang="en-US" altLang="zh-CN" sz="1200" i="1" dirty="0">
                <a:solidFill>
                  <a:srgbClr val="00B050"/>
                </a:solidFill>
              </a:rPr>
              <a:t>[7]</a:t>
            </a:r>
            <a:endParaRPr lang="zh-CN" altLang="en-US" sz="1200" dirty="0">
              <a:solidFill>
                <a:srgbClr val="00B050"/>
              </a:solidFill>
            </a:endParaRPr>
          </a:p>
          <a:p>
            <a:endParaRPr lang="zh-CN" altLang="en-US" sz="1200" dirty="0">
              <a:solidFill>
                <a:schemeClr val="bg1"/>
              </a:solidFill>
            </a:endParaRPr>
          </a:p>
          <a:p>
            <a:r>
              <a:rPr lang="zh-CN" altLang="en-US" sz="1200" dirty="0">
                <a:solidFill>
                  <a:srgbClr val="00B050"/>
                </a:solidFill>
              </a:rPr>
              <a:t>    </a:t>
            </a:r>
            <a:r>
              <a:rPr lang="en-US" altLang="zh-CN" sz="1200" i="1" dirty="0">
                <a:solidFill>
                  <a:srgbClr val="00B050"/>
                </a:solidFill>
              </a:rPr>
              <a:t>// </a:t>
            </a:r>
            <a:r>
              <a:rPr lang="zh-CN" altLang="en-US" sz="1200" i="1" dirty="0">
                <a:solidFill>
                  <a:srgbClr val="00B050"/>
                </a:solidFill>
              </a:rPr>
              <a:t>启动方法</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public void startup() {</a:t>
            </a: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初始化各个组件并启动服务</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a:t>
            </a:r>
          </a:p>
          <a:p>
            <a:endParaRPr lang="en-US" altLang="zh-CN" sz="1200" dirty="0">
              <a:solidFill>
                <a:schemeClr val="bg1"/>
              </a:solidFill>
            </a:endParaRP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关闭方法</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public void shutdown() {</a:t>
            </a:r>
          </a:p>
          <a:p>
            <a:r>
              <a:rPr lang="en-US" altLang="zh-CN" sz="1200" dirty="0">
                <a:solidFill>
                  <a:srgbClr val="00B050"/>
                </a:solidFill>
              </a:rPr>
              <a:t>        </a:t>
            </a:r>
            <a:r>
              <a:rPr lang="en-US" altLang="zh-CN" sz="1200" i="1" dirty="0">
                <a:solidFill>
                  <a:srgbClr val="00B050"/>
                </a:solidFill>
              </a:rPr>
              <a:t>// </a:t>
            </a:r>
            <a:r>
              <a:rPr lang="zh-CN" altLang="en-US" sz="1200" i="1" dirty="0">
                <a:solidFill>
                  <a:srgbClr val="00B050"/>
                </a:solidFill>
              </a:rPr>
              <a:t>优雅关闭各个组件</a:t>
            </a:r>
            <a:endParaRPr lang="zh-CN" altLang="en-US" sz="1200" dirty="0">
              <a:solidFill>
                <a:srgbClr val="00B050"/>
              </a:solidFill>
            </a:endParaRPr>
          </a:p>
          <a:p>
            <a:r>
              <a:rPr lang="zh-CN" altLang="en-US" sz="1200" dirty="0">
                <a:solidFill>
                  <a:schemeClr val="bg1"/>
                </a:solidFill>
              </a:rPr>
              <a:t>    </a:t>
            </a:r>
            <a:r>
              <a:rPr lang="en-US" altLang="zh-CN" sz="1200" dirty="0">
                <a:solidFill>
                  <a:schemeClr val="bg1"/>
                </a:solidFill>
              </a:rPr>
              <a:t>}</a:t>
            </a:r>
          </a:p>
          <a:p>
            <a:r>
              <a:rPr lang="en-US" altLang="zh-CN" sz="1200" dirty="0">
                <a:solidFill>
                  <a:schemeClr val="bg1"/>
                </a:solidFill>
              </a:rPr>
              <a:t>}</a:t>
            </a:r>
            <a:endParaRPr lang="zh-CN" altLang="en-US" sz="1200" dirty="0">
              <a:solidFill>
                <a:schemeClr val="bg1"/>
              </a:solidFill>
            </a:endParaRPr>
          </a:p>
        </p:txBody>
      </p:sp>
      <p:sp>
        <p:nvSpPr>
          <p:cNvPr id="7" name="Text 5"/>
          <p:cNvSpPr/>
          <p:nvPr/>
        </p:nvSpPr>
        <p:spPr>
          <a:xfrm>
            <a:off x="8260419" y="1387179"/>
            <a:ext cx="7694507" cy="346795"/>
          </a:xfrm>
          <a:prstGeom prst="rect">
            <a:avLst/>
          </a:prstGeom>
          <a:noFill/>
          <a:ln/>
        </p:spPr>
        <p:txBody>
          <a:bodyPr wrap="square" lIns="0" tIns="0" rIns="0" bIns="0" rtlCol="0" anchor="ctr"/>
          <a:lstStyle/>
          <a:p>
            <a:pPr>
              <a:lnSpc>
                <a:spcPct val="110000"/>
              </a:lnSpc>
            </a:pPr>
            <a:r>
              <a:rPr lang="en-US" sz="2048" b="1" dirty="0">
                <a:solidFill>
                  <a:srgbClr val="D69E2E"/>
                </a:solidFill>
                <a:latin typeface="MiSans" pitchFamily="34" charset="0"/>
                <a:ea typeface="MiSans" pitchFamily="34" charset="-122"/>
                <a:cs typeface="MiSans" pitchFamily="34" charset="-120"/>
              </a:rPr>
              <a:t>组件功能说明</a:t>
            </a:r>
            <a:endParaRPr lang="en-US" sz="1600" dirty="0"/>
          </a:p>
        </p:txBody>
      </p:sp>
      <p:sp>
        <p:nvSpPr>
          <p:cNvPr id="8" name="Shape 6"/>
          <p:cNvSpPr/>
          <p:nvPr/>
        </p:nvSpPr>
        <p:spPr>
          <a:xfrm>
            <a:off x="8260419" y="1864021"/>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9" name="Shape 7"/>
          <p:cNvSpPr/>
          <p:nvPr/>
        </p:nvSpPr>
        <p:spPr>
          <a:xfrm>
            <a:off x="8390467" y="1994069"/>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D69E2E"/>
          </a:solidFill>
          <a:ln/>
        </p:spPr>
        <p:txBody>
          <a:bodyPr/>
          <a:lstStyle/>
          <a:p>
            <a:endParaRPr lang="zh-CN" altLang="en-US"/>
          </a:p>
        </p:txBody>
      </p:sp>
      <p:sp>
        <p:nvSpPr>
          <p:cNvPr id="10" name="Text 8"/>
          <p:cNvSpPr/>
          <p:nvPr/>
        </p:nvSpPr>
        <p:spPr>
          <a:xfrm>
            <a:off x="8494945" y="2037419"/>
            <a:ext cx="119211"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1</a:t>
            </a:r>
            <a:endParaRPr lang="en-US" sz="1600" dirty="0"/>
          </a:p>
        </p:txBody>
      </p:sp>
      <p:sp>
        <p:nvSpPr>
          <p:cNvPr id="11" name="Text 9"/>
          <p:cNvSpPr/>
          <p:nvPr/>
        </p:nvSpPr>
        <p:spPr>
          <a:xfrm>
            <a:off x="8737261" y="1994069"/>
            <a:ext cx="1051221" cy="260096"/>
          </a:xfrm>
          <a:prstGeom prst="rect">
            <a:avLst/>
          </a:prstGeom>
          <a:noFill/>
          <a:ln/>
        </p:spPr>
        <p:txBody>
          <a:bodyPr wrap="square" lIns="0" tIns="0" rIns="0" bIns="0" rtlCol="0" anchor="ctr"/>
          <a:lstStyle/>
          <a:p>
            <a:pPr>
              <a:lnSpc>
                <a:spcPct val="130000"/>
              </a:lnSpc>
            </a:pPr>
            <a:r>
              <a:rPr lang="en-US" sz="1365" b="1" dirty="0">
                <a:solidFill>
                  <a:srgbClr val="D69E2E"/>
                </a:solidFill>
                <a:latin typeface="MiSans" pitchFamily="34" charset="0"/>
                <a:ea typeface="MiSans" pitchFamily="34" charset="-122"/>
                <a:cs typeface="MiSans" pitchFamily="34" charset="-120"/>
              </a:rPr>
              <a:t>KafkaConfig</a:t>
            </a:r>
            <a:endParaRPr lang="en-US" sz="1600" dirty="0"/>
          </a:p>
        </p:txBody>
      </p:sp>
      <p:sp>
        <p:nvSpPr>
          <p:cNvPr id="12" name="Text 10"/>
          <p:cNvSpPr/>
          <p:nvPr/>
        </p:nvSpPr>
        <p:spPr>
          <a:xfrm>
            <a:off x="8390467" y="2297515"/>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管理 Broker 的所有配置参数</a:t>
            </a:r>
            <a:endParaRPr lang="en-US" sz="1600" dirty="0"/>
          </a:p>
        </p:txBody>
      </p:sp>
      <p:sp>
        <p:nvSpPr>
          <p:cNvPr id="13" name="Shape 11"/>
          <p:cNvSpPr/>
          <p:nvPr/>
        </p:nvSpPr>
        <p:spPr>
          <a:xfrm>
            <a:off x="8260419" y="2731008"/>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14" name="Shape 12"/>
          <p:cNvSpPr/>
          <p:nvPr/>
        </p:nvSpPr>
        <p:spPr>
          <a:xfrm>
            <a:off x="8390467" y="2861056"/>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718096"/>
          </a:solidFill>
          <a:ln/>
        </p:spPr>
        <p:txBody>
          <a:bodyPr/>
          <a:lstStyle/>
          <a:p>
            <a:endParaRPr lang="zh-CN" altLang="en-US"/>
          </a:p>
        </p:txBody>
      </p:sp>
      <p:sp>
        <p:nvSpPr>
          <p:cNvPr id="15" name="Text 13"/>
          <p:cNvSpPr/>
          <p:nvPr/>
        </p:nvSpPr>
        <p:spPr>
          <a:xfrm>
            <a:off x="8483939" y="2904405"/>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2</a:t>
            </a:r>
            <a:endParaRPr lang="en-US" sz="1600" dirty="0"/>
          </a:p>
        </p:txBody>
      </p:sp>
      <p:sp>
        <p:nvSpPr>
          <p:cNvPr id="16" name="Text 14"/>
          <p:cNvSpPr/>
          <p:nvPr/>
        </p:nvSpPr>
        <p:spPr>
          <a:xfrm>
            <a:off x="8737261" y="2861056"/>
            <a:ext cx="1137920" cy="260096"/>
          </a:xfrm>
          <a:prstGeom prst="rect">
            <a:avLst/>
          </a:prstGeom>
          <a:noFill/>
          <a:ln/>
        </p:spPr>
        <p:txBody>
          <a:bodyPr wrap="square" lIns="0" tIns="0" rIns="0" bIns="0" rtlCol="0" anchor="ctr"/>
          <a:lstStyle/>
          <a:p>
            <a:pPr>
              <a:lnSpc>
                <a:spcPct val="130000"/>
              </a:lnSpc>
            </a:pPr>
            <a:r>
              <a:rPr lang="en-US" sz="1365" b="1" dirty="0">
                <a:solidFill>
                  <a:srgbClr val="718096"/>
                </a:solidFill>
                <a:latin typeface="MiSans" pitchFamily="34" charset="0"/>
                <a:ea typeface="MiSans" pitchFamily="34" charset="-122"/>
                <a:cs typeface="MiSans" pitchFamily="34" charset="-120"/>
              </a:rPr>
              <a:t>SocketServer</a:t>
            </a:r>
            <a:endParaRPr lang="en-US" sz="1600" dirty="0"/>
          </a:p>
        </p:txBody>
      </p:sp>
      <p:sp>
        <p:nvSpPr>
          <p:cNvPr id="17" name="Text 15"/>
          <p:cNvSpPr/>
          <p:nvPr/>
        </p:nvSpPr>
        <p:spPr>
          <a:xfrm>
            <a:off x="8390467" y="3164501"/>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基于 NIO 的网络服务层，处理客户端连接</a:t>
            </a:r>
            <a:endParaRPr lang="en-US" sz="1600" dirty="0"/>
          </a:p>
        </p:txBody>
      </p:sp>
      <p:sp>
        <p:nvSpPr>
          <p:cNvPr id="18" name="Shape 16"/>
          <p:cNvSpPr/>
          <p:nvPr/>
        </p:nvSpPr>
        <p:spPr>
          <a:xfrm>
            <a:off x="8260419" y="3597995"/>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19" name="Shape 17"/>
          <p:cNvSpPr/>
          <p:nvPr/>
        </p:nvSpPr>
        <p:spPr>
          <a:xfrm>
            <a:off x="8390467" y="3728043"/>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D69E2E"/>
          </a:solidFill>
          <a:ln/>
        </p:spPr>
        <p:txBody>
          <a:bodyPr/>
          <a:lstStyle/>
          <a:p>
            <a:endParaRPr lang="zh-CN" altLang="en-US"/>
          </a:p>
        </p:txBody>
      </p:sp>
      <p:sp>
        <p:nvSpPr>
          <p:cNvPr id="20" name="Text 18"/>
          <p:cNvSpPr/>
          <p:nvPr/>
        </p:nvSpPr>
        <p:spPr>
          <a:xfrm>
            <a:off x="8482245" y="3771392"/>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3</a:t>
            </a:r>
            <a:endParaRPr lang="en-US" sz="1600" dirty="0"/>
          </a:p>
        </p:txBody>
      </p:sp>
      <p:sp>
        <p:nvSpPr>
          <p:cNvPr id="21" name="Text 19"/>
          <p:cNvSpPr/>
          <p:nvPr/>
        </p:nvSpPr>
        <p:spPr>
          <a:xfrm>
            <a:off x="8737261" y="3728043"/>
            <a:ext cx="1712299" cy="260096"/>
          </a:xfrm>
          <a:prstGeom prst="rect">
            <a:avLst/>
          </a:prstGeom>
          <a:noFill/>
          <a:ln/>
        </p:spPr>
        <p:txBody>
          <a:bodyPr wrap="square" lIns="0" tIns="0" rIns="0" bIns="0" rtlCol="0" anchor="ctr"/>
          <a:lstStyle/>
          <a:p>
            <a:pPr>
              <a:lnSpc>
                <a:spcPct val="130000"/>
              </a:lnSpc>
            </a:pPr>
            <a:r>
              <a:rPr lang="en-US" sz="1365" b="1" dirty="0">
                <a:solidFill>
                  <a:srgbClr val="D69E2E"/>
                </a:solidFill>
                <a:latin typeface="MiSans" pitchFamily="34" charset="0"/>
                <a:ea typeface="MiSans" pitchFamily="34" charset="-122"/>
                <a:cs typeface="MiSans" pitchFamily="34" charset="-120"/>
              </a:rPr>
              <a:t>RequestHandlerPool</a:t>
            </a:r>
            <a:endParaRPr lang="en-US" sz="1600" dirty="0"/>
          </a:p>
        </p:txBody>
      </p:sp>
      <p:sp>
        <p:nvSpPr>
          <p:cNvPr id="22" name="Text 20"/>
          <p:cNvSpPr/>
          <p:nvPr/>
        </p:nvSpPr>
        <p:spPr>
          <a:xfrm>
            <a:off x="8390467" y="4031488"/>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请求处理线程池，处理各种客户端请求</a:t>
            </a:r>
            <a:endParaRPr lang="en-US" sz="1600" dirty="0"/>
          </a:p>
        </p:txBody>
      </p:sp>
      <p:sp>
        <p:nvSpPr>
          <p:cNvPr id="23" name="Shape 21"/>
          <p:cNvSpPr/>
          <p:nvPr/>
        </p:nvSpPr>
        <p:spPr>
          <a:xfrm>
            <a:off x="8260419" y="4464981"/>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24" name="Shape 22"/>
          <p:cNvSpPr/>
          <p:nvPr/>
        </p:nvSpPr>
        <p:spPr>
          <a:xfrm>
            <a:off x="8390467" y="4595029"/>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718096"/>
          </a:solidFill>
          <a:ln/>
        </p:spPr>
        <p:txBody>
          <a:bodyPr/>
          <a:lstStyle/>
          <a:p>
            <a:endParaRPr lang="zh-CN" altLang="en-US"/>
          </a:p>
        </p:txBody>
      </p:sp>
      <p:sp>
        <p:nvSpPr>
          <p:cNvPr id="25" name="Text 23"/>
          <p:cNvSpPr/>
          <p:nvPr/>
        </p:nvSpPr>
        <p:spPr>
          <a:xfrm>
            <a:off x="8482330" y="4638379"/>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4</a:t>
            </a:r>
            <a:endParaRPr lang="en-US" sz="1600" dirty="0"/>
          </a:p>
        </p:txBody>
      </p:sp>
      <p:sp>
        <p:nvSpPr>
          <p:cNvPr id="26" name="Text 24"/>
          <p:cNvSpPr/>
          <p:nvPr/>
        </p:nvSpPr>
        <p:spPr>
          <a:xfrm>
            <a:off x="8737261" y="4595029"/>
            <a:ext cx="866987" cy="260096"/>
          </a:xfrm>
          <a:prstGeom prst="rect">
            <a:avLst/>
          </a:prstGeom>
          <a:noFill/>
          <a:ln/>
        </p:spPr>
        <p:txBody>
          <a:bodyPr wrap="square" lIns="0" tIns="0" rIns="0" bIns="0" rtlCol="0" anchor="ctr"/>
          <a:lstStyle/>
          <a:p>
            <a:pPr>
              <a:lnSpc>
                <a:spcPct val="130000"/>
              </a:lnSpc>
            </a:pPr>
            <a:r>
              <a:rPr lang="en-US" sz="1365" b="1" dirty="0">
                <a:solidFill>
                  <a:srgbClr val="718096"/>
                </a:solidFill>
                <a:latin typeface="MiSans" pitchFamily="34" charset="0"/>
                <a:ea typeface="MiSans" pitchFamily="34" charset="-122"/>
                <a:cs typeface="MiSans" pitchFamily="34" charset="-120"/>
              </a:rPr>
              <a:t>KafkaApis</a:t>
            </a:r>
            <a:endParaRPr lang="en-US" sz="1600" dirty="0"/>
          </a:p>
        </p:txBody>
      </p:sp>
      <p:sp>
        <p:nvSpPr>
          <p:cNvPr id="27" name="Text 25"/>
          <p:cNvSpPr/>
          <p:nvPr/>
        </p:nvSpPr>
        <p:spPr>
          <a:xfrm>
            <a:off x="8390467" y="4898475"/>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API 处理层，实现各种 Kafka 协议请求的处理逻辑</a:t>
            </a:r>
            <a:endParaRPr lang="en-US" sz="1600" dirty="0"/>
          </a:p>
        </p:txBody>
      </p:sp>
      <p:sp>
        <p:nvSpPr>
          <p:cNvPr id="28" name="Shape 26"/>
          <p:cNvSpPr/>
          <p:nvPr/>
        </p:nvSpPr>
        <p:spPr>
          <a:xfrm>
            <a:off x="8260419" y="5331968"/>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29" name="Shape 27"/>
          <p:cNvSpPr/>
          <p:nvPr/>
        </p:nvSpPr>
        <p:spPr>
          <a:xfrm>
            <a:off x="8390467" y="5462016"/>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D69E2E"/>
          </a:solidFill>
          <a:ln/>
        </p:spPr>
        <p:txBody>
          <a:bodyPr/>
          <a:lstStyle/>
          <a:p>
            <a:endParaRPr lang="zh-CN" altLang="en-US"/>
          </a:p>
        </p:txBody>
      </p:sp>
      <p:sp>
        <p:nvSpPr>
          <p:cNvPr id="30" name="Text 28"/>
          <p:cNvSpPr/>
          <p:nvPr/>
        </p:nvSpPr>
        <p:spPr>
          <a:xfrm>
            <a:off x="8481653" y="5505365"/>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5</a:t>
            </a:r>
            <a:endParaRPr lang="en-US" sz="1600" dirty="0"/>
          </a:p>
        </p:txBody>
      </p:sp>
      <p:sp>
        <p:nvSpPr>
          <p:cNvPr id="31" name="Text 29"/>
          <p:cNvSpPr/>
          <p:nvPr/>
        </p:nvSpPr>
        <p:spPr>
          <a:xfrm>
            <a:off x="8737261" y="5462016"/>
            <a:ext cx="1365504" cy="260096"/>
          </a:xfrm>
          <a:prstGeom prst="rect">
            <a:avLst/>
          </a:prstGeom>
          <a:noFill/>
          <a:ln/>
        </p:spPr>
        <p:txBody>
          <a:bodyPr wrap="square" lIns="0" tIns="0" rIns="0" bIns="0" rtlCol="0" anchor="ctr"/>
          <a:lstStyle/>
          <a:p>
            <a:pPr>
              <a:lnSpc>
                <a:spcPct val="130000"/>
              </a:lnSpc>
            </a:pPr>
            <a:r>
              <a:rPr lang="en-US" sz="1365" b="1" dirty="0">
                <a:solidFill>
                  <a:srgbClr val="D69E2E"/>
                </a:solidFill>
                <a:latin typeface="MiSans" pitchFamily="34" charset="0"/>
                <a:ea typeface="MiSans" pitchFamily="34" charset="-122"/>
                <a:cs typeface="MiSans" pitchFamily="34" charset="-120"/>
              </a:rPr>
              <a:t>ReplicaManager</a:t>
            </a:r>
            <a:endParaRPr lang="en-US" sz="1600" dirty="0"/>
          </a:p>
        </p:txBody>
      </p:sp>
      <p:sp>
        <p:nvSpPr>
          <p:cNvPr id="32" name="Text 30"/>
          <p:cNvSpPr/>
          <p:nvPr/>
        </p:nvSpPr>
        <p:spPr>
          <a:xfrm>
            <a:off x="8390467" y="5765461"/>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副本管理器，负责 Partition 的副本同步和状态管理</a:t>
            </a:r>
            <a:endParaRPr lang="en-US" sz="1600" dirty="0"/>
          </a:p>
        </p:txBody>
      </p:sp>
      <p:sp>
        <p:nvSpPr>
          <p:cNvPr id="33" name="Shape 31"/>
          <p:cNvSpPr/>
          <p:nvPr/>
        </p:nvSpPr>
        <p:spPr>
          <a:xfrm>
            <a:off x="8260419" y="6198955"/>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34" name="Shape 32"/>
          <p:cNvSpPr/>
          <p:nvPr/>
        </p:nvSpPr>
        <p:spPr>
          <a:xfrm>
            <a:off x="8390467" y="6329003"/>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718096"/>
          </a:solidFill>
          <a:ln/>
        </p:spPr>
        <p:txBody>
          <a:bodyPr/>
          <a:lstStyle/>
          <a:p>
            <a:endParaRPr lang="zh-CN" altLang="en-US"/>
          </a:p>
        </p:txBody>
      </p:sp>
      <p:sp>
        <p:nvSpPr>
          <p:cNvPr id="35" name="Text 33"/>
          <p:cNvSpPr/>
          <p:nvPr/>
        </p:nvSpPr>
        <p:spPr>
          <a:xfrm>
            <a:off x="8481399" y="6372352"/>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6</a:t>
            </a:r>
            <a:endParaRPr lang="en-US" sz="1600" dirty="0"/>
          </a:p>
        </p:txBody>
      </p:sp>
      <p:sp>
        <p:nvSpPr>
          <p:cNvPr id="36" name="Text 34"/>
          <p:cNvSpPr/>
          <p:nvPr/>
        </p:nvSpPr>
        <p:spPr>
          <a:xfrm>
            <a:off x="8737261" y="6329003"/>
            <a:ext cx="1083733" cy="260096"/>
          </a:xfrm>
          <a:prstGeom prst="rect">
            <a:avLst/>
          </a:prstGeom>
          <a:noFill/>
          <a:ln/>
        </p:spPr>
        <p:txBody>
          <a:bodyPr wrap="square" lIns="0" tIns="0" rIns="0" bIns="0" rtlCol="0" anchor="ctr"/>
          <a:lstStyle/>
          <a:p>
            <a:pPr>
              <a:lnSpc>
                <a:spcPct val="130000"/>
              </a:lnSpc>
            </a:pPr>
            <a:r>
              <a:rPr lang="en-US" sz="1365" b="1" dirty="0">
                <a:solidFill>
                  <a:srgbClr val="718096"/>
                </a:solidFill>
                <a:latin typeface="MiSans" pitchFamily="34" charset="0"/>
                <a:ea typeface="MiSans" pitchFamily="34" charset="-122"/>
                <a:cs typeface="MiSans" pitchFamily="34" charset="-120"/>
              </a:rPr>
              <a:t>LogManager</a:t>
            </a:r>
            <a:endParaRPr lang="en-US" sz="1600" dirty="0"/>
          </a:p>
        </p:txBody>
      </p:sp>
      <p:sp>
        <p:nvSpPr>
          <p:cNvPr id="37" name="Text 35"/>
          <p:cNvSpPr/>
          <p:nvPr/>
        </p:nvSpPr>
        <p:spPr>
          <a:xfrm>
            <a:off x="8390467" y="6632448"/>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日志管理器，负责消息的存储和检索</a:t>
            </a:r>
            <a:endParaRPr lang="en-US" sz="1600" dirty="0"/>
          </a:p>
        </p:txBody>
      </p:sp>
      <p:sp>
        <p:nvSpPr>
          <p:cNvPr id="38" name="Shape 36"/>
          <p:cNvSpPr/>
          <p:nvPr/>
        </p:nvSpPr>
        <p:spPr>
          <a:xfrm>
            <a:off x="8260419" y="7065941"/>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39" name="Shape 37"/>
          <p:cNvSpPr/>
          <p:nvPr/>
        </p:nvSpPr>
        <p:spPr>
          <a:xfrm>
            <a:off x="8390467" y="7195989"/>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D69E2E"/>
          </a:solidFill>
          <a:ln/>
        </p:spPr>
        <p:txBody>
          <a:bodyPr/>
          <a:lstStyle/>
          <a:p>
            <a:endParaRPr lang="zh-CN" altLang="en-US"/>
          </a:p>
        </p:txBody>
      </p:sp>
      <p:sp>
        <p:nvSpPr>
          <p:cNvPr id="40" name="Text 38"/>
          <p:cNvSpPr/>
          <p:nvPr/>
        </p:nvSpPr>
        <p:spPr>
          <a:xfrm>
            <a:off x="8486817" y="7239339"/>
            <a:ext cx="130048"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7</a:t>
            </a:r>
            <a:endParaRPr lang="en-US" sz="1600" dirty="0"/>
          </a:p>
        </p:txBody>
      </p:sp>
      <p:sp>
        <p:nvSpPr>
          <p:cNvPr id="41" name="Text 39"/>
          <p:cNvSpPr/>
          <p:nvPr/>
        </p:nvSpPr>
        <p:spPr>
          <a:xfrm>
            <a:off x="8737261" y="7195989"/>
            <a:ext cx="1029547" cy="260096"/>
          </a:xfrm>
          <a:prstGeom prst="rect">
            <a:avLst/>
          </a:prstGeom>
          <a:noFill/>
          <a:ln/>
        </p:spPr>
        <p:txBody>
          <a:bodyPr wrap="square" lIns="0" tIns="0" rIns="0" bIns="0" rtlCol="0" anchor="ctr"/>
          <a:lstStyle/>
          <a:p>
            <a:pPr>
              <a:lnSpc>
                <a:spcPct val="130000"/>
              </a:lnSpc>
            </a:pPr>
            <a:r>
              <a:rPr lang="en-US" sz="1365" b="1" dirty="0">
                <a:solidFill>
                  <a:srgbClr val="D69E2E"/>
                </a:solidFill>
                <a:latin typeface="MiSans" pitchFamily="34" charset="0"/>
                <a:ea typeface="MiSans" pitchFamily="34" charset="-122"/>
                <a:cs typeface="MiSans" pitchFamily="34" charset="-120"/>
              </a:rPr>
              <a:t>Coordinator</a:t>
            </a:r>
            <a:endParaRPr lang="en-US" sz="1600" dirty="0"/>
          </a:p>
        </p:txBody>
      </p:sp>
      <p:sp>
        <p:nvSpPr>
          <p:cNvPr id="42" name="Text 40"/>
          <p:cNvSpPr/>
          <p:nvPr/>
        </p:nvSpPr>
        <p:spPr>
          <a:xfrm>
            <a:off x="8390467" y="7499435"/>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协调器，包括消费者组协调器和事务协调器</a:t>
            </a:r>
            <a:endParaRPr lang="en-US" sz="1600" dirty="0"/>
          </a:p>
        </p:txBody>
      </p:sp>
      <p:sp>
        <p:nvSpPr>
          <p:cNvPr id="43" name="Shape 41"/>
          <p:cNvSpPr/>
          <p:nvPr/>
        </p:nvSpPr>
        <p:spPr>
          <a:xfrm>
            <a:off x="8260419" y="7932928"/>
            <a:ext cx="7564459" cy="780288"/>
          </a:xfrm>
          <a:custGeom>
            <a:avLst/>
            <a:gdLst/>
            <a:ahLst/>
            <a:cxnLst/>
            <a:rect l="l" t="t" r="r" b="b"/>
            <a:pathLst>
              <a:path w="7564459" h="780288">
                <a:moveTo>
                  <a:pt x="86698" y="0"/>
                </a:moveTo>
                <a:lnTo>
                  <a:pt x="7477761" y="0"/>
                </a:lnTo>
                <a:cubicBezTo>
                  <a:pt x="7525643" y="0"/>
                  <a:pt x="7564459" y="38816"/>
                  <a:pt x="7564459" y="86698"/>
                </a:cubicBezTo>
                <a:lnTo>
                  <a:pt x="7564459" y="693590"/>
                </a:lnTo>
                <a:cubicBezTo>
                  <a:pt x="7564459" y="741472"/>
                  <a:pt x="7525643" y="780288"/>
                  <a:pt x="7477761" y="780288"/>
                </a:cubicBezTo>
                <a:lnTo>
                  <a:pt x="86698" y="780288"/>
                </a:lnTo>
                <a:cubicBezTo>
                  <a:pt x="38816" y="780288"/>
                  <a:pt x="0" y="741472"/>
                  <a:pt x="0" y="693590"/>
                </a:cubicBezTo>
                <a:lnTo>
                  <a:pt x="0" y="86698"/>
                </a:lnTo>
                <a:cubicBezTo>
                  <a:pt x="0" y="38816"/>
                  <a:pt x="38816" y="0"/>
                  <a:pt x="86698" y="0"/>
                </a:cubicBezTo>
                <a:close/>
              </a:path>
            </a:pathLst>
          </a:custGeom>
          <a:solidFill>
            <a:srgbClr val="4A5568">
              <a:alpha val="20000"/>
            </a:srgbClr>
          </a:solidFill>
          <a:ln/>
        </p:spPr>
        <p:txBody>
          <a:bodyPr/>
          <a:lstStyle/>
          <a:p>
            <a:endParaRPr lang="zh-CN" altLang="en-US"/>
          </a:p>
        </p:txBody>
      </p:sp>
      <p:sp>
        <p:nvSpPr>
          <p:cNvPr id="44" name="Shape 42"/>
          <p:cNvSpPr/>
          <p:nvPr/>
        </p:nvSpPr>
        <p:spPr>
          <a:xfrm>
            <a:off x="8390467" y="8062976"/>
            <a:ext cx="260096" cy="260096"/>
          </a:xfrm>
          <a:custGeom>
            <a:avLst/>
            <a:gdLst/>
            <a:ahLst/>
            <a:cxnLst/>
            <a:rect l="l" t="t" r="r" b="b"/>
            <a:pathLst>
              <a:path w="260096" h="260096">
                <a:moveTo>
                  <a:pt x="130048" y="0"/>
                </a:moveTo>
                <a:lnTo>
                  <a:pt x="130048" y="0"/>
                </a:lnTo>
                <a:cubicBezTo>
                  <a:pt x="201823" y="0"/>
                  <a:pt x="260096" y="58273"/>
                  <a:pt x="260096" y="130048"/>
                </a:cubicBezTo>
                <a:lnTo>
                  <a:pt x="260096" y="130048"/>
                </a:lnTo>
                <a:cubicBezTo>
                  <a:pt x="260096" y="201823"/>
                  <a:pt x="201823" y="260096"/>
                  <a:pt x="130048" y="260096"/>
                </a:cubicBezTo>
                <a:lnTo>
                  <a:pt x="130048" y="260096"/>
                </a:lnTo>
                <a:cubicBezTo>
                  <a:pt x="58273" y="260096"/>
                  <a:pt x="0" y="201823"/>
                  <a:pt x="0" y="130048"/>
                </a:cubicBezTo>
                <a:lnTo>
                  <a:pt x="0" y="130048"/>
                </a:lnTo>
                <a:cubicBezTo>
                  <a:pt x="0" y="58273"/>
                  <a:pt x="58273" y="0"/>
                  <a:pt x="130048" y="0"/>
                </a:cubicBezTo>
                <a:close/>
              </a:path>
            </a:pathLst>
          </a:custGeom>
          <a:solidFill>
            <a:srgbClr val="718096"/>
          </a:solidFill>
          <a:ln/>
        </p:spPr>
        <p:txBody>
          <a:bodyPr/>
          <a:lstStyle/>
          <a:p>
            <a:endParaRPr lang="zh-CN" altLang="en-US"/>
          </a:p>
        </p:txBody>
      </p:sp>
      <p:sp>
        <p:nvSpPr>
          <p:cNvPr id="45" name="Text 43"/>
          <p:cNvSpPr/>
          <p:nvPr/>
        </p:nvSpPr>
        <p:spPr>
          <a:xfrm>
            <a:off x="8479959" y="8106325"/>
            <a:ext cx="140885" cy="173397"/>
          </a:xfrm>
          <a:prstGeom prst="rect">
            <a:avLst/>
          </a:prstGeom>
          <a:noFill/>
          <a:ln/>
        </p:spPr>
        <p:txBody>
          <a:bodyPr wrap="square" lIns="0" tIns="0" rIns="0" bIns="0" rtlCol="0" anchor="ctr"/>
          <a:lstStyle/>
          <a:p>
            <a:pPr>
              <a:lnSpc>
                <a:spcPct val="110000"/>
              </a:lnSpc>
            </a:pPr>
            <a:r>
              <a:rPr lang="en-US" sz="1024" b="1" dirty="0">
                <a:solidFill>
                  <a:srgbClr val="1A1D21"/>
                </a:solidFill>
                <a:latin typeface="MiSans" pitchFamily="34" charset="0"/>
                <a:ea typeface="MiSans" pitchFamily="34" charset="-122"/>
                <a:cs typeface="MiSans" pitchFamily="34" charset="-120"/>
              </a:rPr>
              <a:t>8</a:t>
            </a:r>
            <a:endParaRPr lang="en-US" sz="1600" dirty="0"/>
          </a:p>
        </p:txBody>
      </p:sp>
      <p:sp>
        <p:nvSpPr>
          <p:cNvPr id="46" name="Text 44"/>
          <p:cNvSpPr/>
          <p:nvPr/>
        </p:nvSpPr>
        <p:spPr>
          <a:xfrm>
            <a:off x="8737261" y="8062976"/>
            <a:ext cx="1343829" cy="260096"/>
          </a:xfrm>
          <a:prstGeom prst="rect">
            <a:avLst/>
          </a:prstGeom>
          <a:noFill/>
          <a:ln/>
        </p:spPr>
        <p:txBody>
          <a:bodyPr wrap="square" lIns="0" tIns="0" rIns="0" bIns="0" rtlCol="0" anchor="ctr"/>
          <a:lstStyle/>
          <a:p>
            <a:pPr>
              <a:lnSpc>
                <a:spcPct val="130000"/>
              </a:lnSpc>
            </a:pPr>
            <a:r>
              <a:rPr lang="en-US" sz="1365" b="1" dirty="0">
                <a:solidFill>
                  <a:srgbClr val="718096"/>
                </a:solidFill>
                <a:latin typeface="MiSans" pitchFamily="34" charset="0"/>
                <a:ea typeface="MiSans" pitchFamily="34" charset="-122"/>
                <a:cs typeface="MiSans" pitchFamily="34" charset="-120"/>
              </a:rPr>
              <a:t>MetadataCache</a:t>
            </a:r>
            <a:endParaRPr lang="en-US" sz="1600" dirty="0"/>
          </a:p>
        </p:txBody>
      </p:sp>
      <p:sp>
        <p:nvSpPr>
          <p:cNvPr id="47" name="Text 45"/>
          <p:cNvSpPr/>
          <p:nvPr/>
        </p:nvSpPr>
        <p:spPr>
          <a:xfrm>
            <a:off x="8390467" y="8366421"/>
            <a:ext cx="7380224" cy="216747"/>
          </a:xfrm>
          <a:prstGeom prst="rect">
            <a:avLst/>
          </a:prstGeom>
          <a:noFill/>
          <a:ln/>
        </p:spPr>
        <p:txBody>
          <a:bodyPr wrap="square" lIns="0" tIns="0" rIns="0" bIns="0" rtlCol="0" anchor="ctr"/>
          <a:lstStyle/>
          <a:p>
            <a:pPr>
              <a:lnSpc>
                <a:spcPct val="120000"/>
              </a:lnSpc>
            </a:pPr>
            <a:r>
              <a:rPr lang="en-US" sz="1195" dirty="0">
                <a:solidFill>
                  <a:srgbClr val="E2E8F0">
                    <a:alpha val="80000"/>
                  </a:srgbClr>
                </a:solidFill>
                <a:latin typeface="MiSans" pitchFamily="34" charset="0"/>
                <a:ea typeface="MiSans" pitchFamily="34" charset="-122"/>
                <a:cs typeface="MiSans" pitchFamily="34" charset="-120"/>
              </a:rPr>
              <a:t>元数据缓存，维护集群元数据信息</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3.2.1 存储引擎</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存储引擎与日志结构</a:t>
            </a:r>
            <a:endParaRPr lang="en-US" sz="1600" dirty="0"/>
          </a:p>
        </p:txBody>
      </p:sp>
      <p:sp>
        <p:nvSpPr>
          <p:cNvPr id="4" name="Shape 2"/>
          <p:cNvSpPr/>
          <p:nvPr/>
        </p:nvSpPr>
        <p:spPr>
          <a:xfrm>
            <a:off x="533400" y="1625600"/>
            <a:ext cx="7442200" cy="3378200"/>
          </a:xfrm>
          <a:custGeom>
            <a:avLst/>
            <a:gdLst/>
            <a:ahLst/>
            <a:cxnLst/>
            <a:rect l="l" t="t" r="r" b="b"/>
            <a:pathLst>
              <a:path w="7442200" h="3378200">
                <a:moveTo>
                  <a:pt x="50800" y="0"/>
                </a:moveTo>
                <a:lnTo>
                  <a:pt x="7340584" y="0"/>
                </a:lnTo>
                <a:cubicBezTo>
                  <a:pt x="7396705" y="0"/>
                  <a:pt x="7442200" y="45495"/>
                  <a:pt x="7442200" y="101616"/>
                </a:cubicBezTo>
                <a:lnTo>
                  <a:pt x="7442200" y="3276584"/>
                </a:lnTo>
                <a:cubicBezTo>
                  <a:pt x="7442200" y="3332705"/>
                  <a:pt x="7396705" y="3378200"/>
                  <a:pt x="7340584" y="3378200"/>
                </a:cubicBezTo>
                <a:lnTo>
                  <a:pt x="50800" y="3378200"/>
                </a:lnTo>
                <a:cubicBezTo>
                  <a:pt x="22744" y="3378200"/>
                  <a:pt x="0" y="3355456"/>
                  <a:pt x="0" y="33274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33400" y="1625600"/>
            <a:ext cx="50800" cy="3378200"/>
          </a:xfrm>
          <a:custGeom>
            <a:avLst/>
            <a:gdLst/>
            <a:ahLst/>
            <a:cxnLst/>
            <a:rect l="l" t="t" r="r" b="b"/>
            <a:pathLst>
              <a:path w="50800" h="3378200">
                <a:moveTo>
                  <a:pt x="50800" y="0"/>
                </a:moveTo>
                <a:lnTo>
                  <a:pt x="50800" y="0"/>
                </a:lnTo>
                <a:lnTo>
                  <a:pt x="50800" y="3378200"/>
                </a:lnTo>
                <a:lnTo>
                  <a:pt x="50800" y="3378200"/>
                </a:lnTo>
                <a:cubicBezTo>
                  <a:pt x="22763" y="3378200"/>
                  <a:pt x="0" y="3355437"/>
                  <a:pt x="0" y="33274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6" name="Text 4"/>
          <p:cNvSpPr/>
          <p:nvPr/>
        </p:nvSpPr>
        <p:spPr>
          <a:xfrm>
            <a:off x="7620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零拷贝技术 (Zero-Copy)</a:t>
            </a:r>
            <a:endParaRPr lang="en-US" sz="1600" dirty="0"/>
          </a:p>
        </p:txBody>
      </p:sp>
      <p:sp>
        <p:nvSpPr>
          <p:cNvPr id="7" name="Text 5"/>
          <p:cNvSpPr/>
          <p:nvPr/>
        </p:nvSpPr>
        <p:spPr>
          <a:xfrm>
            <a:off x="762000" y="2336800"/>
            <a:ext cx="7099300" cy="584200"/>
          </a:xfrm>
          <a:prstGeom prst="rect">
            <a:avLst/>
          </a:prstGeom>
          <a:noFill/>
          <a:ln/>
        </p:spPr>
        <p:txBody>
          <a:bodyPr wrap="square" lIns="0" tIns="0" rIns="0" bIns="0" rtlCol="0" anchor="ctr"/>
          <a:lstStyle/>
          <a:p>
            <a:pPr>
              <a:lnSpc>
                <a:spcPct val="140000"/>
              </a:lnSpc>
            </a:pPr>
            <a:r>
              <a:rPr lang="en-US" sz="1400" dirty="0">
                <a:solidFill>
                  <a:srgbClr val="E2E8F0">
                    <a:alpha val="90000"/>
                  </a:srgbClr>
                </a:solidFill>
                <a:latin typeface="MiSans" pitchFamily="34" charset="0"/>
                <a:ea typeface="MiSans" pitchFamily="34" charset="-122"/>
                <a:cs typeface="MiSans" pitchFamily="34" charset="-120"/>
              </a:rPr>
              <a:t>Kafka 使用 </a:t>
            </a:r>
            <a:r>
              <a:rPr lang="en-US" sz="1400" b="1" dirty="0">
                <a:solidFill>
                  <a:srgbClr val="D69E2E"/>
                </a:solidFill>
                <a:latin typeface="MiSans" pitchFamily="34" charset="0"/>
                <a:ea typeface="MiSans" pitchFamily="34" charset="-122"/>
                <a:cs typeface="MiSans" pitchFamily="34" charset="-120"/>
              </a:rPr>
              <a:t>sendfile()</a:t>
            </a:r>
            <a:r>
              <a:rPr lang="en-US" sz="1400" dirty="0">
                <a:solidFill>
                  <a:srgbClr val="E2E8F0">
                    <a:alpha val="90000"/>
                  </a:srgbClr>
                </a:solidFill>
                <a:latin typeface="MiSans" pitchFamily="34" charset="0"/>
                <a:ea typeface="MiSans" pitchFamily="34" charset="-122"/>
                <a:cs typeface="MiSans" pitchFamily="34" charset="-120"/>
              </a:rPr>
              <a:t> 系统调用实现网络传输零拷贝，避免数据在用户空间和内核空间之间的多次拷贝，显著提升网络传输性能。</a:t>
            </a:r>
            <a:endParaRPr lang="en-US" sz="1600" dirty="0"/>
          </a:p>
        </p:txBody>
      </p:sp>
      <p:sp>
        <p:nvSpPr>
          <p:cNvPr id="8" name="Shape 6"/>
          <p:cNvSpPr/>
          <p:nvPr/>
        </p:nvSpPr>
        <p:spPr>
          <a:xfrm>
            <a:off x="762000" y="3067050"/>
            <a:ext cx="7010400" cy="812800"/>
          </a:xfrm>
          <a:custGeom>
            <a:avLst/>
            <a:gdLst/>
            <a:ahLst/>
            <a:cxnLst/>
            <a:rect l="l" t="t" r="r" b="b"/>
            <a:pathLst>
              <a:path w="7010400" h="812800">
                <a:moveTo>
                  <a:pt x="50800" y="0"/>
                </a:moveTo>
                <a:lnTo>
                  <a:pt x="6959600" y="0"/>
                </a:lnTo>
                <a:cubicBezTo>
                  <a:pt x="6987637" y="0"/>
                  <a:pt x="7010400" y="22763"/>
                  <a:pt x="7010400" y="50800"/>
                </a:cubicBezTo>
                <a:lnTo>
                  <a:pt x="7010400" y="762000"/>
                </a:lnTo>
                <a:cubicBezTo>
                  <a:pt x="7010400" y="790037"/>
                  <a:pt x="6987637" y="812800"/>
                  <a:pt x="6959600" y="812800"/>
                </a:cubicBezTo>
                <a:lnTo>
                  <a:pt x="50800" y="812800"/>
                </a:lnTo>
                <a:cubicBezTo>
                  <a:pt x="22763" y="812800"/>
                  <a:pt x="0" y="790037"/>
                  <a:pt x="0" y="762000"/>
                </a:cubicBezTo>
                <a:lnTo>
                  <a:pt x="0" y="50800"/>
                </a:lnTo>
                <a:cubicBezTo>
                  <a:pt x="0" y="22763"/>
                  <a:pt x="22763" y="0"/>
                  <a:pt x="50800" y="0"/>
                </a:cubicBezTo>
                <a:close/>
              </a:path>
            </a:pathLst>
          </a:custGeom>
          <a:solidFill>
            <a:srgbClr val="1A1D21">
              <a:alpha val="60000"/>
            </a:srgbClr>
          </a:solidFill>
          <a:ln/>
        </p:spPr>
        <p:txBody>
          <a:bodyPr/>
          <a:lstStyle/>
          <a:p>
            <a:endParaRPr lang="zh-CN" altLang="en-US"/>
          </a:p>
        </p:txBody>
      </p:sp>
      <p:sp>
        <p:nvSpPr>
          <p:cNvPr id="9" name="Text 7"/>
          <p:cNvSpPr/>
          <p:nvPr/>
        </p:nvSpPr>
        <p:spPr>
          <a:xfrm>
            <a:off x="914400" y="3219450"/>
            <a:ext cx="67945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传统数据传输:</a:t>
            </a:r>
            <a:endParaRPr lang="en-US" sz="1600" dirty="0"/>
          </a:p>
        </p:txBody>
      </p:sp>
      <p:sp>
        <p:nvSpPr>
          <p:cNvPr id="10" name="Text 8"/>
          <p:cNvSpPr/>
          <p:nvPr/>
        </p:nvSpPr>
        <p:spPr>
          <a:xfrm>
            <a:off x="914400" y="3524250"/>
            <a:ext cx="67818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4 次上下文切换 + 4 次数据拷贝</a:t>
            </a:r>
            <a:endParaRPr lang="en-US" sz="1600" dirty="0"/>
          </a:p>
        </p:txBody>
      </p:sp>
      <p:sp>
        <p:nvSpPr>
          <p:cNvPr id="11" name="Shape 9"/>
          <p:cNvSpPr/>
          <p:nvPr/>
        </p:nvSpPr>
        <p:spPr>
          <a:xfrm>
            <a:off x="762000" y="3981450"/>
            <a:ext cx="7010400" cy="812800"/>
          </a:xfrm>
          <a:custGeom>
            <a:avLst/>
            <a:gdLst/>
            <a:ahLst/>
            <a:cxnLst/>
            <a:rect l="l" t="t" r="r" b="b"/>
            <a:pathLst>
              <a:path w="7010400" h="812800">
                <a:moveTo>
                  <a:pt x="50800" y="0"/>
                </a:moveTo>
                <a:lnTo>
                  <a:pt x="6959600" y="0"/>
                </a:lnTo>
                <a:cubicBezTo>
                  <a:pt x="6987637" y="0"/>
                  <a:pt x="7010400" y="22763"/>
                  <a:pt x="7010400" y="50800"/>
                </a:cubicBezTo>
                <a:lnTo>
                  <a:pt x="7010400" y="762000"/>
                </a:lnTo>
                <a:cubicBezTo>
                  <a:pt x="7010400" y="790037"/>
                  <a:pt x="6987637" y="812800"/>
                  <a:pt x="6959600" y="812800"/>
                </a:cubicBezTo>
                <a:lnTo>
                  <a:pt x="50800" y="812800"/>
                </a:lnTo>
                <a:cubicBezTo>
                  <a:pt x="22763" y="812800"/>
                  <a:pt x="0" y="790037"/>
                  <a:pt x="0" y="762000"/>
                </a:cubicBezTo>
                <a:lnTo>
                  <a:pt x="0" y="50800"/>
                </a:lnTo>
                <a:cubicBezTo>
                  <a:pt x="0" y="22763"/>
                  <a:pt x="22763" y="0"/>
                  <a:pt x="50800" y="0"/>
                </a:cubicBezTo>
                <a:close/>
              </a:path>
            </a:pathLst>
          </a:custGeom>
          <a:solidFill>
            <a:srgbClr val="1A1D21">
              <a:alpha val="60000"/>
            </a:srgbClr>
          </a:solidFill>
          <a:ln/>
        </p:spPr>
        <p:txBody>
          <a:bodyPr/>
          <a:lstStyle/>
          <a:p>
            <a:endParaRPr lang="zh-CN" altLang="en-US"/>
          </a:p>
        </p:txBody>
      </p:sp>
      <p:sp>
        <p:nvSpPr>
          <p:cNvPr id="12" name="Text 10"/>
          <p:cNvSpPr/>
          <p:nvPr/>
        </p:nvSpPr>
        <p:spPr>
          <a:xfrm>
            <a:off x="914400" y="4133850"/>
            <a:ext cx="67945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零拷贝技术:</a:t>
            </a:r>
            <a:endParaRPr lang="en-US" sz="1600" dirty="0"/>
          </a:p>
        </p:txBody>
      </p:sp>
      <p:sp>
        <p:nvSpPr>
          <p:cNvPr id="13" name="Text 11"/>
          <p:cNvSpPr/>
          <p:nvPr/>
        </p:nvSpPr>
        <p:spPr>
          <a:xfrm>
            <a:off x="914400" y="4438650"/>
            <a:ext cx="6781800" cy="203200"/>
          </a:xfrm>
          <a:prstGeom prst="rect">
            <a:avLst/>
          </a:prstGeom>
          <a:noFill/>
          <a:ln/>
        </p:spPr>
        <p:txBody>
          <a:bodyPr wrap="square" lIns="0" tIns="0" rIns="0" bIns="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2 次上下文切换 + 2-3 次数据拷贝</a:t>
            </a:r>
            <a:endParaRPr lang="en-US" sz="1600" dirty="0"/>
          </a:p>
        </p:txBody>
      </p:sp>
      <p:sp>
        <p:nvSpPr>
          <p:cNvPr id="14" name="Shape 12"/>
          <p:cNvSpPr/>
          <p:nvPr/>
        </p:nvSpPr>
        <p:spPr>
          <a:xfrm>
            <a:off x="533400" y="5149850"/>
            <a:ext cx="7442200" cy="2997200"/>
          </a:xfrm>
          <a:custGeom>
            <a:avLst/>
            <a:gdLst/>
            <a:ahLst/>
            <a:cxnLst/>
            <a:rect l="l" t="t" r="r" b="b"/>
            <a:pathLst>
              <a:path w="7442200" h="2997200">
                <a:moveTo>
                  <a:pt x="50800" y="0"/>
                </a:moveTo>
                <a:lnTo>
                  <a:pt x="7340595" y="0"/>
                </a:lnTo>
                <a:cubicBezTo>
                  <a:pt x="7396710" y="0"/>
                  <a:pt x="7442200" y="45490"/>
                  <a:pt x="7442200" y="101605"/>
                </a:cubicBezTo>
                <a:lnTo>
                  <a:pt x="7442200" y="2895595"/>
                </a:lnTo>
                <a:cubicBezTo>
                  <a:pt x="7442200" y="2951710"/>
                  <a:pt x="7396710" y="2997200"/>
                  <a:pt x="7340595" y="2997200"/>
                </a:cubicBezTo>
                <a:lnTo>
                  <a:pt x="50800" y="2997200"/>
                </a:lnTo>
                <a:cubicBezTo>
                  <a:pt x="22763" y="2997200"/>
                  <a:pt x="0" y="2974437"/>
                  <a:pt x="0" y="29464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15" name="Shape 13"/>
          <p:cNvSpPr/>
          <p:nvPr/>
        </p:nvSpPr>
        <p:spPr>
          <a:xfrm>
            <a:off x="533400" y="5149850"/>
            <a:ext cx="50800" cy="2997200"/>
          </a:xfrm>
          <a:custGeom>
            <a:avLst/>
            <a:gdLst/>
            <a:ahLst/>
            <a:cxnLst/>
            <a:rect l="l" t="t" r="r" b="b"/>
            <a:pathLst>
              <a:path w="50800" h="2997200">
                <a:moveTo>
                  <a:pt x="50800" y="0"/>
                </a:moveTo>
                <a:lnTo>
                  <a:pt x="50800" y="0"/>
                </a:lnTo>
                <a:lnTo>
                  <a:pt x="50800" y="2997200"/>
                </a:lnTo>
                <a:lnTo>
                  <a:pt x="50800" y="2997200"/>
                </a:lnTo>
                <a:cubicBezTo>
                  <a:pt x="22763" y="2997200"/>
                  <a:pt x="0" y="2974437"/>
                  <a:pt x="0" y="29464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16" name="Text 14"/>
          <p:cNvSpPr/>
          <p:nvPr/>
        </p:nvSpPr>
        <p:spPr>
          <a:xfrm>
            <a:off x="762000" y="535305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存储层次结构</a:t>
            </a:r>
            <a:endParaRPr lang="en-US" sz="1600" dirty="0"/>
          </a:p>
        </p:txBody>
      </p:sp>
      <p:sp>
        <p:nvSpPr>
          <p:cNvPr id="17" name="Text 15"/>
          <p:cNvSpPr/>
          <p:nvPr/>
        </p:nvSpPr>
        <p:spPr>
          <a:xfrm>
            <a:off x="762000" y="586105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Broker</a:t>
            </a:r>
            <a:r>
              <a:rPr lang="en-US" sz="1400" dirty="0">
                <a:solidFill>
                  <a:srgbClr val="E2E8F0">
                    <a:alpha val="80000"/>
                  </a:srgbClr>
                </a:solidFill>
                <a:latin typeface="MiSans" pitchFamily="34" charset="0"/>
                <a:ea typeface="MiSans" pitchFamily="34" charset="-122"/>
                <a:cs typeface="MiSans" pitchFamily="34" charset="-120"/>
              </a:rPr>
              <a:t> → Kafka 服务器实例</a:t>
            </a:r>
            <a:endParaRPr lang="en-US" sz="1600" dirty="0"/>
          </a:p>
        </p:txBody>
      </p:sp>
      <p:sp>
        <p:nvSpPr>
          <p:cNvPr id="18" name="Text 16"/>
          <p:cNvSpPr/>
          <p:nvPr/>
        </p:nvSpPr>
        <p:spPr>
          <a:xfrm>
            <a:off x="762000" y="6165850"/>
            <a:ext cx="70993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Log Directory</a:t>
            </a:r>
            <a:r>
              <a:rPr lang="en-US" sz="1400" dirty="0">
                <a:solidFill>
                  <a:srgbClr val="E2E8F0">
                    <a:alpha val="80000"/>
                  </a:srgbClr>
                </a:solidFill>
                <a:latin typeface="MiSans" pitchFamily="34" charset="0"/>
                <a:ea typeface="MiSans" pitchFamily="34" charset="-122"/>
                <a:cs typeface="MiSans" pitchFamily="34" charset="-120"/>
              </a:rPr>
              <a:t> → 日志存储目录</a:t>
            </a:r>
            <a:endParaRPr lang="en-US" sz="1600" dirty="0"/>
          </a:p>
        </p:txBody>
      </p:sp>
      <p:sp>
        <p:nvSpPr>
          <p:cNvPr id="19" name="Text 17"/>
          <p:cNvSpPr/>
          <p:nvPr/>
        </p:nvSpPr>
        <p:spPr>
          <a:xfrm>
            <a:off x="762000" y="647065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Topic</a:t>
            </a:r>
            <a:r>
              <a:rPr lang="en-US" sz="1400" dirty="0">
                <a:solidFill>
                  <a:srgbClr val="E2E8F0">
                    <a:alpha val="80000"/>
                  </a:srgbClr>
                </a:solidFill>
                <a:latin typeface="MiSans" pitchFamily="34" charset="0"/>
                <a:ea typeface="MiSans" pitchFamily="34" charset="-122"/>
                <a:cs typeface="MiSans" pitchFamily="34" charset="-120"/>
              </a:rPr>
              <a:t> → 消息的逻辑分类</a:t>
            </a:r>
            <a:endParaRPr lang="en-US" sz="1600" dirty="0"/>
          </a:p>
        </p:txBody>
      </p:sp>
      <p:sp>
        <p:nvSpPr>
          <p:cNvPr id="20" name="Text 18"/>
          <p:cNvSpPr/>
          <p:nvPr/>
        </p:nvSpPr>
        <p:spPr>
          <a:xfrm>
            <a:off x="762000" y="6775450"/>
            <a:ext cx="70993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Partition</a:t>
            </a:r>
            <a:r>
              <a:rPr lang="en-US" sz="1400" dirty="0">
                <a:solidFill>
                  <a:srgbClr val="E2E8F0">
                    <a:alpha val="80000"/>
                  </a:srgbClr>
                </a:solidFill>
                <a:latin typeface="MiSans" pitchFamily="34" charset="0"/>
                <a:ea typeface="MiSans" pitchFamily="34" charset="-122"/>
                <a:cs typeface="MiSans" pitchFamily="34" charset="-120"/>
              </a:rPr>
              <a:t> → Topic 的物理分区</a:t>
            </a:r>
            <a:endParaRPr lang="en-US" sz="1600" dirty="0"/>
          </a:p>
        </p:txBody>
      </p:sp>
      <p:sp>
        <p:nvSpPr>
          <p:cNvPr id="21" name="Text 19"/>
          <p:cNvSpPr/>
          <p:nvPr/>
        </p:nvSpPr>
        <p:spPr>
          <a:xfrm>
            <a:off x="762000" y="708025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Segment</a:t>
            </a:r>
            <a:r>
              <a:rPr lang="en-US" sz="1400" dirty="0">
                <a:solidFill>
                  <a:srgbClr val="E2E8F0">
                    <a:alpha val="80000"/>
                  </a:srgbClr>
                </a:solidFill>
                <a:latin typeface="MiSans" pitchFamily="34" charset="0"/>
                <a:ea typeface="MiSans" pitchFamily="34" charset="-122"/>
                <a:cs typeface="MiSans" pitchFamily="34" charset="-120"/>
              </a:rPr>
              <a:t> → Partition 的日志段</a:t>
            </a:r>
            <a:endParaRPr lang="en-US" sz="1600" dirty="0"/>
          </a:p>
        </p:txBody>
      </p:sp>
      <p:sp>
        <p:nvSpPr>
          <p:cNvPr id="22" name="Text 20"/>
          <p:cNvSpPr/>
          <p:nvPr/>
        </p:nvSpPr>
        <p:spPr>
          <a:xfrm>
            <a:off x="762000" y="7385050"/>
            <a:ext cx="70993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Log File</a:t>
            </a:r>
            <a:r>
              <a:rPr lang="en-US" sz="1400" dirty="0">
                <a:solidFill>
                  <a:srgbClr val="E2E8F0">
                    <a:alpha val="80000"/>
                  </a:srgbClr>
                </a:solidFill>
                <a:latin typeface="MiSans" pitchFamily="34" charset="0"/>
                <a:ea typeface="MiSans" pitchFamily="34" charset="-122"/>
                <a:cs typeface="MiSans" pitchFamily="34" charset="-120"/>
              </a:rPr>
              <a:t> → 消息数据文件(.log)</a:t>
            </a:r>
            <a:endParaRPr lang="en-US" sz="1600" dirty="0"/>
          </a:p>
        </p:txBody>
      </p:sp>
      <p:sp>
        <p:nvSpPr>
          <p:cNvPr id="23" name="Text 21"/>
          <p:cNvSpPr/>
          <p:nvPr/>
        </p:nvSpPr>
        <p:spPr>
          <a:xfrm>
            <a:off x="762000" y="7689850"/>
            <a:ext cx="7099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Index File</a:t>
            </a:r>
            <a:r>
              <a:rPr lang="en-US" sz="1400" dirty="0">
                <a:solidFill>
                  <a:srgbClr val="E2E8F0">
                    <a:alpha val="80000"/>
                  </a:srgbClr>
                </a:solidFill>
                <a:latin typeface="MiSans" pitchFamily="34" charset="0"/>
                <a:ea typeface="MiSans" pitchFamily="34" charset="-122"/>
                <a:cs typeface="MiSans" pitchFamily="34" charset="-120"/>
              </a:rPr>
              <a:t> → 索引文件(.index/.timeindex)</a:t>
            </a:r>
            <a:endParaRPr lang="en-US" sz="1600" dirty="0"/>
          </a:p>
        </p:txBody>
      </p:sp>
      <p:sp>
        <p:nvSpPr>
          <p:cNvPr id="24" name="Shape 22"/>
          <p:cNvSpPr/>
          <p:nvPr/>
        </p:nvSpPr>
        <p:spPr>
          <a:xfrm>
            <a:off x="8305800" y="1625600"/>
            <a:ext cx="7442200" cy="2844800"/>
          </a:xfrm>
          <a:custGeom>
            <a:avLst/>
            <a:gdLst/>
            <a:ahLst/>
            <a:cxnLst/>
            <a:rect l="l" t="t" r="r" b="b"/>
            <a:pathLst>
              <a:path w="7442200" h="2844800">
                <a:moveTo>
                  <a:pt x="50800" y="0"/>
                </a:moveTo>
                <a:lnTo>
                  <a:pt x="7340612" y="0"/>
                </a:lnTo>
                <a:cubicBezTo>
                  <a:pt x="7396718" y="0"/>
                  <a:pt x="7442200" y="45482"/>
                  <a:pt x="7442200" y="101588"/>
                </a:cubicBezTo>
                <a:lnTo>
                  <a:pt x="7442200" y="2743212"/>
                </a:lnTo>
                <a:cubicBezTo>
                  <a:pt x="7442200" y="2799318"/>
                  <a:pt x="7396718" y="2844800"/>
                  <a:pt x="7340612" y="2844800"/>
                </a:cubicBezTo>
                <a:lnTo>
                  <a:pt x="50800" y="2844800"/>
                </a:lnTo>
                <a:cubicBezTo>
                  <a:pt x="22744" y="2844800"/>
                  <a:pt x="0" y="2822056"/>
                  <a:pt x="0" y="27940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5" name="Shape 23"/>
          <p:cNvSpPr/>
          <p:nvPr/>
        </p:nvSpPr>
        <p:spPr>
          <a:xfrm>
            <a:off x="8305800" y="1625600"/>
            <a:ext cx="50800" cy="2844800"/>
          </a:xfrm>
          <a:custGeom>
            <a:avLst/>
            <a:gdLst/>
            <a:ahLst/>
            <a:cxnLst/>
            <a:rect l="l" t="t" r="r" b="b"/>
            <a:pathLst>
              <a:path w="50800" h="2844800">
                <a:moveTo>
                  <a:pt x="50800" y="0"/>
                </a:moveTo>
                <a:lnTo>
                  <a:pt x="50800" y="0"/>
                </a:lnTo>
                <a:lnTo>
                  <a:pt x="50800" y="2844800"/>
                </a:lnTo>
                <a:lnTo>
                  <a:pt x="50800" y="2844800"/>
                </a:lnTo>
                <a:cubicBezTo>
                  <a:pt x="22763" y="2844800"/>
                  <a:pt x="0" y="2822037"/>
                  <a:pt x="0" y="27940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26" name="Text 24"/>
          <p:cNvSpPr/>
          <p:nvPr/>
        </p:nvSpPr>
        <p:spPr>
          <a:xfrm>
            <a:off x="85344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日志文件结构</a:t>
            </a:r>
            <a:endParaRPr lang="en-US" sz="1600" dirty="0"/>
          </a:p>
        </p:txBody>
      </p:sp>
      <p:sp>
        <p:nvSpPr>
          <p:cNvPr id="27" name="Shape 25"/>
          <p:cNvSpPr/>
          <p:nvPr/>
        </p:nvSpPr>
        <p:spPr>
          <a:xfrm>
            <a:off x="8534400" y="2336800"/>
            <a:ext cx="7010400" cy="1930400"/>
          </a:xfrm>
          <a:custGeom>
            <a:avLst/>
            <a:gdLst/>
            <a:ahLst/>
            <a:cxnLst/>
            <a:rect l="l" t="t" r="r" b="b"/>
            <a:pathLst>
              <a:path w="7010400" h="1930400">
                <a:moveTo>
                  <a:pt x="50808" y="0"/>
                </a:moveTo>
                <a:lnTo>
                  <a:pt x="6959592" y="0"/>
                </a:lnTo>
                <a:cubicBezTo>
                  <a:pt x="6987652" y="0"/>
                  <a:pt x="7010400" y="22748"/>
                  <a:pt x="7010400" y="50808"/>
                </a:cubicBezTo>
                <a:lnTo>
                  <a:pt x="7010400" y="1879592"/>
                </a:lnTo>
                <a:cubicBezTo>
                  <a:pt x="7010400" y="1907652"/>
                  <a:pt x="6987652" y="1930400"/>
                  <a:pt x="6959592" y="1930400"/>
                </a:cubicBezTo>
                <a:lnTo>
                  <a:pt x="50808" y="1930400"/>
                </a:lnTo>
                <a:cubicBezTo>
                  <a:pt x="22748" y="1930400"/>
                  <a:pt x="0" y="1907652"/>
                  <a:pt x="0" y="1879592"/>
                </a:cubicBezTo>
                <a:lnTo>
                  <a:pt x="0" y="50808"/>
                </a:lnTo>
                <a:cubicBezTo>
                  <a:pt x="0" y="22766"/>
                  <a:pt x="22766" y="0"/>
                  <a:pt x="50808" y="0"/>
                </a:cubicBezTo>
                <a:close/>
              </a:path>
            </a:pathLst>
          </a:custGeom>
          <a:solidFill>
            <a:srgbClr val="1A1D21">
              <a:alpha val="60000"/>
            </a:srgbClr>
          </a:solidFill>
          <a:ln/>
        </p:spPr>
        <p:txBody>
          <a:bodyPr/>
          <a:lstStyle/>
          <a:p>
            <a:endParaRPr lang="zh-CN" altLang="en-US"/>
          </a:p>
        </p:txBody>
      </p:sp>
      <p:sp>
        <p:nvSpPr>
          <p:cNvPr id="28" name="Text 26"/>
          <p:cNvSpPr/>
          <p:nvPr/>
        </p:nvSpPr>
        <p:spPr>
          <a:xfrm>
            <a:off x="8686800" y="2489200"/>
            <a:ext cx="6781800" cy="1625600"/>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/var/lib/</a:t>
            </a:r>
            <a:r>
              <a:rPr lang="en-US" altLang="zh-CN" sz="1200" dirty="0" err="1">
                <a:solidFill>
                  <a:schemeClr val="bg1"/>
                </a:solidFill>
                <a:latin typeface="Calibri" panose="020F0502020204030204" pitchFamily="34" charset="0"/>
                <a:cs typeface="Calibri" panose="020F0502020204030204" pitchFamily="34" charset="0"/>
              </a:rPr>
              <a:t>kafka</a:t>
            </a:r>
            <a:r>
              <a:rPr lang="en-US" altLang="zh-CN" sz="1200" dirty="0">
                <a:solidFill>
                  <a:schemeClr val="bg1"/>
                </a:solidFill>
                <a:latin typeface="Calibri" panose="020F0502020204030204" pitchFamily="34" charset="0"/>
                <a:cs typeface="Calibri" panose="020F0502020204030204" pitchFamily="34" charset="0"/>
              </a:rPr>
              <a:t>/data/</a:t>
            </a:r>
          </a:p>
          <a:p>
            <a:r>
              <a:rPr lang="en-US" altLang="zh-CN" sz="1200" dirty="0">
                <a:solidFill>
                  <a:schemeClr val="bg1"/>
                </a:solidFill>
                <a:latin typeface="Calibri" panose="020F0502020204030204" pitchFamily="34" charset="0"/>
                <a:cs typeface="Calibri" panose="020F0502020204030204" pitchFamily="34" charset="0"/>
              </a:rPr>
              <a:t>├── app-logs-0/</a:t>
            </a:r>
          </a:p>
          <a:p>
            <a:r>
              <a:rPr lang="en-US" altLang="zh-CN" sz="1200" dirty="0">
                <a:solidFill>
                  <a:schemeClr val="bg1"/>
                </a:solidFill>
                <a:latin typeface="Calibri" panose="020F0502020204030204" pitchFamily="34" charset="0"/>
                <a:cs typeface="Calibri" panose="020F0502020204030204" pitchFamily="34" charset="0"/>
              </a:rPr>
              <a:t>│   ├── 00000000000000000000.log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消息数据文件</a:t>
            </a:r>
          </a:p>
          <a:p>
            <a:r>
              <a:rPr lang="zh-CN" altLang="en-US" sz="1200" dirty="0">
                <a:solidFill>
                  <a:schemeClr val="bg1"/>
                </a:solidFill>
                <a:latin typeface="Calibri" panose="020F0502020204030204" pitchFamily="34" charset="0"/>
                <a:cs typeface="Calibri" panose="020F0502020204030204" pitchFamily="34" charset="0"/>
              </a:rPr>
              <a:t>│   ├── </a:t>
            </a:r>
            <a:r>
              <a:rPr lang="en-US" altLang="zh-CN" sz="1200" dirty="0">
                <a:solidFill>
                  <a:schemeClr val="bg1"/>
                </a:solidFill>
                <a:latin typeface="Calibri" panose="020F0502020204030204" pitchFamily="34" charset="0"/>
                <a:cs typeface="Calibri" panose="020F0502020204030204" pitchFamily="34" charset="0"/>
              </a:rPr>
              <a:t>00000000000000000000.index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偏移量索引文件</a:t>
            </a:r>
          </a:p>
          <a:p>
            <a:r>
              <a:rPr lang="zh-CN" altLang="en-US" sz="1200" dirty="0">
                <a:solidFill>
                  <a:schemeClr val="bg1"/>
                </a:solidFill>
                <a:latin typeface="Calibri" panose="020F0502020204030204" pitchFamily="34" charset="0"/>
                <a:cs typeface="Calibri" panose="020F0502020204030204" pitchFamily="34" charset="0"/>
              </a:rPr>
              <a:t>│   ├── </a:t>
            </a:r>
            <a:r>
              <a:rPr lang="en-US" altLang="zh-CN" sz="1200" dirty="0">
                <a:solidFill>
                  <a:schemeClr val="bg1"/>
                </a:solidFill>
                <a:latin typeface="Calibri" panose="020F0502020204030204" pitchFamily="34" charset="0"/>
                <a:cs typeface="Calibri" panose="020F0502020204030204" pitchFamily="34" charset="0"/>
              </a:rPr>
              <a:t>00000000000000000000.timeindex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时间戳索引文件</a:t>
            </a:r>
          </a:p>
          <a:p>
            <a:r>
              <a:rPr lang="zh-CN" altLang="en-US" sz="1200" dirty="0">
                <a:solidFill>
                  <a:schemeClr val="bg1"/>
                </a:solidFill>
                <a:latin typeface="Calibri" panose="020F0502020204030204" pitchFamily="34" charset="0"/>
                <a:cs typeface="Calibri" panose="020F0502020204030204" pitchFamily="34" charset="0"/>
              </a:rPr>
              <a:t>│   ├── </a:t>
            </a:r>
            <a:r>
              <a:rPr lang="en-US" altLang="zh-CN" sz="1200" dirty="0">
                <a:solidFill>
                  <a:schemeClr val="bg1"/>
                </a:solidFill>
                <a:latin typeface="Calibri" panose="020F0502020204030204" pitchFamily="34" charset="0"/>
                <a:cs typeface="Calibri" panose="020F0502020204030204" pitchFamily="34" charset="0"/>
              </a:rPr>
              <a:t>00000000000000000000.snapshot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生产者状态快照（支持幂等</a:t>
            </a:r>
            <a:r>
              <a:rPr lang="en-US" altLang="zh-CN" sz="1200" dirty="0">
                <a:solidFill>
                  <a:srgbClr val="00B050"/>
                </a:solidFill>
                <a:latin typeface="Calibri" panose="020F0502020204030204" pitchFamily="34" charset="0"/>
                <a:cs typeface="Calibri" panose="020F0502020204030204" pitchFamily="34" charset="0"/>
              </a:rPr>
              <a:t>/</a:t>
            </a:r>
            <a:r>
              <a:rPr lang="zh-CN" altLang="en-US" sz="1200" dirty="0">
                <a:solidFill>
                  <a:srgbClr val="00B050"/>
                </a:solidFill>
                <a:latin typeface="Calibri" panose="020F0502020204030204" pitchFamily="34" charset="0"/>
                <a:cs typeface="Calibri" panose="020F0502020204030204" pitchFamily="34" charset="0"/>
              </a:rPr>
              <a:t>事务）</a:t>
            </a:r>
          </a:p>
          <a:p>
            <a:r>
              <a:rPr lang="zh-CN" altLang="en-US" sz="1200" dirty="0">
                <a:solidFill>
                  <a:schemeClr val="bg1"/>
                </a:solidFill>
                <a:latin typeface="Calibri" panose="020F0502020204030204" pitchFamily="34" charset="0"/>
                <a:cs typeface="Calibri" panose="020F0502020204030204" pitchFamily="34" charset="0"/>
              </a:rPr>
              <a:t>│   ├── </a:t>
            </a:r>
            <a:r>
              <a:rPr lang="en-US" altLang="zh-CN" sz="1200" dirty="0">
                <a:solidFill>
                  <a:schemeClr val="bg1"/>
                </a:solidFill>
                <a:latin typeface="Calibri" panose="020F0502020204030204" pitchFamily="34" charset="0"/>
                <a:cs typeface="Calibri" panose="020F0502020204030204" pitchFamily="34" charset="0"/>
              </a:rPr>
              <a:t>leader-epoch-checkpoint         </a:t>
            </a:r>
            <a:r>
              <a:rPr lang="en-US" altLang="zh-CN" sz="1200" dirty="0">
                <a:solidFill>
                  <a:srgbClr val="00B050"/>
                </a:solidFill>
                <a:latin typeface="Calibri" panose="020F0502020204030204" pitchFamily="34" charset="0"/>
                <a:cs typeface="Calibri" panose="020F0502020204030204" pitchFamily="34" charset="0"/>
              </a:rPr>
              <a:t># Leader Epoch </a:t>
            </a:r>
            <a:r>
              <a:rPr lang="zh-CN" altLang="en-US" sz="1200" dirty="0">
                <a:solidFill>
                  <a:srgbClr val="00B050"/>
                </a:solidFill>
                <a:latin typeface="Calibri" panose="020F0502020204030204" pitchFamily="34" charset="0"/>
                <a:cs typeface="Calibri" panose="020F0502020204030204" pitchFamily="34" charset="0"/>
              </a:rPr>
              <a:t>检查点（用于数据截断与恢复）</a:t>
            </a:r>
          </a:p>
          <a:p>
            <a:r>
              <a:rPr lang="zh-CN" altLang="en-US"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partition.metadata</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分区元数据</a:t>
            </a:r>
          </a:p>
        </p:txBody>
      </p:sp>
      <p:sp>
        <p:nvSpPr>
          <p:cNvPr id="29" name="Shape 27"/>
          <p:cNvSpPr/>
          <p:nvPr/>
        </p:nvSpPr>
        <p:spPr>
          <a:xfrm>
            <a:off x="8305800" y="4622800"/>
            <a:ext cx="7442200" cy="3524250"/>
          </a:xfrm>
          <a:custGeom>
            <a:avLst/>
            <a:gdLst/>
            <a:ahLst/>
            <a:cxnLst/>
            <a:rect l="l" t="t" r="r" b="b"/>
            <a:pathLst>
              <a:path w="7442200" h="3048000">
                <a:moveTo>
                  <a:pt x="50800" y="0"/>
                </a:moveTo>
                <a:lnTo>
                  <a:pt x="7340610" y="0"/>
                </a:lnTo>
                <a:cubicBezTo>
                  <a:pt x="7396717" y="0"/>
                  <a:pt x="7442200" y="45483"/>
                  <a:pt x="7442200" y="101590"/>
                </a:cubicBezTo>
                <a:lnTo>
                  <a:pt x="7442200" y="2946410"/>
                </a:lnTo>
                <a:cubicBezTo>
                  <a:pt x="7442200" y="3002517"/>
                  <a:pt x="7396717" y="3048000"/>
                  <a:pt x="7340610" y="3048000"/>
                </a:cubicBezTo>
                <a:lnTo>
                  <a:pt x="50800" y="3048000"/>
                </a:lnTo>
                <a:cubicBezTo>
                  <a:pt x="22763" y="3048000"/>
                  <a:pt x="0" y="3025237"/>
                  <a:pt x="0" y="29972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30" name="Shape 28"/>
          <p:cNvSpPr/>
          <p:nvPr/>
        </p:nvSpPr>
        <p:spPr>
          <a:xfrm>
            <a:off x="8305800" y="4622798"/>
            <a:ext cx="50800" cy="3492000"/>
          </a:xfrm>
          <a:custGeom>
            <a:avLst/>
            <a:gdLst/>
            <a:ahLst/>
            <a:cxnLst/>
            <a:rect l="l" t="t" r="r" b="b"/>
            <a:pathLst>
              <a:path w="50800" h="3048000">
                <a:moveTo>
                  <a:pt x="50800" y="0"/>
                </a:moveTo>
                <a:lnTo>
                  <a:pt x="50800" y="0"/>
                </a:lnTo>
                <a:lnTo>
                  <a:pt x="50800" y="3048000"/>
                </a:lnTo>
                <a:lnTo>
                  <a:pt x="50800" y="3048000"/>
                </a:lnTo>
                <a:cubicBezTo>
                  <a:pt x="22763" y="3048000"/>
                  <a:pt x="0" y="3025237"/>
                  <a:pt x="0" y="29972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31" name="Text 29"/>
          <p:cNvSpPr/>
          <p:nvPr/>
        </p:nvSpPr>
        <p:spPr>
          <a:xfrm>
            <a:off x="8534400" y="482600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LogSegment 类</a:t>
            </a:r>
            <a:endParaRPr lang="en-US" sz="1600" dirty="0"/>
          </a:p>
        </p:txBody>
      </p:sp>
      <p:sp>
        <p:nvSpPr>
          <p:cNvPr id="32" name="Shape 30"/>
          <p:cNvSpPr/>
          <p:nvPr/>
        </p:nvSpPr>
        <p:spPr>
          <a:xfrm>
            <a:off x="8534400" y="5334000"/>
            <a:ext cx="7010400" cy="2133600"/>
          </a:xfrm>
          <a:custGeom>
            <a:avLst/>
            <a:gdLst/>
            <a:ahLst/>
            <a:cxnLst/>
            <a:rect l="l" t="t" r="r" b="b"/>
            <a:pathLst>
              <a:path w="7010400" h="2133600">
                <a:moveTo>
                  <a:pt x="50801" y="0"/>
                </a:moveTo>
                <a:lnTo>
                  <a:pt x="6959599" y="0"/>
                </a:lnTo>
                <a:cubicBezTo>
                  <a:pt x="6987656" y="0"/>
                  <a:pt x="7010400" y="22744"/>
                  <a:pt x="7010400" y="50801"/>
                </a:cubicBezTo>
                <a:lnTo>
                  <a:pt x="7010400" y="2082799"/>
                </a:lnTo>
                <a:cubicBezTo>
                  <a:pt x="7010400" y="2110856"/>
                  <a:pt x="6987656" y="2133600"/>
                  <a:pt x="6959599" y="2133600"/>
                </a:cubicBezTo>
                <a:lnTo>
                  <a:pt x="50801" y="2133600"/>
                </a:lnTo>
                <a:cubicBezTo>
                  <a:pt x="22744" y="2133600"/>
                  <a:pt x="0" y="2110856"/>
                  <a:pt x="0" y="2082799"/>
                </a:cubicBezTo>
                <a:lnTo>
                  <a:pt x="0" y="50801"/>
                </a:lnTo>
                <a:cubicBezTo>
                  <a:pt x="0" y="22763"/>
                  <a:pt x="22763" y="0"/>
                  <a:pt x="50801" y="0"/>
                </a:cubicBezTo>
                <a:close/>
              </a:path>
            </a:pathLst>
          </a:custGeom>
          <a:solidFill>
            <a:srgbClr val="1A1D21">
              <a:alpha val="60000"/>
            </a:srgbClr>
          </a:solidFill>
          <a:ln/>
        </p:spPr>
        <p:txBody>
          <a:bodyPr/>
          <a:lstStyle/>
          <a:p>
            <a:endParaRPr lang="zh-CN" altLang="en-US"/>
          </a:p>
        </p:txBody>
      </p:sp>
      <p:sp>
        <p:nvSpPr>
          <p:cNvPr id="33" name="Text 31"/>
          <p:cNvSpPr/>
          <p:nvPr/>
        </p:nvSpPr>
        <p:spPr>
          <a:xfrm>
            <a:off x="8686800" y="5486400"/>
            <a:ext cx="6781800" cy="2457450"/>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a:t>
            </a:r>
            <a:r>
              <a:rPr lang="en-US" altLang="zh-CN" sz="1200" dirty="0" err="1">
                <a:solidFill>
                  <a:schemeClr val="bg1"/>
                </a:solidFill>
                <a:latin typeface="Calibri" panose="020F0502020204030204" pitchFamily="34" charset="0"/>
                <a:cs typeface="Calibri" panose="020F0502020204030204" pitchFamily="34" charset="0"/>
              </a:rPr>
              <a:t>LogSegment</a:t>
            </a:r>
            <a:r>
              <a:rPr lang="en-US" altLang="zh-CN" sz="1200" dirty="0">
                <a:solidFill>
                  <a:schemeClr val="bg1"/>
                </a:solidFill>
                <a:latin typeface="Calibri" panose="020F0502020204030204" pitchFamily="34" charset="0"/>
                <a:cs typeface="Calibri" panose="020F0502020204030204" pitchFamily="34" charset="0"/>
              </a:rPr>
              <a:t> {</a:t>
            </a:r>
          </a:p>
          <a:p>
            <a:br>
              <a:rPr lang="en-US" altLang="zh-CN" sz="1200" dirty="0">
                <a:solidFill>
                  <a:schemeClr val="bg1"/>
                </a:solidFill>
                <a:latin typeface="Calibri" panose="020F0502020204030204" pitchFamily="34" charset="0"/>
                <a:cs typeface="Calibri" panose="020F0502020204030204" pitchFamily="34" charset="0"/>
              </a:rPr>
            </a:br>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private final File </a:t>
            </a:r>
            <a:r>
              <a:rPr lang="en-US" altLang="zh-CN" sz="1200" dirty="0" err="1">
                <a:solidFill>
                  <a:schemeClr val="bg1"/>
                </a:solidFill>
                <a:latin typeface="Calibri" panose="020F0502020204030204" pitchFamily="34" charset="0"/>
                <a:cs typeface="Calibri" panose="020F0502020204030204" pitchFamily="34" charset="0"/>
              </a:rPr>
              <a:t>logFile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.log </a:t>
            </a:r>
            <a:r>
              <a:rPr lang="zh-CN" altLang="en-US" sz="1200" dirty="0">
                <a:solidFill>
                  <a:srgbClr val="00B050"/>
                </a:solidFill>
                <a:latin typeface="Calibri" panose="020F0502020204030204" pitchFamily="34" charset="0"/>
                <a:cs typeface="Calibri" panose="020F0502020204030204" pitchFamily="34" charset="0"/>
              </a:rPr>
              <a:t>数据文件</a:t>
            </a:r>
          </a:p>
          <a:p>
            <a:r>
              <a:rPr lang="en-US" altLang="zh-CN" sz="1200" dirty="0">
                <a:solidFill>
                  <a:schemeClr val="bg1"/>
                </a:solidFill>
                <a:latin typeface="Calibri" panose="020F0502020204030204" pitchFamily="34" charset="0"/>
                <a:cs typeface="Calibri" panose="020F0502020204030204" pitchFamily="34" charset="0"/>
              </a:rPr>
              <a:t>private final File </a:t>
            </a:r>
            <a:r>
              <a:rPr lang="en-US" altLang="zh-CN" sz="1200" dirty="0" err="1">
                <a:solidFill>
                  <a:schemeClr val="bg1"/>
                </a:solidFill>
                <a:latin typeface="Calibri" panose="020F0502020204030204" pitchFamily="34" charset="0"/>
                <a:cs typeface="Calibri" panose="020F0502020204030204" pitchFamily="34" charset="0"/>
              </a:rPr>
              <a:t>indexFile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.index </a:t>
            </a:r>
            <a:r>
              <a:rPr lang="zh-CN" altLang="en-US" sz="1200" dirty="0">
                <a:solidFill>
                  <a:srgbClr val="00B050"/>
                </a:solidFill>
                <a:latin typeface="Calibri" panose="020F0502020204030204" pitchFamily="34" charset="0"/>
                <a:cs typeface="Calibri" panose="020F0502020204030204" pitchFamily="34" charset="0"/>
              </a:rPr>
              <a:t>偏移量索引文件</a:t>
            </a:r>
          </a:p>
          <a:p>
            <a:r>
              <a:rPr lang="en-US" altLang="zh-CN" sz="1200" dirty="0">
                <a:solidFill>
                  <a:schemeClr val="bg1"/>
                </a:solidFill>
                <a:latin typeface="Calibri" panose="020F0502020204030204" pitchFamily="34" charset="0"/>
                <a:cs typeface="Calibri" panose="020F0502020204030204" pitchFamily="34" charset="0"/>
              </a:rPr>
              <a:t>private final File </a:t>
            </a:r>
            <a:r>
              <a:rPr lang="en-US" altLang="zh-CN" sz="1200" dirty="0" err="1">
                <a:solidFill>
                  <a:schemeClr val="bg1"/>
                </a:solidFill>
                <a:latin typeface="Calibri" panose="020F0502020204030204" pitchFamily="34" charset="0"/>
                <a:cs typeface="Calibri" panose="020F0502020204030204" pitchFamily="34" charset="0"/>
              </a:rPr>
              <a:t>timeIndexFile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a:t>
            </a:r>
            <a:r>
              <a:rPr lang="en-US" altLang="zh-CN" sz="1200" dirty="0" err="1">
                <a:solidFill>
                  <a:srgbClr val="00B050"/>
                </a:solidFill>
                <a:latin typeface="Calibri" panose="020F0502020204030204" pitchFamily="34" charset="0"/>
                <a:cs typeface="Calibri" panose="020F0502020204030204" pitchFamily="34" charset="0"/>
              </a:rPr>
              <a:t>timeindex</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时间索引文件</a:t>
            </a:r>
          </a:p>
          <a:p>
            <a:r>
              <a:rPr lang="en-US" altLang="zh-CN" sz="1200" dirty="0">
                <a:solidFill>
                  <a:schemeClr val="bg1"/>
                </a:solidFill>
                <a:latin typeface="Calibri" panose="020F0502020204030204" pitchFamily="34" charset="0"/>
                <a:cs typeface="Calibri" panose="020F0502020204030204" pitchFamily="34" charset="0"/>
              </a:rPr>
              <a:t>private final File </a:t>
            </a:r>
            <a:r>
              <a:rPr lang="en-US" altLang="zh-CN" sz="1200" dirty="0" err="1">
                <a:solidFill>
                  <a:schemeClr val="bg1"/>
                </a:solidFill>
                <a:latin typeface="Calibri" panose="020F0502020204030204" pitchFamily="34" charset="0"/>
                <a:cs typeface="Calibri" panose="020F0502020204030204" pitchFamily="34" charset="0"/>
              </a:rPr>
              <a:t>txnIndexFile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a:t>
            </a:r>
            <a:r>
              <a:rPr lang="en-US" altLang="zh-CN" sz="1200" dirty="0" err="1">
                <a:solidFill>
                  <a:srgbClr val="00B050"/>
                </a:solidFill>
                <a:latin typeface="Calibri" panose="020F0502020204030204" pitchFamily="34" charset="0"/>
                <a:cs typeface="Calibri" panose="020F0502020204030204" pitchFamily="34" charset="0"/>
              </a:rPr>
              <a:t>txnindex</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事务索引文件（用于事务状态追踪，记录事务的起始和结束偏移量，支持事务的原子性和持久性保障）</a:t>
            </a:r>
          </a:p>
          <a:p>
            <a:br>
              <a:rPr lang="zh-CN" altLang="en-US" sz="1200" dirty="0">
                <a:solidFill>
                  <a:schemeClr val="bg1"/>
                </a:solidFill>
                <a:latin typeface="Calibri" panose="020F0502020204030204" pitchFamily="34" charset="0"/>
                <a:cs typeface="Calibri" panose="020F0502020204030204" pitchFamily="34" charset="0"/>
              </a:rPr>
            </a:br>
            <a:endParaRPr lang="zh-CN" altLang="en-US"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private long </a:t>
            </a:r>
            <a:r>
              <a:rPr lang="en-US" altLang="zh-CN" sz="1200" dirty="0" err="1">
                <a:solidFill>
                  <a:schemeClr val="bg1"/>
                </a:solidFill>
                <a:latin typeface="Calibri" panose="020F0502020204030204" pitchFamily="34" charset="0"/>
                <a:cs typeface="Calibri" panose="020F0502020204030204" pitchFamily="34" charset="0"/>
              </a:rPr>
              <a:t>baseOffset</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基准偏移量</a:t>
            </a:r>
          </a:p>
          <a:p>
            <a:r>
              <a:rPr lang="en-US" altLang="zh-CN" sz="1200" dirty="0">
                <a:solidFill>
                  <a:schemeClr val="bg1"/>
                </a:solidFill>
                <a:latin typeface="Calibri" panose="020F0502020204030204" pitchFamily="34" charset="0"/>
                <a:cs typeface="Calibri" panose="020F0502020204030204" pitchFamily="34" charset="0"/>
              </a:rPr>
              <a:t>private long size;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当前大小</a:t>
            </a:r>
          </a:p>
          <a:p>
            <a:r>
              <a:rPr lang="en-US" altLang="zh-CN" sz="1200" dirty="0">
                <a:solidFill>
                  <a:schemeClr val="bg1"/>
                </a:solidFill>
                <a:latin typeface="Calibri" panose="020F0502020204030204" pitchFamily="34" charset="0"/>
                <a:cs typeface="Calibri" panose="020F0502020204030204" pitchFamily="34" charset="0"/>
              </a:rPr>
              <a:t>private long created; </a:t>
            </a:r>
            <a:r>
              <a:rPr lang="en-US" altLang="zh-CN" sz="1200" dirty="0">
                <a:solidFill>
                  <a:srgbClr val="00B050"/>
                </a:solidFill>
                <a:latin typeface="Calibri" panose="020F0502020204030204" pitchFamily="34" charset="0"/>
                <a:cs typeface="Calibri" panose="020F0502020204030204" pitchFamily="34" charset="0"/>
              </a:rPr>
              <a:t>// </a:t>
            </a:r>
            <a:r>
              <a:rPr lang="zh-CN" altLang="en-US" sz="1200" dirty="0">
                <a:solidFill>
                  <a:srgbClr val="00B050"/>
                </a:solidFill>
                <a:latin typeface="Calibri" panose="020F0502020204030204" pitchFamily="34" charset="0"/>
                <a:cs typeface="Calibri" panose="020F0502020204030204" pitchFamily="34" charset="0"/>
              </a:rPr>
              <a:t>创建时间</a:t>
            </a: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73936" y="473936"/>
            <a:ext cx="15402915" cy="284362"/>
          </a:xfrm>
          <a:prstGeom prst="rect">
            <a:avLst/>
          </a:prstGeom>
          <a:noFill/>
          <a:ln/>
        </p:spPr>
        <p:txBody>
          <a:bodyPr wrap="square" lIns="0" tIns="0" rIns="0" bIns="0" rtlCol="0" anchor="ctr"/>
          <a:lstStyle/>
          <a:p>
            <a:pPr>
              <a:lnSpc>
                <a:spcPct val="130000"/>
              </a:lnSpc>
            </a:pPr>
            <a:r>
              <a:rPr lang="en-US" sz="1493" b="1" kern="0" spc="75" dirty="0">
                <a:solidFill>
                  <a:srgbClr val="D69E2E"/>
                </a:solidFill>
                <a:latin typeface="MiSans" pitchFamily="34" charset="0"/>
                <a:ea typeface="MiSans" pitchFamily="34" charset="-122"/>
                <a:cs typeface="MiSans" pitchFamily="34" charset="-120"/>
              </a:rPr>
              <a:t>3.2.3 消息格式 | 3.2.4 索引机制</a:t>
            </a:r>
            <a:endParaRPr lang="en-US" sz="1600" dirty="0"/>
          </a:p>
        </p:txBody>
      </p:sp>
      <p:sp>
        <p:nvSpPr>
          <p:cNvPr id="3" name="Text 1"/>
          <p:cNvSpPr/>
          <p:nvPr/>
        </p:nvSpPr>
        <p:spPr>
          <a:xfrm>
            <a:off x="473936" y="853085"/>
            <a:ext cx="15521399" cy="473936"/>
          </a:xfrm>
          <a:prstGeom prst="rect">
            <a:avLst/>
          </a:prstGeom>
          <a:noFill/>
          <a:ln/>
        </p:spPr>
        <p:txBody>
          <a:bodyPr wrap="square" lIns="0" tIns="0" rIns="0" bIns="0" rtlCol="0" anchor="ctr"/>
          <a:lstStyle/>
          <a:p>
            <a:pPr>
              <a:lnSpc>
                <a:spcPct val="90000"/>
              </a:lnSpc>
            </a:pPr>
            <a:r>
              <a:rPr lang="en-US" sz="3359" b="1" dirty="0">
                <a:solidFill>
                  <a:srgbClr val="E2E8F0"/>
                </a:solidFill>
                <a:latin typeface="MiSans" pitchFamily="34" charset="0"/>
                <a:ea typeface="MiSans" pitchFamily="34" charset="-122"/>
                <a:cs typeface="MiSans" pitchFamily="34" charset="-120"/>
              </a:rPr>
              <a:t>消息格式与索引机制</a:t>
            </a:r>
            <a:endParaRPr lang="en-US" sz="1600" dirty="0"/>
          </a:p>
        </p:txBody>
      </p:sp>
      <p:sp>
        <p:nvSpPr>
          <p:cNvPr id="4" name="Shape 2"/>
          <p:cNvSpPr/>
          <p:nvPr/>
        </p:nvSpPr>
        <p:spPr>
          <a:xfrm>
            <a:off x="497633" y="1516595"/>
            <a:ext cx="7488187" cy="3601913"/>
          </a:xfrm>
          <a:custGeom>
            <a:avLst/>
            <a:gdLst/>
            <a:ahLst/>
            <a:cxnLst/>
            <a:rect l="l" t="t" r="r" b="b"/>
            <a:pathLst>
              <a:path w="7488187" h="3601913">
                <a:moveTo>
                  <a:pt x="47394" y="0"/>
                </a:moveTo>
                <a:lnTo>
                  <a:pt x="7393384" y="0"/>
                </a:lnTo>
                <a:cubicBezTo>
                  <a:pt x="7445742" y="0"/>
                  <a:pt x="7488187" y="42444"/>
                  <a:pt x="7488187" y="94802"/>
                </a:cubicBezTo>
                <a:lnTo>
                  <a:pt x="7488187" y="3507110"/>
                </a:lnTo>
                <a:cubicBezTo>
                  <a:pt x="7488187" y="3559468"/>
                  <a:pt x="7445742" y="3601913"/>
                  <a:pt x="7393384" y="3601913"/>
                </a:cubicBezTo>
                <a:lnTo>
                  <a:pt x="47394" y="3601913"/>
                </a:lnTo>
                <a:cubicBezTo>
                  <a:pt x="21219" y="3601913"/>
                  <a:pt x="0" y="3580694"/>
                  <a:pt x="0" y="3554519"/>
                </a:cubicBezTo>
                <a:lnTo>
                  <a:pt x="0" y="47394"/>
                </a:lnTo>
                <a:cubicBezTo>
                  <a:pt x="0" y="21236"/>
                  <a:pt x="21236" y="0"/>
                  <a:pt x="47394" y="0"/>
                </a:cubicBezTo>
                <a:close/>
              </a:path>
            </a:pathLst>
          </a:custGeom>
          <a:solidFill>
            <a:srgbClr val="4A5568">
              <a:alpha val="20000"/>
            </a:srgbClr>
          </a:solidFill>
          <a:ln/>
        </p:spPr>
        <p:txBody>
          <a:bodyPr/>
          <a:lstStyle/>
          <a:p>
            <a:endParaRPr lang="zh-CN" altLang="en-US"/>
          </a:p>
        </p:txBody>
      </p:sp>
      <p:sp>
        <p:nvSpPr>
          <p:cNvPr id="5" name="Shape 3"/>
          <p:cNvSpPr/>
          <p:nvPr/>
        </p:nvSpPr>
        <p:spPr>
          <a:xfrm>
            <a:off x="497633" y="1516595"/>
            <a:ext cx="47394" cy="3601913"/>
          </a:xfrm>
          <a:custGeom>
            <a:avLst/>
            <a:gdLst/>
            <a:ahLst/>
            <a:cxnLst/>
            <a:rect l="l" t="t" r="r" b="b"/>
            <a:pathLst>
              <a:path w="47394" h="3601913">
                <a:moveTo>
                  <a:pt x="47394" y="0"/>
                </a:moveTo>
                <a:lnTo>
                  <a:pt x="47394" y="0"/>
                </a:lnTo>
                <a:lnTo>
                  <a:pt x="47394" y="3601913"/>
                </a:lnTo>
                <a:lnTo>
                  <a:pt x="47394" y="3601913"/>
                </a:lnTo>
                <a:cubicBezTo>
                  <a:pt x="21219" y="3601913"/>
                  <a:pt x="0" y="3580694"/>
                  <a:pt x="0" y="3554519"/>
                </a:cubicBezTo>
                <a:lnTo>
                  <a:pt x="0" y="47394"/>
                </a:lnTo>
                <a:cubicBezTo>
                  <a:pt x="0" y="21236"/>
                  <a:pt x="21236" y="0"/>
                  <a:pt x="47394" y="0"/>
                </a:cubicBezTo>
                <a:close/>
              </a:path>
            </a:pathLst>
          </a:custGeom>
          <a:solidFill>
            <a:srgbClr val="D69E2E"/>
          </a:solidFill>
          <a:ln/>
        </p:spPr>
        <p:txBody>
          <a:bodyPr/>
          <a:lstStyle/>
          <a:p>
            <a:endParaRPr lang="zh-CN" altLang="en-US"/>
          </a:p>
        </p:txBody>
      </p:sp>
      <p:sp>
        <p:nvSpPr>
          <p:cNvPr id="6" name="Text 4"/>
          <p:cNvSpPr/>
          <p:nvPr/>
        </p:nvSpPr>
        <p:spPr>
          <a:xfrm>
            <a:off x="710904" y="1706169"/>
            <a:ext cx="7203825" cy="331755"/>
          </a:xfrm>
          <a:prstGeom prst="rect">
            <a:avLst/>
          </a:prstGeom>
          <a:noFill/>
          <a:ln/>
        </p:spPr>
        <p:txBody>
          <a:bodyPr wrap="square" lIns="0" tIns="0" rIns="0" bIns="0" rtlCol="0" anchor="ctr"/>
          <a:lstStyle/>
          <a:p>
            <a:pPr>
              <a:lnSpc>
                <a:spcPct val="120000"/>
              </a:lnSpc>
            </a:pPr>
            <a:r>
              <a:rPr lang="en-US" sz="1866" b="1" dirty="0">
                <a:solidFill>
                  <a:srgbClr val="D69E2E"/>
                </a:solidFill>
                <a:latin typeface="MiSans" pitchFamily="34" charset="0"/>
                <a:ea typeface="MiSans" pitchFamily="34" charset="-122"/>
                <a:cs typeface="MiSans" pitchFamily="34" charset="-120"/>
              </a:rPr>
              <a:t>Kafka 消息格式</a:t>
            </a:r>
            <a:endParaRPr lang="en-US" sz="1600" dirty="0"/>
          </a:p>
        </p:txBody>
      </p:sp>
      <p:sp>
        <p:nvSpPr>
          <p:cNvPr id="7" name="Shape 5"/>
          <p:cNvSpPr/>
          <p:nvPr/>
        </p:nvSpPr>
        <p:spPr>
          <a:xfrm>
            <a:off x="710904" y="2180105"/>
            <a:ext cx="7085341" cy="2748828"/>
          </a:xfrm>
          <a:custGeom>
            <a:avLst/>
            <a:gdLst/>
            <a:ahLst/>
            <a:cxnLst/>
            <a:rect l="l" t="t" r="r" b="b"/>
            <a:pathLst>
              <a:path w="7085341" h="2748828">
                <a:moveTo>
                  <a:pt x="47390" y="0"/>
                </a:moveTo>
                <a:lnTo>
                  <a:pt x="7037951" y="0"/>
                </a:lnTo>
                <a:cubicBezTo>
                  <a:pt x="7064124" y="0"/>
                  <a:pt x="7085341" y="21217"/>
                  <a:pt x="7085341" y="47390"/>
                </a:cubicBezTo>
                <a:lnTo>
                  <a:pt x="7085341" y="2701438"/>
                </a:lnTo>
                <a:cubicBezTo>
                  <a:pt x="7085341" y="2727611"/>
                  <a:pt x="7064124" y="2748828"/>
                  <a:pt x="7037951" y="2748828"/>
                </a:cubicBezTo>
                <a:lnTo>
                  <a:pt x="47390" y="2748828"/>
                </a:lnTo>
                <a:cubicBezTo>
                  <a:pt x="21217" y="2748828"/>
                  <a:pt x="0" y="2727611"/>
                  <a:pt x="0" y="2701438"/>
                </a:cubicBezTo>
                <a:lnTo>
                  <a:pt x="0" y="47390"/>
                </a:lnTo>
                <a:cubicBezTo>
                  <a:pt x="0" y="21235"/>
                  <a:pt x="21235" y="0"/>
                  <a:pt x="47390" y="0"/>
                </a:cubicBezTo>
                <a:close/>
              </a:path>
            </a:pathLst>
          </a:custGeom>
          <a:solidFill>
            <a:srgbClr val="1A1D21">
              <a:alpha val="60000"/>
            </a:srgbClr>
          </a:solidFill>
          <a:ln/>
        </p:spPr>
        <p:txBody>
          <a:bodyPr/>
          <a:lstStyle/>
          <a:p>
            <a:endParaRPr lang="zh-CN" altLang="en-US"/>
          </a:p>
        </p:txBody>
      </p:sp>
      <p:sp>
        <p:nvSpPr>
          <p:cNvPr id="8" name="Text 6"/>
          <p:cNvSpPr/>
          <p:nvPr/>
        </p:nvSpPr>
        <p:spPr>
          <a:xfrm>
            <a:off x="853085" y="2322286"/>
            <a:ext cx="6872070" cy="2464466"/>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a:t>
            </a:r>
            <a:r>
              <a:rPr lang="en-US" altLang="zh-CN" sz="1200" dirty="0" err="1">
                <a:solidFill>
                  <a:schemeClr val="bg1"/>
                </a:solidFill>
                <a:latin typeface="Calibri" panose="020F0502020204030204" pitchFamily="34" charset="0"/>
                <a:cs typeface="Calibri" panose="020F0502020204030204" pitchFamily="34" charset="0"/>
              </a:rPr>
              <a:t>DefaultRecord</a:t>
            </a:r>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消息头</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int size;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总长度</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byte attributes;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属性字节</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long timestamp;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时间戳</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int </a:t>
            </a:r>
            <a:r>
              <a:rPr lang="en-US" altLang="zh-CN" sz="1200" dirty="0" err="1">
                <a:solidFill>
                  <a:schemeClr val="bg1"/>
                </a:solidFill>
                <a:latin typeface="Calibri" panose="020F0502020204030204" pitchFamily="34" charset="0"/>
                <a:cs typeface="Calibri" panose="020F0502020204030204" pitchFamily="34" charset="0"/>
              </a:rPr>
              <a:t>keySize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key </a:t>
            </a:r>
            <a:r>
              <a:rPr lang="zh-CN" altLang="en-US" sz="1200" i="1" dirty="0">
                <a:solidFill>
                  <a:srgbClr val="00B050"/>
                </a:solidFill>
                <a:latin typeface="Calibri" panose="020F0502020204030204" pitchFamily="34" charset="0"/>
                <a:cs typeface="Calibri" panose="020F0502020204030204" pitchFamily="34" charset="0"/>
              </a:rPr>
              <a:t>长度</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int </a:t>
            </a:r>
            <a:r>
              <a:rPr lang="en-US" altLang="zh-CN" sz="1200" dirty="0" err="1">
                <a:solidFill>
                  <a:schemeClr val="bg1"/>
                </a:solidFill>
                <a:latin typeface="Calibri" panose="020F0502020204030204" pitchFamily="34" charset="0"/>
                <a:cs typeface="Calibri" panose="020F0502020204030204" pitchFamily="34" charset="0"/>
              </a:rPr>
              <a:t>valueSize</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value </a:t>
            </a:r>
            <a:r>
              <a:rPr lang="zh-CN" altLang="en-US" sz="1200" i="1" dirty="0">
                <a:solidFill>
                  <a:srgbClr val="00B050"/>
                </a:solidFill>
                <a:latin typeface="Calibri" panose="020F0502020204030204" pitchFamily="34" charset="0"/>
                <a:cs typeface="Calibri" panose="020F0502020204030204" pitchFamily="34" charset="0"/>
              </a:rPr>
              <a:t>长度</a:t>
            </a:r>
            <a:endParaRPr lang="zh-CN" altLang="en-US" sz="1200" dirty="0">
              <a:solidFill>
                <a:srgbClr val="00B050"/>
              </a:solidFill>
              <a:latin typeface="Calibri" panose="020F0502020204030204" pitchFamily="34" charset="0"/>
              <a:cs typeface="Calibri" panose="020F0502020204030204" pitchFamily="34" charset="0"/>
            </a:endParaRPr>
          </a:p>
          <a:p>
            <a:endParaRPr lang="zh-CN" altLang="en-US" sz="1200" dirty="0">
              <a:solidFill>
                <a:schemeClr val="bg1"/>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消息体</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byte[] key;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键（可选</a:t>
            </a:r>
            <a:r>
              <a:rPr lang="zh-CN" altLang="en-US" sz="1200" i="1"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byte[] value;              </a:t>
            </a:r>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值</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Header[] headers;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头部信息（可选</a:t>
            </a:r>
            <a:r>
              <a:rPr lang="zh-CN" altLang="en-US" sz="1200" i="1"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p:txBody>
      </p:sp>
      <p:sp>
        <p:nvSpPr>
          <p:cNvPr id="9" name="Shape 7"/>
          <p:cNvSpPr/>
          <p:nvPr/>
        </p:nvSpPr>
        <p:spPr>
          <a:xfrm>
            <a:off x="497633" y="5260688"/>
            <a:ext cx="7488187" cy="3412338"/>
          </a:xfrm>
          <a:custGeom>
            <a:avLst/>
            <a:gdLst/>
            <a:ahLst/>
            <a:cxnLst/>
            <a:rect l="l" t="t" r="r" b="b"/>
            <a:pathLst>
              <a:path w="7488187" h="3412338">
                <a:moveTo>
                  <a:pt x="47394" y="0"/>
                </a:moveTo>
                <a:lnTo>
                  <a:pt x="7393392" y="0"/>
                </a:lnTo>
                <a:cubicBezTo>
                  <a:pt x="7445746" y="0"/>
                  <a:pt x="7488187" y="42441"/>
                  <a:pt x="7488187" y="94795"/>
                </a:cubicBezTo>
                <a:lnTo>
                  <a:pt x="7488187" y="3317543"/>
                </a:lnTo>
                <a:cubicBezTo>
                  <a:pt x="7488187" y="3369897"/>
                  <a:pt x="7445746" y="3412338"/>
                  <a:pt x="7393392" y="3412338"/>
                </a:cubicBezTo>
                <a:lnTo>
                  <a:pt x="47394" y="3412338"/>
                </a:lnTo>
                <a:cubicBezTo>
                  <a:pt x="21219" y="3412338"/>
                  <a:pt x="0" y="3391119"/>
                  <a:pt x="0" y="3364945"/>
                </a:cubicBezTo>
                <a:lnTo>
                  <a:pt x="0" y="47394"/>
                </a:lnTo>
                <a:cubicBezTo>
                  <a:pt x="0" y="21236"/>
                  <a:pt x="21236" y="0"/>
                  <a:pt x="47394" y="0"/>
                </a:cubicBezTo>
                <a:close/>
              </a:path>
            </a:pathLst>
          </a:custGeom>
          <a:solidFill>
            <a:srgbClr val="4A5568">
              <a:alpha val="20000"/>
            </a:srgbClr>
          </a:solidFill>
          <a:ln/>
        </p:spPr>
        <p:txBody>
          <a:bodyPr/>
          <a:lstStyle/>
          <a:p>
            <a:endParaRPr lang="zh-CN" altLang="en-US"/>
          </a:p>
        </p:txBody>
      </p:sp>
      <p:sp>
        <p:nvSpPr>
          <p:cNvPr id="10" name="Shape 8"/>
          <p:cNvSpPr/>
          <p:nvPr/>
        </p:nvSpPr>
        <p:spPr>
          <a:xfrm>
            <a:off x="497633" y="5260688"/>
            <a:ext cx="47394" cy="3412338"/>
          </a:xfrm>
          <a:custGeom>
            <a:avLst/>
            <a:gdLst/>
            <a:ahLst/>
            <a:cxnLst/>
            <a:rect l="l" t="t" r="r" b="b"/>
            <a:pathLst>
              <a:path w="47394" h="3412338">
                <a:moveTo>
                  <a:pt x="47394" y="0"/>
                </a:moveTo>
                <a:lnTo>
                  <a:pt x="47394" y="0"/>
                </a:lnTo>
                <a:lnTo>
                  <a:pt x="47394" y="3412338"/>
                </a:lnTo>
                <a:lnTo>
                  <a:pt x="47394" y="3412338"/>
                </a:lnTo>
                <a:cubicBezTo>
                  <a:pt x="21219" y="3412338"/>
                  <a:pt x="0" y="3391119"/>
                  <a:pt x="0" y="3364945"/>
                </a:cubicBezTo>
                <a:lnTo>
                  <a:pt x="0" y="47394"/>
                </a:lnTo>
                <a:cubicBezTo>
                  <a:pt x="0" y="21236"/>
                  <a:pt x="21236" y="0"/>
                  <a:pt x="47394" y="0"/>
                </a:cubicBezTo>
                <a:close/>
              </a:path>
            </a:pathLst>
          </a:custGeom>
          <a:solidFill>
            <a:srgbClr val="718096"/>
          </a:solidFill>
          <a:ln/>
        </p:spPr>
        <p:txBody>
          <a:bodyPr/>
          <a:lstStyle/>
          <a:p>
            <a:endParaRPr lang="zh-CN" altLang="en-US"/>
          </a:p>
        </p:txBody>
      </p:sp>
      <p:sp>
        <p:nvSpPr>
          <p:cNvPr id="11" name="Text 9"/>
          <p:cNvSpPr/>
          <p:nvPr/>
        </p:nvSpPr>
        <p:spPr>
          <a:xfrm>
            <a:off x="710904" y="5450262"/>
            <a:ext cx="7203825" cy="331755"/>
          </a:xfrm>
          <a:prstGeom prst="rect">
            <a:avLst/>
          </a:prstGeom>
          <a:noFill/>
          <a:ln/>
        </p:spPr>
        <p:txBody>
          <a:bodyPr wrap="square" lIns="0" tIns="0" rIns="0" bIns="0" rtlCol="0" anchor="ctr"/>
          <a:lstStyle/>
          <a:p>
            <a:pPr>
              <a:lnSpc>
                <a:spcPct val="120000"/>
              </a:lnSpc>
            </a:pPr>
            <a:r>
              <a:rPr lang="en-US" sz="1866" b="1" dirty="0">
                <a:solidFill>
                  <a:srgbClr val="718096"/>
                </a:solidFill>
                <a:latin typeface="MiSans" pitchFamily="34" charset="0"/>
                <a:ea typeface="MiSans" pitchFamily="34" charset="-122"/>
                <a:cs typeface="MiSans" pitchFamily="34" charset="-120"/>
              </a:rPr>
              <a:t>消息格式详解</a:t>
            </a:r>
            <a:endParaRPr lang="en-US" sz="1600" dirty="0"/>
          </a:p>
        </p:txBody>
      </p:sp>
      <p:sp>
        <p:nvSpPr>
          <p:cNvPr id="12" name="Text 10"/>
          <p:cNvSpPr/>
          <p:nvPr/>
        </p:nvSpPr>
        <p:spPr>
          <a:xfrm>
            <a:off x="710904" y="5924198"/>
            <a:ext cx="7168280" cy="236968"/>
          </a:xfrm>
          <a:prstGeom prst="rect">
            <a:avLst/>
          </a:prstGeom>
          <a:noFill/>
          <a:ln/>
        </p:spPr>
        <p:txBody>
          <a:bodyPr wrap="square" lIns="0" tIns="0" rIns="0" bIns="0" rtlCol="0" anchor="ctr"/>
          <a:lstStyle/>
          <a:p>
            <a:pPr>
              <a:lnSpc>
                <a:spcPct val="120000"/>
              </a:lnSpc>
            </a:pPr>
            <a:r>
              <a:rPr lang="en-US" sz="1306" b="1" dirty="0">
                <a:solidFill>
                  <a:srgbClr val="D69E2E"/>
                </a:solidFill>
                <a:latin typeface="MiSans" pitchFamily="34" charset="0"/>
                <a:ea typeface="MiSans" pitchFamily="34" charset="-122"/>
                <a:cs typeface="MiSans" pitchFamily="34" charset="-120"/>
              </a:rPr>
              <a:t>Length (4 bytes):</a:t>
            </a:r>
            <a:r>
              <a:rPr lang="en-US" sz="1306" dirty="0">
                <a:solidFill>
                  <a:srgbClr val="E2E8F0">
                    <a:alpha val="80000"/>
                  </a:srgbClr>
                </a:solidFill>
                <a:latin typeface="MiSans" pitchFamily="34" charset="0"/>
                <a:ea typeface="MiSans" pitchFamily="34" charset="-122"/>
                <a:cs typeface="MiSans" pitchFamily="34" charset="-120"/>
              </a:rPr>
              <a:t> 消息总长度</a:t>
            </a:r>
            <a:endParaRPr lang="en-US" sz="1600" dirty="0"/>
          </a:p>
        </p:txBody>
      </p:sp>
      <p:sp>
        <p:nvSpPr>
          <p:cNvPr id="13" name="Text 11"/>
          <p:cNvSpPr/>
          <p:nvPr/>
        </p:nvSpPr>
        <p:spPr>
          <a:xfrm>
            <a:off x="710904" y="6255953"/>
            <a:ext cx="7168280" cy="236968"/>
          </a:xfrm>
          <a:prstGeom prst="rect">
            <a:avLst/>
          </a:prstGeom>
          <a:noFill/>
          <a:ln/>
        </p:spPr>
        <p:txBody>
          <a:bodyPr wrap="square" lIns="0" tIns="0" rIns="0" bIns="0" rtlCol="0" anchor="ctr"/>
          <a:lstStyle/>
          <a:p>
            <a:pPr>
              <a:lnSpc>
                <a:spcPct val="120000"/>
              </a:lnSpc>
            </a:pPr>
            <a:r>
              <a:rPr lang="en-US" sz="1306" b="1" dirty="0">
                <a:solidFill>
                  <a:srgbClr val="718096"/>
                </a:solidFill>
                <a:latin typeface="MiSans" pitchFamily="34" charset="0"/>
                <a:ea typeface="MiSans" pitchFamily="34" charset="-122"/>
                <a:cs typeface="MiSans" pitchFamily="34" charset="-120"/>
              </a:rPr>
              <a:t>Attributes (1 byte):</a:t>
            </a:r>
            <a:r>
              <a:rPr lang="en-US" sz="1306" dirty="0">
                <a:solidFill>
                  <a:srgbClr val="E2E8F0">
                    <a:alpha val="80000"/>
                  </a:srgbClr>
                </a:solidFill>
                <a:latin typeface="MiSans" pitchFamily="34" charset="0"/>
                <a:ea typeface="MiSans" pitchFamily="34" charset="-122"/>
                <a:cs typeface="MiSans" pitchFamily="34" charset="-120"/>
              </a:rPr>
              <a:t> 属性字节(压缩类型等)</a:t>
            </a:r>
            <a:endParaRPr lang="en-US" sz="1600" dirty="0"/>
          </a:p>
        </p:txBody>
      </p:sp>
      <p:sp>
        <p:nvSpPr>
          <p:cNvPr id="14" name="Text 12"/>
          <p:cNvSpPr/>
          <p:nvPr/>
        </p:nvSpPr>
        <p:spPr>
          <a:xfrm>
            <a:off x="710904" y="6587708"/>
            <a:ext cx="7168280" cy="236968"/>
          </a:xfrm>
          <a:prstGeom prst="rect">
            <a:avLst/>
          </a:prstGeom>
          <a:noFill/>
          <a:ln/>
        </p:spPr>
        <p:txBody>
          <a:bodyPr wrap="square" lIns="0" tIns="0" rIns="0" bIns="0" rtlCol="0" anchor="ctr"/>
          <a:lstStyle/>
          <a:p>
            <a:pPr>
              <a:lnSpc>
                <a:spcPct val="120000"/>
              </a:lnSpc>
            </a:pPr>
            <a:r>
              <a:rPr lang="en-US" sz="1306" b="1" dirty="0">
                <a:solidFill>
                  <a:srgbClr val="D69E2E"/>
                </a:solidFill>
                <a:latin typeface="MiSans" pitchFamily="34" charset="0"/>
                <a:ea typeface="MiSans" pitchFamily="34" charset="-122"/>
                <a:cs typeface="MiSans" pitchFamily="34" charset="-120"/>
              </a:rPr>
              <a:t>Timestamp (8 bytes):</a:t>
            </a:r>
            <a:r>
              <a:rPr lang="en-US" sz="1306" dirty="0">
                <a:solidFill>
                  <a:srgbClr val="E2E8F0">
                    <a:alpha val="80000"/>
                  </a:srgbClr>
                </a:solidFill>
                <a:latin typeface="MiSans" pitchFamily="34" charset="0"/>
                <a:ea typeface="MiSans" pitchFamily="34" charset="-122"/>
                <a:cs typeface="MiSans" pitchFamily="34" charset="-120"/>
              </a:rPr>
              <a:t> 消息时间戳</a:t>
            </a:r>
            <a:endParaRPr lang="en-US" sz="1600" dirty="0"/>
          </a:p>
        </p:txBody>
      </p:sp>
      <p:sp>
        <p:nvSpPr>
          <p:cNvPr id="15" name="Text 13"/>
          <p:cNvSpPr/>
          <p:nvPr/>
        </p:nvSpPr>
        <p:spPr>
          <a:xfrm>
            <a:off x="710904" y="6919464"/>
            <a:ext cx="7168280" cy="236968"/>
          </a:xfrm>
          <a:prstGeom prst="rect">
            <a:avLst/>
          </a:prstGeom>
          <a:noFill/>
          <a:ln/>
        </p:spPr>
        <p:txBody>
          <a:bodyPr wrap="square" lIns="0" tIns="0" rIns="0" bIns="0" rtlCol="0" anchor="ctr"/>
          <a:lstStyle/>
          <a:p>
            <a:pPr>
              <a:lnSpc>
                <a:spcPct val="120000"/>
              </a:lnSpc>
            </a:pPr>
            <a:r>
              <a:rPr lang="en-US" sz="1306" b="1" dirty="0">
                <a:solidFill>
                  <a:srgbClr val="718096"/>
                </a:solidFill>
                <a:latin typeface="MiSans" pitchFamily="34" charset="0"/>
                <a:ea typeface="MiSans" pitchFamily="34" charset="-122"/>
                <a:cs typeface="MiSans" pitchFamily="34" charset="-120"/>
              </a:rPr>
              <a:t>Key Length (varint):</a:t>
            </a:r>
            <a:r>
              <a:rPr lang="en-US" sz="1306" dirty="0">
                <a:solidFill>
                  <a:srgbClr val="E2E8F0">
                    <a:alpha val="80000"/>
                  </a:srgbClr>
                </a:solidFill>
                <a:latin typeface="MiSans" pitchFamily="34" charset="0"/>
                <a:ea typeface="MiSans" pitchFamily="34" charset="-122"/>
                <a:cs typeface="MiSans" pitchFamily="34" charset="-120"/>
              </a:rPr>
              <a:t> Key 长度</a:t>
            </a:r>
            <a:endParaRPr lang="en-US" sz="1600" dirty="0"/>
          </a:p>
        </p:txBody>
      </p:sp>
      <p:sp>
        <p:nvSpPr>
          <p:cNvPr id="16" name="Text 14"/>
          <p:cNvSpPr/>
          <p:nvPr/>
        </p:nvSpPr>
        <p:spPr>
          <a:xfrm>
            <a:off x="710904" y="7251219"/>
            <a:ext cx="7168280" cy="236968"/>
          </a:xfrm>
          <a:prstGeom prst="rect">
            <a:avLst/>
          </a:prstGeom>
          <a:noFill/>
          <a:ln/>
        </p:spPr>
        <p:txBody>
          <a:bodyPr wrap="square" lIns="0" tIns="0" rIns="0" bIns="0" rtlCol="0" anchor="ctr"/>
          <a:lstStyle/>
          <a:p>
            <a:pPr>
              <a:lnSpc>
                <a:spcPct val="120000"/>
              </a:lnSpc>
            </a:pPr>
            <a:r>
              <a:rPr lang="en-US" sz="1306" b="1" dirty="0">
                <a:solidFill>
                  <a:srgbClr val="D69E2E"/>
                </a:solidFill>
                <a:latin typeface="MiSans" pitchFamily="34" charset="0"/>
                <a:ea typeface="MiSans" pitchFamily="34" charset="-122"/>
                <a:cs typeface="MiSans" pitchFamily="34" charset="-120"/>
              </a:rPr>
              <a:t>Value Length (varint):</a:t>
            </a:r>
            <a:r>
              <a:rPr lang="en-US" sz="1306" dirty="0">
                <a:solidFill>
                  <a:srgbClr val="E2E8F0">
                    <a:alpha val="80000"/>
                  </a:srgbClr>
                </a:solidFill>
                <a:latin typeface="MiSans" pitchFamily="34" charset="0"/>
                <a:ea typeface="MiSans" pitchFamily="34" charset="-122"/>
                <a:cs typeface="MiSans" pitchFamily="34" charset="-120"/>
              </a:rPr>
              <a:t> Value 长度</a:t>
            </a:r>
            <a:endParaRPr lang="en-US" sz="1600" dirty="0"/>
          </a:p>
        </p:txBody>
      </p:sp>
      <p:sp>
        <p:nvSpPr>
          <p:cNvPr id="17" name="Text 15"/>
          <p:cNvSpPr/>
          <p:nvPr/>
        </p:nvSpPr>
        <p:spPr>
          <a:xfrm>
            <a:off x="710904" y="7582974"/>
            <a:ext cx="7168280" cy="236968"/>
          </a:xfrm>
          <a:prstGeom prst="rect">
            <a:avLst/>
          </a:prstGeom>
          <a:noFill/>
          <a:ln/>
        </p:spPr>
        <p:txBody>
          <a:bodyPr wrap="square" lIns="0" tIns="0" rIns="0" bIns="0" rtlCol="0" anchor="ctr"/>
          <a:lstStyle/>
          <a:p>
            <a:pPr>
              <a:lnSpc>
                <a:spcPct val="120000"/>
              </a:lnSpc>
            </a:pPr>
            <a:r>
              <a:rPr lang="en-US" sz="1306" b="1" dirty="0">
                <a:solidFill>
                  <a:srgbClr val="718096"/>
                </a:solidFill>
                <a:latin typeface="MiSans" pitchFamily="34" charset="0"/>
                <a:ea typeface="MiSans" pitchFamily="34" charset="-122"/>
                <a:cs typeface="MiSans" pitchFamily="34" charset="-120"/>
              </a:rPr>
              <a:t>Key (variable):</a:t>
            </a:r>
            <a:r>
              <a:rPr lang="en-US" sz="1306" dirty="0">
                <a:solidFill>
                  <a:srgbClr val="E2E8F0">
                    <a:alpha val="80000"/>
                  </a:srgbClr>
                </a:solidFill>
                <a:latin typeface="MiSans" pitchFamily="34" charset="0"/>
                <a:ea typeface="MiSans" pitchFamily="34" charset="-122"/>
                <a:cs typeface="MiSans" pitchFamily="34" charset="-120"/>
              </a:rPr>
              <a:t> 消息键(可选)</a:t>
            </a:r>
            <a:endParaRPr lang="en-US" sz="1600" dirty="0"/>
          </a:p>
        </p:txBody>
      </p:sp>
      <p:sp>
        <p:nvSpPr>
          <p:cNvPr id="18" name="Text 16"/>
          <p:cNvSpPr/>
          <p:nvPr/>
        </p:nvSpPr>
        <p:spPr>
          <a:xfrm>
            <a:off x="710904" y="7914729"/>
            <a:ext cx="7168280" cy="236968"/>
          </a:xfrm>
          <a:prstGeom prst="rect">
            <a:avLst/>
          </a:prstGeom>
          <a:noFill/>
          <a:ln/>
        </p:spPr>
        <p:txBody>
          <a:bodyPr wrap="square" lIns="0" tIns="0" rIns="0" bIns="0" rtlCol="0" anchor="ctr"/>
          <a:lstStyle/>
          <a:p>
            <a:pPr>
              <a:lnSpc>
                <a:spcPct val="120000"/>
              </a:lnSpc>
            </a:pPr>
            <a:r>
              <a:rPr lang="en-US" sz="1306" b="1" dirty="0">
                <a:solidFill>
                  <a:srgbClr val="D69E2E"/>
                </a:solidFill>
                <a:latin typeface="MiSans" pitchFamily="34" charset="0"/>
                <a:ea typeface="MiSans" pitchFamily="34" charset="-122"/>
                <a:cs typeface="MiSans" pitchFamily="34" charset="-120"/>
              </a:rPr>
              <a:t>Value (variable):</a:t>
            </a:r>
            <a:r>
              <a:rPr lang="en-US" sz="1306" dirty="0">
                <a:solidFill>
                  <a:srgbClr val="E2E8F0">
                    <a:alpha val="80000"/>
                  </a:srgbClr>
                </a:solidFill>
                <a:latin typeface="MiSans" pitchFamily="34" charset="0"/>
                <a:ea typeface="MiSans" pitchFamily="34" charset="-122"/>
                <a:cs typeface="MiSans" pitchFamily="34" charset="-120"/>
              </a:rPr>
              <a:t> 消息值</a:t>
            </a:r>
            <a:endParaRPr lang="en-US" sz="1600" dirty="0"/>
          </a:p>
        </p:txBody>
      </p:sp>
      <p:sp>
        <p:nvSpPr>
          <p:cNvPr id="19" name="Text 17"/>
          <p:cNvSpPr/>
          <p:nvPr/>
        </p:nvSpPr>
        <p:spPr>
          <a:xfrm>
            <a:off x="710904" y="8246484"/>
            <a:ext cx="7168280" cy="236968"/>
          </a:xfrm>
          <a:prstGeom prst="rect">
            <a:avLst/>
          </a:prstGeom>
          <a:noFill/>
          <a:ln/>
        </p:spPr>
        <p:txBody>
          <a:bodyPr wrap="square" lIns="0" tIns="0" rIns="0" bIns="0" rtlCol="0" anchor="ctr"/>
          <a:lstStyle/>
          <a:p>
            <a:pPr>
              <a:lnSpc>
                <a:spcPct val="120000"/>
              </a:lnSpc>
            </a:pPr>
            <a:r>
              <a:rPr lang="en-US" sz="1306" b="1" dirty="0">
                <a:solidFill>
                  <a:srgbClr val="718096"/>
                </a:solidFill>
                <a:latin typeface="MiSans" pitchFamily="34" charset="0"/>
                <a:ea typeface="MiSans" pitchFamily="34" charset="-122"/>
                <a:cs typeface="MiSans" pitchFamily="34" charset="-120"/>
              </a:rPr>
              <a:t>Headers (variable):</a:t>
            </a:r>
            <a:r>
              <a:rPr lang="en-US" sz="1306" dirty="0">
                <a:solidFill>
                  <a:srgbClr val="E2E8F0">
                    <a:alpha val="80000"/>
                  </a:srgbClr>
                </a:solidFill>
                <a:latin typeface="MiSans" pitchFamily="34" charset="0"/>
                <a:ea typeface="MiSans" pitchFamily="34" charset="-122"/>
                <a:cs typeface="MiSans" pitchFamily="34" charset="-120"/>
              </a:rPr>
              <a:t> 头部信息(可选)</a:t>
            </a:r>
            <a:endParaRPr lang="en-US" sz="1600" dirty="0"/>
          </a:p>
        </p:txBody>
      </p:sp>
      <p:sp>
        <p:nvSpPr>
          <p:cNvPr id="20" name="Shape 18"/>
          <p:cNvSpPr/>
          <p:nvPr/>
        </p:nvSpPr>
        <p:spPr>
          <a:xfrm>
            <a:off x="8296469" y="1516595"/>
            <a:ext cx="7488187" cy="3933668"/>
          </a:xfrm>
          <a:custGeom>
            <a:avLst/>
            <a:gdLst/>
            <a:ahLst/>
            <a:cxnLst/>
            <a:rect l="l" t="t" r="r" b="b"/>
            <a:pathLst>
              <a:path w="7488187" h="3933668">
                <a:moveTo>
                  <a:pt x="47394" y="0"/>
                </a:moveTo>
                <a:lnTo>
                  <a:pt x="7393385" y="0"/>
                </a:lnTo>
                <a:cubicBezTo>
                  <a:pt x="7445743" y="0"/>
                  <a:pt x="7488187" y="42444"/>
                  <a:pt x="7488187" y="94801"/>
                </a:cubicBezTo>
                <a:lnTo>
                  <a:pt x="7488187" y="3838866"/>
                </a:lnTo>
                <a:cubicBezTo>
                  <a:pt x="7488187" y="3891224"/>
                  <a:pt x="7445743" y="3933668"/>
                  <a:pt x="7393385" y="3933668"/>
                </a:cubicBezTo>
                <a:lnTo>
                  <a:pt x="47394" y="3933668"/>
                </a:lnTo>
                <a:cubicBezTo>
                  <a:pt x="21219" y="3933668"/>
                  <a:pt x="0" y="3912449"/>
                  <a:pt x="0" y="3886274"/>
                </a:cubicBezTo>
                <a:lnTo>
                  <a:pt x="0" y="47394"/>
                </a:lnTo>
                <a:cubicBezTo>
                  <a:pt x="0" y="21219"/>
                  <a:pt x="21219" y="0"/>
                  <a:pt x="47394" y="0"/>
                </a:cubicBezTo>
                <a:close/>
              </a:path>
            </a:pathLst>
          </a:custGeom>
          <a:solidFill>
            <a:srgbClr val="4A5568">
              <a:alpha val="20000"/>
            </a:srgbClr>
          </a:solidFill>
          <a:ln/>
        </p:spPr>
        <p:txBody>
          <a:bodyPr/>
          <a:lstStyle/>
          <a:p>
            <a:endParaRPr lang="zh-CN" altLang="en-US"/>
          </a:p>
        </p:txBody>
      </p:sp>
      <p:sp>
        <p:nvSpPr>
          <p:cNvPr id="21" name="Shape 19"/>
          <p:cNvSpPr/>
          <p:nvPr/>
        </p:nvSpPr>
        <p:spPr>
          <a:xfrm>
            <a:off x="8296469" y="1516595"/>
            <a:ext cx="47394" cy="3933668"/>
          </a:xfrm>
          <a:custGeom>
            <a:avLst/>
            <a:gdLst/>
            <a:ahLst/>
            <a:cxnLst/>
            <a:rect l="l" t="t" r="r" b="b"/>
            <a:pathLst>
              <a:path w="47394" h="3933668">
                <a:moveTo>
                  <a:pt x="47394" y="0"/>
                </a:moveTo>
                <a:lnTo>
                  <a:pt x="47394" y="0"/>
                </a:lnTo>
                <a:lnTo>
                  <a:pt x="47394" y="3933668"/>
                </a:lnTo>
                <a:lnTo>
                  <a:pt x="47394" y="3933668"/>
                </a:lnTo>
                <a:cubicBezTo>
                  <a:pt x="21219" y="3933668"/>
                  <a:pt x="0" y="3912449"/>
                  <a:pt x="0" y="3886274"/>
                </a:cubicBezTo>
                <a:lnTo>
                  <a:pt x="0" y="47394"/>
                </a:lnTo>
                <a:cubicBezTo>
                  <a:pt x="0" y="21236"/>
                  <a:pt x="21236" y="0"/>
                  <a:pt x="47394" y="0"/>
                </a:cubicBezTo>
                <a:close/>
              </a:path>
            </a:pathLst>
          </a:custGeom>
          <a:solidFill>
            <a:srgbClr val="D69E2E"/>
          </a:solidFill>
          <a:ln/>
        </p:spPr>
        <p:txBody>
          <a:bodyPr/>
          <a:lstStyle/>
          <a:p>
            <a:endParaRPr lang="zh-CN" altLang="en-US"/>
          </a:p>
        </p:txBody>
      </p:sp>
      <p:sp>
        <p:nvSpPr>
          <p:cNvPr id="22" name="Text 20"/>
          <p:cNvSpPr/>
          <p:nvPr/>
        </p:nvSpPr>
        <p:spPr>
          <a:xfrm>
            <a:off x="8509741" y="1706169"/>
            <a:ext cx="7203825" cy="331755"/>
          </a:xfrm>
          <a:prstGeom prst="rect">
            <a:avLst/>
          </a:prstGeom>
          <a:noFill/>
          <a:ln/>
        </p:spPr>
        <p:txBody>
          <a:bodyPr wrap="square" lIns="0" tIns="0" rIns="0" bIns="0" rtlCol="0" anchor="ctr"/>
          <a:lstStyle/>
          <a:p>
            <a:pPr>
              <a:lnSpc>
                <a:spcPct val="120000"/>
              </a:lnSpc>
            </a:pPr>
            <a:r>
              <a:rPr lang="en-US" sz="1866" b="1" dirty="0">
                <a:solidFill>
                  <a:srgbClr val="D69E2E"/>
                </a:solidFill>
                <a:latin typeface="MiSans" pitchFamily="34" charset="0"/>
                <a:ea typeface="MiSans" pitchFamily="34" charset="-122"/>
                <a:cs typeface="MiSans" pitchFamily="34" charset="-120"/>
              </a:rPr>
              <a:t>稀疏索引机制</a:t>
            </a:r>
            <a:endParaRPr lang="en-US" sz="1600" dirty="0"/>
          </a:p>
        </p:txBody>
      </p:sp>
      <p:sp>
        <p:nvSpPr>
          <p:cNvPr id="23" name="Shape 21"/>
          <p:cNvSpPr/>
          <p:nvPr/>
        </p:nvSpPr>
        <p:spPr>
          <a:xfrm>
            <a:off x="8509741" y="2180105"/>
            <a:ext cx="7085341" cy="2369679"/>
          </a:xfrm>
          <a:custGeom>
            <a:avLst/>
            <a:gdLst/>
            <a:ahLst/>
            <a:cxnLst/>
            <a:rect l="l" t="t" r="r" b="b"/>
            <a:pathLst>
              <a:path w="7085341" h="2369679">
                <a:moveTo>
                  <a:pt x="47394" y="0"/>
                </a:moveTo>
                <a:lnTo>
                  <a:pt x="7037948" y="0"/>
                </a:lnTo>
                <a:cubicBezTo>
                  <a:pt x="7064122" y="0"/>
                  <a:pt x="7085341" y="21219"/>
                  <a:pt x="7085341" y="47394"/>
                </a:cubicBezTo>
                <a:lnTo>
                  <a:pt x="7085341" y="2322286"/>
                </a:lnTo>
                <a:cubicBezTo>
                  <a:pt x="7085341" y="2348460"/>
                  <a:pt x="7064122" y="2369679"/>
                  <a:pt x="7037948" y="2369679"/>
                </a:cubicBezTo>
                <a:lnTo>
                  <a:pt x="47394" y="2369679"/>
                </a:lnTo>
                <a:cubicBezTo>
                  <a:pt x="21219" y="2369679"/>
                  <a:pt x="0" y="2348460"/>
                  <a:pt x="0" y="2322286"/>
                </a:cubicBezTo>
                <a:lnTo>
                  <a:pt x="0" y="47394"/>
                </a:lnTo>
                <a:cubicBezTo>
                  <a:pt x="0" y="21236"/>
                  <a:pt x="21236" y="0"/>
                  <a:pt x="47394" y="0"/>
                </a:cubicBezTo>
                <a:close/>
              </a:path>
            </a:pathLst>
          </a:custGeom>
          <a:solidFill>
            <a:srgbClr val="1A1D21">
              <a:alpha val="60000"/>
            </a:srgbClr>
          </a:solidFill>
          <a:ln/>
        </p:spPr>
        <p:txBody>
          <a:bodyPr/>
          <a:lstStyle/>
          <a:p>
            <a:endParaRPr lang="zh-CN" altLang="en-US"/>
          </a:p>
        </p:txBody>
      </p:sp>
      <p:sp>
        <p:nvSpPr>
          <p:cNvPr id="24" name="Text 22"/>
          <p:cNvSpPr/>
          <p:nvPr/>
        </p:nvSpPr>
        <p:spPr>
          <a:xfrm>
            <a:off x="8651921" y="2322286"/>
            <a:ext cx="6872070" cy="2085318"/>
          </a:xfrm>
          <a:prstGeom prst="rect">
            <a:avLst/>
          </a:prstGeom>
          <a:noFill/>
          <a:ln/>
        </p:spPr>
        <p:txBody>
          <a:bodyPr wrap="square" lIns="0" tIns="0" rIns="0" bIns="0" rtlCol="0" anchor="ctr"/>
          <a:lstStyle/>
          <a:p>
            <a:pPr algn="l">
              <a:buNone/>
            </a:pP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public class </a:t>
            </a:r>
            <a:r>
              <a:rPr lang="en-US" altLang="zh-CN" sz="1200" b="0" i="0" dirty="0" err="1">
                <a:solidFill>
                  <a:schemeClr val="bg1"/>
                </a:solidFill>
                <a:effectLst/>
                <a:latin typeface="Calibri" panose="020F0502020204030204" pitchFamily="34" charset="0"/>
                <a:ea typeface="KaiTi" panose="02010609060101010101" pitchFamily="49" charset="-122"/>
                <a:cs typeface="Calibri" panose="020F0502020204030204" pitchFamily="34" charset="0"/>
              </a:rPr>
              <a:t>OffsetIndex</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extends </a:t>
            </a:r>
            <a:r>
              <a:rPr lang="en-US" altLang="zh-CN" sz="1200" b="0" i="0" dirty="0" err="1">
                <a:solidFill>
                  <a:schemeClr val="bg1"/>
                </a:solidFill>
                <a:effectLst/>
                <a:latin typeface="Calibri" panose="020F0502020204030204" pitchFamily="34" charset="0"/>
                <a:ea typeface="KaiTi" panose="02010609060101010101" pitchFamily="49" charset="-122"/>
                <a:cs typeface="Calibri" panose="020F0502020204030204" pitchFamily="34" charset="0"/>
              </a:rPr>
              <a:t>AbstractIndex</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p>
          <a:p>
            <a:pPr algn="l">
              <a:buNone/>
            </a:pPr>
            <a:endPar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en-US" altLang="zh-CN"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zh-CN" altLang="en-US"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查找偏移量对应的物理位置</a:t>
            </a:r>
            <a:endParaRPr lang="zh-CN" altLang="en-US"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public </a:t>
            </a:r>
            <a:r>
              <a:rPr lang="en-US" altLang="zh-CN" sz="1200" b="0" i="0" dirty="0" err="1">
                <a:solidFill>
                  <a:schemeClr val="bg1"/>
                </a:solidFill>
                <a:effectLst/>
                <a:latin typeface="Calibri" panose="020F0502020204030204" pitchFamily="34" charset="0"/>
                <a:ea typeface="KaiTi" panose="02010609060101010101" pitchFamily="49" charset="-122"/>
                <a:cs typeface="Calibri" panose="020F0502020204030204" pitchFamily="34" charset="0"/>
              </a:rPr>
              <a:t>OffsetPosition</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lookup(long </a:t>
            </a:r>
            <a:r>
              <a:rPr lang="en-US" altLang="zh-CN" sz="1200" b="0" i="0" dirty="0" err="1">
                <a:solidFill>
                  <a:schemeClr val="bg1"/>
                </a:solidFill>
                <a:effectLst/>
                <a:latin typeface="Calibri" panose="020F0502020204030204" pitchFamily="34" charset="0"/>
                <a:ea typeface="KaiTi" panose="02010609060101010101" pitchFamily="49" charset="-122"/>
                <a:cs typeface="Calibri" panose="020F0502020204030204" pitchFamily="34" charset="0"/>
              </a:rPr>
              <a:t>targetOffset</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p>
          <a:p>
            <a:pPr algn="l">
              <a:buNone/>
            </a:pPr>
            <a:r>
              <a:rPr lang="en-US" altLang="zh-CN"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zh-CN" altLang="en-US"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二分查找找到最接近的索引条目</a:t>
            </a:r>
            <a:endParaRPr lang="zh-CN" altLang="en-US"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zh-CN" altLang="en-US"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zh-CN" altLang="en-US"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然后从该位置开始线性扫描</a:t>
            </a:r>
            <a:endParaRPr lang="zh-CN" altLang="en-US"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a:t>
            </a:r>
          </a:p>
          <a:p>
            <a:pPr algn="l">
              <a:buNone/>
            </a:pPr>
            <a:endPar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1"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zh-CN" altLang="en-US" sz="1200" b="0" i="1" dirty="0">
                <a:solidFill>
                  <a:schemeClr val="bg1"/>
                </a:solidFill>
                <a:effectLst/>
                <a:latin typeface="Calibri" panose="020F0502020204030204" pitchFamily="34" charset="0"/>
                <a:ea typeface="KaiTi" panose="02010609060101010101" pitchFamily="49" charset="-122"/>
                <a:cs typeface="Calibri" panose="020F0502020204030204" pitchFamily="34" charset="0"/>
              </a:rPr>
              <a:t>添加索引条目</a:t>
            </a:r>
            <a:endPar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public void append(long offset, int position) {</a:t>
            </a:r>
          </a:p>
          <a:p>
            <a:pPr algn="l">
              <a:buNone/>
            </a:pPr>
            <a:r>
              <a:rPr lang="en-US" altLang="zh-CN"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 </a:t>
            </a:r>
            <a:r>
              <a:rPr lang="zh-CN" altLang="en-US" sz="1200" b="0" i="1" dirty="0">
                <a:solidFill>
                  <a:srgbClr val="00B050"/>
                </a:solidFill>
                <a:effectLst/>
                <a:latin typeface="Calibri" panose="020F0502020204030204" pitchFamily="34" charset="0"/>
                <a:ea typeface="KaiTi" panose="02010609060101010101" pitchFamily="49" charset="-122"/>
                <a:cs typeface="Calibri" panose="020F0502020204030204" pitchFamily="34" charset="0"/>
              </a:rPr>
              <a:t>只有当达到索引间隔时才添加条目</a:t>
            </a:r>
            <a:endParaRPr lang="zh-CN" altLang="en-US" sz="1200" b="0" i="0" dirty="0">
              <a:solidFill>
                <a:srgbClr val="00B050"/>
              </a:solidFill>
              <a:effectLst/>
              <a:latin typeface="Calibri" panose="020F0502020204030204" pitchFamily="34" charset="0"/>
              <a:ea typeface="KaiTi" panose="02010609060101010101" pitchFamily="49" charset="-122"/>
              <a:cs typeface="Calibri" panose="020F0502020204030204" pitchFamily="34" charset="0"/>
            </a:endParaRPr>
          </a:p>
          <a:p>
            <a:pPr algn="l">
              <a:buNone/>
            </a:pPr>
            <a:r>
              <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    </a:t>
            </a: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a:t>
            </a:r>
          </a:p>
          <a:p>
            <a:pPr algn="l">
              <a:buNone/>
            </a:pPr>
            <a:r>
              <a:rPr lang="en-US" altLang="zh-CN"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rPr>
              <a:t>}</a:t>
            </a:r>
            <a:endParaRPr lang="zh-CN" altLang="en-US" sz="1200" b="0" i="0" dirty="0">
              <a:solidFill>
                <a:schemeClr val="bg1"/>
              </a:solidFill>
              <a:effectLst/>
              <a:latin typeface="Calibri" panose="020F0502020204030204" pitchFamily="34" charset="0"/>
              <a:ea typeface="KaiTi" panose="02010609060101010101" pitchFamily="49" charset="-122"/>
              <a:cs typeface="Calibri" panose="020F0502020204030204" pitchFamily="34" charset="0"/>
            </a:endParaRPr>
          </a:p>
        </p:txBody>
      </p:sp>
      <p:sp>
        <p:nvSpPr>
          <p:cNvPr id="25" name="Text 23"/>
          <p:cNvSpPr/>
          <p:nvPr/>
        </p:nvSpPr>
        <p:spPr>
          <a:xfrm>
            <a:off x="8509741" y="4691965"/>
            <a:ext cx="7168280" cy="236968"/>
          </a:xfrm>
          <a:prstGeom prst="rect">
            <a:avLst/>
          </a:prstGeom>
          <a:noFill/>
          <a:ln/>
        </p:spPr>
        <p:txBody>
          <a:bodyPr wrap="square" lIns="0" tIns="0" rIns="0" bIns="0" rtlCol="0" anchor="ctr"/>
          <a:lstStyle/>
          <a:p>
            <a:pPr>
              <a:lnSpc>
                <a:spcPct val="120000"/>
              </a:lnSpc>
            </a:pPr>
            <a:r>
              <a:rPr lang="en-US" sz="1306" b="1" dirty="0">
                <a:solidFill>
                  <a:srgbClr val="D69E2E"/>
                </a:solidFill>
                <a:latin typeface="MiSans" pitchFamily="34" charset="0"/>
                <a:ea typeface="MiSans" pitchFamily="34" charset="-122"/>
                <a:cs typeface="MiSans" pitchFamily="34" charset="-120"/>
              </a:rPr>
              <a:t>稀疏索引:</a:t>
            </a:r>
            <a:r>
              <a:rPr lang="en-US" sz="1306" dirty="0">
                <a:solidFill>
                  <a:srgbClr val="E2E8F0">
                    <a:alpha val="80000"/>
                  </a:srgbClr>
                </a:solidFill>
                <a:latin typeface="MiSans" pitchFamily="34" charset="0"/>
                <a:ea typeface="MiSans" pitchFamily="34" charset="-122"/>
                <a:cs typeface="MiSans" pitchFamily="34" charset="-120"/>
              </a:rPr>
              <a:t> 默认每 4KB 数据创建一个索引条目，平衡查找性能和索引大小</a:t>
            </a:r>
            <a:endParaRPr lang="en-US" sz="1600" dirty="0"/>
          </a:p>
        </p:txBody>
      </p:sp>
      <p:sp>
        <p:nvSpPr>
          <p:cNvPr id="26" name="Text 24"/>
          <p:cNvSpPr/>
          <p:nvPr/>
        </p:nvSpPr>
        <p:spPr>
          <a:xfrm>
            <a:off x="8509741" y="5023720"/>
            <a:ext cx="7168280" cy="236968"/>
          </a:xfrm>
          <a:prstGeom prst="rect">
            <a:avLst/>
          </a:prstGeom>
          <a:noFill/>
          <a:ln/>
        </p:spPr>
        <p:txBody>
          <a:bodyPr wrap="square" lIns="0" tIns="0" rIns="0" bIns="0" rtlCol="0" anchor="ctr"/>
          <a:lstStyle/>
          <a:p>
            <a:pPr>
              <a:lnSpc>
                <a:spcPct val="120000"/>
              </a:lnSpc>
            </a:pPr>
            <a:r>
              <a:rPr lang="en-US" sz="1306" b="1" dirty="0">
                <a:solidFill>
                  <a:srgbClr val="718096"/>
                </a:solidFill>
                <a:latin typeface="MiSans" pitchFamily="34" charset="0"/>
                <a:ea typeface="MiSans" pitchFamily="34" charset="-122"/>
                <a:cs typeface="MiSans" pitchFamily="34" charset="-120"/>
              </a:rPr>
              <a:t>查找流程:</a:t>
            </a:r>
            <a:r>
              <a:rPr lang="en-US" sz="1306" dirty="0">
                <a:solidFill>
                  <a:srgbClr val="E2E8F0">
                    <a:alpha val="80000"/>
                  </a:srgbClr>
                </a:solidFill>
                <a:latin typeface="MiSans" pitchFamily="34" charset="0"/>
                <a:ea typeface="MiSans" pitchFamily="34" charset="-122"/>
                <a:cs typeface="MiSans" pitchFamily="34" charset="-120"/>
              </a:rPr>
              <a:t> 二分查找 → 线性扫描 → 精确定位消息</a:t>
            </a:r>
            <a:endParaRPr lang="en-US" sz="1600" dirty="0"/>
          </a:p>
        </p:txBody>
      </p:sp>
      <p:sp>
        <p:nvSpPr>
          <p:cNvPr id="27" name="Shape 25"/>
          <p:cNvSpPr/>
          <p:nvPr/>
        </p:nvSpPr>
        <p:spPr>
          <a:xfrm>
            <a:off x="8296469" y="5592443"/>
            <a:ext cx="7488187" cy="2701434"/>
          </a:xfrm>
          <a:custGeom>
            <a:avLst/>
            <a:gdLst/>
            <a:ahLst/>
            <a:cxnLst/>
            <a:rect l="l" t="t" r="r" b="b"/>
            <a:pathLst>
              <a:path w="7488187" h="2701434">
                <a:moveTo>
                  <a:pt x="47394" y="0"/>
                </a:moveTo>
                <a:lnTo>
                  <a:pt x="7393393" y="0"/>
                </a:lnTo>
                <a:cubicBezTo>
                  <a:pt x="7445746" y="0"/>
                  <a:pt x="7488187" y="42440"/>
                  <a:pt x="7488187" y="94793"/>
                </a:cubicBezTo>
                <a:lnTo>
                  <a:pt x="7488187" y="2606641"/>
                </a:lnTo>
                <a:cubicBezTo>
                  <a:pt x="7488187" y="2658994"/>
                  <a:pt x="7445746" y="2701434"/>
                  <a:pt x="7393393" y="2701434"/>
                </a:cubicBezTo>
                <a:lnTo>
                  <a:pt x="47394" y="2701434"/>
                </a:lnTo>
                <a:cubicBezTo>
                  <a:pt x="21219" y="2701434"/>
                  <a:pt x="0" y="2680216"/>
                  <a:pt x="0" y="2654041"/>
                </a:cubicBezTo>
                <a:lnTo>
                  <a:pt x="0" y="47394"/>
                </a:lnTo>
                <a:cubicBezTo>
                  <a:pt x="0" y="21236"/>
                  <a:pt x="21236" y="0"/>
                  <a:pt x="47394" y="0"/>
                </a:cubicBezTo>
                <a:close/>
              </a:path>
            </a:pathLst>
          </a:custGeom>
          <a:solidFill>
            <a:srgbClr val="4A5568">
              <a:alpha val="20000"/>
            </a:srgbClr>
          </a:solidFill>
          <a:ln/>
        </p:spPr>
        <p:txBody>
          <a:bodyPr/>
          <a:lstStyle/>
          <a:p>
            <a:endParaRPr lang="zh-CN" altLang="en-US"/>
          </a:p>
        </p:txBody>
      </p:sp>
      <p:sp>
        <p:nvSpPr>
          <p:cNvPr id="28" name="Shape 26"/>
          <p:cNvSpPr/>
          <p:nvPr/>
        </p:nvSpPr>
        <p:spPr>
          <a:xfrm>
            <a:off x="8296469" y="5592443"/>
            <a:ext cx="47394" cy="2701434"/>
          </a:xfrm>
          <a:custGeom>
            <a:avLst/>
            <a:gdLst/>
            <a:ahLst/>
            <a:cxnLst/>
            <a:rect l="l" t="t" r="r" b="b"/>
            <a:pathLst>
              <a:path w="47394" h="2701434">
                <a:moveTo>
                  <a:pt x="47394" y="0"/>
                </a:moveTo>
                <a:lnTo>
                  <a:pt x="47394" y="0"/>
                </a:lnTo>
                <a:lnTo>
                  <a:pt x="47394" y="2701434"/>
                </a:lnTo>
                <a:lnTo>
                  <a:pt x="47394" y="2701434"/>
                </a:lnTo>
                <a:cubicBezTo>
                  <a:pt x="21219" y="2701434"/>
                  <a:pt x="0" y="2680216"/>
                  <a:pt x="0" y="2654041"/>
                </a:cubicBezTo>
                <a:lnTo>
                  <a:pt x="0" y="47394"/>
                </a:lnTo>
                <a:cubicBezTo>
                  <a:pt x="0" y="21236"/>
                  <a:pt x="21236" y="0"/>
                  <a:pt x="47394" y="0"/>
                </a:cubicBezTo>
                <a:close/>
              </a:path>
            </a:pathLst>
          </a:custGeom>
          <a:solidFill>
            <a:srgbClr val="718096"/>
          </a:solidFill>
          <a:ln/>
        </p:spPr>
        <p:txBody>
          <a:bodyPr/>
          <a:lstStyle/>
          <a:p>
            <a:endParaRPr lang="zh-CN" altLang="en-US"/>
          </a:p>
        </p:txBody>
      </p:sp>
      <p:sp>
        <p:nvSpPr>
          <p:cNvPr id="29" name="Text 27"/>
          <p:cNvSpPr/>
          <p:nvPr/>
        </p:nvSpPr>
        <p:spPr>
          <a:xfrm>
            <a:off x="8509741" y="5782017"/>
            <a:ext cx="7203825" cy="331755"/>
          </a:xfrm>
          <a:prstGeom prst="rect">
            <a:avLst/>
          </a:prstGeom>
          <a:noFill/>
          <a:ln/>
        </p:spPr>
        <p:txBody>
          <a:bodyPr wrap="square" lIns="0" tIns="0" rIns="0" bIns="0" rtlCol="0" anchor="ctr"/>
          <a:lstStyle/>
          <a:p>
            <a:pPr>
              <a:lnSpc>
                <a:spcPct val="120000"/>
              </a:lnSpc>
            </a:pPr>
            <a:r>
              <a:rPr lang="en-US" sz="1866" b="1" dirty="0">
                <a:solidFill>
                  <a:srgbClr val="718096"/>
                </a:solidFill>
                <a:latin typeface="MiSans" pitchFamily="34" charset="0"/>
                <a:ea typeface="MiSans" pitchFamily="34" charset="-122"/>
                <a:cs typeface="MiSans" pitchFamily="34" charset="-120"/>
              </a:rPr>
              <a:t>索引文件格式</a:t>
            </a:r>
            <a:endParaRPr lang="en-US" sz="1600" dirty="0"/>
          </a:p>
        </p:txBody>
      </p:sp>
      <p:sp>
        <p:nvSpPr>
          <p:cNvPr id="30" name="Shape 28"/>
          <p:cNvSpPr/>
          <p:nvPr/>
        </p:nvSpPr>
        <p:spPr>
          <a:xfrm>
            <a:off x="8509741" y="6255953"/>
            <a:ext cx="7085341" cy="853085"/>
          </a:xfrm>
          <a:custGeom>
            <a:avLst/>
            <a:gdLst/>
            <a:ahLst/>
            <a:cxnLst/>
            <a:rect l="l" t="t" r="r" b="b"/>
            <a:pathLst>
              <a:path w="7085341" h="853085">
                <a:moveTo>
                  <a:pt x="47397" y="0"/>
                </a:moveTo>
                <a:lnTo>
                  <a:pt x="7037944" y="0"/>
                </a:lnTo>
                <a:cubicBezTo>
                  <a:pt x="7064121" y="0"/>
                  <a:pt x="7085341" y="21221"/>
                  <a:pt x="7085341" y="47397"/>
                </a:cubicBezTo>
                <a:lnTo>
                  <a:pt x="7085341" y="805687"/>
                </a:lnTo>
                <a:cubicBezTo>
                  <a:pt x="7085341" y="831864"/>
                  <a:pt x="7064121" y="853085"/>
                  <a:pt x="7037944" y="853085"/>
                </a:cubicBezTo>
                <a:lnTo>
                  <a:pt x="47397" y="853085"/>
                </a:lnTo>
                <a:cubicBezTo>
                  <a:pt x="21221" y="853085"/>
                  <a:pt x="0" y="831864"/>
                  <a:pt x="0" y="805687"/>
                </a:cubicBezTo>
                <a:lnTo>
                  <a:pt x="0" y="47397"/>
                </a:lnTo>
                <a:cubicBezTo>
                  <a:pt x="0" y="21238"/>
                  <a:pt x="21238" y="0"/>
                  <a:pt x="47397" y="0"/>
                </a:cubicBezTo>
                <a:close/>
              </a:path>
            </a:pathLst>
          </a:custGeom>
          <a:solidFill>
            <a:srgbClr val="1A1D21">
              <a:alpha val="60000"/>
            </a:srgbClr>
          </a:solidFill>
          <a:ln/>
        </p:spPr>
        <p:txBody>
          <a:bodyPr/>
          <a:lstStyle/>
          <a:p>
            <a:endParaRPr lang="zh-CN" altLang="en-US"/>
          </a:p>
        </p:txBody>
      </p:sp>
      <p:sp>
        <p:nvSpPr>
          <p:cNvPr id="31" name="Text 29"/>
          <p:cNvSpPr/>
          <p:nvPr/>
        </p:nvSpPr>
        <p:spPr>
          <a:xfrm>
            <a:off x="8651921" y="6398134"/>
            <a:ext cx="6895767" cy="284362"/>
          </a:xfrm>
          <a:prstGeom prst="rect">
            <a:avLst/>
          </a:prstGeom>
          <a:noFill/>
          <a:ln/>
        </p:spPr>
        <p:txBody>
          <a:bodyPr wrap="square" lIns="0" tIns="0" rIns="0" bIns="0" rtlCol="0" anchor="ctr"/>
          <a:lstStyle/>
          <a:p>
            <a:pPr>
              <a:lnSpc>
                <a:spcPct val="130000"/>
              </a:lnSpc>
            </a:pPr>
            <a:r>
              <a:rPr lang="en-US" sz="1493" b="1" dirty="0">
                <a:solidFill>
                  <a:srgbClr val="D69E2E"/>
                </a:solidFill>
                <a:latin typeface="MiSans" pitchFamily="34" charset="0"/>
                <a:ea typeface="MiSans" pitchFamily="34" charset="-122"/>
                <a:cs typeface="MiSans" pitchFamily="34" charset="-120"/>
              </a:rPr>
              <a:t>.index 文件</a:t>
            </a:r>
            <a:endParaRPr lang="en-US" sz="1600" dirty="0"/>
          </a:p>
        </p:txBody>
      </p:sp>
      <p:sp>
        <p:nvSpPr>
          <p:cNvPr id="32" name="Text 30"/>
          <p:cNvSpPr/>
          <p:nvPr/>
        </p:nvSpPr>
        <p:spPr>
          <a:xfrm>
            <a:off x="8651921" y="6729889"/>
            <a:ext cx="6883918" cy="236968"/>
          </a:xfrm>
          <a:prstGeom prst="rect">
            <a:avLst/>
          </a:prstGeom>
          <a:noFill/>
          <a:ln/>
        </p:spPr>
        <p:txBody>
          <a:bodyPr wrap="square" lIns="0" tIns="0" rIns="0" bIns="0" rtlCol="0" anchor="ctr"/>
          <a:lstStyle/>
          <a:p>
            <a:pPr>
              <a:lnSpc>
                <a:spcPct val="120000"/>
              </a:lnSpc>
            </a:pPr>
            <a:r>
              <a:rPr lang="en-US" sz="1306" dirty="0">
                <a:solidFill>
                  <a:srgbClr val="E2E8F0">
                    <a:alpha val="80000"/>
                  </a:srgbClr>
                </a:solidFill>
                <a:latin typeface="MiSans" pitchFamily="34" charset="0"/>
                <a:ea typeface="MiSans" pitchFamily="34" charset="-122"/>
                <a:cs typeface="MiSans" pitchFamily="34" charset="-120"/>
              </a:rPr>
              <a:t>Relative Offset (4B) + Physical Position (4B)</a:t>
            </a:r>
            <a:endParaRPr lang="en-US" sz="1600" dirty="0"/>
          </a:p>
        </p:txBody>
      </p:sp>
      <p:sp>
        <p:nvSpPr>
          <p:cNvPr id="33" name="Shape 31"/>
          <p:cNvSpPr/>
          <p:nvPr/>
        </p:nvSpPr>
        <p:spPr>
          <a:xfrm>
            <a:off x="8509741" y="7251219"/>
            <a:ext cx="7085341" cy="853085"/>
          </a:xfrm>
          <a:custGeom>
            <a:avLst/>
            <a:gdLst/>
            <a:ahLst/>
            <a:cxnLst/>
            <a:rect l="l" t="t" r="r" b="b"/>
            <a:pathLst>
              <a:path w="7085341" h="853085">
                <a:moveTo>
                  <a:pt x="47397" y="0"/>
                </a:moveTo>
                <a:lnTo>
                  <a:pt x="7037944" y="0"/>
                </a:lnTo>
                <a:cubicBezTo>
                  <a:pt x="7064121" y="0"/>
                  <a:pt x="7085341" y="21221"/>
                  <a:pt x="7085341" y="47397"/>
                </a:cubicBezTo>
                <a:lnTo>
                  <a:pt x="7085341" y="805687"/>
                </a:lnTo>
                <a:cubicBezTo>
                  <a:pt x="7085341" y="831864"/>
                  <a:pt x="7064121" y="853085"/>
                  <a:pt x="7037944" y="853085"/>
                </a:cubicBezTo>
                <a:lnTo>
                  <a:pt x="47397" y="853085"/>
                </a:lnTo>
                <a:cubicBezTo>
                  <a:pt x="21221" y="853085"/>
                  <a:pt x="0" y="831864"/>
                  <a:pt x="0" y="805687"/>
                </a:cubicBezTo>
                <a:lnTo>
                  <a:pt x="0" y="47397"/>
                </a:lnTo>
                <a:cubicBezTo>
                  <a:pt x="0" y="21238"/>
                  <a:pt x="21238" y="0"/>
                  <a:pt x="47397" y="0"/>
                </a:cubicBezTo>
                <a:close/>
              </a:path>
            </a:pathLst>
          </a:custGeom>
          <a:solidFill>
            <a:srgbClr val="1A1D21">
              <a:alpha val="60000"/>
            </a:srgbClr>
          </a:solidFill>
          <a:ln/>
        </p:spPr>
        <p:txBody>
          <a:bodyPr/>
          <a:lstStyle/>
          <a:p>
            <a:endParaRPr lang="zh-CN" altLang="en-US"/>
          </a:p>
        </p:txBody>
      </p:sp>
      <p:sp>
        <p:nvSpPr>
          <p:cNvPr id="34" name="Text 32"/>
          <p:cNvSpPr/>
          <p:nvPr/>
        </p:nvSpPr>
        <p:spPr>
          <a:xfrm>
            <a:off x="8651921" y="7393399"/>
            <a:ext cx="6895767" cy="284362"/>
          </a:xfrm>
          <a:prstGeom prst="rect">
            <a:avLst/>
          </a:prstGeom>
          <a:noFill/>
          <a:ln/>
        </p:spPr>
        <p:txBody>
          <a:bodyPr wrap="square" lIns="0" tIns="0" rIns="0" bIns="0" rtlCol="0" anchor="ctr"/>
          <a:lstStyle/>
          <a:p>
            <a:pPr>
              <a:lnSpc>
                <a:spcPct val="130000"/>
              </a:lnSpc>
            </a:pPr>
            <a:r>
              <a:rPr lang="en-US" sz="1493" b="1" dirty="0">
                <a:solidFill>
                  <a:srgbClr val="D69E2E"/>
                </a:solidFill>
                <a:latin typeface="MiSans" pitchFamily="34" charset="0"/>
                <a:ea typeface="MiSans" pitchFamily="34" charset="-122"/>
                <a:cs typeface="MiSans" pitchFamily="34" charset="-120"/>
              </a:rPr>
              <a:t>.timeindex 文件</a:t>
            </a:r>
            <a:endParaRPr lang="en-US" sz="1600" dirty="0"/>
          </a:p>
        </p:txBody>
      </p:sp>
      <p:sp>
        <p:nvSpPr>
          <p:cNvPr id="35" name="Text 33"/>
          <p:cNvSpPr/>
          <p:nvPr/>
        </p:nvSpPr>
        <p:spPr>
          <a:xfrm>
            <a:off x="8651921" y="7725155"/>
            <a:ext cx="6883918" cy="236968"/>
          </a:xfrm>
          <a:prstGeom prst="rect">
            <a:avLst/>
          </a:prstGeom>
          <a:noFill/>
          <a:ln/>
        </p:spPr>
        <p:txBody>
          <a:bodyPr wrap="square" lIns="0" tIns="0" rIns="0" bIns="0" rtlCol="0" anchor="ctr"/>
          <a:lstStyle/>
          <a:p>
            <a:pPr>
              <a:lnSpc>
                <a:spcPct val="120000"/>
              </a:lnSpc>
            </a:pPr>
            <a:r>
              <a:rPr lang="en-US" sz="1306" dirty="0">
                <a:solidFill>
                  <a:srgbClr val="E2E8F0">
                    <a:alpha val="80000"/>
                  </a:srgbClr>
                </a:solidFill>
                <a:latin typeface="MiSans" pitchFamily="34" charset="0"/>
                <a:ea typeface="MiSans" pitchFamily="34" charset="-122"/>
                <a:cs typeface="MiSans" pitchFamily="34" charset="-120"/>
              </a:rPr>
              <a:t>Timestamp (8B) + Relative Offset (4B)</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64126" y="464126"/>
            <a:ext cx="15420574" cy="278475"/>
          </a:xfrm>
          <a:prstGeom prst="rect">
            <a:avLst/>
          </a:prstGeom>
          <a:noFill/>
          <a:ln/>
        </p:spPr>
        <p:txBody>
          <a:bodyPr wrap="square" lIns="0" tIns="0" rIns="0" bIns="0" rtlCol="0" anchor="ctr"/>
          <a:lstStyle/>
          <a:p>
            <a:pPr>
              <a:lnSpc>
                <a:spcPct val="120000"/>
              </a:lnSpc>
            </a:pPr>
            <a:r>
              <a:rPr lang="en-US" sz="1462" b="1" kern="0" spc="73" dirty="0">
                <a:solidFill>
                  <a:srgbClr val="D69E2E"/>
                </a:solidFill>
                <a:latin typeface="MiSans" pitchFamily="34" charset="0"/>
                <a:ea typeface="MiSans" pitchFamily="34" charset="-122"/>
                <a:cs typeface="MiSans" pitchFamily="34" charset="-120"/>
              </a:rPr>
              <a:t>3.2.5 清理策略</a:t>
            </a:r>
            <a:endParaRPr lang="en-US" sz="1600" dirty="0"/>
          </a:p>
        </p:txBody>
      </p:sp>
      <p:sp>
        <p:nvSpPr>
          <p:cNvPr id="3" name="Text 1"/>
          <p:cNvSpPr/>
          <p:nvPr/>
        </p:nvSpPr>
        <p:spPr>
          <a:xfrm>
            <a:off x="464126" y="835426"/>
            <a:ext cx="15536605" cy="464126"/>
          </a:xfrm>
          <a:prstGeom prst="rect">
            <a:avLst/>
          </a:prstGeom>
          <a:noFill/>
          <a:ln/>
        </p:spPr>
        <p:txBody>
          <a:bodyPr wrap="square" lIns="0" tIns="0" rIns="0" bIns="0" rtlCol="0" anchor="ctr"/>
          <a:lstStyle/>
          <a:p>
            <a:pPr>
              <a:lnSpc>
                <a:spcPct val="90000"/>
              </a:lnSpc>
            </a:pPr>
            <a:r>
              <a:rPr lang="en-US" sz="3289" b="1" dirty="0">
                <a:solidFill>
                  <a:srgbClr val="E2E8F0"/>
                </a:solidFill>
                <a:latin typeface="MiSans" pitchFamily="34" charset="0"/>
                <a:ea typeface="MiSans" pitchFamily="34" charset="-122"/>
                <a:cs typeface="MiSans" pitchFamily="34" charset="-120"/>
              </a:rPr>
              <a:t>日志清理策略对比</a:t>
            </a:r>
            <a:endParaRPr lang="en-US" sz="1600" dirty="0"/>
          </a:p>
        </p:txBody>
      </p:sp>
      <p:sp>
        <p:nvSpPr>
          <p:cNvPr id="4" name="Shape 2"/>
          <p:cNvSpPr/>
          <p:nvPr/>
        </p:nvSpPr>
        <p:spPr>
          <a:xfrm>
            <a:off x="487332" y="1485202"/>
            <a:ext cx="7495629" cy="2923991"/>
          </a:xfrm>
          <a:custGeom>
            <a:avLst/>
            <a:gdLst/>
            <a:ahLst/>
            <a:cxnLst/>
            <a:rect l="l" t="t" r="r" b="b"/>
            <a:pathLst>
              <a:path w="7495629" h="2923991">
                <a:moveTo>
                  <a:pt x="46413" y="0"/>
                </a:moveTo>
                <a:lnTo>
                  <a:pt x="7402792" y="0"/>
                </a:lnTo>
                <a:cubicBezTo>
                  <a:pt x="7454064" y="0"/>
                  <a:pt x="7495629" y="41564"/>
                  <a:pt x="7495629" y="92837"/>
                </a:cubicBezTo>
                <a:lnTo>
                  <a:pt x="7495629" y="2831155"/>
                </a:lnTo>
                <a:cubicBezTo>
                  <a:pt x="7495629" y="2882427"/>
                  <a:pt x="7454064" y="2923991"/>
                  <a:pt x="7402792" y="2923991"/>
                </a:cubicBezTo>
                <a:lnTo>
                  <a:pt x="46413" y="2923991"/>
                </a:lnTo>
                <a:cubicBezTo>
                  <a:pt x="20780" y="2923991"/>
                  <a:pt x="0" y="2903212"/>
                  <a:pt x="0" y="2877579"/>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5" name="Shape 3"/>
          <p:cNvSpPr/>
          <p:nvPr/>
        </p:nvSpPr>
        <p:spPr>
          <a:xfrm>
            <a:off x="487332" y="1485202"/>
            <a:ext cx="46413" cy="2923991"/>
          </a:xfrm>
          <a:custGeom>
            <a:avLst/>
            <a:gdLst/>
            <a:ahLst/>
            <a:cxnLst/>
            <a:rect l="l" t="t" r="r" b="b"/>
            <a:pathLst>
              <a:path w="46413" h="2923991">
                <a:moveTo>
                  <a:pt x="46413" y="0"/>
                </a:moveTo>
                <a:lnTo>
                  <a:pt x="46413" y="0"/>
                </a:lnTo>
                <a:lnTo>
                  <a:pt x="46413" y="2923991"/>
                </a:lnTo>
                <a:lnTo>
                  <a:pt x="46413" y="2923991"/>
                </a:lnTo>
                <a:cubicBezTo>
                  <a:pt x="20780" y="2923991"/>
                  <a:pt x="0" y="2903212"/>
                  <a:pt x="0" y="2877579"/>
                </a:cubicBezTo>
                <a:lnTo>
                  <a:pt x="0" y="46413"/>
                </a:lnTo>
                <a:cubicBezTo>
                  <a:pt x="0" y="20797"/>
                  <a:pt x="20797" y="0"/>
                  <a:pt x="46413" y="0"/>
                </a:cubicBezTo>
                <a:close/>
              </a:path>
            </a:pathLst>
          </a:custGeom>
          <a:solidFill>
            <a:srgbClr val="718096"/>
          </a:solidFill>
          <a:ln/>
        </p:spPr>
        <p:txBody>
          <a:bodyPr/>
          <a:lstStyle/>
          <a:p>
            <a:endParaRPr lang="zh-CN" altLang="en-US"/>
          </a:p>
        </p:txBody>
      </p:sp>
      <p:sp>
        <p:nvSpPr>
          <p:cNvPr id="6" name="Text 4"/>
          <p:cNvSpPr/>
          <p:nvPr/>
        </p:nvSpPr>
        <p:spPr>
          <a:xfrm>
            <a:off x="696188" y="1670852"/>
            <a:ext cx="7217153" cy="324888"/>
          </a:xfrm>
          <a:prstGeom prst="rect">
            <a:avLst/>
          </a:prstGeom>
          <a:noFill/>
          <a:ln/>
        </p:spPr>
        <p:txBody>
          <a:bodyPr wrap="square" lIns="0" tIns="0" rIns="0" bIns="0" rtlCol="0" anchor="ctr"/>
          <a:lstStyle/>
          <a:p>
            <a:pPr>
              <a:lnSpc>
                <a:spcPct val="120000"/>
              </a:lnSpc>
            </a:pPr>
            <a:r>
              <a:rPr lang="en-US" sz="1827" b="1" dirty="0">
                <a:solidFill>
                  <a:srgbClr val="718096"/>
                </a:solidFill>
                <a:latin typeface="MiSans" pitchFamily="34" charset="0"/>
                <a:ea typeface="MiSans" pitchFamily="34" charset="-122"/>
                <a:cs typeface="MiSans" pitchFamily="34" charset="-120"/>
              </a:rPr>
              <a:t>基于时间的清理 (Delete)</a:t>
            </a:r>
            <a:endParaRPr lang="en-US" sz="1600" dirty="0"/>
          </a:p>
        </p:txBody>
      </p:sp>
      <p:sp>
        <p:nvSpPr>
          <p:cNvPr id="7" name="Shape 5"/>
          <p:cNvSpPr/>
          <p:nvPr/>
        </p:nvSpPr>
        <p:spPr>
          <a:xfrm>
            <a:off x="696188" y="2134978"/>
            <a:ext cx="7101122" cy="1392377"/>
          </a:xfrm>
          <a:custGeom>
            <a:avLst/>
            <a:gdLst/>
            <a:ahLst/>
            <a:cxnLst/>
            <a:rect l="l" t="t" r="r" b="b"/>
            <a:pathLst>
              <a:path w="7101122" h="1392377">
                <a:moveTo>
                  <a:pt x="46408" y="0"/>
                </a:moveTo>
                <a:lnTo>
                  <a:pt x="7054714" y="0"/>
                </a:lnTo>
                <a:cubicBezTo>
                  <a:pt x="7080345" y="0"/>
                  <a:pt x="7101122" y="20778"/>
                  <a:pt x="7101122" y="46408"/>
                </a:cubicBezTo>
                <a:lnTo>
                  <a:pt x="7101122" y="1345969"/>
                </a:lnTo>
                <a:cubicBezTo>
                  <a:pt x="7101122" y="1371599"/>
                  <a:pt x="7080345" y="1392377"/>
                  <a:pt x="7054714" y="1392377"/>
                </a:cubicBezTo>
                <a:lnTo>
                  <a:pt x="46408" y="1392377"/>
                </a:lnTo>
                <a:cubicBezTo>
                  <a:pt x="20778" y="1392377"/>
                  <a:pt x="0" y="1371599"/>
                  <a:pt x="0" y="1345969"/>
                </a:cubicBezTo>
                <a:lnTo>
                  <a:pt x="0" y="46408"/>
                </a:lnTo>
                <a:cubicBezTo>
                  <a:pt x="0" y="20795"/>
                  <a:pt x="20795" y="0"/>
                  <a:pt x="46408" y="0"/>
                </a:cubicBezTo>
                <a:close/>
              </a:path>
            </a:pathLst>
          </a:custGeom>
          <a:solidFill>
            <a:srgbClr val="1A1D21">
              <a:alpha val="60000"/>
            </a:srgbClr>
          </a:solidFill>
          <a:ln/>
        </p:spPr>
        <p:txBody>
          <a:bodyPr/>
          <a:lstStyle/>
          <a:p>
            <a:endParaRPr lang="zh-CN" altLang="en-US"/>
          </a:p>
        </p:txBody>
      </p:sp>
      <p:sp>
        <p:nvSpPr>
          <p:cNvPr id="8" name="Text 6"/>
          <p:cNvSpPr/>
          <p:nvPr/>
        </p:nvSpPr>
        <p:spPr>
          <a:xfrm>
            <a:off x="835426" y="2274216"/>
            <a:ext cx="6892266" cy="1113901"/>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 </a:t>
            </a:r>
            <a:r>
              <a:rPr lang="en-US" sz="1096" dirty="0" err="1">
                <a:solidFill>
                  <a:srgbClr val="718096"/>
                </a:solidFill>
                <a:latin typeface="MiSans" pitchFamily="34" charset="0"/>
                <a:ea typeface="MiSans" pitchFamily="34" charset="-122"/>
                <a:cs typeface="MiSans" pitchFamily="34" charset="-120"/>
              </a:rPr>
              <a:t>基于时间的日志保留</a:t>
            </a:r>
            <a:r>
              <a:rPr lang="en-US" sz="1096" dirty="0">
                <a:solidFill>
                  <a:srgbClr val="718096"/>
                </a:solidFill>
                <a:latin typeface="MiSans" pitchFamily="34" charset="0"/>
                <a:ea typeface="MiSans" pitchFamily="34" charset="-122"/>
                <a:cs typeface="MiSans" pitchFamily="34" charset="-120"/>
              </a:rPr>
              <a:t> </a:t>
            </a:r>
          </a:p>
          <a:p>
            <a:pPr>
              <a:lnSpc>
                <a:spcPct val="110000"/>
              </a:lnSpc>
            </a:pPr>
            <a:r>
              <a:rPr lang="en-US" sz="1096" dirty="0" err="1">
                <a:solidFill>
                  <a:srgbClr val="D69E2E"/>
                </a:solidFill>
                <a:latin typeface="MiSans" pitchFamily="34" charset="0"/>
                <a:ea typeface="MiSans" pitchFamily="34" charset="-122"/>
                <a:cs typeface="MiSans" pitchFamily="34" charset="-120"/>
              </a:rPr>
              <a:t>log.retention.hours</a:t>
            </a:r>
            <a:r>
              <a:rPr lang="en-US" sz="1096" dirty="0">
                <a:solidFill>
                  <a:srgbClr val="718096"/>
                </a:solidFill>
                <a:latin typeface="MiSans" pitchFamily="34" charset="0"/>
                <a:ea typeface="MiSans" pitchFamily="34" charset="-122"/>
                <a:cs typeface="MiSans" pitchFamily="34" charset="-120"/>
              </a:rPr>
              <a:t>=168  # 保留7天</a:t>
            </a:r>
          </a:p>
          <a:p>
            <a:pPr>
              <a:lnSpc>
                <a:spcPct val="110000"/>
              </a:lnSpc>
            </a:pPr>
            <a:r>
              <a:rPr lang="en-US" sz="1096" dirty="0" err="1">
                <a:solidFill>
                  <a:srgbClr val="D69E2E"/>
                </a:solidFill>
                <a:latin typeface="MiSans" pitchFamily="34" charset="0"/>
                <a:ea typeface="MiSans" pitchFamily="34" charset="-122"/>
                <a:cs typeface="MiSans" pitchFamily="34" charset="-120"/>
              </a:rPr>
              <a:t>log.retention.check.interval.ms</a:t>
            </a:r>
            <a:r>
              <a:rPr lang="en-US" sz="1096" dirty="0">
                <a:solidFill>
                  <a:srgbClr val="718096"/>
                </a:solidFill>
                <a:latin typeface="MiSans" pitchFamily="34" charset="0"/>
                <a:ea typeface="MiSans" pitchFamily="34" charset="-122"/>
                <a:cs typeface="MiSans" pitchFamily="34" charset="-120"/>
              </a:rPr>
              <a:t>=300000 # </a:t>
            </a:r>
            <a:r>
              <a:rPr lang="en-US" sz="1096" dirty="0" err="1">
                <a:solidFill>
                  <a:srgbClr val="718096"/>
                </a:solidFill>
                <a:latin typeface="MiSans" pitchFamily="34" charset="0"/>
                <a:ea typeface="MiSans" pitchFamily="34" charset="-122"/>
                <a:cs typeface="MiSans" pitchFamily="34" charset="-120"/>
              </a:rPr>
              <a:t>基于大小的日志保留</a:t>
            </a:r>
            <a:endParaRPr lang="en-US" sz="1096" dirty="0">
              <a:solidFill>
                <a:srgbClr val="718096"/>
              </a:solidFill>
              <a:latin typeface="MiSans" pitchFamily="34" charset="0"/>
              <a:ea typeface="MiSans" pitchFamily="34" charset="-122"/>
              <a:cs typeface="MiSans" pitchFamily="34" charset="-120"/>
            </a:endParaRPr>
          </a:p>
          <a:p>
            <a:pPr>
              <a:lnSpc>
                <a:spcPct val="110000"/>
              </a:lnSpc>
            </a:pPr>
            <a:r>
              <a:rPr lang="en-US" sz="1096" dirty="0" err="1">
                <a:solidFill>
                  <a:srgbClr val="D69E2E"/>
                </a:solidFill>
                <a:latin typeface="MiSans" pitchFamily="34" charset="0"/>
                <a:ea typeface="MiSans" pitchFamily="34" charset="-122"/>
                <a:cs typeface="MiSans" pitchFamily="34" charset="-120"/>
              </a:rPr>
              <a:t>log.retention.bytes</a:t>
            </a:r>
            <a:r>
              <a:rPr lang="en-US" sz="1096" dirty="0">
                <a:solidFill>
                  <a:srgbClr val="718096"/>
                </a:solidFill>
                <a:latin typeface="MiSans" pitchFamily="34" charset="0"/>
                <a:ea typeface="MiSans" pitchFamily="34" charset="-122"/>
                <a:cs typeface="MiSans" pitchFamily="34" charset="-120"/>
              </a:rPr>
              <a:t>=-1 # 无大小限制</a:t>
            </a:r>
            <a:endParaRPr lang="en-US" sz="1600" dirty="0"/>
          </a:p>
        </p:txBody>
      </p:sp>
      <p:sp>
        <p:nvSpPr>
          <p:cNvPr id="9" name="Shape 7"/>
          <p:cNvSpPr/>
          <p:nvPr/>
        </p:nvSpPr>
        <p:spPr>
          <a:xfrm>
            <a:off x="719395" y="3713005"/>
            <a:ext cx="162444" cy="162444"/>
          </a:xfrm>
          <a:custGeom>
            <a:avLst/>
            <a:gdLst/>
            <a:ahLst/>
            <a:cxnLst/>
            <a:rect l="l" t="t" r="r" b="b"/>
            <a:pathLst>
              <a:path w="162444" h="162444">
                <a:moveTo>
                  <a:pt x="81222" y="162444"/>
                </a:moveTo>
                <a:cubicBezTo>
                  <a:pt x="126050" y="162444"/>
                  <a:pt x="162444" y="126050"/>
                  <a:pt x="162444" y="81222"/>
                </a:cubicBezTo>
                <a:cubicBezTo>
                  <a:pt x="162444" y="36394"/>
                  <a:pt x="126050" y="0"/>
                  <a:pt x="81222" y="0"/>
                </a:cubicBezTo>
                <a:cubicBezTo>
                  <a:pt x="36394" y="0"/>
                  <a:pt x="0" y="36394"/>
                  <a:pt x="0" y="81222"/>
                </a:cubicBezTo>
                <a:cubicBezTo>
                  <a:pt x="0" y="126050"/>
                  <a:pt x="36394" y="162444"/>
                  <a:pt x="81222" y="162444"/>
                </a:cubicBezTo>
                <a:close/>
                <a:moveTo>
                  <a:pt x="71069" y="50764"/>
                </a:moveTo>
                <a:cubicBezTo>
                  <a:pt x="71069" y="45160"/>
                  <a:pt x="75619" y="40611"/>
                  <a:pt x="81222" y="40611"/>
                </a:cubicBezTo>
                <a:cubicBezTo>
                  <a:pt x="86825" y="40611"/>
                  <a:pt x="91375" y="45160"/>
                  <a:pt x="91375" y="50764"/>
                </a:cubicBezTo>
                <a:cubicBezTo>
                  <a:pt x="91375" y="56367"/>
                  <a:pt x="86825" y="60916"/>
                  <a:pt x="81222" y="60916"/>
                </a:cubicBezTo>
                <a:cubicBezTo>
                  <a:pt x="75619" y="60916"/>
                  <a:pt x="71069" y="56367"/>
                  <a:pt x="71069" y="50764"/>
                </a:cubicBezTo>
                <a:close/>
                <a:moveTo>
                  <a:pt x="68531" y="71069"/>
                </a:moveTo>
                <a:lnTo>
                  <a:pt x="83760" y="71069"/>
                </a:lnTo>
                <a:cubicBezTo>
                  <a:pt x="87980" y="71069"/>
                  <a:pt x="91375" y="74464"/>
                  <a:pt x="91375" y="78684"/>
                </a:cubicBezTo>
                <a:lnTo>
                  <a:pt x="91375" y="106604"/>
                </a:lnTo>
                <a:lnTo>
                  <a:pt x="93913" y="106604"/>
                </a:lnTo>
                <a:cubicBezTo>
                  <a:pt x="98133" y="106604"/>
                  <a:pt x="101527" y="109999"/>
                  <a:pt x="101527" y="114218"/>
                </a:cubicBezTo>
                <a:cubicBezTo>
                  <a:pt x="101527" y="118438"/>
                  <a:pt x="98133" y="121833"/>
                  <a:pt x="93913" y="121833"/>
                </a:cubicBezTo>
                <a:lnTo>
                  <a:pt x="68531" y="121833"/>
                </a:lnTo>
                <a:cubicBezTo>
                  <a:pt x="64311" y="121833"/>
                  <a:pt x="60916" y="118438"/>
                  <a:pt x="60916" y="114218"/>
                </a:cubicBezTo>
                <a:cubicBezTo>
                  <a:pt x="60916" y="109999"/>
                  <a:pt x="64311" y="106604"/>
                  <a:pt x="68531" y="106604"/>
                </a:cubicBezTo>
                <a:lnTo>
                  <a:pt x="76146" y="106604"/>
                </a:lnTo>
                <a:lnTo>
                  <a:pt x="76146" y="86298"/>
                </a:lnTo>
                <a:lnTo>
                  <a:pt x="68531" y="86298"/>
                </a:lnTo>
                <a:cubicBezTo>
                  <a:pt x="64311" y="86298"/>
                  <a:pt x="60916" y="82904"/>
                  <a:pt x="60916" y="78684"/>
                </a:cubicBezTo>
                <a:cubicBezTo>
                  <a:pt x="60916" y="74464"/>
                  <a:pt x="64311" y="71069"/>
                  <a:pt x="68531" y="71069"/>
                </a:cubicBezTo>
                <a:close/>
              </a:path>
            </a:pathLst>
          </a:custGeom>
          <a:solidFill>
            <a:srgbClr val="718096"/>
          </a:solidFill>
          <a:ln/>
        </p:spPr>
        <p:txBody>
          <a:bodyPr/>
          <a:lstStyle/>
          <a:p>
            <a:endParaRPr lang="zh-CN" altLang="en-US"/>
          </a:p>
        </p:txBody>
      </p:sp>
      <p:sp>
        <p:nvSpPr>
          <p:cNvPr id="10" name="Text 8"/>
          <p:cNvSpPr/>
          <p:nvPr/>
        </p:nvSpPr>
        <p:spPr>
          <a:xfrm>
            <a:off x="992069" y="3666592"/>
            <a:ext cx="3248879" cy="232063"/>
          </a:xfrm>
          <a:prstGeom prst="rect">
            <a:avLst/>
          </a:prstGeom>
          <a:noFill/>
          <a:ln/>
        </p:spPr>
        <p:txBody>
          <a:bodyPr wrap="square" lIns="0" tIns="0" rIns="0" bIns="0" rtlCol="0" anchor="ctr"/>
          <a:lstStyle/>
          <a:p>
            <a:pPr>
              <a:lnSpc>
                <a:spcPct val="120000"/>
              </a:lnSpc>
            </a:pPr>
            <a:r>
              <a:rPr lang="en-US" sz="1279" b="1" dirty="0">
                <a:solidFill>
                  <a:srgbClr val="718096"/>
                </a:solidFill>
                <a:latin typeface="MiSans" pitchFamily="34" charset="0"/>
                <a:ea typeface="MiSans" pitchFamily="34" charset="-122"/>
                <a:cs typeface="MiSans" pitchFamily="34" charset="-120"/>
              </a:rPr>
              <a:t>工作原理:</a:t>
            </a:r>
            <a:r>
              <a:rPr lang="en-US" sz="1279" dirty="0">
                <a:solidFill>
                  <a:srgbClr val="E2E8F0">
                    <a:alpha val="80000"/>
                  </a:srgbClr>
                </a:solidFill>
                <a:latin typeface="MiSans" pitchFamily="34" charset="0"/>
                <a:ea typeface="MiSans" pitchFamily="34" charset="-122"/>
                <a:cs typeface="MiSans" pitchFamily="34" charset="-120"/>
              </a:rPr>
              <a:t> 根据时间和大小策略删除旧日志段</a:t>
            </a:r>
            <a:endParaRPr lang="en-US" sz="1600" dirty="0"/>
          </a:p>
        </p:txBody>
      </p:sp>
      <p:sp>
        <p:nvSpPr>
          <p:cNvPr id="11" name="Shape 9"/>
          <p:cNvSpPr/>
          <p:nvPr/>
        </p:nvSpPr>
        <p:spPr>
          <a:xfrm>
            <a:off x="729547" y="4037893"/>
            <a:ext cx="142138" cy="162444"/>
          </a:xfrm>
          <a:custGeom>
            <a:avLst/>
            <a:gdLst/>
            <a:ahLst/>
            <a:cxnLst/>
            <a:rect l="l" t="t" r="r" b="b"/>
            <a:pathLst>
              <a:path w="142138" h="162444">
                <a:moveTo>
                  <a:pt x="137950" y="22241"/>
                </a:moveTo>
                <a:cubicBezTo>
                  <a:pt x="142487" y="25541"/>
                  <a:pt x="143503" y="31886"/>
                  <a:pt x="140203" y="36423"/>
                </a:cubicBezTo>
                <a:lnTo>
                  <a:pt x="58981" y="148103"/>
                </a:lnTo>
                <a:cubicBezTo>
                  <a:pt x="57236" y="150514"/>
                  <a:pt x="54539" y="152006"/>
                  <a:pt x="51557" y="152259"/>
                </a:cubicBezTo>
                <a:cubicBezTo>
                  <a:pt x="48575" y="152513"/>
                  <a:pt x="45687" y="151403"/>
                  <a:pt x="43593" y="149309"/>
                </a:cubicBezTo>
                <a:lnTo>
                  <a:pt x="2982" y="108698"/>
                </a:lnTo>
                <a:cubicBezTo>
                  <a:pt x="-984" y="104732"/>
                  <a:pt x="-984" y="98291"/>
                  <a:pt x="2982" y="94325"/>
                </a:cubicBezTo>
                <a:cubicBezTo>
                  <a:pt x="6948" y="90359"/>
                  <a:pt x="13389" y="90359"/>
                  <a:pt x="17355" y="94325"/>
                </a:cubicBezTo>
                <a:lnTo>
                  <a:pt x="49558" y="126529"/>
                </a:lnTo>
                <a:lnTo>
                  <a:pt x="123800" y="24462"/>
                </a:lnTo>
                <a:cubicBezTo>
                  <a:pt x="127100" y="19925"/>
                  <a:pt x="133445" y="18909"/>
                  <a:pt x="137982" y="22209"/>
                </a:cubicBezTo>
                <a:close/>
              </a:path>
            </a:pathLst>
          </a:custGeom>
          <a:solidFill>
            <a:srgbClr val="718096"/>
          </a:solidFill>
          <a:ln/>
        </p:spPr>
        <p:txBody>
          <a:bodyPr/>
          <a:lstStyle/>
          <a:p>
            <a:endParaRPr lang="zh-CN" altLang="en-US"/>
          </a:p>
        </p:txBody>
      </p:sp>
      <p:sp>
        <p:nvSpPr>
          <p:cNvPr id="12" name="Text 10"/>
          <p:cNvSpPr/>
          <p:nvPr/>
        </p:nvSpPr>
        <p:spPr>
          <a:xfrm>
            <a:off x="992069" y="3991480"/>
            <a:ext cx="2599103" cy="232063"/>
          </a:xfrm>
          <a:prstGeom prst="rect">
            <a:avLst/>
          </a:prstGeom>
          <a:noFill/>
          <a:ln/>
        </p:spPr>
        <p:txBody>
          <a:bodyPr wrap="square" lIns="0" tIns="0" rIns="0" bIns="0" rtlCol="0" anchor="ctr"/>
          <a:lstStyle/>
          <a:p>
            <a:pPr>
              <a:lnSpc>
                <a:spcPct val="120000"/>
              </a:lnSpc>
            </a:pPr>
            <a:r>
              <a:rPr lang="en-US" sz="1279" b="1" dirty="0">
                <a:solidFill>
                  <a:srgbClr val="718096"/>
                </a:solidFill>
                <a:latin typeface="MiSans" pitchFamily="34" charset="0"/>
                <a:ea typeface="MiSans" pitchFamily="34" charset="-122"/>
                <a:cs typeface="MiSans" pitchFamily="34" charset="-120"/>
              </a:rPr>
              <a:t>适用场景:</a:t>
            </a:r>
            <a:r>
              <a:rPr lang="en-US" sz="1279" dirty="0">
                <a:solidFill>
                  <a:srgbClr val="E2E8F0">
                    <a:alpha val="80000"/>
                  </a:srgbClr>
                </a:solidFill>
                <a:latin typeface="MiSans" pitchFamily="34" charset="0"/>
                <a:ea typeface="MiSans" pitchFamily="34" charset="-122"/>
                <a:cs typeface="MiSans" pitchFamily="34" charset="-120"/>
              </a:rPr>
              <a:t> 日志收集、时间序列数据</a:t>
            </a:r>
            <a:endParaRPr lang="en-US" sz="1600" dirty="0"/>
          </a:p>
        </p:txBody>
      </p:sp>
      <p:sp>
        <p:nvSpPr>
          <p:cNvPr id="13" name="Shape 11"/>
          <p:cNvSpPr/>
          <p:nvPr/>
        </p:nvSpPr>
        <p:spPr>
          <a:xfrm>
            <a:off x="487332" y="4548431"/>
            <a:ext cx="7495629" cy="2552691"/>
          </a:xfrm>
          <a:custGeom>
            <a:avLst/>
            <a:gdLst/>
            <a:ahLst/>
            <a:cxnLst/>
            <a:rect l="l" t="t" r="r" b="b"/>
            <a:pathLst>
              <a:path w="7495629" h="2552691">
                <a:moveTo>
                  <a:pt x="46413" y="0"/>
                </a:moveTo>
                <a:lnTo>
                  <a:pt x="7402813" y="0"/>
                </a:lnTo>
                <a:cubicBezTo>
                  <a:pt x="7454074" y="0"/>
                  <a:pt x="7495629" y="41555"/>
                  <a:pt x="7495629" y="92816"/>
                </a:cubicBezTo>
                <a:lnTo>
                  <a:pt x="7495629" y="2459875"/>
                </a:lnTo>
                <a:cubicBezTo>
                  <a:pt x="7495629" y="2511136"/>
                  <a:pt x="7454074" y="2552691"/>
                  <a:pt x="7402813" y="2552691"/>
                </a:cubicBezTo>
                <a:lnTo>
                  <a:pt x="46413" y="2552691"/>
                </a:lnTo>
                <a:cubicBezTo>
                  <a:pt x="20780" y="2552691"/>
                  <a:pt x="0" y="2531911"/>
                  <a:pt x="0" y="2506278"/>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14" name="Shape 12"/>
          <p:cNvSpPr/>
          <p:nvPr/>
        </p:nvSpPr>
        <p:spPr>
          <a:xfrm>
            <a:off x="487332" y="4548431"/>
            <a:ext cx="46413" cy="2552691"/>
          </a:xfrm>
          <a:custGeom>
            <a:avLst/>
            <a:gdLst/>
            <a:ahLst/>
            <a:cxnLst/>
            <a:rect l="l" t="t" r="r" b="b"/>
            <a:pathLst>
              <a:path w="46413" h="2552691">
                <a:moveTo>
                  <a:pt x="46413" y="0"/>
                </a:moveTo>
                <a:lnTo>
                  <a:pt x="46413" y="0"/>
                </a:lnTo>
                <a:lnTo>
                  <a:pt x="46413" y="2552691"/>
                </a:lnTo>
                <a:lnTo>
                  <a:pt x="46413" y="2552691"/>
                </a:lnTo>
                <a:cubicBezTo>
                  <a:pt x="20780" y="2552691"/>
                  <a:pt x="0" y="2531911"/>
                  <a:pt x="0" y="2506278"/>
                </a:cubicBezTo>
                <a:lnTo>
                  <a:pt x="0" y="46413"/>
                </a:lnTo>
                <a:cubicBezTo>
                  <a:pt x="0" y="20797"/>
                  <a:pt x="20797" y="0"/>
                  <a:pt x="46413" y="0"/>
                </a:cubicBezTo>
                <a:close/>
              </a:path>
            </a:pathLst>
          </a:custGeom>
          <a:solidFill>
            <a:srgbClr val="D69E2E"/>
          </a:solidFill>
          <a:ln/>
        </p:spPr>
        <p:txBody>
          <a:bodyPr/>
          <a:lstStyle/>
          <a:p>
            <a:endParaRPr lang="zh-CN" altLang="en-US"/>
          </a:p>
        </p:txBody>
      </p:sp>
      <p:sp>
        <p:nvSpPr>
          <p:cNvPr id="15" name="Text 13"/>
          <p:cNvSpPr/>
          <p:nvPr/>
        </p:nvSpPr>
        <p:spPr>
          <a:xfrm>
            <a:off x="696188" y="4734081"/>
            <a:ext cx="7217153" cy="324888"/>
          </a:xfrm>
          <a:prstGeom prst="rect">
            <a:avLst/>
          </a:prstGeom>
          <a:noFill/>
          <a:ln/>
        </p:spPr>
        <p:txBody>
          <a:bodyPr wrap="square" lIns="0" tIns="0" rIns="0" bIns="0" rtlCol="0" anchor="ctr"/>
          <a:lstStyle/>
          <a:p>
            <a:pPr>
              <a:lnSpc>
                <a:spcPct val="120000"/>
              </a:lnSpc>
            </a:pPr>
            <a:r>
              <a:rPr lang="en-US" sz="1827" b="1" dirty="0">
                <a:solidFill>
                  <a:srgbClr val="D69E2E"/>
                </a:solidFill>
                <a:latin typeface="MiSans" pitchFamily="34" charset="0"/>
                <a:ea typeface="MiSans" pitchFamily="34" charset="-122"/>
                <a:cs typeface="MiSans" pitchFamily="34" charset="-120"/>
              </a:rPr>
              <a:t>基于日志压缩的清理 (Compact)</a:t>
            </a:r>
            <a:endParaRPr lang="en-US" sz="1600" dirty="0"/>
          </a:p>
        </p:txBody>
      </p:sp>
      <p:sp>
        <p:nvSpPr>
          <p:cNvPr id="16" name="Shape 14"/>
          <p:cNvSpPr/>
          <p:nvPr/>
        </p:nvSpPr>
        <p:spPr>
          <a:xfrm>
            <a:off x="696188" y="5198207"/>
            <a:ext cx="7101122" cy="1021076"/>
          </a:xfrm>
          <a:custGeom>
            <a:avLst/>
            <a:gdLst/>
            <a:ahLst/>
            <a:cxnLst/>
            <a:rect l="l" t="t" r="r" b="b"/>
            <a:pathLst>
              <a:path w="7101122" h="1021076">
                <a:moveTo>
                  <a:pt x="46408" y="0"/>
                </a:moveTo>
                <a:lnTo>
                  <a:pt x="7054714" y="0"/>
                </a:lnTo>
                <a:cubicBezTo>
                  <a:pt x="7080345" y="0"/>
                  <a:pt x="7101122" y="20778"/>
                  <a:pt x="7101122" y="46408"/>
                </a:cubicBezTo>
                <a:lnTo>
                  <a:pt x="7101122" y="974668"/>
                </a:lnTo>
                <a:cubicBezTo>
                  <a:pt x="7101122" y="1000299"/>
                  <a:pt x="7080345" y="1021076"/>
                  <a:pt x="7054714" y="1021076"/>
                </a:cubicBezTo>
                <a:lnTo>
                  <a:pt x="46408" y="1021076"/>
                </a:lnTo>
                <a:cubicBezTo>
                  <a:pt x="20778" y="1021076"/>
                  <a:pt x="0" y="1000299"/>
                  <a:pt x="0" y="974668"/>
                </a:cubicBezTo>
                <a:lnTo>
                  <a:pt x="0" y="46408"/>
                </a:lnTo>
                <a:cubicBezTo>
                  <a:pt x="0" y="20795"/>
                  <a:pt x="20795" y="0"/>
                  <a:pt x="46408" y="0"/>
                </a:cubicBezTo>
                <a:close/>
              </a:path>
            </a:pathLst>
          </a:custGeom>
          <a:solidFill>
            <a:srgbClr val="1A1D21">
              <a:alpha val="60000"/>
            </a:srgbClr>
          </a:solidFill>
          <a:ln/>
        </p:spPr>
        <p:txBody>
          <a:bodyPr/>
          <a:lstStyle/>
          <a:p>
            <a:endParaRPr lang="zh-CN" altLang="en-US"/>
          </a:p>
        </p:txBody>
      </p:sp>
      <p:sp>
        <p:nvSpPr>
          <p:cNvPr id="17" name="Text 15"/>
          <p:cNvSpPr/>
          <p:nvPr/>
        </p:nvSpPr>
        <p:spPr>
          <a:xfrm>
            <a:off x="835426" y="5337445"/>
            <a:ext cx="6892266" cy="742601"/>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 日志压缩配置 </a:t>
            </a:r>
            <a:r>
              <a:rPr lang="en-US" sz="1096" dirty="0">
                <a:solidFill>
                  <a:srgbClr val="D69E2E"/>
                </a:solidFill>
                <a:latin typeface="MiSans" pitchFamily="34" charset="0"/>
                <a:ea typeface="MiSans" pitchFamily="34" charset="-122"/>
                <a:cs typeface="MiSans" pitchFamily="34" charset="-120"/>
              </a:rPr>
              <a:t>log.cleanup.policy</a:t>
            </a:r>
            <a:r>
              <a:rPr lang="en-US" sz="1096" dirty="0">
                <a:solidFill>
                  <a:srgbClr val="718096"/>
                </a:solidFill>
                <a:latin typeface="MiSans" pitchFamily="34" charset="0"/>
                <a:ea typeface="MiSans" pitchFamily="34" charset="-122"/>
                <a:cs typeface="MiSans" pitchFamily="34" charset="-120"/>
              </a:rPr>
              <a:t>=compact </a:t>
            </a:r>
            <a:r>
              <a:rPr lang="en-US" sz="1096" dirty="0">
                <a:solidFill>
                  <a:srgbClr val="D69E2E"/>
                </a:solidFill>
                <a:latin typeface="MiSans" pitchFamily="34" charset="0"/>
                <a:ea typeface="MiSans" pitchFamily="34" charset="-122"/>
                <a:cs typeface="MiSans" pitchFamily="34" charset="-120"/>
              </a:rPr>
              <a:t>log.cleaner.threads</a:t>
            </a:r>
            <a:r>
              <a:rPr lang="en-US" sz="1096" dirty="0">
                <a:solidFill>
                  <a:srgbClr val="718096"/>
                </a:solidFill>
                <a:latin typeface="MiSans" pitchFamily="34" charset="0"/>
                <a:ea typeface="MiSans" pitchFamily="34" charset="-122"/>
                <a:cs typeface="MiSans" pitchFamily="34" charset="-120"/>
              </a:rPr>
              <a:t>=1 </a:t>
            </a:r>
            <a:r>
              <a:rPr lang="en-US" sz="1096" dirty="0">
                <a:solidFill>
                  <a:srgbClr val="D69E2E"/>
                </a:solidFill>
                <a:latin typeface="MiSans" pitchFamily="34" charset="0"/>
                <a:ea typeface="MiSans" pitchFamily="34" charset="-122"/>
                <a:cs typeface="MiSans" pitchFamily="34" charset="-120"/>
              </a:rPr>
              <a:t>log.cleaner.min.cleanable.ratio</a:t>
            </a:r>
            <a:r>
              <a:rPr lang="en-US" sz="1096" dirty="0">
                <a:solidFill>
                  <a:srgbClr val="718096"/>
                </a:solidFill>
                <a:latin typeface="MiSans" pitchFamily="34" charset="0"/>
                <a:ea typeface="MiSans" pitchFamily="34" charset="-122"/>
                <a:cs typeface="MiSans" pitchFamily="34" charset="-120"/>
              </a:rPr>
              <a:t>=0.5</a:t>
            </a:r>
            <a:endParaRPr lang="en-US" sz="1600" dirty="0"/>
          </a:p>
        </p:txBody>
      </p:sp>
      <p:sp>
        <p:nvSpPr>
          <p:cNvPr id="18" name="Shape 16"/>
          <p:cNvSpPr/>
          <p:nvPr/>
        </p:nvSpPr>
        <p:spPr>
          <a:xfrm>
            <a:off x="719395" y="6404934"/>
            <a:ext cx="162444" cy="162444"/>
          </a:xfrm>
          <a:custGeom>
            <a:avLst/>
            <a:gdLst/>
            <a:ahLst/>
            <a:cxnLst/>
            <a:rect l="l" t="t" r="r" b="b"/>
            <a:pathLst>
              <a:path w="162444" h="162444">
                <a:moveTo>
                  <a:pt x="81222" y="162444"/>
                </a:moveTo>
                <a:cubicBezTo>
                  <a:pt x="126050" y="162444"/>
                  <a:pt x="162444" y="126050"/>
                  <a:pt x="162444" y="81222"/>
                </a:cubicBezTo>
                <a:cubicBezTo>
                  <a:pt x="162444" y="36394"/>
                  <a:pt x="126050" y="0"/>
                  <a:pt x="81222" y="0"/>
                </a:cubicBezTo>
                <a:cubicBezTo>
                  <a:pt x="36394" y="0"/>
                  <a:pt x="0" y="36394"/>
                  <a:pt x="0" y="81222"/>
                </a:cubicBezTo>
                <a:cubicBezTo>
                  <a:pt x="0" y="126050"/>
                  <a:pt x="36394" y="162444"/>
                  <a:pt x="81222" y="162444"/>
                </a:cubicBezTo>
                <a:close/>
                <a:moveTo>
                  <a:pt x="71069" y="50764"/>
                </a:moveTo>
                <a:cubicBezTo>
                  <a:pt x="71069" y="45160"/>
                  <a:pt x="75619" y="40611"/>
                  <a:pt x="81222" y="40611"/>
                </a:cubicBezTo>
                <a:cubicBezTo>
                  <a:pt x="86825" y="40611"/>
                  <a:pt x="91375" y="45160"/>
                  <a:pt x="91375" y="50764"/>
                </a:cubicBezTo>
                <a:cubicBezTo>
                  <a:pt x="91375" y="56367"/>
                  <a:pt x="86825" y="60916"/>
                  <a:pt x="81222" y="60916"/>
                </a:cubicBezTo>
                <a:cubicBezTo>
                  <a:pt x="75619" y="60916"/>
                  <a:pt x="71069" y="56367"/>
                  <a:pt x="71069" y="50764"/>
                </a:cubicBezTo>
                <a:close/>
                <a:moveTo>
                  <a:pt x="68531" y="71069"/>
                </a:moveTo>
                <a:lnTo>
                  <a:pt x="83760" y="71069"/>
                </a:lnTo>
                <a:cubicBezTo>
                  <a:pt x="87980" y="71069"/>
                  <a:pt x="91375" y="74464"/>
                  <a:pt x="91375" y="78684"/>
                </a:cubicBezTo>
                <a:lnTo>
                  <a:pt x="91375" y="106604"/>
                </a:lnTo>
                <a:lnTo>
                  <a:pt x="93913" y="106604"/>
                </a:lnTo>
                <a:cubicBezTo>
                  <a:pt x="98133" y="106604"/>
                  <a:pt x="101527" y="109999"/>
                  <a:pt x="101527" y="114218"/>
                </a:cubicBezTo>
                <a:cubicBezTo>
                  <a:pt x="101527" y="118438"/>
                  <a:pt x="98133" y="121833"/>
                  <a:pt x="93913" y="121833"/>
                </a:cubicBezTo>
                <a:lnTo>
                  <a:pt x="68531" y="121833"/>
                </a:lnTo>
                <a:cubicBezTo>
                  <a:pt x="64311" y="121833"/>
                  <a:pt x="60916" y="118438"/>
                  <a:pt x="60916" y="114218"/>
                </a:cubicBezTo>
                <a:cubicBezTo>
                  <a:pt x="60916" y="109999"/>
                  <a:pt x="64311" y="106604"/>
                  <a:pt x="68531" y="106604"/>
                </a:cubicBezTo>
                <a:lnTo>
                  <a:pt x="76146" y="106604"/>
                </a:lnTo>
                <a:lnTo>
                  <a:pt x="76146" y="86298"/>
                </a:lnTo>
                <a:lnTo>
                  <a:pt x="68531" y="86298"/>
                </a:lnTo>
                <a:cubicBezTo>
                  <a:pt x="64311" y="86298"/>
                  <a:pt x="60916" y="82904"/>
                  <a:pt x="60916" y="78684"/>
                </a:cubicBezTo>
                <a:cubicBezTo>
                  <a:pt x="60916" y="74464"/>
                  <a:pt x="64311" y="71069"/>
                  <a:pt x="68531" y="71069"/>
                </a:cubicBezTo>
                <a:close/>
              </a:path>
            </a:pathLst>
          </a:custGeom>
          <a:solidFill>
            <a:srgbClr val="D69E2E"/>
          </a:solidFill>
          <a:ln/>
        </p:spPr>
        <p:txBody>
          <a:bodyPr/>
          <a:lstStyle/>
          <a:p>
            <a:endParaRPr lang="zh-CN" altLang="en-US"/>
          </a:p>
        </p:txBody>
      </p:sp>
      <p:sp>
        <p:nvSpPr>
          <p:cNvPr id="19" name="Text 17"/>
          <p:cNvSpPr/>
          <p:nvPr/>
        </p:nvSpPr>
        <p:spPr>
          <a:xfrm>
            <a:off x="992069" y="6358521"/>
            <a:ext cx="3434530" cy="232063"/>
          </a:xfrm>
          <a:prstGeom prst="rect">
            <a:avLst/>
          </a:prstGeom>
          <a:noFill/>
          <a:ln/>
        </p:spPr>
        <p:txBody>
          <a:bodyPr wrap="square" lIns="0" tIns="0" rIns="0" bIns="0" rtlCol="0" anchor="ctr"/>
          <a:lstStyle/>
          <a:p>
            <a:pPr>
              <a:lnSpc>
                <a:spcPct val="120000"/>
              </a:lnSpc>
            </a:pPr>
            <a:r>
              <a:rPr lang="en-US" sz="1279" b="1" dirty="0">
                <a:solidFill>
                  <a:srgbClr val="D69E2E"/>
                </a:solidFill>
                <a:latin typeface="MiSans" pitchFamily="34" charset="0"/>
                <a:ea typeface="MiSans" pitchFamily="34" charset="-122"/>
                <a:cs typeface="MiSans" pitchFamily="34" charset="-120"/>
              </a:rPr>
              <a:t>工作原理:</a:t>
            </a:r>
            <a:r>
              <a:rPr lang="en-US" sz="1279" dirty="0">
                <a:solidFill>
                  <a:srgbClr val="E2E8F0">
                    <a:alpha val="80000"/>
                  </a:srgbClr>
                </a:solidFill>
                <a:latin typeface="MiSans" pitchFamily="34" charset="0"/>
                <a:ea typeface="MiSans" pitchFamily="34" charset="-122"/>
                <a:cs typeface="MiSans" pitchFamily="34" charset="-120"/>
              </a:rPr>
              <a:t> 保留每个 key 的最新值，删除旧版本</a:t>
            </a:r>
            <a:endParaRPr lang="en-US" sz="1600" dirty="0"/>
          </a:p>
        </p:txBody>
      </p:sp>
      <p:sp>
        <p:nvSpPr>
          <p:cNvPr id="20" name="Shape 18"/>
          <p:cNvSpPr/>
          <p:nvPr/>
        </p:nvSpPr>
        <p:spPr>
          <a:xfrm>
            <a:off x="729547" y="6729822"/>
            <a:ext cx="142138" cy="162444"/>
          </a:xfrm>
          <a:custGeom>
            <a:avLst/>
            <a:gdLst/>
            <a:ahLst/>
            <a:cxnLst/>
            <a:rect l="l" t="t" r="r" b="b"/>
            <a:pathLst>
              <a:path w="142138" h="162444">
                <a:moveTo>
                  <a:pt x="137950" y="22241"/>
                </a:moveTo>
                <a:cubicBezTo>
                  <a:pt x="142487" y="25541"/>
                  <a:pt x="143503" y="31886"/>
                  <a:pt x="140203" y="36423"/>
                </a:cubicBezTo>
                <a:lnTo>
                  <a:pt x="58981" y="148103"/>
                </a:lnTo>
                <a:cubicBezTo>
                  <a:pt x="57236" y="150514"/>
                  <a:pt x="54539" y="152006"/>
                  <a:pt x="51557" y="152259"/>
                </a:cubicBezTo>
                <a:cubicBezTo>
                  <a:pt x="48575" y="152513"/>
                  <a:pt x="45687" y="151403"/>
                  <a:pt x="43593" y="149309"/>
                </a:cubicBezTo>
                <a:lnTo>
                  <a:pt x="2982" y="108698"/>
                </a:lnTo>
                <a:cubicBezTo>
                  <a:pt x="-984" y="104732"/>
                  <a:pt x="-984" y="98291"/>
                  <a:pt x="2982" y="94325"/>
                </a:cubicBezTo>
                <a:cubicBezTo>
                  <a:pt x="6948" y="90359"/>
                  <a:pt x="13389" y="90359"/>
                  <a:pt x="17355" y="94325"/>
                </a:cubicBezTo>
                <a:lnTo>
                  <a:pt x="49558" y="126529"/>
                </a:lnTo>
                <a:lnTo>
                  <a:pt x="123800" y="24462"/>
                </a:lnTo>
                <a:cubicBezTo>
                  <a:pt x="127100" y="19925"/>
                  <a:pt x="133445" y="18909"/>
                  <a:pt x="137982" y="22209"/>
                </a:cubicBezTo>
                <a:close/>
              </a:path>
            </a:pathLst>
          </a:custGeom>
          <a:solidFill>
            <a:srgbClr val="D69E2E"/>
          </a:solidFill>
          <a:ln/>
        </p:spPr>
        <p:txBody>
          <a:bodyPr/>
          <a:lstStyle/>
          <a:p>
            <a:endParaRPr lang="zh-CN" altLang="en-US"/>
          </a:p>
        </p:txBody>
      </p:sp>
      <p:sp>
        <p:nvSpPr>
          <p:cNvPr id="21" name="Text 19"/>
          <p:cNvSpPr/>
          <p:nvPr/>
        </p:nvSpPr>
        <p:spPr>
          <a:xfrm>
            <a:off x="992069" y="6683409"/>
            <a:ext cx="2274216" cy="232063"/>
          </a:xfrm>
          <a:prstGeom prst="rect">
            <a:avLst/>
          </a:prstGeom>
          <a:noFill/>
          <a:ln/>
        </p:spPr>
        <p:txBody>
          <a:bodyPr wrap="square" lIns="0" tIns="0" rIns="0" bIns="0" rtlCol="0" anchor="ctr"/>
          <a:lstStyle/>
          <a:p>
            <a:pPr>
              <a:lnSpc>
                <a:spcPct val="120000"/>
              </a:lnSpc>
            </a:pPr>
            <a:r>
              <a:rPr lang="en-US" sz="1279" b="1" dirty="0">
                <a:solidFill>
                  <a:srgbClr val="D69E2E"/>
                </a:solidFill>
                <a:latin typeface="MiSans" pitchFamily="34" charset="0"/>
                <a:ea typeface="MiSans" pitchFamily="34" charset="-122"/>
                <a:cs typeface="MiSans" pitchFamily="34" charset="-120"/>
              </a:rPr>
              <a:t>适用场景:</a:t>
            </a:r>
            <a:r>
              <a:rPr lang="en-US" sz="1279" dirty="0">
                <a:solidFill>
                  <a:srgbClr val="E2E8F0">
                    <a:alpha val="80000"/>
                  </a:srgbClr>
                </a:solidFill>
                <a:latin typeface="MiSans" pitchFamily="34" charset="0"/>
                <a:ea typeface="MiSans" pitchFamily="34" charset="-122"/>
                <a:cs typeface="MiSans" pitchFamily="34" charset="-120"/>
              </a:rPr>
              <a:t> 配置管理、状态同步</a:t>
            </a:r>
            <a:endParaRPr lang="en-US" sz="1600" dirty="0"/>
          </a:p>
        </p:txBody>
      </p:sp>
      <p:sp>
        <p:nvSpPr>
          <p:cNvPr id="22" name="Shape 20"/>
          <p:cNvSpPr/>
          <p:nvPr/>
        </p:nvSpPr>
        <p:spPr>
          <a:xfrm>
            <a:off x="8289719" y="1485202"/>
            <a:ext cx="7495629" cy="4641256"/>
          </a:xfrm>
          <a:custGeom>
            <a:avLst/>
            <a:gdLst/>
            <a:ahLst/>
            <a:cxnLst/>
            <a:rect l="l" t="t" r="r" b="b"/>
            <a:pathLst>
              <a:path w="7495629" h="4641256">
                <a:moveTo>
                  <a:pt x="46413" y="0"/>
                </a:moveTo>
                <a:lnTo>
                  <a:pt x="7402804" y="0"/>
                </a:lnTo>
                <a:cubicBezTo>
                  <a:pt x="7454070" y="0"/>
                  <a:pt x="7495629" y="41559"/>
                  <a:pt x="7495629" y="92825"/>
                </a:cubicBezTo>
                <a:lnTo>
                  <a:pt x="7495629" y="4548431"/>
                </a:lnTo>
                <a:cubicBezTo>
                  <a:pt x="7495629" y="4599697"/>
                  <a:pt x="7454070" y="4641256"/>
                  <a:pt x="7402804" y="4641256"/>
                </a:cubicBezTo>
                <a:lnTo>
                  <a:pt x="46413" y="4641256"/>
                </a:lnTo>
                <a:cubicBezTo>
                  <a:pt x="20780" y="4641256"/>
                  <a:pt x="0" y="4620477"/>
                  <a:pt x="0" y="4594844"/>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23" name="Shape 21"/>
          <p:cNvSpPr/>
          <p:nvPr/>
        </p:nvSpPr>
        <p:spPr>
          <a:xfrm>
            <a:off x="8289719" y="1485202"/>
            <a:ext cx="46413" cy="4641256"/>
          </a:xfrm>
          <a:custGeom>
            <a:avLst/>
            <a:gdLst/>
            <a:ahLst/>
            <a:cxnLst/>
            <a:rect l="l" t="t" r="r" b="b"/>
            <a:pathLst>
              <a:path w="46413" h="4641256">
                <a:moveTo>
                  <a:pt x="46413" y="0"/>
                </a:moveTo>
                <a:lnTo>
                  <a:pt x="46413" y="0"/>
                </a:lnTo>
                <a:lnTo>
                  <a:pt x="46413" y="4641256"/>
                </a:lnTo>
                <a:lnTo>
                  <a:pt x="46413" y="4641256"/>
                </a:lnTo>
                <a:cubicBezTo>
                  <a:pt x="20780" y="4641256"/>
                  <a:pt x="0" y="4620477"/>
                  <a:pt x="0" y="4594844"/>
                </a:cubicBezTo>
                <a:lnTo>
                  <a:pt x="0" y="46413"/>
                </a:lnTo>
                <a:cubicBezTo>
                  <a:pt x="0" y="20797"/>
                  <a:pt x="20797" y="0"/>
                  <a:pt x="46413" y="0"/>
                </a:cubicBezTo>
                <a:close/>
              </a:path>
            </a:pathLst>
          </a:custGeom>
          <a:solidFill>
            <a:srgbClr val="D69E2E"/>
          </a:solidFill>
          <a:ln/>
        </p:spPr>
        <p:txBody>
          <a:bodyPr/>
          <a:lstStyle/>
          <a:p>
            <a:endParaRPr lang="zh-CN" altLang="en-US"/>
          </a:p>
        </p:txBody>
      </p:sp>
      <p:sp>
        <p:nvSpPr>
          <p:cNvPr id="24" name="Text 22"/>
          <p:cNvSpPr/>
          <p:nvPr/>
        </p:nvSpPr>
        <p:spPr>
          <a:xfrm>
            <a:off x="8498575" y="1670852"/>
            <a:ext cx="7217153" cy="324888"/>
          </a:xfrm>
          <a:prstGeom prst="rect">
            <a:avLst/>
          </a:prstGeom>
          <a:noFill/>
          <a:ln/>
        </p:spPr>
        <p:txBody>
          <a:bodyPr wrap="square" lIns="0" tIns="0" rIns="0" bIns="0" rtlCol="0" anchor="ctr"/>
          <a:lstStyle/>
          <a:p>
            <a:pPr>
              <a:lnSpc>
                <a:spcPct val="120000"/>
              </a:lnSpc>
            </a:pPr>
            <a:r>
              <a:rPr lang="en-US" sz="1827" b="1" dirty="0">
                <a:solidFill>
                  <a:srgbClr val="D69E2E"/>
                </a:solidFill>
                <a:latin typeface="MiSans" pitchFamily="34" charset="0"/>
                <a:ea typeface="MiSans" pitchFamily="34" charset="-122"/>
                <a:cs typeface="MiSans" pitchFamily="34" charset="-120"/>
              </a:rPr>
              <a:t>LogCleaner 工作原理</a:t>
            </a:r>
            <a:endParaRPr lang="en-US" sz="1600" dirty="0"/>
          </a:p>
        </p:txBody>
      </p:sp>
      <p:sp>
        <p:nvSpPr>
          <p:cNvPr id="25" name="Shape 23"/>
          <p:cNvSpPr/>
          <p:nvPr/>
        </p:nvSpPr>
        <p:spPr>
          <a:xfrm>
            <a:off x="8498575" y="2134978"/>
            <a:ext cx="7101122" cy="3805830"/>
          </a:xfrm>
          <a:custGeom>
            <a:avLst/>
            <a:gdLst/>
            <a:ahLst/>
            <a:cxnLst/>
            <a:rect l="l" t="t" r="r" b="b"/>
            <a:pathLst>
              <a:path w="7101122" h="3805830">
                <a:moveTo>
                  <a:pt x="46431" y="0"/>
                </a:moveTo>
                <a:lnTo>
                  <a:pt x="7054691" y="0"/>
                </a:lnTo>
                <a:cubicBezTo>
                  <a:pt x="7080334" y="0"/>
                  <a:pt x="7101122" y="20788"/>
                  <a:pt x="7101122" y="46431"/>
                </a:cubicBezTo>
                <a:lnTo>
                  <a:pt x="7101122" y="3759399"/>
                </a:lnTo>
                <a:cubicBezTo>
                  <a:pt x="7101122" y="3785042"/>
                  <a:pt x="7080334" y="3805830"/>
                  <a:pt x="7054691" y="3805830"/>
                </a:cubicBezTo>
                <a:lnTo>
                  <a:pt x="46431" y="3805830"/>
                </a:lnTo>
                <a:cubicBezTo>
                  <a:pt x="20788" y="3805830"/>
                  <a:pt x="0" y="3785042"/>
                  <a:pt x="0" y="3759399"/>
                </a:cubicBezTo>
                <a:lnTo>
                  <a:pt x="0" y="46431"/>
                </a:lnTo>
                <a:cubicBezTo>
                  <a:pt x="0" y="20788"/>
                  <a:pt x="20788" y="0"/>
                  <a:pt x="46431" y="0"/>
                </a:cubicBezTo>
                <a:close/>
              </a:path>
            </a:pathLst>
          </a:custGeom>
          <a:solidFill>
            <a:srgbClr val="1A1D21">
              <a:alpha val="60000"/>
            </a:srgbClr>
          </a:solidFill>
          <a:ln/>
        </p:spPr>
        <p:txBody>
          <a:bodyPr/>
          <a:lstStyle/>
          <a:p>
            <a:endParaRPr lang="zh-CN" altLang="en-US"/>
          </a:p>
        </p:txBody>
      </p:sp>
      <p:sp>
        <p:nvSpPr>
          <p:cNvPr id="26" name="Text 24"/>
          <p:cNvSpPr/>
          <p:nvPr/>
        </p:nvSpPr>
        <p:spPr>
          <a:xfrm>
            <a:off x="8637813" y="2274216"/>
            <a:ext cx="6892266" cy="3527355"/>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a:t>
            </a:r>
            <a:r>
              <a:rPr lang="en-US" altLang="zh-CN" sz="1200" dirty="0" err="1">
                <a:solidFill>
                  <a:schemeClr val="bg1"/>
                </a:solidFill>
                <a:latin typeface="Calibri" panose="020F0502020204030204" pitchFamily="34" charset="0"/>
                <a:cs typeface="Calibri" panose="020F0502020204030204" pitchFamily="34" charset="0"/>
              </a:rPr>
              <a:t>LogCleaner</a:t>
            </a:r>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public void </a:t>
            </a:r>
            <a:r>
              <a:rPr lang="en-US" altLang="zh-CN" sz="1200" dirty="0" err="1">
                <a:solidFill>
                  <a:schemeClr val="bg1"/>
                </a:solidFill>
                <a:latin typeface="Calibri" panose="020F0502020204030204" pitchFamily="34" charset="0"/>
                <a:cs typeface="Calibri" panose="020F0502020204030204" pitchFamily="34" charset="0"/>
              </a:rPr>
              <a:t>cleanLog</a:t>
            </a:r>
            <a:r>
              <a:rPr lang="en-US" altLang="zh-CN" sz="1200" dirty="0">
                <a:solidFill>
                  <a:schemeClr val="bg1"/>
                </a:solidFill>
                <a:latin typeface="Calibri" panose="020F0502020204030204" pitchFamily="34" charset="0"/>
                <a:cs typeface="Calibri" panose="020F0502020204030204" pitchFamily="34" charset="0"/>
              </a:rPr>
              <a:t>(Log log)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1. </a:t>
            </a:r>
            <a:r>
              <a:rPr lang="zh-CN" altLang="en-US" sz="1200" i="1" dirty="0">
                <a:solidFill>
                  <a:srgbClr val="00B050"/>
                </a:solidFill>
                <a:latin typeface="Calibri" panose="020F0502020204030204" pitchFamily="34" charset="0"/>
                <a:cs typeface="Calibri" panose="020F0502020204030204" pitchFamily="34" charset="0"/>
              </a:rPr>
              <a:t>第一次遍历：构建每个 </a:t>
            </a:r>
            <a:r>
              <a:rPr lang="en-US" altLang="zh-CN" sz="1200" i="1" dirty="0">
                <a:solidFill>
                  <a:srgbClr val="00B050"/>
                </a:solidFill>
                <a:latin typeface="Calibri" panose="020F0502020204030204" pitchFamily="34" charset="0"/>
                <a:cs typeface="Calibri" panose="020F0502020204030204" pitchFamily="34" charset="0"/>
              </a:rPr>
              <a:t>key </a:t>
            </a:r>
            <a:r>
              <a:rPr lang="zh-CN" altLang="en-US" sz="1200" i="1" dirty="0">
                <a:solidFill>
                  <a:srgbClr val="00B050"/>
                </a:solidFill>
                <a:latin typeface="Calibri" panose="020F0502020204030204" pitchFamily="34" charset="0"/>
                <a:cs typeface="Calibri" panose="020F0502020204030204" pitchFamily="34" charset="0"/>
              </a:rPr>
              <a:t>的最新 </a:t>
            </a:r>
            <a:r>
              <a:rPr lang="en-US" altLang="zh-CN" sz="1200" i="1" dirty="0">
                <a:solidFill>
                  <a:srgbClr val="00B050"/>
                </a:solidFill>
                <a:latin typeface="Calibri" panose="020F0502020204030204" pitchFamily="34" charset="0"/>
                <a:cs typeface="Calibri" panose="020F0502020204030204" pitchFamily="34" charset="0"/>
              </a:rPr>
              <a:t>offset </a:t>
            </a:r>
            <a:r>
              <a:rPr lang="zh-CN" altLang="en-US" sz="1200" i="1" dirty="0">
                <a:solidFill>
                  <a:srgbClr val="00B050"/>
                </a:solidFill>
                <a:latin typeface="Calibri" panose="020F0502020204030204" pitchFamily="34" charset="0"/>
                <a:cs typeface="Calibri" panose="020F0502020204030204" pitchFamily="34" charset="0"/>
              </a:rPr>
              <a:t>映射</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Map&lt;Bytes, Long&gt; </a:t>
            </a:r>
            <a:r>
              <a:rPr lang="en-US" altLang="zh-CN" sz="1200" dirty="0" err="1">
                <a:solidFill>
                  <a:schemeClr val="bg1"/>
                </a:solidFill>
                <a:latin typeface="Calibri" panose="020F0502020204030204" pitchFamily="34" charset="0"/>
                <a:cs typeface="Calibri" panose="020F0502020204030204" pitchFamily="34" charset="0"/>
              </a:rPr>
              <a:t>offsetMap</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buildOffsetMap</a:t>
            </a:r>
            <a:r>
              <a:rPr lang="en-US" altLang="zh-CN" sz="1200" dirty="0">
                <a:solidFill>
                  <a:schemeClr val="bg1"/>
                </a:solidFill>
                <a:latin typeface="Calibri" panose="020F0502020204030204" pitchFamily="34" charset="0"/>
                <a:cs typeface="Calibri" panose="020F0502020204030204" pitchFamily="34" charset="0"/>
              </a:rPr>
              <a:t>(log);</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2. </a:t>
            </a:r>
            <a:r>
              <a:rPr lang="zh-CN" altLang="en-US" sz="1200" i="1" dirty="0">
                <a:solidFill>
                  <a:srgbClr val="00B050"/>
                </a:solidFill>
                <a:latin typeface="Calibri" panose="020F0502020204030204" pitchFamily="34" charset="0"/>
                <a:cs typeface="Calibri" panose="020F0502020204030204" pitchFamily="34" charset="0"/>
              </a:rPr>
              <a:t>创建新的 </a:t>
            </a:r>
            <a:r>
              <a:rPr lang="en-US" altLang="zh-CN" sz="1200" i="1" dirty="0">
                <a:solidFill>
                  <a:srgbClr val="00B050"/>
                </a:solidFill>
                <a:latin typeface="Calibri" panose="020F0502020204030204" pitchFamily="34" charset="0"/>
                <a:cs typeface="Calibri" panose="020F0502020204030204" pitchFamily="34" charset="0"/>
              </a:rPr>
              <a:t>clean segment</a:t>
            </a:r>
            <a:endParaRPr lang="en-US" altLang="zh-CN" sz="1200" dirty="0">
              <a:solidFill>
                <a:srgbClr val="00B050"/>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LogSegment</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cleanSegment</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createCleanSegment</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3. </a:t>
            </a:r>
            <a:r>
              <a:rPr lang="zh-CN" altLang="en-US" sz="1200" i="1" dirty="0">
                <a:solidFill>
                  <a:srgbClr val="00B050"/>
                </a:solidFill>
                <a:latin typeface="Calibri" panose="020F0502020204030204" pitchFamily="34" charset="0"/>
                <a:cs typeface="Calibri" panose="020F0502020204030204" pitchFamily="34" charset="0"/>
              </a:rPr>
              <a:t>第二次遍历：只保留每个 </a:t>
            </a:r>
            <a:r>
              <a:rPr lang="en-US" altLang="zh-CN" sz="1200" i="1" dirty="0">
                <a:solidFill>
                  <a:srgbClr val="00B050"/>
                </a:solidFill>
                <a:latin typeface="Calibri" panose="020F0502020204030204" pitchFamily="34" charset="0"/>
                <a:cs typeface="Calibri" panose="020F0502020204030204" pitchFamily="34" charset="0"/>
              </a:rPr>
              <a:t>key </a:t>
            </a:r>
            <a:r>
              <a:rPr lang="zh-CN" altLang="en-US" sz="1200" i="1" dirty="0">
                <a:solidFill>
                  <a:srgbClr val="00B050"/>
                </a:solidFill>
                <a:latin typeface="Calibri" panose="020F0502020204030204" pitchFamily="34" charset="0"/>
                <a:cs typeface="Calibri" panose="020F0502020204030204" pitchFamily="34" charset="0"/>
              </a:rPr>
              <a:t>的最新消息</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for (Record record : </a:t>
            </a:r>
            <a:r>
              <a:rPr lang="en-US" altLang="zh-CN" sz="1200" dirty="0" err="1">
                <a:solidFill>
                  <a:schemeClr val="bg1"/>
                </a:solidFill>
                <a:latin typeface="Calibri" panose="020F0502020204030204" pitchFamily="34" charset="0"/>
                <a:cs typeface="Calibri" panose="020F0502020204030204" pitchFamily="34" charset="0"/>
              </a:rPr>
              <a:t>log.records</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long </a:t>
            </a:r>
            <a:r>
              <a:rPr lang="en-US" altLang="zh-CN" sz="1200" dirty="0" err="1">
                <a:solidFill>
                  <a:schemeClr val="bg1"/>
                </a:solidFill>
                <a:latin typeface="Calibri" panose="020F0502020204030204" pitchFamily="34" charset="0"/>
                <a:cs typeface="Calibri" panose="020F0502020204030204" pitchFamily="34" charset="0"/>
              </a:rPr>
              <a:t>currentOffset</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record.offset</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Bytes key = </a:t>
            </a:r>
            <a:r>
              <a:rPr lang="en-US" altLang="zh-CN" sz="1200" dirty="0" err="1">
                <a:solidFill>
                  <a:schemeClr val="bg1"/>
                </a:solidFill>
                <a:latin typeface="Calibri" panose="020F0502020204030204" pitchFamily="34" charset="0"/>
                <a:cs typeface="Calibri" panose="020F0502020204030204" pitchFamily="34" charset="0"/>
              </a:rPr>
              <a:t>record.key</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只有当这是该 </a:t>
            </a:r>
            <a:r>
              <a:rPr lang="en-US" altLang="zh-CN" sz="1200" i="1" dirty="0">
                <a:solidFill>
                  <a:srgbClr val="00B050"/>
                </a:solidFill>
                <a:latin typeface="Calibri" panose="020F0502020204030204" pitchFamily="34" charset="0"/>
                <a:cs typeface="Calibri" panose="020F0502020204030204" pitchFamily="34" charset="0"/>
              </a:rPr>
              <a:t>key </a:t>
            </a:r>
            <a:r>
              <a:rPr lang="zh-CN" altLang="en-US" sz="1200" i="1" dirty="0">
                <a:solidFill>
                  <a:srgbClr val="00B050"/>
                </a:solidFill>
                <a:latin typeface="Calibri" panose="020F0502020204030204" pitchFamily="34" charset="0"/>
                <a:cs typeface="Calibri" panose="020F0502020204030204" pitchFamily="34" charset="0"/>
              </a:rPr>
              <a:t>的最新版本时才保留</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if (</a:t>
            </a:r>
            <a:r>
              <a:rPr lang="en-US" altLang="zh-CN" sz="1200" dirty="0" err="1">
                <a:solidFill>
                  <a:schemeClr val="bg1"/>
                </a:solidFill>
                <a:latin typeface="Calibri" panose="020F0502020204030204" pitchFamily="34" charset="0"/>
                <a:cs typeface="Calibri" panose="020F0502020204030204" pitchFamily="34" charset="0"/>
              </a:rPr>
              <a:t>offsetMap.get</a:t>
            </a:r>
            <a:r>
              <a:rPr lang="en-US" altLang="zh-CN" sz="1200" dirty="0">
                <a:solidFill>
                  <a:schemeClr val="bg1"/>
                </a:solidFill>
                <a:latin typeface="Calibri" panose="020F0502020204030204" pitchFamily="34" charset="0"/>
                <a:cs typeface="Calibri" panose="020F0502020204030204" pitchFamily="34" charset="0"/>
              </a:rPr>
              <a:t>(key) == </a:t>
            </a:r>
            <a:r>
              <a:rPr lang="en-US" altLang="zh-CN" sz="1200" dirty="0" err="1">
                <a:solidFill>
                  <a:schemeClr val="bg1"/>
                </a:solidFill>
                <a:latin typeface="Calibri" panose="020F0502020204030204" pitchFamily="34" charset="0"/>
                <a:cs typeface="Calibri" panose="020F0502020204030204" pitchFamily="34" charset="0"/>
              </a:rPr>
              <a:t>currentOffset</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cleanSegment.append</a:t>
            </a:r>
            <a:r>
              <a:rPr lang="en-US" altLang="zh-CN" sz="1200" dirty="0">
                <a:solidFill>
                  <a:schemeClr val="bg1"/>
                </a:solidFill>
                <a:latin typeface="Calibri" panose="020F0502020204030204" pitchFamily="34" charset="0"/>
                <a:cs typeface="Calibri" panose="020F0502020204030204" pitchFamily="34" charset="0"/>
              </a:rPr>
              <a:t>(record);</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4. </a:t>
            </a:r>
            <a:r>
              <a:rPr lang="zh-CN" altLang="en-US" sz="1200" i="1" dirty="0">
                <a:solidFill>
                  <a:srgbClr val="00B050"/>
                </a:solidFill>
                <a:latin typeface="Calibri" panose="020F0502020204030204" pitchFamily="34" charset="0"/>
                <a:cs typeface="Calibri" panose="020F0502020204030204" pitchFamily="34" charset="0"/>
              </a:rPr>
              <a:t>替换旧</a:t>
            </a:r>
            <a:r>
              <a:rPr lang="en-US" altLang="zh-CN" sz="1200" i="1" dirty="0">
                <a:solidFill>
                  <a:srgbClr val="00B050"/>
                </a:solidFill>
                <a:latin typeface="Calibri" panose="020F0502020204030204" pitchFamily="34" charset="0"/>
                <a:cs typeface="Calibri" panose="020F0502020204030204" pitchFamily="34" charset="0"/>
              </a:rPr>
              <a:t>segment</a:t>
            </a:r>
            <a:r>
              <a:rPr lang="zh-CN" altLang="en-US" sz="1200" i="1" dirty="0">
                <a:solidFill>
                  <a:srgbClr val="00B050"/>
                </a:solidFill>
                <a:latin typeface="Calibri" panose="020F0502020204030204" pitchFamily="34" charset="0"/>
                <a:cs typeface="Calibri" panose="020F0502020204030204" pitchFamily="34" charset="0"/>
              </a:rPr>
              <a:t>，保留墓碑消息（</a:t>
            </a:r>
            <a:r>
              <a:rPr lang="en-US" altLang="zh-CN" sz="1200" i="1" dirty="0">
                <a:solidFill>
                  <a:srgbClr val="00B050"/>
                </a:solidFill>
                <a:latin typeface="Calibri" panose="020F0502020204030204" pitchFamily="34" charset="0"/>
                <a:cs typeface="Calibri" panose="020F0502020204030204" pitchFamily="34" charset="0"/>
              </a:rPr>
              <a:t>tombstone</a:t>
            </a:r>
            <a:r>
              <a:rPr lang="zh-CN" altLang="en-US" sz="1200" i="1" dirty="0">
                <a:solidFill>
                  <a:srgbClr val="00B050"/>
                </a:solidFill>
                <a:latin typeface="Calibri" panose="020F0502020204030204" pitchFamily="34" charset="0"/>
                <a:cs typeface="Calibri" panose="020F0502020204030204" pitchFamily="34" charset="0"/>
              </a:rPr>
              <a:t>）用于删除</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log.replaceSegments</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cleanSegment</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a:t>
            </a:r>
          </a:p>
        </p:txBody>
      </p:sp>
      <p:sp>
        <p:nvSpPr>
          <p:cNvPr id="27" name="Shape 25"/>
          <p:cNvSpPr/>
          <p:nvPr/>
        </p:nvSpPr>
        <p:spPr>
          <a:xfrm>
            <a:off x="8289719" y="6265696"/>
            <a:ext cx="7495629" cy="2413453"/>
          </a:xfrm>
          <a:custGeom>
            <a:avLst/>
            <a:gdLst/>
            <a:ahLst/>
            <a:cxnLst/>
            <a:rect l="l" t="t" r="r" b="b"/>
            <a:pathLst>
              <a:path w="7495629" h="2413453">
                <a:moveTo>
                  <a:pt x="46413" y="0"/>
                </a:moveTo>
                <a:lnTo>
                  <a:pt x="7402807" y="0"/>
                </a:lnTo>
                <a:cubicBezTo>
                  <a:pt x="7454071" y="0"/>
                  <a:pt x="7495629" y="41558"/>
                  <a:pt x="7495629" y="92821"/>
                </a:cubicBezTo>
                <a:lnTo>
                  <a:pt x="7495629" y="2320632"/>
                </a:lnTo>
                <a:cubicBezTo>
                  <a:pt x="7495629" y="2371896"/>
                  <a:pt x="7454071" y="2413453"/>
                  <a:pt x="7402807" y="2413453"/>
                </a:cubicBezTo>
                <a:lnTo>
                  <a:pt x="46413" y="2413453"/>
                </a:lnTo>
                <a:cubicBezTo>
                  <a:pt x="20780" y="2413453"/>
                  <a:pt x="0" y="2392674"/>
                  <a:pt x="0" y="2367041"/>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28" name="Shape 26"/>
          <p:cNvSpPr/>
          <p:nvPr/>
        </p:nvSpPr>
        <p:spPr>
          <a:xfrm>
            <a:off x="8289719" y="6265696"/>
            <a:ext cx="46413" cy="2413453"/>
          </a:xfrm>
          <a:custGeom>
            <a:avLst/>
            <a:gdLst/>
            <a:ahLst/>
            <a:cxnLst/>
            <a:rect l="l" t="t" r="r" b="b"/>
            <a:pathLst>
              <a:path w="46413" h="2413453">
                <a:moveTo>
                  <a:pt x="46413" y="0"/>
                </a:moveTo>
                <a:lnTo>
                  <a:pt x="46413" y="0"/>
                </a:lnTo>
                <a:lnTo>
                  <a:pt x="46413" y="2413453"/>
                </a:lnTo>
                <a:lnTo>
                  <a:pt x="46413" y="2413453"/>
                </a:lnTo>
                <a:cubicBezTo>
                  <a:pt x="20780" y="2413453"/>
                  <a:pt x="0" y="2392674"/>
                  <a:pt x="0" y="2367041"/>
                </a:cubicBezTo>
                <a:lnTo>
                  <a:pt x="0" y="46413"/>
                </a:lnTo>
                <a:cubicBezTo>
                  <a:pt x="0" y="20797"/>
                  <a:pt x="20797" y="0"/>
                  <a:pt x="46413" y="0"/>
                </a:cubicBezTo>
                <a:close/>
              </a:path>
            </a:pathLst>
          </a:custGeom>
          <a:solidFill>
            <a:srgbClr val="718096"/>
          </a:solidFill>
          <a:ln/>
        </p:spPr>
        <p:txBody>
          <a:bodyPr/>
          <a:lstStyle/>
          <a:p>
            <a:endParaRPr lang="zh-CN" altLang="en-US"/>
          </a:p>
        </p:txBody>
      </p:sp>
      <p:sp>
        <p:nvSpPr>
          <p:cNvPr id="29" name="Text 27"/>
          <p:cNvSpPr/>
          <p:nvPr/>
        </p:nvSpPr>
        <p:spPr>
          <a:xfrm>
            <a:off x="8498575" y="6451346"/>
            <a:ext cx="7217153" cy="324888"/>
          </a:xfrm>
          <a:prstGeom prst="rect">
            <a:avLst/>
          </a:prstGeom>
          <a:noFill/>
          <a:ln/>
        </p:spPr>
        <p:txBody>
          <a:bodyPr wrap="square" lIns="0" tIns="0" rIns="0" bIns="0" rtlCol="0" anchor="ctr"/>
          <a:lstStyle/>
          <a:p>
            <a:pPr>
              <a:lnSpc>
                <a:spcPct val="120000"/>
              </a:lnSpc>
            </a:pPr>
            <a:r>
              <a:rPr lang="en-US" sz="1827" b="1" dirty="0">
                <a:solidFill>
                  <a:srgbClr val="718096"/>
                </a:solidFill>
                <a:latin typeface="MiSans" pitchFamily="34" charset="0"/>
                <a:ea typeface="MiSans" pitchFamily="34" charset="-122"/>
                <a:cs typeface="MiSans" pitchFamily="34" charset="-120"/>
              </a:rPr>
              <a:t>清理策略对比</a:t>
            </a:r>
            <a:endParaRPr lang="en-US" sz="1600" dirty="0"/>
          </a:p>
        </p:txBody>
      </p:sp>
      <p:sp>
        <p:nvSpPr>
          <p:cNvPr id="30" name="Shape 28"/>
          <p:cNvSpPr/>
          <p:nvPr/>
        </p:nvSpPr>
        <p:spPr>
          <a:xfrm>
            <a:off x="8498575" y="6915472"/>
            <a:ext cx="7101122" cy="1578027"/>
          </a:xfrm>
          <a:custGeom>
            <a:avLst/>
            <a:gdLst/>
            <a:ahLst/>
            <a:cxnLst/>
            <a:rect l="l" t="t" r="r" b="b"/>
            <a:pathLst>
              <a:path w="7101122" h="1578027">
                <a:moveTo>
                  <a:pt x="46410" y="0"/>
                </a:moveTo>
                <a:lnTo>
                  <a:pt x="7054712" y="0"/>
                </a:lnTo>
                <a:cubicBezTo>
                  <a:pt x="7080344" y="0"/>
                  <a:pt x="7101122" y="20778"/>
                  <a:pt x="7101122" y="46410"/>
                </a:cubicBezTo>
                <a:lnTo>
                  <a:pt x="7101122" y="1531617"/>
                </a:lnTo>
                <a:cubicBezTo>
                  <a:pt x="7101122" y="1557249"/>
                  <a:pt x="7080344" y="1578027"/>
                  <a:pt x="7054712" y="1578027"/>
                </a:cubicBezTo>
                <a:lnTo>
                  <a:pt x="46410" y="1578027"/>
                </a:lnTo>
                <a:cubicBezTo>
                  <a:pt x="20778" y="1578027"/>
                  <a:pt x="0" y="1557249"/>
                  <a:pt x="0" y="1531617"/>
                </a:cubicBezTo>
                <a:lnTo>
                  <a:pt x="0" y="46410"/>
                </a:lnTo>
                <a:cubicBezTo>
                  <a:pt x="0" y="20796"/>
                  <a:pt x="20796" y="0"/>
                  <a:pt x="46410" y="0"/>
                </a:cubicBezTo>
                <a:close/>
              </a:path>
            </a:pathLst>
          </a:custGeom>
          <a:solidFill>
            <a:srgbClr val="1A1D21">
              <a:alpha val="60000"/>
            </a:srgbClr>
          </a:solidFill>
          <a:ln/>
        </p:spPr>
        <p:txBody>
          <a:bodyPr/>
          <a:lstStyle/>
          <a:p>
            <a:endParaRPr lang="zh-CN" altLang="en-US"/>
          </a:p>
        </p:txBody>
      </p:sp>
      <p:sp>
        <p:nvSpPr>
          <p:cNvPr id="31" name="Text 29"/>
          <p:cNvSpPr/>
          <p:nvPr/>
        </p:nvSpPr>
        <p:spPr>
          <a:xfrm>
            <a:off x="8637813" y="7054709"/>
            <a:ext cx="2285819" cy="185650"/>
          </a:xfrm>
          <a:prstGeom prst="rect">
            <a:avLst/>
          </a:prstGeom>
          <a:noFill/>
          <a:ln/>
        </p:spPr>
        <p:txBody>
          <a:bodyPr wrap="square" lIns="0" tIns="0" rIns="0" bIns="0" rtlCol="0" anchor="ctr"/>
          <a:lstStyle/>
          <a:p>
            <a:pPr>
              <a:lnSpc>
                <a:spcPct val="110000"/>
              </a:lnSpc>
            </a:pPr>
            <a:r>
              <a:rPr lang="en-US" sz="1096" b="1" dirty="0">
                <a:solidFill>
                  <a:srgbClr val="718096"/>
                </a:solidFill>
                <a:latin typeface="MiSans" pitchFamily="34" charset="0"/>
                <a:ea typeface="MiSans" pitchFamily="34" charset="-122"/>
                <a:cs typeface="MiSans" pitchFamily="34" charset="-120"/>
              </a:rPr>
              <a:t>维度</a:t>
            </a:r>
            <a:endParaRPr lang="en-US" sz="1600" dirty="0"/>
          </a:p>
        </p:txBody>
      </p:sp>
      <p:sp>
        <p:nvSpPr>
          <p:cNvPr id="32" name="Text 30"/>
          <p:cNvSpPr/>
          <p:nvPr/>
        </p:nvSpPr>
        <p:spPr>
          <a:xfrm>
            <a:off x="10944662" y="7054709"/>
            <a:ext cx="2285819" cy="185650"/>
          </a:xfrm>
          <a:prstGeom prst="rect">
            <a:avLst/>
          </a:prstGeom>
          <a:noFill/>
          <a:ln/>
        </p:spPr>
        <p:txBody>
          <a:bodyPr wrap="square" lIns="0" tIns="0" rIns="0" bIns="0" rtlCol="0" anchor="ctr"/>
          <a:lstStyle/>
          <a:p>
            <a:pPr>
              <a:lnSpc>
                <a:spcPct val="110000"/>
              </a:lnSpc>
            </a:pPr>
            <a:r>
              <a:rPr lang="en-US" sz="1096" b="1" dirty="0">
                <a:solidFill>
                  <a:srgbClr val="D69E2E"/>
                </a:solidFill>
                <a:latin typeface="MiSans" pitchFamily="34" charset="0"/>
                <a:ea typeface="MiSans" pitchFamily="34" charset="-122"/>
                <a:cs typeface="MiSans" pitchFamily="34" charset="-120"/>
              </a:rPr>
              <a:t>Delete</a:t>
            </a:r>
            <a:endParaRPr lang="en-US" sz="1600" dirty="0"/>
          </a:p>
        </p:txBody>
      </p:sp>
      <p:sp>
        <p:nvSpPr>
          <p:cNvPr id="33" name="Text 31"/>
          <p:cNvSpPr/>
          <p:nvPr/>
        </p:nvSpPr>
        <p:spPr>
          <a:xfrm>
            <a:off x="13251512" y="7054709"/>
            <a:ext cx="2285819" cy="185650"/>
          </a:xfrm>
          <a:prstGeom prst="rect">
            <a:avLst/>
          </a:prstGeom>
          <a:noFill/>
          <a:ln/>
        </p:spPr>
        <p:txBody>
          <a:bodyPr wrap="square" lIns="0" tIns="0" rIns="0" bIns="0" rtlCol="0" anchor="ctr"/>
          <a:lstStyle/>
          <a:p>
            <a:pPr>
              <a:lnSpc>
                <a:spcPct val="110000"/>
              </a:lnSpc>
            </a:pPr>
            <a:r>
              <a:rPr lang="en-US" sz="1096" b="1" dirty="0">
                <a:solidFill>
                  <a:srgbClr val="718096"/>
                </a:solidFill>
                <a:latin typeface="MiSans" pitchFamily="34" charset="0"/>
                <a:ea typeface="MiSans" pitchFamily="34" charset="-122"/>
                <a:cs typeface="MiSans" pitchFamily="34" charset="-120"/>
              </a:rPr>
              <a:t>Compact</a:t>
            </a:r>
            <a:endParaRPr lang="en-US" sz="1600" dirty="0"/>
          </a:p>
        </p:txBody>
      </p:sp>
      <p:sp>
        <p:nvSpPr>
          <p:cNvPr id="34" name="Text 32"/>
          <p:cNvSpPr/>
          <p:nvPr/>
        </p:nvSpPr>
        <p:spPr>
          <a:xfrm>
            <a:off x="8637813" y="7333185"/>
            <a:ext cx="2285819" cy="185650"/>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保留策略</a:t>
            </a:r>
            <a:endParaRPr lang="en-US" sz="1600" dirty="0"/>
          </a:p>
        </p:txBody>
      </p:sp>
      <p:sp>
        <p:nvSpPr>
          <p:cNvPr id="35" name="Text 33"/>
          <p:cNvSpPr/>
          <p:nvPr/>
        </p:nvSpPr>
        <p:spPr>
          <a:xfrm>
            <a:off x="10944662" y="7333185"/>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基于时间/大小</a:t>
            </a:r>
            <a:endParaRPr lang="en-US" sz="1600" dirty="0"/>
          </a:p>
        </p:txBody>
      </p:sp>
      <p:sp>
        <p:nvSpPr>
          <p:cNvPr id="36" name="Text 34"/>
          <p:cNvSpPr/>
          <p:nvPr/>
        </p:nvSpPr>
        <p:spPr>
          <a:xfrm>
            <a:off x="13251512" y="7333185"/>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基于 key 最新值</a:t>
            </a:r>
            <a:endParaRPr lang="en-US" sz="1600" dirty="0"/>
          </a:p>
        </p:txBody>
      </p:sp>
      <p:sp>
        <p:nvSpPr>
          <p:cNvPr id="37" name="Text 35"/>
          <p:cNvSpPr/>
          <p:nvPr/>
        </p:nvSpPr>
        <p:spPr>
          <a:xfrm>
            <a:off x="8637813" y="7611660"/>
            <a:ext cx="2285819" cy="185650"/>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数据完整性</a:t>
            </a:r>
            <a:endParaRPr lang="en-US" sz="1600" dirty="0"/>
          </a:p>
        </p:txBody>
      </p:sp>
      <p:sp>
        <p:nvSpPr>
          <p:cNvPr id="38" name="Text 36"/>
          <p:cNvSpPr/>
          <p:nvPr/>
        </p:nvSpPr>
        <p:spPr>
          <a:xfrm>
            <a:off x="10944662" y="7611660"/>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删除旧数据</a:t>
            </a:r>
            <a:endParaRPr lang="en-US" sz="1600" dirty="0"/>
          </a:p>
        </p:txBody>
      </p:sp>
      <p:sp>
        <p:nvSpPr>
          <p:cNvPr id="39" name="Text 37"/>
          <p:cNvSpPr/>
          <p:nvPr/>
        </p:nvSpPr>
        <p:spPr>
          <a:xfrm>
            <a:off x="13251512" y="7611660"/>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保留最新版本</a:t>
            </a:r>
            <a:endParaRPr lang="en-US" sz="1600" dirty="0"/>
          </a:p>
        </p:txBody>
      </p:sp>
      <p:sp>
        <p:nvSpPr>
          <p:cNvPr id="40" name="Text 38"/>
          <p:cNvSpPr/>
          <p:nvPr/>
        </p:nvSpPr>
        <p:spPr>
          <a:xfrm>
            <a:off x="8637813" y="7890136"/>
            <a:ext cx="2285819" cy="185650"/>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存储空间</a:t>
            </a:r>
            <a:endParaRPr lang="en-US" sz="1600" dirty="0"/>
          </a:p>
        </p:txBody>
      </p:sp>
      <p:sp>
        <p:nvSpPr>
          <p:cNvPr id="41" name="Text 39"/>
          <p:cNvSpPr/>
          <p:nvPr/>
        </p:nvSpPr>
        <p:spPr>
          <a:xfrm>
            <a:off x="10944662" y="7890136"/>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持续增长后删除</a:t>
            </a:r>
            <a:endParaRPr lang="en-US" sz="1600" dirty="0"/>
          </a:p>
        </p:txBody>
      </p:sp>
      <p:sp>
        <p:nvSpPr>
          <p:cNvPr id="42" name="Text 40"/>
          <p:cNvSpPr/>
          <p:nvPr/>
        </p:nvSpPr>
        <p:spPr>
          <a:xfrm>
            <a:off x="13251512" y="7890136"/>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稳定后保持不变</a:t>
            </a:r>
            <a:endParaRPr lang="en-US" sz="1600" dirty="0"/>
          </a:p>
        </p:txBody>
      </p:sp>
      <p:sp>
        <p:nvSpPr>
          <p:cNvPr id="43" name="Text 41"/>
          <p:cNvSpPr/>
          <p:nvPr/>
        </p:nvSpPr>
        <p:spPr>
          <a:xfrm>
            <a:off x="8637813" y="8168611"/>
            <a:ext cx="2285819" cy="185650"/>
          </a:xfrm>
          <a:prstGeom prst="rect">
            <a:avLst/>
          </a:prstGeom>
          <a:noFill/>
          <a:ln/>
        </p:spPr>
        <p:txBody>
          <a:bodyPr wrap="square" lIns="0" tIns="0" rIns="0" bIns="0" rtlCol="0" anchor="ctr"/>
          <a:lstStyle/>
          <a:p>
            <a:pPr>
              <a:lnSpc>
                <a:spcPct val="110000"/>
              </a:lnSpc>
            </a:pPr>
            <a:r>
              <a:rPr lang="en-US" sz="1096" dirty="0">
                <a:solidFill>
                  <a:srgbClr val="718096"/>
                </a:solidFill>
                <a:latin typeface="MiSans" pitchFamily="34" charset="0"/>
                <a:ea typeface="MiSans" pitchFamily="34" charset="-122"/>
                <a:cs typeface="MiSans" pitchFamily="34" charset="-120"/>
              </a:rPr>
              <a:t>典型应用</a:t>
            </a:r>
            <a:endParaRPr lang="en-US" sz="1600" dirty="0"/>
          </a:p>
        </p:txBody>
      </p:sp>
      <p:sp>
        <p:nvSpPr>
          <p:cNvPr id="44" name="Text 42"/>
          <p:cNvSpPr/>
          <p:nvPr/>
        </p:nvSpPr>
        <p:spPr>
          <a:xfrm>
            <a:off x="10944662" y="8168611"/>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日志、指标</a:t>
            </a:r>
            <a:endParaRPr lang="en-US" sz="1600" dirty="0"/>
          </a:p>
        </p:txBody>
      </p:sp>
      <p:sp>
        <p:nvSpPr>
          <p:cNvPr id="45" name="Text 43"/>
          <p:cNvSpPr/>
          <p:nvPr/>
        </p:nvSpPr>
        <p:spPr>
          <a:xfrm>
            <a:off x="13251512" y="8168611"/>
            <a:ext cx="2285819" cy="185650"/>
          </a:xfrm>
          <a:prstGeom prst="rect">
            <a:avLst/>
          </a:prstGeom>
          <a:noFill/>
          <a:ln/>
        </p:spPr>
        <p:txBody>
          <a:bodyPr wrap="square" lIns="0" tIns="0" rIns="0" bIns="0" rtlCol="0" anchor="ctr"/>
          <a:lstStyle/>
          <a:p>
            <a:pPr>
              <a:lnSpc>
                <a:spcPct val="110000"/>
              </a:lnSpc>
            </a:pPr>
            <a:r>
              <a:rPr lang="en-US" sz="1096" dirty="0">
                <a:solidFill>
                  <a:srgbClr val="E2E8F0"/>
                </a:solidFill>
                <a:latin typeface="MiSans" pitchFamily="34" charset="0"/>
                <a:ea typeface="MiSans" pitchFamily="34" charset="-122"/>
                <a:cs typeface="MiSans" pitchFamily="34" charset="-120"/>
              </a:rPr>
              <a:t>配置、状态</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sz="1600" b="1" kern="0" spc="80" dirty="0">
                <a:solidFill>
                  <a:srgbClr val="D69E2E"/>
                </a:solidFill>
                <a:latin typeface="MiSans" pitchFamily="34" charset="0"/>
                <a:ea typeface="MiSans" pitchFamily="34" charset="-122"/>
                <a:cs typeface="MiSans" pitchFamily="34" charset="-120"/>
              </a:rPr>
              <a:t>3.2.6 存储对比</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存储结构对比: Log vs WAL vs SSTable</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8000" y="1625600"/>
          <a:ext cx="15240000" cy="3441702"/>
        </p:xfrm>
        <a:graphic>
          <a:graphicData uri="http://schemas.openxmlformats.org/drawingml/2006/table">
            <a:tbl>
              <a:tblPr/>
              <a:tblGrid>
                <a:gridCol w="1143953">
                  <a:extLst>
                    <a:ext uri="{9D8B030D-6E8A-4147-A177-3AD203B41FA5}">
                      <a16:colId xmlns:a16="http://schemas.microsoft.com/office/drawing/2014/main" val="20000"/>
                    </a:ext>
                  </a:extLst>
                </a:gridCol>
                <a:gridCol w="4791893">
                  <a:extLst>
                    <a:ext uri="{9D8B030D-6E8A-4147-A177-3AD203B41FA5}">
                      <a16:colId xmlns:a16="http://schemas.microsoft.com/office/drawing/2014/main" val="20001"/>
                    </a:ext>
                  </a:extLst>
                </a:gridCol>
                <a:gridCol w="4715630">
                  <a:extLst>
                    <a:ext uri="{9D8B030D-6E8A-4147-A177-3AD203B41FA5}">
                      <a16:colId xmlns:a16="http://schemas.microsoft.com/office/drawing/2014/main" val="20002"/>
                    </a:ext>
                  </a:extLst>
                </a:gridCol>
                <a:gridCol w="4588524">
                  <a:extLst>
                    <a:ext uri="{9D8B030D-6E8A-4147-A177-3AD203B41FA5}">
                      <a16:colId xmlns:a16="http://schemas.microsoft.com/office/drawing/2014/main" val="20003"/>
                    </a:ext>
                  </a:extLst>
                </a:gridCol>
              </a:tblGrid>
              <a:tr h="573617">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特性</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Kafka Log(Commit Log)</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718096"/>
                          </a:solidFill>
                          <a:latin typeface="微软雅黑" pitchFamily="34" charset="0"/>
                          <a:ea typeface="微软雅黑" pitchFamily="34" charset="-122"/>
                          <a:cs typeface="微软雅黑" pitchFamily="34" charset="-120"/>
                        </a:rPr>
                        <a:t>数据库 WAL(Write-Ahead Log)</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718096"/>
                          </a:solidFill>
                          <a:latin typeface="微软雅黑" pitchFamily="34" charset="0"/>
                          <a:ea typeface="微软雅黑" pitchFamily="34" charset="-122"/>
                          <a:cs typeface="微软雅黑" pitchFamily="34" charset="-120"/>
                        </a:rPr>
                        <a:t>LSM-Tree(SSTable)</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extLst>
                  <a:ext uri="{0D108BD9-81ED-4DB2-BD59-A6C34878D82A}">
                    <a16:rowId xmlns:a16="http://schemas.microsoft.com/office/drawing/2014/main" val="10000"/>
                  </a:ext>
                </a:extLst>
              </a:tr>
              <a:tr h="573617">
                <a:tc>
                  <a:txBody>
                    <a:bodyPr/>
                    <a:lstStyle/>
                    <a:p>
                      <a:r>
                        <a:rPr lang="en-US" sz="1600" b="1" u="none" dirty="0">
                          <a:solidFill>
                            <a:srgbClr val="E2E8F0"/>
                          </a:solidFill>
                          <a:latin typeface="微软雅黑" pitchFamily="34" charset="0"/>
                          <a:ea typeface="微软雅黑" pitchFamily="34" charset="-122"/>
                          <a:cs typeface="微软雅黑" pitchFamily="34" charset="-120"/>
                        </a:rPr>
                        <a:t>核心定位</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数据本身。Log 是数据的唯一真实来源</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辅助手段。用于故障恢复，数据最终落入 B-Tree</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分层存储。数据先入内存，再刷盘</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1"/>
                  </a:ext>
                </a:extLst>
              </a:tr>
              <a:tr h="573617">
                <a:tc>
                  <a:txBody>
                    <a:bodyPr/>
                    <a:lstStyle/>
                    <a:p>
                      <a:r>
                        <a:rPr lang="en-US" sz="1600" b="1" u="none" dirty="0">
                          <a:solidFill>
                            <a:srgbClr val="E2E8F0"/>
                          </a:solidFill>
                          <a:latin typeface="微软雅黑" pitchFamily="34" charset="0"/>
                          <a:ea typeface="微软雅黑" pitchFamily="34" charset="-122"/>
                          <a:cs typeface="微软雅黑" pitchFamily="34" charset="-120"/>
                        </a:rPr>
                        <a:t>写入模式</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Append-Only。严格顺序写入</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Append-Only。严格顺序写入</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Append-Only。内存排序后顺序写盘</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2"/>
                  </a:ext>
                </a:extLst>
              </a:tr>
              <a:tr h="573617">
                <a:tc>
                  <a:txBody>
                    <a:bodyPr/>
                    <a:lstStyle/>
                    <a:p>
                      <a:r>
                        <a:rPr lang="en-US" sz="1600" b="1" u="none" dirty="0">
                          <a:solidFill>
                            <a:srgbClr val="E2E8F0"/>
                          </a:solidFill>
                          <a:latin typeface="微软雅黑" pitchFamily="34" charset="0"/>
                          <a:ea typeface="微软雅黑" pitchFamily="34" charset="-122"/>
                          <a:cs typeface="微软雅黑" pitchFamily="34" charset="-120"/>
                        </a:rPr>
                        <a:t>读取模式</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顺序读 + 零拷贝。依赖 Page Cache</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随机读。通常不直接读 WAL</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多层归并读。查询多个 SSTable</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3"/>
                  </a:ext>
                </a:extLst>
              </a:tr>
              <a:tr h="573617">
                <a:tc>
                  <a:txBody>
                    <a:bodyPr/>
                    <a:lstStyle/>
                    <a:p>
                      <a:r>
                        <a:rPr lang="en-US" sz="1600" b="1" u="none" dirty="0">
                          <a:solidFill>
                            <a:srgbClr val="E2E8F0"/>
                          </a:solidFill>
                          <a:latin typeface="微软雅黑" pitchFamily="34" charset="0"/>
                          <a:ea typeface="微软雅黑" pitchFamily="34" charset="-122"/>
                          <a:cs typeface="微软雅黑" pitchFamily="34" charset="-120"/>
                        </a:rPr>
                        <a:t>修改/删除</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不支持原地修改。仅支持批量删除或 Compaction</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不支持。WAL 仅记录变更操作</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墓碑机制。写入删除标记，Compaction 时删除</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4"/>
                  </a:ext>
                </a:extLst>
              </a:tr>
              <a:tr h="573617">
                <a:tc>
                  <a:txBody>
                    <a:bodyPr/>
                    <a:lstStyle/>
                    <a:p>
                      <a:r>
                        <a:rPr lang="en-US" sz="1600" b="1" u="none" dirty="0">
                          <a:solidFill>
                            <a:srgbClr val="E2E8F0"/>
                          </a:solidFill>
                          <a:latin typeface="微软雅黑" pitchFamily="34" charset="0"/>
                          <a:ea typeface="微软雅黑" pitchFamily="34" charset="-122"/>
                          <a:cs typeface="微软雅黑" pitchFamily="34" charset="-120"/>
                        </a:rPr>
                        <a:t>典型应用</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消息队列、流存储 (Kafka)</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关系型数据库 (MySQL)</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NoSQL 数据库 (HBase)</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7416800"/>
            <a:ext cx="7493000" cy="1219200"/>
          </a:xfrm>
          <a:custGeom>
            <a:avLst/>
            <a:gdLst/>
            <a:ahLst/>
            <a:cxnLst/>
            <a:rect l="l" t="t" r="r" b="b"/>
            <a:pathLst>
              <a:path w="7493000" h="1219200">
                <a:moveTo>
                  <a:pt x="50800" y="0"/>
                </a:moveTo>
                <a:lnTo>
                  <a:pt x="7391404" y="0"/>
                </a:lnTo>
                <a:cubicBezTo>
                  <a:pt x="7447514" y="0"/>
                  <a:pt x="7493000" y="45486"/>
                  <a:pt x="7493000" y="101596"/>
                </a:cubicBezTo>
                <a:lnTo>
                  <a:pt x="7493000" y="1117604"/>
                </a:lnTo>
                <a:cubicBezTo>
                  <a:pt x="7493000" y="1173714"/>
                  <a:pt x="7447514" y="1219200"/>
                  <a:pt x="7391404" y="1219200"/>
                </a:cubicBezTo>
                <a:lnTo>
                  <a:pt x="50800" y="1219200"/>
                </a:lnTo>
                <a:cubicBezTo>
                  <a:pt x="22744" y="1219200"/>
                  <a:pt x="0" y="1196456"/>
                  <a:pt x="0" y="1168400"/>
                </a:cubicBezTo>
                <a:lnTo>
                  <a:pt x="0" y="50800"/>
                </a:lnTo>
                <a:cubicBezTo>
                  <a:pt x="0" y="22763"/>
                  <a:pt x="22763" y="0"/>
                  <a:pt x="50800" y="0"/>
                </a:cubicBezTo>
                <a:close/>
              </a:path>
            </a:pathLst>
          </a:custGeom>
          <a:solidFill>
            <a:srgbClr val="4A5568">
              <a:alpha val="30196"/>
            </a:srgbClr>
          </a:solidFill>
          <a:ln/>
        </p:spPr>
        <p:txBody>
          <a:bodyPr/>
          <a:lstStyle/>
          <a:p>
            <a:endParaRPr lang="zh-CN" altLang="en-US"/>
          </a:p>
        </p:txBody>
      </p:sp>
      <p:sp>
        <p:nvSpPr>
          <p:cNvPr id="6" name="Shape 3"/>
          <p:cNvSpPr/>
          <p:nvPr/>
        </p:nvSpPr>
        <p:spPr>
          <a:xfrm>
            <a:off x="533400" y="7416800"/>
            <a:ext cx="50800" cy="1219200"/>
          </a:xfrm>
          <a:custGeom>
            <a:avLst/>
            <a:gdLst/>
            <a:ahLst/>
            <a:cxnLst/>
            <a:rect l="l" t="t" r="r" b="b"/>
            <a:pathLst>
              <a:path w="50800" h="1219200">
                <a:moveTo>
                  <a:pt x="50800" y="0"/>
                </a:moveTo>
                <a:lnTo>
                  <a:pt x="50800" y="0"/>
                </a:lnTo>
                <a:lnTo>
                  <a:pt x="50800" y="1219200"/>
                </a:lnTo>
                <a:lnTo>
                  <a:pt x="50800" y="1219200"/>
                </a:lnTo>
                <a:cubicBezTo>
                  <a:pt x="22763" y="1219200"/>
                  <a:pt x="0" y="1196437"/>
                  <a:pt x="0" y="11684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7" name="Text 4"/>
          <p:cNvSpPr/>
          <p:nvPr/>
        </p:nvSpPr>
        <p:spPr>
          <a:xfrm>
            <a:off x="711200" y="7569200"/>
            <a:ext cx="72644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Kafka Log vs WAL</a:t>
            </a:r>
            <a:endParaRPr lang="en-US" sz="1600" dirty="0"/>
          </a:p>
        </p:txBody>
      </p:sp>
      <p:sp>
        <p:nvSpPr>
          <p:cNvPr id="8" name="Text 5"/>
          <p:cNvSpPr/>
          <p:nvPr/>
        </p:nvSpPr>
        <p:spPr>
          <a:xfrm>
            <a:off x="711200" y="7975600"/>
            <a:ext cx="7251700" cy="508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Kafka 中 </a:t>
            </a:r>
            <a:r>
              <a:rPr lang="en-US" sz="1400" b="1" dirty="0">
                <a:solidFill>
                  <a:srgbClr val="D69E2E"/>
                </a:solidFill>
                <a:latin typeface="MiSans" pitchFamily="34" charset="0"/>
                <a:ea typeface="MiSans" pitchFamily="34" charset="-122"/>
                <a:cs typeface="MiSans" pitchFamily="34" charset="-120"/>
              </a:rPr>
              <a:t>Log 就是数据</a:t>
            </a:r>
            <a:r>
              <a:rPr lang="en-US" sz="1400" dirty="0">
                <a:solidFill>
                  <a:srgbClr val="E2E8F0">
                    <a:alpha val="80000"/>
                  </a:srgbClr>
                </a:solidFill>
                <a:latin typeface="MiSans" pitchFamily="34" charset="0"/>
                <a:ea typeface="MiSans" pitchFamily="34" charset="-122"/>
                <a:cs typeface="MiSans" pitchFamily="34" charset="-120"/>
              </a:rPr>
              <a:t>，没有额外的表空间或 B+ Tree。Consumer 直接从 Log 读取数据，这种 Log-Centric 设计极大简化了存储引擎。</a:t>
            </a:r>
            <a:endParaRPr lang="en-US" sz="1600" dirty="0"/>
          </a:p>
        </p:txBody>
      </p:sp>
      <p:sp>
        <p:nvSpPr>
          <p:cNvPr id="9" name="Shape 6"/>
          <p:cNvSpPr/>
          <p:nvPr/>
        </p:nvSpPr>
        <p:spPr>
          <a:xfrm>
            <a:off x="8255000" y="7416800"/>
            <a:ext cx="7493000" cy="1219200"/>
          </a:xfrm>
          <a:custGeom>
            <a:avLst/>
            <a:gdLst/>
            <a:ahLst/>
            <a:cxnLst/>
            <a:rect l="l" t="t" r="r" b="b"/>
            <a:pathLst>
              <a:path w="7493000" h="1219200">
                <a:moveTo>
                  <a:pt x="50800" y="0"/>
                </a:moveTo>
                <a:lnTo>
                  <a:pt x="7391404" y="0"/>
                </a:lnTo>
                <a:cubicBezTo>
                  <a:pt x="7447514" y="0"/>
                  <a:pt x="7493000" y="45486"/>
                  <a:pt x="7493000" y="101596"/>
                </a:cubicBezTo>
                <a:lnTo>
                  <a:pt x="7493000" y="1117604"/>
                </a:lnTo>
                <a:cubicBezTo>
                  <a:pt x="7493000" y="1173714"/>
                  <a:pt x="7447514" y="1219200"/>
                  <a:pt x="7391404" y="1219200"/>
                </a:cubicBezTo>
                <a:lnTo>
                  <a:pt x="50800" y="1219200"/>
                </a:lnTo>
                <a:cubicBezTo>
                  <a:pt x="22744" y="1219200"/>
                  <a:pt x="0" y="1196456"/>
                  <a:pt x="0" y="1168400"/>
                </a:cubicBezTo>
                <a:lnTo>
                  <a:pt x="0" y="50800"/>
                </a:lnTo>
                <a:cubicBezTo>
                  <a:pt x="0" y="22763"/>
                  <a:pt x="22763" y="0"/>
                  <a:pt x="50800" y="0"/>
                </a:cubicBezTo>
                <a:close/>
              </a:path>
            </a:pathLst>
          </a:custGeom>
          <a:solidFill>
            <a:srgbClr val="4A5568">
              <a:alpha val="30196"/>
            </a:srgbClr>
          </a:solidFill>
          <a:ln/>
        </p:spPr>
        <p:txBody>
          <a:bodyPr/>
          <a:lstStyle/>
          <a:p>
            <a:endParaRPr lang="zh-CN" altLang="en-US"/>
          </a:p>
        </p:txBody>
      </p:sp>
      <p:sp>
        <p:nvSpPr>
          <p:cNvPr id="10" name="Shape 7"/>
          <p:cNvSpPr/>
          <p:nvPr/>
        </p:nvSpPr>
        <p:spPr>
          <a:xfrm>
            <a:off x="8255000" y="7416800"/>
            <a:ext cx="50800" cy="1219200"/>
          </a:xfrm>
          <a:custGeom>
            <a:avLst/>
            <a:gdLst/>
            <a:ahLst/>
            <a:cxnLst/>
            <a:rect l="l" t="t" r="r" b="b"/>
            <a:pathLst>
              <a:path w="50800" h="1219200">
                <a:moveTo>
                  <a:pt x="50800" y="0"/>
                </a:moveTo>
                <a:lnTo>
                  <a:pt x="50800" y="0"/>
                </a:lnTo>
                <a:lnTo>
                  <a:pt x="50800" y="1219200"/>
                </a:lnTo>
                <a:lnTo>
                  <a:pt x="50800" y="1219200"/>
                </a:lnTo>
                <a:cubicBezTo>
                  <a:pt x="22763" y="1219200"/>
                  <a:pt x="0" y="1196437"/>
                  <a:pt x="0" y="11684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11" name="Text 8"/>
          <p:cNvSpPr/>
          <p:nvPr/>
        </p:nvSpPr>
        <p:spPr>
          <a:xfrm>
            <a:off x="8432800" y="7569200"/>
            <a:ext cx="72644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Kafka Log vs SSTable</a:t>
            </a:r>
            <a:endParaRPr lang="en-US" sz="1600" dirty="0"/>
          </a:p>
        </p:txBody>
      </p:sp>
      <p:sp>
        <p:nvSpPr>
          <p:cNvPr id="12" name="Text 9"/>
          <p:cNvSpPr/>
          <p:nvPr/>
        </p:nvSpPr>
        <p:spPr>
          <a:xfrm>
            <a:off x="8432800" y="7975600"/>
            <a:ext cx="7251700" cy="508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Kafka Log 按时间/Offset 排序，支持高吞吐流式读写。SSTable 按 key 排序，支持高频随机写入和键值查询。</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59534" y="459534"/>
            <a:ext cx="15428840" cy="275720"/>
          </a:xfrm>
          <a:prstGeom prst="rect">
            <a:avLst/>
          </a:prstGeom>
          <a:noFill/>
          <a:ln/>
        </p:spPr>
        <p:txBody>
          <a:bodyPr wrap="square" lIns="0" tIns="0" rIns="0" bIns="0" rtlCol="0" anchor="ctr"/>
          <a:lstStyle/>
          <a:p>
            <a:pPr>
              <a:lnSpc>
                <a:spcPct val="130000"/>
              </a:lnSpc>
            </a:pPr>
            <a:r>
              <a:rPr lang="en-US" sz="1447" b="1" kern="0" spc="72" dirty="0">
                <a:solidFill>
                  <a:srgbClr val="D69E2E"/>
                </a:solidFill>
                <a:latin typeface="MiSans" pitchFamily="34" charset="0"/>
                <a:ea typeface="MiSans" pitchFamily="34" charset="-122"/>
                <a:cs typeface="MiSans" pitchFamily="34" charset="-120"/>
              </a:rPr>
              <a:t>3.3.1 副本架构 | 3.3.2 ISR 机制</a:t>
            </a:r>
            <a:endParaRPr lang="en-US" sz="1600" dirty="0"/>
          </a:p>
        </p:txBody>
      </p:sp>
      <p:sp>
        <p:nvSpPr>
          <p:cNvPr id="3" name="Text 1"/>
          <p:cNvSpPr/>
          <p:nvPr/>
        </p:nvSpPr>
        <p:spPr>
          <a:xfrm>
            <a:off x="459534" y="827160"/>
            <a:ext cx="15543723" cy="459534"/>
          </a:xfrm>
          <a:prstGeom prst="rect">
            <a:avLst/>
          </a:prstGeom>
          <a:noFill/>
          <a:ln/>
        </p:spPr>
        <p:txBody>
          <a:bodyPr wrap="square" lIns="0" tIns="0" rIns="0" bIns="0" rtlCol="0" anchor="ctr"/>
          <a:lstStyle/>
          <a:p>
            <a:pPr>
              <a:lnSpc>
                <a:spcPct val="90000"/>
              </a:lnSpc>
            </a:pPr>
            <a:r>
              <a:rPr lang="en-US" sz="3257" b="1" dirty="0">
                <a:solidFill>
                  <a:srgbClr val="E2E8F0"/>
                </a:solidFill>
                <a:latin typeface="MiSans" pitchFamily="34" charset="0"/>
                <a:ea typeface="MiSans" pitchFamily="34" charset="-122"/>
                <a:cs typeface="MiSans" pitchFamily="34" charset="-120"/>
              </a:rPr>
              <a:t>副本架构与 ISR (In-Sync Replicas) 机制</a:t>
            </a:r>
            <a:endParaRPr lang="en-US" sz="1600" dirty="0"/>
          </a:p>
        </p:txBody>
      </p:sp>
      <p:sp>
        <p:nvSpPr>
          <p:cNvPr id="4" name="Shape 2"/>
          <p:cNvSpPr/>
          <p:nvPr/>
        </p:nvSpPr>
        <p:spPr>
          <a:xfrm>
            <a:off x="482510" y="1470507"/>
            <a:ext cx="7513374" cy="3239712"/>
          </a:xfrm>
          <a:custGeom>
            <a:avLst/>
            <a:gdLst/>
            <a:ahLst/>
            <a:cxnLst/>
            <a:rect l="l" t="t" r="r" b="b"/>
            <a:pathLst>
              <a:path w="7513374" h="3239712">
                <a:moveTo>
                  <a:pt x="45953" y="0"/>
                </a:moveTo>
                <a:lnTo>
                  <a:pt x="7421463" y="0"/>
                </a:lnTo>
                <a:cubicBezTo>
                  <a:pt x="7472224" y="0"/>
                  <a:pt x="7513374" y="41150"/>
                  <a:pt x="7513374" y="91911"/>
                </a:cubicBezTo>
                <a:lnTo>
                  <a:pt x="7513374" y="3147801"/>
                </a:lnTo>
                <a:cubicBezTo>
                  <a:pt x="7513374" y="3198562"/>
                  <a:pt x="7472224" y="3239712"/>
                  <a:pt x="7421463" y="3239712"/>
                </a:cubicBezTo>
                <a:lnTo>
                  <a:pt x="45953" y="3239712"/>
                </a:lnTo>
                <a:cubicBezTo>
                  <a:pt x="20574" y="3239712"/>
                  <a:pt x="0" y="3219138"/>
                  <a:pt x="0" y="3193758"/>
                </a:cubicBezTo>
                <a:lnTo>
                  <a:pt x="0" y="45953"/>
                </a:lnTo>
                <a:cubicBezTo>
                  <a:pt x="0" y="20574"/>
                  <a:pt x="20574" y="0"/>
                  <a:pt x="45953" y="0"/>
                </a:cubicBezTo>
                <a:close/>
              </a:path>
            </a:pathLst>
          </a:custGeom>
          <a:solidFill>
            <a:srgbClr val="4A5568">
              <a:alpha val="20000"/>
            </a:srgbClr>
          </a:solidFill>
          <a:ln/>
        </p:spPr>
        <p:txBody>
          <a:bodyPr/>
          <a:lstStyle/>
          <a:p>
            <a:endParaRPr lang="zh-CN" altLang="en-US"/>
          </a:p>
        </p:txBody>
      </p:sp>
      <p:sp>
        <p:nvSpPr>
          <p:cNvPr id="5" name="Shape 3"/>
          <p:cNvSpPr/>
          <p:nvPr/>
        </p:nvSpPr>
        <p:spPr>
          <a:xfrm>
            <a:off x="482510" y="1470507"/>
            <a:ext cx="45953" cy="3239712"/>
          </a:xfrm>
          <a:custGeom>
            <a:avLst/>
            <a:gdLst/>
            <a:ahLst/>
            <a:cxnLst/>
            <a:rect l="l" t="t" r="r" b="b"/>
            <a:pathLst>
              <a:path w="45953" h="3239712">
                <a:moveTo>
                  <a:pt x="45953" y="0"/>
                </a:moveTo>
                <a:lnTo>
                  <a:pt x="45953" y="0"/>
                </a:lnTo>
                <a:lnTo>
                  <a:pt x="45953" y="3239712"/>
                </a:lnTo>
                <a:lnTo>
                  <a:pt x="45953" y="3239712"/>
                </a:lnTo>
                <a:cubicBezTo>
                  <a:pt x="20574" y="3239712"/>
                  <a:pt x="0" y="3219138"/>
                  <a:pt x="0" y="3193758"/>
                </a:cubicBezTo>
                <a:lnTo>
                  <a:pt x="0" y="45953"/>
                </a:lnTo>
                <a:cubicBezTo>
                  <a:pt x="0" y="20574"/>
                  <a:pt x="20574" y="0"/>
                  <a:pt x="45953" y="0"/>
                </a:cubicBezTo>
                <a:close/>
              </a:path>
            </a:pathLst>
          </a:custGeom>
          <a:solidFill>
            <a:srgbClr val="D69E2E"/>
          </a:solidFill>
          <a:ln/>
        </p:spPr>
        <p:txBody>
          <a:bodyPr/>
          <a:lstStyle/>
          <a:p>
            <a:endParaRPr lang="zh-CN" altLang="en-US"/>
          </a:p>
        </p:txBody>
      </p:sp>
      <p:sp>
        <p:nvSpPr>
          <p:cNvPr id="6" name="Text 4"/>
          <p:cNvSpPr/>
          <p:nvPr/>
        </p:nvSpPr>
        <p:spPr>
          <a:xfrm>
            <a:off x="689300" y="1654321"/>
            <a:ext cx="7237654" cy="321673"/>
          </a:xfrm>
          <a:prstGeom prst="rect">
            <a:avLst/>
          </a:prstGeom>
          <a:noFill/>
          <a:ln/>
        </p:spPr>
        <p:txBody>
          <a:bodyPr wrap="square" lIns="0" tIns="0" rIns="0" bIns="0" rtlCol="0" anchor="ctr"/>
          <a:lstStyle/>
          <a:p>
            <a:pPr>
              <a:lnSpc>
                <a:spcPct val="120000"/>
              </a:lnSpc>
            </a:pPr>
            <a:r>
              <a:rPr lang="en-US" sz="1809" b="1" dirty="0">
                <a:solidFill>
                  <a:srgbClr val="D69E2E"/>
                </a:solidFill>
                <a:latin typeface="MiSans" pitchFamily="34" charset="0"/>
                <a:ea typeface="MiSans" pitchFamily="34" charset="-122"/>
                <a:cs typeface="MiSans" pitchFamily="34" charset="-120"/>
              </a:rPr>
              <a:t>副本架构</a:t>
            </a:r>
            <a:endParaRPr lang="en-US" sz="1600" dirty="0"/>
          </a:p>
        </p:txBody>
      </p:sp>
      <p:sp>
        <p:nvSpPr>
          <p:cNvPr id="7" name="Text 5"/>
          <p:cNvSpPr/>
          <p:nvPr/>
        </p:nvSpPr>
        <p:spPr>
          <a:xfrm>
            <a:off x="689300" y="2113854"/>
            <a:ext cx="7203189" cy="528464"/>
          </a:xfrm>
          <a:prstGeom prst="rect">
            <a:avLst/>
          </a:prstGeom>
          <a:noFill/>
          <a:ln/>
        </p:spPr>
        <p:txBody>
          <a:bodyPr wrap="square" lIns="0" tIns="0" rIns="0" bIns="0" rtlCol="0" anchor="ctr"/>
          <a:lstStyle/>
          <a:p>
            <a:pPr>
              <a:lnSpc>
                <a:spcPct val="140000"/>
              </a:lnSpc>
            </a:pPr>
            <a:r>
              <a:rPr lang="en-US" sz="1266" dirty="0">
                <a:solidFill>
                  <a:srgbClr val="E2E8F0">
                    <a:alpha val="90000"/>
                  </a:srgbClr>
                </a:solidFill>
                <a:latin typeface="MiSans" pitchFamily="34" charset="0"/>
                <a:ea typeface="MiSans" pitchFamily="34" charset="-122"/>
                <a:cs typeface="MiSans" pitchFamily="34" charset="-120"/>
              </a:rPr>
              <a:t>每个 Partition 有多个副本(Replica)，分布在不同的 Broker 上。通常设置 3 个副本：1 个 Leader 和 2 个 Follower。</a:t>
            </a:r>
            <a:endParaRPr lang="en-US" sz="1600" dirty="0"/>
          </a:p>
        </p:txBody>
      </p:sp>
      <p:sp>
        <p:nvSpPr>
          <p:cNvPr id="8" name="Shape 6"/>
          <p:cNvSpPr/>
          <p:nvPr/>
        </p:nvSpPr>
        <p:spPr>
          <a:xfrm>
            <a:off x="689300" y="2774434"/>
            <a:ext cx="7122770" cy="827160"/>
          </a:xfrm>
          <a:custGeom>
            <a:avLst/>
            <a:gdLst/>
            <a:ahLst/>
            <a:cxnLst/>
            <a:rect l="l" t="t" r="r" b="b"/>
            <a:pathLst>
              <a:path w="7122770" h="827160">
                <a:moveTo>
                  <a:pt x="45957" y="0"/>
                </a:moveTo>
                <a:lnTo>
                  <a:pt x="7076813" y="0"/>
                </a:lnTo>
                <a:cubicBezTo>
                  <a:pt x="7102195" y="0"/>
                  <a:pt x="7122770" y="20576"/>
                  <a:pt x="7122770" y="45957"/>
                </a:cubicBezTo>
                <a:lnTo>
                  <a:pt x="7122770" y="781203"/>
                </a:lnTo>
                <a:cubicBezTo>
                  <a:pt x="7122770" y="806585"/>
                  <a:pt x="7102195" y="827160"/>
                  <a:pt x="7076813" y="827160"/>
                </a:cubicBezTo>
                <a:lnTo>
                  <a:pt x="45957" y="827160"/>
                </a:lnTo>
                <a:cubicBezTo>
                  <a:pt x="20576" y="827160"/>
                  <a:pt x="0" y="806585"/>
                  <a:pt x="0" y="781203"/>
                </a:cubicBezTo>
                <a:lnTo>
                  <a:pt x="0" y="45957"/>
                </a:lnTo>
                <a:cubicBezTo>
                  <a:pt x="0" y="20593"/>
                  <a:pt x="20593" y="0"/>
                  <a:pt x="45957" y="0"/>
                </a:cubicBezTo>
                <a:close/>
              </a:path>
            </a:pathLst>
          </a:custGeom>
          <a:solidFill>
            <a:srgbClr val="1A1D21">
              <a:alpha val="60000"/>
            </a:srgbClr>
          </a:solidFill>
          <a:ln/>
        </p:spPr>
        <p:txBody>
          <a:bodyPr/>
          <a:lstStyle/>
          <a:p>
            <a:endParaRPr lang="zh-CN" altLang="en-US"/>
          </a:p>
        </p:txBody>
      </p:sp>
      <p:sp>
        <p:nvSpPr>
          <p:cNvPr id="9" name="Text 7"/>
          <p:cNvSpPr/>
          <p:nvPr/>
        </p:nvSpPr>
        <p:spPr>
          <a:xfrm>
            <a:off x="827160" y="2912294"/>
            <a:ext cx="6938957" cy="275720"/>
          </a:xfrm>
          <a:prstGeom prst="rect">
            <a:avLst/>
          </a:prstGeom>
          <a:noFill/>
          <a:ln/>
        </p:spPr>
        <p:txBody>
          <a:bodyPr wrap="square" lIns="0" tIns="0" rIns="0" bIns="0" rtlCol="0" anchor="ctr"/>
          <a:lstStyle/>
          <a:p>
            <a:pPr>
              <a:lnSpc>
                <a:spcPct val="130000"/>
              </a:lnSpc>
            </a:pPr>
            <a:r>
              <a:rPr lang="en-US" sz="1447" b="1" dirty="0">
                <a:solidFill>
                  <a:srgbClr val="D69E2E"/>
                </a:solidFill>
                <a:latin typeface="MiSans" pitchFamily="34" charset="0"/>
                <a:ea typeface="MiSans" pitchFamily="34" charset="-122"/>
                <a:cs typeface="MiSans" pitchFamily="34" charset="-120"/>
              </a:rPr>
              <a:t>Leader 副本</a:t>
            </a:r>
            <a:endParaRPr lang="en-US" sz="1600" dirty="0"/>
          </a:p>
        </p:txBody>
      </p:sp>
      <p:sp>
        <p:nvSpPr>
          <p:cNvPr id="10" name="Text 8"/>
          <p:cNvSpPr/>
          <p:nvPr/>
        </p:nvSpPr>
        <p:spPr>
          <a:xfrm>
            <a:off x="827160" y="3233967"/>
            <a:ext cx="6927469"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负责处理所有读写请求，Producer 和 Consumer 只与 Leader 交互</a:t>
            </a:r>
            <a:endParaRPr lang="en-US" sz="1600" dirty="0"/>
          </a:p>
        </p:txBody>
      </p:sp>
      <p:sp>
        <p:nvSpPr>
          <p:cNvPr id="11" name="Shape 9"/>
          <p:cNvSpPr/>
          <p:nvPr/>
        </p:nvSpPr>
        <p:spPr>
          <a:xfrm>
            <a:off x="689300" y="3693501"/>
            <a:ext cx="7122770" cy="827160"/>
          </a:xfrm>
          <a:custGeom>
            <a:avLst/>
            <a:gdLst/>
            <a:ahLst/>
            <a:cxnLst/>
            <a:rect l="l" t="t" r="r" b="b"/>
            <a:pathLst>
              <a:path w="7122770" h="827160">
                <a:moveTo>
                  <a:pt x="45957" y="0"/>
                </a:moveTo>
                <a:lnTo>
                  <a:pt x="7076813" y="0"/>
                </a:lnTo>
                <a:cubicBezTo>
                  <a:pt x="7102195" y="0"/>
                  <a:pt x="7122770" y="20576"/>
                  <a:pt x="7122770" y="45957"/>
                </a:cubicBezTo>
                <a:lnTo>
                  <a:pt x="7122770" y="781203"/>
                </a:lnTo>
                <a:cubicBezTo>
                  <a:pt x="7122770" y="806585"/>
                  <a:pt x="7102195" y="827160"/>
                  <a:pt x="7076813" y="827160"/>
                </a:cubicBezTo>
                <a:lnTo>
                  <a:pt x="45957" y="827160"/>
                </a:lnTo>
                <a:cubicBezTo>
                  <a:pt x="20576" y="827160"/>
                  <a:pt x="0" y="806585"/>
                  <a:pt x="0" y="781203"/>
                </a:cubicBezTo>
                <a:lnTo>
                  <a:pt x="0" y="45957"/>
                </a:lnTo>
                <a:cubicBezTo>
                  <a:pt x="0" y="20593"/>
                  <a:pt x="20593" y="0"/>
                  <a:pt x="45957" y="0"/>
                </a:cubicBezTo>
                <a:close/>
              </a:path>
            </a:pathLst>
          </a:custGeom>
          <a:solidFill>
            <a:srgbClr val="1A1D21">
              <a:alpha val="60000"/>
            </a:srgbClr>
          </a:solidFill>
          <a:ln/>
        </p:spPr>
        <p:txBody>
          <a:bodyPr/>
          <a:lstStyle/>
          <a:p>
            <a:endParaRPr lang="zh-CN" altLang="en-US"/>
          </a:p>
        </p:txBody>
      </p:sp>
      <p:sp>
        <p:nvSpPr>
          <p:cNvPr id="12" name="Text 10"/>
          <p:cNvSpPr/>
          <p:nvPr/>
        </p:nvSpPr>
        <p:spPr>
          <a:xfrm>
            <a:off x="827160" y="3831361"/>
            <a:ext cx="6938957" cy="275720"/>
          </a:xfrm>
          <a:prstGeom prst="rect">
            <a:avLst/>
          </a:prstGeom>
          <a:noFill/>
          <a:ln/>
        </p:spPr>
        <p:txBody>
          <a:bodyPr wrap="square" lIns="0" tIns="0" rIns="0" bIns="0" rtlCol="0" anchor="ctr"/>
          <a:lstStyle/>
          <a:p>
            <a:pPr>
              <a:lnSpc>
                <a:spcPct val="130000"/>
              </a:lnSpc>
            </a:pPr>
            <a:r>
              <a:rPr lang="en-US" sz="1447" b="1" dirty="0">
                <a:solidFill>
                  <a:srgbClr val="718096"/>
                </a:solidFill>
                <a:latin typeface="MiSans" pitchFamily="34" charset="0"/>
                <a:ea typeface="MiSans" pitchFamily="34" charset="-122"/>
                <a:cs typeface="MiSans" pitchFamily="34" charset="-120"/>
              </a:rPr>
              <a:t>Follower 副本</a:t>
            </a:r>
            <a:endParaRPr lang="en-US" sz="1600" dirty="0"/>
          </a:p>
        </p:txBody>
      </p:sp>
      <p:sp>
        <p:nvSpPr>
          <p:cNvPr id="13" name="Text 11"/>
          <p:cNvSpPr/>
          <p:nvPr/>
        </p:nvSpPr>
        <p:spPr>
          <a:xfrm>
            <a:off x="827160" y="4153035"/>
            <a:ext cx="6927469"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从 Leader 同步数据，不处理客户端请求，仅作为备份</a:t>
            </a:r>
            <a:endParaRPr lang="en-US" sz="1600" dirty="0"/>
          </a:p>
        </p:txBody>
      </p:sp>
      <p:sp>
        <p:nvSpPr>
          <p:cNvPr id="14" name="Shape 12"/>
          <p:cNvSpPr/>
          <p:nvPr/>
        </p:nvSpPr>
        <p:spPr>
          <a:xfrm>
            <a:off x="482510" y="4842335"/>
            <a:ext cx="7513374" cy="2389575"/>
          </a:xfrm>
          <a:custGeom>
            <a:avLst/>
            <a:gdLst/>
            <a:ahLst/>
            <a:cxnLst/>
            <a:rect l="l" t="t" r="r" b="b"/>
            <a:pathLst>
              <a:path w="7513374" h="2389575">
                <a:moveTo>
                  <a:pt x="45953" y="0"/>
                </a:moveTo>
                <a:lnTo>
                  <a:pt x="7421471" y="0"/>
                </a:lnTo>
                <a:cubicBezTo>
                  <a:pt x="7472227" y="0"/>
                  <a:pt x="7513374" y="41146"/>
                  <a:pt x="7513374" y="91903"/>
                </a:cubicBezTo>
                <a:lnTo>
                  <a:pt x="7513374" y="2297672"/>
                </a:lnTo>
                <a:cubicBezTo>
                  <a:pt x="7513374" y="2348428"/>
                  <a:pt x="7472227" y="2389575"/>
                  <a:pt x="7421471" y="2389575"/>
                </a:cubicBezTo>
                <a:lnTo>
                  <a:pt x="45953" y="2389575"/>
                </a:lnTo>
                <a:cubicBezTo>
                  <a:pt x="20574" y="2389575"/>
                  <a:pt x="0" y="2369001"/>
                  <a:pt x="0" y="2343621"/>
                </a:cubicBezTo>
                <a:lnTo>
                  <a:pt x="0" y="45953"/>
                </a:lnTo>
                <a:cubicBezTo>
                  <a:pt x="0" y="20574"/>
                  <a:pt x="20574" y="0"/>
                  <a:pt x="45953" y="0"/>
                </a:cubicBezTo>
                <a:close/>
              </a:path>
            </a:pathLst>
          </a:custGeom>
          <a:solidFill>
            <a:srgbClr val="4A5568">
              <a:alpha val="20000"/>
            </a:srgbClr>
          </a:solidFill>
          <a:ln/>
        </p:spPr>
        <p:txBody>
          <a:bodyPr/>
          <a:lstStyle/>
          <a:p>
            <a:endParaRPr lang="zh-CN" altLang="en-US"/>
          </a:p>
        </p:txBody>
      </p:sp>
      <p:sp>
        <p:nvSpPr>
          <p:cNvPr id="15" name="Shape 13"/>
          <p:cNvSpPr/>
          <p:nvPr/>
        </p:nvSpPr>
        <p:spPr>
          <a:xfrm>
            <a:off x="482510" y="4842335"/>
            <a:ext cx="45953" cy="2389575"/>
          </a:xfrm>
          <a:custGeom>
            <a:avLst/>
            <a:gdLst/>
            <a:ahLst/>
            <a:cxnLst/>
            <a:rect l="l" t="t" r="r" b="b"/>
            <a:pathLst>
              <a:path w="45953" h="2389575">
                <a:moveTo>
                  <a:pt x="45953" y="0"/>
                </a:moveTo>
                <a:lnTo>
                  <a:pt x="45953" y="0"/>
                </a:lnTo>
                <a:lnTo>
                  <a:pt x="45953" y="2389575"/>
                </a:lnTo>
                <a:lnTo>
                  <a:pt x="45953" y="2389575"/>
                </a:lnTo>
                <a:cubicBezTo>
                  <a:pt x="20574" y="2389575"/>
                  <a:pt x="0" y="2369001"/>
                  <a:pt x="0" y="2343621"/>
                </a:cubicBezTo>
                <a:lnTo>
                  <a:pt x="0" y="45953"/>
                </a:lnTo>
                <a:cubicBezTo>
                  <a:pt x="0" y="20574"/>
                  <a:pt x="20574" y="0"/>
                  <a:pt x="45953" y="0"/>
                </a:cubicBezTo>
                <a:close/>
              </a:path>
            </a:pathLst>
          </a:custGeom>
          <a:solidFill>
            <a:srgbClr val="718096"/>
          </a:solidFill>
          <a:ln/>
        </p:spPr>
        <p:txBody>
          <a:bodyPr/>
          <a:lstStyle/>
          <a:p>
            <a:endParaRPr lang="zh-CN" altLang="en-US"/>
          </a:p>
        </p:txBody>
      </p:sp>
      <p:sp>
        <p:nvSpPr>
          <p:cNvPr id="16" name="Text 14"/>
          <p:cNvSpPr/>
          <p:nvPr/>
        </p:nvSpPr>
        <p:spPr>
          <a:xfrm>
            <a:off x="689300" y="5026148"/>
            <a:ext cx="7237654" cy="321673"/>
          </a:xfrm>
          <a:prstGeom prst="rect">
            <a:avLst/>
          </a:prstGeom>
          <a:noFill/>
          <a:ln/>
        </p:spPr>
        <p:txBody>
          <a:bodyPr wrap="square" lIns="0" tIns="0" rIns="0" bIns="0" rtlCol="0" anchor="ctr"/>
          <a:lstStyle/>
          <a:p>
            <a:pPr>
              <a:lnSpc>
                <a:spcPct val="120000"/>
              </a:lnSpc>
            </a:pPr>
            <a:r>
              <a:rPr lang="en-US" sz="1809" b="1" dirty="0">
                <a:solidFill>
                  <a:srgbClr val="718096"/>
                </a:solidFill>
                <a:latin typeface="MiSans" pitchFamily="34" charset="0"/>
                <a:ea typeface="MiSans" pitchFamily="34" charset="-122"/>
                <a:cs typeface="MiSans" pitchFamily="34" charset="-120"/>
              </a:rPr>
              <a:t>副本状态管理</a:t>
            </a:r>
            <a:endParaRPr lang="en-US" sz="1600" dirty="0"/>
          </a:p>
        </p:txBody>
      </p:sp>
      <p:sp>
        <p:nvSpPr>
          <p:cNvPr id="17" name="Shape 15"/>
          <p:cNvSpPr/>
          <p:nvPr/>
        </p:nvSpPr>
        <p:spPr>
          <a:xfrm>
            <a:off x="689300" y="5485682"/>
            <a:ext cx="7122770" cy="1562414"/>
          </a:xfrm>
          <a:custGeom>
            <a:avLst/>
            <a:gdLst/>
            <a:ahLst/>
            <a:cxnLst/>
            <a:rect l="l" t="t" r="r" b="b"/>
            <a:pathLst>
              <a:path w="7122770" h="1562414">
                <a:moveTo>
                  <a:pt x="45951" y="0"/>
                </a:moveTo>
                <a:lnTo>
                  <a:pt x="7076820" y="0"/>
                </a:lnTo>
                <a:cubicBezTo>
                  <a:pt x="7102198" y="0"/>
                  <a:pt x="7122770" y="20573"/>
                  <a:pt x="7122770" y="45951"/>
                </a:cubicBezTo>
                <a:lnTo>
                  <a:pt x="7122770" y="1516464"/>
                </a:lnTo>
                <a:cubicBezTo>
                  <a:pt x="7122770" y="1541841"/>
                  <a:pt x="7102198" y="1562414"/>
                  <a:pt x="7076820" y="1562414"/>
                </a:cubicBezTo>
                <a:lnTo>
                  <a:pt x="45951" y="1562414"/>
                </a:lnTo>
                <a:cubicBezTo>
                  <a:pt x="20573" y="1562414"/>
                  <a:pt x="0" y="1541841"/>
                  <a:pt x="0" y="1516464"/>
                </a:cubicBezTo>
                <a:lnTo>
                  <a:pt x="0" y="45951"/>
                </a:lnTo>
                <a:cubicBezTo>
                  <a:pt x="0" y="20573"/>
                  <a:pt x="20573" y="0"/>
                  <a:pt x="45951" y="0"/>
                </a:cubicBezTo>
                <a:close/>
              </a:path>
            </a:pathLst>
          </a:custGeom>
          <a:solidFill>
            <a:srgbClr val="1A1D21">
              <a:alpha val="60000"/>
            </a:srgbClr>
          </a:solidFill>
          <a:ln/>
        </p:spPr>
        <p:txBody>
          <a:bodyPr/>
          <a:lstStyle/>
          <a:p>
            <a:endParaRPr lang="zh-CN" altLang="en-US"/>
          </a:p>
        </p:txBody>
      </p:sp>
      <p:sp>
        <p:nvSpPr>
          <p:cNvPr id="18" name="Text 16"/>
          <p:cNvSpPr/>
          <p:nvPr/>
        </p:nvSpPr>
        <p:spPr>
          <a:xfrm>
            <a:off x="827160" y="5623542"/>
            <a:ext cx="6915980" cy="1286694"/>
          </a:xfrm>
          <a:prstGeom prst="rect">
            <a:avLst/>
          </a:prstGeom>
          <a:noFill/>
          <a:ln/>
        </p:spPr>
        <p:txBody>
          <a:bodyPr wrap="square" lIns="0" tIns="0" rIns="0" bIns="0" rtlCol="0" anchor="ctr"/>
          <a:lstStyle/>
          <a:p>
            <a:pPr>
              <a:lnSpc>
                <a:spcPct val="110000"/>
              </a:lnSpc>
            </a:pPr>
            <a:r>
              <a:rPr lang="en-US" sz="1086" dirty="0">
                <a:solidFill>
                  <a:srgbClr val="D69E2E"/>
                </a:solidFill>
                <a:latin typeface="MiSans" pitchFamily="34" charset="0"/>
                <a:ea typeface="MiSans" pitchFamily="34" charset="-122"/>
                <a:cs typeface="MiSans" pitchFamily="34" charset="-120"/>
              </a:rPr>
              <a:t>public enum</a:t>
            </a:r>
            <a:r>
              <a:rPr lang="en-US" sz="1086" dirty="0">
                <a:solidFill>
                  <a:srgbClr val="E2E8F0"/>
                </a:solidFill>
                <a:latin typeface="MiSans" pitchFamily="34" charset="0"/>
                <a:ea typeface="MiSans" pitchFamily="34" charset="-122"/>
                <a:cs typeface="MiSans" pitchFamily="34" charset="-120"/>
              </a:rPr>
              <a:t>ReplicaState</a:t>
            </a:r>
            <a:r>
              <a:rPr lang="en-US" sz="1086" dirty="0">
                <a:solidFill>
                  <a:srgbClr val="718096"/>
                </a:solidFill>
                <a:latin typeface="MiSans" pitchFamily="34" charset="0"/>
                <a:ea typeface="MiSans" pitchFamily="34" charset="-122"/>
                <a:cs typeface="MiSans" pitchFamily="34" charset="-120"/>
              </a:rPr>
              <a:t> { </a:t>
            </a:r>
          </a:p>
          <a:p>
            <a:pPr>
              <a:lnSpc>
                <a:spcPct val="110000"/>
              </a:lnSpc>
            </a:pPr>
            <a:r>
              <a:rPr lang="en-US" sz="1086" dirty="0">
                <a:solidFill>
                  <a:srgbClr val="718096"/>
                </a:solidFill>
                <a:latin typeface="MiSans" pitchFamily="34" charset="0"/>
                <a:ea typeface="MiSans" pitchFamily="34" charset="-122"/>
                <a:cs typeface="MiSans" pitchFamily="34" charset="-120"/>
              </a:rPr>
              <a:t>    NEW, // </a:t>
            </a:r>
            <a:r>
              <a:rPr lang="en-US" sz="1086" dirty="0" err="1">
                <a:solidFill>
                  <a:srgbClr val="718096"/>
                </a:solidFill>
                <a:latin typeface="MiSans" pitchFamily="34" charset="0"/>
                <a:ea typeface="MiSans" pitchFamily="34" charset="-122"/>
                <a:cs typeface="MiSans" pitchFamily="34" charset="-120"/>
              </a:rPr>
              <a:t>新副本</a:t>
            </a:r>
            <a:r>
              <a:rPr lang="en-US" sz="1086" dirty="0">
                <a:solidFill>
                  <a:srgbClr val="718096"/>
                </a:solidFill>
                <a:latin typeface="MiSans" pitchFamily="34" charset="0"/>
                <a:ea typeface="MiSans" pitchFamily="34" charset="-122"/>
                <a:cs typeface="MiSans" pitchFamily="34" charset="-120"/>
              </a:rPr>
              <a:t> </a:t>
            </a:r>
          </a:p>
          <a:p>
            <a:pPr>
              <a:lnSpc>
                <a:spcPct val="110000"/>
              </a:lnSpc>
            </a:pPr>
            <a:r>
              <a:rPr lang="en-US" sz="1086" dirty="0">
                <a:solidFill>
                  <a:srgbClr val="718096"/>
                </a:solidFill>
                <a:latin typeface="MiSans" pitchFamily="34" charset="0"/>
                <a:ea typeface="MiSans" pitchFamily="34" charset="-122"/>
                <a:cs typeface="MiSans" pitchFamily="34" charset="-120"/>
              </a:rPr>
              <a:t>    ONLINE, // </a:t>
            </a:r>
            <a:r>
              <a:rPr lang="en-US" sz="1086" dirty="0" err="1">
                <a:solidFill>
                  <a:srgbClr val="718096"/>
                </a:solidFill>
                <a:latin typeface="MiSans" pitchFamily="34" charset="0"/>
                <a:ea typeface="MiSans" pitchFamily="34" charset="-122"/>
                <a:cs typeface="MiSans" pitchFamily="34" charset="-120"/>
              </a:rPr>
              <a:t>在线状态</a:t>
            </a:r>
            <a:r>
              <a:rPr lang="en-US" sz="1086" dirty="0">
                <a:solidFill>
                  <a:srgbClr val="718096"/>
                </a:solidFill>
                <a:latin typeface="MiSans" pitchFamily="34" charset="0"/>
                <a:ea typeface="MiSans" pitchFamily="34" charset="-122"/>
                <a:cs typeface="MiSans" pitchFamily="34" charset="-120"/>
              </a:rPr>
              <a:t> </a:t>
            </a:r>
          </a:p>
          <a:p>
            <a:pPr>
              <a:lnSpc>
                <a:spcPct val="110000"/>
              </a:lnSpc>
            </a:pPr>
            <a:r>
              <a:rPr lang="en-US" sz="1086" dirty="0">
                <a:solidFill>
                  <a:srgbClr val="718096"/>
                </a:solidFill>
                <a:latin typeface="MiSans" pitchFamily="34" charset="0"/>
                <a:ea typeface="MiSans" pitchFamily="34" charset="-122"/>
                <a:cs typeface="MiSans" pitchFamily="34" charset="-120"/>
              </a:rPr>
              <a:t>    OFFLINE, // </a:t>
            </a:r>
            <a:r>
              <a:rPr lang="en-US" sz="1086" dirty="0" err="1">
                <a:solidFill>
                  <a:srgbClr val="718096"/>
                </a:solidFill>
                <a:latin typeface="MiSans" pitchFamily="34" charset="0"/>
                <a:ea typeface="MiSans" pitchFamily="34" charset="-122"/>
                <a:cs typeface="MiSans" pitchFamily="34" charset="-120"/>
              </a:rPr>
              <a:t>离线状态</a:t>
            </a:r>
            <a:r>
              <a:rPr lang="en-US" sz="1086" dirty="0">
                <a:solidFill>
                  <a:srgbClr val="718096"/>
                </a:solidFill>
                <a:latin typeface="MiSans" pitchFamily="34" charset="0"/>
                <a:ea typeface="MiSans" pitchFamily="34" charset="-122"/>
                <a:cs typeface="MiSans" pitchFamily="34" charset="-120"/>
              </a:rPr>
              <a:t> </a:t>
            </a:r>
          </a:p>
          <a:p>
            <a:pPr>
              <a:lnSpc>
                <a:spcPct val="110000"/>
              </a:lnSpc>
            </a:pPr>
            <a:r>
              <a:rPr lang="en-US" sz="1086" dirty="0">
                <a:solidFill>
                  <a:srgbClr val="718096"/>
                </a:solidFill>
                <a:latin typeface="MiSans" pitchFamily="34" charset="0"/>
                <a:ea typeface="MiSans" pitchFamily="34" charset="-122"/>
                <a:cs typeface="MiSans" pitchFamily="34" charset="-120"/>
              </a:rPr>
              <a:t>    LOG_DIR_OFFLINE, // </a:t>
            </a:r>
            <a:r>
              <a:rPr lang="en-US" sz="1086" dirty="0" err="1">
                <a:solidFill>
                  <a:srgbClr val="718096"/>
                </a:solidFill>
                <a:latin typeface="MiSans" pitchFamily="34" charset="0"/>
                <a:ea typeface="MiSans" pitchFamily="34" charset="-122"/>
                <a:cs typeface="MiSans" pitchFamily="34" charset="-120"/>
              </a:rPr>
              <a:t>日志目录离线</a:t>
            </a:r>
            <a:endParaRPr lang="en-US" sz="1086" dirty="0">
              <a:solidFill>
                <a:srgbClr val="718096"/>
              </a:solidFill>
              <a:latin typeface="MiSans" pitchFamily="34" charset="0"/>
              <a:ea typeface="MiSans" pitchFamily="34" charset="-122"/>
              <a:cs typeface="MiSans" pitchFamily="34" charset="-120"/>
            </a:endParaRPr>
          </a:p>
          <a:p>
            <a:pPr>
              <a:lnSpc>
                <a:spcPct val="110000"/>
              </a:lnSpc>
            </a:pPr>
            <a:r>
              <a:rPr lang="en-US" sz="1086" dirty="0">
                <a:solidFill>
                  <a:srgbClr val="718096"/>
                </a:solidFill>
                <a:latin typeface="MiSans" pitchFamily="34" charset="0"/>
                <a:ea typeface="MiSans" pitchFamily="34" charset="-122"/>
                <a:cs typeface="MiSans" pitchFamily="34" charset="-120"/>
              </a:rPr>
              <a:t>     RECOVERING // </a:t>
            </a:r>
            <a:r>
              <a:rPr lang="en-US" sz="1086" dirty="0" err="1">
                <a:solidFill>
                  <a:srgbClr val="718096"/>
                </a:solidFill>
                <a:latin typeface="MiSans" pitchFamily="34" charset="0"/>
                <a:ea typeface="MiSans" pitchFamily="34" charset="-122"/>
                <a:cs typeface="MiSans" pitchFamily="34" charset="-120"/>
              </a:rPr>
              <a:t>恢复中</a:t>
            </a:r>
            <a:endParaRPr lang="en-US" sz="1086" dirty="0">
              <a:solidFill>
                <a:srgbClr val="718096"/>
              </a:solidFill>
              <a:latin typeface="MiSans" pitchFamily="34" charset="0"/>
              <a:ea typeface="MiSans" pitchFamily="34" charset="-122"/>
              <a:cs typeface="MiSans" pitchFamily="34" charset="-120"/>
            </a:endParaRPr>
          </a:p>
          <a:p>
            <a:pPr>
              <a:lnSpc>
                <a:spcPct val="110000"/>
              </a:lnSpc>
            </a:pPr>
            <a:r>
              <a:rPr lang="en-US" sz="1086" dirty="0">
                <a:solidFill>
                  <a:srgbClr val="718096"/>
                </a:solidFill>
                <a:latin typeface="MiSans" pitchFamily="34" charset="0"/>
                <a:ea typeface="MiSans" pitchFamily="34" charset="-122"/>
                <a:cs typeface="MiSans" pitchFamily="34" charset="-120"/>
              </a:rPr>
              <a:t> }</a:t>
            </a:r>
            <a:endParaRPr lang="en-US" sz="1600" dirty="0"/>
          </a:p>
        </p:txBody>
      </p:sp>
      <p:sp>
        <p:nvSpPr>
          <p:cNvPr id="19" name="Shape 17"/>
          <p:cNvSpPr/>
          <p:nvPr/>
        </p:nvSpPr>
        <p:spPr>
          <a:xfrm>
            <a:off x="8289465" y="1470507"/>
            <a:ext cx="7513374" cy="4871056"/>
          </a:xfrm>
          <a:custGeom>
            <a:avLst/>
            <a:gdLst/>
            <a:ahLst/>
            <a:cxnLst/>
            <a:rect l="l" t="t" r="r" b="b"/>
            <a:pathLst>
              <a:path w="7513374" h="4871056">
                <a:moveTo>
                  <a:pt x="45953" y="0"/>
                </a:moveTo>
                <a:lnTo>
                  <a:pt x="7421457" y="0"/>
                </a:lnTo>
                <a:cubicBezTo>
                  <a:pt x="7472221" y="0"/>
                  <a:pt x="7513374" y="41153"/>
                  <a:pt x="7513374" y="91917"/>
                </a:cubicBezTo>
                <a:lnTo>
                  <a:pt x="7513374" y="4779139"/>
                </a:lnTo>
                <a:cubicBezTo>
                  <a:pt x="7513374" y="4829903"/>
                  <a:pt x="7472221" y="4871056"/>
                  <a:pt x="7421457" y="4871056"/>
                </a:cubicBezTo>
                <a:lnTo>
                  <a:pt x="45953" y="4871056"/>
                </a:lnTo>
                <a:cubicBezTo>
                  <a:pt x="20574" y="4871056"/>
                  <a:pt x="0" y="4850482"/>
                  <a:pt x="0" y="4825102"/>
                </a:cubicBezTo>
                <a:lnTo>
                  <a:pt x="0" y="45953"/>
                </a:lnTo>
                <a:cubicBezTo>
                  <a:pt x="0" y="20574"/>
                  <a:pt x="20574" y="0"/>
                  <a:pt x="45953" y="0"/>
                </a:cubicBezTo>
                <a:close/>
              </a:path>
            </a:pathLst>
          </a:custGeom>
          <a:solidFill>
            <a:srgbClr val="4A5568">
              <a:alpha val="20000"/>
            </a:srgbClr>
          </a:solidFill>
          <a:ln/>
        </p:spPr>
        <p:txBody>
          <a:bodyPr/>
          <a:lstStyle/>
          <a:p>
            <a:endParaRPr lang="zh-CN" altLang="en-US"/>
          </a:p>
        </p:txBody>
      </p:sp>
      <p:sp>
        <p:nvSpPr>
          <p:cNvPr id="20" name="Shape 18"/>
          <p:cNvSpPr/>
          <p:nvPr/>
        </p:nvSpPr>
        <p:spPr>
          <a:xfrm>
            <a:off x="8289465" y="1470507"/>
            <a:ext cx="45953" cy="4871056"/>
          </a:xfrm>
          <a:custGeom>
            <a:avLst/>
            <a:gdLst/>
            <a:ahLst/>
            <a:cxnLst/>
            <a:rect l="l" t="t" r="r" b="b"/>
            <a:pathLst>
              <a:path w="45953" h="4871056">
                <a:moveTo>
                  <a:pt x="45953" y="0"/>
                </a:moveTo>
                <a:lnTo>
                  <a:pt x="45953" y="0"/>
                </a:lnTo>
                <a:lnTo>
                  <a:pt x="45953" y="4871056"/>
                </a:lnTo>
                <a:lnTo>
                  <a:pt x="45953" y="4871056"/>
                </a:lnTo>
                <a:cubicBezTo>
                  <a:pt x="20574" y="4871056"/>
                  <a:pt x="0" y="4850482"/>
                  <a:pt x="0" y="4825102"/>
                </a:cubicBezTo>
                <a:lnTo>
                  <a:pt x="0" y="45953"/>
                </a:lnTo>
                <a:cubicBezTo>
                  <a:pt x="0" y="20574"/>
                  <a:pt x="20574" y="0"/>
                  <a:pt x="45953" y="0"/>
                </a:cubicBezTo>
                <a:close/>
              </a:path>
            </a:pathLst>
          </a:custGeom>
          <a:solidFill>
            <a:srgbClr val="D69E2E"/>
          </a:solidFill>
          <a:ln/>
        </p:spPr>
        <p:txBody>
          <a:bodyPr/>
          <a:lstStyle/>
          <a:p>
            <a:endParaRPr lang="zh-CN" altLang="en-US"/>
          </a:p>
        </p:txBody>
      </p:sp>
      <p:sp>
        <p:nvSpPr>
          <p:cNvPr id="21" name="Text 19"/>
          <p:cNvSpPr/>
          <p:nvPr/>
        </p:nvSpPr>
        <p:spPr>
          <a:xfrm>
            <a:off x="8496255" y="1654321"/>
            <a:ext cx="7237654" cy="321673"/>
          </a:xfrm>
          <a:prstGeom prst="rect">
            <a:avLst/>
          </a:prstGeom>
          <a:noFill/>
          <a:ln/>
        </p:spPr>
        <p:txBody>
          <a:bodyPr wrap="square" lIns="0" tIns="0" rIns="0" bIns="0" rtlCol="0" anchor="ctr"/>
          <a:lstStyle/>
          <a:p>
            <a:pPr>
              <a:lnSpc>
                <a:spcPct val="120000"/>
              </a:lnSpc>
            </a:pPr>
            <a:r>
              <a:rPr lang="en-US" sz="1809" b="1" dirty="0">
                <a:solidFill>
                  <a:srgbClr val="D69E2E"/>
                </a:solidFill>
                <a:latin typeface="MiSans" pitchFamily="34" charset="0"/>
                <a:ea typeface="MiSans" pitchFamily="34" charset="-122"/>
                <a:cs typeface="MiSans" pitchFamily="34" charset="-120"/>
              </a:rPr>
              <a:t>ISR 机制实现</a:t>
            </a:r>
            <a:endParaRPr lang="en-US" sz="1600" dirty="0"/>
          </a:p>
        </p:txBody>
      </p:sp>
      <p:sp>
        <p:nvSpPr>
          <p:cNvPr id="22" name="Shape 20"/>
          <p:cNvSpPr/>
          <p:nvPr/>
        </p:nvSpPr>
        <p:spPr>
          <a:xfrm>
            <a:off x="8496255" y="2113854"/>
            <a:ext cx="7122770" cy="3032922"/>
          </a:xfrm>
          <a:custGeom>
            <a:avLst/>
            <a:gdLst/>
            <a:ahLst/>
            <a:cxnLst/>
            <a:rect l="l" t="t" r="r" b="b"/>
            <a:pathLst>
              <a:path w="7122770" h="3032922">
                <a:moveTo>
                  <a:pt x="45949" y="0"/>
                </a:moveTo>
                <a:lnTo>
                  <a:pt x="7076822" y="0"/>
                </a:lnTo>
                <a:cubicBezTo>
                  <a:pt x="7102198" y="0"/>
                  <a:pt x="7122770" y="20572"/>
                  <a:pt x="7122770" y="45949"/>
                </a:cubicBezTo>
                <a:lnTo>
                  <a:pt x="7122770" y="2986973"/>
                </a:lnTo>
                <a:cubicBezTo>
                  <a:pt x="7122770" y="3012350"/>
                  <a:pt x="7102198" y="3032922"/>
                  <a:pt x="7076822" y="3032922"/>
                </a:cubicBezTo>
                <a:lnTo>
                  <a:pt x="45949" y="3032922"/>
                </a:lnTo>
                <a:cubicBezTo>
                  <a:pt x="20572" y="3032922"/>
                  <a:pt x="0" y="3012350"/>
                  <a:pt x="0" y="2986973"/>
                </a:cubicBezTo>
                <a:lnTo>
                  <a:pt x="0" y="45949"/>
                </a:lnTo>
                <a:cubicBezTo>
                  <a:pt x="0" y="20589"/>
                  <a:pt x="20589" y="0"/>
                  <a:pt x="45949" y="0"/>
                </a:cubicBezTo>
                <a:close/>
              </a:path>
            </a:pathLst>
          </a:custGeom>
          <a:solidFill>
            <a:srgbClr val="1A1D21">
              <a:alpha val="60000"/>
            </a:srgbClr>
          </a:solidFill>
          <a:ln/>
        </p:spPr>
        <p:txBody>
          <a:bodyPr/>
          <a:lstStyle/>
          <a:p>
            <a:endParaRPr lang="zh-CN" altLang="en-US"/>
          </a:p>
        </p:txBody>
      </p:sp>
      <p:sp>
        <p:nvSpPr>
          <p:cNvPr id="23" name="Text 21"/>
          <p:cNvSpPr/>
          <p:nvPr/>
        </p:nvSpPr>
        <p:spPr>
          <a:xfrm>
            <a:off x="8634115" y="2251714"/>
            <a:ext cx="6915980" cy="2757201"/>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a:t>
            </a:r>
            <a:r>
              <a:rPr lang="en-US" altLang="zh-CN" sz="1200" dirty="0" err="1">
                <a:solidFill>
                  <a:schemeClr val="bg1"/>
                </a:solidFill>
                <a:latin typeface="Calibri" panose="020F0502020204030204" pitchFamily="34" charset="0"/>
                <a:cs typeface="Calibri" panose="020F0502020204030204" pitchFamily="34" charset="0"/>
              </a:rPr>
              <a:t>PartitionState</a:t>
            </a:r>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private int </a:t>
            </a:r>
            <a:r>
              <a:rPr lang="en-US" altLang="zh-CN" sz="1200" dirty="0" err="1">
                <a:solidFill>
                  <a:schemeClr val="bg1"/>
                </a:solidFill>
                <a:latin typeface="Calibri" panose="020F0502020204030204" pitchFamily="34" charset="0"/>
                <a:cs typeface="Calibri" panose="020F0502020204030204" pitchFamily="34" charset="0"/>
              </a:rPr>
              <a:t>leaderId</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Leader</a:t>
            </a:r>
            <a:r>
              <a:rPr lang="zh-CN" altLang="en-US" sz="1200" i="1" dirty="0">
                <a:solidFill>
                  <a:srgbClr val="00B050"/>
                </a:solidFill>
                <a:latin typeface="Calibri" panose="020F0502020204030204" pitchFamily="34" charset="0"/>
                <a:cs typeface="Calibri" panose="020F0502020204030204" pitchFamily="34" charset="0"/>
              </a:rPr>
              <a:t>副本</a:t>
            </a:r>
            <a:r>
              <a:rPr lang="en-US" altLang="zh-CN" sz="1200" i="1" dirty="0">
                <a:solidFill>
                  <a:srgbClr val="00B050"/>
                </a:solidFill>
                <a:latin typeface="Calibri" panose="020F0502020204030204" pitchFamily="34" charset="0"/>
                <a:cs typeface="Calibri" panose="020F0502020204030204" pitchFamily="34" charset="0"/>
              </a:rPr>
              <a:t>ID</a:t>
            </a:r>
            <a:endParaRPr lang="en-US" altLang="zh-CN" sz="1200" dirty="0">
              <a:solidFill>
                <a:srgbClr val="00B050"/>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private List&lt;Integer&gt; </a:t>
            </a:r>
            <a:r>
              <a:rPr lang="en-US" altLang="zh-CN" sz="1200" dirty="0" err="1">
                <a:solidFill>
                  <a:schemeClr val="bg1"/>
                </a:solidFill>
                <a:latin typeface="Calibri" panose="020F0502020204030204" pitchFamily="34" charset="0"/>
                <a:cs typeface="Calibri" panose="020F0502020204030204" pitchFamily="34" charset="0"/>
              </a:rPr>
              <a:t>isr</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同步副本列表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List&lt;Integer&gt; replicas;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所有副本列表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检查副本是否同步</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public </a:t>
            </a:r>
            <a:r>
              <a:rPr lang="en-US" altLang="zh-CN" sz="1200" dirty="0" err="1">
                <a:solidFill>
                  <a:schemeClr val="bg1"/>
                </a:solidFill>
                <a:latin typeface="Calibri" panose="020F0502020204030204" pitchFamily="34" charset="0"/>
                <a:cs typeface="Calibri" panose="020F0502020204030204" pitchFamily="34" charset="0"/>
              </a:rPr>
              <a:t>boolean</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isInSync</a:t>
            </a:r>
            <a:r>
              <a:rPr lang="en-US" altLang="zh-CN" sz="1200" dirty="0">
                <a:solidFill>
                  <a:schemeClr val="bg1"/>
                </a:solidFill>
                <a:latin typeface="Calibri" panose="020F0502020204030204" pitchFamily="34" charset="0"/>
                <a:cs typeface="Calibri" panose="020F0502020204030204" pitchFamily="34" charset="0"/>
              </a:rPr>
              <a:t>(int </a:t>
            </a:r>
            <a:r>
              <a:rPr lang="en-US" altLang="zh-CN" sz="1200" dirty="0" err="1">
                <a:solidFill>
                  <a:schemeClr val="bg1"/>
                </a:solidFill>
                <a:latin typeface="Calibri" panose="020F0502020204030204" pitchFamily="34" charset="0"/>
                <a:cs typeface="Calibri" panose="020F0502020204030204" pitchFamily="34" charset="0"/>
              </a:rPr>
              <a:t>replicaId</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return </a:t>
            </a:r>
            <a:r>
              <a:rPr lang="en-US" altLang="zh-CN" sz="1200" dirty="0" err="1">
                <a:solidFill>
                  <a:schemeClr val="bg1"/>
                </a:solidFill>
                <a:latin typeface="Calibri" panose="020F0502020204030204" pitchFamily="34" charset="0"/>
                <a:cs typeface="Calibri" panose="020F0502020204030204" pitchFamily="34" charset="0"/>
              </a:rPr>
              <a:t>isr.contains</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replicaId</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更新</a:t>
            </a:r>
            <a:r>
              <a:rPr lang="en-US" altLang="zh-CN" sz="1200" i="1" dirty="0">
                <a:solidFill>
                  <a:srgbClr val="00B050"/>
                </a:solidFill>
                <a:latin typeface="Calibri" panose="020F0502020204030204" pitchFamily="34" charset="0"/>
                <a:cs typeface="Calibri" panose="020F0502020204030204" pitchFamily="34" charset="0"/>
              </a:rPr>
              <a:t>ISR</a:t>
            </a:r>
            <a:r>
              <a:rPr lang="zh-CN" altLang="en-US" sz="1200" i="1" dirty="0">
                <a:solidFill>
                  <a:srgbClr val="00B050"/>
                </a:solidFill>
                <a:latin typeface="Calibri" panose="020F0502020204030204" pitchFamily="34" charset="0"/>
                <a:cs typeface="Calibri" panose="020F0502020204030204" pitchFamily="34" charset="0"/>
              </a:rPr>
              <a:t>列表</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public void </a:t>
            </a:r>
            <a:r>
              <a:rPr lang="en-US" altLang="zh-CN" sz="1200" dirty="0" err="1">
                <a:solidFill>
                  <a:schemeClr val="bg1"/>
                </a:solidFill>
                <a:latin typeface="Calibri" panose="020F0502020204030204" pitchFamily="34" charset="0"/>
                <a:cs typeface="Calibri" panose="020F0502020204030204" pitchFamily="34" charset="0"/>
              </a:rPr>
              <a:t>updateIsr</a:t>
            </a:r>
            <a:r>
              <a:rPr lang="en-US" altLang="zh-CN" sz="1200" dirty="0">
                <a:solidFill>
                  <a:schemeClr val="bg1"/>
                </a:solidFill>
                <a:latin typeface="Calibri" panose="020F0502020204030204" pitchFamily="34" charset="0"/>
                <a:cs typeface="Calibri" panose="020F0502020204030204" pitchFamily="34" charset="0"/>
              </a:rPr>
              <a:t>(List&lt;Integer&gt; </a:t>
            </a:r>
            <a:r>
              <a:rPr lang="en-US" altLang="zh-CN" sz="1200" dirty="0" err="1">
                <a:solidFill>
                  <a:schemeClr val="bg1"/>
                </a:solidFill>
                <a:latin typeface="Calibri" panose="020F0502020204030204" pitchFamily="34" charset="0"/>
                <a:cs typeface="Calibri" panose="020F0502020204030204" pitchFamily="34" charset="0"/>
              </a:rPr>
              <a:t>newIsr</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this.isr</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newIsr</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持久化到</a:t>
            </a:r>
            <a:r>
              <a:rPr lang="en-US" altLang="zh-CN" sz="1200" i="1" dirty="0" err="1">
                <a:solidFill>
                  <a:srgbClr val="00B050"/>
                </a:solidFill>
                <a:latin typeface="Calibri" panose="020F0502020204030204" pitchFamily="34" charset="0"/>
                <a:cs typeface="Calibri" panose="020F0502020204030204" pitchFamily="34" charset="0"/>
              </a:rPr>
              <a:t>ZooKeeper</a:t>
            </a:r>
            <a:r>
              <a:rPr lang="zh-CN" altLang="en-US" sz="1200" i="1" dirty="0">
                <a:solidFill>
                  <a:srgbClr val="00B050"/>
                </a:solidFill>
                <a:latin typeface="Calibri" panose="020F0502020204030204" pitchFamily="34" charset="0"/>
                <a:cs typeface="Calibri" panose="020F0502020204030204" pitchFamily="34" charset="0"/>
              </a:rPr>
              <a:t>（传统模式）或</a:t>
            </a:r>
            <a:r>
              <a:rPr lang="en-US" altLang="zh-CN" sz="1200" i="1" dirty="0" err="1">
                <a:solidFill>
                  <a:srgbClr val="00B050"/>
                </a:solidFill>
                <a:latin typeface="Calibri" panose="020F0502020204030204" pitchFamily="34" charset="0"/>
                <a:cs typeface="Calibri" panose="020F0502020204030204" pitchFamily="34" charset="0"/>
              </a:rPr>
              <a:t>KRaft</a:t>
            </a:r>
            <a:r>
              <a:rPr lang="zh-CN" altLang="en-US" sz="1200" i="1" dirty="0">
                <a:solidFill>
                  <a:srgbClr val="00B050"/>
                </a:solidFill>
                <a:latin typeface="Calibri" panose="020F0502020204030204" pitchFamily="34" charset="0"/>
                <a:cs typeface="Calibri" panose="020F0502020204030204" pitchFamily="34" charset="0"/>
              </a:rPr>
              <a:t>元数据日志（</a:t>
            </a:r>
            <a:r>
              <a:rPr lang="en-US" altLang="zh-CN" sz="1200" i="1" dirty="0" err="1">
                <a:solidFill>
                  <a:srgbClr val="00B050"/>
                </a:solidFill>
                <a:latin typeface="Calibri" panose="020F0502020204030204" pitchFamily="34" charset="0"/>
                <a:cs typeface="Calibri" panose="020F0502020204030204" pitchFamily="34" charset="0"/>
              </a:rPr>
              <a:t>KRaft</a:t>
            </a:r>
            <a:r>
              <a:rPr lang="zh-CN" altLang="en-US" sz="1200" i="1" dirty="0">
                <a:solidFill>
                  <a:srgbClr val="00B050"/>
                </a:solidFill>
                <a:latin typeface="Calibri" panose="020F0502020204030204" pitchFamily="34" charset="0"/>
                <a:cs typeface="Calibri" panose="020F0502020204030204" pitchFamily="34" charset="0"/>
              </a:rPr>
              <a:t>模式）</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在</a:t>
            </a:r>
            <a:r>
              <a:rPr lang="en-US" altLang="zh-CN" sz="1200" i="1" dirty="0" err="1">
                <a:solidFill>
                  <a:srgbClr val="00B050"/>
                </a:solidFill>
                <a:latin typeface="Calibri" panose="020F0502020204030204" pitchFamily="34" charset="0"/>
                <a:cs typeface="Calibri" panose="020F0502020204030204" pitchFamily="34" charset="0"/>
              </a:rPr>
              <a:t>KRaft</a:t>
            </a:r>
            <a:r>
              <a:rPr lang="zh-CN" altLang="en-US" sz="1200" i="1" dirty="0">
                <a:solidFill>
                  <a:srgbClr val="00B050"/>
                </a:solidFill>
                <a:latin typeface="Calibri" panose="020F0502020204030204" pitchFamily="34" charset="0"/>
                <a:cs typeface="Calibri" panose="020F0502020204030204" pitchFamily="34" charset="0"/>
              </a:rPr>
              <a:t>模式下，</a:t>
            </a:r>
            <a:r>
              <a:rPr lang="en-US" altLang="zh-CN" sz="1200" i="1" dirty="0">
                <a:solidFill>
                  <a:srgbClr val="00B050"/>
                </a:solidFill>
                <a:latin typeface="Calibri" panose="020F0502020204030204" pitchFamily="34" charset="0"/>
                <a:cs typeface="Calibri" panose="020F0502020204030204" pitchFamily="34" charset="0"/>
              </a:rPr>
              <a:t>ISR</a:t>
            </a:r>
            <a:r>
              <a:rPr lang="zh-CN" altLang="en-US" sz="1200" i="1" dirty="0">
                <a:solidFill>
                  <a:srgbClr val="00B050"/>
                </a:solidFill>
                <a:latin typeface="Calibri" panose="020F0502020204030204" pitchFamily="34" charset="0"/>
                <a:cs typeface="Calibri" panose="020F0502020204030204" pitchFamily="34" charset="0"/>
              </a:rPr>
              <a:t>更新通过控制器协调，确保强一致性</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a:t>
            </a:r>
            <a:endParaRPr lang="zh-CN" altLang="en-US" sz="1200" dirty="0">
              <a:solidFill>
                <a:schemeClr val="bg1"/>
              </a:solidFill>
              <a:latin typeface="Calibri" panose="020F0502020204030204" pitchFamily="34" charset="0"/>
              <a:cs typeface="Calibri" panose="020F0502020204030204" pitchFamily="34" charset="0"/>
            </a:endParaRPr>
          </a:p>
        </p:txBody>
      </p:sp>
      <p:sp>
        <p:nvSpPr>
          <p:cNvPr id="24" name="Text 22"/>
          <p:cNvSpPr/>
          <p:nvPr/>
        </p:nvSpPr>
        <p:spPr>
          <a:xfrm>
            <a:off x="8496255" y="5284636"/>
            <a:ext cx="7203189" cy="229767"/>
          </a:xfrm>
          <a:prstGeom prst="rect">
            <a:avLst/>
          </a:prstGeom>
          <a:noFill/>
          <a:ln/>
        </p:spPr>
        <p:txBody>
          <a:bodyPr wrap="square" lIns="0" tIns="0" rIns="0" bIns="0" rtlCol="0" anchor="ctr"/>
          <a:lstStyle/>
          <a:p>
            <a:pPr>
              <a:lnSpc>
                <a:spcPct val="120000"/>
              </a:lnSpc>
            </a:pPr>
            <a:r>
              <a:rPr lang="en-US" sz="1266" b="1" dirty="0">
                <a:solidFill>
                  <a:srgbClr val="D69E2E"/>
                </a:solidFill>
                <a:latin typeface="MiSans" pitchFamily="34" charset="0"/>
                <a:ea typeface="MiSans" pitchFamily="34" charset="-122"/>
                <a:cs typeface="MiSans" pitchFamily="34" charset="-120"/>
              </a:rPr>
              <a:t>ISR (In-Sync Replicas):</a:t>
            </a:r>
            <a:r>
              <a:rPr lang="en-US" sz="1266" dirty="0">
                <a:solidFill>
                  <a:srgbClr val="E2E8F0">
                    <a:alpha val="80000"/>
                  </a:srgbClr>
                </a:solidFill>
                <a:latin typeface="MiSans" pitchFamily="34" charset="0"/>
                <a:ea typeface="MiSans" pitchFamily="34" charset="-122"/>
                <a:cs typeface="MiSans" pitchFamily="34" charset="-120"/>
              </a:rPr>
              <a:t> 与 Leader 保持同步的副本列表</a:t>
            </a:r>
            <a:endParaRPr lang="en-US" sz="1600" dirty="0"/>
          </a:p>
        </p:txBody>
      </p:sp>
      <p:sp>
        <p:nvSpPr>
          <p:cNvPr id="25" name="Text 23"/>
          <p:cNvSpPr/>
          <p:nvPr/>
        </p:nvSpPr>
        <p:spPr>
          <a:xfrm>
            <a:off x="8496255" y="5606310"/>
            <a:ext cx="7203189" cy="229767"/>
          </a:xfrm>
          <a:prstGeom prst="rect">
            <a:avLst/>
          </a:prstGeom>
          <a:noFill/>
          <a:ln/>
        </p:spPr>
        <p:txBody>
          <a:bodyPr wrap="square" lIns="0" tIns="0" rIns="0" bIns="0" rtlCol="0" anchor="ctr"/>
          <a:lstStyle/>
          <a:p>
            <a:pPr>
              <a:lnSpc>
                <a:spcPct val="120000"/>
              </a:lnSpc>
            </a:pPr>
            <a:r>
              <a:rPr lang="en-US" sz="1266" b="1" dirty="0">
                <a:solidFill>
                  <a:srgbClr val="718096"/>
                </a:solidFill>
                <a:latin typeface="MiSans" pitchFamily="34" charset="0"/>
                <a:ea typeface="MiSans" pitchFamily="34" charset="-122"/>
                <a:cs typeface="MiSans" pitchFamily="34" charset="-120"/>
              </a:rPr>
              <a:t>加入 ISR:</a:t>
            </a:r>
            <a:r>
              <a:rPr lang="en-US" sz="1266" dirty="0">
                <a:solidFill>
                  <a:srgbClr val="E2E8F0">
                    <a:alpha val="80000"/>
                  </a:srgbClr>
                </a:solidFill>
                <a:latin typeface="MiSans" pitchFamily="34" charset="0"/>
                <a:ea typeface="MiSans" pitchFamily="34" charset="-122"/>
                <a:cs typeface="MiSans" pitchFamily="34" charset="-120"/>
              </a:rPr>
              <a:t> 副本追上 Leader 的 LEO，被认为同步</a:t>
            </a:r>
            <a:endParaRPr lang="en-US" sz="1600" dirty="0"/>
          </a:p>
        </p:txBody>
      </p:sp>
      <p:sp>
        <p:nvSpPr>
          <p:cNvPr id="26" name="Text 24"/>
          <p:cNvSpPr/>
          <p:nvPr/>
        </p:nvSpPr>
        <p:spPr>
          <a:xfrm>
            <a:off x="8496255" y="5927983"/>
            <a:ext cx="7203189" cy="229767"/>
          </a:xfrm>
          <a:prstGeom prst="rect">
            <a:avLst/>
          </a:prstGeom>
          <a:noFill/>
          <a:ln/>
        </p:spPr>
        <p:txBody>
          <a:bodyPr wrap="square" lIns="0" tIns="0" rIns="0" bIns="0" rtlCol="0" anchor="ctr"/>
          <a:lstStyle/>
          <a:p>
            <a:pPr>
              <a:lnSpc>
                <a:spcPct val="120000"/>
              </a:lnSpc>
            </a:pPr>
            <a:r>
              <a:rPr lang="en-US" sz="1266" b="1" dirty="0">
                <a:solidFill>
                  <a:srgbClr val="D69E2E"/>
                </a:solidFill>
                <a:latin typeface="MiSans" pitchFamily="34" charset="0"/>
                <a:ea typeface="MiSans" pitchFamily="34" charset="-122"/>
                <a:cs typeface="MiSans" pitchFamily="34" charset="-120"/>
              </a:rPr>
              <a:t>移出 ISR:</a:t>
            </a:r>
            <a:r>
              <a:rPr lang="en-US" sz="1266" dirty="0">
                <a:solidFill>
                  <a:srgbClr val="E2E8F0">
                    <a:alpha val="80000"/>
                  </a:srgbClr>
                </a:solidFill>
                <a:latin typeface="MiSans" pitchFamily="34" charset="0"/>
                <a:ea typeface="MiSans" pitchFamily="34" charset="-122"/>
                <a:cs typeface="MiSans" pitchFamily="34" charset="-120"/>
              </a:rPr>
              <a:t> 副本落后超过 replica.lag.time.max.ms</a:t>
            </a:r>
            <a:endParaRPr lang="en-US" sz="1600" dirty="0"/>
          </a:p>
        </p:txBody>
      </p:sp>
      <p:sp>
        <p:nvSpPr>
          <p:cNvPr id="27" name="Shape 25"/>
          <p:cNvSpPr/>
          <p:nvPr/>
        </p:nvSpPr>
        <p:spPr>
          <a:xfrm>
            <a:off x="8289465" y="6479423"/>
            <a:ext cx="7513374" cy="2205761"/>
          </a:xfrm>
          <a:custGeom>
            <a:avLst/>
            <a:gdLst/>
            <a:ahLst/>
            <a:cxnLst/>
            <a:rect l="l" t="t" r="r" b="b"/>
            <a:pathLst>
              <a:path w="7513374" h="2205761">
                <a:moveTo>
                  <a:pt x="45953" y="0"/>
                </a:moveTo>
                <a:lnTo>
                  <a:pt x="7421460" y="0"/>
                </a:lnTo>
                <a:cubicBezTo>
                  <a:pt x="7472223" y="0"/>
                  <a:pt x="7513374" y="41151"/>
                  <a:pt x="7513374" y="91914"/>
                </a:cubicBezTo>
                <a:lnTo>
                  <a:pt x="7513374" y="2113847"/>
                </a:lnTo>
                <a:cubicBezTo>
                  <a:pt x="7513374" y="2164610"/>
                  <a:pt x="7472223" y="2205761"/>
                  <a:pt x="7421460" y="2205761"/>
                </a:cubicBezTo>
                <a:lnTo>
                  <a:pt x="45953" y="2205761"/>
                </a:lnTo>
                <a:cubicBezTo>
                  <a:pt x="20574" y="2205761"/>
                  <a:pt x="0" y="2185187"/>
                  <a:pt x="0" y="2159808"/>
                </a:cubicBezTo>
                <a:lnTo>
                  <a:pt x="0" y="45953"/>
                </a:lnTo>
                <a:cubicBezTo>
                  <a:pt x="0" y="20574"/>
                  <a:pt x="20574" y="0"/>
                  <a:pt x="45953" y="0"/>
                </a:cubicBezTo>
                <a:close/>
              </a:path>
            </a:pathLst>
          </a:custGeom>
          <a:solidFill>
            <a:srgbClr val="4A5568">
              <a:alpha val="20000"/>
            </a:srgbClr>
          </a:solidFill>
          <a:ln/>
        </p:spPr>
        <p:txBody>
          <a:bodyPr/>
          <a:lstStyle/>
          <a:p>
            <a:endParaRPr lang="zh-CN" altLang="en-US"/>
          </a:p>
        </p:txBody>
      </p:sp>
      <p:sp>
        <p:nvSpPr>
          <p:cNvPr id="28" name="Shape 26"/>
          <p:cNvSpPr/>
          <p:nvPr/>
        </p:nvSpPr>
        <p:spPr>
          <a:xfrm>
            <a:off x="8289465" y="6479423"/>
            <a:ext cx="45953" cy="2205761"/>
          </a:xfrm>
          <a:custGeom>
            <a:avLst/>
            <a:gdLst/>
            <a:ahLst/>
            <a:cxnLst/>
            <a:rect l="l" t="t" r="r" b="b"/>
            <a:pathLst>
              <a:path w="45953" h="2205761">
                <a:moveTo>
                  <a:pt x="45953" y="0"/>
                </a:moveTo>
                <a:lnTo>
                  <a:pt x="45953" y="0"/>
                </a:lnTo>
                <a:lnTo>
                  <a:pt x="45953" y="2205761"/>
                </a:lnTo>
                <a:lnTo>
                  <a:pt x="45953" y="2205761"/>
                </a:lnTo>
                <a:cubicBezTo>
                  <a:pt x="20574" y="2205761"/>
                  <a:pt x="0" y="2185187"/>
                  <a:pt x="0" y="2159808"/>
                </a:cubicBezTo>
                <a:lnTo>
                  <a:pt x="0" y="45953"/>
                </a:lnTo>
                <a:cubicBezTo>
                  <a:pt x="0" y="20574"/>
                  <a:pt x="20574" y="0"/>
                  <a:pt x="45953" y="0"/>
                </a:cubicBezTo>
                <a:close/>
              </a:path>
            </a:pathLst>
          </a:custGeom>
          <a:solidFill>
            <a:srgbClr val="718096"/>
          </a:solidFill>
          <a:ln/>
        </p:spPr>
        <p:txBody>
          <a:bodyPr/>
          <a:lstStyle/>
          <a:p>
            <a:endParaRPr lang="zh-CN" altLang="en-US"/>
          </a:p>
        </p:txBody>
      </p:sp>
      <p:sp>
        <p:nvSpPr>
          <p:cNvPr id="29" name="Text 27"/>
          <p:cNvSpPr/>
          <p:nvPr/>
        </p:nvSpPr>
        <p:spPr>
          <a:xfrm>
            <a:off x="8496255" y="6663237"/>
            <a:ext cx="7237654" cy="321673"/>
          </a:xfrm>
          <a:prstGeom prst="rect">
            <a:avLst/>
          </a:prstGeom>
          <a:noFill/>
          <a:ln/>
        </p:spPr>
        <p:txBody>
          <a:bodyPr wrap="square" lIns="0" tIns="0" rIns="0" bIns="0" rtlCol="0" anchor="ctr"/>
          <a:lstStyle/>
          <a:p>
            <a:pPr>
              <a:lnSpc>
                <a:spcPct val="120000"/>
              </a:lnSpc>
            </a:pPr>
            <a:r>
              <a:rPr lang="en-US" sz="1809" b="1" dirty="0">
                <a:solidFill>
                  <a:srgbClr val="718096"/>
                </a:solidFill>
                <a:latin typeface="MiSans" pitchFamily="34" charset="0"/>
                <a:ea typeface="MiSans" pitchFamily="34" charset="-122"/>
                <a:cs typeface="MiSans" pitchFamily="34" charset="-120"/>
              </a:rPr>
              <a:t>副本同步流程</a:t>
            </a:r>
            <a:endParaRPr lang="en-US" sz="1600" dirty="0"/>
          </a:p>
        </p:txBody>
      </p:sp>
      <p:sp>
        <p:nvSpPr>
          <p:cNvPr id="30" name="Shape 28"/>
          <p:cNvSpPr/>
          <p:nvPr/>
        </p:nvSpPr>
        <p:spPr>
          <a:xfrm>
            <a:off x="8496255" y="7122770"/>
            <a:ext cx="275720" cy="275720"/>
          </a:xfrm>
          <a:custGeom>
            <a:avLst/>
            <a:gdLst/>
            <a:ahLst/>
            <a:cxnLst/>
            <a:rect l="l" t="t" r="r" b="b"/>
            <a:pathLst>
              <a:path w="275720" h="275720">
                <a:moveTo>
                  <a:pt x="137860" y="0"/>
                </a:moveTo>
                <a:lnTo>
                  <a:pt x="137860" y="0"/>
                </a:lnTo>
                <a:cubicBezTo>
                  <a:pt x="213947" y="0"/>
                  <a:pt x="275720" y="61773"/>
                  <a:pt x="275720" y="137860"/>
                </a:cubicBezTo>
                <a:lnTo>
                  <a:pt x="275720" y="137860"/>
                </a:lnTo>
                <a:cubicBezTo>
                  <a:pt x="275720" y="213947"/>
                  <a:pt x="213947" y="275720"/>
                  <a:pt x="137860" y="275720"/>
                </a:cubicBezTo>
                <a:lnTo>
                  <a:pt x="137860" y="275720"/>
                </a:lnTo>
                <a:cubicBezTo>
                  <a:pt x="61773" y="275720"/>
                  <a:pt x="0" y="213947"/>
                  <a:pt x="0" y="137860"/>
                </a:cubicBezTo>
                <a:lnTo>
                  <a:pt x="0" y="137860"/>
                </a:lnTo>
                <a:cubicBezTo>
                  <a:pt x="0" y="61773"/>
                  <a:pt x="61773" y="0"/>
                  <a:pt x="137860" y="0"/>
                </a:cubicBezTo>
                <a:close/>
              </a:path>
            </a:pathLst>
          </a:custGeom>
          <a:solidFill>
            <a:srgbClr val="D69E2E"/>
          </a:solidFill>
          <a:ln/>
        </p:spPr>
        <p:txBody>
          <a:bodyPr/>
          <a:lstStyle/>
          <a:p>
            <a:endParaRPr lang="zh-CN" altLang="en-US"/>
          </a:p>
        </p:txBody>
      </p:sp>
      <p:sp>
        <p:nvSpPr>
          <p:cNvPr id="31" name="Text 29"/>
          <p:cNvSpPr/>
          <p:nvPr/>
        </p:nvSpPr>
        <p:spPr>
          <a:xfrm>
            <a:off x="8607010" y="7168724"/>
            <a:ext cx="126372" cy="183813"/>
          </a:xfrm>
          <a:prstGeom prst="rect">
            <a:avLst/>
          </a:prstGeom>
          <a:noFill/>
          <a:ln/>
        </p:spPr>
        <p:txBody>
          <a:bodyPr wrap="square" lIns="0" tIns="0" rIns="0" bIns="0" rtlCol="0" anchor="ctr"/>
          <a:lstStyle/>
          <a:p>
            <a:pPr>
              <a:lnSpc>
                <a:spcPct val="110000"/>
              </a:lnSpc>
            </a:pPr>
            <a:r>
              <a:rPr lang="en-US" sz="1086" b="1" dirty="0">
                <a:solidFill>
                  <a:srgbClr val="1A1D21"/>
                </a:solidFill>
                <a:latin typeface="MiSans" pitchFamily="34" charset="0"/>
                <a:ea typeface="MiSans" pitchFamily="34" charset="-122"/>
                <a:cs typeface="MiSans" pitchFamily="34" charset="-120"/>
              </a:rPr>
              <a:t>1</a:t>
            </a:r>
            <a:endParaRPr lang="en-US" sz="1600" dirty="0"/>
          </a:p>
        </p:txBody>
      </p:sp>
      <p:sp>
        <p:nvSpPr>
          <p:cNvPr id="32" name="Text 30"/>
          <p:cNvSpPr/>
          <p:nvPr/>
        </p:nvSpPr>
        <p:spPr>
          <a:xfrm>
            <a:off x="8863882" y="7145747"/>
            <a:ext cx="2630830"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Follower 发送 Fetch 请求到 Leader</a:t>
            </a:r>
            <a:endParaRPr lang="en-US" sz="1600" dirty="0"/>
          </a:p>
        </p:txBody>
      </p:sp>
      <p:sp>
        <p:nvSpPr>
          <p:cNvPr id="33" name="Shape 31"/>
          <p:cNvSpPr/>
          <p:nvPr/>
        </p:nvSpPr>
        <p:spPr>
          <a:xfrm>
            <a:off x="8496255" y="7490397"/>
            <a:ext cx="275720" cy="275720"/>
          </a:xfrm>
          <a:custGeom>
            <a:avLst/>
            <a:gdLst/>
            <a:ahLst/>
            <a:cxnLst/>
            <a:rect l="l" t="t" r="r" b="b"/>
            <a:pathLst>
              <a:path w="275720" h="275720">
                <a:moveTo>
                  <a:pt x="137860" y="0"/>
                </a:moveTo>
                <a:lnTo>
                  <a:pt x="137860" y="0"/>
                </a:lnTo>
                <a:cubicBezTo>
                  <a:pt x="213947" y="0"/>
                  <a:pt x="275720" y="61773"/>
                  <a:pt x="275720" y="137860"/>
                </a:cubicBezTo>
                <a:lnTo>
                  <a:pt x="275720" y="137860"/>
                </a:lnTo>
                <a:cubicBezTo>
                  <a:pt x="275720" y="213947"/>
                  <a:pt x="213947" y="275720"/>
                  <a:pt x="137860" y="275720"/>
                </a:cubicBezTo>
                <a:lnTo>
                  <a:pt x="137860" y="275720"/>
                </a:lnTo>
                <a:cubicBezTo>
                  <a:pt x="61773" y="275720"/>
                  <a:pt x="0" y="213947"/>
                  <a:pt x="0" y="137860"/>
                </a:cubicBezTo>
                <a:lnTo>
                  <a:pt x="0" y="137860"/>
                </a:lnTo>
                <a:cubicBezTo>
                  <a:pt x="0" y="61773"/>
                  <a:pt x="61773" y="0"/>
                  <a:pt x="137860" y="0"/>
                </a:cubicBezTo>
                <a:close/>
              </a:path>
            </a:pathLst>
          </a:custGeom>
          <a:solidFill>
            <a:srgbClr val="718096"/>
          </a:solidFill>
          <a:ln/>
        </p:spPr>
        <p:txBody>
          <a:bodyPr/>
          <a:lstStyle/>
          <a:p>
            <a:endParaRPr lang="zh-CN" altLang="en-US"/>
          </a:p>
        </p:txBody>
      </p:sp>
      <p:sp>
        <p:nvSpPr>
          <p:cNvPr id="34" name="Text 32"/>
          <p:cNvSpPr/>
          <p:nvPr/>
        </p:nvSpPr>
        <p:spPr>
          <a:xfrm>
            <a:off x="8595342" y="7536351"/>
            <a:ext cx="149348" cy="183813"/>
          </a:xfrm>
          <a:prstGeom prst="rect">
            <a:avLst/>
          </a:prstGeom>
          <a:noFill/>
          <a:ln/>
        </p:spPr>
        <p:txBody>
          <a:bodyPr wrap="square" lIns="0" tIns="0" rIns="0" bIns="0" rtlCol="0" anchor="ctr"/>
          <a:lstStyle/>
          <a:p>
            <a:pPr>
              <a:lnSpc>
                <a:spcPct val="110000"/>
              </a:lnSpc>
            </a:pPr>
            <a:r>
              <a:rPr lang="en-US" sz="1086" b="1" dirty="0">
                <a:solidFill>
                  <a:srgbClr val="1A1D21"/>
                </a:solidFill>
                <a:latin typeface="MiSans" pitchFamily="34" charset="0"/>
                <a:ea typeface="MiSans" pitchFamily="34" charset="-122"/>
                <a:cs typeface="MiSans" pitchFamily="34" charset="-120"/>
              </a:rPr>
              <a:t>2</a:t>
            </a:r>
            <a:endParaRPr lang="en-US" sz="1600" dirty="0"/>
          </a:p>
        </p:txBody>
      </p:sp>
      <p:sp>
        <p:nvSpPr>
          <p:cNvPr id="35" name="Text 33"/>
          <p:cNvSpPr/>
          <p:nvPr/>
        </p:nvSpPr>
        <p:spPr>
          <a:xfrm>
            <a:off x="8863882" y="7513374"/>
            <a:ext cx="2079389"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Leader 返回消息数据和 HW</a:t>
            </a:r>
            <a:endParaRPr lang="en-US" sz="1600" dirty="0"/>
          </a:p>
        </p:txBody>
      </p:sp>
      <p:sp>
        <p:nvSpPr>
          <p:cNvPr id="36" name="Shape 34"/>
          <p:cNvSpPr/>
          <p:nvPr/>
        </p:nvSpPr>
        <p:spPr>
          <a:xfrm>
            <a:off x="8496255" y="7858024"/>
            <a:ext cx="275720" cy="275720"/>
          </a:xfrm>
          <a:custGeom>
            <a:avLst/>
            <a:gdLst/>
            <a:ahLst/>
            <a:cxnLst/>
            <a:rect l="l" t="t" r="r" b="b"/>
            <a:pathLst>
              <a:path w="275720" h="275720">
                <a:moveTo>
                  <a:pt x="137860" y="0"/>
                </a:moveTo>
                <a:lnTo>
                  <a:pt x="137860" y="0"/>
                </a:lnTo>
                <a:cubicBezTo>
                  <a:pt x="213947" y="0"/>
                  <a:pt x="275720" y="61773"/>
                  <a:pt x="275720" y="137860"/>
                </a:cubicBezTo>
                <a:lnTo>
                  <a:pt x="275720" y="137860"/>
                </a:lnTo>
                <a:cubicBezTo>
                  <a:pt x="275720" y="213947"/>
                  <a:pt x="213947" y="275720"/>
                  <a:pt x="137860" y="275720"/>
                </a:cubicBezTo>
                <a:lnTo>
                  <a:pt x="137860" y="275720"/>
                </a:lnTo>
                <a:cubicBezTo>
                  <a:pt x="61773" y="275720"/>
                  <a:pt x="0" y="213947"/>
                  <a:pt x="0" y="137860"/>
                </a:cubicBezTo>
                <a:lnTo>
                  <a:pt x="0" y="137860"/>
                </a:lnTo>
                <a:cubicBezTo>
                  <a:pt x="0" y="61773"/>
                  <a:pt x="61773" y="0"/>
                  <a:pt x="137860" y="0"/>
                </a:cubicBezTo>
                <a:close/>
              </a:path>
            </a:pathLst>
          </a:custGeom>
          <a:solidFill>
            <a:srgbClr val="D69E2E"/>
          </a:solidFill>
          <a:ln/>
        </p:spPr>
        <p:txBody>
          <a:bodyPr/>
          <a:lstStyle/>
          <a:p>
            <a:endParaRPr lang="zh-CN" altLang="en-US"/>
          </a:p>
        </p:txBody>
      </p:sp>
      <p:sp>
        <p:nvSpPr>
          <p:cNvPr id="37" name="Text 35"/>
          <p:cNvSpPr/>
          <p:nvPr/>
        </p:nvSpPr>
        <p:spPr>
          <a:xfrm>
            <a:off x="8593547" y="7903977"/>
            <a:ext cx="149348" cy="183813"/>
          </a:xfrm>
          <a:prstGeom prst="rect">
            <a:avLst/>
          </a:prstGeom>
          <a:noFill/>
          <a:ln/>
        </p:spPr>
        <p:txBody>
          <a:bodyPr wrap="square" lIns="0" tIns="0" rIns="0" bIns="0" rtlCol="0" anchor="ctr"/>
          <a:lstStyle/>
          <a:p>
            <a:pPr>
              <a:lnSpc>
                <a:spcPct val="110000"/>
              </a:lnSpc>
            </a:pPr>
            <a:r>
              <a:rPr lang="en-US" sz="1086" b="1" dirty="0">
                <a:solidFill>
                  <a:srgbClr val="1A1D21"/>
                </a:solidFill>
                <a:latin typeface="MiSans" pitchFamily="34" charset="0"/>
                <a:ea typeface="MiSans" pitchFamily="34" charset="-122"/>
                <a:cs typeface="MiSans" pitchFamily="34" charset="-120"/>
              </a:rPr>
              <a:t>3</a:t>
            </a:r>
            <a:endParaRPr lang="en-US" sz="1600" dirty="0"/>
          </a:p>
        </p:txBody>
      </p:sp>
      <p:sp>
        <p:nvSpPr>
          <p:cNvPr id="38" name="Text 36"/>
          <p:cNvSpPr/>
          <p:nvPr/>
        </p:nvSpPr>
        <p:spPr>
          <a:xfrm>
            <a:off x="8863882" y="7881001"/>
            <a:ext cx="2561900"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Follower 写入本地日志，更新 LEO</a:t>
            </a:r>
            <a:endParaRPr lang="en-US" sz="1600" dirty="0"/>
          </a:p>
        </p:txBody>
      </p:sp>
      <p:sp>
        <p:nvSpPr>
          <p:cNvPr id="39" name="Shape 37"/>
          <p:cNvSpPr/>
          <p:nvPr/>
        </p:nvSpPr>
        <p:spPr>
          <a:xfrm>
            <a:off x="8496255" y="8225651"/>
            <a:ext cx="275720" cy="275720"/>
          </a:xfrm>
          <a:custGeom>
            <a:avLst/>
            <a:gdLst/>
            <a:ahLst/>
            <a:cxnLst/>
            <a:rect l="l" t="t" r="r" b="b"/>
            <a:pathLst>
              <a:path w="275720" h="275720">
                <a:moveTo>
                  <a:pt x="137860" y="0"/>
                </a:moveTo>
                <a:lnTo>
                  <a:pt x="137860" y="0"/>
                </a:lnTo>
                <a:cubicBezTo>
                  <a:pt x="213947" y="0"/>
                  <a:pt x="275720" y="61773"/>
                  <a:pt x="275720" y="137860"/>
                </a:cubicBezTo>
                <a:lnTo>
                  <a:pt x="275720" y="137860"/>
                </a:lnTo>
                <a:cubicBezTo>
                  <a:pt x="275720" y="213947"/>
                  <a:pt x="213947" y="275720"/>
                  <a:pt x="137860" y="275720"/>
                </a:cubicBezTo>
                <a:lnTo>
                  <a:pt x="137860" y="275720"/>
                </a:lnTo>
                <a:cubicBezTo>
                  <a:pt x="61773" y="275720"/>
                  <a:pt x="0" y="213947"/>
                  <a:pt x="0" y="137860"/>
                </a:cubicBezTo>
                <a:lnTo>
                  <a:pt x="0" y="137860"/>
                </a:lnTo>
                <a:cubicBezTo>
                  <a:pt x="0" y="61773"/>
                  <a:pt x="61773" y="0"/>
                  <a:pt x="137860" y="0"/>
                </a:cubicBezTo>
                <a:close/>
              </a:path>
            </a:pathLst>
          </a:custGeom>
          <a:solidFill>
            <a:srgbClr val="718096"/>
          </a:solidFill>
          <a:ln/>
        </p:spPr>
        <p:txBody>
          <a:bodyPr/>
          <a:lstStyle/>
          <a:p>
            <a:endParaRPr lang="zh-CN" altLang="en-US"/>
          </a:p>
        </p:txBody>
      </p:sp>
      <p:sp>
        <p:nvSpPr>
          <p:cNvPr id="40" name="Text 38"/>
          <p:cNvSpPr/>
          <p:nvPr/>
        </p:nvSpPr>
        <p:spPr>
          <a:xfrm>
            <a:off x="8593637" y="8271604"/>
            <a:ext cx="149348" cy="183813"/>
          </a:xfrm>
          <a:prstGeom prst="rect">
            <a:avLst/>
          </a:prstGeom>
          <a:noFill/>
          <a:ln/>
        </p:spPr>
        <p:txBody>
          <a:bodyPr wrap="square" lIns="0" tIns="0" rIns="0" bIns="0" rtlCol="0" anchor="ctr"/>
          <a:lstStyle/>
          <a:p>
            <a:pPr>
              <a:lnSpc>
                <a:spcPct val="110000"/>
              </a:lnSpc>
            </a:pPr>
            <a:r>
              <a:rPr lang="en-US" sz="1086" b="1" dirty="0">
                <a:solidFill>
                  <a:srgbClr val="1A1D21"/>
                </a:solidFill>
                <a:latin typeface="MiSans" pitchFamily="34" charset="0"/>
                <a:ea typeface="MiSans" pitchFamily="34" charset="-122"/>
                <a:cs typeface="MiSans" pitchFamily="34" charset="-120"/>
              </a:rPr>
              <a:t>4</a:t>
            </a:r>
            <a:endParaRPr lang="en-US" sz="1600" dirty="0"/>
          </a:p>
        </p:txBody>
      </p:sp>
      <p:sp>
        <p:nvSpPr>
          <p:cNvPr id="41" name="Text 39"/>
          <p:cNvSpPr/>
          <p:nvPr/>
        </p:nvSpPr>
        <p:spPr>
          <a:xfrm>
            <a:off x="8863882" y="8248628"/>
            <a:ext cx="2401063" cy="229767"/>
          </a:xfrm>
          <a:prstGeom prst="rect">
            <a:avLst/>
          </a:prstGeom>
          <a:noFill/>
          <a:ln/>
        </p:spPr>
        <p:txBody>
          <a:bodyPr wrap="square" lIns="0" tIns="0" rIns="0" bIns="0" rtlCol="0" anchor="ctr"/>
          <a:lstStyle/>
          <a:p>
            <a:pPr>
              <a:lnSpc>
                <a:spcPct val="120000"/>
              </a:lnSpc>
            </a:pPr>
            <a:r>
              <a:rPr lang="en-US" sz="1266" dirty="0">
                <a:solidFill>
                  <a:srgbClr val="E2E8F0">
                    <a:alpha val="80000"/>
                  </a:srgbClr>
                </a:solidFill>
                <a:latin typeface="MiSans" pitchFamily="34" charset="0"/>
                <a:ea typeface="MiSans" pitchFamily="34" charset="-122"/>
                <a:cs typeface="MiSans" pitchFamily="34" charset="-120"/>
              </a:rPr>
              <a:t>Leader 更新 HW，通知所有副本</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97125" y="497125"/>
            <a:ext cx="15361174" cy="298275"/>
          </a:xfrm>
          <a:prstGeom prst="rect">
            <a:avLst/>
          </a:prstGeom>
          <a:noFill/>
          <a:ln/>
        </p:spPr>
        <p:txBody>
          <a:bodyPr wrap="square" lIns="0" tIns="0" rIns="0" bIns="0" rtlCol="0" anchor="ctr"/>
          <a:lstStyle/>
          <a:p>
            <a:pPr>
              <a:lnSpc>
                <a:spcPct val="130000"/>
              </a:lnSpc>
            </a:pPr>
            <a:r>
              <a:rPr lang="en-US" sz="1566" b="1" kern="0" spc="78" dirty="0">
                <a:solidFill>
                  <a:srgbClr val="D69E2E"/>
                </a:solidFill>
                <a:latin typeface="MiSans" pitchFamily="34" charset="0"/>
                <a:ea typeface="MiSans" pitchFamily="34" charset="-122"/>
                <a:cs typeface="MiSans" pitchFamily="34" charset="-120"/>
              </a:rPr>
              <a:t>3.3.4 水位线机制 | 3.3.5 Leader 选举</a:t>
            </a:r>
            <a:endParaRPr lang="en-US" sz="1600" dirty="0"/>
          </a:p>
        </p:txBody>
      </p:sp>
      <p:sp>
        <p:nvSpPr>
          <p:cNvPr id="3" name="Text 1"/>
          <p:cNvSpPr/>
          <p:nvPr/>
        </p:nvSpPr>
        <p:spPr>
          <a:xfrm>
            <a:off x="497125" y="894826"/>
            <a:ext cx="15485456" cy="497125"/>
          </a:xfrm>
          <a:prstGeom prst="rect">
            <a:avLst/>
          </a:prstGeom>
          <a:noFill/>
          <a:ln/>
        </p:spPr>
        <p:txBody>
          <a:bodyPr wrap="square" lIns="0" tIns="0" rIns="0" bIns="0" rtlCol="0" anchor="ctr"/>
          <a:lstStyle/>
          <a:p>
            <a:pPr>
              <a:lnSpc>
                <a:spcPct val="90000"/>
              </a:lnSpc>
            </a:pPr>
            <a:r>
              <a:rPr lang="en-US" sz="3523" b="1" dirty="0">
                <a:solidFill>
                  <a:srgbClr val="E2E8F0"/>
                </a:solidFill>
                <a:latin typeface="MiSans" pitchFamily="34" charset="0"/>
                <a:ea typeface="MiSans" pitchFamily="34" charset="-122"/>
                <a:cs typeface="MiSans" pitchFamily="34" charset="-120"/>
              </a:rPr>
              <a:t>水位线机制与 Leader 选举</a:t>
            </a:r>
            <a:endParaRPr lang="en-US" sz="1600" dirty="0"/>
          </a:p>
        </p:txBody>
      </p:sp>
      <p:sp>
        <p:nvSpPr>
          <p:cNvPr id="4" name="Shape 2"/>
          <p:cNvSpPr/>
          <p:nvPr/>
        </p:nvSpPr>
        <p:spPr>
          <a:xfrm>
            <a:off x="521982" y="1590801"/>
            <a:ext cx="7456881" cy="5219817"/>
          </a:xfrm>
          <a:custGeom>
            <a:avLst/>
            <a:gdLst/>
            <a:ahLst/>
            <a:cxnLst/>
            <a:rect l="l" t="t" r="r" b="b"/>
            <a:pathLst>
              <a:path w="7456881" h="5219817">
                <a:moveTo>
                  <a:pt x="49713" y="0"/>
                </a:moveTo>
                <a:lnTo>
                  <a:pt x="7357443" y="0"/>
                </a:lnTo>
                <a:cubicBezTo>
                  <a:pt x="7412324" y="0"/>
                  <a:pt x="7456881" y="44556"/>
                  <a:pt x="7456881" y="99438"/>
                </a:cubicBezTo>
                <a:lnTo>
                  <a:pt x="7456881" y="5120379"/>
                </a:lnTo>
                <a:cubicBezTo>
                  <a:pt x="7456881" y="5175260"/>
                  <a:pt x="7412324" y="5219817"/>
                  <a:pt x="7357443" y="5219817"/>
                </a:cubicBezTo>
                <a:lnTo>
                  <a:pt x="49713" y="5219817"/>
                </a:lnTo>
                <a:cubicBezTo>
                  <a:pt x="22257" y="5219817"/>
                  <a:pt x="0" y="5197559"/>
                  <a:pt x="0" y="5170104"/>
                </a:cubicBezTo>
                <a:lnTo>
                  <a:pt x="0" y="49713"/>
                </a:lnTo>
                <a:cubicBezTo>
                  <a:pt x="0" y="22257"/>
                  <a:pt x="22257" y="0"/>
                  <a:pt x="49713" y="0"/>
                </a:cubicBezTo>
                <a:close/>
              </a:path>
            </a:pathLst>
          </a:custGeom>
          <a:solidFill>
            <a:srgbClr val="4A5568">
              <a:alpha val="20000"/>
            </a:srgbClr>
          </a:solidFill>
          <a:ln/>
        </p:spPr>
        <p:txBody>
          <a:bodyPr/>
          <a:lstStyle/>
          <a:p>
            <a:endParaRPr lang="zh-CN" altLang="en-US"/>
          </a:p>
        </p:txBody>
      </p:sp>
      <p:sp>
        <p:nvSpPr>
          <p:cNvPr id="5" name="Shape 3"/>
          <p:cNvSpPr/>
          <p:nvPr/>
        </p:nvSpPr>
        <p:spPr>
          <a:xfrm>
            <a:off x="521982" y="1590801"/>
            <a:ext cx="49713" cy="5219817"/>
          </a:xfrm>
          <a:custGeom>
            <a:avLst/>
            <a:gdLst/>
            <a:ahLst/>
            <a:cxnLst/>
            <a:rect l="l" t="t" r="r" b="b"/>
            <a:pathLst>
              <a:path w="49713" h="5219817">
                <a:moveTo>
                  <a:pt x="49713" y="0"/>
                </a:moveTo>
                <a:lnTo>
                  <a:pt x="49713" y="0"/>
                </a:lnTo>
                <a:lnTo>
                  <a:pt x="49713" y="5219817"/>
                </a:lnTo>
                <a:lnTo>
                  <a:pt x="49713" y="5219817"/>
                </a:lnTo>
                <a:cubicBezTo>
                  <a:pt x="22257" y="5219817"/>
                  <a:pt x="0" y="5197559"/>
                  <a:pt x="0" y="5170104"/>
                </a:cubicBezTo>
                <a:lnTo>
                  <a:pt x="0" y="49713"/>
                </a:lnTo>
                <a:cubicBezTo>
                  <a:pt x="0" y="22275"/>
                  <a:pt x="22275" y="0"/>
                  <a:pt x="49713" y="0"/>
                </a:cubicBezTo>
                <a:close/>
              </a:path>
            </a:pathLst>
          </a:custGeom>
          <a:solidFill>
            <a:srgbClr val="D69E2E"/>
          </a:solidFill>
          <a:ln/>
        </p:spPr>
        <p:txBody>
          <a:bodyPr/>
          <a:lstStyle/>
          <a:p>
            <a:endParaRPr lang="zh-CN" altLang="en-US"/>
          </a:p>
        </p:txBody>
      </p:sp>
      <p:sp>
        <p:nvSpPr>
          <p:cNvPr id="6" name="Text 4"/>
          <p:cNvSpPr/>
          <p:nvPr/>
        </p:nvSpPr>
        <p:spPr>
          <a:xfrm>
            <a:off x="745688" y="1789651"/>
            <a:ext cx="7158606" cy="347988"/>
          </a:xfrm>
          <a:prstGeom prst="rect">
            <a:avLst/>
          </a:prstGeom>
          <a:noFill/>
          <a:ln/>
        </p:spPr>
        <p:txBody>
          <a:bodyPr wrap="square" lIns="0" tIns="0" rIns="0" bIns="0" rtlCol="0" anchor="ctr"/>
          <a:lstStyle/>
          <a:p>
            <a:pPr>
              <a:lnSpc>
                <a:spcPct val="120000"/>
              </a:lnSpc>
            </a:pPr>
            <a:r>
              <a:rPr lang="en-US" sz="1957" b="1" dirty="0">
                <a:solidFill>
                  <a:srgbClr val="D69E2E"/>
                </a:solidFill>
                <a:latin typeface="MiSans" pitchFamily="34" charset="0"/>
                <a:ea typeface="MiSans" pitchFamily="34" charset="-122"/>
                <a:cs typeface="MiSans" pitchFamily="34" charset="-120"/>
              </a:rPr>
              <a:t>水位线 (Watermark) 机制</a:t>
            </a:r>
            <a:endParaRPr lang="en-US" sz="1600" dirty="0"/>
          </a:p>
        </p:txBody>
      </p:sp>
      <p:sp>
        <p:nvSpPr>
          <p:cNvPr id="7" name="Shape 5"/>
          <p:cNvSpPr/>
          <p:nvPr/>
        </p:nvSpPr>
        <p:spPr>
          <a:xfrm>
            <a:off x="745688" y="2286777"/>
            <a:ext cx="7034324" cy="2286777"/>
          </a:xfrm>
          <a:custGeom>
            <a:avLst/>
            <a:gdLst/>
            <a:ahLst/>
            <a:cxnLst/>
            <a:rect l="l" t="t" r="r" b="b"/>
            <a:pathLst>
              <a:path w="7034324" h="2286777">
                <a:moveTo>
                  <a:pt x="49715" y="0"/>
                </a:moveTo>
                <a:lnTo>
                  <a:pt x="6984610" y="0"/>
                </a:lnTo>
                <a:cubicBezTo>
                  <a:pt x="7012066" y="0"/>
                  <a:pt x="7034324" y="22258"/>
                  <a:pt x="7034324" y="49715"/>
                </a:cubicBezTo>
                <a:lnTo>
                  <a:pt x="7034324" y="2237062"/>
                </a:lnTo>
                <a:cubicBezTo>
                  <a:pt x="7034324" y="2264519"/>
                  <a:pt x="7012066" y="2286777"/>
                  <a:pt x="6984610" y="2286777"/>
                </a:cubicBezTo>
                <a:lnTo>
                  <a:pt x="49715" y="2286777"/>
                </a:lnTo>
                <a:cubicBezTo>
                  <a:pt x="22276" y="2286777"/>
                  <a:pt x="0" y="2264500"/>
                  <a:pt x="0" y="2237062"/>
                </a:cubicBezTo>
                <a:lnTo>
                  <a:pt x="0" y="49715"/>
                </a:lnTo>
                <a:cubicBezTo>
                  <a:pt x="0" y="22258"/>
                  <a:pt x="22258" y="0"/>
                  <a:pt x="49715" y="0"/>
                </a:cubicBezTo>
                <a:close/>
              </a:path>
            </a:pathLst>
          </a:custGeom>
          <a:solidFill>
            <a:srgbClr val="1A1D21">
              <a:alpha val="60000"/>
            </a:srgbClr>
          </a:solidFill>
          <a:ln/>
        </p:spPr>
        <p:txBody>
          <a:bodyPr/>
          <a:lstStyle/>
          <a:p>
            <a:endParaRPr lang="zh-CN" altLang="en-US"/>
          </a:p>
        </p:txBody>
      </p:sp>
      <p:sp>
        <p:nvSpPr>
          <p:cNvPr id="8" name="Text 6"/>
          <p:cNvSpPr/>
          <p:nvPr/>
        </p:nvSpPr>
        <p:spPr>
          <a:xfrm>
            <a:off x="894826" y="2435914"/>
            <a:ext cx="6810618" cy="1988502"/>
          </a:xfrm>
          <a:prstGeom prst="rect">
            <a:avLst/>
          </a:prstGeom>
          <a:noFill/>
          <a:ln/>
        </p:spPr>
        <p:txBody>
          <a:bodyPr wrap="square" lIns="0" tIns="0" rIns="0" bIns="0" rtlCol="0" anchor="ctr"/>
          <a:lstStyle/>
          <a:p>
            <a:r>
              <a:rPr lang="en-US" altLang="zh-CN" sz="1200" dirty="0">
                <a:solidFill>
                  <a:schemeClr val="bg1"/>
                </a:solidFill>
                <a:latin typeface="Calibri" panose="020F0502020204030204" pitchFamily="34" charset="0"/>
                <a:cs typeface="Calibri" panose="020F0502020204030204" pitchFamily="34" charset="0"/>
              </a:rPr>
              <a:t>public class Log {</a:t>
            </a:r>
          </a:p>
          <a:p>
            <a:r>
              <a:rPr lang="en-US" altLang="zh-CN" sz="1200" dirty="0">
                <a:solidFill>
                  <a:schemeClr val="bg1"/>
                </a:solidFill>
                <a:latin typeface="Calibri" panose="020F0502020204030204" pitchFamily="34" charset="0"/>
                <a:cs typeface="Calibri" panose="020F0502020204030204" pitchFamily="34" charset="0"/>
              </a:rPr>
              <a:t>    private long </a:t>
            </a:r>
            <a:r>
              <a:rPr lang="en-US" altLang="zh-CN" sz="1200" dirty="0" err="1">
                <a:solidFill>
                  <a:schemeClr val="bg1"/>
                </a:solidFill>
                <a:latin typeface="Calibri" panose="020F0502020204030204" pitchFamily="34" charset="0"/>
                <a:cs typeface="Calibri" panose="020F0502020204030204" pitchFamily="34" charset="0"/>
              </a:rPr>
              <a:t>logEndOffset</a:t>
            </a:r>
            <a:r>
              <a:rPr lang="en-US" altLang="zh-CN" sz="1200" dirty="0">
                <a:solidFill>
                  <a:schemeClr val="bg1"/>
                </a:solidFill>
                <a:latin typeface="Calibri" panose="020F0502020204030204" pitchFamily="34" charset="0"/>
                <a:cs typeface="Calibri" panose="020F0502020204030204" pitchFamily="34" charset="0"/>
              </a:rPr>
              <a:t> = 0;        </a:t>
            </a:r>
            <a:r>
              <a:rPr lang="en-US" altLang="zh-CN" sz="1200" i="1" dirty="0">
                <a:solidFill>
                  <a:srgbClr val="00B050"/>
                </a:solidFill>
                <a:latin typeface="Calibri" panose="020F0502020204030204" pitchFamily="34" charset="0"/>
                <a:cs typeface="Calibri" panose="020F0502020204030204" pitchFamily="34" charset="0"/>
              </a:rPr>
              <a:t>// LEO</a:t>
            </a:r>
            <a:r>
              <a:rPr lang="zh-CN" altLang="en-US" sz="1200" i="1" dirty="0">
                <a:solidFill>
                  <a:srgbClr val="00B050"/>
                </a:solidFill>
                <a:latin typeface="Calibri" panose="020F0502020204030204" pitchFamily="34" charset="0"/>
                <a:cs typeface="Calibri" panose="020F0502020204030204" pitchFamily="34" charset="0"/>
              </a:rPr>
              <a:t>：日志结束偏移量</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long </a:t>
            </a:r>
            <a:r>
              <a:rPr lang="en-US" altLang="zh-CN" sz="1200" dirty="0" err="1">
                <a:solidFill>
                  <a:schemeClr val="bg1"/>
                </a:solidFill>
                <a:latin typeface="Calibri" panose="020F0502020204030204" pitchFamily="34" charset="0"/>
                <a:cs typeface="Calibri" panose="020F0502020204030204" pitchFamily="34" charset="0"/>
              </a:rPr>
              <a:t>highWatermark</a:t>
            </a:r>
            <a:r>
              <a:rPr lang="en-US" altLang="zh-CN" sz="1200" dirty="0">
                <a:solidFill>
                  <a:schemeClr val="bg1"/>
                </a:solidFill>
                <a:latin typeface="Calibri" panose="020F0502020204030204" pitchFamily="34" charset="0"/>
                <a:cs typeface="Calibri" panose="020F0502020204030204" pitchFamily="34" charset="0"/>
              </a:rPr>
              <a:t> = 0;      </a:t>
            </a:r>
            <a:r>
              <a:rPr lang="en-US" altLang="zh-CN" sz="1200" i="1" dirty="0">
                <a:solidFill>
                  <a:srgbClr val="00B050"/>
                </a:solidFill>
                <a:latin typeface="Calibri" panose="020F0502020204030204" pitchFamily="34" charset="0"/>
                <a:cs typeface="Calibri" panose="020F0502020204030204" pitchFamily="34" charset="0"/>
              </a:rPr>
              <a:t>// HW</a:t>
            </a:r>
            <a:r>
              <a:rPr lang="zh-CN" altLang="en-US" sz="1200" i="1" dirty="0">
                <a:solidFill>
                  <a:srgbClr val="00B050"/>
                </a:solidFill>
                <a:latin typeface="Calibri" panose="020F0502020204030204" pitchFamily="34" charset="0"/>
                <a:cs typeface="Calibri" panose="020F0502020204030204" pitchFamily="34" charset="0"/>
              </a:rPr>
              <a:t>：高水位线</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更新高水位线</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public void </a:t>
            </a:r>
            <a:r>
              <a:rPr lang="en-US" altLang="zh-CN" sz="1200" dirty="0" err="1">
                <a:solidFill>
                  <a:schemeClr val="bg1"/>
                </a:solidFill>
                <a:latin typeface="Calibri" panose="020F0502020204030204" pitchFamily="34" charset="0"/>
                <a:cs typeface="Calibri" panose="020F0502020204030204" pitchFamily="34" charset="0"/>
              </a:rPr>
              <a:t>updateHighWatermark</a:t>
            </a:r>
            <a:r>
              <a:rPr lang="en-US" altLang="zh-CN" sz="1200" dirty="0">
                <a:solidFill>
                  <a:schemeClr val="bg1"/>
                </a:solidFill>
                <a:latin typeface="Calibri" panose="020F0502020204030204" pitchFamily="34" charset="0"/>
                <a:cs typeface="Calibri" panose="020F0502020204030204" pitchFamily="34" charset="0"/>
              </a:rPr>
              <a:t>(long </a:t>
            </a:r>
            <a:r>
              <a:rPr lang="en-US" altLang="zh-CN" sz="1200" dirty="0" err="1">
                <a:solidFill>
                  <a:schemeClr val="bg1"/>
                </a:solidFill>
                <a:latin typeface="Calibri" panose="020F0502020204030204" pitchFamily="34" charset="0"/>
                <a:cs typeface="Calibri" panose="020F0502020204030204" pitchFamily="34" charset="0"/>
              </a:rPr>
              <a:t>newHw</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this.highWatermark</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Math.min</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newHw</a:t>
            </a:r>
            <a:r>
              <a:rPr lang="en-US" altLang="zh-CN"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logEndOffset</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获取可读消息范围</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public long </a:t>
            </a:r>
            <a:r>
              <a:rPr lang="en-US" altLang="zh-CN" sz="1200" dirty="0" err="1">
                <a:solidFill>
                  <a:schemeClr val="bg1"/>
                </a:solidFill>
                <a:latin typeface="Calibri" panose="020F0502020204030204" pitchFamily="34" charset="0"/>
                <a:cs typeface="Calibri" panose="020F0502020204030204" pitchFamily="34" charset="0"/>
              </a:rPr>
              <a:t>fetchOffset</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        return </a:t>
            </a:r>
            <a:r>
              <a:rPr lang="en-US" altLang="zh-CN" sz="1200" dirty="0" err="1">
                <a:solidFill>
                  <a:schemeClr val="bg1"/>
                </a:solidFill>
                <a:latin typeface="Calibri" panose="020F0502020204030204" pitchFamily="34" charset="0"/>
                <a:cs typeface="Calibri" panose="020F0502020204030204" pitchFamily="34" charset="0"/>
              </a:rPr>
              <a:t>highWatermark</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a:t>
            </a:r>
          </a:p>
        </p:txBody>
      </p:sp>
      <p:sp>
        <p:nvSpPr>
          <p:cNvPr id="9" name="Shape 7"/>
          <p:cNvSpPr/>
          <p:nvPr/>
        </p:nvSpPr>
        <p:spPr>
          <a:xfrm>
            <a:off x="745688" y="4722691"/>
            <a:ext cx="7034324" cy="894826"/>
          </a:xfrm>
          <a:custGeom>
            <a:avLst/>
            <a:gdLst/>
            <a:ahLst/>
            <a:cxnLst/>
            <a:rect l="l" t="t" r="r" b="b"/>
            <a:pathLst>
              <a:path w="7034324" h="894826">
                <a:moveTo>
                  <a:pt x="49717" y="0"/>
                </a:moveTo>
                <a:lnTo>
                  <a:pt x="6984608" y="0"/>
                </a:lnTo>
                <a:cubicBezTo>
                  <a:pt x="7012065" y="0"/>
                  <a:pt x="7034324" y="22259"/>
                  <a:pt x="7034324" y="49717"/>
                </a:cubicBezTo>
                <a:lnTo>
                  <a:pt x="7034324" y="845109"/>
                </a:lnTo>
                <a:cubicBezTo>
                  <a:pt x="7034324" y="872567"/>
                  <a:pt x="7012065" y="894826"/>
                  <a:pt x="6984608" y="894826"/>
                </a:cubicBezTo>
                <a:lnTo>
                  <a:pt x="49717" y="894826"/>
                </a:lnTo>
                <a:cubicBezTo>
                  <a:pt x="22259" y="894826"/>
                  <a:pt x="0" y="872567"/>
                  <a:pt x="0" y="845109"/>
                </a:cubicBezTo>
                <a:lnTo>
                  <a:pt x="0" y="49717"/>
                </a:lnTo>
                <a:cubicBezTo>
                  <a:pt x="0" y="22277"/>
                  <a:pt x="22277" y="0"/>
                  <a:pt x="49717" y="0"/>
                </a:cubicBezTo>
                <a:close/>
              </a:path>
            </a:pathLst>
          </a:custGeom>
          <a:solidFill>
            <a:srgbClr val="1A1D21">
              <a:alpha val="60000"/>
            </a:srgbClr>
          </a:solidFill>
          <a:ln/>
        </p:spPr>
        <p:txBody>
          <a:bodyPr/>
          <a:lstStyle/>
          <a:p>
            <a:endParaRPr lang="zh-CN" altLang="en-US"/>
          </a:p>
        </p:txBody>
      </p:sp>
      <p:sp>
        <p:nvSpPr>
          <p:cNvPr id="10" name="Text 8"/>
          <p:cNvSpPr/>
          <p:nvPr/>
        </p:nvSpPr>
        <p:spPr>
          <a:xfrm>
            <a:off x="894826" y="4871829"/>
            <a:ext cx="6835474" cy="298275"/>
          </a:xfrm>
          <a:prstGeom prst="rect">
            <a:avLst/>
          </a:prstGeom>
          <a:noFill/>
          <a:ln/>
        </p:spPr>
        <p:txBody>
          <a:bodyPr wrap="square" lIns="0" tIns="0" rIns="0" bIns="0" rtlCol="0" anchor="ctr"/>
          <a:lstStyle/>
          <a:p>
            <a:pPr>
              <a:lnSpc>
                <a:spcPct val="130000"/>
              </a:lnSpc>
            </a:pPr>
            <a:r>
              <a:rPr lang="en-US" sz="1566" b="1" dirty="0">
                <a:solidFill>
                  <a:srgbClr val="D69E2E"/>
                </a:solidFill>
                <a:latin typeface="MiSans" pitchFamily="34" charset="0"/>
                <a:ea typeface="MiSans" pitchFamily="34" charset="-122"/>
                <a:cs typeface="MiSans" pitchFamily="34" charset="-120"/>
              </a:rPr>
              <a:t>LEO (Log End Offset)</a:t>
            </a:r>
            <a:endParaRPr lang="en-US" sz="1600" dirty="0"/>
          </a:p>
        </p:txBody>
      </p:sp>
      <p:sp>
        <p:nvSpPr>
          <p:cNvPr id="11" name="Text 9"/>
          <p:cNvSpPr/>
          <p:nvPr/>
        </p:nvSpPr>
        <p:spPr>
          <a:xfrm>
            <a:off x="894826" y="5219817"/>
            <a:ext cx="6823046"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下一条待写入消息的偏移量，表示日志的末尾</a:t>
            </a:r>
            <a:endParaRPr lang="en-US" sz="1600" dirty="0"/>
          </a:p>
        </p:txBody>
      </p:sp>
      <p:sp>
        <p:nvSpPr>
          <p:cNvPr id="12" name="Shape 10"/>
          <p:cNvSpPr/>
          <p:nvPr/>
        </p:nvSpPr>
        <p:spPr>
          <a:xfrm>
            <a:off x="745688" y="5716942"/>
            <a:ext cx="7034324" cy="894826"/>
          </a:xfrm>
          <a:custGeom>
            <a:avLst/>
            <a:gdLst/>
            <a:ahLst/>
            <a:cxnLst/>
            <a:rect l="l" t="t" r="r" b="b"/>
            <a:pathLst>
              <a:path w="7034324" h="894826">
                <a:moveTo>
                  <a:pt x="49717" y="0"/>
                </a:moveTo>
                <a:lnTo>
                  <a:pt x="6984608" y="0"/>
                </a:lnTo>
                <a:cubicBezTo>
                  <a:pt x="7012065" y="0"/>
                  <a:pt x="7034324" y="22259"/>
                  <a:pt x="7034324" y="49717"/>
                </a:cubicBezTo>
                <a:lnTo>
                  <a:pt x="7034324" y="845109"/>
                </a:lnTo>
                <a:cubicBezTo>
                  <a:pt x="7034324" y="872567"/>
                  <a:pt x="7012065" y="894826"/>
                  <a:pt x="6984608" y="894826"/>
                </a:cubicBezTo>
                <a:lnTo>
                  <a:pt x="49717" y="894826"/>
                </a:lnTo>
                <a:cubicBezTo>
                  <a:pt x="22259" y="894826"/>
                  <a:pt x="0" y="872567"/>
                  <a:pt x="0" y="845109"/>
                </a:cubicBezTo>
                <a:lnTo>
                  <a:pt x="0" y="49717"/>
                </a:lnTo>
                <a:cubicBezTo>
                  <a:pt x="0" y="22277"/>
                  <a:pt x="22277" y="0"/>
                  <a:pt x="49717" y="0"/>
                </a:cubicBezTo>
                <a:close/>
              </a:path>
            </a:pathLst>
          </a:custGeom>
          <a:solidFill>
            <a:srgbClr val="1A1D21">
              <a:alpha val="60000"/>
            </a:srgbClr>
          </a:solidFill>
          <a:ln/>
        </p:spPr>
        <p:txBody>
          <a:bodyPr/>
          <a:lstStyle/>
          <a:p>
            <a:endParaRPr lang="zh-CN" altLang="en-US"/>
          </a:p>
        </p:txBody>
      </p:sp>
      <p:sp>
        <p:nvSpPr>
          <p:cNvPr id="13" name="Text 11"/>
          <p:cNvSpPr/>
          <p:nvPr/>
        </p:nvSpPr>
        <p:spPr>
          <a:xfrm>
            <a:off x="894826" y="5866080"/>
            <a:ext cx="6835474" cy="298275"/>
          </a:xfrm>
          <a:prstGeom prst="rect">
            <a:avLst/>
          </a:prstGeom>
          <a:noFill/>
          <a:ln/>
        </p:spPr>
        <p:txBody>
          <a:bodyPr wrap="square" lIns="0" tIns="0" rIns="0" bIns="0" rtlCol="0" anchor="ctr"/>
          <a:lstStyle/>
          <a:p>
            <a:pPr>
              <a:lnSpc>
                <a:spcPct val="130000"/>
              </a:lnSpc>
            </a:pPr>
            <a:r>
              <a:rPr lang="en-US" sz="1566" b="1" dirty="0">
                <a:solidFill>
                  <a:srgbClr val="718096"/>
                </a:solidFill>
                <a:latin typeface="MiSans" pitchFamily="34" charset="0"/>
                <a:ea typeface="MiSans" pitchFamily="34" charset="-122"/>
                <a:cs typeface="MiSans" pitchFamily="34" charset="-120"/>
              </a:rPr>
              <a:t>HW (High Watermark)</a:t>
            </a:r>
            <a:endParaRPr lang="en-US" sz="1600" dirty="0"/>
          </a:p>
        </p:txBody>
      </p:sp>
      <p:sp>
        <p:nvSpPr>
          <p:cNvPr id="14" name="Text 12"/>
          <p:cNvSpPr/>
          <p:nvPr/>
        </p:nvSpPr>
        <p:spPr>
          <a:xfrm>
            <a:off x="894826" y="6214067"/>
            <a:ext cx="6823046"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所有 ISR 副本都已复制的最大偏移量</a:t>
            </a:r>
            <a:endParaRPr lang="en-US" sz="1600" dirty="0"/>
          </a:p>
        </p:txBody>
      </p:sp>
      <p:sp>
        <p:nvSpPr>
          <p:cNvPr id="15" name="Shape 13"/>
          <p:cNvSpPr/>
          <p:nvPr/>
        </p:nvSpPr>
        <p:spPr>
          <a:xfrm>
            <a:off x="503339" y="6965969"/>
            <a:ext cx="7469309" cy="1006679"/>
          </a:xfrm>
          <a:custGeom>
            <a:avLst/>
            <a:gdLst/>
            <a:ahLst/>
            <a:cxnLst/>
            <a:rect l="l" t="t" r="r" b="b"/>
            <a:pathLst>
              <a:path w="7469309" h="1006679">
                <a:moveTo>
                  <a:pt x="99430" y="0"/>
                </a:moveTo>
                <a:lnTo>
                  <a:pt x="7369879" y="0"/>
                </a:lnTo>
                <a:cubicBezTo>
                  <a:pt x="7424793" y="0"/>
                  <a:pt x="7469309" y="44516"/>
                  <a:pt x="7469309" y="99430"/>
                </a:cubicBezTo>
                <a:lnTo>
                  <a:pt x="7469309" y="907249"/>
                </a:lnTo>
                <a:cubicBezTo>
                  <a:pt x="7469309" y="962163"/>
                  <a:pt x="7424793" y="1006679"/>
                  <a:pt x="7369879" y="1006679"/>
                </a:cubicBezTo>
                <a:lnTo>
                  <a:pt x="99430" y="1006679"/>
                </a:lnTo>
                <a:cubicBezTo>
                  <a:pt x="44516" y="1006679"/>
                  <a:pt x="0" y="962163"/>
                  <a:pt x="0" y="907249"/>
                </a:cubicBezTo>
                <a:lnTo>
                  <a:pt x="0" y="99430"/>
                </a:lnTo>
                <a:cubicBezTo>
                  <a:pt x="0" y="44553"/>
                  <a:pt x="44553" y="0"/>
                  <a:pt x="99430"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16" name="Shape 14"/>
          <p:cNvSpPr/>
          <p:nvPr/>
        </p:nvSpPr>
        <p:spPr>
          <a:xfrm>
            <a:off x="733260" y="7226960"/>
            <a:ext cx="198850" cy="198850"/>
          </a:xfrm>
          <a:custGeom>
            <a:avLst/>
            <a:gdLst/>
            <a:ahLst/>
            <a:cxnLst/>
            <a:rect l="l" t="t" r="r" b="b"/>
            <a:pathLst>
              <a:path w="198850" h="198850">
                <a:moveTo>
                  <a:pt x="130495" y="136709"/>
                </a:moveTo>
                <a:cubicBezTo>
                  <a:pt x="168246" y="136709"/>
                  <a:pt x="198850" y="106105"/>
                  <a:pt x="198850" y="68355"/>
                </a:cubicBezTo>
                <a:cubicBezTo>
                  <a:pt x="198850" y="30604"/>
                  <a:pt x="168246" y="0"/>
                  <a:pt x="130495" y="0"/>
                </a:cubicBezTo>
                <a:cubicBezTo>
                  <a:pt x="92745" y="0"/>
                  <a:pt x="62141" y="30604"/>
                  <a:pt x="62141" y="68355"/>
                </a:cubicBezTo>
                <a:cubicBezTo>
                  <a:pt x="62141" y="75617"/>
                  <a:pt x="63267" y="82647"/>
                  <a:pt x="65364" y="89211"/>
                </a:cubicBezTo>
                <a:lnTo>
                  <a:pt x="2719" y="151856"/>
                </a:lnTo>
                <a:cubicBezTo>
                  <a:pt x="971" y="153604"/>
                  <a:pt x="0" y="155973"/>
                  <a:pt x="0" y="158459"/>
                </a:cubicBezTo>
                <a:lnTo>
                  <a:pt x="0" y="189529"/>
                </a:lnTo>
                <a:cubicBezTo>
                  <a:pt x="0" y="194694"/>
                  <a:pt x="4156" y="198850"/>
                  <a:pt x="9321" y="198850"/>
                </a:cubicBezTo>
                <a:lnTo>
                  <a:pt x="40391" y="198850"/>
                </a:lnTo>
                <a:cubicBezTo>
                  <a:pt x="45557" y="198850"/>
                  <a:pt x="49713" y="194694"/>
                  <a:pt x="49713" y="189529"/>
                </a:cubicBezTo>
                <a:lnTo>
                  <a:pt x="49713" y="173994"/>
                </a:lnTo>
                <a:lnTo>
                  <a:pt x="65248" y="173994"/>
                </a:lnTo>
                <a:cubicBezTo>
                  <a:pt x="70413" y="173994"/>
                  <a:pt x="74569" y="169838"/>
                  <a:pt x="74569" y="164673"/>
                </a:cubicBezTo>
                <a:lnTo>
                  <a:pt x="74569" y="149138"/>
                </a:lnTo>
                <a:lnTo>
                  <a:pt x="90104" y="149138"/>
                </a:lnTo>
                <a:cubicBezTo>
                  <a:pt x="92590" y="149138"/>
                  <a:pt x="94959" y="148167"/>
                  <a:pt x="96706" y="146419"/>
                </a:cubicBezTo>
                <a:lnTo>
                  <a:pt x="109639" y="133486"/>
                </a:lnTo>
                <a:cubicBezTo>
                  <a:pt x="116203" y="135583"/>
                  <a:pt x="123233" y="136709"/>
                  <a:pt x="130495" y="136709"/>
                </a:cubicBezTo>
                <a:close/>
                <a:moveTo>
                  <a:pt x="146031" y="37284"/>
                </a:moveTo>
                <a:cubicBezTo>
                  <a:pt x="154605" y="37284"/>
                  <a:pt x="161566" y="44245"/>
                  <a:pt x="161566" y="52820"/>
                </a:cubicBezTo>
                <a:cubicBezTo>
                  <a:pt x="161566" y="61394"/>
                  <a:pt x="154605" y="68355"/>
                  <a:pt x="146031" y="68355"/>
                </a:cubicBezTo>
                <a:cubicBezTo>
                  <a:pt x="137456" y="68355"/>
                  <a:pt x="130495" y="61394"/>
                  <a:pt x="130495" y="52820"/>
                </a:cubicBezTo>
                <a:cubicBezTo>
                  <a:pt x="130495" y="44245"/>
                  <a:pt x="137456" y="37284"/>
                  <a:pt x="146031" y="37284"/>
                </a:cubicBezTo>
                <a:close/>
              </a:path>
            </a:pathLst>
          </a:custGeom>
          <a:solidFill>
            <a:srgbClr val="D69E2E"/>
          </a:solidFill>
          <a:ln/>
        </p:spPr>
        <p:txBody>
          <a:bodyPr/>
          <a:lstStyle/>
          <a:p>
            <a:endParaRPr lang="zh-CN" altLang="en-US"/>
          </a:p>
        </p:txBody>
      </p:sp>
      <p:sp>
        <p:nvSpPr>
          <p:cNvPr id="17" name="Text 15"/>
          <p:cNvSpPr/>
          <p:nvPr/>
        </p:nvSpPr>
        <p:spPr>
          <a:xfrm>
            <a:off x="1054263" y="7171034"/>
            <a:ext cx="6812746" cy="596550"/>
          </a:xfrm>
          <a:prstGeom prst="rect">
            <a:avLst/>
          </a:prstGeom>
          <a:noFill/>
          <a:ln/>
        </p:spPr>
        <p:txBody>
          <a:bodyPr wrap="square" lIns="0" tIns="0" rIns="0" bIns="0" rtlCol="0" anchor="ctr"/>
          <a:lstStyle/>
          <a:p>
            <a:pPr>
              <a:lnSpc>
                <a:spcPct val="130000"/>
              </a:lnSpc>
            </a:pPr>
            <a:r>
              <a:rPr lang="en-US" sz="1566" b="1" dirty="0">
                <a:solidFill>
                  <a:srgbClr val="D69E2E"/>
                </a:solidFill>
                <a:latin typeface="MiSans" pitchFamily="34" charset="0"/>
                <a:ea typeface="MiSans" pitchFamily="34" charset="-122"/>
                <a:cs typeface="MiSans" pitchFamily="34" charset="-120"/>
              </a:rPr>
              <a:t>关键保证:</a:t>
            </a:r>
            <a:r>
              <a:rPr lang="en-US" sz="1566" dirty="0">
                <a:solidFill>
                  <a:srgbClr val="E2E8F0">
                    <a:alpha val="90000"/>
                  </a:srgbClr>
                </a:solidFill>
                <a:latin typeface="MiSans" pitchFamily="34" charset="0"/>
                <a:ea typeface="MiSans" pitchFamily="34" charset="-122"/>
                <a:cs typeface="MiSans" pitchFamily="34" charset="-120"/>
              </a:rPr>
              <a:t> 消费者只能消费到 HW 之前的消息，确保数据一致性。即使 Leader 故障，ISR 中的所有副本都至少有 HW 之前的数据。</a:t>
            </a:r>
            <a:endParaRPr lang="en-US" sz="1600" dirty="0"/>
          </a:p>
        </p:txBody>
      </p:sp>
      <p:sp>
        <p:nvSpPr>
          <p:cNvPr id="18" name="Shape 16"/>
          <p:cNvSpPr/>
          <p:nvPr/>
        </p:nvSpPr>
        <p:spPr>
          <a:xfrm>
            <a:off x="8304713" y="1590801"/>
            <a:ext cx="7456881" cy="4175853"/>
          </a:xfrm>
          <a:custGeom>
            <a:avLst/>
            <a:gdLst/>
            <a:ahLst/>
            <a:cxnLst/>
            <a:rect l="l" t="t" r="r" b="b"/>
            <a:pathLst>
              <a:path w="7456881" h="4175853">
                <a:moveTo>
                  <a:pt x="49713" y="0"/>
                </a:moveTo>
                <a:lnTo>
                  <a:pt x="7357454" y="0"/>
                </a:lnTo>
                <a:cubicBezTo>
                  <a:pt x="7412366" y="0"/>
                  <a:pt x="7456881" y="44515"/>
                  <a:pt x="7456881" y="99427"/>
                </a:cubicBezTo>
                <a:lnTo>
                  <a:pt x="7456881" y="4076426"/>
                </a:lnTo>
                <a:cubicBezTo>
                  <a:pt x="7456881" y="4131338"/>
                  <a:pt x="7412366" y="4175853"/>
                  <a:pt x="7357454" y="4175853"/>
                </a:cubicBezTo>
                <a:lnTo>
                  <a:pt x="49713" y="4175853"/>
                </a:lnTo>
                <a:cubicBezTo>
                  <a:pt x="22257" y="4175853"/>
                  <a:pt x="0" y="4153596"/>
                  <a:pt x="0" y="4126141"/>
                </a:cubicBezTo>
                <a:lnTo>
                  <a:pt x="0" y="49713"/>
                </a:lnTo>
                <a:cubicBezTo>
                  <a:pt x="0" y="22275"/>
                  <a:pt x="22275" y="0"/>
                  <a:pt x="49713" y="0"/>
                </a:cubicBezTo>
                <a:close/>
              </a:path>
            </a:pathLst>
          </a:custGeom>
          <a:solidFill>
            <a:srgbClr val="4A5568">
              <a:alpha val="20000"/>
            </a:srgbClr>
          </a:solidFill>
          <a:ln/>
        </p:spPr>
        <p:txBody>
          <a:bodyPr/>
          <a:lstStyle/>
          <a:p>
            <a:endParaRPr lang="zh-CN" altLang="en-US"/>
          </a:p>
        </p:txBody>
      </p:sp>
      <p:sp>
        <p:nvSpPr>
          <p:cNvPr id="19" name="Shape 17"/>
          <p:cNvSpPr/>
          <p:nvPr/>
        </p:nvSpPr>
        <p:spPr>
          <a:xfrm>
            <a:off x="8304713" y="1590801"/>
            <a:ext cx="49713" cy="4175853"/>
          </a:xfrm>
          <a:custGeom>
            <a:avLst/>
            <a:gdLst/>
            <a:ahLst/>
            <a:cxnLst/>
            <a:rect l="l" t="t" r="r" b="b"/>
            <a:pathLst>
              <a:path w="49713" h="4175853">
                <a:moveTo>
                  <a:pt x="49713" y="0"/>
                </a:moveTo>
                <a:lnTo>
                  <a:pt x="49713" y="0"/>
                </a:lnTo>
                <a:lnTo>
                  <a:pt x="49713" y="4175853"/>
                </a:lnTo>
                <a:lnTo>
                  <a:pt x="49713" y="4175853"/>
                </a:lnTo>
                <a:cubicBezTo>
                  <a:pt x="22257" y="4175853"/>
                  <a:pt x="0" y="4153596"/>
                  <a:pt x="0" y="4126141"/>
                </a:cubicBezTo>
                <a:lnTo>
                  <a:pt x="0" y="49713"/>
                </a:lnTo>
                <a:cubicBezTo>
                  <a:pt x="0" y="22275"/>
                  <a:pt x="22275" y="0"/>
                  <a:pt x="49713" y="0"/>
                </a:cubicBezTo>
                <a:close/>
              </a:path>
            </a:pathLst>
          </a:custGeom>
          <a:solidFill>
            <a:srgbClr val="D69E2E"/>
          </a:solidFill>
          <a:ln/>
        </p:spPr>
        <p:txBody>
          <a:bodyPr/>
          <a:lstStyle/>
          <a:p>
            <a:endParaRPr lang="zh-CN" altLang="en-US"/>
          </a:p>
        </p:txBody>
      </p:sp>
      <p:sp>
        <p:nvSpPr>
          <p:cNvPr id="20" name="Text 18"/>
          <p:cNvSpPr/>
          <p:nvPr/>
        </p:nvSpPr>
        <p:spPr>
          <a:xfrm>
            <a:off x="8528419" y="1789651"/>
            <a:ext cx="7158606" cy="347988"/>
          </a:xfrm>
          <a:prstGeom prst="rect">
            <a:avLst/>
          </a:prstGeom>
          <a:noFill/>
          <a:ln/>
        </p:spPr>
        <p:txBody>
          <a:bodyPr wrap="square" lIns="0" tIns="0" rIns="0" bIns="0" rtlCol="0" anchor="ctr"/>
          <a:lstStyle/>
          <a:p>
            <a:pPr>
              <a:lnSpc>
                <a:spcPct val="120000"/>
              </a:lnSpc>
            </a:pPr>
            <a:r>
              <a:rPr lang="en-US" sz="1957" b="1" dirty="0">
                <a:solidFill>
                  <a:srgbClr val="D69E2E"/>
                </a:solidFill>
                <a:latin typeface="MiSans" pitchFamily="34" charset="0"/>
                <a:ea typeface="MiSans" pitchFamily="34" charset="-122"/>
                <a:cs typeface="MiSans" pitchFamily="34" charset="-120"/>
              </a:rPr>
              <a:t>Leader 选举</a:t>
            </a:r>
            <a:endParaRPr lang="en-US" sz="1600" dirty="0"/>
          </a:p>
        </p:txBody>
      </p:sp>
      <p:sp>
        <p:nvSpPr>
          <p:cNvPr id="21" name="Shape 19"/>
          <p:cNvSpPr/>
          <p:nvPr/>
        </p:nvSpPr>
        <p:spPr>
          <a:xfrm>
            <a:off x="8528419" y="2286777"/>
            <a:ext cx="7034324" cy="3281028"/>
          </a:xfrm>
          <a:custGeom>
            <a:avLst/>
            <a:gdLst/>
            <a:ahLst/>
            <a:cxnLst/>
            <a:rect l="l" t="t" r="r" b="b"/>
            <a:pathLst>
              <a:path w="7034324" h="3281028">
                <a:moveTo>
                  <a:pt x="49708" y="0"/>
                </a:moveTo>
                <a:lnTo>
                  <a:pt x="6984617" y="0"/>
                </a:lnTo>
                <a:cubicBezTo>
                  <a:pt x="7012069" y="0"/>
                  <a:pt x="7034324" y="22255"/>
                  <a:pt x="7034324" y="49708"/>
                </a:cubicBezTo>
                <a:lnTo>
                  <a:pt x="7034324" y="3231320"/>
                </a:lnTo>
                <a:cubicBezTo>
                  <a:pt x="7034324" y="3258773"/>
                  <a:pt x="7012069" y="3281028"/>
                  <a:pt x="6984617" y="3281028"/>
                </a:cubicBezTo>
                <a:lnTo>
                  <a:pt x="49708" y="3281028"/>
                </a:lnTo>
                <a:cubicBezTo>
                  <a:pt x="22255" y="3281028"/>
                  <a:pt x="0" y="3258773"/>
                  <a:pt x="0" y="3231320"/>
                </a:cubicBezTo>
                <a:lnTo>
                  <a:pt x="0" y="49708"/>
                </a:lnTo>
                <a:cubicBezTo>
                  <a:pt x="0" y="22255"/>
                  <a:pt x="22255" y="0"/>
                  <a:pt x="49708" y="0"/>
                </a:cubicBezTo>
                <a:close/>
              </a:path>
            </a:pathLst>
          </a:custGeom>
          <a:solidFill>
            <a:srgbClr val="1A1D21">
              <a:alpha val="60000"/>
            </a:srgbClr>
          </a:solidFill>
          <a:ln/>
        </p:spPr>
        <p:txBody>
          <a:bodyPr/>
          <a:lstStyle/>
          <a:p>
            <a:endParaRPr lang="zh-CN" altLang="en-US"/>
          </a:p>
        </p:txBody>
      </p:sp>
      <p:sp>
        <p:nvSpPr>
          <p:cNvPr id="22" name="Text 20"/>
          <p:cNvSpPr/>
          <p:nvPr/>
        </p:nvSpPr>
        <p:spPr>
          <a:xfrm>
            <a:off x="8677557" y="2435914"/>
            <a:ext cx="6810618" cy="2982752"/>
          </a:xfrm>
          <a:prstGeom prst="rect">
            <a:avLst/>
          </a:prstGeom>
          <a:noFill/>
          <a:ln/>
        </p:spPr>
        <p:txBody>
          <a:bodyPr wrap="square" lIns="0" tIns="0" rIns="0" bIns="0" numCol="2" rtlCol="0" anchor="ctr"/>
          <a:lstStyle/>
          <a:p>
            <a:r>
              <a:rPr lang="en-US" altLang="zh-CN" sz="1200" dirty="0" err="1">
                <a:solidFill>
                  <a:schemeClr val="bg1"/>
                </a:solidFill>
                <a:latin typeface="Calibri" panose="020F0502020204030204" pitchFamily="34" charset="0"/>
                <a:cs typeface="Calibri" panose="020F0502020204030204" pitchFamily="34" charset="0"/>
              </a:rPr>
              <a:t>ublic</a:t>
            </a:r>
            <a:r>
              <a:rPr lang="en-US" altLang="zh-CN" sz="1200" dirty="0">
                <a:solidFill>
                  <a:schemeClr val="bg1"/>
                </a:solidFill>
                <a:latin typeface="Calibri" panose="020F0502020204030204" pitchFamily="34" charset="0"/>
                <a:cs typeface="Calibri" panose="020F0502020204030204" pitchFamily="34" charset="0"/>
              </a:rPr>
              <a:t> class </a:t>
            </a:r>
            <a:r>
              <a:rPr lang="en-US" altLang="zh-CN" sz="1200" dirty="0" err="1">
                <a:solidFill>
                  <a:schemeClr val="bg1"/>
                </a:solidFill>
                <a:latin typeface="Calibri" panose="020F0502020204030204" pitchFamily="34" charset="0"/>
                <a:cs typeface="Calibri" panose="020F0502020204030204" pitchFamily="34" charset="0"/>
              </a:rPr>
              <a:t>PartitionStateManager</a:t>
            </a:r>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选举新的</a:t>
            </a:r>
            <a:r>
              <a:rPr lang="en-US" altLang="zh-CN" sz="1200" i="1" dirty="0">
                <a:solidFill>
                  <a:srgbClr val="00B050"/>
                </a:solidFill>
                <a:latin typeface="Calibri" panose="020F0502020204030204" pitchFamily="34" charset="0"/>
                <a:cs typeface="Calibri" panose="020F0502020204030204" pitchFamily="34" charset="0"/>
              </a:rPr>
              <a:t>Leader</a:t>
            </a:r>
            <a:endParaRPr lang="en-US" altLang="zh-CN" sz="1200" dirty="0">
              <a:solidFill>
                <a:srgbClr val="00B050"/>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public int </a:t>
            </a:r>
            <a:r>
              <a:rPr lang="en-US" altLang="zh-CN" sz="1200" dirty="0" err="1">
                <a:solidFill>
                  <a:schemeClr val="bg1"/>
                </a:solidFill>
                <a:latin typeface="Calibri" panose="020F0502020204030204" pitchFamily="34" charset="0"/>
                <a:cs typeface="Calibri" panose="020F0502020204030204" pitchFamily="34" charset="0"/>
              </a:rPr>
              <a:t>electNewLeader</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1. </a:t>
            </a:r>
            <a:r>
              <a:rPr lang="zh-CN" altLang="en-US" sz="1200" i="1" dirty="0">
                <a:solidFill>
                  <a:srgbClr val="00B050"/>
                </a:solidFill>
                <a:latin typeface="Calibri" panose="020F0502020204030204" pitchFamily="34" charset="0"/>
                <a:cs typeface="Calibri" panose="020F0502020204030204" pitchFamily="34" charset="0"/>
              </a:rPr>
              <a:t>从</a:t>
            </a:r>
            <a:r>
              <a:rPr lang="en-US" altLang="zh-CN" sz="1200" i="1" dirty="0">
                <a:solidFill>
                  <a:srgbClr val="00B050"/>
                </a:solidFill>
                <a:latin typeface="Calibri" panose="020F0502020204030204" pitchFamily="34" charset="0"/>
                <a:cs typeface="Calibri" panose="020F0502020204030204" pitchFamily="34" charset="0"/>
              </a:rPr>
              <a:t>ISR</a:t>
            </a:r>
            <a:r>
              <a:rPr lang="zh-CN" altLang="en-US" sz="1200" i="1" dirty="0">
                <a:solidFill>
                  <a:srgbClr val="00B050"/>
                </a:solidFill>
                <a:latin typeface="Calibri" panose="020F0502020204030204" pitchFamily="34" charset="0"/>
                <a:cs typeface="Calibri" panose="020F0502020204030204" pitchFamily="34" charset="0"/>
              </a:rPr>
              <a:t>中选择新的</a:t>
            </a:r>
            <a:r>
              <a:rPr lang="en-US" altLang="zh-CN" sz="1200" i="1" dirty="0">
                <a:solidFill>
                  <a:srgbClr val="00B050"/>
                </a:solidFill>
                <a:latin typeface="Calibri" panose="020F0502020204030204" pitchFamily="34" charset="0"/>
                <a:cs typeface="Calibri" panose="020F0502020204030204" pitchFamily="34" charset="0"/>
              </a:rPr>
              <a:t>Leader</a:t>
            </a:r>
            <a:endParaRPr lang="en-US" altLang="zh-CN" sz="1200" dirty="0">
              <a:solidFill>
                <a:srgbClr val="00B050"/>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int </a:t>
            </a:r>
            <a:r>
              <a:rPr lang="en-US" altLang="zh-CN" sz="1200" dirty="0" err="1">
                <a:solidFill>
                  <a:schemeClr val="bg1"/>
                </a:solidFill>
                <a:latin typeface="Calibri" panose="020F0502020204030204" pitchFamily="34" charset="0"/>
                <a:cs typeface="Calibri" panose="020F0502020204030204" pitchFamily="34" charset="0"/>
              </a:rPr>
              <a:t>newLeader</a:t>
            </a:r>
            <a:r>
              <a:rPr lang="en-US" altLang="zh-CN" sz="1200" dirty="0">
                <a:solidFill>
                  <a:schemeClr val="bg1"/>
                </a:solidFill>
                <a:latin typeface="Calibri" panose="020F0502020204030204" pitchFamily="34" charset="0"/>
                <a:cs typeface="Calibri" panose="020F0502020204030204" pitchFamily="34" charset="0"/>
              </a:rPr>
              <a:t> = </a:t>
            </a:r>
            <a:r>
              <a:rPr lang="en-US" altLang="zh-CN" sz="1200" dirty="0" err="1">
                <a:solidFill>
                  <a:schemeClr val="bg1"/>
                </a:solidFill>
                <a:latin typeface="Calibri" panose="020F0502020204030204" pitchFamily="34" charset="0"/>
                <a:cs typeface="Calibri" panose="020F0502020204030204" pitchFamily="34" charset="0"/>
              </a:rPr>
              <a:t>selectLeaderFromIsr</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2. </a:t>
            </a:r>
            <a:r>
              <a:rPr lang="zh-CN" altLang="en-US" sz="1200" i="1" dirty="0">
                <a:solidFill>
                  <a:srgbClr val="00B050"/>
                </a:solidFill>
                <a:latin typeface="Calibri" panose="020F0502020204030204" pitchFamily="34" charset="0"/>
                <a:cs typeface="Calibri" panose="020F0502020204030204" pitchFamily="34" charset="0"/>
              </a:rPr>
              <a:t>更新分区状态</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updatePartitionState</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newLeader</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3. </a:t>
            </a:r>
            <a:r>
              <a:rPr lang="zh-CN" altLang="en-US" sz="1200" i="1" dirty="0">
                <a:solidFill>
                  <a:srgbClr val="00B050"/>
                </a:solidFill>
                <a:latin typeface="Calibri" panose="020F0502020204030204" pitchFamily="34" charset="0"/>
                <a:cs typeface="Calibri" panose="020F0502020204030204" pitchFamily="34" charset="0"/>
              </a:rPr>
              <a:t>通知所有副本</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err="1">
                <a:solidFill>
                  <a:schemeClr val="bg1"/>
                </a:solidFill>
                <a:latin typeface="Calibri" panose="020F0502020204030204" pitchFamily="34" charset="0"/>
                <a:cs typeface="Calibri" panose="020F0502020204030204" pitchFamily="34" charset="0"/>
              </a:rPr>
              <a:t>notifyAllReplicas</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newLeader</a:t>
            </a:r>
            <a:r>
              <a:rPr lang="en-US" altLang="zh-CN" sz="1200" dirty="0">
                <a:solidFill>
                  <a:schemeClr val="bg1"/>
                </a:solidFill>
                <a:latin typeface="Calibri" panose="020F0502020204030204" pitchFamily="34" charset="0"/>
                <a:cs typeface="Calibri" panose="020F0502020204030204" pitchFamily="34" charset="0"/>
              </a:rPr>
              <a:t>);</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chemeClr val="bg1"/>
                </a:solidFill>
                <a:latin typeface="Calibri" panose="020F0502020204030204" pitchFamily="34" charset="0"/>
                <a:cs typeface="Calibri" panose="020F0502020204030204" pitchFamily="34" charset="0"/>
              </a:rPr>
              <a:t>        return </a:t>
            </a:r>
            <a:r>
              <a:rPr lang="en-US" altLang="zh-CN" sz="1200" dirty="0" err="1">
                <a:solidFill>
                  <a:schemeClr val="bg1"/>
                </a:solidFill>
                <a:latin typeface="Calibri" panose="020F0502020204030204" pitchFamily="34" charset="0"/>
                <a:cs typeface="Calibri" panose="020F0502020204030204" pitchFamily="34" charset="0"/>
              </a:rPr>
              <a:t>newLeader</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endParaRPr lang="en-US" altLang="zh-CN" sz="1200" dirty="0">
              <a:solidFill>
                <a:schemeClr val="bg1"/>
              </a:solidFill>
              <a:latin typeface="Calibri" panose="020F0502020204030204" pitchFamily="34" charset="0"/>
              <a:cs typeface="Calibri" panose="020F0502020204030204" pitchFamily="34" charset="0"/>
            </a:endParaRP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选择</a:t>
            </a:r>
            <a:r>
              <a:rPr lang="en-US" altLang="zh-CN" sz="1200" i="1" dirty="0">
                <a:solidFill>
                  <a:srgbClr val="00B050"/>
                </a:solidFill>
                <a:latin typeface="Calibri" panose="020F0502020204030204" pitchFamily="34" charset="0"/>
                <a:cs typeface="Calibri" panose="020F0502020204030204" pitchFamily="34" charset="0"/>
              </a:rPr>
              <a:t>Leader</a:t>
            </a:r>
            <a:r>
              <a:rPr lang="zh-CN" altLang="en-US" sz="1200" i="1" dirty="0">
                <a:solidFill>
                  <a:srgbClr val="00B050"/>
                </a:solidFill>
                <a:latin typeface="Calibri" panose="020F0502020204030204" pitchFamily="34" charset="0"/>
                <a:cs typeface="Calibri" panose="020F0502020204030204" pitchFamily="34" charset="0"/>
              </a:rPr>
              <a:t>的策略</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private int </a:t>
            </a:r>
            <a:r>
              <a:rPr lang="en-US" altLang="zh-CN" sz="1200" dirty="0" err="1">
                <a:solidFill>
                  <a:schemeClr val="bg1"/>
                </a:solidFill>
                <a:latin typeface="Calibri" panose="020F0502020204030204" pitchFamily="34" charset="0"/>
                <a:cs typeface="Calibri" panose="020F0502020204030204" pitchFamily="34" charset="0"/>
              </a:rPr>
              <a:t>selectLeaderFromIsr</a:t>
            </a:r>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优先选择副本</a:t>
            </a:r>
            <a:r>
              <a:rPr lang="en-US" altLang="zh-CN" sz="1200" i="1" dirty="0">
                <a:solidFill>
                  <a:srgbClr val="00B050"/>
                </a:solidFill>
                <a:latin typeface="Calibri" panose="020F0502020204030204" pitchFamily="34" charset="0"/>
                <a:cs typeface="Calibri" panose="020F0502020204030204" pitchFamily="34" charset="0"/>
              </a:rPr>
              <a:t>ID</a:t>
            </a:r>
            <a:r>
              <a:rPr lang="zh-CN" altLang="en-US" sz="1200" i="1" dirty="0">
                <a:solidFill>
                  <a:srgbClr val="00B050"/>
                </a:solidFill>
                <a:latin typeface="Calibri" panose="020F0502020204030204" pitchFamily="34" charset="0"/>
                <a:cs typeface="Calibri" panose="020F0502020204030204" pitchFamily="34" charset="0"/>
              </a:rPr>
              <a:t>最小的</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rgbClr val="00B050"/>
                </a:solidFill>
                <a:latin typeface="Calibri" panose="020F0502020204030204" pitchFamily="34" charset="0"/>
                <a:cs typeface="Calibri" panose="020F0502020204030204" pitchFamily="34" charset="0"/>
              </a:rPr>
              <a:t>        </a:t>
            </a:r>
            <a:r>
              <a:rPr lang="en-US" altLang="zh-CN" sz="1200" i="1" dirty="0">
                <a:solidFill>
                  <a:srgbClr val="00B050"/>
                </a:solidFill>
                <a:latin typeface="Calibri" panose="020F0502020204030204" pitchFamily="34" charset="0"/>
                <a:cs typeface="Calibri" panose="020F0502020204030204" pitchFamily="34" charset="0"/>
              </a:rPr>
              <a:t>// </a:t>
            </a:r>
            <a:r>
              <a:rPr lang="zh-CN" altLang="en-US" sz="1200" i="1" dirty="0">
                <a:solidFill>
                  <a:srgbClr val="00B050"/>
                </a:solidFill>
                <a:latin typeface="Calibri" panose="020F0502020204030204" pitchFamily="34" charset="0"/>
                <a:cs typeface="Calibri" panose="020F0502020204030204" pitchFamily="34" charset="0"/>
              </a:rPr>
              <a:t>或者根据配置选择策略</a:t>
            </a:r>
            <a:endParaRPr lang="zh-CN" altLang="en-US" sz="1200" dirty="0">
              <a:solidFill>
                <a:srgbClr val="00B050"/>
              </a:solidFill>
              <a:latin typeface="Calibri" panose="020F0502020204030204" pitchFamily="34" charset="0"/>
              <a:cs typeface="Calibri" panose="020F0502020204030204" pitchFamily="34" charset="0"/>
            </a:endParaRPr>
          </a:p>
          <a:p>
            <a:r>
              <a:rPr lang="zh-CN" altLang="en-US" sz="1200" dirty="0">
                <a:solidFill>
                  <a:schemeClr val="bg1"/>
                </a:solidFill>
                <a:latin typeface="Calibri" panose="020F0502020204030204" pitchFamily="34" charset="0"/>
                <a:cs typeface="Calibri" panose="020F0502020204030204" pitchFamily="34" charset="0"/>
              </a:rPr>
              <a:t>        </a:t>
            </a:r>
            <a:r>
              <a:rPr lang="en-US" altLang="zh-CN" sz="1200" dirty="0">
                <a:solidFill>
                  <a:schemeClr val="bg1"/>
                </a:solidFill>
                <a:latin typeface="Calibri" panose="020F0502020204030204" pitchFamily="34" charset="0"/>
                <a:cs typeface="Calibri" panose="020F0502020204030204" pitchFamily="34" charset="0"/>
              </a:rPr>
              <a:t>return </a:t>
            </a:r>
            <a:r>
              <a:rPr lang="en-US" altLang="zh-CN" sz="1200" dirty="0" err="1">
                <a:solidFill>
                  <a:schemeClr val="bg1"/>
                </a:solidFill>
                <a:latin typeface="Calibri" panose="020F0502020204030204" pitchFamily="34" charset="0"/>
                <a:cs typeface="Calibri" panose="020F0502020204030204" pitchFamily="34" charset="0"/>
              </a:rPr>
              <a:t>Collections.min</a:t>
            </a:r>
            <a:r>
              <a:rPr lang="en-US" altLang="zh-CN" sz="1200" dirty="0">
                <a:solidFill>
                  <a:schemeClr val="bg1"/>
                </a:solidFill>
                <a:latin typeface="Calibri" panose="020F0502020204030204" pitchFamily="34" charset="0"/>
                <a:cs typeface="Calibri" panose="020F0502020204030204" pitchFamily="34" charset="0"/>
              </a:rPr>
              <a:t>(</a:t>
            </a:r>
            <a:r>
              <a:rPr lang="en-US" altLang="zh-CN" sz="1200" dirty="0" err="1">
                <a:solidFill>
                  <a:schemeClr val="bg1"/>
                </a:solidFill>
                <a:latin typeface="Calibri" panose="020F0502020204030204" pitchFamily="34" charset="0"/>
                <a:cs typeface="Calibri" panose="020F0502020204030204" pitchFamily="34" charset="0"/>
              </a:rPr>
              <a:t>isr</a:t>
            </a:r>
            <a:r>
              <a:rPr lang="en-US" altLang="zh-CN" sz="1200" dirty="0">
                <a:solidFill>
                  <a:schemeClr val="bg1"/>
                </a:solidFill>
                <a:latin typeface="Calibri" panose="020F0502020204030204" pitchFamily="34" charset="0"/>
                <a:cs typeface="Calibri" panose="020F0502020204030204" pitchFamily="34" charset="0"/>
              </a:rPr>
              <a:t>);</a:t>
            </a:r>
          </a:p>
          <a:p>
            <a:r>
              <a:rPr lang="en-US" altLang="zh-CN" sz="1200" dirty="0">
                <a:solidFill>
                  <a:schemeClr val="bg1"/>
                </a:solidFill>
                <a:latin typeface="Calibri" panose="020F0502020204030204" pitchFamily="34" charset="0"/>
                <a:cs typeface="Calibri" panose="020F0502020204030204" pitchFamily="34" charset="0"/>
              </a:rPr>
              <a:t>    }</a:t>
            </a:r>
          </a:p>
          <a:p>
            <a:r>
              <a:rPr lang="en-US" altLang="zh-CN" sz="1200" dirty="0">
                <a:solidFill>
                  <a:schemeClr val="bg1"/>
                </a:solidFill>
                <a:latin typeface="Calibri" panose="020F0502020204030204" pitchFamily="34" charset="0"/>
                <a:cs typeface="Calibri" panose="020F0502020204030204" pitchFamily="34" charset="0"/>
              </a:rPr>
              <a:t>}</a:t>
            </a:r>
          </a:p>
        </p:txBody>
      </p:sp>
      <p:sp>
        <p:nvSpPr>
          <p:cNvPr id="23" name="Shape 21"/>
          <p:cNvSpPr/>
          <p:nvPr/>
        </p:nvSpPr>
        <p:spPr>
          <a:xfrm>
            <a:off x="8304713" y="5915792"/>
            <a:ext cx="7456881" cy="2734190"/>
          </a:xfrm>
          <a:custGeom>
            <a:avLst/>
            <a:gdLst/>
            <a:ahLst/>
            <a:cxnLst/>
            <a:rect l="l" t="t" r="r" b="b"/>
            <a:pathLst>
              <a:path w="7456881" h="2734190">
                <a:moveTo>
                  <a:pt x="49713" y="0"/>
                </a:moveTo>
                <a:lnTo>
                  <a:pt x="7357466" y="0"/>
                </a:lnTo>
                <a:cubicBezTo>
                  <a:pt x="7412371" y="0"/>
                  <a:pt x="7456881" y="44510"/>
                  <a:pt x="7456881" y="99415"/>
                </a:cubicBezTo>
                <a:lnTo>
                  <a:pt x="7456881" y="2634774"/>
                </a:lnTo>
                <a:cubicBezTo>
                  <a:pt x="7456881" y="2689680"/>
                  <a:pt x="7412371" y="2734190"/>
                  <a:pt x="7357466" y="2734190"/>
                </a:cubicBezTo>
                <a:lnTo>
                  <a:pt x="49713" y="2734190"/>
                </a:lnTo>
                <a:cubicBezTo>
                  <a:pt x="22257" y="2734190"/>
                  <a:pt x="0" y="2711933"/>
                  <a:pt x="0" y="2684477"/>
                </a:cubicBezTo>
                <a:lnTo>
                  <a:pt x="0" y="49713"/>
                </a:lnTo>
                <a:cubicBezTo>
                  <a:pt x="0" y="22275"/>
                  <a:pt x="22275" y="0"/>
                  <a:pt x="49713" y="0"/>
                </a:cubicBezTo>
                <a:close/>
              </a:path>
            </a:pathLst>
          </a:custGeom>
          <a:solidFill>
            <a:srgbClr val="4A5568">
              <a:alpha val="20000"/>
            </a:srgbClr>
          </a:solidFill>
          <a:ln/>
        </p:spPr>
        <p:txBody>
          <a:bodyPr/>
          <a:lstStyle/>
          <a:p>
            <a:endParaRPr lang="zh-CN" altLang="en-US"/>
          </a:p>
        </p:txBody>
      </p:sp>
      <p:sp>
        <p:nvSpPr>
          <p:cNvPr id="24" name="Shape 22"/>
          <p:cNvSpPr/>
          <p:nvPr/>
        </p:nvSpPr>
        <p:spPr>
          <a:xfrm>
            <a:off x="8304713" y="5915792"/>
            <a:ext cx="49713" cy="2734190"/>
          </a:xfrm>
          <a:custGeom>
            <a:avLst/>
            <a:gdLst/>
            <a:ahLst/>
            <a:cxnLst/>
            <a:rect l="l" t="t" r="r" b="b"/>
            <a:pathLst>
              <a:path w="49713" h="2734190">
                <a:moveTo>
                  <a:pt x="49713" y="0"/>
                </a:moveTo>
                <a:lnTo>
                  <a:pt x="49713" y="0"/>
                </a:lnTo>
                <a:lnTo>
                  <a:pt x="49713" y="2734190"/>
                </a:lnTo>
                <a:lnTo>
                  <a:pt x="49713" y="2734190"/>
                </a:lnTo>
                <a:cubicBezTo>
                  <a:pt x="22257" y="2734190"/>
                  <a:pt x="0" y="2711933"/>
                  <a:pt x="0" y="2684477"/>
                </a:cubicBezTo>
                <a:lnTo>
                  <a:pt x="0" y="49713"/>
                </a:lnTo>
                <a:cubicBezTo>
                  <a:pt x="0" y="22275"/>
                  <a:pt x="22275" y="0"/>
                  <a:pt x="49713" y="0"/>
                </a:cubicBezTo>
                <a:close/>
              </a:path>
            </a:pathLst>
          </a:custGeom>
          <a:solidFill>
            <a:srgbClr val="718096"/>
          </a:solidFill>
          <a:ln/>
        </p:spPr>
        <p:txBody>
          <a:bodyPr/>
          <a:lstStyle/>
          <a:p>
            <a:endParaRPr lang="zh-CN" altLang="en-US"/>
          </a:p>
        </p:txBody>
      </p:sp>
      <p:sp>
        <p:nvSpPr>
          <p:cNvPr id="25" name="Text 23"/>
          <p:cNvSpPr/>
          <p:nvPr/>
        </p:nvSpPr>
        <p:spPr>
          <a:xfrm>
            <a:off x="8528419" y="6114642"/>
            <a:ext cx="7158606" cy="347988"/>
          </a:xfrm>
          <a:prstGeom prst="rect">
            <a:avLst/>
          </a:prstGeom>
          <a:noFill/>
          <a:ln/>
        </p:spPr>
        <p:txBody>
          <a:bodyPr wrap="square" lIns="0" tIns="0" rIns="0" bIns="0" rtlCol="0" anchor="ctr"/>
          <a:lstStyle/>
          <a:p>
            <a:pPr>
              <a:lnSpc>
                <a:spcPct val="120000"/>
              </a:lnSpc>
            </a:pPr>
            <a:r>
              <a:rPr lang="en-US" sz="1957" b="1" dirty="0">
                <a:solidFill>
                  <a:srgbClr val="718096"/>
                </a:solidFill>
                <a:latin typeface="MiSans" pitchFamily="34" charset="0"/>
                <a:ea typeface="MiSans" pitchFamily="34" charset="-122"/>
                <a:cs typeface="MiSans" pitchFamily="34" charset="-120"/>
              </a:rPr>
              <a:t>选举策略</a:t>
            </a:r>
            <a:endParaRPr lang="en-US" sz="1600" dirty="0"/>
          </a:p>
        </p:txBody>
      </p:sp>
      <p:sp>
        <p:nvSpPr>
          <p:cNvPr id="26" name="Shape 24"/>
          <p:cNvSpPr/>
          <p:nvPr/>
        </p:nvSpPr>
        <p:spPr>
          <a:xfrm>
            <a:off x="8528419" y="6611768"/>
            <a:ext cx="298275" cy="298275"/>
          </a:xfrm>
          <a:custGeom>
            <a:avLst/>
            <a:gdLst/>
            <a:ahLst/>
            <a:cxnLst/>
            <a:rect l="l" t="t" r="r" b="b"/>
            <a:pathLst>
              <a:path w="298275" h="298275">
                <a:moveTo>
                  <a:pt x="149138" y="0"/>
                </a:moveTo>
                <a:lnTo>
                  <a:pt x="149138" y="0"/>
                </a:lnTo>
                <a:cubicBezTo>
                  <a:pt x="231504" y="0"/>
                  <a:pt x="298275" y="66771"/>
                  <a:pt x="298275" y="149138"/>
                </a:cubicBezTo>
                <a:lnTo>
                  <a:pt x="298275" y="149138"/>
                </a:lnTo>
                <a:cubicBezTo>
                  <a:pt x="298275" y="231504"/>
                  <a:pt x="231504" y="298275"/>
                  <a:pt x="149138" y="298275"/>
                </a:cubicBezTo>
                <a:lnTo>
                  <a:pt x="149138" y="298275"/>
                </a:lnTo>
                <a:cubicBezTo>
                  <a:pt x="66771" y="298275"/>
                  <a:pt x="0" y="231504"/>
                  <a:pt x="0" y="149138"/>
                </a:cubicBezTo>
                <a:lnTo>
                  <a:pt x="0" y="149138"/>
                </a:lnTo>
                <a:cubicBezTo>
                  <a:pt x="0" y="66771"/>
                  <a:pt x="66771" y="0"/>
                  <a:pt x="149138" y="0"/>
                </a:cubicBezTo>
                <a:close/>
              </a:path>
            </a:pathLst>
          </a:custGeom>
          <a:solidFill>
            <a:srgbClr val="D69E2E"/>
          </a:solidFill>
          <a:ln/>
        </p:spPr>
        <p:txBody>
          <a:bodyPr/>
          <a:lstStyle/>
          <a:p>
            <a:endParaRPr lang="zh-CN" altLang="en-US"/>
          </a:p>
        </p:txBody>
      </p:sp>
      <p:sp>
        <p:nvSpPr>
          <p:cNvPr id="27" name="Text 25"/>
          <p:cNvSpPr/>
          <p:nvPr/>
        </p:nvSpPr>
        <p:spPr>
          <a:xfrm>
            <a:off x="8648234" y="6661480"/>
            <a:ext cx="136709" cy="198850"/>
          </a:xfrm>
          <a:prstGeom prst="rect">
            <a:avLst/>
          </a:prstGeom>
          <a:noFill/>
          <a:ln/>
        </p:spPr>
        <p:txBody>
          <a:bodyPr wrap="square" lIns="0" tIns="0" rIns="0" bIns="0" rtlCol="0" anchor="ctr"/>
          <a:lstStyle/>
          <a:p>
            <a:pPr>
              <a:lnSpc>
                <a:spcPct val="110000"/>
              </a:lnSpc>
            </a:pPr>
            <a:r>
              <a:rPr lang="en-US" sz="1174" b="1" dirty="0">
                <a:solidFill>
                  <a:srgbClr val="1A1D21"/>
                </a:solidFill>
                <a:latin typeface="MiSans" pitchFamily="34" charset="0"/>
                <a:ea typeface="MiSans" pitchFamily="34" charset="-122"/>
                <a:cs typeface="MiSans" pitchFamily="34" charset="-120"/>
              </a:rPr>
              <a:t>1</a:t>
            </a:r>
            <a:endParaRPr lang="en-US" sz="1600" dirty="0"/>
          </a:p>
        </p:txBody>
      </p:sp>
      <p:sp>
        <p:nvSpPr>
          <p:cNvPr id="28" name="Text 26"/>
          <p:cNvSpPr/>
          <p:nvPr/>
        </p:nvSpPr>
        <p:spPr>
          <a:xfrm>
            <a:off x="8926119" y="6611768"/>
            <a:ext cx="3231315" cy="298275"/>
          </a:xfrm>
          <a:prstGeom prst="rect">
            <a:avLst/>
          </a:prstGeom>
          <a:noFill/>
          <a:ln/>
        </p:spPr>
        <p:txBody>
          <a:bodyPr wrap="square" lIns="0" tIns="0" rIns="0" bIns="0" rtlCol="0" anchor="ctr"/>
          <a:lstStyle/>
          <a:p>
            <a:pPr>
              <a:lnSpc>
                <a:spcPct val="130000"/>
              </a:lnSpc>
            </a:pPr>
            <a:r>
              <a:rPr lang="en-US" sz="1566" b="1" dirty="0">
                <a:solidFill>
                  <a:srgbClr val="E2E8F0"/>
                </a:solidFill>
                <a:latin typeface="MiSans" pitchFamily="34" charset="0"/>
                <a:ea typeface="MiSans" pitchFamily="34" charset="-122"/>
                <a:cs typeface="MiSans" pitchFamily="34" charset="-120"/>
              </a:rPr>
              <a:t>优先从 ISR 中选择</a:t>
            </a:r>
            <a:endParaRPr lang="en-US" sz="1600" dirty="0"/>
          </a:p>
        </p:txBody>
      </p:sp>
      <p:sp>
        <p:nvSpPr>
          <p:cNvPr id="29" name="Text 27"/>
          <p:cNvSpPr/>
          <p:nvPr/>
        </p:nvSpPr>
        <p:spPr>
          <a:xfrm>
            <a:off x="8926119" y="6910043"/>
            <a:ext cx="3218887"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确保数据一致性，不会丢失已提交的数据</a:t>
            </a:r>
            <a:endParaRPr lang="en-US" sz="1600" dirty="0"/>
          </a:p>
        </p:txBody>
      </p:sp>
      <p:sp>
        <p:nvSpPr>
          <p:cNvPr id="30" name="Shape 28"/>
          <p:cNvSpPr/>
          <p:nvPr/>
        </p:nvSpPr>
        <p:spPr>
          <a:xfrm>
            <a:off x="8528419" y="7258031"/>
            <a:ext cx="298275" cy="298275"/>
          </a:xfrm>
          <a:custGeom>
            <a:avLst/>
            <a:gdLst/>
            <a:ahLst/>
            <a:cxnLst/>
            <a:rect l="l" t="t" r="r" b="b"/>
            <a:pathLst>
              <a:path w="298275" h="298275">
                <a:moveTo>
                  <a:pt x="149138" y="0"/>
                </a:moveTo>
                <a:lnTo>
                  <a:pt x="149138" y="0"/>
                </a:lnTo>
                <a:cubicBezTo>
                  <a:pt x="231504" y="0"/>
                  <a:pt x="298275" y="66771"/>
                  <a:pt x="298275" y="149138"/>
                </a:cubicBezTo>
                <a:lnTo>
                  <a:pt x="298275" y="149138"/>
                </a:lnTo>
                <a:cubicBezTo>
                  <a:pt x="298275" y="231504"/>
                  <a:pt x="231504" y="298275"/>
                  <a:pt x="149138" y="298275"/>
                </a:cubicBezTo>
                <a:lnTo>
                  <a:pt x="149138" y="298275"/>
                </a:lnTo>
                <a:cubicBezTo>
                  <a:pt x="66771" y="298275"/>
                  <a:pt x="0" y="231504"/>
                  <a:pt x="0" y="149138"/>
                </a:cubicBezTo>
                <a:lnTo>
                  <a:pt x="0" y="149138"/>
                </a:lnTo>
                <a:cubicBezTo>
                  <a:pt x="0" y="66771"/>
                  <a:pt x="66771" y="0"/>
                  <a:pt x="149138" y="0"/>
                </a:cubicBezTo>
                <a:close/>
              </a:path>
            </a:pathLst>
          </a:custGeom>
          <a:solidFill>
            <a:srgbClr val="718096"/>
          </a:solidFill>
          <a:ln/>
        </p:spPr>
        <p:txBody>
          <a:bodyPr/>
          <a:lstStyle/>
          <a:p>
            <a:endParaRPr lang="zh-CN" altLang="en-US"/>
          </a:p>
        </p:txBody>
      </p:sp>
      <p:sp>
        <p:nvSpPr>
          <p:cNvPr id="31" name="Text 29"/>
          <p:cNvSpPr/>
          <p:nvPr/>
        </p:nvSpPr>
        <p:spPr>
          <a:xfrm>
            <a:off x="8635612" y="7307743"/>
            <a:ext cx="161566" cy="198850"/>
          </a:xfrm>
          <a:prstGeom prst="rect">
            <a:avLst/>
          </a:prstGeom>
          <a:noFill/>
          <a:ln/>
        </p:spPr>
        <p:txBody>
          <a:bodyPr wrap="square" lIns="0" tIns="0" rIns="0" bIns="0" rtlCol="0" anchor="ctr"/>
          <a:lstStyle/>
          <a:p>
            <a:pPr>
              <a:lnSpc>
                <a:spcPct val="110000"/>
              </a:lnSpc>
            </a:pPr>
            <a:r>
              <a:rPr lang="en-US" sz="1174" b="1" dirty="0">
                <a:solidFill>
                  <a:srgbClr val="1A1D21"/>
                </a:solidFill>
                <a:latin typeface="MiSans" pitchFamily="34" charset="0"/>
                <a:ea typeface="MiSans" pitchFamily="34" charset="-122"/>
                <a:cs typeface="MiSans" pitchFamily="34" charset="-120"/>
              </a:rPr>
              <a:t>2</a:t>
            </a:r>
            <a:endParaRPr lang="en-US" sz="1600" dirty="0"/>
          </a:p>
        </p:txBody>
      </p:sp>
      <p:sp>
        <p:nvSpPr>
          <p:cNvPr id="32" name="Text 30"/>
          <p:cNvSpPr/>
          <p:nvPr/>
        </p:nvSpPr>
        <p:spPr>
          <a:xfrm>
            <a:off x="8926119" y="7258031"/>
            <a:ext cx="3865150" cy="298275"/>
          </a:xfrm>
          <a:prstGeom prst="rect">
            <a:avLst/>
          </a:prstGeom>
          <a:noFill/>
          <a:ln/>
        </p:spPr>
        <p:txBody>
          <a:bodyPr wrap="square" lIns="0" tIns="0" rIns="0" bIns="0" rtlCol="0" anchor="ctr"/>
          <a:lstStyle/>
          <a:p>
            <a:pPr>
              <a:lnSpc>
                <a:spcPct val="130000"/>
              </a:lnSpc>
            </a:pPr>
            <a:r>
              <a:rPr lang="en-US" sz="1566" b="1" dirty="0">
                <a:solidFill>
                  <a:srgbClr val="E2E8F0"/>
                </a:solidFill>
                <a:latin typeface="MiSans" pitchFamily="34" charset="0"/>
                <a:ea typeface="MiSans" pitchFamily="34" charset="-122"/>
                <a:cs typeface="MiSans" pitchFamily="34" charset="-120"/>
              </a:rPr>
              <a:t>Unclean Leader 选举</a:t>
            </a:r>
            <a:endParaRPr lang="en-US" sz="1600" dirty="0"/>
          </a:p>
        </p:txBody>
      </p:sp>
      <p:sp>
        <p:nvSpPr>
          <p:cNvPr id="33" name="Text 31"/>
          <p:cNvSpPr/>
          <p:nvPr/>
        </p:nvSpPr>
        <p:spPr>
          <a:xfrm>
            <a:off x="8926119" y="7556306"/>
            <a:ext cx="3852722"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如果允许数据丢失，可以从非 ISR 中选择(不推荐)</a:t>
            </a:r>
            <a:endParaRPr lang="en-US" sz="1600" dirty="0"/>
          </a:p>
        </p:txBody>
      </p:sp>
      <p:sp>
        <p:nvSpPr>
          <p:cNvPr id="34" name="Shape 32"/>
          <p:cNvSpPr/>
          <p:nvPr/>
        </p:nvSpPr>
        <p:spPr>
          <a:xfrm>
            <a:off x="8528419" y="7904294"/>
            <a:ext cx="298275" cy="298275"/>
          </a:xfrm>
          <a:custGeom>
            <a:avLst/>
            <a:gdLst/>
            <a:ahLst/>
            <a:cxnLst/>
            <a:rect l="l" t="t" r="r" b="b"/>
            <a:pathLst>
              <a:path w="298275" h="298275">
                <a:moveTo>
                  <a:pt x="149138" y="0"/>
                </a:moveTo>
                <a:lnTo>
                  <a:pt x="149138" y="0"/>
                </a:lnTo>
                <a:cubicBezTo>
                  <a:pt x="231504" y="0"/>
                  <a:pt x="298275" y="66771"/>
                  <a:pt x="298275" y="149138"/>
                </a:cubicBezTo>
                <a:lnTo>
                  <a:pt x="298275" y="149138"/>
                </a:lnTo>
                <a:cubicBezTo>
                  <a:pt x="298275" y="231504"/>
                  <a:pt x="231504" y="298275"/>
                  <a:pt x="149138" y="298275"/>
                </a:cubicBezTo>
                <a:lnTo>
                  <a:pt x="149138" y="298275"/>
                </a:lnTo>
                <a:cubicBezTo>
                  <a:pt x="66771" y="298275"/>
                  <a:pt x="0" y="231504"/>
                  <a:pt x="0" y="149138"/>
                </a:cubicBezTo>
                <a:lnTo>
                  <a:pt x="0" y="149138"/>
                </a:lnTo>
                <a:cubicBezTo>
                  <a:pt x="0" y="66771"/>
                  <a:pt x="66771" y="0"/>
                  <a:pt x="149138" y="0"/>
                </a:cubicBezTo>
                <a:close/>
              </a:path>
            </a:pathLst>
          </a:custGeom>
          <a:solidFill>
            <a:srgbClr val="D69E2E"/>
          </a:solidFill>
          <a:ln/>
        </p:spPr>
        <p:txBody>
          <a:bodyPr/>
          <a:lstStyle/>
          <a:p>
            <a:endParaRPr lang="zh-CN" altLang="en-US"/>
          </a:p>
        </p:txBody>
      </p:sp>
      <p:sp>
        <p:nvSpPr>
          <p:cNvPr id="35" name="Text 33"/>
          <p:cNvSpPr/>
          <p:nvPr/>
        </p:nvSpPr>
        <p:spPr>
          <a:xfrm>
            <a:off x="8633670" y="7954006"/>
            <a:ext cx="161566" cy="198850"/>
          </a:xfrm>
          <a:prstGeom prst="rect">
            <a:avLst/>
          </a:prstGeom>
          <a:noFill/>
          <a:ln/>
        </p:spPr>
        <p:txBody>
          <a:bodyPr wrap="square" lIns="0" tIns="0" rIns="0" bIns="0" rtlCol="0" anchor="ctr"/>
          <a:lstStyle/>
          <a:p>
            <a:pPr>
              <a:lnSpc>
                <a:spcPct val="110000"/>
              </a:lnSpc>
            </a:pPr>
            <a:r>
              <a:rPr lang="en-US" sz="1174" b="1" dirty="0">
                <a:solidFill>
                  <a:srgbClr val="1A1D21"/>
                </a:solidFill>
                <a:latin typeface="MiSans" pitchFamily="34" charset="0"/>
                <a:ea typeface="MiSans" pitchFamily="34" charset="-122"/>
                <a:cs typeface="MiSans" pitchFamily="34" charset="-120"/>
              </a:rPr>
              <a:t>3</a:t>
            </a:r>
            <a:endParaRPr lang="en-US" sz="1600" dirty="0"/>
          </a:p>
        </p:txBody>
      </p:sp>
      <p:sp>
        <p:nvSpPr>
          <p:cNvPr id="36" name="Text 34"/>
          <p:cNvSpPr/>
          <p:nvPr/>
        </p:nvSpPr>
        <p:spPr>
          <a:xfrm>
            <a:off x="8926119" y="7904294"/>
            <a:ext cx="4014287" cy="298275"/>
          </a:xfrm>
          <a:prstGeom prst="rect">
            <a:avLst/>
          </a:prstGeom>
          <a:noFill/>
          <a:ln/>
        </p:spPr>
        <p:txBody>
          <a:bodyPr wrap="square" lIns="0" tIns="0" rIns="0" bIns="0" rtlCol="0" anchor="ctr"/>
          <a:lstStyle/>
          <a:p>
            <a:pPr>
              <a:lnSpc>
                <a:spcPct val="130000"/>
              </a:lnSpc>
            </a:pPr>
            <a:r>
              <a:rPr lang="en-US" sz="1566" b="1" dirty="0">
                <a:solidFill>
                  <a:srgbClr val="E2E8F0"/>
                </a:solidFill>
                <a:latin typeface="MiSans" pitchFamily="34" charset="0"/>
                <a:ea typeface="MiSans" pitchFamily="34" charset="-122"/>
                <a:cs typeface="MiSans" pitchFamily="34" charset="-120"/>
              </a:rPr>
              <a:t>配置控制</a:t>
            </a:r>
            <a:endParaRPr lang="en-US" sz="1600" dirty="0"/>
          </a:p>
        </p:txBody>
      </p:sp>
      <p:sp>
        <p:nvSpPr>
          <p:cNvPr id="37" name="Text 35"/>
          <p:cNvSpPr/>
          <p:nvPr/>
        </p:nvSpPr>
        <p:spPr>
          <a:xfrm>
            <a:off x="8926119" y="8202569"/>
            <a:ext cx="4001859" cy="248563"/>
          </a:xfrm>
          <a:prstGeom prst="rect">
            <a:avLst/>
          </a:prstGeom>
          <a:noFill/>
          <a:ln/>
        </p:spPr>
        <p:txBody>
          <a:bodyPr wrap="square" lIns="0" tIns="0" rIns="0" bIns="0" rtlCol="0" anchor="ctr"/>
          <a:lstStyle/>
          <a:p>
            <a:pPr>
              <a:lnSpc>
                <a:spcPct val="120000"/>
              </a:lnSpc>
            </a:pPr>
            <a:r>
              <a:rPr lang="en-US" sz="1370" dirty="0">
                <a:solidFill>
                  <a:srgbClr val="E2E8F0">
                    <a:alpha val="80000"/>
                  </a:srgbClr>
                </a:solidFill>
                <a:latin typeface="MiSans" pitchFamily="34" charset="0"/>
                <a:ea typeface="MiSans" pitchFamily="34" charset="-122"/>
                <a:cs typeface="MiSans" pitchFamily="34" charset="-120"/>
              </a:rPr>
              <a:t>通过 unclean.leader.election.enable 控制是否允许</a:t>
            </a:r>
            <a:endParaRPr lang="en-US" sz="160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42">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mages.squarespace-cdn.com/8d89f0f9d266b6699878877266bbc18b20c35e8e.png"/>
          <p:cNvPicPr>
            <a:picLocks noChangeAspect="1"/>
          </p:cNvPicPr>
          <p:nvPr/>
        </p:nvPicPr>
        <p:blipFill>
          <a:blip r:embed="rId3">
            <a:alphaModFix amt="20000"/>
          </a:blip>
          <a:stretch>
            <a:fillRect/>
          </a:stretch>
        </p:blipFill>
        <p:spPr>
          <a:xfrm>
            <a:off x="0" y="0"/>
            <a:ext cx="16256000" cy="9144000"/>
          </a:xfrm>
          <a:prstGeom prst="roundRect">
            <a:avLst>
              <a:gd name="adj" fmla="val 0"/>
            </a:avLst>
          </a:prstGeom>
        </p:spPr>
      </p:pic>
      <p:sp>
        <p:nvSpPr>
          <p:cNvPr id="3" name="Shape 0"/>
          <p:cNvSpPr/>
          <p:nvPr/>
        </p:nvSpPr>
        <p:spPr>
          <a:xfrm>
            <a:off x="0" y="0"/>
            <a:ext cx="16256000" cy="9144000"/>
          </a:xfrm>
          <a:custGeom>
            <a:avLst/>
            <a:gdLst/>
            <a:ahLst/>
            <a:cxnLst/>
            <a:rect l="l" t="t" r="r" b="b"/>
            <a:pathLst>
              <a:path w="16256000" h="9144000">
                <a:moveTo>
                  <a:pt x="0" y="0"/>
                </a:moveTo>
                <a:lnTo>
                  <a:pt x="16256000" y="0"/>
                </a:lnTo>
                <a:lnTo>
                  <a:pt x="16256000" y="9144000"/>
                </a:lnTo>
                <a:lnTo>
                  <a:pt x="0" y="9144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txBody>
          <a:bodyPr/>
          <a:lstStyle/>
          <a:p>
            <a:endParaRPr lang="zh-CN" altLang="en-US"/>
          </a:p>
        </p:txBody>
      </p:sp>
      <p:sp>
        <p:nvSpPr>
          <p:cNvPr id="4" name="Text 1"/>
          <p:cNvSpPr/>
          <p:nvPr/>
        </p:nvSpPr>
        <p:spPr>
          <a:xfrm>
            <a:off x="13765213" y="2393950"/>
            <a:ext cx="1982788" cy="336550"/>
          </a:xfrm>
          <a:prstGeom prst="rect">
            <a:avLst/>
          </a:prstGeom>
          <a:noFill/>
          <a:ln/>
        </p:spPr>
        <p:txBody>
          <a:bodyPr wrap="square" lIns="0" tIns="0" rIns="0" bIns="0" rtlCol="0" anchor="ctr"/>
          <a:lstStyle/>
          <a:p>
            <a:pPr algn="r">
              <a:lnSpc>
                <a:spcPct val="120000"/>
              </a:lnSpc>
            </a:pPr>
            <a:r>
              <a:rPr lang="en-US" sz="2000" b="1" kern="0" spc="800" dirty="0">
                <a:solidFill>
                  <a:srgbClr val="D69E2E"/>
                </a:solidFill>
                <a:latin typeface="MiSans" pitchFamily="34" charset="0"/>
                <a:ea typeface="MiSans" pitchFamily="34" charset="-122"/>
                <a:cs typeface="MiSans" pitchFamily="34" charset="-120"/>
              </a:rPr>
              <a:t>CHAPTER</a:t>
            </a:r>
            <a:endParaRPr lang="en-US" sz="1600" dirty="0"/>
          </a:p>
        </p:txBody>
      </p:sp>
      <p:sp>
        <p:nvSpPr>
          <p:cNvPr id="5" name="Text 2"/>
          <p:cNvSpPr/>
          <p:nvPr/>
        </p:nvSpPr>
        <p:spPr>
          <a:xfrm>
            <a:off x="8655248" y="3822700"/>
            <a:ext cx="4191000" cy="952500"/>
          </a:xfrm>
          <a:prstGeom prst="rect">
            <a:avLst/>
          </a:prstGeom>
          <a:noFill/>
          <a:ln/>
        </p:spPr>
        <p:txBody>
          <a:bodyPr wrap="square" lIns="0" tIns="0" rIns="0" bIns="0" rtlCol="0" anchor="ctr"/>
          <a:lstStyle/>
          <a:p>
            <a:pPr algn="r">
              <a:lnSpc>
                <a:spcPct val="100000"/>
              </a:lnSpc>
            </a:pPr>
            <a:r>
              <a:rPr lang="en-US" sz="6000" b="1" dirty="0">
                <a:solidFill>
                  <a:srgbClr val="E2E8F0"/>
                </a:solidFill>
                <a:latin typeface="MiSans" pitchFamily="34" charset="0"/>
                <a:ea typeface="MiSans" pitchFamily="34" charset="-122"/>
                <a:cs typeface="MiSans" pitchFamily="34" charset="-120"/>
              </a:rPr>
              <a:t>总结与展望</a:t>
            </a:r>
            <a:endParaRPr lang="en-US" sz="1600" dirty="0"/>
          </a:p>
        </p:txBody>
      </p:sp>
      <p:sp>
        <p:nvSpPr>
          <p:cNvPr id="6" name="Text 3"/>
          <p:cNvSpPr/>
          <p:nvPr/>
        </p:nvSpPr>
        <p:spPr>
          <a:xfrm>
            <a:off x="12236648" y="3149600"/>
            <a:ext cx="3505200" cy="2032000"/>
          </a:xfrm>
          <a:prstGeom prst="rect">
            <a:avLst/>
          </a:prstGeom>
          <a:noFill/>
          <a:ln/>
        </p:spPr>
        <p:txBody>
          <a:bodyPr wrap="square" lIns="0" tIns="0" rIns="0" bIns="0" rtlCol="0" anchor="ctr"/>
          <a:lstStyle/>
          <a:p>
            <a:pPr algn="r">
              <a:lnSpc>
                <a:spcPct val="80000"/>
              </a:lnSpc>
            </a:pPr>
            <a:r>
              <a:rPr lang="en-US" sz="16000" b="1" dirty="0">
                <a:solidFill>
                  <a:srgbClr val="D69E2E"/>
                </a:solidFill>
                <a:latin typeface="MiSans" pitchFamily="34" charset="0"/>
                <a:ea typeface="MiSans" pitchFamily="34" charset="-122"/>
                <a:cs typeface="MiSans" pitchFamily="34" charset="-120"/>
              </a:rPr>
              <a:t>0</a:t>
            </a:r>
            <a:r>
              <a:rPr lang="en-US" altLang="zh-CN" sz="16000" b="1" dirty="0">
                <a:solidFill>
                  <a:srgbClr val="D69E2E"/>
                </a:solidFill>
                <a:latin typeface="MiSans" pitchFamily="34" charset="0"/>
                <a:ea typeface="MiSans" pitchFamily="34" charset="-122"/>
                <a:cs typeface="MiSans" pitchFamily="34" charset="-120"/>
              </a:rPr>
              <a:t>4</a:t>
            </a:r>
            <a:endParaRPr lang="en-US" sz="1600" dirty="0"/>
          </a:p>
        </p:txBody>
      </p:sp>
      <p:sp>
        <p:nvSpPr>
          <p:cNvPr id="7" name="Shape 4"/>
          <p:cNvSpPr/>
          <p:nvPr/>
        </p:nvSpPr>
        <p:spPr>
          <a:xfrm>
            <a:off x="8775700" y="56896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8" name="Text 5"/>
          <p:cNvSpPr/>
          <p:nvPr/>
        </p:nvSpPr>
        <p:spPr>
          <a:xfrm>
            <a:off x="5499100" y="56896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学习重点</a:t>
            </a:r>
            <a:endParaRPr lang="en-US" sz="1600" dirty="0"/>
          </a:p>
        </p:txBody>
      </p:sp>
      <p:sp>
        <p:nvSpPr>
          <p:cNvPr id="9" name="Text 6"/>
          <p:cNvSpPr/>
          <p:nvPr/>
        </p:nvSpPr>
        <p:spPr>
          <a:xfrm>
            <a:off x="5473700" y="6045200"/>
            <a:ext cx="3022600"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系统梳理 Kafka 核心技术体系</a:t>
            </a:r>
            <a:endParaRPr lang="en-US" sz="1600" dirty="0"/>
          </a:p>
        </p:txBody>
      </p:sp>
      <p:sp>
        <p:nvSpPr>
          <p:cNvPr id="10" name="Shape 7"/>
          <p:cNvSpPr/>
          <p:nvPr/>
        </p:nvSpPr>
        <p:spPr>
          <a:xfrm>
            <a:off x="12246967" y="56896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1" name="Text 8"/>
          <p:cNvSpPr/>
          <p:nvPr/>
        </p:nvSpPr>
        <p:spPr>
          <a:xfrm>
            <a:off x="8970367" y="56896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核心内容</a:t>
            </a:r>
            <a:endParaRPr lang="en-US" sz="1600" dirty="0"/>
          </a:p>
        </p:txBody>
      </p:sp>
      <p:sp>
        <p:nvSpPr>
          <p:cNvPr id="12" name="Text 9"/>
          <p:cNvSpPr/>
          <p:nvPr/>
        </p:nvSpPr>
        <p:spPr>
          <a:xfrm>
            <a:off x="8944967" y="6045200"/>
            <a:ext cx="3022600"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分析技术发展趋势与方向</a:t>
            </a:r>
            <a:endParaRPr lang="en-US" sz="1600" dirty="0"/>
          </a:p>
        </p:txBody>
      </p:sp>
      <p:sp>
        <p:nvSpPr>
          <p:cNvPr id="13" name="Shape 10"/>
          <p:cNvSpPr/>
          <p:nvPr/>
        </p:nvSpPr>
        <p:spPr>
          <a:xfrm>
            <a:off x="15718334" y="5689600"/>
            <a:ext cx="50800" cy="1066800"/>
          </a:xfrm>
          <a:custGeom>
            <a:avLst/>
            <a:gdLst/>
            <a:ahLst/>
            <a:cxnLst/>
            <a:rect l="l" t="t" r="r" b="b"/>
            <a:pathLst>
              <a:path w="50800" h="1066800">
                <a:moveTo>
                  <a:pt x="0" y="0"/>
                </a:moveTo>
                <a:lnTo>
                  <a:pt x="50800" y="0"/>
                </a:lnTo>
                <a:lnTo>
                  <a:pt x="50800" y="1066800"/>
                </a:lnTo>
                <a:lnTo>
                  <a:pt x="0" y="1066800"/>
                </a:lnTo>
                <a:lnTo>
                  <a:pt x="0" y="0"/>
                </a:lnTo>
                <a:close/>
              </a:path>
            </a:pathLst>
          </a:custGeom>
          <a:solidFill>
            <a:srgbClr val="D69E2E"/>
          </a:solidFill>
          <a:ln/>
        </p:spPr>
        <p:txBody>
          <a:bodyPr/>
          <a:lstStyle/>
          <a:p>
            <a:endParaRPr lang="zh-CN" altLang="en-US"/>
          </a:p>
        </p:txBody>
      </p:sp>
      <p:sp>
        <p:nvSpPr>
          <p:cNvPr id="14" name="Text 11"/>
          <p:cNvSpPr/>
          <p:nvPr/>
        </p:nvSpPr>
        <p:spPr>
          <a:xfrm>
            <a:off x="12441734" y="5689600"/>
            <a:ext cx="2997200" cy="254000"/>
          </a:xfrm>
          <a:prstGeom prst="rect">
            <a:avLst/>
          </a:prstGeom>
          <a:noFill/>
          <a:ln/>
        </p:spPr>
        <p:txBody>
          <a:bodyPr wrap="square" lIns="0" tIns="0" rIns="0" bIns="0" rtlCol="0" anchor="ctr"/>
          <a:lstStyle/>
          <a:p>
            <a:pPr algn="r">
              <a:lnSpc>
                <a:spcPct val="120000"/>
              </a:lnSpc>
            </a:pPr>
            <a:r>
              <a:rPr lang="en-US" sz="1400" kern="0" spc="70" dirty="0">
                <a:solidFill>
                  <a:srgbClr val="718096"/>
                </a:solidFill>
                <a:latin typeface="MiSans" pitchFamily="34" charset="0"/>
                <a:ea typeface="MiSans" pitchFamily="34" charset="-122"/>
                <a:cs typeface="MiSans" pitchFamily="34" charset="-120"/>
              </a:rPr>
              <a:t>学习目标</a:t>
            </a:r>
            <a:endParaRPr lang="en-US" sz="1600" dirty="0"/>
          </a:p>
        </p:txBody>
      </p:sp>
      <p:sp>
        <p:nvSpPr>
          <p:cNvPr id="15" name="Text 12"/>
          <p:cNvSpPr/>
          <p:nvPr/>
        </p:nvSpPr>
        <p:spPr>
          <a:xfrm>
            <a:off x="12416334" y="6045200"/>
            <a:ext cx="3022600" cy="355600"/>
          </a:xfrm>
          <a:prstGeom prst="rect">
            <a:avLst/>
          </a:prstGeom>
          <a:noFill/>
          <a:ln/>
        </p:spPr>
        <p:txBody>
          <a:bodyPr wrap="square" lIns="0" tIns="0" rIns="0" bIns="0" rtlCol="0" anchor="ctr"/>
          <a:lstStyle/>
          <a:p>
            <a:pPr algn="r">
              <a:lnSpc>
                <a:spcPct val="130000"/>
              </a:lnSpc>
            </a:pPr>
            <a:r>
              <a:rPr lang="en-US" sz="1800" dirty="0">
                <a:solidFill>
                  <a:srgbClr val="E2E8F0"/>
                </a:solidFill>
                <a:latin typeface="MiSans" pitchFamily="34" charset="0"/>
                <a:ea typeface="MiSans" pitchFamily="34" charset="-122"/>
                <a:cs typeface="MiSans" pitchFamily="34" charset="-120"/>
              </a:rPr>
              <a:t>提供实践与学习建议</a:t>
            </a:r>
            <a:endParaRPr lang="en-US" sz="160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4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altLang="zh-CN" sz="1600" b="1" kern="0" spc="80" dirty="0">
                <a:solidFill>
                  <a:srgbClr val="D69E2E"/>
                </a:solidFill>
                <a:latin typeface="MiSans" pitchFamily="34" charset="0"/>
                <a:ea typeface="MiSans" pitchFamily="34" charset="-122"/>
                <a:cs typeface="MiSans" pitchFamily="34" charset="-120"/>
              </a:rPr>
              <a:t>4</a:t>
            </a:r>
            <a:r>
              <a:rPr lang="en-US" sz="1600" b="1" kern="0" spc="80" dirty="0">
                <a:solidFill>
                  <a:srgbClr val="D69E2E"/>
                </a:solidFill>
                <a:latin typeface="MiSans" pitchFamily="34" charset="0"/>
                <a:ea typeface="MiSans" pitchFamily="34" charset="-122"/>
                <a:cs typeface="MiSans" pitchFamily="34" charset="-120"/>
              </a:rPr>
              <a:t>.1.1 架构设计</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Kafka 架构设计精髓</a:t>
            </a:r>
            <a:endParaRPr lang="en-US" sz="1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8000" y="1625600"/>
          <a:ext cx="15240000" cy="4368798"/>
        </p:xfrm>
        <a:graphic>
          <a:graphicData uri="http://schemas.openxmlformats.org/drawingml/2006/table">
            <a:tbl>
              <a:tblPr/>
              <a:tblGrid>
                <a:gridCol w="1831853">
                  <a:extLst>
                    <a:ext uri="{9D8B030D-6E8A-4147-A177-3AD203B41FA5}">
                      <a16:colId xmlns:a16="http://schemas.microsoft.com/office/drawing/2014/main" val="20000"/>
                    </a:ext>
                  </a:extLst>
                </a:gridCol>
                <a:gridCol w="4490584">
                  <a:extLst>
                    <a:ext uri="{9D8B030D-6E8A-4147-A177-3AD203B41FA5}">
                      <a16:colId xmlns:a16="http://schemas.microsoft.com/office/drawing/2014/main" val="20001"/>
                    </a:ext>
                  </a:extLst>
                </a:gridCol>
                <a:gridCol w="4147112">
                  <a:extLst>
                    <a:ext uri="{9D8B030D-6E8A-4147-A177-3AD203B41FA5}">
                      <a16:colId xmlns:a16="http://schemas.microsoft.com/office/drawing/2014/main" val="20002"/>
                    </a:ext>
                  </a:extLst>
                </a:gridCol>
                <a:gridCol w="4770451">
                  <a:extLst>
                    <a:ext uri="{9D8B030D-6E8A-4147-A177-3AD203B41FA5}">
                      <a16:colId xmlns:a16="http://schemas.microsoft.com/office/drawing/2014/main" val="20003"/>
                    </a:ext>
                  </a:extLst>
                </a:gridCol>
              </a:tblGrid>
              <a:tr h="624114">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设计维度</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核心原理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设计优势</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实现细节</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extLst>
                  <a:ext uri="{0D108BD9-81ED-4DB2-BD59-A6C34878D82A}">
                    <a16:rowId xmlns:a16="http://schemas.microsoft.com/office/drawing/2014/main" val="10000"/>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分布式分区架构</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基于 Partition 的水平扩展和并行处理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高吞吐、水平扩展、负载均衡</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分区机制、副本复制、Leader-Follower 模型</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1"/>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高性能存储设计</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顺序磁盘 I/O + 零拷贝 + 批量处理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百万级 QPS、GB/s 吞吐量、低延迟</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Append-Only Log、mmap、sendfile 系统调用</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2"/>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简洁的 API 设计</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生产者-消费者模式、偏移量管理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易于使用、生态友好、多语言支持</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异步发送、批量拉取、消费者组机制</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3"/>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副本同步机制</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ISR 机制 + 水位线控制</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数据一致性、高可用、自动故障转移</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ISR 列表维护、HW/LEO 管理、Leader 选举</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4"/>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元数据管理演进</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从 ZooKeeper 到 KRaft 的内置共识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简化部署、更好性能、更强一致性</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Raft 协议、元数据日志、批量操作</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5"/>
                  </a:ext>
                </a:extLst>
              </a:tr>
              <a:tr h="624114">
                <a:tc>
                  <a:txBody>
                    <a:bodyPr/>
                    <a:lstStyle/>
                    <a:p>
                      <a:r>
                        <a:rPr lang="en-US" sz="1600" b="1" u="none" dirty="0">
                          <a:solidFill>
                            <a:srgbClr val="E2E8F0"/>
                          </a:solidFill>
                          <a:latin typeface="微软雅黑" pitchFamily="34" charset="0"/>
                          <a:ea typeface="微软雅黑" pitchFamily="34" charset="-122"/>
                          <a:cs typeface="微软雅黑" pitchFamily="34" charset="-120"/>
                        </a:rPr>
                        <a:t>生态系统设计</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Connect 架构 + Streams 库 + 多语言客户端</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完整数据流水线、流处理能力、广泛集成</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插件化连接器、状态管理、窗口操作</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6"/>
                  </a:ext>
                </a:extLst>
              </a:tr>
            </a:tbl>
          </a:graphicData>
        </a:graphic>
      </p:graphicFrame>
      <p:sp>
        <p:nvSpPr>
          <p:cNvPr id="5" name="Shape 2"/>
          <p:cNvSpPr/>
          <p:nvPr/>
        </p:nvSpPr>
        <p:spPr>
          <a:xfrm>
            <a:off x="514350" y="7600950"/>
            <a:ext cx="15227300" cy="1028700"/>
          </a:xfrm>
          <a:custGeom>
            <a:avLst/>
            <a:gdLst/>
            <a:ahLst/>
            <a:cxnLst/>
            <a:rect l="l" t="t" r="r" b="b"/>
            <a:pathLst>
              <a:path w="15227300" h="1028700">
                <a:moveTo>
                  <a:pt x="101605" y="0"/>
                </a:moveTo>
                <a:lnTo>
                  <a:pt x="15125695" y="0"/>
                </a:lnTo>
                <a:cubicBezTo>
                  <a:pt x="15181810" y="0"/>
                  <a:pt x="15227300" y="45490"/>
                  <a:pt x="15227300" y="101605"/>
                </a:cubicBezTo>
                <a:lnTo>
                  <a:pt x="15227300" y="927095"/>
                </a:lnTo>
                <a:cubicBezTo>
                  <a:pt x="15227300" y="983210"/>
                  <a:pt x="15181810" y="1028700"/>
                  <a:pt x="15125695" y="1028700"/>
                </a:cubicBezTo>
                <a:lnTo>
                  <a:pt x="101605" y="1028700"/>
                </a:lnTo>
                <a:cubicBezTo>
                  <a:pt x="45490" y="1028700"/>
                  <a:pt x="0" y="983210"/>
                  <a:pt x="0" y="927095"/>
                </a:cubicBezTo>
                <a:lnTo>
                  <a:pt x="0" y="101605"/>
                </a:lnTo>
                <a:cubicBezTo>
                  <a:pt x="0" y="45528"/>
                  <a:pt x="45528" y="0"/>
                  <a:pt x="101605"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6" name="Shape 3"/>
          <p:cNvSpPr/>
          <p:nvPr/>
        </p:nvSpPr>
        <p:spPr>
          <a:xfrm>
            <a:off x="774700" y="7867650"/>
            <a:ext cx="152400" cy="203200"/>
          </a:xfrm>
          <a:custGeom>
            <a:avLst/>
            <a:gdLst/>
            <a:ahLst/>
            <a:cxnLst/>
            <a:rect l="l" t="t" r="r" b="b"/>
            <a:pathLst>
              <a:path w="152400" h="203200">
                <a:moveTo>
                  <a:pt x="116245" y="152400"/>
                </a:moveTo>
                <a:cubicBezTo>
                  <a:pt x="119142" y="143550"/>
                  <a:pt x="124936" y="135533"/>
                  <a:pt x="131485" y="128627"/>
                </a:cubicBezTo>
                <a:cubicBezTo>
                  <a:pt x="144462" y="114975"/>
                  <a:pt x="152400" y="96520"/>
                  <a:pt x="152400" y="76200"/>
                </a:cubicBezTo>
                <a:cubicBezTo>
                  <a:pt x="152400" y="34131"/>
                  <a:pt x="118269" y="0"/>
                  <a:pt x="76200" y="0"/>
                </a:cubicBezTo>
                <a:cubicBezTo>
                  <a:pt x="34131" y="0"/>
                  <a:pt x="0" y="34131"/>
                  <a:pt x="0" y="76200"/>
                </a:cubicBezTo>
                <a:cubicBezTo>
                  <a:pt x="0" y="96520"/>
                  <a:pt x="7938" y="114975"/>
                  <a:pt x="20915" y="128627"/>
                </a:cubicBezTo>
                <a:cubicBezTo>
                  <a:pt x="27464" y="135533"/>
                  <a:pt x="33298" y="143550"/>
                  <a:pt x="36155" y="152400"/>
                </a:cubicBezTo>
                <a:lnTo>
                  <a:pt x="116205" y="152400"/>
                </a:lnTo>
                <a:close/>
                <a:moveTo>
                  <a:pt x="114300" y="171450"/>
                </a:moveTo>
                <a:lnTo>
                  <a:pt x="38100" y="171450"/>
                </a:lnTo>
                <a:lnTo>
                  <a:pt x="38100" y="177800"/>
                </a:lnTo>
                <a:cubicBezTo>
                  <a:pt x="38100" y="195342"/>
                  <a:pt x="52308" y="209550"/>
                  <a:pt x="69850" y="209550"/>
                </a:cubicBezTo>
                <a:lnTo>
                  <a:pt x="82550" y="209550"/>
                </a:lnTo>
                <a:cubicBezTo>
                  <a:pt x="100092" y="209550"/>
                  <a:pt x="114300" y="195342"/>
                  <a:pt x="114300" y="177800"/>
                </a:cubicBezTo>
                <a:lnTo>
                  <a:pt x="114300" y="171450"/>
                </a:lnTo>
                <a:close/>
                <a:moveTo>
                  <a:pt x="73025" y="44450"/>
                </a:moveTo>
                <a:cubicBezTo>
                  <a:pt x="57229" y="44450"/>
                  <a:pt x="44450" y="57229"/>
                  <a:pt x="44450" y="73025"/>
                </a:cubicBezTo>
                <a:cubicBezTo>
                  <a:pt x="44450" y="78303"/>
                  <a:pt x="40203" y="82550"/>
                  <a:pt x="34925" y="82550"/>
                </a:cubicBezTo>
                <a:cubicBezTo>
                  <a:pt x="29647" y="82550"/>
                  <a:pt x="25400" y="78303"/>
                  <a:pt x="25400" y="73025"/>
                </a:cubicBezTo>
                <a:cubicBezTo>
                  <a:pt x="25400" y="46712"/>
                  <a:pt x="46712" y="25400"/>
                  <a:pt x="73025" y="25400"/>
                </a:cubicBezTo>
                <a:cubicBezTo>
                  <a:pt x="78303" y="25400"/>
                  <a:pt x="82550" y="29647"/>
                  <a:pt x="82550" y="34925"/>
                </a:cubicBezTo>
                <a:cubicBezTo>
                  <a:pt x="82550" y="40203"/>
                  <a:pt x="78303" y="44450"/>
                  <a:pt x="73025" y="44450"/>
                </a:cubicBezTo>
                <a:close/>
              </a:path>
            </a:pathLst>
          </a:custGeom>
          <a:solidFill>
            <a:srgbClr val="D69E2E"/>
          </a:solidFill>
          <a:ln/>
        </p:spPr>
        <p:txBody>
          <a:bodyPr/>
          <a:lstStyle/>
          <a:p>
            <a:endParaRPr lang="zh-CN" altLang="en-US"/>
          </a:p>
        </p:txBody>
      </p:sp>
      <p:sp>
        <p:nvSpPr>
          <p:cNvPr id="7" name="Text 4"/>
          <p:cNvSpPr/>
          <p:nvPr/>
        </p:nvSpPr>
        <p:spPr>
          <a:xfrm>
            <a:off x="1079500" y="7810500"/>
            <a:ext cx="14554200" cy="6096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设计哲学:</a:t>
            </a:r>
            <a:r>
              <a:rPr lang="en-US" sz="1600" dirty="0">
                <a:solidFill>
                  <a:srgbClr val="E2E8F0">
                    <a:alpha val="90000"/>
                  </a:srgbClr>
                </a:solidFill>
                <a:latin typeface="MiSans" pitchFamily="34" charset="0"/>
                <a:ea typeface="MiSans" pitchFamily="34" charset="-122"/>
                <a:cs typeface="MiSans" pitchFamily="34" charset="-120"/>
              </a:rPr>
              <a:t> Kafka 的成功源于其对"简单性优先"原则的坚持。通过简洁的 API、明确的责任划分和精心设计的性能优化，Kafka 在大数据领域建立了不可替代的地位。</a:t>
            </a:r>
            <a:endParaRPr lang="en-US" sz="16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4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altLang="zh-CN" sz="1600" b="1" kern="0" spc="80" dirty="0">
                <a:solidFill>
                  <a:srgbClr val="D69E2E"/>
                </a:solidFill>
                <a:latin typeface="MiSans" pitchFamily="34" charset="0"/>
                <a:ea typeface="MiSans" pitchFamily="34" charset="-122"/>
                <a:cs typeface="MiSans" pitchFamily="34" charset="-120"/>
              </a:rPr>
              <a:t>4</a:t>
            </a:r>
            <a:r>
              <a:rPr lang="en-US" sz="1600" b="1" kern="0" spc="80" dirty="0">
                <a:solidFill>
                  <a:srgbClr val="D69E2E"/>
                </a:solidFill>
                <a:latin typeface="MiSans" pitchFamily="34" charset="0"/>
                <a:ea typeface="MiSans" pitchFamily="34" charset="-122"/>
                <a:cs typeface="MiSans" pitchFamily="34" charset="-120"/>
              </a:rPr>
              <a:t>.1.2 语义保障</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消息传递语义保障机制</a:t>
            </a:r>
            <a:endParaRPr lang="en-US" sz="1600" dirty="0"/>
          </a:p>
        </p:txBody>
      </p:sp>
      <p:sp>
        <p:nvSpPr>
          <p:cNvPr id="4" name="Shape 2"/>
          <p:cNvSpPr/>
          <p:nvPr/>
        </p:nvSpPr>
        <p:spPr>
          <a:xfrm>
            <a:off x="533400" y="1625600"/>
            <a:ext cx="7442200" cy="3860800"/>
          </a:xfrm>
          <a:custGeom>
            <a:avLst/>
            <a:gdLst/>
            <a:ahLst/>
            <a:cxnLst/>
            <a:rect l="l" t="t" r="r" b="b"/>
            <a:pathLst>
              <a:path w="7442200" h="3860800">
                <a:moveTo>
                  <a:pt x="50800" y="0"/>
                </a:moveTo>
                <a:lnTo>
                  <a:pt x="7340584" y="0"/>
                </a:lnTo>
                <a:cubicBezTo>
                  <a:pt x="7396705" y="0"/>
                  <a:pt x="7442200" y="45495"/>
                  <a:pt x="7442200" y="101616"/>
                </a:cubicBezTo>
                <a:lnTo>
                  <a:pt x="7442200" y="3759184"/>
                </a:lnTo>
                <a:cubicBezTo>
                  <a:pt x="7442200" y="3815305"/>
                  <a:pt x="7396705" y="3860800"/>
                  <a:pt x="7340584" y="3860800"/>
                </a:cubicBezTo>
                <a:lnTo>
                  <a:pt x="50800" y="3860800"/>
                </a:lnTo>
                <a:cubicBezTo>
                  <a:pt x="22744" y="3860800"/>
                  <a:pt x="0" y="3838056"/>
                  <a:pt x="0" y="38100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33400" y="1625600"/>
            <a:ext cx="50800" cy="3860800"/>
          </a:xfrm>
          <a:custGeom>
            <a:avLst/>
            <a:gdLst/>
            <a:ahLst/>
            <a:cxnLst/>
            <a:rect l="l" t="t" r="r" b="b"/>
            <a:pathLst>
              <a:path w="50800" h="3860800">
                <a:moveTo>
                  <a:pt x="50800" y="0"/>
                </a:moveTo>
                <a:lnTo>
                  <a:pt x="50800" y="0"/>
                </a:lnTo>
                <a:lnTo>
                  <a:pt x="50800" y="3860800"/>
                </a:lnTo>
                <a:lnTo>
                  <a:pt x="50800" y="3860800"/>
                </a:lnTo>
                <a:cubicBezTo>
                  <a:pt x="22763" y="3860800"/>
                  <a:pt x="0" y="3838037"/>
                  <a:pt x="0" y="38100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6" name="Text 4"/>
          <p:cNvSpPr/>
          <p:nvPr/>
        </p:nvSpPr>
        <p:spPr>
          <a:xfrm>
            <a:off x="7620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消息可靠性级别</a:t>
            </a:r>
            <a:endParaRPr lang="en-US" sz="1600" dirty="0"/>
          </a:p>
        </p:txBody>
      </p:sp>
      <p:sp>
        <p:nvSpPr>
          <p:cNvPr id="7" name="Shape 5"/>
          <p:cNvSpPr/>
          <p:nvPr/>
        </p:nvSpPr>
        <p:spPr>
          <a:xfrm>
            <a:off x="762000" y="2336800"/>
            <a:ext cx="7010400" cy="914400"/>
          </a:xfrm>
          <a:custGeom>
            <a:avLst/>
            <a:gdLst/>
            <a:ahLst/>
            <a:cxnLst/>
            <a:rect l="l" t="t" r="r" b="b"/>
            <a:pathLst>
              <a:path w="7010400" h="914400">
                <a:moveTo>
                  <a:pt x="50804" y="0"/>
                </a:moveTo>
                <a:lnTo>
                  <a:pt x="6959596" y="0"/>
                </a:lnTo>
                <a:cubicBezTo>
                  <a:pt x="6987654" y="0"/>
                  <a:pt x="7010400" y="22746"/>
                  <a:pt x="7010400" y="50804"/>
                </a:cubicBezTo>
                <a:lnTo>
                  <a:pt x="7010400" y="863596"/>
                </a:lnTo>
                <a:cubicBezTo>
                  <a:pt x="7010400" y="891654"/>
                  <a:pt x="6987654" y="914400"/>
                  <a:pt x="6959596" y="914400"/>
                </a:cubicBezTo>
                <a:lnTo>
                  <a:pt x="50804" y="914400"/>
                </a:lnTo>
                <a:cubicBezTo>
                  <a:pt x="22746" y="914400"/>
                  <a:pt x="0" y="891654"/>
                  <a:pt x="0" y="863596"/>
                </a:cubicBezTo>
                <a:lnTo>
                  <a:pt x="0" y="50804"/>
                </a:lnTo>
                <a:cubicBezTo>
                  <a:pt x="0" y="22765"/>
                  <a:pt x="22765" y="0"/>
                  <a:pt x="50804" y="0"/>
                </a:cubicBezTo>
                <a:close/>
              </a:path>
            </a:pathLst>
          </a:custGeom>
          <a:solidFill>
            <a:srgbClr val="1A1D21">
              <a:alpha val="60000"/>
            </a:srgbClr>
          </a:solidFill>
          <a:ln/>
        </p:spPr>
        <p:txBody>
          <a:bodyPr/>
          <a:lstStyle/>
          <a:p>
            <a:endParaRPr lang="zh-CN" altLang="en-US"/>
          </a:p>
        </p:txBody>
      </p:sp>
      <p:sp>
        <p:nvSpPr>
          <p:cNvPr id="8" name="Text 6"/>
          <p:cNvSpPr/>
          <p:nvPr/>
        </p:nvSpPr>
        <p:spPr>
          <a:xfrm>
            <a:off x="914400" y="2489200"/>
            <a:ext cx="13843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At Most Once</a:t>
            </a:r>
            <a:endParaRPr lang="en-US" sz="1600" dirty="0"/>
          </a:p>
        </p:txBody>
      </p:sp>
      <p:sp>
        <p:nvSpPr>
          <p:cNvPr id="9" name="Shape 7"/>
          <p:cNvSpPr/>
          <p:nvPr/>
        </p:nvSpPr>
        <p:spPr>
          <a:xfrm>
            <a:off x="6807200" y="2489200"/>
            <a:ext cx="812800" cy="304800"/>
          </a:xfrm>
          <a:custGeom>
            <a:avLst/>
            <a:gdLst/>
            <a:ahLst/>
            <a:cxnLst/>
            <a:rect l="l" t="t" r="r" b="b"/>
            <a:pathLst>
              <a:path w="812800" h="304800">
                <a:moveTo>
                  <a:pt x="50801" y="0"/>
                </a:moveTo>
                <a:lnTo>
                  <a:pt x="761999" y="0"/>
                </a:lnTo>
                <a:cubicBezTo>
                  <a:pt x="790056" y="0"/>
                  <a:pt x="812800" y="22744"/>
                  <a:pt x="812800" y="50801"/>
                </a:cubicBezTo>
                <a:lnTo>
                  <a:pt x="812800" y="253999"/>
                </a:lnTo>
                <a:cubicBezTo>
                  <a:pt x="812800" y="282056"/>
                  <a:pt x="790056" y="304800"/>
                  <a:pt x="761999" y="304800"/>
                </a:cubicBezTo>
                <a:lnTo>
                  <a:pt x="50801" y="304800"/>
                </a:lnTo>
                <a:cubicBezTo>
                  <a:pt x="22744" y="304800"/>
                  <a:pt x="0" y="282056"/>
                  <a:pt x="0" y="253999"/>
                </a:cubicBezTo>
                <a:lnTo>
                  <a:pt x="0" y="50801"/>
                </a:lnTo>
                <a:cubicBezTo>
                  <a:pt x="0" y="22763"/>
                  <a:pt x="22763" y="0"/>
                  <a:pt x="50801" y="0"/>
                </a:cubicBezTo>
                <a:close/>
              </a:path>
            </a:pathLst>
          </a:custGeom>
          <a:solidFill>
            <a:srgbClr val="718096">
              <a:alpha val="30196"/>
            </a:srgbClr>
          </a:solidFill>
          <a:ln/>
        </p:spPr>
        <p:txBody>
          <a:bodyPr/>
          <a:lstStyle/>
          <a:p>
            <a:endParaRPr lang="zh-CN" altLang="en-US"/>
          </a:p>
        </p:txBody>
      </p:sp>
      <p:sp>
        <p:nvSpPr>
          <p:cNvPr id="10" name="Text 8"/>
          <p:cNvSpPr/>
          <p:nvPr/>
        </p:nvSpPr>
        <p:spPr>
          <a:xfrm>
            <a:off x="6807200" y="2489200"/>
            <a:ext cx="889000" cy="304800"/>
          </a:xfrm>
          <a:prstGeom prst="rect">
            <a:avLst/>
          </a:prstGeom>
          <a:noFill/>
          <a:ln/>
        </p:spPr>
        <p:txBody>
          <a:bodyPr wrap="square" lIns="101600" tIns="50800" rIns="101600" bIns="50800" rtlCol="0" anchor="ctr"/>
          <a:lstStyle/>
          <a:p>
            <a:pPr>
              <a:lnSpc>
                <a:spcPct val="110000"/>
              </a:lnSpc>
            </a:pPr>
            <a:r>
              <a:rPr lang="en-US" sz="1200" dirty="0">
                <a:solidFill>
                  <a:srgbClr val="E2E8F0">
                    <a:alpha val="60000"/>
                  </a:srgbClr>
                </a:solidFill>
                <a:latin typeface="MiSans" pitchFamily="34" charset="0"/>
                <a:ea typeface="MiSans" pitchFamily="34" charset="-122"/>
                <a:cs typeface="MiSans" pitchFamily="34" charset="-120"/>
              </a:rPr>
              <a:t>性能优先</a:t>
            </a:r>
            <a:endParaRPr lang="en-US" sz="1600" dirty="0"/>
          </a:p>
        </p:txBody>
      </p:sp>
      <p:sp>
        <p:nvSpPr>
          <p:cNvPr id="11" name="Text 9"/>
          <p:cNvSpPr/>
          <p:nvPr/>
        </p:nvSpPr>
        <p:spPr>
          <a:xfrm>
            <a:off x="914400" y="2844800"/>
            <a:ext cx="67945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消息可能丢失但不重复，acks=0，适用于非关键数据</a:t>
            </a:r>
            <a:endParaRPr lang="en-US" sz="1600" dirty="0"/>
          </a:p>
        </p:txBody>
      </p:sp>
      <p:sp>
        <p:nvSpPr>
          <p:cNvPr id="12" name="Shape 10"/>
          <p:cNvSpPr/>
          <p:nvPr/>
        </p:nvSpPr>
        <p:spPr>
          <a:xfrm>
            <a:off x="762000" y="3352800"/>
            <a:ext cx="7010400" cy="914400"/>
          </a:xfrm>
          <a:custGeom>
            <a:avLst/>
            <a:gdLst/>
            <a:ahLst/>
            <a:cxnLst/>
            <a:rect l="l" t="t" r="r" b="b"/>
            <a:pathLst>
              <a:path w="7010400" h="914400">
                <a:moveTo>
                  <a:pt x="50804" y="0"/>
                </a:moveTo>
                <a:lnTo>
                  <a:pt x="6959596" y="0"/>
                </a:lnTo>
                <a:cubicBezTo>
                  <a:pt x="6987654" y="0"/>
                  <a:pt x="7010400" y="22746"/>
                  <a:pt x="7010400" y="50804"/>
                </a:cubicBezTo>
                <a:lnTo>
                  <a:pt x="7010400" y="863596"/>
                </a:lnTo>
                <a:cubicBezTo>
                  <a:pt x="7010400" y="891654"/>
                  <a:pt x="6987654" y="914400"/>
                  <a:pt x="6959596" y="914400"/>
                </a:cubicBezTo>
                <a:lnTo>
                  <a:pt x="50804" y="914400"/>
                </a:lnTo>
                <a:cubicBezTo>
                  <a:pt x="22746" y="914400"/>
                  <a:pt x="0" y="891654"/>
                  <a:pt x="0" y="863596"/>
                </a:cubicBezTo>
                <a:lnTo>
                  <a:pt x="0" y="50804"/>
                </a:lnTo>
                <a:cubicBezTo>
                  <a:pt x="0" y="22765"/>
                  <a:pt x="22765" y="0"/>
                  <a:pt x="50804" y="0"/>
                </a:cubicBezTo>
                <a:close/>
              </a:path>
            </a:pathLst>
          </a:custGeom>
          <a:solidFill>
            <a:srgbClr val="1A1D21">
              <a:alpha val="60000"/>
            </a:srgbClr>
          </a:solidFill>
          <a:ln/>
        </p:spPr>
        <p:txBody>
          <a:bodyPr/>
          <a:lstStyle/>
          <a:p>
            <a:endParaRPr lang="zh-CN" altLang="en-US"/>
          </a:p>
        </p:txBody>
      </p:sp>
      <p:sp>
        <p:nvSpPr>
          <p:cNvPr id="13" name="Text 11"/>
          <p:cNvSpPr/>
          <p:nvPr/>
        </p:nvSpPr>
        <p:spPr>
          <a:xfrm>
            <a:off x="914400" y="3505200"/>
            <a:ext cx="14224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At Least Once</a:t>
            </a:r>
            <a:endParaRPr lang="en-US" sz="1600" dirty="0"/>
          </a:p>
        </p:txBody>
      </p:sp>
      <p:sp>
        <p:nvSpPr>
          <p:cNvPr id="14" name="Shape 12"/>
          <p:cNvSpPr/>
          <p:nvPr/>
        </p:nvSpPr>
        <p:spPr>
          <a:xfrm>
            <a:off x="6807200" y="3505200"/>
            <a:ext cx="812800" cy="304800"/>
          </a:xfrm>
          <a:custGeom>
            <a:avLst/>
            <a:gdLst/>
            <a:ahLst/>
            <a:cxnLst/>
            <a:rect l="l" t="t" r="r" b="b"/>
            <a:pathLst>
              <a:path w="812800" h="304800">
                <a:moveTo>
                  <a:pt x="50801" y="0"/>
                </a:moveTo>
                <a:lnTo>
                  <a:pt x="761999" y="0"/>
                </a:lnTo>
                <a:cubicBezTo>
                  <a:pt x="790056" y="0"/>
                  <a:pt x="812800" y="22744"/>
                  <a:pt x="812800" y="50801"/>
                </a:cubicBezTo>
                <a:lnTo>
                  <a:pt x="812800" y="253999"/>
                </a:lnTo>
                <a:cubicBezTo>
                  <a:pt x="812800" y="282056"/>
                  <a:pt x="790056" y="304800"/>
                  <a:pt x="761999" y="304800"/>
                </a:cubicBezTo>
                <a:lnTo>
                  <a:pt x="50801" y="304800"/>
                </a:lnTo>
                <a:cubicBezTo>
                  <a:pt x="22744" y="304800"/>
                  <a:pt x="0" y="282056"/>
                  <a:pt x="0" y="253999"/>
                </a:cubicBezTo>
                <a:lnTo>
                  <a:pt x="0" y="50801"/>
                </a:lnTo>
                <a:cubicBezTo>
                  <a:pt x="0" y="22763"/>
                  <a:pt x="22763" y="0"/>
                  <a:pt x="50801" y="0"/>
                </a:cubicBezTo>
                <a:close/>
              </a:path>
            </a:pathLst>
          </a:custGeom>
          <a:solidFill>
            <a:srgbClr val="D69E2E">
              <a:alpha val="30196"/>
            </a:srgbClr>
          </a:solidFill>
          <a:ln/>
        </p:spPr>
        <p:txBody>
          <a:bodyPr/>
          <a:lstStyle/>
          <a:p>
            <a:endParaRPr lang="zh-CN" altLang="en-US"/>
          </a:p>
        </p:txBody>
      </p:sp>
      <p:sp>
        <p:nvSpPr>
          <p:cNvPr id="15" name="Text 13"/>
          <p:cNvSpPr/>
          <p:nvPr/>
        </p:nvSpPr>
        <p:spPr>
          <a:xfrm>
            <a:off x="6807200" y="3505200"/>
            <a:ext cx="889000" cy="304800"/>
          </a:xfrm>
          <a:prstGeom prst="rect">
            <a:avLst/>
          </a:prstGeom>
          <a:noFill/>
          <a:ln/>
        </p:spPr>
        <p:txBody>
          <a:bodyPr wrap="square" lIns="101600" tIns="50800" rIns="101600" bIns="5080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默认配置</a:t>
            </a:r>
            <a:endParaRPr lang="en-US" sz="1600" dirty="0"/>
          </a:p>
        </p:txBody>
      </p:sp>
      <p:sp>
        <p:nvSpPr>
          <p:cNvPr id="16" name="Text 14"/>
          <p:cNvSpPr/>
          <p:nvPr/>
        </p:nvSpPr>
        <p:spPr>
          <a:xfrm>
            <a:off x="914400" y="3860800"/>
            <a:ext cx="67945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消息不丢失但可能重复，acks=all + 重试，Kafka 默认</a:t>
            </a:r>
            <a:endParaRPr lang="en-US" sz="1600" dirty="0"/>
          </a:p>
        </p:txBody>
      </p:sp>
      <p:sp>
        <p:nvSpPr>
          <p:cNvPr id="17" name="Shape 15"/>
          <p:cNvSpPr/>
          <p:nvPr/>
        </p:nvSpPr>
        <p:spPr>
          <a:xfrm>
            <a:off x="762000" y="4368800"/>
            <a:ext cx="7010400" cy="914400"/>
          </a:xfrm>
          <a:custGeom>
            <a:avLst/>
            <a:gdLst/>
            <a:ahLst/>
            <a:cxnLst/>
            <a:rect l="l" t="t" r="r" b="b"/>
            <a:pathLst>
              <a:path w="7010400" h="914400">
                <a:moveTo>
                  <a:pt x="50804" y="0"/>
                </a:moveTo>
                <a:lnTo>
                  <a:pt x="6959596" y="0"/>
                </a:lnTo>
                <a:cubicBezTo>
                  <a:pt x="6987654" y="0"/>
                  <a:pt x="7010400" y="22746"/>
                  <a:pt x="7010400" y="50804"/>
                </a:cubicBezTo>
                <a:lnTo>
                  <a:pt x="7010400" y="863596"/>
                </a:lnTo>
                <a:cubicBezTo>
                  <a:pt x="7010400" y="891654"/>
                  <a:pt x="6987654" y="914400"/>
                  <a:pt x="6959596" y="914400"/>
                </a:cubicBezTo>
                <a:lnTo>
                  <a:pt x="50804" y="914400"/>
                </a:lnTo>
                <a:cubicBezTo>
                  <a:pt x="22746" y="914400"/>
                  <a:pt x="0" y="891654"/>
                  <a:pt x="0" y="863596"/>
                </a:cubicBezTo>
                <a:lnTo>
                  <a:pt x="0" y="50804"/>
                </a:lnTo>
                <a:cubicBezTo>
                  <a:pt x="0" y="22765"/>
                  <a:pt x="22765" y="0"/>
                  <a:pt x="50804" y="0"/>
                </a:cubicBezTo>
                <a:close/>
              </a:path>
            </a:pathLst>
          </a:custGeom>
          <a:solidFill>
            <a:srgbClr val="1A1D21">
              <a:alpha val="60000"/>
            </a:srgbClr>
          </a:solidFill>
          <a:ln/>
        </p:spPr>
        <p:txBody>
          <a:bodyPr/>
          <a:lstStyle/>
          <a:p>
            <a:endParaRPr lang="zh-CN" altLang="en-US"/>
          </a:p>
        </p:txBody>
      </p:sp>
      <p:sp>
        <p:nvSpPr>
          <p:cNvPr id="18" name="Text 16"/>
          <p:cNvSpPr/>
          <p:nvPr/>
        </p:nvSpPr>
        <p:spPr>
          <a:xfrm>
            <a:off x="914400" y="4521200"/>
            <a:ext cx="13208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Exactly Once</a:t>
            </a:r>
            <a:endParaRPr lang="en-US" sz="1600" dirty="0"/>
          </a:p>
        </p:txBody>
      </p:sp>
      <p:sp>
        <p:nvSpPr>
          <p:cNvPr id="19" name="Shape 17"/>
          <p:cNvSpPr/>
          <p:nvPr/>
        </p:nvSpPr>
        <p:spPr>
          <a:xfrm>
            <a:off x="6807200" y="4521200"/>
            <a:ext cx="812800" cy="304800"/>
          </a:xfrm>
          <a:custGeom>
            <a:avLst/>
            <a:gdLst/>
            <a:ahLst/>
            <a:cxnLst/>
            <a:rect l="l" t="t" r="r" b="b"/>
            <a:pathLst>
              <a:path w="812800" h="304800">
                <a:moveTo>
                  <a:pt x="50801" y="0"/>
                </a:moveTo>
                <a:lnTo>
                  <a:pt x="761999" y="0"/>
                </a:lnTo>
                <a:cubicBezTo>
                  <a:pt x="790056" y="0"/>
                  <a:pt x="812800" y="22744"/>
                  <a:pt x="812800" y="50801"/>
                </a:cubicBezTo>
                <a:lnTo>
                  <a:pt x="812800" y="253999"/>
                </a:lnTo>
                <a:cubicBezTo>
                  <a:pt x="812800" y="282056"/>
                  <a:pt x="790056" y="304800"/>
                  <a:pt x="761999" y="304800"/>
                </a:cubicBezTo>
                <a:lnTo>
                  <a:pt x="50801" y="304800"/>
                </a:lnTo>
                <a:cubicBezTo>
                  <a:pt x="22744" y="304800"/>
                  <a:pt x="0" y="282056"/>
                  <a:pt x="0" y="253999"/>
                </a:cubicBezTo>
                <a:lnTo>
                  <a:pt x="0" y="50801"/>
                </a:lnTo>
                <a:cubicBezTo>
                  <a:pt x="0" y="22763"/>
                  <a:pt x="22763" y="0"/>
                  <a:pt x="50801" y="0"/>
                </a:cubicBezTo>
                <a:close/>
              </a:path>
            </a:pathLst>
          </a:custGeom>
          <a:solidFill>
            <a:srgbClr val="D69E2E">
              <a:alpha val="30196"/>
            </a:srgbClr>
          </a:solidFill>
          <a:ln/>
        </p:spPr>
        <p:txBody>
          <a:bodyPr/>
          <a:lstStyle/>
          <a:p>
            <a:endParaRPr lang="zh-CN" altLang="en-US"/>
          </a:p>
        </p:txBody>
      </p:sp>
      <p:sp>
        <p:nvSpPr>
          <p:cNvPr id="20" name="Text 18"/>
          <p:cNvSpPr/>
          <p:nvPr/>
        </p:nvSpPr>
        <p:spPr>
          <a:xfrm>
            <a:off x="6807200" y="4521200"/>
            <a:ext cx="889000" cy="304800"/>
          </a:xfrm>
          <a:prstGeom prst="rect">
            <a:avLst/>
          </a:prstGeom>
          <a:noFill/>
          <a:ln/>
        </p:spPr>
        <p:txBody>
          <a:bodyPr wrap="square" lIns="101600" tIns="50800" rIns="101600" bIns="50800" rtlCol="0" anchor="ctr"/>
          <a:lstStyle/>
          <a:p>
            <a:pPr>
              <a:lnSpc>
                <a:spcPct val="110000"/>
              </a:lnSpc>
            </a:pPr>
            <a:r>
              <a:rPr lang="en-US" sz="1200" dirty="0">
                <a:solidFill>
                  <a:srgbClr val="E2E8F0">
                    <a:alpha val="80000"/>
                  </a:srgbClr>
                </a:solidFill>
                <a:latin typeface="MiSans" pitchFamily="34" charset="0"/>
                <a:ea typeface="MiSans" pitchFamily="34" charset="-122"/>
                <a:cs typeface="MiSans" pitchFamily="34" charset="-120"/>
              </a:rPr>
              <a:t>最强保障</a:t>
            </a:r>
            <a:endParaRPr lang="en-US" sz="1600" dirty="0"/>
          </a:p>
        </p:txBody>
      </p:sp>
      <p:sp>
        <p:nvSpPr>
          <p:cNvPr id="21" name="Text 19"/>
          <p:cNvSpPr/>
          <p:nvPr/>
        </p:nvSpPr>
        <p:spPr>
          <a:xfrm>
            <a:off x="914400" y="4876800"/>
            <a:ext cx="67945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消息既不丢失也不重复，幂等生产者 + 事务机制</a:t>
            </a:r>
            <a:endParaRPr lang="en-US" sz="1600" dirty="0"/>
          </a:p>
        </p:txBody>
      </p:sp>
      <p:sp>
        <p:nvSpPr>
          <p:cNvPr id="22" name="Shape 20"/>
          <p:cNvSpPr/>
          <p:nvPr/>
        </p:nvSpPr>
        <p:spPr>
          <a:xfrm>
            <a:off x="533400" y="56388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3" name="Shape 21"/>
          <p:cNvSpPr/>
          <p:nvPr/>
        </p:nvSpPr>
        <p:spPr>
          <a:xfrm>
            <a:off x="533400" y="56388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24" name="Text 22"/>
          <p:cNvSpPr/>
          <p:nvPr/>
        </p:nvSpPr>
        <p:spPr>
          <a:xfrm>
            <a:off x="762000" y="584200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事务支持机制</a:t>
            </a:r>
            <a:endParaRPr lang="en-US" sz="1600" dirty="0"/>
          </a:p>
        </p:txBody>
      </p:sp>
      <p:sp>
        <p:nvSpPr>
          <p:cNvPr id="25" name="Shape 23"/>
          <p:cNvSpPr/>
          <p:nvPr/>
        </p:nvSpPr>
        <p:spPr>
          <a:xfrm>
            <a:off x="787400" y="6400800"/>
            <a:ext cx="177800" cy="177800"/>
          </a:xfrm>
          <a:custGeom>
            <a:avLst/>
            <a:gdLst/>
            <a:ahLst/>
            <a:cxnLst/>
            <a:rect l="l" t="t" r="r" b="b"/>
            <a:pathLst>
              <a:path w="177800" h="177800">
                <a:moveTo>
                  <a:pt x="174536" y="52298"/>
                </a:moveTo>
                <a:lnTo>
                  <a:pt x="141198" y="85636"/>
                </a:lnTo>
                <a:cubicBezTo>
                  <a:pt x="138003" y="88831"/>
                  <a:pt x="133246" y="89768"/>
                  <a:pt x="129079" y="88032"/>
                </a:cubicBezTo>
                <a:cubicBezTo>
                  <a:pt x="124911" y="86296"/>
                  <a:pt x="122238" y="82267"/>
                  <a:pt x="122238" y="77788"/>
                </a:cubicBezTo>
                <a:lnTo>
                  <a:pt x="122238" y="55563"/>
                </a:lnTo>
                <a:lnTo>
                  <a:pt x="11112" y="55563"/>
                </a:lnTo>
                <a:cubicBezTo>
                  <a:pt x="4966" y="55563"/>
                  <a:pt x="0" y="50597"/>
                  <a:pt x="0" y="44450"/>
                </a:cubicBezTo>
                <a:cubicBezTo>
                  <a:pt x="0" y="38303"/>
                  <a:pt x="4966" y="33337"/>
                  <a:pt x="11112" y="33337"/>
                </a:cubicBezTo>
                <a:lnTo>
                  <a:pt x="122238" y="33337"/>
                </a:lnTo>
                <a:lnTo>
                  <a:pt x="122238" y="11112"/>
                </a:lnTo>
                <a:cubicBezTo>
                  <a:pt x="122238" y="6633"/>
                  <a:pt x="124946" y="2570"/>
                  <a:pt x="129113" y="833"/>
                </a:cubicBezTo>
                <a:cubicBezTo>
                  <a:pt x="133281" y="-903"/>
                  <a:pt x="138038" y="69"/>
                  <a:pt x="141233" y="3230"/>
                </a:cubicBezTo>
                <a:lnTo>
                  <a:pt x="174570" y="36567"/>
                </a:lnTo>
                <a:cubicBezTo>
                  <a:pt x="178911" y="40908"/>
                  <a:pt x="178911" y="47957"/>
                  <a:pt x="174570" y="52298"/>
                </a:cubicBezTo>
                <a:close/>
                <a:moveTo>
                  <a:pt x="36567" y="174536"/>
                </a:moveTo>
                <a:lnTo>
                  <a:pt x="3230" y="141198"/>
                </a:lnTo>
                <a:cubicBezTo>
                  <a:pt x="-1111" y="136857"/>
                  <a:pt x="-1111" y="129808"/>
                  <a:pt x="3230" y="125467"/>
                </a:cubicBezTo>
                <a:lnTo>
                  <a:pt x="36567" y="92130"/>
                </a:lnTo>
                <a:cubicBezTo>
                  <a:pt x="39762" y="88935"/>
                  <a:pt x="44519" y="87997"/>
                  <a:pt x="48687" y="89733"/>
                </a:cubicBezTo>
                <a:cubicBezTo>
                  <a:pt x="52854" y="91470"/>
                  <a:pt x="55563" y="95533"/>
                  <a:pt x="55563" y="100013"/>
                </a:cubicBezTo>
                <a:lnTo>
                  <a:pt x="55563" y="122238"/>
                </a:lnTo>
                <a:lnTo>
                  <a:pt x="166688" y="122238"/>
                </a:lnTo>
                <a:cubicBezTo>
                  <a:pt x="172834" y="122238"/>
                  <a:pt x="177800" y="127203"/>
                  <a:pt x="177800" y="133350"/>
                </a:cubicBezTo>
                <a:cubicBezTo>
                  <a:pt x="177800" y="139497"/>
                  <a:pt x="172834" y="144463"/>
                  <a:pt x="166688" y="144463"/>
                </a:cubicBezTo>
                <a:lnTo>
                  <a:pt x="55563" y="144463"/>
                </a:lnTo>
                <a:lnTo>
                  <a:pt x="55563" y="166688"/>
                </a:lnTo>
                <a:cubicBezTo>
                  <a:pt x="55563" y="171167"/>
                  <a:pt x="52854" y="175230"/>
                  <a:pt x="48687" y="176967"/>
                </a:cubicBezTo>
                <a:cubicBezTo>
                  <a:pt x="44519" y="178703"/>
                  <a:pt x="39762" y="177731"/>
                  <a:pt x="36567" y="174570"/>
                </a:cubicBezTo>
                <a:close/>
              </a:path>
            </a:pathLst>
          </a:custGeom>
          <a:solidFill>
            <a:srgbClr val="718096"/>
          </a:solidFill>
          <a:ln/>
        </p:spPr>
        <p:txBody>
          <a:bodyPr/>
          <a:lstStyle/>
          <a:p>
            <a:endParaRPr lang="zh-CN" altLang="en-US"/>
          </a:p>
        </p:txBody>
      </p:sp>
      <p:sp>
        <p:nvSpPr>
          <p:cNvPr id="26" name="Text 24"/>
          <p:cNvSpPr/>
          <p:nvPr/>
        </p:nvSpPr>
        <p:spPr>
          <a:xfrm>
            <a:off x="1085850" y="6350000"/>
            <a:ext cx="30607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跨分区事务:</a:t>
            </a:r>
            <a:r>
              <a:rPr lang="en-US" sz="1400" dirty="0">
                <a:solidFill>
                  <a:srgbClr val="E2E8F0">
                    <a:alpha val="80000"/>
                  </a:srgbClr>
                </a:solidFill>
                <a:latin typeface="MiSans" pitchFamily="34" charset="0"/>
                <a:ea typeface="MiSans" pitchFamily="34" charset="-122"/>
                <a:cs typeface="MiSans" pitchFamily="34" charset="-120"/>
              </a:rPr>
              <a:t> 原子性写入多个 Partition</a:t>
            </a:r>
            <a:endParaRPr lang="en-US" sz="1600" dirty="0"/>
          </a:p>
        </p:txBody>
      </p:sp>
      <p:sp>
        <p:nvSpPr>
          <p:cNvPr id="27" name="Shape 25"/>
          <p:cNvSpPr/>
          <p:nvPr/>
        </p:nvSpPr>
        <p:spPr>
          <a:xfrm>
            <a:off x="787400" y="6756400"/>
            <a:ext cx="177800" cy="177800"/>
          </a:xfrm>
          <a:custGeom>
            <a:avLst/>
            <a:gdLst/>
            <a:ahLst/>
            <a:cxnLst/>
            <a:rect l="l" t="t" r="r" b="b"/>
            <a:pathLst>
              <a:path w="177800" h="177800">
                <a:moveTo>
                  <a:pt x="16669" y="88900"/>
                </a:moveTo>
                <a:cubicBezTo>
                  <a:pt x="16669" y="48999"/>
                  <a:pt x="48999" y="16669"/>
                  <a:pt x="88900" y="16669"/>
                </a:cubicBezTo>
                <a:cubicBezTo>
                  <a:pt x="110812" y="16669"/>
                  <a:pt x="130433" y="26427"/>
                  <a:pt x="143699" y="41846"/>
                </a:cubicBezTo>
                <a:cubicBezTo>
                  <a:pt x="146685" y="45353"/>
                  <a:pt x="151963" y="45735"/>
                  <a:pt x="155436" y="42748"/>
                </a:cubicBezTo>
                <a:cubicBezTo>
                  <a:pt x="158909" y="39762"/>
                  <a:pt x="159325" y="34483"/>
                  <a:pt x="156339" y="31011"/>
                </a:cubicBezTo>
                <a:cubicBezTo>
                  <a:pt x="140052" y="12015"/>
                  <a:pt x="115883" y="0"/>
                  <a:pt x="88900" y="0"/>
                </a:cubicBezTo>
                <a:cubicBezTo>
                  <a:pt x="39797" y="0"/>
                  <a:pt x="0" y="39797"/>
                  <a:pt x="0" y="88900"/>
                </a:cubicBezTo>
                <a:lnTo>
                  <a:pt x="0" y="102791"/>
                </a:lnTo>
                <a:cubicBezTo>
                  <a:pt x="0" y="107409"/>
                  <a:pt x="3716" y="111125"/>
                  <a:pt x="8334" y="111125"/>
                </a:cubicBezTo>
                <a:cubicBezTo>
                  <a:pt x="12953" y="111125"/>
                  <a:pt x="16669" y="107409"/>
                  <a:pt x="16669" y="102791"/>
                </a:cubicBezTo>
                <a:lnTo>
                  <a:pt x="16669" y="88900"/>
                </a:lnTo>
                <a:close/>
                <a:moveTo>
                  <a:pt x="175890" y="70530"/>
                </a:moveTo>
                <a:cubicBezTo>
                  <a:pt x="174952" y="66015"/>
                  <a:pt x="170507" y="63133"/>
                  <a:pt x="166028" y="64105"/>
                </a:cubicBezTo>
                <a:cubicBezTo>
                  <a:pt x="161548" y="65078"/>
                  <a:pt x="158631" y="69488"/>
                  <a:pt x="159603" y="73968"/>
                </a:cubicBezTo>
                <a:cubicBezTo>
                  <a:pt x="160610" y="78795"/>
                  <a:pt x="161166" y="83795"/>
                  <a:pt x="161166" y="88935"/>
                </a:cubicBezTo>
                <a:lnTo>
                  <a:pt x="161166" y="102825"/>
                </a:lnTo>
                <a:cubicBezTo>
                  <a:pt x="161166" y="107444"/>
                  <a:pt x="164882" y="111160"/>
                  <a:pt x="169500" y="111160"/>
                </a:cubicBezTo>
                <a:cubicBezTo>
                  <a:pt x="174119" y="111160"/>
                  <a:pt x="177835" y="107444"/>
                  <a:pt x="177835" y="102825"/>
                </a:cubicBezTo>
                <a:lnTo>
                  <a:pt x="177835" y="88935"/>
                </a:lnTo>
                <a:cubicBezTo>
                  <a:pt x="177835" y="82649"/>
                  <a:pt x="177175" y="76503"/>
                  <a:pt x="175925" y="70564"/>
                </a:cubicBezTo>
                <a:close/>
                <a:moveTo>
                  <a:pt x="88900" y="27781"/>
                </a:moveTo>
                <a:cubicBezTo>
                  <a:pt x="82302" y="27781"/>
                  <a:pt x="75912" y="28823"/>
                  <a:pt x="69974" y="30768"/>
                </a:cubicBezTo>
                <a:cubicBezTo>
                  <a:pt x="64696" y="32504"/>
                  <a:pt x="63480" y="38998"/>
                  <a:pt x="67092" y="43235"/>
                </a:cubicBezTo>
                <a:cubicBezTo>
                  <a:pt x="69557" y="46117"/>
                  <a:pt x="73620" y="46985"/>
                  <a:pt x="77301" y="45978"/>
                </a:cubicBezTo>
                <a:cubicBezTo>
                  <a:pt x="80982" y="44971"/>
                  <a:pt x="84872" y="44450"/>
                  <a:pt x="88900" y="44450"/>
                </a:cubicBezTo>
                <a:cubicBezTo>
                  <a:pt x="113452" y="44450"/>
                  <a:pt x="133350" y="64348"/>
                  <a:pt x="133350" y="88900"/>
                </a:cubicBezTo>
                <a:lnTo>
                  <a:pt x="133350" y="97547"/>
                </a:lnTo>
                <a:cubicBezTo>
                  <a:pt x="133350" y="106298"/>
                  <a:pt x="132829" y="115014"/>
                  <a:pt x="131822" y="123696"/>
                </a:cubicBezTo>
                <a:cubicBezTo>
                  <a:pt x="131232" y="128766"/>
                  <a:pt x="135086" y="133350"/>
                  <a:pt x="140226" y="133350"/>
                </a:cubicBezTo>
                <a:cubicBezTo>
                  <a:pt x="144324" y="133350"/>
                  <a:pt x="147831" y="130364"/>
                  <a:pt x="148317" y="126301"/>
                </a:cubicBezTo>
                <a:cubicBezTo>
                  <a:pt x="149463" y="116785"/>
                  <a:pt x="150053" y="107201"/>
                  <a:pt x="150053" y="97582"/>
                </a:cubicBezTo>
                <a:lnTo>
                  <a:pt x="150053" y="88935"/>
                </a:lnTo>
                <a:cubicBezTo>
                  <a:pt x="150053" y="55181"/>
                  <a:pt x="122689" y="27816"/>
                  <a:pt x="88935" y="27816"/>
                </a:cubicBezTo>
                <a:close/>
                <a:moveTo>
                  <a:pt x="52333" y="51638"/>
                </a:moveTo>
                <a:cubicBezTo>
                  <a:pt x="49173" y="47957"/>
                  <a:pt x="43547" y="47680"/>
                  <a:pt x="40561" y="51499"/>
                </a:cubicBezTo>
                <a:cubicBezTo>
                  <a:pt x="32539" y="61848"/>
                  <a:pt x="27781" y="74801"/>
                  <a:pt x="27781" y="88900"/>
                </a:cubicBezTo>
                <a:lnTo>
                  <a:pt x="27781" y="97547"/>
                </a:lnTo>
                <a:cubicBezTo>
                  <a:pt x="27781" y="105951"/>
                  <a:pt x="26878" y="114355"/>
                  <a:pt x="25073" y="122515"/>
                </a:cubicBezTo>
                <a:cubicBezTo>
                  <a:pt x="23892" y="127933"/>
                  <a:pt x="27816" y="133315"/>
                  <a:pt x="33372" y="133315"/>
                </a:cubicBezTo>
                <a:cubicBezTo>
                  <a:pt x="37019" y="133315"/>
                  <a:pt x="40283" y="130884"/>
                  <a:pt x="41082" y="127308"/>
                </a:cubicBezTo>
                <a:cubicBezTo>
                  <a:pt x="43304" y="117549"/>
                  <a:pt x="44450" y="107583"/>
                  <a:pt x="44450" y="97512"/>
                </a:cubicBezTo>
                <a:lnTo>
                  <a:pt x="44450" y="88865"/>
                </a:lnTo>
                <a:cubicBezTo>
                  <a:pt x="44450" y="79420"/>
                  <a:pt x="47402" y="70669"/>
                  <a:pt x="52402" y="63480"/>
                </a:cubicBezTo>
                <a:cubicBezTo>
                  <a:pt x="54903" y="59869"/>
                  <a:pt x="55181" y="54937"/>
                  <a:pt x="52333" y="51604"/>
                </a:cubicBezTo>
                <a:close/>
                <a:moveTo>
                  <a:pt x="88900" y="55563"/>
                </a:moveTo>
                <a:cubicBezTo>
                  <a:pt x="70495" y="55563"/>
                  <a:pt x="55563" y="70495"/>
                  <a:pt x="55563" y="88900"/>
                </a:cubicBezTo>
                <a:lnTo>
                  <a:pt x="55563" y="97547"/>
                </a:lnTo>
                <a:cubicBezTo>
                  <a:pt x="55563" y="110014"/>
                  <a:pt x="53965" y="122376"/>
                  <a:pt x="50770" y="134392"/>
                </a:cubicBezTo>
                <a:cubicBezTo>
                  <a:pt x="49451" y="139358"/>
                  <a:pt x="53097" y="144463"/>
                  <a:pt x="58236" y="144463"/>
                </a:cubicBezTo>
                <a:cubicBezTo>
                  <a:pt x="61535" y="144463"/>
                  <a:pt x="64453" y="142309"/>
                  <a:pt x="65321" y="139115"/>
                </a:cubicBezTo>
                <a:cubicBezTo>
                  <a:pt x="68967" y="125571"/>
                  <a:pt x="70842" y="111611"/>
                  <a:pt x="70842" y="97547"/>
                </a:cubicBezTo>
                <a:lnTo>
                  <a:pt x="70842" y="88900"/>
                </a:lnTo>
                <a:cubicBezTo>
                  <a:pt x="70842" y="78933"/>
                  <a:pt x="78933" y="70842"/>
                  <a:pt x="88900" y="70842"/>
                </a:cubicBezTo>
                <a:cubicBezTo>
                  <a:pt x="98867" y="70842"/>
                  <a:pt x="106958" y="78933"/>
                  <a:pt x="106958" y="88900"/>
                </a:cubicBezTo>
                <a:lnTo>
                  <a:pt x="106958" y="97547"/>
                </a:lnTo>
                <a:cubicBezTo>
                  <a:pt x="106958" y="110153"/>
                  <a:pt x="105742" y="122689"/>
                  <a:pt x="103346" y="135017"/>
                </a:cubicBezTo>
                <a:cubicBezTo>
                  <a:pt x="102409" y="139844"/>
                  <a:pt x="106020" y="144463"/>
                  <a:pt x="110917" y="144463"/>
                </a:cubicBezTo>
                <a:cubicBezTo>
                  <a:pt x="114459" y="144463"/>
                  <a:pt x="117515" y="142032"/>
                  <a:pt x="118209" y="138559"/>
                </a:cubicBezTo>
                <a:cubicBezTo>
                  <a:pt x="120883" y="125085"/>
                  <a:pt x="122238" y="111368"/>
                  <a:pt x="122238" y="97547"/>
                </a:cubicBezTo>
                <a:lnTo>
                  <a:pt x="122238" y="88900"/>
                </a:lnTo>
                <a:cubicBezTo>
                  <a:pt x="122238" y="70495"/>
                  <a:pt x="107305" y="55563"/>
                  <a:pt x="88900" y="55563"/>
                </a:cubicBezTo>
                <a:close/>
                <a:moveTo>
                  <a:pt x="97234" y="88900"/>
                </a:moveTo>
                <a:cubicBezTo>
                  <a:pt x="97234" y="84281"/>
                  <a:pt x="93519" y="80566"/>
                  <a:pt x="88900" y="80566"/>
                </a:cubicBezTo>
                <a:cubicBezTo>
                  <a:pt x="84281" y="80566"/>
                  <a:pt x="80566" y="84281"/>
                  <a:pt x="80566" y="88900"/>
                </a:cubicBezTo>
                <a:lnTo>
                  <a:pt x="80566" y="97547"/>
                </a:lnTo>
                <a:cubicBezTo>
                  <a:pt x="80566" y="118348"/>
                  <a:pt x="76746" y="138976"/>
                  <a:pt x="69279" y="158388"/>
                </a:cubicBezTo>
                <a:lnTo>
                  <a:pt x="67231" y="163701"/>
                </a:lnTo>
                <a:cubicBezTo>
                  <a:pt x="65564" y="168007"/>
                  <a:pt x="67717" y="172834"/>
                  <a:pt x="72023" y="174466"/>
                </a:cubicBezTo>
                <a:cubicBezTo>
                  <a:pt x="76329" y="176098"/>
                  <a:pt x="81156" y="173980"/>
                  <a:pt x="82788" y="169674"/>
                </a:cubicBezTo>
                <a:lnTo>
                  <a:pt x="84837" y="164361"/>
                </a:lnTo>
                <a:cubicBezTo>
                  <a:pt x="93032" y="143039"/>
                  <a:pt x="97234" y="120397"/>
                  <a:pt x="97234" y="97547"/>
                </a:cubicBezTo>
                <a:lnTo>
                  <a:pt x="97234" y="88900"/>
                </a:lnTo>
                <a:close/>
              </a:path>
            </a:pathLst>
          </a:custGeom>
          <a:solidFill>
            <a:srgbClr val="718096"/>
          </a:solidFill>
          <a:ln/>
        </p:spPr>
        <p:txBody>
          <a:bodyPr/>
          <a:lstStyle/>
          <a:p>
            <a:endParaRPr lang="zh-CN" altLang="en-US"/>
          </a:p>
        </p:txBody>
      </p:sp>
      <p:sp>
        <p:nvSpPr>
          <p:cNvPr id="28" name="Text 26"/>
          <p:cNvSpPr/>
          <p:nvPr/>
        </p:nvSpPr>
        <p:spPr>
          <a:xfrm>
            <a:off x="1085850" y="6705600"/>
            <a:ext cx="2882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幂等生产者:</a:t>
            </a:r>
            <a:r>
              <a:rPr lang="en-US" sz="1400" dirty="0">
                <a:solidFill>
                  <a:srgbClr val="E2E8F0">
                    <a:alpha val="80000"/>
                  </a:srgbClr>
                </a:solidFill>
                <a:latin typeface="MiSans" pitchFamily="34" charset="0"/>
                <a:ea typeface="MiSans" pitchFamily="34" charset="-122"/>
                <a:cs typeface="MiSans" pitchFamily="34" charset="-120"/>
              </a:rPr>
              <a:t> 基于 PID 和序列号去重</a:t>
            </a:r>
            <a:endParaRPr lang="en-US" sz="1600" dirty="0"/>
          </a:p>
        </p:txBody>
      </p:sp>
      <p:sp>
        <p:nvSpPr>
          <p:cNvPr id="29" name="Shape 27"/>
          <p:cNvSpPr/>
          <p:nvPr/>
        </p:nvSpPr>
        <p:spPr>
          <a:xfrm>
            <a:off x="776288" y="7112000"/>
            <a:ext cx="200025" cy="177800"/>
          </a:xfrm>
          <a:custGeom>
            <a:avLst/>
            <a:gdLst/>
            <a:ahLst/>
            <a:cxnLst/>
            <a:rect l="l" t="t" r="r" b="b"/>
            <a:pathLst>
              <a:path w="200025" h="177800">
                <a:moveTo>
                  <a:pt x="145678" y="33337"/>
                </a:moveTo>
                <a:cubicBezTo>
                  <a:pt x="139913" y="33337"/>
                  <a:pt x="134322" y="34900"/>
                  <a:pt x="129426" y="37748"/>
                </a:cubicBezTo>
                <a:cubicBezTo>
                  <a:pt x="123939" y="32192"/>
                  <a:pt x="117549" y="27538"/>
                  <a:pt x="110500" y="24031"/>
                </a:cubicBezTo>
                <a:cubicBezTo>
                  <a:pt x="120293" y="15696"/>
                  <a:pt x="132760" y="11112"/>
                  <a:pt x="145678" y="11112"/>
                </a:cubicBezTo>
                <a:cubicBezTo>
                  <a:pt x="175682" y="11112"/>
                  <a:pt x="200025" y="35421"/>
                  <a:pt x="200025" y="65460"/>
                </a:cubicBezTo>
                <a:cubicBezTo>
                  <a:pt x="200025" y="79871"/>
                  <a:pt x="194295" y="93692"/>
                  <a:pt x="184120" y="103867"/>
                </a:cubicBezTo>
                <a:lnTo>
                  <a:pt x="159430" y="128558"/>
                </a:lnTo>
                <a:cubicBezTo>
                  <a:pt x="149255" y="138733"/>
                  <a:pt x="135434" y="144463"/>
                  <a:pt x="121022" y="144463"/>
                </a:cubicBezTo>
                <a:cubicBezTo>
                  <a:pt x="91018" y="144463"/>
                  <a:pt x="66675" y="120154"/>
                  <a:pt x="66675" y="90115"/>
                </a:cubicBezTo>
                <a:cubicBezTo>
                  <a:pt x="66675" y="89595"/>
                  <a:pt x="66675" y="89074"/>
                  <a:pt x="66710" y="88553"/>
                </a:cubicBezTo>
                <a:cubicBezTo>
                  <a:pt x="66883" y="82406"/>
                  <a:pt x="71988" y="77579"/>
                  <a:pt x="78135" y="77753"/>
                </a:cubicBezTo>
                <a:cubicBezTo>
                  <a:pt x="84281" y="77926"/>
                  <a:pt x="89108" y="83031"/>
                  <a:pt x="88935" y="89178"/>
                </a:cubicBezTo>
                <a:cubicBezTo>
                  <a:pt x="88935" y="89490"/>
                  <a:pt x="88935" y="89803"/>
                  <a:pt x="88935" y="90081"/>
                </a:cubicBezTo>
                <a:cubicBezTo>
                  <a:pt x="88935" y="107826"/>
                  <a:pt x="103312" y="122203"/>
                  <a:pt x="121057" y="122203"/>
                </a:cubicBezTo>
                <a:cubicBezTo>
                  <a:pt x="129565" y="122203"/>
                  <a:pt x="137726" y="118834"/>
                  <a:pt x="143768" y="112792"/>
                </a:cubicBezTo>
                <a:lnTo>
                  <a:pt x="168459" y="88101"/>
                </a:lnTo>
                <a:cubicBezTo>
                  <a:pt x="174466" y="82094"/>
                  <a:pt x="177869" y="73898"/>
                  <a:pt x="177869" y="65390"/>
                </a:cubicBezTo>
                <a:cubicBezTo>
                  <a:pt x="177869" y="47645"/>
                  <a:pt x="163493" y="33268"/>
                  <a:pt x="145747" y="33268"/>
                </a:cubicBezTo>
                <a:close/>
                <a:moveTo>
                  <a:pt x="95567" y="60181"/>
                </a:moveTo>
                <a:cubicBezTo>
                  <a:pt x="94908" y="59903"/>
                  <a:pt x="94248" y="59521"/>
                  <a:pt x="93658" y="59105"/>
                </a:cubicBezTo>
                <a:cubicBezTo>
                  <a:pt x="89282" y="56847"/>
                  <a:pt x="84281" y="55563"/>
                  <a:pt x="79038" y="55563"/>
                </a:cubicBezTo>
                <a:cubicBezTo>
                  <a:pt x="70530" y="55563"/>
                  <a:pt x="62369" y="58931"/>
                  <a:pt x="56326" y="64973"/>
                </a:cubicBezTo>
                <a:lnTo>
                  <a:pt x="31636" y="89664"/>
                </a:lnTo>
                <a:cubicBezTo>
                  <a:pt x="25628" y="95672"/>
                  <a:pt x="22225" y="103867"/>
                  <a:pt x="22225" y="112375"/>
                </a:cubicBezTo>
                <a:cubicBezTo>
                  <a:pt x="22225" y="130120"/>
                  <a:pt x="36602" y="144497"/>
                  <a:pt x="54347" y="144497"/>
                </a:cubicBezTo>
                <a:cubicBezTo>
                  <a:pt x="60077" y="144497"/>
                  <a:pt x="65668" y="142969"/>
                  <a:pt x="70564" y="140122"/>
                </a:cubicBezTo>
                <a:cubicBezTo>
                  <a:pt x="76051" y="145678"/>
                  <a:pt x="82441" y="150331"/>
                  <a:pt x="89525" y="153839"/>
                </a:cubicBezTo>
                <a:cubicBezTo>
                  <a:pt x="79732" y="162138"/>
                  <a:pt x="67300" y="166757"/>
                  <a:pt x="54347" y="166757"/>
                </a:cubicBezTo>
                <a:cubicBezTo>
                  <a:pt x="24343" y="166757"/>
                  <a:pt x="0" y="142448"/>
                  <a:pt x="0" y="112410"/>
                </a:cubicBezTo>
                <a:cubicBezTo>
                  <a:pt x="0" y="97998"/>
                  <a:pt x="5730" y="84177"/>
                  <a:pt x="15905" y="74002"/>
                </a:cubicBezTo>
                <a:lnTo>
                  <a:pt x="40595" y="49312"/>
                </a:lnTo>
                <a:cubicBezTo>
                  <a:pt x="50770" y="39137"/>
                  <a:pt x="64591" y="33407"/>
                  <a:pt x="79003" y="33407"/>
                </a:cubicBezTo>
                <a:cubicBezTo>
                  <a:pt x="109076" y="33407"/>
                  <a:pt x="133350" y="57924"/>
                  <a:pt x="133350" y="87893"/>
                </a:cubicBezTo>
                <a:cubicBezTo>
                  <a:pt x="133350" y="88344"/>
                  <a:pt x="133350" y="88796"/>
                  <a:pt x="133350" y="89247"/>
                </a:cubicBezTo>
                <a:cubicBezTo>
                  <a:pt x="133211" y="95394"/>
                  <a:pt x="128106" y="100221"/>
                  <a:pt x="121960" y="100082"/>
                </a:cubicBezTo>
                <a:cubicBezTo>
                  <a:pt x="115813" y="99943"/>
                  <a:pt x="110986" y="94838"/>
                  <a:pt x="111125" y="88692"/>
                </a:cubicBezTo>
                <a:cubicBezTo>
                  <a:pt x="111125" y="88414"/>
                  <a:pt x="111125" y="88171"/>
                  <a:pt x="111125" y="87893"/>
                </a:cubicBezTo>
                <a:cubicBezTo>
                  <a:pt x="111125" y="76190"/>
                  <a:pt x="104874" y="65911"/>
                  <a:pt x="95567" y="60251"/>
                </a:cubicBezTo>
                <a:close/>
              </a:path>
            </a:pathLst>
          </a:custGeom>
          <a:solidFill>
            <a:srgbClr val="718096"/>
          </a:solidFill>
          <a:ln/>
        </p:spPr>
        <p:txBody>
          <a:bodyPr/>
          <a:lstStyle/>
          <a:p>
            <a:endParaRPr lang="zh-CN" altLang="en-US"/>
          </a:p>
        </p:txBody>
      </p:sp>
      <p:sp>
        <p:nvSpPr>
          <p:cNvPr id="30" name="Text 28"/>
          <p:cNvSpPr/>
          <p:nvPr/>
        </p:nvSpPr>
        <p:spPr>
          <a:xfrm>
            <a:off x="1085850" y="7061200"/>
            <a:ext cx="39116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消费位移绑定:</a:t>
            </a:r>
            <a:r>
              <a:rPr lang="en-US" sz="1400" dirty="0">
                <a:solidFill>
                  <a:srgbClr val="E2E8F0">
                    <a:alpha val="80000"/>
                  </a:srgbClr>
                </a:solidFill>
                <a:latin typeface="MiSans" pitchFamily="34" charset="0"/>
                <a:ea typeface="MiSans" pitchFamily="34" charset="-122"/>
                <a:cs typeface="MiSans" pitchFamily="34" charset="-120"/>
              </a:rPr>
              <a:t> 将消费位移与输出绑定到同一事务</a:t>
            </a:r>
            <a:endParaRPr lang="en-US" sz="1600" dirty="0"/>
          </a:p>
        </p:txBody>
      </p:sp>
      <p:sp>
        <p:nvSpPr>
          <p:cNvPr id="31" name="Shape 29"/>
          <p:cNvSpPr/>
          <p:nvPr/>
        </p:nvSpPr>
        <p:spPr>
          <a:xfrm>
            <a:off x="8305800" y="1625600"/>
            <a:ext cx="7442200" cy="2844800"/>
          </a:xfrm>
          <a:custGeom>
            <a:avLst/>
            <a:gdLst/>
            <a:ahLst/>
            <a:cxnLst/>
            <a:rect l="l" t="t" r="r" b="b"/>
            <a:pathLst>
              <a:path w="7442200" h="2844800">
                <a:moveTo>
                  <a:pt x="50800" y="0"/>
                </a:moveTo>
                <a:lnTo>
                  <a:pt x="7340612" y="0"/>
                </a:lnTo>
                <a:cubicBezTo>
                  <a:pt x="7396718" y="0"/>
                  <a:pt x="7442200" y="45482"/>
                  <a:pt x="7442200" y="101588"/>
                </a:cubicBezTo>
                <a:lnTo>
                  <a:pt x="7442200" y="2743212"/>
                </a:lnTo>
                <a:cubicBezTo>
                  <a:pt x="7442200" y="2799318"/>
                  <a:pt x="7396718" y="2844800"/>
                  <a:pt x="7340612" y="2844800"/>
                </a:cubicBezTo>
                <a:lnTo>
                  <a:pt x="50800" y="2844800"/>
                </a:lnTo>
                <a:cubicBezTo>
                  <a:pt x="22744" y="2844800"/>
                  <a:pt x="0" y="2822056"/>
                  <a:pt x="0" y="27940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32" name="Shape 30"/>
          <p:cNvSpPr/>
          <p:nvPr/>
        </p:nvSpPr>
        <p:spPr>
          <a:xfrm>
            <a:off x="8305800" y="1625600"/>
            <a:ext cx="50800" cy="2844800"/>
          </a:xfrm>
          <a:custGeom>
            <a:avLst/>
            <a:gdLst/>
            <a:ahLst/>
            <a:cxnLst/>
            <a:rect l="l" t="t" r="r" b="b"/>
            <a:pathLst>
              <a:path w="50800" h="2844800">
                <a:moveTo>
                  <a:pt x="50800" y="0"/>
                </a:moveTo>
                <a:lnTo>
                  <a:pt x="50800" y="0"/>
                </a:lnTo>
                <a:lnTo>
                  <a:pt x="50800" y="2844800"/>
                </a:lnTo>
                <a:lnTo>
                  <a:pt x="50800" y="2844800"/>
                </a:lnTo>
                <a:cubicBezTo>
                  <a:pt x="22763" y="2844800"/>
                  <a:pt x="0" y="2822037"/>
                  <a:pt x="0" y="27940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33" name="Text 31"/>
          <p:cNvSpPr/>
          <p:nvPr/>
        </p:nvSpPr>
        <p:spPr>
          <a:xfrm>
            <a:off x="85344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顺序性保障</a:t>
            </a:r>
            <a:endParaRPr lang="en-US" sz="1600" dirty="0"/>
          </a:p>
        </p:txBody>
      </p:sp>
      <p:sp>
        <p:nvSpPr>
          <p:cNvPr id="34" name="Shape 32"/>
          <p:cNvSpPr/>
          <p:nvPr/>
        </p:nvSpPr>
        <p:spPr>
          <a:xfrm>
            <a:off x="8534400" y="2336800"/>
            <a:ext cx="7010400" cy="914400"/>
          </a:xfrm>
          <a:custGeom>
            <a:avLst/>
            <a:gdLst/>
            <a:ahLst/>
            <a:cxnLst/>
            <a:rect l="l" t="t" r="r" b="b"/>
            <a:pathLst>
              <a:path w="7010400" h="914400">
                <a:moveTo>
                  <a:pt x="50804" y="0"/>
                </a:moveTo>
                <a:lnTo>
                  <a:pt x="6959596" y="0"/>
                </a:lnTo>
                <a:cubicBezTo>
                  <a:pt x="6987654" y="0"/>
                  <a:pt x="7010400" y="22746"/>
                  <a:pt x="7010400" y="50804"/>
                </a:cubicBezTo>
                <a:lnTo>
                  <a:pt x="7010400" y="863596"/>
                </a:lnTo>
                <a:cubicBezTo>
                  <a:pt x="7010400" y="891654"/>
                  <a:pt x="6987654" y="914400"/>
                  <a:pt x="6959596" y="914400"/>
                </a:cubicBezTo>
                <a:lnTo>
                  <a:pt x="50804" y="914400"/>
                </a:lnTo>
                <a:cubicBezTo>
                  <a:pt x="22746" y="914400"/>
                  <a:pt x="0" y="891654"/>
                  <a:pt x="0" y="863596"/>
                </a:cubicBezTo>
                <a:lnTo>
                  <a:pt x="0" y="50804"/>
                </a:lnTo>
                <a:cubicBezTo>
                  <a:pt x="0" y="22765"/>
                  <a:pt x="22765" y="0"/>
                  <a:pt x="50804" y="0"/>
                </a:cubicBezTo>
                <a:close/>
              </a:path>
            </a:pathLst>
          </a:custGeom>
          <a:solidFill>
            <a:srgbClr val="1A1D21">
              <a:alpha val="60000"/>
            </a:srgbClr>
          </a:solidFill>
          <a:ln/>
        </p:spPr>
        <p:txBody>
          <a:bodyPr/>
          <a:lstStyle/>
          <a:p>
            <a:endParaRPr lang="zh-CN" altLang="en-US"/>
          </a:p>
        </p:txBody>
      </p:sp>
      <p:sp>
        <p:nvSpPr>
          <p:cNvPr id="35" name="Text 33"/>
          <p:cNvSpPr/>
          <p:nvPr/>
        </p:nvSpPr>
        <p:spPr>
          <a:xfrm>
            <a:off x="8686800" y="2489200"/>
            <a:ext cx="68072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分区内顺序</a:t>
            </a:r>
            <a:endParaRPr lang="en-US" sz="1600" dirty="0"/>
          </a:p>
        </p:txBody>
      </p:sp>
      <p:sp>
        <p:nvSpPr>
          <p:cNvPr id="36" name="Text 34"/>
          <p:cNvSpPr/>
          <p:nvPr/>
        </p:nvSpPr>
        <p:spPr>
          <a:xfrm>
            <a:off x="8686800" y="2844800"/>
            <a:ext cx="67945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同一 Partition 内的消息严格按偏移量顺序</a:t>
            </a:r>
            <a:endParaRPr lang="en-US" sz="1600" dirty="0"/>
          </a:p>
        </p:txBody>
      </p:sp>
      <p:sp>
        <p:nvSpPr>
          <p:cNvPr id="37" name="Shape 35"/>
          <p:cNvSpPr/>
          <p:nvPr/>
        </p:nvSpPr>
        <p:spPr>
          <a:xfrm>
            <a:off x="8534400" y="3352800"/>
            <a:ext cx="7010400" cy="914400"/>
          </a:xfrm>
          <a:custGeom>
            <a:avLst/>
            <a:gdLst/>
            <a:ahLst/>
            <a:cxnLst/>
            <a:rect l="l" t="t" r="r" b="b"/>
            <a:pathLst>
              <a:path w="7010400" h="914400">
                <a:moveTo>
                  <a:pt x="50804" y="0"/>
                </a:moveTo>
                <a:lnTo>
                  <a:pt x="6959596" y="0"/>
                </a:lnTo>
                <a:cubicBezTo>
                  <a:pt x="6987654" y="0"/>
                  <a:pt x="7010400" y="22746"/>
                  <a:pt x="7010400" y="50804"/>
                </a:cubicBezTo>
                <a:lnTo>
                  <a:pt x="7010400" y="863596"/>
                </a:lnTo>
                <a:cubicBezTo>
                  <a:pt x="7010400" y="891654"/>
                  <a:pt x="6987654" y="914400"/>
                  <a:pt x="6959596" y="914400"/>
                </a:cubicBezTo>
                <a:lnTo>
                  <a:pt x="50804" y="914400"/>
                </a:lnTo>
                <a:cubicBezTo>
                  <a:pt x="22746" y="914400"/>
                  <a:pt x="0" y="891654"/>
                  <a:pt x="0" y="863596"/>
                </a:cubicBezTo>
                <a:lnTo>
                  <a:pt x="0" y="50804"/>
                </a:lnTo>
                <a:cubicBezTo>
                  <a:pt x="0" y="22765"/>
                  <a:pt x="22765" y="0"/>
                  <a:pt x="50804" y="0"/>
                </a:cubicBezTo>
                <a:close/>
              </a:path>
            </a:pathLst>
          </a:custGeom>
          <a:solidFill>
            <a:srgbClr val="1A1D21">
              <a:alpha val="60000"/>
            </a:srgbClr>
          </a:solidFill>
          <a:ln/>
        </p:spPr>
        <p:txBody>
          <a:bodyPr/>
          <a:lstStyle/>
          <a:p>
            <a:endParaRPr lang="zh-CN" altLang="en-US"/>
          </a:p>
        </p:txBody>
      </p:sp>
      <p:sp>
        <p:nvSpPr>
          <p:cNvPr id="38" name="Text 36"/>
          <p:cNvSpPr/>
          <p:nvPr/>
        </p:nvSpPr>
        <p:spPr>
          <a:xfrm>
            <a:off x="8686800" y="3505200"/>
            <a:ext cx="6807200" cy="304800"/>
          </a:xfrm>
          <a:prstGeom prst="rect">
            <a:avLst/>
          </a:prstGeom>
          <a:noFill/>
          <a:ln/>
        </p:spPr>
        <p:txBody>
          <a:bodyPr wrap="square" lIns="0" tIns="0" rIns="0" bIns="0" rtlCol="0" anchor="ctr"/>
          <a:lstStyle/>
          <a:p>
            <a:pPr>
              <a:lnSpc>
                <a:spcPct val="130000"/>
              </a:lnSpc>
            </a:pPr>
            <a:r>
              <a:rPr lang="en-US" sz="1600" b="1" dirty="0">
                <a:solidFill>
                  <a:srgbClr val="718096"/>
                </a:solidFill>
                <a:latin typeface="MiSans" pitchFamily="34" charset="0"/>
                <a:ea typeface="MiSans" pitchFamily="34" charset="-122"/>
                <a:cs typeface="MiSans" pitchFamily="34" charset="-120"/>
              </a:rPr>
              <a:t>跨分区一致性</a:t>
            </a:r>
            <a:endParaRPr lang="en-US" sz="1600" dirty="0"/>
          </a:p>
        </p:txBody>
      </p:sp>
      <p:sp>
        <p:nvSpPr>
          <p:cNvPr id="39" name="Text 37"/>
          <p:cNvSpPr/>
          <p:nvPr/>
        </p:nvSpPr>
        <p:spPr>
          <a:xfrm>
            <a:off x="8686800" y="3860800"/>
            <a:ext cx="6794500" cy="254000"/>
          </a:xfrm>
          <a:prstGeom prst="rect">
            <a:avLst/>
          </a:prstGeom>
          <a:noFill/>
          <a:ln/>
        </p:spPr>
        <p:txBody>
          <a:bodyPr wrap="square" lIns="0" tIns="0" rIns="0" bIns="0" rtlCol="0" anchor="ctr"/>
          <a:lstStyle/>
          <a:p>
            <a:pPr>
              <a:lnSpc>
                <a:spcPct val="120000"/>
              </a:lnSpc>
            </a:pPr>
            <a:r>
              <a:rPr lang="en-US" sz="1400" dirty="0">
                <a:solidFill>
                  <a:srgbClr val="E2E8F0">
                    <a:alpha val="80000"/>
                  </a:srgbClr>
                </a:solidFill>
                <a:latin typeface="MiSans" pitchFamily="34" charset="0"/>
                <a:ea typeface="MiSans" pitchFamily="34" charset="-122"/>
                <a:cs typeface="MiSans" pitchFamily="34" charset="-120"/>
              </a:rPr>
              <a:t>使用 Key 的一致性哈希路由，保证相同 Key 进入同一分区</a:t>
            </a:r>
            <a:endParaRPr lang="en-US" sz="1600" dirty="0"/>
          </a:p>
        </p:txBody>
      </p:sp>
      <p:sp>
        <p:nvSpPr>
          <p:cNvPr id="40" name="Shape 38"/>
          <p:cNvSpPr/>
          <p:nvPr/>
        </p:nvSpPr>
        <p:spPr>
          <a:xfrm>
            <a:off x="8286750" y="4629150"/>
            <a:ext cx="7454900" cy="1028700"/>
          </a:xfrm>
          <a:custGeom>
            <a:avLst/>
            <a:gdLst/>
            <a:ahLst/>
            <a:cxnLst/>
            <a:rect l="l" t="t" r="r" b="b"/>
            <a:pathLst>
              <a:path w="7454900" h="1028700">
                <a:moveTo>
                  <a:pt x="101605" y="0"/>
                </a:moveTo>
                <a:lnTo>
                  <a:pt x="7353295" y="0"/>
                </a:lnTo>
                <a:cubicBezTo>
                  <a:pt x="7409410" y="0"/>
                  <a:pt x="7454900" y="45490"/>
                  <a:pt x="7454900" y="101605"/>
                </a:cubicBezTo>
                <a:lnTo>
                  <a:pt x="7454900" y="927095"/>
                </a:lnTo>
                <a:cubicBezTo>
                  <a:pt x="7454900" y="983210"/>
                  <a:pt x="7409410" y="1028700"/>
                  <a:pt x="7353295" y="1028700"/>
                </a:cubicBezTo>
                <a:lnTo>
                  <a:pt x="101605" y="1028700"/>
                </a:lnTo>
                <a:cubicBezTo>
                  <a:pt x="45490" y="1028700"/>
                  <a:pt x="0" y="983210"/>
                  <a:pt x="0" y="927095"/>
                </a:cubicBezTo>
                <a:lnTo>
                  <a:pt x="0" y="101605"/>
                </a:lnTo>
                <a:cubicBezTo>
                  <a:pt x="0" y="45528"/>
                  <a:pt x="45528" y="0"/>
                  <a:pt x="101605"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41" name="Shape 39"/>
          <p:cNvSpPr/>
          <p:nvPr/>
        </p:nvSpPr>
        <p:spPr>
          <a:xfrm>
            <a:off x="8509000" y="4895850"/>
            <a:ext cx="228600" cy="203200"/>
          </a:xfrm>
          <a:custGeom>
            <a:avLst/>
            <a:gdLst/>
            <a:ahLst/>
            <a:cxnLst/>
            <a:rect l="l" t="t" r="r" b="b"/>
            <a:pathLst>
              <a:path w="228600" h="203200">
                <a:moveTo>
                  <a:pt x="122833" y="-7501"/>
                </a:moveTo>
                <a:cubicBezTo>
                  <a:pt x="121206" y="-10676"/>
                  <a:pt x="117912" y="-12700"/>
                  <a:pt x="114340" y="-12700"/>
                </a:cubicBezTo>
                <a:cubicBezTo>
                  <a:pt x="110768" y="-12700"/>
                  <a:pt x="107474" y="-10676"/>
                  <a:pt x="105847" y="-7501"/>
                </a:cubicBezTo>
                <a:lnTo>
                  <a:pt x="76637" y="49728"/>
                </a:lnTo>
                <a:lnTo>
                  <a:pt x="13176" y="59809"/>
                </a:lnTo>
                <a:cubicBezTo>
                  <a:pt x="9644" y="60365"/>
                  <a:pt x="6707" y="62865"/>
                  <a:pt x="5596" y="66278"/>
                </a:cubicBezTo>
                <a:cubicBezTo>
                  <a:pt x="4485" y="69691"/>
                  <a:pt x="5398" y="73422"/>
                  <a:pt x="7898" y="75962"/>
                </a:cubicBezTo>
                <a:lnTo>
                  <a:pt x="53300" y="121404"/>
                </a:lnTo>
                <a:lnTo>
                  <a:pt x="43299" y="184864"/>
                </a:lnTo>
                <a:cubicBezTo>
                  <a:pt x="42743" y="188397"/>
                  <a:pt x="44212" y="191968"/>
                  <a:pt x="47109" y="194072"/>
                </a:cubicBezTo>
                <a:cubicBezTo>
                  <a:pt x="50006" y="196175"/>
                  <a:pt x="53816" y="196493"/>
                  <a:pt x="57031" y="194866"/>
                </a:cubicBezTo>
                <a:lnTo>
                  <a:pt x="114340" y="165735"/>
                </a:lnTo>
                <a:lnTo>
                  <a:pt x="171609" y="194866"/>
                </a:lnTo>
                <a:cubicBezTo>
                  <a:pt x="174784" y="196493"/>
                  <a:pt x="178633" y="196175"/>
                  <a:pt x="181531" y="194072"/>
                </a:cubicBezTo>
                <a:cubicBezTo>
                  <a:pt x="184428" y="191968"/>
                  <a:pt x="185896" y="188436"/>
                  <a:pt x="185341" y="184864"/>
                </a:cubicBezTo>
                <a:lnTo>
                  <a:pt x="175300" y="121404"/>
                </a:lnTo>
                <a:lnTo>
                  <a:pt x="220702" y="75962"/>
                </a:lnTo>
                <a:cubicBezTo>
                  <a:pt x="223242" y="73422"/>
                  <a:pt x="224115" y="69691"/>
                  <a:pt x="223004" y="66278"/>
                </a:cubicBezTo>
                <a:cubicBezTo>
                  <a:pt x="221893" y="62865"/>
                  <a:pt x="218996" y="60365"/>
                  <a:pt x="215424" y="59809"/>
                </a:cubicBezTo>
                <a:lnTo>
                  <a:pt x="152003" y="49728"/>
                </a:lnTo>
                <a:lnTo>
                  <a:pt x="122833" y="-7501"/>
                </a:lnTo>
                <a:close/>
              </a:path>
            </a:pathLst>
          </a:custGeom>
          <a:solidFill>
            <a:srgbClr val="D69E2E"/>
          </a:solidFill>
          <a:ln/>
        </p:spPr>
        <p:txBody>
          <a:bodyPr/>
          <a:lstStyle/>
          <a:p>
            <a:endParaRPr lang="zh-CN" altLang="en-US"/>
          </a:p>
        </p:txBody>
      </p:sp>
      <p:sp>
        <p:nvSpPr>
          <p:cNvPr id="42" name="Text 40"/>
          <p:cNvSpPr/>
          <p:nvPr/>
        </p:nvSpPr>
        <p:spPr>
          <a:xfrm>
            <a:off x="8851900" y="4838700"/>
            <a:ext cx="6781800" cy="6096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设计平衡:</a:t>
            </a:r>
            <a:r>
              <a:rPr lang="en-US" sz="1600" dirty="0">
                <a:solidFill>
                  <a:srgbClr val="E2E8F0">
                    <a:alpha val="90000"/>
                  </a:srgbClr>
                </a:solidFill>
                <a:latin typeface="MiSans" pitchFamily="34" charset="0"/>
                <a:ea typeface="MiSans" pitchFamily="34" charset="-122"/>
                <a:cs typeface="MiSans" pitchFamily="34" charset="-120"/>
              </a:rPr>
              <a:t> Kafka 在高性能和可靠性之间取得了精妙平衡，通过可配置的语义级别，满足不同场景的需求。</a:t>
            </a:r>
            <a:endParaRPr lang="en-US" sz="160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4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altLang="zh-CN" sz="1600" b="1" kern="0" spc="80" dirty="0">
                <a:solidFill>
                  <a:srgbClr val="D69E2E"/>
                </a:solidFill>
                <a:latin typeface="MiSans" pitchFamily="34" charset="0"/>
                <a:ea typeface="MiSans" pitchFamily="34" charset="-122"/>
                <a:cs typeface="MiSans" pitchFamily="34" charset="-120"/>
              </a:rPr>
              <a:t>4</a:t>
            </a:r>
            <a:r>
              <a:rPr lang="en-US" sz="1600" b="1" kern="0" spc="80" dirty="0">
                <a:solidFill>
                  <a:srgbClr val="D69E2E"/>
                </a:solidFill>
                <a:latin typeface="MiSans" pitchFamily="34" charset="0"/>
                <a:ea typeface="MiSans" pitchFamily="34" charset="-122"/>
                <a:cs typeface="MiSans" pitchFamily="34" charset="-120"/>
              </a:rPr>
              <a:t>.1.3 生态集成</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生态系统集成设计原理</a:t>
            </a:r>
            <a:endParaRPr lang="en-US" sz="1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08000" y="1625600"/>
          <a:ext cx="15240000" cy="4660902"/>
        </p:xfrm>
        <a:graphic>
          <a:graphicData uri="http://schemas.openxmlformats.org/drawingml/2006/table">
            <a:tbl>
              <a:tblPr/>
              <a:tblGrid>
                <a:gridCol w="1893878">
                  <a:extLst>
                    <a:ext uri="{9D8B030D-6E8A-4147-A177-3AD203B41FA5}">
                      <a16:colId xmlns:a16="http://schemas.microsoft.com/office/drawing/2014/main" val="20000"/>
                    </a:ext>
                  </a:extLst>
                </a:gridCol>
                <a:gridCol w="4461418">
                  <a:extLst>
                    <a:ext uri="{9D8B030D-6E8A-4147-A177-3AD203B41FA5}">
                      <a16:colId xmlns:a16="http://schemas.microsoft.com/office/drawing/2014/main" val="20001"/>
                    </a:ext>
                  </a:extLst>
                </a:gridCol>
                <a:gridCol w="4512260">
                  <a:extLst>
                    <a:ext uri="{9D8B030D-6E8A-4147-A177-3AD203B41FA5}">
                      <a16:colId xmlns:a16="http://schemas.microsoft.com/office/drawing/2014/main" val="20002"/>
                    </a:ext>
                  </a:extLst>
                </a:gridCol>
                <a:gridCol w="4372444">
                  <a:extLst>
                    <a:ext uri="{9D8B030D-6E8A-4147-A177-3AD203B41FA5}">
                      <a16:colId xmlns:a16="http://schemas.microsoft.com/office/drawing/2014/main" val="20003"/>
                    </a:ext>
                  </a:extLst>
                </a:gridCol>
              </a:tblGrid>
              <a:tr h="776817">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集成能力</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设计原理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实现方式</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tc>
                  <a:txBody>
                    <a:bodyPr/>
                    <a:lstStyle/>
                    <a:p>
                      <a:pPr algn="l"/>
                      <a:r>
                        <a:rPr lang="en-US" sz="1600" b="1" u="none" dirty="0">
                          <a:solidFill>
                            <a:srgbClr val="D69E2E"/>
                          </a:solidFill>
                          <a:latin typeface="微软雅黑" pitchFamily="34" charset="0"/>
                          <a:ea typeface="微软雅黑" pitchFamily="34" charset="-122"/>
                          <a:cs typeface="微软雅黑" pitchFamily="34" charset="-120"/>
                        </a:rPr>
                        <a:t>典型应用</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solidFill>
                  </a:tcPr>
                </a:tc>
                <a:extLst>
                  <a:ext uri="{0D108BD9-81ED-4DB2-BD59-A6C34878D82A}">
                    <a16:rowId xmlns:a16="http://schemas.microsoft.com/office/drawing/2014/main" val="10000"/>
                  </a:ext>
                </a:extLst>
              </a:tr>
              <a:tr h="776817">
                <a:tc>
                  <a:txBody>
                    <a:bodyPr/>
                    <a:lstStyle/>
                    <a:p>
                      <a:r>
                        <a:rPr lang="en-US" sz="1600" b="1" u="none" dirty="0">
                          <a:solidFill>
                            <a:srgbClr val="E2E8F0"/>
                          </a:solidFill>
                          <a:latin typeface="微软雅黑" pitchFamily="34" charset="0"/>
                          <a:ea typeface="微软雅黑" pitchFamily="34" charset="-122"/>
                          <a:cs typeface="微软雅黑" pitchFamily="34" charset="-120"/>
                        </a:rPr>
                        <a:t>统一的抽象模型</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生产者-消费者模式、偏移量管理、序列化协议</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标准化 API、多语言客户端、协议兼容</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Java Producer、Python Consumer、Go Client</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1"/>
                  </a:ext>
                </a:extLst>
              </a:tr>
              <a:tr h="776817">
                <a:tc>
                  <a:txBody>
                    <a:bodyPr/>
                    <a:lstStyle/>
                    <a:p>
                      <a:r>
                        <a:rPr lang="en-US" sz="1600" b="1" u="none" dirty="0">
                          <a:solidFill>
                            <a:srgbClr val="E2E8F0"/>
                          </a:solidFill>
                          <a:latin typeface="微软雅黑" pitchFamily="34" charset="0"/>
                          <a:ea typeface="微软雅黑" pitchFamily="34" charset="-122"/>
                          <a:cs typeface="微软雅黑" pitchFamily="34" charset="-120"/>
                        </a:rPr>
                        <a:t>可扩展的连接器架构</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Kafka Connect 插件化设计、单消息转换、错误处理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Source/Sink Connector、REST API、分布式执行</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JDBC Source、Elasticsearch Sink、S3 Connector</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2"/>
                  </a:ext>
                </a:extLst>
              </a:tr>
              <a:tr h="776817">
                <a:tc>
                  <a:txBody>
                    <a:bodyPr/>
                    <a:lstStyle/>
                    <a:p>
                      <a:r>
                        <a:rPr lang="en-US" sz="1600" b="1" u="none" dirty="0">
                          <a:solidFill>
                            <a:srgbClr val="E2E8F0"/>
                          </a:solidFill>
                          <a:latin typeface="微软雅黑" pitchFamily="34" charset="0"/>
                          <a:ea typeface="微软雅黑" pitchFamily="34" charset="-122"/>
                          <a:cs typeface="微软雅黑" pitchFamily="34" charset="-120"/>
                        </a:rPr>
                        <a:t>流处理集成原理</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状态管理、时间语义、精确一次语义</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Kafka Streams、Flink Connector、Spark Streaming</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实时聚合、窗口计算、流表连接</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3"/>
                  </a:ext>
                </a:extLst>
              </a:tr>
              <a:tr h="776817">
                <a:tc>
                  <a:txBody>
                    <a:bodyPr/>
                    <a:lstStyle/>
                    <a:p>
                      <a:r>
                        <a:rPr lang="en-US" sz="1600" b="1" u="none" dirty="0">
                          <a:solidFill>
                            <a:srgbClr val="E2E8F0"/>
                          </a:solidFill>
                          <a:latin typeface="微软雅黑" pitchFamily="34" charset="0"/>
                          <a:ea typeface="微软雅黑" pitchFamily="34" charset="-122"/>
                          <a:cs typeface="微软雅黑" pitchFamily="34" charset="-120"/>
                        </a:rPr>
                        <a:t>元数据管理演进</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KRaft 模式、Raft 共识、增量同步</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内置 Controller、元数据日志、批量操作</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无 ZK 部署、更大规模集群、更快故障恢复</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4"/>
                  </a:ext>
                </a:extLst>
              </a:tr>
              <a:tr h="776817">
                <a:tc>
                  <a:txBody>
                    <a:bodyPr/>
                    <a:lstStyle/>
                    <a:p>
                      <a:r>
                        <a:rPr lang="en-US" sz="1600" b="1" u="none" dirty="0">
                          <a:solidFill>
                            <a:srgbClr val="E2E8F0"/>
                          </a:solidFill>
                          <a:latin typeface="微软雅黑" pitchFamily="34" charset="0"/>
                          <a:ea typeface="微软雅黑" pitchFamily="34" charset="-122"/>
                          <a:cs typeface="微软雅黑" pitchFamily="34" charset="-120"/>
                        </a:rPr>
                        <a:t>安全与监控集成</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D69E2E"/>
                          </a:solidFill>
                          <a:latin typeface="微软雅黑" pitchFamily="34" charset="0"/>
                          <a:ea typeface="微软雅黑" pitchFamily="34" charset="-122"/>
                          <a:cs typeface="微软雅黑" pitchFamily="34" charset="-120"/>
                        </a:rPr>
                        <a:t>SASL/OAuth、TLS 加密、JMX 指标</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认证授权、加密传输、Prometheus 集成</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tc>
                  <a:txBody>
                    <a:bodyPr/>
                    <a:lstStyle/>
                    <a:p>
                      <a:r>
                        <a:rPr lang="en-US" sz="1600" u="none" dirty="0">
                          <a:solidFill>
                            <a:srgbClr val="E2E8F0"/>
                          </a:solidFill>
                          <a:latin typeface="微软雅黑" pitchFamily="34" charset="0"/>
                          <a:ea typeface="微软雅黑" pitchFamily="34" charset="-122"/>
                          <a:cs typeface="微软雅黑" pitchFamily="34" charset="-120"/>
                        </a:rPr>
                        <a:t>企业级安全、端到端加密、实时监控</a:t>
                      </a:r>
                      <a:endParaRPr lang="en-US" sz="1600" dirty="0">
                        <a:latin typeface="微软雅黑" charset="0"/>
                        <a:ea typeface="微软雅黑" charset="0"/>
                        <a:cs typeface="微软雅黑" charset="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5568">
                        <a:alpha val="10000"/>
                      </a:srgbClr>
                    </a:solidFill>
                  </a:tcPr>
                </a:tc>
                <a:extLst>
                  <a:ext uri="{0D108BD9-81ED-4DB2-BD59-A6C34878D82A}">
                    <a16:rowId xmlns:a16="http://schemas.microsoft.com/office/drawing/2014/main" val="10005"/>
                  </a:ext>
                </a:extLst>
              </a:tr>
            </a:tbl>
          </a:graphicData>
        </a:graphic>
      </p:graphicFrame>
      <p:sp>
        <p:nvSpPr>
          <p:cNvPr id="5" name="Shape 2"/>
          <p:cNvSpPr/>
          <p:nvPr/>
        </p:nvSpPr>
        <p:spPr>
          <a:xfrm>
            <a:off x="514350" y="7905750"/>
            <a:ext cx="15227300" cy="723900"/>
          </a:xfrm>
          <a:custGeom>
            <a:avLst/>
            <a:gdLst/>
            <a:ahLst/>
            <a:cxnLst/>
            <a:rect l="l" t="t" r="r" b="b"/>
            <a:pathLst>
              <a:path w="15227300" h="723900">
                <a:moveTo>
                  <a:pt x="101599" y="0"/>
                </a:moveTo>
                <a:lnTo>
                  <a:pt x="15125701" y="0"/>
                </a:lnTo>
                <a:cubicBezTo>
                  <a:pt x="15181812" y="0"/>
                  <a:pt x="15227300" y="45488"/>
                  <a:pt x="15227300" y="101599"/>
                </a:cubicBezTo>
                <a:lnTo>
                  <a:pt x="15227300" y="622301"/>
                </a:lnTo>
                <a:cubicBezTo>
                  <a:pt x="15227300" y="678412"/>
                  <a:pt x="15181812" y="723900"/>
                  <a:pt x="15125701" y="723900"/>
                </a:cubicBezTo>
                <a:lnTo>
                  <a:pt x="101599" y="723900"/>
                </a:lnTo>
                <a:cubicBezTo>
                  <a:pt x="45488" y="723900"/>
                  <a:pt x="0" y="678412"/>
                  <a:pt x="0" y="622301"/>
                </a:cubicBezTo>
                <a:lnTo>
                  <a:pt x="0" y="101599"/>
                </a:lnTo>
                <a:cubicBezTo>
                  <a:pt x="0" y="45488"/>
                  <a:pt x="45488" y="0"/>
                  <a:pt x="101599"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6" name="Shape 3"/>
          <p:cNvSpPr/>
          <p:nvPr/>
        </p:nvSpPr>
        <p:spPr>
          <a:xfrm>
            <a:off x="749300" y="8172450"/>
            <a:ext cx="203200" cy="203200"/>
          </a:xfrm>
          <a:custGeom>
            <a:avLst/>
            <a:gdLst/>
            <a:ahLst/>
            <a:cxnLst/>
            <a:rect l="l" t="t" r="r" b="b"/>
            <a:pathLst>
              <a:path w="203200" h="203200">
                <a:moveTo>
                  <a:pt x="50800" y="127000"/>
                </a:moveTo>
                <a:lnTo>
                  <a:pt x="9723" y="127000"/>
                </a:lnTo>
                <a:cubicBezTo>
                  <a:pt x="-159" y="127000"/>
                  <a:pt x="-6231" y="116245"/>
                  <a:pt x="-1151" y="107752"/>
                </a:cubicBezTo>
                <a:lnTo>
                  <a:pt x="19844" y="72747"/>
                </a:lnTo>
                <a:cubicBezTo>
                  <a:pt x="23297" y="66993"/>
                  <a:pt x="29488" y="63500"/>
                  <a:pt x="36195" y="63500"/>
                </a:cubicBezTo>
                <a:lnTo>
                  <a:pt x="73898" y="63500"/>
                </a:lnTo>
                <a:cubicBezTo>
                  <a:pt x="104100" y="12343"/>
                  <a:pt x="149146" y="9763"/>
                  <a:pt x="179268" y="14168"/>
                </a:cubicBezTo>
                <a:cubicBezTo>
                  <a:pt x="184348" y="14923"/>
                  <a:pt x="188317" y="18891"/>
                  <a:pt x="189032" y="23932"/>
                </a:cubicBezTo>
                <a:cubicBezTo>
                  <a:pt x="193437" y="54054"/>
                  <a:pt x="190857" y="99100"/>
                  <a:pt x="139700" y="129302"/>
                </a:cubicBezTo>
                <a:lnTo>
                  <a:pt x="139700" y="167005"/>
                </a:lnTo>
                <a:cubicBezTo>
                  <a:pt x="139700" y="173712"/>
                  <a:pt x="136208" y="179903"/>
                  <a:pt x="130453" y="183356"/>
                </a:cubicBezTo>
                <a:lnTo>
                  <a:pt x="95448" y="204351"/>
                </a:lnTo>
                <a:cubicBezTo>
                  <a:pt x="86995" y="209431"/>
                  <a:pt x="76200" y="203319"/>
                  <a:pt x="76200" y="193477"/>
                </a:cubicBezTo>
                <a:lnTo>
                  <a:pt x="76200" y="152400"/>
                </a:lnTo>
                <a:cubicBezTo>
                  <a:pt x="76200" y="138390"/>
                  <a:pt x="64810" y="127000"/>
                  <a:pt x="50800" y="127000"/>
                </a:cubicBezTo>
                <a:lnTo>
                  <a:pt x="50760" y="127000"/>
                </a:lnTo>
                <a:close/>
                <a:moveTo>
                  <a:pt x="158750" y="63500"/>
                </a:moveTo>
                <a:cubicBezTo>
                  <a:pt x="158750" y="52986"/>
                  <a:pt x="150214" y="44450"/>
                  <a:pt x="139700" y="44450"/>
                </a:cubicBezTo>
                <a:cubicBezTo>
                  <a:pt x="129186" y="44450"/>
                  <a:pt x="120650" y="52986"/>
                  <a:pt x="120650" y="63500"/>
                </a:cubicBezTo>
                <a:cubicBezTo>
                  <a:pt x="120650" y="74014"/>
                  <a:pt x="129186" y="82550"/>
                  <a:pt x="139700" y="82550"/>
                </a:cubicBezTo>
                <a:cubicBezTo>
                  <a:pt x="150214" y="82550"/>
                  <a:pt x="158750" y="74014"/>
                  <a:pt x="158750" y="63500"/>
                </a:cubicBezTo>
                <a:close/>
              </a:path>
            </a:pathLst>
          </a:custGeom>
          <a:solidFill>
            <a:srgbClr val="D69E2E"/>
          </a:solidFill>
          <a:ln/>
        </p:spPr>
        <p:txBody>
          <a:bodyPr/>
          <a:lstStyle/>
          <a:p>
            <a:endParaRPr lang="zh-CN" altLang="en-US"/>
          </a:p>
        </p:txBody>
      </p:sp>
      <p:sp>
        <p:nvSpPr>
          <p:cNvPr id="7" name="Text 4"/>
          <p:cNvSpPr/>
          <p:nvPr/>
        </p:nvSpPr>
        <p:spPr>
          <a:xfrm>
            <a:off x="1079500" y="8115300"/>
            <a:ext cx="14554200" cy="304800"/>
          </a:xfrm>
          <a:prstGeom prst="rect">
            <a:avLst/>
          </a:prstGeom>
          <a:noFill/>
          <a:ln/>
        </p:spPr>
        <p:txBody>
          <a:bodyPr wrap="square" lIns="0" tIns="0" rIns="0" bIns="0" rtlCol="0" anchor="ctr"/>
          <a:lstStyle/>
          <a:p>
            <a:pPr>
              <a:lnSpc>
                <a:spcPct val="130000"/>
              </a:lnSpc>
            </a:pPr>
            <a:r>
              <a:rPr lang="en-US" sz="1600" b="1" dirty="0">
                <a:solidFill>
                  <a:srgbClr val="D69E2E"/>
                </a:solidFill>
                <a:latin typeface="MiSans" pitchFamily="34" charset="0"/>
                <a:ea typeface="MiSans" pitchFamily="34" charset="-122"/>
                <a:cs typeface="MiSans" pitchFamily="34" charset="-120"/>
              </a:rPr>
              <a:t>生态策略:</a:t>
            </a:r>
            <a:r>
              <a:rPr lang="en-US" sz="1600" dirty="0">
                <a:solidFill>
                  <a:srgbClr val="E2E8F0">
                    <a:alpha val="90000"/>
                  </a:srgbClr>
                </a:solidFill>
                <a:latin typeface="MiSans" pitchFamily="34" charset="0"/>
                <a:ea typeface="MiSans" pitchFamily="34" charset="-122"/>
                <a:cs typeface="MiSans" pitchFamily="34" charset="-120"/>
              </a:rPr>
              <a:t> Kafka 通过开放接口和标准协议，构建了繁荣的生态系统。这种"平台化"思维使 Kafka 成为数据基础设施的核心组件。</a:t>
            </a:r>
            <a:endParaRPr lang="en-US" sz="16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4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464126" y="464126"/>
            <a:ext cx="15420574" cy="278475"/>
          </a:xfrm>
          <a:prstGeom prst="rect">
            <a:avLst/>
          </a:prstGeom>
          <a:noFill/>
          <a:ln/>
        </p:spPr>
        <p:txBody>
          <a:bodyPr wrap="square" lIns="0" tIns="0" rIns="0" bIns="0" rtlCol="0" anchor="ctr"/>
          <a:lstStyle/>
          <a:p>
            <a:pPr>
              <a:lnSpc>
                <a:spcPct val="120000"/>
              </a:lnSpc>
            </a:pPr>
            <a:r>
              <a:rPr lang="en-US" altLang="zh-CN" sz="1462" b="1" kern="0" spc="73" dirty="0">
                <a:solidFill>
                  <a:srgbClr val="D69E2E"/>
                </a:solidFill>
                <a:latin typeface="MiSans" pitchFamily="34" charset="0"/>
                <a:ea typeface="MiSans" pitchFamily="34" charset="-122"/>
                <a:cs typeface="MiSans" pitchFamily="34" charset="-120"/>
              </a:rPr>
              <a:t>4</a:t>
            </a:r>
            <a:r>
              <a:rPr lang="en-US" sz="1462" b="1" kern="0" spc="73" dirty="0">
                <a:solidFill>
                  <a:srgbClr val="D69E2E"/>
                </a:solidFill>
                <a:latin typeface="MiSans" pitchFamily="34" charset="0"/>
                <a:ea typeface="MiSans" pitchFamily="34" charset="-122"/>
                <a:cs typeface="MiSans" pitchFamily="34" charset="-120"/>
              </a:rPr>
              <a:t>.2.1 发展趋势</a:t>
            </a:r>
            <a:endParaRPr lang="en-US" sz="1600" dirty="0"/>
          </a:p>
        </p:txBody>
      </p:sp>
      <p:sp>
        <p:nvSpPr>
          <p:cNvPr id="3" name="Text 1"/>
          <p:cNvSpPr/>
          <p:nvPr/>
        </p:nvSpPr>
        <p:spPr>
          <a:xfrm>
            <a:off x="464126" y="835426"/>
            <a:ext cx="15536605" cy="464126"/>
          </a:xfrm>
          <a:prstGeom prst="rect">
            <a:avLst/>
          </a:prstGeom>
          <a:noFill/>
          <a:ln/>
        </p:spPr>
        <p:txBody>
          <a:bodyPr wrap="square" lIns="0" tIns="0" rIns="0" bIns="0" rtlCol="0" anchor="ctr"/>
          <a:lstStyle/>
          <a:p>
            <a:pPr>
              <a:lnSpc>
                <a:spcPct val="90000"/>
              </a:lnSpc>
            </a:pPr>
            <a:r>
              <a:rPr lang="en-US" sz="3289" b="1" dirty="0">
                <a:solidFill>
                  <a:srgbClr val="E2E8F0"/>
                </a:solidFill>
                <a:latin typeface="MiSans" pitchFamily="34" charset="0"/>
                <a:ea typeface="MiSans" pitchFamily="34" charset="-122"/>
                <a:cs typeface="MiSans" pitchFamily="34" charset="-120"/>
              </a:rPr>
              <a:t>Kafka 技术发展趋势与展望</a:t>
            </a:r>
            <a:endParaRPr lang="en-US" sz="1600" dirty="0"/>
          </a:p>
        </p:txBody>
      </p:sp>
      <p:sp>
        <p:nvSpPr>
          <p:cNvPr id="4" name="Shape 2"/>
          <p:cNvSpPr/>
          <p:nvPr/>
        </p:nvSpPr>
        <p:spPr>
          <a:xfrm>
            <a:off x="487332" y="1485202"/>
            <a:ext cx="7495629" cy="3527355"/>
          </a:xfrm>
          <a:custGeom>
            <a:avLst/>
            <a:gdLst/>
            <a:ahLst/>
            <a:cxnLst/>
            <a:rect l="l" t="t" r="r" b="b"/>
            <a:pathLst>
              <a:path w="7495629" h="3527355">
                <a:moveTo>
                  <a:pt x="46413" y="0"/>
                </a:moveTo>
                <a:lnTo>
                  <a:pt x="7402789" y="0"/>
                </a:lnTo>
                <a:cubicBezTo>
                  <a:pt x="7454063" y="0"/>
                  <a:pt x="7495629" y="41566"/>
                  <a:pt x="7495629" y="92840"/>
                </a:cubicBezTo>
                <a:lnTo>
                  <a:pt x="7495629" y="3434515"/>
                </a:lnTo>
                <a:cubicBezTo>
                  <a:pt x="7495629" y="3485789"/>
                  <a:pt x="7454063" y="3527355"/>
                  <a:pt x="7402789" y="3527355"/>
                </a:cubicBezTo>
                <a:lnTo>
                  <a:pt x="46413" y="3527355"/>
                </a:lnTo>
                <a:cubicBezTo>
                  <a:pt x="20780" y="3527355"/>
                  <a:pt x="0" y="3506575"/>
                  <a:pt x="0" y="3480942"/>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5" name="Shape 3"/>
          <p:cNvSpPr/>
          <p:nvPr/>
        </p:nvSpPr>
        <p:spPr>
          <a:xfrm>
            <a:off x="487332" y="1485202"/>
            <a:ext cx="46413" cy="3527355"/>
          </a:xfrm>
          <a:custGeom>
            <a:avLst/>
            <a:gdLst/>
            <a:ahLst/>
            <a:cxnLst/>
            <a:rect l="l" t="t" r="r" b="b"/>
            <a:pathLst>
              <a:path w="46413" h="3527355">
                <a:moveTo>
                  <a:pt x="46413" y="0"/>
                </a:moveTo>
                <a:lnTo>
                  <a:pt x="46413" y="0"/>
                </a:lnTo>
                <a:lnTo>
                  <a:pt x="46413" y="3527355"/>
                </a:lnTo>
                <a:lnTo>
                  <a:pt x="46413" y="3527355"/>
                </a:lnTo>
                <a:cubicBezTo>
                  <a:pt x="20780" y="3527355"/>
                  <a:pt x="0" y="3506575"/>
                  <a:pt x="0" y="3480942"/>
                </a:cubicBezTo>
                <a:lnTo>
                  <a:pt x="0" y="46413"/>
                </a:lnTo>
                <a:cubicBezTo>
                  <a:pt x="0" y="20797"/>
                  <a:pt x="20797" y="0"/>
                  <a:pt x="46413" y="0"/>
                </a:cubicBezTo>
                <a:close/>
              </a:path>
            </a:pathLst>
          </a:custGeom>
          <a:solidFill>
            <a:srgbClr val="D69E2E"/>
          </a:solidFill>
          <a:ln/>
        </p:spPr>
        <p:txBody>
          <a:bodyPr/>
          <a:lstStyle/>
          <a:p>
            <a:endParaRPr lang="zh-CN" altLang="en-US"/>
          </a:p>
        </p:txBody>
      </p:sp>
      <p:sp>
        <p:nvSpPr>
          <p:cNvPr id="6" name="Text 4"/>
          <p:cNvSpPr/>
          <p:nvPr/>
        </p:nvSpPr>
        <p:spPr>
          <a:xfrm>
            <a:off x="696188" y="1670852"/>
            <a:ext cx="7217153" cy="324888"/>
          </a:xfrm>
          <a:prstGeom prst="rect">
            <a:avLst/>
          </a:prstGeom>
          <a:noFill/>
          <a:ln/>
        </p:spPr>
        <p:txBody>
          <a:bodyPr wrap="square" lIns="0" tIns="0" rIns="0" bIns="0" rtlCol="0" anchor="ctr"/>
          <a:lstStyle/>
          <a:p>
            <a:pPr>
              <a:lnSpc>
                <a:spcPct val="120000"/>
              </a:lnSpc>
            </a:pPr>
            <a:r>
              <a:rPr lang="en-US" sz="1827" b="1" dirty="0">
                <a:solidFill>
                  <a:srgbClr val="D69E2E"/>
                </a:solidFill>
                <a:latin typeface="MiSans" pitchFamily="34" charset="0"/>
                <a:ea typeface="MiSans" pitchFamily="34" charset="-122"/>
                <a:cs typeface="MiSans" pitchFamily="34" charset="-120"/>
              </a:rPr>
              <a:t>架构演进趋势</a:t>
            </a:r>
            <a:endParaRPr lang="en-US" sz="1600" dirty="0"/>
          </a:p>
        </p:txBody>
      </p:sp>
      <p:sp>
        <p:nvSpPr>
          <p:cNvPr id="7" name="Shape 5"/>
          <p:cNvSpPr/>
          <p:nvPr/>
        </p:nvSpPr>
        <p:spPr>
          <a:xfrm>
            <a:off x="696188" y="2134978"/>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8" name="Text 6"/>
          <p:cNvSpPr/>
          <p:nvPr/>
        </p:nvSpPr>
        <p:spPr>
          <a:xfrm>
            <a:off x="835426" y="2274216"/>
            <a:ext cx="6915472" cy="278475"/>
          </a:xfrm>
          <a:prstGeom prst="rect">
            <a:avLst/>
          </a:prstGeom>
          <a:noFill/>
          <a:ln/>
        </p:spPr>
        <p:txBody>
          <a:bodyPr wrap="square" lIns="0" tIns="0" rIns="0" bIns="0" rtlCol="0" anchor="ctr"/>
          <a:lstStyle/>
          <a:p>
            <a:pPr>
              <a:lnSpc>
                <a:spcPct val="120000"/>
              </a:lnSpc>
            </a:pPr>
            <a:r>
              <a:rPr lang="en-US" sz="1462" b="1" dirty="0">
                <a:solidFill>
                  <a:srgbClr val="D69E2E"/>
                </a:solidFill>
                <a:latin typeface="MiSans" pitchFamily="34" charset="0"/>
                <a:ea typeface="MiSans" pitchFamily="34" charset="-122"/>
                <a:cs typeface="MiSans" pitchFamily="34" charset="-120"/>
              </a:rPr>
              <a:t>KRaft 模式成熟与推广</a:t>
            </a:r>
            <a:endParaRPr lang="en-US" sz="1600" dirty="0"/>
          </a:p>
        </p:txBody>
      </p:sp>
      <p:sp>
        <p:nvSpPr>
          <p:cNvPr id="9" name="Text 7"/>
          <p:cNvSpPr/>
          <p:nvPr/>
        </p:nvSpPr>
        <p:spPr>
          <a:xfrm>
            <a:off x="835426" y="2599103"/>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Kafka 3.6+ 已生产就绪，未来将完全取代 ZooKeeper 模式</a:t>
            </a:r>
            <a:endParaRPr lang="en-US" sz="1600" dirty="0"/>
          </a:p>
        </p:txBody>
      </p:sp>
      <p:sp>
        <p:nvSpPr>
          <p:cNvPr id="10" name="Shape 8"/>
          <p:cNvSpPr/>
          <p:nvPr/>
        </p:nvSpPr>
        <p:spPr>
          <a:xfrm>
            <a:off x="696188" y="3063229"/>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11" name="Text 9"/>
          <p:cNvSpPr/>
          <p:nvPr/>
        </p:nvSpPr>
        <p:spPr>
          <a:xfrm>
            <a:off x="835426" y="3202467"/>
            <a:ext cx="6915472" cy="278475"/>
          </a:xfrm>
          <a:prstGeom prst="rect">
            <a:avLst/>
          </a:prstGeom>
          <a:noFill/>
          <a:ln/>
        </p:spPr>
        <p:txBody>
          <a:bodyPr wrap="square" lIns="0" tIns="0" rIns="0" bIns="0" rtlCol="0" anchor="ctr"/>
          <a:lstStyle/>
          <a:p>
            <a:pPr>
              <a:lnSpc>
                <a:spcPct val="120000"/>
              </a:lnSpc>
            </a:pPr>
            <a:r>
              <a:rPr lang="en-US" sz="1462" b="1" dirty="0">
                <a:solidFill>
                  <a:srgbClr val="718096"/>
                </a:solidFill>
                <a:latin typeface="MiSans" pitchFamily="34" charset="0"/>
                <a:ea typeface="MiSans" pitchFamily="34" charset="-122"/>
                <a:cs typeface="MiSans" pitchFamily="34" charset="-120"/>
              </a:rPr>
              <a:t>分层存储架构</a:t>
            </a:r>
            <a:endParaRPr lang="en-US" sz="1600" dirty="0"/>
          </a:p>
        </p:txBody>
      </p:sp>
      <p:sp>
        <p:nvSpPr>
          <p:cNvPr id="12" name="Text 10"/>
          <p:cNvSpPr/>
          <p:nvPr/>
        </p:nvSpPr>
        <p:spPr>
          <a:xfrm>
            <a:off x="835426" y="3527355"/>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本地 SSD + 远程对象存储，降低存储成本，支持 PB 级数据</a:t>
            </a:r>
            <a:endParaRPr lang="en-US" sz="1600" dirty="0"/>
          </a:p>
        </p:txBody>
      </p:sp>
      <p:sp>
        <p:nvSpPr>
          <p:cNvPr id="13" name="Shape 11"/>
          <p:cNvSpPr/>
          <p:nvPr/>
        </p:nvSpPr>
        <p:spPr>
          <a:xfrm>
            <a:off x="696188" y="3991480"/>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14" name="Text 12"/>
          <p:cNvSpPr/>
          <p:nvPr/>
        </p:nvSpPr>
        <p:spPr>
          <a:xfrm>
            <a:off x="835426" y="4130718"/>
            <a:ext cx="6915472" cy="278475"/>
          </a:xfrm>
          <a:prstGeom prst="rect">
            <a:avLst/>
          </a:prstGeom>
          <a:noFill/>
          <a:ln/>
        </p:spPr>
        <p:txBody>
          <a:bodyPr wrap="square" lIns="0" tIns="0" rIns="0" bIns="0" rtlCol="0" anchor="ctr"/>
          <a:lstStyle/>
          <a:p>
            <a:pPr>
              <a:lnSpc>
                <a:spcPct val="120000"/>
              </a:lnSpc>
            </a:pPr>
            <a:r>
              <a:rPr lang="en-US" sz="1462" b="1" dirty="0">
                <a:solidFill>
                  <a:srgbClr val="D69E2E"/>
                </a:solidFill>
                <a:latin typeface="MiSans" pitchFamily="34" charset="0"/>
                <a:ea typeface="MiSans" pitchFamily="34" charset="-122"/>
                <a:cs typeface="MiSans" pitchFamily="34" charset="-120"/>
              </a:rPr>
              <a:t>弹性伸缩能力</a:t>
            </a:r>
            <a:endParaRPr lang="en-US" sz="1600" dirty="0"/>
          </a:p>
        </p:txBody>
      </p:sp>
      <p:sp>
        <p:nvSpPr>
          <p:cNvPr id="15" name="Text 13"/>
          <p:cNvSpPr/>
          <p:nvPr/>
        </p:nvSpPr>
        <p:spPr>
          <a:xfrm>
            <a:off x="835426" y="4455606"/>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基于负载自动扩缩容，云原生架构优化</a:t>
            </a:r>
            <a:endParaRPr lang="en-US" sz="1600" dirty="0"/>
          </a:p>
        </p:txBody>
      </p:sp>
      <p:sp>
        <p:nvSpPr>
          <p:cNvPr id="16" name="Shape 14"/>
          <p:cNvSpPr/>
          <p:nvPr/>
        </p:nvSpPr>
        <p:spPr>
          <a:xfrm>
            <a:off x="487332" y="5151794"/>
            <a:ext cx="7495629" cy="2599103"/>
          </a:xfrm>
          <a:custGeom>
            <a:avLst/>
            <a:gdLst/>
            <a:ahLst/>
            <a:cxnLst/>
            <a:rect l="l" t="t" r="r" b="b"/>
            <a:pathLst>
              <a:path w="7495629" h="2599103">
                <a:moveTo>
                  <a:pt x="46413" y="0"/>
                </a:moveTo>
                <a:lnTo>
                  <a:pt x="7402815" y="0"/>
                </a:lnTo>
                <a:cubicBezTo>
                  <a:pt x="7454075" y="0"/>
                  <a:pt x="7495629" y="41554"/>
                  <a:pt x="7495629" y="92814"/>
                </a:cubicBezTo>
                <a:lnTo>
                  <a:pt x="7495629" y="2506290"/>
                </a:lnTo>
                <a:cubicBezTo>
                  <a:pt x="7495629" y="2557549"/>
                  <a:pt x="7454075" y="2599103"/>
                  <a:pt x="7402815" y="2599103"/>
                </a:cubicBezTo>
                <a:lnTo>
                  <a:pt x="46413" y="2599103"/>
                </a:lnTo>
                <a:cubicBezTo>
                  <a:pt x="20780" y="2599103"/>
                  <a:pt x="0" y="2578324"/>
                  <a:pt x="0" y="2552691"/>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17" name="Shape 15"/>
          <p:cNvSpPr/>
          <p:nvPr/>
        </p:nvSpPr>
        <p:spPr>
          <a:xfrm>
            <a:off x="487332" y="5151794"/>
            <a:ext cx="46413" cy="2599103"/>
          </a:xfrm>
          <a:custGeom>
            <a:avLst/>
            <a:gdLst/>
            <a:ahLst/>
            <a:cxnLst/>
            <a:rect l="l" t="t" r="r" b="b"/>
            <a:pathLst>
              <a:path w="46413" h="2599103">
                <a:moveTo>
                  <a:pt x="46413" y="0"/>
                </a:moveTo>
                <a:lnTo>
                  <a:pt x="46413" y="0"/>
                </a:lnTo>
                <a:lnTo>
                  <a:pt x="46413" y="2599103"/>
                </a:lnTo>
                <a:lnTo>
                  <a:pt x="46413" y="2599103"/>
                </a:lnTo>
                <a:cubicBezTo>
                  <a:pt x="20780" y="2599103"/>
                  <a:pt x="0" y="2578324"/>
                  <a:pt x="0" y="2552691"/>
                </a:cubicBezTo>
                <a:lnTo>
                  <a:pt x="0" y="46413"/>
                </a:lnTo>
                <a:cubicBezTo>
                  <a:pt x="0" y="20797"/>
                  <a:pt x="20797" y="0"/>
                  <a:pt x="46413" y="0"/>
                </a:cubicBezTo>
                <a:close/>
              </a:path>
            </a:pathLst>
          </a:custGeom>
          <a:solidFill>
            <a:srgbClr val="718096"/>
          </a:solidFill>
          <a:ln/>
        </p:spPr>
        <p:txBody>
          <a:bodyPr/>
          <a:lstStyle/>
          <a:p>
            <a:endParaRPr lang="zh-CN" altLang="en-US"/>
          </a:p>
        </p:txBody>
      </p:sp>
      <p:sp>
        <p:nvSpPr>
          <p:cNvPr id="18" name="Text 16"/>
          <p:cNvSpPr/>
          <p:nvPr/>
        </p:nvSpPr>
        <p:spPr>
          <a:xfrm>
            <a:off x="696188" y="5337445"/>
            <a:ext cx="7217153" cy="324888"/>
          </a:xfrm>
          <a:prstGeom prst="rect">
            <a:avLst/>
          </a:prstGeom>
          <a:noFill/>
          <a:ln/>
        </p:spPr>
        <p:txBody>
          <a:bodyPr wrap="square" lIns="0" tIns="0" rIns="0" bIns="0" rtlCol="0" anchor="ctr"/>
          <a:lstStyle/>
          <a:p>
            <a:pPr>
              <a:lnSpc>
                <a:spcPct val="120000"/>
              </a:lnSpc>
            </a:pPr>
            <a:r>
              <a:rPr lang="en-US" sz="1827" b="1" dirty="0">
                <a:solidFill>
                  <a:srgbClr val="718096"/>
                </a:solidFill>
                <a:latin typeface="MiSans" pitchFamily="34" charset="0"/>
                <a:ea typeface="MiSans" pitchFamily="34" charset="-122"/>
                <a:cs typeface="MiSans" pitchFamily="34" charset="-120"/>
              </a:rPr>
              <a:t>性能与规模提升</a:t>
            </a:r>
            <a:endParaRPr lang="en-US" sz="1600" dirty="0"/>
          </a:p>
        </p:txBody>
      </p:sp>
      <p:sp>
        <p:nvSpPr>
          <p:cNvPr id="19" name="Shape 17"/>
          <p:cNvSpPr/>
          <p:nvPr/>
        </p:nvSpPr>
        <p:spPr>
          <a:xfrm>
            <a:off x="696188" y="5801570"/>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20" name="Text 18"/>
          <p:cNvSpPr/>
          <p:nvPr/>
        </p:nvSpPr>
        <p:spPr>
          <a:xfrm>
            <a:off x="835426" y="5940808"/>
            <a:ext cx="6915472" cy="278475"/>
          </a:xfrm>
          <a:prstGeom prst="rect">
            <a:avLst/>
          </a:prstGeom>
          <a:noFill/>
          <a:ln/>
        </p:spPr>
        <p:txBody>
          <a:bodyPr wrap="square" lIns="0" tIns="0" rIns="0" bIns="0" rtlCol="0" anchor="ctr"/>
          <a:lstStyle/>
          <a:p>
            <a:pPr>
              <a:lnSpc>
                <a:spcPct val="120000"/>
              </a:lnSpc>
            </a:pPr>
            <a:r>
              <a:rPr lang="en-US" sz="1462" b="1" dirty="0">
                <a:solidFill>
                  <a:srgbClr val="E2E8F0"/>
                </a:solidFill>
                <a:latin typeface="MiSans" pitchFamily="34" charset="0"/>
                <a:ea typeface="MiSans" pitchFamily="34" charset="-122"/>
                <a:cs typeface="MiSans" pitchFamily="34" charset="-120"/>
              </a:rPr>
              <a:t>百万级 Partition</a:t>
            </a:r>
            <a:endParaRPr lang="en-US" sz="1600" dirty="0"/>
          </a:p>
        </p:txBody>
      </p:sp>
      <p:sp>
        <p:nvSpPr>
          <p:cNvPr id="21" name="Text 19"/>
          <p:cNvSpPr/>
          <p:nvPr/>
        </p:nvSpPr>
        <p:spPr>
          <a:xfrm>
            <a:off x="835426" y="6265696"/>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支持更大规模集群，单集群可支持百万级 Partition</a:t>
            </a:r>
            <a:endParaRPr lang="en-US" sz="1600" dirty="0"/>
          </a:p>
        </p:txBody>
      </p:sp>
      <p:sp>
        <p:nvSpPr>
          <p:cNvPr id="22" name="Shape 20"/>
          <p:cNvSpPr/>
          <p:nvPr/>
        </p:nvSpPr>
        <p:spPr>
          <a:xfrm>
            <a:off x="696188" y="6729822"/>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23" name="Text 21"/>
          <p:cNvSpPr/>
          <p:nvPr/>
        </p:nvSpPr>
        <p:spPr>
          <a:xfrm>
            <a:off x="835426" y="6869059"/>
            <a:ext cx="6915472" cy="278475"/>
          </a:xfrm>
          <a:prstGeom prst="rect">
            <a:avLst/>
          </a:prstGeom>
          <a:noFill/>
          <a:ln/>
        </p:spPr>
        <p:txBody>
          <a:bodyPr wrap="square" lIns="0" tIns="0" rIns="0" bIns="0" rtlCol="0" anchor="ctr"/>
          <a:lstStyle/>
          <a:p>
            <a:pPr>
              <a:lnSpc>
                <a:spcPct val="120000"/>
              </a:lnSpc>
            </a:pPr>
            <a:r>
              <a:rPr lang="en-US" sz="1462" b="1" dirty="0">
                <a:solidFill>
                  <a:srgbClr val="E2E8F0"/>
                </a:solidFill>
                <a:latin typeface="MiSans" pitchFamily="34" charset="0"/>
                <a:ea typeface="MiSans" pitchFamily="34" charset="-122"/>
                <a:cs typeface="MiSans" pitchFamily="34" charset="-120"/>
              </a:rPr>
              <a:t>零拷贝优化</a:t>
            </a:r>
            <a:endParaRPr lang="en-US" sz="1600" dirty="0"/>
          </a:p>
        </p:txBody>
      </p:sp>
      <p:sp>
        <p:nvSpPr>
          <p:cNvPr id="24" name="Text 22"/>
          <p:cNvSpPr/>
          <p:nvPr/>
        </p:nvSpPr>
        <p:spPr>
          <a:xfrm>
            <a:off x="835426" y="7193947"/>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基于 sendfile 和 mmap 的持续优化，进一步降低 CPU 开销</a:t>
            </a:r>
            <a:endParaRPr lang="en-US" sz="1600" dirty="0"/>
          </a:p>
        </p:txBody>
      </p:sp>
      <p:sp>
        <p:nvSpPr>
          <p:cNvPr id="25" name="Shape 23"/>
          <p:cNvSpPr/>
          <p:nvPr/>
        </p:nvSpPr>
        <p:spPr>
          <a:xfrm>
            <a:off x="8289719" y="1485202"/>
            <a:ext cx="7495629" cy="3527355"/>
          </a:xfrm>
          <a:custGeom>
            <a:avLst/>
            <a:gdLst/>
            <a:ahLst/>
            <a:cxnLst/>
            <a:rect l="l" t="t" r="r" b="b"/>
            <a:pathLst>
              <a:path w="7495629" h="3527355">
                <a:moveTo>
                  <a:pt x="46413" y="0"/>
                </a:moveTo>
                <a:lnTo>
                  <a:pt x="7402789" y="0"/>
                </a:lnTo>
                <a:cubicBezTo>
                  <a:pt x="7454063" y="0"/>
                  <a:pt x="7495629" y="41566"/>
                  <a:pt x="7495629" y="92840"/>
                </a:cubicBezTo>
                <a:lnTo>
                  <a:pt x="7495629" y="3434515"/>
                </a:lnTo>
                <a:cubicBezTo>
                  <a:pt x="7495629" y="3485789"/>
                  <a:pt x="7454063" y="3527355"/>
                  <a:pt x="7402789" y="3527355"/>
                </a:cubicBezTo>
                <a:lnTo>
                  <a:pt x="46413" y="3527355"/>
                </a:lnTo>
                <a:cubicBezTo>
                  <a:pt x="20780" y="3527355"/>
                  <a:pt x="0" y="3506575"/>
                  <a:pt x="0" y="3480942"/>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26" name="Shape 24"/>
          <p:cNvSpPr/>
          <p:nvPr/>
        </p:nvSpPr>
        <p:spPr>
          <a:xfrm>
            <a:off x="8289719" y="1485202"/>
            <a:ext cx="46413" cy="3527355"/>
          </a:xfrm>
          <a:custGeom>
            <a:avLst/>
            <a:gdLst/>
            <a:ahLst/>
            <a:cxnLst/>
            <a:rect l="l" t="t" r="r" b="b"/>
            <a:pathLst>
              <a:path w="46413" h="3527355">
                <a:moveTo>
                  <a:pt x="46413" y="0"/>
                </a:moveTo>
                <a:lnTo>
                  <a:pt x="46413" y="0"/>
                </a:lnTo>
                <a:lnTo>
                  <a:pt x="46413" y="3527355"/>
                </a:lnTo>
                <a:lnTo>
                  <a:pt x="46413" y="3527355"/>
                </a:lnTo>
                <a:cubicBezTo>
                  <a:pt x="20780" y="3527355"/>
                  <a:pt x="0" y="3506575"/>
                  <a:pt x="0" y="3480942"/>
                </a:cubicBezTo>
                <a:lnTo>
                  <a:pt x="0" y="46413"/>
                </a:lnTo>
                <a:cubicBezTo>
                  <a:pt x="0" y="20797"/>
                  <a:pt x="20797" y="0"/>
                  <a:pt x="46413" y="0"/>
                </a:cubicBezTo>
                <a:close/>
              </a:path>
            </a:pathLst>
          </a:custGeom>
          <a:solidFill>
            <a:srgbClr val="D69E2E"/>
          </a:solidFill>
          <a:ln/>
        </p:spPr>
        <p:txBody>
          <a:bodyPr/>
          <a:lstStyle/>
          <a:p>
            <a:endParaRPr lang="zh-CN" altLang="en-US"/>
          </a:p>
        </p:txBody>
      </p:sp>
      <p:sp>
        <p:nvSpPr>
          <p:cNvPr id="27" name="Text 25"/>
          <p:cNvSpPr/>
          <p:nvPr/>
        </p:nvSpPr>
        <p:spPr>
          <a:xfrm>
            <a:off x="8498575" y="1670852"/>
            <a:ext cx="7217153" cy="324888"/>
          </a:xfrm>
          <a:prstGeom prst="rect">
            <a:avLst/>
          </a:prstGeom>
          <a:noFill/>
          <a:ln/>
        </p:spPr>
        <p:txBody>
          <a:bodyPr wrap="square" lIns="0" tIns="0" rIns="0" bIns="0" rtlCol="0" anchor="ctr"/>
          <a:lstStyle/>
          <a:p>
            <a:pPr>
              <a:lnSpc>
                <a:spcPct val="120000"/>
              </a:lnSpc>
            </a:pPr>
            <a:r>
              <a:rPr lang="en-US" sz="1827" b="1" dirty="0">
                <a:solidFill>
                  <a:srgbClr val="D69E2E"/>
                </a:solidFill>
                <a:latin typeface="MiSans" pitchFamily="34" charset="0"/>
                <a:ea typeface="MiSans" pitchFamily="34" charset="-122"/>
                <a:cs typeface="MiSans" pitchFamily="34" charset="-120"/>
              </a:rPr>
              <a:t>架构与协议演进</a:t>
            </a:r>
            <a:endParaRPr lang="en-US" sz="1600" dirty="0"/>
          </a:p>
        </p:txBody>
      </p:sp>
      <p:sp>
        <p:nvSpPr>
          <p:cNvPr id="28" name="Shape 26"/>
          <p:cNvSpPr/>
          <p:nvPr/>
        </p:nvSpPr>
        <p:spPr>
          <a:xfrm>
            <a:off x="8498575" y="2134978"/>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29" name="Text 27"/>
          <p:cNvSpPr/>
          <p:nvPr/>
        </p:nvSpPr>
        <p:spPr>
          <a:xfrm>
            <a:off x="8637813" y="2274216"/>
            <a:ext cx="6915472" cy="278475"/>
          </a:xfrm>
          <a:prstGeom prst="rect">
            <a:avLst/>
          </a:prstGeom>
          <a:noFill/>
          <a:ln/>
        </p:spPr>
        <p:txBody>
          <a:bodyPr wrap="square" lIns="0" tIns="0" rIns="0" bIns="0" rtlCol="0" anchor="ctr"/>
          <a:lstStyle/>
          <a:p>
            <a:pPr>
              <a:lnSpc>
                <a:spcPct val="120000"/>
              </a:lnSpc>
            </a:pPr>
            <a:r>
              <a:rPr lang="en-US" sz="1462" b="1" dirty="0">
                <a:solidFill>
                  <a:srgbClr val="D69E2E"/>
                </a:solidFill>
                <a:latin typeface="MiSans" pitchFamily="34" charset="0"/>
                <a:ea typeface="MiSans" pitchFamily="34" charset="-122"/>
                <a:cs typeface="MiSans" pitchFamily="34" charset="-120"/>
              </a:rPr>
              <a:t>流处理语义增强</a:t>
            </a:r>
            <a:endParaRPr lang="en-US" sz="1600" dirty="0"/>
          </a:p>
        </p:txBody>
      </p:sp>
      <p:sp>
        <p:nvSpPr>
          <p:cNvPr id="30" name="Text 28"/>
          <p:cNvSpPr/>
          <p:nvPr/>
        </p:nvSpPr>
        <p:spPr>
          <a:xfrm>
            <a:off x="8637813" y="2599103"/>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增强 Kafka Streams 功能，支持更复杂的流处理场景</a:t>
            </a:r>
            <a:endParaRPr lang="en-US" sz="1600" dirty="0"/>
          </a:p>
        </p:txBody>
      </p:sp>
      <p:sp>
        <p:nvSpPr>
          <p:cNvPr id="31" name="Shape 29"/>
          <p:cNvSpPr/>
          <p:nvPr/>
        </p:nvSpPr>
        <p:spPr>
          <a:xfrm>
            <a:off x="8498575" y="3063229"/>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32" name="Text 30"/>
          <p:cNvSpPr/>
          <p:nvPr/>
        </p:nvSpPr>
        <p:spPr>
          <a:xfrm>
            <a:off x="8637813" y="3202467"/>
            <a:ext cx="6915472" cy="278475"/>
          </a:xfrm>
          <a:prstGeom prst="rect">
            <a:avLst/>
          </a:prstGeom>
          <a:noFill/>
          <a:ln/>
        </p:spPr>
        <p:txBody>
          <a:bodyPr wrap="square" lIns="0" tIns="0" rIns="0" bIns="0" rtlCol="0" anchor="ctr"/>
          <a:lstStyle/>
          <a:p>
            <a:pPr>
              <a:lnSpc>
                <a:spcPct val="120000"/>
              </a:lnSpc>
            </a:pPr>
            <a:r>
              <a:rPr lang="en-US" sz="1462" b="1" dirty="0">
                <a:solidFill>
                  <a:srgbClr val="718096"/>
                </a:solidFill>
                <a:latin typeface="MiSans" pitchFamily="34" charset="0"/>
                <a:ea typeface="MiSans" pitchFamily="34" charset="-122"/>
                <a:cs typeface="MiSans" pitchFamily="34" charset="-120"/>
              </a:rPr>
              <a:t>Raft 协议优化</a:t>
            </a:r>
            <a:endParaRPr lang="en-US" sz="1600" dirty="0"/>
          </a:p>
        </p:txBody>
      </p:sp>
      <p:sp>
        <p:nvSpPr>
          <p:cNvPr id="33" name="Text 31"/>
          <p:cNvSpPr/>
          <p:nvPr/>
        </p:nvSpPr>
        <p:spPr>
          <a:xfrm>
            <a:off x="8637813" y="3527355"/>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改进元数据复制算法，降低延迟，提高吞吐量</a:t>
            </a:r>
            <a:endParaRPr lang="en-US" sz="1600" dirty="0"/>
          </a:p>
        </p:txBody>
      </p:sp>
      <p:sp>
        <p:nvSpPr>
          <p:cNvPr id="34" name="Shape 32"/>
          <p:cNvSpPr/>
          <p:nvPr/>
        </p:nvSpPr>
        <p:spPr>
          <a:xfrm>
            <a:off x="8498575" y="3991480"/>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35" name="Text 33"/>
          <p:cNvSpPr/>
          <p:nvPr/>
        </p:nvSpPr>
        <p:spPr>
          <a:xfrm>
            <a:off x="8637813" y="4130718"/>
            <a:ext cx="6915472" cy="278475"/>
          </a:xfrm>
          <a:prstGeom prst="rect">
            <a:avLst/>
          </a:prstGeom>
          <a:noFill/>
          <a:ln/>
        </p:spPr>
        <p:txBody>
          <a:bodyPr wrap="square" lIns="0" tIns="0" rIns="0" bIns="0" rtlCol="0" anchor="ctr"/>
          <a:lstStyle/>
          <a:p>
            <a:pPr>
              <a:lnSpc>
                <a:spcPct val="120000"/>
              </a:lnSpc>
            </a:pPr>
            <a:r>
              <a:rPr lang="en-US" sz="1462" b="1" dirty="0">
                <a:solidFill>
                  <a:srgbClr val="D69E2E"/>
                </a:solidFill>
                <a:latin typeface="MiSans" pitchFamily="34" charset="0"/>
                <a:ea typeface="MiSans" pitchFamily="34" charset="-122"/>
                <a:cs typeface="MiSans" pitchFamily="34" charset="-120"/>
              </a:rPr>
              <a:t>网络协议改进</a:t>
            </a:r>
            <a:endParaRPr lang="en-US" sz="1600" dirty="0"/>
          </a:p>
        </p:txBody>
      </p:sp>
      <p:sp>
        <p:nvSpPr>
          <p:cNvPr id="36" name="Text 34"/>
          <p:cNvSpPr/>
          <p:nvPr/>
        </p:nvSpPr>
        <p:spPr>
          <a:xfrm>
            <a:off x="8637813" y="4455606"/>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支持更高效的网络传输，减少序列化开销</a:t>
            </a:r>
            <a:endParaRPr lang="en-US" sz="1600" dirty="0"/>
          </a:p>
        </p:txBody>
      </p:sp>
      <p:sp>
        <p:nvSpPr>
          <p:cNvPr id="37" name="Shape 35"/>
          <p:cNvSpPr/>
          <p:nvPr/>
        </p:nvSpPr>
        <p:spPr>
          <a:xfrm>
            <a:off x="8289719" y="5151794"/>
            <a:ext cx="7495629" cy="3527355"/>
          </a:xfrm>
          <a:custGeom>
            <a:avLst/>
            <a:gdLst/>
            <a:ahLst/>
            <a:cxnLst/>
            <a:rect l="l" t="t" r="r" b="b"/>
            <a:pathLst>
              <a:path w="7495629" h="3527355">
                <a:moveTo>
                  <a:pt x="46413" y="0"/>
                </a:moveTo>
                <a:lnTo>
                  <a:pt x="7402789" y="0"/>
                </a:lnTo>
                <a:cubicBezTo>
                  <a:pt x="7454063" y="0"/>
                  <a:pt x="7495629" y="41566"/>
                  <a:pt x="7495629" y="92840"/>
                </a:cubicBezTo>
                <a:lnTo>
                  <a:pt x="7495629" y="3434515"/>
                </a:lnTo>
                <a:cubicBezTo>
                  <a:pt x="7495629" y="3485789"/>
                  <a:pt x="7454063" y="3527355"/>
                  <a:pt x="7402789" y="3527355"/>
                </a:cubicBezTo>
                <a:lnTo>
                  <a:pt x="46413" y="3527355"/>
                </a:lnTo>
                <a:cubicBezTo>
                  <a:pt x="20780" y="3527355"/>
                  <a:pt x="0" y="3506575"/>
                  <a:pt x="0" y="3480942"/>
                </a:cubicBezTo>
                <a:lnTo>
                  <a:pt x="0" y="46413"/>
                </a:lnTo>
                <a:cubicBezTo>
                  <a:pt x="0" y="20797"/>
                  <a:pt x="20797" y="0"/>
                  <a:pt x="46413" y="0"/>
                </a:cubicBezTo>
                <a:close/>
              </a:path>
            </a:pathLst>
          </a:custGeom>
          <a:solidFill>
            <a:srgbClr val="4A5568">
              <a:alpha val="20000"/>
            </a:srgbClr>
          </a:solidFill>
          <a:ln/>
        </p:spPr>
        <p:txBody>
          <a:bodyPr/>
          <a:lstStyle/>
          <a:p>
            <a:endParaRPr lang="zh-CN" altLang="en-US"/>
          </a:p>
        </p:txBody>
      </p:sp>
      <p:sp>
        <p:nvSpPr>
          <p:cNvPr id="38" name="Shape 36"/>
          <p:cNvSpPr/>
          <p:nvPr/>
        </p:nvSpPr>
        <p:spPr>
          <a:xfrm>
            <a:off x="8289719" y="5151794"/>
            <a:ext cx="46413" cy="3527355"/>
          </a:xfrm>
          <a:custGeom>
            <a:avLst/>
            <a:gdLst/>
            <a:ahLst/>
            <a:cxnLst/>
            <a:rect l="l" t="t" r="r" b="b"/>
            <a:pathLst>
              <a:path w="46413" h="3527355">
                <a:moveTo>
                  <a:pt x="46413" y="0"/>
                </a:moveTo>
                <a:lnTo>
                  <a:pt x="46413" y="0"/>
                </a:lnTo>
                <a:lnTo>
                  <a:pt x="46413" y="3527355"/>
                </a:lnTo>
                <a:lnTo>
                  <a:pt x="46413" y="3527355"/>
                </a:lnTo>
                <a:cubicBezTo>
                  <a:pt x="20780" y="3527355"/>
                  <a:pt x="0" y="3506575"/>
                  <a:pt x="0" y="3480942"/>
                </a:cubicBezTo>
                <a:lnTo>
                  <a:pt x="0" y="46413"/>
                </a:lnTo>
                <a:cubicBezTo>
                  <a:pt x="0" y="20797"/>
                  <a:pt x="20797" y="0"/>
                  <a:pt x="46413" y="0"/>
                </a:cubicBezTo>
                <a:close/>
              </a:path>
            </a:pathLst>
          </a:custGeom>
          <a:solidFill>
            <a:srgbClr val="718096"/>
          </a:solidFill>
          <a:ln/>
        </p:spPr>
        <p:txBody>
          <a:bodyPr/>
          <a:lstStyle/>
          <a:p>
            <a:endParaRPr lang="zh-CN" altLang="en-US"/>
          </a:p>
        </p:txBody>
      </p:sp>
      <p:sp>
        <p:nvSpPr>
          <p:cNvPr id="39" name="Text 37"/>
          <p:cNvSpPr/>
          <p:nvPr/>
        </p:nvSpPr>
        <p:spPr>
          <a:xfrm>
            <a:off x="8498575" y="5337445"/>
            <a:ext cx="7217153" cy="324888"/>
          </a:xfrm>
          <a:prstGeom prst="rect">
            <a:avLst/>
          </a:prstGeom>
          <a:noFill/>
          <a:ln/>
        </p:spPr>
        <p:txBody>
          <a:bodyPr wrap="square" lIns="0" tIns="0" rIns="0" bIns="0" rtlCol="0" anchor="ctr"/>
          <a:lstStyle/>
          <a:p>
            <a:pPr>
              <a:lnSpc>
                <a:spcPct val="120000"/>
              </a:lnSpc>
            </a:pPr>
            <a:r>
              <a:rPr lang="en-US" sz="1827" b="1" dirty="0">
                <a:solidFill>
                  <a:srgbClr val="718096"/>
                </a:solidFill>
                <a:latin typeface="MiSans" pitchFamily="34" charset="0"/>
                <a:ea typeface="MiSans" pitchFamily="34" charset="-122"/>
                <a:cs typeface="MiSans" pitchFamily="34" charset="-120"/>
              </a:rPr>
              <a:t>架构范式演进</a:t>
            </a:r>
            <a:endParaRPr lang="en-US" sz="1600" dirty="0"/>
          </a:p>
        </p:txBody>
      </p:sp>
      <p:sp>
        <p:nvSpPr>
          <p:cNvPr id="40" name="Shape 38"/>
          <p:cNvSpPr/>
          <p:nvPr/>
        </p:nvSpPr>
        <p:spPr>
          <a:xfrm>
            <a:off x="8498575" y="5801570"/>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41" name="Text 39"/>
          <p:cNvSpPr/>
          <p:nvPr/>
        </p:nvSpPr>
        <p:spPr>
          <a:xfrm>
            <a:off x="8637813" y="5940808"/>
            <a:ext cx="6915472" cy="278475"/>
          </a:xfrm>
          <a:prstGeom prst="rect">
            <a:avLst/>
          </a:prstGeom>
          <a:noFill/>
          <a:ln/>
        </p:spPr>
        <p:txBody>
          <a:bodyPr wrap="square" lIns="0" tIns="0" rIns="0" bIns="0" rtlCol="0" anchor="ctr"/>
          <a:lstStyle/>
          <a:p>
            <a:pPr>
              <a:lnSpc>
                <a:spcPct val="120000"/>
              </a:lnSpc>
            </a:pPr>
            <a:r>
              <a:rPr lang="en-US" sz="1462" b="1" dirty="0">
                <a:solidFill>
                  <a:srgbClr val="718096"/>
                </a:solidFill>
                <a:latin typeface="MiSans" pitchFamily="34" charset="0"/>
                <a:ea typeface="MiSans" pitchFamily="34" charset="-122"/>
                <a:cs typeface="MiSans" pitchFamily="34" charset="-120"/>
              </a:rPr>
              <a:t>云原生架构设计</a:t>
            </a:r>
            <a:endParaRPr lang="en-US" sz="1600" dirty="0"/>
          </a:p>
        </p:txBody>
      </p:sp>
      <p:sp>
        <p:nvSpPr>
          <p:cNvPr id="42" name="Text 40"/>
          <p:cNvSpPr/>
          <p:nvPr/>
        </p:nvSpPr>
        <p:spPr>
          <a:xfrm>
            <a:off x="8637813" y="6265696"/>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Kubernetes 原生支持，Operator 模式，自动运维</a:t>
            </a:r>
            <a:endParaRPr lang="en-US" sz="1600" dirty="0"/>
          </a:p>
        </p:txBody>
      </p:sp>
      <p:sp>
        <p:nvSpPr>
          <p:cNvPr id="43" name="Shape 41"/>
          <p:cNvSpPr/>
          <p:nvPr/>
        </p:nvSpPr>
        <p:spPr>
          <a:xfrm>
            <a:off x="8498575" y="6729822"/>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44" name="Text 42"/>
          <p:cNvSpPr/>
          <p:nvPr/>
        </p:nvSpPr>
        <p:spPr>
          <a:xfrm>
            <a:off x="8637813" y="6869059"/>
            <a:ext cx="6915472" cy="278475"/>
          </a:xfrm>
          <a:prstGeom prst="rect">
            <a:avLst/>
          </a:prstGeom>
          <a:noFill/>
          <a:ln/>
        </p:spPr>
        <p:txBody>
          <a:bodyPr wrap="square" lIns="0" tIns="0" rIns="0" bIns="0" rtlCol="0" anchor="ctr"/>
          <a:lstStyle/>
          <a:p>
            <a:pPr>
              <a:lnSpc>
                <a:spcPct val="120000"/>
              </a:lnSpc>
            </a:pPr>
            <a:r>
              <a:rPr lang="en-US" sz="1462" b="1" dirty="0">
                <a:solidFill>
                  <a:srgbClr val="718096"/>
                </a:solidFill>
                <a:latin typeface="MiSans" pitchFamily="34" charset="0"/>
                <a:ea typeface="MiSans" pitchFamily="34" charset="-122"/>
                <a:cs typeface="MiSans" pitchFamily="34" charset="-120"/>
              </a:rPr>
              <a:t>流批一体架构</a:t>
            </a:r>
            <a:endParaRPr lang="en-US" sz="1600" dirty="0"/>
          </a:p>
        </p:txBody>
      </p:sp>
      <p:sp>
        <p:nvSpPr>
          <p:cNvPr id="45" name="Text 43"/>
          <p:cNvSpPr/>
          <p:nvPr/>
        </p:nvSpPr>
        <p:spPr>
          <a:xfrm>
            <a:off x="8637813" y="7193947"/>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统一流处理和批处理，简化数据处理架构</a:t>
            </a:r>
            <a:endParaRPr lang="en-US" sz="1600" dirty="0"/>
          </a:p>
        </p:txBody>
      </p:sp>
      <p:sp>
        <p:nvSpPr>
          <p:cNvPr id="46" name="Shape 44"/>
          <p:cNvSpPr/>
          <p:nvPr/>
        </p:nvSpPr>
        <p:spPr>
          <a:xfrm>
            <a:off x="8498575" y="7658073"/>
            <a:ext cx="7101122" cy="835426"/>
          </a:xfrm>
          <a:custGeom>
            <a:avLst/>
            <a:gdLst/>
            <a:ahLst/>
            <a:cxnLst/>
            <a:rect l="l" t="t" r="r" b="b"/>
            <a:pathLst>
              <a:path w="7101122" h="835426">
                <a:moveTo>
                  <a:pt x="46416" y="0"/>
                </a:moveTo>
                <a:lnTo>
                  <a:pt x="7054706" y="0"/>
                </a:lnTo>
                <a:cubicBezTo>
                  <a:pt x="7080341" y="0"/>
                  <a:pt x="7101122" y="20781"/>
                  <a:pt x="7101122" y="46416"/>
                </a:cubicBezTo>
                <a:lnTo>
                  <a:pt x="7101122" y="789010"/>
                </a:lnTo>
                <a:cubicBezTo>
                  <a:pt x="7101122" y="814645"/>
                  <a:pt x="7080341" y="835426"/>
                  <a:pt x="7054706" y="835426"/>
                </a:cubicBezTo>
                <a:lnTo>
                  <a:pt x="46416" y="835426"/>
                </a:lnTo>
                <a:cubicBezTo>
                  <a:pt x="20781" y="835426"/>
                  <a:pt x="0" y="814645"/>
                  <a:pt x="0" y="789010"/>
                </a:cubicBezTo>
                <a:lnTo>
                  <a:pt x="0" y="46416"/>
                </a:lnTo>
                <a:cubicBezTo>
                  <a:pt x="0" y="20798"/>
                  <a:pt x="20798" y="0"/>
                  <a:pt x="46416" y="0"/>
                </a:cubicBezTo>
                <a:close/>
              </a:path>
            </a:pathLst>
          </a:custGeom>
          <a:solidFill>
            <a:srgbClr val="1A1D21">
              <a:alpha val="60000"/>
            </a:srgbClr>
          </a:solidFill>
          <a:ln/>
        </p:spPr>
        <p:txBody>
          <a:bodyPr/>
          <a:lstStyle/>
          <a:p>
            <a:endParaRPr lang="zh-CN" altLang="en-US"/>
          </a:p>
        </p:txBody>
      </p:sp>
      <p:sp>
        <p:nvSpPr>
          <p:cNvPr id="47" name="Text 45"/>
          <p:cNvSpPr/>
          <p:nvPr/>
        </p:nvSpPr>
        <p:spPr>
          <a:xfrm>
            <a:off x="8637813" y="7797310"/>
            <a:ext cx="6915472" cy="278475"/>
          </a:xfrm>
          <a:prstGeom prst="rect">
            <a:avLst/>
          </a:prstGeom>
          <a:noFill/>
          <a:ln/>
        </p:spPr>
        <p:txBody>
          <a:bodyPr wrap="square" lIns="0" tIns="0" rIns="0" bIns="0" rtlCol="0" anchor="ctr"/>
          <a:lstStyle/>
          <a:p>
            <a:pPr>
              <a:lnSpc>
                <a:spcPct val="120000"/>
              </a:lnSpc>
            </a:pPr>
            <a:r>
              <a:rPr lang="en-US" sz="1462" b="1" dirty="0">
                <a:solidFill>
                  <a:srgbClr val="718096"/>
                </a:solidFill>
                <a:latin typeface="MiSans" pitchFamily="34" charset="0"/>
                <a:ea typeface="MiSans" pitchFamily="34" charset="-122"/>
                <a:cs typeface="MiSans" pitchFamily="34" charset="-120"/>
              </a:rPr>
              <a:t>边缘计算架构</a:t>
            </a:r>
            <a:endParaRPr lang="en-US" sz="1600" dirty="0"/>
          </a:p>
        </p:txBody>
      </p:sp>
      <p:sp>
        <p:nvSpPr>
          <p:cNvPr id="48" name="Text 46"/>
          <p:cNvSpPr/>
          <p:nvPr/>
        </p:nvSpPr>
        <p:spPr>
          <a:xfrm>
            <a:off x="8637813" y="8122198"/>
            <a:ext cx="6903869" cy="232063"/>
          </a:xfrm>
          <a:prstGeom prst="rect">
            <a:avLst/>
          </a:prstGeom>
          <a:noFill/>
          <a:ln/>
        </p:spPr>
        <p:txBody>
          <a:bodyPr wrap="square" lIns="0" tIns="0" rIns="0" bIns="0" rtlCol="0" anchor="ctr"/>
          <a:lstStyle/>
          <a:p>
            <a:pPr>
              <a:lnSpc>
                <a:spcPct val="120000"/>
              </a:lnSpc>
            </a:pPr>
            <a:r>
              <a:rPr lang="en-US" sz="1279" dirty="0">
                <a:solidFill>
                  <a:srgbClr val="E2E8F0">
                    <a:alpha val="80000"/>
                  </a:srgbClr>
                </a:solidFill>
                <a:latin typeface="MiSans" pitchFamily="34" charset="0"/>
                <a:ea typeface="MiSans" pitchFamily="34" charset="-122"/>
                <a:cs typeface="MiSans" pitchFamily="34" charset="-120"/>
              </a:rPr>
              <a:t>轻量级 Kafka 部署，支持边缘场景的数据采集和处理</a:t>
            </a:r>
            <a:endParaRPr lang="en-US" sz="16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4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508000" y="508000"/>
            <a:ext cx="15341600" cy="304800"/>
          </a:xfrm>
          <a:prstGeom prst="rect">
            <a:avLst/>
          </a:prstGeom>
          <a:noFill/>
          <a:ln/>
        </p:spPr>
        <p:txBody>
          <a:bodyPr wrap="square" lIns="0" tIns="0" rIns="0" bIns="0" rtlCol="0" anchor="ctr"/>
          <a:lstStyle/>
          <a:p>
            <a:pPr>
              <a:lnSpc>
                <a:spcPct val="130000"/>
              </a:lnSpc>
            </a:pPr>
            <a:r>
              <a:rPr lang="en-US" altLang="zh-CN" sz="1600" b="1" kern="0" spc="80" dirty="0">
                <a:solidFill>
                  <a:srgbClr val="D69E2E"/>
                </a:solidFill>
                <a:latin typeface="MiSans" pitchFamily="34" charset="0"/>
                <a:ea typeface="MiSans" pitchFamily="34" charset="-122"/>
                <a:cs typeface="MiSans" pitchFamily="34" charset="-120"/>
              </a:rPr>
              <a:t>4</a:t>
            </a:r>
            <a:r>
              <a:rPr lang="en-US" sz="1600" b="1" kern="0" spc="80" dirty="0">
                <a:solidFill>
                  <a:srgbClr val="D69E2E"/>
                </a:solidFill>
                <a:latin typeface="MiSans" pitchFamily="34" charset="0"/>
                <a:ea typeface="MiSans" pitchFamily="34" charset="-122"/>
                <a:cs typeface="MiSans" pitchFamily="34" charset="-120"/>
              </a:rPr>
              <a:t>.2.2 设计哲学</a:t>
            </a:r>
            <a:endParaRPr lang="en-US" sz="1600" dirty="0"/>
          </a:p>
        </p:txBody>
      </p:sp>
      <p:sp>
        <p:nvSpPr>
          <p:cNvPr id="3" name="Text 1"/>
          <p:cNvSpPr/>
          <p:nvPr/>
        </p:nvSpPr>
        <p:spPr>
          <a:xfrm>
            <a:off x="508000" y="914400"/>
            <a:ext cx="15468600" cy="508000"/>
          </a:xfrm>
          <a:prstGeom prst="rect">
            <a:avLst/>
          </a:prstGeom>
          <a:noFill/>
          <a:ln/>
        </p:spPr>
        <p:txBody>
          <a:bodyPr wrap="square" lIns="0" tIns="0" rIns="0" bIns="0" rtlCol="0" anchor="ctr"/>
          <a:lstStyle/>
          <a:p>
            <a:pPr>
              <a:lnSpc>
                <a:spcPct val="90000"/>
              </a:lnSpc>
            </a:pPr>
            <a:r>
              <a:rPr lang="en-US" sz="3600" b="1" dirty="0">
                <a:solidFill>
                  <a:srgbClr val="E2E8F0"/>
                </a:solidFill>
                <a:latin typeface="MiSans" pitchFamily="34" charset="0"/>
                <a:ea typeface="MiSans" pitchFamily="34" charset="-122"/>
                <a:cs typeface="MiSans" pitchFamily="34" charset="-120"/>
              </a:rPr>
              <a:t>Kafka 核心设计理念总结</a:t>
            </a:r>
            <a:endParaRPr lang="en-US" sz="1600" dirty="0"/>
          </a:p>
        </p:txBody>
      </p:sp>
      <p:sp>
        <p:nvSpPr>
          <p:cNvPr id="4" name="Shape 2"/>
          <p:cNvSpPr/>
          <p:nvPr/>
        </p:nvSpPr>
        <p:spPr>
          <a:xfrm>
            <a:off x="533400" y="16256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5" name="Shape 3"/>
          <p:cNvSpPr/>
          <p:nvPr/>
        </p:nvSpPr>
        <p:spPr>
          <a:xfrm>
            <a:off x="533400" y="16256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6" name="Text 4"/>
          <p:cNvSpPr/>
          <p:nvPr/>
        </p:nvSpPr>
        <p:spPr>
          <a:xfrm>
            <a:off x="7620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简单性优先</a:t>
            </a:r>
            <a:endParaRPr lang="en-US" sz="1600" dirty="0"/>
          </a:p>
        </p:txBody>
      </p:sp>
      <p:sp>
        <p:nvSpPr>
          <p:cNvPr id="7" name="Shape 5"/>
          <p:cNvSpPr/>
          <p:nvPr/>
        </p:nvSpPr>
        <p:spPr>
          <a:xfrm>
            <a:off x="798513" y="23876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D69E2E"/>
          </a:solidFill>
          <a:ln/>
        </p:spPr>
        <p:txBody>
          <a:bodyPr/>
          <a:lstStyle/>
          <a:p>
            <a:endParaRPr lang="zh-CN" altLang="en-US"/>
          </a:p>
        </p:txBody>
      </p:sp>
      <p:sp>
        <p:nvSpPr>
          <p:cNvPr id="8" name="Text 6"/>
          <p:cNvSpPr/>
          <p:nvPr/>
        </p:nvSpPr>
        <p:spPr>
          <a:xfrm>
            <a:off x="1085850" y="2336800"/>
            <a:ext cx="42545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简洁 API 设计:</a:t>
            </a:r>
            <a:r>
              <a:rPr lang="en-US" sz="1400" dirty="0">
                <a:solidFill>
                  <a:srgbClr val="E2E8F0">
                    <a:alpha val="80000"/>
                  </a:srgbClr>
                </a:solidFill>
                <a:latin typeface="MiSans" pitchFamily="34" charset="0"/>
                <a:ea typeface="MiSans" pitchFamily="34" charset="-122"/>
                <a:cs typeface="MiSans" pitchFamily="34" charset="-120"/>
              </a:rPr>
              <a:t> 生产者、消费者、管理员三个核心 API</a:t>
            </a:r>
            <a:endParaRPr lang="en-US" sz="1600" dirty="0"/>
          </a:p>
        </p:txBody>
      </p:sp>
      <p:sp>
        <p:nvSpPr>
          <p:cNvPr id="9" name="Shape 7"/>
          <p:cNvSpPr/>
          <p:nvPr/>
        </p:nvSpPr>
        <p:spPr>
          <a:xfrm>
            <a:off x="798513" y="27432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D69E2E"/>
          </a:solidFill>
          <a:ln/>
        </p:spPr>
        <p:txBody>
          <a:bodyPr/>
          <a:lstStyle/>
          <a:p>
            <a:endParaRPr lang="zh-CN" altLang="en-US"/>
          </a:p>
        </p:txBody>
      </p:sp>
      <p:sp>
        <p:nvSpPr>
          <p:cNvPr id="10" name="Text 8"/>
          <p:cNvSpPr/>
          <p:nvPr/>
        </p:nvSpPr>
        <p:spPr>
          <a:xfrm>
            <a:off x="1085850" y="2692400"/>
            <a:ext cx="43180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明确责任划分:</a:t>
            </a:r>
            <a:r>
              <a:rPr lang="en-US" sz="1400" dirty="0">
                <a:solidFill>
                  <a:srgbClr val="E2E8F0">
                    <a:alpha val="80000"/>
                  </a:srgbClr>
                </a:solidFill>
                <a:latin typeface="MiSans" pitchFamily="34" charset="0"/>
                <a:ea typeface="MiSans" pitchFamily="34" charset="-122"/>
                <a:cs typeface="MiSans" pitchFamily="34" charset="-120"/>
              </a:rPr>
              <a:t> Broker 负责存储，Client 负责消费逻辑</a:t>
            </a:r>
            <a:endParaRPr lang="en-US" sz="1600" dirty="0"/>
          </a:p>
        </p:txBody>
      </p:sp>
      <p:sp>
        <p:nvSpPr>
          <p:cNvPr id="11" name="Shape 9"/>
          <p:cNvSpPr/>
          <p:nvPr/>
        </p:nvSpPr>
        <p:spPr>
          <a:xfrm>
            <a:off x="798513" y="3098800"/>
            <a:ext cx="155575" cy="177800"/>
          </a:xfrm>
          <a:custGeom>
            <a:avLst/>
            <a:gdLst/>
            <a:ahLst/>
            <a:cxnLst/>
            <a:rect l="l" t="t" r="r" b="b"/>
            <a:pathLst>
              <a:path w="155575" h="177800">
                <a:moveTo>
                  <a:pt x="150991" y="24343"/>
                </a:moveTo>
                <a:cubicBezTo>
                  <a:pt x="155957" y="27955"/>
                  <a:pt x="157068" y="34900"/>
                  <a:pt x="153457" y="39866"/>
                </a:cubicBezTo>
                <a:lnTo>
                  <a:pt x="64557" y="162104"/>
                </a:lnTo>
                <a:cubicBezTo>
                  <a:pt x="62647" y="164743"/>
                  <a:pt x="59695" y="166375"/>
                  <a:pt x="56431" y="166653"/>
                </a:cubicBezTo>
                <a:cubicBezTo>
                  <a:pt x="53166" y="166931"/>
                  <a:pt x="50006" y="165715"/>
                  <a:pt x="47714" y="163423"/>
                </a:cubicBezTo>
                <a:lnTo>
                  <a:pt x="3264" y="118973"/>
                </a:lnTo>
                <a:cubicBezTo>
                  <a:pt x="-1077" y="114632"/>
                  <a:pt x="-1077" y="107583"/>
                  <a:pt x="3264" y="103242"/>
                </a:cubicBezTo>
                <a:cubicBezTo>
                  <a:pt x="7605" y="98901"/>
                  <a:pt x="14655" y="98901"/>
                  <a:pt x="18995" y="103242"/>
                </a:cubicBezTo>
                <a:lnTo>
                  <a:pt x="54243" y="138490"/>
                </a:lnTo>
                <a:lnTo>
                  <a:pt x="135503" y="26774"/>
                </a:lnTo>
                <a:cubicBezTo>
                  <a:pt x="139115" y="21808"/>
                  <a:pt x="146060" y="20697"/>
                  <a:pt x="151026" y="24309"/>
                </a:cubicBezTo>
                <a:close/>
              </a:path>
            </a:pathLst>
          </a:custGeom>
          <a:solidFill>
            <a:srgbClr val="D69E2E"/>
          </a:solidFill>
          <a:ln/>
        </p:spPr>
        <p:txBody>
          <a:bodyPr/>
          <a:lstStyle/>
          <a:p>
            <a:endParaRPr lang="zh-CN" altLang="en-US"/>
          </a:p>
        </p:txBody>
      </p:sp>
      <p:sp>
        <p:nvSpPr>
          <p:cNvPr id="12" name="Text 10"/>
          <p:cNvSpPr/>
          <p:nvPr/>
        </p:nvSpPr>
        <p:spPr>
          <a:xfrm>
            <a:off x="1085850" y="3048000"/>
            <a:ext cx="3797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最小化依赖:</a:t>
            </a:r>
            <a:r>
              <a:rPr lang="en-US" sz="1400" dirty="0">
                <a:solidFill>
                  <a:srgbClr val="E2E8F0">
                    <a:alpha val="80000"/>
                  </a:srgbClr>
                </a:solidFill>
                <a:latin typeface="MiSans" pitchFamily="34" charset="0"/>
                <a:ea typeface="MiSans" pitchFamily="34" charset="-122"/>
                <a:cs typeface="MiSans" pitchFamily="34" charset="-120"/>
              </a:rPr>
              <a:t> 去除 ZooKeeper，内置元数据管理</a:t>
            </a:r>
            <a:endParaRPr lang="en-US" sz="1600" dirty="0"/>
          </a:p>
        </p:txBody>
      </p:sp>
      <p:sp>
        <p:nvSpPr>
          <p:cNvPr id="13" name="Shape 11"/>
          <p:cNvSpPr/>
          <p:nvPr/>
        </p:nvSpPr>
        <p:spPr>
          <a:xfrm>
            <a:off x="533400" y="36576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14" name="Shape 12"/>
          <p:cNvSpPr/>
          <p:nvPr/>
        </p:nvSpPr>
        <p:spPr>
          <a:xfrm>
            <a:off x="533400" y="36576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15" name="Text 13"/>
          <p:cNvSpPr/>
          <p:nvPr/>
        </p:nvSpPr>
        <p:spPr>
          <a:xfrm>
            <a:off x="762000" y="386080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性能驱动</a:t>
            </a:r>
            <a:endParaRPr lang="en-US" sz="1600" dirty="0"/>
          </a:p>
        </p:txBody>
      </p:sp>
      <p:sp>
        <p:nvSpPr>
          <p:cNvPr id="16" name="Shape 14"/>
          <p:cNvSpPr/>
          <p:nvPr/>
        </p:nvSpPr>
        <p:spPr>
          <a:xfrm>
            <a:off x="798513" y="4419600"/>
            <a:ext cx="155575" cy="177800"/>
          </a:xfrm>
          <a:custGeom>
            <a:avLst/>
            <a:gdLst/>
            <a:ahLst/>
            <a:cxnLst/>
            <a:rect l="l" t="t" r="r" b="b"/>
            <a:pathLst>
              <a:path w="155575" h="177800">
                <a:moveTo>
                  <a:pt x="117654" y="-3438"/>
                </a:moveTo>
                <a:cubicBezTo>
                  <a:pt x="121786" y="-451"/>
                  <a:pt x="123314" y="4966"/>
                  <a:pt x="121439" y="9689"/>
                </a:cubicBezTo>
                <a:lnTo>
                  <a:pt x="94213" y="77788"/>
                </a:lnTo>
                <a:lnTo>
                  <a:pt x="144463" y="77788"/>
                </a:lnTo>
                <a:cubicBezTo>
                  <a:pt x="149151" y="77788"/>
                  <a:pt x="153318" y="80705"/>
                  <a:pt x="154915" y="85115"/>
                </a:cubicBezTo>
                <a:cubicBezTo>
                  <a:pt x="156513" y="89525"/>
                  <a:pt x="155158" y="94456"/>
                  <a:pt x="151581" y="97443"/>
                </a:cubicBezTo>
                <a:lnTo>
                  <a:pt x="51569" y="180786"/>
                </a:lnTo>
                <a:cubicBezTo>
                  <a:pt x="47645" y="184051"/>
                  <a:pt x="42054" y="184224"/>
                  <a:pt x="37921" y="181238"/>
                </a:cubicBezTo>
                <a:cubicBezTo>
                  <a:pt x="33789" y="178251"/>
                  <a:pt x="32261" y="172834"/>
                  <a:pt x="34136" y="168111"/>
                </a:cubicBezTo>
                <a:lnTo>
                  <a:pt x="61362" y="100013"/>
                </a:lnTo>
                <a:lnTo>
                  <a:pt x="11112" y="100013"/>
                </a:lnTo>
                <a:cubicBezTo>
                  <a:pt x="6424" y="100013"/>
                  <a:pt x="2257" y="97095"/>
                  <a:pt x="660" y="92685"/>
                </a:cubicBezTo>
                <a:cubicBezTo>
                  <a:pt x="-938" y="88275"/>
                  <a:pt x="417" y="83344"/>
                  <a:pt x="3994" y="80357"/>
                </a:cubicBezTo>
                <a:lnTo>
                  <a:pt x="104006" y="-2986"/>
                </a:lnTo>
                <a:cubicBezTo>
                  <a:pt x="107930" y="-6251"/>
                  <a:pt x="113521" y="-6424"/>
                  <a:pt x="117654" y="-3438"/>
                </a:cubicBezTo>
                <a:close/>
              </a:path>
            </a:pathLst>
          </a:custGeom>
          <a:solidFill>
            <a:srgbClr val="718096"/>
          </a:solidFill>
          <a:ln/>
        </p:spPr>
        <p:txBody>
          <a:bodyPr/>
          <a:lstStyle/>
          <a:p>
            <a:endParaRPr lang="zh-CN" altLang="en-US"/>
          </a:p>
        </p:txBody>
      </p:sp>
      <p:sp>
        <p:nvSpPr>
          <p:cNvPr id="17" name="Text 15"/>
          <p:cNvSpPr/>
          <p:nvPr/>
        </p:nvSpPr>
        <p:spPr>
          <a:xfrm>
            <a:off x="1085850" y="4368800"/>
            <a:ext cx="33782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磁盘顺序读写:</a:t>
            </a:r>
            <a:r>
              <a:rPr lang="en-US" sz="1400" dirty="0">
                <a:solidFill>
                  <a:srgbClr val="E2E8F0">
                    <a:alpha val="80000"/>
                  </a:srgbClr>
                </a:solidFill>
                <a:latin typeface="MiSans" pitchFamily="34" charset="0"/>
                <a:ea typeface="MiSans" pitchFamily="34" charset="-122"/>
                <a:cs typeface="MiSans" pitchFamily="34" charset="-120"/>
              </a:rPr>
              <a:t> 充分利用磁盘顺序访问优势</a:t>
            </a:r>
            <a:endParaRPr lang="en-US" sz="1600" dirty="0"/>
          </a:p>
        </p:txBody>
      </p:sp>
      <p:sp>
        <p:nvSpPr>
          <p:cNvPr id="18" name="Shape 16"/>
          <p:cNvSpPr/>
          <p:nvPr/>
        </p:nvSpPr>
        <p:spPr>
          <a:xfrm>
            <a:off x="798513" y="4775200"/>
            <a:ext cx="155575" cy="177800"/>
          </a:xfrm>
          <a:custGeom>
            <a:avLst/>
            <a:gdLst/>
            <a:ahLst/>
            <a:cxnLst/>
            <a:rect l="l" t="t" r="r" b="b"/>
            <a:pathLst>
              <a:path w="155575" h="177800">
                <a:moveTo>
                  <a:pt x="66675" y="0"/>
                </a:moveTo>
                <a:cubicBezTo>
                  <a:pt x="54417" y="0"/>
                  <a:pt x="44450" y="9967"/>
                  <a:pt x="44450" y="22225"/>
                </a:cubicBezTo>
                <a:lnTo>
                  <a:pt x="44450" y="111125"/>
                </a:lnTo>
                <a:cubicBezTo>
                  <a:pt x="44450" y="123383"/>
                  <a:pt x="54417" y="133350"/>
                  <a:pt x="66675" y="133350"/>
                </a:cubicBezTo>
                <a:lnTo>
                  <a:pt x="133350" y="133350"/>
                </a:lnTo>
                <a:cubicBezTo>
                  <a:pt x="145608" y="133350"/>
                  <a:pt x="155575" y="123383"/>
                  <a:pt x="155575" y="111125"/>
                </a:cubicBezTo>
                <a:lnTo>
                  <a:pt x="155575" y="41464"/>
                </a:lnTo>
                <a:cubicBezTo>
                  <a:pt x="155575" y="35421"/>
                  <a:pt x="153109" y="29622"/>
                  <a:pt x="148734" y="25420"/>
                </a:cubicBezTo>
                <a:lnTo>
                  <a:pt x="128697" y="6181"/>
                </a:lnTo>
                <a:cubicBezTo>
                  <a:pt x="124564" y="2223"/>
                  <a:pt x="119043" y="0"/>
                  <a:pt x="113313" y="0"/>
                </a:cubicBezTo>
                <a:lnTo>
                  <a:pt x="66675" y="0"/>
                </a:lnTo>
                <a:close/>
                <a:moveTo>
                  <a:pt x="22225" y="44450"/>
                </a:moveTo>
                <a:cubicBezTo>
                  <a:pt x="9967" y="44450"/>
                  <a:pt x="0" y="54417"/>
                  <a:pt x="0" y="66675"/>
                </a:cubicBezTo>
                <a:lnTo>
                  <a:pt x="0" y="155575"/>
                </a:lnTo>
                <a:cubicBezTo>
                  <a:pt x="0" y="167833"/>
                  <a:pt x="9967" y="177800"/>
                  <a:pt x="22225" y="177800"/>
                </a:cubicBezTo>
                <a:lnTo>
                  <a:pt x="88900" y="177800"/>
                </a:lnTo>
                <a:cubicBezTo>
                  <a:pt x="101158" y="177800"/>
                  <a:pt x="111125" y="167833"/>
                  <a:pt x="111125" y="155575"/>
                </a:cubicBezTo>
                <a:lnTo>
                  <a:pt x="111125" y="150019"/>
                </a:lnTo>
                <a:lnTo>
                  <a:pt x="88900" y="150019"/>
                </a:lnTo>
                <a:lnTo>
                  <a:pt x="88900" y="155575"/>
                </a:lnTo>
                <a:lnTo>
                  <a:pt x="22225" y="155575"/>
                </a:lnTo>
                <a:lnTo>
                  <a:pt x="22225" y="66675"/>
                </a:lnTo>
                <a:lnTo>
                  <a:pt x="27781" y="66675"/>
                </a:lnTo>
                <a:lnTo>
                  <a:pt x="27781" y="44450"/>
                </a:lnTo>
                <a:lnTo>
                  <a:pt x="22225" y="44450"/>
                </a:lnTo>
                <a:close/>
              </a:path>
            </a:pathLst>
          </a:custGeom>
          <a:solidFill>
            <a:srgbClr val="718096"/>
          </a:solidFill>
          <a:ln/>
        </p:spPr>
        <p:txBody>
          <a:bodyPr/>
          <a:lstStyle/>
          <a:p>
            <a:endParaRPr lang="zh-CN" altLang="en-US"/>
          </a:p>
        </p:txBody>
      </p:sp>
      <p:sp>
        <p:nvSpPr>
          <p:cNvPr id="19" name="Text 17"/>
          <p:cNvSpPr/>
          <p:nvPr/>
        </p:nvSpPr>
        <p:spPr>
          <a:xfrm>
            <a:off x="1085850" y="4724400"/>
            <a:ext cx="37338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零拷贝技术:</a:t>
            </a:r>
            <a:r>
              <a:rPr lang="en-US" sz="1400" dirty="0">
                <a:solidFill>
                  <a:srgbClr val="E2E8F0">
                    <a:alpha val="80000"/>
                  </a:srgbClr>
                </a:solidFill>
                <a:latin typeface="MiSans" pitchFamily="34" charset="0"/>
                <a:ea typeface="MiSans" pitchFamily="34" charset="-122"/>
                <a:cs typeface="MiSans" pitchFamily="34" charset="-120"/>
              </a:rPr>
              <a:t> 减少数据拷贝，提升网络传输效率</a:t>
            </a:r>
            <a:endParaRPr lang="en-US" sz="1600" dirty="0"/>
          </a:p>
        </p:txBody>
      </p:sp>
      <p:sp>
        <p:nvSpPr>
          <p:cNvPr id="20" name="Shape 18"/>
          <p:cNvSpPr/>
          <p:nvPr/>
        </p:nvSpPr>
        <p:spPr>
          <a:xfrm>
            <a:off x="787400" y="5130800"/>
            <a:ext cx="177800" cy="177800"/>
          </a:xfrm>
          <a:custGeom>
            <a:avLst/>
            <a:gdLst/>
            <a:ahLst/>
            <a:cxnLst/>
            <a:rect l="l" t="t" r="r" b="b"/>
            <a:pathLst>
              <a:path w="177800" h="177800">
                <a:moveTo>
                  <a:pt x="80739" y="1806"/>
                </a:moveTo>
                <a:cubicBezTo>
                  <a:pt x="85914" y="-590"/>
                  <a:pt x="91886" y="-590"/>
                  <a:pt x="97061" y="1806"/>
                </a:cubicBezTo>
                <a:lnTo>
                  <a:pt x="172973" y="36880"/>
                </a:lnTo>
                <a:cubicBezTo>
                  <a:pt x="175925" y="38234"/>
                  <a:pt x="177800" y="41186"/>
                  <a:pt x="177800" y="44450"/>
                </a:cubicBezTo>
                <a:cubicBezTo>
                  <a:pt x="177800" y="47714"/>
                  <a:pt x="175925" y="50666"/>
                  <a:pt x="172973" y="52020"/>
                </a:cubicBezTo>
                <a:lnTo>
                  <a:pt x="97061" y="87094"/>
                </a:lnTo>
                <a:cubicBezTo>
                  <a:pt x="91886" y="89490"/>
                  <a:pt x="85914" y="89490"/>
                  <a:pt x="80739" y="87094"/>
                </a:cubicBezTo>
                <a:lnTo>
                  <a:pt x="4827" y="52020"/>
                </a:lnTo>
                <a:cubicBezTo>
                  <a:pt x="1875" y="50631"/>
                  <a:pt x="0" y="47680"/>
                  <a:pt x="0" y="44450"/>
                </a:cubicBezTo>
                <a:cubicBezTo>
                  <a:pt x="0" y="41220"/>
                  <a:pt x="1875" y="38234"/>
                  <a:pt x="4827" y="36880"/>
                </a:cubicBezTo>
                <a:lnTo>
                  <a:pt x="80739" y="1806"/>
                </a:lnTo>
                <a:close/>
                <a:moveTo>
                  <a:pt x="16703" y="75843"/>
                </a:moveTo>
                <a:lnTo>
                  <a:pt x="73759" y="102200"/>
                </a:lnTo>
                <a:cubicBezTo>
                  <a:pt x="83378" y="106645"/>
                  <a:pt x="94456" y="106645"/>
                  <a:pt x="104076" y="102200"/>
                </a:cubicBezTo>
                <a:lnTo>
                  <a:pt x="161131" y="75843"/>
                </a:lnTo>
                <a:lnTo>
                  <a:pt x="172973" y="81330"/>
                </a:lnTo>
                <a:cubicBezTo>
                  <a:pt x="175925" y="82684"/>
                  <a:pt x="177800" y="85636"/>
                  <a:pt x="177800" y="88900"/>
                </a:cubicBezTo>
                <a:cubicBezTo>
                  <a:pt x="177800" y="92164"/>
                  <a:pt x="175925" y="95116"/>
                  <a:pt x="172973" y="96470"/>
                </a:cubicBezTo>
                <a:lnTo>
                  <a:pt x="97061" y="131544"/>
                </a:lnTo>
                <a:cubicBezTo>
                  <a:pt x="91886" y="133940"/>
                  <a:pt x="85914" y="133940"/>
                  <a:pt x="80739" y="131544"/>
                </a:cubicBezTo>
                <a:lnTo>
                  <a:pt x="4827" y="96470"/>
                </a:lnTo>
                <a:cubicBezTo>
                  <a:pt x="1875" y="95081"/>
                  <a:pt x="0" y="92130"/>
                  <a:pt x="0" y="88900"/>
                </a:cubicBezTo>
                <a:cubicBezTo>
                  <a:pt x="0" y="85670"/>
                  <a:pt x="1875" y="82684"/>
                  <a:pt x="4827" y="81330"/>
                </a:cubicBezTo>
                <a:lnTo>
                  <a:pt x="16669" y="75843"/>
                </a:lnTo>
                <a:close/>
                <a:moveTo>
                  <a:pt x="4827" y="125780"/>
                </a:moveTo>
                <a:lnTo>
                  <a:pt x="16669" y="120293"/>
                </a:lnTo>
                <a:lnTo>
                  <a:pt x="73724" y="146650"/>
                </a:lnTo>
                <a:cubicBezTo>
                  <a:pt x="83344" y="151095"/>
                  <a:pt x="94422" y="151095"/>
                  <a:pt x="104041" y="146650"/>
                </a:cubicBezTo>
                <a:lnTo>
                  <a:pt x="161097" y="120293"/>
                </a:lnTo>
                <a:lnTo>
                  <a:pt x="172938" y="125780"/>
                </a:lnTo>
                <a:cubicBezTo>
                  <a:pt x="175890" y="127134"/>
                  <a:pt x="177765" y="130086"/>
                  <a:pt x="177765" y="133350"/>
                </a:cubicBezTo>
                <a:cubicBezTo>
                  <a:pt x="177765" y="136614"/>
                  <a:pt x="175890" y="139566"/>
                  <a:pt x="172938" y="140920"/>
                </a:cubicBezTo>
                <a:lnTo>
                  <a:pt x="97026" y="175994"/>
                </a:lnTo>
                <a:cubicBezTo>
                  <a:pt x="91852" y="178390"/>
                  <a:pt x="85879" y="178390"/>
                  <a:pt x="80705" y="175994"/>
                </a:cubicBezTo>
                <a:lnTo>
                  <a:pt x="4827" y="140920"/>
                </a:lnTo>
                <a:cubicBezTo>
                  <a:pt x="1875" y="139531"/>
                  <a:pt x="0" y="136580"/>
                  <a:pt x="0" y="133350"/>
                </a:cubicBezTo>
                <a:cubicBezTo>
                  <a:pt x="0" y="130120"/>
                  <a:pt x="1875" y="127134"/>
                  <a:pt x="4827" y="125780"/>
                </a:cubicBezTo>
                <a:close/>
              </a:path>
            </a:pathLst>
          </a:custGeom>
          <a:solidFill>
            <a:srgbClr val="718096"/>
          </a:solidFill>
          <a:ln/>
        </p:spPr>
        <p:txBody>
          <a:bodyPr/>
          <a:lstStyle/>
          <a:p>
            <a:endParaRPr lang="zh-CN" altLang="en-US"/>
          </a:p>
        </p:txBody>
      </p:sp>
      <p:sp>
        <p:nvSpPr>
          <p:cNvPr id="21" name="Text 19"/>
          <p:cNvSpPr/>
          <p:nvPr/>
        </p:nvSpPr>
        <p:spPr>
          <a:xfrm>
            <a:off x="1085850" y="5080000"/>
            <a:ext cx="32004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批量处理优化:</a:t>
            </a:r>
            <a:r>
              <a:rPr lang="en-US" sz="1400" dirty="0">
                <a:solidFill>
                  <a:srgbClr val="E2E8F0">
                    <a:alpha val="80000"/>
                  </a:srgbClr>
                </a:solidFill>
                <a:latin typeface="MiSans" pitchFamily="34" charset="0"/>
                <a:ea typeface="MiSans" pitchFamily="34" charset="-122"/>
                <a:cs typeface="MiSans" pitchFamily="34" charset="-120"/>
              </a:rPr>
              <a:t> 网络批处理和磁盘批处理</a:t>
            </a:r>
            <a:endParaRPr lang="en-US" sz="1600" dirty="0"/>
          </a:p>
        </p:txBody>
      </p:sp>
      <p:sp>
        <p:nvSpPr>
          <p:cNvPr id="22" name="Shape 20"/>
          <p:cNvSpPr/>
          <p:nvPr/>
        </p:nvSpPr>
        <p:spPr>
          <a:xfrm>
            <a:off x="8305800" y="16256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23" name="Shape 21"/>
          <p:cNvSpPr/>
          <p:nvPr/>
        </p:nvSpPr>
        <p:spPr>
          <a:xfrm>
            <a:off x="8305800" y="16256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D69E2E"/>
          </a:solidFill>
          <a:ln/>
        </p:spPr>
        <p:txBody>
          <a:bodyPr/>
          <a:lstStyle/>
          <a:p>
            <a:endParaRPr lang="zh-CN" altLang="en-US"/>
          </a:p>
        </p:txBody>
      </p:sp>
      <p:sp>
        <p:nvSpPr>
          <p:cNvPr id="24" name="Text 22"/>
          <p:cNvSpPr/>
          <p:nvPr/>
        </p:nvSpPr>
        <p:spPr>
          <a:xfrm>
            <a:off x="8534400" y="1828800"/>
            <a:ext cx="71374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可扩展性</a:t>
            </a:r>
            <a:endParaRPr lang="en-US" sz="1600" dirty="0"/>
          </a:p>
        </p:txBody>
      </p:sp>
      <p:sp>
        <p:nvSpPr>
          <p:cNvPr id="25" name="Shape 23"/>
          <p:cNvSpPr/>
          <p:nvPr/>
        </p:nvSpPr>
        <p:spPr>
          <a:xfrm>
            <a:off x="8570913" y="2387600"/>
            <a:ext cx="155575" cy="177800"/>
          </a:xfrm>
          <a:custGeom>
            <a:avLst/>
            <a:gdLst/>
            <a:ahLst/>
            <a:cxnLst/>
            <a:rect l="l" t="t" r="r" b="b"/>
            <a:pathLst>
              <a:path w="155575" h="177800">
                <a:moveTo>
                  <a:pt x="11112" y="11112"/>
                </a:moveTo>
                <a:cubicBezTo>
                  <a:pt x="4966" y="11112"/>
                  <a:pt x="0" y="16078"/>
                  <a:pt x="0" y="22225"/>
                </a:cubicBezTo>
                <a:lnTo>
                  <a:pt x="0" y="55563"/>
                </a:lnTo>
                <a:cubicBezTo>
                  <a:pt x="0" y="61709"/>
                  <a:pt x="4966" y="66675"/>
                  <a:pt x="11112" y="66675"/>
                </a:cubicBezTo>
                <a:cubicBezTo>
                  <a:pt x="17259" y="66675"/>
                  <a:pt x="22225" y="61709"/>
                  <a:pt x="22225" y="55563"/>
                </a:cubicBezTo>
                <a:lnTo>
                  <a:pt x="22225" y="33337"/>
                </a:lnTo>
                <a:lnTo>
                  <a:pt x="44450" y="33337"/>
                </a:lnTo>
                <a:cubicBezTo>
                  <a:pt x="50597" y="33337"/>
                  <a:pt x="55563" y="28372"/>
                  <a:pt x="55563" y="22225"/>
                </a:cubicBezTo>
                <a:cubicBezTo>
                  <a:pt x="55563" y="16078"/>
                  <a:pt x="50597" y="11112"/>
                  <a:pt x="44450" y="11112"/>
                </a:cubicBezTo>
                <a:lnTo>
                  <a:pt x="11112" y="11112"/>
                </a:lnTo>
                <a:close/>
                <a:moveTo>
                  <a:pt x="22225" y="122238"/>
                </a:moveTo>
                <a:cubicBezTo>
                  <a:pt x="22225" y="116091"/>
                  <a:pt x="17259" y="111125"/>
                  <a:pt x="11112" y="111125"/>
                </a:cubicBezTo>
                <a:cubicBezTo>
                  <a:pt x="4966" y="111125"/>
                  <a:pt x="0" y="116091"/>
                  <a:pt x="0" y="122238"/>
                </a:cubicBezTo>
                <a:lnTo>
                  <a:pt x="0" y="155575"/>
                </a:lnTo>
                <a:cubicBezTo>
                  <a:pt x="0" y="161722"/>
                  <a:pt x="4966" y="166688"/>
                  <a:pt x="11112" y="166688"/>
                </a:cubicBezTo>
                <a:lnTo>
                  <a:pt x="44450" y="166688"/>
                </a:lnTo>
                <a:cubicBezTo>
                  <a:pt x="50597" y="166688"/>
                  <a:pt x="55563" y="161722"/>
                  <a:pt x="55563" y="155575"/>
                </a:cubicBezTo>
                <a:cubicBezTo>
                  <a:pt x="55563" y="149428"/>
                  <a:pt x="50597" y="144463"/>
                  <a:pt x="44450" y="144463"/>
                </a:cubicBezTo>
                <a:lnTo>
                  <a:pt x="22225" y="144463"/>
                </a:lnTo>
                <a:lnTo>
                  <a:pt x="22225" y="122238"/>
                </a:lnTo>
                <a:close/>
                <a:moveTo>
                  <a:pt x="111125" y="11112"/>
                </a:moveTo>
                <a:cubicBezTo>
                  <a:pt x="104978" y="11112"/>
                  <a:pt x="100013" y="16078"/>
                  <a:pt x="100013" y="22225"/>
                </a:cubicBezTo>
                <a:cubicBezTo>
                  <a:pt x="100013" y="28372"/>
                  <a:pt x="104978" y="33337"/>
                  <a:pt x="111125" y="33337"/>
                </a:cubicBezTo>
                <a:lnTo>
                  <a:pt x="133350" y="33337"/>
                </a:lnTo>
                <a:lnTo>
                  <a:pt x="133350" y="55563"/>
                </a:lnTo>
                <a:cubicBezTo>
                  <a:pt x="133350" y="61709"/>
                  <a:pt x="138316" y="66675"/>
                  <a:pt x="144463" y="66675"/>
                </a:cubicBezTo>
                <a:cubicBezTo>
                  <a:pt x="150609" y="66675"/>
                  <a:pt x="155575" y="61709"/>
                  <a:pt x="155575" y="55563"/>
                </a:cubicBezTo>
                <a:lnTo>
                  <a:pt x="155575" y="22225"/>
                </a:lnTo>
                <a:cubicBezTo>
                  <a:pt x="155575" y="16078"/>
                  <a:pt x="150609" y="11112"/>
                  <a:pt x="144463" y="11112"/>
                </a:cubicBezTo>
                <a:lnTo>
                  <a:pt x="111125" y="11112"/>
                </a:lnTo>
                <a:close/>
                <a:moveTo>
                  <a:pt x="155575" y="122238"/>
                </a:moveTo>
                <a:cubicBezTo>
                  <a:pt x="155575" y="116091"/>
                  <a:pt x="150609" y="111125"/>
                  <a:pt x="144463" y="111125"/>
                </a:cubicBezTo>
                <a:cubicBezTo>
                  <a:pt x="138316" y="111125"/>
                  <a:pt x="133350" y="116091"/>
                  <a:pt x="133350" y="122238"/>
                </a:cubicBezTo>
                <a:lnTo>
                  <a:pt x="133350" y="144463"/>
                </a:lnTo>
                <a:lnTo>
                  <a:pt x="111125" y="144463"/>
                </a:lnTo>
                <a:cubicBezTo>
                  <a:pt x="104978" y="144463"/>
                  <a:pt x="100013" y="149428"/>
                  <a:pt x="100013" y="155575"/>
                </a:cubicBezTo>
                <a:cubicBezTo>
                  <a:pt x="100013" y="161722"/>
                  <a:pt x="104978" y="166688"/>
                  <a:pt x="111125" y="166688"/>
                </a:cubicBezTo>
                <a:lnTo>
                  <a:pt x="144463" y="166688"/>
                </a:lnTo>
                <a:cubicBezTo>
                  <a:pt x="150609" y="166688"/>
                  <a:pt x="155575" y="161722"/>
                  <a:pt x="155575" y="155575"/>
                </a:cubicBezTo>
                <a:lnTo>
                  <a:pt x="155575" y="122238"/>
                </a:lnTo>
                <a:close/>
              </a:path>
            </a:pathLst>
          </a:custGeom>
          <a:solidFill>
            <a:srgbClr val="D69E2E"/>
          </a:solidFill>
          <a:ln/>
        </p:spPr>
        <p:txBody>
          <a:bodyPr/>
          <a:lstStyle/>
          <a:p>
            <a:endParaRPr lang="zh-CN" altLang="en-US"/>
          </a:p>
        </p:txBody>
      </p:sp>
      <p:sp>
        <p:nvSpPr>
          <p:cNvPr id="26" name="Text 24"/>
          <p:cNvSpPr/>
          <p:nvPr/>
        </p:nvSpPr>
        <p:spPr>
          <a:xfrm>
            <a:off x="8858250" y="2336800"/>
            <a:ext cx="41783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水平扩展分区机制:</a:t>
            </a:r>
            <a:r>
              <a:rPr lang="en-US" sz="1400" dirty="0">
                <a:solidFill>
                  <a:srgbClr val="E2E8F0">
                    <a:alpha val="80000"/>
                  </a:srgbClr>
                </a:solidFill>
                <a:latin typeface="MiSans" pitchFamily="34" charset="0"/>
                <a:ea typeface="MiSans" pitchFamily="34" charset="-122"/>
                <a:cs typeface="MiSans" pitchFamily="34" charset="-120"/>
              </a:rPr>
              <a:t> 通过增加 Partition 实现线性扩展</a:t>
            </a:r>
            <a:endParaRPr lang="en-US" sz="1600" dirty="0"/>
          </a:p>
        </p:txBody>
      </p:sp>
      <p:sp>
        <p:nvSpPr>
          <p:cNvPr id="27" name="Shape 25"/>
          <p:cNvSpPr/>
          <p:nvPr/>
        </p:nvSpPr>
        <p:spPr>
          <a:xfrm>
            <a:off x="8559800" y="2743200"/>
            <a:ext cx="177800" cy="177800"/>
          </a:xfrm>
          <a:custGeom>
            <a:avLst/>
            <a:gdLst/>
            <a:ahLst/>
            <a:cxnLst/>
            <a:rect l="l" t="t" r="r" b="b"/>
            <a:pathLst>
              <a:path w="177800" h="177800">
                <a:moveTo>
                  <a:pt x="66675" y="22225"/>
                </a:moveTo>
                <a:cubicBezTo>
                  <a:pt x="66675" y="16078"/>
                  <a:pt x="71641" y="11112"/>
                  <a:pt x="77788" y="11112"/>
                </a:cubicBezTo>
                <a:lnTo>
                  <a:pt x="100013" y="11112"/>
                </a:lnTo>
                <a:cubicBezTo>
                  <a:pt x="106159" y="11112"/>
                  <a:pt x="111125" y="16078"/>
                  <a:pt x="111125" y="22225"/>
                </a:cubicBezTo>
                <a:lnTo>
                  <a:pt x="111125" y="44450"/>
                </a:lnTo>
                <a:cubicBezTo>
                  <a:pt x="111125" y="50597"/>
                  <a:pt x="106159" y="55563"/>
                  <a:pt x="100013" y="55563"/>
                </a:cubicBezTo>
                <a:lnTo>
                  <a:pt x="97234" y="55563"/>
                </a:lnTo>
                <a:lnTo>
                  <a:pt x="97234" y="77788"/>
                </a:lnTo>
                <a:lnTo>
                  <a:pt x="138906" y="77788"/>
                </a:lnTo>
                <a:cubicBezTo>
                  <a:pt x="152727" y="77788"/>
                  <a:pt x="163909" y="88969"/>
                  <a:pt x="163909" y="102791"/>
                </a:cubicBezTo>
                <a:lnTo>
                  <a:pt x="163909" y="122238"/>
                </a:lnTo>
                <a:lnTo>
                  <a:pt x="166688" y="122238"/>
                </a:lnTo>
                <a:cubicBezTo>
                  <a:pt x="172834" y="122238"/>
                  <a:pt x="177800" y="127203"/>
                  <a:pt x="177800" y="133350"/>
                </a:cubicBezTo>
                <a:lnTo>
                  <a:pt x="177800" y="155575"/>
                </a:lnTo>
                <a:cubicBezTo>
                  <a:pt x="177800" y="161722"/>
                  <a:pt x="172834" y="166688"/>
                  <a:pt x="166688" y="166688"/>
                </a:cubicBezTo>
                <a:lnTo>
                  <a:pt x="144463" y="166688"/>
                </a:lnTo>
                <a:cubicBezTo>
                  <a:pt x="138316" y="166688"/>
                  <a:pt x="133350" y="161722"/>
                  <a:pt x="133350" y="155575"/>
                </a:cubicBezTo>
                <a:lnTo>
                  <a:pt x="133350" y="133350"/>
                </a:lnTo>
                <a:cubicBezTo>
                  <a:pt x="133350" y="127203"/>
                  <a:pt x="138316" y="122238"/>
                  <a:pt x="144463" y="122238"/>
                </a:cubicBezTo>
                <a:lnTo>
                  <a:pt x="147241" y="122238"/>
                </a:lnTo>
                <a:lnTo>
                  <a:pt x="147241" y="102791"/>
                </a:lnTo>
                <a:cubicBezTo>
                  <a:pt x="147241" y="98172"/>
                  <a:pt x="143525" y="94456"/>
                  <a:pt x="138906" y="94456"/>
                </a:cubicBezTo>
                <a:lnTo>
                  <a:pt x="97234" y="94456"/>
                </a:lnTo>
                <a:lnTo>
                  <a:pt x="97234" y="122238"/>
                </a:lnTo>
                <a:lnTo>
                  <a:pt x="100013" y="122238"/>
                </a:lnTo>
                <a:cubicBezTo>
                  <a:pt x="106159" y="122238"/>
                  <a:pt x="111125" y="127203"/>
                  <a:pt x="111125" y="133350"/>
                </a:cubicBezTo>
                <a:lnTo>
                  <a:pt x="111125" y="155575"/>
                </a:lnTo>
                <a:cubicBezTo>
                  <a:pt x="111125" y="161722"/>
                  <a:pt x="106159" y="166688"/>
                  <a:pt x="100013" y="166688"/>
                </a:cubicBezTo>
                <a:lnTo>
                  <a:pt x="77788" y="166688"/>
                </a:lnTo>
                <a:cubicBezTo>
                  <a:pt x="71641" y="166688"/>
                  <a:pt x="66675" y="161722"/>
                  <a:pt x="66675" y="155575"/>
                </a:cubicBezTo>
                <a:lnTo>
                  <a:pt x="66675" y="133350"/>
                </a:lnTo>
                <a:cubicBezTo>
                  <a:pt x="66675" y="127203"/>
                  <a:pt x="71641" y="122238"/>
                  <a:pt x="77788" y="122238"/>
                </a:cubicBezTo>
                <a:lnTo>
                  <a:pt x="80566" y="122238"/>
                </a:lnTo>
                <a:lnTo>
                  <a:pt x="80566" y="94456"/>
                </a:lnTo>
                <a:lnTo>
                  <a:pt x="38894" y="94456"/>
                </a:lnTo>
                <a:cubicBezTo>
                  <a:pt x="34275" y="94456"/>
                  <a:pt x="30559" y="98172"/>
                  <a:pt x="30559" y="102791"/>
                </a:cubicBezTo>
                <a:lnTo>
                  <a:pt x="30559" y="122238"/>
                </a:lnTo>
                <a:lnTo>
                  <a:pt x="33337" y="122238"/>
                </a:lnTo>
                <a:cubicBezTo>
                  <a:pt x="39484" y="122238"/>
                  <a:pt x="44450" y="127203"/>
                  <a:pt x="44450" y="133350"/>
                </a:cubicBezTo>
                <a:lnTo>
                  <a:pt x="44450" y="155575"/>
                </a:lnTo>
                <a:cubicBezTo>
                  <a:pt x="44450" y="161722"/>
                  <a:pt x="39484" y="166688"/>
                  <a:pt x="33337" y="166688"/>
                </a:cubicBezTo>
                <a:lnTo>
                  <a:pt x="11112" y="166688"/>
                </a:lnTo>
                <a:cubicBezTo>
                  <a:pt x="4966" y="166688"/>
                  <a:pt x="0" y="161722"/>
                  <a:pt x="0" y="155575"/>
                </a:cubicBezTo>
                <a:lnTo>
                  <a:pt x="0" y="133350"/>
                </a:lnTo>
                <a:cubicBezTo>
                  <a:pt x="0" y="127203"/>
                  <a:pt x="4966" y="122238"/>
                  <a:pt x="11112" y="122238"/>
                </a:cubicBezTo>
                <a:lnTo>
                  <a:pt x="13891" y="122238"/>
                </a:lnTo>
                <a:lnTo>
                  <a:pt x="13891" y="102791"/>
                </a:lnTo>
                <a:cubicBezTo>
                  <a:pt x="13891" y="88969"/>
                  <a:pt x="25073" y="77788"/>
                  <a:pt x="38894" y="77788"/>
                </a:cubicBezTo>
                <a:lnTo>
                  <a:pt x="80566" y="77788"/>
                </a:lnTo>
                <a:lnTo>
                  <a:pt x="80566" y="55563"/>
                </a:lnTo>
                <a:lnTo>
                  <a:pt x="77788" y="55563"/>
                </a:lnTo>
                <a:cubicBezTo>
                  <a:pt x="71641" y="55563"/>
                  <a:pt x="66675" y="50597"/>
                  <a:pt x="66675" y="44450"/>
                </a:cubicBezTo>
                <a:lnTo>
                  <a:pt x="66675" y="22225"/>
                </a:lnTo>
                <a:close/>
              </a:path>
            </a:pathLst>
          </a:custGeom>
          <a:solidFill>
            <a:srgbClr val="D69E2E"/>
          </a:solidFill>
          <a:ln/>
        </p:spPr>
        <p:txBody>
          <a:bodyPr/>
          <a:lstStyle/>
          <a:p>
            <a:endParaRPr lang="zh-CN" altLang="en-US"/>
          </a:p>
        </p:txBody>
      </p:sp>
      <p:sp>
        <p:nvSpPr>
          <p:cNvPr id="28" name="Text 26"/>
          <p:cNvSpPr/>
          <p:nvPr/>
        </p:nvSpPr>
        <p:spPr>
          <a:xfrm>
            <a:off x="8858250" y="2692400"/>
            <a:ext cx="33782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分布式协调:</a:t>
            </a:r>
            <a:r>
              <a:rPr lang="en-US" sz="1400" dirty="0">
                <a:solidFill>
                  <a:srgbClr val="E2E8F0">
                    <a:alpha val="80000"/>
                  </a:srgbClr>
                </a:solidFill>
                <a:latin typeface="MiSans" pitchFamily="34" charset="0"/>
                <a:ea typeface="MiSans" pitchFamily="34" charset="-122"/>
                <a:cs typeface="MiSans" pitchFamily="34" charset="-120"/>
              </a:rPr>
              <a:t> 消费者组实现负载均衡和容错</a:t>
            </a:r>
            <a:endParaRPr lang="en-US" sz="1600" dirty="0"/>
          </a:p>
        </p:txBody>
      </p:sp>
      <p:sp>
        <p:nvSpPr>
          <p:cNvPr id="29" name="Shape 27"/>
          <p:cNvSpPr/>
          <p:nvPr/>
        </p:nvSpPr>
        <p:spPr>
          <a:xfrm>
            <a:off x="8548688" y="3098800"/>
            <a:ext cx="200025" cy="177800"/>
          </a:xfrm>
          <a:custGeom>
            <a:avLst/>
            <a:gdLst/>
            <a:ahLst/>
            <a:cxnLst/>
            <a:rect l="l" t="t" r="r" b="b"/>
            <a:pathLst>
              <a:path w="200025" h="177800">
                <a:moveTo>
                  <a:pt x="0" y="116681"/>
                </a:moveTo>
                <a:cubicBezTo>
                  <a:pt x="0" y="144289"/>
                  <a:pt x="22399" y="166688"/>
                  <a:pt x="50006" y="166688"/>
                </a:cubicBezTo>
                <a:lnTo>
                  <a:pt x="155575" y="166688"/>
                </a:lnTo>
                <a:cubicBezTo>
                  <a:pt x="180127" y="166688"/>
                  <a:pt x="200025" y="146789"/>
                  <a:pt x="200025" y="122238"/>
                </a:cubicBezTo>
                <a:cubicBezTo>
                  <a:pt x="200025" y="104319"/>
                  <a:pt x="189433" y="88865"/>
                  <a:pt x="174154" y="81851"/>
                </a:cubicBezTo>
                <a:cubicBezTo>
                  <a:pt x="176480" y="77301"/>
                  <a:pt x="177800" y="72127"/>
                  <a:pt x="177800" y="66675"/>
                </a:cubicBezTo>
                <a:cubicBezTo>
                  <a:pt x="177800" y="48270"/>
                  <a:pt x="162868" y="33337"/>
                  <a:pt x="144463" y="33337"/>
                </a:cubicBezTo>
                <a:cubicBezTo>
                  <a:pt x="138316" y="33337"/>
                  <a:pt x="132586" y="35004"/>
                  <a:pt x="127655" y="37887"/>
                </a:cubicBezTo>
                <a:cubicBezTo>
                  <a:pt x="119286" y="21982"/>
                  <a:pt x="102582" y="11112"/>
                  <a:pt x="83344" y="11112"/>
                </a:cubicBezTo>
                <a:cubicBezTo>
                  <a:pt x="55736" y="11112"/>
                  <a:pt x="33338" y="33511"/>
                  <a:pt x="33338" y="61119"/>
                </a:cubicBezTo>
                <a:cubicBezTo>
                  <a:pt x="33338" y="63897"/>
                  <a:pt x="33581" y="66640"/>
                  <a:pt x="33997" y="69279"/>
                </a:cubicBezTo>
                <a:cubicBezTo>
                  <a:pt x="14238" y="75947"/>
                  <a:pt x="0" y="94665"/>
                  <a:pt x="0" y="116681"/>
                </a:cubicBezTo>
                <a:close/>
              </a:path>
            </a:pathLst>
          </a:custGeom>
          <a:solidFill>
            <a:srgbClr val="D69E2E"/>
          </a:solidFill>
          <a:ln/>
        </p:spPr>
        <p:txBody>
          <a:bodyPr/>
          <a:lstStyle/>
          <a:p>
            <a:endParaRPr lang="zh-CN" altLang="en-US"/>
          </a:p>
        </p:txBody>
      </p:sp>
      <p:sp>
        <p:nvSpPr>
          <p:cNvPr id="30" name="Text 28"/>
          <p:cNvSpPr/>
          <p:nvPr/>
        </p:nvSpPr>
        <p:spPr>
          <a:xfrm>
            <a:off x="8858250" y="3048000"/>
            <a:ext cx="36576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云原生支持:</a:t>
            </a:r>
            <a:r>
              <a:rPr lang="en-US" sz="1400" dirty="0">
                <a:solidFill>
                  <a:srgbClr val="E2E8F0">
                    <a:alpha val="80000"/>
                  </a:srgbClr>
                </a:solidFill>
                <a:latin typeface="MiSans" pitchFamily="34" charset="0"/>
                <a:ea typeface="MiSans" pitchFamily="34" charset="-122"/>
                <a:cs typeface="MiSans" pitchFamily="34" charset="-120"/>
              </a:rPr>
              <a:t> Kubernetes 集成，弹性伸缩能力</a:t>
            </a:r>
            <a:endParaRPr lang="en-US" sz="1600" dirty="0"/>
          </a:p>
        </p:txBody>
      </p:sp>
      <p:sp>
        <p:nvSpPr>
          <p:cNvPr id="31" name="Shape 29"/>
          <p:cNvSpPr/>
          <p:nvPr/>
        </p:nvSpPr>
        <p:spPr>
          <a:xfrm>
            <a:off x="8305800" y="3657600"/>
            <a:ext cx="7442200" cy="1879600"/>
          </a:xfrm>
          <a:custGeom>
            <a:avLst/>
            <a:gdLst/>
            <a:ahLst/>
            <a:cxnLst/>
            <a:rect l="l" t="t" r="r" b="b"/>
            <a:pathLst>
              <a:path w="7442200" h="1879600">
                <a:moveTo>
                  <a:pt x="50800" y="0"/>
                </a:moveTo>
                <a:lnTo>
                  <a:pt x="7340608" y="0"/>
                </a:lnTo>
                <a:cubicBezTo>
                  <a:pt x="7396716" y="0"/>
                  <a:pt x="7442200" y="45484"/>
                  <a:pt x="7442200" y="101592"/>
                </a:cubicBezTo>
                <a:lnTo>
                  <a:pt x="7442200" y="1778008"/>
                </a:lnTo>
                <a:cubicBezTo>
                  <a:pt x="7442200" y="1834116"/>
                  <a:pt x="7396716" y="1879600"/>
                  <a:pt x="7340608" y="1879600"/>
                </a:cubicBezTo>
                <a:lnTo>
                  <a:pt x="50800" y="1879600"/>
                </a:lnTo>
                <a:cubicBezTo>
                  <a:pt x="22744" y="1879600"/>
                  <a:pt x="0" y="1856856"/>
                  <a:pt x="0" y="1828800"/>
                </a:cubicBezTo>
                <a:lnTo>
                  <a:pt x="0" y="50800"/>
                </a:lnTo>
                <a:cubicBezTo>
                  <a:pt x="0" y="22763"/>
                  <a:pt x="22763" y="0"/>
                  <a:pt x="50800" y="0"/>
                </a:cubicBezTo>
                <a:close/>
              </a:path>
            </a:pathLst>
          </a:custGeom>
          <a:solidFill>
            <a:srgbClr val="4A5568">
              <a:alpha val="20000"/>
            </a:srgbClr>
          </a:solidFill>
          <a:ln/>
        </p:spPr>
        <p:txBody>
          <a:bodyPr/>
          <a:lstStyle/>
          <a:p>
            <a:endParaRPr lang="zh-CN" altLang="en-US"/>
          </a:p>
        </p:txBody>
      </p:sp>
      <p:sp>
        <p:nvSpPr>
          <p:cNvPr id="32" name="Shape 30"/>
          <p:cNvSpPr/>
          <p:nvPr/>
        </p:nvSpPr>
        <p:spPr>
          <a:xfrm>
            <a:off x="8305800" y="3657600"/>
            <a:ext cx="50800" cy="1879600"/>
          </a:xfrm>
          <a:custGeom>
            <a:avLst/>
            <a:gdLst/>
            <a:ahLst/>
            <a:cxnLst/>
            <a:rect l="l" t="t" r="r" b="b"/>
            <a:pathLst>
              <a:path w="50800" h="1879600">
                <a:moveTo>
                  <a:pt x="50800" y="0"/>
                </a:moveTo>
                <a:lnTo>
                  <a:pt x="50800" y="0"/>
                </a:lnTo>
                <a:lnTo>
                  <a:pt x="50800" y="1879600"/>
                </a:lnTo>
                <a:lnTo>
                  <a:pt x="50800" y="1879600"/>
                </a:lnTo>
                <a:cubicBezTo>
                  <a:pt x="22763" y="1879600"/>
                  <a:pt x="0" y="1856837"/>
                  <a:pt x="0" y="1828800"/>
                </a:cubicBezTo>
                <a:lnTo>
                  <a:pt x="0" y="50800"/>
                </a:lnTo>
                <a:cubicBezTo>
                  <a:pt x="0" y="22763"/>
                  <a:pt x="22763" y="0"/>
                  <a:pt x="50800" y="0"/>
                </a:cubicBezTo>
                <a:close/>
              </a:path>
            </a:pathLst>
          </a:custGeom>
          <a:solidFill>
            <a:srgbClr val="718096"/>
          </a:solidFill>
          <a:ln/>
        </p:spPr>
        <p:txBody>
          <a:bodyPr/>
          <a:lstStyle/>
          <a:p>
            <a:endParaRPr lang="zh-CN" altLang="en-US"/>
          </a:p>
        </p:txBody>
      </p:sp>
      <p:sp>
        <p:nvSpPr>
          <p:cNvPr id="33" name="Text 31"/>
          <p:cNvSpPr/>
          <p:nvPr/>
        </p:nvSpPr>
        <p:spPr>
          <a:xfrm>
            <a:off x="8534400" y="3860800"/>
            <a:ext cx="7137400" cy="355600"/>
          </a:xfrm>
          <a:prstGeom prst="rect">
            <a:avLst/>
          </a:prstGeom>
          <a:noFill/>
          <a:ln/>
        </p:spPr>
        <p:txBody>
          <a:bodyPr wrap="square" lIns="0" tIns="0" rIns="0" bIns="0" rtlCol="0" anchor="ctr"/>
          <a:lstStyle/>
          <a:p>
            <a:pPr>
              <a:lnSpc>
                <a:spcPct val="120000"/>
              </a:lnSpc>
            </a:pPr>
            <a:r>
              <a:rPr lang="en-US" sz="2000" b="1" dirty="0">
                <a:solidFill>
                  <a:srgbClr val="718096"/>
                </a:solidFill>
                <a:latin typeface="MiSans" pitchFamily="34" charset="0"/>
                <a:ea typeface="MiSans" pitchFamily="34" charset="-122"/>
                <a:cs typeface="MiSans" pitchFamily="34" charset="-120"/>
              </a:rPr>
              <a:t>可靠性保证</a:t>
            </a:r>
            <a:endParaRPr lang="en-US" sz="1600" dirty="0"/>
          </a:p>
        </p:txBody>
      </p:sp>
      <p:sp>
        <p:nvSpPr>
          <p:cNvPr id="34" name="Shape 32"/>
          <p:cNvSpPr/>
          <p:nvPr/>
        </p:nvSpPr>
        <p:spPr>
          <a:xfrm>
            <a:off x="8559800" y="4419600"/>
            <a:ext cx="177800" cy="177800"/>
          </a:xfrm>
          <a:custGeom>
            <a:avLst/>
            <a:gdLst/>
            <a:ahLst/>
            <a:cxnLst/>
            <a:rect l="l" t="t" r="r" b="b"/>
            <a:pathLst>
              <a:path w="177800" h="177800">
                <a:moveTo>
                  <a:pt x="88900" y="0"/>
                </a:moveTo>
                <a:cubicBezTo>
                  <a:pt x="90497" y="0"/>
                  <a:pt x="92095" y="347"/>
                  <a:pt x="93553" y="1007"/>
                </a:cubicBezTo>
                <a:lnTo>
                  <a:pt x="158978" y="28754"/>
                </a:lnTo>
                <a:cubicBezTo>
                  <a:pt x="166618" y="31983"/>
                  <a:pt x="172313" y="39519"/>
                  <a:pt x="172278" y="48617"/>
                </a:cubicBezTo>
                <a:cubicBezTo>
                  <a:pt x="172105" y="83066"/>
                  <a:pt x="157936" y="146095"/>
                  <a:pt x="98103" y="174744"/>
                </a:cubicBezTo>
                <a:cubicBezTo>
                  <a:pt x="92303" y="177522"/>
                  <a:pt x="85566" y="177522"/>
                  <a:pt x="79767" y="174744"/>
                </a:cubicBezTo>
                <a:cubicBezTo>
                  <a:pt x="19898" y="146095"/>
                  <a:pt x="5765" y="83066"/>
                  <a:pt x="5591" y="48617"/>
                </a:cubicBezTo>
                <a:cubicBezTo>
                  <a:pt x="5556" y="39519"/>
                  <a:pt x="11251" y="31983"/>
                  <a:pt x="18891" y="28754"/>
                </a:cubicBezTo>
                <a:lnTo>
                  <a:pt x="84281" y="1007"/>
                </a:lnTo>
                <a:cubicBezTo>
                  <a:pt x="85740" y="347"/>
                  <a:pt x="87303" y="0"/>
                  <a:pt x="88900" y="0"/>
                </a:cubicBezTo>
                <a:close/>
                <a:moveTo>
                  <a:pt x="88900" y="23197"/>
                </a:moveTo>
                <a:lnTo>
                  <a:pt x="88900" y="154498"/>
                </a:lnTo>
                <a:cubicBezTo>
                  <a:pt x="136823" y="131301"/>
                  <a:pt x="149706" y="79906"/>
                  <a:pt x="150019" y="49138"/>
                </a:cubicBezTo>
                <a:lnTo>
                  <a:pt x="88900" y="23232"/>
                </a:lnTo>
                <a:lnTo>
                  <a:pt x="88900" y="23232"/>
                </a:lnTo>
                <a:close/>
              </a:path>
            </a:pathLst>
          </a:custGeom>
          <a:solidFill>
            <a:srgbClr val="718096"/>
          </a:solidFill>
          <a:ln/>
        </p:spPr>
        <p:txBody>
          <a:bodyPr/>
          <a:lstStyle/>
          <a:p>
            <a:endParaRPr lang="zh-CN" altLang="en-US"/>
          </a:p>
        </p:txBody>
      </p:sp>
      <p:sp>
        <p:nvSpPr>
          <p:cNvPr id="35" name="Text 33"/>
          <p:cNvSpPr/>
          <p:nvPr/>
        </p:nvSpPr>
        <p:spPr>
          <a:xfrm>
            <a:off x="8858250" y="4368800"/>
            <a:ext cx="26289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多副本机制:</a:t>
            </a:r>
            <a:r>
              <a:rPr lang="en-US" sz="1400" dirty="0">
                <a:solidFill>
                  <a:srgbClr val="E2E8F0">
                    <a:alpha val="80000"/>
                  </a:srgbClr>
                </a:solidFill>
                <a:latin typeface="MiSans" pitchFamily="34" charset="0"/>
                <a:ea typeface="MiSans" pitchFamily="34" charset="-122"/>
                <a:cs typeface="MiSans" pitchFamily="34" charset="-120"/>
              </a:rPr>
              <a:t> ISR 确保数据不丢失</a:t>
            </a:r>
            <a:endParaRPr lang="en-US" sz="1600" dirty="0"/>
          </a:p>
        </p:txBody>
      </p:sp>
      <p:sp>
        <p:nvSpPr>
          <p:cNvPr id="36" name="Shape 34"/>
          <p:cNvSpPr/>
          <p:nvPr/>
        </p:nvSpPr>
        <p:spPr>
          <a:xfrm>
            <a:off x="8559800" y="4775200"/>
            <a:ext cx="177800" cy="177800"/>
          </a:xfrm>
          <a:custGeom>
            <a:avLst/>
            <a:gdLst/>
            <a:ahLst/>
            <a:cxnLst/>
            <a:rect l="l" t="t" r="r" b="b"/>
            <a:pathLst>
              <a:path w="177800" h="177800">
                <a:moveTo>
                  <a:pt x="174536" y="52298"/>
                </a:moveTo>
                <a:lnTo>
                  <a:pt x="141198" y="85636"/>
                </a:lnTo>
                <a:cubicBezTo>
                  <a:pt x="138003" y="88831"/>
                  <a:pt x="133246" y="89768"/>
                  <a:pt x="129079" y="88032"/>
                </a:cubicBezTo>
                <a:cubicBezTo>
                  <a:pt x="124911" y="86296"/>
                  <a:pt x="122238" y="82267"/>
                  <a:pt x="122238" y="77788"/>
                </a:cubicBezTo>
                <a:lnTo>
                  <a:pt x="122238" y="55563"/>
                </a:lnTo>
                <a:lnTo>
                  <a:pt x="11112" y="55563"/>
                </a:lnTo>
                <a:cubicBezTo>
                  <a:pt x="4966" y="55563"/>
                  <a:pt x="0" y="50597"/>
                  <a:pt x="0" y="44450"/>
                </a:cubicBezTo>
                <a:cubicBezTo>
                  <a:pt x="0" y="38303"/>
                  <a:pt x="4966" y="33337"/>
                  <a:pt x="11112" y="33337"/>
                </a:cubicBezTo>
                <a:lnTo>
                  <a:pt x="122238" y="33337"/>
                </a:lnTo>
                <a:lnTo>
                  <a:pt x="122238" y="11112"/>
                </a:lnTo>
                <a:cubicBezTo>
                  <a:pt x="122238" y="6633"/>
                  <a:pt x="124946" y="2570"/>
                  <a:pt x="129113" y="833"/>
                </a:cubicBezTo>
                <a:cubicBezTo>
                  <a:pt x="133281" y="-903"/>
                  <a:pt x="138038" y="69"/>
                  <a:pt x="141233" y="3230"/>
                </a:cubicBezTo>
                <a:lnTo>
                  <a:pt x="174570" y="36567"/>
                </a:lnTo>
                <a:cubicBezTo>
                  <a:pt x="178911" y="40908"/>
                  <a:pt x="178911" y="47957"/>
                  <a:pt x="174570" y="52298"/>
                </a:cubicBezTo>
                <a:close/>
                <a:moveTo>
                  <a:pt x="36567" y="174536"/>
                </a:moveTo>
                <a:lnTo>
                  <a:pt x="3230" y="141198"/>
                </a:lnTo>
                <a:cubicBezTo>
                  <a:pt x="-1111" y="136857"/>
                  <a:pt x="-1111" y="129808"/>
                  <a:pt x="3230" y="125467"/>
                </a:cubicBezTo>
                <a:lnTo>
                  <a:pt x="36567" y="92130"/>
                </a:lnTo>
                <a:cubicBezTo>
                  <a:pt x="39762" y="88935"/>
                  <a:pt x="44519" y="87997"/>
                  <a:pt x="48687" y="89733"/>
                </a:cubicBezTo>
                <a:cubicBezTo>
                  <a:pt x="52854" y="91470"/>
                  <a:pt x="55563" y="95533"/>
                  <a:pt x="55563" y="100013"/>
                </a:cubicBezTo>
                <a:lnTo>
                  <a:pt x="55563" y="122238"/>
                </a:lnTo>
                <a:lnTo>
                  <a:pt x="166688" y="122238"/>
                </a:lnTo>
                <a:cubicBezTo>
                  <a:pt x="172834" y="122238"/>
                  <a:pt x="177800" y="127203"/>
                  <a:pt x="177800" y="133350"/>
                </a:cubicBezTo>
                <a:cubicBezTo>
                  <a:pt x="177800" y="139497"/>
                  <a:pt x="172834" y="144463"/>
                  <a:pt x="166688" y="144463"/>
                </a:cubicBezTo>
                <a:lnTo>
                  <a:pt x="55563" y="144463"/>
                </a:lnTo>
                <a:lnTo>
                  <a:pt x="55563" y="166688"/>
                </a:lnTo>
                <a:cubicBezTo>
                  <a:pt x="55563" y="171167"/>
                  <a:pt x="52854" y="175230"/>
                  <a:pt x="48687" y="176967"/>
                </a:cubicBezTo>
                <a:cubicBezTo>
                  <a:pt x="44519" y="178703"/>
                  <a:pt x="39762" y="177731"/>
                  <a:pt x="36567" y="174570"/>
                </a:cubicBezTo>
                <a:close/>
              </a:path>
            </a:pathLst>
          </a:custGeom>
          <a:solidFill>
            <a:srgbClr val="718096"/>
          </a:solidFill>
          <a:ln/>
        </p:spPr>
        <p:txBody>
          <a:bodyPr/>
          <a:lstStyle/>
          <a:p>
            <a:endParaRPr lang="zh-CN" altLang="en-US"/>
          </a:p>
        </p:txBody>
      </p:sp>
      <p:sp>
        <p:nvSpPr>
          <p:cNvPr id="37" name="Text 35"/>
          <p:cNvSpPr/>
          <p:nvPr/>
        </p:nvSpPr>
        <p:spPr>
          <a:xfrm>
            <a:off x="8858250" y="4724400"/>
            <a:ext cx="45974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精确消息传递语义:</a:t>
            </a:r>
            <a:r>
              <a:rPr lang="en-US" sz="1400" dirty="0">
                <a:solidFill>
                  <a:srgbClr val="E2E8F0">
                    <a:alpha val="80000"/>
                  </a:srgbClr>
                </a:solidFill>
                <a:latin typeface="MiSans" pitchFamily="34" charset="0"/>
                <a:ea typeface="MiSans" pitchFamily="34" charset="-122"/>
                <a:cs typeface="MiSans" pitchFamily="34" charset="-120"/>
              </a:rPr>
              <a:t> 支持 At-Least-Once 和 Exactly-Once</a:t>
            </a:r>
            <a:endParaRPr lang="en-US" sz="1600" dirty="0"/>
          </a:p>
        </p:txBody>
      </p:sp>
      <p:sp>
        <p:nvSpPr>
          <p:cNvPr id="38" name="Shape 36"/>
          <p:cNvSpPr/>
          <p:nvPr/>
        </p:nvSpPr>
        <p:spPr>
          <a:xfrm>
            <a:off x="8548688" y="5130800"/>
            <a:ext cx="200025" cy="177800"/>
          </a:xfrm>
          <a:custGeom>
            <a:avLst/>
            <a:gdLst/>
            <a:ahLst/>
            <a:cxnLst/>
            <a:rect l="l" t="t" r="r" b="b"/>
            <a:pathLst>
              <a:path w="200025" h="177800">
                <a:moveTo>
                  <a:pt x="77788" y="86122"/>
                </a:moveTo>
                <a:cubicBezTo>
                  <a:pt x="100787" y="86122"/>
                  <a:pt x="119459" y="67449"/>
                  <a:pt x="119459" y="44450"/>
                </a:cubicBezTo>
                <a:cubicBezTo>
                  <a:pt x="119459" y="21451"/>
                  <a:pt x="100787" y="2778"/>
                  <a:pt x="77788" y="2778"/>
                </a:cubicBezTo>
                <a:cubicBezTo>
                  <a:pt x="54788" y="2778"/>
                  <a:pt x="36116" y="21451"/>
                  <a:pt x="36116" y="44450"/>
                </a:cubicBezTo>
                <a:cubicBezTo>
                  <a:pt x="36116" y="67449"/>
                  <a:pt x="54788" y="86122"/>
                  <a:pt x="77787" y="86122"/>
                </a:cubicBezTo>
                <a:close/>
                <a:moveTo>
                  <a:pt x="67474" y="105569"/>
                </a:moveTo>
                <a:cubicBezTo>
                  <a:pt x="33268" y="105569"/>
                  <a:pt x="5556" y="133281"/>
                  <a:pt x="5556" y="167486"/>
                </a:cubicBezTo>
                <a:cubicBezTo>
                  <a:pt x="5556" y="173181"/>
                  <a:pt x="10175" y="177800"/>
                  <a:pt x="15870" y="177800"/>
                </a:cubicBezTo>
                <a:lnTo>
                  <a:pt x="103207" y="177800"/>
                </a:lnTo>
                <a:cubicBezTo>
                  <a:pt x="90636" y="163006"/>
                  <a:pt x="83344" y="143942"/>
                  <a:pt x="83344" y="123765"/>
                </a:cubicBezTo>
                <a:lnTo>
                  <a:pt x="83344" y="112966"/>
                </a:lnTo>
                <a:cubicBezTo>
                  <a:pt x="83344" y="110430"/>
                  <a:pt x="83691" y="107930"/>
                  <a:pt x="84351" y="105569"/>
                </a:cubicBezTo>
                <a:lnTo>
                  <a:pt x="67474" y="105569"/>
                </a:lnTo>
                <a:close/>
                <a:moveTo>
                  <a:pt x="154637" y="169639"/>
                </a:moveTo>
                <a:lnTo>
                  <a:pt x="150019" y="171827"/>
                </a:lnTo>
                <a:lnTo>
                  <a:pt x="150019" y="106506"/>
                </a:lnTo>
                <a:lnTo>
                  <a:pt x="183356" y="117619"/>
                </a:lnTo>
                <a:lnTo>
                  <a:pt x="183356" y="124425"/>
                </a:lnTo>
                <a:cubicBezTo>
                  <a:pt x="183356" y="143803"/>
                  <a:pt x="172174" y="161409"/>
                  <a:pt x="154637" y="169674"/>
                </a:cubicBezTo>
                <a:close/>
                <a:moveTo>
                  <a:pt x="146511" y="90115"/>
                </a:moveTo>
                <a:lnTo>
                  <a:pt x="107618" y="103068"/>
                </a:lnTo>
                <a:cubicBezTo>
                  <a:pt x="103068" y="104596"/>
                  <a:pt x="100013" y="108833"/>
                  <a:pt x="100013" y="113625"/>
                </a:cubicBezTo>
                <a:lnTo>
                  <a:pt x="100013" y="124425"/>
                </a:lnTo>
                <a:cubicBezTo>
                  <a:pt x="100013" y="150262"/>
                  <a:pt x="114945" y="173772"/>
                  <a:pt x="138281" y="184745"/>
                </a:cubicBezTo>
                <a:lnTo>
                  <a:pt x="144706" y="187767"/>
                </a:lnTo>
                <a:cubicBezTo>
                  <a:pt x="146372" y="188531"/>
                  <a:pt x="148178" y="188947"/>
                  <a:pt x="149984" y="188947"/>
                </a:cubicBezTo>
                <a:cubicBezTo>
                  <a:pt x="151790" y="188947"/>
                  <a:pt x="153630" y="188531"/>
                  <a:pt x="155262" y="187767"/>
                </a:cubicBezTo>
                <a:lnTo>
                  <a:pt x="161687" y="184745"/>
                </a:lnTo>
                <a:cubicBezTo>
                  <a:pt x="185093" y="173737"/>
                  <a:pt x="200025" y="150227"/>
                  <a:pt x="200025" y="124391"/>
                </a:cubicBezTo>
                <a:lnTo>
                  <a:pt x="200025" y="113591"/>
                </a:lnTo>
                <a:cubicBezTo>
                  <a:pt x="200025" y="108798"/>
                  <a:pt x="196969" y="104562"/>
                  <a:pt x="192420" y="103034"/>
                </a:cubicBezTo>
                <a:lnTo>
                  <a:pt x="153526" y="90081"/>
                </a:lnTo>
                <a:cubicBezTo>
                  <a:pt x="151234" y="89317"/>
                  <a:pt x="148769" y="89317"/>
                  <a:pt x="146511" y="90081"/>
                </a:cubicBezTo>
                <a:close/>
              </a:path>
            </a:pathLst>
          </a:custGeom>
          <a:solidFill>
            <a:srgbClr val="718096"/>
          </a:solidFill>
          <a:ln/>
        </p:spPr>
        <p:txBody>
          <a:bodyPr/>
          <a:lstStyle/>
          <a:p>
            <a:endParaRPr lang="zh-CN" altLang="en-US"/>
          </a:p>
        </p:txBody>
      </p:sp>
      <p:sp>
        <p:nvSpPr>
          <p:cNvPr id="39" name="Text 37"/>
          <p:cNvSpPr/>
          <p:nvPr/>
        </p:nvSpPr>
        <p:spPr>
          <a:xfrm>
            <a:off x="8858250" y="5080000"/>
            <a:ext cx="35814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安全机制:</a:t>
            </a:r>
            <a:r>
              <a:rPr lang="en-US" sz="1400" dirty="0">
                <a:solidFill>
                  <a:srgbClr val="E2E8F0">
                    <a:alpha val="80000"/>
                  </a:srgbClr>
                </a:solidFill>
                <a:latin typeface="MiSans" pitchFamily="34" charset="0"/>
                <a:ea typeface="MiSans" pitchFamily="34" charset="-122"/>
                <a:cs typeface="MiSans" pitchFamily="34" charset="-120"/>
              </a:rPr>
              <a:t> SASL/OAuth 认证，TLS 加密传输</a:t>
            </a:r>
            <a:endParaRPr lang="en-US" sz="1600" dirty="0"/>
          </a:p>
        </p:txBody>
      </p:sp>
      <p:sp>
        <p:nvSpPr>
          <p:cNvPr id="40" name="Shape 38"/>
          <p:cNvSpPr/>
          <p:nvPr/>
        </p:nvSpPr>
        <p:spPr>
          <a:xfrm>
            <a:off x="508000" y="5740400"/>
            <a:ext cx="15240000" cy="1739900"/>
          </a:xfrm>
          <a:custGeom>
            <a:avLst/>
            <a:gdLst/>
            <a:ahLst/>
            <a:cxnLst/>
            <a:rect l="l" t="t" r="r" b="b"/>
            <a:pathLst>
              <a:path w="7454900" h="1739900">
                <a:moveTo>
                  <a:pt x="101593" y="0"/>
                </a:moveTo>
                <a:lnTo>
                  <a:pt x="7353307" y="0"/>
                </a:lnTo>
                <a:cubicBezTo>
                  <a:pt x="7409415" y="0"/>
                  <a:pt x="7454900" y="45485"/>
                  <a:pt x="7454900" y="101593"/>
                </a:cubicBezTo>
                <a:lnTo>
                  <a:pt x="7454900" y="1638307"/>
                </a:lnTo>
                <a:cubicBezTo>
                  <a:pt x="7454900" y="1694415"/>
                  <a:pt x="7409415" y="1739900"/>
                  <a:pt x="7353307" y="1739900"/>
                </a:cubicBezTo>
                <a:lnTo>
                  <a:pt x="101593" y="1739900"/>
                </a:lnTo>
                <a:cubicBezTo>
                  <a:pt x="45485" y="1739900"/>
                  <a:pt x="0" y="1694415"/>
                  <a:pt x="0" y="1638307"/>
                </a:cubicBezTo>
                <a:lnTo>
                  <a:pt x="0" y="101593"/>
                </a:lnTo>
                <a:cubicBezTo>
                  <a:pt x="0" y="45522"/>
                  <a:pt x="45522" y="0"/>
                  <a:pt x="101593" y="0"/>
                </a:cubicBezTo>
                <a:close/>
              </a:path>
            </a:pathLst>
          </a:custGeom>
          <a:gradFill flip="none" rotWithShape="1">
            <a:gsLst>
              <a:gs pos="0">
                <a:srgbClr val="D69E2E">
                  <a:alpha val="20000"/>
                </a:srgbClr>
              </a:gs>
              <a:gs pos="100000">
                <a:srgbClr val="718096">
                  <a:alpha val="20000"/>
                </a:srgbClr>
              </a:gs>
            </a:gsLst>
            <a:lin ang="0" scaled="1"/>
          </a:gradFill>
          <a:ln w="12700">
            <a:solidFill>
              <a:srgbClr val="D69E2E">
                <a:alpha val="40000"/>
              </a:srgbClr>
            </a:solidFill>
            <a:prstDash val="solid"/>
          </a:ln>
        </p:spPr>
        <p:txBody>
          <a:bodyPr/>
          <a:lstStyle/>
          <a:p>
            <a:endParaRPr lang="zh-CN" altLang="en-US"/>
          </a:p>
        </p:txBody>
      </p:sp>
      <p:sp>
        <p:nvSpPr>
          <p:cNvPr id="41" name="Text 39"/>
          <p:cNvSpPr/>
          <p:nvPr/>
        </p:nvSpPr>
        <p:spPr>
          <a:xfrm>
            <a:off x="717550" y="5949950"/>
            <a:ext cx="7162800" cy="355600"/>
          </a:xfrm>
          <a:prstGeom prst="rect">
            <a:avLst/>
          </a:prstGeom>
          <a:noFill/>
          <a:ln/>
        </p:spPr>
        <p:txBody>
          <a:bodyPr wrap="square" lIns="0" tIns="0" rIns="0" bIns="0" rtlCol="0" anchor="ctr"/>
          <a:lstStyle/>
          <a:p>
            <a:pPr>
              <a:lnSpc>
                <a:spcPct val="120000"/>
              </a:lnSpc>
            </a:pPr>
            <a:r>
              <a:rPr lang="en-US" sz="2000" b="1" dirty="0">
                <a:solidFill>
                  <a:srgbClr val="D69E2E"/>
                </a:solidFill>
                <a:latin typeface="MiSans" pitchFamily="34" charset="0"/>
                <a:ea typeface="MiSans" pitchFamily="34" charset="-122"/>
                <a:cs typeface="MiSans" pitchFamily="34" charset="-120"/>
              </a:rPr>
              <a:t>架构思想的启示</a:t>
            </a:r>
            <a:endParaRPr lang="en-US" sz="1600" dirty="0"/>
          </a:p>
        </p:txBody>
      </p:sp>
      <p:sp>
        <p:nvSpPr>
          <p:cNvPr id="42" name="Text 40"/>
          <p:cNvSpPr/>
          <p:nvPr/>
        </p:nvSpPr>
        <p:spPr>
          <a:xfrm>
            <a:off x="717550" y="6407150"/>
            <a:ext cx="71247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关注本质问题:</a:t>
            </a:r>
            <a:r>
              <a:rPr lang="en-US" sz="1400" dirty="0">
                <a:solidFill>
                  <a:srgbClr val="E2E8F0">
                    <a:alpha val="80000"/>
                  </a:srgbClr>
                </a:solidFill>
                <a:latin typeface="MiSans" pitchFamily="34" charset="0"/>
                <a:ea typeface="MiSans" pitchFamily="34" charset="-122"/>
                <a:cs typeface="MiSans" pitchFamily="34" charset="-120"/>
              </a:rPr>
              <a:t> 聚焦消息传递的核心需求</a:t>
            </a:r>
            <a:endParaRPr lang="en-US" sz="1600" dirty="0"/>
          </a:p>
        </p:txBody>
      </p:sp>
      <p:sp>
        <p:nvSpPr>
          <p:cNvPr id="43" name="Text 41"/>
          <p:cNvSpPr/>
          <p:nvPr/>
        </p:nvSpPr>
        <p:spPr>
          <a:xfrm>
            <a:off x="717550" y="6711950"/>
            <a:ext cx="7124700" cy="254000"/>
          </a:xfrm>
          <a:prstGeom prst="rect">
            <a:avLst/>
          </a:prstGeom>
          <a:noFill/>
          <a:ln/>
        </p:spPr>
        <p:txBody>
          <a:bodyPr wrap="square" lIns="0" tIns="0" rIns="0" bIns="0" rtlCol="0" anchor="ctr"/>
          <a:lstStyle/>
          <a:p>
            <a:pPr>
              <a:lnSpc>
                <a:spcPct val="120000"/>
              </a:lnSpc>
            </a:pPr>
            <a:r>
              <a:rPr lang="en-US" sz="1400" b="1" dirty="0">
                <a:solidFill>
                  <a:srgbClr val="718096"/>
                </a:solidFill>
                <a:latin typeface="MiSans" pitchFamily="34" charset="0"/>
                <a:ea typeface="MiSans" pitchFamily="34" charset="-122"/>
                <a:cs typeface="MiSans" pitchFamily="34" charset="-120"/>
              </a:rPr>
              <a:t>平衡技术取舍:</a:t>
            </a:r>
            <a:r>
              <a:rPr lang="en-US" sz="1400" dirty="0">
                <a:solidFill>
                  <a:srgbClr val="E2E8F0">
                    <a:alpha val="80000"/>
                  </a:srgbClr>
                </a:solidFill>
                <a:latin typeface="MiSans" pitchFamily="34" charset="0"/>
                <a:ea typeface="MiSans" pitchFamily="34" charset="-122"/>
                <a:cs typeface="MiSans" pitchFamily="34" charset="-120"/>
              </a:rPr>
              <a:t> 在性能、可靠性、复杂度之间权衡</a:t>
            </a:r>
            <a:endParaRPr lang="en-US" sz="1600" dirty="0"/>
          </a:p>
        </p:txBody>
      </p:sp>
      <p:sp>
        <p:nvSpPr>
          <p:cNvPr id="44" name="Text 42"/>
          <p:cNvSpPr/>
          <p:nvPr/>
        </p:nvSpPr>
        <p:spPr>
          <a:xfrm>
            <a:off x="717550" y="7016750"/>
            <a:ext cx="7124700" cy="254000"/>
          </a:xfrm>
          <a:prstGeom prst="rect">
            <a:avLst/>
          </a:prstGeom>
          <a:noFill/>
          <a:ln/>
        </p:spPr>
        <p:txBody>
          <a:bodyPr wrap="square" lIns="0" tIns="0" rIns="0" bIns="0" rtlCol="0" anchor="ctr"/>
          <a:lstStyle/>
          <a:p>
            <a:pPr>
              <a:lnSpc>
                <a:spcPct val="120000"/>
              </a:lnSpc>
            </a:pPr>
            <a:r>
              <a:rPr lang="en-US" sz="1400" b="1" dirty="0">
                <a:solidFill>
                  <a:srgbClr val="D69E2E"/>
                </a:solidFill>
                <a:latin typeface="MiSans" pitchFamily="34" charset="0"/>
                <a:ea typeface="MiSans" pitchFamily="34" charset="-122"/>
                <a:cs typeface="MiSans" pitchFamily="34" charset="-120"/>
              </a:rPr>
              <a:t>生态化发展:</a:t>
            </a:r>
            <a:r>
              <a:rPr lang="en-US" sz="1400" dirty="0">
                <a:solidFill>
                  <a:srgbClr val="E2E8F0">
                    <a:alpha val="80000"/>
                  </a:srgbClr>
                </a:solidFill>
                <a:latin typeface="MiSans" pitchFamily="34" charset="0"/>
                <a:ea typeface="MiSans" pitchFamily="34" charset="-122"/>
                <a:cs typeface="MiSans" pitchFamily="34" charset="-120"/>
              </a:rPr>
              <a:t> 通过开放接口构建繁荣生态</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4844</Words>
  <Application>Microsoft Macintosh PowerPoint</Application>
  <PresentationFormat>自定义</PresentationFormat>
  <Paragraphs>1079</Paragraphs>
  <Slides>33</Slides>
  <Notes>32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MiSans</vt:lpstr>
      <vt:lpstr>微软雅黑</vt:lpstr>
      <vt:lpstr>Arial</vt:lpstr>
      <vt:lpstr>Calibri</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Kafka设计与实现</dc:title>
  <dc:subject>Kafka设计与实现</dc:subject>
  <dc:creator>Kimi</dc:creator>
  <cp:lastModifiedBy>王 天青</cp:lastModifiedBy>
  <cp:revision>13</cp:revision>
  <dcterms:created xsi:type="dcterms:W3CDTF">2025-12-19T14:54:03Z</dcterms:created>
  <dcterms:modified xsi:type="dcterms:W3CDTF">2025-12-19T23:53:48Z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{"Label":"Kafka设计与实现","ContentProducer":"001191110108MACG2KBH8F10000","ProduceID":"19b37003-ff32-8947-8000-00006ab70756","ReservedCode1":"","ContentPropagator":"001191110108MACG2KBH8F20000","PropagateID":"19b37003-ff32-8947-8000-00006ab70756","ReservedCode2":""}</vt:lpwstr>
  </property>
</Properties>
</file>