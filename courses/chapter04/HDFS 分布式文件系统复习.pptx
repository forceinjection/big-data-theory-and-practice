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6256000" cy="9144000"/>
  <p:notesSz cx="9144000" cy="16256000"/>
  <p:embeddedFontLst>
    <p:embeddedFont>
      <p:font typeface="微软雅黑" panose="020B0503020204020204" pitchFamily="34" charset="-122"/>
      <p:regular r:id="rId40"/>
      <p:bold r:id="rId41"/>
    </p:embeddedFont>
    <p:embeddedFont>
      <p:font typeface="MiSans" pitchFamily="2" charset="-122"/>
      <p:regular r:id="rId42"/>
    </p:embeddedFont>
    <p:embeddedFont>
      <p:font typeface="Noto Sans SC" panose="020B0200000000000000" pitchFamily="34" charset="-128"/>
      <p:regular r:id="rId43"/>
    </p:embeddedFont>
    <p:embeddedFont>
      <p:font typeface="Liter" panose="02000503030000020004" pitchFamily="2" charset="0"/>
      <p:regular r:id="rId4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96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651000"/>
            <a:ext cx="3581400" cy="520700"/>
          </a:xfrm>
          <a:custGeom>
            <a:avLst/>
            <a:gdLst/>
            <a:ahLst/>
            <a:cxnLst/>
            <a:rect l="l" t="t" r="r" b="b"/>
            <a:pathLst>
              <a:path w="3581400" h="520700">
                <a:moveTo>
                  <a:pt x="260350" y="0"/>
                </a:moveTo>
                <a:lnTo>
                  <a:pt x="3321050" y="0"/>
                </a:lnTo>
                <a:cubicBezTo>
                  <a:pt x="3464741" y="0"/>
                  <a:pt x="3581400" y="116659"/>
                  <a:pt x="3581400" y="260350"/>
                </a:cubicBezTo>
                <a:lnTo>
                  <a:pt x="3581400" y="260350"/>
                </a:lnTo>
                <a:cubicBezTo>
                  <a:pt x="3581400" y="404041"/>
                  <a:pt x="3464741" y="520700"/>
                  <a:pt x="3321050" y="520700"/>
                </a:cubicBezTo>
                <a:lnTo>
                  <a:pt x="260350" y="520700"/>
                </a:lnTo>
                <a:cubicBezTo>
                  <a:pt x="116659" y="520700"/>
                  <a:pt x="0" y="404041"/>
                  <a:pt x="0" y="260350"/>
                </a:cubicBezTo>
                <a:lnTo>
                  <a:pt x="0" y="260350"/>
                </a:lnTo>
                <a:cubicBezTo>
                  <a:pt x="0" y="116659"/>
                  <a:pt x="116659" y="0"/>
                  <a:pt x="26035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1778000"/>
            <a:ext cx="3161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FILE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8445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HDFS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4132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分布式文件系统复习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58165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Distributed File System 核心概念与实战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692900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101597" y="0"/>
                </a:moveTo>
                <a:lnTo>
                  <a:pt x="698503" y="0"/>
                </a:lnTo>
                <a:cubicBezTo>
                  <a:pt x="754614" y="0"/>
                  <a:pt x="800100" y="45486"/>
                  <a:pt x="800100" y="101597"/>
                </a:cubicBezTo>
                <a:lnTo>
                  <a:pt x="800100" y="698503"/>
                </a:lnTo>
                <a:cubicBezTo>
                  <a:pt x="800100" y="754614"/>
                  <a:pt x="754614" y="800100"/>
                  <a:pt x="698503" y="800100"/>
                </a:cubicBezTo>
                <a:lnTo>
                  <a:pt x="101597" y="800100"/>
                </a:lnTo>
                <a:cubicBezTo>
                  <a:pt x="45486" y="800100"/>
                  <a:pt x="0" y="754614"/>
                  <a:pt x="0" y="6985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81050" y="69405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524000" y="676275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00" y="7067550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PB级数据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14948" y="6692900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101597" y="0"/>
                </a:moveTo>
                <a:lnTo>
                  <a:pt x="698503" y="0"/>
                </a:lnTo>
                <a:cubicBezTo>
                  <a:pt x="754614" y="0"/>
                  <a:pt x="800100" y="45486"/>
                  <a:pt x="800100" y="101597"/>
                </a:cubicBezTo>
                <a:lnTo>
                  <a:pt x="800100" y="698503"/>
                </a:lnTo>
                <a:cubicBezTo>
                  <a:pt x="800100" y="754614"/>
                  <a:pt x="754614" y="800100"/>
                  <a:pt x="698503" y="800100"/>
                </a:cubicBezTo>
                <a:lnTo>
                  <a:pt x="101597" y="800100"/>
                </a:lnTo>
                <a:cubicBezTo>
                  <a:pt x="45486" y="800100"/>
                  <a:pt x="0" y="754614"/>
                  <a:pt x="0" y="6985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62598" y="6940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924598" y="676275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24598" y="70675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高可靠性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51748" y="6692900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101597" y="0"/>
                </a:moveTo>
                <a:lnTo>
                  <a:pt x="698503" y="0"/>
                </a:lnTo>
                <a:cubicBezTo>
                  <a:pt x="754614" y="0"/>
                  <a:pt x="800100" y="45486"/>
                  <a:pt x="800100" y="101597"/>
                </a:cubicBezTo>
                <a:lnTo>
                  <a:pt x="800100" y="698503"/>
                </a:lnTo>
                <a:cubicBezTo>
                  <a:pt x="800100" y="754614"/>
                  <a:pt x="754614" y="800100"/>
                  <a:pt x="698503" y="800100"/>
                </a:cubicBezTo>
                <a:lnTo>
                  <a:pt x="101597" y="800100"/>
                </a:lnTo>
                <a:cubicBezTo>
                  <a:pt x="45486" y="800100"/>
                  <a:pt x="0" y="754614"/>
                  <a:pt x="0" y="6985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5518448" y="69405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261398" y="676275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61398" y="706755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千节点集群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663700" cy="419100"/>
          </a:xfrm>
          <a:custGeom>
            <a:avLst/>
            <a:gdLst/>
            <a:ahLst/>
            <a:cxnLst/>
            <a:rect l="l" t="t" r="r" b="b"/>
            <a:pathLst>
              <a:path w="1663700" h="419100">
                <a:moveTo>
                  <a:pt x="209550" y="0"/>
                </a:moveTo>
                <a:lnTo>
                  <a:pt x="1454150" y="0"/>
                </a:lnTo>
                <a:cubicBezTo>
                  <a:pt x="1569804" y="0"/>
                  <a:pt x="1663700" y="93896"/>
                  <a:pt x="1663700" y="209550"/>
                </a:cubicBezTo>
                <a:lnTo>
                  <a:pt x="1663700" y="209550"/>
                </a:lnTo>
                <a:cubicBezTo>
                  <a:pt x="1663700" y="325204"/>
                  <a:pt x="1569804" y="419100"/>
                  <a:pt x="14541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590550"/>
            <a:ext cx="1346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54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核心知识体系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26225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55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4824" y="30734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38300" y="3098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基础概念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7338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起源、设计理念与核心特性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950" y="26225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0071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30627" y="3073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9900" y="3098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7100" y="37338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架构与核心组件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77550" y="26225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1887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308259" y="3073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01500" y="3098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88700" y="37338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数据块管理、副本策略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47307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55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45356" y="51816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38300" y="5207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读写流程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" y="58420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数据读写机制与租约原理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95950" y="47307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071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125270" y="51816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9900" y="52070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容错可靠性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07100" y="58420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故障处理、副本管理与数据完整性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77550" y="47307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1887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306274" y="51816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001500" y="5207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高级特性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88700" y="58420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Federation、HA 与纠删码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4350" y="68389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5500" y="718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55774" y="72898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38300" y="7315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命令行操作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5500" y="79502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常见操作与实战演练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95950" y="68389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007100" y="718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121400" y="72898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73152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SDK 编程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07100" y="79502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Java API 设计与实现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77550" y="6838950"/>
            <a:ext cx="4864100" cy="1790700"/>
          </a:xfrm>
          <a:custGeom>
            <a:avLst/>
            <a:gdLst/>
            <a:ahLst/>
            <a:cxnLst/>
            <a:rect l="l" t="t" r="r" b="b"/>
            <a:pathLst>
              <a:path w="4864100" h="1790700">
                <a:moveTo>
                  <a:pt x="101604" y="0"/>
                </a:moveTo>
                <a:lnTo>
                  <a:pt x="4762496" y="0"/>
                </a:lnTo>
                <a:cubicBezTo>
                  <a:pt x="4818610" y="0"/>
                  <a:pt x="4864100" y="45490"/>
                  <a:pt x="4864100" y="101604"/>
                </a:cubicBezTo>
                <a:lnTo>
                  <a:pt x="4864100" y="1689096"/>
                </a:lnTo>
                <a:cubicBezTo>
                  <a:pt x="4864100" y="1745210"/>
                  <a:pt x="4818610" y="1790700"/>
                  <a:pt x="47624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188700" y="718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307266" y="72898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001500" y="7315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总结展望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88700" y="7950200"/>
            <a:ext cx="434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核心要点回顾与适用场景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39800" cy="723900"/>
          </a:xfrm>
          <a:custGeom>
            <a:avLst/>
            <a:gdLst/>
            <a:ahLst/>
            <a:cxnLst/>
            <a:rect l="l" t="t" r="r" b="b"/>
            <a:pathLst>
              <a:path w="939800" h="723900">
                <a:moveTo>
                  <a:pt x="101599" y="0"/>
                </a:moveTo>
                <a:lnTo>
                  <a:pt x="838201" y="0"/>
                </a:lnTo>
                <a:cubicBezTo>
                  <a:pt x="894312" y="0"/>
                  <a:pt x="939800" y="45488"/>
                  <a:pt x="939800" y="101599"/>
                </a:cubicBezTo>
                <a:lnTo>
                  <a:pt x="939800" y="622301"/>
                </a:lnTo>
                <a:cubicBezTo>
                  <a:pt x="939800" y="678412"/>
                  <a:pt x="894312" y="723900"/>
                  <a:pt x="8382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46880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基础概念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的起源、设计理念与核心特性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209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GFS 起源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45768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801368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四大设计理念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34968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290568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核心特性解析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836" y="457836"/>
            <a:ext cx="2159177" cy="373051"/>
          </a:xfrm>
          <a:custGeom>
            <a:avLst/>
            <a:gdLst/>
            <a:ahLst/>
            <a:cxnLst/>
            <a:rect l="l" t="t" r="r" b="b"/>
            <a:pathLst>
              <a:path w="2159177" h="373051">
                <a:moveTo>
                  <a:pt x="186526" y="0"/>
                </a:moveTo>
                <a:lnTo>
                  <a:pt x="1972651" y="0"/>
                </a:lnTo>
                <a:cubicBezTo>
                  <a:pt x="2075666" y="0"/>
                  <a:pt x="2159177" y="83510"/>
                  <a:pt x="2159177" y="186526"/>
                </a:cubicBezTo>
                <a:lnTo>
                  <a:pt x="2159177" y="186526"/>
                </a:lnTo>
                <a:cubicBezTo>
                  <a:pt x="2159177" y="289541"/>
                  <a:pt x="2075666" y="373051"/>
                  <a:pt x="1972651" y="373051"/>
                </a:cubicBezTo>
                <a:lnTo>
                  <a:pt x="186526" y="373051"/>
                </a:lnTo>
                <a:cubicBezTo>
                  <a:pt x="83510" y="373051"/>
                  <a:pt x="0" y="289541"/>
                  <a:pt x="0" y="186526"/>
                </a:cubicBezTo>
                <a:lnTo>
                  <a:pt x="0" y="186526"/>
                </a:lnTo>
                <a:cubicBezTo>
                  <a:pt x="0" y="83510"/>
                  <a:pt x="83510" y="0"/>
                  <a:pt x="186526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4362" y="525663"/>
            <a:ext cx="187391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b="1" kern="0" spc="142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CONCEPTS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2184" y="972195"/>
            <a:ext cx="15622943" cy="54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3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的起源与发展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2184" y="1650470"/>
            <a:ext cx="15464679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Google GFS 论文到 Apache Hadoop 核心组件的演进之路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836" y="2243961"/>
            <a:ext cx="15340328" cy="2170481"/>
          </a:xfrm>
          <a:custGeom>
            <a:avLst/>
            <a:gdLst/>
            <a:ahLst/>
            <a:cxnLst/>
            <a:rect l="l" t="t" r="r" b="b"/>
            <a:pathLst>
              <a:path w="15340328" h="2170481">
                <a:moveTo>
                  <a:pt x="90444" y="0"/>
                </a:moveTo>
                <a:lnTo>
                  <a:pt x="15249884" y="0"/>
                </a:lnTo>
                <a:cubicBezTo>
                  <a:pt x="15299802" y="0"/>
                  <a:pt x="15340328" y="40527"/>
                  <a:pt x="15340328" y="90444"/>
                </a:cubicBezTo>
                <a:lnTo>
                  <a:pt x="15340328" y="2080037"/>
                </a:lnTo>
                <a:cubicBezTo>
                  <a:pt x="15340328" y="2129988"/>
                  <a:pt x="15299835" y="2170481"/>
                  <a:pt x="15249884" y="2170481"/>
                </a:cubicBezTo>
                <a:lnTo>
                  <a:pt x="90444" y="2170481"/>
                </a:lnTo>
                <a:cubicBezTo>
                  <a:pt x="40493" y="2170481"/>
                  <a:pt x="0" y="2129988"/>
                  <a:pt x="0" y="2080037"/>
                </a:cubicBezTo>
                <a:lnTo>
                  <a:pt x="0" y="90444"/>
                </a:lnTo>
                <a:cubicBezTo>
                  <a:pt x="0" y="40493"/>
                  <a:pt x="40493" y="0"/>
                  <a:pt x="904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4798" y="2520924"/>
            <a:ext cx="723494" cy="723494"/>
          </a:xfrm>
          <a:custGeom>
            <a:avLst/>
            <a:gdLst/>
            <a:ahLst/>
            <a:cxnLst/>
            <a:rect l="l" t="t" r="r" b="b"/>
            <a:pathLst>
              <a:path w="723494" h="723494">
                <a:moveTo>
                  <a:pt x="90437" y="0"/>
                </a:moveTo>
                <a:lnTo>
                  <a:pt x="633057" y="0"/>
                </a:lnTo>
                <a:cubicBezTo>
                  <a:pt x="683004" y="0"/>
                  <a:pt x="723494" y="40490"/>
                  <a:pt x="723494" y="90437"/>
                </a:cubicBezTo>
                <a:lnTo>
                  <a:pt x="723494" y="633057"/>
                </a:lnTo>
                <a:cubicBezTo>
                  <a:pt x="723494" y="683004"/>
                  <a:pt x="683004" y="723494"/>
                  <a:pt x="633057" y="723494"/>
                </a:cubicBezTo>
                <a:lnTo>
                  <a:pt x="90437" y="723494"/>
                </a:lnTo>
                <a:cubicBezTo>
                  <a:pt x="40490" y="723494"/>
                  <a:pt x="0" y="683004"/>
                  <a:pt x="0" y="633057"/>
                </a:cubicBezTo>
                <a:lnTo>
                  <a:pt x="0" y="90437"/>
                </a:lnTo>
                <a:cubicBezTo>
                  <a:pt x="0" y="40490"/>
                  <a:pt x="40490" y="0"/>
                  <a:pt x="9043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4804" y="2747015"/>
            <a:ext cx="203483" cy="271310"/>
          </a:xfrm>
          <a:custGeom>
            <a:avLst/>
            <a:gdLst/>
            <a:ahLst/>
            <a:cxnLst/>
            <a:rect l="l" t="t" r="r" b="b"/>
            <a:pathLst>
              <a:path w="203483" h="271310">
                <a:moveTo>
                  <a:pt x="155208" y="203483"/>
                </a:moveTo>
                <a:cubicBezTo>
                  <a:pt x="159077" y="191666"/>
                  <a:pt x="166813" y="180962"/>
                  <a:pt x="175557" y="171741"/>
                </a:cubicBezTo>
                <a:cubicBezTo>
                  <a:pt x="192885" y="153513"/>
                  <a:pt x="203483" y="128872"/>
                  <a:pt x="203483" y="101741"/>
                </a:cubicBezTo>
                <a:cubicBezTo>
                  <a:pt x="203483" y="45572"/>
                  <a:pt x="157911" y="0"/>
                  <a:pt x="101741" y="0"/>
                </a:cubicBezTo>
                <a:cubicBezTo>
                  <a:pt x="45572" y="0"/>
                  <a:pt x="0" y="45572"/>
                  <a:pt x="0" y="101741"/>
                </a:cubicBezTo>
                <a:cubicBezTo>
                  <a:pt x="0" y="128872"/>
                  <a:pt x="10598" y="153513"/>
                  <a:pt x="27926" y="171741"/>
                </a:cubicBezTo>
                <a:cubicBezTo>
                  <a:pt x="36669" y="180962"/>
                  <a:pt x="44459" y="191666"/>
                  <a:pt x="48274" y="203483"/>
                </a:cubicBezTo>
                <a:lnTo>
                  <a:pt x="155155" y="203483"/>
                </a:lnTo>
                <a:close/>
                <a:moveTo>
                  <a:pt x="152612" y="228918"/>
                </a:moveTo>
                <a:lnTo>
                  <a:pt x="50871" y="228918"/>
                </a:lnTo>
                <a:lnTo>
                  <a:pt x="50871" y="237396"/>
                </a:lnTo>
                <a:cubicBezTo>
                  <a:pt x="50871" y="260818"/>
                  <a:pt x="69841" y="279789"/>
                  <a:pt x="93263" y="279789"/>
                </a:cubicBezTo>
                <a:lnTo>
                  <a:pt x="110220" y="279789"/>
                </a:lnTo>
                <a:cubicBezTo>
                  <a:pt x="133641" y="279789"/>
                  <a:pt x="152612" y="260818"/>
                  <a:pt x="152612" y="237396"/>
                </a:cubicBezTo>
                <a:lnTo>
                  <a:pt x="152612" y="228918"/>
                </a:lnTo>
                <a:close/>
                <a:moveTo>
                  <a:pt x="97502" y="59349"/>
                </a:moveTo>
                <a:cubicBezTo>
                  <a:pt x="76412" y="59349"/>
                  <a:pt x="59349" y="76412"/>
                  <a:pt x="59349" y="97502"/>
                </a:cubicBezTo>
                <a:cubicBezTo>
                  <a:pt x="59349" y="104550"/>
                  <a:pt x="53679" y="110220"/>
                  <a:pt x="46631" y="110220"/>
                </a:cubicBezTo>
                <a:cubicBezTo>
                  <a:pt x="39584" y="110220"/>
                  <a:pt x="33914" y="104550"/>
                  <a:pt x="33914" y="97502"/>
                </a:cubicBezTo>
                <a:cubicBezTo>
                  <a:pt x="33914" y="62370"/>
                  <a:pt x="62370" y="33914"/>
                  <a:pt x="97502" y="33914"/>
                </a:cubicBezTo>
                <a:cubicBezTo>
                  <a:pt x="104550" y="33914"/>
                  <a:pt x="110220" y="39584"/>
                  <a:pt x="110220" y="46631"/>
                </a:cubicBezTo>
                <a:cubicBezTo>
                  <a:pt x="110220" y="53679"/>
                  <a:pt x="104550" y="59349"/>
                  <a:pt x="97502" y="5934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29602" y="2520924"/>
            <a:ext cx="13927255" cy="3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起源背景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9602" y="3018325"/>
            <a:ext cx="13893341" cy="666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源于 Google GFS 论文</a:t>
            </a:r>
            <a:r>
              <a:rPr lang="en-US" sz="16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，为解决大数据存储问题而生。2003年，Google 发表了《The Google File System》论文，提出了一个可扩展的分布式文件系统，用于处理海量数据。这篇论文成为 HDFS 设计的重要理论基础。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29602" y="3815299"/>
            <a:ext cx="904367" cy="316529"/>
          </a:xfrm>
          <a:custGeom>
            <a:avLst/>
            <a:gdLst/>
            <a:ahLst/>
            <a:cxnLst/>
            <a:rect l="l" t="t" r="r" b="b"/>
            <a:pathLst>
              <a:path w="904367" h="316529">
                <a:moveTo>
                  <a:pt x="158264" y="0"/>
                </a:moveTo>
                <a:lnTo>
                  <a:pt x="746103" y="0"/>
                </a:lnTo>
                <a:cubicBezTo>
                  <a:pt x="833510" y="0"/>
                  <a:pt x="904367" y="70857"/>
                  <a:pt x="904367" y="158264"/>
                </a:cubicBezTo>
                <a:lnTo>
                  <a:pt x="904367" y="158264"/>
                </a:lnTo>
                <a:cubicBezTo>
                  <a:pt x="904367" y="245671"/>
                  <a:pt x="833510" y="316529"/>
                  <a:pt x="746103" y="316529"/>
                </a:cubicBezTo>
                <a:lnTo>
                  <a:pt x="158264" y="316529"/>
                </a:lnTo>
                <a:cubicBezTo>
                  <a:pt x="70857" y="316529"/>
                  <a:pt x="0" y="245671"/>
                  <a:pt x="0" y="158264"/>
                </a:cubicBezTo>
                <a:lnTo>
                  <a:pt x="0" y="158264"/>
                </a:lnTo>
                <a:cubicBezTo>
                  <a:pt x="0" y="70857"/>
                  <a:pt x="70857" y="0"/>
                  <a:pt x="15826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29602" y="3815299"/>
            <a:ext cx="983499" cy="316529"/>
          </a:xfrm>
          <a:prstGeom prst="rect">
            <a:avLst/>
          </a:prstGeom>
          <a:noFill/>
          <a:ln/>
        </p:spPr>
        <p:txBody>
          <a:bodyPr wrap="square" lIns="135655" tIns="45218" rIns="135655" bIns="45218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4843" y="3815299"/>
            <a:ext cx="746103" cy="316529"/>
          </a:xfrm>
          <a:custGeom>
            <a:avLst/>
            <a:gdLst/>
            <a:ahLst/>
            <a:cxnLst/>
            <a:rect l="l" t="t" r="r" b="b"/>
            <a:pathLst>
              <a:path w="746103" h="316529">
                <a:moveTo>
                  <a:pt x="158264" y="0"/>
                </a:moveTo>
                <a:lnTo>
                  <a:pt x="587839" y="0"/>
                </a:lnTo>
                <a:cubicBezTo>
                  <a:pt x="675246" y="0"/>
                  <a:pt x="746103" y="70857"/>
                  <a:pt x="746103" y="158264"/>
                </a:cubicBezTo>
                <a:lnTo>
                  <a:pt x="746103" y="158264"/>
                </a:lnTo>
                <a:cubicBezTo>
                  <a:pt x="746103" y="245671"/>
                  <a:pt x="675246" y="316529"/>
                  <a:pt x="587839" y="316529"/>
                </a:cubicBezTo>
                <a:lnTo>
                  <a:pt x="158264" y="316529"/>
                </a:lnTo>
                <a:cubicBezTo>
                  <a:pt x="70857" y="316529"/>
                  <a:pt x="0" y="245671"/>
                  <a:pt x="0" y="158264"/>
                </a:cubicBezTo>
                <a:lnTo>
                  <a:pt x="0" y="158264"/>
                </a:lnTo>
                <a:cubicBezTo>
                  <a:pt x="0" y="70857"/>
                  <a:pt x="70857" y="0"/>
                  <a:pt x="15826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814843" y="3815299"/>
            <a:ext cx="825235" cy="316529"/>
          </a:xfrm>
          <a:prstGeom prst="rect">
            <a:avLst/>
          </a:prstGeom>
          <a:noFill/>
          <a:ln/>
        </p:spPr>
        <p:txBody>
          <a:bodyPr wrap="square" lIns="135655" tIns="45218" rIns="135655" bIns="45218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41819" y="3815299"/>
            <a:ext cx="904367" cy="316529"/>
          </a:xfrm>
          <a:custGeom>
            <a:avLst/>
            <a:gdLst/>
            <a:ahLst/>
            <a:cxnLst/>
            <a:rect l="l" t="t" r="r" b="b"/>
            <a:pathLst>
              <a:path w="904367" h="316529">
                <a:moveTo>
                  <a:pt x="158264" y="0"/>
                </a:moveTo>
                <a:lnTo>
                  <a:pt x="746103" y="0"/>
                </a:lnTo>
                <a:cubicBezTo>
                  <a:pt x="833510" y="0"/>
                  <a:pt x="904367" y="70857"/>
                  <a:pt x="904367" y="158264"/>
                </a:cubicBezTo>
                <a:lnTo>
                  <a:pt x="904367" y="158264"/>
                </a:lnTo>
                <a:cubicBezTo>
                  <a:pt x="904367" y="245671"/>
                  <a:pt x="833510" y="316529"/>
                  <a:pt x="746103" y="316529"/>
                </a:cubicBezTo>
                <a:lnTo>
                  <a:pt x="158264" y="316529"/>
                </a:lnTo>
                <a:cubicBezTo>
                  <a:pt x="70857" y="316529"/>
                  <a:pt x="0" y="245671"/>
                  <a:pt x="0" y="158264"/>
                </a:cubicBezTo>
                <a:lnTo>
                  <a:pt x="0" y="158264"/>
                </a:lnTo>
                <a:cubicBezTo>
                  <a:pt x="0" y="70857"/>
                  <a:pt x="70857" y="0"/>
                  <a:pt x="15826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741819" y="3815299"/>
            <a:ext cx="983499" cy="316529"/>
          </a:xfrm>
          <a:prstGeom prst="rect">
            <a:avLst/>
          </a:prstGeom>
          <a:noFill/>
          <a:ln/>
        </p:spPr>
        <p:txBody>
          <a:bodyPr wrap="square" lIns="135655" tIns="45218" rIns="135655" bIns="45218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836" y="4646186"/>
            <a:ext cx="7551466" cy="2679188"/>
          </a:xfrm>
          <a:custGeom>
            <a:avLst/>
            <a:gdLst/>
            <a:ahLst/>
            <a:cxnLst/>
            <a:rect l="l" t="t" r="r" b="b"/>
            <a:pathLst>
              <a:path w="7551466" h="2679188">
                <a:moveTo>
                  <a:pt x="90449" y="0"/>
                </a:moveTo>
                <a:lnTo>
                  <a:pt x="7461017" y="0"/>
                </a:lnTo>
                <a:cubicBezTo>
                  <a:pt x="7510970" y="0"/>
                  <a:pt x="7551466" y="40496"/>
                  <a:pt x="7551466" y="90449"/>
                </a:cubicBezTo>
                <a:lnTo>
                  <a:pt x="7551466" y="2588738"/>
                </a:lnTo>
                <a:cubicBezTo>
                  <a:pt x="7551466" y="2638692"/>
                  <a:pt x="7510970" y="2679188"/>
                  <a:pt x="7461017" y="2679188"/>
                </a:cubicBezTo>
                <a:lnTo>
                  <a:pt x="90449" y="2679188"/>
                </a:lnTo>
                <a:cubicBezTo>
                  <a:pt x="40496" y="2679188"/>
                  <a:pt x="0" y="2638692"/>
                  <a:pt x="0" y="2588738"/>
                </a:cubicBezTo>
                <a:lnTo>
                  <a:pt x="0" y="90449"/>
                </a:lnTo>
                <a:cubicBezTo>
                  <a:pt x="0" y="40529"/>
                  <a:pt x="40529" y="0"/>
                  <a:pt x="9044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34798" y="4923149"/>
            <a:ext cx="542620" cy="542620"/>
          </a:xfrm>
          <a:custGeom>
            <a:avLst/>
            <a:gdLst/>
            <a:ahLst/>
            <a:cxnLst/>
            <a:rect l="l" t="t" r="r" b="b"/>
            <a:pathLst>
              <a:path w="542620" h="542620">
                <a:moveTo>
                  <a:pt x="90439" y="0"/>
                </a:moveTo>
                <a:lnTo>
                  <a:pt x="452182" y="0"/>
                </a:lnTo>
                <a:cubicBezTo>
                  <a:pt x="502130" y="0"/>
                  <a:pt x="542620" y="40491"/>
                  <a:pt x="542620" y="90439"/>
                </a:cubicBezTo>
                <a:lnTo>
                  <a:pt x="542620" y="452182"/>
                </a:lnTo>
                <a:cubicBezTo>
                  <a:pt x="542620" y="502130"/>
                  <a:pt x="502130" y="542620"/>
                  <a:pt x="452182" y="542620"/>
                </a:cubicBezTo>
                <a:lnTo>
                  <a:pt x="90439" y="542620"/>
                </a:lnTo>
                <a:cubicBezTo>
                  <a:pt x="40491" y="542620"/>
                  <a:pt x="0" y="502130"/>
                  <a:pt x="0" y="452182"/>
                </a:cubicBezTo>
                <a:lnTo>
                  <a:pt x="0" y="90439"/>
                </a:lnTo>
                <a:cubicBezTo>
                  <a:pt x="0" y="40491"/>
                  <a:pt x="40491" y="0"/>
                  <a:pt x="9043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07193" y="5081413"/>
            <a:ext cx="197830" cy="226092"/>
          </a:xfrm>
          <a:custGeom>
            <a:avLst/>
            <a:gdLst/>
            <a:ahLst/>
            <a:cxnLst/>
            <a:rect l="l" t="t" r="r" b="b"/>
            <a:pathLst>
              <a:path w="197830" h="226092">
                <a:moveTo>
                  <a:pt x="35327" y="45925"/>
                </a:moveTo>
                <a:cubicBezTo>
                  <a:pt x="41176" y="45925"/>
                  <a:pt x="45925" y="41176"/>
                  <a:pt x="45925" y="35327"/>
                </a:cubicBezTo>
                <a:cubicBezTo>
                  <a:pt x="45925" y="29478"/>
                  <a:pt x="41176" y="24729"/>
                  <a:pt x="35327" y="24729"/>
                </a:cubicBezTo>
                <a:cubicBezTo>
                  <a:pt x="29478" y="24729"/>
                  <a:pt x="24729" y="29478"/>
                  <a:pt x="24729" y="35327"/>
                </a:cubicBezTo>
                <a:cubicBezTo>
                  <a:pt x="24729" y="41176"/>
                  <a:pt x="29478" y="45925"/>
                  <a:pt x="35327" y="45925"/>
                </a:cubicBezTo>
                <a:close/>
                <a:moveTo>
                  <a:pt x="70654" y="35327"/>
                </a:moveTo>
                <a:cubicBezTo>
                  <a:pt x="70654" y="49811"/>
                  <a:pt x="61954" y="62264"/>
                  <a:pt x="49458" y="67695"/>
                </a:cubicBezTo>
                <a:lnTo>
                  <a:pt x="49458" y="98915"/>
                </a:lnTo>
                <a:lnTo>
                  <a:pt x="127177" y="98915"/>
                </a:lnTo>
                <a:cubicBezTo>
                  <a:pt x="138879" y="98915"/>
                  <a:pt x="148373" y="89421"/>
                  <a:pt x="148373" y="77719"/>
                </a:cubicBezTo>
                <a:lnTo>
                  <a:pt x="148373" y="67695"/>
                </a:lnTo>
                <a:cubicBezTo>
                  <a:pt x="135876" y="62264"/>
                  <a:pt x="127177" y="49811"/>
                  <a:pt x="127177" y="35327"/>
                </a:cubicBezTo>
                <a:cubicBezTo>
                  <a:pt x="127177" y="15809"/>
                  <a:pt x="142985" y="0"/>
                  <a:pt x="162503" y="0"/>
                </a:cubicBezTo>
                <a:cubicBezTo>
                  <a:pt x="182022" y="0"/>
                  <a:pt x="197830" y="15809"/>
                  <a:pt x="197830" y="35327"/>
                </a:cubicBezTo>
                <a:cubicBezTo>
                  <a:pt x="197830" y="49811"/>
                  <a:pt x="189131" y="62264"/>
                  <a:pt x="176634" y="67695"/>
                </a:cubicBezTo>
                <a:lnTo>
                  <a:pt x="176634" y="77719"/>
                </a:lnTo>
                <a:cubicBezTo>
                  <a:pt x="176634" y="105053"/>
                  <a:pt x="154511" y="127177"/>
                  <a:pt x="127177" y="127177"/>
                </a:cubicBezTo>
                <a:lnTo>
                  <a:pt x="49458" y="127177"/>
                </a:lnTo>
                <a:lnTo>
                  <a:pt x="49458" y="158397"/>
                </a:lnTo>
                <a:cubicBezTo>
                  <a:pt x="61954" y="163828"/>
                  <a:pt x="70654" y="176281"/>
                  <a:pt x="70654" y="190765"/>
                </a:cubicBezTo>
                <a:cubicBezTo>
                  <a:pt x="70654" y="210283"/>
                  <a:pt x="54845" y="226092"/>
                  <a:pt x="35327" y="226092"/>
                </a:cubicBezTo>
                <a:cubicBezTo>
                  <a:pt x="15809" y="226092"/>
                  <a:pt x="0" y="210283"/>
                  <a:pt x="0" y="190765"/>
                </a:cubicBezTo>
                <a:cubicBezTo>
                  <a:pt x="0" y="176281"/>
                  <a:pt x="8699" y="163828"/>
                  <a:pt x="21196" y="158397"/>
                </a:cubicBezTo>
                <a:lnTo>
                  <a:pt x="21196" y="67739"/>
                </a:lnTo>
                <a:cubicBezTo>
                  <a:pt x="8699" y="62264"/>
                  <a:pt x="0" y="49811"/>
                  <a:pt x="0" y="35327"/>
                </a:cubicBezTo>
                <a:cubicBezTo>
                  <a:pt x="0" y="15809"/>
                  <a:pt x="15809" y="0"/>
                  <a:pt x="35327" y="0"/>
                </a:cubicBezTo>
                <a:cubicBezTo>
                  <a:pt x="54845" y="0"/>
                  <a:pt x="70654" y="15809"/>
                  <a:pt x="70654" y="35327"/>
                </a:cubicBezTo>
                <a:close/>
                <a:moveTo>
                  <a:pt x="173102" y="35327"/>
                </a:moveTo>
                <a:cubicBezTo>
                  <a:pt x="173102" y="29478"/>
                  <a:pt x="168353" y="24729"/>
                  <a:pt x="162503" y="24729"/>
                </a:cubicBezTo>
                <a:cubicBezTo>
                  <a:pt x="156654" y="24729"/>
                  <a:pt x="151905" y="29478"/>
                  <a:pt x="151905" y="35327"/>
                </a:cubicBezTo>
                <a:cubicBezTo>
                  <a:pt x="151905" y="41176"/>
                  <a:pt x="156654" y="45925"/>
                  <a:pt x="162503" y="45925"/>
                </a:cubicBezTo>
                <a:cubicBezTo>
                  <a:pt x="168353" y="45925"/>
                  <a:pt x="173102" y="41176"/>
                  <a:pt x="173102" y="35327"/>
                </a:cubicBezTo>
                <a:close/>
                <a:moveTo>
                  <a:pt x="35327" y="201363"/>
                </a:moveTo>
                <a:cubicBezTo>
                  <a:pt x="41176" y="201363"/>
                  <a:pt x="45925" y="196614"/>
                  <a:pt x="45925" y="190765"/>
                </a:cubicBezTo>
                <a:cubicBezTo>
                  <a:pt x="45925" y="184916"/>
                  <a:pt x="41176" y="180167"/>
                  <a:pt x="35327" y="180167"/>
                </a:cubicBezTo>
                <a:cubicBezTo>
                  <a:pt x="29478" y="180167"/>
                  <a:pt x="24729" y="184916"/>
                  <a:pt x="24729" y="190765"/>
                </a:cubicBezTo>
                <a:cubicBezTo>
                  <a:pt x="24729" y="196614"/>
                  <a:pt x="29478" y="201363"/>
                  <a:pt x="35327" y="20136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58292" y="5036195"/>
            <a:ext cx="1017413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开源历程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798" y="5646643"/>
            <a:ext cx="7087978" cy="58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Nutch 项目中独立出来</a:t>
            </a:r>
            <a:r>
              <a:rPr lang="en-US" sz="14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，成为 Apache Hadoop 核心组件。2006年，Doug Cutting 将 GFS 的实现作为 Nutch 项目的一部分，后来独立成为 Hadoop 项目。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4798" y="6370136"/>
            <a:ext cx="7076673" cy="22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2006: Hadoop 项目启动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4798" y="6596228"/>
            <a:ext cx="7076673" cy="22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2008: 成为 Apache 顶级项目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47935" y="4646186"/>
            <a:ext cx="7551466" cy="2679188"/>
          </a:xfrm>
          <a:custGeom>
            <a:avLst/>
            <a:gdLst/>
            <a:ahLst/>
            <a:cxnLst/>
            <a:rect l="l" t="t" r="r" b="b"/>
            <a:pathLst>
              <a:path w="7551466" h="2679188">
                <a:moveTo>
                  <a:pt x="90449" y="0"/>
                </a:moveTo>
                <a:lnTo>
                  <a:pt x="7461017" y="0"/>
                </a:lnTo>
                <a:cubicBezTo>
                  <a:pt x="7510970" y="0"/>
                  <a:pt x="7551466" y="40496"/>
                  <a:pt x="7551466" y="90449"/>
                </a:cubicBezTo>
                <a:lnTo>
                  <a:pt x="7551466" y="2588738"/>
                </a:lnTo>
                <a:cubicBezTo>
                  <a:pt x="7551466" y="2638692"/>
                  <a:pt x="7510970" y="2679188"/>
                  <a:pt x="7461017" y="2679188"/>
                </a:cubicBezTo>
                <a:lnTo>
                  <a:pt x="90449" y="2679188"/>
                </a:lnTo>
                <a:cubicBezTo>
                  <a:pt x="40496" y="2679188"/>
                  <a:pt x="0" y="2638692"/>
                  <a:pt x="0" y="2588738"/>
                </a:cubicBezTo>
                <a:lnTo>
                  <a:pt x="0" y="90449"/>
                </a:lnTo>
                <a:cubicBezTo>
                  <a:pt x="0" y="40529"/>
                  <a:pt x="40529" y="0"/>
                  <a:pt x="9044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4897" y="4923149"/>
            <a:ext cx="542620" cy="542620"/>
          </a:xfrm>
          <a:custGeom>
            <a:avLst/>
            <a:gdLst/>
            <a:ahLst/>
            <a:cxnLst/>
            <a:rect l="l" t="t" r="r" b="b"/>
            <a:pathLst>
              <a:path w="542620" h="542620">
                <a:moveTo>
                  <a:pt x="90439" y="0"/>
                </a:moveTo>
                <a:lnTo>
                  <a:pt x="452182" y="0"/>
                </a:lnTo>
                <a:cubicBezTo>
                  <a:pt x="502130" y="0"/>
                  <a:pt x="542620" y="40491"/>
                  <a:pt x="542620" y="90439"/>
                </a:cubicBezTo>
                <a:lnTo>
                  <a:pt x="542620" y="452182"/>
                </a:lnTo>
                <a:cubicBezTo>
                  <a:pt x="542620" y="502130"/>
                  <a:pt x="502130" y="542620"/>
                  <a:pt x="452182" y="542620"/>
                </a:cubicBezTo>
                <a:lnTo>
                  <a:pt x="90439" y="542620"/>
                </a:lnTo>
                <a:cubicBezTo>
                  <a:pt x="40491" y="542620"/>
                  <a:pt x="0" y="502130"/>
                  <a:pt x="0" y="452182"/>
                </a:cubicBezTo>
                <a:lnTo>
                  <a:pt x="0" y="90439"/>
                </a:lnTo>
                <a:cubicBezTo>
                  <a:pt x="0" y="40491"/>
                  <a:pt x="40491" y="0"/>
                  <a:pt x="9043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83161" y="5081413"/>
            <a:ext cx="226092" cy="226092"/>
          </a:xfrm>
          <a:custGeom>
            <a:avLst/>
            <a:gdLst/>
            <a:ahLst/>
            <a:cxnLst/>
            <a:rect l="l" t="t" r="r" b="b"/>
            <a:pathLst>
              <a:path w="226092" h="226092">
                <a:moveTo>
                  <a:pt x="56523" y="141307"/>
                </a:moveTo>
                <a:lnTo>
                  <a:pt x="10819" y="141307"/>
                </a:lnTo>
                <a:cubicBezTo>
                  <a:pt x="-177" y="141307"/>
                  <a:pt x="-6933" y="129340"/>
                  <a:pt x="-1281" y="119890"/>
                </a:cubicBezTo>
                <a:lnTo>
                  <a:pt x="22079" y="80943"/>
                </a:lnTo>
                <a:cubicBezTo>
                  <a:pt x="25921" y="74540"/>
                  <a:pt x="32810" y="70654"/>
                  <a:pt x="40273" y="70654"/>
                </a:cubicBezTo>
                <a:lnTo>
                  <a:pt x="82223" y="70654"/>
                </a:lnTo>
                <a:cubicBezTo>
                  <a:pt x="115828" y="13733"/>
                  <a:pt x="165948" y="10863"/>
                  <a:pt x="199464" y="15765"/>
                </a:cubicBezTo>
                <a:cubicBezTo>
                  <a:pt x="205116" y="16604"/>
                  <a:pt x="209532" y="21019"/>
                  <a:pt x="210327" y="26628"/>
                </a:cubicBezTo>
                <a:cubicBezTo>
                  <a:pt x="215229" y="60144"/>
                  <a:pt x="212358" y="110264"/>
                  <a:pt x="155438" y="143869"/>
                </a:cubicBezTo>
                <a:lnTo>
                  <a:pt x="155438" y="185819"/>
                </a:lnTo>
                <a:cubicBezTo>
                  <a:pt x="155438" y="193282"/>
                  <a:pt x="151552" y="200171"/>
                  <a:pt x="145149" y="204013"/>
                </a:cubicBezTo>
                <a:lnTo>
                  <a:pt x="106201" y="227372"/>
                </a:lnTo>
                <a:cubicBezTo>
                  <a:pt x="96796" y="233025"/>
                  <a:pt x="84784" y="226224"/>
                  <a:pt x="84784" y="215273"/>
                </a:cubicBezTo>
                <a:lnTo>
                  <a:pt x="84784" y="169569"/>
                </a:lnTo>
                <a:cubicBezTo>
                  <a:pt x="84784" y="153981"/>
                  <a:pt x="72111" y="141307"/>
                  <a:pt x="56523" y="141307"/>
                </a:cubicBezTo>
                <a:lnTo>
                  <a:pt x="56479" y="141307"/>
                </a:lnTo>
                <a:close/>
                <a:moveTo>
                  <a:pt x="176634" y="70654"/>
                </a:moveTo>
                <a:cubicBezTo>
                  <a:pt x="176634" y="58955"/>
                  <a:pt x="167137" y="49458"/>
                  <a:pt x="155438" y="49458"/>
                </a:cubicBezTo>
                <a:cubicBezTo>
                  <a:pt x="143740" y="49458"/>
                  <a:pt x="134242" y="58955"/>
                  <a:pt x="134242" y="70654"/>
                </a:cubicBezTo>
                <a:cubicBezTo>
                  <a:pt x="134242" y="82352"/>
                  <a:pt x="143740" y="91850"/>
                  <a:pt x="155438" y="91850"/>
                </a:cubicBezTo>
                <a:cubicBezTo>
                  <a:pt x="167137" y="91850"/>
                  <a:pt x="176634" y="82352"/>
                  <a:pt x="176634" y="70654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248391" y="5036195"/>
            <a:ext cx="1017413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24897" y="5646643"/>
            <a:ext cx="7087978" cy="58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经历多个版本演进</a:t>
            </a:r>
            <a:r>
              <a:rPr lang="en-US" sz="14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，从单 NameNode 到 Federation 和 HA。HDFS 架构不断优化，解决了 NameNode 单点故障和扩展性瓶颈问题。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24897" y="6370136"/>
            <a:ext cx="7076673" cy="22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Hadoop 1.x: 单 NameNode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24897" y="6596228"/>
            <a:ext cx="7076673" cy="22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Hadoop 2.x: HA, Federation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24897" y="6822320"/>
            <a:ext cx="7076673" cy="22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Hadoop 3.x: 纠删码, 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836" y="7562771"/>
            <a:ext cx="15340328" cy="1051327"/>
          </a:xfrm>
          <a:custGeom>
            <a:avLst/>
            <a:gdLst/>
            <a:ahLst/>
            <a:cxnLst/>
            <a:rect l="l" t="t" r="r" b="b"/>
            <a:pathLst>
              <a:path w="15340328" h="1051327">
                <a:moveTo>
                  <a:pt x="90435" y="0"/>
                </a:moveTo>
                <a:lnTo>
                  <a:pt x="15249893" y="0"/>
                </a:lnTo>
                <a:cubicBezTo>
                  <a:pt x="15299839" y="0"/>
                  <a:pt x="15340328" y="40489"/>
                  <a:pt x="15340328" y="90435"/>
                </a:cubicBezTo>
                <a:lnTo>
                  <a:pt x="15340328" y="960892"/>
                </a:lnTo>
                <a:cubicBezTo>
                  <a:pt x="15340328" y="1010838"/>
                  <a:pt x="15299839" y="1051327"/>
                  <a:pt x="15249893" y="1051327"/>
                </a:cubicBezTo>
                <a:lnTo>
                  <a:pt x="90435" y="1051327"/>
                </a:lnTo>
                <a:cubicBezTo>
                  <a:pt x="40523" y="1051327"/>
                  <a:pt x="0" y="1010804"/>
                  <a:pt x="0" y="960892"/>
                </a:cubicBezTo>
                <a:lnTo>
                  <a:pt x="0" y="90435"/>
                </a:lnTo>
                <a:cubicBezTo>
                  <a:pt x="0" y="40523"/>
                  <a:pt x="40523" y="0"/>
                  <a:pt x="9043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23494" y="7839733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271310"/>
                </a:moveTo>
                <a:cubicBezTo>
                  <a:pt x="210525" y="271310"/>
                  <a:pt x="271310" y="210525"/>
                  <a:pt x="271310" y="135655"/>
                </a:cubicBezTo>
                <a:cubicBezTo>
                  <a:pt x="271310" y="60785"/>
                  <a:pt x="210525" y="0"/>
                  <a:pt x="135655" y="0"/>
                </a:cubicBezTo>
                <a:cubicBezTo>
                  <a:pt x="60785" y="0"/>
                  <a:pt x="0" y="60785"/>
                  <a:pt x="0" y="135655"/>
                </a:cubicBezTo>
                <a:cubicBezTo>
                  <a:pt x="0" y="210525"/>
                  <a:pt x="60785" y="271310"/>
                  <a:pt x="135655" y="271310"/>
                </a:cubicBezTo>
                <a:close/>
                <a:moveTo>
                  <a:pt x="118698" y="84784"/>
                </a:moveTo>
                <a:cubicBezTo>
                  <a:pt x="118698" y="75426"/>
                  <a:pt x="126296" y="67828"/>
                  <a:pt x="135655" y="67828"/>
                </a:cubicBezTo>
                <a:cubicBezTo>
                  <a:pt x="145014" y="67828"/>
                  <a:pt x="152612" y="75426"/>
                  <a:pt x="152612" y="84784"/>
                </a:cubicBezTo>
                <a:cubicBezTo>
                  <a:pt x="152612" y="94143"/>
                  <a:pt x="145014" y="101741"/>
                  <a:pt x="135655" y="101741"/>
                </a:cubicBezTo>
                <a:cubicBezTo>
                  <a:pt x="126296" y="101741"/>
                  <a:pt x="118698" y="94143"/>
                  <a:pt x="118698" y="84784"/>
                </a:cubicBezTo>
                <a:close/>
                <a:moveTo>
                  <a:pt x="114459" y="118698"/>
                </a:moveTo>
                <a:lnTo>
                  <a:pt x="139894" y="118698"/>
                </a:lnTo>
                <a:cubicBezTo>
                  <a:pt x="146942" y="118698"/>
                  <a:pt x="152612" y="124368"/>
                  <a:pt x="152612" y="131416"/>
                </a:cubicBezTo>
                <a:lnTo>
                  <a:pt x="152612" y="178047"/>
                </a:lnTo>
                <a:lnTo>
                  <a:pt x="156851" y="178047"/>
                </a:lnTo>
                <a:cubicBezTo>
                  <a:pt x="163899" y="178047"/>
                  <a:pt x="169569" y="183717"/>
                  <a:pt x="169569" y="190765"/>
                </a:cubicBezTo>
                <a:cubicBezTo>
                  <a:pt x="169569" y="197813"/>
                  <a:pt x="163899" y="203483"/>
                  <a:pt x="156851" y="203483"/>
                </a:cubicBezTo>
                <a:lnTo>
                  <a:pt x="114459" y="203483"/>
                </a:lnTo>
                <a:cubicBezTo>
                  <a:pt x="107411" y="203483"/>
                  <a:pt x="101741" y="197813"/>
                  <a:pt x="101741" y="190765"/>
                </a:cubicBezTo>
                <a:cubicBezTo>
                  <a:pt x="101741" y="183717"/>
                  <a:pt x="107411" y="178047"/>
                  <a:pt x="114459" y="178047"/>
                </a:cubicBezTo>
                <a:lnTo>
                  <a:pt x="127177" y="178047"/>
                </a:lnTo>
                <a:lnTo>
                  <a:pt x="127177" y="144134"/>
                </a:lnTo>
                <a:lnTo>
                  <a:pt x="114459" y="144134"/>
                </a:lnTo>
                <a:cubicBezTo>
                  <a:pt x="107411" y="144134"/>
                  <a:pt x="101741" y="138464"/>
                  <a:pt x="101741" y="131416"/>
                </a:cubicBezTo>
                <a:cubicBezTo>
                  <a:pt x="101741" y="124368"/>
                  <a:pt x="107411" y="118698"/>
                  <a:pt x="114459" y="11869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09591" y="7794515"/>
            <a:ext cx="14447266" cy="58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解决了什么问题？</a:t>
            </a:r>
            <a:r>
              <a:rPr lang="en-US" sz="14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传统文件系统无法有效存储和处理 PB 级别的海量数据。HDFS 通过分布式存储、数据冗余、容错机制，实现了在商用硬件上构建高可靠、高吞吐量的存储系统，为大数据处理提供了坚实基础。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233083" cy="349250"/>
          </a:xfrm>
          <a:custGeom>
            <a:avLst/>
            <a:gdLst/>
            <a:ahLst/>
            <a:cxnLst/>
            <a:rect l="l" t="t" r="r" b="b"/>
            <a:pathLst>
              <a:path w="2233083" h="349250">
                <a:moveTo>
                  <a:pt x="174625" y="0"/>
                </a:moveTo>
                <a:lnTo>
                  <a:pt x="2058458" y="0"/>
                </a:lnTo>
                <a:cubicBezTo>
                  <a:pt x="2154836" y="0"/>
                  <a:pt x="2233083" y="78247"/>
                  <a:pt x="2233083" y="174625"/>
                </a:cubicBezTo>
                <a:lnTo>
                  <a:pt x="2233083" y="174625"/>
                </a:lnTo>
                <a:cubicBezTo>
                  <a:pt x="2233083" y="271003"/>
                  <a:pt x="2154836" y="349250"/>
                  <a:pt x="2058458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19718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设计理念与核心特性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545167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四大设计理念与四大核心特性的深度解析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3333" y="2053167"/>
            <a:ext cx="7725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四大设计理念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4500" y="2561167"/>
            <a:ext cx="7577667" cy="1312333"/>
          </a:xfrm>
          <a:custGeom>
            <a:avLst/>
            <a:gdLst/>
            <a:ahLst/>
            <a:cxnLst/>
            <a:rect l="l" t="t" r="r" b="b"/>
            <a:pathLst>
              <a:path w="7577667" h="1312333">
                <a:moveTo>
                  <a:pt x="42333" y="0"/>
                </a:moveTo>
                <a:lnTo>
                  <a:pt x="7492995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1227662"/>
                </a:lnTo>
                <a:cubicBezTo>
                  <a:pt x="7577667" y="1274425"/>
                  <a:pt x="7539758" y="1312333"/>
                  <a:pt x="7492995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44500" y="2561167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5000" y="27305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5146" y="2794000"/>
            <a:ext cx="13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0667" y="2751667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硬件故障常态化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" y="3153833"/>
            <a:ext cx="7302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假设硬件故障是常态，而非异常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。HDFS 设计用于在商用硬件集群上运行，通过多副本机制和自动故障恢复来保证数据可靠性。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500" y="4000500"/>
            <a:ext cx="7577667" cy="1312333"/>
          </a:xfrm>
          <a:custGeom>
            <a:avLst/>
            <a:gdLst/>
            <a:ahLst/>
            <a:cxnLst/>
            <a:rect l="l" t="t" r="r" b="b"/>
            <a:pathLst>
              <a:path w="7577667" h="1312333">
                <a:moveTo>
                  <a:pt x="42333" y="0"/>
                </a:moveTo>
                <a:lnTo>
                  <a:pt x="7492995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1227662"/>
                </a:lnTo>
                <a:cubicBezTo>
                  <a:pt x="7577667" y="1274425"/>
                  <a:pt x="7539758" y="1312333"/>
                  <a:pt x="7492995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4500" y="4000500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35000" y="41698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2661" y="4233333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667" y="4191000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流式数据访问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" y="4593167"/>
            <a:ext cx="7302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优化大文件的顺序读写，而非随机访问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。HDFS 适合一次写入、多次读取的应用场景，提供高吞吐量的数据访问。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" y="5439833"/>
            <a:ext cx="7577667" cy="1312333"/>
          </a:xfrm>
          <a:custGeom>
            <a:avLst/>
            <a:gdLst/>
            <a:ahLst/>
            <a:cxnLst/>
            <a:rect l="l" t="t" r="r" b="b"/>
            <a:pathLst>
              <a:path w="7577667" h="1312333">
                <a:moveTo>
                  <a:pt x="42333" y="0"/>
                </a:moveTo>
                <a:lnTo>
                  <a:pt x="7492995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1227662"/>
                </a:lnTo>
                <a:cubicBezTo>
                  <a:pt x="7577667" y="1274425"/>
                  <a:pt x="7539758" y="1312333"/>
                  <a:pt x="7492995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44500" y="5439833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5000" y="560916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60760" y="5672667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0667" y="563033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000" y="6032500"/>
            <a:ext cx="7302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设计目标是处理 GB 到 PB 级别的大文件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。HDFS 通过大文件存储策略，减少元数据开销，提高存储效率和访问性能。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500" y="6879167"/>
            <a:ext cx="7577667" cy="1312333"/>
          </a:xfrm>
          <a:custGeom>
            <a:avLst/>
            <a:gdLst/>
            <a:ahLst/>
            <a:cxnLst/>
            <a:rect l="l" t="t" r="r" b="b"/>
            <a:pathLst>
              <a:path w="7577667" h="1312333">
                <a:moveTo>
                  <a:pt x="42333" y="0"/>
                </a:moveTo>
                <a:lnTo>
                  <a:pt x="7492995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1227662"/>
                </a:lnTo>
                <a:cubicBezTo>
                  <a:pt x="7577667" y="1274425"/>
                  <a:pt x="7539758" y="1312333"/>
                  <a:pt x="7492995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44500" y="6879167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35000" y="70485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60842" y="7112000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0667" y="7069667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简单一致性模型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000" y="7471833"/>
            <a:ext cx="7302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采用一次写入、多次读取的模型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。文件一旦写入，不允许修改，只能追加。这种模型简化了并发控制，保证了数据一致性。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33833" y="2053167"/>
            <a:ext cx="7725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四大核心特性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39125" y="2566458"/>
            <a:ext cx="7588250" cy="1555750"/>
          </a:xfrm>
          <a:custGeom>
            <a:avLst/>
            <a:gdLst/>
            <a:ahLst/>
            <a:cxnLst/>
            <a:rect l="l" t="t" r="r" b="b"/>
            <a:pathLst>
              <a:path w="7588250" h="1555750">
                <a:moveTo>
                  <a:pt x="84664" y="0"/>
                </a:moveTo>
                <a:lnTo>
                  <a:pt x="7503586" y="0"/>
                </a:lnTo>
                <a:cubicBezTo>
                  <a:pt x="7550345" y="0"/>
                  <a:pt x="7588250" y="37905"/>
                  <a:pt x="7588250" y="84664"/>
                </a:cubicBezTo>
                <a:lnTo>
                  <a:pt x="7588250" y="1471086"/>
                </a:lnTo>
                <a:cubicBezTo>
                  <a:pt x="7588250" y="1517845"/>
                  <a:pt x="7550345" y="1555750"/>
                  <a:pt x="7503586" y="1555750"/>
                </a:cubicBezTo>
                <a:lnTo>
                  <a:pt x="84664" y="1555750"/>
                </a:lnTo>
                <a:cubicBezTo>
                  <a:pt x="37905" y="1555750"/>
                  <a:pt x="0" y="1517845"/>
                  <a:pt x="0" y="1471086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413750" y="2741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61917" y="288925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07735" y="0"/>
                  <a:pt x="109637" y="413"/>
                  <a:pt x="111373" y="1199"/>
                </a:cubicBezTo>
                <a:lnTo>
                  <a:pt x="189260" y="34230"/>
                </a:lnTo>
                <a:cubicBezTo>
                  <a:pt x="198355" y="38075"/>
                  <a:pt x="205135" y="47046"/>
                  <a:pt x="205093" y="57878"/>
                </a:cubicBezTo>
                <a:cubicBezTo>
                  <a:pt x="204887" y="98888"/>
                  <a:pt x="188020" y="173922"/>
                  <a:pt x="116789" y="208029"/>
                </a:cubicBezTo>
                <a:cubicBezTo>
                  <a:pt x="109885" y="211336"/>
                  <a:pt x="101865" y="211336"/>
                  <a:pt x="94961" y="208029"/>
                </a:cubicBezTo>
                <a:cubicBezTo>
                  <a:pt x="23688" y="173922"/>
                  <a:pt x="6863" y="98888"/>
                  <a:pt x="6656" y="57878"/>
                </a:cubicBezTo>
                <a:cubicBezTo>
                  <a:pt x="6615" y="47046"/>
                  <a:pt x="13395" y="38075"/>
                  <a:pt x="22490" y="34230"/>
                </a:cubicBezTo>
                <a:lnTo>
                  <a:pt x="100335" y="1199"/>
                </a:lnTo>
                <a:cubicBezTo>
                  <a:pt x="102071" y="413"/>
                  <a:pt x="103932" y="0"/>
                  <a:pt x="105833" y="0"/>
                </a:cubicBezTo>
                <a:close/>
                <a:moveTo>
                  <a:pt x="105833" y="27616"/>
                </a:moveTo>
                <a:lnTo>
                  <a:pt x="105833" y="183927"/>
                </a:lnTo>
                <a:cubicBezTo>
                  <a:pt x="162884" y="156311"/>
                  <a:pt x="178222" y="95126"/>
                  <a:pt x="178594" y="58498"/>
                </a:cubicBezTo>
                <a:lnTo>
                  <a:pt x="105833" y="27657"/>
                </a:lnTo>
                <a:lnTo>
                  <a:pt x="105833" y="2765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91083" y="2846917"/>
            <a:ext cx="952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高容错性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3750" y="3376083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数据副本机制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实现容错，默认3副本存储，自动检测和处理节点故障。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13750" y="3735917"/>
            <a:ext cx="731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副本数可配置 | 自动故障恢复 | 数据完整性保证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9125" y="4259792"/>
            <a:ext cx="7588250" cy="1555750"/>
          </a:xfrm>
          <a:custGeom>
            <a:avLst/>
            <a:gdLst/>
            <a:ahLst/>
            <a:cxnLst/>
            <a:rect l="l" t="t" r="r" b="b"/>
            <a:pathLst>
              <a:path w="7588250" h="1555750">
                <a:moveTo>
                  <a:pt x="84664" y="0"/>
                </a:moveTo>
                <a:lnTo>
                  <a:pt x="7503586" y="0"/>
                </a:lnTo>
                <a:cubicBezTo>
                  <a:pt x="7550345" y="0"/>
                  <a:pt x="7588250" y="37905"/>
                  <a:pt x="7588250" y="84664"/>
                </a:cubicBezTo>
                <a:lnTo>
                  <a:pt x="7588250" y="1471086"/>
                </a:lnTo>
                <a:cubicBezTo>
                  <a:pt x="7588250" y="1517845"/>
                  <a:pt x="7550345" y="1555750"/>
                  <a:pt x="7503586" y="1555750"/>
                </a:cubicBezTo>
                <a:lnTo>
                  <a:pt x="84664" y="1555750"/>
                </a:lnTo>
                <a:cubicBezTo>
                  <a:pt x="37905" y="1555750"/>
                  <a:pt x="0" y="1517845"/>
                  <a:pt x="0" y="1471086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13750" y="443441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561917" y="45825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105833"/>
                </a:moveTo>
                <a:cubicBezTo>
                  <a:pt x="0" y="47422"/>
                  <a:pt x="47422" y="0"/>
                  <a:pt x="105833" y="0"/>
                </a:cubicBez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lose/>
                <a:moveTo>
                  <a:pt x="119063" y="39688"/>
                </a:moveTo>
                <a:cubicBezTo>
                  <a:pt x="119063" y="32386"/>
                  <a:pt x="113135" y="26458"/>
                  <a:pt x="105833" y="26458"/>
                </a:cubicBezTo>
                <a:cubicBezTo>
                  <a:pt x="98532" y="26458"/>
                  <a:pt x="92604" y="32386"/>
                  <a:pt x="92604" y="39688"/>
                </a:cubicBezTo>
                <a:cubicBezTo>
                  <a:pt x="92604" y="46989"/>
                  <a:pt x="98532" y="52917"/>
                  <a:pt x="105833" y="52917"/>
                </a:cubicBezTo>
                <a:cubicBezTo>
                  <a:pt x="113135" y="52917"/>
                  <a:pt x="119063" y="46989"/>
                  <a:pt x="119063" y="39688"/>
                </a:cubicBezTo>
                <a:close/>
                <a:moveTo>
                  <a:pt x="105833" y="171979"/>
                </a:moveTo>
                <a:cubicBezTo>
                  <a:pt x="120427" y="171979"/>
                  <a:pt x="132292" y="160114"/>
                  <a:pt x="132292" y="145521"/>
                </a:cubicBezTo>
                <a:cubicBezTo>
                  <a:pt x="132292" y="138824"/>
                  <a:pt x="129811" y="132664"/>
                  <a:pt x="125677" y="128034"/>
                </a:cubicBezTo>
                <a:lnTo>
                  <a:pt x="154409" y="70611"/>
                </a:lnTo>
                <a:cubicBezTo>
                  <a:pt x="156848" y="65691"/>
                  <a:pt x="154864" y="59738"/>
                  <a:pt x="149986" y="57299"/>
                </a:cubicBezTo>
                <a:cubicBezTo>
                  <a:pt x="145107" y="54860"/>
                  <a:pt x="139113" y="56844"/>
                  <a:pt x="136674" y="61722"/>
                </a:cubicBezTo>
                <a:lnTo>
                  <a:pt x="107942" y="119145"/>
                </a:lnTo>
                <a:cubicBezTo>
                  <a:pt x="107239" y="119104"/>
                  <a:pt x="106536" y="119063"/>
                  <a:pt x="105833" y="119063"/>
                </a:cubicBezTo>
                <a:cubicBezTo>
                  <a:pt x="91240" y="119063"/>
                  <a:pt x="79375" y="130927"/>
                  <a:pt x="79375" y="145521"/>
                </a:cubicBezTo>
                <a:cubicBezTo>
                  <a:pt x="79375" y="160114"/>
                  <a:pt x="91240" y="171979"/>
                  <a:pt x="105833" y="171979"/>
                </a:cubicBezTo>
                <a:close/>
                <a:moveTo>
                  <a:pt x="72760" y="59531"/>
                </a:moveTo>
                <a:cubicBezTo>
                  <a:pt x="72760" y="52230"/>
                  <a:pt x="66833" y="46302"/>
                  <a:pt x="59531" y="46302"/>
                </a:cubicBezTo>
                <a:cubicBezTo>
                  <a:pt x="52230" y="46302"/>
                  <a:pt x="46302" y="52230"/>
                  <a:pt x="46302" y="59531"/>
                </a:cubicBezTo>
                <a:cubicBezTo>
                  <a:pt x="46302" y="66833"/>
                  <a:pt x="52230" y="72760"/>
                  <a:pt x="59531" y="72760"/>
                </a:cubicBezTo>
                <a:cubicBezTo>
                  <a:pt x="66833" y="72760"/>
                  <a:pt x="72760" y="66833"/>
                  <a:pt x="72760" y="59531"/>
                </a:cubicBezTo>
                <a:close/>
                <a:moveTo>
                  <a:pt x="39688" y="119063"/>
                </a:moveTo>
                <a:cubicBezTo>
                  <a:pt x="46989" y="119063"/>
                  <a:pt x="52917" y="113135"/>
                  <a:pt x="52917" y="105833"/>
                </a:cubicBezTo>
                <a:cubicBezTo>
                  <a:pt x="52917" y="98532"/>
                  <a:pt x="46989" y="92604"/>
                  <a:pt x="39688" y="92604"/>
                </a:cubicBezTo>
                <a:cubicBezTo>
                  <a:pt x="32386" y="92604"/>
                  <a:pt x="26458" y="98532"/>
                  <a:pt x="26458" y="105833"/>
                </a:cubicBezTo>
                <a:cubicBezTo>
                  <a:pt x="26458" y="113135"/>
                  <a:pt x="32386" y="119063"/>
                  <a:pt x="39688" y="119063"/>
                </a:cubicBezTo>
                <a:close/>
                <a:moveTo>
                  <a:pt x="185208" y="105833"/>
                </a:moveTo>
                <a:cubicBezTo>
                  <a:pt x="185208" y="98532"/>
                  <a:pt x="179281" y="92604"/>
                  <a:pt x="171979" y="92604"/>
                </a:cubicBezTo>
                <a:cubicBezTo>
                  <a:pt x="164678" y="92604"/>
                  <a:pt x="158750" y="98532"/>
                  <a:pt x="158750" y="105833"/>
                </a:cubicBezTo>
                <a:cubicBezTo>
                  <a:pt x="158750" y="113135"/>
                  <a:pt x="164678" y="119063"/>
                  <a:pt x="171979" y="119063"/>
                </a:cubicBezTo>
                <a:cubicBezTo>
                  <a:pt x="179281" y="119063"/>
                  <a:pt x="185208" y="113135"/>
                  <a:pt x="185208" y="10583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091083" y="4540250"/>
            <a:ext cx="952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13750" y="5069417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优化数据访问的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吞吐量而非延迟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，适合大规模批处理应用。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3750" y="5429250"/>
            <a:ext cx="731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顺序读写优化 | 大文件存储 | 批量数据处理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39125" y="5953125"/>
            <a:ext cx="7588250" cy="1555750"/>
          </a:xfrm>
          <a:custGeom>
            <a:avLst/>
            <a:gdLst/>
            <a:ahLst/>
            <a:cxnLst/>
            <a:rect l="l" t="t" r="r" b="b"/>
            <a:pathLst>
              <a:path w="7588250" h="1555750">
                <a:moveTo>
                  <a:pt x="84664" y="0"/>
                </a:moveTo>
                <a:lnTo>
                  <a:pt x="7503586" y="0"/>
                </a:lnTo>
                <a:cubicBezTo>
                  <a:pt x="7550345" y="0"/>
                  <a:pt x="7588250" y="37905"/>
                  <a:pt x="7588250" y="84664"/>
                </a:cubicBezTo>
                <a:lnTo>
                  <a:pt x="7588250" y="1471086"/>
                </a:lnTo>
                <a:cubicBezTo>
                  <a:pt x="7588250" y="1517845"/>
                  <a:pt x="7550345" y="1555750"/>
                  <a:pt x="7503586" y="1555750"/>
                </a:cubicBezTo>
                <a:lnTo>
                  <a:pt x="84664" y="1555750"/>
                </a:lnTo>
                <a:cubicBezTo>
                  <a:pt x="37905" y="1555750"/>
                  <a:pt x="0" y="1517845"/>
                  <a:pt x="0" y="1471086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13750" y="6127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575146" y="627591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69453" y="13229"/>
                </a:moveTo>
                <a:lnTo>
                  <a:pt x="9922" y="13229"/>
                </a:lnTo>
                <a:cubicBezTo>
                  <a:pt x="4424" y="13229"/>
                  <a:pt x="0" y="17653"/>
                  <a:pt x="0" y="23151"/>
                </a:cubicBezTo>
                <a:lnTo>
                  <a:pt x="0" y="82682"/>
                </a:lnTo>
                <a:cubicBezTo>
                  <a:pt x="0" y="86692"/>
                  <a:pt x="2398" y="90330"/>
                  <a:pt x="6118" y="91860"/>
                </a:cubicBezTo>
                <a:cubicBezTo>
                  <a:pt x="9839" y="93390"/>
                  <a:pt x="14097" y="92521"/>
                  <a:pt x="16950" y="89710"/>
                </a:cubicBezTo>
                <a:lnTo>
                  <a:pt x="33486" y="73174"/>
                </a:lnTo>
                <a:lnTo>
                  <a:pt x="66146" y="105833"/>
                </a:lnTo>
                <a:lnTo>
                  <a:pt x="33486" y="138493"/>
                </a:lnTo>
                <a:lnTo>
                  <a:pt x="16950" y="121956"/>
                </a:lnTo>
                <a:cubicBezTo>
                  <a:pt x="14097" y="119104"/>
                  <a:pt x="9839" y="118277"/>
                  <a:pt x="6118" y="119807"/>
                </a:cubicBezTo>
                <a:cubicBezTo>
                  <a:pt x="2398" y="121336"/>
                  <a:pt x="0" y="124974"/>
                  <a:pt x="0" y="128984"/>
                </a:cubicBezTo>
                <a:lnTo>
                  <a:pt x="0" y="188516"/>
                </a:lnTo>
                <a:cubicBezTo>
                  <a:pt x="0" y="194014"/>
                  <a:pt x="4424" y="198438"/>
                  <a:pt x="9922" y="198438"/>
                </a:cubicBezTo>
                <a:lnTo>
                  <a:pt x="69453" y="198438"/>
                </a:lnTo>
                <a:cubicBezTo>
                  <a:pt x="73463" y="198438"/>
                  <a:pt x="77101" y="196040"/>
                  <a:pt x="78631" y="192319"/>
                </a:cubicBezTo>
                <a:cubicBezTo>
                  <a:pt x="80160" y="188598"/>
                  <a:pt x="79334" y="184340"/>
                  <a:pt x="76481" y="181488"/>
                </a:cubicBezTo>
                <a:lnTo>
                  <a:pt x="59945" y="164951"/>
                </a:lnTo>
                <a:lnTo>
                  <a:pt x="92604" y="132292"/>
                </a:lnTo>
                <a:lnTo>
                  <a:pt x="125264" y="164951"/>
                </a:lnTo>
                <a:lnTo>
                  <a:pt x="108727" y="181488"/>
                </a:lnTo>
                <a:cubicBezTo>
                  <a:pt x="105875" y="184340"/>
                  <a:pt x="105048" y="188598"/>
                  <a:pt x="106577" y="192319"/>
                </a:cubicBezTo>
                <a:cubicBezTo>
                  <a:pt x="108107" y="196040"/>
                  <a:pt x="111745" y="198438"/>
                  <a:pt x="115755" y="198438"/>
                </a:cubicBezTo>
                <a:lnTo>
                  <a:pt x="175286" y="198438"/>
                </a:lnTo>
                <a:cubicBezTo>
                  <a:pt x="180785" y="198438"/>
                  <a:pt x="185208" y="194014"/>
                  <a:pt x="185208" y="188516"/>
                </a:cubicBezTo>
                <a:lnTo>
                  <a:pt x="185208" y="128984"/>
                </a:lnTo>
                <a:cubicBezTo>
                  <a:pt x="185208" y="124974"/>
                  <a:pt x="182811" y="121336"/>
                  <a:pt x="179090" y="119807"/>
                </a:cubicBezTo>
                <a:cubicBezTo>
                  <a:pt x="175369" y="118277"/>
                  <a:pt x="171111" y="119104"/>
                  <a:pt x="168258" y="121956"/>
                </a:cubicBezTo>
                <a:lnTo>
                  <a:pt x="151722" y="138493"/>
                </a:lnTo>
                <a:lnTo>
                  <a:pt x="119063" y="105833"/>
                </a:lnTo>
                <a:lnTo>
                  <a:pt x="151722" y="73174"/>
                </a:lnTo>
                <a:lnTo>
                  <a:pt x="168258" y="89710"/>
                </a:lnTo>
                <a:cubicBezTo>
                  <a:pt x="171111" y="92563"/>
                  <a:pt x="175369" y="93390"/>
                  <a:pt x="179090" y="91860"/>
                </a:cubicBezTo>
                <a:cubicBezTo>
                  <a:pt x="182811" y="90330"/>
                  <a:pt x="185208" y="86692"/>
                  <a:pt x="185208" y="82682"/>
                </a:cubicBezTo>
                <a:lnTo>
                  <a:pt x="185208" y="23151"/>
                </a:lnTo>
                <a:cubicBezTo>
                  <a:pt x="185208" y="17653"/>
                  <a:pt x="180785" y="13229"/>
                  <a:pt x="175286" y="13229"/>
                </a:cubicBezTo>
                <a:lnTo>
                  <a:pt x="115755" y="13229"/>
                </a:lnTo>
                <a:cubicBezTo>
                  <a:pt x="111745" y="13229"/>
                  <a:pt x="108107" y="15627"/>
                  <a:pt x="106577" y="19348"/>
                </a:cubicBezTo>
                <a:cubicBezTo>
                  <a:pt x="105048" y="23068"/>
                  <a:pt x="105916" y="27326"/>
                  <a:pt x="108727" y="30179"/>
                </a:cubicBezTo>
                <a:lnTo>
                  <a:pt x="125264" y="46715"/>
                </a:lnTo>
                <a:lnTo>
                  <a:pt x="92604" y="79375"/>
                </a:lnTo>
                <a:lnTo>
                  <a:pt x="59945" y="46715"/>
                </a:lnTo>
                <a:lnTo>
                  <a:pt x="76481" y="30179"/>
                </a:lnTo>
                <a:cubicBezTo>
                  <a:pt x="79334" y="27326"/>
                  <a:pt x="80160" y="23068"/>
                  <a:pt x="78631" y="19348"/>
                </a:cubicBezTo>
                <a:cubicBezTo>
                  <a:pt x="77101" y="15627"/>
                  <a:pt x="73463" y="13229"/>
                  <a:pt x="69453" y="1322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091083" y="6233583"/>
            <a:ext cx="952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13750" y="6762750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数千个节点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的大规模集群，存储容量可达 PB 级别。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13750" y="7122583"/>
            <a:ext cx="731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 | 在线扩容 | 数千节点支持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9125" y="7646458"/>
            <a:ext cx="7588250" cy="1555750"/>
          </a:xfrm>
          <a:custGeom>
            <a:avLst/>
            <a:gdLst/>
            <a:ahLst/>
            <a:cxnLst/>
            <a:rect l="l" t="t" r="r" b="b"/>
            <a:pathLst>
              <a:path w="7588250" h="1555750">
                <a:moveTo>
                  <a:pt x="84664" y="0"/>
                </a:moveTo>
                <a:lnTo>
                  <a:pt x="7503586" y="0"/>
                </a:lnTo>
                <a:cubicBezTo>
                  <a:pt x="7550345" y="0"/>
                  <a:pt x="7588250" y="37905"/>
                  <a:pt x="7588250" y="84664"/>
                </a:cubicBezTo>
                <a:lnTo>
                  <a:pt x="7588250" y="1471086"/>
                </a:lnTo>
                <a:cubicBezTo>
                  <a:pt x="7588250" y="1517845"/>
                  <a:pt x="7550345" y="1555750"/>
                  <a:pt x="7503586" y="1555750"/>
                </a:cubicBezTo>
                <a:lnTo>
                  <a:pt x="84664" y="1555750"/>
                </a:lnTo>
                <a:cubicBezTo>
                  <a:pt x="37905" y="1555750"/>
                  <a:pt x="0" y="1517845"/>
                  <a:pt x="0" y="1471086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413750" y="7821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35458" y="7969250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26458" y="39688"/>
                </a:moveTo>
                <a:cubicBezTo>
                  <a:pt x="26458" y="25094"/>
                  <a:pt x="38323" y="13229"/>
                  <a:pt x="52917" y="13229"/>
                </a:cubicBezTo>
                <a:lnTo>
                  <a:pt x="211667" y="13229"/>
                </a:lnTo>
                <a:cubicBezTo>
                  <a:pt x="226260" y="13229"/>
                  <a:pt x="238125" y="25094"/>
                  <a:pt x="238125" y="39688"/>
                </a:cubicBezTo>
                <a:lnTo>
                  <a:pt x="238125" y="138906"/>
                </a:lnTo>
                <a:lnTo>
                  <a:pt x="211667" y="138906"/>
                </a:lnTo>
                <a:lnTo>
                  <a:pt x="211667" y="39688"/>
                </a:lnTo>
                <a:lnTo>
                  <a:pt x="52917" y="39688"/>
                </a:lnTo>
                <a:lnTo>
                  <a:pt x="52917" y="138906"/>
                </a:lnTo>
                <a:lnTo>
                  <a:pt x="26458" y="138906"/>
                </a:lnTo>
                <a:lnTo>
                  <a:pt x="26458" y="39688"/>
                </a:lnTo>
                <a:close/>
                <a:moveTo>
                  <a:pt x="0" y="166688"/>
                </a:moveTo>
                <a:cubicBezTo>
                  <a:pt x="0" y="162305"/>
                  <a:pt x="3555" y="158750"/>
                  <a:pt x="7938" y="158750"/>
                </a:cubicBezTo>
                <a:lnTo>
                  <a:pt x="256646" y="158750"/>
                </a:lnTo>
                <a:cubicBezTo>
                  <a:pt x="261028" y="158750"/>
                  <a:pt x="264583" y="162305"/>
                  <a:pt x="264583" y="166688"/>
                </a:cubicBezTo>
                <a:cubicBezTo>
                  <a:pt x="264583" y="184216"/>
                  <a:pt x="250362" y="198438"/>
                  <a:pt x="232833" y="198438"/>
                </a:cubicBezTo>
                <a:lnTo>
                  <a:pt x="31750" y="198438"/>
                </a:lnTo>
                <a:cubicBezTo>
                  <a:pt x="14221" y="198438"/>
                  <a:pt x="0" y="184216"/>
                  <a:pt x="0" y="166688"/>
                </a:cubicBezTo>
                <a:close/>
                <a:moveTo>
                  <a:pt x="116169" y="86403"/>
                </a:moveTo>
                <a:lnTo>
                  <a:pt x="103353" y="99219"/>
                </a:lnTo>
                <a:lnTo>
                  <a:pt x="116169" y="112035"/>
                </a:lnTo>
                <a:cubicBezTo>
                  <a:pt x="120055" y="115921"/>
                  <a:pt x="120055" y="122204"/>
                  <a:pt x="116169" y="126049"/>
                </a:cubicBezTo>
                <a:cubicBezTo>
                  <a:pt x="112283" y="129894"/>
                  <a:pt x="105999" y="129935"/>
                  <a:pt x="102154" y="126049"/>
                </a:cubicBezTo>
                <a:lnTo>
                  <a:pt x="82310" y="106205"/>
                </a:lnTo>
                <a:cubicBezTo>
                  <a:pt x="78424" y="102319"/>
                  <a:pt x="78424" y="96035"/>
                  <a:pt x="82310" y="92191"/>
                </a:cubicBezTo>
                <a:lnTo>
                  <a:pt x="102154" y="72347"/>
                </a:lnTo>
                <a:cubicBezTo>
                  <a:pt x="106040" y="68461"/>
                  <a:pt x="112324" y="68461"/>
                  <a:pt x="116169" y="72347"/>
                </a:cubicBezTo>
                <a:cubicBezTo>
                  <a:pt x="120013" y="76233"/>
                  <a:pt x="120055" y="82517"/>
                  <a:pt x="116169" y="86362"/>
                </a:cubicBezTo>
                <a:close/>
                <a:moveTo>
                  <a:pt x="162471" y="72347"/>
                </a:moveTo>
                <a:lnTo>
                  <a:pt x="182314" y="92191"/>
                </a:lnTo>
                <a:cubicBezTo>
                  <a:pt x="186201" y="96077"/>
                  <a:pt x="186201" y="102361"/>
                  <a:pt x="182314" y="106205"/>
                </a:cubicBezTo>
                <a:lnTo>
                  <a:pt x="162471" y="126049"/>
                </a:lnTo>
                <a:cubicBezTo>
                  <a:pt x="158585" y="129935"/>
                  <a:pt x="152301" y="129935"/>
                  <a:pt x="148456" y="126049"/>
                </a:cubicBezTo>
                <a:cubicBezTo>
                  <a:pt x="144611" y="122163"/>
                  <a:pt x="144570" y="115879"/>
                  <a:pt x="148456" y="112035"/>
                </a:cubicBezTo>
                <a:lnTo>
                  <a:pt x="161272" y="99219"/>
                </a:lnTo>
                <a:lnTo>
                  <a:pt x="148456" y="86403"/>
                </a:lnTo>
                <a:cubicBezTo>
                  <a:pt x="144570" y="82517"/>
                  <a:pt x="144570" y="76233"/>
                  <a:pt x="148456" y="72388"/>
                </a:cubicBezTo>
                <a:cubicBezTo>
                  <a:pt x="152342" y="68544"/>
                  <a:pt x="158626" y="68502"/>
                  <a:pt x="162471" y="7238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091083" y="7926917"/>
            <a:ext cx="952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跨平台性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13750" y="8456083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开发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，支持多种操作系统，部署灵活。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13750" y="8815917"/>
            <a:ext cx="731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实现 | 跨平台部署 | 商用硬件支持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90600" cy="723900"/>
          </a:xfrm>
          <a:custGeom>
            <a:avLst/>
            <a:gdLst/>
            <a:ahLst/>
            <a:cxnLst/>
            <a:rect l="l" t="t" r="r" b="b"/>
            <a:pathLst>
              <a:path w="990600" h="723900">
                <a:moveTo>
                  <a:pt x="101599" y="0"/>
                </a:moveTo>
                <a:lnTo>
                  <a:pt x="889001" y="0"/>
                </a:lnTo>
                <a:cubicBezTo>
                  <a:pt x="945112" y="0"/>
                  <a:pt x="990600" y="45488"/>
                  <a:pt x="990600" y="101599"/>
                </a:cubicBezTo>
                <a:lnTo>
                  <a:pt x="990600" y="622301"/>
                </a:lnTo>
                <a:cubicBezTo>
                  <a:pt x="990600" y="678412"/>
                  <a:pt x="945112" y="723900"/>
                  <a:pt x="8890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397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架构与核心组件解析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元数据管理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27798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483398" y="6303963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数据存储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55979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711579" y="6303963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客户端交互流程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287" y="472287"/>
            <a:ext cx="1982439" cy="384826"/>
          </a:xfrm>
          <a:custGeom>
            <a:avLst/>
            <a:gdLst/>
            <a:ahLst/>
            <a:cxnLst/>
            <a:rect l="l" t="t" r="r" b="b"/>
            <a:pathLst>
              <a:path w="1982439" h="384826">
                <a:moveTo>
                  <a:pt x="192413" y="0"/>
                </a:moveTo>
                <a:lnTo>
                  <a:pt x="1790026" y="0"/>
                </a:lnTo>
                <a:cubicBezTo>
                  <a:pt x="1896293" y="0"/>
                  <a:pt x="1982439" y="86146"/>
                  <a:pt x="1982439" y="192413"/>
                </a:cubicBezTo>
                <a:lnTo>
                  <a:pt x="1982439" y="192413"/>
                </a:lnTo>
                <a:cubicBezTo>
                  <a:pt x="1982439" y="298680"/>
                  <a:pt x="1896293" y="384826"/>
                  <a:pt x="1790026" y="384826"/>
                </a:cubicBezTo>
                <a:lnTo>
                  <a:pt x="192413" y="384826"/>
                </a:lnTo>
                <a:cubicBezTo>
                  <a:pt x="86146" y="384826"/>
                  <a:pt x="0" y="298680"/>
                  <a:pt x="0" y="192413"/>
                </a:cubicBezTo>
                <a:lnTo>
                  <a:pt x="0" y="192413"/>
                </a:lnTo>
                <a:cubicBezTo>
                  <a:pt x="0" y="86146"/>
                  <a:pt x="86146" y="0"/>
                  <a:pt x="19241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4700" y="542255"/>
            <a:ext cx="1686895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9" b="1" kern="0" spc="147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6456" y="1002881"/>
            <a:ext cx="15602961" cy="55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07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Master-Slave 架构概览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456" y="1702565"/>
            <a:ext cx="15439702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的核心架构设计与组件交互关系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" y="2268143"/>
            <a:ext cx="4909452" cy="3370146"/>
          </a:xfrm>
          <a:custGeom>
            <a:avLst/>
            <a:gdLst/>
            <a:ahLst/>
            <a:cxnLst/>
            <a:rect l="l" t="t" r="r" b="b"/>
            <a:pathLst>
              <a:path w="4909452" h="3370146">
                <a:moveTo>
                  <a:pt x="93286" y="0"/>
                </a:moveTo>
                <a:lnTo>
                  <a:pt x="4816166" y="0"/>
                </a:lnTo>
                <a:cubicBezTo>
                  <a:pt x="4867687" y="0"/>
                  <a:pt x="4909452" y="41765"/>
                  <a:pt x="4909452" y="93286"/>
                </a:cubicBezTo>
                <a:lnTo>
                  <a:pt x="4909452" y="3276861"/>
                </a:lnTo>
                <a:cubicBezTo>
                  <a:pt x="4909452" y="3328381"/>
                  <a:pt x="4867687" y="3370146"/>
                  <a:pt x="4816166" y="3370146"/>
                </a:cubicBezTo>
                <a:lnTo>
                  <a:pt x="93286" y="3370146"/>
                </a:lnTo>
                <a:cubicBezTo>
                  <a:pt x="41765" y="3370146"/>
                  <a:pt x="0" y="3328381"/>
                  <a:pt x="0" y="3276861"/>
                </a:cubicBezTo>
                <a:lnTo>
                  <a:pt x="0" y="93286"/>
                </a:lnTo>
                <a:cubicBezTo>
                  <a:pt x="0" y="41765"/>
                  <a:pt x="41765" y="0"/>
                  <a:pt x="9328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65932" y="2513033"/>
            <a:ext cx="921251" cy="921251"/>
          </a:xfrm>
          <a:custGeom>
            <a:avLst/>
            <a:gdLst/>
            <a:ahLst/>
            <a:cxnLst/>
            <a:rect l="l" t="t" r="r" b="b"/>
            <a:pathLst>
              <a:path w="921251" h="921251">
                <a:moveTo>
                  <a:pt x="93295" y="0"/>
                </a:moveTo>
                <a:lnTo>
                  <a:pt x="827956" y="0"/>
                </a:lnTo>
                <a:cubicBezTo>
                  <a:pt x="879481" y="0"/>
                  <a:pt x="921251" y="41770"/>
                  <a:pt x="921251" y="93295"/>
                </a:cubicBezTo>
                <a:lnTo>
                  <a:pt x="921251" y="827956"/>
                </a:lnTo>
                <a:cubicBezTo>
                  <a:pt x="921251" y="879481"/>
                  <a:pt x="879481" y="921251"/>
                  <a:pt x="827956" y="921251"/>
                </a:cubicBezTo>
                <a:lnTo>
                  <a:pt x="93295" y="921251"/>
                </a:lnTo>
                <a:cubicBezTo>
                  <a:pt x="41770" y="921251"/>
                  <a:pt x="0" y="879481"/>
                  <a:pt x="0" y="827956"/>
                </a:cubicBezTo>
                <a:lnTo>
                  <a:pt x="0" y="93295"/>
                </a:lnTo>
                <a:cubicBezTo>
                  <a:pt x="0" y="41804"/>
                  <a:pt x="41804" y="0"/>
                  <a:pt x="932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776417" y="2798737"/>
            <a:ext cx="306112" cy="349842"/>
          </a:xfrm>
          <a:custGeom>
            <a:avLst/>
            <a:gdLst/>
            <a:ahLst/>
            <a:cxnLst/>
            <a:rect l="l" t="t" r="r" b="b"/>
            <a:pathLst>
              <a:path w="306112" h="349842">
                <a:moveTo>
                  <a:pt x="43730" y="21865"/>
                </a:moveTo>
                <a:cubicBezTo>
                  <a:pt x="19610" y="21865"/>
                  <a:pt x="0" y="41475"/>
                  <a:pt x="0" y="65595"/>
                </a:cubicBezTo>
                <a:lnTo>
                  <a:pt x="0" y="109326"/>
                </a:lnTo>
                <a:cubicBezTo>
                  <a:pt x="0" y="133446"/>
                  <a:pt x="19610" y="153056"/>
                  <a:pt x="43730" y="153056"/>
                </a:cubicBezTo>
                <a:lnTo>
                  <a:pt x="262382" y="153056"/>
                </a:lnTo>
                <a:cubicBezTo>
                  <a:pt x="286502" y="153056"/>
                  <a:pt x="306112" y="133446"/>
                  <a:pt x="306112" y="109326"/>
                </a:cubicBezTo>
                <a:lnTo>
                  <a:pt x="306112" y="65595"/>
                </a:lnTo>
                <a:cubicBezTo>
                  <a:pt x="306112" y="41475"/>
                  <a:pt x="286502" y="21865"/>
                  <a:pt x="262382" y="21865"/>
                </a:cubicBezTo>
                <a:lnTo>
                  <a:pt x="43730" y="21865"/>
                </a:lnTo>
                <a:close/>
                <a:moveTo>
                  <a:pt x="191320" y="71062"/>
                </a:moveTo>
                <a:cubicBezTo>
                  <a:pt x="200371" y="71062"/>
                  <a:pt x="207719" y="78410"/>
                  <a:pt x="207719" y="87461"/>
                </a:cubicBezTo>
                <a:cubicBezTo>
                  <a:pt x="207719" y="96511"/>
                  <a:pt x="200371" y="103859"/>
                  <a:pt x="191320" y="103859"/>
                </a:cubicBezTo>
                <a:cubicBezTo>
                  <a:pt x="182269" y="103859"/>
                  <a:pt x="174921" y="96511"/>
                  <a:pt x="174921" y="87461"/>
                </a:cubicBezTo>
                <a:cubicBezTo>
                  <a:pt x="174921" y="78410"/>
                  <a:pt x="182269" y="71062"/>
                  <a:pt x="191320" y="71062"/>
                </a:cubicBezTo>
                <a:close/>
                <a:moveTo>
                  <a:pt x="229584" y="87461"/>
                </a:moveTo>
                <a:cubicBezTo>
                  <a:pt x="229584" y="78410"/>
                  <a:pt x="236932" y="71062"/>
                  <a:pt x="245983" y="71062"/>
                </a:cubicBezTo>
                <a:cubicBezTo>
                  <a:pt x="255034" y="71062"/>
                  <a:pt x="262382" y="78410"/>
                  <a:pt x="262382" y="87461"/>
                </a:cubicBezTo>
                <a:cubicBezTo>
                  <a:pt x="262382" y="96511"/>
                  <a:pt x="255034" y="103859"/>
                  <a:pt x="245983" y="103859"/>
                </a:cubicBezTo>
                <a:cubicBezTo>
                  <a:pt x="236932" y="103859"/>
                  <a:pt x="229584" y="96511"/>
                  <a:pt x="229584" y="87461"/>
                </a:cubicBezTo>
                <a:close/>
                <a:moveTo>
                  <a:pt x="43730" y="196786"/>
                </a:moveTo>
                <a:cubicBezTo>
                  <a:pt x="19610" y="196786"/>
                  <a:pt x="0" y="216397"/>
                  <a:pt x="0" y="240516"/>
                </a:cubicBezTo>
                <a:lnTo>
                  <a:pt x="0" y="284247"/>
                </a:lnTo>
                <a:cubicBezTo>
                  <a:pt x="0" y="308367"/>
                  <a:pt x="19610" y="327977"/>
                  <a:pt x="43730" y="327977"/>
                </a:cubicBezTo>
                <a:lnTo>
                  <a:pt x="262382" y="327977"/>
                </a:lnTo>
                <a:cubicBezTo>
                  <a:pt x="286502" y="327977"/>
                  <a:pt x="306112" y="308367"/>
                  <a:pt x="306112" y="284247"/>
                </a:cubicBezTo>
                <a:lnTo>
                  <a:pt x="306112" y="240516"/>
                </a:lnTo>
                <a:cubicBezTo>
                  <a:pt x="306112" y="216397"/>
                  <a:pt x="286502" y="196786"/>
                  <a:pt x="262382" y="196786"/>
                </a:cubicBezTo>
                <a:lnTo>
                  <a:pt x="43730" y="196786"/>
                </a:lnTo>
                <a:close/>
                <a:moveTo>
                  <a:pt x="191320" y="245983"/>
                </a:moveTo>
                <a:cubicBezTo>
                  <a:pt x="200371" y="245983"/>
                  <a:pt x="207719" y="253331"/>
                  <a:pt x="207719" y="262382"/>
                </a:cubicBezTo>
                <a:cubicBezTo>
                  <a:pt x="207719" y="271432"/>
                  <a:pt x="200371" y="278780"/>
                  <a:pt x="191320" y="278780"/>
                </a:cubicBezTo>
                <a:cubicBezTo>
                  <a:pt x="182269" y="278780"/>
                  <a:pt x="174921" y="271432"/>
                  <a:pt x="174921" y="262382"/>
                </a:cubicBezTo>
                <a:cubicBezTo>
                  <a:pt x="174921" y="253331"/>
                  <a:pt x="182269" y="245983"/>
                  <a:pt x="191320" y="245983"/>
                </a:cubicBezTo>
                <a:close/>
                <a:moveTo>
                  <a:pt x="229584" y="262382"/>
                </a:moveTo>
                <a:cubicBezTo>
                  <a:pt x="229584" y="253331"/>
                  <a:pt x="236932" y="245983"/>
                  <a:pt x="245983" y="245983"/>
                </a:cubicBezTo>
                <a:cubicBezTo>
                  <a:pt x="255034" y="245983"/>
                  <a:pt x="262382" y="253331"/>
                  <a:pt x="262382" y="262382"/>
                </a:cubicBezTo>
                <a:cubicBezTo>
                  <a:pt x="262382" y="271432"/>
                  <a:pt x="255034" y="278780"/>
                  <a:pt x="245983" y="278780"/>
                </a:cubicBezTo>
                <a:cubicBezTo>
                  <a:pt x="236932" y="278780"/>
                  <a:pt x="229584" y="271432"/>
                  <a:pt x="229584" y="26238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1377" y="3580052"/>
            <a:ext cx="4571271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700" y="4046508"/>
            <a:ext cx="452462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节点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1346" y="4582933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97928" y="4512964"/>
            <a:ext cx="897928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346" y="4909452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7928" y="4839484"/>
            <a:ext cx="73466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集群协调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346" y="5235971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97928" y="5166003"/>
            <a:ext cx="897928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客户端服务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2363" y="2268143"/>
            <a:ext cx="4909452" cy="3370146"/>
          </a:xfrm>
          <a:custGeom>
            <a:avLst/>
            <a:gdLst/>
            <a:ahLst/>
            <a:cxnLst/>
            <a:rect l="l" t="t" r="r" b="b"/>
            <a:pathLst>
              <a:path w="4909452" h="3370146">
                <a:moveTo>
                  <a:pt x="93286" y="0"/>
                </a:moveTo>
                <a:lnTo>
                  <a:pt x="4816166" y="0"/>
                </a:lnTo>
                <a:cubicBezTo>
                  <a:pt x="4867687" y="0"/>
                  <a:pt x="4909452" y="41765"/>
                  <a:pt x="4909452" y="93286"/>
                </a:cubicBezTo>
                <a:lnTo>
                  <a:pt x="4909452" y="3276861"/>
                </a:lnTo>
                <a:cubicBezTo>
                  <a:pt x="4909452" y="3328381"/>
                  <a:pt x="4867687" y="3370146"/>
                  <a:pt x="4816166" y="3370146"/>
                </a:cubicBezTo>
                <a:lnTo>
                  <a:pt x="93286" y="3370146"/>
                </a:lnTo>
                <a:cubicBezTo>
                  <a:pt x="41765" y="3370146"/>
                  <a:pt x="0" y="3328381"/>
                  <a:pt x="0" y="3276861"/>
                </a:cubicBezTo>
                <a:lnTo>
                  <a:pt x="0" y="93286"/>
                </a:lnTo>
                <a:cubicBezTo>
                  <a:pt x="0" y="41765"/>
                  <a:pt x="41765" y="0"/>
                  <a:pt x="9328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660177" y="2507202"/>
            <a:ext cx="932912" cy="932912"/>
          </a:xfrm>
          <a:custGeom>
            <a:avLst/>
            <a:gdLst/>
            <a:ahLst/>
            <a:cxnLst/>
            <a:rect l="l" t="t" r="r" b="b"/>
            <a:pathLst>
              <a:path w="932912" h="932912">
                <a:moveTo>
                  <a:pt x="93291" y="0"/>
                </a:moveTo>
                <a:lnTo>
                  <a:pt x="839621" y="0"/>
                </a:lnTo>
                <a:cubicBezTo>
                  <a:pt x="891110" y="0"/>
                  <a:pt x="932912" y="41802"/>
                  <a:pt x="932912" y="93291"/>
                </a:cubicBezTo>
                <a:lnTo>
                  <a:pt x="932912" y="839621"/>
                </a:lnTo>
                <a:cubicBezTo>
                  <a:pt x="932912" y="891145"/>
                  <a:pt x="891145" y="932912"/>
                  <a:pt x="839621" y="932912"/>
                </a:cubicBezTo>
                <a:lnTo>
                  <a:pt x="93291" y="932912"/>
                </a:lnTo>
                <a:cubicBezTo>
                  <a:pt x="41802" y="932912"/>
                  <a:pt x="0" y="891110"/>
                  <a:pt x="0" y="839621"/>
                </a:cubicBezTo>
                <a:lnTo>
                  <a:pt x="0" y="93291"/>
                </a:lnTo>
                <a:cubicBezTo>
                  <a:pt x="0" y="41768"/>
                  <a:pt x="41768" y="0"/>
                  <a:pt x="93291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976493" y="2798737"/>
            <a:ext cx="306112" cy="349842"/>
          </a:xfrm>
          <a:custGeom>
            <a:avLst/>
            <a:gdLst/>
            <a:ahLst/>
            <a:cxnLst/>
            <a:rect l="l" t="t" r="r" b="b"/>
            <a:pathLst>
              <a:path w="306112" h="349842">
                <a:moveTo>
                  <a:pt x="306112" y="140620"/>
                </a:moveTo>
                <a:cubicBezTo>
                  <a:pt x="295999" y="147316"/>
                  <a:pt x="284383" y="152714"/>
                  <a:pt x="272289" y="157019"/>
                </a:cubicBezTo>
                <a:cubicBezTo>
                  <a:pt x="240175" y="168498"/>
                  <a:pt x="198016" y="174921"/>
                  <a:pt x="153056" y="174921"/>
                </a:cubicBezTo>
                <a:cubicBezTo>
                  <a:pt x="108096" y="174921"/>
                  <a:pt x="65869" y="168430"/>
                  <a:pt x="33823" y="157019"/>
                </a:cubicBezTo>
                <a:cubicBezTo>
                  <a:pt x="21797" y="152714"/>
                  <a:pt x="10113" y="147316"/>
                  <a:pt x="0" y="140620"/>
                </a:cubicBezTo>
                <a:lnTo>
                  <a:pt x="0" y="196786"/>
                </a:lnTo>
                <a:cubicBezTo>
                  <a:pt x="0" y="226987"/>
                  <a:pt x="68534" y="251449"/>
                  <a:pt x="153056" y="251449"/>
                </a:cubicBezTo>
                <a:cubicBezTo>
                  <a:pt x="237578" y="251449"/>
                  <a:pt x="306112" y="226987"/>
                  <a:pt x="306112" y="196786"/>
                </a:cubicBezTo>
                <a:lnTo>
                  <a:pt x="306112" y="140620"/>
                </a:lnTo>
                <a:close/>
                <a:moveTo>
                  <a:pt x="306112" y="87461"/>
                </a:moveTo>
                <a:lnTo>
                  <a:pt x="306112" y="54663"/>
                </a:lnTo>
                <a:cubicBezTo>
                  <a:pt x="306112" y="24462"/>
                  <a:pt x="237578" y="0"/>
                  <a:pt x="153056" y="0"/>
                </a:cubicBezTo>
                <a:cubicBezTo>
                  <a:pt x="68534" y="0"/>
                  <a:pt x="0" y="24462"/>
                  <a:pt x="0" y="54663"/>
                </a:cubicBezTo>
                <a:lnTo>
                  <a:pt x="0" y="87461"/>
                </a:lnTo>
                <a:cubicBezTo>
                  <a:pt x="0" y="117662"/>
                  <a:pt x="68534" y="142123"/>
                  <a:pt x="153056" y="142123"/>
                </a:cubicBezTo>
                <a:cubicBezTo>
                  <a:pt x="237578" y="142123"/>
                  <a:pt x="306112" y="117662"/>
                  <a:pt x="306112" y="87461"/>
                </a:cubicBezTo>
                <a:close/>
                <a:moveTo>
                  <a:pt x="272289" y="266345"/>
                </a:moveTo>
                <a:cubicBezTo>
                  <a:pt x="240243" y="277756"/>
                  <a:pt x="198084" y="284247"/>
                  <a:pt x="153056" y="284247"/>
                </a:cubicBezTo>
                <a:cubicBezTo>
                  <a:pt x="108027" y="284247"/>
                  <a:pt x="65869" y="277756"/>
                  <a:pt x="33823" y="266345"/>
                </a:cubicBezTo>
                <a:cubicBezTo>
                  <a:pt x="21797" y="262040"/>
                  <a:pt x="10113" y="256642"/>
                  <a:pt x="0" y="249946"/>
                </a:cubicBezTo>
                <a:lnTo>
                  <a:pt x="0" y="295179"/>
                </a:lnTo>
                <a:cubicBezTo>
                  <a:pt x="0" y="325381"/>
                  <a:pt x="68534" y="349842"/>
                  <a:pt x="153056" y="349842"/>
                </a:cubicBezTo>
                <a:cubicBezTo>
                  <a:pt x="237578" y="349842"/>
                  <a:pt x="306112" y="325381"/>
                  <a:pt x="306112" y="295179"/>
                </a:cubicBezTo>
                <a:lnTo>
                  <a:pt x="306112" y="249946"/>
                </a:lnTo>
                <a:cubicBezTo>
                  <a:pt x="295999" y="256642"/>
                  <a:pt x="284383" y="262040"/>
                  <a:pt x="272289" y="266345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841453" y="3580052"/>
            <a:ext cx="4571271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64776" y="4046508"/>
            <a:ext cx="452462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Slave 节点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11422" y="4582933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98004" y="4512964"/>
            <a:ext cx="73466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11422" y="4909452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98004" y="4839484"/>
            <a:ext cx="57140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块管理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11422" y="5235971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98004" y="5166003"/>
            <a:ext cx="73466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心跳报告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72439" y="2268143"/>
            <a:ext cx="4909452" cy="3370146"/>
          </a:xfrm>
          <a:custGeom>
            <a:avLst/>
            <a:gdLst/>
            <a:ahLst/>
            <a:cxnLst/>
            <a:rect l="l" t="t" r="r" b="b"/>
            <a:pathLst>
              <a:path w="4909452" h="3370146">
                <a:moveTo>
                  <a:pt x="93286" y="0"/>
                </a:moveTo>
                <a:lnTo>
                  <a:pt x="4816166" y="0"/>
                </a:lnTo>
                <a:cubicBezTo>
                  <a:pt x="4867687" y="0"/>
                  <a:pt x="4909452" y="41765"/>
                  <a:pt x="4909452" y="93286"/>
                </a:cubicBezTo>
                <a:lnTo>
                  <a:pt x="4909452" y="3276861"/>
                </a:lnTo>
                <a:cubicBezTo>
                  <a:pt x="4909452" y="3328381"/>
                  <a:pt x="4867687" y="3370146"/>
                  <a:pt x="4816166" y="3370146"/>
                </a:cubicBezTo>
                <a:lnTo>
                  <a:pt x="93286" y="3370146"/>
                </a:lnTo>
                <a:cubicBezTo>
                  <a:pt x="41765" y="3370146"/>
                  <a:pt x="0" y="3328381"/>
                  <a:pt x="0" y="3276861"/>
                </a:cubicBezTo>
                <a:lnTo>
                  <a:pt x="0" y="93286"/>
                </a:lnTo>
                <a:cubicBezTo>
                  <a:pt x="0" y="41765"/>
                  <a:pt x="41765" y="0"/>
                  <a:pt x="9328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2860253" y="2507202"/>
            <a:ext cx="932912" cy="932912"/>
          </a:xfrm>
          <a:custGeom>
            <a:avLst/>
            <a:gdLst/>
            <a:ahLst/>
            <a:cxnLst/>
            <a:rect l="l" t="t" r="r" b="b"/>
            <a:pathLst>
              <a:path w="932912" h="932912">
                <a:moveTo>
                  <a:pt x="93291" y="0"/>
                </a:moveTo>
                <a:lnTo>
                  <a:pt x="839621" y="0"/>
                </a:lnTo>
                <a:cubicBezTo>
                  <a:pt x="891110" y="0"/>
                  <a:pt x="932912" y="41802"/>
                  <a:pt x="932912" y="93291"/>
                </a:cubicBezTo>
                <a:lnTo>
                  <a:pt x="932912" y="839621"/>
                </a:lnTo>
                <a:cubicBezTo>
                  <a:pt x="932912" y="891145"/>
                  <a:pt x="891145" y="932912"/>
                  <a:pt x="839621" y="932912"/>
                </a:cubicBezTo>
                <a:lnTo>
                  <a:pt x="93291" y="932912"/>
                </a:lnTo>
                <a:cubicBezTo>
                  <a:pt x="41802" y="932912"/>
                  <a:pt x="0" y="891110"/>
                  <a:pt x="0" y="839621"/>
                </a:cubicBezTo>
                <a:lnTo>
                  <a:pt x="0" y="93291"/>
                </a:lnTo>
                <a:cubicBezTo>
                  <a:pt x="0" y="41768"/>
                  <a:pt x="41768" y="0"/>
                  <a:pt x="93291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3176569" y="2798737"/>
            <a:ext cx="306112" cy="349842"/>
          </a:xfrm>
          <a:custGeom>
            <a:avLst/>
            <a:gdLst/>
            <a:ahLst/>
            <a:cxnLst/>
            <a:rect l="l" t="t" r="r" b="b"/>
            <a:pathLst>
              <a:path w="306112" h="349842">
                <a:moveTo>
                  <a:pt x="153056" y="169455"/>
                </a:moveTo>
                <a:cubicBezTo>
                  <a:pt x="198310" y="169455"/>
                  <a:pt x="235050" y="132714"/>
                  <a:pt x="235050" y="87461"/>
                </a:cubicBezTo>
                <a:cubicBezTo>
                  <a:pt x="235050" y="42207"/>
                  <a:pt x="198310" y="5466"/>
                  <a:pt x="153056" y="5466"/>
                </a:cubicBezTo>
                <a:cubicBezTo>
                  <a:pt x="107802" y="5466"/>
                  <a:pt x="71062" y="42207"/>
                  <a:pt x="71062" y="87461"/>
                </a:cubicBezTo>
                <a:cubicBezTo>
                  <a:pt x="71062" y="132714"/>
                  <a:pt x="107802" y="169455"/>
                  <a:pt x="153056" y="169455"/>
                </a:cubicBezTo>
                <a:close/>
                <a:moveTo>
                  <a:pt x="132762" y="207719"/>
                </a:moveTo>
                <a:cubicBezTo>
                  <a:pt x="65459" y="207719"/>
                  <a:pt x="10933" y="262245"/>
                  <a:pt x="10933" y="329549"/>
                </a:cubicBezTo>
                <a:cubicBezTo>
                  <a:pt x="10933" y="340754"/>
                  <a:pt x="20020" y="349842"/>
                  <a:pt x="31226" y="349842"/>
                </a:cubicBezTo>
                <a:lnTo>
                  <a:pt x="274886" y="349842"/>
                </a:lnTo>
                <a:cubicBezTo>
                  <a:pt x="286092" y="349842"/>
                  <a:pt x="295179" y="340754"/>
                  <a:pt x="295179" y="329549"/>
                </a:cubicBezTo>
                <a:cubicBezTo>
                  <a:pt x="295179" y="262245"/>
                  <a:pt x="240653" y="207719"/>
                  <a:pt x="173350" y="207719"/>
                </a:cubicBezTo>
                <a:lnTo>
                  <a:pt x="132762" y="207719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041529" y="3580052"/>
            <a:ext cx="4571271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64852" y="4046508"/>
            <a:ext cx="452462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11498" y="4582933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298080" y="4512964"/>
            <a:ext cx="73466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11498" y="4909452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298080" y="4839484"/>
            <a:ext cx="897928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元数据请求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111498" y="5235971"/>
            <a:ext cx="93291" cy="93291"/>
          </a:xfrm>
          <a:custGeom>
            <a:avLst/>
            <a:gdLst/>
            <a:ahLst/>
            <a:cxnLst/>
            <a:rect l="l" t="t" r="r" b="b"/>
            <a:pathLst>
              <a:path w="93291" h="93291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46646"/>
                </a:lnTo>
                <a:cubicBezTo>
                  <a:pt x="93291" y="72407"/>
                  <a:pt x="72407" y="93291"/>
                  <a:pt x="4664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98080" y="5166003"/>
            <a:ext cx="73466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2287" y="5883179"/>
            <a:ext cx="15311426" cy="2787076"/>
          </a:xfrm>
          <a:custGeom>
            <a:avLst/>
            <a:gdLst/>
            <a:ahLst/>
            <a:cxnLst/>
            <a:rect l="l" t="t" r="r" b="b"/>
            <a:pathLst>
              <a:path w="15311426" h="2787076">
                <a:moveTo>
                  <a:pt x="93283" y="0"/>
                </a:moveTo>
                <a:lnTo>
                  <a:pt x="15218143" y="0"/>
                </a:lnTo>
                <a:cubicBezTo>
                  <a:pt x="15269662" y="0"/>
                  <a:pt x="15311426" y="41764"/>
                  <a:pt x="15311426" y="93283"/>
                </a:cubicBezTo>
                <a:lnTo>
                  <a:pt x="15311426" y="2693793"/>
                </a:lnTo>
                <a:cubicBezTo>
                  <a:pt x="15311426" y="2745312"/>
                  <a:pt x="15269662" y="2787076"/>
                  <a:pt x="15218143" y="2787076"/>
                </a:cubicBezTo>
                <a:lnTo>
                  <a:pt x="93283" y="2787076"/>
                </a:lnTo>
                <a:cubicBezTo>
                  <a:pt x="41764" y="2787076"/>
                  <a:pt x="0" y="2745312"/>
                  <a:pt x="0" y="2693793"/>
                </a:cubicBezTo>
                <a:lnTo>
                  <a:pt x="0" y="93283"/>
                </a:lnTo>
                <a:cubicBezTo>
                  <a:pt x="0" y="41799"/>
                  <a:pt x="41799" y="0"/>
                  <a:pt x="932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99684" y="6168884"/>
            <a:ext cx="14856631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架构交互流程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168657" y="6693647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361504" y="0"/>
                </a:moveTo>
                <a:lnTo>
                  <a:pt x="361504" y="0"/>
                </a:lnTo>
                <a:cubicBezTo>
                  <a:pt x="561023" y="0"/>
                  <a:pt x="723007" y="161984"/>
                  <a:pt x="723007" y="361504"/>
                </a:cubicBezTo>
                <a:lnTo>
                  <a:pt x="723007" y="361504"/>
                </a:lnTo>
                <a:cubicBezTo>
                  <a:pt x="723007" y="561023"/>
                  <a:pt x="561023" y="723007"/>
                  <a:pt x="361504" y="723007"/>
                </a:cubicBezTo>
                <a:lnTo>
                  <a:pt x="361504" y="723007"/>
                </a:lnTo>
                <a:cubicBezTo>
                  <a:pt x="161984" y="723007"/>
                  <a:pt x="0" y="561023"/>
                  <a:pt x="0" y="361504"/>
                </a:cubicBezTo>
                <a:lnTo>
                  <a:pt x="0" y="361504"/>
                </a:lnTo>
                <a:cubicBezTo>
                  <a:pt x="0" y="161984"/>
                  <a:pt x="161984" y="0"/>
                  <a:pt x="3615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254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2425937" y="6891891"/>
            <a:ext cx="209905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7176" y="7521607"/>
            <a:ext cx="362669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客户端向 NameNode 请求元数据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899578" y="6693647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361504" y="0"/>
                </a:moveTo>
                <a:lnTo>
                  <a:pt x="361504" y="0"/>
                </a:lnTo>
                <a:cubicBezTo>
                  <a:pt x="561023" y="0"/>
                  <a:pt x="723007" y="161984"/>
                  <a:pt x="723007" y="361504"/>
                </a:cubicBezTo>
                <a:lnTo>
                  <a:pt x="723007" y="361504"/>
                </a:lnTo>
                <a:cubicBezTo>
                  <a:pt x="723007" y="561023"/>
                  <a:pt x="561023" y="723007"/>
                  <a:pt x="361504" y="723007"/>
                </a:cubicBezTo>
                <a:lnTo>
                  <a:pt x="361504" y="723007"/>
                </a:lnTo>
                <a:cubicBezTo>
                  <a:pt x="161984" y="723007"/>
                  <a:pt x="0" y="561023"/>
                  <a:pt x="0" y="361504"/>
                </a:cubicBezTo>
                <a:lnTo>
                  <a:pt x="0" y="361504"/>
                </a:lnTo>
                <a:cubicBezTo>
                  <a:pt x="0" y="161984"/>
                  <a:pt x="161984" y="0"/>
                  <a:pt x="3615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254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137179" y="6891891"/>
            <a:ext cx="244890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48098" y="7521607"/>
            <a:ext cx="362669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返回块位置信息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630590" y="6693647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361504" y="0"/>
                </a:moveTo>
                <a:lnTo>
                  <a:pt x="361504" y="0"/>
                </a:lnTo>
                <a:cubicBezTo>
                  <a:pt x="561023" y="0"/>
                  <a:pt x="723007" y="161984"/>
                  <a:pt x="723007" y="361504"/>
                </a:cubicBezTo>
                <a:lnTo>
                  <a:pt x="723007" y="361504"/>
                </a:lnTo>
                <a:cubicBezTo>
                  <a:pt x="723007" y="561023"/>
                  <a:pt x="561023" y="723007"/>
                  <a:pt x="361504" y="723007"/>
                </a:cubicBezTo>
                <a:lnTo>
                  <a:pt x="361504" y="723007"/>
                </a:lnTo>
                <a:cubicBezTo>
                  <a:pt x="161984" y="723007"/>
                  <a:pt x="0" y="561023"/>
                  <a:pt x="0" y="361504"/>
                </a:cubicBezTo>
                <a:lnTo>
                  <a:pt x="0" y="361504"/>
                </a:lnTo>
                <a:cubicBezTo>
                  <a:pt x="0" y="161984"/>
                  <a:pt x="161984" y="0"/>
                  <a:pt x="3615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254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865185" y="6891891"/>
            <a:ext cx="256551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79110" y="7521607"/>
            <a:ext cx="362669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客户端直接与 DataNode 交互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361603" y="6693647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361504" y="0"/>
                </a:moveTo>
                <a:lnTo>
                  <a:pt x="361504" y="0"/>
                </a:lnTo>
                <a:cubicBezTo>
                  <a:pt x="561023" y="0"/>
                  <a:pt x="723007" y="161984"/>
                  <a:pt x="723007" y="361504"/>
                </a:cubicBezTo>
                <a:lnTo>
                  <a:pt x="723007" y="361504"/>
                </a:lnTo>
                <a:cubicBezTo>
                  <a:pt x="723007" y="561023"/>
                  <a:pt x="561023" y="723007"/>
                  <a:pt x="361504" y="723007"/>
                </a:cubicBezTo>
                <a:lnTo>
                  <a:pt x="361504" y="723007"/>
                </a:lnTo>
                <a:cubicBezTo>
                  <a:pt x="161984" y="723007"/>
                  <a:pt x="0" y="561023"/>
                  <a:pt x="0" y="361504"/>
                </a:cubicBezTo>
                <a:lnTo>
                  <a:pt x="0" y="361504"/>
                </a:lnTo>
                <a:cubicBezTo>
                  <a:pt x="0" y="161984"/>
                  <a:pt x="161984" y="0"/>
                  <a:pt x="3615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254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3596379" y="6891891"/>
            <a:ext cx="256551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910122" y="7521607"/>
            <a:ext cx="362669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定期发送心跳报告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85691" y="7947248"/>
            <a:ext cx="7486623" cy="431472"/>
          </a:xfrm>
          <a:custGeom>
            <a:avLst/>
            <a:gdLst/>
            <a:ahLst/>
            <a:cxnLst/>
            <a:rect l="l" t="t" r="r" b="b"/>
            <a:pathLst>
              <a:path w="7486623" h="431472">
                <a:moveTo>
                  <a:pt x="93293" y="0"/>
                </a:moveTo>
                <a:lnTo>
                  <a:pt x="7393330" y="0"/>
                </a:lnTo>
                <a:cubicBezTo>
                  <a:pt x="7444854" y="0"/>
                  <a:pt x="7486623" y="41769"/>
                  <a:pt x="7486623" y="93293"/>
                </a:cubicBezTo>
                <a:lnTo>
                  <a:pt x="7486623" y="338179"/>
                </a:lnTo>
                <a:cubicBezTo>
                  <a:pt x="7486623" y="389703"/>
                  <a:pt x="7444854" y="431472"/>
                  <a:pt x="7393330" y="431472"/>
                </a:cubicBezTo>
                <a:lnTo>
                  <a:pt x="93293" y="431472"/>
                </a:lnTo>
                <a:cubicBezTo>
                  <a:pt x="41803" y="431472"/>
                  <a:pt x="0" y="389669"/>
                  <a:pt x="0" y="338179"/>
                </a:cubicBezTo>
                <a:lnTo>
                  <a:pt x="0" y="93293"/>
                </a:lnTo>
                <a:cubicBezTo>
                  <a:pt x="0" y="41803"/>
                  <a:pt x="41803" y="0"/>
                  <a:pt x="9329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601427" y="8081354"/>
            <a:ext cx="163260" cy="163260"/>
          </a:xfrm>
          <a:custGeom>
            <a:avLst/>
            <a:gdLst/>
            <a:ahLst/>
            <a:cxnLst/>
            <a:rect l="l" t="t" r="r" b="b"/>
            <a:pathLst>
              <a:path w="163260" h="163260">
                <a:moveTo>
                  <a:pt x="81630" y="163260"/>
                </a:moveTo>
                <a:cubicBezTo>
                  <a:pt x="126683" y="163260"/>
                  <a:pt x="163260" y="126683"/>
                  <a:pt x="163260" y="81630"/>
                </a:cubicBezTo>
                <a:cubicBezTo>
                  <a:pt x="163260" y="36577"/>
                  <a:pt x="126683" y="0"/>
                  <a:pt x="81630" y="0"/>
                </a:cubicBezTo>
                <a:cubicBezTo>
                  <a:pt x="36577" y="0"/>
                  <a:pt x="0" y="36577"/>
                  <a:pt x="0" y="81630"/>
                </a:cubicBezTo>
                <a:cubicBezTo>
                  <a:pt x="0" y="126683"/>
                  <a:pt x="36577" y="163260"/>
                  <a:pt x="81630" y="163260"/>
                </a:cubicBezTo>
                <a:close/>
                <a:moveTo>
                  <a:pt x="71426" y="51019"/>
                </a:moveTo>
                <a:cubicBezTo>
                  <a:pt x="71426" y="45387"/>
                  <a:pt x="75998" y="40815"/>
                  <a:pt x="81630" y="40815"/>
                </a:cubicBezTo>
                <a:cubicBezTo>
                  <a:pt x="87261" y="40815"/>
                  <a:pt x="91834" y="45387"/>
                  <a:pt x="91834" y="51019"/>
                </a:cubicBezTo>
                <a:cubicBezTo>
                  <a:pt x="91834" y="56650"/>
                  <a:pt x="87261" y="61222"/>
                  <a:pt x="81630" y="61222"/>
                </a:cubicBezTo>
                <a:cubicBezTo>
                  <a:pt x="75998" y="61222"/>
                  <a:pt x="71426" y="56650"/>
                  <a:pt x="71426" y="51019"/>
                </a:cubicBezTo>
                <a:close/>
                <a:moveTo>
                  <a:pt x="68875" y="71426"/>
                </a:moveTo>
                <a:lnTo>
                  <a:pt x="84181" y="71426"/>
                </a:lnTo>
                <a:cubicBezTo>
                  <a:pt x="88422" y="71426"/>
                  <a:pt x="91834" y="74838"/>
                  <a:pt x="91834" y="79079"/>
                </a:cubicBezTo>
                <a:lnTo>
                  <a:pt x="91834" y="107139"/>
                </a:lnTo>
                <a:lnTo>
                  <a:pt x="94385" y="107139"/>
                </a:lnTo>
                <a:cubicBezTo>
                  <a:pt x="98625" y="107139"/>
                  <a:pt x="102037" y="110551"/>
                  <a:pt x="102037" y="114792"/>
                </a:cubicBezTo>
                <a:cubicBezTo>
                  <a:pt x="102037" y="119033"/>
                  <a:pt x="98625" y="122445"/>
                  <a:pt x="94385" y="122445"/>
                </a:cubicBezTo>
                <a:lnTo>
                  <a:pt x="68875" y="122445"/>
                </a:lnTo>
                <a:cubicBezTo>
                  <a:pt x="64634" y="122445"/>
                  <a:pt x="61222" y="119033"/>
                  <a:pt x="61222" y="114792"/>
                </a:cubicBezTo>
                <a:cubicBezTo>
                  <a:pt x="61222" y="110551"/>
                  <a:pt x="64634" y="107139"/>
                  <a:pt x="68875" y="107139"/>
                </a:cubicBezTo>
                <a:lnTo>
                  <a:pt x="76528" y="107139"/>
                </a:lnTo>
                <a:lnTo>
                  <a:pt x="76528" y="86732"/>
                </a:lnTo>
                <a:lnTo>
                  <a:pt x="68875" y="86732"/>
                </a:lnTo>
                <a:cubicBezTo>
                  <a:pt x="64634" y="86732"/>
                  <a:pt x="61222" y="83320"/>
                  <a:pt x="61222" y="79079"/>
                </a:cubicBezTo>
                <a:cubicBezTo>
                  <a:pt x="61222" y="74838"/>
                  <a:pt x="64634" y="71426"/>
                  <a:pt x="68875" y="7142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4832856" y="8046370"/>
            <a:ext cx="688785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核心设计：</a:t>
            </a:r>
            <a:r>
              <a:rPr lang="en-US" sz="12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控制流与数据流分离，NameNode 负责元数据操作，DataNode 负责实际数据传输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3734" y="453734"/>
            <a:ext cx="1534853" cy="369709"/>
          </a:xfrm>
          <a:custGeom>
            <a:avLst/>
            <a:gdLst/>
            <a:ahLst/>
            <a:cxnLst/>
            <a:rect l="l" t="t" r="r" b="b"/>
            <a:pathLst>
              <a:path w="1534853" h="369709">
                <a:moveTo>
                  <a:pt x="184855" y="0"/>
                </a:moveTo>
                <a:lnTo>
                  <a:pt x="1349999" y="0"/>
                </a:lnTo>
                <a:cubicBezTo>
                  <a:pt x="1452091" y="0"/>
                  <a:pt x="1534853" y="82762"/>
                  <a:pt x="1534853" y="184855"/>
                </a:cubicBezTo>
                <a:lnTo>
                  <a:pt x="1534853" y="184855"/>
                </a:lnTo>
                <a:cubicBezTo>
                  <a:pt x="1534853" y="286947"/>
                  <a:pt x="1452091" y="369709"/>
                  <a:pt x="1349999" y="369709"/>
                </a:cubicBezTo>
                <a:lnTo>
                  <a:pt x="184855" y="369709"/>
                </a:lnTo>
                <a:cubicBezTo>
                  <a:pt x="82831" y="369709"/>
                  <a:pt x="0" y="286879"/>
                  <a:pt x="0" y="184855"/>
                </a:cubicBezTo>
                <a:lnTo>
                  <a:pt x="0" y="184855"/>
                </a:lnTo>
                <a:cubicBezTo>
                  <a:pt x="0" y="82831"/>
                  <a:pt x="82831" y="0"/>
                  <a:pt x="18485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8589" y="520954"/>
            <a:ext cx="125354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kern="0" spc="14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8132" y="963484"/>
            <a:ext cx="15628615" cy="53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34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NameNode：元数据管理者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132" y="1635683"/>
            <a:ext cx="1547176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的核心组件，负责元数据管理和集群协调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539" y="2173442"/>
            <a:ext cx="4951862" cy="2509541"/>
          </a:xfrm>
          <a:custGeom>
            <a:avLst/>
            <a:gdLst/>
            <a:ahLst/>
            <a:cxnLst/>
            <a:rect l="l" t="t" r="r" b="b"/>
            <a:pathLst>
              <a:path w="4951862" h="2509541">
                <a:moveTo>
                  <a:pt x="44813" y="0"/>
                </a:moveTo>
                <a:lnTo>
                  <a:pt x="4862246" y="0"/>
                </a:lnTo>
                <a:cubicBezTo>
                  <a:pt x="4911740" y="0"/>
                  <a:pt x="4951862" y="40122"/>
                  <a:pt x="4951862" y="89616"/>
                </a:cubicBezTo>
                <a:lnTo>
                  <a:pt x="4951862" y="2419925"/>
                </a:lnTo>
                <a:cubicBezTo>
                  <a:pt x="4951862" y="2469419"/>
                  <a:pt x="4911740" y="2509541"/>
                  <a:pt x="4862246" y="2509541"/>
                </a:cubicBez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70539" y="2173442"/>
            <a:ext cx="44813" cy="2509541"/>
          </a:xfrm>
          <a:custGeom>
            <a:avLst/>
            <a:gdLst/>
            <a:ahLst/>
            <a:cxnLst/>
            <a:rect l="l" t="t" r="r" b="b"/>
            <a:pathLst>
              <a:path w="44813" h="2509541">
                <a:moveTo>
                  <a:pt x="44813" y="0"/>
                </a:moveTo>
                <a:lnTo>
                  <a:pt x="44813" y="0"/>
                </a:lnTo>
                <a:lnTo>
                  <a:pt x="44813" y="2509541"/>
                </a:ln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012" y="2397508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73858" y="2554354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84025" y="28008"/>
                </a:moveTo>
                <a:cubicBezTo>
                  <a:pt x="84025" y="20262"/>
                  <a:pt x="90283" y="14004"/>
                  <a:pt x="98029" y="14004"/>
                </a:cubicBezTo>
                <a:lnTo>
                  <a:pt x="126037" y="14004"/>
                </a:lnTo>
                <a:cubicBezTo>
                  <a:pt x="133783" y="14004"/>
                  <a:pt x="140041" y="20262"/>
                  <a:pt x="140041" y="28008"/>
                </a:cubicBezTo>
                <a:lnTo>
                  <a:pt x="140041" y="56017"/>
                </a:lnTo>
                <a:cubicBezTo>
                  <a:pt x="140041" y="63763"/>
                  <a:pt x="133783" y="70021"/>
                  <a:pt x="126037" y="70021"/>
                </a:cubicBezTo>
                <a:lnTo>
                  <a:pt x="122536" y="70021"/>
                </a:lnTo>
                <a:lnTo>
                  <a:pt x="122536" y="98029"/>
                </a:lnTo>
                <a:lnTo>
                  <a:pt x="175052" y="98029"/>
                </a:lnTo>
                <a:cubicBezTo>
                  <a:pt x="192469" y="98029"/>
                  <a:pt x="206561" y="112121"/>
                  <a:pt x="206561" y="129538"/>
                </a:cubicBezTo>
                <a:lnTo>
                  <a:pt x="206561" y="154045"/>
                </a:lnTo>
                <a:lnTo>
                  <a:pt x="210062" y="154045"/>
                </a:lnTo>
                <a:cubicBezTo>
                  <a:pt x="217808" y="154045"/>
                  <a:pt x="224066" y="160304"/>
                  <a:pt x="224066" y="168050"/>
                </a:cubicBezTo>
                <a:lnTo>
                  <a:pt x="224066" y="196058"/>
                </a:lnTo>
                <a:cubicBezTo>
                  <a:pt x="224066" y="203804"/>
                  <a:pt x="217808" y="210062"/>
                  <a:pt x="210062" y="210062"/>
                </a:cubicBezTo>
                <a:lnTo>
                  <a:pt x="182054" y="210062"/>
                </a:lnTo>
                <a:cubicBezTo>
                  <a:pt x="174308" y="210062"/>
                  <a:pt x="168050" y="203804"/>
                  <a:pt x="168050" y="196058"/>
                </a:cubicBezTo>
                <a:lnTo>
                  <a:pt x="168050" y="168050"/>
                </a:lnTo>
                <a:cubicBezTo>
                  <a:pt x="168050" y="160304"/>
                  <a:pt x="174308" y="154045"/>
                  <a:pt x="182054" y="154045"/>
                </a:cubicBezTo>
                <a:lnTo>
                  <a:pt x="185555" y="154045"/>
                </a:lnTo>
                <a:lnTo>
                  <a:pt x="185555" y="129538"/>
                </a:lnTo>
                <a:cubicBezTo>
                  <a:pt x="185555" y="123718"/>
                  <a:pt x="180872" y="119035"/>
                  <a:pt x="175052" y="119035"/>
                </a:cubicBezTo>
                <a:lnTo>
                  <a:pt x="122536" y="119035"/>
                </a:lnTo>
                <a:lnTo>
                  <a:pt x="122536" y="154045"/>
                </a:lnTo>
                <a:lnTo>
                  <a:pt x="126037" y="154045"/>
                </a:lnTo>
                <a:cubicBezTo>
                  <a:pt x="133783" y="154045"/>
                  <a:pt x="140041" y="160304"/>
                  <a:pt x="140041" y="168050"/>
                </a:cubicBezTo>
                <a:lnTo>
                  <a:pt x="140041" y="196058"/>
                </a:lnTo>
                <a:cubicBezTo>
                  <a:pt x="140041" y="203804"/>
                  <a:pt x="133783" y="210062"/>
                  <a:pt x="126037" y="210062"/>
                </a:cubicBezTo>
                <a:lnTo>
                  <a:pt x="98029" y="210062"/>
                </a:lnTo>
                <a:cubicBezTo>
                  <a:pt x="90283" y="210062"/>
                  <a:pt x="84025" y="203804"/>
                  <a:pt x="84025" y="196058"/>
                </a:cubicBezTo>
                <a:lnTo>
                  <a:pt x="84025" y="168050"/>
                </a:lnTo>
                <a:cubicBezTo>
                  <a:pt x="84025" y="160304"/>
                  <a:pt x="90283" y="154045"/>
                  <a:pt x="98029" y="154045"/>
                </a:cubicBezTo>
                <a:lnTo>
                  <a:pt x="101530" y="154045"/>
                </a:lnTo>
                <a:lnTo>
                  <a:pt x="101530" y="119035"/>
                </a:lnTo>
                <a:lnTo>
                  <a:pt x="49014" y="119035"/>
                </a:lnTo>
                <a:cubicBezTo>
                  <a:pt x="43194" y="119035"/>
                  <a:pt x="38511" y="123718"/>
                  <a:pt x="38511" y="129538"/>
                </a:cubicBezTo>
                <a:lnTo>
                  <a:pt x="38511" y="154045"/>
                </a:lnTo>
                <a:lnTo>
                  <a:pt x="42012" y="154045"/>
                </a:lnTo>
                <a:cubicBezTo>
                  <a:pt x="49758" y="154045"/>
                  <a:pt x="56017" y="160304"/>
                  <a:pt x="56017" y="168050"/>
                </a:cubicBezTo>
                <a:lnTo>
                  <a:pt x="56017" y="196058"/>
                </a:lnTo>
                <a:cubicBezTo>
                  <a:pt x="56017" y="203804"/>
                  <a:pt x="49758" y="210062"/>
                  <a:pt x="42012" y="210062"/>
                </a:cubicBezTo>
                <a:lnTo>
                  <a:pt x="14004" y="210062"/>
                </a:lnTo>
                <a:cubicBezTo>
                  <a:pt x="6258" y="210062"/>
                  <a:pt x="0" y="203804"/>
                  <a:pt x="0" y="196058"/>
                </a:cubicBezTo>
                <a:lnTo>
                  <a:pt x="0" y="168050"/>
                </a:lnTo>
                <a:cubicBezTo>
                  <a:pt x="0" y="160304"/>
                  <a:pt x="6258" y="154045"/>
                  <a:pt x="14004" y="154045"/>
                </a:cubicBezTo>
                <a:lnTo>
                  <a:pt x="17505" y="154045"/>
                </a:lnTo>
                <a:lnTo>
                  <a:pt x="17505" y="129538"/>
                </a:lnTo>
                <a:cubicBezTo>
                  <a:pt x="17505" y="112121"/>
                  <a:pt x="31597" y="98029"/>
                  <a:pt x="49014" y="98029"/>
                </a:cubicBezTo>
                <a:lnTo>
                  <a:pt x="101530" y="98029"/>
                </a:lnTo>
                <a:lnTo>
                  <a:pt x="101530" y="70021"/>
                </a:lnTo>
                <a:lnTo>
                  <a:pt x="98029" y="70021"/>
                </a:lnTo>
                <a:cubicBezTo>
                  <a:pt x="90283" y="70021"/>
                  <a:pt x="84025" y="63763"/>
                  <a:pt x="84025" y="56017"/>
                </a:cubicBezTo>
                <a:lnTo>
                  <a:pt x="84025" y="28008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34023" y="2509541"/>
            <a:ext cx="1232364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012" y="3069706"/>
            <a:ext cx="4570950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维护文件系统的命名空间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和文件到数据块的映射关系。所有元数据存储在内存中，提供快速访问。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012" y="3786718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文件目录树结构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012" y="4010784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文件-块映射关系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012" y="4234850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文件属性（权限、大小等）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3885" y="2173442"/>
            <a:ext cx="4951862" cy="2509541"/>
          </a:xfrm>
          <a:custGeom>
            <a:avLst/>
            <a:gdLst/>
            <a:ahLst/>
            <a:cxnLst/>
            <a:rect l="l" t="t" r="r" b="b"/>
            <a:pathLst>
              <a:path w="4951862" h="2509541">
                <a:moveTo>
                  <a:pt x="44813" y="0"/>
                </a:moveTo>
                <a:lnTo>
                  <a:pt x="4862246" y="0"/>
                </a:lnTo>
                <a:cubicBezTo>
                  <a:pt x="4911740" y="0"/>
                  <a:pt x="4951862" y="40122"/>
                  <a:pt x="4951862" y="89616"/>
                </a:cubicBezTo>
                <a:lnTo>
                  <a:pt x="4951862" y="2419925"/>
                </a:lnTo>
                <a:cubicBezTo>
                  <a:pt x="4951862" y="2469419"/>
                  <a:pt x="4911740" y="2509541"/>
                  <a:pt x="4862246" y="2509541"/>
                </a:cubicBez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663885" y="2173442"/>
            <a:ext cx="44813" cy="2509541"/>
          </a:xfrm>
          <a:custGeom>
            <a:avLst/>
            <a:gdLst/>
            <a:ahLst/>
            <a:cxnLst/>
            <a:rect l="l" t="t" r="r" b="b"/>
            <a:pathLst>
              <a:path w="44813" h="2509541">
                <a:moveTo>
                  <a:pt x="44813" y="0"/>
                </a:moveTo>
                <a:lnTo>
                  <a:pt x="44813" y="0"/>
                </a:lnTo>
                <a:lnTo>
                  <a:pt x="44813" y="2509541"/>
                </a:ln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910358" y="2397508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53200" y="2554354"/>
            <a:ext cx="252074" cy="224066"/>
          </a:xfrm>
          <a:custGeom>
            <a:avLst/>
            <a:gdLst/>
            <a:ahLst/>
            <a:cxnLst/>
            <a:rect l="l" t="t" r="r" b="b"/>
            <a:pathLst>
              <a:path w="252074" h="224066">
                <a:moveTo>
                  <a:pt x="108532" y="38511"/>
                </a:moveTo>
                <a:lnTo>
                  <a:pt x="143542" y="38511"/>
                </a:lnTo>
                <a:lnTo>
                  <a:pt x="143542" y="59518"/>
                </a:lnTo>
                <a:lnTo>
                  <a:pt x="108532" y="59518"/>
                </a:lnTo>
                <a:lnTo>
                  <a:pt x="108532" y="38511"/>
                </a:lnTo>
                <a:close/>
                <a:moveTo>
                  <a:pt x="105031" y="14004"/>
                </a:moveTo>
                <a:cubicBezTo>
                  <a:pt x="93434" y="14004"/>
                  <a:pt x="84025" y="23413"/>
                  <a:pt x="84025" y="35010"/>
                </a:cubicBezTo>
                <a:lnTo>
                  <a:pt x="84025" y="63019"/>
                </a:lnTo>
                <a:cubicBezTo>
                  <a:pt x="84025" y="74616"/>
                  <a:pt x="93434" y="84025"/>
                  <a:pt x="105031" y="84025"/>
                </a:cubicBezTo>
                <a:lnTo>
                  <a:pt x="112033" y="84025"/>
                </a:lnTo>
                <a:lnTo>
                  <a:pt x="112033" y="98029"/>
                </a:lnTo>
                <a:lnTo>
                  <a:pt x="14004" y="98029"/>
                </a:lnTo>
                <a:cubicBezTo>
                  <a:pt x="6258" y="98029"/>
                  <a:pt x="0" y="104287"/>
                  <a:pt x="0" y="112033"/>
                </a:cubicBezTo>
                <a:cubicBezTo>
                  <a:pt x="0" y="119779"/>
                  <a:pt x="6258" y="126037"/>
                  <a:pt x="14004" y="126037"/>
                </a:cubicBezTo>
                <a:lnTo>
                  <a:pt x="56017" y="126037"/>
                </a:lnTo>
                <a:lnTo>
                  <a:pt x="56017" y="140041"/>
                </a:lnTo>
                <a:lnTo>
                  <a:pt x="49014" y="140041"/>
                </a:lnTo>
                <a:cubicBezTo>
                  <a:pt x="37417" y="140041"/>
                  <a:pt x="28008" y="149450"/>
                  <a:pt x="28008" y="161048"/>
                </a:cubicBezTo>
                <a:lnTo>
                  <a:pt x="28008" y="189056"/>
                </a:lnTo>
                <a:cubicBezTo>
                  <a:pt x="28008" y="200653"/>
                  <a:pt x="37417" y="210062"/>
                  <a:pt x="49014" y="210062"/>
                </a:cubicBezTo>
                <a:lnTo>
                  <a:pt x="91027" y="210062"/>
                </a:lnTo>
                <a:cubicBezTo>
                  <a:pt x="102624" y="210062"/>
                  <a:pt x="112033" y="200653"/>
                  <a:pt x="112033" y="189056"/>
                </a:cubicBezTo>
                <a:lnTo>
                  <a:pt x="112033" y="161048"/>
                </a:lnTo>
                <a:cubicBezTo>
                  <a:pt x="112033" y="149450"/>
                  <a:pt x="102624" y="140041"/>
                  <a:pt x="91027" y="140041"/>
                </a:cubicBezTo>
                <a:lnTo>
                  <a:pt x="84025" y="140041"/>
                </a:lnTo>
                <a:lnTo>
                  <a:pt x="84025" y="126037"/>
                </a:lnTo>
                <a:lnTo>
                  <a:pt x="168050" y="126037"/>
                </a:lnTo>
                <a:lnTo>
                  <a:pt x="168050" y="140041"/>
                </a:lnTo>
                <a:lnTo>
                  <a:pt x="161048" y="140041"/>
                </a:lnTo>
                <a:cubicBezTo>
                  <a:pt x="149450" y="140041"/>
                  <a:pt x="140041" y="149450"/>
                  <a:pt x="140041" y="161048"/>
                </a:cubicBezTo>
                <a:lnTo>
                  <a:pt x="140041" y="189056"/>
                </a:lnTo>
                <a:cubicBezTo>
                  <a:pt x="140041" y="200653"/>
                  <a:pt x="149450" y="210062"/>
                  <a:pt x="161048" y="210062"/>
                </a:cubicBezTo>
                <a:lnTo>
                  <a:pt x="203060" y="210062"/>
                </a:lnTo>
                <a:cubicBezTo>
                  <a:pt x="214657" y="210062"/>
                  <a:pt x="224066" y="200653"/>
                  <a:pt x="224066" y="189056"/>
                </a:cubicBezTo>
                <a:lnTo>
                  <a:pt x="224066" y="161048"/>
                </a:lnTo>
                <a:cubicBezTo>
                  <a:pt x="224066" y="149450"/>
                  <a:pt x="214657" y="140041"/>
                  <a:pt x="203060" y="140041"/>
                </a:cubicBezTo>
                <a:lnTo>
                  <a:pt x="196058" y="140041"/>
                </a:lnTo>
                <a:lnTo>
                  <a:pt x="196058" y="126037"/>
                </a:lnTo>
                <a:lnTo>
                  <a:pt x="238070" y="126037"/>
                </a:lnTo>
                <a:cubicBezTo>
                  <a:pt x="245816" y="126037"/>
                  <a:pt x="252074" y="119779"/>
                  <a:pt x="252074" y="112033"/>
                </a:cubicBezTo>
                <a:cubicBezTo>
                  <a:pt x="252074" y="104287"/>
                  <a:pt x="245816" y="98029"/>
                  <a:pt x="238070" y="98029"/>
                </a:cubicBezTo>
                <a:lnTo>
                  <a:pt x="140041" y="98029"/>
                </a:lnTo>
                <a:lnTo>
                  <a:pt x="140041" y="84025"/>
                </a:lnTo>
                <a:lnTo>
                  <a:pt x="147043" y="84025"/>
                </a:lnTo>
                <a:cubicBezTo>
                  <a:pt x="158641" y="84025"/>
                  <a:pt x="168050" y="74616"/>
                  <a:pt x="168050" y="63019"/>
                </a:cubicBezTo>
                <a:lnTo>
                  <a:pt x="168050" y="35010"/>
                </a:lnTo>
                <a:cubicBezTo>
                  <a:pt x="168050" y="23413"/>
                  <a:pt x="158641" y="14004"/>
                  <a:pt x="147043" y="14004"/>
                </a:cubicBezTo>
                <a:lnTo>
                  <a:pt x="105031" y="14004"/>
                </a:lnTo>
                <a:close/>
                <a:moveTo>
                  <a:pt x="196058" y="164549"/>
                </a:moveTo>
                <a:lnTo>
                  <a:pt x="199559" y="164549"/>
                </a:lnTo>
                <a:lnTo>
                  <a:pt x="199559" y="185555"/>
                </a:lnTo>
                <a:lnTo>
                  <a:pt x="164549" y="185555"/>
                </a:lnTo>
                <a:lnTo>
                  <a:pt x="164549" y="164549"/>
                </a:lnTo>
                <a:lnTo>
                  <a:pt x="196058" y="164549"/>
                </a:lnTo>
                <a:close/>
                <a:moveTo>
                  <a:pt x="84025" y="164549"/>
                </a:moveTo>
                <a:lnTo>
                  <a:pt x="87526" y="164549"/>
                </a:lnTo>
                <a:lnTo>
                  <a:pt x="87526" y="185555"/>
                </a:lnTo>
                <a:lnTo>
                  <a:pt x="52516" y="185555"/>
                </a:lnTo>
                <a:lnTo>
                  <a:pt x="52516" y="164549"/>
                </a:lnTo>
                <a:lnTo>
                  <a:pt x="84025" y="16454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27369" y="2509541"/>
            <a:ext cx="100829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集群协调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10358" y="3069706"/>
            <a:ext cx="4570950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 DataNode 注册、心跳监控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和负载均衡。维护集群的整体健康状态。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10358" y="3786718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DataNode 注册与心跳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0358" y="4010784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块报告处理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10358" y="4234850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副本策略管理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57231" y="2173442"/>
            <a:ext cx="4951862" cy="2509541"/>
          </a:xfrm>
          <a:custGeom>
            <a:avLst/>
            <a:gdLst/>
            <a:ahLst/>
            <a:cxnLst/>
            <a:rect l="l" t="t" r="r" b="b"/>
            <a:pathLst>
              <a:path w="4951862" h="2509541">
                <a:moveTo>
                  <a:pt x="44813" y="0"/>
                </a:moveTo>
                <a:lnTo>
                  <a:pt x="4862246" y="0"/>
                </a:lnTo>
                <a:cubicBezTo>
                  <a:pt x="4911740" y="0"/>
                  <a:pt x="4951862" y="40122"/>
                  <a:pt x="4951862" y="89616"/>
                </a:cubicBezTo>
                <a:lnTo>
                  <a:pt x="4951862" y="2419925"/>
                </a:lnTo>
                <a:cubicBezTo>
                  <a:pt x="4951862" y="2469419"/>
                  <a:pt x="4911740" y="2509541"/>
                  <a:pt x="4862246" y="2509541"/>
                </a:cubicBez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0857231" y="2173442"/>
            <a:ext cx="44813" cy="2509541"/>
          </a:xfrm>
          <a:custGeom>
            <a:avLst/>
            <a:gdLst/>
            <a:ahLst/>
            <a:cxnLst/>
            <a:rect l="l" t="t" r="r" b="b"/>
            <a:pathLst>
              <a:path w="44813" h="2509541">
                <a:moveTo>
                  <a:pt x="44813" y="0"/>
                </a:moveTo>
                <a:lnTo>
                  <a:pt x="44813" y="0"/>
                </a:lnTo>
                <a:lnTo>
                  <a:pt x="44813" y="2509541"/>
                </a:lnTo>
                <a:lnTo>
                  <a:pt x="44813" y="2509541"/>
                </a:lnTo>
                <a:cubicBezTo>
                  <a:pt x="20064" y="2509541"/>
                  <a:pt x="0" y="2489477"/>
                  <a:pt x="0" y="246472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103704" y="2397508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1246546" y="2554354"/>
            <a:ext cx="252074" cy="224066"/>
          </a:xfrm>
          <a:custGeom>
            <a:avLst/>
            <a:gdLst/>
            <a:ahLst/>
            <a:cxnLst/>
            <a:rect l="l" t="t" r="r" b="b"/>
            <a:pathLst>
              <a:path w="252074" h="224066">
                <a:moveTo>
                  <a:pt x="28008" y="56017"/>
                </a:moveTo>
                <a:cubicBezTo>
                  <a:pt x="28008" y="28965"/>
                  <a:pt x="49971" y="7002"/>
                  <a:pt x="77023" y="7002"/>
                </a:cubicBezTo>
                <a:cubicBezTo>
                  <a:pt x="104075" y="7002"/>
                  <a:pt x="126037" y="28965"/>
                  <a:pt x="126037" y="56017"/>
                </a:cubicBezTo>
                <a:cubicBezTo>
                  <a:pt x="126037" y="83068"/>
                  <a:pt x="104075" y="105031"/>
                  <a:pt x="77023" y="105031"/>
                </a:cubicBezTo>
                <a:cubicBezTo>
                  <a:pt x="49971" y="105031"/>
                  <a:pt x="28008" y="83068"/>
                  <a:pt x="28008" y="56017"/>
                </a:cubicBezTo>
                <a:close/>
                <a:moveTo>
                  <a:pt x="0" y="203060"/>
                </a:moveTo>
                <a:cubicBezTo>
                  <a:pt x="0" y="160522"/>
                  <a:pt x="34485" y="126037"/>
                  <a:pt x="77023" y="126037"/>
                </a:cubicBezTo>
                <a:cubicBezTo>
                  <a:pt x="119560" y="126037"/>
                  <a:pt x="154045" y="160522"/>
                  <a:pt x="154045" y="203060"/>
                </a:cubicBezTo>
                <a:lnTo>
                  <a:pt x="154045" y="205686"/>
                </a:lnTo>
                <a:cubicBezTo>
                  <a:pt x="154045" y="215839"/>
                  <a:pt x="145818" y="224066"/>
                  <a:pt x="135665" y="224066"/>
                </a:cubicBezTo>
                <a:lnTo>
                  <a:pt x="18380" y="224066"/>
                </a:lnTo>
                <a:cubicBezTo>
                  <a:pt x="8227" y="224066"/>
                  <a:pt x="0" y="215839"/>
                  <a:pt x="0" y="205686"/>
                </a:cubicBezTo>
                <a:lnTo>
                  <a:pt x="0" y="203060"/>
                </a:lnTo>
                <a:close/>
                <a:moveTo>
                  <a:pt x="189056" y="28008"/>
                </a:moveTo>
                <a:cubicBezTo>
                  <a:pt x="212243" y="28008"/>
                  <a:pt x="231068" y="46833"/>
                  <a:pt x="231068" y="70021"/>
                </a:cubicBezTo>
                <a:cubicBezTo>
                  <a:pt x="231068" y="93208"/>
                  <a:pt x="212243" y="112033"/>
                  <a:pt x="189056" y="112033"/>
                </a:cubicBezTo>
                <a:cubicBezTo>
                  <a:pt x="165869" y="112033"/>
                  <a:pt x="147043" y="93208"/>
                  <a:pt x="147043" y="70021"/>
                </a:cubicBezTo>
                <a:cubicBezTo>
                  <a:pt x="147043" y="46833"/>
                  <a:pt x="165869" y="28008"/>
                  <a:pt x="189056" y="28008"/>
                </a:cubicBezTo>
                <a:close/>
                <a:moveTo>
                  <a:pt x="189056" y="133039"/>
                </a:moveTo>
                <a:cubicBezTo>
                  <a:pt x="223847" y="133039"/>
                  <a:pt x="252074" y="161266"/>
                  <a:pt x="252074" y="196058"/>
                </a:cubicBezTo>
                <a:lnTo>
                  <a:pt x="252074" y="205861"/>
                </a:lnTo>
                <a:cubicBezTo>
                  <a:pt x="252074" y="215926"/>
                  <a:pt x="243935" y="224066"/>
                  <a:pt x="233869" y="224066"/>
                </a:cubicBezTo>
                <a:lnTo>
                  <a:pt x="170500" y="224066"/>
                </a:lnTo>
                <a:cubicBezTo>
                  <a:pt x="173389" y="218596"/>
                  <a:pt x="175052" y="212338"/>
                  <a:pt x="175052" y="205686"/>
                </a:cubicBezTo>
                <a:lnTo>
                  <a:pt x="175052" y="203060"/>
                </a:lnTo>
                <a:cubicBezTo>
                  <a:pt x="175052" y="180522"/>
                  <a:pt x="167437" y="159778"/>
                  <a:pt x="154702" y="143236"/>
                </a:cubicBezTo>
                <a:cubicBezTo>
                  <a:pt x="164592" y="136803"/>
                  <a:pt x="176408" y="133039"/>
                  <a:pt x="189056" y="13303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820715" y="2509541"/>
            <a:ext cx="1232364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客户端服务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03704" y="3069706"/>
            <a:ext cx="4570950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处理客户端的文件操作请求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，提供 RPC 接口供客户端访问文件系统元数据。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03704" y="3786718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文件创建、删除、重命名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03704" y="4010784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块位置查询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03704" y="4234850"/>
            <a:ext cx="4559746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权限验证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3734" y="4912651"/>
            <a:ext cx="15348532" cy="3484229"/>
          </a:xfrm>
          <a:custGeom>
            <a:avLst/>
            <a:gdLst/>
            <a:ahLst/>
            <a:cxnLst/>
            <a:rect l="l" t="t" r="r" b="b"/>
            <a:pathLst>
              <a:path w="15348532" h="3484229">
                <a:moveTo>
                  <a:pt x="89614" y="0"/>
                </a:moveTo>
                <a:lnTo>
                  <a:pt x="15258918" y="0"/>
                </a:lnTo>
                <a:cubicBezTo>
                  <a:pt x="15308410" y="0"/>
                  <a:pt x="15348532" y="40122"/>
                  <a:pt x="15348532" y="89614"/>
                </a:cubicBezTo>
                <a:lnTo>
                  <a:pt x="15348532" y="3394614"/>
                </a:lnTo>
                <a:cubicBezTo>
                  <a:pt x="15348532" y="3444107"/>
                  <a:pt x="15308410" y="3484229"/>
                  <a:pt x="15258918" y="3484229"/>
                </a:cubicBezTo>
                <a:lnTo>
                  <a:pt x="89614" y="3484229"/>
                </a:lnTo>
                <a:cubicBezTo>
                  <a:pt x="40122" y="3484229"/>
                  <a:pt x="0" y="3444107"/>
                  <a:pt x="0" y="3394614"/>
                </a:cubicBezTo>
                <a:lnTo>
                  <a:pt x="0" y="89614"/>
                </a:lnTo>
                <a:cubicBezTo>
                  <a:pt x="0" y="40122"/>
                  <a:pt x="40122" y="0"/>
                  <a:pt x="8961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70227" y="5231945"/>
            <a:ext cx="196058" cy="224066"/>
          </a:xfrm>
          <a:custGeom>
            <a:avLst/>
            <a:gdLst/>
            <a:ahLst/>
            <a:cxnLst/>
            <a:rect l="l" t="t" r="r" b="b"/>
            <a:pathLst>
              <a:path w="196058" h="224066">
                <a:moveTo>
                  <a:pt x="28008" y="14004"/>
                </a:moveTo>
                <a:cubicBezTo>
                  <a:pt x="12560" y="14004"/>
                  <a:pt x="0" y="26564"/>
                  <a:pt x="0" y="42012"/>
                </a:cubicBezTo>
                <a:lnTo>
                  <a:pt x="0" y="182054"/>
                </a:lnTo>
                <a:cubicBezTo>
                  <a:pt x="0" y="197502"/>
                  <a:pt x="12560" y="210062"/>
                  <a:pt x="28008" y="210062"/>
                </a:cubicBezTo>
                <a:lnTo>
                  <a:pt x="168050" y="210062"/>
                </a:lnTo>
                <a:cubicBezTo>
                  <a:pt x="183498" y="210062"/>
                  <a:pt x="196058" y="197502"/>
                  <a:pt x="196058" y="182054"/>
                </a:cubicBezTo>
                <a:lnTo>
                  <a:pt x="196058" y="75841"/>
                </a:lnTo>
                <a:cubicBezTo>
                  <a:pt x="196058" y="68401"/>
                  <a:pt x="193126" y="61268"/>
                  <a:pt x="187874" y="56017"/>
                </a:cubicBezTo>
                <a:lnTo>
                  <a:pt x="154045" y="22188"/>
                </a:lnTo>
                <a:cubicBezTo>
                  <a:pt x="148794" y="16936"/>
                  <a:pt x="141661" y="14004"/>
                  <a:pt x="134221" y="14004"/>
                </a:cubicBezTo>
                <a:lnTo>
                  <a:pt x="28008" y="14004"/>
                </a:lnTo>
                <a:close/>
                <a:moveTo>
                  <a:pt x="42012" y="56017"/>
                </a:moveTo>
                <a:cubicBezTo>
                  <a:pt x="42012" y="48271"/>
                  <a:pt x="48271" y="42012"/>
                  <a:pt x="56017" y="42012"/>
                </a:cubicBezTo>
                <a:lnTo>
                  <a:pt x="126037" y="42012"/>
                </a:lnTo>
                <a:cubicBezTo>
                  <a:pt x="133783" y="42012"/>
                  <a:pt x="140041" y="48271"/>
                  <a:pt x="140041" y="56017"/>
                </a:cubicBezTo>
                <a:lnTo>
                  <a:pt x="140041" y="84025"/>
                </a:lnTo>
                <a:cubicBezTo>
                  <a:pt x="140041" y="91771"/>
                  <a:pt x="133783" y="98029"/>
                  <a:pt x="126037" y="98029"/>
                </a:cubicBezTo>
                <a:lnTo>
                  <a:pt x="56017" y="98029"/>
                </a:lnTo>
                <a:cubicBezTo>
                  <a:pt x="48271" y="98029"/>
                  <a:pt x="42012" y="91771"/>
                  <a:pt x="42012" y="84025"/>
                </a:cubicBezTo>
                <a:lnTo>
                  <a:pt x="42012" y="56017"/>
                </a:lnTo>
                <a:close/>
                <a:moveTo>
                  <a:pt x="98029" y="126037"/>
                </a:moveTo>
                <a:cubicBezTo>
                  <a:pt x="113487" y="126037"/>
                  <a:pt x="126037" y="138587"/>
                  <a:pt x="126037" y="154045"/>
                </a:cubicBezTo>
                <a:cubicBezTo>
                  <a:pt x="126037" y="169504"/>
                  <a:pt x="113487" y="182054"/>
                  <a:pt x="98029" y="182054"/>
                </a:cubicBezTo>
                <a:cubicBezTo>
                  <a:pt x="82571" y="182054"/>
                  <a:pt x="70021" y="169504"/>
                  <a:pt x="70021" y="154045"/>
                </a:cubicBezTo>
                <a:cubicBezTo>
                  <a:pt x="70021" y="138587"/>
                  <a:pt x="82571" y="126037"/>
                  <a:pt x="98029" y="126037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08298" y="5187132"/>
            <a:ext cx="1463152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元数据持久化机制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215" y="5680077"/>
            <a:ext cx="7360573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FSImage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8215" y="6128210"/>
            <a:ext cx="7349370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文件系统镜像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，存储文件系统在某个时间点的完整元数据快照，包括目录树、文件属性、块映射关系等。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817" y="6850823"/>
            <a:ext cx="7248540" cy="414522"/>
          </a:xfrm>
          <a:custGeom>
            <a:avLst/>
            <a:gdLst/>
            <a:ahLst/>
            <a:cxnLst/>
            <a:rect l="l" t="t" r="r" b="b"/>
            <a:pathLst>
              <a:path w="7248540" h="414522">
                <a:moveTo>
                  <a:pt x="44814" y="0"/>
                </a:moveTo>
                <a:lnTo>
                  <a:pt x="7203726" y="0"/>
                </a:lnTo>
                <a:cubicBezTo>
                  <a:pt x="7228476" y="0"/>
                  <a:pt x="7248540" y="20064"/>
                  <a:pt x="7248540" y="44814"/>
                </a:cubicBezTo>
                <a:lnTo>
                  <a:pt x="7248540" y="369708"/>
                </a:lnTo>
                <a:cubicBezTo>
                  <a:pt x="7248540" y="394458"/>
                  <a:pt x="7228476" y="414522"/>
                  <a:pt x="7203726" y="414522"/>
                </a:cubicBezTo>
                <a:lnTo>
                  <a:pt x="44814" y="414522"/>
                </a:lnTo>
                <a:cubicBezTo>
                  <a:pt x="20064" y="414522"/>
                  <a:pt x="0" y="394458"/>
                  <a:pt x="0" y="369708"/>
                </a:cubicBezTo>
                <a:lnTo>
                  <a:pt x="0" y="44814"/>
                </a:lnTo>
                <a:cubicBezTo>
                  <a:pt x="0" y="20080"/>
                  <a:pt x="20080" y="0"/>
                  <a:pt x="4481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28215" y="6845221"/>
            <a:ext cx="7315760" cy="403319"/>
          </a:xfrm>
          <a:prstGeom prst="rect">
            <a:avLst/>
          </a:prstGeom>
          <a:noFill/>
          <a:ln/>
        </p:spPr>
        <p:txBody>
          <a:bodyPr wrap="square" lIns="134440" tIns="89626" rIns="134440" bIns="89626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完整快照 | 定期生成 | 恢复基准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60514" y="5680077"/>
            <a:ext cx="7360573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EditLog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60514" y="6128210"/>
            <a:ext cx="7349370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编辑日志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，顺序记录自上次 FSImage 创建以来的所有元数据变更操作，用于故障恢复和增量更新。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6116" y="6850823"/>
            <a:ext cx="7248540" cy="414522"/>
          </a:xfrm>
          <a:custGeom>
            <a:avLst/>
            <a:gdLst/>
            <a:ahLst/>
            <a:cxnLst/>
            <a:rect l="l" t="t" r="r" b="b"/>
            <a:pathLst>
              <a:path w="7248540" h="414522">
                <a:moveTo>
                  <a:pt x="44814" y="0"/>
                </a:moveTo>
                <a:lnTo>
                  <a:pt x="7203726" y="0"/>
                </a:lnTo>
                <a:cubicBezTo>
                  <a:pt x="7228476" y="0"/>
                  <a:pt x="7248540" y="20064"/>
                  <a:pt x="7248540" y="44814"/>
                </a:cubicBezTo>
                <a:lnTo>
                  <a:pt x="7248540" y="369708"/>
                </a:lnTo>
                <a:cubicBezTo>
                  <a:pt x="7248540" y="394458"/>
                  <a:pt x="7228476" y="414522"/>
                  <a:pt x="7203726" y="414522"/>
                </a:cubicBezTo>
                <a:lnTo>
                  <a:pt x="44814" y="414522"/>
                </a:lnTo>
                <a:cubicBezTo>
                  <a:pt x="20064" y="414522"/>
                  <a:pt x="0" y="394458"/>
                  <a:pt x="0" y="369708"/>
                </a:cubicBezTo>
                <a:lnTo>
                  <a:pt x="0" y="44814"/>
                </a:lnTo>
                <a:cubicBezTo>
                  <a:pt x="0" y="20080"/>
                  <a:pt x="20080" y="0"/>
                  <a:pt x="4481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260514" y="6845221"/>
            <a:ext cx="7315760" cy="403319"/>
          </a:xfrm>
          <a:prstGeom prst="rect">
            <a:avLst/>
          </a:prstGeom>
          <a:noFill/>
          <a:ln/>
        </p:spPr>
        <p:txBody>
          <a:bodyPr wrap="square" lIns="134440" tIns="89626" rIns="134440" bIns="89626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增量记录 | 实时写入 | 故障恢复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3817" y="7455802"/>
            <a:ext cx="14788367" cy="660995"/>
          </a:xfrm>
          <a:custGeom>
            <a:avLst/>
            <a:gdLst/>
            <a:ahLst/>
            <a:cxnLst/>
            <a:rect l="l" t="t" r="r" b="b"/>
            <a:pathLst>
              <a:path w="14788367" h="660995">
                <a:moveTo>
                  <a:pt x="89624" y="0"/>
                </a:moveTo>
                <a:lnTo>
                  <a:pt x="14698742" y="0"/>
                </a:lnTo>
                <a:cubicBezTo>
                  <a:pt x="14748240" y="0"/>
                  <a:pt x="14788367" y="40126"/>
                  <a:pt x="14788367" y="89624"/>
                </a:cubicBezTo>
                <a:lnTo>
                  <a:pt x="14788367" y="571371"/>
                </a:lnTo>
                <a:cubicBezTo>
                  <a:pt x="14788367" y="620869"/>
                  <a:pt x="14748240" y="660995"/>
                  <a:pt x="14698742" y="660995"/>
                </a:cubicBezTo>
                <a:lnTo>
                  <a:pt x="89624" y="660995"/>
                </a:lnTo>
                <a:cubicBezTo>
                  <a:pt x="40159" y="660995"/>
                  <a:pt x="0" y="620836"/>
                  <a:pt x="0" y="571371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18671" y="7640656"/>
            <a:ext cx="14508284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检查点机制：</a:t>
            </a:r>
            <a:r>
              <a:rPr lang="en-US" sz="141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定期合并 EditLog 到 FSImage，减少启动时的恢复时间。可通过 SecondaryNameNode 或 CheckpointNode 实现。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261" y="447261"/>
            <a:ext cx="1479826" cy="364435"/>
          </a:xfrm>
          <a:custGeom>
            <a:avLst/>
            <a:gdLst/>
            <a:ahLst/>
            <a:cxnLst/>
            <a:rect l="l" t="t" r="r" b="b"/>
            <a:pathLst>
              <a:path w="1479826" h="364435">
                <a:moveTo>
                  <a:pt x="182217" y="0"/>
                </a:moveTo>
                <a:lnTo>
                  <a:pt x="1297609" y="0"/>
                </a:lnTo>
                <a:cubicBezTo>
                  <a:pt x="1398245" y="0"/>
                  <a:pt x="1479826" y="81582"/>
                  <a:pt x="1479826" y="182217"/>
                </a:cubicBezTo>
                <a:lnTo>
                  <a:pt x="1479826" y="182217"/>
                </a:lnTo>
                <a:cubicBezTo>
                  <a:pt x="1479826" y="282853"/>
                  <a:pt x="1398245" y="364435"/>
                  <a:pt x="1297609" y="364435"/>
                </a:cubicBezTo>
                <a:lnTo>
                  <a:pt x="182217" y="364435"/>
                </a:lnTo>
                <a:cubicBezTo>
                  <a:pt x="81649" y="364435"/>
                  <a:pt x="0" y="282786"/>
                  <a:pt x="0" y="182217"/>
                </a:cubicBezTo>
                <a:lnTo>
                  <a:pt x="0" y="182217"/>
                </a:lnTo>
                <a:cubicBezTo>
                  <a:pt x="0" y="81649"/>
                  <a:pt x="81649" y="0"/>
                  <a:pt x="18221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9478" y="513522"/>
            <a:ext cx="1201237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kern="0" spc="139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1739" y="949739"/>
            <a:ext cx="15637565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74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DataNode：数据存储者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739" y="1612348"/>
            <a:ext cx="15482957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的工作节点，负责实际数据的存储和管理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3826" y="2142435"/>
            <a:ext cx="7553739" cy="2363304"/>
          </a:xfrm>
          <a:custGeom>
            <a:avLst/>
            <a:gdLst/>
            <a:ahLst/>
            <a:cxnLst/>
            <a:rect l="l" t="t" r="r" b="b"/>
            <a:pathLst>
              <a:path w="7553739" h="2363304">
                <a:moveTo>
                  <a:pt x="44174" y="0"/>
                </a:moveTo>
                <a:lnTo>
                  <a:pt x="7465399" y="0"/>
                </a:lnTo>
                <a:cubicBezTo>
                  <a:pt x="7514188" y="0"/>
                  <a:pt x="7553739" y="39551"/>
                  <a:pt x="7553739" y="88340"/>
                </a:cubicBezTo>
                <a:lnTo>
                  <a:pt x="7553739" y="2274964"/>
                </a:lnTo>
                <a:cubicBezTo>
                  <a:pt x="7553739" y="2323753"/>
                  <a:pt x="7514188" y="2363304"/>
                  <a:pt x="7465399" y="2363304"/>
                </a:cubicBez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63826" y="2142435"/>
            <a:ext cx="44174" cy="2363304"/>
          </a:xfrm>
          <a:custGeom>
            <a:avLst/>
            <a:gdLst/>
            <a:ahLst/>
            <a:cxnLst/>
            <a:rect l="l" t="t" r="r" b="b"/>
            <a:pathLst>
              <a:path w="44174" h="2363304">
                <a:moveTo>
                  <a:pt x="44174" y="0"/>
                </a:moveTo>
                <a:lnTo>
                  <a:pt x="44174" y="0"/>
                </a:lnTo>
                <a:lnTo>
                  <a:pt x="44174" y="2363304"/>
                </a:ln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6783" y="2363304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88350" y="0"/>
                </a:moveTo>
                <a:lnTo>
                  <a:pt x="441737" y="0"/>
                </a:lnTo>
                <a:cubicBezTo>
                  <a:pt x="490531" y="0"/>
                  <a:pt x="530087" y="39555"/>
                  <a:pt x="530087" y="88350"/>
                </a:cubicBezTo>
                <a:lnTo>
                  <a:pt x="530087" y="441737"/>
                </a:lnTo>
                <a:cubicBezTo>
                  <a:pt x="530087" y="490531"/>
                  <a:pt x="490531" y="530087"/>
                  <a:pt x="441737" y="530087"/>
                </a:cubicBezTo>
                <a:lnTo>
                  <a:pt x="88350" y="530087"/>
                </a:lnTo>
                <a:cubicBezTo>
                  <a:pt x="39555" y="530087"/>
                  <a:pt x="0" y="490531"/>
                  <a:pt x="0" y="441737"/>
                </a:cubicBezTo>
                <a:lnTo>
                  <a:pt x="0" y="88350"/>
                </a:lnTo>
                <a:cubicBezTo>
                  <a:pt x="0" y="39588"/>
                  <a:pt x="39588" y="0"/>
                  <a:pt x="88350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75196" y="2517913"/>
            <a:ext cx="193261" cy="220870"/>
          </a:xfrm>
          <a:custGeom>
            <a:avLst/>
            <a:gdLst/>
            <a:ahLst/>
            <a:cxnLst/>
            <a:rect l="l" t="t" r="r" b="b"/>
            <a:pathLst>
              <a:path w="193261" h="220870">
                <a:moveTo>
                  <a:pt x="27609" y="13804"/>
                </a:moveTo>
                <a:cubicBezTo>
                  <a:pt x="12381" y="13804"/>
                  <a:pt x="0" y="26185"/>
                  <a:pt x="0" y="41413"/>
                </a:cubicBezTo>
                <a:lnTo>
                  <a:pt x="0" y="112203"/>
                </a:lnTo>
                <a:cubicBezTo>
                  <a:pt x="7808" y="106725"/>
                  <a:pt x="17342" y="103533"/>
                  <a:pt x="27609" y="103533"/>
                </a:cubicBezTo>
                <a:lnTo>
                  <a:pt x="165652" y="103533"/>
                </a:lnTo>
                <a:cubicBezTo>
                  <a:pt x="175919" y="103533"/>
                  <a:pt x="185453" y="106725"/>
                  <a:pt x="193261" y="112203"/>
                </a:cubicBezTo>
                <a:lnTo>
                  <a:pt x="193261" y="41413"/>
                </a:lnTo>
                <a:cubicBezTo>
                  <a:pt x="193261" y="26185"/>
                  <a:pt x="180880" y="13804"/>
                  <a:pt x="165652" y="13804"/>
                </a:cubicBezTo>
                <a:lnTo>
                  <a:pt x="27609" y="13804"/>
                </a:lnTo>
                <a:close/>
                <a:moveTo>
                  <a:pt x="193261" y="151848"/>
                </a:moveTo>
                <a:cubicBezTo>
                  <a:pt x="193261" y="136620"/>
                  <a:pt x="180880" y="124239"/>
                  <a:pt x="165652" y="124239"/>
                </a:cubicBezTo>
                <a:lnTo>
                  <a:pt x="27609" y="124239"/>
                </a:lnTo>
                <a:cubicBezTo>
                  <a:pt x="12381" y="124239"/>
                  <a:pt x="0" y="136620"/>
                  <a:pt x="0" y="151848"/>
                </a:cubicBezTo>
                <a:lnTo>
                  <a:pt x="0" y="179457"/>
                </a:lnTo>
                <a:cubicBezTo>
                  <a:pt x="0" y="194684"/>
                  <a:pt x="12381" y="207065"/>
                  <a:pt x="27609" y="207065"/>
                </a:cubicBezTo>
                <a:lnTo>
                  <a:pt x="165652" y="207065"/>
                </a:lnTo>
                <a:cubicBezTo>
                  <a:pt x="180880" y="207065"/>
                  <a:pt x="193261" y="194684"/>
                  <a:pt x="193261" y="179457"/>
                </a:cubicBezTo>
                <a:lnTo>
                  <a:pt x="193261" y="151848"/>
                </a:lnTo>
                <a:close/>
                <a:moveTo>
                  <a:pt x="96630" y="165652"/>
                </a:moveTo>
                <a:cubicBezTo>
                  <a:pt x="96630" y="158033"/>
                  <a:pt x="102816" y="151848"/>
                  <a:pt x="110435" y="151848"/>
                </a:cubicBezTo>
                <a:cubicBezTo>
                  <a:pt x="118054" y="151848"/>
                  <a:pt x="124239" y="158033"/>
                  <a:pt x="124239" y="165652"/>
                </a:cubicBezTo>
                <a:cubicBezTo>
                  <a:pt x="124239" y="173271"/>
                  <a:pt x="118054" y="179457"/>
                  <a:pt x="110435" y="179457"/>
                </a:cubicBezTo>
                <a:cubicBezTo>
                  <a:pt x="102816" y="179457"/>
                  <a:pt x="96630" y="173271"/>
                  <a:pt x="96630" y="165652"/>
                </a:cubicBezTo>
                <a:close/>
                <a:moveTo>
                  <a:pt x="151848" y="151848"/>
                </a:moveTo>
                <a:cubicBezTo>
                  <a:pt x="159467" y="151848"/>
                  <a:pt x="165652" y="158033"/>
                  <a:pt x="165652" y="165652"/>
                </a:cubicBezTo>
                <a:cubicBezTo>
                  <a:pt x="165652" y="173271"/>
                  <a:pt x="159467" y="179457"/>
                  <a:pt x="151848" y="179457"/>
                </a:cubicBezTo>
                <a:cubicBezTo>
                  <a:pt x="144229" y="179457"/>
                  <a:pt x="138043" y="173271"/>
                  <a:pt x="138043" y="165652"/>
                </a:cubicBezTo>
                <a:cubicBezTo>
                  <a:pt x="138043" y="158033"/>
                  <a:pt x="144229" y="151848"/>
                  <a:pt x="151848" y="151848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13565" y="2473739"/>
            <a:ext cx="993913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783" y="3025913"/>
            <a:ext cx="7178261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存储实际的数据块和校验和</a:t>
            </a:r>
            <a:r>
              <a:rPr lang="en-US" sz="13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，将数据块存储在本地文件系统中，并定期进行完整性验证。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6783" y="3511826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83478" y="3445565"/>
            <a:ext cx="1645478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块文件存储（blk_***）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6783" y="3821043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3478" y="3754783"/>
            <a:ext cx="1557130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校验和文件（.meta）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6783" y="4130261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3478" y="4064000"/>
            <a:ext cx="1380435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CRC32 完整性验证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60522" y="2142435"/>
            <a:ext cx="7553739" cy="2363304"/>
          </a:xfrm>
          <a:custGeom>
            <a:avLst/>
            <a:gdLst/>
            <a:ahLst/>
            <a:cxnLst/>
            <a:rect l="l" t="t" r="r" b="b"/>
            <a:pathLst>
              <a:path w="7553739" h="2363304">
                <a:moveTo>
                  <a:pt x="44174" y="0"/>
                </a:moveTo>
                <a:lnTo>
                  <a:pt x="7465399" y="0"/>
                </a:lnTo>
                <a:cubicBezTo>
                  <a:pt x="7514188" y="0"/>
                  <a:pt x="7553739" y="39551"/>
                  <a:pt x="7553739" y="88340"/>
                </a:cubicBezTo>
                <a:lnTo>
                  <a:pt x="7553739" y="2274964"/>
                </a:lnTo>
                <a:cubicBezTo>
                  <a:pt x="7553739" y="2323753"/>
                  <a:pt x="7514188" y="2363304"/>
                  <a:pt x="7465399" y="2363304"/>
                </a:cubicBez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60522" y="2142435"/>
            <a:ext cx="44174" cy="2363304"/>
          </a:xfrm>
          <a:custGeom>
            <a:avLst/>
            <a:gdLst/>
            <a:ahLst/>
            <a:cxnLst/>
            <a:rect l="l" t="t" r="r" b="b"/>
            <a:pathLst>
              <a:path w="44174" h="2363304">
                <a:moveTo>
                  <a:pt x="44174" y="0"/>
                </a:moveTo>
                <a:lnTo>
                  <a:pt x="44174" y="0"/>
                </a:lnTo>
                <a:lnTo>
                  <a:pt x="44174" y="2363304"/>
                </a:ln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03478" y="2363304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88350" y="0"/>
                </a:moveTo>
                <a:lnTo>
                  <a:pt x="441737" y="0"/>
                </a:lnTo>
                <a:cubicBezTo>
                  <a:pt x="490531" y="0"/>
                  <a:pt x="530087" y="39555"/>
                  <a:pt x="530087" y="88350"/>
                </a:cubicBezTo>
                <a:lnTo>
                  <a:pt x="530087" y="441737"/>
                </a:lnTo>
                <a:cubicBezTo>
                  <a:pt x="530087" y="490531"/>
                  <a:pt x="490531" y="530087"/>
                  <a:pt x="441737" y="530087"/>
                </a:cubicBezTo>
                <a:lnTo>
                  <a:pt x="88350" y="530087"/>
                </a:lnTo>
                <a:cubicBezTo>
                  <a:pt x="39555" y="530087"/>
                  <a:pt x="0" y="490531"/>
                  <a:pt x="0" y="441737"/>
                </a:cubicBezTo>
                <a:lnTo>
                  <a:pt x="0" y="88350"/>
                </a:lnTo>
                <a:cubicBezTo>
                  <a:pt x="0" y="39588"/>
                  <a:pt x="39588" y="0"/>
                  <a:pt x="88350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58087" y="2517913"/>
            <a:ext cx="220870" cy="220870"/>
          </a:xfrm>
          <a:custGeom>
            <a:avLst/>
            <a:gdLst/>
            <a:ahLst/>
            <a:cxnLst/>
            <a:rect l="l" t="t" r="r" b="b"/>
            <a:pathLst>
              <a:path w="220870" h="220870">
                <a:moveTo>
                  <a:pt x="122514" y="-561"/>
                </a:moveTo>
                <a:cubicBezTo>
                  <a:pt x="115051" y="-4875"/>
                  <a:pt x="105819" y="-4875"/>
                  <a:pt x="98356" y="-561"/>
                </a:cubicBezTo>
                <a:lnTo>
                  <a:pt x="62033" y="20405"/>
                </a:lnTo>
                <a:cubicBezTo>
                  <a:pt x="54570" y="24718"/>
                  <a:pt x="49954" y="32699"/>
                  <a:pt x="49954" y="41327"/>
                </a:cubicBezTo>
                <a:lnTo>
                  <a:pt x="49954" y="85285"/>
                </a:lnTo>
                <a:lnTo>
                  <a:pt x="11863" y="107286"/>
                </a:lnTo>
                <a:cubicBezTo>
                  <a:pt x="4400" y="111600"/>
                  <a:pt x="-216" y="119580"/>
                  <a:pt x="-216" y="128208"/>
                </a:cubicBezTo>
                <a:lnTo>
                  <a:pt x="-216" y="170182"/>
                </a:lnTo>
                <a:cubicBezTo>
                  <a:pt x="-216" y="178809"/>
                  <a:pt x="4400" y="186790"/>
                  <a:pt x="11863" y="191104"/>
                </a:cubicBezTo>
                <a:lnTo>
                  <a:pt x="48229" y="212069"/>
                </a:lnTo>
                <a:cubicBezTo>
                  <a:pt x="55692" y="216383"/>
                  <a:pt x="64924" y="216383"/>
                  <a:pt x="72387" y="212069"/>
                </a:cubicBezTo>
                <a:lnTo>
                  <a:pt x="110478" y="190069"/>
                </a:lnTo>
                <a:lnTo>
                  <a:pt x="148569" y="212069"/>
                </a:lnTo>
                <a:cubicBezTo>
                  <a:pt x="156032" y="216383"/>
                  <a:pt x="165264" y="216383"/>
                  <a:pt x="172727" y="212069"/>
                </a:cubicBezTo>
                <a:lnTo>
                  <a:pt x="209006" y="191104"/>
                </a:lnTo>
                <a:cubicBezTo>
                  <a:pt x="216469" y="186790"/>
                  <a:pt x="221085" y="178809"/>
                  <a:pt x="221085" y="170182"/>
                </a:cubicBezTo>
                <a:lnTo>
                  <a:pt x="221085" y="128208"/>
                </a:lnTo>
                <a:cubicBezTo>
                  <a:pt x="221085" y="119580"/>
                  <a:pt x="216469" y="111600"/>
                  <a:pt x="209006" y="107286"/>
                </a:cubicBezTo>
                <a:lnTo>
                  <a:pt x="170915" y="85285"/>
                </a:lnTo>
                <a:lnTo>
                  <a:pt x="170915" y="41327"/>
                </a:lnTo>
                <a:cubicBezTo>
                  <a:pt x="170915" y="32699"/>
                  <a:pt x="166299" y="24718"/>
                  <a:pt x="158836" y="20405"/>
                </a:cubicBezTo>
                <a:lnTo>
                  <a:pt x="122514" y="-561"/>
                </a:lnTo>
                <a:close/>
                <a:moveTo>
                  <a:pt x="100082" y="126224"/>
                </a:moveTo>
                <a:lnTo>
                  <a:pt x="100082" y="172166"/>
                </a:lnTo>
                <a:lnTo>
                  <a:pt x="61990" y="194167"/>
                </a:lnTo>
                <a:cubicBezTo>
                  <a:pt x="61472" y="194469"/>
                  <a:pt x="60869" y="194641"/>
                  <a:pt x="60265" y="194641"/>
                </a:cubicBezTo>
                <a:lnTo>
                  <a:pt x="60265" y="149216"/>
                </a:lnTo>
                <a:lnTo>
                  <a:pt x="100082" y="126224"/>
                </a:lnTo>
                <a:close/>
                <a:moveTo>
                  <a:pt x="199904" y="126482"/>
                </a:moveTo>
                <a:cubicBezTo>
                  <a:pt x="200206" y="127000"/>
                  <a:pt x="200379" y="127604"/>
                  <a:pt x="200379" y="128208"/>
                </a:cubicBezTo>
                <a:lnTo>
                  <a:pt x="200379" y="170182"/>
                </a:lnTo>
                <a:cubicBezTo>
                  <a:pt x="200379" y="171433"/>
                  <a:pt x="199732" y="172554"/>
                  <a:pt x="198653" y="173158"/>
                </a:cubicBezTo>
                <a:lnTo>
                  <a:pt x="162287" y="194124"/>
                </a:lnTo>
                <a:cubicBezTo>
                  <a:pt x="161770" y="194426"/>
                  <a:pt x="161166" y="194598"/>
                  <a:pt x="160562" y="194598"/>
                </a:cubicBezTo>
                <a:lnTo>
                  <a:pt x="160562" y="149173"/>
                </a:lnTo>
                <a:lnTo>
                  <a:pt x="199904" y="126482"/>
                </a:lnTo>
                <a:close/>
                <a:moveTo>
                  <a:pt x="150252" y="41327"/>
                </a:moveTo>
                <a:lnTo>
                  <a:pt x="150252" y="85285"/>
                </a:lnTo>
                <a:lnTo>
                  <a:pt x="110435" y="108278"/>
                </a:lnTo>
                <a:lnTo>
                  <a:pt x="110435" y="62335"/>
                </a:lnTo>
                <a:lnTo>
                  <a:pt x="149777" y="39644"/>
                </a:lnTo>
                <a:cubicBezTo>
                  <a:pt x="150079" y="40162"/>
                  <a:pt x="150252" y="40766"/>
                  <a:pt x="150252" y="4137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210261" y="2473739"/>
            <a:ext cx="773043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478" y="3025913"/>
            <a:ext cx="7178261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管理本地数据块的创建、删除、复制</a:t>
            </a:r>
            <a:r>
              <a:rPr lang="en-US" sz="13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 NameNode 的指令执行数据块操作。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478" y="3511826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80174" y="3445565"/>
            <a:ext cx="1159565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块的创建与写入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478" y="3821043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80174" y="3754783"/>
            <a:ext cx="1159565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块的删除与清理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478" y="4130261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80174" y="4064000"/>
            <a:ext cx="1159565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块的复制与迁移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3826" y="4726609"/>
            <a:ext cx="7553739" cy="2363304"/>
          </a:xfrm>
          <a:custGeom>
            <a:avLst/>
            <a:gdLst/>
            <a:ahLst/>
            <a:cxnLst/>
            <a:rect l="l" t="t" r="r" b="b"/>
            <a:pathLst>
              <a:path w="7553739" h="2363304">
                <a:moveTo>
                  <a:pt x="44174" y="0"/>
                </a:moveTo>
                <a:lnTo>
                  <a:pt x="7465399" y="0"/>
                </a:lnTo>
                <a:cubicBezTo>
                  <a:pt x="7514188" y="0"/>
                  <a:pt x="7553739" y="39551"/>
                  <a:pt x="7553739" y="88340"/>
                </a:cubicBezTo>
                <a:lnTo>
                  <a:pt x="7553739" y="2274964"/>
                </a:lnTo>
                <a:cubicBezTo>
                  <a:pt x="7553739" y="2323753"/>
                  <a:pt x="7514188" y="2363304"/>
                  <a:pt x="7465399" y="2363304"/>
                </a:cubicBez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63826" y="4726609"/>
            <a:ext cx="44174" cy="2363304"/>
          </a:xfrm>
          <a:custGeom>
            <a:avLst/>
            <a:gdLst/>
            <a:ahLst/>
            <a:cxnLst/>
            <a:rect l="l" t="t" r="r" b="b"/>
            <a:pathLst>
              <a:path w="44174" h="2363304">
                <a:moveTo>
                  <a:pt x="44174" y="0"/>
                </a:moveTo>
                <a:lnTo>
                  <a:pt x="44174" y="0"/>
                </a:lnTo>
                <a:lnTo>
                  <a:pt x="44174" y="2363304"/>
                </a:ln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06783" y="4947478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88350" y="0"/>
                </a:moveTo>
                <a:lnTo>
                  <a:pt x="441737" y="0"/>
                </a:lnTo>
                <a:cubicBezTo>
                  <a:pt x="490531" y="0"/>
                  <a:pt x="530087" y="39555"/>
                  <a:pt x="530087" y="88350"/>
                </a:cubicBezTo>
                <a:lnTo>
                  <a:pt x="530087" y="441737"/>
                </a:lnTo>
                <a:cubicBezTo>
                  <a:pt x="530087" y="490531"/>
                  <a:pt x="490531" y="530087"/>
                  <a:pt x="441737" y="530087"/>
                </a:cubicBezTo>
                <a:lnTo>
                  <a:pt x="88350" y="530087"/>
                </a:lnTo>
                <a:cubicBezTo>
                  <a:pt x="39555" y="530087"/>
                  <a:pt x="0" y="490531"/>
                  <a:pt x="0" y="441737"/>
                </a:cubicBezTo>
                <a:lnTo>
                  <a:pt x="0" y="88350"/>
                </a:lnTo>
                <a:cubicBezTo>
                  <a:pt x="0" y="39588"/>
                  <a:pt x="39588" y="0"/>
                  <a:pt x="88350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61391" y="5102087"/>
            <a:ext cx="220870" cy="220870"/>
          </a:xfrm>
          <a:custGeom>
            <a:avLst/>
            <a:gdLst/>
            <a:ahLst/>
            <a:cxnLst/>
            <a:rect l="l" t="t" r="r" b="b"/>
            <a:pathLst>
              <a:path w="220870" h="220870">
                <a:moveTo>
                  <a:pt x="110435" y="46547"/>
                </a:moveTo>
                <a:lnTo>
                  <a:pt x="103964" y="37574"/>
                </a:lnTo>
                <a:cubicBezTo>
                  <a:pt x="93179" y="22648"/>
                  <a:pt x="75881" y="13804"/>
                  <a:pt x="57417" y="13804"/>
                </a:cubicBezTo>
                <a:cubicBezTo>
                  <a:pt x="25711" y="13804"/>
                  <a:pt x="0" y="39515"/>
                  <a:pt x="0" y="71222"/>
                </a:cubicBezTo>
                <a:lnTo>
                  <a:pt x="0" y="72343"/>
                </a:lnTo>
                <a:cubicBezTo>
                  <a:pt x="0" y="82524"/>
                  <a:pt x="2675" y="93050"/>
                  <a:pt x="7161" y="103533"/>
                </a:cubicBezTo>
                <a:lnTo>
                  <a:pt x="52888" y="103533"/>
                </a:lnTo>
                <a:cubicBezTo>
                  <a:pt x="54268" y="103533"/>
                  <a:pt x="55519" y="102713"/>
                  <a:pt x="56080" y="101419"/>
                </a:cubicBezTo>
                <a:lnTo>
                  <a:pt x="69798" y="68504"/>
                </a:lnTo>
                <a:cubicBezTo>
                  <a:pt x="71394" y="64708"/>
                  <a:pt x="75104" y="62206"/>
                  <a:pt x="79202" y="62120"/>
                </a:cubicBezTo>
                <a:cubicBezTo>
                  <a:pt x="83301" y="62033"/>
                  <a:pt x="87097" y="64449"/>
                  <a:pt x="88779" y="68202"/>
                </a:cubicBezTo>
                <a:lnTo>
                  <a:pt x="110909" y="117337"/>
                </a:lnTo>
                <a:lnTo>
                  <a:pt x="128769" y="81618"/>
                </a:lnTo>
                <a:cubicBezTo>
                  <a:pt x="130537" y="78124"/>
                  <a:pt x="134118" y="75881"/>
                  <a:pt x="138043" y="75881"/>
                </a:cubicBezTo>
                <a:cubicBezTo>
                  <a:pt x="141969" y="75881"/>
                  <a:pt x="145550" y="78081"/>
                  <a:pt x="147318" y="81618"/>
                </a:cubicBezTo>
                <a:lnTo>
                  <a:pt x="157326" y="101591"/>
                </a:lnTo>
                <a:cubicBezTo>
                  <a:pt x="157930" y="102756"/>
                  <a:pt x="159095" y="103489"/>
                  <a:pt x="160432" y="103489"/>
                </a:cubicBezTo>
                <a:lnTo>
                  <a:pt x="213752" y="103489"/>
                </a:lnTo>
                <a:cubicBezTo>
                  <a:pt x="218281" y="93007"/>
                  <a:pt x="220913" y="82481"/>
                  <a:pt x="220913" y="72300"/>
                </a:cubicBezTo>
                <a:lnTo>
                  <a:pt x="220913" y="71179"/>
                </a:lnTo>
                <a:cubicBezTo>
                  <a:pt x="220870" y="39515"/>
                  <a:pt x="195159" y="13804"/>
                  <a:pt x="163452" y="13804"/>
                </a:cubicBezTo>
                <a:cubicBezTo>
                  <a:pt x="145032" y="13804"/>
                  <a:pt x="127690" y="22648"/>
                  <a:pt x="116906" y="37574"/>
                </a:cubicBezTo>
                <a:lnTo>
                  <a:pt x="110435" y="46503"/>
                </a:lnTo>
                <a:close/>
                <a:moveTo>
                  <a:pt x="202579" y="124239"/>
                </a:moveTo>
                <a:lnTo>
                  <a:pt x="160389" y="124239"/>
                </a:lnTo>
                <a:cubicBezTo>
                  <a:pt x="151244" y="124239"/>
                  <a:pt x="142875" y="119063"/>
                  <a:pt x="138777" y="110866"/>
                </a:cubicBezTo>
                <a:lnTo>
                  <a:pt x="138043" y="109399"/>
                </a:lnTo>
                <a:lnTo>
                  <a:pt x="119710" y="146110"/>
                </a:lnTo>
                <a:cubicBezTo>
                  <a:pt x="117941" y="149691"/>
                  <a:pt x="114231" y="151934"/>
                  <a:pt x="110219" y="151848"/>
                </a:cubicBezTo>
                <a:cubicBezTo>
                  <a:pt x="106207" y="151762"/>
                  <a:pt x="102627" y="149389"/>
                  <a:pt x="100987" y="145765"/>
                </a:cubicBezTo>
                <a:lnTo>
                  <a:pt x="79720" y="98529"/>
                </a:lnTo>
                <a:lnTo>
                  <a:pt x="75191" y="109399"/>
                </a:lnTo>
                <a:cubicBezTo>
                  <a:pt x="71438" y="118415"/>
                  <a:pt x="62637" y="124282"/>
                  <a:pt x="52888" y="124282"/>
                </a:cubicBezTo>
                <a:lnTo>
                  <a:pt x="18291" y="124282"/>
                </a:lnTo>
                <a:cubicBezTo>
                  <a:pt x="38652" y="156119"/>
                  <a:pt x="71351" y="185410"/>
                  <a:pt x="91799" y="201026"/>
                </a:cubicBezTo>
                <a:cubicBezTo>
                  <a:pt x="97148" y="205081"/>
                  <a:pt x="103705" y="207108"/>
                  <a:pt x="110392" y="207108"/>
                </a:cubicBezTo>
                <a:cubicBezTo>
                  <a:pt x="117078" y="207108"/>
                  <a:pt x="123678" y="205124"/>
                  <a:pt x="128984" y="201026"/>
                </a:cubicBezTo>
                <a:cubicBezTo>
                  <a:pt x="149518" y="185367"/>
                  <a:pt x="182217" y="156075"/>
                  <a:pt x="202579" y="124239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413565" y="5057913"/>
            <a:ext cx="993913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心跳报告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6783" y="5610087"/>
            <a:ext cx="7178261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定期向 NameNode 报告状态和块信息</a:t>
            </a:r>
            <a:r>
              <a:rPr lang="en-US" sz="13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，每 3 秒发送一次心跳，维护节点的健康状态。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6783" y="6029739"/>
            <a:ext cx="3478696" cy="706783"/>
          </a:xfrm>
          <a:custGeom>
            <a:avLst/>
            <a:gdLst/>
            <a:ahLst/>
            <a:cxnLst/>
            <a:rect l="l" t="t" r="r" b="b"/>
            <a:pathLst>
              <a:path w="3478696" h="706783">
                <a:moveTo>
                  <a:pt x="44174" y="0"/>
                </a:moveTo>
                <a:lnTo>
                  <a:pt x="3434522" y="0"/>
                </a:lnTo>
                <a:cubicBezTo>
                  <a:pt x="3458918" y="0"/>
                  <a:pt x="3478696" y="19777"/>
                  <a:pt x="3478696" y="44174"/>
                </a:cubicBezTo>
                <a:lnTo>
                  <a:pt x="3478696" y="662609"/>
                </a:lnTo>
                <a:cubicBezTo>
                  <a:pt x="3478696" y="687005"/>
                  <a:pt x="3458918" y="706783"/>
                  <a:pt x="3434522" y="706783"/>
                </a:cubicBez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3043" y="6118087"/>
            <a:ext cx="3346174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6174" y="6471478"/>
            <a:ext cx="327991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心跳间隔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18000" y="6029739"/>
            <a:ext cx="3478696" cy="706783"/>
          </a:xfrm>
          <a:custGeom>
            <a:avLst/>
            <a:gdLst/>
            <a:ahLst/>
            <a:cxnLst/>
            <a:rect l="l" t="t" r="r" b="b"/>
            <a:pathLst>
              <a:path w="3478696" h="706783">
                <a:moveTo>
                  <a:pt x="44174" y="0"/>
                </a:moveTo>
                <a:lnTo>
                  <a:pt x="3434522" y="0"/>
                </a:lnTo>
                <a:cubicBezTo>
                  <a:pt x="3458918" y="0"/>
                  <a:pt x="3478696" y="19777"/>
                  <a:pt x="3478696" y="44174"/>
                </a:cubicBezTo>
                <a:lnTo>
                  <a:pt x="3478696" y="662609"/>
                </a:lnTo>
                <a:cubicBezTo>
                  <a:pt x="3478696" y="687005"/>
                  <a:pt x="3458918" y="706783"/>
                  <a:pt x="3434522" y="706783"/>
                </a:cubicBez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384261" y="6118087"/>
            <a:ext cx="3346174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10.5m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17391" y="6471478"/>
            <a:ext cx="327991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超时时间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0522" y="4726609"/>
            <a:ext cx="7553739" cy="2363304"/>
          </a:xfrm>
          <a:custGeom>
            <a:avLst/>
            <a:gdLst/>
            <a:ahLst/>
            <a:cxnLst/>
            <a:rect l="l" t="t" r="r" b="b"/>
            <a:pathLst>
              <a:path w="7553739" h="2363304">
                <a:moveTo>
                  <a:pt x="44174" y="0"/>
                </a:moveTo>
                <a:lnTo>
                  <a:pt x="7465399" y="0"/>
                </a:lnTo>
                <a:cubicBezTo>
                  <a:pt x="7514188" y="0"/>
                  <a:pt x="7553739" y="39551"/>
                  <a:pt x="7553739" y="88340"/>
                </a:cubicBezTo>
                <a:lnTo>
                  <a:pt x="7553739" y="2274964"/>
                </a:lnTo>
                <a:cubicBezTo>
                  <a:pt x="7553739" y="2323753"/>
                  <a:pt x="7514188" y="2363304"/>
                  <a:pt x="7465399" y="2363304"/>
                </a:cubicBez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260522" y="4726609"/>
            <a:ext cx="44174" cy="2363304"/>
          </a:xfrm>
          <a:custGeom>
            <a:avLst/>
            <a:gdLst/>
            <a:ahLst/>
            <a:cxnLst/>
            <a:rect l="l" t="t" r="r" b="b"/>
            <a:pathLst>
              <a:path w="44174" h="2363304">
                <a:moveTo>
                  <a:pt x="44174" y="0"/>
                </a:moveTo>
                <a:lnTo>
                  <a:pt x="44174" y="0"/>
                </a:lnTo>
                <a:lnTo>
                  <a:pt x="44174" y="2363304"/>
                </a:lnTo>
                <a:lnTo>
                  <a:pt x="44174" y="2363304"/>
                </a:lnTo>
                <a:cubicBezTo>
                  <a:pt x="19777" y="2363304"/>
                  <a:pt x="0" y="2343527"/>
                  <a:pt x="0" y="2319130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03478" y="4947478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88350" y="0"/>
                </a:moveTo>
                <a:lnTo>
                  <a:pt x="441737" y="0"/>
                </a:lnTo>
                <a:cubicBezTo>
                  <a:pt x="490531" y="0"/>
                  <a:pt x="530087" y="39555"/>
                  <a:pt x="530087" y="88350"/>
                </a:cubicBezTo>
                <a:lnTo>
                  <a:pt x="530087" y="441737"/>
                </a:lnTo>
                <a:cubicBezTo>
                  <a:pt x="530087" y="490531"/>
                  <a:pt x="490531" y="530087"/>
                  <a:pt x="441737" y="530087"/>
                </a:cubicBezTo>
                <a:lnTo>
                  <a:pt x="88350" y="530087"/>
                </a:lnTo>
                <a:cubicBezTo>
                  <a:pt x="39555" y="530087"/>
                  <a:pt x="0" y="490531"/>
                  <a:pt x="0" y="441737"/>
                </a:cubicBezTo>
                <a:lnTo>
                  <a:pt x="0" y="88350"/>
                </a:lnTo>
                <a:cubicBezTo>
                  <a:pt x="0" y="39588"/>
                  <a:pt x="39588" y="0"/>
                  <a:pt x="88350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658087" y="5102087"/>
            <a:ext cx="220870" cy="220870"/>
          </a:xfrm>
          <a:custGeom>
            <a:avLst/>
            <a:gdLst/>
            <a:ahLst/>
            <a:cxnLst/>
            <a:rect l="l" t="t" r="r" b="b"/>
            <a:pathLst>
              <a:path w="220870" h="220870">
                <a:moveTo>
                  <a:pt x="216815" y="64967"/>
                </a:moveTo>
                <a:lnTo>
                  <a:pt x="175401" y="106380"/>
                </a:lnTo>
                <a:cubicBezTo>
                  <a:pt x="171433" y="110349"/>
                  <a:pt x="165523" y="111513"/>
                  <a:pt x="160346" y="109356"/>
                </a:cubicBezTo>
                <a:cubicBezTo>
                  <a:pt x="155169" y="107199"/>
                  <a:pt x="151848" y="102195"/>
                  <a:pt x="151848" y="96630"/>
                </a:cubicBezTo>
                <a:lnTo>
                  <a:pt x="151848" y="69022"/>
                </a:lnTo>
                <a:lnTo>
                  <a:pt x="13804" y="69022"/>
                </a:lnTo>
                <a:cubicBezTo>
                  <a:pt x="6169" y="69022"/>
                  <a:pt x="0" y="62853"/>
                  <a:pt x="0" y="55217"/>
                </a:cubicBezTo>
                <a:cubicBezTo>
                  <a:pt x="0" y="47582"/>
                  <a:pt x="6169" y="41413"/>
                  <a:pt x="13804" y="41413"/>
                </a:cubicBezTo>
                <a:lnTo>
                  <a:pt x="151848" y="41413"/>
                </a:lnTo>
                <a:lnTo>
                  <a:pt x="151848" y="13804"/>
                </a:lnTo>
                <a:cubicBezTo>
                  <a:pt x="151848" y="8239"/>
                  <a:pt x="155213" y="3192"/>
                  <a:pt x="160389" y="1035"/>
                </a:cubicBezTo>
                <a:cubicBezTo>
                  <a:pt x="165566" y="-1122"/>
                  <a:pt x="171476" y="86"/>
                  <a:pt x="175445" y="4012"/>
                </a:cubicBezTo>
                <a:lnTo>
                  <a:pt x="216858" y="45425"/>
                </a:lnTo>
                <a:cubicBezTo>
                  <a:pt x="222250" y="50817"/>
                  <a:pt x="222250" y="59574"/>
                  <a:pt x="216858" y="64967"/>
                </a:cubicBezTo>
                <a:close/>
                <a:moveTo>
                  <a:pt x="45425" y="216815"/>
                </a:moveTo>
                <a:lnTo>
                  <a:pt x="4012" y="175401"/>
                </a:lnTo>
                <a:cubicBezTo>
                  <a:pt x="-1380" y="170009"/>
                  <a:pt x="-1380" y="161252"/>
                  <a:pt x="4012" y="155860"/>
                </a:cubicBezTo>
                <a:lnTo>
                  <a:pt x="45425" y="114447"/>
                </a:lnTo>
                <a:cubicBezTo>
                  <a:pt x="49394" y="110478"/>
                  <a:pt x="55304" y="109313"/>
                  <a:pt x="60480" y="111470"/>
                </a:cubicBezTo>
                <a:cubicBezTo>
                  <a:pt x="65657" y="113627"/>
                  <a:pt x="69022" y="118674"/>
                  <a:pt x="69022" y="124239"/>
                </a:cubicBezTo>
                <a:lnTo>
                  <a:pt x="69022" y="151848"/>
                </a:lnTo>
                <a:lnTo>
                  <a:pt x="207065" y="151848"/>
                </a:lnTo>
                <a:cubicBezTo>
                  <a:pt x="214701" y="151848"/>
                  <a:pt x="220870" y="158017"/>
                  <a:pt x="220870" y="165652"/>
                </a:cubicBezTo>
                <a:cubicBezTo>
                  <a:pt x="220870" y="173288"/>
                  <a:pt x="214701" y="179457"/>
                  <a:pt x="207065" y="179457"/>
                </a:cubicBezTo>
                <a:lnTo>
                  <a:pt x="69022" y="179457"/>
                </a:lnTo>
                <a:lnTo>
                  <a:pt x="69022" y="207065"/>
                </a:lnTo>
                <a:cubicBezTo>
                  <a:pt x="69022" y="212630"/>
                  <a:pt x="65657" y="217677"/>
                  <a:pt x="60480" y="219834"/>
                </a:cubicBezTo>
                <a:cubicBezTo>
                  <a:pt x="55304" y="221991"/>
                  <a:pt x="49394" y="220783"/>
                  <a:pt x="45425" y="216858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210261" y="5057913"/>
            <a:ext cx="993913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03478" y="5610087"/>
            <a:ext cx="7178261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响应客户端的读写请求</a:t>
            </a:r>
            <a:r>
              <a:rPr lang="en-US" sz="13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，根据客户端请求传输数据块，支持流式数据访问。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03478" y="6096000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680174" y="6029739"/>
            <a:ext cx="850348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块读取服务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03478" y="6405217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680174" y="6338957"/>
            <a:ext cx="850348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块写入服务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03478" y="6714435"/>
            <a:ext cx="88348" cy="88348"/>
          </a:xfrm>
          <a:custGeom>
            <a:avLst/>
            <a:gdLst/>
            <a:ahLst/>
            <a:cxnLst/>
            <a:rect l="l" t="t" r="r" b="b"/>
            <a:pathLst>
              <a:path w="88348" h="88348">
                <a:moveTo>
                  <a:pt x="44174" y="0"/>
                </a:moveTo>
                <a:lnTo>
                  <a:pt x="44174" y="0"/>
                </a:lnTo>
                <a:cubicBezTo>
                  <a:pt x="68554" y="0"/>
                  <a:pt x="88348" y="19794"/>
                  <a:pt x="88348" y="44174"/>
                </a:cubicBezTo>
                <a:lnTo>
                  <a:pt x="88348" y="44174"/>
                </a:lnTo>
                <a:cubicBezTo>
                  <a:pt x="88348" y="68554"/>
                  <a:pt x="68554" y="88348"/>
                  <a:pt x="44174" y="88348"/>
                </a:cubicBezTo>
                <a:lnTo>
                  <a:pt x="44174" y="88348"/>
                </a:lnTo>
                <a:cubicBezTo>
                  <a:pt x="19794" y="88348"/>
                  <a:pt x="0" y="68554"/>
                  <a:pt x="0" y="44174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680174" y="6648174"/>
            <a:ext cx="1159565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数据校验和验证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7261" y="7316304"/>
            <a:ext cx="15361478" cy="673652"/>
          </a:xfrm>
          <a:custGeom>
            <a:avLst/>
            <a:gdLst/>
            <a:ahLst/>
            <a:cxnLst/>
            <a:rect l="l" t="t" r="r" b="b"/>
            <a:pathLst>
              <a:path w="15361478" h="673652">
                <a:moveTo>
                  <a:pt x="88349" y="0"/>
                </a:moveTo>
                <a:lnTo>
                  <a:pt x="15273129" y="0"/>
                </a:lnTo>
                <a:cubicBezTo>
                  <a:pt x="15321923" y="0"/>
                  <a:pt x="15361478" y="39555"/>
                  <a:pt x="15361478" y="88349"/>
                </a:cubicBezTo>
                <a:lnTo>
                  <a:pt x="15361478" y="585303"/>
                </a:lnTo>
                <a:cubicBezTo>
                  <a:pt x="15361478" y="634097"/>
                  <a:pt x="15321923" y="673652"/>
                  <a:pt x="15273129" y="673652"/>
                </a:cubicBezTo>
                <a:lnTo>
                  <a:pt x="88349" y="673652"/>
                </a:lnTo>
                <a:cubicBezTo>
                  <a:pt x="39555" y="673652"/>
                  <a:pt x="0" y="634097"/>
                  <a:pt x="0" y="585303"/>
                </a:cubicBezTo>
                <a:lnTo>
                  <a:pt x="0" y="88349"/>
                </a:lnTo>
                <a:cubicBezTo>
                  <a:pt x="0" y="39588"/>
                  <a:pt x="39588" y="0"/>
                  <a:pt x="8834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95739" y="7542696"/>
            <a:ext cx="198783" cy="265043"/>
          </a:xfrm>
          <a:custGeom>
            <a:avLst/>
            <a:gdLst/>
            <a:ahLst/>
            <a:cxnLst/>
            <a:rect l="l" t="t" r="r" b="b"/>
            <a:pathLst>
              <a:path w="198783" h="265043">
                <a:moveTo>
                  <a:pt x="151624" y="198783"/>
                </a:moveTo>
                <a:cubicBezTo>
                  <a:pt x="155402" y="187239"/>
                  <a:pt x="162960" y="176782"/>
                  <a:pt x="171502" y="167775"/>
                </a:cubicBezTo>
                <a:cubicBezTo>
                  <a:pt x="188429" y="149967"/>
                  <a:pt x="198783" y="125896"/>
                  <a:pt x="198783" y="99391"/>
                </a:cubicBezTo>
                <a:cubicBezTo>
                  <a:pt x="198783" y="44519"/>
                  <a:pt x="154264" y="0"/>
                  <a:pt x="99391" y="0"/>
                </a:cubicBezTo>
                <a:cubicBezTo>
                  <a:pt x="44519" y="0"/>
                  <a:pt x="0" y="44519"/>
                  <a:pt x="0" y="99391"/>
                </a:cubicBezTo>
                <a:cubicBezTo>
                  <a:pt x="0" y="125896"/>
                  <a:pt x="10353" y="149967"/>
                  <a:pt x="27281" y="167775"/>
                </a:cubicBezTo>
                <a:cubicBezTo>
                  <a:pt x="35822" y="176782"/>
                  <a:pt x="43432" y="187239"/>
                  <a:pt x="47159" y="198783"/>
                </a:cubicBezTo>
                <a:lnTo>
                  <a:pt x="151572" y="198783"/>
                </a:lnTo>
                <a:close/>
                <a:moveTo>
                  <a:pt x="149087" y="223630"/>
                </a:moveTo>
                <a:lnTo>
                  <a:pt x="49696" y="223630"/>
                </a:lnTo>
                <a:lnTo>
                  <a:pt x="49696" y="231913"/>
                </a:lnTo>
                <a:cubicBezTo>
                  <a:pt x="49696" y="254794"/>
                  <a:pt x="68228" y="273326"/>
                  <a:pt x="91109" y="273326"/>
                </a:cubicBezTo>
                <a:lnTo>
                  <a:pt x="107674" y="273326"/>
                </a:lnTo>
                <a:cubicBezTo>
                  <a:pt x="130555" y="273326"/>
                  <a:pt x="149087" y="254794"/>
                  <a:pt x="149087" y="231913"/>
                </a:cubicBezTo>
                <a:lnTo>
                  <a:pt x="149087" y="223630"/>
                </a:lnTo>
                <a:close/>
                <a:moveTo>
                  <a:pt x="95250" y="57978"/>
                </a:moveTo>
                <a:cubicBezTo>
                  <a:pt x="74647" y="57978"/>
                  <a:pt x="57978" y="74647"/>
                  <a:pt x="57978" y="95250"/>
                </a:cubicBezTo>
                <a:cubicBezTo>
                  <a:pt x="57978" y="102135"/>
                  <a:pt x="52439" y="107674"/>
                  <a:pt x="45554" y="107674"/>
                </a:cubicBezTo>
                <a:cubicBezTo>
                  <a:pt x="38669" y="107674"/>
                  <a:pt x="33130" y="102135"/>
                  <a:pt x="33130" y="95250"/>
                </a:cubicBezTo>
                <a:cubicBezTo>
                  <a:pt x="33130" y="60929"/>
                  <a:pt x="60929" y="33130"/>
                  <a:pt x="95250" y="33130"/>
                </a:cubicBezTo>
                <a:cubicBezTo>
                  <a:pt x="102135" y="33130"/>
                  <a:pt x="107674" y="38669"/>
                  <a:pt x="107674" y="45554"/>
                </a:cubicBezTo>
                <a:cubicBezTo>
                  <a:pt x="107674" y="52439"/>
                  <a:pt x="102135" y="57978"/>
                  <a:pt x="95250" y="5797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37478" y="7498522"/>
            <a:ext cx="12633739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设计优势：</a:t>
            </a:r>
            <a:r>
              <a:rPr lang="en-US" sz="13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是无状态的，可以水平扩展。数据块大小固定（默认128MB），简化了存储管理。通过心跳机制实现故障自动检测，提高了系统的可用性。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798" y="452798"/>
            <a:ext cx="1084479" cy="368946"/>
          </a:xfrm>
          <a:custGeom>
            <a:avLst/>
            <a:gdLst/>
            <a:ahLst/>
            <a:cxnLst/>
            <a:rect l="l" t="t" r="r" b="b"/>
            <a:pathLst>
              <a:path w="1084479" h="368946">
                <a:moveTo>
                  <a:pt x="184473" y="0"/>
                </a:moveTo>
                <a:lnTo>
                  <a:pt x="900006" y="0"/>
                </a:lnTo>
                <a:cubicBezTo>
                  <a:pt x="1001819" y="0"/>
                  <a:pt x="1084479" y="82660"/>
                  <a:pt x="1084479" y="184473"/>
                </a:cubicBezTo>
                <a:lnTo>
                  <a:pt x="1084479" y="184473"/>
                </a:lnTo>
                <a:cubicBezTo>
                  <a:pt x="1084479" y="286287"/>
                  <a:pt x="1001819" y="368946"/>
                  <a:pt x="900006" y="368946"/>
                </a:cubicBezTo>
                <a:lnTo>
                  <a:pt x="184473" y="368946"/>
                </a:lnTo>
                <a:cubicBezTo>
                  <a:pt x="82660" y="368946"/>
                  <a:pt x="0" y="286287"/>
                  <a:pt x="0" y="184473"/>
                </a:cubicBezTo>
                <a:lnTo>
                  <a:pt x="0" y="184473"/>
                </a:lnTo>
                <a:cubicBezTo>
                  <a:pt x="0" y="82660"/>
                  <a:pt x="82660" y="0"/>
                  <a:pt x="18447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7271" y="519879"/>
            <a:ext cx="80750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b="1" kern="0" spc="14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7208" y="961497"/>
            <a:ext cx="15629909" cy="53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26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客户端组件与交互流程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7208" y="1632308"/>
            <a:ext cx="1547338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客户端的核心组件及其与集群的交互机制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2798" y="2174547"/>
            <a:ext cx="4964006" cy="3365238"/>
          </a:xfrm>
          <a:custGeom>
            <a:avLst/>
            <a:gdLst/>
            <a:ahLst/>
            <a:cxnLst/>
            <a:rect l="l" t="t" r="r" b="b"/>
            <a:pathLst>
              <a:path w="4964006" h="3365238">
                <a:moveTo>
                  <a:pt x="89448" y="0"/>
                </a:moveTo>
                <a:lnTo>
                  <a:pt x="4874557" y="0"/>
                </a:lnTo>
                <a:cubicBezTo>
                  <a:pt x="4923958" y="0"/>
                  <a:pt x="4964006" y="40047"/>
                  <a:pt x="4964006" y="89448"/>
                </a:cubicBezTo>
                <a:lnTo>
                  <a:pt x="4964006" y="3275790"/>
                </a:lnTo>
                <a:cubicBezTo>
                  <a:pt x="4964006" y="3325191"/>
                  <a:pt x="4923958" y="3365238"/>
                  <a:pt x="4874557" y="3365238"/>
                </a:cubicBezTo>
                <a:lnTo>
                  <a:pt x="89448" y="3365238"/>
                </a:lnTo>
                <a:cubicBezTo>
                  <a:pt x="40047" y="3365238"/>
                  <a:pt x="0" y="3325191"/>
                  <a:pt x="0" y="3275790"/>
                </a:cubicBezTo>
                <a:lnTo>
                  <a:pt x="0" y="89448"/>
                </a:lnTo>
                <a:cubicBezTo>
                  <a:pt x="0" y="40080"/>
                  <a:pt x="40080" y="0"/>
                  <a:pt x="8944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581140" y="2409331"/>
            <a:ext cx="704352" cy="704352"/>
          </a:xfrm>
          <a:custGeom>
            <a:avLst/>
            <a:gdLst/>
            <a:ahLst/>
            <a:cxnLst/>
            <a:rect l="l" t="t" r="r" b="b"/>
            <a:pathLst>
              <a:path w="704352" h="704352">
                <a:moveTo>
                  <a:pt x="89439" y="0"/>
                </a:moveTo>
                <a:lnTo>
                  <a:pt x="614913" y="0"/>
                </a:lnTo>
                <a:cubicBezTo>
                  <a:pt x="664276" y="0"/>
                  <a:pt x="704352" y="40076"/>
                  <a:pt x="704352" y="89439"/>
                </a:cubicBezTo>
                <a:lnTo>
                  <a:pt x="704352" y="614913"/>
                </a:lnTo>
                <a:cubicBezTo>
                  <a:pt x="704352" y="664309"/>
                  <a:pt x="664309" y="704352"/>
                  <a:pt x="614913" y="704352"/>
                </a:cubicBezTo>
                <a:lnTo>
                  <a:pt x="89439" y="704352"/>
                </a:lnTo>
                <a:cubicBezTo>
                  <a:pt x="40076" y="704352"/>
                  <a:pt x="0" y="664276"/>
                  <a:pt x="0" y="614913"/>
                </a:cubicBezTo>
                <a:lnTo>
                  <a:pt x="0" y="89439"/>
                </a:lnTo>
                <a:cubicBezTo>
                  <a:pt x="0" y="40076"/>
                  <a:pt x="40076" y="0"/>
                  <a:pt x="8943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815924" y="2627345"/>
            <a:ext cx="234784" cy="268325"/>
          </a:xfrm>
          <a:custGeom>
            <a:avLst/>
            <a:gdLst/>
            <a:ahLst/>
            <a:cxnLst/>
            <a:rect l="l" t="t" r="r" b="b"/>
            <a:pathLst>
              <a:path w="234784" h="268325">
                <a:moveTo>
                  <a:pt x="67081" y="-16770"/>
                </a:moveTo>
                <a:cubicBezTo>
                  <a:pt x="76357" y="-16770"/>
                  <a:pt x="83851" y="-9276"/>
                  <a:pt x="83851" y="0"/>
                </a:cubicBezTo>
                <a:lnTo>
                  <a:pt x="83851" y="50311"/>
                </a:lnTo>
                <a:lnTo>
                  <a:pt x="150933" y="50311"/>
                </a:lnTo>
                <a:lnTo>
                  <a:pt x="150933" y="0"/>
                </a:lnTo>
                <a:cubicBezTo>
                  <a:pt x="150933" y="-9276"/>
                  <a:pt x="158427" y="-16770"/>
                  <a:pt x="167703" y="-16770"/>
                </a:cubicBezTo>
                <a:cubicBezTo>
                  <a:pt x="176979" y="-16770"/>
                  <a:pt x="184473" y="-9276"/>
                  <a:pt x="184473" y="0"/>
                </a:cubicBezTo>
                <a:lnTo>
                  <a:pt x="184473" y="50311"/>
                </a:lnTo>
                <a:lnTo>
                  <a:pt x="218014" y="50311"/>
                </a:lnTo>
                <a:cubicBezTo>
                  <a:pt x="227290" y="50311"/>
                  <a:pt x="234784" y="57805"/>
                  <a:pt x="234784" y="67081"/>
                </a:cubicBezTo>
                <a:cubicBezTo>
                  <a:pt x="234784" y="76357"/>
                  <a:pt x="227290" y="83851"/>
                  <a:pt x="218014" y="83851"/>
                </a:cubicBezTo>
                <a:lnTo>
                  <a:pt x="218014" y="117392"/>
                </a:lnTo>
                <a:cubicBezTo>
                  <a:pt x="218014" y="167231"/>
                  <a:pt x="181748" y="208633"/>
                  <a:pt x="134162" y="216599"/>
                </a:cubicBezTo>
                <a:lnTo>
                  <a:pt x="134162" y="251554"/>
                </a:lnTo>
                <a:cubicBezTo>
                  <a:pt x="134162" y="260830"/>
                  <a:pt x="126668" y="268325"/>
                  <a:pt x="117392" y="268325"/>
                </a:cubicBezTo>
                <a:cubicBezTo>
                  <a:pt x="108116" y="268325"/>
                  <a:pt x="100622" y="260830"/>
                  <a:pt x="100622" y="251554"/>
                </a:cubicBezTo>
                <a:lnTo>
                  <a:pt x="100622" y="216599"/>
                </a:lnTo>
                <a:cubicBezTo>
                  <a:pt x="53036" y="208633"/>
                  <a:pt x="16770" y="167231"/>
                  <a:pt x="16770" y="117392"/>
                </a:cubicBezTo>
                <a:lnTo>
                  <a:pt x="16770" y="83851"/>
                </a:lnTo>
                <a:cubicBezTo>
                  <a:pt x="7494" y="83851"/>
                  <a:pt x="0" y="76357"/>
                  <a:pt x="0" y="67081"/>
                </a:cubicBezTo>
                <a:cubicBezTo>
                  <a:pt x="0" y="57805"/>
                  <a:pt x="7494" y="50311"/>
                  <a:pt x="16770" y="50311"/>
                </a:cubicBezTo>
                <a:lnTo>
                  <a:pt x="50311" y="50311"/>
                </a:lnTo>
                <a:lnTo>
                  <a:pt x="50311" y="0"/>
                </a:lnTo>
                <a:cubicBezTo>
                  <a:pt x="50311" y="-9276"/>
                  <a:pt x="57805" y="-16770"/>
                  <a:pt x="67081" y="-1677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26091" y="3253436"/>
            <a:ext cx="4617420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DFSClient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992" y="3745365"/>
            <a:ext cx="4595059" cy="58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提供文件系统操作接口</a:t>
            </a:r>
            <a:r>
              <a:rPr lang="en-US" sz="14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，管理与 NameNode 和 DataNode 的连接，是客户端访问 HDFS 的核心组件。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1992" y="4527978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0875" y="4460897"/>
            <a:ext cx="10509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RPC 连接管理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992" y="4841023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0875" y="4773942"/>
            <a:ext cx="983857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1992" y="5154069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0875" y="5086988"/>
            <a:ext cx="704352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48618" y="2174547"/>
            <a:ext cx="4964006" cy="3365238"/>
          </a:xfrm>
          <a:custGeom>
            <a:avLst/>
            <a:gdLst/>
            <a:ahLst/>
            <a:cxnLst/>
            <a:rect l="l" t="t" r="r" b="b"/>
            <a:pathLst>
              <a:path w="4964006" h="3365238">
                <a:moveTo>
                  <a:pt x="89448" y="0"/>
                </a:moveTo>
                <a:lnTo>
                  <a:pt x="4874557" y="0"/>
                </a:lnTo>
                <a:cubicBezTo>
                  <a:pt x="4923958" y="0"/>
                  <a:pt x="4964006" y="40047"/>
                  <a:pt x="4964006" y="89448"/>
                </a:cubicBezTo>
                <a:lnTo>
                  <a:pt x="4964006" y="3275790"/>
                </a:lnTo>
                <a:cubicBezTo>
                  <a:pt x="4964006" y="3325191"/>
                  <a:pt x="4923958" y="3365238"/>
                  <a:pt x="4874557" y="3365238"/>
                </a:cubicBezTo>
                <a:lnTo>
                  <a:pt x="89448" y="3365238"/>
                </a:lnTo>
                <a:cubicBezTo>
                  <a:pt x="40047" y="3365238"/>
                  <a:pt x="0" y="3325191"/>
                  <a:pt x="0" y="3275790"/>
                </a:cubicBezTo>
                <a:lnTo>
                  <a:pt x="0" y="89448"/>
                </a:lnTo>
                <a:cubicBezTo>
                  <a:pt x="0" y="40080"/>
                  <a:pt x="40080" y="0"/>
                  <a:pt x="8944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771369" y="2403741"/>
            <a:ext cx="715532" cy="715532"/>
          </a:xfrm>
          <a:custGeom>
            <a:avLst/>
            <a:gdLst/>
            <a:ahLst/>
            <a:cxnLst/>
            <a:rect l="l" t="t" r="r" b="b"/>
            <a:pathLst>
              <a:path w="715532" h="715532">
                <a:moveTo>
                  <a:pt x="89442" y="0"/>
                </a:moveTo>
                <a:lnTo>
                  <a:pt x="626091" y="0"/>
                </a:lnTo>
                <a:cubicBezTo>
                  <a:pt x="675455" y="0"/>
                  <a:pt x="715532" y="40077"/>
                  <a:pt x="715532" y="89442"/>
                </a:cubicBezTo>
                <a:lnTo>
                  <a:pt x="715532" y="626091"/>
                </a:lnTo>
                <a:cubicBezTo>
                  <a:pt x="715532" y="675455"/>
                  <a:pt x="675455" y="715532"/>
                  <a:pt x="626091" y="715532"/>
                </a:cubicBezTo>
                <a:lnTo>
                  <a:pt x="89442" y="715532"/>
                </a:lnTo>
                <a:cubicBezTo>
                  <a:pt x="40077" y="715532"/>
                  <a:pt x="0" y="675455"/>
                  <a:pt x="0" y="626091"/>
                </a:cubicBezTo>
                <a:lnTo>
                  <a:pt x="0" y="89442"/>
                </a:lnTo>
                <a:cubicBezTo>
                  <a:pt x="0" y="40077"/>
                  <a:pt x="40077" y="0"/>
                  <a:pt x="89442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11743" y="2627345"/>
            <a:ext cx="234784" cy="268325"/>
          </a:xfrm>
          <a:custGeom>
            <a:avLst/>
            <a:gdLst/>
            <a:ahLst/>
            <a:cxnLst/>
            <a:rect l="l" t="t" r="r" b="b"/>
            <a:pathLst>
              <a:path w="234784" h="268325">
                <a:moveTo>
                  <a:pt x="134162" y="16770"/>
                </a:moveTo>
                <a:cubicBezTo>
                  <a:pt x="134162" y="7494"/>
                  <a:pt x="126668" y="0"/>
                  <a:pt x="117392" y="0"/>
                </a:cubicBezTo>
                <a:cubicBezTo>
                  <a:pt x="108116" y="0"/>
                  <a:pt x="100622" y="7494"/>
                  <a:pt x="100622" y="16770"/>
                </a:cubicBezTo>
                <a:lnTo>
                  <a:pt x="100622" y="127192"/>
                </a:lnTo>
                <a:lnTo>
                  <a:pt x="78925" y="105496"/>
                </a:lnTo>
                <a:cubicBezTo>
                  <a:pt x="72374" y="98945"/>
                  <a:pt x="61736" y="98945"/>
                  <a:pt x="55185" y="105496"/>
                </a:cubicBezTo>
                <a:cubicBezTo>
                  <a:pt x="48634" y="112046"/>
                  <a:pt x="48634" y="122685"/>
                  <a:pt x="55185" y="129236"/>
                </a:cubicBezTo>
                <a:lnTo>
                  <a:pt x="105496" y="179547"/>
                </a:lnTo>
                <a:cubicBezTo>
                  <a:pt x="112046" y="186098"/>
                  <a:pt x="122685" y="186098"/>
                  <a:pt x="129236" y="179547"/>
                </a:cubicBezTo>
                <a:lnTo>
                  <a:pt x="179547" y="129236"/>
                </a:lnTo>
                <a:cubicBezTo>
                  <a:pt x="186098" y="122685"/>
                  <a:pt x="186098" y="112046"/>
                  <a:pt x="179547" y="105496"/>
                </a:cubicBezTo>
                <a:cubicBezTo>
                  <a:pt x="172996" y="98945"/>
                  <a:pt x="162357" y="98945"/>
                  <a:pt x="155806" y="105496"/>
                </a:cubicBezTo>
                <a:lnTo>
                  <a:pt x="134162" y="127192"/>
                </a:lnTo>
                <a:lnTo>
                  <a:pt x="134162" y="16770"/>
                </a:lnTo>
                <a:close/>
                <a:moveTo>
                  <a:pt x="33541" y="167703"/>
                </a:moveTo>
                <a:cubicBezTo>
                  <a:pt x="15041" y="167703"/>
                  <a:pt x="0" y="182744"/>
                  <a:pt x="0" y="201243"/>
                </a:cubicBezTo>
                <a:lnTo>
                  <a:pt x="0" y="218014"/>
                </a:lnTo>
                <a:cubicBezTo>
                  <a:pt x="0" y="236513"/>
                  <a:pt x="15041" y="251554"/>
                  <a:pt x="33541" y="251554"/>
                </a:cubicBezTo>
                <a:lnTo>
                  <a:pt x="201243" y="251554"/>
                </a:lnTo>
                <a:cubicBezTo>
                  <a:pt x="219743" y="251554"/>
                  <a:pt x="234784" y="236513"/>
                  <a:pt x="234784" y="218014"/>
                </a:cubicBezTo>
                <a:lnTo>
                  <a:pt x="234784" y="201243"/>
                </a:lnTo>
                <a:cubicBezTo>
                  <a:pt x="234784" y="182744"/>
                  <a:pt x="219743" y="167703"/>
                  <a:pt x="201243" y="167703"/>
                </a:cubicBezTo>
                <a:lnTo>
                  <a:pt x="176665" y="167703"/>
                </a:lnTo>
                <a:lnTo>
                  <a:pt x="147002" y="197365"/>
                </a:lnTo>
                <a:cubicBezTo>
                  <a:pt x="130651" y="213716"/>
                  <a:pt x="104081" y="213716"/>
                  <a:pt x="87730" y="197365"/>
                </a:cubicBezTo>
                <a:lnTo>
                  <a:pt x="58120" y="167703"/>
                </a:lnTo>
                <a:lnTo>
                  <a:pt x="33541" y="167703"/>
                </a:lnTo>
                <a:close/>
                <a:moveTo>
                  <a:pt x="192858" y="197051"/>
                </a:moveTo>
                <a:cubicBezTo>
                  <a:pt x="199800" y="197051"/>
                  <a:pt x="205436" y="202687"/>
                  <a:pt x="205436" y="209629"/>
                </a:cubicBezTo>
                <a:cubicBezTo>
                  <a:pt x="205436" y="216570"/>
                  <a:pt x="199800" y="222206"/>
                  <a:pt x="192858" y="222206"/>
                </a:cubicBezTo>
                <a:cubicBezTo>
                  <a:pt x="185916" y="222206"/>
                  <a:pt x="180281" y="216570"/>
                  <a:pt x="180281" y="209629"/>
                </a:cubicBezTo>
                <a:cubicBezTo>
                  <a:pt x="180281" y="202687"/>
                  <a:pt x="185916" y="197051"/>
                  <a:pt x="192858" y="197051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821911" y="3253436"/>
            <a:ext cx="4617420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DFSInputStream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7812" y="3745365"/>
            <a:ext cx="4595059" cy="58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处理文件读取操作</a:t>
            </a:r>
            <a:r>
              <a:rPr lang="en-US" sz="14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，实现故障恢复和性能优化，支持流式数据读取。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77812" y="4527978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56695" y="4460897"/>
            <a:ext cx="86087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块位置查询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77812" y="4841023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56695" y="4773942"/>
            <a:ext cx="101739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副本选择策略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77812" y="5154069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56695" y="5086988"/>
            <a:ext cx="101739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故障自动切换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44525" y="2174547"/>
            <a:ext cx="4964006" cy="3365238"/>
          </a:xfrm>
          <a:custGeom>
            <a:avLst/>
            <a:gdLst/>
            <a:ahLst/>
            <a:cxnLst/>
            <a:rect l="l" t="t" r="r" b="b"/>
            <a:pathLst>
              <a:path w="4964006" h="3365238">
                <a:moveTo>
                  <a:pt x="89448" y="0"/>
                </a:moveTo>
                <a:lnTo>
                  <a:pt x="4874557" y="0"/>
                </a:lnTo>
                <a:cubicBezTo>
                  <a:pt x="4923958" y="0"/>
                  <a:pt x="4964006" y="40047"/>
                  <a:pt x="4964006" y="89448"/>
                </a:cubicBezTo>
                <a:lnTo>
                  <a:pt x="4964006" y="3275790"/>
                </a:lnTo>
                <a:cubicBezTo>
                  <a:pt x="4964006" y="3325191"/>
                  <a:pt x="4923958" y="3365238"/>
                  <a:pt x="4874557" y="3365238"/>
                </a:cubicBezTo>
                <a:lnTo>
                  <a:pt x="89448" y="3365238"/>
                </a:lnTo>
                <a:cubicBezTo>
                  <a:pt x="40047" y="3365238"/>
                  <a:pt x="0" y="3325191"/>
                  <a:pt x="0" y="3275790"/>
                </a:cubicBezTo>
                <a:lnTo>
                  <a:pt x="0" y="89448"/>
                </a:lnTo>
                <a:cubicBezTo>
                  <a:pt x="0" y="40080"/>
                  <a:pt x="40080" y="0"/>
                  <a:pt x="8944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2967276" y="2403741"/>
            <a:ext cx="715532" cy="715532"/>
          </a:xfrm>
          <a:custGeom>
            <a:avLst/>
            <a:gdLst/>
            <a:ahLst/>
            <a:cxnLst/>
            <a:rect l="l" t="t" r="r" b="b"/>
            <a:pathLst>
              <a:path w="715532" h="715532">
                <a:moveTo>
                  <a:pt x="89442" y="0"/>
                </a:moveTo>
                <a:lnTo>
                  <a:pt x="626091" y="0"/>
                </a:lnTo>
                <a:cubicBezTo>
                  <a:pt x="675455" y="0"/>
                  <a:pt x="715532" y="40077"/>
                  <a:pt x="715532" y="89442"/>
                </a:cubicBezTo>
                <a:lnTo>
                  <a:pt x="715532" y="626091"/>
                </a:lnTo>
                <a:cubicBezTo>
                  <a:pt x="715532" y="675455"/>
                  <a:pt x="675455" y="715532"/>
                  <a:pt x="626091" y="715532"/>
                </a:cubicBezTo>
                <a:lnTo>
                  <a:pt x="89442" y="715532"/>
                </a:lnTo>
                <a:cubicBezTo>
                  <a:pt x="40077" y="715532"/>
                  <a:pt x="0" y="675455"/>
                  <a:pt x="0" y="626091"/>
                </a:cubicBezTo>
                <a:lnTo>
                  <a:pt x="0" y="89442"/>
                </a:lnTo>
                <a:cubicBezTo>
                  <a:pt x="0" y="40077"/>
                  <a:pt x="40077" y="0"/>
                  <a:pt x="89442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3207651" y="2627345"/>
            <a:ext cx="234784" cy="268325"/>
          </a:xfrm>
          <a:custGeom>
            <a:avLst/>
            <a:gdLst/>
            <a:ahLst/>
            <a:cxnLst/>
            <a:rect l="l" t="t" r="r" b="b"/>
            <a:pathLst>
              <a:path w="234784" h="268325">
                <a:moveTo>
                  <a:pt x="134162" y="57281"/>
                </a:moveTo>
                <a:lnTo>
                  <a:pt x="134162" y="167703"/>
                </a:lnTo>
                <a:cubicBezTo>
                  <a:pt x="134162" y="176979"/>
                  <a:pt x="126668" y="184473"/>
                  <a:pt x="117392" y="184473"/>
                </a:cubicBezTo>
                <a:cubicBezTo>
                  <a:pt x="108116" y="184473"/>
                  <a:pt x="100622" y="176979"/>
                  <a:pt x="100622" y="167703"/>
                </a:cubicBezTo>
                <a:lnTo>
                  <a:pt x="100622" y="57281"/>
                </a:lnTo>
                <a:lnTo>
                  <a:pt x="78925" y="78978"/>
                </a:lnTo>
                <a:cubicBezTo>
                  <a:pt x="72374" y="85528"/>
                  <a:pt x="61736" y="85528"/>
                  <a:pt x="55185" y="78978"/>
                </a:cubicBezTo>
                <a:cubicBezTo>
                  <a:pt x="48634" y="72427"/>
                  <a:pt x="48634" y="61788"/>
                  <a:pt x="55185" y="55237"/>
                </a:cubicBezTo>
                <a:lnTo>
                  <a:pt x="105496" y="4926"/>
                </a:lnTo>
                <a:cubicBezTo>
                  <a:pt x="112046" y="-1625"/>
                  <a:pt x="122685" y="-1625"/>
                  <a:pt x="129236" y="4926"/>
                </a:cubicBezTo>
                <a:lnTo>
                  <a:pt x="179547" y="55237"/>
                </a:lnTo>
                <a:cubicBezTo>
                  <a:pt x="186098" y="61788"/>
                  <a:pt x="186098" y="72427"/>
                  <a:pt x="179547" y="78978"/>
                </a:cubicBezTo>
                <a:cubicBezTo>
                  <a:pt x="172996" y="85528"/>
                  <a:pt x="162357" y="85528"/>
                  <a:pt x="155806" y="78978"/>
                </a:cubicBezTo>
                <a:lnTo>
                  <a:pt x="134162" y="57281"/>
                </a:lnTo>
                <a:close/>
                <a:moveTo>
                  <a:pt x="117392" y="209629"/>
                </a:moveTo>
                <a:cubicBezTo>
                  <a:pt x="140556" y="209629"/>
                  <a:pt x="159318" y="190867"/>
                  <a:pt x="159318" y="167703"/>
                </a:cubicBezTo>
                <a:lnTo>
                  <a:pt x="201243" y="167703"/>
                </a:lnTo>
                <a:cubicBezTo>
                  <a:pt x="219743" y="167703"/>
                  <a:pt x="234784" y="182744"/>
                  <a:pt x="234784" y="201243"/>
                </a:cubicBezTo>
                <a:lnTo>
                  <a:pt x="234784" y="218014"/>
                </a:lnTo>
                <a:cubicBezTo>
                  <a:pt x="234784" y="236513"/>
                  <a:pt x="219743" y="251554"/>
                  <a:pt x="201243" y="251554"/>
                </a:cubicBezTo>
                <a:lnTo>
                  <a:pt x="33541" y="251554"/>
                </a:lnTo>
                <a:cubicBezTo>
                  <a:pt x="15041" y="251554"/>
                  <a:pt x="0" y="236513"/>
                  <a:pt x="0" y="218014"/>
                </a:cubicBezTo>
                <a:lnTo>
                  <a:pt x="0" y="201243"/>
                </a:lnTo>
                <a:cubicBezTo>
                  <a:pt x="0" y="182744"/>
                  <a:pt x="15041" y="167703"/>
                  <a:pt x="33541" y="167703"/>
                </a:cubicBezTo>
                <a:lnTo>
                  <a:pt x="75466" y="167703"/>
                </a:lnTo>
                <a:cubicBezTo>
                  <a:pt x="75466" y="190867"/>
                  <a:pt x="94228" y="209629"/>
                  <a:pt x="117392" y="209629"/>
                </a:cubicBezTo>
                <a:close/>
                <a:moveTo>
                  <a:pt x="192858" y="222206"/>
                </a:moveTo>
                <a:cubicBezTo>
                  <a:pt x="199800" y="222206"/>
                  <a:pt x="205436" y="216570"/>
                  <a:pt x="205436" y="209629"/>
                </a:cubicBezTo>
                <a:cubicBezTo>
                  <a:pt x="205436" y="202687"/>
                  <a:pt x="199800" y="197051"/>
                  <a:pt x="192858" y="197051"/>
                </a:cubicBezTo>
                <a:cubicBezTo>
                  <a:pt x="185916" y="197051"/>
                  <a:pt x="180281" y="202687"/>
                  <a:pt x="180281" y="209629"/>
                </a:cubicBezTo>
                <a:cubicBezTo>
                  <a:pt x="180281" y="216570"/>
                  <a:pt x="185916" y="222206"/>
                  <a:pt x="192858" y="222206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017818" y="3253436"/>
            <a:ext cx="4617420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DFSOutputStream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73719" y="3745365"/>
            <a:ext cx="4595059" cy="58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处理文件写入操作</a:t>
            </a:r>
            <a:r>
              <a:rPr lang="en-US" sz="14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，管理副本管道和一致性保证，支持流式数据写入。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073719" y="4527978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252602" y="4460897"/>
            <a:ext cx="101739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管道写入管理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073719" y="4841023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252602" y="4773942"/>
            <a:ext cx="86087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数据包分发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73719" y="5154069"/>
            <a:ext cx="89442" cy="89442"/>
          </a:xfrm>
          <a:custGeom>
            <a:avLst/>
            <a:gdLst/>
            <a:ahLst/>
            <a:cxnLst/>
            <a:rect l="l" t="t" r="r" b="b"/>
            <a:pathLst>
              <a:path w="89442" h="89442">
                <a:moveTo>
                  <a:pt x="44721" y="0"/>
                </a:moveTo>
                <a:lnTo>
                  <a:pt x="44721" y="0"/>
                </a:lnTo>
                <a:cubicBezTo>
                  <a:pt x="69403" y="0"/>
                  <a:pt x="89442" y="20039"/>
                  <a:pt x="89442" y="44721"/>
                </a:cubicBezTo>
                <a:lnTo>
                  <a:pt x="89442" y="44721"/>
                </a:lnTo>
                <a:cubicBezTo>
                  <a:pt x="89442" y="69403"/>
                  <a:pt x="69403" y="89442"/>
                  <a:pt x="44721" y="89442"/>
                </a:cubicBezTo>
                <a:lnTo>
                  <a:pt x="44721" y="89442"/>
                </a:lnTo>
                <a:cubicBezTo>
                  <a:pt x="20039" y="89442"/>
                  <a:pt x="0" y="69403"/>
                  <a:pt x="0" y="44721"/>
                </a:cubicBezTo>
                <a:lnTo>
                  <a:pt x="0" y="44721"/>
                </a:lnTo>
                <a:cubicBezTo>
                  <a:pt x="0" y="20039"/>
                  <a:pt x="20039" y="0"/>
                  <a:pt x="44721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52602" y="5086988"/>
            <a:ext cx="704352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确认机制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2798" y="5774569"/>
            <a:ext cx="15350404" cy="2627345"/>
          </a:xfrm>
          <a:custGeom>
            <a:avLst/>
            <a:gdLst/>
            <a:ahLst/>
            <a:cxnLst/>
            <a:rect l="l" t="t" r="r" b="b"/>
            <a:pathLst>
              <a:path w="15350404" h="2627345">
                <a:moveTo>
                  <a:pt x="89435" y="0"/>
                </a:moveTo>
                <a:lnTo>
                  <a:pt x="15260970" y="0"/>
                </a:lnTo>
                <a:cubicBezTo>
                  <a:pt x="15310363" y="0"/>
                  <a:pt x="15350404" y="40041"/>
                  <a:pt x="15350404" y="89435"/>
                </a:cubicBezTo>
                <a:lnTo>
                  <a:pt x="15350404" y="2537910"/>
                </a:lnTo>
                <a:cubicBezTo>
                  <a:pt x="15350404" y="2587304"/>
                  <a:pt x="15310363" y="2627345"/>
                  <a:pt x="15260970" y="2627345"/>
                </a:cubicBezTo>
                <a:lnTo>
                  <a:pt x="89435" y="2627345"/>
                </a:lnTo>
                <a:cubicBezTo>
                  <a:pt x="40041" y="2627345"/>
                  <a:pt x="0" y="2587304"/>
                  <a:pt x="0" y="2537910"/>
                </a:cubicBezTo>
                <a:lnTo>
                  <a:pt x="0" y="89435"/>
                </a:lnTo>
                <a:cubicBezTo>
                  <a:pt x="0" y="40074"/>
                  <a:pt x="40074" y="0"/>
                  <a:pt x="8943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0812" y="6048484"/>
            <a:ext cx="1491437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客户端与集群交互流程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2303" y="6546003"/>
            <a:ext cx="2839769" cy="1576407"/>
          </a:xfrm>
          <a:custGeom>
            <a:avLst/>
            <a:gdLst/>
            <a:ahLst/>
            <a:cxnLst/>
            <a:rect l="l" t="t" r="r" b="b"/>
            <a:pathLst>
              <a:path w="2839769" h="1576407">
                <a:moveTo>
                  <a:pt x="89445" y="0"/>
                </a:moveTo>
                <a:lnTo>
                  <a:pt x="2750324" y="0"/>
                </a:lnTo>
                <a:cubicBezTo>
                  <a:pt x="2799723" y="0"/>
                  <a:pt x="2839769" y="40046"/>
                  <a:pt x="2839769" y="89445"/>
                </a:cubicBezTo>
                <a:lnTo>
                  <a:pt x="2839769" y="1486962"/>
                </a:lnTo>
                <a:cubicBezTo>
                  <a:pt x="2839769" y="1536361"/>
                  <a:pt x="2799723" y="1576407"/>
                  <a:pt x="2750324" y="1576407"/>
                </a:cubicBezTo>
                <a:lnTo>
                  <a:pt x="89445" y="1576407"/>
                </a:lnTo>
                <a:cubicBezTo>
                  <a:pt x="40046" y="1576407"/>
                  <a:pt x="0" y="1536361"/>
                  <a:pt x="0" y="1486962"/>
                </a:cubicBezTo>
                <a:lnTo>
                  <a:pt x="0" y="89445"/>
                </a:lnTo>
                <a:cubicBezTo>
                  <a:pt x="0" y="40079"/>
                  <a:pt x="40079" y="0"/>
                  <a:pt x="8944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885173" y="6685755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2073576" y="6819917"/>
            <a:ext cx="156523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2924" y="7311846"/>
            <a:ext cx="263852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客户端通过 DFSClient 发起请求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20122" y="6546003"/>
            <a:ext cx="2839769" cy="1576407"/>
          </a:xfrm>
          <a:custGeom>
            <a:avLst/>
            <a:gdLst/>
            <a:ahLst/>
            <a:cxnLst/>
            <a:rect l="l" t="t" r="r" b="b"/>
            <a:pathLst>
              <a:path w="2839769" h="1576407">
                <a:moveTo>
                  <a:pt x="89445" y="0"/>
                </a:moveTo>
                <a:lnTo>
                  <a:pt x="2750324" y="0"/>
                </a:lnTo>
                <a:cubicBezTo>
                  <a:pt x="2799723" y="0"/>
                  <a:pt x="2839769" y="40046"/>
                  <a:pt x="2839769" y="89445"/>
                </a:cubicBezTo>
                <a:lnTo>
                  <a:pt x="2839769" y="1486962"/>
                </a:lnTo>
                <a:cubicBezTo>
                  <a:pt x="2839769" y="1536361"/>
                  <a:pt x="2799723" y="1576407"/>
                  <a:pt x="2750324" y="1576407"/>
                </a:cubicBezTo>
                <a:lnTo>
                  <a:pt x="89445" y="1576407"/>
                </a:lnTo>
                <a:cubicBezTo>
                  <a:pt x="40046" y="1576407"/>
                  <a:pt x="0" y="1536361"/>
                  <a:pt x="0" y="1486962"/>
                </a:cubicBezTo>
                <a:lnTo>
                  <a:pt x="0" y="89445"/>
                </a:lnTo>
                <a:cubicBezTo>
                  <a:pt x="0" y="40079"/>
                  <a:pt x="40079" y="0"/>
                  <a:pt x="8944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872992" y="6685755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046285" y="6819917"/>
            <a:ext cx="190063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820743" y="7311846"/>
            <a:ext cx="263852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验证权限并返回元数据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707941" y="6546003"/>
            <a:ext cx="2839769" cy="1576407"/>
          </a:xfrm>
          <a:custGeom>
            <a:avLst/>
            <a:gdLst/>
            <a:ahLst/>
            <a:cxnLst/>
            <a:rect l="l" t="t" r="r" b="b"/>
            <a:pathLst>
              <a:path w="2839769" h="1576407">
                <a:moveTo>
                  <a:pt x="89445" y="0"/>
                </a:moveTo>
                <a:lnTo>
                  <a:pt x="2750324" y="0"/>
                </a:lnTo>
                <a:cubicBezTo>
                  <a:pt x="2799723" y="0"/>
                  <a:pt x="2839769" y="40046"/>
                  <a:pt x="2839769" y="89445"/>
                </a:cubicBezTo>
                <a:lnTo>
                  <a:pt x="2839769" y="1486962"/>
                </a:lnTo>
                <a:cubicBezTo>
                  <a:pt x="2839769" y="1536361"/>
                  <a:pt x="2799723" y="1576407"/>
                  <a:pt x="2750324" y="1576407"/>
                </a:cubicBezTo>
                <a:lnTo>
                  <a:pt x="89445" y="1576407"/>
                </a:lnTo>
                <a:cubicBezTo>
                  <a:pt x="40046" y="1576407"/>
                  <a:pt x="0" y="1536361"/>
                  <a:pt x="0" y="1486962"/>
                </a:cubicBezTo>
                <a:lnTo>
                  <a:pt x="0" y="89445"/>
                </a:lnTo>
                <a:cubicBezTo>
                  <a:pt x="0" y="40079"/>
                  <a:pt x="40079" y="0"/>
                  <a:pt x="8944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860811" y="6685755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031746" y="6819917"/>
            <a:ext cx="190063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08563" y="7311846"/>
            <a:ext cx="263852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客户端选择最优 DataNode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695760" y="6546003"/>
            <a:ext cx="2839769" cy="1576407"/>
          </a:xfrm>
          <a:custGeom>
            <a:avLst/>
            <a:gdLst/>
            <a:ahLst/>
            <a:cxnLst/>
            <a:rect l="l" t="t" r="r" b="b"/>
            <a:pathLst>
              <a:path w="2839769" h="1576407">
                <a:moveTo>
                  <a:pt x="89445" y="0"/>
                </a:moveTo>
                <a:lnTo>
                  <a:pt x="2750324" y="0"/>
                </a:lnTo>
                <a:cubicBezTo>
                  <a:pt x="2799723" y="0"/>
                  <a:pt x="2839769" y="40046"/>
                  <a:pt x="2839769" y="89445"/>
                </a:cubicBezTo>
                <a:lnTo>
                  <a:pt x="2839769" y="1486962"/>
                </a:lnTo>
                <a:cubicBezTo>
                  <a:pt x="2839769" y="1536361"/>
                  <a:pt x="2799723" y="1576407"/>
                  <a:pt x="2750324" y="1576407"/>
                </a:cubicBezTo>
                <a:lnTo>
                  <a:pt x="89445" y="1576407"/>
                </a:lnTo>
                <a:cubicBezTo>
                  <a:pt x="40046" y="1576407"/>
                  <a:pt x="0" y="1536361"/>
                  <a:pt x="0" y="1486962"/>
                </a:cubicBezTo>
                <a:lnTo>
                  <a:pt x="0" y="89445"/>
                </a:lnTo>
                <a:cubicBezTo>
                  <a:pt x="0" y="40079"/>
                  <a:pt x="40079" y="0"/>
                  <a:pt x="8944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0848630" y="6685755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019739" y="6819917"/>
            <a:ext cx="190063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796382" y="7311846"/>
            <a:ext cx="2638525" cy="67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DFSInputStream/DFSOutputStream 传输数据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683579" y="6546003"/>
            <a:ext cx="2839769" cy="1576407"/>
          </a:xfrm>
          <a:custGeom>
            <a:avLst/>
            <a:gdLst/>
            <a:ahLst/>
            <a:cxnLst/>
            <a:rect l="l" t="t" r="r" b="b"/>
            <a:pathLst>
              <a:path w="2839769" h="1576407">
                <a:moveTo>
                  <a:pt x="89445" y="0"/>
                </a:moveTo>
                <a:lnTo>
                  <a:pt x="2750324" y="0"/>
                </a:lnTo>
                <a:cubicBezTo>
                  <a:pt x="2799723" y="0"/>
                  <a:pt x="2839769" y="40046"/>
                  <a:pt x="2839769" y="89445"/>
                </a:cubicBezTo>
                <a:lnTo>
                  <a:pt x="2839769" y="1486962"/>
                </a:lnTo>
                <a:cubicBezTo>
                  <a:pt x="2839769" y="1536361"/>
                  <a:pt x="2799723" y="1576407"/>
                  <a:pt x="2750324" y="1576407"/>
                </a:cubicBezTo>
                <a:lnTo>
                  <a:pt x="89445" y="1576407"/>
                </a:lnTo>
                <a:cubicBezTo>
                  <a:pt x="40046" y="1576407"/>
                  <a:pt x="0" y="1536361"/>
                  <a:pt x="0" y="1486962"/>
                </a:cubicBezTo>
                <a:lnTo>
                  <a:pt x="0" y="89445"/>
                </a:lnTo>
                <a:cubicBezTo>
                  <a:pt x="0" y="40079"/>
                  <a:pt x="40079" y="0"/>
                  <a:pt x="8944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3836449" y="6685755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4006598" y="6819917"/>
            <a:ext cx="201243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784201" y="7311846"/>
            <a:ext cx="2638525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操作完成后更新 NameNode 元数据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90600" cy="723900"/>
          </a:xfrm>
          <a:custGeom>
            <a:avLst/>
            <a:gdLst/>
            <a:ahLst/>
            <a:cxnLst/>
            <a:rect l="l" t="t" r="r" b="b"/>
            <a:pathLst>
              <a:path w="990600" h="723900">
                <a:moveTo>
                  <a:pt x="101599" y="0"/>
                </a:moveTo>
                <a:lnTo>
                  <a:pt x="889001" y="0"/>
                </a:lnTo>
                <a:cubicBezTo>
                  <a:pt x="945112" y="0"/>
                  <a:pt x="990600" y="45488"/>
                  <a:pt x="990600" y="101599"/>
                </a:cubicBezTo>
                <a:lnTo>
                  <a:pt x="990600" y="622301"/>
                </a:lnTo>
                <a:cubicBezTo>
                  <a:pt x="990600" y="678412"/>
                  <a:pt x="945112" y="723900"/>
                  <a:pt x="8890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675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数据存储机制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数据块管理、副本策略与网络拓扑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75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 块设计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988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454400" y="6303963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三副本策略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34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689600" y="63039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280" y="500280"/>
            <a:ext cx="2828742" cy="407635"/>
          </a:xfrm>
          <a:custGeom>
            <a:avLst/>
            <a:gdLst/>
            <a:ahLst/>
            <a:cxnLst/>
            <a:rect l="l" t="t" r="r" b="b"/>
            <a:pathLst>
              <a:path w="2828742" h="407635">
                <a:moveTo>
                  <a:pt x="203818" y="0"/>
                </a:moveTo>
                <a:lnTo>
                  <a:pt x="2624924" y="0"/>
                </a:lnTo>
                <a:cubicBezTo>
                  <a:pt x="2737489" y="0"/>
                  <a:pt x="2828742" y="91252"/>
                  <a:pt x="2828742" y="203818"/>
                </a:cubicBezTo>
                <a:lnTo>
                  <a:pt x="2828742" y="203818"/>
                </a:lnTo>
                <a:cubicBezTo>
                  <a:pt x="2828742" y="316383"/>
                  <a:pt x="2737489" y="407635"/>
                  <a:pt x="2624924" y="407635"/>
                </a:cubicBezTo>
                <a:lnTo>
                  <a:pt x="203818" y="407635"/>
                </a:lnTo>
                <a:cubicBezTo>
                  <a:pt x="91328" y="407635"/>
                  <a:pt x="0" y="316308"/>
                  <a:pt x="0" y="203818"/>
                </a:cubicBezTo>
                <a:lnTo>
                  <a:pt x="0" y="203818"/>
                </a:lnTo>
                <a:cubicBezTo>
                  <a:pt x="0" y="91328"/>
                  <a:pt x="91328" y="0"/>
                  <a:pt x="20381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4097" y="574395"/>
            <a:ext cx="252272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kern="0" spc="15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4103" y="1062322"/>
            <a:ext cx="15564255" cy="59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69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数据块管理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4103" y="1803477"/>
            <a:ext cx="1539131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大文件存储策略与块状态生命周期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0280" y="2353167"/>
            <a:ext cx="7498018" cy="4360462"/>
          </a:xfrm>
          <a:custGeom>
            <a:avLst/>
            <a:gdLst/>
            <a:ahLst/>
            <a:cxnLst/>
            <a:rect l="l" t="t" r="r" b="b"/>
            <a:pathLst>
              <a:path w="7498018" h="4360462">
                <a:moveTo>
                  <a:pt x="98808" y="0"/>
                </a:moveTo>
                <a:lnTo>
                  <a:pt x="7399210" y="0"/>
                </a:lnTo>
                <a:cubicBezTo>
                  <a:pt x="7453780" y="0"/>
                  <a:pt x="7498018" y="44238"/>
                  <a:pt x="7498018" y="98808"/>
                </a:cubicBezTo>
                <a:lnTo>
                  <a:pt x="7498018" y="4261654"/>
                </a:lnTo>
                <a:cubicBezTo>
                  <a:pt x="7498018" y="4316224"/>
                  <a:pt x="7453780" y="4360462"/>
                  <a:pt x="7399210" y="4360462"/>
                </a:cubicBezTo>
                <a:lnTo>
                  <a:pt x="98808" y="4360462"/>
                </a:lnTo>
                <a:cubicBezTo>
                  <a:pt x="44238" y="4360462"/>
                  <a:pt x="0" y="4316224"/>
                  <a:pt x="0" y="4261654"/>
                </a:cubicBezTo>
                <a:lnTo>
                  <a:pt x="0" y="98808"/>
                </a:lnTo>
                <a:cubicBezTo>
                  <a:pt x="0" y="44274"/>
                  <a:pt x="44274" y="0"/>
                  <a:pt x="9880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0565" y="265580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64444" y="-753"/>
                </a:moveTo>
                <a:cubicBezTo>
                  <a:pt x="154427" y="-6543"/>
                  <a:pt x="142035" y="-6543"/>
                  <a:pt x="132018" y="-753"/>
                </a:cubicBezTo>
                <a:lnTo>
                  <a:pt x="83264" y="27388"/>
                </a:lnTo>
                <a:cubicBezTo>
                  <a:pt x="73247" y="33178"/>
                  <a:pt x="67051" y="43890"/>
                  <a:pt x="67051" y="55471"/>
                </a:cubicBezTo>
                <a:lnTo>
                  <a:pt x="67051" y="114474"/>
                </a:lnTo>
                <a:lnTo>
                  <a:pt x="15923" y="144004"/>
                </a:lnTo>
                <a:cubicBezTo>
                  <a:pt x="5906" y="149794"/>
                  <a:pt x="-290" y="160506"/>
                  <a:pt x="-290" y="172087"/>
                </a:cubicBezTo>
                <a:lnTo>
                  <a:pt x="-290" y="228426"/>
                </a:lnTo>
                <a:cubicBezTo>
                  <a:pt x="-290" y="240007"/>
                  <a:pt x="5906" y="250719"/>
                  <a:pt x="15923" y="256509"/>
                </a:cubicBezTo>
                <a:lnTo>
                  <a:pt x="64735" y="284650"/>
                </a:lnTo>
                <a:cubicBezTo>
                  <a:pt x="74752" y="290440"/>
                  <a:pt x="87144" y="290440"/>
                  <a:pt x="97161" y="284650"/>
                </a:cubicBezTo>
                <a:lnTo>
                  <a:pt x="148289" y="255119"/>
                </a:lnTo>
                <a:lnTo>
                  <a:pt x="199417" y="284650"/>
                </a:lnTo>
                <a:cubicBezTo>
                  <a:pt x="209434" y="290440"/>
                  <a:pt x="221825" y="290440"/>
                  <a:pt x="231843" y="284650"/>
                </a:cubicBezTo>
                <a:lnTo>
                  <a:pt x="280539" y="256509"/>
                </a:lnTo>
                <a:cubicBezTo>
                  <a:pt x="290556" y="250719"/>
                  <a:pt x="296752" y="240007"/>
                  <a:pt x="296752" y="228426"/>
                </a:cubicBezTo>
                <a:lnTo>
                  <a:pt x="296752" y="172087"/>
                </a:lnTo>
                <a:cubicBezTo>
                  <a:pt x="296752" y="160506"/>
                  <a:pt x="290556" y="149794"/>
                  <a:pt x="280539" y="144004"/>
                </a:cubicBezTo>
                <a:lnTo>
                  <a:pt x="229411" y="114474"/>
                </a:lnTo>
                <a:lnTo>
                  <a:pt x="229411" y="55471"/>
                </a:lnTo>
                <a:cubicBezTo>
                  <a:pt x="229411" y="43890"/>
                  <a:pt x="223215" y="33178"/>
                  <a:pt x="213198" y="27388"/>
                </a:cubicBezTo>
                <a:lnTo>
                  <a:pt x="164444" y="-753"/>
                </a:lnTo>
                <a:close/>
                <a:moveTo>
                  <a:pt x="134334" y="169423"/>
                </a:moveTo>
                <a:lnTo>
                  <a:pt x="134334" y="231090"/>
                </a:lnTo>
                <a:lnTo>
                  <a:pt x="83206" y="260620"/>
                </a:lnTo>
                <a:cubicBezTo>
                  <a:pt x="82511" y="261026"/>
                  <a:pt x="81701" y="261257"/>
                  <a:pt x="80890" y="261257"/>
                </a:cubicBezTo>
                <a:lnTo>
                  <a:pt x="80890" y="200286"/>
                </a:lnTo>
                <a:lnTo>
                  <a:pt x="134334" y="169423"/>
                </a:lnTo>
                <a:close/>
                <a:moveTo>
                  <a:pt x="268321" y="169771"/>
                </a:moveTo>
                <a:cubicBezTo>
                  <a:pt x="268727" y="170466"/>
                  <a:pt x="268958" y="171276"/>
                  <a:pt x="268958" y="172087"/>
                </a:cubicBezTo>
                <a:lnTo>
                  <a:pt x="268958" y="228426"/>
                </a:lnTo>
                <a:cubicBezTo>
                  <a:pt x="268958" y="230105"/>
                  <a:pt x="268090" y="231611"/>
                  <a:pt x="266642" y="232422"/>
                </a:cubicBezTo>
                <a:lnTo>
                  <a:pt x="217830" y="260562"/>
                </a:lnTo>
                <a:cubicBezTo>
                  <a:pt x="217135" y="260968"/>
                  <a:pt x="216325" y="261199"/>
                  <a:pt x="215514" y="261199"/>
                </a:cubicBezTo>
                <a:lnTo>
                  <a:pt x="215514" y="200228"/>
                </a:lnTo>
                <a:lnTo>
                  <a:pt x="268321" y="169771"/>
                </a:lnTo>
                <a:close/>
                <a:moveTo>
                  <a:pt x="201675" y="55471"/>
                </a:moveTo>
                <a:lnTo>
                  <a:pt x="201675" y="114474"/>
                </a:lnTo>
                <a:lnTo>
                  <a:pt x="148231" y="145336"/>
                </a:lnTo>
                <a:lnTo>
                  <a:pt x="148231" y="83669"/>
                </a:lnTo>
                <a:lnTo>
                  <a:pt x="201038" y="53213"/>
                </a:lnTo>
                <a:cubicBezTo>
                  <a:pt x="201444" y="53907"/>
                  <a:pt x="201675" y="54718"/>
                  <a:pt x="201675" y="5552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4085" y="2606395"/>
            <a:ext cx="6769216" cy="395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块存储设计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508" y="3273435"/>
            <a:ext cx="1087027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默认块大小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9331" y="3199319"/>
            <a:ext cx="1334079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1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508" y="3742833"/>
            <a:ext cx="7078030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可配置：64MB、256MB、512MB 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2036" y="4187526"/>
            <a:ext cx="6973033" cy="691745"/>
          </a:xfrm>
          <a:custGeom>
            <a:avLst/>
            <a:gdLst/>
            <a:ahLst/>
            <a:cxnLst/>
            <a:rect l="l" t="t" r="r" b="b"/>
            <a:pathLst>
              <a:path w="6973033" h="691745">
                <a:moveTo>
                  <a:pt x="37058" y="0"/>
                </a:moveTo>
                <a:lnTo>
                  <a:pt x="6923622" y="0"/>
                </a:lnTo>
                <a:cubicBezTo>
                  <a:pt x="6950911" y="0"/>
                  <a:pt x="6973033" y="22122"/>
                  <a:pt x="6973033" y="49411"/>
                </a:cubicBezTo>
                <a:lnTo>
                  <a:pt x="6973033" y="642333"/>
                </a:lnTo>
                <a:cubicBezTo>
                  <a:pt x="6973033" y="669622"/>
                  <a:pt x="6950911" y="691745"/>
                  <a:pt x="6923622" y="691745"/>
                </a:cubicBez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72036" y="4187526"/>
            <a:ext cx="37058" cy="691745"/>
          </a:xfrm>
          <a:custGeom>
            <a:avLst/>
            <a:gdLst/>
            <a:ahLst/>
            <a:cxnLst/>
            <a:rect l="l" t="t" r="r" b="b"/>
            <a:pathLst>
              <a:path w="37058" h="691745">
                <a:moveTo>
                  <a:pt x="37058" y="0"/>
                </a:moveTo>
                <a:lnTo>
                  <a:pt x="37058" y="0"/>
                </a:lnTo>
                <a:lnTo>
                  <a:pt x="37058" y="691745"/>
                </a:ln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8796" y="4286347"/>
            <a:ext cx="6744511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减少元数据开销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8796" y="4582809"/>
            <a:ext cx="6732158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大文件使用较少的块，减少 NameNode 内存占用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036" y="4978091"/>
            <a:ext cx="6973033" cy="691745"/>
          </a:xfrm>
          <a:custGeom>
            <a:avLst/>
            <a:gdLst/>
            <a:ahLst/>
            <a:cxnLst/>
            <a:rect l="l" t="t" r="r" b="b"/>
            <a:pathLst>
              <a:path w="6973033" h="691745">
                <a:moveTo>
                  <a:pt x="37058" y="0"/>
                </a:moveTo>
                <a:lnTo>
                  <a:pt x="6923622" y="0"/>
                </a:lnTo>
                <a:cubicBezTo>
                  <a:pt x="6950911" y="0"/>
                  <a:pt x="6973033" y="22122"/>
                  <a:pt x="6973033" y="49411"/>
                </a:cubicBezTo>
                <a:lnTo>
                  <a:pt x="6973033" y="642333"/>
                </a:lnTo>
                <a:cubicBezTo>
                  <a:pt x="6973033" y="669622"/>
                  <a:pt x="6950911" y="691745"/>
                  <a:pt x="6923622" y="691745"/>
                </a:cubicBez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72036" y="4978091"/>
            <a:ext cx="37058" cy="691745"/>
          </a:xfrm>
          <a:custGeom>
            <a:avLst/>
            <a:gdLst/>
            <a:ahLst/>
            <a:cxnLst/>
            <a:rect l="l" t="t" r="r" b="b"/>
            <a:pathLst>
              <a:path w="37058" h="691745">
                <a:moveTo>
                  <a:pt x="37058" y="0"/>
                </a:moveTo>
                <a:lnTo>
                  <a:pt x="37058" y="0"/>
                </a:lnTo>
                <a:lnTo>
                  <a:pt x="37058" y="691745"/>
                </a:ln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38796" y="5076912"/>
            <a:ext cx="6744511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提高传输效率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8796" y="5373374"/>
            <a:ext cx="6732158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减少寻道时间，最大化顺序读写吞吐量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2036" y="5768657"/>
            <a:ext cx="6973033" cy="691745"/>
          </a:xfrm>
          <a:custGeom>
            <a:avLst/>
            <a:gdLst/>
            <a:ahLst/>
            <a:cxnLst/>
            <a:rect l="l" t="t" r="r" b="b"/>
            <a:pathLst>
              <a:path w="6973033" h="691745">
                <a:moveTo>
                  <a:pt x="37058" y="0"/>
                </a:moveTo>
                <a:lnTo>
                  <a:pt x="6923622" y="0"/>
                </a:lnTo>
                <a:cubicBezTo>
                  <a:pt x="6950911" y="0"/>
                  <a:pt x="6973033" y="22122"/>
                  <a:pt x="6973033" y="49411"/>
                </a:cubicBezTo>
                <a:lnTo>
                  <a:pt x="6973033" y="642333"/>
                </a:lnTo>
                <a:cubicBezTo>
                  <a:pt x="6973033" y="669622"/>
                  <a:pt x="6950911" y="691745"/>
                  <a:pt x="6923622" y="691745"/>
                </a:cubicBez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2036" y="5768657"/>
            <a:ext cx="37058" cy="691745"/>
          </a:xfrm>
          <a:custGeom>
            <a:avLst/>
            <a:gdLst/>
            <a:ahLst/>
            <a:cxnLst/>
            <a:rect l="l" t="t" r="r" b="b"/>
            <a:pathLst>
              <a:path w="37058" h="691745">
                <a:moveTo>
                  <a:pt x="37058" y="0"/>
                </a:moveTo>
                <a:lnTo>
                  <a:pt x="37058" y="0"/>
                </a:lnTo>
                <a:lnTo>
                  <a:pt x="37058" y="691745"/>
                </a:lnTo>
                <a:lnTo>
                  <a:pt x="37058" y="691745"/>
                </a:lnTo>
                <a:cubicBezTo>
                  <a:pt x="16591" y="691745"/>
                  <a:pt x="0" y="675153"/>
                  <a:pt x="0" y="65468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38796" y="5867477"/>
            <a:ext cx="6744511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简化管理逻辑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796" y="6163939"/>
            <a:ext cx="6732158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固定块大小简化存储管理和调度策略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54903" y="2353167"/>
            <a:ext cx="7498018" cy="4360462"/>
          </a:xfrm>
          <a:custGeom>
            <a:avLst/>
            <a:gdLst/>
            <a:ahLst/>
            <a:cxnLst/>
            <a:rect l="l" t="t" r="r" b="b"/>
            <a:pathLst>
              <a:path w="7498018" h="4360462">
                <a:moveTo>
                  <a:pt x="98808" y="0"/>
                </a:moveTo>
                <a:lnTo>
                  <a:pt x="7399210" y="0"/>
                </a:lnTo>
                <a:cubicBezTo>
                  <a:pt x="7453780" y="0"/>
                  <a:pt x="7498018" y="44238"/>
                  <a:pt x="7498018" y="98808"/>
                </a:cubicBezTo>
                <a:lnTo>
                  <a:pt x="7498018" y="4261654"/>
                </a:lnTo>
                <a:cubicBezTo>
                  <a:pt x="7498018" y="4316224"/>
                  <a:pt x="7453780" y="4360462"/>
                  <a:pt x="7399210" y="4360462"/>
                </a:cubicBezTo>
                <a:lnTo>
                  <a:pt x="98808" y="4360462"/>
                </a:lnTo>
                <a:cubicBezTo>
                  <a:pt x="44238" y="4360462"/>
                  <a:pt x="0" y="4316224"/>
                  <a:pt x="0" y="4261654"/>
                </a:cubicBezTo>
                <a:lnTo>
                  <a:pt x="0" y="98808"/>
                </a:lnTo>
                <a:cubicBezTo>
                  <a:pt x="0" y="44274"/>
                  <a:pt x="44274" y="0"/>
                  <a:pt x="9880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45189" y="265580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277991" y="111173"/>
                </a:moveTo>
                <a:lnTo>
                  <a:pt x="282565" y="111173"/>
                </a:lnTo>
                <a:cubicBezTo>
                  <a:pt x="290266" y="111173"/>
                  <a:pt x="296462" y="104978"/>
                  <a:pt x="296462" y="97277"/>
                </a:cubicBezTo>
                <a:lnTo>
                  <a:pt x="296462" y="13897"/>
                </a:lnTo>
                <a:cubicBezTo>
                  <a:pt x="296462" y="8280"/>
                  <a:pt x="293104" y="3185"/>
                  <a:pt x="287892" y="1042"/>
                </a:cubicBezTo>
                <a:cubicBezTo>
                  <a:pt x="282681" y="-1100"/>
                  <a:pt x="276717" y="116"/>
                  <a:pt x="272722" y="4053"/>
                </a:cubicBezTo>
                <a:lnTo>
                  <a:pt x="242786" y="34047"/>
                </a:lnTo>
                <a:cubicBezTo>
                  <a:pt x="217135" y="12797"/>
                  <a:pt x="184131" y="0"/>
                  <a:pt x="148231" y="0"/>
                </a:cubicBezTo>
                <a:cubicBezTo>
                  <a:pt x="73536" y="0"/>
                  <a:pt x="11754" y="55239"/>
                  <a:pt x="1505" y="127097"/>
                </a:cubicBezTo>
                <a:cubicBezTo>
                  <a:pt x="58" y="137229"/>
                  <a:pt x="7064" y="146610"/>
                  <a:pt x="17197" y="148057"/>
                </a:cubicBezTo>
                <a:cubicBezTo>
                  <a:pt x="27330" y="149505"/>
                  <a:pt x="36710" y="142441"/>
                  <a:pt x="38158" y="132366"/>
                </a:cubicBezTo>
                <a:cubicBezTo>
                  <a:pt x="45859" y="78458"/>
                  <a:pt x="92239" y="37058"/>
                  <a:pt x="148231" y="37058"/>
                </a:cubicBezTo>
                <a:cubicBezTo>
                  <a:pt x="173940" y="37058"/>
                  <a:pt x="197564" y="45743"/>
                  <a:pt x="216383" y="60393"/>
                </a:cubicBezTo>
                <a:lnTo>
                  <a:pt x="189342" y="87433"/>
                </a:lnTo>
                <a:cubicBezTo>
                  <a:pt x="185347" y="91428"/>
                  <a:pt x="184189" y="97392"/>
                  <a:pt x="186331" y="102604"/>
                </a:cubicBezTo>
                <a:cubicBezTo>
                  <a:pt x="188473" y="107815"/>
                  <a:pt x="193569" y="111173"/>
                  <a:pt x="199185" y="111173"/>
                </a:cubicBezTo>
                <a:lnTo>
                  <a:pt x="277991" y="111173"/>
                </a:lnTo>
                <a:close/>
                <a:moveTo>
                  <a:pt x="295014" y="169366"/>
                </a:moveTo>
                <a:cubicBezTo>
                  <a:pt x="296462" y="159233"/>
                  <a:pt x="289398" y="149852"/>
                  <a:pt x="279323" y="148405"/>
                </a:cubicBezTo>
                <a:cubicBezTo>
                  <a:pt x="269248" y="146957"/>
                  <a:pt x="259810" y="154021"/>
                  <a:pt x="258362" y="164096"/>
                </a:cubicBezTo>
                <a:cubicBezTo>
                  <a:pt x="250661" y="217946"/>
                  <a:pt x="204281" y="259346"/>
                  <a:pt x="148289" y="259346"/>
                </a:cubicBezTo>
                <a:cubicBezTo>
                  <a:pt x="122580" y="259346"/>
                  <a:pt x="98956" y="250661"/>
                  <a:pt x="80137" y="236012"/>
                </a:cubicBezTo>
                <a:lnTo>
                  <a:pt x="107120" y="209029"/>
                </a:lnTo>
                <a:cubicBezTo>
                  <a:pt x="111115" y="205034"/>
                  <a:pt x="112273" y="199070"/>
                  <a:pt x="110131" y="193858"/>
                </a:cubicBezTo>
                <a:cubicBezTo>
                  <a:pt x="107989" y="188647"/>
                  <a:pt x="102893" y="185289"/>
                  <a:pt x="97277" y="185289"/>
                </a:cubicBezTo>
                <a:lnTo>
                  <a:pt x="13897" y="185289"/>
                </a:lnTo>
                <a:cubicBezTo>
                  <a:pt x="6196" y="185289"/>
                  <a:pt x="0" y="191484"/>
                  <a:pt x="0" y="199185"/>
                </a:cubicBezTo>
                <a:lnTo>
                  <a:pt x="0" y="282565"/>
                </a:lnTo>
                <a:cubicBezTo>
                  <a:pt x="0" y="288182"/>
                  <a:pt x="3358" y="293277"/>
                  <a:pt x="8570" y="295420"/>
                </a:cubicBezTo>
                <a:cubicBezTo>
                  <a:pt x="13781" y="297562"/>
                  <a:pt x="19745" y="296346"/>
                  <a:pt x="23740" y="292409"/>
                </a:cubicBezTo>
                <a:lnTo>
                  <a:pt x="53734" y="262415"/>
                </a:lnTo>
                <a:cubicBezTo>
                  <a:pt x="79327" y="283666"/>
                  <a:pt x="112331" y="296462"/>
                  <a:pt x="148231" y="296462"/>
                </a:cubicBezTo>
                <a:cubicBezTo>
                  <a:pt x="222926" y="296462"/>
                  <a:pt x="284708" y="241223"/>
                  <a:pt x="294957" y="16936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78709" y="2606395"/>
            <a:ext cx="6769216" cy="395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块状态管理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76779" y="3205495"/>
            <a:ext cx="778213" cy="778213"/>
          </a:xfrm>
          <a:custGeom>
            <a:avLst/>
            <a:gdLst/>
            <a:ahLst/>
            <a:cxnLst/>
            <a:rect l="l" t="t" r="r" b="b"/>
            <a:pathLst>
              <a:path w="778213" h="778213">
                <a:moveTo>
                  <a:pt x="98817" y="0"/>
                </a:moveTo>
                <a:lnTo>
                  <a:pt x="679395" y="0"/>
                </a:lnTo>
                <a:cubicBezTo>
                  <a:pt x="733971" y="0"/>
                  <a:pt x="778213" y="44242"/>
                  <a:pt x="778213" y="98817"/>
                </a:cubicBezTo>
                <a:lnTo>
                  <a:pt x="778213" y="679395"/>
                </a:lnTo>
                <a:cubicBezTo>
                  <a:pt x="778213" y="733971"/>
                  <a:pt x="733971" y="778213"/>
                  <a:pt x="679395" y="778213"/>
                </a:cubicBezTo>
                <a:lnTo>
                  <a:pt x="98817" y="778213"/>
                </a:lnTo>
                <a:cubicBezTo>
                  <a:pt x="44242" y="778213"/>
                  <a:pt x="0" y="733971"/>
                  <a:pt x="0" y="679395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173241" y="3471076"/>
            <a:ext cx="185289" cy="247052"/>
          </a:xfrm>
          <a:custGeom>
            <a:avLst/>
            <a:gdLst/>
            <a:ahLst/>
            <a:cxnLst/>
            <a:rect l="l" t="t" r="r" b="b"/>
            <a:pathLst>
              <a:path w="185289" h="247052">
                <a:moveTo>
                  <a:pt x="30881" y="0"/>
                </a:moveTo>
                <a:cubicBezTo>
                  <a:pt x="13848" y="0"/>
                  <a:pt x="0" y="13848"/>
                  <a:pt x="0" y="30881"/>
                </a:cubicBezTo>
                <a:lnTo>
                  <a:pt x="0" y="216170"/>
                </a:lnTo>
                <a:cubicBezTo>
                  <a:pt x="0" y="233203"/>
                  <a:pt x="13848" y="247052"/>
                  <a:pt x="30881" y="247052"/>
                </a:cubicBezTo>
                <a:lnTo>
                  <a:pt x="154407" y="247052"/>
                </a:lnTo>
                <a:cubicBezTo>
                  <a:pt x="171440" y="247052"/>
                  <a:pt x="185289" y="233203"/>
                  <a:pt x="185289" y="216170"/>
                </a:cubicBezTo>
                <a:lnTo>
                  <a:pt x="185289" y="82270"/>
                </a:lnTo>
                <a:cubicBezTo>
                  <a:pt x="185289" y="74067"/>
                  <a:pt x="182056" y="66202"/>
                  <a:pt x="176266" y="60412"/>
                </a:cubicBezTo>
                <a:lnTo>
                  <a:pt x="124829" y="9023"/>
                </a:lnTo>
                <a:cubicBezTo>
                  <a:pt x="119038" y="3233"/>
                  <a:pt x="111222" y="0"/>
                  <a:pt x="103019" y="0"/>
                </a:cubicBezTo>
                <a:lnTo>
                  <a:pt x="30881" y="0"/>
                </a:lnTo>
                <a:close/>
                <a:moveTo>
                  <a:pt x="157061" y="84924"/>
                </a:moveTo>
                <a:lnTo>
                  <a:pt x="111945" y="84924"/>
                </a:lnTo>
                <a:cubicBezTo>
                  <a:pt x="105528" y="84924"/>
                  <a:pt x="100365" y="79761"/>
                  <a:pt x="100365" y="73343"/>
                </a:cubicBezTo>
                <a:lnTo>
                  <a:pt x="100365" y="28228"/>
                </a:lnTo>
                <a:lnTo>
                  <a:pt x="157061" y="84924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64897" y="408870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71074" y="4385167"/>
            <a:ext cx="1593483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临时状态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54617" y="3767538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242516" y="134431"/>
                </a:moveTo>
                <a:cubicBezTo>
                  <a:pt x="248547" y="128399"/>
                  <a:pt x="248547" y="118604"/>
                  <a:pt x="242516" y="112573"/>
                </a:cubicBezTo>
                <a:lnTo>
                  <a:pt x="165312" y="35369"/>
                </a:lnTo>
                <a:cubicBezTo>
                  <a:pt x="159281" y="29337"/>
                  <a:pt x="149486" y="29337"/>
                  <a:pt x="143454" y="35369"/>
                </a:cubicBezTo>
                <a:cubicBezTo>
                  <a:pt x="137422" y="41400"/>
                  <a:pt x="137422" y="51196"/>
                  <a:pt x="143454" y="57227"/>
                </a:cubicBezTo>
                <a:lnTo>
                  <a:pt x="194312" y="108085"/>
                </a:lnTo>
                <a:lnTo>
                  <a:pt x="15441" y="108085"/>
                </a:lnTo>
                <a:cubicBezTo>
                  <a:pt x="6900" y="108085"/>
                  <a:pt x="0" y="114985"/>
                  <a:pt x="0" y="123526"/>
                </a:cubicBezTo>
                <a:cubicBezTo>
                  <a:pt x="0" y="132066"/>
                  <a:pt x="6900" y="138967"/>
                  <a:pt x="15441" y="138967"/>
                </a:cubicBezTo>
                <a:lnTo>
                  <a:pt x="194312" y="138967"/>
                </a:lnTo>
                <a:lnTo>
                  <a:pt x="143454" y="189824"/>
                </a:lnTo>
                <a:cubicBezTo>
                  <a:pt x="137422" y="195856"/>
                  <a:pt x="137422" y="205651"/>
                  <a:pt x="143454" y="211683"/>
                </a:cubicBezTo>
                <a:cubicBezTo>
                  <a:pt x="149486" y="217714"/>
                  <a:pt x="159281" y="217714"/>
                  <a:pt x="165312" y="211683"/>
                </a:cubicBezTo>
                <a:lnTo>
                  <a:pt x="242516" y="13447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701198" y="3205495"/>
            <a:ext cx="778213" cy="778213"/>
          </a:xfrm>
          <a:custGeom>
            <a:avLst/>
            <a:gdLst/>
            <a:ahLst/>
            <a:cxnLst/>
            <a:rect l="l" t="t" r="r" b="b"/>
            <a:pathLst>
              <a:path w="778213" h="778213">
                <a:moveTo>
                  <a:pt x="98817" y="0"/>
                </a:moveTo>
                <a:lnTo>
                  <a:pt x="679395" y="0"/>
                </a:lnTo>
                <a:cubicBezTo>
                  <a:pt x="733971" y="0"/>
                  <a:pt x="778213" y="44242"/>
                  <a:pt x="778213" y="98817"/>
                </a:cubicBezTo>
                <a:lnTo>
                  <a:pt x="778213" y="679395"/>
                </a:lnTo>
                <a:cubicBezTo>
                  <a:pt x="778213" y="733971"/>
                  <a:pt x="733971" y="778213"/>
                  <a:pt x="679395" y="778213"/>
                </a:cubicBezTo>
                <a:lnTo>
                  <a:pt x="98817" y="778213"/>
                </a:lnTo>
                <a:cubicBezTo>
                  <a:pt x="44242" y="778213"/>
                  <a:pt x="0" y="733971"/>
                  <a:pt x="0" y="679395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966778" y="3471076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227558" y="10471"/>
                </a:moveTo>
                <a:cubicBezTo>
                  <a:pt x="216991" y="-97"/>
                  <a:pt x="199909" y="-97"/>
                  <a:pt x="189342" y="10471"/>
                </a:cubicBezTo>
                <a:lnTo>
                  <a:pt x="177568" y="22244"/>
                </a:lnTo>
                <a:lnTo>
                  <a:pt x="224807" y="69483"/>
                </a:lnTo>
                <a:lnTo>
                  <a:pt x="236581" y="57710"/>
                </a:lnTo>
                <a:cubicBezTo>
                  <a:pt x="247148" y="47142"/>
                  <a:pt x="247148" y="30061"/>
                  <a:pt x="236581" y="19494"/>
                </a:cubicBezTo>
                <a:lnTo>
                  <a:pt x="227558" y="10471"/>
                </a:lnTo>
                <a:close/>
                <a:moveTo>
                  <a:pt x="83187" y="116626"/>
                </a:moveTo>
                <a:cubicBezTo>
                  <a:pt x="80244" y="119569"/>
                  <a:pt x="77976" y="123188"/>
                  <a:pt x="76673" y="127193"/>
                </a:cubicBezTo>
                <a:lnTo>
                  <a:pt x="62390" y="170041"/>
                </a:lnTo>
                <a:cubicBezTo>
                  <a:pt x="60991" y="174191"/>
                  <a:pt x="62101" y="178775"/>
                  <a:pt x="65189" y="181911"/>
                </a:cubicBezTo>
                <a:cubicBezTo>
                  <a:pt x="68277" y="185047"/>
                  <a:pt x="72861" y="186109"/>
                  <a:pt x="77059" y="184710"/>
                </a:cubicBezTo>
                <a:lnTo>
                  <a:pt x="119907" y="170427"/>
                </a:lnTo>
                <a:cubicBezTo>
                  <a:pt x="123864" y="169124"/>
                  <a:pt x="127483" y="166856"/>
                  <a:pt x="130474" y="163913"/>
                </a:cubicBezTo>
                <a:lnTo>
                  <a:pt x="208450" y="85841"/>
                </a:lnTo>
                <a:lnTo>
                  <a:pt x="161211" y="38602"/>
                </a:lnTo>
                <a:lnTo>
                  <a:pt x="83187" y="116626"/>
                </a:lnTo>
                <a:close/>
                <a:moveTo>
                  <a:pt x="46322" y="30881"/>
                </a:moveTo>
                <a:cubicBezTo>
                  <a:pt x="20748" y="30881"/>
                  <a:pt x="0" y="51630"/>
                  <a:pt x="0" y="77204"/>
                </a:cubicBezTo>
                <a:lnTo>
                  <a:pt x="0" y="200729"/>
                </a:lnTo>
                <a:cubicBezTo>
                  <a:pt x="0" y="226303"/>
                  <a:pt x="20748" y="247052"/>
                  <a:pt x="46322" y="247052"/>
                </a:cubicBezTo>
                <a:lnTo>
                  <a:pt x="169848" y="247052"/>
                </a:lnTo>
                <a:cubicBezTo>
                  <a:pt x="195422" y="247052"/>
                  <a:pt x="216170" y="226303"/>
                  <a:pt x="216170" y="200729"/>
                </a:cubicBezTo>
                <a:lnTo>
                  <a:pt x="216170" y="154407"/>
                </a:lnTo>
                <a:cubicBezTo>
                  <a:pt x="216170" y="145867"/>
                  <a:pt x="209270" y="138967"/>
                  <a:pt x="200729" y="138967"/>
                </a:cubicBezTo>
                <a:cubicBezTo>
                  <a:pt x="192189" y="138967"/>
                  <a:pt x="185289" y="145867"/>
                  <a:pt x="185289" y="154407"/>
                </a:cubicBezTo>
                <a:lnTo>
                  <a:pt x="185289" y="200729"/>
                </a:lnTo>
                <a:cubicBezTo>
                  <a:pt x="185289" y="209270"/>
                  <a:pt x="178389" y="216170"/>
                  <a:pt x="169848" y="216170"/>
                </a:cubicBezTo>
                <a:lnTo>
                  <a:pt x="46322" y="216170"/>
                </a:lnTo>
                <a:cubicBezTo>
                  <a:pt x="37782" y="216170"/>
                  <a:pt x="30881" y="209270"/>
                  <a:pt x="30881" y="200729"/>
                </a:cubicBezTo>
                <a:lnTo>
                  <a:pt x="30881" y="77204"/>
                </a:lnTo>
                <a:cubicBezTo>
                  <a:pt x="30881" y="68663"/>
                  <a:pt x="37782" y="61763"/>
                  <a:pt x="46322" y="61763"/>
                </a:cubicBezTo>
                <a:lnTo>
                  <a:pt x="92644" y="61763"/>
                </a:lnTo>
                <a:cubicBezTo>
                  <a:pt x="101185" y="61763"/>
                  <a:pt x="108085" y="54863"/>
                  <a:pt x="108085" y="46322"/>
                </a:cubicBezTo>
                <a:cubicBezTo>
                  <a:pt x="108085" y="37782"/>
                  <a:pt x="101185" y="30881"/>
                  <a:pt x="92644" y="30881"/>
                </a:cubicBezTo>
                <a:lnTo>
                  <a:pt x="46322" y="30881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289316" y="408870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95492" y="4385167"/>
            <a:ext cx="1593483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879036" y="3767538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242516" y="134431"/>
                </a:moveTo>
                <a:cubicBezTo>
                  <a:pt x="248547" y="128399"/>
                  <a:pt x="248547" y="118604"/>
                  <a:pt x="242516" y="112573"/>
                </a:cubicBezTo>
                <a:lnTo>
                  <a:pt x="165312" y="35369"/>
                </a:lnTo>
                <a:cubicBezTo>
                  <a:pt x="159281" y="29337"/>
                  <a:pt x="149486" y="29337"/>
                  <a:pt x="143454" y="35369"/>
                </a:cubicBezTo>
                <a:cubicBezTo>
                  <a:pt x="137422" y="41400"/>
                  <a:pt x="137422" y="51196"/>
                  <a:pt x="143454" y="57227"/>
                </a:cubicBezTo>
                <a:lnTo>
                  <a:pt x="194312" y="108085"/>
                </a:lnTo>
                <a:lnTo>
                  <a:pt x="15441" y="108085"/>
                </a:lnTo>
                <a:cubicBezTo>
                  <a:pt x="6900" y="108085"/>
                  <a:pt x="0" y="114985"/>
                  <a:pt x="0" y="123526"/>
                </a:cubicBezTo>
                <a:cubicBezTo>
                  <a:pt x="0" y="132066"/>
                  <a:pt x="6900" y="138967"/>
                  <a:pt x="15441" y="138967"/>
                </a:cubicBezTo>
                <a:lnTo>
                  <a:pt x="194312" y="138967"/>
                </a:lnTo>
                <a:lnTo>
                  <a:pt x="143454" y="189824"/>
                </a:lnTo>
                <a:cubicBezTo>
                  <a:pt x="137422" y="195856"/>
                  <a:pt x="137422" y="205651"/>
                  <a:pt x="143454" y="211683"/>
                </a:cubicBezTo>
                <a:cubicBezTo>
                  <a:pt x="149486" y="217714"/>
                  <a:pt x="159281" y="217714"/>
                  <a:pt x="165312" y="211683"/>
                </a:cubicBezTo>
                <a:lnTo>
                  <a:pt x="242516" y="13447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2525616" y="3205495"/>
            <a:ext cx="778213" cy="778213"/>
          </a:xfrm>
          <a:custGeom>
            <a:avLst/>
            <a:gdLst/>
            <a:ahLst/>
            <a:cxnLst/>
            <a:rect l="l" t="t" r="r" b="b"/>
            <a:pathLst>
              <a:path w="778213" h="778213">
                <a:moveTo>
                  <a:pt x="98817" y="0"/>
                </a:moveTo>
                <a:lnTo>
                  <a:pt x="679395" y="0"/>
                </a:lnTo>
                <a:cubicBezTo>
                  <a:pt x="733971" y="0"/>
                  <a:pt x="778213" y="44242"/>
                  <a:pt x="778213" y="98817"/>
                </a:cubicBezTo>
                <a:lnTo>
                  <a:pt x="778213" y="679395"/>
                </a:lnTo>
                <a:cubicBezTo>
                  <a:pt x="778213" y="733971"/>
                  <a:pt x="733971" y="778213"/>
                  <a:pt x="679395" y="778213"/>
                </a:cubicBezTo>
                <a:lnTo>
                  <a:pt x="98817" y="778213"/>
                </a:lnTo>
                <a:cubicBezTo>
                  <a:pt x="44242" y="778213"/>
                  <a:pt x="0" y="733971"/>
                  <a:pt x="0" y="679395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2791197" y="3471076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123526" y="247052"/>
                </a:moveTo>
                <a:cubicBezTo>
                  <a:pt x="191702" y="247052"/>
                  <a:pt x="247052" y="191702"/>
                  <a:pt x="247052" y="123526"/>
                </a:cubicBezTo>
                <a:cubicBezTo>
                  <a:pt x="247052" y="55350"/>
                  <a:pt x="191702" y="0"/>
                  <a:pt x="123526" y="0"/>
                </a:cubicBezTo>
                <a:cubicBezTo>
                  <a:pt x="55350" y="0"/>
                  <a:pt x="0" y="55350"/>
                  <a:pt x="0" y="123526"/>
                </a:cubicBezTo>
                <a:cubicBezTo>
                  <a:pt x="0" y="191702"/>
                  <a:pt x="55350" y="247052"/>
                  <a:pt x="123526" y="247052"/>
                </a:cubicBezTo>
                <a:close/>
                <a:moveTo>
                  <a:pt x="164251" y="102633"/>
                </a:moveTo>
                <a:lnTo>
                  <a:pt x="125649" y="164396"/>
                </a:lnTo>
                <a:cubicBezTo>
                  <a:pt x="123622" y="167628"/>
                  <a:pt x="120148" y="169655"/>
                  <a:pt x="116336" y="169848"/>
                </a:cubicBezTo>
                <a:cubicBezTo>
                  <a:pt x="112524" y="170041"/>
                  <a:pt x="108857" y="168304"/>
                  <a:pt x="106589" y="165216"/>
                </a:cubicBezTo>
                <a:lnTo>
                  <a:pt x="83428" y="134334"/>
                </a:lnTo>
                <a:cubicBezTo>
                  <a:pt x="79568" y="129220"/>
                  <a:pt x="80630" y="121982"/>
                  <a:pt x="85744" y="118122"/>
                </a:cubicBezTo>
                <a:cubicBezTo>
                  <a:pt x="90859" y="114261"/>
                  <a:pt x="98097" y="115323"/>
                  <a:pt x="101957" y="120438"/>
                </a:cubicBezTo>
                <a:lnTo>
                  <a:pt x="114985" y="137809"/>
                </a:lnTo>
                <a:lnTo>
                  <a:pt x="144612" y="90377"/>
                </a:lnTo>
                <a:cubicBezTo>
                  <a:pt x="147990" y="84972"/>
                  <a:pt x="155131" y="83283"/>
                  <a:pt x="160584" y="86709"/>
                </a:cubicBezTo>
                <a:cubicBezTo>
                  <a:pt x="166036" y="90135"/>
                  <a:pt x="167677" y="97228"/>
                  <a:pt x="164251" y="102681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113735" y="408870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FINALIZED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119911" y="4385167"/>
            <a:ext cx="1593483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703454" y="3767538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242516" y="134431"/>
                </a:moveTo>
                <a:cubicBezTo>
                  <a:pt x="248547" y="128399"/>
                  <a:pt x="248547" y="118604"/>
                  <a:pt x="242516" y="112573"/>
                </a:cubicBezTo>
                <a:lnTo>
                  <a:pt x="165312" y="35369"/>
                </a:lnTo>
                <a:cubicBezTo>
                  <a:pt x="159281" y="29337"/>
                  <a:pt x="149486" y="29337"/>
                  <a:pt x="143454" y="35369"/>
                </a:cubicBezTo>
                <a:cubicBezTo>
                  <a:pt x="137422" y="41400"/>
                  <a:pt x="137422" y="51196"/>
                  <a:pt x="143454" y="57227"/>
                </a:cubicBezTo>
                <a:lnTo>
                  <a:pt x="194312" y="108085"/>
                </a:lnTo>
                <a:lnTo>
                  <a:pt x="15441" y="108085"/>
                </a:lnTo>
                <a:cubicBezTo>
                  <a:pt x="6900" y="108085"/>
                  <a:pt x="0" y="114985"/>
                  <a:pt x="0" y="123526"/>
                </a:cubicBezTo>
                <a:cubicBezTo>
                  <a:pt x="0" y="132066"/>
                  <a:pt x="6900" y="138967"/>
                  <a:pt x="15441" y="138967"/>
                </a:cubicBezTo>
                <a:lnTo>
                  <a:pt x="194312" y="138967"/>
                </a:lnTo>
                <a:lnTo>
                  <a:pt x="143454" y="189824"/>
                </a:lnTo>
                <a:cubicBezTo>
                  <a:pt x="137422" y="195856"/>
                  <a:pt x="137422" y="205651"/>
                  <a:pt x="143454" y="211683"/>
                </a:cubicBezTo>
                <a:cubicBezTo>
                  <a:pt x="149486" y="217714"/>
                  <a:pt x="159281" y="217714"/>
                  <a:pt x="165312" y="211683"/>
                </a:cubicBezTo>
                <a:lnTo>
                  <a:pt x="242516" y="134479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4350035" y="3205495"/>
            <a:ext cx="778213" cy="778213"/>
          </a:xfrm>
          <a:custGeom>
            <a:avLst/>
            <a:gdLst/>
            <a:ahLst/>
            <a:cxnLst/>
            <a:rect l="l" t="t" r="r" b="b"/>
            <a:pathLst>
              <a:path w="778213" h="778213">
                <a:moveTo>
                  <a:pt x="98817" y="0"/>
                </a:moveTo>
                <a:lnTo>
                  <a:pt x="679395" y="0"/>
                </a:lnTo>
                <a:cubicBezTo>
                  <a:pt x="733971" y="0"/>
                  <a:pt x="778213" y="44242"/>
                  <a:pt x="778213" y="98817"/>
                </a:cubicBezTo>
                <a:lnTo>
                  <a:pt x="778213" y="679395"/>
                </a:lnTo>
                <a:cubicBezTo>
                  <a:pt x="778213" y="733971"/>
                  <a:pt x="733971" y="778213"/>
                  <a:pt x="679395" y="778213"/>
                </a:cubicBezTo>
                <a:lnTo>
                  <a:pt x="98817" y="778213"/>
                </a:lnTo>
                <a:cubicBezTo>
                  <a:pt x="44242" y="778213"/>
                  <a:pt x="0" y="733971"/>
                  <a:pt x="0" y="679395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4631056" y="3471076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65961" y="2847"/>
                </a:moveTo>
                <a:lnTo>
                  <a:pt x="61763" y="15441"/>
                </a:lnTo>
                <a:lnTo>
                  <a:pt x="15441" y="15441"/>
                </a:lnTo>
                <a:cubicBezTo>
                  <a:pt x="6900" y="15441"/>
                  <a:pt x="0" y="22341"/>
                  <a:pt x="0" y="30881"/>
                </a:cubicBezTo>
                <a:cubicBezTo>
                  <a:pt x="0" y="39422"/>
                  <a:pt x="6900" y="46322"/>
                  <a:pt x="15441" y="46322"/>
                </a:cubicBezTo>
                <a:lnTo>
                  <a:pt x="200729" y="46322"/>
                </a:lnTo>
                <a:cubicBezTo>
                  <a:pt x="209270" y="46322"/>
                  <a:pt x="216170" y="39422"/>
                  <a:pt x="216170" y="30881"/>
                </a:cubicBezTo>
                <a:cubicBezTo>
                  <a:pt x="216170" y="22341"/>
                  <a:pt x="209270" y="15441"/>
                  <a:pt x="200729" y="15441"/>
                </a:cubicBezTo>
                <a:lnTo>
                  <a:pt x="154407" y="15441"/>
                </a:lnTo>
                <a:lnTo>
                  <a:pt x="150209" y="2847"/>
                </a:lnTo>
                <a:cubicBezTo>
                  <a:pt x="148086" y="-3474"/>
                  <a:pt x="142199" y="-7720"/>
                  <a:pt x="135541" y="-7720"/>
                </a:cubicBezTo>
                <a:lnTo>
                  <a:pt x="80630" y="-7720"/>
                </a:lnTo>
                <a:cubicBezTo>
                  <a:pt x="73971" y="-7720"/>
                  <a:pt x="68084" y="-3474"/>
                  <a:pt x="65961" y="2847"/>
                </a:cubicBezTo>
                <a:close/>
                <a:moveTo>
                  <a:pt x="200729" y="69483"/>
                </a:moveTo>
                <a:lnTo>
                  <a:pt x="15441" y="69483"/>
                </a:lnTo>
                <a:lnTo>
                  <a:pt x="25622" y="225386"/>
                </a:lnTo>
                <a:cubicBezTo>
                  <a:pt x="26394" y="237594"/>
                  <a:pt x="36527" y="247052"/>
                  <a:pt x="48735" y="247052"/>
                </a:cubicBezTo>
                <a:lnTo>
                  <a:pt x="167435" y="247052"/>
                </a:lnTo>
                <a:cubicBezTo>
                  <a:pt x="179643" y="247052"/>
                  <a:pt x="189776" y="237594"/>
                  <a:pt x="190548" y="225386"/>
                </a:cubicBezTo>
                <a:lnTo>
                  <a:pt x="200729" y="69483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938153" y="408870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INVALIDATED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944330" y="4385167"/>
            <a:ext cx="1593483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待删除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08131" y="4879271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05773" y="4780450"/>
            <a:ext cx="395282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TEMPORARY → RBW: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客户端开始写入数据时触发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08131" y="5225143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705773" y="5126322"/>
            <a:ext cx="428634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RBW → FINALIZED: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客户端完成写入并关闭文件时触发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08131" y="5571015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705773" y="5472195"/>
            <a:ext cx="524984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FINALIZED → INVALIDATED: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NameNode 决定删除多余副本时触发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0280" y="6923623"/>
            <a:ext cx="15255441" cy="1717009"/>
          </a:xfrm>
          <a:custGeom>
            <a:avLst/>
            <a:gdLst/>
            <a:ahLst/>
            <a:cxnLst/>
            <a:rect l="l" t="t" r="r" b="b"/>
            <a:pathLst>
              <a:path w="15255441" h="1717009">
                <a:moveTo>
                  <a:pt x="98814" y="0"/>
                </a:moveTo>
                <a:lnTo>
                  <a:pt x="15156627" y="0"/>
                </a:lnTo>
                <a:cubicBezTo>
                  <a:pt x="15211200" y="0"/>
                  <a:pt x="15255441" y="44240"/>
                  <a:pt x="15255441" y="98814"/>
                </a:cubicBezTo>
                <a:lnTo>
                  <a:pt x="15255441" y="1618195"/>
                </a:lnTo>
                <a:cubicBezTo>
                  <a:pt x="15255441" y="1672769"/>
                  <a:pt x="15211200" y="1717009"/>
                  <a:pt x="15156627" y="1717009"/>
                </a:cubicBezTo>
                <a:lnTo>
                  <a:pt x="98814" y="1717009"/>
                </a:lnTo>
                <a:cubicBezTo>
                  <a:pt x="44240" y="1717009"/>
                  <a:pt x="0" y="1672769"/>
                  <a:pt x="0" y="1618195"/>
                </a:cubicBezTo>
                <a:lnTo>
                  <a:pt x="0" y="98814"/>
                </a:lnTo>
                <a:cubicBezTo>
                  <a:pt x="0" y="44277"/>
                  <a:pt x="44277" y="0"/>
                  <a:pt x="9881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78213" y="7176851"/>
            <a:ext cx="222347" cy="296462"/>
          </a:xfrm>
          <a:custGeom>
            <a:avLst/>
            <a:gdLst/>
            <a:ahLst/>
            <a:cxnLst/>
            <a:rect l="l" t="t" r="r" b="b"/>
            <a:pathLst>
              <a:path w="222347" h="296462">
                <a:moveTo>
                  <a:pt x="37058" y="0"/>
                </a:moveTo>
                <a:cubicBezTo>
                  <a:pt x="16618" y="0"/>
                  <a:pt x="0" y="16618"/>
                  <a:pt x="0" y="37058"/>
                </a:cubicBezTo>
                <a:lnTo>
                  <a:pt x="0" y="259404"/>
                </a:lnTo>
                <a:cubicBezTo>
                  <a:pt x="0" y="279844"/>
                  <a:pt x="16618" y="296462"/>
                  <a:pt x="37058" y="296462"/>
                </a:cubicBezTo>
                <a:lnTo>
                  <a:pt x="185289" y="296462"/>
                </a:lnTo>
                <a:cubicBezTo>
                  <a:pt x="205728" y="296462"/>
                  <a:pt x="222347" y="279844"/>
                  <a:pt x="222347" y="259404"/>
                </a:cubicBezTo>
                <a:lnTo>
                  <a:pt x="222347" y="37058"/>
                </a:lnTo>
                <a:cubicBezTo>
                  <a:pt x="222347" y="16618"/>
                  <a:pt x="205728" y="0"/>
                  <a:pt x="185289" y="0"/>
                </a:cubicBezTo>
                <a:lnTo>
                  <a:pt x="37058" y="0"/>
                </a:lnTo>
                <a:close/>
                <a:moveTo>
                  <a:pt x="55587" y="37058"/>
                </a:moveTo>
                <a:lnTo>
                  <a:pt x="166760" y="37058"/>
                </a:lnTo>
                <a:cubicBezTo>
                  <a:pt x="177009" y="37058"/>
                  <a:pt x="185289" y="45338"/>
                  <a:pt x="185289" y="55587"/>
                </a:cubicBezTo>
                <a:lnTo>
                  <a:pt x="185289" y="74116"/>
                </a:lnTo>
                <a:cubicBezTo>
                  <a:pt x="185289" y="84364"/>
                  <a:pt x="177009" y="92644"/>
                  <a:pt x="166760" y="92644"/>
                </a:cubicBezTo>
                <a:lnTo>
                  <a:pt x="55587" y="92644"/>
                </a:lnTo>
                <a:cubicBezTo>
                  <a:pt x="45338" y="92644"/>
                  <a:pt x="37058" y="84364"/>
                  <a:pt x="37058" y="74116"/>
                </a:cubicBezTo>
                <a:lnTo>
                  <a:pt x="37058" y="55587"/>
                </a:lnTo>
                <a:cubicBezTo>
                  <a:pt x="37058" y="45338"/>
                  <a:pt x="45338" y="37058"/>
                  <a:pt x="55587" y="37058"/>
                </a:cubicBezTo>
                <a:close/>
                <a:moveTo>
                  <a:pt x="64851" y="134334"/>
                </a:moveTo>
                <a:cubicBezTo>
                  <a:pt x="64851" y="142004"/>
                  <a:pt x="58624" y="148231"/>
                  <a:pt x="50954" y="148231"/>
                </a:cubicBezTo>
                <a:cubicBezTo>
                  <a:pt x="43285" y="148231"/>
                  <a:pt x="37058" y="142004"/>
                  <a:pt x="37058" y="134334"/>
                </a:cubicBezTo>
                <a:cubicBezTo>
                  <a:pt x="37058" y="126665"/>
                  <a:pt x="43285" y="120438"/>
                  <a:pt x="50954" y="120438"/>
                </a:cubicBezTo>
                <a:cubicBezTo>
                  <a:pt x="58624" y="120438"/>
                  <a:pt x="64851" y="126665"/>
                  <a:pt x="64851" y="134334"/>
                </a:cubicBezTo>
                <a:close/>
                <a:moveTo>
                  <a:pt x="111173" y="148231"/>
                </a:moveTo>
                <a:cubicBezTo>
                  <a:pt x="103503" y="148231"/>
                  <a:pt x="97277" y="142004"/>
                  <a:pt x="97277" y="134334"/>
                </a:cubicBezTo>
                <a:cubicBezTo>
                  <a:pt x="97277" y="126665"/>
                  <a:pt x="103503" y="120438"/>
                  <a:pt x="111173" y="120438"/>
                </a:cubicBezTo>
                <a:cubicBezTo>
                  <a:pt x="118843" y="120438"/>
                  <a:pt x="125070" y="126665"/>
                  <a:pt x="125070" y="134334"/>
                </a:cubicBezTo>
                <a:cubicBezTo>
                  <a:pt x="125070" y="142004"/>
                  <a:pt x="118843" y="148231"/>
                  <a:pt x="111173" y="148231"/>
                </a:cubicBezTo>
                <a:close/>
                <a:moveTo>
                  <a:pt x="185289" y="134334"/>
                </a:moveTo>
                <a:cubicBezTo>
                  <a:pt x="185289" y="142004"/>
                  <a:pt x="179062" y="148231"/>
                  <a:pt x="171392" y="148231"/>
                </a:cubicBezTo>
                <a:cubicBezTo>
                  <a:pt x="163722" y="148231"/>
                  <a:pt x="157495" y="142004"/>
                  <a:pt x="157495" y="134334"/>
                </a:cubicBezTo>
                <a:cubicBezTo>
                  <a:pt x="157495" y="126665"/>
                  <a:pt x="163722" y="120438"/>
                  <a:pt x="171392" y="120438"/>
                </a:cubicBezTo>
                <a:cubicBezTo>
                  <a:pt x="179062" y="120438"/>
                  <a:pt x="185289" y="126665"/>
                  <a:pt x="185289" y="134334"/>
                </a:cubicBezTo>
                <a:close/>
                <a:moveTo>
                  <a:pt x="50954" y="203818"/>
                </a:moveTo>
                <a:cubicBezTo>
                  <a:pt x="43285" y="203818"/>
                  <a:pt x="37058" y="197591"/>
                  <a:pt x="37058" y="189921"/>
                </a:cubicBezTo>
                <a:cubicBezTo>
                  <a:pt x="37058" y="182251"/>
                  <a:pt x="43285" y="176024"/>
                  <a:pt x="50954" y="176024"/>
                </a:cubicBezTo>
                <a:cubicBezTo>
                  <a:pt x="58624" y="176024"/>
                  <a:pt x="64851" y="182251"/>
                  <a:pt x="64851" y="189921"/>
                </a:cubicBezTo>
                <a:cubicBezTo>
                  <a:pt x="64851" y="197591"/>
                  <a:pt x="58624" y="203818"/>
                  <a:pt x="50954" y="203818"/>
                </a:cubicBezTo>
                <a:close/>
                <a:moveTo>
                  <a:pt x="125070" y="189921"/>
                </a:moveTo>
                <a:cubicBezTo>
                  <a:pt x="125070" y="197591"/>
                  <a:pt x="118843" y="203818"/>
                  <a:pt x="111173" y="203818"/>
                </a:cubicBezTo>
                <a:cubicBezTo>
                  <a:pt x="103503" y="203818"/>
                  <a:pt x="97277" y="197591"/>
                  <a:pt x="97277" y="189921"/>
                </a:cubicBezTo>
                <a:cubicBezTo>
                  <a:pt x="97277" y="182251"/>
                  <a:pt x="103503" y="176024"/>
                  <a:pt x="111173" y="176024"/>
                </a:cubicBezTo>
                <a:cubicBezTo>
                  <a:pt x="118843" y="176024"/>
                  <a:pt x="125070" y="182251"/>
                  <a:pt x="125070" y="189921"/>
                </a:cubicBezTo>
                <a:close/>
                <a:moveTo>
                  <a:pt x="171392" y="203818"/>
                </a:moveTo>
                <a:cubicBezTo>
                  <a:pt x="163722" y="203818"/>
                  <a:pt x="157495" y="197591"/>
                  <a:pt x="157495" y="189921"/>
                </a:cubicBezTo>
                <a:cubicBezTo>
                  <a:pt x="157495" y="182251"/>
                  <a:pt x="163722" y="176024"/>
                  <a:pt x="171392" y="176024"/>
                </a:cubicBezTo>
                <a:cubicBezTo>
                  <a:pt x="179062" y="176024"/>
                  <a:pt x="185289" y="182251"/>
                  <a:pt x="185289" y="189921"/>
                </a:cubicBezTo>
                <a:cubicBezTo>
                  <a:pt x="185289" y="197591"/>
                  <a:pt x="179062" y="203818"/>
                  <a:pt x="171392" y="203818"/>
                </a:cubicBezTo>
                <a:close/>
                <a:moveTo>
                  <a:pt x="37058" y="245508"/>
                </a:moveTo>
                <a:cubicBezTo>
                  <a:pt x="37058" y="237807"/>
                  <a:pt x="43253" y="231611"/>
                  <a:pt x="50954" y="231611"/>
                </a:cubicBezTo>
                <a:lnTo>
                  <a:pt x="115805" y="231611"/>
                </a:lnTo>
                <a:cubicBezTo>
                  <a:pt x="123507" y="231611"/>
                  <a:pt x="129702" y="237807"/>
                  <a:pt x="129702" y="245508"/>
                </a:cubicBezTo>
                <a:cubicBezTo>
                  <a:pt x="129702" y="253209"/>
                  <a:pt x="123507" y="259404"/>
                  <a:pt x="115805" y="259404"/>
                </a:cubicBezTo>
                <a:lnTo>
                  <a:pt x="50954" y="259404"/>
                </a:lnTo>
                <a:cubicBezTo>
                  <a:pt x="43253" y="259404"/>
                  <a:pt x="37058" y="253209"/>
                  <a:pt x="37058" y="245508"/>
                </a:cubicBezTo>
                <a:close/>
                <a:moveTo>
                  <a:pt x="171392" y="231611"/>
                </a:moveTo>
                <a:cubicBezTo>
                  <a:pt x="179093" y="231611"/>
                  <a:pt x="185289" y="237807"/>
                  <a:pt x="185289" y="245508"/>
                </a:cubicBezTo>
                <a:cubicBezTo>
                  <a:pt x="185289" y="253209"/>
                  <a:pt x="179093" y="259404"/>
                  <a:pt x="171392" y="259404"/>
                </a:cubicBezTo>
                <a:cubicBezTo>
                  <a:pt x="163691" y="259404"/>
                  <a:pt x="157495" y="253209"/>
                  <a:pt x="157495" y="245508"/>
                </a:cubicBezTo>
                <a:cubicBezTo>
                  <a:pt x="157495" y="237807"/>
                  <a:pt x="163691" y="231611"/>
                  <a:pt x="171392" y="231611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72316" y="7127441"/>
            <a:ext cx="14390760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块大小设计计算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72316" y="7572134"/>
            <a:ext cx="14378407" cy="32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假设寻道时间为 10ms，传输速率为 100MB/s。为了使寻道时间占传输时间的 1%，需要：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72316" y="7992122"/>
            <a:ext cx="14279587" cy="444693"/>
          </a:xfrm>
          <a:custGeom>
            <a:avLst/>
            <a:gdLst/>
            <a:ahLst/>
            <a:cxnLst/>
            <a:rect l="l" t="t" r="r" b="b"/>
            <a:pathLst>
              <a:path w="14279587" h="444693">
                <a:moveTo>
                  <a:pt x="49410" y="0"/>
                </a:moveTo>
                <a:lnTo>
                  <a:pt x="14230177" y="0"/>
                </a:lnTo>
                <a:cubicBezTo>
                  <a:pt x="14257465" y="0"/>
                  <a:pt x="14279587" y="22122"/>
                  <a:pt x="14279587" y="49410"/>
                </a:cubicBezTo>
                <a:lnTo>
                  <a:pt x="14279587" y="395283"/>
                </a:lnTo>
                <a:cubicBezTo>
                  <a:pt x="14279587" y="422571"/>
                  <a:pt x="14257465" y="444693"/>
                  <a:pt x="14230177" y="444693"/>
                </a:cubicBezTo>
                <a:lnTo>
                  <a:pt x="49410" y="444693"/>
                </a:lnTo>
                <a:cubicBezTo>
                  <a:pt x="22122" y="444693"/>
                  <a:pt x="0" y="422571"/>
                  <a:pt x="0" y="395283"/>
                </a:cubicBezTo>
                <a:lnTo>
                  <a:pt x="0" y="49410"/>
                </a:lnTo>
                <a:cubicBezTo>
                  <a:pt x="0" y="22122"/>
                  <a:pt x="22122" y="0"/>
                  <a:pt x="494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72316" y="7992122"/>
            <a:ext cx="14366055" cy="444693"/>
          </a:xfrm>
          <a:prstGeom prst="rect">
            <a:avLst/>
          </a:prstGeom>
          <a:noFill/>
          <a:ln/>
        </p:spPr>
        <p:txBody>
          <a:bodyPr wrap="square" lIns="197641" tIns="98821" rIns="197641" bIns="98821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 = 寻道时间 / 占比 = 10ms / 0.01 = 1s 传输量 = 100MB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745" y="437745"/>
            <a:ext cx="2410298" cy="356681"/>
          </a:xfrm>
          <a:custGeom>
            <a:avLst/>
            <a:gdLst/>
            <a:ahLst/>
            <a:cxnLst/>
            <a:rect l="l" t="t" r="r" b="b"/>
            <a:pathLst>
              <a:path w="2410298" h="356681">
                <a:moveTo>
                  <a:pt x="178340" y="0"/>
                </a:moveTo>
                <a:lnTo>
                  <a:pt x="2231957" y="0"/>
                </a:lnTo>
                <a:cubicBezTo>
                  <a:pt x="2330452" y="0"/>
                  <a:pt x="2410298" y="79846"/>
                  <a:pt x="2410298" y="178340"/>
                </a:cubicBezTo>
                <a:lnTo>
                  <a:pt x="2410298" y="178340"/>
                </a:lnTo>
                <a:cubicBezTo>
                  <a:pt x="2410298" y="276835"/>
                  <a:pt x="2330452" y="356681"/>
                  <a:pt x="2231957" y="356681"/>
                </a:cubicBezTo>
                <a:lnTo>
                  <a:pt x="178340" y="356681"/>
                </a:lnTo>
                <a:cubicBezTo>
                  <a:pt x="79846" y="356681"/>
                  <a:pt x="0" y="276835"/>
                  <a:pt x="0" y="178340"/>
                </a:cubicBezTo>
                <a:lnTo>
                  <a:pt x="0" y="178340"/>
                </a:lnTo>
                <a:cubicBezTo>
                  <a:pt x="0" y="79846"/>
                  <a:pt x="79846" y="0"/>
                  <a:pt x="17834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6085" y="502596"/>
            <a:ext cx="2143969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b="1" kern="0" spc="13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REPLICA PLACEMENT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2340" y="929532"/>
            <a:ext cx="15650723" cy="51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85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机架感知副本放置策略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2340" y="1578043"/>
            <a:ext cx="15499404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三副本的机架感知放置策略与容错分析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745" y="2059021"/>
            <a:ext cx="7576766" cy="5155660"/>
          </a:xfrm>
          <a:custGeom>
            <a:avLst/>
            <a:gdLst/>
            <a:ahLst/>
            <a:cxnLst/>
            <a:rect l="l" t="t" r="r" b="b"/>
            <a:pathLst>
              <a:path w="7576766" h="5155660">
                <a:moveTo>
                  <a:pt x="86460" y="0"/>
                </a:moveTo>
                <a:lnTo>
                  <a:pt x="7490306" y="0"/>
                </a:lnTo>
                <a:cubicBezTo>
                  <a:pt x="7538056" y="0"/>
                  <a:pt x="7576766" y="38710"/>
                  <a:pt x="7576766" y="86460"/>
                </a:cubicBezTo>
                <a:lnTo>
                  <a:pt x="7576766" y="5069199"/>
                </a:lnTo>
                <a:cubicBezTo>
                  <a:pt x="7576766" y="5116950"/>
                  <a:pt x="7538056" y="5155660"/>
                  <a:pt x="7490306" y="5155660"/>
                </a:cubicBezTo>
                <a:lnTo>
                  <a:pt x="86460" y="5155660"/>
                </a:lnTo>
                <a:cubicBezTo>
                  <a:pt x="38710" y="5155660"/>
                  <a:pt x="0" y="5116950"/>
                  <a:pt x="0" y="5069199"/>
                </a:cubicBezTo>
                <a:lnTo>
                  <a:pt x="0" y="86460"/>
                </a:lnTo>
                <a:cubicBezTo>
                  <a:pt x="0" y="38742"/>
                  <a:pt x="38742" y="0"/>
                  <a:pt x="8646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6340" y="2323830"/>
            <a:ext cx="216170" cy="216170"/>
          </a:xfrm>
          <a:custGeom>
            <a:avLst/>
            <a:gdLst/>
            <a:ahLst/>
            <a:cxnLst/>
            <a:rect l="l" t="t" r="r" b="b"/>
            <a:pathLst>
              <a:path w="216170" h="216170">
                <a:moveTo>
                  <a:pt x="81064" y="27021"/>
                </a:moveTo>
                <a:cubicBezTo>
                  <a:pt x="81064" y="19548"/>
                  <a:pt x="87101" y="13511"/>
                  <a:pt x="94574" y="13511"/>
                </a:cubicBezTo>
                <a:lnTo>
                  <a:pt x="121596" y="13511"/>
                </a:lnTo>
                <a:cubicBezTo>
                  <a:pt x="129069" y="13511"/>
                  <a:pt x="135106" y="19548"/>
                  <a:pt x="135106" y="27021"/>
                </a:cubicBezTo>
                <a:lnTo>
                  <a:pt x="135106" y="54043"/>
                </a:lnTo>
                <a:cubicBezTo>
                  <a:pt x="135106" y="61516"/>
                  <a:pt x="129069" y="67553"/>
                  <a:pt x="121596" y="67553"/>
                </a:cubicBezTo>
                <a:lnTo>
                  <a:pt x="118218" y="67553"/>
                </a:lnTo>
                <a:lnTo>
                  <a:pt x="118218" y="94574"/>
                </a:lnTo>
                <a:lnTo>
                  <a:pt x="168883" y="94574"/>
                </a:lnTo>
                <a:cubicBezTo>
                  <a:pt x="185687" y="94574"/>
                  <a:pt x="199282" y="108170"/>
                  <a:pt x="199282" y="124973"/>
                </a:cubicBezTo>
                <a:lnTo>
                  <a:pt x="199282" y="148617"/>
                </a:lnTo>
                <a:lnTo>
                  <a:pt x="202660" y="148617"/>
                </a:lnTo>
                <a:cubicBezTo>
                  <a:pt x="210133" y="148617"/>
                  <a:pt x="216170" y="154655"/>
                  <a:pt x="216170" y="162128"/>
                </a:cubicBezTo>
                <a:lnTo>
                  <a:pt x="216170" y="189149"/>
                </a:lnTo>
                <a:cubicBezTo>
                  <a:pt x="216170" y="196622"/>
                  <a:pt x="210133" y="202660"/>
                  <a:pt x="202660" y="202660"/>
                </a:cubicBezTo>
                <a:lnTo>
                  <a:pt x="175638" y="202660"/>
                </a:lnTo>
                <a:cubicBezTo>
                  <a:pt x="168165" y="202660"/>
                  <a:pt x="162128" y="196622"/>
                  <a:pt x="162128" y="189149"/>
                </a:cubicBezTo>
                <a:lnTo>
                  <a:pt x="162128" y="162128"/>
                </a:lnTo>
                <a:cubicBezTo>
                  <a:pt x="162128" y="154655"/>
                  <a:pt x="168165" y="148617"/>
                  <a:pt x="175638" y="148617"/>
                </a:cubicBezTo>
                <a:lnTo>
                  <a:pt x="179016" y="148617"/>
                </a:lnTo>
                <a:lnTo>
                  <a:pt x="179016" y="124973"/>
                </a:lnTo>
                <a:cubicBezTo>
                  <a:pt x="179016" y="119358"/>
                  <a:pt x="174498" y="114840"/>
                  <a:pt x="168883" y="114840"/>
                </a:cubicBezTo>
                <a:lnTo>
                  <a:pt x="118218" y="114840"/>
                </a:lnTo>
                <a:lnTo>
                  <a:pt x="118218" y="148617"/>
                </a:lnTo>
                <a:lnTo>
                  <a:pt x="121596" y="148617"/>
                </a:lnTo>
                <a:cubicBezTo>
                  <a:pt x="129069" y="148617"/>
                  <a:pt x="135106" y="154655"/>
                  <a:pt x="135106" y="162128"/>
                </a:cubicBezTo>
                <a:lnTo>
                  <a:pt x="135106" y="189149"/>
                </a:lnTo>
                <a:cubicBezTo>
                  <a:pt x="135106" y="196622"/>
                  <a:pt x="129069" y="202660"/>
                  <a:pt x="121596" y="202660"/>
                </a:cubicBezTo>
                <a:lnTo>
                  <a:pt x="94574" y="202660"/>
                </a:lnTo>
                <a:cubicBezTo>
                  <a:pt x="87101" y="202660"/>
                  <a:pt x="81064" y="196622"/>
                  <a:pt x="81064" y="189149"/>
                </a:cubicBezTo>
                <a:lnTo>
                  <a:pt x="81064" y="162128"/>
                </a:lnTo>
                <a:cubicBezTo>
                  <a:pt x="81064" y="154655"/>
                  <a:pt x="87101" y="148617"/>
                  <a:pt x="94574" y="148617"/>
                </a:cubicBezTo>
                <a:lnTo>
                  <a:pt x="97952" y="148617"/>
                </a:lnTo>
                <a:lnTo>
                  <a:pt x="97952" y="114840"/>
                </a:lnTo>
                <a:lnTo>
                  <a:pt x="47287" y="114840"/>
                </a:lnTo>
                <a:cubicBezTo>
                  <a:pt x="41672" y="114840"/>
                  <a:pt x="37154" y="119358"/>
                  <a:pt x="37154" y="124973"/>
                </a:cubicBezTo>
                <a:lnTo>
                  <a:pt x="37154" y="148617"/>
                </a:lnTo>
                <a:lnTo>
                  <a:pt x="40532" y="148617"/>
                </a:lnTo>
                <a:cubicBezTo>
                  <a:pt x="48005" y="148617"/>
                  <a:pt x="54043" y="154655"/>
                  <a:pt x="54043" y="162128"/>
                </a:cubicBezTo>
                <a:lnTo>
                  <a:pt x="54043" y="189149"/>
                </a:lnTo>
                <a:cubicBezTo>
                  <a:pt x="54043" y="196622"/>
                  <a:pt x="48005" y="202660"/>
                  <a:pt x="40532" y="202660"/>
                </a:cubicBezTo>
                <a:lnTo>
                  <a:pt x="13511" y="202660"/>
                </a:lnTo>
                <a:cubicBezTo>
                  <a:pt x="6038" y="202660"/>
                  <a:pt x="0" y="196622"/>
                  <a:pt x="0" y="189149"/>
                </a:cubicBezTo>
                <a:lnTo>
                  <a:pt x="0" y="162128"/>
                </a:lnTo>
                <a:cubicBezTo>
                  <a:pt x="0" y="154655"/>
                  <a:pt x="6038" y="148617"/>
                  <a:pt x="13511" y="148617"/>
                </a:cubicBezTo>
                <a:lnTo>
                  <a:pt x="16888" y="148617"/>
                </a:lnTo>
                <a:lnTo>
                  <a:pt x="16888" y="124973"/>
                </a:lnTo>
                <a:cubicBezTo>
                  <a:pt x="16888" y="108170"/>
                  <a:pt x="30483" y="94574"/>
                  <a:pt x="47287" y="94574"/>
                </a:cubicBezTo>
                <a:lnTo>
                  <a:pt x="97952" y="94574"/>
                </a:lnTo>
                <a:lnTo>
                  <a:pt x="97952" y="67553"/>
                </a:lnTo>
                <a:lnTo>
                  <a:pt x="94574" y="67553"/>
                </a:lnTo>
                <a:cubicBezTo>
                  <a:pt x="87101" y="67553"/>
                  <a:pt x="81064" y="61516"/>
                  <a:pt x="81064" y="54043"/>
                </a:cubicBezTo>
                <a:lnTo>
                  <a:pt x="81064" y="27021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9532" y="2280596"/>
            <a:ext cx="6971489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副本放置策略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936" y="2712936"/>
            <a:ext cx="7112000" cy="1340255"/>
          </a:xfrm>
          <a:custGeom>
            <a:avLst/>
            <a:gdLst/>
            <a:ahLst/>
            <a:cxnLst/>
            <a:rect l="l" t="t" r="r" b="b"/>
            <a:pathLst>
              <a:path w="7112000" h="1340255">
                <a:moveTo>
                  <a:pt x="43234" y="0"/>
                </a:moveTo>
                <a:lnTo>
                  <a:pt x="7025527" y="0"/>
                </a:lnTo>
                <a:cubicBezTo>
                  <a:pt x="7073285" y="0"/>
                  <a:pt x="7112000" y="38715"/>
                  <a:pt x="7112000" y="86473"/>
                </a:cubicBezTo>
                <a:lnTo>
                  <a:pt x="7112000" y="1253782"/>
                </a:lnTo>
                <a:cubicBezTo>
                  <a:pt x="7112000" y="1301540"/>
                  <a:pt x="7073285" y="1340255"/>
                  <a:pt x="7025527" y="1340255"/>
                </a:cubicBez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80936" y="2712936"/>
            <a:ext cx="43234" cy="1340255"/>
          </a:xfrm>
          <a:custGeom>
            <a:avLst/>
            <a:gdLst/>
            <a:ahLst/>
            <a:cxnLst/>
            <a:rect l="l" t="t" r="r" b="b"/>
            <a:pathLst>
              <a:path w="43234" h="1340255">
                <a:moveTo>
                  <a:pt x="43234" y="0"/>
                </a:moveTo>
                <a:lnTo>
                  <a:pt x="43234" y="0"/>
                </a:lnTo>
                <a:lnTo>
                  <a:pt x="43234" y="1340255"/>
                </a:ln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75489" y="2885872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37660" y="2885872"/>
            <a:ext cx="421532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1064" y="2907489"/>
            <a:ext cx="1070043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第一个副本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5489" y="3318213"/>
            <a:ext cx="6830979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如果客户端在集群内：</a:t>
            </a: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放置在客户端所在节点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，实现数据本地性优化。如果客户端在集群外：随机选择一个负载较低的节点。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0936" y="4182894"/>
            <a:ext cx="7112000" cy="1340255"/>
          </a:xfrm>
          <a:custGeom>
            <a:avLst/>
            <a:gdLst/>
            <a:ahLst/>
            <a:cxnLst/>
            <a:rect l="l" t="t" r="r" b="b"/>
            <a:pathLst>
              <a:path w="7112000" h="1340255">
                <a:moveTo>
                  <a:pt x="43234" y="0"/>
                </a:moveTo>
                <a:lnTo>
                  <a:pt x="7025527" y="0"/>
                </a:lnTo>
                <a:cubicBezTo>
                  <a:pt x="7073285" y="0"/>
                  <a:pt x="7112000" y="38715"/>
                  <a:pt x="7112000" y="86473"/>
                </a:cubicBezTo>
                <a:lnTo>
                  <a:pt x="7112000" y="1253782"/>
                </a:lnTo>
                <a:cubicBezTo>
                  <a:pt x="7112000" y="1301540"/>
                  <a:pt x="7073285" y="1340255"/>
                  <a:pt x="7025527" y="1340255"/>
                </a:cubicBez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80936" y="4182894"/>
            <a:ext cx="43234" cy="1340255"/>
          </a:xfrm>
          <a:custGeom>
            <a:avLst/>
            <a:gdLst/>
            <a:ahLst/>
            <a:cxnLst/>
            <a:rect l="l" t="t" r="r" b="b"/>
            <a:pathLst>
              <a:path w="43234" h="1340255">
                <a:moveTo>
                  <a:pt x="43234" y="0"/>
                </a:moveTo>
                <a:lnTo>
                  <a:pt x="43234" y="0"/>
                </a:lnTo>
                <a:lnTo>
                  <a:pt x="43234" y="1340255"/>
                </a:ln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75489" y="4355830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37660" y="4355830"/>
            <a:ext cx="421532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1064" y="4377447"/>
            <a:ext cx="1070043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第二个副本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5489" y="4788170"/>
            <a:ext cx="6830979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放置在与第一个副本</a:t>
            </a:r>
            <a:r>
              <a:rPr lang="en-US" sz="1362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不同机架的随机节点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，确保机架级别的容错能力，避免单机架故障导致数据丢失。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0936" y="5652851"/>
            <a:ext cx="7112000" cy="1340255"/>
          </a:xfrm>
          <a:custGeom>
            <a:avLst/>
            <a:gdLst/>
            <a:ahLst/>
            <a:cxnLst/>
            <a:rect l="l" t="t" r="r" b="b"/>
            <a:pathLst>
              <a:path w="7112000" h="1340255">
                <a:moveTo>
                  <a:pt x="43234" y="0"/>
                </a:moveTo>
                <a:lnTo>
                  <a:pt x="7025527" y="0"/>
                </a:lnTo>
                <a:cubicBezTo>
                  <a:pt x="7073285" y="0"/>
                  <a:pt x="7112000" y="38715"/>
                  <a:pt x="7112000" y="86473"/>
                </a:cubicBezTo>
                <a:lnTo>
                  <a:pt x="7112000" y="1253782"/>
                </a:lnTo>
                <a:cubicBezTo>
                  <a:pt x="7112000" y="1301540"/>
                  <a:pt x="7073285" y="1340255"/>
                  <a:pt x="7025527" y="1340255"/>
                </a:cubicBez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0936" y="5652851"/>
            <a:ext cx="43234" cy="1340255"/>
          </a:xfrm>
          <a:custGeom>
            <a:avLst/>
            <a:gdLst/>
            <a:ahLst/>
            <a:cxnLst/>
            <a:rect l="l" t="t" r="r" b="b"/>
            <a:pathLst>
              <a:path w="43234" h="1340255">
                <a:moveTo>
                  <a:pt x="43234" y="0"/>
                </a:moveTo>
                <a:lnTo>
                  <a:pt x="43234" y="0"/>
                </a:lnTo>
                <a:lnTo>
                  <a:pt x="43234" y="1340255"/>
                </a:lnTo>
                <a:lnTo>
                  <a:pt x="43234" y="1340255"/>
                </a:lnTo>
                <a:cubicBezTo>
                  <a:pt x="19357" y="1340255"/>
                  <a:pt x="0" y="1320899"/>
                  <a:pt x="0" y="129702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75489" y="5825787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37660" y="5825787"/>
            <a:ext cx="421532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1064" y="5847404"/>
            <a:ext cx="1070043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第三个副本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489" y="6258128"/>
            <a:ext cx="6830979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放置在第二个副本所在机架的</a:t>
            </a:r>
            <a:r>
              <a:rPr lang="en-US" sz="1362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不同节点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，平衡网络带宽和容错能力，减少跨机架传输开销。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41489" y="2059021"/>
            <a:ext cx="7576766" cy="5155660"/>
          </a:xfrm>
          <a:custGeom>
            <a:avLst/>
            <a:gdLst/>
            <a:ahLst/>
            <a:cxnLst/>
            <a:rect l="l" t="t" r="r" b="b"/>
            <a:pathLst>
              <a:path w="7576766" h="5155660">
                <a:moveTo>
                  <a:pt x="86460" y="0"/>
                </a:moveTo>
                <a:lnTo>
                  <a:pt x="7490306" y="0"/>
                </a:lnTo>
                <a:cubicBezTo>
                  <a:pt x="7538056" y="0"/>
                  <a:pt x="7576766" y="38710"/>
                  <a:pt x="7576766" y="86460"/>
                </a:cubicBezTo>
                <a:lnTo>
                  <a:pt x="7576766" y="5069199"/>
                </a:lnTo>
                <a:cubicBezTo>
                  <a:pt x="7576766" y="5116950"/>
                  <a:pt x="7538056" y="5155660"/>
                  <a:pt x="7490306" y="5155660"/>
                </a:cubicBezTo>
                <a:lnTo>
                  <a:pt x="86460" y="5155660"/>
                </a:lnTo>
                <a:cubicBezTo>
                  <a:pt x="38710" y="5155660"/>
                  <a:pt x="0" y="5116950"/>
                  <a:pt x="0" y="5069199"/>
                </a:cubicBezTo>
                <a:lnTo>
                  <a:pt x="0" y="86460"/>
                </a:lnTo>
                <a:cubicBezTo>
                  <a:pt x="0" y="38742"/>
                  <a:pt x="38742" y="0"/>
                  <a:pt x="8646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503596" y="2323830"/>
            <a:ext cx="189149" cy="216170"/>
          </a:xfrm>
          <a:custGeom>
            <a:avLst/>
            <a:gdLst/>
            <a:ahLst/>
            <a:cxnLst/>
            <a:rect l="l" t="t" r="r" b="b"/>
            <a:pathLst>
              <a:path w="189149" h="216170">
                <a:moveTo>
                  <a:pt x="27021" y="13511"/>
                </a:moveTo>
                <a:cubicBezTo>
                  <a:pt x="12117" y="13511"/>
                  <a:pt x="0" y="25628"/>
                  <a:pt x="0" y="40532"/>
                </a:cubicBezTo>
                <a:lnTo>
                  <a:pt x="0" y="67553"/>
                </a:lnTo>
                <a:cubicBezTo>
                  <a:pt x="0" y="82457"/>
                  <a:pt x="12117" y="94574"/>
                  <a:pt x="27021" y="94574"/>
                </a:cubicBezTo>
                <a:lnTo>
                  <a:pt x="162128" y="94574"/>
                </a:lnTo>
                <a:cubicBezTo>
                  <a:pt x="177032" y="94574"/>
                  <a:pt x="189149" y="82457"/>
                  <a:pt x="189149" y="67553"/>
                </a:cubicBezTo>
                <a:lnTo>
                  <a:pt x="189149" y="40532"/>
                </a:lnTo>
                <a:cubicBezTo>
                  <a:pt x="189149" y="25628"/>
                  <a:pt x="177032" y="13511"/>
                  <a:pt x="162128" y="13511"/>
                </a:cubicBezTo>
                <a:lnTo>
                  <a:pt x="27021" y="13511"/>
                </a:lnTo>
                <a:close/>
                <a:moveTo>
                  <a:pt x="118218" y="43910"/>
                </a:moveTo>
                <a:cubicBezTo>
                  <a:pt x="123811" y="43910"/>
                  <a:pt x="128351" y="48450"/>
                  <a:pt x="128351" y="54043"/>
                </a:cubicBezTo>
                <a:cubicBezTo>
                  <a:pt x="128351" y="59635"/>
                  <a:pt x="123811" y="64176"/>
                  <a:pt x="118218" y="64176"/>
                </a:cubicBezTo>
                <a:cubicBezTo>
                  <a:pt x="112626" y="64176"/>
                  <a:pt x="108085" y="59635"/>
                  <a:pt x="108085" y="54043"/>
                </a:cubicBezTo>
                <a:cubicBezTo>
                  <a:pt x="108085" y="48450"/>
                  <a:pt x="112626" y="43910"/>
                  <a:pt x="118218" y="43910"/>
                </a:cubicBezTo>
                <a:close/>
                <a:moveTo>
                  <a:pt x="141862" y="54043"/>
                </a:moveTo>
                <a:cubicBezTo>
                  <a:pt x="141862" y="48450"/>
                  <a:pt x="146402" y="43910"/>
                  <a:pt x="151995" y="43910"/>
                </a:cubicBezTo>
                <a:cubicBezTo>
                  <a:pt x="157587" y="43910"/>
                  <a:pt x="162128" y="48450"/>
                  <a:pt x="162128" y="54043"/>
                </a:cubicBezTo>
                <a:cubicBezTo>
                  <a:pt x="162128" y="59635"/>
                  <a:pt x="157587" y="64176"/>
                  <a:pt x="151995" y="64176"/>
                </a:cubicBezTo>
                <a:cubicBezTo>
                  <a:pt x="146402" y="64176"/>
                  <a:pt x="141862" y="59635"/>
                  <a:pt x="141862" y="54043"/>
                </a:cubicBezTo>
                <a:close/>
                <a:moveTo>
                  <a:pt x="27021" y="121596"/>
                </a:moveTo>
                <a:cubicBezTo>
                  <a:pt x="12117" y="121596"/>
                  <a:pt x="0" y="133713"/>
                  <a:pt x="0" y="148617"/>
                </a:cubicBezTo>
                <a:lnTo>
                  <a:pt x="0" y="175638"/>
                </a:lnTo>
                <a:cubicBezTo>
                  <a:pt x="0" y="190542"/>
                  <a:pt x="12117" y="202660"/>
                  <a:pt x="27021" y="202660"/>
                </a:cubicBezTo>
                <a:lnTo>
                  <a:pt x="162128" y="202660"/>
                </a:lnTo>
                <a:cubicBezTo>
                  <a:pt x="177032" y="202660"/>
                  <a:pt x="189149" y="190542"/>
                  <a:pt x="189149" y="175638"/>
                </a:cubicBezTo>
                <a:lnTo>
                  <a:pt x="189149" y="148617"/>
                </a:lnTo>
                <a:cubicBezTo>
                  <a:pt x="189149" y="133713"/>
                  <a:pt x="177032" y="121596"/>
                  <a:pt x="162128" y="121596"/>
                </a:cubicBezTo>
                <a:lnTo>
                  <a:pt x="27021" y="121596"/>
                </a:lnTo>
                <a:close/>
                <a:moveTo>
                  <a:pt x="118218" y="151995"/>
                </a:moveTo>
                <a:cubicBezTo>
                  <a:pt x="123811" y="151995"/>
                  <a:pt x="128351" y="156535"/>
                  <a:pt x="128351" y="162128"/>
                </a:cubicBezTo>
                <a:cubicBezTo>
                  <a:pt x="128351" y="167720"/>
                  <a:pt x="123811" y="172261"/>
                  <a:pt x="118218" y="172261"/>
                </a:cubicBezTo>
                <a:cubicBezTo>
                  <a:pt x="112626" y="172261"/>
                  <a:pt x="108085" y="167720"/>
                  <a:pt x="108085" y="162128"/>
                </a:cubicBezTo>
                <a:cubicBezTo>
                  <a:pt x="108085" y="156535"/>
                  <a:pt x="112626" y="151995"/>
                  <a:pt x="118218" y="151995"/>
                </a:cubicBezTo>
                <a:close/>
                <a:moveTo>
                  <a:pt x="141862" y="162128"/>
                </a:moveTo>
                <a:cubicBezTo>
                  <a:pt x="141862" y="156535"/>
                  <a:pt x="146402" y="151995"/>
                  <a:pt x="151995" y="151995"/>
                </a:cubicBezTo>
                <a:cubicBezTo>
                  <a:pt x="157587" y="151995"/>
                  <a:pt x="162128" y="156535"/>
                  <a:pt x="162128" y="162128"/>
                </a:cubicBezTo>
                <a:cubicBezTo>
                  <a:pt x="162128" y="167720"/>
                  <a:pt x="157587" y="172261"/>
                  <a:pt x="151995" y="172261"/>
                </a:cubicBezTo>
                <a:cubicBezTo>
                  <a:pt x="146402" y="172261"/>
                  <a:pt x="141862" y="167720"/>
                  <a:pt x="141862" y="16212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33277" y="2280596"/>
            <a:ext cx="6971489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放置示例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63064" y="2712936"/>
            <a:ext cx="7209277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机架拓扑结构：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68468" y="3020979"/>
            <a:ext cx="2280596" cy="1351064"/>
          </a:xfrm>
          <a:custGeom>
            <a:avLst/>
            <a:gdLst/>
            <a:ahLst/>
            <a:cxnLst/>
            <a:rect l="l" t="t" r="r" b="b"/>
            <a:pathLst>
              <a:path w="2280596" h="1351064">
                <a:moveTo>
                  <a:pt x="43234" y="0"/>
                </a:moveTo>
                <a:lnTo>
                  <a:pt x="2237362" y="0"/>
                </a:lnTo>
                <a:cubicBezTo>
                  <a:pt x="2261239" y="0"/>
                  <a:pt x="2280596" y="19357"/>
                  <a:pt x="2280596" y="43234"/>
                </a:cubicBezTo>
                <a:lnTo>
                  <a:pt x="2280596" y="1307830"/>
                </a:lnTo>
                <a:cubicBezTo>
                  <a:pt x="2280596" y="1331707"/>
                  <a:pt x="2261239" y="1351064"/>
                  <a:pt x="2237362" y="1351064"/>
                </a:cubicBezTo>
                <a:lnTo>
                  <a:pt x="43234" y="1351064"/>
                </a:lnTo>
                <a:cubicBezTo>
                  <a:pt x="19357" y="1351064"/>
                  <a:pt x="0" y="1331707"/>
                  <a:pt x="0" y="1307830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60340" y="3112851"/>
            <a:ext cx="2172511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60340" y="3415489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60340" y="3415489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60340" y="3718128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60340" y="3718128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60340" y="4020766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60340" y="4020766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89574" y="3020979"/>
            <a:ext cx="2280596" cy="1351064"/>
          </a:xfrm>
          <a:custGeom>
            <a:avLst/>
            <a:gdLst/>
            <a:ahLst/>
            <a:cxnLst/>
            <a:rect l="l" t="t" r="r" b="b"/>
            <a:pathLst>
              <a:path w="2280596" h="1351064">
                <a:moveTo>
                  <a:pt x="43234" y="0"/>
                </a:moveTo>
                <a:lnTo>
                  <a:pt x="2237362" y="0"/>
                </a:lnTo>
                <a:cubicBezTo>
                  <a:pt x="2261239" y="0"/>
                  <a:pt x="2280596" y="19357"/>
                  <a:pt x="2280596" y="43234"/>
                </a:cubicBezTo>
                <a:lnTo>
                  <a:pt x="2280596" y="1307830"/>
                </a:lnTo>
                <a:cubicBezTo>
                  <a:pt x="2280596" y="1331707"/>
                  <a:pt x="2261239" y="1351064"/>
                  <a:pt x="2237362" y="1351064"/>
                </a:cubicBezTo>
                <a:lnTo>
                  <a:pt x="43234" y="1351064"/>
                </a:lnTo>
                <a:cubicBezTo>
                  <a:pt x="19357" y="1351064"/>
                  <a:pt x="0" y="1331707"/>
                  <a:pt x="0" y="1307830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981447" y="3112851"/>
            <a:ext cx="2172511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981447" y="3415489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981447" y="3415489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81447" y="3718128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981447" y="3718128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81447" y="4020766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981447" y="4020766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310681" y="3020979"/>
            <a:ext cx="2280596" cy="1351064"/>
          </a:xfrm>
          <a:custGeom>
            <a:avLst/>
            <a:gdLst/>
            <a:ahLst/>
            <a:cxnLst/>
            <a:rect l="l" t="t" r="r" b="b"/>
            <a:pathLst>
              <a:path w="2280596" h="1351064">
                <a:moveTo>
                  <a:pt x="43234" y="0"/>
                </a:moveTo>
                <a:lnTo>
                  <a:pt x="2237362" y="0"/>
                </a:lnTo>
                <a:cubicBezTo>
                  <a:pt x="2261239" y="0"/>
                  <a:pt x="2280596" y="19357"/>
                  <a:pt x="2280596" y="43234"/>
                </a:cubicBezTo>
                <a:lnTo>
                  <a:pt x="2280596" y="1307830"/>
                </a:lnTo>
                <a:cubicBezTo>
                  <a:pt x="2280596" y="1331707"/>
                  <a:pt x="2261239" y="1351064"/>
                  <a:pt x="2237362" y="1351064"/>
                </a:cubicBezTo>
                <a:lnTo>
                  <a:pt x="43234" y="1351064"/>
                </a:lnTo>
                <a:cubicBezTo>
                  <a:pt x="19357" y="1351064"/>
                  <a:pt x="0" y="1331707"/>
                  <a:pt x="0" y="1307830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3402553" y="3112851"/>
            <a:ext cx="2172511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Rack3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402553" y="3415489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3402553" y="3415489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Node7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3402553" y="3718128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3402553" y="3718128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Node8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3402553" y="4020766"/>
            <a:ext cx="2096851" cy="259404"/>
          </a:xfrm>
          <a:custGeom>
            <a:avLst/>
            <a:gdLst/>
            <a:ahLst/>
            <a:cxnLst/>
            <a:rect l="l" t="t" r="r" b="b"/>
            <a:pathLst>
              <a:path w="2096851" h="259404">
                <a:moveTo>
                  <a:pt x="43235" y="0"/>
                </a:moveTo>
                <a:lnTo>
                  <a:pt x="2053616" y="0"/>
                </a:lnTo>
                <a:cubicBezTo>
                  <a:pt x="2077494" y="0"/>
                  <a:pt x="2096851" y="19357"/>
                  <a:pt x="2096851" y="43235"/>
                </a:cubicBezTo>
                <a:lnTo>
                  <a:pt x="2096851" y="216169"/>
                </a:lnTo>
                <a:cubicBezTo>
                  <a:pt x="2096851" y="240047"/>
                  <a:pt x="2077494" y="259404"/>
                  <a:pt x="2053616" y="259404"/>
                </a:cubicBezTo>
                <a:lnTo>
                  <a:pt x="43235" y="259404"/>
                </a:lnTo>
                <a:cubicBezTo>
                  <a:pt x="19357" y="259404"/>
                  <a:pt x="0" y="240047"/>
                  <a:pt x="0" y="216169"/>
                </a:cubicBezTo>
                <a:lnTo>
                  <a:pt x="0" y="43235"/>
                </a:lnTo>
                <a:cubicBezTo>
                  <a:pt x="0" y="19373"/>
                  <a:pt x="19373" y="0"/>
                  <a:pt x="43235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3402553" y="4020766"/>
            <a:ext cx="2161702" cy="259404"/>
          </a:xfrm>
          <a:prstGeom prst="rect">
            <a:avLst/>
          </a:prstGeom>
          <a:noFill/>
          <a:ln/>
        </p:spPr>
        <p:txBody>
          <a:bodyPr wrap="square" lIns="86468" tIns="43234" rIns="86468" bIns="43234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Node9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68468" y="4512553"/>
            <a:ext cx="7122809" cy="1307830"/>
          </a:xfrm>
          <a:custGeom>
            <a:avLst/>
            <a:gdLst/>
            <a:ahLst/>
            <a:cxnLst/>
            <a:rect l="l" t="t" r="r" b="b"/>
            <a:pathLst>
              <a:path w="7122809" h="1307830">
                <a:moveTo>
                  <a:pt x="86474" y="0"/>
                </a:moveTo>
                <a:lnTo>
                  <a:pt x="7036335" y="0"/>
                </a:lnTo>
                <a:cubicBezTo>
                  <a:pt x="7084093" y="0"/>
                  <a:pt x="7122809" y="38716"/>
                  <a:pt x="7122809" y="86474"/>
                </a:cubicBezTo>
                <a:lnTo>
                  <a:pt x="7122809" y="1221356"/>
                </a:lnTo>
                <a:cubicBezTo>
                  <a:pt x="7122809" y="1269114"/>
                  <a:pt x="7084093" y="1307830"/>
                  <a:pt x="7036335" y="1307830"/>
                </a:cubicBezTo>
                <a:lnTo>
                  <a:pt x="86474" y="1307830"/>
                </a:lnTo>
                <a:cubicBezTo>
                  <a:pt x="38716" y="1307830"/>
                  <a:pt x="0" y="1269114"/>
                  <a:pt x="0" y="1221356"/>
                </a:cubicBezTo>
                <a:lnTo>
                  <a:pt x="0" y="86474"/>
                </a:lnTo>
                <a:cubicBezTo>
                  <a:pt x="0" y="38748"/>
                  <a:pt x="38748" y="0"/>
                  <a:pt x="8647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03574" y="4647660"/>
            <a:ext cx="6928255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副本放置结果（客户端在 Node1）：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03574" y="4950298"/>
            <a:ext cx="6928255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 1:</a:t>
            </a:r>
            <a:r>
              <a:rPr lang="en-US" sz="11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Node1 (客户端本地)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03574" y="5209702"/>
            <a:ext cx="6928255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 2:</a:t>
            </a:r>
            <a:r>
              <a:rPr lang="en-US" sz="11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Node4 (不同机架)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03574" y="5469106"/>
            <a:ext cx="6928255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 3:</a:t>
            </a:r>
            <a:r>
              <a:rPr lang="en-US" sz="119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Node5 (与副本2同机架)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7745" y="7398426"/>
            <a:ext cx="5004340" cy="1307830"/>
          </a:xfrm>
          <a:custGeom>
            <a:avLst/>
            <a:gdLst/>
            <a:ahLst/>
            <a:cxnLst/>
            <a:rect l="l" t="t" r="r" b="b"/>
            <a:pathLst>
              <a:path w="5004340" h="1307830">
                <a:moveTo>
                  <a:pt x="86474" y="0"/>
                </a:moveTo>
                <a:lnTo>
                  <a:pt x="4917867" y="0"/>
                </a:lnTo>
                <a:cubicBezTo>
                  <a:pt x="4965625" y="0"/>
                  <a:pt x="5004340" y="38716"/>
                  <a:pt x="5004340" y="86474"/>
                </a:cubicBezTo>
                <a:lnTo>
                  <a:pt x="5004340" y="1221356"/>
                </a:lnTo>
                <a:cubicBezTo>
                  <a:pt x="5004340" y="1269114"/>
                  <a:pt x="4965625" y="1307830"/>
                  <a:pt x="4917867" y="1307830"/>
                </a:cubicBezTo>
                <a:lnTo>
                  <a:pt x="86474" y="1307830"/>
                </a:lnTo>
                <a:cubicBezTo>
                  <a:pt x="38716" y="1307830"/>
                  <a:pt x="0" y="1269114"/>
                  <a:pt x="0" y="1221356"/>
                </a:cubicBezTo>
                <a:lnTo>
                  <a:pt x="0" y="86474"/>
                </a:lnTo>
                <a:cubicBezTo>
                  <a:pt x="0" y="38748"/>
                  <a:pt x="38748" y="0"/>
                  <a:pt x="864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643106" y="7620000"/>
            <a:ext cx="216170" cy="216170"/>
          </a:xfrm>
          <a:custGeom>
            <a:avLst/>
            <a:gdLst/>
            <a:ahLst/>
            <a:cxnLst/>
            <a:rect l="l" t="t" r="r" b="b"/>
            <a:pathLst>
              <a:path w="216170" h="216170">
                <a:moveTo>
                  <a:pt x="108085" y="0"/>
                </a:moveTo>
                <a:cubicBezTo>
                  <a:pt x="114292" y="0"/>
                  <a:pt x="119991" y="3420"/>
                  <a:pt x="122947" y="8866"/>
                </a:cubicBezTo>
                <a:lnTo>
                  <a:pt x="214144" y="177749"/>
                </a:lnTo>
                <a:cubicBezTo>
                  <a:pt x="216972" y="182985"/>
                  <a:pt x="216846" y="189318"/>
                  <a:pt x="213806" y="194427"/>
                </a:cubicBezTo>
                <a:cubicBezTo>
                  <a:pt x="210766" y="199535"/>
                  <a:pt x="205235" y="202660"/>
                  <a:pt x="199282" y="202660"/>
                </a:cubicBezTo>
                <a:lnTo>
                  <a:pt x="16888" y="202660"/>
                </a:lnTo>
                <a:cubicBezTo>
                  <a:pt x="10935" y="202660"/>
                  <a:pt x="5446" y="199535"/>
                  <a:pt x="2364" y="194427"/>
                </a:cubicBezTo>
                <a:cubicBezTo>
                  <a:pt x="-718" y="189318"/>
                  <a:pt x="-802" y="182985"/>
                  <a:pt x="2027" y="177749"/>
                </a:cubicBezTo>
                <a:lnTo>
                  <a:pt x="93223" y="8866"/>
                </a:lnTo>
                <a:cubicBezTo>
                  <a:pt x="96179" y="3420"/>
                  <a:pt x="101879" y="0"/>
                  <a:pt x="108085" y="0"/>
                </a:cubicBezTo>
                <a:close/>
                <a:moveTo>
                  <a:pt x="108085" y="70931"/>
                </a:moveTo>
                <a:cubicBezTo>
                  <a:pt x="102470" y="70931"/>
                  <a:pt x="97952" y="75448"/>
                  <a:pt x="97952" y="81064"/>
                </a:cubicBezTo>
                <a:lnTo>
                  <a:pt x="97952" y="128351"/>
                </a:lnTo>
                <a:cubicBezTo>
                  <a:pt x="97952" y="133966"/>
                  <a:pt x="102470" y="138484"/>
                  <a:pt x="108085" y="138484"/>
                </a:cubicBezTo>
                <a:cubicBezTo>
                  <a:pt x="113700" y="138484"/>
                  <a:pt x="118218" y="133966"/>
                  <a:pt x="118218" y="128351"/>
                </a:cubicBezTo>
                <a:lnTo>
                  <a:pt x="118218" y="81064"/>
                </a:lnTo>
                <a:cubicBezTo>
                  <a:pt x="118218" y="75448"/>
                  <a:pt x="113700" y="70931"/>
                  <a:pt x="108085" y="70931"/>
                </a:cubicBezTo>
                <a:close/>
                <a:moveTo>
                  <a:pt x="119358" y="162128"/>
                </a:moveTo>
                <a:cubicBezTo>
                  <a:pt x="119614" y="157943"/>
                  <a:pt x="117528" y="153962"/>
                  <a:pt x="113941" y="151792"/>
                </a:cubicBezTo>
                <a:cubicBezTo>
                  <a:pt x="110354" y="149623"/>
                  <a:pt x="105859" y="149623"/>
                  <a:pt x="102272" y="151792"/>
                </a:cubicBezTo>
                <a:cubicBezTo>
                  <a:pt x="98685" y="153962"/>
                  <a:pt x="96598" y="157943"/>
                  <a:pt x="96854" y="162128"/>
                </a:cubicBezTo>
                <a:cubicBezTo>
                  <a:pt x="96598" y="166312"/>
                  <a:pt x="98685" y="170293"/>
                  <a:pt x="102272" y="172463"/>
                </a:cubicBezTo>
                <a:cubicBezTo>
                  <a:pt x="105859" y="174633"/>
                  <a:pt x="110354" y="174633"/>
                  <a:pt x="113941" y="172463"/>
                </a:cubicBezTo>
                <a:cubicBezTo>
                  <a:pt x="117528" y="170293"/>
                  <a:pt x="119614" y="166312"/>
                  <a:pt x="119358" y="16212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016000" y="7576766"/>
            <a:ext cx="1070043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单节点故障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16085" y="7965872"/>
            <a:ext cx="4734128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仍有 </a:t>
            </a: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个副本可用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，系统继续正常服务，自动触发副本重建。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625830" y="7398426"/>
            <a:ext cx="5004340" cy="1307830"/>
          </a:xfrm>
          <a:custGeom>
            <a:avLst/>
            <a:gdLst/>
            <a:ahLst/>
            <a:cxnLst/>
            <a:rect l="l" t="t" r="r" b="b"/>
            <a:pathLst>
              <a:path w="5004340" h="1307830">
                <a:moveTo>
                  <a:pt x="86474" y="0"/>
                </a:moveTo>
                <a:lnTo>
                  <a:pt x="4917867" y="0"/>
                </a:lnTo>
                <a:cubicBezTo>
                  <a:pt x="4965625" y="0"/>
                  <a:pt x="5004340" y="38716"/>
                  <a:pt x="5004340" y="86474"/>
                </a:cubicBezTo>
                <a:lnTo>
                  <a:pt x="5004340" y="1221356"/>
                </a:lnTo>
                <a:cubicBezTo>
                  <a:pt x="5004340" y="1269114"/>
                  <a:pt x="4965625" y="1307830"/>
                  <a:pt x="4917867" y="1307830"/>
                </a:cubicBezTo>
                <a:lnTo>
                  <a:pt x="86474" y="1307830"/>
                </a:lnTo>
                <a:cubicBezTo>
                  <a:pt x="38716" y="1307830"/>
                  <a:pt x="0" y="1269114"/>
                  <a:pt x="0" y="1221356"/>
                </a:cubicBezTo>
                <a:lnTo>
                  <a:pt x="0" y="86474"/>
                </a:lnTo>
                <a:cubicBezTo>
                  <a:pt x="0" y="38748"/>
                  <a:pt x="38748" y="0"/>
                  <a:pt x="864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5844702" y="7620000"/>
            <a:ext cx="189149" cy="216170"/>
          </a:xfrm>
          <a:custGeom>
            <a:avLst/>
            <a:gdLst/>
            <a:ahLst/>
            <a:cxnLst/>
            <a:rect l="l" t="t" r="r" b="b"/>
            <a:pathLst>
              <a:path w="189149" h="216170">
                <a:moveTo>
                  <a:pt x="27021" y="13511"/>
                </a:moveTo>
                <a:cubicBezTo>
                  <a:pt x="12117" y="13511"/>
                  <a:pt x="0" y="25628"/>
                  <a:pt x="0" y="40532"/>
                </a:cubicBezTo>
                <a:lnTo>
                  <a:pt x="0" y="67553"/>
                </a:lnTo>
                <a:cubicBezTo>
                  <a:pt x="0" y="82457"/>
                  <a:pt x="12117" y="94574"/>
                  <a:pt x="27021" y="94574"/>
                </a:cubicBezTo>
                <a:lnTo>
                  <a:pt x="162128" y="94574"/>
                </a:lnTo>
                <a:cubicBezTo>
                  <a:pt x="177032" y="94574"/>
                  <a:pt x="189149" y="82457"/>
                  <a:pt x="189149" y="67553"/>
                </a:cubicBezTo>
                <a:lnTo>
                  <a:pt x="189149" y="40532"/>
                </a:lnTo>
                <a:cubicBezTo>
                  <a:pt x="189149" y="25628"/>
                  <a:pt x="177032" y="13511"/>
                  <a:pt x="162128" y="13511"/>
                </a:cubicBezTo>
                <a:lnTo>
                  <a:pt x="27021" y="13511"/>
                </a:lnTo>
                <a:close/>
                <a:moveTo>
                  <a:pt x="118218" y="43910"/>
                </a:moveTo>
                <a:cubicBezTo>
                  <a:pt x="123811" y="43910"/>
                  <a:pt x="128351" y="48450"/>
                  <a:pt x="128351" y="54043"/>
                </a:cubicBezTo>
                <a:cubicBezTo>
                  <a:pt x="128351" y="59635"/>
                  <a:pt x="123811" y="64176"/>
                  <a:pt x="118218" y="64176"/>
                </a:cubicBezTo>
                <a:cubicBezTo>
                  <a:pt x="112626" y="64176"/>
                  <a:pt x="108085" y="59635"/>
                  <a:pt x="108085" y="54043"/>
                </a:cubicBezTo>
                <a:cubicBezTo>
                  <a:pt x="108085" y="48450"/>
                  <a:pt x="112626" y="43910"/>
                  <a:pt x="118218" y="43910"/>
                </a:cubicBezTo>
                <a:close/>
                <a:moveTo>
                  <a:pt x="141862" y="54043"/>
                </a:moveTo>
                <a:cubicBezTo>
                  <a:pt x="141862" y="48450"/>
                  <a:pt x="146402" y="43910"/>
                  <a:pt x="151995" y="43910"/>
                </a:cubicBezTo>
                <a:cubicBezTo>
                  <a:pt x="157587" y="43910"/>
                  <a:pt x="162128" y="48450"/>
                  <a:pt x="162128" y="54043"/>
                </a:cubicBezTo>
                <a:cubicBezTo>
                  <a:pt x="162128" y="59635"/>
                  <a:pt x="157587" y="64176"/>
                  <a:pt x="151995" y="64176"/>
                </a:cubicBezTo>
                <a:cubicBezTo>
                  <a:pt x="146402" y="64176"/>
                  <a:pt x="141862" y="59635"/>
                  <a:pt x="141862" y="54043"/>
                </a:cubicBezTo>
                <a:close/>
                <a:moveTo>
                  <a:pt x="27021" y="121596"/>
                </a:moveTo>
                <a:cubicBezTo>
                  <a:pt x="12117" y="121596"/>
                  <a:pt x="0" y="133713"/>
                  <a:pt x="0" y="148617"/>
                </a:cubicBezTo>
                <a:lnTo>
                  <a:pt x="0" y="175638"/>
                </a:lnTo>
                <a:cubicBezTo>
                  <a:pt x="0" y="190542"/>
                  <a:pt x="12117" y="202660"/>
                  <a:pt x="27021" y="202660"/>
                </a:cubicBezTo>
                <a:lnTo>
                  <a:pt x="162128" y="202660"/>
                </a:lnTo>
                <a:cubicBezTo>
                  <a:pt x="177032" y="202660"/>
                  <a:pt x="189149" y="190542"/>
                  <a:pt x="189149" y="175638"/>
                </a:cubicBezTo>
                <a:lnTo>
                  <a:pt x="189149" y="148617"/>
                </a:lnTo>
                <a:cubicBezTo>
                  <a:pt x="189149" y="133713"/>
                  <a:pt x="177032" y="121596"/>
                  <a:pt x="162128" y="121596"/>
                </a:cubicBezTo>
                <a:lnTo>
                  <a:pt x="27021" y="121596"/>
                </a:lnTo>
                <a:close/>
                <a:moveTo>
                  <a:pt x="118218" y="151995"/>
                </a:moveTo>
                <a:cubicBezTo>
                  <a:pt x="123811" y="151995"/>
                  <a:pt x="128351" y="156535"/>
                  <a:pt x="128351" y="162128"/>
                </a:cubicBezTo>
                <a:cubicBezTo>
                  <a:pt x="128351" y="167720"/>
                  <a:pt x="123811" y="172261"/>
                  <a:pt x="118218" y="172261"/>
                </a:cubicBezTo>
                <a:cubicBezTo>
                  <a:pt x="112626" y="172261"/>
                  <a:pt x="108085" y="167720"/>
                  <a:pt x="108085" y="162128"/>
                </a:cubicBezTo>
                <a:cubicBezTo>
                  <a:pt x="108085" y="156535"/>
                  <a:pt x="112626" y="151995"/>
                  <a:pt x="118218" y="151995"/>
                </a:cubicBezTo>
                <a:close/>
                <a:moveTo>
                  <a:pt x="141862" y="162128"/>
                </a:moveTo>
                <a:cubicBezTo>
                  <a:pt x="141862" y="156535"/>
                  <a:pt x="146402" y="151995"/>
                  <a:pt x="151995" y="151995"/>
                </a:cubicBezTo>
                <a:cubicBezTo>
                  <a:pt x="157587" y="151995"/>
                  <a:pt x="162128" y="156535"/>
                  <a:pt x="162128" y="162128"/>
                </a:cubicBezTo>
                <a:cubicBezTo>
                  <a:pt x="162128" y="167720"/>
                  <a:pt x="157587" y="172261"/>
                  <a:pt x="151995" y="172261"/>
                </a:cubicBezTo>
                <a:cubicBezTo>
                  <a:pt x="146402" y="172261"/>
                  <a:pt x="141862" y="167720"/>
                  <a:pt x="141862" y="16212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204085" y="7576766"/>
            <a:ext cx="1070043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单机架故障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804170" y="7965872"/>
            <a:ext cx="4734128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仍有 </a:t>
            </a: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 个副本可用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（取决于机架分布），保证数据不丢失。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813915" y="7398426"/>
            <a:ext cx="5004340" cy="1307830"/>
          </a:xfrm>
          <a:custGeom>
            <a:avLst/>
            <a:gdLst/>
            <a:ahLst/>
            <a:cxnLst/>
            <a:rect l="l" t="t" r="r" b="b"/>
            <a:pathLst>
              <a:path w="5004340" h="1307830">
                <a:moveTo>
                  <a:pt x="86474" y="0"/>
                </a:moveTo>
                <a:lnTo>
                  <a:pt x="4917867" y="0"/>
                </a:lnTo>
                <a:cubicBezTo>
                  <a:pt x="4965625" y="0"/>
                  <a:pt x="5004340" y="38716"/>
                  <a:pt x="5004340" y="86474"/>
                </a:cubicBezTo>
                <a:lnTo>
                  <a:pt x="5004340" y="1221356"/>
                </a:lnTo>
                <a:cubicBezTo>
                  <a:pt x="5004340" y="1269114"/>
                  <a:pt x="4965625" y="1307830"/>
                  <a:pt x="4917867" y="1307830"/>
                </a:cubicBezTo>
                <a:lnTo>
                  <a:pt x="86474" y="1307830"/>
                </a:lnTo>
                <a:cubicBezTo>
                  <a:pt x="38716" y="1307830"/>
                  <a:pt x="0" y="1269114"/>
                  <a:pt x="0" y="1221356"/>
                </a:cubicBezTo>
                <a:lnTo>
                  <a:pt x="0" y="86474"/>
                </a:lnTo>
                <a:cubicBezTo>
                  <a:pt x="0" y="38748"/>
                  <a:pt x="38748" y="0"/>
                  <a:pt x="864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1005766" y="7620000"/>
            <a:ext cx="243191" cy="216170"/>
          </a:xfrm>
          <a:custGeom>
            <a:avLst/>
            <a:gdLst/>
            <a:ahLst/>
            <a:cxnLst/>
            <a:rect l="l" t="t" r="r" b="b"/>
            <a:pathLst>
              <a:path w="243191" h="216170">
                <a:moveTo>
                  <a:pt x="104707" y="37154"/>
                </a:moveTo>
                <a:lnTo>
                  <a:pt x="138484" y="37154"/>
                </a:lnTo>
                <a:lnTo>
                  <a:pt x="138484" y="57420"/>
                </a:lnTo>
                <a:lnTo>
                  <a:pt x="104707" y="57420"/>
                </a:lnTo>
                <a:lnTo>
                  <a:pt x="104707" y="37154"/>
                </a:lnTo>
                <a:close/>
                <a:moveTo>
                  <a:pt x="101330" y="13511"/>
                </a:moveTo>
                <a:cubicBezTo>
                  <a:pt x="90141" y="13511"/>
                  <a:pt x="81064" y="22588"/>
                  <a:pt x="81064" y="33777"/>
                </a:cubicBezTo>
                <a:lnTo>
                  <a:pt x="81064" y="60798"/>
                </a:lnTo>
                <a:cubicBezTo>
                  <a:pt x="81064" y="71986"/>
                  <a:pt x="90141" y="81064"/>
                  <a:pt x="101330" y="81064"/>
                </a:cubicBezTo>
                <a:lnTo>
                  <a:pt x="108085" y="81064"/>
                </a:lnTo>
                <a:lnTo>
                  <a:pt x="108085" y="94574"/>
                </a:lnTo>
                <a:lnTo>
                  <a:pt x="13511" y="94574"/>
                </a:lnTo>
                <a:cubicBezTo>
                  <a:pt x="6038" y="94574"/>
                  <a:pt x="0" y="100612"/>
                  <a:pt x="0" y="108085"/>
                </a:cubicBezTo>
                <a:cubicBezTo>
                  <a:pt x="0" y="115558"/>
                  <a:pt x="6038" y="121596"/>
                  <a:pt x="13511" y="121596"/>
                </a:cubicBezTo>
                <a:lnTo>
                  <a:pt x="54043" y="121596"/>
                </a:lnTo>
                <a:lnTo>
                  <a:pt x="54043" y="135106"/>
                </a:lnTo>
                <a:lnTo>
                  <a:pt x="47287" y="135106"/>
                </a:lnTo>
                <a:cubicBezTo>
                  <a:pt x="36099" y="135106"/>
                  <a:pt x="27021" y="144184"/>
                  <a:pt x="27021" y="155372"/>
                </a:cubicBezTo>
                <a:lnTo>
                  <a:pt x="27021" y="182394"/>
                </a:lnTo>
                <a:cubicBezTo>
                  <a:pt x="27021" y="193582"/>
                  <a:pt x="36099" y="202660"/>
                  <a:pt x="47287" y="202660"/>
                </a:cubicBezTo>
                <a:lnTo>
                  <a:pt x="87819" y="202660"/>
                </a:lnTo>
                <a:cubicBezTo>
                  <a:pt x="99008" y="202660"/>
                  <a:pt x="108085" y="193582"/>
                  <a:pt x="108085" y="182394"/>
                </a:cubicBezTo>
                <a:lnTo>
                  <a:pt x="108085" y="155372"/>
                </a:lnTo>
                <a:cubicBezTo>
                  <a:pt x="108085" y="144184"/>
                  <a:pt x="99008" y="135106"/>
                  <a:pt x="87819" y="135106"/>
                </a:cubicBezTo>
                <a:lnTo>
                  <a:pt x="81064" y="135106"/>
                </a:lnTo>
                <a:lnTo>
                  <a:pt x="81064" y="121596"/>
                </a:lnTo>
                <a:lnTo>
                  <a:pt x="162128" y="121596"/>
                </a:lnTo>
                <a:lnTo>
                  <a:pt x="162128" y="135106"/>
                </a:lnTo>
                <a:lnTo>
                  <a:pt x="155372" y="135106"/>
                </a:lnTo>
                <a:cubicBezTo>
                  <a:pt x="144184" y="135106"/>
                  <a:pt x="135106" y="144184"/>
                  <a:pt x="135106" y="155372"/>
                </a:cubicBezTo>
                <a:lnTo>
                  <a:pt x="135106" y="182394"/>
                </a:lnTo>
                <a:cubicBezTo>
                  <a:pt x="135106" y="193582"/>
                  <a:pt x="144184" y="202660"/>
                  <a:pt x="155372" y="202660"/>
                </a:cubicBezTo>
                <a:lnTo>
                  <a:pt x="195904" y="202660"/>
                </a:lnTo>
                <a:cubicBezTo>
                  <a:pt x="207093" y="202660"/>
                  <a:pt x="216170" y="193582"/>
                  <a:pt x="216170" y="182394"/>
                </a:cubicBezTo>
                <a:lnTo>
                  <a:pt x="216170" y="155372"/>
                </a:lnTo>
                <a:cubicBezTo>
                  <a:pt x="216170" y="144184"/>
                  <a:pt x="207093" y="135106"/>
                  <a:pt x="195904" y="135106"/>
                </a:cubicBezTo>
                <a:lnTo>
                  <a:pt x="189149" y="135106"/>
                </a:lnTo>
                <a:lnTo>
                  <a:pt x="189149" y="121596"/>
                </a:lnTo>
                <a:lnTo>
                  <a:pt x="229681" y="121596"/>
                </a:lnTo>
                <a:cubicBezTo>
                  <a:pt x="237154" y="121596"/>
                  <a:pt x="243191" y="115558"/>
                  <a:pt x="243191" y="108085"/>
                </a:cubicBezTo>
                <a:cubicBezTo>
                  <a:pt x="243191" y="100612"/>
                  <a:pt x="237154" y="94574"/>
                  <a:pt x="229681" y="94574"/>
                </a:cubicBezTo>
                <a:lnTo>
                  <a:pt x="135106" y="94574"/>
                </a:lnTo>
                <a:lnTo>
                  <a:pt x="135106" y="81064"/>
                </a:lnTo>
                <a:lnTo>
                  <a:pt x="141862" y="81064"/>
                </a:lnTo>
                <a:cubicBezTo>
                  <a:pt x="153050" y="81064"/>
                  <a:pt x="162128" y="71986"/>
                  <a:pt x="162128" y="60798"/>
                </a:cubicBezTo>
                <a:lnTo>
                  <a:pt x="162128" y="33777"/>
                </a:lnTo>
                <a:cubicBezTo>
                  <a:pt x="162128" y="22588"/>
                  <a:pt x="153050" y="13511"/>
                  <a:pt x="141862" y="13511"/>
                </a:cubicBezTo>
                <a:lnTo>
                  <a:pt x="101330" y="13511"/>
                </a:lnTo>
                <a:close/>
                <a:moveTo>
                  <a:pt x="189149" y="158750"/>
                </a:moveTo>
                <a:lnTo>
                  <a:pt x="192527" y="158750"/>
                </a:lnTo>
                <a:lnTo>
                  <a:pt x="192527" y="179016"/>
                </a:lnTo>
                <a:lnTo>
                  <a:pt x="158750" y="179016"/>
                </a:lnTo>
                <a:lnTo>
                  <a:pt x="158750" y="158750"/>
                </a:lnTo>
                <a:lnTo>
                  <a:pt x="189149" y="158750"/>
                </a:lnTo>
                <a:close/>
                <a:moveTo>
                  <a:pt x="81064" y="158750"/>
                </a:moveTo>
                <a:lnTo>
                  <a:pt x="84441" y="158750"/>
                </a:lnTo>
                <a:lnTo>
                  <a:pt x="84441" y="179016"/>
                </a:lnTo>
                <a:lnTo>
                  <a:pt x="50665" y="179016"/>
                </a:lnTo>
                <a:lnTo>
                  <a:pt x="50665" y="158750"/>
                </a:lnTo>
                <a:lnTo>
                  <a:pt x="81064" y="158750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392170" y="7576766"/>
            <a:ext cx="875489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网络开销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92255" y="7965872"/>
            <a:ext cx="4734128" cy="281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写入时只需</a:t>
            </a:r>
            <a:r>
              <a:rPr lang="en-US" sz="13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跨机架传输一次</a:t>
            </a:r>
            <a:r>
              <a:rPr lang="en-US" sz="136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，平衡了容错能力和网络带宽。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708" y="433708"/>
            <a:ext cx="2645080" cy="353391"/>
          </a:xfrm>
          <a:custGeom>
            <a:avLst/>
            <a:gdLst/>
            <a:ahLst/>
            <a:cxnLst/>
            <a:rect l="l" t="t" r="r" b="b"/>
            <a:pathLst>
              <a:path w="2645080" h="353391">
                <a:moveTo>
                  <a:pt x="176696" y="0"/>
                </a:moveTo>
                <a:lnTo>
                  <a:pt x="2468385" y="0"/>
                </a:lnTo>
                <a:cubicBezTo>
                  <a:pt x="2565971" y="0"/>
                  <a:pt x="2645080" y="79109"/>
                  <a:pt x="2645080" y="176696"/>
                </a:cubicBezTo>
                <a:lnTo>
                  <a:pt x="2645080" y="176696"/>
                </a:lnTo>
                <a:cubicBezTo>
                  <a:pt x="2645080" y="274282"/>
                  <a:pt x="2565971" y="353391"/>
                  <a:pt x="2468385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0403" y="497960"/>
            <a:ext cx="2373428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kern="0" spc="13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TOPOLOGY &amp; LOCALITY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8353" y="920959"/>
            <a:ext cx="15656306" cy="51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47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网络拓扑与数据本地性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8353" y="1563489"/>
            <a:ext cx="15506382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网络拓扑结构与数据本地性优化策略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708" y="2040032"/>
            <a:ext cx="7581850" cy="3823051"/>
          </a:xfrm>
          <a:custGeom>
            <a:avLst/>
            <a:gdLst/>
            <a:ahLst/>
            <a:cxnLst/>
            <a:rect l="l" t="t" r="r" b="b"/>
            <a:pathLst>
              <a:path w="7581850" h="3823051">
                <a:moveTo>
                  <a:pt x="85675" y="0"/>
                </a:moveTo>
                <a:lnTo>
                  <a:pt x="7496175" y="0"/>
                </a:lnTo>
                <a:cubicBezTo>
                  <a:pt x="7543492" y="0"/>
                  <a:pt x="7581850" y="38358"/>
                  <a:pt x="7581850" y="85675"/>
                </a:cubicBezTo>
                <a:lnTo>
                  <a:pt x="7581850" y="3737377"/>
                </a:lnTo>
                <a:cubicBezTo>
                  <a:pt x="7581850" y="3784694"/>
                  <a:pt x="7543492" y="3823051"/>
                  <a:pt x="7496175" y="3823051"/>
                </a:cubicBezTo>
                <a:lnTo>
                  <a:pt x="85675" y="3823051"/>
                </a:lnTo>
                <a:cubicBezTo>
                  <a:pt x="38358" y="3823051"/>
                  <a:pt x="0" y="3784694"/>
                  <a:pt x="0" y="3737377"/>
                </a:cubicBezTo>
                <a:lnTo>
                  <a:pt x="0" y="85675"/>
                </a:lnTo>
                <a:cubicBezTo>
                  <a:pt x="0" y="38358"/>
                  <a:pt x="38358" y="0"/>
                  <a:pt x="8567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0011" y="2302398"/>
            <a:ext cx="214177" cy="214177"/>
          </a:xfrm>
          <a:custGeom>
            <a:avLst/>
            <a:gdLst/>
            <a:ahLst/>
            <a:cxnLst/>
            <a:rect l="l" t="t" r="r" b="b"/>
            <a:pathLst>
              <a:path w="214177" h="214177">
                <a:moveTo>
                  <a:pt x="80316" y="26772"/>
                </a:moveTo>
                <a:cubicBezTo>
                  <a:pt x="80316" y="19368"/>
                  <a:pt x="86298" y="13386"/>
                  <a:pt x="93702" y="13386"/>
                </a:cubicBezTo>
                <a:lnTo>
                  <a:pt x="120474" y="13386"/>
                </a:lnTo>
                <a:cubicBezTo>
                  <a:pt x="127878" y="13386"/>
                  <a:pt x="133860" y="19368"/>
                  <a:pt x="133860" y="26772"/>
                </a:cubicBezTo>
                <a:lnTo>
                  <a:pt x="133860" y="53544"/>
                </a:lnTo>
                <a:cubicBezTo>
                  <a:pt x="133860" y="60948"/>
                  <a:pt x="127878" y="66930"/>
                  <a:pt x="120474" y="66930"/>
                </a:cubicBezTo>
                <a:lnTo>
                  <a:pt x="117128" y="66930"/>
                </a:lnTo>
                <a:lnTo>
                  <a:pt x="117128" y="93702"/>
                </a:lnTo>
                <a:lnTo>
                  <a:pt x="167325" y="93702"/>
                </a:lnTo>
                <a:cubicBezTo>
                  <a:pt x="183974" y="93702"/>
                  <a:pt x="197444" y="107172"/>
                  <a:pt x="197444" y="123821"/>
                </a:cubicBezTo>
                <a:lnTo>
                  <a:pt x="197444" y="147246"/>
                </a:lnTo>
                <a:lnTo>
                  <a:pt x="200791" y="147246"/>
                </a:lnTo>
                <a:cubicBezTo>
                  <a:pt x="208195" y="147246"/>
                  <a:pt x="214177" y="153228"/>
                  <a:pt x="214177" y="160632"/>
                </a:cubicBezTo>
                <a:lnTo>
                  <a:pt x="214177" y="187404"/>
                </a:lnTo>
                <a:cubicBezTo>
                  <a:pt x="214177" y="194809"/>
                  <a:pt x="208195" y="200791"/>
                  <a:pt x="200791" y="200791"/>
                </a:cubicBezTo>
                <a:lnTo>
                  <a:pt x="174018" y="200791"/>
                </a:lnTo>
                <a:cubicBezTo>
                  <a:pt x="166614" y="200791"/>
                  <a:pt x="160632" y="194809"/>
                  <a:pt x="160632" y="187404"/>
                </a:cubicBezTo>
                <a:lnTo>
                  <a:pt x="160632" y="160632"/>
                </a:lnTo>
                <a:cubicBezTo>
                  <a:pt x="160632" y="153228"/>
                  <a:pt x="166614" y="147246"/>
                  <a:pt x="174018" y="147246"/>
                </a:cubicBezTo>
                <a:lnTo>
                  <a:pt x="177365" y="147246"/>
                </a:lnTo>
                <a:lnTo>
                  <a:pt x="177365" y="123821"/>
                </a:lnTo>
                <a:cubicBezTo>
                  <a:pt x="177365" y="118257"/>
                  <a:pt x="172889" y="113781"/>
                  <a:pt x="167325" y="113781"/>
                </a:cubicBezTo>
                <a:lnTo>
                  <a:pt x="117128" y="113781"/>
                </a:lnTo>
                <a:lnTo>
                  <a:pt x="117128" y="147246"/>
                </a:lnTo>
                <a:lnTo>
                  <a:pt x="120474" y="147246"/>
                </a:lnTo>
                <a:cubicBezTo>
                  <a:pt x="127878" y="147246"/>
                  <a:pt x="133860" y="153228"/>
                  <a:pt x="133860" y="160632"/>
                </a:cubicBezTo>
                <a:lnTo>
                  <a:pt x="133860" y="187404"/>
                </a:lnTo>
                <a:cubicBezTo>
                  <a:pt x="133860" y="194809"/>
                  <a:pt x="127878" y="200791"/>
                  <a:pt x="120474" y="200791"/>
                </a:cubicBezTo>
                <a:lnTo>
                  <a:pt x="93702" y="200791"/>
                </a:lnTo>
                <a:cubicBezTo>
                  <a:pt x="86298" y="200791"/>
                  <a:pt x="80316" y="194809"/>
                  <a:pt x="80316" y="187404"/>
                </a:cubicBezTo>
                <a:lnTo>
                  <a:pt x="80316" y="160632"/>
                </a:lnTo>
                <a:cubicBezTo>
                  <a:pt x="80316" y="153228"/>
                  <a:pt x="86298" y="147246"/>
                  <a:pt x="93702" y="147246"/>
                </a:cubicBezTo>
                <a:lnTo>
                  <a:pt x="97049" y="147246"/>
                </a:lnTo>
                <a:lnTo>
                  <a:pt x="97049" y="113781"/>
                </a:lnTo>
                <a:lnTo>
                  <a:pt x="46851" y="113781"/>
                </a:lnTo>
                <a:cubicBezTo>
                  <a:pt x="41288" y="113781"/>
                  <a:pt x="36812" y="118257"/>
                  <a:pt x="36812" y="123821"/>
                </a:cubicBezTo>
                <a:lnTo>
                  <a:pt x="36812" y="147246"/>
                </a:lnTo>
                <a:lnTo>
                  <a:pt x="40158" y="147246"/>
                </a:lnTo>
                <a:cubicBezTo>
                  <a:pt x="47562" y="147246"/>
                  <a:pt x="53544" y="153228"/>
                  <a:pt x="53544" y="160632"/>
                </a:cubicBezTo>
                <a:lnTo>
                  <a:pt x="53544" y="187404"/>
                </a:lnTo>
                <a:cubicBezTo>
                  <a:pt x="53544" y="194809"/>
                  <a:pt x="47562" y="200791"/>
                  <a:pt x="40158" y="200791"/>
                </a:cubicBezTo>
                <a:lnTo>
                  <a:pt x="13386" y="200791"/>
                </a:lnTo>
                <a:cubicBezTo>
                  <a:pt x="5982" y="200791"/>
                  <a:pt x="0" y="194809"/>
                  <a:pt x="0" y="187404"/>
                </a:cubicBezTo>
                <a:lnTo>
                  <a:pt x="0" y="160632"/>
                </a:lnTo>
                <a:cubicBezTo>
                  <a:pt x="0" y="153228"/>
                  <a:pt x="5982" y="147246"/>
                  <a:pt x="13386" y="147246"/>
                </a:cubicBezTo>
                <a:lnTo>
                  <a:pt x="16733" y="147246"/>
                </a:lnTo>
                <a:lnTo>
                  <a:pt x="16733" y="123821"/>
                </a:lnTo>
                <a:cubicBezTo>
                  <a:pt x="16733" y="107172"/>
                  <a:pt x="30202" y="93702"/>
                  <a:pt x="46851" y="93702"/>
                </a:cubicBezTo>
                <a:lnTo>
                  <a:pt x="97049" y="93702"/>
                </a:lnTo>
                <a:lnTo>
                  <a:pt x="97049" y="66930"/>
                </a:lnTo>
                <a:lnTo>
                  <a:pt x="93702" y="66930"/>
                </a:lnTo>
                <a:cubicBezTo>
                  <a:pt x="86298" y="66930"/>
                  <a:pt x="80316" y="60948"/>
                  <a:pt x="80316" y="53544"/>
                </a:cubicBezTo>
                <a:lnTo>
                  <a:pt x="80316" y="26772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0959" y="2259563"/>
            <a:ext cx="6982155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网络拓扑结构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238" y="2687916"/>
            <a:ext cx="7228458" cy="55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使用</a:t>
            </a:r>
            <a:r>
              <a:rPr lang="en-US" sz="134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树形网络拓扑结构</a:t>
            </a:r>
            <a:r>
              <a:rPr lang="en-US" sz="134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来表示集群的网络层次关系，从 Root 到 DataCenter 到 Rack 再到 Node，形成四级层次结构。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238" y="3373281"/>
            <a:ext cx="7142788" cy="1670577"/>
          </a:xfrm>
          <a:custGeom>
            <a:avLst/>
            <a:gdLst/>
            <a:ahLst/>
            <a:cxnLst/>
            <a:rect l="l" t="t" r="r" b="b"/>
            <a:pathLst>
              <a:path w="7142788" h="1670577">
                <a:moveTo>
                  <a:pt x="85667" y="0"/>
                </a:moveTo>
                <a:lnTo>
                  <a:pt x="7057121" y="0"/>
                </a:lnTo>
                <a:cubicBezTo>
                  <a:pt x="7104433" y="0"/>
                  <a:pt x="7142788" y="38355"/>
                  <a:pt x="7142788" y="85667"/>
                </a:cubicBezTo>
                <a:lnTo>
                  <a:pt x="7142788" y="1584910"/>
                </a:lnTo>
                <a:cubicBezTo>
                  <a:pt x="7142788" y="1632223"/>
                  <a:pt x="7104433" y="1670577"/>
                  <a:pt x="7057121" y="1670577"/>
                </a:cubicBezTo>
                <a:lnTo>
                  <a:pt x="85667" y="1670577"/>
                </a:lnTo>
                <a:cubicBezTo>
                  <a:pt x="38355" y="1670577"/>
                  <a:pt x="0" y="1632223"/>
                  <a:pt x="0" y="1584910"/>
                </a:cubicBezTo>
                <a:lnTo>
                  <a:pt x="0" y="85667"/>
                </a:lnTo>
                <a:cubicBezTo>
                  <a:pt x="0" y="38386"/>
                  <a:pt x="38386" y="0"/>
                  <a:pt x="85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931980" y="3507141"/>
            <a:ext cx="588986" cy="310556"/>
          </a:xfrm>
          <a:custGeom>
            <a:avLst/>
            <a:gdLst/>
            <a:ahLst/>
            <a:cxnLst/>
            <a:rect l="l" t="t" r="r" b="b"/>
            <a:pathLst>
              <a:path w="588986" h="310556">
                <a:moveTo>
                  <a:pt x="42835" y="0"/>
                </a:moveTo>
                <a:lnTo>
                  <a:pt x="546151" y="0"/>
                </a:lnTo>
                <a:cubicBezTo>
                  <a:pt x="569808" y="0"/>
                  <a:pt x="588986" y="19178"/>
                  <a:pt x="588986" y="42835"/>
                </a:cubicBezTo>
                <a:lnTo>
                  <a:pt x="588986" y="267721"/>
                </a:lnTo>
                <a:cubicBezTo>
                  <a:pt x="588986" y="291378"/>
                  <a:pt x="569808" y="310556"/>
                  <a:pt x="546151" y="310556"/>
                </a:cubicBezTo>
                <a:lnTo>
                  <a:pt x="42835" y="310556"/>
                </a:lnTo>
                <a:cubicBezTo>
                  <a:pt x="19178" y="310556"/>
                  <a:pt x="0" y="291378"/>
                  <a:pt x="0" y="267721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889145" y="3501787"/>
            <a:ext cx="653238" cy="299847"/>
          </a:xfrm>
          <a:prstGeom prst="rect">
            <a:avLst/>
          </a:prstGeom>
          <a:noFill/>
          <a:ln/>
        </p:spPr>
        <p:txBody>
          <a:bodyPr wrap="square" lIns="128506" tIns="42835" rIns="128506" bIns="42835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04077" y="3914076"/>
            <a:ext cx="1113718" cy="310556"/>
          </a:xfrm>
          <a:custGeom>
            <a:avLst/>
            <a:gdLst/>
            <a:ahLst/>
            <a:cxnLst/>
            <a:rect l="l" t="t" r="r" b="b"/>
            <a:pathLst>
              <a:path w="1113718" h="310556">
                <a:moveTo>
                  <a:pt x="42835" y="0"/>
                </a:moveTo>
                <a:lnTo>
                  <a:pt x="1070883" y="0"/>
                </a:lnTo>
                <a:cubicBezTo>
                  <a:pt x="1094540" y="0"/>
                  <a:pt x="1113718" y="19178"/>
                  <a:pt x="1113718" y="42835"/>
                </a:cubicBezTo>
                <a:lnTo>
                  <a:pt x="1113718" y="267721"/>
                </a:lnTo>
                <a:cubicBezTo>
                  <a:pt x="1113718" y="291378"/>
                  <a:pt x="1094540" y="310556"/>
                  <a:pt x="1070883" y="310556"/>
                </a:cubicBezTo>
                <a:lnTo>
                  <a:pt x="42835" y="310556"/>
                </a:lnTo>
                <a:cubicBezTo>
                  <a:pt x="19178" y="310556"/>
                  <a:pt x="0" y="291378"/>
                  <a:pt x="0" y="267721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961242" y="3908722"/>
            <a:ext cx="1177971" cy="299847"/>
          </a:xfrm>
          <a:prstGeom prst="rect">
            <a:avLst/>
          </a:prstGeom>
          <a:noFill/>
          <a:ln/>
        </p:spPr>
        <p:txBody>
          <a:bodyPr wrap="square" lIns="128506" tIns="42835" rIns="128506" bIns="42835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DataCenter1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3526" y="3914076"/>
            <a:ext cx="1145845" cy="310556"/>
          </a:xfrm>
          <a:custGeom>
            <a:avLst/>
            <a:gdLst/>
            <a:ahLst/>
            <a:cxnLst/>
            <a:rect l="l" t="t" r="r" b="b"/>
            <a:pathLst>
              <a:path w="1145845" h="310556">
                <a:moveTo>
                  <a:pt x="42835" y="0"/>
                </a:moveTo>
                <a:lnTo>
                  <a:pt x="1103010" y="0"/>
                </a:lnTo>
                <a:cubicBezTo>
                  <a:pt x="1126667" y="0"/>
                  <a:pt x="1145845" y="19178"/>
                  <a:pt x="1145845" y="42835"/>
                </a:cubicBezTo>
                <a:lnTo>
                  <a:pt x="1145845" y="267721"/>
                </a:lnTo>
                <a:cubicBezTo>
                  <a:pt x="1145845" y="291378"/>
                  <a:pt x="1126667" y="310556"/>
                  <a:pt x="1103010" y="310556"/>
                </a:cubicBezTo>
                <a:lnTo>
                  <a:pt x="42835" y="310556"/>
                </a:lnTo>
                <a:cubicBezTo>
                  <a:pt x="19178" y="310556"/>
                  <a:pt x="0" y="291378"/>
                  <a:pt x="0" y="267721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260691" y="3908722"/>
            <a:ext cx="1210097" cy="299847"/>
          </a:xfrm>
          <a:prstGeom prst="rect">
            <a:avLst/>
          </a:prstGeom>
          <a:noFill/>
          <a:ln/>
        </p:spPr>
        <p:txBody>
          <a:bodyPr wrap="square" lIns="128506" tIns="42835" rIns="128506" bIns="42835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DataCenter2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099" y="4321012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49618" y="4315657"/>
            <a:ext cx="1702704" cy="257012"/>
          </a:xfrm>
          <a:prstGeom prst="rect">
            <a:avLst/>
          </a:prstGeom>
          <a:noFill/>
          <a:ln/>
        </p:spPr>
        <p:txBody>
          <a:bodyPr wrap="square" lIns="85671" tIns="42835" rIns="85671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30211" y="4321012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492731" y="4315657"/>
            <a:ext cx="1702704" cy="257012"/>
          </a:xfrm>
          <a:prstGeom prst="rect">
            <a:avLst/>
          </a:prstGeom>
          <a:noFill/>
          <a:ln/>
        </p:spPr>
        <p:txBody>
          <a:bodyPr wrap="square" lIns="85671" tIns="42835" rIns="85671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73408" y="4321012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235927" y="4315657"/>
            <a:ext cx="1702704" cy="257012"/>
          </a:xfrm>
          <a:prstGeom prst="rect">
            <a:avLst/>
          </a:prstGeom>
          <a:noFill/>
          <a:ln/>
        </p:spPr>
        <p:txBody>
          <a:bodyPr wrap="square" lIns="85671" tIns="42835" rIns="85671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16520" y="4321012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79040" y="4315657"/>
            <a:ext cx="1702704" cy="257012"/>
          </a:xfrm>
          <a:prstGeom prst="rect">
            <a:avLst/>
          </a:prstGeom>
          <a:noFill/>
          <a:ln/>
        </p:spPr>
        <p:txBody>
          <a:bodyPr wrap="square" lIns="85671" tIns="42835" rIns="85671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7099" y="4642277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49618" y="4636922"/>
            <a:ext cx="1702704" cy="257012"/>
          </a:xfrm>
          <a:prstGeom prst="rect">
            <a:avLst/>
          </a:prstGeom>
          <a:noFill/>
          <a:ln/>
        </p:spPr>
        <p:txBody>
          <a:bodyPr wrap="square" lIns="42835" tIns="42835" rIns="42835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30211" y="4642277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492731" y="4636922"/>
            <a:ext cx="1702704" cy="257012"/>
          </a:xfrm>
          <a:prstGeom prst="rect">
            <a:avLst/>
          </a:prstGeom>
          <a:noFill/>
          <a:ln/>
        </p:spPr>
        <p:txBody>
          <a:bodyPr wrap="square" lIns="42835" tIns="42835" rIns="42835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73408" y="4642277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235927" y="4636922"/>
            <a:ext cx="1702704" cy="257012"/>
          </a:xfrm>
          <a:prstGeom prst="rect">
            <a:avLst/>
          </a:prstGeom>
          <a:noFill/>
          <a:ln/>
        </p:spPr>
        <p:txBody>
          <a:bodyPr wrap="square" lIns="42835" tIns="42835" rIns="42835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16520" y="4642277"/>
            <a:ext cx="1649159" cy="267721"/>
          </a:xfrm>
          <a:custGeom>
            <a:avLst/>
            <a:gdLst/>
            <a:ahLst/>
            <a:cxnLst/>
            <a:rect l="l" t="t" r="r" b="b"/>
            <a:pathLst>
              <a:path w="1649159" h="267721">
                <a:moveTo>
                  <a:pt x="42835" y="0"/>
                </a:moveTo>
                <a:lnTo>
                  <a:pt x="1606324" y="0"/>
                </a:lnTo>
                <a:cubicBezTo>
                  <a:pt x="1629981" y="0"/>
                  <a:pt x="1649159" y="19178"/>
                  <a:pt x="1649159" y="42835"/>
                </a:cubicBezTo>
                <a:lnTo>
                  <a:pt x="1649159" y="224885"/>
                </a:lnTo>
                <a:cubicBezTo>
                  <a:pt x="1649159" y="248543"/>
                  <a:pt x="1629981" y="267721"/>
                  <a:pt x="1606324" y="267721"/>
                </a:cubicBezTo>
                <a:lnTo>
                  <a:pt x="42835" y="267721"/>
                </a:lnTo>
                <a:cubicBezTo>
                  <a:pt x="19178" y="267721"/>
                  <a:pt x="0" y="248543"/>
                  <a:pt x="0" y="224885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979040" y="4636922"/>
            <a:ext cx="1702704" cy="257012"/>
          </a:xfrm>
          <a:prstGeom prst="rect">
            <a:avLst/>
          </a:prstGeom>
          <a:noFill/>
          <a:ln/>
        </p:spPr>
        <p:txBody>
          <a:bodyPr wrap="square" lIns="42835" tIns="42835" rIns="42835" bIns="42835" rtlCol="0" anchor="ctr"/>
          <a:lstStyle/>
          <a:p>
            <a:pPr algn="ctr">
              <a:lnSpc>
                <a:spcPct val="110000"/>
              </a:lnSpc>
            </a:pPr>
            <a:r>
              <a:rPr lang="en-US" sz="101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1614" y="2040032"/>
            <a:ext cx="7581850" cy="3823051"/>
          </a:xfrm>
          <a:custGeom>
            <a:avLst/>
            <a:gdLst/>
            <a:ahLst/>
            <a:cxnLst/>
            <a:rect l="l" t="t" r="r" b="b"/>
            <a:pathLst>
              <a:path w="7581850" h="3823051">
                <a:moveTo>
                  <a:pt x="85675" y="0"/>
                </a:moveTo>
                <a:lnTo>
                  <a:pt x="7496175" y="0"/>
                </a:lnTo>
                <a:cubicBezTo>
                  <a:pt x="7543492" y="0"/>
                  <a:pt x="7581850" y="38358"/>
                  <a:pt x="7581850" y="85675"/>
                </a:cubicBezTo>
                <a:lnTo>
                  <a:pt x="7581850" y="3737377"/>
                </a:lnTo>
                <a:cubicBezTo>
                  <a:pt x="7581850" y="3784694"/>
                  <a:pt x="7543492" y="3823051"/>
                  <a:pt x="7496175" y="3823051"/>
                </a:cubicBezTo>
                <a:lnTo>
                  <a:pt x="85675" y="3823051"/>
                </a:lnTo>
                <a:cubicBezTo>
                  <a:pt x="38358" y="3823051"/>
                  <a:pt x="0" y="3784694"/>
                  <a:pt x="0" y="3737377"/>
                </a:cubicBezTo>
                <a:lnTo>
                  <a:pt x="0" y="85675"/>
                </a:lnTo>
                <a:cubicBezTo>
                  <a:pt x="0" y="38358"/>
                  <a:pt x="38358" y="0"/>
                  <a:pt x="8567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74531" y="2302398"/>
            <a:ext cx="240949" cy="214177"/>
          </a:xfrm>
          <a:custGeom>
            <a:avLst/>
            <a:gdLst/>
            <a:ahLst/>
            <a:cxnLst/>
            <a:rect l="l" t="t" r="r" b="b"/>
            <a:pathLst>
              <a:path w="240949" h="214177">
                <a:moveTo>
                  <a:pt x="87469" y="215933"/>
                </a:moveTo>
                <a:cubicBezTo>
                  <a:pt x="79647" y="223756"/>
                  <a:pt x="66930" y="223756"/>
                  <a:pt x="59066" y="215933"/>
                </a:cubicBezTo>
                <a:lnTo>
                  <a:pt x="11755" y="168622"/>
                </a:lnTo>
                <a:cubicBezTo>
                  <a:pt x="3932" y="160800"/>
                  <a:pt x="3932" y="148083"/>
                  <a:pt x="11755" y="140219"/>
                </a:cubicBezTo>
                <a:lnTo>
                  <a:pt x="18866" y="133107"/>
                </a:lnTo>
                <a:lnTo>
                  <a:pt x="49612" y="163853"/>
                </a:lnTo>
                <a:cubicBezTo>
                  <a:pt x="53544" y="167786"/>
                  <a:pt x="59903" y="167786"/>
                  <a:pt x="63793" y="163853"/>
                </a:cubicBezTo>
                <a:cubicBezTo>
                  <a:pt x="67683" y="159921"/>
                  <a:pt x="67725" y="153563"/>
                  <a:pt x="63793" y="149673"/>
                </a:cubicBezTo>
                <a:lnTo>
                  <a:pt x="33047" y="118927"/>
                </a:lnTo>
                <a:lnTo>
                  <a:pt x="47228" y="104746"/>
                </a:lnTo>
                <a:lnTo>
                  <a:pt x="68520" y="126038"/>
                </a:lnTo>
                <a:cubicBezTo>
                  <a:pt x="72452" y="129970"/>
                  <a:pt x="78810" y="129970"/>
                  <a:pt x="82701" y="126038"/>
                </a:cubicBezTo>
                <a:cubicBezTo>
                  <a:pt x="86591" y="122106"/>
                  <a:pt x="86633" y="115747"/>
                  <a:pt x="82701" y="111857"/>
                </a:cubicBezTo>
                <a:lnTo>
                  <a:pt x="61408" y="90565"/>
                </a:lnTo>
                <a:lnTo>
                  <a:pt x="75589" y="76384"/>
                </a:lnTo>
                <a:lnTo>
                  <a:pt x="106335" y="107130"/>
                </a:lnTo>
                <a:cubicBezTo>
                  <a:pt x="110267" y="111062"/>
                  <a:pt x="116626" y="111062"/>
                  <a:pt x="120516" y="107130"/>
                </a:cubicBezTo>
                <a:cubicBezTo>
                  <a:pt x="124406" y="103198"/>
                  <a:pt x="124448" y="96840"/>
                  <a:pt x="120516" y="92949"/>
                </a:cubicBezTo>
                <a:lnTo>
                  <a:pt x="89770" y="62203"/>
                </a:lnTo>
                <a:lnTo>
                  <a:pt x="103951" y="48022"/>
                </a:lnTo>
                <a:lnTo>
                  <a:pt x="125243" y="69315"/>
                </a:lnTo>
                <a:cubicBezTo>
                  <a:pt x="129175" y="73247"/>
                  <a:pt x="135534" y="73247"/>
                  <a:pt x="139424" y="69315"/>
                </a:cubicBezTo>
                <a:cubicBezTo>
                  <a:pt x="143314" y="65382"/>
                  <a:pt x="143356" y="59024"/>
                  <a:pt x="139424" y="55134"/>
                </a:cubicBezTo>
                <a:lnTo>
                  <a:pt x="118132" y="33842"/>
                </a:lnTo>
                <a:lnTo>
                  <a:pt x="132313" y="19661"/>
                </a:lnTo>
                <a:lnTo>
                  <a:pt x="163059" y="50407"/>
                </a:lnTo>
                <a:cubicBezTo>
                  <a:pt x="166991" y="54339"/>
                  <a:pt x="173349" y="54339"/>
                  <a:pt x="177239" y="50407"/>
                </a:cubicBezTo>
                <a:cubicBezTo>
                  <a:pt x="181130" y="46475"/>
                  <a:pt x="181172" y="40116"/>
                  <a:pt x="177239" y="36226"/>
                </a:cubicBezTo>
                <a:lnTo>
                  <a:pt x="146493" y="5480"/>
                </a:lnTo>
                <a:lnTo>
                  <a:pt x="153605" y="-1631"/>
                </a:lnTo>
                <a:cubicBezTo>
                  <a:pt x="161427" y="-9454"/>
                  <a:pt x="174144" y="-9454"/>
                  <a:pt x="182008" y="-1631"/>
                </a:cubicBezTo>
                <a:lnTo>
                  <a:pt x="229445" y="45554"/>
                </a:lnTo>
                <a:cubicBezTo>
                  <a:pt x="237267" y="53377"/>
                  <a:pt x="237267" y="66094"/>
                  <a:pt x="229445" y="73958"/>
                </a:cubicBezTo>
                <a:lnTo>
                  <a:pt x="87469" y="215933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728866" y="2259563"/>
            <a:ext cx="6982155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网络距离计算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61145" y="2687916"/>
            <a:ext cx="7228458" cy="55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网络距离定义为</a:t>
            </a:r>
            <a:r>
              <a:rPr lang="en-US" sz="134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两个节点到最近公共祖先的距离之和</a:t>
            </a:r>
            <a:r>
              <a:rPr lang="en-US" sz="134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，距离值越小表示网络带宽越高、延迟越低。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61145" y="3373281"/>
            <a:ext cx="7142788" cy="385518"/>
          </a:xfrm>
          <a:custGeom>
            <a:avLst/>
            <a:gdLst/>
            <a:ahLst/>
            <a:cxnLst/>
            <a:rect l="l" t="t" r="r" b="b"/>
            <a:pathLst>
              <a:path w="7142788" h="385518">
                <a:moveTo>
                  <a:pt x="42835" y="0"/>
                </a:moveTo>
                <a:lnTo>
                  <a:pt x="7099953" y="0"/>
                </a:lnTo>
                <a:cubicBezTo>
                  <a:pt x="7123610" y="0"/>
                  <a:pt x="7142788" y="19178"/>
                  <a:pt x="7142788" y="42835"/>
                </a:cubicBezTo>
                <a:lnTo>
                  <a:pt x="7142788" y="342683"/>
                </a:lnTo>
                <a:cubicBezTo>
                  <a:pt x="7142788" y="366340"/>
                  <a:pt x="7123610" y="385518"/>
                  <a:pt x="7099953" y="385518"/>
                </a:cubicBezTo>
                <a:lnTo>
                  <a:pt x="42835" y="385518"/>
                </a:lnTo>
                <a:cubicBezTo>
                  <a:pt x="19178" y="385518"/>
                  <a:pt x="0" y="366340"/>
                  <a:pt x="0" y="342683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09335" y="3458951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节点关系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73865" y="3458951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038479" y="3458951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803009" y="3458951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61145" y="3844469"/>
            <a:ext cx="7142788" cy="385518"/>
          </a:xfrm>
          <a:custGeom>
            <a:avLst/>
            <a:gdLst/>
            <a:ahLst/>
            <a:cxnLst/>
            <a:rect l="l" t="t" r="r" b="b"/>
            <a:pathLst>
              <a:path w="7142788" h="385518">
                <a:moveTo>
                  <a:pt x="42835" y="0"/>
                </a:moveTo>
                <a:lnTo>
                  <a:pt x="7099953" y="0"/>
                </a:lnTo>
                <a:cubicBezTo>
                  <a:pt x="7123610" y="0"/>
                  <a:pt x="7142788" y="19178"/>
                  <a:pt x="7142788" y="42835"/>
                </a:cubicBezTo>
                <a:lnTo>
                  <a:pt x="7142788" y="342683"/>
                </a:lnTo>
                <a:cubicBezTo>
                  <a:pt x="7142788" y="366340"/>
                  <a:pt x="7123610" y="385518"/>
                  <a:pt x="7099953" y="385518"/>
                </a:cubicBezTo>
                <a:lnTo>
                  <a:pt x="42835" y="385518"/>
                </a:lnTo>
                <a:cubicBezTo>
                  <a:pt x="19178" y="385518"/>
                  <a:pt x="0" y="366340"/>
                  <a:pt x="0" y="342683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09335" y="3930140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同一进程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73865" y="3930140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38479" y="3930140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803009" y="3930140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61145" y="4315657"/>
            <a:ext cx="7142788" cy="385518"/>
          </a:xfrm>
          <a:custGeom>
            <a:avLst/>
            <a:gdLst/>
            <a:ahLst/>
            <a:cxnLst/>
            <a:rect l="l" t="t" r="r" b="b"/>
            <a:pathLst>
              <a:path w="7142788" h="385518">
                <a:moveTo>
                  <a:pt x="42835" y="0"/>
                </a:moveTo>
                <a:lnTo>
                  <a:pt x="7099953" y="0"/>
                </a:lnTo>
                <a:cubicBezTo>
                  <a:pt x="7123610" y="0"/>
                  <a:pt x="7142788" y="19178"/>
                  <a:pt x="7142788" y="42835"/>
                </a:cubicBezTo>
                <a:lnTo>
                  <a:pt x="7142788" y="342683"/>
                </a:lnTo>
                <a:cubicBezTo>
                  <a:pt x="7142788" y="366340"/>
                  <a:pt x="7123610" y="385518"/>
                  <a:pt x="7099953" y="385518"/>
                </a:cubicBezTo>
                <a:lnTo>
                  <a:pt x="42835" y="385518"/>
                </a:lnTo>
                <a:cubicBezTo>
                  <a:pt x="19178" y="385518"/>
                  <a:pt x="0" y="366340"/>
                  <a:pt x="0" y="342683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09335" y="4401328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同一节点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73865" y="4401328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038479" y="4401328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803009" y="4401328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μs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61145" y="4786846"/>
            <a:ext cx="7142788" cy="385518"/>
          </a:xfrm>
          <a:custGeom>
            <a:avLst/>
            <a:gdLst/>
            <a:ahLst/>
            <a:cxnLst/>
            <a:rect l="l" t="t" r="r" b="b"/>
            <a:pathLst>
              <a:path w="7142788" h="385518">
                <a:moveTo>
                  <a:pt x="42835" y="0"/>
                </a:moveTo>
                <a:lnTo>
                  <a:pt x="7099953" y="0"/>
                </a:lnTo>
                <a:cubicBezTo>
                  <a:pt x="7123610" y="0"/>
                  <a:pt x="7142788" y="19178"/>
                  <a:pt x="7142788" y="42835"/>
                </a:cubicBezTo>
                <a:lnTo>
                  <a:pt x="7142788" y="342683"/>
                </a:lnTo>
                <a:cubicBezTo>
                  <a:pt x="7142788" y="366340"/>
                  <a:pt x="7123610" y="385518"/>
                  <a:pt x="7099953" y="385518"/>
                </a:cubicBezTo>
                <a:lnTo>
                  <a:pt x="42835" y="385518"/>
                </a:lnTo>
                <a:cubicBezTo>
                  <a:pt x="19178" y="385518"/>
                  <a:pt x="0" y="366340"/>
                  <a:pt x="0" y="342683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09335" y="4872516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同一机架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73865" y="4872516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038479" y="4872516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1-10Gbps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3803009" y="4872516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61145" y="5258034"/>
            <a:ext cx="7142788" cy="385518"/>
          </a:xfrm>
          <a:custGeom>
            <a:avLst/>
            <a:gdLst/>
            <a:ahLst/>
            <a:cxnLst/>
            <a:rect l="l" t="t" r="r" b="b"/>
            <a:pathLst>
              <a:path w="7142788" h="385518">
                <a:moveTo>
                  <a:pt x="42835" y="0"/>
                </a:moveTo>
                <a:lnTo>
                  <a:pt x="7099953" y="0"/>
                </a:lnTo>
                <a:cubicBezTo>
                  <a:pt x="7123610" y="0"/>
                  <a:pt x="7142788" y="19178"/>
                  <a:pt x="7142788" y="42835"/>
                </a:cubicBezTo>
                <a:lnTo>
                  <a:pt x="7142788" y="342683"/>
                </a:lnTo>
                <a:cubicBezTo>
                  <a:pt x="7142788" y="366340"/>
                  <a:pt x="7123610" y="385518"/>
                  <a:pt x="7099953" y="385518"/>
                </a:cubicBezTo>
                <a:lnTo>
                  <a:pt x="42835" y="385518"/>
                </a:lnTo>
                <a:cubicBezTo>
                  <a:pt x="19178" y="385518"/>
                  <a:pt x="0" y="366340"/>
                  <a:pt x="0" y="342683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09335" y="5343705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不同机架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273865" y="5343705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038479" y="5343705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1-10Gbps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803009" y="5343705"/>
            <a:ext cx="1756248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3708" y="6045133"/>
            <a:ext cx="15388585" cy="2420195"/>
          </a:xfrm>
          <a:custGeom>
            <a:avLst/>
            <a:gdLst/>
            <a:ahLst/>
            <a:cxnLst/>
            <a:rect l="l" t="t" r="r" b="b"/>
            <a:pathLst>
              <a:path w="15388585" h="2420195">
                <a:moveTo>
                  <a:pt x="85675" y="0"/>
                </a:moveTo>
                <a:lnTo>
                  <a:pt x="15302910" y="0"/>
                </a:lnTo>
                <a:cubicBezTo>
                  <a:pt x="15350227" y="0"/>
                  <a:pt x="15388585" y="38358"/>
                  <a:pt x="15388585" y="85675"/>
                </a:cubicBezTo>
                <a:lnTo>
                  <a:pt x="15388585" y="2334520"/>
                </a:lnTo>
                <a:cubicBezTo>
                  <a:pt x="15388585" y="2381837"/>
                  <a:pt x="15350227" y="2420195"/>
                  <a:pt x="15302910" y="2420195"/>
                </a:cubicBezTo>
                <a:lnTo>
                  <a:pt x="85675" y="2420195"/>
                </a:lnTo>
                <a:cubicBezTo>
                  <a:pt x="38390" y="2420195"/>
                  <a:pt x="0" y="2381805"/>
                  <a:pt x="0" y="2334520"/>
                </a:cubicBezTo>
                <a:lnTo>
                  <a:pt x="0" y="85675"/>
                </a:lnTo>
                <a:cubicBezTo>
                  <a:pt x="0" y="38390"/>
                  <a:pt x="38390" y="0"/>
                  <a:pt x="8567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706783" y="6307499"/>
            <a:ext cx="160632" cy="214177"/>
          </a:xfrm>
          <a:custGeom>
            <a:avLst/>
            <a:gdLst/>
            <a:ahLst/>
            <a:cxnLst/>
            <a:rect l="l" t="t" r="r" b="b"/>
            <a:pathLst>
              <a:path w="160632" h="214177">
                <a:moveTo>
                  <a:pt x="0" y="78894"/>
                </a:moveTo>
                <a:cubicBezTo>
                  <a:pt x="0" y="35306"/>
                  <a:pt x="35975" y="0"/>
                  <a:pt x="80316" y="0"/>
                </a:cubicBezTo>
                <a:cubicBezTo>
                  <a:pt x="124657" y="0"/>
                  <a:pt x="160632" y="35306"/>
                  <a:pt x="160632" y="78894"/>
                </a:cubicBezTo>
                <a:cubicBezTo>
                  <a:pt x="160632" y="128799"/>
                  <a:pt x="110351" y="188618"/>
                  <a:pt x="89352" y="211416"/>
                </a:cubicBezTo>
                <a:cubicBezTo>
                  <a:pt x="84416" y="216770"/>
                  <a:pt x="76175" y="216770"/>
                  <a:pt x="71239" y="211416"/>
                </a:cubicBezTo>
                <a:cubicBezTo>
                  <a:pt x="50239" y="188618"/>
                  <a:pt x="-42" y="128799"/>
                  <a:pt x="-42" y="78894"/>
                </a:cubicBezTo>
                <a:close/>
                <a:moveTo>
                  <a:pt x="80316" y="107088"/>
                </a:moveTo>
                <a:cubicBezTo>
                  <a:pt x="95092" y="107088"/>
                  <a:pt x="107088" y="95092"/>
                  <a:pt x="107088" y="80316"/>
                </a:cubicBezTo>
                <a:cubicBezTo>
                  <a:pt x="107088" y="65540"/>
                  <a:pt x="95092" y="53544"/>
                  <a:pt x="80316" y="53544"/>
                </a:cubicBezTo>
                <a:cubicBezTo>
                  <a:pt x="65540" y="53544"/>
                  <a:pt x="53544" y="65540"/>
                  <a:pt x="53544" y="80316"/>
                </a:cubicBezTo>
                <a:cubicBezTo>
                  <a:pt x="53544" y="95092"/>
                  <a:pt x="65540" y="107088"/>
                  <a:pt x="80316" y="10708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920959" y="6264664"/>
            <a:ext cx="14788891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数据本地性层次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58593" y="6741207"/>
            <a:ext cx="3598166" cy="1499236"/>
          </a:xfrm>
          <a:custGeom>
            <a:avLst/>
            <a:gdLst/>
            <a:ahLst/>
            <a:cxnLst/>
            <a:rect l="l" t="t" r="r" b="b"/>
            <a:pathLst>
              <a:path w="3598166" h="1499236">
                <a:moveTo>
                  <a:pt x="85666" y="0"/>
                </a:moveTo>
                <a:lnTo>
                  <a:pt x="3512500" y="0"/>
                </a:lnTo>
                <a:cubicBezTo>
                  <a:pt x="3559780" y="0"/>
                  <a:pt x="3598166" y="38386"/>
                  <a:pt x="3598166" y="85666"/>
                </a:cubicBezTo>
                <a:lnTo>
                  <a:pt x="3598166" y="1413570"/>
                </a:lnTo>
                <a:cubicBezTo>
                  <a:pt x="3598166" y="1460850"/>
                  <a:pt x="3559780" y="1499236"/>
                  <a:pt x="3512500" y="1499236"/>
                </a:cubicBezTo>
                <a:lnTo>
                  <a:pt x="85666" y="1499236"/>
                </a:lnTo>
                <a:cubicBezTo>
                  <a:pt x="38386" y="1499236"/>
                  <a:pt x="0" y="1460850"/>
                  <a:pt x="0" y="1413570"/>
                </a:cubicBezTo>
                <a:lnTo>
                  <a:pt x="0" y="85666"/>
                </a:lnTo>
                <a:cubicBezTo>
                  <a:pt x="0" y="38386"/>
                  <a:pt x="38386" y="0"/>
                  <a:pt x="85666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2206269" y="6923257"/>
            <a:ext cx="503315" cy="503315"/>
          </a:xfrm>
          <a:custGeom>
            <a:avLst/>
            <a:gdLst/>
            <a:ahLst/>
            <a:cxnLst/>
            <a:rect l="l" t="t" r="r" b="b"/>
            <a:pathLst>
              <a:path w="503315" h="503315">
                <a:moveTo>
                  <a:pt x="85669" y="0"/>
                </a:moveTo>
                <a:lnTo>
                  <a:pt x="417646" y="0"/>
                </a:lnTo>
                <a:cubicBezTo>
                  <a:pt x="464959" y="0"/>
                  <a:pt x="503315" y="38355"/>
                  <a:pt x="503315" y="85669"/>
                </a:cubicBezTo>
                <a:lnTo>
                  <a:pt x="503315" y="417646"/>
                </a:lnTo>
                <a:cubicBezTo>
                  <a:pt x="503315" y="464959"/>
                  <a:pt x="464959" y="503315"/>
                  <a:pt x="417646" y="503315"/>
                </a:cubicBezTo>
                <a:lnTo>
                  <a:pt x="85669" y="503315"/>
                </a:lnTo>
                <a:cubicBezTo>
                  <a:pt x="38355" y="503315"/>
                  <a:pt x="0" y="464959"/>
                  <a:pt x="0" y="417646"/>
                </a:cubicBezTo>
                <a:lnTo>
                  <a:pt x="0" y="85669"/>
                </a:lnTo>
                <a:cubicBezTo>
                  <a:pt x="0" y="38387"/>
                  <a:pt x="38387" y="0"/>
                  <a:pt x="8566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2361296" y="7046408"/>
            <a:ext cx="192759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92453" y="7517597"/>
            <a:ext cx="3330445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进程本地性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97808" y="7817444"/>
            <a:ext cx="331973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数据在同一 JVM 进程内，访问延迟最低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439395" y="6741207"/>
            <a:ext cx="3598166" cy="1499236"/>
          </a:xfrm>
          <a:custGeom>
            <a:avLst/>
            <a:gdLst/>
            <a:ahLst/>
            <a:cxnLst/>
            <a:rect l="l" t="t" r="r" b="b"/>
            <a:pathLst>
              <a:path w="3598166" h="1499236">
                <a:moveTo>
                  <a:pt x="85666" y="0"/>
                </a:moveTo>
                <a:lnTo>
                  <a:pt x="3512500" y="0"/>
                </a:lnTo>
                <a:cubicBezTo>
                  <a:pt x="3559780" y="0"/>
                  <a:pt x="3598166" y="38386"/>
                  <a:pt x="3598166" y="85666"/>
                </a:cubicBezTo>
                <a:lnTo>
                  <a:pt x="3598166" y="1413570"/>
                </a:lnTo>
                <a:cubicBezTo>
                  <a:pt x="3598166" y="1460850"/>
                  <a:pt x="3559780" y="1499236"/>
                  <a:pt x="3512500" y="1499236"/>
                </a:cubicBezTo>
                <a:lnTo>
                  <a:pt x="85666" y="1499236"/>
                </a:lnTo>
                <a:cubicBezTo>
                  <a:pt x="38386" y="1499236"/>
                  <a:pt x="0" y="1460850"/>
                  <a:pt x="0" y="1413570"/>
                </a:cubicBezTo>
                <a:lnTo>
                  <a:pt x="0" y="85666"/>
                </a:lnTo>
                <a:cubicBezTo>
                  <a:pt x="0" y="38386"/>
                  <a:pt x="38386" y="0"/>
                  <a:pt x="85666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5987071" y="6923257"/>
            <a:ext cx="503315" cy="503315"/>
          </a:xfrm>
          <a:custGeom>
            <a:avLst/>
            <a:gdLst/>
            <a:ahLst/>
            <a:cxnLst/>
            <a:rect l="l" t="t" r="r" b="b"/>
            <a:pathLst>
              <a:path w="503315" h="503315">
                <a:moveTo>
                  <a:pt x="85669" y="0"/>
                </a:moveTo>
                <a:lnTo>
                  <a:pt x="417646" y="0"/>
                </a:lnTo>
                <a:cubicBezTo>
                  <a:pt x="464959" y="0"/>
                  <a:pt x="503315" y="38355"/>
                  <a:pt x="503315" y="85669"/>
                </a:cubicBezTo>
                <a:lnTo>
                  <a:pt x="503315" y="417646"/>
                </a:lnTo>
                <a:cubicBezTo>
                  <a:pt x="503315" y="464959"/>
                  <a:pt x="464959" y="503315"/>
                  <a:pt x="417646" y="503315"/>
                </a:cubicBezTo>
                <a:lnTo>
                  <a:pt x="85669" y="503315"/>
                </a:lnTo>
                <a:cubicBezTo>
                  <a:pt x="38355" y="503315"/>
                  <a:pt x="0" y="464959"/>
                  <a:pt x="0" y="417646"/>
                </a:cubicBezTo>
                <a:lnTo>
                  <a:pt x="0" y="85669"/>
                </a:lnTo>
                <a:cubicBezTo>
                  <a:pt x="0" y="38387"/>
                  <a:pt x="38387" y="0"/>
                  <a:pt x="8566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162177" y="7046408"/>
            <a:ext cx="149924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573255" y="7517597"/>
            <a:ext cx="3330445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节点本地性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578609" y="7817444"/>
            <a:ext cx="331973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数据在同一物理节点上，通过本地网络访问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20196" y="6741207"/>
            <a:ext cx="3598166" cy="1499236"/>
          </a:xfrm>
          <a:custGeom>
            <a:avLst/>
            <a:gdLst/>
            <a:ahLst/>
            <a:cxnLst/>
            <a:rect l="l" t="t" r="r" b="b"/>
            <a:pathLst>
              <a:path w="3598166" h="1499236">
                <a:moveTo>
                  <a:pt x="85666" y="0"/>
                </a:moveTo>
                <a:lnTo>
                  <a:pt x="3512500" y="0"/>
                </a:lnTo>
                <a:cubicBezTo>
                  <a:pt x="3559780" y="0"/>
                  <a:pt x="3598166" y="38386"/>
                  <a:pt x="3598166" y="85666"/>
                </a:cubicBezTo>
                <a:lnTo>
                  <a:pt x="3598166" y="1413570"/>
                </a:lnTo>
                <a:cubicBezTo>
                  <a:pt x="3598166" y="1460850"/>
                  <a:pt x="3559780" y="1499236"/>
                  <a:pt x="3512500" y="1499236"/>
                </a:cubicBezTo>
                <a:lnTo>
                  <a:pt x="85666" y="1499236"/>
                </a:lnTo>
                <a:cubicBezTo>
                  <a:pt x="38386" y="1499236"/>
                  <a:pt x="0" y="1460850"/>
                  <a:pt x="0" y="1413570"/>
                </a:cubicBezTo>
                <a:lnTo>
                  <a:pt x="0" y="85666"/>
                </a:lnTo>
                <a:cubicBezTo>
                  <a:pt x="0" y="38386"/>
                  <a:pt x="38386" y="0"/>
                  <a:pt x="85666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9767873" y="6923257"/>
            <a:ext cx="503315" cy="503315"/>
          </a:xfrm>
          <a:custGeom>
            <a:avLst/>
            <a:gdLst/>
            <a:ahLst/>
            <a:cxnLst/>
            <a:rect l="l" t="t" r="r" b="b"/>
            <a:pathLst>
              <a:path w="503315" h="503315">
                <a:moveTo>
                  <a:pt x="85669" y="0"/>
                </a:moveTo>
                <a:lnTo>
                  <a:pt x="417646" y="0"/>
                </a:lnTo>
                <a:cubicBezTo>
                  <a:pt x="464959" y="0"/>
                  <a:pt x="503315" y="38355"/>
                  <a:pt x="503315" y="85669"/>
                </a:cubicBezTo>
                <a:lnTo>
                  <a:pt x="503315" y="417646"/>
                </a:lnTo>
                <a:cubicBezTo>
                  <a:pt x="503315" y="464959"/>
                  <a:pt x="464959" y="503315"/>
                  <a:pt x="417646" y="503315"/>
                </a:cubicBezTo>
                <a:lnTo>
                  <a:pt x="85669" y="503315"/>
                </a:lnTo>
                <a:cubicBezTo>
                  <a:pt x="38355" y="503315"/>
                  <a:pt x="0" y="464959"/>
                  <a:pt x="0" y="417646"/>
                </a:cubicBezTo>
                <a:lnTo>
                  <a:pt x="0" y="85669"/>
                </a:lnTo>
                <a:cubicBezTo>
                  <a:pt x="0" y="38387"/>
                  <a:pt x="38387" y="0"/>
                  <a:pt x="85669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9928505" y="7046408"/>
            <a:ext cx="1820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54057" y="7517597"/>
            <a:ext cx="3330445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机架本地性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59411" y="7817444"/>
            <a:ext cx="331973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数据在同一机架内的不同节点，带宽较高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2000998" y="6741207"/>
            <a:ext cx="3598166" cy="1499236"/>
          </a:xfrm>
          <a:custGeom>
            <a:avLst/>
            <a:gdLst/>
            <a:ahLst/>
            <a:cxnLst/>
            <a:rect l="l" t="t" r="r" b="b"/>
            <a:pathLst>
              <a:path w="3598166" h="1499236">
                <a:moveTo>
                  <a:pt x="85666" y="0"/>
                </a:moveTo>
                <a:lnTo>
                  <a:pt x="3512500" y="0"/>
                </a:lnTo>
                <a:cubicBezTo>
                  <a:pt x="3559780" y="0"/>
                  <a:pt x="3598166" y="38386"/>
                  <a:pt x="3598166" y="85666"/>
                </a:cubicBezTo>
                <a:lnTo>
                  <a:pt x="3598166" y="1413570"/>
                </a:lnTo>
                <a:cubicBezTo>
                  <a:pt x="3598166" y="1460850"/>
                  <a:pt x="3559780" y="1499236"/>
                  <a:pt x="3512500" y="1499236"/>
                </a:cubicBezTo>
                <a:lnTo>
                  <a:pt x="85666" y="1499236"/>
                </a:lnTo>
                <a:cubicBezTo>
                  <a:pt x="38386" y="1499236"/>
                  <a:pt x="0" y="1460850"/>
                  <a:pt x="0" y="1413570"/>
                </a:cubicBezTo>
                <a:lnTo>
                  <a:pt x="0" y="85666"/>
                </a:lnTo>
                <a:cubicBezTo>
                  <a:pt x="0" y="38386"/>
                  <a:pt x="38386" y="0"/>
                  <a:pt x="85666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13548675" y="6923257"/>
            <a:ext cx="503315" cy="503315"/>
          </a:xfrm>
          <a:custGeom>
            <a:avLst/>
            <a:gdLst/>
            <a:ahLst/>
            <a:cxnLst/>
            <a:rect l="l" t="t" r="r" b="b"/>
            <a:pathLst>
              <a:path w="503315" h="503315">
                <a:moveTo>
                  <a:pt x="85669" y="0"/>
                </a:moveTo>
                <a:lnTo>
                  <a:pt x="417646" y="0"/>
                </a:lnTo>
                <a:cubicBezTo>
                  <a:pt x="464959" y="0"/>
                  <a:pt x="503315" y="38355"/>
                  <a:pt x="503315" y="85669"/>
                </a:cubicBezTo>
                <a:lnTo>
                  <a:pt x="503315" y="417646"/>
                </a:lnTo>
                <a:cubicBezTo>
                  <a:pt x="503315" y="464959"/>
                  <a:pt x="464959" y="503315"/>
                  <a:pt x="417646" y="503315"/>
                </a:cubicBezTo>
                <a:lnTo>
                  <a:pt x="85669" y="503315"/>
                </a:lnTo>
                <a:cubicBezTo>
                  <a:pt x="38355" y="503315"/>
                  <a:pt x="0" y="464959"/>
                  <a:pt x="0" y="417646"/>
                </a:cubicBezTo>
                <a:lnTo>
                  <a:pt x="0" y="85669"/>
                </a:lnTo>
                <a:cubicBezTo>
                  <a:pt x="0" y="38387"/>
                  <a:pt x="38387" y="0"/>
                  <a:pt x="85669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13707048" y="7046408"/>
            <a:ext cx="1820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134858" y="7517597"/>
            <a:ext cx="3330445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2140213" y="7817444"/>
            <a:ext cx="331973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8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数据在同一数据中心内，跨机架访问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90600" cy="723900"/>
          </a:xfrm>
          <a:custGeom>
            <a:avLst/>
            <a:gdLst/>
            <a:ahLst/>
            <a:cxnLst/>
            <a:rect l="l" t="t" r="r" b="b"/>
            <a:pathLst>
              <a:path w="990600" h="723900">
                <a:moveTo>
                  <a:pt x="101599" y="0"/>
                </a:moveTo>
                <a:lnTo>
                  <a:pt x="889001" y="0"/>
                </a:lnTo>
                <a:cubicBezTo>
                  <a:pt x="945112" y="0"/>
                  <a:pt x="990600" y="45488"/>
                  <a:pt x="990600" y="101599"/>
                </a:cubicBezTo>
                <a:lnTo>
                  <a:pt x="990600" y="622301"/>
                </a:lnTo>
                <a:cubicBezTo>
                  <a:pt x="990600" y="678412"/>
                  <a:pt x="945112" y="723900"/>
                  <a:pt x="8890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64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读写流程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数据读取、写入机制与租约原理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读取流程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892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844800" y="63039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写入流程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704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826000" y="63039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66" y="472966"/>
            <a:ext cx="1996966" cy="385379"/>
          </a:xfrm>
          <a:custGeom>
            <a:avLst/>
            <a:gdLst/>
            <a:ahLst/>
            <a:cxnLst/>
            <a:rect l="l" t="t" r="r" b="b"/>
            <a:pathLst>
              <a:path w="1996966" h="385379">
                <a:moveTo>
                  <a:pt x="192690" y="0"/>
                </a:moveTo>
                <a:lnTo>
                  <a:pt x="1804276" y="0"/>
                </a:lnTo>
                <a:cubicBezTo>
                  <a:pt x="1910695" y="0"/>
                  <a:pt x="1996966" y="86270"/>
                  <a:pt x="1996966" y="192690"/>
                </a:cubicBezTo>
                <a:lnTo>
                  <a:pt x="1996966" y="192690"/>
                </a:lnTo>
                <a:cubicBezTo>
                  <a:pt x="1996966" y="299109"/>
                  <a:pt x="1910695" y="385379"/>
                  <a:pt x="1804276" y="385379"/>
                </a:cubicBezTo>
                <a:lnTo>
                  <a:pt x="192690" y="385379"/>
                </a:lnTo>
                <a:cubicBezTo>
                  <a:pt x="86270" y="385379"/>
                  <a:pt x="0" y="299109"/>
                  <a:pt x="0" y="192690"/>
                </a:cubicBezTo>
                <a:lnTo>
                  <a:pt x="0" y="192690"/>
                </a:lnTo>
                <a:cubicBezTo>
                  <a:pt x="0" y="86270"/>
                  <a:pt x="86270" y="0"/>
                  <a:pt x="19269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5655" y="543034"/>
            <a:ext cx="1706198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kern="0" spc="147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7126" y="1004322"/>
            <a:ext cx="15602023" cy="5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14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数据读取流程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7126" y="1705011"/>
            <a:ext cx="15438529" cy="32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数据读取的六步流程与关键技术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966" y="2224690"/>
            <a:ext cx="10124966" cy="5255172"/>
          </a:xfrm>
          <a:custGeom>
            <a:avLst/>
            <a:gdLst/>
            <a:ahLst/>
            <a:cxnLst/>
            <a:rect l="l" t="t" r="r" b="b"/>
            <a:pathLst>
              <a:path w="10124966" h="5255172">
                <a:moveTo>
                  <a:pt x="93437" y="0"/>
                </a:moveTo>
                <a:lnTo>
                  <a:pt x="10031529" y="0"/>
                </a:lnTo>
                <a:cubicBezTo>
                  <a:pt x="10083132" y="0"/>
                  <a:pt x="10124966" y="41833"/>
                  <a:pt x="10124966" y="93437"/>
                </a:cubicBezTo>
                <a:lnTo>
                  <a:pt x="10124966" y="5161735"/>
                </a:lnTo>
                <a:cubicBezTo>
                  <a:pt x="10124966" y="5213339"/>
                  <a:pt x="10083132" y="5255172"/>
                  <a:pt x="10031529" y="5255172"/>
                </a:cubicBezTo>
                <a:lnTo>
                  <a:pt x="93437" y="5255172"/>
                </a:lnTo>
                <a:cubicBezTo>
                  <a:pt x="41833" y="5255172"/>
                  <a:pt x="0" y="5213339"/>
                  <a:pt x="0" y="5161735"/>
                </a:cubicBezTo>
                <a:lnTo>
                  <a:pt x="0" y="93437"/>
                </a:lnTo>
                <a:cubicBezTo>
                  <a:pt x="0" y="41868"/>
                  <a:pt x="41868" y="0"/>
                  <a:pt x="9343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1563" y="2510805"/>
            <a:ext cx="233563" cy="233563"/>
          </a:xfrm>
          <a:custGeom>
            <a:avLst/>
            <a:gdLst/>
            <a:ahLst/>
            <a:cxnLst/>
            <a:rect l="l" t="t" r="r" b="b"/>
            <a:pathLst>
              <a:path w="233563" h="233563">
                <a:moveTo>
                  <a:pt x="0" y="32845"/>
                </a:moveTo>
                <a:cubicBezTo>
                  <a:pt x="0" y="26823"/>
                  <a:pt x="4881" y="21897"/>
                  <a:pt x="10948" y="21897"/>
                </a:cubicBezTo>
                <a:lnTo>
                  <a:pt x="32845" y="21897"/>
                </a:lnTo>
                <a:cubicBezTo>
                  <a:pt x="38912" y="21897"/>
                  <a:pt x="43793" y="26778"/>
                  <a:pt x="43793" y="32845"/>
                </a:cubicBezTo>
                <a:lnTo>
                  <a:pt x="43793" y="80287"/>
                </a:lnTo>
                <a:lnTo>
                  <a:pt x="54741" y="80287"/>
                </a:lnTo>
                <a:cubicBezTo>
                  <a:pt x="60809" y="80287"/>
                  <a:pt x="65690" y="85168"/>
                  <a:pt x="65690" y="91236"/>
                </a:cubicBezTo>
                <a:cubicBezTo>
                  <a:pt x="65690" y="97303"/>
                  <a:pt x="60809" y="102184"/>
                  <a:pt x="54741" y="102184"/>
                </a:cubicBezTo>
                <a:lnTo>
                  <a:pt x="10948" y="102184"/>
                </a:lnTo>
                <a:cubicBezTo>
                  <a:pt x="4881" y="102184"/>
                  <a:pt x="0" y="97303"/>
                  <a:pt x="0" y="91236"/>
                </a:cubicBezTo>
                <a:cubicBezTo>
                  <a:pt x="0" y="85168"/>
                  <a:pt x="4881" y="80287"/>
                  <a:pt x="10948" y="80287"/>
                </a:cubicBezTo>
                <a:lnTo>
                  <a:pt x="21897" y="80287"/>
                </a:lnTo>
                <a:lnTo>
                  <a:pt x="21897" y="43793"/>
                </a:lnTo>
                <a:lnTo>
                  <a:pt x="10948" y="43793"/>
                </a:lnTo>
                <a:cubicBezTo>
                  <a:pt x="4881" y="43793"/>
                  <a:pt x="0" y="38912"/>
                  <a:pt x="0" y="32845"/>
                </a:cubicBezTo>
                <a:close/>
                <a:moveTo>
                  <a:pt x="13868" y="137401"/>
                </a:moveTo>
                <a:cubicBezTo>
                  <a:pt x="19068" y="133478"/>
                  <a:pt x="25409" y="131379"/>
                  <a:pt x="31932" y="131379"/>
                </a:cubicBezTo>
                <a:lnTo>
                  <a:pt x="34168" y="131379"/>
                </a:lnTo>
                <a:cubicBezTo>
                  <a:pt x="49541" y="131379"/>
                  <a:pt x="62040" y="143879"/>
                  <a:pt x="62040" y="159252"/>
                </a:cubicBezTo>
                <a:cubicBezTo>
                  <a:pt x="62040" y="168193"/>
                  <a:pt x="57752" y="176541"/>
                  <a:pt x="50545" y="181787"/>
                </a:cubicBezTo>
                <a:lnTo>
                  <a:pt x="39596" y="189770"/>
                </a:lnTo>
                <a:lnTo>
                  <a:pt x="54741" y="189770"/>
                </a:lnTo>
                <a:cubicBezTo>
                  <a:pt x="60809" y="189770"/>
                  <a:pt x="65690" y="194651"/>
                  <a:pt x="65690" y="200718"/>
                </a:cubicBezTo>
                <a:cubicBezTo>
                  <a:pt x="65690" y="206786"/>
                  <a:pt x="60809" y="211667"/>
                  <a:pt x="54741" y="211667"/>
                </a:cubicBezTo>
                <a:lnTo>
                  <a:pt x="13366" y="211667"/>
                </a:lnTo>
                <a:cubicBezTo>
                  <a:pt x="5976" y="211667"/>
                  <a:pt x="0" y="205691"/>
                  <a:pt x="0" y="198301"/>
                </a:cubicBezTo>
                <a:cubicBezTo>
                  <a:pt x="0" y="194013"/>
                  <a:pt x="2053" y="189998"/>
                  <a:pt x="5520" y="187489"/>
                </a:cubicBezTo>
                <a:lnTo>
                  <a:pt x="37680" y="164087"/>
                </a:lnTo>
                <a:cubicBezTo>
                  <a:pt x="39231" y="162947"/>
                  <a:pt x="40144" y="161168"/>
                  <a:pt x="40144" y="159252"/>
                </a:cubicBezTo>
                <a:cubicBezTo>
                  <a:pt x="40144" y="155967"/>
                  <a:pt x="37452" y="153276"/>
                  <a:pt x="34168" y="153276"/>
                </a:cubicBezTo>
                <a:lnTo>
                  <a:pt x="31932" y="153276"/>
                </a:lnTo>
                <a:cubicBezTo>
                  <a:pt x="30153" y="153276"/>
                  <a:pt x="28420" y="153869"/>
                  <a:pt x="27006" y="154918"/>
                </a:cubicBezTo>
                <a:lnTo>
                  <a:pt x="17517" y="162034"/>
                </a:lnTo>
                <a:cubicBezTo>
                  <a:pt x="12682" y="165684"/>
                  <a:pt x="5839" y="164680"/>
                  <a:pt x="2190" y="159845"/>
                </a:cubicBezTo>
                <a:cubicBezTo>
                  <a:pt x="-1460" y="155009"/>
                  <a:pt x="-456" y="148167"/>
                  <a:pt x="4379" y="144517"/>
                </a:cubicBezTo>
                <a:lnTo>
                  <a:pt x="13868" y="137401"/>
                </a:lnTo>
                <a:close/>
                <a:moveTo>
                  <a:pt x="102184" y="29195"/>
                </a:moveTo>
                <a:lnTo>
                  <a:pt x="218966" y="29195"/>
                </a:lnTo>
                <a:cubicBezTo>
                  <a:pt x="227040" y="29195"/>
                  <a:pt x="233563" y="35719"/>
                  <a:pt x="233563" y="43793"/>
                </a:cubicBezTo>
                <a:cubicBezTo>
                  <a:pt x="233563" y="51867"/>
                  <a:pt x="227040" y="58391"/>
                  <a:pt x="218966" y="58391"/>
                </a:cubicBezTo>
                <a:lnTo>
                  <a:pt x="102184" y="58391"/>
                </a:lnTo>
                <a:cubicBezTo>
                  <a:pt x="94110" y="58391"/>
                  <a:pt x="87586" y="51867"/>
                  <a:pt x="87586" y="43793"/>
                </a:cubicBezTo>
                <a:cubicBezTo>
                  <a:pt x="87586" y="35719"/>
                  <a:pt x="94110" y="29195"/>
                  <a:pt x="102184" y="29195"/>
                </a:cubicBezTo>
                <a:close/>
                <a:moveTo>
                  <a:pt x="102184" y="102184"/>
                </a:moveTo>
                <a:lnTo>
                  <a:pt x="218966" y="102184"/>
                </a:lnTo>
                <a:cubicBezTo>
                  <a:pt x="227040" y="102184"/>
                  <a:pt x="233563" y="108707"/>
                  <a:pt x="233563" y="116782"/>
                </a:cubicBezTo>
                <a:cubicBezTo>
                  <a:pt x="233563" y="124856"/>
                  <a:pt x="227040" y="131379"/>
                  <a:pt x="218966" y="131379"/>
                </a:cubicBezTo>
                <a:lnTo>
                  <a:pt x="102184" y="131379"/>
                </a:lnTo>
                <a:cubicBezTo>
                  <a:pt x="94110" y="131379"/>
                  <a:pt x="87586" y="124856"/>
                  <a:pt x="87586" y="116782"/>
                </a:cubicBezTo>
                <a:cubicBezTo>
                  <a:pt x="87586" y="108707"/>
                  <a:pt x="94110" y="102184"/>
                  <a:pt x="102184" y="102184"/>
                </a:cubicBezTo>
                <a:close/>
                <a:moveTo>
                  <a:pt x="102184" y="175172"/>
                </a:moveTo>
                <a:lnTo>
                  <a:pt x="218966" y="175172"/>
                </a:lnTo>
                <a:cubicBezTo>
                  <a:pt x="227040" y="175172"/>
                  <a:pt x="233563" y="181696"/>
                  <a:pt x="233563" y="189770"/>
                </a:cubicBezTo>
                <a:cubicBezTo>
                  <a:pt x="233563" y="197844"/>
                  <a:pt x="227040" y="204368"/>
                  <a:pt x="218966" y="204368"/>
                </a:cubicBezTo>
                <a:lnTo>
                  <a:pt x="102184" y="204368"/>
                </a:lnTo>
                <a:cubicBezTo>
                  <a:pt x="94110" y="204368"/>
                  <a:pt x="87586" y="197844"/>
                  <a:pt x="87586" y="189770"/>
                </a:cubicBezTo>
                <a:cubicBezTo>
                  <a:pt x="87586" y="181696"/>
                  <a:pt x="94110" y="175172"/>
                  <a:pt x="102184" y="17517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4322" y="2464092"/>
            <a:ext cx="9470989" cy="32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读取步骤详解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2368" y="2977931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09163" y="3071356"/>
            <a:ext cx="163494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9632" y="2977931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文件打开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9632" y="3304920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客户端向 NameNode 请求文件元数据，通过 RPC 调用 </a:t>
            </a:r>
            <a:r>
              <a:rPr lang="en-US" sz="1103" dirty="0">
                <a:solidFill>
                  <a:srgbClr val="E59F54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open() 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2368" y="3710736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3379" y="3804161"/>
            <a:ext cx="198529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9632" y="3710736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块定位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9632" y="4037724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返回数据块位置信息，</a:t>
            </a:r>
            <a:r>
              <a:rPr lang="en-US" sz="12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按距离排序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（本地优先）。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2368" y="4443540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90916" y="4536966"/>
            <a:ext cx="198529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19632" y="4443540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副本选择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9632" y="4770529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客户端选择</a:t>
            </a:r>
            <a:r>
              <a:rPr lang="en-US" sz="12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最优的 DataNode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（距离最近、负载最低）。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2368" y="5176345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1098" y="5269770"/>
            <a:ext cx="198529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9632" y="5176345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数据读取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9632" y="5503333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</a:t>
            </a:r>
            <a:r>
              <a:rPr lang="en-US" sz="12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直接从 DataNode 读取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数据块，通过流式传输。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2368" y="5909149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0095" y="6002575"/>
            <a:ext cx="210207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19632" y="5909149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校验验证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19632" y="6236138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验证数据完整性，</a:t>
            </a:r>
            <a:r>
              <a:rPr lang="en-US" sz="12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 CRC32 校验和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，确保数据未被损坏。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2368" y="6641954"/>
            <a:ext cx="467126" cy="467126"/>
          </a:xfrm>
          <a:custGeom>
            <a:avLst/>
            <a:gdLst/>
            <a:ahLst/>
            <a:cxnLst/>
            <a:rect l="l" t="t" r="r" b="b"/>
            <a:pathLst>
              <a:path w="467126" h="467126">
                <a:moveTo>
                  <a:pt x="93425" y="0"/>
                </a:moveTo>
                <a:lnTo>
                  <a:pt x="373701" y="0"/>
                </a:lnTo>
                <a:cubicBezTo>
                  <a:pt x="425299" y="0"/>
                  <a:pt x="467126" y="41828"/>
                  <a:pt x="467126" y="93425"/>
                </a:cubicBezTo>
                <a:lnTo>
                  <a:pt x="467126" y="373701"/>
                </a:lnTo>
                <a:cubicBezTo>
                  <a:pt x="467126" y="425299"/>
                  <a:pt x="425299" y="467126"/>
                  <a:pt x="373701" y="467126"/>
                </a:cubicBezTo>
                <a:lnTo>
                  <a:pt x="93425" y="467126"/>
                </a:lnTo>
                <a:cubicBezTo>
                  <a:pt x="41862" y="467126"/>
                  <a:pt x="0" y="425264"/>
                  <a:pt x="0" y="373701"/>
                </a:cubicBezTo>
                <a:lnTo>
                  <a:pt x="0" y="93425"/>
                </a:lnTo>
                <a:cubicBezTo>
                  <a:pt x="0" y="41862"/>
                  <a:pt x="41862" y="0"/>
                  <a:pt x="9342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9730" y="6735379"/>
            <a:ext cx="210207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19632" y="6641954"/>
            <a:ext cx="9132322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19632" y="6968943"/>
            <a:ext cx="9120644" cy="26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如遇故障，</a:t>
            </a:r>
            <a:r>
              <a:rPr lang="en-US" sz="128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自动切换到其他副本</a:t>
            </a: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，对客户端透明。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43172" y="2224690"/>
            <a:ext cx="4939862" cy="2394023"/>
          </a:xfrm>
          <a:custGeom>
            <a:avLst/>
            <a:gdLst/>
            <a:ahLst/>
            <a:cxnLst/>
            <a:rect l="l" t="t" r="r" b="b"/>
            <a:pathLst>
              <a:path w="4939862" h="2394023">
                <a:moveTo>
                  <a:pt x="93415" y="0"/>
                </a:moveTo>
                <a:lnTo>
                  <a:pt x="4846447" y="0"/>
                </a:lnTo>
                <a:cubicBezTo>
                  <a:pt x="4898039" y="0"/>
                  <a:pt x="4939862" y="41823"/>
                  <a:pt x="4939862" y="93415"/>
                </a:cubicBezTo>
                <a:lnTo>
                  <a:pt x="4939862" y="2300608"/>
                </a:lnTo>
                <a:cubicBezTo>
                  <a:pt x="4939862" y="2352200"/>
                  <a:pt x="4898039" y="2394023"/>
                  <a:pt x="4846447" y="2394023"/>
                </a:cubicBezTo>
                <a:lnTo>
                  <a:pt x="93415" y="2394023"/>
                </a:lnTo>
                <a:cubicBezTo>
                  <a:pt x="41823" y="2394023"/>
                  <a:pt x="0" y="2352200"/>
                  <a:pt x="0" y="2300608"/>
                </a:cubicBezTo>
                <a:lnTo>
                  <a:pt x="0" y="93415"/>
                </a:lnTo>
                <a:cubicBezTo>
                  <a:pt x="0" y="41858"/>
                  <a:pt x="41858" y="0"/>
                  <a:pt x="9341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1111770" y="2522483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206348" y="61830"/>
                </a:moveTo>
                <a:lnTo>
                  <a:pt x="166934" y="101244"/>
                </a:lnTo>
                <a:cubicBezTo>
                  <a:pt x="163157" y="105021"/>
                  <a:pt x="157532" y="106130"/>
                  <a:pt x="152605" y="104077"/>
                </a:cubicBezTo>
                <a:cubicBezTo>
                  <a:pt x="147679" y="102024"/>
                  <a:pt x="144517" y="97262"/>
                  <a:pt x="144517" y="91966"/>
                </a:cubicBezTo>
                <a:lnTo>
                  <a:pt x="144517" y="65690"/>
                </a:lnTo>
                <a:lnTo>
                  <a:pt x="13138" y="65690"/>
                </a:lnTo>
                <a:cubicBezTo>
                  <a:pt x="5871" y="65690"/>
                  <a:pt x="0" y="59819"/>
                  <a:pt x="0" y="52552"/>
                </a:cubicBezTo>
                <a:cubicBezTo>
                  <a:pt x="0" y="45285"/>
                  <a:pt x="5871" y="39414"/>
                  <a:pt x="13138" y="39414"/>
                </a:cubicBezTo>
                <a:lnTo>
                  <a:pt x="144517" y="39414"/>
                </a:lnTo>
                <a:lnTo>
                  <a:pt x="144517" y="13138"/>
                </a:lnTo>
                <a:cubicBezTo>
                  <a:pt x="144517" y="7842"/>
                  <a:pt x="147720" y="3038"/>
                  <a:pt x="152646" y="985"/>
                </a:cubicBezTo>
                <a:cubicBezTo>
                  <a:pt x="157573" y="-1067"/>
                  <a:pt x="163198" y="82"/>
                  <a:pt x="166975" y="3818"/>
                </a:cubicBezTo>
                <a:lnTo>
                  <a:pt x="206389" y="43232"/>
                </a:lnTo>
                <a:cubicBezTo>
                  <a:pt x="211521" y="48364"/>
                  <a:pt x="211521" y="56698"/>
                  <a:pt x="206389" y="61830"/>
                </a:cubicBezTo>
                <a:close/>
                <a:moveTo>
                  <a:pt x="43232" y="206348"/>
                </a:moveTo>
                <a:lnTo>
                  <a:pt x="3818" y="166934"/>
                </a:lnTo>
                <a:cubicBezTo>
                  <a:pt x="-1314" y="161802"/>
                  <a:pt x="-1314" y="153467"/>
                  <a:pt x="3818" y="148335"/>
                </a:cubicBezTo>
                <a:lnTo>
                  <a:pt x="43232" y="108922"/>
                </a:lnTo>
                <a:cubicBezTo>
                  <a:pt x="47009" y="105145"/>
                  <a:pt x="52634" y="104036"/>
                  <a:pt x="57561" y="106089"/>
                </a:cubicBezTo>
                <a:cubicBezTo>
                  <a:pt x="62487" y="108142"/>
                  <a:pt x="65690" y="112945"/>
                  <a:pt x="65690" y="118241"/>
                </a:cubicBezTo>
                <a:lnTo>
                  <a:pt x="65690" y="144517"/>
                </a:lnTo>
                <a:lnTo>
                  <a:pt x="197069" y="144517"/>
                </a:lnTo>
                <a:cubicBezTo>
                  <a:pt x="204336" y="144517"/>
                  <a:pt x="210207" y="150388"/>
                  <a:pt x="210207" y="157655"/>
                </a:cubicBezTo>
                <a:cubicBezTo>
                  <a:pt x="210207" y="164922"/>
                  <a:pt x="204336" y="170793"/>
                  <a:pt x="197069" y="170793"/>
                </a:cubicBezTo>
                <a:lnTo>
                  <a:pt x="65690" y="170793"/>
                </a:lnTo>
                <a:lnTo>
                  <a:pt x="65690" y="197069"/>
                </a:lnTo>
                <a:cubicBezTo>
                  <a:pt x="65690" y="202365"/>
                  <a:pt x="62487" y="207169"/>
                  <a:pt x="57561" y="209222"/>
                </a:cubicBezTo>
                <a:cubicBezTo>
                  <a:pt x="52634" y="211274"/>
                  <a:pt x="47009" y="210125"/>
                  <a:pt x="43232" y="20638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51172" y="2464092"/>
            <a:ext cx="4297563" cy="32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控制流与数据流分离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00092" y="2931218"/>
            <a:ext cx="4443540" cy="653977"/>
          </a:xfrm>
          <a:custGeom>
            <a:avLst/>
            <a:gdLst/>
            <a:ahLst/>
            <a:cxnLst/>
            <a:rect l="l" t="t" r="r" b="b"/>
            <a:pathLst>
              <a:path w="4443540" h="653977">
                <a:moveTo>
                  <a:pt x="35034" y="0"/>
                </a:moveTo>
                <a:lnTo>
                  <a:pt x="4396827" y="0"/>
                </a:lnTo>
                <a:cubicBezTo>
                  <a:pt x="4422626" y="0"/>
                  <a:pt x="4443540" y="20914"/>
                  <a:pt x="4443540" y="46714"/>
                </a:cubicBezTo>
                <a:lnTo>
                  <a:pt x="4443540" y="607263"/>
                </a:lnTo>
                <a:cubicBezTo>
                  <a:pt x="4443540" y="633063"/>
                  <a:pt x="4422626" y="653977"/>
                  <a:pt x="4396827" y="653977"/>
                </a:cubicBezTo>
                <a:lnTo>
                  <a:pt x="35034" y="653977"/>
                </a:lnTo>
                <a:cubicBezTo>
                  <a:pt x="15685" y="653977"/>
                  <a:pt x="0" y="638292"/>
                  <a:pt x="0" y="618943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100092" y="2931218"/>
            <a:ext cx="35034" cy="653977"/>
          </a:xfrm>
          <a:custGeom>
            <a:avLst/>
            <a:gdLst/>
            <a:ahLst/>
            <a:cxnLst/>
            <a:rect l="l" t="t" r="r" b="b"/>
            <a:pathLst>
              <a:path w="35034" h="653977">
                <a:moveTo>
                  <a:pt x="35034" y="0"/>
                </a:moveTo>
                <a:lnTo>
                  <a:pt x="35034" y="0"/>
                </a:lnTo>
                <a:lnTo>
                  <a:pt x="35034" y="653977"/>
                </a:lnTo>
                <a:lnTo>
                  <a:pt x="35034" y="653977"/>
                </a:lnTo>
                <a:cubicBezTo>
                  <a:pt x="15685" y="653977"/>
                  <a:pt x="0" y="638292"/>
                  <a:pt x="0" y="618943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57747" y="3024644"/>
            <a:ext cx="4227494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57747" y="3304920"/>
            <a:ext cx="421581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↔ NameNode（元数据操作）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00092" y="3725333"/>
            <a:ext cx="4443540" cy="653977"/>
          </a:xfrm>
          <a:custGeom>
            <a:avLst/>
            <a:gdLst/>
            <a:ahLst/>
            <a:cxnLst/>
            <a:rect l="l" t="t" r="r" b="b"/>
            <a:pathLst>
              <a:path w="4443540" h="653977">
                <a:moveTo>
                  <a:pt x="35034" y="0"/>
                </a:moveTo>
                <a:lnTo>
                  <a:pt x="4396827" y="0"/>
                </a:lnTo>
                <a:cubicBezTo>
                  <a:pt x="4422626" y="0"/>
                  <a:pt x="4443540" y="20914"/>
                  <a:pt x="4443540" y="46714"/>
                </a:cubicBezTo>
                <a:lnTo>
                  <a:pt x="4443540" y="607263"/>
                </a:lnTo>
                <a:cubicBezTo>
                  <a:pt x="4443540" y="633063"/>
                  <a:pt x="4422626" y="653977"/>
                  <a:pt x="4396827" y="653977"/>
                </a:cubicBezTo>
                <a:lnTo>
                  <a:pt x="35034" y="653977"/>
                </a:lnTo>
                <a:cubicBezTo>
                  <a:pt x="15685" y="653977"/>
                  <a:pt x="0" y="638292"/>
                  <a:pt x="0" y="618943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100092" y="3725333"/>
            <a:ext cx="35034" cy="653977"/>
          </a:xfrm>
          <a:custGeom>
            <a:avLst/>
            <a:gdLst/>
            <a:ahLst/>
            <a:cxnLst/>
            <a:rect l="l" t="t" r="r" b="b"/>
            <a:pathLst>
              <a:path w="35034" h="653977">
                <a:moveTo>
                  <a:pt x="35034" y="0"/>
                </a:moveTo>
                <a:lnTo>
                  <a:pt x="35034" y="0"/>
                </a:lnTo>
                <a:lnTo>
                  <a:pt x="35034" y="653977"/>
                </a:lnTo>
                <a:lnTo>
                  <a:pt x="35034" y="653977"/>
                </a:lnTo>
                <a:cubicBezTo>
                  <a:pt x="15685" y="653977"/>
                  <a:pt x="0" y="638292"/>
                  <a:pt x="0" y="618943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257747" y="3818759"/>
            <a:ext cx="4227494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57747" y="4099034"/>
            <a:ext cx="421581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↔ DataNode（实际数据传输）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43172" y="4817241"/>
            <a:ext cx="4939862" cy="2160460"/>
          </a:xfrm>
          <a:custGeom>
            <a:avLst/>
            <a:gdLst/>
            <a:ahLst/>
            <a:cxnLst/>
            <a:rect l="l" t="t" r="r" b="b"/>
            <a:pathLst>
              <a:path w="4939862" h="2160460">
                <a:moveTo>
                  <a:pt x="93418" y="0"/>
                </a:moveTo>
                <a:lnTo>
                  <a:pt x="4846444" y="0"/>
                </a:lnTo>
                <a:cubicBezTo>
                  <a:pt x="4898037" y="0"/>
                  <a:pt x="4939862" y="41825"/>
                  <a:pt x="4939862" y="93418"/>
                </a:cubicBezTo>
                <a:lnTo>
                  <a:pt x="4939862" y="2067041"/>
                </a:lnTo>
                <a:cubicBezTo>
                  <a:pt x="4939862" y="2118635"/>
                  <a:pt x="4898037" y="2160460"/>
                  <a:pt x="4846444" y="2160460"/>
                </a:cubicBezTo>
                <a:lnTo>
                  <a:pt x="93418" y="2160460"/>
                </a:lnTo>
                <a:cubicBezTo>
                  <a:pt x="41825" y="2160460"/>
                  <a:pt x="0" y="2118635"/>
                  <a:pt x="0" y="2067041"/>
                </a:cubicBezTo>
                <a:lnTo>
                  <a:pt x="0" y="93418"/>
                </a:lnTo>
                <a:cubicBezTo>
                  <a:pt x="0" y="41859"/>
                  <a:pt x="41859" y="0"/>
                  <a:pt x="9341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1111770" y="5115034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0" y="105103"/>
                </a:moveTo>
                <a:cubicBezTo>
                  <a:pt x="0" y="47095"/>
                  <a:pt x="47095" y="0"/>
                  <a:pt x="105103" y="0"/>
                </a:cubicBezTo>
                <a:cubicBezTo>
                  <a:pt x="163112" y="0"/>
                  <a:pt x="210207" y="47095"/>
                  <a:pt x="210207" y="105103"/>
                </a:cubicBezTo>
                <a:cubicBezTo>
                  <a:pt x="210207" y="163112"/>
                  <a:pt x="163112" y="210207"/>
                  <a:pt x="105103" y="210207"/>
                </a:cubicBezTo>
                <a:cubicBezTo>
                  <a:pt x="47095" y="210207"/>
                  <a:pt x="0" y="163112"/>
                  <a:pt x="0" y="105103"/>
                </a:cubicBezTo>
                <a:close/>
                <a:moveTo>
                  <a:pt x="118241" y="39414"/>
                </a:moveTo>
                <a:cubicBezTo>
                  <a:pt x="118241" y="32163"/>
                  <a:pt x="112354" y="26276"/>
                  <a:pt x="105103" y="26276"/>
                </a:cubicBezTo>
                <a:cubicBezTo>
                  <a:pt x="97852" y="26276"/>
                  <a:pt x="91966" y="32163"/>
                  <a:pt x="91966" y="39414"/>
                </a:cubicBezTo>
                <a:cubicBezTo>
                  <a:pt x="91966" y="46665"/>
                  <a:pt x="97852" y="52552"/>
                  <a:pt x="105103" y="52552"/>
                </a:cubicBezTo>
                <a:cubicBezTo>
                  <a:pt x="112354" y="52552"/>
                  <a:pt x="118241" y="46665"/>
                  <a:pt x="118241" y="39414"/>
                </a:cubicBezTo>
                <a:close/>
                <a:moveTo>
                  <a:pt x="105103" y="170793"/>
                </a:moveTo>
                <a:cubicBezTo>
                  <a:pt x="119596" y="170793"/>
                  <a:pt x="131379" y="159010"/>
                  <a:pt x="131379" y="144517"/>
                </a:cubicBezTo>
                <a:cubicBezTo>
                  <a:pt x="131379" y="137866"/>
                  <a:pt x="128916" y="131749"/>
                  <a:pt x="124810" y="127151"/>
                </a:cubicBezTo>
                <a:lnTo>
                  <a:pt x="153344" y="70124"/>
                </a:lnTo>
                <a:cubicBezTo>
                  <a:pt x="155767" y="65238"/>
                  <a:pt x="153796" y="59326"/>
                  <a:pt x="148951" y="56904"/>
                </a:cubicBezTo>
                <a:cubicBezTo>
                  <a:pt x="144107" y="54481"/>
                  <a:pt x="138154" y="56452"/>
                  <a:pt x="135731" y="61297"/>
                </a:cubicBezTo>
                <a:lnTo>
                  <a:pt x="107197" y="118323"/>
                </a:lnTo>
                <a:cubicBezTo>
                  <a:pt x="106499" y="118282"/>
                  <a:pt x="105801" y="118241"/>
                  <a:pt x="105103" y="118241"/>
                </a:cubicBezTo>
                <a:cubicBezTo>
                  <a:pt x="90611" y="118241"/>
                  <a:pt x="78828" y="130024"/>
                  <a:pt x="78828" y="144517"/>
                </a:cubicBezTo>
                <a:cubicBezTo>
                  <a:pt x="78828" y="159010"/>
                  <a:pt x="90611" y="170793"/>
                  <a:pt x="105103" y="170793"/>
                </a:cubicBezTo>
                <a:close/>
                <a:moveTo>
                  <a:pt x="72259" y="59121"/>
                </a:moveTo>
                <a:cubicBezTo>
                  <a:pt x="72259" y="51870"/>
                  <a:pt x="66372" y="45983"/>
                  <a:pt x="59121" y="45983"/>
                </a:cubicBezTo>
                <a:cubicBezTo>
                  <a:pt x="51870" y="45983"/>
                  <a:pt x="45983" y="51870"/>
                  <a:pt x="45983" y="59121"/>
                </a:cubicBezTo>
                <a:cubicBezTo>
                  <a:pt x="45983" y="66372"/>
                  <a:pt x="51870" y="72259"/>
                  <a:pt x="59121" y="72259"/>
                </a:cubicBezTo>
                <a:cubicBezTo>
                  <a:pt x="66372" y="72259"/>
                  <a:pt x="72259" y="66372"/>
                  <a:pt x="72259" y="59121"/>
                </a:cubicBezTo>
                <a:close/>
                <a:moveTo>
                  <a:pt x="39414" y="118241"/>
                </a:moveTo>
                <a:cubicBezTo>
                  <a:pt x="46665" y="118241"/>
                  <a:pt x="52552" y="112354"/>
                  <a:pt x="52552" y="105103"/>
                </a:cubicBezTo>
                <a:cubicBezTo>
                  <a:pt x="52552" y="97852"/>
                  <a:pt x="46665" y="91966"/>
                  <a:pt x="39414" y="91966"/>
                </a:cubicBezTo>
                <a:cubicBezTo>
                  <a:pt x="32163" y="91966"/>
                  <a:pt x="26276" y="97852"/>
                  <a:pt x="26276" y="105103"/>
                </a:cubicBezTo>
                <a:cubicBezTo>
                  <a:pt x="26276" y="112354"/>
                  <a:pt x="32163" y="118241"/>
                  <a:pt x="39414" y="118241"/>
                </a:cubicBezTo>
                <a:close/>
                <a:moveTo>
                  <a:pt x="183931" y="105103"/>
                </a:moveTo>
                <a:cubicBezTo>
                  <a:pt x="183931" y="97852"/>
                  <a:pt x="178044" y="91966"/>
                  <a:pt x="170793" y="91966"/>
                </a:cubicBezTo>
                <a:cubicBezTo>
                  <a:pt x="163542" y="91966"/>
                  <a:pt x="157655" y="97852"/>
                  <a:pt x="157655" y="105103"/>
                </a:cubicBezTo>
                <a:cubicBezTo>
                  <a:pt x="157655" y="112354"/>
                  <a:pt x="163542" y="118241"/>
                  <a:pt x="170793" y="118241"/>
                </a:cubicBezTo>
                <a:cubicBezTo>
                  <a:pt x="178044" y="118241"/>
                  <a:pt x="183931" y="112354"/>
                  <a:pt x="183931" y="10510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51172" y="5056644"/>
            <a:ext cx="4297563" cy="32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082575" y="5593839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269425" y="5523770"/>
            <a:ext cx="2370667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预读机制（提前获取下一个块）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82575" y="5920828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269425" y="5850759"/>
            <a:ext cx="1226207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数据本地性优化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82575" y="6247816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269425" y="6177747"/>
            <a:ext cx="1226207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并行读取多个块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82575" y="6574805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269425" y="6504736"/>
            <a:ext cx="1226207" cy="23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透明的故障恢复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72966" y="7672552"/>
            <a:ext cx="15310069" cy="992644"/>
          </a:xfrm>
          <a:custGeom>
            <a:avLst/>
            <a:gdLst/>
            <a:ahLst/>
            <a:cxnLst/>
            <a:rect l="l" t="t" r="r" b="b"/>
            <a:pathLst>
              <a:path w="15310069" h="992644">
                <a:moveTo>
                  <a:pt x="93428" y="0"/>
                </a:moveTo>
                <a:lnTo>
                  <a:pt x="15216641" y="0"/>
                </a:lnTo>
                <a:cubicBezTo>
                  <a:pt x="15268240" y="0"/>
                  <a:pt x="15310069" y="41829"/>
                  <a:pt x="15310069" y="93428"/>
                </a:cubicBezTo>
                <a:lnTo>
                  <a:pt x="15310069" y="899216"/>
                </a:lnTo>
                <a:cubicBezTo>
                  <a:pt x="15310069" y="950815"/>
                  <a:pt x="15268240" y="992644"/>
                  <a:pt x="15216641" y="992644"/>
                </a:cubicBezTo>
                <a:lnTo>
                  <a:pt x="93428" y="992644"/>
                </a:lnTo>
                <a:cubicBezTo>
                  <a:pt x="41829" y="992644"/>
                  <a:pt x="0" y="950815"/>
                  <a:pt x="0" y="899216"/>
                </a:cubicBezTo>
                <a:lnTo>
                  <a:pt x="0" y="93428"/>
                </a:lnTo>
                <a:cubicBezTo>
                  <a:pt x="0" y="41829"/>
                  <a:pt x="41829" y="0"/>
                  <a:pt x="93428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735724" y="7911954"/>
            <a:ext cx="210207" cy="280276"/>
          </a:xfrm>
          <a:custGeom>
            <a:avLst/>
            <a:gdLst/>
            <a:ahLst/>
            <a:cxnLst/>
            <a:rect l="l" t="t" r="r" b="b"/>
            <a:pathLst>
              <a:path w="210207" h="280276">
                <a:moveTo>
                  <a:pt x="160338" y="210207"/>
                </a:moveTo>
                <a:cubicBezTo>
                  <a:pt x="164334" y="198000"/>
                  <a:pt x="172326" y="186942"/>
                  <a:pt x="181358" y="177417"/>
                </a:cubicBezTo>
                <a:cubicBezTo>
                  <a:pt x="199259" y="158586"/>
                  <a:pt x="210207" y="133131"/>
                  <a:pt x="210207" y="105103"/>
                </a:cubicBezTo>
                <a:cubicBezTo>
                  <a:pt x="210207" y="47078"/>
                  <a:pt x="163129" y="0"/>
                  <a:pt x="105103" y="0"/>
                </a:cubicBezTo>
                <a:cubicBezTo>
                  <a:pt x="47078" y="0"/>
                  <a:pt x="0" y="47078"/>
                  <a:pt x="0" y="105103"/>
                </a:cubicBezTo>
                <a:cubicBezTo>
                  <a:pt x="0" y="133131"/>
                  <a:pt x="10948" y="158586"/>
                  <a:pt x="28849" y="177417"/>
                </a:cubicBezTo>
                <a:cubicBezTo>
                  <a:pt x="37881" y="186942"/>
                  <a:pt x="45928" y="198000"/>
                  <a:pt x="49869" y="210207"/>
                </a:cubicBezTo>
                <a:lnTo>
                  <a:pt x="160283" y="210207"/>
                </a:lnTo>
                <a:close/>
                <a:moveTo>
                  <a:pt x="157655" y="236483"/>
                </a:moveTo>
                <a:lnTo>
                  <a:pt x="52552" y="236483"/>
                </a:lnTo>
                <a:lnTo>
                  <a:pt x="52552" y="245241"/>
                </a:lnTo>
                <a:cubicBezTo>
                  <a:pt x="52552" y="269437"/>
                  <a:pt x="72149" y="289034"/>
                  <a:pt x="96345" y="289034"/>
                </a:cubicBezTo>
                <a:lnTo>
                  <a:pt x="113862" y="289034"/>
                </a:lnTo>
                <a:cubicBezTo>
                  <a:pt x="138058" y="289034"/>
                  <a:pt x="157655" y="269437"/>
                  <a:pt x="157655" y="245241"/>
                </a:cubicBezTo>
                <a:lnTo>
                  <a:pt x="157655" y="236483"/>
                </a:lnTo>
                <a:close/>
                <a:moveTo>
                  <a:pt x="100724" y="61310"/>
                </a:moveTo>
                <a:cubicBezTo>
                  <a:pt x="78937" y="61310"/>
                  <a:pt x="61310" y="78937"/>
                  <a:pt x="61310" y="100724"/>
                </a:cubicBezTo>
                <a:cubicBezTo>
                  <a:pt x="61310" y="108005"/>
                  <a:pt x="55453" y="113862"/>
                  <a:pt x="48172" y="113862"/>
                </a:cubicBezTo>
                <a:cubicBezTo>
                  <a:pt x="40892" y="113862"/>
                  <a:pt x="35034" y="108005"/>
                  <a:pt x="35034" y="100724"/>
                </a:cubicBezTo>
                <a:cubicBezTo>
                  <a:pt x="35034" y="64431"/>
                  <a:pt x="64431" y="35034"/>
                  <a:pt x="100724" y="35034"/>
                </a:cubicBezTo>
                <a:cubicBezTo>
                  <a:pt x="108005" y="35034"/>
                  <a:pt x="113862" y="40892"/>
                  <a:pt x="113862" y="48172"/>
                </a:cubicBezTo>
                <a:cubicBezTo>
                  <a:pt x="113862" y="55453"/>
                  <a:pt x="108005" y="61310"/>
                  <a:pt x="100724" y="6131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02851" y="7865241"/>
            <a:ext cx="14480920" cy="6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1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设计优势：</a:t>
            </a:r>
            <a:r>
              <a:rPr lang="en-US" sz="147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控制流与数据流分离的设计，使得 NameNode 不会成为数据传输的瓶颈。客户端直接从 DataNode 读取数据，实现了高吞吐量的数据访问。同时，通过副本选择机制和故障自动切换，保证了数据的可靠性和高可用性。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12" y="480912"/>
            <a:ext cx="2125511" cy="391854"/>
          </a:xfrm>
          <a:custGeom>
            <a:avLst/>
            <a:gdLst/>
            <a:ahLst/>
            <a:cxnLst/>
            <a:rect l="l" t="t" r="r" b="b"/>
            <a:pathLst>
              <a:path w="2125511" h="391854">
                <a:moveTo>
                  <a:pt x="195927" y="0"/>
                </a:moveTo>
                <a:lnTo>
                  <a:pt x="1929584" y="0"/>
                </a:lnTo>
                <a:cubicBezTo>
                  <a:pt x="2037791" y="0"/>
                  <a:pt x="2125511" y="87719"/>
                  <a:pt x="2125511" y="195927"/>
                </a:cubicBezTo>
                <a:lnTo>
                  <a:pt x="2125511" y="195927"/>
                </a:lnTo>
                <a:cubicBezTo>
                  <a:pt x="2125511" y="304134"/>
                  <a:pt x="2037791" y="391854"/>
                  <a:pt x="1929584" y="391854"/>
                </a:cubicBezTo>
                <a:lnTo>
                  <a:pt x="195927" y="391854"/>
                </a:lnTo>
                <a:cubicBezTo>
                  <a:pt x="87792" y="391854"/>
                  <a:pt x="0" y="304062"/>
                  <a:pt x="0" y="195927"/>
                </a:cubicBezTo>
                <a:lnTo>
                  <a:pt x="0" y="195927"/>
                </a:lnTo>
                <a:cubicBezTo>
                  <a:pt x="0" y="87792"/>
                  <a:pt x="87792" y="0"/>
                  <a:pt x="19592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6839" y="552158"/>
            <a:ext cx="182753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kern="0" spc="15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974" y="1021195"/>
            <a:ext cx="15591036" cy="56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88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数据写入流程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4974" y="1733657"/>
            <a:ext cx="15424795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数据写入的七步流程与管道机制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912" y="2262066"/>
            <a:ext cx="7516470" cy="5189096"/>
          </a:xfrm>
          <a:custGeom>
            <a:avLst/>
            <a:gdLst/>
            <a:ahLst/>
            <a:cxnLst/>
            <a:rect l="l" t="t" r="r" b="b"/>
            <a:pathLst>
              <a:path w="7516470" h="5189096">
                <a:moveTo>
                  <a:pt x="95012" y="0"/>
                </a:moveTo>
                <a:lnTo>
                  <a:pt x="7421458" y="0"/>
                </a:lnTo>
                <a:cubicBezTo>
                  <a:pt x="7473932" y="0"/>
                  <a:pt x="7516470" y="42538"/>
                  <a:pt x="7516470" y="95012"/>
                </a:cubicBezTo>
                <a:lnTo>
                  <a:pt x="7516470" y="5094083"/>
                </a:lnTo>
                <a:cubicBezTo>
                  <a:pt x="7516470" y="5146557"/>
                  <a:pt x="7473932" y="5189096"/>
                  <a:pt x="7421458" y="5189096"/>
                </a:cubicBezTo>
                <a:lnTo>
                  <a:pt x="95012" y="5189096"/>
                </a:lnTo>
                <a:cubicBezTo>
                  <a:pt x="42538" y="5189096"/>
                  <a:pt x="0" y="5146557"/>
                  <a:pt x="0" y="5094083"/>
                </a:cubicBezTo>
                <a:lnTo>
                  <a:pt x="0" y="95012"/>
                </a:lnTo>
                <a:cubicBezTo>
                  <a:pt x="0" y="42574"/>
                  <a:pt x="42574" y="0"/>
                  <a:pt x="9501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4022" y="2552988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0" y="33397"/>
                </a:moveTo>
                <a:cubicBezTo>
                  <a:pt x="0" y="27274"/>
                  <a:pt x="4963" y="22264"/>
                  <a:pt x="11132" y="22264"/>
                </a:cubicBezTo>
                <a:lnTo>
                  <a:pt x="33397" y="22264"/>
                </a:lnTo>
                <a:cubicBezTo>
                  <a:pt x="39566" y="22264"/>
                  <a:pt x="44529" y="27228"/>
                  <a:pt x="44529" y="33397"/>
                </a:cubicBezTo>
                <a:lnTo>
                  <a:pt x="44529" y="81636"/>
                </a:lnTo>
                <a:lnTo>
                  <a:pt x="55661" y="81636"/>
                </a:lnTo>
                <a:cubicBezTo>
                  <a:pt x="61830" y="81636"/>
                  <a:pt x="66793" y="86599"/>
                  <a:pt x="66793" y="92768"/>
                </a:cubicBezTo>
                <a:cubicBezTo>
                  <a:pt x="66793" y="98938"/>
                  <a:pt x="61830" y="103901"/>
                  <a:pt x="55661" y="103901"/>
                </a:cubicBezTo>
                <a:lnTo>
                  <a:pt x="11132" y="103901"/>
                </a:lnTo>
                <a:cubicBezTo>
                  <a:pt x="4963" y="103901"/>
                  <a:pt x="0" y="98938"/>
                  <a:pt x="0" y="92768"/>
                </a:cubicBezTo>
                <a:cubicBezTo>
                  <a:pt x="0" y="86599"/>
                  <a:pt x="4963" y="81636"/>
                  <a:pt x="11132" y="81636"/>
                </a:cubicBezTo>
                <a:lnTo>
                  <a:pt x="22264" y="81636"/>
                </a:lnTo>
                <a:lnTo>
                  <a:pt x="22264" y="44529"/>
                </a:lnTo>
                <a:lnTo>
                  <a:pt x="11132" y="44529"/>
                </a:lnTo>
                <a:cubicBezTo>
                  <a:pt x="4963" y="44529"/>
                  <a:pt x="0" y="39566"/>
                  <a:pt x="0" y="33397"/>
                </a:cubicBezTo>
                <a:close/>
                <a:moveTo>
                  <a:pt x="14101" y="139709"/>
                </a:moveTo>
                <a:cubicBezTo>
                  <a:pt x="19389" y="135720"/>
                  <a:pt x="25836" y="133587"/>
                  <a:pt x="32469" y="133587"/>
                </a:cubicBezTo>
                <a:lnTo>
                  <a:pt x="34742" y="133587"/>
                </a:lnTo>
                <a:cubicBezTo>
                  <a:pt x="50373" y="133587"/>
                  <a:pt x="63083" y="146296"/>
                  <a:pt x="63083" y="161927"/>
                </a:cubicBezTo>
                <a:cubicBezTo>
                  <a:pt x="63083" y="171019"/>
                  <a:pt x="58722" y="179507"/>
                  <a:pt x="51394" y="184841"/>
                </a:cubicBezTo>
                <a:lnTo>
                  <a:pt x="40262" y="192958"/>
                </a:lnTo>
                <a:lnTo>
                  <a:pt x="55661" y="192958"/>
                </a:lnTo>
                <a:cubicBezTo>
                  <a:pt x="61830" y="192958"/>
                  <a:pt x="66793" y="197921"/>
                  <a:pt x="66793" y="204091"/>
                </a:cubicBezTo>
                <a:cubicBezTo>
                  <a:pt x="66793" y="210260"/>
                  <a:pt x="61830" y="215223"/>
                  <a:pt x="55661" y="215223"/>
                </a:cubicBezTo>
                <a:lnTo>
                  <a:pt x="13591" y="215223"/>
                </a:lnTo>
                <a:cubicBezTo>
                  <a:pt x="6076" y="215223"/>
                  <a:pt x="0" y="209146"/>
                  <a:pt x="0" y="201632"/>
                </a:cubicBezTo>
                <a:cubicBezTo>
                  <a:pt x="0" y="197272"/>
                  <a:pt x="2087" y="193190"/>
                  <a:pt x="5612" y="190639"/>
                </a:cubicBezTo>
                <a:lnTo>
                  <a:pt x="38313" y="166844"/>
                </a:lnTo>
                <a:cubicBezTo>
                  <a:pt x="39890" y="165684"/>
                  <a:pt x="40818" y="163875"/>
                  <a:pt x="40818" y="161927"/>
                </a:cubicBezTo>
                <a:cubicBezTo>
                  <a:pt x="40818" y="158588"/>
                  <a:pt x="38081" y="155851"/>
                  <a:pt x="34742" y="155851"/>
                </a:cubicBezTo>
                <a:lnTo>
                  <a:pt x="32469" y="155851"/>
                </a:lnTo>
                <a:cubicBezTo>
                  <a:pt x="30660" y="155851"/>
                  <a:pt x="28897" y="156454"/>
                  <a:pt x="27459" y="157521"/>
                </a:cubicBezTo>
                <a:lnTo>
                  <a:pt x="17812" y="164757"/>
                </a:lnTo>
                <a:cubicBezTo>
                  <a:pt x="12895" y="168467"/>
                  <a:pt x="5937" y="167447"/>
                  <a:pt x="2226" y="162530"/>
                </a:cubicBezTo>
                <a:cubicBezTo>
                  <a:pt x="-1484" y="157614"/>
                  <a:pt x="-464" y="150656"/>
                  <a:pt x="4453" y="146945"/>
                </a:cubicBezTo>
                <a:lnTo>
                  <a:pt x="14101" y="139709"/>
                </a:lnTo>
                <a:close/>
                <a:moveTo>
                  <a:pt x="103901" y="29686"/>
                </a:moveTo>
                <a:lnTo>
                  <a:pt x="222644" y="29686"/>
                </a:lnTo>
                <a:cubicBezTo>
                  <a:pt x="230854" y="29686"/>
                  <a:pt x="237487" y="36319"/>
                  <a:pt x="237487" y="44529"/>
                </a:cubicBezTo>
                <a:cubicBezTo>
                  <a:pt x="237487" y="52739"/>
                  <a:pt x="230854" y="59372"/>
                  <a:pt x="222644" y="59372"/>
                </a:cubicBezTo>
                <a:lnTo>
                  <a:pt x="103901" y="59372"/>
                </a:lnTo>
                <a:cubicBezTo>
                  <a:pt x="95691" y="59372"/>
                  <a:pt x="89058" y="52739"/>
                  <a:pt x="89058" y="44529"/>
                </a:cubicBezTo>
                <a:cubicBezTo>
                  <a:pt x="89058" y="36319"/>
                  <a:pt x="95691" y="29686"/>
                  <a:pt x="103901" y="29686"/>
                </a:cubicBezTo>
                <a:close/>
                <a:moveTo>
                  <a:pt x="103901" y="103901"/>
                </a:moveTo>
                <a:lnTo>
                  <a:pt x="222644" y="103901"/>
                </a:lnTo>
                <a:cubicBezTo>
                  <a:pt x="230854" y="103901"/>
                  <a:pt x="237487" y="110534"/>
                  <a:pt x="237487" y="118744"/>
                </a:cubicBezTo>
                <a:cubicBezTo>
                  <a:pt x="237487" y="126954"/>
                  <a:pt x="230854" y="133587"/>
                  <a:pt x="222644" y="133587"/>
                </a:cubicBezTo>
                <a:lnTo>
                  <a:pt x="103901" y="133587"/>
                </a:lnTo>
                <a:cubicBezTo>
                  <a:pt x="95691" y="133587"/>
                  <a:pt x="89058" y="126954"/>
                  <a:pt x="89058" y="118744"/>
                </a:cubicBezTo>
                <a:cubicBezTo>
                  <a:pt x="89058" y="110534"/>
                  <a:pt x="95691" y="103901"/>
                  <a:pt x="103901" y="103901"/>
                </a:cubicBezTo>
                <a:close/>
                <a:moveTo>
                  <a:pt x="103901" y="178115"/>
                </a:moveTo>
                <a:lnTo>
                  <a:pt x="222644" y="178115"/>
                </a:lnTo>
                <a:cubicBezTo>
                  <a:pt x="230854" y="178115"/>
                  <a:pt x="237487" y="184748"/>
                  <a:pt x="237487" y="192958"/>
                </a:cubicBezTo>
                <a:cubicBezTo>
                  <a:pt x="237487" y="201168"/>
                  <a:pt x="230854" y="207801"/>
                  <a:pt x="222644" y="207801"/>
                </a:cubicBezTo>
                <a:lnTo>
                  <a:pt x="103901" y="207801"/>
                </a:lnTo>
                <a:cubicBezTo>
                  <a:pt x="95691" y="207801"/>
                  <a:pt x="89058" y="201168"/>
                  <a:pt x="89058" y="192958"/>
                </a:cubicBezTo>
                <a:cubicBezTo>
                  <a:pt x="89058" y="184748"/>
                  <a:pt x="95691" y="178115"/>
                  <a:pt x="103901" y="178115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1195" y="2505490"/>
            <a:ext cx="6851506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写入步骤详解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4336" y="2980465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81579" y="3051711"/>
            <a:ext cx="154367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9310" y="2980465"/>
            <a:ext cx="2339249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文件创建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9310" y="3312947"/>
            <a:ext cx="2315500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客户端向 NameNode 请求创建文件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4336" y="3597931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7570" y="3669178"/>
            <a:ext cx="178115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9310" y="3597931"/>
            <a:ext cx="237487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租约获取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9310" y="3930413"/>
            <a:ext cx="2351123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获取文件写入租约，确保单写者模型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4336" y="4215398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5437" y="4286644"/>
            <a:ext cx="178115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9310" y="4215398"/>
            <a:ext cx="275485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块分配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9310" y="4547880"/>
            <a:ext cx="2731103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分配数据块和 DataNode 列表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4336" y="4832865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5530" y="4904111"/>
            <a:ext cx="178115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9310" y="4832865"/>
            <a:ext cx="2256129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管道建立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9310" y="5165347"/>
            <a:ext cx="2232380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在多个 DataNode 间建立写入管道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4336" y="5450332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4695" y="5521578"/>
            <a:ext cx="178115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99310" y="5450332"/>
            <a:ext cx="1804903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数据写入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9310" y="5782814"/>
            <a:ext cx="1781154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数据沿管道传输到各个副本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4336" y="6067798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4324" y="6139045"/>
            <a:ext cx="178115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9310" y="6067798"/>
            <a:ext cx="1662411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确认机制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99310" y="6400280"/>
            <a:ext cx="1638662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各节点确认数据接收成功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4336" y="6685265"/>
            <a:ext cx="379980" cy="379980"/>
          </a:xfrm>
          <a:custGeom>
            <a:avLst/>
            <a:gdLst/>
            <a:ahLst/>
            <a:cxnLst/>
            <a:rect l="l" t="t" r="r" b="b"/>
            <a:pathLst>
              <a:path w="379980" h="379980">
                <a:moveTo>
                  <a:pt x="94995" y="0"/>
                </a:moveTo>
                <a:lnTo>
                  <a:pt x="284985" y="0"/>
                </a:lnTo>
                <a:cubicBezTo>
                  <a:pt x="337449" y="0"/>
                  <a:pt x="379980" y="42531"/>
                  <a:pt x="379980" y="94995"/>
                </a:cubicBezTo>
                <a:lnTo>
                  <a:pt x="379980" y="284985"/>
                </a:lnTo>
                <a:cubicBezTo>
                  <a:pt x="379980" y="337449"/>
                  <a:pt x="337449" y="379980"/>
                  <a:pt x="284985" y="379980"/>
                </a:cubicBezTo>
                <a:lnTo>
                  <a:pt x="94995" y="379980"/>
                </a:lnTo>
                <a:cubicBezTo>
                  <a:pt x="42531" y="379980"/>
                  <a:pt x="0" y="337449"/>
                  <a:pt x="0" y="284985"/>
                </a:cubicBezTo>
                <a:lnTo>
                  <a:pt x="0" y="94995"/>
                </a:lnTo>
                <a:cubicBezTo>
                  <a:pt x="0" y="42566"/>
                  <a:pt x="42566" y="0"/>
                  <a:pt x="9499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1188" y="6756511"/>
            <a:ext cx="166241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99310" y="6685265"/>
            <a:ext cx="1662411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文件关闭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99310" y="7017747"/>
            <a:ext cx="1638662" cy="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释放租约，文件对外可见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1939" y="2262066"/>
            <a:ext cx="7516470" cy="5189096"/>
          </a:xfrm>
          <a:custGeom>
            <a:avLst/>
            <a:gdLst/>
            <a:ahLst/>
            <a:cxnLst/>
            <a:rect l="l" t="t" r="r" b="b"/>
            <a:pathLst>
              <a:path w="7516470" h="5189096">
                <a:moveTo>
                  <a:pt x="95012" y="0"/>
                </a:moveTo>
                <a:lnTo>
                  <a:pt x="7421458" y="0"/>
                </a:lnTo>
                <a:cubicBezTo>
                  <a:pt x="7473932" y="0"/>
                  <a:pt x="7516470" y="42538"/>
                  <a:pt x="7516470" y="95012"/>
                </a:cubicBezTo>
                <a:lnTo>
                  <a:pt x="7516470" y="5094083"/>
                </a:lnTo>
                <a:cubicBezTo>
                  <a:pt x="7516470" y="5146557"/>
                  <a:pt x="7473932" y="5189096"/>
                  <a:pt x="7421458" y="5189096"/>
                </a:cubicBezTo>
                <a:lnTo>
                  <a:pt x="95012" y="5189096"/>
                </a:lnTo>
                <a:cubicBezTo>
                  <a:pt x="42538" y="5189096"/>
                  <a:pt x="0" y="5146557"/>
                  <a:pt x="0" y="5094083"/>
                </a:cubicBezTo>
                <a:lnTo>
                  <a:pt x="0" y="95012"/>
                </a:lnTo>
                <a:cubicBezTo>
                  <a:pt x="0" y="42574"/>
                  <a:pt x="42574" y="0"/>
                  <a:pt x="9501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25049" y="2552988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0" y="37107"/>
                </a:moveTo>
                <a:cubicBezTo>
                  <a:pt x="0" y="24816"/>
                  <a:pt x="9973" y="14843"/>
                  <a:pt x="22264" y="14843"/>
                </a:cubicBezTo>
                <a:lnTo>
                  <a:pt x="66793" y="14843"/>
                </a:lnTo>
                <a:cubicBezTo>
                  <a:pt x="79085" y="14843"/>
                  <a:pt x="89058" y="24816"/>
                  <a:pt x="89058" y="37107"/>
                </a:cubicBezTo>
                <a:lnTo>
                  <a:pt x="89058" y="44529"/>
                </a:lnTo>
                <a:lnTo>
                  <a:pt x="148430" y="44529"/>
                </a:lnTo>
                <a:lnTo>
                  <a:pt x="148430" y="37107"/>
                </a:lnTo>
                <a:cubicBezTo>
                  <a:pt x="148430" y="24816"/>
                  <a:pt x="158402" y="14843"/>
                  <a:pt x="170694" y="14843"/>
                </a:cubicBezTo>
                <a:lnTo>
                  <a:pt x="215223" y="14843"/>
                </a:lnTo>
                <a:cubicBezTo>
                  <a:pt x="227515" y="14843"/>
                  <a:pt x="237487" y="24816"/>
                  <a:pt x="237487" y="37107"/>
                </a:cubicBezTo>
                <a:lnTo>
                  <a:pt x="237487" y="81636"/>
                </a:lnTo>
                <a:cubicBezTo>
                  <a:pt x="237487" y="93928"/>
                  <a:pt x="227515" y="103901"/>
                  <a:pt x="215223" y="103901"/>
                </a:cubicBezTo>
                <a:lnTo>
                  <a:pt x="170694" y="103901"/>
                </a:lnTo>
                <a:cubicBezTo>
                  <a:pt x="158402" y="103901"/>
                  <a:pt x="148430" y="93928"/>
                  <a:pt x="148430" y="81636"/>
                </a:cubicBezTo>
                <a:lnTo>
                  <a:pt x="148430" y="74215"/>
                </a:lnTo>
                <a:lnTo>
                  <a:pt x="89058" y="74215"/>
                </a:lnTo>
                <a:lnTo>
                  <a:pt x="89058" y="81636"/>
                </a:lnTo>
                <a:cubicBezTo>
                  <a:pt x="89058" y="85022"/>
                  <a:pt x="88269" y="88269"/>
                  <a:pt x="86924" y="91145"/>
                </a:cubicBezTo>
                <a:lnTo>
                  <a:pt x="118744" y="133587"/>
                </a:lnTo>
                <a:lnTo>
                  <a:pt x="155851" y="133587"/>
                </a:lnTo>
                <a:cubicBezTo>
                  <a:pt x="168143" y="133587"/>
                  <a:pt x="178115" y="143559"/>
                  <a:pt x="178115" y="155851"/>
                </a:cubicBezTo>
                <a:lnTo>
                  <a:pt x="178115" y="200380"/>
                </a:lnTo>
                <a:cubicBezTo>
                  <a:pt x="178115" y="212672"/>
                  <a:pt x="168143" y="222644"/>
                  <a:pt x="155851" y="222644"/>
                </a:cubicBezTo>
                <a:lnTo>
                  <a:pt x="111322" y="222644"/>
                </a:lnTo>
                <a:cubicBezTo>
                  <a:pt x="99030" y="222644"/>
                  <a:pt x="89058" y="212672"/>
                  <a:pt x="89058" y="200380"/>
                </a:cubicBezTo>
                <a:lnTo>
                  <a:pt x="89058" y="155851"/>
                </a:lnTo>
                <a:cubicBezTo>
                  <a:pt x="89058" y="152465"/>
                  <a:pt x="89846" y="149218"/>
                  <a:pt x="91191" y="146342"/>
                </a:cubicBezTo>
                <a:lnTo>
                  <a:pt x="59372" y="103901"/>
                </a:lnTo>
                <a:lnTo>
                  <a:pt x="22264" y="103901"/>
                </a:lnTo>
                <a:cubicBezTo>
                  <a:pt x="9973" y="103901"/>
                  <a:pt x="0" y="93928"/>
                  <a:pt x="0" y="81636"/>
                </a:cubicBezTo>
                <a:lnTo>
                  <a:pt x="0" y="3710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92222" y="2505490"/>
            <a:ext cx="6851506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管道写入机制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95363" y="2980465"/>
            <a:ext cx="7029622" cy="1258682"/>
          </a:xfrm>
          <a:custGeom>
            <a:avLst/>
            <a:gdLst/>
            <a:ahLst/>
            <a:cxnLst/>
            <a:rect l="l" t="t" r="r" b="b"/>
            <a:pathLst>
              <a:path w="7029622" h="1258682">
                <a:moveTo>
                  <a:pt x="94993" y="0"/>
                </a:moveTo>
                <a:lnTo>
                  <a:pt x="6934629" y="0"/>
                </a:lnTo>
                <a:cubicBezTo>
                  <a:pt x="6987092" y="0"/>
                  <a:pt x="7029622" y="42530"/>
                  <a:pt x="7029622" y="94993"/>
                </a:cubicBezTo>
                <a:lnTo>
                  <a:pt x="7029622" y="1163690"/>
                </a:lnTo>
                <a:cubicBezTo>
                  <a:pt x="7029622" y="1216153"/>
                  <a:pt x="6987092" y="1258682"/>
                  <a:pt x="6934629" y="1258682"/>
                </a:cubicBezTo>
                <a:lnTo>
                  <a:pt x="94993" y="1258682"/>
                </a:lnTo>
                <a:cubicBezTo>
                  <a:pt x="42530" y="1258682"/>
                  <a:pt x="0" y="1216153"/>
                  <a:pt x="0" y="1163690"/>
                </a:cubicBezTo>
                <a:lnTo>
                  <a:pt x="0" y="94993"/>
                </a:lnTo>
                <a:cubicBezTo>
                  <a:pt x="0" y="42530"/>
                  <a:pt x="42530" y="0"/>
                  <a:pt x="949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43793" y="3128894"/>
            <a:ext cx="736210" cy="439351"/>
          </a:xfrm>
          <a:custGeom>
            <a:avLst/>
            <a:gdLst/>
            <a:ahLst/>
            <a:cxnLst/>
            <a:rect l="l" t="t" r="r" b="b"/>
            <a:pathLst>
              <a:path w="736210" h="439351">
                <a:moveTo>
                  <a:pt x="47498" y="0"/>
                </a:moveTo>
                <a:lnTo>
                  <a:pt x="688712" y="0"/>
                </a:lnTo>
                <a:cubicBezTo>
                  <a:pt x="714945" y="0"/>
                  <a:pt x="736210" y="21266"/>
                  <a:pt x="736210" y="47498"/>
                </a:cubicBezTo>
                <a:lnTo>
                  <a:pt x="736210" y="391853"/>
                </a:lnTo>
                <a:cubicBezTo>
                  <a:pt x="736210" y="418086"/>
                  <a:pt x="714945" y="439351"/>
                  <a:pt x="688712" y="439351"/>
                </a:cubicBezTo>
                <a:lnTo>
                  <a:pt x="47498" y="439351"/>
                </a:lnTo>
                <a:cubicBezTo>
                  <a:pt x="21266" y="439351"/>
                  <a:pt x="0" y="418086"/>
                  <a:pt x="0" y="391853"/>
                </a:cubicBezTo>
                <a:lnTo>
                  <a:pt x="0" y="47498"/>
                </a:lnTo>
                <a:cubicBezTo>
                  <a:pt x="0" y="21266"/>
                  <a:pt x="21266" y="0"/>
                  <a:pt x="4749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37855" y="3122957"/>
            <a:ext cx="807457" cy="427477"/>
          </a:xfrm>
          <a:prstGeom prst="rect">
            <a:avLst/>
          </a:prstGeom>
          <a:noFill/>
          <a:ln/>
        </p:spPr>
        <p:txBody>
          <a:bodyPr wrap="square" lIns="142492" tIns="94995" rIns="142492" bIns="94995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25287" y="3229826"/>
            <a:ext cx="24936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232730" y="3128894"/>
            <a:ext cx="1128064" cy="439351"/>
          </a:xfrm>
          <a:custGeom>
            <a:avLst/>
            <a:gdLst/>
            <a:ahLst/>
            <a:cxnLst/>
            <a:rect l="l" t="t" r="r" b="b"/>
            <a:pathLst>
              <a:path w="1128064" h="439351">
                <a:moveTo>
                  <a:pt x="47498" y="0"/>
                </a:moveTo>
                <a:lnTo>
                  <a:pt x="1080566" y="0"/>
                </a:lnTo>
                <a:cubicBezTo>
                  <a:pt x="1106799" y="0"/>
                  <a:pt x="1128064" y="21266"/>
                  <a:pt x="1128064" y="47498"/>
                </a:cubicBezTo>
                <a:lnTo>
                  <a:pt x="1128064" y="391853"/>
                </a:lnTo>
                <a:cubicBezTo>
                  <a:pt x="1128064" y="418086"/>
                  <a:pt x="1106799" y="439351"/>
                  <a:pt x="1080566" y="439351"/>
                </a:cubicBezTo>
                <a:lnTo>
                  <a:pt x="47498" y="439351"/>
                </a:lnTo>
                <a:cubicBezTo>
                  <a:pt x="21266" y="439351"/>
                  <a:pt x="0" y="418086"/>
                  <a:pt x="0" y="391853"/>
                </a:cubicBezTo>
                <a:lnTo>
                  <a:pt x="0" y="47498"/>
                </a:lnTo>
                <a:cubicBezTo>
                  <a:pt x="0" y="21266"/>
                  <a:pt x="21266" y="0"/>
                  <a:pt x="47498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226793" y="3122957"/>
            <a:ext cx="1199310" cy="427477"/>
          </a:xfrm>
          <a:prstGeom prst="rect">
            <a:avLst/>
          </a:prstGeom>
          <a:noFill/>
          <a:ln/>
        </p:spPr>
        <p:txBody>
          <a:bodyPr wrap="square" lIns="142492" tIns="94995" rIns="142492" bIns="94995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704224" y="3229826"/>
            <a:ext cx="24936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211667" y="3128894"/>
            <a:ext cx="1163687" cy="439351"/>
          </a:xfrm>
          <a:custGeom>
            <a:avLst/>
            <a:gdLst/>
            <a:ahLst/>
            <a:cxnLst/>
            <a:rect l="l" t="t" r="r" b="b"/>
            <a:pathLst>
              <a:path w="1163687" h="439351">
                <a:moveTo>
                  <a:pt x="47498" y="0"/>
                </a:moveTo>
                <a:lnTo>
                  <a:pt x="1116189" y="0"/>
                </a:lnTo>
                <a:cubicBezTo>
                  <a:pt x="1142422" y="0"/>
                  <a:pt x="1163687" y="21266"/>
                  <a:pt x="1163687" y="47498"/>
                </a:cubicBezTo>
                <a:lnTo>
                  <a:pt x="1163687" y="391853"/>
                </a:lnTo>
                <a:cubicBezTo>
                  <a:pt x="1163687" y="418086"/>
                  <a:pt x="1142422" y="439351"/>
                  <a:pt x="1116189" y="439351"/>
                </a:cubicBezTo>
                <a:lnTo>
                  <a:pt x="47498" y="439351"/>
                </a:lnTo>
                <a:cubicBezTo>
                  <a:pt x="21266" y="439351"/>
                  <a:pt x="0" y="418086"/>
                  <a:pt x="0" y="391853"/>
                </a:cubicBezTo>
                <a:lnTo>
                  <a:pt x="0" y="47498"/>
                </a:lnTo>
                <a:cubicBezTo>
                  <a:pt x="0" y="21266"/>
                  <a:pt x="21266" y="0"/>
                  <a:pt x="47498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205730" y="3122957"/>
            <a:ext cx="1234934" cy="427477"/>
          </a:xfrm>
          <a:prstGeom prst="rect">
            <a:avLst/>
          </a:prstGeom>
          <a:noFill/>
          <a:ln/>
        </p:spPr>
        <p:txBody>
          <a:bodyPr wrap="square" lIns="142492" tIns="94995" rIns="142492" bIns="94995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711269" y="3229826"/>
            <a:ext cx="24936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218712" y="3128894"/>
            <a:ext cx="1163687" cy="439351"/>
          </a:xfrm>
          <a:custGeom>
            <a:avLst/>
            <a:gdLst/>
            <a:ahLst/>
            <a:cxnLst/>
            <a:rect l="l" t="t" r="r" b="b"/>
            <a:pathLst>
              <a:path w="1163687" h="439351">
                <a:moveTo>
                  <a:pt x="47498" y="0"/>
                </a:moveTo>
                <a:lnTo>
                  <a:pt x="1116189" y="0"/>
                </a:lnTo>
                <a:cubicBezTo>
                  <a:pt x="1142422" y="0"/>
                  <a:pt x="1163687" y="21266"/>
                  <a:pt x="1163687" y="47498"/>
                </a:cubicBezTo>
                <a:lnTo>
                  <a:pt x="1163687" y="391853"/>
                </a:lnTo>
                <a:cubicBezTo>
                  <a:pt x="1163687" y="418086"/>
                  <a:pt x="1142422" y="439351"/>
                  <a:pt x="1116189" y="439351"/>
                </a:cubicBezTo>
                <a:lnTo>
                  <a:pt x="47498" y="439351"/>
                </a:lnTo>
                <a:cubicBezTo>
                  <a:pt x="21266" y="439351"/>
                  <a:pt x="0" y="418086"/>
                  <a:pt x="0" y="391853"/>
                </a:cubicBezTo>
                <a:lnTo>
                  <a:pt x="0" y="47498"/>
                </a:lnTo>
                <a:cubicBezTo>
                  <a:pt x="0" y="21266"/>
                  <a:pt x="21266" y="0"/>
                  <a:pt x="47498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4212775" y="3122957"/>
            <a:ext cx="1234934" cy="427477"/>
          </a:xfrm>
          <a:prstGeom prst="rect">
            <a:avLst/>
          </a:prstGeom>
          <a:noFill/>
          <a:ln/>
        </p:spPr>
        <p:txBody>
          <a:bodyPr wrap="square" lIns="142492" tIns="94995" rIns="142492" bIns="94995" rtlCol="0" anchor="ctr"/>
          <a:lstStyle/>
          <a:p>
            <a:pPr>
              <a:lnSpc>
                <a:spcPct val="120000"/>
              </a:lnSpc>
            </a:pPr>
            <a:r>
              <a:rPr lang="en-US" sz="1309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781226" y="3716675"/>
            <a:ext cx="356231" cy="37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424199" y="3716675"/>
            <a:ext cx="356231" cy="37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5067172" y="3716675"/>
            <a:ext cx="356231" cy="37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12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5363" y="4476634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85353" y="4381639"/>
            <a:ext cx="2992339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数据以数据包（默认64KB）为单位传输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95363" y="4809116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685353" y="4714121"/>
            <a:ext cx="3776047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DataNode 收到数据后立即转发到下一个节点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95363" y="5141598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685353" y="5046603"/>
            <a:ext cx="191177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确认消息沿管道逆向返回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95363" y="5474080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685353" y="5379085"/>
            <a:ext cx="3241701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所有副本确认成功后继续写入下一个数据包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80912" y="7653026"/>
            <a:ext cx="15294177" cy="1009321"/>
          </a:xfrm>
          <a:custGeom>
            <a:avLst/>
            <a:gdLst/>
            <a:ahLst/>
            <a:cxnLst/>
            <a:rect l="l" t="t" r="r" b="b"/>
            <a:pathLst>
              <a:path w="15294177" h="1009321">
                <a:moveTo>
                  <a:pt x="94997" y="0"/>
                </a:moveTo>
                <a:lnTo>
                  <a:pt x="15199180" y="0"/>
                </a:lnTo>
                <a:cubicBezTo>
                  <a:pt x="15251645" y="0"/>
                  <a:pt x="15294177" y="42532"/>
                  <a:pt x="15294177" y="94997"/>
                </a:cubicBezTo>
                <a:lnTo>
                  <a:pt x="15294177" y="914323"/>
                </a:lnTo>
                <a:cubicBezTo>
                  <a:pt x="15294177" y="966789"/>
                  <a:pt x="15251645" y="1009321"/>
                  <a:pt x="15199180" y="1009321"/>
                </a:cubicBezTo>
                <a:lnTo>
                  <a:pt x="94997" y="1009321"/>
                </a:lnTo>
                <a:cubicBezTo>
                  <a:pt x="42532" y="1009321"/>
                  <a:pt x="0" y="966789"/>
                  <a:pt x="0" y="914323"/>
                </a:cubicBezTo>
                <a:lnTo>
                  <a:pt x="0" y="94997"/>
                </a:lnTo>
                <a:cubicBezTo>
                  <a:pt x="0" y="42532"/>
                  <a:pt x="42532" y="0"/>
                  <a:pt x="94997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712462" y="7896450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142492" y="0"/>
                </a:moveTo>
                <a:cubicBezTo>
                  <a:pt x="145053" y="0"/>
                  <a:pt x="147613" y="557"/>
                  <a:pt x="149951" y="1614"/>
                </a:cubicBezTo>
                <a:lnTo>
                  <a:pt x="254816" y="46087"/>
                </a:lnTo>
                <a:cubicBezTo>
                  <a:pt x="267062" y="51264"/>
                  <a:pt x="276190" y="63342"/>
                  <a:pt x="276135" y="77925"/>
                </a:cubicBezTo>
                <a:cubicBezTo>
                  <a:pt x="275856" y="133141"/>
                  <a:pt x="253147" y="234166"/>
                  <a:pt x="157243" y="280086"/>
                </a:cubicBezTo>
                <a:cubicBezTo>
                  <a:pt x="147947" y="284539"/>
                  <a:pt x="137149" y="284539"/>
                  <a:pt x="127853" y="280086"/>
                </a:cubicBezTo>
                <a:cubicBezTo>
                  <a:pt x="31894" y="234166"/>
                  <a:pt x="9240" y="133141"/>
                  <a:pt x="8961" y="77925"/>
                </a:cubicBezTo>
                <a:cubicBezTo>
                  <a:pt x="8906" y="63342"/>
                  <a:pt x="18034" y="51264"/>
                  <a:pt x="30280" y="46087"/>
                </a:cubicBezTo>
                <a:lnTo>
                  <a:pt x="135089" y="1614"/>
                </a:lnTo>
                <a:cubicBezTo>
                  <a:pt x="137427" y="557"/>
                  <a:pt x="139932" y="0"/>
                  <a:pt x="142492" y="0"/>
                </a:cubicBezTo>
                <a:close/>
                <a:moveTo>
                  <a:pt x="142492" y="37182"/>
                </a:moveTo>
                <a:lnTo>
                  <a:pt x="142492" y="247636"/>
                </a:lnTo>
                <a:cubicBezTo>
                  <a:pt x="219305" y="210454"/>
                  <a:pt x="239955" y="128076"/>
                  <a:pt x="240456" y="78760"/>
                </a:cubicBezTo>
                <a:lnTo>
                  <a:pt x="142492" y="37237"/>
                </a:lnTo>
                <a:lnTo>
                  <a:pt x="142492" y="3723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223059" y="7848953"/>
            <a:ext cx="14451097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数据一致性保障：</a:t>
            </a:r>
            <a:r>
              <a:rPr lang="en-US" sz="14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管道写入机制确保了所有副本的数据一致性。数据在传输过程中，每个 DataNode 都会验证校验和，发现错误立即报告。只有所有副本都成功写入后，客户端才会继续下一个数据包的写入，保证了数据的完整性和一致性。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618" y="455618"/>
            <a:ext cx="2306215" cy="371244"/>
          </a:xfrm>
          <a:custGeom>
            <a:avLst/>
            <a:gdLst/>
            <a:ahLst/>
            <a:cxnLst/>
            <a:rect l="l" t="t" r="r" b="b"/>
            <a:pathLst>
              <a:path w="2306215" h="371244">
                <a:moveTo>
                  <a:pt x="185622" y="0"/>
                </a:moveTo>
                <a:lnTo>
                  <a:pt x="2120592" y="0"/>
                </a:lnTo>
                <a:cubicBezTo>
                  <a:pt x="2223040" y="0"/>
                  <a:pt x="2306215" y="83174"/>
                  <a:pt x="2306215" y="185622"/>
                </a:cubicBezTo>
                <a:lnTo>
                  <a:pt x="2306215" y="185622"/>
                </a:lnTo>
                <a:cubicBezTo>
                  <a:pt x="2306215" y="288070"/>
                  <a:pt x="2223040" y="371244"/>
                  <a:pt x="2120592" y="371244"/>
                </a:cubicBezTo>
                <a:lnTo>
                  <a:pt x="185622" y="371244"/>
                </a:lnTo>
                <a:cubicBezTo>
                  <a:pt x="83106" y="371244"/>
                  <a:pt x="0" y="288138"/>
                  <a:pt x="0" y="185622"/>
                </a:cubicBezTo>
                <a:lnTo>
                  <a:pt x="0" y="185622"/>
                </a:lnTo>
                <a:cubicBezTo>
                  <a:pt x="0" y="83106"/>
                  <a:pt x="83106" y="0"/>
                  <a:pt x="18562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1240" y="523117"/>
            <a:ext cx="202804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kern="0" spc="142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LEASE MECHANISM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9993" y="967485"/>
            <a:ext cx="15626010" cy="53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52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租约机制：单写者模型保障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9993" y="1642475"/>
            <a:ext cx="15468512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2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租约机制的工作原理与异常处理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5618" y="2143092"/>
            <a:ext cx="7559884" cy="4421182"/>
          </a:xfrm>
          <a:custGeom>
            <a:avLst/>
            <a:gdLst/>
            <a:ahLst/>
            <a:cxnLst/>
            <a:rect l="l" t="t" r="r" b="b"/>
            <a:pathLst>
              <a:path w="7559884" h="4421182">
                <a:moveTo>
                  <a:pt x="90015" y="0"/>
                </a:moveTo>
                <a:lnTo>
                  <a:pt x="7469868" y="0"/>
                </a:lnTo>
                <a:cubicBezTo>
                  <a:pt x="7519583" y="0"/>
                  <a:pt x="7559884" y="40301"/>
                  <a:pt x="7559884" y="90015"/>
                </a:cubicBezTo>
                <a:lnTo>
                  <a:pt x="7559884" y="4331167"/>
                </a:lnTo>
                <a:cubicBezTo>
                  <a:pt x="7559884" y="4380881"/>
                  <a:pt x="7519583" y="4421182"/>
                  <a:pt x="7469868" y="4421182"/>
                </a:cubicBezTo>
                <a:lnTo>
                  <a:pt x="90015" y="4421182"/>
                </a:lnTo>
                <a:cubicBezTo>
                  <a:pt x="40301" y="4421182"/>
                  <a:pt x="0" y="4380881"/>
                  <a:pt x="0" y="4331167"/>
                </a:cubicBezTo>
                <a:lnTo>
                  <a:pt x="0" y="90015"/>
                </a:lnTo>
                <a:cubicBezTo>
                  <a:pt x="0" y="40334"/>
                  <a:pt x="40334" y="0"/>
                  <a:pt x="9001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4364" y="2418713"/>
            <a:ext cx="224997" cy="224997"/>
          </a:xfrm>
          <a:custGeom>
            <a:avLst/>
            <a:gdLst/>
            <a:ahLst/>
            <a:cxnLst/>
            <a:rect l="l" t="t" r="r" b="b"/>
            <a:pathLst>
              <a:path w="224997" h="224997">
                <a:moveTo>
                  <a:pt x="147654" y="154685"/>
                </a:moveTo>
                <a:cubicBezTo>
                  <a:pt x="190368" y="154685"/>
                  <a:pt x="224997" y="120057"/>
                  <a:pt x="224997" y="77343"/>
                </a:cubicBezTo>
                <a:cubicBezTo>
                  <a:pt x="224997" y="34628"/>
                  <a:pt x="190368" y="0"/>
                  <a:pt x="147654" y="0"/>
                </a:cubicBezTo>
                <a:cubicBezTo>
                  <a:pt x="104940" y="0"/>
                  <a:pt x="70311" y="34628"/>
                  <a:pt x="70311" y="77343"/>
                </a:cubicBezTo>
                <a:cubicBezTo>
                  <a:pt x="70311" y="85560"/>
                  <a:pt x="71586" y="93514"/>
                  <a:pt x="73959" y="100941"/>
                </a:cubicBezTo>
                <a:lnTo>
                  <a:pt x="3076" y="171824"/>
                </a:lnTo>
                <a:cubicBezTo>
                  <a:pt x="1099" y="173801"/>
                  <a:pt x="0" y="176482"/>
                  <a:pt x="0" y="179294"/>
                </a:cubicBezTo>
                <a:lnTo>
                  <a:pt x="0" y="214450"/>
                </a:lnTo>
                <a:cubicBezTo>
                  <a:pt x="0" y="220294"/>
                  <a:pt x="4702" y="224997"/>
                  <a:pt x="10547" y="224997"/>
                </a:cubicBezTo>
                <a:lnTo>
                  <a:pt x="45702" y="224997"/>
                </a:lnTo>
                <a:cubicBezTo>
                  <a:pt x="51547" y="224997"/>
                  <a:pt x="56249" y="220294"/>
                  <a:pt x="56249" y="214450"/>
                </a:cubicBezTo>
                <a:lnTo>
                  <a:pt x="56249" y="196872"/>
                </a:lnTo>
                <a:lnTo>
                  <a:pt x="73827" y="196872"/>
                </a:lnTo>
                <a:cubicBezTo>
                  <a:pt x="79672" y="196872"/>
                  <a:pt x="84374" y="192170"/>
                  <a:pt x="84374" y="186325"/>
                </a:cubicBezTo>
                <a:lnTo>
                  <a:pt x="84374" y="168747"/>
                </a:lnTo>
                <a:lnTo>
                  <a:pt x="101952" y="168747"/>
                </a:lnTo>
                <a:cubicBezTo>
                  <a:pt x="104764" y="168747"/>
                  <a:pt x="107445" y="167649"/>
                  <a:pt x="109422" y="165671"/>
                </a:cubicBezTo>
                <a:lnTo>
                  <a:pt x="124056" y="151038"/>
                </a:lnTo>
                <a:cubicBezTo>
                  <a:pt x="131482" y="153411"/>
                  <a:pt x="139436" y="154685"/>
                  <a:pt x="147654" y="154685"/>
                </a:cubicBezTo>
                <a:close/>
                <a:moveTo>
                  <a:pt x="165232" y="42187"/>
                </a:moveTo>
                <a:cubicBezTo>
                  <a:pt x="174933" y="42187"/>
                  <a:pt x="182810" y="50063"/>
                  <a:pt x="182810" y="59765"/>
                </a:cubicBezTo>
                <a:cubicBezTo>
                  <a:pt x="182810" y="69466"/>
                  <a:pt x="174933" y="77343"/>
                  <a:pt x="165232" y="77343"/>
                </a:cubicBezTo>
                <a:cubicBezTo>
                  <a:pt x="155530" y="77343"/>
                  <a:pt x="147654" y="69466"/>
                  <a:pt x="147654" y="59765"/>
                </a:cubicBezTo>
                <a:cubicBezTo>
                  <a:pt x="147654" y="50063"/>
                  <a:pt x="155530" y="42187"/>
                  <a:pt x="165232" y="42187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7485" y="2373713"/>
            <a:ext cx="6929893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租约的作用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6239" y="2823707"/>
            <a:ext cx="7188639" cy="584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租约（Lease）机制是 HDFS 实现</a:t>
            </a:r>
            <a:r>
              <a:rPr lang="en-US" sz="141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单写者模型</a:t>
            </a:r>
            <a:r>
              <a:rPr lang="en-US" sz="141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的核心技术，确保在任何时刻只有一个客户端能够写入特定文件，避免数据竞争和不一致。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3114" y="3543696"/>
            <a:ext cx="7081766" cy="629990"/>
          </a:xfrm>
          <a:custGeom>
            <a:avLst/>
            <a:gdLst/>
            <a:ahLst/>
            <a:cxnLst/>
            <a:rect l="l" t="t" r="r" b="b"/>
            <a:pathLst>
              <a:path w="7081766" h="629990">
                <a:moveTo>
                  <a:pt x="33749" y="0"/>
                </a:moveTo>
                <a:lnTo>
                  <a:pt x="7036766" y="0"/>
                </a:lnTo>
                <a:cubicBezTo>
                  <a:pt x="7061619" y="0"/>
                  <a:pt x="7081766" y="20147"/>
                  <a:pt x="7081766" y="45000"/>
                </a:cubicBezTo>
                <a:lnTo>
                  <a:pt x="7081766" y="584990"/>
                </a:lnTo>
                <a:cubicBezTo>
                  <a:pt x="7081766" y="609843"/>
                  <a:pt x="7061619" y="629990"/>
                  <a:pt x="7036766" y="629990"/>
                </a:cubicBez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3114" y="3543696"/>
            <a:ext cx="33749" cy="629990"/>
          </a:xfrm>
          <a:custGeom>
            <a:avLst/>
            <a:gdLst/>
            <a:ahLst/>
            <a:cxnLst/>
            <a:rect l="l" t="t" r="r" b="b"/>
            <a:pathLst>
              <a:path w="33749" h="629990">
                <a:moveTo>
                  <a:pt x="33749" y="0"/>
                </a:moveTo>
                <a:lnTo>
                  <a:pt x="33749" y="0"/>
                </a:lnTo>
                <a:lnTo>
                  <a:pt x="33749" y="629990"/>
                </a:ln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4987" y="3633694"/>
            <a:ext cx="687364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独占写入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4987" y="3903690"/>
            <a:ext cx="686239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每个文件在写入时只能被一个客户端持有租约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3114" y="4263684"/>
            <a:ext cx="7081766" cy="629990"/>
          </a:xfrm>
          <a:custGeom>
            <a:avLst/>
            <a:gdLst/>
            <a:ahLst/>
            <a:cxnLst/>
            <a:rect l="l" t="t" r="r" b="b"/>
            <a:pathLst>
              <a:path w="7081766" h="629990">
                <a:moveTo>
                  <a:pt x="33749" y="0"/>
                </a:moveTo>
                <a:lnTo>
                  <a:pt x="7036766" y="0"/>
                </a:lnTo>
                <a:cubicBezTo>
                  <a:pt x="7061619" y="0"/>
                  <a:pt x="7081766" y="20147"/>
                  <a:pt x="7081766" y="45000"/>
                </a:cubicBezTo>
                <a:lnTo>
                  <a:pt x="7081766" y="584990"/>
                </a:lnTo>
                <a:cubicBezTo>
                  <a:pt x="7081766" y="609843"/>
                  <a:pt x="7061619" y="629990"/>
                  <a:pt x="7036766" y="629990"/>
                </a:cubicBez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03114" y="4263684"/>
            <a:ext cx="33749" cy="629990"/>
          </a:xfrm>
          <a:custGeom>
            <a:avLst/>
            <a:gdLst/>
            <a:ahLst/>
            <a:cxnLst/>
            <a:rect l="l" t="t" r="r" b="b"/>
            <a:pathLst>
              <a:path w="33749" h="629990">
                <a:moveTo>
                  <a:pt x="33749" y="0"/>
                </a:moveTo>
                <a:lnTo>
                  <a:pt x="33749" y="0"/>
                </a:lnTo>
                <a:lnTo>
                  <a:pt x="33749" y="629990"/>
                </a:ln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54987" y="4353683"/>
            <a:ext cx="687364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租约标识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87" y="4623679"/>
            <a:ext cx="686239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包含客户端 ID、文件路径、租约时间等信息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3114" y="4983673"/>
            <a:ext cx="7081766" cy="629990"/>
          </a:xfrm>
          <a:custGeom>
            <a:avLst/>
            <a:gdLst/>
            <a:ahLst/>
            <a:cxnLst/>
            <a:rect l="l" t="t" r="r" b="b"/>
            <a:pathLst>
              <a:path w="7081766" h="629990">
                <a:moveTo>
                  <a:pt x="33749" y="0"/>
                </a:moveTo>
                <a:lnTo>
                  <a:pt x="7036766" y="0"/>
                </a:lnTo>
                <a:cubicBezTo>
                  <a:pt x="7061619" y="0"/>
                  <a:pt x="7081766" y="20147"/>
                  <a:pt x="7081766" y="45000"/>
                </a:cubicBezTo>
                <a:lnTo>
                  <a:pt x="7081766" y="584990"/>
                </a:lnTo>
                <a:cubicBezTo>
                  <a:pt x="7081766" y="609843"/>
                  <a:pt x="7061619" y="629990"/>
                  <a:pt x="7036766" y="629990"/>
                </a:cubicBez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03114" y="4983673"/>
            <a:ext cx="33749" cy="629990"/>
          </a:xfrm>
          <a:custGeom>
            <a:avLst/>
            <a:gdLst/>
            <a:ahLst/>
            <a:cxnLst/>
            <a:rect l="l" t="t" r="r" b="b"/>
            <a:pathLst>
              <a:path w="33749" h="629990">
                <a:moveTo>
                  <a:pt x="33749" y="0"/>
                </a:moveTo>
                <a:lnTo>
                  <a:pt x="33749" y="0"/>
                </a:lnTo>
                <a:lnTo>
                  <a:pt x="33749" y="629990"/>
                </a:ln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4987" y="5073672"/>
            <a:ext cx="687364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自动续约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4987" y="5343668"/>
            <a:ext cx="686239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客户端定期向 NameNode 发送续约请求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3114" y="5703662"/>
            <a:ext cx="7081766" cy="629990"/>
          </a:xfrm>
          <a:custGeom>
            <a:avLst/>
            <a:gdLst/>
            <a:ahLst/>
            <a:cxnLst/>
            <a:rect l="l" t="t" r="r" b="b"/>
            <a:pathLst>
              <a:path w="7081766" h="629990">
                <a:moveTo>
                  <a:pt x="33749" y="0"/>
                </a:moveTo>
                <a:lnTo>
                  <a:pt x="7036766" y="0"/>
                </a:lnTo>
                <a:cubicBezTo>
                  <a:pt x="7061619" y="0"/>
                  <a:pt x="7081766" y="20147"/>
                  <a:pt x="7081766" y="45000"/>
                </a:cubicBezTo>
                <a:lnTo>
                  <a:pt x="7081766" y="584990"/>
                </a:lnTo>
                <a:cubicBezTo>
                  <a:pt x="7081766" y="609843"/>
                  <a:pt x="7061619" y="629990"/>
                  <a:pt x="7036766" y="629990"/>
                </a:cubicBez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03114" y="5703662"/>
            <a:ext cx="33749" cy="629990"/>
          </a:xfrm>
          <a:custGeom>
            <a:avLst/>
            <a:gdLst/>
            <a:ahLst/>
            <a:cxnLst/>
            <a:rect l="l" t="t" r="r" b="b"/>
            <a:pathLst>
              <a:path w="33749" h="629990">
                <a:moveTo>
                  <a:pt x="33749" y="0"/>
                </a:moveTo>
                <a:lnTo>
                  <a:pt x="33749" y="0"/>
                </a:lnTo>
                <a:lnTo>
                  <a:pt x="33749" y="629990"/>
                </a:lnTo>
                <a:lnTo>
                  <a:pt x="33749" y="629990"/>
                </a:lnTo>
                <a:cubicBezTo>
                  <a:pt x="15110" y="629990"/>
                  <a:pt x="0" y="614880"/>
                  <a:pt x="0" y="596241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4987" y="5793661"/>
            <a:ext cx="687364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超时释放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87" y="6063657"/>
            <a:ext cx="686239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租约超时后自动释放，允许其他客户端获取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47969" y="2143092"/>
            <a:ext cx="7559884" cy="4421182"/>
          </a:xfrm>
          <a:custGeom>
            <a:avLst/>
            <a:gdLst/>
            <a:ahLst/>
            <a:cxnLst/>
            <a:rect l="l" t="t" r="r" b="b"/>
            <a:pathLst>
              <a:path w="7559884" h="4421182">
                <a:moveTo>
                  <a:pt x="90015" y="0"/>
                </a:moveTo>
                <a:lnTo>
                  <a:pt x="7469868" y="0"/>
                </a:lnTo>
                <a:cubicBezTo>
                  <a:pt x="7519583" y="0"/>
                  <a:pt x="7559884" y="40301"/>
                  <a:pt x="7559884" y="90015"/>
                </a:cubicBezTo>
                <a:lnTo>
                  <a:pt x="7559884" y="4331167"/>
                </a:lnTo>
                <a:cubicBezTo>
                  <a:pt x="7559884" y="4380881"/>
                  <a:pt x="7519583" y="4421182"/>
                  <a:pt x="7469868" y="4421182"/>
                </a:cubicBezTo>
                <a:lnTo>
                  <a:pt x="90015" y="4421182"/>
                </a:lnTo>
                <a:cubicBezTo>
                  <a:pt x="40301" y="4421182"/>
                  <a:pt x="0" y="4380881"/>
                  <a:pt x="0" y="4331167"/>
                </a:cubicBezTo>
                <a:lnTo>
                  <a:pt x="0" y="90015"/>
                </a:lnTo>
                <a:cubicBezTo>
                  <a:pt x="0" y="40334"/>
                  <a:pt x="40334" y="0"/>
                  <a:pt x="9001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06715" y="2418713"/>
            <a:ext cx="224997" cy="224997"/>
          </a:xfrm>
          <a:custGeom>
            <a:avLst/>
            <a:gdLst/>
            <a:ahLst/>
            <a:cxnLst/>
            <a:rect l="l" t="t" r="r" b="b"/>
            <a:pathLst>
              <a:path w="224997" h="224997">
                <a:moveTo>
                  <a:pt x="112498" y="0"/>
                </a:moveTo>
                <a:cubicBezTo>
                  <a:pt x="174588" y="0"/>
                  <a:pt x="224997" y="50409"/>
                  <a:pt x="224997" y="112498"/>
                </a:cubicBezTo>
                <a:cubicBezTo>
                  <a:pt x="224997" y="174588"/>
                  <a:pt x="174588" y="224997"/>
                  <a:pt x="112498" y="224997"/>
                </a:cubicBezTo>
                <a:cubicBezTo>
                  <a:pt x="50409" y="224997"/>
                  <a:pt x="0" y="174588"/>
                  <a:pt x="0" y="112498"/>
                </a:cubicBezTo>
                <a:cubicBezTo>
                  <a:pt x="0" y="50409"/>
                  <a:pt x="50409" y="0"/>
                  <a:pt x="112498" y="0"/>
                </a:cubicBezTo>
                <a:close/>
                <a:moveTo>
                  <a:pt x="101952" y="52734"/>
                </a:moveTo>
                <a:lnTo>
                  <a:pt x="101952" y="112498"/>
                </a:lnTo>
                <a:cubicBezTo>
                  <a:pt x="101952" y="116014"/>
                  <a:pt x="103709" y="119310"/>
                  <a:pt x="106654" y="121287"/>
                </a:cubicBezTo>
                <a:lnTo>
                  <a:pt x="148840" y="149412"/>
                </a:lnTo>
                <a:cubicBezTo>
                  <a:pt x="153674" y="152664"/>
                  <a:pt x="160222" y="151345"/>
                  <a:pt x="163474" y="146467"/>
                </a:cubicBezTo>
                <a:cubicBezTo>
                  <a:pt x="166726" y="141590"/>
                  <a:pt x="165408" y="135086"/>
                  <a:pt x="160530" y="131834"/>
                </a:cubicBezTo>
                <a:lnTo>
                  <a:pt x="123045" y="106873"/>
                </a:lnTo>
                <a:lnTo>
                  <a:pt x="123045" y="52734"/>
                </a:lnTo>
                <a:cubicBezTo>
                  <a:pt x="123045" y="46889"/>
                  <a:pt x="118343" y="42187"/>
                  <a:pt x="112498" y="42187"/>
                </a:cubicBezTo>
                <a:cubicBezTo>
                  <a:pt x="106654" y="42187"/>
                  <a:pt x="101952" y="46889"/>
                  <a:pt x="101952" y="52734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759836" y="2373713"/>
            <a:ext cx="6929893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租约生命周期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78590" y="2823707"/>
            <a:ext cx="7177390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正常流程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16648" y="3144327"/>
            <a:ext cx="528742" cy="528742"/>
          </a:xfrm>
          <a:custGeom>
            <a:avLst/>
            <a:gdLst/>
            <a:ahLst/>
            <a:cxnLst/>
            <a:rect l="l" t="t" r="r" b="b"/>
            <a:pathLst>
              <a:path w="528742" h="528742">
                <a:moveTo>
                  <a:pt x="89997" y="0"/>
                </a:moveTo>
                <a:lnTo>
                  <a:pt x="438745" y="0"/>
                </a:lnTo>
                <a:cubicBezTo>
                  <a:pt x="488415" y="0"/>
                  <a:pt x="528742" y="40326"/>
                  <a:pt x="528742" y="89997"/>
                </a:cubicBezTo>
                <a:lnTo>
                  <a:pt x="528742" y="438745"/>
                </a:lnTo>
                <a:cubicBezTo>
                  <a:pt x="528742" y="488415"/>
                  <a:pt x="488415" y="528742"/>
                  <a:pt x="438745" y="528742"/>
                </a:cubicBezTo>
                <a:lnTo>
                  <a:pt x="89997" y="528742"/>
                </a:lnTo>
                <a:cubicBezTo>
                  <a:pt x="40326" y="528742"/>
                  <a:pt x="0" y="488415"/>
                  <a:pt x="0" y="438745"/>
                </a:cubicBezTo>
                <a:lnTo>
                  <a:pt x="0" y="89997"/>
                </a:lnTo>
                <a:cubicBezTo>
                  <a:pt x="0" y="40326"/>
                  <a:pt x="40326" y="0"/>
                  <a:pt x="899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213520" y="3318699"/>
            <a:ext cx="134998" cy="179997"/>
          </a:xfrm>
          <a:custGeom>
            <a:avLst/>
            <a:gdLst/>
            <a:ahLst/>
            <a:cxnLst/>
            <a:rect l="l" t="t" r="r" b="b"/>
            <a:pathLst>
              <a:path w="134998" h="179997">
                <a:moveTo>
                  <a:pt x="11250" y="0"/>
                </a:moveTo>
                <a:cubicBezTo>
                  <a:pt x="5027" y="0"/>
                  <a:pt x="0" y="5027"/>
                  <a:pt x="0" y="11250"/>
                </a:cubicBezTo>
                <a:cubicBezTo>
                  <a:pt x="0" y="17472"/>
                  <a:pt x="5027" y="22500"/>
                  <a:pt x="11250" y="22500"/>
                </a:cubicBezTo>
                <a:lnTo>
                  <a:pt x="11250" y="26367"/>
                </a:lnTo>
                <a:cubicBezTo>
                  <a:pt x="11250" y="41273"/>
                  <a:pt x="17191" y="55581"/>
                  <a:pt x="27738" y="66128"/>
                </a:cubicBezTo>
                <a:lnTo>
                  <a:pt x="51609" y="89999"/>
                </a:lnTo>
                <a:lnTo>
                  <a:pt x="27738" y="113869"/>
                </a:lnTo>
                <a:cubicBezTo>
                  <a:pt x="17191" y="124416"/>
                  <a:pt x="11250" y="138724"/>
                  <a:pt x="11250" y="153630"/>
                </a:cubicBezTo>
                <a:lnTo>
                  <a:pt x="11250" y="157498"/>
                </a:lnTo>
                <a:cubicBezTo>
                  <a:pt x="5027" y="157498"/>
                  <a:pt x="0" y="162525"/>
                  <a:pt x="0" y="168747"/>
                </a:cubicBezTo>
                <a:cubicBezTo>
                  <a:pt x="0" y="174970"/>
                  <a:pt x="5027" y="179997"/>
                  <a:pt x="11250" y="179997"/>
                </a:cubicBezTo>
                <a:lnTo>
                  <a:pt x="123748" y="179997"/>
                </a:lnTo>
                <a:cubicBezTo>
                  <a:pt x="129971" y="179997"/>
                  <a:pt x="134998" y="174970"/>
                  <a:pt x="134998" y="168747"/>
                </a:cubicBezTo>
                <a:cubicBezTo>
                  <a:pt x="134998" y="162525"/>
                  <a:pt x="129971" y="157498"/>
                  <a:pt x="123748" y="157498"/>
                </a:cubicBezTo>
                <a:lnTo>
                  <a:pt x="123748" y="153630"/>
                </a:lnTo>
                <a:cubicBezTo>
                  <a:pt x="123748" y="138724"/>
                  <a:pt x="117807" y="124416"/>
                  <a:pt x="107260" y="113869"/>
                </a:cubicBezTo>
                <a:lnTo>
                  <a:pt x="83389" y="89999"/>
                </a:lnTo>
                <a:lnTo>
                  <a:pt x="107260" y="66128"/>
                </a:lnTo>
                <a:cubicBezTo>
                  <a:pt x="117807" y="55581"/>
                  <a:pt x="123748" y="41273"/>
                  <a:pt x="123748" y="26367"/>
                </a:cubicBezTo>
                <a:lnTo>
                  <a:pt x="123748" y="22500"/>
                </a:lnTo>
                <a:cubicBezTo>
                  <a:pt x="129971" y="22500"/>
                  <a:pt x="134998" y="17472"/>
                  <a:pt x="134998" y="11250"/>
                </a:cubicBezTo>
                <a:cubicBezTo>
                  <a:pt x="134998" y="5027"/>
                  <a:pt x="129971" y="0"/>
                  <a:pt x="123748" y="0"/>
                </a:cubicBezTo>
                <a:lnTo>
                  <a:pt x="11250" y="0"/>
                </a:lnTo>
                <a:close/>
                <a:moveTo>
                  <a:pt x="101248" y="153630"/>
                </a:moveTo>
                <a:lnTo>
                  <a:pt x="101248" y="157498"/>
                </a:lnTo>
                <a:lnTo>
                  <a:pt x="33749" y="157498"/>
                </a:lnTo>
                <a:lnTo>
                  <a:pt x="33749" y="153630"/>
                </a:lnTo>
                <a:cubicBezTo>
                  <a:pt x="33749" y="144666"/>
                  <a:pt x="37300" y="136088"/>
                  <a:pt x="43628" y="129760"/>
                </a:cubicBezTo>
                <a:lnTo>
                  <a:pt x="67499" y="105889"/>
                </a:lnTo>
                <a:lnTo>
                  <a:pt x="91370" y="129760"/>
                </a:lnTo>
                <a:cubicBezTo>
                  <a:pt x="97698" y="136088"/>
                  <a:pt x="101248" y="144666"/>
                  <a:pt x="101248" y="15363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444841" y="3723693"/>
            <a:ext cx="167622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申请租约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06036" y="3431197"/>
            <a:ext cx="179997" cy="179997"/>
          </a:xfrm>
          <a:custGeom>
            <a:avLst/>
            <a:gdLst/>
            <a:ahLst/>
            <a:cxnLst/>
            <a:rect l="l" t="t" r="r" b="b"/>
            <a:pathLst>
              <a:path w="179997" h="179997">
                <a:moveTo>
                  <a:pt x="176693" y="97944"/>
                </a:moveTo>
                <a:cubicBezTo>
                  <a:pt x="181087" y="93549"/>
                  <a:pt x="181087" y="86413"/>
                  <a:pt x="176693" y="82018"/>
                </a:cubicBezTo>
                <a:lnTo>
                  <a:pt x="120443" y="25769"/>
                </a:lnTo>
                <a:cubicBezTo>
                  <a:pt x="116049" y="21375"/>
                  <a:pt x="108912" y="21375"/>
                  <a:pt x="104518" y="25769"/>
                </a:cubicBezTo>
                <a:cubicBezTo>
                  <a:pt x="100123" y="30164"/>
                  <a:pt x="100123" y="37300"/>
                  <a:pt x="104518" y="41695"/>
                </a:cubicBezTo>
                <a:lnTo>
                  <a:pt x="141572" y="78749"/>
                </a:lnTo>
                <a:lnTo>
                  <a:pt x="11250" y="78749"/>
                </a:lnTo>
                <a:cubicBezTo>
                  <a:pt x="5027" y="78749"/>
                  <a:pt x="0" y="83776"/>
                  <a:pt x="0" y="89999"/>
                </a:cubicBezTo>
                <a:cubicBezTo>
                  <a:pt x="0" y="96221"/>
                  <a:pt x="5027" y="101248"/>
                  <a:pt x="11250" y="101248"/>
                </a:cubicBezTo>
                <a:lnTo>
                  <a:pt x="141572" y="101248"/>
                </a:lnTo>
                <a:lnTo>
                  <a:pt x="104518" y="138303"/>
                </a:lnTo>
                <a:cubicBezTo>
                  <a:pt x="100123" y="142697"/>
                  <a:pt x="100123" y="149834"/>
                  <a:pt x="104518" y="154228"/>
                </a:cubicBezTo>
                <a:cubicBezTo>
                  <a:pt x="108912" y="158623"/>
                  <a:pt x="116049" y="158623"/>
                  <a:pt x="120443" y="154228"/>
                </a:cubicBezTo>
                <a:lnTo>
                  <a:pt x="176693" y="9797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846591" y="3144327"/>
            <a:ext cx="528742" cy="528742"/>
          </a:xfrm>
          <a:custGeom>
            <a:avLst/>
            <a:gdLst/>
            <a:ahLst/>
            <a:cxnLst/>
            <a:rect l="l" t="t" r="r" b="b"/>
            <a:pathLst>
              <a:path w="528742" h="528742">
                <a:moveTo>
                  <a:pt x="89997" y="0"/>
                </a:moveTo>
                <a:lnTo>
                  <a:pt x="438745" y="0"/>
                </a:lnTo>
                <a:cubicBezTo>
                  <a:pt x="488415" y="0"/>
                  <a:pt x="528742" y="40326"/>
                  <a:pt x="528742" y="89997"/>
                </a:cubicBezTo>
                <a:lnTo>
                  <a:pt x="528742" y="438745"/>
                </a:lnTo>
                <a:cubicBezTo>
                  <a:pt x="528742" y="488415"/>
                  <a:pt x="488415" y="528742"/>
                  <a:pt x="438745" y="528742"/>
                </a:cubicBezTo>
                <a:lnTo>
                  <a:pt x="89997" y="528742"/>
                </a:lnTo>
                <a:cubicBezTo>
                  <a:pt x="40326" y="528742"/>
                  <a:pt x="0" y="488415"/>
                  <a:pt x="0" y="438745"/>
                </a:cubicBezTo>
                <a:lnTo>
                  <a:pt x="0" y="89997"/>
                </a:lnTo>
                <a:cubicBezTo>
                  <a:pt x="0" y="40326"/>
                  <a:pt x="40326" y="0"/>
                  <a:pt x="899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020963" y="3318699"/>
            <a:ext cx="179997" cy="179997"/>
          </a:xfrm>
          <a:custGeom>
            <a:avLst/>
            <a:gdLst/>
            <a:ahLst/>
            <a:cxnLst/>
            <a:rect l="l" t="t" r="r" b="b"/>
            <a:pathLst>
              <a:path w="179997" h="179997">
                <a:moveTo>
                  <a:pt x="118123" y="123748"/>
                </a:moveTo>
                <a:cubicBezTo>
                  <a:pt x="152295" y="123748"/>
                  <a:pt x="179997" y="96045"/>
                  <a:pt x="179997" y="61874"/>
                </a:cubicBezTo>
                <a:cubicBezTo>
                  <a:pt x="179997" y="27703"/>
                  <a:pt x="152295" y="0"/>
                  <a:pt x="118123" y="0"/>
                </a:cubicBezTo>
                <a:cubicBezTo>
                  <a:pt x="83952" y="0"/>
                  <a:pt x="56249" y="27703"/>
                  <a:pt x="56249" y="61874"/>
                </a:cubicBezTo>
                <a:cubicBezTo>
                  <a:pt x="56249" y="68448"/>
                  <a:pt x="57269" y="74811"/>
                  <a:pt x="59167" y="80753"/>
                </a:cubicBezTo>
                <a:lnTo>
                  <a:pt x="2461" y="137459"/>
                </a:lnTo>
                <a:cubicBezTo>
                  <a:pt x="879" y="139041"/>
                  <a:pt x="0" y="141185"/>
                  <a:pt x="0" y="143435"/>
                </a:cubicBezTo>
                <a:lnTo>
                  <a:pt x="0" y="171560"/>
                </a:lnTo>
                <a:cubicBezTo>
                  <a:pt x="0" y="176236"/>
                  <a:pt x="3762" y="179997"/>
                  <a:pt x="8437" y="179997"/>
                </a:cubicBezTo>
                <a:lnTo>
                  <a:pt x="36562" y="179997"/>
                </a:lnTo>
                <a:cubicBezTo>
                  <a:pt x="41238" y="179997"/>
                  <a:pt x="44999" y="176236"/>
                  <a:pt x="44999" y="171560"/>
                </a:cubicBezTo>
                <a:lnTo>
                  <a:pt x="44999" y="157498"/>
                </a:lnTo>
                <a:lnTo>
                  <a:pt x="59062" y="157498"/>
                </a:lnTo>
                <a:cubicBezTo>
                  <a:pt x="63737" y="157498"/>
                  <a:pt x="67499" y="153736"/>
                  <a:pt x="67499" y="149060"/>
                </a:cubicBezTo>
                <a:lnTo>
                  <a:pt x="67499" y="134998"/>
                </a:lnTo>
                <a:lnTo>
                  <a:pt x="81561" y="134998"/>
                </a:lnTo>
                <a:cubicBezTo>
                  <a:pt x="83811" y="134998"/>
                  <a:pt x="85956" y="134119"/>
                  <a:pt x="87538" y="132537"/>
                </a:cubicBezTo>
                <a:lnTo>
                  <a:pt x="99245" y="120830"/>
                </a:lnTo>
                <a:cubicBezTo>
                  <a:pt x="105186" y="122729"/>
                  <a:pt x="111549" y="123748"/>
                  <a:pt x="118123" y="123748"/>
                </a:cubicBezTo>
                <a:close/>
                <a:moveTo>
                  <a:pt x="132185" y="33749"/>
                </a:moveTo>
                <a:cubicBezTo>
                  <a:pt x="139947" y="33749"/>
                  <a:pt x="146248" y="40051"/>
                  <a:pt x="146248" y="47812"/>
                </a:cubicBezTo>
                <a:cubicBezTo>
                  <a:pt x="146248" y="55573"/>
                  <a:pt x="139947" y="61874"/>
                  <a:pt x="132185" y="61874"/>
                </a:cubicBezTo>
                <a:cubicBezTo>
                  <a:pt x="124424" y="61874"/>
                  <a:pt x="118123" y="55573"/>
                  <a:pt x="118123" y="47812"/>
                </a:cubicBezTo>
                <a:cubicBezTo>
                  <a:pt x="118123" y="40051"/>
                  <a:pt x="124424" y="33749"/>
                  <a:pt x="132185" y="3374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274783" y="3723693"/>
            <a:ext cx="167622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获得租约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935979" y="3431197"/>
            <a:ext cx="179997" cy="179997"/>
          </a:xfrm>
          <a:custGeom>
            <a:avLst/>
            <a:gdLst/>
            <a:ahLst/>
            <a:cxnLst/>
            <a:rect l="l" t="t" r="r" b="b"/>
            <a:pathLst>
              <a:path w="179997" h="179997">
                <a:moveTo>
                  <a:pt x="176693" y="97944"/>
                </a:moveTo>
                <a:cubicBezTo>
                  <a:pt x="181087" y="93549"/>
                  <a:pt x="181087" y="86413"/>
                  <a:pt x="176693" y="82018"/>
                </a:cubicBezTo>
                <a:lnTo>
                  <a:pt x="120443" y="25769"/>
                </a:lnTo>
                <a:cubicBezTo>
                  <a:pt x="116049" y="21375"/>
                  <a:pt x="108912" y="21375"/>
                  <a:pt x="104518" y="25769"/>
                </a:cubicBezTo>
                <a:cubicBezTo>
                  <a:pt x="100123" y="30164"/>
                  <a:pt x="100123" y="37300"/>
                  <a:pt x="104518" y="41695"/>
                </a:cubicBezTo>
                <a:lnTo>
                  <a:pt x="141572" y="78749"/>
                </a:lnTo>
                <a:lnTo>
                  <a:pt x="11250" y="78749"/>
                </a:lnTo>
                <a:cubicBezTo>
                  <a:pt x="5027" y="78749"/>
                  <a:pt x="0" y="83776"/>
                  <a:pt x="0" y="89999"/>
                </a:cubicBezTo>
                <a:cubicBezTo>
                  <a:pt x="0" y="96221"/>
                  <a:pt x="5027" y="101248"/>
                  <a:pt x="11250" y="101248"/>
                </a:cubicBezTo>
                <a:lnTo>
                  <a:pt x="141572" y="101248"/>
                </a:lnTo>
                <a:lnTo>
                  <a:pt x="104518" y="138303"/>
                </a:lnTo>
                <a:cubicBezTo>
                  <a:pt x="100123" y="142697"/>
                  <a:pt x="100123" y="149834"/>
                  <a:pt x="104518" y="154228"/>
                </a:cubicBezTo>
                <a:cubicBezTo>
                  <a:pt x="108912" y="158623"/>
                  <a:pt x="116049" y="158623"/>
                  <a:pt x="120443" y="154228"/>
                </a:cubicBezTo>
                <a:lnTo>
                  <a:pt x="176693" y="9797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2676534" y="3144327"/>
            <a:ext cx="528742" cy="528742"/>
          </a:xfrm>
          <a:custGeom>
            <a:avLst/>
            <a:gdLst/>
            <a:ahLst/>
            <a:cxnLst/>
            <a:rect l="l" t="t" r="r" b="b"/>
            <a:pathLst>
              <a:path w="528742" h="528742">
                <a:moveTo>
                  <a:pt x="89997" y="0"/>
                </a:moveTo>
                <a:lnTo>
                  <a:pt x="438745" y="0"/>
                </a:lnTo>
                <a:cubicBezTo>
                  <a:pt x="488415" y="0"/>
                  <a:pt x="528742" y="40326"/>
                  <a:pt x="528742" y="89997"/>
                </a:cubicBezTo>
                <a:lnTo>
                  <a:pt x="528742" y="438745"/>
                </a:lnTo>
                <a:cubicBezTo>
                  <a:pt x="528742" y="488415"/>
                  <a:pt x="488415" y="528742"/>
                  <a:pt x="438745" y="528742"/>
                </a:cubicBezTo>
                <a:lnTo>
                  <a:pt x="89997" y="528742"/>
                </a:lnTo>
                <a:cubicBezTo>
                  <a:pt x="40326" y="528742"/>
                  <a:pt x="0" y="488415"/>
                  <a:pt x="0" y="438745"/>
                </a:cubicBezTo>
                <a:lnTo>
                  <a:pt x="0" y="89997"/>
                </a:lnTo>
                <a:cubicBezTo>
                  <a:pt x="0" y="40326"/>
                  <a:pt x="40326" y="0"/>
                  <a:pt x="8999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2850906" y="3318699"/>
            <a:ext cx="179997" cy="179997"/>
          </a:xfrm>
          <a:custGeom>
            <a:avLst/>
            <a:gdLst/>
            <a:ahLst/>
            <a:cxnLst/>
            <a:rect l="l" t="t" r="r" b="b"/>
            <a:pathLst>
              <a:path w="179997" h="179997">
                <a:moveTo>
                  <a:pt x="168783" y="67499"/>
                </a:moveTo>
                <a:lnTo>
                  <a:pt x="171560" y="67499"/>
                </a:lnTo>
                <a:cubicBezTo>
                  <a:pt x="176236" y="67499"/>
                  <a:pt x="179997" y="63737"/>
                  <a:pt x="179997" y="59062"/>
                </a:cubicBezTo>
                <a:lnTo>
                  <a:pt x="179997" y="8437"/>
                </a:lnTo>
                <a:cubicBezTo>
                  <a:pt x="179997" y="5027"/>
                  <a:pt x="177958" y="1934"/>
                  <a:pt x="174794" y="633"/>
                </a:cubicBezTo>
                <a:cubicBezTo>
                  <a:pt x="171630" y="-668"/>
                  <a:pt x="168009" y="70"/>
                  <a:pt x="165583" y="2461"/>
                </a:cubicBezTo>
                <a:lnTo>
                  <a:pt x="147408" y="20672"/>
                </a:lnTo>
                <a:cubicBezTo>
                  <a:pt x="131834" y="7769"/>
                  <a:pt x="111795" y="0"/>
                  <a:pt x="89999" y="0"/>
                </a:cubicBezTo>
                <a:cubicBezTo>
                  <a:pt x="44648" y="0"/>
                  <a:pt x="7137" y="33539"/>
                  <a:pt x="914" y="77167"/>
                </a:cubicBezTo>
                <a:cubicBezTo>
                  <a:pt x="35" y="83319"/>
                  <a:pt x="4289" y="89014"/>
                  <a:pt x="10441" y="89893"/>
                </a:cubicBezTo>
                <a:cubicBezTo>
                  <a:pt x="16593" y="90772"/>
                  <a:pt x="22289" y="86483"/>
                  <a:pt x="23168" y="80366"/>
                </a:cubicBezTo>
                <a:cubicBezTo>
                  <a:pt x="27843" y="47636"/>
                  <a:pt x="56003" y="22500"/>
                  <a:pt x="89999" y="22500"/>
                </a:cubicBezTo>
                <a:cubicBezTo>
                  <a:pt x="105608" y="22500"/>
                  <a:pt x="119951" y="27773"/>
                  <a:pt x="131377" y="36667"/>
                </a:cubicBezTo>
                <a:lnTo>
                  <a:pt x="114959" y="53085"/>
                </a:lnTo>
                <a:cubicBezTo>
                  <a:pt x="112533" y="55511"/>
                  <a:pt x="111830" y="59132"/>
                  <a:pt x="113131" y="62296"/>
                </a:cubicBezTo>
                <a:cubicBezTo>
                  <a:pt x="114432" y="65460"/>
                  <a:pt x="117526" y="67499"/>
                  <a:pt x="120936" y="67499"/>
                </a:cubicBezTo>
                <a:lnTo>
                  <a:pt x="168783" y="67499"/>
                </a:lnTo>
                <a:close/>
                <a:moveTo>
                  <a:pt x="179118" y="102830"/>
                </a:moveTo>
                <a:cubicBezTo>
                  <a:pt x="179997" y="96678"/>
                  <a:pt x="175708" y="90983"/>
                  <a:pt x="169591" y="90104"/>
                </a:cubicBezTo>
                <a:cubicBezTo>
                  <a:pt x="163474" y="89225"/>
                  <a:pt x="157744" y="93514"/>
                  <a:pt x="156865" y="99631"/>
                </a:cubicBezTo>
                <a:cubicBezTo>
                  <a:pt x="152189" y="132326"/>
                  <a:pt x="124029" y="157462"/>
                  <a:pt x="90034" y="157462"/>
                </a:cubicBezTo>
                <a:cubicBezTo>
                  <a:pt x="74425" y="157462"/>
                  <a:pt x="60081" y="152189"/>
                  <a:pt x="48656" y="143295"/>
                </a:cubicBezTo>
                <a:lnTo>
                  <a:pt x="65038" y="126912"/>
                </a:lnTo>
                <a:cubicBezTo>
                  <a:pt x="67464" y="124486"/>
                  <a:pt x="68167" y="120865"/>
                  <a:pt x="66866" y="117701"/>
                </a:cubicBezTo>
                <a:cubicBezTo>
                  <a:pt x="65565" y="114537"/>
                  <a:pt x="62472" y="112498"/>
                  <a:pt x="59062" y="112498"/>
                </a:cubicBezTo>
                <a:lnTo>
                  <a:pt x="8437" y="112498"/>
                </a:lnTo>
                <a:cubicBezTo>
                  <a:pt x="3762" y="112498"/>
                  <a:pt x="0" y="116260"/>
                  <a:pt x="0" y="120936"/>
                </a:cubicBezTo>
                <a:lnTo>
                  <a:pt x="0" y="171560"/>
                </a:lnTo>
                <a:cubicBezTo>
                  <a:pt x="0" y="174970"/>
                  <a:pt x="2039" y="178064"/>
                  <a:pt x="5203" y="179364"/>
                </a:cubicBezTo>
                <a:cubicBezTo>
                  <a:pt x="8367" y="180665"/>
                  <a:pt x="11988" y="179927"/>
                  <a:pt x="14414" y="177536"/>
                </a:cubicBezTo>
                <a:lnTo>
                  <a:pt x="32624" y="159326"/>
                </a:lnTo>
                <a:cubicBezTo>
                  <a:pt x="48163" y="172228"/>
                  <a:pt x="68202" y="179997"/>
                  <a:pt x="89999" y="179997"/>
                </a:cubicBezTo>
                <a:cubicBezTo>
                  <a:pt x="135349" y="179997"/>
                  <a:pt x="172861" y="146459"/>
                  <a:pt x="179083" y="10283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104726" y="3723693"/>
            <a:ext cx="167622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定期续约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765921" y="3431197"/>
            <a:ext cx="179997" cy="179997"/>
          </a:xfrm>
          <a:custGeom>
            <a:avLst/>
            <a:gdLst/>
            <a:ahLst/>
            <a:cxnLst/>
            <a:rect l="l" t="t" r="r" b="b"/>
            <a:pathLst>
              <a:path w="179997" h="179997">
                <a:moveTo>
                  <a:pt x="176693" y="97944"/>
                </a:moveTo>
                <a:cubicBezTo>
                  <a:pt x="181087" y="93549"/>
                  <a:pt x="181087" y="86413"/>
                  <a:pt x="176693" y="82018"/>
                </a:cubicBezTo>
                <a:lnTo>
                  <a:pt x="120443" y="25769"/>
                </a:lnTo>
                <a:cubicBezTo>
                  <a:pt x="116049" y="21375"/>
                  <a:pt x="108912" y="21375"/>
                  <a:pt x="104518" y="25769"/>
                </a:cubicBezTo>
                <a:cubicBezTo>
                  <a:pt x="100123" y="30164"/>
                  <a:pt x="100123" y="37300"/>
                  <a:pt x="104518" y="41695"/>
                </a:cubicBezTo>
                <a:lnTo>
                  <a:pt x="141572" y="78749"/>
                </a:lnTo>
                <a:lnTo>
                  <a:pt x="11250" y="78749"/>
                </a:lnTo>
                <a:cubicBezTo>
                  <a:pt x="5027" y="78749"/>
                  <a:pt x="0" y="83776"/>
                  <a:pt x="0" y="89999"/>
                </a:cubicBezTo>
                <a:cubicBezTo>
                  <a:pt x="0" y="96221"/>
                  <a:pt x="5027" y="101248"/>
                  <a:pt x="11250" y="101248"/>
                </a:cubicBezTo>
                <a:lnTo>
                  <a:pt x="141572" y="101248"/>
                </a:lnTo>
                <a:lnTo>
                  <a:pt x="104518" y="138303"/>
                </a:lnTo>
                <a:cubicBezTo>
                  <a:pt x="100123" y="142697"/>
                  <a:pt x="100123" y="149834"/>
                  <a:pt x="104518" y="154228"/>
                </a:cubicBezTo>
                <a:cubicBezTo>
                  <a:pt x="108912" y="158623"/>
                  <a:pt x="116049" y="158623"/>
                  <a:pt x="120443" y="154228"/>
                </a:cubicBezTo>
                <a:lnTo>
                  <a:pt x="176693" y="97979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4506476" y="3144327"/>
            <a:ext cx="528742" cy="528742"/>
          </a:xfrm>
          <a:custGeom>
            <a:avLst/>
            <a:gdLst/>
            <a:ahLst/>
            <a:cxnLst/>
            <a:rect l="l" t="t" r="r" b="b"/>
            <a:pathLst>
              <a:path w="528742" h="528742">
                <a:moveTo>
                  <a:pt x="89997" y="0"/>
                </a:moveTo>
                <a:lnTo>
                  <a:pt x="438745" y="0"/>
                </a:lnTo>
                <a:cubicBezTo>
                  <a:pt x="488415" y="0"/>
                  <a:pt x="528742" y="40326"/>
                  <a:pt x="528742" y="89997"/>
                </a:cubicBezTo>
                <a:lnTo>
                  <a:pt x="528742" y="438745"/>
                </a:lnTo>
                <a:cubicBezTo>
                  <a:pt x="528742" y="488415"/>
                  <a:pt x="488415" y="528742"/>
                  <a:pt x="438745" y="528742"/>
                </a:cubicBezTo>
                <a:lnTo>
                  <a:pt x="89997" y="528742"/>
                </a:lnTo>
                <a:cubicBezTo>
                  <a:pt x="40326" y="528742"/>
                  <a:pt x="0" y="488415"/>
                  <a:pt x="0" y="438745"/>
                </a:cubicBezTo>
                <a:lnTo>
                  <a:pt x="0" y="89997"/>
                </a:lnTo>
                <a:cubicBezTo>
                  <a:pt x="0" y="40326"/>
                  <a:pt x="40326" y="0"/>
                  <a:pt x="8999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4703348" y="3318699"/>
            <a:ext cx="134998" cy="179997"/>
          </a:xfrm>
          <a:custGeom>
            <a:avLst/>
            <a:gdLst/>
            <a:ahLst/>
            <a:cxnLst/>
            <a:rect l="l" t="t" r="r" b="b"/>
            <a:pathLst>
              <a:path w="134998" h="179997">
                <a:moveTo>
                  <a:pt x="44999" y="33749"/>
                </a:moveTo>
                <a:cubicBezTo>
                  <a:pt x="44999" y="21340"/>
                  <a:pt x="55089" y="11250"/>
                  <a:pt x="67499" y="11250"/>
                </a:cubicBezTo>
                <a:cubicBezTo>
                  <a:pt x="78643" y="11250"/>
                  <a:pt x="87889" y="19336"/>
                  <a:pt x="89682" y="29988"/>
                </a:cubicBezTo>
                <a:cubicBezTo>
                  <a:pt x="90702" y="36105"/>
                  <a:pt x="96502" y="40253"/>
                  <a:pt x="102655" y="39234"/>
                </a:cubicBezTo>
                <a:cubicBezTo>
                  <a:pt x="108807" y="38214"/>
                  <a:pt x="112920" y="32414"/>
                  <a:pt x="111901" y="26261"/>
                </a:cubicBezTo>
                <a:cubicBezTo>
                  <a:pt x="108315" y="4957"/>
                  <a:pt x="89823" y="-11250"/>
                  <a:pt x="67499" y="-11250"/>
                </a:cubicBezTo>
                <a:cubicBezTo>
                  <a:pt x="42644" y="-11250"/>
                  <a:pt x="22500" y="8894"/>
                  <a:pt x="22500" y="33749"/>
                </a:cubicBezTo>
                <a:lnTo>
                  <a:pt x="22500" y="56249"/>
                </a:lnTo>
                <a:cubicBezTo>
                  <a:pt x="10090" y="56249"/>
                  <a:pt x="0" y="66339"/>
                  <a:pt x="0" y="78749"/>
                </a:cubicBezTo>
                <a:lnTo>
                  <a:pt x="0" y="157498"/>
                </a:lnTo>
                <a:cubicBezTo>
                  <a:pt x="0" y="169908"/>
                  <a:pt x="10090" y="179997"/>
                  <a:pt x="22500" y="179997"/>
                </a:cubicBezTo>
                <a:lnTo>
                  <a:pt x="112498" y="179997"/>
                </a:lnTo>
                <a:cubicBezTo>
                  <a:pt x="124908" y="179997"/>
                  <a:pt x="134998" y="169908"/>
                  <a:pt x="134998" y="157498"/>
                </a:cubicBezTo>
                <a:lnTo>
                  <a:pt x="134998" y="78749"/>
                </a:lnTo>
                <a:cubicBezTo>
                  <a:pt x="134998" y="66339"/>
                  <a:pt x="124908" y="56249"/>
                  <a:pt x="112498" y="56249"/>
                </a:cubicBezTo>
                <a:lnTo>
                  <a:pt x="44999" y="56249"/>
                </a:lnTo>
                <a:lnTo>
                  <a:pt x="44999" y="33749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934669" y="3723693"/>
            <a:ext cx="167622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正常释放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84215" y="4044313"/>
            <a:ext cx="7087391" cy="1226231"/>
          </a:xfrm>
          <a:custGeom>
            <a:avLst/>
            <a:gdLst/>
            <a:ahLst/>
            <a:cxnLst/>
            <a:rect l="l" t="t" r="r" b="b"/>
            <a:pathLst>
              <a:path w="7087391" h="1226231">
                <a:moveTo>
                  <a:pt x="89993" y="0"/>
                </a:moveTo>
                <a:lnTo>
                  <a:pt x="6997398" y="0"/>
                </a:lnTo>
                <a:cubicBezTo>
                  <a:pt x="7047100" y="0"/>
                  <a:pt x="7087391" y="40291"/>
                  <a:pt x="7087391" y="89993"/>
                </a:cubicBezTo>
                <a:lnTo>
                  <a:pt x="7087391" y="1136238"/>
                </a:lnTo>
                <a:cubicBezTo>
                  <a:pt x="7087391" y="1185940"/>
                  <a:pt x="7047100" y="1226231"/>
                  <a:pt x="6997398" y="1226231"/>
                </a:cubicBezTo>
                <a:lnTo>
                  <a:pt x="89993" y="1226231"/>
                </a:lnTo>
                <a:cubicBezTo>
                  <a:pt x="40291" y="1226231"/>
                  <a:pt x="0" y="1185940"/>
                  <a:pt x="0" y="1136238"/>
                </a:cubicBezTo>
                <a:lnTo>
                  <a:pt x="0" y="89993"/>
                </a:lnTo>
                <a:cubicBezTo>
                  <a:pt x="0" y="40325"/>
                  <a:pt x="40325" y="0"/>
                  <a:pt x="8999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24838" y="4184936"/>
            <a:ext cx="688489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24838" y="4499931"/>
            <a:ext cx="687364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软超时：</a:t>
            </a: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客户端可续约，NameNode 开始监控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24838" y="4724927"/>
            <a:ext cx="687364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硬超时：</a:t>
            </a: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强制释放租约，启动恢复流程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24838" y="4949924"/>
            <a:ext cx="6873644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自动恢复：</a:t>
            </a:r>
            <a:r>
              <a:rPr lang="en-US" sz="106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系统完成未完成的写入，确保一致性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5618" y="6755521"/>
            <a:ext cx="4983673" cy="1934970"/>
          </a:xfrm>
          <a:custGeom>
            <a:avLst/>
            <a:gdLst/>
            <a:ahLst/>
            <a:cxnLst/>
            <a:rect l="l" t="t" r="r" b="b"/>
            <a:pathLst>
              <a:path w="4983673" h="1934970">
                <a:moveTo>
                  <a:pt x="89995" y="0"/>
                </a:moveTo>
                <a:lnTo>
                  <a:pt x="4893678" y="0"/>
                </a:lnTo>
                <a:cubicBezTo>
                  <a:pt x="4943381" y="0"/>
                  <a:pt x="4983673" y="40292"/>
                  <a:pt x="4983673" y="89995"/>
                </a:cubicBezTo>
                <a:lnTo>
                  <a:pt x="4983673" y="1844975"/>
                </a:lnTo>
                <a:cubicBezTo>
                  <a:pt x="4983673" y="1894678"/>
                  <a:pt x="4943381" y="1934970"/>
                  <a:pt x="4893678" y="1934970"/>
                </a:cubicBezTo>
                <a:lnTo>
                  <a:pt x="89995" y="1934970"/>
                </a:lnTo>
                <a:cubicBezTo>
                  <a:pt x="40292" y="1934970"/>
                  <a:pt x="0" y="1894678"/>
                  <a:pt x="0" y="1844975"/>
                </a:cubicBezTo>
                <a:lnTo>
                  <a:pt x="0" y="89995"/>
                </a:lnTo>
                <a:cubicBezTo>
                  <a:pt x="0" y="40292"/>
                  <a:pt x="40292" y="0"/>
                  <a:pt x="8999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41240" y="6941143"/>
            <a:ext cx="449993" cy="449993"/>
          </a:xfrm>
          <a:custGeom>
            <a:avLst/>
            <a:gdLst/>
            <a:ahLst/>
            <a:cxnLst/>
            <a:rect l="l" t="t" r="r" b="b"/>
            <a:pathLst>
              <a:path w="449993" h="449993">
                <a:moveTo>
                  <a:pt x="89999" y="0"/>
                </a:moveTo>
                <a:lnTo>
                  <a:pt x="359994" y="0"/>
                </a:lnTo>
                <a:cubicBezTo>
                  <a:pt x="409699" y="0"/>
                  <a:pt x="449993" y="40294"/>
                  <a:pt x="449993" y="89999"/>
                </a:cubicBezTo>
                <a:lnTo>
                  <a:pt x="449993" y="359994"/>
                </a:lnTo>
                <a:cubicBezTo>
                  <a:pt x="449993" y="409699"/>
                  <a:pt x="409699" y="449993"/>
                  <a:pt x="359994" y="449993"/>
                </a:cubicBezTo>
                <a:lnTo>
                  <a:pt x="89999" y="449993"/>
                </a:lnTo>
                <a:cubicBezTo>
                  <a:pt x="40294" y="449993"/>
                  <a:pt x="0" y="409699"/>
                  <a:pt x="0" y="359994"/>
                </a:cubicBezTo>
                <a:lnTo>
                  <a:pt x="0" y="89999"/>
                </a:lnTo>
                <a:cubicBezTo>
                  <a:pt x="0" y="40327"/>
                  <a:pt x="40327" y="0"/>
                  <a:pt x="899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780457" y="7064891"/>
            <a:ext cx="177185" cy="202497"/>
          </a:xfrm>
          <a:custGeom>
            <a:avLst/>
            <a:gdLst/>
            <a:ahLst/>
            <a:cxnLst/>
            <a:rect l="l" t="t" r="r" b="b"/>
            <a:pathLst>
              <a:path w="177185" h="202497">
                <a:moveTo>
                  <a:pt x="66642" y="0"/>
                </a:moveTo>
                <a:cubicBezTo>
                  <a:pt x="61382" y="0"/>
                  <a:pt x="57150" y="4232"/>
                  <a:pt x="57150" y="9492"/>
                </a:cubicBezTo>
                <a:cubicBezTo>
                  <a:pt x="57150" y="14752"/>
                  <a:pt x="61382" y="18984"/>
                  <a:pt x="66642" y="18984"/>
                </a:cubicBezTo>
                <a:lnTo>
                  <a:pt x="79298" y="18984"/>
                </a:lnTo>
                <a:lnTo>
                  <a:pt x="79298" y="28990"/>
                </a:lnTo>
                <a:cubicBezTo>
                  <a:pt x="36584" y="33697"/>
                  <a:pt x="3362" y="69925"/>
                  <a:pt x="3362" y="113904"/>
                </a:cubicBezTo>
                <a:cubicBezTo>
                  <a:pt x="3362" y="161088"/>
                  <a:pt x="41607" y="199333"/>
                  <a:pt x="88790" y="199333"/>
                </a:cubicBezTo>
                <a:cubicBezTo>
                  <a:pt x="135973" y="199333"/>
                  <a:pt x="174219" y="161088"/>
                  <a:pt x="174219" y="113904"/>
                </a:cubicBezTo>
                <a:cubicBezTo>
                  <a:pt x="174219" y="98164"/>
                  <a:pt x="169947" y="83411"/>
                  <a:pt x="162512" y="70716"/>
                </a:cubicBezTo>
                <a:lnTo>
                  <a:pt x="173665" y="59563"/>
                </a:lnTo>
                <a:cubicBezTo>
                  <a:pt x="178609" y="54619"/>
                  <a:pt x="178609" y="46590"/>
                  <a:pt x="173665" y="41646"/>
                </a:cubicBezTo>
                <a:cubicBezTo>
                  <a:pt x="168721" y="36703"/>
                  <a:pt x="160692" y="36703"/>
                  <a:pt x="155749" y="41646"/>
                </a:cubicBezTo>
                <a:lnTo>
                  <a:pt x="146494" y="50901"/>
                </a:lnTo>
                <a:cubicBezTo>
                  <a:pt x="133482" y="38957"/>
                  <a:pt x="116752" y="31007"/>
                  <a:pt x="98243" y="28951"/>
                </a:cubicBezTo>
                <a:lnTo>
                  <a:pt x="98243" y="18945"/>
                </a:lnTo>
                <a:lnTo>
                  <a:pt x="110899" y="18945"/>
                </a:lnTo>
                <a:cubicBezTo>
                  <a:pt x="116159" y="18945"/>
                  <a:pt x="120391" y="14713"/>
                  <a:pt x="120391" y="9452"/>
                </a:cubicBezTo>
                <a:cubicBezTo>
                  <a:pt x="120391" y="4192"/>
                  <a:pt x="116159" y="-40"/>
                  <a:pt x="110899" y="-40"/>
                </a:cubicBezTo>
                <a:lnTo>
                  <a:pt x="66602" y="-40"/>
                </a:lnTo>
                <a:close/>
                <a:moveTo>
                  <a:pt x="98282" y="72772"/>
                </a:moveTo>
                <a:lnTo>
                  <a:pt x="98282" y="113904"/>
                </a:lnTo>
                <a:cubicBezTo>
                  <a:pt x="98282" y="119165"/>
                  <a:pt x="94050" y="123397"/>
                  <a:pt x="88790" y="123397"/>
                </a:cubicBezTo>
                <a:cubicBezTo>
                  <a:pt x="83530" y="123397"/>
                  <a:pt x="79298" y="119165"/>
                  <a:pt x="79298" y="113904"/>
                </a:cubicBezTo>
                <a:lnTo>
                  <a:pt x="79298" y="72772"/>
                </a:lnTo>
                <a:cubicBezTo>
                  <a:pt x="79298" y="67512"/>
                  <a:pt x="83530" y="63280"/>
                  <a:pt x="88790" y="63280"/>
                </a:cubicBezTo>
                <a:cubicBezTo>
                  <a:pt x="94050" y="63280"/>
                  <a:pt x="98282" y="67512"/>
                  <a:pt x="98282" y="7277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26231" y="7008642"/>
            <a:ext cx="911236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租约超时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240" y="7481135"/>
            <a:ext cx="2261215" cy="674990"/>
          </a:xfrm>
          <a:custGeom>
            <a:avLst/>
            <a:gdLst/>
            <a:ahLst/>
            <a:cxnLst/>
            <a:rect l="l" t="t" r="r" b="b"/>
            <a:pathLst>
              <a:path w="2261215" h="674990">
                <a:moveTo>
                  <a:pt x="45002" y="0"/>
                </a:moveTo>
                <a:lnTo>
                  <a:pt x="2216214" y="0"/>
                </a:lnTo>
                <a:cubicBezTo>
                  <a:pt x="2241067" y="0"/>
                  <a:pt x="2261215" y="20148"/>
                  <a:pt x="2261215" y="45002"/>
                </a:cubicBezTo>
                <a:lnTo>
                  <a:pt x="2261215" y="629988"/>
                </a:lnTo>
                <a:cubicBezTo>
                  <a:pt x="2261215" y="654842"/>
                  <a:pt x="2241067" y="674990"/>
                  <a:pt x="2216214" y="674990"/>
                </a:cubicBezTo>
                <a:lnTo>
                  <a:pt x="45002" y="674990"/>
                </a:lnTo>
                <a:cubicBezTo>
                  <a:pt x="20148" y="674990"/>
                  <a:pt x="0" y="654842"/>
                  <a:pt x="0" y="629988"/>
                </a:cubicBezTo>
                <a:lnTo>
                  <a:pt x="0" y="45002"/>
                </a:lnTo>
                <a:cubicBezTo>
                  <a:pt x="0" y="20165"/>
                  <a:pt x="20165" y="0"/>
                  <a:pt x="4500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80615" y="7571134"/>
            <a:ext cx="2182466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1min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7489" y="7886129"/>
            <a:ext cx="2148717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软超时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994915" y="7481135"/>
            <a:ext cx="2261215" cy="674990"/>
          </a:xfrm>
          <a:custGeom>
            <a:avLst/>
            <a:gdLst/>
            <a:ahLst/>
            <a:cxnLst/>
            <a:rect l="l" t="t" r="r" b="b"/>
            <a:pathLst>
              <a:path w="2261215" h="674990">
                <a:moveTo>
                  <a:pt x="45002" y="0"/>
                </a:moveTo>
                <a:lnTo>
                  <a:pt x="2216214" y="0"/>
                </a:lnTo>
                <a:cubicBezTo>
                  <a:pt x="2241067" y="0"/>
                  <a:pt x="2261215" y="20148"/>
                  <a:pt x="2261215" y="45002"/>
                </a:cubicBezTo>
                <a:lnTo>
                  <a:pt x="2261215" y="629988"/>
                </a:lnTo>
                <a:cubicBezTo>
                  <a:pt x="2261215" y="654842"/>
                  <a:pt x="2241067" y="674990"/>
                  <a:pt x="2216214" y="674990"/>
                </a:cubicBezTo>
                <a:lnTo>
                  <a:pt x="45002" y="674990"/>
                </a:lnTo>
                <a:cubicBezTo>
                  <a:pt x="20148" y="674990"/>
                  <a:pt x="0" y="654842"/>
                  <a:pt x="0" y="629988"/>
                </a:cubicBezTo>
                <a:lnTo>
                  <a:pt x="0" y="45002"/>
                </a:lnTo>
                <a:cubicBezTo>
                  <a:pt x="0" y="20165"/>
                  <a:pt x="20165" y="0"/>
                  <a:pt x="4500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3034289" y="7571134"/>
            <a:ext cx="2182466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1h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051164" y="7886129"/>
            <a:ext cx="2148717" cy="17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硬超时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1240" y="8246123"/>
            <a:ext cx="4691178" cy="2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客户端定期续约，超时后租约自动释放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35460" y="6755521"/>
            <a:ext cx="4983673" cy="1934970"/>
          </a:xfrm>
          <a:custGeom>
            <a:avLst/>
            <a:gdLst/>
            <a:ahLst/>
            <a:cxnLst/>
            <a:rect l="l" t="t" r="r" b="b"/>
            <a:pathLst>
              <a:path w="4983673" h="1934970">
                <a:moveTo>
                  <a:pt x="89995" y="0"/>
                </a:moveTo>
                <a:lnTo>
                  <a:pt x="4893678" y="0"/>
                </a:lnTo>
                <a:cubicBezTo>
                  <a:pt x="4943381" y="0"/>
                  <a:pt x="4983673" y="40292"/>
                  <a:pt x="4983673" y="89995"/>
                </a:cubicBezTo>
                <a:lnTo>
                  <a:pt x="4983673" y="1844975"/>
                </a:lnTo>
                <a:cubicBezTo>
                  <a:pt x="4983673" y="1894678"/>
                  <a:pt x="4943381" y="1934970"/>
                  <a:pt x="4893678" y="1934970"/>
                </a:cubicBezTo>
                <a:lnTo>
                  <a:pt x="89995" y="1934970"/>
                </a:lnTo>
                <a:cubicBezTo>
                  <a:pt x="40292" y="1934970"/>
                  <a:pt x="0" y="1894678"/>
                  <a:pt x="0" y="1844975"/>
                </a:cubicBezTo>
                <a:lnTo>
                  <a:pt x="0" y="89995"/>
                </a:lnTo>
                <a:cubicBezTo>
                  <a:pt x="0" y="40292"/>
                  <a:pt x="40292" y="0"/>
                  <a:pt x="8999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5821082" y="6941143"/>
            <a:ext cx="449993" cy="449993"/>
          </a:xfrm>
          <a:custGeom>
            <a:avLst/>
            <a:gdLst/>
            <a:ahLst/>
            <a:cxnLst/>
            <a:rect l="l" t="t" r="r" b="b"/>
            <a:pathLst>
              <a:path w="449993" h="449993">
                <a:moveTo>
                  <a:pt x="89999" y="0"/>
                </a:moveTo>
                <a:lnTo>
                  <a:pt x="359994" y="0"/>
                </a:lnTo>
                <a:cubicBezTo>
                  <a:pt x="409699" y="0"/>
                  <a:pt x="449993" y="40294"/>
                  <a:pt x="449993" y="89999"/>
                </a:cubicBezTo>
                <a:lnTo>
                  <a:pt x="449993" y="359994"/>
                </a:lnTo>
                <a:cubicBezTo>
                  <a:pt x="449993" y="409699"/>
                  <a:pt x="409699" y="449993"/>
                  <a:pt x="359994" y="449993"/>
                </a:cubicBezTo>
                <a:lnTo>
                  <a:pt x="89999" y="449993"/>
                </a:lnTo>
                <a:cubicBezTo>
                  <a:pt x="40294" y="449993"/>
                  <a:pt x="0" y="409699"/>
                  <a:pt x="0" y="359994"/>
                </a:cubicBezTo>
                <a:lnTo>
                  <a:pt x="0" y="89999"/>
                </a:lnTo>
                <a:cubicBezTo>
                  <a:pt x="0" y="40327"/>
                  <a:pt x="40327" y="0"/>
                  <a:pt x="899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972955" y="7064891"/>
            <a:ext cx="151873" cy="202497"/>
          </a:xfrm>
          <a:custGeom>
            <a:avLst/>
            <a:gdLst/>
            <a:ahLst/>
            <a:cxnLst/>
            <a:rect l="l" t="t" r="r" b="b"/>
            <a:pathLst>
              <a:path w="151873" h="202497">
                <a:moveTo>
                  <a:pt x="50624" y="37968"/>
                </a:moveTo>
                <a:lnTo>
                  <a:pt x="50624" y="63280"/>
                </a:lnTo>
                <a:lnTo>
                  <a:pt x="101248" y="63280"/>
                </a:lnTo>
                <a:lnTo>
                  <a:pt x="101248" y="37968"/>
                </a:lnTo>
                <a:cubicBezTo>
                  <a:pt x="101248" y="24007"/>
                  <a:pt x="89898" y="12656"/>
                  <a:pt x="75936" y="12656"/>
                </a:cubicBezTo>
                <a:cubicBezTo>
                  <a:pt x="61975" y="12656"/>
                  <a:pt x="50624" y="24007"/>
                  <a:pt x="50624" y="37968"/>
                </a:cubicBezTo>
                <a:close/>
                <a:moveTo>
                  <a:pt x="25312" y="63280"/>
                </a:moveTo>
                <a:lnTo>
                  <a:pt x="25312" y="37968"/>
                </a:lnTo>
                <a:cubicBezTo>
                  <a:pt x="25312" y="10006"/>
                  <a:pt x="47974" y="-12656"/>
                  <a:pt x="75936" y="-12656"/>
                </a:cubicBezTo>
                <a:cubicBezTo>
                  <a:pt x="103898" y="-12656"/>
                  <a:pt x="126561" y="10006"/>
                  <a:pt x="126561" y="37968"/>
                </a:cubicBezTo>
                <a:lnTo>
                  <a:pt x="126561" y="63280"/>
                </a:lnTo>
                <a:cubicBezTo>
                  <a:pt x="140522" y="63280"/>
                  <a:pt x="151873" y="74631"/>
                  <a:pt x="151873" y="88592"/>
                </a:cubicBezTo>
                <a:lnTo>
                  <a:pt x="151873" y="177185"/>
                </a:lnTo>
                <a:cubicBezTo>
                  <a:pt x="151873" y="191146"/>
                  <a:pt x="140522" y="202497"/>
                  <a:pt x="126561" y="202497"/>
                </a:cubicBezTo>
                <a:lnTo>
                  <a:pt x="25312" y="202497"/>
                </a:lnTo>
                <a:cubicBezTo>
                  <a:pt x="11351" y="202497"/>
                  <a:pt x="0" y="191146"/>
                  <a:pt x="0" y="177185"/>
                </a:cubicBezTo>
                <a:lnTo>
                  <a:pt x="0" y="88592"/>
                </a:lnTo>
                <a:cubicBezTo>
                  <a:pt x="0" y="74631"/>
                  <a:pt x="11351" y="63280"/>
                  <a:pt x="25312" y="6328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406073" y="7008642"/>
            <a:ext cx="911236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互斥保证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821082" y="7548634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001080" y="7481135"/>
            <a:ext cx="102373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单客户端写入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821082" y="7818630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6001080" y="7751131"/>
            <a:ext cx="1023734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防止数据竞争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821082" y="8088626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001080" y="8021127"/>
            <a:ext cx="1181232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保证数据一致性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815390" y="6755521"/>
            <a:ext cx="4983673" cy="1934970"/>
          </a:xfrm>
          <a:custGeom>
            <a:avLst/>
            <a:gdLst/>
            <a:ahLst/>
            <a:cxnLst/>
            <a:rect l="l" t="t" r="r" b="b"/>
            <a:pathLst>
              <a:path w="4983673" h="1934970">
                <a:moveTo>
                  <a:pt x="89995" y="0"/>
                </a:moveTo>
                <a:lnTo>
                  <a:pt x="4893678" y="0"/>
                </a:lnTo>
                <a:cubicBezTo>
                  <a:pt x="4943381" y="0"/>
                  <a:pt x="4983673" y="40292"/>
                  <a:pt x="4983673" y="89995"/>
                </a:cubicBezTo>
                <a:lnTo>
                  <a:pt x="4983673" y="1844975"/>
                </a:lnTo>
                <a:cubicBezTo>
                  <a:pt x="4983673" y="1894678"/>
                  <a:pt x="4943381" y="1934970"/>
                  <a:pt x="4893678" y="1934970"/>
                </a:cubicBezTo>
                <a:lnTo>
                  <a:pt x="89995" y="1934970"/>
                </a:lnTo>
                <a:cubicBezTo>
                  <a:pt x="40292" y="1934970"/>
                  <a:pt x="0" y="1894678"/>
                  <a:pt x="0" y="1844975"/>
                </a:cubicBezTo>
                <a:lnTo>
                  <a:pt x="0" y="89995"/>
                </a:lnTo>
                <a:cubicBezTo>
                  <a:pt x="0" y="40292"/>
                  <a:pt x="40292" y="0"/>
                  <a:pt x="8999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1001012" y="6941143"/>
            <a:ext cx="449993" cy="449993"/>
          </a:xfrm>
          <a:custGeom>
            <a:avLst/>
            <a:gdLst/>
            <a:ahLst/>
            <a:cxnLst/>
            <a:rect l="l" t="t" r="r" b="b"/>
            <a:pathLst>
              <a:path w="449993" h="449993">
                <a:moveTo>
                  <a:pt x="89999" y="0"/>
                </a:moveTo>
                <a:lnTo>
                  <a:pt x="359994" y="0"/>
                </a:lnTo>
                <a:cubicBezTo>
                  <a:pt x="409699" y="0"/>
                  <a:pt x="449993" y="40294"/>
                  <a:pt x="449993" y="89999"/>
                </a:cubicBezTo>
                <a:lnTo>
                  <a:pt x="449993" y="359994"/>
                </a:lnTo>
                <a:cubicBezTo>
                  <a:pt x="449993" y="409699"/>
                  <a:pt x="409699" y="449993"/>
                  <a:pt x="359994" y="449993"/>
                </a:cubicBezTo>
                <a:lnTo>
                  <a:pt x="89999" y="449993"/>
                </a:lnTo>
                <a:cubicBezTo>
                  <a:pt x="40294" y="449993"/>
                  <a:pt x="0" y="409699"/>
                  <a:pt x="0" y="359994"/>
                </a:cubicBezTo>
                <a:lnTo>
                  <a:pt x="0" y="89999"/>
                </a:lnTo>
                <a:cubicBezTo>
                  <a:pt x="0" y="40327"/>
                  <a:pt x="40327" y="0"/>
                  <a:pt x="899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1127573" y="7064891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72716" y="29544"/>
                </a:moveTo>
                <a:lnTo>
                  <a:pt x="177185" y="33776"/>
                </a:lnTo>
                <a:lnTo>
                  <a:pt x="177185" y="12656"/>
                </a:lnTo>
                <a:cubicBezTo>
                  <a:pt x="177185" y="5656"/>
                  <a:pt x="182840" y="0"/>
                  <a:pt x="189841" y="0"/>
                </a:cubicBezTo>
                <a:cubicBezTo>
                  <a:pt x="196841" y="0"/>
                  <a:pt x="202497" y="5656"/>
                  <a:pt x="202497" y="12656"/>
                </a:cubicBezTo>
                <a:lnTo>
                  <a:pt x="202497" y="63280"/>
                </a:lnTo>
                <a:cubicBezTo>
                  <a:pt x="202497" y="70281"/>
                  <a:pt x="196841" y="75936"/>
                  <a:pt x="189841" y="75936"/>
                </a:cubicBezTo>
                <a:lnTo>
                  <a:pt x="139217" y="75936"/>
                </a:lnTo>
                <a:cubicBezTo>
                  <a:pt x="132216" y="75936"/>
                  <a:pt x="126561" y="70281"/>
                  <a:pt x="126561" y="63280"/>
                </a:cubicBezTo>
                <a:cubicBezTo>
                  <a:pt x="126561" y="56280"/>
                  <a:pt x="132216" y="50624"/>
                  <a:pt x="139217" y="50624"/>
                </a:cubicBezTo>
                <a:lnTo>
                  <a:pt x="158161" y="50624"/>
                </a:lnTo>
                <a:lnTo>
                  <a:pt x="155155" y="47777"/>
                </a:lnTo>
                <a:cubicBezTo>
                  <a:pt x="155076" y="47698"/>
                  <a:pt x="154997" y="47618"/>
                  <a:pt x="154918" y="47539"/>
                </a:cubicBezTo>
                <a:cubicBezTo>
                  <a:pt x="125255" y="17877"/>
                  <a:pt x="77202" y="17877"/>
                  <a:pt x="47539" y="47539"/>
                </a:cubicBezTo>
                <a:cubicBezTo>
                  <a:pt x="17877" y="77202"/>
                  <a:pt x="17877" y="125255"/>
                  <a:pt x="47539" y="154918"/>
                </a:cubicBezTo>
                <a:cubicBezTo>
                  <a:pt x="77202" y="184581"/>
                  <a:pt x="125255" y="184581"/>
                  <a:pt x="154918" y="154918"/>
                </a:cubicBezTo>
                <a:cubicBezTo>
                  <a:pt x="158161" y="151675"/>
                  <a:pt x="161048" y="148234"/>
                  <a:pt x="163580" y="144595"/>
                </a:cubicBezTo>
                <a:cubicBezTo>
                  <a:pt x="167574" y="138861"/>
                  <a:pt x="175484" y="137476"/>
                  <a:pt x="181219" y="141471"/>
                </a:cubicBezTo>
                <a:cubicBezTo>
                  <a:pt x="186954" y="145466"/>
                  <a:pt x="188338" y="153376"/>
                  <a:pt x="184343" y="159110"/>
                </a:cubicBezTo>
                <a:cubicBezTo>
                  <a:pt x="180982" y="163935"/>
                  <a:pt x="177145" y="168523"/>
                  <a:pt x="172834" y="172834"/>
                </a:cubicBezTo>
                <a:cubicBezTo>
                  <a:pt x="133284" y="212384"/>
                  <a:pt x="69173" y="212384"/>
                  <a:pt x="29663" y="172834"/>
                </a:cubicBezTo>
                <a:cubicBezTo>
                  <a:pt x="-9848" y="133284"/>
                  <a:pt x="-9888" y="69213"/>
                  <a:pt x="29663" y="29663"/>
                </a:cubicBezTo>
                <a:cubicBezTo>
                  <a:pt x="69173" y="-9848"/>
                  <a:pt x="133165" y="-9888"/>
                  <a:pt x="172716" y="29544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1586003" y="7008642"/>
            <a:ext cx="911236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1001012" y="7548634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11181010" y="7481135"/>
            <a:ext cx="1496227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自动检测客户端故障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1001012" y="7818630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1181010" y="7751131"/>
            <a:ext cx="1338729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快速释放租约资源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001012" y="8088626"/>
            <a:ext cx="89999" cy="89999"/>
          </a:xfrm>
          <a:custGeom>
            <a:avLst/>
            <a:gdLst/>
            <a:ahLst/>
            <a:cxnLst/>
            <a:rect l="l" t="t" r="r" b="b"/>
            <a:pathLst>
              <a:path w="89999" h="89999">
                <a:moveTo>
                  <a:pt x="44999" y="0"/>
                </a:moveTo>
                <a:lnTo>
                  <a:pt x="44999" y="0"/>
                </a:lnTo>
                <a:cubicBezTo>
                  <a:pt x="69835" y="0"/>
                  <a:pt x="89999" y="20164"/>
                  <a:pt x="89999" y="44999"/>
                </a:cubicBezTo>
                <a:lnTo>
                  <a:pt x="89999" y="44999"/>
                </a:lnTo>
                <a:cubicBezTo>
                  <a:pt x="89999" y="69835"/>
                  <a:pt x="69835" y="89999"/>
                  <a:pt x="44999" y="89999"/>
                </a:cubicBezTo>
                <a:lnTo>
                  <a:pt x="44999" y="89999"/>
                </a:lnTo>
                <a:cubicBezTo>
                  <a:pt x="20164" y="89999"/>
                  <a:pt x="0" y="69835"/>
                  <a:pt x="0" y="44999"/>
                </a:cubicBezTo>
                <a:lnTo>
                  <a:pt x="0" y="44999"/>
                </a:lnTo>
                <a:cubicBezTo>
                  <a:pt x="0" y="20164"/>
                  <a:pt x="20164" y="0"/>
                  <a:pt x="44999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11181010" y="8021127"/>
            <a:ext cx="1496227" cy="22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保证文件系统可用性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90600" cy="723900"/>
          </a:xfrm>
          <a:custGeom>
            <a:avLst/>
            <a:gdLst/>
            <a:ahLst/>
            <a:cxnLst/>
            <a:rect l="l" t="t" r="r" b="b"/>
            <a:pathLst>
              <a:path w="990600" h="723900">
                <a:moveTo>
                  <a:pt x="101599" y="0"/>
                </a:moveTo>
                <a:lnTo>
                  <a:pt x="889001" y="0"/>
                </a:lnTo>
                <a:cubicBezTo>
                  <a:pt x="945112" y="0"/>
                  <a:pt x="990600" y="45488"/>
                  <a:pt x="990600" y="101599"/>
                </a:cubicBezTo>
                <a:lnTo>
                  <a:pt x="990600" y="622301"/>
                </a:lnTo>
                <a:cubicBezTo>
                  <a:pt x="990600" y="678412"/>
                  <a:pt x="945112" y="723900"/>
                  <a:pt x="8890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248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容错与可靠性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故障处理、副本管理与数据完整性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故障类型与处理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512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606800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副本管理修复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404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096000" y="6303963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数据完整性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590800" cy="419100"/>
          </a:xfrm>
          <a:custGeom>
            <a:avLst/>
            <a:gdLst/>
            <a:ahLst/>
            <a:cxnLst/>
            <a:rect l="l" t="t" r="r" b="b"/>
            <a:pathLst>
              <a:path w="2590800" h="419100">
                <a:moveTo>
                  <a:pt x="209550" y="0"/>
                </a:moveTo>
                <a:lnTo>
                  <a:pt x="2381250" y="0"/>
                </a:lnTo>
                <a:cubicBezTo>
                  <a:pt x="2496904" y="0"/>
                  <a:pt x="2590800" y="93896"/>
                  <a:pt x="2590800" y="209550"/>
                </a:cubicBezTo>
                <a:lnTo>
                  <a:pt x="2590800" y="209550"/>
                </a:lnTo>
                <a:cubicBezTo>
                  <a:pt x="2590800" y="325204"/>
                  <a:pt x="2496904" y="419100"/>
                  <a:pt x="23812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590550"/>
            <a:ext cx="2278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922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故障类型与处理策略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54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面临的五种主要故障类型及对应处理策略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2419350"/>
            <a:ext cx="15227300" cy="3327400"/>
          </a:xfrm>
          <a:custGeom>
            <a:avLst/>
            <a:gdLst/>
            <a:ahLst/>
            <a:cxnLst/>
            <a:rect l="l" t="t" r="r" b="b"/>
            <a:pathLst>
              <a:path w="15227300" h="3327400">
                <a:moveTo>
                  <a:pt x="101586" y="0"/>
                </a:moveTo>
                <a:lnTo>
                  <a:pt x="15125714" y="0"/>
                </a:lnTo>
                <a:cubicBezTo>
                  <a:pt x="15181819" y="0"/>
                  <a:pt x="15227300" y="45481"/>
                  <a:pt x="15227300" y="101586"/>
                </a:cubicBezTo>
                <a:lnTo>
                  <a:pt x="15227300" y="3225814"/>
                </a:lnTo>
                <a:cubicBezTo>
                  <a:pt x="15227300" y="3281919"/>
                  <a:pt x="15181819" y="3327400"/>
                  <a:pt x="15125714" y="3327400"/>
                </a:cubicBezTo>
                <a:lnTo>
                  <a:pt x="101586" y="3327400"/>
                </a:lnTo>
                <a:cubicBezTo>
                  <a:pt x="45481" y="3327400"/>
                  <a:pt x="0" y="3281919"/>
                  <a:pt x="0" y="32258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2679700"/>
          <a:ext cx="14706599" cy="2806698"/>
        </p:xfrm>
        <a:graphic>
          <a:graphicData uri="http://schemas.openxmlformats.org/drawingml/2006/table">
            <a:tbl>
              <a:tblPr/>
              <a:tblGrid>
                <a:gridCol w="359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2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故障类型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发生概率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影响范围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恢复时间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处理策略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分钟级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副本重建、磁盘替换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分钟级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副本重建、节点替换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网络分区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秒到分钟级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路由重选、副本访问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机架故障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机架级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小时级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跨机架副本、硬件修复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数据中心故障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数据中心级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小时到天级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跨数据中心副本、灾备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4350" y="5962650"/>
            <a:ext cx="3644900" cy="1612900"/>
          </a:xfrm>
          <a:custGeom>
            <a:avLst/>
            <a:gdLst/>
            <a:ahLst/>
            <a:cxnLst/>
            <a:rect l="l" t="t" r="r" b="b"/>
            <a:pathLst>
              <a:path w="3644900" h="1612900">
                <a:moveTo>
                  <a:pt x="101597" y="0"/>
                </a:moveTo>
                <a:lnTo>
                  <a:pt x="3543303" y="0"/>
                </a:lnTo>
                <a:cubicBezTo>
                  <a:pt x="3599376" y="0"/>
                  <a:pt x="3644900" y="45524"/>
                  <a:pt x="3644900" y="101597"/>
                </a:cubicBezTo>
                <a:lnTo>
                  <a:pt x="3644900" y="1511303"/>
                </a:lnTo>
                <a:cubicBezTo>
                  <a:pt x="3644900" y="1567376"/>
                  <a:pt x="3599376" y="1612900"/>
                  <a:pt x="35433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723900" y="6172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66775" y="631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384300" y="624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3900" y="6781800"/>
            <a:ext cx="3314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心跳监控</a:t>
            </a:r>
            <a:r>
              <a:rPr lang="en-US" sz="14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和超时检测及时发现故障节点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75150" y="5962650"/>
            <a:ext cx="3644900" cy="1612900"/>
          </a:xfrm>
          <a:custGeom>
            <a:avLst/>
            <a:gdLst/>
            <a:ahLst/>
            <a:cxnLst/>
            <a:rect l="l" t="t" r="r" b="b"/>
            <a:pathLst>
              <a:path w="3644900" h="1612900">
                <a:moveTo>
                  <a:pt x="101597" y="0"/>
                </a:moveTo>
                <a:lnTo>
                  <a:pt x="3543303" y="0"/>
                </a:lnTo>
                <a:cubicBezTo>
                  <a:pt x="3599376" y="0"/>
                  <a:pt x="3644900" y="45524"/>
                  <a:pt x="3644900" y="101597"/>
                </a:cubicBezTo>
                <a:lnTo>
                  <a:pt x="3644900" y="1511303"/>
                </a:lnTo>
                <a:cubicBezTo>
                  <a:pt x="3644900" y="1567376"/>
                  <a:pt x="3599376" y="1612900"/>
                  <a:pt x="35433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584700" y="6172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727575" y="631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245100" y="624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故障隔离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84700" y="6781800"/>
            <a:ext cx="3314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将故障节点标记为不可用，</a:t>
            </a:r>
            <a:r>
              <a:rPr lang="en-US" sz="1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停止分配新任务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35950" y="5962650"/>
            <a:ext cx="3644900" cy="1612900"/>
          </a:xfrm>
          <a:custGeom>
            <a:avLst/>
            <a:gdLst/>
            <a:ahLst/>
            <a:cxnLst/>
            <a:rect l="l" t="t" r="r" b="b"/>
            <a:pathLst>
              <a:path w="3644900" h="1612900">
                <a:moveTo>
                  <a:pt x="101597" y="0"/>
                </a:moveTo>
                <a:lnTo>
                  <a:pt x="3543303" y="0"/>
                </a:lnTo>
                <a:cubicBezTo>
                  <a:pt x="3599376" y="0"/>
                  <a:pt x="3644900" y="45524"/>
                  <a:pt x="3644900" y="101597"/>
                </a:cubicBezTo>
                <a:lnTo>
                  <a:pt x="3644900" y="1511303"/>
                </a:lnTo>
                <a:cubicBezTo>
                  <a:pt x="3644900" y="1567376"/>
                  <a:pt x="3599376" y="1612900"/>
                  <a:pt x="35433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8445500" y="6172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8602663" y="6311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18"/>
          <p:cNvSpPr/>
          <p:nvPr/>
        </p:nvSpPr>
        <p:spPr>
          <a:xfrm>
            <a:off x="9105900" y="624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数据恢复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45500" y="6781800"/>
            <a:ext cx="3314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从其他副本复制数据，</a:t>
            </a:r>
            <a:r>
              <a:rPr lang="en-US" sz="1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重建丢失的副本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096750" y="5962650"/>
            <a:ext cx="3644900" cy="1612900"/>
          </a:xfrm>
          <a:custGeom>
            <a:avLst/>
            <a:gdLst/>
            <a:ahLst/>
            <a:cxnLst/>
            <a:rect l="l" t="t" r="r" b="b"/>
            <a:pathLst>
              <a:path w="3644900" h="1612900">
                <a:moveTo>
                  <a:pt x="101597" y="0"/>
                </a:moveTo>
                <a:lnTo>
                  <a:pt x="3543303" y="0"/>
                </a:lnTo>
                <a:cubicBezTo>
                  <a:pt x="3599376" y="0"/>
                  <a:pt x="3644900" y="45524"/>
                  <a:pt x="3644900" y="101597"/>
                </a:cubicBezTo>
                <a:lnTo>
                  <a:pt x="3644900" y="1511303"/>
                </a:lnTo>
                <a:cubicBezTo>
                  <a:pt x="3644900" y="1567376"/>
                  <a:pt x="3599376" y="1612900"/>
                  <a:pt x="35433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12306300" y="6172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2449175" y="631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2966700" y="624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服务恢复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306300" y="6781800"/>
            <a:ext cx="3314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验证数据完整性，</a:t>
            </a:r>
            <a:r>
              <a:rPr lang="en-US" sz="14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恢复正常服务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278" y="465278"/>
            <a:ext cx="2791666" cy="379115"/>
          </a:xfrm>
          <a:custGeom>
            <a:avLst/>
            <a:gdLst/>
            <a:ahLst/>
            <a:cxnLst/>
            <a:rect l="l" t="t" r="r" b="b"/>
            <a:pathLst>
              <a:path w="2791666" h="379115">
                <a:moveTo>
                  <a:pt x="189558" y="0"/>
                </a:moveTo>
                <a:lnTo>
                  <a:pt x="2602109" y="0"/>
                </a:lnTo>
                <a:cubicBezTo>
                  <a:pt x="2706799" y="0"/>
                  <a:pt x="2791666" y="84868"/>
                  <a:pt x="2791666" y="189558"/>
                </a:cubicBezTo>
                <a:lnTo>
                  <a:pt x="2791666" y="189558"/>
                </a:lnTo>
                <a:cubicBezTo>
                  <a:pt x="2791666" y="294247"/>
                  <a:pt x="2706799" y="379115"/>
                  <a:pt x="2602109" y="379115"/>
                </a:cubicBezTo>
                <a:lnTo>
                  <a:pt x="189558" y="379115"/>
                </a:lnTo>
                <a:cubicBezTo>
                  <a:pt x="84938" y="379115"/>
                  <a:pt x="0" y="294177"/>
                  <a:pt x="0" y="189558"/>
                </a:cubicBezTo>
                <a:lnTo>
                  <a:pt x="0" y="189558"/>
                </a:lnTo>
                <a:cubicBezTo>
                  <a:pt x="0" y="84938"/>
                  <a:pt x="84938" y="0"/>
                  <a:pt x="18955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4835" y="534208"/>
            <a:ext cx="250266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kern="0" spc="14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REPLICA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9534" y="987997"/>
            <a:ext cx="15612653" cy="55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42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副本管理与自动修复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9534" y="1677298"/>
            <a:ext cx="15451816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副本状态监控与自动修复机制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2510" y="2182784"/>
            <a:ext cx="4962963" cy="1723251"/>
          </a:xfrm>
          <a:custGeom>
            <a:avLst/>
            <a:gdLst/>
            <a:ahLst/>
            <a:cxnLst/>
            <a:rect l="l" t="t" r="r" b="b"/>
            <a:pathLst>
              <a:path w="4962963" h="1723251">
                <a:moveTo>
                  <a:pt x="45953" y="0"/>
                </a:moveTo>
                <a:lnTo>
                  <a:pt x="4871062" y="0"/>
                </a:lnTo>
                <a:cubicBezTo>
                  <a:pt x="4921817" y="0"/>
                  <a:pt x="4962963" y="41145"/>
                  <a:pt x="4962963" y="91901"/>
                </a:cubicBezTo>
                <a:lnTo>
                  <a:pt x="4962963" y="1631350"/>
                </a:lnTo>
                <a:cubicBezTo>
                  <a:pt x="4962963" y="1682105"/>
                  <a:pt x="4921817" y="1723251"/>
                  <a:pt x="4871062" y="1723251"/>
                </a:cubicBez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2510" y="2182784"/>
            <a:ext cx="45953" cy="1723251"/>
          </a:xfrm>
          <a:custGeom>
            <a:avLst/>
            <a:gdLst/>
            <a:ahLst/>
            <a:cxnLst/>
            <a:rect l="l" t="t" r="r" b="b"/>
            <a:pathLst>
              <a:path w="45953" h="1723251">
                <a:moveTo>
                  <a:pt x="45953" y="0"/>
                </a:moveTo>
                <a:lnTo>
                  <a:pt x="45953" y="0"/>
                </a:lnTo>
                <a:lnTo>
                  <a:pt x="45953" y="1723251"/>
                </a:ln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9300" y="2366598"/>
            <a:ext cx="459534" cy="459534"/>
          </a:xfrm>
          <a:custGeom>
            <a:avLst/>
            <a:gdLst/>
            <a:ahLst/>
            <a:cxnLst/>
            <a:rect l="l" t="t" r="r" b="b"/>
            <a:pathLst>
              <a:path w="459534" h="459534">
                <a:moveTo>
                  <a:pt x="91907" y="0"/>
                </a:moveTo>
                <a:lnTo>
                  <a:pt x="367627" y="0"/>
                </a:lnTo>
                <a:cubicBezTo>
                  <a:pt x="418386" y="0"/>
                  <a:pt x="459534" y="41148"/>
                  <a:pt x="459534" y="91907"/>
                </a:cubicBezTo>
                <a:lnTo>
                  <a:pt x="459534" y="367627"/>
                </a:lnTo>
                <a:cubicBezTo>
                  <a:pt x="459534" y="418386"/>
                  <a:pt x="418386" y="459534"/>
                  <a:pt x="367627" y="459534"/>
                </a:cubicBezTo>
                <a:lnTo>
                  <a:pt x="91907" y="459534"/>
                </a:lnTo>
                <a:cubicBezTo>
                  <a:pt x="41148" y="459534"/>
                  <a:pt x="0" y="418386"/>
                  <a:pt x="0" y="367627"/>
                </a:cubicBezTo>
                <a:lnTo>
                  <a:pt x="0" y="91907"/>
                </a:lnTo>
                <a:cubicBezTo>
                  <a:pt x="0" y="41148"/>
                  <a:pt x="41148" y="0"/>
                  <a:pt x="9190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18544" y="2492970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206790"/>
                </a:moveTo>
                <a:cubicBezTo>
                  <a:pt x="160460" y="206790"/>
                  <a:pt x="206790" y="160460"/>
                  <a:pt x="206790" y="103395"/>
                </a:cubicBezTo>
                <a:cubicBezTo>
                  <a:pt x="206790" y="46330"/>
                  <a:pt x="160460" y="0"/>
                  <a:pt x="103395" y="0"/>
                </a:cubicBezTo>
                <a:cubicBezTo>
                  <a:pt x="46330" y="0"/>
                  <a:pt x="0" y="46330"/>
                  <a:pt x="0" y="103395"/>
                </a:cubicBezTo>
                <a:cubicBezTo>
                  <a:pt x="0" y="160460"/>
                  <a:pt x="46330" y="206790"/>
                  <a:pt x="103395" y="206790"/>
                </a:cubicBezTo>
                <a:close/>
                <a:moveTo>
                  <a:pt x="93702" y="138937"/>
                </a:moveTo>
                <a:lnTo>
                  <a:pt x="93702" y="113088"/>
                </a:lnTo>
                <a:lnTo>
                  <a:pt x="67853" y="113088"/>
                </a:lnTo>
                <a:cubicBezTo>
                  <a:pt x="62481" y="113088"/>
                  <a:pt x="58160" y="108767"/>
                  <a:pt x="58160" y="103395"/>
                </a:cubicBezTo>
                <a:cubicBezTo>
                  <a:pt x="58160" y="98023"/>
                  <a:pt x="62481" y="93702"/>
                  <a:pt x="67853" y="93702"/>
                </a:cubicBezTo>
                <a:lnTo>
                  <a:pt x="93702" y="93702"/>
                </a:lnTo>
                <a:lnTo>
                  <a:pt x="93702" y="67853"/>
                </a:lnTo>
                <a:cubicBezTo>
                  <a:pt x="93702" y="62481"/>
                  <a:pt x="98023" y="58160"/>
                  <a:pt x="103395" y="58160"/>
                </a:cubicBezTo>
                <a:cubicBezTo>
                  <a:pt x="108767" y="58160"/>
                  <a:pt x="113088" y="62481"/>
                  <a:pt x="113088" y="67853"/>
                </a:cubicBezTo>
                <a:lnTo>
                  <a:pt x="113088" y="93702"/>
                </a:lnTo>
                <a:lnTo>
                  <a:pt x="138937" y="93702"/>
                </a:lnTo>
                <a:cubicBezTo>
                  <a:pt x="144309" y="93702"/>
                  <a:pt x="148630" y="98023"/>
                  <a:pt x="148630" y="103395"/>
                </a:cubicBezTo>
                <a:cubicBezTo>
                  <a:pt x="148630" y="108767"/>
                  <a:pt x="144309" y="113088"/>
                  <a:pt x="138937" y="113088"/>
                </a:cubicBezTo>
                <a:lnTo>
                  <a:pt x="113088" y="113088"/>
                </a:lnTo>
                <a:lnTo>
                  <a:pt x="113088" y="138937"/>
                </a:lnTo>
                <a:cubicBezTo>
                  <a:pt x="113088" y="144309"/>
                  <a:pt x="108767" y="148630"/>
                  <a:pt x="103395" y="148630"/>
                </a:cubicBezTo>
                <a:cubicBezTo>
                  <a:pt x="98023" y="148630"/>
                  <a:pt x="93702" y="144309"/>
                  <a:pt x="93702" y="138937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32647" y="2435528"/>
            <a:ext cx="930555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过度复制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9300" y="2918038"/>
            <a:ext cx="4652777" cy="26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副本数超过配置值</a:t>
            </a: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，系统会自动删除多余副本以节省存储空间。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9300" y="3271305"/>
            <a:ext cx="4641289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原因：节点恢复后副本数超出预期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56481" y="2182784"/>
            <a:ext cx="4962963" cy="1723251"/>
          </a:xfrm>
          <a:custGeom>
            <a:avLst/>
            <a:gdLst/>
            <a:ahLst/>
            <a:cxnLst/>
            <a:rect l="l" t="t" r="r" b="b"/>
            <a:pathLst>
              <a:path w="4962963" h="1723251">
                <a:moveTo>
                  <a:pt x="45953" y="0"/>
                </a:moveTo>
                <a:lnTo>
                  <a:pt x="4871062" y="0"/>
                </a:lnTo>
                <a:cubicBezTo>
                  <a:pt x="4921817" y="0"/>
                  <a:pt x="4962963" y="41145"/>
                  <a:pt x="4962963" y="91901"/>
                </a:cubicBezTo>
                <a:lnTo>
                  <a:pt x="4962963" y="1631350"/>
                </a:lnTo>
                <a:cubicBezTo>
                  <a:pt x="4962963" y="1682105"/>
                  <a:pt x="4921817" y="1723251"/>
                  <a:pt x="4871062" y="1723251"/>
                </a:cubicBez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56481" y="2182784"/>
            <a:ext cx="45953" cy="1723251"/>
          </a:xfrm>
          <a:custGeom>
            <a:avLst/>
            <a:gdLst/>
            <a:ahLst/>
            <a:cxnLst/>
            <a:rect l="l" t="t" r="r" b="b"/>
            <a:pathLst>
              <a:path w="45953" h="1723251">
                <a:moveTo>
                  <a:pt x="45953" y="0"/>
                </a:moveTo>
                <a:lnTo>
                  <a:pt x="45953" y="0"/>
                </a:lnTo>
                <a:lnTo>
                  <a:pt x="45953" y="1723251"/>
                </a:ln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63271" y="2366598"/>
            <a:ext cx="459534" cy="459534"/>
          </a:xfrm>
          <a:custGeom>
            <a:avLst/>
            <a:gdLst/>
            <a:ahLst/>
            <a:cxnLst/>
            <a:rect l="l" t="t" r="r" b="b"/>
            <a:pathLst>
              <a:path w="459534" h="459534">
                <a:moveTo>
                  <a:pt x="91907" y="0"/>
                </a:moveTo>
                <a:lnTo>
                  <a:pt x="367627" y="0"/>
                </a:lnTo>
                <a:cubicBezTo>
                  <a:pt x="418386" y="0"/>
                  <a:pt x="459534" y="41148"/>
                  <a:pt x="459534" y="91907"/>
                </a:cubicBezTo>
                <a:lnTo>
                  <a:pt x="459534" y="367627"/>
                </a:lnTo>
                <a:cubicBezTo>
                  <a:pt x="459534" y="418386"/>
                  <a:pt x="418386" y="459534"/>
                  <a:pt x="367627" y="459534"/>
                </a:cubicBezTo>
                <a:lnTo>
                  <a:pt x="91907" y="459534"/>
                </a:lnTo>
                <a:cubicBezTo>
                  <a:pt x="41148" y="459534"/>
                  <a:pt x="0" y="418386"/>
                  <a:pt x="0" y="367627"/>
                </a:cubicBezTo>
                <a:lnTo>
                  <a:pt x="0" y="91907"/>
                </a:lnTo>
                <a:cubicBezTo>
                  <a:pt x="0" y="41148"/>
                  <a:pt x="41148" y="0"/>
                  <a:pt x="9190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992515" y="2492970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206790"/>
                </a:moveTo>
                <a:cubicBezTo>
                  <a:pt x="160460" y="206790"/>
                  <a:pt x="206790" y="160460"/>
                  <a:pt x="206790" y="103395"/>
                </a:cubicBezTo>
                <a:cubicBezTo>
                  <a:pt x="206790" y="46330"/>
                  <a:pt x="160460" y="0"/>
                  <a:pt x="103395" y="0"/>
                </a:cubicBezTo>
                <a:cubicBezTo>
                  <a:pt x="46330" y="0"/>
                  <a:pt x="0" y="46330"/>
                  <a:pt x="0" y="103395"/>
                </a:cubicBezTo>
                <a:cubicBezTo>
                  <a:pt x="0" y="160460"/>
                  <a:pt x="46330" y="206790"/>
                  <a:pt x="103395" y="206790"/>
                </a:cubicBezTo>
                <a:close/>
                <a:moveTo>
                  <a:pt x="67853" y="93702"/>
                </a:moveTo>
                <a:lnTo>
                  <a:pt x="138937" y="93702"/>
                </a:lnTo>
                <a:cubicBezTo>
                  <a:pt x="144309" y="93702"/>
                  <a:pt x="148630" y="98023"/>
                  <a:pt x="148630" y="103395"/>
                </a:cubicBezTo>
                <a:cubicBezTo>
                  <a:pt x="148630" y="108767"/>
                  <a:pt x="144309" y="113088"/>
                  <a:pt x="138937" y="113088"/>
                </a:cubicBezTo>
                <a:lnTo>
                  <a:pt x="67853" y="113088"/>
                </a:lnTo>
                <a:cubicBezTo>
                  <a:pt x="62481" y="113088"/>
                  <a:pt x="58160" y="108767"/>
                  <a:pt x="58160" y="103395"/>
                </a:cubicBezTo>
                <a:cubicBezTo>
                  <a:pt x="58160" y="98023"/>
                  <a:pt x="62481" y="93702"/>
                  <a:pt x="67853" y="9370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06618" y="2435528"/>
            <a:ext cx="930555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复制不足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63271" y="2918038"/>
            <a:ext cx="4652777" cy="26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副本数少于配置值</a:t>
            </a: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，系统会自动创建新副本以满足副本策略。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63271" y="3271305"/>
            <a:ext cx="4641289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原因：节点故障导致副本丢失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30452" y="2182784"/>
            <a:ext cx="4962963" cy="1723251"/>
          </a:xfrm>
          <a:custGeom>
            <a:avLst/>
            <a:gdLst/>
            <a:ahLst/>
            <a:cxnLst/>
            <a:rect l="l" t="t" r="r" b="b"/>
            <a:pathLst>
              <a:path w="4962963" h="1723251">
                <a:moveTo>
                  <a:pt x="45953" y="0"/>
                </a:moveTo>
                <a:lnTo>
                  <a:pt x="4871062" y="0"/>
                </a:lnTo>
                <a:cubicBezTo>
                  <a:pt x="4921817" y="0"/>
                  <a:pt x="4962963" y="41145"/>
                  <a:pt x="4962963" y="91901"/>
                </a:cubicBezTo>
                <a:lnTo>
                  <a:pt x="4962963" y="1631350"/>
                </a:lnTo>
                <a:cubicBezTo>
                  <a:pt x="4962963" y="1682105"/>
                  <a:pt x="4921817" y="1723251"/>
                  <a:pt x="4871062" y="1723251"/>
                </a:cubicBez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830452" y="2182784"/>
            <a:ext cx="45953" cy="1723251"/>
          </a:xfrm>
          <a:custGeom>
            <a:avLst/>
            <a:gdLst/>
            <a:ahLst/>
            <a:cxnLst/>
            <a:rect l="l" t="t" r="r" b="b"/>
            <a:pathLst>
              <a:path w="45953" h="1723251">
                <a:moveTo>
                  <a:pt x="45953" y="0"/>
                </a:moveTo>
                <a:lnTo>
                  <a:pt x="45953" y="0"/>
                </a:lnTo>
                <a:lnTo>
                  <a:pt x="45953" y="1723251"/>
                </a:lnTo>
                <a:lnTo>
                  <a:pt x="45953" y="1723251"/>
                </a:lnTo>
                <a:cubicBezTo>
                  <a:pt x="20574" y="1723251"/>
                  <a:pt x="0" y="1702677"/>
                  <a:pt x="0" y="1677298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037242" y="2366598"/>
            <a:ext cx="459534" cy="459534"/>
          </a:xfrm>
          <a:custGeom>
            <a:avLst/>
            <a:gdLst/>
            <a:ahLst/>
            <a:cxnLst/>
            <a:rect l="l" t="t" r="r" b="b"/>
            <a:pathLst>
              <a:path w="459534" h="459534">
                <a:moveTo>
                  <a:pt x="91907" y="0"/>
                </a:moveTo>
                <a:lnTo>
                  <a:pt x="367627" y="0"/>
                </a:lnTo>
                <a:cubicBezTo>
                  <a:pt x="418386" y="0"/>
                  <a:pt x="459534" y="41148"/>
                  <a:pt x="459534" y="91907"/>
                </a:cubicBezTo>
                <a:lnTo>
                  <a:pt x="459534" y="367627"/>
                </a:lnTo>
                <a:cubicBezTo>
                  <a:pt x="459534" y="418386"/>
                  <a:pt x="418386" y="459534"/>
                  <a:pt x="367627" y="459534"/>
                </a:cubicBezTo>
                <a:lnTo>
                  <a:pt x="91907" y="459534"/>
                </a:lnTo>
                <a:cubicBezTo>
                  <a:pt x="41148" y="459534"/>
                  <a:pt x="0" y="418386"/>
                  <a:pt x="0" y="367627"/>
                </a:cubicBezTo>
                <a:lnTo>
                  <a:pt x="0" y="91907"/>
                </a:lnTo>
                <a:cubicBezTo>
                  <a:pt x="0" y="41148"/>
                  <a:pt x="41148" y="0"/>
                  <a:pt x="9190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1166486" y="2492970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9332" y="0"/>
                  <a:pt x="114785" y="3271"/>
                  <a:pt x="117612" y="8482"/>
                </a:cubicBezTo>
                <a:lnTo>
                  <a:pt x="204851" y="170036"/>
                </a:lnTo>
                <a:cubicBezTo>
                  <a:pt x="207557" y="175045"/>
                  <a:pt x="207436" y="181103"/>
                  <a:pt x="204528" y="185990"/>
                </a:cubicBezTo>
                <a:cubicBezTo>
                  <a:pt x="201620" y="190877"/>
                  <a:pt x="196329" y="193866"/>
                  <a:pt x="190635" y="193866"/>
                </a:cubicBezTo>
                <a:lnTo>
                  <a:pt x="16155" y="193866"/>
                </a:lnTo>
                <a:cubicBezTo>
                  <a:pt x="10461" y="193866"/>
                  <a:pt x="5210" y="190877"/>
                  <a:pt x="2262" y="185990"/>
                </a:cubicBezTo>
                <a:cubicBezTo>
                  <a:pt x="-687" y="181103"/>
                  <a:pt x="-767" y="175045"/>
                  <a:pt x="1939" y="170036"/>
                </a:cubicBezTo>
                <a:lnTo>
                  <a:pt x="89178" y="8482"/>
                </a:lnTo>
                <a:cubicBezTo>
                  <a:pt x="92005" y="3271"/>
                  <a:pt x="97458" y="0"/>
                  <a:pt x="103395" y="0"/>
                </a:cubicBezTo>
                <a:close/>
                <a:moveTo>
                  <a:pt x="103395" y="67853"/>
                </a:moveTo>
                <a:cubicBezTo>
                  <a:pt x="98023" y="67853"/>
                  <a:pt x="93702" y="72175"/>
                  <a:pt x="93702" y="77546"/>
                </a:cubicBezTo>
                <a:lnTo>
                  <a:pt x="93702" y="122782"/>
                </a:lnTo>
                <a:cubicBezTo>
                  <a:pt x="93702" y="128153"/>
                  <a:pt x="98023" y="132475"/>
                  <a:pt x="103395" y="132475"/>
                </a:cubicBezTo>
                <a:cubicBezTo>
                  <a:pt x="108767" y="132475"/>
                  <a:pt x="113088" y="128153"/>
                  <a:pt x="113088" y="122782"/>
                </a:cubicBezTo>
                <a:lnTo>
                  <a:pt x="113088" y="77546"/>
                </a:lnTo>
                <a:cubicBezTo>
                  <a:pt x="113088" y="72175"/>
                  <a:pt x="108767" y="67853"/>
                  <a:pt x="103395" y="67853"/>
                </a:cubicBezTo>
                <a:close/>
                <a:moveTo>
                  <a:pt x="114179" y="155093"/>
                </a:moveTo>
                <a:cubicBezTo>
                  <a:pt x="114424" y="151090"/>
                  <a:pt x="112428" y="147281"/>
                  <a:pt x="108997" y="145206"/>
                </a:cubicBezTo>
                <a:cubicBezTo>
                  <a:pt x="105565" y="143130"/>
                  <a:pt x="101265" y="143130"/>
                  <a:pt x="97834" y="145206"/>
                </a:cubicBezTo>
                <a:cubicBezTo>
                  <a:pt x="94403" y="147281"/>
                  <a:pt x="92406" y="151090"/>
                  <a:pt x="92652" y="155093"/>
                </a:cubicBezTo>
                <a:cubicBezTo>
                  <a:pt x="92406" y="159095"/>
                  <a:pt x="94403" y="162904"/>
                  <a:pt x="97834" y="164979"/>
                </a:cubicBezTo>
                <a:cubicBezTo>
                  <a:pt x="101265" y="167055"/>
                  <a:pt x="105565" y="167055"/>
                  <a:pt x="108997" y="164979"/>
                </a:cubicBezTo>
                <a:cubicBezTo>
                  <a:pt x="112428" y="162904"/>
                  <a:pt x="114424" y="159095"/>
                  <a:pt x="114179" y="155093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680589" y="2435528"/>
            <a:ext cx="930555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错误放置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37242" y="2918038"/>
            <a:ext cx="4652777" cy="528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副本放置不符合机架策略</a:t>
            </a: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，系统会重新放置副本以优化容错能力。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37242" y="3532664"/>
            <a:ext cx="4641289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原因：多个副本在同一机架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5278" y="4089849"/>
            <a:ext cx="15325445" cy="3412037"/>
          </a:xfrm>
          <a:custGeom>
            <a:avLst/>
            <a:gdLst/>
            <a:ahLst/>
            <a:cxnLst/>
            <a:rect l="l" t="t" r="r" b="b"/>
            <a:pathLst>
              <a:path w="15325445" h="3412037">
                <a:moveTo>
                  <a:pt x="91920" y="0"/>
                </a:moveTo>
                <a:lnTo>
                  <a:pt x="15233524" y="0"/>
                </a:lnTo>
                <a:cubicBezTo>
                  <a:pt x="15284290" y="0"/>
                  <a:pt x="15325445" y="41154"/>
                  <a:pt x="15325445" y="91920"/>
                </a:cubicBezTo>
                <a:lnTo>
                  <a:pt x="15325445" y="3320116"/>
                </a:lnTo>
                <a:cubicBezTo>
                  <a:pt x="15325445" y="3370883"/>
                  <a:pt x="15284290" y="3412037"/>
                  <a:pt x="15233524" y="3412037"/>
                </a:cubicBezTo>
                <a:lnTo>
                  <a:pt x="91920" y="3412037"/>
                </a:lnTo>
                <a:cubicBezTo>
                  <a:pt x="41154" y="3412037"/>
                  <a:pt x="0" y="3370883"/>
                  <a:pt x="0" y="3320116"/>
                </a:cubicBezTo>
                <a:lnTo>
                  <a:pt x="0" y="91920"/>
                </a:lnTo>
                <a:cubicBezTo>
                  <a:pt x="0" y="41188"/>
                  <a:pt x="41188" y="0"/>
                  <a:pt x="9192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15149" y="4371313"/>
            <a:ext cx="258488" cy="229767"/>
          </a:xfrm>
          <a:custGeom>
            <a:avLst/>
            <a:gdLst/>
            <a:ahLst/>
            <a:cxnLst/>
            <a:rect l="l" t="t" r="r" b="b"/>
            <a:pathLst>
              <a:path w="258488" h="229767">
                <a:moveTo>
                  <a:pt x="100568" y="43575"/>
                </a:moveTo>
                <a:lnTo>
                  <a:pt x="100568" y="65834"/>
                </a:lnTo>
                <a:lnTo>
                  <a:pt x="100792" y="66058"/>
                </a:lnTo>
                <a:cubicBezTo>
                  <a:pt x="103709" y="29080"/>
                  <a:pt x="134629" y="0"/>
                  <a:pt x="172370" y="0"/>
                </a:cubicBezTo>
                <a:cubicBezTo>
                  <a:pt x="181390" y="0"/>
                  <a:pt x="190051" y="1660"/>
                  <a:pt x="197994" y="4712"/>
                </a:cubicBezTo>
                <a:cubicBezTo>
                  <a:pt x="202482" y="6417"/>
                  <a:pt x="203290" y="12117"/>
                  <a:pt x="199924" y="15527"/>
                </a:cubicBezTo>
                <a:lnTo>
                  <a:pt x="160119" y="55333"/>
                </a:lnTo>
                <a:cubicBezTo>
                  <a:pt x="158772" y="56679"/>
                  <a:pt x="158010" y="58519"/>
                  <a:pt x="158010" y="60404"/>
                </a:cubicBezTo>
                <a:lnTo>
                  <a:pt x="158010" y="78982"/>
                </a:lnTo>
                <a:cubicBezTo>
                  <a:pt x="158010" y="82931"/>
                  <a:pt x="161241" y="86163"/>
                  <a:pt x="165190" y="86163"/>
                </a:cubicBezTo>
                <a:lnTo>
                  <a:pt x="183769" y="86163"/>
                </a:lnTo>
                <a:cubicBezTo>
                  <a:pt x="185653" y="86163"/>
                  <a:pt x="187493" y="85400"/>
                  <a:pt x="188840" y="84053"/>
                </a:cubicBezTo>
                <a:lnTo>
                  <a:pt x="228645" y="44248"/>
                </a:lnTo>
                <a:cubicBezTo>
                  <a:pt x="232055" y="40837"/>
                  <a:pt x="237755" y="41690"/>
                  <a:pt x="239460" y="46178"/>
                </a:cubicBezTo>
                <a:cubicBezTo>
                  <a:pt x="242512" y="54121"/>
                  <a:pt x="244172" y="62782"/>
                  <a:pt x="244172" y="71802"/>
                </a:cubicBezTo>
                <a:cubicBezTo>
                  <a:pt x="244172" y="98997"/>
                  <a:pt x="229049" y="122692"/>
                  <a:pt x="206700" y="134853"/>
                </a:cubicBezTo>
                <a:lnTo>
                  <a:pt x="243275" y="171428"/>
                </a:lnTo>
                <a:cubicBezTo>
                  <a:pt x="251666" y="179819"/>
                  <a:pt x="251666" y="193462"/>
                  <a:pt x="243275" y="201899"/>
                </a:cubicBezTo>
                <a:lnTo>
                  <a:pt x="216304" y="228869"/>
                </a:lnTo>
                <a:cubicBezTo>
                  <a:pt x="207912" y="237261"/>
                  <a:pt x="194270" y="237261"/>
                  <a:pt x="185833" y="228869"/>
                </a:cubicBezTo>
                <a:lnTo>
                  <a:pt x="129289" y="172325"/>
                </a:lnTo>
                <a:cubicBezTo>
                  <a:pt x="116993" y="160029"/>
                  <a:pt x="114210" y="141854"/>
                  <a:pt x="120987" y="126865"/>
                </a:cubicBezTo>
                <a:lnTo>
                  <a:pt x="80284" y="86163"/>
                </a:lnTo>
                <a:lnTo>
                  <a:pt x="58025" y="86163"/>
                </a:lnTo>
                <a:cubicBezTo>
                  <a:pt x="53223" y="86163"/>
                  <a:pt x="48736" y="83784"/>
                  <a:pt x="46088" y="79790"/>
                </a:cubicBezTo>
                <a:lnTo>
                  <a:pt x="10501" y="26432"/>
                </a:lnTo>
                <a:cubicBezTo>
                  <a:pt x="8616" y="23605"/>
                  <a:pt x="8975" y="19790"/>
                  <a:pt x="11399" y="17367"/>
                </a:cubicBezTo>
                <a:lnTo>
                  <a:pt x="31772" y="-3007"/>
                </a:lnTo>
                <a:cubicBezTo>
                  <a:pt x="34196" y="-5430"/>
                  <a:pt x="37965" y="-5789"/>
                  <a:pt x="40837" y="-3904"/>
                </a:cubicBezTo>
                <a:lnTo>
                  <a:pt x="94195" y="31638"/>
                </a:lnTo>
                <a:cubicBezTo>
                  <a:pt x="98189" y="34286"/>
                  <a:pt x="100568" y="38773"/>
                  <a:pt x="100568" y="43575"/>
                </a:cubicBezTo>
                <a:close/>
                <a:moveTo>
                  <a:pt x="96753" y="133103"/>
                </a:moveTo>
                <a:cubicBezTo>
                  <a:pt x="93926" y="149707"/>
                  <a:pt x="97830" y="167254"/>
                  <a:pt x="108601" y="181300"/>
                </a:cubicBezTo>
                <a:lnTo>
                  <a:pt x="65968" y="223888"/>
                </a:lnTo>
                <a:cubicBezTo>
                  <a:pt x="53358" y="236498"/>
                  <a:pt x="32894" y="236498"/>
                  <a:pt x="20284" y="223888"/>
                </a:cubicBezTo>
                <a:cubicBezTo>
                  <a:pt x="7674" y="211278"/>
                  <a:pt x="7674" y="190814"/>
                  <a:pt x="20284" y="178204"/>
                </a:cubicBezTo>
                <a:lnTo>
                  <a:pt x="81047" y="117441"/>
                </a:lnTo>
                <a:lnTo>
                  <a:pt x="96753" y="133148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87997" y="4325360"/>
            <a:ext cx="14682098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自动修复机制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0789" y="4830847"/>
            <a:ext cx="4905521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副本检查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0789" y="5382287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84602" y="5290380"/>
            <a:ext cx="2401063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定期扫描所有数据块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0789" y="5703960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4602" y="5612054"/>
            <a:ext cx="2171296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检查每个块的副本数量和分布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0789" y="6025634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4602" y="5933727"/>
            <a:ext cx="1367112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识别需要修复的块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29271" y="4830847"/>
            <a:ext cx="4905521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修复优先级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46503" y="5290380"/>
            <a:ext cx="4784893" cy="597394"/>
          </a:xfrm>
          <a:custGeom>
            <a:avLst/>
            <a:gdLst/>
            <a:ahLst/>
            <a:cxnLst/>
            <a:rect l="l" t="t" r="r" b="b"/>
            <a:pathLst>
              <a:path w="4784893" h="597394">
                <a:moveTo>
                  <a:pt x="34465" y="0"/>
                </a:moveTo>
                <a:lnTo>
                  <a:pt x="4738942" y="0"/>
                </a:lnTo>
                <a:cubicBezTo>
                  <a:pt x="4764320" y="0"/>
                  <a:pt x="4784893" y="20573"/>
                  <a:pt x="4784893" y="45952"/>
                </a:cubicBezTo>
                <a:lnTo>
                  <a:pt x="4784893" y="551442"/>
                </a:lnTo>
                <a:cubicBezTo>
                  <a:pt x="4784893" y="576820"/>
                  <a:pt x="4764320" y="597394"/>
                  <a:pt x="4738942" y="597394"/>
                </a:cubicBez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746503" y="5290380"/>
            <a:ext cx="34465" cy="597394"/>
          </a:xfrm>
          <a:custGeom>
            <a:avLst/>
            <a:gdLst/>
            <a:ahLst/>
            <a:cxnLst/>
            <a:rect l="l" t="t" r="r" b="b"/>
            <a:pathLst>
              <a:path w="34465" h="597394">
                <a:moveTo>
                  <a:pt x="34465" y="0"/>
                </a:moveTo>
                <a:lnTo>
                  <a:pt x="34465" y="0"/>
                </a:lnTo>
                <a:lnTo>
                  <a:pt x="34465" y="597394"/>
                </a:ln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01596" y="5382287"/>
            <a:ext cx="4572359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最高优先级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01596" y="5612054"/>
            <a:ext cx="4560871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只有 1 个副本的块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46503" y="5979681"/>
            <a:ext cx="4784893" cy="597394"/>
          </a:xfrm>
          <a:custGeom>
            <a:avLst/>
            <a:gdLst/>
            <a:ahLst/>
            <a:cxnLst/>
            <a:rect l="l" t="t" r="r" b="b"/>
            <a:pathLst>
              <a:path w="4784893" h="597394">
                <a:moveTo>
                  <a:pt x="34465" y="0"/>
                </a:moveTo>
                <a:lnTo>
                  <a:pt x="4738942" y="0"/>
                </a:lnTo>
                <a:cubicBezTo>
                  <a:pt x="4764320" y="0"/>
                  <a:pt x="4784893" y="20573"/>
                  <a:pt x="4784893" y="45952"/>
                </a:cubicBezTo>
                <a:lnTo>
                  <a:pt x="4784893" y="551442"/>
                </a:lnTo>
                <a:cubicBezTo>
                  <a:pt x="4784893" y="576820"/>
                  <a:pt x="4764320" y="597394"/>
                  <a:pt x="4738942" y="597394"/>
                </a:cubicBez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746503" y="5979681"/>
            <a:ext cx="34465" cy="597394"/>
          </a:xfrm>
          <a:custGeom>
            <a:avLst/>
            <a:gdLst/>
            <a:ahLst/>
            <a:cxnLst/>
            <a:rect l="l" t="t" r="r" b="b"/>
            <a:pathLst>
              <a:path w="34465" h="597394">
                <a:moveTo>
                  <a:pt x="34465" y="0"/>
                </a:moveTo>
                <a:lnTo>
                  <a:pt x="34465" y="0"/>
                </a:lnTo>
                <a:lnTo>
                  <a:pt x="34465" y="597394"/>
                </a:ln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901596" y="6071587"/>
            <a:ext cx="4572359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高优先级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01596" y="6301354"/>
            <a:ext cx="4560871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副本数少于配置值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46503" y="6668981"/>
            <a:ext cx="4784893" cy="597394"/>
          </a:xfrm>
          <a:custGeom>
            <a:avLst/>
            <a:gdLst/>
            <a:ahLst/>
            <a:cxnLst/>
            <a:rect l="l" t="t" r="r" b="b"/>
            <a:pathLst>
              <a:path w="4784893" h="597394">
                <a:moveTo>
                  <a:pt x="34465" y="0"/>
                </a:moveTo>
                <a:lnTo>
                  <a:pt x="4738942" y="0"/>
                </a:lnTo>
                <a:cubicBezTo>
                  <a:pt x="4764320" y="0"/>
                  <a:pt x="4784893" y="20573"/>
                  <a:pt x="4784893" y="45952"/>
                </a:cubicBezTo>
                <a:lnTo>
                  <a:pt x="4784893" y="551442"/>
                </a:lnTo>
                <a:cubicBezTo>
                  <a:pt x="4784893" y="576820"/>
                  <a:pt x="4764320" y="597394"/>
                  <a:pt x="4738942" y="597394"/>
                </a:cubicBez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746503" y="6668981"/>
            <a:ext cx="34465" cy="597394"/>
          </a:xfrm>
          <a:custGeom>
            <a:avLst/>
            <a:gdLst/>
            <a:ahLst/>
            <a:cxnLst/>
            <a:rect l="l" t="t" r="r" b="b"/>
            <a:pathLst>
              <a:path w="34465" h="597394">
                <a:moveTo>
                  <a:pt x="34465" y="0"/>
                </a:moveTo>
                <a:lnTo>
                  <a:pt x="34465" y="0"/>
                </a:lnTo>
                <a:lnTo>
                  <a:pt x="34465" y="597394"/>
                </a:lnTo>
                <a:lnTo>
                  <a:pt x="34465" y="597394"/>
                </a:lnTo>
                <a:cubicBezTo>
                  <a:pt x="15431" y="597394"/>
                  <a:pt x="0" y="581963"/>
                  <a:pt x="0" y="562929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901596" y="6760888"/>
            <a:ext cx="4572359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低优先级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01596" y="6990654"/>
            <a:ext cx="4560871" cy="18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过度复制的块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57753" y="4830847"/>
            <a:ext cx="4905521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修复执行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757753" y="5382287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941566" y="5290380"/>
            <a:ext cx="2642318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选择源 DataNode（包含有效副本）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57753" y="5703960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941566" y="5612054"/>
            <a:ext cx="2963992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选择目标 DataNode（考虑负载和拓扑）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757753" y="6025634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941566" y="5933727"/>
            <a:ext cx="1367112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执行数据复制操作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757753" y="6347307"/>
            <a:ext cx="91907" cy="91907"/>
          </a:xfrm>
          <a:custGeom>
            <a:avLst/>
            <a:gdLst/>
            <a:ahLst/>
            <a:cxnLst/>
            <a:rect l="l" t="t" r="r" b="b"/>
            <a:pathLst>
              <a:path w="91907" h="91907">
                <a:moveTo>
                  <a:pt x="45953" y="0"/>
                </a:moveTo>
                <a:lnTo>
                  <a:pt x="45953" y="0"/>
                </a:lnTo>
                <a:cubicBezTo>
                  <a:pt x="71333" y="0"/>
                  <a:pt x="91907" y="20574"/>
                  <a:pt x="91907" y="45953"/>
                </a:cubicBezTo>
                <a:lnTo>
                  <a:pt x="91907" y="45953"/>
                </a:lnTo>
                <a:cubicBezTo>
                  <a:pt x="91907" y="71333"/>
                  <a:pt x="71333" y="91907"/>
                  <a:pt x="45953" y="91907"/>
                </a:cubicBezTo>
                <a:lnTo>
                  <a:pt x="45953" y="91907"/>
                </a:lnTo>
                <a:cubicBezTo>
                  <a:pt x="20574" y="91907"/>
                  <a:pt x="0" y="71333"/>
                  <a:pt x="0" y="45953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0941566" y="6255401"/>
            <a:ext cx="1045439" cy="22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验证复制结果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65278" y="7697187"/>
            <a:ext cx="15325445" cy="976509"/>
          </a:xfrm>
          <a:custGeom>
            <a:avLst/>
            <a:gdLst/>
            <a:ahLst/>
            <a:cxnLst/>
            <a:rect l="l" t="t" r="r" b="b"/>
            <a:pathLst>
              <a:path w="15325445" h="976509">
                <a:moveTo>
                  <a:pt x="91909" y="0"/>
                </a:moveTo>
                <a:lnTo>
                  <a:pt x="15233536" y="0"/>
                </a:lnTo>
                <a:cubicBezTo>
                  <a:pt x="15284295" y="0"/>
                  <a:pt x="15325445" y="41149"/>
                  <a:pt x="15325445" y="91909"/>
                </a:cubicBezTo>
                <a:lnTo>
                  <a:pt x="15325445" y="884600"/>
                </a:lnTo>
                <a:cubicBezTo>
                  <a:pt x="15325445" y="935360"/>
                  <a:pt x="15284295" y="976509"/>
                  <a:pt x="15233536" y="976509"/>
                </a:cubicBezTo>
                <a:lnTo>
                  <a:pt x="91909" y="976509"/>
                </a:lnTo>
                <a:cubicBezTo>
                  <a:pt x="41183" y="976509"/>
                  <a:pt x="0" y="935326"/>
                  <a:pt x="0" y="884600"/>
                </a:cubicBezTo>
                <a:lnTo>
                  <a:pt x="0" y="91909"/>
                </a:lnTo>
                <a:cubicBezTo>
                  <a:pt x="0" y="41183"/>
                  <a:pt x="41183" y="0"/>
                  <a:pt x="9190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89300" y="7932698"/>
            <a:ext cx="275720" cy="275720"/>
          </a:xfrm>
          <a:custGeom>
            <a:avLst/>
            <a:gdLst/>
            <a:ahLst/>
            <a:cxnLst/>
            <a:rect l="l" t="t" r="r" b="b"/>
            <a:pathLst>
              <a:path w="275720" h="275720">
                <a:moveTo>
                  <a:pt x="258541" y="103395"/>
                </a:moveTo>
                <a:lnTo>
                  <a:pt x="262796" y="103395"/>
                </a:lnTo>
                <a:cubicBezTo>
                  <a:pt x="269958" y="103395"/>
                  <a:pt x="275720" y="97633"/>
                  <a:pt x="275720" y="90471"/>
                </a:cubicBezTo>
                <a:lnTo>
                  <a:pt x="275720" y="12924"/>
                </a:lnTo>
                <a:cubicBezTo>
                  <a:pt x="275720" y="7701"/>
                  <a:pt x="272597" y="2962"/>
                  <a:pt x="267750" y="969"/>
                </a:cubicBezTo>
                <a:cubicBezTo>
                  <a:pt x="262903" y="-1023"/>
                  <a:pt x="257357" y="108"/>
                  <a:pt x="253641" y="3770"/>
                </a:cubicBezTo>
                <a:lnTo>
                  <a:pt x="225800" y="31665"/>
                </a:lnTo>
                <a:cubicBezTo>
                  <a:pt x="201943" y="11901"/>
                  <a:pt x="171248" y="0"/>
                  <a:pt x="137860" y="0"/>
                </a:cubicBezTo>
                <a:cubicBezTo>
                  <a:pt x="68392" y="0"/>
                  <a:pt x="10932" y="51374"/>
                  <a:pt x="1400" y="118204"/>
                </a:cubicBezTo>
                <a:cubicBezTo>
                  <a:pt x="54" y="127628"/>
                  <a:pt x="6570" y="136352"/>
                  <a:pt x="15994" y="137699"/>
                </a:cubicBezTo>
                <a:cubicBezTo>
                  <a:pt x="25418" y="139045"/>
                  <a:pt x="34142" y="132475"/>
                  <a:pt x="35488" y="123105"/>
                </a:cubicBezTo>
                <a:cubicBezTo>
                  <a:pt x="42650" y="72969"/>
                  <a:pt x="85786" y="34465"/>
                  <a:pt x="137860" y="34465"/>
                </a:cubicBezTo>
                <a:cubicBezTo>
                  <a:pt x="161770" y="34465"/>
                  <a:pt x="183742" y="42543"/>
                  <a:pt x="201243" y="56167"/>
                </a:cubicBezTo>
                <a:lnTo>
                  <a:pt x="176095" y="81316"/>
                </a:lnTo>
                <a:cubicBezTo>
                  <a:pt x="172379" y="85032"/>
                  <a:pt x="171302" y="90578"/>
                  <a:pt x="173294" y="95425"/>
                </a:cubicBezTo>
                <a:cubicBezTo>
                  <a:pt x="175287" y="100272"/>
                  <a:pt x="180026" y="103395"/>
                  <a:pt x="185249" y="103395"/>
                </a:cubicBezTo>
                <a:lnTo>
                  <a:pt x="258541" y="103395"/>
                </a:lnTo>
                <a:close/>
                <a:moveTo>
                  <a:pt x="274374" y="157516"/>
                </a:moveTo>
                <a:cubicBezTo>
                  <a:pt x="275720" y="148092"/>
                  <a:pt x="269150" y="139368"/>
                  <a:pt x="259780" y="138022"/>
                </a:cubicBezTo>
                <a:cubicBezTo>
                  <a:pt x="250410" y="136675"/>
                  <a:pt x="241632" y="143245"/>
                  <a:pt x="240286" y="152615"/>
                </a:cubicBezTo>
                <a:cubicBezTo>
                  <a:pt x="233124" y="202697"/>
                  <a:pt x="189988" y="241201"/>
                  <a:pt x="137914" y="241201"/>
                </a:cubicBezTo>
                <a:cubicBezTo>
                  <a:pt x="114004" y="241201"/>
                  <a:pt x="92032" y="233124"/>
                  <a:pt x="74531" y="219499"/>
                </a:cubicBezTo>
                <a:lnTo>
                  <a:pt x="99625" y="194404"/>
                </a:lnTo>
                <a:cubicBezTo>
                  <a:pt x="103341" y="190688"/>
                  <a:pt x="104418" y="185142"/>
                  <a:pt x="102426" y="180295"/>
                </a:cubicBezTo>
                <a:cubicBezTo>
                  <a:pt x="100433" y="175448"/>
                  <a:pt x="95694" y="172325"/>
                  <a:pt x="90471" y="172325"/>
                </a:cubicBezTo>
                <a:lnTo>
                  <a:pt x="12924" y="172325"/>
                </a:lnTo>
                <a:cubicBezTo>
                  <a:pt x="5762" y="172325"/>
                  <a:pt x="0" y="178087"/>
                  <a:pt x="0" y="185249"/>
                </a:cubicBezTo>
                <a:lnTo>
                  <a:pt x="0" y="262796"/>
                </a:lnTo>
                <a:cubicBezTo>
                  <a:pt x="0" y="268019"/>
                  <a:pt x="3123" y="272758"/>
                  <a:pt x="7970" y="274751"/>
                </a:cubicBezTo>
                <a:cubicBezTo>
                  <a:pt x="12817" y="276743"/>
                  <a:pt x="18363" y="275612"/>
                  <a:pt x="22079" y="271951"/>
                </a:cubicBezTo>
                <a:lnTo>
                  <a:pt x="49974" y="244055"/>
                </a:lnTo>
                <a:cubicBezTo>
                  <a:pt x="73777" y="263819"/>
                  <a:pt x="104472" y="275720"/>
                  <a:pt x="137860" y="275720"/>
                </a:cubicBezTo>
                <a:cubicBezTo>
                  <a:pt x="207329" y="275720"/>
                  <a:pt x="264788" y="224346"/>
                  <a:pt x="274320" y="15751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83299" y="7886745"/>
            <a:ext cx="14509772" cy="59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自动化运维：</a:t>
            </a: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的副本管理与自动修复机制大大减少了人工干预的需求。系统能够自动检测副本异常，根据优先级智能调度修复任务，确保数据的可靠性和高可用性。这种自动化机制使得 HDFS 能够在数千节点的大规模集群中稳定运行。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807" y="484807"/>
            <a:ext cx="2178639" cy="395028"/>
          </a:xfrm>
          <a:custGeom>
            <a:avLst/>
            <a:gdLst/>
            <a:ahLst/>
            <a:cxnLst/>
            <a:rect l="l" t="t" r="r" b="b"/>
            <a:pathLst>
              <a:path w="2178639" h="395028">
                <a:moveTo>
                  <a:pt x="197514" y="0"/>
                </a:moveTo>
                <a:lnTo>
                  <a:pt x="1981125" y="0"/>
                </a:lnTo>
                <a:cubicBezTo>
                  <a:pt x="2090209" y="0"/>
                  <a:pt x="2178639" y="88430"/>
                  <a:pt x="2178639" y="197514"/>
                </a:cubicBezTo>
                <a:lnTo>
                  <a:pt x="2178639" y="197514"/>
                </a:lnTo>
                <a:cubicBezTo>
                  <a:pt x="2178639" y="306598"/>
                  <a:pt x="2090209" y="395028"/>
                  <a:pt x="1981125" y="395028"/>
                </a:cubicBezTo>
                <a:lnTo>
                  <a:pt x="197514" y="395028"/>
                </a:lnTo>
                <a:cubicBezTo>
                  <a:pt x="88503" y="395028"/>
                  <a:pt x="0" y="306525"/>
                  <a:pt x="0" y="197514"/>
                </a:cubicBezTo>
                <a:lnTo>
                  <a:pt x="0" y="197514"/>
                </a:lnTo>
                <a:cubicBezTo>
                  <a:pt x="0" y="88503"/>
                  <a:pt x="88503" y="0"/>
                  <a:pt x="19751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2321" y="556630"/>
            <a:ext cx="188031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kern="0" spc="15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8822" y="1029467"/>
            <a:ext cx="15585649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24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数据完整性保障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8822" y="1747700"/>
            <a:ext cx="15418062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校验和机制与数据损坏处理流程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763" y="2274404"/>
            <a:ext cx="4943835" cy="1795582"/>
          </a:xfrm>
          <a:custGeom>
            <a:avLst/>
            <a:gdLst/>
            <a:ahLst/>
            <a:cxnLst/>
            <a:rect l="l" t="t" r="r" b="b"/>
            <a:pathLst>
              <a:path w="4943835" h="1795582">
                <a:moveTo>
                  <a:pt x="47882" y="0"/>
                </a:moveTo>
                <a:lnTo>
                  <a:pt x="4848077" y="0"/>
                </a:lnTo>
                <a:cubicBezTo>
                  <a:pt x="4900963" y="0"/>
                  <a:pt x="4943835" y="42872"/>
                  <a:pt x="4943835" y="95758"/>
                </a:cubicBezTo>
                <a:lnTo>
                  <a:pt x="4943835" y="1699823"/>
                </a:lnTo>
                <a:cubicBezTo>
                  <a:pt x="4943835" y="1752709"/>
                  <a:pt x="4900963" y="1795582"/>
                  <a:pt x="4848077" y="1795582"/>
                </a:cubicBez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763" y="2274404"/>
            <a:ext cx="47882" cy="1795582"/>
          </a:xfrm>
          <a:custGeom>
            <a:avLst/>
            <a:gdLst/>
            <a:ahLst/>
            <a:cxnLst/>
            <a:rect l="l" t="t" r="r" b="b"/>
            <a:pathLst>
              <a:path w="47882" h="1795582">
                <a:moveTo>
                  <a:pt x="47882" y="0"/>
                </a:moveTo>
                <a:lnTo>
                  <a:pt x="47882" y="0"/>
                </a:lnTo>
                <a:lnTo>
                  <a:pt x="47882" y="1795582"/>
                </a:ln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8233" y="2465932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95764" y="0"/>
                </a:moveTo>
                <a:lnTo>
                  <a:pt x="383057" y="0"/>
                </a:lnTo>
                <a:cubicBezTo>
                  <a:pt x="435947" y="0"/>
                  <a:pt x="478822" y="42875"/>
                  <a:pt x="478822" y="95764"/>
                </a:cubicBezTo>
                <a:lnTo>
                  <a:pt x="478822" y="383057"/>
                </a:lnTo>
                <a:cubicBezTo>
                  <a:pt x="478822" y="435947"/>
                  <a:pt x="435947" y="478822"/>
                  <a:pt x="383057" y="478822"/>
                </a:cubicBezTo>
                <a:lnTo>
                  <a:pt x="95764" y="478822"/>
                </a:lnTo>
                <a:cubicBezTo>
                  <a:pt x="42875" y="478822"/>
                  <a:pt x="0" y="435947"/>
                  <a:pt x="0" y="383057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79835" y="2597608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26934" y="0"/>
                </a:moveTo>
                <a:cubicBezTo>
                  <a:pt x="12078" y="0"/>
                  <a:pt x="0" y="12078"/>
                  <a:pt x="0" y="26934"/>
                </a:cubicBezTo>
                <a:lnTo>
                  <a:pt x="0" y="188536"/>
                </a:lnTo>
                <a:cubicBezTo>
                  <a:pt x="0" y="203392"/>
                  <a:pt x="12078" y="215470"/>
                  <a:pt x="26934" y="215470"/>
                </a:cubicBezTo>
                <a:lnTo>
                  <a:pt x="134669" y="215470"/>
                </a:lnTo>
                <a:cubicBezTo>
                  <a:pt x="149524" y="215470"/>
                  <a:pt x="161602" y="203392"/>
                  <a:pt x="161602" y="188536"/>
                </a:cubicBezTo>
                <a:lnTo>
                  <a:pt x="161602" y="26934"/>
                </a:lnTo>
                <a:cubicBezTo>
                  <a:pt x="161602" y="12078"/>
                  <a:pt x="149524" y="0"/>
                  <a:pt x="134669" y="0"/>
                </a:cubicBezTo>
                <a:lnTo>
                  <a:pt x="26934" y="0"/>
                </a:lnTo>
                <a:close/>
                <a:moveTo>
                  <a:pt x="40401" y="26934"/>
                </a:moveTo>
                <a:lnTo>
                  <a:pt x="121202" y="26934"/>
                </a:lnTo>
                <a:cubicBezTo>
                  <a:pt x="128651" y="26934"/>
                  <a:pt x="134669" y="32952"/>
                  <a:pt x="134669" y="40401"/>
                </a:cubicBezTo>
                <a:lnTo>
                  <a:pt x="134669" y="53867"/>
                </a:lnTo>
                <a:cubicBezTo>
                  <a:pt x="134669" y="61316"/>
                  <a:pt x="128651" y="67334"/>
                  <a:pt x="121202" y="67334"/>
                </a:cubicBezTo>
                <a:lnTo>
                  <a:pt x="40401" y="67334"/>
                </a:lnTo>
                <a:cubicBezTo>
                  <a:pt x="32952" y="67334"/>
                  <a:pt x="26934" y="61316"/>
                  <a:pt x="26934" y="53867"/>
                </a:cubicBezTo>
                <a:lnTo>
                  <a:pt x="26934" y="40401"/>
                </a:lnTo>
                <a:cubicBezTo>
                  <a:pt x="26934" y="32952"/>
                  <a:pt x="32952" y="26934"/>
                  <a:pt x="40401" y="26934"/>
                </a:cubicBezTo>
                <a:close/>
                <a:moveTo>
                  <a:pt x="47134" y="97635"/>
                </a:moveTo>
                <a:cubicBezTo>
                  <a:pt x="47134" y="103209"/>
                  <a:pt x="42608" y="107735"/>
                  <a:pt x="37034" y="107735"/>
                </a:cubicBezTo>
                <a:cubicBezTo>
                  <a:pt x="31459" y="107735"/>
                  <a:pt x="26934" y="103209"/>
                  <a:pt x="26934" y="97635"/>
                </a:cubicBezTo>
                <a:cubicBezTo>
                  <a:pt x="26934" y="92060"/>
                  <a:pt x="31459" y="87535"/>
                  <a:pt x="37034" y="87535"/>
                </a:cubicBezTo>
                <a:cubicBezTo>
                  <a:pt x="42608" y="87535"/>
                  <a:pt x="47134" y="92060"/>
                  <a:pt x="47134" y="97635"/>
                </a:cubicBezTo>
                <a:close/>
                <a:moveTo>
                  <a:pt x="80801" y="107735"/>
                </a:moveTo>
                <a:cubicBezTo>
                  <a:pt x="75227" y="107735"/>
                  <a:pt x="70701" y="103209"/>
                  <a:pt x="70701" y="97635"/>
                </a:cubicBezTo>
                <a:cubicBezTo>
                  <a:pt x="70701" y="92060"/>
                  <a:pt x="75227" y="87535"/>
                  <a:pt x="80801" y="87535"/>
                </a:cubicBezTo>
                <a:cubicBezTo>
                  <a:pt x="86376" y="87535"/>
                  <a:pt x="90901" y="92060"/>
                  <a:pt x="90901" y="97635"/>
                </a:cubicBezTo>
                <a:cubicBezTo>
                  <a:pt x="90901" y="103209"/>
                  <a:pt x="86376" y="107735"/>
                  <a:pt x="80801" y="107735"/>
                </a:cubicBezTo>
                <a:close/>
                <a:moveTo>
                  <a:pt x="134669" y="97635"/>
                </a:moveTo>
                <a:cubicBezTo>
                  <a:pt x="134669" y="103209"/>
                  <a:pt x="130143" y="107735"/>
                  <a:pt x="124568" y="107735"/>
                </a:cubicBezTo>
                <a:cubicBezTo>
                  <a:pt x="118994" y="107735"/>
                  <a:pt x="114468" y="103209"/>
                  <a:pt x="114468" y="97635"/>
                </a:cubicBezTo>
                <a:cubicBezTo>
                  <a:pt x="114468" y="92060"/>
                  <a:pt x="118994" y="87535"/>
                  <a:pt x="124568" y="87535"/>
                </a:cubicBezTo>
                <a:cubicBezTo>
                  <a:pt x="130143" y="87535"/>
                  <a:pt x="134669" y="92060"/>
                  <a:pt x="134669" y="97635"/>
                </a:cubicBezTo>
                <a:close/>
                <a:moveTo>
                  <a:pt x="37034" y="148135"/>
                </a:moveTo>
                <a:cubicBezTo>
                  <a:pt x="31459" y="148135"/>
                  <a:pt x="26934" y="143610"/>
                  <a:pt x="26934" y="138035"/>
                </a:cubicBezTo>
                <a:cubicBezTo>
                  <a:pt x="26934" y="132461"/>
                  <a:pt x="31459" y="127935"/>
                  <a:pt x="37034" y="127935"/>
                </a:cubicBezTo>
                <a:cubicBezTo>
                  <a:pt x="42608" y="127935"/>
                  <a:pt x="47134" y="132461"/>
                  <a:pt x="47134" y="138035"/>
                </a:cubicBezTo>
                <a:cubicBezTo>
                  <a:pt x="47134" y="143610"/>
                  <a:pt x="42608" y="148135"/>
                  <a:pt x="37034" y="148135"/>
                </a:cubicBezTo>
                <a:close/>
                <a:moveTo>
                  <a:pt x="90901" y="138035"/>
                </a:moveTo>
                <a:cubicBezTo>
                  <a:pt x="90901" y="143610"/>
                  <a:pt x="86376" y="148135"/>
                  <a:pt x="80801" y="148135"/>
                </a:cubicBezTo>
                <a:cubicBezTo>
                  <a:pt x="75227" y="148135"/>
                  <a:pt x="70701" y="143610"/>
                  <a:pt x="70701" y="138035"/>
                </a:cubicBezTo>
                <a:cubicBezTo>
                  <a:pt x="70701" y="132461"/>
                  <a:pt x="75227" y="127935"/>
                  <a:pt x="80801" y="127935"/>
                </a:cubicBezTo>
                <a:cubicBezTo>
                  <a:pt x="86376" y="127935"/>
                  <a:pt x="90901" y="132461"/>
                  <a:pt x="90901" y="138035"/>
                </a:cubicBezTo>
                <a:close/>
                <a:moveTo>
                  <a:pt x="124568" y="148135"/>
                </a:moveTo>
                <a:cubicBezTo>
                  <a:pt x="118994" y="148135"/>
                  <a:pt x="114468" y="143610"/>
                  <a:pt x="114468" y="138035"/>
                </a:cubicBezTo>
                <a:cubicBezTo>
                  <a:pt x="114468" y="132461"/>
                  <a:pt x="118994" y="127935"/>
                  <a:pt x="124568" y="127935"/>
                </a:cubicBezTo>
                <a:cubicBezTo>
                  <a:pt x="130143" y="127935"/>
                  <a:pt x="134669" y="132461"/>
                  <a:pt x="134669" y="138035"/>
                </a:cubicBezTo>
                <a:cubicBezTo>
                  <a:pt x="134669" y="143610"/>
                  <a:pt x="130143" y="148135"/>
                  <a:pt x="124568" y="148135"/>
                </a:cubicBezTo>
                <a:close/>
                <a:moveTo>
                  <a:pt x="26934" y="178436"/>
                </a:moveTo>
                <a:cubicBezTo>
                  <a:pt x="26934" y="172839"/>
                  <a:pt x="31437" y="168336"/>
                  <a:pt x="37034" y="168336"/>
                </a:cubicBezTo>
                <a:lnTo>
                  <a:pt x="84168" y="168336"/>
                </a:lnTo>
                <a:cubicBezTo>
                  <a:pt x="89765" y="168336"/>
                  <a:pt x="94268" y="172839"/>
                  <a:pt x="94268" y="178436"/>
                </a:cubicBezTo>
                <a:cubicBezTo>
                  <a:pt x="94268" y="184033"/>
                  <a:pt x="89765" y="188536"/>
                  <a:pt x="84168" y="188536"/>
                </a:cubicBezTo>
                <a:lnTo>
                  <a:pt x="37034" y="188536"/>
                </a:lnTo>
                <a:cubicBezTo>
                  <a:pt x="31437" y="188536"/>
                  <a:pt x="26934" y="184033"/>
                  <a:pt x="26934" y="178436"/>
                </a:cubicBezTo>
                <a:close/>
                <a:moveTo>
                  <a:pt x="124568" y="168336"/>
                </a:moveTo>
                <a:cubicBezTo>
                  <a:pt x="130166" y="168336"/>
                  <a:pt x="134669" y="172839"/>
                  <a:pt x="134669" y="178436"/>
                </a:cubicBezTo>
                <a:cubicBezTo>
                  <a:pt x="134669" y="184033"/>
                  <a:pt x="130166" y="188536"/>
                  <a:pt x="124568" y="188536"/>
                </a:cubicBezTo>
                <a:cubicBezTo>
                  <a:pt x="118971" y="188536"/>
                  <a:pt x="114468" y="184033"/>
                  <a:pt x="114468" y="178436"/>
                </a:cubicBezTo>
                <a:cubicBezTo>
                  <a:pt x="114468" y="172839"/>
                  <a:pt x="118971" y="168336"/>
                  <a:pt x="124568" y="16833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88583" y="2537756"/>
            <a:ext cx="1185084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写入时计算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233" y="3040518"/>
            <a:ext cx="4620630" cy="55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客户端在写入数据时计算</a:t>
            </a:r>
            <a:r>
              <a:rPr lang="en-US" sz="132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CRC32 校验和</a:t>
            </a: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，校验和与数据一起存储在 DataNode。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8233" y="3680943"/>
            <a:ext cx="4608660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每个数据块都有对应的校验和文件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6931" y="2274404"/>
            <a:ext cx="4943835" cy="1795582"/>
          </a:xfrm>
          <a:custGeom>
            <a:avLst/>
            <a:gdLst/>
            <a:ahLst/>
            <a:cxnLst/>
            <a:rect l="l" t="t" r="r" b="b"/>
            <a:pathLst>
              <a:path w="4943835" h="1795582">
                <a:moveTo>
                  <a:pt x="47882" y="0"/>
                </a:moveTo>
                <a:lnTo>
                  <a:pt x="4848077" y="0"/>
                </a:lnTo>
                <a:cubicBezTo>
                  <a:pt x="4900963" y="0"/>
                  <a:pt x="4943835" y="42872"/>
                  <a:pt x="4943835" y="95758"/>
                </a:cubicBezTo>
                <a:lnTo>
                  <a:pt x="4943835" y="1699823"/>
                </a:lnTo>
                <a:cubicBezTo>
                  <a:pt x="4943835" y="1752709"/>
                  <a:pt x="4900963" y="1795582"/>
                  <a:pt x="4848077" y="1795582"/>
                </a:cubicBez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66931" y="2274404"/>
            <a:ext cx="47882" cy="1795582"/>
          </a:xfrm>
          <a:custGeom>
            <a:avLst/>
            <a:gdLst/>
            <a:ahLst/>
            <a:cxnLst/>
            <a:rect l="l" t="t" r="r" b="b"/>
            <a:pathLst>
              <a:path w="47882" h="1795582">
                <a:moveTo>
                  <a:pt x="47882" y="0"/>
                </a:moveTo>
                <a:lnTo>
                  <a:pt x="47882" y="0"/>
                </a:lnTo>
                <a:lnTo>
                  <a:pt x="47882" y="1795582"/>
                </a:ln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82401" y="2465932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95764" y="0"/>
                </a:moveTo>
                <a:lnTo>
                  <a:pt x="383057" y="0"/>
                </a:lnTo>
                <a:cubicBezTo>
                  <a:pt x="435947" y="0"/>
                  <a:pt x="478822" y="42875"/>
                  <a:pt x="478822" y="95764"/>
                </a:cubicBezTo>
                <a:lnTo>
                  <a:pt x="478822" y="383057"/>
                </a:lnTo>
                <a:cubicBezTo>
                  <a:pt x="478822" y="435947"/>
                  <a:pt x="435947" y="478822"/>
                  <a:pt x="383057" y="478822"/>
                </a:cubicBezTo>
                <a:lnTo>
                  <a:pt x="95764" y="478822"/>
                </a:lnTo>
                <a:cubicBezTo>
                  <a:pt x="42875" y="478822"/>
                  <a:pt x="0" y="435947"/>
                  <a:pt x="0" y="383057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017069" y="259760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07735" y="215470"/>
                </a:moveTo>
                <a:cubicBezTo>
                  <a:pt x="167195" y="215470"/>
                  <a:pt x="215470" y="167195"/>
                  <a:pt x="215470" y="107735"/>
                </a:cubicBezTo>
                <a:cubicBezTo>
                  <a:pt x="215470" y="48274"/>
                  <a:pt x="167195" y="0"/>
                  <a:pt x="107735" y="0"/>
                </a:cubicBezTo>
                <a:cubicBezTo>
                  <a:pt x="48274" y="0"/>
                  <a:pt x="0" y="48274"/>
                  <a:pt x="0" y="107735"/>
                </a:cubicBezTo>
                <a:cubicBezTo>
                  <a:pt x="0" y="167195"/>
                  <a:pt x="48274" y="215470"/>
                  <a:pt x="107735" y="215470"/>
                </a:cubicBezTo>
                <a:close/>
                <a:moveTo>
                  <a:pt x="143254" y="89513"/>
                </a:moveTo>
                <a:lnTo>
                  <a:pt x="109587" y="143380"/>
                </a:lnTo>
                <a:cubicBezTo>
                  <a:pt x="107819" y="146200"/>
                  <a:pt x="104789" y="147967"/>
                  <a:pt x="101464" y="148135"/>
                </a:cubicBezTo>
                <a:cubicBezTo>
                  <a:pt x="98140" y="148304"/>
                  <a:pt x="94941" y="146789"/>
                  <a:pt x="92963" y="144095"/>
                </a:cubicBezTo>
                <a:lnTo>
                  <a:pt x="72763" y="117162"/>
                </a:lnTo>
                <a:cubicBezTo>
                  <a:pt x="69396" y="112701"/>
                  <a:pt x="70322" y="106388"/>
                  <a:pt x="74783" y="103022"/>
                </a:cubicBezTo>
                <a:cubicBezTo>
                  <a:pt x="79244" y="99655"/>
                  <a:pt x="85557" y="100581"/>
                  <a:pt x="88923" y="105042"/>
                </a:cubicBezTo>
                <a:lnTo>
                  <a:pt x="100286" y="120192"/>
                </a:lnTo>
                <a:lnTo>
                  <a:pt x="126126" y="78823"/>
                </a:lnTo>
                <a:cubicBezTo>
                  <a:pt x="129071" y="74110"/>
                  <a:pt x="135300" y="72637"/>
                  <a:pt x="140055" y="75625"/>
                </a:cubicBezTo>
                <a:cubicBezTo>
                  <a:pt x="144811" y="78613"/>
                  <a:pt x="146242" y="84799"/>
                  <a:pt x="143254" y="89555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52751" y="2537756"/>
            <a:ext cx="1185084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读取时验证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82401" y="3040518"/>
            <a:ext cx="4620630" cy="55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在读取数据时</a:t>
            </a:r>
            <a:r>
              <a:rPr lang="en-US" sz="132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验证校验和</a:t>
            </a: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，发现校验和不匹配时报告数据损坏。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82401" y="3680943"/>
            <a:ext cx="4608660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客户端自动切换到其他副本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31099" y="2274404"/>
            <a:ext cx="4943835" cy="1795582"/>
          </a:xfrm>
          <a:custGeom>
            <a:avLst/>
            <a:gdLst/>
            <a:ahLst/>
            <a:cxnLst/>
            <a:rect l="l" t="t" r="r" b="b"/>
            <a:pathLst>
              <a:path w="4943835" h="1795582">
                <a:moveTo>
                  <a:pt x="47882" y="0"/>
                </a:moveTo>
                <a:lnTo>
                  <a:pt x="4848077" y="0"/>
                </a:lnTo>
                <a:cubicBezTo>
                  <a:pt x="4900963" y="0"/>
                  <a:pt x="4943835" y="42872"/>
                  <a:pt x="4943835" y="95758"/>
                </a:cubicBezTo>
                <a:lnTo>
                  <a:pt x="4943835" y="1699823"/>
                </a:lnTo>
                <a:cubicBezTo>
                  <a:pt x="4943835" y="1752709"/>
                  <a:pt x="4900963" y="1795582"/>
                  <a:pt x="4848077" y="1795582"/>
                </a:cubicBez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831099" y="2274404"/>
            <a:ext cx="47882" cy="1795582"/>
          </a:xfrm>
          <a:custGeom>
            <a:avLst/>
            <a:gdLst/>
            <a:ahLst/>
            <a:cxnLst/>
            <a:rect l="l" t="t" r="r" b="b"/>
            <a:pathLst>
              <a:path w="47882" h="1795582">
                <a:moveTo>
                  <a:pt x="47882" y="0"/>
                </a:moveTo>
                <a:lnTo>
                  <a:pt x="47882" y="0"/>
                </a:lnTo>
                <a:lnTo>
                  <a:pt x="47882" y="1795582"/>
                </a:lnTo>
                <a:lnTo>
                  <a:pt x="47882" y="1795582"/>
                </a:lnTo>
                <a:cubicBezTo>
                  <a:pt x="21438" y="1795582"/>
                  <a:pt x="0" y="1774144"/>
                  <a:pt x="0" y="174770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046568" y="2465932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95764" y="0"/>
                </a:moveTo>
                <a:lnTo>
                  <a:pt x="383057" y="0"/>
                </a:lnTo>
                <a:cubicBezTo>
                  <a:pt x="435947" y="0"/>
                  <a:pt x="478822" y="42875"/>
                  <a:pt x="478822" y="95764"/>
                </a:cubicBezTo>
                <a:lnTo>
                  <a:pt x="478822" y="383057"/>
                </a:lnTo>
                <a:cubicBezTo>
                  <a:pt x="478822" y="435947"/>
                  <a:pt x="435947" y="478822"/>
                  <a:pt x="383057" y="478822"/>
                </a:cubicBezTo>
                <a:lnTo>
                  <a:pt x="95764" y="478822"/>
                </a:lnTo>
                <a:cubicBezTo>
                  <a:pt x="42875" y="478822"/>
                  <a:pt x="0" y="435947"/>
                  <a:pt x="0" y="383057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1181237" y="259760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07735" y="0"/>
                </a:moveTo>
                <a:cubicBezTo>
                  <a:pt x="167195" y="0"/>
                  <a:pt x="215470" y="48274"/>
                  <a:pt x="215470" y="107735"/>
                </a:cubicBezTo>
                <a:cubicBezTo>
                  <a:pt x="215470" y="167195"/>
                  <a:pt x="167195" y="215470"/>
                  <a:pt x="107735" y="215470"/>
                </a:cubicBezTo>
                <a:cubicBezTo>
                  <a:pt x="48274" y="215470"/>
                  <a:pt x="0" y="167195"/>
                  <a:pt x="0" y="107735"/>
                </a:cubicBezTo>
                <a:cubicBezTo>
                  <a:pt x="0" y="48274"/>
                  <a:pt x="48274" y="0"/>
                  <a:pt x="107735" y="0"/>
                </a:cubicBezTo>
                <a:close/>
                <a:moveTo>
                  <a:pt x="97635" y="50501"/>
                </a:moveTo>
                <a:lnTo>
                  <a:pt x="97635" y="107735"/>
                </a:lnTo>
                <a:cubicBezTo>
                  <a:pt x="97635" y="111102"/>
                  <a:pt x="99318" y="114258"/>
                  <a:pt x="102138" y="116152"/>
                </a:cubicBezTo>
                <a:lnTo>
                  <a:pt x="142538" y="143085"/>
                </a:lnTo>
                <a:cubicBezTo>
                  <a:pt x="147168" y="146200"/>
                  <a:pt x="153438" y="144937"/>
                  <a:pt x="156552" y="140266"/>
                </a:cubicBezTo>
                <a:cubicBezTo>
                  <a:pt x="159666" y="135594"/>
                  <a:pt x="158404" y="129366"/>
                  <a:pt x="153733" y="126252"/>
                </a:cubicBezTo>
                <a:lnTo>
                  <a:pt x="117835" y="102348"/>
                </a:lnTo>
                <a:lnTo>
                  <a:pt x="117835" y="50501"/>
                </a:lnTo>
                <a:cubicBezTo>
                  <a:pt x="117835" y="44904"/>
                  <a:pt x="113332" y="40401"/>
                  <a:pt x="107735" y="40401"/>
                </a:cubicBezTo>
                <a:cubicBezTo>
                  <a:pt x="102138" y="40401"/>
                  <a:pt x="97635" y="44904"/>
                  <a:pt x="97635" y="50501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716919" y="2537756"/>
            <a:ext cx="969614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定期扫描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6568" y="3040518"/>
            <a:ext cx="4620630" cy="27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定期扫描本地数据块，</a:t>
            </a:r>
            <a:r>
              <a:rPr lang="en-US" sz="1320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验证所有数据块的完整性</a:t>
            </a: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6568" y="3408613"/>
            <a:ext cx="4608660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主动发现和报告数据损坏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807" y="4261514"/>
            <a:ext cx="7517502" cy="3172194"/>
          </a:xfrm>
          <a:custGeom>
            <a:avLst/>
            <a:gdLst/>
            <a:ahLst/>
            <a:cxnLst/>
            <a:rect l="l" t="t" r="r" b="b"/>
            <a:pathLst>
              <a:path w="7517502" h="3172194">
                <a:moveTo>
                  <a:pt x="95769" y="0"/>
                </a:moveTo>
                <a:lnTo>
                  <a:pt x="7421734" y="0"/>
                </a:lnTo>
                <a:cubicBezTo>
                  <a:pt x="7474625" y="0"/>
                  <a:pt x="7517502" y="42877"/>
                  <a:pt x="7517502" y="95769"/>
                </a:cubicBezTo>
                <a:lnTo>
                  <a:pt x="7517502" y="3076426"/>
                </a:lnTo>
                <a:cubicBezTo>
                  <a:pt x="7517502" y="3129317"/>
                  <a:pt x="7474625" y="3172194"/>
                  <a:pt x="7421734" y="3172194"/>
                </a:cubicBezTo>
                <a:lnTo>
                  <a:pt x="95769" y="3172194"/>
                </a:lnTo>
                <a:cubicBezTo>
                  <a:pt x="42877" y="3172194"/>
                  <a:pt x="0" y="3129317"/>
                  <a:pt x="0" y="3076426"/>
                </a:cubicBezTo>
                <a:lnTo>
                  <a:pt x="0" y="95769"/>
                </a:lnTo>
                <a:cubicBezTo>
                  <a:pt x="0" y="42912"/>
                  <a:pt x="42912" y="0"/>
                  <a:pt x="9576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60130" y="455479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119705" y="0"/>
                </a:moveTo>
                <a:cubicBezTo>
                  <a:pt x="126579" y="0"/>
                  <a:pt x="132892" y="3788"/>
                  <a:pt x="136165" y="9820"/>
                </a:cubicBezTo>
                <a:lnTo>
                  <a:pt x="237166" y="196859"/>
                </a:lnTo>
                <a:cubicBezTo>
                  <a:pt x="240299" y="202658"/>
                  <a:pt x="240159" y="209672"/>
                  <a:pt x="236792" y="215330"/>
                </a:cubicBezTo>
                <a:cubicBezTo>
                  <a:pt x="233426" y="220987"/>
                  <a:pt x="227300" y="224448"/>
                  <a:pt x="220707" y="224448"/>
                </a:cubicBezTo>
                <a:lnTo>
                  <a:pt x="18704" y="224448"/>
                </a:lnTo>
                <a:cubicBezTo>
                  <a:pt x="12111" y="224448"/>
                  <a:pt x="6032" y="220987"/>
                  <a:pt x="2619" y="215330"/>
                </a:cubicBezTo>
                <a:cubicBezTo>
                  <a:pt x="-795" y="209672"/>
                  <a:pt x="-888" y="202658"/>
                  <a:pt x="2244" y="196859"/>
                </a:cubicBezTo>
                <a:lnTo>
                  <a:pt x="103246" y="9820"/>
                </a:lnTo>
                <a:cubicBezTo>
                  <a:pt x="106519" y="3788"/>
                  <a:pt x="112832" y="0"/>
                  <a:pt x="119705" y="0"/>
                </a:cubicBezTo>
                <a:close/>
                <a:moveTo>
                  <a:pt x="119705" y="78557"/>
                </a:moveTo>
                <a:cubicBezTo>
                  <a:pt x="113486" y="78557"/>
                  <a:pt x="108483" y="83560"/>
                  <a:pt x="108483" y="89779"/>
                </a:cubicBezTo>
                <a:lnTo>
                  <a:pt x="108483" y="142150"/>
                </a:lnTo>
                <a:cubicBezTo>
                  <a:pt x="108483" y="148369"/>
                  <a:pt x="113486" y="153373"/>
                  <a:pt x="119705" y="153373"/>
                </a:cubicBezTo>
                <a:cubicBezTo>
                  <a:pt x="125925" y="153373"/>
                  <a:pt x="130928" y="148369"/>
                  <a:pt x="130928" y="142150"/>
                </a:cubicBezTo>
                <a:lnTo>
                  <a:pt x="130928" y="89779"/>
                </a:lnTo>
                <a:cubicBezTo>
                  <a:pt x="130928" y="83560"/>
                  <a:pt x="125925" y="78557"/>
                  <a:pt x="119705" y="78557"/>
                </a:cubicBezTo>
                <a:close/>
                <a:moveTo>
                  <a:pt x="132190" y="179558"/>
                </a:moveTo>
                <a:cubicBezTo>
                  <a:pt x="132474" y="174924"/>
                  <a:pt x="130163" y="170515"/>
                  <a:pt x="126191" y="168112"/>
                </a:cubicBezTo>
                <a:cubicBezTo>
                  <a:pt x="122218" y="165709"/>
                  <a:pt x="117240" y="165709"/>
                  <a:pt x="113267" y="168112"/>
                </a:cubicBezTo>
                <a:cubicBezTo>
                  <a:pt x="109294" y="170515"/>
                  <a:pt x="106983" y="174924"/>
                  <a:pt x="107267" y="179558"/>
                </a:cubicBezTo>
                <a:cubicBezTo>
                  <a:pt x="106983" y="184192"/>
                  <a:pt x="109294" y="188601"/>
                  <a:pt x="113267" y="191005"/>
                </a:cubicBezTo>
                <a:cubicBezTo>
                  <a:pt x="117240" y="193408"/>
                  <a:pt x="122218" y="193408"/>
                  <a:pt x="126191" y="191005"/>
                </a:cubicBezTo>
                <a:cubicBezTo>
                  <a:pt x="130163" y="188601"/>
                  <a:pt x="132474" y="184192"/>
                  <a:pt x="132190" y="17955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29467" y="4506910"/>
            <a:ext cx="6847152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数据损坏处理流程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4110" y="4991717"/>
            <a:ext cx="658380" cy="658380"/>
          </a:xfrm>
          <a:custGeom>
            <a:avLst/>
            <a:gdLst/>
            <a:ahLst/>
            <a:cxnLst/>
            <a:rect l="l" t="t" r="r" b="b"/>
            <a:pathLst>
              <a:path w="658380" h="658380">
                <a:moveTo>
                  <a:pt x="95761" y="0"/>
                </a:moveTo>
                <a:lnTo>
                  <a:pt x="562619" y="0"/>
                </a:lnTo>
                <a:cubicBezTo>
                  <a:pt x="615471" y="0"/>
                  <a:pt x="658380" y="42909"/>
                  <a:pt x="658380" y="95761"/>
                </a:cubicBezTo>
                <a:lnTo>
                  <a:pt x="658380" y="562619"/>
                </a:lnTo>
                <a:cubicBezTo>
                  <a:pt x="658380" y="615506"/>
                  <a:pt x="615506" y="658380"/>
                  <a:pt x="562619" y="658380"/>
                </a:cubicBezTo>
                <a:lnTo>
                  <a:pt x="95761" y="658380"/>
                </a:lnTo>
                <a:cubicBezTo>
                  <a:pt x="42909" y="658380"/>
                  <a:pt x="0" y="615471"/>
                  <a:pt x="0" y="562619"/>
                </a:cubicBezTo>
                <a:lnTo>
                  <a:pt x="0" y="95761"/>
                </a:lnTo>
                <a:cubicBezTo>
                  <a:pt x="0" y="42874"/>
                  <a:pt x="42874" y="0"/>
                  <a:pt x="95761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93594" y="520120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194521" y="97261"/>
                </a:moveTo>
                <a:cubicBezTo>
                  <a:pt x="194521" y="118723"/>
                  <a:pt x="187554" y="138550"/>
                  <a:pt x="175817" y="154635"/>
                </a:cubicBezTo>
                <a:lnTo>
                  <a:pt x="235015" y="213880"/>
                </a:lnTo>
                <a:cubicBezTo>
                  <a:pt x="240860" y="219725"/>
                  <a:pt x="240860" y="229217"/>
                  <a:pt x="235015" y="235062"/>
                </a:cubicBezTo>
                <a:cubicBezTo>
                  <a:pt x="229170" y="240907"/>
                  <a:pt x="219678" y="240907"/>
                  <a:pt x="213833" y="235062"/>
                </a:cubicBezTo>
                <a:lnTo>
                  <a:pt x="154635" y="175817"/>
                </a:lnTo>
                <a:cubicBezTo>
                  <a:pt x="138550" y="187554"/>
                  <a:pt x="118723" y="194521"/>
                  <a:pt x="97261" y="194521"/>
                </a:cubicBezTo>
                <a:cubicBezTo>
                  <a:pt x="43534" y="194521"/>
                  <a:pt x="0" y="150988"/>
                  <a:pt x="0" y="97261"/>
                </a:cubicBezTo>
                <a:cubicBezTo>
                  <a:pt x="0" y="43534"/>
                  <a:pt x="43534" y="0"/>
                  <a:pt x="97261" y="0"/>
                </a:cubicBezTo>
                <a:cubicBezTo>
                  <a:pt x="150988" y="0"/>
                  <a:pt x="194521" y="43534"/>
                  <a:pt x="194521" y="97261"/>
                </a:cubicBezTo>
                <a:close/>
                <a:moveTo>
                  <a:pt x="97261" y="164595"/>
                </a:moveTo>
                <a:cubicBezTo>
                  <a:pt x="134423" y="164595"/>
                  <a:pt x="164595" y="134423"/>
                  <a:pt x="164595" y="97261"/>
                </a:cubicBezTo>
                <a:cubicBezTo>
                  <a:pt x="164595" y="60098"/>
                  <a:pt x="134423" y="29926"/>
                  <a:pt x="97261" y="29926"/>
                </a:cubicBezTo>
                <a:cubicBezTo>
                  <a:pt x="60098" y="29926"/>
                  <a:pt x="29926" y="60098"/>
                  <a:pt x="29926" y="97261"/>
                </a:cubicBezTo>
                <a:cubicBezTo>
                  <a:pt x="29926" y="134423"/>
                  <a:pt x="60098" y="164595"/>
                  <a:pt x="97261" y="164595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8306" y="5751847"/>
            <a:ext cx="124493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损坏检测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926323" y="5368789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35015" y="130273"/>
                </a:moveTo>
                <a:cubicBezTo>
                  <a:pt x="240860" y="124428"/>
                  <a:pt x="240860" y="114936"/>
                  <a:pt x="235015" y="109091"/>
                </a:cubicBezTo>
                <a:lnTo>
                  <a:pt x="160200" y="34275"/>
                </a:lnTo>
                <a:cubicBezTo>
                  <a:pt x="154355" y="28430"/>
                  <a:pt x="144862" y="28430"/>
                  <a:pt x="139017" y="34275"/>
                </a:cubicBezTo>
                <a:cubicBezTo>
                  <a:pt x="133172" y="40120"/>
                  <a:pt x="133172" y="49612"/>
                  <a:pt x="139017" y="55457"/>
                </a:cubicBezTo>
                <a:lnTo>
                  <a:pt x="188302" y="104742"/>
                </a:lnTo>
                <a:lnTo>
                  <a:pt x="14963" y="104742"/>
                </a:lnTo>
                <a:cubicBezTo>
                  <a:pt x="6687" y="104742"/>
                  <a:pt x="0" y="111429"/>
                  <a:pt x="0" y="119705"/>
                </a:cubicBezTo>
                <a:cubicBezTo>
                  <a:pt x="0" y="127982"/>
                  <a:pt x="6687" y="134669"/>
                  <a:pt x="14963" y="134669"/>
                </a:cubicBezTo>
                <a:lnTo>
                  <a:pt x="188302" y="134669"/>
                </a:lnTo>
                <a:lnTo>
                  <a:pt x="139017" y="183954"/>
                </a:lnTo>
                <a:cubicBezTo>
                  <a:pt x="133172" y="189799"/>
                  <a:pt x="133172" y="199291"/>
                  <a:pt x="139017" y="205136"/>
                </a:cubicBezTo>
                <a:cubicBezTo>
                  <a:pt x="144862" y="210981"/>
                  <a:pt x="154355" y="210981"/>
                  <a:pt x="160200" y="205136"/>
                </a:cubicBezTo>
                <a:lnTo>
                  <a:pt x="235015" y="130320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449566" y="4991717"/>
            <a:ext cx="658380" cy="658380"/>
          </a:xfrm>
          <a:custGeom>
            <a:avLst/>
            <a:gdLst/>
            <a:ahLst/>
            <a:cxnLst/>
            <a:rect l="l" t="t" r="r" b="b"/>
            <a:pathLst>
              <a:path w="658380" h="658380">
                <a:moveTo>
                  <a:pt x="95761" y="0"/>
                </a:moveTo>
                <a:lnTo>
                  <a:pt x="562619" y="0"/>
                </a:lnTo>
                <a:cubicBezTo>
                  <a:pt x="615471" y="0"/>
                  <a:pt x="658380" y="42909"/>
                  <a:pt x="658380" y="95761"/>
                </a:cubicBezTo>
                <a:lnTo>
                  <a:pt x="658380" y="562619"/>
                </a:lnTo>
                <a:cubicBezTo>
                  <a:pt x="658380" y="615506"/>
                  <a:pt x="615506" y="658380"/>
                  <a:pt x="562619" y="658380"/>
                </a:cubicBezTo>
                <a:lnTo>
                  <a:pt x="95761" y="658380"/>
                </a:lnTo>
                <a:cubicBezTo>
                  <a:pt x="42909" y="658380"/>
                  <a:pt x="0" y="615471"/>
                  <a:pt x="0" y="562619"/>
                </a:cubicBezTo>
                <a:lnTo>
                  <a:pt x="0" y="95761"/>
                </a:lnTo>
                <a:cubicBezTo>
                  <a:pt x="0" y="42874"/>
                  <a:pt x="42874" y="0"/>
                  <a:pt x="95761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659051" y="520120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15197" y="44890"/>
                </a:moveTo>
                <a:lnTo>
                  <a:pt x="15197" y="114796"/>
                </a:lnTo>
                <a:cubicBezTo>
                  <a:pt x="15197" y="122745"/>
                  <a:pt x="18330" y="130367"/>
                  <a:pt x="23941" y="135978"/>
                </a:cubicBezTo>
                <a:lnTo>
                  <a:pt x="113720" y="225757"/>
                </a:lnTo>
                <a:cubicBezTo>
                  <a:pt x="125410" y="237447"/>
                  <a:pt x="144348" y="237447"/>
                  <a:pt x="156038" y="225757"/>
                </a:cubicBezTo>
                <a:lnTo>
                  <a:pt x="225944" y="155851"/>
                </a:lnTo>
                <a:cubicBezTo>
                  <a:pt x="237634" y="144161"/>
                  <a:pt x="237634" y="125223"/>
                  <a:pt x="225944" y="113533"/>
                </a:cubicBezTo>
                <a:lnTo>
                  <a:pt x="136165" y="23754"/>
                </a:lnTo>
                <a:cubicBezTo>
                  <a:pt x="130554" y="18096"/>
                  <a:pt x="122979" y="14963"/>
                  <a:pt x="115029" y="14963"/>
                </a:cubicBezTo>
                <a:lnTo>
                  <a:pt x="45123" y="14963"/>
                </a:lnTo>
                <a:cubicBezTo>
                  <a:pt x="28617" y="14963"/>
                  <a:pt x="15197" y="28383"/>
                  <a:pt x="15197" y="44890"/>
                </a:cubicBezTo>
                <a:close/>
                <a:moveTo>
                  <a:pt x="67568" y="52371"/>
                </a:moveTo>
                <a:cubicBezTo>
                  <a:pt x="75827" y="52371"/>
                  <a:pt x="82531" y="59076"/>
                  <a:pt x="82531" y="67334"/>
                </a:cubicBezTo>
                <a:cubicBezTo>
                  <a:pt x="82531" y="75593"/>
                  <a:pt x="75827" y="82297"/>
                  <a:pt x="67568" y="82297"/>
                </a:cubicBezTo>
                <a:cubicBezTo>
                  <a:pt x="59310" y="82297"/>
                  <a:pt x="52605" y="75593"/>
                  <a:pt x="52605" y="67334"/>
                </a:cubicBezTo>
                <a:cubicBezTo>
                  <a:pt x="52605" y="59076"/>
                  <a:pt x="59310" y="52371"/>
                  <a:pt x="67568" y="52371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153763" y="5751847"/>
            <a:ext cx="124493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标记损坏块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91779" y="5368789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35015" y="130273"/>
                </a:moveTo>
                <a:cubicBezTo>
                  <a:pt x="240860" y="124428"/>
                  <a:pt x="240860" y="114936"/>
                  <a:pt x="235015" y="109091"/>
                </a:cubicBezTo>
                <a:lnTo>
                  <a:pt x="160200" y="34275"/>
                </a:lnTo>
                <a:cubicBezTo>
                  <a:pt x="154355" y="28430"/>
                  <a:pt x="144862" y="28430"/>
                  <a:pt x="139017" y="34275"/>
                </a:cubicBezTo>
                <a:cubicBezTo>
                  <a:pt x="133172" y="40120"/>
                  <a:pt x="133172" y="49612"/>
                  <a:pt x="139017" y="55457"/>
                </a:cubicBezTo>
                <a:lnTo>
                  <a:pt x="188302" y="104742"/>
                </a:lnTo>
                <a:lnTo>
                  <a:pt x="14963" y="104742"/>
                </a:lnTo>
                <a:cubicBezTo>
                  <a:pt x="6687" y="104742"/>
                  <a:pt x="0" y="111429"/>
                  <a:pt x="0" y="119705"/>
                </a:cubicBezTo>
                <a:cubicBezTo>
                  <a:pt x="0" y="127982"/>
                  <a:pt x="6687" y="134669"/>
                  <a:pt x="14963" y="134669"/>
                </a:cubicBezTo>
                <a:lnTo>
                  <a:pt x="188302" y="134669"/>
                </a:lnTo>
                <a:lnTo>
                  <a:pt x="139017" y="183954"/>
                </a:lnTo>
                <a:cubicBezTo>
                  <a:pt x="133172" y="189799"/>
                  <a:pt x="133172" y="199291"/>
                  <a:pt x="139017" y="205136"/>
                </a:cubicBezTo>
                <a:cubicBezTo>
                  <a:pt x="144862" y="210981"/>
                  <a:pt x="154355" y="210981"/>
                  <a:pt x="160200" y="205136"/>
                </a:cubicBezTo>
                <a:lnTo>
                  <a:pt x="235015" y="130320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915023" y="4991717"/>
            <a:ext cx="658380" cy="658380"/>
          </a:xfrm>
          <a:custGeom>
            <a:avLst/>
            <a:gdLst/>
            <a:ahLst/>
            <a:cxnLst/>
            <a:rect l="l" t="t" r="r" b="b"/>
            <a:pathLst>
              <a:path w="658380" h="658380">
                <a:moveTo>
                  <a:pt x="95761" y="0"/>
                </a:moveTo>
                <a:lnTo>
                  <a:pt x="562619" y="0"/>
                </a:lnTo>
                <a:cubicBezTo>
                  <a:pt x="615471" y="0"/>
                  <a:pt x="658380" y="42909"/>
                  <a:pt x="658380" y="95761"/>
                </a:cubicBezTo>
                <a:lnTo>
                  <a:pt x="658380" y="562619"/>
                </a:lnTo>
                <a:cubicBezTo>
                  <a:pt x="658380" y="615506"/>
                  <a:pt x="615506" y="658380"/>
                  <a:pt x="562619" y="658380"/>
                </a:cubicBezTo>
                <a:lnTo>
                  <a:pt x="95761" y="658380"/>
                </a:lnTo>
                <a:cubicBezTo>
                  <a:pt x="42909" y="658380"/>
                  <a:pt x="0" y="615471"/>
                  <a:pt x="0" y="562619"/>
                </a:cubicBezTo>
                <a:lnTo>
                  <a:pt x="0" y="95761"/>
                </a:lnTo>
                <a:cubicBezTo>
                  <a:pt x="0" y="42874"/>
                  <a:pt x="42874" y="0"/>
                  <a:pt x="95761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124507" y="520120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04201" y="34930"/>
                </a:moveTo>
                <a:lnTo>
                  <a:pt x="209485" y="39933"/>
                </a:lnTo>
                <a:lnTo>
                  <a:pt x="209485" y="14963"/>
                </a:lnTo>
                <a:cubicBezTo>
                  <a:pt x="209485" y="6687"/>
                  <a:pt x="216171" y="0"/>
                  <a:pt x="224448" y="0"/>
                </a:cubicBezTo>
                <a:cubicBezTo>
                  <a:pt x="232724" y="0"/>
                  <a:pt x="239411" y="6687"/>
                  <a:pt x="239411" y="14963"/>
                </a:cubicBezTo>
                <a:lnTo>
                  <a:pt x="239411" y="74816"/>
                </a:lnTo>
                <a:cubicBezTo>
                  <a:pt x="239411" y="83092"/>
                  <a:pt x="232724" y="89779"/>
                  <a:pt x="224448" y="89779"/>
                </a:cubicBezTo>
                <a:lnTo>
                  <a:pt x="164595" y="89779"/>
                </a:lnTo>
                <a:cubicBezTo>
                  <a:pt x="156318" y="89779"/>
                  <a:pt x="149632" y="83092"/>
                  <a:pt x="149632" y="74816"/>
                </a:cubicBezTo>
                <a:cubicBezTo>
                  <a:pt x="149632" y="66539"/>
                  <a:pt x="156318" y="59853"/>
                  <a:pt x="164595" y="59853"/>
                </a:cubicBezTo>
                <a:lnTo>
                  <a:pt x="186993" y="59853"/>
                </a:lnTo>
                <a:lnTo>
                  <a:pt x="183439" y="56486"/>
                </a:lnTo>
                <a:cubicBezTo>
                  <a:pt x="183346" y="56392"/>
                  <a:pt x="183252" y="56299"/>
                  <a:pt x="183159" y="56205"/>
                </a:cubicBezTo>
                <a:cubicBezTo>
                  <a:pt x="148089" y="21135"/>
                  <a:pt x="91275" y="21135"/>
                  <a:pt x="56205" y="56205"/>
                </a:cubicBezTo>
                <a:cubicBezTo>
                  <a:pt x="21135" y="91275"/>
                  <a:pt x="21135" y="148089"/>
                  <a:pt x="56205" y="183159"/>
                </a:cubicBezTo>
                <a:cubicBezTo>
                  <a:pt x="91275" y="218229"/>
                  <a:pt x="148089" y="218229"/>
                  <a:pt x="183159" y="183159"/>
                </a:cubicBezTo>
                <a:cubicBezTo>
                  <a:pt x="186993" y="179324"/>
                  <a:pt x="190406" y="175256"/>
                  <a:pt x="193399" y="170954"/>
                </a:cubicBezTo>
                <a:cubicBezTo>
                  <a:pt x="198122" y="164174"/>
                  <a:pt x="207474" y="162538"/>
                  <a:pt x="214254" y="167260"/>
                </a:cubicBezTo>
                <a:cubicBezTo>
                  <a:pt x="221034" y="171983"/>
                  <a:pt x="222671" y="181335"/>
                  <a:pt x="217948" y="188115"/>
                </a:cubicBezTo>
                <a:cubicBezTo>
                  <a:pt x="213973" y="193820"/>
                  <a:pt x="209438" y="199244"/>
                  <a:pt x="204341" y="204341"/>
                </a:cubicBezTo>
                <a:cubicBezTo>
                  <a:pt x="157581" y="251101"/>
                  <a:pt x="81783" y="251101"/>
                  <a:pt x="35070" y="204341"/>
                </a:cubicBezTo>
                <a:cubicBezTo>
                  <a:pt x="-11643" y="157581"/>
                  <a:pt x="-11690" y="81830"/>
                  <a:pt x="35070" y="35070"/>
                </a:cubicBezTo>
                <a:cubicBezTo>
                  <a:pt x="81783" y="-11643"/>
                  <a:pt x="157441" y="-11690"/>
                  <a:pt x="204201" y="3493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619219" y="5751847"/>
            <a:ext cx="124493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从副本恢复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57236" y="5368789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35015" y="130273"/>
                </a:moveTo>
                <a:cubicBezTo>
                  <a:pt x="240860" y="124428"/>
                  <a:pt x="240860" y="114936"/>
                  <a:pt x="235015" y="109091"/>
                </a:cubicBezTo>
                <a:lnTo>
                  <a:pt x="160200" y="34275"/>
                </a:lnTo>
                <a:cubicBezTo>
                  <a:pt x="154355" y="28430"/>
                  <a:pt x="144862" y="28430"/>
                  <a:pt x="139017" y="34275"/>
                </a:cubicBezTo>
                <a:cubicBezTo>
                  <a:pt x="133172" y="40120"/>
                  <a:pt x="133172" y="49612"/>
                  <a:pt x="139017" y="55457"/>
                </a:cubicBezTo>
                <a:lnTo>
                  <a:pt x="188302" y="104742"/>
                </a:lnTo>
                <a:lnTo>
                  <a:pt x="14963" y="104742"/>
                </a:lnTo>
                <a:cubicBezTo>
                  <a:pt x="6687" y="104742"/>
                  <a:pt x="0" y="111429"/>
                  <a:pt x="0" y="119705"/>
                </a:cubicBezTo>
                <a:cubicBezTo>
                  <a:pt x="0" y="127982"/>
                  <a:pt x="6687" y="134669"/>
                  <a:pt x="14963" y="134669"/>
                </a:cubicBezTo>
                <a:lnTo>
                  <a:pt x="188302" y="134669"/>
                </a:lnTo>
                <a:lnTo>
                  <a:pt x="139017" y="183954"/>
                </a:lnTo>
                <a:cubicBezTo>
                  <a:pt x="133172" y="189799"/>
                  <a:pt x="133172" y="199291"/>
                  <a:pt x="139017" y="205136"/>
                </a:cubicBezTo>
                <a:cubicBezTo>
                  <a:pt x="144862" y="210981"/>
                  <a:pt x="154355" y="210981"/>
                  <a:pt x="160200" y="205136"/>
                </a:cubicBezTo>
                <a:lnTo>
                  <a:pt x="235015" y="130320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380479" y="4991717"/>
            <a:ext cx="658380" cy="658380"/>
          </a:xfrm>
          <a:custGeom>
            <a:avLst/>
            <a:gdLst/>
            <a:ahLst/>
            <a:cxnLst/>
            <a:rect l="l" t="t" r="r" b="b"/>
            <a:pathLst>
              <a:path w="658380" h="658380">
                <a:moveTo>
                  <a:pt x="95761" y="0"/>
                </a:moveTo>
                <a:lnTo>
                  <a:pt x="562619" y="0"/>
                </a:lnTo>
                <a:cubicBezTo>
                  <a:pt x="615471" y="0"/>
                  <a:pt x="658380" y="42909"/>
                  <a:pt x="658380" y="95761"/>
                </a:cubicBezTo>
                <a:lnTo>
                  <a:pt x="658380" y="562619"/>
                </a:lnTo>
                <a:cubicBezTo>
                  <a:pt x="658380" y="615506"/>
                  <a:pt x="615506" y="658380"/>
                  <a:pt x="562619" y="658380"/>
                </a:cubicBezTo>
                <a:lnTo>
                  <a:pt x="95761" y="658380"/>
                </a:lnTo>
                <a:cubicBezTo>
                  <a:pt x="42909" y="658380"/>
                  <a:pt x="0" y="615471"/>
                  <a:pt x="0" y="562619"/>
                </a:cubicBezTo>
                <a:lnTo>
                  <a:pt x="0" y="95761"/>
                </a:lnTo>
                <a:cubicBezTo>
                  <a:pt x="0" y="42874"/>
                  <a:pt x="42874" y="0"/>
                  <a:pt x="95761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604927" y="5201202"/>
            <a:ext cx="209485" cy="239411"/>
          </a:xfrm>
          <a:custGeom>
            <a:avLst/>
            <a:gdLst/>
            <a:ahLst/>
            <a:cxnLst/>
            <a:rect l="l" t="t" r="r" b="b"/>
            <a:pathLst>
              <a:path w="209485" h="239411">
                <a:moveTo>
                  <a:pt x="63921" y="2759"/>
                </a:moveTo>
                <a:lnTo>
                  <a:pt x="59853" y="14963"/>
                </a:lnTo>
                <a:lnTo>
                  <a:pt x="14963" y="14963"/>
                </a:lnTo>
                <a:cubicBezTo>
                  <a:pt x="6687" y="14963"/>
                  <a:pt x="0" y="21650"/>
                  <a:pt x="0" y="29926"/>
                </a:cubicBezTo>
                <a:cubicBezTo>
                  <a:pt x="0" y="38203"/>
                  <a:pt x="6687" y="44890"/>
                  <a:pt x="14963" y="44890"/>
                </a:cubicBezTo>
                <a:lnTo>
                  <a:pt x="194521" y="44890"/>
                </a:lnTo>
                <a:cubicBezTo>
                  <a:pt x="202798" y="44890"/>
                  <a:pt x="209485" y="38203"/>
                  <a:pt x="209485" y="29926"/>
                </a:cubicBezTo>
                <a:cubicBezTo>
                  <a:pt x="209485" y="21650"/>
                  <a:pt x="202798" y="14963"/>
                  <a:pt x="194521" y="14963"/>
                </a:cubicBezTo>
                <a:lnTo>
                  <a:pt x="149632" y="14963"/>
                </a:lnTo>
                <a:lnTo>
                  <a:pt x="145564" y="2759"/>
                </a:lnTo>
                <a:cubicBezTo>
                  <a:pt x="143506" y="-3367"/>
                  <a:pt x="137802" y="-7482"/>
                  <a:pt x="131349" y="-7482"/>
                </a:cubicBezTo>
                <a:lnTo>
                  <a:pt x="78136" y="-7482"/>
                </a:lnTo>
                <a:cubicBezTo>
                  <a:pt x="71683" y="-7482"/>
                  <a:pt x="65978" y="-3367"/>
                  <a:pt x="63921" y="2759"/>
                </a:cubicBezTo>
                <a:close/>
                <a:moveTo>
                  <a:pt x="194521" y="67334"/>
                </a:moveTo>
                <a:lnTo>
                  <a:pt x="14963" y="67334"/>
                </a:lnTo>
                <a:lnTo>
                  <a:pt x="24830" y="218416"/>
                </a:lnTo>
                <a:cubicBezTo>
                  <a:pt x="25578" y="230246"/>
                  <a:pt x="35397" y="239411"/>
                  <a:pt x="47228" y="239411"/>
                </a:cubicBezTo>
                <a:lnTo>
                  <a:pt x="162257" y="239411"/>
                </a:lnTo>
                <a:cubicBezTo>
                  <a:pt x="174087" y="239411"/>
                  <a:pt x="183907" y="230246"/>
                  <a:pt x="184655" y="218416"/>
                </a:cubicBezTo>
                <a:lnTo>
                  <a:pt x="194521" y="67334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084676" y="5751847"/>
            <a:ext cx="124493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删除损坏副本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2692" y="5368789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35015" y="130273"/>
                </a:moveTo>
                <a:cubicBezTo>
                  <a:pt x="240860" y="124428"/>
                  <a:pt x="240860" y="114936"/>
                  <a:pt x="235015" y="109091"/>
                </a:cubicBezTo>
                <a:lnTo>
                  <a:pt x="160200" y="34275"/>
                </a:lnTo>
                <a:cubicBezTo>
                  <a:pt x="154355" y="28430"/>
                  <a:pt x="144862" y="28430"/>
                  <a:pt x="139017" y="34275"/>
                </a:cubicBezTo>
                <a:cubicBezTo>
                  <a:pt x="133172" y="40120"/>
                  <a:pt x="133172" y="49612"/>
                  <a:pt x="139017" y="55457"/>
                </a:cubicBezTo>
                <a:lnTo>
                  <a:pt x="188302" y="104742"/>
                </a:lnTo>
                <a:lnTo>
                  <a:pt x="14963" y="104742"/>
                </a:lnTo>
                <a:cubicBezTo>
                  <a:pt x="6687" y="104742"/>
                  <a:pt x="0" y="111429"/>
                  <a:pt x="0" y="119705"/>
                </a:cubicBezTo>
                <a:cubicBezTo>
                  <a:pt x="0" y="127982"/>
                  <a:pt x="6687" y="134669"/>
                  <a:pt x="14963" y="134669"/>
                </a:cubicBezTo>
                <a:lnTo>
                  <a:pt x="188302" y="134669"/>
                </a:lnTo>
                <a:lnTo>
                  <a:pt x="139017" y="183954"/>
                </a:lnTo>
                <a:cubicBezTo>
                  <a:pt x="133172" y="189799"/>
                  <a:pt x="133172" y="199291"/>
                  <a:pt x="139017" y="205136"/>
                </a:cubicBezTo>
                <a:cubicBezTo>
                  <a:pt x="144862" y="210981"/>
                  <a:pt x="154355" y="210981"/>
                  <a:pt x="160200" y="205136"/>
                </a:cubicBezTo>
                <a:lnTo>
                  <a:pt x="235015" y="130320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845936" y="4991717"/>
            <a:ext cx="658380" cy="658380"/>
          </a:xfrm>
          <a:custGeom>
            <a:avLst/>
            <a:gdLst/>
            <a:ahLst/>
            <a:cxnLst/>
            <a:rect l="l" t="t" r="r" b="b"/>
            <a:pathLst>
              <a:path w="658380" h="658380">
                <a:moveTo>
                  <a:pt x="95761" y="0"/>
                </a:moveTo>
                <a:lnTo>
                  <a:pt x="562619" y="0"/>
                </a:lnTo>
                <a:cubicBezTo>
                  <a:pt x="615471" y="0"/>
                  <a:pt x="658380" y="42909"/>
                  <a:pt x="658380" y="95761"/>
                </a:cubicBezTo>
                <a:lnTo>
                  <a:pt x="658380" y="562619"/>
                </a:lnTo>
                <a:cubicBezTo>
                  <a:pt x="658380" y="615506"/>
                  <a:pt x="615506" y="658380"/>
                  <a:pt x="562619" y="658380"/>
                </a:cubicBezTo>
                <a:lnTo>
                  <a:pt x="95761" y="658380"/>
                </a:lnTo>
                <a:cubicBezTo>
                  <a:pt x="42909" y="658380"/>
                  <a:pt x="0" y="615471"/>
                  <a:pt x="0" y="562619"/>
                </a:cubicBezTo>
                <a:lnTo>
                  <a:pt x="0" y="95761"/>
                </a:lnTo>
                <a:cubicBezTo>
                  <a:pt x="0" y="42874"/>
                  <a:pt x="42874" y="0"/>
                  <a:pt x="95761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055420" y="520120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119705" y="239411"/>
                </a:moveTo>
                <a:cubicBezTo>
                  <a:pt x="185773" y="239411"/>
                  <a:pt x="239411" y="185773"/>
                  <a:pt x="239411" y="119705"/>
                </a:cubicBezTo>
                <a:cubicBezTo>
                  <a:pt x="239411" y="53638"/>
                  <a:pt x="185773" y="0"/>
                  <a:pt x="119705" y="0"/>
                </a:cubicBezTo>
                <a:cubicBezTo>
                  <a:pt x="53638" y="0"/>
                  <a:pt x="0" y="53638"/>
                  <a:pt x="0" y="119705"/>
                </a:cubicBezTo>
                <a:cubicBezTo>
                  <a:pt x="0" y="185773"/>
                  <a:pt x="53638" y="239411"/>
                  <a:pt x="119705" y="239411"/>
                </a:cubicBezTo>
                <a:close/>
                <a:moveTo>
                  <a:pt x="108483" y="160854"/>
                </a:moveTo>
                <a:lnTo>
                  <a:pt x="108483" y="130928"/>
                </a:lnTo>
                <a:lnTo>
                  <a:pt x="78557" y="130928"/>
                </a:lnTo>
                <a:cubicBezTo>
                  <a:pt x="72338" y="130928"/>
                  <a:pt x="67334" y="125925"/>
                  <a:pt x="67334" y="119705"/>
                </a:cubicBezTo>
                <a:cubicBezTo>
                  <a:pt x="67334" y="113486"/>
                  <a:pt x="72338" y="108483"/>
                  <a:pt x="78557" y="108483"/>
                </a:cubicBezTo>
                <a:lnTo>
                  <a:pt x="108483" y="108483"/>
                </a:lnTo>
                <a:lnTo>
                  <a:pt x="108483" y="78557"/>
                </a:lnTo>
                <a:cubicBezTo>
                  <a:pt x="108483" y="72338"/>
                  <a:pt x="113486" y="67334"/>
                  <a:pt x="119705" y="67334"/>
                </a:cubicBezTo>
                <a:cubicBezTo>
                  <a:pt x="125925" y="67334"/>
                  <a:pt x="130928" y="72338"/>
                  <a:pt x="130928" y="78557"/>
                </a:cubicBezTo>
                <a:lnTo>
                  <a:pt x="130928" y="108483"/>
                </a:lnTo>
                <a:lnTo>
                  <a:pt x="160854" y="108483"/>
                </a:lnTo>
                <a:cubicBezTo>
                  <a:pt x="167073" y="108483"/>
                  <a:pt x="172077" y="113486"/>
                  <a:pt x="172077" y="119705"/>
                </a:cubicBezTo>
                <a:cubicBezTo>
                  <a:pt x="172077" y="125925"/>
                  <a:pt x="167073" y="130928"/>
                  <a:pt x="160854" y="130928"/>
                </a:cubicBezTo>
                <a:lnTo>
                  <a:pt x="130928" y="130928"/>
                </a:lnTo>
                <a:lnTo>
                  <a:pt x="130928" y="160854"/>
                </a:lnTo>
                <a:cubicBezTo>
                  <a:pt x="130928" y="167073"/>
                  <a:pt x="125925" y="172077"/>
                  <a:pt x="119705" y="172077"/>
                </a:cubicBezTo>
                <a:cubicBezTo>
                  <a:pt x="113486" y="172077"/>
                  <a:pt x="108483" y="167073"/>
                  <a:pt x="108483" y="160854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550133" y="5751847"/>
            <a:ext cx="124493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创建新副本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6189" y="6140890"/>
            <a:ext cx="7014739" cy="442910"/>
          </a:xfrm>
          <a:custGeom>
            <a:avLst/>
            <a:gdLst/>
            <a:ahLst/>
            <a:cxnLst/>
            <a:rect l="l" t="t" r="r" b="b"/>
            <a:pathLst>
              <a:path w="7014739" h="442910">
                <a:moveTo>
                  <a:pt x="47883" y="0"/>
                </a:moveTo>
                <a:lnTo>
                  <a:pt x="6966856" y="0"/>
                </a:lnTo>
                <a:cubicBezTo>
                  <a:pt x="6993301" y="0"/>
                  <a:pt x="7014739" y="21438"/>
                  <a:pt x="7014739" y="47883"/>
                </a:cubicBezTo>
                <a:lnTo>
                  <a:pt x="7014739" y="395027"/>
                </a:lnTo>
                <a:cubicBezTo>
                  <a:pt x="7014739" y="421472"/>
                  <a:pt x="6993301" y="442910"/>
                  <a:pt x="6966856" y="442910"/>
                </a:cubicBezTo>
                <a:lnTo>
                  <a:pt x="47883" y="442910"/>
                </a:lnTo>
                <a:cubicBezTo>
                  <a:pt x="21438" y="442910"/>
                  <a:pt x="0" y="421472"/>
                  <a:pt x="0" y="395027"/>
                </a:cubicBezTo>
                <a:lnTo>
                  <a:pt x="0" y="47883"/>
                </a:lnTo>
                <a:cubicBezTo>
                  <a:pt x="0" y="21456"/>
                  <a:pt x="21456" y="0"/>
                  <a:pt x="4788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30203" y="6134904"/>
            <a:ext cx="7086563" cy="430940"/>
          </a:xfrm>
          <a:prstGeom prst="rect">
            <a:avLst/>
          </a:prstGeom>
          <a:noFill/>
          <a:ln/>
        </p:spPr>
        <p:txBody>
          <a:bodyPr wrap="square" lIns="143647" tIns="95764" rIns="143647" bIns="95764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透明处理：</a:t>
            </a: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整个过程对客户端透明，保证数据访问的连续性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55000" y="4261514"/>
            <a:ext cx="7517502" cy="3172194"/>
          </a:xfrm>
          <a:custGeom>
            <a:avLst/>
            <a:gdLst/>
            <a:ahLst/>
            <a:cxnLst/>
            <a:rect l="l" t="t" r="r" b="b"/>
            <a:pathLst>
              <a:path w="7517502" h="3172194">
                <a:moveTo>
                  <a:pt x="95769" y="0"/>
                </a:moveTo>
                <a:lnTo>
                  <a:pt x="7421734" y="0"/>
                </a:lnTo>
                <a:cubicBezTo>
                  <a:pt x="7474625" y="0"/>
                  <a:pt x="7517502" y="42877"/>
                  <a:pt x="7517502" y="95769"/>
                </a:cubicBezTo>
                <a:lnTo>
                  <a:pt x="7517502" y="3076426"/>
                </a:lnTo>
                <a:cubicBezTo>
                  <a:pt x="7517502" y="3129317"/>
                  <a:pt x="7474625" y="3172194"/>
                  <a:pt x="7421734" y="3172194"/>
                </a:cubicBezTo>
                <a:lnTo>
                  <a:pt x="95769" y="3172194"/>
                </a:lnTo>
                <a:cubicBezTo>
                  <a:pt x="42877" y="3172194"/>
                  <a:pt x="0" y="3129317"/>
                  <a:pt x="0" y="3076426"/>
                </a:cubicBezTo>
                <a:lnTo>
                  <a:pt x="0" y="95769"/>
                </a:lnTo>
                <a:cubicBezTo>
                  <a:pt x="0" y="42912"/>
                  <a:pt x="42912" y="0"/>
                  <a:pt x="9576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30323" y="455479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119705" y="50454"/>
                </a:moveTo>
                <a:lnTo>
                  <a:pt x="112691" y="40728"/>
                </a:lnTo>
                <a:cubicBezTo>
                  <a:pt x="101001" y="24549"/>
                  <a:pt x="82251" y="14963"/>
                  <a:pt x="62237" y="14963"/>
                </a:cubicBezTo>
                <a:cubicBezTo>
                  <a:pt x="27869" y="14963"/>
                  <a:pt x="0" y="42832"/>
                  <a:pt x="0" y="77201"/>
                </a:cubicBezTo>
                <a:lnTo>
                  <a:pt x="0" y="78416"/>
                </a:lnTo>
                <a:cubicBezTo>
                  <a:pt x="0" y="89452"/>
                  <a:pt x="2899" y="100861"/>
                  <a:pt x="7762" y="112224"/>
                </a:cubicBezTo>
                <a:lnTo>
                  <a:pt x="57328" y="112224"/>
                </a:lnTo>
                <a:cubicBezTo>
                  <a:pt x="58824" y="112224"/>
                  <a:pt x="60180" y="111335"/>
                  <a:pt x="60788" y="109933"/>
                </a:cubicBezTo>
                <a:lnTo>
                  <a:pt x="75658" y="74255"/>
                </a:lnTo>
                <a:cubicBezTo>
                  <a:pt x="77388" y="70140"/>
                  <a:pt x="81409" y="67428"/>
                  <a:pt x="85851" y="67334"/>
                </a:cubicBezTo>
                <a:cubicBezTo>
                  <a:pt x="90293" y="67241"/>
                  <a:pt x="94408" y="69859"/>
                  <a:pt x="96232" y="73927"/>
                </a:cubicBezTo>
                <a:lnTo>
                  <a:pt x="120220" y="127187"/>
                </a:lnTo>
                <a:lnTo>
                  <a:pt x="139578" y="88470"/>
                </a:lnTo>
                <a:cubicBezTo>
                  <a:pt x="141496" y="84682"/>
                  <a:pt x="145377" y="82251"/>
                  <a:pt x="149632" y="82251"/>
                </a:cubicBezTo>
                <a:cubicBezTo>
                  <a:pt x="153887" y="82251"/>
                  <a:pt x="157768" y="84635"/>
                  <a:pt x="159685" y="88470"/>
                </a:cubicBezTo>
                <a:lnTo>
                  <a:pt x="170534" y="110120"/>
                </a:lnTo>
                <a:cubicBezTo>
                  <a:pt x="171188" y="111382"/>
                  <a:pt x="172451" y="112177"/>
                  <a:pt x="173900" y="112177"/>
                </a:cubicBezTo>
                <a:lnTo>
                  <a:pt x="231696" y="112177"/>
                </a:lnTo>
                <a:cubicBezTo>
                  <a:pt x="236605" y="100814"/>
                  <a:pt x="239458" y="89405"/>
                  <a:pt x="239458" y="78370"/>
                </a:cubicBezTo>
                <a:lnTo>
                  <a:pt x="239458" y="77154"/>
                </a:lnTo>
                <a:cubicBezTo>
                  <a:pt x="239411" y="42832"/>
                  <a:pt x="211542" y="14963"/>
                  <a:pt x="177173" y="14963"/>
                </a:cubicBezTo>
                <a:cubicBezTo>
                  <a:pt x="157207" y="14963"/>
                  <a:pt x="138409" y="24549"/>
                  <a:pt x="126719" y="40728"/>
                </a:cubicBezTo>
                <a:lnTo>
                  <a:pt x="119705" y="50407"/>
                </a:lnTo>
                <a:close/>
                <a:moveTo>
                  <a:pt x="219585" y="134669"/>
                </a:moveTo>
                <a:lnTo>
                  <a:pt x="173853" y="134669"/>
                </a:lnTo>
                <a:cubicBezTo>
                  <a:pt x="163940" y="134669"/>
                  <a:pt x="154869" y="129057"/>
                  <a:pt x="150427" y="120173"/>
                </a:cubicBezTo>
                <a:lnTo>
                  <a:pt x="149632" y="118583"/>
                </a:lnTo>
                <a:lnTo>
                  <a:pt x="129759" y="158376"/>
                </a:lnTo>
                <a:cubicBezTo>
                  <a:pt x="127842" y="162257"/>
                  <a:pt x="123820" y="164689"/>
                  <a:pt x="119472" y="164595"/>
                </a:cubicBezTo>
                <a:cubicBezTo>
                  <a:pt x="115123" y="164501"/>
                  <a:pt x="111242" y="161930"/>
                  <a:pt x="109465" y="158002"/>
                </a:cubicBezTo>
                <a:lnTo>
                  <a:pt x="86412" y="106800"/>
                </a:lnTo>
                <a:lnTo>
                  <a:pt x="81503" y="118583"/>
                </a:lnTo>
                <a:cubicBezTo>
                  <a:pt x="77434" y="128356"/>
                  <a:pt x="67895" y="134715"/>
                  <a:pt x="57328" y="134715"/>
                </a:cubicBezTo>
                <a:lnTo>
                  <a:pt x="19826" y="134715"/>
                </a:lnTo>
                <a:cubicBezTo>
                  <a:pt x="41897" y="169224"/>
                  <a:pt x="77341" y="200974"/>
                  <a:pt x="99505" y="217901"/>
                </a:cubicBezTo>
                <a:cubicBezTo>
                  <a:pt x="105303" y="222297"/>
                  <a:pt x="112411" y="224494"/>
                  <a:pt x="119659" y="224494"/>
                </a:cubicBezTo>
                <a:cubicBezTo>
                  <a:pt x="126906" y="224494"/>
                  <a:pt x="134061" y="222344"/>
                  <a:pt x="139812" y="217901"/>
                </a:cubicBezTo>
                <a:cubicBezTo>
                  <a:pt x="162070" y="200927"/>
                  <a:pt x="197514" y="169177"/>
                  <a:pt x="219585" y="13466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799660" y="4506910"/>
            <a:ext cx="6847152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00396" y="4985732"/>
            <a:ext cx="2250462" cy="813997"/>
          </a:xfrm>
          <a:custGeom>
            <a:avLst/>
            <a:gdLst/>
            <a:ahLst/>
            <a:cxnLst/>
            <a:rect l="l" t="t" r="r" b="b"/>
            <a:pathLst>
              <a:path w="2250462" h="813997">
                <a:moveTo>
                  <a:pt x="47879" y="0"/>
                </a:moveTo>
                <a:lnTo>
                  <a:pt x="2202583" y="0"/>
                </a:lnTo>
                <a:cubicBezTo>
                  <a:pt x="2229026" y="0"/>
                  <a:pt x="2250462" y="21436"/>
                  <a:pt x="2250462" y="47879"/>
                </a:cubicBezTo>
                <a:lnTo>
                  <a:pt x="2250462" y="766118"/>
                </a:lnTo>
                <a:cubicBezTo>
                  <a:pt x="2250462" y="792561"/>
                  <a:pt x="2229026" y="813997"/>
                  <a:pt x="2202583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72219" y="5081496"/>
            <a:ext cx="2106816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08131" y="5512436"/>
            <a:ext cx="2034993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心跳间隔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890951" y="4985732"/>
            <a:ext cx="2250462" cy="813997"/>
          </a:xfrm>
          <a:custGeom>
            <a:avLst/>
            <a:gdLst/>
            <a:ahLst/>
            <a:cxnLst/>
            <a:rect l="l" t="t" r="r" b="b"/>
            <a:pathLst>
              <a:path w="2250462" h="813997">
                <a:moveTo>
                  <a:pt x="47879" y="0"/>
                </a:moveTo>
                <a:lnTo>
                  <a:pt x="2202583" y="0"/>
                </a:lnTo>
                <a:cubicBezTo>
                  <a:pt x="2229026" y="0"/>
                  <a:pt x="2250462" y="21436"/>
                  <a:pt x="2250462" y="47879"/>
                </a:cubicBezTo>
                <a:lnTo>
                  <a:pt x="2250462" y="766118"/>
                </a:lnTo>
                <a:cubicBezTo>
                  <a:pt x="2250462" y="792561"/>
                  <a:pt x="2229026" y="813997"/>
                  <a:pt x="2202583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0962775" y="5081496"/>
            <a:ext cx="2106816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10.5m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98686" y="5512436"/>
            <a:ext cx="2034993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超时时间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3281507" y="4985732"/>
            <a:ext cx="2250462" cy="813997"/>
          </a:xfrm>
          <a:custGeom>
            <a:avLst/>
            <a:gdLst/>
            <a:ahLst/>
            <a:cxnLst/>
            <a:rect l="l" t="t" r="r" b="b"/>
            <a:pathLst>
              <a:path w="2250462" h="813997">
                <a:moveTo>
                  <a:pt x="47879" y="0"/>
                </a:moveTo>
                <a:lnTo>
                  <a:pt x="2202583" y="0"/>
                </a:lnTo>
                <a:cubicBezTo>
                  <a:pt x="2229026" y="0"/>
                  <a:pt x="2250462" y="21436"/>
                  <a:pt x="2250462" y="47879"/>
                </a:cubicBezTo>
                <a:lnTo>
                  <a:pt x="2250462" y="766118"/>
                </a:lnTo>
                <a:cubicBezTo>
                  <a:pt x="2250462" y="792561"/>
                  <a:pt x="2229026" y="813997"/>
                  <a:pt x="2202583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3353330" y="5081496"/>
            <a:ext cx="2106816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2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3389242" y="5512436"/>
            <a:ext cx="2034993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00396" y="6039140"/>
            <a:ext cx="95764" cy="95764"/>
          </a:xfrm>
          <a:custGeom>
            <a:avLst/>
            <a:gdLst/>
            <a:ahLst/>
            <a:cxnLst/>
            <a:rect l="l" t="t" r="r" b="b"/>
            <a:pathLst>
              <a:path w="95764" h="95764">
                <a:moveTo>
                  <a:pt x="47882" y="0"/>
                </a:moveTo>
                <a:lnTo>
                  <a:pt x="47882" y="0"/>
                </a:lnTo>
                <a:cubicBezTo>
                  <a:pt x="74309" y="0"/>
                  <a:pt x="95764" y="21455"/>
                  <a:pt x="95764" y="47882"/>
                </a:cubicBezTo>
                <a:lnTo>
                  <a:pt x="95764" y="47882"/>
                </a:lnTo>
                <a:cubicBezTo>
                  <a:pt x="95764" y="74309"/>
                  <a:pt x="74309" y="95764"/>
                  <a:pt x="47882" y="95764"/>
                </a:cubicBezTo>
                <a:lnTo>
                  <a:pt x="47882" y="95764"/>
                </a:lnTo>
                <a:cubicBezTo>
                  <a:pt x="21455" y="95764"/>
                  <a:pt x="0" y="74309"/>
                  <a:pt x="0" y="4788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691925" y="5943376"/>
            <a:ext cx="323204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每 3 秒向 NameNode 发送心跳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500396" y="6374315"/>
            <a:ext cx="95764" cy="95764"/>
          </a:xfrm>
          <a:custGeom>
            <a:avLst/>
            <a:gdLst/>
            <a:ahLst/>
            <a:cxnLst/>
            <a:rect l="l" t="t" r="r" b="b"/>
            <a:pathLst>
              <a:path w="95764" h="95764">
                <a:moveTo>
                  <a:pt x="47882" y="0"/>
                </a:moveTo>
                <a:lnTo>
                  <a:pt x="47882" y="0"/>
                </a:lnTo>
                <a:cubicBezTo>
                  <a:pt x="74309" y="0"/>
                  <a:pt x="95764" y="21455"/>
                  <a:pt x="95764" y="47882"/>
                </a:cubicBezTo>
                <a:lnTo>
                  <a:pt x="95764" y="47882"/>
                </a:lnTo>
                <a:cubicBezTo>
                  <a:pt x="95764" y="74309"/>
                  <a:pt x="74309" y="95764"/>
                  <a:pt x="47882" y="95764"/>
                </a:cubicBezTo>
                <a:lnTo>
                  <a:pt x="47882" y="95764"/>
                </a:lnTo>
                <a:cubicBezTo>
                  <a:pt x="21455" y="95764"/>
                  <a:pt x="0" y="74309"/>
                  <a:pt x="0" y="4788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691925" y="6278551"/>
            <a:ext cx="326795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心跳包含节点状态、存储使用情况、块报告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500396" y="6709490"/>
            <a:ext cx="95764" cy="95764"/>
          </a:xfrm>
          <a:custGeom>
            <a:avLst/>
            <a:gdLst/>
            <a:ahLst/>
            <a:cxnLst/>
            <a:rect l="l" t="t" r="r" b="b"/>
            <a:pathLst>
              <a:path w="95764" h="95764">
                <a:moveTo>
                  <a:pt x="47882" y="0"/>
                </a:moveTo>
                <a:lnTo>
                  <a:pt x="47882" y="0"/>
                </a:lnTo>
                <a:cubicBezTo>
                  <a:pt x="74309" y="0"/>
                  <a:pt x="95764" y="21455"/>
                  <a:pt x="95764" y="47882"/>
                </a:cubicBezTo>
                <a:lnTo>
                  <a:pt x="95764" y="47882"/>
                </a:lnTo>
                <a:cubicBezTo>
                  <a:pt x="95764" y="74309"/>
                  <a:pt x="74309" y="95764"/>
                  <a:pt x="47882" y="95764"/>
                </a:cubicBezTo>
                <a:lnTo>
                  <a:pt x="47882" y="95764"/>
                </a:lnTo>
                <a:cubicBezTo>
                  <a:pt x="21455" y="95764"/>
                  <a:pt x="0" y="74309"/>
                  <a:pt x="0" y="4788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91925" y="6613726"/>
            <a:ext cx="3172194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超时后标记节点为 Dead 状态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500396" y="7044666"/>
            <a:ext cx="95764" cy="95764"/>
          </a:xfrm>
          <a:custGeom>
            <a:avLst/>
            <a:gdLst/>
            <a:ahLst/>
            <a:cxnLst/>
            <a:rect l="l" t="t" r="r" b="b"/>
            <a:pathLst>
              <a:path w="95764" h="95764">
                <a:moveTo>
                  <a:pt x="47882" y="0"/>
                </a:moveTo>
                <a:lnTo>
                  <a:pt x="47882" y="0"/>
                </a:lnTo>
                <a:cubicBezTo>
                  <a:pt x="74309" y="0"/>
                  <a:pt x="95764" y="21455"/>
                  <a:pt x="95764" y="47882"/>
                </a:cubicBezTo>
                <a:lnTo>
                  <a:pt x="95764" y="47882"/>
                </a:lnTo>
                <a:cubicBezTo>
                  <a:pt x="95764" y="74309"/>
                  <a:pt x="74309" y="95764"/>
                  <a:pt x="47882" y="95764"/>
                </a:cubicBezTo>
                <a:lnTo>
                  <a:pt x="47882" y="95764"/>
                </a:lnTo>
                <a:cubicBezTo>
                  <a:pt x="21455" y="95764"/>
                  <a:pt x="0" y="74309"/>
                  <a:pt x="0" y="4788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691925" y="6948901"/>
            <a:ext cx="2430021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启动该节点上数据块的副本重建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84807" y="7637208"/>
            <a:ext cx="15286386" cy="1017496"/>
          </a:xfrm>
          <a:custGeom>
            <a:avLst/>
            <a:gdLst/>
            <a:ahLst/>
            <a:cxnLst/>
            <a:rect l="l" t="t" r="r" b="b"/>
            <a:pathLst>
              <a:path w="15286386" h="1017496">
                <a:moveTo>
                  <a:pt x="95767" y="0"/>
                </a:moveTo>
                <a:lnTo>
                  <a:pt x="15190619" y="0"/>
                </a:lnTo>
                <a:cubicBezTo>
                  <a:pt x="15243474" y="0"/>
                  <a:pt x="15286386" y="42912"/>
                  <a:pt x="15286386" y="95767"/>
                </a:cubicBezTo>
                <a:lnTo>
                  <a:pt x="15286386" y="921730"/>
                </a:lnTo>
                <a:cubicBezTo>
                  <a:pt x="15286386" y="974620"/>
                  <a:pt x="15243510" y="1017496"/>
                  <a:pt x="15190619" y="1017496"/>
                </a:cubicBezTo>
                <a:lnTo>
                  <a:pt x="95767" y="1017496"/>
                </a:lnTo>
                <a:cubicBezTo>
                  <a:pt x="42912" y="1017496"/>
                  <a:pt x="0" y="974585"/>
                  <a:pt x="0" y="921730"/>
                </a:cubicBezTo>
                <a:lnTo>
                  <a:pt x="0" y="95767"/>
                </a:lnTo>
                <a:cubicBezTo>
                  <a:pt x="0" y="42876"/>
                  <a:pt x="42876" y="0"/>
                  <a:pt x="95767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718233" y="7882604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cubicBezTo>
                  <a:pt x="146228" y="0"/>
                  <a:pt x="148809" y="561"/>
                  <a:pt x="151166" y="1627"/>
                </a:cubicBezTo>
                <a:lnTo>
                  <a:pt x="256880" y="46461"/>
                </a:lnTo>
                <a:cubicBezTo>
                  <a:pt x="269225" y="51679"/>
                  <a:pt x="278427" y="63855"/>
                  <a:pt x="278371" y="78557"/>
                </a:cubicBezTo>
                <a:cubicBezTo>
                  <a:pt x="278091" y="134220"/>
                  <a:pt x="255197" y="236063"/>
                  <a:pt x="158516" y="282355"/>
                </a:cubicBezTo>
                <a:cubicBezTo>
                  <a:pt x="149146" y="286844"/>
                  <a:pt x="138260" y="286844"/>
                  <a:pt x="128889" y="282355"/>
                </a:cubicBezTo>
                <a:cubicBezTo>
                  <a:pt x="32152" y="236063"/>
                  <a:pt x="9315" y="134220"/>
                  <a:pt x="9034" y="78557"/>
                </a:cubicBezTo>
                <a:cubicBezTo>
                  <a:pt x="8978" y="63855"/>
                  <a:pt x="18180" y="51679"/>
                  <a:pt x="30525" y="46461"/>
                </a:cubicBezTo>
                <a:lnTo>
                  <a:pt x="136184" y="1627"/>
                </a:lnTo>
                <a:cubicBezTo>
                  <a:pt x="138540" y="561"/>
                  <a:pt x="141065" y="0"/>
                  <a:pt x="143647" y="0"/>
                </a:cubicBezTo>
                <a:close/>
                <a:moveTo>
                  <a:pt x="143647" y="37483"/>
                </a:moveTo>
                <a:lnTo>
                  <a:pt x="143647" y="249642"/>
                </a:lnTo>
                <a:cubicBezTo>
                  <a:pt x="221081" y="212159"/>
                  <a:pt x="241899" y="129114"/>
                  <a:pt x="242404" y="79398"/>
                </a:cubicBezTo>
                <a:lnTo>
                  <a:pt x="143647" y="37539"/>
                </a:lnTo>
                <a:lnTo>
                  <a:pt x="143647" y="3753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232966" y="7834722"/>
            <a:ext cx="14436477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多层次保障：</a:t>
            </a:r>
            <a:r>
              <a:rPr lang="en-US" sz="150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通过校验和机制、心跳检测、副本管理等多重手段，构建了全方位的数据可靠性保障体系。从数据写入时的校验和计算，到读取时的完整性验证，再到定期的健康检查，确保了数据在整个生命周期中的完整性和可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101599" y="0"/>
                </a:moveTo>
                <a:lnTo>
                  <a:pt x="901701" y="0"/>
                </a:lnTo>
                <a:cubicBezTo>
                  <a:pt x="957812" y="0"/>
                  <a:pt x="1003300" y="45488"/>
                  <a:pt x="1003300" y="101599"/>
                </a:cubicBezTo>
                <a:lnTo>
                  <a:pt x="1003300" y="622301"/>
                </a:lnTo>
                <a:cubicBezTo>
                  <a:pt x="1003300" y="678412"/>
                  <a:pt x="957812" y="723900"/>
                  <a:pt x="9017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913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高级特性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Federation、HA 与纠删码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 扩展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07854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663454" y="6303963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 高可用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56734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12334" y="6303963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纠删码优化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38912"/>
            <a:ext cx="1593088" cy="357632"/>
          </a:xfrm>
          <a:custGeom>
            <a:avLst/>
            <a:gdLst/>
            <a:ahLst/>
            <a:cxnLst/>
            <a:rect l="l" t="t" r="r" b="b"/>
            <a:pathLst>
              <a:path w="1593088" h="357632">
                <a:moveTo>
                  <a:pt x="178816" y="0"/>
                </a:moveTo>
                <a:lnTo>
                  <a:pt x="1414272" y="0"/>
                </a:lnTo>
                <a:cubicBezTo>
                  <a:pt x="1512963" y="0"/>
                  <a:pt x="1593088" y="80125"/>
                  <a:pt x="1593088" y="178816"/>
                </a:cubicBezTo>
                <a:lnTo>
                  <a:pt x="1593088" y="178816"/>
                </a:lnTo>
                <a:cubicBezTo>
                  <a:pt x="1593088" y="277507"/>
                  <a:pt x="1512963" y="357632"/>
                  <a:pt x="1414272" y="357632"/>
                </a:cubicBezTo>
                <a:lnTo>
                  <a:pt x="178816" y="357632"/>
                </a:lnTo>
                <a:cubicBezTo>
                  <a:pt x="80059" y="357632"/>
                  <a:pt x="0" y="277573"/>
                  <a:pt x="0" y="178816"/>
                </a:cubicBezTo>
                <a:lnTo>
                  <a:pt x="0" y="178816"/>
                </a:lnTo>
                <a:cubicBezTo>
                  <a:pt x="0" y="80059"/>
                  <a:pt x="80059" y="0"/>
                  <a:pt x="178816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7728" y="503936"/>
            <a:ext cx="132257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kern="0" spc="137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3493" y="932011"/>
            <a:ext cx="15649109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9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HDFS Federation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3493" y="1582251"/>
            <a:ext cx="15497387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 NameNode 扩展性问题的联邦架构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" y="2064512"/>
            <a:ext cx="7575296" cy="3998976"/>
          </a:xfrm>
          <a:custGeom>
            <a:avLst/>
            <a:gdLst/>
            <a:ahLst/>
            <a:cxnLst/>
            <a:rect l="l" t="t" r="r" b="b"/>
            <a:pathLst>
              <a:path w="7575296" h="3998976">
                <a:moveTo>
                  <a:pt x="86698" y="0"/>
                </a:moveTo>
                <a:lnTo>
                  <a:pt x="7488598" y="0"/>
                </a:lnTo>
                <a:cubicBezTo>
                  <a:pt x="7536480" y="0"/>
                  <a:pt x="7575296" y="38816"/>
                  <a:pt x="7575296" y="86698"/>
                </a:cubicBezTo>
                <a:lnTo>
                  <a:pt x="7575296" y="3912278"/>
                </a:lnTo>
                <a:cubicBezTo>
                  <a:pt x="7575296" y="3960160"/>
                  <a:pt x="7536480" y="3998976"/>
                  <a:pt x="7488598" y="3998976"/>
                </a:cubicBezTo>
                <a:lnTo>
                  <a:pt x="86698" y="3998976"/>
                </a:lnTo>
                <a:cubicBezTo>
                  <a:pt x="38816" y="3998976"/>
                  <a:pt x="0" y="3960160"/>
                  <a:pt x="0" y="3912278"/>
                </a:cubicBezTo>
                <a:lnTo>
                  <a:pt x="0" y="86698"/>
                </a:lnTo>
                <a:cubicBezTo>
                  <a:pt x="0" y="38816"/>
                  <a:pt x="38816" y="0"/>
                  <a:pt x="8669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8171" y="2330027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108373" y="216747"/>
                </a:moveTo>
                <a:cubicBezTo>
                  <a:pt x="168186" y="216747"/>
                  <a:pt x="216747" y="168186"/>
                  <a:pt x="216747" y="108373"/>
                </a:cubicBezTo>
                <a:cubicBezTo>
                  <a:pt x="216747" y="48560"/>
                  <a:pt x="168186" y="0"/>
                  <a:pt x="108373" y="0"/>
                </a:cubicBezTo>
                <a:cubicBezTo>
                  <a:pt x="48560" y="0"/>
                  <a:pt x="0" y="48560"/>
                  <a:pt x="0" y="108373"/>
                </a:cubicBezTo>
                <a:cubicBezTo>
                  <a:pt x="0" y="168186"/>
                  <a:pt x="48560" y="216747"/>
                  <a:pt x="108373" y="216747"/>
                </a:cubicBezTo>
                <a:close/>
                <a:moveTo>
                  <a:pt x="108373" y="57573"/>
                </a:moveTo>
                <a:cubicBezTo>
                  <a:pt x="114004" y="57573"/>
                  <a:pt x="118533" y="62103"/>
                  <a:pt x="118533" y="67733"/>
                </a:cubicBezTo>
                <a:lnTo>
                  <a:pt x="118533" y="115147"/>
                </a:lnTo>
                <a:cubicBezTo>
                  <a:pt x="118533" y="120777"/>
                  <a:pt x="114004" y="125307"/>
                  <a:pt x="108373" y="125307"/>
                </a:cubicBezTo>
                <a:cubicBezTo>
                  <a:pt x="102743" y="125307"/>
                  <a:pt x="98213" y="120777"/>
                  <a:pt x="98213" y="115147"/>
                </a:cubicBezTo>
                <a:lnTo>
                  <a:pt x="98213" y="67733"/>
                </a:lnTo>
                <a:cubicBezTo>
                  <a:pt x="98213" y="62103"/>
                  <a:pt x="102743" y="57573"/>
                  <a:pt x="108373" y="57573"/>
                </a:cubicBezTo>
                <a:close/>
                <a:moveTo>
                  <a:pt x="97070" y="149013"/>
                </a:moveTo>
                <a:cubicBezTo>
                  <a:pt x="96813" y="144818"/>
                  <a:pt x="98906" y="140826"/>
                  <a:pt x="102502" y="138651"/>
                </a:cubicBezTo>
                <a:cubicBezTo>
                  <a:pt x="106099" y="136475"/>
                  <a:pt x="110606" y="136475"/>
                  <a:pt x="114202" y="138651"/>
                </a:cubicBezTo>
                <a:cubicBezTo>
                  <a:pt x="117799" y="140826"/>
                  <a:pt x="119891" y="144818"/>
                  <a:pt x="119634" y="149013"/>
                </a:cubicBezTo>
                <a:cubicBezTo>
                  <a:pt x="119891" y="153209"/>
                  <a:pt x="117799" y="157201"/>
                  <a:pt x="114202" y="159376"/>
                </a:cubicBezTo>
                <a:cubicBezTo>
                  <a:pt x="110606" y="161552"/>
                  <a:pt x="106099" y="161552"/>
                  <a:pt x="102502" y="159376"/>
                </a:cubicBezTo>
                <a:cubicBezTo>
                  <a:pt x="98906" y="157201"/>
                  <a:pt x="96813" y="153209"/>
                  <a:pt x="97070" y="14901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32011" y="2286677"/>
            <a:ext cx="6968405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077" y="2720171"/>
            <a:ext cx="7217664" cy="28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 HDFS 架构中，</a:t>
            </a:r>
            <a:r>
              <a:rPr lang="en-US" sz="136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单个 NameNode 成为系统瓶颈</a:t>
            </a:r>
            <a:r>
              <a:rPr lang="en-US" sz="136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，限制了集群的扩展能力。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7333" y="3131989"/>
            <a:ext cx="7114709" cy="606891"/>
          </a:xfrm>
          <a:custGeom>
            <a:avLst/>
            <a:gdLst/>
            <a:ahLst/>
            <a:cxnLst/>
            <a:rect l="l" t="t" r="r" b="b"/>
            <a:pathLst>
              <a:path w="7114709" h="606891">
                <a:moveTo>
                  <a:pt x="32512" y="0"/>
                </a:moveTo>
                <a:lnTo>
                  <a:pt x="7071359" y="0"/>
                </a:lnTo>
                <a:cubicBezTo>
                  <a:pt x="7095301" y="0"/>
                  <a:pt x="7114709" y="19409"/>
                  <a:pt x="7114709" y="43350"/>
                </a:cubicBezTo>
                <a:lnTo>
                  <a:pt x="7114709" y="563540"/>
                </a:lnTo>
                <a:cubicBezTo>
                  <a:pt x="7114709" y="587482"/>
                  <a:pt x="7095301" y="606891"/>
                  <a:pt x="7071359" y="606891"/>
                </a:cubicBez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77333" y="3131989"/>
            <a:ext cx="32512" cy="606891"/>
          </a:xfrm>
          <a:custGeom>
            <a:avLst/>
            <a:gdLst/>
            <a:ahLst/>
            <a:cxnLst/>
            <a:rect l="l" t="t" r="r" b="b"/>
            <a:pathLst>
              <a:path w="32512" h="606891">
                <a:moveTo>
                  <a:pt x="32512" y="0"/>
                </a:moveTo>
                <a:lnTo>
                  <a:pt x="32512" y="0"/>
                </a:lnTo>
                <a:lnTo>
                  <a:pt x="32512" y="606891"/>
                </a:ln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3637" y="3218688"/>
            <a:ext cx="691421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内存限制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3637" y="3478784"/>
            <a:ext cx="6903381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所有元数据存储在单个 NameNode 内存中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333" y="3825579"/>
            <a:ext cx="7114709" cy="606891"/>
          </a:xfrm>
          <a:custGeom>
            <a:avLst/>
            <a:gdLst/>
            <a:ahLst/>
            <a:cxnLst/>
            <a:rect l="l" t="t" r="r" b="b"/>
            <a:pathLst>
              <a:path w="7114709" h="606891">
                <a:moveTo>
                  <a:pt x="32512" y="0"/>
                </a:moveTo>
                <a:lnTo>
                  <a:pt x="7071359" y="0"/>
                </a:lnTo>
                <a:cubicBezTo>
                  <a:pt x="7095301" y="0"/>
                  <a:pt x="7114709" y="19409"/>
                  <a:pt x="7114709" y="43350"/>
                </a:cubicBezTo>
                <a:lnTo>
                  <a:pt x="7114709" y="563540"/>
                </a:lnTo>
                <a:cubicBezTo>
                  <a:pt x="7114709" y="587482"/>
                  <a:pt x="7095301" y="606891"/>
                  <a:pt x="7071359" y="606891"/>
                </a:cubicBez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77333" y="3825579"/>
            <a:ext cx="32512" cy="606891"/>
          </a:xfrm>
          <a:custGeom>
            <a:avLst/>
            <a:gdLst/>
            <a:ahLst/>
            <a:cxnLst/>
            <a:rect l="l" t="t" r="r" b="b"/>
            <a:pathLst>
              <a:path w="32512" h="606891">
                <a:moveTo>
                  <a:pt x="32512" y="0"/>
                </a:moveTo>
                <a:lnTo>
                  <a:pt x="32512" y="0"/>
                </a:lnTo>
                <a:lnTo>
                  <a:pt x="32512" y="606891"/>
                </a:ln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3637" y="3912277"/>
            <a:ext cx="691421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性能瓶颈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637" y="4172373"/>
            <a:ext cx="6903381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所有客户端请求都需要经过单个 NameNode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7333" y="4519168"/>
            <a:ext cx="7114709" cy="606891"/>
          </a:xfrm>
          <a:custGeom>
            <a:avLst/>
            <a:gdLst/>
            <a:ahLst/>
            <a:cxnLst/>
            <a:rect l="l" t="t" r="r" b="b"/>
            <a:pathLst>
              <a:path w="7114709" h="606891">
                <a:moveTo>
                  <a:pt x="32512" y="0"/>
                </a:moveTo>
                <a:lnTo>
                  <a:pt x="7071359" y="0"/>
                </a:lnTo>
                <a:cubicBezTo>
                  <a:pt x="7095301" y="0"/>
                  <a:pt x="7114709" y="19409"/>
                  <a:pt x="7114709" y="43350"/>
                </a:cubicBezTo>
                <a:lnTo>
                  <a:pt x="7114709" y="563540"/>
                </a:lnTo>
                <a:cubicBezTo>
                  <a:pt x="7114709" y="587482"/>
                  <a:pt x="7095301" y="606891"/>
                  <a:pt x="7071359" y="606891"/>
                </a:cubicBez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77333" y="4519168"/>
            <a:ext cx="32512" cy="606891"/>
          </a:xfrm>
          <a:custGeom>
            <a:avLst/>
            <a:gdLst/>
            <a:ahLst/>
            <a:cxnLst/>
            <a:rect l="l" t="t" r="r" b="b"/>
            <a:pathLst>
              <a:path w="32512" h="606891">
                <a:moveTo>
                  <a:pt x="32512" y="0"/>
                </a:moveTo>
                <a:lnTo>
                  <a:pt x="32512" y="0"/>
                </a:lnTo>
                <a:lnTo>
                  <a:pt x="32512" y="606891"/>
                </a:lnTo>
                <a:lnTo>
                  <a:pt x="32512" y="606891"/>
                </a:lnTo>
                <a:cubicBezTo>
                  <a:pt x="14556" y="606891"/>
                  <a:pt x="0" y="592335"/>
                  <a:pt x="0" y="574379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3637" y="4605867"/>
            <a:ext cx="691421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扩展性限制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3637" y="4865963"/>
            <a:ext cx="6903381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集群规模受限于单个 NameNode 的处理能力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4163" y="2064512"/>
            <a:ext cx="7575296" cy="3998976"/>
          </a:xfrm>
          <a:custGeom>
            <a:avLst/>
            <a:gdLst/>
            <a:ahLst/>
            <a:cxnLst/>
            <a:rect l="l" t="t" r="r" b="b"/>
            <a:pathLst>
              <a:path w="7575296" h="3998976">
                <a:moveTo>
                  <a:pt x="86698" y="0"/>
                </a:moveTo>
                <a:lnTo>
                  <a:pt x="7488598" y="0"/>
                </a:lnTo>
                <a:cubicBezTo>
                  <a:pt x="7536480" y="0"/>
                  <a:pt x="7575296" y="38816"/>
                  <a:pt x="7575296" y="86698"/>
                </a:cubicBezTo>
                <a:lnTo>
                  <a:pt x="7575296" y="3912278"/>
                </a:lnTo>
                <a:cubicBezTo>
                  <a:pt x="7575296" y="3960160"/>
                  <a:pt x="7536480" y="3998976"/>
                  <a:pt x="7488598" y="3998976"/>
                </a:cubicBezTo>
                <a:lnTo>
                  <a:pt x="86698" y="3998976"/>
                </a:lnTo>
                <a:cubicBezTo>
                  <a:pt x="38816" y="3998976"/>
                  <a:pt x="0" y="3960160"/>
                  <a:pt x="0" y="3912278"/>
                </a:cubicBezTo>
                <a:lnTo>
                  <a:pt x="0" y="86698"/>
                </a:lnTo>
                <a:cubicBezTo>
                  <a:pt x="0" y="38816"/>
                  <a:pt x="38816" y="0"/>
                  <a:pt x="8669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93421" y="2330027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81280" y="27093"/>
                </a:moveTo>
                <a:cubicBezTo>
                  <a:pt x="81280" y="19600"/>
                  <a:pt x="87334" y="13547"/>
                  <a:pt x="94827" y="13547"/>
                </a:cubicBezTo>
                <a:lnTo>
                  <a:pt x="121920" y="13547"/>
                </a:lnTo>
                <a:cubicBezTo>
                  <a:pt x="129413" y="13547"/>
                  <a:pt x="135467" y="19600"/>
                  <a:pt x="135467" y="27093"/>
                </a:cubicBezTo>
                <a:lnTo>
                  <a:pt x="135467" y="54187"/>
                </a:lnTo>
                <a:cubicBezTo>
                  <a:pt x="135467" y="61680"/>
                  <a:pt x="129413" y="67733"/>
                  <a:pt x="121920" y="67733"/>
                </a:cubicBezTo>
                <a:lnTo>
                  <a:pt x="118533" y="67733"/>
                </a:lnTo>
                <a:lnTo>
                  <a:pt x="118533" y="94827"/>
                </a:lnTo>
                <a:lnTo>
                  <a:pt x="169333" y="94827"/>
                </a:lnTo>
                <a:cubicBezTo>
                  <a:pt x="186182" y="94827"/>
                  <a:pt x="199813" y="108458"/>
                  <a:pt x="199813" y="125307"/>
                </a:cubicBezTo>
                <a:lnTo>
                  <a:pt x="199813" y="149013"/>
                </a:lnTo>
                <a:lnTo>
                  <a:pt x="203200" y="149013"/>
                </a:lnTo>
                <a:cubicBezTo>
                  <a:pt x="210693" y="149013"/>
                  <a:pt x="216747" y="155067"/>
                  <a:pt x="216747" y="162560"/>
                </a:cubicBezTo>
                <a:lnTo>
                  <a:pt x="216747" y="189653"/>
                </a:lnTo>
                <a:cubicBezTo>
                  <a:pt x="216747" y="197146"/>
                  <a:pt x="210693" y="203200"/>
                  <a:pt x="203200" y="203200"/>
                </a:cubicBezTo>
                <a:lnTo>
                  <a:pt x="176107" y="203200"/>
                </a:lnTo>
                <a:cubicBezTo>
                  <a:pt x="168614" y="203200"/>
                  <a:pt x="162560" y="197146"/>
                  <a:pt x="162560" y="189653"/>
                </a:cubicBezTo>
                <a:lnTo>
                  <a:pt x="162560" y="162560"/>
                </a:lnTo>
                <a:cubicBezTo>
                  <a:pt x="162560" y="155067"/>
                  <a:pt x="168614" y="149013"/>
                  <a:pt x="176107" y="149013"/>
                </a:cubicBezTo>
                <a:lnTo>
                  <a:pt x="179493" y="149013"/>
                </a:lnTo>
                <a:lnTo>
                  <a:pt x="179493" y="125307"/>
                </a:lnTo>
                <a:cubicBezTo>
                  <a:pt x="179493" y="119676"/>
                  <a:pt x="174964" y="115147"/>
                  <a:pt x="169333" y="115147"/>
                </a:cubicBezTo>
                <a:lnTo>
                  <a:pt x="118533" y="115147"/>
                </a:lnTo>
                <a:lnTo>
                  <a:pt x="118533" y="149013"/>
                </a:lnTo>
                <a:lnTo>
                  <a:pt x="121920" y="149013"/>
                </a:lnTo>
                <a:cubicBezTo>
                  <a:pt x="129413" y="149013"/>
                  <a:pt x="135467" y="155067"/>
                  <a:pt x="135467" y="162560"/>
                </a:cubicBezTo>
                <a:lnTo>
                  <a:pt x="135467" y="189653"/>
                </a:lnTo>
                <a:cubicBezTo>
                  <a:pt x="135467" y="197146"/>
                  <a:pt x="129413" y="203200"/>
                  <a:pt x="121920" y="203200"/>
                </a:cubicBezTo>
                <a:lnTo>
                  <a:pt x="94827" y="203200"/>
                </a:lnTo>
                <a:cubicBezTo>
                  <a:pt x="87334" y="203200"/>
                  <a:pt x="81280" y="197146"/>
                  <a:pt x="81280" y="189653"/>
                </a:cubicBezTo>
                <a:lnTo>
                  <a:pt x="81280" y="162560"/>
                </a:lnTo>
                <a:cubicBezTo>
                  <a:pt x="81280" y="155067"/>
                  <a:pt x="87334" y="149013"/>
                  <a:pt x="94827" y="149013"/>
                </a:cubicBezTo>
                <a:lnTo>
                  <a:pt x="98213" y="149013"/>
                </a:lnTo>
                <a:lnTo>
                  <a:pt x="98213" y="115147"/>
                </a:lnTo>
                <a:lnTo>
                  <a:pt x="47413" y="115147"/>
                </a:lnTo>
                <a:cubicBezTo>
                  <a:pt x="41783" y="115147"/>
                  <a:pt x="37253" y="119676"/>
                  <a:pt x="37253" y="125307"/>
                </a:cubicBezTo>
                <a:lnTo>
                  <a:pt x="37253" y="149013"/>
                </a:lnTo>
                <a:lnTo>
                  <a:pt x="40640" y="149013"/>
                </a:lnTo>
                <a:cubicBezTo>
                  <a:pt x="48133" y="149013"/>
                  <a:pt x="54187" y="155067"/>
                  <a:pt x="54187" y="162560"/>
                </a:cubicBezTo>
                <a:lnTo>
                  <a:pt x="54187" y="189653"/>
                </a:lnTo>
                <a:cubicBezTo>
                  <a:pt x="54187" y="197146"/>
                  <a:pt x="48133" y="203200"/>
                  <a:pt x="40640" y="203200"/>
                </a:cubicBezTo>
                <a:lnTo>
                  <a:pt x="13547" y="203200"/>
                </a:lnTo>
                <a:cubicBezTo>
                  <a:pt x="6054" y="203200"/>
                  <a:pt x="0" y="197146"/>
                  <a:pt x="0" y="189653"/>
                </a:cubicBezTo>
                <a:lnTo>
                  <a:pt x="0" y="162560"/>
                </a:lnTo>
                <a:cubicBezTo>
                  <a:pt x="0" y="155067"/>
                  <a:pt x="6054" y="149013"/>
                  <a:pt x="13547" y="149013"/>
                </a:cubicBezTo>
                <a:lnTo>
                  <a:pt x="16933" y="149013"/>
                </a:lnTo>
                <a:lnTo>
                  <a:pt x="16933" y="125307"/>
                </a:lnTo>
                <a:cubicBezTo>
                  <a:pt x="16933" y="108458"/>
                  <a:pt x="30565" y="94827"/>
                  <a:pt x="47413" y="94827"/>
                </a:cubicBezTo>
                <a:lnTo>
                  <a:pt x="98213" y="94827"/>
                </a:lnTo>
                <a:lnTo>
                  <a:pt x="98213" y="67733"/>
                </a:lnTo>
                <a:lnTo>
                  <a:pt x="94827" y="67733"/>
                </a:lnTo>
                <a:cubicBezTo>
                  <a:pt x="87334" y="67733"/>
                  <a:pt x="81280" y="61680"/>
                  <a:pt x="81280" y="54187"/>
                </a:cubicBezTo>
                <a:lnTo>
                  <a:pt x="81280" y="27093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737261" y="2286677"/>
            <a:ext cx="6968405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 架构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66328" y="2720171"/>
            <a:ext cx="7130965" cy="2991104"/>
          </a:xfrm>
          <a:custGeom>
            <a:avLst/>
            <a:gdLst/>
            <a:ahLst/>
            <a:cxnLst/>
            <a:rect l="l" t="t" r="r" b="b"/>
            <a:pathLst>
              <a:path w="7130965" h="2991104">
                <a:moveTo>
                  <a:pt x="86712" y="0"/>
                </a:moveTo>
                <a:lnTo>
                  <a:pt x="7044253" y="0"/>
                </a:lnTo>
                <a:cubicBezTo>
                  <a:pt x="7092143" y="0"/>
                  <a:pt x="7130965" y="38822"/>
                  <a:pt x="7130965" y="86712"/>
                </a:cubicBezTo>
                <a:lnTo>
                  <a:pt x="7130965" y="2904392"/>
                </a:lnTo>
                <a:cubicBezTo>
                  <a:pt x="7130965" y="2952282"/>
                  <a:pt x="7092143" y="2991104"/>
                  <a:pt x="7044253" y="2991104"/>
                </a:cubicBezTo>
                <a:lnTo>
                  <a:pt x="86712" y="2991104"/>
                </a:lnTo>
                <a:cubicBezTo>
                  <a:pt x="38822" y="2991104"/>
                  <a:pt x="0" y="2952282"/>
                  <a:pt x="0" y="2904392"/>
                </a:cubicBezTo>
                <a:lnTo>
                  <a:pt x="0" y="86712"/>
                </a:lnTo>
                <a:cubicBezTo>
                  <a:pt x="0" y="38854"/>
                  <a:pt x="38854" y="0"/>
                  <a:pt x="867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680783" y="2855637"/>
            <a:ext cx="704427" cy="270933"/>
          </a:xfrm>
          <a:custGeom>
            <a:avLst/>
            <a:gdLst/>
            <a:ahLst/>
            <a:cxnLst/>
            <a:rect l="l" t="t" r="r" b="b"/>
            <a:pathLst>
              <a:path w="704427" h="270933">
                <a:moveTo>
                  <a:pt x="43349" y="0"/>
                </a:moveTo>
                <a:lnTo>
                  <a:pt x="661077" y="0"/>
                </a:lnTo>
                <a:cubicBezTo>
                  <a:pt x="685019" y="0"/>
                  <a:pt x="704427" y="19408"/>
                  <a:pt x="704427" y="43349"/>
                </a:cubicBezTo>
                <a:lnTo>
                  <a:pt x="704427" y="227584"/>
                </a:lnTo>
                <a:cubicBezTo>
                  <a:pt x="704427" y="251525"/>
                  <a:pt x="685019" y="270933"/>
                  <a:pt x="661077" y="270933"/>
                </a:cubicBezTo>
                <a:lnTo>
                  <a:pt x="43349" y="270933"/>
                </a:lnTo>
                <a:cubicBezTo>
                  <a:pt x="19408" y="270933"/>
                  <a:pt x="0" y="251525"/>
                  <a:pt x="0" y="227584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642852" y="2850219"/>
            <a:ext cx="758613" cy="260096"/>
          </a:xfrm>
          <a:prstGeom prst="rect">
            <a:avLst/>
          </a:prstGeom>
          <a:noFill/>
          <a:ln/>
        </p:spPr>
        <p:txBody>
          <a:bodyPr wrap="square" lIns="86699" tIns="43349" rIns="86699" bIns="43349" rtlCol="0" anchor="ctr"/>
          <a:lstStyle/>
          <a:p>
            <a:pPr algn="ctr">
              <a:lnSpc>
                <a:spcPct val="110000"/>
              </a:lnSpc>
            </a:pPr>
            <a:r>
              <a:rPr lang="en-US" sz="102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传统架构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78006" y="3224107"/>
            <a:ext cx="1105408" cy="531029"/>
          </a:xfrm>
          <a:custGeom>
            <a:avLst/>
            <a:gdLst/>
            <a:ahLst/>
            <a:cxnLst/>
            <a:rect l="l" t="t" r="r" b="b"/>
            <a:pathLst>
              <a:path w="1105408" h="531029">
                <a:moveTo>
                  <a:pt x="43348" y="0"/>
                </a:moveTo>
                <a:lnTo>
                  <a:pt x="1062060" y="0"/>
                </a:lnTo>
                <a:cubicBezTo>
                  <a:pt x="1086000" y="0"/>
                  <a:pt x="1105408" y="19408"/>
                  <a:pt x="1105408" y="43348"/>
                </a:cubicBezTo>
                <a:lnTo>
                  <a:pt x="1105408" y="487681"/>
                </a:lnTo>
                <a:cubicBezTo>
                  <a:pt x="1105408" y="511622"/>
                  <a:pt x="1086000" y="531029"/>
                  <a:pt x="1062060" y="531029"/>
                </a:cubicBezTo>
                <a:lnTo>
                  <a:pt x="43348" y="531029"/>
                </a:lnTo>
                <a:cubicBezTo>
                  <a:pt x="19408" y="531029"/>
                  <a:pt x="0" y="511622"/>
                  <a:pt x="0" y="487681"/>
                </a:cubicBezTo>
                <a:lnTo>
                  <a:pt x="0" y="43348"/>
                </a:lnTo>
                <a:cubicBezTo>
                  <a:pt x="0" y="19408"/>
                  <a:pt x="19408" y="0"/>
                  <a:pt x="43348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440075" y="3218688"/>
            <a:ext cx="1159595" cy="520192"/>
          </a:xfrm>
          <a:prstGeom prst="rect">
            <a:avLst/>
          </a:prstGeom>
          <a:noFill/>
          <a:ln/>
        </p:spPr>
        <p:txBody>
          <a:bodyPr wrap="square" lIns="130048" tIns="86699" rIns="130048" bIns="8669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 NameNode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单点瓶颈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48203" y="3852672"/>
            <a:ext cx="1170432" cy="357632"/>
          </a:xfrm>
          <a:custGeom>
            <a:avLst/>
            <a:gdLst/>
            <a:ahLst/>
            <a:cxnLst/>
            <a:rect l="l" t="t" r="r" b="b"/>
            <a:pathLst>
              <a:path w="1170432" h="357632">
                <a:moveTo>
                  <a:pt x="43349" y="0"/>
                </a:moveTo>
                <a:lnTo>
                  <a:pt x="1127083" y="0"/>
                </a:lnTo>
                <a:cubicBezTo>
                  <a:pt x="1151024" y="0"/>
                  <a:pt x="1170432" y="19408"/>
                  <a:pt x="1170432" y="43349"/>
                </a:cubicBezTo>
                <a:lnTo>
                  <a:pt x="1170432" y="314283"/>
                </a:lnTo>
                <a:cubicBezTo>
                  <a:pt x="1170432" y="338224"/>
                  <a:pt x="1151024" y="357632"/>
                  <a:pt x="1127083" y="357632"/>
                </a:cubicBezTo>
                <a:lnTo>
                  <a:pt x="43349" y="357632"/>
                </a:lnTo>
                <a:cubicBezTo>
                  <a:pt x="19408" y="357632"/>
                  <a:pt x="0" y="338224"/>
                  <a:pt x="0" y="314283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410273" y="3847253"/>
            <a:ext cx="1224619" cy="346795"/>
          </a:xfrm>
          <a:prstGeom prst="rect">
            <a:avLst/>
          </a:prstGeom>
          <a:noFill/>
          <a:ln/>
        </p:spPr>
        <p:txBody>
          <a:bodyPr wrap="square" lIns="130048" tIns="86699" rIns="130048" bIns="8669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集群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471148" y="4307840"/>
            <a:ext cx="1127083" cy="270933"/>
          </a:xfrm>
          <a:custGeom>
            <a:avLst/>
            <a:gdLst/>
            <a:ahLst/>
            <a:cxnLst/>
            <a:rect l="l" t="t" r="r" b="b"/>
            <a:pathLst>
              <a:path w="1127083" h="270933">
                <a:moveTo>
                  <a:pt x="43349" y="0"/>
                </a:moveTo>
                <a:lnTo>
                  <a:pt x="1083733" y="0"/>
                </a:lnTo>
                <a:cubicBezTo>
                  <a:pt x="1107675" y="0"/>
                  <a:pt x="1127083" y="19408"/>
                  <a:pt x="1127083" y="43349"/>
                </a:cubicBezTo>
                <a:lnTo>
                  <a:pt x="1127083" y="227584"/>
                </a:lnTo>
                <a:cubicBezTo>
                  <a:pt x="1127083" y="251525"/>
                  <a:pt x="1107675" y="270933"/>
                  <a:pt x="1083733" y="270933"/>
                </a:cubicBezTo>
                <a:lnTo>
                  <a:pt x="43349" y="270933"/>
                </a:lnTo>
                <a:cubicBezTo>
                  <a:pt x="19408" y="270933"/>
                  <a:pt x="0" y="251525"/>
                  <a:pt x="0" y="227584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433217" y="4302421"/>
            <a:ext cx="1181269" cy="260096"/>
          </a:xfrm>
          <a:prstGeom prst="rect">
            <a:avLst/>
          </a:prstGeom>
          <a:noFill/>
          <a:ln/>
        </p:spPr>
        <p:txBody>
          <a:bodyPr wrap="square" lIns="86699" tIns="43349" rIns="86699" bIns="43349" rtlCol="0" anchor="ctr"/>
          <a:lstStyle/>
          <a:p>
            <a:pPr algn="ctr">
              <a:lnSpc>
                <a:spcPct val="110000"/>
              </a:lnSpc>
            </a:pPr>
            <a:r>
              <a:rPr lang="en-US" sz="1024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 架构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51753" y="4676309"/>
            <a:ext cx="910336" cy="444331"/>
          </a:xfrm>
          <a:custGeom>
            <a:avLst/>
            <a:gdLst/>
            <a:ahLst/>
            <a:cxnLst/>
            <a:rect l="l" t="t" r="r" b="b"/>
            <a:pathLst>
              <a:path w="910336" h="444331">
                <a:moveTo>
                  <a:pt x="43349" y="0"/>
                </a:moveTo>
                <a:lnTo>
                  <a:pt x="866987" y="0"/>
                </a:lnTo>
                <a:cubicBezTo>
                  <a:pt x="890928" y="0"/>
                  <a:pt x="910336" y="19408"/>
                  <a:pt x="910336" y="43349"/>
                </a:cubicBezTo>
                <a:lnTo>
                  <a:pt x="910336" y="400982"/>
                </a:lnTo>
                <a:cubicBezTo>
                  <a:pt x="910336" y="424923"/>
                  <a:pt x="890928" y="444331"/>
                  <a:pt x="866987" y="444331"/>
                </a:cubicBezTo>
                <a:lnTo>
                  <a:pt x="43349" y="444331"/>
                </a:lnTo>
                <a:cubicBezTo>
                  <a:pt x="19408" y="444331"/>
                  <a:pt x="0" y="424923"/>
                  <a:pt x="0" y="400982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513822" y="4670891"/>
            <a:ext cx="964523" cy="433493"/>
          </a:xfrm>
          <a:prstGeom prst="rect">
            <a:avLst/>
          </a:prstGeom>
          <a:noFill/>
          <a:ln/>
        </p:spPr>
        <p:txBody>
          <a:bodyPr wrap="square" lIns="86699" tIns="43349" rIns="86699" bIns="4334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NameNode1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Namespace1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555984" y="4676309"/>
            <a:ext cx="932011" cy="444331"/>
          </a:xfrm>
          <a:custGeom>
            <a:avLst/>
            <a:gdLst/>
            <a:ahLst/>
            <a:cxnLst/>
            <a:rect l="l" t="t" r="r" b="b"/>
            <a:pathLst>
              <a:path w="932011" h="444331">
                <a:moveTo>
                  <a:pt x="43349" y="0"/>
                </a:moveTo>
                <a:lnTo>
                  <a:pt x="888662" y="0"/>
                </a:lnTo>
                <a:cubicBezTo>
                  <a:pt x="912603" y="0"/>
                  <a:pt x="932011" y="19408"/>
                  <a:pt x="932011" y="43349"/>
                </a:cubicBezTo>
                <a:lnTo>
                  <a:pt x="932011" y="400982"/>
                </a:lnTo>
                <a:cubicBezTo>
                  <a:pt x="932011" y="424923"/>
                  <a:pt x="912603" y="444331"/>
                  <a:pt x="888662" y="444331"/>
                </a:cubicBezTo>
                <a:lnTo>
                  <a:pt x="43349" y="444331"/>
                </a:lnTo>
                <a:cubicBezTo>
                  <a:pt x="19408" y="444331"/>
                  <a:pt x="0" y="424923"/>
                  <a:pt x="0" y="400982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518053" y="4670891"/>
            <a:ext cx="986197" cy="433493"/>
          </a:xfrm>
          <a:prstGeom prst="rect">
            <a:avLst/>
          </a:prstGeom>
          <a:noFill/>
          <a:ln/>
        </p:spPr>
        <p:txBody>
          <a:bodyPr wrap="square" lIns="86699" tIns="43349" rIns="86699" bIns="4334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NameNode2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Namespace2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582229" y="4676309"/>
            <a:ext cx="932011" cy="444331"/>
          </a:xfrm>
          <a:custGeom>
            <a:avLst/>
            <a:gdLst/>
            <a:ahLst/>
            <a:cxnLst/>
            <a:rect l="l" t="t" r="r" b="b"/>
            <a:pathLst>
              <a:path w="932011" h="444331">
                <a:moveTo>
                  <a:pt x="43349" y="0"/>
                </a:moveTo>
                <a:lnTo>
                  <a:pt x="888662" y="0"/>
                </a:lnTo>
                <a:cubicBezTo>
                  <a:pt x="912603" y="0"/>
                  <a:pt x="932011" y="19408"/>
                  <a:pt x="932011" y="43349"/>
                </a:cubicBezTo>
                <a:lnTo>
                  <a:pt x="932011" y="400982"/>
                </a:lnTo>
                <a:cubicBezTo>
                  <a:pt x="932011" y="424923"/>
                  <a:pt x="912603" y="444331"/>
                  <a:pt x="888662" y="444331"/>
                </a:cubicBezTo>
                <a:lnTo>
                  <a:pt x="43349" y="444331"/>
                </a:lnTo>
                <a:cubicBezTo>
                  <a:pt x="19408" y="444331"/>
                  <a:pt x="0" y="424923"/>
                  <a:pt x="0" y="400982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544298" y="4670891"/>
            <a:ext cx="986197" cy="433493"/>
          </a:xfrm>
          <a:prstGeom prst="rect">
            <a:avLst/>
          </a:prstGeom>
          <a:noFill/>
          <a:ln/>
        </p:spPr>
        <p:txBody>
          <a:bodyPr wrap="square" lIns="86699" tIns="43349" rIns="86699" bIns="4334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NameNode3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Namespace3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234335" y="5218176"/>
            <a:ext cx="1593088" cy="357632"/>
          </a:xfrm>
          <a:custGeom>
            <a:avLst/>
            <a:gdLst/>
            <a:ahLst/>
            <a:cxnLst/>
            <a:rect l="l" t="t" r="r" b="b"/>
            <a:pathLst>
              <a:path w="1593088" h="357632">
                <a:moveTo>
                  <a:pt x="43349" y="0"/>
                </a:moveTo>
                <a:lnTo>
                  <a:pt x="1549739" y="0"/>
                </a:lnTo>
                <a:cubicBezTo>
                  <a:pt x="1573680" y="0"/>
                  <a:pt x="1593088" y="19408"/>
                  <a:pt x="1593088" y="43349"/>
                </a:cubicBezTo>
                <a:lnTo>
                  <a:pt x="1593088" y="314283"/>
                </a:lnTo>
                <a:cubicBezTo>
                  <a:pt x="1593088" y="338224"/>
                  <a:pt x="1573680" y="357632"/>
                  <a:pt x="1549739" y="357632"/>
                </a:cubicBezTo>
                <a:lnTo>
                  <a:pt x="43349" y="357632"/>
                </a:lnTo>
                <a:cubicBezTo>
                  <a:pt x="19408" y="357632"/>
                  <a:pt x="0" y="338224"/>
                  <a:pt x="0" y="314283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96405" y="5212757"/>
            <a:ext cx="1647275" cy="346795"/>
          </a:xfrm>
          <a:prstGeom prst="rect">
            <a:avLst/>
          </a:prstGeom>
          <a:noFill/>
          <a:ln/>
        </p:spPr>
        <p:txBody>
          <a:bodyPr wrap="square" lIns="130048" tIns="86699" rIns="130048" bIns="86699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共享 DataNode 存储池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912" y="6247723"/>
            <a:ext cx="15378176" cy="2460075"/>
          </a:xfrm>
          <a:custGeom>
            <a:avLst/>
            <a:gdLst/>
            <a:ahLst/>
            <a:cxnLst/>
            <a:rect l="l" t="t" r="r" b="b"/>
            <a:pathLst>
              <a:path w="15378176" h="2460075">
                <a:moveTo>
                  <a:pt x="86693" y="0"/>
                </a:moveTo>
                <a:lnTo>
                  <a:pt x="15291483" y="0"/>
                </a:lnTo>
                <a:cubicBezTo>
                  <a:pt x="15339362" y="0"/>
                  <a:pt x="15378176" y="38814"/>
                  <a:pt x="15378176" y="86693"/>
                </a:cubicBezTo>
                <a:lnTo>
                  <a:pt x="15378176" y="2373382"/>
                </a:lnTo>
                <a:cubicBezTo>
                  <a:pt x="15378176" y="2421261"/>
                  <a:pt x="15339362" y="2460075"/>
                  <a:pt x="15291483" y="2460075"/>
                </a:cubicBezTo>
                <a:lnTo>
                  <a:pt x="86693" y="2460075"/>
                </a:lnTo>
                <a:cubicBezTo>
                  <a:pt x="38814" y="2460075"/>
                  <a:pt x="0" y="2421261"/>
                  <a:pt x="0" y="2373382"/>
                </a:cubicBezTo>
                <a:lnTo>
                  <a:pt x="0" y="86693"/>
                </a:lnTo>
                <a:cubicBezTo>
                  <a:pt x="0" y="38846"/>
                  <a:pt x="38846" y="0"/>
                  <a:pt x="866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88171" y="6513237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120227" y="-550"/>
                </a:moveTo>
                <a:cubicBezTo>
                  <a:pt x="112903" y="-4784"/>
                  <a:pt x="103844" y="-4784"/>
                  <a:pt x="96520" y="-550"/>
                </a:cubicBezTo>
                <a:lnTo>
                  <a:pt x="60875" y="20024"/>
                </a:lnTo>
                <a:cubicBezTo>
                  <a:pt x="53552" y="24257"/>
                  <a:pt x="49022" y="32089"/>
                  <a:pt x="49022" y="40555"/>
                </a:cubicBezTo>
                <a:lnTo>
                  <a:pt x="49022" y="83693"/>
                </a:lnTo>
                <a:lnTo>
                  <a:pt x="11642" y="105283"/>
                </a:lnTo>
                <a:cubicBezTo>
                  <a:pt x="4318" y="109516"/>
                  <a:pt x="-212" y="117348"/>
                  <a:pt x="-212" y="125815"/>
                </a:cubicBezTo>
                <a:lnTo>
                  <a:pt x="-212" y="167005"/>
                </a:lnTo>
                <a:cubicBezTo>
                  <a:pt x="-212" y="175472"/>
                  <a:pt x="4318" y="183303"/>
                  <a:pt x="11642" y="187537"/>
                </a:cubicBezTo>
                <a:lnTo>
                  <a:pt x="47329" y="208111"/>
                </a:lnTo>
                <a:cubicBezTo>
                  <a:pt x="54652" y="212344"/>
                  <a:pt x="63712" y="212344"/>
                  <a:pt x="71035" y="208111"/>
                </a:cubicBezTo>
                <a:lnTo>
                  <a:pt x="108416" y="186521"/>
                </a:lnTo>
                <a:lnTo>
                  <a:pt x="145796" y="208111"/>
                </a:lnTo>
                <a:cubicBezTo>
                  <a:pt x="153120" y="212344"/>
                  <a:pt x="162179" y="212344"/>
                  <a:pt x="169503" y="208111"/>
                </a:cubicBezTo>
                <a:lnTo>
                  <a:pt x="205105" y="187537"/>
                </a:lnTo>
                <a:cubicBezTo>
                  <a:pt x="212429" y="183303"/>
                  <a:pt x="216958" y="175472"/>
                  <a:pt x="216958" y="167005"/>
                </a:cubicBezTo>
                <a:lnTo>
                  <a:pt x="216958" y="125815"/>
                </a:lnTo>
                <a:cubicBezTo>
                  <a:pt x="216958" y="117348"/>
                  <a:pt x="212429" y="109516"/>
                  <a:pt x="205105" y="105283"/>
                </a:cubicBezTo>
                <a:lnTo>
                  <a:pt x="167725" y="83693"/>
                </a:lnTo>
                <a:lnTo>
                  <a:pt x="167725" y="40555"/>
                </a:lnTo>
                <a:cubicBezTo>
                  <a:pt x="167725" y="32089"/>
                  <a:pt x="163195" y="24257"/>
                  <a:pt x="155871" y="20024"/>
                </a:cubicBezTo>
                <a:lnTo>
                  <a:pt x="120227" y="-550"/>
                </a:lnTo>
                <a:close/>
                <a:moveTo>
                  <a:pt x="98213" y="123867"/>
                </a:moveTo>
                <a:lnTo>
                  <a:pt x="98213" y="168952"/>
                </a:lnTo>
                <a:lnTo>
                  <a:pt x="60833" y="190542"/>
                </a:lnTo>
                <a:cubicBezTo>
                  <a:pt x="60325" y="190839"/>
                  <a:pt x="59732" y="191008"/>
                  <a:pt x="59140" y="191008"/>
                </a:cubicBezTo>
                <a:lnTo>
                  <a:pt x="59140" y="146431"/>
                </a:lnTo>
                <a:lnTo>
                  <a:pt x="98213" y="123867"/>
                </a:lnTo>
                <a:close/>
                <a:moveTo>
                  <a:pt x="196173" y="124121"/>
                </a:moveTo>
                <a:cubicBezTo>
                  <a:pt x="196469" y="124629"/>
                  <a:pt x="196638" y="125222"/>
                  <a:pt x="196638" y="125815"/>
                </a:cubicBezTo>
                <a:lnTo>
                  <a:pt x="196638" y="167005"/>
                </a:lnTo>
                <a:cubicBezTo>
                  <a:pt x="196638" y="168233"/>
                  <a:pt x="196003" y="169333"/>
                  <a:pt x="194945" y="169926"/>
                </a:cubicBezTo>
                <a:lnTo>
                  <a:pt x="159258" y="190500"/>
                </a:lnTo>
                <a:cubicBezTo>
                  <a:pt x="158750" y="190796"/>
                  <a:pt x="158157" y="190966"/>
                  <a:pt x="157565" y="190966"/>
                </a:cubicBezTo>
                <a:lnTo>
                  <a:pt x="157565" y="146389"/>
                </a:lnTo>
                <a:lnTo>
                  <a:pt x="196173" y="124121"/>
                </a:lnTo>
                <a:close/>
                <a:moveTo>
                  <a:pt x="147447" y="40555"/>
                </a:moveTo>
                <a:lnTo>
                  <a:pt x="147447" y="83693"/>
                </a:lnTo>
                <a:lnTo>
                  <a:pt x="108373" y="106257"/>
                </a:lnTo>
                <a:lnTo>
                  <a:pt x="108373" y="61172"/>
                </a:lnTo>
                <a:lnTo>
                  <a:pt x="146981" y="38904"/>
                </a:lnTo>
                <a:cubicBezTo>
                  <a:pt x="147278" y="39412"/>
                  <a:pt x="147447" y="40005"/>
                  <a:pt x="147447" y="4059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32011" y="6469888"/>
            <a:ext cx="14771285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66496" y="6952149"/>
            <a:ext cx="2839381" cy="1528064"/>
          </a:xfrm>
          <a:custGeom>
            <a:avLst/>
            <a:gdLst/>
            <a:ahLst/>
            <a:cxnLst/>
            <a:rect l="l" t="t" r="r" b="b"/>
            <a:pathLst>
              <a:path w="2839381" h="1528064">
                <a:moveTo>
                  <a:pt x="86702" y="0"/>
                </a:moveTo>
                <a:lnTo>
                  <a:pt x="2752679" y="0"/>
                </a:lnTo>
                <a:cubicBezTo>
                  <a:pt x="2800563" y="0"/>
                  <a:pt x="2839381" y="38818"/>
                  <a:pt x="2839381" y="86702"/>
                </a:cubicBezTo>
                <a:lnTo>
                  <a:pt x="2839381" y="1441362"/>
                </a:lnTo>
                <a:cubicBezTo>
                  <a:pt x="2839381" y="1489246"/>
                  <a:pt x="2800563" y="1528064"/>
                  <a:pt x="2752679" y="1528064"/>
                </a:cubicBezTo>
                <a:lnTo>
                  <a:pt x="86702" y="1528064"/>
                </a:lnTo>
                <a:cubicBezTo>
                  <a:pt x="38818" y="1528064"/>
                  <a:pt x="0" y="1489246"/>
                  <a:pt x="0" y="1441362"/>
                </a:cubicBezTo>
                <a:lnTo>
                  <a:pt x="0" y="86702"/>
                </a:lnTo>
                <a:cubicBezTo>
                  <a:pt x="0" y="38850"/>
                  <a:pt x="38850" y="0"/>
                  <a:pt x="8670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830832" y="7093035"/>
            <a:ext cx="509355" cy="509355"/>
          </a:xfrm>
          <a:custGeom>
            <a:avLst/>
            <a:gdLst/>
            <a:ahLst/>
            <a:cxnLst/>
            <a:rect l="l" t="t" r="r" b="b"/>
            <a:pathLst>
              <a:path w="509355" h="509355">
                <a:moveTo>
                  <a:pt x="86697" y="0"/>
                </a:moveTo>
                <a:lnTo>
                  <a:pt x="422657" y="0"/>
                </a:lnTo>
                <a:cubicBezTo>
                  <a:pt x="470539" y="0"/>
                  <a:pt x="509355" y="38816"/>
                  <a:pt x="509355" y="86697"/>
                </a:cubicBezTo>
                <a:lnTo>
                  <a:pt x="509355" y="422657"/>
                </a:lnTo>
                <a:cubicBezTo>
                  <a:pt x="509355" y="470539"/>
                  <a:pt x="470539" y="509355"/>
                  <a:pt x="422657" y="509355"/>
                </a:cubicBezTo>
                <a:lnTo>
                  <a:pt x="86697" y="509355"/>
                </a:lnTo>
                <a:cubicBezTo>
                  <a:pt x="38816" y="509355"/>
                  <a:pt x="0" y="470539"/>
                  <a:pt x="0" y="422657"/>
                </a:cubicBezTo>
                <a:lnTo>
                  <a:pt x="0" y="86697"/>
                </a:lnTo>
                <a:cubicBezTo>
                  <a:pt x="0" y="38816"/>
                  <a:pt x="38816" y="0"/>
                  <a:pt x="866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990683" y="7250176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24384" y="170688"/>
                </a:moveTo>
                <a:lnTo>
                  <a:pt x="170688" y="170688"/>
                </a:lnTo>
                <a:cubicBezTo>
                  <a:pt x="184137" y="170688"/>
                  <a:pt x="195072" y="159753"/>
                  <a:pt x="195072" y="146304"/>
                </a:cubicBezTo>
                <a:lnTo>
                  <a:pt x="195072" y="54864"/>
                </a:lnTo>
                <a:cubicBezTo>
                  <a:pt x="195072" y="41415"/>
                  <a:pt x="184137" y="30480"/>
                  <a:pt x="170688" y="30480"/>
                </a:cubicBezTo>
                <a:lnTo>
                  <a:pt x="113805" y="30480"/>
                </a:lnTo>
                <a:cubicBezTo>
                  <a:pt x="111176" y="30480"/>
                  <a:pt x="108585" y="29642"/>
                  <a:pt x="106490" y="28042"/>
                </a:cubicBezTo>
                <a:lnTo>
                  <a:pt x="91859" y="17069"/>
                </a:lnTo>
                <a:cubicBezTo>
                  <a:pt x="87630" y="13907"/>
                  <a:pt x="82487" y="12192"/>
                  <a:pt x="77229" y="12192"/>
                </a:cubicBezTo>
                <a:lnTo>
                  <a:pt x="24384" y="12192"/>
                </a:lnTo>
                <a:cubicBezTo>
                  <a:pt x="10935" y="12192"/>
                  <a:pt x="0" y="23127"/>
                  <a:pt x="0" y="36576"/>
                </a:cubicBezTo>
                <a:lnTo>
                  <a:pt x="0" y="146304"/>
                </a:lnTo>
                <a:cubicBezTo>
                  <a:pt x="0" y="159753"/>
                  <a:pt x="10935" y="170688"/>
                  <a:pt x="24384" y="17068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758613" y="7694507"/>
            <a:ext cx="26551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9451" y="7997952"/>
            <a:ext cx="2633472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NameNode 管理独立的命名空间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88842" y="6952149"/>
            <a:ext cx="2839381" cy="1528064"/>
          </a:xfrm>
          <a:custGeom>
            <a:avLst/>
            <a:gdLst/>
            <a:ahLst/>
            <a:cxnLst/>
            <a:rect l="l" t="t" r="r" b="b"/>
            <a:pathLst>
              <a:path w="2839381" h="1528064">
                <a:moveTo>
                  <a:pt x="86702" y="0"/>
                </a:moveTo>
                <a:lnTo>
                  <a:pt x="2752679" y="0"/>
                </a:lnTo>
                <a:cubicBezTo>
                  <a:pt x="2800563" y="0"/>
                  <a:pt x="2839381" y="38818"/>
                  <a:pt x="2839381" y="86702"/>
                </a:cubicBezTo>
                <a:lnTo>
                  <a:pt x="2839381" y="1441362"/>
                </a:lnTo>
                <a:cubicBezTo>
                  <a:pt x="2839381" y="1489246"/>
                  <a:pt x="2800563" y="1528064"/>
                  <a:pt x="2752679" y="1528064"/>
                </a:cubicBezTo>
                <a:lnTo>
                  <a:pt x="86702" y="1528064"/>
                </a:lnTo>
                <a:cubicBezTo>
                  <a:pt x="38818" y="1528064"/>
                  <a:pt x="0" y="1489246"/>
                  <a:pt x="0" y="1441362"/>
                </a:cubicBezTo>
                <a:lnTo>
                  <a:pt x="0" y="86702"/>
                </a:lnTo>
                <a:cubicBezTo>
                  <a:pt x="0" y="38850"/>
                  <a:pt x="38850" y="0"/>
                  <a:pt x="8670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853263" y="7093035"/>
            <a:ext cx="509355" cy="509355"/>
          </a:xfrm>
          <a:custGeom>
            <a:avLst/>
            <a:gdLst/>
            <a:ahLst/>
            <a:cxnLst/>
            <a:rect l="l" t="t" r="r" b="b"/>
            <a:pathLst>
              <a:path w="509355" h="509355">
                <a:moveTo>
                  <a:pt x="86697" y="0"/>
                </a:moveTo>
                <a:lnTo>
                  <a:pt x="422657" y="0"/>
                </a:lnTo>
                <a:cubicBezTo>
                  <a:pt x="470539" y="0"/>
                  <a:pt x="509355" y="38816"/>
                  <a:pt x="509355" y="86697"/>
                </a:cubicBezTo>
                <a:lnTo>
                  <a:pt x="509355" y="422657"/>
                </a:lnTo>
                <a:cubicBezTo>
                  <a:pt x="509355" y="470539"/>
                  <a:pt x="470539" y="509355"/>
                  <a:pt x="422657" y="509355"/>
                </a:cubicBezTo>
                <a:lnTo>
                  <a:pt x="86697" y="509355"/>
                </a:lnTo>
                <a:cubicBezTo>
                  <a:pt x="38816" y="509355"/>
                  <a:pt x="0" y="470539"/>
                  <a:pt x="0" y="422657"/>
                </a:cubicBezTo>
                <a:lnTo>
                  <a:pt x="0" y="86697"/>
                </a:lnTo>
                <a:cubicBezTo>
                  <a:pt x="0" y="38816"/>
                  <a:pt x="38816" y="0"/>
                  <a:pt x="866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013113" y="7250176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108204" y="-495"/>
                </a:moveTo>
                <a:cubicBezTo>
                  <a:pt x="101613" y="-4305"/>
                  <a:pt x="93459" y="-4305"/>
                  <a:pt x="86868" y="-495"/>
                </a:cubicBezTo>
                <a:lnTo>
                  <a:pt x="54788" y="18021"/>
                </a:lnTo>
                <a:cubicBezTo>
                  <a:pt x="48197" y="21831"/>
                  <a:pt x="44120" y="28880"/>
                  <a:pt x="44120" y="36500"/>
                </a:cubicBezTo>
                <a:lnTo>
                  <a:pt x="44120" y="75324"/>
                </a:lnTo>
                <a:lnTo>
                  <a:pt x="10478" y="94755"/>
                </a:lnTo>
                <a:cubicBezTo>
                  <a:pt x="3886" y="98565"/>
                  <a:pt x="-190" y="105613"/>
                  <a:pt x="-190" y="113233"/>
                </a:cubicBezTo>
                <a:lnTo>
                  <a:pt x="-190" y="150305"/>
                </a:lnTo>
                <a:cubicBezTo>
                  <a:pt x="-190" y="157925"/>
                  <a:pt x="3886" y="164973"/>
                  <a:pt x="10478" y="168783"/>
                </a:cubicBezTo>
                <a:lnTo>
                  <a:pt x="42596" y="187300"/>
                </a:lnTo>
                <a:cubicBezTo>
                  <a:pt x="49187" y="191110"/>
                  <a:pt x="57340" y="191110"/>
                  <a:pt x="63932" y="187300"/>
                </a:cubicBezTo>
                <a:lnTo>
                  <a:pt x="97574" y="167869"/>
                </a:lnTo>
                <a:lnTo>
                  <a:pt x="131216" y="187300"/>
                </a:lnTo>
                <a:cubicBezTo>
                  <a:pt x="137808" y="191110"/>
                  <a:pt x="145961" y="191110"/>
                  <a:pt x="152552" y="187300"/>
                </a:cubicBezTo>
                <a:lnTo>
                  <a:pt x="184595" y="168783"/>
                </a:lnTo>
                <a:cubicBezTo>
                  <a:pt x="191186" y="164973"/>
                  <a:pt x="195263" y="157925"/>
                  <a:pt x="195263" y="150305"/>
                </a:cubicBezTo>
                <a:lnTo>
                  <a:pt x="195263" y="113233"/>
                </a:lnTo>
                <a:cubicBezTo>
                  <a:pt x="195263" y="105613"/>
                  <a:pt x="191186" y="98565"/>
                  <a:pt x="184595" y="94755"/>
                </a:cubicBezTo>
                <a:lnTo>
                  <a:pt x="150952" y="75324"/>
                </a:lnTo>
                <a:lnTo>
                  <a:pt x="150952" y="36500"/>
                </a:lnTo>
                <a:cubicBezTo>
                  <a:pt x="150952" y="28880"/>
                  <a:pt x="146876" y="21831"/>
                  <a:pt x="140284" y="18021"/>
                </a:cubicBezTo>
                <a:lnTo>
                  <a:pt x="108204" y="-495"/>
                </a:lnTo>
                <a:close/>
                <a:moveTo>
                  <a:pt x="88392" y="111481"/>
                </a:moveTo>
                <a:lnTo>
                  <a:pt x="88392" y="152057"/>
                </a:lnTo>
                <a:lnTo>
                  <a:pt x="54750" y="171488"/>
                </a:lnTo>
                <a:cubicBezTo>
                  <a:pt x="54293" y="171755"/>
                  <a:pt x="53759" y="171907"/>
                  <a:pt x="53226" y="171907"/>
                </a:cubicBezTo>
                <a:lnTo>
                  <a:pt x="53226" y="131788"/>
                </a:lnTo>
                <a:lnTo>
                  <a:pt x="88392" y="111481"/>
                </a:lnTo>
                <a:close/>
                <a:moveTo>
                  <a:pt x="176555" y="111709"/>
                </a:moveTo>
                <a:cubicBezTo>
                  <a:pt x="176822" y="112166"/>
                  <a:pt x="176975" y="112700"/>
                  <a:pt x="176975" y="113233"/>
                </a:cubicBezTo>
                <a:lnTo>
                  <a:pt x="176975" y="150305"/>
                </a:lnTo>
                <a:cubicBezTo>
                  <a:pt x="176975" y="151409"/>
                  <a:pt x="176403" y="152400"/>
                  <a:pt x="175451" y="152933"/>
                </a:cubicBezTo>
                <a:lnTo>
                  <a:pt x="143332" y="171450"/>
                </a:lnTo>
                <a:cubicBezTo>
                  <a:pt x="142875" y="171717"/>
                  <a:pt x="142342" y="171869"/>
                  <a:pt x="141808" y="171869"/>
                </a:cubicBezTo>
                <a:lnTo>
                  <a:pt x="141808" y="131750"/>
                </a:lnTo>
                <a:lnTo>
                  <a:pt x="176555" y="111709"/>
                </a:lnTo>
                <a:close/>
                <a:moveTo>
                  <a:pt x="132702" y="36500"/>
                </a:moveTo>
                <a:lnTo>
                  <a:pt x="132702" y="75324"/>
                </a:lnTo>
                <a:lnTo>
                  <a:pt x="97536" y="95631"/>
                </a:lnTo>
                <a:lnTo>
                  <a:pt x="97536" y="55055"/>
                </a:lnTo>
                <a:lnTo>
                  <a:pt x="132283" y="35014"/>
                </a:lnTo>
                <a:cubicBezTo>
                  <a:pt x="132550" y="35471"/>
                  <a:pt x="132702" y="36005"/>
                  <a:pt x="132702" y="3653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780959" y="7694507"/>
            <a:ext cx="26551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块池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791797" y="7997952"/>
            <a:ext cx="2633472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属于单个命名空间的数据块集合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711273" y="6952149"/>
            <a:ext cx="2839381" cy="1528064"/>
          </a:xfrm>
          <a:custGeom>
            <a:avLst/>
            <a:gdLst/>
            <a:ahLst/>
            <a:cxnLst/>
            <a:rect l="l" t="t" r="r" b="b"/>
            <a:pathLst>
              <a:path w="2839381" h="1528064">
                <a:moveTo>
                  <a:pt x="86702" y="0"/>
                </a:moveTo>
                <a:lnTo>
                  <a:pt x="2752679" y="0"/>
                </a:lnTo>
                <a:cubicBezTo>
                  <a:pt x="2800563" y="0"/>
                  <a:pt x="2839381" y="38818"/>
                  <a:pt x="2839381" y="86702"/>
                </a:cubicBezTo>
                <a:lnTo>
                  <a:pt x="2839381" y="1441362"/>
                </a:lnTo>
                <a:cubicBezTo>
                  <a:pt x="2839381" y="1489246"/>
                  <a:pt x="2800563" y="1528064"/>
                  <a:pt x="2752679" y="1528064"/>
                </a:cubicBezTo>
                <a:lnTo>
                  <a:pt x="86702" y="1528064"/>
                </a:lnTo>
                <a:cubicBezTo>
                  <a:pt x="38818" y="1528064"/>
                  <a:pt x="0" y="1489246"/>
                  <a:pt x="0" y="1441362"/>
                </a:cubicBezTo>
                <a:lnTo>
                  <a:pt x="0" y="86702"/>
                </a:lnTo>
                <a:cubicBezTo>
                  <a:pt x="0" y="38850"/>
                  <a:pt x="38850" y="0"/>
                  <a:pt x="86702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7875609" y="7093035"/>
            <a:ext cx="509355" cy="509355"/>
          </a:xfrm>
          <a:custGeom>
            <a:avLst/>
            <a:gdLst/>
            <a:ahLst/>
            <a:cxnLst/>
            <a:rect l="l" t="t" r="r" b="b"/>
            <a:pathLst>
              <a:path w="509355" h="509355">
                <a:moveTo>
                  <a:pt x="86697" y="0"/>
                </a:moveTo>
                <a:lnTo>
                  <a:pt x="422657" y="0"/>
                </a:lnTo>
                <a:cubicBezTo>
                  <a:pt x="470539" y="0"/>
                  <a:pt x="509355" y="38816"/>
                  <a:pt x="509355" y="86697"/>
                </a:cubicBezTo>
                <a:lnTo>
                  <a:pt x="509355" y="422657"/>
                </a:lnTo>
                <a:cubicBezTo>
                  <a:pt x="509355" y="470539"/>
                  <a:pt x="470539" y="509355"/>
                  <a:pt x="422657" y="509355"/>
                </a:cubicBezTo>
                <a:lnTo>
                  <a:pt x="86697" y="509355"/>
                </a:lnTo>
                <a:cubicBezTo>
                  <a:pt x="38816" y="509355"/>
                  <a:pt x="0" y="470539"/>
                  <a:pt x="0" y="422657"/>
                </a:cubicBezTo>
                <a:lnTo>
                  <a:pt x="0" y="86697"/>
                </a:lnTo>
                <a:cubicBezTo>
                  <a:pt x="0" y="38816"/>
                  <a:pt x="38816" y="0"/>
                  <a:pt x="8669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047651" y="7250176"/>
            <a:ext cx="170688" cy="195072"/>
          </a:xfrm>
          <a:custGeom>
            <a:avLst/>
            <a:gdLst/>
            <a:ahLst/>
            <a:cxnLst/>
            <a:rect l="l" t="t" r="r" b="b"/>
            <a:pathLst>
              <a:path w="170688" h="195072">
                <a:moveTo>
                  <a:pt x="170688" y="78410"/>
                </a:moveTo>
                <a:cubicBezTo>
                  <a:pt x="165049" y="82144"/>
                  <a:pt x="158572" y="85153"/>
                  <a:pt x="151829" y="87554"/>
                </a:cubicBezTo>
                <a:cubicBezTo>
                  <a:pt x="133922" y="93955"/>
                  <a:pt x="110414" y="97536"/>
                  <a:pt x="85344" y="97536"/>
                </a:cubicBezTo>
                <a:cubicBezTo>
                  <a:pt x="60274" y="97536"/>
                  <a:pt x="36728" y="93917"/>
                  <a:pt x="18859" y="87554"/>
                </a:cubicBezTo>
                <a:cubicBezTo>
                  <a:pt x="12154" y="85153"/>
                  <a:pt x="5639" y="82144"/>
                  <a:pt x="0" y="78410"/>
                </a:cubicBezTo>
                <a:lnTo>
                  <a:pt x="0" y="109728"/>
                </a:lnTo>
                <a:cubicBezTo>
                  <a:pt x="0" y="126568"/>
                  <a:pt x="38214" y="140208"/>
                  <a:pt x="85344" y="140208"/>
                </a:cubicBezTo>
                <a:cubicBezTo>
                  <a:pt x="132474" y="140208"/>
                  <a:pt x="170688" y="126568"/>
                  <a:pt x="170688" y="109728"/>
                </a:cubicBezTo>
                <a:lnTo>
                  <a:pt x="170688" y="78410"/>
                </a:lnTo>
                <a:close/>
                <a:moveTo>
                  <a:pt x="170688" y="48768"/>
                </a:moveTo>
                <a:lnTo>
                  <a:pt x="170688" y="30480"/>
                </a:lnTo>
                <a:cubicBezTo>
                  <a:pt x="170688" y="13640"/>
                  <a:pt x="132474" y="0"/>
                  <a:pt x="85344" y="0"/>
                </a:cubicBezTo>
                <a:cubicBezTo>
                  <a:pt x="38214" y="0"/>
                  <a:pt x="0" y="13640"/>
                  <a:pt x="0" y="30480"/>
                </a:cubicBezTo>
                <a:lnTo>
                  <a:pt x="0" y="48768"/>
                </a:lnTo>
                <a:cubicBezTo>
                  <a:pt x="0" y="65608"/>
                  <a:pt x="38214" y="79248"/>
                  <a:pt x="85344" y="79248"/>
                </a:cubicBezTo>
                <a:cubicBezTo>
                  <a:pt x="132474" y="79248"/>
                  <a:pt x="170688" y="65608"/>
                  <a:pt x="170688" y="48768"/>
                </a:cubicBezTo>
                <a:close/>
                <a:moveTo>
                  <a:pt x="151829" y="148514"/>
                </a:moveTo>
                <a:cubicBezTo>
                  <a:pt x="133960" y="154877"/>
                  <a:pt x="110452" y="158496"/>
                  <a:pt x="85344" y="158496"/>
                </a:cubicBezTo>
                <a:cubicBezTo>
                  <a:pt x="60236" y="158496"/>
                  <a:pt x="36728" y="154877"/>
                  <a:pt x="18859" y="148514"/>
                </a:cubicBezTo>
                <a:cubicBezTo>
                  <a:pt x="12154" y="146114"/>
                  <a:pt x="5639" y="143104"/>
                  <a:pt x="0" y="139370"/>
                </a:cubicBezTo>
                <a:lnTo>
                  <a:pt x="0" y="164592"/>
                </a:lnTo>
                <a:cubicBezTo>
                  <a:pt x="0" y="181432"/>
                  <a:pt x="38214" y="195072"/>
                  <a:pt x="85344" y="195072"/>
                </a:cubicBezTo>
                <a:cubicBezTo>
                  <a:pt x="132474" y="195072"/>
                  <a:pt x="170688" y="181432"/>
                  <a:pt x="170688" y="164592"/>
                </a:cubicBezTo>
                <a:lnTo>
                  <a:pt x="170688" y="139370"/>
                </a:lnTo>
                <a:cubicBezTo>
                  <a:pt x="165049" y="143104"/>
                  <a:pt x="158572" y="146114"/>
                  <a:pt x="151829" y="148514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803390" y="7694507"/>
            <a:ext cx="26551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命名空间卷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14227" y="7997952"/>
            <a:ext cx="2633472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命名空间和块池的组合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733619" y="6952149"/>
            <a:ext cx="2839381" cy="1528064"/>
          </a:xfrm>
          <a:custGeom>
            <a:avLst/>
            <a:gdLst/>
            <a:ahLst/>
            <a:cxnLst/>
            <a:rect l="l" t="t" r="r" b="b"/>
            <a:pathLst>
              <a:path w="2839381" h="1528064">
                <a:moveTo>
                  <a:pt x="86702" y="0"/>
                </a:moveTo>
                <a:lnTo>
                  <a:pt x="2752679" y="0"/>
                </a:lnTo>
                <a:cubicBezTo>
                  <a:pt x="2800563" y="0"/>
                  <a:pt x="2839381" y="38818"/>
                  <a:pt x="2839381" y="86702"/>
                </a:cubicBezTo>
                <a:lnTo>
                  <a:pt x="2839381" y="1441362"/>
                </a:lnTo>
                <a:cubicBezTo>
                  <a:pt x="2839381" y="1489246"/>
                  <a:pt x="2800563" y="1528064"/>
                  <a:pt x="2752679" y="1528064"/>
                </a:cubicBezTo>
                <a:lnTo>
                  <a:pt x="86702" y="1528064"/>
                </a:lnTo>
                <a:cubicBezTo>
                  <a:pt x="38818" y="1528064"/>
                  <a:pt x="0" y="1489246"/>
                  <a:pt x="0" y="1441362"/>
                </a:cubicBezTo>
                <a:lnTo>
                  <a:pt x="0" y="86702"/>
                </a:lnTo>
                <a:cubicBezTo>
                  <a:pt x="0" y="38850"/>
                  <a:pt x="38850" y="0"/>
                  <a:pt x="86702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98039" y="7093035"/>
            <a:ext cx="509355" cy="509355"/>
          </a:xfrm>
          <a:custGeom>
            <a:avLst/>
            <a:gdLst/>
            <a:ahLst/>
            <a:cxnLst/>
            <a:rect l="l" t="t" r="r" b="b"/>
            <a:pathLst>
              <a:path w="509355" h="509355">
                <a:moveTo>
                  <a:pt x="86697" y="0"/>
                </a:moveTo>
                <a:lnTo>
                  <a:pt x="422657" y="0"/>
                </a:lnTo>
                <a:cubicBezTo>
                  <a:pt x="470539" y="0"/>
                  <a:pt x="509355" y="38816"/>
                  <a:pt x="509355" y="86697"/>
                </a:cubicBezTo>
                <a:lnTo>
                  <a:pt x="509355" y="422657"/>
                </a:lnTo>
                <a:cubicBezTo>
                  <a:pt x="509355" y="470539"/>
                  <a:pt x="470539" y="509355"/>
                  <a:pt x="422657" y="509355"/>
                </a:cubicBezTo>
                <a:lnTo>
                  <a:pt x="86697" y="509355"/>
                </a:lnTo>
                <a:cubicBezTo>
                  <a:pt x="38816" y="509355"/>
                  <a:pt x="0" y="470539"/>
                  <a:pt x="0" y="422657"/>
                </a:cubicBezTo>
                <a:lnTo>
                  <a:pt x="0" y="86697"/>
                </a:lnTo>
                <a:cubicBezTo>
                  <a:pt x="0" y="38816"/>
                  <a:pt x="38816" y="0"/>
                  <a:pt x="8669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1070082" y="7250176"/>
            <a:ext cx="170688" cy="195072"/>
          </a:xfrm>
          <a:custGeom>
            <a:avLst/>
            <a:gdLst/>
            <a:ahLst/>
            <a:cxnLst/>
            <a:rect l="l" t="t" r="r" b="b"/>
            <a:pathLst>
              <a:path w="170688" h="195072">
                <a:moveTo>
                  <a:pt x="24384" y="12192"/>
                </a:moveTo>
                <a:cubicBezTo>
                  <a:pt x="10935" y="12192"/>
                  <a:pt x="0" y="23127"/>
                  <a:pt x="0" y="36576"/>
                </a:cubicBezTo>
                <a:lnTo>
                  <a:pt x="0" y="60960"/>
                </a:lnTo>
                <a:cubicBezTo>
                  <a:pt x="0" y="74409"/>
                  <a:pt x="10935" y="85344"/>
                  <a:pt x="24384" y="85344"/>
                </a:cubicBezTo>
                <a:lnTo>
                  <a:pt x="146304" y="85344"/>
                </a:lnTo>
                <a:cubicBezTo>
                  <a:pt x="159753" y="85344"/>
                  <a:pt x="170688" y="74409"/>
                  <a:pt x="170688" y="60960"/>
                </a:cubicBezTo>
                <a:lnTo>
                  <a:pt x="170688" y="36576"/>
                </a:lnTo>
                <a:cubicBezTo>
                  <a:pt x="170688" y="23127"/>
                  <a:pt x="159753" y="12192"/>
                  <a:pt x="146304" y="12192"/>
                </a:cubicBezTo>
                <a:lnTo>
                  <a:pt x="24384" y="12192"/>
                </a:lnTo>
                <a:close/>
                <a:moveTo>
                  <a:pt x="106680" y="39624"/>
                </a:moveTo>
                <a:cubicBezTo>
                  <a:pt x="111727" y="39624"/>
                  <a:pt x="115824" y="43721"/>
                  <a:pt x="115824" y="48768"/>
                </a:cubicBezTo>
                <a:cubicBezTo>
                  <a:pt x="115824" y="53815"/>
                  <a:pt x="111727" y="57912"/>
                  <a:pt x="106680" y="57912"/>
                </a:cubicBezTo>
                <a:cubicBezTo>
                  <a:pt x="101633" y="57912"/>
                  <a:pt x="97536" y="53815"/>
                  <a:pt x="97536" y="48768"/>
                </a:cubicBezTo>
                <a:cubicBezTo>
                  <a:pt x="97536" y="43721"/>
                  <a:pt x="101633" y="39624"/>
                  <a:pt x="106680" y="39624"/>
                </a:cubicBezTo>
                <a:close/>
                <a:moveTo>
                  <a:pt x="128016" y="48768"/>
                </a:moveTo>
                <a:cubicBezTo>
                  <a:pt x="128016" y="43721"/>
                  <a:pt x="132113" y="39624"/>
                  <a:pt x="137160" y="39624"/>
                </a:cubicBezTo>
                <a:cubicBezTo>
                  <a:pt x="142207" y="39624"/>
                  <a:pt x="146304" y="43721"/>
                  <a:pt x="146304" y="48768"/>
                </a:cubicBezTo>
                <a:cubicBezTo>
                  <a:pt x="146304" y="53815"/>
                  <a:pt x="142207" y="57912"/>
                  <a:pt x="137160" y="57912"/>
                </a:cubicBezTo>
                <a:cubicBezTo>
                  <a:pt x="132113" y="57912"/>
                  <a:pt x="128016" y="53815"/>
                  <a:pt x="128016" y="48768"/>
                </a:cubicBezTo>
                <a:close/>
                <a:moveTo>
                  <a:pt x="24384" y="109728"/>
                </a:moveTo>
                <a:cubicBezTo>
                  <a:pt x="10935" y="109728"/>
                  <a:pt x="0" y="120663"/>
                  <a:pt x="0" y="134112"/>
                </a:cubicBezTo>
                <a:lnTo>
                  <a:pt x="0" y="158496"/>
                </a:lnTo>
                <a:cubicBezTo>
                  <a:pt x="0" y="171945"/>
                  <a:pt x="10935" y="182880"/>
                  <a:pt x="24384" y="182880"/>
                </a:cubicBezTo>
                <a:lnTo>
                  <a:pt x="146304" y="182880"/>
                </a:lnTo>
                <a:cubicBezTo>
                  <a:pt x="159753" y="182880"/>
                  <a:pt x="170688" y="171945"/>
                  <a:pt x="170688" y="158496"/>
                </a:cubicBezTo>
                <a:lnTo>
                  <a:pt x="170688" y="134112"/>
                </a:lnTo>
                <a:cubicBezTo>
                  <a:pt x="170688" y="120663"/>
                  <a:pt x="159753" y="109728"/>
                  <a:pt x="146304" y="109728"/>
                </a:cubicBezTo>
                <a:lnTo>
                  <a:pt x="24384" y="109728"/>
                </a:lnTo>
                <a:close/>
                <a:moveTo>
                  <a:pt x="106680" y="137160"/>
                </a:moveTo>
                <a:cubicBezTo>
                  <a:pt x="111727" y="137160"/>
                  <a:pt x="115824" y="141257"/>
                  <a:pt x="115824" y="146304"/>
                </a:cubicBezTo>
                <a:cubicBezTo>
                  <a:pt x="115824" y="151351"/>
                  <a:pt x="111727" y="155448"/>
                  <a:pt x="106680" y="155448"/>
                </a:cubicBezTo>
                <a:cubicBezTo>
                  <a:pt x="101633" y="155448"/>
                  <a:pt x="97536" y="151351"/>
                  <a:pt x="97536" y="146304"/>
                </a:cubicBezTo>
                <a:cubicBezTo>
                  <a:pt x="97536" y="141257"/>
                  <a:pt x="101633" y="137160"/>
                  <a:pt x="106680" y="137160"/>
                </a:cubicBezTo>
                <a:close/>
                <a:moveTo>
                  <a:pt x="128016" y="146304"/>
                </a:moveTo>
                <a:cubicBezTo>
                  <a:pt x="128016" y="141257"/>
                  <a:pt x="132113" y="137160"/>
                  <a:pt x="137160" y="137160"/>
                </a:cubicBezTo>
                <a:cubicBezTo>
                  <a:pt x="142207" y="137160"/>
                  <a:pt x="146304" y="141257"/>
                  <a:pt x="146304" y="146304"/>
                </a:cubicBezTo>
                <a:cubicBezTo>
                  <a:pt x="146304" y="151351"/>
                  <a:pt x="142207" y="155448"/>
                  <a:pt x="137160" y="155448"/>
                </a:cubicBezTo>
                <a:cubicBezTo>
                  <a:pt x="132113" y="155448"/>
                  <a:pt x="128016" y="151351"/>
                  <a:pt x="128016" y="146304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825736" y="7694507"/>
            <a:ext cx="26551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共享存储池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36573" y="7997952"/>
            <a:ext cx="2633472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 DataNode 组成统一的存储池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2756049" y="6952149"/>
            <a:ext cx="2839381" cy="1528064"/>
          </a:xfrm>
          <a:custGeom>
            <a:avLst/>
            <a:gdLst/>
            <a:ahLst/>
            <a:cxnLst/>
            <a:rect l="l" t="t" r="r" b="b"/>
            <a:pathLst>
              <a:path w="2839381" h="1528064">
                <a:moveTo>
                  <a:pt x="86702" y="0"/>
                </a:moveTo>
                <a:lnTo>
                  <a:pt x="2752679" y="0"/>
                </a:lnTo>
                <a:cubicBezTo>
                  <a:pt x="2800563" y="0"/>
                  <a:pt x="2839381" y="38818"/>
                  <a:pt x="2839381" y="86702"/>
                </a:cubicBezTo>
                <a:lnTo>
                  <a:pt x="2839381" y="1441362"/>
                </a:lnTo>
                <a:cubicBezTo>
                  <a:pt x="2839381" y="1489246"/>
                  <a:pt x="2800563" y="1528064"/>
                  <a:pt x="2752679" y="1528064"/>
                </a:cubicBezTo>
                <a:lnTo>
                  <a:pt x="86702" y="1528064"/>
                </a:lnTo>
                <a:cubicBezTo>
                  <a:pt x="38818" y="1528064"/>
                  <a:pt x="0" y="1489246"/>
                  <a:pt x="0" y="1441362"/>
                </a:cubicBezTo>
                <a:lnTo>
                  <a:pt x="0" y="86702"/>
                </a:lnTo>
                <a:cubicBezTo>
                  <a:pt x="0" y="38850"/>
                  <a:pt x="38850" y="0"/>
                  <a:pt x="86702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13920470" y="7093035"/>
            <a:ext cx="509355" cy="509355"/>
          </a:xfrm>
          <a:custGeom>
            <a:avLst/>
            <a:gdLst/>
            <a:ahLst/>
            <a:cxnLst/>
            <a:rect l="l" t="t" r="r" b="b"/>
            <a:pathLst>
              <a:path w="509355" h="509355">
                <a:moveTo>
                  <a:pt x="86697" y="0"/>
                </a:moveTo>
                <a:lnTo>
                  <a:pt x="422657" y="0"/>
                </a:lnTo>
                <a:cubicBezTo>
                  <a:pt x="470539" y="0"/>
                  <a:pt x="509355" y="38816"/>
                  <a:pt x="509355" y="86697"/>
                </a:cubicBezTo>
                <a:lnTo>
                  <a:pt x="509355" y="422657"/>
                </a:lnTo>
                <a:cubicBezTo>
                  <a:pt x="509355" y="470539"/>
                  <a:pt x="470539" y="509355"/>
                  <a:pt x="422657" y="509355"/>
                </a:cubicBezTo>
                <a:lnTo>
                  <a:pt x="86697" y="509355"/>
                </a:lnTo>
                <a:cubicBezTo>
                  <a:pt x="38816" y="509355"/>
                  <a:pt x="0" y="470539"/>
                  <a:pt x="0" y="422657"/>
                </a:cubicBezTo>
                <a:lnTo>
                  <a:pt x="0" y="86697"/>
                </a:lnTo>
                <a:cubicBezTo>
                  <a:pt x="0" y="38816"/>
                  <a:pt x="38816" y="0"/>
                  <a:pt x="8669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4080321" y="7250176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97536" y="41110"/>
                </a:moveTo>
                <a:lnTo>
                  <a:pt x="91821" y="33185"/>
                </a:lnTo>
                <a:cubicBezTo>
                  <a:pt x="82296" y="20003"/>
                  <a:pt x="67018" y="12192"/>
                  <a:pt x="50711" y="12192"/>
                </a:cubicBezTo>
                <a:cubicBezTo>
                  <a:pt x="22708" y="12192"/>
                  <a:pt x="0" y="34900"/>
                  <a:pt x="0" y="62903"/>
                </a:cubicBezTo>
                <a:lnTo>
                  <a:pt x="0" y="63894"/>
                </a:lnTo>
                <a:cubicBezTo>
                  <a:pt x="0" y="72885"/>
                  <a:pt x="2362" y="82182"/>
                  <a:pt x="6325" y="91440"/>
                </a:cubicBezTo>
                <a:lnTo>
                  <a:pt x="46711" y="91440"/>
                </a:lnTo>
                <a:cubicBezTo>
                  <a:pt x="47930" y="91440"/>
                  <a:pt x="49035" y="90716"/>
                  <a:pt x="49530" y="89573"/>
                </a:cubicBezTo>
                <a:lnTo>
                  <a:pt x="61646" y="60503"/>
                </a:lnTo>
                <a:cubicBezTo>
                  <a:pt x="63056" y="57150"/>
                  <a:pt x="66332" y="54940"/>
                  <a:pt x="69952" y="54864"/>
                </a:cubicBezTo>
                <a:cubicBezTo>
                  <a:pt x="73571" y="54788"/>
                  <a:pt x="76924" y="56921"/>
                  <a:pt x="78410" y="60236"/>
                </a:cubicBezTo>
                <a:lnTo>
                  <a:pt x="97955" y="103632"/>
                </a:lnTo>
                <a:lnTo>
                  <a:pt x="113728" y="72085"/>
                </a:lnTo>
                <a:cubicBezTo>
                  <a:pt x="115291" y="68999"/>
                  <a:pt x="118453" y="67018"/>
                  <a:pt x="121920" y="67018"/>
                </a:cubicBezTo>
                <a:cubicBezTo>
                  <a:pt x="125387" y="67018"/>
                  <a:pt x="128549" y="68961"/>
                  <a:pt x="130111" y="72085"/>
                </a:cubicBezTo>
                <a:lnTo>
                  <a:pt x="138951" y="89726"/>
                </a:lnTo>
                <a:cubicBezTo>
                  <a:pt x="139484" y="90754"/>
                  <a:pt x="140513" y="91402"/>
                  <a:pt x="141694" y="91402"/>
                </a:cubicBezTo>
                <a:lnTo>
                  <a:pt x="188786" y="91402"/>
                </a:lnTo>
                <a:cubicBezTo>
                  <a:pt x="192786" y="82144"/>
                  <a:pt x="195110" y="72847"/>
                  <a:pt x="195110" y="63856"/>
                </a:cubicBezTo>
                <a:lnTo>
                  <a:pt x="195110" y="62865"/>
                </a:lnTo>
                <a:cubicBezTo>
                  <a:pt x="195072" y="34900"/>
                  <a:pt x="172364" y="12192"/>
                  <a:pt x="144361" y="12192"/>
                </a:cubicBezTo>
                <a:cubicBezTo>
                  <a:pt x="128092" y="12192"/>
                  <a:pt x="112776" y="20003"/>
                  <a:pt x="103251" y="33185"/>
                </a:cubicBezTo>
                <a:lnTo>
                  <a:pt x="97536" y="41072"/>
                </a:lnTo>
                <a:close/>
                <a:moveTo>
                  <a:pt x="178918" y="109728"/>
                </a:moveTo>
                <a:lnTo>
                  <a:pt x="141656" y="109728"/>
                </a:lnTo>
                <a:cubicBezTo>
                  <a:pt x="133579" y="109728"/>
                  <a:pt x="126187" y="105156"/>
                  <a:pt x="122568" y="97917"/>
                </a:cubicBezTo>
                <a:lnTo>
                  <a:pt x="121920" y="96622"/>
                </a:lnTo>
                <a:lnTo>
                  <a:pt x="105727" y="129045"/>
                </a:lnTo>
                <a:cubicBezTo>
                  <a:pt x="104165" y="132207"/>
                  <a:pt x="100889" y="134188"/>
                  <a:pt x="97346" y="134112"/>
                </a:cubicBezTo>
                <a:cubicBezTo>
                  <a:pt x="93802" y="134036"/>
                  <a:pt x="90640" y="131940"/>
                  <a:pt x="89192" y="128740"/>
                </a:cubicBezTo>
                <a:lnTo>
                  <a:pt x="70409" y="87020"/>
                </a:lnTo>
                <a:lnTo>
                  <a:pt x="66408" y="96622"/>
                </a:lnTo>
                <a:cubicBezTo>
                  <a:pt x="63094" y="104584"/>
                  <a:pt x="55321" y="109766"/>
                  <a:pt x="46711" y="109766"/>
                </a:cubicBezTo>
                <a:lnTo>
                  <a:pt x="16154" y="109766"/>
                </a:lnTo>
                <a:cubicBezTo>
                  <a:pt x="34138" y="137884"/>
                  <a:pt x="63017" y="163754"/>
                  <a:pt x="81077" y="177546"/>
                </a:cubicBezTo>
                <a:cubicBezTo>
                  <a:pt x="85801" y="181127"/>
                  <a:pt x="91592" y="182918"/>
                  <a:pt x="97498" y="182918"/>
                </a:cubicBezTo>
                <a:cubicBezTo>
                  <a:pt x="103403" y="182918"/>
                  <a:pt x="109233" y="181166"/>
                  <a:pt x="113919" y="177546"/>
                </a:cubicBezTo>
                <a:cubicBezTo>
                  <a:pt x="132055" y="163716"/>
                  <a:pt x="160934" y="137846"/>
                  <a:pt x="178918" y="109728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2848167" y="7694507"/>
            <a:ext cx="26551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多重心跳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2859004" y="7997952"/>
            <a:ext cx="2633472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4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DataNode 与所有 NameNode 保持心跳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169583" cy="349250"/>
          </a:xfrm>
          <a:custGeom>
            <a:avLst/>
            <a:gdLst/>
            <a:ahLst/>
            <a:cxnLst/>
            <a:rect l="l" t="t" r="r" b="b"/>
            <a:pathLst>
              <a:path w="2169583" h="349250">
                <a:moveTo>
                  <a:pt x="174625" y="0"/>
                </a:moveTo>
                <a:lnTo>
                  <a:pt x="1994958" y="0"/>
                </a:lnTo>
                <a:cubicBezTo>
                  <a:pt x="2091336" y="0"/>
                  <a:pt x="2169583" y="78247"/>
                  <a:pt x="2169583" y="174625"/>
                </a:cubicBezTo>
                <a:lnTo>
                  <a:pt x="2169583" y="174625"/>
                </a:lnTo>
                <a:cubicBezTo>
                  <a:pt x="2169583" y="271003"/>
                  <a:pt x="2091336" y="349250"/>
                  <a:pt x="1994958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190078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HA 高可用架构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545167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 NameNode 单点故障的高可用方案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2016125"/>
            <a:ext cx="7588250" cy="4159250"/>
          </a:xfrm>
          <a:custGeom>
            <a:avLst/>
            <a:gdLst/>
            <a:ahLst/>
            <a:cxnLst/>
            <a:rect l="l" t="t" r="r" b="b"/>
            <a:pathLst>
              <a:path w="7588250" h="4159250">
                <a:moveTo>
                  <a:pt x="84682" y="0"/>
                </a:moveTo>
                <a:lnTo>
                  <a:pt x="7503568" y="0"/>
                </a:lnTo>
                <a:cubicBezTo>
                  <a:pt x="7550336" y="0"/>
                  <a:pt x="7588250" y="37914"/>
                  <a:pt x="7588250" y="84682"/>
                </a:cubicBezTo>
                <a:lnTo>
                  <a:pt x="7588250" y="4074568"/>
                </a:lnTo>
                <a:cubicBezTo>
                  <a:pt x="7588250" y="4121336"/>
                  <a:pt x="7550336" y="4159250"/>
                  <a:pt x="7503568" y="4159250"/>
                </a:cubicBezTo>
                <a:lnTo>
                  <a:pt x="84682" y="4159250"/>
                </a:lnTo>
                <a:cubicBezTo>
                  <a:pt x="37914" y="4159250"/>
                  <a:pt x="0" y="4121336"/>
                  <a:pt x="0" y="4074568"/>
                </a:cubicBezTo>
                <a:lnTo>
                  <a:pt x="0" y="84682"/>
                </a:lnTo>
                <a:cubicBezTo>
                  <a:pt x="0" y="37914"/>
                  <a:pt x="37914" y="0"/>
                  <a:pt x="8468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2042" y="22754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05833" y="56224"/>
                </a:moveTo>
                <a:cubicBezTo>
                  <a:pt x="111332" y="56224"/>
                  <a:pt x="115755" y="60647"/>
                  <a:pt x="115755" y="66146"/>
                </a:cubicBezTo>
                <a:lnTo>
                  <a:pt x="115755" y="112448"/>
                </a:lnTo>
                <a:cubicBezTo>
                  <a:pt x="115755" y="117946"/>
                  <a:pt x="111332" y="122370"/>
                  <a:pt x="105833" y="122370"/>
                </a:cubicBezTo>
                <a:cubicBezTo>
                  <a:pt x="100335" y="122370"/>
                  <a:pt x="95911" y="117946"/>
                  <a:pt x="95911" y="112448"/>
                </a:cubicBezTo>
                <a:lnTo>
                  <a:pt x="95911" y="66146"/>
                </a:lnTo>
                <a:cubicBezTo>
                  <a:pt x="95911" y="60647"/>
                  <a:pt x="100335" y="56224"/>
                  <a:pt x="105833" y="56224"/>
                </a:cubicBezTo>
                <a:close/>
                <a:moveTo>
                  <a:pt x="94795" y="145521"/>
                </a:moveTo>
                <a:cubicBezTo>
                  <a:pt x="94544" y="141424"/>
                  <a:pt x="96587" y="137525"/>
                  <a:pt x="100100" y="135401"/>
                </a:cubicBezTo>
                <a:cubicBezTo>
                  <a:pt x="103612" y="133276"/>
                  <a:pt x="108013" y="133276"/>
                  <a:pt x="111526" y="135401"/>
                </a:cubicBezTo>
                <a:cubicBezTo>
                  <a:pt x="115038" y="137525"/>
                  <a:pt x="117081" y="141424"/>
                  <a:pt x="116830" y="145521"/>
                </a:cubicBezTo>
                <a:cubicBezTo>
                  <a:pt x="117081" y="149618"/>
                  <a:pt x="115038" y="153516"/>
                  <a:pt x="111526" y="155641"/>
                </a:cubicBezTo>
                <a:cubicBezTo>
                  <a:pt x="108013" y="157765"/>
                  <a:pt x="103612" y="157765"/>
                  <a:pt x="100100" y="155641"/>
                </a:cubicBezTo>
                <a:cubicBezTo>
                  <a:pt x="96587" y="153516"/>
                  <a:pt x="94544" y="149618"/>
                  <a:pt x="94795" y="145521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0167" y="223308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583" y="2656417"/>
            <a:ext cx="7239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 HDFS 架构中，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是单点故障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，一旦 NameNode 故障，整个集群将不可用。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458" y="305858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61458" y="305858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4333" y="3143250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服务中断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333" y="3397250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故障导致整个集群不可用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1458" y="3735917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61458" y="3735917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333" y="382058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恢复时间长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333" y="407458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需要手动重启和元数据恢复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458" y="4413250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61458" y="4413250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4333" y="4497917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数据丢失风险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333" y="4751917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未及时持久化的元数据可能丢失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39125" y="2016125"/>
            <a:ext cx="7588250" cy="4159250"/>
          </a:xfrm>
          <a:custGeom>
            <a:avLst/>
            <a:gdLst/>
            <a:ahLst/>
            <a:cxnLst/>
            <a:rect l="l" t="t" r="r" b="b"/>
            <a:pathLst>
              <a:path w="7588250" h="4159250">
                <a:moveTo>
                  <a:pt x="84682" y="0"/>
                </a:moveTo>
                <a:lnTo>
                  <a:pt x="7503568" y="0"/>
                </a:lnTo>
                <a:cubicBezTo>
                  <a:pt x="7550336" y="0"/>
                  <a:pt x="7588250" y="37914"/>
                  <a:pt x="7588250" y="84682"/>
                </a:cubicBezTo>
                <a:lnTo>
                  <a:pt x="7588250" y="4074568"/>
                </a:lnTo>
                <a:cubicBezTo>
                  <a:pt x="7588250" y="4121336"/>
                  <a:pt x="7550336" y="4159250"/>
                  <a:pt x="7503568" y="4159250"/>
                </a:cubicBezTo>
                <a:lnTo>
                  <a:pt x="84682" y="4159250"/>
                </a:lnTo>
                <a:cubicBezTo>
                  <a:pt x="37914" y="4159250"/>
                  <a:pt x="0" y="4121336"/>
                  <a:pt x="0" y="4074568"/>
                </a:cubicBezTo>
                <a:lnTo>
                  <a:pt x="0" y="84682"/>
                </a:lnTo>
                <a:cubicBezTo>
                  <a:pt x="0" y="37914"/>
                  <a:pt x="37914" y="0"/>
                  <a:pt x="8468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95771" y="227541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66146"/>
                </a:lnTo>
                <a:cubicBezTo>
                  <a:pt x="0" y="80739"/>
                  <a:pt x="11865" y="92604"/>
                  <a:pt x="26458" y="92604"/>
                </a:cubicBezTo>
                <a:lnTo>
                  <a:pt x="158750" y="92604"/>
                </a:lnTo>
                <a:cubicBezTo>
                  <a:pt x="173343" y="92604"/>
                  <a:pt x="185208" y="80739"/>
                  <a:pt x="185208" y="66146"/>
                </a:cubicBezTo>
                <a:lnTo>
                  <a:pt x="185208" y="39688"/>
                </a:lnTo>
                <a:cubicBezTo>
                  <a:pt x="185208" y="25094"/>
                  <a:pt x="173343" y="13229"/>
                  <a:pt x="158750" y="13229"/>
                </a:cubicBezTo>
                <a:lnTo>
                  <a:pt x="26458" y="13229"/>
                </a:lnTo>
                <a:close/>
                <a:moveTo>
                  <a:pt x="115755" y="42995"/>
                </a:moveTo>
                <a:cubicBezTo>
                  <a:pt x="121231" y="42995"/>
                  <a:pt x="125677" y="47441"/>
                  <a:pt x="125677" y="52917"/>
                </a:cubicBezTo>
                <a:cubicBezTo>
                  <a:pt x="125677" y="58393"/>
                  <a:pt x="121231" y="62839"/>
                  <a:pt x="115755" y="62839"/>
                </a:cubicBezTo>
                <a:cubicBezTo>
                  <a:pt x="110279" y="62839"/>
                  <a:pt x="105833" y="58393"/>
                  <a:pt x="105833" y="52917"/>
                </a:cubicBezTo>
                <a:cubicBezTo>
                  <a:pt x="105833" y="47441"/>
                  <a:pt x="110279" y="42995"/>
                  <a:pt x="115755" y="42995"/>
                </a:cubicBezTo>
                <a:close/>
                <a:moveTo>
                  <a:pt x="138906" y="52917"/>
                </a:moveTo>
                <a:cubicBezTo>
                  <a:pt x="138906" y="47441"/>
                  <a:pt x="143352" y="42995"/>
                  <a:pt x="148828" y="42995"/>
                </a:cubicBezTo>
                <a:cubicBezTo>
                  <a:pt x="154304" y="42995"/>
                  <a:pt x="158750" y="47441"/>
                  <a:pt x="158750" y="52917"/>
                </a:cubicBezTo>
                <a:cubicBezTo>
                  <a:pt x="158750" y="58393"/>
                  <a:pt x="154304" y="62839"/>
                  <a:pt x="148828" y="62839"/>
                </a:cubicBezTo>
                <a:cubicBezTo>
                  <a:pt x="143352" y="62839"/>
                  <a:pt x="138906" y="58393"/>
                  <a:pt x="138906" y="52917"/>
                </a:cubicBezTo>
                <a:close/>
                <a:moveTo>
                  <a:pt x="26458" y="119063"/>
                </a:moveTo>
                <a:cubicBezTo>
                  <a:pt x="11865" y="119063"/>
                  <a:pt x="0" y="130927"/>
                  <a:pt x="0" y="145521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145521"/>
                </a:lnTo>
                <a:cubicBezTo>
                  <a:pt x="185208" y="130927"/>
                  <a:pt x="173343" y="119063"/>
                  <a:pt x="158750" y="119063"/>
                </a:cubicBezTo>
                <a:lnTo>
                  <a:pt x="26458" y="119063"/>
                </a:lnTo>
                <a:close/>
                <a:moveTo>
                  <a:pt x="115755" y="148828"/>
                </a:moveTo>
                <a:cubicBezTo>
                  <a:pt x="121231" y="148828"/>
                  <a:pt x="125677" y="153274"/>
                  <a:pt x="125677" y="158750"/>
                </a:cubicBezTo>
                <a:cubicBezTo>
                  <a:pt x="125677" y="164226"/>
                  <a:pt x="121231" y="168672"/>
                  <a:pt x="115755" y="168672"/>
                </a:cubicBezTo>
                <a:cubicBezTo>
                  <a:pt x="110279" y="168672"/>
                  <a:pt x="105833" y="164226"/>
                  <a:pt x="105833" y="158750"/>
                </a:cubicBezTo>
                <a:cubicBezTo>
                  <a:pt x="105833" y="153274"/>
                  <a:pt x="110279" y="148828"/>
                  <a:pt x="115755" y="148828"/>
                </a:cubicBezTo>
                <a:close/>
                <a:moveTo>
                  <a:pt x="138906" y="158750"/>
                </a:moveTo>
                <a:cubicBezTo>
                  <a:pt x="138906" y="153274"/>
                  <a:pt x="143352" y="148828"/>
                  <a:pt x="148828" y="148828"/>
                </a:cubicBezTo>
                <a:cubicBezTo>
                  <a:pt x="154304" y="148828"/>
                  <a:pt x="158750" y="153274"/>
                  <a:pt x="158750" y="158750"/>
                </a:cubicBezTo>
                <a:cubicBezTo>
                  <a:pt x="158750" y="164226"/>
                  <a:pt x="154304" y="168672"/>
                  <a:pt x="148828" y="168672"/>
                </a:cubicBezTo>
                <a:cubicBezTo>
                  <a:pt x="143352" y="168672"/>
                  <a:pt x="138906" y="164226"/>
                  <a:pt x="138906" y="15875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720667" y="223308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 核心组件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71958" y="2656417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71958" y="2656417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14833" y="274108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NameNode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14833" y="299508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处理所有客户端请求，执行文件系统操作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71958" y="3333750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71958" y="3333750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14833" y="3418417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Standby NameNode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14833" y="3672417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保持与 Active 同步，随时准备接管服务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71958" y="401108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71958" y="401108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14833" y="4095750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共享存储 (QJM)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14833" y="4349750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EditLog 操作日志，确保数据一致性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71958" y="4688417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471958" y="4688417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14833" y="477308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ZKFC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14833" y="502708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故障转移控制器，监控 NameNode 健康状态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71958" y="5365750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471958" y="5365750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14833" y="5450417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集群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14833" y="5704417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提供分布式协调服务，实现选主和故障转移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8625" y="6355292"/>
            <a:ext cx="15398750" cy="3238500"/>
          </a:xfrm>
          <a:custGeom>
            <a:avLst/>
            <a:gdLst/>
            <a:ahLst/>
            <a:cxnLst/>
            <a:rect l="l" t="t" r="r" b="b"/>
            <a:pathLst>
              <a:path w="15398750" h="3238500">
                <a:moveTo>
                  <a:pt x="84654" y="0"/>
                </a:moveTo>
                <a:lnTo>
                  <a:pt x="15314096" y="0"/>
                </a:lnTo>
                <a:cubicBezTo>
                  <a:pt x="15360849" y="0"/>
                  <a:pt x="15398750" y="37901"/>
                  <a:pt x="15398750" y="84654"/>
                </a:cubicBezTo>
                <a:lnTo>
                  <a:pt x="15398750" y="3153846"/>
                </a:lnTo>
                <a:cubicBezTo>
                  <a:pt x="15398750" y="3200599"/>
                  <a:pt x="15360849" y="3238500"/>
                  <a:pt x="15314096" y="3238500"/>
                </a:cubicBezTo>
                <a:lnTo>
                  <a:pt x="84654" y="3238500"/>
                </a:lnTo>
                <a:cubicBezTo>
                  <a:pt x="37901" y="3238500"/>
                  <a:pt x="0" y="3200599"/>
                  <a:pt x="0" y="3153846"/>
                </a:cubicBezTo>
                <a:lnTo>
                  <a:pt x="0" y="84654"/>
                </a:lnTo>
                <a:cubicBezTo>
                  <a:pt x="0" y="37901"/>
                  <a:pt x="37901" y="0"/>
                  <a:pt x="8465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72042" y="66145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33073"/>
                </a:moveTo>
                <a:cubicBezTo>
                  <a:pt x="0" y="22118"/>
                  <a:pt x="8888" y="13229"/>
                  <a:pt x="19844" y="13229"/>
                </a:cubicBezTo>
                <a:lnTo>
                  <a:pt x="59531" y="13229"/>
                </a:lnTo>
                <a:cubicBezTo>
                  <a:pt x="70487" y="13229"/>
                  <a:pt x="79375" y="22118"/>
                  <a:pt x="79375" y="33073"/>
                </a:cubicBezTo>
                <a:lnTo>
                  <a:pt x="79375" y="39688"/>
                </a:lnTo>
                <a:lnTo>
                  <a:pt x="132292" y="39688"/>
                </a:lnTo>
                <a:lnTo>
                  <a:pt x="132292" y="33073"/>
                </a:lnTo>
                <a:cubicBezTo>
                  <a:pt x="132292" y="22118"/>
                  <a:pt x="141180" y="13229"/>
                  <a:pt x="152135" y="13229"/>
                </a:cubicBezTo>
                <a:lnTo>
                  <a:pt x="191823" y="13229"/>
                </a:lnTo>
                <a:cubicBezTo>
                  <a:pt x="202778" y="13229"/>
                  <a:pt x="211667" y="22118"/>
                  <a:pt x="211667" y="33073"/>
                </a:cubicBezTo>
                <a:lnTo>
                  <a:pt x="211667" y="72760"/>
                </a:lnTo>
                <a:cubicBezTo>
                  <a:pt x="211667" y="83716"/>
                  <a:pt x="202778" y="92604"/>
                  <a:pt x="191823" y="92604"/>
                </a:cubicBezTo>
                <a:lnTo>
                  <a:pt x="152135" y="92604"/>
                </a:lnTo>
                <a:cubicBezTo>
                  <a:pt x="141180" y="92604"/>
                  <a:pt x="132292" y="83716"/>
                  <a:pt x="132292" y="72760"/>
                </a:cubicBezTo>
                <a:lnTo>
                  <a:pt x="132292" y="66146"/>
                </a:lnTo>
                <a:lnTo>
                  <a:pt x="79375" y="66146"/>
                </a:lnTo>
                <a:lnTo>
                  <a:pt x="79375" y="72760"/>
                </a:lnTo>
                <a:cubicBezTo>
                  <a:pt x="79375" y="75778"/>
                  <a:pt x="78672" y="78672"/>
                  <a:pt x="77473" y="81235"/>
                </a:cubicBezTo>
                <a:lnTo>
                  <a:pt x="105833" y="119063"/>
                </a:lnTo>
                <a:lnTo>
                  <a:pt x="138906" y="119063"/>
                </a:lnTo>
                <a:cubicBezTo>
                  <a:pt x="149862" y="119063"/>
                  <a:pt x="158750" y="127951"/>
                  <a:pt x="158750" y="138906"/>
                </a:cubicBezTo>
                <a:lnTo>
                  <a:pt x="158750" y="178594"/>
                </a:lnTo>
                <a:cubicBezTo>
                  <a:pt x="158750" y="189549"/>
                  <a:pt x="149862" y="198438"/>
                  <a:pt x="138906" y="198438"/>
                </a:cubicBezTo>
                <a:lnTo>
                  <a:pt x="99219" y="198438"/>
                </a:lnTo>
                <a:cubicBezTo>
                  <a:pt x="88263" y="198438"/>
                  <a:pt x="79375" y="189549"/>
                  <a:pt x="79375" y="178594"/>
                </a:cubicBezTo>
                <a:lnTo>
                  <a:pt x="79375" y="138906"/>
                </a:lnTo>
                <a:cubicBezTo>
                  <a:pt x="79375" y="135888"/>
                  <a:pt x="80078" y="132994"/>
                  <a:pt x="81277" y="130431"/>
                </a:cubicBezTo>
                <a:lnTo>
                  <a:pt x="52917" y="92604"/>
                </a:lnTo>
                <a:lnTo>
                  <a:pt x="19844" y="92604"/>
                </a:lnTo>
                <a:cubicBezTo>
                  <a:pt x="8888" y="92604"/>
                  <a:pt x="0" y="83716"/>
                  <a:pt x="0" y="72760"/>
                </a:cubicBezTo>
                <a:lnTo>
                  <a:pt x="0" y="33073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10167" y="6572250"/>
            <a:ext cx="14806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QJM (Quorum Journal Manager) 机制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5583" y="7037917"/>
            <a:ext cx="746125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高可用共享存储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，基于 Paxos 协议的分布式日志服务。EditLog 写入多个 JournalNode，确保数据可靠性。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5583" y="7799917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14917" y="7715250"/>
            <a:ext cx="3852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多数派写入：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EditLog 写入多个 JournalNode（通常3个）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5583" y="8096250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14917" y="8011583"/>
            <a:ext cx="3735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排他写入控制：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确保每次只有一个 NameNode 能够写入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5583" y="839258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14917" y="8307917"/>
            <a:ext cx="3048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自动故障恢复：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JournalNode 故障时自动切换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5583" y="8688917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14917" y="8604250"/>
            <a:ext cx="356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强一致性：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保证两个 NameNode 看到相同的 EditLog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33833" y="7037917"/>
            <a:ext cx="7376583" cy="1809750"/>
          </a:xfrm>
          <a:custGeom>
            <a:avLst/>
            <a:gdLst/>
            <a:ahLst/>
            <a:cxnLst/>
            <a:rect l="l" t="t" r="r" b="b"/>
            <a:pathLst>
              <a:path w="7376583" h="1809750">
                <a:moveTo>
                  <a:pt x="84660" y="0"/>
                </a:moveTo>
                <a:lnTo>
                  <a:pt x="7291923" y="0"/>
                </a:lnTo>
                <a:cubicBezTo>
                  <a:pt x="7338680" y="0"/>
                  <a:pt x="7376583" y="37904"/>
                  <a:pt x="7376583" y="84660"/>
                </a:cubicBezTo>
                <a:lnTo>
                  <a:pt x="7376583" y="1725090"/>
                </a:lnTo>
                <a:cubicBezTo>
                  <a:pt x="7376583" y="1771846"/>
                  <a:pt x="7338680" y="1809750"/>
                  <a:pt x="7291923" y="1809750"/>
                </a:cubicBezTo>
                <a:lnTo>
                  <a:pt x="84660" y="1809750"/>
                </a:lnTo>
                <a:cubicBezTo>
                  <a:pt x="37904" y="1809750"/>
                  <a:pt x="0" y="1771846"/>
                  <a:pt x="0" y="1725090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1552122" y="7170208"/>
            <a:ext cx="740833" cy="264583"/>
          </a:xfrm>
          <a:custGeom>
            <a:avLst/>
            <a:gdLst/>
            <a:ahLst/>
            <a:cxnLst/>
            <a:rect l="l" t="t" r="r" b="b"/>
            <a:pathLst>
              <a:path w="740833" h="264583">
                <a:moveTo>
                  <a:pt x="42333" y="0"/>
                </a:moveTo>
                <a:lnTo>
                  <a:pt x="698500" y="0"/>
                </a:lnTo>
                <a:cubicBezTo>
                  <a:pt x="721880" y="0"/>
                  <a:pt x="740833" y="18953"/>
                  <a:pt x="740833" y="42333"/>
                </a:cubicBezTo>
                <a:lnTo>
                  <a:pt x="740833" y="222250"/>
                </a:lnTo>
                <a:cubicBezTo>
                  <a:pt x="740833" y="245630"/>
                  <a:pt x="721880" y="264583"/>
                  <a:pt x="698500" y="264583"/>
                </a:cubicBezTo>
                <a:lnTo>
                  <a:pt x="42333" y="264583"/>
                </a:lnTo>
                <a:cubicBezTo>
                  <a:pt x="18953" y="264583"/>
                  <a:pt x="0" y="245630"/>
                  <a:pt x="0" y="2222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515080" y="7164917"/>
            <a:ext cx="793750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QJM 架构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931757" y="7530042"/>
            <a:ext cx="878417" cy="518583"/>
          </a:xfrm>
          <a:custGeom>
            <a:avLst/>
            <a:gdLst/>
            <a:ahLst/>
            <a:cxnLst/>
            <a:rect l="l" t="t" r="r" b="b"/>
            <a:pathLst>
              <a:path w="878417" h="518583">
                <a:moveTo>
                  <a:pt x="42332" y="0"/>
                </a:moveTo>
                <a:lnTo>
                  <a:pt x="836085" y="0"/>
                </a:lnTo>
                <a:cubicBezTo>
                  <a:pt x="859464" y="0"/>
                  <a:pt x="878417" y="18953"/>
                  <a:pt x="878417" y="42332"/>
                </a:cubicBezTo>
                <a:lnTo>
                  <a:pt x="878417" y="476251"/>
                </a:lnTo>
                <a:cubicBezTo>
                  <a:pt x="878417" y="499631"/>
                  <a:pt x="859464" y="518583"/>
                  <a:pt x="836085" y="518583"/>
                </a:cubicBezTo>
                <a:lnTo>
                  <a:pt x="42332" y="518583"/>
                </a:lnTo>
                <a:cubicBezTo>
                  <a:pt x="18953" y="518583"/>
                  <a:pt x="0" y="499631"/>
                  <a:pt x="0" y="476251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894715" y="7524750"/>
            <a:ext cx="931333" cy="508000"/>
          </a:xfrm>
          <a:prstGeom prst="rect">
            <a:avLst/>
          </a:prstGeom>
          <a:noFill/>
          <a:ln/>
        </p:spPr>
        <p:txBody>
          <a:bodyPr wrap="square" lIns="127000" tIns="84667" rIns="127000" bIns="84667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NN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 EditLog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947757" y="7530042"/>
            <a:ext cx="963083" cy="518583"/>
          </a:xfrm>
          <a:custGeom>
            <a:avLst/>
            <a:gdLst/>
            <a:ahLst/>
            <a:cxnLst/>
            <a:rect l="l" t="t" r="r" b="b"/>
            <a:pathLst>
              <a:path w="963083" h="518583">
                <a:moveTo>
                  <a:pt x="42332" y="0"/>
                </a:moveTo>
                <a:lnTo>
                  <a:pt x="920751" y="0"/>
                </a:lnTo>
                <a:cubicBezTo>
                  <a:pt x="944131" y="0"/>
                  <a:pt x="963083" y="18953"/>
                  <a:pt x="963083" y="42332"/>
                </a:cubicBezTo>
                <a:lnTo>
                  <a:pt x="963083" y="476251"/>
                </a:lnTo>
                <a:cubicBezTo>
                  <a:pt x="963083" y="499631"/>
                  <a:pt x="944131" y="518583"/>
                  <a:pt x="920751" y="518583"/>
                </a:cubicBezTo>
                <a:lnTo>
                  <a:pt x="42332" y="518583"/>
                </a:lnTo>
                <a:cubicBezTo>
                  <a:pt x="18953" y="518583"/>
                  <a:pt x="0" y="499631"/>
                  <a:pt x="0" y="476251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910715" y="7524750"/>
            <a:ext cx="1016000" cy="508000"/>
          </a:xfrm>
          <a:prstGeom prst="rect">
            <a:avLst/>
          </a:prstGeom>
          <a:noFill/>
          <a:ln/>
        </p:spPr>
        <p:txBody>
          <a:bodyPr wrap="square" lIns="127000" tIns="84667" rIns="127000" bIns="84667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Standby NN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 EditLog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051150" y="8143875"/>
            <a:ext cx="1746250" cy="232833"/>
          </a:xfrm>
          <a:custGeom>
            <a:avLst/>
            <a:gdLst/>
            <a:ahLst/>
            <a:cxnLst/>
            <a:rect l="l" t="t" r="r" b="b"/>
            <a:pathLst>
              <a:path w="1746250" h="232833">
                <a:moveTo>
                  <a:pt x="42334" y="0"/>
                </a:moveTo>
                <a:lnTo>
                  <a:pt x="1703916" y="0"/>
                </a:lnTo>
                <a:cubicBezTo>
                  <a:pt x="1727297" y="0"/>
                  <a:pt x="1746250" y="18953"/>
                  <a:pt x="1746250" y="42334"/>
                </a:cubicBezTo>
                <a:lnTo>
                  <a:pt x="1746250" y="190500"/>
                </a:lnTo>
                <a:cubicBezTo>
                  <a:pt x="1746250" y="213880"/>
                  <a:pt x="1727297" y="232833"/>
                  <a:pt x="1703916" y="232833"/>
                </a:cubicBezTo>
                <a:lnTo>
                  <a:pt x="42334" y="232833"/>
                </a:lnTo>
                <a:cubicBezTo>
                  <a:pt x="18953" y="232833"/>
                  <a:pt x="0" y="213880"/>
                  <a:pt x="0" y="190500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 w="12700">
            <a:solidFill>
              <a:srgbClr val="7889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1019400" y="8138583"/>
            <a:ext cx="1788583" cy="222250"/>
          </a:xfrm>
          <a:prstGeom prst="rect">
            <a:avLst/>
          </a:prstGeom>
          <a:noFill/>
          <a:ln/>
        </p:spPr>
        <p:txBody>
          <a:bodyPr wrap="square" lIns="127000" tIns="42333" rIns="127000" bIns="42333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JournalNode 集群 (基于 Paxos)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66125" y="8475431"/>
            <a:ext cx="2338917" cy="232833"/>
          </a:xfrm>
          <a:custGeom>
            <a:avLst/>
            <a:gdLst/>
            <a:ahLst/>
            <a:cxnLst/>
            <a:rect l="l" t="t" r="r" b="b"/>
            <a:pathLst>
              <a:path w="2338917" h="232833">
                <a:moveTo>
                  <a:pt x="42334" y="0"/>
                </a:moveTo>
                <a:lnTo>
                  <a:pt x="2296583" y="0"/>
                </a:lnTo>
                <a:cubicBezTo>
                  <a:pt x="2319963" y="0"/>
                  <a:pt x="2338917" y="18953"/>
                  <a:pt x="2338917" y="42334"/>
                </a:cubicBezTo>
                <a:lnTo>
                  <a:pt x="2338917" y="190500"/>
                </a:lnTo>
                <a:cubicBezTo>
                  <a:pt x="2338917" y="213880"/>
                  <a:pt x="2319963" y="232833"/>
                  <a:pt x="2296583" y="232833"/>
                </a:cubicBezTo>
                <a:lnTo>
                  <a:pt x="42334" y="232833"/>
                </a:lnTo>
                <a:cubicBezTo>
                  <a:pt x="18953" y="232833"/>
                  <a:pt x="0" y="213880"/>
                  <a:pt x="0" y="190500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334375" y="8470139"/>
            <a:ext cx="2381250" cy="22225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JournalNode1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754403" y="8475431"/>
            <a:ext cx="2338917" cy="232833"/>
          </a:xfrm>
          <a:custGeom>
            <a:avLst/>
            <a:gdLst/>
            <a:ahLst/>
            <a:cxnLst/>
            <a:rect l="l" t="t" r="r" b="b"/>
            <a:pathLst>
              <a:path w="2338917" h="232833">
                <a:moveTo>
                  <a:pt x="42334" y="0"/>
                </a:moveTo>
                <a:lnTo>
                  <a:pt x="2296583" y="0"/>
                </a:lnTo>
                <a:cubicBezTo>
                  <a:pt x="2319963" y="0"/>
                  <a:pt x="2338917" y="18953"/>
                  <a:pt x="2338917" y="42334"/>
                </a:cubicBezTo>
                <a:lnTo>
                  <a:pt x="2338917" y="190500"/>
                </a:lnTo>
                <a:cubicBezTo>
                  <a:pt x="2338917" y="213880"/>
                  <a:pt x="2319963" y="232833"/>
                  <a:pt x="2296583" y="232833"/>
                </a:cubicBezTo>
                <a:lnTo>
                  <a:pt x="42334" y="232833"/>
                </a:lnTo>
                <a:cubicBezTo>
                  <a:pt x="18953" y="232833"/>
                  <a:pt x="0" y="213880"/>
                  <a:pt x="0" y="190500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0722653" y="8470139"/>
            <a:ext cx="2381250" cy="22225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JournalNode2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3142681" y="8475431"/>
            <a:ext cx="2338917" cy="232833"/>
          </a:xfrm>
          <a:custGeom>
            <a:avLst/>
            <a:gdLst/>
            <a:ahLst/>
            <a:cxnLst/>
            <a:rect l="l" t="t" r="r" b="b"/>
            <a:pathLst>
              <a:path w="2338917" h="232833">
                <a:moveTo>
                  <a:pt x="42334" y="0"/>
                </a:moveTo>
                <a:lnTo>
                  <a:pt x="2296583" y="0"/>
                </a:lnTo>
                <a:cubicBezTo>
                  <a:pt x="2319963" y="0"/>
                  <a:pt x="2338917" y="18953"/>
                  <a:pt x="2338917" y="42334"/>
                </a:cubicBezTo>
                <a:lnTo>
                  <a:pt x="2338917" y="190500"/>
                </a:lnTo>
                <a:cubicBezTo>
                  <a:pt x="2338917" y="213880"/>
                  <a:pt x="2319963" y="232833"/>
                  <a:pt x="2296583" y="232833"/>
                </a:cubicBezTo>
                <a:lnTo>
                  <a:pt x="42334" y="232833"/>
                </a:lnTo>
                <a:cubicBezTo>
                  <a:pt x="18953" y="232833"/>
                  <a:pt x="0" y="213880"/>
                  <a:pt x="0" y="190500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3D4A5C"/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3110931" y="8470139"/>
            <a:ext cx="2381250" cy="22225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JournalNode3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39125" y="8976320"/>
            <a:ext cx="7366000" cy="391583"/>
          </a:xfrm>
          <a:custGeom>
            <a:avLst/>
            <a:gdLst/>
            <a:ahLst/>
            <a:cxnLst/>
            <a:rect l="l" t="t" r="r" b="b"/>
            <a:pathLst>
              <a:path w="7366000" h="391583">
                <a:moveTo>
                  <a:pt x="42334" y="0"/>
                </a:moveTo>
                <a:lnTo>
                  <a:pt x="7323666" y="0"/>
                </a:lnTo>
                <a:cubicBezTo>
                  <a:pt x="7347046" y="0"/>
                  <a:pt x="7366000" y="18954"/>
                  <a:pt x="7366000" y="42334"/>
                </a:cubicBezTo>
                <a:lnTo>
                  <a:pt x="7366000" y="349249"/>
                </a:lnTo>
                <a:cubicBezTo>
                  <a:pt x="7366000" y="372630"/>
                  <a:pt x="7347046" y="391583"/>
                  <a:pt x="7323666" y="391583"/>
                </a:cubicBezTo>
                <a:lnTo>
                  <a:pt x="42334" y="391583"/>
                </a:lnTo>
                <a:cubicBezTo>
                  <a:pt x="18954" y="391583"/>
                  <a:pt x="0" y="372630"/>
                  <a:pt x="0" y="349249"/>
                </a:cubicBezTo>
                <a:lnTo>
                  <a:pt x="0" y="42334"/>
                </a:lnTo>
                <a:cubicBezTo>
                  <a:pt x="0" y="18954"/>
                  <a:pt x="18954" y="0"/>
                  <a:pt x="42334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233833" y="8971029"/>
            <a:ext cx="7429500" cy="381000"/>
          </a:xfrm>
          <a:prstGeom prst="rect">
            <a:avLst/>
          </a:prstGeom>
          <a:noFill/>
          <a:ln/>
        </p:spPr>
        <p:txBody>
          <a:bodyPr wrap="square" lIns="127000" tIns="84667" rIns="127000" bIns="84667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多数派确认：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≥2/3 节点确认写入成功，保证数据可靠性和系统可用性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042583" cy="349250"/>
          </a:xfrm>
          <a:custGeom>
            <a:avLst/>
            <a:gdLst/>
            <a:ahLst/>
            <a:cxnLst/>
            <a:rect l="l" t="t" r="r" b="b"/>
            <a:pathLst>
              <a:path w="2042583" h="349250">
                <a:moveTo>
                  <a:pt x="174625" y="0"/>
                </a:moveTo>
                <a:lnTo>
                  <a:pt x="1867958" y="0"/>
                </a:lnTo>
                <a:cubicBezTo>
                  <a:pt x="1964336" y="0"/>
                  <a:pt x="2042583" y="78247"/>
                  <a:pt x="2042583" y="174625"/>
                </a:cubicBezTo>
                <a:lnTo>
                  <a:pt x="2042583" y="174625"/>
                </a:lnTo>
                <a:cubicBezTo>
                  <a:pt x="2042583" y="271003"/>
                  <a:pt x="1964336" y="349250"/>
                  <a:pt x="1867958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177957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ERASURE CODING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纠删码：降低存储成本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545167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纠删码技术原理与应用场景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2016125"/>
            <a:ext cx="7588250" cy="3926417"/>
          </a:xfrm>
          <a:custGeom>
            <a:avLst/>
            <a:gdLst/>
            <a:ahLst/>
            <a:cxnLst/>
            <a:rect l="l" t="t" r="r" b="b"/>
            <a:pathLst>
              <a:path w="7588250" h="3926417">
                <a:moveTo>
                  <a:pt x="84654" y="0"/>
                </a:moveTo>
                <a:lnTo>
                  <a:pt x="7503596" y="0"/>
                </a:lnTo>
                <a:cubicBezTo>
                  <a:pt x="7550349" y="0"/>
                  <a:pt x="7588250" y="37901"/>
                  <a:pt x="7588250" y="84654"/>
                </a:cubicBezTo>
                <a:lnTo>
                  <a:pt x="7588250" y="3841763"/>
                </a:lnTo>
                <a:cubicBezTo>
                  <a:pt x="7588250" y="3888516"/>
                  <a:pt x="7550349" y="3926417"/>
                  <a:pt x="7503596" y="3926417"/>
                </a:cubicBezTo>
                <a:lnTo>
                  <a:pt x="84654" y="3926417"/>
                </a:lnTo>
                <a:cubicBezTo>
                  <a:pt x="37901" y="3926417"/>
                  <a:pt x="0" y="3888516"/>
                  <a:pt x="0" y="3841763"/>
                </a:cubicBezTo>
                <a:lnTo>
                  <a:pt x="0" y="84654"/>
                </a:lnTo>
                <a:cubicBezTo>
                  <a:pt x="0" y="37932"/>
                  <a:pt x="37932" y="0"/>
                  <a:pt x="8465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2042" y="22754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05833" y="56224"/>
                </a:moveTo>
                <a:cubicBezTo>
                  <a:pt x="111332" y="56224"/>
                  <a:pt x="115755" y="60647"/>
                  <a:pt x="115755" y="66146"/>
                </a:cubicBezTo>
                <a:lnTo>
                  <a:pt x="115755" y="112448"/>
                </a:lnTo>
                <a:cubicBezTo>
                  <a:pt x="115755" y="117946"/>
                  <a:pt x="111332" y="122370"/>
                  <a:pt x="105833" y="122370"/>
                </a:cubicBezTo>
                <a:cubicBezTo>
                  <a:pt x="100335" y="122370"/>
                  <a:pt x="95911" y="117946"/>
                  <a:pt x="95911" y="112448"/>
                </a:cubicBezTo>
                <a:lnTo>
                  <a:pt x="95911" y="66146"/>
                </a:lnTo>
                <a:cubicBezTo>
                  <a:pt x="95911" y="60647"/>
                  <a:pt x="100335" y="56224"/>
                  <a:pt x="105833" y="56224"/>
                </a:cubicBezTo>
                <a:close/>
                <a:moveTo>
                  <a:pt x="94795" y="145521"/>
                </a:moveTo>
                <a:cubicBezTo>
                  <a:pt x="94544" y="141424"/>
                  <a:pt x="96587" y="137525"/>
                  <a:pt x="100100" y="135401"/>
                </a:cubicBezTo>
                <a:cubicBezTo>
                  <a:pt x="103612" y="133276"/>
                  <a:pt x="108013" y="133276"/>
                  <a:pt x="111526" y="135401"/>
                </a:cubicBezTo>
                <a:cubicBezTo>
                  <a:pt x="115038" y="137525"/>
                  <a:pt x="117081" y="141424"/>
                  <a:pt x="116830" y="145521"/>
                </a:cubicBezTo>
                <a:cubicBezTo>
                  <a:pt x="117081" y="149618"/>
                  <a:pt x="115038" y="153516"/>
                  <a:pt x="111526" y="155641"/>
                </a:cubicBezTo>
                <a:cubicBezTo>
                  <a:pt x="108013" y="157765"/>
                  <a:pt x="103612" y="157765"/>
                  <a:pt x="100100" y="155641"/>
                </a:cubicBezTo>
                <a:cubicBezTo>
                  <a:pt x="96587" y="153516"/>
                  <a:pt x="94544" y="149618"/>
                  <a:pt x="94795" y="145521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0167" y="223308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583" y="2656417"/>
            <a:ext cx="7239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 HDFS 三副本机制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存储开销大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，在大规模集群中成本高昂。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5583" y="3058583"/>
            <a:ext cx="2328333" cy="719667"/>
          </a:xfrm>
          <a:custGeom>
            <a:avLst/>
            <a:gdLst/>
            <a:ahLst/>
            <a:cxnLst/>
            <a:rect l="l" t="t" r="r" b="b"/>
            <a:pathLst>
              <a:path w="2328333" h="719667">
                <a:moveTo>
                  <a:pt x="42331" y="0"/>
                </a:moveTo>
                <a:lnTo>
                  <a:pt x="2286003" y="0"/>
                </a:lnTo>
                <a:cubicBezTo>
                  <a:pt x="2309381" y="0"/>
                  <a:pt x="2328333" y="18952"/>
                  <a:pt x="2328333" y="42331"/>
                </a:cubicBezTo>
                <a:lnTo>
                  <a:pt x="2328333" y="677336"/>
                </a:lnTo>
                <a:cubicBezTo>
                  <a:pt x="2328333" y="700715"/>
                  <a:pt x="2309381" y="719667"/>
                  <a:pt x="2286003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66750" y="3143250"/>
            <a:ext cx="2286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500" y="3524250"/>
            <a:ext cx="2222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58583" y="3058583"/>
            <a:ext cx="2328333" cy="719667"/>
          </a:xfrm>
          <a:custGeom>
            <a:avLst/>
            <a:gdLst/>
            <a:ahLst/>
            <a:cxnLst/>
            <a:rect l="l" t="t" r="r" b="b"/>
            <a:pathLst>
              <a:path w="2328333" h="719667">
                <a:moveTo>
                  <a:pt x="42331" y="0"/>
                </a:moveTo>
                <a:lnTo>
                  <a:pt x="2286003" y="0"/>
                </a:lnTo>
                <a:cubicBezTo>
                  <a:pt x="2309381" y="0"/>
                  <a:pt x="2328333" y="18952"/>
                  <a:pt x="2328333" y="42331"/>
                </a:cubicBezTo>
                <a:lnTo>
                  <a:pt x="2328333" y="677336"/>
                </a:lnTo>
                <a:cubicBezTo>
                  <a:pt x="2328333" y="700715"/>
                  <a:pt x="2309381" y="719667"/>
                  <a:pt x="2286003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079750" y="3143250"/>
            <a:ext cx="2286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11500" y="3524250"/>
            <a:ext cx="2222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网络开销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1583" y="3058583"/>
            <a:ext cx="2328333" cy="719667"/>
          </a:xfrm>
          <a:custGeom>
            <a:avLst/>
            <a:gdLst/>
            <a:ahLst/>
            <a:cxnLst/>
            <a:rect l="l" t="t" r="r" b="b"/>
            <a:pathLst>
              <a:path w="2328333" h="719667">
                <a:moveTo>
                  <a:pt x="42331" y="0"/>
                </a:moveTo>
                <a:lnTo>
                  <a:pt x="2286003" y="0"/>
                </a:lnTo>
                <a:cubicBezTo>
                  <a:pt x="2309381" y="0"/>
                  <a:pt x="2328333" y="18952"/>
                  <a:pt x="2328333" y="42331"/>
                </a:cubicBezTo>
                <a:lnTo>
                  <a:pt x="2328333" y="677336"/>
                </a:lnTo>
                <a:cubicBezTo>
                  <a:pt x="2328333" y="700715"/>
                  <a:pt x="2309381" y="719667"/>
                  <a:pt x="2286003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92750" y="3143250"/>
            <a:ext cx="2286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24500" y="3524250"/>
            <a:ext cx="2222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成本问题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583" y="3968750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4917" y="3905250"/>
            <a:ext cx="187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每份数据需要 3 倍存储空间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583" y="426508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14917" y="4201583"/>
            <a:ext cx="1725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写入时需要传输 3 份数据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5583" y="4561417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14917" y="4497917"/>
            <a:ext cx="1703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大规模集群存储成本高昂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39125" y="2016125"/>
            <a:ext cx="7588250" cy="3926417"/>
          </a:xfrm>
          <a:custGeom>
            <a:avLst/>
            <a:gdLst/>
            <a:ahLst/>
            <a:cxnLst/>
            <a:rect l="l" t="t" r="r" b="b"/>
            <a:pathLst>
              <a:path w="7588250" h="3926417">
                <a:moveTo>
                  <a:pt x="84654" y="0"/>
                </a:moveTo>
                <a:lnTo>
                  <a:pt x="7503596" y="0"/>
                </a:lnTo>
                <a:cubicBezTo>
                  <a:pt x="7550349" y="0"/>
                  <a:pt x="7588250" y="37901"/>
                  <a:pt x="7588250" y="84654"/>
                </a:cubicBezTo>
                <a:lnTo>
                  <a:pt x="7588250" y="3841763"/>
                </a:lnTo>
                <a:cubicBezTo>
                  <a:pt x="7588250" y="3888516"/>
                  <a:pt x="7550349" y="3926417"/>
                  <a:pt x="7503596" y="3926417"/>
                </a:cubicBezTo>
                <a:lnTo>
                  <a:pt x="84654" y="3926417"/>
                </a:lnTo>
                <a:cubicBezTo>
                  <a:pt x="37901" y="3926417"/>
                  <a:pt x="0" y="3888516"/>
                  <a:pt x="0" y="3841763"/>
                </a:cubicBezTo>
                <a:lnTo>
                  <a:pt x="0" y="84654"/>
                </a:lnTo>
                <a:cubicBezTo>
                  <a:pt x="0" y="37932"/>
                  <a:pt x="37932" y="0"/>
                  <a:pt x="8465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56083" y="2275417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20667" y="223308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基本原理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6083" y="2656417"/>
            <a:ext cx="7239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纠删码通过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数学算法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将数据分块并生成校验块，在部分数据丢失时能够恢复原始数据。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6083" y="3058583"/>
            <a:ext cx="7154333" cy="1820333"/>
          </a:xfrm>
          <a:custGeom>
            <a:avLst/>
            <a:gdLst/>
            <a:ahLst/>
            <a:cxnLst/>
            <a:rect l="l" t="t" r="r" b="b"/>
            <a:pathLst>
              <a:path w="7154333" h="1820333">
                <a:moveTo>
                  <a:pt x="84664" y="0"/>
                </a:moveTo>
                <a:lnTo>
                  <a:pt x="7069670" y="0"/>
                </a:lnTo>
                <a:cubicBezTo>
                  <a:pt x="7116428" y="0"/>
                  <a:pt x="7154333" y="37905"/>
                  <a:pt x="7154333" y="84664"/>
                </a:cubicBezTo>
                <a:lnTo>
                  <a:pt x="7154333" y="1735670"/>
                </a:lnTo>
                <a:cubicBezTo>
                  <a:pt x="7154333" y="1782428"/>
                  <a:pt x="7116428" y="1820333"/>
                  <a:pt x="7069670" y="1820333"/>
                </a:cubicBezTo>
                <a:lnTo>
                  <a:pt x="84664" y="1820333"/>
                </a:lnTo>
                <a:cubicBezTo>
                  <a:pt x="37905" y="1820333"/>
                  <a:pt x="0" y="1782428"/>
                  <a:pt x="0" y="1735670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83083" y="3185583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RS(6,3) 编码示例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3083" y="348191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原始数据分块：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83083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51333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40139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708389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97278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865528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54417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022667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11473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3179723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4368611" y="3693583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42334" y="0"/>
                </a:moveTo>
                <a:lnTo>
                  <a:pt x="1068916" y="0"/>
                </a:lnTo>
                <a:cubicBezTo>
                  <a:pt x="1092296" y="0"/>
                  <a:pt x="1111250" y="18954"/>
                  <a:pt x="1111250" y="42334"/>
                </a:cubicBezTo>
                <a:lnTo>
                  <a:pt x="1111250" y="211666"/>
                </a:lnTo>
                <a:cubicBezTo>
                  <a:pt x="1111250" y="235046"/>
                  <a:pt x="1092296" y="254000"/>
                  <a:pt x="1068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4336861" y="3693583"/>
            <a:ext cx="1174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3083" y="403225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编码后（RS(6,3)）：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83083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51333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354426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322676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125852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094102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D3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97278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865528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D4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668704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636954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440047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2408297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D6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3211473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3179723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982898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3951148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754324" y="4243917"/>
            <a:ext cx="730250" cy="254000"/>
          </a:xfrm>
          <a:custGeom>
            <a:avLst/>
            <a:gdLst/>
            <a:ahLst/>
            <a:cxnLst/>
            <a:rect l="l" t="t" r="r" b="b"/>
            <a:pathLst>
              <a:path w="730250" h="254000">
                <a:moveTo>
                  <a:pt x="42334" y="0"/>
                </a:moveTo>
                <a:lnTo>
                  <a:pt x="687916" y="0"/>
                </a:lnTo>
                <a:cubicBezTo>
                  <a:pt x="711296" y="0"/>
                  <a:pt x="730250" y="18954"/>
                  <a:pt x="730250" y="42334"/>
                </a:cubicBezTo>
                <a:lnTo>
                  <a:pt x="730250" y="211666"/>
                </a:lnTo>
                <a:cubicBezTo>
                  <a:pt x="730250" y="235046"/>
                  <a:pt x="711296" y="254000"/>
                  <a:pt x="68791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4722574" y="4243917"/>
            <a:ext cx="793750" cy="254000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83083" y="458258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数据块(6个) + 校验块(3个) = 总块数(9个)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56083" y="509058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625417" y="5005917"/>
            <a:ext cx="1703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通过矩阵运算生成校验块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56083" y="534458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625417" y="5259917"/>
            <a:ext cx="216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丢失任意 3 个块可恢复完整数据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56083" y="559858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625417" y="5513917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存储开销从 300% 降低到 150%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28625" y="6122458"/>
            <a:ext cx="15398750" cy="2846917"/>
          </a:xfrm>
          <a:custGeom>
            <a:avLst/>
            <a:gdLst/>
            <a:ahLst/>
            <a:cxnLst/>
            <a:rect l="l" t="t" r="r" b="b"/>
            <a:pathLst>
              <a:path w="15398750" h="2846917">
                <a:moveTo>
                  <a:pt x="84667" y="0"/>
                </a:moveTo>
                <a:lnTo>
                  <a:pt x="15314083" y="0"/>
                </a:lnTo>
                <a:cubicBezTo>
                  <a:pt x="15360843" y="0"/>
                  <a:pt x="15398750" y="37907"/>
                  <a:pt x="15398750" y="84667"/>
                </a:cubicBezTo>
                <a:lnTo>
                  <a:pt x="15398750" y="2762249"/>
                </a:lnTo>
                <a:cubicBezTo>
                  <a:pt x="15398750" y="2809010"/>
                  <a:pt x="15360843" y="2846917"/>
                  <a:pt x="15314083" y="2846917"/>
                </a:cubicBezTo>
                <a:lnTo>
                  <a:pt x="84667" y="2846917"/>
                </a:lnTo>
                <a:cubicBezTo>
                  <a:pt x="37907" y="2846917"/>
                  <a:pt x="0" y="2809010"/>
                  <a:pt x="0" y="2762249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72042" y="638175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229" y="13229"/>
                </a:moveTo>
                <a:cubicBezTo>
                  <a:pt x="20547" y="13229"/>
                  <a:pt x="26458" y="19141"/>
                  <a:pt x="26458" y="26458"/>
                </a:cubicBezTo>
                <a:lnTo>
                  <a:pt x="26458" y="165365"/>
                </a:lnTo>
                <a:cubicBezTo>
                  <a:pt x="26458" y="169003"/>
                  <a:pt x="29435" y="171979"/>
                  <a:pt x="33073" y="171979"/>
                </a:cubicBezTo>
                <a:lnTo>
                  <a:pt x="198438" y="171979"/>
                </a:lnTo>
                <a:cubicBezTo>
                  <a:pt x="205755" y="171979"/>
                  <a:pt x="211667" y="177891"/>
                  <a:pt x="211667" y="185208"/>
                </a:cubicBezTo>
                <a:cubicBezTo>
                  <a:pt x="211667" y="192526"/>
                  <a:pt x="205755" y="198438"/>
                  <a:pt x="198438" y="198438"/>
                </a:cubicBezTo>
                <a:lnTo>
                  <a:pt x="33073" y="198438"/>
                </a:lnTo>
                <a:cubicBezTo>
                  <a:pt x="14800" y="198438"/>
                  <a:pt x="0" y="183637"/>
                  <a:pt x="0" y="165365"/>
                </a:cubicBezTo>
                <a:lnTo>
                  <a:pt x="0" y="26458"/>
                </a:lnTo>
                <a:cubicBezTo>
                  <a:pt x="0" y="19141"/>
                  <a:pt x="5912" y="13229"/>
                  <a:pt x="13229" y="13229"/>
                </a:cubicBezTo>
                <a:close/>
                <a:moveTo>
                  <a:pt x="52917" y="39688"/>
                </a:moveTo>
                <a:cubicBezTo>
                  <a:pt x="52917" y="32370"/>
                  <a:pt x="58828" y="26458"/>
                  <a:pt x="66146" y="26458"/>
                </a:cubicBezTo>
                <a:lnTo>
                  <a:pt x="145521" y="26458"/>
                </a:lnTo>
                <a:cubicBezTo>
                  <a:pt x="152838" y="26458"/>
                  <a:pt x="158750" y="32370"/>
                  <a:pt x="158750" y="39688"/>
                </a:cubicBezTo>
                <a:cubicBezTo>
                  <a:pt x="158750" y="47005"/>
                  <a:pt x="152838" y="52917"/>
                  <a:pt x="145521" y="52917"/>
                </a:cubicBezTo>
                <a:lnTo>
                  <a:pt x="66146" y="52917"/>
                </a:lnTo>
                <a:cubicBezTo>
                  <a:pt x="58828" y="52917"/>
                  <a:pt x="52917" y="47005"/>
                  <a:pt x="52917" y="39688"/>
                </a:cubicBezTo>
                <a:close/>
                <a:moveTo>
                  <a:pt x="66146" y="72760"/>
                </a:moveTo>
                <a:lnTo>
                  <a:pt x="119063" y="72760"/>
                </a:lnTo>
                <a:cubicBezTo>
                  <a:pt x="126380" y="72760"/>
                  <a:pt x="132292" y="78672"/>
                  <a:pt x="132292" y="85990"/>
                </a:cubicBezTo>
                <a:cubicBezTo>
                  <a:pt x="132292" y="93307"/>
                  <a:pt x="126380" y="99219"/>
                  <a:pt x="119063" y="99219"/>
                </a:cubicBezTo>
                <a:lnTo>
                  <a:pt x="66146" y="99219"/>
                </a:lnTo>
                <a:cubicBezTo>
                  <a:pt x="58828" y="99219"/>
                  <a:pt x="52917" y="93307"/>
                  <a:pt x="52917" y="85990"/>
                </a:cubicBezTo>
                <a:cubicBezTo>
                  <a:pt x="52917" y="78672"/>
                  <a:pt x="58828" y="72760"/>
                  <a:pt x="66146" y="72760"/>
                </a:cubicBezTo>
                <a:close/>
                <a:moveTo>
                  <a:pt x="66146" y="119063"/>
                </a:moveTo>
                <a:lnTo>
                  <a:pt x="171979" y="119063"/>
                </a:lnTo>
                <a:cubicBezTo>
                  <a:pt x="179297" y="119063"/>
                  <a:pt x="185208" y="124974"/>
                  <a:pt x="185208" y="132292"/>
                </a:cubicBezTo>
                <a:cubicBezTo>
                  <a:pt x="185208" y="139609"/>
                  <a:pt x="179297" y="145521"/>
                  <a:pt x="171979" y="145521"/>
                </a:cubicBezTo>
                <a:lnTo>
                  <a:pt x="66146" y="145521"/>
                </a:lnTo>
                <a:cubicBezTo>
                  <a:pt x="58828" y="145521"/>
                  <a:pt x="52917" y="139609"/>
                  <a:pt x="52917" y="132292"/>
                </a:cubicBezTo>
                <a:cubicBezTo>
                  <a:pt x="52917" y="124974"/>
                  <a:pt x="58828" y="119063"/>
                  <a:pt x="66146" y="11906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910167" y="6339417"/>
            <a:ext cx="14806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编码方案对比</a:t>
            </a:r>
            <a:endParaRPr lang="en-US" sz="16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83" y="6805083"/>
          <a:ext cx="14964833" cy="194733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3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编码方案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校验块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总块数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存储开销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容错能力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三副本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个副本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热数据、小文件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RS(6,3)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个块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温数据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RS(10,4)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个块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冷数据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RS(3,2)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167%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个块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小规模集群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977900" cy="723900"/>
          </a:xfrm>
          <a:custGeom>
            <a:avLst/>
            <a:gdLst/>
            <a:ahLst/>
            <a:cxnLst/>
            <a:rect l="l" t="t" r="r" b="b"/>
            <a:pathLst>
              <a:path w="977900" h="723900">
                <a:moveTo>
                  <a:pt x="101599" y="0"/>
                </a:moveTo>
                <a:lnTo>
                  <a:pt x="876301" y="0"/>
                </a:lnTo>
                <a:cubicBezTo>
                  <a:pt x="932412" y="0"/>
                  <a:pt x="977900" y="45488"/>
                  <a:pt x="977900" y="101599"/>
                </a:cubicBezTo>
                <a:lnTo>
                  <a:pt x="977900" y="622301"/>
                </a:lnTo>
                <a:cubicBezTo>
                  <a:pt x="977900" y="678412"/>
                  <a:pt x="932412" y="723900"/>
                  <a:pt x="8763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029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命令行操作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常见操作与实战演练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84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 命令对比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81945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537545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文件操作实战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71145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026745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运维管理命令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12" y="480912"/>
            <a:ext cx="3063585" cy="391854"/>
          </a:xfrm>
          <a:custGeom>
            <a:avLst/>
            <a:gdLst/>
            <a:ahLst/>
            <a:cxnLst/>
            <a:rect l="l" t="t" r="r" b="b"/>
            <a:pathLst>
              <a:path w="3063585" h="391854">
                <a:moveTo>
                  <a:pt x="195927" y="0"/>
                </a:moveTo>
                <a:lnTo>
                  <a:pt x="2867658" y="0"/>
                </a:lnTo>
                <a:cubicBezTo>
                  <a:pt x="2975866" y="0"/>
                  <a:pt x="3063585" y="87719"/>
                  <a:pt x="3063585" y="195927"/>
                </a:cubicBezTo>
                <a:lnTo>
                  <a:pt x="3063585" y="195927"/>
                </a:lnTo>
                <a:cubicBezTo>
                  <a:pt x="3063585" y="304134"/>
                  <a:pt x="2975866" y="391854"/>
                  <a:pt x="2867658" y="391854"/>
                </a:cubicBezTo>
                <a:lnTo>
                  <a:pt x="195927" y="391854"/>
                </a:lnTo>
                <a:cubicBezTo>
                  <a:pt x="87792" y="391854"/>
                  <a:pt x="0" y="304062"/>
                  <a:pt x="0" y="195927"/>
                </a:cubicBezTo>
                <a:lnTo>
                  <a:pt x="0" y="195927"/>
                </a:lnTo>
                <a:cubicBezTo>
                  <a:pt x="0" y="87792"/>
                  <a:pt x="87792" y="0"/>
                  <a:pt x="19592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6839" y="552158"/>
            <a:ext cx="276264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kern="0" spc="15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COMMAND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974" y="1021195"/>
            <a:ext cx="15591036" cy="56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88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与 HDFS 命令对比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4974" y="1733657"/>
            <a:ext cx="15424795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通过对比学习掌握 HDFS 命令行操作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912" y="2262066"/>
            <a:ext cx="15294177" cy="4429137"/>
          </a:xfrm>
          <a:custGeom>
            <a:avLst/>
            <a:gdLst/>
            <a:ahLst/>
            <a:cxnLst/>
            <a:rect l="l" t="t" r="r" b="b"/>
            <a:pathLst>
              <a:path w="15294177" h="4429137">
                <a:moveTo>
                  <a:pt x="95005" y="0"/>
                </a:moveTo>
                <a:lnTo>
                  <a:pt x="15199172" y="0"/>
                </a:lnTo>
                <a:cubicBezTo>
                  <a:pt x="15251642" y="0"/>
                  <a:pt x="15294177" y="42535"/>
                  <a:pt x="15294177" y="95005"/>
                </a:cubicBezTo>
                <a:lnTo>
                  <a:pt x="15294177" y="4334132"/>
                </a:lnTo>
                <a:cubicBezTo>
                  <a:pt x="15294177" y="4386601"/>
                  <a:pt x="15251642" y="4429137"/>
                  <a:pt x="15199172" y="4429137"/>
                </a:cubicBezTo>
                <a:lnTo>
                  <a:pt x="95005" y="4429137"/>
                </a:lnTo>
                <a:cubicBezTo>
                  <a:pt x="42535" y="4429137"/>
                  <a:pt x="0" y="4386601"/>
                  <a:pt x="0" y="4334132"/>
                </a:cubicBezTo>
                <a:lnTo>
                  <a:pt x="0" y="95005"/>
                </a:lnTo>
                <a:cubicBezTo>
                  <a:pt x="0" y="42535"/>
                  <a:pt x="42535" y="0"/>
                  <a:pt x="950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4336" y="2505490"/>
          <a:ext cx="14807328" cy="3942288"/>
        </p:xfrm>
        <a:graphic>
          <a:graphicData uri="http://schemas.openxmlformats.org/drawingml/2006/table">
            <a:tbl>
              <a:tblPr/>
              <a:tblGrid>
                <a:gridCol w="221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1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4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1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032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7889A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Linux 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7889A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创建目录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mkdir /path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-mkdir /path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需要添加 hdfs dfs 前缀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列出目录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 /path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-ls /path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输出格式略有不同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上传文件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 source dest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-put source dest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区分 put（上传）和 get（下载）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下载文件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 remote local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-get remote local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用于 HDFS 到本地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查看文件内容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-cat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功能完全相同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复制文件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 source dest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-cp source dest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内部复制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删除文件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rm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-rm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功能相同，HDFS 有回收站机制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032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修改权限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chmod 644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59F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hdfs dfs -chmod 644 filename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59F5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功能完全相同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0912" y="6893066"/>
            <a:ext cx="4963483" cy="1769280"/>
          </a:xfrm>
          <a:custGeom>
            <a:avLst/>
            <a:gdLst/>
            <a:ahLst/>
            <a:cxnLst/>
            <a:rect l="l" t="t" r="r" b="b"/>
            <a:pathLst>
              <a:path w="4963483" h="1769280">
                <a:moveTo>
                  <a:pt x="94993" y="0"/>
                </a:moveTo>
                <a:lnTo>
                  <a:pt x="4868490" y="0"/>
                </a:lnTo>
                <a:cubicBezTo>
                  <a:pt x="4920953" y="0"/>
                  <a:pt x="4963483" y="42530"/>
                  <a:pt x="4963483" y="94993"/>
                </a:cubicBezTo>
                <a:lnTo>
                  <a:pt x="4963483" y="1674287"/>
                </a:lnTo>
                <a:cubicBezTo>
                  <a:pt x="4963483" y="1726750"/>
                  <a:pt x="4920953" y="1769280"/>
                  <a:pt x="4868490" y="1769280"/>
                </a:cubicBezTo>
                <a:lnTo>
                  <a:pt x="94993" y="1769280"/>
                </a:lnTo>
                <a:cubicBezTo>
                  <a:pt x="42530" y="1769280"/>
                  <a:pt x="0" y="1726750"/>
                  <a:pt x="0" y="1674287"/>
                </a:cubicBezTo>
                <a:lnTo>
                  <a:pt x="0" y="94993"/>
                </a:lnTo>
                <a:cubicBezTo>
                  <a:pt x="0" y="42530"/>
                  <a:pt x="42530" y="0"/>
                  <a:pt x="949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76839" y="7088993"/>
            <a:ext cx="474974" cy="474974"/>
          </a:xfrm>
          <a:custGeom>
            <a:avLst/>
            <a:gdLst/>
            <a:ahLst/>
            <a:cxnLst/>
            <a:rect l="l" t="t" r="r" b="b"/>
            <a:pathLst>
              <a:path w="474974" h="474974">
                <a:moveTo>
                  <a:pt x="94995" y="0"/>
                </a:moveTo>
                <a:lnTo>
                  <a:pt x="379980" y="0"/>
                </a:lnTo>
                <a:cubicBezTo>
                  <a:pt x="432409" y="0"/>
                  <a:pt x="474974" y="42566"/>
                  <a:pt x="474974" y="94995"/>
                </a:cubicBezTo>
                <a:lnTo>
                  <a:pt x="474974" y="379980"/>
                </a:lnTo>
                <a:cubicBezTo>
                  <a:pt x="474974" y="432444"/>
                  <a:pt x="432444" y="474974"/>
                  <a:pt x="379980" y="474974"/>
                </a:cubicBezTo>
                <a:lnTo>
                  <a:pt x="94995" y="474974"/>
                </a:lnTo>
                <a:cubicBezTo>
                  <a:pt x="42566" y="474974"/>
                  <a:pt x="0" y="432409"/>
                  <a:pt x="0" y="379980"/>
                </a:cubicBezTo>
                <a:lnTo>
                  <a:pt x="0" y="94995"/>
                </a:lnTo>
                <a:cubicBezTo>
                  <a:pt x="0" y="42531"/>
                  <a:pt x="42531" y="0"/>
                  <a:pt x="9499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37142" y="7219611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122273" y="160304"/>
                </a:moveTo>
                <a:cubicBezTo>
                  <a:pt x="125321" y="150995"/>
                  <a:pt x="131416" y="142562"/>
                  <a:pt x="138304" y="135298"/>
                </a:cubicBezTo>
                <a:cubicBezTo>
                  <a:pt x="151955" y="120938"/>
                  <a:pt x="160304" y="101526"/>
                  <a:pt x="160304" y="80152"/>
                </a:cubicBezTo>
                <a:cubicBezTo>
                  <a:pt x="160304" y="35901"/>
                  <a:pt x="124402" y="0"/>
                  <a:pt x="80152" y="0"/>
                </a:cubicBezTo>
                <a:cubicBezTo>
                  <a:pt x="35901" y="0"/>
                  <a:pt x="0" y="35901"/>
                  <a:pt x="0" y="80152"/>
                </a:cubicBezTo>
                <a:cubicBezTo>
                  <a:pt x="0" y="101526"/>
                  <a:pt x="8349" y="120938"/>
                  <a:pt x="22000" y="135298"/>
                </a:cubicBezTo>
                <a:cubicBezTo>
                  <a:pt x="28888" y="142562"/>
                  <a:pt x="35025" y="150995"/>
                  <a:pt x="38030" y="160304"/>
                </a:cubicBezTo>
                <a:lnTo>
                  <a:pt x="122232" y="160304"/>
                </a:lnTo>
                <a:close/>
                <a:moveTo>
                  <a:pt x="120228" y="180342"/>
                </a:moveTo>
                <a:lnTo>
                  <a:pt x="40076" y="180342"/>
                </a:lnTo>
                <a:lnTo>
                  <a:pt x="40076" y="187021"/>
                </a:lnTo>
                <a:cubicBezTo>
                  <a:pt x="40076" y="205473"/>
                  <a:pt x="55021" y="220418"/>
                  <a:pt x="73473" y="220418"/>
                </a:cubicBezTo>
                <a:lnTo>
                  <a:pt x="86831" y="220418"/>
                </a:lnTo>
                <a:cubicBezTo>
                  <a:pt x="105283" y="220418"/>
                  <a:pt x="120228" y="205473"/>
                  <a:pt x="120228" y="187021"/>
                </a:cubicBezTo>
                <a:lnTo>
                  <a:pt x="120228" y="180342"/>
                </a:lnTo>
                <a:close/>
                <a:moveTo>
                  <a:pt x="76812" y="46755"/>
                </a:moveTo>
                <a:cubicBezTo>
                  <a:pt x="60197" y="46755"/>
                  <a:pt x="46755" y="60197"/>
                  <a:pt x="46755" y="76812"/>
                </a:cubicBezTo>
                <a:cubicBezTo>
                  <a:pt x="46755" y="82364"/>
                  <a:pt x="42288" y="86831"/>
                  <a:pt x="36736" y="86831"/>
                </a:cubicBezTo>
                <a:cubicBezTo>
                  <a:pt x="31184" y="86831"/>
                  <a:pt x="26717" y="82364"/>
                  <a:pt x="26717" y="76812"/>
                </a:cubicBezTo>
                <a:cubicBezTo>
                  <a:pt x="26717" y="49135"/>
                  <a:pt x="49135" y="26717"/>
                  <a:pt x="76812" y="26717"/>
                </a:cubicBezTo>
                <a:cubicBezTo>
                  <a:pt x="82364" y="26717"/>
                  <a:pt x="86831" y="31184"/>
                  <a:pt x="86831" y="36736"/>
                </a:cubicBezTo>
                <a:cubicBezTo>
                  <a:pt x="86831" y="42288"/>
                  <a:pt x="82364" y="46755"/>
                  <a:pt x="76812" y="46755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94305" y="7160240"/>
            <a:ext cx="961823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学习技巧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6839" y="7730209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66828" y="7658963"/>
            <a:ext cx="2897344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命令只需在 Linux 命令前加前缀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6839" y="8015194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66828" y="7943947"/>
            <a:ext cx="191177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大部分参数选项保持一致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6839" y="8300178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66828" y="8228932"/>
            <a:ext cx="2386747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使用绝对路径，以 / 开头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45795" y="6893066"/>
            <a:ext cx="4963483" cy="1769280"/>
          </a:xfrm>
          <a:custGeom>
            <a:avLst/>
            <a:gdLst/>
            <a:ahLst/>
            <a:cxnLst/>
            <a:rect l="l" t="t" r="r" b="b"/>
            <a:pathLst>
              <a:path w="4963483" h="1769280">
                <a:moveTo>
                  <a:pt x="94993" y="0"/>
                </a:moveTo>
                <a:lnTo>
                  <a:pt x="4868490" y="0"/>
                </a:lnTo>
                <a:cubicBezTo>
                  <a:pt x="4920953" y="0"/>
                  <a:pt x="4963483" y="42530"/>
                  <a:pt x="4963483" y="94993"/>
                </a:cubicBezTo>
                <a:lnTo>
                  <a:pt x="4963483" y="1674287"/>
                </a:lnTo>
                <a:cubicBezTo>
                  <a:pt x="4963483" y="1726750"/>
                  <a:pt x="4920953" y="1769280"/>
                  <a:pt x="4868490" y="1769280"/>
                </a:cubicBezTo>
                <a:lnTo>
                  <a:pt x="94993" y="1769280"/>
                </a:lnTo>
                <a:cubicBezTo>
                  <a:pt x="42530" y="1769280"/>
                  <a:pt x="0" y="1726750"/>
                  <a:pt x="0" y="1674287"/>
                </a:cubicBezTo>
                <a:lnTo>
                  <a:pt x="0" y="94993"/>
                </a:lnTo>
                <a:cubicBezTo>
                  <a:pt x="0" y="42530"/>
                  <a:pt x="42530" y="0"/>
                  <a:pt x="949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5841722" y="7088993"/>
            <a:ext cx="474974" cy="474974"/>
          </a:xfrm>
          <a:custGeom>
            <a:avLst/>
            <a:gdLst/>
            <a:ahLst/>
            <a:cxnLst/>
            <a:rect l="l" t="t" r="r" b="b"/>
            <a:pathLst>
              <a:path w="474974" h="474974">
                <a:moveTo>
                  <a:pt x="94995" y="0"/>
                </a:moveTo>
                <a:lnTo>
                  <a:pt x="379980" y="0"/>
                </a:lnTo>
                <a:cubicBezTo>
                  <a:pt x="432409" y="0"/>
                  <a:pt x="474974" y="42566"/>
                  <a:pt x="474974" y="94995"/>
                </a:cubicBezTo>
                <a:lnTo>
                  <a:pt x="474974" y="379980"/>
                </a:lnTo>
                <a:cubicBezTo>
                  <a:pt x="474974" y="432444"/>
                  <a:pt x="432444" y="474974"/>
                  <a:pt x="379980" y="474974"/>
                </a:cubicBezTo>
                <a:lnTo>
                  <a:pt x="94995" y="474974"/>
                </a:lnTo>
                <a:cubicBezTo>
                  <a:pt x="42566" y="474974"/>
                  <a:pt x="0" y="432409"/>
                  <a:pt x="0" y="379980"/>
                </a:cubicBezTo>
                <a:lnTo>
                  <a:pt x="0" y="94995"/>
                </a:lnTo>
                <a:cubicBezTo>
                  <a:pt x="0" y="42531"/>
                  <a:pt x="42531" y="0"/>
                  <a:pt x="9499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975308" y="7219611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09814" y="62869"/>
                </a:moveTo>
                <a:lnTo>
                  <a:pt x="169738" y="102945"/>
                </a:lnTo>
                <a:cubicBezTo>
                  <a:pt x="165898" y="106786"/>
                  <a:pt x="160179" y="107913"/>
                  <a:pt x="155169" y="105826"/>
                </a:cubicBezTo>
                <a:cubicBezTo>
                  <a:pt x="150160" y="103738"/>
                  <a:pt x="146945" y="98896"/>
                  <a:pt x="146945" y="93511"/>
                </a:cubicBezTo>
                <a:lnTo>
                  <a:pt x="146945" y="66793"/>
                </a:lnTo>
                <a:lnTo>
                  <a:pt x="13359" y="66793"/>
                </a:lnTo>
                <a:cubicBezTo>
                  <a:pt x="5970" y="66793"/>
                  <a:pt x="0" y="60824"/>
                  <a:pt x="0" y="53435"/>
                </a:cubicBezTo>
                <a:cubicBezTo>
                  <a:pt x="0" y="46046"/>
                  <a:pt x="5970" y="40076"/>
                  <a:pt x="13359" y="40076"/>
                </a:cubicBezTo>
                <a:lnTo>
                  <a:pt x="146945" y="40076"/>
                </a:lnTo>
                <a:lnTo>
                  <a:pt x="146945" y="13359"/>
                </a:lnTo>
                <a:cubicBezTo>
                  <a:pt x="146945" y="7973"/>
                  <a:pt x="150201" y="3089"/>
                  <a:pt x="155211" y="1002"/>
                </a:cubicBezTo>
                <a:cubicBezTo>
                  <a:pt x="160220" y="-1085"/>
                  <a:pt x="165940" y="83"/>
                  <a:pt x="169780" y="3882"/>
                </a:cubicBezTo>
                <a:lnTo>
                  <a:pt x="209856" y="43958"/>
                </a:lnTo>
                <a:cubicBezTo>
                  <a:pt x="215074" y="49177"/>
                  <a:pt x="215074" y="57651"/>
                  <a:pt x="209856" y="62869"/>
                </a:cubicBezTo>
                <a:close/>
                <a:moveTo>
                  <a:pt x="43958" y="209814"/>
                </a:moveTo>
                <a:lnTo>
                  <a:pt x="3882" y="169738"/>
                </a:lnTo>
                <a:cubicBezTo>
                  <a:pt x="-1336" y="164520"/>
                  <a:pt x="-1336" y="156046"/>
                  <a:pt x="3882" y="150828"/>
                </a:cubicBezTo>
                <a:lnTo>
                  <a:pt x="43958" y="110752"/>
                </a:lnTo>
                <a:cubicBezTo>
                  <a:pt x="47799" y="106911"/>
                  <a:pt x="53518" y="105784"/>
                  <a:pt x="58528" y="107871"/>
                </a:cubicBezTo>
                <a:cubicBezTo>
                  <a:pt x="63537" y="109958"/>
                  <a:pt x="66793" y="114843"/>
                  <a:pt x="66793" y="120228"/>
                </a:cubicBezTo>
                <a:lnTo>
                  <a:pt x="66793" y="146945"/>
                </a:lnTo>
                <a:lnTo>
                  <a:pt x="200380" y="146945"/>
                </a:lnTo>
                <a:cubicBezTo>
                  <a:pt x="207769" y="146945"/>
                  <a:pt x="213738" y="152915"/>
                  <a:pt x="213738" y="160304"/>
                </a:cubicBezTo>
                <a:cubicBezTo>
                  <a:pt x="213738" y="167693"/>
                  <a:pt x="207769" y="173663"/>
                  <a:pt x="200380" y="173663"/>
                </a:cubicBezTo>
                <a:lnTo>
                  <a:pt x="66793" y="173663"/>
                </a:lnTo>
                <a:lnTo>
                  <a:pt x="66793" y="200380"/>
                </a:lnTo>
                <a:cubicBezTo>
                  <a:pt x="66793" y="205765"/>
                  <a:pt x="63537" y="210649"/>
                  <a:pt x="58528" y="212737"/>
                </a:cubicBezTo>
                <a:cubicBezTo>
                  <a:pt x="53518" y="214824"/>
                  <a:pt x="47799" y="213655"/>
                  <a:pt x="43958" y="209856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459188" y="7160240"/>
            <a:ext cx="961823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主要差异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41722" y="7730209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031711" y="7658963"/>
            <a:ext cx="2315500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文件传输命令不同（put/get）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41722" y="8015194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031711" y="7943947"/>
            <a:ext cx="229175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所有命令都需要 hdfs dfs 前缀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41722" y="8300178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031711" y="8228932"/>
            <a:ext cx="1567416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有回收站机制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810678" y="6893066"/>
            <a:ext cx="4963483" cy="1769280"/>
          </a:xfrm>
          <a:custGeom>
            <a:avLst/>
            <a:gdLst/>
            <a:ahLst/>
            <a:cxnLst/>
            <a:rect l="l" t="t" r="r" b="b"/>
            <a:pathLst>
              <a:path w="4963483" h="1769280">
                <a:moveTo>
                  <a:pt x="94993" y="0"/>
                </a:moveTo>
                <a:lnTo>
                  <a:pt x="4868490" y="0"/>
                </a:lnTo>
                <a:cubicBezTo>
                  <a:pt x="4920953" y="0"/>
                  <a:pt x="4963483" y="42530"/>
                  <a:pt x="4963483" y="94993"/>
                </a:cubicBezTo>
                <a:lnTo>
                  <a:pt x="4963483" y="1674287"/>
                </a:lnTo>
                <a:cubicBezTo>
                  <a:pt x="4963483" y="1726750"/>
                  <a:pt x="4920953" y="1769280"/>
                  <a:pt x="4868490" y="1769280"/>
                </a:cubicBezTo>
                <a:lnTo>
                  <a:pt x="94993" y="1769280"/>
                </a:lnTo>
                <a:cubicBezTo>
                  <a:pt x="42530" y="1769280"/>
                  <a:pt x="0" y="1726750"/>
                  <a:pt x="0" y="1674287"/>
                </a:cubicBezTo>
                <a:lnTo>
                  <a:pt x="0" y="94993"/>
                </a:lnTo>
                <a:cubicBezTo>
                  <a:pt x="0" y="42530"/>
                  <a:pt x="42530" y="0"/>
                  <a:pt x="949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26"/>
          <p:cNvSpPr/>
          <p:nvPr/>
        </p:nvSpPr>
        <p:spPr>
          <a:xfrm>
            <a:off x="11006605" y="7088993"/>
            <a:ext cx="474974" cy="474974"/>
          </a:xfrm>
          <a:custGeom>
            <a:avLst/>
            <a:gdLst/>
            <a:ahLst/>
            <a:cxnLst/>
            <a:rect l="l" t="t" r="r" b="b"/>
            <a:pathLst>
              <a:path w="474974" h="474974">
                <a:moveTo>
                  <a:pt x="94995" y="0"/>
                </a:moveTo>
                <a:lnTo>
                  <a:pt x="379980" y="0"/>
                </a:lnTo>
                <a:cubicBezTo>
                  <a:pt x="432409" y="0"/>
                  <a:pt x="474974" y="42566"/>
                  <a:pt x="474974" y="94995"/>
                </a:cubicBezTo>
                <a:lnTo>
                  <a:pt x="474974" y="379980"/>
                </a:lnTo>
                <a:cubicBezTo>
                  <a:pt x="474974" y="432444"/>
                  <a:pt x="432444" y="474974"/>
                  <a:pt x="379980" y="474974"/>
                </a:cubicBezTo>
                <a:lnTo>
                  <a:pt x="94995" y="474974"/>
                </a:lnTo>
                <a:cubicBezTo>
                  <a:pt x="42566" y="474974"/>
                  <a:pt x="0" y="432409"/>
                  <a:pt x="0" y="379980"/>
                </a:cubicBezTo>
                <a:lnTo>
                  <a:pt x="0" y="94995"/>
                </a:lnTo>
                <a:cubicBezTo>
                  <a:pt x="0" y="42531"/>
                  <a:pt x="42531" y="0"/>
                  <a:pt x="9499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11126833" y="7219611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20038" y="81738"/>
                </a:moveTo>
                <a:lnTo>
                  <a:pt x="107370" y="117681"/>
                </a:lnTo>
                <a:cubicBezTo>
                  <a:pt x="111461" y="119351"/>
                  <a:pt x="115803" y="120228"/>
                  <a:pt x="120228" y="120228"/>
                </a:cubicBezTo>
                <a:cubicBezTo>
                  <a:pt x="124653" y="120228"/>
                  <a:pt x="128995" y="119351"/>
                  <a:pt x="133086" y="117681"/>
                </a:cubicBezTo>
                <a:lnTo>
                  <a:pt x="234277" y="76019"/>
                </a:lnTo>
                <a:cubicBezTo>
                  <a:pt x="238035" y="74475"/>
                  <a:pt x="240456" y="70843"/>
                  <a:pt x="240456" y="66793"/>
                </a:cubicBezTo>
                <a:cubicBezTo>
                  <a:pt x="240456" y="62744"/>
                  <a:pt x="238035" y="59112"/>
                  <a:pt x="234277" y="57567"/>
                </a:cubicBezTo>
                <a:lnTo>
                  <a:pt x="133086" y="15905"/>
                </a:lnTo>
                <a:cubicBezTo>
                  <a:pt x="128995" y="14235"/>
                  <a:pt x="124653" y="13359"/>
                  <a:pt x="120228" y="13359"/>
                </a:cubicBezTo>
                <a:cubicBezTo>
                  <a:pt x="115803" y="13359"/>
                  <a:pt x="111461" y="14235"/>
                  <a:pt x="107370" y="15905"/>
                </a:cubicBezTo>
                <a:lnTo>
                  <a:pt x="6178" y="57567"/>
                </a:lnTo>
                <a:cubicBezTo>
                  <a:pt x="2421" y="59112"/>
                  <a:pt x="0" y="62744"/>
                  <a:pt x="0" y="66793"/>
                </a:cubicBezTo>
                <a:lnTo>
                  <a:pt x="0" y="190361"/>
                </a:lnTo>
                <a:cubicBezTo>
                  <a:pt x="0" y="195913"/>
                  <a:pt x="4467" y="200380"/>
                  <a:pt x="10019" y="200380"/>
                </a:cubicBezTo>
                <a:cubicBezTo>
                  <a:pt x="15571" y="200380"/>
                  <a:pt x="20038" y="195913"/>
                  <a:pt x="20038" y="190361"/>
                </a:cubicBezTo>
                <a:lnTo>
                  <a:pt x="20038" y="81738"/>
                </a:lnTo>
                <a:close/>
                <a:moveTo>
                  <a:pt x="40076" y="111670"/>
                </a:moveTo>
                <a:lnTo>
                  <a:pt x="40076" y="160304"/>
                </a:lnTo>
                <a:cubicBezTo>
                  <a:pt x="40076" y="182429"/>
                  <a:pt x="75977" y="200380"/>
                  <a:pt x="120228" y="200380"/>
                </a:cubicBezTo>
                <a:cubicBezTo>
                  <a:pt x="164478" y="200380"/>
                  <a:pt x="200380" y="182429"/>
                  <a:pt x="200380" y="160304"/>
                </a:cubicBezTo>
                <a:lnTo>
                  <a:pt x="200380" y="111628"/>
                </a:lnTo>
                <a:lnTo>
                  <a:pt x="140725" y="136217"/>
                </a:lnTo>
                <a:cubicBezTo>
                  <a:pt x="134213" y="138888"/>
                  <a:pt x="127283" y="140266"/>
                  <a:pt x="120228" y="140266"/>
                </a:cubicBezTo>
                <a:cubicBezTo>
                  <a:pt x="113173" y="140266"/>
                  <a:pt x="106243" y="138888"/>
                  <a:pt x="99731" y="136217"/>
                </a:cubicBezTo>
                <a:lnTo>
                  <a:pt x="40076" y="111628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11624072" y="7160240"/>
            <a:ext cx="961823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学习建议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1006605" y="7730209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11196595" y="7658963"/>
            <a:ext cx="2078013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先熟练掌握 Linux 基本命令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006605" y="8015194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11196595" y="7943947"/>
            <a:ext cx="1745531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重点记忆 put/get 命令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06605" y="8300178"/>
            <a:ext cx="94995" cy="94995"/>
          </a:xfrm>
          <a:custGeom>
            <a:avLst/>
            <a:gdLst/>
            <a:ahLst/>
            <a:cxnLst/>
            <a:rect l="l" t="t" r="r" b="b"/>
            <a:pathLst>
              <a:path w="94995" h="94995">
                <a:moveTo>
                  <a:pt x="47497" y="0"/>
                </a:moveTo>
                <a:lnTo>
                  <a:pt x="47497" y="0"/>
                </a:lnTo>
                <a:cubicBezTo>
                  <a:pt x="73712" y="0"/>
                  <a:pt x="94995" y="21283"/>
                  <a:pt x="94995" y="47497"/>
                </a:cubicBezTo>
                <a:lnTo>
                  <a:pt x="94995" y="47497"/>
                </a:lnTo>
                <a:cubicBezTo>
                  <a:pt x="94995" y="73712"/>
                  <a:pt x="73712" y="94995"/>
                  <a:pt x="47497" y="94995"/>
                </a:cubicBezTo>
                <a:lnTo>
                  <a:pt x="47497" y="94995"/>
                </a:lnTo>
                <a:cubicBezTo>
                  <a:pt x="21283" y="94995"/>
                  <a:pt x="0" y="73712"/>
                  <a:pt x="0" y="47497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1196595" y="8228932"/>
            <a:ext cx="1781154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HDFS 特有的功能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184" y="429184"/>
            <a:ext cx="1282253" cy="349705"/>
          </a:xfrm>
          <a:custGeom>
            <a:avLst/>
            <a:gdLst/>
            <a:ahLst/>
            <a:cxnLst/>
            <a:rect l="l" t="t" r="r" b="b"/>
            <a:pathLst>
              <a:path w="1282253" h="349705">
                <a:moveTo>
                  <a:pt x="174853" y="0"/>
                </a:moveTo>
                <a:lnTo>
                  <a:pt x="1107400" y="0"/>
                </a:lnTo>
                <a:cubicBezTo>
                  <a:pt x="1203969" y="0"/>
                  <a:pt x="1282253" y="78284"/>
                  <a:pt x="1282253" y="174853"/>
                </a:cubicBezTo>
                <a:lnTo>
                  <a:pt x="1282253" y="174853"/>
                </a:lnTo>
                <a:cubicBezTo>
                  <a:pt x="1282253" y="271421"/>
                  <a:pt x="1203969" y="349705"/>
                  <a:pt x="1107400" y="349705"/>
                </a:cubicBezTo>
                <a:lnTo>
                  <a:pt x="174853" y="349705"/>
                </a:lnTo>
                <a:cubicBezTo>
                  <a:pt x="78349" y="349705"/>
                  <a:pt x="0" y="271356"/>
                  <a:pt x="0" y="174853"/>
                </a:cubicBezTo>
                <a:lnTo>
                  <a:pt x="0" y="174853"/>
                </a:lnTo>
                <a:cubicBezTo>
                  <a:pt x="0" y="78349"/>
                  <a:pt x="78349" y="0"/>
                  <a:pt x="17485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4037" y="492767"/>
            <a:ext cx="1021961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134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885" y="911353"/>
            <a:ext cx="15662561" cy="50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5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文件操作实战演练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885" y="1547181"/>
            <a:ext cx="15514201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 HDFS 文件操作流程演示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184" y="2018754"/>
            <a:ext cx="7587546" cy="2183009"/>
          </a:xfrm>
          <a:custGeom>
            <a:avLst/>
            <a:gdLst/>
            <a:ahLst/>
            <a:cxnLst/>
            <a:rect l="l" t="t" r="r" b="b"/>
            <a:pathLst>
              <a:path w="7587546" h="2183009">
                <a:moveTo>
                  <a:pt x="84766" y="0"/>
                </a:moveTo>
                <a:lnTo>
                  <a:pt x="7502780" y="0"/>
                </a:lnTo>
                <a:cubicBezTo>
                  <a:pt x="7549595" y="0"/>
                  <a:pt x="7587546" y="37951"/>
                  <a:pt x="7587546" y="84766"/>
                </a:cubicBezTo>
                <a:lnTo>
                  <a:pt x="7587546" y="2098243"/>
                </a:lnTo>
                <a:cubicBezTo>
                  <a:pt x="7587546" y="2145058"/>
                  <a:pt x="7549595" y="2183009"/>
                  <a:pt x="7502780" y="2183009"/>
                </a:cubicBezTo>
                <a:lnTo>
                  <a:pt x="84766" y="2183009"/>
                </a:lnTo>
                <a:cubicBezTo>
                  <a:pt x="37951" y="2183009"/>
                  <a:pt x="0" y="2145058"/>
                  <a:pt x="0" y="2098243"/>
                </a:cubicBezTo>
                <a:lnTo>
                  <a:pt x="0" y="84766"/>
                </a:lnTo>
                <a:cubicBezTo>
                  <a:pt x="0" y="37951"/>
                  <a:pt x="37951" y="0"/>
                  <a:pt x="8476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2918" y="2278383"/>
            <a:ext cx="211943" cy="211943"/>
          </a:xfrm>
          <a:custGeom>
            <a:avLst/>
            <a:gdLst/>
            <a:ahLst/>
            <a:cxnLst/>
            <a:rect l="l" t="t" r="r" b="b"/>
            <a:pathLst>
              <a:path w="211943" h="211943">
                <a:moveTo>
                  <a:pt x="211943" y="158957"/>
                </a:moveTo>
                <a:cubicBezTo>
                  <a:pt x="211943" y="173569"/>
                  <a:pt x="200062" y="185450"/>
                  <a:pt x="185450" y="185450"/>
                </a:cubicBezTo>
                <a:lnTo>
                  <a:pt x="26493" y="185450"/>
                </a:lnTo>
                <a:cubicBezTo>
                  <a:pt x="11880" y="185450"/>
                  <a:pt x="0" y="173569"/>
                  <a:pt x="0" y="158957"/>
                </a:cubicBezTo>
                <a:lnTo>
                  <a:pt x="0" y="39739"/>
                </a:lnTo>
                <a:cubicBezTo>
                  <a:pt x="0" y="25127"/>
                  <a:pt x="11880" y="13246"/>
                  <a:pt x="26493" y="13246"/>
                </a:cubicBezTo>
                <a:lnTo>
                  <a:pt x="83908" y="13246"/>
                </a:lnTo>
                <a:cubicBezTo>
                  <a:pt x="89620" y="13246"/>
                  <a:pt x="95209" y="15109"/>
                  <a:pt x="99803" y="18545"/>
                </a:cubicBezTo>
                <a:lnTo>
                  <a:pt x="115699" y="30467"/>
                </a:lnTo>
                <a:cubicBezTo>
                  <a:pt x="117976" y="32205"/>
                  <a:pt x="120791" y="33116"/>
                  <a:pt x="123647" y="33116"/>
                </a:cubicBezTo>
                <a:lnTo>
                  <a:pt x="185450" y="33116"/>
                </a:lnTo>
                <a:cubicBezTo>
                  <a:pt x="200062" y="33116"/>
                  <a:pt x="211943" y="44996"/>
                  <a:pt x="211943" y="59609"/>
                </a:cubicBezTo>
                <a:lnTo>
                  <a:pt x="211943" y="158957"/>
                </a:lnTo>
                <a:close/>
                <a:moveTo>
                  <a:pt x="105971" y="66232"/>
                </a:moveTo>
                <a:cubicBezTo>
                  <a:pt x="100466" y="66232"/>
                  <a:pt x="96037" y="70661"/>
                  <a:pt x="96037" y="76167"/>
                </a:cubicBezTo>
                <a:lnTo>
                  <a:pt x="96037" y="96037"/>
                </a:lnTo>
                <a:lnTo>
                  <a:pt x="76167" y="96037"/>
                </a:lnTo>
                <a:cubicBezTo>
                  <a:pt x="70661" y="96037"/>
                  <a:pt x="66232" y="100466"/>
                  <a:pt x="66232" y="105971"/>
                </a:cubicBezTo>
                <a:cubicBezTo>
                  <a:pt x="66232" y="111477"/>
                  <a:pt x="70661" y="115906"/>
                  <a:pt x="76167" y="115906"/>
                </a:cubicBezTo>
                <a:lnTo>
                  <a:pt x="96037" y="115906"/>
                </a:lnTo>
                <a:lnTo>
                  <a:pt x="96037" y="135776"/>
                </a:lnTo>
                <a:cubicBezTo>
                  <a:pt x="96037" y="141281"/>
                  <a:pt x="100466" y="145711"/>
                  <a:pt x="105971" y="145711"/>
                </a:cubicBezTo>
                <a:cubicBezTo>
                  <a:pt x="111477" y="145711"/>
                  <a:pt x="115906" y="141281"/>
                  <a:pt x="115906" y="135776"/>
                </a:cubicBezTo>
                <a:lnTo>
                  <a:pt x="115906" y="115906"/>
                </a:lnTo>
                <a:lnTo>
                  <a:pt x="135776" y="115906"/>
                </a:lnTo>
                <a:cubicBezTo>
                  <a:pt x="141281" y="115906"/>
                  <a:pt x="145711" y="111477"/>
                  <a:pt x="145711" y="105971"/>
                </a:cubicBezTo>
                <a:cubicBezTo>
                  <a:pt x="145711" y="100466"/>
                  <a:pt x="141281" y="96037"/>
                  <a:pt x="135776" y="96037"/>
                </a:cubicBezTo>
                <a:lnTo>
                  <a:pt x="115906" y="96037"/>
                </a:lnTo>
                <a:lnTo>
                  <a:pt x="115906" y="76167"/>
                </a:lnTo>
                <a:cubicBezTo>
                  <a:pt x="115906" y="70661"/>
                  <a:pt x="111477" y="66232"/>
                  <a:pt x="105971" y="6623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1353" y="2235995"/>
            <a:ext cx="6994107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创建目录结构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6425" y="2659880"/>
            <a:ext cx="7153064" cy="635828"/>
          </a:xfrm>
          <a:custGeom>
            <a:avLst/>
            <a:gdLst/>
            <a:ahLst/>
            <a:cxnLst/>
            <a:rect l="l" t="t" r="r" b="b"/>
            <a:pathLst>
              <a:path w="7153064" h="635828">
                <a:moveTo>
                  <a:pt x="84775" y="0"/>
                </a:moveTo>
                <a:lnTo>
                  <a:pt x="7068289" y="0"/>
                </a:lnTo>
                <a:cubicBezTo>
                  <a:pt x="7115109" y="0"/>
                  <a:pt x="7153064" y="37955"/>
                  <a:pt x="7153064" y="84775"/>
                </a:cubicBezTo>
                <a:lnTo>
                  <a:pt x="7153064" y="551053"/>
                </a:lnTo>
                <a:cubicBezTo>
                  <a:pt x="7153064" y="597873"/>
                  <a:pt x="7115109" y="635828"/>
                  <a:pt x="7068289" y="635828"/>
                </a:cubicBezTo>
                <a:lnTo>
                  <a:pt x="84775" y="635828"/>
                </a:lnTo>
                <a:cubicBezTo>
                  <a:pt x="37955" y="635828"/>
                  <a:pt x="0" y="597873"/>
                  <a:pt x="0" y="551053"/>
                </a:cubicBezTo>
                <a:lnTo>
                  <a:pt x="0" y="84775"/>
                </a:lnTo>
                <a:cubicBezTo>
                  <a:pt x="0" y="37955"/>
                  <a:pt x="37955" y="0"/>
                  <a:pt x="8477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3591" y="2787046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创建多级目录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3591" y="2998988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-mkdir -p /user/hadoop/practice/{input,output,backup}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25" y="3380485"/>
            <a:ext cx="7227244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说明：</a:t>
            </a:r>
            <a:r>
              <a:rPr lang="en-US" sz="11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</a:t>
            </a:r>
            <a:r>
              <a:rPr lang="en-US" sz="1168" dirty="0">
                <a:solidFill>
                  <a:srgbClr val="E59F54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-p </a:t>
            </a:r>
            <a:r>
              <a:rPr lang="en-US" sz="11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参数递归创建父目录，支持一次创建多个目录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40429" y="2018754"/>
            <a:ext cx="7587546" cy="2183009"/>
          </a:xfrm>
          <a:custGeom>
            <a:avLst/>
            <a:gdLst/>
            <a:ahLst/>
            <a:cxnLst/>
            <a:rect l="l" t="t" r="r" b="b"/>
            <a:pathLst>
              <a:path w="7587546" h="2183009">
                <a:moveTo>
                  <a:pt x="84766" y="0"/>
                </a:moveTo>
                <a:lnTo>
                  <a:pt x="7502780" y="0"/>
                </a:lnTo>
                <a:cubicBezTo>
                  <a:pt x="7549595" y="0"/>
                  <a:pt x="7587546" y="37951"/>
                  <a:pt x="7587546" y="84766"/>
                </a:cubicBezTo>
                <a:lnTo>
                  <a:pt x="7587546" y="2098243"/>
                </a:lnTo>
                <a:cubicBezTo>
                  <a:pt x="7587546" y="2145058"/>
                  <a:pt x="7549595" y="2183009"/>
                  <a:pt x="7502780" y="2183009"/>
                </a:cubicBezTo>
                <a:lnTo>
                  <a:pt x="84766" y="2183009"/>
                </a:lnTo>
                <a:cubicBezTo>
                  <a:pt x="37951" y="2183009"/>
                  <a:pt x="0" y="2145058"/>
                  <a:pt x="0" y="2098243"/>
                </a:cubicBezTo>
                <a:lnTo>
                  <a:pt x="0" y="84766"/>
                </a:lnTo>
                <a:cubicBezTo>
                  <a:pt x="0" y="37951"/>
                  <a:pt x="37951" y="0"/>
                  <a:pt x="8476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510656" y="2278383"/>
            <a:ext cx="158957" cy="211943"/>
          </a:xfrm>
          <a:custGeom>
            <a:avLst/>
            <a:gdLst/>
            <a:ahLst/>
            <a:cxnLst/>
            <a:rect l="l" t="t" r="r" b="b"/>
            <a:pathLst>
              <a:path w="158957" h="211943">
                <a:moveTo>
                  <a:pt x="0" y="26493"/>
                </a:moveTo>
                <a:cubicBezTo>
                  <a:pt x="0" y="11880"/>
                  <a:pt x="11880" y="0"/>
                  <a:pt x="26493" y="0"/>
                </a:cubicBezTo>
                <a:lnTo>
                  <a:pt x="88378" y="0"/>
                </a:lnTo>
                <a:cubicBezTo>
                  <a:pt x="95416" y="0"/>
                  <a:pt x="102163" y="2773"/>
                  <a:pt x="107130" y="7741"/>
                </a:cubicBezTo>
                <a:lnTo>
                  <a:pt x="151216" y="51868"/>
                </a:lnTo>
                <a:cubicBezTo>
                  <a:pt x="156184" y="56835"/>
                  <a:pt x="158957" y="63583"/>
                  <a:pt x="158957" y="70620"/>
                </a:cubicBezTo>
                <a:lnTo>
                  <a:pt x="158957" y="185450"/>
                </a:lnTo>
                <a:cubicBezTo>
                  <a:pt x="158957" y="200062"/>
                  <a:pt x="147077" y="211943"/>
                  <a:pt x="132464" y="211943"/>
                </a:cubicBezTo>
                <a:lnTo>
                  <a:pt x="26493" y="211943"/>
                </a:lnTo>
                <a:cubicBezTo>
                  <a:pt x="11880" y="211943"/>
                  <a:pt x="0" y="200062"/>
                  <a:pt x="0" y="185450"/>
                </a:cubicBezTo>
                <a:lnTo>
                  <a:pt x="0" y="26493"/>
                </a:lnTo>
                <a:close/>
                <a:moveTo>
                  <a:pt x="86102" y="24216"/>
                </a:moveTo>
                <a:lnTo>
                  <a:pt x="86102" y="62920"/>
                </a:lnTo>
                <a:cubicBezTo>
                  <a:pt x="86102" y="68426"/>
                  <a:pt x="90531" y="72855"/>
                  <a:pt x="96037" y="72855"/>
                </a:cubicBezTo>
                <a:lnTo>
                  <a:pt x="134741" y="72855"/>
                </a:lnTo>
                <a:lnTo>
                  <a:pt x="86102" y="24216"/>
                </a:lnTo>
                <a:close/>
                <a:moveTo>
                  <a:pt x="86516" y="108869"/>
                </a:moveTo>
                <a:cubicBezTo>
                  <a:pt x="82625" y="104978"/>
                  <a:pt x="76332" y="104978"/>
                  <a:pt x="72483" y="108869"/>
                </a:cubicBezTo>
                <a:lnTo>
                  <a:pt x="45990" y="135362"/>
                </a:lnTo>
                <a:cubicBezTo>
                  <a:pt x="42099" y="139253"/>
                  <a:pt x="42099" y="145545"/>
                  <a:pt x="45990" y="149395"/>
                </a:cubicBezTo>
                <a:cubicBezTo>
                  <a:pt x="49881" y="153244"/>
                  <a:pt x="56173" y="153286"/>
                  <a:pt x="60023" y="149395"/>
                </a:cubicBezTo>
                <a:lnTo>
                  <a:pt x="69544" y="139874"/>
                </a:lnTo>
                <a:lnTo>
                  <a:pt x="69544" y="175515"/>
                </a:lnTo>
                <a:cubicBezTo>
                  <a:pt x="69544" y="181021"/>
                  <a:pt x="73973" y="185450"/>
                  <a:pt x="79478" y="185450"/>
                </a:cubicBezTo>
                <a:cubicBezTo>
                  <a:pt x="84984" y="185450"/>
                  <a:pt x="89413" y="181021"/>
                  <a:pt x="89413" y="175515"/>
                </a:cubicBezTo>
                <a:lnTo>
                  <a:pt x="89413" y="139874"/>
                </a:lnTo>
                <a:lnTo>
                  <a:pt x="98934" y="149395"/>
                </a:lnTo>
                <a:cubicBezTo>
                  <a:pt x="102825" y="153286"/>
                  <a:pt x="109117" y="153286"/>
                  <a:pt x="112967" y="149395"/>
                </a:cubicBezTo>
                <a:cubicBezTo>
                  <a:pt x="116817" y="145504"/>
                  <a:pt x="116858" y="139212"/>
                  <a:pt x="112967" y="135362"/>
                </a:cubicBezTo>
                <a:lnTo>
                  <a:pt x="86474" y="10886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722598" y="2235995"/>
            <a:ext cx="6994107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准备并上传测试数据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57670" y="2659880"/>
            <a:ext cx="7153064" cy="1017325"/>
          </a:xfrm>
          <a:custGeom>
            <a:avLst/>
            <a:gdLst/>
            <a:ahLst/>
            <a:cxnLst/>
            <a:rect l="l" t="t" r="r" b="b"/>
            <a:pathLst>
              <a:path w="7153064" h="1017325">
                <a:moveTo>
                  <a:pt x="84774" y="0"/>
                </a:moveTo>
                <a:lnTo>
                  <a:pt x="7068290" y="0"/>
                </a:lnTo>
                <a:cubicBezTo>
                  <a:pt x="7115109" y="0"/>
                  <a:pt x="7153064" y="37954"/>
                  <a:pt x="7153064" y="84774"/>
                </a:cubicBezTo>
                <a:lnTo>
                  <a:pt x="7153064" y="932551"/>
                </a:lnTo>
                <a:cubicBezTo>
                  <a:pt x="7153064" y="979370"/>
                  <a:pt x="7115109" y="1017325"/>
                  <a:pt x="7068290" y="1017325"/>
                </a:cubicBezTo>
                <a:lnTo>
                  <a:pt x="84774" y="1017325"/>
                </a:lnTo>
                <a:cubicBezTo>
                  <a:pt x="37954" y="1017325"/>
                  <a:pt x="0" y="979370"/>
                  <a:pt x="0" y="932551"/>
                </a:cubicBezTo>
                <a:lnTo>
                  <a:pt x="0" y="84774"/>
                </a:lnTo>
                <a:cubicBezTo>
                  <a:pt x="0" y="37954"/>
                  <a:pt x="37954" y="0"/>
                  <a:pt x="8477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84836" y="2787046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准备本地测试数据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4836" y="2998988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 "Hello HDFS World!" &gt; /tmp/test.txt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4836" y="3210931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上传文件到 HDFS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4836" y="3380485"/>
            <a:ext cx="6962316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-put /tmp/test.txt /user/hadoop/practice/input/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7670" y="3761982"/>
            <a:ext cx="7227244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8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说明：</a:t>
            </a:r>
            <a:r>
              <a:rPr lang="en-US" sz="11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</a:t>
            </a:r>
            <a:r>
              <a:rPr lang="en-US" sz="1168" dirty="0">
                <a:solidFill>
                  <a:srgbClr val="E59F54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put </a:t>
            </a:r>
            <a:r>
              <a:rPr lang="en-US" sz="11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命令将本地文件上传到 HDFS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9184" y="4376615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4037" y="4551468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8814" y="4636245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13246" y="15896"/>
                </a:moveTo>
                <a:cubicBezTo>
                  <a:pt x="8842" y="15896"/>
                  <a:pt x="5299" y="19439"/>
                  <a:pt x="5299" y="23844"/>
                </a:cubicBezTo>
                <a:lnTo>
                  <a:pt x="5299" y="39739"/>
                </a:lnTo>
                <a:cubicBezTo>
                  <a:pt x="5299" y="44144"/>
                  <a:pt x="8842" y="47687"/>
                  <a:pt x="13246" y="47687"/>
                </a:cubicBezTo>
                <a:lnTo>
                  <a:pt x="29142" y="47687"/>
                </a:lnTo>
                <a:cubicBezTo>
                  <a:pt x="33547" y="47687"/>
                  <a:pt x="37090" y="44144"/>
                  <a:pt x="37090" y="39739"/>
                </a:cubicBezTo>
                <a:lnTo>
                  <a:pt x="37090" y="23844"/>
                </a:lnTo>
                <a:cubicBezTo>
                  <a:pt x="37090" y="19439"/>
                  <a:pt x="33547" y="15896"/>
                  <a:pt x="29142" y="15896"/>
                </a:cubicBezTo>
                <a:lnTo>
                  <a:pt x="13246" y="15896"/>
                </a:lnTo>
                <a:close/>
                <a:moveTo>
                  <a:pt x="63583" y="21194"/>
                </a:moveTo>
                <a:cubicBezTo>
                  <a:pt x="57721" y="21194"/>
                  <a:pt x="52986" y="25930"/>
                  <a:pt x="52986" y="31791"/>
                </a:cubicBezTo>
                <a:cubicBezTo>
                  <a:pt x="52986" y="37653"/>
                  <a:pt x="57721" y="42389"/>
                  <a:pt x="63583" y="42389"/>
                </a:cubicBezTo>
                <a:lnTo>
                  <a:pt x="158957" y="42389"/>
                </a:lnTo>
                <a:cubicBezTo>
                  <a:pt x="164819" y="42389"/>
                  <a:pt x="169554" y="37653"/>
                  <a:pt x="169554" y="31791"/>
                </a:cubicBezTo>
                <a:cubicBezTo>
                  <a:pt x="169554" y="25930"/>
                  <a:pt x="164819" y="21194"/>
                  <a:pt x="158957" y="21194"/>
                </a:cubicBezTo>
                <a:lnTo>
                  <a:pt x="63583" y="21194"/>
                </a:lnTo>
                <a:close/>
                <a:moveTo>
                  <a:pt x="63583" y="74180"/>
                </a:moveTo>
                <a:cubicBezTo>
                  <a:pt x="57721" y="74180"/>
                  <a:pt x="52986" y="78916"/>
                  <a:pt x="52986" y="84777"/>
                </a:cubicBezTo>
                <a:cubicBezTo>
                  <a:pt x="52986" y="90639"/>
                  <a:pt x="57721" y="95374"/>
                  <a:pt x="63583" y="95374"/>
                </a:cubicBezTo>
                <a:lnTo>
                  <a:pt x="158957" y="95374"/>
                </a:lnTo>
                <a:cubicBezTo>
                  <a:pt x="164819" y="95374"/>
                  <a:pt x="169554" y="90639"/>
                  <a:pt x="169554" y="84777"/>
                </a:cubicBezTo>
                <a:cubicBezTo>
                  <a:pt x="169554" y="78916"/>
                  <a:pt x="164819" y="74180"/>
                  <a:pt x="158957" y="74180"/>
                </a:cubicBezTo>
                <a:lnTo>
                  <a:pt x="63583" y="74180"/>
                </a:lnTo>
                <a:close/>
                <a:moveTo>
                  <a:pt x="63583" y="127166"/>
                </a:moveTo>
                <a:cubicBezTo>
                  <a:pt x="57721" y="127166"/>
                  <a:pt x="52986" y="131901"/>
                  <a:pt x="52986" y="137763"/>
                </a:cubicBezTo>
                <a:cubicBezTo>
                  <a:pt x="52986" y="143624"/>
                  <a:pt x="57721" y="148360"/>
                  <a:pt x="63583" y="148360"/>
                </a:cubicBezTo>
                <a:lnTo>
                  <a:pt x="158957" y="148360"/>
                </a:lnTo>
                <a:cubicBezTo>
                  <a:pt x="164819" y="148360"/>
                  <a:pt x="169554" y="143624"/>
                  <a:pt x="169554" y="137763"/>
                </a:cubicBezTo>
                <a:cubicBezTo>
                  <a:pt x="169554" y="131901"/>
                  <a:pt x="164819" y="127166"/>
                  <a:pt x="158957" y="127166"/>
                </a:cubicBezTo>
                <a:lnTo>
                  <a:pt x="63583" y="127166"/>
                </a:lnTo>
                <a:close/>
                <a:moveTo>
                  <a:pt x="5299" y="76829"/>
                </a:moveTo>
                <a:lnTo>
                  <a:pt x="5299" y="92725"/>
                </a:lnTo>
                <a:cubicBezTo>
                  <a:pt x="5299" y="97129"/>
                  <a:pt x="8842" y="100673"/>
                  <a:pt x="13246" y="100673"/>
                </a:cubicBezTo>
                <a:lnTo>
                  <a:pt x="29142" y="100673"/>
                </a:lnTo>
                <a:cubicBezTo>
                  <a:pt x="33547" y="100673"/>
                  <a:pt x="37090" y="97129"/>
                  <a:pt x="37090" y="92725"/>
                </a:cubicBezTo>
                <a:lnTo>
                  <a:pt x="37090" y="76829"/>
                </a:lnTo>
                <a:cubicBezTo>
                  <a:pt x="37090" y="72425"/>
                  <a:pt x="33547" y="68881"/>
                  <a:pt x="29142" y="68881"/>
                </a:cubicBezTo>
                <a:lnTo>
                  <a:pt x="13246" y="68881"/>
                </a:lnTo>
                <a:cubicBezTo>
                  <a:pt x="8842" y="68881"/>
                  <a:pt x="5299" y="72425"/>
                  <a:pt x="5299" y="76829"/>
                </a:cubicBezTo>
                <a:close/>
                <a:moveTo>
                  <a:pt x="13246" y="121867"/>
                </a:moveTo>
                <a:cubicBezTo>
                  <a:pt x="8842" y="121867"/>
                  <a:pt x="5299" y="125410"/>
                  <a:pt x="5299" y="129815"/>
                </a:cubicBezTo>
                <a:lnTo>
                  <a:pt x="5299" y="145711"/>
                </a:lnTo>
                <a:cubicBezTo>
                  <a:pt x="5299" y="150115"/>
                  <a:pt x="8842" y="153658"/>
                  <a:pt x="13246" y="153658"/>
                </a:cubicBezTo>
                <a:lnTo>
                  <a:pt x="29142" y="153658"/>
                </a:lnTo>
                <a:cubicBezTo>
                  <a:pt x="33547" y="153658"/>
                  <a:pt x="37090" y="150115"/>
                  <a:pt x="37090" y="145711"/>
                </a:cubicBezTo>
                <a:lnTo>
                  <a:pt x="37090" y="129815"/>
                </a:lnTo>
                <a:cubicBezTo>
                  <a:pt x="37090" y="125410"/>
                  <a:pt x="33547" y="121867"/>
                  <a:pt x="29142" y="121867"/>
                </a:cubicBezTo>
                <a:lnTo>
                  <a:pt x="13246" y="12186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70310" y="4593857"/>
            <a:ext cx="129285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查看文件列表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4037" y="4975353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8814" y="5060130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-ls /user/hadoop/practice/input/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4037" y="5399239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查看上传的文件列表和详细信息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22523" y="4376615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797376" y="4551468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871556" y="4636245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95374" y="10597"/>
                </a:moveTo>
                <a:cubicBezTo>
                  <a:pt x="68616" y="10597"/>
                  <a:pt x="47190" y="22784"/>
                  <a:pt x="31593" y="37289"/>
                </a:cubicBezTo>
                <a:cubicBezTo>
                  <a:pt x="16094" y="51694"/>
                  <a:pt x="5729" y="68881"/>
                  <a:pt x="795" y="80704"/>
                </a:cubicBezTo>
                <a:cubicBezTo>
                  <a:pt x="-298" y="83320"/>
                  <a:pt x="-298" y="86234"/>
                  <a:pt x="795" y="88850"/>
                </a:cubicBezTo>
                <a:cubicBezTo>
                  <a:pt x="5729" y="100673"/>
                  <a:pt x="16094" y="117893"/>
                  <a:pt x="31593" y="132265"/>
                </a:cubicBezTo>
                <a:cubicBezTo>
                  <a:pt x="47190" y="146737"/>
                  <a:pt x="68616" y="158957"/>
                  <a:pt x="95374" y="158957"/>
                </a:cubicBezTo>
                <a:cubicBezTo>
                  <a:pt x="122132" y="158957"/>
                  <a:pt x="143558" y="146770"/>
                  <a:pt x="159156" y="132265"/>
                </a:cubicBezTo>
                <a:cubicBezTo>
                  <a:pt x="174654" y="117860"/>
                  <a:pt x="185019" y="100673"/>
                  <a:pt x="189954" y="88850"/>
                </a:cubicBezTo>
                <a:cubicBezTo>
                  <a:pt x="191046" y="86234"/>
                  <a:pt x="191046" y="83320"/>
                  <a:pt x="189954" y="80704"/>
                </a:cubicBezTo>
                <a:cubicBezTo>
                  <a:pt x="185019" y="68881"/>
                  <a:pt x="174654" y="51661"/>
                  <a:pt x="159156" y="37289"/>
                </a:cubicBezTo>
                <a:cubicBezTo>
                  <a:pt x="143558" y="22817"/>
                  <a:pt x="122132" y="10597"/>
                  <a:pt x="95374" y="10597"/>
                </a:cubicBezTo>
                <a:close/>
                <a:moveTo>
                  <a:pt x="47687" y="84777"/>
                </a:moveTo>
                <a:cubicBezTo>
                  <a:pt x="47687" y="58458"/>
                  <a:pt x="69055" y="37090"/>
                  <a:pt x="95374" y="37090"/>
                </a:cubicBezTo>
                <a:cubicBezTo>
                  <a:pt x="121693" y="37090"/>
                  <a:pt x="143061" y="58458"/>
                  <a:pt x="143061" y="84777"/>
                </a:cubicBezTo>
                <a:cubicBezTo>
                  <a:pt x="143061" y="111096"/>
                  <a:pt x="121693" y="132464"/>
                  <a:pt x="95374" y="132464"/>
                </a:cubicBezTo>
                <a:cubicBezTo>
                  <a:pt x="69055" y="132464"/>
                  <a:pt x="47687" y="111096"/>
                  <a:pt x="47687" y="84777"/>
                </a:cubicBezTo>
                <a:close/>
                <a:moveTo>
                  <a:pt x="95374" y="63583"/>
                </a:moveTo>
                <a:cubicBezTo>
                  <a:pt x="95374" y="75273"/>
                  <a:pt x="85870" y="84777"/>
                  <a:pt x="74180" y="84777"/>
                </a:cubicBezTo>
                <a:cubicBezTo>
                  <a:pt x="70372" y="84777"/>
                  <a:pt x="66795" y="83784"/>
                  <a:pt x="63682" y="81995"/>
                </a:cubicBezTo>
                <a:cubicBezTo>
                  <a:pt x="63351" y="85605"/>
                  <a:pt x="63649" y="89314"/>
                  <a:pt x="64643" y="92990"/>
                </a:cubicBezTo>
                <a:cubicBezTo>
                  <a:pt x="69179" y="109945"/>
                  <a:pt x="86632" y="120013"/>
                  <a:pt x="103587" y="115476"/>
                </a:cubicBezTo>
                <a:cubicBezTo>
                  <a:pt x="120542" y="110939"/>
                  <a:pt x="130610" y="93487"/>
                  <a:pt x="126073" y="76531"/>
                </a:cubicBezTo>
                <a:cubicBezTo>
                  <a:pt x="122033" y="61397"/>
                  <a:pt x="107693" y="51760"/>
                  <a:pt x="92592" y="53085"/>
                </a:cubicBezTo>
                <a:cubicBezTo>
                  <a:pt x="94348" y="56165"/>
                  <a:pt x="95374" y="59741"/>
                  <a:pt x="95374" y="6358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63650" y="4593857"/>
            <a:ext cx="129285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查看文件内容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97376" y="4975353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882153" y="5060130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-cat /user/hadoop/practice/input/test.txt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97376" y="5399239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 HDFS 中文件的实际内容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15863" y="4376615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990716" y="4551468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086090" y="4636245"/>
            <a:ext cx="148360" cy="169554"/>
          </a:xfrm>
          <a:custGeom>
            <a:avLst/>
            <a:gdLst/>
            <a:ahLst/>
            <a:cxnLst/>
            <a:rect l="l" t="t" r="r" b="b"/>
            <a:pathLst>
              <a:path w="148360" h="169554">
                <a:moveTo>
                  <a:pt x="63583" y="0"/>
                </a:moveTo>
                <a:cubicBezTo>
                  <a:pt x="51893" y="0"/>
                  <a:pt x="42389" y="9504"/>
                  <a:pt x="42389" y="21194"/>
                </a:cubicBezTo>
                <a:lnTo>
                  <a:pt x="42389" y="105971"/>
                </a:lnTo>
                <a:cubicBezTo>
                  <a:pt x="42389" y="117661"/>
                  <a:pt x="51893" y="127166"/>
                  <a:pt x="63583" y="127166"/>
                </a:cubicBezTo>
                <a:lnTo>
                  <a:pt x="127166" y="127166"/>
                </a:lnTo>
                <a:cubicBezTo>
                  <a:pt x="138856" y="127166"/>
                  <a:pt x="148360" y="117661"/>
                  <a:pt x="148360" y="105971"/>
                </a:cubicBezTo>
                <a:lnTo>
                  <a:pt x="148360" y="39541"/>
                </a:lnTo>
                <a:cubicBezTo>
                  <a:pt x="148360" y="33778"/>
                  <a:pt x="146009" y="28248"/>
                  <a:pt x="141836" y="24241"/>
                </a:cubicBezTo>
                <a:lnTo>
                  <a:pt x="122728" y="5895"/>
                </a:lnTo>
                <a:cubicBezTo>
                  <a:pt x="118787" y="2119"/>
                  <a:pt x="113522" y="0"/>
                  <a:pt x="108058" y="0"/>
                </a:cubicBezTo>
                <a:lnTo>
                  <a:pt x="63583" y="0"/>
                </a:lnTo>
                <a:close/>
                <a:moveTo>
                  <a:pt x="21194" y="42389"/>
                </a:moveTo>
                <a:cubicBezTo>
                  <a:pt x="9504" y="42389"/>
                  <a:pt x="0" y="51893"/>
                  <a:pt x="0" y="63583"/>
                </a:cubicBezTo>
                <a:lnTo>
                  <a:pt x="0" y="148360"/>
                </a:lnTo>
                <a:cubicBezTo>
                  <a:pt x="0" y="160050"/>
                  <a:pt x="9504" y="169554"/>
                  <a:pt x="21194" y="169554"/>
                </a:cubicBezTo>
                <a:lnTo>
                  <a:pt x="84777" y="169554"/>
                </a:lnTo>
                <a:cubicBezTo>
                  <a:pt x="96467" y="169554"/>
                  <a:pt x="105971" y="160050"/>
                  <a:pt x="105971" y="148360"/>
                </a:cubicBezTo>
                <a:lnTo>
                  <a:pt x="105971" y="143061"/>
                </a:lnTo>
                <a:lnTo>
                  <a:pt x="84777" y="143061"/>
                </a:lnTo>
                <a:lnTo>
                  <a:pt x="84777" y="148360"/>
                </a:lnTo>
                <a:lnTo>
                  <a:pt x="21194" y="148360"/>
                </a:lnTo>
                <a:lnTo>
                  <a:pt x="21194" y="63583"/>
                </a:lnTo>
                <a:lnTo>
                  <a:pt x="26493" y="63583"/>
                </a:lnTo>
                <a:lnTo>
                  <a:pt x="26493" y="42389"/>
                </a:lnTo>
                <a:lnTo>
                  <a:pt x="21194" y="4238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456990" y="4593857"/>
            <a:ext cx="953742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复制文件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990716" y="4975353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075493" y="5060130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-cp input/test.txt backup/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90716" y="5399239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HDFS 内部复制文件到备份目录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9184" y="5923797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04037" y="6098649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88814" y="6183426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0"/>
                </a:moveTo>
                <a:cubicBezTo>
                  <a:pt x="86300" y="0"/>
                  <a:pt x="87824" y="331"/>
                  <a:pt x="89215" y="960"/>
                </a:cubicBezTo>
                <a:lnTo>
                  <a:pt x="151605" y="27420"/>
                </a:lnTo>
                <a:cubicBezTo>
                  <a:pt x="158891" y="30500"/>
                  <a:pt x="164322" y="37686"/>
                  <a:pt x="164289" y="46362"/>
                </a:cubicBezTo>
                <a:cubicBezTo>
                  <a:pt x="164123" y="79214"/>
                  <a:pt x="150612" y="139319"/>
                  <a:pt x="93553" y="166640"/>
                </a:cubicBezTo>
                <a:cubicBezTo>
                  <a:pt x="88022" y="169289"/>
                  <a:pt x="81598" y="169289"/>
                  <a:pt x="76068" y="166640"/>
                </a:cubicBezTo>
                <a:cubicBezTo>
                  <a:pt x="18975" y="139319"/>
                  <a:pt x="5497" y="79214"/>
                  <a:pt x="5332" y="46362"/>
                </a:cubicBezTo>
                <a:cubicBezTo>
                  <a:pt x="5299" y="37686"/>
                  <a:pt x="10730" y="30500"/>
                  <a:pt x="18015" y="27420"/>
                </a:cubicBezTo>
                <a:lnTo>
                  <a:pt x="80373" y="960"/>
                </a:lnTo>
                <a:cubicBezTo>
                  <a:pt x="81763" y="331"/>
                  <a:pt x="83254" y="0"/>
                  <a:pt x="84777" y="0"/>
                </a:cubicBezTo>
                <a:close/>
                <a:moveTo>
                  <a:pt x="84777" y="22122"/>
                </a:moveTo>
                <a:lnTo>
                  <a:pt x="84777" y="147333"/>
                </a:lnTo>
                <a:cubicBezTo>
                  <a:pt x="130477" y="125212"/>
                  <a:pt x="142763" y="76200"/>
                  <a:pt x="143061" y="46859"/>
                </a:cubicBezTo>
                <a:lnTo>
                  <a:pt x="84777" y="22155"/>
                </a:lnTo>
                <a:lnTo>
                  <a:pt x="84777" y="22155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70310" y="6141038"/>
            <a:ext cx="129285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修改文件权限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04037" y="6522535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88814" y="6607312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-chmod 644 input/test.txt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4037" y="6946420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设置文件权限为所有者可读写，其他人只读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22523" y="5923797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797376" y="6098649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882153" y="6183426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74180" y="52986"/>
                </a:moveTo>
                <a:cubicBezTo>
                  <a:pt x="74180" y="47137"/>
                  <a:pt x="78928" y="42389"/>
                  <a:pt x="84777" y="42389"/>
                </a:cubicBezTo>
                <a:cubicBezTo>
                  <a:pt x="90626" y="42389"/>
                  <a:pt x="95374" y="47137"/>
                  <a:pt x="95374" y="52986"/>
                </a:cubicBezTo>
                <a:cubicBezTo>
                  <a:pt x="95374" y="58834"/>
                  <a:pt x="90626" y="63583"/>
                  <a:pt x="84777" y="63583"/>
                </a:cubicBezTo>
                <a:cubicBezTo>
                  <a:pt x="78928" y="63583"/>
                  <a:pt x="74180" y="58834"/>
                  <a:pt x="74180" y="52986"/>
                </a:cubicBezTo>
                <a:close/>
                <a:moveTo>
                  <a:pt x="71531" y="74180"/>
                </a:moveTo>
                <a:lnTo>
                  <a:pt x="87426" y="74180"/>
                </a:lnTo>
                <a:cubicBezTo>
                  <a:pt x="91831" y="74180"/>
                  <a:pt x="95374" y="77723"/>
                  <a:pt x="95374" y="82128"/>
                </a:cubicBezTo>
                <a:lnTo>
                  <a:pt x="95374" y="111270"/>
                </a:lnTo>
                <a:lnTo>
                  <a:pt x="98023" y="111270"/>
                </a:lnTo>
                <a:cubicBezTo>
                  <a:pt x="102428" y="111270"/>
                  <a:pt x="105971" y="114813"/>
                  <a:pt x="105971" y="119218"/>
                </a:cubicBezTo>
                <a:cubicBezTo>
                  <a:pt x="105971" y="123622"/>
                  <a:pt x="102428" y="127166"/>
                  <a:pt x="98023" y="127166"/>
                </a:cubicBezTo>
                <a:lnTo>
                  <a:pt x="71531" y="127166"/>
                </a:lnTo>
                <a:cubicBezTo>
                  <a:pt x="67126" y="127166"/>
                  <a:pt x="63583" y="123622"/>
                  <a:pt x="63583" y="119218"/>
                </a:cubicBezTo>
                <a:cubicBezTo>
                  <a:pt x="63583" y="114813"/>
                  <a:pt x="67126" y="111270"/>
                  <a:pt x="71531" y="111270"/>
                </a:cubicBezTo>
                <a:lnTo>
                  <a:pt x="79478" y="111270"/>
                </a:lnTo>
                <a:lnTo>
                  <a:pt x="79478" y="90076"/>
                </a:lnTo>
                <a:lnTo>
                  <a:pt x="71531" y="90076"/>
                </a:lnTo>
                <a:cubicBezTo>
                  <a:pt x="67126" y="90076"/>
                  <a:pt x="63583" y="86532"/>
                  <a:pt x="63583" y="82128"/>
                </a:cubicBezTo>
                <a:cubicBezTo>
                  <a:pt x="63583" y="77723"/>
                  <a:pt x="67126" y="74180"/>
                  <a:pt x="71531" y="7418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263650" y="6141038"/>
            <a:ext cx="128225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查看文件信息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797376" y="6522535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882153" y="6607312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-stat "%n %o %r %u %g %b %y" input/test.txt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7376" y="6946420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显示文件名、块大小、副本数等详细信息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815863" y="5923797"/>
            <a:ext cx="5012443" cy="1367030"/>
          </a:xfrm>
          <a:custGeom>
            <a:avLst/>
            <a:gdLst/>
            <a:ahLst/>
            <a:cxnLst/>
            <a:rect l="l" t="t" r="r" b="b"/>
            <a:pathLst>
              <a:path w="5012443" h="1367030">
                <a:moveTo>
                  <a:pt x="84783" y="0"/>
                </a:moveTo>
                <a:lnTo>
                  <a:pt x="4927660" y="0"/>
                </a:lnTo>
                <a:cubicBezTo>
                  <a:pt x="4974485" y="0"/>
                  <a:pt x="5012443" y="37959"/>
                  <a:pt x="5012443" y="84783"/>
                </a:cubicBezTo>
                <a:lnTo>
                  <a:pt x="5012443" y="1282247"/>
                </a:lnTo>
                <a:cubicBezTo>
                  <a:pt x="5012443" y="1329071"/>
                  <a:pt x="4974485" y="1367030"/>
                  <a:pt x="4927660" y="1367030"/>
                </a:cubicBezTo>
                <a:lnTo>
                  <a:pt x="84783" y="1367030"/>
                </a:lnTo>
                <a:cubicBezTo>
                  <a:pt x="37959" y="1367030"/>
                  <a:pt x="0" y="1329071"/>
                  <a:pt x="0" y="1282247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990716" y="6098649"/>
            <a:ext cx="339108" cy="339108"/>
          </a:xfrm>
          <a:custGeom>
            <a:avLst/>
            <a:gdLst/>
            <a:ahLst/>
            <a:cxnLst/>
            <a:rect l="l" t="t" r="r" b="b"/>
            <a:pathLst>
              <a:path w="339108" h="339108">
                <a:moveTo>
                  <a:pt x="84777" y="0"/>
                </a:moveTo>
                <a:lnTo>
                  <a:pt x="254331" y="0"/>
                </a:lnTo>
                <a:cubicBezTo>
                  <a:pt x="301121" y="0"/>
                  <a:pt x="339108" y="37987"/>
                  <a:pt x="339108" y="84777"/>
                </a:cubicBezTo>
                <a:lnTo>
                  <a:pt x="339108" y="254331"/>
                </a:lnTo>
                <a:cubicBezTo>
                  <a:pt x="339108" y="301121"/>
                  <a:pt x="301121" y="339108"/>
                  <a:pt x="25433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1096687" y="6183426"/>
            <a:ext cx="127166" cy="169554"/>
          </a:xfrm>
          <a:custGeom>
            <a:avLst/>
            <a:gdLst/>
            <a:ahLst/>
            <a:cxnLst/>
            <a:rect l="l" t="t" r="r" b="b"/>
            <a:pathLst>
              <a:path w="127166" h="169554">
                <a:moveTo>
                  <a:pt x="0" y="21194"/>
                </a:moveTo>
                <a:cubicBezTo>
                  <a:pt x="0" y="9504"/>
                  <a:pt x="9504" y="0"/>
                  <a:pt x="21194" y="0"/>
                </a:cubicBezTo>
                <a:lnTo>
                  <a:pt x="70703" y="0"/>
                </a:lnTo>
                <a:cubicBezTo>
                  <a:pt x="76332" y="0"/>
                  <a:pt x="81730" y="2219"/>
                  <a:pt x="85704" y="6193"/>
                </a:cubicBezTo>
                <a:lnTo>
                  <a:pt x="120973" y="41494"/>
                </a:lnTo>
                <a:cubicBezTo>
                  <a:pt x="124947" y="45468"/>
                  <a:pt x="127166" y="50866"/>
                  <a:pt x="127166" y="56496"/>
                </a:cubicBezTo>
                <a:lnTo>
                  <a:pt x="127166" y="148360"/>
                </a:lnTo>
                <a:cubicBezTo>
                  <a:pt x="127166" y="160050"/>
                  <a:pt x="117661" y="169554"/>
                  <a:pt x="105971" y="169554"/>
                </a:cubicBezTo>
                <a:lnTo>
                  <a:pt x="21194" y="169554"/>
                </a:lnTo>
                <a:cubicBezTo>
                  <a:pt x="9504" y="169554"/>
                  <a:pt x="0" y="160050"/>
                  <a:pt x="0" y="148360"/>
                </a:cubicBezTo>
                <a:lnTo>
                  <a:pt x="0" y="21194"/>
                </a:lnTo>
                <a:close/>
                <a:moveTo>
                  <a:pt x="68881" y="19373"/>
                </a:moveTo>
                <a:lnTo>
                  <a:pt x="68881" y="50336"/>
                </a:lnTo>
                <a:cubicBezTo>
                  <a:pt x="68881" y="54741"/>
                  <a:pt x="72425" y="58284"/>
                  <a:pt x="76829" y="58284"/>
                </a:cubicBezTo>
                <a:lnTo>
                  <a:pt x="107793" y="58284"/>
                </a:lnTo>
                <a:lnTo>
                  <a:pt x="68881" y="19373"/>
                </a:lnTo>
                <a:close/>
                <a:moveTo>
                  <a:pt x="57953" y="146042"/>
                </a:moveTo>
                <a:cubicBezTo>
                  <a:pt x="61066" y="149155"/>
                  <a:pt x="66100" y="149155"/>
                  <a:pt x="69179" y="146042"/>
                </a:cubicBezTo>
                <a:lnTo>
                  <a:pt x="90374" y="124847"/>
                </a:lnTo>
                <a:cubicBezTo>
                  <a:pt x="93487" y="121735"/>
                  <a:pt x="93487" y="116701"/>
                  <a:pt x="90374" y="113621"/>
                </a:cubicBezTo>
                <a:cubicBezTo>
                  <a:pt x="87261" y="110541"/>
                  <a:pt x="82227" y="110508"/>
                  <a:pt x="79147" y="113621"/>
                </a:cubicBezTo>
                <a:lnTo>
                  <a:pt x="71531" y="121238"/>
                </a:lnTo>
                <a:lnTo>
                  <a:pt x="71531" y="92725"/>
                </a:lnTo>
                <a:cubicBezTo>
                  <a:pt x="71531" y="88320"/>
                  <a:pt x="67987" y="84777"/>
                  <a:pt x="63583" y="84777"/>
                </a:cubicBezTo>
                <a:cubicBezTo>
                  <a:pt x="59178" y="84777"/>
                  <a:pt x="55635" y="88320"/>
                  <a:pt x="55635" y="92725"/>
                </a:cubicBezTo>
                <a:lnTo>
                  <a:pt x="55635" y="121238"/>
                </a:lnTo>
                <a:lnTo>
                  <a:pt x="48018" y="113621"/>
                </a:lnTo>
                <a:cubicBezTo>
                  <a:pt x="44905" y="110508"/>
                  <a:pt x="39872" y="110508"/>
                  <a:pt x="36792" y="113621"/>
                </a:cubicBezTo>
                <a:cubicBezTo>
                  <a:pt x="33712" y="116734"/>
                  <a:pt x="33679" y="121768"/>
                  <a:pt x="36792" y="124847"/>
                </a:cubicBezTo>
                <a:lnTo>
                  <a:pt x="57986" y="146042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456990" y="6141038"/>
            <a:ext cx="129285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下载文件验证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990716" y="6522535"/>
            <a:ext cx="4662738" cy="339108"/>
          </a:xfrm>
          <a:custGeom>
            <a:avLst/>
            <a:gdLst/>
            <a:ahLst/>
            <a:cxnLst/>
            <a:rect l="l" t="t" r="r" b="b"/>
            <a:pathLst>
              <a:path w="4662738" h="339108">
                <a:moveTo>
                  <a:pt x="84777" y="0"/>
                </a:moveTo>
                <a:lnTo>
                  <a:pt x="4577961" y="0"/>
                </a:lnTo>
                <a:cubicBezTo>
                  <a:pt x="4624782" y="0"/>
                  <a:pt x="4662738" y="37956"/>
                  <a:pt x="4662738" y="84777"/>
                </a:cubicBezTo>
                <a:lnTo>
                  <a:pt x="4662738" y="254331"/>
                </a:lnTo>
                <a:cubicBezTo>
                  <a:pt x="4662738" y="301152"/>
                  <a:pt x="4624782" y="339108"/>
                  <a:pt x="4577961" y="339108"/>
                </a:cubicBezTo>
                <a:lnTo>
                  <a:pt x="84777" y="339108"/>
                </a:lnTo>
                <a:cubicBezTo>
                  <a:pt x="37987" y="339108"/>
                  <a:pt x="0" y="301121"/>
                  <a:pt x="0" y="254331"/>
                </a:cubicBezTo>
                <a:lnTo>
                  <a:pt x="0" y="84777"/>
                </a:lnTo>
                <a:cubicBezTo>
                  <a:pt x="0" y="37987"/>
                  <a:pt x="37987" y="0"/>
                  <a:pt x="8477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075493" y="6607312"/>
            <a:ext cx="4556767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 -get input/test.txt /tmp/downloaded.txt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990716" y="6946420"/>
            <a:ext cx="4726321" cy="16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HDFS 文件下载到本地进行验证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9184" y="7470978"/>
            <a:ext cx="15397632" cy="900756"/>
          </a:xfrm>
          <a:custGeom>
            <a:avLst/>
            <a:gdLst/>
            <a:ahLst/>
            <a:cxnLst/>
            <a:rect l="l" t="t" r="r" b="b"/>
            <a:pathLst>
              <a:path w="15397632" h="900756">
                <a:moveTo>
                  <a:pt x="84779" y="0"/>
                </a:moveTo>
                <a:lnTo>
                  <a:pt x="15312853" y="0"/>
                </a:lnTo>
                <a:cubicBezTo>
                  <a:pt x="15359675" y="0"/>
                  <a:pt x="15397632" y="37957"/>
                  <a:pt x="15397632" y="84779"/>
                </a:cubicBezTo>
                <a:lnTo>
                  <a:pt x="15397632" y="815977"/>
                </a:lnTo>
                <a:cubicBezTo>
                  <a:pt x="15397632" y="862799"/>
                  <a:pt x="15359675" y="900756"/>
                  <a:pt x="15312853" y="900756"/>
                </a:cubicBezTo>
                <a:lnTo>
                  <a:pt x="84779" y="900756"/>
                </a:lnTo>
                <a:cubicBezTo>
                  <a:pt x="37957" y="900756"/>
                  <a:pt x="0" y="862799"/>
                  <a:pt x="0" y="815977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35828" y="7688219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127166" y="254331"/>
                </a:moveTo>
                <a:cubicBezTo>
                  <a:pt x="197350" y="254331"/>
                  <a:pt x="254331" y="197350"/>
                  <a:pt x="254331" y="127166"/>
                </a:cubicBezTo>
                <a:cubicBezTo>
                  <a:pt x="254331" y="56981"/>
                  <a:pt x="197350" y="0"/>
                  <a:pt x="127166" y="0"/>
                </a:cubicBezTo>
                <a:cubicBezTo>
                  <a:pt x="56981" y="0"/>
                  <a:pt x="0" y="56981"/>
                  <a:pt x="0" y="127166"/>
                </a:cubicBezTo>
                <a:cubicBezTo>
                  <a:pt x="0" y="197350"/>
                  <a:pt x="56981" y="254331"/>
                  <a:pt x="127166" y="254331"/>
                </a:cubicBezTo>
                <a:close/>
                <a:moveTo>
                  <a:pt x="111270" y="79478"/>
                </a:moveTo>
                <a:cubicBezTo>
                  <a:pt x="111270" y="70705"/>
                  <a:pt x="118393" y="63583"/>
                  <a:pt x="127166" y="63583"/>
                </a:cubicBezTo>
                <a:cubicBezTo>
                  <a:pt x="135939" y="63583"/>
                  <a:pt x="143061" y="70705"/>
                  <a:pt x="143061" y="79478"/>
                </a:cubicBezTo>
                <a:cubicBezTo>
                  <a:pt x="143061" y="88252"/>
                  <a:pt x="135939" y="95374"/>
                  <a:pt x="127166" y="95374"/>
                </a:cubicBezTo>
                <a:cubicBezTo>
                  <a:pt x="118393" y="95374"/>
                  <a:pt x="111270" y="88252"/>
                  <a:pt x="111270" y="79478"/>
                </a:cubicBezTo>
                <a:close/>
                <a:moveTo>
                  <a:pt x="107296" y="111270"/>
                </a:moveTo>
                <a:lnTo>
                  <a:pt x="131140" y="111270"/>
                </a:lnTo>
                <a:cubicBezTo>
                  <a:pt x="137746" y="111270"/>
                  <a:pt x="143061" y="116585"/>
                  <a:pt x="143061" y="123192"/>
                </a:cubicBezTo>
                <a:lnTo>
                  <a:pt x="143061" y="166905"/>
                </a:lnTo>
                <a:lnTo>
                  <a:pt x="147035" y="166905"/>
                </a:lnTo>
                <a:cubicBezTo>
                  <a:pt x="153642" y="166905"/>
                  <a:pt x="158957" y="172220"/>
                  <a:pt x="158957" y="178827"/>
                </a:cubicBezTo>
                <a:cubicBezTo>
                  <a:pt x="158957" y="185433"/>
                  <a:pt x="153642" y="190748"/>
                  <a:pt x="147035" y="190748"/>
                </a:cubicBezTo>
                <a:lnTo>
                  <a:pt x="107296" y="190748"/>
                </a:lnTo>
                <a:cubicBezTo>
                  <a:pt x="100689" y="190748"/>
                  <a:pt x="95374" y="185433"/>
                  <a:pt x="95374" y="178827"/>
                </a:cubicBezTo>
                <a:cubicBezTo>
                  <a:pt x="95374" y="172220"/>
                  <a:pt x="100689" y="166905"/>
                  <a:pt x="107296" y="166905"/>
                </a:cubicBezTo>
                <a:lnTo>
                  <a:pt x="119218" y="166905"/>
                </a:lnTo>
                <a:lnTo>
                  <a:pt x="119218" y="135113"/>
                </a:lnTo>
                <a:lnTo>
                  <a:pt x="107296" y="135113"/>
                </a:lnTo>
                <a:cubicBezTo>
                  <a:pt x="100689" y="135113"/>
                  <a:pt x="95374" y="129798"/>
                  <a:pt x="95374" y="123192"/>
                </a:cubicBezTo>
                <a:cubicBezTo>
                  <a:pt x="95374" y="116585"/>
                  <a:pt x="100689" y="111270"/>
                  <a:pt x="107296" y="11127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91505" y="7645831"/>
            <a:ext cx="14645236" cy="55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实战要点：</a:t>
            </a:r>
            <a:r>
              <a:rPr lang="en-US" sz="13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HDFS 命令行操作的关键在于理解其与 Linux 命令的相似性和差异性。通过实际操作练习，熟悉文件上传下载、权限管理、目录操作等常用命令，为后续的 Java API 编程和运维管理打下基础。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257" y="469257"/>
            <a:ext cx="2178281" cy="382358"/>
          </a:xfrm>
          <a:custGeom>
            <a:avLst/>
            <a:gdLst/>
            <a:ahLst/>
            <a:cxnLst/>
            <a:rect l="l" t="t" r="r" b="b"/>
            <a:pathLst>
              <a:path w="2178281" h="382358">
                <a:moveTo>
                  <a:pt x="191179" y="0"/>
                </a:moveTo>
                <a:lnTo>
                  <a:pt x="1987102" y="0"/>
                </a:lnTo>
                <a:cubicBezTo>
                  <a:pt x="2092687" y="0"/>
                  <a:pt x="2178281" y="85594"/>
                  <a:pt x="2178281" y="191179"/>
                </a:cubicBezTo>
                <a:lnTo>
                  <a:pt x="2178281" y="191179"/>
                </a:lnTo>
                <a:cubicBezTo>
                  <a:pt x="2178281" y="296764"/>
                  <a:pt x="2092687" y="382358"/>
                  <a:pt x="1987102" y="382358"/>
                </a:cubicBezTo>
                <a:lnTo>
                  <a:pt x="191179" y="382358"/>
                </a:lnTo>
                <a:cubicBezTo>
                  <a:pt x="85594" y="382358"/>
                  <a:pt x="0" y="296764"/>
                  <a:pt x="0" y="191179"/>
                </a:cubicBezTo>
                <a:lnTo>
                  <a:pt x="0" y="191179"/>
                </a:lnTo>
                <a:cubicBezTo>
                  <a:pt x="0" y="85594"/>
                  <a:pt x="85594" y="0"/>
                  <a:pt x="19117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0436" y="538777"/>
            <a:ext cx="1892418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kern="0" spc="146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3464" y="996448"/>
            <a:ext cx="15607150" cy="556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79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运维管理命令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3464" y="1691644"/>
            <a:ext cx="15444938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集群监控与管理的核心命令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9257" y="2207247"/>
            <a:ext cx="7531290" cy="3441220"/>
          </a:xfrm>
          <a:custGeom>
            <a:avLst/>
            <a:gdLst/>
            <a:ahLst/>
            <a:cxnLst/>
            <a:rect l="l" t="t" r="r" b="b"/>
            <a:pathLst>
              <a:path w="7531290" h="3441220">
                <a:moveTo>
                  <a:pt x="92706" y="0"/>
                </a:moveTo>
                <a:lnTo>
                  <a:pt x="7438584" y="0"/>
                </a:lnTo>
                <a:cubicBezTo>
                  <a:pt x="7489784" y="0"/>
                  <a:pt x="7531290" y="41506"/>
                  <a:pt x="7531290" y="92706"/>
                </a:cubicBezTo>
                <a:lnTo>
                  <a:pt x="7531290" y="3348514"/>
                </a:lnTo>
                <a:cubicBezTo>
                  <a:pt x="7531290" y="3399714"/>
                  <a:pt x="7489784" y="3441220"/>
                  <a:pt x="7438584" y="3441220"/>
                </a:cubicBezTo>
                <a:lnTo>
                  <a:pt x="92706" y="3441220"/>
                </a:lnTo>
                <a:cubicBezTo>
                  <a:pt x="41506" y="3441220"/>
                  <a:pt x="0" y="3399714"/>
                  <a:pt x="0" y="3348514"/>
                </a:cubicBezTo>
                <a:lnTo>
                  <a:pt x="0" y="92706"/>
                </a:lnTo>
                <a:cubicBezTo>
                  <a:pt x="0" y="41540"/>
                  <a:pt x="41540" y="0"/>
                  <a:pt x="9270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5749" y="2491119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28967" y="28967"/>
                </a:moveTo>
                <a:cubicBezTo>
                  <a:pt x="28967" y="20955"/>
                  <a:pt x="22494" y="14483"/>
                  <a:pt x="14483" y="14483"/>
                </a:cubicBezTo>
                <a:cubicBezTo>
                  <a:pt x="6472" y="14483"/>
                  <a:pt x="0" y="20955"/>
                  <a:pt x="0" y="28967"/>
                </a:cubicBezTo>
                <a:lnTo>
                  <a:pt x="0" y="181041"/>
                </a:lnTo>
                <a:cubicBezTo>
                  <a:pt x="0" y="201046"/>
                  <a:pt x="16203" y="217249"/>
                  <a:pt x="36208" y="217249"/>
                </a:cubicBezTo>
                <a:lnTo>
                  <a:pt x="217249" y="217249"/>
                </a:lnTo>
                <a:cubicBezTo>
                  <a:pt x="225260" y="217249"/>
                  <a:pt x="231732" y="210777"/>
                  <a:pt x="231732" y="202766"/>
                </a:cubicBezTo>
                <a:cubicBezTo>
                  <a:pt x="231732" y="194754"/>
                  <a:pt x="225260" y="188282"/>
                  <a:pt x="217249" y="188282"/>
                </a:cubicBezTo>
                <a:lnTo>
                  <a:pt x="36208" y="188282"/>
                </a:lnTo>
                <a:cubicBezTo>
                  <a:pt x="32225" y="188282"/>
                  <a:pt x="28967" y="185024"/>
                  <a:pt x="28967" y="181041"/>
                </a:cubicBezTo>
                <a:lnTo>
                  <a:pt x="28967" y="28967"/>
                </a:lnTo>
                <a:close/>
                <a:moveTo>
                  <a:pt x="212994" y="68162"/>
                </a:moveTo>
                <a:cubicBezTo>
                  <a:pt x="218652" y="62504"/>
                  <a:pt x="218652" y="53316"/>
                  <a:pt x="212994" y="47659"/>
                </a:cubicBezTo>
                <a:cubicBezTo>
                  <a:pt x="207337" y="42001"/>
                  <a:pt x="198149" y="42001"/>
                  <a:pt x="192491" y="47659"/>
                </a:cubicBezTo>
                <a:lnTo>
                  <a:pt x="144833" y="95363"/>
                </a:lnTo>
                <a:lnTo>
                  <a:pt x="118853" y="69429"/>
                </a:lnTo>
                <a:cubicBezTo>
                  <a:pt x="113196" y="63772"/>
                  <a:pt x="104008" y="63772"/>
                  <a:pt x="98350" y="69429"/>
                </a:cubicBezTo>
                <a:lnTo>
                  <a:pt x="54901" y="112879"/>
                </a:lnTo>
                <a:cubicBezTo>
                  <a:pt x="49243" y="118536"/>
                  <a:pt x="49243" y="127724"/>
                  <a:pt x="54901" y="133382"/>
                </a:cubicBezTo>
                <a:cubicBezTo>
                  <a:pt x="60558" y="139039"/>
                  <a:pt x="69746" y="139039"/>
                  <a:pt x="75403" y="133382"/>
                </a:cubicBezTo>
                <a:lnTo>
                  <a:pt x="108624" y="100161"/>
                </a:lnTo>
                <a:lnTo>
                  <a:pt x="134604" y="126140"/>
                </a:lnTo>
                <a:cubicBezTo>
                  <a:pt x="140261" y="131798"/>
                  <a:pt x="149449" y="131798"/>
                  <a:pt x="155107" y="126140"/>
                </a:cubicBezTo>
                <a:lnTo>
                  <a:pt x="213040" y="6820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96448" y="2444773"/>
            <a:ext cx="6882440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集群监控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6783" y="2908237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5822" y="3047276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-report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22" y="3279008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查看详细的集群状态报告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6783" y="3788818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5822" y="3927857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-report -live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2" y="4159589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 Live DataNode 的实时状态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6783" y="4669400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5822" y="4808439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-printTopology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2" y="5040171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查看集群拓扑结构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47668" y="2207247"/>
            <a:ext cx="7531290" cy="3441220"/>
          </a:xfrm>
          <a:custGeom>
            <a:avLst/>
            <a:gdLst/>
            <a:ahLst/>
            <a:cxnLst/>
            <a:rect l="l" t="t" r="r" b="b"/>
            <a:pathLst>
              <a:path w="7531290" h="3441220">
                <a:moveTo>
                  <a:pt x="92706" y="0"/>
                </a:moveTo>
                <a:lnTo>
                  <a:pt x="7438584" y="0"/>
                </a:lnTo>
                <a:cubicBezTo>
                  <a:pt x="7489784" y="0"/>
                  <a:pt x="7531290" y="41506"/>
                  <a:pt x="7531290" y="92706"/>
                </a:cubicBezTo>
                <a:lnTo>
                  <a:pt x="7531290" y="3348514"/>
                </a:lnTo>
                <a:cubicBezTo>
                  <a:pt x="7531290" y="3399714"/>
                  <a:pt x="7489784" y="3441220"/>
                  <a:pt x="7438584" y="3441220"/>
                </a:cubicBezTo>
                <a:lnTo>
                  <a:pt x="92706" y="3441220"/>
                </a:lnTo>
                <a:cubicBezTo>
                  <a:pt x="41506" y="3441220"/>
                  <a:pt x="0" y="3399714"/>
                  <a:pt x="0" y="3348514"/>
                </a:cubicBezTo>
                <a:lnTo>
                  <a:pt x="0" y="92706"/>
                </a:lnTo>
                <a:cubicBezTo>
                  <a:pt x="0" y="41540"/>
                  <a:pt x="41540" y="0"/>
                  <a:pt x="9270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499676" y="2491119"/>
            <a:ext cx="260699" cy="231732"/>
          </a:xfrm>
          <a:custGeom>
            <a:avLst/>
            <a:gdLst/>
            <a:ahLst/>
            <a:cxnLst/>
            <a:rect l="l" t="t" r="r" b="b"/>
            <a:pathLst>
              <a:path w="260699" h="231732">
                <a:moveTo>
                  <a:pt x="14483" y="21725"/>
                </a:moveTo>
                <a:cubicBezTo>
                  <a:pt x="14483" y="9731"/>
                  <a:pt x="24214" y="0"/>
                  <a:pt x="36208" y="0"/>
                </a:cubicBezTo>
                <a:lnTo>
                  <a:pt x="57933" y="0"/>
                </a:lnTo>
                <a:cubicBezTo>
                  <a:pt x="65944" y="0"/>
                  <a:pt x="72416" y="6472"/>
                  <a:pt x="72416" y="14483"/>
                </a:cubicBezTo>
                <a:cubicBezTo>
                  <a:pt x="72416" y="22494"/>
                  <a:pt x="65944" y="28967"/>
                  <a:pt x="57933" y="28967"/>
                </a:cubicBezTo>
                <a:lnTo>
                  <a:pt x="43450" y="28967"/>
                </a:lnTo>
                <a:lnTo>
                  <a:pt x="43450" y="86900"/>
                </a:lnTo>
                <a:cubicBezTo>
                  <a:pt x="43450" y="110887"/>
                  <a:pt x="62912" y="130349"/>
                  <a:pt x="86900" y="130349"/>
                </a:cubicBezTo>
                <a:cubicBezTo>
                  <a:pt x="110887" y="130349"/>
                  <a:pt x="130349" y="110887"/>
                  <a:pt x="130349" y="86900"/>
                </a:cubicBezTo>
                <a:lnTo>
                  <a:pt x="130349" y="28967"/>
                </a:lnTo>
                <a:lnTo>
                  <a:pt x="115866" y="28967"/>
                </a:lnTo>
                <a:cubicBezTo>
                  <a:pt x="107855" y="28967"/>
                  <a:pt x="101383" y="22494"/>
                  <a:pt x="101383" y="14483"/>
                </a:cubicBezTo>
                <a:cubicBezTo>
                  <a:pt x="101383" y="6472"/>
                  <a:pt x="107855" y="0"/>
                  <a:pt x="115866" y="0"/>
                </a:cubicBezTo>
                <a:lnTo>
                  <a:pt x="137591" y="0"/>
                </a:lnTo>
                <a:cubicBezTo>
                  <a:pt x="149585" y="0"/>
                  <a:pt x="159316" y="9731"/>
                  <a:pt x="159316" y="21725"/>
                </a:cubicBezTo>
                <a:lnTo>
                  <a:pt x="159316" y="86900"/>
                </a:lnTo>
                <a:cubicBezTo>
                  <a:pt x="159316" y="121931"/>
                  <a:pt x="134423" y="151169"/>
                  <a:pt x="101383" y="157867"/>
                </a:cubicBezTo>
                <a:lnTo>
                  <a:pt x="101383" y="166557"/>
                </a:lnTo>
                <a:cubicBezTo>
                  <a:pt x="101383" y="194573"/>
                  <a:pt x="124058" y="217249"/>
                  <a:pt x="152074" y="217249"/>
                </a:cubicBezTo>
                <a:cubicBezTo>
                  <a:pt x="180090" y="217249"/>
                  <a:pt x="202766" y="194573"/>
                  <a:pt x="202766" y="166557"/>
                </a:cubicBezTo>
                <a:lnTo>
                  <a:pt x="202766" y="127860"/>
                </a:lnTo>
                <a:cubicBezTo>
                  <a:pt x="185883" y="121886"/>
                  <a:pt x="173799" y="105818"/>
                  <a:pt x="173799" y="86900"/>
                </a:cubicBezTo>
                <a:cubicBezTo>
                  <a:pt x="173799" y="62912"/>
                  <a:pt x="193261" y="43450"/>
                  <a:pt x="217249" y="43450"/>
                </a:cubicBezTo>
                <a:cubicBezTo>
                  <a:pt x="241237" y="43450"/>
                  <a:pt x="260699" y="62912"/>
                  <a:pt x="260699" y="86900"/>
                </a:cubicBezTo>
                <a:cubicBezTo>
                  <a:pt x="260699" y="105818"/>
                  <a:pt x="248614" y="121931"/>
                  <a:pt x="231732" y="127860"/>
                </a:cubicBezTo>
                <a:lnTo>
                  <a:pt x="231732" y="166557"/>
                </a:lnTo>
                <a:cubicBezTo>
                  <a:pt x="231732" y="210550"/>
                  <a:pt x="196067" y="246215"/>
                  <a:pt x="152074" y="246215"/>
                </a:cubicBezTo>
                <a:cubicBezTo>
                  <a:pt x="108081" y="246215"/>
                  <a:pt x="72416" y="210550"/>
                  <a:pt x="72416" y="166557"/>
                </a:cubicBezTo>
                <a:lnTo>
                  <a:pt x="72416" y="157867"/>
                </a:lnTo>
                <a:cubicBezTo>
                  <a:pt x="39376" y="151169"/>
                  <a:pt x="14483" y="121931"/>
                  <a:pt x="14483" y="86900"/>
                </a:cubicBezTo>
                <a:lnTo>
                  <a:pt x="14483" y="21725"/>
                </a:lnTo>
                <a:close/>
                <a:moveTo>
                  <a:pt x="217249" y="101383"/>
                </a:moveTo>
                <a:cubicBezTo>
                  <a:pt x="225242" y="101383"/>
                  <a:pt x="231732" y="94893"/>
                  <a:pt x="231732" y="86900"/>
                </a:cubicBezTo>
                <a:cubicBezTo>
                  <a:pt x="231732" y="78906"/>
                  <a:pt x="225242" y="72416"/>
                  <a:pt x="217249" y="72416"/>
                </a:cubicBezTo>
                <a:cubicBezTo>
                  <a:pt x="209255" y="72416"/>
                  <a:pt x="202766" y="78906"/>
                  <a:pt x="202766" y="86900"/>
                </a:cubicBezTo>
                <a:cubicBezTo>
                  <a:pt x="202766" y="94893"/>
                  <a:pt x="209255" y="101383"/>
                  <a:pt x="217249" y="10138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74858" y="2444773"/>
            <a:ext cx="6882440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文件系统检查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85193" y="2908237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24232" y="3047276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fsck /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24232" y="3279008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检查整个文件系统的健康状况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85193" y="3788818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24232" y="3927857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fsck /user -files -blocks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24232" y="4159589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检查指定目录并显示文件和块信息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85193" y="4669400"/>
            <a:ext cx="7056239" cy="741542"/>
          </a:xfrm>
          <a:custGeom>
            <a:avLst/>
            <a:gdLst/>
            <a:ahLst/>
            <a:cxnLst/>
            <a:rect l="l" t="t" r="r" b="b"/>
            <a:pathLst>
              <a:path w="7056239" h="741542">
                <a:moveTo>
                  <a:pt x="92693" y="0"/>
                </a:moveTo>
                <a:lnTo>
                  <a:pt x="6963547" y="0"/>
                </a:lnTo>
                <a:cubicBezTo>
                  <a:pt x="7014740" y="0"/>
                  <a:pt x="7056239" y="41500"/>
                  <a:pt x="7056239" y="92693"/>
                </a:cubicBezTo>
                <a:lnTo>
                  <a:pt x="7056239" y="648850"/>
                </a:lnTo>
                <a:cubicBezTo>
                  <a:pt x="7056239" y="700042"/>
                  <a:pt x="7014740" y="741542"/>
                  <a:pt x="6963547" y="741542"/>
                </a:cubicBezTo>
                <a:lnTo>
                  <a:pt x="92693" y="741542"/>
                </a:lnTo>
                <a:cubicBezTo>
                  <a:pt x="41534" y="741542"/>
                  <a:pt x="0" y="700008"/>
                  <a:pt x="0" y="648850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24232" y="4808439"/>
            <a:ext cx="684768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fsck / -list-corruptfileblocks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24232" y="5040171"/>
            <a:ext cx="6859267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只列出损坏的文件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9257" y="5845440"/>
            <a:ext cx="3684539" cy="1448325"/>
          </a:xfrm>
          <a:custGeom>
            <a:avLst/>
            <a:gdLst/>
            <a:ahLst/>
            <a:cxnLst/>
            <a:rect l="l" t="t" r="r" b="b"/>
            <a:pathLst>
              <a:path w="3684539" h="1448325">
                <a:moveTo>
                  <a:pt x="92693" y="0"/>
                </a:moveTo>
                <a:lnTo>
                  <a:pt x="3591846" y="0"/>
                </a:lnTo>
                <a:cubicBezTo>
                  <a:pt x="3643039" y="0"/>
                  <a:pt x="3684539" y="41500"/>
                  <a:pt x="3684539" y="92693"/>
                </a:cubicBezTo>
                <a:lnTo>
                  <a:pt x="3684539" y="1355632"/>
                </a:lnTo>
                <a:cubicBezTo>
                  <a:pt x="3684539" y="1406825"/>
                  <a:pt x="3643039" y="1448325"/>
                  <a:pt x="3591846" y="1448325"/>
                </a:cubicBezTo>
                <a:lnTo>
                  <a:pt x="92693" y="1448325"/>
                </a:lnTo>
                <a:cubicBezTo>
                  <a:pt x="41500" y="1448325"/>
                  <a:pt x="0" y="1406825"/>
                  <a:pt x="0" y="1355632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60436" y="6036619"/>
            <a:ext cx="370771" cy="370771"/>
          </a:xfrm>
          <a:custGeom>
            <a:avLst/>
            <a:gdLst/>
            <a:ahLst/>
            <a:cxnLst/>
            <a:rect l="l" t="t" r="r" b="b"/>
            <a:pathLst>
              <a:path w="370771" h="370771">
                <a:moveTo>
                  <a:pt x="92693" y="0"/>
                </a:moveTo>
                <a:lnTo>
                  <a:pt x="278078" y="0"/>
                </a:lnTo>
                <a:cubicBezTo>
                  <a:pt x="329237" y="0"/>
                  <a:pt x="370771" y="41534"/>
                  <a:pt x="370771" y="92693"/>
                </a:cubicBezTo>
                <a:lnTo>
                  <a:pt x="370771" y="278078"/>
                </a:lnTo>
                <a:cubicBezTo>
                  <a:pt x="370771" y="329237"/>
                  <a:pt x="329237" y="370771"/>
                  <a:pt x="27807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53129" y="6129311"/>
            <a:ext cx="185386" cy="185386"/>
          </a:xfrm>
          <a:custGeom>
            <a:avLst/>
            <a:gdLst/>
            <a:ahLst/>
            <a:cxnLst/>
            <a:rect l="l" t="t" r="r" b="b"/>
            <a:pathLst>
              <a:path w="185386" h="185386">
                <a:moveTo>
                  <a:pt x="92693" y="0"/>
                </a:moveTo>
                <a:cubicBezTo>
                  <a:pt x="94358" y="0"/>
                  <a:pt x="96024" y="362"/>
                  <a:pt x="97545" y="1050"/>
                </a:cubicBezTo>
                <a:lnTo>
                  <a:pt x="165761" y="29980"/>
                </a:lnTo>
                <a:cubicBezTo>
                  <a:pt x="173727" y="33348"/>
                  <a:pt x="179665" y="41205"/>
                  <a:pt x="179629" y="50691"/>
                </a:cubicBezTo>
                <a:cubicBezTo>
                  <a:pt x="179447" y="86610"/>
                  <a:pt x="164675" y="152328"/>
                  <a:pt x="102288" y="182199"/>
                </a:cubicBezTo>
                <a:cubicBezTo>
                  <a:pt x="96241" y="185096"/>
                  <a:pt x="89217" y="185096"/>
                  <a:pt x="83170" y="182199"/>
                </a:cubicBezTo>
                <a:cubicBezTo>
                  <a:pt x="20747" y="152328"/>
                  <a:pt x="6011" y="86610"/>
                  <a:pt x="5830" y="50691"/>
                </a:cubicBezTo>
                <a:cubicBezTo>
                  <a:pt x="5793" y="41205"/>
                  <a:pt x="11731" y="33348"/>
                  <a:pt x="19697" y="29980"/>
                </a:cubicBezTo>
                <a:lnTo>
                  <a:pt x="87877" y="1050"/>
                </a:lnTo>
                <a:cubicBezTo>
                  <a:pt x="89398" y="362"/>
                  <a:pt x="91027" y="0"/>
                  <a:pt x="92693" y="0"/>
                </a:cubicBezTo>
                <a:close/>
                <a:moveTo>
                  <a:pt x="92693" y="24187"/>
                </a:moveTo>
                <a:lnTo>
                  <a:pt x="92693" y="161090"/>
                </a:lnTo>
                <a:cubicBezTo>
                  <a:pt x="142660" y="136903"/>
                  <a:pt x="156093" y="83315"/>
                  <a:pt x="156419" y="51234"/>
                </a:cubicBezTo>
                <a:lnTo>
                  <a:pt x="92693" y="24223"/>
                </a:lnTo>
                <a:lnTo>
                  <a:pt x="92693" y="24223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70247" y="6082965"/>
            <a:ext cx="834235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安全模式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0436" y="6500083"/>
            <a:ext cx="3302181" cy="370771"/>
          </a:xfrm>
          <a:custGeom>
            <a:avLst/>
            <a:gdLst/>
            <a:ahLst/>
            <a:cxnLst/>
            <a:rect l="l" t="t" r="r" b="b"/>
            <a:pathLst>
              <a:path w="3302181" h="370771">
                <a:moveTo>
                  <a:pt x="92693" y="0"/>
                </a:moveTo>
                <a:lnTo>
                  <a:pt x="3209488" y="0"/>
                </a:lnTo>
                <a:cubicBezTo>
                  <a:pt x="3260681" y="0"/>
                  <a:pt x="3302181" y="41500"/>
                  <a:pt x="3302181" y="92693"/>
                </a:cubicBezTo>
                <a:lnTo>
                  <a:pt x="3302181" y="278078"/>
                </a:lnTo>
                <a:cubicBezTo>
                  <a:pt x="3302181" y="329271"/>
                  <a:pt x="3260681" y="370771"/>
                  <a:pt x="320948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53129" y="6592775"/>
            <a:ext cx="3186315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-safemode get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0436" y="6917200"/>
            <a:ext cx="337170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查看安全模式状态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6876" y="5845440"/>
            <a:ext cx="3684539" cy="1448325"/>
          </a:xfrm>
          <a:custGeom>
            <a:avLst/>
            <a:gdLst/>
            <a:ahLst/>
            <a:cxnLst/>
            <a:rect l="l" t="t" r="r" b="b"/>
            <a:pathLst>
              <a:path w="3684539" h="1448325">
                <a:moveTo>
                  <a:pt x="92693" y="0"/>
                </a:moveTo>
                <a:lnTo>
                  <a:pt x="3591846" y="0"/>
                </a:lnTo>
                <a:cubicBezTo>
                  <a:pt x="3643039" y="0"/>
                  <a:pt x="3684539" y="41500"/>
                  <a:pt x="3684539" y="92693"/>
                </a:cubicBezTo>
                <a:lnTo>
                  <a:pt x="3684539" y="1355632"/>
                </a:lnTo>
                <a:cubicBezTo>
                  <a:pt x="3684539" y="1406825"/>
                  <a:pt x="3643039" y="1448325"/>
                  <a:pt x="3591846" y="1448325"/>
                </a:cubicBezTo>
                <a:lnTo>
                  <a:pt x="92693" y="1448325"/>
                </a:lnTo>
                <a:cubicBezTo>
                  <a:pt x="41500" y="1448325"/>
                  <a:pt x="0" y="1406825"/>
                  <a:pt x="0" y="1355632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538055" y="6036619"/>
            <a:ext cx="370771" cy="370771"/>
          </a:xfrm>
          <a:custGeom>
            <a:avLst/>
            <a:gdLst/>
            <a:ahLst/>
            <a:cxnLst/>
            <a:rect l="l" t="t" r="r" b="b"/>
            <a:pathLst>
              <a:path w="370771" h="370771">
                <a:moveTo>
                  <a:pt x="92693" y="0"/>
                </a:moveTo>
                <a:lnTo>
                  <a:pt x="278078" y="0"/>
                </a:lnTo>
                <a:cubicBezTo>
                  <a:pt x="329237" y="0"/>
                  <a:pt x="370771" y="41534"/>
                  <a:pt x="370771" y="92693"/>
                </a:cubicBezTo>
                <a:lnTo>
                  <a:pt x="370771" y="278078"/>
                </a:lnTo>
                <a:cubicBezTo>
                  <a:pt x="370771" y="329237"/>
                  <a:pt x="329237" y="370771"/>
                  <a:pt x="27807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642334" y="6129311"/>
            <a:ext cx="162212" cy="185386"/>
          </a:xfrm>
          <a:custGeom>
            <a:avLst/>
            <a:gdLst/>
            <a:ahLst/>
            <a:cxnLst/>
            <a:rect l="l" t="t" r="r" b="b"/>
            <a:pathLst>
              <a:path w="162212" h="185386">
                <a:moveTo>
                  <a:pt x="162212" y="74516"/>
                </a:moveTo>
                <a:cubicBezTo>
                  <a:pt x="156854" y="78065"/>
                  <a:pt x="150698" y="80925"/>
                  <a:pt x="144289" y="83206"/>
                </a:cubicBezTo>
                <a:cubicBezTo>
                  <a:pt x="127272" y="89289"/>
                  <a:pt x="104931" y="92693"/>
                  <a:pt x="81106" y="92693"/>
                </a:cubicBezTo>
                <a:cubicBezTo>
                  <a:pt x="57281" y="92693"/>
                  <a:pt x="34905" y="89253"/>
                  <a:pt x="17923" y="83206"/>
                </a:cubicBezTo>
                <a:cubicBezTo>
                  <a:pt x="11550" y="80925"/>
                  <a:pt x="5359" y="78065"/>
                  <a:pt x="0" y="74516"/>
                </a:cubicBezTo>
                <a:lnTo>
                  <a:pt x="0" y="104279"/>
                </a:lnTo>
                <a:cubicBezTo>
                  <a:pt x="0" y="120283"/>
                  <a:pt x="36317" y="133246"/>
                  <a:pt x="81106" y="133246"/>
                </a:cubicBezTo>
                <a:cubicBezTo>
                  <a:pt x="125896" y="133246"/>
                  <a:pt x="162212" y="120283"/>
                  <a:pt x="162212" y="104279"/>
                </a:cubicBezTo>
                <a:lnTo>
                  <a:pt x="162212" y="74516"/>
                </a:lnTo>
                <a:close/>
                <a:moveTo>
                  <a:pt x="162212" y="46346"/>
                </a:moveTo>
                <a:lnTo>
                  <a:pt x="162212" y="28967"/>
                </a:lnTo>
                <a:cubicBezTo>
                  <a:pt x="162212" y="12963"/>
                  <a:pt x="125896" y="0"/>
                  <a:pt x="81106" y="0"/>
                </a:cubicBezTo>
                <a:cubicBezTo>
                  <a:pt x="36317" y="0"/>
                  <a:pt x="0" y="12963"/>
                  <a:pt x="0" y="28967"/>
                </a:cubicBezTo>
                <a:lnTo>
                  <a:pt x="0" y="46346"/>
                </a:lnTo>
                <a:cubicBezTo>
                  <a:pt x="0" y="62350"/>
                  <a:pt x="36317" y="75313"/>
                  <a:pt x="81106" y="75313"/>
                </a:cubicBezTo>
                <a:cubicBezTo>
                  <a:pt x="125896" y="75313"/>
                  <a:pt x="162212" y="62350"/>
                  <a:pt x="162212" y="46346"/>
                </a:cubicBezTo>
                <a:close/>
                <a:moveTo>
                  <a:pt x="144289" y="141139"/>
                </a:moveTo>
                <a:cubicBezTo>
                  <a:pt x="127308" y="147186"/>
                  <a:pt x="104967" y="150626"/>
                  <a:pt x="81106" y="150626"/>
                </a:cubicBezTo>
                <a:cubicBezTo>
                  <a:pt x="57245" y="150626"/>
                  <a:pt x="34905" y="147186"/>
                  <a:pt x="17923" y="141139"/>
                </a:cubicBezTo>
                <a:cubicBezTo>
                  <a:pt x="11550" y="138858"/>
                  <a:pt x="5359" y="135998"/>
                  <a:pt x="0" y="132449"/>
                </a:cubicBezTo>
                <a:lnTo>
                  <a:pt x="0" y="156419"/>
                </a:lnTo>
                <a:cubicBezTo>
                  <a:pt x="0" y="172423"/>
                  <a:pt x="36317" y="185386"/>
                  <a:pt x="81106" y="185386"/>
                </a:cubicBezTo>
                <a:cubicBezTo>
                  <a:pt x="125896" y="185386"/>
                  <a:pt x="162212" y="172423"/>
                  <a:pt x="162212" y="156419"/>
                </a:cubicBezTo>
                <a:lnTo>
                  <a:pt x="162212" y="132449"/>
                </a:lnTo>
                <a:cubicBezTo>
                  <a:pt x="156854" y="135998"/>
                  <a:pt x="150698" y="138858"/>
                  <a:pt x="144289" y="14113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047865" y="6082965"/>
            <a:ext cx="834235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配额管理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38055" y="6500083"/>
            <a:ext cx="3302181" cy="370771"/>
          </a:xfrm>
          <a:custGeom>
            <a:avLst/>
            <a:gdLst/>
            <a:ahLst/>
            <a:cxnLst/>
            <a:rect l="l" t="t" r="r" b="b"/>
            <a:pathLst>
              <a:path w="3302181" h="370771">
                <a:moveTo>
                  <a:pt x="92693" y="0"/>
                </a:moveTo>
                <a:lnTo>
                  <a:pt x="3209488" y="0"/>
                </a:lnTo>
                <a:cubicBezTo>
                  <a:pt x="3260681" y="0"/>
                  <a:pt x="3302181" y="41500"/>
                  <a:pt x="3302181" y="92693"/>
                </a:cubicBezTo>
                <a:lnTo>
                  <a:pt x="3302181" y="278078"/>
                </a:lnTo>
                <a:cubicBezTo>
                  <a:pt x="3302181" y="329271"/>
                  <a:pt x="3260681" y="370771"/>
                  <a:pt x="320948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630748" y="6592775"/>
            <a:ext cx="3186315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-setQuota 100 /path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38055" y="6917200"/>
            <a:ext cx="337170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设置目录文件数量配额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4495" y="5845440"/>
            <a:ext cx="3684539" cy="1448325"/>
          </a:xfrm>
          <a:custGeom>
            <a:avLst/>
            <a:gdLst/>
            <a:ahLst/>
            <a:cxnLst/>
            <a:rect l="l" t="t" r="r" b="b"/>
            <a:pathLst>
              <a:path w="3684539" h="1448325">
                <a:moveTo>
                  <a:pt x="92693" y="0"/>
                </a:moveTo>
                <a:lnTo>
                  <a:pt x="3591846" y="0"/>
                </a:lnTo>
                <a:cubicBezTo>
                  <a:pt x="3643039" y="0"/>
                  <a:pt x="3684539" y="41500"/>
                  <a:pt x="3684539" y="92693"/>
                </a:cubicBezTo>
                <a:lnTo>
                  <a:pt x="3684539" y="1355632"/>
                </a:lnTo>
                <a:cubicBezTo>
                  <a:pt x="3684539" y="1406825"/>
                  <a:pt x="3643039" y="1448325"/>
                  <a:pt x="3591846" y="1448325"/>
                </a:cubicBezTo>
                <a:lnTo>
                  <a:pt x="92693" y="1448325"/>
                </a:lnTo>
                <a:cubicBezTo>
                  <a:pt x="41500" y="1448325"/>
                  <a:pt x="0" y="1406825"/>
                  <a:pt x="0" y="1355632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15674" y="6036619"/>
            <a:ext cx="370771" cy="370771"/>
          </a:xfrm>
          <a:custGeom>
            <a:avLst/>
            <a:gdLst/>
            <a:ahLst/>
            <a:cxnLst/>
            <a:rect l="l" t="t" r="r" b="b"/>
            <a:pathLst>
              <a:path w="370771" h="370771">
                <a:moveTo>
                  <a:pt x="92693" y="0"/>
                </a:moveTo>
                <a:lnTo>
                  <a:pt x="278078" y="0"/>
                </a:lnTo>
                <a:cubicBezTo>
                  <a:pt x="329237" y="0"/>
                  <a:pt x="370771" y="41534"/>
                  <a:pt x="370771" y="92693"/>
                </a:cubicBezTo>
                <a:lnTo>
                  <a:pt x="370771" y="278078"/>
                </a:lnTo>
                <a:cubicBezTo>
                  <a:pt x="370771" y="329237"/>
                  <a:pt x="329237" y="370771"/>
                  <a:pt x="27807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508366" y="6129311"/>
            <a:ext cx="185386" cy="185386"/>
          </a:xfrm>
          <a:custGeom>
            <a:avLst/>
            <a:gdLst/>
            <a:ahLst/>
            <a:cxnLst/>
            <a:rect l="l" t="t" r="r" b="b"/>
            <a:pathLst>
              <a:path w="185386" h="185386">
                <a:moveTo>
                  <a:pt x="53986" y="23463"/>
                </a:moveTo>
                <a:lnTo>
                  <a:pt x="50221" y="34760"/>
                </a:lnTo>
                <a:lnTo>
                  <a:pt x="23173" y="34760"/>
                </a:lnTo>
                <a:cubicBezTo>
                  <a:pt x="10392" y="34760"/>
                  <a:pt x="0" y="45152"/>
                  <a:pt x="0" y="57933"/>
                </a:cubicBezTo>
                <a:lnTo>
                  <a:pt x="0" y="150626"/>
                </a:lnTo>
                <a:cubicBezTo>
                  <a:pt x="0" y="163407"/>
                  <a:pt x="10392" y="173799"/>
                  <a:pt x="23173" y="173799"/>
                </a:cubicBezTo>
                <a:lnTo>
                  <a:pt x="162212" y="173799"/>
                </a:lnTo>
                <a:cubicBezTo>
                  <a:pt x="174994" y="173799"/>
                  <a:pt x="185386" y="163407"/>
                  <a:pt x="185386" y="150626"/>
                </a:cubicBezTo>
                <a:lnTo>
                  <a:pt x="185386" y="57933"/>
                </a:lnTo>
                <a:cubicBezTo>
                  <a:pt x="185386" y="45152"/>
                  <a:pt x="174994" y="34760"/>
                  <a:pt x="162212" y="34760"/>
                </a:cubicBezTo>
                <a:lnTo>
                  <a:pt x="135165" y="34760"/>
                </a:lnTo>
                <a:lnTo>
                  <a:pt x="131399" y="23463"/>
                </a:lnTo>
                <a:cubicBezTo>
                  <a:pt x="129046" y="16366"/>
                  <a:pt x="122420" y="11587"/>
                  <a:pt x="114925" y="11587"/>
                </a:cubicBezTo>
                <a:lnTo>
                  <a:pt x="70461" y="11587"/>
                </a:lnTo>
                <a:cubicBezTo>
                  <a:pt x="62966" y="11587"/>
                  <a:pt x="56340" y="16366"/>
                  <a:pt x="53986" y="23463"/>
                </a:cubicBezTo>
                <a:close/>
                <a:moveTo>
                  <a:pt x="92693" y="69520"/>
                </a:moveTo>
                <a:cubicBezTo>
                  <a:pt x="111877" y="69520"/>
                  <a:pt x="127453" y="85095"/>
                  <a:pt x="127453" y="104279"/>
                </a:cubicBezTo>
                <a:cubicBezTo>
                  <a:pt x="127453" y="123464"/>
                  <a:pt x="111877" y="139039"/>
                  <a:pt x="92693" y="139039"/>
                </a:cubicBezTo>
                <a:cubicBezTo>
                  <a:pt x="73508" y="139039"/>
                  <a:pt x="57933" y="123464"/>
                  <a:pt x="57933" y="104279"/>
                </a:cubicBezTo>
                <a:cubicBezTo>
                  <a:pt x="57933" y="85095"/>
                  <a:pt x="73508" y="69520"/>
                  <a:pt x="92693" y="6952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25484" y="6082965"/>
            <a:ext cx="834235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快照管理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15674" y="6500083"/>
            <a:ext cx="3302181" cy="370771"/>
          </a:xfrm>
          <a:custGeom>
            <a:avLst/>
            <a:gdLst/>
            <a:ahLst/>
            <a:cxnLst/>
            <a:rect l="l" t="t" r="r" b="b"/>
            <a:pathLst>
              <a:path w="3302181" h="370771">
                <a:moveTo>
                  <a:pt x="92693" y="0"/>
                </a:moveTo>
                <a:lnTo>
                  <a:pt x="3209488" y="0"/>
                </a:lnTo>
                <a:cubicBezTo>
                  <a:pt x="3260681" y="0"/>
                  <a:pt x="3302181" y="41500"/>
                  <a:pt x="3302181" y="92693"/>
                </a:cubicBezTo>
                <a:lnTo>
                  <a:pt x="3302181" y="278078"/>
                </a:lnTo>
                <a:cubicBezTo>
                  <a:pt x="3302181" y="329271"/>
                  <a:pt x="3260681" y="370771"/>
                  <a:pt x="320948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08366" y="6592775"/>
            <a:ext cx="3186315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dfsadmin -createSnapshot /path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15674" y="6917200"/>
            <a:ext cx="337170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创建目录快照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2102113" y="5845440"/>
            <a:ext cx="3684539" cy="1448325"/>
          </a:xfrm>
          <a:custGeom>
            <a:avLst/>
            <a:gdLst/>
            <a:ahLst/>
            <a:cxnLst/>
            <a:rect l="l" t="t" r="r" b="b"/>
            <a:pathLst>
              <a:path w="3684539" h="1448325">
                <a:moveTo>
                  <a:pt x="92693" y="0"/>
                </a:moveTo>
                <a:lnTo>
                  <a:pt x="3591846" y="0"/>
                </a:lnTo>
                <a:cubicBezTo>
                  <a:pt x="3643039" y="0"/>
                  <a:pt x="3684539" y="41500"/>
                  <a:pt x="3684539" y="92693"/>
                </a:cubicBezTo>
                <a:lnTo>
                  <a:pt x="3684539" y="1355632"/>
                </a:lnTo>
                <a:cubicBezTo>
                  <a:pt x="3684539" y="1406825"/>
                  <a:pt x="3643039" y="1448325"/>
                  <a:pt x="3591846" y="1448325"/>
                </a:cubicBezTo>
                <a:lnTo>
                  <a:pt x="92693" y="1448325"/>
                </a:lnTo>
                <a:cubicBezTo>
                  <a:pt x="41500" y="1448325"/>
                  <a:pt x="0" y="1406825"/>
                  <a:pt x="0" y="1355632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293292" y="6036619"/>
            <a:ext cx="370771" cy="370771"/>
          </a:xfrm>
          <a:custGeom>
            <a:avLst/>
            <a:gdLst/>
            <a:ahLst/>
            <a:cxnLst/>
            <a:rect l="l" t="t" r="r" b="b"/>
            <a:pathLst>
              <a:path w="370771" h="370771">
                <a:moveTo>
                  <a:pt x="92693" y="0"/>
                </a:moveTo>
                <a:lnTo>
                  <a:pt x="278078" y="0"/>
                </a:lnTo>
                <a:cubicBezTo>
                  <a:pt x="329237" y="0"/>
                  <a:pt x="370771" y="41534"/>
                  <a:pt x="370771" y="92693"/>
                </a:cubicBezTo>
                <a:lnTo>
                  <a:pt x="370771" y="278078"/>
                </a:lnTo>
                <a:cubicBezTo>
                  <a:pt x="370771" y="329237"/>
                  <a:pt x="329237" y="370771"/>
                  <a:pt x="27807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2362812" y="6129311"/>
            <a:ext cx="231732" cy="185386"/>
          </a:xfrm>
          <a:custGeom>
            <a:avLst/>
            <a:gdLst/>
            <a:ahLst/>
            <a:cxnLst/>
            <a:rect l="l" t="t" r="r" b="b"/>
            <a:pathLst>
              <a:path w="231732" h="185386">
                <a:moveTo>
                  <a:pt x="139039" y="11587"/>
                </a:moveTo>
                <a:lnTo>
                  <a:pt x="185386" y="11587"/>
                </a:lnTo>
                <a:cubicBezTo>
                  <a:pt x="191794" y="11587"/>
                  <a:pt x="196972" y="16764"/>
                  <a:pt x="196972" y="23173"/>
                </a:cubicBezTo>
                <a:cubicBezTo>
                  <a:pt x="196972" y="29582"/>
                  <a:pt x="191794" y="34760"/>
                  <a:pt x="185386" y="34760"/>
                </a:cubicBezTo>
                <a:lnTo>
                  <a:pt x="144253" y="34760"/>
                </a:lnTo>
                <a:cubicBezTo>
                  <a:pt x="142370" y="44101"/>
                  <a:pt x="135962" y="51814"/>
                  <a:pt x="127453" y="55507"/>
                </a:cubicBezTo>
                <a:lnTo>
                  <a:pt x="127453" y="162212"/>
                </a:lnTo>
                <a:lnTo>
                  <a:pt x="185386" y="162212"/>
                </a:lnTo>
                <a:cubicBezTo>
                  <a:pt x="191794" y="162212"/>
                  <a:pt x="196972" y="167390"/>
                  <a:pt x="196972" y="173799"/>
                </a:cubicBezTo>
                <a:cubicBezTo>
                  <a:pt x="196972" y="180208"/>
                  <a:pt x="191794" y="185386"/>
                  <a:pt x="185386" y="185386"/>
                </a:cubicBezTo>
                <a:lnTo>
                  <a:pt x="46346" y="185386"/>
                </a:lnTo>
                <a:cubicBezTo>
                  <a:pt x="39938" y="185386"/>
                  <a:pt x="34760" y="180208"/>
                  <a:pt x="34760" y="173799"/>
                </a:cubicBezTo>
                <a:cubicBezTo>
                  <a:pt x="34760" y="167390"/>
                  <a:pt x="39938" y="162212"/>
                  <a:pt x="46346" y="162212"/>
                </a:cubicBezTo>
                <a:lnTo>
                  <a:pt x="104279" y="162212"/>
                </a:lnTo>
                <a:lnTo>
                  <a:pt x="104279" y="55507"/>
                </a:lnTo>
                <a:cubicBezTo>
                  <a:pt x="95770" y="51778"/>
                  <a:pt x="89362" y="44065"/>
                  <a:pt x="87479" y="34760"/>
                </a:cubicBezTo>
                <a:lnTo>
                  <a:pt x="46346" y="34760"/>
                </a:lnTo>
                <a:cubicBezTo>
                  <a:pt x="39938" y="34760"/>
                  <a:pt x="34760" y="29582"/>
                  <a:pt x="34760" y="23173"/>
                </a:cubicBezTo>
                <a:cubicBezTo>
                  <a:pt x="34760" y="16764"/>
                  <a:pt x="39938" y="11587"/>
                  <a:pt x="46346" y="11587"/>
                </a:cubicBezTo>
                <a:lnTo>
                  <a:pt x="92693" y="11587"/>
                </a:lnTo>
                <a:cubicBezTo>
                  <a:pt x="97979" y="4562"/>
                  <a:pt x="106379" y="0"/>
                  <a:pt x="115866" y="0"/>
                </a:cubicBezTo>
                <a:cubicBezTo>
                  <a:pt x="125353" y="0"/>
                  <a:pt x="133753" y="4562"/>
                  <a:pt x="139039" y="11587"/>
                </a:cubicBezTo>
                <a:close/>
                <a:moveTo>
                  <a:pt x="159171" y="115866"/>
                </a:moveTo>
                <a:lnTo>
                  <a:pt x="211600" y="115866"/>
                </a:lnTo>
                <a:lnTo>
                  <a:pt x="185386" y="70896"/>
                </a:lnTo>
                <a:lnTo>
                  <a:pt x="159171" y="115866"/>
                </a:lnTo>
                <a:close/>
                <a:moveTo>
                  <a:pt x="185386" y="150626"/>
                </a:moveTo>
                <a:cubicBezTo>
                  <a:pt x="162611" y="150626"/>
                  <a:pt x="143674" y="138315"/>
                  <a:pt x="139763" y="122058"/>
                </a:cubicBezTo>
                <a:cubicBezTo>
                  <a:pt x="138822" y="118075"/>
                  <a:pt x="140125" y="113983"/>
                  <a:pt x="142189" y="110435"/>
                </a:cubicBezTo>
                <a:lnTo>
                  <a:pt x="176659" y="51343"/>
                </a:lnTo>
                <a:cubicBezTo>
                  <a:pt x="178470" y="48229"/>
                  <a:pt x="181801" y="46346"/>
                  <a:pt x="185386" y="46346"/>
                </a:cubicBezTo>
                <a:cubicBezTo>
                  <a:pt x="188970" y="46346"/>
                  <a:pt x="192301" y="48265"/>
                  <a:pt x="194112" y="51343"/>
                </a:cubicBezTo>
                <a:lnTo>
                  <a:pt x="228582" y="110435"/>
                </a:lnTo>
                <a:cubicBezTo>
                  <a:pt x="230646" y="113983"/>
                  <a:pt x="231949" y="118075"/>
                  <a:pt x="231008" y="122058"/>
                </a:cubicBezTo>
                <a:cubicBezTo>
                  <a:pt x="227097" y="138279"/>
                  <a:pt x="208161" y="150626"/>
                  <a:pt x="185386" y="150626"/>
                </a:cubicBezTo>
                <a:close/>
                <a:moveTo>
                  <a:pt x="45912" y="70896"/>
                </a:moveTo>
                <a:lnTo>
                  <a:pt x="19697" y="115866"/>
                </a:lnTo>
                <a:lnTo>
                  <a:pt x="72163" y="115866"/>
                </a:lnTo>
                <a:lnTo>
                  <a:pt x="45912" y="70896"/>
                </a:lnTo>
                <a:close/>
                <a:moveTo>
                  <a:pt x="326" y="122058"/>
                </a:moveTo>
                <a:cubicBezTo>
                  <a:pt x="-616" y="118075"/>
                  <a:pt x="688" y="113983"/>
                  <a:pt x="2752" y="110435"/>
                </a:cubicBezTo>
                <a:lnTo>
                  <a:pt x="37222" y="51343"/>
                </a:lnTo>
                <a:cubicBezTo>
                  <a:pt x="39032" y="48229"/>
                  <a:pt x="42364" y="46346"/>
                  <a:pt x="45948" y="46346"/>
                </a:cubicBezTo>
                <a:cubicBezTo>
                  <a:pt x="49533" y="46346"/>
                  <a:pt x="52864" y="48265"/>
                  <a:pt x="54674" y="51343"/>
                </a:cubicBezTo>
                <a:lnTo>
                  <a:pt x="89144" y="110435"/>
                </a:lnTo>
                <a:cubicBezTo>
                  <a:pt x="91208" y="113983"/>
                  <a:pt x="92512" y="118075"/>
                  <a:pt x="91570" y="122058"/>
                </a:cubicBezTo>
                <a:cubicBezTo>
                  <a:pt x="87660" y="138279"/>
                  <a:pt x="68723" y="150626"/>
                  <a:pt x="45948" y="150626"/>
                </a:cubicBezTo>
                <a:cubicBezTo>
                  <a:pt x="23173" y="150626"/>
                  <a:pt x="4236" y="138315"/>
                  <a:pt x="326" y="12205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803103" y="6082965"/>
            <a:ext cx="834235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集群平衡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293292" y="6500083"/>
            <a:ext cx="3302181" cy="370771"/>
          </a:xfrm>
          <a:custGeom>
            <a:avLst/>
            <a:gdLst/>
            <a:ahLst/>
            <a:cxnLst/>
            <a:rect l="l" t="t" r="r" b="b"/>
            <a:pathLst>
              <a:path w="3302181" h="370771">
                <a:moveTo>
                  <a:pt x="92693" y="0"/>
                </a:moveTo>
                <a:lnTo>
                  <a:pt x="3209488" y="0"/>
                </a:lnTo>
                <a:cubicBezTo>
                  <a:pt x="3260681" y="0"/>
                  <a:pt x="3302181" y="41500"/>
                  <a:pt x="3302181" y="92693"/>
                </a:cubicBezTo>
                <a:lnTo>
                  <a:pt x="3302181" y="278078"/>
                </a:lnTo>
                <a:cubicBezTo>
                  <a:pt x="3302181" y="329271"/>
                  <a:pt x="3260681" y="370771"/>
                  <a:pt x="3209488" y="370771"/>
                </a:cubicBezTo>
                <a:lnTo>
                  <a:pt x="92693" y="370771"/>
                </a:lnTo>
                <a:cubicBezTo>
                  <a:pt x="41534" y="370771"/>
                  <a:pt x="0" y="329237"/>
                  <a:pt x="0" y="278078"/>
                </a:cubicBezTo>
                <a:lnTo>
                  <a:pt x="0" y="92693"/>
                </a:lnTo>
                <a:cubicBezTo>
                  <a:pt x="0" y="41534"/>
                  <a:pt x="41534" y="0"/>
                  <a:pt x="926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2385985" y="6592775"/>
            <a:ext cx="3186315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balancer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293292" y="6917200"/>
            <a:ext cx="3371701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启动集群平衡器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9257" y="7490737"/>
            <a:ext cx="15317485" cy="996448"/>
          </a:xfrm>
          <a:custGeom>
            <a:avLst/>
            <a:gdLst/>
            <a:ahLst/>
            <a:cxnLst/>
            <a:rect l="l" t="t" r="r" b="b"/>
            <a:pathLst>
              <a:path w="15317485" h="996448">
                <a:moveTo>
                  <a:pt x="92690" y="0"/>
                </a:moveTo>
                <a:lnTo>
                  <a:pt x="15224796" y="0"/>
                </a:lnTo>
                <a:cubicBezTo>
                  <a:pt x="15275987" y="0"/>
                  <a:pt x="15317485" y="41499"/>
                  <a:pt x="15317485" y="92690"/>
                </a:cubicBezTo>
                <a:lnTo>
                  <a:pt x="15317485" y="903758"/>
                </a:lnTo>
                <a:cubicBezTo>
                  <a:pt x="15317485" y="954949"/>
                  <a:pt x="15275987" y="996448"/>
                  <a:pt x="15224796" y="996448"/>
                </a:cubicBezTo>
                <a:lnTo>
                  <a:pt x="92690" y="996448"/>
                </a:lnTo>
                <a:cubicBezTo>
                  <a:pt x="41499" y="996448"/>
                  <a:pt x="0" y="954949"/>
                  <a:pt x="0" y="903758"/>
                </a:cubicBezTo>
                <a:lnTo>
                  <a:pt x="0" y="92690"/>
                </a:lnTo>
                <a:cubicBezTo>
                  <a:pt x="0" y="41499"/>
                  <a:pt x="41499" y="0"/>
                  <a:pt x="9269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77816" y="7728262"/>
            <a:ext cx="312838" cy="278078"/>
          </a:xfrm>
          <a:custGeom>
            <a:avLst/>
            <a:gdLst/>
            <a:ahLst/>
            <a:cxnLst/>
            <a:rect l="l" t="t" r="r" b="b"/>
            <a:pathLst>
              <a:path w="312838" h="278078">
                <a:moveTo>
                  <a:pt x="121714" y="52737"/>
                </a:moveTo>
                <a:lnTo>
                  <a:pt x="121714" y="79676"/>
                </a:lnTo>
                <a:lnTo>
                  <a:pt x="121985" y="79948"/>
                </a:lnTo>
                <a:cubicBezTo>
                  <a:pt x="125515" y="35194"/>
                  <a:pt x="162937" y="0"/>
                  <a:pt x="208613" y="0"/>
                </a:cubicBezTo>
                <a:cubicBezTo>
                  <a:pt x="219530" y="0"/>
                  <a:pt x="230012" y="2010"/>
                  <a:pt x="239625" y="5703"/>
                </a:cubicBezTo>
                <a:cubicBezTo>
                  <a:pt x="245057" y="7767"/>
                  <a:pt x="246034" y="14664"/>
                  <a:pt x="241961" y="18792"/>
                </a:cubicBezTo>
                <a:lnTo>
                  <a:pt x="193786" y="66967"/>
                </a:lnTo>
                <a:cubicBezTo>
                  <a:pt x="192157" y="68596"/>
                  <a:pt x="191233" y="70823"/>
                  <a:pt x="191233" y="73104"/>
                </a:cubicBezTo>
                <a:lnTo>
                  <a:pt x="191233" y="95589"/>
                </a:lnTo>
                <a:cubicBezTo>
                  <a:pt x="191233" y="100369"/>
                  <a:pt x="195144" y="104279"/>
                  <a:pt x="199923" y="104279"/>
                </a:cubicBezTo>
                <a:lnTo>
                  <a:pt x="222408" y="104279"/>
                </a:lnTo>
                <a:cubicBezTo>
                  <a:pt x="224690" y="104279"/>
                  <a:pt x="226916" y="103356"/>
                  <a:pt x="228546" y="101727"/>
                </a:cubicBezTo>
                <a:lnTo>
                  <a:pt x="276721" y="53552"/>
                </a:lnTo>
                <a:cubicBezTo>
                  <a:pt x="280848" y="49424"/>
                  <a:pt x="287746" y="50456"/>
                  <a:pt x="289810" y="55887"/>
                </a:cubicBezTo>
                <a:cubicBezTo>
                  <a:pt x="293503" y="65500"/>
                  <a:pt x="295513" y="75983"/>
                  <a:pt x="295513" y="86900"/>
                </a:cubicBezTo>
                <a:cubicBezTo>
                  <a:pt x="295513" y="119813"/>
                  <a:pt x="277209" y="148490"/>
                  <a:pt x="250162" y="163208"/>
                </a:cubicBezTo>
                <a:lnTo>
                  <a:pt x="294426" y="207473"/>
                </a:lnTo>
                <a:cubicBezTo>
                  <a:pt x="304583" y="217629"/>
                  <a:pt x="304583" y="234140"/>
                  <a:pt x="294426" y="244351"/>
                </a:cubicBezTo>
                <a:lnTo>
                  <a:pt x="261785" y="276992"/>
                </a:lnTo>
                <a:cubicBezTo>
                  <a:pt x="251628" y="287149"/>
                  <a:pt x="235117" y="287149"/>
                  <a:pt x="224907" y="276992"/>
                </a:cubicBezTo>
                <a:lnTo>
                  <a:pt x="156473" y="208559"/>
                </a:lnTo>
                <a:cubicBezTo>
                  <a:pt x="141592" y="193677"/>
                  <a:pt x="138225" y="171681"/>
                  <a:pt x="146426" y="153541"/>
                </a:cubicBezTo>
                <a:lnTo>
                  <a:pt x="97165" y="104279"/>
                </a:lnTo>
                <a:lnTo>
                  <a:pt x="70226" y="104279"/>
                </a:lnTo>
                <a:cubicBezTo>
                  <a:pt x="64414" y="104279"/>
                  <a:pt x="58983" y="101401"/>
                  <a:pt x="55779" y="96567"/>
                </a:cubicBezTo>
                <a:lnTo>
                  <a:pt x="12709" y="31990"/>
                </a:lnTo>
                <a:cubicBezTo>
                  <a:pt x="10428" y="28568"/>
                  <a:pt x="10862" y="23952"/>
                  <a:pt x="13795" y="21019"/>
                </a:cubicBezTo>
                <a:lnTo>
                  <a:pt x="38453" y="-3639"/>
                </a:lnTo>
                <a:cubicBezTo>
                  <a:pt x="41386" y="-6572"/>
                  <a:pt x="45948" y="-7006"/>
                  <a:pt x="49424" y="-4725"/>
                </a:cubicBezTo>
                <a:lnTo>
                  <a:pt x="114001" y="38290"/>
                </a:lnTo>
                <a:cubicBezTo>
                  <a:pt x="118835" y="41495"/>
                  <a:pt x="121714" y="46926"/>
                  <a:pt x="121714" y="52737"/>
                </a:cubicBezTo>
                <a:close/>
                <a:moveTo>
                  <a:pt x="117097" y="161090"/>
                </a:moveTo>
                <a:cubicBezTo>
                  <a:pt x="113675" y="181185"/>
                  <a:pt x="118401" y="202422"/>
                  <a:pt x="131435" y="219421"/>
                </a:cubicBezTo>
                <a:lnTo>
                  <a:pt x="79839" y="270964"/>
                </a:lnTo>
                <a:cubicBezTo>
                  <a:pt x="64577" y="286225"/>
                  <a:pt x="39811" y="286225"/>
                  <a:pt x="24549" y="270964"/>
                </a:cubicBezTo>
                <a:cubicBezTo>
                  <a:pt x="9287" y="255702"/>
                  <a:pt x="9287" y="230935"/>
                  <a:pt x="24549" y="215674"/>
                </a:cubicBezTo>
                <a:lnTo>
                  <a:pt x="98088" y="142135"/>
                </a:lnTo>
                <a:lnTo>
                  <a:pt x="117097" y="161144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93420" y="7681916"/>
            <a:ext cx="14494837" cy="614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运维要点：</a:t>
            </a:r>
            <a:r>
              <a:rPr lang="en-US" sz="146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提供了丰富的运维管理命令，帮助管理员监控集群状态、管理文件系统、设置配额和快照等。掌握这些命令对于保证集群的稳定运行和性能优化至关重要。建议定期执行 </a:t>
            </a:r>
            <a:r>
              <a:rPr lang="en-US" sz="1460" dirty="0">
                <a:solidFill>
                  <a:srgbClr val="E59F54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dfsadmin -report </a:t>
            </a:r>
            <a:r>
              <a:rPr lang="en-US" sz="146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</a:t>
            </a:r>
            <a:r>
              <a:rPr lang="en-US" sz="1460" dirty="0">
                <a:solidFill>
                  <a:srgbClr val="E59F54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fsck </a:t>
            </a:r>
            <a:r>
              <a:rPr lang="en-US" sz="146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命令，及时发现和处理集群问题。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101599" y="0"/>
                </a:moveTo>
                <a:lnTo>
                  <a:pt x="901701" y="0"/>
                </a:lnTo>
                <a:cubicBezTo>
                  <a:pt x="957812" y="0"/>
                  <a:pt x="1003300" y="45488"/>
                  <a:pt x="1003300" y="101599"/>
                </a:cubicBezTo>
                <a:lnTo>
                  <a:pt x="1003300" y="622301"/>
                </a:lnTo>
                <a:cubicBezTo>
                  <a:pt x="1003300" y="678412"/>
                  <a:pt x="957812" y="723900"/>
                  <a:pt x="9017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340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SDK 编程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Java API 设计与实现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设计思想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46995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302595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开发环境准备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36195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791795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实战示例代码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383" y="483383"/>
            <a:ext cx="2243853" cy="393868"/>
          </a:xfrm>
          <a:custGeom>
            <a:avLst/>
            <a:gdLst/>
            <a:ahLst/>
            <a:cxnLst/>
            <a:rect l="l" t="t" r="r" b="b"/>
            <a:pathLst>
              <a:path w="2243853" h="393868">
                <a:moveTo>
                  <a:pt x="196934" y="0"/>
                </a:moveTo>
                <a:lnTo>
                  <a:pt x="2046919" y="0"/>
                </a:lnTo>
                <a:cubicBezTo>
                  <a:pt x="2155683" y="0"/>
                  <a:pt x="2243853" y="88170"/>
                  <a:pt x="2243853" y="196934"/>
                </a:cubicBezTo>
                <a:lnTo>
                  <a:pt x="2243853" y="196934"/>
                </a:lnTo>
                <a:cubicBezTo>
                  <a:pt x="2243853" y="305698"/>
                  <a:pt x="2155683" y="393868"/>
                  <a:pt x="2046919" y="393868"/>
                </a:cubicBezTo>
                <a:lnTo>
                  <a:pt x="196934" y="393868"/>
                </a:lnTo>
                <a:cubicBezTo>
                  <a:pt x="88170" y="393868"/>
                  <a:pt x="0" y="305698"/>
                  <a:pt x="0" y="196934"/>
                </a:cubicBezTo>
                <a:lnTo>
                  <a:pt x="0" y="196934"/>
                </a:lnTo>
                <a:cubicBezTo>
                  <a:pt x="0" y="88170"/>
                  <a:pt x="88170" y="0"/>
                  <a:pt x="19693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0317" y="554996"/>
            <a:ext cx="194220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kern="0" spc="150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API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416" y="1026443"/>
            <a:ext cx="15587618" cy="57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11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Java API 设计思想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7416" y="1742567"/>
            <a:ext cx="1542052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抽象文件系统、配置驱动与流式处理设计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1286" y="2267724"/>
            <a:ext cx="4953186" cy="3318038"/>
          </a:xfrm>
          <a:custGeom>
            <a:avLst/>
            <a:gdLst/>
            <a:ahLst/>
            <a:cxnLst/>
            <a:rect l="l" t="t" r="r" b="b"/>
            <a:pathLst>
              <a:path w="4953186" h="3318038">
                <a:moveTo>
                  <a:pt x="47742" y="0"/>
                </a:moveTo>
                <a:lnTo>
                  <a:pt x="4857693" y="0"/>
                </a:lnTo>
                <a:cubicBezTo>
                  <a:pt x="4910433" y="0"/>
                  <a:pt x="4953186" y="42754"/>
                  <a:pt x="4953186" y="95493"/>
                </a:cubicBezTo>
                <a:lnTo>
                  <a:pt x="4953186" y="3222545"/>
                </a:lnTo>
                <a:cubicBezTo>
                  <a:pt x="4953186" y="3275284"/>
                  <a:pt x="4910433" y="3318038"/>
                  <a:pt x="4857693" y="3318038"/>
                </a:cubicBez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1286" y="2267724"/>
            <a:ext cx="47742" cy="3318038"/>
          </a:xfrm>
          <a:custGeom>
            <a:avLst/>
            <a:gdLst/>
            <a:ahLst/>
            <a:cxnLst/>
            <a:rect l="l" t="t" r="r" b="b"/>
            <a:pathLst>
              <a:path w="47742" h="3318038">
                <a:moveTo>
                  <a:pt x="47742" y="0"/>
                </a:moveTo>
                <a:lnTo>
                  <a:pt x="47742" y="0"/>
                </a:lnTo>
                <a:lnTo>
                  <a:pt x="47742" y="3318038"/>
                </a:ln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6123" y="2458690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95485" y="0"/>
                </a:moveTo>
                <a:lnTo>
                  <a:pt x="477414" y="0"/>
                </a:lnTo>
                <a:cubicBezTo>
                  <a:pt x="530149" y="0"/>
                  <a:pt x="572899" y="42750"/>
                  <a:pt x="572899" y="95485"/>
                </a:cubicBezTo>
                <a:lnTo>
                  <a:pt x="572899" y="477414"/>
                </a:lnTo>
                <a:cubicBezTo>
                  <a:pt x="572899" y="530149"/>
                  <a:pt x="530149" y="572899"/>
                  <a:pt x="477414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83219" y="2625786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108398" y="2424"/>
                </a:moveTo>
                <a:cubicBezTo>
                  <a:pt x="115344" y="-793"/>
                  <a:pt x="123363" y="-793"/>
                  <a:pt x="130310" y="2424"/>
                </a:cubicBezTo>
                <a:lnTo>
                  <a:pt x="232227" y="49513"/>
                </a:lnTo>
                <a:cubicBezTo>
                  <a:pt x="236190" y="51331"/>
                  <a:pt x="238708" y="55294"/>
                  <a:pt x="238708" y="59677"/>
                </a:cubicBezTo>
                <a:cubicBezTo>
                  <a:pt x="238708" y="64059"/>
                  <a:pt x="236190" y="68022"/>
                  <a:pt x="232227" y="69841"/>
                </a:cubicBezTo>
                <a:lnTo>
                  <a:pt x="130310" y="116930"/>
                </a:lnTo>
                <a:cubicBezTo>
                  <a:pt x="123363" y="120146"/>
                  <a:pt x="115344" y="120146"/>
                  <a:pt x="108398" y="116930"/>
                </a:cubicBezTo>
                <a:lnTo>
                  <a:pt x="6481" y="69841"/>
                </a:lnTo>
                <a:cubicBezTo>
                  <a:pt x="2518" y="67976"/>
                  <a:pt x="0" y="64013"/>
                  <a:pt x="0" y="59677"/>
                </a:cubicBezTo>
                <a:cubicBezTo>
                  <a:pt x="0" y="55341"/>
                  <a:pt x="2518" y="51331"/>
                  <a:pt x="6481" y="49513"/>
                </a:cubicBezTo>
                <a:lnTo>
                  <a:pt x="108398" y="2424"/>
                </a:lnTo>
                <a:close/>
                <a:moveTo>
                  <a:pt x="22425" y="101824"/>
                </a:moveTo>
                <a:lnTo>
                  <a:pt x="99026" y="137210"/>
                </a:lnTo>
                <a:cubicBezTo>
                  <a:pt x="111941" y="143178"/>
                  <a:pt x="126814" y="143178"/>
                  <a:pt x="139728" y="137210"/>
                </a:cubicBezTo>
                <a:lnTo>
                  <a:pt x="216329" y="101824"/>
                </a:lnTo>
                <a:lnTo>
                  <a:pt x="232227" y="109190"/>
                </a:lnTo>
                <a:cubicBezTo>
                  <a:pt x="236190" y="111008"/>
                  <a:pt x="238708" y="114971"/>
                  <a:pt x="238708" y="119354"/>
                </a:cubicBezTo>
                <a:cubicBezTo>
                  <a:pt x="238708" y="123736"/>
                  <a:pt x="236190" y="127699"/>
                  <a:pt x="232227" y="129518"/>
                </a:cubicBezTo>
                <a:lnTo>
                  <a:pt x="130310" y="176606"/>
                </a:lnTo>
                <a:cubicBezTo>
                  <a:pt x="123363" y="179823"/>
                  <a:pt x="115344" y="179823"/>
                  <a:pt x="108398" y="176606"/>
                </a:cubicBezTo>
                <a:lnTo>
                  <a:pt x="6481" y="129518"/>
                </a:lnTo>
                <a:cubicBezTo>
                  <a:pt x="2518" y="127653"/>
                  <a:pt x="0" y="123690"/>
                  <a:pt x="0" y="119354"/>
                </a:cubicBezTo>
                <a:cubicBezTo>
                  <a:pt x="0" y="115018"/>
                  <a:pt x="2518" y="111008"/>
                  <a:pt x="6481" y="109190"/>
                </a:cubicBezTo>
                <a:lnTo>
                  <a:pt x="22379" y="101824"/>
                </a:lnTo>
                <a:close/>
                <a:moveTo>
                  <a:pt x="6481" y="168867"/>
                </a:moveTo>
                <a:lnTo>
                  <a:pt x="22379" y="161501"/>
                </a:lnTo>
                <a:lnTo>
                  <a:pt x="98980" y="196887"/>
                </a:lnTo>
                <a:cubicBezTo>
                  <a:pt x="111894" y="202855"/>
                  <a:pt x="126767" y="202855"/>
                  <a:pt x="139681" y="196887"/>
                </a:cubicBezTo>
                <a:lnTo>
                  <a:pt x="216282" y="161501"/>
                </a:lnTo>
                <a:lnTo>
                  <a:pt x="232181" y="168867"/>
                </a:lnTo>
                <a:cubicBezTo>
                  <a:pt x="236144" y="170685"/>
                  <a:pt x="238661" y="174648"/>
                  <a:pt x="238661" y="179031"/>
                </a:cubicBezTo>
                <a:cubicBezTo>
                  <a:pt x="238661" y="183413"/>
                  <a:pt x="236144" y="187376"/>
                  <a:pt x="232181" y="189195"/>
                </a:cubicBezTo>
                <a:lnTo>
                  <a:pt x="130264" y="236283"/>
                </a:lnTo>
                <a:cubicBezTo>
                  <a:pt x="123317" y="239500"/>
                  <a:pt x="115298" y="239500"/>
                  <a:pt x="108351" y="236283"/>
                </a:cubicBezTo>
                <a:lnTo>
                  <a:pt x="6481" y="189195"/>
                </a:lnTo>
                <a:cubicBezTo>
                  <a:pt x="2518" y="187330"/>
                  <a:pt x="0" y="183367"/>
                  <a:pt x="0" y="179031"/>
                </a:cubicBezTo>
                <a:cubicBezTo>
                  <a:pt x="0" y="174695"/>
                  <a:pt x="2518" y="170685"/>
                  <a:pt x="6481" y="168867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79988" y="2578044"/>
            <a:ext cx="1551601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抽象文件系统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6123" y="3174814"/>
            <a:ext cx="4630931" cy="549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API 采用</a:t>
            </a:r>
            <a:r>
              <a:rPr lang="en-US" sz="131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抽象文件系统</a:t>
            </a: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的设计模式，提供统一的文件系统接口。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6123" y="3861098"/>
            <a:ext cx="4547383" cy="572899"/>
          </a:xfrm>
          <a:custGeom>
            <a:avLst/>
            <a:gdLst/>
            <a:ahLst/>
            <a:cxnLst/>
            <a:rect l="l" t="t" r="r" b="b"/>
            <a:pathLst>
              <a:path w="4547383" h="572899">
                <a:moveTo>
                  <a:pt x="95485" y="0"/>
                </a:moveTo>
                <a:lnTo>
                  <a:pt x="4451898" y="0"/>
                </a:lnTo>
                <a:cubicBezTo>
                  <a:pt x="4504633" y="0"/>
                  <a:pt x="4547383" y="42750"/>
                  <a:pt x="4547383" y="95485"/>
                </a:cubicBezTo>
                <a:lnTo>
                  <a:pt x="4547383" y="477414"/>
                </a:lnTo>
                <a:cubicBezTo>
                  <a:pt x="4547383" y="530149"/>
                  <a:pt x="4504633" y="572899"/>
                  <a:pt x="4451898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1606" y="3956581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核心抽象类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606" y="4147548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FileSystem fs = FileSystem.get(conf);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6123" y="4577222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07090" y="4529480"/>
            <a:ext cx="2088693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统一接口：本地、HDFS、S3 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6123" y="4815930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7090" y="4768188"/>
            <a:ext cx="1790308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可扩展性：易于添加新实现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6123" y="5054637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7090" y="5006896"/>
            <a:ext cx="2076758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透明性：应用无需关心底层存储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4368" y="2267724"/>
            <a:ext cx="4953186" cy="3318038"/>
          </a:xfrm>
          <a:custGeom>
            <a:avLst/>
            <a:gdLst/>
            <a:ahLst/>
            <a:cxnLst/>
            <a:rect l="l" t="t" r="r" b="b"/>
            <a:pathLst>
              <a:path w="4953186" h="3318038">
                <a:moveTo>
                  <a:pt x="47742" y="0"/>
                </a:moveTo>
                <a:lnTo>
                  <a:pt x="4857693" y="0"/>
                </a:lnTo>
                <a:cubicBezTo>
                  <a:pt x="4910433" y="0"/>
                  <a:pt x="4953186" y="42754"/>
                  <a:pt x="4953186" y="95493"/>
                </a:cubicBezTo>
                <a:lnTo>
                  <a:pt x="4953186" y="3222545"/>
                </a:lnTo>
                <a:cubicBezTo>
                  <a:pt x="4953186" y="3275284"/>
                  <a:pt x="4910433" y="3318038"/>
                  <a:pt x="4857693" y="3318038"/>
                </a:cubicBez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64368" y="2267724"/>
            <a:ext cx="47742" cy="3318038"/>
          </a:xfrm>
          <a:custGeom>
            <a:avLst/>
            <a:gdLst/>
            <a:ahLst/>
            <a:cxnLst/>
            <a:rect l="l" t="t" r="r" b="b"/>
            <a:pathLst>
              <a:path w="47742" h="3318038">
                <a:moveTo>
                  <a:pt x="47742" y="0"/>
                </a:moveTo>
                <a:lnTo>
                  <a:pt x="47742" y="0"/>
                </a:lnTo>
                <a:lnTo>
                  <a:pt x="47742" y="3318038"/>
                </a:ln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879205" y="2458690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95485" y="0"/>
                </a:moveTo>
                <a:lnTo>
                  <a:pt x="477414" y="0"/>
                </a:lnTo>
                <a:cubicBezTo>
                  <a:pt x="530149" y="0"/>
                  <a:pt x="572899" y="42750"/>
                  <a:pt x="572899" y="95485"/>
                </a:cubicBezTo>
                <a:lnTo>
                  <a:pt x="572899" y="477414"/>
                </a:lnTo>
                <a:cubicBezTo>
                  <a:pt x="572899" y="530149"/>
                  <a:pt x="530149" y="572899"/>
                  <a:pt x="477414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46300" y="2625786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90961" y="4429"/>
                </a:moveTo>
                <a:cubicBezTo>
                  <a:pt x="92359" y="-2471"/>
                  <a:pt x="98467" y="-7460"/>
                  <a:pt x="105554" y="-7460"/>
                </a:cubicBezTo>
                <a:lnTo>
                  <a:pt x="133434" y="-7460"/>
                </a:lnTo>
                <a:cubicBezTo>
                  <a:pt x="140521" y="-7460"/>
                  <a:pt x="146628" y="-2471"/>
                  <a:pt x="148027" y="4429"/>
                </a:cubicBezTo>
                <a:lnTo>
                  <a:pt x="154787" y="37065"/>
                </a:lnTo>
                <a:cubicBezTo>
                  <a:pt x="161361" y="39862"/>
                  <a:pt x="167515" y="43452"/>
                  <a:pt x="173110" y="47695"/>
                </a:cubicBezTo>
                <a:lnTo>
                  <a:pt x="204720" y="37205"/>
                </a:lnTo>
                <a:cubicBezTo>
                  <a:pt x="211434" y="34967"/>
                  <a:pt x="218800" y="37764"/>
                  <a:pt x="222343" y="43919"/>
                </a:cubicBezTo>
                <a:lnTo>
                  <a:pt x="236283" y="68069"/>
                </a:lnTo>
                <a:cubicBezTo>
                  <a:pt x="239827" y="74223"/>
                  <a:pt x="238568" y="81963"/>
                  <a:pt x="233253" y="86671"/>
                </a:cubicBezTo>
                <a:lnTo>
                  <a:pt x="208403" y="108771"/>
                </a:lnTo>
                <a:cubicBezTo>
                  <a:pt x="208823" y="112221"/>
                  <a:pt x="209009" y="115764"/>
                  <a:pt x="209009" y="119354"/>
                </a:cubicBezTo>
                <a:cubicBezTo>
                  <a:pt x="209009" y="122944"/>
                  <a:pt x="208776" y="126487"/>
                  <a:pt x="208403" y="129937"/>
                </a:cubicBezTo>
                <a:lnTo>
                  <a:pt x="233300" y="152083"/>
                </a:lnTo>
                <a:cubicBezTo>
                  <a:pt x="238615" y="156792"/>
                  <a:pt x="239827" y="164578"/>
                  <a:pt x="236330" y="170685"/>
                </a:cubicBezTo>
                <a:lnTo>
                  <a:pt x="222390" y="194836"/>
                </a:lnTo>
                <a:cubicBezTo>
                  <a:pt x="218847" y="200943"/>
                  <a:pt x="211480" y="203787"/>
                  <a:pt x="204767" y="201550"/>
                </a:cubicBezTo>
                <a:lnTo>
                  <a:pt x="173156" y="191059"/>
                </a:lnTo>
                <a:cubicBezTo>
                  <a:pt x="167515" y="195302"/>
                  <a:pt x="161361" y="198845"/>
                  <a:pt x="154834" y="201689"/>
                </a:cubicBezTo>
                <a:lnTo>
                  <a:pt x="148120" y="234279"/>
                </a:lnTo>
                <a:cubicBezTo>
                  <a:pt x="146675" y="241225"/>
                  <a:pt x="140567" y="246167"/>
                  <a:pt x="133527" y="246167"/>
                </a:cubicBezTo>
                <a:lnTo>
                  <a:pt x="105647" y="246167"/>
                </a:lnTo>
                <a:cubicBezTo>
                  <a:pt x="98560" y="246167"/>
                  <a:pt x="92453" y="241179"/>
                  <a:pt x="91054" y="234279"/>
                </a:cubicBezTo>
                <a:lnTo>
                  <a:pt x="84340" y="201689"/>
                </a:lnTo>
                <a:cubicBezTo>
                  <a:pt x="77767" y="198892"/>
                  <a:pt x="71659" y="195302"/>
                  <a:pt x="66018" y="191059"/>
                </a:cubicBezTo>
                <a:lnTo>
                  <a:pt x="34268" y="201550"/>
                </a:lnTo>
                <a:cubicBezTo>
                  <a:pt x="27554" y="203787"/>
                  <a:pt x="20188" y="200990"/>
                  <a:pt x="16644" y="194836"/>
                </a:cubicBezTo>
                <a:lnTo>
                  <a:pt x="2704" y="170685"/>
                </a:lnTo>
                <a:cubicBezTo>
                  <a:pt x="-839" y="164531"/>
                  <a:pt x="420" y="156792"/>
                  <a:pt x="5735" y="152083"/>
                </a:cubicBezTo>
                <a:lnTo>
                  <a:pt x="30631" y="129937"/>
                </a:lnTo>
                <a:cubicBezTo>
                  <a:pt x="30211" y="126487"/>
                  <a:pt x="30025" y="122944"/>
                  <a:pt x="30025" y="119354"/>
                </a:cubicBezTo>
                <a:cubicBezTo>
                  <a:pt x="30025" y="115764"/>
                  <a:pt x="30258" y="112221"/>
                  <a:pt x="30631" y="108771"/>
                </a:cubicBezTo>
                <a:lnTo>
                  <a:pt x="5735" y="86625"/>
                </a:lnTo>
                <a:cubicBezTo>
                  <a:pt x="420" y="81916"/>
                  <a:pt x="-793" y="74130"/>
                  <a:pt x="2704" y="68022"/>
                </a:cubicBezTo>
                <a:lnTo>
                  <a:pt x="16644" y="43872"/>
                </a:lnTo>
                <a:cubicBezTo>
                  <a:pt x="20188" y="37718"/>
                  <a:pt x="27554" y="34920"/>
                  <a:pt x="34268" y="37158"/>
                </a:cubicBezTo>
                <a:lnTo>
                  <a:pt x="65878" y="47648"/>
                </a:lnTo>
                <a:cubicBezTo>
                  <a:pt x="71519" y="43406"/>
                  <a:pt x="77673" y="39862"/>
                  <a:pt x="84200" y="37018"/>
                </a:cubicBezTo>
                <a:lnTo>
                  <a:pt x="90961" y="4429"/>
                </a:lnTo>
                <a:close/>
                <a:moveTo>
                  <a:pt x="119494" y="156652"/>
                </a:moveTo>
                <a:cubicBezTo>
                  <a:pt x="132819" y="156602"/>
                  <a:pt x="145106" y="149447"/>
                  <a:pt x="151725" y="137882"/>
                </a:cubicBezTo>
                <a:cubicBezTo>
                  <a:pt x="158344" y="126317"/>
                  <a:pt x="158291" y="112099"/>
                  <a:pt x="151585" y="100584"/>
                </a:cubicBezTo>
                <a:cubicBezTo>
                  <a:pt x="144879" y="89069"/>
                  <a:pt x="132539" y="82006"/>
                  <a:pt x="119214" y="82056"/>
                </a:cubicBezTo>
                <a:cubicBezTo>
                  <a:pt x="105889" y="82106"/>
                  <a:pt x="93602" y="89261"/>
                  <a:pt x="86983" y="100826"/>
                </a:cubicBezTo>
                <a:cubicBezTo>
                  <a:pt x="80363" y="112391"/>
                  <a:pt x="80417" y="126609"/>
                  <a:pt x="87123" y="138124"/>
                </a:cubicBezTo>
                <a:cubicBezTo>
                  <a:pt x="93829" y="149639"/>
                  <a:pt x="106168" y="156702"/>
                  <a:pt x="119494" y="15665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43070" y="2578044"/>
            <a:ext cx="1551601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配置驱动设计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79205" y="3174814"/>
            <a:ext cx="4630931" cy="549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316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</a:t>
            </a: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对象决定使用哪种文件系统，实现灵活切换。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79205" y="3861098"/>
            <a:ext cx="4547383" cy="572899"/>
          </a:xfrm>
          <a:custGeom>
            <a:avLst/>
            <a:gdLst/>
            <a:ahLst/>
            <a:cxnLst/>
            <a:rect l="l" t="t" r="r" b="b"/>
            <a:pathLst>
              <a:path w="4547383" h="572899">
                <a:moveTo>
                  <a:pt x="95485" y="0"/>
                </a:moveTo>
                <a:lnTo>
                  <a:pt x="4451898" y="0"/>
                </a:lnTo>
                <a:cubicBezTo>
                  <a:pt x="4504633" y="0"/>
                  <a:pt x="4547383" y="42750"/>
                  <a:pt x="4547383" y="95485"/>
                </a:cubicBezTo>
                <a:lnTo>
                  <a:pt x="4547383" y="477414"/>
                </a:lnTo>
                <a:cubicBezTo>
                  <a:pt x="4547383" y="530149"/>
                  <a:pt x="4504633" y="572899"/>
                  <a:pt x="4451898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74688" y="3956581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通过配置决定文件系统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74688" y="4147548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conf.set("fs.defaultFS", "hdfs://namenode:9000");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79205" y="4529480"/>
            <a:ext cx="46189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HDFS: hdfs://namenode:9000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79205" y="4768188"/>
            <a:ext cx="46189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本地: file:///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9205" y="5006896"/>
            <a:ext cx="46189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S3: s3a://bucket/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27543" y="2267724"/>
            <a:ext cx="4953186" cy="3318038"/>
          </a:xfrm>
          <a:custGeom>
            <a:avLst/>
            <a:gdLst/>
            <a:ahLst/>
            <a:cxnLst/>
            <a:rect l="l" t="t" r="r" b="b"/>
            <a:pathLst>
              <a:path w="4953186" h="3318038">
                <a:moveTo>
                  <a:pt x="47742" y="0"/>
                </a:moveTo>
                <a:lnTo>
                  <a:pt x="4857693" y="0"/>
                </a:lnTo>
                <a:cubicBezTo>
                  <a:pt x="4910433" y="0"/>
                  <a:pt x="4953186" y="42754"/>
                  <a:pt x="4953186" y="95493"/>
                </a:cubicBezTo>
                <a:lnTo>
                  <a:pt x="4953186" y="3222545"/>
                </a:lnTo>
                <a:cubicBezTo>
                  <a:pt x="4953186" y="3275284"/>
                  <a:pt x="4910433" y="3318038"/>
                  <a:pt x="4857693" y="3318038"/>
                </a:cubicBez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827543" y="2267724"/>
            <a:ext cx="47742" cy="3318038"/>
          </a:xfrm>
          <a:custGeom>
            <a:avLst/>
            <a:gdLst/>
            <a:ahLst/>
            <a:cxnLst/>
            <a:rect l="l" t="t" r="r" b="b"/>
            <a:pathLst>
              <a:path w="47742" h="3318038">
                <a:moveTo>
                  <a:pt x="47742" y="0"/>
                </a:moveTo>
                <a:lnTo>
                  <a:pt x="47742" y="0"/>
                </a:lnTo>
                <a:lnTo>
                  <a:pt x="47742" y="3318038"/>
                </a:lnTo>
                <a:lnTo>
                  <a:pt x="47742" y="3318038"/>
                </a:lnTo>
                <a:cubicBezTo>
                  <a:pt x="21375" y="3318038"/>
                  <a:pt x="0" y="3296664"/>
                  <a:pt x="0" y="327029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042380" y="2458690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95485" y="0"/>
                </a:moveTo>
                <a:lnTo>
                  <a:pt x="477414" y="0"/>
                </a:lnTo>
                <a:cubicBezTo>
                  <a:pt x="530149" y="0"/>
                  <a:pt x="572899" y="42750"/>
                  <a:pt x="572899" y="95485"/>
                </a:cubicBezTo>
                <a:lnTo>
                  <a:pt x="572899" y="477414"/>
                </a:lnTo>
                <a:cubicBezTo>
                  <a:pt x="572899" y="530149"/>
                  <a:pt x="530149" y="572899"/>
                  <a:pt x="477414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209475" y="2625786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0" y="44758"/>
                </a:moveTo>
                <a:cubicBezTo>
                  <a:pt x="0" y="36506"/>
                  <a:pt x="6667" y="29838"/>
                  <a:pt x="14919" y="29838"/>
                </a:cubicBezTo>
                <a:lnTo>
                  <a:pt x="193950" y="29838"/>
                </a:lnTo>
                <a:cubicBezTo>
                  <a:pt x="202202" y="29838"/>
                  <a:pt x="208869" y="36506"/>
                  <a:pt x="208869" y="44758"/>
                </a:cubicBezTo>
                <a:cubicBezTo>
                  <a:pt x="208869" y="53010"/>
                  <a:pt x="202202" y="59677"/>
                  <a:pt x="193950" y="59677"/>
                </a:cubicBezTo>
                <a:lnTo>
                  <a:pt x="14919" y="59677"/>
                </a:lnTo>
                <a:cubicBezTo>
                  <a:pt x="6667" y="59677"/>
                  <a:pt x="0" y="53010"/>
                  <a:pt x="0" y="44758"/>
                </a:cubicBezTo>
                <a:close/>
                <a:moveTo>
                  <a:pt x="29838" y="119354"/>
                </a:moveTo>
                <a:cubicBezTo>
                  <a:pt x="29838" y="111102"/>
                  <a:pt x="36506" y="104435"/>
                  <a:pt x="44758" y="104435"/>
                </a:cubicBezTo>
                <a:lnTo>
                  <a:pt x="223789" y="104435"/>
                </a:lnTo>
                <a:cubicBezTo>
                  <a:pt x="232041" y="104435"/>
                  <a:pt x="238708" y="111102"/>
                  <a:pt x="238708" y="119354"/>
                </a:cubicBezTo>
                <a:cubicBezTo>
                  <a:pt x="238708" y="127606"/>
                  <a:pt x="232041" y="134273"/>
                  <a:pt x="223789" y="134273"/>
                </a:cubicBezTo>
                <a:lnTo>
                  <a:pt x="44758" y="134273"/>
                </a:lnTo>
                <a:cubicBezTo>
                  <a:pt x="36506" y="134273"/>
                  <a:pt x="29838" y="127606"/>
                  <a:pt x="29838" y="119354"/>
                </a:cubicBezTo>
                <a:close/>
                <a:moveTo>
                  <a:pt x="208869" y="193950"/>
                </a:moveTo>
                <a:cubicBezTo>
                  <a:pt x="208869" y="202202"/>
                  <a:pt x="202202" y="208869"/>
                  <a:pt x="193950" y="208869"/>
                </a:cubicBezTo>
                <a:lnTo>
                  <a:pt x="14919" y="208869"/>
                </a:lnTo>
                <a:cubicBezTo>
                  <a:pt x="6667" y="208869"/>
                  <a:pt x="0" y="202202"/>
                  <a:pt x="0" y="193950"/>
                </a:cubicBezTo>
                <a:cubicBezTo>
                  <a:pt x="0" y="185698"/>
                  <a:pt x="6667" y="179031"/>
                  <a:pt x="14919" y="179031"/>
                </a:cubicBezTo>
                <a:lnTo>
                  <a:pt x="193950" y="179031"/>
                </a:lnTo>
                <a:cubicBezTo>
                  <a:pt x="202202" y="179031"/>
                  <a:pt x="208869" y="185698"/>
                  <a:pt x="208869" y="19395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806244" y="2578044"/>
            <a:ext cx="1551601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流式处理设计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42380" y="3174814"/>
            <a:ext cx="4630931" cy="549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API 采用</a:t>
            </a:r>
            <a:r>
              <a:rPr lang="en-US" sz="1316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流式处理</a:t>
            </a:r>
            <a:r>
              <a:rPr lang="en-US" sz="131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，支持大文件的高效处理和随机访问。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42380" y="3861098"/>
            <a:ext cx="4547383" cy="763865"/>
          </a:xfrm>
          <a:custGeom>
            <a:avLst/>
            <a:gdLst/>
            <a:ahLst/>
            <a:cxnLst/>
            <a:rect l="l" t="t" r="r" b="b"/>
            <a:pathLst>
              <a:path w="4547383" h="763865">
                <a:moveTo>
                  <a:pt x="95483" y="0"/>
                </a:moveTo>
                <a:lnTo>
                  <a:pt x="4451900" y="0"/>
                </a:lnTo>
                <a:cubicBezTo>
                  <a:pt x="4504634" y="0"/>
                  <a:pt x="4547383" y="42749"/>
                  <a:pt x="4547383" y="95483"/>
                </a:cubicBezTo>
                <a:lnTo>
                  <a:pt x="4547383" y="668382"/>
                </a:lnTo>
                <a:cubicBezTo>
                  <a:pt x="4547383" y="721116"/>
                  <a:pt x="4504634" y="763865"/>
                  <a:pt x="4451900" y="763865"/>
                </a:cubicBezTo>
                <a:lnTo>
                  <a:pt x="95483" y="763865"/>
                </a:lnTo>
                <a:cubicBezTo>
                  <a:pt x="42749" y="763865"/>
                  <a:pt x="0" y="721116"/>
                  <a:pt x="0" y="668382"/>
                </a:cubicBezTo>
                <a:lnTo>
                  <a:pt x="0" y="95483"/>
                </a:lnTo>
                <a:cubicBezTo>
                  <a:pt x="0" y="42785"/>
                  <a:pt x="42785" y="0"/>
                  <a:pt x="954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137863" y="3956581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输入流支持随机访问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37863" y="4147548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FSDataInputStream in = fs.open(path);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37863" y="4338514"/>
            <a:ext cx="442802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in.seek(1024); // 跳转到指定位置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42380" y="4768188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33346" y="4720446"/>
            <a:ext cx="1360634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支持大文件高效处理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42380" y="5006896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233346" y="4959154"/>
            <a:ext cx="1360634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随机访问和流式写入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042380" y="5245604"/>
            <a:ext cx="95483" cy="95483"/>
          </a:xfrm>
          <a:custGeom>
            <a:avLst/>
            <a:gdLst/>
            <a:ahLst/>
            <a:cxnLst/>
            <a:rect l="l" t="t" r="r" b="b"/>
            <a:pathLst>
              <a:path w="95483" h="95483">
                <a:moveTo>
                  <a:pt x="47742" y="0"/>
                </a:moveTo>
                <a:lnTo>
                  <a:pt x="47742" y="0"/>
                </a:lnTo>
                <a:cubicBezTo>
                  <a:pt x="74091" y="0"/>
                  <a:pt x="95483" y="21392"/>
                  <a:pt x="95483" y="47742"/>
                </a:cubicBezTo>
                <a:lnTo>
                  <a:pt x="95483" y="47742"/>
                </a:lnTo>
                <a:cubicBezTo>
                  <a:pt x="95483" y="74091"/>
                  <a:pt x="74091" y="95483"/>
                  <a:pt x="47742" y="95483"/>
                </a:cubicBezTo>
                <a:lnTo>
                  <a:pt x="47742" y="95483"/>
                </a:lnTo>
                <a:cubicBezTo>
                  <a:pt x="21392" y="95483"/>
                  <a:pt x="0" y="74091"/>
                  <a:pt x="0" y="4774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233346" y="5197862"/>
            <a:ext cx="1503859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内存友好，低资源消耗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3383" y="5776728"/>
            <a:ext cx="15289233" cy="2876429"/>
          </a:xfrm>
          <a:custGeom>
            <a:avLst/>
            <a:gdLst/>
            <a:ahLst/>
            <a:cxnLst/>
            <a:rect l="l" t="t" r="r" b="b"/>
            <a:pathLst>
              <a:path w="15289233" h="2876429">
                <a:moveTo>
                  <a:pt x="95497" y="0"/>
                </a:moveTo>
                <a:lnTo>
                  <a:pt x="15193736" y="0"/>
                </a:lnTo>
                <a:cubicBezTo>
                  <a:pt x="15246478" y="0"/>
                  <a:pt x="15289233" y="42756"/>
                  <a:pt x="15289233" y="95497"/>
                </a:cubicBezTo>
                <a:lnTo>
                  <a:pt x="15289233" y="2780931"/>
                </a:lnTo>
                <a:cubicBezTo>
                  <a:pt x="15289233" y="2833673"/>
                  <a:pt x="15246478" y="2876429"/>
                  <a:pt x="15193736" y="2876429"/>
                </a:cubicBezTo>
                <a:lnTo>
                  <a:pt x="95497" y="2876429"/>
                </a:lnTo>
                <a:cubicBezTo>
                  <a:pt x="42756" y="2876429"/>
                  <a:pt x="0" y="2833673"/>
                  <a:pt x="0" y="2780931"/>
                </a:cubicBezTo>
                <a:lnTo>
                  <a:pt x="0" y="95497"/>
                </a:lnTo>
                <a:cubicBezTo>
                  <a:pt x="0" y="42791"/>
                  <a:pt x="42791" y="0"/>
                  <a:pt x="9549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42978" y="6069145"/>
            <a:ext cx="268546" cy="238708"/>
          </a:xfrm>
          <a:custGeom>
            <a:avLst/>
            <a:gdLst/>
            <a:ahLst/>
            <a:cxnLst/>
            <a:rect l="l" t="t" r="r" b="b"/>
            <a:pathLst>
              <a:path w="268546" h="238708">
                <a:moveTo>
                  <a:pt x="168214" y="559"/>
                </a:moveTo>
                <a:cubicBezTo>
                  <a:pt x="160289" y="-1725"/>
                  <a:pt x="152036" y="2891"/>
                  <a:pt x="149752" y="10816"/>
                </a:cubicBezTo>
                <a:lnTo>
                  <a:pt x="90075" y="219686"/>
                </a:lnTo>
                <a:cubicBezTo>
                  <a:pt x="87790" y="227612"/>
                  <a:pt x="92406" y="235864"/>
                  <a:pt x="100332" y="238148"/>
                </a:cubicBezTo>
                <a:cubicBezTo>
                  <a:pt x="108258" y="240433"/>
                  <a:pt x="116510" y="235817"/>
                  <a:pt x="118794" y="227891"/>
                </a:cubicBezTo>
                <a:lnTo>
                  <a:pt x="178471" y="19022"/>
                </a:lnTo>
                <a:cubicBezTo>
                  <a:pt x="180756" y="11096"/>
                  <a:pt x="176140" y="2844"/>
                  <a:pt x="168214" y="559"/>
                </a:cubicBezTo>
                <a:close/>
                <a:moveTo>
                  <a:pt x="198333" y="64013"/>
                </a:moveTo>
                <a:cubicBezTo>
                  <a:pt x="192505" y="69841"/>
                  <a:pt x="192505" y="79305"/>
                  <a:pt x="198333" y="85133"/>
                </a:cubicBezTo>
                <a:lnTo>
                  <a:pt x="232554" y="119354"/>
                </a:lnTo>
                <a:lnTo>
                  <a:pt x="198333" y="153575"/>
                </a:lnTo>
                <a:cubicBezTo>
                  <a:pt x="192505" y="159403"/>
                  <a:pt x="192505" y="168867"/>
                  <a:pt x="198333" y="174695"/>
                </a:cubicBezTo>
                <a:cubicBezTo>
                  <a:pt x="204160" y="180523"/>
                  <a:pt x="213625" y="180523"/>
                  <a:pt x="219453" y="174695"/>
                </a:cubicBezTo>
                <a:lnTo>
                  <a:pt x="264210" y="129937"/>
                </a:lnTo>
                <a:cubicBezTo>
                  <a:pt x="270038" y="124109"/>
                  <a:pt x="270038" y="114645"/>
                  <a:pt x="264210" y="108817"/>
                </a:cubicBezTo>
                <a:lnTo>
                  <a:pt x="219453" y="64059"/>
                </a:lnTo>
                <a:cubicBezTo>
                  <a:pt x="213625" y="58232"/>
                  <a:pt x="204160" y="58232"/>
                  <a:pt x="198333" y="64059"/>
                </a:cubicBezTo>
                <a:close/>
                <a:moveTo>
                  <a:pt x="70260" y="64013"/>
                </a:moveTo>
                <a:cubicBezTo>
                  <a:pt x="64432" y="58185"/>
                  <a:pt x="54968" y="58185"/>
                  <a:pt x="49140" y="64013"/>
                </a:cubicBezTo>
                <a:lnTo>
                  <a:pt x="4383" y="108771"/>
                </a:lnTo>
                <a:cubicBezTo>
                  <a:pt x="-1445" y="114598"/>
                  <a:pt x="-1445" y="124063"/>
                  <a:pt x="4383" y="129891"/>
                </a:cubicBezTo>
                <a:lnTo>
                  <a:pt x="49140" y="174648"/>
                </a:lnTo>
                <a:cubicBezTo>
                  <a:pt x="54968" y="180476"/>
                  <a:pt x="64432" y="180476"/>
                  <a:pt x="70260" y="174648"/>
                </a:cubicBezTo>
                <a:cubicBezTo>
                  <a:pt x="76088" y="168820"/>
                  <a:pt x="76088" y="159356"/>
                  <a:pt x="70260" y="153528"/>
                </a:cubicBezTo>
                <a:lnTo>
                  <a:pt x="36039" y="119354"/>
                </a:lnTo>
                <a:lnTo>
                  <a:pt x="70214" y="85133"/>
                </a:lnTo>
                <a:cubicBezTo>
                  <a:pt x="76041" y="79305"/>
                  <a:pt x="76041" y="69841"/>
                  <a:pt x="70214" y="6401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26443" y="6021404"/>
            <a:ext cx="14620852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 依赖配置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8059" y="6546561"/>
            <a:ext cx="14799883" cy="1861921"/>
          </a:xfrm>
          <a:custGeom>
            <a:avLst/>
            <a:gdLst/>
            <a:ahLst/>
            <a:cxnLst/>
            <a:rect l="l" t="t" r="r" b="b"/>
            <a:pathLst>
              <a:path w="14799883" h="1861921">
                <a:moveTo>
                  <a:pt x="95479" y="0"/>
                </a:moveTo>
                <a:lnTo>
                  <a:pt x="14704403" y="0"/>
                </a:lnTo>
                <a:cubicBezTo>
                  <a:pt x="14757135" y="0"/>
                  <a:pt x="14799883" y="42748"/>
                  <a:pt x="14799883" y="95479"/>
                </a:cubicBezTo>
                <a:lnTo>
                  <a:pt x="14799883" y="1766441"/>
                </a:lnTo>
                <a:cubicBezTo>
                  <a:pt x="14799883" y="1819173"/>
                  <a:pt x="14757135" y="1861921"/>
                  <a:pt x="14704403" y="1861921"/>
                </a:cubicBezTo>
                <a:lnTo>
                  <a:pt x="95479" y="1861921"/>
                </a:lnTo>
                <a:cubicBezTo>
                  <a:pt x="42748" y="1861921"/>
                  <a:pt x="0" y="1819173"/>
                  <a:pt x="0" y="1766441"/>
                </a:cubicBezTo>
                <a:lnTo>
                  <a:pt x="0" y="95479"/>
                </a:lnTo>
                <a:cubicBezTo>
                  <a:pt x="0" y="42748"/>
                  <a:pt x="42748" y="0"/>
                  <a:pt x="9547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19025" y="6737527"/>
            <a:ext cx="14489562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9025" y="7023977"/>
            <a:ext cx="14489562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9991" y="7262684"/>
            <a:ext cx="142985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org.apache.hadoop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9991" y="7501392"/>
            <a:ext cx="142985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hadoop-client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9991" y="7740100"/>
            <a:ext cx="14298596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3.4.2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9025" y="7978808"/>
            <a:ext cx="14489562" cy="19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201333" cy="349250"/>
          </a:xfrm>
          <a:custGeom>
            <a:avLst/>
            <a:gdLst/>
            <a:ahLst/>
            <a:cxnLst/>
            <a:rect l="l" t="t" r="r" b="b"/>
            <a:pathLst>
              <a:path w="2201333" h="349250">
                <a:moveTo>
                  <a:pt x="174625" y="0"/>
                </a:moveTo>
                <a:lnTo>
                  <a:pt x="2026708" y="0"/>
                </a:lnTo>
                <a:cubicBezTo>
                  <a:pt x="2123086" y="0"/>
                  <a:pt x="2201333" y="78247"/>
                  <a:pt x="2201333" y="174625"/>
                </a:cubicBezTo>
                <a:lnTo>
                  <a:pt x="2201333" y="174625"/>
                </a:lnTo>
                <a:cubicBezTo>
                  <a:pt x="2201333" y="271003"/>
                  <a:pt x="2123086" y="349250"/>
                  <a:pt x="2026708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194080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API PRACTICE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API 实战示例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66746" y="972347"/>
            <a:ext cx="4062942" cy="38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 HDFS Java API 使用示例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344606"/>
            <a:ext cx="7588250" cy="2655881"/>
          </a:xfrm>
          <a:custGeom>
            <a:avLst/>
            <a:gdLst/>
            <a:ahLst/>
            <a:cxnLst/>
            <a:rect l="l" t="t" r="r" b="b"/>
            <a:pathLst>
              <a:path w="7588250" h="2973917">
                <a:moveTo>
                  <a:pt x="84667" y="0"/>
                </a:moveTo>
                <a:lnTo>
                  <a:pt x="7503583" y="0"/>
                </a:lnTo>
                <a:cubicBezTo>
                  <a:pt x="7550343" y="0"/>
                  <a:pt x="7588250" y="37907"/>
                  <a:pt x="7588250" y="84667"/>
                </a:cubicBezTo>
                <a:lnTo>
                  <a:pt x="7588250" y="2889249"/>
                </a:lnTo>
                <a:cubicBezTo>
                  <a:pt x="7588250" y="2936010"/>
                  <a:pt x="7550343" y="2973917"/>
                  <a:pt x="7503583" y="2973917"/>
                </a:cubicBezTo>
                <a:lnTo>
                  <a:pt x="84667" y="2973917"/>
                </a:lnTo>
                <a:cubicBezTo>
                  <a:pt x="37907" y="2973917"/>
                  <a:pt x="0" y="2936010"/>
                  <a:pt x="0" y="2889249"/>
                </a:cubicBezTo>
                <a:lnTo>
                  <a:pt x="0" y="84667"/>
                </a:lnTo>
                <a:cubicBezTo>
                  <a:pt x="0" y="37938"/>
                  <a:pt x="37938" y="0"/>
                  <a:pt x="8466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3948" y="15287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89000" y="1475835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文件上传示例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5583" y="1799157"/>
            <a:ext cx="7154333" cy="2116667"/>
          </a:xfrm>
          <a:custGeom>
            <a:avLst/>
            <a:gdLst/>
            <a:ahLst/>
            <a:cxnLst/>
            <a:rect l="l" t="t" r="r" b="b"/>
            <a:pathLst>
              <a:path w="7154333" h="2116667">
                <a:moveTo>
                  <a:pt x="84667" y="0"/>
                </a:moveTo>
                <a:lnTo>
                  <a:pt x="7069667" y="0"/>
                </a:lnTo>
                <a:cubicBezTo>
                  <a:pt x="7116427" y="0"/>
                  <a:pt x="7154333" y="37907"/>
                  <a:pt x="7154333" y="84667"/>
                </a:cubicBezTo>
                <a:lnTo>
                  <a:pt x="7154333" y="2032000"/>
                </a:lnTo>
                <a:cubicBezTo>
                  <a:pt x="7154333" y="2078760"/>
                  <a:pt x="7116427" y="2116667"/>
                  <a:pt x="7069667" y="2116667"/>
                </a:cubicBezTo>
                <a:lnTo>
                  <a:pt x="84667" y="2116667"/>
                </a:lnTo>
                <a:cubicBezTo>
                  <a:pt x="37907" y="2116667"/>
                  <a:pt x="0" y="2078760"/>
                  <a:pt x="0" y="203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2583" y="1926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获取文件系统实例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583" y="209549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 conf = new Configuration();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583" y="2264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conf.set("fs.defaultFS", "hdfs://namenode:9000");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583" y="2434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FileSystem fs = FileSystem.get(conf);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2583" y="2688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上传文件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2583" y="285749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localPath = new Path("/local/file.txt");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583" y="3026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hdfsPath = new Path("/user/hadoop/file.txt");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2583" y="3196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fs.copyFromLocalFile(localPath, hdfsPath);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583" y="3450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关闭资源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583" y="361949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fs.close();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39125" y="1344606"/>
            <a:ext cx="7588250" cy="2655881"/>
          </a:xfrm>
          <a:custGeom>
            <a:avLst/>
            <a:gdLst/>
            <a:ahLst/>
            <a:cxnLst/>
            <a:rect l="l" t="t" r="r" b="b"/>
            <a:pathLst>
              <a:path w="7588250" h="2973917">
                <a:moveTo>
                  <a:pt x="84667" y="0"/>
                </a:moveTo>
                <a:lnTo>
                  <a:pt x="7503583" y="0"/>
                </a:lnTo>
                <a:cubicBezTo>
                  <a:pt x="7550343" y="0"/>
                  <a:pt x="7588250" y="37907"/>
                  <a:pt x="7588250" y="84667"/>
                </a:cubicBezTo>
                <a:lnTo>
                  <a:pt x="7588250" y="2889249"/>
                </a:lnTo>
                <a:cubicBezTo>
                  <a:pt x="7588250" y="2936010"/>
                  <a:pt x="7550343" y="2973917"/>
                  <a:pt x="7503583" y="2973917"/>
                </a:cubicBezTo>
                <a:lnTo>
                  <a:pt x="84667" y="2973917"/>
                </a:lnTo>
                <a:cubicBezTo>
                  <a:pt x="37907" y="2973917"/>
                  <a:pt x="0" y="2936010"/>
                  <a:pt x="0" y="2889249"/>
                </a:cubicBezTo>
                <a:lnTo>
                  <a:pt x="0" y="84667"/>
                </a:lnTo>
                <a:cubicBezTo>
                  <a:pt x="0" y="37938"/>
                  <a:pt x="37938" y="0"/>
                  <a:pt x="8466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94448" y="15287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99500" y="1475835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文件下载示例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56083" y="1799157"/>
            <a:ext cx="7154333" cy="1947333"/>
          </a:xfrm>
          <a:custGeom>
            <a:avLst/>
            <a:gdLst/>
            <a:ahLst/>
            <a:cxnLst/>
            <a:rect l="l" t="t" r="r" b="b"/>
            <a:pathLst>
              <a:path w="7154333" h="1947333">
                <a:moveTo>
                  <a:pt x="84670" y="0"/>
                </a:moveTo>
                <a:lnTo>
                  <a:pt x="7069663" y="0"/>
                </a:lnTo>
                <a:cubicBezTo>
                  <a:pt x="7116425" y="0"/>
                  <a:pt x="7154333" y="37908"/>
                  <a:pt x="7154333" y="84670"/>
                </a:cubicBezTo>
                <a:lnTo>
                  <a:pt x="7154333" y="1862663"/>
                </a:lnTo>
                <a:cubicBezTo>
                  <a:pt x="7154333" y="1909425"/>
                  <a:pt x="7116425" y="1947333"/>
                  <a:pt x="7069663" y="1947333"/>
                </a:cubicBezTo>
                <a:lnTo>
                  <a:pt x="84670" y="1947333"/>
                </a:lnTo>
                <a:cubicBezTo>
                  <a:pt x="37908" y="1947333"/>
                  <a:pt x="0" y="1909425"/>
                  <a:pt x="0" y="1862663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83083" y="1926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获取文件系统实例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3083" y="209549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 conf = new Configuration();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3083" y="2264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FileSystem fs = FileSystem.get(conf);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3083" y="2518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下载文件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3083" y="2688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hdfsPath = new Path("/user/hadoop/file.txt");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3083" y="285749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localPath = new Path("/local/download.txt");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3083" y="3026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fs.copyToLocalFile(hdfsPath, localPath);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3083" y="328082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关闭资源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3083" y="345015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fs.close();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8625" y="4084092"/>
            <a:ext cx="7588250" cy="2301875"/>
          </a:xfrm>
          <a:custGeom>
            <a:avLst/>
            <a:gdLst/>
            <a:ahLst/>
            <a:cxnLst/>
            <a:rect l="l" t="t" r="r" b="b"/>
            <a:pathLst>
              <a:path w="7588250" h="2635250">
                <a:moveTo>
                  <a:pt x="84671" y="0"/>
                </a:moveTo>
                <a:lnTo>
                  <a:pt x="7503579" y="0"/>
                </a:lnTo>
                <a:cubicBezTo>
                  <a:pt x="7550342" y="0"/>
                  <a:pt x="7588250" y="37908"/>
                  <a:pt x="7588250" y="84671"/>
                </a:cubicBezTo>
                <a:lnTo>
                  <a:pt x="7588250" y="2550579"/>
                </a:lnTo>
                <a:cubicBezTo>
                  <a:pt x="7588250" y="2597342"/>
                  <a:pt x="7550342" y="2635250"/>
                  <a:pt x="7503579" y="2635250"/>
                </a:cubicBezTo>
                <a:lnTo>
                  <a:pt x="84671" y="2635250"/>
                </a:lnTo>
                <a:cubicBezTo>
                  <a:pt x="37908" y="2635250"/>
                  <a:pt x="0" y="2597342"/>
                  <a:pt x="0" y="2550579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95854" y="421108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9000" y="4158171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文件读取示例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583" y="4510067"/>
            <a:ext cx="7154333" cy="1608667"/>
          </a:xfrm>
          <a:custGeom>
            <a:avLst/>
            <a:gdLst/>
            <a:ahLst/>
            <a:cxnLst/>
            <a:rect l="l" t="t" r="r" b="b"/>
            <a:pathLst>
              <a:path w="7154333" h="1608667">
                <a:moveTo>
                  <a:pt x="84664" y="0"/>
                </a:moveTo>
                <a:lnTo>
                  <a:pt x="7069669" y="0"/>
                </a:lnTo>
                <a:cubicBezTo>
                  <a:pt x="7116428" y="0"/>
                  <a:pt x="7154333" y="37905"/>
                  <a:pt x="7154333" y="84664"/>
                </a:cubicBezTo>
                <a:lnTo>
                  <a:pt x="7154333" y="1524003"/>
                </a:lnTo>
                <a:cubicBezTo>
                  <a:pt x="7154333" y="1570761"/>
                  <a:pt x="7116428" y="1608667"/>
                  <a:pt x="7069669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2583" y="463706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打开文件输入流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2583" y="4806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FSDataInputStream in = fs.open(hdfsPath);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2583" y="5060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读取数据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2583" y="5229734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byte[] buffer = new byte[4096];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2583" y="539906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 bytesRead = in.read(buffer);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2583" y="565306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关闭流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2583" y="5822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in.close();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39125" y="4084092"/>
            <a:ext cx="7588250" cy="2301875"/>
          </a:xfrm>
          <a:custGeom>
            <a:avLst/>
            <a:gdLst/>
            <a:ahLst/>
            <a:cxnLst/>
            <a:rect l="l" t="t" r="r" b="b"/>
            <a:pathLst>
              <a:path w="7588250" h="2635250">
                <a:moveTo>
                  <a:pt x="84671" y="0"/>
                </a:moveTo>
                <a:lnTo>
                  <a:pt x="7503579" y="0"/>
                </a:lnTo>
                <a:cubicBezTo>
                  <a:pt x="7550342" y="0"/>
                  <a:pt x="7588250" y="37908"/>
                  <a:pt x="7588250" y="84671"/>
                </a:cubicBezTo>
                <a:lnTo>
                  <a:pt x="7588250" y="2550579"/>
                </a:lnTo>
                <a:cubicBezTo>
                  <a:pt x="7588250" y="2597342"/>
                  <a:pt x="7550342" y="2635250"/>
                  <a:pt x="7503579" y="2635250"/>
                </a:cubicBezTo>
                <a:lnTo>
                  <a:pt x="84671" y="2635250"/>
                </a:lnTo>
                <a:cubicBezTo>
                  <a:pt x="37908" y="2635250"/>
                  <a:pt x="0" y="2597342"/>
                  <a:pt x="0" y="2550579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82542" y="421108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99500" y="4158171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文件写入示例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56083" y="4510067"/>
            <a:ext cx="7154333" cy="1778000"/>
          </a:xfrm>
          <a:custGeom>
            <a:avLst/>
            <a:gdLst/>
            <a:ahLst/>
            <a:cxnLst/>
            <a:rect l="l" t="t" r="r" b="b"/>
            <a:pathLst>
              <a:path w="7154333" h="1778000">
                <a:moveTo>
                  <a:pt x="84668" y="0"/>
                </a:moveTo>
                <a:lnTo>
                  <a:pt x="7069665" y="0"/>
                </a:lnTo>
                <a:cubicBezTo>
                  <a:pt x="7116426" y="0"/>
                  <a:pt x="7154333" y="37907"/>
                  <a:pt x="7154333" y="84668"/>
                </a:cubicBezTo>
                <a:lnTo>
                  <a:pt x="7154333" y="1693332"/>
                </a:lnTo>
                <a:cubicBezTo>
                  <a:pt x="7154333" y="1740093"/>
                  <a:pt x="7116426" y="1778000"/>
                  <a:pt x="7069665" y="1778000"/>
                </a:cubicBezTo>
                <a:lnTo>
                  <a:pt x="84668" y="1778000"/>
                </a:lnTo>
                <a:cubicBezTo>
                  <a:pt x="37907" y="1778000"/>
                  <a:pt x="0" y="1740093"/>
                  <a:pt x="0" y="169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83083" y="463706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创建文件输出流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83083" y="4806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FSDataOutputStream out = fs.create(hdfsPath);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83083" y="5060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写入数据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83083" y="5229734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data = "Hello HDFS!";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83083" y="5399067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out.write(data.getBytes());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83083" y="5568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out.flush();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83083" y="5822400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关闭流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83083" y="5991734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out.close();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8625" y="6484925"/>
            <a:ext cx="15398750" cy="2587631"/>
          </a:xfrm>
          <a:custGeom>
            <a:avLst/>
            <a:gdLst/>
            <a:ahLst/>
            <a:cxnLst/>
            <a:rect l="l" t="t" r="r" b="b"/>
            <a:pathLst>
              <a:path w="15398750" h="2889250">
                <a:moveTo>
                  <a:pt x="84655" y="0"/>
                </a:moveTo>
                <a:lnTo>
                  <a:pt x="15314095" y="0"/>
                </a:lnTo>
                <a:cubicBezTo>
                  <a:pt x="15360849" y="0"/>
                  <a:pt x="15398750" y="37901"/>
                  <a:pt x="15398750" y="84655"/>
                </a:cubicBezTo>
                <a:lnTo>
                  <a:pt x="15398750" y="2804595"/>
                </a:lnTo>
                <a:cubicBezTo>
                  <a:pt x="15398750" y="2851349"/>
                  <a:pt x="15360849" y="2889250"/>
                  <a:pt x="15314095" y="2889250"/>
                </a:cubicBezTo>
                <a:lnTo>
                  <a:pt x="84655" y="2889250"/>
                </a:lnTo>
                <a:cubicBezTo>
                  <a:pt x="37901" y="2889250"/>
                  <a:pt x="0" y="2851349"/>
                  <a:pt x="0" y="2804595"/>
                </a:cubicBezTo>
                <a:lnTo>
                  <a:pt x="0" y="84655"/>
                </a:lnTo>
                <a:cubicBezTo>
                  <a:pt x="0" y="37933"/>
                  <a:pt x="37933" y="0"/>
                  <a:pt x="8465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72042" y="662991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185208"/>
                </a:moveTo>
                <a:lnTo>
                  <a:pt x="185208" y="185208"/>
                </a:lnTo>
                <a:cubicBezTo>
                  <a:pt x="199802" y="185208"/>
                  <a:pt x="211667" y="173343"/>
                  <a:pt x="211667" y="158750"/>
                </a:cubicBezTo>
                <a:lnTo>
                  <a:pt x="211667" y="59531"/>
                </a:lnTo>
                <a:cubicBezTo>
                  <a:pt x="211667" y="44938"/>
                  <a:pt x="199802" y="33073"/>
                  <a:pt x="185208" y="33073"/>
                </a:cubicBezTo>
                <a:lnTo>
                  <a:pt x="123486" y="33073"/>
                </a:lnTo>
                <a:cubicBezTo>
                  <a:pt x="120633" y="33073"/>
                  <a:pt x="117822" y="32163"/>
                  <a:pt x="115549" y="30427"/>
                </a:cubicBezTo>
                <a:lnTo>
                  <a:pt x="99674" y="18521"/>
                </a:lnTo>
                <a:cubicBezTo>
                  <a:pt x="95085" y="15090"/>
                  <a:pt x="89504" y="13229"/>
                  <a:pt x="83799" y="13229"/>
                </a:cubicBezTo>
                <a:lnTo>
                  <a:pt x="26458" y="13229"/>
                </a:lnTo>
                <a:cubicBezTo>
                  <a:pt x="11865" y="13229"/>
                  <a:pt x="0" y="25094"/>
                  <a:pt x="0" y="39688"/>
                </a:cubicBezTo>
                <a:lnTo>
                  <a:pt x="0" y="158750"/>
                </a:lnTo>
                <a:cubicBezTo>
                  <a:pt x="0" y="173343"/>
                  <a:pt x="11865" y="185208"/>
                  <a:pt x="26458" y="18520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10167" y="6587579"/>
            <a:ext cx="14806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目录操作示例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5583" y="6939475"/>
            <a:ext cx="14964833" cy="2032000"/>
          </a:xfrm>
          <a:custGeom>
            <a:avLst/>
            <a:gdLst/>
            <a:ahLst/>
            <a:cxnLst/>
            <a:rect l="l" t="t" r="r" b="b"/>
            <a:pathLst>
              <a:path w="14964833" h="2032000">
                <a:moveTo>
                  <a:pt x="84673" y="0"/>
                </a:moveTo>
                <a:lnTo>
                  <a:pt x="14880160" y="0"/>
                </a:lnTo>
                <a:cubicBezTo>
                  <a:pt x="14926924" y="0"/>
                  <a:pt x="14964833" y="37910"/>
                  <a:pt x="14964833" y="84673"/>
                </a:cubicBezTo>
                <a:lnTo>
                  <a:pt x="14964833" y="1947327"/>
                </a:lnTo>
                <a:cubicBezTo>
                  <a:pt x="14964833" y="1994090"/>
                  <a:pt x="14926924" y="2032000"/>
                  <a:pt x="14880160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72583" y="7066475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创建目录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2583" y="7235808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dirPath = new Path("/user/hadoop/newdir");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72583" y="7405141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fs.mkdirs(dirPath);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72583" y="7659141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删除文件或目录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2583" y="7828475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fs.delete(hdfsPath, false); // false 表示不递归删除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72583" y="8082475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判断文件是否存在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72583" y="8251808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boolean exists = fs.exists(hdfsPath);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2583" y="8505808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4. 获取文件状态信息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72583" y="8675141"/>
            <a:ext cx="14774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FileStatus status = fs.getFileStatus(hdfsPath);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490788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101599" y="0"/>
                </a:moveTo>
                <a:lnTo>
                  <a:pt x="901701" y="0"/>
                </a:lnTo>
                <a:cubicBezTo>
                  <a:pt x="957812" y="0"/>
                  <a:pt x="1003300" y="45488"/>
                  <a:pt x="1003300" y="101599"/>
                </a:cubicBezTo>
                <a:lnTo>
                  <a:pt x="1003300" y="622301"/>
                </a:lnTo>
                <a:cubicBezTo>
                  <a:pt x="1003300" y="678412"/>
                  <a:pt x="957812" y="723900"/>
                  <a:pt x="9017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636838"/>
            <a:ext cx="52913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274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075238"/>
            <a:ext cx="87249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核心要点回顾与适用场景分析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972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352800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适用场景分析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64055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42000" y="630396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使用限制说明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301750" cy="349250"/>
          </a:xfrm>
          <a:custGeom>
            <a:avLst/>
            <a:gdLst/>
            <a:ahLst/>
            <a:cxnLst/>
            <a:rect l="l" t="t" r="r" b="b"/>
            <a:pathLst>
              <a:path w="1301750" h="349250">
                <a:moveTo>
                  <a:pt x="174625" y="0"/>
                </a:moveTo>
                <a:lnTo>
                  <a:pt x="1127125" y="0"/>
                </a:lnTo>
                <a:cubicBezTo>
                  <a:pt x="1223503" y="0"/>
                  <a:pt x="1301750" y="78247"/>
                  <a:pt x="1301750" y="174625"/>
                </a:cubicBezTo>
                <a:lnTo>
                  <a:pt x="1301750" y="174625"/>
                </a:lnTo>
                <a:cubicBezTo>
                  <a:pt x="1301750" y="271003"/>
                  <a:pt x="1223503" y="349250"/>
                  <a:pt x="112712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104130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核心要点回顾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95347" y="1030819"/>
            <a:ext cx="5048780" cy="34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系统总结 HDFS 的核心概念与技术要点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444621"/>
            <a:ext cx="7588250" cy="3481917"/>
          </a:xfrm>
          <a:custGeom>
            <a:avLst/>
            <a:gdLst/>
            <a:ahLst/>
            <a:cxnLst/>
            <a:rect l="l" t="t" r="r" b="b"/>
            <a:pathLst>
              <a:path w="7588250" h="3481917">
                <a:moveTo>
                  <a:pt x="84680" y="0"/>
                </a:moveTo>
                <a:lnTo>
                  <a:pt x="7503570" y="0"/>
                </a:lnTo>
                <a:cubicBezTo>
                  <a:pt x="7550337" y="0"/>
                  <a:pt x="7588250" y="37913"/>
                  <a:pt x="7588250" y="84680"/>
                </a:cubicBezTo>
                <a:lnTo>
                  <a:pt x="7588250" y="3397236"/>
                </a:lnTo>
                <a:cubicBezTo>
                  <a:pt x="7588250" y="3444004"/>
                  <a:pt x="7550337" y="3481917"/>
                  <a:pt x="7503570" y="3481917"/>
                </a:cubicBezTo>
                <a:lnTo>
                  <a:pt x="84680" y="3481917"/>
                </a:lnTo>
                <a:cubicBezTo>
                  <a:pt x="37913" y="3481917"/>
                  <a:pt x="0" y="3444004"/>
                  <a:pt x="0" y="3397236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2042" y="170391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79375" y="26458"/>
                </a:moveTo>
                <a:cubicBezTo>
                  <a:pt x="79375" y="19141"/>
                  <a:pt x="85287" y="13229"/>
                  <a:pt x="92604" y="13229"/>
                </a:cubicBezTo>
                <a:lnTo>
                  <a:pt x="119063" y="13229"/>
                </a:lnTo>
                <a:cubicBezTo>
                  <a:pt x="126380" y="13229"/>
                  <a:pt x="132292" y="19141"/>
                  <a:pt x="132292" y="26458"/>
                </a:cubicBezTo>
                <a:lnTo>
                  <a:pt x="132292" y="52917"/>
                </a:lnTo>
                <a:cubicBezTo>
                  <a:pt x="132292" y="60234"/>
                  <a:pt x="126380" y="66146"/>
                  <a:pt x="119063" y="66146"/>
                </a:cubicBezTo>
                <a:lnTo>
                  <a:pt x="115755" y="66146"/>
                </a:lnTo>
                <a:lnTo>
                  <a:pt x="115755" y="92604"/>
                </a:lnTo>
                <a:lnTo>
                  <a:pt x="165365" y="92604"/>
                </a:lnTo>
                <a:cubicBezTo>
                  <a:pt x="181818" y="92604"/>
                  <a:pt x="195130" y="105916"/>
                  <a:pt x="195130" y="122370"/>
                </a:cubicBezTo>
                <a:lnTo>
                  <a:pt x="195130" y="145521"/>
                </a:lnTo>
                <a:lnTo>
                  <a:pt x="198438" y="145521"/>
                </a:lnTo>
                <a:cubicBezTo>
                  <a:pt x="205755" y="145521"/>
                  <a:pt x="211667" y="151433"/>
                  <a:pt x="211667" y="158750"/>
                </a:cubicBezTo>
                <a:lnTo>
                  <a:pt x="211667" y="185208"/>
                </a:lnTo>
                <a:cubicBezTo>
                  <a:pt x="211667" y="192526"/>
                  <a:pt x="205755" y="198438"/>
                  <a:pt x="198438" y="198438"/>
                </a:cubicBezTo>
                <a:lnTo>
                  <a:pt x="171979" y="198438"/>
                </a:lnTo>
                <a:cubicBezTo>
                  <a:pt x="164662" y="198438"/>
                  <a:pt x="158750" y="192526"/>
                  <a:pt x="158750" y="185208"/>
                </a:cubicBezTo>
                <a:lnTo>
                  <a:pt x="158750" y="158750"/>
                </a:lnTo>
                <a:cubicBezTo>
                  <a:pt x="158750" y="151433"/>
                  <a:pt x="164662" y="145521"/>
                  <a:pt x="171979" y="145521"/>
                </a:cubicBezTo>
                <a:lnTo>
                  <a:pt x="175286" y="145521"/>
                </a:lnTo>
                <a:lnTo>
                  <a:pt x="175286" y="122370"/>
                </a:lnTo>
                <a:cubicBezTo>
                  <a:pt x="175286" y="116871"/>
                  <a:pt x="170863" y="112448"/>
                  <a:pt x="165365" y="112448"/>
                </a:cubicBezTo>
                <a:lnTo>
                  <a:pt x="115755" y="112448"/>
                </a:lnTo>
                <a:lnTo>
                  <a:pt x="115755" y="145521"/>
                </a:lnTo>
                <a:lnTo>
                  <a:pt x="119063" y="145521"/>
                </a:lnTo>
                <a:cubicBezTo>
                  <a:pt x="126380" y="145521"/>
                  <a:pt x="132292" y="151433"/>
                  <a:pt x="132292" y="158750"/>
                </a:cubicBezTo>
                <a:lnTo>
                  <a:pt x="132292" y="185208"/>
                </a:lnTo>
                <a:cubicBezTo>
                  <a:pt x="132292" y="192526"/>
                  <a:pt x="126380" y="198438"/>
                  <a:pt x="119063" y="198438"/>
                </a:cubicBezTo>
                <a:lnTo>
                  <a:pt x="92604" y="198438"/>
                </a:lnTo>
                <a:cubicBezTo>
                  <a:pt x="85287" y="198438"/>
                  <a:pt x="79375" y="192526"/>
                  <a:pt x="79375" y="185208"/>
                </a:cubicBezTo>
                <a:lnTo>
                  <a:pt x="79375" y="158750"/>
                </a:lnTo>
                <a:cubicBezTo>
                  <a:pt x="79375" y="151433"/>
                  <a:pt x="85287" y="145521"/>
                  <a:pt x="92604" y="145521"/>
                </a:cubicBezTo>
                <a:lnTo>
                  <a:pt x="95911" y="145521"/>
                </a:lnTo>
                <a:lnTo>
                  <a:pt x="95911" y="112448"/>
                </a:lnTo>
                <a:lnTo>
                  <a:pt x="46302" y="112448"/>
                </a:lnTo>
                <a:cubicBezTo>
                  <a:pt x="40804" y="112448"/>
                  <a:pt x="36380" y="116871"/>
                  <a:pt x="36380" y="122370"/>
                </a:cubicBezTo>
                <a:lnTo>
                  <a:pt x="36380" y="145521"/>
                </a:lnTo>
                <a:lnTo>
                  <a:pt x="39688" y="145521"/>
                </a:lnTo>
                <a:cubicBezTo>
                  <a:pt x="47005" y="145521"/>
                  <a:pt x="52917" y="151433"/>
                  <a:pt x="52917" y="158750"/>
                </a:cubicBezTo>
                <a:lnTo>
                  <a:pt x="52917" y="185208"/>
                </a:lnTo>
                <a:cubicBezTo>
                  <a:pt x="52917" y="192526"/>
                  <a:pt x="47005" y="198438"/>
                  <a:pt x="39688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58750"/>
                </a:lnTo>
                <a:cubicBezTo>
                  <a:pt x="0" y="151433"/>
                  <a:pt x="5912" y="145521"/>
                  <a:pt x="13229" y="145521"/>
                </a:cubicBezTo>
                <a:lnTo>
                  <a:pt x="16536" y="145521"/>
                </a:lnTo>
                <a:lnTo>
                  <a:pt x="16536" y="122370"/>
                </a:lnTo>
                <a:cubicBezTo>
                  <a:pt x="16536" y="105916"/>
                  <a:pt x="29848" y="92604"/>
                  <a:pt x="46302" y="92604"/>
                </a:cubicBezTo>
                <a:lnTo>
                  <a:pt x="95911" y="92604"/>
                </a:lnTo>
                <a:lnTo>
                  <a:pt x="95911" y="66146"/>
                </a:lnTo>
                <a:lnTo>
                  <a:pt x="92604" y="66146"/>
                </a:lnTo>
                <a:cubicBezTo>
                  <a:pt x="85287" y="66146"/>
                  <a:pt x="79375" y="60234"/>
                  <a:pt x="79375" y="52917"/>
                </a:cubicBezTo>
                <a:lnTo>
                  <a:pt x="79375" y="26458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0167" y="1661579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架构特点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58" y="208491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61458" y="208491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4333" y="2169579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333" y="2423579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负责元数据管理，DataNode 负责数据存储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1458" y="2762246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61458" y="2762246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333" y="284691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333" y="310091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数据分块存储在多个节点上，提供高容量和高吞吐量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458" y="3439579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61458" y="3439579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4333" y="3524246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333" y="3778246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通过多副本机制和故障检测实现高可靠性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39125" y="1444621"/>
            <a:ext cx="7588250" cy="3481917"/>
          </a:xfrm>
          <a:custGeom>
            <a:avLst/>
            <a:gdLst/>
            <a:ahLst/>
            <a:cxnLst/>
            <a:rect l="l" t="t" r="r" b="b"/>
            <a:pathLst>
              <a:path w="7588250" h="3481917">
                <a:moveTo>
                  <a:pt x="84680" y="0"/>
                </a:moveTo>
                <a:lnTo>
                  <a:pt x="7503570" y="0"/>
                </a:lnTo>
                <a:cubicBezTo>
                  <a:pt x="7550337" y="0"/>
                  <a:pt x="7588250" y="37913"/>
                  <a:pt x="7588250" y="84680"/>
                </a:cubicBezTo>
                <a:lnTo>
                  <a:pt x="7588250" y="3397236"/>
                </a:lnTo>
                <a:cubicBezTo>
                  <a:pt x="7588250" y="3444004"/>
                  <a:pt x="7550337" y="3481917"/>
                  <a:pt x="7503570" y="3481917"/>
                </a:cubicBezTo>
                <a:lnTo>
                  <a:pt x="84680" y="3481917"/>
                </a:lnTo>
                <a:cubicBezTo>
                  <a:pt x="37913" y="3481917"/>
                  <a:pt x="0" y="3444004"/>
                  <a:pt x="0" y="3397236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82542" y="170391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8906" y="145521"/>
                </a:moveTo>
                <a:cubicBezTo>
                  <a:pt x="179090" y="145521"/>
                  <a:pt x="211667" y="112944"/>
                  <a:pt x="211667" y="72760"/>
                </a:cubicBezTo>
                <a:cubicBezTo>
                  <a:pt x="211667" y="32577"/>
                  <a:pt x="179090" y="0"/>
                  <a:pt x="138906" y="0"/>
                </a:cubicBezTo>
                <a:cubicBezTo>
                  <a:pt x="98723" y="0"/>
                  <a:pt x="66146" y="32577"/>
                  <a:pt x="66146" y="72760"/>
                </a:cubicBezTo>
                <a:cubicBezTo>
                  <a:pt x="66146" y="80491"/>
                  <a:pt x="67345" y="87974"/>
                  <a:pt x="69577" y="94961"/>
                </a:cubicBezTo>
                <a:lnTo>
                  <a:pt x="2894" y="161644"/>
                </a:lnTo>
                <a:cubicBezTo>
                  <a:pt x="1034" y="163504"/>
                  <a:pt x="0" y="166026"/>
                  <a:pt x="0" y="168672"/>
                </a:cubicBezTo>
                <a:lnTo>
                  <a:pt x="0" y="201745"/>
                </a:lnTo>
                <a:cubicBezTo>
                  <a:pt x="0" y="207243"/>
                  <a:pt x="4424" y="211667"/>
                  <a:pt x="9922" y="211667"/>
                </a:cubicBezTo>
                <a:lnTo>
                  <a:pt x="42995" y="211667"/>
                </a:lnTo>
                <a:cubicBezTo>
                  <a:pt x="48493" y="211667"/>
                  <a:pt x="52917" y="207243"/>
                  <a:pt x="52917" y="201745"/>
                </a:cubicBezTo>
                <a:lnTo>
                  <a:pt x="52917" y="185208"/>
                </a:lnTo>
                <a:lnTo>
                  <a:pt x="69453" y="185208"/>
                </a:lnTo>
                <a:cubicBezTo>
                  <a:pt x="74951" y="185208"/>
                  <a:pt x="79375" y="180785"/>
                  <a:pt x="79375" y="175286"/>
                </a:cubicBezTo>
                <a:lnTo>
                  <a:pt x="79375" y="158750"/>
                </a:lnTo>
                <a:lnTo>
                  <a:pt x="95911" y="158750"/>
                </a:lnTo>
                <a:cubicBezTo>
                  <a:pt x="98557" y="158750"/>
                  <a:pt x="101079" y="157716"/>
                  <a:pt x="102939" y="155856"/>
                </a:cubicBezTo>
                <a:lnTo>
                  <a:pt x="116706" y="142090"/>
                </a:lnTo>
                <a:cubicBezTo>
                  <a:pt x="123693" y="144322"/>
                  <a:pt x="131175" y="145521"/>
                  <a:pt x="138906" y="145521"/>
                </a:cubicBezTo>
                <a:close/>
                <a:moveTo>
                  <a:pt x="155443" y="39688"/>
                </a:moveTo>
                <a:cubicBezTo>
                  <a:pt x="164569" y="39688"/>
                  <a:pt x="171979" y="47097"/>
                  <a:pt x="171979" y="56224"/>
                </a:cubicBezTo>
                <a:cubicBezTo>
                  <a:pt x="171979" y="65351"/>
                  <a:pt x="164569" y="72760"/>
                  <a:pt x="155443" y="72760"/>
                </a:cubicBezTo>
                <a:cubicBezTo>
                  <a:pt x="146316" y="72760"/>
                  <a:pt x="138906" y="65351"/>
                  <a:pt x="138906" y="56224"/>
                </a:cubicBezTo>
                <a:cubicBezTo>
                  <a:pt x="138906" y="47097"/>
                  <a:pt x="146316" y="39688"/>
                  <a:pt x="155443" y="39688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20667" y="1661579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关键技术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71958" y="208491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71958" y="208491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14833" y="2169579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数据块管理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14833" y="2423579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大块存储减少元数据开销，提高传输效率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71958" y="2762246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71958" y="2762246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14833" y="284691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副本策略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14833" y="310091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机架感知的副本放置，平衡可靠性和网络开销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71958" y="3439579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471958" y="3439579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14833" y="3524246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网络拓扑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14833" y="3778246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基于距离的数据本地性优化，提高访问性能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71958" y="411691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71958" y="411691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14833" y="4201579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14833" y="4455579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确保文件写入的一致性和原子性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8625" y="5106454"/>
            <a:ext cx="7588250" cy="2804583"/>
          </a:xfrm>
          <a:custGeom>
            <a:avLst/>
            <a:gdLst/>
            <a:ahLst/>
            <a:cxnLst/>
            <a:rect l="l" t="t" r="r" b="b"/>
            <a:pathLst>
              <a:path w="7588250" h="2804583">
                <a:moveTo>
                  <a:pt x="84670" y="0"/>
                </a:moveTo>
                <a:lnTo>
                  <a:pt x="7503580" y="0"/>
                </a:lnTo>
                <a:cubicBezTo>
                  <a:pt x="7550342" y="0"/>
                  <a:pt x="7588250" y="37908"/>
                  <a:pt x="7588250" y="84670"/>
                </a:cubicBezTo>
                <a:lnTo>
                  <a:pt x="7588250" y="2719913"/>
                </a:lnTo>
                <a:cubicBezTo>
                  <a:pt x="7588250" y="2766675"/>
                  <a:pt x="7550342" y="2804583"/>
                  <a:pt x="7503580" y="2804583"/>
                </a:cubicBezTo>
                <a:lnTo>
                  <a:pt x="84670" y="2804583"/>
                </a:lnTo>
                <a:cubicBezTo>
                  <a:pt x="37908" y="2804583"/>
                  <a:pt x="0" y="2766675"/>
                  <a:pt x="0" y="27199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72042" y="5365746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07735" y="0"/>
                  <a:pt x="109637" y="413"/>
                  <a:pt x="111373" y="1199"/>
                </a:cubicBezTo>
                <a:lnTo>
                  <a:pt x="189260" y="34230"/>
                </a:lnTo>
                <a:cubicBezTo>
                  <a:pt x="198355" y="38075"/>
                  <a:pt x="205135" y="47046"/>
                  <a:pt x="205093" y="57878"/>
                </a:cubicBezTo>
                <a:cubicBezTo>
                  <a:pt x="204887" y="98888"/>
                  <a:pt x="188020" y="173922"/>
                  <a:pt x="116789" y="208029"/>
                </a:cubicBezTo>
                <a:cubicBezTo>
                  <a:pt x="109885" y="211336"/>
                  <a:pt x="101865" y="211336"/>
                  <a:pt x="94961" y="208029"/>
                </a:cubicBezTo>
                <a:cubicBezTo>
                  <a:pt x="23688" y="173922"/>
                  <a:pt x="6863" y="98888"/>
                  <a:pt x="6656" y="57878"/>
                </a:cubicBezTo>
                <a:cubicBezTo>
                  <a:pt x="6615" y="47046"/>
                  <a:pt x="13395" y="38075"/>
                  <a:pt x="22490" y="34230"/>
                </a:cubicBezTo>
                <a:lnTo>
                  <a:pt x="100335" y="1199"/>
                </a:lnTo>
                <a:cubicBezTo>
                  <a:pt x="102071" y="413"/>
                  <a:pt x="103932" y="0"/>
                  <a:pt x="105833" y="0"/>
                </a:cubicBezTo>
                <a:close/>
                <a:moveTo>
                  <a:pt x="105833" y="27616"/>
                </a:moveTo>
                <a:lnTo>
                  <a:pt x="105833" y="183927"/>
                </a:lnTo>
                <a:cubicBezTo>
                  <a:pt x="162884" y="156311"/>
                  <a:pt x="178222" y="95126"/>
                  <a:pt x="178594" y="58498"/>
                </a:cubicBezTo>
                <a:lnTo>
                  <a:pt x="105833" y="27657"/>
                </a:lnTo>
                <a:lnTo>
                  <a:pt x="105833" y="27657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10167" y="532341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容错保障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1458" y="5746746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61458" y="5746746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04333" y="583141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4333" y="608541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定期检测节点健康状态，3秒间隔，10.5分钟超时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61458" y="6424079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61458" y="6424079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04333" y="6508746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校验和机制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4333" y="6762746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CRC32 校验和保证数据完整性，读写时验证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1458" y="710141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61458" y="710141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04333" y="7186079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自动副本修复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4333" y="7440079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检测副本异常，按优先级自动调度修复任务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39125" y="5106454"/>
            <a:ext cx="7588250" cy="2804583"/>
          </a:xfrm>
          <a:custGeom>
            <a:avLst/>
            <a:gdLst/>
            <a:ahLst/>
            <a:cxnLst/>
            <a:rect l="l" t="t" r="r" b="b"/>
            <a:pathLst>
              <a:path w="7588250" h="2804583">
                <a:moveTo>
                  <a:pt x="84670" y="0"/>
                </a:moveTo>
                <a:lnTo>
                  <a:pt x="7503580" y="0"/>
                </a:lnTo>
                <a:cubicBezTo>
                  <a:pt x="7550342" y="0"/>
                  <a:pt x="7588250" y="37908"/>
                  <a:pt x="7588250" y="84670"/>
                </a:cubicBezTo>
                <a:lnTo>
                  <a:pt x="7588250" y="2719913"/>
                </a:lnTo>
                <a:cubicBezTo>
                  <a:pt x="7588250" y="2766675"/>
                  <a:pt x="7550342" y="2804583"/>
                  <a:pt x="7503580" y="2804583"/>
                </a:cubicBezTo>
                <a:lnTo>
                  <a:pt x="84670" y="2804583"/>
                </a:lnTo>
                <a:cubicBezTo>
                  <a:pt x="37908" y="2804583"/>
                  <a:pt x="0" y="2766675"/>
                  <a:pt x="0" y="27199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482542" y="5365746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2917" y="132292"/>
                </a:moveTo>
                <a:lnTo>
                  <a:pt x="10129" y="132292"/>
                </a:lnTo>
                <a:cubicBezTo>
                  <a:pt x="-165" y="132292"/>
                  <a:pt x="-6491" y="121088"/>
                  <a:pt x="-1199" y="112241"/>
                </a:cubicBezTo>
                <a:lnTo>
                  <a:pt x="20671" y="75778"/>
                </a:lnTo>
                <a:cubicBezTo>
                  <a:pt x="24267" y="69784"/>
                  <a:pt x="30716" y="66146"/>
                  <a:pt x="37703" y="66146"/>
                </a:cubicBezTo>
                <a:lnTo>
                  <a:pt x="76977" y="66146"/>
                </a:lnTo>
                <a:cubicBezTo>
                  <a:pt x="108438" y="12857"/>
                  <a:pt x="155360" y="10170"/>
                  <a:pt x="186738" y="14759"/>
                </a:cubicBezTo>
                <a:cubicBezTo>
                  <a:pt x="192030" y="15544"/>
                  <a:pt x="196164" y="19678"/>
                  <a:pt x="196908" y="24929"/>
                </a:cubicBezTo>
                <a:cubicBezTo>
                  <a:pt x="201497" y="56307"/>
                  <a:pt x="198810" y="103229"/>
                  <a:pt x="145521" y="134689"/>
                </a:cubicBezTo>
                <a:lnTo>
                  <a:pt x="145521" y="173964"/>
                </a:lnTo>
                <a:cubicBezTo>
                  <a:pt x="145521" y="180950"/>
                  <a:pt x="141883" y="187399"/>
                  <a:pt x="135888" y="190996"/>
                </a:cubicBezTo>
                <a:lnTo>
                  <a:pt x="99425" y="212866"/>
                </a:lnTo>
                <a:cubicBezTo>
                  <a:pt x="90620" y="218157"/>
                  <a:pt x="79375" y="211791"/>
                  <a:pt x="79375" y="201538"/>
                </a:cubicBezTo>
                <a:lnTo>
                  <a:pt x="79375" y="158750"/>
                </a:lnTo>
                <a:cubicBezTo>
                  <a:pt x="79375" y="144157"/>
                  <a:pt x="67510" y="132292"/>
                  <a:pt x="52917" y="132292"/>
                </a:cubicBezTo>
                <a:lnTo>
                  <a:pt x="52875" y="132292"/>
                </a:lnTo>
                <a:close/>
                <a:moveTo>
                  <a:pt x="165365" y="66146"/>
                </a:moveTo>
                <a:cubicBezTo>
                  <a:pt x="165365" y="55194"/>
                  <a:pt x="156473" y="46302"/>
                  <a:pt x="145521" y="46302"/>
                </a:cubicBezTo>
                <a:cubicBezTo>
                  <a:pt x="134569" y="46302"/>
                  <a:pt x="125677" y="55194"/>
                  <a:pt x="125677" y="66146"/>
                </a:cubicBezTo>
                <a:cubicBezTo>
                  <a:pt x="125677" y="77098"/>
                  <a:pt x="134569" y="85990"/>
                  <a:pt x="145521" y="85990"/>
                </a:cubicBezTo>
                <a:cubicBezTo>
                  <a:pt x="156473" y="85990"/>
                  <a:pt x="165365" y="77098"/>
                  <a:pt x="165365" y="6614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20667" y="532341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高级特性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71958" y="5746746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471958" y="5746746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614833" y="5831413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14833" y="6085413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 NameNode 管理独立命名空间，解决扩展性问题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71958" y="6424079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471958" y="6424079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614833" y="6508746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14833" y="6762746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Active/Standby NameNode，QJM 共享存储，消除单点故障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71958" y="7101413"/>
            <a:ext cx="7138458" cy="592667"/>
          </a:xfrm>
          <a:custGeom>
            <a:avLst/>
            <a:gdLst/>
            <a:ahLst/>
            <a:cxnLst/>
            <a:rect l="l" t="t" r="r" b="b"/>
            <a:pathLst>
              <a:path w="7138458" h="592667">
                <a:moveTo>
                  <a:pt x="31750" y="0"/>
                </a:moveTo>
                <a:lnTo>
                  <a:pt x="7096124" y="0"/>
                </a:lnTo>
                <a:cubicBezTo>
                  <a:pt x="7119505" y="0"/>
                  <a:pt x="7138458" y="18954"/>
                  <a:pt x="7138458" y="42334"/>
                </a:cubicBezTo>
                <a:lnTo>
                  <a:pt x="7138458" y="550332"/>
                </a:lnTo>
                <a:cubicBezTo>
                  <a:pt x="7138458" y="573713"/>
                  <a:pt x="7119505" y="592667"/>
                  <a:pt x="7096124" y="592667"/>
                </a:cubicBezTo>
                <a:lnTo>
                  <a:pt x="31750" y="592667"/>
                </a:lnTo>
                <a:cubicBezTo>
                  <a:pt x="14215" y="592667"/>
                  <a:pt x="0" y="578452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471958" y="7101413"/>
            <a:ext cx="31750" cy="592667"/>
          </a:xfrm>
          <a:custGeom>
            <a:avLst/>
            <a:gdLst/>
            <a:ahLst/>
            <a:cxnLst/>
            <a:rect l="l" t="t" r="r" b="b"/>
            <a:pathLst>
              <a:path w="31750" h="592667">
                <a:moveTo>
                  <a:pt x="31750" y="0"/>
                </a:moveTo>
                <a:lnTo>
                  <a:pt x="31750" y="0"/>
                </a:lnTo>
                <a:lnTo>
                  <a:pt x="31750" y="592667"/>
                </a:lnTo>
                <a:lnTo>
                  <a:pt x="31750" y="592667"/>
                </a:lnTo>
                <a:cubicBezTo>
                  <a:pt x="14227" y="592667"/>
                  <a:pt x="0" y="578440"/>
                  <a:pt x="0" y="56091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14833" y="7186079"/>
            <a:ext cx="694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纠删码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14833" y="7440079"/>
            <a:ext cx="693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 编码降低存储成本，从 300% 降至 150%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28625" y="8090954"/>
            <a:ext cx="15398750" cy="899583"/>
          </a:xfrm>
          <a:custGeom>
            <a:avLst/>
            <a:gdLst/>
            <a:ahLst/>
            <a:cxnLst/>
            <a:rect l="l" t="t" r="r" b="b"/>
            <a:pathLst>
              <a:path w="15398750" h="899583">
                <a:moveTo>
                  <a:pt x="84669" y="0"/>
                </a:moveTo>
                <a:lnTo>
                  <a:pt x="15314081" y="0"/>
                </a:lnTo>
                <a:cubicBezTo>
                  <a:pt x="15360842" y="0"/>
                  <a:pt x="15398750" y="37908"/>
                  <a:pt x="15398750" y="84669"/>
                </a:cubicBezTo>
                <a:lnTo>
                  <a:pt x="15398750" y="814915"/>
                </a:lnTo>
                <a:cubicBezTo>
                  <a:pt x="15398750" y="861676"/>
                  <a:pt x="15360842" y="899583"/>
                  <a:pt x="15314081" y="899583"/>
                </a:cubicBezTo>
                <a:lnTo>
                  <a:pt x="84669" y="899583"/>
                </a:lnTo>
                <a:cubicBezTo>
                  <a:pt x="37908" y="899583"/>
                  <a:pt x="0" y="861676"/>
                  <a:pt x="0" y="81491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19125" y="83079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12" y="97135"/>
                </a:moveTo>
                <a:lnTo>
                  <a:pt x="127595" y="139849"/>
                </a:lnTo>
                <a:cubicBezTo>
                  <a:pt x="132457" y="141833"/>
                  <a:pt x="137616" y="142875"/>
                  <a:pt x="142875" y="142875"/>
                </a:cubicBezTo>
                <a:cubicBezTo>
                  <a:pt x="148134" y="142875"/>
                  <a:pt x="153293" y="141833"/>
                  <a:pt x="158155" y="139849"/>
                </a:cubicBezTo>
                <a:lnTo>
                  <a:pt x="278408" y="90339"/>
                </a:lnTo>
                <a:cubicBezTo>
                  <a:pt x="282873" y="88503"/>
                  <a:pt x="285750" y="84187"/>
                  <a:pt x="285750" y="79375"/>
                </a:cubicBezTo>
                <a:cubicBezTo>
                  <a:pt x="285750" y="74563"/>
                  <a:pt x="282873" y="70247"/>
                  <a:pt x="278408" y="68411"/>
                </a:cubicBezTo>
                <a:lnTo>
                  <a:pt x="158155" y="18901"/>
                </a:lnTo>
                <a:cubicBezTo>
                  <a:pt x="153293" y="16917"/>
                  <a:pt x="148134" y="15875"/>
                  <a:pt x="142875" y="15875"/>
                </a:cubicBezTo>
                <a:cubicBezTo>
                  <a:pt x="137616" y="15875"/>
                  <a:pt x="132457" y="16917"/>
                  <a:pt x="127595" y="18901"/>
                </a:cubicBezTo>
                <a:lnTo>
                  <a:pt x="7342" y="68411"/>
                </a:lnTo>
                <a:cubicBezTo>
                  <a:pt x="2877" y="70247"/>
                  <a:pt x="0" y="74563"/>
                  <a:pt x="0" y="79375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cubicBezTo>
                  <a:pt x="18504" y="238125"/>
                  <a:pt x="23812" y="232817"/>
                  <a:pt x="23812" y="226219"/>
                </a:cubicBezTo>
                <a:lnTo>
                  <a:pt x="23812" y="97135"/>
                </a:lnTo>
                <a:close/>
                <a:moveTo>
                  <a:pt x="47625" y="132705"/>
                </a:moveTo>
                <a:lnTo>
                  <a:pt x="47625" y="190500"/>
                </a:lnTo>
                <a:cubicBezTo>
                  <a:pt x="47625" y="216793"/>
                  <a:pt x="90289" y="238125"/>
                  <a:pt x="142875" y="238125"/>
                </a:cubicBezTo>
                <a:cubicBezTo>
                  <a:pt x="195461" y="238125"/>
                  <a:pt x="238125" y="216793"/>
                  <a:pt x="238125" y="190500"/>
                </a:cubicBezTo>
                <a:lnTo>
                  <a:pt x="238125" y="132655"/>
                </a:lnTo>
                <a:lnTo>
                  <a:pt x="167233" y="161875"/>
                </a:lnTo>
                <a:cubicBezTo>
                  <a:pt x="159494" y="165050"/>
                  <a:pt x="151259" y="166687"/>
                  <a:pt x="142875" y="166687"/>
                </a:cubicBezTo>
                <a:cubicBezTo>
                  <a:pt x="134491" y="166687"/>
                  <a:pt x="126256" y="165050"/>
                  <a:pt x="118517" y="161875"/>
                </a:cubicBezTo>
                <a:lnTo>
                  <a:pt x="47625" y="132655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1090083" y="8265579"/>
            <a:ext cx="14647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学习建议：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HDFS 需要从架构设计、数据存储机制、读写流程、容错保障等多个维度系统学习。理解核心概念后，通过命令行操作和 Java API 编程实践加深理解。同时关注高级特性的应用场景，根据实际需求选择合适的架构方案。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921000" cy="349250"/>
          </a:xfrm>
          <a:custGeom>
            <a:avLst/>
            <a:gdLst/>
            <a:ahLst/>
            <a:cxnLst/>
            <a:rect l="l" t="t" r="r" b="b"/>
            <a:pathLst>
              <a:path w="2921000" h="349250">
                <a:moveTo>
                  <a:pt x="174625" y="0"/>
                </a:moveTo>
                <a:lnTo>
                  <a:pt x="2746375" y="0"/>
                </a:lnTo>
                <a:cubicBezTo>
                  <a:pt x="2842753" y="0"/>
                  <a:pt x="2921000" y="78247"/>
                  <a:pt x="2921000" y="174625"/>
                </a:cubicBezTo>
                <a:lnTo>
                  <a:pt x="2921000" y="174625"/>
                </a:lnTo>
                <a:cubicBezTo>
                  <a:pt x="2921000" y="271003"/>
                  <a:pt x="2842753" y="349250"/>
                  <a:pt x="27463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492125"/>
            <a:ext cx="26614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SCENARIOS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10167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适用场景与限制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22750" y="1069976"/>
            <a:ext cx="4391555" cy="343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理解何时选择 HDFS 以及如何避免常见问题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44631"/>
            <a:ext cx="7588250" cy="6360583"/>
          </a:xfrm>
          <a:custGeom>
            <a:avLst/>
            <a:gdLst/>
            <a:ahLst/>
            <a:cxnLst/>
            <a:rect l="l" t="t" r="r" b="b"/>
            <a:pathLst>
              <a:path w="7588250" h="6360583">
                <a:moveTo>
                  <a:pt x="84659" y="0"/>
                </a:moveTo>
                <a:lnTo>
                  <a:pt x="7503591" y="0"/>
                </a:lnTo>
                <a:cubicBezTo>
                  <a:pt x="7550347" y="0"/>
                  <a:pt x="7588250" y="37903"/>
                  <a:pt x="7588250" y="84659"/>
                </a:cubicBezTo>
                <a:lnTo>
                  <a:pt x="7588250" y="6275924"/>
                </a:lnTo>
                <a:cubicBezTo>
                  <a:pt x="7588250" y="6322680"/>
                  <a:pt x="7550347" y="6360583"/>
                  <a:pt x="7503591" y="6360583"/>
                </a:cubicBezTo>
                <a:lnTo>
                  <a:pt x="84659" y="6360583"/>
                </a:lnTo>
                <a:cubicBezTo>
                  <a:pt x="37903" y="6360583"/>
                  <a:pt x="0" y="6322680"/>
                  <a:pt x="0" y="6275924"/>
                </a:cubicBezTo>
                <a:lnTo>
                  <a:pt x="0" y="84659"/>
                </a:lnTo>
                <a:cubicBezTo>
                  <a:pt x="0" y="37903"/>
                  <a:pt x="37903" y="0"/>
                  <a:pt x="8465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7333" y="180392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3083" y="1761589"/>
            <a:ext cx="6963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6750" y="2269589"/>
            <a:ext cx="7133167" cy="1397000"/>
          </a:xfrm>
          <a:custGeom>
            <a:avLst/>
            <a:gdLst/>
            <a:ahLst/>
            <a:cxnLst/>
            <a:rect l="l" t="t" r="r" b="b"/>
            <a:pathLst>
              <a:path w="7133167" h="1397000">
                <a:moveTo>
                  <a:pt x="42333" y="0"/>
                </a:moveTo>
                <a:lnTo>
                  <a:pt x="7048494" y="0"/>
                </a:lnTo>
                <a:cubicBezTo>
                  <a:pt x="7095258" y="0"/>
                  <a:pt x="7133167" y="37909"/>
                  <a:pt x="7133167" y="84672"/>
                </a:cubicBezTo>
                <a:lnTo>
                  <a:pt x="7133167" y="1312328"/>
                </a:lnTo>
                <a:cubicBezTo>
                  <a:pt x="7133167" y="1359091"/>
                  <a:pt x="7095258" y="1397000"/>
                  <a:pt x="7048494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66750" y="2269589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57250" y="24389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00125" y="255533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23812" y="26789"/>
                </a:moveTo>
                <a:cubicBezTo>
                  <a:pt x="23812" y="31738"/>
                  <a:pt x="27794" y="35719"/>
                  <a:pt x="32742" y="35719"/>
                </a:cubicBezTo>
                <a:lnTo>
                  <a:pt x="50602" y="35719"/>
                </a:lnTo>
                <a:cubicBezTo>
                  <a:pt x="55550" y="35719"/>
                  <a:pt x="59531" y="31738"/>
                  <a:pt x="59531" y="26789"/>
                </a:cubicBezTo>
                <a:cubicBezTo>
                  <a:pt x="59531" y="21841"/>
                  <a:pt x="55550" y="17859"/>
                  <a:pt x="50602" y="17859"/>
                </a:cubicBezTo>
                <a:lnTo>
                  <a:pt x="32742" y="17859"/>
                </a:lnTo>
                <a:cubicBezTo>
                  <a:pt x="27794" y="17859"/>
                  <a:pt x="23812" y="21841"/>
                  <a:pt x="23812" y="26789"/>
                </a:cubicBezTo>
                <a:close/>
                <a:moveTo>
                  <a:pt x="23812" y="62508"/>
                </a:moveTo>
                <a:cubicBezTo>
                  <a:pt x="23812" y="67456"/>
                  <a:pt x="27794" y="71438"/>
                  <a:pt x="32742" y="71438"/>
                </a:cubicBezTo>
                <a:lnTo>
                  <a:pt x="50602" y="71438"/>
                </a:lnTo>
                <a:cubicBezTo>
                  <a:pt x="55550" y="71438"/>
                  <a:pt x="59531" y="67456"/>
                  <a:pt x="59531" y="62508"/>
                </a:cubicBezTo>
                <a:cubicBezTo>
                  <a:pt x="59531" y="57559"/>
                  <a:pt x="55550" y="53578"/>
                  <a:pt x="50602" y="53578"/>
                </a:cubicBezTo>
                <a:lnTo>
                  <a:pt x="32742" y="53578"/>
                </a:lnTo>
                <a:cubicBezTo>
                  <a:pt x="27794" y="53578"/>
                  <a:pt x="23812" y="57559"/>
                  <a:pt x="23812" y="62508"/>
                </a:cubicBezTo>
                <a:close/>
                <a:moveTo>
                  <a:pt x="47625" y="89297"/>
                </a:moveTo>
                <a:lnTo>
                  <a:pt x="35719" y="89297"/>
                </a:lnTo>
                <a:cubicBezTo>
                  <a:pt x="29133" y="89297"/>
                  <a:pt x="23812" y="94617"/>
                  <a:pt x="23812" y="101203"/>
                </a:cubicBezTo>
                <a:lnTo>
                  <a:pt x="23812" y="119063"/>
                </a:lnTo>
                <a:cubicBezTo>
                  <a:pt x="23812" y="128922"/>
                  <a:pt x="31812" y="136922"/>
                  <a:pt x="41672" y="136922"/>
                </a:cubicBezTo>
                <a:cubicBezTo>
                  <a:pt x="51532" y="136922"/>
                  <a:pt x="59531" y="128922"/>
                  <a:pt x="59531" y="119063"/>
                </a:cubicBezTo>
                <a:lnTo>
                  <a:pt x="59531" y="101203"/>
                </a:lnTo>
                <a:cubicBezTo>
                  <a:pt x="59531" y="94617"/>
                  <a:pt x="54211" y="89297"/>
                  <a:pt x="47625" y="89297"/>
                </a:cubicBezTo>
                <a:close/>
                <a:moveTo>
                  <a:pt x="41672" y="113109"/>
                </a:moveTo>
                <a:cubicBezTo>
                  <a:pt x="44957" y="113109"/>
                  <a:pt x="47625" y="115777"/>
                  <a:pt x="47625" y="119063"/>
                </a:cubicBezTo>
                <a:cubicBezTo>
                  <a:pt x="47625" y="122348"/>
                  <a:pt x="44957" y="125016"/>
                  <a:pt x="41672" y="125016"/>
                </a:cubicBezTo>
                <a:cubicBezTo>
                  <a:pt x="38386" y="125016"/>
                  <a:pt x="35719" y="122348"/>
                  <a:pt x="35719" y="119063"/>
                </a:cubicBezTo>
                <a:cubicBezTo>
                  <a:pt x="35719" y="115777"/>
                  <a:pt x="38386" y="113109"/>
                  <a:pt x="41672" y="113109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407583" y="2502423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大文件存储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" y="2946923"/>
            <a:ext cx="6858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适合存储 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GB 到 TB 级别的大文件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，如视频、日志、备份数据等。HDFS 的块存储机制和流式访问优化，使其在处理大文件时具有显著优势。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6750" y="3793589"/>
            <a:ext cx="7133167" cy="1397000"/>
          </a:xfrm>
          <a:custGeom>
            <a:avLst/>
            <a:gdLst/>
            <a:ahLst/>
            <a:cxnLst/>
            <a:rect l="l" t="t" r="r" b="b"/>
            <a:pathLst>
              <a:path w="7133167" h="1397000">
                <a:moveTo>
                  <a:pt x="42333" y="0"/>
                </a:moveTo>
                <a:lnTo>
                  <a:pt x="7048494" y="0"/>
                </a:lnTo>
                <a:cubicBezTo>
                  <a:pt x="7095258" y="0"/>
                  <a:pt x="7133167" y="37909"/>
                  <a:pt x="7133167" y="84672"/>
                </a:cubicBezTo>
                <a:lnTo>
                  <a:pt x="7133167" y="1312328"/>
                </a:lnTo>
                <a:cubicBezTo>
                  <a:pt x="7133167" y="1359091"/>
                  <a:pt x="7095258" y="1397000"/>
                  <a:pt x="7048494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66750" y="3793589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7250" y="39629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52500" y="407933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07583" y="4026423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批处理应用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" y="4470923"/>
            <a:ext cx="6858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MapReduce、Spark 等批处理框架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，适合大数据分析和离线计算场景。高吞吐量的数据访问能力，使其成为批处理任务的理想存储选择。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6750" y="5317589"/>
            <a:ext cx="7133167" cy="1121833"/>
          </a:xfrm>
          <a:custGeom>
            <a:avLst/>
            <a:gdLst/>
            <a:ahLst/>
            <a:cxnLst/>
            <a:rect l="l" t="t" r="r" b="b"/>
            <a:pathLst>
              <a:path w="7133167" h="1121833">
                <a:moveTo>
                  <a:pt x="42333" y="0"/>
                </a:moveTo>
                <a:lnTo>
                  <a:pt x="7048502" y="0"/>
                </a:lnTo>
                <a:cubicBezTo>
                  <a:pt x="7095261" y="0"/>
                  <a:pt x="7133167" y="37906"/>
                  <a:pt x="7133167" y="84665"/>
                </a:cubicBezTo>
                <a:lnTo>
                  <a:pt x="7133167" y="1037169"/>
                </a:lnTo>
                <a:cubicBezTo>
                  <a:pt x="7133167" y="1083928"/>
                  <a:pt x="7095261" y="1121833"/>
                  <a:pt x="70485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66750" y="5317589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7250" y="54869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88219" y="560333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407583" y="555042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250" y="5994923"/>
            <a:ext cx="6858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 </a:t>
            </a: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企业数据湖的底层存储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，支持结构化、半结构化和非结构化数据的统一存储和管理。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39125" y="1544631"/>
            <a:ext cx="7588250" cy="6360583"/>
          </a:xfrm>
          <a:custGeom>
            <a:avLst/>
            <a:gdLst/>
            <a:ahLst/>
            <a:cxnLst/>
            <a:rect l="l" t="t" r="r" b="b"/>
            <a:pathLst>
              <a:path w="7588250" h="6360583">
                <a:moveTo>
                  <a:pt x="84659" y="0"/>
                </a:moveTo>
                <a:lnTo>
                  <a:pt x="7503591" y="0"/>
                </a:lnTo>
                <a:cubicBezTo>
                  <a:pt x="7550347" y="0"/>
                  <a:pt x="7588250" y="37903"/>
                  <a:pt x="7588250" y="84659"/>
                </a:cubicBezTo>
                <a:lnTo>
                  <a:pt x="7588250" y="6275924"/>
                </a:lnTo>
                <a:cubicBezTo>
                  <a:pt x="7588250" y="6322680"/>
                  <a:pt x="7550347" y="6360583"/>
                  <a:pt x="7503591" y="6360583"/>
                </a:cubicBezTo>
                <a:lnTo>
                  <a:pt x="84659" y="6360583"/>
                </a:lnTo>
                <a:cubicBezTo>
                  <a:pt x="37903" y="6360583"/>
                  <a:pt x="0" y="6322680"/>
                  <a:pt x="0" y="6275924"/>
                </a:cubicBezTo>
                <a:lnTo>
                  <a:pt x="0" y="84659"/>
                </a:lnTo>
                <a:cubicBezTo>
                  <a:pt x="0" y="37903"/>
                  <a:pt x="37903" y="0"/>
                  <a:pt x="8465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7889A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87833" y="180392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73583" y="1761589"/>
            <a:ext cx="6963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使用限制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77250" y="2269589"/>
            <a:ext cx="7133167" cy="1397000"/>
          </a:xfrm>
          <a:custGeom>
            <a:avLst/>
            <a:gdLst/>
            <a:ahLst/>
            <a:cxnLst/>
            <a:rect l="l" t="t" r="r" b="b"/>
            <a:pathLst>
              <a:path w="7133167" h="1397000">
                <a:moveTo>
                  <a:pt x="42333" y="0"/>
                </a:moveTo>
                <a:lnTo>
                  <a:pt x="7048494" y="0"/>
                </a:lnTo>
                <a:cubicBezTo>
                  <a:pt x="7095258" y="0"/>
                  <a:pt x="7133167" y="37909"/>
                  <a:pt x="7133167" y="84672"/>
                </a:cubicBezTo>
                <a:lnTo>
                  <a:pt x="7133167" y="1312328"/>
                </a:lnTo>
                <a:cubicBezTo>
                  <a:pt x="7133167" y="1359091"/>
                  <a:pt x="7095258" y="1397000"/>
                  <a:pt x="7048494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77250" y="2269589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67750" y="24389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810625" y="255533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63438"/>
                </a:lnTo>
                <a:cubicBezTo>
                  <a:pt x="142875" y="57113"/>
                  <a:pt x="140382" y="51048"/>
                  <a:pt x="135917" y="46583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218083" y="2502423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小文件问题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67750" y="2946923"/>
            <a:ext cx="6858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大量小文件会</a:t>
            </a:r>
            <a:r>
              <a:rPr lang="en-US" sz="1333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消耗过多 NameNode 内存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，每个文件的元数据需要占用约 150 字节内存。建议小文件合并或使用 HAR 归档。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77250" y="3793589"/>
            <a:ext cx="7133167" cy="1121833"/>
          </a:xfrm>
          <a:custGeom>
            <a:avLst/>
            <a:gdLst/>
            <a:ahLst/>
            <a:cxnLst/>
            <a:rect l="l" t="t" r="r" b="b"/>
            <a:pathLst>
              <a:path w="7133167" h="1121833">
                <a:moveTo>
                  <a:pt x="42333" y="0"/>
                </a:moveTo>
                <a:lnTo>
                  <a:pt x="7048502" y="0"/>
                </a:lnTo>
                <a:cubicBezTo>
                  <a:pt x="7095261" y="0"/>
                  <a:pt x="7133167" y="37906"/>
                  <a:pt x="7133167" y="84665"/>
                </a:cubicBezTo>
                <a:lnTo>
                  <a:pt x="7133167" y="1037169"/>
                </a:lnTo>
                <a:cubicBezTo>
                  <a:pt x="7133167" y="1083928"/>
                  <a:pt x="7095261" y="1121833"/>
                  <a:pt x="70485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77250" y="3793589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67750" y="39629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786813" y="40793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218083" y="402642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随机访问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67750" y="4470923"/>
            <a:ext cx="6858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不适合需要</a:t>
            </a:r>
            <a:r>
              <a:rPr lang="en-US" sz="1333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频繁随机访问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的应用。HDFS 优化的是顺序读写，随机访问性能较差。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77250" y="5042423"/>
            <a:ext cx="7133167" cy="1397000"/>
          </a:xfrm>
          <a:custGeom>
            <a:avLst/>
            <a:gdLst/>
            <a:ahLst/>
            <a:cxnLst/>
            <a:rect l="l" t="t" r="r" b="b"/>
            <a:pathLst>
              <a:path w="7133167" h="1397000">
                <a:moveTo>
                  <a:pt x="42333" y="0"/>
                </a:moveTo>
                <a:lnTo>
                  <a:pt x="7048494" y="0"/>
                </a:lnTo>
                <a:cubicBezTo>
                  <a:pt x="7095258" y="0"/>
                  <a:pt x="7133167" y="37909"/>
                  <a:pt x="7133167" y="84672"/>
                </a:cubicBezTo>
                <a:lnTo>
                  <a:pt x="7133167" y="1312328"/>
                </a:lnTo>
                <a:cubicBezTo>
                  <a:pt x="7133167" y="1359091"/>
                  <a:pt x="7095258" y="1397000"/>
                  <a:pt x="7048494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477250" y="5042423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667750" y="521175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786813" y="5328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218083" y="5275256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低延迟要求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67750" y="5719756"/>
            <a:ext cx="6858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不适合对延迟敏感的</a:t>
            </a:r>
            <a:r>
              <a:rPr lang="en-US" sz="1333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实时应用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。HDFS 优化的是吞吐量而非延迟，读取响应时间通常在秒级。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77250" y="6566423"/>
            <a:ext cx="7133167" cy="1121833"/>
          </a:xfrm>
          <a:custGeom>
            <a:avLst/>
            <a:gdLst/>
            <a:ahLst/>
            <a:cxnLst/>
            <a:rect l="l" t="t" r="r" b="b"/>
            <a:pathLst>
              <a:path w="7133167" h="1121833">
                <a:moveTo>
                  <a:pt x="42333" y="0"/>
                </a:moveTo>
                <a:lnTo>
                  <a:pt x="7048502" y="0"/>
                </a:lnTo>
                <a:cubicBezTo>
                  <a:pt x="7095261" y="0"/>
                  <a:pt x="7133167" y="37906"/>
                  <a:pt x="7133167" y="84665"/>
                </a:cubicBezTo>
                <a:lnTo>
                  <a:pt x="7133167" y="1037169"/>
                </a:lnTo>
                <a:cubicBezTo>
                  <a:pt x="7133167" y="1083928"/>
                  <a:pt x="7095261" y="1121833"/>
                  <a:pt x="70485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7889A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77250" y="6566423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67750" y="673575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7889A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786813" y="6852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7889A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218083" y="6799256"/>
            <a:ext cx="1270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POSIX 兼容性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67750" y="7243756"/>
            <a:ext cx="6858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不完全兼容 POSIX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文件系统语义。例如，不支持文件的随机修改，只能追加写入。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8625" y="8085131"/>
            <a:ext cx="15398750" cy="899583"/>
          </a:xfrm>
          <a:custGeom>
            <a:avLst/>
            <a:gdLst/>
            <a:ahLst/>
            <a:cxnLst/>
            <a:rect l="l" t="t" r="r" b="b"/>
            <a:pathLst>
              <a:path w="15398750" h="899583">
                <a:moveTo>
                  <a:pt x="84669" y="0"/>
                </a:moveTo>
                <a:lnTo>
                  <a:pt x="15314081" y="0"/>
                </a:lnTo>
                <a:cubicBezTo>
                  <a:pt x="15360842" y="0"/>
                  <a:pt x="15398750" y="37908"/>
                  <a:pt x="15398750" y="84669"/>
                </a:cubicBezTo>
                <a:lnTo>
                  <a:pt x="15398750" y="814915"/>
                </a:lnTo>
                <a:cubicBezTo>
                  <a:pt x="15398750" y="861676"/>
                  <a:pt x="15360842" y="899583"/>
                  <a:pt x="15314081" y="899583"/>
                </a:cubicBezTo>
                <a:lnTo>
                  <a:pt x="84669" y="899583"/>
                </a:lnTo>
                <a:cubicBezTo>
                  <a:pt x="37908" y="899583"/>
                  <a:pt x="0" y="861676"/>
                  <a:pt x="0" y="81491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E59F54">
              <a:alpha val="10196"/>
            </a:srgbClr>
          </a:solidFill>
          <a:ln w="12700">
            <a:solidFill>
              <a:srgbClr val="E59F5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66750" y="8302089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90083" y="8259756"/>
            <a:ext cx="14647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59F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选择建议：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是大数据存储的基石，但并非万能。在选择 HDFS 时，需要充分评估数据特征、访问模式和性能要求。对于大文件、顺序访问、批处理场景，HDFS 是理想选择；对于小文件、随机访问、低延迟场景，建议考虑 HBase、Redis 等其他存储方案。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870200" y="20447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持续探索分布式存储世界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949799" y="3594100"/>
            <a:ext cx="8356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是大数据存储的基石，掌握其核心原理将为你深入理解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大数据生态系统奠定坚实基础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97550" y="5200650"/>
            <a:ext cx="1003300" cy="1003300"/>
          </a:xfrm>
          <a:custGeom>
            <a:avLst/>
            <a:gdLst/>
            <a:ahLst/>
            <a:cxnLst/>
            <a:rect l="l" t="t" r="r" b="b"/>
            <a:pathLst>
              <a:path w="1003300" h="1003300">
                <a:moveTo>
                  <a:pt x="101604" y="0"/>
                </a:moveTo>
                <a:lnTo>
                  <a:pt x="901696" y="0"/>
                </a:lnTo>
                <a:cubicBezTo>
                  <a:pt x="957810" y="0"/>
                  <a:pt x="1003300" y="45490"/>
                  <a:pt x="1003300" y="101604"/>
                </a:cubicBezTo>
                <a:lnTo>
                  <a:pt x="1003300" y="901696"/>
                </a:lnTo>
                <a:cubicBezTo>
                  <a:pt x="1003300" y="957810"/>
                  <a:pt x="957810" y="1003300"/>
                  <a:pt x="9016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135688" y="55118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511800" y="6413500"/>
            <a:ext cx="157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PB级数据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37200" y="69215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分布式存储能力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6350" y="5200650"/>
            <a:ext cx="1003300" cy="1003300"/>
          </a:xfrm>
          <a:custGeom>
            <a:avLst/>
            <a:gdLst/>
            <a:ahLst/>
            <a:cxnLst/>
            <a:rect l="l" t="t" r="r" b="b"/>
            <a:pathLst>
              <a:path w="1003300" h="1003300">
                <a:moveTo>
                  <a:pt x="101604" y="0"/>
                </a:moveTo>
                <a:lnTo>
                  <a:pt x="901696" y="0"/>
                </a:lnTo>
                <a:cubicBezTo>
                  <a:pt x="957810" y="0"/>
                  <a:pt x="1003300" y="45490"/>
                  <a:pt x="1003300" y="101604"/>
                </a:cubicBezTo>
                <a:lnTo>
                  <a:pt x="1003300" y="901696"/>
                </a:lnTo>
                <a:cubicBezTo>
                  <a:pt x="1003300" y="957810"/>
                  <a:pt x="957810" y="1003300"/>
                  <a:pt x="9016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940675" y="5511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340600" y="6413500"/>
            <a:ext cx="157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高可靠性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66000" y="69215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多副本容错机制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55150" y="5200650"/>
            <a:ext cx="1003300" cy="1003300"/>
          </a:xfrm>
          <a:custGeom>
            <a:avLst/>
            <a:gdLst/>
            <a:ahLst/>
            <a:cxnLst/>
            <a:rect l="l" t="t" r="r" b="b"/>
            <a:pathLst>
              <a:path w="1003300" h="1003300">
                <a:moveTo>
                  <a:pt x="101604" y="0"/>
                </a:moveTo>
                <a:lnTo>
                  <a:pt x="901696" y="0"/>
                </a:lnTo>
                <a:cubicBezTo>
                  <a:pt x="957810" y="0"/>
                  <a:pt x="1003300" y="45490"/>
                  <a:pt x="1003300" y="101604"/>
                </a:cubicBezTo>
                <a:lnTo>
                  <a:pt x="1003300" y="901696"/>
                </a:lnTo>
                <a:cubicBezTo>
                  <a:pt x="1003300" y="957810"/>
                  <a:pt x="957810" y="1003300"/>
                  <a:pt x="9016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793288" y="55118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25016" y="23812"/>
                </a:moveTo>
                <a:lnTo>
                  <a:pt x="17859" y="23812"/>
                </a:lnTo>
                <a:cubicBezTo>
                  <a:pt x="7962" y="23812"/>
                  <a:pt x="0" y="31775"/>
                  <a:pt x="0" y="41672"/>
                </a:cubicBezTo>
                <a:lnTo>
                  <a:pt x="0" y="148828"/>
                </a:lnTo>
                <a:cubicBezTo>
                  <a:pt x="0" y="156046"/>
                  <a:pt x="4316" y="162595"/>
                  <a:pt x="11013" y="165348"/>
                </a:cubicBezTo>
                <a:cubicBezTo>
                  <a:pt x="17711" y="168101"/>
                  <a:pt x="25375" y="166539"/>
                  <a:pt x="30510" y="161479"/>
                </a:cubicBezTo>
                <a:lnTo>
                  <a:pt x="60275" y="131713"/>
                </a:lnTo>
                <a:lnTo>
                  <a:pt x="119063" y="190500"/>
                </a:lnTo>
                <a:lnTo>
                  <a:pt x="60275" y="249287"/>
                </a:lnTo>
                <a:lnTo>
                  <a:pt x="30510" y="219521"/>
                </a:lnTo>
                <a:cubicBezTo>
                  <a:pt x="25375" y="214387"/>
                  <a:pt x="17711" y="212899"/>
                  <a:pt x="11013" y="215652"/>
                </a:cubicBezTo>
                <a:cubicBezTo>
                  <a:pt x="4316" y="218405"/>
                  <a:pt x="0" y="224954"/>
                  <a:pt x="0" y="232172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lnTo>
                  <a:pt x="125016" y="357188"/>
                </a:lnTo>
                <a:cubicBezTo>
                  <a:pt x="132234" y="357188"/>
                  <a:pt x="138782" y="352871"/>
                  <a:pt x="141536" y="346174"/>
                </a:cubicBezTo>
                <a:cubicBezTo>
                  <a:pt x="144289" y="339477"/>
                  <a:pt x="142801" y="331812"/>
                  <a:pt x="137666" y="326678"/>
                </a:cubicBezTo>
                <a:lnTo>
                  <a:pt x="107900" y="296912"/>
                </a:lnTo>
                <a:lnTo>
                  <a:pt x="166688" y="238125"/>
                </a:lnTo>
                <a:lnTo>
                  <a:pt x="225475" y="296912"/>
                </a:lnTo>
                <a:lnTo>
                  <a:pt x="195709" y="326678"/>
                </a:lnTo>
                <a:cubicBezTo>
                  <a:pt x="190574" y="331812"/>
                  <a:pt x="189086" y="339477"/>
                  <a:pt x="191839" y="346174"/>
                </a:cubicBezTo>
                <a:cubicBezTo>
                  <a:pt x="194593" y="352871"/>
                  <a:pt x="201141" y="357188"/>
                  <a:pt x="208359" y="357188"/>
                </a:cubicBezTo>
                <a:lnTo>
                  <a:pt x="315516" y="357188"/>
                </a:lnTo>
                <a:cubicBezTo>
                  <a:pt x="325413" y="357188"/>
                  <a:pt x="333375" y="349225"/>
                  <a:pt x="333375" y="339328"/>
                </a:cubicBezTo>
                <a:lnTo>
                  <a:pt x="333375" y="232172"/>
                </a:lnTo>
                <a:cubicBezTo>
                  <a:pt x="333375" y="224954"/>
                  <a:pt x="329059" y="218405"/>
                  <a:pt x="322362" y="215652"/>
                </a:cubicBezTo>
                <a:cubicBezTo>
                  <a:pt x="315664" y="212899"/>
                  <a:pt x="308000" y="214387"/>
                  <a:pt x="302865" y="219521"/>
                </a:cubicBezTo>
                <a:lnTo>
                  <a:pt x="273100" y="249287"/>
                </a:lnTo>
                <a:lnTo>
                  <a:pt x="214313" y="190500"/>
                </a:lnTo>
                <a:lnTo>
                  <a:pt x="273100" y="131713"/>
                </a:lnTo>
                <a:lnTo>
                  <a:pt x="302865" y="161479"/>
                </a:lnTo>
                <a:cubicBezTo>
                  <a:pt x="308000" y="166613"/>
                  <a:pt x="315664" y="168101"/>
                  <a:pt x="322362" y="165348"/>
                </a:cubicBezTo>
                <a:cubicBezTo>
                  <a:pt x="329059" y="162595"/>
                  <a:pt x="333375" y="156046"/>
                  <a:pt x="333375" y="148828"/>
                </a:cubicBezTo>
                <a:lnTo>
                  <a:pt x="333375" y="41672"/>
                </a:lnTo>
                <a:cubicBezTo>
                  <a:pt x="333375" y="31775"/>
                  <a:pt x="325413" y="23812"/>
                  <a:pt x="315516" y="23812"/>
                </a:cubicBezTo>
                <a:lnTo>
                  <a:pt x="208359" y="23812"/>
                </a:lnTo>
                <a:cubicBezTo>
                  <a:pt x="201141" y="23812"/>
                  <a:pt x="194593" y="28129"/>
                  <a:pt x="191839" y="34826"/>
                </a:cubicBezTo>
                <a:cubicBezTo>
                  <a:pt x="189086" y="41523"/>
                  <a:pt x="190649" y="49188"/>
                  <a:pt x="195709" y="54322"/>
                </a:cubicBezTo>
                <a:lnTo>
                  <a:pt x="225475" y="84088"/>
                </a:lnTo>
                <a:lnTo>
                  <a:pt x="166688" y="142875"/>
                </a:lnTo>
                <a:lnTo>
                  <a:pt x="107900" y="84088"/>
                </a:lnTo>
                <a:lnTo>
                  <a:pt x="137666" y="54322"/>
                </a:lnTo>
                <a:cubicBezTo>
                  <a:pt x="142801" y="49188"/>
                  <a:pt x="144289" y="41523"/>
                  <a:pt x="141536" y="34826"/>
                </a:cubicBezTo>
                <a:cubicBezTo>
                  <a:pt x="138782" y="28129"/>
                  <a:pt x="132234" y="23812"/>
                  <a:pt x="125016" y="23812"/>
                </a:cubicBez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169400" y="6413500"/>
            <a:ext cx="157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无限扩展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94800" y="69215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千节点集群支持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51190" y="7905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E59F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841702" y="7835900"/>
            <a:ext cx="496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7889A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is the new oil. HDFS is the reservoir.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2988</Words>
  <Application>Microsoft Macintosh PowerPoint</Application>
  <PresentationFormat>自定义</PresentationFormat>
  <Paragraphs>1022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微软雅黑</vt:lpstr>
      <vt:lpstr>Liter</vt:lpstr>
      <vt:lpstr>Noto Sans SC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HDFS 分布式文件系统复习</dc:title>
  <dc:subject>HDFS 分布式文件系统复习</dc:subject>
  <dc:creator>Kimi</dc:creator>
  <cp:lastModifiedBy>王 天青</cp:lastModifiedBy>
  <cp:revision>2</cp:revision>
  <dcterms:created xsi:type="dcterms:W3CDTF">2025-12-20T07:19:43Z</dcterms:created>
  <dcterms:modified xsi:type="dcterms:W3CDTF">2025-12-20T07:27:10Z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{"Label":"HDFS 分布式文件系统复习","ContentProducer":"001191110108MACG2KBH8F10000","ProduceID":"19b3a94d-5ab2-81ef-8000-00001bd816b2","ReservedCode1":"","ContentPropagator":"001191110108MACG2KBH8F20000","PropagateID":"19b3a94d-5ab2-81ef-8000-00001bd816b2","ReservedCode2":""}</vt:lpwstr>
  </property>
</Properties>
</file>