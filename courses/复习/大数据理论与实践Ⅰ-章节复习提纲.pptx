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6256000" cy="9144000"/>
  <p:notesSz cx="9144000" cy="16256000"/>
  <p:embeddedFontLst>
    <p:embeddedFont>
      <p:font typeface="KaiTi" panose="02010609060101010101" pitchFamily="49" charset="-122"/>
      <p:regular r:id="rId53"/>
    </p:embeddedFont>
    <p:embeddedFont>
      <p:font typeface="Liter" panose="02000503030000020004" pitchFamily="2" charset="0"/>
      <p:regular r:id="rId5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28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31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1701800"/>
            <a:ext cx="3784600" cy="558800"/>
          </a:xfrm>
          <a:custGeom>
            <a:avLst/>
            <a:gdLst/>
            <a:ahLst/>
            <a:cxnLst/>
            <a:rect l="l" t="t" r="r" b="b"/>
            <a:pathLst>
              <a:path w="3784600" h="558800">
                <a:moveTo>
                  <a:pt x="0" y="0"/>
                </a:moveTo>
                <a:lnTo>
                  <a:pt x="3784600" y="0"/>
                </a:lnTo>
                <a:lnTo>
                  <a:pt x="37846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17018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50800" h="558800">
                <a:moveTo>
                  <a:pt x="0" y="0"/>
                </a:moveTo>
                <a:lnTo>
                  <a:pt x="50800" y="0"/>
                </a:lnTo>
                <a:lnTo>
                  <a:pt x="50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1819275"/>
            <a:ext cx="33693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Calibri" panose="020F0502020204030204" pitchFamily="34" charset="0"/>
              </a:rPr>
              <a:t>COMPREHENSIVE REVIEW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6670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dirty="0" err="1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大数据理论与实践</a:t>
            </a:r>
            <a:r>
              <a:rPr lang="en-US" sz="7200" dirty="0" err="1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Ⅰ</a:t>
            </a:r>
            <a:endParaRPr lang="en-US" sz="7200" dirty="0">
              <a:solidFill>
                <a:srgbClr val="E1E3E6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000" y="41148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 err="1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复习提纲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5029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8000" y="5486400"/>
            <a:ext cx="1539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系统梳理12大核心章节 · 深入解析关键概念 · 精准把握考试要点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14350" y="7092950"/>
            <a:ext cx="4864100" cy="1536700"/>
          </a:xfrm>
          <a:custGeom>
            <a:avLst/>
            <a:gdLst/>
            <a:ahLst/>
            <a:cxnLst/>
            <a:rect l="l" t="t" r="r" b="b"/>
            <a:pathLst>
              <a:path w="4864100" h="1536700">
                <a:moveTo>
                  <a:pt x="101607" y="0"/>
                </a:moveTo>
                <a:lnTo>
                  <a:pt x="4762493" y="0"/>
                </a:lnTo>
                <a:cubicBezTo>
                  <a:pt x="4818609" y="0"/>
                  <a:pt x="4864100" y="45491"/>
                  <a:pt x="4864100" y="101607"/>
                </a:cubicBezTo>
                <a:lnTo>
                  <a:pt x="4864100" y="1435093"/>
                </a:lnTo>
                <a:cubicBezTo>
                  <a:pt x="4864100" y="1491209"/>
                  <a:pt x="4818609" y="1536700"/>
                  <a:pt x="47624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4700" y="7353300"/>
            <a:ext cx="4648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12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4700" y="806450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核心章节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695950" y="7092950"/>
            <a:ext cx="4864100" cy="1536700"/>
          </a:xfrm>
          <a:custGeom>
            <a:avLst/>
            <a:gdLst/>
            <a:ahLst/>
            <a:cxnLst/>
            <a:rect l="l" t="t" r="r" b="b"/>
            <a:pathLst>
              <a:path w="4864100" h="1536700">
                <a:moveTo>
                  <a:pt x="101607" y="0"/>
                </a:moveTo>
                <a:lnTo>
                  <a:pt x="4762493" y="0"/>
                </a:lnTo>
                <a:cubicBezTo>
                  <a:pt x="4818609" y="0"/>
                  <a:pt x="4864100" y="45491"/>
                  <a:pt x="4864100" y="101607"/>
                </a:cubicBezTo>
                <a:lnTo>
                  <a:pt x="4864100" y="1435093"/>
                </a:lnTo>
                <a:cubicBezTo>
                  <a:pt x="4864100" y="1491209"/>
                  <a:pt x="4818609" y="1536700"/>
                  <a:pt x="47624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56300" y="7353300"/>
            <a:ext cx="4648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50+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56300" y="806450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关键知识点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877550" y="7092950"/>
            <a:ext cx="4864100" cy="1536700"/>
          </a:xfrm>
          <a:custGeom>
            <a:avLst/>
            <a:gdLst/>
            <a:ahLst/>
            <a:cxnLst/>
            <a:rect l="l" t="t" r="r" b="b"/>
            <a:pathLst>
              <a:path w="4864100" h="1536700">
                <a:moveTo>
                  <a:pt x="101607" y="0"/>
                </a:moveTo>
                <a:lnTo>
                  <a:pt x="4762493" y="0"/>
                </a:lnTo>
                <a:cubicBezTo>
                  <a:pt x="4818609" y="0"/>
                  <a:pt x="4864100" y="45491"/>
                  <a:pt x="4864100" y="101607"/>
                </a:cubicBezTo>
                <a:lnTo>
                  <a:pt x="4864100" y="1435093"/>
                </a:lnTo>
                <a:cubicBezTo>
                  <a:pt x="4864100" y="1491209"/>
                  <a:pt x="4818609" y="1536700"/>
                  <a:pt x="47624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137900" y="7353300"/>
            <a:ext cx="4648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100+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137900" y="806450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考点解析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238250" cy="349250"/>
          </a:xfrm>
          <a:custGeom>
            <a:avLst/>
            <a:gdLst/>
            <a:ahLst/>
            <a:cxnLst/>
            <a:rect l="l" t="t" r="r" b="b"/>
            <a:pathLst>
              <a:path w="1238250" h="349250">
                <a:moveTo>
                  <a:pt x="0" y="0"/>
                </a:moveTo>
                <a:lnTo>
                  <a:pt x="1238250" y="0"/>
                </a:lnTo>
                <a:lnTo>
                  <a:pt x="123825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49250"/>
          </a:xfrm>
          <a:custGeom>
            <a:avLst/>
            <a:gdLst/>
            <a:ahLst/>
            <a:cxnLst/>
            <a:rect l="l" t="t" r="r" b="b"/>
            <a:pathLst>
              <a:path w="42333" h="349250">
                <a:moveTo>
                  <a:pt x="0" y="0"/>
                </a:moveTo>
                <a:lnTo>
                  <a:pt x="42333" y="0"/>
                </a:lnTo>
                <a:lnTo>
                  <a:pt x="42333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76250"/>
            <a:ext cx="1049238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Calibri" panose="020F0502020204030204" pitchFamily="34" charset="0"/>
              </a:rPr>
              <a:t>CONTENTS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899583"/>
            <a:ext cx="15663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983EA66-7DC2-D7E7-49EE-915DACDA8A3C}"/>
              </a:ext>
            </a:extLst>
          </p:cNvPr>
          <p:cNvGrpSpPr/>
          <p:nvPr/>
        </p:nvGrpSpPr>
        <p:grpSpPr>
          <a:xfrm>
            <a:off x="444500" y="1661583"/>
            <a:ext cx="15388167" cy="1512000"/>
            <a:chOff x="444500" y="1661583"/>
            <a:chExt cx="15388167" cy="1512000"/>
          </a:xfrm>
        </p:grpSpPr>
        <p:sp>
          <p:nvSpPr>
            <p:cNvPr id="6" name="Shape 4"/>
            <p:cNvSpPr/>
            <p:nvPr/>
          </p:nvSpPr>
          <p:spPr>
            <a:xfrm>
              <a:off x="444500" y="1661583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444500" y="1661583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677333" y="1873250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01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77333" y="2338917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大数据综述与发展脉络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77333" y="2719917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理解大数据4V特性、Google三大论文及生态基础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651500" y="1661583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5651500" y="1661583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884333" y="1873250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02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884333" y="2338917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分布式协调与一致性基础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884333" y="2719917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掌握ZooKeeper定位、数据模型、集群架构与Watch机制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858500" y="1661583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858500" y="1661583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1091333" y="1873250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03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1091333" y="2338917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HDFS基础机制与读写路径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1091333" y="2719917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理解HDFS架构组件、Block机制、元数据管理与读写流程</a:t>
              </a:r>
              <a:endParaRPr lang="en-US" sz="1600" dirty="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3C389C46-4068-6B2D-27C7-A98522E9AD1D}"/>
              </a:ext>
            </a:extLst>
          </p:cNvPr>
          <p:cNvGrpSpPr/>
          <p:nvPr/>
        </p:nvGrpSpPr>
        <p:grpSpPr>
          <a:xfrm>
            <a:off x="444500" y="3565635"/>
            <a:ext cx="15388167" cy="1512000"/>
            <a:chOff x="444500" y="3773454"/>
            <a:chExt cx="15388167" cy="1512000"/>
          </a:xfrm>
        </p:grpSpPr>
        <p:sp>
          <p:nvSpPr>
            <p:cNvPr id="21" name="Shape 19"/>
            <p:cNvSpPr/>
            <p:nvPr/>
          </p:nvSpPr>
          <p:spPr>
            <a:xfrm>
              <a:off x="444500" y="3773454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444500" y="3773454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77333" y="3985121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04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77333" y="4450788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HDFS高可用与扩展能力</a:t>
              </a:r>
              <a:endParaRPr lang="en-US" sz="16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77333" y="4831788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掌握HDFS Federation、HA架构及故障切换机制</a:t>
              </a:r>
              <a:endParaRPr lang="en-US" sz="16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651500" y="3773454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5651500" y="3773454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5884333" y="3985121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05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884333" y="4450788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MapReduce编程模型与Shuffle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5884333" y="4831788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理解MapReduce执行阶段、Shuffle机制及优化策略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0858500" y="3773454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10858500" y="3773454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11091333" y="3985121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06</a:t>
              </a:r>
              <a:endParaRPr lang="en-US" sz="16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1091333" y="4450788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YARN资源管理与调度</a:t>
              </a:r>
              <a:endParaRPr lang="en-US" sz="16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1091333" y="4831788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掌握YARN架构演进、核心组件与调度策略</a:t>
              </a:r>
              <a:endParaRPr lang="en-US" sz="1600" dirty="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632FE5E5-D222-840E-9095-6AFA094CEDA4}"/>
              </a:ext>
            </a:extLst>
          </p:cNvPr>
          <p:cNvGrpSpPr/>
          <p:nvPr/>
        </p:nvGrpSpPr>
        <p:grpSpPr>
          <a:xfrm>
            <a:off x="444500" y="5469687"/>
            <a:ext cx="15388167" cy="1512000"/>
            <a:chOff x="444500" y="5885326"/>
            <a:chExt cx="15388167" cy="1512000"/>
          </a:xfrm>
        </p:grpSpPr>
        <p:sp>
          <p:nvSpPr>
            <p:cNvPr id="36" name="Shape 34"/>
            <p:cNvSpPr/>
            <p:nvPr/>
          </p:nvSpPr>
          <p:spPr>
            <a:xfrm>
              <a:off x="444500" y="5885326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44500" y="5885326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77333" y="6096992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07</a:t>
              </a:r>
              <a:endParaRPr lang="en-US" sz="1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77333" y="6562659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Spark核心抽象与执行机制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677333" y="6943659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理解Spark技术栈、RDD/DataFrame/Dataset及依赖关系</a:t>
              </a:r>
              <a:endParaRPr lang="en-US" sz="16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5651500" y="5885326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5651500" y="5885326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5884333" y="6096992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08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884333" y="6562659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Hive数据仓库与表设计</a:t>
              </a:r>
              <a:endParaRPr lang="en-US" sz="1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5884333" y="6943659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掌握Hive定位、内外表区别、存储格式与分区分桶</a:t>
              </a:r>
              <a:endParaRPr lang="en-US" sz="16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10858500" y="5885326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10858500" y="5885326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11091333" y="6096992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09</a:t>
              </a:r>
              <a:endParaRPr lang="en-US" sz="16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11091333" y="6562659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HBase列族存储模型与系统架构</a:t>
              </a:r>
              <a:endParaRPr lang="en-US" sz="16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1091333" y="6943659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理解HBase定位、数据模型、LSM-Tree及RowKey设计</a:t>
              </a:r>
              <a:endParaRPr lang="en-US" sz="1600" dirty="0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A8078297-BBB0-9155-FE7F-7A1F1A0914C7}"/>
              </a:ext>
            </a:extLst>
          </p:cNvPr>
          <p:cNvGrpSpPr/>
          <p:nvPr/>
        </p:nvGrpSpPr>
        <p:grpSpPr>
          <a:xfrm>
            <a:off x="444500" y="7373738"/>
            <a:ext cx="15388167" cy="1512000"/>
            <a:chOff x="444500" y="7997197"/>
            <a:chExt cx="15388167" cy="1512000"/>
          </a:xfrm>
        </p:grpSpPr>
        <p:sp>
          <p:nvSpPr>
            <p:cNvPr id="51" name="Shape 49"/>
            <p:cNvSpPr/>
            <p:nvPr/>
          </p:nvSpPr>
          <p:spPr>
            <a:xfrm>
              <a:off x="444500" y="7997197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444500" y="7997197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677333" y="8208863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10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677333" y="8674530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Kafka分布式消息队列与分区有序性</a:t>
              </a:r>
              <a:endParaRPr lang="en-US" sz="16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677333" y="9055530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掌握Kafka核心概念、消息交付语义与Consumer Group并行度</a:t>
              </a:r>
              <a:endParaRPr lang="en-US" sz="16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5651500" y="7997197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5651500" y="7997197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5884333" y="8208863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11</a:t>
              </a:r>
              <a:endParaRPr lang="en-US" sz="16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5884333" y="8674530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数据采集与流处理基础</a:t>
              </a:r>
              <a:endParaRPr lang="en-US" sz="16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5884333" y="9055530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理解Flume架构与Spark Streaming vs Flink对比</a:t>
              </a:r>
              <a:endParaRPr lang="en-US" sz="16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10858500" y="7997197"/>
              <a:ext cx="4974167" cy="1512000"/>
            </a:xfrm>
            <a:custGeom>
              <a:avLst/>
              <a:gdLst/>
              <a:ahLst/>
              <a:cxnLst/>
              <a:rect l="l" t="t" r="r" b="b"/>
              <a:pathLst>
                <a:path w="4974167" h="1947333">
                  <a:moveTo>
                    <a:pt x="42333" y="0"/>
                  </a:moveTo>
                  <a:lnTo>
                    <a:pt x="4889497" y="0"/>
                  </a:lnTo>
                  <a:cubicBezTo>
                    <a:pt x="4936259" y="0"/>
                    <a:pt x="4974167" y="37908"/>
                    <a:pt x="4974167" y="84670"/>
                  </a:cubicBezTo>
                  <a:lnTo>
                    <a:pt x="4974167" y="1862663"/>
                  </a:lnTo>
                  <a:cubicBezTo>
                    <a:pt x="4974167" y="1909425"/>
                    <a:pt x="4936259" y="1947333"/>
                    <a:pt x="4889497" y="1947333"/>
                  </a:cubicBez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D8F8A">
                    <a:alpha val="2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10858500" y="7997197"/>
              <a:ext cx="42333" cy="1512000"/>
            </a:xfrm>
            <a:custGeom>
              <a:avLst/>
              <a:gdLst/>
              <a:ahLst/>
              <a:cxnLst/>
              <a:rect l="l" t="t" r="r" b="b"/>
              <a:pathLst>
                <a:path w="42333" h="1947333">
                  <a:moveTo>
                    <a:pt x="42333" y="0"/>
                  </a:moveTo>
                  <a:lnTo>
                    <a:pt x="42333" y="0"/>
                  </a:lnTo>
                  <a:lnTo>
                    <a:pt x="42333" y="1947333"/>
                  </a:lnTo>
                  <a:lnTo>
                    <a:pt x="42333" y="1947333"/>
                  </a:lnTo>
                  <a:cubicBezTo>
                    <a:pt x="18953" y="1947333"/>
                    <a:pt x="0" y="1928380"/>
                    <a:pt x="0" y="1905000"/>
                  </a:cubicBezTo>
                  <a:lnTo>
                    <a:pt x="0" y="42333"/>
                  </a:lnTo>
                  <a:cubicBezTo>
                    <a:pt x="0" y="18953"/>
                    <a:pt x="18953" y="0"/>
                    <a:pt x="42333" y="0"/>
                  </a:cubicBezTo>
                  <a:close/>
                </a:path>
              </a:pathLst>
            </a:custGeom>
            <a:solidFill>
              <a:srgbClr val="3D8F8A"/>
            </a:solidFill>
            <a:ln/>
          </p:spPr>
          <p:txBody>
            <a:bodyPr/>
            <a:lstStyle/>
            <a:p>
              <a:endParaRPr lang="zh-CN" altLang="en-US" dirty="0">
                <a:ea typeface="KaiTi" panose="02010609060101010101" pitchFamily="49" charset="-122"/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11091333" y="8208863"/>
              <a:ext cx="4688417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500" b="1" dirty="0">
                  <a:solidFill>
                    <a:srgbClr val="3D8F8A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12</a:t>
              </a:r>
              <a:endParaRPr lang="en-US" sz="16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11091333" y="8674530"/>
              <a:ext cx="4635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dirty="0">
                  <a:solidFill>
                    <a:srgbClr val="E1E3E6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阿里妈妈数黑体" pitchFamily="34" charset="-120"/>
                </a:rPr>
                <a:t>数仓、数据集市与数据湖</a:t>
              </a:r>
              <a:endParaRPr lang="en-US" sz="16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11091333" y="9055530"/>
              <a:ext cx="4603750" cy="2434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r>
                <a:rPr lang="en-US" sz="1167" dirty="0">
                  <a:solidFill>
                    <a:srgbClr val="E1E3E6">
                      <a:alpha val="70000"/>
                    </a:srgb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MiSans" pitchFamily="34" charset="-120"/>
                </a:rPr>
                <a:t>掌握数据仓库特征、分层架构与数据湖对比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0" y="0"/>
                </a:moveTo>
                <a:lnTo>
                  <a:pt x="2590800" y="0"/>
                </a:lnTo>
                <a:lnTo>
                  <a:pt x="259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1109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大数据综述与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发展脉络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理解大数据</a:t>
            </a:r>
            <a:r>
              <a:rPr lang="zh-CN" alt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4V</a:t>
            </a:r>
            <a:r>
              <a:rPr lang="zh-CN" alt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特性、</a:t>
            </a:r>
            <a:r>
              <a:rPr lang="en-US" sz="3000" dirty="0" err="1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Google</a:t>
            </a:r>
            <a:r>
              <a:rPr lang="zh-CN" alt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三大论文及生态基础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12900" cy="406400"/>
          </a:xfrm>
          <a:custGeom>
            <a:avLst/>
            <a:gdLst/>
            <a:ahLst/>
            <a:cxnLst/>
            <a:rect l="l" t="t" r="r" b="b"/>
            <a:pathLst>
              <a:path w="1612900" h="406400">
                <a:moveTo>
                  <a:pt x="0" y="0"/>
                </a:moveTo>
                <a:lnTo>
                  <a:pt x="1612900" y="0"/>
                </a:lnTo>
                <a:lnTo>
                  <a:pt x="16129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1200" y="577850"/>
            <a:ext cx="1384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MiSans" pitchFamily="34" charset="-120"/>
              </a:rPr>
              <a:t>CHAPTER 01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大数据4V特性深度解析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1778000"/>
            <a:ext cx="7467600" cy="2108200"/>
          </a:xfrm>
          <a:custGeom>
            <a:avLst/>
            <a:gdLst/>
            <a:ahLst/>
            <a:cxnLst/>
            <a:rect l="l" t="t" r="r" b="b"/>
            <a:pathLst>
              <a:path w="7467600" h="2108200">
                <a:moveTo>
                  <a:pt x="50800" y="0"/>
                </a:moveTo>
                <a:lnTo>
                  <a:pt x="7366006" y="0"/>
                </a:lnTo>
                <a:cubicBezTo>
                  <a:pt x="7422115" y="0"/>
                  <a:pt x="7467600" y="45485"/>
                  <a:pt x="7467600" y="101594"/>
                </a:cubicBezTo>
                <a:lnTo>
                  <a:pt x="7467600" y="2006606"/>
                </a:lnTo>
                <a:cubicBezTo>
                  <a:pt x="7467600" y="2062715"/>
                  <a:pt x="7422115" y="2108200"/>
                  <a:pt x="7366006" y="2108200"/>
                </a:cubicBezTo>
                <a:lnTo>
                  <a:pt x="50800" y="2108200"/>
                </a:lnTo>
                <a:cubicBezTo>
                  <a:pt x="22744" y="2108200"/>
                  <a:pt x="0" y="2085456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3400" y="1778000"/>
            <a:ext cx="50800" cy="2108200"/>
          </a:xfrm>
          <a:custGeom>
            <a:avLst/>
            <a:gdLst/>
            <a:ahLst/>
            <a:cxnLst/>
            <a:rect l="l" t="t" r="r" b="b"/>
            <a:pathLst>
              <a:path w="50800" h="2108200">
                <a:moveTo>
                  <a:pt x="50800" y="0"/>
                </a:moveTo>
                <a:lnTo>
                  <a:pt x="50800" y="0"/>
                </a:lnTo>
                <a:lnTo>
                  <a:pt x="50800" y="2108200"/>
                </a:ln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12800" y="203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6600" y="2032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V1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27200" y="203200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Volume</a:t>
            </a:r>
            <a:r>
              <a:rPr lang="en-US" sz="24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· 数据规模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27200" y="2540000"/>
            <a:ext cx="612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数据规模巨大,从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GB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到PB甚至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EB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级,单机存储与计算不可行。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27200" y="29718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系统约束: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必须采用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水平扩展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架构,优先考虑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容错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设计。典型组件如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提供分布式存储。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3400" y="4089400"/>
            <a:ext cx="7467600" cy="2438400"/>
          </a:xfrm>
          <a:custGeom>
            <a:avLst/>
            <a:gdLst/>
            <a:ahLst/>
            <a:cxnLst/>
            <a:rect l="l" t="t" r="r" b="b"/>
            <a:pathLst>
              <a:path w="7467600" h="2438400">
                <a:moveTo>
                  <a:pt x="50800" y="0"/>
                </a:moveTo>
                <a:lnTo>
                  <a:pt x="7365992" y="0"/>
                </a:lnTo>
                <a:cubicBezTo>
                  <a:pt x="7422108" y="0"/>
                  <a:pt x="7467600" y="45492"/>
                  <a:pt x="7467600" y="101608"/>
                </a:cubicBezTo>
                <a:lnTo>
                  <a:pt x="7467600" y="2336792"/>
                </a:lnTo>
                <a:cubicBezTo>
                  <a:pt x="7467600" y="2392908"/>
                  <a:pt x="7422108" y="2438400"/>
                  <a:pt x="7365992" y="2438400"/>
                </a:cubicBezTo>
                <a:lnTo>
                  <a:pt x="50800" y="2438400"/>
                </a:lnTo>
                <a:cubicBezTo>
                  <a:pt x="22744" y="2438400"/>
                  <a:pt x="0" y="2415656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3400" y="40894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2800" y="4343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6600" y="4343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V2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727200" y="434340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Variety</a:t>
            </a:r>
            <a:r>
              <a:rPr lang="en-US" sz="24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· 数据类型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27200" y="48514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数据类型多样,结构化(数据库表)、半结构化(XML/JSON)、非结构化(日志/图片/视频)并存。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727200" y="56134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系统约束: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需要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多格式接入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统一处理抽象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,如Hive支持多种存储格式。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80400" y="1778000"/>
            <a:ext cx="7467600" cy="2108200"/>
          </a:xfrm>
          <a:custGeom>
            <a:avLst/>
            <a:gdLst/>
            <a:ahLst/>
            <a:cxnLst/>
            <a:rect l="l" t="t" r="r" b="b"/>
            <a:pathLst>
              <a:path w="7467600" h="2108200">
                <a:moveTo>
                  <a:pt x="50800" y="0"/>
                </a:moveTo>
                <a:lnTo>
                  <a:pt x="7366006" y="0"/>
                </a:lnTo>
                <a:cubicBezTo>
                  <a:pt x="7422115" y="0"/>
                  <a:pt x="7467600" y="45485"/>
                  <a:pt x="7467600" y="101594"/>
                </a:cubicBezTo>
                <a:lnTo>
                  <a:pt x="7467600" y="2006606"/>
                </a:lnTo>
                <a:cubicBezTo>
                  <a:pt x="7467600" y="2062715"/>
                  <a:pt x="7422115" y="2108200"/>
                  <a:pt x="7366006" y="2108200"/>
                </a:cubicBezTo>
                <a:lnTo>
                  <a:pt x="50800" y="2108200"/>
                </a:lnTo>
                <a:cubicBezTo>
                  <a:pt x="22744" y="2108200"/>
                  <a:pt x="0" y="2085456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80400" y="1778000"/>
            <a:ext cx="50800" cy="2108200"/>
          </a:xfrm>
          <a:custGeom>
            <a:avLst/>
            <a:gdLst/>
            <a:ahLst/>
            <a:cxnLst/>
            <a:rect l="l" t="t" r="r" b="b"/>
            <a:pathLst>
              <a:path w="50800" h="2108200">
                <a:moveTo>
                  <a:pt x="50800" y="0"/>
                </a:moveTo>
                <a:lnTo>
                  <a:pt x="50800" y="0"/>
                </a:lnTo>
                <a:lnTo>
                  <a:pt x="50800" y="2108200"/>
                </a:ln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59800" y="2032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83600" y="20320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V3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74200" y="203200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Velocity</a:t>
            </a:r>
            <a:r>
              <a:rPr lang="en-US" sz="24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· 处理速度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74200" y="2540000"/>
            <a:ext cx="612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数据生成与处理速度快,要求实时或准实时响应。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474200" y="29718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系统约束: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系统需具备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高吞吐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低延迟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能力,强调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流批协同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,如Spark/Flink分别处理批/流场景。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80400" y="4089400"/>
            <a:ext cx="7467600" cy="2438400"/>
          </a:xfrm>
          <a:custGeom>
            <a:avLst/>
            <a:gdLst/>
            <a:ahLst/>
            <a:cxnLst/>
            <a:rect l="l" t="t" r="r" b="b"/>
            <a:pathLst>
              <a:path w="7467600" h="2438400">
                <a:moveTo>
                  <a:pt x="50800" y="0"/>
                </a:moveTo>
                <a:lnTo>
                  <a:pt x="7365992" y="0"/>
                </a:lnTo>
                <a:cubicBezTo>
                  <a:pt x="7422108" y="0"/>
                  <a:pt x="7467600" y="45492"/>
                  <a:pt x="7467600" y="101608"/>
                </a:cubicBezTo>
                <a:lnTo>
                  <a:pt x="7467600" y="2336792"/>
                </a:lnTo>
                <a:cubicBezTo>
                  <a:pt x="7467600" y="2392908"/>
                  <a:pt x="7422108" y="2438400"/>
                  <a:pt x="7365992" y="2438400"/>
                </a:cubicBezTo>
                <a:lnTo>
                  <a:pt x="50800" y="2438400"/>
                </a:lnTo>
                <a:cubicBezTo>
                  <a:pt x="22744" y="2438400"/>
                  <a:pt x="0" y="2415656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80400" y="40894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59800" y="4343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483600" y="43434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V4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74200" y="434340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Value</a:t>
            </a:r>
            <a:r>
              <a:rPr lang="en-US" sz="24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· 价值密度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474200" y="48514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价值密度低,海量数据中只有少量有价值信息,价值获取依赖"提纯"过程。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474200" y="5613400"/>
            <a:ext cx="6121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系统约束: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倒逼系统强调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批处理+统计建模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,通过特征工程、机器学习等手段提取价值。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4350" y="6737350"/>
            <a:ext cx="15227300" cy="1536700"/>
          </a:xfrm>
          <a:custGeom>
            <a:avLst/>
            <a:gdLst/>
            <a:ahLst/>
            <a:cxnLst/>
            <a:rect l="l" t="t" r="r" b="b"/>
            <a:pathLst>
              <a:path w="15227300" h="1536700">
                <a:moveTo>
                  <a:pt x="101607" y="0"/>
                </a:moveTo>
                <a:lnTo>
                  <a:pt x="15125693" y="0"/>
                </a:lnTo>
                <a:cubicBezTo>
                  <a:pt x="15181809" y="0"/>
                  <a:pt x="15227300" y="45491"/>
                  <a:pt x="15227300" y="101607"/>
                </a:cubicBezTo>
                <a:lnTo>
                  <a:pt x="15227300" y="1435093"/>
                </a:lnTo>
                <a:cubicBezTo>
                  <a:pt x="15227300" y="1491209"/>
                  <a:pt x="15181809" y="1536700"/>
                  <a:pt x="15125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2325" y="69977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403350" y="6946900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答题框架: 4V → 系统需求 → 典型组件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03350" y="7404100"/>
            <a:ext cx="14236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4V给出定义后,补充"带来的系统约束",例如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Volume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对应分布式扩展、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Velocity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对应吞吐与延迟权衡。将约束落到生态视角: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存储系统(</a:t>
            </a:r>
            <a:r>
              <a:rPr lang="en-US" sz="16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+ 计算框架(</a:t>
            </a:r>
            <a:r>
              <a:rPr lang="en-US" sz="16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MapReduce/Spark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+ 协调服务(</a:t>
            </a:r>
            <a:r>
              <a:rPr lang="en-US" sz="16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6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构成工程闭环。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535" y="460510"/>
            <a:ext cx="1462119" cy="368408"/>
          </a:xfrm>
          <a:custGeom>
            <a:avLst/>
            <a:gdLst/>
            <a:ahLst/>
            <a:cxnLst/>
            <a:rect l="l" t="t" r="r" b="b"/>
            <a:pathLst>
              <a:path w="1462119" h="368408">
                <a:moveTo>
                  <a:pt x="0" y="0"/>
                </a:moveTo>
                <a:lnTo>
                  <a:pt x="1462119" y="0"/>
                </a:lnTo>
                <a:lnTo>
                  <a:pt x="1462119" y="368408"/>
                </a:lnTo>
                <a:lnTo>
                  <a:pt x="0" y="368408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3535" y="460510"/>
            <a:ext cx="46051" cy="368408"/>
          </a:xfrm>
          <a:custGeom>
            <a:avLst/>
            <a:gdLst/>
            <a:ahLst/>
            <a:cxnLst/>
            <a:rect l="l" t="t" r="r" b="b"/>
            <a:pathLst>
              <a:path w="46051" h="368408">
                <a:moveTo>
                  <a:pt x="0" y="0"/>
                </a:moveTo>
                <a:lnTo>
                  <a:pt x="46051" y="0"/>
                </a:lnTo>
                <a:lnTo>
                  <a:pt x="46051" y="368408"/>
                </a:lnTo>
                <a:lnTo>
                  <a:pt x="0" y="368408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4714" y="523830"/>
            <a:ext cx="1255429" cy="241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50" kern="0" spc="73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0510" y="921020"/>
            <a:ext cx="15542210" cy="46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6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Google</a:t>
            </a:r>
            <a:r>
              <a:rPr lang="en-US" sz="326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三大奠基论文与生态闭环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0510" y="1588759"/>
            <a:ext cx="4985020" cy="2763059"/>
          </a:xfrm>
          <a:custGeom>
            <a:avLst/>
            <a:gdLst/>
            <a:ahLst/>
            <a:cxnLst/>
            <a:rect l="l" t="t" r="r" b="b"/>
            <a:pathLst>
              <a:path w="4985020" h="2763059">
                <a:moveTo>
                  <a:pt x="46051" y="0"/>
                </a:moveTo>
                <a:lnTo>
                  <a:pt x="4938969" y="0"/>
                </a:lnTo>
                <a:cubicBezTo>
                  <a:pt x="4964402" y="0"/>
                  <a:pt x="4985020" y="20618"/>
                  <a:pt x="4985020" y="46051"/>
                </a:cubicBezTo>
                <a:lnTo>
                  <a:pt x="4985020" y="2670967"/>
                </a:lnTo>
                <a:cubicBezTo>
                  <a:pt x="4985020" y="2721828"/>
                  <a:pt x="4943788" y="2763059"/>
                  <a:pt x="4892927" y="2763059"/>
                </a:cubicBezTo>
                <a:lnTo>
                  <a:pt x="92093" y="2763059"/>
                </a:lnTo>
                <a:cubicBezTo>
                  <a:pt x="41231" y="2763059"/>
                  <a:pt x="0" y="2721828"/>
                  <a:pt x="0" y="2670967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0510" y="1588759"/>
            <a:ext cx="4985020" cy="46051"/>
          </a:xfrm>
          <a:custGeom>
            <a:avLst/>
            <a:gdLst/>
            <a:ahLst/>
            <a:cxnLst/>
            <a:rect l="l" t="t" r="r" b="b"/>
            <a:pathLst>
              <a:path w="4985020" h="46051">
                <a:moveTo>
                  <a:pt x="46051" y="0"/>
                </a:moveTo>
                <a:lnTo>
                  <a:pt x="4938969" y="0"/>
                </a:lnTo>
                <a:cubicBezTo>
                  <a:pt x="4964402" y="0"/>
                  <a:pt x="4985020" y="20618"/>
                  <a:pt x="4985020" y="46051"/>
                </a:cubicBezTo>
                <a:lnTo>
                  <a:pt x="4985020" y="46051"/>
                </a:lnTo>
                <a:lnTo>
                  <a:pt x="0" y="46051"/>
                </a:ln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90765" y="1842040"/>
            <a:ext cx="552612" cy="552612"/>
          </a:xfrm>
          <a:custGeom>
            <a:avLst/>
            <a:gdLst/>
            <a:ahLst/>
            <a:cxnLst/>
            <a:rect l="l" t="t" r="r" b="b"/>
            <a:pathLst>
              <a:path w="552612" h="552612">
                <a:moveTo>
                  <a:pt x="276306" y="0"/>
                </a:moveTo>
                <a:lnTo>
                  <a:pt x="276306" y="0"/>
                </a:lnTo>
                <a:cubicBezTo>
                  <a:pt x="428803" y="0"/>
                  <a:pt x="552612" y="123809"/>
                  <a:pt x="552612" y="276306"/>
                </a:cubicBezTo>
                <a:lnTo>
                  <a:pt x="552612" y="276306"/>
                </a:lnTo>
                <a:cubicBezTo>
                  <a:pt x="552612" y="428803"/>
                  <a:pt x="428803" y="552612"/>
                  <a:pt x="276306" y="552612"/>
                </a:cubicBezTo>
                <a:lnTo>
                  <a:pt x="276306" y="552612"/>
                </a:lnTo>
                <a:cubicBezTo>
                  <a:pt x="123809" y="552612"/>
                  <a:pt x="0" y="428803"/>
                  <a:pt x="0" y="276306"/>
                </a:cubicBezTo>
                <a:lnTo>
                  <a:pt x="0" y="276306"/>
                </a:lnTo>
                <a:cubicBezTo>
                  <a:pt x="0" y="123809"/>
                  <a:pt x="123809" y="0"/>
                  <a:pt x="27630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201" y="1842040"/>
            <a:ext cx="667739" cy="55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13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GFS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81530" y="1957167"/>
            <a:ext cx="2244986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Google File System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0765" y="2532805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面向海量数据的分布式存储系统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0765" y="2924238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设计目标: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大文件存储、顺序读写优化、容错优先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0765" y="3315671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开源实现: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HDFS(Hadoop Distributed File System)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0765" y="3707105"/>
            <a:ext cx="4524510" cy="414459"/>
          </a:xfrm>
          <a:custGeom>
            <a:avLst/>
            <a:gdLst/>
            <a:ahLst/>
            <a:cxnLst/>
            <a:rect l="l" t="t" r="r" b="b"/>
            <a:pathLst>
              <a:path w="4524510" h="414459">
                <a:moveTo>
                  <a:pt x="46051" y="0"/>
                </a:moveTo>
                <a:lnTo>
                  <a:pt x="4478459" y="0"/>
                </a:lnTo>
                <a:cubicBezTo>
                  <a:pt x="4503892" y="0"/>
                  <a:pt x="4524510" y="20618"/>
                  <a:pt x="4524510" y="46051"/>
                </a:cubicBezTo>
                <a:lnTo>
                  <a:pt x="4524510" y="368408"/>
                </a:lnTo>
                <a:cubicBezTo>
                  <a:pt x="4524510" y="393841"/>
                  <a:pt x="4503892" y="414459"/>
                  <a:pt x="4478459" y="414459"/>
                </a:cubicBezTo>
                <a:lnTo>
                  <a:pt x="46051" y="414459"/>
                </a:lnTo>
                <a:cubicBezTo>
                  <a:pt x="20635" y="414459"/>
                  <a:pt x="0" y="393824"/>
                  <a:pt x="0" y="36840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2867" y="3799207"/>
            <a:ext cx="4420895" cy="23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核心思想: </a:t>
            </a: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存储+多副本+</a:t>
            </a: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</a:t>
            </a: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Slave</a:t>
            </a: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31802" y="1588759"/>
            <a:ext cx="4985020" cy="2763059"/>
          </a:xfrm>
          <a:custGeom>
            <a:avLst/>
            <a:gdLst/>
            <a:ahLst/>
            <a:cxnLst/>
            <a:rect l="l" t="t" r="r" b="b"/>
            <a:pathLst>
              <a:path w="4985020" h="2763059">
                <a:moveTo>
                  <a:pt x="46051" y="0"/>
                </a:moveTo>
                <a:lnTo>
                  <a:pt x="4938969" y="0"/>
                </a:lnTo>
                <a:cubicBezTo>
                  <a:pt x="4964402" y="0"/>
                  <a:pt x="4985020" y="20618"/>
                  <a:pt x="4985020" y="46051"/>
                </a:cubicBezTo>
                <a:lnTo>
                  <a:pt x="4985020" y="2670967"/>
                </a:lnTo>
                <a:cubicBezTo>
                  <a:pt x="4985020" y="2721828"/>
                  <a:pt x="4943788" y="2763059"/>
                  <a:pt x="4892927" y="2763059"/>
                </a:cubicBezTo>
                <a:lnTo>
                  <a:pt x="92093" y="2763059"/>
                </a:lnTo>
                <a:cubicBezTo>
                  <a:pt x="41231" y="2763059"/>
                  <a:pt x="0" y="2721828"/>
                  <a:pt x="0" y="2670967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31802" y="1588759"/>
            <a:ext cx="4985020" cy="46051"/>
          </a:xfrm>
          <a:custGeom>
            <a:avLst/>
            <a:gdLst/>
            <a:ahLst/>
            <a:cxnLst/>
            <a:rect l="l" t="t" r="r" b="b"/>
            <a:pathLst>
              <a:path w="4985020" h="46051">
                <a:moveTo>
                  <a:pt x="46051" y="0"/>
                </a:moveTo>
                <a:lnTo>
                  <a:pt x="4938969" y="0"/>
                </a:lnTo>
                <a:cubicBezTo>
                  <a:pt x="4964402" y="0"/>
                  <a:pt x="4985020" y="20618"/>
                  <a:pt x="4985020" y="46051"/>
                </a:cubicBezTo>
                <a:lnTo>
                  <a:pt x="4985020" y="46051"/>
                </a:lnTo>
                <a:lnTo>
                  <a:pt x="0" y="46051"/>
                </a:ln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62057" y="1842040"/>
            <a:ext cx="552612" cy="552612"/>
          </a:xfrm>
          <a:custGeom>
            <a:avLst/>
            <a:gdLst/>
            <a:ahLst/>
            <a:cxnLst/>
            <a:rect l="l" t="t" r="r" b="b"/>
            <a:pathLst>
              <a:path w="552612" h="552612">
                <a:moveTo>
                  <a:pt x="276306" y="0"/>
                </a:moveTo>
                <a:lnTo>
                  <a:pt x="276306" y="0"/>
                </a:lnTo>
                <a:cubicBezTo>
                  <a:pt x="428803" y="0"/>
                  <a:pt x="552612" y="123809"/>
                  <a:pt x="552612" y="276306"/>
                </a:cubicBezTo>
                <a:lnTo>
                  <a:pt x="552612" y="276306"/>
                </a:lnTo>
                <a:cubicBezTo>
                  <a:pt x="552612" y="428803"/>
                  <a:pt x="428803" y="552612"/>
                  <a:pt x="276306" y="552612"/>
                </a:cubicBezTo>
                <a:lnTo>
                  <a:pt x="276306" y="552612"/>
                </a:lnTo>
                <a:cubicBezTo>
                  <a:pt x="123809" y="552612"/>
                  <a:pt x="0" y="428803"/>
                  <a:pt x="0" y="276306"/>
                </a:cubicBezTo>
                <a:lnTo>
                  <a:pt x="0" y="276306"/>
                </a:lnTo>
                <a:cubicBezTo>
                  <a:pt x="0" y="123809"/>
                  <a:pt x="123809" y="0"/>
                  <a:pt x="27630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04494" y="1842040"/>
            <a:ext cx="667739" cy="55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13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MR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52822" y="1957167"/>
            <a:ext cx="1439093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62057" y="2532805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面向海量数据的离线批处理计算模型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62057" y="2924238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编程抽象: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(映射)+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(归并)两个阶段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62057" y="3315671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核心能力: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自动并行化、容错、任务调度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62057" y="3707105"/>
            <a:ext cx="4524510" cy="414459"/>
          </a:xfrm>
          <a:custGeom>
            <a:avLst/>
            <a:gdLst/>
            <a:ahLst/>
            <a:cxnLst/>
            <a:rect l="l" t="t" r="r" b="b"/>
            <a:pathLst>
              <a:path w="4524510" h="414459">
                <a:moveTo>
                  <a:pt x="46051" y="0"/>
                </a:moveTo>
                <a:lnTo>
                  <a:pt x="4478459" y="0"/>
                </a:lnTo>
                <a:cubicBezTo>
                  <a:pt x="4503892" y="0"/>
                  <a:pt x="4524510" y="20618"/>
                  <a:pt x="4524510" y="46051"/>
                </a:cubicBezTo>
                <a:lnTo>
                  <a:pt x="4524510" y="368408"/>
                </a:lnTo>
                <a:cubicBezTo>
                  <a:pt x="4524510" y="393841"/>
                  <a:pt x="4503892" y="414459"/>
                  <a:pt x="4478459" y="414459"/>
                </a:cubicBezTo>
                <a:lnTo>
                  <a:pt x="46051" y="414459"/>
                </a:lnTo>
                <a:cubicBezTo>
                  <a:pt x="20635" y="414459"/>
                  <a:pt x="0" y="393824"/>
                  <a:pt x="0" y="36840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54159" y="3799207"/>
            <a:ext cx="4420895" cy="23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设计哲学: 移动计算比移动数据更经济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803185" y="1588759"/>
            <a:ext cx="4985020" cy="2763059"/>
          </a:xfrm>
          <a:custGeom>
            <a:avLst/>
            <a:gdLst/>
            <a:ahLst/>
            <a:cxnLst/>
            <a:rect l="l" t="t" r="r" b="b"/>
            <a:pathLst>
              <a:path w="4985020" h="2763059">
                <a:moveTo>
                  <a:pt x="46051" y="0"/>
                </a:moveTo>
                <a:lnTo>
                  <a:pt x="4938969" y="0"/>
                </a:lnTo>
                <a:cubicBezTo>
                  <a:pt x="4964402" y="0"/>
                  <a:pt x="4985020" y="20618"/>
                  <a:pt x="4985020" y="46051"/>
                </a:cubicBezTo>
                <a:lnTo>
                  <a:pt x="4985020" y="2670967"/>
                </a:lnTo>
                <a:cubicBezTo>
                  <a:pt x="4985020" y="2721828"/>
                  <a:pt x="4943788" y="2763059"/>
                  <a:pt x="4892927" y="2763059"/>
                </a:cubicBezTo>
                <a:lnTo>
                  <a:pt x="92093" y="2763059"/>
                </a:lnTo>
                <a:cubicBezTo>
                  <a:pt x="41231" y="2763059"/>
                  <a:pt x="0" y="2721828"/>
                  <a:pt x="0" y="2670967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803185" y="1588759"/>
            <a:ext cx="4985020" cy="46051"/>
          </a:xfrm>
          <a:custGeom>
            <a:avLst/>
            <a:gdLst/>
            <a:ahLst/>
            <a:cxnLst/>
            <a:rect l="l" t="t" r="r" b="b"/>
            <a:pathLst>
              <a:path w="4985020" h="46051">
                <a:moveTo>
                  <a:pt x="46051" y="0"/>
                </a:moveTo>
                <a:lnTo>
                  <a:pt x="4938969" y="0"/>
                </a:lnTo>
                <a:cubicBezTo>
                  <a:pt x="4964402" y="0"/>
                  <a:pt x="4985020" y="20618"/>
                  <a:pt x="4985020" y="46051"/>
                </a:cubicBezTo>
                <a:lnTo>
                  <a:pt x="4985020" y="46051"/>
                </a:lnTo>
                <a:lnTo>
                  <a:pt x="0" y="46051"/>
                </a:ln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1033440" y="1842040"/>
            <a:ext cx="552612" cy="552612"/>
          </a:xfrm>
          <a:custGeom>
            <a:avLst/>
            <a:gdLst/>
            <a:ahLst/>
            <a:cxnLst/>
            <a:rect l="l" t="t" r="r" b="b"/>
            <a:pathLst>
              <a:path w="552612" h="552612">
                <a:moveTo>
                  <a:pt x="276306" y="0"/>
                </a:moveTo>
                <a:lnTo>
                  <a:pt x="276306" y="0"/>
                </a:lnTo>
                <a:cubicBezTo>
                  <a:pt x="428803" y="0"/>
                  <a:pt x="552612" y="123809"/>
                  <a:pt x="552612" y="276306"/>
                </a:cubicBezTo>
                <a:lnTo>
                  <a:pt x="552612" y="276306"/>
                </a:lnTo>
                <a:cubicBezTo>
                  <a:pt x="552612" y="428803"/>
                  <a:pt x="428803" y="552612"/>
                  <a:pt x="276306" y="552612"/>
                </a:cubicBezTo>
                <a:lnTo>
                  <a:pt x="276306" y="552612"/>
                </a:lnTo>
                <a:cubicBezTo>
                  <a:pt x="123809" y="552612"/>
                  <a:pt x="0" y="428803"/>
                  <a:pt x="0" y="276306"/>
                </a:cubicBezTo>
                <a:lnTo>
                  <a:pt x="0" y="276306"/>
                </a:lnTo>
                <a:cubicBezTo>
                  <a:pt x="0" y="123809"/>
                  <a:pt x="123809" y="0"/>
                  <a:pt x="27630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975876" y="1842040"/>
            <a:ext cx="667739" cy="552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13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BT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724205" y="1957167"/>
            <a:ext cx="1059173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033440" y="2532805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面向大规模结构化数据的在线服务存储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033440" y="2924238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数据模型: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列族存储模型,支持稀疏数据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033440" y="3315671"/>
            <a:ext cx="4616612" cy="2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设计特点: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高吞吐、可扩展、容错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1033440" y="3707105"/>
            <a:ext cx="4524510" cy="414459"/>
          </a:xfrm>
          <a:custGeom>
            <a:avLst/>
            <a:gdLst/>
            <a:ahLst/>
            <a:cxnLst/>
            <a:rect l="l" t="t" r="r" b="b"/>
            <a:pathLst>
              <a:path w="4524510" h="414459">
                <a:moveTo>
                  <a:pt x="46051" y="0"/>
                </a:moveTo>
                <a:lnTo>
                  <a:pt x="4478459" y="0"/>
                </a:lnTo>
                <a:cubicBezTo>
                  <a:pt x="4503892" y="0"/>
                  <a:pt x="4524510" y="20618"/>
                  <a:pt x="4524510" y="46051"/>
                </a:cubicBezTo>
                <a:lnTo>
                  <a:pt x="4524510" y="368408"/>
                </a:lnTo>
                <a:cubicBezTo>
                  <a:pt x="4524510" y="393841"/>
                  <a:pt x="4503892" y="414459"/>
                  <a:pt x="4478459" y="414459"/>
                </a:cubicBezTo>
                <a:lnTo>
                  <a:pt x="46051" y="414459"/>
                </a:lnTo>
                <a:cubicBezTo>
                  <a:pt x="20635" y="414459"/>
                  <a:pt x="0" y="393824"/>
                  <a:pt x="0" y="368408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125542" y="3799207"/>
            <a:ext cx="4420895" cy="23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开源实现: </a:t>
            </a:r>
            <a:r>
              <a:rPr lang="en-US" sz="1269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HBase、Cassandra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66266" y="4541779"/>
            <a:ext cx="15323467" cy="2360113"/>
          </a:xfrm>
          <a:custGeom>
            <a:avLst/>
            <a:gdLst/>
            <a:ahLst/>
            <a:cxnLst/>
            <a:rect l="l" t="t" r="r" b="b"/>
            <a:pathLst>
              <a:path w="15323467" h="2360113">
                <a:moveTo>
                  <a:pt x="92092" y="0"/>
                </a:moveTo>
                <a:lnTo>
                  <a:pt x="15231376" y="0"/>
                </a:lnTo>
                <a:cubicBezTo>
                  <a:pt x="15282237" y="0"/>
                  <a:pt x="15323467" y="41231"/>
                  <a:pt x="15323467" y="92092"/>
                </a:cubicBezTo>
                <a:lnTo>
                  <a:pt x="15323467" y="2268022"/>
                </a:lnTo>
                <a:cubicBezTo>
                  <a:pt x="15323467" y="2318882"/>
                  <a:pt x="15282237" y="2360113"/>
                  <a:pt x="15231376" y="2360113"/>
                </a:cubicBezTo>
                <a:lnTo>
                  <a:pt x="92092" y="2360113"/>
                </a:lnTo>
                <a:cubicBezTo>
                  <a:pt x="41231" y="2360113"/>
                  <a:pt x="0" y="2318882"/>
                  <a:pt x="0" y="2268022"/>
                </a:cubicBezTo>
                <a:lnTo>
                  <a:pt x="0" y="92092"/>
                </a:lnTo>
                <a:cubicBezTo>
                  <a:pt x="0" y="41231"/>
                  <a:pt x="41231" y="0"/>
                  <a:pt x="9209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36816" y="4823841"/>
            <a:ext cx="276306" cy="276306"/>
          </a:xfrm>
          <a:custGeom>
            <a:avLst/>
            <a:gdLst/>
            <a:ahLst/>
            <a:cxnLst/>
            <a:rect l="l" t="t" r="r" b="b"/>
            <a:pathLst>
              <a:path w="276306" h="276306">
                <a:moveTo>
                  <a:pt x="0" y="43173"/>
                </a:moveTo>
                <a:cubicBezTo>
                  <a:pt x="0" y="28872"/>
                  <a:pt x="11603" y="17269"/>
                  <a:pt x="25904" y="17269"/>
                </a:cubicBezTo>
                <a:lnTo>
                  <a:pt x="77711" y="17269"/>
                </a:lnTo>
                <a:cubicBezTo>
                  <a:pt x="92012" y="17269"/>
                  <a:pt x="103615" y="28872"/>
                  <a:pt x="103615" y="43173"/>
                </a:cubicBezTo>
                <a:lnTo>
                  <a:pt x="103615" y="51807"/>
                </a:lnTo>
                <a:lnTo>
                  <a:pt x="172691" y="51807"/>
                </a:lnTo>
                <a:lnTo>
                  <a:pt x="172691" y="43173"/>
                </a:lnTo>
                <a:cubicBezTo>
                  <a:pt x="172691" y="28872"/>
                  <a:pt x="184294" y="17269"/>
                  <a:pt x="198595" y="17269"/>
                </a:cubicBezTo>
                <a:lnTo>
                  <a:pt x="250402" y="17269"/>
                </a:lnTo>
                <a:cubicBezTo>
                  <a:pt x="264703" y="17269"/>
                  <a:pt x="276306" y="28872"/>
                  <a:pt x="276306" y="43173"/>
                </a:cubicBezTo>
                <a:lnTo>
                  <a:pt x="276306" y="94980"/>
                </a:lnTo>
                <a:cubicBezTo>
                  <a:pt x="276306" y="109281"/>
                  <a:pt x="264703" y="120884"/>
                  <a:pt x="250402" y="120884"/>
                </a:cubicBezTo>
                <a:lnTo>
                  <a:pt x="198595" y="120884"/>
                </a:lnTo>
                <a:cubicBezTo>
                  <a:pt x="184294" y="120884"/>
                  <a:pt x="172691" y="109281"/>
                  <a:pt x="172691" y="94980"/>
                </a:cubicBezTo>
                <a:lnTo>
                  <a:pt x="172691" y="86346"/>
                </a:lnTo>
                <a:lnTo>
                  <a:pt x="103615" y="86346"/>
                </a:lnTo>
                <a:lnTo>
                  <a:pt x="103615" y="94980"/>
                </a:lnTo>
                <a:cubicBezTo>
                  <a:pt x="103615" y="98920"/>
                  <a:pt x="102697" y="102697"/>
                  <a:pt x="101132" y="106043"/>
                </a:cubicBezTo>
                <a:lnTo>
                  <a:pt x="138153" y="155422"/>
                </a:lnTo>
                <a:lnTo>
                  <a:pt x="181326" y="155422"/>
                </a:lnTo>
                <a:cubicBezTo>
                  <a:pt x="195627" y="155422"/>
                  <a:pt x="207229" y="167025"/>
                  <a:pt x="207229" y="181326"/>
                </a:cubicBezTo>
                <a:lnTo>
                  <a:pt x="207229" y="233133"/>
                </a:lnTo>
                <a:cubicBezTo>
                  <a:pt x="207229" y="247434"/>
                  <a:pt x="195627" y="259037"/>
                  <a:pt x="181326" y="259037"/>
                </a:cubicBezTo>
                <a:lnTo>
                  <a:pt x="129518" y="259037"/>
                </a:lnTo>
                <a:cubicBezTo>
                  <a:pt x="115217" y="259037"/>
                  <a:pt x="103615" y="247434"/>
                  <a:pt x="103615" y="233133"/>
                </a:cubicBezTo>
                <a:lnTo>
                  <a:pt x="103615" y="181326"/>
                </a:lnTo>
                <a:cubicBezTo>
                  <a:pt x="103615" y="177386"/>
                  <a:pt x="104532" y="173609"/>
                  <a:pt x="106097" y="170263"/>
                </a:cubicBezTo>
                <a:lnTo>
                  <a:pt x="69076" y="120884"/>
                </a:lnTo>
                <a:lnTo>
                  <a:pt x="25904" y="120884"/>
                </a:lnTo>
                <a:cubicBezTo>
                  <a:pt x="11603" y="120884"/>
                  <a:pt x="0" y="109281"/>
                  <a:pt x="0" y="94980"/>
                </a:cubicBezTo>
                <a:lnTo>
                  <a:pt x="0" y="43173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47660" y="4777790"/>
            <a:ext cx="14644215" cy="36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 / 计算 / 服务的分工与协作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02278" y="5284351"/>
            <a:ext cx="4823841" cy="1381530"/>
          </a:xfrm>
          <a:custGeom>
            <a:avLst/>
            <a:gdLst/>
            <a:ahLst/>
            <a:cxnLst/>
            <a:rect l="l" t="t" r="r" b="b"/>
            <a:pathLst>
              <a:path w="4823841" h="1381530">
                <a:moveTo>
                  <a:pt x="92107" y="0"/>
                </a:moveTo>
                <a:lnTo>
                  <a:pt x="4731735" y="0"/>
                </a:lnTo>
                <a:cubicBezTo>
                  <a:pt x="4782604" y="0"/>
                  <a:pt x="4823841" y="41238"/>
                  <a:pt x="4823841" y="92107"/>
                </a:cubicBezTo>
                <a:lnTo>
                  <a:pt x="4823841" y="1289423"/>
                </a:lnTo>
                <a:cubicBezTo>
                  <a:pt x="4823841" y="1340292"/>
                  <a:pt x="4782604" y="1381530"/>
                  <a:pt x="4731735" y="1381530"/>
                </a:cubicBezTo>
                <a:lnTo>
                  <a:pt x="92107" y="1381530"/>
                </a:lnTo>
                <a:cubicBezTo>
                  <a:pt x="41238" y="1381530"/>
                  <a:pt x="0" y="1340292"/>
                  <a:pt x="0" y="1289423"/>
                </a:cubicBezTo>
                <a:lnTo>
                  <a:pt x="0" y="92107"/>
                </a:lnTo>
                <a:cubicBezTo>
                  <a:pt x="0" y="41272"/>
                  <a:pt x="41272" y="0"/>
                  <a:pt x="921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86482" y="5468555"/>
            <a:ext cx="4570561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86482" y="5883014"/>
            <a:ext cx="4547535" cy="59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负责数据持久化,提供高容错、高吞吐的分布式存储能力,支持大文件顺序读写。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712392" y="5284351"/>
            <a:ext cx="4823841" cy="1381530"/>
          </a:xfrm>
          <a:custGeom>
            <a:avLst/>
            <a:gdLst/>
            <a:ahLst/>
            <a:cxnLst/>
            <a:rect l="l" t="t" r="r" b="b"/>
            <a:pathLst>
              <a:path w="4823841" h="1381530">
                <a:moveTo>
                  <a:pt x="92107" y="0"/>
                </a:moveTo>
                <a:lnTo>
                  <a:pt x="4731735" y="0"/>
                </a:lnTo>
                <a:cubicBezTo>
                  <a:pt x="4782604" y="0"/>
                  <a:pt x="4823841" y="41238"/>
                  <a:pt x="4823841" y="92107"/>
                </a:cubicBezTo>
                <a:lnTo>
                  <a:pt x="4823841" y="1289423"/>
                </a:lnTo>
                <a:cubicBezTo>
                  <a:pt x="4823841" y="1340292"/>
                  <a:pt x="4782604" y="1381530"/>
                  <a:pt x="4731735" y="1381530"/>
                </a:cubicBezTo>
                <a:lnTo>
                  <a:pt x="92107" y="1381530"/>
                </a:lnTo>
                <a:cubicBezTo>
                  <a:pt x="41238" y="1381530"/>
                  <a:pt x="0" y="1340292"/>
                  <a:pt x="0" y="1289423"/>
                </a:cubicBezTo>
                <a:lnTo>
                  <a:pt x="0" y="92107"/>
                </a:lnTo>
                <a:cubicBezTo>
                  <a:pt x="0" y="41272"/>
                  <a:pt x="41272" y="0"/>
                  <a:pt x="921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896596" y="5468555"/>
            <a:ext cx="4570561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计算层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896596" y="5883014"/>
            <a:ext cx="4547535" cy="59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负责数据处理,提供分布式计算框架,支持批处理、流处理等多种计算模式。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0722596" y="5284351"/>
            <a:ext cx="4823841" cy="1381530"/>
          </a:xfrm>
          <a:custGeom>
            <a:avLst/>
            <a:gdLst/>
            <a:ahLst/>
            <a:cxnLst/>
            <a:rect l="l" t="t" r="r" b="b"/>
            <a:pathLst>
              <a:path w="4823841" h="1381530">
                <a:moveTo>
                  <a:pt x="92107" y="0"/>
                </a:moveTo>
                <a:lnTo>
                  <a:pt x="4731735" y="0"/>
                </a:lnTo>
                <a:cubicBezTo>
                  <a:pt x="4782604" y="0"/>
                  <a:pt x="4823841" y="41238"/>
                  <a:pt x="4823841" y="92107"/>
                </a:cubicBezTo>
                <a:lnTo>
                  <a:pt x="4823841" y="1289423"/>
                </a:lnTo>
                <a:cubicBezTo>
                  <a:pt x="4823841" y="1340292"/>
                  <a:pt x="4782604" y="1381530"/>
                  <a:pt x="4731735" y="1381530"/>
                </a:cubicBezTo>
                <a:lnTo>
                  <a:pt x="92107" y="1381530"/>
                </a:lnTo>
                <a:cubicBezTo>
                  <a:pt x="41238" y="1381530"/>
                  <a:pt x="0" y="1340292"/>
                  <a:pt x="0" y="1289423"/>
                </a:cubicBezTo>
                <a:lnTo>
                  <a:pt x="0" y="92107"/>
                </a:lnTo>
                <a:cubicBezTo>
                  <a:pt x="0" y="41272"/>
                  <a:pt x="41272" y="0"/>
                  <a:pt x="9210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906800" y="5468555"/>
            <a:ext cx="4570561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1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服务层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906800" y="5883014"/>
            <a:ext cx="4547535" cy="59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负责在线服务,提供低延迟、高并发的随机读写能力,支持海量结构化数据访问。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83535" y="7091853"/>
            <a:ext cx="7552363" cy="1289428"/>
          </a:xfrm>
          <a:custGeom>
            <a:avLst/>
            <a:gdLst/>
            <a:ahLst/>
            <a:cxnLst/>
            <a:rect l="l" t="t" r="r" b="b"/>
            <a:pathLst>
              <a:path w="7552363" h="1289428">
                <a:moveTo>
                  <a:pt x="46051" y="0"/>
                </a:moveTo>
                <a:lnTo>
                  <a:pt x="7460259" y="0"/>
                </a:lnTo>
                <a:cubicBezTo>
                  <a:pt x="7511126" y="0"/>
                  <a:pt x="7552363" y="41236"/>
                  <a:pt x="7552363" y="92104"/>
                </a:cubicBezTo>
                <a:lnTo>
                  <a:pt x="7552363" y="1197324"/>
                </a:lnTo>
                <a:cubicBezTo>
                  <a:pt x="7552363" y="1248191"/>
                  <a:pt x="7511126" y="1289428"/>
                  <a:pt x="7460259" y="1289428"/>
                </a:cubicBezTo>
                <a:lnTo>
                  <a:pt x="46051" y="1289428"/>
                </a:lnTo>
                <a:cubicBezTo>
                  <a:pt x="20618" y="1289428"/>
                  <a:pt x="0" y="1268810"/>
                  <a:pt x="0" y="1243377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83535" y="7091853"/>
            <a:ext cx="46051" cy="1289428"/>
          </a:xfrm>
          <a:custGeom>
            <a:avLst/>
            <a:gdLst/>
            <a:ahLst/>
            <a:cxnLst/>
            <a:rect l="l" t="t" r="r" b="b"/>
            <a:pathLst>
              <a:path w="46051" h="1289428">
                <a:moveTo>
                  <a:pt x="46051" y="0"/>
                </a:moveTo>
                <a:lnTo>
                  <a:pt x="46051" y="0"/>
                </a:lnTo>
                <a:lnTo>
                  <a:pt x="46051" y="1289428"/>
                </a:lnTo>
                <a:lnTo>
                  <a:pt x="46051" y="1289428"/>
                </a:lnTo>
                <a:cubicBezTo>
                  <a:pt x="20618" y="1289428"/>
                  <a:pt x="0" y="1268810"/>
                  <a:pt x="0" y="1243377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73496" y="7287569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207229"/>
                </a:moveTo>
                <a:cubicBezTo>
                  <a:pt x="160801" y="207229"/>
                  <a:pt x="207229" y="160801"/>
                  <a:pt x="207229" y="103615"/>
                </a:cubicBezTo>
                <a:cubicBezTo>
                  <a:pt x="207229" y="46428"/>
                  <a:pt x="160801" y="0"/>
                  <a:pt x="103615" y="0"/>
                </a:cubicBezTo>
                <a:cubicBezTo>
                  <a:pt x="46428" y="0"/>
                  <a:pt x="0" y="46428"/>
                  <a:pt x="0" y="103615"/>
                </a:cubicBezTo>
                <a:cubicBezTo>
                  <a:pt x="0" y="160801"/>
                  <a:pt x="46428" y="207229"/>
                  <a:pt x="103615" y="207229"/>
                </a:cubicBezTo>
                <a:close/>
                <a:moveTo>
                  <a:pt x="137775" y="86089"/>
                </a:moveTo>
                <a:lnTo>
                  <a:pt x="105396" y="137897"/>
                </a:lnTo>
                <a:cubicBezTo>
                  <a:pt x="103696" y="140608"/>
                  <a:pt x="100782" y="142308"/>
                  <a:pt x="97584" y="142470"/>
                </a:cubicBezTo>
                <a:cubicBezTo>
                  <a:pt x="94387" y="142632"/>
                  <a:pt x="91310" y="141175"/>
                  <a:pt x="89408" y="138585"/>
                </a:cubicBezTo>
                <a:lnTo>
                  <a:pt x="69980" y="112681"/>
                </a:lnTo>
                <a:cubicBezTo>
                  <a:pt x="66742" y="108391"/>
                  <a:pt x="67633" y="102320"/>
                  <a:pt x="71923" y="99082"/>
                </a:cubicBezTo>
                <a:cubicBezTo>
                  <a:pt x="76213" y="95844"/>
                  <a:pt x="82285" y="96734"/>
                  <a:pt x="85523" y="101024"/>
                </a:cubicBezTo>
                <a:lnTo>
                  <a:pt x="96451" y="115595"/>
                </a:lnTo>
                <a:lnTo>
                  <a:pt x="121302" y="75809"/>
                </a:lnTo>
                <a:cubicBezTo>
                  <a:pt x="124135" y="71276"/>
                  <a:pt x="130126" y="69859"/>
                  <a:pt x="134699" y="72733"/>
                </a:cubicBezTo>
                <a:cubicBezTo>
                  <a:pt x="139273" y="75606"/>
                  <a:pt x="140649" y="81556"/>
                  <a:pt x="137775" y="8613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09507" y="7230006"/>
            <a:ext cx="7091853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论文级概念 vs 开源实现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4714" y="7644465"/>
            <a:ext cx="7345133" cy="59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论文描述设计思想与系统模型,开源实现(如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HDFS/Spark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)是具体的工程实现。题干出现具体开源组件名时,通常不是论文原名。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240519" y="7091853"/>
            <a:ext cx="7552363" cy="1289428"/>
          </a:xfrm>
          <a:custGeom>
            <a:avLst/>
            <a:gdLst/>
            <a:ahLst/>
            <a:cxnLst/>
            <a:rect l="l" t="t" r="r" b="b"/>
            <a:pathLst>
              <a:path w="7552363" h="1289428">
                <a:moveTo>
                  <a:pt x="46051" y="0"/>
                </a:moveTo>
                <a:lnTo>
                  <a:pt x="7460259" y="0"/>
                </a:lnTo>
                <a:cubicBezTo>
                  <a:pt x="7511126" y="0"/>
                  <a:pt x="7552363" y="41236"/>
                  <a:pt x="7552363" y="92104"/>
                </a:cubicBezTo>
                <a:lnTo>
                  <a:pt x="7552363" y="1197324"/>
                </a:lnTo>
                <a:cubicBezTo>
                  <a:pt x="7552363" y="1248191"/>
                  <a:pt x="7511126" y="1289428"/>
                  <a:pt x="7460259" y="1289428"/>
                </a:cubicBezTo>
                <a:lnTo>
                  <a:pt x="46051" y="1289428"/>
                </a:lnTo>
                <a:cubicBezTo>
                  <a:pt x="20618" y="1289428"/>
                  <a:pt x="0" y="1268810"/>
                  <a:pt x="0" y="1243377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240519" y="7091853"/>
            <a:ext cx="46051" cy="1289428"/>
          </a:xfrm>
          <a:custGeom>
            <a:avLst/>
            <a:gdLst/>
            <a:ahLst/>
            <a:cxnLst/>
            <a:rect l="l" t="t" r="r" b="b"/>
            <a:pathLst>
              <a:path w="46051" h="1289428">
                <a:moveTo>
                  <a:pt x="46051" y="0"/>
                </a:moveTo>
                <a:lnTo>
                  <a:pt x="46051" y="0"/>
                </a:lnTo>
                <a:lnTo>
                  <a:pt x="46051" y="1289428"/>
                </a:lnTo>
                <a:lnTo>
                  <a:pt x="46051" y="1289428"/>
                </a:lnTo>
                <a:cubicBezTo>
                  <a:pt x="20618" y="1289428"/>
                  <a:pt x="0" y="1268810"/>
                  <a:pt x="0" y="1243377"/>
                </a:cubicBezTo>
                <a:lnTo>
                  <a:pt x="0" y="46051"/>
                </a:lnTo>
                <a:cubicBezTo>
                  <a:pt x="0" y="20635"/>
                  <a:pt x="20635" y="0"/>
                  <a:pt x="460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430479" y="7287569"/>
            <a:ext cx="207229" cy="207229"/>
          </a:xfrm>
          <a:custGeom>
            <a:avLst/>
            <a:gdLst/>
            <a:ahLst/>
            <a:cxnLst/>
            <a:rect l="l" t="t" r="r" b="b"/>
            <a:pathLst>
              <a:path w="207229" h="207229">
                <a:moveTo>
                  <a:pt x="103615" y="0"/>
                </a:moveTo>
                <a:cubicBezTo>
                  <a:pt x="109564" y="0"/>
                  <a:pt x="115029" y="3278"/>
                  <a:pt x="117862" y="8500"/>
                </a:cubicBezTo>
                <a:lnTo>
                  <a:pt x="205287" y="170398"/>
                </a:lnTo>
                <a:cubicBezTo>
                  <a:pt x="207998" y="175417"/>
                  <a:pt x="207877" y="181488"/>
                  <a:pt x="204963" y="186385"/>
                </a:cubicBezTo>
                <a:cubicBezTo>
                  <a:pt x="202049" y="191283"/>
                  <a:pt x="196747" y="194278"/>
                  <a:pt x="191040" y="194278"/>
                </a:cubicBezTo>
                <a:lnTo>
                  <a:pt x="16190" y="194278"/>
                </a:lnTo>
                <a:cubicBezTo>
                  <a:pt x="10483" y="194278"/>
                  <a:pt x="5221" y="191283"/>
                  <a:pt x="2267" y="186385"/>
                </a:cubicBezTo>
                <a:cubicBezTo>
                  <a:pt x="-688" y="181488"/>
                  <a:pt x="-769" y="175417"/>
                  <a:pt x="1943" y="170398"/>
                </a:cubicBezTo>
                <a:lnTo>
                  <a:pt x="89368" y="8500"/>
                </a:lnTo>
                <a:cubicBezTo>
                  <a:pt x="92201" y="3278"/>
                  <a:pt x="97665" y="0"/>
                  <a:pt x="103615" y="0"/>
                </a:cubicBezTo>
                <a:close/>
                <a:moveTo>
                  <a:pt x="103615" y="67997"/>
                </a:moveTo>
                <a:cubicBezTo>
                  <a:pt x="98232" y="67997"/>
                  <a:pt x="93901" y="72328"/>
                  <a:pt x="93901" y="77711"/>
                </a:cubicBezTo>
                <a:lnTo>
                  <a:pt x="93901" y="123042"/>
                </a:lnTo>
                <a:cubicBezTo>
                  <a:pt x="93901" y="128426"/>
                  <a:pt x="98232" y="132756"/>
                  <a:pt x="103615" y="132756"/>
                </a:cubicBezTo>
                <a:cubicBezTo>
                  <a:pt x="108998" y="132756"/>
                  <a:pt x="113329" y="128426"/>
                  <a:pt x="113329" y="123042"/>
                </a:cubicBezTo>
                <a:lnTo>
                  <a:pt x="113329" y="77711"/>
                </a:lnTo>
                <a:cubicBezTo>
                  <a:pt x="113329" y="72328"/>
                  <a:pt x="108998" y="67997"/>
                  <a:pt x="103615" y="67997"/>
                </a:cubicBezTo>
                <a:close/>
                <a:moveTo>
                  <a:pt x="114421" y="155422"/>
                </a:moveTo>
                <a:cubicBezTo>
                  <a:pt x="114667" y="151411"/>
                  <a:pt x="112667" y="147594"/>
                  <a:pt x="109228" y="145514"/>
                </a:cubicBezTo>
                <a:cubicBezTo>
                  <a:pt x="105789" y="143434"/>
                  <a:pt x="101481" y="143434"/>
                  <a:pt x="98042" y="145514"/>
                </a:cubicBezTo>
                <a:cubicBezTo>
                  <a:pt x="94603" y="147594"/>
                  <a:pt x="92603" y="151411"/>
                  <a:pt x="92849" y="155422"/>
                </a:cubicBezTo>
                <a:cubicBezTo>
                  <a:pt x="92603" y="159433"/>
                  <a:pt x="94603" y="163250"/>
                  <a:pt x="98042" y="165330"/>
                </a:cubicBezTo>
                <a:cubicBezTo>
                  <a:pt x="101481" y="167410"/>
                  <a:pt x="105789" y="167410"/>
                  <a:pt x="109228" y="165330"/>
                </a:cubicBezTo>
                <a:cubicBezTo>
                  <a:pt x="112667" y="163250"/>
                  <a:pt x="114667" y="159433"/>
                  <a:pt x="114421" y="15542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666491" y="7230006"/>
            <a:ext cx="7091853" cy="322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3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高频表达:吞吐优先与顺序</a:t>
            </a:r>
            <a:r>
              <a:rPr lang="en-US" sz="1632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I/O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401698" y="7644465"/>
            <a:ext cx="7345133" cy="59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大数据底座系统常优先优化顺序读写吞吐与故障容忍,而不是单次随机访问的低延迟,这是与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OLTP</a:t>
            </a:r>
            <a:r>
              <a:rPr lang="en-US" sz="145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系统的本质区别。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063" y="491489"/>
            <a:ext cx="1560478" cy="393191"/>
          </a:xfrm>
          <a:custGeom>
            <a:avLst/>
            <a:gdLst/>
            <a:ahLst/>
            <a:cxnLst/>
            <a:rect l="l" t="t" r="r" b="b"/>
            <a:pathLst>
              <a:path w="1560478" h="393191">
                <a:moveTo>
                  <a:pt x="0" y="0"/>
                </a:moveTo>
                <a:lnTo>
                  <a:pt x="1560478" y="0"/>
                </a:lnTo>
                <a:lnTo>
                  <a:pt x="1560478" y="393191"/>
                </a:lnTo>
                <a:lnTo>
                  <a:pt x="0" y="39319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6063" y="491489"/>
            <a:ext cx="49149" cy="393191"/>
          </a:xfrm>
          <a:custGeom>
            <a:avLst/>
            <a:gdLst/>
            <a:ahLst/>
            <a:cxnLst/>
            <a:rect l="l" t="t" r="r" b="b"/>
            <a:pathLst>
              <a:path w="49149" h="393191">
                <a:moveTo>
                  <a:pt x="0" y="0"/>
                </a:moveTo>
                <a:lnTo>
                  <a:pt x="49149" y="0"/>
                </a:lnTo>
                <a:lnTo>
                  <a:pt x="49149" y="393191"/>
                </a:lnTo>
                <a:lnTo>
                  <a:pt x="0" y="393191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8085" y="559069"/>
            <a:ext cx="133988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kern="0" spc="7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1489" y="982978"/>
            <a:ext cx="15494192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高频考点与易错点辨析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6063" y="1671063"/>
            <a:ext cx="7482921" cy="2801488"/>
          </a:xfrm>
          <a:custGeom>
            <a:avLst/>
            <a:gdLst/>
            <a:ahLst/>
            <a:cxnLst/>
            <a:rect l="l" t="t" r="r" b="b"/>
            <a:pathLst>
              <a:path w="7482921" h="2801488">
                <a:moveTo>
                  <a:pt x="49149" y="0"/>
                </a:moveTo>
                <a:lnTo>
                  <a:pt x="7384616" y="0"/>
                </a:lnTo>
                <a:cubicBezTo>
                  <a:pt x="7438908" y="0"/>
                  <a:pt x="7482921" y="44012"/>
                  <a:pt x="7482921" y="98304"/>
                </a:cubicBezTo>
                <a:lnTo>
                  <a:pt x="7482921" y="2703183"/>
                </a:lnTo>
                <a:cubicBezTo>
                  <a:pt x="7482921" y="2757475"/>
                  <a:pt x="7438908" y="2801488"/>
                  <a:pt x="7384616" y="2801488"/>
                </a:cubicBezTo>
                <a:lnTo>
                  <a:pt x="49149" y="2801488"/>
                </a:lnTo>
                <a:cubicBezTo>
                  <a:pt x="22005" y="2801488"/>
                  <a:pt x="0" y="2779483"/>
                  <a:pt x="0" y="275233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6063" y="1671063"/>
            <a:ext cx="49149" cy="2801488"/>
          </a:xfrm>
          <a:custGeom>
            <a:avLst/>
            <a:gdLst/>
            <a:ahLst/>
            <a:cxnLst/>
            <a:rect l="l" t="t" r="r" b="b"/>
            <a:pathLst>
              <a:path w="49149" h="2801488">
                <a:moveTo>
                  <a:pt x="49149" y="0"/>
                </a:moveTo>
                <a:lnTo>
                  <a:pt x="49149" y="0"/>
                </a:lnTo>
                <a:lnTo>
                  <a:pt x="49149" y="2801488"/>
                </a:lnTo>
                <a:lnTo>
                  <a:pt x="49149" y="2801488"/>
                </a:lnTo>
                <a:cubicBezTo>
                  <a:pt x="22005" y="2801488"/>
                  <a:pt x="0" y="2779483"/>
                  <a:pt x="0" y="2752339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47819" y="1965956"/>
            <a:ext cx="184308" cy="245745"/>
          </a:xfrm>
          <a:custGeom>
            <a:avLst/>
            <a:gdLst/>
            <a:ahLst/>
            <a:cxnLst/>
            <a:rect l="l" t="t" r="r" b="b"/>
            <a:pathLst>
              <a:path w="184308" h="245745">
                <a:moveTo>
                  <a:pt x="149463" y="15359"/>
                </a:moveTo>
                <a:lnTo>
                  <a:pt x="153590" y="15359"/>
                </a:lnTo>
                <a:cubicBezTo>
                  <a:pt x="170533" y="15359"/>
                  <a:pt x="184308" y="29134"/>
                  <a:pt x="184308" y="46077"/>
                </a:cubicBezTo>
                <a:lnTo>
                  <a:pt x="184308" y="215026"/>
                </a:lnTo>
                <a:cubicBezTo>
                  <a:pt x="184308" y="231969"/>
                  <a:pt x="170533" y="245745"/>
                  <a:pt x="153590" y="245745"/>
                </a:cubicBezTo>
                <a:lnTo>
                  <a:pt x="30718" y="245745"/>
                </a:lnTo>
                <a:cubicBezTo>
                  <a:pt x="13775" y="245745"/>
                  <a:pt x="0" y="231969"/>
                  <a:pt x="0" y="215026"/>
                </a:cubicBezTo>
                <a:lnTo>
                  <a:pt x="0" y="46077"/>
                </a:lnTo>
                <a:cubicBezTo>
                  <a:pt x="0" y="29134"/>
                  <a:pt x="13775" y="15359"/>
                  <a:pt x="30718" y="15359"/>
                </a:cubicBezTo>
                <a:lnTo>
                  <a:pt x="34846" y="15359"/>
                </a:lnTo>
                <a:cubicBezTo>
                  <a:pt x="40125" y="6192"/>
                  <a:pt x="50061" y="0"/>
                  <a:pt x="61436" y="0"/>
                </a:cubicBezTo>
                <a:lnTo>
                  <a:pt x="122872" y="0"/>
                </a:lnTo>
                <a:cubicBezTo>
                  <a:pt x="134248" y="0"/>
                  <a:pt x="144183" y="6192"/>
                  <a:pt x="149463" y="15359"/>
                </a:cubicBezTo>
                <a:close/>
                <a:moveTo>
                  <a:pt x="119033" y="53757"/>
                </a:moveTo>
                <a:cubicBezTo>
                  <a:pt x="125416" y="53757"/>
                  <a:pt x="130552" y="48621"/>
                  <a:pt x="130552" y="42237"/>
                </a:cubicBezTo>
                <a:cubicBezTo>
                  <a:pt x="130552" y="35854"/>
                  <a:pt x="125416" y="30718"/>
                  <a:pt x="119033" y="30718"/>
                </a:cubicBezTo>
                <a:lnTo>
                  <a:pt x="65276" y="30718"/>
                </a:lnTo>
                <a:cubicBezTo>
                  <a:pt x="58892" y="30718"/>
                  <a:pt x="53757" y="35854"/>
                  <a:pt x="53757" y="42237"/>
                </a:cubicBezTo>
                <a:cubicBezTo>
                  <a:pt x="53757" y="48621"/>
                  <a:pt x="58892" y="53757"/>
                  <a:pt x="65276" y="53757"/>
                </a:cubicBezTo>
                <a:lnTo>
                  <a:pt x="119033" y="53757"/>
                </a:lnTo>
                <a:close/>
                <a:moveTo>
                  <a:pt x="132664" y="125128"/>
                </a:moveTo>
                <a:cubicBezTo>
                  <a:pt x="136023" y="119752"/>
                  <a:pt x="134392" y="112649"/>
                  <a:pt x="129016" y="109241"/>
                </a:cubicBezTo>
                <a:cubicBezTo>
                  <a:pt x="123640" y="105833"/>
                  <a:pt x="116537" y="107513"/>
                  <a:pt x="113129" y="112889"/>
                </a:cubicBezTo>
                <a:lnTo>
                  <a:pt x="83659" y="160070"/>
                </a:lnTo>
                <a:lnTo>
                  <a:pt x="70700" y="142791"/>
                </a:lnTo>
                <a:cubicBezTo>
                  <a:pt x="66860" y="137703"/>
                  <a:pt x="59660" y="136647"/>
                  <a:pt x="54573" y="140487"/>
                </a:cubicBezTo>
                <a:cubicBezTo>
                  <a:pt x="49485" y="144327"/>
                  <a:pt x="48429" y="151526"/>
                  <a:pt x="52269" y="156614"/>
                </a:cubicBezTo>
                <a:lnTo>
                  <a:pt x="75307" y="187332"/>
                </a:lnTo>
                <a:cubicBezTo>
                  <a:pt x="77563" y="190356"/>
                  <a:pt x="81211" y="192084"/>
                  <a:pt x="85003" y="191940"/>
                </a:cubicBezTo>
                <a:cubicBezTo>
                  <a:pt x="88794" y="191796"/>
                  <a:pt x="92250" y="189780"/>
                  <a:pt x="94266" y="186516"/>
                </a:cubicBezTo>
                <a:lnTo>
                  <a:pt x="132664" y="12508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3563" y="1916807"/>
            <a:ext cx="6782549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答题框架:4V → 系统需求 → 典型组件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2" y="2408296"/>
            <a:ext cx="344042" cy="344042"/>
          </a:xfrm>
          <a:custGeom>
            <a:avLst/>
            <a:gdLst/>
            <a:ahLst/>
            <a:cxnLst/>
            <a:rect l="l" t="t" r="r" b="b"/>
            <a:pathLst>
              <a:path w="344042" h="344042">
                <a:moveTo>
                  <a:pt x="172021" y="0"/>
                </a:moveTo>
                <a:lnTo>
                  <a:pt x="172021" y="0"/>
                </a:lnTo>
                <a:cubicBezTo>
                  <a:pt x="266962" y="0"/>
                  <a:pt x="344042" y="77080"/>
                  <a:pt x="344042" y="172021"/>
                </a:cubicBezTo>
                <a:lnTo>
                  <a:pt x="344042" y="172021"/>
                </a:lnTo>
                <a:cubicBezTo>
                  <a:pt x="344042" y="266962"/>
                  <a:pt x="266962" y="344042"/>
                  <a:pt x="172021" y="344042"/>
                </a:cubicBezTo>
                <a:lnTo>
                  <a:pt x="172021" y="344042"/>
                </a:lnTo>
                <a:cubicBezTo>
                  <a:pt x="77080" y="344042"/>
                  <a:pt x="0" y="266962"/>
                  <a:pt x="0" y="172021"/>
                </a:cubicBezTo>
                <a:lnTo>
                  <a:pt x="0" y="172021"/>
                </a:lnTo>
                <a:cubicBezTo>
                  <a:pt x="0" y="77080"/>
                  <a:pt x="77080" y="0"/>
                  <a:pt x="17202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3377" y="2408296"/>
            <a:ext cx="43005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7872" y="2408296"/>
            <a:ext cx="6340209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定义4V: 每个V给出简明定义,如"Volume指数据规模巨大,从GB到PB级"。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6382" y="2850636"/>
            <a:ext cx="344042" cy="344042"/>
          </a:xfrm>
          <a:custGeom>
            <a:avLst/>
            <a:gdLst/>
            <a:ahLst/>
            <a:cxnLst/>
            <a:rect l="l" t="t" r="r" b="b"/>
            <a:pathLst>
              <a:path w="344042" h="344042">
                <a:moveTo>
                  <a:pt x="172021" y="0"/>
                </a:moveTo>
                <a:lnTo>
                  <a:pt x="172021" y="0"/>
                </a:lnTo>
                <a:cubicBezTo>
                  <a:pt x="266962" y="0"/>
                  <a:pt x="344042" y="77080"/>
                  <a:pt x="344042" y="172021"/>
                </a:cubicBezTo>
                <a:lnTo>
                  <a:pt x="344042" y="172021"/>
                </a:lnTo>
                <a:cubicBezTo>
                  <a:pt x="344042" y="266962"/>
                  <a:pt x="266962" y="344042"/>
                  <a:pt x="172021" y="344042"/>
                </a:cubicBezTo>
                <a:lnTo>
                  <a:pt x="172021" y="344042"/>
                </a:lnTo>
                <a:cubicBezTo>
                  <a:pt x="77080" y="344042"/>
                  <a:pt x="0" y="266962"/>
                  <a:pt x="0" y="172021"/>
                </a:cubicBezTo>
                <a:lnTo>
                  <a:pt x="0" y="172021"/>
                </a:lnTo>
                <a:cubicBezTo>
                  <a:pt x="0" y="77080"/>
                  <a:pt x="77080" y="0"/>
                  <a:pt x="17202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3377" y="2850636"/>
            <a:ext cx="43005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7872" y="2850636"/>
            <a:ext cx="6573666" cy="638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系统约束: 补一句"带来的系统约束",如Volume对应分布式扩展,Velocity对应吞吐与延迟权衡。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82" y="3587870"/>
            <a:ext cx="344042" cy="344042"/>
          </a:xfrm>
          <a:custGeom>
            <a:avLst/>
            <a:gdLst/>
            <a:ahLst/>
            <a:cxnLst/>
            <a:rect l="l" t="t" r="r" b="b"/>
            <a:pathLst>
              <a:path w="344042" h="344042">
                <a:moveTo>
                  <a:pt x="172021" y="0"/>
                </a:moveTo>
                <a:lnTo>
                  <a:pt x="172021" y="0"/>
                </a:lnTo>
                <a:cubicBezTo>
                  <a:pt x="266962" y="0"/>
                  <a:pt x="344042" y="77080"/>
                  <a:pt x="344042" y="172021"/>
                </a:cubicBezTo>
                <a:lnTo>
                  <a:pt x="344042" y="172021"/>
                </a:lnTo>
                <a:cubicBezTo>
                  <a:pt x="344042" y="266962"/>
                  <a:pt x="266962" y="344042"/>
                  <a:pt x="172021" y="344042"/>
                </a:cubicBezTo>
                <a:lnTo>
                  <a:pt x="172021" y="344042"/>
                </a:lnTo>
                <a:cubicBezTo>
                  <a:pt x="77080" y="344042"/>
                  <a:pt x="0" y="266962"/>
                  <a:pt x="0" y="172021"/>
                </a:cubicBezTo>
                <a:lnTo>
                  <a:pt x="0" y="172021"/>
                </a:lnTo>
                <a:cubicBezTo>
                  <a:pt x="0" y="77080"/>
                  <a:pt x="77080" y="0"/>
                  <a:pt x="17202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3377" y="3587870"/>
            <a:ext cx="43005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55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7872" y="3587870"/>
            <a:ext cx="6573666" cy="638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典型组件: 将约束落到生态视角,如存储系统用HDFS,计算框架用MapReduce/Spark,协调服务用ZooKeeper。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7633" y="4675289"/>
            <a:ext cx="7495208" cy="3673881"/>
          </a:xfrm>
          <a:custGeom>
            <a:avLst/>
            <a:gdLst/>
            <a:ahLst/>
            <a:cxnLst/>
            <a:rect l="l" t="t" r="r" b="b"/>
            <a:pathLst>
              <a:path w="7495208" h="3673881">
                <a:moveTo>
                  <a:pt x="98313" y="0"/>
                </a:moveTo>
                <a:lnTo>
                  <a:pt x="7396895" y="0"/>
                </a:lnTo>
                <a:cubicBezTo>
                  <a:pt x="7451192" y="0"/>
                  <a:pt x="7495208" y="44016"/>
                  <a:pt x="7495208" y="98313"/>
                </a:cubicBezTo>
                <a:lnTo>
                  <a:pt x="7495208" y="3575568"/>
                </a:lnTo>
                <a:cubicBezTo>
                  <a:pt x="7495208" y="3629864"/>
                  <a:pt x="7451192" y="3673881"/>
                  <a:pt x="7396895" y="3673881"/>
                </a:cubicBezTo>
                <a:lnTo>
                  <a:pt x="98313" y="3673881"/>
                </a:lnTo>
                <a:cubicBezTo>
                  <a:pt x="44016" y="3673881"/>
                  <a:pt x="0" y="3629864"/>
                  <a:pt x="0" y="3575568"/>
                </a:cubicBezTo>
                <a:lnTo>
                  <a:pt x="0" y="98313"/>
                </a:lnTo>
                <a:cubicBezTo>
                  <a:pt x="0" y="44053"/>
                  <a:pt x="44053" y="0"/>
                  <a:pt x="9831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80239" y="4976327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122872" y="245745"/>
                </a:moveTo>
                <a:cubicBezTo>
                  <a:pt x="190687" y="245745"/>
                  <a:pt x="245745" y="190687"/>
                  <a:pt x="245745" y="122872"/>
                </a:cubicBezTo>
                <a:cubicBezTo>
                  <a:pt x="245745" y="55057"/>
                  <a:pt x="190687" y="0"/>
                  <a:pt x="122872" y="0"/>
                </a:cubicBezTo>
                <a:cubicBezTo>
                  <a:pt x="55057" y="0"/>
                  <a:pt x="0" y="55057"/>
                  <a:pt x="0" y="122872"/>
                </a:cubicBezTo>
                <a:cubicBezTo>
                  <a:pt x="0" y="190687"/>
                  <a:pt x="55057" y="245745"/>
                  <a:pt x="122872" y="245745"/>
                </a:cubicBezTo>
                <a:close/>
                <a:moveTo>
                  <a:pt x="122872" y="65276"/>
                </a:moveTo>
                <a:cubicBezTo>
                  <a:pt x="129256" y="65276"/>
                  <a:pt x="134392" y="70412"/>
                  <a:pt x="134392" y="76795"/>
                </a:cubicBezTo>
                <a:lnTo>
                  <a:pt x="134392" y="130552"/>
                </a:lnTo>
                <a:cubicBezTo>
                  <a:pt x="134392" y="136935"/>
                  <a:pt x="129256" y="142071"/>
                  <a:pt x="122872" y="142071"/>
                </a:cubicBezTo>
                <a:cubicBezTo>
                  <a:pt x="116489" y="142071"/>
                  <a:pt x="111353" y="136935"/>
                  <a:pt x="111353" y="130552"/>
                </a:cubicBezTo>
                <a:lnTo>
                  <a:pt x="111353" y="76795"/>
                </a:lnTo>
                <a:cubicBezTo>
                  <a:pt x="111353" y="70412"/>
                  <a:pt x="116489" y="65276"/>
                  <a:pt x="122872" y="65276"/>
                </a:cubicBezTo>
                <a:close/>
                <a:moveTo>
                  <a:pt x="110057" y="168949"/>
                </a:moveTo>
                <a:cubicBezTo>
                  <a:pt x="109766" y="164193"/>
                  <a:pt x="112138" y="159667"/>
                  <a:pt x="116216" y="157200"/>
                </a:cubicBezTo>
                <a:cubicBezTo>
                  <a:pt x="120293" y="154734"/>
                  <a:pt x="125403" y="154734"/>
                  <a:pt x="129481" y="157200"/>
                </a:cubicBezTo>
                <a:cubicBezTo>
                  <a:pt x="133559" y="159667"/>
                  <a:pt x="135931" y="164193"/>
                  <a:pt x="135639" y="168949"/>
                </a:cubicBezTo>
                <a:cubicBezTo>
                  <a:pt x="135931" y="173706"/>
                  <a:pt x="133559" y="178232"/>
                  <a:pt x="129481" y="180699"/>
                </a:cubicBezTo>
                <a:cubicBezTo>
                  <a:pt x="125403" y="183165"/>
                  <a:pt x="120293" y="183165"/>
                  <a:pt x="116216" y="180699"/>
                </a:cubicBezTo>
                <a:cubicBezTo>
                  <a:pt x="112138" y="178232"/>
                  <a:pt x="109766" y="173706"/>
                  <a:pt x="110057" y="16894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56701" y="4927178"/>
            <a:ext cx="680712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选择题排除干扰项技巧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521" y="5418667"/>
            <a:ext cx="6991432" cy="933829"/>
          </a:xfrm>
          <a:custGeom>
            <a:avLst/>
            <a:gdLst/>
            <a:ahLst/>
            <a:cxnLst/>
            <a:rect l="l" t="t" r="r" b="b"/>
            <a:pathLst>
              <a:path w="6991432" h="933829">
                <a:moveTo>
                  <a:pt x="49147" y="0"/>
                </a:moveTo>
                <a:lnTo>
                  <a:pt x="6942284" y="0"/>
                </a:lnTo>
                <a:cubicBezTo>
                  <a:pt x="6969428" y="0"/>
                  <a:pt x="6991432" y="22004"/>
                  <a:pt x="6991432" y="49147"/>
                </a:cubicBezTo>
                <a:lnTo>
                  <a:pt x="6991432" y="884682"/>
                </a:lnTo>
                <a:cubicBezTo>
                  <a:pt x="6991432" y="911825"/>
                  <a:pt x="6969428" y="933829"/>
                  <a:pt x="6942284" y="933829"/>
                </a:cubicBezTo>
                <a:lnTo>
                  <a:pt x="49147" y="933829"/>
                </a:lnTo>
                <a:cubicBezTo>
                  <a:pt x="22004" y="933829"/>
                  <a:pt x="0" y="911825"/>
                  <a:pt x="0" y="884682"/>
                </a:cubicBezTo>
                <a:lnTo>
                  <a:pt x="0" y="49147"/>
                </a:lnTo>
                <a:cubicBezTo>
                  <a:pt x="0" y="22004"/>
                  <a:pt x="22004" y="0"/>
                  <a:pt x="4914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6967" y="5566113"/>
            <a:ext cx="6794836" cy="638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论文级概念优先: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GFS/MapReduce/Bigtable属于Google三大论文;HDFS是开源实现,不应被选为"Google三大论文"。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521" y="6450794"/>
            <a:ext cx="6991432" cy="933829"/>
          </a:xfrm>
          <a:custGeom>
            <a:avLst/>
            <a:gdLst/>
            <a:ahLst/>
            <a:cxnLst/>
            <a:rect l="l" t="t" r="r" b="b"/>
            <a:pathLst>
              <a:path w="6991432" h="933829">
                <a:moveTo>
                  <a:pt x="49147" y="0"/>
                </a:moveTo>
                <a:lnTo>
                  <a:pt x="6942284" y="0"/>
                </a:lnTo>
                <a:cubicBezTo>
                  <a:pt x="6969428" y="0"/>
                  <a:pt x="6991432" y="22004"/>
                  <a:pt x="6991432" y="49147"/>
                </a:cubicBezTo>
                <a:lnTo>
                  <a:pt x="6991432" y="884682"/>
                </a:lnTo>
                <a:cubicBezTo>
                  <a:pt x="6991432" y="911825"/>
                  <a:pt x="6969428" y="933829"/>
                  <a:pt x="6942284" y="933829"/>
                </a:cubicBezTo>
                <a:lnTo>
                  <a:pt x="49147" y="933829"/>
                </a:lnTo>
                <a:cubicBezTo>
                  <a:pt x="22004" y="933829"/>
                  <a:pt x="0" y="911825"/>
                  <a:pt x="0" y="884682"/>
                </a:cubicBezTo>
                <a:lnTo>
                  <a:pt x="0" y="49147"/>
                </a:lnTo>
                <a:cubicBezTo>
                  <a:pt x="0" y="22004"/>
                  <a:pt x="22004" y="0"/>
                  <a:pt x="4914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6967" y="6598240"/>
            <a:ext cx="6794836" cy="638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关键区别: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论文描述的是设计思想与系统模型;开源实现(如HDFS/Spark)是具体的工程实现。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521" y="7482921"/>
            <a:ext cx="6991432" cy="614361"/>
          </a:xfrm>
          <a:custGeom>
            <a:avLst/>
            <a:gdLst/>
            <a:ahLst/>
            <a:cxnLst/>
            <a:rect l="l" t="t" r="r" b="b"/>
            <a:pathLst>
              <a:path w="6991432" h="614361">
                <a:moveTo>
                  <a:pt x="49149" y="0"/>
                </a:moveTo>
                <a:lnTo>
                  <a:pt x="6942283" y="0"/>
                </a:lnTo>
                <a:cubicBezTo>
                  <a:pt x="6969427" y="0"/>
                  <a:pt x="6991432" y="22005"/>
                  <a:pt x="6991432" y="49149"/>
                </a:cubicBezTo>
                <a:lnTo>
                  <a:pt x="6991432" y="565212"/>
                </a:lnTo>
                <a:cubicBezTo>
                  <a:pt x="6991432" y="592357"/>
                  <a:pt x="6969427" y="614361"/>
                  <a:pt x="6942283" y="614361"/>
                </a:cubicBezTo>
                <a:lnTo>
                  <a:pt x="49149" y="614361"/>
                </a:lnTo>
                <a:cubicBezTo>
                  <a:pt x="22005" y="614361"/>
                  <a:pt x="0" y="592357"/>
                  <a:pt x="0" y="565212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6967" y="7630367"/>
            <a:ext cx="6794836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题干陷阱: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题干出现具体开源组件名时,通常不是论文原名。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48760" y="1695637"/>
            <a:ext cx="7507495" cy="4103933"/>
          </a:xfrm>
          <a:custGeom>
            <a:avLst/>
            <a:gdLst/>
            <a:ahLst/>
            <a:cxnLst/>
            <a:rect l="l" t="t" r="r" b="b"/>
            <a:pathLst>
              <a:path w="7507495" h="4103933">
                <a:moveTo>
                  <a:pt x="49149" y="0"/>
                </a:moveTo>
                <a:lnTo>
                  <a:pt x="7458346" y="0"/>
                </a:lnTo>
                <a:cubicBezTo>
                  <a:pt x="7485490" y="0"/>
                  <a:pt x="7507495" y="22005"/>
                  <a:pt x="7507495" y="49149"/>
                </a:cubicBezTo>
                <a:lnTo>
                  <a:pt x="7507495" y="4005644"/>
                </a:lnTo>
                <a:cubicBezTo>
                  <a:pt x="7507495" y="4059928"/>
                  <a:pt x="7463490" y="4103933"/>
                  <a:pt x="7409206" y="4103933"/>
                </a:cubicBezTo>
                <a:lnTo>
                  <a:pt x="98289" y="4103933"/>
                </a:lnTo>
                <a:cubicBezTo>
                  <a:pt x="44006" y="4103933"/>
                  <a:pt x="0" y="4059928"/>
                  <a:pt x="0" y="4005644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48760" y="1695637"/>
            <a:ext cx="7507495" cy="49149"/>
          </a:xfrm>
          <a:custGeom>
            <a:avLst/>
            <a:gdLst/>
            <a:ahLst/>
            <a:cxnLst/>
            <a:rect l="l" t="t" r="r" b="b"/>
            <a:pathLst>
              <a:path w="7507495" h="49149">
                <a:moveTo>
                  <a:pt x="49149" y="0"/>
                </a:moveTo>
                <a:lnTo>
                  <a:pt x="7458346" y="0"/>
                </a:lnTo>
                <a:cubicBezTo>
                  <a:pt x="7485490" y="0"/>
                  <a:pt x="7507495" y="22005"/>
                  <a:pt x="7507495" y="49149"/>
                </a:cubicBezTo>
                <a:lnTo>
                  <a:pt x="7507495" y="49149"/>
                </a:lnTo>
                <a:lnTo>
                  <a:pt x="0" y="49149"/>
                </a:ln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25223" y="2015105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122872" y="245745"/>
                </a:moveTo>
                <a:cubicBezTo>
                  <a:pt x="190687" y="245745"/>
                  <a:pt x="245745" y="190687"/>
                  <a:pt x="245745" y="122872"/>
                </a:cubicBezTo>
                <a:cubicBezTo>
                  <a:pt x="245745" y="55057"/>
                  <a:pt x="190687" y="0"/>
                  <a:pt x="122872" y="0"/>
                </a:cubicBezTo>
                <a:cubicBezTo>
                  <a:pt x="55057" y="0"/>
                  <a:pt x="0" y="55057"/>
                  <a:pt x="0" y="122872"/>
                </a:cubicBezTo>
                <a:cubicBezTo>
                  <a:pt x="0" y="190687"/>
                  <a:pt x="55057" y="245745"/>
                  <a:pt x="122872" y="245745"/>
                </a:cubicBezTo>
                <a:close/>
                <a:moveTo>
                  <a:pt x="80155" y="80155"/>
                </a:moveTo>
                <a:cubicBezTo>
                  <a:pt x="84667" y="75643"/>
                  <a:pt x="91962" y="75643"/>
                  <a:pt x="96426" y="80155"/>
                </a:cubicBezTo>
                <a:lnTo>
                  <a:pt x="122824" y="106553"/>
                </a:lnTo>
                <a:lnTo>
                  <a:pt x="149223" y="80155"/>
                </a:lnTo>
                <a:cubicBezTo>
                  <a:pt x="153734" y="75643"/>
                  <a:pt x="161030" y="75643"/>
                  <a:pt x="165494" y="80155"/>
                </a:cubicBezTo>
                <a:cubicBezTo>
                  <a:pt x="169957" y="84667"/>
                  <a:pt x="170005" y="91962"/>
                  <a:pt x="165494" y="96426"/>
                </a:cubicBezTo>
                <a:lnTo>
                  <a:pt x="139095" y="122824"/>
                </a:lnTo>
                <a:lnTo>
                  <a:pt x="165494" y="149223"/>
                </a:lnTo>
                <a:cubicBezTo>
                  <a:pt x="170005" y="153734"/>
                  <a:pt x="170005" y="161030"/>
                  <a:pt x="165494" y="165494"/>
                </a:cubicBezTo>
                <a:cubicBezTo>
                  <a:pt x="160982" y="169957"/>
                  <a:pt x="153686" y="170005"/>
                  <a:pt x="149223" y="165494"/>
                </a:cubicBezTo>
                <a:lnTo>
                  <a:pt x="122824" y="139095"/>
                </a:lnTo>
                <a:lnTo>
                  <a:pt x="96426" y="165494"/>
                </a:lnTo>
                <a:cubicBezTo>
                  <a:pt x="91914" y="170005"/>
                  <a:pt x="84619" y="170005"/>
                  <a:pt x="80155" y="165494"/>
                </a:cubicBezTo>
                <a:cubicBezTo>
                  <a:pt x="75691" y="160982"/>
                  <a:pt x="75643" y="153686"/>
                  <a:pt x="80155" y="149223"/>
                </a:cubicBezTo>
                <a:lnTo>
                  <a:pt x="106553" y="122824"/>
                </a:lnTo>
                <a:lnTo>
                  <a:pt x="80155" y="96426"/>
                </a:lnTo>
                <a:cubicBezTo>
                  <a:pt x="75643" y="91914"/>
                  <a:pt x="75643" y="84619"/>
                  <a:pt x="80155" y="80155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01686" y="1965956"/>
            <a:ext cx="6831698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典型易错题示例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94505" y="2457445"/>
            <a:ext cx="7016006" cy="933829"/>
          </a:xfrm>
          <a:custGeom>
            <a:avLst/>
            <a:gdLst/>
            <a:ahLst/>
            <a:cxnLst/>
            <a:rect l="l" t="t" r="r" b="b"/>
            <a:pathLst>
              <a:path w="7016006" h="933829">
                <a:moveTo>
                  <a:pt x="98295" y="0"/>
                </a:moveTo>
                <a:lnTo>
                  <a:pt x="6917711" y="0"/>
                </a:lnTo>
                <a:cubicBezTo>
                  <a:pt x="6971998" y="0"/>
                  <a:pt x="7016006" y="44008"/>
                  <a:pt x="7016006" y="98295"/>
                </a:cubicBezTo>
                <a:lnTo>
                  <a:pt x="7016006" y="835534"/>
                </a:lnTo>
                <a:cubicBezTo>
                  <a:pt x="7016006" y="889821"/>
                  <a:pt x="6971998" y="933829"/>
                  <a:pt x="6917711" y="933829"/>
                </a:cubicBezTo>
                <a:lnTo>
                  <a:pt x="98295" y="933829"/>
                </a:lnTo>
                <a:cubicBezTo>
                  <a:pt x="44008" y="933829"/>
                  <a:pt x="0" y="889821"/>
                  <a:pt x="0" y="835534"/>
                </a:cubicBezTo>
                <a:lnTo>
                  <a:pt x="0" y="98295"/>
                </a:lnTo>
                <a:cubicBezTo>
                  <a:pt x="0" y="44008"/>
                  <a:pt x="44008" y="0"/>
                  <a:pt x="98295" y="0"/>
                </a:cubicBezTo>
                <a:close/>
              </a:path>
            </a:pathLst>
          </a:custGeom>
          <a:solidFill>
            <a:srgbClr val="5A6472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41952" y="2604892"/>
            <a:ext cx="681941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❌ 错误选项: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"HDFS是Google三大论文之一"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41952" y="2948934"/>
            <a:ext cx="681941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正确答案:</a:t>
            </a:r>
            <a:r>
              <a:rPr lang="en-US" sz="15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GFS/MapReduce/Bigtable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94505" y="3538721"/>
            <a:ext cx="7016006" cy="933829"/>
          </a:xfrm>
          <a:custGeom>
            <a:avLst/>
            <a:gdLst/>
            <a:ahLst/>
            <a:cxnLst/>
            <a:rect l="l" t="t" r="r" b="b"/>
            <a:pathLst>
              <a:path w="7016006" h="933829">
                <a:moveTo>
                  <a:pt x="98295" y="0"/>
                </a:moveTo>
                <a:lnTo>
                  <a:pt x="6917711" y="0"/>
                </a:lnTo>
                <a:cubicBezTo>
                  <a:pt x="6971998" y="0"/>
                  <a:pt x="7016006" y="44008"/>
                  <a:pt x="7016006" y="98295"/>
                </a:cubicBezTo>
                <a:lnTo>
                  <a:pt x="7016006" y="835534"/>
                </a:lnTo>
                <a:cubicBezTo>
                  <a:pt x="7016006" y="889821"/>
                  <a:pt x="6971998" y="933829"/>
                  <a:pt x="6917711" y="933829"/>
                </a:cubicBezTo>
                <a:lnTo>
                  <a:pt x="98295" y="933829"/>
                </a:lnTo>
                <a:cubicBezTo>
                  <a:pt x="44008" y="933829"/>
                  <a:pt x="0" y="889821"/>
                  <a:pt x="0" y="835534"/>
                </a:cubicBezTo>
                <a:lnTo>
                  <a:pt x="0" y="98295"/>
                </a:lnTo>
                <a:cubicBezTo>
                  <a:pt x="0" y="44008"/>
                  <a:pt x="44008" y="0"/>
                  <a:pt x="98295" y="0"/>
                </a:cubicBezTo>
                <a:close/>
              </a:path>
            </a:pathLst>
          </a:custGeom>
          <a:solidFill>
            <a:srgbClr val="5A6472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41952" y="3686168"/>
            <a:ext cx="681941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❌ 错误理解: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"大数据系统优先优化随机访问低延迟"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41952" y="4030210"/>
            <a:ext cx="681941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正确理解:</a:t>
            </a:r>
            <a:r>
              <a:rPr lang="en-US" sz="15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优先优化顺序读写吞吐与容错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94505" y="4619997"/>
            <a:ext cx="7016006" cy="933829"/>
          </a:xfrm>
          <a:custGeom>
            <a:avLst/>
            <a:gdLst/>
            <a:ahLst/>
            <a:cxnLst/>
            <a:rect l="l" t="t" r="r" b="b"/>
            <a:pathLst>
              <a:path w="7016006" h="933829">
                <a:moveTo>
                  <a:pt x="98295" y="0"/>
                </a:moveTo>
                <a:lnTo>
                  <a:pt x="6917711" y="0"/>
                </a:lnTo>
                <a:cubicBezTo>
                  <a:pt x="6971998" y="0"/>
                  <a:pt x="7016006" y="44008"/>
                  <a:pt x="7016006" y="98295"/>
                </a:cubicBezTo>
                <a:lnTo>
                  <a:pt x="7016006" y="835534"/>
                </a:lnTo>
                <a:cubicBezTo>
                  <a:pt x="7016006" y="889821"/>
                  <a:pt x="6971998" y="933829"/>
                  <a:pt x="6917711" y="933829"/>
                </a:cubicBezTo>
                <a:lnTo>
                  <a:pt x="98295" y="933829"/>
                </a:lnTo>
                <a:cubicBezTo>
                  <a:pt x="44008" y="933829"/>
                  <a:pt x="0" y="889821"/>
                  <a:pt x="0" y="835534"/>
                </a:cubicBezTo>
                <a:lnTo>
                  <a:pt x="0" y="98295"/>
                </a:lnTo>
                <a:cubicBezTo>
                  <a:pt x="0" y="44008"/>
                  <a:pt x="44008" y="0"/>
                  <a:pt x="98295" y="0"/>
                </a:cubicBezTo>
                <a:close/>
              </a:path>
            </a:pathLst>
          </a:custGeom>
          <a:solidFill>
            <a:srgbClr val="5A6472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41952" y="4767444"/>
            <a:ext cx="681941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❌ 错误表述: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"Value密度高所以适合实时处理"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41952" y="5111486"/>
            <a:ext cx="681941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✓ 正确表述:</a:t>
            </a:r>
            <a:r>
              <a:rPr lang="en-US" sz="15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Value密度低需批处理+统计建模提纯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73335" y="5996166"/>
            <a:ext cx="7482921" cy="2629466"/>
          </a:xfrm>
          <a:custGeom>
            <a:avLst/>
            <a:gdLst/>
            <a:ahLst/>
            <a:cxnLst/>
            <a:rect l="l" t="t" r="r" b="b"/>
            <a:pathLst>
              <a:path w="7482921" h="2629466">
                <a:moveTo>
                  <a:pt x="49149" y="0"/>
                </a:moveTo>
                <a:lnTo>
                  <a:pt x="7384631" y="0"/>
                </a:lnTo>
                <a:cubicBezTo>
                  <a:pt x="7438915" y="0"/>
                  <a:pt x="7482921" y="44006"/>
                  <a:pt x="7482921" y="98289"/>
                </a:cubicBezTo>
                <a:lnTo>
                  <a:pt x="7482921" y="2531177"/>
                </a:lnTo>
                <a:cubicBezTo>
                  <a:pt x="7482921" y="2585461"/>
                  <a:pt x="7438915" y="2629466"/>
                  <a:pt x="7384631" y="2629466"/>
                </a:cubicBezTo>
                <a:lnTo>
                  <a:pt x="49149" y="2629466"/>
                </a:lnTo>
                <a:cubicBezTo>
                  <a:pt x="22005" y="2629466"/>
                  <a:pt x="0" y="2607462"/>
                  <a:pt x="0" y="258031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73335" y="5996166"/>
            <a:ext cx="49149" cy="2629466"/>
          </a:xfrm>
          <a:custGeom>
            <a:avLst/>
            <a:gdLst/>
            <a:ahLst/>
            <a:cxnLst/>
            <a:rect l="l" t="t" r="r" b="b"/>
            <a:pathLst>
              <a:path w="49149" h="2629466">
                <a:moveTo>
                  <a:pt x="49149" y="0"/>
                </a:moveTo>
                <a:lnTo>
                  <a:pt x="49149" y="0"/>
                </a:lnTo>
                <a:lnTo>
                  <a:pt x="49149" y="2629466"/>
                </a:lnTo>
                <a:lnTo>
                  <a:pt x="49149" y="2629466"/>
                </a:lnTo>
                <a:cubicBezTo>
                  <a:pt x="22005" y="2629466"/>
                  <a:pt x="0" y="2607462"/>
                  <a:pt x="0" y="258031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574372" y="62910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57596" y="26878"/>
                </a:moveTo>
                <a:cubicBezTo>
                  <a:pt x="57596" y="12047"/>
                  <a:pt x="69644" y="0"/>
                  <a:pt x="84475" y="0"/>
                </a:cubicBezTo>
                <a:lnTo>
                  <a:pt x="95994" y="0"/>
                </a:lnTo>
                <a:cubicBezTo>
                  <a:pt x="104489" y="0"/>
                  <a:pt x="111353" y="6864"/>
                  <a:pt x="111353" y="15359"/>
                </a:cubicBezTo>
                <a:lnTo>
                  <a:pt x="111353" y="230385"/>
                </a:lnTo>
                <a:cubicBezTo>
                  <a:pt x="111353" y="238881"/>
                  <a:pt x="104489" y="245745"/>
                  <a:pt x="95994" y="245745"/>
                </a:cubicBezTo>
                <a:lnTo>
                  <a:pt x="80635" y="245745"/>
                </a:lnTo>
                <a:cubicBezTo>
                  <a:pt x="66332" y="245745"/>
                  <a:pt x="54285" y="235953"/>
                  <a:pt x="50877" y="222706"/>
                </a:cubicBezTo>
                <a:cubicBezTo>
                  <a:pt x="50541" y="222706"/>
                  <a:pt x="50253" y="222706"/>
                  <a:pt x="49917" y="222706"/>
                </a:cubicBezTo>
                <a:cubicBezTo>
                  <a:pt x="28702" y="222706"/>
                  <a:pt x="11519" y="205523"/>
                  <a:pt x="11519" y="184308"/>
                </a:cubicBezTo>
                <a:cubicBezTo>
                  <a:pt x="11519" y="175669"/>
                  <a:pt x="14399" y="167701"/>
                  <a:pt x="19199" y="161270"/>
                </a:cubicBezTo>
                <a:cubicBezTo>
                  <a:pt x="9887" y="154262"/>
                  <a:pt x="3840" y="143127"/>
                  <a:pt x="3840" y="130552"/>
                </a:cubicBezTo>
                <a:cubicBezTo>
                  <a:pt x="3840" y="115721"/>
                  <a:pt x="12287" y="102810"/>
                  <a:pt x="24574" y="96426"/>
                </a:cubicBezTo>
                <a:cubicBezTo>
                  <a:pt x="21167" y="90666"/>
                  <a:pt x="19199" y="83947"/>
                  <a:pt x="19199" y="76795"/>
                </a:cubicBezTo>
                <a:cubicBezTo>
                  <a:pt x="19199" y="55580"/>
                  <a:pt x="36382" y="38398"/>
                  <a:pt x="57596" y="38398"/>
                </a:cubicBezTo>
                <a:lnTo>
                  <a:pt x="57596" y="26878"/>
                </a:lnTo>
                <a:close/>
                <a:moveTo>
                  <a:pt x="188148" y="26878"/>
                </a:moveTo>
                <a:lnTo>
                  <a:pt x="188148" y="38398"/>
                </a:lnTo>
                <a:cubicBezTo>
                  <a:pt x="209363" y="38398"/>
                  <a:pt x="226546" y="55580"/>
                  <a:pt x="226546" y="76795"/>
                </a:cubicBezTo>
                <a:cubicBezTo>
                  <a:pt x="226546" y="83995"/>
                  <a:pt x="224578" y="90714"/>
                  <a:pt x="221170" y="96426"/>
                </a:cubicBezTo>
                <a:cubicBezTo>
                  <a:pt x="233505" y="102810"/>
                  <a:pt x="241905" y="115673"/>
                  <a:pt x="241905" y="130552"/>
                </a:cubicBezTo>
                <a:cubicBezTo>
                  <a:pt x="241905" y="143127"/>
                  <a:pt x="235857" y="154262"/>
                  <a:pt x="226546" y="161270"/>
                </a:cubicBezTo>
                <a:cubicBezTo>
                  <a:pt x="231345" y="167701"/>
                  <a:pt x="234225" y="175669"/>
                  <a:pt x="234225" y="184308"/>
                </a:cubicBezTo>
                <a:cubicBezTo>
                  <a:pt x="234225" y="205523"/>
                  <a:pt x="217042" y="222706"/>
                  <a:pt x="195828" y="222706"/>
                </a:cubicBezTo>
                <a:cubicBezTo>
                  <a:pt x="195492" y="222706"/>
                  <a:pt x="195204" y="222706"/>
                  <a:pt x="194868" y="222706"/>
                </a:cubicBezTo>
                <a:cubicBezTo>
                  <a:pt x="191460" y="235953"/>
                  <a:pt x="179413" y="245745"/>
                  <a:pt x="165110" y="245745"/>
                </a:cubicBezTo>
                <a:lnTo>
                  <a:pt x="149751" y="245745"/>
                </a:lnTo>
                <a:cubicBezTo>
                  <a:pt x="141255" y="245745"/>
                  <a:pt x="134392" y="238881"/>
                  <a:pt x="134392" y="230385"/>
                </a:cubicBezTo>
                <a:lnTo>
                  <a:pt x="134392" y="15359"/>
                </a:lnTo>
                <a:cubicBezTo>
                  <a:pt x="134392" y="6864"/>
                  <a:pt x="141255" y="0"/>
                  <a:pt x="149751" y="0"/>
                </a:cubicBezTo>
                <a:lnTo>
                  <a:pt x="161270" y="0"/>
                </a:lnTo>
                <a:cubicBezTo>
                  <a:pt x="176101" y="0"/>
                  <a:pt x="188148" y="12047"/>
                  <a:pt x="188148" y="2687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850834" y="6241911"/>
            <a:ext cx="6782549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思考题示例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43654" y="6733400"/>
            <a:ext cx="6966857" cy="933829"/>
          </a:xfrm>
          <a:custGeom>
            <a:avLst/>
            <a:gdLst/>
            <a:ahLst/>
            <a:cxnLst/>
            <a:rect l="l" t="t" r="r" b="b"/>
            <a:pathLst>
              <a:path w="6966857" h="933829">
                <a:moveTo>
                  <a:pt x="49147" y="0"/>
                </a:moveTo>
                <a:lnTo>
                  <a:pt x="6917710" y="0"/>
                </a:lnTo>
                <a:cubicBezTo>
                  <a:pt x="6944853" y="0"/>
                  <a:pt x="6966857" y="22004"/>
                  <a:pt x="6966857" y="49147"/>
                </a:cubicBezTo>
                <a:lnTo>
                  <a:pt x="6966857" y="884682"/>
                </a:lnTo>
                <a:cubicBezTo>
                  <a:pt x="6966857" y="911825"/>
                  <a:pt x="6944853" y="933829"/>
                  <a:pt x="6917710" y="933829"/>
                </a:cubicBezTo>
                <a:lnTo>
                  <a:pt x="49147" y="933829"/>
                </a:lnTo>
                <a:cubicBezTo>
                  <a:pt x="22004" y="933829"/>
                  <a:pt x="0" y="911825"/>
                  <a:pt x="0" y="884682"/>
                </a:cubicBezTo>
                <a:lnTo>
                  <a:pt x="0" y="49147"/>
                </a:lnTo>
                <a:cubicBezTo>
                  <a:pt x="0" y="22004"/>
                  <a:pt x="22004" y="0"/>
                  <a:pt x="4914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691101" y="6880847"/>
            <a:ext cx="6770262" cy="638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Q1: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如果一个业务每天产生TB级日志,要求T+1产出统计报表,如何用4V解释系统选型?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43654" y="7765527"/>
            <a:ext cx="6966857" cy="614361"/>
          </a:xfrm>
          <a:custGeom>
            <a:avLst/>
            <a:gdLst/>
            <a:ahLst/>
            <a:cxnLst/>
            <a:rect l="l" t="t" r="r" b="b"/>
            <a:pathLst>
              <a:path w="6966857" h="614361">
                <a:moveTo>
                  <a:pt x="49149" y="0"/>
                </a:moveTo>
                <a:lnTo>
                  <a:pt x="6917708" y="0"/>
                </a:lnTo>
                <a:cubicBezTo>
                  <a:pt x="6944852" y="0"/>
                  <a:pt x="6966857" y="22005"/>
                  <a:pt x="6966857" y="49149"/>
                </a:cubicBezTo>
                <a:lnTo>
                  <a:pt x="6966857" y="565212"/>
                </a:lnTo>
                <a:cubicBezTo>
                  <a:pt x="6966857" y="592357"/>
                  <a:pt x="6944852" y="614361"/>
                  <a:pt x="6917708" y="614361"/>
                </a:cubicBezTo>
                <a:lnTo>
                  <a:pt x="49149" y="614361"/>
                </a:lnTo>
                <a:cubicBezTo>
                  <a:pt x="22005" y="614361"/>
                  <a:pt x="0" y="592357"/>
                  <a:pt x="0" y="565212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91101" y="7912974"/>
            <a:ext cx="6770262" cy="31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Q2:</a:t>
            </a:r>
            <a:r>
              <a:rPr lang="en-US" sz="15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在存储/计算/服务三类能力中,分别举最关键的设计目标并说明原因。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41600" cy="609600"/>
          </a:xfrm>
          <a:custGeom>
            <a:avLst/>
            <a:gdLst/>
            <a:ahLst/>
            <a:cxnLst/>
            <a:rect l="l" t="t" r="r" b="b"/>
            <a:pathLst>
              <a:path w="2641600" h="609600">
                <a:moveTo>
                  <a:pt x="0" y="0"/>
                </a:moveTo>
                <a:lnTo>
                  <a:pt x="2641600" y="0"/>
                </a:lnTo>
                <a:lnTo>
                  <a:pt x="2641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6625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5A64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分布式协调与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一致性基础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定位、数据模型、集群架构与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Watch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54" y="452813"/>
            <a:ext cx="1471643" cy="362251"/>
          </a:xfrm>
          <a:custGeom>
            <a:avLst/>
            <a:gdLst/>
            <a:ahLst/>
            <a:cxnLst/>
            <a:rect l="l" t="t" r="r" b="b"/>
            <a:pathLst>
              <a:path w="1471643" h="362251">
                <a:moveTo>
                  <a:pt x="0" y="0"/>
                </a:moveTo>
                <a:lnTo>
                  <a:pt x="1471643" y="0"/>
                </a:lnTo>
                <a:lnTo>
                  <a:pt x="1471643" y="362251"/>
                </a:lnTo>
                <a:lnTo>
                  <a:pt x="0" y="362251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5454" y="452813"/>
            <a:ext cx="45281" cy="362251"/>
          </a:xfrm>
          <a:custGeom>
            <a:avLst/>
            <a:gdLst/>
            <a:ahLst/>
            <a:cxnLst/>
            <a:rect l="l" t="t" r="r" b="b"/>
            <a:pathLst>
              <a:path w="45281" h="362251">
                <a:moveTo>
                  <a:pt x="0" y="0"/>
                </a:moveTo>
                <a:lnTo>
                  <a:pt x="45281" y="0"/>
                </a:lnTo>
                <a:lnTo>
                  <a:pt x="45281" y="362251"/>
                </a:lnTo>
                <a:lnTo>
                  <a:pt x="0" y="362251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3939" y="515075"/>
            <a:ext cx="1265047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kern="0" spc="71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2813" y="905627"/>
            <a:ext cx="15554139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32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核心定位与数据模型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54" y="1539565"/>
            <a:ext cx="7539343" cy="3645148"/>
          </a:xfrm>
          <a:custGeom>
            <a:avLst/>
            <a:gdLst/>
            <a:ahLst/>
            <a:cxnLst/>
            <a:rect l="l" t="t" r="r" b="b"/>
            <a:pathLst>
              <a:path w="7539343" h="3645148">
                <a:moveTo>
                  <a:pt x="45281" y="0"/>
                </a:moveTo>
                <a:lnTo>
                  <a:pt x="7448797" y="0"/>
                </a:lnTo>
                <a:cubicBezTo>
                  <a:pt x="7498804" y="0"/>
                  <a:pt x="7539343" y="40539"/>
                  <a:pt x="7539343" y="90545"/>
                </a:cubicBezTo>
                <a:lnTo>
                  <a:pt x="7539343" y="3554602"/>
                </a:lnTo>
                <a:cubicBezTo>
                  <a:pt x="7539343" y="3604609"/>
                  <a:pt x="7498804" y="3645148"/>
                  <a:pt x="7448797" y="3645148"/>
                </a:cubicBezTo>
                <a:lnTo>
                  <a:pt x="45281" y="3645148"/>
                </a:lnTo>
                <a:cubicBezTo>
                  <a:pt x="20273" y="3645148"/>
                  <a:pt x="0" y="3624874"/>
                  <a:pt x="0" y="3599866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54" y="1539565"/>
            <a:ext cx="45281" cy="3645148"/>
          </a:xfrm>
          <a:custGeom>
            <a:avLst/>
            <a:gdLst/>
            <a:ahLst/>
            <a:cxnLst/>
            <a:rect l="l" t="t" r="r" b="b"/>
            <a:pathLst>
              <a:path w="45281" h="3645148">
                <a:moveTo>
                  <a:pt x="45281" y="0"/>
                </a:moveTo>
                <a:lnTo>
                  <a:pt x="45281" y="0"/>
                </a:lnTo>
                <a:lnTo>
                  <a:pt x="45281" y="3645148"/>
                </a:lnTo>
                <a:lnTo>
                  <a:pt x="45281" y="3645148"/>
                </a:lnTo>
                <a:cubicBezTo>
                  <a:pt x="20273" y="3645148"/>
                  <a:pt x="0" y="3624874"/>
                  <a:pt x="0" y="3599866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2423" y="1811253"/>
            <a:ext cx="203766" cy="271688"/>
          </a:xfrm>
          <a:custGeom>
            <a:avLst/>
            <a:gdLst/>
            <a:ahLst/>
            <a:cxnLst/>
            <a:rect l="l" t="t" r="r" b="b"/>
            <a:pathLst>
              <a:path w="203766" h="271688">
                <a:moveTo>
                  <a:pt x="0" y="100079"/>
                </a:moveTo>
                <a:cubicBezTo>
                  <a:pt x="0" y="44786"/>
                  <a:pt x="45635" y="0"/>
                  <a:pt x="101883" y="0"/>
                </a:cubicBezTo>
                <a:cubicBezTo>
                  <a:pt x="158131" y="0"/>
                  <a:pt x="203766" y="44786"/>
                  <a:pt x="203766" y="100079"/>
                </a:cubicBezTo>
                <a:cubicBezTo>
                  <a:pt x="203766" y="163384"/>
                  <a:pt x="139983" y="239266"/>
                  <a:pt x="113345" y="268186"/>
                </a:cubicBezTo>
                <a:cubicBezTo>
                  <a:pt x="107083" y="274978"/>
                  <a:pt x="96630" y="274978"/>
                  <a:pt x="90368" y="268186"/>
                </a:cubicBezTo>
                <a:cubicBezTo>
                  <a:pt x="63730" y="239266"/>
                  <a:pt x="-53" y="163384"/>
                  <a:pt x="-53" y="100079"/>
                </a:cubicBezTo>
                <a:close/>
                <a:moveTo>
                  <a:pt x="101883" y="135844"/>
                </a:moveTo>
                <a:cubicBezTo>
                  <a:pt x="120627" y="135844"/>
                  <a:pt x="135844" y="120627"/>
                  <a:pt x="135844" y="101883"/>
                </a:cubicBezTo>
                <a:cubicBezTo>
                  <a:pt x="135844" y="83139"/>
                  <a:pt x="120627" y="67922"/>
                  <a:pt x="101883" y="67922"/>
                </a:cubicBezTo>
                <a:cubicBezTo>
                  <a:pt x="83139" y="67922"/>
                  <a:pt x="67922" y="83139"/>
                  <a:pt x="67922" y="101883"/>
                </a:cubicBezTo>
                <a:cubicBezTo>
                  <a:pt x="67922" y="120627"/>
                  <a:pt x="83139" y="135844"/>
                  <a:pt x="101883" y="135844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64111" y="1765972"/>
            <a:ext cx="6860123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213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的定位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24501" y="2264067"/>
            <a:ext cx="7063889" cy="566017"/>
          </a:xfrm>
          <a:custGeom>
            <a:avLst/>
            <a:gdLst/>
            <a:ahLst/>
            <a:cxnLst/>
            <a:rect l="l" t="t" r="r" b="b"/>
            <a:pathLst>
              <a:path w="7063889" h="566017">
                <a:moveTo>
                  <a:pt x="45281" y="0"/>
                </a:moveTo>
                <a:lnTo>
                  <a:pt x="7018607" y="0"/>
                </a:lnTo>
                <a:cubicBezTo>
                  <a:pt x="7043615" y="0"/>
                  <a:pt x="7063889" y="20273"/>
                  <a:pt x="7063889" y="45281"/>
                </a:cubicBezTo>
                <a:lnTo>
                  <a:pt x="7063889" y="520735"/>
                </a:lnTo>
                <a:cubicBezTo>
                  <a:pt x="7063889" y="545744"/>
                  <a:pt x="7043615" y="566017"/>
                  <a:pt x="701860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0345" y="2399911"/>
            <a:ext cx="6882763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核心定位: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分布式协调服务 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,解决分布式系统中的协调问题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4501" y="2965928"/>
            <a:ext cx="7154451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解决的问题: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提供少量关键元数据的一致性存储与变更通知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24501" y="3350819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7610" y="3475343"/>
            <a:ext cx="138674" cy="158485"/>
          </a:xfrm>
          <a:custGeom>
            <a:avLst/>
            <a:gdLst/>
            <a:ahLst/>
            <a:cxnLst/>
            <a:rect l="l" t="t" r="r" b="b"/>
            <a:pathLst>
              <a:path w="138674" h="158485">
                <a:moveTo>
                  <a:pt x="134588" y="21699"/>
                </a:moveTo>
                <a:cubicBezTo>
                  <a:pt x="139015" y="24918"/>
                  <a:pt x="140005" y="31109"/>
                  <a:pt x="136786" y="35535"/>
                </a:cubicBezTo>
                <a:lnTo>
                  <a:pt x="57544" y="144493"/>
                </a:lnTo>
                <a:cubicBezTo>
                  <a:pt x="55841" y="146846"/>
                  <a:pt x="53210" y="148301"/>
                  <a:pt x="50300" y="148548"/>
                </a:cubicBezTo>
                <a:cubicBezTo>
                  <a:pt x="47391" y="148796"/>
                  <a:pt x="44574" y="147713"/>
                  <a:pt x="42531" y="145670"/>
                </a:cubicBezTo>
                <a:lnTo>
                  <a:pt x="2910" y="106049"/>
                </a:lnTo>
                <a:cubicBezTo>
                  <a:pt x="-960" y="102179"/>
                  <a:pt x="-960" y="95896"/>
                  <a:pt x="2910" y="92026"/>
                </a:cubicBezTo>
                <a:cubicBezTo>
                  <a:pt x="6779" y="88157"/>
                  <a:pt x="13063" y="88157"/>
                  <a:pt x="16932" y="92026"/>
                </a:cubicBezTo>
                <a:lnTo>
                  <a:pt x="48350" y="123445"/>
                </a:lnTo>
                <a:lnTo>
                  <a:pt x="120783" y="23866"/>
                </a:lnTo>
                <a:cubicBezTo>
                  <a:pt x="124002" y="19439"/>
                  <a:pt x="130193" y="18449"/>
                  <a:pt x="134619" y="2166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8630" y="3350819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选主(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 Election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02965" y="3350819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26074" y="3475343"/>
            <a:ext cx="138674" cy="158485"/>
          </a:xfrm>
          <a:custGeom>
            <a:avLst/>
            <a:gdLst/>
            <a:ahLst/>
            <a:cxnLst/>
            <a:rect l="l" t="t" r="r" b="b"/>
            <a:pathLst>
              <a:path w="138674" h="158485">
                <a:moveTo>
                  <a:pt x="134588" y="21699"/>
                </a:moveTo>
                <a:cubicBezTo>
                  <a:pt x="139015" y="24918"/>
                  <a:pt x="140005" y="31109"/>
                  <a:pt x="136786" y="35535"/>
                </a:cubicBezTo>
                <a:lnTo>
                  <a:pt x="57544" y="144493"/>
                </a:lnTo>
                <a:cubicBezTo>
                  <a:pt x="55841" y="146846"/>
                  <a:pt x="53210" y="148301"/>
                  <a:pt x="50300" y="148548"/>
                </a:cubicBezTo>
                <a:cubicBezTo>
                  <a:pt x="47391" y="148796"/>
                  <a:pt x="44574" y="147713"/>
                  <a:pt x="42531" y="145670"/>
                </a:cubicBezTo>
                <a:lnTo>
                  <a:pt x="2910" y="106049"/>
                </a:lnTo>
                <a:cubicBezTo>
                  <a:pt x="-960" y="102179"/>
                  <a:pt x="-960" y="95896"/>
                  <a:pt x="2910" y="92026"/>
                </a:cubicBezTo>
                <a:cubicBezTo>
                  <a:pt x="6779" y="88157"/>
                  <a:pt x="13063" y="88157"/>
                  <a:pt x="16932" y="92026"/>
                </a:cubicBezTo>
                <a:lnTo>
                  <a:pt x="48350" y="123445"/>
                </a:lnTo>
                <a:lnTo>
                  <a:pt x="120783" y="23866"/>
                </a:lnTo>
                <a:cubicBezTo>
                  <a:pt x="124002" y="19439"/>
                  <a:pt x="130193" y="18449"/>
                  <a:pt x="134619" y="2166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47093" y="3350819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成员管理(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Membership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24501" y="3848914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47610" y="3973437"/>
            <a:ext cx="138674" cy="158485"/>
          </a:xfrm>
          <a:custGeom>
            <a:avLst/>
            <a:gdLst/>
            <a:ahLst/>
            <a:cxnLst/>
            <a:rect l="l" t="t" r="r" b="b"/>
            <a:pathLst>
              <a:path w="138674" h="158485">
                <a:moveTo>
                  <a:pt x="134588" y="21699"/>
                </a:moveTo>
                <a:cubicBezTo>
                  <a:pt x="139015" y="24918"/>
                  <a:pt x="140005" y="31109"/>
                  <a:pt x="136786" y="35535"/>
                </a:cubicBezTo>
                <a:lnTo>
                  <a:pt x="57544" y="144493"/>
                </a:lnTo>
                <a:cubicBezTo>
                  <a:pt x="55841" y="146846"/>
                  <a:pt x="53210" y="148301"/>
                  <a:pt x="50300" y="148548"/>
                </a:cubicBezTo>
                <a:cubicBezTo>
                  <a:pt x="47391" y="148796"/>
                  <a:pt x="44574" y="147713"/>
                  <a:pt x="42531" y="145670"/>
                </a:cubicBezTo>
                <a:lnTo>
                  <a:pt x="2910" y="106049"/>
                </a:lnTo>
                <a:cubicBezTo>
                  <a:pt x="-960" y="102179"/>
                  <a:pt x="-960" y="95896"/>
                  <a:pt x="2910" y="92026"/>
                </a:cubicBezTo>
                <a:cubicBezTo>
                  <a:pt x="6779" y="88157"/>
                  <a:pt x="13063" y="88157"/>
                  <a:pt x="16932" y="92026"/>
                </a:cubicBezTo>
                <a:lnTo>
                  <a:pt x="48350" y="123445"/>
                </a:lnTo>
                <a:lnTo>
                  <a:pt x="120783" y="23866"/>
                </a:lnTo>
                <a:cubicBezTo>
                  <a:pt x="124002" y="19439"/>
                  <a:pt x="130193" y="18449"/>
                  <a:pt x="134619" y="2166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8630" y="3848914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配置分发(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Config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2965" y="3848914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426074" y="3973437"/>
            <a:ext cx="138674" cy="158485"/>
          </a:xfrm>
          <a:custGeom>
            <a:avLst/>
            <a:gdLst/>
            <a:ahLst/>
            <a:cxnLst/>
            <a:rect l="l" t="t" r="r" b="b"/>
            <a:pathLst>
              <a:path w="138674" h="158485">
                <a:moveTo>
                  <a:pt x="134588" y="21699"/>
                </a:moveTo>
                <a:cubicBezTo>
                  <a:pt x="139015" y="24918"/>
                  <a:pt x="140005" y="31109"/>
                  <a:pt x="136786" y="35535"/>
                </a:cubicBezTo>
                <a:lnTo>
                  <a:pt x="57544" y="144493"/>
                </a:lnTo>
                <a:cubicBezTo>
                  <a:pt x="55841" y="146846"/>
                  <a:pt x="53210" y="148301"/>
                  <a:pt x="50300" y="148548"/>
                </a:cubicBezTo>
                <a:cubicBezTo>
                  <a:pt x="47391" y="148796"/>
                  <a:pt x="44574" y="147713"/>
                  <a:pt x="42531" y="145670"/>
                </a:cubicBezTo>
                <a:lnTo>
                  <a:pt x="2910" y="106049"/>
                </a:lnTo>
                <a:cubicBezTo>
                  <a:pt x="-960" y="102179"/>
                  <a:pt x="-960" y="95896"/>
                  <a:pt x="2910" y="92026"/>
                </a:cubicBezTo>
                <a:cubicBezTo>
                  <a:pt x="6779" y="88157"/>
                  <a:pt x="13063" y="88157"/>
                  <a:pt x="16932" y="92026"/>
                </a:cubicBezTo>
                <a:lnTo>
                  <a:pt x="48350" y="123445"/>
                </a:lnTo>
                <a:lnTo>
                  <a:pt x="120783" y="23866"/>
                </a:lnTo>
                <a:cubicBezTo>
                  <a:pt x="124002" y="19439"/>
                  <a:pt x="130193" y="18449"/>
                  <a:pt x="134619" y="2166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47093" y="3848914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分布式锁(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Lock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7142" y="4392290"/>
            <a:ext cx="7041248" cy="566017"/>
          </a:xfrm>
          <a:custGeom>
            <a:avLst/>
            <a:gdLst/>
            <a:ahLst/>
            <a:cxnLst/>
            <a:rect l="l" t="t" r="r" b="b"/>
            <a:pathLst>
              <a:path w="7041248" h="566017">
                <a:moveTo>
                  <a:pt x="45281" y="0"/>
                </a:moveTo>
                <a:lnTo>
                  <a:pt x="6995967" y="0"/>
                </a:lnTo>
                <a:cubicBezTo>
                  <a:pt x="7020975" y="0"/>
                  <a:pt x="7041248" y="20273"/>
                  <a:pt x="7041248" y="45281"/>
                </a:cubicBezTo>
                <a:lnTo>
                  <a:pt x="7041248" y="520735"/>
                </a:lnTo>
                <a:cubicBezTo>
                  <a:pt x="7041248" y="545744"/>
                  <a:pt x="7020975" y="566017"/>
                  <a:pt x="699596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7142" y="4392290"/>
            <a:ext cx="45281" cy="566017"/>
          </a:xfrm>
          <a:custGeom>
            <a:avLst/>
            <a:gdLst/>
            <a:ahLst/>
            <a:cxnLst/>
            <a:rect l="l" t="t" r="r" b="b"/>
            <a:pathLst>
              <a:path w="45281" h="566017">
                <a:moveTo>
                  <a:pt x="45281" y="0"/>
                </a:moveTo>
                <a:lnTo>
                  <a:pt x="45281" y="0"/>
                </a:lnTo>
                <a:lnTo>
                  <a:pt x="45281" y="566017"/>
                </a:ln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05627" y="4528134"/>
            <a:ext cx="6837482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不擅长: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存储大量业务数据或高吞吐写入(设计目标不是数据仓库或消息系统)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54" y="5365838"/>
            <a:ext cx="7539343" cy="2739521"/>
          </a:xfrm>
          <a:custGeom>
            <a:avLst/>
            <a:gdLst/>
            <a:ahLst/>
            <a:cxnLst/>
            <a:rect l="l" t="t" r="r" b="b"/>
            <a:pathLst>
              <a:path w="7539343" h="2739521">
                <a:moveTo>
                  <a:pt x="45281" y="0"/>
                </a:moveTo>
                <a:lnTo>
                  <a:pt x="7448774" y="0"/>
                </a:lnTo>
                <a:cubicBezTo>
                  <a:pt x="7498794" y="0"/>
                  <a:pt x="7539343" y="40549"/>
                  <a:pt x="7539343" y="90569"/>
                </a:cubicBezTo>
                <a:lnTo>
                  <a:pt x="7539343" y="2648952"/>
                </a:lnTo>
                <a:cubicBezTo>
                  <a:pt x="7539343" y="2698972"/>
                  <a:pt x="7498794" y="2739521"/>
                  <a:pt x="7448774" y="2739521"/>
                </a:cubicBezTo>
                <a:lnTo>
                  <a:pt x="45281" y="2739521"/>
                </a:lnTo>
                <a:cubicBezTo>
                  <a:pt x="20273" y="2739521"/>
                  <a:pt x="0" y="2719248"/>
                  <a:pt x="0" y="2694240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54" y="5365838"/>
            <a:ext cx="45281" cy="2739521"/>
          </a:xfrm>
          <a:custGeom>
            <a:avLst/>
            <a:gdLst/>
            <a:ahLst/>
            <a:cxnLst/>
            <a:rect l="l" t="t" r="r" b="b"/>
            <a:pathLst>
              <a:path w="45281" h="2739521">
                <a:moveTo>
                  <a:pt x="45281" y="0"/>
                </a:moveTo>
                <a:lnTo>
                  <a:pt x="45281" y="0"/>
                </a:lnTo>
                <a:lnTo>
                  <a:pt x="45281" y="2739521"/>
                </a:lnTo>
                <a:lnTo>
                  <a:pt x="45281" y="2739521"/>
                </a:lnTo>
                <a:cubicBezTo>
                  <a:pt x="20273" y="2739521"/>
                  <a:pt x="0" y="2719248"/>
                  <a:pt x="0" y="2694240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8462" y="5637526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101883" y="33961"/>
                </a:moveTo>
                <a:cubicBezTo>
                  <a:pt x="101883" y="24569"/>
                  <a:pt x="109471" y="16981"/>
                  <a:pt x="118864" y="16981"/>
                </a:cubicBezTo>
                <a:lnTo>
                  <a:pt x="152825" y="16981"/>
                </a:lnTo>
                <a:cubicBezTo>
                  <a:pt x="162217" y="16981"/>
                  <a:pt x="169805" y="24569"/>
                  <a:pt x="169805" y="33961"/>
                </a:cubicBezTo>
                <a:lnTo>
                  <a:pt x="169805" y="67922"/>
                </a:lnTo>
                <a:cubicBezTo>
                  <a:pt x="169805" y="77314"/>
                  <a:pt x="162217" y="84903"/>
                  <a:pt x="152825" y="84903"/>
                </a:cubicBezTo>
                <a:lnTo>
                  <a:pt x="148579" y="84903"/>
                </a:lnTo>
                <a:lnTo>
                  <a:pt x="148579" y="118864"/>
                </a:lnTo>
                <a:lnTo>
                  <a:pt x="212256" y="118864"/>
                </a:lnTo>
                <a:cubicBezTo>
                  <a:pt x="233376" y="118864"/>
                  <a:pt x="250462" y="135950"/>
                  <a:pt x="250462" y="157070"/>
                </a:cubicBezTo>
                <a:lnTo>
                  <a:pt x="250462" y="186786"/>
                </a:lnTo>
                <a:lnTo>
                  <a:pt x="254708" y="186786"/>
                </a:lnTo>
                <a:cubicBezTo>
                  <a:pt x="264100" y="186786"/>
                  <a:pt x="271688" y="194374"/>
                  <a:pt x="271688" y="203766"/>
                </a:cubicBezTo>
                <a:lnTo>
                  <a:pt x="271688" y="237727"/>
                </a:lnTo>
                <a:cubicBezTo>
                  <a:pt x="271688" y="247119"/>
                  <a:pt x="264100" y="254708"/>
                  <a:pt x="254708" y="254708"/>
                </a:cubicBezTo>
                <a:lnTo>
                  <a:pt x="220747" y="254708"/>
                </a:lnTo>
                <a:cubicBezTo>
                  <a:pt x="211354" y="254708"/>
                  <a:pt x="203766" y="247119"/>
                  <a:pt x="203766" y="237727"/>
                </a:cubicBezTo>
                <a:lnTo>
                  <a:pt x="203766" y="203766"/>
                </a:lnTo>
                <a:cubicBezTo>
                  <a:pt x="203766" y="194374"/>
                  <a:pt x="211354" y="186786"/>
                  <a:pt x="220747" y="186786"/>
                </a:cubicBezTo>
                <a:lnTo>
                  <a:pt x="224992" y="186786"/>
                </a:lnTo>
                <a:lnTo>
                  <a:pt x="224992" y="157070"/>
                </a:lnTo>
                <a:cubicBezTo>
                  <a:pt x="224992" y="150012"/>
                  <a:pt x="219314" y="144334"/>
                  <a:pt x="212256" y="144334"/>
                </a:cubicBezTo>
                <a:lnTo>
                  <a:pt x="148579" y="144334"/>
                </a:lnTo>
                <a:lnTo>
                  <a:pt x="148579" y="186786"/>
                </a:lnTo>
                <a:lnTo>
                  <a:pt x="152825" y="186786"/>
                </a:lnTo>
                <a:cubicBezTo>
                  <a:pt x="162217" y="186786"/>
                  <a:pt x="169805" y="194374"/>
                  <a:pt x="169805" y="203766"/>
                </a:cubicBezTo>
                <a:lnTo>
                  <a:pt x="169805" y="237727"/>
                </a:lnTo>
                <a:cubicBezTo>
                  <a:pt x="169805" y="247119"/>
                  <a:pt x="162217" y="254708"/>
                  <a:pt x="152825" y="254708"/>
                </a:cubicBezTo>
                <a:lnTo>
                  <a:pt x="118864" y="254708"/>
                </a:lnTo>
                <a:cubicBezTo>
                  <a:pt x="109471" y="254708"/>
                  <a:pt x="101883" y="247119"/>
                  <a:pt x="101883" y="237727"/>
                </a:cubicBezTo>
                <a:lnTo>
                  <a:pt x="101883" y="203766"/>
                </a:lnTo>
                <a:cubicBezTo>
                  <a:pt x="101883" y="194374"/>
                  <a:pt x="109471" y="186786"/>
                  <a:pt x="118864" y="186786"/>
                </a:cubicBezTo>
                <a:lnTo>
                  <a:pt x="123109" y="186786"/>
                </a:lnTo>
                <a:lnTo>
                  <a:pt x="123109" y="144334"/>
                </a:lnTo>
                <a:lnTo>
                  <a:pt x="59432" y="144334"/>
                </a:lnTo>
                <a:cubicBezTo>
                  <a:pt x="52374" y="144334"/>
                  <a:pt x="46696" y="150012"/>
                  <a:pt x="46696" y="157070"/>
                </a:cubicBezTo>
                <a:lnTo>
                  <a:pt x="46696" y="186786"/>
                </a:lnTo>
                <a:lnTo>
                  <a:pt x="50942" y="186786"/>
                </a:lnTo>
                <a:cubicBezTo>
                  <a:pt x="60334" y="186786"/>
                  <a:pt x="67922" y="194374"/>
                  <a:pt x="67922" y="203766"/>
                </a:cubicBezTo>
                <a:lnTo>
                  <a:pt x="67922" y="237727"/>
                </a:lnTo>
                <a:cubicBezTo>
                  <a:pt x="67922" y="247119"/>
                  <a:pt x="60334" y="254708"/>
                  <a:pt x="50942" y="254708"/>
                </a:cubicBezTo>
                <a:lnTo>
                  <a:pt x="16981" y="254708"/>
                </a:lnTo>
                <a:cubicBezTo>
                  <a:pt x="7588" y="254708"/>
                  <a:pt x="0" y="247119"/>
                  <a:pt x="0" y="237727"/>
                </a:cubicBezTo>
                <a:lnTo>
                  <a:pt x="0" y="203766"/>
                </a:lnTo>
                <a:cubicBezTo>
                  <a:pt x="0" y="194374"/>
                  <a:pt x="7588" y="186786"/>
                  <a:pt x="16981" y="186786"/>
                </a:cubicBezTo>
                <a:lnTo>
                  <a:pt x="21226" y="186786"/>
                </a:lnTo>
                <a:lnTo>
                  <a:pt x="21226" y="157070"/>
                </a:lnTo>
                <a:cubicBezTo>
                  <a:pt x="21226" y="135950"/>
                  <a:pt x="38312" y="118864"/>
                  <a:pt x="59432" y="118864"/>
                </a:cubicBezTo>
                <a:lnTo>
                  <a:pt x="123109" y="118864"/>
                </a:lnTo>
                <a:lnTo>
                  <a:pt x="123109" y="84903"/>
                </a:lnTo>
                <a:lnTo>
                  <a:pt x="118864" y="84903"/>
                </a:lnTo>
                <a:cubicBezTo>
                  <a:pt x="109471" y="84903"/>
                  <a:pt x="101883" y="77314"/>
                  <a:pt x="101883" y="67922"/>
                </a:cubicBezTo>
                <a:lnTo>
                  <a:pt x="101883" y="33961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4111" y="5592245"/>
            <a:ext cx="6860123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数据模型:</a:t>
            </a:r>
            <a:r>
              <a:rPr lang="en-US" sz="213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ZNode</a:t>
            </a:r>
            <a:r>
              <a:rPr lang="en-US" sz="213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目录树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4501" y="6090340"/>
            <a:ext cx="7063889" cy="566017"/>
          </a:xfrm>
          <a:custGeom>
            <a:avLst/>
            <a:gdLst/>
            <a:ahLst/>
            <a:cxnLst/>
            <a:rect l="l" t="t" r="r" b="b"/>
            <a:pathLst>
              <a:path w="7063889" h="566017">
                <a:moveTo>
                  <a:pt x="45281" y="0"/>
                </a:moveTo>
                <a:lnTo>
                  <a:pt x="7018607" y="0"/>
                </a:lnTo>
                <a:cubicBezTo>
                  <a:pt x="7043615" y="0"/>
                  <a:pt x="7063889" y="20273"/>
                  <a:pt x="7063889" y="45281"/>
                </a:cubicBezTo>
                <a:lnTo>
                  <a:pt x="7063889" y="520735"/>
                </a:lnTo>
                <a:cubicBezTo>
                  <a:pt x="7063889" y="545744"/>
                  <a:pt x="7043615" y="566017"/>
                  <a:pt x="701860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0345" y="6226184"/>
            <a:ext cx="6882763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ZNode</a:t>
            </a: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类文件系统的层级节点,可存放少量数据与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ACL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,维护版本号等元信息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24501" y="6792201"/>
            <a:ext cx="2264067" cy="1086752"/>
          </a:xfrm>
          <a:custGeom>
            <a:avLst/>
            <a:gdLst/>
            <a:ahLst/>
            <a:cxnLst/>
            <a:rect l="l" t="t" r="r" b="b"/>
            <a:pathLst>
              <a:path w="2264067" h="1086752">
                <a:moveTo>
                  <a:pt x="45285" y="0"/>
                </a:moveTo>
                <a:lnTo>
                  <a:pt x="2218782" y="0"/>
                </a:lnTo>
                <a:cubicBezTo>
                  <a:pt x="2243792" y="0"/>
                  <a:pt x="2264067" y="20275"/>
                  <a:pt x="2264067" y="45285"/>
                </a:cubicBezTo>
                <a:lnTo>
                  <a:pt x="2264067" y="1041467"/>
                </a:lnTo>
                <a:cubicBezTo>
                  <a:pt x="2264067" y="1066477"/>
                  <a:pt x="2243792" y="1086752"/>
                  <a:pt x="2218782" y="1086752"/>
                </a:cubicBezTo>
                <a:lnTo>
                  <a:pt x="45285" y="1086752"/>
                </a:lnTo>
                <a:cubicBezTo>
                  <a:pt x="20275" y="1086752"/>
                  <a:pt x="0" y="1066477"/>
                  <a:pt x="0" y="1041467"/>
                </a:cubicBezTo>
                <a:lnTo>
                  <a:pt x="0" y="45285"/>
                </a:lnTo>
                <a:cubicBezTo>
                  <a:pt x="0" y="20292"/>
                  <a:pt x="20292" y="0"/>
                  <a:pt x="4528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03744" y="6928045"/>
            <a:ext cx="2105582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持久节点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0724" y="7290295"/>
            <a:ext cx="2071621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显式删除前一直存在,适合配置、服务目录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125208" y="6792201"/>
            <a:ext cx="2264067" cy="1086752"/>
          </a:xfrm>
          <a:custGeom>
            <a:avLst/>
            <a:gdLst/>
            <a:ahLst/>
            <a:cxnLst/>
            <a:rect l="l" t="t" r="r" b="b"/>
            <a:pathLst>
              <a:path w="2264067" h="1086752">
                <a:moveTo>
                  <a:pt x="45285" y="0"/>
                </a:moveTo>
                <a:lnTo>
                  <a:pt x="2218782" y="0"/>
                </a:lnTo>
                <a:cubicBezTo>
                  <a:pt x="2243792" y="0"/>
                  <a:pt x="2264067" y="20275"/>
                  <a:pt x="2264067" y="45285"/>
                </a:cubicBezTo>
                <a:lnTo>
                  <a:pt x="2264067" y="1041467"/>
                </a:lnTo>
                <a:cubicBezTo>
                  <a:pt x="2264067" y="1066477"/>
                  <a:pt x="2243792" y="1086752"/>
                  <a:pt x="2218782" y="1086752"/>
                </a:cubicBezTo>
                <a:lnTo>
                  <a:pt x="45285" y="1086752"/>
                </a:lnTo>
                <a:cubicBezTo>
                  <a:pt x="20275" y="1086752"/>
                  <a:pt x="0" y="1066477"/>
                  <a:pt x="0" y="1041467"/>
                </a:cubicBezTo>
                <a:lnTo>
                  <a:pt x="0" y="45285"/>
                </a:lnTo>
                <a:cubicBezTo>
                  <a:pt x="0" y="20292"/>
                  <a:pt x="20292" y="0"/>
                  <a:pt x="4528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04451" y="6928045"/>
            <a:ext cx="2105582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临时节点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21431" y="7290295"/>
            <a:ext cx="2071621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与</a:t>
            </a:r>
            <a:r>
              <a:rPr lang="en-US" sz="1248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Session</a:t>
            </a:r>
            <a:r>
              <a:rPr lang="en-US" sz="12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绑定,</a:t>
            </a:r>
            <a:r>
              <a:rPr lang="en-US" sz="1248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Session</a:t>
            </a:r>
            <a:r>
              <a:rPr lang="en-US" sz="12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失效后自动删除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525915" y="6792201"/>
            <a:ext cx="2264067" cy="1086752"/>
          </a:xfrm>
          <a:custGeom>
            <a:avLst/>
            <a:gdLst/>
            <a:ahLst/>
            <a:cxnLst/>
            <a:rect l="l" t="t" r="r" b="b"/>
            <a:pathLst>
              <a:path w="2264067" h="1086752">
                <a:moveTo>
                  <a:pt x="45285" y="0"/>
                </a:moveTo>
                <a:lnTo>
                  <a:pt x="2218782" y="0"/>
                </a:lnTo>
                <a:cubicBezTo>
                  <a:pt x="2243792" y="0"/>
                  <a:pt x="2264067" y="20275"/>
                  <a:pt x="2264067" y="45285"/>
                </a:cubicBezTo>
                <a:lnTo>
                  <a:pt x="2264067" y="1041467"/>
                </a:lnTo>
                <a:cubicBezTo>
                  <a:pt x="2264067" y="1066477"/>
                  <a:pt x="2243792" y="1086752"/>
                  <a:pt x="2218782" y="1086752"/>
                </a:cubicBezTo>
                <a:lnTo>
                  <a:pt x="45285" y="1086752"/>
                </a:lnTo>
                <a:cubicBezTo>
                  <a:pt x="20275" y="1086752"/>
                  <a:pt x="0" y="1066477"/>
                  <a:pt x="0" y="1041467"/>
                </a:cubicBezTo>
                <a:lnTo>
                  <a:pt x="0" y="45285"/>
                </a:lnTo>
                <a:cubicBezTo>
                  <a:pt x="0" y="20292"/>
                  <a:pt x="20292" y="0"/>
                  <a:pt x="4528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05157" y="6928045"/>
            <a:ext cx="2105582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顺序节点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22138" y="7290295"/>
            <a:ext cx="2071621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创建时自动追加单调递增序号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66320" y="1539565"/>
            <a:ext cx="7539343" cy="2920646"/>
          </a:xfrm>
          <a:custGeom>
            <a:avLst/>
            <a:gdLst/>
            <a:ahLst/>
            <a:cxnLst/>
            <a:rect l="l" t="t" r="r" b="b"/>
            <a:pathLst>
              <a:path w="7539343" h="2920646">
                <a:moveTo>
                  <a:pt x="45281" y="0"/>
                </a:moveTo>
                <a:lnTo>
                  <a:pt x="7448773" y="0"/>
                </a:lnTo>
                <a:cubicBezTo>
                  <a:pt x="7498793" y="0"/>
                  <a:pt x="7539343" y="40549"/>
                  <a:pt x="7539343" y="90569"/>
                </a:cubicBezTo>
                <a:lnTo>
                  <a:pt x="7539343" y="2830077"/>
                </a:lnTo>
                <a:cubicBezTo>
                  <a:pt x="7539343" y="2880097"/>
                  <a:pt x="7498793" y="2920646"/>
                  <a:pt x="7448773" y="2920646"/>
                </a:cubicBezTo>
                <a:lnTo>
                  <a:pt x="45281" y="2920646"/>
                </a:lnTo>
                <a:cubicBezTo>
                  <a:pt x="20273" y="2920646"/>
                  <a:pt x="0" y="2900373"/>
                  <a:pt x="0" y="2875365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266320" y="1539565"/>
            <a:ext cx="45281" cy="2920646"/>
          </a:xfrm>
          <a:custGeom>
            <a:avLst/>
            <a:gdLst/>
            <a:ahLst/>
            <a:cxnLst/>
            <a:rect l="l" t="t" r="r" b="b"/>
            <a:pathLst>
              <a:path w="45281" h="2920646">
                <a:moveTo>
                  <a:pt x="45281" y="0"/>
                </a:moveTo>
                <a:lnTo>
                  <a:pt x="45281" y="0"/>
                </a:lnTo>
                <a:lnTo>
                  <a:pt x="45281" y="2920646"/>
                </a:lnTo>
                <a:lnTo>
                  <a:pt x="45281" y="2920646"/>
                </a:lnTo>
                <a:cubicBezTo>
                  <a:pt x="20273" y="2920646"/>
                  <a:pt x="0" y="2900373"/>
                  <a:pt x="0" y="2875365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566309" y="1811253"/>
            <a:ext cx="237727" cy="271688"/>
          </a:xfrm>
          <a:custGeom>
            <a:avLst/>
            <a:gdLst/>
            <a:ahLst/>
            <a:cxnLst/>
            <a:rect l="l" t="t" r="r" b="b"/>
            <a:pathLst>
              <a:path w="237727" h="271688">
                <a:moveTo>
                  <a:pt x="67922" y="-16981"/>
                </a:moveTo>
                <a:cubicBezTo>
                  <a:pt x="77314" y="-16981"/>
                  <a:pt x="84903" y="-9392"/>
                  <a:pt x="84903" y="0"/>
                </a:cubicBezTo>
                <a:lnTo>
                  <a:pt x="84903" y="50942"/>
                </a:lnTo>
                <a:lnTo>
                  <a:pt x="152825" y="50942"/>
                </a:lnTo>
                <a:lnTo>
                  <a:pt x="152825" y="0"/>
                </a:lnTo>
                <a:cubicBezTo>
                  <a:pt x="152825" y="-9392"/>
                  <a:pt x="160413" y="-16981"/>
                  <a:pt x="169805" y="-16981"/>
                </a:cubicBezTo>
                <a:cubicBezTo>
                  <a:pt x="179197" y="-16981"/>
                  <a:pt x="186786" y="-9392"/>
                  <a:pt x="186786" y="0"/>
                </a:cubicBezTo>
                <a:lnTo>
                  <a:pt x="186786" y="50942"/>
                </a:lnTo>
                <a:lnTo>
                  <a:pt x="220747" y="50942"/>
                </a:lnTo>
                <a:cubicBezTo>
                  <a:pt x="230139" y="50942"/>
                  <a:pt x="237727" y="58530"/>
                  <a:pt x="237727" y="67922"/>
                </a:cubicBezTo>
                <a:cubicBezTo>
                  <a:pt x="237727" y="77314"/>
                  <a:pt x="230139" y="84903"/>
                  <a:pt x="220747" y="84903"/>
                </a:cubicBezTo>
                <a:lnTo>
                  <a:pt x="220747" y="118864"/>
                </a:lnTo>
                <a:cubicBezTo>
                  <a:pt x="220747" y="169327"/>
                  <a:pt x="184026" y="211248"/>
                  <a:pt x="135844" y="219314"/>
                </a:cubicBezTo>
                <a:lnTo>
                  <a:pt x="135844" y="254708"/>
                </a:lnTo>
                <a:cubicBezTo>
                  <a:pt x="135844" y="264100"/>
                  <a:pt x="128256" y="271688"/>
                  <a:pt x="118864" y="271688"/>
                </a:cubicBezTo>
                <a:cubicBezTo>
                  <a:pt x="109471" y="271688"/>
                  <a:pt x="101883" y="264100"/>
                  <a:pt x="101883" y="254708"/>
                </a:cubicBezTo>
                <a:lnTo>
                  <a:pt x="101883" y="219314"/>
                </a:lnTo>
                <a:cubicBezTo>
                  <a:pt x="53701" y="211248"/>
                  <a:pt x="16981" y="169327"/>
                  <a:pt x="16981" y="118864"/>
                </a:cubicBezTo>
                <a:lnTo>
                  <a:pt x="16981" y="84903"/>
                </a:lnTo>
                <a:cubicBezTo>
                  <a:pt x="7588" y="84903"/>
                  <a:pt x="0" y="77314"/>
                  <a:pt x="0" y="67922"/>
                </a:cubicBezTo>
                <a:cubicBezTo>
                  <a:pt x="0" y="58530"/>
                  <a:pt x="7588" y="50942"/>
                  <a:pt x="16981" y="50942"/>
                </a:cubicBezTo>
                <a:lnTo>
                  <a:pt x="50942" y="50942"/>
                </a:lnTo>
                <a:lnTo>
                  <a:pt x="50942" y="0"/>
                </a:lnTo>
                <a:cubicBezTo>
                  <a:pt x="50942" y="-9392"/>
                  <a:pt x="58530" y="-16981"/>
                  <a:pt x="67922" y="-16981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854978" y="1765972"/>
            <a:ext cx="6860123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Session</a:t>
            </a:r>
            <a:r>
              <a:rPr lang="en-US" sz="213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与临时节点的故障语义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515368" y="2264067"/>
            <a:ext cx="7063889" cy="566017"/>
          </a:xfrm>
          <a:custGeom>
            <a:avLst/>
            <a:gdLst/>
            <a:ahLst/>
            <a:cxnLst/>
            <a:rect l="l" t="t" r="r" b="b"/>
            <a:pathLst>
              <a:path w="7063889" h="566017">
                <a:moveTo>
                  <a:pt x="45281" y="0"/>
                </a:moveTo>
                <a:lnTo>
                  <a:pt x="7018607" y="0"/>
                </a:lnTo>
                <a:cubicBezTo>
                  <a:pt x="7043615" y="0"/>
                  <a:pt x="7063889" y="20273"/>
                  <a:pt x="7063889" y="45281"/>
                </a:cubicBezTo>
                <a:lnTo>
                  <a:pt x="7063889" y="520735"/>
                </a:lnTo>
                <a:cubicBezTo>
                  <a:pt x="7063889" y="545744"/>
                  <a:pt x="7043615" y="566017"/>
                  <a:pt x="701860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51212" y="2399911"/>
            <a:ext cx="6882763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Session</a:t>
            </a: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客户端与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集群的逻辑连接,失效判定基于超时与心跳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515368" y="2965928"/>
            <a:ext cx="7063889" cy="566017"/>
          </a:xfrm>
          <a:custGeom>
            <a:avLst/>
            <a:gdLst/>
            <a:ahLst/>
            <a:cxnLst/>
            <a:rect l="l" t="t" r="r" b="b"/>
            <a:pathLst>
              <a:path w="7063889" h="566017">
                <a:moveTo>
                  <a:pt x="45281" y="0"/>
                </a:moveTo>
                <a:lnTo>
                  <a:pt x="7018607" y="0"/>
                </a:lnTo>
                <a:cubicBezTo>
                  <a:pt x="7043615" y="0"/>
                  <a:pt x="7063889" y="20273"/>
                  <a:pt x="7063889" y="45281"/>
                </a:cubicBezTo>
                <a:lnTo>
                  <a:pt x="7063889" y="520735"/>
                </a:lnTo>
                <a:cubicBezTo>
                  <a:pt x="7063889" y="545744"/>
                  <a:pt x="7043615" y="566017"/>
                  <a:pt x="701860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651212" y="3101772"/>
            <a:ext cx="6882763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临时节点绑定</a:t>
            </a:r>
            <a:r>
              <a:rPr lang="en-US" sz="1426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Session</a:t>
            </a: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使"进程故障/网络断开"的信号能够自动反映到协调元信息上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538008" y="3667788"/>
            <a:ext cx="7041248" cy="566017"/>
          </a:xfrm>
          <a:custGeom>
            <a:avLst/>
            <a:gdLst/>
            <a:ahLst/>
            <a:cxnLst/>
            <a:rect l="l" t="t" r="r" b="b"/>
            <a:pathLst>
              <a:path w="7041248" h="566017">
                <a:moveTo>
                  <a:pt x="45281" y="0"/>
                </a:moveTo>
                <a:lnTo>
                  <a:pt x="6995967" y="0"/>
                </a:lnTo>
                <a:cubicBezTo>
                  <a:pt x="7020975" y="0"/>
                  <a:pt x="7041248" y="20273"/>
                  <a:pt x="7041248" y="45281"/>
                </a:cubicBezTo>
                <a:lnTo>
                  <a:pt x="7041248" y="520735"/>
                </a:lnTo>
                <a:cubicBezTo>
                  <a:pt x="7041248" y="545744"/>
                  <a:pt x="7020975" y="566017"/>
                  <a:pt x="699596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538008" y="3667788"/>
            <a:ext cx="45281" cy="566017"/>
          </a:xfrm>
          <a:custGeom>
            <a:avLst/>
            <a:gdLst/>
            <a:ahLst/>
            <a:cxnLst/>
            <a:rect l="l" t="t" r="r" b="b"/>
            <a:pathLst>
              <a:path w="45281" h="566017">
                <a:moveTo>
                  <a:pt x="45281" y="0"/>
                </a:moveTo>
                <a:lnTo>
                  <a:pt x="45281" y="0"/>
                </a:lnTo>
                <a:lnTo>
                  <a:pt x="45281" y="566017"/>
                </a:ln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696493" y="3803632"/>
            <a:ext cx="6837482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工程意义: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实现故障自动感知,支撑选主、存活探测等能力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266320" y="4641337"/>
            <a:ext cx="7539343" cy="2943287"/>
          </a:xfrm>
          <a:custGeom>
            <a:avLst/>
            <a:gdLst/>
            <a:ahLst/>
            <a:cxnLst/>
            <a:rect l="l" t="t" r="r" b="b"/>
            <a:pathLst>
              <a:path w="7539343" h="2943287">
                <a:moveTo>
                  <a:pt x="45281" y="0"/>
                </a:moveTo>
                <a:lnTo>
                  <a:pt x="7448778" y="0"/>
                </a:lnTo>
                <a:cubicBezTo>
                  <a:pt x="7498795" y="0"/>
                  <a:pt x="7539343" y="40547"/>
                  <a:pt x="7539343" y="90565"/>
                </a:cubicBezTo>
                <a:lnTo>
                  <a:pt x="7539343" y="2852722"/>
                </a:lnTo>
                <a:cubicBezTo>
                  <a:pt x="7539343" y="2902740"/>
                  <a:pt x="7498795" y="2943287"/>
                  <a:pt x="7448778" y="2943287"/>
                </a:cubicBezTo>
                <a:lnTo>
                  <a:pt x="45281" y="2943287"/>
                </a:lnTo>
                <a:cubicBezTo>
                  <a:pt x="20273" y="2943287"/>
                  <a:pt x="0" y="2923014"/>
                  <a:pt x="0" y="2898006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266320" y="4641337"/>
            <a:ext cx="45281" cy="2943287"/>
          </a:xfrm>
          <a:custGeom>
            <a:avLst/>
            <a:gdLst/>
            <a:ahLst/>
            <a:cxnLst/>
            <a:rect l="l" t="t" r="r" b="b"/>
            <a:pathLst>
              <a:path w="45281" h="2943287">
                <a:moveTo>
                  <a:pt x="45281" y="0"/>
                </a:moveTo>
                <a:lnTo>
                  <a:pt x="45281" y="0"/>
                </a:lnTo>
                <a:lnTo>
                  <a:pt x="45281" y="2943287"/>
                </a:lnTo>
                <a:lnTo>
                  <a:pt x="45281" y="2943287"/>
                </a:lnTo>
                <a:cubicBezTo>
                  <a:pt x="20273" y="2943287"/>
                  <a:pt x="0" y="2923014"/>
                  <a:pt x="0" y="2898006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32348" y="4913025"/>
            <a:ext cx="305649" cy="271688"/>
          </a:xfrm>
          <a:custGeom>
            <a:avLst/>
            <a:gdLst/>
            <a:ahLst/>
            <a:cxnLst/>
            <a:rect l="l" t="t" r="r" b="b"/>
            <a:pathLst>
              <a:path w="305649" h="271688">
                <a:moveTo>
                  <a:pt x="152825" y="16981"/>
                </a:moveTo>
                <a:cubicBezTo>
                  <a:pt x="109949" y="16981"/>
                  <a:pt x="75616" y="36508"/>
                  <a:pt x="50623" y="59750"/>
                </a:cubicBezTo>
                <a:cubicBezTo>
                  <a:pt x="25789" y="82833"/>
                  <a:pt x="9180" y="110373"/>
                  <a:pt x="1274" y="129317"/>
                </a:cubicBezTo>
                <a:cubicBezTo>
                  <a:pt x="-478" y="133509"/>
                  <a:pt x="-478" y="138179"/>
                  <a:pt x="1274" y="142371"/>
                </a:cubicBezTo>
                <a:cubicBezTo>
                  <a:pt x="9180" y="161315"/>
                  <a:pt x="25789" y="188908"/>
                  <a:pt x="50623" y="211938"/>
                </a:cubicBezTo>
                <a:cubicBezTo>
                  <a:pt x="75616" y="235127"/>
                  <a:pt x="109949" y="254708"/>
                  <a:pt x="152825" y="254708"/>
                </a:cubicBezTo>
                <a:cubicBezTo>
                  <a:pt x="195700" y="254708"/>
                  <a:pt x="230033" y="235180"/>
                  <a:pt x="255026" y="211938"/>
                </a:cubicBezTo>
                <a:cubicBezTo>
                  <a:pt x="279860" y="188855"/>
                  <a:pt x="296469" y="161315"/>
                  <a:pt x="304375" y="142371"/>
                </a:cubicBezTo>
                <a:cubicBezTo>
                  <a:pt x="306127" y="138179"/>
                  <a:pt x="306127" y="133509"/>
                  <a:pt x="304375" y="129317"/>
                </a:cubicBezTo>
                <a:cubicBezTo>
                  <a:pt x="296469" y="110373"/>
                  <a:pt x="279860" y="82780"/>
                  <a:pt x="255026" y="59750"/>
                </a:cubicBezTo>
                <a:cubicBezTo>
                  <a:pt x="230033" y="36561"/>
                  <a:pt x="195700" y="16981"/>
                  <a:pt x="152825" y="16981"/>
                </a:cubicBezTo>
                <a:close/>
                <a:moveTo>
                  <a:pt x="76412" y="135844"/>
                </a:moveTo>
                <a:cubicBezTo>
                  <a:pt x="76412" y="93671"/>
                  <a:pt x="110651" y="59432"/>
                  <a:pt x="152825" y="59432"/>
                </a:cubicBezTo>
                <a:cubicBezTo>
                  <a:pt x="194998" y="59432"/>
                  <a:pt x="229237" y="93671"/>
                  <a:pt x="229237" y="135844"/>
                </a:cubicBezTo>
                <a:cubicBezTo>
                  <a:pt x="229237" y="178017"/>
                  <a:pt x="194998" y="212256"/>
                  <a:pt x="152825" y="212256"/>
                </a:cubicBezTo>
                <a:cubicBezTo>
                  <a:pt x="110651" y="212256"/>
                  <a:pt x="76412" y="178017"/>
                  <a:pt x="76412" y="135844"/>
                </a:cubicBezTo>
                <a:close/>
                <a:moveTo>
                  <a:pt x="152825" y="101883"/>
                </a:moveTo>
                <a:cubicBezTo>
                  <a:pt x="152825" y="120615"/>
                  <a:pt x="137595" y="135844"/>
                  <a:pt x="118864" y="135844"/>
                </a:cubicBezTo>
                <a:cubicBezTo>
                  <a:pt x="112761" y="135844"/>
                  <a:pt x="107030" y="134252"/>
                  <a:pt x="102042" y="131387"/>
                </a:cubicBezTo>
                <a:cubicBezTo>
                  <a:pt x="101512" y="137171"/>
                  <a:pt x="101989" y="143114"/>
                  <a:pt x="103581" y="149004"/>
                </a:cubicBezTo>
                <a:cubicBezTo>
                  <a:pt x="110851" y="176173"/>
                  <a:pt x="138816" y="192304"/>
                  <a:pt x="165984" y="185034"/>
                </a:cubicBezTo>
                <a:cubicBezTo>
                  <a:pt x="193153" y="177765"/>
                  <a:pt x="209285" y="149800"/>
                  <a:pt x="202015" y="122631"/>
                </a:cubicBezTo>
                <a:cubicBezTo>
                  <a:pt x="195541" y="98381"/>
                  <a:pt x="172564" y="82939"/>
                  <a:pt x="148367" y="85062"/>
                </a:cubicBezTo>
                <a:cubicBezTo>
                  <a:pt x="151180" y="89997"/>
                  <a:pt x="152825" y="95728"/>
                  <a:pt x="152825" y="101883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854978" y="4867744"/>
            <a:ext cx="6860123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Watch</a:t>
            </a:r>
            <a:r>
              <a:rPr lang="en-US" sz="213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机制:变更通知的基础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515368" y="5365838"/>
            <a:ext cx="7063889" cy="566017"/>
          </a:xfrm>
          <a:custGeom>
            <a:avLst/>
            <a:gdLst/>
            <a:ahLst/>
            <a:cxnLst/>
            <a:rect l="l" t="t" r="r" b="b"/>
            <a:pathLst>
              <a:path w="7063889" h="566017">
                <a:moveTo>
                  <a:pt x="45281" y="0"/>
                </a:moveTo>
                <a:lnTo>
                  <a:pt x="7018607" y="0"/>
                </a:lnTo>
                <a:cubicBezTo>
                  <a:pt x="7043615" y="0"/>
                  <a:pt x="7063889" y="20273"/>
                  <a:pt x="7063889" y="45281"/>
                </a:cubicBezTo>
                <a:lnTo>
                  <a:pt x="7063889" y="520735"/>
                </a:lnTo>
                <a:cubicBezTo>
                  <a:pt x="7063889" y="545744"/>
                  <a:pt x="7043615" y="566017"/>
                  <a:pt x="701860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651212" y="5501682"/>
            <a:ext cx="6882763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Watch</a:t>
            </a: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一次性触发 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的监听,触发后若需持续观察必须重新注册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515368" y="6067699"/>
            <a:ext cx="7154451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工程含义: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客户端需要处理边界情况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515368" y="6452591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8628571" y="6577114"/>
            <a:ext cx="158485" cy="158485"/>
          </a:xfrm>
          <a:custGeom>
            <a:avLst/>
            <a:gdLst/>
            <a:ahLst/>
            <a:cxnLst/>
            <a:rect l="l" t="t" r="r" b="b"/>
            <a:pathLst>
              <a:path w="158485" h="158485">
                <a:moveTo>
                  <a:pt x="79242" y="0"/>
                </a:moveTo>
                <a:cubicBezTo>
                  <a:pt x="83793" y="0"/>
                  <a:pt x="87971" y="2507"/>
                  <a:pt x="90138" y="6500"/>
                </a:cubicBezTo>
                <a:lnTo>
                  <a:pt x="156999" y="130317"/>
                </a:lnTo>
                <a:cubicBezTo>
                  <a:pt x="159073" y="134155"/>
                  <a:pt x="158980" y="138798"/>
                  <a:pt x="156751" y="142543"/>
                </a:cubicBezTo>
                <a:cubicBezTo>
                  <a:pt x="154523" y="146289"/>
                  <a:pt x="150468" y="148579"/>
                  <a:pt x="146103" y="148579"/>
                </a:cubicBezTo>
                <a:lnTo>
                  <a:pt x="12382" y="148579"/>
                </a:lnTo>
                <a:cubicBezTo>
                  <a:pt x="8017" y="148579"/>
                  <a:pt x="3993" y="146289"/>
                  <a:pt x="1733" y="142543"/>
                </a:cubicBezTo>
                <a:cubicBezTo>
                  <a:pt x="-526" y="138798"/>
                  <a:pt x="-588" y="134155"/>
                  <a:pt x="1486" y="130317"/>
                </a:cubicBezTo>
                <a:lnTo>
                  <a:pt x="68347" y="6500"/>
                </a:lnTo>
                <a:cubicBezTo>
                  <a:pt x="70513" y="2507"/>
                  <a:pt x="74692" y="0"/>
                  <a:pt x="79242" y="0"/>
                </a:cubicBezTo>
                <a:close/>
                <a:moveTo>
                  <a:pt x="79242" y="52003"/>
                </a:moveTo>
                <a:cubicBezTo>
                  <a:pt x="75125" y="52003"/>
                  <a:pt x="71813" y="55315"/>
                  <a:pt x="71813" y="59432"/>
                </a:cubicBezTo>
                <a:lnTo>
                  <a:pt x="71813" y="94100"/>
                </a:lnTo>
                <a:cubicBezTo>
                  <a:pt x="71813" y="98217"/>
                  <a:pt x="75125" y="101529"/>
                  <a:pt x="79242" y="101529"/>
                </a:cubicBezTo>
                <a:cubicBezTo>
                  <a:pt x="83359" y="101529"/>
                  <a:pt x="86671" y="98217"/>
                  <a:pt x="86671" y="94100"/>
                </a:cubicBezTo>
                <a:lnTo>
                  <a:pt x="86671" y="59432"/>
                </a:lnTo>
                <a:cubicBezTo>
                  <a:pt x="86671" y="55315"/>
                  <a:pt x="83359" y="52003"/>
                  <a:pt x="79242" y="52003"/>
                </a:cubicBezTo>
                <a:close/>
                <a:moveTo>
                  <a:pt x="87507" y="118864"/>
                </a:moveTo>
                <a:cubicBezTo>
                  <a:pt x="87695" y="115796"/>
                  <a:pt x="86165" y="112877"/>
                  <a:pt x="83535" y="111286"/>
                </a:cubicBezTo>
                <a:cubicBezTo>
                  <a:pt x="80905" y="109696"/>
                  <a:pt x="77610" y="109696"/>
                  <a:pt x="74980" y="111286"/>
                </a:cubicBezTo>
                <a:cubicBezTo>
                  <a:pt x="72350" y="112877"/>
                  <a:pt x="70821" y="115796"/>
                  <a:pt x="71009" y="118864"/>
                </a:cubicBezTo>
                <a:cubicBezTo>
                  <a:pt x="70821" y="121931"/>
                  <a:pt x="72350" y="124850"/>
                  <a:pt x="74980" y="126441"/>
                </a:cubicBezTo>
                <a:cubicBezTo>
                  <a:pt x="77610" y="128031"/>
                  <a:pt x="80905" y="128031"/>
                  <a:pt x="83535" y="126441"/>
                </a:cubicBezTo>
                <a:cubicBezTo>
                  <a:pt x="86165" y="124850"/>
                  <a:pt x="87695" y="121931"/>
                  <a:pt x="87507" y="118864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759496" y="6452591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事件丢失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2093831" y="6452591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12207035" y="6577114"/>
            <a:ext cx="158485" cy="158485"/>
          </a:xfrm>
          <a:custGeom>
            <a:avLst/>
            <a:gdLst/>
            <a:ahLst/>
            <a:cxnLst/>
            <a:rect l="l" t="t" r="r" b="b"/>
            <a:pathLst>
              <a:path w="158485" h="158485">
                <a:moveTo>
                  <a:pt x="135176" y="23123"/>
                </a:moveTo>
                <a:lnTo>
                  <a:pt x="138674" y="26435"/>
                </a:lnTo>
                <a:lnTo>
                  <a:pt x="138674" y="9905"/>
                </a:lnTo>
                <a:cubicBezTo>
                  <a:pt x="138674" y="4426"/>
                  <a:pt x="143101" y="0"/>
                  <a:pt x="148579" y="0"/>
                </a:cubicBezTo>
                <a:cubicBezTo>
                  <a:pt x="154058" y="0"/>
                  <a:pt x="158485" y="4426"/>
                  <a:pt x="158485" y="9905"/>
                </a:cubicBezTo>
                <a:lnTo>
                  <a:pt x="158485" y="49526"/>
                </a:lnTo>
                <a:cubicBezTo>
                  <a:pt x="158485" y="55005"/>
                  <a:pt x="154058" y="59432"/>
                  <a:pt x="148579" y="59432"/>
                </a:cubicBezTo>
                <a:lnTo>
                  <a:pt x="108958" y="59432"/>
                </a:lnTo>
                <a:cubicBezTo>
                  <a:pt x="103479" y="59432"/>
                  <a:pt x="99053" y="55005"/>
                  <a:pt x="99053" y="49526"/>
                </a:cubicBezTo>
                <a:cubicBezTo>
                  <a:pt x="99053" y="44048"/>
                  <a:pt x="103479" y="39621"/>
                  <a:pt x="108958" y="39621"/>
                </a:cubicBezTo>
                <a:lnTo>
                  <a:pt x="123785" y="39621"/>
                </a:lnTo>
                <a:lnTo>
                  <a:pt x="121433" y="37392"/>
                </a:lnTo>
                <a:cubicBezTo>
                  <a:pt x="121371" y="37331"/>
                  <a:pt x="121309" y="37269"/>
                  <a:pt x="121247" y="37207"/>
                </a:cubicBezTo>
                <a:cubicBezTo>
                  <a:pt x="98031" y="13991"/>
                  <a:pt x="60422" y="13991"/>
                  <a:pt x="37207" y="37207"/>
                </a:cubicBezTo>
                <a:cubicBezTo>
                  <a:pt x="13991" y="60422"/>
                  <a:pt x="13991" y="98031"/>
                  <a:pt x="37207" y="121247"/>
                </a:cubicBezTo>
                <a:cubicBezTo>
                  <a:pt x="60422" y="144463"/>
                  <a:pt x="98031" y="144463"/>
                  <a:pt x="121247" y="121247"/>
                </a:cubicBezTo>
                <a:cubicBezTo>
                  <a:pt x="123785" y="118709"/>
                  <a:pt x="126045" y="116016"/>
                  <a:pt x="128026" y="113168"/>
                </a:cubicBezTo>
                <a:cubicBezTo>
                  <a:pt x="131152" y="108680"/>
                  <a:pt x="137343" y="107596"/>
                  <a:pt x="141831" y="110723"/>
                </a:cubicBezTo>
                <a:cubicBezTo>
                  <a:pt x="146320" y="113849"/>
                  <a:pt x="147403" y="120040"/>
                  <a:pt x="144277" y="124528"/>
                </a:cubicBezTo>
                <a:cubicBezTo>
                  <a:pt x="141646" y="128304"/>
                  <a:pt x="138643" y="131895"/>
                  <a:pt x="135269" y="135269"/>
                </a:cubicBezTo>
                <a:cubicBezTo>
                  <a:pt x="104315" y="166223"/>
                  <a:pt x="54139" y="166223"/>
                  <a:pt x="23216" y="135269"/>
                </a:cubicBezTo>
                <a:cubicBezTo>
                  <a:pt x="-7708" y="104315"/>
                  <a:pt x="-7739" y="54170"/>
                  <a:pt x="23216" y="23216"/>
                </a:cubicBezTo>
                <a:cubicBezTo>
                  <a:pt x="54139" y="-7708"/>
                  <a:pt x="104222" y="-7739"/>
                  <a:pt x="135176" y="23123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2337960" y="6452591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事件重放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515368" y="6950685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638476" y="7075209"/>
            <a:ext cx="138674" cy="158485"/>
          </a:xfrm>
          <a:custGeom>
            <a:avLst/>
            <a:gdLst/>
            <a:ahLst/>
            <a:cxnLst/>
            <a:rect l="l" t="t" r="r" b="b"/>
            <a:pathLst>
              <a:path w="138674" h="158485">
                <a:moveTo>
                  <a:pt x="59432" y="0"/>
                </a:moveTo>
                <a:cubicBezTo>
                  <a:pt x="48505" y="0"/>
                  <a:pt x="39621" y="8884"/>
                  <a:pt x="39621" y="19811"/>
                </a:cubicBezTo>
                <a:lnTo>
                  <a:pt x="39621" y="99053"/>
                </a:lnTo>
                <a:cubicBezTo>
                  <a:pt x="39621" y="109980"/>
                  <a:pt x="48505" y="118864"/>
                  <a:pt x="59432" y="118864"/>
                </a:cubicBezTo>
                <a:lnTo>
                  <a:pt x="118864" y="118864"/>
                </a:lnTo>
                <a:cubicBezTo>
                  <a:pt x="129790" y="118864"/>
                  <a:pt x="138674" y="109980"/>
                  <a:pt x="138674" y="99053"/>
                </a:cubicBezTo>
                <a:lnTo>
                  <a:pt x="138674" y="36959"/>
                </a:lnTo>
                <a:cubicBezTo>
                  <a:pt x="138674" y="31573"/>
                  <a:pt x="136476" y="26404"/>
                  <a:pt x="132576" y="22658"/>
                </a:cubicBezTo>
                <a:lnTo>
                  <a:pt x="114716" y="5510"/>
                </a:lnTo>
                <a:cubicBezTo>
                  <a:pt x="111032" y="1981"/>
                  <a:pt x="106110" y="0"/>
                  <a:pt x="101003" y="0"/>
                </a:cubicBezTo>
                <a:lnTo>
                  <a:pt x="59432" y="0"/>
                </a:lnTo>
                <a:close/>
                <a:moveTo>
                  <a:pt x="19811" y="39621"/>
                </a:moveTo>
                <a:cubicBezTo>
                  <a:pt x="8884" y="39621"/>
                  <a:pt x="0" y="48505"/>
                  <a:pt x="0" y="59432"/>
                </a:cubicBezTo>
                <a:lnTo>
                  <a:pt x="0" y="138674"/>
                </a:lnTo>
                <a:cubicBezTo>
                  <a:pt x="0" y="149601"/>
                  <a:pt x="8884" y="158485"/>
                  <a:pt x="19811" y="158485"/>
                </a:cubicBezTo>
                <a:lnTo>
                  <a:pt x="79242" y="158485"/>
                </a:lnTo>
                <a:cubicBezTo>
                  <a:pt x="90169" y="158485"/>
                  <a:pt x="99053" y="149601"/>
                  <a:pt x="99053" y="138674"/>
                </a:cubicBezTo>
                <a:lnTo>
                  <a:pt x="99053" y="133721"/>
                </a:lnTo>
                <a:lnTo>
                  <a:pt x="79242" y="133721"/>
                </a:lnTo>
                <a:lnTo>
                  <a:pt x="79242" y="138674"/>
                </a:lnTo>
                <a:lnTo>
                  <a:pt x="19811" y="138674"/>
                </a:lnTo>
                <a:lnTo>
                  <a:pt x="19811" y="59432"/>
                </a:lnTo>
                <a:lnTo>
                  <a:pt x="24763" y="59432"/>
                </a:lnTo>
                <a:lnTo>
                  <a:pt x="24763" y="39621"/>
                </a:lnTo>
                <a:lnTo>
                  <a:pt x="19811" y="39621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759496" y="6950685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重复触发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2093831" y="6950685"/>
            <a:ext cx="3486663" cy="407532"/>
          </a:xfrm>
          <a:custGeom>
            <a:avLst/>
            <a:gdLst/>
            <a:ahLst/>
            <a:cxnLst/>
            <a:rect l="l" t="t" r="r" b="b"/>
            <a:pathLst>
              <a:path w="3486663" h="407532">
                <a:moveTo>
                  <a:pt x="45281" y="0"/>
                </a:moveTo>
                <a:lnTo>
                  <a:pt x="3441382" y="0"/>
                </a:lnTo>
                <a:cubicBezTo>
                  <a:pt x="3466373" y="0"/>
                  <a:pt x="3486663" y="20290"/>
                  <a:pt x="3486663" y="45281"/>
                </a:cubicBezTo>
                <a:lnTo>
                  <a:pt x="3486663" y="362251"/>
                </a:lnTo>
                <a:cubicBezTo>
                  <a:pt x="3486663" y="387242"/>
                  <a:pt x="3466373" y="407532"/>
                  <a:pt x="344138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2207035" y="7075209"/>
            <a:ext cx="158485" cy="158485"/>
          </a:xfrm>
          <a:custGeom>
            <a:avLst/>
            <a:gdLst/>
            <a:ahLst/>
            <a:cxnLst/>
            <a:rect l="l" t="t" r="r" b="b"/>
            <a:pathLst>
              <a:path w="158485" h="158485">
                <a:moveTo>
                  <a:pt x="20399" y="70730"/>
                </a:moveTo>
                <a:cubicBezTo>
                  <a:pt x="24516" y="41943"/>
                  <a:pt x="49310" y="19811"/>
                  <a:pt x="79242" y="19811"/>
                </a:cubicBezTo>
                <a:cubicBezTo>
                  <a:pt x="95648" y="19811"/>
                  <a:pt x="110506" y="26466"/>
                  <a:pt x="121278" y="37207"/>
                </a:cubicBezTo>
                <a:cubicBezTo>
                  <a:pt x="121340" y="37269"/>
                  <a:pt x="121402" y="37331"/>
                  <a:pt x="121464" y="37392"/>
                </a:cubicBezTo>
                <a:lnTo>
                  <a:pt x="123816" y="39621"/>
                </a:lnTo>
                <a:lnTo>
                  <a:pt x="108989" y="39621"/>
                </a:lnTo>
                <a:cubicBezTo>
                  <a:pt x="103510" y="39621"/>
                  <a:pt x="99084" y="44048"/>
                  <a:pt x="99084" y="49526"/>
                </a:cubicBezTo>
                <a:cubicBezTo>
                  <a:pt x="99084" y="55005"/>
                  <a:pt x="103510" y="59432"/>
                  <a:pt x="108989" y="59432"/>
                </a:cubicBezTo>
                <a:lnTo>
                  <a:pt x="148610" y="59432"/>
                </a:lnTo>
                <a:cubicBezTo>
                  <a:pt x="154089" y="59432"/>
                  <a:pt x="158516" y="55005"/>
                  <a:pt x="158516" y="49526"/>
                </a:cubicBezTo>
                <a:lnTo>
                  <a:pt x="158516" y="9905"/>
                </a:lnTo>
                <a:cubicBezTo>
                  <a:pt x="158516" y="4426"/>
                  <a:pt x="154089" y="0"/>
                  <a:pt x="148610" y="0"/>
                </a:cubicBezTo>
                <a:cubicBezTo>
                  <a:pt x="143131" y="0"/>
                  <a:pt x="138705" y="4426"/>
                  <a:pt x="138705" y="9905"/>
                </a:cubicBezTo>
                <a:lnTo>
                  <a:pt x="138705" y="26435"/>
                </a:lnTo>
                <a:lnTo>
                  <a:pt x="135207" y="23123"/>
                </a:lnTo>
                <a:cubicBezTo>
                  <a:pt x="120876" y="8853"/>
                  <a:pt x="101065" y="0"/>
                  <a:pt x="79242" y="0"/>
                </a:cubicBezTo>
                <a:cubicBezTo>
                  <a:pt x="39312" y="0"/>
                  <a:pt x="6284" y="29530"/>
                  <a:pt x="805" y="67944"/>
                </a:cubicBezTo>
                <a:cubicBezTo>
                  <a:pt x="31" y="73361"/>
                  <a:pt x="3776" y="78376"/>
                  <a:pt x="9193" y="79149"/>
                </a:cubicBezTo>
                <a:cubicBezTo>
                  <a:pt x="14610" y="79923"/>
                  <a:pt x="19625" y="76147"/>
                  <a:pt x="20399" y="70761"/>
                </a:cubicBezTo>
                <a:close/>
                <a:moveTo>
                  <a:pt x="157680" y="90541"/>
                </a:moveTo>
                <a:cubicBezTo>
                  <a:pt x="158454" y="85124"/>
                  <a:pt x="154677" y="80109"/>
                  <a:pt x="149291" y="79335"/>
                </a:cubicBezTo>
                <a:cubicBezTo>
                  <a:pt x="143905" y="78561"/>
                  <a:pt x="138860" y="82338"/>
                  <a:pt x="138086" y="87724"/>
                </a:cubicBezTo>
                <a:cubicBezTo>
                  <a:pt x="133969" y="116511"/>
                  <a:pt x="109175" y="138643"/>
                  <a:pt x="79242" y="138643"/>
                </a:cubicBezTo>
                <a:cubicBezTo>
                  <a:pt x="62837" y="138643"/>
                  <a:pt x="47979" y="131988"/>
                  <a:pt x="37207" y="121247"/>
                </a:cubicBezTo>
                <a:cubicBezTo>
                  <a:pt x="37145" y="121185"/>
                  <a:pt x="37083" y="121123"/>
                  <a:pt x="37021" y="121061"/>
                </a:cubicBezTo>
                <a:lnTo>
                  <a:pt x="34669" y="118833"/>
                </a:lnTo>
                <a:lnTo>
                  <a:pt x="49496" y="118833"/>
                </a:lnTo>
                <a:cubicBezTo>
                  <a:pt x="54974" y="118833"/>
                  <a:pt x="59401" y="114406"/>
                  <a:pt x="59401" y="108927"/>
                </a:cubicBezTo>
                <a:cubicBezTo>
                  <a:pt x="59401" y="103448"/>
                  <a:pt x="54974" y="99022"/>
                  <a:pt x="49496" y="99022"/>
                </a:cubicBezTo>
                <a:lnTo>
                  <a:pt x="9905" y="99053"/>
                </a:lnTo>
                <a:cubicBezTo>
                  <a:pt x="7274" y="99053"/>
                  <a:pt x="4736" y="100105"/>
                  <a:pt x="2879" y="101994"/>
                </a:cubicBezTo>
                <a:cubicBezTo>
                  <a:pt x="1021" y="103882"/>
                  <a:pt x="-31" y="106389"/>
                  <a:pt x="0" y="109051"/>
                </a:cubicBezTo>
                <a:lnTo>
                  <a:pt x="310" y="148363"/>
                </a:lnTo>
                <a:cubicBezTo>
                  <a:pt x="340" y="153842"/>
                  <a:pt x="4829" y="158237"/>
                  <a:pt x="10308" y="158175"/>
                </a:cubicBezTo>
                <a:cubicBezTo>
                  <a:pt x="15787" y="158113"/>
                  <a:pt x="20182" y="153656"/>
                  <a:pt x="20120" y="148177"/>
                </a:cubicBezTo>
                <a:lnTo>
                  <a:pt x="19996" y="132236"/>
                </a:lnTo>
                <a:lnTo>
                  <a:pt x="23308" y="135362"/>
                </a:lnTo>
                <a:cubicBezTo>
                  <a:pt x="37640" y="149632"/>
                  <a:pt x="57420" y="158485"/>
                  <a:pt x="79242" y="158485"/>
                </a:cubicBezTo>
                <a:cubicBezTo>
                  <a:pt x="119173" y="158485"/>
                  <a:pt x="152201" y="128955"/>
                  <a:pt x="157680" y="9054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2337960" y="6950685"/>
            <a:ext cx="3321777" cy="407532"/>
          </a:xfrm>
          <a:prstGeom prst="rect">
            <a:avLst/>
          </a:prstGeom>
          <a:noFill/>
          <a:ln/>
        </p:spPr>
        <p:txBody>
          <a:bodyPr wrap="square" lIns="90563" tIns="90563" rIns="90563" bIns="90563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重新注册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75833" cy="338667"/>
          </a:xfrm>
          <a:custGeom>
            <a:avLst/>
            <a:gdLst/>
            <a:ahLst/>
            <a:cxnLst/>
            <a:rect l="l" t="t" r="r" b="b"/>
            <a:pathLst>
              <a:path w="1375833" h="338667">
                <a:moveTo>
                  <a:pt x="0" y="0"/>
                </a:moveTo>
                <a:lnTo>
                  <a:pt x="1375833" y="0"/>
                </a:lnTo>
                <a:lnTo>
                  <a:pt x="1375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集群角色与多数派机制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460500"/>
            <a:ext cx="7598833" cy="3894667"/>
          </a:xfrm>
          <a:custGeom>
            <a:avLst/>
            <a:gdLst/>
            <a:ahLst/>
            <a:cxnLst/>
            <a:rect l="l" t="t" r="r" b="b"/>
            <a:pathLst>
              <a:path w="7598833" h="389466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3809997"/>
                </a:lnTo>
                <a:cubicBezTo>
                  <a:pt x="7598833" y="3856759"/>
                  <a:pt x="7560925" y="3894667"/>
                  <a:pt x="7514163" y="3894667"/>
                </a:cubicBezTo>
                <a:lnTo>
                  <a:pt x="84670" y="3894667"/>
                </a:lnTo>
                <a:cubicBezTo>
                  <a:pt x="37908" y="3894667"/>
                  <a:pt x="0" y="3856759"/>
                  <a:pt x="0" y="380999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333" y="146050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5000" y="1735667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111125"/>
                </a:moveTo>
                <a:cubicBezTo>
                  <a:pt x="187225" y="111125"/>
                  <a:pt x="210344" y="88007"/>
                  <a:pt x="210344" y="59531"/>
                </a:cubicBezTo>
                <a:cubicBezTo>
                  <a:pt x="210344" y="31056"/>
                  <a:pt x="187225" y="7938"/>
                  <a:pt x="158750" y="7938"/>
                </a:cubicBezTo>
                <a:cubicBezTo>
                  <a:pt x="130275" y="7938"/>
                  <a:pt x="107156" y="31056"/>
                  <a:pt x="107156" y="59531"/>
                </a:cubicBezTo>
                <a:cubicBezTo>
                  <a:pt x="107156" y="88007"/>
                  <a:pt x="130275" y="111125"/>
                  <a:pt x="158750" y="111125"/>
                </a:cubicBezTo>
                <a:close/>
                <a:moveTo>
                  <a:pt x="47625" y="115094"/>
                </a:moveTo>
                <a:cubicBezTo>
                  <a:pt x="67339" y="115094"/>
                  <a:pt x="83344" y="99089"/>
                  <a:pt x="83344" y="79375"/>
                </a:cubicBezTo>
                <a:cubicBezTo>
                  <a:pt x="83344" y="59661"/>
                  <a:pt x="67339" y="43656"/>
                  <a:pt x="47625" y="43656"/>
                </a:cubicBezTo>
                <a:cubicBezTo>
                  <a:pt x="27911" y="43656"/>
                  <a:pt x="11906" y="59661"/>
                  <a:pt x="11906" y="79375"/>
                </a:cubicBezTo>
                <a:cubicBezTo>
                  <a:pt x="11906" y="99089"/>
                  <a:pt x="27911" y="115094"/>
                  <a:pt x="47625" y="115094"/>
                </a:cubicBezTo>
                <a:close/>
                <a:moveTo>
                  <a:pt x="0" y="206375"/>
                </a:moveTo>
                <a:lnTo>
                  <a:pt x="0" y="222250"/>
                </a:lnTo>
                <a:cubicBezTo>
                  <a:pt x="0" y="231031"/>
                  <a:pt x="7094" y="238125"/>
                  <a:pt x="15875" y="238125"/>
                </a:cubicBezTo>
                <a:lnTo>
                  <a:pt x="58886" y="238125"/>
                </a:lnTo>
                <a:cubicBezTo>
                  <a:pt x="56753" y="233263"/>
                  <a:pt x="55563" y="227905"/>
                  <a:pt x="55563" y="222250"/>
                </a:cubicBezTo>
                <a:lnTo>
                  <a:pt x="55563" y="214313"/>
                </a:lnTo>
                <a:cubicBezTo>
                  <a:pt x="55563" y="187920"/>
                  <a:pt x="65484" y="163810"/>
                  <a:pt x="81806" y="145554"/>
                </a:cubicBezTo>
                <a:cubicBezTo>
                  <a:pt x="76002" y="143818"/>
                  <a:pt x="69850" y="142875"/>
                  <a:pt x="63500" y="142875"/>
                </a:cubicBezTo>
                <a:cubicBezTo>
                  <a:pt x="28426" y="142875"/>
                  <a:pt x="0" y="171301"/>
                  <a:pt x="0" y="206375"/>
                </a:cubicBezTo>
                <a:close/>
                <a:moveTo>
                  <a:pt x="305594" y="79375"/>
                </a:moveTo>
                <a:cubicBezTo>
                  <a:pt x="305594" y="59661"/>
                  <a:pt x="289589" y="43656"/>
                  <a:pt x="269875" y="43656"/>
                </a:cubicBezTo>
                <a:cubicBezTo>
                  <a:pt x="250161" y="43656"/>
                  <a:pt x="234156" y="59661"/>
                  <a:pt x="234156" y="79375"/>
                </a:cubicBezTo>
                <a:cubicBezTo>
                  <a:pt x="234156" y="99089"/>
                  <a:pt x="250161" y="115094"/>
                  <a:pt x="269875" y="115094"/>
                </a:cubicBezTo>
                <a:cubicBezTo>
                  <a:pt x="289589" y="115094"/>
                  <a:pt x="305594" y="99089"/>
                  <a:pt x="305594" y="79375"/>
                </a:cubicBezTo>
                <a:close/>
                <a:moveTo>
                  <a:pt x="79375" y="214313"/>
                </a:moveTo>
                <a:lnTo>
                  <a:pt x="79375" y="222250"/>
                </a:lnTo>
                <a:cubicBezTo>
                  <a:pt x="79375" y="231031"/>
                  <a:pt x="86469" y="238125"/>
                  <a:pt x="95250" y="238125"/>
                </a:cubicBezTo>
                <a:lnTo>
                  <a:pt x="173038" y="238125"/>
                </a:lnTo>
                <a:cubicBezTo>
                  <a:pt x="169515" y="227409"/>
                  <a:pt x="169912" y="216098"/>
                  <a:pt x="178346" y="206375"/>
                </a:cubicBezTo>
                <a:cubicBezTo>
                  <a:pt x="171400" y="198338"/>
                  <a:pt x="168176" y="186680"/>
                  <a:pt x="172690" y="174972"/>
                </a:cubicBezTo>
                <a:cubicBezTo>
                  <a:pt x="175964" y="166489"/>
                  <a:pt x="180578" y="158552"/>
                  <a:pt x="186283" y="151507"/>
                </a:cubicBezTo>
                <a:cubicBezTo>
                  <a:pt x="188962" y="148233"/>
                  <a:pt x="192038" y="145703"/>
                  <a:pt x="195362" y="143867"/>
                </a:cubicBezTo>
                <a:cubicBezTo>
                  <a:pt x="184398" y="138162"/>
                  <a:pt x="171946" y="134938"/>
                  <a:pt x="158750" y="134938"/>
                </a:cubicBezTo>
                <a:cubicBezTo>
                  <a:pt x="114895" y="134938"/>
                  <a:pt x="79375" y="170458"/>
                  <a:pt x="79375" y="214313"/>
                </a:cubicBezTo>
                <a:close/>
                <a:moveTo>
                  <a:pt x="309860" y="192435"/>
                </a:moveTo>
                <a:cubicBezTo>
                  <a:pt x="312986" y="190649"/>
                  <a:pt x="314573" y="186928"/>
                  <a:pt x="313234" y="183505"/>
                </a:cubicBezTo>
                <a:cubicBezTo>
                  <a:pt x="310852" y="177354"/>
                  <a:pt x="307529" y="171549"/>
                  <a:pt x="303361" y="166439"/>
                </a:cubicBezTo>
                <a:cubicBezTo>
                  <a:pt x="301079" y="163612"/>
                  <a:pt x="297061" y="163116"/>
                  <a:pt x="293936" y="164951"/>
                </a:cubicBezTo>
                <a:cubicBezTo>
                  <a:pt x="283121" y="171202"/>
                  <a:pt x="269825" y="163562"/>
                  <a:pt x="269825" y="151011"/>
                </a:cubicBezTo>
                <a:cubicBezTo>
                  <a:pt x="269825" y="147389"/>
                  <a:pt x="267395" y="144165"/>
                  <a:pt x="263823" y="143619"/>
                </a:cubicBezTo>
                <a:cubicBezTo>
                  <a:pt x="257423" y="142627"/>
                  <a:pt x="250527" y="142627"/>
                  <a:pt x="244128" y="143619"/>
                </a:cubicBezTo>
                <a:cubicBezTo>
                  <a:pt x="240556" y="144165"/>
                  <a:pt x="238125" y="147389"/>
                  <a:pt x="238125" y="151011"/>
                </a:cubicBezTo>
                <a:cubicBezTo>
                  <a:pt x="238125" y="163512"/>
                  <a:pt x="224830" y="171202"/>
                  <a:pt x="214015" y="164951"/>
                </a:cubicBezTo>
                <a:cubicBezTo>
                  <a:pt x="210889" y="163165"/>
                  <a:pt x="206871" y="163661"/>
                  <a:pt x="204589" y="166439"/>
                </a:cubicBezTo>
                <a:cubicBezTo>
                  <a:pt x="200422" y="171549"/>
                  <a:pt x="197098" y="177354"/>
                  <a:pt x="194717" y="183505"/>
                </a:cubicBezTo>
                <a:cubicBezTo>
                  <a:pt x="193427" y="186879"/>
                  <a:pt x="194965" y="190599"/>
                  <a:pt x="198090" y="192385"/>
                </a:cubicBezTo>
                <a:cubicBezTo>
                  <a:pt x="208955" y="198636"/>
                  <a:pt x="208955" y="213965"/>
                  <a:pt x="198090" y="220266"/>
                </a:cubicBezTo>
                <a:cubicBezTo>
                  <a:pt x="194965" y="222052"/>
                  <a:pt x="193377" y="225772"/>
                  <a:pt x="194717" y="229146"/>
                </a:cubicBezTo>
                <a:cubicBezTo>
                  <a:pt x="197098" y="235297"/>
                  <a:pt x="200422" y="241102"/>
                  <a:pt x="204589" y="246211"/>
                </a:cubicBezTo>
                <a:cubicBezTo>
                  <a:pt x="206871" y="249039"/>
                  <a:pt x="210889" y="249535"/>
                  <a:pt x="214015" y="247700"/>
                </a:cubicBezTo>
                <a:cubicBezTo>
                  <a:pt x="224830" y="241449"/>
                  <a:pt x="238125" y="249138"/>
                  <a:pt x="238125" y="261640"/>
                </a:cubicBezTo>
                <a:cubicBezTo>
                  <a:pt x="238125" y="265261"/>
                  <a:pt x="240556" y="268486"/>
                  <a:pt x="244128" y="269032"/>
                </a:cubicBezTo>
                <a:cubicBezTo>
                  <a:pt x="250527" y="270024"/>
                  <a:pt x="257423" y="270024"/>
                  <a:pt x="263823" y="269032"/>
                </a:cubicBezTo>
                <a:cubicBezTo>
                  <a:pt x="267395" y="268486"/>
                  <a:pt x="269825" y="265261"/>
                  <a:pt x="269825" y="261640"/>
                </a:cubicBezTo>
                <a:cubicBezTo>
                  <a:pt x="269825" y="249138"/>
                  <a:pt x="283121" y="241449"/>
                  <a:pt x="293936" y="247700"/>
                </a:cubicBezTo>
                <a:cubicBezTo>
                  <a:pt x="297061" y="249486"/>
                  <a:pt x="301079" y="248989"/>
                  <a:pt x="303361" y="246211"/>
                </a:cubicBezTo>
                <a:cubicBezTo>
                  <a:pt x="307529" y="241102"/>
                  <a:pt x="310852" y="235297"/>
                  <a:pt x="313234" y="229146"/>
                </a:cubicBezTo>
                <a:cubicBezTo>
                  <a:pt x="314523" y="225772"/>
                  <a:pt x="312986" y="222052"/>
                  <a:pt x="309860" y="220266"/>
                </a:cubicBezTo>
                <a:cubicBezTo>
                  <a:pt x="298996" y="214015"/>
                  <a:pt x="298996" y="198686"/>
                  <a:pt x="309860" y="192385"/>
                </a:cubicBezTo>
                <a:close/>
                <a:moveTo>
                  <a:pt x="234156" y="206375"/>
                </a:moveTo>
                <a:cubicBezTo>
                  <a:pt x="234156" y="195423"/>
                  <a:pt x="243048" y="186531"/>
                  <a:pt x="254000" y="186531"/>
                </a:cubicBezTo>
                <a:cubicBezTo>
                  <a:pt x="264952" y="186531"/>
                  <a:pt x="273844" y="195423"/>
                  <a:pt x="273844" y="206375"/>
                </a:cubicBezTo>
                <a:cubicBezTo>
                  <a:pt x="273844" y="217327"/>
                  <a:pt x="264952" y="226219"/>
                  <a:pt x="254000" y="226219"/>
                </a:cubicBezTo>
                <a:cubicBezTo>
                  <a:pt x="243048" y="226219"/>
                  <a:pt x="234156" y="217327"/>
                  <a:pt x="234156" y="206375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500" y="1693333"/>
            <a:ext cx="698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集群角色:Leader/Follower/Observer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6167" y="2159000"/>
            <a:ext cx="7154333" cy="910167"/>
          </a:xfrm>
          <a:custGeom>
            <a:avLst/>
            <a:gdLst/>
            <a:ahLst/>
            <a:cxnLst/>
            <a:rect l="l" t="t" r="r" b="b"/>
            <a:pathLst>
              <a:path w="7154333" h="910167">
                <a:moveTo>
                  <a:pt x="42332" y="0"/>
                </a:moveTo>
                <a:lnTo>
                  <a:pt x="7112001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867835"/>
                </a:lnTo>
                <a:cubicBezTo>
                  <a:pt x="7154333" y="891214"/>
                  <a:pt x="7135381" y="910167"/>
                  <a:pt x="7112001" y="910167"/>
                </a:cubicBezTo>
                <a:lnTo>
                  <a:pt x="42332" y="910167"/>
                </a:lnTo>
                <a:cubicBezTo>
                  <a:pt x="18953" y="910167"/>
                  <a:pt x="0" y="891214"/>
                  <a:pt x="0" y="867835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6167" y="2159000"/>
            <a:ext cx="42333" cy="910167"/>
          </a:xfrm>
          <a:custGeom>
            <a:avLst/>
            <a:gdLst/>
            <a:ahLst/>
            <a:cxnLst/>
            <a:rect l="l" t="t" r="r" b="b"/>
            <a:pathLst>
              <a:path w="42333" h="910167">
                <a:moveTo>
                  <a:pt x="42333" y="0"/>
                </a:moveTo>
                <a:lnTo>
                  <a:pt x="42333" y="0"/>
                </a:lnTo>
                <a:lnTo>
                  <a:pt x="42333" y="910167"/>
                </a:ln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333" y="2286000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7292" y="2286000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L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27667" y="2307167"/>
            <a:ext cx="1619250" cy="338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Leader</a:t>
            </a: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· 领导者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333" y="2667000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负责事务请求的提案与提交,是集群中唯一处理写请求的角色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6167" y="3196167"/>
            <a:ext cx="7154333" cy="910167"/>
          </a:xfrm>
          <a:custGeom>
            <a:avLst/>
            <a:gdLst/>
            <a:ahLst/>
            <a:cxnLst/>
            <a:rect l="l" t="t" r="r" b="b"/>
            <a:pathLst>
              <a:path w="7154333" h="910167">
                <a:moveTo>
                  <a:pt x="42332" y="0"/>
                </a:moveTo>
                <a:lnTo>
                  <a:pt x="7112001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867835"/>
                </a:lnTo>
                <a:cubicBezTo>
                  <a:pt x="7154333" y="891214"/>
                  <a:pt x="7135381" y="910167"/>
                  <a:pt x="7112001" y="910167"/>
                </a:cubicBezTo>
                <a:lnTo>
                  <a:pt x="42332" y="910167"/>
                </a:lnTo>
                <a:cubicBezTo>
                  <a:pt x="18953" y="910167"/>
                  <a:pt x="0" y="891214"/>
                  <a:pt x="0" y="867835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6167" y="3196167"/>
            <a:ext cx="42333" cy="910167"/>
          </a:xfrm>
          <a:custGeom>
            <a:avLst/>
            <a:gdLst/>
            <a:ahLst/>
            <a:cxnLst/>
            <a:rect l="l" t="t" r="r" b="b"/>
            <a:pathLst>
              <a:path w="42333" h="910167">
                <a:moveTo>
                  <a:pt x="42333" y="0"/>
                </a:moveTo>
                <a:lnTo>
                  <a:pt x="42333" y="0"/>
                </a:lnTo>
                <a:lnTo>
                  <a:pt x="42333" y="910167"/>
                </a:ln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4333" y="3323167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7292" y="3323167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F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27666" y="3344333"/>
            <a:ext cx="1820333" cy="359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Follower</a:t>
            </a: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· 跟随者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333" y="3704167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参与多数派确认,对客户端提供读服务,可成为Leader候选者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6167" y="4233333"/>
            <a:ext cx="7154333" cy="910167"/>
          </a:xfrm>
          <a:custGeom>
            <a:avLst/>
            <a:gdLst/>
            <a:ahLst/>
            <a:cxnLst/>
            <a:rect l="l" t="t" r="r" b="b"/>
            <a:pathLst>
              <a:path w="7154333" h="910167">
                <a:moveTo>
                  <a:pt x="42332" y="0"/>
                </a:moveTo>
                <a:lnTo>
                  <a:pt x="7112001" y="0"/>
                </a:lnTo>
                <a:cubicBezTo>
                  <a:pt x="7135381" y="0"/>
                  <a:pt x="7154333" y="18953"/>
                  <a:pt x="7154333" y="42332"/>
                </a:cubicBezTo>
                <a:lnTo>
                  <a:pt x="7154333" y="867835"/>
                </a:lnTo>
                <a:cubicBezTo>
                  <a:pt x="7154333" y="891214"/>
                  <a:pt x="7135381" y="910167"/>
                  <a:pt x="7112001" y="910167"/>
                </a:cubicBezTo>
                <a:lnTo>
                  <a:pt x="42332" y="910167"/>
                </a:lnTo>
                <a:cubicBezTo>
                  <a:pt x="18953" y="910167"/>
                  <a:pt x="0" y="891214"/>
                  <a:pt x="0" y="867835"/>
                </a:cubicBezTo>
                <a:lnTo>
                  <a:pt x="0" y="42332"/>
                </a:lnTo>
                <a:cubicBezTo>
                  <a:pt x="0" y="18953"/>
                  <a:pt x="18953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6167" y="4233333"/>
            <a:ext cx="42333" cy="910167"/>
          </a:xfrm>
          <a:custGeom>
            <a:avLst/>
            <a:gdLst/>
            <a:ahLst/>
            <a:cxnLst/>
            <a:rect l="l" t="t" r="r" b="b"/>
            <a:pathLst>
              <a:path w="42333" h="910167">
                <a:moveTo>
                  <a:pt x="42333" y="0"/>
                </a:moveTo>
                <a:lnTo>
                  <a:pt x="42333" y="0"/>
                </a:lnTo>
                <a:lnTo>
                  <a:pt x="42333" y="910167"/>
                </a:ln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4333" y="4360333"/>
            <a:ext cx="338667" cy="338667"/>
          </a:xfrm>
          <a:custGeom>
            <a:avLst/>
            <a:gdLst/>
            <a:ahLst/>
            <a:cxnLst/>
            <a:rect l="l" t="t" r="r" b="b"/>
            <a:pathLst>
              <a:path w="338667" h="338667">
                <a:moveTo>
                  <a:pt x="169333" y="0"/>
                </a:moveTo>
                <a:lnTo>
                  <a:pt x="169333" y="0"/>
                </a:lnTo>
                <a:cubicBezTo>
                  <a:pt x="262854" y="0"/>
                  <a:pt x="338667" y="75813"/>
                  <a:pt x="338667" y="169333"/>
                </a:cubicBezTo>
                <a:lnTo>
                  <a:pt x="338667" y="169333"/>
                </a:lnTo>
                <a:cubicBezTo>
                  <a:pt x="338667" y="262854"/>
                  <a:pt x="262854" y="338667"/>
                  <a:pt x="169333" y="338667"/>
                </a:cubicBezTo>
                <a:lnTo>
                  <a:pt x="169333" y="338667"/>
                </a:lnTo>
                <a:cubicBezTo>
                  <a:pt x="75813" y="338667"/>
                  <a:pt x="0" y="262854"/>
                  <a:pt x="0" y="169333"/>
                </a:cubicBezTo>
                <a:lnTo>
                  <a:pt x="0" y="169333"/>
                </a:lnTo>
                <a:cubicBezTo>
                  <a:pt x="0" y="75813"/>
                  <a:pt x="75813" y="0"/>
                  <a:pt x="169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7292" y="4360333"/>
            <a:ext cx="41275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O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27667" y="4381500"/>
            <a:ext cx="1820332" cy="359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Observer</a:t>
            </a: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· 观察者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333" y="4741333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不参与投票,用于扩展读吞吐,跨区域部署时降低网络延迟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4500" y="5524500"/>
            <a:ext cx="7577667" cy="2476500"/>
          </a:xfrm>
          <a:custGeom>
            <a:avLst/>
            <a:gdLst/>
            <a:ahLst/>
            <a:cxnLst/>
            <a:rect l="l" t="t" r="r" b="b"/>
            <a:pathLst>
              <a:path w="7577667" h="2476500">
                <a:moveTo>
                  <a:pt x="42333" y="0"/>
                </a:moveTo>
                <a:lnTo>
                  <a:pt x="7492995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2391828"/>
                </a:lnTo>
                <a:cubicBezTo>
                  <a:pt x="7577667" y="2438591"/>
                  <a:pt x="7539758" y="2476500"/>
                  <a:pt x="7492995" y="2476500"/>
                </a:cubicBezTo>
                <a:lnTo>
                  <a:pt x="42333" y="2476500"/>
                </a:lnTo>
                <a:cubicBezTo>
                  <a:pt x="18953" y="2476500"/>
                  <a:pt x="0" y="2457547"/>
                  <a:pt x="0" y="2434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4500" y="5524500"/>
            <a:ext cx="42333" cy="2476500"/>
          </a:xfrm>
          <a:custGeom>
            <a:avLst/>
            <a:gdLst/>
            <a:ahLst/>
            <a:cxnLst/>
            <a:rect l="l" t="t" r="r" b="b"/>
            <a:pathLst>
              <a:path w="42333" h="2476500">
                <a:moveTo>
                  <a:pt x="42333" y="0"/>
                </a:moveTo>
                <a:lnTo>
                  <a:pt x="42333" y="0"/>
                </a:lnTo>
                <a:lnTo>
                  <a:pt x="42333" y="2476500"/>
                </a:lnTo>
                <a:lnTo>
                  <a:pt x="42333" y="2476500"/>
                </a:lnTo>
                <a:cubicBezTo>
                  <a:pt x="18953" y="2476500"/>
                  <a:pt x="0" y="2457547"/>
                  <a:pt x="0" y="2434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61458" y="573616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211667" y="39688"/>
                </a:moveTo>
                <a:cubicBezTo>
                  <a:pt x="211667" y="60441"/>
                  <a:pt x="187234" y="91405"/>
                  <a:pt x="176692" y="103766"/>
                </a:cubicBezTo>
                <a:cubicBezTo>
                  <a:pt x="175121" y="105585"/>
                  <a:pt x="172806" y="106288"/>
                  <a:pt x="170698" y="105833"/>
                </a:cubicBezTo>
                <a:lnTo>
                  <a:pt x="132292" y="105833"/>
                </a:lnTo>
                <a:cubicBezTo>
                  <a:pt x="124974" y="105833"/>
                  <a:pt x="119063" y="111745"/>
                  <a:pt x="119063" y="119063"/>
                </a:cubicBezTo>
                <a:cubicBezTo>
                  <a:pt x="119063" y="126380"/>
                  <a:pt x="124974" y="132292"/>
                  <a:pt x="132292" y="132292"/>
                </a:cubicBezTo>
                <a:lnTo>
                  <a:pt x="171979" y="132292"/>
                </a:lnTo>
                <a:cubicBezTo>
                  <a:pt x="193890" y="132292"/>
                  <a:pt x="211667" y="150068"/>
                  <a:pt x="211667" y="171979"/>
                </a:cubicBezTo>
                <a:cubicBezTo>
                  <a:pt x="211667" y="193890"/>
                  <a:pt x="193890" y="211667"/>
                  <a:pt x="171979" y="211667"/>
                </a:cubicBezTo>
                <a:lnTo>
                  <a:pt x="57712" y="211667"/>
                </a:lnTo>
                <a:cubicBezTo>
                  <a:pt x="61309" y="207574"/>
                  <a:pt x="65691" y="202324"/>
                  <a:pt x="70115" y="196453"/>
                </a:cubicBezTo>
                <a:cubicBezTo>
                  <a:pt x="72719" y="192980"/>
                  <a:pt x="75406" y="189177"/>
                  <a:pt x="77969" y="185208"/>
                </a:cubicBezTo>
                <a:lnTo>
                  <a:pt x="171979" y="185208"/>
                </a:lnTo>
                <a:cubicBezTo>
                  <a:pt x="179297" y="185208"/>
                  <a:pt x="185208" y="179297"/>
                  <a:pt x="185208" y="171979"/>
                </a:cubicBezTo>
                <a:cubicBezTo>
                  <a:pt x="185208" y="164662"/>
                  <a:pt x="179297" y="158750"/>
                  <a:pt x="171979" y="158750"/>
                </a:cubicBezTo>
                <a:lnTo>
                  <a:pt x="132292" y="158750"/>
                </a:lnTo>
                <a:cubicBezTo>
                  <a:pt x="110381" y="158750"/>
                  <a:pt x="92604" y="140973"/>
                  <a:pt x="92604" y="119063"/>
                </a:cubicBezTo>
                <a:cubicBezTo>
                  <a:pt x="92604" y="97152"/>
                  <a:pt x="110381" y="79375"/>
                  <a:pt x="132292" y="79375"/>
                </a:cubicBezTo>
                <a:lnTo>
                  <a:pt x="148745" y="79375"/>
                </a:lnTo>
                <a:cubicBezTo>
                  <a:pt x="140064" y="66353"/>
                  <a:pt x="132292" y="51387"/>
                  <a:pt x="132292" y="39688"/>
                </a:cubicBezTo>
                <a:cubicBezTo>
                  <a:pt x="132292" y="17777"/>
                  <a:pt x="150068" y="0"/>
                  <a:pt x="171979" y="0"/>
                </a:cubicBezTo>
                <a:cubicBezTo>
                  <a:pt x="193890" y="0"/>
                  <a:pt x="211667" y="17777"/>
                  <a:pt x="211667" y="39688"/>
                </a:cubicBezTo>
                <a:close/>
                <a:moveTo>
                  <a:pt x="48410" y="202200"/>
                </a:moveTo>
                <a:cubicBezTo>
                  <a:pt x="46840" y="203977"/>
                  <a:pt x="45434" y="205548"/>
                  <a:pt x="44235" y="206871"/>
                </a:cubicBezTo>
                <a:lnTo>
                  <a:pt x="43491" y="207698"/>
                </a:lnTo>
                <a:lnTo>
                  <a:pt x="43408" y="207615"/>
                </a:lnTo>
                <a:cubicBezTo>
                  <a:pt x="40928" y="209517"/>
                  <a:pt x="37372" y="209269"/>
                  <a:pt x="35140" y="206871"/>
                </a:cubicBezTo>
                <a:cubicBezTo>
                  <a:pt x="24722" y="195544"/>
                  <a:pt x="0" y="166398"/>
                  <a:pt x="0" y="145521"/>
                </a:cubicBezTo>
                <a:cubicBezTo>
                  <a:pt x="0" y="123610"/>
                  <a:pt x="17777" y="105833"/>
                  <a:pt x="39688" y="105833"/>
                </a:cubicBezTo>
                <a:cubicBezTo>
                  <a:pt x="61598" y="105833"/>
                  <a:pt x="79375" y="123610"/>
                  <a:pt x="79375" y="145521"/>
                </a:cubicBezTo>
                <a:cubicBezTo>
                  <a:pt x="79375" y="157923"/>
                  <a:pt x="70652" y="173219"/>
                  <a:pt x="61392" y="185994"/>
                </a:cubicBezTo>
                <a:cubicBezTo>
                  <a:pt x="56968" y="192071"/>
                  <a:pt x="52421" y="197569"/>
                  <a:pt x="48659" y="201910"/>
                </a:cubicBezTo>
                <a:lnTo>
                  <a:pt x="48410" y="202200"/>
                </a:lnTo>
                <a:close/>
                <a:moveTo>
                  <a:pt x="52917" y="145521"/>
                </a:moveTo>
                <a:cubicBezTo>
                  <a:pt x="52917" y="138219"/>
                  <a:pt x="46989" y="132292"/>
                  <a:pt x="39688" y="132292"/>
                </a:cubicBezTo>
                <a:cubicBezTo>
                  <a:pt x="32386" y="132292"/>
                  <a:pt x="26458" y="138219"/>
                  <a:pt x="26458" y="145521"/>
                </a:cubicBezTo>
                <a:cubicBezTo>
                  <a:pt x="26458" y="152822"/>
                  <a:pt x="32386" y="158750"/>
                  <a:pt x="39688" y="158750"/>
                </a:cubicBezTo>
                <a:cubicBezTo>
                  <a:pt x="46989" y="158750"/>
                  <a:pt x="52917" y="152822"/>
                  <a:pt x="52917" y="145521"/>
                </a:cubicBezTo>
                <a:close/>
                <a:moveTo>
                  <a:pt x="171979" y="52917"/>
                </a:moveTo>
                <a:cubicBezTo>
                  <a:pt x="179281" y="52917"/>
                  <a:pt x="185208" y="46989"/>
                  <a:pt x="185208" y="39688"/>
                </a:cubicBezTo>
                <a:cubicBezTo>
                  <a:pt x="185208" y="32386"/>
                  <a:pt x="179281" y="26458"/>
                  <a:pt x="171979" y="26458"/>
                </a:cubicBezTo>
                <a:cubicBezTo>
                  <a:pt x="164678" y="26458"/>
                  <a:pt x="158750" y="32386"/>
                  <a:pt x="158750" y="39688"/>
                </a:cubicBezTo>
                <a:cubicBezTo>
                  <a:pt x="158750" y="46989"/>
                  <a:pt x="164678" y="52917"/>
                  <a:pt x="171979" y="52917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9583" y="5693833"/>
            <a:ext cx="7059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写入与读取路径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5000" y="6074833"/>
            <a:ext cx="7217833" cy="529167"/>
          </a:xfrm>
          <a:custGeom>
            <a:avLst/>
            <a:gdLst/>
            <a:ahLst/>
            <a:cxnLst/>
            <a:rect l="l" t="t" r="r" b="b"/>
            <a:pathLst>
              <a:path w="7217833" h="529167">
                <a:moveTo>
                  <a:pt x="42333" y="0"/>
                </a:moveTo>
                <a:lnTo>
                  <a:pt x="7175500" y="0"/>
                </a:lnTo>
                <a:cubicBezTo>
                  <a:pt x="7198880" y="0"/>
                  <a:pt x="7217833" y="18953"/>
                  <a:pt x="7217833" y="42333"/>
                </a:cubicBezTo>
                <a:lnTo>
                  <a:pt x="7217833" y="486833"/>
                </a:lnTo>
                <a:cubicBezTo>
                  <a:pt x="7217833" y="510213"/>
                  <a:pt x="7198880" y="529167"/>
                  <a:pt x="7175500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2000" y="6201833"/>
            <a:ext cx="7048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写入路径: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客户端写请求→Leader→生成提案→Follower投票→多数派确认→提交生效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000" y="6688667"/>
            <a:ext cx="7217833" cy="529167"/>
          </a:xfrm>
          <a:custGeom>
            <a:avLst/>
            <a:gdLst/>
            <a:ahLst/>
            <a:cxnLst/>
            <a:rect l="l" t="t" r="r" b="b"/>
            <a:pathLst>
              <a:path w="7217833" h="529167">
                <a:moveTo>
                  <a:pt x="42333" y="0"/>
                </a:moveTo>
                <a:lnTo>
                  <a:pt x="7175500" y="0"/>
                </a:lnTo>
                <a:cubicBezTo>
                  <a:pt x="7198880" y="0"/>
                  <a:pt x="7217833" y="18953"/>
                  <a:pt x="7217833" y="42333"/>
                </a:cubicBezTo>
                <a:lnTo>
                  <a:pt x="7217833" y="486833"/>
                </a:lnTo>
                <a:cubicBezTo>
                  <a:pt x="7217833" y="510213"/>
                  <a:pt x="7198880" y="529167"/>
                  <a:pt x="7175500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2000" y="6815667"/>
            <a:ext cx="7048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读取路径: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客户端读请求→任意节点(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Leader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Follower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Observer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)→返回本地数据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6167" y="7302500"/>
            <a:ext cx="7196667" cy="529167"/>
          </a:xfrm>
          <a:custGeom>
            <a:avLst/>
            <a:gdLst/>
            <a:ahLst/>
            <a:cxnLst/>
            <a:rect l="l" t="t" r="r" b="b"/>
            <a:pathLst>
              <a:path w="7196667" h="529167">
                <a:moveTo>
                  <a:pt x="42333" y="0"/>
                </a:moveTo>
                <a:lnTo>
                  <a:pt x="7154333" y="0"/>
                </a:lnTo>
                <a:cubicBezTo>
                  <a:pt x="7177713" y="0"/>
                  <a:pt x="7196667" y="18953"/>
                  <a:pt x="7196667" y="42333"/>
                </a:cubicBezTo>
                <a:lnTo>
                  <a:pt x="7196667" y="486833"/>
                </a:lnTo>
                <a:cubicBezTo>
                  <a:pt x="7196667" y="510213"/>
                  <a:pt x="7177713" y="529167"/>
                  <a:pt x="71543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6167" y="7302500"/>
            <a:ext cx="42333" cy="529167"/>
          </a:xfrm>
          <a:custGeom>
            <a:avLst/>
            <a:gdLst/>
            <a:ahLst/>
            <a:cxnLst/>
            <a:rect l="l" t="t" r="r" b="b"/>
            <a:pathLst>
              <a:path w="42333" h="529167">
                <a:moveTo>
                  <a:pt x="42333" y="0"/>
                </a:moveTo>
                <a:lnTo>
                  <a:pt x="42333" y="0"/>
                </a:lnTo>
                <a:lnTo>
                  <a:pt x="42333" y="529167"/>
                </a:ln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4333" y="7429500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工程直觉: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写入要"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过多数派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",读取尽量就近,但读到的状态是否"最新"取决于同步语义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233833" y="1460500"/>
            <a:ext cx="7598833" cy="6498167"/>
          </a:xfrm>
          <a:custGeom>
            <a:avLst/>
            <a:gdLst/>
            <a:ahLst/>
            <a:cxnLst/>
            <a:rect l="l" t="t" r="r" b="b"/>
            <a:pathLst>
              <a:path w="7598833" h="649816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6413496"/>
                </a:lnTo>
                <a:cubicBezTo>
                  <a:pt x="7598833" y="6460258"/>
                  <a:pt x="7560925" y="6498167"/>
                  <a:pt x="7514162" y="6498167"/>
                </a:cubicBezTo>
                <a:lnTo>
                  <a:pt x="84671" y="6498167"/>
                </a:lnTo>
                <a:cubicBezTo>
                  <a:pt x="37909" y="6498167"/>
                  <a:pt x="0" y="6460258"/>
                  <a:pt x="0" y="6413496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33833" y="146050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461375" y="1735667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47625" y="47625"/>
                </a:moveTo>
                <a:cubicBezTo>
                  <a:pt x="47625" y="30113"/>
                  <a:pt x="61863" y="15875"/>
                  <a:pt x="79375" y="15875"/>
                </a:cubicBezTo>
                <a:lnTo>
                  <a:pt x="206375" y="15875"/>
                </a:lnTo>
                <a:cubicBezTo>
                  <a:pt x="223887" y="15875"/>
                  <a:pt x="238125" y="30113"/>
                  <a:pt x="238125" y="47625"/>
                </a:cubicBezTo>
                <a:lnTo>
                  <a:pt x="238125" y="158750"/>
                </a:lnTo>
                <a:cubicBezTo>
                  <a:pt x="238125" y="176262"/>
                  <a:pt x="223887" y="190500"/>
                  <a:pt x="206375" y="190500"/>
                </a:cubicBezTo>
                <a:lnTo>
                  <a:pt x="79375" y="190500"/>
                </a:lnTo>
                <a:cubicBezTo>
                  <a:pt x="61863" y="190500"/>
                  <a:pt x="47625" y="176262"/>
                  <a:pt x="47625" y="158750"/>
                </a:cubicBezTo>
                <a:lnTo>
                  <a:pt x="47625" y="47625"/>
                </a:lnTo>
                <a:close/>
                <a:moveTo>
                  <a:pt x="180925" y="57348"/>
                </a:moveTo>
                <a:cubicBezTo>
                  <a:pt x="175369" y="53876"/>
                  <a:pt x="168027" y="55563"/>
                  <a:pt x="164505" y="61119"/>
                </a:cubicBezTo>
                <a:lnTo>
                  <a:pt x="134045" y="109885"/>
                </a:lnTo>
                <a:lnTo>
                  <a:pt x="120650" y="92025"/>
                </a:lnTo>
                <a:cubicBezTo>
                  <a:pt x="116681" y="86767"/>
                  <a:pt x="109240" y="85675"/>
                  <a:pt x="103981" y="89644"/>
                </a:cubicBezTo>
                <a:cubicBezTo>
                  <a:pt x="98723" y="93613"/>
                  <a:pt x="97631" y="101054"/>
                  <a:pt x="101600" y="106313"/>
                </a:cubicBezTo>
                <a:lnTo>
                  <a:pt x="125413" y="138063"/>
                </a:lnTo>
                <a:cubicBezTo>
                  <a:pt x="127744" y="141188"/>
                  <a:pt x="131514" y="142974"/>
                  <a:pt x="135434" y="142825"/>
                </a:cubicBezTo>
                <a:cubicBezTo>
                  <a:pt x="139353" y="142677"/>
                  <a:pt x="142925" y="140593"/>
                  <a:pt x="145008" y="137220"/>
                </a:cubicBezTo>
                <a:lnTo>
                  <a:pt x="184696" y="73720"/>
                </a:lnTo>
                <a:cubicBezTo>
                  <a:pt x="188168" y="68163"/>
                  <a:pt x="186482" y="60821"/>
                  <a:pt x="180925" y="57299"/>
                </a:cubicBezTo>
                <a:close/>
                <a:moveTo>
                  <a:pt x="23812" y="154781"/>
                </a:moveTo>
                <a:lnTo>
                  <a:pt x="23812" y="206375"/>
                </a:lnTo>
                <a:cubicBezTo>
                  <a:pt x="23812" y="210741"/>
                  <a:pt x="27384" y="214313"/>
                  <a:pt x="31750" y="214313"/>
                </a:cubicBezTo>
                <a:lnTo>
                  <a:pt x="254000" y="214313"/>
                </a:lnTo>
                <a:cubicBezTo>
                  <a:pt x="258366" y="214313"/>
                  <a:pt x="261937" y="210741"/>
                  <a:pt x="261937" y="206375"/>
                </a:cubicBezTo>
                <a:lnTo>
                  <a:pt x="261937" y="154781"/>
                </a:lnTo>
                <a:cubicBezTo>
                  <a:pt x="261937" y="148183"/>
                  <a:pt x="267246" y="142875"/>
                  <a:pt x="273844" y="142875"/>
                </a:cubicBezTo>
                <a:cubicBezTo>
                  <a:pt x="280442" y="142875"/>
                  <a:pt x="285750" y="148183"/>
                  <a:pt x="285750" y="154781"/>
                </a:cubicBezTo>
                <a:lnTo>
                  <a:pt x="285750" y="206375"/>
                </a:lnTo>
                <a:cubicBezTo>
                  <a:pt x="285750" y="223887"/>
                  <a:pt x="271512" y="238125"/>
                  <a:pt x="2540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4781"/>
                </a:lnTo>
                <a:cubicBezTo>
                  <a:pt x="0" y="148183"/>
                  <a:pt x="5308" y="142875"/>
                  <a:pt x="11906" y="142875"/>
                </a:cubicBezTo>
                <a:cubicBezTo>
                  <a:pt x="18504" y="142875"/>
                  <a:pt x="23812" y="148183"/>
                  <a:pt x="23812" y="15478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63000" y="1693333"/>
            <a:ext cx="698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多数派(</a:t>
            </a: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Quorum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)基本原则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445500" y="2159000"/>
            <a:ext cx="7175500" cy="1735667"/>
          </a:xfrm>
          <a:custGeom>
            <a:avLst/>
            <a:gdLst/>
            <a:ahLst/>
            <a:cxnLst/>
            <a:rect l="l" t="t" r="r" b="b"/>
            <a:pathLst>
              <a:path w="7175500" h="1735667">
                <a:moveTo>
                  <a:pt x="84666" y="0"/>
                </a:moveTo>
                <a:lnTo>
                  <a:pt x="7090834" y="0"/>
                </a:lnTo>
                <a:cubicBezTo>
                  <a:pt x="7137594" y="0"/>
                  <a:pt x="7175500" y="37906"/>
                  <a:pt x="7175500" y="84666"/>
                </a:cubicBezTo>
                <a:lnTo>
                  <a:pt x="7175500" y="1651001"/>
                </a:lnTo>
                <a:cubicBezTo>
                  <a:pt x="7175500" y="1697760"/>
                  <a:pt x="7137594" y="1735667"/>
                  <a:pt x="7090834" y="1735667"/>
                </a:cubicBezTo>
                <a:lnTo>
                  <a:pt x="84666" y="1735667"/>
                </a:lnTo>
                <a:cubicBezTo>
                  <a:pt x="37906" y="1735667"/>
                  <a:pt x="0" y="1697760"/>
                  <a:pt x="0" y="1651001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14833" y="2328333"/>
            <a:ext cx="6932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为什么需要多数派?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614833" y="2709333"/>
            <a:ext cx="6921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写入与选主依赖多数派仲裁以避免脑裂(Split-Brain):网络分区时,只有获得多数派支持的集群能继续服务,防止多个Leader同时写入导致数据不一致。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614833" y="3344333"/>
            <a:ext cx="6836833" cy="381000"/>
          </a:xfrm>
          <a:custGeom>
            <a:avLst/>
            <a:gdLst/>
            <a:ahLst/>
            <a:cxnLst/>
            <a:rect l="l" t="t" r="r" b="b"/>
            <a:pathLst>
              <a:path w="6836833" h="381000">
                <a:moveTo>
                  <a:pt x="42333" y="0"/>
                </a:moveTo>
                <a:lnTo>
                  <a:pt x="6794500" y="0"/>
                </a:lnTo>
                <a:cubicBezTo>
                  <a:pt x="6817880" y="0"/>
                  <a:pt x="6836833" y="18953"/>
                  <a:pt x="6836833" y="42333"/>
                </a:cubicBezTo>
                <a:lnTo>
                  <a:pt x="6836833" y="338667"/>
                </a:lnTo>
                <a:cubicBezTo>
                  <a:pt x="6836833" y="362047"/>
                  <a:pt x="6817880" y="381000"/>
                  <a:pt x="6794500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699500" y="3429000"/>
            <a:ext cx="6741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核心直觉: 任何两个多数派集合必然有交集,从而保障一致性推进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445500" y="4021667"/>
            <a:ext cx="7175500" cy="2286000"/>
          </a:xfrm>
          <a:custGeom>
            <a:avLst/>
            <a:gdLst/>
            <a:ahLst/>
            <a:cxnLst/>
            <a:rect l="l" t="t" r="r" b="b"/>
            <a:pathLst>
              <a:path w="7175500" h="2286000">
                <a:moveTo>
                  <a:pt x="84673" y="0"/>
                </a:moveTo>
                <a:lnTo>
                  <a:pt x="7090827" y="0"/>
                </a:lnTo>
                <a:cubicBezTo>
                  <a:pt x="7137590" y="0"/>
                  <a:pt x="7175500" y="37910"/>
                  <a:pt x="7175500" y="84673"/>
                </a:cubicBezTo>
                <a:lnTo>
                  <a:pt x="7175500" y="2201327"/>
                </a:lnTo>
                <a:cubicBezTo>
                  <a:pt x="7175500" y="2248090"/>
                  <a:pt x="7137590" y="2286000"/>
                  <a:pt x="7090827" y="2286000"/>
                </a:cubicBezTo>
                <a:lnTo>
                  <a:pt x="84673" y="2286000"/>
                </a:lnTo>
                <a:cubicBezTo>
                  <a:pt x="37910" y="2286000"/>
                  <a:pt x="0" y="2248090"/>
                  <a:pt x="0" y="2201327"/>
                </a:cubicBezTo>
                <a:lnTo>
                  <a:pt x="0" y="84673"/>
                </a:lnTo>
                <a:cubicBezTo>
                  <a:pt x="0" y="37910"/>
                  <a:pt x="37910" y="0"/>
                  <a:pt x="8467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614833" y="4191000"/>
            <a:ext cx="6932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容错能力公式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614833" y="4572000"/>
            <a:ext cx="6836833" cy="804333"/>
          </a:xfrm>
          <a:custGeom>
            <a:avLst/>
            <a:gdLst/>
            <a:ahLst/>
            <a:cxnLst/>
            <a:rect l="l" t="t" r="r" b="b"/>
            <a:pathLst>
              <a:path w="6836833" h="804333">
                <a:moveTo>
                  <a:pt x="42332" y="0"/>
                </a:moveTo>
                <a:lnTo>
                  <a:pt x="6794501" y="0"/>
                </a:lnTo>
                <a:cubicBezTo>
                  <a:pt x="6817881" y="0"/>
                  <a:pt x="6836833" y="18953"/>
                  <a:pt x="6836833" y="42332"/>
                </a:cubicBezTo>
                <a:lnTo>
                  <a:pt x="6836833" y="762001"/>
                </a:lnTo>
                <a:cubicBezTo>
                  <a:pt x="6836833" y="785381"/>
                  <a:pt x="6817881" y="804333"/>
                  <a:pt x="679450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678333" y="4699000"/>
            <a:ext cx="6709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2n + 1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704792" y="5037667"/>
            <a:ext cx="6656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容忍n台故障需要2n+1台节点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614833" y="5461000"/>
            <a:ext cx="2222500" cy="677333"/>
          </a:xfrm>
          <a:custGeom>
            <a:avLst/>
            <a:gdLst/>
            <a:ahLst/>
            <a:cxnLst/>
            <a:rect l="l" t="t" r="r" b="b"/>
            <a:pathLst>
              <a:path w="2222500" h="677333">
                <a:moveTo>
                  <a:pt x="42333" y="0"/>
                </a:moveTo>
                <a:lnTo>
                  <a:pt x="2180167" y="0"/>
                </a:lnTo>
                <a:cubicBezTo>
                  <a:pt x="2203547" y="0"/>
                  <a:pt x="2222500" y="18953"/>
                  <a:pt x="2222500" y="42333"/>
                </a:cubicBezTo>
                <a:lnTo>
                  <a:pt x="2222500" y="635000"/>
                </a:lnTo>
                <a:cubicBezTo>
                  <a:pt x="2222500" y="658380"/>
                  <a:pt x="2203547" y="677333"/>
                  <a:pt x="218016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651875" y="5545667"/>
            <a:ext cx="214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662458" y="5842000"/>
            <a:ext cx="212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容忍1台故障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0922000" y="5461000"/>
            <a:ext cx="2222500" cy="677333"/>
          </a:xfrm>
          <a:custGeom>
            <a:avLst/>
            <a:gdLst/>
            <a:ahLst/>
            <a:cxnLst/>
            <a:rect l="l" t="t" r="r" b="b"/>
            <a:pathLst>
              <a:path w="2222500" h="677333">
                <a:moveTo>
                  <a:pt x="42333" y="0"/>
                </a:moveTo>
                <a:lnTo>
                  <a:pt x="2180167" y="0"/>
                </a:lnTo>
                <a:cubicBezTo>
                  <a:pt x="2203547" y="0"/>
                  <a:pt x="2222500" y="18953"/>
                  <a:pt x="2222500" y="42333"/>
                </a:cubicBezTo>
                <a:lnTo>
                  <a:pt x="2222500" y="635000"/>
                </a:lnTo>
                <a:cubicBezTo>
                  <a:pt x="2222500" y="658380"/>
                  <a:pt x="2203547" y="677333"/>
                  <a:pt x="218016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959042" y="5545667"/>
            <a:ext cx="214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0969625" y="5842000"/>
            <a:ext cx="212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容忍2台故障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3229167" y="5461000"/>
            <a:ext cx="2222500" cy="677333"/>
          </a:xfrm>
          <a:custGeom>
            <a:avLst/>
            <a:gdLst/>
            <a:ahLst/>
            <a:cxnLst/>
            <a:rect l="l" t="t" r="r" b="b"/>
            <a:pathLst>
              <a:path w="2222500" h="677333">
                <a:moveTo>
                  <a:pt x="42333" y="0"/>
                </a:moveTo>
                <a:lnTo>
                  <a:pt x="2180167" y="0"/>
                </a:lnTo>
                <a:cubicBezTo>
                  <a:pt x="2203547" y="0"/>
                  <a:pt x="2222500" y="18953"/>
                  <a:pt x="2222500" y="42333"/>
                </a:cubicBezTo>
                <a:lnTo>
                  <a:pt x="2222500" y="635000"/>
                </a:lnTo>
                <a:cubicBezTo>
                  <a:pt x="2222500" y="658380"/>
                  <a:pt x="2203547" y="677333"/>
                  <a:pt x="2180167" y="677333"/>
                </a:cubicBezTo>
                <a:lnTo>
                  <a:pt x="42333" y="677333"/>
                </a:lnTo>
                <a:cubicBezTo>
                  <a:pt x="18953" y="677333"/>
                  <a:pt x="0" y="658380"/>
                  <a:pt x="0" y="63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3266208" y="5545667"/>
            <a:ext cx="2148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7台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3276792" y="5842000"/>
            <a:ext cx="2127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容忍3台故障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8466667" y="6434667"/>
            <a:ext cx="7154333" cy="1312333"/>
          </a:xfrm>
          <a:custGeom>
            <a:avLst/>
            <a:gdLst/>
            <a:ahLst/>
            <a:cxnLst/>
            <a:rect l="l" t="t" r="r" b="b"/>
            <a:pathLst>
              <a:path w="7154333" h="1312333">
                <a:moveTo>
                  <a:pt x="42333" y="0"/>
                </a:moveTo>
                <a:lnTo>
                  <a:pt x="7111997" y="0"/>
                </a:lnTo>
                <a:cubicBezTo>
                  <a:pt x="7135379" y="0"/>
                  <a:pt x="7154333" y="18954"/>
                  <a:pt x="7154333" y="42336"/>
                </a:cubicBezTo>
                <a:lnTo>
                  <a:pt x="7154333" y="1269997"/>
                </a:lnTo>
                <a:cubicBezTo>
                  <a:pt x="7154333" y="1293379"/>
                  <a:pt x="7135379" y="1312333"/>
                  <a:pt x="7111997" y="1312333"/>
                </a:cubicBez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466667" y="6434667"/>
            <a:ext cx="42333" cy="1312333"/>
          </a:xfrm>
          <a:custGeom>
            <a:avLst/>
            <a:gdLst/>
            <a:ahLst/>
            <a:cxnLst/>
            <a:rect l="l" t="t" r="r" b="b"/>
            <a:pathLst>
              <a:path w="42333" h="1312333">
                <a:moveTo>
                  <a:pt x="42333" y="0"/>
                </a:moveTo>
                <a:lnTo>
                  <a:pt x="42333" y="0"/>
                </a:lnTo>
                <a:lnTo>
                  <a:pt x="42333" y="1312333"/>
                </a:lnTo>
                <a:lnTo>
                  <a:pt x="42333" y="1312333"/>
                </a:lnTo>
                <a:cubicBezTo>
                  <a:pt x="18953" y="1312333"/>
                  <a:pt x="0" y="1293380"/>
                  <a:pt x="0" y="127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57167" y="6604000"/>
            <a:ext cx="6889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为什么集群规模通常取奇数?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657167" y="6985000"/>
            <a:ext cx="6879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容错: 奇数节点的容错能力优于偶数(如3台容忍1台,4台也只能容忍1台)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657167" y="7302500"/>
            <a:ext cx="6879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资源利用率: 偶数节点需要更多资源但容错能力不提升,造成浪费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727" y="465455"/>
            <a:ext cx="1512727" cy="372364"/>
          </a:xfrm>
          <a:custGeom>
            <a:avLst/>
            <a:gdLst/>
            <a:ahLst/>
            <a:cxnLst/>
            <a:rect l="l" t="t" r="r" b="b"/>
            <a:pathLst>
              <a:path w="1512727" h="372364">
                <a:moveTo>
                  <a:pt x="0" y="0"/>
                </a:moveTo>
                <a:lnTo>
                  <a:pt x="1512727" y="0"/>
                </a:lnTo>
                <a:lnTo>
                  <a:pt x="1512727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8727" y="465455"/>
            <a:ext cx="46545" cy="372364"/>
          </a:xfrm>
          <a:custGeom>
            <a:avLst/>
            <a:gdLst/>
            <a:ahLst/>
            <a:cxnLst/>
            <a:rect l="l" t="t" r="r" b="b"/>
            <a:pathLst>
              <a:path w="46545" h="372364">
                <a:moveTo>
                  <a:pt x="0" y="0"/>
                </a:moveTo>
                <a:lnTo>
                  <a:pt x="46545" y="0"/>
                </a:lnTo>
                <a:lnTo>
                  <a:pt x="46545" y="372364"/>
                </a:lnTo>
                <a:lnTo>
                  <a:pt x="0" y="372364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1636" y="529455"/>
            <a:ext cx="1300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6" kern="0" spc="73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5455" y="930909"/>
            <a:ext cx="15534545" cy="46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9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生态依赖与典型应用场景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455" y="1605818"/>
            <a:ext cx="4980364" cy="2676364"/>
          </a:xfrm>
          <a:custGeom>
            <a:avLst/>
            <a:gdLst/>
            <a:ahLst/>
            <a:cxnLst/>
            <a:rect l="l" t="t" r="r" b="b"/>
            <a:pathLst>
              <a:path w="4980364" h="2676364">
                <a:moveTo>
                  <a:pt x="46545" y="0"/>
                </a:moveTo>
                <a:lnTo>
                  <a:pt x="4933818" y="0"/>
                </a:lnTo>
                <a:cubicBezTo>
                  <a:pt x="4959525" y="0"/>
                  <a:pt x="4980364" y="20839"/>
                  <a:pt x="4980364" y="46545"/>
                </a:cubicBezTo>
                <a:lnTo>
                  <a:pt x="4980364" y="2583280"/>
                </a:lnTo>
                <a:cubicBezTo>
                  <a:pt x="4980364" y="2634689"/>
                  <a:pt x="4938689" y="2676364"/>
                  <a:pt x="4887280" y="2676364"/>
                </a:cubicBezTo>
                <a:lnTo>
                  <a:pt x="93084" y="2676364"/>
                </a:lnTo>
                <a:cubicBezTo>
                  <a:pt x="41675" y="2676364"/>
                  <a:pt x="0" y="2634689"/>
                  <a:pt x="0" y="2583280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5455" y="1605818"/>
            <a:ext cx="4980364" cy="46545"/>
          </a:xfrm>
          <a:custGeom>
            <a:avLst/>
            <a:gdLst/>
            <a:ahLst/>
            <a:cxnLst/>
            <a:rect l="l" t="t" r="r" b="b"/>
            <a:pathLst>
              <a:path w="4980364" h="46545">
                <a:moveTo>
                  <a:pt x="46545" y="0"/>
                </a:moveTo>
                <a:lnTo>
                  <a:pt x="4933818" y="0"/>
                </a:lnTo>
                <a:cubicBezTo>
                  <a:pt x="4959525" y="0"/>
                  <a:pt x="4980364" y="20839"/>
                  <a:pt x="4980364" y="46545"/>
                </a:cubicBezTo>
                <a:lnTo>
                  <a:pt x="4980364" y="46545"/>
                </a:lnTo>
                <a:lnTo>
                  <a:pt x="0" y="46545"/>
                </a:ln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6545" y="1861818"/>
            <a:ext cx="305455" cy="349091"/>
          </a:xfrm>
          <a:custGeom>
            <a:avLst/>
            <a:gdLst/>
            <a:ahLst/>
            <a:cxnLst/>
            <a:rect l="l" t="t" r="r" b="b"/>
            <a:pathLst>
              <a:path w="305455" h="349091">
                <a:moveTo>
                  <a:pt x="305455" y="140318"/>
                </a:moveTo>
                <a:cubicBezTo>
                  <a:pt x="295364" y="147000"/>
                  <a:pt x="283773" y="152386"/>
                  <a:pt x="271705" y="156682"/>
                </a:cubicBezTo>
                <a:cubicBezTo>
                  <a:pt x="239659" y="168136"/>
                  <a:pt x="197591" y="174545"/>
                  <a:pt x="152727" y="174545"/>
                </a:cubicBezTo>
                <a:cubicBezTo>
                  <a:pt x="107864" y="174545"/>
                  <a:pt x="65727" y="168068"/>
                  <a:pt x="33750" y="156682"/>
                </a:cubicBezTo>
                <a:cubicBezTo>
                  <a:pt x="21750" y="152386"/>
                  <a:pt x="10091" y="147000"/>
                  <a:pt x="0" y="140318"/>
                </a:cubicBezTo>
                <a:lnTo>
                  <a:pt x="0" y="196364"/>
                </a:lnTo>
                <a:cubicBezTo>
                  <a:pt x="0" y="226500"/>
                  <a:pt x="68386" y="250909"/>
                  <a:pt x="152727" y="250909"/>
                </a:cubicBezTo>
                <a:cubicBezTo>
                  <a:pt x="237068" y="250909"/>
                  <a:pt x="305455" y="226500"/>
                  <a:pt x="305455" y="196364"/>
                </a:cubicBezTo>
                <a:lnTo>
                  <a:pt x="305455" y="140318"/>
                </a:lnTo>
                <a:close/>
                <a:moveTo>
                  <a:pt x="305455" y="87273"/>
                </a:moveTo>
                <a:lnTo>
                  <a:pt x="305455" y="54545"/>
                </a:lnTo>
                <a:cubicBezTo>
                  <a:pt x="305455" y="24409"/>
                  <a:pt x="237068" y="0"/>
                  <a:pt x="152727" y="0"/>
                </a:cubicBezTo>
                <a:cubicBezTo>
                  <a:pt x="68386" y="0"/>
                  <a:pt x="0" y="24409"/>
                  <a:pt x="0" y="54545"/>
                </a:cubicBezTo>
                <a:lnTo>
                  <a:pt x="0" y="87273"/>
                </a:lnTo>
                <a:cubicBezTo>
                  <a:pt x="0" y="117409"/>
                  <a:pt x="68386" y="141818"/>
                  <a:pt x="152727" y="141818"/>
                </a:cubicBezTo>
                <a:cubicBezTo>
                  <a:pt x="237068" y="141818"/>
                  <a:pt x="305455" y="117409"/>
                  <a:pt x="305455" y="87273"/>
                </a:cubicBezTo>
                <a:close/>
                <a:moveTo>
                  <a:pt x="271705" y="265773"/>
                </a:moveTo>
                <a:cubicBezTo>
                  <a:pt x="239727" y="277159"/>
                  <a:pt x="197659" y="283636"/>
                  <a:pt x="152727" y="283636"/>
                </a:cubicBezTo>
                <a:cubicBezTo>
                  <a:pt x="107795" y="283636"/>
                  <a:pt x="65727" y="277159"/>
                  <a:pt x="33750" y="265773"/>
                </a:cubicBezTo>
                <a:cubicBezTo>
                  <a:pt x="21750" y="261477"/>
                  <a:pt x="10091" y="256091"/>
                  <a:pt x="0" y="249409"/>
                </a:cubicBezTo>
                <a:lnTo>
                  <a:pt x="0" y="294545"/>
                </a:lnTo>
                <a:cubicBezTo>
                  <a:pt x="0" y="324682"/>
                  <a:pt x="68386" y="349091"/>
                  <a:pt x="152727" y="349091"/>
                </a:cubicBezTo>
                <a:cubicBezTo>
                  <a:pt x="237068" y="349091"/>
                  <a:pt x="305455" y="324682"/>
                  <a:pt x="305455" y="294545"/>
                </a:cubicBezTo>
                <a:lnTo>
                  <a:pt x="305455" y="249409"/>
                </a:lnTo>
                <a:cubicBezTo>
                  <a:pt x="295364" y="256091"/>
                  <a:pt x="283773" y="261477"/>
                  <a:pt x="271705" y="265773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74182" y="1873455"/>
            <a:ext cx="1105455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HA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8182" y="2350545"/>
            <a:ext cx="4608000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组件: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 + ZKFC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8182" y="2746182"/>
            <a:ext cx="4608000" cy="60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能力: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完成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Active/Standby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的健康检查、选主与自动切换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8182" y="3444364"/>
            <a:ext cx="4608000" cy="60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流程: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监控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健康→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抢占锁→触发切换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37091" y="1605818"/>
            <a:ext cx="4980364" cy="2676364"/>
          </a:xfrm>
          <a:custGeom>
            <a:avLst/>
            <a:gdLst/>
            <a:ahLst/>
            <a:cxnLst/>
            <a:rect l="l" t="t" r="r" b="b"/>
            <a:pathLst>
              <a:path w="4980364" h="2676364">
                <a:moveTo>
                  <a:pt x="46545" y="0"/>
                </a:moveTo>
                <a:lnTo>
                  <a:pt x="4933818" y="0"/>
                </a:lnTo>
                <a:cubicBezTo>
                  <a:pt x="4959525" y="0"/>
                  <a:pt x="4980364" y="20839"/>
                  <a:pt x="4980364" y="46545"/>
                </a:cubicBezTo>
                <a:lnTo>
                  <a:pt x="4980364" y="2583280"/>
                </a:lnTo>
                <a:cubicBezTo>
                  <a:pt x="4980364" y="2634689"/>
                  <a:pt x="4938689" y="2676364"/>
                  <a:pt x="4887280" y="2676364"/>
                </a:cubicBezTo>
                <a:lnTo>
                  <a:pt x="93084" y="2676364"/>
                </a:lnTo>
                <a:cubicBezTo>
                  <a:pt x="41675" y="2676364"/>
                  <a:pt x="0" y="2634689"/>
                  <a:pt x="0" y="2583280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37091" y="1605818"/>
            <a:ext cx="4980364" cy="46545"/>
          </a:xfrm>
          <a:custGeom>
            <a:avLst/>
            <a:gdLst/>
            <a:ahLst/>
            <a:cxnLst/>
            <a:rect l="l" t="t" r="r" b="b"/>
            <a:pathLst>
              <a:path w="4980364" h="46545">
                <a:moveTo>
                  <a:pt x="46545" y="0"/>
                </a:moveTo>
                <a:lnTo>
                  <a:pt x="4933818" y="0"/>
                </a:lnTo>
                <a:cubicBezTo>
                  <a:pt x="4959525" y="0"/>
                  <a:pt x="4980364" y="20839"/>
                  <a:pt x="4980364" y="46545"/>
                </a:cubicBezTo>
                <a:lnTo>
                  <a:pt x="4980364" y="46545"/>
                </a:lnTo>
                <a:lnTo>
                  <a:pt x="0" y="46545"/>
                </a:ln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38182" y="1861818"/>
            <a:ext cx="305455" cy="349091"/>
          </a:xfrm>
          <a:custGeom>
            <a:avLst/>
            <a:gdLst/>
            <a:ahLst/>
            <a:cxnLst/>
            <a:rect l="l" t="t" r="r" b="b"/>
            <a:pathLst>
              <a:path w="305455" h="349091">
                <a:moveTo>
                  <a:pt x="174545" y="109091"/>
                </a:moveTo>
                <a:lnTo>
                  <a:pt x="174545" y="174545"/>
                </a:lnTo>
                <a:lnTo>
                  <a:pt x="261818" y="174545"/>
                </a:lnTo>
                <a:lnTo>
                  <a:pt x="261818" y="109091"/>
                </a:lnTo>
                <a:lnTo>
                  <a:pt x="174545" y="109091"/>
                </a:lnTo>
                <a:close/>
                <a:moveTo>
                  <a:pt x="130909" y="109091"/>
                </a:moveTo>
                <a:lnTo>
                  <a:pt x="43636" y="109091"/>
                </a:lnTo>
                <a:lnTo>
                  <a:pt x="43636" y="174545"/>
                </a:lnTo>
                <a:lnTo>
                  <a:pt x="130909" y="174545"/>
                </a:lnTo>
                <a:lnTo>
                  <a:pt x="130909" y="109091"/>
                </a:lnTo>
                <a:close/>
                <a:moveTo>
                  <a:pt x="0" y="218182"/>
                </a:moveTo>
                <a:lnTo>
                  <a:pt x="0" y="65455"/>
                </a:lnTo>
                <a:cubicBezTo>
                  <a:pt x="0" y="41386"/>
                  <a:pt x="19568" y="21818"/>
                  <a:pt x="43636" y="21818"/>
                </a:cubicBezTo>
                <a:lnTo>
                  <a:pt x="261818" y="21818"/>
                </a:lnTo>
                <a:cubicBezTo>
                  <a:pt x="285886" y="21818"/>
                  <a:pt x="305455" y="41386"/>
                  <a:pt x="305455" y="65455"/>
                </a:cubicBezTo>
                <a:lnTo>
                  <a:pt x="305455" y="283636"/>
                </a:lnTo>
                <a:cubicBezTo>
                  <a:pt x="305455" y="307705"/>
                  <a:pt x="285886" y="327273"/>
                  <a:pt x="261818" y="327273"/>
                </a:cubicBezTo>
                <a:lnTo>
                  <a:pt x="43636" y="327273"/>
                </a:lnTo>
                <a:cubicBezTo>
                  <a:pt x="19568" y="327273"/>
                  <a:pt x="0" y="307705"/>
                  <a:pt x="0" y="283636"/>
                </a:cubicBezTo>
                <a:lnTo>
                  <a:pt x="0" y="218182"/>
                </a:lnTo>
                <a:close/>
                <a:moveTo>
                  <a:pt x="261818" y="218182"/>
                </a:moveTo>
                <a:lnTo>
                  <a:pt x="174545" y="218182"/>
                </a:lnTo>
                <a:lnTo>
                  <a:pt x="174545" y="283636"/>
                </a:lnTo>
                <a:lnTo>
                  <a:pt x="261818" y="283636"/>
                </a:lnTo>
                <a:lnTo>
                  <a:pt x="261818" y="218182"/>
                </a:lnTo>
                <a:close/>
                <a:moveTo>
                  <a:pt x="130909" y="283636"/>
                </a:moveTo>
                <a:lnTo>
                  <a:pt x="130909" y="218182"/>
                </a:lnTo>
                <a:lnTo>
                  <a:pt x="43636" y="218182"/>
                </a:lnTo>
                <a:lnTo>
                  <a:pt x="43636" y="283636"/>
                </a:lnTo>
                <a:lnTo>
                  <a:pt x="130909" y="283636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45818" y="1873455"/>
            <a:ext cx="837818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69818" y="2350545"/>
            <a:ext cx="4608000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依赖: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做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/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RegionServer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协调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69818" y="2746182"/>
            <a:ext cx="4608000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功能: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管理Master选举、RS存活监控、元数据定位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69818" y="3141818"/>
            <a:ext cx="4608000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关键: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客户端通过ZK找到hbase:meta表位置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808818" y="1605818"/>
            <a:ext cx="4980364" cy="2676364"/>
          </a:xfrm>
          <a:custGeom>
            <a:avLst/>
            <a:gdLst/>
            <a:ahLst/>
            <a:cxnLst/>
            <a:rect l="l" t="t" r="r" b="b"/>
            <a:pathLst>
              <a:path w="4980364" h="2676364">
                <a:moveTo>
                  <a:pt x="46545" y="0"/>
                </a:moveTo>
                <a:lnTo>
                  <a:pt x="4933818" y="0"/>
                </a:lnTo>
                <a:cubicBezTo>
                  <a:pt x="4959525" y="0"/>
                  <a:pt x="4980364" y="20839"/>
                  <a:pt x="4980364" y="46545"/>
                </a:cubicBezTo>
                <a:lnTo>
                  <a:pt x="4980364" y="2583280"/>
                </a:lnTo>
                <a:cubicBezTo>
                  <a:pt x="4980364" y="2634689"/>
                  <a:pt x="4938689" y="2676364"/>
                  <a:pt x="4887280" y="2676364"/>
                </a:cubicBezTo>
                <a:lnTo>
                  <a:pt x="93084" y="2676364"/>
                </a:lnTo>
                <a:cubicBezTo>
                  <a:pt x="41675" y="2676364"/>
                  <a:pt x="0" y="2634689"/>
                  <a:pt x="0" y="2583280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808818" y="1605818"/>
            <a:ext cx="4980364" cy="46545"/>
          </a:xfrm>
          <a:custGeom>
            <a:avLst/>
            <a:gdLst/>
            <a:ahLst/>
            <a:cxnLst/>
            <a:rect l="l" t="t" r="r" b="b"/>
            <a:pathLst>
              <a:path w="4980364" h="46545">
                <a:moveTo>
                  <a:pt x="46545" y="0"/>
                </a:moveTo>
                <a:lnTo>
                  <a:pt x="4933818" y="0"/>
                </a:lnTo>
                <a:cubicBezTo>
                  <a:pt x="4959525" y="0"/>
                  <a:pt x="4980364" y="20839"/>
                  <a:pt x="4980364" y="46545"/>
                </a:cubicBezTo>
                <a:lnTo>
                  <a:pt x="4980364" y="46545"/>
                </a:lnTo>
                <a:lnTo>
                  <a:pt x="0" y="46545"/>
                </a:ln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088091" y="1861818"/>
            <a:ext cx="349091" cy="349091"/>
          </a:xfrm>
          <a:custGeom>
            <a:avLst/>
            <a:gdLst/>
            <a:ahLst/>
            <a:cxnLst/>
            <a:rect l="l" t="t" r="r" b="b"/>
            <a:pathLst>
              <a:path w="349091" h="349091">
                <a:moveTo>
                  <a:pt x="0" y="65455"/>
                </a:moveTo>
                <a:cubicBezTo>
                  <a:pt x="0" y="53386"/>
                  <a:pt x="9750" y="43636"/>
                  <a:pt x="21818" y="43636"/>
                </a:cubicBezTo>
                <a:lnTo>
                  <a:pt x="283636" y="43636"/>
                </a:lnTo>
                <a:cubicBezTo>
                  <a:pt x="295705" y="43636"/>
                  <a:pt x="305455" y="53386"/>
                  <a:pt x="305455" y="65455"/>
                </a:cubicBezTo>
                <a:cubicBezTo>
                  <a:pt x="305455" y="77523"/>
                  <a:pt x="295705" y="87273"/>
                  <a:pt x="283636" y="87273"/>
                </a:cubicBezTo>
                <a:lnTo>
                  <a:pt x="21818" y="87273"/>
                </a:lnTo>
                <a:cubicBezTo>
                  <a:pt x="9750" y="87273"/>
                  <a:pt x="0" y="77523"/>
                  <a:pt x="0" y="65455"/>
                </a:cubicBezTo>
                <a:close/>
                <a:moveTo>
                  <a:pt x="43636" y="174545"/>
                </a:moveTo>
                <a:cubicBezTo>
                  <a:pt x="43636" y="162477"/>
                  <a:pt x="53386" y="152727"/>
                  <a:pt x="65455" y="152727"/>
                </a:cubicBezTo>
                <a:lnTo>
                  <a:pt x="327273" y="152727"/>
                </a:lnTo>
                <a:cubicBezTo>
                  <a:pt x="339341" y="152727"/>
                  <a:pt x="349091" y="162477"/>
                  <a:pt x="349091" y="174545"/>
                </a:cubicBezTo>
                <a:cubicBezTo>
                  <a:pt x="349091" y="186614"/>
                  <a:pt x="339341" y="196364"/>
                  <a:pt x="327273" y="196364"/>
                </a:cubicBezTo>
                <a:lnTo>
                  <a:pt x="65455" y="196364"/>
                </a:lnTo>
                <a:cubicBezTo>
                  <a:pt x="53386" y="196364"/>
                  <a:pt x="43636" y="186614"/>
                  <a:pt x="43636" y="174545"/>
                </a:cubicBezTo>
                <a:close/>
                <a:moveTo>
                  <a:pt x="305455" y="283636"/>
                </a:moveTo>
                <a:cubicBezTo>
                  <a:pt x="305455" y="295705"/>
                  <a:pt x="295705" y="305455"/>
                  <a:pt x="283636" y="305455"/>
                </a:cubicBezTo>
                <a:lnTo>
                  <a:pt x="21818" y="305455"/>
                </a:lnTo>
                <a:cubicBezTo>
                  <a:pt x="9750" y="305455"/>
                  <a:pt x="0" y="295705"/>
                  <a:pt x="0" y="283636"/>
                </a:cubicBezTo>
                <a:cubicBezTo>
                  <a:pt x="0" y="271568"/>
                  <a:pt x="9750" y="261818"/>
                  <a:pt x="21818" y="261818"/>
                </a:cubicBezTo>
                <a:lnTo>
                  <a:pt x="283636" y="261818"/>
                </a:lnTo>
                <a:cubicBezTo>
                  <a:pt x="295705" y="261818"/>
                  <a:pt x="305455" y="271568"/>
                  <a:pt x="305455" y="283636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617545" y="1873455"/>
            <a:ext cx="779636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041545" y="2350545"/>
            <a:ext cx="4608000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历史依赖: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历史上依赖ZK做控制器选举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041545" y="2746182"/>
            <a:ext cx="4608000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元数据管理: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Broker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信息、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配置、分区状态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041545" y="3141818"/>
            <a:ext cx="4608000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新版变化: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逐步移除ZK依赖,转向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KRaft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模式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1273" y="4474182"/>
            <a:ext cx="15313455" cy="2106182"/>
          </a:xfrm>
          <a:custGeom>
            <a:avLst/>
            <a:gdLst/>
            <a:ahLst/>
            <a:cxnLst/>
            <a:rect l="l" t="t" r="r" b="b"/>
            <a:pathLst>
              <a:path w="15313455" h="2106182">
                <a:moveTo>
                  <a:pt x="93093" y="0"/>
                </a:moveTo>
                <a:lnTo>
                  <a:pt x="15220361" y="0"/>
                </a:lnTo>
                <a:cubicBezTo>
                  <a:pt x="15271775" y="0"/>
                  <a:pt x="15313455" y="41679"/>
                  <a:pt x="15313455" y="93093"/>
                </a:cubicBezTo>
                <a:lnTo>
                  <a:pt x="15313455" y="2013089"/>
                </a:lnTo>
                <a:cubicBezTo>
                  <a:pt x="15313455" y="2064503"/>
                  <a:pt x="15271775" y="2106182"/>
                  <a:pt x="15220361" y="2106182"/>
                </a:cubicBezTo>
                <a:lnTo>
                  <a:pt x="93093" y="2106182"/>
                </a:lnTo>
                <a:cubicBezTo>
                  <a:pt x="41679" y="2106182"/>
                  <a:pt x="0" y="2064503"/>
                  <a:pt x="0" y="2013089"/>
                </a:cubicBezTo>
                <a:lnTo>
                  <a:pt x="0" y="93093"/>
                </a:lnTo>
                <a:cubicBezTo>
                  <a:pt x="0" y="41714"/>
                  <a:pt x="41714" y="0"/>
                  <a:pt x="9309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9636" y="4759273"/>
            <a:ext cx="209455" cy="279273"/>
          </a:xfrm>
          <a:custGeom>
            <a:avLst/>
            <a:gdLst/>
            <a:ahLst/>
            <a:cxnLst/>
            <a:rect l="l" t="t" r="r" b="b"/>
            <a:pathLst>
              <a:path w="209455" h="279273">
                <a:moveTo>
                  <a:pt x="169855" y="17455"/>
                </a:moveTo>
                <a:lnTo>
                  <a:pt x="174545" y="17455"/>
                </a:lnTo>
                <a:cubicBezTo>
                  <a:pt x="193800" y="17455"/>
                  <a:pt x="209455" y="33109"/>
                  <a:pt x="209455" y="52364"/>
                </a:cubicBezTo>
                <a:lnTo>
                  <a:pt x="209455" y="244364"/>
                </a:lnTo>
                <a:cubicBezTo>
                  <a:pt x="209455" y="263618"/>
                  <a:pt x="193800" y="279273"/>
                  <a:pt x="174545" y="279273"/>
                </a:cubicBezTo>
                <a:lnTo>
                  <a:pt x="34909" y="279273"/>
                </a:lnTo>
                <a:cubicBezTo>
                  <a:pt x="15655" y="279273"/>
                  <a:pt x="0" y="263618"/>
                  <a:pt x="0" y="244364"/>
                </a:cubicBezTo>
                <a:lnTo>
                  <a:pt x="0" y="52364"/>
                </a:lnTo>
                <a:cubicBezTo>
                  <a:pt x="0" y="33109"/>
                  <a:pt x="15655" y="17455"/>
                  <a:pt x="34909" y="17455"/>
                </a:cubicBezTo>
                <a:lnTo>
                  <a:pt x="39600" y="17455"/>
                </a:lnTo>
                <a:cubicBezTo>
                  <a:pt x="45600" y="7036"/>
                  <a:pt x="56891" y="0"/>
                  <a:pt x="69818" y="0"/>
                </a:cubicBezTo>
                <a:lnTo>
                  <a:pt x="139636" y="0"/>
                </a:lnTo>
                <a:cubicBezTo>
                  <a:pt x="152564" y="0"/>
                  <a:pt x="163855" y="7036"/>
                  <a:pt x="169855" y="17455"/>
                </a:cubicBezTo>
                <a:close/>
                <a:moveTo>
                  <a:pt x="135273" y="61091"/>
                </a:moveTo>
                <a:cubicBezTo>
                  <a:pt x="142527" y="61091"/>
                  <a:pt x="148364" y="55255"/>
                  <a:pt x="148364" y="48000"/>
                </a:cubicBezTo>
                <a:cubicBezTo>
                  <a:pt x="148364" y="40745"/>
                  <a:pt x="142527" y="34909"/>
                  <a:pt x="135273" y="34909"/>
                </a:cubicBezTo>
                <a:lnTo>
                  <a:pt x="74182" y="34909"/>
                </a:lnTo>
                <a:cubicBezTo>
                  <a:pt x="66927" y="34909"/>
                  <a:pt x="61091" y="40745"/>
                  <a:pt x="61091" y="48000"/>
                </a:cubicBezTo>
                <a:cubicBezTo>
                  <a:pt x="61091" y="55255"/>
                  <a:pt x="66927" y="61091"/>
                  <a:pt x="74182" y="61091"/>
                </a:cubicBezTo>
                <a:lnTo>
                  <a:pt x="135273" y="61091"/>
                </a:lnTo>
                <a:close/>
                <a:moveTo>
                  <a:pt x="69818" y="139636"/>
                </a:moveTo>
                <a:cubicBezTo>
                  <a:pt x="69818" y="130003"/>
                  <a:pt x="61997" y="122182"/>
                  <a:pt x="52364" y="122182"/>
                </a:cubicBezTo>
                <a:cubicBezTo>
                  <a:pt x="42730" y="122182"/>
                  <a:pt x="34909" y="130003"/>
                  <a:pt x="34909" y="139636"/>
                </a:cubicBezTo>
                <a:cubicBezTo>
                  <a:pt x="34909" y="149270"/>
                  <a:pt x="42730" y="157091"/>
                  <a:pt x="52364" y="157091"/>
                </a:cubicBezTo>
                <a:cubicBezTo>
                  <a:pt x="61997" y="157091"/>
                  <a:pt x="69818" y="149270"/>
                  <a:pt x="69818" y="139636"/>
                </a:cubicBezTo>
                <a:close/>
                <a:moveTo>
                  <a:pt x="87273" y="139636"/>
                </a:moveTo>
                <a:cubicBezTo>
                  <a:pt x="87273" y="146891"/>
                  <a:pt x="93109" y="152727"/>
                  <a:pt x="100364" y="152727"/>
                </a:cubicBezTo>
                <a:lnTo>
                  <a:pt x="161455" y="152727"/>
                </a:lnTo>
                <a:cubicBezTo>
                  <a:pt x="168709" y="152727"/>
                  <a:pt x="174545" y="146891"/>
                  <a:pt x="174545" y="139636"/>
                </a:cubicBezTo>
                <a:cubicBezTo>
                  <a:pt x="174545" y="132382"/>
                  <a:pt x="168709" y="126545"/>
                  <a:pt x="161455" y="126545"/>
                </a:cubicBezTo>
                <a:lnTo>
                  <a:pt x="100364" y="126545"/>
                </a:lnTo>
                <a:cubicBezTo>
                  <a:pt x="93109" y="126545"/>
                  <a:pt x="87273" y="132382"/>
                  <a:pt x="87273" y="139636"/>
                </a:cubicBezTo>
                <a:close/>
                <a:moveTo>
                  <a:pt x="87273" y="209455"/>
                </a:moveTo>
                <a:cubicBezTo>
                  <a:pt x="87273" y="216709"/>
                  <a:pt x="93109" y="222545"/>
                  <a:pt x="100364" y="222545"/>
                </a:cubicBezTo>
                <a:lnTo>
                  <a:pt x="161455" y="222545"/>
                </a:lnTo>
                <a:cubicBezTo>
                  <a:pt x="168709" y="222545"/>
                  <a:pt x="174545" y="216709"/>
                  <a:pt x="174545" y="209455"/>
                </a:cubicBezTo>
                <a:cubicBezTo>
                  <a:pt x="174545" y="202200"/>
                  <a:pt x="168709" y="196364"/>
                  <a:pt x="161455" y="196364"/>
                </a:cubicBezTo>
                <a:lnTo>
                  <a:pt x="100364" y="196364"/>
                </a:lnTo>
                <a:cubicBezTo>
                  <a:pt x="93109" y="196364"/>
                  <a:pt x="87273" y="202200"/>
                  <a:pt x="87273" y="209455"/>
                </a:cubicBezTo>
                <a:close/>
                <a:moveTo>
                  <a:pt x="52364" y="226909"/>
                </a:moveTo>
                <a:cubicBezTo>
                  <a:pt x="61997" y="226909"/>
                  <a:pt x="69818" y="219088"/>
                  <a:pt x="69818" y="209455"/>
                </a:cubicBezTo>
                <a:cubicBezTo>
                  <a:pt x="69818" y="199821"/>
                  <a:pt x="61997" y="192000"/>
                  <a:pt x="52364" y="192000"/>
                </a:cubicBezTo>
                <a:cubicBezTo>
                  <a:pt x="42730" y="192000"/>
                  <a:pt x="34909" y="199821"/>
                  <a:pt x="34909" y="209455"/>
                </a:cubicBezTo>
                <a:cubicBezTo>
                  <a:pt x="34909" y="219088"/>
                  <a:pt x="42730" y="226909"/>
                  <a:pt x="52364" y="226909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58909" y="4712727"/>
            <a:ext cx="14626909" cy="372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9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答题框架:定位 → 核心抽象 → 典型能力 → 生态依赖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09818" y="5224727"/>
            <a:ext cx="3607273" cy="1117091"/>
          </a:xfrm>
          <a:custGeom>
            <a:avLst/>
            <a:gdLst/>
            <a:ahLst/>
            <a:cxnLst/>
            <a:rect l="l" t="t" r="r" b="b"/>
            <a:pathLst>
              <a:path w="3607273" h="1117091">
                <a:moveTo>
                  <a:pt x="93087" y="0"/>
                </a:moveTo>
                <a:lnTo>
                  <a:pt x="3514186" y="0"/>
                </a:lnTo>
                <a:cubicBezTo>
                  <a:pt x="3565596" y="0"/>
                  <a:pt x="3607273" y="41677"/>
                  <a:pt x="3607273" y="93087"/>
                </a:cubicBezTo>
                <a:lnTo>
                  <a:pt x="3607273" y="1024004"/>
                </a:lnTo>
                <a:cubicBezTo>
                  <a:pt x="3607273" y="1075414"/>
                  <a:pt x="3565596" y="1117091"/>
                  <a:pt x="3514186" y="1117091"/>
                </a:cubicBezTo>
                <a:lnTo>
                  <a:pt x="93087" y="1117091"/>
                </a:lnTo>
                <a:cubicBezTo>
                  <a:pt x="41677" y="1117091"/>
                  <a:pt x="0" y="1075414"/>
                  <a:pt x="0" y="1024004"/>
                </a:cubicBezTo>
                <a:lnTo>
                  <a:pt x="0" y="93087"/>
                </a:lnTo>
                <a:cubicBezTo>
                  <a:pt x="0" y="41711"/>
                  <a:pt x="41711" y="0"/>
                  <a:pt x="9308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9455" y="5364364"/>
            <a:ext cx="3432727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定位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9455" y="5736727"/>
            <a:ext cx="340945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分布式协调服务(不是存储/计算引擎)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54727" y="5224727"/>
            <a:ext cx="3607273" cy="1117091"/>
          </a:xfrm>
          <a:custGeom>
            <a:avLst/>
            <a:gdLst/>
            <a:ahLst/>
            <a:cxnLst/>
            <a:rect l="l" t="t" r="r" b="b"/>
            <a:pathLst>
              <a:path w="3607273" h="1117091">
                <a:moveTo>
                  <a:pt x="93087" y="0"/>
                </a:moveTo>
                <a:lnTo>
                  <a:pt x="3514186" y="0"/>
                </a:lnTo>
                <a:cubicBezTo>
                  <a:pt x="3565596" y="0"/>
                  <a:pt x="3607273" y="41677"/>
                  <a:pt x="3607273" y="93087"/>
                </a:cubicBezTo>
                <a:lnTo>
                  <a:pt x="3607273" y="1024004"/>
                </a:lnTo>
                <a:cubicBezTo>
                  <a:pt x="3607273" y="1075414"/>
                  <a:pt x="3565596" y="1117091"/>
                  <a:pt x="3514186" y="1117091"/>
                </a:cubicBezTo>
                <a:lnTo>
                  <a:pt x="93087" y="1117091"/>
                </a:lnTo>
                <a:cubicBezTo>
                  <a:pt x="41677" y="1117091"/>
                  <a:pt x="0" y="1075414"/>
                  <a:pt x="0" y="1024004"/>
                </a:cubicBezTo>
                <a:lnTo>
                  <a:pt x="0" y="93087"/>
                </a:lnTo>
                <a:cubicBezTo>
                  <a:pt x="0" y="41711"/>
                  <a:pt x="41711" y="0"/>
                  <a:pt x="9308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94364" y="5364364"/>
            <a:ext cx="3432727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核心抽象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94364" y="5736727"/>
            <a:ext cx="340945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Session + ZNode + Watch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99727" y="5224727"/>
            <a:ext cx="3607273" cy="1117091"/>
          </a:xfrm>
          <a:custGeom>
            <a:avLst/>
            <a:gdLst/>
            <a:ahLst/>
            <a:cxnLst/>
            <a:rect l="l" t="t" r="r" b="b"/>
            <a:pathLst>
              <a:path w="3607273" h="1117091">
                <a:moveTo>
                  <a:pt x="93087" y="0"/>
                </a:moveTo>
                <a:lnTo>
                  <a:pt x="3514186" y="0"/>
                </a:lnTo>
                <a:cubicBezTo>
                  <a:pt x="3565596" y="0"/>
                  <a:pt x="3607273" y="41677"/>
                  <a:pt x="3607273" y="93087"/>
                </a:cubicBezTo>
                <a:lnTo>
                  <a:pt x="3607273" y="1024004"/>
                </a:lnTo>
                <a:cubicBezTo>
                  <a:pt x="3607273" y="1075414"/>
                  <a:pt x="3565596" y="1117091"/>
                  <a:pt x="3514186" y="1117091"/>
                </a:cubicBezTo>
                <a:lnTo>
                  <a:pt x="93087" y="1117091"/>
                </a:lnTo>
                <a:cubicBezTo>
                  <a:pt x="41677" y="1117091"/>
                  <a:pt x="0" y="1075414"/>
                  <a:pt x="0" y="1024004"/>
                </a:cubicBezTo>
                <a:lnTo>
                  <a:pt x="0" y="93087"/>
                </a:lnTo>
                <a:cubicBezTo>
                  <a:pt x="0" y="41711"/>
                  <a:pt x="41711" y="0"/>
                  <a:pt x="9308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39364" y="5364364"/>
            <a:ext cx="3432727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典型能力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39364" y="5736727"/>
            <a:ext cx="3409455" cy="46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选主、配置管理、命名服务、分布式锁、成员管理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1944636" y="5224727"/>
            <a:ext cx="3607273" cy="1117091"/>
          </a:xfrm>
          <a:custGeom>
            <a:avLst/>
            <a:gdLst/>
            <a:ahLst/>
            <a:cxnLst/>
            <a:rect l="l" t="t" r="r" b="b"/>
            <a:pathLst>
              <a:path w="3607273" h="1117091">
                <a:moveTo>
                  <a:pt x="93087" y="0"/>
                </a:moveTo>
                <a:lnTo>
                  <a:pt x="3514186" y="0"/>
                </a:lnTo>
                <a:cubicBezTo>
                  <a:pt x="3565596" y="0"/>
                  <a:pt x="3607273" y="41677"/>
                  <a:pt x="3607273" y="93087"/>
                </a:cubicBezTo>
                <a:lnTo>
                  <a:pt x="3607273" y="1024004"/>
                </a:lnTo>
                <a:cubicBezTo>
                  <a:pt x="3607273" y="1075414"/>
                  <a:pt x="3565596" y="1117091"/>
                  <a:pt x="3514186" y="1117091"/>
                </a:cubicBezTo>
                <a:lnTo>
                  <a:pt x="93087" y="1117091"/>
                </a:lnTo>
                <a:cubicBezTo>
                  <a:pt x="41677" y="1117091"/>
                  <a:pt x="0" y="1075414"/>
                  <a:pt x="0" y="1024004"/>
                </a:cubicBezTo>
                <a:lnTo>
                  <a:pt x="0" y="93087"/>
                </a:lnTo>
                <a:cubicBezTo>
                  <a:pt x="0" y="41711"/>
                  <a:pt x="41711" y="0"/>
                  <a:pt x="9308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084273" y="5364364"/>
            <a:ext cx="3432727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生态依赖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084273" y="5736727"/>
            <a:ext cx="3409455" cy="23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HA、HBase、Kafka</a:t>
            </a: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历史依赖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88727" y="6772364"/>
            <a:ext cx="7552000" cy="1908364"/>
          </a:xfrm>
          <a:custGeom>
            <a:avLst/>
            <a:gdLst/>
            <a:ahLst/>
            <a:cxnLst/>
            <a:rect l="l" t="t" r="r" b="b"/>
            <a:pathLst>
              <a:path w="7552000" h="1908364">
                <a:moveTo>
                  <a:pt x="46545" y="0"/>
                </a:moveTo>
                <a:lnTo>
                  <a:pt x="7458910" y="0"/>
                </a:lnTo>
                <a:cubicBezTo>
                  <a:pt x="7510322" y="0"/>
                  <a:pt x="7552000" y="41678"/>
                  <a:pt x="7552000" y="93090"/>
                </a:cubicBezTo>
                <a:lnTo>
                  <a:pt x="7552000" y="1815274"/>
                </a:lnTo>
                <a:cubicBezTo>
                  <a:pt x="7552000" y="1866686"/>
                  <a:pt x="7510322" y="1908364"/>
                  <a:pt x="7458910" y="1908364"/>
                </a:cubicBezTo>
                <a:lnTo>
                  <a:pt x="46545" y="1908364"/>
                </a:lnTo>
                <a:cubicBezTo>
                  <a:pt x="20839" y="1908364"/>
                  <a:pt x="0" y="1887525"/>
                  <a:pt x="0" y="1861818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88727" y="6772364"/>
            <a:ext cx="46545" cy="1908364"/>
          </a:xfrm>
          <a:custGeom>
            <a:avLst/>
            <a:gdLst/>
            <a:ahLst/>
            <a:cxnLst/>
            <a:rect l="l" t="t" r="r" b="b"/>
            <a:pathLst>
              <a:path w="46545" h="1908364">
                <a:moveTo>
                  <a:pt x="46545" y="0"/>
                </a:moveTo>
                <a:lnTo>
                  <a:pt x="46545" y="0"/>
                </a:lnTo>
                <a:lnTo>
                  <a:pt x="46545" y="1908364"/>
                </a:lnTo>
                <a:lnTo>
                  <a:pt x="46545" y="1908364"/>
                </a:lnTo>
                <a:cubicBezTo>
                  <a:pt x="20839" y="1908364"/>
                  <a:pt x="0" y="1887525"/>
                  <a:pt x="0" y="1861818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27273" y="7005091"/>
            <a:ext cx="232727" cy="232727"/>
          </a:xfrm>
          <a:custGeom>
            <a:avLst/>
            <a:gdLst/>
            <a:ahLst/>
            <a:cxnLst/>
            <a:rect l="l" t="t" r="r" b="b"/>
            <a:pathLst>
              <a:path w="232727" h="232727">
                <a:moveTo>
                  <a:pt x="116364" y="0"/>
                </a:moveTo>
                <a:cubicBezTo>
                  <a:pt x="123045" y="0"/>
                  <a:pt x="129182" y="3682"/>
                  <a:pt x="132364" y="9545"/>
                </a:cubicBezTo>
                <a:lnTo>
                  <a:pt x="230545" y="191364"/>
                </a:lnTo>
                <a:cubicBezTo>
                  <a:pt x="233591" y="197000"/>
                  <a:pt x="233455" y="203818"/>
                  <a:pt x="230182" y="209318"/>
                </a:cubicBezTo>
                <a:cubicBezTo>
                  <a:pt x="226909" y="214818"/>
                  <a:pt x="220955" y="218182"/>
                  <a:pt x="214545" y="218182"/>
                </a:cubicBezTo>
                <a:lnTo>
                  <a:pt x="18182" y="218182"/>
                </a:lnTo>
                <a:cubicBezTo>
                  <a:pt x="11773" y="218182"/>
                  <a:pt x="5864" y="214818"/>
                  <a:pt x="2545" y="209318"/>
                </a:cubicBezTo>
                <a:cubicBezTo>
                  <a:pt x="-773" y="203818"/>
                  <a:pt x="-864" y="197000"/>
                  <a:pt x="2182" y="191364"/>
                </a:cubicBezTo>
                <a:lnTo>
                  <a:pt x="100364" y="9545"/>
                </a:lnTo>
                <a:cubicBezTo>
                  <a:pt x="103545" y="3682"/>
                  <a:pt x="109682" y="0"/>
                  <a:pt x="116364" y="0"/>
                </a:cubicBezTo>
                <a:close/>
                <a:moveTo>
                  <a:pt x="116364" y="76364"/>
                </a:moveTo>
                <a:cubicBezTo>
                  <a:pt x="110318" y="76364"/>
                  <a:pt x="105455" y="81227"/>
                  <a:pt x="105455" y="87273"/>
                </a:cubicBezTo>
                <a:lnTo>
                  <a:pt x="105455" y="138182"/>
                </a:lnTo>
                <a:cubicBezTo>
                  <a:pt x="105455" y="144227"/>
                  <a:pt x="110318" y="149091"/>
                  <a:pt x="116364" y="149091"/>
                </a:cubicBezTo>
                <a:cubicBezTo>
                  <a:pt x="122409" y="149091"/>
                  <a:pt x="127273" y="144227"/>
                  <a:pt x="127273" y="138182"/>
                </a:cubicBezTo>
                <a:lnTo>
                  <a:pt x="127273" y="87273"/>
                </a:lnTo>
                <a:cubicBezTo>
                  <a:pt x="127273" y="81227"/>
                  <a:pt x="122409" y="76364"/>
                  <a:pt x="116364" y="76364"/>
                </a:cubicBezTo>
                <a:close/>
                <a:moveTo>
                  <a:pt x="128500" y="174545"/>
                </a:moveTo>
                <a:cubicBezTo>
                  <a:pt x="128776" y="170041"/>
                  <a:pt x="126530" y="165755"/>
                  <a:pt x="122668" y="163419"/>
                </a:cubicBezTo>
                <a:cubicBezTo>
                  <a:pt x="118806" y="161083"/>
                  <a:pt x="113967" y="161083"/>
                  <a:pt x="110105" y="163419"/>
                </a:cubicBezTo>
                <a:cubicBezTo>
                  <a:pt x="106243" y="165755"/>
                  <a:pt x="103997" y="170041"/>
                  <a:pt x="104273" y="174545"/>
                </a:cubicBezTo>
                <a:cubicBezTo>
                  <a:pt x="103997" y="179050"/>
                  <a:pt x="106243" y="183336"/>
                  <a:pt x="110105" y="185672"/>
                </a:cubicBezTo>
                <a:cubicBezTo>
                  <a:pt x="113967" y="188008"/>
                  <a:pt x="118806" y="188008"/>
                  <a:pt x="122668" y="185672"/>
                </a:cubicBezTo>
                <a:cubicBezTo>
                  <a:pt x="126530" y="183336"/>
                  <a:pt x="128776" y="179050"/>
                  <a:pt x="128500" y="174545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89091" y="6958545"/>
            <a:ext cx="6981818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易错点与排除逻辑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98182" y="7424000"/>
            <a:ext cx="7156364" cy="488727"/>
          </a:xfrm>
          <a:custGeom>
            <a:avLst/>
            <a:gdLst/>
            <a:ahLst/>
            <a:cxnLst/>
            <a:rect l="l" t="t" r="r" b="b"/>
            <a:pathLst>
              <a:path w="7156364" h="488727">
                <a:moveTo>
                  <a:pt x="46546" y="0"/>
                </a:moveTo>
                <a:lnTo>
                  <a:pt x="7109817" y="0"/>
                </a:lnTo>
                <a:cubicBezTo>
                  <a:pt x="7135524" y="0"/>
                  <a:pt x="7156364" y="20840"/>
                  <a:pt x="7156364" y="46546"/>
                </a:cubicBezTo>
                <a:lnTo>
                  <a:pt x="7156364" y="442181"/>
                </a:lnTo>
                <a:cubicBezTo>
                  <a:pt x="7156364" y="467888"/>
                  <a:pt x="7135524" y="488727"/>
                  <a:pt x="7109817" y="488727"/>
                </a:cubicBezTo>
                <a:lnTo>
                  <a:pt x="46546" y="488727"/>
                </a:lnTo>
                <a:cubicBezTo>
                  <a:pt x="20840" y="488727"/>
                  <a:pt x="0" y="467888"/>
                  <a:pt x="0" y="442181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91273" y="7517091"/>
            <a:ext cx="7063273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关键词匹配: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看到"分布式协调"优先匹配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98182" y="8005818"/>
            <a:ext cx="7156364" cy="488727"/>
          </a:xfrm>
          <a:custGeom>
            <a:avLst/>
            <a:gdLst/>
            <a:ahLst/>
            <a:cxnLst/>
            <a:rect l="l" t="t" r="r" b="b"/>
            <a:pathLst>
              <a:path w="7156364" h="488727">
                <a:moveTo>
                  <a:pt x="46546" y="0"/>
                </a:moveTo>
                <a:lnTo>
                  <a:pt x="7109817" y="0"/>
                </a:lnTo>
                <a:cubicBezTo>
                  <a:pt x="7135524" y="0"/>
                  <a:pt x="7156364" y="20840"/>
                  <a:pt x="7156364" y="46546"/>
                </a:cubicBezTo>
                <a:lnTo>
                  <a:pt x="7156364" y="442181"/>
                </a:lnTo>
                <a:cubicBezTo>
                  <a:pt x="7156364" y="467888"/>
                  <a:pt x="7135524" y="488727"/>
                  <a:pt x="7109817" y="488727"/>
                </a:cubicBezTo>
                <a:lnTo>
                  <a:pt x="46546" y="488727"/>
                </a:lnTo>
                <a:cubicBezTo>
                  <a:pt x="20840" y="488727"/>
                  <a:pt x="0" y="467888"/>
                  <a:pt x="0" y="442181"/>
                </a:cubicBezTo>
                <a:lnTo>
                  <a:pt x="0" y="46546"/>
                </a:lnTo>
                <a:cubicBezTo>
                  <a:pt x="0" y="20840"/>
                  <a:pt x="20840" y="0"/>
                  <a:pt x="4654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91273" y="8098909"/>
            <a:ext cx="7063273" cy="30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干扰项排除: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Flume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是日志采集组件,不是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</a:t>
            </a:r>
            <a:r>
              <a:rPr lang="en-US" sz="146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的强依赖项,常作为干扰项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246273" y="6772364"/>
            <a:ext cx="7552000" cy="1908364"/>
          </a:xfrm>
          <a:custGeom>
            <a:avLst/>
            <a:gdLst/>
            <a:ahLst/>
            <a:cxnLst/>
            <a:rect l="l" t="t" r="r" b="b"/>
            <a:pathLst>
              <a:path w="7552000" h="1908364">
                <a:moveTo>
                  <a:pt x="46545" y="0"/>
                </a:moveTo>
                <a:lnTo>
                  <a:pt x="7458910" y="0"/>
                </a:lnTo>
                <a:cubicBezTo>
                  <a:pt x="7510322" y="0"/>
                  <a:pt x="7552000" y="41678"/>
                  <a:pt x="7552000" y="93090"/>
                </a:cubicBezTo>
                <a:lnTo>
                  <a:pt x="7552000" y="1815274"/>
                </a:lnTo>
                <a:cubicBezTo>
                  <a:pt x="7552000" y="1866686"/>
                  <a:pt x="7510322" y="1908364"/>
                  <a:pt x="7458910" y="1908364"/>
                </a:cubicBezTo>
                <a:lnTo>
                  <a:pt x="46545" y="1908364"/>
                </a:lnTo>
                <a:cubicBezTo>
                  <a:pt x="20839" y="1908364"/>
                  <a:pt x="0" y="1887525"/>
                  <a:pt x="0" y="1861818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46273" y="6772364"/>
            <a:ext cx="46545" cy="1908364"/>
          </a:xfrm>
          <a:custGeom>
            <a:avLst/>
            <a:gdLst/>
            <a:ahLst/>
            <a:cxnLst/>
            <a:rect l="l" t="t" r="r" b="b"/>
            <a:pathLst>
              <a:path w="46545" h="1908364">
                <a:moveTo>
                  <a:pt x="46545" y="0"/>
                </a:moveTo>
                <a:lnTo>
                  <a:pt x="46545" y="0"/>
                </a:lnTo>
                <a:lnTo>
                  <a:pt x="46545" y="1908364"/>
                </a:lnTo>
                <a:lnTo>
                  <a:pt x="46545" y="1908364"/>
                </a:lnTo>
                <a:cubicBezTo>
                  <a:pt x="20839" y="1908364"/>
                  <a:pt x="0" y="1887525"/>
                  <a:pt x="0" y="1861818"/>
                </a:cubicBezTo>
                <a:lnTo>
                  <a:pt x="0" y="46545"/>
                </a:lnTo>
                <a:cubicBezTo>
                  <a:pt x="0" y="20839"/>
                  <a:pt x="20839" y="0"/>
                  <a:pt x="46545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484818" y="7005091"/>
            <a:ext cx="232727" cy="232727"/>
          </a:xfrm>
          <a:custGeom>
            <a:avLst/>
            <a:gdLst/>
            <a:ahLst/>
            <a:cxnLst/>
            <a:rect l="l" t="t" r="r" b="b"/>
            <a:pathLst>
              <a:path w="232727" h="232727">
                <a:moveTo>
                  <a:pt x="116364" y="232727"/>
                </a:moveTo>
                <a:cubicBezTo>
                  <a:pt x="180586" y="232727"/>
                  <a:pt x="232727" y="180586"/>
                  <a:pt x="232727" y="116364"/>
                </a:cubicBezTo>
                <a:cubicBezTo>
                  <a:pt x="232727" y="52141"/>
                  <a:pt x="180586" y="0"/>
                  <a:pt x="116364" y="0"/>
                </a:cubicBezTo>
                <a:cubicBezTo>
                  <a:pt x="52141" y="0"/>
                  <a:pt x="0" y="52141"/>
                  <a:pt x="0" y="116364"/>
                </a:cubicBezTo>
                <a:cubicBezTo>
                  <a:pt x="0" y="180586"/>
                  <a:pt x="52141" y="232727"/>
                  <a:pt x="116364" y="232727"/>
                </a:cubicBezTo>
                <a:close/>
                <a:moveTo>
                  <a:pt x="116364" y="80000"/>
                </a:moveTo>
                <a:cubicBezTo>
                  <a:pt x="108318" y="80000"/>
                  <a:pt x="101818" y="86500"/>
                  <a:pt x="101818" y="94545"/>
                </a:cubicBezTo>
                <a:cubicBezTo>
                  <a:pt x="101818" y="100591"/>
                  <a:pt x="96955" y="105455"/>
                  <a:pt x="90909" y="105455"/>
                </a:cubicBezTo>
                <a:cubicBezTo>
                  <a:pt x="84864" y="105455"/>
                  <a:pt x="80000" y="100591"/>
                  <a:pt x="80000" y="94545"/>
                </a:cubicBezTo>
                <a:cubicBezTo>
                  <a:pt x="80000" y="74455"/>
                  <a:pt x="96273" y="58182"/>
                  <a:pt x="116364" y="58182"/>
                </a:cubicBezTo>
                <a:cubicBezTo>
                  <a:pt x="136455" y="58182"/>
                  <a:pt x="152727" y="74455"/>
                  <a:pt x="152727" y="94545"/>
                </a:cubicBezTo>
                <a:cubicBezTo>
                  <a:pt x="152727" y="116000"/>
                  <a:pt x="136364" y="125091"/>
                  <a:pt x="127273" y="128409"/>
                </a:cubicBezTo>
                <a:lnTo>
                  <a:pt x="127273" y="130136"/>
                </a:lnTo>
                <a:cubicBezTo>
                  <a:pt x="127273" y="136182"/>
                  <a:pt x="122409" y="141045"/>
                  <a:pt x="116364" y="141045"/>
                </a:cubicBezTo>
                <a:cubicBezTo>
                  <a:pt x="110318" y="141045"/>
                  <a:pt x="105455" y="136182"/>
                  <a:pt x="105455" y="130136"/>
                </a:cubicBezTo>
                <a:lnTo>
                  <a:pt x="105455" y="126455"/>
                </a:lnTo>
                <a:cubicBezTo>
                  <a:pt x="105455" y="117136"/>
                  <a:pt x="112182" y="110455"/>
                  <a:pt x="119136" y="108182"/>
                </a:cubicBezTo>
                <a:cubicBezTo>
                  <a:pt x="122045" y="107227"/>
                  <a:pt x="125136" y="105682"/>
                  <a:pt x="127409" y="103500"/>
                </a:cubicBezTo>
                <a:cubicBezTo>
                  <a:pt x="129364" y="101591"/>
                  <a:pt x="130909" y="98955"/>
                  <a:pt x="130909" y="94591"/>
                </a:cubicBezTo>
                <a:cubicBezTo>
                  <a:pt x="130909" y="86545"/>
                  <a:pt x="124409" y="80045"/>
                  <a:pt x="116364" y="80045"/>
                </a:cubicBezTo>
                <a:close/>
                <a:moveTo>
                  <a:pt x="101818" y="167273"/>
                </a:moveTo>
                <a:cubicBezTo>
                  <a:pt x="101818" y="159245"/>
                  <a:pt x="108336" y="152727"/>
                  <a:pt x="116364" y="152727"/>
                </a:cubicBezTo>
                <a:cubicBezTo>
                  <a:pt x="124391" y="152727"/>
                  <a:pt x="130909" y="159245"/>
                  <a:pt x="130909" y="167273"/>
                </a:cubicBezTo>
                <a:cubicBezTo>
                  <a:pt x="130909" y="175301"/>
                  <a:pt x="124391" y="181818"/>
                  <a:pt x="116364" y="181818"/>
                </a:cubicBezTo>
                <a:cubicBezTo>
                  <a:pt x="108336" y="181818"/>
                  <a:pt x="101818" y="175301"/>
                  <a:pt x="101818" y="167273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746636" y="6958545"/>
            <a:ext cx="6981818" cy="32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33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思考题示例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455727" y="7424000"/>
            <a:ext cx="7156364" cy="453818"/>
          </a:xfrm>
          <a:custGeom>
            <a:avLst/>
            <a:gdLst/>
            <a:ahLst/>
            <a:cxnLst/>
            <a:rect l="l" t="t" r="r" b="b"/>
            <a:pathLst>
              <a:path w="7156364" h="453818">
                <a:moveTo>
                  <a:pt x="46544" y="0"/>
                </a:moveTo>
                <a:lnTo>
                  <a:pt x="7109820" y="0"/>
                </a:lnTo>
                <a:cubicBezTo>
                  <a:pt x="7135525" y="0"/>
                  <a:pt x="7156364" y="20838"/>
                  <a:pt x="7156364" y="46544"/>
                </a:cubicBezTo>
                <a:lnTo>
                  <a:pt x="7156364" y="407275"/>
                </a:lnTo>
                <a:cubicBezTo>
                  <a:pt x="7156364" y="432980"/>
                  <a:pt x="7135525" y="453818"/>
                  <a:pt x="7109820" y="453818"/>
                </a:cubicBezTo>
                <a:lnTo>
                  <a:pt x="46544" y="453818"/>
                </a:lnTo>
                <a:cubicBezTo>
                  <a:pt x="20838" y="453818"/>
                  <a:pt x="0" y="432980"/>
                  <a:pt x="0" y="407275"/>
                </a:cubicBezTo>
                <a:lnTo>
                  <a:pt x="0" y="46544"/>
                </a:lnTo>
                <a:cubicBezTo>
                  <a:pt x="0" y="20855"/>
                  <a:pt x="20855" y="0"/>
                  <a:pt x="4654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548818" y="7517091"/>
            <a:ext cx="7051636" cy="26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Q1:</a:t>
            </a: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如果把ZK当作业务主数据存储,会遇到哪些性能与可用性风险?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455727" y="7968000"/>
            <a:ext cx="7156364" cy="453818"/>
          </a:xfrm>
          <a:custGeom>
            <a:avLst/>
            <a:gdLst/>
            <a:ahLst/>
            <a:cxnLst/>
            <a:rect l="l" t="t" r="r" b="b"/>
            <a:pathLst>
              <a:path w="7156364" h="453818">
                <a:moveTo>
                  <a:pt x="46544" y="0"/>
                </a:moveTo>
                <a:lnTo>
                  <a:pt x="7109820" y="0"/>
                </a:lnTo>
                <a:cubicBezTo>
                  <a:pt x="7135525" y="0"/>
                  <a:pt x="7156364" y="20838"/>
                  <a:pt x="7156364" y="46544"/>
                </a:cubicBezTo>
                <a:lnTo>
                  <a:pt x="7156364" y="407275"/>
                </a:lnTo>
                <a:cubicBezTo>
                  <a:pt x="7156364" y="432980"/>
                  <a:pt x="7135525" y="453818"/>
                  <a:pt x="7109820" y="453818"/>
                </a:cubicBezTo>
                <a:lnTo>
                  <a:pt x="46544" y="453818"/>
                </a:lnTo>
                <a:cubicBezTo>
                  <a:pt x="20838" y="453818"/>
                  <a:pt x="0" y="432980"/>
                  <a:pt x="0" y="407275"/>
                </a:cubicBezTo>
                <a:lnTo>
                  <a:pt x="0" y="46544"/>
                </a:lnTo>
                <a:cubicBezTo>
                  <a:pt x="0" y="20855"/>
                  <a:pt x="20855" y="0"/>
                  <a:pt x="4654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548818" y="8061091"/>
            <a:ext cx="7051636" cy="26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Q2:</a:t>
            </a: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设计一个简单的分布式锁,会选用哪种</a:t>
            </a: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ZNode</a:t>
            </a:r>
            <a:r>
              <a:rPr lang="en-US" sz="128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组合?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54300" cy="609600"/>
          </a:xfrm>
          <a:custGeom>
            <a:avLst/>
            <a:gdLst/>
            <a:ahLst/>
            <a:cxnLst/>
            <a:rect l="l" t="t" r="r" b="b"/>
            <a:pathLst>
              <a:path w="2654300" h="609600">
                <a:moveTo>
                  <a:pt x="0" y="0"/>
                </a:moveTo>
                <a:lnTo>
                  <a:pt x="2654300" y="0"/>
                </a:lnTo>
                <a:lnTo>
                  <a:pt x="26543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68934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基础机制与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读写路径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架构组件、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机制、元数据管理与读写流程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54" y="452813"/>
            <a:ext cx="1471643" cy="362251"/>
          </a:xfrm>
          <a:custGeom>
            <a:avLst/>
            <a:gdLst/>
            <a:ahLst/>
            <a:cxnLst/>
            <a:rect l="l" t="t" r="r" b="b"/>
            <a:pathLst>
              <a:path w="1471643" h="362251">
                <a:moveTo>
                  <a:pt x="0" y="0"/>
                </a:moveTo>
                <a:lnTo>
                  <a:pt x="1471643" y="0"/>
                </a:lnTo>
                <a:lnTo>
                  <a:pt x="1471643" y="362251"/>
                </a:lnTo>
                <a:lnTo>
                  <a:pt x="0" y="36225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5454" y="452813"/>
            <a:ext cx="45281" cy="362251"/>
          </a:xfrm>
          <a:custGeom>
            <a:avLst/>
            <a:gdLst/>
            <a:ahLst/>
            <a:cxnLst/>
            <a:rect l="l" t="t" r="r" b="b"/>
            <a:pathLst>
              <a:path w="45281" h="362251">
                <a:moveTo>
                  <a:pt x="0" y="0"/>
                </a:moveTo>
                <a:lnTo>
                  <a:pt x="45281" y="0"/>
                </a:lnTo>
                <a:lnTo>
                  <a:pt x="45281" y="362251"/>
                </a:lnTo>
                <a:lnTo>
                  <a:pt x="0" y="362251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3939" y="515075"/>
            <a:ext cx="1269735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kern="0" spc="7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2813" y="905627"/>
            <a:ext cx="15554139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32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架构与</a:t>
            </a:r>
            <a:r>
              <a:rPr lang="en-US" sz="320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32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存储机制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2813" y="1562206"/>
            <a:ext cx="4992267" cy="2626318"/>
          </a:xfrm>
          <a:custGeom>
            <a:avLst/>
            <a:gdLst/>
            <a:ahLst/>
            <a:cxnLst/>
            <a:rect l="l" t="t" r="r" b="b"/>
            <a:pathLst>
              <a:path w="4992267" h="2626318">
                <a:moveTo>
                  <a:pt x="45281" y="0"/>
                </a:moveTo>
                <a:lnTo>
                  <a:pt x="4946986" y="0"/>
                </a:lnTo>
                <a:cubicBezTo>
                  <a:pt x="4971994" y="0"/>
                  <a:pt x="4992267" y="20273"/>
                  <a:pt x="4992267" y="45281"/>
                </a:cubicBezTo>
                <a:lnTo>
                  <a:pt x="4992267" y="2535762"/>
                </a:lnTo>
                <a:cubicBezTo>
                  <a:pt x="4992267" y="2585775"/>
                  <a:pt x="4951724" y="2626318"/>
                  <a:pt x="4901712" y="2626318"/>
                </a:cubicBezTo>
                <a:lnTo>
                  <a:pt x="90555" y="2626318"/>
                </a:lnTo>
                <a:cubicBezTo>
                  <a:pt x="40543" y="2626318"/>
                  <a:pt x="0" y="2585775"/>
                  <a:pt x="0" y="2535762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2813" y="1562206"/>
            <a:ext cx="4992267" cy="45281"/>
          </a:xfrm>
          <a:custGeom>
            <a:avLst/>
            <a:gdLst/>
            <a:ahLst/>
            <a:cxnLst/>
            <a:rect l="l" t="t" r="r" b="b"/>
            <a:pathLst>
              <a:path w="4992267" h="45281">
                <a:moveTo>
                  <a:pt x="45281" y="0"/>
                </a:moveTo>
                <a:lnTo>
                  <a:pt x="4946986" y="0"/>
                </a:lnTo>
                <a:cubicBezTo>
                  <a:pt x="4971994" y="0"/>
                  <a:pt x="4992267" y="20273"/>
                  <a:pt x="4992267" y="45281"/>
                </a:cubicBezTo>
                <a:lnTo>
                  <a:pt x="4992267" y="45281"/>
                </a:lnTo>
                <a:lnTo>
                  <a:pt x="0" y="45281"/>
                </a:ln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9220" y="1811253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2618" y="1811253"/>
            <a:ext cx="656579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3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NN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58440" y="1924457"/>
            <a:ext cx="1335799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9220" y="2490474"/>
            <a:ext cx="4630017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角色: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管理节点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9220" y="2875365"/>
            <a:ext cx="4630017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管理命名空间、元数据、权限,协调副本策略与集群状态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1861" y="3554585"/>
            <a:ext cx="4516813" cy="407532"/>
          </a:xfrm>
          <a:custGeom>
            <a:avLst/>
            <a:gdLst/>
            <a:ahLst/>
            <a:cxnLst/>
            <a:rect l="l" t="t" r="r" b="b"/>
            <a:pathLst>
              <a:path w="4516813" h="407532">
                <a:moveTo>
                  <a:pt x="45281" y="0"/>
                </a:moveTo>
                <a:lnTo>
                  <a:pt x="4471532" y="0"/>
                </a:lnTo>
                <a:cubicBezTo>
                  <a:pt x="4496524" y="0"/>
                  <a:pt x="4516813" y="20290"/>
                  <a:pt x="4516813" y="45281"/>
                </a:cubicBezTo>
                <a:lnTo>
                  <a:pt x="4516813" y="362251"/>
                </a:lnTo>
                <a:cubicBezTo>
                  <a:pt x="4516813" y="387242"/>
                  <a:pt x="4496524" y="407532"/>
                  <a:pt x="4471532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1861" y="3554585"/>
            <a:ext cx="45281" cy="407532"/>
          </a:xfrm>
          <a:custGeom>
            <a:avLst/>
            <a:gdLst/>
            <a:ahLst/>
            <a:cxnLst/>
            <a:rect l="l" t="t" r="r" b="b"/>
            <a:pathLst>
              <a:path w="45281" h="407532">
                <a:moveTo>
                  <a:pt x="45281" y="0"/>
                </a:moveTo>
                <a:lnTo>
                  <a:pt x="45281" y="0"/>
                </a:lnTo>
                <a:lnTo>
                  <a:pt x="45281" y="407532"/>
                </a:lnTo>
                <a:lnTo>
                  <a:pt x="45281" y="407532"/>
                </a:lnTo>
                <a:cubicBezTo>
                  <a:pt x="20273" y="407532"/>
                  <a:pt x="0" y="387259"/>
                  <a:pt x="0" y="362251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5064" y="3650808"/>
            <a:ext cx="434595" cy="209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关键: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16228" y="3628167"/>
            <a:ext cx="2467833" cy="254708"/>
          </a:xfrm>
          <a:custGeom>
            <a:avLst/>
            <a:gdLst/>
            <a:ahLst/>
            <a:cxnLst/>
            <a:rect l="l" t="t" r="r" b="b"/>
            <a:pathLst>
              <a:path w="2467833" h="254708">
                <a:moveTo>
                  <a:pt x="0" y="0"/>
                </a:moveTo>
                <a:lnTo>
                  <a:pt x="2467833" y="0"/>
                </a:lnTo>
                <a:lnTo>
                  <a:pt x="2467833" y="254708"/>
                </a:lnTo>
                <a:lnTo>
                  <a:pt x="0" y="254708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16228" y="3628167"/>
            <a:ext cx="2547075" cy="254708"/>
          </a:xfrm>
          <a:prstGeom prst="rect">
            <a:avLst/>
          </a:prstGeom>
          <a:noFill/>
          <a:ln/>
        </p:spPr>
        <p:txBody>
          <a:bodyPr wrap="square" lIns="45281" tIns="22641" rIns="45281" bIns="22641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不在数据读写路径上传输实际数据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1601" y="1562206"/>
            <a:ext cx="4992267" cy="2626318"/>
          </a:xfrm>
          <a:custGeom>
            <a:avLst/>
            <a:gdLst/>
            <a:ahLst/>
            <a:cxnLst/>
            <a:rect l="l" t="t" r="r" b="b"/>
            <a:pathLst>
              <a:path w="4992267" h="2626318">
                <a:moveTo>
                  <a:pt x="45281" y="0"/>
                </a:moveTo>
                <a:lnTo>
                  <a:pt x="4946986" y="0"/>
                </a:lnTo>
                <a:cubicBezTo>
                  <a:pt x="4971994" y="0"/>
                  <a:pt x="4992267" y="20273"/>
                  <a:pt x="4992267" y="45281"/>
                </a:cubicBezTo>
                <a:lnTo>
                  <a:pt x="4992267" y="2535762"/>
                </a:lnTo>
                <a:cubicBezTo>
                  <a:pt x="4992267" y="2585775"/>
                  <a:pt x="4951724" y="2626318"/>
                  <a:pt x="4901712" y="2626318"/>
                </a:cubicBezTo>
                <a:lnTo>
                  <a:pt x="90555" y="2626318"/>
                </a:lnTo>
                <a:cubicBezTo>
                  <a:pt x="40543" y="2626318"/>
                  <a:pt x="0" y="2585775"/>
                  <a:pt x="0" y="2535762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631601" y="1562206"/>
            <a:ext cx="4992267" cy="45281"/>
          </a:xfrm>
          <a:custGeom>
            <a:avLst/>
            <a:gdLst/>
            <a:ahLst/>
            <a:cxnLst/>
            <a:rect l="l" t="t" r="r" b="b"/>
            <a:pathLst>
              <a:path w="4992267" h="45281">
                <a:moveTo>
                  <a:pt x="45281" y="0"/>
                </a:moveTo>
                <a:lnTo>
                  <a:pt x="4946986" y="0"/>
                </a:lnTo>
                <a:cubicBezTo>
                  <a:pt x="4971994" y="0"/>
                  <a:pt x="4992267" y="20273"/>
                  <a:pt x="4992267" y="45281"/>
                </a:cubicBezTo>
                <a:lnTo>
                  <a:pt x="4992267" y="45281"/>
                </a:lnTo>
                <a:lnTo>
                  <a:pt x="0" y="45281"/>
                </a:ln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8008" y="1811253"/>
            <a:ext cx="543376" cy="543376"/>
          </a:xfrm>
          <a:custGeom>
            <a:avLst/>
            <a:gdLst/>
            <a:ahLst/>
            <a:cxn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01406" y="1811253"/>
            <a:ext cx="656579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83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DN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228" y="1924457"/>
            <a:ext cx="1222596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58008" y="2490474"/>
            <a:ext cx="4630017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角色: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Slave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工作节点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58008" y="2875365"/>
            <a:ext cx="4630017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存储实际数据块(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)与校验和,执行客户端读写请求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58008" y="3554585"/>
            <a:ext cx="4539454" cy="407532"/>
          </a:xfrm>
          <a:custGeom>
            <a:avLst/>
            <a:gdLst/>
            <a:ahLst/>
            <a:cxnLst/>
            <a:rect l="l" t="t" r="r" b="b"/>
            <a:pathLst>
              <a:path w="4539454" h="407532">
                <a:moveTo>
                  <a:pt x="45281" y="0"/>
                </a:moveTo>
                <a:lnTo>
                  <a:pt x="4494173" y="0"/>
                </a:lnTo>
                <a:cubicBezTo>
                  <a:pt x="4519164" y="0"/>
                  <a:pt x="4539454" y="20290"/>
                  <a:pt x="4539454" y="45281"/>
                </a:cubicBezTo>
                <a:lnTo>
                  <a:pt x="4539454" y="362251"/>
                </a:lnTo>
                <a:cubicBezTo>
                  <a:pt x="4539454" y="387242"/>
                  <a:pt x="4519164" y="407532"/>
                  <a:pt x="4494173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8570" y="3645148"/>
            <a:ext cx="4437571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上报: 周期性向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发送心跳与块报告(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 Report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810389" y="1562206"/>
            <a:ext cx="4992267" cy="2626318"/>
          </a:xfrm>
          <a:custGeom>
            <a:avLst/>
            <a:gdLst/>
            <a:ahLst/>
            <a:cxnLst/>
            <a:rect l="l" t="t" r="r" b="b"/>
            <a:pathLst>
              <a:path w="4992267" h="2626318">
                <a:moveTo>
                  <a:pt x="45281" y="0"/>
                </a:moveTo>
                <a:lnTo>
                  <a:pt x="4946986" y="0"/>
                </a:lnTo>
                <a:cubicBezTo>
                  <a:pt x="4971994" y="0"/>
                  <a:pt x="4992267" y="20273"/>
                  <a:pt x="4992267" y="45281"/>
                </a:cubicBezTo>
                <a:lnTo>
                  <a:pt x="4992267" y="2535762"/>
                </a:lnTo>
                <a:cubicBezTo>
                  <a:pt x="4992267" y="2585775"/>
                  <a:pt x="4951724" y="2626318"/>
                  <a:pt x="4901712" y="2626318"/>
                </a:cubicBezTo>
                <a:lnTo>
                  <a:pt x="90555" y="2626318"/>
                </a:lnTo>
                <a:cubicBezTo>
                  <a:pt x="40543" y="2626318"/>
                  <a:pt x="0" y="2585775"/>
                  <a:pt x="0" y="2535762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810389" y="1562206"/>
            <a:ext cx="4992267" cy="45281"/>
          </a:xfrm>
          <a:custGeom>
            <a:avLst/>
            <a:gdLst/>
            <a:ahLst/>
            <a:cxnLst/>
            <a:rect l="l" t="t" r="r" b="b"/>
            <a:pathLst>
              <a:path w="4992267" h="45281">
                <a:moveTo>
                  <a:pt x="45281" y="0"/>
                </a:moveTo>
                <a:lnTo>
                  <a:pt x="4946986" y="0"/>
                </a:lnTo>
                <a:cubicBezTo>
                  <a:pt x="4971994" y="0"/>
                  <a:pt x="4992267" y="20273"/>
                  <a:pt x="4992267" y="45281"/>
                </a:cubicBezTo>
                <a:lnTo>
                  <a:pt x="4992267" y="45281"/>
                </a:lnTo>
                <a:lnTo>
                  <a:pt x="0" y="45281"/>
                </a:ln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087737" y="1833894"/>
            <a:ext cx="237727" cy="271688"/>
          </a:xfrm>
          <a:custGeom>
            <a:avLst/>
            <a:gdLst/>
            <a:ahLst/>
            <a:cxnLst/>
            <a:rect l="l" t="t" r="r" b="b"/>
            <a:pathLst>
              <a:path w="237727" h="271688">
                <a:moveTo>
                  <a:pt x="118864" y="131599"/>
                </a:moveTo>
                <a:cubicBezTo>
                  <a:pt x="154008" y="131599"/>
                  <a:pt x="182540" y="103066"/>
                  <a:pt x="182540" y="67922"/>
                </a:cubicBezTo>
                <a:cubicBezTo>
                  <a:pt x="182540" y="32778"/>
                  <a:pt x="154008" y="4245"/>
                  <a:pt x="118864" y="4245"/>
                </a:cubicBezTo>
                <a:cubicBezTo>
                  <a:pt x="83719" y="4245"/>
                  <a:pt x="55187" y="32778"/>
                  <a:pt x="55187" y="67922"/>
                </a:cubicBezTo>
                <a:cubicBezTo>
                  <a:pt x="55187" y="103066"/>
                  <a:pt x="83719" y="131599"/>
                  <a:pt x="118864" y="131599"/>
                </a:cubicBezTo>
                <a:close/>
                <a:moveTo>
                  <a:pt x="103103" y="161315"/>
                </a:moveTo>
                <a:cubicBezTo>
                  <a:pt x="50835" y="161315"/>
                  <a:pt x="8490" y="203660"/>
                  <a:pt x="8490" y="255928"/>
                </a:cubicBezTo>
                <a:cubicBezTo>
                  <a:pt x="8490" y="264631"/>
                  <a:pt x="15548" y="271688"/>
                  <a:pt x="24250" y="271688"/>
                </a:cubicBezTo>
                <a:lnTo>
                  <a:pt x="213477" y="271688"/>
                </a:lnTo>
                <a:cubicBezTo>
                  <a:pt x="222179" y="271688"/>
                  <a:pt x="229237" y="264631"/>
                  <a:pt x="229237" y="255928"/>
                </a:cubicBezTo>
                <a:cubicBezTo>
                  <a:pt x="229237" y="203660"/>
                  <a:pt x="186892" y="161315"/>
                  <a:pt x="134624" y="161315"/>
                </a:cubicBezTo>
                <a:lnTo>
                  <a:pt x="103103" y="161315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512249" y="1811253"/>
            <a:ext cx="758462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036795" y="2264067"/>
            <a:ext cx="4630017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与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交互获取元数据,与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交互传输数据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036795" y="2943287"/>
            <a:ext cx="4630017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流程: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先问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拿地址(控制流),再找DN传数据(数据流)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1036795" y="3328178"/>
            <a:ext cx="4539454" cy="407532"/>
          </a:xfrm>
          <a:custGeom>
            <a:avLst/>
            <a:gdLst/>
            <a:ahLst/>
            <a:cxnLst/>
            <a:rect l="l" t="t" r="r" b="b"/>
            <a:pathLst>
              <a:path w="4539454" h="407532">
                <a:moveTo>
                  <a:pt x="45281" y="0"/>
                </a:moveTo>
                <a:lnTo>
                  <a:pt x="4494173" y="0"/>
                </a:lnTo>
                <a:cubicBezTo>
                  <a:pt x="4519164" y="0"/>
                  <a:pt x="4539454" y="20290"/>
                  <a:pt x="4539454" y="45281"/>
                </a:cubicBezTo>
                <a:lnTo>
                  <a:pt x="4539454" y="362251"/>
                </a:lnTo>
                <a:cubicBezTo>
                  <a:pt x="4539454" y="387242"/>
                  <a:pt x="4519164" y="407532"/>
                  <a:pt x="4494173" y="407532"/>
                </a:cubicBezTo>
                <a:lnTo>
                  <a:pt x="45281" y="407532"/>
                </a:lnTo>
                <a:cubicBezTo>
                  <a:pt x="20290" y="407532"/>
                  <a:pt x="0" y="387242"/>
                  <a:pt x="0" y="362251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127358" y="3418741"/>
            <a:ext cx="4437571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优化: 就近读取,支持短路读取(同节点)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54" y="4369649"/>
            <a:ext cx="7539343" cy="4097961"/>
          </a:xfrm>
          <a:custGeom>
            <a:avLst/>
            <a:gdLst/>
            <a:ahLst/>
            <a:cxnLst/>
            <a:rect l="l" t="t" r="r" b="b"/>
            <a:pathLst>
              <a:path w="7539343" h="4097961">
                <a:moveTo>
                  <a:pt x="45281" y="0"/>
                </a:moveTo>
                <a:lnTo>
                  <a:pt x="7448778" y="0"/>
                </a:lnTo>
                <a:cubicBezTo>
                  <a:pt x="7498795" y="0"/>
                  <a:pt x="7539343" y="40547"/>
                  <a:pt x="7539343" y="90565"/>
                </a:cubicBezTo>
                <a:lnTo>
                  <a:pt x="7539343" y="4007396"/>
                </a:lnTo>
                <a:cubicBezTo>
                  <a:pt x="7539343" y="4057414"/>
                  <a:pt x="7498795" y="4097961"/>
                  <a:pt x="7448778" y="4097961"/>
                </a:cubicBezTo>
                <a:lnTo>
                  <a:pt x="45281" y="4097961"/>
                </a:lnTo>
                <a:cubicBezTo>
                  <a:pt x="20273" y="4097961"/>
                  <a:pt x="0" y="4077688"/>
                  <a:pt x="0" y="4052680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54" y="4369649"/>
            <a:ext cx="45281" cy="4097961"/>
          </a:xfrm>
          <a:custGeom>
            <a:avLst/>
            <a:gdLst/>
            <a:ahLst/>
            <a:cxnLst/>
            <a:rect l="l" t="t" r="r" b="b"/>
            <a:pathLst>
              <a:path w="45281" h="4097961">
                <a:moveTo>
                  <a:pt x="45281" y="0"/>
                </a:moveTo>
                <a:lnTo>
                  <a:pt x="45281" y="0"/>
                </a:lnTo>
                <a:lnTo>
                  <a:pt x="45281" y="4097961"/>
                </a:lnTo>
                <a:lnTo>
                  <a:pt x="45281" y="4097961"/>
                </a:lnTo>
                <a:cubicBezTo>
                  <a:pt x="20273" y="4097961"/>
                  <a:pt x="0" y="4077688"/>
                  <a:pt x="0" y="4052680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8462" y="4641337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150702" y="-690"/>
                </a:moveTo>
                <a:cubicBezTo>
                  <a:pt x="141522" y="-5996"/>
                  <a:pt x="130166" y="-5996"/>
                  <a:pt x="120986" y="-690"/>
                </a:cubicBezTo>
                <a:lnTo>
                  <a:pt x="76306" y="25099"/>
                </a:lnTo>
                <a:cubicBezTo>
                  <a:pt x="67126" y="30406"/>
                  <a:pt x="61448" y="40223"/>
                  <a:pt x="61448" y="50835"/>
                </a:cubicBezTo>
                <a:lnTo>
                  <a:pt x="61448" y="104908"/>
                </a:lnTo>
                <a:lnTo>
                  <a:pt x="14593" y="131970"/>
                </a:lnTo>
                <a:cubicBezTo>
                  <a:pt x="5413" y="137277"/>
                  <a:pt x="-265" y="147094"/>
                  <a:pt x="-265" y="157706"/>
                </a:cubicBezTo>
                <a:lnTo>
                  <a:pt x="-265" y="209338"/>
                </a:lnTo>
                <a:cubicBezTo>
                  <a:pt x="-265" y="219951"/>
                  <a:pt x="5413" y="229767"/>
                  <a:pt x="14593" y="235074"/>
                </a:cubicBezTo>
                <a:lnTo>
                  <a:pt x="59326" y="260863"/>
                </a:lnTo>
                <a:cubicBezTo>
                  <a:pt x="68506" y="266169"/>
                  <a:pt x="79861" y="266169"/>
                  <a:pt x="89042" y="260863"/>
                </a:cubicBezTo>
                <a:lnTo>
                  <a:pt x="135897" y="233800"/>
                </a:lnTo>
                <a:lnTo>
                  <a:pt x="182753" y="260863"/>
                </a:lnTo>
                <a:cubicBezTo>
                  <a:pt x="191933" y="266169"/>
                  <a:pt x="203288" y="266169"/>
                  <a:pt x="212469" y="260863"/>
                </a:cubicBezTo>
                <a:lnTo>
                  <a:pt x="257095" y="235074"/>
                </a:lnTo>
                <a:cubicBezTo>
                  <a:pt x="266275" y="229767"/>
                  <a:pt x="271953" y="219951"/>
                  <a:pt x="271953" y="209338"/>
                </a:cubicBezTo>
                <a:lnTo>
                  <a:pt x="271953" y="157706"/>
                </a:lnTo>
                <a:cubicBezTo>
                  <a:pt x="271953" y="147094"/>
                  <a:pt x="266275" y="137277"/>
                  <a:pt x="257095" y="131970"/>
                </a:cubicBezTo>
                <a:lnTo>
                  <a:pt x="210240" y="104908"/>
                </a:lnTo>
                <a:lnTo>
                  <a:pt x="210240" y="50835"/>
                </a:lnTo>
                <a:cubicBezTo>
                  <a:pt x="210240" y="40223"/>
                  <a:pt x="204562" y="30406"/>
                  <a:pt x="195382" y="25099"/>
                </a:cubicBezTo>
                <a:lnTo>
                  <a:pt x="150702" y="-690"/>
                </a:lnTo>
                <a:close/>
                <a:moveTo>
                  <a:pt x="123109" y="155265"/>
                </a:moveTo>
                <a:lnTo>
                  <a:pt x="123109" y="211779"/>
                </a:lnTo>
                <a:lnTo>
                  <a:pt x="76253" y="238841"/>
                </a:lnTo>
                <a:cubicBezTo>
                  <a:pt x="75616" y="239213"/>
                  <a:pt x="74873" y="239425"/>
                  <a:pt x="74131" y="239425"/>
                </a:cubicBezTo>
                <a:lnTo>
                  <a:pt x="74131" y="183549"/>
                </a:lnTo>
                <a:lnTo>
                  <a:pt x="123109" y="155265"/>
                </a:lnTo>
                <a:close/>
                <a:moveTo>
                  <a:pt x="245899" y="155584"/>
                </a:moveTo>
                <a:cubicBezTo>
                  <a:pt x="246270" y="156221"/>
                  <a:pt x="246483" y="156964"/>
                  <a:pt x="246483" y="157706"/>
                </a:cubicBezTo>
                <a:lnTo>
                  <a:pt x="246483" y="209338"/>
                </a:lnTo>
                <a:cubicBezTo>
                  <a:pt x="246483" y="210877"/>
                  <a:pt x="245687" y="212256"/>
                  <a:pt x="244360" y="212999"/>
                </a:cubicBezTo>
                <a:lnTo>
                  <a:pt x="199627" y="238788"/>
                </a:lnTo>
                <a:cubicBezTo>
                  <a:pt x="198990" y="239160"/>
                  <a:pt x="198247" y="239372"/>
                  <a:pt x="197504" y="239372"/>
                </a:cubicBezTo>
                <a:lnTo>
                  <a:pt x="197504" y="183496"/>
                </a:lnTo>
                <a:lnTo>
                  <a:pt x="245899" y="155584"/>
                </a:lnTo>
                <a:close/>
                <a:moveTo>
                  <a:pt x="184822" y="50835"/>
                </a:moveTo>
                <a:lnTo>
                  <a:pt x="184822" y="104908"/>
                </a:lnTo>
                <a:lnTo>
                  <a:pt x="135844" y="133191"/>
                </a:lnTo>
                <a:lnTo>
                  <a:pt x="135844" y="76678"/>
                </a:lnTo>
                <a:lnTo>
                  <a:pt x="184238" y="48766"/>
                </a:lnTo>
                <a:cubicBezTo>
                  <a:pt x="184610" y="49403"/>
                  <a:pt x="184822" y="50146"/>
                  <a:pt x="184822" y="5088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64111" y="4596056"/>
            <a:ext cx="6860123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213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与副本机制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24501" y="5094150"/>
            <a:ext cx="7063889" cy="860345"/>
          </a:xfrm>
          <a:custGeom>
            <a:avLst/>
            <a:gdLst/>
            <a:ahLst/>
            <a:cxnLst/>
            <a:rect l="l" t="t" r="r" b="b"/>
            <a:pathLst>
              <a:path w="7063889" h="860345">
                <a:moveTo>
                  <a:pt x="45280" y="0"/>
                </a:moveTo>
                <a:lnTo>
                  <a:pt x="7018609" y="0"/>
                </a:lnTo>
                <a:cubicBezTo>
                  <a:pt x="7043616" y="0"/>
                  <a:pt x="7063889" y="20273"/>
                  <a:pt x="7063889" y="45280"/>
                </a:cubicBezTo>
                <a:lnTo>
                  <a:pt x="7063889" y="815065"/>
                </a:lnTo>
                <a:cubicBezTo>
                  <a:pt x="7063889" y="840073"/>
                  <a:pt x="7043616" y="860345"/>
                  <a:pt x="7018609" y="860345"/>
                </a:cubicBezTo>
                <a:lnTo>
                  <a:pt x="45280" y="860345"/>
                </a:lnTo>
                <a:cubicBezTo>
                  <a:pt x="20273" y="860345"/>
                  <a:pt x="0" y="840073"/>
                  <a:pt x="0" y="815065"/>
                </a:cubicBezTo>
                <a:lnTo>
                  <a:pt x="0" y="45280"/>
                </a:lnTo>
                <a:cubicBezTo>
                  <a:pt x="0" y="20289"/>
                  <a:pt x="20289" y="0"/>
                  <a:pt x="4528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60345" y="5229994"/>
            <a:ext cx="6882763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概念: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文件被切分为固定大小的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(默认128 MiB),最后一个Block可小于默认值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4501" y="6090340"/>
            <a:ext cx="7063889" cy="566017"/>
          </a:xfrm>
          <a:custGeom>
            <a:avLst/>
            <a:gdLst/>
            <a:ahLst/>
            <a:cxnLst/>
            <a:rect l="l" t="t" r="r" b="b"/>
            <a:pathLst>
              <a:path w="7063889" h="566017">
                <a:moveTo>
                  <a:pt x="45281" y="0"/>
                </a:moveTo>
                <a:lnTo>
                  <a:pt x="7018607" y="0"/>
                </a:lnTo>
                <a:cubicBezTo>
                  <a:pt x="7043615" y="0"/>
                  <a:pt x="7063889" y="20273"/>
                  <a:pt x="7063889" y="45281"/>
                </a:cubicBezTo>
                <a:lnTo>
                  <a:pt x="7063889" y="520735"/>
                </a:lnTo>
                <a:cubicBezTo>
                  <a:pt x="7063889" y="545744"/>
                  <a:pt x="7043615" y="566017"/>
                  <a:pt x="7018607" y="566017"/>
                </a:cubicBezTo>
                <a:lnTo>
                  <a:pt x="45281" y="566017"/>
                </a:lnTo>
                <a:cubicBezTo>
                  <a:pt x="20273" y="566017"/>
                  <a:pt x="0" y="545744"/>
                  <a:pt x="0" y="520735"/>
                </a:cubicBezTo>
                <a:lnTo>
                  <a:pt x="0" y="45281"/>
                </a:lnTo>
                <a:cubicBezTo>
                  <a:pt x="0" y="20290"/>
                  <a:pt x="20290" y="0"/>
                  <a:pt x="452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60345" y="6226184"/>
            <a:ext cx="6882763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副本策略: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默认3副本,机架感知策略:本地→同机架→跨机架,平衡容错与带宽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47142" y="6792201"/>
            <a:ext cx="7041248" cy="860345"/>
          </a:xfrm>
          <a:custGeom>
            <a:avLst/>
            <a:gdLst/>
            <a:ahLst/>
            <a:cxnLst/>
            <a:rect l="l" t="t" r="r" b="b"/>
            <a:pathLst>
              <a:path w="7041248" h="860345">
                <a:moveTo>
                  <a:pt x="45280" y="0"/>
                </a:moveTo>
                <a:lnTo>
                  <a:pt x="6995968" y="0"/>
                </a:lnTo>
                <a:cubicBezTo>
                  <a:pt x="7020975" y="0"/>
                  <a:pt x="7041248" y="20273"/>
                  <a:pt x="7041248" y="45280"/>
                </a:cubicBezTo>
                <a:lnTo>
                  <a:pt x="7041248" y="815065"/>
                </a:lnTo>
                <a:cubicBezTo>
                  <a:pt x="7041248" y="840073"/>
                  <a:pt x="7020975" y="860345"/>
                  <a:pt x="6995968" y="860345"/>
                </a:cubicBezTo>
                <a:lnTo>
                  <a:pt x="45280" y="860345"/>
                </a:lnTo>
                <a:cubicBezTo>
                  <a:pt x="20273" y="860345"/>
                  <a:pt x="0" y="840073"/>
                  <a:pt x="0" y="815065"/>
                </a:cubicBezTo>
                <a:lnTo>
                  <a:pt x="0" y="45280"/>
                </a:lnTo>
                <a:cubicBezTo>
                  <a:pt x="0" y="20289"/>
                  <a:pt x="20289" y="0"/>
                  <a:pt x="45280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47142" y="6792201"/>
            <a:ext cx="45281" cy="860345"/>
          </a:xfrm>
          <a:custGeom>
            <a:avLst/>
            <a:gdLst/>
            <a:ahLst/>
            <a:cxnLst/>
            <a:rect l="l" t="t" r="r" b="b"/>
            <a:pathLst>
              <a:path w="45281" h="860345">
                <a:moveTo>
                  <a:pt x="45281" y="0"/>
                </a:moveTo>
                <a:lnTo>
                  <a:pt x="45281" y="0"/>
                </a:lnTo>
                <a:lnTo>
                  <a:pt x="45281" y="860345"/>
                </a:lnTo>
                <a:lnTo>
                  <a:pt x="45281" y="860345"/>
                </a:lnTo>
                <a:cubicBezTo>
                  <a:pt x="20273" y="860345"/>
                  <a:pt x="0" y="840072"/>
                  <a:pt x="0" y="815064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05627" y="6928045"/>
            <a:ext cx="6837482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设计权衡:</a:t>
            </a: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机架感知既保证数据不全部落在同一机架(容错),又减少跨机架写入带宽消耗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266320" y="4369649"/>
            <a:ext cx="7539343" cy="4097961"/>
          </a:xfrm>
          <a:custGeom>
            <a:avLst/>
            <a:gdLst/>
            <a:ahLst/>
            <a:cxnLst/>
            <a:rect l="l" t="t" r="r" b="b"/>
            <a:pathLst>
              <a:path w="7539343" h="4097961">
                <a:moveTo>
                  <a:pt x="45281" y="0"/>
                </a:moveTo>
                <a:lnTo>
                  <a:pt x="7448778" y="0"/>
                </a:lnTo>
                <a:cubicBezTo>
                  <a:pt x="7498795" y="0"/>
                  <a:pt x="7539343" y="40547"/>
                  <a:pt x="7539343" y="90565"/>
                </a:cubicBezTo>
                <a:lnTo>
                  <a:pt x="7539343" y="4007396"/>
                </a:lnTo>
                <a:cubicBezTo>
                  <a:pt x="7539343" y="4057414"/>
                  <a:pt x="7498795" y="4097961"/>
                  <a:pt x="7448778" y="4097961"/>
                </a:cubicBezTo>
                <a:lnTo>
                  <a:pt x="45281" y="4097961"/>
                </a:lnTo>
                <a:cubicBezTo>
                  <a:pt x="20273" y="4097961"/>
                  <a:pt x="0" y="4077688"/>
                  <a:pt x="0" y="4052680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266320" y="4369649"/>
            <a:ext cx="45281" cy="4097961"/>
          </a:xfrm>
          <a:custGeom>
            <a:avLst/>
            <a:gdLst/>
            <a:ahLst/>
            <a:cxnLst/>
            <a:rect l="l" t="t" r="r" b="b"/>
            <a:pathLst>
              <a:path w="45281" h="4097961">
                <a:moveTo>
                  <a:pt x="45281" y="0"/>
                </a:moveTo>
                <a:lnTo>
                  <a:pt x="45281" y="0"/>
                </a:lnTo>
                <a:lnTo>
                  <a:pt x="45281" y="4097961"/>
                </a:lnTo>
                <a:lnTo>
                  <a:pt x="45281" y="4097961"/>
                </a:lnTo>
                <a:cubicBezTo>
                  <a:pt x="20273" y="4097961"/>
                  <a:pt x="0" y="4077688"/>
                  <a:pt x="0" y="4052680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549329" y="4641337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135844" y="0"/>
                </a:moveTo>
                <a:cubicBezTo>
                  <a:pt x="143644" y="0"/>
                  <a:pt x="150808" y="4298"/>
                  <a:pt x="154523" y="11143"/>
                </a:cubicBezTo>
                <a:lnTo>
                  <a:pt x="269141" y="223400"/>
                </a:lnTo>
                <a:cubicBezTo>
                  <a:pt x="272696" y="229980"/>
                  <a:pt x="272537" y="237939"/>
                  <a:pt x="268716" y="244360"/>
                </a:cubicBezTo>
                <a:cubicBezTo>
                  <a:pt x="264896" y="250781"/>
                  <a:pt x="257944" y="254708"/>
                  <a:pt x="250462" y="254708"/>
                </a:cubicBezTo>
                <a:lnTo>
                  <a:pt x="21226" y="254708"/>
                </a:lnTo>
                <a:cubicBezTo>
                  <a:pt x="13744" y="254708"/>
                  <a:pt x="6845" y="250781"/>
                  <a:pt x="2972" y="244360"/>
                </a:cubicBezTo>
                <a:cubicBezTo>
                  <a:pt x="-902" y="237939"/>
                  <a:pt x="-1008" y="229980"/>
                  <a:pt x="2547" y="223400"/>
                </a:cubicBezTo>
                <a:lnTo>
                  <a:pt x="117165" y="11143"/>
                </a:lnTo>
                <a:cubicBezTo>
                  <a:pt x="120880" y="4298"/>
                  <a:pt x="128044" y="0"/>
                  <a:pt x="135844" y="0"/>
                </a:cubicBezTo>
                <a:close/>
                <a:moveTo>
                  <a:pt x="135844" y="89148"/>
                </a:moveTo>
                <a:cubicBezTo>
                  <a:pt x="128786" y="89148"/>
                  <a:pt x="123109" y="94825"/>
                  <a:pt x="123109" y="101883"/>
                </a:cubicBezTo>
                <a:lnTo>
                  <a:pt x="123109" y="161315"/>
                </a:lnTo>
                <a:cubicBezTo>
                  <a:pt x="123109" y="168372"/>
                  <a:pt x="128786" y="174050"/>
                  <a:pt x="135844" y="174050"/>
                </a:cubicBezTo>
                <a:cubicBezTo>
                  <a:pt x="142902" y="174050"/>
                  <a:pt x="148579" y="168372"/>
                  <a:pt x="148579" y="161315"/>
                </a:cubicBezTo>
                <a:lnTo>
                  <a:pt x="148579" y="101883"/>
                </a:lnTo>
                <a:cubicBezTo>
                  <a:pt x="148579" y="94825"/>
                  <a:pt x="142902" y="89148"/>
                  <a:pt x="135844" y="89148"/>
                </a:cubicBezTo>
                <a:close/>
                <a:moveTo>
                  <a:pt x="150012" y="203766"/>
                </a:moveTo>
                <a:cubicBezTo>
                  <a:pt x="150334" y="198507"/>
                  <a:pt x="147712" y="193503"/>
                  <a:pt x="143203" y="190776"/>
                </a:cubicBezTo>
                <a:cubicBezTo>
                  <a:pt x="138695" y="188049"/>
                  <a:pt x="133046" y="188049"/>
                  <a:pt x="128538" y="190776"/>
                </a:cubicBezTo>
                <a:cubicBezTo>
                  <a:pt x="124029" y="193503"/>
                  <a:pt x="121407" y="198507"/>
                  <a:pt x="121729" y="203766"/>
                </a:cubicBezTo>
                <a:cubicBezTo>
                  <a:pt x="121407" y="209025"/>
                  <a:pt x="124029" y="214029"/>
                  <a:pt x="128538" y="216756"/>
                </a:cubicBezTo>
                <a:cubicBezTo>
                  <a:pt x="133046" y="219483"/>
                  <a:pt x="138695" y="219483"/>
                  <a:pt x="143203" y="216756"/>
                </a:cubicBezTo>
                <a:cubicBezTo>
                  <a:pt x="147712" y="214029"/>
                  <a:pt x="150334" y="209025"/>
                  <a:pt x="150012" y="203766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854978" y="4596056"/>
            <a:ext cx="6860123" cy="362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存储适用性分析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515368" y="5094150"/>
            <a:ext cx="7063889" cy="1222596"/>
          </a:xfrm>
          <a:custGeom>
            <a:avLst/>
            <a:gdLst/>
            <a:ahLst/>
            <a:cxnLst/>
            <a:rect l="l" t="t" r="r" b="b"/>
            <a:pathLst>
              <a:path w="7063889" h="1222596">
                <a:moveTo>
                  <a:pt x="45285" y="0"/>
                </a:moveTo>
                <a:lnTo>
                  <a:pt x="7018604" y="0"/>
                </a:lnTo>
                <a:cubicBezTo>
                  <a:pt x="7043614" y="0"/>
                  <a:pt x="7063889" y="20275"/>
                  <a:pt x="7063889" y="45285"/>
                </a:cubicBezTo>
                <a:lnTo>
                  <a:pt x="7063889" y="1177311"/>
                </a:lnTo>
                <a:cubicBezTo>
                  <a:pt x="7063889" y="1202321"/>
                  <a:pt x="7043614" y="1222596"/>
                  <a:pt x="7018604" y="1222596"/>
                </a:cubicBezTo>
                <a:lnTo>
                  <a:pt x="45285" y="1222596"/>
                </a:lnTo>
                <a:cubicBezTo>
                  <a:pt x="20275" y="1222596"/>
                  <a:pt x="0" y="1202321"/>
                  <a:pt x="0" y="1177311"/>
                </a:cubicBezTo>
                <a:lnTo>
                  <a:pt x="0" y="45285"/>
                </a:lnTo>
                <a:cubicBezTo>
                  <a:pt x="0" y="20275"/>
                  <a:pt x="20275" y="0"/>
                  <a:pt x="4528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679513" y="5275276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113203" y="226407"/>
                </a:moveTo>
                <a:cubicBezTo>
                  <a:pt x="175682" y="226407"/>
                  <a:pt x="226407" y="175682"/>
                  <a:pt x="226407" y="113203"/>
                </a:cubicBezTo>
                <a:cubicBezTo>
                  <a:pt x="226407" y="50725"/>
                  <a:pt x="175682" y="0"/>
                  <a:pt x="113203" y="0"/>
                </a:cubicBezTo>
                <a:cubicBezTo>
                  <a:pt x="50725" y="0"/>
                  <a:pt x="0" y="50725"/>
                  <a:pt x="0" y="113203"/>
                </a:cubicBezTo>
                <a:cubicBezTo>
                  <a:pt x="0" y="175682"/>
                  <a:pt x="50725" y="226407"/>
                  <a:pt x="113203" y="226407"/>
                </a:cubicBezTo>
                <a:close/>
                <a:moveTo>
                  <a:pt x="150525" y="94056"/>
                </a:moveTo>
                <a:lnTo>
                  <a:pt x="115149" y="150658"/>
                </a:lnTo>
                <a:cubicBezTo>
                  <a:pt x="113292" y="153620"/>
                  <a:pt x="110108" y="155478"/>
                  <a:pt x="106615" y="155655"/>
                </a:cubicBezTo>
                <a:cubicBezTo>
                  <a:pt x="103121" y="155831"/>
                  <a:pt x="99760" y="154240"/>
                  <a:pt x="97682" y="151409"/>
                </a:cubicBezTo>
                <a:lnTo>
                  <a:pt x="76456" y="123109"/>
                </a:lnTo>
                <a:cubicBezTo>
                  <a:pt x="72919" y="118421"/>
                  <a:pt x="73892" y="111788"/>
                  <a:pt x="78579" y="108251"/>
                </a:cubicBezTo>
                <a:cubicBezTo>
                  <a:pt x="83266" y="104713"/>
                  <a:pt x="89899" y="105686"/>
                  <a:pt x="93437" y="110373"/>
                </a:cubicBezTo>
                <a:lnTo>
                  <a:pt x="105376" y="126292"/>
                </a:lnTo>
                <a:lnTo>
                  <a:pt x="132528" y="82824"/>
                </a:lnTo>
                <a:cubicBezTo>
                  <a:pt x="135623" y="77872"/>
                  <a:pt x="142167" y="76324"/>
                  <a:pt x="147164" y="79463"/>
                </a:cubicBezTo>
                <a:cubicBezTo>
                  <a:pt x="152161" y="82603"/>
                  <a:pt x="153665" y="89103"/>
                  <a:pt x="150525" y="9410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024783" y="5229994"/>
            <a:ext cx="916947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适合场景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651212" y="5592245"/>
            <a:ext cx="6882763" cy="58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高吞吐量的顺序读写,适合处理大文件(GB到PB级),如日志分析、数据仓库、机器学习训练数据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515368" y="6452591"/>
            <a:ext cx="7063889" cy="1788613"/>
          </a:xfrm>
          <a:custGeom>
            <a:avLst/>
            <a:gdLst/>
            <a:ahLst/>
            <a:cxnLst/>
            <a:rect l="l" t="t" r="r" b="b"/>
            <a:pathLst>
              <a:path w="7063889" h="1788613">
                <a:moveTo>
                  <a:pt x="45288" y="0"/>
                </a:moveTo>
                <a:lnTo>
                  <a:pt x="7018601" y="0"/>
                </a:lnTo>
                <a:cubicBezTo>
                  <a:pt x="7043613" y="0"/>
                  <a:pt x="7063889" y="20276"/>
                  <a:pt x="7063889" y="45288"/>
                </a:cubicBezTo>
                <a:lnTo>
                  <a:pt x="7063889" y="1743325"/>
                </a:lnTo>
                <a:cubicBezTo>
                  <a:pt x="7063889" y="1768337"/>
                  <a:pt x="7043613" y="1788613"/>
                  <a:pt x="7018601" y="1788613"/>
                </a:cubicBezTo>
                <a:lnTo>
                  <a:pt x="45288" y="1788613"/>
                </a:lnTo>
                <a:cubicBezTo>
                  <a:pt x="20276" y="1788613"/>
                  <a:pt x="0" y="1768337"/>
                  <a:pt x="0" y="1743325"/>
                </a:cubicBezTo>
                <a:lnTo>
                  <a:pt x="0" y="45288"/>
                </a:lnTo>
                <a:cubicBezTo>
                  <a:pt x="0" y="20293"/>
                  <a:pt x="20293" y="0"/>
                  <a:pt x="4528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679513" y="6633716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113203" y="226407"/>
                </a:moveTo>
                <a:cubicBezTo>
                  <a:pt x="175682" y="226407"/>
                  <a:pt x="226407" y="175682"/>
                  <a:pt x="226407" y="113203"/>
                </a:cubicBezTo>
                <a:cubicBezTo>
                  <a:pt x="226407" y="50725"/>
                  <a:pt x="175682" y="0"/>
                  <a:pt x="113203" y="0"/>
                </a:cubicBezTo>
                <a:cubicBezTo>
                  <a:pt x="50725" y="0"/>
                  <a:pt x="0" y="50725"/>
                  <a:pt x="0" y="113203"/>
                </a:cubicBezTo>
                <a:cubicBezTo>
                  <a:pt x="0" y="175682"/>
                  <a:pt x="50725" y="226407"/>
                  <a:pt x="113203" y="226407"/>
                </a:cubicBezTo>
                <a:close/>
                <a:moveTo>
                  <a:pt x="73847" y="73847"/>
                </a:moveTo>
                <a:cubicBezTo>
                  <a:pt x="78004" y="69691"/>
                  <a:pt x="84726" y="69691"/>
                  <a:pt x="88838" y="73847"/>
                </a:cubicBezTo>
                <a:lnTo>
                  <a:pt x="113159" y="98169"/>
                </a:lnTo>
                <a:lnTo>
                  <a:pt x="137480" y="73847"/>
                </a:lnTo>
                <a:cubicBezTo>
                  <a:pt x="141637" y="69691"/>
                  <a:pt x="148358" y="69691"/>
                  <a:pt x="152471" y="73847"/>
                </a:cubicBezTo>
                <a:cubicBezTo>
                  <a:pt x="156583" y="78004"/>
                  <a:pt x="156627" y="84726"/>
                  <a:pt x="152471" y="88838"/>
                </a:cubicBezTo>
                <a:lnTo>
                  <a:pt x="128150" y="113159"/>
                </a:lnTo>
                <a:lnTo>
                  <a:pt x="152471" y="137480"/>
                </a:lnTo>
                <a:cubicBezTo>
                  <a:pt x="156627" y="141637"/>
                  <a:pt x="156627" y="148358"/>
                  <a:pt x="152471" y="152471"/>
                </a:cubicBezTo>
                <a:cubicBezTo>
                  <a:pt x="148314" y="156583"/>
                  <a:pt x="141593" y="156627"/>
                  <a:pt x="137480" y="152471"/>
                </a:cubicBezTo>
                <a:lnTo>
                  <a:pt x="113159" y="128150"/>
                </a:lnTo>
                <a:lnTo>
                  <a:pt x="88838" y="152471"/>
                </a:lnTo>
                <a:cubicBezTo>
                  <a:pt x="84681" y="156627"/>
                  <a:pt x="77960" y="156627"/>
                  <a:pt x="73847" y="152471"/>
                </a:cubicBezTo>
                <a:cubicBezTo>
                  <a:pt x="69735" y="148314"/>
                  <a:pt x="69691" y="141593"/>
                  <a:pt x="73847" y="137480"/>
                </a:cubicBezTo>
                <a:lnTo>
                  <a:pt x="98169" y="113159"/>
                </a:lnTo>
                <a:lnTo>
                  <a:pt x="73847" y="88838"/>
                </a:lnTo>
                <a:cubicBezTo>
                  <a:pt x="69691" y="84681"/>
                  <a:pt x="69691" y="77960"/>
                  <a:pt x="73847" y="73847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024783" y="6588435"/>
            <a:ext cx="112071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4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不适合场景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651212" y="6950685"/>
            <a:ext cx="6882763" cy="29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不适合存储海量小文件(KB级),原因如下: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651212" y="7335577"/>
            <a:ext cx="687144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内存瓶颈:每个文件/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都要占元数据对象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651212" y="7607265"/>
            <a:ext cx="687144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寻址开销大:小文件过多导致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查询压力增大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651212" y="7878953"/>
            <a:ext cx="6871443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存储浪费:每个文件至少一个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,小文件无法充分利用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24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空间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2569" y="440542"/>
            <a:ext cx="1431762" cy="352434"/>
          </a:xfrm>
          <a:custGeom>
            <a:avLst/>
            <a:gdLst/>
            <a:ahLst/>
            <a:cxnLst/>
            <a:rect l="l" t="t" r="r" b="b"/>
            <a:pathLst>
              <a:path w="1431762" h="352434">
                <a:moveTo>
                  <a:pt x="0" y="0"/>
                </a:moveTo>
                <a:lnTo>
                  <a:pt x="1431762" y="0"/>
                </a:lnTo>
                <a:lnTo>
                  <a:pt x="1431762" y="352434"/>
                </a:lnTo>
                <a:lnTo>
                  <a:pt x="0" y="352434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62569" y="440542"/>
            <a:ext cx="44054" cy="352434"/>
          </a:xfrm>
          <a:custGeom>
            <a:avLst/>
            <a:gdLst/>
            <a:ahLst/>
            <a:cxnLst/>
            <a:rect l="l" t="t" r="r" b="b"/>
            <a:pathLst>
              <a:path w="44054" h="352434">
                <a:moveTo>
                  <a:pt x="0" y="0"/>
                </a:moveTo>
                <a:lnTo>
                  <a:pt x="44054" y="0"/>
                </a:lnTo>
                <a:lnTo>
                  <a:pt x="44054" y="352434"/>
                </a:lnTo>
                <a:lnTo>
                  <a:pt x="0" y="352434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6759" y="501117"/>
            <a:ext cx="1235325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kern="0" spc="6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0542" y="881084"/>
            <a:ext cx="15573160" cy="440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2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元数据持久化与安全模式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0542" y="1519870"/>
            <a:ext cx="7577322" cy="2334873"/>
          </a:xfrm>
          <a:custGeom>
            <a:avLst/>
            <a:gdLst/>
            <a:ahLst/>
            <a:cxnLst/>
            <a:rect l="l" t="t" r="r" b="b"/>
            <a:pathLst>
              <a:path w="7577322" h="2334873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2246755"/>
                </a:lnTo>
                <a:cubicBezTo>
                  <a:pt x="7577322" y="2295421"/>
                  <a:pt x="7537871" y="2334873"/>
                  <a:pt x="7489204" y="2334873"/>
                </a:cubicBezTo>
                <a:lnTo>
                  <a:pt x="88118" y="2334873"/>
                </a:lnTo>
                <a:cubicBezTo>
                  <a:pt x="39452" y="2334873"/>
                  <a:pt x="0" y="2295421"/>
                  <a:pt x="0" y="2246755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0542" y="1519870"/>
            <a:ext cx="7577322" cy="44054"/>
          </a:xfrm>
          <a:custGeom>
            <a:avLst/>
            <a:gdLst/>
            <a:ahLst/>
            <a:cxnLst/>
            <a:rect l="l" t="t" r="r" b="b"/>
            <a:pathLst>
              <a:path w="7577322" h="44054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44054"/>
                </a:lnTo>
                <a:lnTo>
                  <a:pt x="0" y="44054"/>
                </a:ln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26894" y="1806222"/>
            <a:ext cx="198244" cy="264325"/>
          </a:xfrm>
          <a:custGeom>
            <a:avLst/>
            <a:gdLst/>
            <a:ahLst/>
            <a:cxnLst/>
            <a:rect l="l" t="t" r="r" b="b"/>
            <a:pathLst>
              <a:path w="198244" h="264325">
                <a:moveTo>
                  <a:pt x="0" y="33041"/>
                </a:moveTo>
                <a:cubicBezTo>
                  <a:pt x="0" y="14817"/>
                  <a:pt x="14817" y="0"/>
                  <a:pt x="33041" y="0"/>
                </a:cubicBezTo>
                <a:lnTo>
                  <a:pt x="110222" y="0"/>
                </a:lnTo>
                <a:cubicBezTo>
                  <a:pt x="118998" y="0"/>
                  <a:pt x="127413" y="3459"/>
                  <a:pt x="133608" y="9654"/>
                </a:cubicBezTo>
                <a:lnTo>
                  <a:pt x="188590" y="64687"/>
                </a:lnTo>
                <a:cubicBezTo>
                  <a:pt x="194785" y="70883"/>
                  <a:pt x="198244" y="79298"/>
                  <a:pt x="198244" y="88074"/>
                </a:cubicBezTo>
                <a:lnTo>
                  <a:pt x="198244" y="231285"/>
                </a:lnTo>
                <a:cubicBezTo>
                  <a:pt x="198244" y="249509"/>
                  <a:pt x="183427" y="264325"/>
                  <a:pt x="165203" y="264325"/>
                </a:cubicBezTo>
                <a:lnTo>
                  <a:pt x="33041" y="264325"/>
                </a:lnTo>
                <a:cubicBezTo>
                  <a:pt x="14817" y="264325"/>
                  <a:pt x="0" y="249509"/>
                  <a:pt x="0" y="231285"/>
                </a:cubicBezTo>
                <a:lnTo>
                  <a:pt x="0" y="33041"/>
                </a:lnTo>
                <a:close/>
                <a:moveTo>
                  <a:pt x="107382" y="30201"/>
                </a:moveTo>
                <a:lnTo>
                  <a:pt x="107382" y="78472"/>
                </a:lnTo>
                <a:cubicBezTo>
                  <a:pt x="107382" y="85338"/>
                  <a:pt x="112906" y="90862"/>
                  <a:pt x="119772" y="90862"/>
                </a:cubicBezTo>
                <a:lnTo>
                  <a:pt x="168043" y="90862"/>
                </a:lnTo>
                <a:lnTo>
                  <a:pt x="107382" y="30201"/>
                </a:lnTo>
                <a:close/>
                <a:moveTo>
                  <a:pt x="33041" y="37171"/>
                </a:moveTo>
                <a:cubicBezTo>
                  <a:pt x="33041" y="44037"/>
                  <a:pt x="38565" y="49561"/>
                  <a:pt x="45431" y="49561"/>
                </a:cubicBezTo>
                <a:lnTo>
                  <a:pt x="70211" y="49561"/>
                </a:lnTo>
                <a:cubicBezTo>
                  <a:pt x="77078" y="49561"/>
                  <a:pt x="82602" y="44037"/>
                  <a:pt x="82602" y="37171"/>
                </a:cubicBezTo>
                <a:cubicBezTo>
                  <a:pt x="82602" y="30304"/>
                  <a:pt x="77078" y="24780"/>
                  <a:pt x="70211" y="24780"/>
                </a:cubicBezTo>
                <a:lnTo>
                  <a:pt x="45431" y="24780"/>
                </a:lnTo>
                <a:cubicBezTo>
                  <a:pt x="38565" y="24780"/>
                  <a:pt x="33041" y="30304"/>
                  <a:pt x="33041" y="37171"/>
                </a:cubicBezTo>
                <a:close/>
                <a:moveTo>
                  <a:pt x="33041" y="86732"/>
                </a:moveTo>
                <a:cubicBezTo>
                  <a:pt x="33041" y="93598"/>
                  <a:pt x="38565" y="99122"/>
                  <a:pt x="45431" y="99122"/>
                </a:cubicBezTo>
                <a:lnTo>
                  <a:pt x="70211" y="99122"/>
                </a:lnTo>
                <a:cubicBezTo>
                  <a:pt x="77078" y="99122"/>
                  <a:pt x="82602" y="93598"/>
                  <a:pt x="82602" y="86732"/>
                </a:cubicBezTo>
                <a:cubicBezTo>
                  <a:pt x="82602" y="79865"/>
                  <a:pt x="77078" y="74341"/>
                  <a:pt x="70211" y="74341"/>
                </a:cubicBezTo>
                <a:lnTo>
                  <a:pt x="45431" y="74341"/>
                </a:lnTo>
                <a:cubicBezTo>
                  <a:pt x="38565" y="74341"/>
                  <a:pt x="33041" y="79865"/>
                  <a:pt x="33041" y="86732"/>
                </a:cubicBezTo>
                <a:close/>
                <a:moveTo>
                  <a:pt x="66081" y="123902"/>
                </a:moveTo>
                <a:lnTo>
                  <a:pt x="49561" y="123902"/>
                </a:lnTo>
                <a:cubicBezTo>
                  <a:pt x="40423" y="123902"/>
                  <a:pt x="33041" y="131285"/>
                  <a:pt x="33041" y="140423"/>
                </a:cubicBezTo>
                <a:lnTo>
                  <a:pt x="33041" y="165203"/>
                </a:lnTo>
                <a:cubicBezTo>
                  <a:pt x="33041" y="178884"/>
                  <a:pt x="44140" y="189984"/>
                  <a:pt x="57821" y="189984"/>
                </a:cubicBezTo>
                <a:cubicBezTo>
                  <a:pt x="71502" y="189984"/>
                  <a:pt x="82602" y="178884"/>
                  <a:pt x="82602" y="165203"/>
                </a:cubicBezTo>
                <a:lnTo>
                  <a:pt x="82602" y="140423"/>
                </a:lnTo>
                <a:cubicBezTo>
                  <a:pt x="82602" y="131285"/>
                  <a:pt x="75219" y="123902"/>
                  <a:pt x="66081" y="123902"/>
                </a:cubicBezTo>
                <a:close/>
                <a:moveTo>
                  <a:pt x="57821" y="156943"/>
                </a:moveTo>
                <a:cubicBezTo>
                  <a:pt x="62380" y="156943"/>
                  <a:pt x="66081" y="160644"/>
                  <a:pt x="66081" y="165203"/>
                </a:cubicBezTo>
                <a:cubicBezTo>
                  <a:pt x="66081" y="169762"/>
                  <a:pt x="62380" y="173463"/>
                  <a:pt x="57821" y="173463"/>
                </a:cubicBezTo>
                <a:cubicBezTo>
                  <a:pt x="53262" y="173463"/>
                  <a:pt x="49561" y="169762"/>
                  <a:pt x="49561" y="165203"/>
                </a:cubicBezTo>
                <a:cubicBezTo>
                  <a:pt x="49561" y="160644"/>
                  <a:pt x="53262" y="156943"/>
                  <a:pt x="57821" y="15694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1220" y="1762168"/>
            <a:ext cx="6938537" cy="35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FSImage</a:t>
            </a:r>
            <a:r>
              <a:rPr lang="en-US" sz="208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:静态快照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0813" y="2246764"/>
            <a:ext cx="722488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文件系统元数据的静态快照,包含目录树、权限、文件属性等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60813" y="2665279"/>
            <a:ext cx="722488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存储内容: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文件到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的映射关系、文件权限、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ACL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、修改时间等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0813" y="3083794"/>
            <a:ext cx="7136780" cy="550678"/>
          </a:xfrm>
          <a:custGeom>
            <a:avLst/>
            <a:gdLst/>
            <a:ahLst/>
            <a:cxnLst/>
            <a:rect l="l" t="t" r="r" b="b"/>
            <a:pathLst>
              <a:path w="7136780" h="550678">
                <a:moveTo>
                  <a:pt x="44054" y="0"/>
                </a:moveTo>
                <a:lnTo>
                  <a:pt x="7092726" y="0"/>
                </a:lnTo>
                <a:cubicBezTo>
                  <a:pt x="7117057" y="0"/>
                  <a:pt x="7136780" y="19724"/>
                  <a:pt x="7136780" y="44054"/>
                </a:cubicBezTo>
                <a:lnTo>
                  <a:pt x="7136780" y="506623"/>
                </a:lnTo>
                <a:cubicBezTo>
                  <a:pt x="7136780" y="530954"/>
                  <a:pt x="7117057" y="550678"/>
                  <a:pt x="7092726" y="550678"/>
                </a:cubicBez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2976" y="3243491"/>
            <a:ext cx="483220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关键: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239024" y="3199436"/>
            <a:ext cx="3082073" cy="319393"/>
          </a:xfrm>
          <a:custGeom>
            <a:avLst/>
            <a:gdLst/>
            <a:ahLst/>
            <a:cxnLst/>
            <a:rect l="l" t="t" r="r" b="b"/>
            <a:pathLst>
              <a:path w="3082073" h="319393">
                <a:moveTo>
                  <a:pt x="0" y="0"/>
                </a:moveTo>
                <a:lnTo>
                  <a:pt x="3082073" y="0"/>
                </a:lnTo>
                <a:lnTo>
                  <a:pt x="3082073" y="319393"/>
                </a:lnTo>
                <a:lnTo>
                  <a:pt x="0" y="319393"/>
                </a:lnTo>
                <a:lnTo>
                  <a:pt x="0" y="0"/>
                </a:lnTo>
                <a:close/>
              </a:path>
            </a:pathLst>
          </a:custGeom>
          <a:solidFill>
            <a:srgbClr val="F2C55C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9024" y="3199436"/>
            <a:ext cx="3170182" cy="319393"/>
          </a:xfrm>
          <a:prstGeom prst="rect">
            <a:avLst/>
          </a:prstGeom>
          <a:noFill/>
          <a:ln/>
        </p:spPr>
        <p:txBody>
          <a:bodyPr wrap="square" lIns="88108" tIns="44054" rIns="88108" bIns="44054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Block的位置信息不持久化到FSImage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0542" y="4052986"/>
            <a:ext cx="7577322" cy="2334873"/>
          </a:xfrm>
          <a:custGeom>
            <a:avLst/>
            <a:gdLst/>
            <a:ahLst/>
            <a:cxnLst/>
            <a:rect l="l" t="t" r="r" b="b"/>
            <a:pathLst>
              <a:path w="7577322" h="2334873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2246755"/>
                </a:lnTo>
                <a:cubicBezTo>
                  <a:pt x="7577322" y="2295421"/>
                  <a:pt x="7537871" y="2334873"/>
                  <a:pt x="7489204" y="2334873"/>
                </a:cubicBezTo>
                <a:lnTo>
                  <a:pt x="88118" y="2334873"/>
                </a:lnTo>
                <a:cubicBezTo>
                  <a:pt x="39452" y="2334873"/>
                  <a:pt x="0" y="2295421"/>
                  <a:pt x="0" y="2246755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0542" y="4052986"/>
            <a:ext cx="7577322" cy="44054"/>
          </a:xfrm>
          <a:custGeom>
            <a:avLst/>
            <a:gdLst/>
            <a:ahLst/>
            <a:cxnLst/>
            <a:rect l="l" t="t" r="r" b="b"/>
            <a:pathLst>
              <a:path w="7577322" h="44054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44054"/>
                </a:lnTo>
                <a:lnTo>
                  <a:pt x="0" y="44054"/>
                </a:ln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26894" y="4339339"/>
            <a:ext cx="198244" cy="264325"/>
          </a:xfrm>
          <a:custGeom>
            <a:avLst/>
            <a:gdLst/>
            <a:ahLst/>
            <a:cxnLst/>
            <a:rect l="l" t="t" r="r" b="b"/>
            <a:pathLst>
              <a:path w="198244" h="264325">
                <a:moveTo>
                  <a:pt x="0" y="33041"/>
                </a:moveTo>
                <a:cubicBezTo>
                  <a:pt x="0" y="14817"/>
                  <a:pt x="14817" y="0"/>
                  <a:pt x="33041" y="0"/>
                </a:cubicBezTo>
                <a:lnTo>
                  <a:pt x="110222" y="0"/>
                </a:lnTo>
                <a:cubicBezTo>
                  <a:pt x="118998" y="0"/>
                  <a:pt x="127413" y="3459"/>
                  <a:pt x="133608" y="9654"/>
                </a:cubicBezTo>
                <a:lnTo>
                  <a:pt x="188590" y="64687"/>
                </a:lnTo>
                <a:cubicBezTo>
                  <a:pt x="194785" y="70883"/>
                  <a:pt x="198244" y="79298"/>
                  <a:pt x="198244" y="88074"/>
                </a:cubicBezTo>
                <a:lnTo>
                  <a:pt x="198244" y="231285"/>
                </a:lnTo>
                <a:cubicBezTo>
                  <a:pt x="198244" y="249509"/>
                  <a:pt x="183427" y="264325"/>
                  <a:pt x="165203" y="264325"/>
                </a:cubicBezTo>
                <a:lnTo>
                  <a:pt x="33041" y="264325"/>
                </a:lnTo>
                <a:cubicBezTo>
                  <a:pt x="14817" y="264325"/>
                  <a:pt x="0" y="249509"/>
                  <a:pt x="0" y="231285"/>
                </a:cubicBezTo>
                <a:lnTo>
                  <a:pt x="0" y="33041"/>
                </a:lnTo>
                <a:close/>
                <a:moveTo>
                  <a:pt x="107382" y="30201"/>
                </a:moveTo>
                <a:lnTo>
                  <a:pt x="107382" y="78472"/>
                </a:lnTo>
                <a:cubicBezTo>
                  <a:pt x="107382" y="85338"/>
                  <a:pt x="112906" y="90862"/>
                  <a:pt x="119772" y="90862"/>
                </a:cubicBezTo>
                <a:lnTo>
                  <a:pt x="168043" y="90862"/>
                </a:lnTo>
                <a:lnTo>
                  <a:pt x="107382" y="30201"/>
                </a:lnTo>
                <a:close/>
                <a:moveTo>
                  <a:pt x="61951" y="132163"/>
                </a:moveTo>
                <a:cubicBezTo>
                  <a:pt x="55085" y="132163"/>
                  <a:pt x="49561" y="137687"/>
                  <a:pt x="49561" y="144553"/>
                </a:cubicBezTo>
                <a:cubicBezTo>
                  <a:pt x="49561" y="151419"/>
                  <a:pt x="55085" y="156943"/>
                  <a:pt x="61951" y="156943"/>
                </a:cubicBezTo>
                <a:lnTo>
                  <a:pt x="136293" y="156943"/>
                </a:lnTo>
                <a:cubicBezTo>
                  <a:pt x="143159" y="156943"/>
                  <a:pt x="148683" y="151419"/>
                  <a:pt x="148683" y="144553"/>
                </a:cubicBezTo>
                <a:cubicBezTo>
                  <a:pt x="148683" y="137687"/>
                  <a:pt x="143159" y="132163"/>
                  <a:pt x="136293" y="132163"/>
                </a:cubicBezTo>
                <a:lnTo>
                  <a:pt x="61951" y="132163"/>
                </a:lnTo>
                <a:close/>
                <a:moveTo>
                  <a:pt x="61951" y="181724"/>
                </a:moveTo>
                <a:cubicBezTo>
                  <a:pt x="55085" y="181724"/>
                  <a:pt x="49561" y="187248"/>
                  <a:pt x="49561" y="194114"/>
                </a:cubicBezTo>
                <a:cubicBezTo>
                  <a:pt x="49561" y="200980"/>
                  <a:pt x="55085" y="206504"/>
                  <a:pt x="61951" y="206504"/>
                </a:cubicBezTo>
                <a:lnTo>
                  <a:pt x="136293" y="206504"/>
                </a:lnTo>
                <a:cubicBezTo>
                  <a:pt x="143159" y="206504"/>
                  <a:pt x="148683" y="200980"/>
                  <a:pt x="148683" y="194114"/>
                </a:cubicBezTo>
                <a:cubicBezTo>
                  <a:pt x="148683" y="187248"/>
                  <a:pt x="143159" y="181724"/>
                  <a:pt x="136293" y="181724"/>
                </a:cubicBezTo>
                <a:lnTo>
                  <a:pt x="61951" y="181724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1220" y="4295285"/>
            <a:ext cx="6938537" cy="35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1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EditLog</a:t>
            </a:r>
            <a:r>
              <a:rPr lang="en-US" sz="2081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:增量日志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813" y="4779881"/>
            <a:ext cx="722488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记录所有元数据变更操作的增量日志,如创建文件、删除文件、修改权限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0813" y="5198396"/>
            <a:ext cx="722488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保证元数据变更的持久性,支持故障恢复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0813" y="5616911"/>
            <a:ext cx="7136780" cy="550678"/>
          </a:xfrm>
          <a:custGeom>
            <a:avLst/>
            <a:gdLst/>
            <a:ahLst/>
            <a:cxnLst/>
            <a:rect l="l" t="t" r="r" b="b"/>
            <a:pathLst>
              <a:path w="7136780" h="550678">
                <a:moveTo>
                  <a:pt x="44054" y="0"/>
                </a:moveTo>
                <a:lnTo>
                  <a:pt x="7092726" y="0"/>
                </a:lnTo>
                <a:cubicBezTo>
                  <a:pt x="7117057" y="0"/>
                  <a:pt x="7136780" y="19724"/>
                  <a:pt x="7136780" y="44054"/>
                </a:cubicBezTo>
                <a:lnTo>
                  <a:pt x="7136780" y="506623"/>
                </a:lnTo>
                <a:cubicBezTo>
                  <a:pt x="7136780" y="530954"/>
                  <a:pt x="7117057" y="550678"/>
                  <a:pt x="7092726" y="550678"/>
                </a:cubicBez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2976" y="5749073"/>
            <a:ext cx="6960564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恢复机制: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启动时加载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FSImage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,重放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EditLog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恢复到最新状态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35640" y="1519870"/>
            <a:ext cx="7577322" cy="3348119"/>
          </a:xfrm>
          <a:custGeom>
            <a:avLst/>
            <a:gdLst/>
            <a:ahLst/>
            <a:cxnLst/>
            <a:rect l="l" t="t" r="r" b="b"/>
            <a:pathLst>
              <a:path w="7577322" h="3348119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3259997"/>
                </a:lnTo>
                <a:cubicBezTo>
                  <a:pt x="7577322" y="3308665"/>
                  <a:pt x="7537869" y="3348119"/>
                  <a:pt x="7489200" y="3348119"/>
                </a:cubicBezTo>
                <a:lnTo>
                  <a:pt x="88122" y="3348119"/>
                </a:lnTo>
                <a:cubicBezTo>
                  <a:pt x="39454" y="3348119"/>
                  <a:pt x="0" y="3308665"/>
                  <a:pt x="0" y="3259997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35640" y="1519870"/>
            <a:ext cx="7577322" cy="44054"/>
          </a:xfrm>
          <a:custGeom>
            <a:avLst/>
            <a:gdLst/>
            <a:ahLst/>
            <a:cxnLst/>
            <a:rect l="l" t="t" r="r" b="b"/>
            <a:pathLst>
              <a:path w="7577322" h="44054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44054"/>
                </a:lnTo>
                <a:lnTo>
                  <a:pt x="0" y="44054"/>
                </a:ln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21993" y="1806222"/>
            <a:ext cx="198244" cy="264325"/>
          </a:xfrm>
          <a:custGeom>
            <a:avLst/>
            <a:gdLst/>
            <a:ahLst/>
            <a:cxnLst/>
            <a:rect l="l" t="t" r="r" b="b"/>
            <a:pathLst>
              <a:path w="198244" h="264325">
                <a:moveTo>
                  <a:pt x="0" y="97367"/>
                </a:moveTo>
                <a:cubicBezTo>
                  <a:pt x="0" y="43572"/>
                  <a:pt x="44398" y="0"/>
                  <a:pt x="99122" y="0"/>
                </a:cubicBezTo>
                <a:cubicBezTo>
                  <a:pt x="153846" y="0"/>
                  <a:pt x="198244" y="43572"/>
                  <a:pt x="198244" y="97367"/>
                </a:cubicBezTo>
                <a:cubicBezTo>
                  <a:pt x="198244" y="158957"/>
                  <a:pt x="136189" y="232782"/>
                  <a:pt x="110273" y="260918"/>
                </a:cubicBezTo>
                <a:cubicBezTo>
                  <a:pt x="104181" y="267526"/>
                  <a:pt x="94011" y="267526"/>
                  <a:pt x="87919" y="260918"/>
                </a:cubicBezTo>
                <a:cubicBezTo>
                  <a:pt x="62003" y="232782"/>
                  <a:pt x="-52" y="158957"/>
                  <a:pt x="-52" y="97367"/>
                </a:cubicBezTo>
                <a:close/>
                <a:moveTo>
                  <a:pt x="99122" y="132163"/>
                </a:moveTo>
                <a:cubicBezTo>
                  <a:pt x="117358" y="132163"/>
                  <a:pt x="132163" y="117358"/>
                  <a:pt x="132163" y="99122"/>
                </a:cubicBezTo>
                <a:cubicBezTo>
                  <a:pt x="132163" y="80886"/>
                  <a:pt x="117358" y="66081"/>
                  <a:pt x="99122" y="66081"/>
                </a:cubicBezTo>
                <a:cubicBezTo>
                  <a:pt x="80886" y="66081"/>
                  <a:pt x="66081" y="80886"/>
                  <a:pt x="66081" y="99122"/>
                </a:cubicBezTo>
                <a:cubicBezTo>
                  <a:pt x="66081" y="117358"/>
                  <a:pt x="80886" y="132163"/>
                  <a:pt x="99122" y="132163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86318" y="1762168"/>
            <a:ext cx="6938537" cy="35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208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位置信息的特殊处理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77938" y="2246764"/>
            <a:ext cx="7114753" cy="550678"/>
          </a:xfrm>
          <a:custGeom>
            <a:avLst/>
            <a:gdLst/>
            <a:ahLst/>
            <a:cxnLst/>
            <a:rect l="l" t="t" r="r" b="b"/>
            <a:pathLst>
              <a:path w="7114753" h="550678">
                <a:moveTo>
                  <a:pt x="44054" y="0"/>
                </a:moveTo>
                <a:lnTo>
                  <a:pt x="7070699" y="0"/>
                </a:lnTo>
                <a:cubicBezTo>
                  <a:pt x="7095030" y="0"/>
                  <a:pt x="7114753" y="19724"/>
                  <a:pt x="7114753" y="44054"/>
                </a:cubicBezTo>
                <a:lnTo>
                  <a:pt x="7114753" y="506623"/>
                </a:lnTo>
                <a:cubicBezTo>
                  <a:pt x="7114753" y="530954"/>
                  <a:pt x="7095030" y="550678"/>
                  <a:pt x="7070699" y="550678"/>
                </a:cubicBez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77938" y="2246764"/>
            <a:ext cx="44054" cy="550678"/>
          </a:xfrm>
          <a:custGeom>
            <a:avLst/>
            <a:gdLst/>
            <a:ahLst/>
            <a:cxnLst/>
            <a:rect l="l" t="t" r="r" b="b"/>
            <a:pathLst>
              <a:path w="44054" h="550678">
                <a:moveTo>
                  <a:pt x="44054" y="0"/>
                </a:moveTo>
                <a:lnTo>
                  <a:pt x="44054" y="0"/>
                </a:lnTo>
                <a:lnTo>
                  <a:pt x="44054" y="550678"/>
                </a:ln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32128" y="2378927"/>
            <a:ext cx="691650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关键设计: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的位置信息(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Location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highlight>
                  <a:srgbClr val="F2C55C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不持久化到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highlight>
                  <a:srgbClr val="F2C55C">
                    <a:alpha val="2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FSImage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55911" y="2929604"/>
            <a:ext cx="722488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原因: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位置动态变化,持久化会导致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EditLog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急剧膨胀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55911" y="3304065"/>
            <a:ext cx="722488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维护方式: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启动时上报并动态维护在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内存中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55911" y="3678526"/>
            <a:ext cx="722488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上报频率: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通过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 Report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定期上报(默认6小时)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477938" y="4097041"/>
            <a:ext cx="7114753" cy="550678"/>
          </a:xfrm>
          <a:custGeom>
            <a:avLst/>
            <a:gdLst/>
            <a:ahLst/>
            <a:cxnLst/>
            <a:rect l="l" t="t" r="r" b="b"/>
            <a:pathLst>
              <a:path w="7114753" h="550678">
                <a:moveTo>
                  <a:pt x="44054" y="0"/>
                </a:moveTo>
                <a:lnTo>
                  <a:pt x="7070699" y="0"/>
                </a:lnTo>
                <a:cubicBezTo>
                  <a:pt x="7095030" y="0"/>
                  <a:pt x="7114753" y="19724"/>
                  <a:pt x="7114753" y="44054"/>
                </a:cubicBezTo>
                <a:lnTo>
                  <a:pt x="7114753" y="506623"/>
                </a:lnTo>
                <a:cubicBezTo>
                  <a:pt x="7114753" y="530954"/>
                  <a:pt x="7095030" y="550678"/>
                  <a:pt x="7070699" y="550678"/>
                </a:cubicBez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77938" y="4097041"/>
            <a:ext cx="44054" cy="550678"/>
          </a:xfrm>
          <a:custGeom>
            <a:avLst/>
            <a:gdLst/>
            <a:ahLst/>
            <a:cxnLst/>
            <a:rect l="l" t="t" r="r" b="b"/>
            <a:pathLst>
              <a:path w="44054" h="550678">
                <a:moveTo>
                  <a:pt x="44054" y="0"/>
                </a:moveTo>
                <a:lnTo>
                  <a:pt x="44054" y="0"/>
                </a:lnTo>
                <a:lnTo>
                  <a:pt x="44054" y="550678"/>
                </a:ln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32128" y="4229203"/>
            <a:ext cx="6916509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考点: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题干说"FSImage包含所有Block位置"通常是错误的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235640" y="5066233"/>
            <a:ext cx="7577322" cy="3348119"/>
          </a:xfrm>
          <a:custGeom>
            <a:avLst/>
            <a:gdLst/>
            <a:ahLst/>
            <a:cxnLst/>
            <a:rect l="l" t="t" r="r" b="b"/>
            <a:pathLst>
              <a:path w="7577322" h="3348119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3259997"/>
                </a:lnTo>
                <a:cubicBezTo>
                  <a:pt x="7577322" y="3308665"/>
                  <a:pt x="7537869" y="3348119"/>
                  <a:pt x="7489200" y="3348119"/>
                </a:cubicBezTo>
                <a:lnTo>
                  <a:pt x="88122" y="3348119"/>
                </a:lnTo>
                <a:cubicBezTo>
                  <a:pt x="39454" y="3348119"/>
                  <a:pt x="0" y="3308665"/>
                  <a:pt x="0" y="3259997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35640" y="5066233"/>
            <a:ext cx="7577322" cy="44054"/>
          </a:xfrm>
          <a:custGeom>
            <a:avLst/>
            <a:gdLst/>
            <a:ahLst/>
            <a:cxnLst/>
            <a:rect l="l" t="t" r="r" b="b"/>
            <a:pathLst>
              <a:path w="7577322" h="44054">
                <a:moveTo>
                  <a:pt x="44054" y="0"/>
                </a:moveTo>
                <a:lnTo>
                  <a:pt x="7533268" y="0"/>
                </a:lnTo>
                <a:cubicBezTo>
                  <a:pt x="7557599" y="0"/>
                  <a:pt x="7577322" y="19724"/>
                  <a:pt x="7577322" y="44054"/>
                </a:cubicBezTo>
                <a:lnTo>
                  <a:pt x="7577322" y="44054"/>
                </a:lnTo>
                <a:lnTo>
                  <a:pt x="0" y="44054"/>
                </a:ln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488952" y="5352585"/>
            <a:ext cx="264325" cy="264325"/>
          </a:xfrm>
          <a:custGeom>
            <a:avLst/>
            <a:gdLst/>
            <a:ahLst/>
            <a:cxnLst/>
            <a:rect l="l" t="t" r="r" b="b"/>
            <a:pathLst>
              <a:path w="264325" h="264325">
                <a:moveTo>
                  <a:pt x="132163" y="0"/>
                </a:moveTo>
                <a:cubicBezTo>
                  <a:pt x="134537" y="0"/>
                  <a:pt x="136912" y="516"/>
                  <a:pt x="139080" y="1497"/>
                </a:cubicBezTo>
                <a:lnTo>
                  <a:pt x="236344" y="42746"/>
                </a:lnTo>
                <a:cubicBezTo>
                  <a:pt x="247702" y="47548"/>
                  <a:pt x="256168" y="58750"/>
                  <a:pt x="256117" y="72276"/>
                </a:cubicBezTo>
                <a:cubicBezTo>
                  <a:pt x="255859" y="123489"/>
                  <a:pt x="234795" y="217191"/>
                  <a:pt x="145843" y="259782"/>
                </a:cubicBezTo>
                <a:cubicBezTo>
                  <a:pt x="137222" y="263912"/>
                  <a:pt x="127207" y="263912"/>
                  <a:pt x="118585" y="259782"/>
                </a:cubicBezTo>
                <a:cubicBezTo>
                  <a:pt x="29582" y="217191"/>
                  <a:pt x="8570" y="123489"/>
                  <a:pt x="8312" y="72276"/>
                </a:cubicBezTo>
                <a:cubicBezTo>
                  <a:pt x="8260" y="58750"/>
                  <a:pt x="16727" y="47548"/>
                  <a:pt x="28085" y="42746"/>
                </a:cubicBezTo>
                <a:lnTo>
                  <a:pt x="125296" y="1497"/>
                </a:lnTo>
                <a:cubicBezTo>
                  <a:pt x="127465" y="516"/>
                  <a:pt x="129788" y="0"/>
                  <a:pt x="132163" y="0"/>
                </a:cubicBezTo>
                <a:close/>
                <a:moveTo>
                  <a:pt x="132163" y="34486"/>
                </a:moveTo>
                <a:lnTo>
                  <a:pt x="132163" y="229684"/>
                </a:lnTo>
                <a:cubicBezTo>
                  <a:pt x="203407" y="195198"/>
                  <a:pt x="222560" y="118791"/>
                  <a:pt x="223024" y="73051"/>
                </a:cubicBezTo>
                <a:lnTo>
                  <a:pt x="132163" y="34538"/>
                </a:lnTo>
                <a:lnTo>
                  <a:pt x="132163" y="34538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786318" y="5308531"/>
            <a:ext cx="6938537" cy="35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安全模式(</a:t>
            </a:r>
            <a:r>
              <a:rPr lang="en-US" sz="208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Safe Mode</a:t>
            </a:r>
            <a:r>
              <a:rPr lang="en-US" sz="208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455911" y="5793127"/>
            <a:ext cx="7136780" cy="550678"/>
          </a:xfrm>
          <a:custGeom>
            <a:avLst/>
            <a:gdLst/>
            <a:ahLst/>
            <a:cxnLst/>
            <a:rect l="l" t="t" r="r" b="b"/>
            <a:pathLst>
              <a:path w="7136780" h="550678">
                <a:moveTo>
                  <a:pt x="44054" y="0"/>
                </a:moveTo>
                <a:lnTo>
                  <a:pt x="7092726" y="0"/>
                </a:lnTo>
                <a:cubicBezTo>
                  <a:pt x="7117057" y="0"/>
                  <a:pt x="7136780" y="19724"/>
                  <a:pt x="7136780" y="44054"/>
                </a:cubicBezTo>
                <a:lnTo>
                  <a:pt x="7136780" y="506623"/>
                </a:lnTo>
                <a:cubicBezTo>
                  <a:pt x="7136780" y="530954"/>
                  <a:pt x="7117057" y="550678"/>
                  <a:pt x="7092726" y="550678"/>
                </a:cubicBez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588074" y="5925290"/>
            <a:ext cx="6960564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启动时的保护状态,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highlight>
                  <a:srgbClr val="F2C55C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只读不写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455911" y="6475967"/>
            <a:ext cx="7136780" cy="550678"/>
          </a:xfrm>
          <a:custGeom>
            <a:avLst/>
            <a:gdLst/>
            <a:ahLst/>
            <a:cxnLst/>
            <a:rect l="l" t="t" r="r" b="b"/>
            <a:pathLst>
              <a:path w="7136780" h="550678">
                <a:moveTo>
                  <a:pt x="44054" y="0"/>
                </a:moveTo>
                <a:lnTo>
                  <a:pt x="7092726" y="0"/>
                </a:lnTo>
                <a:cubicBezTo>
                  <a:pt x="7117057" y="0"/>
                  <a:pt x="7136780" y="19724"/>
                  <a:pt x="7136780" y="44054"/>
                </a:cubicBezTo>
                <a:lnTo>
                  <a:pt x="7136780" y="506623"/>
                </a:lnTo>
                <a:cubicBezTo>
                  <a:pt x="7136780" y="530954"/>
                  <a:pt x="7117057" y="550678"/>
                  <a:pt x="7092726" y="550678"/>
                </a:cubicBezTo>
                <a:lnTo>
                  <a:pt x="44054" y="550678"/>
                </a:lnTo>
                <a:cubicBezTo>
                  <a:pt x="19724" y="550678"/>
                  <a:pt x="0" y="530954"/>
                  <a:pt x="0" y="506623"/>
                </a:cubicBezTo>
                <a:lnTo>
                  <a:pt x="0" y="44054"/>
                </a:lnTo>
                <a:cubicBezTo>
                  <a:pt x="0" y="19740"/>
                  <a:pt x="19740" y="0"/>
                  <a:pt x="44054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588074" y="6608130"/>
            <a:ext cx="6960564" cy="28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目的: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等待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上报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信息,直到满足"最小副本率"等阈值后自动退出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55911" y="7186341"/>
            <a:ext cx="83565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触发条件: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55911" y="7489214"/>
            <a:ext cx="3524336" cy="308379"/>
          </a:xfrm>
          <a:custGeom>
            <a:avLst/>
            <a:gdLst/>
            <a:ahLst/>
            <a:cxnLst/>
            <a:rect l="l" t="t" r="r" b="b"/>
            <a:pathLst>
              <a:path w="3524336" h="308379">
                <a:moveTo>
                  <a:pt x="44055" y="0"/>
                </a:moveTo>
                <a:lnTo>
                  <a:pt x="3480281" y="0"/>
                </a:lnTo>
                <a:cubicBezTo>
                  <a:pt x="3504612" y="0"/>
                  <a:pt x="3524336" y="19724"/>
                  <a:pt x="3524336" y="44055"/>
                </a:cubicBezTo>
                <a:lnTo>
                  <a:pt x="3524336" y="264324"/>
                </a:lnTo>
                <a:cubicBezTo>
                  <a:pt x="3524336" y="288655"/>
                  <a:pt x="3504612" y="308379"/>
                  <a:pt x="3480281" y="308379"/>
                </a:cubicBezTo>
                <a:lnTo>
                  <a:pt x="44055" y="308379"/>
                </a:lnTo>
                <a:cubicBezTo>
                  <a:pt x="19740" y="308379"/>
                  <a:pt x="0" y="288639"/>
                  <a:pt x="0" y="264324"/>
                </a:cubicBezTo>
                <a:lnTo>
                  <a:pt x="0" y="44055"/>
                </a:lnTo>
                <a:cubicBezTo>
                  <a:pt x="0" y="19740"/>
                  <a:pt x="19740" y="0"/>
                  <a:pt x="4405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55911" y="7489214"/>
            <a:ext cx="3601431" cy="308379"/>
          </a:xfrm>
          <a:prstGeom prst="rect">
            <a:avLst/>
          </a:prstGeom>
          <a:noFill/>
          <a:ln/>
        </p:spPr>
        <p:txBody>
          <a:bodyPr wrap="square" lIns="44054" tIns="44054" rIns="44054" bIns="44054" rtlCol="0" anchor="ctr"/>
          <a:lstStyle/>
          <a:p>
            <a:pPr>
              <a:lnSpc>
                <a:spcPct val="120000"/>
              </a:lnSpc>
            </a:pP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启动时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067151" y="7489214"/>
            <a:ext cx="3524336" cy="308379"/>
          </a:xfrm>
          <a:custGeom>
            <a:avLst/>
            <a:gdLst/>
            <a:ahLst/>
            <a:cxnLst/>
            <a:rect l="l" t="t" r="r" b="b"/>
            <a:pathLst>
              <a:path w="3524336" h="308379">
                <a:moveTo>
                  <a:pt x="44055" y="0"/>
                </a:moveTo>
                <a:lnTo>
                  <a:pt x="3480281" y="0"/>
                </a:lnTo>
                <a:cubicBezTo>
                  <a:pt x="3504612" y="0"/>
                  <a:pt x="3524336" y="19724"/>
                  <a:pt x="3524336" y="44055"/>
                </a:cubicBezTo>
                <a:lnTo>
                  <a:pt x="3524336" y="264324"/>
                </a:lnTo>
                <a:cubicBezTo>
                  <a:pt x="3524336" y="288655"/>
                  <a:pt x="3504612" y="308379"/>
                  <a:pt x="3480281" y="308379"/>
                </a:cubicBezTo>
                <a:lnTo>
                  <a:pt x="44055" y="308379"/>
                </a:lnTo>
                <a:cubicBezTo>
                  <a:pt x="19740" y="308379"/>
                  <a:pt x="0" y="288639"/>
                  <a:pt x="0" y="264324"/>
                </a:cubicBezTo>
                <a:lnTo>
                  <a:pt x="0" y="44055"/>
                </a:lnTo>
                <a:cubicBezTo>
                  <a:pt x="0" y="19740"/>
                  <a:pt x="19740" y="0"/>
                  <a:pt x="4405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067151" y="7489214"/>
            <a:ext cx="3601431" cy="308379"/>
          </a:xfrm>
          <a:prstGeom prst="rect">
            <a:avLst/>
          </a:prstGeom>
          <a:noFill/>
          <a:ln/>
        </p:spPr>
        <p:txBody>
          <a:bodyPr wrap="square" lIns="44054" tIns="44054" rIns="44054" bIns="44054" rtlCol="0" anchor="ctr"/>
          <a:lstStyle/>
          <a:p>
            <a:pPr>
              <a:lnSpc>
                <a:spcPct val="120000"/>
              </a:lnSpc>
            </a:pP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上报率低于阈值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455911" y="7885702"/>
            <a:ext cx="3524336" cy="308379"/>
          </a:xfrm>
          <a:custGeom>
            <a:avLst/>
            <a:gdLst/>
            <a:ahLst/>
            <a:cxnLst/>
            <a:rect l="l" t="t" r="r" b="b"/>
            <a:pathLst>
              <a:path w="3524336" h="308379">
                <a:moveTo>
                  <a:pt x="44055" y="0"/>
                </a:moveTo>
                <a:lnTo>
                  <a:pt x="3480281" y="0"/>
                </a:lnTo>
                <a:cubicBezTo>
                  <a:pt x="3504612" y="0"/>
                  <a:pt x="3524336" y="19724"/>
                  <a:pt x="3524336" y="44055"/>
                </a:cubicBezTo>
                <a:lnTo>
                  <a:pt x="3524336" y="264324"/>
                </a:lnTo>
                <a:cubicBezTo>
                  <a:pt x="3524336" y="288655"/>
                  <a:pt x="3504612" y="308379"/>
                  <a:pt x="3480281" y="308379"/>
                </a:cubicBezTo>
                <a:lnTo>
                  <a:pt x="44055" y="308379"/>
                </a:lnTo>
                <a:cubicBezTo>
                  <a:pt x="19740" y="308379"/>
                  <a:pt x="0" y="288639"/>
                  <a:pt x="0" y="264324"/>
                </a:cubicBezTo>
                <a:lnTo>
                  <a:pt x="0" y="44055"/>
                </a:lnTo>
                <a:cubicBezTo>
                  <a:pt x="0" y="19740"/>
                  <a:pt x="19740" y="0"/>
                  <a:pt x="4405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455911" y="7885702"/>
            <a:ext cx="3601431" cy="308379"/>
          </a:xfrm>
          <a:prstGeom prst="rect">
            <a:avLst/>
          </a:prstGeom>
          <a:noFill/>
          <a:ln/>
        </p:spPr>
        <p:txBody>
          <a:bodyPr wrap="square" lIns="44054" tIns="44054" rIns="44054" bIns="44054" rtlCol="0" anchor="ctr"/>
          <a:lstStyle/>
          <a:p>
            <a:pPr>
              <a:lnSpc>
                <a:spcPct val="120000"/>
              </a:lnSpc>
            </a:pP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存活数过少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2067151" y="7885702"/>
            <a:ext cx="3524336" cy="308379"/>
          </a:xfrm>
          <a:custGeom>
            <a:avLst/>
            <a:gdLst/>
            <a:ahLst/>
            <a:cxnLst/>
            <a:rect l="l" t="t" r="r" b="b"/>
            <a:pathLst>
              <a:path w="3524336" h="308379">
                <a:moveTo>
                  <a:pt x="44055" y="0"/>
                </a:moveTo>
                <a:lnTo>
                  <a:pt x="3480281" y="0"/>
                </a:lnTo>
                <a:cubicBezTo>
                  <a:pt x="3504612" y="0"/>
                  <a:pt x="3524336" y="19724"/>
                  <a:pt x="3524336" y="44055"/>
                </a:cubicBezTo>
                <a:lnTo>
                  <a:pt x="3524336" y="264324"/>
                </a:lnTo>
                <a:cubicBezTo>
                  <a:pt x="3524336" y="288655"/>
                  <a:pt x="3504612" y="308379"/>
                  <a:pt x="3480281" y="308379"/>
                </a:cubicBezTo>
                <a:lnTo>
                  <a:pt x="44055" y="308379"/>
                </a:lnTo>
                <a:cubicBezTo>
                  <a:pt x="19740" y="308379"/>
                  <a:pt x="0" y="288639"/>
                  <a:pt x="0" y="264324"/>
                </a:cubicBezTo>
                <a:lnTo>
                  <a:pt x="0" y="44055"/>
                </a:lnTo>
                <a:cubicBezTo>
                  <a:pt x="0" y="19740"/>
                  <a:pt x="19740" y="0"/>
                  <a:pt x="4405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2067151" y="7885702"/>
            <a:ext cx="3601431" cy="308379"/>
          </a:xfrm>
          <a:prstGeom prst="rect">
            <a:avLst/>
          </a:prstGeom>
          <a:noFill/>
          <a:ln/>
        </p:spPr>
        <p:txBody>
          <a:bodyPr wrap="square" lIns="44054" tIns="44054" rIns="44054" bIns="44054" rtlCol="0" anchor="ctr"/>
          <a:lstStyle/>
          <a:p>
            <a:pPr>
              <a:lnSpc>
                <a:spcPct val="120000"/>
              </a:lnSpc>
            </a:pP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2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磁盘空间不足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51000" cy="406400"/>
          </a:xfrm>
          <a:custGeom>
            <a:avLst/>
            <a:gdLst/>
            <a:ahLst/>
            <a:cxnLst/>
            <a:rect l="l" t="t" r="r" b="b"/>
            <a:pathLst>
              <a:path w="1651000" h="406400">
                <a:moveTo>
                  <a:pt x="0" y="0"/>
                </a:moveTo>
                <a:lnTo>
                  <a:pt x="1651000" y="0"/>
                </a:lnTo>
                <a:lnTo>
                  <a:pt x="1651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1200" y="577850"/>
            <a:ext cx="14244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3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读写流程与性能优化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1727200"/>
            <a:ext cx="7467600" cy="3759200"/>
          </a:xfrm>
          <a:custGeom>
            <a:avLst/>
            <a:gdLst/>
            <a:ahLst/>
            <a:cxnLst/>
            <a:rect l="l" t="t" r="r" b="b"/>
            <a:pathLst>
              <a:path w="7467600" h="3759200">
                <a:moveTo>
                  <a:pt x="50800" y="0"/>
                </a:moveTo>
                <a:lnTo>
                  <a:pt x="7365989" y="0"/>
                </a:lnTo>
                <a:cubicBezTo>
                  <a:pt x="7422107" y="0"/>
                  <a:pt x="7467600" y="45493"/>
                  <a:pt x="7467600" y="101611"/>
                </a:cubicBezTo>
                <a:lnTo>
                  <a:pt x="7467600" y="3657589"/>
                </a:lnTo>
                <a:cubicBezTo>
                  <a:pt x="7467600" y="3713707"/>
                  <a:pt x="7422107" y="3759200"/>
                  <a:pt x="7365989" y="3759200"/>
                </a:cubicBezTo>
                <a:lnTo>
                  <a:pt x="50800" y="3759200"/>
                </a:lnTo>
                <a:cubicBezTo>
                  <a:pt x="22744" y="3759200"/>
                  <a:pt x="0" y="3736456"/>
                  <a:pt x="0" y="370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3400" y="1727200"/>
            <a:ext cx="50800" cy="3759200"/>
          </a:xfrm>
          <a:custGeom>
            <a:avLst/>
            <a:gdLst/>
            <a:ahLst/>
            <a:cxnLst/>
            <a:rect l="l" t="t" r="r" b="b"/>
            <a:pathLst>
              <a:path w="50800" h="3759200">
                <a:moveTo>
                  <a:pt x="50800" y="0"/>
                </a:moveTo>
                <a:lnTo>
                  <a:pt x="50800" y="0"/>
                </a:lnTo>
                <a:lnTo>
                  <a:pt x="50800" y="3759200"/>
                </a:lnTo>
                <a:lnTo>
                  <a:pt x="50800" y="3759200"/>
                </a:lnTo>
                <a:cubicBezTo>
                  <a:pt x="22763" y="3759200"/>
                  <a:pt x="0" y="3736437"/>
                  <a:pt x="0" y="370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50900" y="203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84118"/>
                </a:moveTo>
                <a:lnTo>
                  <a:pt x="152400" y="268248"/>
                </a:lnTo>
                <a:lnTo>
                  <a:pt x="152698" y="268129"/>
                </a:lnTo>
                <a:cubicBezTo>
                  <a:pt x="185202" y="254615"/>
                  <a:pt x="220087" y="247650"/>
                  <a:pt x="255270" y="247650"/>
                </a:cubicBezTo>
                <a:lnTo>
                  <a:pt x="266700" y="247650"/>
                </a:lnTo>
                <a:lnTo>
                  <a:pt x="266700" y="57150"/>
                </a:lnTo>
                <a:lnTo>
                  <a:pt x="255270" y="57150"/>
                </a:lnTo>
                <a:cubicBezTo>
                  <a:pt x="230148" y="57150"/>
                  <a:pt x="205204" y="62151"/>
                  <a:pt x="181987" y="71795"/>
                </a:cubicBezTo>
                <a:cubicBezTo>
                  <a:pt x="171986" y="75962"/>
                  <a:pt x="162104" y="80070"/>
                  <a:pt x="152400" y="84118"/>
                </a:cubicBezTo>
                <a:close/>
                <a:moveTo>
                  <a:pt x="137458" y="36612"/>
                </a:moveTo>
                <a:lnTo>
                  <a:pt x="152400" y="42863"/>
                </a:lnTo>
                <a:lnTo>
                  <a:pt x="167342" y="36612"/>
                </a:lnTo>
                <a:cubicBezTo>
                  <a:pt x="195203" y="25003"/>
                  <a:pt x="225088" y="19050"/>
                  <a:pt x="255270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257175"/>
                </a:lnTo>
                <a:cubicBezTo>
                  <a:pt x="304800" y="272951"/>
                  <a:pt x="292001" y="285750"/>
                  <a:pt x="276225" y="285750"/>
                </a:cubicBezTo>
                <a:lnTo>
                  <a:pt x="255270" y="285750"/>
                </a:lnTo>
                <a:cubicBezTo>
                  <a:pt x="225088" y="285750"/>
                  <a:pt x="195203" y="291703"/>
                  <a:pt x="167342" y="303312"/>
                </a:cubicBezTo>
                <a:lnTo>
                  <a:pt x="159722" y="306467"/>
                </a:lnTo>
                <a:cubicBezTo>
                  <a:pt x="155019" y="308431"/>
                  <a:pt x="149781" y="308431"/>
                  <a:pt x="145078" y="306467"/>
                </a:cubicBezTo>
                <a:lnTo>
                  <a:pt x="137458" y="303312"/>
                </a:lnTo>
                <a:cubicBezTo>
                  <a:pt x="109597" y="291703"/>
                  <a:pt x="79712" y="285750"/>
                  <a:pt x="49530" y="285750"/>
                </a:cubicBezTo>
                <a:lnTo>
                  <a:pt x="28575" y="285750"/>
                </a:lnTo>
                <a:cubicBezTo>
                  <a:pt x="12799" y="285750"/>
                  <a:pt x="0" y="272951"/>
                  <a:pt x="0" y="257175"/>
                </a:cubicBezTo>
                <a:lnTo>
                  <a:pt x="0" y="47625"/>
                </a:lnTo>
                <a:cubicBezTo>
                  <a:pt x="0" y="31849"/>
                  <a:pt x="12799" y="19050"/>
                  <a:pt x="28575" y="19050"/>
                </a:cubicBezTo>
                <a:lnTo>
                  <a:pt x="49530" y="19050"/>
                </a:lnTo>
                <a:cubicBezTo>
                  <a:pt x="79712" y="19050"/>
                  <a:pt x="109597" y="25003"/>
                  <a:pt x="137458" y="3661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93800" y="1981200"/>
            <a:ext cx="670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读流程:</a:t>
            </a:r>
            <a:r>
              <a:rPr lang="en-US" sz="2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</a:t>
            </a: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→ </a:t>
            </a:r>
            <a:r>
              <a:rPr lang="en-US" sz="2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→ </a:t>
            </a:r>
            <a:r>
              <a:rPr lang="en-US" sz="2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8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8350" y="2540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71600" y="2559050"/>
            <a:ext cx="2098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请求</a:t>
            </a: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371600" y="2844800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客户端发起读请求,指定文件路径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2800" y="325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350" y="32512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" y="3270250"/>
            <a:ext cx="24730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返回</a:t>
            </a: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位置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71600" y="3556000"/>
            <a:ext cx="612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查询元数据,返回文件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列表及每个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列表(按距离排序)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2800" y="396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350" y="39624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71600" y="3981450"/>
            <a:ext cx="2395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直连</a:t>
            </a: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读取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" y="42672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客户端选择最近的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建立连接,顺序读取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12800" y="467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350" y="46736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71600" y="46926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故障切换与校验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71600" y="4978400"/>
            <a:ext cx="542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如果DN故障,客户端自动切换到其他副本;读取完成后校验数据完整性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80400" y="1727200"/>
            <a:ext cx="7467600" cy="3759200"/>
          </a:xfrm>
          <a:custGeom>
            <a:avLst/>
            <a:gdLst/>
            <a:ahLst/>
            <a:cxnLst/>
            <a:rect l="l" t="t" r="r" b="b"/>
            <a:pathLst>
              <a:path w="7467600" h="3759200">
                <a:moveTo>
                  <a:pt x="50800" y="0"/>
                </a:moveTo>
                <a:lnTo>
                  <a:pt x="7365989" y="0"/>
                </a:lnTo>
                <a:cubicBezTo>
                  <a:pt x="7422107" y="0"/>
                  <a:pt x="7467600" y="45493"/>
                  <a:pt x="7467600" y="101611"/>
                </a:cubicBezTo>
                <a:lnTo>
                  <a:pt x="7467600" y="3657589"/>
                </a:lnTo>
                <a:cubicBezTo>
                  <a:pt x="7467600" y="3713707"/>
                  <a:pt x="7422107" y="3759200"/>
                  <a:pt x="7365989" y="3759200"/>
                </a:cubicBezTo>
                <a:lnTo>
                  <a:pt x="50800" y="3759200"/>
                </a:lnTo>
                <a:cubicBezTo>
                  <a:pt x="22744" y="3759200"/>
                  <a:pt x="0" y="3736456"/>
                  <a:pt x="0" y="370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80400" y="1727200"/>
            <a:ext cx="50800" cy="3759200"/>
          </a:xfrm>
          <a:custGeom>
            <a:avLst/>
            <a:gdLst/>
            <a:ahLst/>
            <a:cxnLst/>
            <a:rect l="l" t="t" r="r" b="b"/>
            <a:pathLst>
              <a:path w="50800" h="3759200">
                <a:moveTo>
                  <a:pt x="50800" y="0"/>
                </a:moveTo>
                <a:lnTo>
                  <a:pt x="50800" y="0"/>
                </a:lnTo>
                <a:lnTo>
                  <a:pt x="50800" y="3759200"/>
                </a:lnTo>
                <a:lnTo>
                  <a:pt x="50800" y="3759200"/>
                </a:lnTo>
                <a:cubicBezTo>
                  <a:pt x="22763" y="3759200"/>
                  <a:pt x="0" y="3736437"/>
                  <a:pt x="0" y="370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636000" y="2032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124420" y="156567"/>
                </a:moveTo>
                <a:cubicBezTo>
                  <a:pt x="118824" y="150971"/>
                  <a:pt x="109776" y="150971"/>
                  <a:pt x="104239" y="156567"/>
                </a:cubicBezTo>
                <a:lnTo>
                  <a:pt x="66139" y="194667"/>
                </a:lnTo>
                <a:cubicBezTo>
                  <a:pt x="60543" y="200263"/>
                  <a:pt x="60543" y="209312"/>
                  <a:pt x="66139" y="214848"/>
                </a:cubicBezTo>
                <a:cubicBezTo>
                  <a:pt x="71735" y="220385"/>
                  <a:pt x="80784" y="220444"/>
                  <a:pt x="86320" y="214848"/>
                </a:cubicBezTo>
                <a:lnTo>
                  <a:pt x="100013" y="201156"/>
                </a:lnTo>
                <a:lnTo>
                  <a:pt x="100013" y="252413"/>
                </a:lnTo>
                <a:cubicBezTo>
                  <a:pt x="100013" y="260330"/>
                  <a:pt x="106382" y="266700"/>
                  <a:pt x="114300" y="266700"/>
                </a:cubicBezTo>
                <a:cubicBezTo>
                  <a:pt x="122218" y="266700"/>
                  <a:pt x="128588" y="260330"/>
                  <a:pt x="128588" y="252413"/>
                </a:cubicBezTo>
                <a:lnTo>
                  <a:pt x="128588" y="201156"/>
                </a:lnTo>
                <a:lnTo>
                  <a:pt x="142280" y="214848"/>
                </a:lnTo>
                <a:cubicBezTo>
                  <a:pt x="147876" y="220444"/>
                  <a:pt x="156924" y="220444"/>
                  <a:pt x="162461" y="214848"/>
                </a:cubicBezTo>
                <a:cubicBezTo>
                  <a:pt x="167997" y="209252"/>
                  <a:pt x="168057" y="200204"/>
                  <a:pt x="162461" y="194667"/>
                </a:cubicBezTo>
                <a:lnTo>
                  <a:pt x="124361" y="156567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40800" y="1981200"/>
            <a:ext cx="670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写流程:Client → NameNode → Pipeline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59800" y="254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15350" y="25400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18600" y="2559050"/>
            <a:ext cx="2911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请求</a:t>
            </a: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创建文件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18600" y="2844800"/>
            <a:ext cx="552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NN检查权限与文件是否存在,返回可以写入的DataNode列表(Pipeline)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559800" y="325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15350" y="32512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118600" y="3270250"/>
            <a:ext cx="12466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建立</a:t>
            </a: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Pipeline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118600" y="35560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客户端与DN建立数据流管道,数据按Packet(默认64KB)写入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559800" y="396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15350" y="39624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118600" y="3981450"/>
            <a:ext cx="18562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Pipeline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写入与复制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118600" y="42672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Client→DN1→DN2→DN3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逐级写入,每个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Packet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转发给下一个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559800" y="467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515350" y="46736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18600" y="4692650"/>
            <a:ext cx="1460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Ack</a:t>
            </a: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确认与完成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118600" y="4978400"/>
            <a:ext cx="499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DN3→DN2→DN1→Client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逐级返回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Ack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,所有副本写完才算成功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14350" y="5695950"/>
            <a:ext cx="4927600" cy="1993900"/>
          </a:xfrm>
          <a:custGeom>
            <a:avLst/>
            <a:gdLst/>
            <a:ahLst/>
            <a:cxnLst/>
            <a:rect l="l" t="t" r="r" b="b"/>
            <a:pathLst>
              <a:path w="4927600" h="1993900">
                <a:moveTo>
                  <a:pt x="101609" y="0"/>
                </a:moveTo>
                <a:lnTo>
                  <a:pt x="4825991" y="0"/>
                </a:lnTo>
                <a:cubicBezTo>
                  <a:pt x="4882108" y="0"/>
                  <a:pt x="4927600" y="45492"/>
                  <a:pt x="4927600" y="101609"/>
                </a:cubicBezTo>
                <a:lnTo>
                  <a:pt x="4927600" y="1892291"/>
                </a:lnTo>
                <a:cubicBezTo>
                  <a:pt x="4927600" y="1948408"/>
                  <a:pt x="4882108" y="1993900"/>
                  <a:pt x="4825991" y="1993900"/>
                </a:cubicBezTo>
                <a:lnTo>
                  <a:pt x="101609" y="1993900"/>
                </a:lnTo>
                <a:cubicBezTo>
                  <a:pt x="45492" y="1993900"/>
                  <a:pt x="0" y="1948408"/>
                  <a:pt x="0" y="18922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55650" y="596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16000" y="5905500"/>
            <a:ext cx="433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控制流 vs 数据流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23900" y="6362700"/>
            <a:ext cx="4610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先问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拿地址(控制流),再找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传数据(数据流)。读写流程的关键在于区分这两种流的分离。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662017" y="5695950"/>
            <a:ext cx="4927600" cy="1993900"/>
          </a:xfrm>
          <a:custGeom>
            <a:avLst/>
            <a:gdLst/>
            <a:ahLst/>
            <a:cxnLst/>
            <a:rect l="l" t="t" r="r" b="b"/>
            <a:pathLst>
              <a:path w="4927600" h="1993900">
                <a:moveTo>
                  <a:pt x="101609" y="0"/>
                </a:moveTo>
                <a:lnTo>
                  <a:pt x="4825991" y="0"/>
                </a:lnTo>
                <a:cubicBezTo>
                  <a:pt x="4882108" y="0"/>
                  <a:pt x="4927600" y="45492"/>
                  <a:pt x="4927600" y="101609"/>
                </a:cubicBezTo>
                <a:lnTo>
                  <a:pt x="4927600" y="1892291"/>
                </a:lnTo>
                <a:cubicBezTo>
                  <a:pt x="4927600" y="1948408"/>
                  <a:pt x="4882108" y="1993900"/>
                  <a:pt x="4825991" y="1993900"/>
                </a:cubicBezTo>
                <a:lnTo>
                  <a:pt x="101609" y="1993900"/>
                </a:lnTo>
                <a:cubicBezTo>
                  <a:pt x="45492" y="1993900"/>
                  <a:pt x="0" y="1948408"/>
                  <a:pt x="0" y="18922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889030" y="5969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163667" y="5905500"/>
            <a:ext cx="433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Pipeline</a:t>
            </a: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机制优势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871567" y="6362700"/>
            <a:ext cx="4610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利用网络带宽并行传输,减少总写入时间;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Ack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逆序返回,确保强一致性。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809784" y="5695950"/>
            <a:ext cx="4927600" cy="1993900"/>
          </a:xfrm>
          <a:custGeom>
            <a:avLst/>
            <a:gdLst/>
            <a:ahLst/>
            <a:cxnLst/>
            <a:rect l="l" t="t" r="r" b="b"/>
            <a:pathLst>
              <a:path w="4927600" h="1993900">
                <a:moveTo>
                  <a:pt x="101609" y="0"/>
                </a:moveTo>
                <a:lnTo>
                  <a:pt x="4825991" y="0"/>
                </a:lnTo>
                <a:cubicBezTo>
                  <a:pt x="4882108" y="0"/>
                  <a:pt x="4927600" y="45492"/>
                  <a:pt x="4927600" y="101609"/>
                </a:cubicBezTo>
                <a:lnTo>
                  <a:pt x="4927600" y="1892291"/>
                </a:lnTo>
                <a:cubicBezTo>
                  <a:pt x="4927600" y="1948408"/>
                  <a:pt x="4882108" y="1993900"/>
                  <a:pt x="4825991" y="1993900"/>
                </a:cubicBezTo>
                <a:lnTo>
                  <a:pt x="101609" y="1993900"/>
                </a:lnTo>
                <a:cubicBezTo>
                  <a:pt x="45492" y="1993900"/>
                  <a:pt x="0" y="1948408"/>
                  <a:pt x="0" y="1892291"/>
                </a:cubicBezTo>
                <a:lnTo>
                  <a:pt x="0" y="101609"/>
                </a:lnTo>
                <a:cubicBezTo>
                  <a:pt x="0" y="45492"/>
                  <a:pt x="45492" y="0"/>
                  <a:pt x="10160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1079659" y="5969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1311434" y="5905500"/>
            <a:ext cx="433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空间占用计算公式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1019334" y="6362700"/>
            <a:ext cx="4508500" cy="558800"/>
          </a:xfrm>
          <a:custGeom>
            <a:avLst/>
            <a:gdLst/>
            <a:ahLst/>
            <a:cxnLst/>
            <a:rect l="l" t="t" r="r" b="b"/>
            <a:pathLst>
              <a:path w="4508500" h="558800">
                <a:moveTo>
                  <a:pt x="50801" y="0"/>
                </a:moveTo>
                <a:lnTo>
                  <a:pt x="4457699" y="0"/>
                </a:lnTo>
                <a:cubicBezTo>
                  <a:pt x="4485756" y="0"/>
                  <a:pt x="4508500" y="22744"/>
                  <a:pt x="4508500" y="50801"/>
                </a:cubicBezTo>
                <a:lnTo>
                  <a:pt x="4508500" y="507999"/>
                </a:lnTo>
                <a:cubicBezTo>
                  <a:pt x="4508500" y="536056"/>
                  <a:pt x="4485756" y="558800"/>
                  <a:pt x="44576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063784" y="6464300"/>
            <a:ext cx="441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8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空间 = 文件大小 × 副本数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019334" y="6972300"/>
            <a:ext cx="459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大小不影响总空间占用,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10MB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文件存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3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副本就是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30MB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54300" cy="609600"/>
          </a:xfrm>
          <a:custGeom>
            <a:avLst/>
            <a:gdLst/>
            <a:ahLst/>
            <a:cxnLst/>
            <a:rect l="l" t="t" r="r" b="b"/>
            <a:pathLst>
              <a:path w="2654300" h="609600">
                <a:moveTo>
                  <a:pt x="0" y="0"/>
                </a:moveTo>
                <a:lnTo>
                  <a:pt x="2654300" y="0"/>
                </a:lnTo>
                <a:lnTo>
                  <a:pt x="26543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6863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5A64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高可用与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扩展能力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掌握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Federation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架构及故障切换机制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75833" cy="338667"/>
          </a:xfrm>
          <a:custGeom>
            <a:avLst/>
            <a:gdLst/>
            <a:ahLst/>
            <a:cxnLst/>
            <a:rect l="l" t="t" r="r" b="b"/>
            <a:pathLst>
              <a:path w="1375833" h="338667">
                <a:moveTo>
                  <a:pt x="0" y="0"/>
                </a:moveTo>
                <a:lnTo>
                  <a:pt x="1375833" y="0"/>
                </a:lnTo>
                <a:lnTo>
                  <a:pt x="1375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8673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04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Federation:</a:t>
            </a: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扩展命名空间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4500" y="1439333"/>
            <a:ext cx="7577667" cy="2730500"/>
          </a:xfrm>
          <a:custGeom>
            <a:avLst/>
            <a:gdLst/>
            <a:ahLst/>
            <a:cxnLst/>
            <a:rect l="l" t="t" r="r" b="b"/>
            <a:pathLst>
              <a:path w="7577667" h="2730500">
                <a:moveTo>
                  <a:pt x="42333" y="0"/>
                </a:moveTo>
                <a:lnTo>
                  <a:pt x="7492994" y="0"/>
                </a:lnTo>
                <a:cubicBezTo>
                  <a:pt x="7539757" y="0"/>
                  <a:pt x="7577667" y="37909"/>
                  <a:pt x="7577667" y="84673"/>
                </a:cubicBezTo>
                <a:lnTo>
                  <a:pt x="7577667" y="2645827"/>
                </a:lnTo>
                <a:cubicBezTo>
                  <a:pt x="7577667" y="2692591"/>
                  <a:pt x="7539757" y="2730500"/>
                  <a:pt x="7492994" y="2730500"/>
                </a:cubicBezTo>
                <a:lnTo>
                  <a:pt x="42333" y="2730500"/>
                </a:lnTo>
                <a:cubicBezTo>
                  <a:pt x="18953" y="2730500"/>
                  <a:pt x="0" y="2711547"/>
                  <a:pt x="0" y="2688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4500" y="1439333"/>
            <a:ext cx="42333" cy="2730500"/>
          </a:xfrm>
          <a:custGeom>
            <a:avLst/>
            <a:gdLst/>
            <a:ahLst/>
            <a:cxnLst/>
            <a:rect l="l" t="t" r="r" b="b"/>
            <a:pathLst>
              <a:path w="42333" h="2730500">
                <a:moveTo>
                  <a:pt x="42333" y="0"/>
                </a:moveTo>
                <a:lnTo>
                  <a:pt x="42333" y="0"/>
                </a:lnTo>
                <a:lnTo>
                  <a:pt x="42333" y="2730500"/>
                </a:lnTo>
                <a:lnTo>
                  <a:pt x="42333" y="2730500"/>
                </a:lnTo>
                <a:cubicBezTo>
                  <a:pt x="18953" y="2730500"/>
                  <a:pt x="0" y="2711547"/>
                  <a:pt x="0" y="2688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24958" y="169333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83344" y="15875"/>
                </a:moveTo>
                <a:lnTo>
                  <a:pt x="11906" y="15875"/>
                </a:lnTo>
                <a:cubicBezTo>
                  <a:pt x="5308" y="15875"/>
                  <a:pt x="0" y="21183"/>
                  <a:pt x="0" y="27781"/>
                </a:cubicBezTo>
                <a:lnTo>
                  <a:pt x="0" y="99219"/>
                </a:lnTo>
                <a:cubicBezTo>
                  <a:pt x="0" y="104031"/>
                  <a:pt x="2877" y="108396"/>
                  <a:pt x="7342" y="110232"/>
                </a:cubicBezTo>
                <a:cubicBezTo>
                  <a:pt x="11807" y="112068"/>
                  <a:pt x="16917" y="111026"/>
                  <a:pt x="20340" y="107652"/>
                </a:cubicBezTo>
                <a:lnTo>
                  <a:pt x="40184" y="87809"/>
                </a:lnTo>
                <a:lnTo>
                  <a:pt x="79375" y="127000"/>
                </a:lnTo>
                <a:lnTo>
                  <a:pt x="40184" y="166191"/>
                </a:lnTo>
                <a:lnTo>
                  <a:pt x="20340" y="146348"/>
                </a:lnTo>
                <a:cubicBezTo>
                  <a:pt x="16917" y="142925"/>
                  <a:pt x="11807" y="141932"/>
                  <a:pt x="7342" y="143768"/>
                </a:cubicBezTo>
                <a:cubicBezTo>
                  <a:pt x="2877" y="145604"/>
                  <a:pt x="0" y="149969"/>
                  <a:pt x="0" y="154781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lnTo>
                  <a:pt x="83344" y="238125"/>
                </a:lnTo>
                <a:cubicBezTo>
                  <a:pt x="88156" y="238125"/>
                  <a:pt x="92521" y="235248"/>
                  <a:pt x="94357" y="230783"/>
                </a:cubicBezTo>
                <a:cubicBezTo>
                  <a:pt x="96193" y="226318"/>
                  <a:pt x="95200" y="221208"/>
                  <a:pt x="91777" y="217785"/>
                </a:cubicBezTo>
                <a:lnTo>
                  <a:pt x="71934" y="197941"/>
                </a:lnTo>
                <a:lnTo>
                  <a:pt x="111125" y="158750"/>
                </a:lnTo>
                <a:lnTo>
                  <a:pt x="150316" y="197941"/>
                </a:lnTo>
                <a:lnTo>
                  <a:pt x="130473" y="217785"/>
                </a:lnTo>
                <a:cubicBezTo>
                  <a:pt x="127050" y="221208"/>
                  <a:pt x="126057" y="226318"/>
                  <a:pt x="127893" y="230783"/>
                </a:cubicBezTo>
                <a:cubicBezTo>
                  <a:pt x="129729" y="235248"/>
                  <a:pt x="134094" y="238125"/>
                  <a:pt x="138906" y="238125"/>
                </a:cubicBezTo>
                <a:lnTo>
                  <a:pt x="210344" y="238125"/>
                </a:lnTo>
                <a:cubicBezTo>
                  <a:pt x="216942" y="238125"/>
                  <a:pt x="222250" y="232817"/>
                  <a:pt x="222250" y="226219"/>
                </a:cubicBezTo>
                <a:lnTo>
                  <a:pt x="222250" y="154781"/>
                </a:lnTo>
                <a:cubicBezTo>
                  <a:pt x="222250" y="149969"/>
                  <a:pt x="219373" y="145604"/>
                  <a:pt x="214908" y="143768"/>
                </a:cubicBezTo>
                <a:cubicBezTo>
                  <a:pt x="210443" y="141932"/>
                  <a:pt x="205333" y="142925"/>
                  <a:pt x="201910" y="146348"/>
                </a:cubicBezTo>
                <a:lnTo>
                  <a:pt x="182066" y="166191"/>
                </a:lnTo>
                <a:lnTo>
                  <a:pt x="142875" y="127000"/>
                </a:lnTo>
                <a:lnTo>
                  <a:pt x="182066" y="87809"/>
                </a:lnTo>
                <a:lnTo>
                  <a:pt x="201910" y="107652"/>
                </a:lnTo>
                <a:cubicBezTo>
                  <a:pt x="205333" y="111075"/>
                  <a:pt x="210443" y="112068"/>
                  <a:pt x="214908" y="110232"/>
                </a:cubicBezTo>
                <a:cubicBezTo>
                  <a:pt x="219373" y="108396"/>
                  <a:pt x="222250" y="104031"/>
                  <a:pt x="222250" y="99219"/>
                </a:cubicBezTo>
                <a:lnTo>
                  <a:pt x="222250" y="27781"/>
                </a:lnTo>
                <a:cubicBezTo>
                  <a:pt x="222250" y="21183"/>
                  <a:pt x="216942" y="15875"/>
                  <a:pt x="210344" y="15875"/>
                </a:cubicBezTo>
                <a:lnTo>
                  <a:pt x="138906" y="15875"/>
                </a:lnTo>
                <a:cubicBezTo>
                  <a:pt x="134094" y="15875"/>
                  <a:pt x="129729" y="18752"/>
                  <a:pt x="127893" y="23217"/>
                </a:cubicBezTo>
                <a:cubicBezTo>
                  <a:pt x="126057" y="27682"/>
                  <a:pt x="127099" y="32792"/>
                  <a:pt x="130473" y="36215"/>
                </a:cubicBezTo>
                <a:lnTo>
                  <a:pt x="150316" y="56059"/>
                </a:lnTo>
                <a:lnTo>
                  <a:pt x="111125" y="95250"/>
                </a:lnTo>
                <a:lnTo>
                  <a:pt x="71934" y="56059"/>
                </a:lnTo>
                <a:lnTo>
                  <a:pt x="91777" y="36215"/>
                </a:lnTo>
                <a:cubicBezTo>
                  <a:pt x="95200" y="32792"/>
                  <a:pt x="96193" y="27682"/>
                  <a:pt x="94357" y="23217"/>
                </a:cubicBezTo>
                <a:cubicBezTo>
                  <a:pt x="92521" y="18752"/>
                  <a:pt x="88156" y="15875"/>
                  <a:pt x="83344" y="15875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4833" y="1651000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单</a:t>
            </a: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的扩展性瓶颈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7333" y="2116667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333" y="2243667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问题: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单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内存受限,无法存储海量文件元数据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7333" y="2772833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333" y="2899833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瓶颈表现: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每个文件/Block占用约150字节元数据,10亿文件需要约150GB内存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7333" y="3429000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333" y="3556000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影响: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限制集群扩展性,无法支持更多文件存储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4500" y="4339167"/>
            <a:ext cx="7577667" cy="2730500"/>
          </a:xfrm>
          <a:custGeom>
            <a:avLst/>
            <a:gdLst/>
            <a:ahLst/>
            <a:cxnLst/>
            <a:rect l="l" t="t" r="r" b="b"/>
            <a:pathLst>
              <a:path w="7577667" h="2730500">
                <a:moveTo>
                  <a:pt x="42333" y="0"/>
                </a:moveTo>
                <a:lnTo>
                  <a:pt x="7492994" y="0"/>
                </a:lnTo>
                <a:cubicBezTo>
                  <a:pt x="7539757" y="0"/>
                  <a:pt x="7577667" y="37909"/>
                  <a:pt x="7577667" y="84673"/>
                </a:cubicBezTo>
                <a:lnTo>
                  <a:pt x="7577667" y="2645827"/>
                </a:lnTo>
                <a:cubicBezTo>
                  <a:pt x="7577667" y="2692591"/>
                  <a:pt x="7539757" y="2730500"/>
                  <a:pt x="7492994" y="2730500"/>
                </a:cubicBezTo>
                <a:lnTo>
                  <a:pt x="42333" y="2730500"/>
                </a:lnTo>
                <a:cubicBezTo>
                  <a:pt x="18953" y="2730500"/>
                  <a:pt x="0" y="2711547"/>
                  <a:pt x="0" y="2688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4500" y="4339167"/>
            <a:ext cx="42333" cy="2730500"/>
          </a:xfrm>
          <a:custGeom>
            <a:avLst/>
            <a:gdLst/>
            <a:ahLst/>
            <a:cxnLst/>
            <a:rect l="l" t="t" r="r" b="b"/>
            <a:pathLst>
              <a:path w="42333" h="2730500">
                <a:moveTo>
                  <a:pt x="42333" y="0"/>
                </a:moveTo>
                <a:lnTo>
                  <a:pt x="42333" y="0"/>
                </a:lnTo>
                <a:lnTo>
                  <a:pt x="42333" y="2730500"/>
                </a:lnTo>
                <a:lnTo>
                  <a:pt x="42333" y="2730500"/>
                </a:lnTo>
                <a:cubicBezTo>
                  <a:pt x="18953" y="2730500"/>
                  <a:pt x="0" y="2711547"/>
                  <a:pt x="0" y="2688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9083" y="45931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4833" y="4550833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</a:t>
            </a: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核心思想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7333" y="5016500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4333" y="5143500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多个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独立管理不同的命名空间,互不干扰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77333" y="5672667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4333" y="5799667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DataNode共享: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被所有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共享,物理存储不隔离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7333" y="6328833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4333" y="6455833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逻辑划分: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通过块池(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 Pool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)划分,每个NN管理一个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 Pool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33833" y="1460500"/>
            <a:ext cx="7598833" cy="4593167"/>
          </a:xfrm>
          <a:custGeom>
            <a:avLst/>
            <a:gdLst/>
            <a:ahLst/>
            <a:cxnLst/>
            <a:rect l="l" t="t" r="r" b="b"/>
            <a:pathLst>
              <a:path w="7598833" h="459316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508515"/>
                </a:lnTo>
                <a:cubicBezTo>
                  <a:pt x="7598833" y="4555267"/>
                  <a:pt x="7560933" y="4593167"/>
                  <a:pt x="7514181" y="4593167"/>
                </a:cubicBezTo>
                <a:lnTo>
                  <a:pt x="84652" y="4593167"/>
                </a:lnTo>
                <a:cubicBezTo>
                  <a:pt x="37900" y="4593167"/>
                  <a:pt x="0" y="4555267"/>
                  <a:pt x="0" y="4508515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33833" y="146050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77250" y="1735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63000" y="1693333"/>
            <a:ext cx="698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</a:t>
            </a: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架构示意图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45500" y="2159000"/>
            <a:ext cx="7175500" cy="3683000"/>
          </a:xfrm>
          <a:custGeom>
            <a:avLst/>
            <a:gdLst/>
            <a:ahLst/>
            <a:cxnLst/>
            <a:rect l="l" t="t" r="r" b="b"/>
            <a:pathLst>
              <a:path w="7175500" h="3683000">
                <a:moveTo>
                  <a:pt x="84672" y="0"/>
                </a:moveTo>
                <a:lnTo>
                  <a:pt x="7090828" y="0"/>
                </a:lnTo>
                <a:cubicBezTo>
                  <a:pt x="7137591" y="0"/>
                  <a:pt x="7175500" y="37909"/>
                  <a:pt x="7175500" y="84672"/>
                </a:cubicBezTo>
                <a:lnTo>
                  <a:pt x="7175500" y="3598328"/>
                </a:lnTo>
                <a:cubicBezTo>
                  <a:pt x="7175500" y="3645091"/>
                  <a:pt x="7137591" y="3683000"/>
                  <a:pt x="7090828" y="3683000"/>
                </a:cubicBezTo>
                <a:lnTo>
                  <a:pt x="84672" y="3683000"/>
                </a:lnTo>
                <a:cubicBezTo>
                  <a:pt x="37909" y="3683000"/>
                  <a:pt x="0" y="3645091"/>
                  <a:pt x="0" y="3598328"/>
                </a:cubicBezTo>
                <a:lnTo>
                  <a:pt x="0" y="84672"/>
                </a:lnTo>
                <a:cubicBezTo>
                  <a:pt x="0" y="37940"/>
                  <a:pt x="37940" y="0"/>
                  <a:pt x="8467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318131" y="2328333"/>
            <a:ext cx="1428750" cy="423333"/>
          </a:xfrm>
          <a:custGeom>
            <a:avLst/>
            <a:gdLst/>
            <a:ahLst/>
            <a:cxnLst/>
            <a:rect l="l" t="t" r="r" b="b"/>
            <a:pathLst>
              <a:path w="1428750" h="423333">
                <a:moveTo>
                  <a:pt x="84667" y="0"/>
                </a:moveTo>
                <a:lnTo>
                  <a:pt x="1344083" y="0"/>
                </a:lnTo>
                <a:cubicBezTo>
                  <a:pt x="1390843" y="0"/>
                  <a:pt x="1428750" y="37907"/>
                  <a:pt x="1428750" y="84667"/>
                </a:cubicBezTo>
                <a:lnTo>
                  <a:pt x="1428750" y="338667"/>
                </a:lnTo>
                <a:cubicBezTo>
                  <a:pt x="1428750" y="385427"/>
                  <a:pt x="1390843" y="423333"/>
                  <a:pt x="1344083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275798" y="2328333"/>
            <a:ext cx="1513417" cy="423333"/>
          </a:xfrm>
          <a:prstGeom prst="rect">
            <a:avLst/>
          </a:prstGeom>
          <a:noFill/>
          <a:ln/>
        </p:spPr>
        <p:txBody>
          <a:bodyPr wrap="square" lIns="169333" tIns="84667" rIns="169333" bIns="84667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NameNode-1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77792" y="2794000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管理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Namespace-1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/ 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BlockPool-1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906250" y="3132667"/>
            <a:ext cx="38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614833" y="3598333"/>
            <a:ext cx="6836833" cy="804333"/>
          </a:xfrm>
          <a:custGeom>
            <a:avLst/>
            <a:gdLst/>
            <a:ahLst/>
            <a:cxnLst/>
            <a:rect l="l" t="t" r="r" b="b"/>
            <a:pathLst>
              <a:path w="6836833" h="804333">
                <a:moveTo>
                  <a:pt x="42332" y="0"/>
                </a:moveTo>
                <a:lnTo>
                  <a:pt x="6794501" y="0"/>
                </a:lnTo>
                <a:cubicBezTo>
                  <a:pt x="6817881" y="0"/>
                  <a:pt x="6836833" y="18953"/>
                  <a:pt x="6836833" y="42332"/>
                </a:cubicBezTo>
                <a:lnTo>
                  <a:pt x="6836833" y="762001"/>
                </a:lnTo>
                <a:cubicBezTo>
                  <a:pt x="6836833" y="785381"/>
                  <a:pt x="6817881" y="804333"/>
                  <a:pt x="679450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5A6472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94208" y="3725333"/>
            <a:ext cx="6678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共享</a:t>
            </a:r>
            <a:r>
              <a:rPr lang="en-US" sz="15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</a:t>
            </a: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集群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704792" y="4064000"/>
            <a:ext cx="6656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DataNode-1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/ 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DataNode-2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/ 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DataNode-3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...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906250" y="4529667"/>
            <a:ext cx="381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1318131" y="4995333"/>
            <a:ext cx="1428750" cy="423333"/>
          </a:xfrm>
          <a:custGeom>
            <a:avLst/>
            <a:gdLst/>
            <a:ahLst/>
            <a:cxnLst/>
            <a:rect l="l" t="t" r="r" b="b"/>
            <a:pathLst>
              <a:path w="1428750" h="423333">
                <a:moveTo>
                  <a:pt x="84667" y="0"/>
                </a:moveTo>
                <a:lnTo>
                  <a:pt x="1344083" y="0"/>
                </a:lnTo>
                <a:cubicBezTo>
                  <a:pt x="1390843" y="0"/>
                  <a:pt x="1428750" y="37907"/>
                  <a:pt x="1428750" y="84667"/>
                </a:cubicBezTo>
                <a:lnTo>
                  <a:pt x="1428750" y="338667"/>
                </a:lnTo>
                <a:cubicBezTo>
                  <a:pt x="1428750" y="385427"/>
                  <a:pt x="1390843" y="423333"/>
                  <a:pt x="1344083" y="423333"/>
                </a:cubicBezTo>
                <a:lnTo>
                  <a:pt x="84667" y="423333"/>
                </a:lnTo>
                <a:cubicBezTo>
                  <a:pt x="37907" y="423333"/>
                  <a:pt x="0" y="385427"/>
                  <a:pt x="0" y="338667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275798" y="4995333"/>
            <a:ext cx="1513417" cy="423333"/>
          </a:xfrm>
          <a:prstGeom prst="rect">
            <a:avLst/>
          </a:prstGeom>
          <a:noFill/>
          <a:ln/>
        </p:spPr>
        <p:txBody>
          <a:bodyPr wrap="square" lIns="169333" tIns="84667" rIns="169333" bIns="84667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NameNode-2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77792" y="5461000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管理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Namespace-2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/ </a:t>
            </a:r>
            <a:r>
              <a:rPr lang="en-US" sz="1167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BlockPool-2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55000" y="6223000"/>
            <a:ext cx="7577667" cy="2730500"/>
          </a:xfrm>
          <a:custGeom>
            <a:avLst/>
            <a:gdLst/>
            <a:ahLst/>
            <a:cxnLst/>
            <a:rect l="l" t="t" r="r" b="b"/>
            <a:pathLst>
              <a:path w="7577667" h="2730500">
                <a:moveTo>
                  <a:pt x="42333" y="0"/>
                </a:moveTo>
                <a:lnTo>
                  <a:pt x="7492994" y="0"/>
                </a:lnTo>
                <a:cubicBezTo>
                  <a:pt x="7539757" y="0"/>
                  <a:pt x="7577667" y="37909"/>
                  <a:pt x="7577667" y="84673"/>
                </a:cubicBezTo>
                <a:lnTo>
                  <a:pt x="7577667" y="2645827"/>
                </a:lnTo>
                <a:cubicBezTo>
                  <a:pt x="7577667" y="2692591"/>
                  <a:pt x="7539757" y="2730500"/>
                  <a:pt x="7492994" y="2730500"/>
                </a:cubicBezTo>
                <a:lnTo>
                  <a:pt x="42333" y="2730500"/>
                </a:lnTo>
                <a:cubicBezTo>
                  <a:pt x="18953" y="2730500"/>
                  <a:pt x="0" y="2711547"/>
                  <a:pt x="0" y="2688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55000" y="6223000"/>
            <a:ext cx="42333" cy="2730500"/>
          </a:xfrm>
          <a:custGeom>
            <a:avLst/>
            <a:gdLst/>
            <a:ahLst/>
            <a:cxnLst/>
            <a:rect l="l" t="t" r="r" b="b"/>
            <a:pathLst>
              <a:path w="42333" h="2730500">
                <a:moveTo>
                  <a:pt x="42333" y="0"/>
                </a:moveTo>
                <a:lnTo>
                  <a:pt x="42333" y="0"/>
                </a:lnTo>
                <a:lnTo>
                  <a:pt x="42333" y="2730500"/>
                </a:lnTo>
                <a:lnTo>
                  <a:pt x="42333" y="2730500"/>
                </a:lnTo>
                <a:cubicBezTo>
                  <a:pt x="18953" y="2730500"/>
                  <a:pt x="0" y="2711547"/>
                  <a:pt x="0" y="26881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487833" y="64770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805333" y="6434667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 vs HA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87833" y="6900333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614833" y="7027333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</a:t>
            </a: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扩容命名空间,多对多关系,解决扩展性问题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487833" y="7556500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614833" y="7683500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</a:t>
            </a: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容错命名空间,一对一关系,解决高可用问题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509000" y="8212667"/>
            <a:ext cx="7112000" cy="529167"/>
          </a:xfrm>
          <a:custGeom>
            <a:avLst/>
            <a:gdLst/>
            <a:ahLst/>
            <a:cxnLst/>
            <a:rect l="l" t="t" r="r" b="b"/>
            <a:pathLst>
              <a:path w="7112000" h="529167">
                <a:moveTo>
                  <a:pt x="42333" y="0"/>
                </a:moveTo>
                <a:lnTo>
                  <a:pt x="7069667" y="0"/>
                </a:lnTo>
                <a:cubicBezTo>
                  <a:pt x="7093047" y="0"/>
                  <a:pt x="7112000" y="18953"/>
                  <a:pt x="7112000" y="42333"/>
                </a:cubicBezTo>
                <a:lnTo>
                  <a:pt x="7112000" y="486833"/>
                </a:lnTo>
                <a:cubicBezTo>
                  <a:pt x="7112000" y="510213"/>
                  <a:pt x="7093047" y="529167"/>
                  <a:pt x="70696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509000" y="8212667"/>
            <a:ext cx="42333" cy="529167"/>
          </a:xfrm>
          <a:custGeom>
            <a:avLst/>
            <a:gdLst/>
            <a:ahLst/>
            <a:cxnLst/>
            <a:rect l="l" t="t" r="r" b="b"/>
            <a:pathLst>
              <a:path w="42333" h="529167">
                <a:moveTo>
                  <a:pt x="42333" y="0"/>
                </a:moveTo>
                <a:lnTo>
                  <a:pt x="42333" y="0"/>
                </a:lnTo>
                <a:lnTo>
                  <a:pt x="42333" y="529167"/>
                </a:ln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657167" y="8339667"/>
            <a:ext cx="6921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重要: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不是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,两者可以独立部署或组合使用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75833" cy="338667"/>
          </a:xfrm>
          <a:custGeom>
            <a:avLst/>
            <a:gdLst/>
            <a:ahLst/>
            <a:cxnLst/>
            <a:rect l="l" t="t" r="r" b="b"/>
            <a:pathLst>
              <a:path w="1375833" h="338667">
                <a:moveTo>
                  <a:pt x="0" y="0"/>
                </a:moveTo>
                <a:lnTo>
                  <a:pt x="1375833" y="0"/>
                </a:lnTo>
                <a:lnTo>
                  <a:pt x="1375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8673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HA:</a:t>
            </a: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消除单点故障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4500" y="1439333"/>
            <a:ext cx="7577667" cy="4445000"/>
          </a:xfrm>
          <a:custGeom>
            <a:avLst/>
            <a:gdLst/>
            <a:ahLst/>
            <a:cxnLst/>
            <a:rect l="l" t="t" r="r" b="b"/>
            <a:pathLst>
              <a:path w="7577667" h="4445000">
                <a:moveTo>
                  <a:pt x="42333" y="0"/>
                </a:moveTo>
                <a:lnTo>
                  <a:pt x="7492989" y="0"/>
                </a:lnTo>
                <a:cubicBezTo>
                  <a:pt x="7539755" y="0"/>
                  <a:pt x="7577667" y="37911"/>
                  <a:pt x="7577667" y="84677"/>
                </a:cubicBezTo>
                <a:lnTo>
                  <a:pt x="7577667" y="4360323"/>
                </a:lnTo>
                <a:cubicBezTo>
                  <a:pt x="7577667" y="4407089"/>
                  <a:pt x="7539755" y="4445000"/>
                  <a:pt x="7492989" y="4445000"/>
                </a:cubicBezTo>
                <a:lnTo>
                  <a:pt x="42333" y="4445000"/>
                </a:lnTo>
                <a:cubicBezTo>
                  <a:pt x="18953" y="4445000"/>
                  <a:pt x="0" y="4426047"/>
                  <a:pt x="0" y="440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4500" y="1439333"/>
            <a:ext cx="42333" cy="4445000"/>
          </a:xfrm>
          <a:custGeom>
            <a:avLst/>
            <a:gdLst/>
            <a:ahLst/>
            <a:cxnLst/>
            <a:rect l="l" t="t" r="r" b="b"/>
            <a:pathLst>
              <a:path w="42333" h="4445000">
                <a:moveTo>
                  <a:pt x="42333" y="0"/>
                </a:moveTo>
                <a:lnTo>
                  <a:pt x="42333" y="0"/>
                </a:lnTo>
                <a:lnTo>
                  <a:pt x="42333" y="4445000"/>
                </a:lnTo>
                <a:lnTo>
                  <a:pt x="42333" y="4445000"/>
                </a:lnTo>
                <a:cubicBezTo>
                  <a:pt x="18953" y="4445000"/>
                  <a:pt x="0" y="4426047"/>
                  <a:pt x="0" y="440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9083" y="1693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4833" y="1651000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解决的问题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7333" y="2116667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333" y="2243667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问题: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单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存在单点故障(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SPOF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),一旦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宕机,整个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集群不可用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7333" y="2772833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333" y="2899833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目标: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保证服务高可用,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RTO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(恢复时间目标)在分钟级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7333" y="3429000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333" y="3556000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方案: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Standby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双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架构,同一命名空间由两个NN管理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33833" y="1460500"/>
            <a:ext cx="7598833" cy="4423833"/>
          </a:xfrm>
          <a:custGeom>
            <a:avLst/>
            <a:gdLst/>
            <a:ahLst/>
            <a:cxnLst/>
            <a:rect l="l" t="t" r="r" b="b"/>
            <a:pathLst>
              <a:path w="7598833" h="44238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339161"/>
                </a:lnTo>
                <a:cubicBezTo>
                  <a:pt x="7598833" y="4385924"/>
                  <a:pt x="7560924" y="4423833"/>
                  <a:pt x="7514161" y="4423833"/>
                </a:cubicBezTo>
                <a:lnTo>
                  <a:pt x="84672" y="4423833"/>
                </a:lnTo>
                <a:cubicBezTo>
                  <a:pt x="37909" y="4423833"/>
                  <a:pt x="0" y="4385924"/>
                  <a:pt x="0" y="4339161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33833" y="146050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45500" y="1735667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63000" y="1693333"/>
            <a:ext cx="698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</a:t>
            </a: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核心组件与职责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466667" y="2159000"/>
            <a:ext cx="7154333" cy="635000"/>
          </a:xfrm>
          <a:custGeom>
            <a:avLst/>
            <a:gdLst/>
            <a:ahLst/>
            <a:cxnLst/>
            <a:rect l="l" t="t" r="r" b="b"/>
            <a:pathLst>
              <a:path w="7154333" h="635000">
                <a:moveTo>
                  <a:pt x="42333" y="0"/>
                </a:moveTo>
                <a:lnTo>
                  <a:pt x="7111998" y="0"/>
                </a:lnTo>
                <a:cubicBezTo>
                  <a:pt x="7135379" y="0"/>
                  <a:pt x="7154333" y="18954"/>
                  <a:pt x="7154333" y="42335"/>
                </a:cubicBezTo>
                <a:lnTo>
                  <a:pt x="7154333" y="592665"/>
                </a:lnTo>
                <a:cubicBezTo>
                  <a:pt x="7154333" y="616046"/>
                  <a:pt x="7135379" y="635000"/>
                  <a:pt x="7111998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66667" y="2159000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72500" y="2259542"/>
            <a:ext cx="148844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 NameNode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72500" y="2497667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处理所有客户端请求,对外提供服务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66667" y="2878667"/>
            <a:ext cx="7154333" cy="635000"/>
          </a:xfrm>
          <a:custGeom>
            <a:avLst/>
            <a:gdLst/>
            <a:ahLst/>
            <a:cxnLst/>
            <a:rect l="l" t="t" r="r" b="b"/>
            <a:pathLst>
              <a:path w="7154333" h="635000">
                <a:moveTo>
                  <a:pt x="42333" y="0"/>
                </a:moveTo>
                <a:lnTo>
                  <a:pt x="7111998" y="0"/>
                </a:lnTo>
                <a:cubicBezTo>
                  <a:pt x="7135379" y="0"/>
                  <a:pt x="7154333" y="18954"/>
                  <a:pt x="7154333" y="42335"/>
                </a:cubicBezTo>
                <a:lnTo>
                  <a:pt x="7154333" y="592665"/>
                </a:lnTo>
                <a:cubicBezTo>
                  <a:pt x="7154333" y="616046"/>
                  <a:pt x="7135379" y="635000"/>
                  <a:pt x="7111998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66667" y="2878667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72500" y="2979208"/>
            <a:ext cx="164546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Standby NameNode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72500" y="3217333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同步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EditLog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,定期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Checkpoint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,时刻准备接管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66667" y="3598333"/>
            <a:ext cx="7154333" cy="635000"/>
          </a:xfrm>
          <a:custGeom>
            <a:avLst/>
            <a:gdLst/>
            <a:ahLst/>
            <a:cxnLst/>
            <a:rect l="l" t="t" r="r" b="b"/>
            <a:pathLst>
              <a:path w="7154333" h="635000">
                <a:moveTo>
                  <a:pt x="42333" y="0"/>
                </a:moveTo>
                <a:lnTo>
                  <a:pt x="7111998" y="0"/>
                </a:lnTo>
                <a:cubicBezTo>
                  <a:pt x="7135379" y="0"/>
                  <a:pt x="7154333" y="18954"/>
                  <a:pt x="7154333" y="42335"/>
                </a:cubicBezTo>
                <a:lnTo>
                  <a:pt x="7154333" y="592665"/>
                </a:lnTo>
                <a:cubicBezTo>
                  <a:pt x="7154333" y="616046"/>
                  <a:pt x="7135379" y="635000"/>
                  <a:pt x="7111998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66667" y="3598333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72500" y="3698875"/>
            <a:ext cx="44383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QJM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72500" y="3937000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Paxos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算法管理共享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Edits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存储,防止脑裂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466667" y="4318000"/>
            <a:ext cx="7154333" cy="635000"/>
          </a:xfrm>
          <a:custGeom>
            <a:avLst/>
            <a:gdLst/>
            <a:ahLst/>
            <a:cxnLst/>
            <a:rect l="l" t="t" r="r" b="b"/>
            <a:pathLst>
              <a:path w="7154333" h="635000">
                <a:moveTo>
                  <a:pt x="42333" y="0"/>
                </a:moveTo>
                <a:lnTo>
                  <a:pt x="7111998" y="0"/>
                </a:lnTo>
                <a:cubicBezTo>
                  <a:pt x="7135379" y="0"/>
                  <a:pt x="7154333" y="18954"/>
                  <a:pt x="7154333" y="42335"/>
                </a:cubicBezTo>
                <a:lnTo>
                  <a:pt x="7154333" y="592665"/>
                </a:lnTo>
                <a:cubicBezTo>
                  <a:pt x="7154333" y="616046"/>
                  <a:pt x="7135379" y="635000"/>
                  <a:pt x="7111998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466667" y="4318000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72500" y="4418542"/>
            <a:ext cx="508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72500" y="4656667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同机部署,监控进程健康,向ZK抢占锁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466667" y="5037667"/>
            <a:ext cx="7154333" cy="635000"/>
          </a:xfrm>
          <a:custGeom>
            <a:avLst/>
            <a:gdLst/>
            <a:ahLst/>
            <a:cxnLst/>
            <a:rect l="l" t="t" r="r" b="b"/>
            <a:pathLst>
              <a:path w="7154333" h="635000">
                <a:moveTo>
                  <a:pt x="42333" y="0"/>
                </a:moveTo>
                <a:lnTo>
                  <a:pt x="7111998" y="0"/>
                </a:lnTo>
                <a:cubicBezTo>
                  <a:pt x="7135379" y="0"/>
                  <a:pt x="7154333" y="18954"/>
                  <a:pt x="7154333" y="42335"/>
                </a:cubicBezTo>
                <a:lnTo>
                  <a:pt x="7154333" y="592665"/>
                </a:lnTo>
                <a:cubicBezTo>
                  <a:pt x="7154333" y="616046"/>
                  <a:pt x="7135379" y="635000"/>
                  <a:pt x="7111998" y="635000"/>
                </a:cubicBez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466667" y="5037667"/>
            <a:ext cx="42333" cy="635000"/>
          </a:xfrm>
          <a:custGeom>
            <a:avLst/>
            <a:gdLst/>
            <a:ahLst/>
            <a:cxnLst/>
            <a:rect l="l" t="t" r="r" b="b"/>
            <a:pathLst>
              <a:path w="42333" h="635000">
                <a:moveTo>
                  <a:pt x="42333" y="0"/>
                </a:moveTo>
                <a:lnTo>
                  <a:pt x="42333" y="0"/>
                </a:lnTo>
                <a:lnTo>
                  <a:pt x="42333" y="635000"/>
                </a:lnTo>
                <a:lnTo>
                  <a:pt x="42333" y="635000"/>
                </a:lnTo>
                <a:cubicBezTo>
                  <a:pt x="18953" y="635000"/>
                  <a:pt x="0" y="616047"/>
                  <a:pt x="0" y="592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572500" y="5138208"/>
            <a:ext cx="93546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72500" y="5376333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提供分布式锁与选主协调服务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28625" y="6016625"/>
            <a:ext cx="15398750" cy="2000250"/>
          </a:xfrm>
          <a:custGeom>
            <a:avLst/>
            <a:gdLst/>
            <a:ahLst/>
            <a:cxnLst/>
            <a:rect l="l" t="t" r="r" b="b"/>
            <a:pathLst>
              <a:path w="15398750" h="2000250">
                <a:moveTo>
                  <a:pt x="84671" y="0"/>
                </a:moveTo>
                <a:lnTo>
                  <a:pt x="15314079" y="0"/>
                </a:lnTo>
                <a:cubicBezTo>
                  <a:pt x="15360842" y="0"/>
                  <a:pt x="15398750" y="37908"/>
                  <a:pt x="15398750" y="84671"/>
                </a:cubicBezTo>
                <a:lnTo>
                  <a:pt x="15398750" y="1915579"/>
                </a:lnTo>
                <a:cubicBezTo>
                  <a:pt x="15398750" y="1962342"/>
                  <a:pt x="15360842" y="2000250"/>
                  <a:pt x="15314079" y="2000250"/>
                </a:cubicBezTo>
                <a:lnTo>
                  <a:pt x="84671" y="2000250"/>
                </a:lnTo>
                <a:cubicBezTo>
                  <a:pt x="37908" y="2000250"/>
                  <a:pt x="0" y="1962342"/>
                  <a:pt x="0" y="1915579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9125" y="623358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20750" y="6191250"/>
            <a:ext cx="1485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QJM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(</a:t>
            </a: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Quorum Journal Manager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)原理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03250" y="6656917"/>
            <a:ext cx="4900083" cy="1185333"/>
          </a:xfrm>
          <a:custGeom>
            <a:avLst/>
            <a:gdLst/>
            <a:ahLst/>
            <a:cxnLst/>
            <a:rect l="l" t="t" r="r" b="b"/>
            <a:pathLst>
              <a:path w="4900083" h="1185333">
                <a:moveTo>
                  <a:pt x="42328" y="0"/>
                </a:moveTo>
                <a:lnTo>
                  <a:pt x="4857755" y="0"/>
                </a:lnTo>
                <a:cubicBezTo>
                  <a:pt x="4881132" y="0"/>
                  <a:pt x="4900083" y="18951"/>
                  <a:pt x="4900083" y="42328"/>
                </a:cubicBezTo>
                <a:lnTo>
                  <a:pt x="4900083" y="1143005"/>
                </a:lnTo>
                <a:cubicBezTo>
                  <a:pt x="4900083" y="1166382"/>
                  <a:pt x="4881132" y="1185333"/>
                  <a:pt x="4857755" y="1185333"/>
                </a:cubicBezTo>
                <a:lnTo>
                  <a:pt x="42328" y="1185333"/>
                </a:lnTo>
                <a:cubicBezTo>
                  <a:pt x="18951" y="1185333"/>
                  <a:pt x="0" y="1166382"/>
                  <a:pt x="0" y="1143005"/>
                </a:cubicBezTo>
                <a:lnTo>
                  <a:pt x="0" y="42328"/>
                </a:lnTo>
                <a:cubicBezTo>
                  <a:pt x="0" y="18967"/>
                  <a:pt x="18967" y="0"/>
                  <a:pt x="4232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30250" y="6783917"/>
            <a:ext cx="474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基于</a:t>
            </a:r>
            <a:r>
              <a:rPr lang="en-US" sz="15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Paxos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0250" y="7164917"/>
            <a:ext cx="473075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QJM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基于Paxos算法管理共享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EditLog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存储,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NN写入,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Standby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读取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676139" y="6656917"/>
            <a:ext cx="4900083" cy="1185333"/>
          </a:xfrm>
          <a:custGeom>
            <a:avLst/>
            <a:gdLst/>
            <a:ahLst/>
            <a:cxnLst/>
            <a:rect l="l" t="t" r="r" b="b"/>
            <a:pathLst>
              <a:path w="4900083" h="1185333">
                <a:moveTo>
                  <a:pt x="42328" y="0"/>
                </a:moveTo>
                <a:lnTo>
                  <a:pt x="4857755" y="0"/>
                </a:lnTo>
                <a:cubicBezTo>
                  <a:pt x="4881132" y="0"/>
                  <a:pt x="4900083" y="18951"/>
                  <a:pt x="4900083" y="42328"/>
                </a:cubicBezTo>
                <a:lnTo>
                  <a:pt x="4900083" y="1143005"/>
                </a:lnTo>
                <a:cubicBezTo>
                  <a:pt x="4900083" y="1166382"/>
                  <a:pt x="4881132" y="1185333"/>
                  <a:pt x="4857755" y="1185333"/>
                </a:cubicBezTo>
                <a:lnTo>
                  <a:pt x="42328" y="1185333"/>
                </a:lnTo>
                <a:cubicBezTo>
                  <a:pt x="18951" y="1185333"/>
                  <a:pt x="0" y="1166382"/>
                  <a:pt x="0" y="1143005"/>
                </a:cubicBezTo>
                <a:lnTo>
                  <a:pt x="0" y="42328"/>
                </a:lnTo>
                <a:cubicBezTo>
                  <a:pt x="0" y="18967"/>
                  <a:pt x="18967" y="0"/>
                  <a:pt x="4232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03139" y="6783917"/>
            <a:ext cx="474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多数派原则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803139" y="7164917"/>
            <a:ext cx="473075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只有多数派(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2N+1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)写入成功才算提交,防止脑裂(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Split-Brain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749111" y="6656917"/>
            <a:ext cx="4900083" cy="1185333"/>
          </a:xfrm>
          <a:custGeom>
            <a:avLst/>
            <a:gdLst/>
            <a:ahLst/>
            <a:cxnLst/>
            <a:rect l="l" t="t" r="r" b="b"/>
            <a:pathLst>
              <a:path w="4900083" h="1185333">
                <a:moveTo>
                  <a:pt x="42328" y="0"/>
                </a:moveTo>
                <a:lnTo>
                  <a:pt x="4857755" y="0"/>
                </a:lnTo>
                <a:cubicBezTo>
                  <a:pt x="4881132" y="0"/>
                  <a:pt x="4900083" y="18951"/>
                  <a:pt x="4900083" y="42328"/>
                </a:cubicBezTo>
                <a:lnTo>
                  <a:pt x="4900083" y="1143005"/>
                </a:lnTo>
                <a:cubicBezTo>
                  <a:pt x="4900083" y="1166382"/>
                  <a:pt x="4881132" y="1185333"/>
                  <a:pt x="4857755" y="1185333"/>
                </a:cubicBezTo>
                <a:lnTo>
                  <a:pt x="42328" y="1185333"/>
                </a:lnTo>
                <a:cubicBezTo>
                  <a:pt x="18951" y="1185333"/>
                  <a:pt x="0" y="1166382"/>
                  <a:pt x="0" y="1143005"/>
                </a:cubicBezTo>
                <a:lnTo>
                  <a:pt x="0" y="42328"/>
                </a:lnTo>
                <a:cubicBezTo>
                  <a:pt x="0" y="18967"/>
                  <a:pt x="18967" y="0"/>
                  <a:pt x="4232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876111" y="6783917"/>
            <a:ext cx="474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JournalNode</a:t>
            </a: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876111" y="7164917"/>
            <a:ext cx="473075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必须部署奇数个(至少3个),遵循多数派原则(写成功 &gt; N/2)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44500" y="8149167"/>
            <a:ext cx="5005917" cy="910167"/>
          </a:xfrm>
          <a:custGeom>
            <a:avLst/>
            <a:gdLst/>
            <a:ahLst/>
            <a:cxnLst/>
            <a:rect l="l" t="t" r="r" b="b"/>
            <a:pathLst>
              <a:path w="5005917" h="910167">
                <a:moveTo>
                  <a:pt x="42333" y="0"/>
                </a:moveTo>
                <a:lnTo>
                  <a:pt x="4921253" y="0"/>
                </a:lnTo>
                <a:cubicBezTo>
                  <a:pt x="4968011" y="0"/>
                  <a:pt x="5005917" y="37905"/>
                  <a:pt x="5005917" y="84664"/>
                </a:cubicBezTo>
                <a:lnTo>
                  <a:pt x="5005917" y="825503"/>
                </a:lnTo>
                <a:cubicBezTo>
                  <a:pt x="5005917" y="872261"/>
                  <a:pt x="4968011" y="910167"/>
                  <a:pt x="4921253" y="910167"/>
                </a:cubicBez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44500" y="8149167"/>
            <a:ext cx="42333" cy="910167"/>
          </a:xfrm>
          <a:custGeom>
            <a:avLst/>
            <a:gdLst/>
            <a:ahLst/>
            <a:cxnLst/>
            <a:rect l="l" t="t" r="r" b="b"/>
            <a:pathLst>
              <a:path w="42333" h="910167">
                <a:moveTo>
                  <a:pt x="42333" y="0"/>
                </a:moveTo>
                <a:lnTo>
                  <a:pt x="42333" y="0"/>
                </a:lnTo>
                <a:lnTo>
                  <a:pt x="42333" y="910167"/>
                </a:ln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92667" y="8276167"/>
            <a:ext cx="4826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部署架构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92667" y="8657167"/>
            <a:ext cx="48154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是"每个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节点一套",不是集群共用一个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637361" y="8149167"/>
            <a:ext cx="5005917" cy="910167"/>
          </a:xfrm>
          <a:custGeom>
            <a:avLst/>
            <a:gdLst/>
            <a:ahLst/>
            <a:cxnLst/>
            <a:rect l="l" t="t" r="r" b="b"/>
            <a:pathLst>
              <a:path w="5005917" h="910167">
                <a:moveTo>
                  <a:pt x="42333" y="0"/>
                </a:moveTo>
                <a:lnTo>
                  <a:pt x="4921253" y="0"/>
                </a:lnTo>
                <a:cubicBezTo>
                  <a:pt x="4968011" y="0"/>
                  <a:pt x="5005917" y="37905"/>
                  <a:pt x="5005917" y="84664"/>
                </a:cubicBezTo>
                <a:lnTo>
                  <a:pt x="5005917" y="825503"/>
                </a:lnTo>
                <a:cubicBezTo>
                  <a:pt x="5005917" y="872261"/>
                  <a:pt x="4968011" y="910167"/>
                  <a:pt x="4921253" y="910167"/>
                </a:cubicBez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637361" y="8149167"/>
            <a:ext cx="42333" cy="910167"/>
          </a:xfrm>
          <a:custGeom>
            <a:avLst/>
            <a:gdLst/>
            <a:ahLst/>
            <a:cxnLst/>
            <a:rect l="l" t="t" r="r" b="b"/>
            <a:pathLst>
              <a:path w="42333" h="910167">
                <a:moveTo>
                  <a:pt x="42333" y="0"/>
                </a:moveTo>
                <a:lnTo>
                  <a:pt x="42333" y="0"/>
                </a:lnTo>
                <a:lnTo>
                  <a:pt x="42333" y="910167"/>
                </a:ln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785528" y="8276167"/>
            <a:ext cx="4826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元数据位置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785528" y="8657167"/>
            <a:ext cx="48154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位置信息(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Location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)不持久化到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FSImage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,只在内存维护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0830223" y="8149167"/>
            <a:ext cx="5005917" cy="910167"/>
          </a:xfrm>
          <a:custGeom>
            <a:avLst/>
            <a:gdLst/>
            <a:ahLst/>
            <a:cxnLst/>
            <a:rect l="l" t="t" r="r" b="b"/>
            <a:pathLst>
              <a:path w="5005917" h="910167">
                <a:moveTo>
                  <a:pt x="42333" y="0"/>
                </a:moveTo>
                <a:lnTo>
                  <a:pt x="4921253" y="0"/>
                </a:lnTo>
                <a:cubicBezTo>
                  <a:pt x="4968011" y="0"/>
                  <a:pt x="5005917" y="37905"/>
                  <a:pt x="5005917" y="84664"/>
                </a:cubicBezTo>
                <a:lnTo>
                  <a:pt x="5005917" y="825503"/>
                </a:lnTo>
                <a:cubicBezTo>
                  <a:pt x="5005917" y="872261"/>
                  <a:pt x="4968011" y="910167"/>
                  <a:pt x="4921253" y="910167"/>
                </a:cubicBez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10830223" y="8149167"/>
            <a:ext cx="42333" cy="910167"/>
          </a:xfrm>
          <a:custGeom>
            <a:avLst/>
            <a:gdLst/>
            <a:ahLst/>
            <a:cxnLst/>
            <a:rect l="l" t="t" r="r" b="b"/>
            <a:pathLst>
              <a:path w="42333" h="910167">
                <a:moveTo>
                  <a:pt x="42333" y="0"/>
                </a:moveTo>
                <a:lnTo>
                  <a:pt x="42333" y="0"/>
                </a:lnTo>
                <a:lnTo>
                  <a:pt x="42333" y="910167"/>
                </a:lnTo>
                <a:lnTo>
                  <a:pt x="42333" y="910167"/>
                </a:lnTo>
                <a:cubicBezTo>
                  <a:pt x="18953" y="910167"/>
                  <a:pt x="0" y="891213"/>
                  <a:pt x="0" y="867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0978389" y="8276167"/>
            <a:ext cx="48260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易错辨析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978389" y="8657167"/>
            <a:ext cx="481541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扩容命名空间,HA容错命名空间;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不是HA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120" y="489639"/>
            <a:ext cx="1591325" cy="391711"/>
          </a:xfrm>
          <a:custGeom>
            <a:avLst/>
            <a:gdLst/>
            <a:ahLst/>
            <a:cxnLst/>
            <a:rect l="l" t="t" r="r" b="b"/>
            <a:pathLst>
              <a:path w="1591325" h="391711">
                <a:moveTo>
                  <a:pt x="0" y="0"/>
                </a:moveTo>
                <a:lnTo>
                  <a:pt x="1591325" y="0"/>
                </a:lnTo>
                <a:lnTo>
                  <a:pt x="1591325" y="391711"/>
                </a:lnTo>
                <a:lnTo>
                  <a:pt x="0" y="391711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4120" y="489639"/>
            <a:ext cx="48964" cy="391711"/>
          </a:xfrm>
          <a:custGeom>
            <a:avLst/>
            <a:gdLst/>
            <a:ahLst/>
            <a:cxnLst/>
            <a:rect l="l" t="t" r="r" b="b"/>
            <a:pathLst>
              <a:path w="48964" h="391711">
                <a:moveTo>
                  <a:pt x="0" y="0"/>
                </a:moveTo>
                <a:lnTo>
                  <a:pt x="48964" y="0"/>
                </a:lnTo>
                <a:lnTo>
                  <a:pt x="48964" y="391711"/>
                </a:lnTo>
                <a:lnTo>
                  <a:pt x="0" y="391711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494" y="556964"/>
            <a:ext cx="1372614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2" kern="0" spc="7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04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9639" y="979277"/>
            <a:ext cx="15497060" cy="489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7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自动故障切换流程详解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9639" y="1689253"/>
            <a:ext cx="15276723" cy="3305060"/>
          </a:xfrm>
          <a:custGeom>
            <a:avLst/>
            <a:gdLst/>
            <a:ahLst/>
            <a:cxnLst/>
            <a:rect l="l" t="t" r="r" b="b"/>
            <a:pathLst>
              <a:path w="15276723" h="3305060">
                <a:moveTo>
                  <a:pt x="48964" y="0"/>
                </a:moveTo>
                <a:lnTo>
                  <a:pt x="15227759" y="0"/>
                </a:lnTo>
                <a:cubicBezTo>
                  <a:pt x="15254801" y="0"/>
                  <a:pt x="15276723" y="21922"/>
                  <a:pt x="15276723" y="48964"/>
                </a:cubicBezTo>
                <a:lnTo>
                  <a:pt x="15276723" y="3207131"/>
                </a:lnTo>
                <a:cubicBezTo>
                  <a:pt x="15276723" y="3261216"/>
                  <a:pt x="15232879" y="3305060"/>
                  <a:pt x="15178794" y="3305060"/>
                </a:cubicBezTo>
                <a:lnTo>
                  <a:pt x="97929" y="3305060"/>
                </a:lnTo>
                <a:cubicBezTo>
                  <a:pt x="43844" y="3305060"/>
                  <a:pt x="0" y="3261216"/>
                  <a:pt x="0" y="3207131"/>
                </a:cubicBezTo>
                <a:lnTo>
                  <a:pt x="0" y="48964"/>
                </a:lnTo>
                <a:cubicBezTo>
                  <a:pt x="0" y="21940"/>
                  <a:pt x="21940" y="0"/>
                  <a:pt x="48964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9639" y="1689253"/>
            <a:ext cx="15276723" cy="48964"/>
          </a:xfrm>
          <a:custGeom>
            <a:avLst/>
            <a:gdLst/>
            <a:ahLst/>
            <a:cxnLst/>
            <a:rect l="l" t="t" r="r" b="b"/>
            <a:pathLst>
              <a:path w="15276723" h="48964">
                <a:moveTo>
                  <a:pt x="48964" y="0"/>
                </a:moveTo>
                <a:lnTo>
                  <a:pt x="15227759" y="0"/>
                </a:lnTo>
                <a:cubicBezTo>
                  <a:pt x="15254801" y="0"/>
                  <a:pt x="15276723" y="21922"/>
                  <a:pt x="15276723" y="48964"/>
                </a:cubicBezTo>
                <a:lnTo>
                  <a:pt x="15276723" y="48964"/>
                </a:lnTo>
                <a:lnTo>
                  <a:pt x="0" y="48964"/>
                </a:lnTo>
                <a:lnTo>
                  <a:pt x="0" y="48964"/>
                </a:lnTo>
                <a:cubicBezTo>
                  <a:pt x="0" y="21940"/>
                  <a:pt x="21940" y="0"/>
                  <a:pt x="48964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1181" y="2007518"/>
            <a:ext cx="293783" cy="293783"/>
          </a:xfrm>
          <a:custGeom>
            <a:avLst/>
            <a:gdLst/>
            <a:ahLst/>
            <a:cxnLst/>
            <a:rect l="l" t="t" r="r" b="b"/>
            <a:pathLst>
              <a:path w="293783" h="293783">
                <a:moveTo>
                  <a:pt x="0" y="41313"/>
                </a:moveTo>
                <a:cubicBezTo>
                  <a:pt x="0" y="33739"/>
                  <a:pt x="6140" y="27542"/>
                  <a:pt x="13771" y="27542"/>
                </a:cubicBezTo>
                <a:lnTo>
                  <a:pt x="41313" y="27542"/>
                </a:lnTo>
                <a:cubicBezTo>
                  <a:pt x="48945" y="27542"/>
                  <a:pt x="55084" y="33682"/>
                  <a:pt x="55084" y="41313"/>
                </a:cubicBezTo>
                <a:lnTo>
                  <a:pt x="55084" y="100988"/>
                </a:lnTo>
                <a:lnTo>
                  <a:pt x="68855" y="100988"/>
                </a:lnTo>
                <a:cubicBezTo>
                  <a:pt x="76487" y="100988"/>
                  <a:pt x="82627" y="107128"/>
                  <a:pt x="82627" y="114759"/>
                </a:cubicBezTo>
                <a:cubicBezTo>
                  <a:pt x="82627" y="122391"/>
                  <a:pt x="76487" y="128530"/>
                  <a:pt x="68855" y="128530"/>
                </a:cubicBezTo>
                <a:lnTo>
                  <a:pt x="13771" y="128530"/>
                </a:lnTo>
                <a:cubicBezTo>
                  <a:pt x="6140" y="128530"/>
                  <a:pt x="0" y="122391"/>
                  <a:pt x="0" y="114759"/>
                </a:cubicBezTo>
                <a:cubicBezTo>
                  <a:pt x="0" y="107128"/>
                  <a:pt x="6140" y="100988"/>
                  <a:pt x="13771" y="100988"/>
                </a:cubicBezTo>
                <a:lnTo>
                  <a:pt x="27542" y="100988"/>
                </a:lnTo>
                <a:lnTo>
                  <a:pt x="27542" y="55084"/>
                </a:lnTo>
                <a:lnTo>
                  <a:pt x="13771" y="55084"/>
                </a:lnTo>
                <a:cubicBezTo>
                  <a:pt x="6140" y="55084"/>
                  <a:pt x="0" y="48945"/>
                  <a:pt x="0" y="41313"/>
                </a:cubicBezTo>
                <a:close/>
                <a:moveTo>
                  <a:pt x="17443" y="172827"/>
                </a:moveTo>
                <a:cubicBezTo>
                  <a:pt x="23985" y="167892"/>
                  <a:pt x="31960" y="165253"/>
                  <a:pt x="40166" y="165253"/>
                </a:cubicBezTo>
                <a:lnTo>
                  <a:pt x="42977" y="165253"/>
                </a:lnTo>
                <a:cubicBezTo>
                  <a:pt x="62314" y="165253"/>
                  <a:pt x="78036" y="180975"/>
                  <a:pt x="78036" y="200312"/>
                </a:cubicBezTo>
                <a:cubicBezTo>
                  <a:pt x="78036" y="211558"/>
                  <a:pt x="72642" y="222059"/>
                  <a:pt x="63577" y="228657"/>
                </a:cubicBezTo>
                <a:lnTo>
                  <a:pt x="49805" y="238699"/>
                </a:lnTo>
                <a:lnTo>
                  <a:pt x="68855" y="238699"/>
                </a:lnTo>
                <a:cubicBezTo>
                  <a:pt x="76487" y="238699"/>
                  <a:pt x="82627" y="244838"/>
                  <a:pt x="82627" y="252470"/>
                </a:cubicBezTo>
                <a:cubicBezTo>
                  <a:pt x="82627" y="260101"/>
                  <a:pt x="76487" y="266241"/>
                  <a:pt x="68855" y="266241"/>
                </a:cubicBezTo>
                <a:lnTo>
                  <a:pt x="16812" y="266241"/>
                </a:lnTo>
                <a:cubicBezTo>
                  <a:pt x="7517" y="266241"/>
                  <a:pt x="0" y="258724"/>
                  <a:pt x="0" y="249429"/>
                </a:cubicBezTo>
                <a:cubicBezTo>
                  <a:pt x="0" y="244035"/>
                  <a:pt x="2582" y="238986"/>
                  <a:pt x="6943" y="235830"/>
                </a:cubicBezTo>
                <a:lnTo>
                  <a:pt x="47395" y="206394"/>
                </a:lnTo>
                <a:cubicBezTo>
                  <a:pt x="49346" y="204960"/>
                  <a:pt x="50494" y="202722"/>
                  <a:pt x="50494" y="200312"/>
                </a:cubicBezTo>
                <a:cubicBezTo>
                  <a:pt x="50494" y="196181"/>
                  <a:pt x="47109" y="192795"/>
                  <a:pt x="42977" y="192795"/>
                </a:cubicBezTo>
                <a:lnTo>
                  <a:pt x="40166" y="192795"/>
                </a:lnTo>
                <a:cubicBezTo>
                  <a:pt x="37928" y="192795"/>
                  <a:pt x="35747" y="193541"/>
                  <a:pt x="33969" y="194861"/>
                </a:cubicBezTo>
                <a:lnTo>
                  <a:pt x="22034" y="203812"/>
                </a:lnTo>
                <a:cubicBezTo>
                  <a:pt x="15952" y="208402"/>
                  <a:pt x="7345" y="207140"/>
                  <a:pt x="2754" y="201058"/>
                </a:cubicBezTo>
                <a:cubicBezTo>
                  <a:pt x="-1836" y="194976"/>
                  <a:pt x="-574" y="186369"/>
                  <a:pt x="5508" y="181778"/>
                </a:cubicBezTo>
                <a:lnTo>
                  <a:pt x="17443" y="172827"/>
                </a:lnTo>
                <a:close/>
                <a:moveTo>
                  <a:pt x="128530" y="36723"/>
                </a:moveTo>
                <a:lnTo>
                  <a:pt x="275422" y="36723"/>
                </a:lnTo>
                <a:cubicBezTo>
                  <a:pt x="285578" y="36723"/>
                  <a:pt x="293783" y="44928"/>
                  <a:pt x="293783" y="55084"/>
                </a:cubicBezTo>
                <a:cubicBezTo>
                  <a:pt x="293783" y="65241"/>
                  <a:pt x="285578" y="73446"/>
                  <a:pt x="275422" y="73446"/>
                </a:cubicBezTo>
                <a:lnTo>
                  <a:pt x="128530" y="73446"/>
                </a:lnTo>
                <a:cubicBezTo>
                  <a:pt x="118374" y="73446"/>
                  <a:pt x="110169" y="65241"/>
                  <a:pt x="110169" y="55084"/>
                </a:cubicBezTo>
                <a:cubicBezTo>
                  <a:pt x="110169" y="44928"/>
                  <a:pt x="118374" y="36723"/>
                  <a:pt x="128530" y="36723"/>
                </a:cubicBezTo>
                <a:close/>
                <a:moveTo>
                  <a:pt x="128530" y="128530"/>
                </a:moveTo>
                <a:lnTo>
                  <a:pt x="275422" y="128530"/>
                </a:lnTo>
                <a:cubicBezTo>
                  <a:pt x="285578" y="128530"/>
                  <a:pt x="293783" y="136735"/>
                  <a:pt x="293783" y="146892"/>
                </a:cubicBezTo>
                <a:cubicBezTo>
                  <a:pt x="293783" y="157048"/>
                  <a:pt x="285578" y="165253"/>
                  <a:pt x="275422" y="165253"/>
                </a:cubicBezTo>
                <a:lnTo>
                  <a:pt x="128530" y="165253"/>
                </a:lnTo>
                <a:cubicBezTo>
                  <a:pt x="118374" y="165253"/>
                  <a:pt x="110169" y="157048"/>
                  <a:pt x="110169" y="146892"/>
                </a:cubicBezTo>
                <a:cubicBezTo>
                  <a:pt x="110169" y="136735"/>
                  <a:pt x="118374" y="128530"/>
                  <a:pt x="128530" y="128530"/>
                </a:cubicBezTo>
                <a:close/>
                <a:moveTo>
                  <a:pt x="128530" y="220337"/>
                </a:moveTo>
                <a:lnTo>
                  <a:pt x="275422" y="220337"/>
                </a:lnTo>
                <a:cubicBezTo>
                  <a:pt x="285578" y="220337"/>
                  <a:pt x="293783" y="228543"/>
                  <a:pt x="293783" y="238699"/>
                </a:cubicBezTo>
                <a:cubicBezTo>
                  <a:pt x="293783" y="248855"/>
                  <a:pt x="285578" y="257060"/>
                  <a:pt x="275422" y="257060"/>
                </a:cubicBezTo>
                <a:lnTo>
                  <a:pt x="128530" y="257060"/>
                </a:lnTo>
                <a:cubicBezTo>
                  <a:pt x="118374" y="257060"/>
                  <a:pt x="110169" y="248855"/>
                  <a:pt x="110169" y="238699"/>
                </a:cubicBezTo>
                <a:cubicBezTo>
                  <a:pt x="110169" y="228543"/>
                  <a:pt x="118374" y="220337"/>
                  <a:pt x="128530" y="220337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01687" y="1958554"/>
            <a:ext cx="14566747" cy="391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3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 NameNode</a:t>
            </a:r>
            <a:r>
              <a:rPr lang="en-US" sz="231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宕机后的完整切换流程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4458" y="2546120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9373" y="2546120"/>
            <a:ext cx="697735" cy="58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5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8916" y="2546120"/>
            <a:ext cx="6659084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故障检测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8916" y="2937831"/>
            <a:ext cx="6634602" cy="636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 NameNode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所在机器的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检测到进程异常(或机器宕机导致ZK会话丢失)。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通过心跳机制监控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健康状态。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4458" y="3721253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9373" y="3721253"/>
            <a:ext cx="697735" cy="58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5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68916" y="3721253"/>
            <a:ext cx="6659084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选主竞争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68916" y="4112964"/>
            <a:ext cx="6634602" cy="636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Standby NameNode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监测到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中的锁被释放,尝试在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创建临时节点(抢锁)。利用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的临时节点特性保证只有一个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能成功。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50410" y="2546120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95325" y="2546120"/>
            <a:ext cx="697735" cy="58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5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3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84867" y="2546120"/>
            <a:ext cx="6659084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隔离(</a:t>
            </a:r>
            <a:r>
              <a:rPr lang="en-US" sz="192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Fencing</a:t>
            </a:r>
            <a:r>
              <a:rPr lang="en-US" sz="192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84867" y="2937831"/>
            <a:ext cx="6634602" cy="636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成功抢锁的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负责"补刀",通过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SSH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或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RPC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强制杀掉旧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进程,确保其不再通过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QJM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写入数据,防止双写/脑裂。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50410" y="3721253"/>
            <a:ext cx="587566" cy="587566"/>
          </a:xfrm>
          <a:custGeom>
            <a:avLst/>
            <a:gdLst/>
            <a:ahLst/>
            <a:cxnLst/>
            <a:rect l="l" t="t" r="r" b="b"/>
            <a:pathLst>
              <a:path w="587566" h="587566">
                <a:moveTo>
                  <a:pt x="293783" y="0"/>
                </a:moveTo>
                <a:lnTo>
                  <a:pt x="293783" y="0"/>
                </a:lnTo>
                <a:cubicBezTo>
                  <a:pt x="455926" y="0"/>
                  <a:pt x="587566" y="131640"/>
                  <a:pt x="587566" y="293783"/>
                </a:cubicBezTo>
                <a:lnTo>
                  <a:pt x="587566" y="293783"/>
                </a:lnTo>
                <a:cubicBezTo>
                  <a:pt x="587566" y="455926"/>
                  <a:pt x="455926" y="587566"/>
                  <a:pt x="293783" y="587566"/>
                </a:cubicBezTo>
                <a:lnTo>
                  <a:pt x="293783" y="587566"/>
                </a:lnTo>
                <a:cubicBezTo>
                  <a:pt x="131640" y="587566"/>
                  <a:pt x="0" y="455926"/>
                  <a:pt x="0" y="293783"/>
                </a:cubicBezTo>
                <a:lnTo>
                  <a:pt x="0" y="293783"/>
                </a:lnTo>
                <a:cubicBezTo>
                  <a:pt x="0" y="131640"/>
                  <a:pt x="131640" y="0"/>
                  <a:pt x="29378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95325" y="3721253"/>
            <a:ext cx="697735" cy="58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5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4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84867" y="3721253"/>
            <a:ext cx="6659084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状态切换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84867" y="4112964"/>
            <a:ext cx="6634602" cy="636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新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QJM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同步所有未读取的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EditLog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,提升状态为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,开始对外提供服务。客户端自动重试连接新的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 NameNode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759" y="5196289"/>
            <a:ext cx="4945349" cy="1493398"/>
          </a:xfrm>
          <a:custGeom>
            <a:avLst/>
            <a:gdLst/>
            <a:ahLst/>
            <a:cxnLst/>
            <a:rect l="l" t="t" r="r" b="b"/>
            <a:pathLst>
              <a:path w="4945349" h="1493398">
                <a:moveTo>
                  <a:pt x="97922" y="0"/>
                </a:moveTo>
                <a:lnTo>
                  <a:pt x="4847427" y="0"/>
                </a:lnTo>
                <a:cubicBezTo>
                  <a:pt x="4901508" y="0"/>
                  <a:pt x="4945349" y="43841"/>
                  <a:pt x="4945349" y="97922"/>
                </a:cubicBezTo>
                <a:lnTo>
                  <a:pt x="4945349" y="1395476"/>
                </a:lnTo>
                <a:cubicBezTo>
                  <a:pt x="4945349" y="1449520"/>
                  <a:pt x="4901472" y="1493398"/>
                  <a:pt x="4847427" y="1493398"/>
                </a:cubicBezTo>
                <a:lnTo>
                  <a:pt x="97922" y="1493398"/>
                </a:lnTo>
                <a:cubicBezTo>
                  <a:pt x="43841" y="1493398"/>
                  <a:pt x="0" y="1449556"/>
                  <a:pt x="0" y="1395476"/>
                </a:cubicBezTo>
                <a:lnTo>
                  <a:pt x="0" y="97922"/>
                </a:lnTo>
                <a:cubicBezTo>
                  <a:pt x="0" y="43877"/>
                  <a:pt x="43877" y="0"/>
                  <a:pt x="9792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28337" y="5459470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110169" y="0"/>
                </a:moveTo>
                <a:cubicBezTo>
                  <a:pt x="170972" y="0"/>
                  <a:pt x="220337" y="49365"/>
                  <a:pt x="220337" y="110169"/>
                </a:cubicBezTo>
                <a:cubicBezTo>
                  <a:pt x="220337" y="170972"/>
                  <a:pt x="170972" y="220337"/>
                  <a:pt x="110169" y="220337"/>
                </a:cubicBezTo>
                <a:cubicBezTo>
                  <a:pt x="49365" y="220337"/>
                  <a:pt x="0" y="170972"/>
                  <a:pt x="0" y="110169"/>
                </a:cubicBezTo>
                <a:cubicBezTo>
                  <a:pt x="0" y="49365"/>
                  <a:pt x="49365" y="0"/>
                  <a:pt x="110169" y="0"/>
                </a:cubicBezTo>
                <a:close/>
                <a:moveTo>
                  <a:pt x="99840" y="51642"/>
                </a:moveTo>
                <a:lnTo>
                  <a:pt x="99840" y="110169"/>
                </a:lnTo>
                <a:cubicBezTo>
                  <a:pt x="99840" y="113611"/>
                  <a:pt x="101562" y="116839"/>
                  <a:pt x="104445" y="118776"/>
                </a:cubicBezTo>
                <a:lnTo>
                  <a:pt x="145758" y="146318"/>
                </a:lnTo>
                <a:cubicBezTo>
                  <a:pt x="150492" y="149502"/>
                  <a:pt x="156904" y="148211"/>
                  <a:pt x="160089" y="143434"/>
                </a:cubicBezTo>
                <a:cubicBezTo>
                  <a:pt x="163273" y="138658"/>
                  <a:pt x="161982" y="132288"/>
                  <a:pt x="157206" y="129104"/>
                </a:cubicBezTo>
                <a:lnTo>
                  <a:pt x="120497" y="104660"/>
                </a:lnTo>
                <a:lnTo>
                  <a:pt x="120497" y="51642"/>
                </a:lnTo>
                <a:cubicBezTo>
                  <a:pt x="120497" y="45918"/>
                  <a:pt x="115892" y="41313"/>
                  <a:pt x="110169" y="41313"/>
                </a:cubicBezTo>
                <a:cubicBezTo>
                  <a:pt x="104445" y="41313"/>
                  <a:pt x="99840" y="45918"/>
                  <a:pt x="99840" y="5164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9277" y="5398265"/>
            <a:ext cx="4370024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切换时间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7735" y="5838940"/>
            <a:ext cx="4639325" cy="636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整个切换过程通常在1-2分钟内完成,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RTO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(恢复时间目标)满足大多数场景需求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53221" y="5196289"/>
            <a:ext cx="4945349" cy="1493398"/>
          </a:xfrm>
          <a:custGeom>
            <a:avLst/>
            <a:gdLst/>
            <a:ahLst/>
            <a:cxnLst/>
            <a:rect l="l" t="t" r="r" b="b"/>
            <a:pathLst>
              <a:path w="4945349" h="1493398">
                <a:moveTo>
                  <a:pt x="97922" y="0"/>
                </a:moveTo>
                <a:lnTo>
                  <a:pt x="4847427" y="0"/>
                </a:lnTo>
                <a:cubicBezTo>
                  <a:pt x="4901508" y="0"/>
                  <a:pt x="4945349" y="43841"/>
                  <a:pt x="4945349" y="97922"/>
                </a:cubicBezTo>
                <a:lnTo>
                  <a:pt x="4945349" y="1395476"/>
                </a:lnTo>
                <a:cubicBezTo>
                  <a:pt x="4945349" y="1449520"/>
                  <a:pt x="4901472" y="1493398"/>
                  <a:pt x="4847427" y="1493398"/>
                </a:cubicBezTo>
                <a:lnTo>
                  <a:pt x="97922" y="1493398"/>
                </a:lnTo>
                <a:cubicBezTo>
                  <a:pt x="43841" y="1493398"/>
                  <a:pt x="0" y="1449556"/>
                  <a:pt x="0" y="1395476"/>
                </a:cubicBezTo>
                <a:lnTo>
                  <a:pt x="0" y="97922"/>
                </a:lnTo>
                <a:cubicBezTo>
                  <a:pt x="0" y="43877"/>
                  <a:pt x="43877" y="0"/>
                  <a:pt x="9792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85800" y="5459470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110169" y="220337"/>
                </a:moveTo>
                <a:cubicBezTo>
                  <a:pt x="170972" y="220337"/>
                  <a:pt x="220337" y="170972"/>
                  <a:pt x="220337" y="110169"/>
                </a:cubicBezTo>
                <a:cubicBezTo>
                  <a:pt x="220337" y="49365"/>
                  <a:pt x="170972" y="0"/>
                  <a:pt x="110169" y="0"/>
                </a:cubicBezTo>
                <a:cubicBezTo>
                  <a:pt x="49365" y="0"/>
                  <a:pt x="0" y="49365"/>
                  <a:pt x="0" y="110169"/>
                </a:cubicBezTo>
                <a:cubicBezTo>
                  <a:pt x="0" y="170972"/>
                  <a:pt x="49365" y="220337"/>
                  <a:pt x="110169" y="220337"/>
                </a:cubicBezTo>
                <a:close/>
                <a:moveTo>
                  <a:pt x="110169" y="58527"/>
                </a:moveTo>
                <a:cubicBezTo>
                  <a:pt x="115892" y="58527"/>
                  <a:pt x="120497" y="63132"/>
                  <a:pt x="120497" y="68855"/>
                </a:cubicBezTo>
                <a:lnTo>
                  <a:pt x="120497" y="117054"/>
                </a:lnTo>
                <a:cubicBezTo>
                  <a:pt x="120497" y="122778"/>
                  <a:pt x="115892" y="127383"/>
                  <a:pt x="110169" y="127383"/>
                </a:cubicBezTo>
                <a:cubicBezTo>
                  <a:pt x="104445" y="127383"/>
                  <a:pt x="99840" y="122778"/>
                  <a:pt x="99840" y="117054"/>
                </a:cubicBezTo>
                <a:lnTo>
                  <a:pt x="99840" y="68855"/>
                </a:lnTo>
                <a:cubicBezTo>
                  <a:pt x="99840" y="63132"/>
                  <a:pt x="104445" y="58527"/>
                  <a:pt x="110169" y="58527"/>
                </a:cubicBezTo>
                <a:close/>
                <a:moveTo>
                  <a:pt x="98678" y="151482"/>
                </a:moveTo>
                <a:cubicBezTo>
                  <a:pt x="98417" y="147217"/>
                  <a:pt x="100544" y="143159"/>
                  <a:pt x="104200" y="140947"/>
                </a:cubicBezTo>
                <a:cubicBezTo>
                  <a:pt x="107856" y="138736"/>
                  <a:pt x="112438" y="138736"/>
                  <a:pt x="116094" y="140947"/>
                </a:cubicBezTo>
                <a:cubicBezTo>
                  <a:pt x="119750" y="143159"/>
                  <a:pt x="121877" y="147217"/>
                  <a:pt x="121616" y="151482"/>
                </a:cubicBezTo>
                <a:cubicBezTo>
                  <a:pt x="121877" y="155747"/>
                  <a:pt x="119750" y="159805"/>
                  <a:pt x="116094" y="162016"/>
                </a:cubicBezTo>
                <a:cubicBezTo>
                  <a:pt x="112438" y="164228"/>
                  <a:pt x="107856" y="164228"/>
                  <a:pt x="104200" y="162016"/>
                </a:cubicBezTo>
                <a:cubicBezTo>
                  <a:pt x="100544" y="159805"/>
                  <a:pt x="98417" y="155747"/>
                  <a:pt x="98678" y="15148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36739" y="5398265"/>
            <a:ext cx="4370024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假死问题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55197" y="5838940"/>
            <a:ext cx="4639325" cy="636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进程挂了但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NN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正常,会导致不必要的切换(假死),需配置合理的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会话超时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810779" y="5196289"/>
            <a:ext cx="4945349" cy="1493398"/>
          </a:xfrm>
          <a:custGeom>
            <a:avLst/>
            <a:gdLst/>
            <a:ahLst/>
            <a:cxnLst/>
            <a:rect l="l" t="t" r="r" b="b"/>
            <a:pathLst>
              <a:path w="4945349" h="1493398">
                <a:moveTo>
                  <a:pt x="97922" y="0"/>
                </a:moveTo>
                <a:lnTo>
                  <a:pt x="4847427" y="0"/>
                </a:lnTo>
                <a:cubicBezTo>
                  <a:pt x="4901508" y="0"/>
                  <a:pt x="4945349" y="43841"/>
                  <a:pt x="4945349" y="97922"/>
                </a:cubicBezTo>
                <a:lnTo>
                  <a:pt x="4945349" y="1395476"/>
                </a:lnTo>
                <a:cubicBezTo>
                  <a:pt x="4945349" y="1449520"/>
                  <a:pt x="4901472" y="1493398"/>
                  <a:pt x="4847427" y="1493398"/>
                </a:cubicBezTo>
                <a:lnTo>
                  <a:pt x="97922" y="1493398"/>
                </a:lnTo>
                <a:cubicBezTo>
                  <a:pt x="43841" y="1493398"/>
                  <a:pt x="0" y="1449556"/>
                  <a:pt x="0" y="1395476"/>
                </a:cubicBezTo>
                <a:lnTo>
                  <a:pt x="0" y="97922"/>
                </a:lnTo>
                <a:cubicBezTo>
                  <a:pt x="0" y="43877"/>
                  <a:pt x="43877" y="0"/>
                  <a:pt x="9792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1043358" y="5459470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206609" y="82627"/>
                </a:moveTo>
                <a:lnTo>
                  <a:pt x="210009" y="82627"/>
                </a:lnTo>
                <a:cubicBezTo>
                  <a:pt x="215733" y="82627"/>
                  <a:pt x="220337" y="78022"/>
                  <a:pt x="220337" y="72298"/>
                </a:cubicBezTo>
                <a:lnTo>
                  <a:pt x="220337" y="10328"/>
                </a:lnTo>
                <a:cubicBezTo>
                  <a:pt x="220337" y="6154"/>
                  <a:pt x="217841" y="2367"/>
                  <a:pt x="213968" y="775"/>
                </a:cubicBezTo>
                <a:cubicBezTo>
                  <a:pt x="210095" y="-818"/>
                  <a:pt x="205663" y="86"/>
                  <a:pt x="202693" y="3012"/>
                </a:cubicBezTo>
                <a:lnTo>
                  <a:pt x="180444" y="25304"/>
                </a:lnTo>
                <a:cubicBezTo>
                  <a:pt x="161380" y="9511"/>
                  <a:pt x="136850" y="0"/>
                  <a:pt x="110169" y="0"/>
                </a:cubicBezTo>
                <a:cubicBezTo>
                  <a:pt x="54654" y="0"/>
                  <a:pt x="8736" y="41055"/>
                  <a:pt x="1119" y="94461"/>
                </a:cubicBezTo>
                <a:cubicBezTo>
                  <a:pt x="43" y="101992"/>
                  <a:pt x="5250" y="108964"/>
                  <a:pt x="12781" y="110040"/>
                </a:cubicBezTo>
                <a:cubicBezTo>
                  <a:pt x="20312" y="111115"/>
                  <a:pt x="27284" y="105865"/>
                  <a:pt x="28360" y="98377"/>
                </a:cubicBezTo>
                <a:cubicBezTo>
                  <a:pt x="34083" y="58312"/>
                  <a:pt x="68554" y="27542"/>
                  <a:pt x="110169" y="27542"/>
                </a:cubicBezTo>
                <a:cubicBezTo>
                  <a:pt x="129276" y="27542"/>
                  <a:pt x="146834" y="33997"/>
                  <a:pt x="160820" y="44885"/>
                </a:cubicBezTo>
                <a:lnTo>
                  <a:pt x="140723" y="64982"/>
                </a:lnTo>
                <a:cubicBezTo>
                  <a:pt x="137754" y="67952"/>
                  <a:pt x="136893" y="72384"/>
                  <a:pt x="138485" y="76257"/>
                </a:cubicBezTo>
                <a:cubicBezTo>
                  <a:pt x="140078" y="80130"/>
                  <a:pt x="143865" y="82627"/>
                  <a:pt x="148039" y="82627"/>
                </a:cubicBezTo>
                <a:lnTo>
                  <a:pt x="206609" y="82627"/>
                </a:lnTo>
                <a:close/>
                <a:moveTo>
                  <a:pt x="219261" y="125876"/>
                </a:moveTo>
                <a:cubicBezTo>
                  <a:pt x="220337" y="118345"/>
                  <a:pt x="215087" y="111374"/>
                  <a:pt x="207599" y="110298"/>
                </a:cubicBezTo>
                <a:cubicBezTo>
                  <a:pt x="200111" y="109222"/>
                  <a:pt x="193096" y="114472"/>
                  <a:pt x="192021" y="121960"/>
                </a:cubicBezTo>
                <a:cubicBezTo>
                  <a:pt x="186297" y="161982"/>
                  <a:pt x="151826" y="192752"/>
                  <a:pt x="110212" y="192752"/>
                </a:cubicBezTo>
                <a:cubicBezTo>
                  <a:pt x="91104" y="192752"/>
                  <a:pt x="73546" y="186297"/>
                  <a:pt x="59560" y="175409"/>
                </a:cubicBezTo>
                <a:lnTo>
                  <a:pt x="79614" y="155355"/>
                </a:lnTo>
                <a:cubicBezTo>
                  <a:pt x="82583" y="152386"/>
                  <a:pt x="83444" y="147953"/>
                  <a:pt x="81852" y="144080"/>
                </a:cubicBezTo>
                <a:cubicBezTo>
                  <a:pt x="80260" y="140207"/>
                  <a:pt x="76473" y="137711"/>
                  <a:pt x="72298" y="137711"/>
                </a:cubicBezTo>
                <a:lnTo>
                  <a:pt x="10328" y="137711"/>
                </a:lnTo>
                <a:cubicBezTo>
                  <a:pt x="4605" y="137711"/>
                  <a:pt x="0" y="142316"/>
                  <a:pt x="0" y="148039"/>
                </a:cubicBezTo>
                <a:lnTo>
                  <a:pt x="0" y="210009"/>
                </a:lnTo>
                <a:cubicBezTo>
                  <a:pt x="0" y="214183"/>
                  <a:pt x="2496" y="217970"/>
                  <a:pt x="6369" y="219563"/>
                </a:cubicBezTo>
                <a:cubicBezTo>
                  <a:pt x="10242" y="221155"/>
                  <a:pt x="14675" y="220251"/>
                  <a:pt x="17644" y="217325"/>
                </a:cubicBezTo>
                <a:lnTo>
                  <a:pt x="39936" y="195033"/>
                </a:lnTo>
                <a:cubicBezTo>
                  <a:pt x="58957" y="210827"/>
                  <a:pt x="83487" y="220337"/>
                  <a:pt x="110169" y="220337"/>
                </a:cubicBezTo>
                <a:cubicBezTo>
                  <a:pt x="165683" y="220337"/>
                  <a:pt x="211601" y="179282"/>
                  <a:pt x="219218" y="12587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94297" y="5398265"/>
            <a:ext cx="4370024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手动切换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012755" y="5838940"/>
            <a:ext cx="4639325" cy="648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2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haadmin 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命令可手动触发切换,用于计划性维护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5759" y="6891663"/>
            <a:ext cx="15264482" cy="1432193"/>
          </a:xfrm>
          <a:custGeom>
            <a:avLst/>
            <a:gdLst/>
            <a:ahLst/>
            <a:cxnLst/>
            <a:rect l="l" t="t" r="r" b="b"/>
            <a:pathLst>
              <a:path w="15264482" h="1432193">
                <a:moveTo>
                  <a:pt x="97933" y="0"/>
                </a:moveTo>
                <a:lnTo>
                  <a:pt x="15166549" y="0"/>
                </a:lnTo>
                <a:cubicBezTo>
                  <a:pt x="15220636" y="0"/>
                  <a:pt x="15264482" y="43846"/>
                  <a:pt x="15264482" y="97933"/>
                </a:cubicBezTo>
                <a:lnTo>
                  <a:pt x="15264482" y="1334259"/>
                </a:lnTo>
                <a:cubicBezTo>
                  <a:pt x="15264482" y="1388347"/>
                  <a:pt x="15220636" y="1432193"/>
                  <a:pt x="15166549" y="1432193"/>
                </a:cubicBezTo>
                <a:lnTo>
                  <a:pt x="97933" y="1432193"/>
                </a:lnTo>
                <a:cubicBezTo>
                  <a:pt x="43846" y="1432193"/>
                  <a:pt x="0" y="1388347"/>
                  <a:pt x="0" y="1334259"/>
                </a:cubicBezTo>
                <a:lnTo>
                  <a:pt x="0" y="97933"/>
                </a:lnTo>
                <a:cubicBezTo>
                  <a:pt x="0" y="43846"/>
                  <a:pt x="43846" y="0"/>
                  <a:pt x="979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28337" y="7142602"/>
            <a:ext cx="244819" cy="244819"/>
          </a:xfrm>
          <a:custGeom>
            <a:avLst/>
            <a:gdLst/>
            <a:ahLst/>
            <a:cxnLst/>
            <a:rect l="l" t="t" r="r" b="b"/>
            <a:pathLst>
              <a:path w="244819" h="244819">
                <a:moveTo>
                  <a:pt x="122410" y="244819"/>
                </a:moveTo>
                <a:cubicBezTo>
                  <a:pt x="189969" y="244819"/>
                  <a:pt x="244819" y="189969"/>
                  <a:pt x="244819" y="122410"/>
                </a:cubicBezTo>
                <a:cubicBezTo>
                  <a:pt x="244819" y="54850"/>
                  <a:pt x="189969" y="0"/>
                  <a:pt x="122410" y="0"/>
                </a:cubicBezTo>
                <a:cubicBezTo>
                  <a:pt x="54850" y="0"/>
                  <a:pt x="0" y="54850"/>
                  <a:pt x="0" y="122410"/>
                </a:cubicBezTo>
                <a:cubicBezTo>
                  <a:pt x="0" y="189969"/>
                  <a:pt x="54850" y="244819"/>
                  <a:pt x="122410" y="244819"/>
                </a:cubicBezTo>
                <a:close/>
                <a:moveTo>
                  <a:pt x="122410" y="84157"/>
                </a:moveTo>
                <a:cubicBezTo>
                  <a:pt x="113946" y="84157"/>
                  <a:pt x="107108" y="90994"/>
                  <a:pt x="107108" y="99458"/>
                </a:cubicBezTo>
                <a:cubicBezTo>
                  <a:pt x="107108" y="105817"/>
                  <a:pt x="101992" y="110934"/>
                  <a:pt x="95633" y="110934"/>
                </a:cubicBezTo>
                <a:cubicBezTo>
                  <a:pt x="89273" y="110934"/>
                  <a:pt x="84157" y="105817"/>
                  <a:pt x="84157" y="99458"/>
                </a:cubicBezTo>
                <a:cubicBezTo>
                  <a:pt x="84157" y="78323"/>
                  <a:pt x="101275" y="61205"/>
                  <a:pt x="122410" y="61205"/>
                </a:cubicBezTo>
                <a:cubicBezTo>
                  <a:pt x="143544" y="61205"/>
                  <a:pt x="160663" y="78323"/>
                  <a:pt x="160663" y="99458"/>
                </a:cubicBezTo>
                <a:cubicBezTo>
                  <a:pt x="160663" y="122027"/>
                  <a:pt x="143449" y="131590"/>
                  <a:pt x="133886" y="135081"/>
                </a:cubicBezTo>
                <a:lnTo>
                  <a:pt x="133886" y="136898"/>
                </a:lnTo>
                <a:cubicBezTo>
                  <a:pt x="133886" y="143258"/>
                  <a:pt x="128769" y="148374"/>
                  <a:pt x="122410" y="148374"/>
                </a:cubicBezTo>
                <a:cubicBezTo>
                  <a:pt x="116050" y="148374"/>
                  <a:pt x="110934" y="143258"/>
                  <a:pt x="110934" y="136898"/>
                </a:cubicBezTo>
                <a:lnTo>
                  <a:pt x="110934" y="133025"/>
                </a:lnTo>
                <a:cubicBezTo>
                  <a:pt x="110934" y="123223"/>
                  <a:pt x="118011" y="116194"/>
                  <a:pt x="125326" y="113803"/>
                </a:cubicBezTo>
                <a:cubicBezTo>
                  <a:pt x="128387" y="112799"/>
                  <a:pt x="131638" y="111173"/>
                  <a:pt x="134029" y="108878"/>
                </a:cubicBezTo>
                <a:cubicBezTo>
                  <a:pt x="136085" y="106869"/>
                  <a:pt x="137711" y="104096"/>
                  <a:pt x="137711" y="99506"/>
                </a:cubicBezTo>
                <a:cubicBezTo>
                  <a:pt x="137711" y="91042"/>
                  <a:pt x="130873" y="84204"/>
                  <a:pt x="122410" y="84204"/>
                </a:cubicBezTo>
                <a:close/>
                <a:moveTo>
                  <a:pt x="107108" y="175964"/>
                </a:moveTo>
                <a:cubicBezTo>
                  <a:pt x="107108" y="167519"/>
                  <a:pt x="113965" y="160663"/>
                  <a:pt x="122410" y="160663"/>
                </a:cubicBezTo>
                <a:cubicBezTo>
                  <a:pt x="130855" y="160663"/>
                  <a:pt x="137711" y="167519"/>
                  <a:pt x="137711" y="175964"/>
                </a:cubicBezTo>
                <a:cubicBezTo>
                  <a:pt x="137711" y="184409"/>
                  <a:pt x="130855" y="191265"/>
                  <a:pt x="122410" y="191265"/>
                </a:cubicBezTo>
                <a:cubicBezTo>
                  <a:pt x="113965" y="191265"/>
                  <a:pt x="107108" y="184409"/>
                  <a:pt x="107108" y="175964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03759" y="7093639"/>
            <a:ext cx="14676916" cy="34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思考题示例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7735" y="7534313"/>
            <a:ext cx="7332337" cy="587566"/>
          </a:xfrm>
          <a:custGeom>
            <a:avLst/>
            <a:gdLst/>
            <a:ahLst/>
            <a:cxnLst/>
            <a:rect l="l" t="t" r="r" b="b"/>
            <a:pathLst>
              <a:path w="7332337" h="587566">
                <a:moveTo>
                  <a:pt x="48962" y="0"/>
                </a:moveTo>
                <a:lnTo>
                  <a:pt x="7283375" y="0"/>
                </a:lnTo>
                <a:cubicBezTo>
                  <a:pt x="7310416" y="0"/>
                  <a:pt x="7332337" y="21921"/>
                  <a:pt x="7332337" y="48962"/>
                </a:cubicBezTo>
                <a:lnTo>
                  <a:pt x="7332337" y="538604"/>
                </a:lnTo>
                <a:cubicBezTo>
                  <a:pt x="7332337" y="565645"/>
                  <a:pt x="7310416" y="587566"/>
                  <a:pt x="7283375" y="587566"/>
                </a:cubicBezTo>
                <a:lnTo>
                  <a:pt x="48962" y="587566"/>
                </a:lnTo>
                <a:cubicBezTo>
                  <a:pt x="21921" y="587566"/>
                  <a:pt x="0" y="565645"/>
                  <a:pt x="0" y="538604"/>
                </a:cubicBezTo>
                <a:lnTo>
                  <a:pt x="0" y="48962"/>
                </a:lnTo>
                <a:cubicBezTo>
                  <a:pt x="0" y="21939"/>
                  <a:pt x="21939" y="0"/>
                  <a:pt x="489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44627" y="7681205"/>
            <a:ext cx="7136482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Q1: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为什么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HA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中需要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JournalNode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集群而不是简单的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NFS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共享存储?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25928" y="7534313"/>
            <a:ext cx="7332337" cy="587566"/>
          </a:xfrm>
          <a:custGeom>
            <a:avLst/>
            <a:gdLst/>
            <a:ahLst/>
            <a:cxnLst/>
            <a:rect l="l" t="t" r="r" b="b"/>
            <a:pathLst>
              <a:path w="7332337" h="587566">
                <a:moveTo>
                  <a:pt x="48962" y="0"/>
                </a:moveTo>
                <a:lnTo>
                  <a:pt x="7283375" y="0"/>
                </a:lnTo>
                <a:cubicBezTo>
                  <a:pt x="7310416" y="0"/>
                  <a:pt x="7332337" y="21921"/>
                  <a:pt x="7332337" y="48962"/>
                </a:cubicBezTo>
                <a:lnTo>
                  <a:pt x="7332337" y="538604"/>
                </a:lnTo>
                <a:cubicBezTo>
                  <a:pt x="7332337" y="565645"/>
                  <a:pt x="7310416" y="587566"/>
                  <a:pt x="7283375" y="587566"/>
                </a:cubicBezTo>
                <a:lnTo>
                  <a:pt x="48962" y="587566"/>
                </a:lnTo>
                <a:cubicBezTo>
                  <a:pt x="21921" y="587566"/>
                  <a:pt x="0" y="565645"/>
                  <a:pt x="0" y="538604"/>
                </a:cubicBezTo>
                <a:lnTo>
                  <a:pt x="0" y="48962"/>
                </a:lnTo>
                <a:cubicBezTo>
                  <a:pt x="0" y="21939"/>
                  <a:pt x="21939" y="0"/>
                  <a:pt x="4896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372819" y="7681205"/>
            <a:ext cx="7136482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Q2: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如果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ZKFC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进程挂了但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NameNode</a:t>
            </a:r>
            <a:r>
              <a:rPr lang="en-US" sz="154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进程正常,会发生什么?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41600" cy="609600"/>
          </a:xfrm>
          <a:custGeom>
            <a:avLst/>
            <a:gdLst/>
            <a:ahLst/>
            <a:cxnLst/>
            <a:rect l="l" t="t" r="r" b="b"/>
            <a:pathLst>
              <a:path w="2641600" h="609600">
                <a:moveTo>
                  <a:pt x="0" y="0"/>
                </a:moveTo>
                <a:lnTo>
                  <a:pt x="2641600" y="0"/>
                </a:lnTo>
                <a:lnTo>
                  <a:pt x="2641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6466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编程模型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</a:t>
            </a: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执行阶段、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机制及优化策略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75833" cy="338667"/>
          </a:xfrm>
          <a:custGeom>
            <a:avLst/>
            <a:gdLst/>
            <a:ahLst/>
            <a:cxnLst/>
            <a:rect l="l" t="t" r="r" b="b"/>
            <a:pathLst>
              <a:path w="1375833" h="338667">
                <a:moveTo>
                  <a:pt x="0" y="0"/>
                </a:moveTo>
                <a:lnTo>
                  <a:pt x="1375833" y="0"/>
                </a:lnTo>
                <a:lnTo>
                  <a:pt x="1375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8855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05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编程模型完整流程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377370"/>
            <a:ext cx="15409333" cy="2804583"/>
          </a:xfrm>
          <a:custGeom>
            <a:avLst/>
            <a:gdLst/>
            <a:ahLst/>
            <a:cxnLst/>
            <a:rect l="l" t="t" r="r" b="b"/>
            <a:pathLst>
              <a:path w="15409333" h="2804583">
                <a:moveTo>
                  <a:pt x="42333" y="0"/>
                </a:moveTo>
                <a:lnTo>
                  <a:pt x="15367000" y="0"/>
                </a:lnTo>
                <a:cubicBezTo>
                  <a:pt x="15390380" y="0"/>
                  <a:pt x="15409333" y="18953"/>
                  <a:pt x="15409333" y="42333"/>
                </a:cubicBezTo>
                <a:lnTo>
                  <a:pt x="15409333" y="2719913"/>
                </a:lnTo>
                <a:cubicBezTo>
                  <a:pt x="15409333" y="2766675"/>
                  <a:pt x="15371425" y="2804583"/>
                  <a:pt x="15324663" y="2804583"/>
                </a:cubicBezTo>
                <a:lnTo>
                  <a:pt x="84670" y="2804583"/>
                </a:lnTo>
                <a:cubicBezTo>
                  <a:pt x="37908" y="2804583"/>
                  <a:pt x="0" y="2766675"/>
                  <a:pt x="0" y="271991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333" y="1377370"/>
            <a:ext cx="15409333" cy="42333"/>
          </a:xfrm>
          <a:custGeom>
            <a:avLst/>
            <a:gdLst/>
            <a:ahLst/>
            <a:cxnLst/>
            <a:rect l="l" t="t" r="r" b="b"/>
            <a:pathLst>
              <a:path w="15409333" h="42333">
                <a:moveTo>
                  <a:pt x="42333" y="0"/>
                </a:moveTo>
                <a:lnTo>
                  <a:pt x="15367000" y="0"/>
                </a:lnTo>
                <a:cubicBezTo>
                  <a:pt x="15390380" y="0"/>
                  <a:pt x="15409333" y="18953"/>
                  <a:pt x="15409333" y="42333"/>
                </a:cubicBezTo>
                <a:lnTo>
                  <a:pt x="154093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6750" y="165253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500" y="1610203"/>
            <a:ext cx="14795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标准执行阶段:</a:t>
            </a:r>
            <a:r>
              <a:rPr lang="en-US" sz="2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InputSplit → Map → Shuffle → Reduce → Output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5000" y="2118203"/>
            <a:ext cx="2899833" cy="1852083"/>
          </a:xfrm>
          <a:custGeom>
            <a:avLst/>
            <a:gdLst/>
            <a:ahLst/>
            <a:cxnLst/>
            <a:rect l="l" t="t" r="r" b="b"/>
            <a:pathLst>
              <a:path w="2899833" h="1852083">
                <a:moveTo>
                  <a:pt x="84659" y="0"/>
                </a:moveTo>
                <a:lnTo>
                  <a:pt x="2815175" y="0"/>
                </a:lnTo>
                <a:cubicBezTo>
                  <a:pt x="2861930" y="0"/>
                  <a:pt x="2899833" y="37903"/>
                  <a:pt x="2899833" y="84659"/>
                </a:cubicBezTo>
                <a:lnTo>
                  <a:pt x="2899833" y="1767425"/>
                </a:lnTo>
                <a:cubicBezTo>
                  <a:pt x="2899833" y="1814180"/>
                  <a:pt x="2861930" y="1852083"/>
                  <a:pt x="2815175" y="1852083"/>
                </a:cubicBezTo>
                <a:lnTo>
                  <a:pt x="84659" y="1852083"/>
                </a:lnTo>
                <a:cubicBezTo>
                  <a:pt x="37903" y="1852083"/>
                  <a:pt x="0" y="1814180"/>
                  <a:pt x="0" y="1767425"/>
                </a:cubicBezTo>
                <a:lnTo>
                  <a:pt x="0" y="84659"/>
                </a:lnTo>
                <a:cubicBezTo>
                  <a:pt x="0" y="37934"/>
                  <a:pt x="37934" y="0"/>
                  <a:pt x="8465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767" y="22452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75850" y="2245203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IS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4375" y="2837870"/>
            <a:ext cx="2741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InputSplit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4958" y="3218870"/>
            <a:ext cx="27199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数据的逻辑切分,决定MapTask并行度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534" y="2118203"/>
            <a:ext cx="2899833" cy="1852083"/>
          </a:xfrm>
          <a:custGeom>
            <a:avLst/>
            <a:gdLst/>
            <a:ahLst/>
            <a:cxnLst/>
            <a:rect l="l" t="t" r="r" b="b"/>
            <a:pathLst>
              <a:path w="2899833" h="1852083">
                <a:moveTo>
                  <a:pt x="84659" y="0"/>
                </a:moveTo>
                <a:lnTo>
                  <a:pt x="2815175" y="0"/>
                </a:lnTo>
                <a:cubicBezTo>
                  <a:pt x="2861930" y="0"/>
                  <a:pt x="2899833" y="37903"/>
                  <a:pt x="2899833" y="84659"/>
                </a:cubicBezTo>
                <a:lnTo>
                  <a:pt x="2899833" y="1767425"/>
                </a:lnTo>
                <a:cubicBezTo>
                  <a:pt x="2899833" y="1814180"/>
                  <a:pt x="2861930" y="1852083"/>
                  <a:pt x="2815175" y="1852083"/>
                </a:cubicBezTo>
                <a:lnTo>
                  <a:pt x="84659" y="1852083"/>
                </a:lnTo>
                <a:cubicBezTo>
                  <a:pt x="37903" y="1852083"/>
                  <a:pt x="0" y="1814180"/>
                  <a:pt x="0" y="1767425"/>
                </a:cubicBezTo>
                <a:lnTo>
                  <a:pt x="0" y="84659"/>
                </a:lnTo>
                <a:cubicBezTo>
                  <a:pt x="0" y="37934"/>
                  <a:pt x="37934" y="0"/>
                  <a:pt x="8465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51301" y="22452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98384" y="2245203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M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36909" y="2837870"/>
            <a:ext cx="2741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47492" y="3218870"/>
            <a:ext cx="2719917" cy="486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对每条记录执行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map()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函数,输出中间键值对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90734" y="2128787"/>
            <a:ext cx="2878667" cy="1830917"/>
          </a:xfrm>
          <a:custGeom>
            <a:avLst/>
            <a:gdLst/>
            <a:ahLst/>
            <a:cxnLst/>
            <a:rect l="l" t="t" r="r" b="b"/>
            <a:pathLst>
              <a:path w="2878667" h="1830917">
                <a:moveTo>
                  <a:pt x="84662" y="0"/>
                </a:moveTo>
                <a:lnTo>
                  <a:pt x="2794005" y="0"/>
                </a:lnTo>
                <a:cubicBezTo>
                  <a:pt x="2840762" y="0"/>
                  <a:pt x="2878667" y="37904"/>
                  <a:pt x="2878667" y="84662"/>
                </a:cubicBezTo>
                <a:lnTo>
                  <a:pt x="2878667" y="1746255"/>
                </a:lnTo>
                <a:cubicBezTo>
                  <a:pt x="2878667" y="1793012"/>
                  <a:pt x="2840762" y="1830917"/>
                  <a:pt x="2794005" y="1830917"/>
                </a:cubicBezTo>
                <a:lnTo>
                  <a:pt x="84662" y="1830917"/>
                </a:lnTo>
                <a:cubicBezTo>
                  <a:pt x="37904" y="1830917"/>
                  <a:pt x="0" y="1793012"/>
                  <a:pt x="0" y="1746255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F2C55C">
              <a:alpha val="20000"/>
            </a:srgbClr>
          </a:solidFill>
          <a:ln w="25400">
            <a:solidFill>
              <a:srgbClr val="F2C55C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873917" y="226637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21001" y="2266370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S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80692" y="2859037"/>
            <a:ext cx="2698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91275" y="3240037"/>
            <a:ext cx="2677583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连接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的桥梁,数据重分布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28317" y="3565474"/>
            <a:ext cx="2603500" cy="254000"/>
          </a:xfrm>
          <a:custGeom>
            <a:avLst/>
            <a:gdLst/>
            <a:ahLst/>
            <a:cxnLst/>
            <a:rect l="l" t="t" r="r" b="b"/>
            <a:pathLst>
              <a:path w="2603500" h="254000">
                <a:moveTo>
                  <a:pt x="42334" y="0"/>
                </a:moveTo>
                <a:lnTo>
                  <a:pt x="2561166" y="0"/>
                </a:lnTo>
                <a:cubicBezTo>
                  <a:pt x="2584546" y="0"/>
                  <a:pt x="2603500" y="18954"/>
                  <a:pt x="2603500" y="42334"/>
                </a:cubicBezTo>
                <a:lnTo>
                  <a:pt x="2603500" y="211666"/>
                </a:lnTo>
                <a:cubicBezTo>
                  <a:pt x="2603500" y="235046"/>
                  <a:pt x="2584546" y="254000"/>
                  <a:pt x="2561166" y="254000"/>
                </a:cubicBezTo>
                <a:lnTo>
                  <a:pt x="42334" y="254000"/>
                </a:lnTo>
                <a:cubicBezTo>
                  <a:pt x="18954" y="254000"/>
                  <a:pt x="0" y="235046"/>
                  <a:pt x="0" y="211666"/>
                </a:cubicBezTo>
                <a:lnTo>
                  <a:pt x="0" y="42334"/>
                </a:lnTo>
                <a:cubicBezTo>
                  <a:pt x="0" y="18969"/>
                  <a:pt x="18969" y="0"/>
                  <a:pt x="42334" y="0"/>
                </a:cubicBezTo>
                <a:close/>
              </a:path>
            </a:pathLst>
          </a:custGeom>
          <a:solidFill>
            <a:srgbClr val="F2C55C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38900" y="3607807"/>
            <a:ext cx="2582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性能瓶颈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02767" y="2118203"/>
            <a:ext cx="2899833" cy="1852083"/>
          </a:xfrm>
          <a:custGeom>
            <a:avLst/>
            <a:gdLst/>
            <a:ahLst/>
            <a:cxnLst/>
            <a:rect l="l" t="t" r="r" b="b"/>
            <a:pathLst>
              <a:path w="2899833" h="1852083">
                <a:moveTo>
                  <a:pt x="84659" y="0"/>
                </a:moveTo>
                <a:lnTo>
                  <a:pt x="2815175" y="0"/>
                </a:lnTo>
                <a:cubicBezTo>
                  <a:pt x="2861930" y="0"/>
                  <a:pt x="2899833" y="37903"/>
                  <a:pt x="2899833" y="84659"/>
                </a:cubicBezTo>
                <a:lnTo>
                  <a:pt x="2899833" y="1767425"/>
                </a:lnTo>
                <a:cubicBezTo>
                  <a:pt x="2899833" y="1814180"/>
                  <a:pt x="2861930" y="1852083"/>
                  <a:pt x="2815175" y="1852083"/>
                </a:cubicBezTo>
                <a:lnTo>
                  <a:pt x="84659" y="1852083"/>
                </a:lnTo>
                <a:cubicBezTo>
                  <a:pt x="37903" y="1852083"/>
                  <a:pt x="0" y="1814180"/>
                  <a:pt x="0" y="1767425"/>
                </a:cubicBezTo>
                <a:lnTo>
                  <a:pt x="0" y="84659"/>
                </a:lnTo>
                <a:cubicBezTo>
                  <a:pt x="0" y="37934"/>
                  <a:pt x="37934" y="0"/>
                  <a:pt x="8465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896534" y="22452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843617" y="2245203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R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782142" y="2837870"/>
            <a:ext cx="2741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92725" y="3218870"/>
            <a:ext cx="27199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对相同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value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列表聚合处理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2725383" y="2118203"/>
            <a:ext cx="2899833" cy="1852083"/>
          </a:xfrm>
          <a:custGeom>
            <a:avLst/>
            <a:gdLst/>
            <a:ahLst/>
            <a:cxnLst/>
            <a:rect l="l" t="t" r="r" b="b"/>
            <a:pathLst>
              <a:path w="2899833" h="1852083">
                <a:moveTo>
                  <a:pt x="84659" y="0"/>
                </a:moveTo>
                <a:lnTo>
                  <a:pt x="2815175" y="0"/>
                </a:lnTo>
                <a:cubicBezTo>
                  <a:pt x="2861930" y="0"/>
                  <a:pt x="2899833" y="37903"/>
                  <a:pt x="2899833" y="84659"/>
                </a:cubicBezTo>
                <a:lnTo>
                  <a:pt x="2899833" y="1767425"/>
                </a:lnTo>
                <a:cubicBezTo>
                  <a:pt x="2899833" y="1814180"/>
                  <a:pt x="2861930" y="1852083"/>
                  <a:pt x="2815175" y="1852083"/>
                </a:cubicBezTo>
                <a:lnTo>
                  <a:pt x="84659" y="1852083"/>
                </a:lnTo>
                <a:cubicBezTo>
                  <a:pt x="37903" y="1852083"/>
                  <a:pt x="0" y="1814180"/>
                  <a:pt x="0" y="1767425"/>
                </a:cubicBezTo>
                <a:lnTo>
                  <a:pt x="0" y="84659"/>
                </a:lnTo>
                <a:cubicBezTo>
                  <a:pt x="0" y="37934"/>
                  <a:pt x="37934" y="0"/>
                  <a:pt x="8465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3919150" y="22452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3866234" y="2245203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Liter" pitchFamily="34" charset="-120"/>
              </a:rPr>
              <a:t>O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804758" y="2837870"/>
            <a:ext cx="2741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Output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2815342" y="3218870"/>
            <a:ext cx="2719917" cy="24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输出最终结果到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44500" y="4043838"/>
            <a:ext cx="7577667" cy="4995336"/>
          </a:xfrm>
          <a:custGeom>
            <a:avLst/>
            <a:gdLst/>
            <a:ahLst/>
            <a:cxnLst/>
            <a:rect l="l" t="t" r="r" b="b"/>
            <a:pathLst>
              <a:path w="7577667" h="5122333">
                <a:moveTo>
                  <a:pt x="42333" y="0"/>
                </a:moveTo>
                <a:lnTo>
                  <a:pt x="7492994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5037661"/>
                </a:lnTo>
                <a:cubicBezTo>
                  <a:pt x="7577667" y="5084424"/>
                  <a:pt x="7539758" y="5122333"/>
                  <a:pt x="7492994" y="5122333"/>
                </a:cubicBezTo>
                <a:lnTo>
                  <a:pt x="42333" y="5122333"/>
                </a:lnTo>
                <a:cubicBezTo>
                  <a:pt x="18953" y="5122333"/>
                  <a:pt x="0" y="5103380"/>
                  <a:pt x="0" y="508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4500" y="4043837"/>
            <a:ext cx="42333" cy="4996800"/>
          </a:xfrm>
          <a:custGeom>
            <a:avLst/>
            <a:gdLst/>
            <a:ahLst/>
            <a:cxnLst/>
            <a:rect l="l" t="t" r="r" b="b"/>
            <a:pathLst>
              <a:path w="42333" h="5122333">
                <a:moveTo>
                  <a:pt x="42333" y="0"/>
                </a:moveTo>
                <a:lnTo>
                  <a:pt x="42333" y="0"/>
                </a:lnTo>
                <a:lnTo>
                  <a:pt x="42333" y="5122333"/>
                </a:lnTo>
                <a:lnTo>
                  <a:pt x="42333" y="5122333"/>
                </a:lnTo>
                <a:cubicBezTo>
                  <a:pt x="18953" y="5122333"/>
                  <a:pt x="0" y="5103380"/>
                  <a:pt x="0" y="508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09083" y="429783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127000"/>
                </a:moveTo>
                <a:lnTo>
                  <a:pt x="75654" y="146596"/>
                </a:lnTo>
                <a:cubicBezTo>
                  <a:pt x="69404" y="144165"/>
                  <a:pt x="62657" y="142875"/>
                  <a:pt x="55563" y="142875"/>
                </a:cubicBezTo>
                <a:cubicBezTo>
                  <a:pt x="24854" y="142875"/>
                  <a:pt x="0" y="167729"/>
                  <a:pt x="0" y="198438"/>
                </a:cubicBezTo>
                <a:cubicBezTo>
                  <a:pt x="0" y="229146"/>
                  <a:pt x="24854" y="254000"/>
                  <a:pt x="55563" y="254000"/>
                </a:cubicBezTo>
                <a:cubicBezTo>
                  <a:pt x="86271" y="254000"/>
                  <a:pt x="111125" y="229146"/>
                  <a:pt x="111125" y="198438"/>
                </a:cubicBezTo>
                <a:cubicBezTo>
                  <a:pt x="111125" y="191343"/>
                  <a:pt x="109786" y="184596"/>
                  <a:pt x="107404" y="178346"/>
                </a:cubicBezTo>
                <a:lnTo>
                  <a:pt x="247650" y="38100"/>
                </a:lnTo>
                <a:cubicBezTo>
                  <a:pt x="251172" y="34578"/>
                  <a:pt x="251172" y="28922"/>
                  <a:pt x="247650" y="25400"/>
                </a:cubicBezTo>
                <a:cubicBezTo>
                  <a:pt x="233611" y="11361"/>
                  <a:pt x="210889" y="11361"/>
                  <a:pt x="196850" y="25400"/>
                </a:cubicBezTo>
                <a:lnTo>
                  <a:pt x="127000" y="95250"/>
                </a:lnTo>
                <a:lnTo>
                  <a:pt x="107404" y="75654"/>
                </a:lnTo>
                <a:cubicBezTo>
                  <a:pt x="109835" y="69404"/>
                  <a:pt x="111125" y="62657"/>
                  <a:pt x="111125" y="55563"/>
                </a:cubicBezTo>
                <a:cubicBezTo>
                  <a:pt x="111125" y="24854"/>
                  <a:pt x="86271" y="0"/>
                  <a:pt x="55563" y="0"/>
                </a:cubicBezTo>
                <a:cubicBezTo>
                  <a:pt x="24854" y="0"/>
                  <a:pt x="0" y="24854"/>
                  <a:pt x="0" y="55563"/>
                </a:cubicBezTo>
                <a:cubicBezTo>
                  <a:pt x="0" y="86271"/>
                  <a:pt x="24854" y="111125"/>
                  <a:pt x="55563" y="111125"/>
                </a:cubicBezTo>
                <a:cubicBezTo>
                  <a:pt x="62657" y="111125"/>
                  <a:pt x="69404" y="109786"/>
                  <a:pt x="75654" y="107404"/>
                </a:cubicBezTo>
                <a:lnTo>
                  <a:pt x="95250" y="127000"/>
                </a:lnTo>
                <a:close/>
                <a:moveTo>
                  <a:pt x="143818" y="175568"/>
                </a:moveTo>
                <a:lnTo>
                  <a:pt x="196850" y="228600"/>
                </a:lnTo>
                <a:cubicBezTo>
                  <a:pt x="210889" y="242639"/>
                  <a:pt x="233611" y="242639"/>
                  <a:pt x="247650" y="228600"/>
                </a:cubicBezTo>
                <a:cubicBezTo>
                  <a:pt x="251172" y="225078"/>
                  <a:pt x="251172" y="219422"/>
                  <a:pt x="247650" y="215900"/>
                </a:cubicBezTo>
                <a:lnTo>
                  <a:pt x="175568" y="143818"/>
                </a:lnTo>
                <a:lnTo>
                  <a:pt x="143818" y="175568"/>
                </a:lnTo>
                <a:close/>
                <a:moveTo>
                  <a:pt x="31750" y="55563"/>
                </a:moveTo>
                <a:cubicBezTo>
                  <a:pt x="31750" y="42420"/>
                  <a:pt x="42420" y="31750"/>
                  <a:pt x="55562" y="31750"/>
                </a:cubicBezTo>
                <a:cubicBezTo>
                  <a:pt x="68705" y="31750"/>
                  <a:pt x="79375" y="42420"/>
                  <a:pt x="79375" y="55562"/>
                </a:cubicBezTo>
                <a:cubicBezTo>
                  <a:pt x="79375" y="68705"/>
                  <a:pt x="68705" y="79375"/>
                  <a:pt x="55563" y="79375"/>
                </a:cubicBezTo>
                <a:cubicBezTo>
                  <a:pt x="42420" y="79375"/>
                  <a:pt x="31750" y="68705"/>
                  <a:pt x="31750" y="55563"/>
                </a:cubicBezTo>
                <a:close/>
                <a:moveTo>
                  <a:pt x="55563" y="174625"/>
                </a:moveTo>
                <a:cubicBezTo>
                  <a:pt x="68705" y="174625"/>
                  <a:pt x="79375" y="185295"/>
                  <a:pt x="79375" y="198438"/>
                </a:cubicBezTo>
                <a:cubicBezTo>
                  <a:pt x="79375" y="211580"/>
                  <a:pt x="68705" y="222250"/>
                  <a:pt x="55563" y="222250"/>
                </a:cubicBezTo>
                <a:cubicBezTo>
                  <a:pt x="42420" y="222250"/>
                  <a:pt x="31750" y="211580"/>
                  <a:pt x="31750" y="198438"/>
                </a:cubicBezTo>
                <a:cubicBezTo>
                  <a:pt x="31750" y="185295"/>
                  <a:pt x="42420" y="174625"/>
                  <a:pt x="55562" y="1746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4833" y="4255504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InputSplit</a:t>
            </a: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详解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77333" y="4721170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04333" y="4848170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概念: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InputSplit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是数据的逻辑切分,决定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MapTask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的并行度(个数)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77333" y="5377337"/>
            <a:ext cx="7133167" cy="804333"/>
          </a:xfrm>
          <a:custGeom>
            <a:avLst/>
            <a:gdLst/>
            <a:ahLst/>
            <a:cxnLst/>
            <a:rect l="l" t="t" r="r" b="b"/>
            <a:pathLst>
              <a:path w="7133167" h="804333">
                <a:moveTo>
                  <a:pt x="42332" y="0"/>
                </a:moveTo>
                <a:lnTo>
                  <a:pt x="7090835" y="0"/>
                </a:lnTo>
                <a:cubicBezTo>
                  <a:pt x="7114214" y="0"/>
                  <a:pt x="7133167" y="18953"/>
                  <a:pt x="7133167" y="42332"/>
                </a:cubicBezTo>
                <a:lnTo>
                  <a:pt x="7133167" y="762001"/>
                </a:lnTo>
                <a:cubicBezTo>
                  <a:pt x="7133167" y="785381"/>
                  <a:pt x="7114214" y="804333"/>
                  <a:pt x="7090835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04333" y="5504337"/>
            <a:ext cx="69638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</a:t>
            </a:r>
            <a:r>
              <a:rPr lang="en-US" sz="1333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区别: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Split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是计算视角,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是存储视角;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Split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大小通常接近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大小(默认128MB),但概念不同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98500" y="6308670"/>
            <a:ext cx="7112000" cy="529167"/>
          </a:xfrm>
          <a:custGeom>
            <a:avLst/>
            <a:gdLst/>
            <a:ahLst/>
            <a:cxnLst/>
            <a:rect l="l" t="t" r="r" b="b"/>
            <a:pathLst>
              <a:path w="7112000" h="529167">
                <a:moveTo>
                  <a:pt x="42333" y="0"/>
                </a:moveTo>
                <a:lnTo>
                  <a:pt x="7069667" y="0"/>
                </a:lnTo>
                <a:cubicBezTo>
                  <a:pt x="7093047" y="0"/>
                  <a:pt x="7112000" y="18953"/>
                  <a:pt x="7112000" y="42333"/>
                </a:cubicBezTo>
                <a:lnTo>
                  <a:pt x="7112000" y="486833"/>
                </a:lnTo>
                <a:cubicBezTo>
                  <a:pt x="7112000" y="510213"/>
                  <a:pt x="7093047" y="529167"/>
                  <a:pt x="70696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98500" y="6308670"/>
            <a:ext cx="42333" cy="529167"/>
          </a:xfrm>
          <a:custGeom>
            <a:avLst/>
            <a:gdLst/>
            <a:ahLst/>
            <a:cxnLst/>
            <a:rect l="l" t="t" r="r" b="b"/>
            <a:pathLst>
              <a:path w="42333" h="529167">
                <a:moveTo>
                  <a:pt x="42333" y="0"/>
                </a:moveTo>
                <a:lnTo>
                  <a:pt x="42333" y="0"/>
                </a:lnTo>
                <a:lnTo>
                  <a:pt x="42333" y="529167"/>
                </a:ln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6667" y="6435670"/>
            <a:ext cx="6921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MapTask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并行度由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InputSplit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个数决定,不是简单的"文件大小/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大小"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255000" y="4043838"/>
            <a:ext cx="7577667" cy="4995336"/>
          </a:xfrm>
          <a:custGeom>
            <a:avLst/>
            <a:gdLst/>
            <a:ahLst/>
            <a:cxnLst/>
            <a:rect l="l" t="t" r="r" b="b"/>
            <a:pathLst>
              <a:path w="7577667" h="5122333">
                <a:moveTo>
                  <a:pt x="42333" y="0"/>
                </a:moveTo>
                <a:lnTo>
                  <a:pt x="7492994" y="0"/>
                </a:lnTo>
                <a:cubicBezTo>
                  <a:pt x="7539758" y="0"/>
                  <a:pt x="7577667" y="37909"/>
                  <a:pt x="7577667" y="84672"/>
                </a:cubicBezTo>
                <a:lnTo>
                  <a:pt x="7577667" y="5037661"/>
                </a:lnTo>
                <a:cubicBezTo>
                  <a:pt x="7577667" y="5084424"/>
                  <a:pt x="7539758" y="5122333"/>
                  <a:pt x="7492994" y="5122333"/>
                </a:cubicBezTo>
                <a:lnTo>
                  <a:pt x="42333" y="5122333"/>
                </a:lnTo>
                <a:cubicBezTo>
                  <a:pt x="18953" y="5122333"/>
                  <a:pt x="0" y="5103380"/>
                  <a:pt x="0" y="508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255000" y="4043837"/>
            <a:ext cx="42333" cy="4996800"/>
          </a:xfrm>
          <a:custGeom>
            <a:avLst/>
            <a:gdLst/>
            <a:ahLst/>
            <a:cxnLst/>
            <a:rect l="l" t="t" r="r" b="b"/>
            <a:pathLst>
              <a:path w="42333" h="5122333">
                <a:moveTo>
                  <a:pt x="42333" y="0"/>
                </a:moveTo>
                <a:lnTo>
                  <a:pt x="42333" y="0"/>
                </a:lnTo>
                <a:lnTo>
                  <a:pt x="42333" y="5122333"/>
                </a:lnTo>
                <a:lnTo>
                  <a:pt x="42333" y="5122333"/>
                </a:lnTo>
                <a:cubicBezTo>
                  <a:pt x="18953" y="5122333"/>
                  <a:pt x="0" y="5103380"/>
                  <a:pt x="0" y="5080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519583" y="429783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0323" y="17066"/>
                </a:moveTo>
                <a:cubicBezTo>
                  <a:pt x="206276" y="14585"/>
                  <a:pt x="213072" y="15974"/>
                  <a:pt x="217636" y="20489"/>
                </a:cubicBezTo>
                <a:lnTo>
                  <a:pt x="249386" y="52239"/>
                </a:lnTo>
                <a:cubicBezTo>
                  <a:pt x="252363" y="55215"/>
                  <a:pt x="254050" y="59234"/>
                  <a:pt x="254050" y="63450"/>
                </a:cubicBezTo>
                <a:cubicBezTo>
                  <a:pt x="254050" y="67667"/>
                  <a:pt x="252363" y="71686"/>
                  <a:pt x="249386" y="74662"/>
                </a:cubicBezTo>
                <a:lnTo>
                  <a:pt x="217636" y="106412"/>
                </a:lnTo>
                <a:cubicBezTo>
                  <a:pt x="213072" y="110976"/>
                  <a:pt x="206276" y="112316"/>
                  <a:pt x="200323" y="109835"/>
                </a:cubicBezTo>
                <a:cubicBezTo>
                  <a:pt x="194370" y="107355"/>
                  <a:pt x="190500" y="101650"/>
                  <a:pt x="190500" y="95250"/>
                </a:cubicBezTo>
                <a:lnTo>
                  <a:pt x="190500" y="79375"/>
                </a:lnTo>
                <a:lnTo>
                  <a:pt x="174625" y="79375"/>
                </a:lnTo>
                <a:cubicBezTo>
                  <a:pt x="169614" y="79375"/>
                  <a:pt x="164902" y="81707"/>
                  <a:pt x="161925" y="85725"/>
                </a:cubicBezTo>
                <a:lnTo>
                  <a:pt x="145852" y="107156"/>
                </a:lnTo>
                <a:lnTo>
                  <a:pt x="126008" y="80714"/>
                </a:lnTo>
                <a:lnTo>
                  <a:pt x="136525" y="66675"/>
                </a:lnTo>
                <a:cubicBezTo>
                  <a:pt x="145504" y="54670"/>
                  <a:pt x="159643" y="47625"/>
                  <a:pt x="174625" y="47625"/>
                </a:cubicBezTo>
                <a:lnTo>
                  <a:pt x="190500" y="47625"/>
                </a:lnTo>
                <a:lnTo>
                  <a:pt x="190500" y="31750"/>
                </a:lnTo>
                <a:cubicBezTo>
                  <a:pt x="190500" y="25350"/>
                  <a:pt x="194370" y="19546"/>
                  <a:pt x="200323" y="17066"/>
                </a:cubicBezTo>
                <a:close/>
                <a:moveTo>
                  <a:pt x="76398" y="146844"/>
                </a:moveTo>
                <a:lnTo>
                  <a:pt x="96242" y="173286"/>
                </a:lnTo>
                <a:lnTo>
                  <a:pt x="85725" y="187325"/>
                </a:lnTo>
                <a:cubicBezTo>
                  <a:pt x="76746" y="199330"/>
                  <a:pt x="62607" y="206375"/>
                  <a:pt x="47625" y="206375"/>
                </a:cubicBezTo>
                <a:lnTo>
                  <a:pt x="15875" y="206375"/>
                </a:lnTo>
                <a:cubicBezTo>
                  <a:pt x="7094" y="206375"/>
                  <a:pt x="0" y="199281"/>
                  <a:pt x="0" y="190500"/>
                </a:cubicBezTo>
                <a:cubicBezTo>
                  <a:pt x="0" y="181719"/>
                  <a:pt x="7094" y="174625"/>
                  <a:pt x="15875" y="174625"/>
                </a:cubicBezTo>
                <a:lnTo>
                  <a:pt x="47625" y="174625"/>
                </a:lnTo>
                <a:cubicBezTo>
                  <a:pt x="52636" y="174625"/>
                  <a:pt x="57348" y="172293"/>
                  <a:pt x="60325" y="168275"/>
                </a:cubicBezTo>
                <a:lnTo>
                  <a:pt x="76398" y="146844"/>
                </a:lnTo>
                <a:close/>
                <a:moveTo>
                  <a:pt x="217587" y="233462"/>
                </a:moveTo>
                <a:cubicBezTo>
                  <a:pt x="213023" y="238026"/>
                  <a:pt x="206226" y="239365"/>
                  <a:pt x="200273" y="236885"/>
                </a:cubicBezTo>
                <a:cubicBezTo>
                  <a:pt x="194320" y="234404"/>
                  <a:pt x="190500" y="228650"/>
                  <a:pt x="190500" y="222250"/>
                </a:cubicBezTo>
                <a:lnTo>
                  <a:pt x="190500" y="206375"/>
                </a:lnTo>
                <a:lnTo>
                  <a:pt x="174625" y="206375"/>
                </a:lnTo>
                <a:cubicBezTo>
                  <a:pt x="159643" y="206375"/>
                  <a:pt x="145504" y="199330"/>
                  <a:pt x="136525" y="187325"/>
                </a:cubicBezTo>
                <a:lnTo>
                  <a:pt x="60325" y="85725"/>
                </a:lnTo>
                <a:cubicBezTo>
                  <a:pt x="57348" y="81707"/>
                  <a:pt x="52636" y="79375"/>
                  <a:pt x="47625" y="79375"/>
                </a:cubicBez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47625" y="47625"/>
                </a:lnTo>
                <a:cubicBezTo>
                  <a:pt x="62607" y="47625"/>
                  <a:pt x="76746" y="54670"/>
                  <a:pt x="85725" y="66675"/>
                </a:cubicBezTo>
                <a:lnTo>
                  <a:pt x="161925" y="168275"/>
                </a:lnTo>
                <a:cubicBezTo>
                  <a:pt x="164902" y="172293"/>
                  <a:pt x="169614" y="174625"/>
                  <a:pt x="174625" y="174625"/>
                </a:cubicBezTo>
                <a:lnTo>
                  <a:pt x="190500" y="174625"/>
                </a:lnTo>
                <a:lnTo>
                  <a:pt x="190500" y="158750"/>
                </a:lnTo>
                <a:cubicBezTo>
                  <a:pt x="190500" y="152350"/>
                  <a:pt x="194370" y="146546"/>
                  <a:pt x="200323" y="144066"/>
                </a:cubicBezTo>
                <a:cubicBezTo>
                  <a:pt x="206276" y="141585"/>
                  <a:pt x="213072" y="142974"/>
                  <a:pt x="217636" y="147489"/>
                </a:cubicBezTo>
                <a:lnTo>
                  <a:pt x="249386" y="179239"/>
                </a:lnTo>
                <a:cubicBezTo>
                  <a:pt x="252363" y="182215"/>
                  <a:pt x="254050" y="186234"/>
                  <a:pt x="254050" y="190450"/>
                </a:cubicBezTo>
                <a:cubicBezTo>
                  <a:pt x="254050" y="194667"/>
                  <a:pt x="252363" y="198686"/>
                  <a:pt x="249386" y="201662"/>
                </a:cubicBezTo>
                <a:lnTo>
                  <a:pt x="217636" y="233412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805333" y="4255504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阶段详解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487833" y="4721170"/>
            <a:ext cx="7133167" cy="635000"/>
          </a:xfrm>
          <a:custGeom>
            <a:avLst/>
            <a:gdLst/>
            <a:ahLst/>
            <a:cxnLst/>
            <a:rect l="l" t="t" r="r" b="b"/>
            <a:pathLst>
              <a:path w="7133167" h="635000">
                <a:moveTo>
                  <a:pt x="42335" y="0"/>
                </a:moveTo>
                <a:lnTo>
                  <a:pt x="7090831" y="0"/>
                </a:lnTo>
                <a:cubicBezTo>
                  <a:pt x="7114212" y="0"/>
                  <a:pt x="7133167" y="18954"/>
                  <a:pt x="7133167" y="42335"/>
                </a:cubicBezTo>
                <a:lnTo>
                  <a:pt x="7133167" y="592665"/>
                </a:lnTo>
                <a:cubicBezTo>
                  <a:pt x="7133167" y="616046"/>
                  <a:pt x="7114212" y="635000"/>
                  <a:pt x="7090831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572499" y="4821712"/>
            <a:ext cx="156902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572500" y="5059837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决定数据分发到哪个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Reducer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,默认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hash(key) % numReducers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487833" y="5440837"/>
            <a:ext cx="7133167" cy="635000"/>
          </a:xfrm>
          <a:custGeom>
            <a:avLst/>
            <a:gdLst/>
            <a:ahLst/>
            <a:cxnLst/>
            <a:rect l="l" t="t" r="r" b="b"/>
            <a:pathLst>
              <a:path w="7133167" h="635000">
                <a:moveTo>
                  <a:pt x="42335" y="0"/>
                </a:moveTo>
                <a:lnTo>
                  <a:pt x="7090831" y="0"/>
                </a:lnTo>
                <a:cubicBezTo>
                  <a:pt x="7114212" y="0"/>
                  <a:pt x="7133167" y="18954"/>
                  <a:pt x="7133167" y="42335"/>
                </a:cubicBezTo>
                <a:lnTo>
                  <a:pt x="7133167" y="592665"/>
                </a:lnTo>
                <a:cubicBezTo>
                  <a:pt x="7133167" y="616046"/>
                  <a:pt x="7114212" y="635000"/>
                  <a:pt x="7090831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572500" y="5541378"/>
            <a:ext cx="1130267" cy="2804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排序(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Sort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572500" y="5779504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按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排序,为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阶段的有序输入做准备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487833" y="6160504"/>
            <a:ext cx="7133167" cy="635000"/>
          </a:xfrm>
          <a:custGeom>
            <a:avLst/>
            <a:gdLst/>
            <a:ahLst/>
            <a:cxnLst/>
            <a:rect l="l" t="t" r="r" b="b"/>
            <a:pathLst>
              <a:path w="7133167" h="635000">
                <a:moveTo>
                  <a:pt x="42335" y="0"/>
                </a:moveTo>
                <a:lnTo>
                  <a:pt x="7090831" y="0"/>
                </a:lnTo>
                <a:cubicBezTo>
                  <a:pt x="7114212" y="0"/>
                  <a:pt x="7133167" y="18954"/>
                  <a:pt x="7133167" y="42335"/>
                </a:cubicBezTo>
                <a:lnTo>
                  <a:pt x="7133167" y="592665"/>
                </a:lnTo>
                <a:cubicBezTo>
                  <a:pt x="7133167" y="616046"/>
                  <a:pt x="7114212" y="635000"/>
                  <a:pt x="7090831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572500" y="6261044"/>
            <a:ext cx="1220225" cy="289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溢写(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Spill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572500" y="6499170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内存缓冲区满后溢写到磁盘,生成临时文件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487833" y="6880170"/>
            <a:ext cx="7133167" cy="635000"/>
          </a:xfrm>
          <a:custGeom>
            <a:avLst/>
            <a:gdLst/>
            <a:ahLst/>
            <a:cxnLst/>
            <a:rect l="l" t="t" r="r" b="b"/>
            <a:pathLst>
              <a:path w="7133167" h="635000">
                <a:moveTo>
                  <a:pt x="42335" y="0"/>
                </a:moveTo>
                <a:lnTo>
                  <a:pt x="7090831" y="0"/>
                </a:lnTo>
                <a:cubicBezTo>
                  <a:pt x="7114212" y="0"/>
                  <a:pt x="7133167" y="18954"/>
                  <a:pt x="7133167" y="42335"/>
                </a:cubicBezTo>
                <a:lnTo>
                  <a:pt x="7133167" y="592665"/>
                </a:lnTo>
                <a:cubicBezTo>
                  <a:pt x="7133167" y="616046"/>
                  <a:pt x="7114212" y="635000"/>
                  <a:pt x="7090831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572500" y="6980712"/>
            <a:ext cx="102650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归并(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Merge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572500" y="7218837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端合并多个溢写文件,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端合并来自不同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的输出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487833" y="7599837"/>
            <a:ext cx="7133167" cy="635000"/>
          </a:xfrm>
          <a:custGeom>
            <a:avLst/>
            <a:gdLst/>
            <a:ahLst/>
            <a:cxnLst/>
            <a:rect l="l" t="t" r="r" b="b"/>
            <a:pathLst>
              <a:path w="7133167" h="635000">
                <a:moveTo>
                  <a:pt x="42335" y="0"/>
                </a:moveTo>
                <a:lnTo>
                  <a:pt x="7090831" y="0"/>
                </a:lnTo>
                <a:cubicBezTo>
                  <a:pt x="7114212" y="0"/>
                  <a:pt x="7133167" y="18954"/>
                  <a:pt x="7133167" y="42335"/>
                </a:cubicBezTo>
                <a:lnTo>
                  <a:pt x="7133167" y="592665"/>
                </a:lnTo>
                <a:cubicBezTo>
                  <a:pt x="7133167" y="616046"/>
                  <a:pt x="7114212" y="635000"/>
                  <a:pt x="7090831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572500" y="7700379"/>
            <a:ext cx="92777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拷贝(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Copy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572500" y="7938504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ReduceTask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MapTask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所在节点拉取数据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487833" y="8319504"/>
            <a:ext cx="7133167" cy="635000"/>
          </a:xfrm>
          <a:custGeom>
            <a:avLst/>
            <a:gdLst/>
            <a:ahLst/>
            <a:cxnLst/>
            <a:rect l="l" t="t" r="r" b="b"/>
            <a:pathLst>
              <a:path w="7133167" h="635000">
                <a:moveTo>
                  <a:pt x="42335" y="0"/>
                </a:moveTo>
                <a:lnTo>
                  <a:pt x="7090831" y="0"/>
                </a:lnTo>
                <a:cubicBezTo>
                  <a:pt x="7114212" y="0"/>
                  <a:pt x="7133167" y="18954"/>
                  <a:pt x="7133167" y="42335"/>
                </a:cubicBezTo>
                <a:lnTo>
                  <a:pt x="7133167" y="592665"/>
                </a:lnTo>
                <a:cubicBezTo>
                  <a:pt x="7133167" y="616046"/>
                  <a:pt x="7114212" y="635000"/>
                  <a:pt x="7090831" y="635000"/>
                </a:cubicBezTo>
                <a:lnTo>
                  <a:pt x="42335" y="635000"/>
                </a:lnTo>
                <a:cubicBezTo>
                  <a:pt x="18954" y="635000"/>
                  <a:pt x="0" y="616046"/>
                  <a:pt x="0" y="592665"/>
                </a:cubicBezTo>
                <a:lnTo>
                  <a:pt x="0" y="42335"/>
                </a:lnTo>
                <a:cubicBezTo>
                  <a:pt x="0" y="18970"/>
                  <a:pt x="18970" y="0"/>
                  <a:pt x="423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572500" y="8420045"/>
            <a:ext cx="100888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分组(Group)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572500" y="8658170"/>
            <a:ext cx="7037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按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分组,相同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value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列表传递给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()函数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024" y="478118"/>
            <a:ext cx="1553882" cy="382494"/>
          </a:xfrm>
          <a:custGeom>
            <a:avLst/>
            <a:gdLst/>
            <a:ahLst/>
            <a:cxnLst/>
            <a:rect l="l" t="t" r="r" b="b"/>
            <a:pathLst>
              <a:path w="1553882" h="382494">
                <a:moveTo>
                  <a:pt x="0" y="0"/>
                </a:moveTo>
                <a:lnTo>
                  <a:pt x="1553882" y="0"/>
                </a:lnTo>
                <a:lnTo>
                  <a:pt x="1553882" y="382494"/>
                </a:lnTo>
                <a:lnTo>
                  <a:pt x="0" y="382494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024" y="478118"/>
            <a:ext cx="47812" cy="382494"/>
          </a:xfrm>
          <a:custGeom>
            <a:avLst/>
            <a:gdLst/>
            <a:ahLst/>
            <a:cxnLst/>
            <a:rect l="l" t="t" r="r" b="b"/>
            <a:pathLst>
              <a:path w="47812" h="382494">
                <a:moveTo>
                  <a:pt x="0" y="0"/>
                </a:moveTo>
                <a:lnTo>
                  <a:pt x="47812" y="0"/>
                </a:lnTo>
                <a:lnTo>
                  <a:pt x="47812" y="382494"/>
                </a:lnTo>
                <a:lnTo>
                  <a:pt x="0" y="382494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9365" y="543859"/>
            <a:ext cx="1342371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6" kern="0" spc="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05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8118" y="956235"/>
            <a:ext cx="15514918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8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338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性能瓶颈与优化策略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118" y="1649506"/>
            <a:ext cx="7530353" cy="7016376"/>
          </a:xfrm>
          <a:custGeom>
            <a:avLst/>
            <a:gdLst/>
            <a:ahLst/>
            <a:cxnLst/>
            <a:rect l="l" t="t" r="r" b="b"/>
            <a:pathLst>
              <a:path w="7530353" h="7016376">
                <a:moveTo>
                  <a:pt x="47812" y="0"/>
                </a:moveTo>
                <a:lnTo>
                  <a:pt x="7482541" y="0"/>
                </a:lnTo>
                <a:cubicBezTo>
                  <a:pt x="7508947" y="0"/>
                  <a:pt x="7530353" y="21406"/>
                  <a:pt x="7530353" y="47812"/>
                </a:cubicBezTo>
                <a:lnTo>
                  <a:pt x="7530353" y="6920743"/>
                </a:lnTo>
                <a:cubicBezTo>
                  <a:pt x="7530353" y="6973560"/>
                  <a:pt x="7487536" y="7016376"/>
                  <a:pt x="7434720" y="7016376"/>
                </a:cubicBezTo>
                <a:lnTo>
                  <a:pt x="95633" y="7016376"/>
                </a:lnTo>
                <a:cubicBezTo>
                  <a:pt x="42816" y="7016376"/>
                  <a:pt x="0" y="6973560"/>
                  <a:pt x="0" y="6920743"/>
                </a:cubicBezTo>
                <a:lnTo>
                  <a:pt x="0" y="47812"/>
                </a:lnTo>
                <a:cubicBezTo>
                  <a:pt x="0" y="21424"/>
                  <a:pt x="21424" y="0"/>
                  <a:pt x="47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8118" y="1649506"/>
            <a:ext cx="7530353" cy="47812"/>
          </a:xfrm>
          <a:custGeom>
            <a:avLst/>
            <a:gdLst/>
            <a:ahLst/>
            <a:cxnLst/>
            <a:rect l="l" t="t" r="r" b="b"/>
            <a:pathLst>
              <a:path w="7530353" h="47812">
                <a:moveTo>
                  <a:pt x="47812" y="0"/>
                </a:moveTo>
                <a:lnTo>
                  <a:pt x="7482541" y="0"/>
                </a:lnTo>
                <a:cubicBezTo>
                  <a:pt x="7508947" y="0"/>
                  <a:pt x="7530353" y="21406"/>
                  <a:pt x="7530353" y="47812"/>
                </a:cubicBezTo>
                <a:lnTo>
                  <a:pt x="7530353" y="47812"/>
                </a:lnTo>
                <a:lnTo>
                  <a:pt x="0" y="47812"/>
                </a:lnTo>
                <a:lnTo>
                  <a:pt x="0" y="47812"/>
                </a:lnTo>
                <a:cubicBezTo>
                  <a:pt x="0" y="21406"/>
                  <a:pt x="21406" y="0"/>
                  <a:pt x="47812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53035" y="1960282"/>
            <a:ext cx="286871" cy="286871"/>
          </a:xfrm>
          <a:custGeom>
            <a:avLst/>
            <a:gdLst/>
            <a:ahLst/>
            <a:cxnLst/>
            <a:rect l="l" t="t" r="r" b="b"/>
            <a:pathLst>
              <a:path w="286871" h="286871">
                <a:moveTo>
                  <a:pt x="135031" y="48802"/>
                </a:moveTo>
                <a:lnTo>
                  <a:pt x="143435" y="60400"/>
                </a:lnTo>
                <a:lnTo>
                  <a:pt x="151840" y="48802"/>
                </a:lnTo>
                <a:cubicBezTo>
                  <a:pt x="165847" y="29415"/>
                  <a:pt x="188371" y="17929"/>
                  <a:pt x="212295" y="17929"/>
                </a:cubicBezTo>
                <a:cubicBezTo>
                  <a:pt x="253477" y="17929"/>
                  <a:pt x="286871" y="51323"/>
                  <a:pt x="286871" y="92505"/>
                </a:cubicBezTo>
                <a:lnTo>
                  <a:pt x="286871" y="93961"/>
                </a:lnTo>
                <a:cubicBezTo>
                  <a:pt x="286871" y="156826"/>
                  <a:pt x="208485" y="229833"/>
                  <a:pt x="167584" y="261041"/>
                </a:cubicBezTo>
                <a:cubicBezTo>
                  <a:pt x="160636" y="266308"/>
                  <a:pt x="152120" y="268941"/>
                  <a:pt x="143435" y="268941"/>
                </a:cubicBezTo>
                <a:cubicBezTo>
                  <a:pt x="134751" y="268941"/>
                  <a:pt x="126178" y="266364"/>
                  <a:pt x="119287" y="261041"/>
                </a:cubicBezTo>
                <a:cubicBezTo>
                  <a:pt x="78385" y="229833"/>
                  <a:pt x="0" y="156826"/>
                  <a:pt x="0" y="93961"/>
                </a:cubicBezTo>
                <a:lnTo>
                  <a:pt x="0" y="92505"/>
                </a:lnTo>
                <a:cubicBezTo>
                  <a:pt x="0" y="51323"/>
                  <a:pt x="33394" y="17929"/>
                  <a:pt x="74575" y="17929"/>
                </a:cubicBezTo>
                <a:cubicBezTo>
                  <a:pt x="98500" y="17929"/>
                  <a:pt x="121024" y="29415"/>
                  <a:pt x="135031" y="4880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5765" y="1912471"/>
            <a:ext cx="6837082" cy="382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9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Shuffle:</a:t>
            </a:r>
            <a:r>
              <a:rPr lang="zh-CN" altLang="en-US" sz="2259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2259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zh-CN" altLang="en-US" sz="2259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2259" dirty="0" err="1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的心脏与性能瓶颈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176" y="2438400"/>
            <a:ext cx="7052235" cy="1434353"/>
          </a:xfrm>
          <a:custGeom>
            <a:avLst/>
            <a:gdLst/>
            <a:ahLst/>
            <a:cxnLst/>
            <a:rect l="l" t="t" r="r" b="b"/>
            <a:pathLst>
              <a:path w="7052235" h="1434353">
                <a:moveTo>
                  <a:pt x="95628" y="0"/>
                </a:moveTo>
                <a:lnTo>
                  <a:pt x="6956607" y="0"/>
                </a:lnTo>
                <a:cubicBezTo>
                  <a:pt x="7009421" y="0"/>
                  <a:pt x="7052235" y="42814"/>
                  <a:pt x="7052235" y="95628"/>
                </a:cubicBezTo>
                <a:lnTo>
                  <a:pt x="7052235" y="1338725"/>
                </a:lnTo>
                <a:cubicBezTo>
                  <a:pt x="7052235" y="1391539"/>
                  <a:pt x="7009421" y="1434353"/>
                  <a:pt x="6956607" y="1434353"/>
                </a:cubicBezTo>
                <a:lnTo>
                  <a:pt x="95628" y="1434353"/>
                </a:lnTo>
                <a:cubicBezTo>
                  <a:pt x="42814" y="1434353"/>
                  <a:pt x="0" y="1391539"/>
                  <a:pt x="0" y="1338725"/>
                </a:cubicBezTo>
                <a:lnTo>
                  <a:pt x="0" y="95628"/>
                </a:lnTo>
                <a:cubicBezTo>
                  <a:pt x="0" y="42850"/>
                  <a:pt x="42850" y="0"/>
                  <a:pt x="9562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08424" y="2629647"/>
            <a:ext cx="6777318" cy="33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为什么被称为"心脏"?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8424" y="3059953"/>
            <a:ext cx="6765365" cy="621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是连接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的桥梁,负责数据从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端到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端的传递与重组,是整个计算流程的核心环节。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17176" y="4016188"/>
            <a:ext cx="7052235" cy="2820894"/>
          </a:xfrm>
          <a:custGeom>
            <a:avLst/>
            <a:gdLst/>
            <a:ahLst/>
            <a:cxnLst/>
            <a:rect l="l" t="t" r="r" b="b"/>
            <a:pathLst>
              <a:path w="7052235" h="2820894">
                <a:moveTo>
                  <a:pt x="95628" y="0"/>
                </a:moveTo>
                <a:lnTo>
                  <a:pt x="6956607" y="0"/>
                </a:lnTo>
                <a:cubicBezTo>
                  <a:pt x="7009421" y="0"/>
                  <a:pt x="7052235" y="42814"/>
                  <a:pt x="7052235" y="95628"/>
                </a:cubicBezTo>
                <a:lnTo>
                  <a:pt x="7052235" y="2725266"/>
                </a:lnTo>
                <a:cubicBezTo>
                  <a:pt x="7052235" y="2778080"/>
                  <a:pt x="7009421" y="2820894"/>
                  <a:pt x="6956607" y="2820894"/>
                </a:cubicBezTo>
                <a:lnTo>
                  <a:pt x="95628" y="2820894"/>
                </a:lnTo>
                <a:cubicBezTo>
                  <a:pt x="42814" y="2820894"/>
                  <a:pt x="0" y="2778080"/>
                  <a:pt x="0" y="2725266"/>
                </a:cubicBezTo>
                <a:lnTo>
                  <a:pt x="0" y="95628"/>
                </a:lnTo>
                <a:cubicBezTo>
                  <a:pt x="0" y="42850"/>
                  <a:pt x="42850" y="0"/>
                  <a:pt x="9562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08424" y="4207435"/>
            <a:ext cx="6777318" cy="33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为什么成为性能瓶颈?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8424" y="4637741"/>
            <a:ext cx="6669741" cy="430306"/>
          </a:xfrm>
          <a:custGeom>
            <a:avLst/>
            <a:gdLst/>
            <a:ahLst/>
            <a:cxnLst/>
            <a:rect l="l" t="t" r="r" b="b"/>
            <a:pathLst>
              <a:path w="6669741" h="430306">
                <a:moveTo>
                  <a:pt x="47811" y="0"/>
                </a:moveTo>
                <a:lnTo>
                  <a:pt x="6621930" y="0"/>
                </a:lnTo>
                <a:cubicBezTo>
                  <a:pt x="6648335" y="0"/>
                  <a:pt x="6669741" y="21406"/>
                  <a:pt x="6669741" y="47811"/>
                </a:cubicBezTo>
                <a:lnTo>
                  <a:pt x="6669741" y="382495"/>
                </a:lnTo>
                <a:cubicBezTo>
                  <a:pt x="6669741" y="408900"/>
                  <a:pt x="6648335" y="430306"/>
                  <a:pt x="6621930" y="430306"/>
                </a:cubicBezTo>
                <a:lnTo>
                  <a:pt x="47811" y="430306"/>
                </a:lnTo>
                <a:cubicBezTo>
                  <a:pt x="21424" y="430306"/>
                  <a:pt x="0" y="408882"/>
                  <a:pt x="0" y="382495"/>
                </a:cubicBezTo>
                <a:lnTo>
                  <a:pt x="0" y="47811"/>
                </a:lnTo>
                <a:cubicBezTo>
                  <a:pt x="0" y="21406"/>
                  <a:pt x="21406" y="0"/>
                  <a:pt x="4781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16000" y="4757271"/>
            <a:ext cx="215153" cy="191247"/>
          </a:xfrm>
          <a:custGeom>
            <a:avLst/>
            <a:gdLst/>
            <a:ahLst/>
            <a:cxnLst/>
            <a:rect l="l" t="t" r="r" b="b"/>
            <a:pathLst>
              <a:path w="215153" h="191247">
                <a:moveTo>
                  <a:pt x="92635" y="32871"/>
                </a:moveTo>
                <a:lnTo>
                  <a:pt x="122518" y="32871"/>
                </a:lnTo>
                <a:lnTo>
                  <a:pt x="122518" y="50800"/>
                </a:lnTo>
                <a:lnTo>
                  <a:pt x="92635" y="50800"/>
                </a:lnTo>
                <a:lnTo>
                  <a:pt x="92635" y="32871"/>
                </a:lnTo>
                <a:close/>
                <a:moveTo>
                  <a:pt x="89647" y="11953"/>
                </a:moveTo>
                <a:cubicBezTo>
                  <a:pt x="79749" y="11953"/>
                  <a:pt x="71718" y="19984"/>
                  <a:pt x="71718" y="29882"/>
                </a:cubicBezTo>
                <a:lnTo>
                  <a:pt x="71718" y="53788"/>
                </a:lnTo>
                <a:cubicBezTo>
                  <a:pt x="71718" y="63687"/>
                  <a:pt x="79749" y="71718"/>
                  <a:pt x="89647" y="71718"/>
                </a:cubicBezTo>
                <a:lnTo>
                  <a:pt x="95624" y="71718"/>
                </a:lnTo>
                <a:lnTo>
                  <a:pt x="95624" y="83671"/>
                </a:lnTo>
                <a:lnTo>
                  <a:pt x="11953" y="83671"/>
                </a:lnTo>
                <a:cubicBezTo>
                  <a:pt x="5341" y="83671"/>
                  <a:pt x="0" y="89012"/>
                  <a:pt x="0" y="95624"/>
                </a:cubicBezTo>
                <a:cubicBezTo>
                  <a:pt x="0" y="102235"/>
                  <a:pt x="5341" y="107576"/>
                  <a:pt x="11953" y="107576"/>
                </a:cubicBezTo>
                <a:lnTo>
                  <a:pt x="47812" y="107576"/>
                </a:lnTo>
                <a:lnTo>
                  <a:pt x="47812" y="119529"/>
                </a:lnTo>
                <a:lnTo>
                  <a:pt x="41835" y="119529"/>
                </a:lnTo>
                <a:cubicBezTo>
                  <a:pt x="31937" y="119529"/>
                  <a:pt x="23906" y="127560"/>
                  <a:pt x="23906" y="137459"/>
                </a:cubicBezTo>
                <a:lnTo>
                  <a:pt x="23906" y="161365"/>
                </a:lnTo>
                <a:cubicBezTo>
                  <a:pt x="23906" y="171263"/>
                  <a:pt x="31937" y="179294"/>
                  <a:pt x="41835" y="179294"/>
                </a:cubicBezTo>
                <a:lnTo>
                  <a:pt x="77694" y="179294"/>
                </a:lnTo>
                <a:cubicBezTo>
                  <a:pt x="87593" y="179294"/>
                  <a:pt x="95624" y="171263"/>
                  <a:pt x="95624" y="161365"/>
                </a:cubicBezTo>
                <a:lnTo>
                  <a:pt x="95624" y="137459"/>
                </a:lnTo>
                <a:cubicBezTo>
                  <a:pt x="95624" y="127560"/>
                  <a:pt x="87593" y="119529"/>
                  <a:pt x="77694" y="119529"/>
                </a:cubicBezTo>
                <a:lnTo>
                  <a:pt x="71718" y="119529"/>
                </a:lnTo>
                <a:lnTo>
                  <a:pt x="71718" y="107576"/>
                </a:lnTo>
                <a:lnTo>
                  <a:pt x="143435" y="107576"/>
                </a:lnTo>
                <a:lnTo>
                  <a:pt x="143435" y="119529"/>
                </a:lnTo>
                <a:lnTo>
                  <a:pt x="137459" y="119529"/>
                </a:lnTo>
                <a:cubicBezTo>
                  <a:pt x="127560" y="119529"/>
                  <a:pt x="119529" y="127560"/>
                  <a:pt x="119529" y="137459"/>
                </a:cubicBezTo>
                <a:lnTo>
                  <a:pt x="119529" y="161365"/>
                </a:lnTo>
                <a:cubicBezTo>
                  <a:pt x="119529" y="171263"/>
                  <a:pt x="127560" y="179294"/>
                  <a:pt x="137459" y="179294"/>
                </a:cubicBezTo>
                <a:lnTo>
                  <a:pt x="173318" y="179294"/>
                </a:lnTo>
                <a:cubicBezTo>
                  <a:pt x="183216" y="179294"/>
                  <a:pt x="191247" y="171263"/>
                  <a:pt x="191247" y="161365"/>
                </a:cubicBezTo>
                <a:lnTo>
                  <a:pt x="191247" y="137459"/>
                </a:lnTo>
                <a:cubicBezTo>
                  <a:pt x="191247" y="127560"/>
                  <a:pt x="183216" y="119529"/>
                  <a:pt x="173318" y="119529"/>
                </a:cubicBezTo>
                <a:lnTo>
                  <a:pt x="167341" y="119529"/>
                </a:lnTo>
                <a:lnTo>
                  <a:pt x="167341" y="107576"/>
                </a:lnTo>
                <a:lnTo>
                  <a:pt x="203200" y="107576"/>
                </a:lnTo>
                <a:cubicBezTo>
                  <a:pt x="209811" y="107576"/>
                  <a:pt x="215153" y="102235"/>
                  <a:pt x="215153" y="95624"/>
                </a:cubicBezTo>
                <a:cubicBezTo>
                  <a:pt x="215153" y="89012"/>
                  <a:pt x="209811" y="83671"/>
                  <a:pt x="203200" y="83671"/>
                </a:cubicBezTo>
                <a:lnTo>
                  <a:pt x="119529" y="83671"/>
                </a:lnTo>
                <a:lnTo>
                  <a:pt x="119529" y="71718"/>
                </a:lnTo>
                <a:lnTo>
                  <a:pt x="125506" y="71718"/>
                </a:lnTo>
                <a:cubicBezTo>
                  <a:pt x="135404" y="71718"/>
                  <a:pt x="143435" y="63687"/>
                  <a:pt x="143435" y="53788"/>
                </a:cubicBezTo>
                <a:lnTo>
                  <a:pt x="143435" y="29882"/>
                </a:lnTo>
                <a:cubicBezTo>
                  <a:pt x="143435" y="19984"/>
                  <a:pt x="135404" y="11953"/>
                  <a:pt x="125506" y="11953"/>
                </a:cubicBezTo>
                <a:lnTo>
                  <a:pt x="89647" y="11953"/>
                </a:lnTo>
                <a:close/>
                <a:moveTo>
                  <a:pt x="167341" y="140447"/>
                </a:moveTo>
                <a:lnTo>
                  <a:pt x="170329" y="140447"/>
                </a:lnTo>
                <a:lnTo>
                  <a:pt x="170329" y="158376"/>
                </a:lnTo>
                <a:lnTo>
                  <a:pt x="140447" y="158376"/>
                </a:lnTo>
                <a:lnTo>
                  <a:pt x="140447" y="140447"/>
                </a:lnTo>
                <a:lnTo>
                  <a:pt x="167341" y="140447"/>
                </a:lnTo>
                <a:close/>
                <a:moveTo>
                  <a:pt x="71718" y="140447"/>
                </a:moveTo>
                <a:lnTo>
                  <a:pt x="74706" y="140447"/>
                </a:lnTo>
                <a:lnTo>
                  <a:pt x="74706" y="158376"/>
                </a:lnTo>
                <a:lnTo>
                  <a:pt x="44824" y="158376"/>
                </a:lnTo>
                <a:lnTo>
                  <a:pt x="44824" y="140447"/>
                </a:lnTo>
                <a:lnTo>
                  <a:pt x="71718" y="140447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38729" y="4733365"/>
            <a:ext cx="2342776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网络带宽: 大量数据跨节点传输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8424" y="5163671"/>
            <a:ext cx="6669741" cy="430306"/>
          </a:xfrm>
          <a:custGeom>
            <a:avLst/>
            <a:gdLst/>
            <a:ahLst/>
            <a:cxnLst/>
            <a:rect l="l" t="t" r="r" b="b"/>
            <a:pathLst>
              <a:path w="6669741" h="430306">
                <a:moveTo>
                  <a:pt x="47811" y="0"/>
                </a:moveTo>
                <a:lnTo>
                  <a:pt x="6621930" y="0"/>
                </a:lnTo>
                <a:cubicBezTo>
                  <a:pt x="6648335" y="0"/>
                  <a:pt x="6669741" y="21406"/>
                  <a:pt x="6669741" y="47811"/>
                </a:cubicBezTo>
                <a:lnTo>
                  <a:pt x="6669741" y="382495"/>
                </a:lnTo>
                <a:cubicBezTo>
                  <a:pt x="6669741" y="408900"/>
                  <a:pt x="6648335" y="430306"/>
                  <a:pt x="6621930" y="430306"/>
                </a:cubicBezTo>
                <a:lnTo>
                  <a:pt x="47811" y="430306"/>
                </a:lnTo>
                <a:cubicBezTo>
                  <a:pt x="21424" y="430306"/>
                  <a:pt x="0" y="408882"/>
                  <a:pt x="0" y="382495"/>
                </a:cubicBezTo>
                <a:lnTo>
                  <a:pt x="0" y="47811"/>
                </a:lnTo>
                <a:cubicBezTo>
                  <a:pt x="0" y="21406"/>
                  <a:pt x="21406" y="0"/>
                  <a:pt x="4781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39906" y="5283200"/>
            <a:ext cx="167341" cy="191247"/>
          </a:xfrm>
          <a:custGeom>
            <a:avLst/>
            <a:gdLst/>
            <a:ahLst/>
            <a:cxnLst/>
            <a:rect l="l" t="t" r="r" b="b"/>
            <a:pathLst>
              <a:path w="167341" h="191247">
                <a:moveTo>
                  <a:pt x="23906" y="11953"/>
                </a:moveTo>
                <a:cubicBezTo>
                  <a:pt x="10720" y="11953"/>
                  <a:pt x="0" y="22673"/>
                  <a:pt x="0" y="35859"/>
                </a:cubicBezTo>
                <a:lnTo>
                  <a:pt x="0" y="97155"/>
                </a:lnTo>
                <a:cubicBezTo>
                  <a:pt x="6761" y="92411"/>
                  <a:pt x="15016" y="89647"/>
                  <a:pt x="23906" y="89647"/>
                </a:cubicBezTo>
                <a:lnTo>
                  <a:pt x="143435" y="89647"/>
                </a:lnTo>
                <a:cubicBezTo>
                  <a:pt x="152325" y="89647"/>
                  <a:pt x="160580" y="92411"/>
                  <a:pt x="167341" y="97155"/>
                </a:cubicBezTo>
                <a:lnTo>
                  <a:pt x="167341" y="35859"/>
                </a:lnTo>
                <a:cubicBezTo>
                  <a:pt x="167341" y="22673"/>
                  <a:pt x="156621" y="11953"/>
                  <a:pt x="143435" y="11953"/>
                </a:cubicBezTo>
                <a:lnTo>
                  <a:pt x="23906" y="11953"/>
                </a:lnTo>
                <a:close/>
                <a:moveTo>
                  <a:pt x="167341" y="131482"/>
                </a:moveTo>
                <a:cubicBezTo>
                  <a:pt x="167341" y="118297"/>
                  <a:pt x="156621" y="107576"/>
                  <a:pt x="143435" y="107576"/>
                </a:cubicBezTo>
                <a:lnTo>
                  <a:pt x="23906" y="107576"/>
                </a:lnTo>
                <a:cubicBezTo>
                  <a:pt x="10720" y="107576"/>
                  <a:pt x="0" y="118297"/>
                  <a:pt x="0" y="131482"/>
                </a:cubicBezTo>
                <a:lnTo>
                  <a:pt x="0" y="155388"/>
                </a:lnTo>
                <a:cubicBezTo>
                  <a:pt x="0" y="168574"/>
                  <a:pt x="10720" y="179294"/>
                  <a:pt x="23906" y="179294"/>
                </a:cubicBezTo>
                <a:lnTo>
                  <a:pt x="143435" y="179294"/>
                </a:lnTo>
                <a:cubicBezTo>
                  <a:pt x="156621" y="179294"/>
                  <a:pt x="167341" y="168574"/>
                  <a:pt x="167341" y="155388"/>
                </a:cubicBezTo>
                <a:lnTo>
                  <a:pt x="167341" y="131482"/>
                </a:lnTo>
                <a:close/>
                <a:moveTo>
                  <a:pt x="83671" y="143435"/>
                </a:moveTo>
                <a:cubicBezTo>
                  <a:pt x="83671" y="136838"/>
                  <a:pt x="89027" y="131482"/>
                  <a:pt x="95624" y="131482"/>
                </a:cubicBezTo>
                <a:cubicBezTo>
                  <a:pt x="102221" y="131482"/>
                  <a:pt x="107576" y="136838"/>
                  <a:pt x="107576" y="143435"/>
                </a:cubicBezTo>
                <a:cubicBezTo>
                  <a:pt x="107576" y="150032"/>
                  <a:pt x="102221" y="155388"/>
                  <a:pt x="95624" y="155388"/>
                </a:cubicBezTo>
                <a:cubicBezTo>
                  <a:pt x="89027" y="155388"/>
                  <a:pt x="83671" y="150032"/>
                  <a:pt x="83671" y="143435"/>
                </a:cubicBezTo>
                <a:close/>
                <a:moveTo>
                  <a:pt x="131482" y="131482"/>
                </a:moveTo>
                <a:cubicBezTo>
                  <a:pt x="138079" y="131482"/>
                  <a:pt x="143435" y="136838"/>
                  <a:pt x="143435" y="143435"/>
                </a:cubicBezTo>
                <a:cubicBezTo>
                  <a:pt x="143435" y="150032"/>
                  <a:pt x="138079" y="155388"/>
                  <a:pt x="131482" y="155388"/>
                </a:cubicBezTo>
                <a:cubicBezTo>
                  <a:pt x="124885" y="155388"/>
                  <a:pt x="119529" y="150032"/>
                  <a:pt x="119529" y="143435"/>
                </a:cubicBezTo>
                <a:cubicBezTo>
                  <a:pt x="119529" y="136838"/>
                  <a:pt x="124885" y="131482"/>
                  <a:pt x="131482" y="13148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38729" y="5259294"/>
            <a:ext cx="3053162" cy="28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磁盘I/O: 频繁的磁盘读写(溢写、归并)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8424" y="5689600"/>
            <a:ext cx="6669741" cy="430306"/>
          </a:xfrm>
          <a:custGeom>
            <a:avLst/>
            <a:gdLst/>
            <a:ahLst/>
            <a:cxnLst/>
            <a:rect l="l" t="t" r="r" b="b"/>
            <a:pathLst>
              <a:path w="6669741" h="430306">
                <a:moveTo>
                  <a:pt x="47811" y="0"/>
                </a:moveTo>
                <a:lnTo>
                  <a:pt x="6621930" y="0"/>
                </a:lnTo>
                <a:cubicBezTo>
                  <a:pt x="6648335" y="0"/>
                  <a:pt x="6669741" y="21406"/>
                  <a:pt x="6669741" y="47811"/>
                </a:cubicBezTo>
                <a:lnTo>
                  <a:pt x="6669741" y="382495"/>
                </a:lnTo>
                <a:cubicBezTo>
                  <a:pt x="6669741" y="408900"/>
                  <a:pt x="6648335" y="430306"/>
                  <a:pt x="6621930" y="430306"/>
                </a:cubicBezTo>
                <a:lnTo>
                  <a:pt x="47811" y="430306"/>
                </a:lnTo>
                <a:cubicBezTo>
                  <a:pt x="21424" y="430306"/>
                  <a:pt x="0" y="408882"/>
                  <a:pt x="0" y="382495"/>
                </a:cubicBezTo>
                <a:lnTo>
                  <a:pt x="0" y="47811"/>
                </a:lnTo>
                <a:cubicBezTo>
                  <a:pt x="0" y="21406"/>
                  <a:pt x="21406" y="0"/>
                  <a:pt x="4781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27953" y="5809129"/>
            <a:ext cx="191247" cy="191247"/>
          </a:xfrm>
          <a:custGeom>
            <a:avLst/>
            <a:gdLst/>
            <a:ahLst/>
            <a:cxnLst/>
            <a:rect l="l" t="t" r="r" b="b"/>
            <a:pathLst>
              <a:path w="191247" h="191247">
                <a:moveTo>
                  <a:pt x="23906" y="23906"/>
                </a:moveTo>
                <a:cubicBezTo>
                  <a:pt x="10720" y="23906"/>
                  <a:pt x="0" y="34626"/>
                  <a:pt x="0" y="47812"/>
                </a:cubicBezTo>
                <a:lnTo>
                  <a:pt x="0" y="50576"/>
                </a:lnTo>
                <a:cubicBezTo>
                  <a:pt x="0" y="53116"/>
                  <a:pt x="1644" y="55282"/>
                  <a:pt x="3773" y="56664"/>
                </a:cubicBezTo>
                <a:cubicBezTo>
                  <a:pt x="8703" y="59877"/>
                  <a:pt x="11953" y="65405"/>
                  <a:pt x="11953" y="71718"/>
                </a:cubicBezTo>
                <a:cubicBezTo>
                  <a:pt x="11953" y="78030"/>
                  <a:pt x="8703" y="83559"/>
                  <a:pt x="3773" y="86771"/>
                </a:cubicBezTo>
                <a:cubicBezTo>
                  <a:pt x="1644" y="88153"/>
                  <a:pt x="0" y="90319"/>
                  <a:pt x="0" y="92859"/>
                </a:cubicBezTo>
                <a:lnTo>
                  <a:pt x="0" y="113553"/>
                </a:lnTo>
                <a:lnTo>
                  <a:pt x="191247" y="113553"/>
                </a:lnTo>
                <a:lnTo>
                  <a:pt x="191247" y="92859"/>
                </a:lnTo>
                <a:cubicBezTo>
                  <a:pt x="191247" y="90319"/>
                  <a:pt x="189604" y="88153"/>
                  <a:pt x="187474" y="86771"/>
                </a:cubicBezTo>
                <a:cubicBezTo>
                  <a:pt x="182544" y="83559"/>
                  <a:pt x="179294" y="78030"/>
                  <a:pt x="179294" y="71718"/>
                </a:cubicBezTo>
                <a:cubicBezTo>
                  <a:pt x="179294" y="65405"/>
                  <a:pt x="182544" y="59877"/>
                  <a:pt x="187474" y="56664"/>
                </a:cubicBezTo>
                <a:cubicBezTo>
                  <a:pt x="189604" y="55282"/>
                  <a:pt x="191247" y="53116"/>
                  <a:pt x="191247" y="50576"/>
                </a:cubicBezTo>
                <a:lnTo>
                  <a:pt x="191247" y="47812"/>
                </a:lnTo>
                <a:cubicBezTo>
                  <a:pt x="191247" y="34626"/>
                  <a:pt x="180527" y="23906"/>
                  <a:pt x="167341" y="23906"/>
                </a:cubicBezTo>
                <a:lnTo>
                  <a:pt x="23906" y="23906"/>
                </a:lnTo>
                <a:close/>
                <a:moveTo>
                  <a:pt x="191247" y="155388"/>
                </a:moveTo>
                <a:lnTo>
                  <a:pt x="191247" y="131482"/>
                </a:lnTo>
                <a:lnTo>
                  <a:pt x="0" y="131482"/>
                </a:lnTo>
                <a:lnTo>
                  <a:pt x="0" y="155388"/>
                </a:lnTo>
                <a:cubicBezTo>
                  <a:pt x="0" y="162000"/>
                  <a:pt x="5341" y="167341"/>
                  <a:pt x="11953" y="167341"/>
                </a:cubicBezTo>
                <a:lnTo>
                  <a:pt x="35859" y="167341"/>
                </a:lnTo>
                <a:lnTo>
                  <a:pt x="35859" y="158376"/>
                </a:lnTo>
                <a:cubicBezTo>
                  <a:pt x="35859" y="153409"/>
                  <a:pt x="39856" y="149412"/>
                  <a:pt x="44824" y="149412"/>
                </a:cubicBezTo>
                <a:cubicBezTo>
                  <a:pt x="49791" y="149412"/>
                  <a:pt x="53788" y="153409"/>
                  <a:pt x="53788" y="158376"/>
                </a:cubicBezTo>
                <a:lnTo>
                  <a:pt x="53788" y="167341"/>
                </a:lnTo>
                <a:lnTo>
                  <a:pt x="86659" y="167341"/>
                </a:lnTo>
                <a:lnTo>
                  <a:pt x="86659" y="158376"/>
                </a:lnTo>
                <a:cubicBezTo>
                  <a:pt x="86659" y="153409"/>
                  <a:pt x="90656" y="149412"/>
                  <a:pt x="95624" y="149412"/>
                </a:cubicBezTo>
                <a:cubicBezTo>
                  <a:pt x="100591" y="149412"/>
                  <a:pt x="104588" y="153409"/>
                  <a:pt x="104588" y="158376"/>
                </a:cubicBezTo>
                <a:lnTo>
                  <a:pt x="104588" y="167341"/>
                </a:lnTo>
                <a:lnTo>
                  <a:pt x="137459" y="167341"/>
                </a:lnTo>
                <a:lnTo>
                  <a:pt x="137459" y="158376"/>
                </a:lnTo>
                <a:cubicBezTo>
                  <a:pt x="137459" y="153409"/>
                  <a:pt x="141456" y="149412"/>
                  <a:pt x="146424" y="149412"/>
                </a:cubicBezTo>
                <a:cubicBezTo>
                  <a:pt x="151391" y="149412"/>
                  <a:pt x="155388" y="153409"/>
                  <a:pt x="155388" y="158376"/>
                </a:cubicBezTo>
                <a:lnTo>
                  <a:pt x="155388" y="167341"/>
                </a:lnTo>
                <a:lnTo>
                  <a:pt x="179294" y="167341"/>
                </a:lnTo>
                <a:cubicBezTo>
                  <a:pt x="185906" y="167341"/>
                  <a:pt x="191247" y="162000"/>
                  <a:pt x="191247" y="155388"/>
                </a:cubicBezTo>
                <a:close/>
                <a:moveTo>
                  <a:pt x="59765" y="59765"/>
                </a:moveTo>
                <a:lnTo>
                  <a:pt x="59765" y="83671"/>
                </a:lnTo>
                <a:cubicBezTo>
                  <a:pt x="59765" y="90282"/>
                  <a:pt x="54423" y="95624"/>
                  <a:pt x="47812" y="95624"/>
                </a:cubicBezTo>
                <a:cubicBezTo>
                  <a:pt x="41200" y="95624"/>
                  <a:pt x="35859" y="90282"/>
                  <a:pt x="35859" y="83671"/>
                </a:cubicBezTo>
                <a:lnTo>
                  <a:pt x="35859" y="59765"/>
                </a:lnTo>
                <a:cubicBezTo>
                  <a:pt x="35859" y="53153"/>
                  <a:pt x="41200" y="47812"/>
                  <a:pt x="47812" y="47812"/>
                </a:cubicBezTo>
                <a:cubicBezTo>
                  <a:pt x="54423" y="47812"/>
                  <a:pt x="59765" y="53153"/>
                  <a:pt x="59765" y="59765"/>
                </a:cubicBezTo>
                <a:close/>
                <a:moveTo>
                  <a:pt x="107576" y="59765"/>
                </a:moveTo>
                <a:lnTo>
                  <a:pt x="107576" y="83671"/>
                </a:lnTo>
                <a:cubicBezTo>
                  <a:pt x="107576" y="90282"/>
                  <a:pt x="102235" y="95624"/>
                  <a:pt x="95624" y="95624"/>
                </a:cubicBezTo>
                <a:cubicBezTo>
                  <a:pt x="89012" y="95624"/>
                  <a:pt x="83671" y="90282"/>
                  <a:pt x="83671" y="83671"/>
                </a:cubicBezTo>
                <a:lnTo>
                  <a:pt x="83671" y="59765"/>
                </a:lnTo>
                <a:cubicBezTo>
                  <a:pt x="83671" y="53153"/>
                  <a:pt x="89012" y="47812"/>
                  <a:pt x="95624" y="47812"/>
                </a:cubicBezTo>
                <a:cubicBezTo>
                  <a:pt x="102235" y="47812"/>
                  <a:pt x="107576" y="53153"/>
                  <a:pt x="107576" y="59765"/>
                </a:cubicBezTo>
                <a:close/>
                <a:moveTo>
                  <a:pt x="155388" y="59765"/>
                </a:moveTo>
                <a:lnTo>
                  <a:pt x="155388" y="83671"/>
                </a:lnTo>
                <a:cubicBezTo>
                  <a:pt x="155388" y="90282"/>
                  <a:pt x="150047" y="95624"/>
                  <a:pt x="143435" y="95624"/>
                </a:cubicBezTo>
                <a:cubicBezTo>
                  <a:pt x="136824" y="95624"/>
                  <a:pt x="131482" y="90282"/>
                  <a:pt x="131482" y="83671"/>
                </a:cubicBezTo>
                <a:lnTo>
                  <a:pt x="131482" y="59765"/>
                </a:lnTo>
                <a:cubicBezTo>
                  <a:pt x="131482" y="53153"/>
                  <a:pt x="136824" y="47812"/>
                  <a:pt x="143435" y="47812"/>
                </a:cubicBezTo>
                <a:cubicBezTo>
                  <a:pt x="150047" y="47812"/>
                  <a:pt x="155388" y="53153"/>
                  <a:pt x="155388" y="59765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38729" y="5785224"/>
            <a:ext cx="2776071" cy="286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序列化: 数据序列化/反序列化开销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8424" y="6215529"/>
            <a:ext cx="6669741" cy="430306"/>
          </a:xfrm>
          <a:custGeom>
            <a:avLst/>
            <a:gdLst/>
            <a:ahLst/>
            <a:cxnLst/>
            <a:rect l="l" t="t" r="r" b="b"/>
            <a:pathLst>
              <a:path w="6669741" h="430306">
                <a:moveTo>
                  <a:pt x="47811" y="0"/>
                </a:moveTo>
                <a:lnTo>
                  <a:pt x="6621930" y="0"/>
                </a:lnTo>
                <a:cubicBezTo>
                  <a:pt x="6648335" y="0"/>
                  <a:pt x="6669741" y="21406"/>
                  <a:pt x="6669741" y="47811"/>
                </a:cubicBezTo>
                <a:lnTo>
                  <a:pt x="6669741" y="382495"/>
                </a:lnTo>
                <a:cubicBezTo>
                  <a:pt x="6669741" y="408900"/>
                  <a:pt x="6648335" y="430306"/>
                  <a:pt x="6621930" y="430306"/>
                </a:cubicBezTo>
                <a:lnTo>
                  <a:pt x="47811" y="430306"/>
                </a:lnTo>
                <a:cubicBezTo>
                  <a:pt x="21424" y="430306"/>
                  <a:pt x="0" y="408882"/>
                  <a:pt x="0" y="382495"/>
                </a:cubicBezTo>
                <a:lnTo>
                  <a:pt x="0" y="47811"/>
                </a:lnTo>
                <a:cubicBezTo>
                  <a:pt x="0" y="21406"/>
                  <a:pt x="21406" y="0"/>
                  <a:pt x="4781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51859" y="6335059"/>
            <a:ext cx="143435" cy="191247"/>
          </a:xfrm>
          <a:custGeom>
            <a:avLst/>
            <a:gdLst/>
            <a:ahLst/>
            <a:cxnLst/>
            <a:rect l="l" t="t" r="r" b="b"/>
            <a:pathLst>
              <a:path w="143435" h="191247">
                <a:moveTo>
                  <a:pt x="896" y="76275"/>
                </a:moveTo>
                <a:cubicBezTo>
                  <a:pt x="2764" y="80757"/>
                  <a:pt x="7097" y="83671"/>
                  <a:pt x="11953" y="83671"/>
                </a:cubicBezTo>
                <a:lnTo>
                  <a:pt x="131482" y="83671"/>
                </a:lnTo>
                <a:cubicBezTo>
                  <a:pt x="136301" y="83671"/>
                  <a:pt x="140671" y="80757"/>
                  <a:pt x="142539" y="76275"/>
                </a:cubicBezTo>
                <a:cubicBezTo>
                  <a:pt x="144406" y="71792"/>
                  <a:pt x="143361" y="66675"/>
                  <a:pt x="139961" y="63239"/>
                </a:cubicBezTo>
                <a:lnTo>
                  <a:pt x="80197" y="3474"/>
                </a:lnTo>
                <a:cubicBezTo>
                  <a:pt x="75528" y="-1195"/>
                  <a:pt x="67945" y="-1195"/>
                  <a:pt x="63276" y="3474"/>
                </a:cubicBezTo>
                <a:lnTo>
                  <a:pt x="3511" y="63239"/>
                </a:lnTo>
                <a:cubicBezTo>
                  <a:pt x="75" y="66675"/>
                  <a:pt x="-934" y="71792"/>
                  <a:pt x="934" y="76275"/>
                </a:cubicBezTo>
                <a:close/>
                <a:moveTo>
                  <a:pt x="896" y="114935"/>
                </a:moveTo>
                <a:cubicBezTo>
                  <a:pt x="-971" y="119417"/>
                  <a:pt x="75" y="124535"/>
                  <a:pt x="3474" y="127971"/>
                </a:cubicBezTo>
                <a:lnTo>
                  <a:pt x="63239" y="187736"/>
                </a:lnTo>
                <a:cubicBezTo>
                  <a:pt x="67908" y="192405"/>
                  <a:pt x="75490" y="192405"/>
                  <a:pt x="80159" y="187736"/>
                </a:cubicBezTo>
                <a:lnTo>
                  <a:pt x="139924" y="127971"/>
                </a:lnTo>
                <a:cubicBezTo>
                  <a:pt x="143361" y="124535"/>
                  <a:pt x="144369" y="119417"/>
                  <a:pt x="142501" y="114935"/>
                </a:cubicBezTo>
                <a:cubicBezTo>
                  <a:pt x="140634" y="110453"/>
                  <a:pt x="136301" y="107576"/>
                  <a:pt x="131482" y="107576"/>
                </a:cubicBezTo>
                <a:lnTo>
                  <a:pt x="11953" y="107576"/>
                </a:lnTo>
                <a:cubicBezTo>
                  <a:pt x="7134" y="107576"/>
                  <a:pt x="2764" y="110490"/>
                  <a:pt x="896" y="11497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38729" y="6311153"/>
            <a:ext cx="2342776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排序: 大规模数据排序计算密集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1082" y="6980518"/>
            <a:ext cx="7028329" cy="908424"/>
          </a:xfrm>
          <a:custGeom>
            <a:avLst/>
            <a:gdLst/>
            <a:ahLst/>
            <a:cxnLst/>
            <a:rect l="l" t="t" r="r" b="b"/>
            <a:pathLst>
              <a:path w="7028329" h="908424">
                <a:moveTo>
                  <a:pt x="47810" y="0"/>
                </a:moveTo>
                <a:lnTo>
                  <a:pt x="6980519" y="0"/>
                </a:lnTo>
                <a:cubicBezTo>
                  <a:pt x="7006924" y="0"/>
                  <a:pt x="7028329" y="21405"/>
                  <a:pt x="7028329" y="47810"/>
                </a:cubicBezTo>
                <a:lnTo>
                  <a:pt x="7028329" y="860613"/>
                </a:lnTo>
                <a:cubicBezTo>
                  <a:pt x="7028329" y="887018"/>
                  <a:pt x="7006924" y="908424"/>
                  <a:pt x="6980519" y="908424"/>
                </a:cubicBezTo>
                <a:lnTo>
                  <a:pt x="47810" y="908424"/>
                </a:lnTo>
                <a:cubicBezTo>
                  <a:pt x="21405" y="908424"/>
                  <a:pt x="0" y="887018"/>
                  <a:pt x="0" y="860613"/>
                </a:cubicBezTo>
                <a:lnTo>
                  <a:pt x="0" y="47810"/>
                </a:lnTo>
                <a:cubicBezTo>
                  <a:pt x="0" y="21423"/>
                  <a:pt x="21423" y="0"/>
                  <a:pt x="47810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1082" y="6980518"/>
            <a:ext cx="47812" cy="908424"/>
          </a:xfrm>
          <a:custGeom>
            <a:avLst/>
            <a:gdLst/>
            <a:ahLst/>
            <a:cxnLst/>
            <a:rect l="l" t="t" r="r" b="b"/>
            <a:pathLst>
              <a:path w="47812" h="908424">
                <a:moveTo>
                  <a:pt x="47812" y="0"/>
                </a:moveTo>
                <a:lnTo>
                  <a:pt x="47812" y="0"/>
                </a:lnTo>
                <a:lnTo>
                  <a:pt x="47812" y="908424"/>
                </a:lnTo>
                <a:lnTo>
                  <a:pt x="47812" y="908424"/>
                </a:lnTo>
                <a:cubicBezTo>
                  <a:pt x="21406" y="908424"/>
                  <a:pt x="0" y="887017"/>
                  <a:pt x="0" y="860612"/>
                </a:cubicBezTo>
                <a:lnTo>
                  <a:pt x="0" y="47812"/>
                </a:lnTo>
                <a:cubicBezTo>
                  <a:pt x="0" y="21406"/>
                  <a:pt x="21406" y="0"/>
                  <a:pt x="47812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8424" y="7123953"/>
            <a:ext cx="6813176" cy="621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考点: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中最耗时的阶段,调优重点在于减少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数据量、优化网络传输、减少磁盘I/O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47529" y="1649506"/>
            <a:ext cx="7530353" cy="3418541"/>
          </a:xfrm>
          <a:custGeom>
            <a:avLst/>
            <a:gdLst/>
            <a:ahLst/>
            <a:cxnLst/>
            <a:rect l="l" t="t" r="r" b="b"/>
            <a:pathLst>
              <a:path w="7530353" h="3418541">
                <a:moveTo>
                  <a:pt x="47812" y="0"/>
                </a:moveTo>
                <a:lnTo>
                  <a:pt x="7482541" y="0"/>
                </a:lnTo>
                <a:cubicBezTo>
                  <a:pt x="7508947" y="0"/>
                  <a:pt x="7530353" y="21406"/>
                  <a:pt x="7530353" y="47812"/>
                </a:cubicBezTo>
                <a:lnTo>
                  <a:pt x="7530353" y="3322925"/>
                </a:lnTo>
                <a:cubicBezTo>
                  <a:pt x="7530353" y="3375732"/>
                  <a:pt x="7487544" y="3418541"/>
                  <a:pt x="7434736" y="3418541"/>
                </a:cubicBezTo>
                <a:lnTo>
                  <a:pt x="95617" y="3418541"/>
                </a:lnTo>
                <a:cubicBezTo>
                  <a:pt x="42809" y="3418541"/>
                  <a:pt x="0" y="3375732"/>
                  <a:pt x="0" y="3322925"/>
                </a:cubicBezTo>
                <a:lnTo>
                  <a:pt x="0" y="47812"/>
                </a:lnTo>
                <a:cubicBezTo>
                  <a:pt x="0" y="21424"/>
                  <a:pt x="21424" y="0"/>
                  <a:pt x="47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47529" y="1649506"/>
            <a:ext cx="7530353" cy="47812"/>
          </a:xfrm>
          <a:custGeom>
            <a:avLst/>
            <a:gdLst/>
            <a:ahLst/>
            <a:cxnLst/>
            <a:rect l="l" t="t" r="r" b="b"/>
            <a:pathLst>
              <a:path w="7530353" h="47812">
                <a:moveTo>
                  <a:pt x="47812" y="0"/>
                </a:moveTo>
                <a:lnTo>
                  <a:pt x="7482541" y="0"/>
                </a:lnTo>
                <a:cubicBezTo>
                  <a:pt x="7508947" y="0"/>
                  <a:pt x="7530353" y="21406"/>
                  <a:pt x="7530353" y="47812"/>
                </a:cubicBezTo>
                <a:lnTo>
                  <a:pt x="7530353" y="47812"/>
                </a:lnTo>
                <a:lnTo>
                  <a:pt x="0" y="47812"/>
                </a:lnTo>
                <a:lnTo>
                  <a:pt x="0" y="47812"/>
                </a:lnTo>
                <a:cubicBezTo>
                  <a:pt x="0" y="21406"/>
                  <a:pt x="21406" y="0"/>
                  <a:pt x="4781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522447" y="1960282"/>
            <a:ext cx="286871" cy="286871"/>
          </a:xfrm>
          <a:custGeom>
            <a:avLst/>
            <a:gdLst/>
            <a:ahLst/>
            <a:cxnLst/>
            <a:rect l="l" t="t" r="r" b="b"/>
            <a:pathLst>
              <a:path w="286871" h="286871">
                <a:moveTo>
                  <a:pt x="246249" y="3922"/>
                </a:moveTo>
                <a:cubicBezTo>
                  <a:pt x="251516" y="-1345"/>
                  <a:pt x="260033" y="-1345"/>
                  <a:pt x="265243" y="3922"/>
                </a:cubicBezTo>
                <a:lnTo>
                  <a:pt x="283173" y="21851"/>
                </a:lnTo>
                <a:cubicBezTo>
                  <a:pt x="288439" y="27118"/>
                  <a:pt x="288439" y="35635"/>
                  <a:pt x="283173" y="40845"/>
                </a:cubicBezTo>
                <a:lnTo>
                  <a:pt x="234427" y="89591"/>
                </a:lnTo>
                <a:lnTo>
                  <a:pt x="256279" y="111443"/>
                </a:lnTo>
                <a:cubicBezTo>
                  <a:pt x="260145" y="115309"/>
                  <a:pt x="261265" y="121080"/>
                  <a:pt x="259192" y="126122"/>
                </a:cubicBezTo>
                <a:cubicBezTo>
                  <a:pt x="257119" y="131165"/>
                  <a:pt x="252244" y="134471"/>
                  <a:pt x="246810" y="134471"/>
                </a:cubicBezTo>
                <a:lnTo>
                  <a:pt x="166127" y="134471"/>
                </a:lnTo>
                <a:cubicBezTo>
                  <a:pt x="158675" y="134471"/>
                  <a:pt x="152680" y="128475"/>
                  <a:pt x="152680" y="121024"/>
                </a:cubicBezTo>
                <a:lnTo>
                  <a:pt x="152680" y="40341"/>
                </a:lnTo>
                <a:cubicBezTo>
                  <a:pt x="152680" y="34906"/>
                  <a:pt x="155930" y="29976"/>
                  <a:pt x="160973" y="27903"/>
                </a:cubicBezTo>
                <a:cubicBezTo>
                  <a:pt x="166015" y="25830"/>
                  <a:pt x="171786" y="26950"/>
                  <a:pt x="175652" y="30816"/>
                </a:cubicBezTo>
                <a:lnTo>
                  <a:pt x="197504" y="52668"/>
                </a:lnTo>
                <a:lnTo>
                  <a:pt x="246249" y="3922"/>
                </a:lnTo>
                <a:close/>
                <a:moveTo>
                  <a:pt x="40621" y="152400"/>
                </a:moveTo>
                <a:lnTo>
                  <a:pt x="121304" y="152400"/>
                </a:lnTo>
                <a:cubicBezTo>
                  <a:pt x="128756" y="152400"/>
                  <a:pt x="134751" y="158395"/>
                  <a:pt x="134751" y="165847"/>
                </a:cubicBezTo>
                <a:lnTo>
                  <a:pt x="134751" y="246529"/>
                </a:lnTo>
                <a:cubicBezTo>
                  <a:pt x="134751" y="251964"/>
                  <a:pt x="131501" y="256895"/>
                  <a:pt x="126458" y="258968"/>
                </a:cubicBezTo>
                <a:cubicBezTo>
                  <a:pt x="121416" y="261041"/>
                  <a:pt x="115645" y="259920"/>
                  <a:pt x="111779" y="256054"/>
                </a:cubicBezTo>
                <a:lnTo>
                  <a:pt x="89927" y="234203"/>
                </a:lnTo>
                <a:lnTo>
                  <a:pt x="41182" y="282949"/>
                </a:lnTo>
                <a:cubicBezTo>
                  <a:pt x="35915" y="288215"/>
                  <a:pt x="27398" y="288215"/>
                  <a:pt x="22188" y="282949"/>
                </a:cubicBezTo>
                <a:lnTo>
                  <a:pt x="4258" y="265019"/>
                </a:lnTo>
                <a:cubicBezTo>
                  <a:pt x="-1009" y="259752"/>
                  <a:pt x="-1009" y="251236"/>
                  <a:pt x="4258" y="246025"/>
                </a:cubicBezTo>
                <a:lnTo>
                  <a:pt x="53004" y="197280"/>
                </a:lnTo>
                <a:lnTo>
                  <a:pt x="31152" y="175428"/>
                </a:lnTo>
                <a:cubicBezTo>
                  <a:pt x="27286" y="171562"/>
                  <a:pt x="26166" y="165791"/>
                  <a:pt x="28239" y="160748"/>
                </a:cubicBezTo>
                <a:cubicBezTo>
                  <a:pt x="30312" y="155706"/>
                  <a:pt x="35186" y="152400"/>
                  <a:pt x="40621" y="15240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45176" y="1912471"/>
            <a:ext cx="6837082" cy="382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Combiner:</a:t>
            </a:r>
            <a:r>
              <a:rPr lang="zh-CN" altLang="en-US" sz="225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225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zh-CN" altLang="en-US" sz="225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2259" dirty="0" err="1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端本地预聚合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86588" y="2438400"/>
            <a:ext cx="7052235" cy="597647"/>
          </a:xfrm>
          <a:custGeom>
            <a:avLst/>
            <a:gdLst/>
            <a:ahLst/>
            <a:cxnLst/>
            <a:rect l="l" t="t" r="r" b="b"/>
            <a:pathLst>
              <a:path w="7052235" h="597647">
                <a:moveTo>
                  <a:pt x="47812" y="0"/>
                </a:moveTo>
                <a:lnTo>
                  <a:pt x="7004424" y="0"/>
                </a:lnTo>
                <a:cubicBezTo>
                  <a:pt x="7030829" y="0"/>
                  <a:pt x="7052235" y="21406"/>
                  <a:pt x="7052235" y="47812"/>
                </a:cubicBezTo>
                <a:lnTo>
                  <a:pt x="7052235" y="549835"/>
                </a:lnTo>
                <a:cubicBezTo>
                  <a:pt x="7052235" y="576241"/>
                  <a:pt x="7030829" y="597647"/>
                  <a:pt x="7004424" y="597647"/>
                </a:cubicBezTo>
                <a:lnTo>
                  <a:pt x="47812" y="597647"/>
                </a:lnTo>
                <a:cubicBezTo>
                  <a:pt x="21406" y="597647"/>
                  <a:pt x="0" y="576241"/>
                  <a:pt x="0" y="549835"/>
                </a:cubicBezTo>
                <a:lnTo>
                  <a:pt x="0" y="47812"/>
                </a:lnTo>
                <a:cubicBezTo>
                  <a:pt x="0" y="21424"/>
                  <a:pt x="21424" y="0"/>
                  <a:pt x="4781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630024" y="2581835"/>
            <a:ext cx="6860988" cy="310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在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端对中间结果进行本地预聚合,减少网络传输数据量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486588" y="3179482"/>
            <a:ext cx="7052235" cy="597647"/>
          </a:xfrm>
          <a:custGeom>
            <a:avLst/>
            <a:gdLst/>
            <a:ahLst/>
            <a:cxnLst/>
            <a:rect l="l" t="t" r="r" b="b"/>
            <a:pathLst>
              <a:path w="7052235" h="597647">
                <a:moveTo>
                  <a:pt x="47812" y="0"/>
                </a:moveTo>
                <a:lnTo>
                  <a:pt x="7004424" y="0"/>
                </a:lnTo>
                <a:cubicBezTo>
                  <a:pt x="7030829" y="0"/>
                  <a:pt x="7052235" y="21406"/>
                  <a:pt x="7052235" y="47812"/>
                </a:cubicBezTo>
                <a:lnTo>
                  <a:pt x="7052235" y="549835"/>
                </a:lnTo>
                <a:cubicBezTo>
                  <a:pt x="7052235" y="576241"/>
                  <a:pt x="7030829" y="597647"/>
                  <a:pt x="7004424" y="597647"/>
                </a:cubicBezTo>
                <a:lnTo>
                  <a:pt x="47812" y="597647"/>
                </a:lnTo>
                <a:cubicBezTo>
                  <a:pt x="21406" y="597647"/>
                  <a:pt x="0" y="576241"/>
                  <a:pt x="0" y="549835"/>
                </a:cubicBezTo>
                <a:lnTo>
                  <a:pt x="0" y="47812"/>
                </a:lnTo>
                <a:cubicBezTo>
                  <a:pt x="0" y="21424"/>
                  <a:pt x="21424" y="0"/>
                  <a:pt x="4781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630024" y="3322918"/>
            <a:ext cx="6860988" cy="310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适用场景: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满足交换律/结合律的操作,如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sum、count、max、min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510494" y="3920565"/>
            <a:ext cx="7028329" cy="908424"/>
          </a:xfrm>
          <a:custGeom>
            <a:avLst/>
            <a:gdLst/>
            <a:ahLst/>
            <a:cxnLst/>
            <a:rect l="l" t="t" r="r" b="b"/>
            <a:pathLst>
              <a:path w="7028329" h="908424">
                <a:moveTo>
                  <a:pt x="47810" y="0"/>
                </a:moveTo>
                <a:lnTo>
                  <a:pt x="6980519" y="0"/>
                </a:lnTo>
                <a:cubicBezTo>
                  <a:pt x="7006924" y="0"/>
                  <a:pt x="7028329" y="21405"/>
                  <a:pt x="7028329" y="47810"/>
                </a:cubicBezTo>
                <a:lnTo>
                  <a:pt x="7028329" y="860613"/>
                </a:lnTo>
                <a:cubicBezTo>
                  <a:pt x="7028329" y="887018"/>
                  <a:pt x="7006924" y="908424"/>
                  <a:pt x="6980519" y="908424"/>
                </a:cubicBezTo>
                <a:lnTo>
                  <a:pt x="47810" y="908424"/>
                </a:lnTo>
                <a:cubicBezTo>
                  <a:pt x="21405" y="908424"/>
                  <a:pt x="0" y="887018"/>
                  <a:pt x="0" y="860613"/>
                </a:cubicBezTo>
                <a:lnTo>
                  <a:pt x="0" y="47810"/>
                </a:lnTo>
                <a:cubicBezTo>
                  <a:pt x="0" y="21423"/>
                  <a:pt x="21423" y="0"/>
                  <a:pt x="47810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510494" y="3920565"/>
            <a:ext cx="47812" cy="908424"/>
          </a:xfrm>
          <a:custGeom>
            <a:avLst/>
            <a:gdLst/>
            <a:ahLst/>
            <a:cxnLst/>
            <a:rect l="l" t="t" r="r" b="b"/>
            <a:pathLst>
              <a:path w="47812" h="908424">
                <a:moveTo>
                  <a:pt x="47812" y="0"/>
                </a:moveTo>
                <a:lnTo>
                  <a:pt x="47812" y="0"/>
                </a:lnTo>
                <a:lnTo>
                  <a:pt x="47812" y="908424"/>
                </a:lnTo>
                <a:lnTo>
                  <a:pt x="47812" y="908424"/>
                </a:lnTo>
                <a:cubicBezTo>
                  <a:pt x="21406" y="908424"/>
                  <a:pt x="0" y="887017"/>
                  <a:pt x="0" y="860612"/>
                </a:cubicBezTo>
                <a:lnTo>
                  <a:pt x="0" y="47812"/>
                </a:lnTo>
                <a:cubicBezTo>
                  <a:pt x="0" y="21406"/>
                  <a:pt x="21406" y="0"/>
                  <a:pt x="47812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677835" y="4064000"/>
            <a:ext cx="6813176" cy="621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易错点: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Combiner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是可选优化而非必须步骤;不能改变最终业务逻辑(如求平均值不能直接用)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271435" y="5259294"/>
            <a:ext cx="7506447" cy="3406588"/>
          </a:xfrm>
          <a:custGeom>
            <a:avLst/>
            <a:gdLst/>
            <a:ahLst/>
            <a:cxnLst/>
            <a:rect l="l" t="t" r="r" b="b"/>
            <a:pathLst>
              <a:path w="7506447" h="3406588">
                <a:moveTo>
                  <a:pt x="47812" y="0"/>
                </a:moveTo>
                <a:lnTo>
                  <a:pt x="7410824" y="0"/>
                </a:lnTo>
                <a:cubicBezTo>
                  <a:pt x="7463635" y="0"/>
                  <a:pt x="7506447" y="42812"/>
                  <a:pt x="7506447" y="95623"/>
                </a:cubicBezTo>
                <a:lnTo>
                  <a:pt x="7506447" y="3310965"/>
                </a:lnTo>
                <a:cubicBezTo>
                  <a:pt x="7506447" y="3363776"/>
                  <a:pt x="7463635" y="3406588"/>
                  <a:pt x="7410824" y="3406588"/>
                </a:cubicBezTo>
                <a:lnTo>
                  <a:pt x="47812" y="3406588"/>
                </a:lnTo>
                <a:cubicBezTo>
                  <a:pt x="21406" y="3406588"/>
                  <a:pt x="0" y="3385182"/>
                  <a:pt x="0" y="3358776"/>
                </a:cubicBezTo>
                <a:lnTo>
                  <a:pt x="0" y="47812"/>
                </a:lnTo>
                <a:cubicBezTo>
                  <a:pt x="0" y="21424"/>
                  <a:pt x="21424" y="0"/>
                  <a:pt x="47812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71435" y="5259294"/>
            <a:ext cx="47812" cy="3406588"/>
          </a:xfrm>
          <a:custGeom>
            <a:avLst/>
            <a:gdLst/>
            <a:ahLst/>
            <a:cxnLst/>
            <a:rect l="l" t="t" r="r" b="b"/>
            <a:pathLst>
              <a:path w="47812" h="3406588">
                <a:moveTo>
                  <a:pt x="47812" y="0"/>
                </a:moveTo>
                <a:lnTo>
                  <a:pt x="47812" y="0"/>
                </a:lnTo>
                <a:lnTo>
                  <a:pt x="47812" y="3406588"/>
                </a:lnTo>
                <a:lnTo>
                  <a:pt x="47812" y="3406588"/>
                </a:lnTo>
                <a:cubicBezTo>
                  <a:pt x="21406" y="3406588"/>
                  <a:pt x="0" y="3385182"/>
                  <a:pt x="0" y="3358776"/>
                </a:cubicBezTo>
                <a:lnTo>
                  <a:pt x="0" y="47812"/>
                </a:lnTo>
                <a:cubicBezTo>
                  <a:pt x="0" y="21406"/>
                  <a:pt x="21406" y="0"/>
                  <a:pt x="47812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534400" y="5546165"/>
            <a:ext cx="358588" cy="286871"/>
          </a:xfrm>
          <a:custGeom>
            <a:avLst/>
            <a:gdLst/>
            <a:ahLst/>
            <a:cxnLst/>
            <a:rect l="l" t="t" r="r" b="b"/>
            <a:pathLst>
              <a:path w="358588" h="286871">
                <a:moveTo>
                  <a:pt x="215153" y="17929"/>
                </a:moveTo>
                <a:lnTo>
                  <a:pt x="286871" y="17929"/>
                </a:lnTo>
                <a:cubicBezTo>
                  <a:pt x="296788" y="17929"/>
                  <a:pt x="304800" y="25942"/>
                  <a:pt x="304800" y="35859"/>
                </a:cubicBezTo>
                <a:cubicBezTo>
                  <a:pt x="304800" y="45776"/>
                  <a:pt x="296788" y="53788"/>
                  <a:pt x="286871" y="53788"/>
                </a:cubicBezTo>
                <a:lnTo>
                  <a:pt x="223221" y="53788"/>
                </a:lnTo>
                <a:cubicBezTo>
                  <a:pt x="220308" y="68244"/>
                  <a:pt x="210390" y="80178"/>
                  <a:pt x="197224" y="85893"/>
                </a:cubicBezTo>
                <a:lnTo>
                  <a:pt x="197224" y="251012"/>
                </a:lnTo>
                <a:lnTo>
                  <a:pt x="286871" y="251012"/>
                </a:lnTo>
                <a:cubicBezTo>
                  <a:pt x="296788" y="251012"/>
                  <a:pt x="304800" y="259024"/>
                  <a:pt x="304800" y="268941"/>
                </a:cubicBezTo>
                <a:cubicBezTo>
                  <a:pt x="304800" y="278858"/>
                  <a:pt x="296788" y="286871"/>
                  <a:pt x="286871" y="286871"/>
                </a:cubicBezTo>
                <a:lnTo>
                  <a:pt x="71718" y="286871"/>
                </a:lnTo>
                <a:cubicBezTo>
                  <a:pt x="61800" y="286871"/>
                  <a:pt x="53788" y="278858"/>
                  <a:pt x="53788" y="268941"/>
                </a:cubicBezTo>
                <a:cubicBezTo>
                  <a:pt x="53788" y="259024"/>
                  <a:pt x="61800" y="251012"/>
                  <a:pt x="71718" y="251012"/>
                </a:cubicBezTo>
                <a:lnTo>
                  <a:pt x="161365" y="251012"/>
                </a:lnTo>
                <a:lnTo>
                  <a:pt x="161365" y="85893"/>
                </a:lnTo>
                <a:cubicBezTo>
                  <a:pt x="148198" y="80122"/>
                  <a:pt x="138281" y="68188"/>
                  <a:pt x="135367" y="53788"/>
                </a:cubicBezTo>
                <a:lnTo>
                  <a:pt x="71718" y="53788"/>
                </a:lnTo>
                <a:cubicBezTo>
                  <a:pt x="61800" y="53788"/>
                  <a:pt x="53788" y="45776"/>
                  <a:pt x="53788" y="35859"/>
                </a:cubicBezTo>
                <a:cubicBezTo>
                  <a:pt x="53788" y="25942"/>
                  <a:pt x="61800" y="17929"/>
                  <a:pt x="71718" y="17929"/>
                </a:cubicBezTo>
                <a:lnTo>
                  <a:pt x="143435" y="17929"/>
                </a:lnTo>
                <a:cubicBezTo>
                  <a:pt x="151616" y="7060"/>
                  <a:pt x="164614" y="0"/>
                  <a:pt x="179294" y="0"/>
                </a:cubicBezTo>
                <a:cubicBezTo>
                  <a:pt x="193974" y="0"/>
                  <a:pt x="206973" y="7060"/>
                  <a:pt x="215153" y="17929"/>
                </a:cubicBezTo>
                <a:close/>
                <a:moveTo>
                  <a:pt x="246305" y="179294"/>
                </a:moveTo>
                <a:lnTo>
                  <a:pt x="327436" y="179294"/>
                </a:lnTo>
                <a:lnTo>
                  <a:pt x="286871" y="109706"/>
                </a:lnTo>
                <a:lnTo>
                  <a:pt x="246305" y="179294"/>
                </a:lnTo>
                <a:close/>
                <a:moveTo>
                  <a:pt x="286871" y="233082"/>
                </a:moveTo>
                <a:cubicBezTo>
                  <a:pt x="251628" y="233082"/>
                  <a:pt x="222325" y="214032"/>
                  <a:pt x="216274" y="188875"/>
                </a:cubicBezTo>
                <a:cubicBezTo>
                  <a:pt x="214817" y="182712"/>
                  <a:pt x="216834" y="176381"/>
                  <a:pt x="220028" y="170890"/>
                </a:cubicBezTo>
                <a:lnTo>
                  <a:pt x="273368" y="79450"/>
                </a:lnTo>
                <a:cubicBezTo>
                  <a:pt x="276169" y="74631"/>
                  <a:pt x="281324" y="71718"/>
                  <a:pt x="286871" y="71718"/>
                </a:cubicBezTo>
                <a:cubicBezTo>
                  <a:pt x="292418" y="71718"/>
                  <a:pt x="297572" y="74687"/>
                  <a:pt x="300374" y="79450"/>
                </a:cubicBezTo>
                <a:lnTo>
                  <a:pt x="353714" y="170890"/>
                </a:lnTo>
                <a:cubicBezTo>
                  <a:pt x="356907" y="176381"/>
                  <a:pt x="358924" y="182712"/>
                  <a:pt x="357468" y="188875"/>
                </a:cubicBezTo>
                <a:cubicBezTo>
                  <a:pt x="351416" y="213976"/>
                  <a:pt x="322113" y="233082"/>
                  <a:pt x="286871" y="233082"/>
                </a:cubicBezTo>
                <a:close/>
                <a:moveTo>
                  <a:pt x="71045" y="109706"/>
                </a:moveTo>
                <a:lnTo>
                  <a:pt x="30480" y="179294"/>
                </a:lnTo>
                <a:lnTo>
                  <a:pt x="111667" y="179294"/>
                </a:lnTo>
                <a:lnTo>
                  <a:pt x="71045" y="109706"/>
                </a:lnTo>
                <a:close/>
                <a:moveTo>
                  <a:pt x="504" y="188875"/>
                </a:moveTo>
                <a:cubicBezTo>
                  <a:pt x="-953" y="182712"/>
                  <a:pt x="1065" y="176381"/>
                  <a:pt x="4258" y="170890"/>
                </a:cubicBezTo>
                <a:lnTo>
                  <a:pt x="57598" y="79450"/>
                </a:lnTo>
                <a:cubicBezTo>
                  <a:pt x="60400" y="74631"/>
                  <a:pt x="65554" y="71718"/>
                  <a:pt x="71101" y="71718"/>
                </a:cubicBezTo>
                <a:cubicBezTo>
                  <a:pt x="76648" y="71718"/>
                  <a:pt x="81803" y="74687"/>
                  <a:pt x="84604" y="79450"/>
                </a:cubicBezTo>
                <a:lnTo>
                  <a:pt x="137944" y="170890"/>
                </a:lnTo>
                <a:cubicBezTo>
                  <a:pt x="141138" y="176381"/>
                  <a:pt x="143155" y="182712"/>
                  <a:pt x="141698" y="188875"/>
                </a:cubicBezTo>
                <a:cubicBezTo>
                  <a:pt x="135647" y="213976"/>
                  <a:pt x="106344" y="233082"/>
                  <a:pt x="71101" y="233082"/>
                </a:cubicBezTo>
                <a:cubicBezTo>
                  <a:pt x="35859" y="233082"/>
                  <a:pt x="6555" y="214032"/>
                  <a:pt x="504" y="188875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892988" y="5498353"/>
            <a:ext cx="6789271" cy="382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Partitioner</a:t>
            </a:r>
            <a:r>
              <a:rPr lang="zh-CN" altLang="en-US" sz="225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225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:数据分发策略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534400" y="6024282"/>
            <a:ext cx="7004424" cy="609600"/>
          </a:xfrm>
          <a:custGeom>
            <a:avLst/>
            <a:gdLst/>
            <a:ahLst/>
            <a:cxnLst/>
            <a:rect l="l" t="t" r="r" b="b"/>
            <a:pathLst>
              <a:path w="7004424" h="609600">
                <a:moveTo>
                  <a:pt x="47811" y="0"/>
                </a:moveTo>
                <a:lnTo>
                  <a:pt x="6956613" y="0"/>
                </a:lnTo>
                <a:cubicBezTo>
                  <a:pt x="6983018" y="0"/>
                  <a:pt x="7004424" y="21406"/>
                  <a:pt x="7004424" y="47811"/>
                </a:cubicBezTo>
                <a:lnTo>
                  <a:pt x="7004424" y="561789"/>
                </a:lnTo>
                <a:cubicBezTo>
                  <a:pt x="7004424" y="588194"/>
                  <a:pt x="6983018" y="609600"/>
                  <a:pt x="6956613" y="609600"/>
                </a:cubicBezTo>
                <a:lnTo>
                  <a:pt x="47811" y="609600"/>
                </a:lnTo>
                <a:cubicBezTo>
                  <a:pt x="21406" y="609600"/>
                  <a:pt x="0" y="588194"/>
                  <a:pt x="0" y="561789"/>
                </a:cubicBezTo>
                <a:lnTo>
                  <a:pt x="0" y="47811"/>
                </a:lnTo>
                <a:cubicBezTo>
                  <a:pt x="0" y="21406"/>
                  <a:pt x="21406" y="0"/>
                  <a:pt x="4781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677835" y="6167718"/>
            <a:ext cx="6813176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决定数据分发到哪个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Reducer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,默认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hash(key) % numReducers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534400" y="6771341"/>
            <a:ext cx="7004424" cy="597647"/>
          </a:xfrm>
          <a:custGeom>
            <a:avLst/>
            <a:gdLst/>
            <a:ahLst/>
            <a:cxnLst/>
            <a:rect l="l" t="t" r="r" b="b"/>
            <a:pathLst>
              <a:path w="7004424" h="597647">
                <a:moveTo>
                  <a:pt x="47812" y="0"/>
                </a:moveTo>
                <a:lnTo>
                  <a:pt x="6956612" y="0"/>
                </a:lnTo>
                <a:cubicBezTo>
                  <a:pt x="6983017" y="0"/>
                  <a:pt x="7004424" y="21406"/>
                  <a:pt x="7004424" y="47812"/>
                </a:cubicBezTo>
                <a:lnTo>
                  <a:pt x="7004424" y="549835"/>
                </a:lnTo>
                <a:cubicBezTo>
                  <a:pt x="7004424" y="576241"/>
                  <a:pt x="6983017" y="597647"/>
                  <a:pt x="6956612" y="597647"/>
                </a:cubicBezTo>
                <a:lnTo>
                  <a:pt x="47812" y="597647"/>
                </a:lnTo>
                <a:cubicBezTo>
                  <a:pt x="21406" y="597647"/>
                  <a:pt x="0" y="576241"/>
                  <a:pt x="0" y="549835"/>
                </a:cubicBezTo>
                <a:lnTo>
                  <a:pt x="0" y="47812"/>
                </a:lnTo>
                <a:cubicBezTo>
                  <a:pt x="0" y="21424"/>
                  <a:pt x="21424" y="0"/>
                  <a:pt x="4781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77835" y="6914776"/>
            <a:ext cx="6813176" cy="310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自定义分区: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可缓解数据倾斜,如按范围分区、按业务规则分区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558306" y="7512424"/>
            <a:ext cx="6980518" cy="908424"/>
          </a:xfrm>
          <a:custGeom>
            <a:avLst/>
            <a:gdLst/>
            <a:ahLst/>
            <a:cxnLst/>
            <a:rect l="l" t="t" r="r" b="b"/>
            <a:pathLst>
              <a:path w="6980518" h="908424">
                <a:moveTo>
                  <a:pt x="47810" y="0"/>
                </a:moveTo>
                <a:lnTo>
                  <a:pt x="6932707" y="0"/>
                </a:lnTo>
                <a:cubicBezTo>
                  <a:pt x="6959112" y="0"/>
                  <a:pt x="6980518" y="21405"/>
                  <a:pt x="6980518" y="47810"/>
                </a:cubicBezTo>
                <a:lnTo>
                  <a:pt x="6980518" y="860613"/>
                </a:lnTo>
                <a:cubicBezTo>
                  <a:pt x="6980518" y="887018"/>
                  <a:pt x="6959112" y="908424"/>
                  <a:pt x="6932707" y="908424"/>
                </a:cubicBezTo>
                <a:lnTo>
                  <a:pt x="47810" y="908424"/>
                </a:lnTo>
                <a:cubicBezTo>
                  <a:pt x="21405" y="908424"/>
                  <a:pt x="0" y="887018"/>
                  <a:pt x="0" y="860613"/>
                </a:cubicBezTo>
                <a:lnTo>
                  <a:pt x="0" y="47810"/>
                </a:lnTo>
                <a:cubicBezTo>
                  <a:pt x="0" y="21423"/>
                  <a:pt x="21423" y="0"/>
                  <a:pt x="47810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558306" y="7512424"/>
            <a:ext cx="47812" cy="908424"/>
          </a:xfrm>
          <a:custGeom>
            <a:avLst/>
            <a:gdLst/>
            <a:ahLst/>
            <a:cxnLst/>
            <a:rect l="l" t="t" r="r" b="b"/>
            <a:pathLst>
              <a:path w="47812" h="908424">
                <a:moveTo>
                  <a:pt x="47812" y="0"/>
                </a:moveTo>
                <a:lnTo>
                  <a:pt x="47812" y="0"/>
                </a:lnTo>
                <a:lnTo>
                  <a:pt x="47812" y="908424"/>
                </a:lnTo>
                <a:lnTo>
                  <a:pt x="47812" y="908424"/>
                </a:lnTo>
                <a:cubicBezTo>
                  <a:pt x="21406" y="908424"/>
                  <a:pt x="0" y="887017"/>
                  <a:pt x="0" y="860612"/>
                </a:cubicBezTo>
                <a:lnTo>
                  <a:pt x="0" y="47812"/>
                </a:lnTo>
                <a:cubicBezTo>
                  <a:pt x="0" y="21406"/>
                  <a:pt x="21406" y="0"/>
                  <a:pt x="47812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725647" y="7655859"/>
            <a:ext cx="6765365" cy="621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核心目标: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Partitioner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的核心目标是"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将相同key汇聚到同一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Reducer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highlight>
                  <a:srgbClr val="3D8F8A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0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",而非单纯的负载均衡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251" y="468810"/>
            <a:ext cx="1523634" cy="375048"/>
          </a:xfrm>
          <a:custGeom>
            <a:avLst/>
            <a:gdLst/>
            <a:ahLst/>
            <a:cxnLst/>
            <a:rect l="l" t="t" r="r" b="b"/>
            <a:pathLst>
              <a:path w="1523634" h="375048">
                <a:moveTo>
                  <a:pt x="0" y="0"/>
                </a:moveTo>
                <a:lnTo>
                  <a:pt x="1523634" y="0"/>
                </a:lnTo>
                <a:lnTo>
                  <a:pt x="1523634" y="375048"/>
                </a:lnTo>
                <a:lnTo>
                  <a:pt x="0" y="375048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2251" y="468810"/>
            <a:ext cx="46881" cy="375048"/>
          </a:xfrm>
          <a:custGeom>
            <a:avLst/>
            <a:gdLst/>
            <a:ahLst/>
            <a:cxnLst/>
            <a:rect l="l" t="t" r="r" b="b"/>
            <a:pathLst>
              <a:path w="46881" h="375048">
                <a:moveTo>
                  <a:pt x="0" y="0"/>
                </a:moveTo>
                <a:lnTo>
                  <a:pt x="46881" y="0"/>
                </a:lnTo>
                <a:lnTo>
                  <a:pt x="46881" y="375048"/>
                </a:lnTo>
                <a:lnTo>
                  <a:pt x="0" y="375048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6335" y="533272"/>
            <a:ext cx="131624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kern="0" spc="7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8810" y="937621"/>
            <a:ext cx="15529344" cy="46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适用场景与高频考点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2251" y="1593955"/>
            <a:ext cx="7512686" cy="5156914"/>
          </a:xfrm>
          <a:custGeom>
            <a:avLst/>
            <a:gdLst/>
            <a:ahLst/>
            <a:cxnLst/>
            <a:rect l="l" t="t" r="r" b="b"/>
            <a:pathLst>
              <a:path w="7512686" h="5156914">
                <a:moveTo>
                  <a:pt x="46881" y="0"/>
                </a:moveTo>
                <a:lnTo>
                  <a:pt x="7418934" y="0"/>
                </a:lnTo>
                <a:cubicBezTo>
                  <a:pt x="7470712" y="0"/>
                  <a:pt x="7512686" y="41975"/>
                  <a:pt x="7512686" y="93753"/>
                </a:cubicBezTo>
                <a:lnTo>
                  <a:pt x="7512686" y="5063162"/>
                </a:lnTo>
                <a:cubicBezTo>
                  <a:pt x="7512686" y="5114940"/>
                  <a:pt x="7470712" y="5156914"/>
                  <a:pt x="7418934" y="5156914"/>
                </a:cubicBezTo>
                <a:lnTo>
                  <a:pt x="46881" y="5156914"/>
                </a:lnTo>
                <a:cubicBezTo>
                  <a:pt x="21007" y="5156914"/>
                  <a:pt x="0" y="5135908"/>
                  <a:pt x="0" y="5110033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2251" y="1593955"/>
            <a:ext cx="46881" cy="5156914"/>
          </a:xfrm>
          <a:custGeom>
            <a:avLst/>
            <a:gdLst/>
            <a:ahLst/>
            <a:cxnLst/>
            <a:rect l="l" t="t" r="r" b="b"/>
            <a:pathLst>
              <a:path w="46881" h="5156914">
                <a:moveTo>
                  <a:pt x="46881" y="0"/>
                </a:moveTo>
                <a:lnTo>
                  <a:pt x="46881" y="0"/>
                </a:lnTo>
                <a:lnTo>
                  <a:pt x="46881" y="5156914"/>
                </a:lnTo>
                <a:lnTo>
                  <a:pt x="46881" y="5156914"/>
                </a:lnTo>
                <a:cubicBezTo>
                  <a:pt x="21007" y="5156914"/>
                  <a:pt x="0" y="5135908"/>
                  <a:pt x="0" y="5110033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5257" y="1875242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140643" y="281286"/>
                </a:moveTo>
                <a:cubicBezTo>
                  <a:pt x="218266" y="281286"/>
                  <a:pt x="281286" y="218266"/>
                  <a:pt x="281286" y="140643"/>
                </a:cubicBezTo>
                <a:cubicBezTo>
                  <a:pt x="281286" y="63020"/>
                  <a:pt x="218266" y="0"/>
                  <a:pt x="140643" y="0"/>
                </a:cubicBezTo>
                <a:cubicBezTo>
                  <a:pt x="63020" y="0"/>
                  <a:pt x="0" y="63020"/>
                  <a:pt x="0" y="140643"/>
                </a:cubicBezTo>
                <a:cubicBezTo>
                  <a:pt x="0" y="218266"/>
                  <a:pt x="63020" y="281286"/>
                  <a:pt x="140643" y="281286"/>
                </a:cubicBezTo>
                <a:close/>
                <a:moveTo>
                  <a:pt x="187011" y="116855"/>
                </a:moveTo>
                <a:lnTo>
                  <a:pt x="143060" y="187176"/>
                </a:lnTo>
                <a:cubicBezTo>
                  <a:pt x="140753" y="190857"/>
                  <a:pt x="136797" y="193165"/>
                  <a:pt x="132457" y="193384"/>
                </a:cubicBezTo>
                <a:cubicBezTo>
                  <a:pt x="128117" y="193604"/>
                  <a:pt x="123942" y="191626"/>
                  <a:pt x="121360" y="188110"/>
                </a:cubicBezTo>
                <a:lnTo>
                  <a:pt x="94989" y="152949"/>
                </a:lnTo>
                <a:cubicBezTo>
                  <a:pt x="90594" y="147126"/>
                  <a:pt x="91803" y="138885"/>
                  <a:pt x="97626" y="134490"/>
                </a:cubicBezTo>
                <a:cubicBezTo>
                  <a:pt x="103450" y="130095"/>
                  <a:pt x="111690" y="131304"/>
                  <a:pt x="116086" y="137127"/>
                </a:cubicBezTo>
                <a:lnTo>
                  <a:pt x="130919" y="156905"/>
                </a:lnTo>
                <a:lnTo>
                  <a:pt x="164651" y="102900"/>
                </a:lnTo>
                <a:cubicBezTo>
                  <a:pt x="168497" y="96747"/>
                  <a:pt x="176628" y="94824"/>
                  <a:pt x="182836" y="98725"/>
                </a:cubicBezTo>
                <a:cubicBezTo>
                  <a:pt x="189044" y="102626"/>
                  <a:pt x="190912" y="110702"/>
                  <a:pt x="187011" y="11691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01704" y="1828360"/>
            <a:ext cx="6809471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221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0097" y="2344052"/>
            <a:ext cx="7020435" cy="937621"/>
          </a:xfrm>
          <a:custGeom>
            <a:avLst/>
            <a:gdLst/>
            <a:ahLst/>
            <a:cxnLst/>
            <a:rect l="l" t="t" r="r" b="b"/>
            <a:pathLst>
              <a:path w="7020435" h="937621">
                <a:moveTo>
                  <a:pt x="46881" y="0"/>
                </a:moveTo>
                <a:lnTo>
                  <a:pt x="6973554" y="0"/>
                </a:lnTo>
                <a:cubicBezTo>
                  <a:pt x="6999446" y="0"/>
                  <a:pt x="7020435" y="20989"/>
                  <a:pt x="7020435" y="46881"/>
                </a:cubicBezTo>
                <a:lnTo>
                  <a:pt x="7020435" y="890740"/>
                </a:lnTo>
                <a:cubicBezTo>
                  <a:pt x="7020435" y="916631"/>
                  <a:pt x="6999446" y="937621"/>
                  <a:pt x="6973554" y="937621"/>
                </a:cubicBezTo>
                <a:lnTo>
                  <a:pt x="46881" y="937621"/>
                </a:lnTo>
                <a:cubicBezTo>
                  <a:pt x="21007" y="937621"/>
                  <a:pt x="0" y="916614"/>
                  <a:pt x="0" y="89074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25901" y="2555017"/>
            <a:ext cx="164084" cy="187524"/>
          </a:xfrm>
          <a:custGeom>
            <a:avLst/>
            <a:gdLst/>
            <a:ahLst/>
            <a:cxnLst/>
            <a:rect l="l" t="t" r="r" b="b"/>
            <a:pathLst>
              <a:path w="164084" h="187524">
                <a:moveTo>
                  <a:pt x="164084" y="75376"/>
                </a:moveTo>
                <a:cubicBezTo>
                  <a:pt x="158663" y="78965"/>
                  <a:pt x="152437" y="81859"/>
                  <a:pt x="145954" y="84166"/>
                </a:cubicBezTo>
                <a:cubicBezTo>
                  <a:pt x="128740" y="90319"/>
                  <a:pt x="106142" y="93762"/>
                  <a:pt x="82042" y="93762"/>
                </a:cubicBezTo>
                <a:cubicBezTo>
                  <a:pt x="57942" y="93762"/>
                  <a:pt x="35307" y="90283"/>
                  <a:pt x="18130" y="84166"/>
                </a:cubicBezTo>
                <a:cubicBezTo>
                  <a:pt x="11684" y="81859"/>
                  <a:pt x="5421" y="78965"/>
                  <a:pt x="0" y="75376"/>
                </a:cubicBezTo>
                <a:lnTo>
                  <a:pt x="0" y="105482"/>
                </a:lnTo>
                <a:cubicBezTo>
                  <a:pt x="0" y="121671"/>
                  <a:pt x="36736" y="134783"/>
                  <a:pt x="82042" y="134783"/>
                </a:cubicBezTo>
                <a:cubicBezTo>
                  <a:pt x="127348" y="134783"/>
                  <a:pt x="164084" y="121671"/>
                  <a:pt x="164084" y="105482"/>
                </a:cubicBezTo>
                <a:lnTo>
                  <a:pt x="164084" y="75376"/>
                </a:lnTo>
                <a:close/>
                <a:moveTo>
                  <a:pt x="164084" y="46881"/>
                </a:moveTo>
                <a:lnTo>
                  <a:pt x="164084" y="29301"/>
                </a:lnTo>
                <a:cubicBezTo>
                  <a:pt x="164084" y="13112"/>
                  <a:pt x="127348" y="0"/>
                  <a:pt x="82042" y="0"/>
                </a:cubicBezTo>
                <a:cubicBezTo>
                  <a:pt x="36736" y="0"/>
                  <a:pt x="0" y="13112"/>
                  <a:pt x="0" y="29301"/>
                </a:cubicBezTo>
                <a:lnTo>
                  <a:pt x="0" y="46881"/>
                </a:lnTo>
                <a:cubicBezTo>
                  <a:pt x="0" y="63070"/>
                  <a:pt x="36736" y="76182"/>
                  <a:pt x="82042" y="76182"/>
                </a:cubicBezTo>
                <a:cubicBezTo>
                  <a:pt x="127348" y="76182"/>
                  <a:pt x="164084" y="63070"/>
                  <a:pt x="164084" y="46881"/>
                </a:cubicBezTo>
                <a:close/>
                <a:moveTo>
                  <a:pt x="145954" y="142767"/>
                </a:moveTo>
                <a:cubicBezTo>
                  <a:pt x="128776" y="148884"/>
                  <a:pt x="106178" y="152363"/>
                  <a:pt x="82042" y="152363"/>
                </a:cubicBezTo>
                <a:cubicBezTo>
                  <a:pt x="57905" y="152363"/>
                  <a:pt x="35307" y="148884"/>
                  <a:pt x="18130" y="142767"/>
                </a:cubicBezTo>
                <a:cubicBezTo>
                  <a:pt x="11684" y="140460"/>
                  <a:pt x="5421" y="137567"/>
                  <a:pt x="0" y="133977"/>
                </a:cubicBezTo>
                <a:lnTo>
                  <a:pt x="0" y="158224"/>
                </a:lnTo>
                <a:cubicBezTo>
                  <a:pt x="0" y="174412"/>
                  <a:pt x="36736" y="187524"/>
                  <a:pt x="82042" y="187524"/>
                </a:cubicBezTo>
                <a:cubicBezTo>
                  <a:pt x="127348" y="187524"/>
                  <a:pt x="164084" y="174412"/>
                  <a:pt x="164084" y="158224"/>
                </a:cubicBezTo>
                <a:lnTo>
                  <a:pt x="164084" y="133977"/>
                </a:lnTo>
                <a:cubicBezTo>
                  <a:pt x="158663" y="137567"/>
                  <a:pt x="152437" y="140460"/>
                  <a:pt x="145954" y="142767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18907" y="2484695"/>
            <a:ext cx="1160306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离线批处理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0740" y="2859743"/>
            <a:ext cx="683291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大规模数据批量处理,不追求低延迟,如日志分析、数据清洗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50097" y="3422316"/>
            <a:ext cx="7020435" cy="937621"/>
          </a:xfrm>
          <a:custGeom>
            <a:avLst/>
            <a:gdLst/>
            <a:ahLst/>
            <a:cxnLst/>
            <a:rect l="l" t="t" r="r" b="b"/>
            <a:pathLst>
              <a:path w="7020435" h="937621">
                <a:moveTo>
                  <a:pt x="46881" y="0"/>
                </a:moveTo>
                <a:lnTo>
                  <a:pt x="6973554" y="0"/>
                </a:lnTo>
                <a:cubicBezTo>
                  <a:pt x="6999446" y="0"/>
                  <a:pt x="7020435" y="20989"/>
                  <a:pt x="7020435" y="46881"/>
                </a:cubicBezTo>
                <a:lnTo>
                  <a:pt x="7020435" y="890740"/>
                </a:lnTo>
                <a:cubicBezTo>
                  <a:pt x="7020435" y="916631"/>
                  <a:pt x="6999446" y="937621"/>
                  <a:pt x="6973554" y="937621"/>
                </a:cubicBezTo>
                <a:lnTo>
                  <a:pt x="46881" y="937621"/>
                </a:lnTo>
                <a:cubicBezTo>
                  <a:pt x="21007" y="937621"/>
                  <a:pt x="0" y="916614"/>
                  <a:pt x="0" y="89074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180" y="3633280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184081" y="55158"/>
                </a:moveTo>
                <a:lnTo>
                  <a:pt x="148921" y="90319"/>
                </a:lnTo>
                <a:cubicBezTo>
                  <a:pt x="145551" y="93689"/>
                  <a:pt x="140533" y="94678"/>
                  <a:pt x="136138" y="92846"/>
                </a:cubicBezTo>
                <a:cubicBezTo>
                  <a:pt x="131743" y="91015"/>
                  <a:pt x="128923" y="86767"/>
                  <a:pt x="128923" y="82042"/>
                </a:cubicBezTo>
                <a:lnTo>
                  <a:pt x="128923" y="58601"/>
                </a:lnTo>
                <a:lnTo>
                  <a:pt x="11720" y="58601"/>
                </a:lnTo>
                <a:cubicBezTo>
                  <a:pt x="5237" y="58601"/>
                  <a:pt x="0" y="53364"/>
                  <a:pt x="0" y="46881"/>
                </a:cubicBezTo>
                <a:cubicBezTo>
                  <a:pt x="0" y="40398"/>
                  <a:pt x="5237" y="35161"/>
                  <a:pt x="11720" y="35161"/>
                </a:cubicBezTo>
                <a:lnTo>
                  <a:pt x="128923" y="35161"/>
                </a:lnTo>
                <a:lnTo>
                  <a:pt x="128923" y="11720"/>
                </a:lnTo>
                <a:cubicBezTo>
                  <a:pt x="128923" y="6996"/>
                  <a:pt x="131780" y="2710"/>
                  <a:pt x="136175" y="879"/>
                </a:cubicBezTo>
                <a:cubicBezTo>
                  <a:pt x="140570" y="-952"/>
                  <a:pt x="145588" y="73"/>
                  <a:pt x="148957" y="3406"/>
                </a:cubicBezTo>
                <a:lnTo>
                  <a:pt x="184118" y="38567"/>
                </a:lnTo>
                <a:cubicBezTo>
                  <a:pt x="188696" y="43145"/>
                  <a:pt x="188696" y="50580"/>
                  <a:pt x="184118" y="55158"/>
                </a:cubicBezTo>
                <a:close/>
                <a:moveTo>
                  <a:pt x="38567" y="184081"/>
                </a:moveTo>
                <a:lnTo>
                  <a:pt x="3406" y="148921"/>
                </a:lnTo>
                <a:cubicBezTo>
                  <a:pt x="-1172" y="144342"/>
                  <a:pt x="-1172" y="136907"/>
                  <a:pt x="3406" y="132329"/>
                </a:cubicBezTo>
                <a:lnTo>
                  <a:pt x="38567" y="97168"/>
                </a:lnTo>
                <a:cubicBezTo>
                  <a:pt x="41937" y="93799"/>
                  <a:pt x="46954" y="92810"/>
                  <a:pt x="51349" y="94641"/>
                </a:cubicBezTo>
                <a:cubicBezTo>
                  <a:pt x="55744" y="96472"/>
                  <a:pt x="58601" y="100758"/>
                  <a:pt x="58601" y="105482"/>
                </a:cubicBezTo>
                <a:lnTo>
                  <a:pt x="58601" y="128923"/>
                </a:lnTo>
                <a:lnTo>
                  <a:pt x="175804" y="128923"/>
                </a:lnTo>
                <a:cubicBezTo>
                  <a:pt x="182287" y="128923"/>
                  <a:pt x="187524" y="134160"/>
                  <a:pt x="187524" y="140643"/>
                </a:cubicBezTo>
                <a:cubicBezTo>
                  <a:pt x="187524" y="147126"/>
                  <a:pt x="182287" y="152363"/>
                  <a:pt x="175804" y="152363"/>
                </a:cubicBezTo>
                <a:lnTo>
                  <a:pt x="58601" y="152363"/>
                </a:lnTo>
                <a:lnTo>
                  <a:pt x="58601" y="175804"/>
                </a:lnTo>
                <a:cubicBezTo>
                  <a:pt x="58601" y="180529"/>
                  <a:pt x="55744" y="184814"/>
                  <a:pt x="51349" y="186645"/>
                </a:cubicBezTo>
                <a:cubicBezTo>
                  <a:pt x="46954" y="188476"/>
                  <a:pt x="41937" y="187451"/>
                  <a:pt x="38567" y="18411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18907" y="3562959"/>
            <a:ext cx="186352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ETL</a:t>
            </a:r>
            <a:r>
              <a:rPr lang="en-US" sz="1661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(抽取转换加载)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0740" y="3938007"/>
            <a:ext cx="683291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数据仓库建设中的数据抽取、转换、加载任务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0097" y="4500580"/>
            <a:ext cx="7020435" cy="937621"/>
          </a:xfrm>
          <a:custGeom>
            <a:avLst/>
            <a:gdLst/>
            <a:ahLst/>
            <a:cxnLst/>
            <a:rect l="l" t="t" r="r" b="b"/>
            <a:pathLst>
              <a:path w="7020435" h="937621">
                <a:moveTo>
                  <a:pt x="46881" y="0"/>
                </a:moveTo>
                <a:lnTo>
                  <a:pt x="6973554" y="0"/>
                </a:lnTo>
                <a:cubicBezTo>
                  <a:pt x="6999446" y="0"/>
                  <a:pt x="7020435" y="20989"/>
                  <a:pt x="7020435" y="46881"/>
                </a:cubicBezTo>
                <a:lnTo>
                  <a:pt x="7020435" y="890740"/>
                </a:lnTo>
                <a:cubicBezTo>
                  <a:pt x="7020435" y="916631"/>
                  <a:pt x="6999446" y="937621"/>
                  <a:pt x="6973554" y="937621"/>
                </a:cubicBezTo>
                <a:lnTo>
                  <a:pt x="46881" y="937621"/>
                </a:lnTo>
                <a:cubicBezTo>
                  <a:pt x="21007" y="937621"/>
                  <a:pt x="0" y="916614"/>
                  <a:pt x="0" y="89074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7621" y="4711544"/>
            <a:ext cx="140643" cy="187524"/>
          </a:xfrm>
          <a:custGeom>
            <a:avLst/>
            <a:gdLst/>
            <a:ahLst/>
            <a:cxnLst/>
            <a:rect l="l" t="t" r="r" b="b"/>
            <a:pathLst>
              <a:path w="140643" h="187524">
                <a:moveTo>
                  <a:pt x="0" y="23441"/>
                </a:moveTo>
                <a:cubicBezTo>
                  <a:pt x="0" y="10512"/>
                  <a:pt x="10512" y="0"/>
                  <a:pt x="23441" y="0"/>
                </a:cubicBezTo>
                <a:lnTo>
                  <a:pt x="78196" y="0"/>
                </a:lnTo>
                <a:cubicBezTo>
                  <a:pt x="84422" y="0"/>
                  <a:pt x="90393" y="2454"/>
                  <a:pt x="94788" y="6849"/>
                </a:cubicBezTo>
                <a:lnTo>
                  <a:pt x="133794" y="45892"/>
                </a:lnTo>
                <a:cubicBezTo>
                  <a:pt x="138189" y="50287"/>
                  <a:pt x="140643" y="56257"/>
                  <a:pt x="140643" y="62484"/>
                </a:cubicBezTo>
                <a:lnTo>
                  <a:pt x="140643" y="164084"/>
                </a:lnTo>
                <a:cubicBezTo>
                  <a:pt x="140643" y="177013"/>
                  <a:pt x="130132" y="187524"/>
                  <a:pt x="117203" y="187524"/>
                </a:cubicBezTo>
                <a:lnTo>
                  <a:pt x="23441" y="187524"/>
                </a:lnTo>
                <a:cubicBezTo>
                  <a:pt x="10512" y="187524"/>
                  <a:pt x="0" y="177013"/>
                  <a:pt x="0" y="164084"/>
                </a:cubicBezTo>
                <a:lnTo>
                  <a:pt x="0" y="23441"/>
                </a:lnTo>
                <a:close/>
                <a:moveTo>
                  <a:pt x="76182" y="21426"/>
                </a:moveTo>
                <a:lnTo>
                  <a:pt x="76182" y="55671"/>
                </a:lnTo>
                <a:cubicBezTo>
                  <a:pt x="76182" y="60542"/>
                  <a:pt x="80101" y="64461"/>
                  <a:pt x="84972" y="64461"/>
                </a:cubicBezTo>
                <a:lnTo>
                  <a:pt x="119217" y="64461"/>
                </a:lnTo>
                <a:lnTo>
                  <a:pt x="76182" y="21426"/>
                </a:lnTo>
                <a:close/>
                <a:moveTo>
                  <a:pt x="43951" y="93762"/>
                </a:moveTo>
                <a:cubicBezTo>
                  <a:pt x="39080" y="93762"/>
                  <a:pt x="35161" y="97681"/>
                  <a:pt x="35161" y="102552"/>
                </a:cubicBezTo>
                <a:cubicBezTo>
                  <a:pt x="35161" y="107424"/>
                  <a:pt x="39080" y="111342"/>
                  <a:pt x="43951" y="111342"/>
                </a:cubicBezTo>
                <a:lnTo>
                  <a:pt x="96692" y="111342"/>
                </a:lnTo>
                <a:cubicBezTo>
                  <a:pt x="101563" y="111342"/>
                  <a:pt x="105482" y="107424"/>
                  <a:pt x="105482" y="102552"/>
                </a:cubicBezTo>
                <a:cubicBezTo>
                  <a:pt x="105482" y="97681"/>
                  <a:pt x="101563" y="93762"/>
                  <a:pt x="96692" y="93762"/>
                </a:cubicBezTo>
                <a:lnTo>
                  <a:pt x="43951" y="93762"/>
                </a:lnTo>
                <a:close/>
                <a:moveTo>
                  <a:pt x="43951" y="128923"/>
                </a:moveTo>
                <a:cubicBezTo>
                  <a:pt x="39080" y="128923"/>
                  <a:pt x="35161" y="132842"/>
                  <a:pt x="35161" y="137713"/>
                </a:cubicBezTo>
                <a:cubicBezTo>
                  <a:pt x="35161" y="142584"/>
                  <a:pt x="39080" y="146503"/>
                  <a:pt x="43951" y="146503"/>
                </a:cubicBezTo>
                <a:lnTo>
                  <a:pt x="96692" y="146503"/>
                </a:lnTo>
                <a:cubicBezTo>
                  <a:pt x="101563" y="146503"/>
                  <a:pt x="105482" y="142584"/>
                  <a:pt x="105482" y="137713"/>
                </a:cubicBezTo>
                <a:cubicBezTo>
                  <a:pt x="105482" y="132842"/>
                  <a:pt x="101563" y="128923"/>
                  <a:pt x="96692" y="128923"/>
                </a:cubicBezTo>
                <a:lnTo>
                  <a:pt x="43951" y="128923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18907" y="4641223"/>
            <a:ext cx="94934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日志分析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0740" y="5016271"/>
            <a:ext cx="683291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统计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PV/UV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、用户行为分析、异常检测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50097" y="5578844"/>
            <a:ext cx="7020435" cy="937621"/>
          </a:xfrm>
          <a:custGeom>
            <a:avLst/>
            <a:gdLst/>
            <a:ahLst/>
            <a:cxnLst/>
            <a:rect l="l" t="t" r="r" b="b"/>
            <a:pathLst>
              <a:path w="7020435" h="937621">
                <a:moveTo>
                  <a:pt x="46881" y="0"/>
                </a:moveTo>
                <a:lnTo>
                  <a:pt x="6973554" y="0"/>
                </a:lnTo>
                <a:cubicBezTo>
                  <a:pt x="6999446" y="0"/>
                  <a:pt x="7020435" y="20989"/>
                  <a:pt x="7020435" y="46881"/>
                </a:cubicBezTo>
                <a:lnTo>
                  <a:pt x="7020435" y="890740"/>
                </a:lnTo>
                <a:cubicBezTo>
                  <a:pt x="7020435" y="916631"/>
                  <a:pt x="6999446" y="937621"/>
                  <a:pt x="6973554" y="937621"/>
                </a:cubicBezTo>
                <a:lnTo>
                  <a:pt x="46881" y="937621"/>
                </a:lnTo>
                <a:cubicBezTo>
                  <a:pt x="21007" y="937621"/>
                  <a:pt x="0" y="916614"/>
                  <a:pt x="0" y="89074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4180" y="5789808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152363" y="76182"/>
                </a:moveTo>
                <a:cubicBezTo>
                  <a:pt x="152363" y="92993"/>
                  <a:pt x="146906" y="108522"/>
                  <a:pt x="137713" y="121122"/>
                </a:cubicBezTo>
                <a:lnTo>
                  <a:pt x="184081" y="167526"/>
                </a:lnTo>
                <a:cubicBezTo>
                  <a:pt x="188660" y="172105"/>
                  <a:pt x="188660" y="179540"/>
                  <a:pt x="184081" y="184118"/>
                </a:cubicBezTo>
                <a:cubicBezTo>
                  <a:pt x="179503" y="188696"/>
                  <a:pt x="172068" y="188696"/>
                  <a:pt x="167490" y="184118"/>
                </a:cubicBezTo>
                <a:lnTo>
                  <a:pt x="121122" y="137713"/>
                </a:lnTo>
                <a:cubicBezTo>
                  <a:pt x="108522" y="146906"/>
                  <a:pt x="92993" y="152363"/>
                  <a:pt x="76182" y="152363"/>
                </a:cubicBezTo>
                <a:cubicBezTo>
                  <a:pt x="34099" y="152363"/>
                  <a:pt x="0" y="118265"/>
                  <a:pt x="0" y="76182"/>
                </a:cubicBezTo>
                <a:cubicBezTo>
                  <a:pt x="0" y="34099"/>
                  <a:pt x="34099" y="0"/>
                  <a:pt x="76182" y="0"/>
                </a:cubicBezTo>
                <a:cubicBezTo>
                  <a:pt x="118265" y="0"/>
                  <a:pt x="152363" y="34099"/>
                  <a:pt x="152363" y="76182"/>
                </a:cubicBezTo>
                <a:close/>
                <a:moveTo>
                  <a:pt x="76182" y="128923"/>
                </a:moveTo>
                <a:cubicBezTo>
                  <a:pt x="105290" y="128923"/>
                  <a:pt x="128923" y="105290"/>
                  <a:pt x="128923" y="76182"/>
                </a:cubicBezTo>
                <a:cubicBezTo>
                  <a:pt x="128923" y="47073"/>
                  <a:pt x="105290" y="23441"/>
                  <a:pt x="76182" y="23441"/>
                </a:cubicBezTo>
                <a:cubicBezTo>
                  <a:pt x="47073" y="23441"/>
                  <a:pt x="23441" y="47073"/>
                  <a:pt x="23441" y="76182"/>
                </a:cubicBezTo>
                <a:cubicBezTo>
                  <a:pt x="23441" y="105290"/>
                  <a:pt x="47073" y="128923"/>
                  <a:pt x="76182" y="128923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18907" y="5719487"/>
            <a:ext cx="1371270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倒排索引构建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0740" y="6094535"/>
            <a:ext cx="683291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搜索引擎索引构建,文档预处理与索引生成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66629" y="1593955"/>
            <a:ext cx="7512686" cy="5156914"/>
          </a:xfrm>
          <a:custGeom>
            <a:avLst/>
            <a:gdLst/>
            <a:ahLst/>
            <a:cxnLst/>
            <a:rect l="l" t="t" r="r" b="b"/>
            <a:pathLst>
              <a:path w="7512686" h="5156914">
                <a:moveTo>
                  <a:pt x="46881" y="0"/>
                </a:moveTo>
                <a:lnTo>
                  <a:pt x="7418934" y="0"/>
                </a:lnTo>
                <a:cubicBezTo>
                  <a:pt x="7470712" y="0"/>
                  <a:pt x="7512686" y="41975"/>
                  <a:pt x="7512686" y="93753"/>
                </a:cubicBezTo>
                <a:lnTo>
                  <a:pt x="7512686" y="5063162"/>
                </a:lnTo>
                <a:cubicBezTo>
                  <a:pt x="7512686" y="5114940"/>
                  <a:pt x="7470712" y="5156914"/>
                  <a:pt x="7418934" y="5156914"/>
                </a:cubicBezTo>
                <a:lnTo>
                  <a:pt x="46881" y="5156914"/>
                </a:lnTo>
                <a:cubicBezTo>
                  <a:pt x="21007" y="5156914"/>
                  <a:pt x="0" y="5135908"/>
                  <a:pt x="0" y="5110033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66629" y="1593955"/>
            <a:ext cx="46881" cy="5156914"/>
          </a:xfrm>
          <a:custGeom>
            <a:avLst/>
            <a:gdLst/>
            <a:ahLst/>
            <a:cxnLst/>
            <a:rect l="l" t="t" r="r" b="b"/>
            <a:pathLst>
              <a:path w="46881" h="5156914">
                <a:moveTo>
                  <a:pt x="46881" y="0"/>
                </a:moveTo>
                <a:lnTo>
                  <a:pt x="46881" y="0"/>
                </a:lnTo>
                <a:lnTo>
                  <a:pt x="46881" y="5156914"/>
                </a:lnTo>
                <a:lnTo>
                  <a:pt x="46881" y="5156914"/>
                </a:lnTo>
                <a:cubicBezTo>
                  <a:pt x="21007" y="5156914"/>
                  <a:pt x="0" y="5135908"/>
                  <a:pt x="0" y="5110033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59635" y="1875242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140643" y="281286"/>
                </a:moveTo>
                <a:cubicBezTo>
                  <a:pt x="218266" y="281286"/>
                  <a:pt x="281286" y="218266"/>
                  <a:pt x="281286" y="140643"/>
                </a:cubicBezTo>
                <a:cubicBezTo>
                  <a:pt x="281286" y="63020"/>
                  <a:pt x="218266" y="0"/>
                  <a:pt x="140643" y="0"/>
                </a:cubicBezTo>
                <a:cubicBezTo>
                  <a:pt x="63020" y="0"/>
                  <a:pt x="0" y="63020"/>
                  <a:pt x="0" y="140643"/>
                </a:cubicBezTo>
                <a:cubicBezTo>
                  <a:pt x="0" y="218266"/>
                  <a:pt x="63020" y="281286"/>
                  <a:pt x="140643" y="281286"/>
                </a:cubicBezTo>
                <a:close/>
                <a:moveTo>
                  <a:pt x="91748" y="91748"/>
                </a:moveTo>
                <a:cubicBezTo>
                  <a:pt x="96912" y="86583"/>
                  <a:pt x="105263" y="86583"/>
                  <a:pt x="110372" y="91748"/>
                </a:cubicBezTo>
                <a:lnTo>
                  <a:pt x="140588" y="121964"/>
                </a:lnTo>
                <a:lnTo>
                  <a:pt x="170804" y="91748"/>
                </a:lnTo>
                <a:cubicBezTo>
                  <a:pt x="175969" y="86583"/>
                  <a:pt x="184319" y="86583"/>
                  <a:pt x="189429" y="91748"/>
                </a:cubicBezTo>
                <a:cubicBezTo>
                  <a:pt x="194538" y="96912"/>
                  <a:pt x="194593" y="105263"/>
                  <a:pt x="189429" y="110372"/>
                </a:cubicBezTo>
                <a:lnTo>
                  <a:pt x="159212" y="140588"/>
                </a:lnTo>
                <a:lnTo>
                  <a:pt x="189429" y="170804"/>
                </a:lnTo>
                <a:cubicBezTo>
                  <a:pt x="194593" y="175969"/>
                  <a:pt x="194593" y="184319"/>
                  <a:pt x="189429" y="189429"/>
                </a:cubicBezTo>
                <a:cubicBezTo>
                  <a:pt x="184264" y="194538"/>
                  <a:pt x="175914" y="194593"/>
                  <a:pt x="170804" y="189429"/>
                </a:cubicBezTo>
                <a:lnTo>
                  <a:pt x="140588" y="159212"/>
                </a:lnTo>
                <a:lnTo>
                  <a:pt x="110372" y="189429"/>
                </a:lnTo>
                <a:cubicBezTo>
                  <a:pt x="105208" y="194593"/>
                  <a:pt x="96857" y="194593"/>
                  <a:pt x="91748" y="189429"/>
                </a:cubicBezTo>
                <a:cubicBezTo>
                  <a:pt x="86638" y="184264"/>
                  <a:pt x="86583" y="175914"/>
                  <a:pt x="91748" y="170804"/>
                </a:cubicBezTo>
                <a:lnTo>
                  <a:pt x="121964" y="140588"/>
                </a:lnTo>
                <a:lnTo>
                  <a:pt x="91748" y="110372"/>
                </a:lnTo>
                <a:cubicBezTo>
                  <a:pt x="86583" y="105208"/>
                  <a:pt x="86583" y="96857"/>
                  <a:pt x="91748" y="91748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76082" y="1828360"/>
            <a:ext cx="6809471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2215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不适用场景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47915" y="2344052"/>
            <a:ext cx="6996995" cy="1406431"/>
          </a:xfrm>
          <a:custGeom>
            <a:avLst/>
            <a:gdLst/>
            <a:ahLst/>
            <a:cxnLst/>
            <a:rect l="l" t="t" r="r" b="b"/>
            <a:pathLst>
              <a:path w="6996995" h="1406431">
                <a:moveTo>
                  <a:pt x="46881" y="0"/>
                </a:moveTo>
                <a:lnTo>
                  <a:pt x="6903228" y="0"/>
                </a:lnTo>
                <a:cubicBezTo>
                  <a:pt x="6955014" y="0"/>
                  <a:pt x="6996995" y="41981"/>
                  <a:pt x="6996995" y="93767"/>
                </a:cubicBezTo>
                <a:lnTo>
                  <a:pt x="6996995" y="1312664"/>
                </a:lnTo>
                <a:cubicBezTo>
                  <a:pt x="6996995" y="1364450"/>
                  <a:pt x="6955014" y="1406431"/>
                  <a:pt x="6903228" y="1406431"/>
                </a:cubicBezTo>
                <a:lnTo>
                  <a:pt x="46881" y="1406431"/>
                </a:lnTo>
                <a:cubicBezTo>
                  <a:pt x="21007" y="1406431"/>
                  <a:pt x="0" y="1385424"/>
                  <a:pt x="0" y="135955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47915" y="2344052"/>
            <a:ext cx="46881" cy="1406431"/>
          </a:xfrm>
          <a:custGeom>
            <a:avLst/>
            <a:gdLst/>
            <a:ahLst/>
            <a:cxnLst/>
            <a:rect l="l" t="t" r="r" b="b"/>
            <a:pathLst>
              <a:path w="46881" h="1406431">
                <a:moveTo>
                  <a:pt x="46881" y="0"/>
                </a:moveTo>
                <a:lnTo>
                  <a:pt x="46881" y="0"/>
                </a:lnTo>
                <a:lnTo>
                  <a:pt x="46881" y="1406431"/>
                </a:lnTo>
                <a:lnTo>
                  <a:pt x="46881" y="1406431"/>
                </a:lnTo>
                <a:cubicBezTo>
                  <a:pt x="21007" y="1406431"/>
                  <a:pt x="0" y="1385424"/>
                  <a:pt x="0" y="135955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811621" y="2555017"/>
            <a:ext cx="246125" cy="281286"/>
          </a:xfrm>
          <a:custGeom>
            <a:avLst/>
            <a:gdLst/>
            <a:ahLst/>
            <a:cxnLst/>
            <a:rect l="l" t="t" r="r" b="b"/>
            <a:pathLst>
              <a:path w="246125" h="281286">
                <a:moveTo>
                  <a:pt x="186132" y="-5439"/>
                </a:moveTo>
                <a:cubicBezTo>
                  <a:pt x="192670" y="-714"/>
                  <a:pt x="195087" y="7856"/>
                  <a:pt x="192121" y="15328"/>
                </a:cubicBezTo>
                <a:lnTo>
                  <a:pt x="149049" y="123063"/>
                </a:lnTo>
                <a:lnTo>
                  <a:pt x="228545" y="123063"/>
                </a:lnTo>
                <a:cubicBezTo>
                  <a:pt x="235962" y="123063"/>
                  <a:pt x="242554" y="127678"/>
                  <a:pt x="245082" y="134655"/>
                </a:cubicBezTo>
                <a:cubicBezTo>
                  <a:pt x="247609" y="141632"/>
                  <a:pt x="245466" y="149433"/>
                  <a:pt x="239807" y="154158"/>
                </a:cubicBezTo>
                <a:lnTo>
                  <a:pt x="81584" y="286011"/>
                </a:lnTo>
                <a:cubicBezTo>
                  <a:pt x="75376" y="291175"/>
                  <a:pt x="66531" y="291450"/>
                  <a:pt x="59993" y="286725"/>
                </a:cubicBezTo>
                <a:cubicBezTo>
                  <a:pt x="53455" y="282000"/>
                  <a:pt x="51038" y="273430"/>
                  <a:pt x="54005" y="265958"/>
                </a:cubicBezTo>
                <a:lnTo>
                  <a:pt x="97077" y="158224"/>
                </a:lnTo>
                <a:lnTo>
                  <a:pt x="17580" y="158224"/>
                </a:lnTo>
                <a:cubicBezTo>
                  <a:pt x="10164" y="158224"/>
                  <a:pt x="3571" y="153609"/>
                  <a:pt x="1044" y="146631"/>
                </a:cubicBezTo>
                <a:cubicBezTo>
                  <a:pt x="-1483" y="139654"/>
                  <a:pt x="659" y="131853"/>
                  <a:pt x="6318" y="127128"/>
                </a:cubicBezTo>
                <a:lnTo>
                  <a:pt x="164541" y="-4725"/>
                </a:lnTo>
                <a:cubicBezTo>
                  <a:pt x="170750" y="-9889"/>
                  <a:pt x="179595" y="-10164"/>
                  <a:pt x="186132" y="-5439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04249" y="2531576"/>
            <a:ext cx="1758039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低延迟流式计算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58880" y="2953505"/>
            <a:ext cx="6692268" cy="609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是批处理模型,启动开销大(秒级),不适合实时性要求高的场景(毫秒级响应)。此时应使用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Flink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 Streaming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等流处理框架。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524474" y="3891126"/>
            <a:ext cx="7020435" cy="937621"/>
          </a:xfrm>
          <a:custGeom>
            <a:avLst/>
            <a:gdLst/>
            <a:ahLst/>
            <a:cxnLst/>
            <a:rect l="l" t="t" r="r" b="b"/>
            <a:pathLst>
              <a:path w="7020435" h="937621">
                <a:moveTo>
                  <a:pt x="46881" y="0"/>
                </a:moveTo>
                <a:lnTo>
                  <a:pt x="6973554" y="0"/>
                </a:lnTo>
                <a:cubicBezTo>
                  <a:pt x="6999446" y="0"/>
                  <a:pt x="7020435" y="20989"/>
                  <a:pt x="7020435" y="46881"/>
                </a:cubicBezTo>
                <a:lnTo>
                  <a:pt x="7020435" y="890740"/>
                </a:lnTo>
                <a:cubicBezTo>
                  <a:pt x="7020435" y="916631"/>
                  <a:pt x="6999446" y="937621"/>
                  <a:pt x="6973554" y="937621"/>
                </a:cubicBezTo>
                <a:lnTo>
                  <a:pt x="46881" y="937621"/>
                </a:lnTo>
                <a:cubicBezTo>
                  <a:pt x="21007" y="937621"/>
                  <a:pt x="0" y="916614"/>
                  <a:pt x="0" y="89074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688558" y="4102091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175841" y="70322"/>
                </a:moveTo>
                <a:lnTo>
                  <a:pt x="178734" y="70322"/>
                </a:lnTo>
                <a:cubicBezTo>
                  <a:pt x="183605" y="70322"/>
                  <a:pt x="187524" y="66403"/>
                  <a:pt x="187524" y="61531"/>
                </a:cubicBezTo>
                <a:lnTo>
                  <a:pt x="187524" y="8790"/>
                </a:lnTo>
                <a:cubicBezTo>
                  <a:pt x="187524" y="5237"/>
                  <a:pt x="185400" y="2014"/>
                  <a:pt x="182104" y="659"/>
                </a:cubicBezTo>
                <a:cubicBezTo>
                  <a:pt x="178807" y="-696"/>
                  <a:pt x="175035" y="73"/>
                  <a:pt x="172508" y="2564"/>
                </a:cubicBezTo>
                <a:lnTo>
                  <a:pt x="153572" y="21536"/>
                </a:lnTo>
                <a:cubicBezTo>
                  <a:pt x="137347" y="8094"/>
                  <a:pt x="116470" y="0"/>
                  <a:pt x="93762" y="0"/>
                </a:cubicBezTo>
                <a:cubicBezTo>
                  <a:pt x="46515" y="0"/>
                  <a:pt x="7435" y="34941"/>
                  <a:pt x="952" y="80394"/>
                </a:cubicBezTo>
                <a:cubicBezTo>
                  <a:pt x="37" y="86803"/>
                  <a:pt x="4468" y="92737"/>
                  <a:pt x="10878" y="93652"/>
                </a:cubicBezTo>
                <a:cubicBezTo>
                  <a:pt x="17287" y="94568"/>
                  <a:pt x="23221" y="90099"/>
                  <a:pt x="24136" y="83727"/>
                </a:cubicBezTo>
                <a:cubicBezTo>
                  <a:pt x="29008" y="49628"/>
                  <a:pt x="58345" y="23441"/>
                  <a:pt x="93762" y="23441"/>
                </a:cubicBezTo>
                <a:cubicBezTo>
                  <a:pt x="110024" y="23441"/>
                  <a:pt x="124967" y="28934"/>
                  <a:pt x="136871" y="38201"/>
                </a:cubicBezTo>
                <a:lnTo>
                  <a:pt x="119766" y="55305"/>
                </a:lnTo>
                <a:cubicBezTo>
                  <a:pt x="117239" y="57832"/>
                  <a:pt x="116507" y="61605"/>
                  <a:pt x="117862" y="64901"/>
                </a:cubicBezTo>
                <a:cubicBezTo>
                  <a:pt x="119217" y="68197"/>
                  <a:pt x="122440" y="70322"/>
                  <a:pt x="125993" y="70322"/>
                </a:cubicBezTo>
                <a:lnTo>
                  <a:pt x="175841" y="70322"/>
                </a:lnTo>
                <a:close/>
                <a:moveTo>
                  <a:pt x="186609" y="107130"/>
                </a:moveTo>
                <a:cubicBezTo>
                  <a:pt x="187524" y="100721"/>
                  <a:pt x="183056" y="94788"/>
                  <a:pt x="176683" y="93872"/>
                </a:cubicBezTo>
                <a:cubicBezTo>
                  <a:pt x="170310" y="92956"/>
                  <a:pt x="164340" y="97425"/>
                  <a:pt x="163424" y="103798"/>
                </a:cubicBezTo>
                <a:cubicBezTo>
                  <a:pt x="158553" y="137860"/>
                  <a:pt x="129216" y="164047"/>
                  <a:pt x="93799" y="164047"/>
                </a:cubicBezTo>
                <a:cubicBezTo>
                  <a:pt x="77537" y="164047"/>
                  <a:pt x="62594" y="158553"/>
                  <a:pt x="50690" y="149287"/>
                </a:cubicBezTo>
                <a:lnTo>
                  <a:pt x="67758" y="132219"/>
                </a:lnTo>
                <a:cubicBezTo>
                  <a:pt x="70285" y="129692"/>
                  <a:pt x="71017" y="125920"/>
                  <a:pt x="69662" y="122623"/>
                </a:cubicBezTo>
                <a:cubicBezTo>
                  <a:pt x="68307" y="119327"/>
                  <a:pt x="65084" y="117203"/>
                  <a:pt x="61531" y="117203"/>
                </a:cubicBezTo>
                <a:lnTo>
                  <a:pt x="8790" y="117203"/>
                </a:lnTo>
                <a:cubicBezTo>
                  <a:pt x="3919" y="117203"/>
                  <a:pt x="0" y="121122"/>
                  <a:pt x="0" y="125993"/>
                </a:cubicBezTo>
                <a:lnTo>
                  <a:pt x="0" y="178734"/>
                </a:lnTo>
                <a:cubicBezTo>
                  <a:pt x="0" y="182287"/>
                  <a:pt x="2124" y="185510"/>
                  <a:pt x="5421" y="186865"/>
                </a:cubicBezTo>
                <a:cubicBezTo>
                  <a:pt x="8717" y="188220"/>
                  <a:pt x="12489" y="187451"/>
                  <a:pt x="15017" y="184960"/>
                </a:cubicBezTo>
                <a:lnTo>
                  <a:pt x="33989" y="165988"/>
                </a:lnTo>
                <a:cubicBezTo>
                  <a:pt x="50177" y="179430"/>
                  <a:pt x="71054" y="187524"/>
                  <a:pt x="93762" y="187524"/>
                </a:cubicBezTo>
                <a:cubicBezTo>
                  <a:pt x="141009" y="187524"/>
                  <a:pt x="180089" y="152583"/>
                  <a:pt x="186572" y="10713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993285" y="4031769"/>
            <a:ext cx="949341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迭代计算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665118" y="4406818"/>
            <a:ext cx="683291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不擅长多次迭代的机器学习算法,每次迭代都需要重新读取数据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524474" y="4969390"/>
            <a:ext cx="7020435" cy="937621"/>
          </a:xfrm>
          <a:custGeom>
            <a:avLst/>
            <a:gdLst/>
            <a:ahLst/>
            <a:cxnLst/>
            <a:rect l="l" t="t" r="r" b="b"/>
            <a:pathLst>
              <a:path w="7020435" h="937621">
                <a:moveTo>
                  <a:pt x="46881" y="0"/>
                </a:moveTo>
                <a:lnTo>
                  <a:pt x="6973554" y="0"/>
                </a:lnTo>
                <a:cubicBezTo>
                  <a:pt x="6999446" y="0"/>
                  <a:pt x="7020435" y="20989"/>
                  <a:pt x="7020435" y="46881"/>
                </a:cubicBezTo>
                <a:lnTo>
                  <a:pt x="7020435" y="890740"/>
                </a:lnTo>
                <a:cubicBezTo>
                  <a:pt x="7020435" y="916631"/>
                  <a:pt x="6999446" y="937621"/>
                  <a:pt x="6973554" y="937621"/>
                </a:cubicBezTo>
                <a:lnTo>
                  <a:pt x="46881" y="937621"/>
                </a:lnTo>
                <a:cubicBezTo>
                  <a:pt x="21007" y="937621"/>
                  <a:pt x="0" y="916614"/>
                  <a:pt x="0" y="890740"/>
                </a:cubicBezTo>
                <a:lnTo>
                  <a:pt x="0" y="46881"/>
                </a:lnTo>
                <a:cubicBezTo>
                  <a:pt x="0" y="21007"/>
                  <a:pt x="21007" y="0"/>
                  <a:pt x="4688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688558" y="5180355"/>
            <a:ext cx="187524" cy="187524"/>
          </a:xfrm>
          <a:custGeom>
            <a:avLst/>
            <a:gdLst/>
            <a:ahLst/>
            <a:cxnLst/>
            <a:rect l="l" t="t" r="r" b="b"/>
            <a:pathLst>
              <a:path w="187524" h="187524">
                <a:moveTo>
                  <a:pt x="23441" y="23441"/>
                </a:moveTo>
                <a:cubicBezTo>
                  <a:pt x="10512" y="23441"/>
                  <a:pt x="0" y="33952"/>
                  <a:pt x="0" y="46881"/>
                </a:cubicBezTo>
                <a:lnTo>
                  <a:pt x="0" y="49591"/>
                </a:lnTo>
                <a:cubicBezTo>
                  <a:pt x="0" y="52082"/>
                  <a:pt x="1612" y="54206"/>
                  <a:pt x="3699" y="55561"/>
                </a:cubicBezTo>
                <a:cubicBezTo>
                  <a:pt x="8534" y="58711"/>
                  <a:pt x="11720" y="64132"/>
                  <a:pt x="11720" y="70322"/>
                </a:cubicBezTo>
                <a:cubicBezTo>
                  <a:pt x="11720" y="76511"/>
                  <a:pt x="8534" y="81932"/>
                  <a:pt x="3699" y="85082"/>
                </a:cubicBezTo>
                <a:cubicBezTo>
                  <a:pt x="1612" y="86437"/>
                  <a:pt x="0" y="88561"/>
                  <a:pt x="0" y="91052"/>
                </a:cubicBezTo>
                <a:lnTo>
                  <a:pt x="0" y="111342"/>
                </a:lnTo>
                <a:lnTo>
                  <a:pt x="187524" y="111342"/>
                </a:lnTo>
                <a:lnTo>
                  <a:pt x="187524" y="91052"/>
                </a:lnTo>
                <a:cubicBezTo>
                  <a:pt x="187524" y="88561"/>
                  <a:pt x="185913" y="86437"/>
                  <a:pt x="183825" y="85082"/>
                </a:cubicBezTo>
                <a:cubicBezTo>
                  <a:pt x="178990" y="81932"/>
                  <a:pt x="175804" y="76511"/>
                  <a:pt x="175804" y="70322"/>
                </a:cubicBezTo>
                <a:cubicBezTo>
                  <a:pt x="175804" y="64132"/>
                  <a:pt x="178990" y="58711"/>
                  <a:pt x="183825" y="55561"/>
                </a:cubicBezTo>
                <a:cubicBezTo>
                  <a:pt x="185913" y="54206"/>
                  <a:pt x="187524" y="52082"/>
                  <a:pt x="187524" y="49591"/>
                </a:cubicBezTo>
                <a:lnTo>
                  <a:pt x="187524" y="46881"/>
                </a:lnTo>
                <a:cubicBezTo>
                  <a:pt x="187524" y="33952"/>
                  <a:pt x="177013" y="23441"/>
                  <a:pt x="164084" y="23441"/>
                </a:cubicBezTo>
                <a:lnTo>
                  <a:pt x="23441" y="23441"/>
                </a:lnTo>
                <a:close/>
                <a:moveTo>
                  <a:pt x="187524" y="152363"/>
                </a:moveTo>
                <a:lnTo>
                  <a:pt x="187524" y="128923"/>
                </a:lnTo>
                <a:lnTo>
                  <a:pt x="0" y="128923"/>
                </a:lnTo>
                <a:lnTo>
                  <a:pt x="0" y="152363"/>
                </a:lnTo>
                <a:cubicBezTo>
                  <a:pt x="0" y="158846"/>
                  <a:pt x="5237" y="164084"/>
                  <a:pt x="11720" y="164084"/>
                </a:cubicBezTo>
                <a:lnTo>
                  <a:pt x="35161" y="164084"/>
                </a:lnTo>
                <a:lnTo>
                  <a:pt x="35161" y="155293"/>
                </a:lnTo>
                <a:cubicBezTo>
                  <a:pt x="35161" y="150422"/>
                  <a:pt x="39080" y="146503"/>
                  <a:pt x="43951" y="146503"/>
                </a:cubicBezTo>
                <a:cubicBezTo>
                  <a:pt x="48822" y="146503"/>
                  <a:pt x="52741" y="150422"/>
                  <a:pt x="52741" y="155293"/>
                </a:cubicBezTo>
                <a:lnTo>
                  <a:pt x="52741" y="164084"/>
                </a:lnTo>
                <a:lnTo>
                  <a:pt x="84972" y="164084"/>
                </a:lnTo>
                <a:lnTo>
                  <a:pt x="84972" y="155293"/>
                </a:lnTo>
                <a:cubicBezTo>
                  <a:pt x="84972" y="150422"/>
                  <a:pt x="88891" y="146503"/>
                  <a:pt x="93762" y="146503"/>
                </a:cubicBezTo>
                <a:cubicBezTo>
                  <a:pt x="98633" y="146503"/>
                  <a:pt x="102552" y="150422"/>
                  <a:pt x="102552" y="155293"/>
                </a:cubicBezTo>
                <a:lnTo>
                  <a:pt x="102552" y="164084"/>
                </a:lnTo>
                <a:lnTo>
                  <a:pt x="134783" y="164084"/>
                </a:lnTo>
                <a:lnTo>
                  <a:pt x="134783" y="155293"/>
                </a:lnTo>
                <a:cubicBezTo>
                  <a:pt x="134783" y="150422"/>
                  <a:pt x="138702" y="146503"/>
                  <a:pt x="143573" y="146503"/>
                </a:cubicBezTo>
                <a:cubicBezTo>
                  <a:pt x="148444" y="146503"/>
                  <a:pt x="152363" y="150422"/>
                  <a:pt x="152363" y="155293"/>
                </a:cubicBezTo>
                <a:lnTo>
                  <a:pt x="152363" y="164084"/>
                </a:lnTo>
                <a:lnTo>
                  <a:pt x="175804" y="164084"/>
                </a:lnTo>
                <a:cubicBezTo>
                  <a:pt x="182287" y="164084"/>
                  <a:pt x="187524" y="158846"/>
                  <a:pt x="187524" y="152363"/>
                </a:cubicBezTo>
                <a:close/>
                <a:moveTo>
                  <a:pt x="58601" y="58601"/>
                </a:moveTo>
                <a:lnTo>
                  <a:pt x="58601" y="82042"/>
                </a:lnTo>
                <a:cubicBezTo>
                  <a:pt x="58601" y="88525"/>
                  <a:pt x="53364" y="93762"/>
                  <a:pt x="46881" y="93762"/>
                </a:cubicBezTo>
                <a:cubicBezTo>
                  <a:pt x="40398" y="93762"/>
                  <a:pt x="35161" y="88525"/>
                  <a:pt x="35161" y="82042"/>
                </a:cubicBezTo>
                <a:lnTo>
                  <a:pt x="35161" y="58601"/>
                </a:lnTo>
                <a:cubicBezTo>
                  <a:pt x="35161" y="52119"/>
                  <a:pt x="40398" y="46881"/>
                  <a:pt x="46881" y="46881"/>
                </a:cubicBezTo>
                <a:cubicBezTo>
                  <a:pt x="53364" y="46881"/>
                  <a:pt x="58601" y="52119"/>
                  <a:pt x="58601" y="58601"/>
                </a:cubicBezTo>
                <a:close/>
                <a:moveTo>
                  <a:pt x="105482" y="58601"/>
                </a:moveTo>
                <a:lnTo>
                  <a:pt x="105482" y="82042"/>
                </a:lnTo>
                <a:cubicBezTo>
                  <a:pt x="105482" y="88525"/>
                  <a:pt x="100245" y="93762"/>
                  <a:pt x="93762" y="93762"/>
                </a:cubicBezTo>
                <a:cubicBezTo>
                  <a:pt x="87279" y="93762"/>
                  <a:pt x="82042" y="88525"/>
                  <a:pt x="82042" y="82042"/>
                </a:cubicBezTo>
                <a:lnTo>
                  <a:pt x="82042" y="58601"/>
                </a:lnTo>
                <a:cubicBezTo>
                  <a:pt x="82042" y="52119"/>
                  <a:pt x="87279" y="46881"/>
                  <a:pt x="93762" y="46881"/>
                </a:cubicBezTo>
                <a:cubicBezTo>
                  <a:pt x="100245" y="46881"/>
                  <a:pt x="105482" y="52119"/>
                  <a:pt x="105482" y="58601"/>
                </a:cubicBezTo>
                <a:close/>
                <a:moveTo>
                  <a:pt x="152363" y="58601"/>
                </a:moveTo>
                <a:lnTo>
                  <a:pt x="152363" y="82042"/>
                </a:lnTo>
                <a:cubicBezTo>
                  <a:pt x="152363" y="88525"/>
                  <a:pt x="147126" y="93762"/>
                  <a:pt x="140643" y="93762"/>
                </a:cubicBezTo>
                <a:cubicBezTo>
                  <a:pt x="134160" y="93762"/>
                  <a:pt x="128923" y="88525"/>
                  <a:pt x="128923" y="82042"/>
                </a:cubicBezTo>
                <a:lnTo>
                  <a:pt x="128923" y="58601"/>
                </a:lnTo>
                <a:cubicBezTo>
                  <a:pt x="128923" y="52119"/>
                  <a:pt x="134160" y="46881"/>
                  <a:pt x="140643" y="46881"/>
                </a:cubicBezTo>
                <a:cubicBezTo>
                  <a:pt x="147126" y="46881"/>
                  <a:pt x="152363" y="52119"/>
                  <a:pt x="152363" y="5860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993285" y="5110033"/>
            <a:ext cx="1582235" cy="32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1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内存密集型计算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665118" y="5485081"/>
            <a:ext cx="683291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47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基于磁盘计算,不适合需要大量内存操作的场景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4671" y="6944254"/>
            <a:ext cx="15306659" cy="1722878"/>
          </a:xfrm>
          <a:custGeom>
            <a:avLst/>
            <a:gdLst/>
            <a:ahLst/>
            <a:cxnLst/>
            <a:rect l="l" t="t" r="r" b="b"/>
            <a:pathLst>
              <a:path w="15306659" h="1722878">
                <a:moveTo>
                  <a:pt x="93759" y="0"/>
                </a:moveTo>
                <a:lnTo>
                  <a:pt x="15212900" y="0"/>
                </a:lnTo>
                <a:cubicBezTo>
                  <a:pt x="15264682" y="0"/>
                  <a:pt x="15306659" y="41977"/>
                  <a:pt x="15306659" y="93759"/>
                </a:cubicBezTo>
                <a:lnTo>
                  <a:pt x="15306659" y="1629119"/>
                </a:lnTo>
                <a:cubicBezTo>
                  <a:pt x="15306659" y="1680901"/>
                  <a:pt x="15264682" y="1722878"/>
                  <a:pt x="15212900" y="1722878"/>
                </a:cubicBezTo>
                <a:lnTo>
                  <a:pt x="93759" y="1722878"/>
                </a:lnTo>
                <a:cubicBezTo>
                  <a:pt x="41977" y="1722878"/>
                  <a:pt x="0" y="1680901"/>
                  <a:pt x="0" y="1629119"/>
                </a:cubicBezTo>
                <a:lnTo>
                  <a:pt x="0" y="93759"/>
                </a:lnTo>
                <a:cubicBezTo>
                  <a:pt x="0" y="42012"/>
                  <a:pt x="42012" y="0"/>
                  <a:pt x="9375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03216" y="7184519"/>
            <a:ext cx="281286" cy="281286"/>
          </a:xfrm>
          <a:custGeom>
            <a:avLst/>
            <a:gdLst/>
            <a:ahLst/>
            <a:cxnLst/>
            <a:rect l="l" t="t" r="r" b="b"/>
            <a:pathLst>
              <a:path w="281286" h="281286">
                <a:moveTo>
                  <a:pt x="140643" y="0"/>
                </a:moveTo>
                <a:cubicBezTo>
                  <a:pt x="148719" y="0"/>
                  <a:pt x="156136" y="4450"/>
                  <a:pt x="159982" y="11537"/>
                </a:cubicBezTo>
                <a:lnTo>
                  <a:pt x="278649" y="231292"/>
                </a:lnTo>
                <a:cubicBezTo>
                  <a:pt x="282330" y="238104"/>
                  <a:pt x="282165" y="246345"/>
                  <a:pt x="278210" y="252993"/>
                </a:cubicBezTo>
                <a:cubicBezTo>
                  <a:pt x="274254" y="259640"/>
                  <a:pt x="267057" y="263706"/>
                  <a:pt x="259311" y="263706"/>
                </a:cubicBezTo>
                <a:lnTo>
                  <a:pt x="21975" y="263706"/>
                </a:lnTo>
                <a:cubicBezTo>
                  <a:pt x="14229" y="263706"/>
                  <a:pt x="7087" y="259640"/>
                  <a:pt x="3077" y="252993"/>
                </a:cubicBezTo>
                <a:cubicBezTo>
                  <a:pt x="-934" y="246345"/>
                  <a:pt x="-1044" y="238104"/>
                  <a:pt x="2637" y="231292"/>
                </a:cubicBezTo>
                <a:lnTo>
                  <a:pt x="121305" y="11537"/>
                </a:lnTo>
                <a:cubicBezTo>
                  <a:pt x="125150" y="4450"/>
                  <a:pt x="132567" y="0"/>
                  <a:pt x="140643" y="0"/>
                </a:cubicBezTo>
                <a:close/>
                <a:moveTo>
                  <a:pt x="140643" y="92297"/>
                </a:moveTo>
                <a:cubicBezTo>
                  <a:pt x="133336" y="92297"/>
                  <a:pt x="127458" y="98175"/>
                  <a:pt x="127458" y="105482"/>
                </a:cubicBezTo>
                <a:lnTo>
                  <a:pt x="127458" y="167014"/>
                </a:lnTo>
                <a:cubicBezTo>
                  <a:pt x="127458" y="174321"/>
                  <a:pt x="133336" y="180199"/>
                  <a:pt x="140643" y="180199"/>
                </a:cubicBezTo>
                <a:cubicBezTo>
                  <a:pt x="147950" y="180199"/>
                  <a:pt x="153828" y="174321"/>
                  <a:pt x="153828" y="167014"/>
                </a:cubicBezTo>
                <a:lnTo>
                  <a:pt x="153828" y="105482"/>
                </a:lnTo>
                <a:cubicBezTo>
                  <a:pt x="153828" y="98175"/>
                  <a:pt x="147950" y="92297"/>
                  <a:pt x="140643" y="92297"/>
                </a:cubicBezTo>
                <a:close/>
                <a:moveTo>
                  <a:pt x="155312" y="210965"/>
                </a:moveTo>
                <a:cubicBezTo>
                  <a:pt x="155645" y="205520"/>
                  <a:pt x="152930" y="200340"/>
                  <a:pt x="148263" y="197516"/>
                </a:cubicBezTo>
                <a:cubicBezTo>
                  <a:pt x="143595" y="194693"/>
                  <a:pt x="137746" y="194693"/>
                  <a:pt x="133079" y="197516"/>
                </a:cubicBezTo>
                <a:cubicBezTo>
                  <a:pt x="128411" y="200340"/>
                  <a:pt x="125696" y="205520"/>
                  <a:pt x="126029" y="210965"/>
                </a:cubicBezTo>
                <a:cubicBezTo>
                  <a:pt x="125696" y="216409"/>
                  <a:pt x="128411" y="221590"/>
                  <a:pt x="133079" y="224413"/>
                </a:cubicBezTo>
                <a:cubicBezTo>
                  <a:pt x="137746" y="227236"/>
                  <a:pt x="143595" y="227236"/>
                  <a:pt x="148263" y="224413"/>
                </a:cubicBezTo>
                <a:cubicBezTo>
                  <a:pt x="152930" y="221590"/>
                  <a:pt x="155645" y="216409"/>
                  <a:pt x="155312" y="210965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19663" y="7137638"/>
            <a:ext cx="14708926" cy="37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易错点与核心结论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68055" y="7653329"/>
            <a:ext cx="3621560" cy="820418"/>
          </a:xfrm>
          <a:custGeom>
            <a:avLst/>
            <a:gdLst/>
            <a:ahLst/>
            <a:cxnLst/>
            <a:rect l="l" t="t" r="r" b="b"/>
            <a:pathLst>
              <a:path w="3621560" h="820418">
                <a:moveTo>
                  <a:pt x="46879" y="0"/>
                </a:moveTo>
                <a:lnTo>
                  <a:pt x="3574682" y="0"/>
                </a:lnTo>
                <a:cubicBezTo>
                  <a:pt x="3600572" y="0"/>
                  <a:pt x="3621560" y="20988"/>
                  <a:pt x="3621560" y="46879"/>
                </a:cubicBezTo>
                <a:lnTo>
                  <a:pt x="3621560" y="773539"/>
                </a:lnTo>
                <a:cubicBezTo>
                  <a:pt x="3621560" y="799430"/>
                  <a:pt x="3600572" y="820418"/>
                  <a:pt x="3574682" y="820418"/>
                </a:cubicBezTo>
                <a:lnTo>
                  <a:pt x="46879" y="820418"/>
                </a:lnTo>
                <a:cubicBezTo>
                  <a:pt x="20988" y="820418"/>
                  <a:pt x="0" y="799430"/>
                  <a:pt x="0" y="773539"/>
                </a:cubicBezTo>
                <a:lnTo>
                  <a:pt x="0" y="46879"/>
                </a:lnTo>
                <a:cubicBezTo>
                  <a:pt x="0" y="20988"/>
                  <a:pt x="20988" y="0"/>
                  <a:pt x="4687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08698" y="7793973"/>
            <a:ext cx="3422316" cy="539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并行度: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MapTask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并行度由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InputSplit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个数决定,不是文件大小/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432181" y="7653329"/>
            <a:ext cx="3621560" cy="820418"/>
          </a:xfrm>
          <a:custGeom>
            <a:avLst/>
            <a:gdLst/>
            <a:ahLst/>
            <a:cxnLst/>
            <a:rect l="l" t="t" r="r" b="b"/>
            <a:pathLst>
              <a:path w="3621560" h="820418">
                <a:moveTo>
                  <a:pt x="46879" y="0"/>
                </a:moveTo>
                <a:lnTo>
                  <a:pt x="3574682" y="0"/>
                </a:lnTo>
                <a:cubicBezTo>
                  <a:pt x="3600572" y="0"/>
                  <a:pt x="3621560" y="20988"/>
                  <a:pt x="3621560" y="46879"/>
                </a:cubicBezTo>
                <a:lnTo>
                  <a:pt x="3621560" y="773539"/>
                </a:lnTo>
                <a:cubicBezTo>
                  <a:pt x="3621560" y="799430"/>
                  <a:pt x="3600572" y="820418"/>
                  <a:pt x="3574682" y="820418"/>
                </a:cubicBezTo>
                <a:lnTo>
                  <a:pt x="46879" y="820418"/>
                </a:lnTo>
                <a:cubicBezTo>
                  <a:pt x="20988" y="820418"/>
                  <a:pt x="0" y="799430"/>
                  <a:pt x="0" y="773539"/>
                </a:cubicBezTo>
                <a:lnTo>
                  <a:pt x="0" y="46879"/>
                </a:lnTo>
                <a:cubicBezTo>
                  <a:pt x="0" y="20988"/>
                  <a:pt x="20988" y="0"/>
                  <a:pt x="4687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824" y="7793973"/>
            <a:ext cx="3422316" cy="539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性能瓶颈: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是最耗时阶段,涉及大量磁盘I/O、网络传输、序列化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196307" y="7653329"/>
            <a:ext cx="3621560" cy="820418"/>
          </a:xfrm>
          <a:custGeom>
            <a:avLst/>
            <a:gdLst/>
            <a:ahLst/>
            <a:cxnLst/>
            <a:rect l="l" t="t" r="r" b="b"/>
            <a:pathLst>
              <a:path w="3621560" h="820418">
                <a:moveTo>
                  <a:pt x="46879" y="0"/>
                </a:moveTo>
                <a:lnTo>
                  <a:pt x="3574682" y="0"/>
                </a:lnTo>
                <a:cubicBezTo>
                  <a:pt x="3600572" y="0"/>
                  <a:pt x="3621560" y="20988"/>
                  <a:pt x="3621560" y="46879"/>
                </a:cubicBezTo>
                <a:lnTo>
                  <a:pt x="3621560" y="773539"/>
                </a:lnTo>
                <a:cubicBezTo>
                  <a:pt x="3621560" y="799430"/>
                  <a:pt x="3600572" y="820418"/>
                  <a:pt x="3574682" y="820418"/>
                </a:cubicBezTo>
                <a:lnTo>
                  <a:pt x="46879" y="820418"/>
                </a:lnTo>
                <a:cubicBezTo>
                  <a:pt x="20988" y="820418"/>
                  <a:pt x="0" y="799430"/>
                  <a:pt x="0" y="773539"/>
                </a:cubicBezTo>
                <a:lnTo>
                  <a:pt x="0" y="46879"/>
                </a:lnTo>
                <a:cubicBezTo>
                  <a:pt x="0" y="20988"/>
                  <a:pt x="20988" y="0"/>
                  <a:pt x="4687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336950" y="7793973"/>
            <a:ext cx="3422316" cy="539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Combiner: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Combiner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是可选优化而非必须;不能改变最终业务逻辑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1960433" y="7653329"/>
            <a:ext cx="3621560" cy="820418"/>
          </a:xfrm>
          <a:custGeom>
            <a:avLst/>
            <a:gdLst/>
            <a:ahLst/>
            <a:cxnLst/>
            <a:rect l="l" t="t" r="r" b="b"/>
            <a:pathLst>
              <a:path w="3621560" h="820418">
                <a:moveTo>
                  <a:pt x="46879" y="0"/>
                </a:moveTo>
                <a:lnTo>
                  <a:pt x="3574682" y="0"/>
                </a:lnTo>
                <a:cubicBezTo>
                  <a:pt x="3600572" y="0"/>
                  <a:pt x="3621560" y="20988"/>
                  <a:pt x="3621560" y="46879"/>
                </a:cubicBezTo>
                <a:lnTo>
                  <a:pt x="3621560" y="773539"/>
                </a:lnTo>
                <a:cubicBezTo>
                  <a:pt x="3621560" y="799430"/>
                  <a:pt x="3600572" y="820418"/>
                  <a:pt x="3574682" y="820418"/>
                </a:cubicBezTo>
                <a:lnTo>
                  <a:pt x="46879" y="820418"/>
                </a:lnTo>
                <a:cubicBezTo>
                  <a:pt x="20988" y="820418"/>
                  <a:pt x="0" y="799430"/>
                  <a:pt x="0" y="773539"/>
                </a:cubicBezTo>
                <a:lnTo>
                  <a:pt x="0" y="46879"/>
                </a:lnTo>
                <a:cubicBezTo>
                  <a:pt x="0" y="20988"/>
                  <a:pt x="20988" y="0"/>
                  <a:pt x="4687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2101076" y="7793973"/>
            <a:ext cx="3422316" cy="539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分区: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Partitioner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核心是"同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汇聚到同一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Reducer</a:t>
            </a:r>
            <a:r>
              <a:rPr lang="en-US" sz="129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",非单纯负载均衡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54300" cy="609600"/>
          </a:xfrm>
          <a:custGeom>
            <a:avLst/>
            <a:gdLst/>
            <a:ahLst/>
            <a:cxnLst/>
            <a:rect l="l" t="t" r="r" b="b"/>
            <a:pathLst>
              <a:path w="2654300" h="609600">
                <a:moveTo>
                  <a:pt x="0" y="0"/>
                </a:moveTo>
                <a:lnTo>
                  <a:pt x="2654300" y="0"/>
                </a:lnTo>
                <a:lnTo>
                  <a:pt x="26543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7141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5A64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资源管理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与调度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架构演进、核心组件与调度策略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223" y="436403"/>
            <a:ext cx="1418309" cy="349122"/>
          </a:xfrm>
          <a:custGeom>
            <a:avLst/>
            <a:gdLst/>
            <a:ahLst/>
            <a:cxnLst/>
            <a:rect l="l" t="t" r="r" b="b"/>
            <a:pathLst>
              <a:path w="1418309" h="349122">
                <a:moveTo>
                  <a:pt x="0" y="0"/>
                </a:moveTo>
                <a:lnTo>
                  <a:pt x="1418309" y="0"/>
                </a:lnTo>
                <a:lnTo>
                  <a:pt x="1418309" y="349122"/>
                </a:lnTo>
                <a:lnTo>
                  <a:pt x="0" y="349122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8223" y="436403"/>
            <a:ext cx="43640" cy="349122"/>
          </a:xfrm>
          <a:custGeom>
            <a:avLst/>
            <a:gdLst/>
            <a:ahLst/>
            <a:cxnLst/>
            <a:rect l="l" t="t" r="r" b="b"/>
            <a:pathLst>
              <a:path w="43640" h="349122">
                <a:moveTo>
                  <a:pt x="0" y="0"/>
                </a:moveTo>
                <a:lnTo>
                  <a:pt x="43640" y="0"/>
                </a:lnTo>
                <a:lnTo>
                  <a:pt x="43640" y="349122"/>
                </a:lnTo>
                <a:lnTo>
                  <a:pt x="0" y="349122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0964" y="496408"/>
            <a:ext cx="1226019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kern="0" spc="6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06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6403" y="872805"/>
            <a:ext cx="15579576" cy="43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9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从</a:t>
            </a:r>
            <a:r>
              <a:rPr lang="en-US" sz="309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MRv1</a:t>
            </a:r>
            <a:r>
              <a:rPr lang="en-US" sz="309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到</a:t>
            </a:r>
            <a:r>
              <a:rPr lang="en-US" sz="309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en-US" sz="309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:架构演进与解耦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8223" y="1483769"/>
            <a:ext cx="7560677" cy="3796703"/>
          </a:xfrm>
          <a:custGeom>
            <a:avLst/>
            <a:gdLst/>
            <a:ahLst/>
            <a:cxnLst/>
            <a:rect l="l" t="t" r="r" b="b"/>
            <a:pathLst>
              <a:path w="7560677" h="3796703">
                <a:moveTo>
                  <a:pt x="43640" y="0"/>
                </a:moveTo>
                <a:lnTo>
                  <a:pt x="7473390" y="0"/>
                </a:lnTo>
                <a:cubicBezTo>
                  <a:pt x="7521597" y="0"/>
                  <a:pt x="7560677" y="39079"/>
                  <a:pt x="7560677" y="87286"/>
                </a:cubicBezTo>
                <a:lnTo>
                  <a:pt x="7560677" y="3709417"/>
                </a:lnTo>
                <a:cubicBezTo>
                  <a:pt x="7560677" y="3757624"/>
                  <a:pt x="7521597" y="3796703"/>
                  <a:pt x="7473390" y="3796703"/>
                </a:cubicBezTo>
                <a:lnTo>
                  <a:pt x="43640" y="3796703"/>
                </a:lnTo>
                <a:cubicBezTo>
                  <a:pt x="19538" y="3796703"/>
                  <a:pt x="0" y="3777165"/>
                  <a:pt x="0" y="3753063"/>
                </a:cubicBezTo>
                <a:lnTo>
                  <a:pt x="0" y="43640"/>
                </a:lnTo>
                <a:cubicBezTo>
                  <a:pt x="0" y="19538"/>
                  <a:pt x="19538" y="0"/>
                  <a:pt x="43640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8223" y="1483769"/>
            <a:ext cx="43640" cy="3796703"/>
          </a:xfrm>
          <a:custGeom>
            <a:avLst/>
            <a:gdLst/>
            <a:ahLst/>
            <a:cxnLst/>
            <a:rect l="l" t="t" r="r" b="b"/>
            <a:pathLst>
              <a:path w="43640" h="3796703">
                <a:moveTo>
                  <a:pt x="43640" y="0"/>
                </a:moveTo>
                <a:lnTo>
                  <a:pt x="43640" y="0"/>
                </a:lnTo>
                <a:lnTo>
                  <a:pt x="43640" y="3796703"/>
                </a:lnTo>
                <a:lnTo>
                  <a:pt x="43640" y="3796703"/>
                </a:lnTo>
                <a:cubicBezTo>
                  <a:pt x="19538" y="3796703"/>
                  <a:pt x="0" y="3777165"/>
                  <a:pt x="0" y="375306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0974" y="1745611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30921" y="0"/>
                </a:moveTo>
                <a:cubicBezTo>
                  <a:pt x="138439" y="0"/>
                  <a:pt x="145343" y="4142"/>
                  <a:pt x="148922" y="10740"/>
                </a:cubicBezTo>
                <a:lnTo>
                  <a:pt x="259387" y="215303"/>
                </a:lnTo>
                <a:cubicBezTo>
                  <a:pt x="262813" y="221645"/>
                  <a:pt x="262660" y="229316"/>
                  <a:pt x="258978" y="235504"/>
                </a:cubicBezTo>
                <a:cubicBezTo>
                  <a:pt x="255296" y="241692"/>
                  <a:pt x="248596" y="245477"/>
                  <a:pt x="241385" y="245477"/>
                </a:cubicBezTo>
                <a:lnTo>
                  <a:pt x="20456" y="245477"/>
                </a:lnTo>
                <a:cubicBezTo>
                  <a:pt x="13246" y="245477"/>
                  <a:pt x="6597" y="241692"/>
                  <a:pt x="2864" y="235504"/>
                </a:cubicBezTo>
                <a:cubicBezTo>
                  <a:pt x="-869" y="229316"/>
                  <a:pt x="-972" y="221645"/>
                  <a:pt x="2455" y="215303"/>
                </a:cubicBezTo>
                <a:lnTo>
                  <a:pt x="112919" y="10740"/>
                </a:lnTo>
                <a:cubicBezTo>
                  <a:pt x="116499" y="4142"/>
                  <a:pt x="123403" y="0"/>
                  <a:pt x="130921" y="0"/>
                </a:cubicBezTo>
                <a:close/>
                <a:moveTo>
                  <a:pt x="130921" y="85917"/>
                </a:moveTo>
                <a:cubicBezTo>
                  <a:pt x="124119" y="85917"/>
                  <a:pt x="118647" y="91389"/>
                  <a:pt x="118647" y="98191"/>
                </a:cubicBezTo>
                <a:lnTo>
                  <a:pt x="118647" y="155468"/>
                </a:lnTo>
                <a:cubicBezTo>
                  <a:pt x="118647" y="162270"/>
                  <a:pt x="124119" y="167742"/>
                  <a:pt x="130921" y="167742"/>
                </a:cubicBezTo>
                <a:cubicBezTo>
                  <a:pt x="137723" y="167742"/>
                  <a:pt x="143195" y="162270"/>
                  <a:pt x="143195" y="155468"/>
                </a:cubicBezTo>
                <a:lnTo>
                  <a:pt x="143195" y="98191"/>
                </a:lnTo>
                <a:cubicBezTo>
                  <a:pt x="143195" y="91389"/>
                  <a:pt x="137723" y="85917"/>
                  <a:pt x="130921" y="85917"/>
                </a:cubicBezTo>
                <a:close/>
                <a:moveTo>
                  <a:pt x="144575" y="196381"/>
                </a:moveTo>
                <a:cubicBezTo>
                  <a:pt x="144886" y="191313"/>
                  <a:pt x="142358" y="186491"/>
                  <a:pt x="138014" y="183862"/>
                </a:cubicBezTo>
                <a:cubicBezTo>
                  <a:pt x="133669" y="181234"/>
                  <a:pt x="128224" y="181234"/>
                  <a:pt x="123879" y="183862"/>
                </a:cubicBezTo>
                <a:cubicBezTo>
                  <a:pt x="119534" y="186491"/>
                  <a:pt x="117007" y="191313"/>
                  <a:pt x="117317" y="196381"/>
                </a:cubicBezTo>
                <a:cubicBezTo>
                  <a:pt x="117007" y="201450"/>
                  <a:pt x="119534" y="206272"/>
                  <a:pt x="123879" y="208900"/>
                </a:cubicBezTo>
                <a:cubicBezTo>
                  <a:pt x="128224" y="211528"/>
                  <a:pt x="133669" y="211528"/>
                  <a:pt x="138014" y="208900"/>
                </a:cubicBezTo>
                <a:cubicBezTo>
                  <a:pt x="142358" y="206272"/>
                  <a:pt x="144886" y="201450"/>
                  <a:pt x="144575" y="19638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5546" y="1701970"/>
            <a:ext cx="6906072" cy="349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2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MRv1</a:t>
            </a:r>
            <a:r>
              <a:rPr lang="en-US" sz="206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的痛点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8244" y="2182013"/>
            <a:ext cx="7102454" cy="872805"/>
          </a:xfrm>
          <a:custGeom>
            <a:avLst/>
            <a:gdLst/>
            <a:ahLst/>
            <a:cxnLst/>
            <a:rect l="l" t="t" r="r" b="b"/>
            <a:pathLst>
              <a:path w="7102454" h="872805">
                <a:moveTo>
                  <a:pt x="43640" y="0"/>
                </a:moveTo>
                <a:lnTo>
                  <a:pt x="7058813" y="0"/>
                </a:lnTo>
                <a:cubicBezTo>
                  <a:pt x="7082915" y="0"/>
                  <a:pt x="7102454" y="19538"/>
                  <a:pt x="7102454" y="43640"/>
                </a:cubicBezTo>
                <a:lnTo>
                  <a:pt x="7102454" y="829165"/>
                </a:lnTo>
                <a:cubicBezTo>
                  <a:pt x="7102454" y="853267"/>
                  <a:pt x="7082915" y="872805"/>
                  <a:pt x="7058813" y="872805"/>
                </a:cubicBezTo>
                <a:lnTo>
                  <a:pt x="43640" y="872805"/>
                </a:lnTo>
                <a:cubicBezTo>
                  <a:pt x="19538" y="872805"/>
                  <a:pt x="0" y="853267"/>
                  <a:pt x="0" y="82916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9165" y="2378395"/>
            <a:ext cx="218201" cy="174561"/>
          </a:xfrm>
          <a:custGeom>
            <a:avLst/>
            <a:gdLst/>
            <a:ahLst/>
            <a:cxnLst/>
            <a:rect l="l" t="t" r="r" b="b"/>
            <a:pathLst>
              <a:path w="218201" h="174561">
                <a:moveTo>
                  <a:pt x="46504" y="43640"/>
                </a:moveTo>
                <a:cubicBezTo>
                  <a:pt x="46504" y="29024"/>
                  <a:pt x="54302" y="15517"/>
                  <a:pt x="66961" y="8209"/>
                </a:cubicBezTo>
                <a:cubicBezTo>
                  <a:pt x="79619" y="900"/>
                  <a:pt x="95215" y="900"/>
                  <a:pt x="107873" y="8209"/>
                </a:cubicBezTo>
                <a:cubicBezTo>
                  <a:pt x="120532" y="15517"/>
                  <a:pt x="128330" y="29024"/>
                  <a:pt x="128330" y="43640"/>
                </a:cubicBezTo>
                <a:cubicBezTo>
                  <a:pt x="128330" y="66221"/>
                  <a:pt x="109997" y="84553"/>
                  <a:pt x="87417" y="84553"/>
                </a:cubicBezTo>
                <a:cubicBezTo>
                  <a:pt x="64837" y="84553"/>
                  <a:pt x="46504" y="66221"/>
                  <a:pt x="46504" y="43640"/>
                </a:cubicBezTo>
                <a:close/>
                <a:moveTo>
                  <a:pt x="16501" y="164435"/>
                </a:moveTo>
                <a:cubicBezTo>
                  <a:pt x="16501" y="130853"/>
                  <a:pt x="43708" y="103646"/>
                  <a:pt x="77291" y="103646"/>
                </a:cubicBezTo>
                <a:lnTo>
                  <a:pt x="97543" y="103646"/>
                </a:lnTo>
                <a:cubicBezTo>
                  <a:pt x="131125" y="103646"/>
                  <a:pt x="158332" y="130853"/>
                  <a:pt x="158332" y="164435"/>
                </a:cubicBezTo>
                <a:cubicBezTo>
                  <a:pt x="158332" y="170027"/>
                  <a:pt x="153798" y="174561"/>
                  <a:pt x="148206" y="174561"/>
                </a:cubicBezTo>
                <a:lnTo>
                  <a:pt x="26627" y="174561"/>
                </a:lnTo>
                <a:cubicBezTo>
                  <a:pt x="21036" y="174561"/>
                  <a:pt x="16501" y="170027"/>
                  <a:pt x="16501" y="164435"/>
                </a:cubicBezTo>
                <a:close/>
                <a:moveTo>
                  <a:pt x="208757" y="42311"/>
                </a:moveTo>
                <a:cubicBezTo>
                  <a:pt x="211962" y="45515"/>
                  <a:pt x="211962" y="50698"/>
                  <a:pt x="208757" y="53868"/>
                </a:cubicBezTo>
                <a:lnTo>
                  <a:pt x="197199" y="65426"/>
                </a:lnTo>
                <a:lnTo>
                  <a:pt x="208757" y="76984"/>
                </a:lnTo>
                <a:cubicBezTo>
                  <a:pt x="211962" y="80189"/>
                  <a:pt x="211962" y="85371"/>
                  <a:pt x="208757" y="88542"/>
                </a:cubicBezTo>
                <a:cubicBezTo>
                  <a:pt x="205552" y="91713"/>
                  <a:pt x="200370" y="91747"/>
                  <a:pt x="197199" y="88542"/>
                </a:cubicBezTo>
                <a:lnTo>
                  <a:pt x="185642" y="76984"/>
                </a:lnTo>
                <a:lnTo>
                  <a:pt x="174084" y="88542"/>
                </a:lnTo>
                <a:cubicBezTo>
                  <a:pt x="170879" y="91747"/>
                  <a:pt x="165697" y="91747"/>
                  <a:pt x="162526" y="88542"/>
                </a:cubicBezTo>
                <a:cubicBezTo>
                  <a:pt x="159355" y="85337"/>
                  <a:pt x="159321" y="80155"/>
                  <a:pt x="162526" y="76984"/>
                </a:cubicBezTo>
                <a:lnTo>
                  <a:pt x="174084" y="65426"/>
                </a:lnTo>
                <a:lnTo>
                  <a:pt x="162526" y="53868"/>
                </a:lnTo>
                <a:cubicBezTo>
                  <a:pt x="159321" y="50664"/>
                  <a:pt x="159321" y="45481"/>
                  <a:pt x="162526" y="42311"/>
                </a:cubicBezTo>
                <a:cubicBezTo>
                  <a:pt x="165731" y="39140"/>
                  <a:pt x="170913" y="39106"/>
                  <a:pt x="174084" y="42311"/>
                </a:cubicBezTo>
                <a:lnTo>
                  <a:pt x="185642" y="53868"/>
                </a:lnTo>
                <a:lnTo>
                  <a:pt x="197199" y="42311"/>
                </a:lnTo>
                <a:cubicBezTo>
                  <a:pt x="200404" y="39106"/>
                  <a:pt x="205587" y="39106"/>
                  <a:pt x="208757" y="4231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34647" y="2312934"/>
            <a:ext cx="1887442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JobTracker</a:t>
            </a: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单点瓶颈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9165" y="2662056"/>
            <a:ext cx="692789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资源管理 + 任务调度耦合在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JobTracker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,压力大,扩展性差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8244" y="3185740"/>
            <a:ext cx="7102454" cy="872805"/>
          </a:xfrm>
          <a:custGeom>
            <a:avLst/>
            <a:gdLst/>
            <a:ahLst/>
            <a:cxnLst/>
            <a:rect l="l" t="t" r="r" b="b"/>
            <a:pathLst>
              <a:path w="7102454" h="872805">
                <a:moveTo>
                  <a:pt x="43640" y="0"/>
                </a:moveTo>
                <a:lnTo>
                  <a:pt x="7058813" y="0"/>
                </a:lnTo>
                <a:cubicBezTo>
                  <a:pt x="7082915" y="0"/>
                  <a:pt x="7102454" y="19538"/>
                  <a:pt x="7102454" y="43640"/>
                </a:cubicBezTo>
                <a:lnTo>
                  <a:pt x="7102454" y="829165"/>
                </a:lnTo>
                <a:cubicBezTo>
                  <a:pt x="7102454" y="853267"/>
                  <a:pt x="7082915" y="872805"/>
                  <a:pt x="7058813" y="872805"/>
                </a:cubicBezTo>
                <a:lnTo>
                  <a:pt x="43640" y="872805"/>
                </a:lnTo>
                <a:cubicBezTo>
                  <a:pt x="19538" y="872805"/>
                  <a:pt x="0" y="853267"/>
                  <a:pt x="0" y="82916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1895" y="3382121"/>
            <a:ext cx="152741" cy="174561"/>
          </a:xfrm>
          <a:custGeom>
            <a:avLst/>
            <a:gdLst/>
            <a:ahLst/>
            <a:cxnLst/>
            <a:rect l="l" t="t" r="r" b="b"/>
            <a:pathLst>
              <a:path w="152741" h="174561">
                <a:moveTo>
                  <a:pt x="57278" y="10910"/>
                </a:moveTo>
                <a:lnTo>
                  <a:pt x="8183" y="10910"/>
                </a:lnTo>
                <a:cubicBezTo>
                  <a:pt x="3648" y="10910"/>
                  <a:pt x="0" y="14558"/>
                  <a:pt x="0" y="19093"/>
                </a:cubicBezTo>
                <a:lnTo>
                  <a:pt x="0" y="68188"/>
                </a:lnTo>
                <a:cubicBezTo>
                  <a:pt x="0" y="71495"/>
                  <a:pt x="1977" y="74495"/>
                  <a:pt x="5046" y="75757"/>
                </a:cubicBezTo>
                <a:cubicBezTo>
                  <a:pt x="8114" y="77018"/>
                  <a:pt x="11626" y="76302"/>
                  <a:pt x="13979" y="73984"/>
                </a:cubicBezTo>
                <a:lnTo>
                  <a:pt x="27616" y="60346"/>
                </a:lnTo>
                <a:lnTo>
                  <a:pt x="54550" y="87281"/>
                </a:lnTo>
                <a:lnTo>
                  <a:pt x="27616" y="114215"/>
                </a:lnTo>
                <a:lnTo>
                  <a:pt x="13979" y="100577"/>
                </a:lnTo>
                <a:cubicBezTo>
                  <a:pt x="11626" y="98225"/>
                  <a:pt x="8114" y="97543"/>
                  <a:pt x="5046" y="98804"/>
                </a:cubicBezTo>
                <a:cubicBezTo>
                  <a:pt x="1977" y="100066"/>
                  <a:pt x="0" y="103066"/>
                  <a:pt x="0" y="106373"/>
                </a:cubicBezTo>
                <a:lnTo>
                  <a:pt x="0" y="155468"/>
                </a:lnTo>
                <a:cubicBezTo>
                  <a:pt x="0" y="160003"/>
                  <a:pt x="3648" y="163651"/>
                  <a:pt x="8183" y="163651"/>
                </a:cubicBezTo>
                <a:lnTo>
                  <a:pt x="57278" y="163651"/>
                </a:lnTo>
                <a:cubicBezTo>
                  <a:pt x="60585" y="163651"/>
                  <a:pt x="63585" y="161674"/>
                  <a:pt x="64847" y="158605"/>
                </a:cubicBezTo>
                <a:cubicBezTo>
                  <a:pt x="66108" y="155537"/>
                  <a:pt x="65426" y="152025"/>
                  <a:pt x="63074" y="149672"/>
                </a:cubicBezTo>
                <a:lnTo>
                  <a:pt x="49436" y="136035"/>
                </a:lnTo>
                <a:lnTo>
                  <a:pt x="76370" y="109101"/>
                </a:lnTo>
                <a:lnTo>
                  <a:pt x="103305" y="136035"/>
                </a:lnTo>
                <a:lnTo>
                  <a:pt x="89667" y="149672"/>
                </a:lnTo>
                <a:cubicBezTo>
                  <a:pt x="87315" y="152025"/>
                  <a:pt x="86633" y="155537"/>
                  <a:pt x="87894" y="158605"/>
                </a:cubicBezTo>
                <a:cubicBezTo>
                  <a:pt x="89156" y="161674"/>
                  <a:pt x="92156" y="163651"/>
                  <a:pt x="95463" y="163651"/>
                </a:cubicBezTo>
                <a:lnTo>
                  <a:pt x="144558" y="163651"/>
                </a:lnTo>
                <a:cubicBezTo>
                  <a:pt x="149093" y="163651"/>
                  <a:pt x="152741" y="160003"/>
                  <a:pt x="152741" y="155468"/>
                </a:cubicBezTo>
                <a:lnTo>
                  <a:pt x="152741" y="106373"/>
                </a:lnTo>
                <a:cubicBezTo>
                  <a:pt x="152741" y="103066"/>
                  <a:pt x="150763" y="100066"/>
                  <a:pt x="147695" y="98804"/>
                </a:cubicBezTo>
                <a:cubicBezTo>
                  <a:pt x="144627" y="97543"/>
                  <a:pt x="141115" y="98225"/>
                  <a:pt x="138762" y="100577"/>
                </a:cubicBezTo>
                <a:lnTo>
                  <a:pt x="125125" y="114215"/>
                </a:lnTo>
                <a:lnTo>
                  <a:pt x="98191" y="87281"/>
                </a:lnTo>
                <a:lnTo>
                  <a:pt x="125125" y="60346"/>
                </a:lnTo>
                <a:lnTo>
                  <a:pt x="138762" y="73984"/>
                </a:lnTo>
                <a:cubicBezTo>
                  <a:pt x="141115" y="76336"/>
                  <a:pt x="144627" y="77018"/>
                  <a:pt x="147695" y="75757"/>
                </a:cubicBezTo>
                <a:cubicBezTo>
                  <a:pt x="150763" y="74495"/>
                  <a:pt x="152741" y="71495"/>
                  <a:pt x="152741" y="68188"/>
                </a:cubicBezTo>
                <a:lnTo>
                  <a:pt x="152741" y="19093"/>
                </a:lnTo>
                <a:cubicBezTo>
                  <a:pt x="152741" y="14558"/>
                  <a:pt x="149093" y="10910"/>
                  <a:pt x="144558" y="10910"/>
                </a:cubicBezTo>
                <a:lnTo>
                  <a:pt x="95463" y="10910"/>
                </a:lnTo>
                <a:cubicBezTo>
                  <a:pt x="92156" y="10910"/>
                  <a:pt x="89156" y="12888"/>
                  <a:pt x="87894" y="15956"/>
                </a:cubicBezTo>
                <a:cubicBezTo>
                  <a:pt x="86633" y="19024"/>
                  <a:pt x="87349" y="22536"/>
                  <a:pt x="89667" y="24889"/>
                </a:cubicBezTo>
                <a:lnTo>
                  <a:pt x="103305" y="38526"/>
                </a:lnTo>
                <a:lnTo>
                  <a:pt x="76370" y="65460"/>
                </a:lnTo>
                <a:lnTo>
                  <a:pt x="49436" y="38526"/>
                </a:lnTo>
                <a:lnTo>
                  <a:pt x="63074" y="24889"/>
                </a:lnTo>
                <a:cubicBezTo>
                  <a:pt x="65426" y="22536"/>
                  <a:pt x="66108" y="19024"/>
                  <a:pt x="64847" y="15956"/>
                </a:cubicBezTo>
                <a:cubicBezTo>
                  <a:pt x="63585" y="12888"/>
                  <a:pt x="60585" y="10910"/>
                  <a:pt x="57278" y="1091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34647" y="3316660"/>
            <a:ext cx="883715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扩展性差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9165" y="3665783"/>
            <a:ext cx="692789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集群规模受限,无法支持上万节点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8244" y="4189466"/>
            <a:ext cx="7102454" cy="872805"/>
          </a:xfrm>
          <a:custGeom>
            <a:avLst/>
            <a:gdLst/>
            <a:ahLst/>
            <a:cxnLst/>
            <a:rect l="l" t="t" r="r" b="b"/>
            <a:pathLst>
              <a:path w="7102454" h="872805">
                <a:moveTo>
                  <a:pt x="43640" y="0"/>
                </a:moveTo>
                <a:lnTo>
                  <a:pt x="7058813" y="0"/>
                </a:lnTo>
                <a:cubicBezTo>
                  <a:pt x="7082915" y="0"/>
                  <a:pt x="7102454" y="19538"/>
                  <a:pt x="7102454" y="43640"/>
                </a:cubicBezTo>
                <a:lnTo>
                  <a:pt x="7102454" y="829165"/>
                </a:lnTo>
                <a:cubicBezTo>
                  <a:pt x="7102454" y="853267"/>
                  <a:pt x="7082915" y="872805"/>
                  <a:pt x="7058813" y="872805"/>
                </a:cubicBezTo>
                <a:lnTo>
                  <a:pt x="43640" y="872805"/>
                </a:lnTo>
                <a:cubicBezTo>
                  <a:pt x="19538" y="872805"/>
                  <a:pt x="0" y="853267"/>
                  <a:pt x="0" y="82916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0985" y="4385847"/>
            <a:ext cx="174561" cy="174561"/>
          </a:xfrm>
          <a:custGeom>
            <a:avLst/>
            <a:gdLst/>
            <a:ahLst/>
            <a:cxnLst/>
            <a:rect l="l" t="t" r="r" b="b"/>
            <a:pathLst>
              <a:path w="174561" h="174561">
                <a:moveTo>
                  <a:pt x="125193" y="140638"/>
                </a:moveTo>
                <a:lnTo>
                  <a:pt x="33923" y="49368"/>
                </a:lnTo>
                <a:cubicBezTo>
                  <a:pt x="26286" y="60074"/>
                  <a:pt x="21820" y="73166"/>
                  <a:pt x="21820" y="87281"/>
                </a:cubicBezTo>
                <a:cubicBezTo>
                  <a:pt x="21820" y="123420"/>
                  <a:pt x="51141" y="152741"/>
                  <a:pt x="87281" y="152741"/>
                </a:cubicBezTo>
                <a:cubicBezTo>
                  <a:pt x="101430" y="152741"/>
                  <a:pt x="114522" y="148275"/>
                  <a:pt x="125193" y="140638"/>
                </a:cubicBezTo>
                <a:close/>
                <a:moveTo>
                  <a:pt x="140638" y="125193"/>
                </a:moveTo>
                <a:cubicBezTo>
                  <a:pt x="148275" y="114488"/>
                  <a:pt x="152741" y="101395"/>
                  <a:pt x="152741" y="87281"/>
                </a:cubicBezTo>
                <a:cubicBezTo>
                  <a:pt x="152741" y="51141"/>
                  <a:pt x="123420" y="21820"/>
                  <a:pt x="87281" y="21820"/>
                </a:cubicBezTo>
                <a:cubicBezTo>
                  <a:pt x="73132" y="21820"/>
                  <a:pt x="60039" y="26286"/>
                  <a:pt x="49368" y="33923"/>
                </a:cubicBezTo>
                <a:lnTo>
                  <a:pt x="140638" y="125193"/>
                </a:lnTo>
                <a:close/>
                <a:moveTo>
                  <a:pt x="0" y="87281"/>
                </a:moveTo>
                <a:cubicBezTo>
                  <a:pt x="0" y="39109"/>
                  <a:pt x="39109" y="0"/>
                  <a:pt x="87281" y="0"/>
                </a:cubicBezTo>
                <a:cubicBezTo>
                  <a:pt x="135452" y="0"/>
                  <a:pt x="174561" y="39109"/>
                  <a:pt x="174561" y="87281"/>
                </a:cubicBezTo>
                <a:cubicBezTo>
                  <a:pt x="174561" y="135452"/>
                  <a:pt x="135452" y="174561"/>
                  <a:pt x="87281" y="174561"/>
                </a:cubicBezTo>
                <a:cubicBezTo>
                  <a:pt x="39109" y="174561"/>
                  <a:pt x="0" y="135452"/>
                  <a:pt x="0" y="8728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4647" y="4320387"/>
            <a:ext cx="1571050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不支持非</a:t>
            </a:r>
            <a:r>
              <a:rPr lang="en-US" sz="1546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MR</a:t>
            </a: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任务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9165" y="4669509"/>
            <a:ext cx="692789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只能运行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任务,无法支持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Flink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等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57642" y="1483769"/>
            <a:ext cx="7560677" cy="3796703"/>
          </a:xfrm>
          <a:custGeom>
            <a:avLst/>
            <a:gdLst/>
            <a:ahLst/>
            <a:cxnLst/>
            <a:rect l="l" t="t" r="r" b="b"/>
            <a:pathLst>
              <a:path w="7560677" h="3796703">
                <a:moveTo>
                  <a:pt x="43640" y="0"/>
                </a:moveTo>
                <a:lnTo>
                  <a:pt x="7473390" y="0"/>
                </a:lnTo>
                <a:cubicBezTo>
                  <a:pt x="7521597" y="0"/>
                  <a:pt x="7560677" y="39079"/>
                  <a:pt x="7560677" y="87286"/>
                </a:cubicBezTo>
                <a:lnTo>
                  <a:pt x="7560677" y="3709417"/>
                </a:lnTo>
                <a:cubicBezTo>
                  <a:pt x="7560677" y="3757624"/>
                  <a:pt x="7521597" y="3796703"/>
                  <a:pt x="7473390" y="3796703"/>
                </a:cubicBezTo>
                <a:lnTo>
                  <a:pt x="43640" y="3796703"/>
                </a:lnTo>
                <a:cubicBezTo>
                  <a:pt x="19538" y="3796703"/>
                  <a:pt x="0" y="3777165"/>
                  <a:pt x="0" y="3753063"/>
                </a:cubicBezTo>
                <a:lnTo>
                  <a:pt x="0" y="43640"/>
                </a:lnTo>
                <a:cubicBezTo>
                  <a:pt x="0" y="19538"/>
                  <a:pt x="19538" y="0"/>
                  <a:pt x="4364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57642" y="1483769"/>
            <a:ext cx="43640" cy="3796703"/>
          </a:xfrm>
          <a:custGeom>
            <a:avLst/>
            <a:gdLst/>
            <a:ahLst/>
            <a:cxnLst/>
            <a:rect l="l" t="t" r="r" b="b"/>
            <a:pathLst>
              <a:path w="43640" h="3796703">
                <a:moveTo>
                  <a:pt x="43640" y="0"/>
                </a:moveTo>
                <a:lnTo>
                  <a:pt x="43640" y="0"/>
                </a:lnTo>
                <a:lnTo>
                  <a:pt x="43640" y="3796703"/>
                </a:lnTo>
                <a:lnTo>
                  <a:pt x="43640" y="3796703"/>
                </a:lnTo>
                <a:cubicBezTo>
                  <a:pt x="19538" y="3796703"/>
                  <a:pt x="0" y="3777165"/>
                  <a:pt x="0" y="375306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30394" y="1745611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118903" y="2659"/>
                </a:moveTo>
                <a:cubicBezTo>
                  <a:pt x="126523" y="-869"/>
                  <a:pt x="135319" y="-869"/>
                  <a:pt x="142939" y="2659"/>
                </a:cubicBezTo>
                <a:lnTo>
                  <a:pt x="254733" y="54312"/>
                </a:lnTo>
                <a:cubicBezTo>
                  <a:pt x="259080" y="56306"/>
                  <a:pt x="261842" y="60653"/>
                  <a:pt x="261842" y="65460"/>
                </a:cubicBezTo>
                <a:cubicBezTo>
                  <a:pt x="261842" y="70268"/>
                  <a:pt x="259080" y="74615"/>
                  <a:pt x="254733" y="76609"/>
                </a:cubicBezTo>
                <a:lnTo>
                  <a:pt x="142939" y="128261"/>
                </a:lnTo>
                <a:cubicBezTo>
                  <a:pt x="135319" y="131790"/>
                  <a:pt x="126523" y="131790"/>
                  <a:pt x="118903" y="128261"/>
                </a:cubicBezTo>
                <a:lnTo>
                  <a:pt x="7109" y="76609"/>
                </a:lnTo>
                <a:cubicBezTo>
                  <a:pt x="2762" y="74563"/>
                  <a:pt x="0" y="70217"/>
                  <a:pt x="0" y="65460"/>
                </a:cubicBezTo>
                <a:cubicBezTo>
                  <a:pt x="0" y="60704"/>
                  <a:pt x="2762" y="56306"/>
                  <a:pt x="7109" y="54312"/>
                </a:cubicBezTo>
                <a:lnTo>
                  <a:pt x="118903" y="2659"/>
                </a:lnTo>
                <a:close/>
                <a:moveTo>
                  <a:pt x="24599" y="111692"/>
                </a:moveTo>
                <a:lnTo>
                  <a:pt x="108623" y="150508"/>
                </a:lnTo>
                <a:cubicBezTo>
                  <a:pt x="122789" y="157054"/>
                  <a:pt x="139103" y="157054"/>
                  <a:pt x="153269" y="150508"/>
                </a:cubicBezTo>
                <a:lnTo>
                  <a:pt x="237294" y="111692"/>
                </a:lnTo>
                <a:lnTo>
                  <a:pt x="254733" y="119772"/>
                </a:lnTo>
                <a:cubicBezTo>
                  <a:pt x="259080" y="121767"/>
                  <a:pt x="261842" y="126114"/>
                  <a:pt x="261842" y="130921"/>
                </a:cubicBezTo>
                <a:cubicBezTo>
                  <a:pt x="261842" y="135728"/>
                  <a:pt x="259080" y="140075"/>
                  <a:pt x="254733" y="142070"/>
                </a:cubicBezTo>
                <a:lnTo>
                  <a:pt x="142939" y="193722"/>
                </a:lnTo>
                <a:cubicBezTo>
                  <a:pt x="135319" y="197251"/>
                  <a:pt x="126523" y="197251"/>
                  <a:pt x="118903" y="193722"/>
                </a:cubicBezTo>
                <a:lnTo>
                  <a:pt x="7109" y="142070"/>
                </a:lnTo>
                <a:cubicBezTo>
                  <a:pt x="2762" y="140024"/>
                  <a:pt x="0" y="135677"/>
                  <a:pt x="0" y="130921"/>
                </a:cubicBezTo>
                <a:cubicBezTo>
                  <a:pt x="0" y="126165"/>
                  <a:pt x="2762" y="121767"/>
                  <a:pt x="7109" y="119772"/>
                </a:cubicBezTo>
                <a:lnTo>
                  <a:pt x="24548" y="111692"/>
                </a:lnTo>
                <a:close/>
                <a:moveTo>
                  <a:pt x="7109" y="185232"/>
                </a:moveTo>
                <a:lnTo>
                  <a:pt x="24548" y="177152"/>
                </a:lnTo>
                <a:lnTo>
                  <a:pt x="108572" y="215968"/>
                </a:lnTo>
                <a:cubicBezTo>
                  <a:pt x="122738" y="222514"/>
                  <a:pt x="139052" y="222514"/>
                  <a:pt x="153218" y="215968"/>
                </a:cubicBezTo>
                <a:lnTo>
                  <a:pt x="237243" y="177152"/>
                </a:lnTo>
                <a:lnTo>
                  <a:pt x="254682" y="185232"/>
                </a:lnTo>
                <a:cubicBezTo>
                  <a:pt x="259029" y="187227"/>
                  <a:pt x="261790" y="191574"/>
                  <a:pt x="261790" y="196381"/>
                </a:cubicBezTo>
                <a:cubicBezTo>
                  <a:pt x="261790" y="201188"/>
                  <a:pt x="259029" y="205535"/>
                  <a:pt x="254682" y="207530"/>
                </a:cubicBezTo>
                <a:lnTo>
                  <a:pt x="142888" y="259182"/>
                </a:lnTo>
                <a:cubicBezTo>
                  <a:pt x="135268" y="262711"/>
                  <a:pt x="126472" y="262711"/>
                  <a:pt x="118852" y="259182"/>
                </a:cubicBezTo>
                <a:lnTo>
                  <a:pt x="7109" y="207530"/>
                </a:lnTo>
                <a:cubicBezTo>
                  <a:pt x="2762" y="205484"/>
                  <a:pt x="0" y="201137"/>
                  <a:pt x="0" y="196381"/>
                </a:cubicBezTo>
                <a:cubicBezTo>
                  <a:pt x="0" y="191625"/>
                  <a:pt x="2762" y="187227"/>
                  <a:pt x="7109" y="18523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24966" y="1701970"/>
            <a:ext cx="6906072" cy="349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2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en-US" sz="206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的核心:解耦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497664" y="2182013"/>
            <a:ext cx="7102454" cy="872805"/>
          </a:xfrm>
          <a:custGeom>
            <a:avLst/>
            <a:gdLst/>
            <a:ahLst/>
            <a:cxnLst/>
            <a:rect l="l" t="t" r="r" b="b"/>
            <a:pathLst>
              <a:path w="7102454" h="872805">
                <a:moveTo>
                  <a:pt x="43640" y="0"/>
                </a:moveTo>
                <a:lnTo>
                  <a:pt x="7058813" y="0"/>
                </a:lnTo>
                <a:cubicBezTo>
                  <a:pt x="7082915" y="0"/>
                  <a:pt x="7102454" y="19538"/>
                  <a:pt x="7102454" y="43640"/>
                </a:cubicBezTo>
                <a:lnTo>
                  <a:pt x="7102454" y="829165"/>
                </a:lnTo>
                <a:cubicBezTo>
                  <a:pt x="7102454" y="853267"/>
                  <a:pt x="7082915" y="872805"/>
                  <a:pt x="7058813" y="872805"/>
                </a:cubicBezTo>
                <a:lnTo>
                  <a:pt x="43640" y="872805"/>
                </a:lnTo>
                <a:cubicBezTo>
                  <a:pt x="19538" y="872805"/>
                  <a:pt x="0" y="853267"/>
                  <a:pt x="0" y="82916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650405" y="2378395"/>
            <a:ext cx="174561" cy="174561"/>
          </a:xfrm>
          <a:custGeom>
            <a:avLst/>
            <a:gdLst/>
            <a:ahLst/>
            <a:cxnLst/>
            <a:rect l="l" t="t" r="r" b="b"/>
            <a:pathLst>
              <a:path w="174561" h="174561">
                <a:moveTo>
                  <a:pt x="65460" y="87281"/>
                </a:moveTo>
                <a:lnTo>
                  <a:pt x="51993" y="100748"/>
                </a:lnTo>
                <a:cubicBezTo>
                  <a:pt x="47697" y="99077"/>
                  <a:pt x="43061" y="98191"/>
                  <a:pt x="38185" y="98191"/>
                </a:cubicBezTo>
                <a:cubicBezTo>
                  <a:pt x="17081" y="98191"/>
                  <a:pt x="0" y="115272"/>
                  <a:pt x="0" y="136376"/>
                </a:cubicBezTo>
                <a:cubicBezTo>
                  <a:pt x="0" y="157480"/>
                  <a:pt x="17081" y="174561"/>
                  <a:pt x="38185" y="174561"/>
                </a:cubicBezTo>
                <a:cubicBezTo>
                  <a:pt x="59289" y="174561"/>
                  <a:pt x="76370" y="157480"/>
                  <a:pt x="76370" y="136376"/>
                </a:cubicBezTo>
                <a:cubicBezTo>
                  <a:pt x="76370" y="131500"/>
                  <a:pt x="75450" y="126864"/>
                  <a:pt x="73813" y="122568"/>
                </a:cubicBezTo>
                <a:lnTo>
                  <a:pt x="170197" y="26184"/>
                </a:lnTo>
                <a:cubicBezTo>
                  <a:pt x="172618" y="23763"/>
                  <a:pt x="172618" y="19877"/>
                  <a:pt x="170197" y="17456"/>
                </a:cubicBezTo>
                <a:cubicBezTo>
                  <a:pt x="160548" y="7808"/>
                  <a:pt x="144933" y="7808"/>
                  <a:pt x="135285" y="17456"/>
                </a:cubicBezTo>
                <a:lnTo>
                  <a:pt x="87281" y="65460"/>
                </a:lnTo>
                <a:lnTo>
                  <a:pt x="73813" y="51993"/>
                </a:lnTo>
                <a:cubicBezTo>
                  <a:pt x="75484" y="47697"/>
                  <a:pt x="76370" y="43061"/>
                  <a:pt x="76370" y="38185"/>
                </a:cubicBezTo>
                <a:cubicBezTo>
                  <a:pt x="76370" y="17081"/>
                  <a:pt x="59289" y="0"/>
                  <a:pt x="38185" y="0"/>
                </a:cubicBezTo>
                <a:cubicBezTo>
                  <a:pt x="17081" y="0"/>
                  <a:pt x="0" y="17081"/>
                  <a:pt x="0" y="38185"/>
                </a:cubicBezTo>
                <a:cubicBezTo>
                  <a:pt x="0" y="59289"/>
                  <a:pt x="17081" y="76370"/>
                  <a:pt x="38185" y="76370"/>
                </a:cubicBezTo>
                <a:cubicBezTo>
                  <a:pt x="43061" y="76370"/>
                  <a:pt x="47697" y="75450"/>
                  <a:pt x="51993" y="73813"/>
                </a:cubicBezTo>
                <a:lnTo>
                  <a:pt x="65460" y="87281"/>
                </a:lnTo>
                <a:close/>
                <a:moveTo>
                  <a:pt x="98838" y="120659"/>
                </a:moveTo>
                <a:lnTo>
                  <a:pt x="135285" y="157105"/>
                </a:lnTo>
                <a:cubicBezTo>
                  <a:pt x="144933" y="166754"/>
                  <a:pt x="160548" y="166754"/>
                  <a:pt x="170197" y="157105"/>
                </a:cubicBezTo>
                <a:cubicBezTo>
                  <a:pt x="172618" y="154684"/>
                  <a:pt x="172618" y="150798"/>
                  <a:pt x="170197" y="148377"/>
                </a:cubicBezTo>
                <a:lnTo>
                  <a:pt x="120659" y="98838"/>
                </a:lnTo>
                <a:lnTo>
                  <a:pt x="98838" y="120659"/>
                </a:lnTo>
                <a:close/>
                <a:moveTo>
                  <a:pt x="21820" y="38185"/>
                </a:moveTo>
                <a:cubicBezTo>
                  <a:pt x="21820" y="29153"/>
                  <a:pt x="29153" y="21820"/>
                  <a:pt x="38185" y="21820"/>
                </a:cubicBezTo>
                <a:cubicBezTo>
                  <a:pt x="47217" y="21820"/>
                  <a:pt x="54550" y="29153"/>
                  <a:pt x="54550" y="38185"/>
                </a:cubicBezTo>
                <a:cubicBezTo>
                  <a:pt x="54550" y="47217"/>
                  <a:pt x="47217" y="54550"/>
                  <a:pt x="38185" y="54550"/>
                </a:cubicBezTo>
                <a:cubicBezTo>
                  <a:pt x="29153" y="54550"/>
                  <a:pt x="21820" y="47217"/>
                  <a:pt x="21820" y="38185"/>
                </a:cubicBezTo>
                <a:close/>
                <a:moveTo>
                  <a:pt x="38185" y="120011"/>
                </a:moveTo>
                <a:cubicBezTo>
                  <a:pt x="47217" y="120011"/>
                  <a:pt x="54550" y="127344"/>
                  <a:pt x="54550" y="136376"/>
                </a:cubicBezTo>
                <a:cubicBezTo>
                  <a:pt x="54550" y="145408"/>
                  <a:pt x="47217" y="152741"/>
                  <a:pt x="38185" y="152741"/>
                </a:cubicBezTo>
                <a:cubicBezTo>
                  <a:pt x="29153" y="152741"/>
                  <a:pt x="21820" y="145408"/>
                  <a:pt x="21820" y="136376"/>
                </a:cubicBezTo>
                <a:cubicBezTo>
                  <a:pt x="21820" y="127344"/>
                  <a:pt x="29153" y="120011"/>
                  <a:pt x="38185" y="12001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934066" y="2312934"/>
            <a:ext cx="3228784" cy="28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资源管理(</a:t>
            </a:r>
            <a:r>
              <a:rPr lang="en-US" sz="1546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RM</a:t>
            </a: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)与任务调度(</a:t>
            </a:r>
            <a:r>
              <a:rPr lang="en-US" sz="1546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)解耦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28585" y="2662056"/>
            <a:ext cx="692789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RM全局管理,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应用级管理,职责分离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97664" y="3185740"/>
            <a:ext cx="7102454" cy="872805"/>
          </a:xfrm>
          <a:custGeom>
            <a:avLst/>
            <a:gdLst/>
            <a:ahLst/>
            <a:cxnLst/>
            <a:rect l="l" t="t" r="r" b="b"/>
            <a:pathLst>
              <a:path w="7102454" h="872805">
                <a:moveTo>
                  <a:pt x="43640" y="0"/>
                </a:moveTo>
                <a:lnTo>
                  <a:pt x="7058813" y="0"/>
                </a:lnTo>
                <a:cubicBezTo>
                  <a:pt x="7082915" y="0"/>
                  <a:pt x="7102454" y="19538"/>
                  <a:pt x="7102454" y="43640"/>
                </a:cubicBezTo>
                <a:lnTo>
                  <a:pt x="7102454" y="829165"/>
                </a:lnTo>
                <a:cubicBezTo>
                  <a:pt x="7102454" y="853267"/>
                  <a:pt x="7082915" y="872805"/>
                  <a:pt x="7058813" y="872805"/>
                </a:cubicBezTo>
                <a:lnTo>
                  <a:pt x="43640" y="872805"/>
                </a:lnTo>
                <a:cubicBezTo>
                  <a:pt x="19538" y="872805"/>
                  <a:pt x="0" y="853267"/>
                  <a:pt x="0" y="82916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28585" y="3382121"/>
            <a:ext cx="218201" cy="174561"/>
          </a:xfrm>
          <a:custGeom>
            <a:avLst/>
            <a:gdLst/>
            <a:ahLst/>
            <a:cxnLst/>
            <a:rect l="l" t="t" r="r" b="b"/>
            <a:pathLst>
              <a:path w="218201" h="174561">
                <a:moveTo>
                  <a:pt x="109101" y="5455"/>
                </a:moveTo>
                <a:cubicBezTo>
                  <a:pt x="128670" y="5455"/>
                  <a:pt x="144558" y="21343"/>
                  <a:pt x="144558" y="40913"/>
                </a:cubicBezTo>
                <a:cubicBezTo>
                  <a:pt x="144558" y="60482"/>
                  <a:pt x="128670" y="76370"/>
                  <a:pt x="109101" y="76370"/>
                </a:cubicBezTo>
                <a:cubicBezTo>
                  <a:pt x="89531" y="76370"/>
                  <a:pt x="73643" y="60482"/>
                  <a:pt x="73643" y="40913"/>
                </a:cubicBezTo>
                <a:cubicBezTo>
                  <a:pt x="73643" y="21343"/>
                  <a:pt x="89531" y="5455"/>
                  <a:pt x="109101" y="5455"/>
                </a:cubicBezTo>
                <a:close/>
                <a:moveTo>
                  <a:pt x="32730" y="30003"/>
                </a:moveTo>
                <a:cubicBezTo>
                  <a:pt x="46278" y="30003"/>
                  <a:pt x="57278" y="41002"/>
                  <a:pt x="57278" y="54550"/>
                </a:cubicBezTo>
                <a:cubicBezTo>
                  <a:pt x="57278" y="68099"/>
                  <a:pt x="46278" y="79098"/>
                  <a:pt x="32730" y="79098"/>
                </a:cubicBezTo>
                <a:cubicBezTo>
                  <a:pt x="19182" y="79098"/>
                  <a:pt x="8183" y="68099"/>
                  <a:pt x="8183" y="54550"/>
                </a:cubicBezTo>
                <a:cubicBezTo>
                  <a:pt x="8183" y="41002"/>
                  <a:pt x="19182" y="30003"/>
                  <a:pt x="32730" y="30003"/>
                </a:cubicBezTo>
                <a:close/>
                <a:moveTo>
                  <a:pt x="0" y="141831"/>
                </a:moveTo>
                <a:cubicBezTo>
                  <a:pt x="0" y="117726"/>
                  <a:pt x="19536" y="98191"/>
                  <a:pt x="43640" y="98191"/>
                </a:cubicBezTo>
                <a:cubicBezTo>
                  <a:pt x="48004" y="98191"/>
                  <a:pt x="52232" y="98838"/>
                  <a:pt x="56221" y="100032"/>
                </a:cubicBezTo>
                <a:cubicBezTo>
                  <a:pt x="45004" y="112578"/>
                  <a:pt x="38185" y="129148"/>
                  <a:pt x="38185" y="147286"/>
                </a:cubicBezTo>
                <a:lnTo>
                  <a:pt x="38185" y="152741"/>
                </a:lnTo>
                <a:cubicBezTo>
                  <a:pt x="38185" y="156628"/>
                  <a:pt x="39003" y="160310"/>
                  <a:pt x="40470" y="163651"/>
                </a:cubicBezTo>
                <a:lnTo>
                  <a:pt x="10910" y="163651"/>
                </a:lnTo>
                <a:cubicBezTo>
                  <a:pt x="4875" y="163651"/>
                  <a:pt x="0" y="158776"/>
                  <a:pt x="0" y="152741"/>
                </a:cubicBezTo>
                <a:lnTo>
                  <a:pt x="0" y="141831"/>
                </a:lnTo>
                <a:close/>
                <a:moveTo>
                  <a:pt x="177732" y="163651"/>
                </a:moveTo>
                <a:cubicBezTo>
                  <a:pt x="179198" y="160310"/>
                  <a:pt x="180016" y="156628"/>
                  <a:pt x="180016" y="152741"/>
                </a:cubicBezTo>
                <a:lnTo>
                  <a:pt x="180016" y="147286"/>
                </a:lnTo>
                <a:cubicBezTo>
                  <a:pt x="180016" y="129148"/>
                  <a:pt x="173197" y="112578"/>
                  <a:pt x="161980" y="100032"/>
                </a:cubicBezTo>
                <a:cubicBezTo>
                  <a:pt x="165969" y="98838"/>
                  <a:pt x="170197" y="98191"/>
                  <a:pt x="174561" y="98191"/>
                </a:cubicBezTo>
                <a:cubicBezTo>
                  <a:pt x="198666" y="98191"/>
                  <a:pt x="218201" y="117726"/>
                  <a:pt x="218201" y="141831"/>
                </a:cubicBezTo>
                <a:lnTo>
                  <a:pt x="218201" y="152741"/>
                </a:lnTo>
                <a:cubicBezTo>
                  <a:pt x="218201" y="158776"/>
                  <a:pt x="213326" y="163651"/>
                  <a:pt x="207291" y="163651"/>
                </a:cubicBezTo>
                <a:lnTo>
                  <a:pt x="177732" y="163651"/>
                </a:lnTo>
                <a:close/>
                <a:moveTo>
                  <a:pt x="160923" y="54550"/>
                </a:moveTo>
                <a:cubicBezTo>
                  <a:pt x="160923" y="41002"/>
                  <a:pt x="171923" y="30003"/>
                  <a:pt x="185471" y="30003"/>
                </a:cubicBezTo>
                <a:cubicBezTo>
                  <a:pt x="199019" y="30003"/>
                  <a:pt x="210019" y="41002"/>
                  <a:pt x="210019" y="54550"/>
                </a:cubicBezTo>
                <a:cubicBezTo>
                  <a:pt x="210019" y="68099"/>
                  <a:pt x="199019" y="79098"/>
                  <a:pt x="185471" y="79098"/>
                </a:cubicBezTo>
                <a:cubicBezTo>
                  <a:pt x="171923" y="79098"/>
                  <a:pt x="160923" y="68099"/>
                  <a:pt x="160923" y="54550"/>
                </a:cubicBezTo>
                <a:close/>
                <a:moveTo>
                  <a:pt x="54550" y="147286"/>
                </a:moveTo>
                <a:cubicBezTo>
                  <a:pt x="54550" y="117147"/>
                  <a:pt x="78962" y="92736"/>
                  <a:pt x="109101" y="92736"/>
                </a:cubicBezTo>
                <a:cubicBezTo>
                  <a:pt x="139240" y="92736"/>
                  <a:pt x="163651" y="117147"/>
                  <a:pt x="163651" y="147286"/>
                </a:cubicBezTo>
                <a:lnTo>
                  <a:pt x="163651" y="152741"/>
                </a:lnTo>
                <a:cubicBezTo>
                  <a:pt x="163651" y="158776"/>
                  <a:pt x="158776" y="163651"/>
                  <a:pt x="152741" y="163651"/>
                </a:cubicBezTo>
                <a:lnTo>
                  <a:pt x="65460" y="163651"/>
                </a:lnTo>
                <a:cubicBezTo>
                  <a:pt x="59426" y="163651"/>
                  <a:pt x="54550" y="158776"/>
                  <a:pt x="54550" y="152741"/>
                </a:cubicBezTo>
                <a:lnTo>
                  <a:pt x="54550" y="147286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34066" y="3316660"/>
            <a:ext cx="1669240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支持多种计算框架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28585" y="3665783"/>
            <a:ext cx="692789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Flink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等共享集群资源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497664" y="4189466"/>
            <a:ext cx="7102454" cy="872805"/>
          </a:xfrm>
          <a:custGeom>
            <a:avLst/>
            <a:gdLst/>
            <a:ahLst/>
            <a:cxnLst/>
            <a:rect l="l" t="t" r="r" b="b"/>
            <a:pathLst>
              <a:path w="7102454" h="872805">
                <a:moveTo>
                  <a:pt x="43640" y="0"/>
                </a:moveTo>
                <a:lnTo>
                  <a:pt x="7058813" y="0"/>
                </a:lnTo>
                <a:cubicBezTo>
                  <a:pt x="7082915" y="0"/>
                  <a:pt x="7102454" y="19538"/>
                  <a:pt x="7102454" y="43640"/>
                </a:cubicBezTo>
                <a:lnTo>
                  <a:pt x="7102454" y="829165"/>
                </a:lnTo>
                <a:cubicBezTo>
                  <a:pt x="7102454" y="853267"/>
                  <a:pt x="7082915" y="872805"/>
                  <a:pt x="7058813" y="872805"/>
                </a:cubicBezTo>
                <a:lnTo>
                  <a:pt x="43640" y="872805"/>
                </a:lnTo>
                <a:cubicBezTo>
                  <a:pt x="19538" y="872805"/>
                  <a:pt x="0" y="853267"/>
                  <a:pt x="0" y="82916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661315" y="4385847"/>
            <a:ext cx="152741" cy="174561"/>
          </a:xfrm>
          <a:custGeom>
            <a:avLst/>
            <a:gdLst/>
            <a:ahLst/>
            <a:cxnLst/>
            <a:rect l="l" t="t" r="r" b="b"/>
            <a:pathLst>
              <a:path w="152741" h="174561">
                <a:moveTo>
                  <a:pt x="10910" y="10910"/>
                </a:moveTo>
                <a:cubicBezTo>
                  <a:pt x="4875" y="10910"/>
                  <a:pt x="0" y="15786"/>
                  <a:pt x="0" y="21820"/>
                </a:cubicBezTo>
                <a:lnTo>
                  <a:pt x="0" y="54550"/>
                </a:lnTo>
                <a:cubicBezTo>
                  <a:pt x="0" y="60585"/>
                  <a:pt x="4875" y="65460"/>
                  <a:pt x="10910" y="65460"/>
                </a:cubicBezTo>
                <a:cubicBezTo>
                  <a:pt x="16945" y="65460"/>
                  <a:pt x="21820" y="60585"/>
                  <a:pt x="21820" y="54550"/>
                </a:cubicBezTo>
                <a:lnTo>
                  <a:pt x="21820" y="32730"/>
                </a:lnTo>
                <a:lnTo>
                  <a:pt x="43640" y="32730"/>
                </a:lnTo>
                <a:cubicBezTo>
                  <a:pt x="49675" y="32730"/>
                  <a:pt x="54550" y="27855"/>
                  <a:pt x="54550" y="21820"/>
                </a:cubicBezTo>
                <a:cubicBezTo>
                  <a:pt x="54550" y="15786"/>
                  <a:pt x="49675" y="10910"/>
                  <a:pt x="43640" y="10910"/>
                </a:cubicBezTo>
                <a:lnTo>
                  <a:pt x="10910" y="10910"/>
                </a:lnTo>
                <a:close/>
                <a:moveTo>
                  <a:pt x="21820" y="120011"/>
                </a:moveTo>
                <a:cubicBezTo>
                  <a:pt x="21820" y="113976"/>
                  <a:pt x="16945" y="109101"/>
                  <a:pt x="10910" y="109101"/>
                </a:cubicBezTo>
                <a:cubicBezTo>
                  <a:pt x="4875" y="109101"/>
                  <a:pt x="0" y="113976"/>
                  <a:pt x="0" y="120011"/>
                </a:cubicBezTo>
                <a:lnTo>
                  <a:pt x="0" y="152741"/>
                </a:lnTo>
                <a:cubicBezTo>
                  <a:pt x="0" y="158776"/>
                  <a:pt x="4875" y="163651"/>
                  <a:pt x="10910" y="163651"/>
                </a:cubicBezTo>
                <a:lnTo>
                  <a:pt x="43640" y="163651"/>
                </a:lnTo>
                <a:cubicBezTo>
                  <a:pt x="49675" y="163651"/>
                  <a:pt x="54550" y="158776"/>
                  <a:pt x="54550" y="152741"/>
                </a:cubicBezTo>
                <a:cubicBezTo>
                  <a:pt x="54550" y="146706"/>
                  <a:pt x="49675" y="141831"/>
                  <a:pt x="43640" y="141831"/>
                </a:cubicBezTo>
                <a:lnTo>
                  <a:pt x="21820" y="141831"/>
                </a:lnTo>
                <a:lnTo>
                  <a:pt x="21820" y="120011"/>
                </a:lnTo>
                <a:close/>
                <a:moveTo>
                  <a:pt x="109101" y="10910"/>
                </a:moveTo>
                <a:cubicBezTo>
                  <a:pt x="103066" y="10910"/>
                  <a:pt x="98191" y="15786"/>
                  <a:pt x="98191" y="21820"/>
                </a:cubicBezTo>
                <a:cubicBezTo>
                  <a:pt x="98191" y="27855"/>
                  <a:pt x="103066" y="32730"/>
                  <a:pt x="109101" y="32730"/>
                </a:cubicBezTo>
                <a:lnTo>
                  <a:pt x="130921" y="32730"/>
                </a:lnTo>
                <a:lnTo>
                  <a:pt x="130921" y="54550"/>
                </a:lnTo>
                <a:cubicBezTo>
                  <a:pt x="130921" y="60585"/>
                  <a:pt x="135796" y="65460"/>
                  <a:pt x="141831" y="65460"/>
                </a:cubicBezTo>
                <a:cubicBezTo>
                  <a:pt x="147866" y="65460"/>
                  <a:pt x="152741" y="60585"/>
                  <a:pt x="152741" y="54550"/>
                </a:cubicBezTo>
                <a:lnTo>
                  <a:pt x="152741" y="21820"/>
                </a:lnTo>
                <a:cubicBezTo>
                  <a:pt x="152741" y="15786"/>
                  <a:pt x="147866" y="10910"/>
                  <a:pt x="141831" y="10910"/>
                </a:cubicBezTo>
                <a:lnTo>
                  <a:pt x="109101" y="10910"/>
                </a:lnTo>
                <a:close/>
                <a:moveTo>
                  <a:pt x="152741" y="120011"/>
                </a:moveTo>
                <a:cubicBezTo>
                  <a:pt x="152741" y="113976"/>
                  <a:pt x="147866" y="109101"/>
                  <a:pt x="141831" y="109101"/>
                </a:cubicBezTo>
                <a:cubicBezTo>
                  <a:pt x="135796" y="109101"/>
                  <a:pt x="130921" y="113976"/>
                  <a:pt x="130921" y="120011"/>
                </a:cubicBezTo>
                <a:lnTo>
                  <a:pt x="130921" y="141831"/>
                </a:lnTo>
                <a:lnTo>
                  <a:pt x="109101" y="141831"/>
                </a:lnTo>
                <a:cubicBezTo>
                  <a:pt x="103066" y="141831"/>
                  <a:pt x="98191" y="146706"/>
                  <a:pt x="98191" y="152741"/>
                </a:cubicBezTo>
                <a:cubicBezTo>
                  <a:pt x="98191" y="158776"/>
                  <a:pt x="103066" y="163651"/>
                  <a:pt x="109101" y="163651"/>
                </a:cubicBezTo>
                <a:lnTo>
                  <a:pt x="141831" y="163651"/>
                </a:lnTo>
                <a:cubicBezTo>
                  <a:pt x="147866" y="163651"/>
                  <a:pt x="152741" y="158776"/>
                  <a:pt x="152741" y="152741"/>
                </a:cubicBezTo>
                <a:lnTo>
                  <a:pt x="152741" y="120011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934066" y="4320387"/>
            <a:ext cx="1080097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提升扩展性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628585" y="4669509"/>
            <a:ext cx="692789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支持更大规模集群(上万节点),资源利用率提升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1858" y="5460489"/>
            <a:ext cx="15372285" cy="3240290"/>
          </a:xfrm>
          <a:custGeom>
            <a:avLst/>
            <a:gdLst/>
            <a:ahLst/>
            <a:cxnLst/>
            <a:rect l="l" t="t" r="r" b="b"/>
            <a:pathLst>
              <a:path w="15372285" h="3240290">
                <a:moveTo>
                  <a:pt x="87293" y="0"/>
                </a:moveTo>
                <a:lnTo>
                  <a:pt x="15284991" y="0"/>
                </a:lnTo>
                <a:cubicBezTo>
                  <a:pt x="15333202" y="0"/>
                  <a:pt x="15372285" y="39083"/>
                  <a:pt x="15372285" y="87293"/>
                </a:cubicBezTo>
                <a:lnTo>
                  <a:pt x="15372285" y="3152997"/>
                </a:lnTo>
                <a:cubicBezTo>
                  <a:pt x="15372285" y="3201207"/>
                  <a:pt x="15333202" y="3240290"/>
                  <a:pt x="15284991" y="3240290"/>
                </a:cubicBezTo>
                <a:lnTo>
                  <a:pt x="87293" y="3240290"/>
                </a:lnTo>
                <a:cubicBezTo>
                  <a:pt x="39083" y="3240290"/>
                  <a:pt x="0" y="3201207"/>
                  <a:pt x="0" y="3152997"/>
                </a:cubicBezTo>
                <a:lnTo>
                  <a:pt x="0" y="87293"/>
                </a:lnTo>
                <a:cubicBezTo>
                  <a:pt x="0" y="39083"/>
                  <a:pt x="39083" y="0"/>
                  <a:pt x="8729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98244" y="5727785"/>
            <a:ext cx="261842" cy="261842"/>
          </a:xfrm>
          <a:custGeom>
            <a:avLst/>
            <a:gdLst/>
            <a:ahLst/>
            <a:cxnLst/>
            <a:rect l="l" t="t" r="r" b="b"/>
            <a:pathLst>
              <a:path w="261842" h="261842">
                <a:moveTo>
                  <a:pt x="98191" y="32730"/>
                </a:moveTo>
                <a:cubicBezTo>
                  <a:pt x="98191" y="23678"/>
                  <a:pt x="105504" y="16365"/>
                  <a:pt x="114556" y="16365"/>
                </a:cubicBezTo>
                <a:lnTo>
                  <a:pt x="147286" y="16365"/>
                </a:lnTo>
                <a:cubicBezTo>
                  <a:pt x="156338" y="16365"/>
                  <a:pt x="163651" y="23678"/>
                  <a:pt x="163651" y="32730"/>
                </a:cubicBezTo>
                <a:lnTo>
                  <a:pt x="163651" y="65460"/>
                </a:lnTo>
                <a:cubicBezTo>
                  <a:pt x="163651" y="74512"/>
                  <a:pt x="156338" y="81826"/>
                  <a:pt x="147286" y="81826"/>
                </a:cubicBezTo>
                <a:lnTo>
                  <a:pt x="143195" y="81826"/>
                </a:lnTo>
                <a:lnTo>
                  <a:pt x="143195" y="114556"/>
                </a:lnTo>
                <a:lnTo>
                  <a:pt x="204564" y="114556"/>
                </a:lnTo>
                <a:cubicBezTo>
                  <a:pt x="224918" y="114556"/>
                  <a:pt x="241385" y="131023"/>
                  <a:pt x="241385" y="151377"/>
                </a:cubicBezTo>
                <a:lnTo>
                  <a:pt x="241385" y="180016"/>
                </a:lnTo>
                <a:lnTo>
                  <a:pt x="245477" y="180016"/>
                </a:lnTo>
                <a:cubicBezTo>
                  <a:pt x="254528" y="180016"/>
                  <a:pt x="261842" y="187329"/>
                  <a:pt x="261842" y="196381"/>
                </a:cubicBezTo>
                <a:lnTo>
                  <a:pt x="261842" y="229111"/>
                </a:lnTo>
                <a:cubicBezTo>
                  <a:pt x="261842" y="238163"/>
                  <a:pt x="254528" y="245477"/>
                  <a:pt x="245477" y="245477"/>
                </a:cubicBezTo>
                <a:lnTo>
                  <a:pt x="212746" y="245477"/>
                </a:lnTo>
                <a:cubicBezTo>
                  <a:pt x="203694" y="245477"/>
                  <a:pt x="196381" y="238163"/>
                  <a:pt x="196381" y="229111"/>
                </a:cubicBezTo>
                <a:lnTo>
                  <a:pt x="196381" y="196381"/>
                </a:lnTo>
                <a:cubicBezTo>
                  <a:pt x="196381" y="187329"/>
                  <a:pt x="203694" y="180016"/>
                  <a:pt x="212746" y="180016"/>
                </a:cubicBezTo>
                <a:lnTo>
                  <a:pt x="216838" y="180016"/>
                </a:lnTo>
                <a:lnTo>
                  <a:pt x="216838" y="151377"/>
                </a:lnTo>
                <a:cubicBezTo>
                  <a:pt x="216838" y="144575"/>
                  <a:pt x="211366" y="139103"/>
                  <a:pt x="204564" y="139103"/>
                </a:cubicBezTo>
                <a:lnTo>
                  <a:pt x="143195" y="139103"/>
                </a:lnTo>
                <a:lnTo>
                  <a:pt x="143195" y="180016"/>
                </a:lnTo>
                <a:lnTo>
                  <a:pt x="147286" y="180016"/>
                </a:lnTo>
                <a:cubicBezTo>
                  <a:pt x="156338" y="180016"/>
                  <a:pt x="163651" y="187329"/>
                  <a:pt x="163651" y="196381"/>
                </a:cubicBezTo>
                <a:lnTo>
                  <a:pt x="163651" y="229111"/>
                </a:lnTo>
                <a:cubicBezTo>
                  <a:pt x="163651" y="238163"/>
                  <a:pt x="156338" y="245477"/>
                  <a:pt x="147286" y="245477"/>
                </a:cubicBezTo>
                <a:lnTo>
                  <a:pt x="114556" y="245477"/>
                </a:lnTo>
                <a:cubicBezTo>
                  <a:pt x="105504" y="245477"/>
                  <a:pt x="98191" y="238163"/>
                  <a:pt x="98191" y="229111"/>
                </a:cubicBezTo>
                <a:lnTo>
                  <a:pt x="98191" y="196381"/>
                </a:lnTo>
                <a:cubicBezTo>
                  <a:pt x="98191" y="187329"/>
                  <a:pt x="105504" y="180016"/>
                  <a:pt x="114556" y="180016"/>
                </a:cubicBezTo>
                <a:lnTo>
                  <a:pt x="118647" y="180016"/>
                </a:lnTo>
                <a:lnTo>
                  <a:pt x="118647" y="139103"/>
                </a:lnTo>
                <a:lnTo>
                  <a:pt x="57278" y="139103"/>
                </a:lnTo>
                <a:cubicBezTo>
                  <a:pt x="50476" y="139103"/>
                  <a:pt x="45004" y="144575"/>
                  <a:pt x="45004" y="151377"/>
                </a:cubicBezTo>
                <a:lnTo>
                  <a:pt x="45004" y="180016"/>
                </a:lnTo>
                <a:lnTo>
                  <a:pt x="49095" y="180016"/>
                </a:lnTo>
                <a:cubicBezTo>
                  <a:pt x="58147" y="180016"/>
                  <a:pt x="65460" y="187329"/>
                  <a:pt x="65460" y="196381"/>
                </a:cubicBezTo>
                <a:lnTo>
                  <a:pt x="65460" y="229111"/>
                </a:lnTo>
                <a:cubicBezTo>
                  <a:pt x="65460" y="238163"/>
                  <a:pt x="58147" y="245477"/>
                  <a:pt x="49095" y="245477"/>
                </a:cubicBezTo>
                <a:lnTo>
                  <a:pt x="16365" y="245477"/>
                </a:lnTo>
                <a:cubicBezTo>
                  <a:pt x="7313" y="245477"/>
                  <a:pt x="0" y="238163"/>
                  <a:pt x="0" y="229111"/>
                </a:cubicBezTo>
                <a:lnTo>
                  <a:pt x="0" y="196381"/>
                </a:lnTo>
                <a:cubicBezTo>
                  <a:pt x="0" y="187329"/>
                  <a:pt x="7313" y="180016"/>
                  <a:pt x="16365" y="180016"/>
                </a:cubicBezTo>
                <a:lnTo>
                  <a:pt x="20456" y="180016"/>
                </a:lnTo>
                <a:lnTo>
                  <a:pt x="20456" y="151377"/>
                </a:lnTo>
                <a:cubicBezTo>
                  <a:pt x="20456" y="131023"/>
                  <a:pt x="36924" y="114556"/>
                  <a:pt x="57278" y="114556"/>
                </a:cubicBezTo>
                <a:lnTo>
                  <a:pt x="118647" y="114556"/>
                </a:lnTo>
                <a:lnTo>
                  <a:pt x="118647" y="81826"/>
                </a:lnTo>
                <a:lnTo>
                  <a:pt x="114556" y="81826"/>
                </a:lnTo>
                <a:cubicBezTo>
                  <a:pt x="105504" y="81826"/>
                  <a:pt x="98191" y="74512"/>
                  <a:pt x="98191" y="65460"/>
                </a:cubicBezTo>
                <a:lnTo>
                  <a:pt x="98191" y="3273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2816" y="5684145"/>
            <a:ext cx="14728591" cy="349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2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en-US" sz="206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核心组件与职责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65514" y="6229648"/>
            <a:ext cx="3600322" cy="2247474"/>
          </a:xfrm>
          <a:custGeom>
            <a:avLst/>
            <a:gdLst/>
            <a:ahLst/>
            <a:cxnLst/>
            <a:rect l="l" t="t" r="r" b="b"/>
            <a:pathLst>
              <a:path w="3600322" h="2247474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2160204"/>
                </a:lnTo>
                <a:cubicBezTo>
                  <a:pt x="3600322" y="2208402"/>
                  <a:pt x="3561250" y="2247474"/>
                  <a:pt x="3513053" y="2247474"/>
                </a:cubicBezTo>
                <a:lnTo>
                  <a:pt x="87269" y="2247474"/>
                </a:lnTo>
                <a:cubicBezTo>
                  <a:pt x="39072" y="2247474"/>
                  <a:pt x="0" y="2208402"/>
                  <a:pt x="0" y="2160204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65514" y="6229648"/>
            <a:ext cx="3600322" cy="43640"/>
          </a:xfrm>
          <a:custGeom>
            <a:avLst/>
            <a:gdLst/>
            <a:ahLst/>
            <a:cxnLst/>
            <a:rect l="l" t="t" r="r" b="b"/>
            <a:pathLst>
              <a:path w="3600322" h="43640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43640"/>
                </a:lnTo>
                <a:lnTo>
                  <a:pt x="0" y="43640"/>
                </a:ln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159852" y="6426030"/>
            <a:ext cx="610964" cy="610964"/>
          </a:xfrm>
          <a:custGeom>
            <a:avLst/>
            <a:gdLst/>
            <a:ahLst/>
            <a:cxnLst/>
            <a:rect l="l" t="t" r="r" b="b"/>
            <a:pathLst>
              <a:path w="610964" h="610964">
                <a:moveTo>
                  <a:pt x="305482" y="0"/>
                </a:moveTo>
                <a:lnTo>
                  <a:pt x="305482" y="0"/>
                </a:lnTo>
                <a:cubicBezTo>
                  <a:pt x="474195" y="0"/>
                  <a:pt x="610964" y="136769"/>
                  <a:pt x="610964" y="305482"/>
                </a:cubicBezTo>
                <a:lnTo>
                  <a:pt x="610964" y="305482"/>
                </a:lnTo>
                <a:cubicBezTo>
                  <a:pt x="610964" y="474195"/>
                  <a:pt x="474195" y="610964"/>
                  <a:pt x="305482" y="610964"/>
                </a:cubicBezTo>
                <a:lnTo>
                  <a:pt x="305482" y="610964"/>
                </a:lnTo>
                <a:cubicBezTo>
                  <a:pt x="136769" y="610964"/>
                  <a:pt x="0" y="474195"/>
                  <a:pt x="0" y="305482"/>
                </a:cubicBezTo>
                <a:lnTo>
                  <a:pt x="0" y="305482"/>
                </a:lnTo>
                <a:cubicBezTo>
                  <a:pt x="0" y="136769"/>
                  <a:pt x="136769" y="0"/>
                  <a:pt x="30548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094392" y="6426030"/>
            <a:ext cx="741885" cy="61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RM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85525" y="7124274"/>
            <a:ext cx="3360301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1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ResourceManager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40075" y="7560677"/>
            <a:ext cx="3327570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定位: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全局资源管理器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0075" y="7866158"/>
            <a:ext cx="3327570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职责: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资源分配与调度,处理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请求,监控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NM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439715" y="6229648"/>
            <a:ext cx="3600322" cy="2247474"/>
          </a:xfrm>
          <a:custGeom>
            <a:avLst/>
            <a:gdLst/>
            <a:ahLst/>
            <a:cxnLst/>
            <a:rect l="l" t="t" r="r" b="b"/>
            <a:pathLst>
              <a:path w="3600322" h="2247474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2160204"/>
                </a:lnTo>
                <a:cubicBezTo>
                  <a:pt x="3600322" y="2208402"/>
                  <a:pt x="3561250" y="2247474"/>
                  <a:pt x="3513053" y="2247474"/>
                </a:cubicBezTo>
                <a:lnTo>
                  <a:pt x="87269" y="2247474"/>
                </a:lnTo>
                <a:cubicBezTo>
                  <a:pt x="39072" y="2247474"/>
                  <a:pt x="0" y="2208402"/>
                  <a:pt x="0" y="2160204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439715" y="6229648"/>
            <a:ext cx="3600322" cy="43640"/>
          </a:xfrm>
          <a:custGeom>
            <a:avLst/>
            <a:gdLst/>
            <a:ahLst/>
            <a:cxnLst/>
            <a:rect l="l" t="t" r="r" b="b"/>
            <a:pathLst>
              <a:path w="3600322" h="43640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43640"/>
                </a:lnTo>
                <a:lnTo>
                  <a:pt x="0" y="43640"/>
                </a:ln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934054" y="6426030"/>
            <a:ext cx="610964" cy="610964"/>
          </a:xfrm>
          <a:custGeom>
            <a:avLst/>
            <a:gdLst/>
            <a:ahLst/>
            <a:cxnLst/>
            <a:rect l="l" t="t" r="r" b="b"/>
            <a:pathLst>
              <a:path w="610964" h="610964">
                <a:moveTo>
                  <a:pt x="305482" y="0"/>
                </a:moveTo>
                <a:lnTo>
                  <a:pt x="305482" y="0"/>
                </a:lnTo>
                <a:cubicBezTo>
                  <a:pt x="474195" y="0"/>
                  <a:pt x="610964" y="136769"/>
                  <a:pt x="610964" y="305482"/>
                </a:cubicBezTo>
                <a:lnTo>
                  <a:pt x="610964" y="305482"/>
                </a:lnTo>
                <a:cubicBezTo>
                  <a:pt x="610964" y="474195"/>
                  <a:pt x="474195" y="610964"/>
                  <a:pt x="305482" y="610964"/>
                </a:cubicBezTo>
                <a:lnTo>
                  <a:pt x="305482" y="610964"/>
                </a:lnTo>
                <a:cubicBezTo>
                  <a:pt x="136769" y="610964"/>
                  <a:pt x="0" y="474195"/>
                  <a:pt x="0" y="305482"/>
                </a:cubicBezTo>
                <a:lnTo>
                  <a:pt x="0" y="305482"/>
                </a:lnTo>
                <a:cubicBezTo>
                  <a:pt x="0" y="136769"/>
                  <a:pt x="136769" y="0"/>
                  <a:pt x="305482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868593" y="6426030"/>
            <a:ext cx="741885" cy="61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NM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559726" y="7124274"/>
            <a:ext cx="3360301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1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NodeManager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614277" y="7560677"/>
            <a:ext cx="3327570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定位: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单节点代理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614277" y="7866158"/>
            <a:ext cx="3327570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职责: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管理容器生命周期,汇报资源使用情况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214002" y="6229648"/>
            <a:ext cx="3600322" cy="2247474"/>
          </a:xfrm>
          <a:custGeom>
            <a:avLst/>
            <a:gdLst/>
            <a:ahLst/>
            <a:cxnLst/>
            <a:rect l="l" t="t" r="r" b="b"/>
            <a:pathLst>
              <a:path w="3600322" h="2247474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2160204"/>
                </a:lnTo>
                <a:cubicBezTo>
                  <a:pt x="3600322" y="2208402"/>
                  <a:pt x="3561250" y="2247474"/>
                  <a:pt x="3513053" y="2247474"/>
                </a:cubicBezTo>
                <a:lnTo>
                  <a:pt x="87269" y="2247474"/>
                </a:lnTo>
                <a:cubicBezTo>
                  <a:pt x="39072" y="2247474"/>
                  <a:pt x="0" y="2208402"/>
                  <a:pt x="0" y="2160204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214002" y="6229648"/>
            <a:ext cx="3600322" cy="43640"/>
          </a:xfrm>
          <a:custGeom>
            <a:avLst/>
            <a:gdLst/>
            <a:ahLst/>
            <a:cxnLst/>
            <a:rect l="l" t="t" r="r" b="b"/>
            <a:pathLst>
              <a:path w="3600322" h="43640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43640"/>
                </a:lnTo>
                <a:lnTo>
                  <a:pt x="0" y="43640"/>
                </a:ln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708340" y="6426030"/>
            <a:ext cx="610964" cy="610964"/>
          </a:xfrm>
          <a:custGeom>
            <a:avLst/>
            <a:gdLst/>
            <a:ahLst/>
            <a:cxnLst/>
            <a:rect l="l" t="t" r="r" b="b"/>
            <a:pathLst>
              <a:path w="610964" h="610964">
                <a:moveTo>
                  <a:pt x="305482" y="0"/>
                </a:moveTo>
                <a:lnTo>
                  <a:pt x="305482" y="0"/>
                </a:lnTo>
                <a:cubicBezTo>
                  <a:pt x="474195" y="0"/>
                  <a:pt x="610964" y="136769"/>
                  <a:pt x="610964" y="305482"/>
                </a:cubicBezTo>
                <a:lnTo>
                  <a:pt x="610964" y="305482"/>
                </a:lnTo>
                <a:cubicBezTo>
                  <a:pt x="610964" y="474195"/>
                  <a:pt x="474195" y="610964"/>
                  <a:pt x="305482" y="610964"/>
                </a:cubicBezTo>
                <a:lnTo>
                  <a:pt x="305482" y="610964"/>
                </a:lnTo>
                <a:cubicBezTo>
                  <a:pt x="136769" y="610964"/>
                  <a:pt x="0" y="474195"/>
                  <a:pt x="0" y="305482"/>
                </a:cubicBezTo>
                <a:lnTo>
                  <a:pt x="0" y="305482"/>
                </a:lnTo>
                <a:cubicBezTo>
                  <a:pt x="0" y="136769"/>
                  <a:pt x="136769" y="0"/>
                  <a:pt x="30548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642880" y="6426030"/>
            <a:ext cx="741885" cy="61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334013" y="7124274"/>
            <a:ext cx="3360301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1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ApplicationMaster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388563" y="7560677"/>
            <a:ext cx="3327570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定位: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每个应用一个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388562" y="7866158"/>
            <a:ext cx="3501535" cy="43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职责: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向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RM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申请资源,与NM交互启动/停止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Container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1988289" y="6229648"/>
            <a:ext cx="3600322" cy="2247474"/>
          </a:xfrm>
          <a:custGeom>
            <a:avLst/>
            <a:gdLst/>
            <a:ahLst/>
            <a:cxnLst/>
            <a:rect l="l" t="t" r="r" b="b"/>
            <a:pathLst>
              <a:path w="3600322" h="2247474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2160204"/>
                </a:lnTo>
                <a:cubicBezTo>
                  <a:pt x="3600322" y="2208402"/>
                  <a:pt x="3561250" y="2247474"/>
                  <a:pt x="3513053" y="2247474"/>
                </a:cubicBezTo>
                <a:lnTo>
                  <a:pt x="87269" y="2247474"/>
                </a:lnTo>
                <a:cubicBezTo>
                  <a:pt x="39072" y="2247474"/>
                  <a:pt x="0" y="2208402"/>
                  <a:pt x="0" y="2160204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1988289" y="6229648"/>
            <a:ext cx="3600322" cy="43640"/>
          </a:xfrm>
          <a:custGeom>
            <a:avLst/>
            <a:gdLst/>
            <a:ahLst/>
            <a:cxnLst/>
            <a:rect l="l" t="t" r="r" b="b"/>
            <a:pathLst>
              <a:path w="3600322" h="43640">
                <a:moveTo>
                  <a:pt x="43640" y="0"/>
                </a:moveTo>
                <a:lnTo>
                  <a:pt x="3556682" y="0"/>
                </a:lnTo>
                <a:cubicBezTo>
                  <a:pt x="3580784" y="0"/>
                  <a:pt x="3600322" y="19538"/>
                  <a:pt x="3600322" y="43640"/>
                </a:cubicBezTo>
                <a:lnTo>
                  <a:pt x="3600322" y="43640"/>
                </a:lnTo>
                <a:lnTo>
                  <a:pt x="0" y="43640"/>
                </a:ln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3482627" y="6426030"/>
            <a:ext cx="610964" cy="610964"/>
          </a:xfrm>
          <a:custGeom>
            <a:avLst/>
            <a:gdLst/>
            <a:ahLst/>
            <a:cxnLst/>
            <a:rect l="l" t="t" r="r" b="b"/>
            <a:pathLst>
              <a:path w="610964" h="610964">
                <a:moveTo>
                  <a:pt x="305482" y="0"/>
                </a:moveTo>
                <a:lnTo>
                  <a:pt x="305482" y="0"/>
                </a:lnTo>
                <a:cubicBezTo>
                  <a:pt x="474195" y="0"/>
                  <a:pt x="610964" y="136769"/>
                  <a:pt x="610964" y="305482"/>
                </a:cubicBezTo>
                <a:lnTo>
                  <a:pt x="610964" y="305482"/>
                </a:lnTo>
                <a:cubicBezTo>
                  <a:pt x="610964" y="474195"/>
                  <a:pt x="474195" y="610964"/>
                  <a:pt x="305482" y="610964"/>
                </a:cubicBezTo>
                <a:lnTo>
                  <a:pt x="305482" y="610964"/>
                </a:lnTo>
                <a:cubicBezTo>
                  <a:pt x="136769" y="610964"/>
                  <a:pt x="0" y="474195"/>
                  <a:pt x="0" y="305482"/>
                </a:cubicBezTo>
                <a:lnTo>
                  <a:pt x="0" y="305482"/>
                </a:lnTo>
                <a:cubicBezTo>
                  <a:pt x="0" y="136769"/>
                  <a:pt x="136769" y="0"/>
                  <a:pt x="305482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3417166" y="6426030"/>
            <a:ext cx="741885" cy="61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62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2108299" y="7124274"/>
            <a:ext cx="3360301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1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Container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2162850" y="7560677"/>
            <a:ext cx="3327570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定位: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资源抽象单位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162850" y="7866158"/>
            <a:ext cx="3327570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注意: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Container</a:t>
            </a:r>
            <a:r>
              <a:rPr lang="zh-CN" alt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203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不负责</a:t>
            </a:r>
            <a:r>
              <a:rPr lang="zh-CN" altLang="en-US" sz="120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zh-CN" altLang="en-US" sz="120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203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数据存储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75833" cy="338667"/>
          </a:xfrm>
          <a:custGeom>
            <a:avLst/>
            <a:gdLst/>
            <a:ahLst/>
            <a:cxnLst/>
            <a:rect l="l" t="t" r="r" b="b"/>
            <a:pathLst>
              <a:path w="1375833" h="338667">
                <a:moveTo>
                  <a:pt x="0" y="0"/>
                </a:moveTo>
                <a:lnTo>
                  <a:pt x="1375833" y="0"/>
                </a:lnTo>
                <a:lnTo>
                  <a:pt x="1375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8930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06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zh-CN" alt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000" dirty="0" err="1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调度器与容错机制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3333" y="1460500"/>
            <a:ext cx="5027083" cy="2518833"/>
          </a:xfrm>
          <a:custGeom>
            <a:avLst/>
            <a:gdLst/>
            <a:ahLst/>
            <a:cxnLst/>
            <a:rect l="l" t="t" r="r" b="b"/>
            <a:pathLst>
              <a:path w="5027083" h="25188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2434175"/>
                </a:lnTo>
                <a:cubicBezTo>
                  <a:pt x="5027083" y="2480931"/>
                  <a:pt x="4989181" y="2518833"/>
                  <a:pt x="4942425" y="2518833"/>
                </a:cubicBezTo>
                <a:lnTo>
                  <a:pt x="84658" y="2518833"/>
                </a:lnTo>
                <a:cubicBezTo>
                  <a:pt x="37903" y="2518833"/>
                  <a:pt x="0" y="2480931"/>
                  <a:pt x="0" y="2434175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333" y="1460500"/>
            <a:ext cx="5027083" cy="42333"/>
          </a:xfrm>
          <a:custGeom>
            <a:avLst/>
            <a:gdLst/>
            <a:ahLst/>
            <a:cxnLst/>
            <a:rect l="l" t="t" r="r" b="b"/>
            <a:pathLst>
              <a:path w="5027083" h="423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81056" y="169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28139" y="1693333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FIFO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2083" y="2286000"/>
            <a:ext cx="470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FIFO</a:t>
            </a:r>
            <a:r>
              <a:rPr lang="en-US" sz="1667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调度器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5000" y="2709333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策略: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先进先出,简单但不支持多租户/优先级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5000" y="3048000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单用户、小集群测试环境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5000" y="3386667"/>
            <a:ext cx="4603750" cy="381000"/>
          </a:xfrm>
          <a:custGeom>
            <a:avLst/>
            <a:gdLst/>
            <a:ahLst/>
            <a:cxnLst/>
            <a:rect l="l" t="t" r="r" b="b"/>
            <a:pathLst>
              <a:path w="4603750" h="381000">
                <a:moveTo>
                  <a:pt x="42333" y="0"/>
                </a:moveTo>
                <a:lnTo>
                  <a:pt x="4561417" y="0"/>
                </a:lnTo>
                <a:cubicBezTo>
                  <a:pt x="4584797" y="0"/>
                  <a:pt x="4603750" y="18953"/>
                  <a:pt x="4603750" y="42333"/>
                </a:cubicBezTo>
                <a:lnTo>
                  <a:pt x="4603750" y="338667"/>
                </a:lnTo>
                <a:cubicBezTo>
                  <a:pt x="4603750" y="362047"/>
                  <a:pt x="4584797" y="381000"/>
                  <a:pt x="4561417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9667" y="3471333"/>
            <a:ext cx="4508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缺点: 大作业会阻塞小作业,资源利用率低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16195" y="1460500"/>
            <a:ext cx="5027083" cy="2518833"/>
          </a:xfrm>
          <a:custGeom>
            <a:avLst/>
            <a:gdLst/>
            <a:ahLst/>
            <a:cxnLst/>
            <a:rect l="l" t="t" r="r" b="b"/>
            <a:pathLst>
              <a:path w="5027083" h="25188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2434175"/>
                </a:lnTo>
                <a:cubicBezTo>
                  <a:pt x="5027083" y="2480931"/>
                  <a:pt x="4989181" y="2518833"/>
                  <a:pt x="4942425" y="2518833"/>
                </a:cubicBezTo>
                <a:lnTo>
                  <a:pt x="84658" y="2518833"/>
                </a:lnTo>
                <a:cubicBezTo>
                  <a:pt x="37903" y="2518833"/>
                  <a:pt x="0" y="2480931"/>
                  <a:pt x="0" y="2434175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16195" y="1460500"/>
            <a:ext cx="5027083" cy="42333"/>
          </a:xfrm>
          <a:custGeom>
            <a:avLst/>
            <a:gdLst/>
            <a:ahLst/>
            <a:cxnLst/>
            <a:rect l="l" t="t" r="r" b="b"/>
            <a:pathLst>
              <a:path w="5027083" h="423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873917" y="169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21001" y="1693333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74945" y="2286000"/>
            <a:ext cx="470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Capacity</a:t>
            </a:r>
            <a:r>
              <a:rPr lang="en-US" sz="1667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调度器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27861" y="2709333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策略: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多队列,预留容量,支持多租户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27861" y="3048000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保证各组织最小资源,资源空闲可共享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27861" y="3386667"/>
            <a:ext cx="4603750" cy="381000"/>
          </a:xfrm>
          <a:custGeom>
            <a:avLst/>
            <a:gdLst/>
            <a:ahLst/>
            <a:cxnLst/>
            <a:rect l="l" t="t" r="r" b="b"/>
            <a:pathLst>
              <a:path w="4603750" h="381000">
                <a:moveTo>
                  <a:pt x="42333" y="0"/>
                </a:moveTo>
                <a:lnTo>
                  <a:pt x="4561417" y="0"/>
                </a:lnTo>
                <a:cubicBezTo>
                  <a:pt x="4584797" y="0"/>
                  <a:pt x="4603750" y="18953"/>
                  <a:pt x="4603750" y="42333"/>
                </a:cubicBezTo>
                <a:lnTo>
                  <a:pt x="4603750" y="338667"/>
                </a:lnTo>
                <a:cubicBezTo>
                  <a:pt x="4603750" y="362047"/>
                  <a:pt x="4584797" y="381000"/>
                  <a:pt x="4561417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12528" y="3471333"/>
            <a:ext cx="4508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适用: 多租户共享且需资源隔离的生产环境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809056" y="1460500"/>
            <a:ext cx="5027083" cy="2518833"/>
          </a:xfrm>
          <a:custGeom>
            <a:avLst/>
            <a:gdLst/>
            <a:ahLst/>
            <a:cxnLst/>
            <a:rect l="l" t="t" r="r" b="b"/>
            <a:pathLst>
              <a:path w="5027083" h="25188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2434175"/>
                </a:lnTo>
                <a:cubicBezTo>
                  <a:pt x="5027083" y="2480931"/>
                  <a:pt x="4989181" y="2518833"/>
                  <a:pt x="4942425" y="2518833"/>
                </a:cubicBezTo>
                <a:lnTo>
                  <a:pt x="84658" y="2518833"/>
                </a:lnTo>
                <a:cubicBezTo>
                  <a:pt x="37903" y="2518833"/>
                  <a:pt x="0" y="2480931"/>
                  <a:pt x="0" y="2434175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809056" y="1460500"/>
            <a:ext cx="5027083" cy="42333"/>
          </a:xfrm>
          <a:custGeom>
            <a:avLst/>
            <a:gdLst/>
            <a:ahLst/>
            <a:cxnLst/>
            <a:rect l="l" t="t" r="r" b="b"/>
            <a:pathLst>
              <a:path w="5027083" h="423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3066779" y="1693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013862" y="1693333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67806" y="2286000"/>
            <a:ext cx="470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Fair</a:t>
            </a:r>
            <a:r>
              <a:rPr lang="en-US" sz="1667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调度器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020723" y="2709333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策略: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公平共享,动态调整资源分配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020723" y="3048000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资源空闲时可被其他队列借用,弹性好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020723" y="3386667"/>
            <a:ext cx="4603750" cy="381000"/>
          </a:xfrm>
          <a:custGeom>
            <a:avLst/>
            <a:gdLst/>
            <a:ahLst/>
            <a:cxnLst/>
            <a:rect l="l" t="t" r="r" b="b"/>
            <a:pathLst>
              <a:path w="4603750" h="381000">
                <a:moveTo>
                  <a:pt x="42333" y="0"/>
                </a:moveTo>
                <a:lnTo>
                  <a:pt x="4561417" y="0"/>
                </a:lnTo>
                <a:cubicBezTo>
                  <a:pt x="4584797" y="0"/>
                  <a:pt x="4603750" y="18953"/>
                  <a:pt x="4603750" y="42333"/>
                </a:cubicBezTo>
                <a:lnTo>
                  <a:pt x="4603750" y="338667"/>
                </a:lnTo>
                <a:cubicBezTo>
                  <a:pt x="4603750" y="362047"/>
                  <a:pt x="4584797" y="381000"/>
                  <a:pt x="4561417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105389" y="3471333"/>
            <a:ext cx="4508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适用: 多用户共享,追求资源公平和弹性的场景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4500" y="4148667"/>
            <a:ext cx="7577667" cy="3217333"/>
          </a:xfrm>
          <a:custGeom>
            <a:avLst/>
            <a:gdLst/>
            <a:ahLst/>
            <a:cxnLst/>
            <a:rect l="l" t="t" r="r" b="b"/>
            <a:pathLst>
              <a:path w="7577667" h="3217333">
                <a:moveTo>
                  <a:pt x="42333" y="0"/>
                </a:moveTo>
                <a:lnTo>
                  <a:pt x="7492986" y="0"/>
                </a:lnTo>
                <a:cubicBezTo>
                  <a:pt x="7539754" y="0"/>
                  <a:pt x="7577667" y="37913"/>
                  <a:pt x="7577667" y="84680"/>
                </a:cubicBezTo>
                <a:lnTo>
                  <a:pt x="7577667" y="3132653"/>
                </a:lnTo>
                <a:cubicBezTo>
                  <a:pt x="7577667" y="3179421"/>
                  <a:pt x="7539754" y="3217333"/>
                  <a:pt x="7492986" y="3217333"/>
                </a:cubicBezTo>
                <a:lnTo>
                  <a:pt x="42333" y="3217333"/>
                </a:lnTo>
                <a:cubicBezTo>
                  <a:pt x="18953" y="3217333"/>
                  <a:pt x="0" y="3198380"/>
                  <a:pt x="0" y="317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4500" y="4148667"/>
            <a:ext cx="42333" cy="3217333"/>
          </a:xfrm>
          <a:custGeom>
            <a:avLst/>
            <a:gdLst/>
            <a:ahLst/>
            <a:cxnLst/>
            <a:rect l="l" t="t" r="r" b="b"/>
            <a:pathLst>
              <a:path w="42333" h="3217333">
                <a:moveTo>
                  <a:pt x="42333" y="0"/>
                </a:moveTo>
                <a:lnTo>
                  <a:pt x="42333" y="0"/>
                </a:lnTo>
                <a:lnTo>
                  <a:pt x="42333" y="3217333"/>
                </a:lnTo>
                <a:lnTo>
                  <a:pt x="42333" y="3217333"/>
                </a:lnTo>
                <a:cubicBezTo>
                  <a:pt x="18953" y="3217333"/>
                  <a:pt x="0" y="3198380"/>
                  <a:pt x="0" y="317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09083" y="4402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4833" y="4360333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RM</a:t>
            </a: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高可用(</a:t>
            </a:r>
            <a:r>
              <a:rPr lang="en-US" sz="20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</a:t>
            </a: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7333" y="4826000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4333" y="4953000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Active/Standby RM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,通过ZKFC选主,状态数据持久化到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ZooKeeper/FileSystem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77333" y="5482167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04333" y="5609167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故障转移: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挂掉后,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Standby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自动接管,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Client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重试连接新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255000" y="4148667"/>
            <a:ext cx="7577667" cy="3217333"/>
          </a:xfrm>
          <a:custGeom>
            <a:avLst/>
            <a:gdLst/>
            <a:ahLst/>
            <a:cxnLst/>
            <a:rect l="l" t="t" r="r" b="b"/>
            <a:pathLst>
              <a:path w="7577667" h="3217333">
                <a:moveTo>
                  <a:pt x="42333" y="0"/>
                </a:moveTo>
                <a:lnTo>
                  <a:pt x="7492986" y="0"/>
                </a:lnTo>
                <a:cubicBezTo>
                  <a:pt x="7539754" y="0"/>
                  <a:pt x="7577667" y="37913"/>
                  <a:pt x="7577667" y="84680"/>
                </a:cubicBezTo>
                <a:lnTo>
                  <a:pt x="7577667" y="3132653"/>
                </a:lnTo>
                <a:cubicBezTo>
                  <a:pt x="7577667" y="3179421"/>
                  <a:pt x="7539754" y="3217333"/>
                  <a:pt x="7492986" y="3217333"/>
                </a:cubicBezTo>
                <a:lnTo>
                  <a:pt x="42333" y="3217333"/>
                </a:lnTo>
                <a:cubicBezTo>
                  <a:pt x="18953" y="3217333"/>
                  <a:pt x="0" y="3198380"/>
                  <a:pt x="0" y="317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55000" y="4148667"/>
            <a:ext cx="42333" cy="3217333"/>
          </a:xfrm>
          <a:custGeom>
            <a:avLst/>
            <a:gdLst/>
            <a:ahLst/>
            <a:cxnLst/>
            <a:rect l="l" t="t" r="r" b="b"/>
            <a:pathLst>
              <a:path w="42333" h="3217333">
                <a:moveTo>
                  <a:pt x="42333" y="0"/>
                </a:moveTo>
                <a:lnTo>
                  <a:pt x="42333" y="0"/>
                </a:lnTo>
                <a:lnTo>
                  <a:pt x="42333" y="3217333"/>
                </a:lnTo>
                <a:lnTo>
                  <a:pt x="42333" y="3217333"/>
                </a:lnTo>
                <a:cubicBezTo>
                  <a:pt x="18953" y="3217333"/>
                  <a:pt x="0" y="3198380"/>
                  <a:pt x="0" y="317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519583" y="4402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6644" y="37058"/>
                </a:moveTo>
                <a:lnTo>
                  <a:pt x="222250" y="42366"/>
                </a:lnTo>
                <a:lnTo>
                  <a:pt x="222250" y="15875"/>
                </a:lnTo>
                <a:cubicBezTo>
                  <a:pt x="222250" y="7094"/>
                  <a:pt x="229344" y="0"/>
                  <a:pt x="238125" y="0"/>
                </a:cubicBezTo>
                <a:cubicBezTo>
                  <a:pt x="246906" y="0"/>
                  <a:pt x="254000" y="7094"/>
                  <a:pt x="254000" y="15875"/>
                </a:cubicBezTo>
                <a:lnTo>
                  <a:pt x="254000" y="79375"/>
                </a:lnTo>
                <a:cubicBezTo>
                  <a:pt x="254000" y="88156"/>
                  <a:pt x="246906" y="95250"/>
                  <a:pt x="238125" y="95250"/>
                </a:cubicBezTo>
                <a:lnTo>
                  <a:pt x="174625" y="95250"/>
                </a:lnTo>
                <a:cubicBezTo>
                  <a:pt x="165844" y="95250"/>
                  <a:pt x="158750" y="88156"/>
                  <a:pt x="158750" y="79375"/>
                </a:cubicBezTo>
                <a:cubicBezTo>
                  <a:pt x="158750" y="70594"/>
                  <a:pt x="165844" y="63500"/>
                  <a:pt x="174625" y="63500"/>
                </a:cubicBezTo>
                <a:lnTo>
                  <a:pt x="198388" y="63500"/>
                </a:lnTo>
                <a:lnTo>
                  <a:pt x="194618" y="59928"/>
                </a:lnTo>
                <a:cubicBezTo>
                  <a:pt x="194518" y="59829"/>
                  <a:pt x="194419" y="59730"/>
                  <a:pt x="194320" y="59630"/>
                </a:cubicBezTo>
                <a:cubicBezTo>
                  <a:pt x="157113" y="22423"/>
                  <a:pt x="96837" y="22423"/>
                  <a:pt x="59630" y="59630"/>
                </a:cubicBezTo>
                <a:cubicBezTo>
                  <a:pt x="22423" y="96837"/>
                  <a:pt x="22423" y="157113"/>
                  <a:pt x="59630" y="194320"/>
                </a:cubicBezTo>
                <a:cubicBezTo>
                  <a:pt x="96837" y="231527"/>
                  <a:pt x="157113" y="231527"/>
                  <a:pt x="194320" y="194320"/>
                </a:cubicBezTo>
                <a:cubicBezTo>
                  <a:pt x="198388" y="190252"/>
                  <a:pt x="202009" y="185936"/>
                  <a:pt x="205184" y="181372"/>
                </a:cubicBezTo>
                <a:cubicBezTo>
                  <a:pt x="210195" y="174179"/>
                  <a:pt x="220117" y="172442"/>
                  <a:pt x="227310" y="177453"/>
                </a:cubicBezTo>
                <a:cubicBezTo>
                  <a:pt x="234504" y="182463"/>
                  <a:pt x="236240" y="192385"/>
                  <a:pt x="231229" y="199579"/>
                </a:cubicBezTo>
                <a:cubicBezTo>
                  <a:pt x="227012" y="205631"/>
                  <a:pt x="222200" y="211386"/>
                  <a:pt x="216793" y="216793"/>
                </a:cubicBezTo>
                <a:cubicBezTo>
                  <a:pt x="167184" y="266402"/>
                  <a:pt x="86767" y="266402"/>
                  <a:pt x="37207" y="216793"/>
                </a:cubicBezTo>
                <a:cubicBezTo>
                  <a:pt x="-12353" y="167184"/>
                  <a:pt x="-12402" y="86816"/>
                  <a:pt x="37207" y="37207"/>
                </a:cubicBezTo>
                <a:cubicBezTo>
                  <a:pt x="86767" y="-12353"/>
                  <a:pt x="167035" y="-12402"/>
                  <a:pt x="216644" y="3705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805333" y="4360333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容错机制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509000" y="4826000"/>
            <a:ext cx="7112000" cy="719667"/>
          </a:xfrm>
          <a:custGeom>
            <a:avLst/>
            <a:gdLst/>
            <a:ahLst/>
            <a:cxnLst/>
            <a:rect l="l" t="t" r="r" b="b"/>
            <a:pathLst>
              <a:path w="7112000" h="719667">
                <a:moveTo>
                  <a:pt x="42331" y="0"/>
                </a:moveTo>
                <a:lnTo>
                  <a:pt x="7069669" y="0"/>
                </a:lnTo>
                <a:cubicBezTo>
                  <a:pt x="7093048" y="0"/>
                  <a:pt x="7112000" y="18952"/>
                  <a:pt x="7112000" y="42331"/>
                </a:cubicBezTo>
                <a:lnTo>
                  <a:pt x="7112000" y="677336"/>
                </a:lnTo>
                <a:cubicBezTo>
                  <a:pt x="7112000" y="700715"/>
                  <a:pt x="7093048" y="719667"/>
                  <a:pt x="7069669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509000" y="4826000"/>
            <a:ext cx="42333" cy="719667"/>
          </a:xfrm>
          <a:custGeom>
            <a:avLst/>
            <a:gdLst/>
            <a:ahLst/>
            <a:cxnLst/>
            <a:rect l="l" t="t" r="r" b="b"/>
            <a:pathLst>
              <a:path w="42333" h="719667">
                <a:moveTo>
                  <a:pt x="42333" y="0"/>
                </a:moveTo>
                <a:lnTo>
                  <a:pt x="42333" y="0"/>
                </a:lnTo>
                <a:lnTo>
                  <a:pt x="42333" y="719667"/>
                </a:lnTo>
                <a:lnTo>
                  <a:pt x="42333" y="719667"/>
                </a:lnTo>
                <a:cubicBezTo>
                  <a:pt x="18953" y="719667"/>
                  <a:pt x="0" y="700713"/>
                  <a:pt x="0" y="677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657167" y="4968875"/>
            <a:ext cx="77961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Task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失败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657167" y="5207000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会重试(默认4次),不影响整个应用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509000" y="5630333"/>
            <a:ext cx="7112000" cy="719667"/>
          </a:xfrm>
          <a:custGeom>
            <a:avLst/>
            <a:gdLst/>
            <a:ahLst/>
            <a:cxnLst/>
            <a:rect l="l" t="t" r="r" b="b"/>
            <a:pathLst>
              <a:path w="7112000" h="719667">
                <a:moveTo>
                  <a:pt x="42331" y="0"/>
                </a:moveTo>
                <a:lnTo>
                  <a:pt x="7069669" y="0"/>
                </a:lnTo>
                <a:cubicBezTo>
                  <a:pt x="7093048" y="0"/>
                  <a:pt x="7112000" y="18952"/>
                  <a:pt x="7112000" y="42331"/>
                </a:cubicBezTo>
                <a:lnTo>
                  <a:pt x="7112000" y="677336"/>
                </a:lnTo>
                <a:cubicBezTo>
                  <a:pt x="7112000" y="700715"/>
                  <a:pt x="7093048" y="719667"/>
                  <a:pt x="7069669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509000" y="5630333"/>
            <a:ext cx="42333" cy="719667"/>
          </a:xfrm>
          <a:custGeom>
            <a:avLst/>
            <a:gdLst/>
            <a:ahLst/>
            <a:cxnLst/>
            <a:rect l="l" t="t" r="r" b="b"/>
            <a:pathLst>
              <a:path w="42333" h="719667">
                <a:moveTo>
                  <a:pt x="42333" y="0"/>
                </a:moveTo>
                <a:lnTo>
                  <a:pt x="42333" y="0"/>
                </a:lnTo>
                <a:lnTo>
                  <a:pt x="42333" y="719667"/>
                </a:lnTo>
                <a:lnTo>
                  <a:pt x="42333" y="719667"/>
                </a:lnTo>
                <a:cubicBezTo>
                  <a:pt x="18953" y="719667"/>
                  <a:pt x="0" y="700713"/>
                  <a:pt x="0" y="677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657167" y="5773208"/>
            <a:ext cx="15252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NodeManager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失败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657167" y="6011333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RM检测心跳超时,将其上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Container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标记失败,由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重新申请资源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509000" y="6434667"/>
            <a:ext cx="7112000" cy="719667"/>
          </a:xfrm>
          <a:custGeom>
            <a:avLst/>
            <a:gdLst/>
            <a:ahLst/>
            <a:cxnLst/>
            <a:rect l="l" t="t" r="r" b="b"/>
            <a:pathLst>
              <a:path w="7112000" h="719667">
                <a:moveTo>
                  <a:pt x="42331" y="0"/>
                </a:moveTo>
                <a:lnTo>
                  <a:pt x="7069669" y="0"/>
                </a:lnTo>
                <a:cubicBezTo>
                  <a:pt x="7093048" y="0"/>
                  <a:pt x="7112000" y="18952"/>
                  <a:pt x="7112000" y="42331"/>
                </a:cubicBezTo>
                <a:lnTo>
                  <a:pt x="7112000" y="677336"/>
                </a:lnTo>
                <a:cubicBezTo>
                  <a:pt x="7112000" y="700715"/>
                  <a:pt x="7093048" y="719667"/>
                  <a:pt x="7069669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509000" y="6434667"/>
            <a:ext cx="42333" cy="719667"/>
          </a:xfrm>
          <a:custGeom>
            <a:avLst/>
            <a:gdLst/>
            <a:ahLst/>
            <a:cxnLst/>
            <a:rect l="l" t="t" r="r" b="b"/>
            <a:pathLst>
              <a:path w="42333" h="719667">
                <a:moveTo>
                  <a:pt x="42333" y="0"/>
                </a:moveTo>
                <a:lnTo>
                  <a:pt x="42333" y="0"/>
                </a:lnTo>
                <a:lnTo>
                  <a:pt x="42333" y="719667"/>
                </a:lnTo>
                <a:lnTo>
                  <a:pt x="42333" y="719667"/>
                </a:lnTo>
                <a:cubicBezTo>
                  <a:pt x="18953" y="719667"/>
                  <a:pt x="0" y="700713"/>
                  <a:pt x="0" y="677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657167" y="6577542"/>
            <a:ext cx="182918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ApplicationMaster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失败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657167" y="6815667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RM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重启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(保留已完成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Task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状态需依赖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Log Aggregation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28625" y="7540625"/>
            <a:ext cx="15398750" cy="1534583"/>
          </a:xfrm>
          <a:custGeom>
            <a:avLst/>
            <a:gdLst/>
            <a:ahLst/>
            <a:cxnLst/>
            <a:rect l="l" t="t" r="r" b="b"/>
            <a:pathLst>
              <a:path w="15398750" h="1534583">
                <a:moveTo>
                  <a:pt x="84663" y="0"/>
                </a:moveTo>
                <a:lnTo>
                  <a:pt x="15314087" y="0"/>
                </a:lnTo>
                <a:cubicBezTo>
                  <a:pt x="15360845" y="0"/>
                  <a:pt x="15398750" y="37905"/>
                  <a:pt x="15398750" y="84663"/>
                </a:cubicBezTo>
                <a:lnTo>
                  <a:pt x="15398750" y="1449920"/>
                </a:lnTo>
                <a:cubicBezTo>
                  <a:pt x="15398750" y="1496678"/>
                  <a:pt x="15360845" y="1534583"/>
                  <a:pt x="15314087" y="1534583"/>
                </a:cubicBezTo>
                <a:lnTo>
                  <a:pt x="84663" y="1534583"/>
                </a:lnTo>
                <a:cubicBezTo>
                  <a:pt x="37905" y="1534583"/>
                  <a:pt x="0" y="1496678"/>
                  <a:pt x="0" y="1449920"/>
                </a:cubicBezTo>
                <a:lnTo>
                  <a:pt x="0" y="84663"/>
                </a:lnTo>
                <a:cubicBezTo>
                  <a:pt x="0" y="37905"/>
                  <a:pt x="37905" y="0"/>
                  <a:pt x="8466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29708" y="7757583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0"/>
                </a:moveTo>
                <a:cubicBezTo>
                  <a:pt x="111910" y="0"/>
                  <a:pt x="117492" y="3349"/>
                  <a:pt x="120385" y="8682"/>
                </a:cubicBezTo>
                <a:lnTo>
                  <a:pt x="209682" y="174046"/>
                </a:lnTo>
                <a:cubicBezTo>
                  <a:pt x="212452" y="179173"/>
                  <a:pt x="212328" y="185374"/>
                  <a:pt x="209352" y="190376"/>
                </a:cubicBezTo>
                <a:cubicBezTo>
                  <a:pt x="206375" y="195378"/>
                  <a:pt x="200959" y="198438"/>
                  <a:pt x="195130" y="198438"/>
                </a:cubicBezTo>
                <a:lnTo>
                  <a:pt x="16536" y="198438"/>
                </a:lnTo>
                <a:cubicBezTo>
                  <a:pt x="10707" y="198438"/>
                  <a:pt x="5333" y="195378"/>
                  <a:pt x="2315" y="190376"/>
                </a:cubicBezTo>
                <a:cubicBezTo>
                  <a:pt x="-703" y="185374"/>
                  <a:pt x="-785" y="179173"/>
                  <a:pt x="1984" y="174046"/>
                </a:cubicBezTo>
                <a:lnTo>
                  <a:pt x="91281" y="8682"/>
                </a:lnTo>
                <a:cubicBezTo>
                  <a:pt x="94175" y="3349"/>
                  <a:pt x="99756" y="0"/>
                  <a:pt x="105833" y="0"/>
                </a:cubicBezTo>
                <a:close/>
                <a:moveTo>
                  <a:pt x="105833" y="69453"/>
                </a:moveTo>
                <a:cubicBezTo>
                  <a:pt x="100335" y="69453"/>
                  <a:pt x="95911" y="73877"/>
                  <a:pt x="95911" y="79375"/>
                </a:cubicBezTo>
                <a:lnTo>
                  <a:pt x="95911" y="125677"/>
                </a:lnTo>
                <a:cubicBezTo>
                  <a:pt x="95911" y="131175"/>
                  <a:pt x="100335" y="135599"/>
                  <a:pt x="105833" y="135599"/>
                </a:cubicBezTo>
                <a:cubicBezTo>
                  <a:pt x="111332" y="135599"/>
                  <a:pt x="115755" y="131175"/>
                  <a:pt x="115755" y="125677"/>
                </a:cubicBezTo>
                <a:lnTo>
                  <a:pt x="115755" y="79375"/>
                </a:lnTo>
                <a:cubicBezTo>
                  <a:pt x="115755" y="73877"/>
                  <a:pt x="111332" y="69453"/>
                  <a:pt x="105833" y="69453"/>
                </a:cubicBezTo>
                <a:close/>
                <a:moveTo>
                  <a:pt x="116871" y="158750"/>
                </a:moveTo>
                <a:cubicBezTo>
                  <a:pt x="117123" y="154653"/>
                  <a:pt x="115079" y="150755"/>
                  <a:pt x="111567" y="148630"/>
                </a:cubicBezTo>
                <a:cubicBezTo>
                  <a:pt x="108055" y="146506"/>
                  <a:pt x="103653" y="146506"/>
                  <a:pt x="100141" y="148630"/>
                </a:cubicBezTo>
                <a:cubicBezTo>
                  <a:pt x="96629" y="150755"/>
                  <a:pt x="94585" y="154653"/>
                  <a:pt x="94837" y="158750"/>
                </a:cubicBezTo>
                <a:cubicBezTo>
                  <a:pt x="94585" y="162847"/>
                  <a:pt x="96629" y="166745"/>
                  <a:pt x="100141" y="168870"/>
                </a:cubicBezTo>
                <a:cubicBezTo>
                  <a:pt x="103653" y="170994"/>
                  <a:pt x="108055" y="170994"/>
                  <a:pt x="111567" y="168870"/>
                </a:cubicBezTo>
                <a:cubicBezTo>
                  <a:pt x="115079" y="166745"/>
                  <a:pt x="117123" y="162847"/>
                  <a:pt x="116871" y="15875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67833" y="7715250"/>
            <a:ext cx="14890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易错点与辨析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03250" y="8096250"/>
            <a:ext cx="4900083" cy="804333"/>
          </a:xfrm>
          <a:custGeom>
            <a:avLst/>
            <a:gdLst/>
            <a:ahLst/>
            <a:cxnLst/>
            <a:rect l="l" t="t" r="r" b="b"/>
            <a:pathLst>
              <a:path w="4900083" h="804333">
                <a:moveTo>
                  <a:pt x="42332" y="0"/>
                </a:moveTo>
                <a:lnTo>
                  <a:pt x="4857751" y="0"/>
                </a:lnTo>
                <a:cubicBezTo>
                  <a:pt x="4881131" y="0"/>
                  <a:pt x="4900083" y="18953"/>
                  <a:pt x="4900083" y="42332"/>
                </a:cubicBezTo>
                <a:lnTo>
                  <a:pt x="4900083" y="762001"/>
                </a:lnTo>
                <a:cubicBezTo>
                  <a:pt x="4900083" y="785381"/>
                  <a:pt x="4881131" y="804333"/>
                  <a:pt x="485775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30250" y="8223250"/>
            <a:ext cx="473075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RM</a:t>
            </a: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RM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负责"集群级"资源分配,不负责具体作业内部的任务监控与容错(这是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的活)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676139" y="8096250"/>
            <a:ext cx="4900083" cy="804333"/>
          </a:xfrm>
          <a:custGeom>
            <a:avLst/>
            <a:gdLst/>
            <a:ahLst/>
            <a:cxnLst/>
            <a:rect l="l" t="t" r="r" b="b"/>
            <a:pathLst>
              <a:path w="4900083" h="804333">
                <a:moveTo>
                  <a:pt x="42332" y="0"/>
                </a:moveTo>
                <a:lnTo>
                  <a:pt x="4857751" y="0"/>
                </a:lnTo>
                <a:cubicBezTo>
                  <a:pt x="4881131" y="0"/>
                  <a:pt x="4900083" y="18953"/>
                  <a:pt x="4900083" y="42332"/>
                </a:cubicBezTo>
                <a:lnTo>
                  <a:pt x="4900083" y="762001"/>
                </a:lnTo>
                <a:cubicBezTo>
                  <a:pt x="4900083" y="785381"/>
                  <a:pt x="4881131" y="804333"/>
                  <a:pt x="485775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803139" y="8223250"/>
            <a:ext cx="473075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Container</a:t>
            </a: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Container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是"计算资源+环境"的封装,不是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0749111" y="8096250"/>
            <a:ext cx="4900083" cy="804333"/>
          </a:xfrm>
          <a:custGeom>
            <a:avLst/>
            <a:gdLst/>
            <a:ahLst/>
            <a:cxnLst/>
            <a:rect l="l" t="t" r="r" b="b"/>
            <a:pathLst>
              <a:path w="4900083" h="804333">
                <a:moveTo>
                  <a:pt x="42332" y="0"/>
                </a:moveTo>
                <a:lnTo>
                  <a:pt x="4857751" y="0"/>
                </a:lnTo>
                <a:cubicBezTo>
                  <a:pt x="4881131" y="0"/>
                  <a:pt x="4900083" y="18953"/>
                  <a:pt x="4900083" y="42332"/>
                </a:cubicBezTo>
                <a:lnTo>
                  <a:pt x="4900083" y="762001"/>
                </a:lnTo>
                <a:cubicBezTo>
                  <a:pt x="4900083" y="785381"/>
                  <a:pt x="4881131" y="804333"/>
                  <a:pt x="4857751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0876111" y="8223250"/>
            <a:ext cx="473075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调度器选择: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 err="1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r>
              <a:rPr lang="en-US" sz="1333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支持</a:t>
            </a:r>
            <a:r>
              <a:rPr lang="en-US" sz="1333" dirty="0" err="1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FIFO、Capacity、Fair</a:t>
            </a:r>
            <a:r>
              <a:rPr lang="en-US" sz="1333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三种调度器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28900" cy="609600"/>
          </a:xfrm>
          <a:custGeom>
            <a:avLst/>
            <a:gdLst/>
            <a:ahLst/>
            <a:cxnLst/>
            <a:rect l="l" t="t" r="r" b="b"/>
            <a:pathLst>
              <a:path w="2628900" h="609600">
                <a:moveTo>
                  <a:pt x="0" y="0"/>
                </a:moveTo>
                <a:lnTo>
                  <a:pt x="2628900" y="0"/>
                </a:lnTo>
                <a:lnTo>
                  <a:pt x="26289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4522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核心抽象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与执行机制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技术栈、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RDD/DataFrame/Dataset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及依赖关系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02" y="435526"/>
            <a:ext cx="1404571" cy="348421"/>
          </a:xfrm>
          <a:custGeom>
            <a:avLst/>
            <a:gdLst/>
            <a:ahLst/>
            <a:cxnLst/>
            <a:rect l="l" t="t" r="r" b="b"/>
            <a:pathLst>
              <a:path w="1404571" h="348421">
                <a:moveTo>
                  <a:pt x="0" y="0"/>
                </a:moveTo>
                <a:lnTo>
                  <a:pt x="1404571" y="0"/>
                </a:lnTo>
                <a:lnTo>
                  <a:pt x="1404571" y="348421"/>
                </a:lnTo>
                <a:lnTo>
                  <a:pt x="0" y="3484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302" y="435526"/>
            <a:ext cx="43553" cy="348421"/>
          </a:xfrm>
          <a:custGeom>
            <a:avLst/>
            <a:gdLst/>
            <a:ahLst/>
            <a:cxnLst/>
            <a:rect l="l" t="t" r="r" b="b"/>
            <a:pathLst>
              <a:path w="43553" h="348421">
                <a:moveTo>
                  <a:pt x="0" y="0"/>
                </a:moveTo>
                <a:lnTo>
                  <a:pt x="43553" y="0"/>
                </a:lnTo>
                <a:lnTo>
                  <a:pt x="43553" y="348421"/>
                </a:lnTo>
                <a:lnTo>
                  <a:pt x="0" y="348421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736" y="495411"/>
            <a:ext cx="1209094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kern="0" spc="6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5526" y="871052"/>
            <a:ext cx="15580935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6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3086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技术栈与核心抽象对比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5526" y="1502564"/>
            <a:ext cx="7589037" cy="4769007"/>
          </a:xfrm>
          <a:custGeom>
            <a:avLst/>
            <a:gdLst/>
            <a:ahLst/>
            <a:cxnLst/>
            <a:rect l="l" t="t" r="r" b="b"/>
            <a:pathLst>
              <a:path w="7589037" h="4769007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681925"/>
                </a:lnTo>
                <a:cubicBezTo>
                  <a:pt x="7589037" y="4730019"/>
                  <a:pt x="7550049" y="4769007"/>
                  <a:pt x="7501955" y="4769007"/>
                </a:cubicBezTo>
                <a:lnTo>
                  <a:pt x="87082" y="4769007"/>
                </a:lnTo>
                <a:cubicBezTo>
                  <a:pt x="38988" y="4769007"/>
                  <a:pt x="0" y="4730019"/>
                  <a:pt x="0" y="4681925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5526" y="1502564"/>
            <a:ext cx="7589037" cy="43553"/>
          </a:xfrm>
          <a:custGeom>
            <a:avLst/>
            <a:gdLst/>
            <a:ahLst/>
            <a:cxnLst/>
            <a:rect l="l" t="t" r="r" b="b"/>
            <a:pathLst>
              <a:path w="7589037" h="43553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3553"/>
                </a:lnTo>
                <a:lnTo>
                  <a:pt x="0" y="43553"/>
                </a:ln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953" y="1785656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18664" y="2654"/>
                </a:moveTo>
                <a:cubicBezTo>
                  <a:pt x="126268" y="-868"/>
                  <a:pt x="135047" y="-868"/>
                  <a:pt x="142652" y="2654"/>
                </a:cubicBezTo>
                <a:lnTo>
                  <a:pt x="254221" y="54203"/>
                </a:lnTo>
                <a:cubicBezTo>
                  <a:pt x="258559" y="56193"/>
                  <a:pt x="261315" y="60531"/>
                  <a:pt x="261315" y="65329"/>
                </a:cubicBezTo>
                <a:cubicBezTo>
                  <a:pt x="261315" y="70126"/>
                  <a:pt x="258559" y="74465"/>
                  <a:pt x="254221" y="76455"/>
                </a:cubicBezTo>
                <a:lnTo>
                  <a:pt x="142652" y="128004"/>
                </a:lnTo>
                <a:cubicBezTo>
                  <a:pt x="135047" y="131525"/>
                  <a:pt x="126268" y="131525"/>
                  <a:pt x="118664" y="128004"/>
                </a:cubicBezTo>
                <a:lnTo>
                  <a:pt x="7094" y="76455"/>
                </a:lnTo>
                <a:cubicBezTo>
                  <a:pt x="2756" y="74414"/>
                  <a:pt x="0" y="70075"/>
                  <a:pt x="0" y="65329"/>
                </a:cubicBezTo>
                <a:cubicBezTo>
                  <a:pt x="0" y="60582"/>
                  <a:pt x="2756" y="56193"/>
                  <a:pt x="7094" y="54203"/>
                </a:cubicBezTo>
                <a:lnTo>
                  <a:pt x="118664" y="2654"/>
                </a:lnTo>
                <a:close/>
                <a:moveTo>
                  <a:pt x="24549" y="111467"/>
                </a:moveTo>
                <a:lnTo>
                  <a:pt x="108405" y="150205"/>
                </a:lnTo>
                <a:cubicBezTo>
                  <a:pt x="122543" y="156738"/>
                  <a:pt x="138824" y="156738"/>
                  <a:pt x="152961" y="150205"/>
                </a:cubicBezTo>
                <a:lnTo>
                  <a:pt x="236817" y="111467"/>
                </a:lnTo>
                <a:lnTo>
                  <a:pt x="254221" y="119531"/>
                </a:lnTo>
                <a:cubicBezTo>
                  <a:pt x="258559" y="121522"/>
                  <a:pt x="261315" y="125860"/>
                  <a:pt x="261315" y="130658"/>
                </a:cubicBezTo>
                <a:cubicBezTo>
                  <a:pt x="261315" y="135455"/>
                  <a:pt x="258559" y="139794"/>
                  <a:pt x="254221" y="141784"/>
                </a:cubicBezTo>
                <a:lnTo>
                  <a:pt x="142652" y="193333"/>
                </a:lnTo>
                <a:cubicBezTo>
                  <a:pt x="135047" y="196854"/>
                  <a:pt x="126268" y="196854"/>
                  <a:pt x="118664" y="193333"/>
                </a:cubicBezTo>
                <a:lnTo>
                  <a:pt x="7094" y="141784"/>
                </a:lnTo>
                <a:cubicBezTo>
                  <a:pt x="2756" y="139743"/>
                  <a:pt x="0" y="135404"/>
                  <a:pt x="0" y="130658"/>
                </a:cubicBezTo>
                <a:cubicBezTo>
                  <a:pt x="0" y="125911"/>
                  <a:pt x="2756" y="121522"/>
                  <a:pt x="7094" y="119531"/>
                </a:cubicBezTo>
                <a:lnTo>
                  <a:pt x="24498" y="111467"/>
                </a:lnTo>
                <a:close/>
                <a:moveTo>
                  <a:pt x="7094" y="184860"/>
                </a:moveTo>
                <a:lnTo>
                  <a:pt x="24498" y="176796"/>
                </a:lnTo>
                <a:lnTo>
                  <a:pt x="108354" y="215534"/>
                </a:lnTo>
                <a:cubicBezTo>
                  <a:pt x="122492" y="222067"/>
                  <a:pt x="138773" y="222067"/>
                  <a:pt x="152910" y="215534"/>
                </a:cubicBezTo>
                <a:lnTo>
                  <a:pt x="236766" y="176796"/>
                </a:lnTo>
                <a:lnTo>
                  <a:pt x="254170" y="184860"/>
                </a:lnTo>
                <a:cubicBezTo>
                  <a:pt x="258508" y="186851"/>
                  <a:pt x="261264" y="191189"/>
                  <a:pt x="261264" y="195987"/>
                </a:cubicBezTo>
                <a:cubicBezTo>
                  <a:pt x="261264" y="200784"/>
                  <a:pt x="258508" y="205122"/>
                  <a:pt x="254170" y="207113"/>
                </a:cubicBezTo>
                <a:lnTo>
                  <a:pt x="142601" y="258661"/>
                </a:lnTo>
                <a:cubicBezTo>
                  <a:pt x="134996" y="262183"/>
                  <a:pt x="126217" y="262183"/>
                  <a:pt x="118613" y="258661"/>
                </a:cubicBezTo>
                <a:lnTo>
                  <a:pt x="7094" y="207113"/>
                </a:lnTo>
                <a:cubicBezTo>
                  <a:pt x="2756" y="205071"/>
                  <a:pt x="0" y="200733"/>
                  <a:pt x="0" y="195987"/>
                </a:cubicBezTo>
                <a:cubicBezTo>
                  <a:pt x="0" y="191240"/>
                  <a:pt x="2756" y="186851"/>
                  <a:pt x="7094" y="18486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9933" y="1742103"/>
            <a:ext cx="6957524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205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5065" y="2221182"/>
            <a:ext cx="7131735" cy="783946"/>
          </a:xfrm>
          <a:custGeom>
            <a:avLst/>
            <a:gdLst/>
            <a:ahLst/>
            <a:cxnLst/>
            <a:rect l="l" t="t" r="r" b="b"/>
            <a:pathLst>
              <a:path w="7131735" h="783946">
                <a:moveTo>
                  <a:pt x="43553" y="0"/>
                </a:moveTo>
                <a:lnTo>
                  <a:pt x="7088179" y="0"/>
                </a:lnTo>
                <a:cubicBezTo>
                  <a:pt x="7112234" y="0"/>
                  <a:pt x="7131735" y="19501"/>
                  <a:pt x="7131735" y="43556"/>
                </a:cubicBezTo>
                <a:lnTo>
                  <a:pt x="7131735" y="740390"/>
                </a:lnTo>
                <a:cubicBezTo>
                  <a:pt x="7131735" y="764446"/>
                  <a:pt x="7112234" y="783946"/>
                  <a:pt x="7088179" y="783946"/>
                </a:cubicBez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5065" y="2221182"/>
            <a:ext cx="43553" cy="783946"/>
          </a:xfrm>
          <a:custGeom>
            <a:avLst/>
            <a:gdLst/>
            <a:ahLst/>
            <a:cxnLst/>
            <a:rect l="l" t="t" r="r" b="b"/>
            <a:pathLst>
              <a:path w="43553" h="783946">
                <a:moveTo>
                  <a:pt x="43553" y="0"/>
                </a:moveTo>
                <a:lnTo>
                  <a:pt x="43553" y="0"/>
                </a:lnTo>
                <a:lnTo>
                  <a:pt x="43553" y="783946"/>
                </a:ln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7499" y="2373616"/>
            <a:ext cx="1097151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 Core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7499" y="2656707"/>
            <a:ext cx="6924860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基础引擎,负责任务调度、内存管理、故障恢复、存储系统交互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5065" y="3092233"/>
            <a:ext cx="7131735" cy="783946"/>
          </a:xfrm>
          <a:custGeom>
            <a:avLst/>
            <a:gdLst/>
            <a:ahLst/>
            <a:cxnLst/>
            <a:rect l="l" t="t" r="r" b="b"/>
            <a:pathLst>
              <a:path w="7131735" h="783946">
                <a:moveTo>
                  <a:pt x="43553" y="0"/>
                </a:moveTo>
                <a:lnTo>
                  <a:pt x="7088179" y="0"/>
                </a:lnTo>
                <a:cubicBezTo>
                  <a:pt x="7112234" y="0"/>
                  <a:pt x="7131735" y="19501"/>
                  <a:pt x="7131735" y="43556"/>
                </a:cubicBezTo>
                <a:lnTo>
                  <a:pt x="7131735" y="740390"/>
                </a:lnTo>
                <a:cubicBezTo>
                  <a:pt x="7131735" y="764446"/>
                  <a:pt x="7112234" y="783946"/>
                  <a:pt x="7088179" y="783946"/>
                </a:cubicBez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5065" y="3092233"/>
            <a:ext cx="43553" cy="783946"/>
          </a:xfrm>
          <a:custGeom>
            <a:avLst/>
            <a:gdLst/>
            <a:ahLst/>
            <a:cxnLst/>
            <a:rect l="l" t="t" r="r" b="b"/>
            <a:pathLst>
              <a:path w="43553" h="783946">
                <a:moveTo>
                  <a:pt x="43553" y="0"/>
                </a:moveTo>
                <a:lnTo>
                  <a:pt x="43553" y="0"/>
                </a:lnTo>
                <a:lnTo>
                  <a:pt x="43553" y="783946"/>
                </a:ln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7499" y="3244667"/>
            <a:ext cx="104645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 SQL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499" y="3527759"/>
            <a:ext cx="6924860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结构化数据处理,操作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DataFrame/Datase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t(非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),兼容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5065" y="3963285"/>
            <a:ext cx="7131735" cy="783946"/>
          </a:xfrm>
          <a:custGeom>
            <a:avLst/>
            <a:gdLst/>
            <a:ahLst/>
            <a:cxnLst/>
            <a:rect l="l" t="t" r="r" b="b"/>
            <a:pathLst>
              <a:path w="7131735" h="783946">
                <a:moveTo>
                  <a:pt x="43553" y="0"/>
                </a:moveTo>
                <a:lnTo>
                  <a:pt x="7088179" y="0"/>
                </a:lnTo>
                <a:cubicBezTo>
                  <a:pt x="7112234" y="0"/>
                  <a:pt x="7131735" y="19501"/>
                  <a:pt x="7131735" y="43556"/>
                </a:cubicBezTo>
                <a:lnTo>
                  <a:pt x="7131735" y="740390"/>
                </a:lnTo>
                <a:cubicBezTo>
                  <a:pt x="7131735" y="764446"/>
                  <a:pt x="7112234" y="783946"/>
                  <a:pt x="7088179" y="783946"/>
                </a:cubicBez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5065" y="3963285"/>
            <a:ext cx="43553" cy="783946"/>
          </a:xfrm>
          <a:custGeom>
            <a:avLst/>
            <a:gdLst/>
            <a:ahLst/>
            <a:cxnLst/>
            <a:rect l="l" t="t" r="r" b="b"/>
            <a:pathLst>
              <a:path w="43553" h="783946">
                <a:moveTo>
                  <a:pt x="43553" y="0"/>
                </a:moveTo>
                <a:lnTo>
                  <a:pt x="43553" y="0"/>
                </a:lnTo>
                <a:lnTo>
                  <a:pt x="43553" y="783946"/>
                </a:ln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7499" y="4115719"/>
            <a:ext cx="1589924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 Streaming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7499" y="4398810"/>
            <a:ext cx="6924860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微批处理(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Micro-batch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),高吞吐,秒级延迟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5065" y="4834336"/>
            <a:ext cx="7131735" cy="783946"/>
          </a:xfrm>
          <a:custGeom>
            <a:avLst/>
            <a:gdLst/>
            <a:ahLst/>
            <a:cxnLst/>
            <a:rect l="l" t="t" r="r" b="b"/>
            <a:pathLst>
              <a:path w="7131735" h="783946">
                <a:moveTo>
                  <a:pt x="43553" y="0"/>
                </a:moveTo>
                <a:lnTo>
                  <a:pt x="7088179" y="0"/>
                </a:lnTo>
                <a:cubicBezTo>
                  <a:pt x="7112234" y="0"/>
                  <a:pt x="7131735" y="19501"/>
                  <a:pt x="7131735" y="43556"/>
                </a:cubicBezTo>
                <a:lnTo>
                  <a:pt x="7131735" y="740390"/>
                </a:lnTo>
                <a:cubicBezTo>
                  <a:pt x="7131735" y="764446"/>
                  <a:pt x="7112234" y="783946"/>
                  <a:pt x="7088179" y="783946"/>
                </a:cubicBez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5065" y="4834336"/>
            <a:ext cx="43553" cy="783946"/>
          </a:xfrm>
          <a:custGeom>
            <a:avLst/>
            <a:gdLst/>
            <a:ahLst/>
            <a:cxnLst/>
            <a:rect l="l" t="t" r="r" b="b"/>
            <a:pathLst>
              <a:path w="43553" h="783946">
                <a:moveTo>
                  <a:pt x="43553" y="0"/>
                </a:moveTo>
                <a:lnTo>
                  <a:pt x="43553" y="0"/>
                </a:lnTo>
                <a:lnTo>
                  <a:pt x="43553" y="783946"/>
                </a:ln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7499" y="4986770"/>
            <a:ext cx="151523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MLlib &amp; GraphX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7499" y="5269862"/>
            <a:ext cx="6924860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机器学习与图计算库,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GraphX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是图计算框架(不是图数据库)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38668" y="1502564"/>
            <a:ext cx="7589037" cy="4769007"/>
          </a:xfrm>
          <a:custGeom>
            <a:avLst/>
            <a:gdLst/>
            <a:ahLst/>
            <a:cxnLst/>
            <a:rect l="l" t="t" r="r" b="b"/>
            <a:pathLst>
              <a:path w="7589037" h="4769007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681925"/>
                </a:lnTo>
                <a:cubicBezTo>
                  <a:pt x="7589037" y="4730019"/>
                  <a:pt x="7550049" y="4769007"/>
                  <a:pt x="7501955" y="4769007"/>
                </a:cubicBezTo>
                <a:lnTo>
                  <a:pt x="87082" y="4769007"/>
                </a:lnTo>
                <a:cubicBezTo>
                  <a:pt x="38988" y="4769007"/>
                  <a:pt x="0" y="4730019"/>
                  <a:pt x="0" y="4681925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38668" y="1502564"/>
            <a:ext cx="7589037" cy="43553"/>
          </a:xfrm>
          <a:custGeom>
            <a:avLst/>
            <a:gdLst/>
            <a:ahLst/>
            <a:cxnLst/>
            <a:rect l="l" t="t" r="r" b="b"/>
            <a:pathLst>
              <a:path w="7589037" h="43553">
                <a:moveTo>
                  <a:pt x="43553" y="0"/>
                </a:moveTo>
                <a:lnTo>
                  <a:pt x="7545484" y="0"/>
                </a:lnTo>
                <a:cubicBezTo>
                  <a:pt x="7569538" y="0"/>
                  <a:pt x="7589037" y="19499"/>
                  <a:pt x="7589037" y="43553"/>
                </a:cubicBezTo>
                <a:lnTo>
                  <a:pt x="7589037" y="43553"/>
                </a:lnTo>
                <a:lnTo>
                  <a:pt x="0" y="43553"/>
                </a:ln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56431" y="1785656"/>
            <a:ext cx="326644" cy="261315"/>
          </a:xfrm>
          <a:custGeom>
            <a:avLst/>
            <a:gdLst/>
            <a:ahLst/>
            <a:cxnLst/>
            <a:rect l="l" t="t" r="r" b="b"/>
            <a:pathLst>
              <a:path w="326644" h="261315">
                <a:moveTo>
                  <a:pt x="195987" y="16332"/>
                </a:moveTo>
                <a:lnTo>
                  <a:pt x="261315" y="16332"/>
                </a:lnTo>
                <a:cubicBezTo>
                  <a:pt x="270349" y="16332"/>
                  <a:pt x="277648" y="23631"/>
                  <a:pt x="277648" y="32664"/>
                </a:cubicBezTo>
                <a:cubicBezTo>
                  <a:pt x="277648" y="41698"/>
                  <a:pt x="270349" y="48997"/>
                  <a:pt x="261315" y="48997"/>
                </a:cubicBezTo>
                <a:lnTo>
                  <a:pt x="203336" y="48997"/>
                </a:lnTo>
                <a:cubicBezTo>
                  <a:pt x="200682" y="62165"/>
                  <a:pt x="191648" y="73036"/>
                  <a:pt x="179654" y="78242"/>
                </a:cubicBezTo>
                <a:lnTo>
                  <a:pt x="179654" y="228651"/>
                </a:lnTo>
                <a:lnTo>
                  <a:pt x="261315" y="228651"/>
                </a:lnTo>
                <a:cubicBezTo>
                  <a:pt x="270349" y="228651"/>
                  <a:pt x="277648" y="235949"/>
                  <a:pt x="277648" y="244983"/>
                </a:cubicBezTo>
                <a:cubicBezTo>
                  <a:pt x="277648" y="254017"/>
                  <a:pt x="270349" y="261315"/>
                  <a:pt x="261315" y="261315"/>
                </a:cubicBezTo>
                <a:lnTo>
                  <a:pt x="65329" y="261315"/>
                </a:lnTo>
                <a:cubicBezTo>
                  <a:pt x="56295" y="261315"/>
                  <a:pt x="48997" y="254017"/>
                  <a:pt x="48997" y="244983"/>
                </a:cubicBezTo>
                <a:cubicBezTo>
                  <a:pt x="48997" y="235949"/>
                  <a:pt x="56295" y="228651"/>
                  <a:pt x="65329" y="228651"/>
                </a:cubicBezTo>
                <a:lnTo>
                  <a:pt x="146990" y="228651"/>
                </a:lnTo>
                <a:lnTo>
                  <a:pt x="146990" y="78242"/>
                </a:lnTo>
                <a:cubicBezTo>
                  <a:pt x="134996" y="72985"/>
                  <a:pt x="125962" y="62113"/>
                  <a:pt x="123308" y="48997"/>
                </a:cubicBezTo>
                <a:lnTo>
                  <a:pt x="65329" y="48997"/>
                </a:lnTo>
                <a:cubicBezTo>
                  <a:pt x="56295" y="48997"/>
                  <a:pt x="48997" y="41698"/>
                  <a:pt x="48997" y="32664"/>
                </a:cubicBezTo>
                <a:cubicBezTo>
                  <a:pt x="48997" y="23631"/>
                  <a:pt x="56295" y="16332"/>
                  <a:pt x="65329" y="16332"/>
                </a:cubicBezTo>
                <a:lnTo>
                  <a:pt x="130658" y="16332"/>
                </a:lnTo>
                <a:cubicBezTo>
                  <a:pt x="138109" y="6431"/>
                  <a:pt x="149950" y="0"/>
                  <a:pt x="163322" y="0"/>
                </a:cubicBezTo>
                <a:cubicBezTo>
                  <a:pt x="176694" y="0"/>
                  <a:pt x="188535" y="6431"/>
                  <a:pt x="195987" y="16332"/>
                </a:cubicBezTo>
                <a:close/>
                <a:moveTo>
                  <a:pt x="224364" y="163322"/>
                </a:moveTo>
                <a:lnTo>
                  <a:pt x="298267" y="163322"/>
                </a:lnTo>
                <a:lnTo>
                  <a:pt x="261315" y="99933"/>
                </a:lnTo>
                <a:lnTo>
                  <a:pt x="224364" y="163322"/>
                </a:lnTo>
                <a:close/>
                <a:moveTo>
                  <a:pt x="261315" y="212319"/>
                </a:moveTo>
                <a:cubicBezTo>
                  <a:pt x="229212" y="212319"/>
                  <a:pt x="202519" y="194966"/>
                  <a:pt x="197007" y="172050"/>
                </a:cubicBezTo>
                <a:cubicBezTo>
                  <a:pt x="195680" y="166435"/>
                  <a:pt x="197518" y="160668"/>
                  <a:pt x="200427" y="155666"/>
                </a:cubicBezTo>
                <a:lnTo>
                  <a:pt x="249015" y="72372"/>
                </a:lnTo>
                <a:cubicBezTo>
                  <a:pt x="251567" y="67983"/>
                  <a:pt x="256263" y="65329"/>
                  <a:pt x="261315" y="65329"/>
                </a:cubicBezTo>
                <a:cubicBezTo>
                  <a:pt x="266368" y="65329"/>
                  <a:pt x="271064" y="68034"/>
                  <a:pt x="273616" y="72372"/>
                </a:cubicBezTo>
                <a:lnTo>
                  <a:pt x="322204" y="155666"/>
                </a:lnTo>
                <a:cubicBezTo>
                  <a:pt x="325113" y="160668"/>
                  <a:pt x="326951" y="166435"/>
                  <a:pt x="325624" y="172050"/>
                </a:cubicBezTo>
                <a:cubicBezTo>
                  <a:pt x="320111" y="194915"/>
                  <a:pt x="293418" y="212319"/>
                  <a:pt x="261315" y="212319"/>
                </a:cubicBezTo>
                <a:close/>
                <a:moveTo>
                  <a:pt x="64716" y="99933"/>
                </a:moveTo>
                <a:lnTo>
                  <a:pt x="27765" y="163322"/>
                </a:lnTo>
                <a:lnTo>
                  <a:pt x="101719" y="163322"/>
                </a:lnTo>
                <a:lnTo>
                  <a:pt x="64716" y="99933"/>
                </a:lnTo>
                <a:close/>
                <a:moveTo>
                  <a:pt x="459" y="172050"/>
                </a:moveTo>
                <a:cubicBezTo>
                  <a:pt x="-868" y="166435"/>
                  <a:pt x="970" y="160668"/>
                  <a:pt x="3879" y="155666"/>
                </a:cubicBezTo>
                <a:lnTo>
                  <a:pt x="52467" y="72372"/>
                </a:lnTo>
                <a:cubicBezTo>
                  <a:pt x="55019" y="67983"/>
                  <a:pt x="59715" y="65329"/>
                  <a:pt x="64767" y="65329"/>
                </a:cubicBezTo>
                <a:cubicBezTo>
                  <a:pt x="69820" y="65329"/>
                  <a:pt x="74516" y="68034"/>
                  <a:pt x="77068" y="72372"/>
                </a:cubicBezTo>
                <a:lnTo>
                  <a:pt x="125656" y="155666"/>
                </a:lnTo>
                <a:cubicBezTo>
                  <a:pt x="128565" y="160668"/>
                  <a:pt x="130403" y="166435"/>
                  <a:pt x="129076" y="172050"/>
                </a:cubicBezTo>
                <a:cubicBezTo>
                  <a:pt x="123563" y="194915"/>
                  <a:pt x="96870" y="212319"/>
                  <a:pt x="64767" y="212319"/>
                </a:cubicBezTo>
                <a:cubicBezTo>
                  <a:pt x="32664" y="212319"/>
                  <a:pt x="5971" y="194966"/>
                  <a:pt x="459" y="17205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83075" y="1742103"/>
            <a:ext cx="6957524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 vs DataFrame vs Dataset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56431" y="2221182"/>
            <a:ext cx="7153511" cy="871052"/>
          </a:xfrm>
          <a:custGeom>
            <a:avLst/>
            <a:gdLst/>
            <a:ahLst/>
            <a:cxnLst/>
            <a:rect l="l" t="t" r="r" b="b"/>
            <a:pathLst>
              <a:path w="7153511" h="871052">
                <a:moveTo>
                  <a:pt x="43553" y="0"/>
                </a:moveTo>
                <a:lnTo>
                  <a:pt x="7109958" y="0"/>
                </a:lnTo>
                <a:cubicBezTo>
                  <a:pt x="7134012" y="0"/>
                  <a:pt x="7153511" y="19499"/>
                  <a:pt x="7153511" y="43553"/>
                </a:cubicBezTo>
                <a:lnTo>
                  <a:pt x="7153511" y="827499"/>
                </a:lnTo>
                <a:cubicBezTo>
                  <a:pt x="7153511" y="851552"/>
                  <a:pt x="7134012" y="871052"/>
                  <a:pt x="7109958" y="871052"/>
                </a:cubicBez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87088" y="2351839"/>
            <a:ext cx="348421" cy="348421"/>
          </a:xfrm>
          <a:custGeom>
            <a:avLst/>
            <a:gdLst/>
            <a:ahLst/>
            <a:cxnLst/>
            <a:rect l="l" t="t" r="r" b="b"/>
            <a:pathLst>
              <a:path w="348421" h="348421">
                <a:moveTo>
                  <a:pt x="174210" y="0"/>
                </a:moveTo>
                <a:lnTo>
                  <a:pt x="174210" y="0"/>
                </a:lnTo>
                <a:cubicBezTo>
                  <a:pt x="270424" y="0"/>
                  <a:pt x="348421" y="77997"/>
                  <a:pt x="348421" y="174210"/>
                </a:cubicBezTo>
                <a:lnTo>
                  <a:pt x="348421" y="174210"/>
                </a:lnTo>
                <a:cubicBezTo>
                  <a:pt x="348421" y="270424"/>
                  <a:pt x="270424" y="348421"/>
                  <a:pt x="174210" y="348421"/>
                </a:cubicBezTo>
                <a:lnTo>
                  <a:pt x="174210" y="348421"/>
                </a:lnTo>
                <a:cubicBezTo>
                  <a:pt x="77997" y="348421"/>
                  <a:pt x="0" y="270424"/>
                  <a:pt x="0" y="174210"/>
                </a:cubicBezTo>
                <a:lnTo>
                  <a:pt x="0" y="174210"/>
                </a:lnTo>
                <a:cubicBezTo>
                  <a:pt x="0" y="77997"/>
                  <a:pt x="77997" y="0"/>
                  <a:pt x="17421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48980" y="2351839"/>
            <a:ext cx="424638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22614" y="2373616"/>
            <a:ext cx="1665886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弹性分布式数据集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7088" y="2743812"/>
            <a:ext cx="696841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底层对象,强类型,不可变,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Lazy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执行,需手动优化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56431" y="3222891"/>
            <a:ext cx="7153511" cy="871052"/>
          </a:xfrm>
          <a:custGeom>
            <a:avLst/>
            <a:gdLst/>
            <a:ahLst/>
            <a:cxnLst/>
            <a:rect l="l" t="t" r="r" b="b"/>
            <a:pathLst>
              <a:path w="7153511" h="871052">
                <a:moveTo>
                  <a:pt x="43553" y="0"/>
                </a:moveTo>
                <a:lnTo>
                  <a:pt x="7109958" y="0"/>
                </a:lnTo>
                <a:cubicBezTo>
                  <a:pt x="7134012" y="0"/>
                  <a:pt x="7153511" y="19499"/>
                  <a:pt x="7153511" y="43553"/>
                </a:cubicBezTo>
                <a:lnTo>
                  <a:pt x="7153511" y="827499"/>
                </a:lnTo>
                <a:cubicBezTo>
                  <a:pt x="7153511" y="851552"/>
                  <a:pt x="7134012" y="871052"/>
                  <a:pt x="7109958" y="871052"/>
                </a:cubicBez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87088" y="3353549"/>
            <a:ext cx="348421" cy="348421"/>
          </a:xfrm>
          <a:custGeom>
            <a:avLst/>
            <a:gdLst/>
            <a:ahLst/>
            <a:cxnLst/>
            <a:rect l="l" t="t" r="r" b="b"/>
            <a:pathLst>
              <a:path w="348421" h="348421">
                <a:moveTo>
                  <a:pt x="174210" y="0"/>
                </a:moveTo>
                <a:lnTo>
                  <a:pt x="174210" y="0"/>
                </a:lnTo>
                <a:cubicBezTo>
                  <a:pt x="270424" y="0"/>
                  <a:pt x="348421" y="77997"/>
                  <a:pt x="348421" y="174210"/>
                </a:cubicBezTo>
                <a:lnTo>
                  <a:pt x="348421" y="174210"/>
                </a:lnTo>
                <a:cubicBezTo>
                  <a:pt x="348421" y="270424"/>
                  <a:pt x="270424" y="348421"/>
                  <a:pt x="174210" y="348421"/>
                </a:cubicBezTo>
                <a:lnTo>
                  <a:pt x="174210" y="348421"/>
                </a:lnTo>
                <a:cubicBezTo>
                  <a:pt x="77997" y="348421"/>
                  <a:pt x="0" y="270424"/>
                  <a:pt x="0" y="174210"/>
                </a:cubicBezTo>
                <a:lnTo>
                  <a:pt x="0" y="174210"/>
                </a:lnTo>
                <a:cubicBezTo>
                  <a:pt x="0" y="77997"/>
                  <a:pt x="77997" y="0"/>
                  <a:pt x="17421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548980" y="3353549"/>
            <a:ext cx="424638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22614" y="3375325"/>
            <a:ext cx="108881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DataFrame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87088" y="3745522"/>
            <a:ext cx="696841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 + Schema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(类似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),弱类型,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Catalyst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优化器可优化执行计划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56431" y="4224600"/>
            <a:ext cx="7153511" cy="871052"/>
          </a:xfrm>
          <a:custGeom>
            <a:avLst/>
            <a:gdLst/>
            <a:ahLst/>
            <a:cxnLst/>
            <a:rect l="l" t="t" r="r" b="b"/>
            <a:pathLst>
              <a:path w="7153511" h="871052">
                <a:moveTo>
                  <a:pt x="43553" y="0"/>
                </a:moveTo>
                <a:lnTo>
                  <a:pt x="7109958" y="0"/>
                </a:lnTo>
                <a:cubicBezTo>
                  <a:pt x="7134012" y="0"/>
                  <a:pt x="7153511" y="19499"/>
                  <a:pt x="7153511" y="43553"/>
                </a:cubicBezTo>
                <a:lnTo>
                  <a:pt x="7153511" y="827499"/>
                </a:lnTo>
                <a:cubicBezTo>
                  <a:pt x="7153511" y="851552"/>
                  <a:pt x="7134012" y="871052"/>
                  <a:pt x="7109958" y="871052"/>
                </a:cubicBez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587088" y="4355258"/>
            <a:ext cx="348421" cy="348421"/>
          </a:xfrm>
          <a:custGeom>
            <a:avLst/>
            <a:gdLst/>
            <a:ahLst/>
            <a:cxnLst/>
            <a:rect l="l" t="t" r="r" b="b"/>
            <a:pathLst>
              <a:path w="348421" h="348421">
                <a:moveTo>
                  <a:pt x="174210" y="0"/>
                </a:moveTo>
                <a:lnTo>
                  <a:pt x="174210" y="0"/>
                </a:lnTo>
                <a:cubicBezTo>
                  <a:pt x="270424" y="0"/>
                  <a:pt x="348421" y="77997"/>
                  <a:pt x="348421" y="174210"/>
                </a:cubicBezTo>
                <a:lnTo>
                  <a:pt x="348421" y="174210"/>
                </a:lnTo>
                <a:cubicBezTo>
                  <a:pt x="348421" y="270424"/>
                  <a:pt x="270424" y="348421"/>
                  <a:pt x="174210" y="348421"/>
                </a:cubicBezTo>
                <a:lnTo>
                  <a:pt x="174210" y="348421"/>
                </a:lnTo>
                <a:cubicBezTo>
                  <a:pt x="77997" y="348421"/>
                  <a:pt x="0" y="270424"/>
                  <a:pt x="0" y="174210"/>
                </a:cubicBezTo>
                <a:lnTo>
                  <a:pt x="0" y="174210"/>
                </a:lnTo>
                <a:cubicBezTo>
                  <a:pt x="0" y="77997"/>
                  <a:pt x="77997" y="0"/>
                  <a:pt x="17421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548980" y="4355258"/>
            <a:ext cx="424638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22614" y="4377034"/>
            <a:ext cx="794835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Dataset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587088" y="4747231"/>
            <a:ext cx="696841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DataFrame + Type Safety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(强类型),兼具类型安全与优化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78207" y="5226309"/>
            <a:ext cx="7131735" cy="827499"/>
          </a:xfrm>
          <a:custGeom>
            <a:avLst/>
            <a:gdLst/>
            <a:ahLst/>
            <a:cxnLst/>
            <a:rect l="l" t="t" r="r" b="b"/>
            <a:pathLst>
              <a:path w="7131735" h="827499">
                <a:moveTo>
                  <a:pt x="43551" y="0"/>
                </a:moveTo>
                <a:lnTo>
                  <a:pt x="7088183" y="0"/>
                </a:lnTo>
                <a:cubicBezTo>
                  <a:pt x="7112236" y="0"/>
                  <a:pt x="7131735" y="19499"/>
                  <a:pt x="7131735" y="43551"/>
                </a:cubicBezTo>
                <a:lnTo>
                  <a:pt x="7131735" y="783948"/>
                </a:lnTo>
                <a:cubicBezTo>
                  <a:pt x="7131735" y="808000"/>
                  <a:pt x="7112236" y="827499"/>
                  <a:pt x="7088183" y="827499"/>
                </a:cubicBezTo>
                <a:lnTo>
                  <a:pt x="43551" y="827499"/>
                </a:lnTo>
                <a:cubicBezTo>
                  <a:pt x="19499" y="827499"/>
                  <a:pt x="0" y="808000"/>
                  <a:pt x="0" y="783948"/>
                </a:cubicBezTo>
                <a:lnTo>
                  <a:pt x="0" y="43551"/>
                </a:lnTo>
                <a:cubicBezTo>
                  <a:pt x="0" y="19515"/>
                  <a:pt x="19515" y="0"/>
                  <a:pt x="43551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78207" y="5226309"/>
            <a:ext cx="43553" cy="827499"/>
          </a:xfrm>
          <a:custGeom>
            <a:avLst/>
            <a:gdLst/>
            <a:ahLst/>
            <a:cxnLst/>
            <a:rect l="l" t="t" r="r" b="b"/>
            <a:pathLst>
              <a:path w="43553" h="827499">
                <a:moveTo>
                  <a:pt x="43553" y="0"/>
                </a:moveTo>
                <a:lnTo>
                  <a:pt x="43553" y="0"/>
                </a:lnTo>
                <a:lnTo>
                  <a:pt x="43553" y="827499"/>
                </a:lnTo>
                <a:lnTo>
                  <a:pt x="43553" y="827499"/>
                </a:lnTo>
                <a:cubicBezTo>
                  <a:pt x="19499" y="827499"/>
                  <a:pt x="0" y="808000"/>
                  <a:pt x="0" y="78394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630641" y="5356967"/>
            <a:ext cx="6935748" cy="56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转换关系: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三者可相互转换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(`.rdd`, `.toDF()`, `.as[]`)。DataSet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Scala/Java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中常用,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Python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中主要是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DataFrame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40970" y="6451226"/>
            <a:ext cx="15374060" cy="2253846"/>
          </a:xfrm>
          <a:custGeom>
            <a:avLst/>
            <a:gdLst/>
            <a:ahLst/>
            <a:cxnLst/>
            <a:rect l="l" t="t" r="r" b="b"/>
            <a:pathLst>
              <a:path w="15374060" h="2253846">
                <a:moveTo>
                  <a:pt x="87111" y="0"/>
                </a:moveTo>
                <a:lnTo>
                  <a:pt x="15286949" y="0"/>
                </a:lnTo>
                <a:cubicBezTo>
                  <a:pt x="15335059" y="0"/>
                  <a:pt x="15374060" y="39001"/>
                  <a:pt x="15374060" y="87111"/>
                </a:cubicBezTo>
                <a:lnTo>
                  <a:pt x="15374060" y="2166735"/>
                </a:lnTo>
                <a:cubicBezTo>
                  <a:pt x="15374060" y="2214845"/>
                  <a:pt x="15335059" y="2253846"/>
                  <a:pt x="15286949" y="2253846"/>
                </a:cubicBezTo>
                <a:lnTo>
                  <a:pt x="87111" y="2253846"/>
                </a:lnTo>
                <a:cubicBezTo>
                  <a:pt x="39001" y="2253846"/>
                  <a:pt x="0" y="2214845"/>
                  <a:pt x="0" y="2166735"/>
                </a:cubicBezTo>
                <a:lnTo>
                  <a:pt x="0" y="87111"/>
                </a:lnTo>
                <a:cubicBezTo>
                  <a:pt x="0" y="39033"/>
                  <a:pt x="39033" y="0"/>
                  <a:pt x="8711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53289" y="6674433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32664" y="32664"/>
                </a:moveTo>
                <a:cubicBezTo>
                  <a:pt x="14648" y="32664"/>
                  <a:pt x="0" y="47312"/>
                  <a:pt x="0" y="65329"/>
                </a:cubicBezTo>
                <a:lnTo>
                  <a:pt x="0" y="69106"/>
                </a:lnTo>
                <a:cubicBezTo>
                  <a:pt x="0" y="72576"/>
                  <a:pt x="2246" y="75537"/>
                  <a:pt x="5155" y="77425"/>
                </a:cubicBezTo>
                <a:cubicBezTo>
                  <a:pt x="11892" y="81814"/>
                  <a:pt x="16332" y="89368"/>
                  <a:pt x="16332" y="97993"/>
                </a:cubicBezTo>
                <a:cubicBezTo>
                  <a:pt x="16332" y="106619"/>
                  <a:pt x="11892" y="114172"/>
                  <a:pt x="5155" y="118562"/>
                </a:cubicBezTo>
                <a:cubicBezTo>
                  <a:pt x="2246" y="120450"/>
                  <a:pt x="0" y="123410"/>
                  <a:pt x="0" y="126881"/>
                </a:cubicBezTo>
                <a:lnTo>
                  <a:pt x="0" y="155156"/>
                </a:lnTo>
                <a:lnTo>
                  <a:pt x="261315" y="155156"/>
                </a:lnTo>
                <a:lnTo>
                  <a:pt x="261315" y="126881"/>
                </a:lnTo>
                <a:cubicBezTo>
                  <a:pt x="261315" y="123410"/>
                  <a:pt x="259070" y="120450"/>
                  <a:pt x="256161" y="118562"/>
                </a:cubicBezTo>
                <a:cubicBezTo>
                  <a:pt x="249424" y="114172"/>
                  <a:pt x="244983" y="106619"/>
                  <a:pt x="244983" y="97993"/>
                </a:cubicBezTo>
                <a:cubicBezTo>
                  <a:pt x="244983" y="89368"/>
                  <a:pt x="249424" y="81814"/>
                  <a:pt x="256161" y="77425"/>
                </a:cubicBezTo>
                <a:cubicBezTo>
                  <a:pt x="259070" y="75537"/>
                  <a:pt x="261315" y="72576"/>
                  <a:pt x="261315" y="69106"/>
                </a:cubicBezTo>
                <a:lnTo>
                  <a:pt x="261315" y="65329"/>
                </a:lnTo>
                <a:cubicBezTo>
                  <a:pt x="261315" y="47312"/>
                  <a:pt x="246668" y="32664"/>
                  <a:pt x="228651" y="32664"/>
                </a:cubicBezTo>
                <a:lnTo>
                  <a:pt x="32664" y="32664"/>
                </a:lnTo>
                <a:close/>
                <a:moveTo>
                  <a:pt x="261315" y="212319"/>
                </a:moveTo>
                <a:lnTo>
                  <a:pt x="261315" y="179654"/>
                </a:lnTo>
                <a:lnTo>
                  <a:pt x="0" y="179654"/>
                </a:lnTo>
                <a:lnTo>
                  <a:pt x="0" y="212319"/>
                </a:lnTo>
                <a:cubicBezTo>
                  <a:pt x="0" y="221353"/>
                  <a:pt x="7298" y="228651"/>
                  <a:pt x="16332" y="228651"/>
                </a:cubicBezTo>
                <a:lnTo>
                  <a:pt x="48997" y="228651"/>
                </a:lnTo>
                <a:lnTo>
                  <a:pt x="48997" y="216402"/>
                </a:lnTo>
                <a:cubicBezTo>
                  <a:pt x="48997" y="209614"/>
                  <a:pt x="54458" y="204153"/>
                  <a:pt x="61246" y="204153"/>
                </a:cubicBezTo>
                <a:cubicBezTo>
                  <a:pt x="68034" y="204153"/>
                  <a:pt x="73495" y="209614"/>
                  <a:pt x="73495" y="216402"/>
                </a:cubicBezTo>
                <a:lnTo>
                  <a:pt x="73495" y="228651"/>
                </a:lnTo>
                <a:lnTo>
                  <a:pt x="118409" y="228651"/>
                </a:lnTo>
                <a:lnTo>
                  <a:pt x="118409" y="216402"/>
                </a:lnTo>
                <a:cubicBezTo>
                  <a:pt x="118409" y="209614"/>
                  <a:pt x="123870" y="204153"/>
                  <a:pt x="130658" y="204153"/>
                </a:cubicBezTo>
                <a:cubicBezTo>
                  <a:pt x="137446" y="204153"/>
                  <a:pt x="142907" y="209614"/>
                  <a:pt x="142907" y="216402"/>
                </a:cubicBezTo>
                <a:lnTo>
                  <a:pt x="142907" y="228651"/>
                </a:lnTo>
                <a:lnTo>
                  <a:pt x="187820" y="228651"/>
                </a:lnTo>
                <a:lnTo>
                  <a:pt x="187820" y="216402"/>
                </a:lnTo>
                <a:cubicBezTo>
                  <a:pt x="187820" y="209614"/>
                  <a:pt x="193282" y="204153"/>
                  <a:pt x="200070" y="204153"/>
                </a:cubicBezTo>
                <a:cubicBezTo>
                  <a:pt x="206858" y="204153"/>
                  <a:pt x="212319" y="209614"/>
                  <a:pt x="212319" y="216402"/>
                </a:cubicBezTo>
                <a:lnTo>
                  <a:pt x="212319" y="228651"/>
                </a:lnTo>
                <a:lnTo>
                  <a:pt x="244983" y="228651"/>
                </a:lnTo>
                <a:cubicBezTo>
                  <a:pt x="254017" y="228651"/>
                  <a:pt x="261315" y="221353"/>
                  <a:pt x="261315" y="212319"/>
                </a:cubicBezTo>
                <a:close/>
                <a:moveTo>
                  <a:pt x="81661" y="81661"/>
                </a:moveTo>
                <a:lnTo>
                  <a:pt x="81661" y="114326"/>
                </a:lnTo>
                <a:cubicBezTo>
                  <a:pt x="81661" y="123359"/>
                  <a:pt x="74363" y="130658"/>
                  <a:pt x="65329" y="130658"/>
                </a:cubicBezTo>
                <a:cubicBezTo>
                  <a:pt x="56295" y="130658"/>
                  <a:pt x="48997" y="123359"/>
                  <a:pt x="48997" y="114326"/>
                </a:cubicBezTo>
                <a:lnTo>
                  <a:pt x="48997" y="81661"/>
                </a:lnTo>
                <a:cubicBezTo>
                  <a:pt x="48997" y="72627"/>
                  <a:pt x="56295" y="65329"/>
                  <a:pt x="65329" y="65329"/>
                </a:cubicBezTo>
                <a:cubicBezTo>
                  <a:pt x="74363" y="65329"/>
                  <a:pt x="81661" y="72627"/>
                  <a:pt x="81661" y="81661"/>
                </a:cubicBezTo>
                <a:close/>
                <a:moveTo>
                  <a:pt x="146990" y="81661"/>
                </a:moveTo>
                <a:lnTo>
                  <a:pt x="146990" y="114326"/>
                </a:lnTo>
                <a:cubicBezTo>
                  <a:pt x="146990" y="123359"/>
                  <a:pt x="139691" y="130658"/>
                  <a:pt x="130658" y="130658"/>
                </a:cubicBezTo>
                <a:cubicBezTo>
                  <a:pt x="121624" y="130658"/>
                  <a:pt x="114326" y="123359"/>
                  <a:pt x="114326" y="114326"/>
                </a:cubicBezTo>
                <a:lnTo>
                  <a:pt x="114326" y="81661"/>
                </a:lnTo>
                <a:cubicBezTo>
                  <a:pt x="114326" y="72627"/>
                  <a:pt x="121624" y="65329"/>
                  <a:pt x="130658" y="65329"/>
                </a:cubicBezTo>
                <a:cubicBezTo>
                  <a:pt x="139691" y="65329"/>
                  <a:pt x="146990" y="72627"/>
                  <a:pt x="146990" y="81661"/>
                </a:cubicBezTo>
                <a:close/>
                <a:moveTo>
                  <a:pt x="212319" y="81661"/>
                </a:moveTo>
                <a:lnTo>
                  <a:pt x="212319" y="114326"/>
                </a:lnTo>
                <a:cubicBezTo>
                  <a:pt x="212319" y="123359"/>
                  <a:pt x="205020" y="130658"/>
                  <a:pt x="195987" y="130658"/>
                </a:cubicBezTo>
                <a:cubicBezTo>
                  <a:pt x="186953" y="130658"/>
                  <a:pt x="179654" y="123359"/>
                  <a:pt x="179654" y="114326"/>
                </a:cubicBezTo>
                <a:lnTo>
                  <a:pt x="179654" y="81661"/>
                </a:lnTo>
                <a:cubicBezTo>
                  <a:pt x="179654" y="72627"/>
                  <a:pt x="186953" y="65329"/>
                  <a:pt x="195987" y="65329"/>
                </a:cubicBezTo>
                <a:cubicBezTo>
                  <a:pt x="205020" y="65329"/>
                  <a:pt x="212319" y="72627"/>
                  <a:pt x="212319" y="8166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47269" y="6630880"/>
            <a:ext cx="14818765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持久化与缓存(</a:t>
            </a:r>
            <a:r>
              <a:rPr lang="en-US" sz="2058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Caching/Persistence</a:t>
            </a:r>
            <a:r>
              <a:rPr lang="en-US" sz="205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0624" y="7109958"/>
            <a:ext cx="4888777" cy="1415459"/>
          </a:xfrm>
          <a:custGeom>
            <a:avLst/>
            <a:gdLst/>
            <a:ahLst/>
            <a:cxnLst/>
            <a:rect l="l" t="t" r="r" b="b"/>
            <a:pathLst>
              <a:path w="4888777" h="1415459">
                <a:moveTo>
                  <a:pt x="43554" y="0"/>
                </a:moveTo>
                <a:lnTo>
                  <a:pt x="4845223" y="0"/>
                </a:lnTo>
                <a:cubicBezTo>
                  <a:pt x="4869277" y="0"/>
                  <a:pt x="4888777" y="19500"/>
                  <a:pt x="4888777" y="43554"/>
                </a:cubicBezTo>
                <a:lnTo>
                  <a:pt x="4888777" y="1371905"/>
                </a:lnTo>
                <a:cubicBezTo>
                  <a:pt x="4888777" y="1395959"/>
                  <a:pt x="4869277" y="1415459"/>
                  <a:pt x="4845223" y="1415459"/>
                </a:cubicBezTo>
                <a:lnTo>
                  <a:pt x="43554" y="1415459"/>
                </a:lnTo>
                <a:cubicBezTo>
                  <a:pt x="19500" y="1415459"/>
                  <a:pt x="0" y="1395959"/>
                  <a:pt x="0" y="1371905"/>
                </a:cubicBezTo>
                <a:lnTo>
                  <a:pt x="0" y="43554"/>
                </a:lnTo>
                <a:cubicBezTo>
                  <a:pt x="0" y="19516"/>
                  <a:pt x="19516" y="0"/>
                  <a:pt x="4355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51282" y="7240616"/>
            <a:ext cx="4725455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目的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1282" y="7632589"/>
            <a:ext cx="4714567" cy="283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避免重复计算,加速迭代算法(如机器学习、图计算)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84802" y="7109958"/>
            <a:ext cx="4888777" cy="1415459"/>
          </a:xfrm>
          <a:custGeom>
            <a:avLst/>
            <a:gdLst/>
            <a:ahLst/>
            <a:cxnLst/>
            <a:rect l="l" t="t" r="r" b="b"/>
            <a:pathLst>
              <a:path w="4888777" h="1415459">
                <a:moveTo>
                  <a:pt x="43554" y="0"/>
                </a:moveTo>
                <a:lnTo>
                  <a:pt x="4845223" y="0"/>
                </a:lnTo>
                <a:cubicBezTo>
                  <a:pt x="4869277" y="0"/>
                  <a:pt x="4888777" y="19500"/>
                  <a:pt x="4888777" y="43554"/>
                </a:cubicBezTo>
                <a:lnTo>
                  <a:pt x="4888777" y="1371905"/>
                </a:lnTo>
                <a:cubicBezTo>
                  <a:pt x="4888777" y="1395959"/>
                  <a:pt x="4869277" y="1415459"/>
                  <a:pt x="4845223" y="1415459"/>
                </a:cubicBezTo>
                <a:lnTo>
                  <a:pt x="43554" y="1415459"/>
                </a:lnTo>
                <a:cubicBezTo>
                  <a:pt x="19500" y="1415459"/>
                  <a:pt x="0" y="1395959"/>
                  <a:pt x="0" y="1371905"/>
                </a:cubicBezTo>
                <a:lnTo>
                  <a:pt x="0" y="43554"/>
                </a:lnTo>
                <a:cubicBezTo>
                  <a:pt x="0" y="19516"/>
                  <a:pt x="19516" y="0"/>
                  <a:pt x="4355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815460" y="7240616"/>
            <a:ext cx="4725455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级别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815460" y="7632589"/>
            <a:ext cx="470367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MEMORY_ONLY 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快但耗内存(默认)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815460" y="7899349"/>
            <a:ext cx="470367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MEMORY_AND_DISK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内存不够溢写磁盘(稳)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815460" y="8166109"/>
            <a:ext cx="470367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DISK_ONLY </a:t>
            </a:r>
            <a:r>
              <a:rPr lang="en-US" sz="12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仅磁盘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748981" y="7109958"/>
            <a:ext cx="4888777" cy="1415459"/>
          </a:xfrm>
          <a:custGeom>
            <a:avLst/>
            <a:gdLst/>
            <a:ahLst/>
            <a:cxnLst/>
            <a:rect l="l" t="t" r="r" b="b"/>
            <a:pathLst>
              <a:path w="4888777" h="1415459">
                <a:moveTo>
                  <a:pt x="43554" y="0"/>
                </a:moveTo>
                <a:lnTo>
                  <a:pt x="4845223" y="0"/>
                </a:lnTo>
                <a:cubicBezTo>
                  <a:pt x="4869277" y="0"/>
                  <a:pt x="4888777" y="19500"/>
                  <a:pt x="4888777" y="43554"/>
                </a:cubicBezTo>
                <a:lnTo>
                  <a:pt x="4888777" y="1371905"/>
                </a:lnTo>
                <a:cubicBezTo>
                  <a:pt x="4888777" y="1395959"/>
                  <a:pt x="4869277" y="1415459"/>
                  <a:pt x="4845223" y="1415459"/>
                </a:cubicBezTo>
                <a:lnTo>
                  <a:pt x="43554" y="1415459"/>
                </a:lnTo>
                <a:cubicBezTo>
                  <a:pt x="19500" y="1415459"/>
                  <a:pt x="0" y="1395959"/>
                  <a:pt x="0" y="1371905"/>
                </a:cubicBezTo>
                <a:lnTo>
                  <a:pt x="0" y="43554"/>
                </a:lnTo>
                <a:cubicBezTo>
                  <a:pt x="0" y="19516"/>
                  <a:pt x="19516" y="0"/>
                  <a:pt x="4355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879638" y="7240616"/>
            <a:ext cx="4725455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性能优势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879638" y="7632589"/>
            <a:ext cx="4714567" cy="56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zh-CN" alt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372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基于内存计算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 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DAG</a:t>
            </a:r>
            <a:r>
              <a:rPr lang="zh-CN" alt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372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 </a:t>
            </a:r>
            <a:r>
              <a:rPr lang="en-US" sz="1372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线程级</a:t>
            </a:r>
            <a:r>
              <a:rPr lang="zh-CN" alt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72" dirty="0" err="1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Task</a:t>
            </a:r>
            <a:r>
              <a:rPr lang="en-US" sz="1372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,比</a:t>
            </a:r>
            <a:r>
              <a:rPr lang="zh-CN" alt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37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快10-100倍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493" y="482374"/>
            <a:ext cx="1555656" cy="385899"/>
          </a:xfrm>
          <a:custGeom>
            <a:avLst/>
            <a:gdLst/>
            <a:ahLst/>
            <a:cxnLst/>
            <a:rect l="l" t="t" r="r" b="b"/>
            <a:pathLst>
              <a:path w="1555656" h="385899">
                <a:moveTo>
                  <a:pt x="0" y="0"/>
                </a:moveTo>
                <a:lnTo>
                  <a:pt x="1555656" y="0"/>
                </a:lnTo>
                <a:lnTo>
                  <a:pt x="1555656" y="385899"/>
                </a:lnTo>
                <a:lnTo>
                  <a:pt x="0" y="385899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6493" y="482374"/>
            <a:ext cx="48237" cy="385899"/>
          </a:xfrm>
          <a:custGeom>
            <a:avLst/>
            <a:gdLst/>
            <a:ahLst/>
            <a:cxnLst/>
            <a:rect l="l" t="t" r="r" b="b"/>
            <a:pathLst>
              <a:path w="48237" h="385899">
                <a:moveTo>
                  <a:pt x="0" y="0"/>
                </a:moveTo>
                <a:lnTo>
                  <a:pt x="48237" y="0"/>
                </a:lnTo>
                <a:lnTo>
                  <a:pt x="48237" y="385899"/>
                </a:lnTo>
                <a:lnTo>
                  <a:pt x="0" y="385899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5323" y="548700"/>
            <a:ext cx="1339153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kern="0" spc="76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07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2374" y="964748"/>
            <a:ext cx="15508320" cy="48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依赖关系、</a:t>
            </a:r>
            <a:r>
              <a:rPr lang="en-US" sz="341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Stage</a:t>
            </a:r>
            <a:r>
              <a:rPr lang="en-US" sz="341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划分与容错成本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2374" y="1664190"/>
            <a:ext cx="7525033" cy="3690160"/>
          </a:xfrm>
          <a:custGeom>
            <a:avLst/>
            <a:gdLst/>
            <a:ahLst/>
            <a:cxnLst/>
            <a:rect l="l" t="t" r="r" b="b"/>
            <a:pathLst>
              <a:path w="7525033" h="3690160">
                <a:moveTo>
                  <a:pt x="48237" y="0"/>
                </a:moveTo>
                <a:lnTo>
                  <a:pt x="7476795" y="0"/>
                </a:lnTo>
                <a:cubicBezTo>
                  <a:pt x="7503436" y="0"/>
                  <a:pt x="7525033" y="21597"/>
                  <a:pt x="7525033" y="48237"/>
                </a:cubicBezTo>
                <a:lnTo>
                  <a:pt x="7525033" y="3593699"/>
                </a:lnTo>
                <a:cubicBezTo>
                  <a:pt x="7525033" y="3646973"/>
                  <a:pt x="7481846" y="3690160"/>
                  <a:pt x="7428572" y="3690160"/>
                </a:cubicBezTo>
                <a:lnTo>
                  <a:pt x="96461" y="3690160"/>
                </a:lnTo>
                <a:cubicBezTo>
                  <a:pt x="43187" y="3690160"/>
                  <a:pt x="0" y="3646973"/>
                  <a:pt x="0" y="3593699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2374" y="1664190"/>
            <a:ext cx="7525033" cy="48237"/>
          </a:xfrm>
          <a:custGeom>
            <a:avLst/>
            <a:gdLst/>
            <a:ahLst/>
            <a:cxnLst/>
            <a:rect l="l" t="t" r="r" b="b"/>
            <a:pathLst>
              <a:path w="7525033" h="48237">
                <a:moveTo>
                  <a:pt x="48237" y="0"/>
                </a:moveTo>
                <a:lnTo>
                  <a:pt x="7476795" y="0"/>
                </a:lnTo>
                <a:cubicBezTo>
                  <a:pt x="7503436" y="0"/>
                  <a:pt x="7525033" y="21597"/>
                  <a:pt x="7525033" y="48237"/>
                </a:cubicBezTo>
                <a:lnTo>
                  <a:pt x="7525033" y="48237"/>
                </a:lnTo>
                <a:lnTo>
                  <a:pt x="0" y="48237"/>
                </a:ln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1650" y="1977733"/>
            <a:ext cx="325602" cy="289424"/>
          </a:xfrm>
          <a:custGeom>
            <a:avLst/>
            <a:gdLst/>
            <a:ahLst/>
            <a:cxnLst/>
            <a:rect l="l" t="t" r="r" b="b"/>
            <a:pathLst>
              <a:path w="325602" h="289424">
                <a:moveTo>
                  <a:pt x="237136" y="54267"/>
                </a:moveTo>
                <a:cubicBezTo>
                  <a:pt x="227752" y="54267"/>
                  <a:pt x="218651" y="56811"/>
                  <a:pt x="210681" y="61446"/>
                </a:cubicBezTo>
                <a:cubicBezTo>
                  <a:pt x="201749" y="52402"/>
                  <a:pt x="191348" y="44827"/>
                  <a:pt x="179873" y="39118"/>
                </a:cubicBezTo>
                <a:cubicBezTo>
                  <a:pt x="195814" y="25551"/>
                  <a:pt x="216107" y="18089"/>
                  <a:pt x="237136" y="18089"/>
                </a:cubicBezTo>
                <a:cubicBezTo>
                  <a:pt x="285976" y="18089"/>
                  <a:pt x="325602" y="57659"/>
                  <a:pt x="325602" y="106556"/>
                </a:cubicBezTo>
                <a:cubicBezTo>
                  <a:pt x="325602" y="130015"/>
                  <a:pt x="316275" y="152513"/>
                  <a:pt x="299712" y="169076"/>
                </a:cubicBezTo>
                <a:lnTo>
                  <a:pt x="259521" y="209267"/>
                </a:lnTo>
                <a:cubicBezTo>
                  <a:pt x="242958" y="225830"/>
                  <a:pt x="220460" y="235157"/>
                  <a:pt x="197001" y="235157"/>
                </a:cubicBezTo>
                <a:cubicBezTo>
                  <a:pt x="148160" y="235157"/>
                  <a:pt x="108534" y="195588"/>
                  <a:pt x="108534" y="146691"/>
                </a:cubicBezTo>
                <a:cubicBezTo>
                  <a:pt x="108534" y="145843"/>
                  <a:pt x="108534" y="144995"/>
                  <a:pt x="108591" y="144147"/>
                </a:cubicBezTo>
                <a:cubicBezTo>
                  <a:pt x="108873" y="134141"/>
                  <a:pt x="117183" y="126284"/>
                  <a:pt x="127188" y="126567"/>
                </a:cubicBezTo>
                <a:cubicBezTo>
                  <a:pt x="137194" y="126849"/>
                  <a:pt x="145051" y="135159"/>
                  <a:pt x="144769" y="145164"/>
                </a:cubicBezTo>
                <a:cubicBezTo>
                  <a:pt x="144769" y="145673"/>
                  <a:pt x="144769" y="146182"/>
                  <a:pt x="144769" y="146634"/>
                </a:cubicBezTo>
                <a:cubicBezTo>
                  <a:pt x="144769" y="175520"/>
                  <a:pt x="168171" y="198923"/>
                  <a:pt x="197057" y="198923"/>
                </a:cubicBezTo>
                <a:cubicBezTo>
                  <a:pt x="210907" y="198923"/>
                  <a:pt x="224191" y="193439"/>
                  <a:pt x="234027" y="183604"/>
                </a:cubicBezTo>
                <a:lnTo>
                  <a:pt x="274218" y="143412"/>
                </a:lnTo>
                <a:cubicBezTo>
                  <a:pt x="283998" y="133633"/>
                  <a:pt x="289537" y="120292"/>
                  <a:pt x="289537" y="106443"/>
                </a:cubicBezTo>
                <a:cubicBezTo>
                  <a:pt x="289537" y="77557"/>
                  <a:pt x="266135" y="54154"/>
                  <a:pt x="237249" y="54154"/>
                </a:cubicBezTo>
                <a:close/>
                <a:moveTo>
                  <a:pt x="155566" y="97963"/>
                </a:moveTo>
                <a:cubicBezTo>
                  <a:pt x="154492" y="97511"/>
                  <a:pt x="153418" y="96889"/>
                  <a:pt x="152457" y="96211"/>
                </a:cubicBezTo>
                <a:cubicBezTo>
                  <a:pt x="145334" y="92537"/>
                  <a:pt x="137194" y="90445"/>
                  <a:pt x="128658" y="90445"/>
                </a:cubicBezTo>
                <a:cubicBezTo>
                  <a:pt x="114809" y="90445"/>
                  <a:pt x="101525" y="95928"/>
                  <a:pt x="91689" y="105764"/>
                </a:cubicBezTo>
                <a:lnTo>
                  <a:pt x="51497" y="145956"/>
                </a:lnTo>
                <a:cubicBezTo>
                  <a:pt x="41718" y="155735"/>
                  <a:pt x="36178" y="169076"/>
                  <a:pt x="36178" y="182925"/>
                </a:cubicBezTo>
                <a:cubicBezTo>
                  <a:pt x="36178" y="211811"/>
                  <a:pt x="59581" y="235214"/>
                  <a:pt x="88467" y="235214"/>
                </a:cubicBezTo>
                <a:cubicBezTo>
                  <a:pt x="97794" y="235214"/>
                  <a:pt x="106895" y="232727"/>
                  <a:pt x="114865" y="228091"/>
                </a:cubicBezTo>
                <a:cubicBezTo>
                  <a:pt x="123797" y="237136"/>
                  <a:pt x="134198" y="244711"/>
                  <a:pt x="145730" y="250420"/>
                </a:cubicBezTo>
                <a:cubicBezTo>
                  <a:pt x="129789" y="263930"/>
                  <a:pt x="109552" y="271448"/>
                  <a:pt x="88467" y="271448"/>
                </a:cubicBezTo>
                <a:cubicBezTo>
                  <a:pt x="39626" y="271448"/>
                  <a:pt x="0" y="231879"/>
                  <a:pt x="0" y="182982"/>
                </a:cubicBezTo>
                <a:cubicBezTo>
                  <a:pt x="0" y="159523"/>
                  <a:pt x="9327" y="137024"/>
                  <a:pt x="25890" y="120462"/>
                </a:cubicBezTo>
                <a:lnTo>
                  <a:pt x="66081" y="80270"/>
                </a:lnTo>
                <a:cubicBezTo>
                  <a:pt x="82644" y="63707"/>
                  <a:pt x="105142" y="54380"/>
                  <a:pt x="128602" y="54380"/>
                </a:cubicBezTo>
                <a:cubicBezTo>
                  <a:pt x="177555" y="54380"/>
                  <a:pt x="217068" y="94289"/>
                  <a:pt x="217068" y="143073"/>
                </a:cubicBezTo>
                <a:cubicBezTo>
                  <a:pt x="217068" y="143808"/>
                  <a:pt x="217068" y="144543"/>
                  <a:pt x="217068" y="145277"/>
                </a:cubicBezTo>
                <a:cubicBezTo>
                  <a:pt x="216842" y="155283"/>
                  <a:pt x="208532" y="163140"/>
                  <a:pt x="198527" y="162914"/>
                </a:cubicBezTo>
                <a:cubicBezTo>
                  <a:pt x="188522" y="162688"/>
                  <a:pt x="180664" y="154378"/>
                  <a:pt x="180890" y="144373"/>
                </a:cubicBezTo>
                <a:cubicBezTo>
                  <a:pt x="180890" y="143921"/>
                  <a:pt x="180890" y="143525"/>
                  <a:pt x="180890" y="143073"/>
                </a:cubicBezTo>
                <a:cubicBezTo>
                  <a:pt x="180890" y="124023"/>
                  <a:pt x="170715" y="107291"/>
                  <a:pt x="155566" y="9807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85341" y="1929496"/>
            <a:ext cx="6825591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窄依赖 vs 宽依赖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7680" y="2460107"/>
            <a:ext cx="7018540" cy="1254172"/>
          </a:xfrm>
          <a:custGeom>
            <a:avLst/>
            <a:gdLst/>
            <a:ahLst/>
            <a:cxnLst/>
            <a:rect l="l" t="t" r="r" b="b"/>
            <a:pathLst>
              <a:path w="7018540" h="1254172">
                <a:moveTo>
                  <a:pt x="48235" y="0"/>
                </a:moveTo>
                <a:lnTo>
                  <a:pt x="6970305" y="0"/>
                </a:lnTo>
                <a:cubicBezTo>
                  <a:pt x="6996944" y="0"/>
                  <a:pt x="7018540" y="21596"/>
                  <a:pt x="7018540" y="48235"/>
                </a:cubicBezTo>
                <a:lnTo>
                  <a:pt x="7018540" y="1205937"/>
                </a:lnTo>
                <a:cubicBezTo>
                  <a:pt x="7018540" y="1232576"/>
                  <a:pt x="6996944" y="1254172"/>
                  <a:pt x="6970305" y="1254172"/>
                </a:cubicBezTo>
                <a:lnTo>
                  <a:pt x="48235" y="1254172"/>
                </a:lnTo>
                <a:cubicBezTo>
                  <a:pt x="21596" y="1254172"/>
                  <a:pt x="0" y="1232576"/>
                  <a:pt x="0" y="1205937"/>
                </a:cubicBezTo>
                <a:lnTo>
                  <a:pt x="0" y="48235"/>
                </a:lnTo>
                <a:cubicBezTo>
                  <a:pt x="0" y="21614"/>
                  <a:pt x="21614" y="0"/>
                  <a:pt x="4823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7680" y="2460107"/>
            <a:ext cx="48237" cy="1254172"/>
          </a:xfrm>
          <a:custGeom>
            <a:avLst/>
            <a:gdLst/>
            <a:ahLst/>
            <a:cxnLst/>
            <a:rect l="l" t="t" r="r" b="b"/>
            <a:pathLst>
              <a:path w="48237" h="1254172">
                <a:moveTo>
                  <a:pt x="48237" y="0"/>
                </a:moveTo>
                <a:lnTo>
                  <a:pt x="48237" y="0"/>
                </a:lnTo>
                <a:lnTo>
                  <a:pt x="48237" y="1254172"/>
                </a:lnTo>
                <a:lnTo>
                  <a:pt x="48237" y="1254172"/>
                </a:lnTo>
                <a:cubicBezTo>
                  <a:pt x="21597" y="1254172"/>
                  <a:pt x="0" y="1232575"/>
                  <a:pt x="0" y="1205935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0629" y="2677175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189407" y="104992"/>
                </a:moveTo>
                <a:cubicBezTo>
                  <a:pt x="194118" y="100281"/>
                  <a:pt x="194118" y="92631"/>
                  <a:pt x="189407" y="87920"/>
                </a:cubicBezTo>
                <a:lnTo>
                  <a:pt x="129110" y="27623"/>
                </a:lnTo>
                <a:cubicBezTo>
                  <a:pt x="124400" y="22913"/>
                  <a:pt x="116750" y="22913"/>
                  <a:pt x="112039" y="27623"/>
                </a:cubicBezTo>
                <a:cubicBezTo>
                  <a:pt x="107328" y="32334"/>
                  <a:pt x="107328" y="39984"/>
                  <a:pt x="112039" y="44695"/>
                </a:cubicBezTo>
                <a:lnTo>
                  <a:pt x="151759" y="84415"/>
                </a:lnTo>
                <a:lnTo>
                  <a:pt x="12059" y="84415"/>
                </a:lnTo>
                <a:cubicBezTo>
                  <a:pt x="5389" y="84415"/>
                  <a:pt x="0" y="89804"/>
                  <a:pt x="0" y="96475"/>
                </a:cubicBezTo>
                <a:cubicBezTo>
                  <a:pt x="0" y="103145"/>
                  <a:pt x="5389" y="108534"/>
                  <a:pt x="12059" y="108534"/>
                </a:cubicBezTo>
                <a:lnTo>
                  <a:pt x="151759" y="108534"/>
                </a:lnTo>
                <a:lnTo>
                  <a:pt x="112039" y="148255"/>
                </a:lnTo>
                <a:cubicBezTo>
                  <a:pt x="107328" y="152965"/>
                  <a:pt x="107328" y="160615"/>
                  <a:pt x="112039" y="165326"/>
                </a:cubicBezTo>
                <a:cubicBezTo>
                  <a:pt x="116750" y="170037"/>
                  <a:pt x="124400" y="170037"/>
                  <a:pt x="129110" y="165326"/>
                </a:cubicBezTo>
                <a:lnTo>
                  <a:pt x="189407" y="10502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54172" y="2604819"/>
            <a:ext cx="1628012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窄依赖(</a:t>
            </a:r>
            <a:r>
              <a:rPr lang="en-US" sz="170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Narrow</a:t>
            </a:r>
            <a:r>
              <a:rPr lang="en-US" sz="17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6510" y="2990718"/>
            <a:ext cx="6789412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父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分区只被一个子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分区使用(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One-to-One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),如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map、filter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6510" y="3280142"/>
            <a:ext cx="6704997" cy="289424"/>
          </a:xfrm>
          <a:custGeom>
            <a:avLst/>
            <a:gdLst/>
            <a:ahLst/>
            <a:cxnLst/>
            <a:rect l="l" t="t" r="r" b="b"/>
            <a:pathLst>
              <a:path w="6704997" h="289424">
                <a:moveTo>
                  <a:pt x="48238" y="0"/>
                </a:moveTo>
                <a:lnTo>
                  <a:pt x="6656759" y="0"/>
                </a:lnTo>
                <a:cubicBezTo>
                  <a:pt x="6683400" y="0"/>
                  <a:pt x="6704997" y="21597"/>
                  <a:pt x="6704997" y="48238"/>
                </a:cubicBezTo>
                <a:lnTo>
                  <a:pt x="6704997" y="241186"/>
                </a:lnTo>
                <a:cubicBezTo>
                  <a:pt x="6704997" y="267827"/>
                  <a:pt x="6683400" y="289424"/>
                  <a:pt x="6656759" y="289424"/>
                </a:cubicBezTo>
                <a:lnTo>
                  <a:pt x="48238" y="289424"/>
                </a:lnTo>
                <a:cubicBezTo>
                  <a:pt x="21597" y="289424"/>
                  <a:pt x="0" y="267827"/>
                  <a:pt x="0" y="241186"/>
                </a:cubicBezTo>
                <a:lnTo>
                  <a:pt x="0" y="48238"/>
                </a:lnTo>
                <a:cubicBezTo>
                  <a:pt x="0" y="21597"/>
                  <a:pt x="21597" y="0"/>
                  <a:pt x="4823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4748" y="3328380"/>
            <a:ext cx="6680878" cy="19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</a:t>
            </a:r>
            <a:r>
              <a:rPr lang="en-US" sz="113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Pipeline</a:t>
            </a:r>
            <a:r>
              <a:rPr lang="en-US" sz="113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执行,无</a:t>
            </a:r>
            <a:r>
              <a:rPr lang="en-US" sz="113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7680" y="3858991"/>
            <a:ext cx="7018540" cy="1254172"/>
          </a:xfrm>
          <a:custGeom>
            <a:avLst/>
            <a:gdLst/>
            <a:ahLst/>
            <a:cxnLst/>
            <a:rect l="l" t="t" r="r" b="b"/>
            <a:pathLst>
              <a:path w="7018540" h="1254172">
                <a:moveTo>
                  <a:pt x="48235" y="0"/>
                </a:moveTo>
                <a:lnTo>
                  <a:pt x="6970305" y="0"/>
                </a:lnTo>
                <a:cubicBezTo>
                  <a:pt x="6996944" y="0"/>
                  <a:pt x="7018540" y="21596"/>
                  <a:pt x="7018540" y="48235"/>
                </a:cubicBezTo>
                <a:lnTo>
                  <a:pt x="7018540" y="1205937"/>
                </a:lnTo>
                <a:cubicBezTo>
                  <a:pt x="7018540" y="1232576"/>
                  <a:pt x="6996944" y="1254172"/>
                  <a:pt x="6970305" y="1254172"/>
                </a:cubicBezTo>
                <a:lnTo>
                  <a:pt x="48235" y="1254172"/>
                </a:lnTo>
                <a:cubicBezTo>
                  <a:pt x="21596" y="1254172"/>
                  <a:pt x="0" y="1232576"/>
                  <a:pt x="0" y="1205937"/>
                </a:cubicBezTo>
                <a:lnTo>
                  <a:pt x="0" y="48235"/>
                </a:lnTo>
                <a:cubicBezTo>
                  <a:pt x="0" y="21614"/>
                  <a:pt x="21614" y="0"/>
                  <a:pt x="4823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7680" y="3858991"/>
            <a:ext cx="48237" cy="1254172"/>
          </a:xfrm>
          <a:custGeom>
            <a:avLst/>
            <a:gdLst/>
            <a:ahLst/>
            <a:cxnLst/>
            <a:rect l="l" t="t" r="r" b="b"/>
            <a:pathLst>
              <a:path w="48237" h="1254172">
                <a:moveTo>
                  <a:pt x="48237" y="0"/>
                </a:moveTo>
                <a:lnTo>
                  <a:pt x="48237" y="0"/>
                </a:lnTo>
                <a:lnTo>
                  <a:pt x="48237" y="1254172"/>
                </a:lnTo>
                <a:lnTo>
                  <a:pt x="48237" y="1254172"/>
                </a:lnTo>
                <a:cubicBezTo>
                  <a:pt x="21597" y="1254172"/>
                  <a:pt x="0" y="1232575"/>
                  <a:pt x="0" y="1205935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40629" y="4076059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152174" y="12964"/>
                </a:moveTo>
                <a:cubicBezTo>
                  <a:pt x="156696" y="11080"/>
                  <a:pt x="161859" y="12135"/>
                  <a:pt x="165326" y="15564"/>
                </a:cubicBezTo>
                <a:lnTo>
                  <a:pt x="189445" y="39683"/>
                </a:lnTo>
                <a:cubicBezTo>
                  <a:pt x="191706" y="41944"/>
                  <a:pt x="192987" y="44996"/>
                  <a:pt x="192987" y="48200"/>
                </a:cubicBezTo>
                <a:cubicBezTo>
                  <a:pt x="192987" y="51403"/>
                  <a:pt x="191706" y="54455"/>
                  <a:pt x="189445" y="56717"/>
                </a:cubicBezTo>
                <a:lnTo>
                  <a:pt x="165326" y="80835"/>
                </a:lnTo>
                <a:cubicBezTo>
                  <a:pt x="161859" y="84302"/>
                  <a:pt x="156696" y="85320"/>
                  <a:pt x="152174" y="83436"/>
                </a:cubicBezTo>
                <a:cubicBezTo>
                  <a:pt x="147652" y="81551"/>
                  <a:pt x="144712" y="77218"/>
                  <a:pt x="144712" y="72356"/>
                </a:cubicBezTo>
                <a:lnTo>
                  <a:pt x="144712" y="60297"/>
                </a:lnTo>
                <a:lnTo>
                  <a:pt x="132653" y="60297"/>
                </a:lnTo>
                <a:cubicBezTo>
                  <a:pt x="128847" y="60297"/>
                  <a:pt x="125266" y="62068"/>
                  <a:pt x="123005" y="65120"/>
                </a:cubicBezTo>
                <a:lnTo>
                  <a:pt x="110795" y="81401"/>
                </a:lnTo>
                <a:lnTo>
                  <a:pt x="95721" y="61314"/>
                </a:lnTo>
                <a:lnTo>
                  <a:pt x="103710" y="50649"/>
                </a:lnTo>
                <a:cubicBezTo>
                  <a:pt x="110531" y="41529"/>
                  <a:pt x="121272" y="36178"/>
                  <a:pt x="132653" y="36178"/>
                </a:cubicBezTo>
                <a:lnTo>
                  <a:pt x="144712" y="36178"/>
                </a:lnTo>
                <a:lnTo>
                  <a:pt x="144712" y="24119"/>
                </a:lnTo>
                <a:cubicBezTo>
                  <a:pt x="144712" y="19257"/>
                  <a:pt x="147652" y="14848"/>
                  <a:pt x="152174" y="12964"/>
                </a:cubicBezTo>
                <a:close/>
                <a:moveTo>
                  <a:pt x="58036" y="111549"/>
                </a:moveTo>
                <a:lnTo>
                  <a:pt x="73110" y="131635"/>
                </a:lnTo>
                <a:lnTo>
                  <a:pt x="65120" y="142300"/>
                </a:lnTo>
                <a:cubicBezTo>
                  <a:pt x="58299" y="151420"/>
                  <a:pt x="47559" y="156772"/>
                  <a:pt x="36178" y="156772"/>
                </a:cubicBezTo>
                <a:lnTo>
                  <a:pt x="12059" y="156772"/>
                </a:lnTo>
                <a:cubicBezTo>
                  <a:pt x="5389" y="156772"/>
                  <a:pt x="0" y="151382"/>
                  <a:pt x="0" y="144712"/>
                </a:cubicBezTo>
                <a:cubicBezTo>
                  <a:pt x="0" y="138042"/>
                  <a:pt x="5389" y="132653"/>
                  <a:pt x="12059" y="132653"/>
                </a:cubicBezTo>
                <a:lnTo>
                  <a:pt x="36178" y="132653"/>
                </a:lnTo>
                <a:cubicBezTo>
                  <a:pt x="39984" y="132653"/>
                  <a:pt x="43564" y="130882"/>
                  <a:pt x="45826" y="127829"/>
                </a:cubicBezTo>
                <a:lnTo>
                  <a:pt x="58036" y="111549"/>
                </a:lnTo>
                <a:close/>
                <a:moveTo>
                  <a:pt x="165288" y="177348"/>
                </a:moveTo>
                <a:cubicBezTo>
                  <a:pt x="161821" y="180815"/>
                  <a:pt x="156658" y="181832"/>
                  <a:pt x="152136" y="179948"/>
                </a:cubicBezTo>
                <a:cubicBezTo>
                  <a:pt x="147614" y="178064"/>
                  <a:pt x="144712" y="173692"/>
                  <a:pt x="144712" y="168831"/>
                </a:cubicBezTo>
                <a:lnTo>
                  <a:pt x="144712" y="156772"/>
                </a:lnTo>
                <a:lnTo>
                  <a:pt x="132653" y="156772"/>
                </a:lnTo>
                <a:cubicBezTo>
                  <a:pt x="121272" y="156772"/>
                  <a:pt x="110531" y="151420"/>
                  <a:pt x="103710" y="142300"/>
                </a:cubicBezTo>
                <a:lnTo>
                  <a:pt x="45826" y="65120"/>
                </a:lnTo>
                <a:cubicBezTo>
                  <a:pt x="43564" y="62068"/>
                  <a:pt x="39984" y="60297"/>
                  <a:pt x="36178" y="60297"/>
                </a:cubicBezTo>
                <a:lnTo>
                  <a:pt x="12059" y="60297"/>
                </a:lnTo>
                <a:cubicBezTo>
                  <a:pt x="5389" y="60297"/>
                  <a:pt x="0" y="54908"/>
                  <a:pt x="0" y="48237"/>
                </a:cubicBezTo>
                <a:cubicBezTo>
                  <a:pt x="0" y="41567"/>
                  <a:pt x="5389" y="36178"/>
                  <a:pt x="12059" y="36178"/>
                </a:cubicBezTo>
                <a:lnTo>
                  <a:pt x="36178" y="36178"/>
                </a:lnTo>
                <a:cubicBezTo>
                  <a:pt x="47559" y="36178"/>
                  <a:pt x="58299" y="41529"/>
                  <a:pt x="65120" y="50649"/>
                </a:cubicBezTo>
                <a:lnTo>
                  <a:pt x="123005" y="127829"/>
                </a:lnTo>
                <a:cubicBezTo>
                  <a:pt x="125266" y="130882"/>
                  <a:pt x="128847" y="132653"/>
                  <a:pt x="132653" y="132653"/>
                </a:cubicBezTo>
                <a:lnTo>
                  <a:pt x="144712" y="132653"/>
                </a:lnTo>
                <a:lnTo>
                  <a:pt x="144712" y="120593"/>
                </a:lnTo>
                <a:cubicBezTo>
                  <a:pt x="144712" y="115732"/>
                  <a:pt x="147652" y="111323"/>
                  <a:pt x="152174" y="109439"/>
                </a:cubicBezTo>
                <a:cubicBezTo>
                  <a:pt x="156696" y="107554"/>
                  <a:pt x="161859" y="108609"/>
                  <a:pt x="165326" y="112039"/>
                </a:cubicBezTo>
                <a:lnTo>
                  <a:pt x="189445" y="136158"/>
                </a:lnTo>
                <a:cubicBezTo>
                  <a:pt x="191706" y="138419"/>
                  <a:pt x="192987" y="141471"/>
                  <a:pt x="192987" y="144674"/>
                </a:cubicBezTo>
                <a:cubicBezTo>
                  <a:pt x="192987" y="147878"/>
                  <a:pt x="191706" y="150930"/>
                  <a:pt x="189445" y="153191"/>
                </a:cubicBezTo>
                <a:lnTo>
                  <a:pt x="165326" y="17731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54172" y="4003703"/>
            <a:ext cx="1398884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宽依赖(</a:t>
            </a:r>
            <a:r>
              <a:rPr lang="en-US" sz="170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Wide</a:t>
            </a:r>
            <a:r>
              <a:rPr lang="en-US" sz="17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6510" y="4389602"/>
            <a:ext cx="6789412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父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分区被多个子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分区使用(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),如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groupByKey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reduceByKey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6510" y="4679027"/>
            <a:ext cx="6704997" cy="289424"/>
          </a:xfrm>
          <a:custGeom>
            <a:avLst/>
            <a:gdLst/>
            <a:ahLst/>
            <a:cxnLst/>
            <a:rect l="l" t="t" r="r" b="b"/>
            <a:pathLst>
              <a:path w="6704997" h="289424">
                <a:moveTo>
                  <a:pt x="48238" y="0"/>
                </a:moveTo>
                <a:lnTo>
                  <a:pt x="6656759" y="0"/>
                </a:lnTo>
                <a:cubicBezTo>
                  <a:pt x="6683400" y="0"/>
                  <a:pt x="6704997" y="21597"/>
                  <a:pt x="6704997" y="48238"/>
                </a:cubicBezTo>
                <a:lnTo>
                  <a:pt x="6704997" y="241186"/>
                </a:lnTo>
                <a:cubicBezTo>
                  <a:pt x="6704997" y="267827"/>
                  <a:pt x="6683400" y="289424"/>
                  <a:pt x="6656759" y="289424"/>
                </a:cubicBezTo>
                <a:lnTo>
                  <a:pt x="48238" y="289424"/>
                </a:lnTo>
                <a:cubicBezTo>
                  <a:pt x="21597" y="289424"/>
                  <a:pt x="0" y="267827"/>
                  <a:pt x="0" y="241186"/>
                </a:cubicBezTo>
                <a:lnTo>
                  <a:pt x="0" y="48238"/>
                </a:lnTo>
                <a:cubicBezTo>
                  <a:pt x="0" y="21597"/>
                  <a:pt x="21597" y="0"/>
                  <a:pt x="48238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4748" y="4727264"/>
            <a:ext cx="6680878" cy="19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涉及网络传输,有</a:t>
            </a:r>
            <a:r>
              <a:rPr lang="en-US" sz="113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6493" y="5547300"/>
            <a:ext cx="7500914" cy="3111312"/>
          </a:xfrm>
          <a:custGeom>
            <a:avLst/>
            <a:gdLst/>
            <a:ahLst/>
            <a:cxnLst/>
            <a:rect l="l" t="t" r="r" b="b"/>
            <a:pathLst>
              <a:path w="7500914" h="3111312">
                <a:moveTo>
                  <a:pt x="48237" y="0"/>
                </a:moveTo>
                <a:lnTo>
                  <a:pt x="7404432" y="0"/>
                </a:lnTo>
                <a:cubicBezTo>
                  <a:pt x="7457718" y="0"/>
                  <a:pt x="7500914" y="43196"/>
                  <a:pt x="7500914" y="96482"/>
                </a:cubicBezTo>
                <a:lnTo>
                  <a:pt x="7500914" y="3014830"/>
                </a:lnTo>
                <a:cubicBezTo>
                  <a:pt x="7500914" y="3068115"/>
                  <a:pt x="7457718" y="3111312"/>
                  <a:pt x="7404432" y="3111312"/>
                </a:cubicBezTo>
                <a:lnTo>
                  <a:pt x="48237" y="3111312"/>
                </a:lnTo>
                <a:cubicBezTo>
                  <a:pt x="21597" y="3111312"/>
                  <a:pt x="0" y="3089715"/>
                  <a:pt x="0" y="3063074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6493" y="5547300"/>
            <a:ext cx="48237" cy="3111312"/>
          </a:xfrm>
          <a:custGeom>
            <a:avLst/>
            <a:gdLst/>
            <a:ahLst/>
            <a:cxnLst/>
            <a:rect l="l" t="t" r="r" b="b"/>
            <a:pathLst>
              <a:path w="48237" h="3111312">
                <a:moveTo>
                  <a:pt x="48237" y="0"/>
                </a:moveTo>
                <a:lnTo>
                  <a:pt x="48237" y="0"/>
                </a:lnTo>
                <a:lnTo>
                  <a:pt x="48237" y="3111312"/>
                </a:lnTo>
                <a:lnTo>
                  <a:pt x="48237" y="3111312"/>
                </a:lnTo>
                <a:cubicBezTo>
                  <a:pt x="21597" y="3111312"/>
                  <a:pt x="0" y="3089715"/>
                  <a:pt x="0" y="3063074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7976" y="583672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08534" y="144712"/>
                </a:moveTo>
                <a:lnTo>
                  <a:pt x="86205" y="167041"/>
                </a:lnTo>
                <a:cubicBezTo>
                  <a:pt x="79083" y="164271"/>
                  <a:pt x="71395" y="162801"/>
                  <a:pt x="63312" y="162801"/>
                </a:cubicBezTo>
                <a:cubicBezTo>
                  <a:pt x="28321" y="162801"/>
                  <a:pt x="0" y="191122"/>
                  <a:pt x="0" y="226113"/>
                </a:cubicBezTo>
                <a:cubicBezTo>
                  <a:pt x="0" y="261104"/>
                  <a:pt x="28321" y="289424"/>
                  <a:pt x="63312" y="289424"/>
                </a:cubicBezTo>
                <a:cubicBezTo>
                  <a:pt x="98303" y="289424"/>
                  <a:pt x="126623" y="261104"/>
                  <a:pt x="126623" y="226113"/>
                </a:cubicBezTo>
                <a:cubicBezTo>
                  <a:pt x="126623" y="218029"/>
                  <a:pt x="125097" y="210341"/>
                  <a:pt x="122384" y="203219"/>
                </a:cubicBezTo>
                <a:lnTo>
                  <a:pt x="282189" y="43414"/>
                </a:lnTo>
                <a:cubicBezTo>
                  <a:pt x="286202" y="39400"/>
                  <a:pt x="286202" y="32956"/>
                  <a:pt x="282189" y="28942"/>
                </a:cubicBezTo>
                <a:cubicBezTo>
                  <a:pt x="266191" y="12945"/>
                  <a:pt x="240301" y="12945"/>
                  <a:pt x="224304" y="28942"/>
                </a:cubicBezTo>
                <a:lnTo>
                  <a:pt x="144712" y="108534"/>
                </a:lnTo>
                <a:lnTo>
                  <a:pt x="122384" y="86205"/>
                </a:lnTo>
                <a:cubicBezTo>
                  <a:pt x="125153" y="79083"/>
                  <a:pt x="126623" y="71395"/>
                  <a:pt x="126623" y="63312"/>
                </a:cubicBezTo>
                <a:cubicBezTo>
                  <a:pt x="126623" y="28321"/>
                  <a:pt x="98303" y="0"/>
                  <a:pt x="63312" y="0"/>
                </a:cubicBezTo>
                <a:cubicBezTo>
                  <a:pt x="28321" y="0"/>
                  <a:pt x="0" y="28321"/>
                  <a:pt x="0" y="63312"/>
                </a:cubicBezTo>
                <a:cubicBezTo>
                  <a:pt x="0" y="98303"/>
                  <a:pt x="28321" y="126623"/>
                  <a:pt x="63312" y="126623"/>
                </a:cubicBezTo>
                <a:cubicBezTo>
                  <a:pt x="71395" y="126623"/>
                  <a:pt x="79083" y="125097"/>
                  <a:pt x="86205" y="122384"/>
                </a:cubicBezTo>
                <a:lnTo>
                  <a:pt x="108534" y="144712"/>
                </a:lnTo>
                <a:close/>
                <a:moveTo>
                  <a:pt x="163875" y="200053"/>
                </a:moveTo>
                <a:lnTo>
                  <a:pt x="224304" y="260482"/>
                </a:lnTo>
                <a:cubicBezTo>
                  <a:pt x="240301" y="276479"/>
                  <a:pt x="266191" y="276479"/>
                  <a:pt x="282189" y="260482"/>
                </a:cubicBezTo>
                <a:cubicBezTo>
                  <a:pt x="286202" y="256468"/>
                  <a:pt x="286202" y="250024"/>
                  <a:pt x="282189" y="246011"/>
                </a:cubicBezTo>
                <a:lnTo>
                  <a:pt x="200053" y="163875"/>
                </a:lnTo>
                <a:lnTo>
                  <a:pt x="163875" y="200053"/>
                </a:lnTo>
                <a:close/>
                <a:moveTo>
                  <a:pt x="36178" y="63312"/>
                </a:moveTo>
                <a:cubicBezTo>
                  <a:pt x="36178" y="48336"/>
                  <a:pt x="48336" y="36178"/>
                  <a:pt x="63312" y="36178"/>
                </a:cubicBezTo>
                <a:cubicBezTo>
                  <a:pt x="78287" y="36178"/>
                  <a:pt x="90445" y="48336"/>
                  <a:pt x="90445" y="63312"/>
                </a:cubicBezTo>
                <a:cubicBezTo>
                  <a:pt x="90445" y="78287"/>
                  <a:pt x="78287" y="90445"/>
                  <a:pt x="63312" y="90445"/>
                </a:cubicBezTo>
                <a:cubicBezTo>
                  <a:pt x="48336" y="90445"/>
                  <a:pt x="36178" y="78287"/>
                  <a:pt x="36178" y="63312"/>
                </a:cubicBezTo>
                <a:close/>
                <a:moveTo>
                  <a:pt x="63312" y="198979"/>
                </a:moveTo>
                <a:cubicBezTo>
                  <a:pt x="78287" y="198979"/>
                  <a:pt x="90445" y="211137"/>
                  <a:pt x="90445" y="226113"/>
                </a:cubicBezTo>
                <a:cubicBezTo>
                  <a:pt x="90445" y="241088"/>
                  <a:pt x="78287" y="253246"/>
                  <a:pt x="63312" y="253246"/>
                </a:cubicBezTo>
                <a:cubicBezTo>
                  <a:pt x="48336" y="253246"/>
                  <a:pt x="36178" y="241088"/>
                  <a:pt x="36178" y="226113"/>
                </a:cubicBezTo>
                <a:cubicBezTo>
                  <a:pt x="36178" y="211137"/>
                  <a:pt x="48336" y="198979"/>
                  <a:pt x="63312" y="198979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33579" y="5788487"/>
            <a:ext cx="6777353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Stage</a:t>
            </a:r>
            <a:r>
              <a:rPr lang="en-US" sz="227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划分原理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71798" y="6319098"/>
            <a:ext cx="6994421" cy="602967"/>
          </a:xfrm>
          <a:custGeom>
            <a:avLst/>
            <a:gdLst/>
            <a:ahLst/>
            <a:cxnLst/>
            <a:rect l="l" t="t" r="r" b="b"/>
            <a:pathLst>
              <a:path w="6994421" h="602967">
                <a:moveTo>
                  <a:pt x="48237" y="0"/>
                </a:moveTo>
                <a:lnTo>
                  <a:pt x="6946184" y="0"/>
                </a:lnTo>
                <a:cubicBezTo>
                  <a:pt x="6972825" y="0"/>
                  <a:pt x="6994421" y="21597"/>
                  <a:pt x="6994421" y="48237"/>
                </a:cubicBezTo>
                <a:lnTo>
                  <a:pt x="6994421" y="554730"/>
                </a:lnTo>
                <a:cubicBezTo>
                  <a:pt x="6994421" y="581371"/>
                  <a:pt x="6972825" y="602967"/>
                  <a:pt x="6946184" y="602967"/>
                </a:cubicBezTo>
                <a:lnTo>
                  <a:pt x="48237" y="602967"/>
                </a:lnTo>
                <a:cubicBezTo>
                  <a:pt x="21597" y="602967"/>
                  <a:pt x="0" y="581371"/>
                  <a:pt x="0" y="55473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6510" y="6463810"/>
            <a:ext cx="6801472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划分边界: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以宽依赖(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)为边界划分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Stage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71798" y="7066777"/>
            <a:ext cx="6994421" cy="602967"/>
          </a:xfrm>
          <a:custGeom>
            <a:avLst/>
            <a:gdLst/>
            <a:ahLst/>
            <a:cxnLst/>
            <a:rect l="l" t="t" r="r" b="b"/>
            <a:pathLst>
              <a:path w="6994421" h="602967">
                <a:moveTo>
                  <a:pt x="48237" y="0"/>
                </a:moveTo>
                <a:lnTo>
                  <a:pt x="6946184" y="0"/>
                </a:lnTo>
                <a:cubicBezTo>
                  <a:pt x="6972825" y="0"/>
                  <a:pt x="6994421" y="21597"/>
                  <a:pt x="6994421" y="48237"/>
                </a:cubicBezTo>
                <a:lnTo>
                  <a:pt x="6994421" y="554730"/>
                </a:lnTo>
                <a:cubicBezTo>
                  <a:pt x="6994421" y="581371"/>
                  <a:pt x="6972825" y="602967"/>
                  <a:pt x="6946184" y="602967"/>
                </a:cubicBezTo>
                <a:lnTo>
                  <a:pt x="48237" y="602967"/>
                </a:lnTo>
                <a:cubicBezTo>
                  <a:pt x="21597" y="602967"/>
                  <a:pt x="0" y="581371"/>
                  <a:pt x="0" y="55473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6510" y="7211490"/>
            <a:ext cx="6801472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窄依赖处理: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窄依赖合并在同一个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Task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中流水线执行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95917" y="7814457"/>
            <a:ext cx="6970303" cy="602967"/>
          </a:xfrm>
          <a:custGeom>
            <a:avLst/>
            <a:gdLst/>
            <a:ahLst/>
            <a:cxnLst/>
            <a:rect l="l" t="t" r="r" b="b"/>
            <a:pathLst>
              <a:path w="6970303" h="602967">
                <a:moveTo>
                  <a:pt x="48237" y="0"/>
                </a:moveTo>
                <a:lnTo>
                  <a:pt x="6922065" y="0"/>
                </a:lnTo>
                <a:cubicBezTo>
                  <a:pt x="6948706" y="0"/>
                  <a:pt x="6970303" y="21597"/>
                  <a:pt x="6970303" y="48237"/>
                </a:cubicBezTo>
                <a:lnTo>
                  <a:pt x="6970303" y="554730"/>
                </a:lnTo>
                <a:cubicBezTo>
                  <a:pt x="6970303" y="581371"/>
                  <a:pt x="6948706" y="602967"/>
                  <a:pt x="6922065" y="602967"/>
                </a:cubicBezTo>
                <a:lnTo>
                  <a:pt x="48237" y="602967"/>
                </a:lnTo>
                <a:cubicBezTo>
                  <a:pt x="21597" y="602967"/>
                  <a:pt x="0" y="581371"/>
                  <a:pt x="0" y="55473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95917" y="7814457"/>
            <a:ext cx="48237" cy="602967"/>
          </a:xfrm>
          <a:custGeom>
            <a:avLst/>
            <a:gdLst/>
            <a:ahLst/>
            <a:cxnLst/>
            <a:rect l="l" t="t" r="r" b="b"/>
            <a:pathLst>
              <a:path w="48237" h="602967">
                <a:moveTo>
                  <a:pt x="48237" y="0"/>
                </a:moveTo>
                <a:lnTo>
                  <a:pt x="48237" y="0"/>
                </a:lnTo>
                <a:lnTo>
                  <a:pt x="48237" y="602967"/>
                </a:lnTo>
                <a:lnTo>
                  <a:pt x="48237" y="602967"/>
                </a:lnTo>
                <a:cubicBezTo>
                  <a:pt x="21597" y="602967"/>
                  <a:pt x="0" y="581371"/>
                  <a:pt x="0" y="55473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64748" y="7959169"/>
            <a:ext cx="6753234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性能瓶颈: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是性能瓶颈,调优重点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5861" y="1664190"/>
            <a:ext cx="7525033" cy="3858991"/>
          </a:xfrm>
          <a:custGeom>
            <a:avLst/>
            <a:gdLst/>
            <a:ahLst/>
            <a:cxnLst/>
            <a:rect l="l" t="t" r="r" b="b"/>
            <a:pathLst>
              <a:path w="7525033" h="3858991">
                <a:moveTo>
                  <a:pt x="48237" y="0"/>
                </a:moveTo>
                <a:lnTo>
                  <a:pt x="7476795" y="0"/>
                </a:lnTo>
                <a:cubicBezTo>
                  <a:pt x="7503436" y="0"/>
                  <a:pt x="7525033" y="21597"/>
                  <a:pt x="7525033" y="48237"/>
                </a:cubicBezTo>
                <a:lnTo>
                  <a:pt x="7525033" y="3762516"/>
                </a:lnTo>
                <a:cubicBezTo>
                  <a:pt x="7525033" y="3815798"/>
                  <a:pt x="7481839" y="3858991"/>
                  <a:pt x="7428558" y="3858991"/>
                </a:cubicBezTo>
                <a:lnTo>
                  <a:pt x="96475" y="3858991"/>
                </a:lnTo>
                <a:cubicBezTo>
                  <a:pt x="43193" y="3858991"/>
                  <a:pt x="0" y="3815798"/>
                  <a:pt x="0" y="3762516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245861" y="1664190"/>
            <a:ext cx="7525033" cy="48237"/>
          </a:xfrm>
          <a:custGeom>
            <a:avLst/>
            <a:gdLst/>
            <a:ahLst/>
            <a:cxnLst/>
            <a:rect l="l" t="t" r="r" b="b"/>
            <a:pathLst>
              <a:path w="7525033" h="48237">
                <a:moveTo>
                  <a:pt x="48237" y="0"/>
                </a:moveTo>
                <a:lnTo>
                  <a:pt x="7476795" y="0"/>
                </a:lnTo>
                <a:cubicBezTo>
                  <a:pt x="7503436" y="0"/>
                  <a:pt x="7525033" y="21597"/>
                  <a:pt x="7525033" y="48237"/>
                </a:cubicBezTo>
                <a:lnTo>
                  <a:pt x="7525033" y="48237"/>
                </a:lnTo>
                <a:lnTo>
                  <a:pt x="0" y="48237"/>
                </a:ln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523226" y="1977733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cubicBezTo>
                  <a:pt x="153022" y="0"/>
                  <a:pt x="160653" y="4579"/>
                  <a:pt x="164610" y="11871"/>
                </a:cubicBezTo>
                <a:lnTo>
                  <a:pt x="286711" y="237984"/>
                </a:lnTo>
                <a:cubicBezTo>
                  <a:pt x="290498" y="244993"/>
                  <a:pt x="290329" y="253472"/>
                  <a:pt x="286259" y="260312"/>
                </a:cubicBezTo>
                <a:cubicBezTo>
                  <a:pt x="282189" y="267152"/>
                  <a:pt x="274784" y="271335"/>
                  <a:pt x="266813" y="271335"/>
                </a:cubicBezTo>
                <a:lnTo>
                  <a:pt x="22611" y="271335"/>
                </a:lnTo>
                <a:cubicBezTo>
                  <a:pt x="14641" y="271335"/>
                  <a:pt x="7292" y="267152"/>
                  <a:pt x="3166" y="260312"/>
                </a:cubicBezTo>
                <a:cubicBezTo>
                  <a:pt x="-961" y="253472"/>
                  <a:pt x="-1074" y="244993"/>
                  <a:pt x="2713" y="237984"/>
                </a:cubicBezTo>
                <a:lnTo>
                  <a:pt x="124814" y="11871"/>
                </a:lnTo>
                <a:cubicBezTo>
                  <a:pt x="128771" y="4579"/>
                  <a:pt x="136403" y="0"/>
                  <a:pt x="144712" y="0"/>
                </a:cubicBezTo>
                <a:close/>
                <a:moveTo>
                  <a:pt x="144712" y="94967"/>
                </a:moveTo>
                <a:cubicBezTo>
                  <a:pt x="137194" y="94967"/>
                  <a:pt x="131145" y="101016"/>
                  <a:pt x="131145" y="108534"/>
                </a:cubicBezTo>
                <a:lnTo>
                  <a:pt x="131145" y="171846"/>
                </a:lnTo>
                <a:cubicBezTo>
                  <a:pt x="131145" y="179364"/>
                  <a:pt x="137194" y="185412"/>
                  <a:pt x="144712" y="185412"/>
                </a:cubicBezTo>
                <a:cubicBezTo>
                  <a:pt x="152230" y="185412"/>
                  <a:pt x="158279" y="179364"/>
                  <a:pt x="158279" y="171846"/>
                </a:cubicBezTo>
                <a:lnTo>
                  <a:pt x="158279" y="108534"/>
                </a:lnTo>
                <a:cubicBezTo>
                  <a:pt x="158279" y="101016"/>
                  <a:pt x="152230" y="94967"/>
                  <a:pt x="144712" y="94967"/>
                </a:cubicBezTo>
                <a:close/>
                <a:moveTo>
                  <a:pt x="159805" y="217068"/>
                </a:moveTo>
                <a:cubicBezTo>
                  <a:pt x="160149" y="211466"/>
                  <a:pt x="157355" y="206136"/>
                  <a:pt x="152552" y="203231"/>
                </a:cubicBezTo>
                <a:cubicBezTo>
                  <a:pt x="147749" y="200326"/>
                  <a:pt x="141731" y="200326"/>
                  <a:pt x="136929" y="203231"/>
                </a:cubicBezTo>
                <a:cubicBezTo>
                  <a:pt x="132126" y="206136"/>
                  <a:pt x="129332" y="211466"/>
                  <a:pt x="129676" y="217068"/>
                </a:cubicBezTo>
                <a:cubicBezTo>
                  <a:pt x="129332" y="222671"/>
                  <a:pt x="132126" y="228001"/>
                  <a:pt x="136929" y="230906"/>
                </a:cubicBezTo>
                <a:cubicBezTo>
                  <a:pt x="141731" y="233811"/>
                  <a:pt x="147749" y="233811"/>
                  <a:pt x="152552" y="230906"/>
                </a:cubicBezTo>
                <a:cubicBezTo>
                  <a:pt x="157355" y="228001"/>
                  <a:pt x="160149" y="222671"/>
                  <a:pt x="159805" y="21706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848829" y="1929496"/>
            <a:ext cx="6825591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容错成本差异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87048" y="2460107"/>
            <a:ext cx="7042659" cy="964748"/>
          </a:xfrm>
          <a:custGeom>
            <a:avLst/>
            <a:gdLst/>
            <a:ahLst/>
            <a:cxnLst/>
            <a:rect l="l" t="t" r="r" b="b"/>
            <a:pathLst>
              <a:path w="7042659" h="964748">
                <a:moveTo>
                  <a:pt x="48237" y="0"/>
                </a:moveTo>
                <a:lnTo>
                  <a:pt x="6994421" y="0"/>
                </a:lnTo>
                <a:cubicBezTo>
                  <a:pt x="7021062" y="0"/>
                  <a:pt x="7042659" y="21597"/>
                  <a:pt x="7042659" y="48237"/>
                </a:cubicBezTo>
                <a:lnTo>
                  <a:pt x="7042659" y="916510"/>
                </a:lnTo>
                <a:cubicBezTo>
                  <a:pt x="7042659" y="943151"/>
                  <a:pt x="7021062" y="964748"/>
                  <a:pt x="6994421" y="964748"/>
                </a:cubicBezTo>
                <a:lnTo>
                  <a:pt x="48237" y="964748"/>
                </a:lnTo>
                <a:cubicBezTo>
                  <a:pt x="21597" y="964748"/>
                  <a:pt x="0" y="943151"/>
                  <a:pt x="0" y="91651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655879" y="2677175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96475" y="192950"/>
                </a:moveTo>
                <a:cubicBezTo>
                  <a:pt x="149721" y="192950"/>
                  <a:pt x="192950" y="149721"/>
                  <a:pt x="192950" y="96475"/>
                </a:cubicBezTo>
                <a:cubicBezTo>
                  <a:pt x="192950" y="43229"/>
                  <a:pt x="149721" y="0"/>
                  <a:pt x="96475" y="0"/>
                </a:cubicBezTo>
                <a:cubicBezTo>
                  <a:pt x="43229" y="0"/>
                  <a:pt x="0" y="43229"/>
                  <a:pt x="0" y="96475"/>
                </a:cubicBezTo>
                <a:cubicBezTo>
                  <a:pt x="0" y="149721"/>
                  <a:pt x="43229" y="192950"/>
                  <a:pt x="96475" y="192950"/>
                </a:cubicBezTo>
                <a:close/>
                <a:moveTo>
                  <a:pt x="128281" y="80157"/>
                </a:moveTo>
                <a:lnTo>
                  <a:pt x="98133" y="128394"/>
                </a:lnTo>
                <a:cubicBezTo>
                  <a:pt x="96550" y="130919"/>
                  <a:pt x="93837" y="132502"/>
                  <a:pt x="90860" y="132653"/>
                </a:cubicBezTo>
                <a:cubicBezTo>
                  <a:pt x="87882" y="132804"/>
                  <a:pt x="85018" y="131447"/>
                  <a:pt x="83247" y="129035"/>
                </a:cubicBezTo>
                <a:lnTo>
                  <a:pt x="65158" y="104916"/>
                </a:lnTo>
                <a:cubicBezTo>
                  <a:pt x="62143" y="100922"/>
                  <a:pt x="62972" y="95269"/>
                  <a:pt x="66967" y="92254"/>
                </a:cubicBezTo>
                <a:cubicBezTo>
                  <a:pt x="70962" y="89239"/>
                  <a:pt x="76615" y="90068"/>
                  <a:pt x="79629" y="94063"/>
                </a:cubicBezTo>
                <a:lnTo>
                  <a:pt x="89804" y="107630"/>
                </a:lnTo>
                <a:lnTo>
                  <a:pt x="112943" y="70585"/>
                </a:lnTo>
                <a:cubicBezTo>
                  <a:pt x="115581" y="66364"/>
                  <a:pt x="121159" y="65045"/>
                  <a:pt x="125417" y="67721"/>
                </a:cubicBezTo>
                <a:cubicBezTo>
                  <a:pt x="129676" y="70396"/>
                  <a:pt x="130957" y="75936"/>
                  <a:pt x="128281" y="8019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969422" y="2604819"/>
            <a:ext cx="1459181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窄依赖:低成本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31760" y="2990718"/>
            <a:ext cx="684970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只需重算丢失分区,无需重算其他分区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87048" y="3569567"/>
            <a:ext cx="7042659" cy="964748"/>
          </a:xfrm>
          <a:custGeom>
            <a:avLst/>
            <a:gdLst/>
            <a:ahLst/>
            <a:cxnLst/>
            <a:rect l="l" t="t" r="r" b="b"/>
            <a:pathLst>
              <a:path w="7042659" h="964748">
                <a:moveTo>
                  <a:pt x="48237" y="0"/>
                </a:moveTo>
                <a:lnTo>
                  <a:pt x="6994421" y="0"/>
                </a:lnTo>
                <a:cubicBezTo>
                  <a:pt x="7021062" y="0"/>
                  <a:pt x="7042659" y="21597"/>
                  <a:pt x="7042659" y="48237"/>
                </a:cubicBezTo>
                <a:lnTo>
                  <a:pt x="7042659" y="916510"/>
                </a:lnTo>
                <a:cubicBezTo>
                  <a:pt x="7042659" y="943151"/>
                  <a:pt x="7021062" y="964748"/>
                  <a:pt x="6994421" y="964748"/>
                </a:cubicBezTo>
                <a:lnTo>
                  <a:pt x="48237" y="964748"/>
                </a:lnTo>
                <a:cubicBezTo>
                  <a:pt x="21597" y="964748"/>
                  <a:pt x="0" y="943151"/>
                  <a:pt x="0" y="91651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655879" y="3786635"/>
            <a:ext cx="192950" cy="192950"/>
          </a:xfrm>
          <a:custGeom>
            <a:avLst/>
            <a:gdLst/>
            <a:ahLst/>
            <a:cxnLst/>
            <a:rect l="l" t="t" r="r" b="b"/>
            <a:pathLst>
              <a:path w="192950" h="192950">
                <a:moveTo>
                  <a:pt x="96475" y="0"/>
                </a:moveTo>
                <a:cubicBezTo>
                  <a:pt x="102015" y="0"/>
                  <a:pt x="107102" y="3053"/>
                  <a:pt x="109740" y="7914"/>
                </a:cubicBezTo>
                <a:lnTo>
                  <a:pt x="191141" y="158656"/>
                </a:lnTo>
                <a:cubicBezTo>
                  <a:pt x="193666" y="163329"/>
                  <a:pt x="193553" y="168982"/>
                  <a:pt x="190839" y="173542"/>
                </a:cubicBezTo>
                <a:cubicBezTo>
                  <a:pt x="188126" y="178101"/>
                  <a:pt x="183189" y="180890"/>
                  <a:pt x="177875" y="180890"/>
                </a:cubicBezTo>
                <a:lnTo>
                  <a:pt x="15074" y="180890"/>
                </a:lnTo>
                <a:cubicBezTo>
                  <a:pt x="9761" y="180890"/>
                  <a:pt x="4861" y="178101"/>
                  <a:pt x="2110" y="173542"/>
                </a:cubicBezTo>
                <a:cubicBezTo>
                  <a:pt x="-641" y="168982"/>
                  <a:pt x="-716" y="163329"/>
                  <a:pt x="1809" y="158656"/>
                </a:cubicBezTo>
                <a:lnTo>
                  <a:pt x="83209" y="7914"/>
                </a:lnTo>
                <a:cubicBezTo>
                  <a:pt x="85847" y="3053"/>
                  <a:pt x="90935" y="0"/>
                  <a:pt x="96475" y="0"/>
                </a:cubicBezTo>
                <a:close/>
                <a:moveTo>
                  <a:pt x="96475" y="63312"/>
                </a:moveTo>
                <a:cubicBezTo>
                  <a:pt x="91463" y="63312"/>
                  <a:pt x="87430" y="67344"/>
                  <a:pt x="87430" y="72356"/>
                </a:cubicBezTo>
                <a:lnTo>
                  <a:pt x="87430" y="114564"/>
                </a:lnTo>
                <a:cubicBezTo>
                  <a:pt x="87430" y="119576"/>
                  <a:pt x="91463" y="123608"/>
                  <a:pt x="96475" y="123608"/>
                </a:cubicBezTo>
                <a:cubicBezTo>
                  <a:pt x="101487" y="123608"/>
                  <a:pt x="105519" y="119576"/>
                  <a:pt x="105519" y="114564"/>
                </a:cubicBezTo>
                <a:lnTo>
                  <a:pt x="105519" y="72356"/>
                </a:lnTo>
                <a:cubicBezTo>
                  <a:pt x="105519" y="67344"/>
                  <a:pt x="101487" y="63312"/>
                  <a:pt x="96475" y="63312"/>
                </a:cubicBezTo>
                <a:close/>
                <a:moveTo>
                  <a:pt x="106537" y="144712"/>
                </a:moveTo>
                <a:cubicBezTo>
                  <a:pt x="106766" y="140977"/>
                  <a:pt x="104903" y="137424"/>
                  <a:pt x="101701" y="135487"/>
                </a:cubicBezTo>
                <a:cubicBezTo>
                  <a:pt x="98500" y="133550"/>
                  <a:pt x="94488" y="133550"/>
                  <a:pt x="91286" y="135487"/>
                </a:cubicBezTo>
                <a:cubicBezTo>
                  <a:pt x="88084" y="137424"/>
                  <a:pt x="86222" y="140977"/>
                  <a:pt x="86450" y="144712"/>
                </a:cubicBezTo>
                <a:cubicBezTo>
                  <a:pt x="86222" y="148447"/>
                  <a:pt x="88084" y="152000"/>
                  <a:pt x="91286" y="153937"/>
                </a:cubicBezTo>
                <a:cubicBezTo>
                  <a:pt x="94488" y="155874"/>
                  <a:pt x="98500" y="155874"/>
                  <a:pt x="101701" y="153937"/>
                </a:cubicBezTo>
                <a:cubicBezTo>
                  <a:pt x="104903" y="152000"/>
                  <a:pt x="106766" y="148447"/>
                  <a:pt x="106537" y="14471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969422" y="3714279"/>
            <a:ext cx="1459181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宽依赖:高成本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31760" y="4100178"/>
            <a:ext cx="684970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可能级联重算所有父分区,代价巨大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11167" y="4679027"/>
            <a:ext cx="7018540" cy="602967"/>
          </a:xfrm>
          <a:custGeom>
            <a:avLst/>
            <a:gdLst/>
            <a:ahLst/>
            <a:cxnLst/>
            <a:rect l="l" t="t" r="r" b="b"/>
            <a:pathLst>
              <a:path w="7018540" h="602967">
                <a:moveTo>
                  <a:pt x="48237" y="0"/>
                </a:moveTo>
                <a:lnTo>
                  <a:pt x="6970303" y="0"/>
                </a:lnTo>
                <a:cubicBezTo>
                  <a:pt x="6996943" y="0"/>
                  <a:pt x="7018540" y="21597"/>
                  <a:pt x="7018540" y="48237"/>
                </a:cubicBezTo>
                <a:lnTo>
                  <a:pt x="7018540" y="554730"/>
                </a:lnTo>
                <a:cubicBezTo>
                  <a:pt x="7018540" y="581371"/>
                  <a:pt x="6996943" y="602967"/>
                  <a:pt x="6970303" y="602967"/>
                </a:cubicBezTo>
                <a:lnTo>
                  <a:pt x="48237" y="602967"/>
                </a:lnTo>
                <a:cubicBezTo>
                  <a:pt x="21597" y="602967"/>
                  <a:pt x="0" y="581371"/>
                  <a:pt x="0" y="55473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511167" y="4679027"/>
            <a:ext cx="48237" cy="602967"/>
          </a:xfrm>
          <a:custGeom>
            <a:avLst/>
            <a:gdLst/>
            <a:ahLst/>
            <a:cxnLst/>
            <a:rect l="l" t="t" r="r" b="b"/>
            <a:pathLst>
              <a:path w="48237" h="602967">
                <a:moveTo>
                  <a:pt x="48237" y="0"/>
                </a:moveTo>
                <a:lnTo>
                  <a:pt x="48237" y="0"/>
                </a:lnTo>
                <a:lnTo>
                  <a:pt x="48237" y="602967"/>
                </a:lnTo>
                <a:lnTo>
                  <a:pt x="48237" y="602967"/>
                </a:lnTo>
                <a:cubicBezTo>
                  <a:pt x="21597" y="602967"/>
                  <a:pt x="0" y="581371"/>
                  <a:pt x="0" y="55473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679998" y="4823739"/>
            <a:ext cx="6801472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Checkpoint</a:t>
            </a:r>
            <a:r>
              <a:rPr lang="en-US" sz="151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宽依赖通常需要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Checkpoint</a:t>
            </a:r>
            <a:r>
              <a:rPr lang="en-US" sz="151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持久化中间结果,避免级联重算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9980" y="5716131"/>
            <a:ext cx="7500914" cy="2508344"/>
          </a:xfrm>
          <a:custGeom>
            <a:avLst/>
            <a:gdLst/>
            <a:ahLst/>
            <a:cxnLst/>
            <a:rect l="l" t="t" r="r" b="b"/>
            <a:pathLst>
              <a:path w="7500914" h="2508344">
                <a:moveTo>
                  <a:pt x="48237" y="0"/>
                </a:moveTo>
                <a:lnTo>
                  <a:pt x="7404443" y="0"/>
                </a:lnTo>
                <a:cubicBezTo>
                  <a:pt x="7457722" y="0"/>
                  <a:pt x="7500914" y="43192"/>
                  <a:pt x="7500914" y="96471"/>
                </a:cubicBezTo>
                <a:lnTo>
                  <a:pt x="7500914" y="2411873"/>
                </a:lnTo>
                <a:cubicBezTo>
                  <a:pt x="7500914" y="2465153"/>
                  <a:pt x="7457722" y="2508344"/>
                  <a:pt x="7404443" y="2508344"/>
                </a:cubicBezTo>
                <a:lnTo>
                  <a:pt x="48237" y="2508344"/>
                </a:lnTo>
                <a:cubicBezTo>
                  <a:pt x="21597" y="2508344"/>
                  <a:pt x="0" y="2486748"/>
                  <a:pt x="0" y="2460107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69980" y="5716131"/>
            <a:ext cx="48237" cy="2508344"/>
          </a:xfrm>
          <a:custGeom>
            <a:avLst/>
            <a:gdLst/>
            <a:ahLst/>
            <a:cxnLst/>
            <a:rect l="l" t="t" r="r" b="b"/>
            <a:pathLst>
              <a:path w="48237" h="2508344">
                <a:moveTo>
                  <a:pt x="48237" y="0"/>
                </a:moveTo>
                <a:lnTo>
                  <a:pt x="48237" y="0"/>
                </a:lnTo>
                <a:lnTo>
                  <a:pt x="48237" y="2508344"/>
                </a:lnTo>
                <a:lnTo>
                  <a:pt x="48237" y="2508344"/>
                </a:lnTo>
                <a:cubicBezTo>
                  <a:pt x="21597" y="2508344"/>
                  <a:pt x="0" y="2486748"/>
                  <a:pt x="0" y="2460107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607642" y="6005555"/>
            <a:ext cx="217068" cy="289424"/>
          </a:xfrm>
          <a:custGeom>
            <a:avLst/>
            <a:gdLst/>
            <a:ahLst/>
            <a:cxnLst/>
            <a:rect l="l" t="t" r="r" b="b"/>
            <a:pathLst>
              <a:path w="217068" h="289424">
                <a:moveTo>
                  <a:pt x="176029" y="18089"/>
                </a:moveTo>
                <a:lnTo>
                  <a:pt x="180890" y="18089"/>
                </a:lnTo>
                <a:cubicBezTo>
                  <a:pt x="200845" y="18089"/>
                  <a:pt x="217068" y="34313"/>
                  <a:pt x="217068" y="54267"/>
                </a:cubicBezTo>
                <a:lnTo>
                  <a:pt x="217068" y="253246"/>
                </a:lnTo>
                <a:cubicBezTo>
                  <a:pt x="217068" y="273201"/>
                  <a:pt x="200845" y="289424"/>
                  <a:pt x="180890" y="289424"/>
                </a:cubicBezTo>
                <a:lnTo>
                  <a:pt x="36178" y="289424"/>
                </a:lnTo>
                <a:cubicBezTo>
                  <a:pt x="16224" y="289424"/>
                  <a:pt x="0" y="273201"/>
                  <a:pt x="0" y="253246"/>
                </a:cubicBezTo>
                <a:lnTo>
                  <a:pt x="0" y="54267"/>
                </a:lnTo>
                <a:cubicBezTo>
                  <a:pt x="0" y="34313"/>
                  <a:pt x="16224" y="18089"/>
                  <a:pt x="36178" y="18089"/>
                </a:cubicBezTo>
                <a:lnTo>
                  <a:pt x="41039" y="18089"/>
                </a:lnTo>
                <a:cubicBezTo>
                  <a:pt x="47258" y="7292"/>
                  <a:pt x="58959" y="0"/>
                  <a:pt x="72356" y="0"/>
                </a:cubicBezTo>
                <a:lnTo>
                  <a:pt x="144712" y="0"/>
                </a:lnTo>
                <a:cubicBezTo>
                  <a:pt x="158109" y="0"/>
                  <a:pt x="169811" y="7292"/>
                  <a:pt x="176029" y="18089"/>
                </a:cubicBezTo>
                <a:close/>
                <a:moveTo>
                  <a:pt x="140190" y="63312"/>
                </a:moveTo>
                <a:cubicBezTo>
                  <a:pt x="147708" y="63312"/>
                  <a:pt x="153757" y="57263"/>
                  <a:pt x="153757" y="49745"/>
                </a:cubicBezTo>
                <a:cubicBezTo>
                  <a:pt x="153757" y="42227"/>
                  <a:pt x="147708" y="36178"/>
                  <a:pt x="140190" y="36178"/>
                </a:cubicBezTo>
                <a:lnTo>
                  <a:pt x="76878" y="36178"/>
                </a:lnTo>
                <a:cubicBezTo>
                  <a:pt x="69360" y="36178"/>
                  <a:pt x="63312" y="42227"/>
                  <a:pt x="63312" y="49745"/>
                </a:cubicBezTo>
                <a:cubicBezTo>
                  <a:pt x="63312" y="57263"/>
                  <a:pt x="69360" y="63312"/>
                  <a:pt x="76878" y="63312"/>
                </a:cubicBezTo>
                <a:lnTo>
                  <a:pt x="140190" y="63312"/>
                </a:lnTo>
                <a:close/>
                <a:moveTo>
                  <a:pt x="156244" y="147369"/>
                </a:moveTo>
                <a:cubicBezTo>
                  <a:pt x="160201" y="141038"/>
                  <a:pt x="158279" y="132672"/>
                  <a:pt x="151948" y="128658"/>
                </a:cubicBezTo>
                <a:cubicBezTo>
                  <a:pt x="145617" y="124645"/>
                  <a:pt x="137250" y="126623"/>
                  <a:pt x="133237" y="132954"/>
                </a:cubicBezTo>
                <a:lnTo>
                  <a:pt x="98529" y="188522"/>
                </a:lnTo>
                <a:lnTo>
                  <a:pt x="83266" y="168171"/>
                </a:lnTo>
                <a:cubicBezTo>
                  <a:pt x="78744" y="162179"/>
                  <a:pt x="70265" y="160936"/>
                  <a:pt x="64273" y="165458"/>
                </a:cubicBezTo>
                <a:cubicBezTo>
                  <a:pt x="58281" y="169980"/>
                  <a:pt x="57037" y="178459"/>
                  <a:pt x="61559" y="184451"/>
                </a:cubicBezTo>
                <a:lnTo>
                  <a:pt x="88693" y="220630"/>
                </a:lnTo>
                <a:cubicBezTo>
                  <a:pt x="91350" y="224191"/>
                  <a:pt x="95646" y="226226"/>
                  <a:pt x="100111" y="226056"/>
                </a:cubicBezTo>
                <a:cubicBezTo>
                  <a:pt x="104577" y="225887"/>
                  <a:pt x="108647" y="223512"/>
                  <a:pt x="111021" y="219669"/>
                </a:cubicBezTo>
                <a:lnTo>
                  <a:pt x="156244" y="147312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897066" y="5957318"/>
            <a:ext cx="6777353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易错点与辨析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35286" y="6487929"/>
            <a:ext cx="6994421" cy="434136"/>
          </a:xfrm>
          <a:custGeom>
            <a:avLst/>
            <a:gdLst/>
            <a:ahLst/>
            <a:cxnLst/>
            <a:rect l="l" t="t" r="r" b="b"/>
            <a:pathLst>
              <a:path w="6994421" h="434136">
                <a:moveTo>
                  <a:pt x="48237" y="0"/>
                </a:moveTo>
                <a:lnTo>
                  <a:pt x="6946184" y="0"/>
                </a:lnTo>
                <a:cubicBezTo>
                  <a:pt x="6972825" y="0"/>
                  <a:pt x="6994421" y="21596"/>
                  <a:pt x="6994421" y="48237"/>
                </a:cubicBezTo>
                <a:lnTo>
                  <a:pt x="6994421" y="385900"/>
                </a:lnTo>
                <a:cubicBezTo>
                  <a:pt x="6994421" y="412540"/>
                  <a:pt x="6972825" y="434136"/>
                  <a:pt x="6946184" y="434136"/>
                </a:cubicBezTo>
                <a:lnTo>
                  <a:pt x="48237" y="434136"/>
                </a:lnTo>
                <a:cubicBezTo>
                  <a:pt x="21596" y="434136"/>
                  <a:pt x="0" y="412540"/>
                  <a:pt x="0" y="385900"/>
                </a:cubicBezTo>
                <a:lnTo>
                  <a:pt x="0" y="48237"/>
                </a:lnTo>
                <a:cubicBezTo>
                  <a:pt x="0" y="21596"/>
                  <a:pt x="21596" y="0"/>
                  <a:pt x="4823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631760" y="6584404"/>
            <a:ext cx="6885887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性能瓶颈: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Shuffle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阶段最耗时(网络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I/O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+磁盘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I/O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+序列化)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35286" y="7018540"/>
            <a:ext cx="6994421" cy="434136"/>
          </a:xfrm>
          <a:custGeom>
            <a:avLst/>
            <a:gdLst/>
            <a:ahLst/>
            <a:cxnLst/>
            <a:rect l="l" t="t" r="r" b="b"/>
            <a:pathLst>
              <a:path w="6994421" h="434136">
                <a:moveTo>
                  <a:pt x="48237" y="0"/>
                </a:moveTo>
                <a:lnTo>
                  <a:pt x="6946184" y="0"/>
                </a:lnTo>
                <a:cubicBezTo>
                  <a:pt x="6972825" y="0"/>
                  <a:pt x="6994421" y="21596"/>
                  <a:pt x="6994421" y="48237"/>
                </a:cubicBezTo>
                <a:lnTo>
                  <a:pt x="6994421" y="385900"/>
                </a:lnTo>
                <a:cubicBezTo>
                  <a:pt x="6994421" y="412540"/>
                  <a:pt x="6972825" y="434136"/>
                  <a:pt x="6946184" y="434136"/>
                </a:cubicBezTo>
                <a:lnTo>
                  <a:pt x="48237" y="434136"/>
                </a:lnTo>
                <a:cubicBezTo>
                  <a:pt x="21596" y="434136"/>
                  <a:pt x="0" y="412540"/>
                  <a:pt x="0" y="385900"/>
                </a:cubicBezTo>
                <a:lnTo>
                  <a:pt x="0" y="48237"/>
                </a:lnTo>
                <a:cubicBezTo>
                  <a:pt x="0" y="21596"/>
                  <a:pt x="21596" y="0"/>
                  <a:pt x="4823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631760" y="7115015"/>
            <a:ext cx="6885887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Stage切分: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遇到宽依赖就切分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Stage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535286" y="7549151"/>
            <a:ext cx="6994421" cy="434136"/>
          </a:xfrm>
          <a:custGeom>
            <a:avLst/>
            <a:gdLst/>
            <a:ahLst/>
            <a:cxnLst/>
            <a:rect l="l" t="t" r="r" b="b"/>
            <a:pathLst>
              <a:path w="6994421" h="434136">
                <a:moveTo>
                  <a:pt x="48237" y="0"/>
                </a:moveTo>
                <a:lnTo>
                  <a:pt x="6946184" y="0"/>
                </a:lnTo>
                <a:cubicBezTo>
                  <a:pt x="6972825" y="0"/>
                  <a:pt x="6994421" y="21596"/>
                  <a:pt x="6994421" y="48237"/>
                </a:cubicBezTo>
                <a:lnTo>
                  <a:pt x="6994421" y="385900"/>
                </a:lnTo>
                <a:cubicBezTo>
                  <a:pt x="6994421" y="412540"/>
                  <a:pt x="6972825" y="434136"/>
                  <a:pt x="6946184" y="434136"/>
                </a:cubicBezTo>
                <a:lnTo>
                  <a:pt x="48237" y="434136"/>
                </a:lnTo>
                <a:cubicBezTo>
                  <a:pt x="21596" y="434136"/>
                  <a:pt x="0" y="412540"/>
                  <a:pt x="0" y="385900"/>
                </a:cubicBezTo>
                <a:lnTo>
                  <a:pt x="0" y="48237"/>
                </a:lnTo>
                <a:cubicBezTo>
                  <a:pt x="0" y="21596"/>
                  <a:pt x="21596" y="0"/>
                  <a:pt x="4823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631760" y="7645626"/>
            <a:ext cx="6885887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生态兼容: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可读取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HDFS/HBase/Hive/Cassandra</a:t>
            </a:r>
            <a:r>
              <a:rPr lang="en-US" sz="132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等多种数据源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54300" cy="609600"/>
          </a:xfrm>
          <a:custGeom>
            <a:avLst/>
            <a:gdLst/>
            <a:ahLst/>
            <a:cxnLst/>
            <a:rect l="l" t="t" r="r" b="b"/>
            <a:pathLst>
              <a:path w="2654300" h="609600">
                <a:moveTo>
                  <a:pt x="0" y="0"/>
                </a:moveTo>
                <a:lnTo>
                  <a:pt x="2654300" y="0"/>
                </a:lnTo>
                <a:lnTo>
                  <a:pt x="26543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7627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数据仓库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与表设计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定位、内外表区别、存储格式与分区分桶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551" y="476716"/>
            <a:ext cx="1561243" cy="381372"/>
          </a:xfrm>
          <a:custGeom>
            <a:avLst/>
            <a:gdLst/>
            <a:ahLst/>
            <a:cxnLst/>
            <a:rect l="l" t="t" r="r" b="b"/>
            <a:pathLst>
              <a:path w="1561243" h="381372">
                <a:moveTo>
                  <a:pt x="0" y="0"/>
                </a:moveTo>
                <a:lnTo>
                  <a:pt x="1561243" y="0"/>
                </a:lnTo>
                <a:lnTo>
                  <a:pt x="1561243" y="381372"/>
                </a:lnTo>
                <a:lnTo>
                  <a:pt x="0" y="381372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0551" y="476716"/>
            <a:ext cx="47672" cy="381372"/>
          </a:xfrm>
          <a:custGeom>
            <a:avLst/>
            <a:gdLst/>
            <a:ahLst/>
            <a:cxnLst/>
            <a:rect l="l" t="t" r="r" b="b"/>
            <a:pathLst>
              <a:path w="47672" h="381372">
                <a:moveTo>
                  <a:pt x="0" y="0"/>
                </a:moveTo>
                <a:lnTo>
                  <a:pt x="47672" y="0"/>
                </a:lnTo>
                <a:lnTo>
                  <a:pt x="47672" y="381372"/>
                </a:lnTo>
                <a:lnTo>
                  <a:pt x="0" y="381372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7402" y="542264"/>
            <a:ext cx="134346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kern="0" spc="7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08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6716" y="953431"/>
            <a:ext cx="15517091" cy="47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7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337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定位与内外表辨析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6716" y="1644669"/>
            <a:ext cx="7532106" cy="3944821"/>
          </a:xfrm>
          <a:custGeom>
            <a:avLst/>
            <a:gdLst/>
            <a:ahLst/>
            <a:cxnLst/>
            <a:rect l="l" t="t" r="r" b="b"/>
            <a:pathLst>
              <a:path w="7532106" h="3944821">
                <a:moveTo>
                  <a:pt x="47672" y="0"/>
                </a:moveTo>
                <a:lnTo>
                  <a:pt x="7484434" y="0"/>
                </a:lnTo>
                <a:cubicBezTo>
                  <a:pt x="7510762" y="0"/>
                  <a:pt x="7532106" y="21343"/>
                  <a:pt x="7532106" y="47672"/>
                </a:cubicBezTo>
                <a:lnTo>
                  <a:pt x="7532106" y="3849475"/>
                </a:lnTo>
                <a:cubicBezTo>
                  <a:pt x="7532106" y="3902133"/>
                  <a:pt x="7489418" y="3944821"/>
                  <a:pt x="7436759" y="3944821"/>
                </a:cubicBezTo>
                <a:lnTo>
                  <a:pt x="95346" y="3944821"/>
                </a:lnTo>
                <a:cubicBezTo>
                  <a:pt x="42688" y="3944821"/>
                  <a:pt x="0" y="3902133"/>
                  <a:pt x="0" y="3849475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6716" y="1644669"/>
            <a:ext cx="7532106" cy="47672"/>
          </a:xfrm>
          <a:custGeom>
            <a:avLst/>
            <a:gdLst/>
            <a:ahLst/>
            <a:cxnLst/>
            <a:rect l="l" t="t" r="r" b="b"/>
            <a:pathLst>
              <a:path w="7532106" h="47672">
                <a:moveTo>
                  <a:pt x="47672" y="0"/>
                </a:moveTo>
                <a:lnTo>
                  <a:pt x="7484434" y="0"/>
                </a:lnTo>
                <a:cubicBezTo>
                  <a:pt x="7510762" y="0"/>
                  <a:pt x="7532106" y="21343"/>
                  <a:pt x="7532106" y="47672"/>
                </a:cubicBezTo>
                <a:lnTo>
                  <a:pt x="7532106" y="47672"/>
                </a:lnTo>
                <a:lnTo>
                  <a:pt x="0" y="47672"/>
                </a:ln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8704" y="1954534"/>
            <a:ext cx="250276" cy="286029"/>
          </a:xfrm>
          <a:custGeom>
            <a:avLst/>
            <a:gdLst/>
            <a:ahLst/>
            <a:cxnLst/>
            <a:rect l="l" t="t" r="r" b="b"/>
            <a:pathLst>
              <a:path w="250276" h="286029">
                <a:moveTo>
                  <a:pt x="250276" y="114970"/>
                </a:moveTo>
                <a:cubicBezTo>
                  <a:pt x="242008" y="120445"/>
                  <a:pt x="232511" y="124859"/>
                  <a:pt x="222622" y="128378"/>
                </a:cubicBezTo>
                <a:cubicBezTo>
                  <a:pt x="196366" y="137763"/>
                  <a:pt x="161897" y="143015"/>
                  <a:pt x="125138" y="143015"/>
                </a:cubicBezTo>
                <a:cubicBezTo>
                  <a:pt x="88379" y="143015"/>
                  <a:pt x="53854" y="137707"/>
                  <a:pt x="27653" y="128378"/>
                </a:cubicBezTo>
                <a:cubicBezTo>
                  <a:pt x="17821" y="124859"/>
                  <a:pt x="8268" y="120445"/>
                  <a:pt x="0" y="114970"/>
                </a:cubicBezTo>
                <a:lnTo>
                  <a:pt x="0" y="160891"/>
                </a:lnTo>
                <a:cubicBezTo>
                  <a:pt x="0" y="185584"/>
                  <a:pt x="56033" y="205584"/>
                  <a:pt x="125138" y="205584"/>
                </a:cubicBezTo>
                <a:cubicBezTo>
                  <a:pt x="194243" y="205584"/>
                  <a:pt x="250276" y="185584"/>
                  <a:pt x="250276" y="160891"/>
                </a:cubicBezTo>
                <a:lnTo>
                  <a:pt x="250276" y="114970"/>
                </a:lnTo>
                <a:close/>
                <a:moveTo>
                  <a:pt x="250276" y="71507"/>
                </a:moveTo>
                <a:lnTo>
                  <a:pt x="250276" y="44692"/>
                </a:lnTo>
                <a:cubicBezTo>
                  <a:pt x="250276" y="20000"/>
                  <a:pt x="194243" y="0"/>
                  <a:pt x="125138" y="0"/>
                </a:cubicBezTo>
                <a:cubicBezTo>
                  <a:pt x="56033" y="0"/>
                  <a:pt x="0" y="20000"/>
                  <a:pt x="0" y="44692"/>
                </a:cubicBezTo>
                <a:lnTo>
                  <a:pt x="0" y="71507"/>
                </a:lnTo>
                <a:cubicBezTo>
                  <a:pt x="0" y="96200"/>
                  <a:pt x="56033" y="116199"/>
                  <a:pt x="125138" y="116199"/>
                </a:cubicBezTo>
                <a:cubicBezTo>
                  <a:pt x="194243" y="116199"/>
                  <a:pt x="250276" y="96200"/>
                  <a:pt x="250276" y="71507"/>
                </a:cubicBezTo>
                <a:close/>
                <a:moveTo>
                  <a:pt x="222622" y="217762"/>
                </a:moveTo>
                <a:cubicBezTo>
                  <a:pt x="196422" y="227092"/>
                  <a:pt x="161953" y="232399"/>
                  <a:pt x="125138" y="232399"/>
                </a:cubicBezTo>
                <a:cubicBezTo>
                  <a:pt x="88323" y="232399"/>
                  <a:pt x="53854" y="227092"/>
                  <a:pt x="27653" y="217762"/>
                </a:cubicBezTo>
                <a:cubicBezTo>
                  <a:pt x="17821" y="214243"/>
                  <a:pt x="8268" y="209829"/>
                  <a:pt x="0" y="204355"/>
                </a:cubicBezTo>
                <a:lnTo>
                  <a:pt x="0" y="241337"/>
                </a:lnTo>
                <a:cubicBezTo>
                  <a:pt x="0" y="266030"/>
                  <a:pt x="56033" y="286029"/>
                  <a:pt x="125138" y="286029"/>
                </a:cubicBezTo>
                <a:cubicBezTo>
                  <a:pt x="194243" y="286029"/>
                  <a:pt x="250276" y="266030"/>
                  <a:pt x="250276" y="241337"/>
                </a:cubicBezTo>
                <a:lnTo>
                  <a:pt x="250276" y="204355"/>
                </a:lnTo>
                <a:cubicBezTo>
                  <a:pt x="242008" y="209829"/>
                  <a:pt x="232511" y="214243"/>
                  <a:pt x="222622" y="21776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2610" y="1906862"/>
            <a:ext cx="6840868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225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5073" y="2431249"/>
            <a:ext cx="7055390" cy="905760"/>
          </a:xfrm>
          <a:custGeom>
            <a:avLst/>
            <a:gdLst/>
            <a:ahLst/>
            <a:cxnLst/>
            <a:rect l="l" t="t" r="r" b="b"/>
            <a:pathLst>
              <a:path w="7055390" h="905760">
                <a:moveTo>
                  <a:pt x="47670" y="0"/>
                </a:moveTo>
                <a:lnTo>
                  <a:pt x="7007720" y="0"/>
                </a:lnTo>
                <a:cubicBezTo>
                  <a:pt x="7034047" y="0"/>
                  <a:pt x="7055390" y="21343"/>
                  <a:pt x="7055390" y="47670"/>
                </a:cubicBezTo>
                <a:lnTo>
                  <a:pt x="7055390" y="858089"/>
                </a:lnTo>
                <a:cubicBezTo>
                  <a:pt x="7055390" y="884417"/>
                  <a:pt x="7034047" y="905760"/>
                  <a:pt x="7007720" y="905760"/>
                </a:cubicBezTo>
                <a:lnTo>
                  <a:pt x="47670" y="905760"/>
                </a:lnTo>
                <a:cubicBezTo>
                  <a:pt x="21343" y="905760"/>
                  <a:pt x="0" y="884417"/>
                  <a:pt x="0" y="858089"/>
                </a:cubicBezTo>
                <a:lnTo>
                  <a:pt x="0" y="47670"/>
                </a:lnTo>
                <a:cubicBezTo>
                  <a:pt x="0" y="21343"/>
                  <a:pt x="21343" y="0"/>
                  <a:pt x="4767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8088" y="2574264"/>
            <a:ext cx="6864704" cy="61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定位: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基于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的数据仓库工具,提供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HiveQL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(类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SQL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),将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SQL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转换为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/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任务执行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5073" y="3480023"/>
            <a:ext cx="7055390" cy="595894"/>
          </a:xfrm>
          <a:custGeom>
            <a:avLst/>
            <a:gdLst/>
            <a:ahLst/>
            <a:cxnLst/>
            <a:rect l="l" t="t" r="r" b="b"/>
            <a:pathLst>
              <a:path w="7055390" h="595894">
                <a:moveTo>
                  <a:pt x="47672" y="0"/>
                </a:moveTo>
                <a:lnTo>
                  <a:pt x="7007718" y="0"/>
                </a:lnTo>
                <a:cubicBezTo>
                  <a:pt x="7034047" y="0"/>
                  <a:pt x="7055390" y="21343"/>
                  <a:pt x="7055390" y="47672"/>
                </a:cubicBezTo>
                <a:lnTo>
                  <a:pt x="7055390" y="548223"/>
                </a:lnTo>
                <a:cubicBezTo>
                  <a:pt x="7055390" y="574551"/>
                  <a:pt x="7034047" y="595894"/>
                  <a:pt x="7007718" y="595894"/>
                </a:cubicBezTo>
                <a:lnTo>
                  <a:pt x="47672" y="595894"/>
                </a:lnTo>
                <a:cubicBezTo>
                  <a:pt x="21343" y="595894"/>
                  <a:pt x="0" y="574551"/>
                  <a:pt x="0" y="54822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8088" y="3623038"/>
            <a:ext cx="6864704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元数据(Metadata):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表名、列、分区等信息存放在Metastore(通常是MySQL)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5073" y="4218933"/>
            <a:ext cx="7055390" cy="595894"/>
          </a:xfrm>
          <a:custGeom>
            <a:avLst/>
            <a:gdLst/>
            <a:ahLst/>
            <a:cxnLst/>
            <a:rect l="l" t="t" r="r" b="b"/>
            <a:pathLst>
              <a:path w="7055390" h="595894">
                <a:moveTo>
                  <a:pt x="47672" y="0"/>
                </a:moveTo>
                <a:lnTo>
                  <a:pt x="7007718" y="0"/>
                </a:lnTo>
                <a:cubicBezTo>
                  <a:pt x="7034047" y="0"/>
                  <a:pt x="7055390" y="21343"/>
                  <a:pt x="7055390" y="47672"/>
                </a:cubicBezTo>
                <a:lnTo>
                  <a:pt x="7055390" y="548223"/>
                </a:lnTo>
                <a:cubicBezTo>
                  <a:pt x="7055390" y="574551"/>
                  <a:pt x="7034047" y="595894"/>
                  <a:pt x="7007718" y="595894"/>
                </a:cubicBezTo>
                <a:lnTo>
                  <a:pt x="47672" y="595894"/>
                </a:lnTo>
                <a:cubicBezTo>
                  <a:pt x="21343" y="595894"/>
                  <a:pt x="0" y="574551"/>
                  <a:pt x="0" y="548223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8088" y="4361947"/>
            <a:ext cx="6864704" cy="309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数据(Data):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实际数据存放在HDFS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44479" y="1644669"/>
            <a:ext cx="7532106" cy="3944821"/>
          </a:xfrm>
          <a:custGeom>
            <a:avLst/>
            <a:gdLst/>
            <a:ahLst/>
            <a:cxnLst/>
            <a:rect l="l" t="t" r="r" b="b"/>
            <a:pathLst>
              <a:path w="7532106" h="3944821">
                <a:moveTo>
                  <a:pt x="47672" y="0"/>
                </a:moveTo>
                <a:lnTo>
                  <a:pt x="7484434" y="0"/>
                </a:lnTo>
                <a:cubicBezTo>
                  <a:pt x="7510762" y="0"/>
                  <a:pt x="7532106" y="21343"/>
                  <a:pt x="7532106" y="47672"/>
                </a:cubicBezTo>
                <a:lnTo>
                  <a:pt x="7532106" y="3849475"/>
                </a:lnTo>
                <a:cubicBezTo>
                  <a:pt x="7532106" y="3902133"/>
                  <a:pt x="7489418" y="3944821"/>
                  <a:pt x="7436759" y="3944821"/>
                </a:cubicBezTo>
                <a:lnTo>
                  <a:pt x="95346" y="3944821"/>
                </a:lnTo>
                <a:cubicBezTo>
                  <a:pt x="42688" y="3944821"/>
                  <a:pt x="0" y="3902133"/>
                  <a:pt x="0" y="3849475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4479" y="1644669"/>
            <a:ext cx="7532106" cy="47672"/>
          </a:xfrm>
          <a:custGeom>
            <a:avLst/>
            <a:gdLst/>
            <a:ahLst/>
            <a:cxnLst/>
            <a:rect l="l" t="t" r="r" b="b"/>
            <a:pathLst>
              <a:path w="7532106" h="47672">
                <a:moveTo>
                  <a:pt x="47672" y="0"/>
                </a:moveTo>
                <a:lnTo>
                  <a:pt x="7484434" y="0"/>
                </a:lnTo>
                <a:cubicBezTo>
                  <a:pt x="7510762" y="0"/>
                  <a:pt x="7532106" y="21343"/>
                  <a:pt x="7532106" y="47672"/>
                </a:cubicBezTo>
                <a:lnTo>
                  <a:pt x="7532106" y="47672"/>
                </a:lnTo>
                <a:lnTo>
                  <a:pt x="0" y="47672"/>
                </a:ln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36467" y="1954534"/>
            <a:ext cx="250276" cy="286029"/>
          </a:xfrm>
          <a:custGeom>
            <a:avLst/>
            <a:gdLst/>
            <a:ahLst/>
            <a:cxnLst/>
            <a:rect l="l" t="t" r="r" b="b"/>
            <a:pathLst>
              <a:path w="250276" h="286029">
                <a:moveTo>
                  <a:pt x="143015" y="89384"/>
                </a:moveTo>
                <a:lnTo>
                  <a:pt x="143015" y="143015"/>
                </a:lnTo>
                <a:lnTo>
                  <a:pt x="214522" y="143015"/>
                </a:lnTo>
                <a:lnTo>
                  <a:pt x="214522" y="89384"/>
                </a:lnTo>
                <a:lnTo>
                  <a:pt x="143015" y="89384"/>
                </a:lnTo>
                <a:close/>
                <a:moveTo>
                  <a:pt x="107261" y="89384"/>
                </a:moveTo>
                <a:lnTo>
                  <a:pt x="35754" y="89384"/>
                </a:lnTo>
                <a:lnTo>
                  <a:pt x="35754" y="143015"/>
                </a:lnTo>
                <a:lnTo>
                  <a:pt x="107261" y="143015"/>
                </a:lnTo>
                <a:lnTo>
                  <a:pt x="107261" y="89384"/>
                </a:lnTo>
                <a:close/>
                <a:moveTo>
                  <a:pt x="0" y="178768"/>
                </a:moveTo>
                <a:lnTo>
                  <a:pt x="0" y="53630"/>
                </a:lnTo>
                <a:cubicBezTo>
                  <a:pt x="0" y="33910"/>
                  <a:pt x="16033" y="17877"/>
                  <a:pt x="35754" y="17877"/>
                </a:cubicBezTo>
                <a:lnTo>
                  <a:pt x="214522" y="17877"/>
                </a:lnTo>
                <a:cubicBezTo>
                  <a:pt x="234242" y="17877"/>
                  <a:pt x="250276" y="33910"/>
                  <a:pt x="250276" y="53630"/>
                </a:cubicBezTo>
                <a:lnTo>
                  <a:pt x="250276" y="232399"/>
                </a:lnTo>
                <a:cubicBezTo>
                  <a:pt x="250276" y="252119"/>
                  <a:pt x="234242" y="268152"/>
                  <a:pt x="214522" y="268152"/>
                </a:cubicBezTo>
                <a:lnTo>
                  <a:pt x="35754" y="268152"/>
                </a:lnTo>
                <a:cubicBezTo>
                  <a:pt x="16033" y="268152"/>
                  <a:pt x="0" y="252119"/>
                  <a:pt x="0" y="232399"/>
                </a:cubicBezTo>
                <a:lnTo>
                  <a:pt x="0" y="178768"/>
                </a:lnTo>
                <a:close/>
                <a:moveTo>
                  <a:pt x="214522" y="178768"/>
                </a:moveTo>
                <a:lnTo>
                  <a:pt x="143015" y="178768"/>
                </a:lnTo>
                <a:lnTo>
                  <a:pt x="143015" y="232399"/>
                </a:lnTo>
                <a:lnTo>
                  <a:pt x="214522" y="232399"/>
                </a:lnTo>
                <a:lnTo>
                  <a:pt x="214522" y="178768"/>
                </a:lnTo>
                <a:close/>
                <a:moveTo>
                  <a:pt x="107261" y="232399"/>
                </a:moveTo>
                <a:lnTo>
                  <a:pt x="107261" y="178768"/>
                </a:lnTo>
                <a:lnTo>
                  <a:pt x="35754" y="178768"/>
                </a:lnTo>
                <a:lnTo>
                  <a:pt x="35754" y="232399"/>
                </a:lnTo>
                <a:lnTo>
                  <a:pt x="107261" y="232399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40373" y="1906862"/>
            <a:ext cx="6840868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内部表 vs 外部表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6672" y="2431249"/>
            <a:ext cx="7031554" cy="1394393"/>
          </a:xfrm>
          <a:custGeom>
            <a:avLst/>
            <a:gdLst/>
            <a:ahLst/>
            <a:cxnLst/>
            <a:rect l="l" t="t" r="r" b="b"/>
            <a:pathLst>
              <a:path w="7031554" h="1394393">
                <a:moveTo>
                  <a:pt x="47672" y="0"/>
                </a:moveTo>
                <a:lnTo>
                  <a:pt x="6983880" y="0"/>
                </a:lnTo>
                <a:cubicBezTo>
                  <a:pt x="7010210" y="0"/>
                  <a:pt x="7031554" y="21345"/>
                  <a:pt x="7031554" y="47674"/>
                </a:cubicBezTo>
                <a:lnTo>
                  <a:pt x="7031554" y="1346719"/>
                </a:lnTo>
                <a:cubicBezTo>
                  <a:pt x="7031554" y="1373048"/>
                  <a:pt x="7010210" y="1394393"/>
                  <a:pt x="6983880" y="1394393"/>
                </a:cubicBezTo>
                <a:lnTo>
                  <a:pt x="47672" y="1394393"/>
                </a:lnTo>
                <a:cubicBezTo>
                  <a:pt x="21343" y="1394393"/>
                  <a:pt x="0" y="1373050"/>
                  <a:pt x="0" y="1346721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06672" y="2431249"/>
            <a:ext cx="47672" cy="1394393"/>
          </a:xfrm>
          <a:custGeom>
            <a:avLst/>
            <a:gdLst/>
            <a:ahLst/>
            <a:cxnLst/>
            <a:rect l="l" t="t" r="r" b="b"/>
            <a:pathLst>
              <a:path w="47672" h="1394393">
                <a:moveTo>
                  <a:pt x="47672" y="0"/>
                </a:moveTo>
                <a:lnTo>
                  <a:pt x="47672" y="0"/>
                </a:lnTo>
                <a:lnTo>
                  <a:pt x="47672" y="1394393"/>
                </a:lnTo>
                <a:lnTo>
                  <a:pt x="47672" y="1394393"/>
                </a:lnTo>
                <a:cubicBezTo>
                  <a:pt x="21343" y="1394393"/>
                  <a:pt x="0" y="1373050"/>
                  <a:pt x="0" y="1346721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97359" y="2645771"/>
            <a:ext cx="190686" cy="190686"/>
          </a:xfrm>
          <a:custGeom>
            <a:avLst/>
            <a:gdLst/>
            <a:ahLst/>
            <a:cxnLst/>
            <a:rect l="l" t="t" r="r" b="b"/>
            <a:pathLst>
              <a:path w="190686" h="190686">
                <a:moveTo>
                  <a:pt x="95343" y="190686"/>
                </a:moveTo>
                <a:cubicBezTo>
                  <a:pt x="147964" y="190686"/>
                  <a:pt x="190686" y="147964"/>
                  <a:pt x="190686" y="95343"/>
                </a:cubicBezTo>
                <a:cubicBezTo>
                  <a:pt x="190686" y="42722"/>
                  <a:pt x="147964" y="0"/>
                  <a:pt x="95343" y="0"/>
                </a:cubicBezTo>
                <a:cubicBezTo>
                  <a:pt x="42722" y="0"/>
                  <a:pt x="0" y="42722"/>
                  <a:pt x="0" y="95343"/>
                </a:cubicBezTo>
                <a:cubicBezTo>
                  <a:pt x="0" y="147964"/>
                  <a:pt x="42722" y="190686"/>
                  <a:pt x="95343" y="190686"/>
                </a:cubicBezTo>
                <a:close/>
                <a:moveTo>
                  <a:pt x="126777" y="79217"/>
                </a:moveTo>
                <a:lnTo>
                  <a:pt x="96982" y="126888"/>
                </a:lnTo>
                <a:cubicBezTo>
                  <a:pt x="95418" y="129384"/>
                  <a:pt x="92736" y="130948"/>
                  <a:pt x="89794" y="131097"/>
                </a:cubicBezTo>
                <a:cubicBezTo>
                  <a:pt x="86852" y="131246"/>
                  <a:pt x="84021" y="129905"/>
                  <a:pt x="82271" y="127521"/>
                </a:cubicBezTo>
                <a:lnTo>
                  <a:pt x="64394" y="103686"/>
                </a:lnTo>
                <a:cubicBezTo>
                  <a:pt x="61414" y="99738"/>
                  <a:pt x="62234" y="94151"/>
                  <a:pt x="66182" y="91172"/>
                </a:cubicBezTo>
                <a:cubicBezTo>
                  <a:pt x="70129" y="88192"/>
                  <a:pt x="75716" y="89012"/>
                  <a:pt x="78695" y="92960"/>
                </a:cubicBezTo>
                <a:lnTo>
                  <a:pt x="88751" y="106367"/>
                </a:lnTo>
                <a:lnTo>
                  <a:pt x="111618" y="69757"/>
                </a:lnTo>
                <a:cubicBezTo>
                  <a:pt x="114226" y="65586"/>
                  <a:pt x="119738" y="64282"/>
                  <a:pt x="123946" y="66926"/>
                </a:cubicBezTo>
                <a:cubicBezTo>
                  <a:pt x="128155" y="69571"/>
                  <a:pt x="129421" y="75045"/>
                  <a:pt x="126777" y="7925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07224" y="2574264"/>
            <a:ext cx="1799601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内部表(</a:t>
            </a:r>
            <a:r>
              <a:rPr lang="en-US" sz="168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Managed</a:t>
            </a:r>
            <a:r>
              <a:rPr lang="en-US" sz="168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73523" y="2955636"/>
            <a:ext cx="6805114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管理元数据和数据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73523" y="3241666"/>
            <a:ext cx="6721689" cy="440962"/>
          </a:xfrm>
          <a:custGeom>
            <a:avLst/>
            <a:gdLst/>
            <a:ahLst/>
            <a:cxnLst/>
            <a:rect l="l" t="t" r="r" b="b"/>
            <a:pathLst>
              <a:path w="6721689" h="440962">
                <a:moveTo>
                  <a:pt x="47672" y="0"/>
                </a:moveTo>
                <a:lnTo>
                  <a:pt x="6674017" y="0"/>
                </a:lnTo>
                <a:cubicBezTo>
                  <a:pt x="6700345" y="0"/>
                  <a:pt x="6721689" y="21344"/>
                  <a:pt x="6721689" y="47672"/>
                </a:cubicBezTo>
                <a:lnTo>
                  <a:pt x="6721689" y="393289"/>
                </a:lnTo>
                <a:cubicBezTo>
                  <a:pt x="6721689" y="419618"/>
                  <a:pt x="6700345" y="440962"/>
                  <a:pt x="6674017" y="440962"/>
                </a:cubicBezTo>
                <a:lnTo>
                  <a:pt x="47672" y="440962"/>
                </a:lnTo>
                <a:cubicBezTo>
                  <a:pt x="21344" y="440962"/>
                  <a:pt x="0" y="419618"/>
                  <a:pt x="0" y="393289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68866" y="3337009"/>
            <a:ext cx="6614428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DROP TABLE 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时,元数据和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数据都被删除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6672" y="3962698"/>
            <a:ext cx="7031554" cy="1394393"/>
          </a:xfrm>
          <a:custGeom>
            <a:avLst/>
            <a:gdLst/>
            <a:ahLst/>
            <a:cxnLst/>
            <a:rect l="l" t="t" r="r" b="b"/>
            <a:pathLst>
              <a:path w="7031554" h="1394393">
                <a:moveTo>
                  <a:pt x="47672" y="0"/>
                </a:moveTo>
                <a:lnTo>
                  <a:pt x="6983880" y="0"/>
                </a:lnTo>
                <a:cubicBezTo>
                  <a:pt x="7010210" y="0"/>
                  <a:pt x="7031554" y="21345"/>
                  <a:pt x="7031554" y="47674"/>
                </a:cubicBezTo>
                <a:lnTo>
                  <a:pt x="7031554" y="1346719"/>
                </a:lnTo>
                <a:cubicBezTo>
                  <a:pt x="7031554" y="1373048"/>
                  <a:pt x="7010210" y="1394393"/>
                  <a:pt x="6983880" y="1394393"/>
                </a:cubicBezTo>
                <a:lnTo>
                  <a:pt x="47672" y="1394393"/>
                </a:lnTo>
                <a:cubicBezTo>
                  <a:pt x="21343" y="1394393"/>
                  <a:pt x="0" y="1373050"/>
                  <a:pt x="0" y="1346721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06672" y="3962698"/>
            <a:ext cx="47672" cy="1394393"/>
          </a:xfrm>
          <a:custGeom>
            <a:avLst/>
            <a:gdLst/>
            <a:ahLst/>
            <a:cxnLst/>
            <a:rect l="l" t="t" r="r" b="b"/>
            <a:pathLst>
              <a:path w="47672" h="1394393">
                <a:moveTo>
                  <a:pt x="47672" y="0"/>
                </a:moveTo>
                <a:lnTo>
                  <a:pt x="47672" y="0"/>
                </a:lnTo>
                <a:lnTo>
                  <a:pt x="47672" y="1394393"/>
                </a:lnTo>
                <a:lnTo>
                  <a:pt x="47672" y="1394393"/>
                </a:lnTo>
                <a:cubicBezTo>
                  <a:pt x="21343" y="1394393"/>
                  <a:pt x="0" y="1373050"/>
                  <a:pt x="0" y="1346721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697359" y="4177220"/>
            <a:ext cx="190686" cy="190686"/>
          </a:xfrm>
          <a:custGeom>
            <a:avLst/>
            <a:gdLst/>
            <a:ahLst/>
            <a:cxnLst/>
            <a:rect l="l" t="t" r="r" b="b"/>
            <a:pathLst>
              <a:path w="190686" h="190686">
                <a:moveTo>
                  <a:pt x="108155" y="7374"/>
                </a:moveTo>
                <a:cubicBezTo>
                  <a:pt x="110017" y="2905"/>
                  <a:pt x="114374" y="0"/>
                  <a:pt x="119179" y="0"/>
                </a:cubicBezTo>
                <a:lnTo>
                  <a:pt x="178768" y="0"/>
                </a:lnTo>
                <a:cubicBezTo>
                  <a:pt x="185360" y="0"/>
                  <a:pt x="190686" y="5326"/>
                  <a:pt x="190686" y="11918"/>
                </a:cubicBezTo>
                <a:lnTo>
                  <a:pt x="190686" y="71507"/>
                </a:lnTo>
                <a:cubicBezTo>
                  <a:pt x="190686" y="76312"/>
                  <a:pt x="187781" y="80669"/>
                  <a:pt x="183312" y="82531"/>
                </a:cubicBezTo>
                <a:cubicBezTo>
                  <a:pt x="178843" y="84394"/>
                  <a:pt x="173740" y="83351"/>
                  <a:pt x="170314" y="79962"/>
                </a:cubicBezTo>
                <a:lnTo>
                  <a:pt x="148974" y="58584"/>
                </a:lnTo>
                <a:lnTo>
                  <a:pt x="91842" y="115678"/>
                </a:lnTo>
                <a:cubicBezTo>
                  <a:pt x="87187" y="120333"/>
                  <a:pt x="79626" y="120333"/>
                  <a:pt x="74971" y="115678"/>
                </a:cubicBezTo>
                <a:cubicBezTo>
                  <a:pt x="70316" y="111023"/>
                  <a:pt x="70316" y="103462"/>
                  <a:pt x="74971" y="98807"/>
                </a:cubicBezTo>
                <a:lnTo>
                  <a:pt x="132102" y="41713"/>
                </a:lnTo>
                <a:lnTo>
                  <a:pt x="110762" y="20335"/>
                </a:lnTo>
                <a:cubicBezTo>
                  <a:pt x="107335" y="16909"/>
                  <a:pt x="106330" y="11806"/>
                  <a:pt x="108192" y="7337"/>
                </a:cubicBezTo>
                <a:close/>
                <a:moveTo>
                  <a:pt x="0" y="65548"/>
                </a:moveTo>
                <a:cubicBezTo>
                  <a:pt x="0" y="49087"/>
                  <a:pt x="13333" y="35754"/>
                  <a:pt x="29795" y="35754"/>
                </a:cubicBezTo>
                <a:lnTo>
                  <a:pt x="59589" y="35754"/>
                </a:lnTo>
                <a:cubicBezTo>
                  <a:pt x="66182" y="35754"/>
                  <a:pt x="71507" y="41079"/>
                  <a:pt x="71507" y="47672"/>
                </a:cubicBezTo>
                <a:cubicBezTo>
                  <a:pt x="71507" y="54264"/>
                  <a:pt x="66182" y="59589"/>
                  <a:pt x="59589" y="59589"/>
                </a:cubicBezTo>
                <a:lnTo>
                  <a:pt x="29795" y="59589"/>
                </a:lnTo>
                <a:cubicBezTo>
                  <a:pt x="26517" y="59589"/>
                  <a:pt x="23836" y="62271"/>
                  <a:pt x="23836" y="65548"/>
                </a:cubicBezTo>
                <a:lnTo>
                  <a:pt x="23836" y="160891"/>
                </a:lnTo>
                <a:cubicBezTo>
                  <a:pt x="23836" y="164169"/>
                  <a:pt x="26517" y="166850"/>
                  <a:pt x="29795" y="166850"/>
                </a:cubicBezTo>
                <a:lnTo>
                  <a:pt x="125138" y="166850"/>
                </a:lnTo>
                <a:cubicBezTo>
                  <a:pt x="128415" y="166850"/>
                  <a:pt x="131097" y="164169"/>
                  <a:pt x="131097" y="160891"/>
                </a:cubicBezTo>
                <a:lnTo>
                  <a:pt x="131097" y="131097"/>
                </a:lnTo>
                <a:cubicBezTo>
                  <a:pt x="131097" y="124505"/>
                  <a:pt x="136423" y="119179"/>
                  <a:pt x="143015" y="119179"/>
                </a:cubicBezTo>
                <a:cubicBezTo>
                  <a:pt x="149607" y="119179"/>
                  <a:pt x="154933" y="124505"/>
                  <a:pt x="154933" y="131097"/>
                </a:cubicBezTo>
                <a:lnTo>
                  <a:pt x="154933" y="160891"/>
                </a:lnTo>
                <a:cubicBezTo>
                  <a:pt x="154933" y="177353"/>
                  <a:pt x="141599" y="190686"/>
                  <a:pt x="125138" y="190686"/>
                </a:cubicBezTo>
                <a:lnTo>
                  <a:pt x="29795" y="190686"/>
                </a:lnTo>
                <a:cubicBezTo>
                  <a:pt x="13333" y="190686"/>
                  <a:pt x="0" y="177353"/>
                  <a:pt x="0" y="160891"/>
                </a:cubicBezTo>
                <a:lnTo>
                  <a:pt x="0" y="65548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007223" y="4105713"/>
            <a:ext cx="1799601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外部表(</a:t>
            </a:r>
            <a:r>
              <a:rPr lang="en-US" sz="168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External</a:t>
            </a:r>
            <a:r>
              <a:rPr lang="en-US" sz="168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73523" y="4487085"/>
            <a:ext cx="6805114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只管理元数据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73523" y="4773114"/>
            <a:ext cx="6721689" cy="440962"/>
          </a:xfrm>
          <a:custGeom>
            <a:avLst/>
            <a:gdLst/>
            <a:ahLst/>
            <a:cxnLst/>
            <a:rect l="l" t="t" r="r" b="b"/>
            <a:pathLst>
              <a:path w="6721689" h="440962">
                <a:moveTo>
                  <a:pt x="47672" y="0"/>
                </a:moveTo>
                <a:lnTo>
                  <a:pt x="6674017" y="0"/>
                </a:lnTo>
                <a:cubicBezTo>
                  <a:pt x="6700345" y="0"/>
                  <a:pt x="6721689" y="21344"/>
                  <a:pt x="6721689" y="47672"/>
                </a:cubicBezTo>
                <a:lnTo>
                  <a:pt x="6721689" y="393289"/>
                </a:lnTo>
                <a:cubicBezTo>
                  <a:pt x="6721689" y="419618"/>
                  <a:pt x="6700345" y="440962"/>
                  <a:pt x="6674017" y="440962"/>
                </a:cubicBezTo>
                <a:lnTo>
                  <a:pt x="47672" y="440962"/>
                </a:lnTo>
                <a:cubicBezTo>
                  <a:pt x="21344" y="440962"/>
                  <a:pt x="0" y="419618"/>
                  <a:pt x="0" y="393289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768866" y="4868457"/>
            <a:ext cx="6614428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DROP TABLE 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时,只删元数据,保留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31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2674" y="5786135"/>
            <a:ext cx="15290651" cy="2872211"/>
          </a:xfrm>
          <a:custGeom>
            <a:avLst/>
            <a:gdLst/>
            <a:ahLst/>
            <a:cxnLst/>
            <a:rect l="l" t="t" r="r" b="b"/>
            <a:pathLst>
              <a:path w="15290651" h="2872211">
                <a:moveTo>
                  <a:pt x="95357" y="0"/>
                </a:moveTo>
                <a:lnTo>
                  <a:pt x="15195294" y="0"/>
                </a:lnTo>
                <a:cubicBezTo>
                  <a:pt x="15247958" y="0"/>
                  <a:pt x="15290651" y="42693"/>
                  <a:pt x="15290651" y="95357"/>
                </a:cubicBezTo>
                <a:lnTo>
                  <a:pt x="15290651" y="2776854"/>
                </a:lnTo>
                <a:cubicBezTo>
                  <a:pt x="15290651" y="2829518"/>
                  <a:pt x="15247958" y="2872211"/>
                  <a:pt x="15195294" y="2872211"/>
                </a:cubicBezTo>
                <a:lnTo>
                  <a:pt x="95357" y="2872211"/>
                </a:lnTo>
                <a:cubicBezTo>
                  <a:pt x="42693" y="2872211"/>
                  <a:pt x="0" y="2829518"/>
                  <a:pt x="0" y="2776854"/>
                </a:cubicBezTo>
                <a:lnTo>
                  <a:pt x="0" y="95357"/>
                </a:lnTo>
                <a:cubicBezTo>
                  <a:pt x="0" y="42693"/>
                  <a:pt x="42693" y="0"/>
                  <a:pt x="9535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98499" y="6078123"/>
            <a:ext cx="214522" cy="286029"/>
          </a:xfrm>
          <a:custGeom>
            <a:avLst/>
            <a:gdLst/>
            <a:ahLst/>
            <a:cxnLst/>
            <a:rect l="l" t="t" r="r" b="b"/>
            <a:pathLst>
              <a:path w="214522" h="286029">
                <a:moveTo>
                  <a:pt x="173964" y="17877"/>
                </a:moveTo>
                <a:lnTo>
                  <a:pt x="178768" y="17877"/>
                </a:lnTo>
                <a:cubicBezTo>
                  <a:pt x="198489" y="17877"/>
                  <a:pt x="214522" y="33910"/>
                  <a:pt x="214522" y="53630"/>
                </a:cubicBezTo>
                <a:lnTo>
                  <a:pt x="214522" y="250276"/>
                </a:lnTo>
                <a:cubicBezTo>
                  <a:pt x="214522" y="269996"/>
                  <a:pt x="198489" y="286029"/>
                  <a:pt x="178768" y="286029"/>
                </a:cubicBezTo>
                <a:lnTo>
                  <a:pt x="35754" y="286029"/>
                </a:lnTo>
                <a:cubicBezTo>
                  <a:pt x="16033" y="286029"/>
                  <a:pt x="0" y="269996"/>
                  <a:pt x="0" y="250276"/>
                </a:cubicBezTo>
                <a:lnTo>
                  <a:pt x="0" y="53630"/>
                </a:lnTo>
                <a:cubicBezTo>
                  <a:pt x="0" y="33910"/>
                  <a:pt x="16033" y="17877"/>
                  <a:pt x="35754" y="17877"/>
                </a:cubicBezTo>
                <a:lnTo>
                  <a:pt x="40558" y="17877"/>
                </a:lnTo>
                <a:cubicBezTo>
                  <a:pt x="46703" y="7207"/>
                  <a:pt x="58267" y="0"/>
                  <a:pt x="71507" y="0"/>
                </a:cubicBezTo>
                <a:lnTo>
                  <a:pt x="143015" y="0"/>
                </a:lnTo>
                <a:cubicBezTo>
                  <a:pt x="156255" y="0"/>
                  <a:pt x="167819" y="7207"/>
                  <a:pt x="173964" y="17877"/>
                </a:cubicBezTo>
                <a:close/>
                <a:moveTo>
                  <a:pt x="138545" y="62569"/>
                </a:moveTo>
                <a:cubicBezTo>
                  <a:pt x="145976" y="62569"/>
                  <a:pt x="151953" y="56591"/>
                  <a:pt x="151953" y="49161"/>
                </a:cubicBezTo>
                <a:cubicBezTo>
                  <a:pt x="151953" y="41731"/>
                  <a:pt x="145976" y="35754"/>
                  <a:pt x="138545" y="35754"/>
                </a:cubicBezTo>
                <a:lnTo>
                  <a:pt x="75977" y="35754"/>
                </a:lnTo>
                <a:cubicBezTo>
                  <a:pt x="68546" y="35754"/>
                  <a:pt x="62569" y="41731"/>
                  <a:pt x="62569" y="49161"/>
                </a:cubicBezTo>
                <a:cubicBezTo>
                  <a:pt x="62569" y="56591"/>
                  <a:pt x="68546" y="62569"/>
                  <a:pt x="75977" y="62569"/>
                </a:cubicBezTo>
                <a:lnTo>
                  <a:pt x="138545" y="62569"/>
                </a:lnTo>
                <a:close/>
                <a:moveTo>
                  <a:pt x="154411" y="145640"/>
                </a:moveTo>
                <a:cubicBezTo>
                  <a:pt x="158322" y="139383"/>
                  <a:pt x="156422" y="131115"/>
                  <a:pt x="150165" y="127149"/>
                </a:cubicBezTo>
                <a:cubicBezTo>
                  <a:pt x="143909" y="123183"/>
                  <a:pt x="135640" y="125138"/>
                  <a:pt x="131674" y="131395"/>
                </a:cubicBezTo>
                <a:lnTo>
                  <a:pt x="97373" y="186310"/>
                </a:lnTo>
                <a:lnTo>
                  <a:pt x="82289" y="166199"/>
                </a:lnTo>
                <a:cubicBezTo>
                  <a:pt x="77820" y="160277"/>
                  <a:pt x="69440" y="159048"/>
                  <a:pt x="63519" y="163517"/>
                </a:cubicBezTo>
                <a:cubicBezTo>
                  <a:pt x="57597" y="167986"/>
                  <a:pt x="56368" y="176366"/>
                  <a:pt x="60837" y="182288"/>
                </a:cubicBezTo>
                <a:lnTo>
                  <a:pt x="87652" y="218041"/>
                </a:lnTo>
                <a:cubicBezTo>
                  <a:pt x="90278" y="221561"/>
                  <a:pt x="94524" y="223572"/>
                  <a:pt x="98937" y="223405"/>
                </a:cubicBezTo>
                <a:cubicBezTo>
                  <a:pt x="103350" y="223237"/>
                  <a:pt x="107373" y="220891"/>
                  <a:pt x="109719" y="217092"/>
                </a:cubicBezTo>
                <a:lnTo>
                  <a:pt x="154411" y="145584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84528" y="6030452"/>
            <a:ext cx="14587496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适用场景与选择策略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6991" y="6554839"/>
            <a:ext cx="7281830" cy="1859191"/>
          </a:xfrm>
          <a:custGeom>
            <a:avLst/>
            <a:gdLst/>
            <a:ahLst/>
            <a:cxnLst/>
            <a:rect l="l" t="t" r="r" b="b"/>
            <a:pathLst>
              <a:path w="7281830" h="1859191">
                <a:moveTo>
                  <a:pt x="47670" y="0"/>
                </a:moveTo>
                <a:lnTo>
                  <a:pt x="7234160" y="0"/>
                </a:lnTo>
                <a:cubicBezTo>
                  <a:pt x="7260487" y="0"/>
                  <a:pt x="7281830" y="21342"/>
                  <a:pt x="7281830" y="47670"/>
                </a:cubicBezTo>
                <a:lnTo>
                  <a:pt x="7281830" y="1811521"/>
                </a:lnTo>
                <a:cubicBezTo>
                  <a:pt x="7281830" y="1837848"/>
                  <a:pt x="7260487" y="1859191"/>
                  <a:pt x="7234160" y="1859191"/>
                </a:cubicBezTo>
                <a:lnTo>
                  <a:pt x="47670" y="1859191"/>
                </a:lnTo>
                <a:cubicBezTo>
                  <a:pt x="21342" y="1859191"/>
                  <a:pt x="0" y="1837848"/>
                  <a:pt x="0" y="1811521"/>
                </a:cubicBezTo>
                <a:lnTo>
                  <a:pt x="0" y="47670"/>
                </a:lnTo>
                <a:cubicBezTo>
                  <a:pt x="0" y="21360"/>
                  <a:pt x="21360" y="0"/>
                  <a:pt x="4767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7472" y="6805114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107261" y="214522"/>
                </a:moveTo>
                <a:cubicBezTo>
                  <a:pt x="166460" y="214522"/>
                  <a:pt x="214522" y="166460"/>
                  <a:pt x="214522" y="107261"/>
                </a:cubicBezTo>
                <a:cubicBezTo>
                  <a:pt x="214522" y="48062"/>
                  <a:pt x="166460" y="0"/>
                  <a:pt x="107261" y="0"/>
                </a:cubicBezTo>
                <a:cubicBezTo>
                  <a:pt x="48062" y="0"/>
                  <a:pt x="0" y="48062"/>
                  <a:pt x="0" y="107261"/>
                </a:cubicBezTo>
                <a:cubicBezTo>
                  <a:pt x="0" y="166460"/>
                  <a:pt x="48062" y="214522"/>
                  <a:pt x="107261" y="214522"/>
                </a:cubicBezTo>
                <a:close/>
                <a:moveTo>
                  <a:pt x="142624" y="89119"/>
                </a:moveTo>
                <a:lnTo>
                  <a:pt x="109105" y="142749"/>
                </a:lnTo>
                <a:cubicBezTo>
                  <a:pt x="107345" y="145557"/>
                  <a:pt x="104328" y="147316"/>
                  <a:pt x="101018" y="147484"/>
                </a:cubicBezTo>
                <a:cubicBezTo>
                  <a:pt x="97708" y="147651"/>
                  <a:pt x="94524" y="146143"/>
                  <a:pt x="92555" y="143462"/>
                </a:cubicBezTo>
                <a:lnTo>
                  <a:pt x="72443" y="116646"/>
                </a:lnTo>
                <a:cubicBezTo>
                  <a:pt x="69091" y="112205"/>
                  <a:pt x="70013" y="105920"/>
                  <a:pt x="74454" y="102568"/>
                </a:cubicBezTo>
                <a:cubicBezTo>
                  <a:pt x="78895" y="99216"/>
                  <a:pt x="85180" y="100138"/>
                  <a:pt x="88532" y="104579"/>
                </a:cubicBezTo>
                <a:lnTo>
                  <a:pt x="99845" y="119663"/>
                </a:lnTo>
                <a:lnTo>
                  <a:pt x="125571" y="78477"/>
                </a:lnTo>
                <a:cubicBezTo>
                  <a:pt x="128504" y="73784"/>
                  <a:pt x="134705" y="72317"/>
                  <a:pt x="139439" y="75292"/>
                </a:cubicBezTo>
                <a:cubicBezTo>
                  <a:pt x="144174" y="78267"/>
                  <a:pt x="145598" y="84426"/>
                  <a:pt x="142624" y="8916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91789" y="6745525"/>
            <a:ext cx="6733607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内部表适用场景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7677" y="7174569"/>
            <a:ext cx="699580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数据由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独占,不需要与其他工具共享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7677" y="7555941"/>
            <a:ext cx="699580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需要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完全管理数据生命周期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7677" y="7937314"/>
            <a:ext cx="699580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临时表、中间结果表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44479" y="6554839"/>
            <a:ext cx="7281830" cy="1859191"/>
          </a:xfrm>
          <a:custGeom>
            <a:avLst/>
            <a:gdLst/>
            <a:ahLst/>
            <a:cxnLst/>
            <a:rect l="l" t="t" r="r" b="b"/>
            <a:pathLst>
              <a:path w="7281830" h="1859191">
                <a:moveTo>
                  <a:pt x="47670" y="0"/>
                </a:moveTo>
                <a:lnTo>
                  <a:pt x="7234160" y="0"/>
                </a:lnTo>
                <a:cubicBezTo>
                  <a:pt x="7260487" y="0"/>
                  <a:pt x="7281830" y="21342"/>
                  <a:pt x="7281830" y="47670"/>
                </a:cubicBezTo>
                <a:lnTo>
                  <a:pt x="7281830" y="1811521"/>
                </a:lnTo>
                <a:cubicBezTo>
                  <a:pt x="7281830" y="1837848"/>
                  <a:pt x="7260487" y="1859191"/>
                  <a:pt x="7234160" y="1859191"/>
                </a:cubicBezTo>
                <a:lnTo>
                  <a:pt x="47670" y="1859191"/>
                </a:lnTo>
                <a:cubicBezTo>
                  <a:pt x="21342" y="1859191"/>
                  <a:pt x="0" y="1837848"/>
                  <a:pt x="0" y="1811521"/>
                </a:cubicBezTo>
                <a:lnTo>
                  <a:pt x="0" y="47670"/>
                </a:lnTo>
                <a:cubicBezTo>
                  <a:pt x="0" y="21360"/>
                  <a:pt x="21360" y="0"/>
                  <a:pt x="4767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464960" y="6805114"/>
            <a:ext cx="214522" cy="214522"/>
          </a:xfrm>
          <a:custGeom>
            <a:avLst/>
            <a:gdLst/>
            <a:ahLst/>
            <a:cxnLst/>
            <a:rect l="l" t="t" r="r" b="b"/>
            <a:pathLst>
              <a:path w="214522" h="214522">
                <a:moveTo>
                  <a:pt x="121674" y="8296"/>
                </a:moveTo>
                <a:cubicBezTo>
                  <a:pt x="123769" y="3268"/>
                  <a:pt x="128671" y="0"/>
                  <a:pt x="134076" y="0"/>
                </a:cubicBezTo>
                <a:lnTo>
                  <a:pt x="201114" y="0"/>
                </a:lnTo>
                <a:cubicBezTo>
                  <a:pt x="208530" y="0"/>
                  <a:pt x="214522" y="5992"/>
                  <a:pt x="214522" y="13408"/>
                </a:cubicBezTo>
                <a:lnTo>
                  <a:pt x="214522" y="80446"/>
                </a:lnTo>
                <a:cubicBezTo>
                  <a:pt x="214522" y="85851"/>
                  <a:pt x="211254" y="90753"/>
                  <a:pt x="206226" y="92848"/>
                </a:cubicBezTo>
                <a:cubicBezTo>
                  <a:pt x="201198" y="94943"/>
                  <a:pt x="195458" y="93770"/>
                  <a:pt x="191603" y="89957"/>
                </a:cubicBezTo>
                <a:lnTo>
                  <a:pt x="167595" y="65907"/>
                </a:lnTo>
                <a:lnTo>
                  <a:pt x="103323" y="130138"/>
                </a:lnTo>
                <a:cubicBezTo>
                  <a:pt x="98085" y="135375"/>
                  <a:pt x="89580" y="135375"/>
                  <a:pt x="84342" y="130138"/>
                </a:cubicBezTo>
                <a:cubicBezTo>
                  <a:pt x="79105" y="124900"/>
                  <a:pt x="79105" y="116395"/>
                  <a:pt x="84342" y="111158"/>
                </a:cubicBezTo>
                <a:lnTo>
                  <a:pt x="148615" y="46927"/>
                </a:lnTo>
                <a:lnTo>
                  <a:pt x="124607" y="22877"/>
                </a:lnTo>
                <a:cubicBezTo>
                  <a:pt x="120752" y="19022"/>
                  <a:pt x="119621" y="13282"/>
                  <a:pt x="121716" y="8254"/>
                </a:cubicBezTo>
                <a:close/>
                <a:moveTo>
                  <a:pt x="0" y="73742"/>
                </a:moveTo>
                <a:cubicBezTo>
                  <a:pt x="0" y="55223"/>
                  <a:pt x="15000" y="40223"/>
                  <a:pt x="33519" y="40223"/>
                </a:cubicBezTo>
                <a:lnTo>
                  <a:pt x="67038" y="40223"/>
                </a:lnTo>
                <a:cubicBezTo>
                  <a:pt x="74454" y="40223"/>
                  <a:pt x="80446" y="46214"/>
                  <a:pt x="80446" y="53630"/>
                </a:cubicBezTo>
                <a:cubicBezTo>
                  <a:pt x="80446" y="61047"/>
                  <a:pt x="74454" y="67038"/>
                  <a:pt x="67038" y="67038"/>
                </a:cubicBezTo>
                <a:lnTo>
                  <a:pt x="33519" y="67038"/>
                </a:lnTo>
                <a:cubicBezTo>
                  <a:pt x="29832" y="67038"/>
                  <a:pt x="26815" y="70055"/>
                  <a:pt x="26815" y="73742"/>
                </a:cubicBezTo>
                <a:lnTo>
                  <a:pt x="26815" y="181003"/>
                </a:lnTo>
                <a:cubicBezTo>
                  <a:pt x="26815" y="184690"/>
                  <a:pt x="29832" y="187707"/>
                  <a:pt x="33519" y="187707"/>
                </a:cubicBezTo>
                <a:lnTo>
                  <a:pt x="140780" y="187707"/>
                </a:lnTo>
                <a:cubicBezTo>
                  <a:pt x="144467" y="187707"/>
                  <a:pt x="147484" y="184690"/>
                  <a:pt x="147484" y="181003"/>
                </a:cubicBezTo>
                <a:lnTo>
                  <a:pt x="147484" y="147484"/>
                </a:lnTo>
                <a:cubicBezTo>
                  <a:pt x="147484" y="140068"/>
                  <a:pt x="153475" y="134076"/>
                  <a:pt x="160891" y="134076"/>
                </a:cubicBezTo>
                <a:cubicBezTo>
                  <a:pt x="168308" y="134076"/>
                  <a:pt x="174299" y="140068"/>
                  <a:pt x="174299" y="147484"/>
                </a:cubicBezTo>
                <a:lnTo>
                  <a:pt x="174299" y="181003"/>
                </a:lnTo>
                <a:cubicBezTo>
                  <a:pt x="174299" y="199522"/>
                  <a:pt x="159299" y="214522"/>
                  <a:pt x="140780" y="214522"/>
                </a:cubicBezTo>
                <a:lnTo>
                  <a:pt x="33519" y="214522"/>
                </a:lnTo>
                <a:cubicBezTo>
                  <a:pt x="15000" y="214522"/>
                  <a:pt x="0" y="199522"/>
                  <a:pt x="0" y="181003"/>
                </a:cubicBezTo>
                <a:lnTo>
                  <a:pt x="0" y="73742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709276" y="6745525"/>
            <a:ext cx="6733607" cy="33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89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外部表适用场景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35165" y="7174569"/>
            <a:ext cx="699580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数据需要被多个工具共享(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Presto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35165" y="7555941"/>
            <a:ext cx="699580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数据由其他系统生成,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只负责分析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35165" y="7937314"/>
            <a:ext cx="699580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</a:t>
            </a:r>
            <a:r>
              <a:rPr lang="en-US" sz="150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防止误删数据,数据安全性要求高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3957" y="432340"/>
            <a:ext cx="1415915" cy="345872"/>
          </a:xfrm>
          <a:custGeom>
            <a:avLst/>
            <a:gdLst/>
            <a:ahLst/>
            <a:cxnLst/>
            <a:rect l="l" t="t" r="r" b="b"/>
            <a:pathLst>
              <a:path w="1415915" h="345872">
                <a:moveTo>
                  <a:pt x="0" y="0"/>
                </a:moveTo>
                <a:lnTo>
                  <a:pt x="1415915" y="0"/>
                </a:lnTo>
                <a:lnTo>
                  <a:pt x="1415915" y="345872"/>
                </a:lnTo>
                <a:lnTo>
                  <a:pt x="0" y="345872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3957" y="432340"/>
            <a:ext cx="43234" cy="345872"/>
          </a:xfrm>
          <a:custGeom>
            <a:avLst/>
            <a:gdLst/>
            <a:ahLst/>
            <a:cxnLst/>
            <a:rect l="l" t="t" r="r" b="b"/>
            <a:pathLst>
              <a:path w="43234" h="345872">
                <a:moveTo>
                  <a:pt x="0" y="0"/>
                </a:moveTo>
                <a:lnTo>
                  <a:pt x="43234" y="0"/>
                </a:lnTo>
                <a:lnTo>
                  <a:pt x="43234" y="345872"/>
                </a:lnTo>
                <a:lnTo>
                  <a:pt x="0" y="345872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5277" y="491787"/>
            <a:ext cx="121840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kern="0" spc="68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08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2340" y="864681"/>
            <a:ext cx="15585872" cy="43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64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存储格式:</a:t>
            </a:r>
            <a:r>
              <a:rPr lang="en-US" sz="3064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TextFile vs ORC vs Parquet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2340" y="1491574"/>
            <a:ext cx="5015149" cy="3869447"/>
          </a:xfrm>
          <a:custGeom>
            <a:avLst/>
            <a:gdLst/>
            <a:ahLst/>
            <a:cxnLst/>
            <a:rect l="l" t="t" r="r" b="b"/>
            <a:pathLst>
              <a:path w="5015149" h="3869447">
                <a:moveTo>
                  <a:pt x="43234" y="0"/>
                </a:moveTo>
                <a:lnTo>
                  <a:pt x="4971915" y="0"/>
                </a:lnTo>
                <a:cubicBezTo>
                  <a:pt x="4995792" y="0"/>
                  <a:pt x="5015149" y="19357"/>
                  <a:pt x="5015149" y="43234"/>
                </a:cubicBezTo>
                <a:lnTo>
                  <a:pt x="5015149" y="3782965"/>
                </a:lnTo>
                <a:cubicBezTo>
                  <a:pt x="5015149" y="3830727"/>
                  <a:pt x="4976430" y="3869447"/>
                  <a:pt x="4928667" y="3869447"/>
                </a:cubicBezTo>
                <a:lnTo>
                  <a:pt x="86482" y="3869447"/>
                </a:lnTo>
                <a:cubicBezTo>
                  <a:pt x="38719" y="3869447"/>
                  <a:pt x="0" y="3830727"/>
                  <a:pt x="0" y="3782965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2340" y="1491574"/>
            <a:ext cx="5015149" cy="43234"/>
          </a:xfrm>
          <a:custGeom>
            <a:avLst/>
            <a:gdLst/>
            <a:ahLst/>
            <a:cxnLst/>
            <a:rect l="l" t="t" r="r" b="b"/>
            <a:pathLst>
              <a:path w="5015149" h="43234">
                <a:moveTo>
                  <a:pt x="43234" y="0"/>
                </a:moveTo>
                <a:lnTo>
                  <a:pt x="4971915" y="0"/>
                </a:lnTo>
                <a:cubicBezTo>
                  <a:pt x="4995792" y="0"/>
                  <a:pt x="5015149" y="19357"/>
                  <a:pt x="5015149" y="43234"/>
                </a:cubicBezTo>
                <a:lnTo>
                  <a:pt x="5015149" y="43234"/>
                </a:lnTo>
                <a:lnTo>
                  <a:pt x="0" y="43234"/>
                </a:ln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94000" y="1729362"/>
            <a:ext cx="291830" cy="389106"/>
          </a:xfrm>
          <a:custGeom>
            <a:avLst/>
            <a:gdLst/>
            <a:ahLst/>
            <a:cxnLst/>
            <a:rect l="l" t="t" r="r" b="b"/>
            <a:pathLst>
              <a:path w="291830" h="389106">
                <a:moveTo>
                  <a:pt x="0" y="48638"/>
                </a:moveTo>
                <a:cubicBezTo>
                  <a:pt x="0" y="21811"/>
                  <a:pt x="21811" y="0"/>
                  <a:pt x="48638" y="0"/>
                </a:cubicBezTo>
                <a:lnTo>
                  <a:pt x="162254" y="0"/>
                </a:lnTo>
                <a:cubicBezTo>
                  <a:pt x="175174" y="0"/>
                  <a:pt x="187561" y="5092"/>
                  <a:pt x="196681" y="14212"/>
                </a:cubicBezTo>
                <a:lnTo>
                  <a:pt x="277618" y="95225"/>
                </a:lnTo>
                <a:cubicBezTo>
                  <a:pt x="286738" y="104344"/>
                  <a:pt x="291830" y="116732"/>
                  <a:pt x="291830" y="129651"/>
                </a:cubicBezTo>
                <a:lnTo>
                  <a:pt x="291830" y="340468"/>
                </a:lnTo>
                <a:cubicBezTo>
                  <a:pt x="291830" y="367295"/>
                  <a:pt x="270019" y="389106"/>
                  <a:pt x="243191" y="389106"/>
                </a:cubicBezTo>
                <a:lnTo>
                  <a:pt x="48638" y="389106"/>
                </a:lnTo>
                <a:cubicBezTo>
                  <a:pt x="21811" y="389106"/>
                  <a:pt x="0" y="367295"/>
                  <a:pt x="0" y="340468"/>
                </a:cubicBezTo>
                <a:lnTo>
                  <a:pt x="0" y="48638"/>
                </a:lnTo>
                <a:close/>
                <a:moveTo>
                  <a:pt x="158074" y="44458"/>
                </a:moveTo>
                <a:lnTo>
                  <a:pt x="158074" y="115516"/>
                </a:lnTo>
                <a:cubicBezTo>
                  <a:pt x="158074" y="125624"/>
                  <a:pt x="166206" y="133755"/>
                  <a:pt x="176314" y="133755"/>
                </a:cubicBezTo>
                <a:lnTo>
                  <a:pt x="247371" y="133755"/>
                </a:lnTo>
                <a:lnTo>
                  <a:pt x="158074" y="44458"/>
                </a:lnTo>
                <a:close/>
                <a:moveTo>
                  <a:pt x="91197" y="194553"/>
                </a:moveTo>
                <a:cubicBezTo>
                  <a:pt x="81089" y="194553"/>
                  <a:pt x="72957" y="202685"/>
                  <a:pt x="72957" y="212793"/>
                </a:cubicBezTo>
                <a:cubicBezTo>
                  <a:pt x="72957" y="222900"/>
                  <a:pt x="81089" y="231032"/>
                  <a:pt x="91197" y="231032"/>
                </a:cubicBezTo>
                <a:lnTo>
                  <a:pt x="200633" y="231032"/>
                </a:lnTo>
                <a:cubicBezTo>
                  <a:pt x="210741" y="231032"/>
                  <a:pt x="218872" y="222900"/>
                  <a:pt x="218872" y="212793"/>
                </a:cubicBezTo>
                <a:cubicBezTo>
                  <a:pt x="218872" y="202685"/>
                  <a:pt x="210741" y="194553"/>
                  <a:pt x="200633" y="194553"/>
                </a:cubicBezTo>
                <a:lnTo>
                  <a:pt x="91197" y="194553"/>
                </a:lnTo>
                <a:close/>
                <a:moveTo>
                  <a:pt x="91197" y="267511"/>
                </a:moveTo>
                <a:cubicBezTo>
                  <a:pt x="81089" y="267511"/>
                  <a:pt x="72957" y="275642"/>
                  <a:pt x="72957" y="285750"/>
                </a:cubicBezTo>
                <a:cubicBezTo>
                  <a:pt x="72957" y="295858"/>
                  <a:pt x="81089" y="303989"/>
                  <a:pt x="91197" y="303989"/>
                </a:cubicBezTo>
                <a:lnTo>
                  <a:pt x="200633" y="303989"/>
                </a:lnTo>
                <a:cubicBezTo>
                  <a:pt x="210741" y="303989"/>
                  <a:pt x="218872" y="295858"/>
                  <a:pt x="218872" y="285750"/>
                </a:cubicBezTo>
                <a:cubicBezTo>
                  <a:pt x="218872" y="275642"/>
                  <a:pt x="210741" y="267511"/>
                  <a:pt x="200633" y="267511"/>
                </a:cubicBezTo>
                <a:lnTo>
                  <a:pt x="91197" y="267511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3660" y="2204936"/>
            <a:ext cx="4712511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TextFile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8511" y="2680511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8213" y="2826426"/>
            <a:ext cx="82009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存储方式: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8213" y="3069617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行式存储,文本格式,可读性好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8511" y="3545191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213" y="3691106"/>
            <a:ext cx="47422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8213" y="3934298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占用空间大,压缩比低,解析慢,不支持列裁剪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0128" y="4409872"/>
            <a:ext cx="4561191" cy="734979"/>
          </a:xfrm>
          <a:custGeom>
            <a:avLst/>
            <a:gdLst/>
            <a:ahLst/>
            <a:cxnLst/>
            <a:rect l="l" t="t" r="r" b="b"/>
            <a:pathLst>
              <a:path w="4561191" h="734979">
                <a:moveTo>
                  <a:pt x="43231" y="0"/>
                </a:moveTo>
                <a:lnTo>
                  <a:pt x="4517960" y="0"/>
                </a:lnTo>
                <a:cubicBezTo>
                  <a:pt x="4541836" y="0"/>
                  <a:pt x="4561191" y="19355"/>
                  <a:pt x="4561191" y="43231"/>
                </a:cubicBezTo>
                <a:lnTo>
                  <a:pt x="4561191" y="691747"/>
                </a:lnTo>
                <a:cubicBezTo>
                  <a:pt x="4561191" y="715623"/>
                  <a:pt x="4541836" y="734979"/>
                  <a:pt x="4517960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0128" y="4409872"/>
            <a:ext cx="43234" cy="734979"/>
          </a:xfrm>
          <a:custGeom>
            <a:avLst/>
            <a:gdLst/>
            <a:ahLst/>
            <a:cxnLst/>
            <a:rect l="l" t="t" r="r" b="b"/>
            <a:pathLst>
              <a:path w="43234" h="734979">
                <a:moveTo>
                  <a:pt x="43234" y="0"/>
                </a:moveTo>
                <a:lnTo>
                  <a:pt x="43234" y="0"/>
                </a:lnTo>
                <a:lnTo>
                  <a:pt x="43234" y="734979"/>
                </a:lnTo>
                <a:lnTo>
                  <a:pt x="43234" y="734979"/>
                </a:lnTo>
                <a:cubicBezTo>
                  <a:pt x="19357" y="734979"/>
                  <a:pt x="0" y="715622"/>
                  <a:pt x="0" y="691745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1447" y="4555787"/>
            <a:ext cx="82009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1447" y="4798979"/>
            <a:ext cx="4355830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小数据量测试、数据交换、简单日志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20426" y="1491574"/>
            <a:ext cx="5015149" cy="3869447"/>
          </a:xfrm>
          <a:custGeom>
            <a:avLst/>
            <a:gdLst/>
            <a:ahLst/>
            <a:cxnLst/>
            <a:rect l="l" t="t" r="r" b="b"/>
            <a:pathLst>
              <a:path w="5015149" h="3869447">
                <a:moveTo>
                  <a:pt x="43234" y="0"/>
                </a:moveTo>
                <a:lnTo>
                  <a:pt x="4971915" y="0"/>
                </a:lnTo>
                <a:cubicBezTo>
                  <a:pt x="4995792" y="0"/>
                  <a:pt x="5015149" y="19357"/>
                  <a:pt x="5015149" y="43234"/>
                </a:cubicBezTo>
                <a:lnTo>
                  <a:pt x="5015149" y="3782965"/>
                </a:lnTo>
                <a:cubicBezTo>
                  <a:pt x="5015149" y="3830727"/>
                  <a:pt x="4976430" y="3869447"/>
                  <a:pt x="4928667" y="3869447"/>
                </a:cubicBezTo>
                <a:lnTo>
                  <a:pt x="86482" y="3869447"/>
                </a:lnTo>
                <a:cubicBezTo>
                  <a:pt x="38719" y="3869447"/>
                  <a:pt x="0" y="3830727"/>
                  <a:pt x="0" y="3782965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20426" y="1491574"/>
            <a:ext cx="5015149" cy="43234"/>
          </a:xfrm>
          <a:custGeom>
            <a:avLst/>
            <a:gdLst/>
            <a:ahLst/>
            <a:cxnLst/>
            <a:rect l="l" t="t" r="r" b="b"/>
            <a:pathLst>
              <a:path w="5015149" h="43234">
                <a:moveTo>
                  <a:pt x="43234" y="0"/>
                </a:moveTo>
                <a:lnTo>
                  <a:pt x="4971915" y="0"/>
                </a:lnTo>
                <a:cubicBezTo>
                  <a:pt x="4995792" y="0"/>
                  <a:pt x="5015149" y="19357"/>
                  <a:pt x="5015149" y="43234"/>
                </a:cubicBezTo>
                <a:lnTo>
                  <a:pt x="5015149" y="43234"/>
                </a:lnTo>
                <a:lnTo>
                  <a:pt x="0" y="43234"/>
                </a:ln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957766" y="1729362"/>
            <a:ext cx="340468" cy="389106"/>
          </a:xfrm>
          <a:custGeom>
            <a:avLst/>
            <a:gdLst/>
            <a:ahLst/>
            <a:cxnLst/>
            <a:rect l="l" t="t" r="r" b="b"/>
            <a:pathLst>
              <a:path w="340468" h="389106">
                <a:moveTo>
                  <a:pt x="0" y="72957"/>
                </a:moveTo>
                <a:cubicBezTo>
                  <a:pt x="0" y="46130"/>
                  <a:pt x="21811" y="24319"/>
                  <a:pt x="48638" y="24319"/>
                </a:cubicBezTo>
                <a:lnTo>
                  <a:pt x="291830" y="24319"/>
                </a:lnTo>
                <a:cubicBezTo>
                  <a:pt x="318657" y="24319"/>
                  <a:pt x="340468" y="46130"/>
                  <a:pt x="340468" y="72957"/>
                </a:cubicBezTo>
                <a:lnTo>
                  <a:pt x="340468" y="316149"/>
                </a:lnTo>
                <a:cubicBezTo>
                  <a:pt x="340468" y="342976"/>
                  <a:pt x="318657" y="364787"/>
                  <a:pt x="291830" y="364787"/>
                </a:cubicBezTo>
                <a:lnTo>
                  <a:pt x="48638" y="364787"/>
                </a:lnTo>
                <a:cubicBezTo>
                  <a:pt x="21811" y="364787"/>
                  <a:pt x="0" y="342976"/>
                  <a:pt x="0" y="316149"/>
                </a:cubicBezTo>
                <a:lnTo>
                  <a:pt x="0" y="72957"/>
                </a:lnTo>
                <a:close/>
                <a:moveTo>
                  <a:pt x="48638" y="121596"/>
                </a:moveTo>
                <a:lnTo>
                  <a:pt x="48638" y="316149"/>
                </a:lnTo>
                <a:lnTo>
                  <a:pt x="145915" y="316149"/>
                </a:lnTo>
                <a:lnTo>
                  <a:pt x="145915" y="121596"/>
                </a:lnTo>
                <a:lnTo>
                  <a:pt x="48638" y="121596"/>
                </a:lnTo>
                <a:close/>
                <a:moveTo>
                  <a:pt x="291830" y="121596"/>
                </a:moveTo>
                <a:lnTo>
                  <a:pt x="194553" y="121596"/>
                </a:lnTo>
                <a:lnTo>
                  <a:pt x="194553" y="316149"/>
                </a:lnTo>
                <a:lnTo>
                  <a:pt x="291830" y="316149"/>
                </a:lnTo>
                <a:lnTo>
                  <a:pt x="291830" y="12159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71745" y="2204936"/>
            <a:ext cx="4712511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ORC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836596" y="2680511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66298" y="2826426"/>
            <a:ext cx="82009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存储方式: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66298" y="3069617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列式存储,专为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Hadoop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36596" y="3545191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66298" y="3691106"/>
            <a:ext cx="47422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6298" y="3934298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压缩比高,查询快,支持列裁剪,内置索引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36596" y="4409872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66298" y="4555787"/>
            <a:ext cx="82009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66298" y="4798979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数仓、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OLAP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查询、大数据量分析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08511" y="1491574"/>
            <a:ext cx="5015149" cy="3869447"/>
          </a:xfrm>
          <a:custGeom>
            <a:avLst/>
            <a:gdLst/>
            <a:ahLst/>
            <a:cxnLst/>
            <a:rect l="l" t="t" r="r" b="b"/>
            <a:pathLst>
              <a:path w="5015149" h="3869447">
                <a:moveTo>
                  <a:pt x="43234" y="0"/>
                </a:moveTo>
                <a:lnTo>
                  <a:pt x="4971915" y="0"/>
                </a:lnTo>
                <a:cubicBezTo>
                  <a:pt x="4995792" y="0"/>
                  <a:pt x="5015149" y="19357"/>
                  <a:pt x="5015149" y="43234"/>
                </a:cubicBezTo>
                <a:lnTo>
                  <a:pt x="5015149" y="3782965"/>
                </a:lnTo>
                <a:cubicBezTo>
                  <a:pt x="5015149" y="3830727"/>
                  <a:pt x="4976430" y="3869447"/>
                  <a:pt x="4928667" y="3869447"/>
                </a:cubicBezTo>
                <a:lnTo>
                  <a:pt x="86482" y="3869447"/>
                </a:lnTo>
                <a:cubicBezTo>
                  <a:pt x="38719" y="3869447"/>
                  <a:pt x="0" y="3830727"/>
                  <a:pt x="0" y="3782965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808511" y="1491574"/>
            <a:ext cx="5015149" cy="43234"/>
          </a:xfrm>
          <a:custGeom>
            <a:avLst/>
            <a:gdLst/>
            <a:ahLst/>
            <a:cxnLst/>
            <a:rect l="l" t="t" r="r" b="b"/>
            <a:pathLst>
              <a:path w="5015149" h="43234">
                <a:moveTo>
                  <a:pt x="43234" y="0"/>
                </a:moveTo>
                <a:lnTo>
                  <a:pt x="4971915" y="0"/>
                </a:lnTo>
                <a:cubicBezTo>
                  <a:pt x="4995792" y="0"/>
                  <a:pt x="5015149" y="19357"/>
                  <a:pt x="5015149" y="43234"/>
                </a:cubicBezTo>
                <a:lnTo>
                  <a:pt x="5015149" y="43234"/>
                </a:lnTo>
                <a:lnTo>
                  <a:pt x="0" y="43234"/>
                </a:ln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3145851" y="1729362"/>
            <a:ext cx="340468" cy="389106"/>
          </a:xfrm>
          <a:custGeom>
            <a:avLst/>
            <a:gdLst/>
            <a:ahLst/>
            <a:cxnLst/>
            <a:rect l="l" t="t" r="r" b="b"/>
            <a:pathLst>
              <a:path w="340468" h="389106">
                <a:moveTo>
                  <a:pt x="291830" y="72957"/>
                </a:moveTo>
                <a:lnTo>
                  <a:pt x="291830" y="121596"/>
                </a:lnTo>
                <a:lnTo>
                  <a:pt x="243191" y="121596"/>
                </a:lnTo>
                <a:lnTo>
                  <a:pt x="243191" y="72957"/>
                </a:lnTo>
                <a:lnTo>
                  <a:pt x="291830" y="72957"/>
                </a:lnTo>
                <a:close/>
                <a:moveTo>
                  <a:pt x="291830" y="170234"/>
                </a:moveTo>
                <a:lnTo>
                  <a:pt x="291830" y="218872"/>
                </a:lnTo>
                <a:lnTo>
                  <a:pt x="243191" y="218872"/>
                </a:lnTo>
                <a:lnTo>
                  <a:pt x="243191" y="170234"/>
                </a:lnTo>
                <a:lnTo>
                  <a:pt x="291830" y="170234"/>
                </a:lnTo>
                <a:close/>
                <a:moveTo>
                  <a:pt x="291830" y="267511"/>
                </a:moveTo>
                <a:lnTo>
                  <a:pt x="291830" y="316149"/>
                </a:lnTo>
                <a:lnTo>
                  <a:pt x="243191" y="316149"/>
                </a:lnTo>
                <a:lnTo>
                  <a:pt x="243191" y="267511"/>
                </a:lnTo>
                <a:lnTo>
                  <a:pt x="291830" y="267511"/>
                </a:lnTo>
                <a:close/>
                <a:moveTo>
                  <a:pt x="194553" y="218872"/>
                </a:moveTo>
                <a:lnTo>
                  <a:pt x="145915" y="218872"/>
                </a:lnTo>
                <a:lnTo>
                  <a:pt x="145915" y="170234"/>
                </a:lnTo>
                <a:lnTo>
                  <a:pt x="194553" y="170234"/>
                </a:lnTo>
                <a:lnTo>
                  <a:pt x="194553" y="218872"/>
                </a:lnTo>
                <a:close/>
                <a:moveTo>
                  <a:pt x="145915" y="267511"/>
                </a:moveTo>
                <a:lnTo>
                  <a:pt x="194553" y="267511"/>
                </a:lnTo>
                <a:lnTo>
                  <a:pt x="194553" y="316149"/>
                </a:lnTo>
                <a:lnTo>
                  <a:pt x="145915" y="316149"/>
                </a:lnTo>
                <a:lnTo>
                  <a:pt x="145915" y="267511"/>
                </a:lnTo>
                <a:close/>
                <a:moveTo>
                  <a:pt x="97277" y="218872"/>
                </a:moveTo>
                <a:lnTo>
                  <a:pt x="48638" y="218872"/>
                </a:lnTo>
                <a:lnTo>
                  <a:pt x="48638" y="170234"/>
                </a:lnTo>
                <a:lnTo>
                  <a:pt x="97277" y="170234"/>
                </a:lnTo>
                <a:lnTo>
                  <a:pt x="97277" y="218872"/>
                </a:lnTo>
                <a:close/>
                <a:moveTo>
                  <a:pt x="48638" y="267511"/>
                </a:moveTo>
                <a:lnTo>
                  <a:pt x="97277" y="267511"/>
                </a:lnTo>
                <a:lnTo>
                  <a:pt x="97277" y="316149"/>
                </a:lnTo>
                <a:lnTo>
                  <a:pt x="48638" y="316149"/>
                </a:lnTo>
                <a:lnTo>
                  <a:pt x="48638" y="267511"/>
                </a:lnTo>
                <a:close/>
                <a:moveTo>
                  <a:pt x="48638" y="121596"/>
                </a:moveTo>
                <a:lnTo>
                  <a:pt x="48638" y="72957"/>
                </a:lnTo>
                <a:lnTo>
                  <a:pt x="97277" y="72957"/>
                </a:lnTo>
                <a:lnTo>
                  <a:pt x="97277" y="121596"/>
                </a:lnTo>
                <a:lnTo>
                  <a:pt x="48638" y="121596"/>
                </a:lnTo>
                <a:close/>
                <a:moveTo>
                  <a:pt x="145915" y="121596"/>
                </a:moveTo>
                <a:lnTo>
                  <a:pt x="145915" y="72957"/>
                </a:lnTo>
                <a:lnTo>
                  <a:pt x="194553" y="72957"/>
                </a:lnTo>
                <a:lnTo>
                  <a:pt x="194553" y="121596"/>
                </a:lnTo>
                <a:lnTo>
                  <a:pt x="145915" y="121596"/>
                </a:lnTo>
                <a:close/>
                <a:moveTo>
                  <a:pt x="48638" y="24319"/>
                </a:moveTo>
                <a:cubicBezTo>
                  <a:pt x="21811" y="24319"/>
                  <a:pt x="0" y="46130"/>
                  <a:pt x="0" y="72957"/>
                </a:cubicBezTo>
                <a:lnTo>
                  <a:pt x="0" y="316149"/>
                </a:lnTo>
                <a:cubicBezTo>
                  <a:pt x="0" y="342976"/>
                  <a:pt x="21811" y="364787"/>
                  <a:pt x="48638" y="364787"/>
                </a:cubicBezTo>
                <a:lnTo>
                  <a:pt x="291830" y="364787"/>
                </a:lnTo>
                <a:cubicBezTo>
                  <a:pt x="318657" y="364787"/>
                  <a:pt x="340468" y="342976"/>
                  <a:pt x="340468" y="316149"/>
                </a:cubicBezTo>
                <a:lnTo>
                  <a:pt x="340468" y="72957"/>
                </a:lnTo>
                <a:cubicBezTo>
                  <a:pt x="340468" y="46130"/>
                  <a:pt x="318657" y="24319"/>
                  <a:pt x="291830" y="24319"/>
                </a:cubicBezTo>
                <a:lnTo>
                  <a:pt x="48638" y="2431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959830" y="2204936"/>
            <a:ext cx="4712511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4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Parquet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1024681" y="2680511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154383" y="2826426"/>
            <a:ext cx="82009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存储方式: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54383" y="3069617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列式存储,跨语言、跨平台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24681" y="3545191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154383" y="3691106"/>
            <a:ext cx="474223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54383" y="3934298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压缩比高,支持嵌套数据结构,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演进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24681" y="4409872"/>
            <a:ext cx="4582809" cy="734979"/>
          </a:xfrm>
          <a:custGeom>
            <a:avLst/>
            <a:gdLst/>
            <a:ahLst/>
            <a:cxnLst/>
            <a:rect l="l" t="t" r="r" b="b"/>
            <a:pathLst>
              <a:path w="4582809" h="734979">
                <a:moveTo>
                  <a:pt x="43231" y="0"/>
                </a:moveTo>
                <a:lnTo>
                  <a:pt x="4539577" y="0"/>
                </a:lnTo>
                <a:cubicBezTo>
                  <a:pt x="4563453" y="0"/>
                  <a:pt x="4582809" y="19355"/>
                  <a:pt x="4582809" y="43231"/>
                </a:cubicBezTo>
                <a:lnTo>
                  <a:pt x="4582809" y="691747"/>
                </a:lnTo>
                <a:cubicBezTo>
                  <a:pt x="4582809" y="715623"/>
                  <a:pt x="4563453" y="734979"/>
                  <a:pt x="4539577" y="734979"/>
                </a:cubicBezTo>
                <a:lnTo>
                  <a:pt x="43231" y="734979"/>
                </a:lnTo>
                <a:cubicBezTo>
                  <a:pt x="19355" y="734979"/>
                  <a:pt x="0" y="715623"/>
                  <a:pt x="0" y="691747"/>
                </a:cubicBezTo>
                <a:lnTo>
                  <a:pt x="0" y="43231"/>
                </a:lnTo>
                <a:cubicBezTo>
                  <a:pt x="0" y="19371"/>
                  <a:pt x="19371" y="0"/>
                  <a:pt x="4323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154383" y="4555787"/>
            <a:ext cx="820096" cy="226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2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54383" y="4798979"/>
            <a:ext cx="439906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、复杂数据结构、多框架共享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7745" y="5539362"/>
            <a:ext cx="15380511" cy="3166894"/>
          </a:xfrm>
          <a:custGeom>
            <a:avLst/>
            <a:gdLst/>
            <a:ahLst/>
            <a:cxnLst/>
            <a:rect l="l" t="t" r="r" b="b"/>
            <a:pathLst>
              <a:path w="15380511" h="3166894">
                <a:moveTo>
                  <a:pt x="86456" y="0"/>
                </a:moveTo>
                <a:lnTo>
                  <a:pt x="15294054" y="0"/>
                </a:lnTo>
                <a:cubicBezTo>
                  <a:pt x="15341803" y="0"/>
                  <a:pt x="15380511" y="38708"/>
                  <a:pt x="15380511" y="86456"/>
                </a:cubicBezTo>
                <a:lnTo>
                  <a:pt x="15380511" y="3080437"/>
                </a:lnTo>
                <a:cubicBezTo>
                  <a:pt x="15380511" y="3128186"/>
                  <a:pt x="15341803" y="3166894"/>
                  <a:pt x="15294054" y="3166894"/>
                </a:cubicBezTo>
                <a:lnTo>
                  <a:pt x="86456" y="3166894"/>
                </a:lnTo>
                <a:cubicBezTo>
                  <a:pt x="38740" y="3166894"/>
                  <a:pt x="0" y="3128154"/>
                  <a:pt x="0" y="3080437"/>
                </a:cubicBezTo>
                <a:lnTo>
                  <a:pt x="0" y="86456"/>
                </a:lnTo>
                <a:cubicBezTo>
                  <a:pt x="0" y="38740"/>
                  <a:pt x="38740" y="0"/>
                  <a:pt x="8645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91745" y="5804170"/>
            <a:ext cx="259404" cy="259404"/>
          </a:xfrm>
          <a:custGeom>
            <a:avLst/>
            <a:gdLst/>
            <a:ahLst/>
            <a:cxnLst/>
            <a:rect l="l" t="t" r="r" b="b"/>
            <a:pathLst>
              <a:path w="259404" h="259404">
                <a:moveTo>
                  <a:pt x="32426" y="32426"/>
                </a:moveTo>
                <a:cubicBezTo>
                  <a:pt x="32426" y="23458"/>
                  <a:pt x="25180" y="16213"/>
                  <a:pt x="16213" y="16213"/>
                </a:cubicBezTo>
                <a:cubicBezTo>
                  <a:pt x="7245" y="16213"/>
                  <a:pt x="0" y="23458"/>
                  <a:pt x="0" y="32426"/>
                </a:cubicBezTo>
                <a:lnTo>
                  <a:pt x="0" y="202660"/>
                </a:lnTo>
                <a:cubicBezTo>
                  <a:pt x="0" y="225053"/>
                  <a:pt x="18138" y="243191"/>
                  <a:pt x="40532" y="243191"/>
                </a:cubicBezTo>
                <a:lnTo>
                  <a:pt x="243191" y="243191"/>
                </a:lnTo>
                <a:cubicBezTo>
                  <a:pt x="252159" y="243191"/>
                  <a:pt x="259404" y="235946"/>
                  <a:pt x="259404" y="226979"/>
                </a:cubicBezTo>
                <a:cubicBezTo>
                  <a:pt x="259404" y="218011"/>
                  <a:pt x="252159" y="210766"/>
                  <a:pt x="243191" y="210766"/>
                </a:cubicBezTo>
                <a:lnTo>
                  <a:pt x="40532" y="210766"/>
                </a:lnTo>
                <a:cubicBezTo>
                  <a:pt x="36073" y="210766"/>
                  <a:pt x="32426" y="207118"/>
                  <a:pt x="32426" y="202660"/>
                </a:cubicBezTo>
                <a:lnTo>
                  <a:pt x="32426" y="32426"/>
                </a:lnTo>
                <a:close/>
                <a:moveTo>
                  <a:pt x="238429" y="76301"/>
                </a:moveTo>
                <a:cubicBezTo>
                  <a:pt x="244762" y="69968"/>
                  <a:pt x="244762" y="59683"/>
                  <a:pt x="238429" y="53350"/>
                </a:cubicBezTo>
                <a:cubicBezTo>
                  <a:pt x="232096" y="47017"/>
                  <a:pt x="221811" y="47017"/>
                  <a:pt x="215478" y="53350"/>
                </a:cubicBezTo>
                <a:lnTo>
                  <a:pt x="162128" y="106751"/>
                </a:lnTo>
                <a:lnTo>
                  <a:pt x="133046" y="77720"/>
                </a:lnTo>
                <a:cubicBezTo>
                  <a:pt x="126713" y="71387"/>
                  <a:pt x="116428" y="71387"/>
                  <a:pt x="110095" y="77720"/>
                </a:cubicBezTo>
                <a:lnTo>
                  <a:pt x="61457" y="126358"/>
                </a:lnTo>
                <a:cubicBezTo>
                  <a:pt x="55123" y="132691"/>
                  <a:pt x="55123" y="142976"/>
                  <a:pt x="61457" y="149309"/>
                </a:cubicBezTo>
                <a:cubicBezTo>
                  <a:pt x="67790" y="155643"/>
                  <a:pt x="78075" y="155643"/>
                  <a:pt x="84408" y="149309"/>
                </a:cubicBezTo>
                <a:lnTo>
                  <a:pt x="121596" y="112121"/>
                </a:lnTo>
                <a:lnTo>
                  <a:pt x="150677" y="141203"/>
                </a:lnTo>
                <a:cubicBezTo>
                  <a:pt x="157011" y="147536"/>
                  <a:pt x="167295" y="147536"/>
                  <a:pt x="173629" y="141203"/>
                </a:cubicBezTo>
                <a:lnTo>
                  <a:pt x="238480" y="76352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83574" y="5760936"/>
            <a:ext cx="1474280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列式存储的优势与适用场景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9319" y="6236511"/>
            <a:ext cx="7468681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列式存储优势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9319" y="6668851"/>
            <a:ext cx="7360596" cy="389106"/>
          </a:xfrm>
          <a:custGeom>
            <a:avLst/>
            <a:gdLst/>
            <a:ahLst/>
            <a:cxnLst/>
            <a:rect l="l" t="t" r="r" b="b"/>
            <a:pathLst>
              <a:path w="7360596" h="389106">
                <a:moveTo>
                  <a:pt x="43234" y="0"/>
                </a:moveTo>
                <a:lnTo>
                  <a:pt x="7317362" y="0"/>
                </a:lnTo>
                <a:cubicBezTo>
                  <a:pt x="7341239" y="0"/>
                  <a:pt x="7360596" y="19356"/>
                  <a:pt x="7360596" y="43234"/>
                </a:cubicBezTo>
                <a:lnTo>
                  <a:pt x="7360596" y="345873"/>
                </a:lnTo>
                <a:cubicBezTo>
                  <a:pt x="7360596" y="369750"/>
                  <a:pt x="7341239" y="389106"/>
                  <a:pt x="7317362" y="389106"/>
                </a:cubicBezTo>
                <a:lnTo>
                  <a:pt x="43234" y="389106"/>
                </a:lnTo>
                <a:cubicBezTo>
                  <a:pt x="19372" y="389106"/>
                  <a:pt x="0" y="369734"/>
                  <a:pt x="0" y="345873"/>
                </a:cubicBezTo>
                <a:lnTo>
                  <a:pt x="0" y="43234"/>
                </a:lnTo>
                <a:cubicBezTo>
                  <a:pt x="0" y="19372"/>
                  <a:pt x="19372" y="0"/>
                  <a:pt x="4323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78213" y="6798553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54043" y="21617"/>
                </a:moveTo>
                <a:cubicBezTo>
                  <a:pt x="54043" y="15639"/>
                  <a:pt x="49212" y="10809"/>
                  <a:pt x="43234" y="10809"/>
                </a:cubicBezTo>
                <a:cubicBezTo>
                  <a:pt x="37256" y="10809"/>
                  <a:pt x="32426" y="15639"/>
                  <a:pt x="32426" y="21617"/>
                </a:cubicBezTo>
                <a:lnTo>
                  <a:pt x="32426" y="43234"/>
                </a:lnTo>
                <a:lnTo>
                  <a:pt x="10809" y="43234"/>
                </a:lnTo>
                <a:cubicBezTo>
                  <a:pt x="4830" y="43234"/>
                  <a:pt x="0" y="48064"/>
                  <a:pt x="0" y="54043"/>
                </a:cubicBezTo>
                <a:cubicBezTo>
                  <a:pt x="0" y="60021"/>
                  <a:pt x="4830" y="64851"/>
                  <a:pt x="10809" y="64851"/>
                </a:cubicBezTo>
                <a:lnTo>
                  <a:pt x="43234" y="64851"/>
                </a:lnTo>
                <a:cubicBezTo>
                  <a:pt x="49212" y="64851"/>
                  <a:pt x="54043" y="60021"/>
                  <a:pt x="54043" y="54043"/>
                </a:cubicBezTo>
                <a:lnTo>
                  <a:pt x="54043" y="21617"/>
                </a:lnTo>
                <a:close/>
                <a:moveTo>
                  <a:pt x="10809" y="108085"/>
                </a:moveTo>
                <a:cubicBezTo>
                  <a:pt x="4830" y="108085"/>
                  <a:pt x="0" y="112915"/>
                  <a:pt x="0" y="118894"/>
                </a:cubicBezTo>
                <a:cubicBezTo>
                  <a:pt x="0" y="124872"/>
                  <a:pt x="4830" y="129702"/>
                  <a:pt x="10809" y="129702"/>
                </a:cubicBezTo>
                <a:lnTo>
                  <a:pt x="32426" y="129702"/>
                </a:lnTo>
                <a:lnTo>
                  <a:pt x="32426" y="151319"/>
                </a:lnTo>
                <a:cubicBezTo>
                  <a:pt x="32426" y="157298"/>
                  <a:pt x="37256" y="162128"/>
                  <a:pt x="43234" y="162128"/>
                </a:cubicBezTo>
                <a:cubicBezTo>
                  <a:pt x="49212" y="162128"/>
                  <a:pt x="54043" y="157298"/>
                  <a:pt x="54043" y="151319"/>
                </a:cubicBezTo>
                <a:lnTo>
                  <a:pt x="54043" y="118894"/>
                </a:lnTo>
                <a:cubicBezTo>
                  <a:pt x="54043" y="112915"/>
                  <a:pt x="49212" y="108085"/>
                  <a:pt x="43234" y="108085"/>
                </a:cubicBezTo>
                <a:lnTo>
                  <a:pt x="10809" y="108085"/>
                </a:lnTo>
                <a:close/>
                <a:moveTo>
                  <a:pt x="118894" y="21617"/>
                </a:moveTo>
                <a:cubicBezTo>
                  <a:pt x="118894" y="15639"/>
                  <a:pt x="114064" y="10809"/>
                  <a:pt x="108085" y="10809"/>
                </a:cubicBezTo>
                <a:cubicBezTo>
                  <a:pt x="102107" y="10809"/>
                  <a:pt x="97277" y="15639"/>
                  <a:pt x="97277" y="21617"/>
                </a:cubicBezTo>
                <a:lnTo>
                  <a:pt x="97277" y="54043"/>
                </a:lnTo>
                <a:cubicBezTo>
                  <a:pt x="97277" y="60021"/>
                  <a:pt x="102107" y="64851"/>
                  <a:pt x="108085" y="64851"/>
                </a:cubicBezTo>
                <a:lnTo>
                  <a:pt x="140511" y="64851"/>
                </a:lnTo>
                <a:cubicBezTo>
                  <a:pt x="146489" y="64851"/>
                  <a:pt x="151319" y="60021"/>
                  <a:pt x="151319" y="54043"/>
                </a:cubicBezTo>
                <a:cubicBezTo>
                  <a:pt x="151319" y="48064"/>
                  <a:pt x="146489" y="43234"/>
                  <a:pt x="140511" y="43234"/>
                </a:cubicBezTo>
                <a:lnTo>
                  <a:pt x="118894" y="43234"/>
                </a:lnTo>
                <a:lnTo>
                  <a:pt x="118894" y="21617"/>
                </a:lnTo>
                <a:close/>
                <a:moveTo>
                  <a:pt x="108085" y="108085"/>
                </a:moveTo>
                <a:cubicBezTo>
                  <a:pt x="102107" y="108085"/>
                  <a:pt x="97277" y="112915"/>
                  <a:pt x="97277" y="118894"/>
                </a:cubicBezTo>
                <a:lnTo>
                  <a:pt x="97277" y="151319"/>
                </a:lnTo>
                <a:cubicBezTo>
                  <a:pt x="97277" y="157298"/>
                  <a:pt x="102107" y="162128"/>
                  <a:pt x="108085" y="162128"/>
                </a:cubicBezTo>
                <a:cubicBezTo>
                  <a:pt x="114064" y="162128"/>
                  <a:pt x="118894" y="157298"/>
                  <a:pt x="118894" y="151319"/>
                </a:cubicBezTo>
                <a:lnTo>
                  <a:pt x="118894" y="129702"/>
                </a:lnTo>
                <a:lnTo>
                  <a:pt x="140511" y="129702"/>
                </a:lnTo>
                <a:cubicBezTo>
                  <a:pt x="146489" y="129702"/>
                  <a:pt x="151319" y="124872"/>
                  <a:pt x="151319" y="118894"/>
                </a:cubicBezTo>
                <a:cubicBezTo>
                  <a:pt x="151319" y="112915"/>
                  <a:pt x="146489" y="108085"/>
                  <a:pt x="140511" y="108085"/>
                </a:cubicBezTo>
                <a:lnTo>
                  <a:pt x="108085" y="108085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48426" y="6755318"/>
            <a:ext cx="3634410" cy="25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压缩比高: 同一列数据类型相同,压缩率可达10-100倍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59319" y="7144426"/>
            <a:ext cx="7360596" cy="389106"/>
          </a:xfrm>
          <a:custGeom>
            <a:avLst/>
            <a:gdLst/>
            <a:ahLst/>
            <a:cxnLst/>
            <a:rect l="l" t="t" r="r" b="b"/>
            <a:pathLst>
              <a:path w="7360596" h="389106">
                <a:moveTo>
                  <a:pt x="43234" y="0"/>
                </a:moveTo>
                <a:lnTo>
                  <a:pt x="7317362" y="0"/>
                </a:lnTo>
                <a:cubicBezTo>
                  <a:pt x="7341239" y="0"/>
                  <a:pt x="7360596" y="19356"/>
                  <a:pt x="7360596" y="43234"/>
                </a:cubicBezTo>
                <a:lnTo>
                  <a:pt x="7360596" y="345873"/>
                </a:lnTo>
                <a:cubicBezTo>
                  <a:pt x="7360596" y="369750"/>
                  <a:pt x="7341239" y="389106"/>
                  <a:pt x="7317362" y="389106"/>
                </a:cubicBezTo>
                <a:lnTo>
                  <a:pt x="43234" y="389106"/>
                </a:lnTo>
                <a:cubicBezTo>
                  <a:pt x="19372" y="389106"/>
                  <a:pt x="0" y="369734"/>
                  <a:pt x="0" y="345873"/>
                </a:cubicBezTo>
                <a:lnTo>
                  <a:pt x="0" y="43234"/>
                </a:lnTo>
                <a:cubicBezTo>
                  <a:pt x="0" y="19372"/>
                  <a:pt x="19372" y="0"/>
                  <a:pt x="4323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67404" y="7274128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64851" y="86468"/>
                </a:moveTo>
                <a:lnTo>
                  <a:pt x="51509" y="99810"/>
                </a:lnTo>
                <a:cubicBezTo>
                  <a:pt x="47253" y="98155"/>
                  <a:pt x="42660" y="97277"/>
                  <a:pt x="37830" y="97277"/>
                </a:cubicBezTo>
                <a:cubicBezTo>
                  <a:pt x="16922" y="97277"/>
                  <a:pt x="0" y="114199"/>
                  <a:pt x="0" y="135106"/>
                </a:cubicBezTo>
                <a:cubicBezTo>
                  <a:pt x="0" y="156014"/>
                  <a:pt x="16922" y="172936"/>
                  <a:pt x="37830" y="172936"/>
                </a:cubicBezTo>
                <a:cubicBezTo>
                  <a:pt x="58738" y="172936"/>
                  <a:pt x="75660" y="156014"/>
                  <a:pt x="75660" y="135106"/>
                </a:cubicBezTo>
                <a:cubicBezTo>
                  <a:pt x="75660" y="130276"/>
                  <a:pt x="74748" y="125683"/>
                  <a:pt x="73126" y="121427"/>
                </a:cubicBezTo>
                <a:lnTo>
                  <a:pt x="168613" y="25940"/>
                </a:lnTo>
                <a:cubicBezTo>
                  <a:pt x="171011" y="23542"/>
                  <a:pt x="171011" y="19692"/>
                  <a:pt x="168613" y="17294"/>
                </a:cubicBezTo>
                <a:cubicBezTo>
                  <a:pt x="159054" y="7735"/>
                  <a:pt x="143584" y="7735"/>
                  <a:pt x="134026" y="17294"/>
                </a:cubicBezTo>
                <a:lnTo>
                  <a:pt x="86468" y="64851"/>
                </a:lnTo>
                <a:lnTo>
                  <a:pt x="73126" y="51509"/>
                </a:lnTo>
                <a:cubicBezTo>
                  <a:pt x="74781" y="47253"/>
                  <a:pt x="75660" y="42660"/>
                  <a:pt x="75660" y="37830"/>
                </a:cubicBezTo>
                <a:cubicBezTo>
                  <a:pt x="75660" y="16922"/>
                  <a:pt x="58738" y="0"/>
                  <a:pt x="37830" y="0"/>
                </a:cubicBezTo>
                <a:cubicBezTo>
                  <a:pt x="16922" y="0"/>
                  <a:pt x="0" y="16922"/>
                  <a:pt x="0" y="37830"/>
                </a:cubicBezTo>
                <a:cubicBezTo>
                  <a:pt x="0" y="58738"/>
                  <a:pt x="16922" y="75660"/>
                  <a:pt x="37830" y="75660"/>
                </a:cubicBezTo>
                <a:cubicBezTo>
                  <a:pt x="42660" y="75660"/>
                  <a:pt x="47253" y="74748"/>
                  <a:pt x="51509" y="73126"/>
                </a:cubicBezTo>
                <a:lnTo>
                  <a:pt x="64851" y="86468"/>
                </a:lnTo>
                <a:close/>
                <a:moveTo>
                  <a:pt x="97918" y="119535"/>
                </a:moveTo>
                <a:lnTo>
                  <a:pt x="134026" y="155643"/>
                </a:lnTo>
                <a:cubicBezTo>
                  <a:pt x="143584" y="165201"/>
                  <a:pt x="159054" y="165201"/>
                  <a:pt x="168613" y="155643"/>
                </a:cubicBezTo>
                <a:cubicBezTo>
                  <a:pt x="171011" y="153244"/>
                  <a:pt x="171011" y="149394"/>
                  <a:pt x="168613" y="146996"/>
                </a:cubicBezTo>
                <a:lnTo>
                  <a:pt x="119535" y="97918"/>
                </a:lnTo>
                <a:lnTo>
                  <a:pt x="97918" y="119535"/>
                </a:lnTo>
                <a:close/>
                <a:moveTo>
                  <a:pt x="21617" y="37830"/>
                </a:moveTo>
                <a:cubicBezTo>
                  <a:pt x="21617" y="28882"/>
                  <a:pt x="28882" y="21617"/>
                  <a:pt x="37830" y="21617"/>
                </a:cubicBezTo>
                <a:cubicBezTo>
                  <a:pt x="46778" y="21617"/>
                  <a:pt x="54043" y="28882"/>
                  <a:pt x="54043" y="37830"/>
                </a:cubicBezTo>
                <a:cubicBezTo>
                  <a:pt x="54043" y="46778"/>
                  <a:pt x="46778" y="54043"/>
                  <a:pt x="37830" y="54043"/>
                </a:cubicBezTo>
                <a:cubicBezTo>
                  <a:pt x="28882" y="54043"/>
                  <a:pt x="21617" y="46778"/>
                  <a:pt x="21617" y="37830"/>
                </a:cubicBezTo>
                <a:close/>
                <a:moveTo>
                  <a:pt x="37830" y="118894"/>
                </a:moveTo>
                <a:cubicBezTo>
                  <a:pt x="46778" y="118894"/>
                  <a:pt x="54043" y="126158"/>
                  <a:pt x="54043" y="135106"/>
                </a:cubicBezTo>
                <a:cubicBezTo>
                  <a:pt x="54043" y="144054"/>
                  <a:pt x="46778" y="151319"/>
                  <a:pt x="37830" y="151319"/>
                </a:cubicBezTo>
                <a:cubicBezTo>
                  <a:pt x="28882" y="151319"/>
                  <a:pt x="21617" y="144054"/>
                  <a:pt x="21617" y="135106"/>
                </a:cubicBezTo>
                <a:cubicBezTo>
                  <a:pt x="21617" y="126158"/>
                  <a:pt x="28882" y="118894"/>
                  <a:pt x="37830" y="118894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48426" y="7230894"/>
            <a:ext cx="2669702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列裁剪: 只读取查询需要的列,减少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I/O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59319" y="7620000"/>
            <a:ext cx="7360596" cy="389106"/>
          </a:xfrm>
          <a:custGeom>
            <a:avLst/>
            <a:gdLst/>
            <a:ahLst/>
            <a:cxnLst/>
            <a:rect l="l" t="t" r="r" b="b"/>
            <a:pathLst>
              <a:path w="7360596" h="389106">
                <a:moveTo>
                  <a:pt x="43234" y="0"/>
                </a:moveTo>
                <a:lnTo>
                  <a:pt x="7317362" y="0"/>
                </a:lnTo>
                <a:cubicBezTo>
                  <a:pt x="7341239" y="0"/>
                  <a:pt x="7360596" y="19356"/>
                  <a:pt x="7360596" y="43234"/>
                </a:cubicBezTo>
                <a:lnTo>
                  <a:pt x="7360596" y="345873"/>
                </a:lnTo>
                <a:cubicBezTo>
                  <a:pt x="7360596" y="369750"/>
                  <a:pt x="7341239" y="389106"/>
                  <a:pt x="7317362" y="389106"/>
                </a:cubicBezTo>
                <a:lnTo>
                  <a:pt x="43234" y="389106"/>
                </a:lnTo>
                <a:cubicBezTo>
                  <a:pt x="19372" y="389106"/>
                  <a:pt x="0" y="369734"/>
                  <a:pt x="0" y="345873"/>
                </a:cubicBezTo>
                <a:lnTo>
                  <a:pt x="0" y="43234"/>
                </a:lnTo>
                <a:cubicBezTo>
                  <a:pt x="0" y="19372"/>
                  <a:pt x="19372" y="0"/>
                  <a:pt x="4323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67404" y="7749702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10809" y="21617"/>
                </a:moveTo>
                <a:cubicBezTo>
                  <a:pt x="6451" y="21617"/>
                  <a:pt x="2499" y="24252"/>
                  <a:pt x="811" y="28305"/>
                </a:cubicBezTo>
                <a:cubicBezTo>
                  <a:pt x="-878" y="32358"/>
                  <a:pt x="68" y="36985"/>
                  <a:pt x="3175" y="40059"/>
                </a:cubicBezTo>
                <a:lnTo>
                  <a:pt x="64851" y="101769"/>
                </a:lnTo>
                <a:lnTo>
                  <a:pt x="64851" y="140511"/>
                </a:lnTo>
                <a:cubicBezTo>
                  <a:pt x="64851" y="143382"/>
                  <a:pt x="65999" y="146118"/>
                  <a:pt x="68026" y="148144"/>
                </a:cubicBezTo>
                <a:lnTo>
                  <a:pt x="89643" y="169761"/>
                </a:lnTo>
                <a:cubicBezTo>
                  <a:pt x="92751" y="172869"/>
                  <a:pt x="97378" y="173781"/>
                  <a:pt x="101431" y="172092"/>
                </a:cubicBezTo>
                <a:cubicBezTo>
                  <a:pt x="105484" y="170403"/>
                  <a:pt x="108085" y="166485"/>
                  <a:pt x="108085" y="162128"/>
                </a:cubicBezTo>
                <a:lnTo>
                  <a:pt x="108085" y="101769"/>
                </a:lnTo>
                <a:lnTo>
                  <a:pt x="169761" y="40093"/>
                </a:lnTo>
                <a:cubicBezTo>
                  <a:pt x="172869" y="36985"/>
                  <a:pt x="173781" y="32358"/>
                  <a:pt x="172092" y="28305"/>
                </a:cubicBezTo>
                <a:cubicBezTo>
                  <a:pt x="170403" y="24252"/>
                  <a:pt x="166485" y="21617"/>
                  <a:pt x="162128" y="21617"/>
                </a:cubicBezTo>
                <a:lnTo>
                  <a:pt x="10809" y="21617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048426" y="7706468"/>
            <a:ext cx="3371174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谓词下推: 过滤条件下推到存储层,提前过滤数据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59319" y="8095574"/>
            <a:ext cx="7360596" cy="389106"/>
          </a:xfrm>
          <a:custGeom>
            <a:avLst/>
            <a:gdLst/>
            <a:ahLst/>
            <a:cxnLst/>
            <a:rect l="l" t="t" r="r" b="b"/>
            <a:pathLst>
              <a:path w="7360596" h="389106">
                <a:moveTo>
                  <a:pt x="43234" y="0"/>
                </a:moveTo>
                <a:lnTo>
                  <a:pt x="7317362" y="0"/>
                </a:lnTo>
                <a:cubicBezTo>
                  <a:pt x="7341239" y="0"/>
                  <a:pt x="7360596" y="19356"/>
                  <a:pt x="7360596" y="43234"/>
                </a:cubicBezTo>
                <a:lnTo>
                  <a:pt x="7360596" y="345873"/>
                </a:lnTo>
                <a:cubicBezTo>
                  <a:pt x="7360596" y="369750"/>
                  <a:pt x="7341239" y="389106"/>
                  <a:pt x="7317362" y="389106"/>
                </a:cubicBezTo>
                <a:lnTo>
                  <a:pt x="43234" y="389106"/>
                </a:lnTo>
                <a:cubicBezTo>
                  <a:pt x="19372" y="389106"/>
                  <a:pt x="0" y="369734"/>
                  <a:pt x="0" y="345873"/>
                </a:cubicBezTo>
                <a:lnTo>
                  <a:pt x="0" y="43234"/>
                </a:lnTo>
                <a:cubicBezTo>
                  <a:pt x="0" y="19372"/>
                  <a:pt x="19372" y="0"/>
                  <a:pt x="4323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78213" y="8225277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151319" y="69512"/>
                </a:moveTo>
                <a:cubicBezTo>
                  <a:pt x="146320" y="72822"/>
                  <a:pt x="140578" y="75491"/>
                  <a:pt x="134600" y="77619"/>
                </a:cubicBezTo>
                <a:cubicBezTo>
                  <a:pt x="118725" y="83293"/>
                  <a:pt x="97885" y="86468"/>
                  <a:pt x="75660" y="86468"/>
                </a:cubicBezTo>
                <a:cubicBezTo>
                  <a:pt x="53435" y="86468"/>
                  <a:pt x="32561" y="83259"/>
                  <a:pt x="16719" y="77619"/>
                </a:cubicBezTo>
                <a:cubicBezTo>
                  <a:pt x="10775" y="75491"/>
                  <a:pt x="4999" y="72822"/>
                  <a:pt x="0" y="69512"/>
                </a:cubicBezTo>
                <a:lnTo>
                  <a:pt x="0" y="97277"/>
                </a:lnTo>
                <a:cubicBezTo>
                  <a:pt x="0" y="112206"/>
                  <a:pt x="33878" y="124298"/>
                  <a:pt x="75660" y="124298"/>
                </a:cubicBezTo>
                <a:cubicBezTo>
                  <a:pt x="117441" y="124298"/>
                  <a:pt x="151319" y="112206"/>
                  <a:pt x="151319" y="97277"/>
                </a:cubicBezTo>
                <a:lnTo>
                  <a:pt x="151319" y="69512"/>
                </a:lnTo>
                <a:close/>
                <a:moveTo>
                  <a:pt x="151319" y="43234"/>
                </a:moveTo>
                <a:lnTo>
                  <a:pt x="151319" y="27021"/>
                </a:lnTo>
                <a:cubicBezTo>
                  <a:pt x="151319" y="12092"/>
                  <a:pt x="117441" y="0"/>
                  <a:pt x="75660" y="0"/>
                </a:cubicBezTo>
                <a:cubicBezTo>
                  <a:pt x="33878" y="0"/>
                  <a:pt x="0" y="12092"/>
                  <a:pt x="0" y="27021"/>
                </a:cubicBezTo>
                <a:lnTo>
                  <a:pt x="0" y="43234"/>
                </a:lnTo>
                <a:cubicBezTo>
                  <a:pt x="0" y="58163"/>
                  <a:pt x="33878" y="70255"/>
                  <a:pt x="75660" y="70255"/>
                </a:cubicBezTo>
                <a:cubicBezTo>
                  <a:pt x="117441" y="70255"/>
                  <a:pt x="151319" y="58163"/>
                  <a:pt x="151319" y="43234"/>
                </a:cubicBezTo>
                <a:close/>
                <a:moveTo>
                  <a:pt x="134600" y="131661"/>
                </a:moveTo>
                <a:cubicBezTo>
                  <a:pt x="118759" y="137302"/>
                  <a:pt x="97918" y="140511"/>
                  <a:pt x="75660" y="140511"/>
                </a:cubicBezTo>
                <a:cubicBezTo>
                  <a:pt x="53401" y="140511"/>
                  <a:pt x="32561" y="137302"/>
                  <a:pt x="16719" y="131661"/>
                </a:cubicBezTo>
                <a:cubicBezTo>
                  <a:pt x="10775" y="129533"/>
                  <a:pt x="4999" y="126865"/>
                  <a:pt x="0" y="123555"/>
                </a:cubicBezTo>
                <a:lnTo>
                  <a:pt x="0" y="145915"/>
                </a:lnTo>
                <a:cubicBezTo>
                  <a:pt x="0" y="160844"/>
                  <a:pt x="33878" y="172936"/>
                  <a:pt x="75660" y="172936"/>
                </a:cubicBezTo>
                <a:cubicBezTo>
                  <a:pt x="117441" y="172936"/>
                  <a:pt x="151319" y="160844"/>
                  <a:pt x="151319" y="145915"/>
                </a:cubicBezTo>
                <a:lnTo>
                  <a:pt x="151319" y="123555"/>
                </a:lnTo>
                <a:cubicBezTo>
                  <a:pt x="146320" y="126865"/>
                  <a:pt x="140578" y="129533"/>
                  <a:pt x="134600" y="131661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48426" y="8182043"/>
            <a:ext cx="2669702" cy="216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适合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OLAP</a:t>
            </a:r>
            <a:r>
              <a:rPr lang="en-US" sz="119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分析查询通常只涉及少数列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236085" y="6236511"/>
            <a:ext cx="7468681" cy="302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2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为什么大数据数仓优先选择</a:t>
            </a:r>
            <a:r>
              <a:rPr lang="en-US" sz="1702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ORC/Parquet</a:t>
            </a:r>
            <a:r>
              <a:rPr lang="en-US" sz="1702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?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36085" y="6668851"/>
            <a:ext cx="7360596" cy="821447"/>
          </a:xfrm>
          <a:custGeom>
            <a:avLst/>
            <a:gdLst/>
            <a:ahLst/>
            <a:cxnLst/>
            <a:rect l="l" t="t" r="r" b="b"/>
            <a:pathLst>
              <a:path w="7360596" h="821447">
                <a:moveTo>
                  <a:pt x="43233" y="0"/>
                </a:moveTo>
                <a:lnTo>
                  <a:pt x="7317363" y="0"/>
                </a:lnTo>
                <a:cubicBezTo>
                  <a:pt x="7341240" y="0"/>
                  <a:pt x="7360596" y="19356"/>
                  <a:pt x="7360596" y="43233"/>
                </a:cubicBezTo>
                <a:lnTo>
                  <a:pt x="7360596" y="778214"/>
                </a:lnTo>
                <a:cubicBezTo>
                  <a:pt x="7360596" y="802091"/>
                  <a:pt x="7341240" y="821447"/>
                  <a:pt x="7317363" y="821447"/>
                </a:cubicBezTo>
                <a:lnTo>
                  <a:pt x="43233" y="821447"/>
                </a:lnTo>
                <a:cubicBezTo>
                  <a:pt x="19356" y="821447"/>
                  <a:pt x="0" y="802091"/>
                  <a:pt x="0" y="778214"/>
                </a:cubicBezTo>
                <a:lnTo>
                  <a:pt x="0" y="43233"/>
                </a:lnTo>
                <a:cubicBezTo>
                  <a:pt x="0" y="19372"/>
                  <a:pt x="19372" y="0"/>
                  <a:pt x="432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365787" y="6798553"/>
            <a:ext cx="7187660" cy="56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数据仓库场景以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OLAP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查询为主,通常只查询少数列。列式存储通过列裁剪和高压缩比,可大幅减少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I/O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和存储成本,查询性能提升10-100倍。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57702" y="7620000"/>
            <a:ext cx="7338979" cy="540426"/>
          </a:xfrm>
          <a:custGeom>
            <a:avLst/>
            <a:gdLst/>
            <a:ahLst/>
            <a:cxnLst/>
            <a:rect l="l" t="t" r="r" b="b"/>
            <a:pathLst>
              <a:path w="7338979" h="540426">
                <a:moveTo>
                  <a:pt x="43234" y="0"/>
                </a:moveTo>
                <a:lnTo>
                  <a:pt x="7295745" y="0"/>
                </a:lnTo>
                <a:cubicBezTo>
                  <a:pt x="7319622" y="0"/>
                  <a:pt x="7338979" y="19357"/>
                  <a:pt x="7338979" y="43234"/>
                </a:cubicBezTo>
                <a:lnTo>
                  <a:pt x="7338979" y="497191"/>
                </a:lnTo>
                <a:cubicBezTo>
                  <a:pt x="7338979" y="521069"/>
                  <a:pt x="7319622" y="540426"/>
                  <a:pt x="7295745" y="540426"/>
                </a:cubicBezTo>
                <a:lnTo>
                  <a:pt x="43234" y="540426"/>
                </a:lnTo>
                <a:cubicBezTo>
                  <a:pt x="19357" y="540426"/>
                  <a:pt x="0" y="521069"/>
                  <a:pt x="0" y="49719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257702" y="7620000"/>
            <a:ext cx="43234" cy="540426"/>
          </a:xfrm>
          <a:custGeom>
            <a:avLst/>
            <a:gdLst/>
            <a:ahLst/>
            <a:cxnLst/>
            <a:rect l="l" t="t" r="r" b="b"/>
            <a:pathLst>
              <a:path w="43234" h="540426">
                <a:moveTo>
                  <a:pt x="43234" y="0"/>
                </a:moveTo>
                <a:lnTo>
                  <a:pt x="43234" y="0"/>
                </a:lnTo>
                <a:lnTo>
                  <a:pt x="43234" y="540426"/>
                </a:lnTo>
                <a:lnTo>
                  <a:pt x="43234" y="540426"/>
                </a:lnTo>
                <a:cubicBezTo>
                  <a:pt x="19357" y="540426"/>
                  <a:pt x="0" y="521069"/>
                  <a:pt x="0" y="497191"/>
                </a:cubicBezTo>
                <a:lnTo>
                  <a:pt x="0" y="43234"/>
                </a:lnTo>
                <a:cubicBezTo>
                  <a:pt x="0" y="19373"/>
                  <a:pt x="19373" y="0"/>
                  <a:pt x="43234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409021" y="7749702"/>
            <a:ext cx="7144426" cy="281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考点: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列式存储适合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OLAP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,行式存储适合</a:t>
            </a:r>
            <a:r>
              <a:rPr lang="en-US" sz="1362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OLTP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38" y="506417"/>
            <a:ext cx="1658517" cy="405134"/>
          </a:xfrm>
          <a:custGeom>
            <a:avLst/>
            <a:gdLst/>
            <a:ahLst/>
            <a:cxnLst/>
            <a:rect l="l" t="t" r="r" b="b"/>
            <a:pathLst>
              <a:path w="1658517" h="405134">
                <a:moveTo>
                  <a:pt x="0" y="0"/>
                </a:moveTo>
                <a:lnTo>
                  <a:pt x="1658517" y="0"/>
                </a:lnTo>
                <a:lnTo>
                  <a:pt x="1658517" y="405134"/>
                </a:lnTo>
                <a:lnTo>
                  <a:pt x="0" y="405134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1738" y="506417"/>
            <a:ext cx="50642" cy="405134"/>
          </a:xfrm>
          <a:custGeom>
            <a:avLst/>
            <a:gdLst/>
            <a:ahLst/>
            <a:cxnLst/>
            <a:rect l="l" t="t" r="r" b="b"/>
            <a:pathLst>
              <a:path w="50642" h="405134">
                <a:moveTo>
                  <a:pt x="0" y="0"/>
                </a:moveTo>
                <a:lnTo>
                  <a:pt x="50642" y="0"/>
                </a:lnTo>
                <a:lnTo>
                  <a:pt x="50642" y="405134"/>
                </a:lnTo>
                <a:lnTo>
                  <a:pt x="0" y="405134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8984" y="576050"/>
            <a:ext cx="142716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kern="0" spc="8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08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6417" y="1012835"/>
            <a:ext cx="15471053" cy="506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8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分区(</a:t>
            </a:r>
            <a:r>
              <a:rPr lang="en-US" sz="358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358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)与分桶(</a:t>
            </a:r>
            <a:r>
              <a:rPr lang="en-US" sz="358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Bucketing</a:t>
            </a:r>
            <a:r>
              <a:rPr lang="en-US" sz="358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)设计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1738" y="1721819"/>
            <a:ext cx="7469657" cy="4317209"/>
          </a:xfrm>
          <a:custGeom>
            <a:avLst/>
            <a:gdLst/>
            <a:ahLst/>
            <a:cxnLst/>
            <a:rect l="l" t="t" r="r" b="b"/>
            <a:pathLst>
              <a:path w="7469657" h="4317209">
                <a:moveTo>
                  <a:pt x="50642" y="0"/>
                </a:moveTo>
                <a:lnTo>
                  <a:pt x="7368376" y="0"/>
                </a:lnTo>
                <a:cubicBezTo>
                  <a:pt x="7424312" y="0"/>
                  <a:pt x="7469657" y="45345"/>
                  <a:pt x="7469657" y="101282"/>
                </a:cubicBezTo>
                <a:lnTo>
                  <a:pt x="7469657" y="4215927"/>
                </a:lnTo>
                <a:cubicBezTo>
                  <a:pt x="7469657" y="4271863"/>
                  <a:pt x="7424312" y="4317209"/>
                  <a:pt x="7368376" y="4317209"/>
                </a:cubicBezTo>
                <a:lnTo>
                  <a:pt x="50642" y="4317209"/>
                </a:lnTo>
                <a:cubicBezTo>
                  <a:pt x="22673" y="4317209"/>
                  <a:pt x="0" y="4294536"/>
                  <a:pt x="0" y="426656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1738" y="1721819"/>
            <a:ext cx="50642" cy="4317209"/>
          </a:xfrm>
          <a:custGeom>
            <a:avLst/>
            <a:gdLst/>
            <a:ahLst/>
            <a:cxnLst/>
            <a:rect l="l" t="t" r="r" b="b"/>
            <a:pathLst>
              <a:path w="50642" h="4317209">
                <a:moveTo>
                  <a:pt x="50642" y="0"/>
                </a:moveTo>
                <a:lnTo>
                  <a:pt x="50642" y="0"/>
                </a:lnTo>
                <a:lnTo>
                  <a:pt x="50642" y="4317209"/>
                </a:lnTo>
                <a:lnTo>
                  <a:pt x="50642" y="4317209"/>
                </a:lnTo>
                <a:cubicBezTo>
                  <a:pt x="22673" y="4317209"/>
                  <a:pt x="0" y="4294536"/>
                  <a:pt x="0" y="426656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9259" y="2025670"/>
            <a:ext cx="341832" cy="303850"/>
          </a:xfrm>
          <a:custGeom>
            <a:avLst/>
            <a:gdLst/>
            <a:ahLst/>
            <a:cxnLst/>
            <a:rect l="l" t="t" r="r" b="b"/>
            <a:pathLst>
              <a:path w="341832" h="303850">
                <a:moveTo>
                  <a:pt x="33234" y="133884"/>
                </a:moveTo>
                <a:lnTo>
                  <a:pt x="19228" y="175782"/>
                </a:lnTo>
                <a:lnTo>
                  <a:pt x="19228" y="56972"/>
                </a:lnTo>
                <a:cubicBezTo>
                  <a:pt x="19228" y="36023"/>
                  <a:pt x="36260" y="18991"/>
                  <a:pt x="57209" y="18991"/>
                </a:cubicBezTo>
                <a:lnTo>
                  <a:pt x="139522" y="18991"/>
                </a:lnTo>
                <a:cubicBezTo>
                  <a:pt x="147712" y="18991"/>
                  <a:pt x="155723" y="21661"/>
                  <a:pt x="162311" y="26587"/>
                </a:cubicBezTo>
                <a:lnTo>
                  <a:pt x="185100" y="43679"/>
                </a:lnTo>
                <a:cubicBezTo>
                  <a:pt x="188364" y="46171"/>
                  <a:pt x="192399" y="47477"/>
                  <a:pt x="196494" y="47477"/>
                </a:cubicBezTo>
                <a:lnTo>
                  <a:pt x="266107" y="47477"/>
                </a:lnTo>
                <a:cubicBezTo>
                  <a:pt x="287056" y="47477"/>
                  <a:pt x="304088" y="64509"/>
                  <a:pt x="304088" y="85458"/>
                </a:cubicBezTo>
                <a:lnTo>
                  <a:pt x="304088" y="94953"/>
                </a:lnTo>
                <a:lnTo>
                  <a:pt x="87238" y="94953"/>
                </a:lnTo>
                <a:cubicBezTo>
                  <a:pt x="62729" y="94953"/>
                  <a:pt x="40949" y="110621"/>
                  <a:pt x="33174" y="133884"/>
                </a:cubicBezTo>
                <a:close/>
                <a:moveTo>
                  <a:pt x="283554" y="265869"/>
                </a:moveTo>
                <a:lnTo>
                  <a:pt x="58752" y="265869"/>
                </a:lnTo>
                <a:cubicBezTo>
                  <a:pt x="39287" y="265869"/>
                  <a:pt x="25578" y="246819"/>
                  <a:pt x="31750" y="228363"/>
                </a:cubicBezTo>
                <a:lnTo>
                  <a:pt x="60236" y="142905"/>
                </a:lnTo>
                <a:cubicBezTo>
                  <a:pt x="64093" y="131273"/>
                  <a:pt x="75013" y="123439"/>
                  <a:pt x="87238" y="123439"/>
                </a:cubicBezTo>
                <a:lnTo>
                  <a:pt x="312040" y="123439"/>
                </a:lnTo>
                <a:cubicBezTo>
                  <a:pt x="331506" y="123439"/>
                  <a:pt x="345214" y="142489"/>
                  <a:pt x="339043" y="160946"/>
                </a:cubicBezTo>
                <a:lnTo>
                  <a:pt x="310557" y="246404"/>
                </a:lnTo>
                <a:cubicBezTo>
                  <a:pt x="306699" y="258036"/>
                  <a:pt x="295779" y="265869"/>
                  <a:pt x="283554" y="26586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90081" y="1975028"/>
            <a:ext cx="6710031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分区(</a:t>
            </a:r>
            <a:r>
              <a:rPr lang="en-US" sz="2393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239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0268" y="2532087"/>
            <a:ext cx="6937919" cy="645682"/>
          </a:xfrm>
          <a:custGeom>
            <a:avLst/>
            <a:gdLst/>
            <a:ahLst/>
            <a:cxnLst/>
            <a:rect l="l" t="t" r="r" b="b"/>
            <a:pathLst>
              <a:path w="6937919" h="645682">
                <a:moveTo>
                  <a:pt x="50641" y="0"/>
                </a:moveTo>
                <a:lnTo>
                  <a:pt x="6887278" y="0"/>
                </a:lnTo>
                <a:cubicBezTo>
                  <a:pt x="6915246" y="0"/>
                  <a:pt x="6937919" y="22673"/>
                  <a:pt x="6937919" y="50641"/>
                </a:cubicBezTo>
                <a:lnTo>
                  <a:pt x="6937919" y="595041"/>
                </a:lnTo>
                <a:cubicBezTo>
                  <a:pt x="6937919" y="623010"/>
                  <a:pt x="6915246" y="645682"/>
                  <a:pt x="6887278" y="645682"/>
                </a:cubicBezTo>
                <a:lnTo>
                  <a:pt x="50641" y="645682"/>
                </a:lnTo>
                <a:cubicBezTo>
                  <a:pt x="22691" y="645682"/>
                  <a:pt x="0" y="622991"/>
                  <a:pt x="0" y="595041"/>
                </a:cubicBezTo>
                <a:lnTo>
                  <a:pt x="0" y="50641"/>
                </a:lnTo>
                <a:cubicBezTo>
                  <a:pt x="0" y="22673"/>
                  <a:pt x="22673" y="0"/>
                  <a:pt x="5064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2193" y="2684012"/>
            <a:ext cx="6735352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本质: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上的目录,如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.../date=20251222/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0268" y="3323364"/>
            <a:ext cx="6937919" cy="633022"/>
          </a:xfrm>
          <a:custGeom>
            <a:avLst/>
            <a:gdLst/>
            <a:ahLst/>
            <a:cxnLst/>
            <a:rect l="l" t="t" r="r" b="b"/>
            <a:pathLst>
              <a:path w="6937919" h="633022">
                <a:moveTo>
                  <a:pt x="50642" y="0"/>
                </a:moveTo>
                <a:lnTo>
                  <a:pt x="6887277" y="0"/>
                </a:lnTo>
                <a:cubicBezTo>
                  <a:pt x="6915246" y="0"/>
                  <a:pt x="6937919" y="22673"/>
                  <a:pt x="6937919" y="50642"/>
                </a:cubicBezTo>
                <a:lnTo>
                  <a:pt x="6937919" y="582380"/>
                </a:lnTo>
                <a:cubicBezTo>
                  <a:pt x="6937919" y="610349"/>
                  <a:pt x="6915246" y="633022"/>
                  <a:pt x="6887277" y="633022"/>
                </a:cubicBezTo>
                <a:lnTo>
                  <a:pt x="50642" y="633022"/>
                </a:lnTo>
                <a:cubicBezTo>
                  <a:pt x="22673" y="633022"/>
                  <a:pt x="0" y="610349"/>
                  <a:pt x="0" y="582380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2193" y="3475290"/>
            <a:ext cx="6735352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裁剪扫描范围(Pruning),提升查询效率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268" y="4108312"/>
            <a:ext cx="6937919" cy="633022"/>
          </a:xfrm>
          <a:custGeom>
            <a:avLst/>
            <a:gdLst/>
            <a:ahLst/>
            <a:cxnLst/>
            <a:rect l="l" t="t" r="r" b="b"/>
            <a:pathLst>
              <a:path w="6937919" h="633022">
                <a:moveTo>
                  <a:pt x="50642" y="0"/>
                </a:moveTo>
                <a:lnTo>
                  <a:pt x="6887277" y="0"/>
                </a:lnTo>
                <a:cubicBezTo>
                  <a:pt x="6915246" y="0"/>
                  <a:pt x="6937919" y="22673"/>
                  <a:pt x="6937919" y="50642"/>
                </a:cubicBezTo>
                <a:lnTo>
                  <a:pt x="6937919" y="582380"/>
                </a:lnTo>
                <a:cubicBezTo>
                  <a:pt x="6937919" y="610349"/>
                  <a:pt x="6915246" y="633022"/>
                  <a:pt x="6887277" y="633022"/>
                </a:cubicBezTo>
                <a:lnTo>
                  <a:pt x="50642" y="633022"/>
                </a:lnTo>
                <a:cubicBezTo>
                  <a:pt x="22673" y="633022"/>
                  <a:pt x="0" y="610349"/>
                  <a:pt x="0" y="582380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2193" y="4260237"/>
            <a:ext cx="6735352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字段选择: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低基数、查询过滤高频字段(如日期、地域),不要求均匀分布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268" y="4893259"/>
            <a:ext cx="6937919" cy="569720"/>
          </a:xfrm>
          <a:custGeom>
            <a:avLst/>
            <a:gdLst/>
            <a:ahLst/>
            <a:cxnLst/>
            <a:rect l="l" t="t" r="r" b="b"/>
            <a:pathLst>
              <a:path w="6937919" h="569720">
                <a:moveTo>
                  <a:pt x="50642" y="0"/>
                </a:moveTo>
                <a:lnTo>
                  <a:pt x="6887277" y="0"/>
                </a:lnTo>
                <a:cubicBezTo>
                  <a:pt x="6915246" y="0"/>
                  <a:pt x="6937919" y="22673"/>
                  <a:pt x="6937919" y="50642"/>
                </a:cubicBezTo>
                <a:lnTo>
                  <a:pt x="6937919" y="519077"/>
                </a:lnTo>
                <a:cubicBezTo>
                  <a:pt x="6937919" y="547046"/>
                  <a:pt x="6915246" y="569720"/>
                  <a:pt x="6887277" y="569720"/>
                </a:cubicBezTo>
                <a:lnTo>
                  <a:pt x="50642" y="569720"/>
                </a:lnTo>
                <a:cubicBezTo>
                  <a:pt x="22673" y="569720"/>
                  <a:pt x="0" y="547046"/>
                  <a:pt x="0" y="51907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2193" y="5051514"/>
            <a:ext cx="486042" cy="234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410847" y="5070505"/>
            <a:ext cx="4689900" cy="208897"/>
          </a:xfrm>
          <a:custGeom>
            <a:avLst/>
            <a:gdLst/>
            <a:ahLst/>
            <a:cxnLst/>
            <a:rect l="l" t="t" r="r" b="b"/>
            <a:pathLst>
              <a:path w="4689900" h="208897">
                <a:moveTo>
                  <a:pt x="50641" y="0"/>
                </a:moveTo>
                <a:lnTo>
                  <a:pt x="4639259" y="0"/>
                </a:lnTo>
                <a:cubicBezTo>
                  <a:pt x="4667228" y="0"/>
                  <a:pt x="4689900" y="22673"/>
                  <a:pt x="4689900" y="50641"/>
                </a:cubicBezTo>
                <a:lnTo>
                  <a:pt x="4689900" y="158256"/>
                </a:lnTo>
                <a:cubicBezTo>
                  <a:pt x="4689900" y="186225"/>
                  <a:pt x="4667228" y="208897"/>
                  <a:pt x="4639259" y="208897"/>
                </a:cubicBezTo>
                <a:lnTo>
                  <a:pt x="50641" y="208897"/>
                </a:lnTo>
                <a:cubicBezTo>
                  <a:pt x="22691" y="208897"/>
                  <a:pt x="0" y="186206"/>
                  <a:pt x="0" y="158256"/>
                </a:cubicBezTo>
                <a:lnTo>
                  <a:pt x="0" y="50641"/>
                </a:lnTo>
                <a:cubicBezTo>
                  <a:pt x="0" y="22673"/>
                  <a:pt x="22673" y="0"/>
                  <a:pt x="50641" y="0"/>
                </a:cubicBezTo>
                <a:close/>
              </a:path>
            </a:pathLst>
          </a:custGeom>
          <a:solidFill>
            <a:srgbClr val="5A6472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10847" y="5070505"/>
            <a:ext cx="4778523" cy="208897"/>
          </a:xfrm>
          <a:prstGeom prst="rect">
            <a:avLst/>
          </a:prstGeom>
          <a:noFill/>
          <a:ln/>
        </p:spPr>
        <p:txBody>
          <a:bodyPr wrap="square" lIns="50642" tIns="0" rIns="50642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PARTITIONED BY (date STRING, region STRING)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77057" y="1721819"/>
            <a:ext cx="7469657" cy="4317209"/>
          </a:xfrm>
          <a:custGeom>
            <a:avLst/>
            <a:gdLst/>
            <a:ahLst/>
            <a:cxnLst/>
            <a:rect l="l" t="t" r="r" b="b"/>
            <a:pathLst>
              <a:path w="7469657" h="4317209">
                <a:moveTo>
                  <a:pt x="50642" y="0"/>
                </a:moveTo>
                <a:lnTo>
                  <a:pt x="7368376" y="0"/>
                </a:lnTo>
                <a:cubicBezTo>
                  <a:pt x="7424312" y="0"/>
                  <a:pt x="7469657" y="45345"/>
                  <a:pt x="7469657" y="101282"/>
                </a:cubicBezTo>
                <a:lnTo>
                  <a:pt x="7469657" y="4215927"/>
                </a:lnTo>
                <a:cubicBezTo>
                  <a:pt x="7469657" y="4271863"/>
                  <a:pt x="7424312" y="4317209"/>
                  <a:pt x="7368376" y="4317209"/>
                </a:cubicBezTo>
                <a:lnTo>
                  <a:pt x="50642" y="4317209"/>
                </a:lnTo>
                <a:cubicBezTo>
                  <a:pt x="22673" y="4317209"/>
                  <a:pt x="0" y="4294536"/>
                  <a:pt x="0" y="426656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77057" y="1721819"/>
            <a:ext cx="50642" cy="4317209"/>
          </a:xfrm>
          <a:custGeom>
            <a:avLst/>
            <a:gdLst/>
            <a:ahLst/>
            <a:cxnLst/>
            <a:rect l="l" t="t" r="r" b="b"/>
            <a:pathLst>
              <a:path w="50642" h="4317209">
                <a:moveTo>
                  <a:pt x="50642" y="0"/>
                </a:moveTo>
                <a:lnTo>
                  <a:pt x="50642" y="0"/>
                </a:lnTo>
                <a:lnTo>
                  <a:pt x="50642" y="4317209"/>
                </a:lnTo>
                <a:lnTo>
                  <a:pt x="50642" y="4317209"/>
                </a:lnTo>
                <a:cubicBezTo>
                  <a:pt x="22673" y="4317209"/>
                  <a:pt x="0" y="4294536"/>
                  <a:pt x="0" y="426656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93568" y="2025670"/>
            <a:ext cx="303850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168542" y="-771"/>
                </a:moveTo>
                <a:cubicBezTo>
                  <a:pt x="158275" y="-6706"/>
                  <a:pt x="145575" y="-6706"/>
                  <a:pt x="135308" y="-771"/>
                </a:cubicBezTo>
                <a:lnTo>
                  <a:pt x="85339" y="28071"/>
                </a:lnTo>
                <a:cubicBezTo>
                  <a:pt x="75072" y="34005"/>
                  <a:pt x="68722" y="44984"/>
                  <a:pt x="68722" y="56853"/>
                </a:cubicBezTo>
                <a:lnTo>
                  <a:pt x="68722" y="117327"/>
                </a:lnTo>
                <a:lnTo>
                  <a:pt x="16320" y="147593"/>
                </a:lnTo>
                <a:cubicBezTo>
                  <a:pt x="6053" y="153528"/>
                  <a:pt x="-297" y="164507"/>
                  <a:pt x="-297" y="176376"/>
                </a:cubicBezTo>
                <a:lnTo>
                  <a:pt x="-297" y="234119"/>
                </a:lnTo>
                <a:cubicBezTo>
                  <a:pt x="-297" y="245988"/>
                  <a:pt x="6053" y="256967"/>
                  <a:pt x="16320" y="262902"/>
                </a:cubicBezTo>
                <a:lnTo>
                  <a:pt x="66349" y="291744"/>
                </a:lnTo>
                <a:cubicBezTo>
                  <a:pt x="76615" y="297679"/>
                  <a:pt x="89315" y="297679"/>
                  <a:pt x="99582" y="291744"/>
                </a:cubicBezTo>
                <a:lnTo>
                  <a:pt x="151985" y="261478"/>
                </a:lnTo>
                <a:lnTo>
                  <a:pt x="204387" y="291744"/>
                </a:lnTo>
                <a:cubicBezTo>
                  <a:pt x="214654" y="297679"/>
                  <a:pt x="227354" y="297679"/>
                  <a:pt x="237621" y="291744"/>
                </a:cubicBezTo>
                <a:lnTo>
                  <a:pt x="287530" y="262902"/>
                </a:lnTo>
                <a:cubicBezTo>
                  <a:pt x="297797" y="256967"/>
                  <a:pt x="304147" y="245988"/>
                  <a:pt x="304147" y="234119"/>
                </a:cubicBezTo>
                <a:lnTo>
                  <a:pt x="304147" y="176376"/>
                </a:lnTo>
                <a:cubicBezTo>
                  <a:pt x="304147" y="164507"/>
                  <a:pt x="297797" y="153528"/>
                  <a:pt x="287530" y="147593"/>
                </a:cubicBezTo>
                <a:lnTo>
                  <a:pt x="235128" y="117327"/>
                </a:lnTo>
                <a:lnTo>
                  <a:pt x="235128" y="56853"/>
                </a:lnTo>
                <a:cubicBezTo>
                  <a:pt x="235128" y="44984"/>
                  <a:pt x="228778" y="34005"/>
                  <a:pt x="218511" y="28071"/>
                </a:cubicBezTo>
                <a:lnTo>
                  <a:pt x="168542" y="-771"/>
                </a:lnTo>
                <a:close/>
                <a:moveTo>
                  <a:pt x="137682" y="173646"/>
                </a:moveTo>
                <a:lnTo>
                  <a:pt x="137682" y="236849"/>
                </a:lnTo>
                <a:lnTo>
                  <a:pt x="85280" y="267115"/>
                </a:lnTo>
                <a:cubicBezTo>
                  <a:pt x="84568" y="267531"/>
                  <a:pt x="83737" y="267768"/>
                  <a:pt x="82906" y="267768"/>
                </a:cubicBezTo>
                <a:lnTo>
                  <a:pt x="82906" y="205277"/>
                </a:lnTo>
                <a:lnTo>
                  <a:pt x="137682" y="173646"/>
                </a:lnTo>
                <a:close/>
                <a:moveTo>
                  <a:pt x="275008" y="174002"/>
                </a:moveTo>
                <a:cubicBezTo>
                  <a:pt x="275424" y="174714"/>
                  <a:pt x="275661" y="175545"/>
                  <a:pt x="275661" y="176376"/>
                </a:cubicBezTo>
                <a:lnTo>
                  <a:pt x="275661" y="234119"/>
                </a:lnTo>
                <a:cubicBezTo>
                  <a:pt x="275661" y="235840"/>
                  <a:pt x="274771" y="237383"/>
                  <a:pt x="273287" y="238214"/>
                </a:cubicBezTo>
                <a:lnTo>
                  <a:pt x="223259" y="267056"/>
                </a:lnTo>
                <a:cubicBezTo>
                  <a:pt x="222547" y="267471"/>
                  <a:pt x="221716" y="267709"/>
                  <a:pt x="220885" y="267709"/>
                </a:cubicBezTo>
                <a:lnTo>
                  <a:pt x="220885" y="205218"/>
                </a:lnTo>
                <a:lnTo>
                  <a:pt x="275008" y="174002"/>
                </a:lnTo>
                <a:close/>
                <a:moveTo>
                  <a:pt x="206701" y="56853"/>
                </a:moveTo>
                <a:lnTo>
                  <a:pt x="206701" y="117327"/>
                </a:lnTo>
                <a:lnTo>
                  <a:pt x="151925" y="148958"/>
                </a:lnTo>
                <a:lnTo>
                  <a:pt x="151925" y="85755"/>
                </a:lnTo>
                <a:lnTo>
                  <a:pt x="206049" y="54539"/>
                </a:lnTo>
                <a:cubicBezTo>
                  <a:pt x="206464" y="55251"/>
                  <a:pt x="206701" y="56082"/>
                  <a:pt x="206701" y="56913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35400" y="1975028"/>
            <a:ext cx="6710031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分桶(</a:t>
            </a:r>
            <a:r>
              <a:rPr lang="en-US" sz="2393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Bucketing</a:t>
            </a:r>
            <a:r>
              <a:rPr lang="en-US" sz="2393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55586" y="2532087"/>
            <a:ext cx="6937919" cy="633022"/>
          </a:xfrm>
          <a:custGeom>
            <a:avLst/>
            <a:gdLst/>
            <a:ahLst/>
            <a:cxnLst/>
            <a:rect l="l" t="t" r="r" b="b"/>
            <a:pathLst>
              <a:path w="6937919" h="633022">
                <a:moveTo>
                  <a:pt x="50642" y="0"/>
                </a:moveTo>
                <a:lnTo>
                  <a:pt x="6887277" y="0"/>
                </a:lnTo>
                <a:cubicBezTo>
                  <a:pt x="6915246" y="0"/>
                  <a:pt x="6937919" y="22673"/>
                  <a:pt x="6937919" y="50642"/>
                </a:cubicBezTo>
                <a:lnTo>
                  <a:pt x="6937919" y="582380"/>
                </a:lnTo>
                <a:cubicBezTo>
                  <a:pt x="6937919" y="610349"/>
                  <a:pt x="6915246" y="633022"/>
                  <a:pt x="6887277" y="633022"/>
                </a:cubicBezTo>
                <a:lnTo>
                  <a:pt x="50642" y="633022"/>
                </a:lnTo>
                <a:cubicBezTo>
                  <a:pt x="22673" y="633022"/>
                  <a:pt x="0" y="610349"/>
                  <a:pt x="0" y="582380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07512" y="2684012"/>
            <a:ext cx="6735352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本质: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上的文件,将数据按哈希取模分散到N个文件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55586" y="3317034"/>
            <a:ext cx="6937919" cy="962193"/>
          </a:xfrm>
          <a:custGeom>
            <a:avLst/>
            <a:gdLst/>
            <a:ahLst/>
            <a:cxnLst/>
            <a:rect l="l" t="t" r="r" b="b"/>
            <a:pathLst>
              <a:path w="6937919" h="962193">
                <a:moveTo>
                  <a:pt x="50640" y="0"/>
                </a:moveTo>
                <a:lnTo>
                  <a:pt x="6887279" y="0"/>
                </a:lnTo>
                <a:cubicBezTo>
                  <a:pt x="6915247" y="0"/>
                  <a:pt x="6937919" y="22672"/>
                  <a:pt x="6937919" y="50640"/>
                </a:cubicBezTo>
                <a:lnTo>
                  <a:pt x="6937919" y="911553"/>
                </a:lnTo>
                <a:cubicBezTo>
                  <a:pt x="6937919" y="939521"/>
                  <a:pt x="6915247" y="962193"/>
                  <a:pt x="6887279" y="962193"/>
                </a:cubicBezTo>
                <a:lnTo>
                  <a:pt x="50640" y="962193"/>
                </a:lnTo>
                <a:cubicBezTo>
                  <a:pt x="22672" y="962193"/>
                  <a:pt x="0" y="939521"/>
                  <a:pt x="0" y="911553"/>
                </a:cubicBezTo>
                <a:lnTo>
                  <a:pt x="0" y="50640"/>
                </a:lnTo>
                <a:cubicBezTo>
                  <a:pt x="0" y="22691"/>
                  <a:pt x="22691" y="0"/>
                  <a:pt x="5064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07512" y="3468960"/>
            <a:ext cx="6735352" cy="658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优化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Join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Bucket Join/SMB Join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)、优化抽样(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Sampling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)、缓解数据倾斜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55586" y="4431153"/>
            <a:ext cx="6937919" cy="633022"/>
          </a:xfrm>
          <a:custGeom>
            <a:avLst/>
            <a:gdLst/>
            <a:ahLst/>
            <a:cxnLst/>
            <a:rect l="l" t="t" r="r" b="b"/>
            <a:pathLst>
              <a:path w="6937919" h="633022">
                <a:moveTo>
                  <a:pt x="50642" y="0"/>
                </a:moveTo>
                <a:lnTo>
                  <a:pt x="6887277" y="0"/>
                </a:lnTo>
                <a:cubicBezTo>
                  <a:pt x="6915246" y="0"/>
                  <a:pt x="6937919" y="22673"/>
                  <a:pt x="6937919" y="50642"/>
                </a:cubicBezTo>
                <a:lnTo>
                  <a:pt x="6937919" y="582380"/>
                </a:lnTo>
                <a:cubicBezTo>
                  <a:pt x="6937919" y="610349"/>
                  <a:pt x="6915246" y="633022"/>
                  <a:pt x="6887277" y="633022"/>
                </a:cubicBezTo>
                <a:lnTo>
                  <a:pt x="50642" y="633022"/>
                </a:lnTo>
                <a:cubicBezTo>
                  <a:pt x="22673" y="633022"/>
                  <a:pt x="0" y="610349"/>
                  <a:pt x="0" y="582380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07512" y="4583078"/>
            <a:ext cx="6735352" cy="32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字段选择: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高基数、离散分布字段(</a:t>
            </a:r>
            <a:r>
              <a:rPr lang="en-US" sz="1595" dirty="0" err="1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</a:t>
            </a:r>
            <a:r>
              <a:rPr lang="en-US" sz="1595" dirty="0" err="1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UserID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),避免热点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55586" y="5216100"/>
            <a:ext cx="6937919" cy="569720"/>
          </a:xfrm>
          <a:custGeom>
            <a:avLst/>
            <a:gdLst/>
            <a:ahLst/>
            <a:cxnLst/>
            <a:rect l="l" t="t" r="r" b="b"/>
            <a:pathLst>
              <a:path w="6937919" h="569720">
                <a:moveTo>
                  <a:pt x="50642" y="0"/>
                </a:moveTo>
                <a:lnTo>
                  <a:pt x="6887277" y="0"/>
                </a:lnTo>
                <a:cubicBezTo>
                  <a:pt x="6915246" y="0"/>
                  <a:pt x="6937919" y="22673"/>
                  <a:pt x="6937919" y="50642"/>
                </a:cubicBezTo>
                <a:lnTo>
                  <a:pt x="6937919" y="519077"/>
                </a:lnTo>
                <a:cubicBezTo>
                  <a:pt x="6937919" y="547046"/>
                  <a:pt x="6915246" y="569720"/>
                  <a:pt x="6887277" y="569720"/>
                </a:cubicBezTo>
                <a:lnTo>
                  <a:pt x="50642" y="569720"/>
                </a:lnTo>
                <a:cubicBezTo>
                  <a:pt x="22673" y="569720"/>
                  <a:pt x="0" y="547046"/>
                  <a:pt x="0" y="519077"/>
                </a:cubicBezTo>
                <a:lnTo>
                  <a:pt x="0" y="50642"/>
                </a:lnTo>
                <a:cubicBezTo>
                  <a:pt x="0" y="22692"/>
                  <a:pt x="22692" y="0"/>
                  <a:pt x="5064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07512" y="5374355"/>
            <a:ext cx="486042" cy="234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56166" y="5393346"/>
            <a:ext cx="4156382" cy="208897"/>
          </a:xfrm>
          <a:custGeom>
            <a:avLst/>
            <a:gdLst/>
            <a:ahLst/>
            <a:cxnLst/>
            <a:rect l="l" t="t" r="r" b="b"/>
            <a:pathLst>
              <a:path w="4156382" h="208897">
                <a:moveTo>
                  <a:pt x="50641" y="0"/>
                </a:moveTo>
                <a:lnTo>
                  <a:pt x="4105741" y="0"/>
                </a:lnTo>
                <a:cubicBezTo>
                  <a:pt x="4133709" y="0"/>
                  <a:pt x="4156382" y="22673"/>
                  <a:pt x="4156382" y="50641"/>
                </a:cubicBezTo>
                <a:lnTo>
                  <a:pt x="4156382" y="158256"/>
                </a:lnTo>
                <a:cubicBezTo>
                  <a:pt x="4156382" y="186225"/>
                  <a:pt x="4133709" y="208897"/>
                  <a:pt x="4105741" y="208897"/>
                </a:cubicBezTo>
                <a:lnTo>
                  <a:pt x="50641" y="208897"/>
                </a:lnTo>
                <a:cubicBezTo>
                  <a:pt x="22691" y="208897"/>
                  <a:pt x="0" y="186206"/>
                  <a:pt x="0" y="158256"/>
                </a:cubicBezTo>
                <a:lnTo>
                  <a:pt x="0" y="50641"/>
                </a:lnTo>
                <a:cubicBezTo>
                  <a:pt x="0" y="22673"/>
                  <a:pt x="22673" y="0"/>
                  <a:pt x="50641" y="0"/>
                </a:cubicBezTo>
                <a:close/>
              </a:path>
            </a:pathLst>
          </a:custGeom>
          <a:solidFill>
            <a:srgbClr val="5A6472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56166" y="5393346"/>
            <a:ext cx="4245005" cy="208897"/>
          </a:xfrm>
          <a:prstGeom prst="rect">
            <a:avLst/>
          </a:prstGeom>
          <a:noFill/>
          <a:ln/>
        </p:spPr>
        <p:txBody>
          <a:bodyPr wrap="square" lIns="50642" tIns="0" rIns="50642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CLUSTERED BY(user_id) INTO 256 BUCKETS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2748" y="6241595"/>
            <a:ext cx="15230505" cy="2380162"/>
          </a:xfrm>
          <a:custGeom>
            <a:avLst/>
            <a:gdLst/>
            <a:ahLst/>
            <a:cxnLst/>
            <a:rect l="l" t="t" r="r" b="b"/>
            <a:pathLst>
              <a:path w="15230505" h="2380162">
                <a:moveTo>
                  <a:pt x="101276" y="0"/>
                </a:moveTo>
                <a:lnTo>
                  <a:pt x="15129229" y="0"/>
                </a:lnTo>
                <a:cubicBezTo>
                  <a:pt x="15185162" y="0"/>
                  <a:pt x="15230505" y="45343"/>
                  <a:pt x="15230505" y="101276"/>
                </a:cubicBezTo>
                <a:lnTo>
                  <a:pt x="15230505" y="2278886"/>
                </a:lnTo>
                <a:cubicBezTo>
                  <a:pt x="15230505" y="2334819"/>
                  <a:pt x="15185162" y="2380162"/>
                  <a:pt x="15129229" y="2380162"/>
                </a:cubicBezTo>
                <a:lnTo>
                  <a:pt x="101276" y="2380162"/>
                </a:lnTo>
                <a:cubicBezTo>
                  <a:pt x="45343" y="2380162"/>
                  <a:pt x="0" y="2334819"/>
                  <a:pt x="0" y="2278886"/>
                </a:cubicBezTo>
                <a:lnTo>
                  <a:pt x="0" y="101276"/>
                </a:lnTo>
                <a:cubicBezTo>
                  <a:pt x="0" y="45380"/>
                  <a:pt x="45380" y="0"/>
                  <a:pt x="10127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0268" y="6551776"/>
            <a:ext cx="303850" cy="303850"/>
          </a:xfrm>
          <a:custGeom>
            <a:avLst/>
            <a:gdLst/>
            <a:ahLst/>
            <a:cxnLst/>
            <a:rect l="l" t="t" r="r" b="b"/>
            <a:pathLst>
              <a:path w="303850" h="303850">
                <a:moveTo>
                  <a:pt x="151925" y="0"/>
                </a:moveTo>
                <a:cubicBezTo>
                  <a:pt x="160649" y="0"/>
                  <a:pt x="168661" y="4807"/>
                  <a:pt x="172815" y="12463"/>
                </a:cubicBezTo>
                <a:lnTo>
                  <a:pt x="301002" y="249846"/>
                </a:lnTo>
                <a:cubicBezTo>
                  <a:pt x="304978" y="257205"/>
                  <a:pt x="304800" y="266107"/>
                  <a:pt x="300527" y="273287"/>
                </a:cubicBezTo>
                <a:cubicBezTo>
                  <a:pt x="296254" y="280468"/>
                  <a:pt x="288480" y="284860"/>
                  <a:pt x="280112" y="284860"/>
                </a:cubicBezTo>
                <a:lnTo>
                  <a:pt x="23738" y="284860"/>
                </a:lnTo>
                <a:cubicBezTo>
                  <a:pt x="15371" y="284860"/>
                  <a:pt x="7656" y="280468"/>
                  <a:pt x="3323" y="273287"/>
                </a:cubicBezTo>
                <a:cubicBezTo>
                  <a:pt x="-1009" y="266107"/>
                  <a:pt x="-1128" y="257205"/>
                  <a:pt x="2849" y="249846"/>
                </a:cubicBezTo>
                <a:lnTo>
                  <a:pt x="131036" y="12463"/>
                </a:lnTo>
                <a:cubicBezTo>
                  <a:pt x="135190" y="4807"/>
                  <a:pt x="143201" y="0"/>
                  <a:pt x="151925" y="0"/>
                </a:cubicBezTo>
                <a:close/>
                <a:moveTo>
                  <a:pt x="151925" y="99701"/>
                </a:moveTo>
                <a:cubicBezTo>
                  <a:pt x="144032" y="99701"/>
                  <a:pt x="137682" y="106051"/>
                  <a:pt x="137682" y="113944"/>
                </a:cubicBezTo>
                <a:lnTo>
                  <a:pt x="137682" y="180411"/>
                </a:lnTo>
                <a:cubicBezTo>
                  <a:pt x="137682" y="188304"/>
                  <a:pt x="144032" y="194654"/>
                  <a:pt x="151925" y="194654"/>
                </a:cubicBezTo>
                <a:cubicBezTo>
                  <a:pt x="159818" y="194654"/>
                  <a:pt x="166168" y="188304"/>
                  <a:pt x="166168" y="180411"/>
                </a:cubicBezTo>
                <a:lnTo>
                  <a:pt x="166168" y="113944"/>
                </a:lnTo>
                <a:cubicBezTo>
                  <a:pt x="166168" y="106051"/>
                  <a:pt x="159818" y="99701"/>
                  <a:pt x="151925" y="99701"/>
                </a:cubicBezTo>
                <a:close/>
                <a:moveTo>
                  <a:pt x="167771" y="227888"/>
                </a:moveTo>
                <a:cubicBezTo>
                  <a:pt x="168131" y="222006"/>
                  <a:pt x="165198" y="216410"/>
                  <a:pt x="160156" y="213361"/>
                </a:cubicBezTo>
                <a:cubicBezTo>
                  <a:pt x="155114" y="210311"/>
                  <a:pt x="148796" y="210311"/>
                  <a:pt x="143754" y="213361"/>
                </a:cubicBezTo>
                <a:cubicBezTo>
                  <a:pt x="138712" y="216410"/>
                  <a:pt x="135779" y="222006"/>
                  <a:pt x="136139" y="227888"/>
                </a:cubicBezTo>
                <a:cubicBezTo>
                  <a:pt x="135779" y="233769"/>
                  <a:pt x="138712" y="239365"/>
                  <a:pt x="143754" y="242415"/>
                </a:cubicBezTo>
                <a:cubicBezTo>
                  <a:pt x="148796" y="245465"/>
                  <a:pt x="155114" y="245465"/>
                  <a:pt x="160156" y="242415"/>
                </a:cubicBezTo>
                <a:cubicBezTo>
                  <a:pt x="165198" y="239365"/>
                  <a:pt x="168131" y="233769"/>
                  <a:pt x="167771" y="22788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52100" y="6501134"/>
            <a:ext cx="14483539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易错点与注意事项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2287" y="7058193"/>
            <a:ext cx="4772984" cy="1304025"/>
          </a:xfrm>
          <a:custGeom>
            <a:avLst/>
            <a:gdLst/>
            <a:ahLst/>
            <a:cxnLst/>
            <a:rect l="l" t="t" r="r" b="b"/>
            <a:pathLst>
              <a:path w="4772984" h="1304025">
                <a:moveTo>
                  <a:pt x="50635" y="0"/>
                </a:moveTo>
                <a:lnTo>
                  <a:pt x="4722349" y="0"/>
                </a:lnTo>
                <a:cubicBezTo>
                  <a:pt x="4750314" y="0"/>
                  <a:pt x="4772984" y="22670"/>
                  <a:pt x="4772984" y="50635"/>
                </a:cubicBezTo>
                <a:lnTo>
                  <a:pt x="4772984" y="1253390"/>
                </a:lnTo>
                <a:cubicBezTo>
                  <a:pt x="4772984" y="1281355"/>
                  <a:pt x="4750314" y="1304025"/>
                  <a:pt x="4722349" y="1304025"/>
                </a:cubicBezTo>
                <a:lnTo>
                  <a:pt x="50635" y="1304025"/>
                </a:lnTo>
                <a:cubicBezTo>
                  <a:pt x="22670" y="1304025"/>
                  <a:pt x="0" y="1281355"/>
                  <a:pt x="0" y="1253390"/>
                </a:cubicBezTo>
                <a:lnTo>
                  <a:pt x="0" y="50635"/>
                </a:lnTo>
                <a:cubicBezTo>
                  <a:pt x="0" y="22689"/>
                  <a:pt x="22689" y="0"/>
                  <a:pt x="506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24212" y="7210118"/>
            <a:ext cx="4570417" cy="987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分区vs分桶: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分区是"分目录",分桶是"分文件"。表可同时分区和分桶,但不能用同一字段既分区又分桶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41706" y="7058193"/>
            <a:ext cx="4772984" cy="1304025"/>
          </a:xfrm>
          <a:custGeom>
            <a:avLst/>
            <a:gdLst/>
            <a:ahLst/>
            <a:cxnLst/>
            <a:rect l="l" t="t" r="r" b="b"/>
            <a:pathLst>
              <a:path w="4772984" h="1304025">
                <a:moveTo>
                  <a:pt x="50635" y="0"/>
                </a:moveTo>
                <a:lnTo>
                  <a:pt x="4722349" y="0"/>
                </a:lnTo>
                <a:cubicBezTo>
                  <a:pt x="4750314" y="0"/>
                  <a:pt x="4772984" y="22670"/>
                  <a:pt x="4772984" y="50635"/>
                </a:cubicBezTo>
                <a:lnTo>
                  <a:pt x="4772984" y="1253390"/>
                </a:lnTo>
                <a:cubicBezTo>
                  <a:pt x="4772984" y="1281355"/>
                  <a:pt x="4750314" y="1304025"/>
                  <a:pt x="4722349" y="1304025"/>
                </a:cubicBezTo>
                <a:lnTo>
                  <a:pt x="50635" y="1304025"/>
                </a:lnTo>
                <a:cubicBezTo>
                  <a:pt x="22670" y="1304025"/>
                  <a:pt x="0" y="1281355"/>
                  <a:pt x="0" y="1253390"/>
                </a:cubicBezTo>
                <a:lnTo>
                  <a:pt x="0" y="50635"/>
                </a:lnTo>
                <a:cubicBezTo>
                  <a:pt x="0" y="22689"/>
                  <a:pt x="22689" y="0"/>
                  <a:pt x="506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893631" y="7210118"/>
            <a:ext cx="4570417" cy="1000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分桶写入约束: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必须使用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INSERT ... SELECT 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触发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进行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Hash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分发;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LOAD DATA 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只是文件移动,不会重新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Hash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711125" y="7058193"/>
            <a:ext cx="4772984" cy="1304025"/>
          </a:xfrm>
          <a:custGeom>
            <a:avLst/>
            <a:gdLst/>
            <a:ahLst/>
            <a:cxnLst/>
            <a:rect l="l" t="t" r="r" b="b"/>
            <a:pathLst>
              <a:path w="4772984" h="1304025">
                <a:moveTo>
                  <a:pt x="50635" y="0"/>
                </a:moveTo>
                <a:lnTo>
                  <a:pt x="4722349" y="0"/>
                </a:lnTo>
                <a:cubicBezTo>
                  <a:pt x="4750314" y="0"/>
                  <a:pt x="4772984" y="22670"/>
                  <a:pt x="4772984" y="50635"/>
                </a:cubicBezTo>
                <a:lnTo>
                  <a:pt x="4772984" y="1253390"/>
                </a:lnTo>
                <a:cubicBezTo>
                  <a:pt x="4772984" y="1281355"/>
                  <a:pt x="4750314" y="1304025"/>
                  <a:pt x="4722349" y="1304025"/>
                </a:cubicBezTo>
                <a:lnTo>
                  <a:pt x="50635" y="1304025"/>
                </a:lnTo>
                <a:cubicBezTo>
                  <a:pt x="22670" y="1304025"/>
                  <a:pt x="0" y="1281355"/>
                  <a:pt x="0" y="1253390"/>
                </a:cubicBezTo>
                <a:lnTo>
                  <a:pt x="0" y="50635"/>
                </a:lnTo>
                <a:cubicBezTo>
                  <a:pt x="0" y="22689"/>
                  <a:pt x="22689" y="0"/>
                  <a:pt x="5063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863050" y="7210118"/>
            <a:ext cx="4570417" cy="987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分区粒度:</a:t>
            </a:r>
            <a:r>
              <a:rPr lang="en-US" sz="1595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范围分区不要求每个区间大小完全一致,应根据业务数据量决定(如近一个月按天,历史按月)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654300" cy="609600"/>
          </a:xfrm>
          <a:custGeom>
            <a:avLst/>
            <a:gdLst/>
            <a:ahLst/>
            <a:cxnLst/>
            <a:rect l="l" t="t" r="r" b="b"/>
            <a:pathLst>
              <a:path w="2654300" h="609600">
                <a:moveTo>
                  <a:pt x="0" y="0"/>
                </a:moveTo>
                <a:lnTo>
                  <a:pt x="2654300" y="0"/>
                </a:lnTo>
                <a:lnTo>
                  <a:pt x="26543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7141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5A64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列族存储模型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与系统架构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定位、数据模型、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LSM-Tree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及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75833" cy="338667"/>
          </a:xfrm>
          <a:custGeom>
            <a:avLst/>
            <a:gdLst/>
            <a:ahLst/>
            <a:cxnLst/>
            <a:rect l="l" t="t" r="r" b="b"/>
            <a:pathLst>
              <a:path w="1375833" h="338667">
                <a:moveTo>
                  <a:pt x="0" y="0"/>
                </a:moveTo>
                <a:lnTo>
                  <a:pt x="1375833" y="0"/>
                </a:lnTo>
                <a:lnTo>
                  <a:pt x="13758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8822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09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定位与数据模型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460500"/>
            <a:ext cx="7598833" cy="2751667"/>
          </a:xfrm>
          <a:custGeom>
            <a:avLst/>
            <a:gdLst/>
            <a:ahLst/>
            <a:cxnLst/>
            <a:rect l="l" t="t" r="r" b="b"/>
            <a:pathLst>
              <a:path w="7598833" h="2751667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2666998"/>
                </a:lnTo>
                <a:cubicBezTo>
                  <a:pt x="7598833" y="2713759"/>
                  <a:pt x="7560926" y="2751667"/>
                  <a:pt x="7514165" y="2751667"/>
                </a:cubicBezTo>
                <a:lnTo>
                  <a:pt x="84669" y="2751667"/>
                </a:lnTo>
                <a:cubicBezTo>
                  <a:pt x="37908" y="2751667"/>
                  <a:pt x="0" y="2713759"/>
                  <a:pt x="0" y="2666998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333" y="146050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2625" y="17356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500" y="1693333"/>
            <a:ext cx="698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" y="2159000"/>
            <a:ext cx="7175500" cy="529167"/>
          </a:xfrm>
          <a:custGeom>
            <a:avLst/>
            <a:gdLst/>
            <a:ahLst/>
            <a:cxnLst/>
            <a:rect l="l" t="t" r="r" b="b"/>
            <a:pathLst>
              <a:path w="7175500" h="529167">
                <a:moveTo>
                  <a:pt x="42333" y="0"/>
                </a:moveTo>
                <a:lnTo>
                  <a:pt x="7133167" y="0"/>
                </a:lnTo>
                <a:cubicBezTo>
                  <a:pt x="7156547" y="0"/>
                  <a:pt x="7175500" y="18953"/>
                  <a:pt x="7175500" y="42333"/>
                </a:cubicBezTo>
                <a:lnTo>
                  <a:pt x="7175500" y="486833"/>
                </a:lnTo>
                <a:cubicBezTo>
                  <a:pt x="7175500" y="510213"/>
                  <a:pt x="7156547" y="529167"/>
                  <a:pt x="71331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2286000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基于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Google BigTable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论文实现的分布式列式数据库(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NoSQL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" y="2815167"/>
            <a:ext cx="7175500" cy="529167"/>
          </a:xfrm>
          <a:custGeom>
            <a:avLst/>
            <a:gdLst/>
            <a:ahLst/>
            <a:cxnLst/>
            <a:rect l="l" t="t" r="r" b="b"/>
            <a:pathLst>
              <a:path w="7175500" h="529167">
                <a:moveTo>
                  <a:pt x="42333" y="0"/>
                </a:moveTo>
                <a:lnTo>
                  <a:pt x="7133167" y="0"/>
                </a:lnTo>
                <a:cubicBezTo>
                  <a:pt x="7156547" y="0"/>
                  <a:pt x="7175500" y="18953"/>
                  <a:pt x="7175500" y="42333"/>
                </a:cubicBezTo>
                <a:lnTo>
                  <a:pt x="7175500" y="486833"/>
                </a:lnTo>
                <a:cubicBezTo>
                  <a:pt x="7175500" y="510213"/>
                  <a:pt x="7156547" y="529167"/>
                  <a:pt x="71331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2000" y="2942167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海量数据(PB级)、高吞吐随机读写、稀疏数据存储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000" y="3471333"/>
            <a:ext cx="7175500" cy="529167"/>
          </a:xfrm>
          <a:custGeom>
            <a:avLst/>
            <a:gdLst/>
            <a:ahLst/>
            <a:cxnLst/>
            <a:rect l="l" t="t" r="r" b="b"/>
            <a:pathLst>
              <a:path w="7175500" h="529167">
                <a:moveTo>
                  <a:pt x="42333" y="0"/>
                </a:moveTo>
                <a:lnTo>
                  <a:pt x="7133167" y="0"/>
                </a:lnTo>
                <a:cubicBezTo>
                  <a:pt x="7156547" y="0"/>
                  <a:pt x="7175500" y="18953"/>
                  <a:pt x="7175500" y="42333"/>
                </a:cubicBezTo>
                <a:lnTo>
                  <a:pt x="7175500" y="486833"/>
                </a:lnTo>
                <a:cubicBezTo>
                  <a:pt x="7175500" y="510213"/>
                  <a:pt x="7156547" y="529167"/>
                  <a:pt x="71331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3598333"/>
            <a:ext cx="7006167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高可靠、高性能、可伸缩、实时读写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333" y="4402667"/>
            <a:ext cx="7598833" cy="2476500"/>
          </a:xfrm>
          <a:custGeom>
            <a:avLst/>
            <a:gdLst/>
            <a:ahLst/>
            <a:cxnLst/>
            <a:rect l="l" t="t" r="r" b="b"/>
            <a:pathLst>
              <a:path w="7598833" h="2476500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2391828"/>
                </a:lnTo>
                <a:cubicBezTo>
                  <a:pt x="7598833" y="2438591"/>
                  <a:pt x="7560925" y="2476500"/>
                  <a:pt x="7514162" y="2476500"/>
                </a:cubicBezTo>
                <a:lnTo>
                  <a:pt x="84672" y="2476500"/>
                </a:lnTo>
                <a:cubicBezTo>
                  <a:pt x="37909" y="2476500"/>
                  <a:pt x="0" y="2438591"/>
                  <a:pt x="0" y="2391828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3333" y="4402667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2625" y="4677833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2500" y="4635500"/>
            <a:ext cx="698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数据模型详解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5101167"/>
            <a:ext cx="7175500" cy="719667"/>
          </a:xfrm>
          <a:custGeom>
            <a:avLst/>
            <a:gdLst/>
            <a:ahLst/>
            <a:cxnLst/>
            <a:rect l="l" t="t" r="r" b="b"/>
            <a:pathLst>
              <a:path w="7175500" h="719667">
                <a:moveTo>
                  <a:pt x="42331" y="0"/>
                </a:moveTo>
                <a:lnTo>
                  <a:pt x="7133169" y="0"/>
                </a:lnTo>
                <a:cubicBezTo>
                  <a:pt x="7156548" y="0"/>
                  <a:pt x="7175500" y="18952"/>
                  <a:pt x="7175500" y="42331"/>
                </a:cubicBezTo>
                <a:lnTo>
                  <a:pt x="7175500" y="677336"/>
                </a:lnTo>
                <a:cubicBezTo>
                  <a:pt x="7175500" y="700715"/>
                  <a:pt x="7156548" y="719667"/>
                  <a:pt x="7133169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2000" y="5244042"/>
            <a:ext cx="78523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482167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逻辑上由行和列组成,物理上按列族存储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" y="5947833"/>
            <a:ext cx="7175500" cy="719667"/>
          </a:xfrm>
          <a:custGeom>
            <a:avLst/>
            <a:gdLst/>
            <a:ahLst/>
            <a:cxnLst/>
            <a:rect l="l" t="t" r="r" b="b"/>
            <a:pathLst>
              <a:path w="7175500" h="719667">
                <a:moveTo>
                  <a:pt x="42331" y="0"/>
                </a:moveTo>
                <a:lnTo>
                  <a:pt x="7133169" y="0"/>
                </a:lnTo>
                <a:cubicBezTo>
                  <a:pt x="7156548" y="0"/>
                  <a:pt x="7175500" y="18952"/>
                  <a:pt x="7175500" y="42331"/>
                </a:cubicBezTo>
                <a:lnTo>
                  <a:pt x="7175500" y="677336"/>
                </a:lnTo>
                <a:cubicBezTo>
                  <a:pt x="7175500" y="700715"/>
                  <a:pt x="7156548" y="719667"/>
                  <a:pt x="7133169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2000" y="6090708"/>
            <a:ext cx="1151516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行键(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328833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唯一标识一行,按字典序排序,设计核心:避免热点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5000" y="1439333"/>
            <a:ext cx="7577667" cy="4064000"/>
          </a:xfrm>
          <a:custGeom>
            <a:avLst/>
            <a:gdLst/>
            <a:ahLst/>
            <a:cxnLst/>
            <a:rect l="l" t="t" r="r" b="b"/>
            <a:pathLst>
              <a:path w="7577667" h="4064000">
                <a:moveTo>
                  <a:pt x="42333" y="0"/>
                </a:moveTo>
                <a:lnTo>
                  <a:pt x="7493014" y="0"/>
                </a:lnTo>
                <a:cubicBezTo>
                  <a:pt x="7539766" y="0"/>
                  <a:pt x="7577667" y="37900"/>
                  <a:pt x="7577667" y="84653"/>
                </a:cubicBezTo>
                <a:lnTo>
                  <a:pt x="7577667" y="3979347"/>
                </a:lnTo>
                <a:cubicBezTo>
                  <a:pt x="7577667" y="4026100"/>
                  <a:pt x="7539766" y="4064000"/>
                  <a:pt x="7493014" y="4064000"/>
                </a:cubicBezTo>
                <a:lnTo>
                  <a:pt x="42333" y="4064000"/>
                </a:lnTo>
                <a:cubicBezTo>
                  <a:pt x="18953" y="4064000"/>
                  <a:pt x="0" y="4045047"/>
                  <a:pt x="0" y="4021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55000" y="1439333"/>
            <a:ext cx="42333" cy="4064000"/>
          </a:xfrm>
          <a:custGeom>
            <a:avLst/>
            <a:gdLst/>
            <a:ahLst/>
            <a:cxnLst/>
            <a:rect l="l" t="t" r="r" b="b"/>
            <a:pathLst>
              <a:path w="42333" h="4064000">
                <a:moveTo>
                  <a:pt x="42333" y="0"/>
                </a:moveTo>
                <a:lnTo>
                  <a:pt x="42333" y="0"/>
                </a:lnTo>
                <a:lnTo>
                  <a:pt x="42333" y="4064000"/>
                </a:lnTo>
                <a:lnTo>
                  <a:pt x="42333" y="4064000"/>
                </a:lnTo>
                <a:cubicBezTo>
                  <a:pt x="18953" y="4064000"/>
                  <a:pt x="0" y="4045047"/>
                  <a:pt x="0" y="4021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19583" y="169333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05333" y="1651000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列族与时间戳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87833" y="2116667"/>
            <a:ext cx="7133167" cy="1100667"/>
          </a:xfrm>
          <a:custGeom>
            <a:avLst/>
            <a:gdLst/>
            <a:ahLst/>
            <a:cxnLst/>
            <a:rect l="l" t="t" r="r" b="b"/>
            <a:pathLst>
              <a:path w="7133167" h="1100667">
                <a:moveTo>
                  <a:pt x="42332" y="0"/>
                </a:moveTo>
                <a:lnTo>
                  <a:pt x="7090835" y="0"/>
                </a:lnTo>
                <a:cubicBezTo>
                  <a:pt x="7114214" y="0"/>
                  <a:pt x="7133167" y="18953"/>
                  <a:pt x="7133167" y="42332"/>
                </a:cubicBezTo>
                <a:lnTo>
                  <a:pt x="7133167" y="1058335"/>
                </a:lnTo>
                <a:cubicBezTo>
                  <a:pt x="7133167" y="1081714"/>
                  <a:pt x="7114214" y="1100667"/>
                  <a:pt x="7090835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614833" y="2259542"/>
            <a:ext cx="168051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列族(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Column Family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14833" y="2497667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列的集合,物理存储的基本单元,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层面定义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14833" y="2751667"/>
            <a:ext cx="6879167" cy="338667"/>
          </a:xfrm>
          <a:custGeom>
            <a:avLst/>
            <a:gdLst/>
            <a:ahLst/>
            <a:cxnLst/>
            <a:rect l="l" t="t" r="r" b="b"/>
            <a:pathLst>
              <a:path w="6879167" h="338667">
                <a:moveTo>
                  <a:pt x="42333" y="0"/>
                </a:moveTo>
                <a:lnTo>
                  <a:pt x="6836833" y="0"/>
                </a:lnTo>
                <a:cubicBezTo>
                  <a:pt x="6860213" y="0"/>
                  <a:pt x="6879167" y="18953"/>
                  <a:pt x="6879167" y="42333"/>
                </a:cubicBezTo>
                <a:lnTo>
                  <a:pt x="6879167" y="296333"/>
                </a:lnTo>
                <a:cubicBezTo>
                  <a:pt x="6879167" y="319713"/>
                  <a:pt x="6860213" y="338667"/>
                  <a:pt x="6836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699500" y="2836333"/>
            <a:ext cx="677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权限控制、压缩、缓存都在列族级别设置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87833" y="3344333"/>
            <a:ext cx="7133167" cy="1100667"/>
          </a:xfrm>
          <a:custGeom>
            <a:avLst/>
            <a:gdLst/>
            <a:ahLst/>
            <a:cxnLst/>
            <a:rect l="l" t="t" r="r" b="b"/>
            <a:pathLst>
              <a:path w="7133167" h="1100667">
                <a:moveTo>
                  <a:pt x="42332" y="0"/>
                </a:moveTo>
                <a:lnTo>
                  <a:pt x="7090835" y="0"/>
                </a:lnTo>
                <a:cubicBezTo>
                  <a:pt x="7114214" y="0"/>
                  <a:pt x="7133167" y="18953"/>
                  <a:pt x="7133167" y="42332"/>
                </a:cubicBezTo>
                <a:lnTo>
                  <a:pt x="7133167" y="1058335"/>
                </a:lnTo>
                <a:cubicBezTo>
                  <a:pt x="7133167" y="1081714"/>
                  <a:pt x="7114214" y="1100667"/>
                  <a:pt x="7090835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14833" y="3487208"/>
            <a:ext cx="156062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时间戳(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Timestamp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14833" y="3725333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支持多版本(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Multi-versio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n),默认返回最新版本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14833" y="3979333"/>
            <a:ext cx="6879167" cy="338667"/>
          </a:xfrm>
          <a:custGeom>
            <a:avLst/>
            <a:gdLst/>
            <a:ahLst/>
            <a:cxnLst/>
            <a:rect l="l" t="t" r="r" b="b"/>
            <a:pathLst>
              <a:path w="6879167" h="338667">
                <a:moveTo>
                  <a:pt x="42333" y="0"/>
                </a:moveTo>
                <a:lnTo>
                  <a:pt x="6836833" y="0"/>
                </a:lnTo>
                <a:cubicBezTo>
                  <a:pt x="6860213" y="0"/>
                  <a:pt x="6879167" y="18953"/>
                  <a:pt x="6879167" y="42333"/>
                </a:cubicBezTo>
                <a:lnTo>
                  <a:pt x="6879167" y="296333"/>
                </a:lnTo>
                <a:cubicBezTo>
                  <a:pt x="6879167" y="319713"/>
                  <a:pt x="6860213" y="338667"/>
                  <a:pt x="6836833" y="338667"/>
                </a:cubicBezTo>
                <a:lnTo>
                  <a:pt x="42333" y="338667"/>
                </a:lnTo>
                <a:cubicBezTo>
                  <a:pt x="18953" y="338667"/>
                  <a:pt x="0" y="319713"/>
                  <a:pt x="0" y="29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99500" y="4064000"/>
            <a:ext cx="6773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可通过版本数或</a:t>
            </a:r>
            <a:r>
              <a:rPr lang="en-US" sz="1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TTL</a:t>
            </a:r>
            <a:r>
              <a:rPr lang="en-US" sz="1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控制历史版本保留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87833" y="4572000"/>
            <a:ext cx="7133167" cy="719667"/>
          </a:xfrm>
          <a:custGeom>
            <a:avLst/>
            <a:gdLst/>
            <a:ahLst/>
            <a:cxnLst/>
            <a:rect l="l" t="t" r="r" b="b"/>
            <a:pathLst>
              <a:path w="7133167" h="719667">
                <a:moveTo>
                  <a:pt x="42331" y="0"/>
                </a:moveTo>
                <a:lnTo>
                  <a:pt x="7090836" y="0"/>
                </a:lnTo>
                <a:cubicBezTo>
                  <a:pt x="7114215" y="0"/>
                  <a:pt x="7133167" y="18952"/>
                  <a:pt x="7133167" y="42331"/>
                </a:cubicBezTo>
                <a:lnTo>
                  <a:pt x="7133167" y="677336"/>
                </a:lnTo>
                <a:cubicBezTo>
                  <a:pt x="7133167" y="700715"/>
                  <a:pt x="7114215" y="719667"/>
                  <a:pt x="7090836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14833" y="4714875"/>
            <a:ext cx="95746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列(</a:t>
            </a:r>
            <a:r>
              <a:rPr lang="en-US" sz="1333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Column</a:t>
            </a:r>
            <a:r>
              <a:rPr lang="en-US" sz="1333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14833" y="4953000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列族下的具体列,动态扩展,无需预定义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55000" y="5672667"/>
            <a:ext cx="7577667" cy="3217333"/>
          </a:xfrm>
          <a:custGeom>
            <a:avLst/>
            <a:gdLst/>
            <a:ahLst/>
            <a:cxnLst/>
            <a:rect l="l" t="t" r="r" b="b"/>
            <a:pathLst>
              <a:path w="7577667" h="3217333">
                <a:moveTo>
                  <a:pt x="42333" y="0"/>
                </a:moveTo>
                <a:lnTo>
                  <a:pt x="7492986" y="0"/>
                </a:lnTo>
                <a:cubicBezTo>
                  <a:pt x="7539754" y="0"/>
                  <a:pt x="7577667" y="37913"/>
                  <a:pt x="7577667" y="84680"/>
                </a:cubicBezTo>
                <a:lnTo>
                  <a:pt x="7577667" y="3132653"/>
                </a:lnTo>
                <a:cubicBezTo>
                  <a:pt x="7577667" y="3179421"/>
                  <a:pt x="7539754" y="3217333"/>
                  <a:pt x="7492986" y="3217333"/>
                </a:cubicBezTo>
                <a:lnTo>
                  <a:pt x="42333" y="3217333"/>
                </a:lnTo>
                <a:cubicBezTo>
                  <a:pt x="18953" y="3217333"/>
                  <a:pt x="0" y="3198380"/>
                  <a:pt x="0" y="317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255000" y="5672667"/>
            <a:ext cx="42333" cy="3217333"/>
          </a:xfrm>
          <a:custGeom>
            <a:avLst/>
            <a:gdLst/>
            <a:ahLst/>
            <a:cxnLst/>
            <a:rect l="l" t="t" r="r" b="b"/>
            <a:pathLst>
              <a:path w="42333" h="3217333">
                <a:moveTo>
                  <a:pt x="42333" y="0"/>
                </a:moveTo>
                <a:lnTo>
                  <a:pt x="42333" y="0"/>
                </a:lnTo>
                <a:lnTo>
                  <a:pt x="42333" y="3217333"/>
                </a:lnTo>
                <a:lnTo>
                  <a:pt x="42333" y="3217333"/>
                </a:lnTo>
                <a:cubicBezTo>
                  <a:pt x="18953" y="3217333"/>
                  <a:pt x="0" y="3198380"/>
                  <a:pt x="0" y="3175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519583" y="5926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805333" y="5884333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数据模型示例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87833" y="6350000"/>
            <a:ext cx="7133167" cy="2328333"/>
          </a:xfrm>
          <a:custGeom>
            <a:avLst/>
            <a:gdLst/>
            <a:ahLst/>
            <a:cxnLst/>
            <a:rect l="l" t="t" r="r" b="b"/>
            <a:pathLst>
              <a:path w="7133167" h="2328333">
                <a:moveTo>
                  <a:pt x="84658" y="0"/>
                </a:moveTo>
                <a:lnTo>
                  <a:pt x="7048508" y="0"/>
                </a:lnTo>
                <a:cubicBezTo>
                  <a:pt x="7095264" y="0"/>
                  <a:pt x="7133167" y="37903"/>
                  <a:pt x="7133167" y="84658"/>
                </a:cubicBezTo>
                <a:lnTo>
                  <a:pt x="7133167" y="2243675"/>
                </a:lnTo>
                <a:cubicBezTo>
                  <a:pt x="7133167" y="2290431"/>
                  <a:pt x="7095264" y="2328333"/>
                  <a:pt x="7048508" y="2328333"/>
                </a:cubicBezTo>
                <a:lnTo>
                  <a:pt x="84658" y="2328333"/>
                </a:lnTo>
                <a:cubicBezTo>
                  <a:pt x="37903" y="2328333"/>
                  <a:pt x="0" y="2290431"/>
                  <a:pt x="0" y="2243675"/>
                </a:cubicBezTo>
                <a:lnTo>
                  <a:pt x="0" y="84658"/>
                </a:lnTo>
                <a:cubicBezTo>
                  <a:pt x="0" y="37903"/>
                  <a:pt x="37903" y="0"/>
                  <a:pt x="8465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657167" y="6519333"/>
            <a:ext cx="6794500" cy="381000"/>
          </a:xfrm>
          <a:custGeom>
            <a:avLst/>
            <a:gdLst/>
            <a:ahLst/>
            <a:cxnLst/>
            <a:rect l="l" t="t" r="r" b="b"/>
            <a:pathLst>
              <a:path w="6794500" h="381000">
                <a:moveTo>
                  <a:pt x="42333" y="0"/>
                </a:moveTo>
                <a:lnTo>
                  <a:pt x="6752167" y="0"/>
                </a:lnTo>
                <a:cubicBezTo>
                  <a:pt x="6775547" y="0"/>
                  <a:pt x="6794500" y="18953"/>
                  <a:pt x="6794500" y="42333"/>
                </a:cubicBezTo>
                <a:lnTo>
                  <a:pt x="6794500" y="338667"/>
                </a:lnTo>
                <a:cubicBezTo>
                  <a:pt x="6794500" y="362047"/>
                  <a:pt x="6775547" y="381000"/>
                  <a:pt x="6752167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657167" y="6519333"/>
            <a:ext cx="6868583" cy="38100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RowKey: user123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826500" y="6985000"/>
            <a:ext cx="6625167" cy="719667"/>
          </a:xfrm>
          <a:custGeom>
            <a:avLst/>
            <a:gdLst/>
            <a:ahLst/>
            <a:cxnLst/>
            <a:rect l="l" t="t" r="r" b="b"/>
            <a:pathLst>
              <a:path w="6625167" h="719667">
                <a:moveTo>
                  <a:pt x="42331" y="0"/>
                </a:moveTo>
                <a:lnTo>
                  <a:pt x="6582836" y="0"/>
                </a:lnTo>
                <a:cubicBezTo>
                  <a:pt x="6606215" y="0"/>
                  <a:pt x="6625167" y="18952"/>
                  <a:pt x="6625167" y="42331"/>
                </a:cubicBezTo>
                <a:lnTo>
                  <a:pt x="6625167" y="677336"/>
                </a:lnTo>
                <a:cubicBezTo>
                  <a:pt x="6625167" y="700715"/>
                  <a:pt x="6606215" y="719667"/>
                  <a:pt x="6582836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911167" y="7074958"/>
            <a:ext cx="772997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列族: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info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080500" y="7281333"/>
            <a:ext cx="6350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name: "Alice" (ts=1000)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age: "25" (ts=1000)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826500" y="7789333"/>
            <a:ext cx="6625167" cy="719667"/>
          </a:xfrm>
          <a:custGeom>
            <a:avLst/>
            <a:gdLst/>
            <a:ahLst/>
            <a:cxnLst/>
            <a:rect l="l" t="t" r="r" b="b"/>
            <a:pathLst>
              <a:path w="6625167" h="719667">
                <a:moveTo>
                  <a:pt x="42331" y="0"/>
                </a:moveTo>
                <a:lnTo>
                  <a:pt x="6582836" y="0"/>
                </a:lnTo>
                <a:cubicBezTo>
                  <a:pt x="6606215" y="0"/>
                  <a:pt x="6625167" y="18952"/>
                  <a:pt x="6625167" y="42331"/>
                </a:cubicBezTo>
                <a:lnTo>
                  <a:pt x="6625167" y="677336"/>
                </a:lnTo>
                <a:cubicBezTo>
                  <a:pt x="6625167" y="700715"/>
                  <a:pt x="6606215" y="719667"/>
                  <a:pt x="6582836" y="719667"/>
                </a:cubicBezTo>
                <a:lnTo>
                  <a:pt x="42331" y="719667"/>
                </a:lnTo>
                <a:cubicBezTo>
                  <a:pt x="18952" y="719667"/>
                  <a:pt x="0" y="700715"/>
                  <a:pt x="0" y="677336"/>
                </a:cubicBezTo>
                <a:lnTo>
                  <a:pt x="0" y="42331"/>
                </a:lnTo>
                <a:cubicBezTo>
                  <a:pt x="0" y="18952"/>
                  <a:pt x="18952" y="0"/>
                  <a:pt x="4233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911167" y="7879292"/>
            <a:ext cx="772997" cy="195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列族: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order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080500" y="8085667"/>
            <a:ext cx="6350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amount: "100" (ts=1001)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E1E3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product: "phone" (ts=1001)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962" y="469487"/>
            <a:ext cx="1525834" cy="375590"/>
          </a:xfrm>
          <a:custGeom>
            <a:avLst/>
            <a:gdLst/>
            <a:ahLst/>
            <a:cxnLst/>
            <a:rect l="l" t="t" r="r" b="b"/>
            <a:pathLst>
              <a:path w="1525834" h="375590">
                <a:moveTo>
                  <a:pt x="0" y="0"/>
                </a:moveTo>
                <a:lnTo>
                  <a:pt x="1525834" y="0"/>
                </a:lnTo>
                <a:lnTo>
                  <a:pt x="1525834" y="375590"/>
                </a:lnTo>
                <a:lnTo>
                  <a:pt x="0" y="37559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2962" y="469487"/>
            <a:ext cx="46949" cy="375590"/>
          </a:xfrm>
          <a:custGeom>
            <a:avLst/>
            <a:gdLst/>
            <a:ahLst/>
            <a:cxnLst/>
            <a:rect l="l" t="t" r="r" b="b"/>
            <a:pathLst>
              <a:path w="46949" h="375590">
                <a:moveTo>
                  <a:pt x="0" y="0"/>
                </a:moveTo>
                <a:lnTo>
                  <a:pt x="46949" y="0"/>
                </a:lnTo>
                <a:lnTo>
                  <a:pt x="46949" y="375590"/>
                </a:lnTo>
                <a:lnTo>
                  <a:pt x="0" y="37559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7282" y="534042"/>
            <a:ext cx="1317774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kern="0" spc="74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09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9487" y="938975"/>
            <a:ext cx="15528295" cy="46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r>
              <a:rPr lang="en-US" sz="3327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系统架构:</a:t>
            </a:r>
            <a:r>
              <a:rPr lang="en-US" sz="332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HMaster/RegionServer/ZooKeeper/HDFS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9487" y="1619731"/>
            <a:ext cx="3685476" cy="3169040"/>
          </a:xfrm>
          <a:custGeom>
            <a:avLst/>
            <a:gdLst/>
            <a:ahLst/>
            <a:cxnLst/>
            <a:rect l="l" t="t" r="r" b="b"/>
            <a:pathLst>
              <a:path w="3685476" h="3169040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3075141"/>
                </a:lnTo>
                <a:cubicBezTo>
                  <a:pt x="3685476" y="3127000"/>
                  <a:pt x="3643436" y="3169040"/>
                  <a:pt x="3591577" y="3169040"/>
                </a:cubicBezTo>
                <a:lnTo>
                  <a:pt x="93899" y="3169040"/>
                </a:lnTo>
                <a:cubicBezTo>
                  <a:pt x="42040" y="3169040"/>
                  <a:pt x="0" y="3127000"/>
                  <a:pt x="0" y="3075141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9487" y="1619731"/>
            <a:ext cx="3685476" cy="46949"/>
          </a:xfrm>
          <a:custGeom>
            <a:avLst/>
            <a:gdLst/>
            <a:ahLst/>
            <a:cxnLst/>
            <a:rect l="l" t="t" r="r" b="b"/>
            <a:pathLst>
              <a:path w="3685476" h="46949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46949"/>
                </a:lnTo>
                <a:lnTo>
                  <a:pt x="0" y="46949"/>
                </a:ln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984868" y="1877949"/>
            <a:ext cx="657282" cy="657282"/>
          </a:xfrm>
          <a:custGeom>
            <a:avLst/>
            <a:gdLst/>
            <a:ahLst/>
            <a:cxnLst/>
            <a:rect l="l" t="t" r="r" b="b"/>
            <a:pathLst>
              <a:path w="657282" h="657282">
                <a:moveTo>
                  <a:pt x="328641" y="0"/>
                </a:moveTo>
                <a:lnTo>
                  <a:pt x="328641" y="0"/>
                </a:lnTo>
                <a:cubicBezTo>
                  <a:pt x="510023" y="0"/>
                  <a:pt x="657282" y="147259"/>
                  <a:pt x="657282" y="328641"/>
                </a:cubicBezTo>
                <a:lnTo>
                  <a:pt x="657282" y="328641"/>
                </a:lnTo>
                <a:cubicBezTo>
                  <a:pt x="657282" y="510023"/>
                  <a:pt x="510023" y="657282"/>
                  <a:pt x="328641" y="657282"/>
                </a:cubicBezTo>
                <a:lnTo>
                  <a:pt x="328641" y="657282"/>
                </a:lnTo>
                <a:cubicBezTo>
                  <a:pt x="147259" y="657282"/>
                  <a:pt x="0" y="510023"/>
                  <a:pt x="0" y="328641"/>
                </a:cubicBezTo>
                <a:lnTo>
                  <a:pt x="0" y="328641"/>
                </a:lnTo>
                <a:cubicBezTo>
                  <a:pt x="0" y="147259"/>
                  <a:pt x="147259" y="0"/>
                  <a:pt x="32864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14445" y="1877949"/>
            <a:ext cx="798129" cy="657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8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HM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5545" y="2629129"/>
            <a:ext cx="3333360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HMaster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231" y="3098617"/>
            <a:ext cx="330988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角色: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管理节点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231" y="3474206"/>
            <a:ext cx="3309886" cy="563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分配、负载均衡、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DDL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操作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7705" y="4131489"/>
            <a:ext cx="3192514" cy="422539"/>
          </a:xfrm>
          <a:custGeom>
            <a:avLst/>
            <a:gdLst/>
            <a:ahLst/>
            <a:cxnLst/>
            <a:rect l="l" t="t" r="r" b="b"/>
            <a:pathLst>
              <a:path w="3192514" h="422539">
                <a:moveTo>
                  <a:pt x="46948" y="0"/>
                </a:moveTo>
                <a:lnTo>
                  <a:pt x="3145566" y="0"/>
                </a:lnTo>
                <a:cubicBezTo>
                  <a:pt x="3171495" y="0"/>
                  <a:pt x="3192514" y="21019"/>
                  <a:pt x="3192514" y="46948"/>
                </a:cubicBezTo>
                <a:lnTo>
                  <a:pt x="3192514" y="375590"/>
                </a:lnTo>
                <a:cubicBezTo>
                  <a:pt x="3192514" y="401519"/>
                  <a:pt x="3171495" y="422539"/>
                  <a:pt x="3145566" y="422539"/>
                </a:cubicBezTo>
                <a:lnTo>
                  <a:pt x="46948" y="422539"/>
                </a:lnTo>
                <a:cubicBezTo>
                  <a:pt x="21019" y="422539"/>
                  <a:pt x="0" y="401519"/>
                  <a:pt x="0" y="375590"/>
                </a:cubicBezTo>
                <a:lnTo>
                  <a:pt x="0" y="46948"/>
                </a:lnTo>
                <a:cubicBezTo>
                  <a:pt x="0" y="21037"/>
                  <a:pt x="21037" y="0"/>
                  <a:pt x="46948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27705" y="4131489"/>
            <a:ext cx="46949" cy="422539"/>
          </a:xfrm>
          <a:custGeom>
            <a:avLst/>
            <a:gdLst/>
            <a:ahLst/>
            <a:cxnLst/>
            <a:rect l="l" t="t" r="r" b="b"/>
            <a:pathLst>
              <a:path w="46949" h="422539">
                <a:moveTo>
                  <a:pt x="46949" y="0"/>
                </a:moveTo>
                <a:lnTo>
                  <a:pt x="46949" y="0"/>
                </a:lnTo>
                <a:lnTo>
                  <a:pt x="46949" y="422539"/>
                </a:lnTo>
                <a:lnTo>
                  <a:pt x="46949" y="422539"/>
                </a:lnTo>
                <a:cubicBezTo>
                  <a:pt x="21020" y="422539"/>
                  <a:pt x="0" y="401519"/>
                  <a:pt x="0" y="375590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5077" y="4231255"/>
            <a:ext cx="450598" cy="217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61014" y="4207781"/>
            <a:ext cx="1244142" cy="264087"/>
          </a:xfrm>
          <a:custGeom>
            <a:avLst/>
            <a:gdLst/>
            <a:ahLst/>
            <a:cxnLst/>
            <a:rect l="l" t="t" r="r" b="b"/>
            <a:pathLst>
              <a:path w="1244142" h="264087">
                <a:moveTo>
                  <a:pt x="0" y="0"/>
                </a:moveTo>
                <a:lnTo>
                  <a:pt x="1244142" y="0"/>
                </a:lnTo>
                <a:lnTo>
                  <a:pt x="1244142" y="264087"/>
                </a:lnTo>
                <a:lnTo>
                  <a:pt x="0" y="264087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61014" y="4207781"/>
            <a:ext cx="1326302" cy="264087"/>
          </a:xfrm>
          <a:prstGeom prst="rect">
            <a:avLst/>
          </a:prstGeom>
          <a:noFill/>
          <a:ln/>
        </p:spPr>
        <p:txBody>
          <a:bodyPr wrap="square" lIns="46949" tIns="23474" rIns="46949" bIns="23474" rtlCol="0" anchor="ctr"/>
          <a:lstStyle/>
          <a:p>
            <a:pPr>
              <a:lnSpc>
                <a:spcPct val="12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不参与读写路径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45326" y="1619731"/>
            <a:ext cx="3685476" cy="3169040"/>
          </a:xfrm>
          <a:custGeom>
            <a:avLst/>
            <a:gdLst/>
            <a:ahLst/>
            <a:cxnLst/>
            <a:rect l="l" t="t" r="r" b="b"/>
            <a:pathLst>
              <a:path w="3685476" h="3169040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3075141"/>
                </a:lnTo>
                <a:cubicBezTo>
                  <a:pt x="3685476" y="3127000"/>
                  <a:pt x="3643436" y="3169040"/>
                  <a:pt x="3591577" y="3169040"/>
                </a:cubicBezTo>
                <a:lnTo>
                  <a:pt x="93899" y="3169040"/>
                </a:lnTo>
                <a:cubicBezTo>
                  <a:pt x="42040" y="3169040"/>
                  <a:pt x="0" y="3127000"/>
                  <a:pt x="0" y="3075141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45326" y="1619731"/>
            <a:ext cx="3685476" cy="46949"/>
          </a:xfrm>
          <a:custGeom>
            <a:avLst/>
            <a:gdLst/>
            <a:ahLst/>
            <a:cxnLst/>
            <a:rect l="l" t="t" r="r" b="b"/>
            <a:pathLst>
              <a:path w="3685476" h="46949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46949"/>
                </a:lnTo>
                <a:lnTo>
                  <a:pt x="0" y="46949"/>
                </a:ln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60706" y="1877949"/>
            <a:ext cx="657282" cy="657282"/>
          </a:xfrm>
          <a:custGeom>
            <a:avLst/>
            <a:gdLst/>
            <a:ahLst/>
            <a:cxnLst/>
            <a:rect l="l" t="t" r="r" b="b"/>
            <a:pathLst>
              <a:path w="657282" h="657282">
                <a:moveTo>
                  <a:pt x="328641" y="0"/>
                </a:moveTo>
                <a:lnTo>
                  <a:pt x="328641" y="0"/>
                </a:lnTo>
                <a:cubicBezTo>
                  <a:pt x="510023" y="0"/>
                  <a:pt x="657282" y="147259"/>
                  <a:pt x="657282" y="328641"/>
                </a:cubicBezTo>
                <a:lnTo>
                  <a:pt x="657282" y="328641"/>
                </a:lnTo>
                <a:cubicBezTo>
                  <a:pt x="657282" y="510023"/>
                  <a:pt x="510023" y="657282"/>
                  <a:pt x="328641" y="657282"/>
                </a:cubicBezTo>
                <a:lnTo>
                  <a:pt x="328641" y="657282"/>
                </a:lnTo>
                <a:cubicBezTo>
                  <a:pt x="147259" y="657282"/>
                  <a:pt x="0" y="510023"/>
                  <a:pt x="0" y="328641"/>
                </a:cubicBezTo>
                <a:lnTo>
                  <a:pt x="0" y="328641"/>
                </a:lnTo>
                <a:cubicBezTo>
                  <a:pt x="0" y="147259"/>
                  <a:pt x="147259" y="0"/>
                  <a:pt x="32864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90283" y="1877949"/>
            <a:ext cx="798129" cy="657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8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RS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21383" y="2629129"/>
            <a:ext cx="3333360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RegionServer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80069" y="3098617"/>
            <a:ext cx="330988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角色: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工作节点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80069" y="3474206"/>
            <a:ext cx="330988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处理读写请求,管理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80069" y="3849796"/>
            <a:ext cx="3215988" cy="422539"/>
          </a:xfrm>
          <a:custGeom>
            <a:avLst/>
            <a:gdLst/>
            <a:ahLst/>
            <a:cxnLst/>
            <a:rect l="l" t="t" r="r" b="b"/>
            <a:pathLst>
              <a:path w="3215988" h="422539">
                <a:moveTo>
                  <a:pt x="46948" y="0"/>
                </a:moveTo>
                <a:lnTo>
                  <a:pt x="3169040" y="0"/>
                </a:lnTo>
                <a:cubicBezTo>
                  <a:pt x="3194969" y="0"/>
                  <a:pt x="3215988" y="21019"/>
                  <a:pt x="3215988" y="46948"/>
                </a:cubicBezTo>
                <a:lnTo>
                  <a:pt x="3215988" y="375590"/>
                </a:lnTo>
                <a:cubicBezTo>
                  <a:pt x="3215988" y="401519"/>
                  <a:pt x="3194969" y="422539"/>
                  <a:pt x="3169040" y="422539"/>
                </a:cubicBezTo>
                <a:lnTo>
                  <a:pt x="46948" y="422539"/>
                </a:lnTo>
                <a:cubicBezTo>
                  <a:pt x="21019" y="422539"/>
                  <a:pt x="0" y="401519"/>
                  <a:pt x="0" y="375590"/>
                </a:cubicBezTo>
                <a:lnTo>
                  <a:pt x="0" y="46948"/>
                </a:lnTo>
                <a:cubicBezTo>
                  <a:pt x="0" y="21037"/>
                  <a:pt x="21037" y="0"/>
                  <a:pt x="4694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73967" y="3943694"/>
            <a:ext cx="3110354" cy="23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关键: 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Split/Compact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操作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1164" y="1619731"/>
            <a:ext cx="3685476" cy="3169040"/>
          </a:xfrm>
          <a:custGeom>
            <a:avLst/>
            <a:gdLst/>
            <a:ahLst/>
            <a:cxnLst/>
            <a:rect l="l" t="t" r="r" b="b"/>
            <a:pathLst>
              <a:path w="3685476" h="3169040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3075141"/>
                </a:lnTo>
                <a:cubicBezTo>
                  <a:pt x="3685476" y="3127000"/>
                  <a:pt x="3643436" y="3169040"/>
                  <a:pt x="3591577" y="3169040"/>
                </a:cubicBezTo>
                <a:lnTo>
                  <a:pt x="93899" y="3169040"/>
                </a:lnTo>
                <a:cubicBezTo>
                  <a:pt x="42040" y="3169040"/>
                  <a:pt x="0" y="3127000"/>
                  <a:pt x="0" y="3075141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21164" y="1619731"/>
            <a:ext cx="3685476" cy="46949"/>
          </a:xfrm>
          <a:custGeom>
            <a:avLst/>
            <a:gdLst/>
            <a:ahLst/>
            <a:cxnLst/>
            <a:rect l="l" t="t" r="r" b="b"/>
            <a:pathLst>
              <a:path w="3685476" h="46949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46949"/>
                </a:lnTo>
                <a:lnTo>
                  <a:pt x="0" y="46949"/>
                </a:ln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36544" y="1877949"/>
            <a:ext cx="657282" cy="657282"/>
          </a:xfrm>
          <a:custGeom>
            <a:avLst/>
            <a:gdLst/>
            <a:ahLst/>
            <a:cxnLst/>
            <a:rect l="l" t="t" r="r" b="b"/>
            <a:pathLst>
              <a:path w="657282" h="657282">
                <a:moveTo>
                  <a:pt x="328641" y="0"/>
                </a:moveTo>
                <a:lnTo>
                  <a:pt x="328641" y="0"/>
                </a:lnTo>
                <a:cubicBezTo>
                  <a:pt x="510023" y="0"/>
                  <a:pt x="657282" y="147259"/>
                  <a:pt x="657282" y="328641"/>
                </a:cubicBezTo>
                <a:lnTo>
                  <a:pt x="657282" y="328641"/>
                </a:lnTo>
                <a:cubicBezTo>
                  <a:pt x="657282" y="510023"/>
                  <a:pt x="510023" y="657282"/>
                  <a:pt x="328641" y="657282"/>
                </a:cubicBezTo>
                <a:lnTo>
                  <a:pt x="328641" y="657282"/>
                </a:lnTo>
                <a:cubicBezTo>
                  <a:pt x="147259" y="657282"/>
                  <a:pt x="0" y="510023"/>
                  <a:pt x="0" y="328641"/>
                </a:cubicBezTo>
                <a:lnTo>
                  <a:pt x="0" y="328641"/>
                </a:lnTo>
                <a:cubicBezTo>
                  <a:pt x="0" y="147259"/>
                  <a:pt x="147259" y="0"/>
                  <a:pt x="32864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66121" y="1877949"/>
            <a:ext cx="798129" cy="657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8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ZK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97222" y="2629129"/>
            <a:ext cx="3333360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55908" y="3098617"/>
            <a:ext cx="330988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角色: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协调节点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5908" y="3474206"/>
            <a:ext cx="330988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选主、状态监控、元数据入口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55908" y="3849796"/>
            <a:ext cx="3215988" cy="434276"/>
          </a:xfrm>
          <a:custGeom>
            <a:avLst/>
            <a:gdLst/>
            <a:ahLst/>
            <a:cxnLst/>
            <a:rect l="l" t="t" r="r" b="b"/>
            <a:pathLst>
              <a:path w="3215988" h="434276">
                <a:moveTo>
                  <a:pt x="46950" y="0"/>
                </a:moveTo>
                <a:lnTo>
                  <a:pt x="3169039" y="0"/>
                </a:lnTo>
                <a:cubicBezTo>
                  <a:pt x="3194968" y="0"/>
                  <a:pt x="3215988" y="21020"/>
                  <a:pt x="3215988" y="46950"/>
                </a:cubicBezTo>
                <a:lnTo>
                  <a:pt x="3215988" y="387326"/>
                </a:lnTo>
                <a:cubicBezTo>
                  <a:pt x="3215988" y="413256"/>
                  <a:pt x="3194968" y="434276"/>
                  <a:pt x="3169039" y="434276"/>
                </a:cubicBezTo>
                <a:lnTo>
                  <a:pt x="46950" y="434276"/>
                </a:lnTo>
                <a:cubicBezTo>
                  <a:pt x="21020" y="434276"/>
                  <a:pt x="0" y="413256"/>
                  <a:pt x="0" y="387326"/>
                </a:cubicBezTo>
                <a:lnTo>
                  <a:pt x="0" y="46950"/>
                </a:lnTo>
                <a:cubicBezTo>
                  <a:pt x="0" y="21037"/>
                  <a:pt x="21037" y="0"/>
                  <a:pt x="469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49805" y="3943694"/>
            <a:ext cx="3110354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关键: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highlight>
                  <a:srgbClr val="5A6472">
                    <a:alpha val="30000"/>
                  </a:srgbClr>
                </a:highlight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hbase:meta 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位置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097002" y="1619731"/>
            <a:ext cx="3685476" cy="3169040"/>
          </a:xfrm>
          <a:custGeom>
            <a:avLst/>
            <a:gdLst/>
            <a:ahLst/>
            <a:cxnLst/>
            <a:rect l="l" t="t" r="r" b="b"/>
            <a:pathLst>
              <a:path w="3685476" h="3169040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3075141"/>
                </a:lnTo>
                <a:cubicBezTo>
                  <a:pt x="3685476" y="3127000"/>
                  <a:pt x="3643436" y="3169040"/>
                  <a:pt x="3591577" y="3169040"/>
                </a:cubicBezTo>
                <a:lnTo>
                  <a:pt x="93899" y="3169040"/>
                </a:lnTo>
                <a:cubicBezTo>
                  <a:pt x="42040" y="3169040"/>
                  <a:pt x="0" y="3127000"/>
                  <a:pt x="0" y="3075141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097002" y="1619731"/>
            <a:ext cx="3685476" cy="46949"/>
          </a:xfrm>
          <a:custGeom>
            <a:avLst/>
            <a:gdLst/>
            <a:ahLst/>
            <a:cxnLst/>
            <a:rect l="l" t="t" r="r" b="b"/>
            <a:pathLst>
              <a:path w="3685476" h="46949">
                <a:moveTo>
                  <a:pt x="46949" y="0"/>
                </a:moveTo>
                <a:lnTo>
                  <a:pt x="3638527" y="0"/>
                </a:lnTo>
                <a:cubicBezTo>
                  <a:pt x="3664456" y="0"/>
                  <a:pt x="3685476" y="21020"/>
                  <a:pt x="3685476" y="46949"/>
                </a:cubicBezTo>
                <a:lnTo>
                  <a:pt x="3685476" y="46949"/>
                </a:lnTo>
                <a:lnTo>
                  <a:pt x="0" y="46949"/>
                </a:ln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3612383" y="1877949"/>
            <a:ext cx="657282" cy="657282"/>
          </a:xfrm>
          <a:custGeom>
            <a:avLst/>
            <a:gdLst/>
            <a:ahLst/>
            <a:cxnLst/>
            <a:rect l="l" t="t" r="r" b="b"/>
            <a:pathLst>
              <a:path w="657282" h="657282">
                <a:moveTo>
                  <a:pt x="328641" y="0"/>
                </a:moveTo>
                <a:lnTo>
                  <a:pt x="328641" y="0"/>
                </a:lnTo>
                <a:cubicBezTo>
                  <a:pt x="510023" y="0"/>
                  <a:pt x="657282" y="147259"/>
                  <a:pt x="657282" y="328641"/>
                </a:cubicBezTo>
                <a:lnTo>
                  <a:pt x="657282" y="328641"/>
                </a:lnTo>
                <a:cubicBezTo>
                  <a:pt x="657282" y="510023"/>
                  <a:pt x="510023" y="657282"/>
                  <a:pt x="328641" y="657282"/>
                </a:cubicBezTo>
                <a:lnTo>
                  <a:pt x="328641" y="657282"/>
                </a:lnTo>
                <a:cubicBezTo>
                  <a:pt x="147259" y="657282"/>
                  <a:pt x="0" y="510023"/>
                  <a:pt x="0" y="328641"/>
                </a:cubicBezTo>
                <a:lnTo>
                  <a:pt x="0" y="328641"/>
                </a:lnTo>
                <a:cubicBezTo>
                  <a:pt x="0" y="147259"/>
                  <a:pt x="147259" y="0"/>
                  <a:pt x="32864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541960" y="1877949"/>
            <a:ext cx="798129" cy="657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18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HDFS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273060" y="2629129"/>
            <a:ext cx="3333360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31746" y="3098617"/>
            <a:ext cx="330988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角色: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底层存储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331746" y="3474206"/>
            <a:ext cx="3309886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职责: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持久化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331746" y="3849796"/>
            <a:ext cx="3215988" cy="422539"/>
          </a:xfrm>
          <a:custGeom>
            <a:avLst/>
            <a:gdLst/>
            <a:ahLst/>
            <a:cxnLst/>
            <a:rect l="l" t="t" r="r" b="b"/>
            <a:pathLst>
              <a:path w="3215988" h="422539">
                <a:moveTo>
                  <a:pt x="46948" y="0"/>
                </a:moveTo>
                <a:lnTo>
                  <a:pt x="3169040" y="0"/>
                </a:lnTo>
                <a:cubicBezTo>
                  <a:pt x="3194969" y="0"/>
                  <a:pt x="3215988" y="21019"/>
                  <a:pt x="3215988" y="46948"/>
                </a:cubicBezTo>
                <a:lnTo>
                  <a:pt x="3215988" y="375590"/>
                </a:lnTo>
                <a:cubicBezTo>
                  <a:pt x="3215988" y="401519"/>
                  <a:pt x="3194969" y="422539"/>
                  <a:pt x="3169040" y="422539"/>
                </a:cubicBezTo>
                <a:lnTo>
                  <a:pt x="46948" y="422539"/>
                </a:lnTo>
                <a:cubicBezTo>
                  <a:pt x="21019" y="422539"/>
                  <a:pt x="0" y="401519"/>
                  <a:pt x="0" y="375590"/>
                </a:cubicBezTo>
                <a:lnTo>
                  <a:pt x="0" y="46948"/>
                </a:lnTo>
                <a:cubicBezTo>
                  <a:pt x="0" y="21037"/>
                  <a:pt x="21037" y="0"/>
                  <a:pt x="4694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425643" y="3943694"/>
            <a:ext cx="3110354" cy="23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关键: 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存储实际数据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5356" y="4982435"/>
            <a:ext cx="15305288" cy="3673739"/>
          </a:xfrm>
          <a:custGeom>
            <a:avLst/>
            <a:gdLst/>
            <a:ahLst/>
            <a:cxnLst/>
            <a:rect l="l" t="t" r="r" b="b"/>
            <a:pathLst>
              <a:path w="15305288" h="3673739">
                <a:moveTo>
                  <a:pt x="93901" y="0"/>
                </a:moveTo>
                <a:lnTo>
                  <a:pt x="15211387" y="0"/>
                </a:lnTo>
                <a:cubicBezTo>
                  <a:pt x="15263247" y="0"/>
                  <a:pt x="15305288" y="42041"/>
                  <a:pt x="15305288" y="93901"/>
                </a:cubicBezTo>
                <a:lnTo>
                  <a:pt x="15305288" y="3579838"/>
                </a:lnTo>
                <a:cubicBezTo>
                  <a:pt x="15305288" y="3631698"/>
                  <a:pt x="15263247" y="3673739"/>
                  <a:pt x="15211387" y="3673739"/>
                </a:cubicBezTo>
                <a:lnTo>
                  <a:pt x="93901" y="3673739"/>
                </a:lnTo>
                <a:cubicBezTo>
                  <a:pt x="42041" y="3673739"/>
                  <a:pt x="0" y="3631698"/>
                  <a:pt x="0" y="3579838"/>
                </a:cubicBezTo>
                <a:lnTo>
                  <a:pt x="0" y="93901"/>
                </a:lnTo>
                <a:cubicBezTo>
                  <a:pt x="0" y="42076"/>
                  <a:pt x="42076" y="0"/>
                  <a:pt x="9390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51180" y="5269996"/>
            <a:ext cx="281692" cy="281692"/>
          </a:xfrm>
          <a:custGeom>
            <a:avLst/>
            <a:gdLst/>
            <a:ahLst/>
            <a:cxnLst/>
            <a:rect l="l" t="t" r="r" b="b"/>
            <a:pathLst>
              <a:path w="281692" h="281692">
                <a:moveTo>
                  <a:pt x="140846" y="281692"/>
                </a:moveTo>
                <a:cubicBezTo>
                  <a:pt x="218581" y="281692"/>
                  <a:pt x="281692" y="218581"/>
                  <a:pt x="281692" y="140846"/>
                </a:cubicBezTo>
                <a:cubicBezTo>
                  <a:pt x="281692" y="63111"/>
                  <a:pt x="218581" y="0"/>
                  <a:pt x="140846" y="0"/>
                </a:cubicBezTo>
                <a:cubicBezTo>
                  <a:pt x="63111" y="0"/>
                  <a:pt x="0" y="63111"/>
                  <a:pt x="0" y="140846"/>
                </a:cubicBezTo>
                <a:cubicBezTo>
                  <a:pt x="0" y="218581"/>
                  <a:pt x="63111" y="281692"/>
                  <a:pt x="140846" y="281692"/>
                </a:cubicBezTo>
                <a:close/>
                <a:moveTo>
                  <a:pt x="140846" y="74825"/>
                </a:moveTo>
                <a:cubicBezTo>
                  <a:pt x="148164" y="74825"/>
                  <a:pt x="154051" y="80711"/>
                  <a:pt x="154051" y="88029"/>
                </a:cubicBezTo>
                <a:lnTo>
                  <a:pt x="154051" y="149649"/>
                </a:lnTo>
                <a:cubicBezTo>
                  <a:pt x="154051" y="156966"/>
                  <a:pt x="148164" y="162853"/>
                  <a:pt x="140846" y="162853"/>
                </a:cubicBezTo>
                <a:cubicBezTo>
                  <a:pt x="133529" y="162853"/>
                  <a:pt x="127642" y="156966"/>
                  <a:pt x="127642" y="149649"/>
                </a:cubicBezTo>
                <a:lnTo>
                  <a:pt x="127642" y="88029"/>
                </a:lnTo>
                <a:cubicBezTo>
                  <a:pt x="127642" y="80711"/>
                  <a:pt x="133529" y="74825"/>
                  <a:pt x="140846" y="74825"/>
                </a:cubicBezTo>
                <a:close/>
                <a:moveTo>
                  <a:pt x="126156" y="193664"/>
                </a:moveTo>
                <a:cubicBezTo>
                  <a:pt x="125822" y="188211"/>
                  <a:pt x="128541" y="183023"/>
                  <a:pt x="133216" y="180196"/>
                </a:cubicBezTo>
                <a:cubicBezTo>
                  <a:pt x="137890" y="177368"/>
                  <a:pt x="143747" y="177368"/>
                  <a:pt x="148422" y="180196"/>
                </a:cubicBezTo>
                <a:cubicBezTo>
                  <a:pt x="153096" y="183023"/>
                  <a:pt x="155815" y="188211"/>
                  <a:pt x="155481" y="193664"/>
                </a:cubicBezTo>
                <a:cubicBezTo>
                  <a:pt x="155815" y="199116"/>
                  <a:pt x="153096" y="204304"/>
                  <a:pt x="148422" y="207131"/>
                </a:cubicBezTo>
                <a:cubicBezTo>
                  <a:pt x="143747" y="209959"/>
                  <a:pt x="137890" y="209959"/>
                  <a:pt x="133216" y="207131"/>
                </a:cubicBezTo>
                <a:cubicBezTo>
                  <a:pt x="128541" y="204304"/>
                  <a:pt x="125822" y="199116"/>
                  <a:pt x="126156" y="193664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68084" y="5223047"/>
            <a:ext cx="14612794" cy="37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1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易错点与关键理解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15968" y="5739483"/>
            <a:ext cx="7288791" cy="1267616"/>
          </a:xfrm>
          <a:custGeom>
            <a:avLst/>
            <a:gdLst/>
            <a:ahLst/>
            <a:cxnLst/>
            <a:rect l="l" t="t" r="r" b="b"/>
            <a:pathLst>
              <a:path w="7288791" h="1267616">
                <a:moveTo>
                  <a:pt x="46952" y="0"/>
                </a:moveTo>
                <a:lnTo>
                  <a:pt x="7241839" y="0"/>
                </a:lnTo>
                <a:cubicBezTo>
                  <a:pt x="7267770" y="0"/>
                  <a:pt x="7288791" y="21021"/>
                  <a:pt x="7288791" y="46952"/>
                </a:cubicBezTo>
                <a:lnTo>
                  <a:pt x="7288791" y="1220663"/>
                </a:lnTo>
                <a:cubicBezTo>
                  <a:pt x="7288791" y="1246595"/>
                  <a:pt x="7267770" y="1267616"/>
                  <a:pt x="7241839" y="1267616"/>
                </a:cubicBezTo>
                <a:lnTo>
                  <a:pt x="46952" y="1267616"/>
                </a:lnTo>
                <a:cubicBezTo>
                  <a:pt x="21021" y="1267616"/>
                  <a:pt x="0" y="1246595"/>
                  <a:pt x="0" y="1220663"/>
                </a:cubicBezTo>
                <a:lnTo>
                  <a:pt x="0" y="46952"/>
                </a:lnTo>
                <a:cubicBezTo>
                  <a:pt x="0" y="21039"/>
                  <a:pt x="21039" y="0"/>
                  <a:pt x="4695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56814" y="5880329"/>
            <a:ext cx="7112734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HMaster</a:t>
            </a:r>
            <a:r>
              <a:rPr lang="en-US" sz="1664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不参与读写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6814" y="6255919"/>
            <a:ext cx="7100996" cy="610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客户端直接连接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获取元数据,然后连接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RegionServer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读写数据。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HMaster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宕机短时间内不影响读写。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15968" y="7147945"/>
            <a:ext cx="7288791" cy="1267616"/>
          </a:xfrm>
          <a:custGeom>
            <a:avLst/>
            <a:gdLst/>
            <a:ahLst/>
            <a:cxnLst/>
            <a:rect l="l" t="t" r="r" b="b"/>
            <a:pathLst>
              <a:path w="7288791" h="1267616">
                <a:moveTo>
                  <a:pt x="46952" y="0"/>
                </a:moveTo>
                <a:lnTo>
                  <a:pt x="7241839" y="0"/>
                </a:lnTo>
                <a:cubicBezTo>
                  <a:pt x="7267770" y="0"/>
                  <a:pt x="7288791" y="21021"/>
                  <a:pt x="7288791" y="46952"/>
                </a:cubicBezTo>
                <a:lnTo>
                  <a:pt x="7288791" y="1220663"/>
                </a:lnTo>
                <a:cubicBezTo>
                  <a:pt x="7288791" y="1246595"/>
                  <a:pt x="7267770" y="1267616"/>
                  <a:pt x="7241839" y="1267616"/>
                </a:cubicBezTo>
                <a:lnTo>
                  <a:pt x="46952" y="1267616"/>
                </a:lnTo>
                <a:cubicBezTo>
                  <a:pt x="21021" y="1267616"/>
                  <a:pt x="0" y="1246595"/>
                  <a:pt x="0" y="1220663"/>
                </a:cubicBezTo>
                <a:lnTo>
                  <a:pt x="0" y="46952"/>
                </a:lnTo>
                <a:cubicBezTo>
                  <a:pt x="0" y="21039"/>
                  <a:pt x="21039" y="0"/>
                  <a:pt x="4695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56814" y="7288791"/>
            <a:ext cx="7112734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 vs Store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56814" y="7664381"/>
            <a:ext cx="7100996" cy="610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是分布式存储和负载均衡的最小单元;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Store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是物理存储的最小单元(一个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Column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Family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对应一个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Store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44638" y="5739483"/>
            <a:ext cx="7288791" cy="1455411"/>
          </a:xfrm>
          <a:custGeom>
            <a:avLst/>
            <a:gdLst/>
            <a:ahLst/>
            <a:cxnLst/>
            <a:rect l="l" t="t" r="r" b="b"/>
            <a:pathLst>
              <a:path w="7288791" h="1455411">
                <a:moveTo>
                  <a:pt x="46952" y="0"/>
                </a:moveTo>
                <a:lnTo>
                  <a:pt x="7241840" y="0"/>
                </a:lnTo>
                <a:cubicBezTo>
                  <a:pt x="7267770" y="0"/>
                  <a:pt x="7288791" y="21021"/>
                  <a:pt x="7288791" y="46952"/>
                </a:cubicBezTo>
                <a:lnTo>
                  <a:pt x="7288791" y="1408459"/>
                </a:lnTo>
                <a:cubicBezTo>
                  <a:pt x="7288791" y="1434390"/>
                  <a:pt x="7267770" y="1455411"/>
                  <a:pt x="7241840" y="1455411"/>
                </a:cubicBezTo>
                <a:lnTo>
                  <a:pt x="46952" y="1455411"/>
                </a:lnTo>
                <a:cubicBezTo>
                  <a:pt x="21021" y="1455411"/>
                  <a:pt x="0" y="1434390"/>
                  <a:pt x="0" y="1408459"/>
                </a:cubicBezTo>
                <a:lnTo>
                  <a:pt x="0" y="46952"/>
                </a:lnTo>
                <a:cubicBezTo>
                  <a:pt x="0" y="21038"/>
                  <a:pt x="21038" y="0"/>
                  <a:pt x="4695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385484" y="5880329"/>
            <a:ext cx="7112734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客户端读写流程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85484" y="6255919"/>
            <a:ext cx="7089259" cy="269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 客户端通过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找到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hbase:meta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表位置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85484" y="6522940"/>
            <a:ext cx="7089259" cy="269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 从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meta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表获取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所在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RegionServer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385484" y="6789961"/>
            <a:ext cx="7089259" cy="269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 直连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RegionServer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读写数据,无需经过</a:t>
            </a:r>
            <a:r>
              <a:rPr lang="en-US" sz="129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HMaster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268113" y="7338674"/>
            <a:ext cx="7265317" cy="586859"/>
          </a:xfrm>
          <a:custGeom>
            <a:avLst/>
            <a:gdLst/>
            <a:ahLst/>
            <a:cxnLst/>
            <a:rect l="l" t="t" r="r" b="b"/>
            <a:pathLst>
              <a:path w="7265317" h="586859">
                <a:moveTo>
                  <a:pt x="46949" y="0"/>
                </a:moveTo>
                <a:lnTo>
                  <a:pt x="7218368" y="0"/>
                </a:lnTo>
                <a:cubicBezTo>
                  <a:pt x="7244297" y="0"/>
                  <a:pt x="7265317" y="21020"/>
                  <a:pt x="7265317" y="46949"/>
                </a:cubicBezTo>
                <a:lnTo>
                  <a:pt x="7265317" y="539910"/>
                </a:lnTo>
                <a:cubicBezTo>
                  <a:pt x="7265317" y="565840"/>
                  <a:pt x="7244297" y="586859"/>
                  <a:pt x="7218368" y="586859"/>
                </a:cubicBezTo>
                <a:lnTo>
                  <a:pt x="46949" y="586859"/>
                </a:lnTo>
                <a:cubicBezTo>
                  <a:pt x="21020" y="586859"/>
                  <a:pt x="0" y="565840"/>
                  <a:pt x="0" y="539910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268113" y="7338674"/>
            <a:ext cx="46949" cy="586859"/>
          </a:xfrm>
          <a:custGeom>
            <a:avLst/>
            <a:gdLst/>
            <a:ahLst/>
            <a:cxnLst/>
            <a:rect l="l" t="t" r="r" b="b"/>
            <a:pathLst>
              <a:path w="46949" h="586859">
                <a:moveTo>
                  <a:pt x="46949" y="0"/>
                </a:moveTo>
                <a:lnTo>
                  <a:pt x="46949" y="0"/>
                </a:lnTo>
                <a:lnTo>
                  <a:pt x="46949" y="586859"/>
                </a:lnTo>
                <a:lnTo>
                  <a:pt x="46949" y="586859"/>
                </a:lnTo>
                <a:cubicBezTo>
                  <a:pt x="21020" y="586859"/>
                  <a:pt x="0" y="565840"/>
                  <a:pt x="0" y="539910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432433" y="7479521"/>
            <a:ext cx="7054048" cy="30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79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考点: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r>
              <a:rPr lang="en-US" sz="1479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架构组件职责是高频考点,务必理解清晰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8839" y="436989"/>
            <a:ext cx="1420215" cy="349591"/>
          </a:xfrm>
          <a:custGeom>
            <a:avLst/>
            <a:gdLst/>
            <a:ahLst/>
            <a:cxnLst/>
            <a:rect l="l" t="t" r="r" b="b"/>
            <a:pathLst>
              <a:path w="1420215" h="349591">
                <a:moveTo>
                  <a:pt x="0" y="0"/>
                </a:moveTo>
                <a:lnTo>
                  <a:pt x="1420215" y="0"/>
                </a:lnTo>
                <a:lnTo>
                  <a:pt x="1420215" y="349591"/>
                </a:lnTo>
                <a:lnTo>
                  <a:pt x="0" y="349591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8839" y="436989"/>
            <a:ext cx="43699" cy="349591"/>
          </a:xfrm>
          <a:custGeom>
            <a:avLst/>
            <a:gdLst/>
            <a:ahLst/>
            <a:cxnLst/>
            <a:rect l="l" t="t" r="r" b="b"/>
            <a:pathLst>
              <a:path w="43699" h="349591">
                <a:moveTo>
                  <a:pt x="0" y="0"/>
                </a:moveTo>
                <a:lnTo>
                  <a:pt x="43699" y="0"/>
                </a:lnTo>
                <a:lnTo>
                  <a:pt x="43699" y="349591"/>
                </a:lnTo>
                <a:lnTo>
                  <a:pt x="0" y="349591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1785" y="497075"/>
            <a:ext cx="1226557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kern="0" spc="6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09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36989" y="873978"/>
            <a:ext cx="15578667" cy="4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9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LSM-Tree:</a:t>
            </a:r>
            <a:r>
              <a:rPr lang="en-US" sz="3097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写入流程与</a:t>
            </a:r>
            <a:r>
              <a:rPr lang="en-US" sz="309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3097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8839" y="1485763"/>
            <a:ext cx="7559914" cy="4184172"/>
          </a:xfrm>
          <a:custGeom>
            <a:avLst/>
            <a:gdLst/>
            <a:ahLst/>
            <a:cxnLst/>
            <a:rect l="l" t="t" r="r" b="b"/>
            <a:pathLst>
              <a:path w="7559914" h="4184172">
                <a:moveTo>
                  <a:pt x="43699" y="0"/>
                </a:moveTo>
                <a:lnTo>
                  <a:pt x="7472507" y="0"/>
                </a:lnTo>
                <a:cubicBezTo>
                  <a:pt x="7520780" y="0"/>
                  <a:pt x="7559914" y="39134"/>
                  <a:pt x="7559914" y="87407"/>
                </a:cubicBezTo>
                <a:lnTo>
                  <a:pt x="7559914" y="4096765"/>
                </a:lnTo>
                <a:cubicBezTo>
                  <a:pt x="7559914" y="4145038"/>
                  <a:pt x="7520780" y="4184172"/>
                  <a:pt x="7472507" y="4184172"/>
                </a:cubicBezTo>
                <a:lnTo>
                  <a:pt x="43699" y="4184172"/>
                </a:lnTo>
                <a:cubicBezTo>
                  <a:pt x="19565" y="4184172"/>
                  <a:pt x="0" y="4164607"/>
                  <a:pt x="0" y="4140473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8839" y="1485763"/>
            <a:ext cx="43699" cy="4184172"/>
          </a:xfrm>
          <a:custGeom>
            <a:avLst/>
            <a:gdLst/>
            <a:ahLst/>
            <a:cxnLst/>
            <a:rect l="l" t="t" r="r" b="b"/>
            <a:pathLst>
              <a:path w="43699" h="4184172">
                <a:moveTo>
                  <a:pt x="43699" y="0"/>
                </a:moveTo>
                <a:lnTo>
                  <a:pt x="43699" y="0"/>
                </a:lnTo>
                <a:lnTo>
                  <a:pt x="43699" y="4184172"/>
                </a:lnTo>
                <a:lnTo>
                  <a:pt x="43699" y="4184172"/>
                </a:lnTo>
                <a:cubicBezTo>
                  <a:pt x="19565" y="4184172"/>
                  <a:pt x="0" y="4164607"/>
                  <a:pt x="0" y="4140473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957" y="1747957"/>
            <a:ext cx="262194" cy="262194"/>
          </a:xfrm>
          <a:custGeom>
            <a:avLst/>
            <a:gdLst/>
            <a:ahLst/>
            <a:cxnLst/>
            <a:rect l="l" t="t" r="r" b="b"/>
            <a:pathLst>
              <a:path w="262194" h="262194">
                <a:moveTo>
                  <a:pt x="241505" y="11112"/>
                </a:moveTo>
                <a:cubicBezTo>
                  <a:pt x="230290" y="-102"/>
                  <a:pt x="212162" y="-102"/>
                  <a:pt x="200947" y="11112"/>
                </a:cubicBezTo>
                <a:lnTo>
                  <a:pt x="188452" y="23608"/>
                </a:lnTo>
                <a:lnTo>
                  <a:pt x="238586" y="73742"/>
                </a:lnTo>
                <a:lnTo>
                  <a:pt x="251081" y="61247"/>
                </a:lnTo>
                <a:cubicBezTo>
                  <a:pt x="262296" y="50032"/>
                  <a:pt x="262296" y="31904"/>
                  <a:pt x="251081" y="20689"/>
                </a:cubicBezTo>
                <a:lnTo>
                  <a:pt x="241505" y="11112"/>
                </a:lnTo>
                <a:close/>
                <a:moveTo>
                  <a:pt x="88285" y="123774"/>
                </a:moveTo>
                <a:cubicBezTo>
                  <a:pt x="85162" y="126898"/>
                  <a:pt x="82755" y="130738"/>
                  <a:pt x="81372" y="134989"/>
                </a:cubicBezTo>
                <a:lnTo>
                  <a:pt x="66214" y="180463"/>
                </a:lnTo>
                <a:cubicBezTo>
                  <a:pt x="64729" y="184867"/>
                  <a:pt x="65907" y="189732"/>
                  <a:pt x="69184" y="193060"/>
                </a:cubicBezTo>
                <a:cubicBezTo>
                  <a:pt x="72462" y="196389"/>
                  <a:pt x="77327" y="197516"/>
                  <a:pt x="81782" y="196031"/>
                </a:cubicBezTo>
                <a:lnTo>
                  <a:pt x="127256" y="180873"/>
                </a:lnTo>
                <a:cubicBezTo>
                  <a:pt x="131455" y="179490"/>
                  <a:pt x="135296" y="177083"/>
                  <a:pt x="138471" y="173959"/>
                </a:cubicBezTo>
                <a:lnTo>
                  <a:pt x="221226" y="91102"/>
                </a:lnTo>
                <a:lnTo>
                  <a:pt x="171092" y="40968"/>
                </a:lnTo>
                <a:lnTo>
                  <a:pt x="88285" y="123774"/>
                </a:lnTo>
                <a:close/>
                <a:moveTo>
                  <a:pt x="49161" y="32774"/>
                </a:moveTo>
                <a:cubicBezTo>
                  <a:pt x="22020" y="32774"/>
                  <a:pt x="0" y="54794"/>
                  <a:pt x="0" y="81935"/>
                </a:cubicBezTo>
                <a:lnTo>
                  <a:pt x="0" y="213032"/>
                </a:lnTo>
                <a:cubicBezTo>
                  <a:pt x="0" y="240173"/>
                  <a:pt x="22020" y="262194"/>
                  <a:pt x="49161" y="262194"/>
                </a:cubicBezTo>
                <a:lnTo>
                  <a:pt x="180258" y="262194"/>
                </a:lnTo>
                <a:cubicBezTo>
                  <a:pt x="207399" y="262194"/>
                  <a:pt x="229419" y="240173"/>
                  <a:pt x="229419" y="213032"/>
                </a:cubicBezTo>
                <a:lnTo>
                  <a:pt x="229419" y="163871"/>
                </a:lnTo>
                <a:cubicBezTo>
                  <a:pt x="229419" y="154807"/>
                  <a:pt x="222096" y="147484"/>
                  <a:pt x="213032" y="147484"/>
                </a:cubicBezTo>
                <a:cubicBezTo>
                  <a:pt x="203968" y="147484"/>
                  <a:pt x="196645" y="154807"/>
                  <a:pt x="196645" y="163871"/>
                </a:cubicBezTo>
                <a:lnTo>
                  <a:pt x="196645" y="213032"/>
                </a:lnTo>
                <a:cubicBezTo>
                  <a:pt x="196645" y="222096"/>
                  <a:pt x="189322" y="229419"/>
                  <a:pt x="180258" y="229419"/>
                </a:cubicBezTo>
                <a:lnTo>
                  <a:pt x="49161" y="229419"/>
                </a:lnTo>
                <a:cubicBezTo>
                  <a:pt x="40097" y="229419"/>
                  <a:pt x="32774" y="222096"/>
                  <a:pt x="32774" y="213032"/>
                </a:cubicBezTo>
                <a:lnTo>
                  <a:pt x="32774" y="81935"/>
                </a:lnTo>
                <a:cubicBezTo>
                  <a:pt x="32774" y="72871"/>
                  <a:pt x="40097" y="65548"/>
                  <a:pt x="49161" y="65548"/>
                </a:cubicBezTo>
                <a:lnTo>
                  <a:pt x="98323" y="65548"/>
                </a:lnTo>
                <a:cubicBezTo>
                  <a:pt x="107387" y="65548"/>
                  <a:pt x="114710" y="58225"/>
                  <a:pt x="114710" y="49161"/>
                </a:cubicBezTo>
                <a:cubicBezTo>
                  <a:pt x="114710" y="40097"/>
                  <a:pt x="107387" y="32774"/>
                  <a:pt x="98323" y="32774"/>
                </a:cubicBezTo>
                <a:lnTo>
                  <a:pt x="49161" y="32774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6925" y="1704258"/>
            <a:ext cx="6904430" cy="34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写流程:</a:t>
            </a:r>
            <a:r>
              <a:rPr lang="en-US" sz="206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WAL → MemStore → Flush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9183" y="2184946"/>
            <a:ext cx="436989" cy="436989"/>
          </a:xfrm>
          <a:custGeom>
            <a:avLst/>
            <a:gdLst/>
            <a:ahLst/>
            <a:cxnLst/>
            <a:rect l="l" t="t" r="r" b="b"/>
            <a:pathLst>
              <a:path w="436989" h="436989">
                <a:moveTo>
                  <a:pt x="218495" y="0"/>
                </a:moveTo>
                <a:lnTo>
                  <a:pt x="218495" y="0"/>
                </a:lnTo>
                <a:cubicBezTo>
                  <a:pt x="339085" y="0"/>
                  <a:pt x="436989" y="97904"/>
                  <a:pt x="436989" y="218495"/>
                </a:cubicBezTo>
                <a:lnTo>
                  <a:pt x="436989" y="218495"/>
                </a:lnTo>
                <a:cubicBezTo>
                  <a:pt x="436989" y="339085"/>
                  <a:pt x="339085" y="436989"/>
                  <a:pt x="218495" y="436989"/>
                </a:cubicBezTo>
                <a:lnTo>
                  <a:pt x="218495" y="436989"/>
                </a:lnTo>
                <a:cubicBezTo>
                  <a:pt x="97904" y="436989"/>
                  <a:pt x="0" y="339085"/>
                  <a:pt x="0" y="218495"/>
                </a:cubicBezTo>
                <a:lnTo>
                  <a:pt x="0" y="218495"/>
                </a:lnTo>
                <a:cubicBezTo>
                  <a:pt x="0" y="97904"/>
                  <a:pt x="97904" y="0"/>
                  <a:pt x="21849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0022" y="2184946"/>
            <a:ext cx="535312" cy="4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7269" y="2206796"/>
            <a:ext cx="918190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</a:t>
            </a:r>
            <a:r>
              <a:rPr lang="en-US" sz="15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67269" y="2490839"/>
            <a:ext cx="4785032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先写入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Write-Ahead Log(WAL)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保证持久性,即使宕机也能恢复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9183" y="2884129"/>
            <a:ext cx="436989" cy="436989"/>
          </a:xfrm>
          <a:custGeom>
            <a:avLst/>
            <a:gdLst/>
            <a:ahLst/>
            <a:cxnLst/>
            <a:rect l="l" t="t" r="r" b="b"/>
            <a:pathLst>
              <a:path w="436989" h="436989">
                <a:moveTo>
                  <a:pt x="218495" y="0"/>
                </a:moveTo>
                <a:lnTo>
                  <a:pt x="218495" y="0"/>
                </a:lnTo>
                <a:cubicBezTo>
                  <a:pt x="339085" y="0"/>
                  <a:pt x="436989" y="97904"/>
                  <a:pt x="436989" y="218495"/>
                </a:cubicBezTo>
                <a:lnTo>
                  <a:pt x="436989" y="218495"/>
                </a:lnTo>
                <a:cubicBezTo>
                  <a:pt x="436989" y="339085"/>
                  <a:pt x="339085" y="436989"/>
                  <a:pt x="218495" y="436989"/>
                </a:cubicBezTo>
                <a:lnTo>
                  <a:pt x="218495" y="436989"/>
                </a:lnTo>
                <a:cubicBezTo>
                  <a:pt x="97904" y="436989"/>
                  <a:pt x="0" y="339085"/>
                  <a:pt x="0" y="218495"/>
                </a:cubicBezTo>
                <a:lnTo>
                  <a:pt x="0" y="218495"/>
                </a:lnTo>
                <a:cubicBezTo>
                  <a:pt x="0" y="97904"/>
                  <a:pt x="97904" y="0"/>
                  <a:pt x="21849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0022" y="2884129"/>
            <a:ext cx="535312" cy="4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7269" y="2905978"/>
            <a:ext cx="1429262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</a:t>
            </a:r>
            <a:r>
              <a:rPr lang="en-US" sz="15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MemStore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67269" y="3190022"/>
            <a:ext cx="3550538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写入内存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MemStore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,按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排序,提供快速查询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9183" y="3583312"/>
            <a:ext cx="436989" cy="436989"/>
          </a:xfrm>
          <a:custGeom>
            <a:avLst/>
            <a:gdLst/>
            <a:ahLst/>
            <a:cxnLst/>
            <a:rect l="l" t="t" r="r" b="b"/>
            <a:pathLst>
              <a:path w="436989" h="436989">
                <a:moveTo>
                  <a:pt x="218495" y="0"/>
                </a:moveTo>
                <a:lnTo>
                  <a:pt x="218495" y="0"/>
                </a:lnTo>
                <a:cubicBezTo>
                  <a:pt x="339085" y="0"/>
                  <a:pt x="436989" y="97904"/>
                  <a:pt x="436989" y="218495"/>
                </a:cubicBezTo>
                <a:lnTo>
                  <a:pt x="436989" y="218495"/>
                </a:lnTo>
                <a:cubicBezTo>
                  <a:pt x="436989" y="339085"/>
                  <a:pt x="339085" y="436989"/>
                  <a:pt x="218495" y="436989"/>
                </a:cubicBezTo>
                <a:lnTo>
                  <a:pt x="218495" y="436989"/>
                </a:lnTo>
                <a:cubicBezTo>
                  <a:pt x="97904" y="436989"/>
                  <a:pt x="0" y="339085"/>
                  <a:pt x="0" y="218495"/>
                </a:cubicBezTo>
                <a:lnTo>
                  <a:pt x="0" y="218495"/>
                </a:lnTo>
                <a:cubicBezTo>
                  <a:pt x="0" y="97904"/>
                  <a:pt x="97904" y="0"/>
                  <a:pt x="21849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0022" y="3583312"/>
            <a:ext cx="535312" cy="4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7269" y="3605161"/>
            <a:ext cx="1428665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Flush</a:t>
            </a:r>
            <a:r>
              <a:rPr lang="en-US" sz="154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生成</a:t>
            </a:r>
            <a:r>
              <a:rPr lang="en-US" sz="15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67269" y="3889204"/>
            <a:ext cx="3900129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MemStore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达到阈值触发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Flush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,生成磁盘文件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1032" y="4282495"/>
            <a:ext cx="7079226" cy="546237"/>
          </a:xfrm>
          <a:custGeom>
            <a:avLst/>
            <a:gdLst/>
            <a:ahLst/>
            <a:cxnLst/>
            <a:rect l="l" t="t" r="r" b="b"/>
            <a:pathLst>
              <a:path w="7079226" h="546237">
                <a:moveTo>
                  <a:pt x="43699" y="0"/>
                </a:moveTo>
                <a:lnTo>
                  <a:pt x="7035527" y="0"/>
                </a:lnTo>
                <a:cubicBezTo>
                  <a:pt x="7059661" y="0"/>
                  <a:pt x="7079226" y="19565"/>
                  <a:pt x="7079226" y="43699"/>
                </a:cubicBezTo>
                <a:lnTo>
                  <a:pt x="7079226" y="502538"/>
                </a:lnTo>
                <a:cubicBezTo>
                  <a:pt x="7079226" y="526672"/>
                  <a:pt x="7059661" y="546237"/>
                  <a:pt x="7035527" y="546237"/>
                </a:cubicBezTo>
                <a:lnTo>
                  <a:pt x="43699" y="546237"/>
                </a:lnTo>
                <a:cubicBezTo>
                  <a:pt x="19565" y="546237"/>
                  <a:pt x="0" y="526672"/>
                  <a:pt x="0" y="502538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1032" y="4282495"/>
            <a:ext cx="43699" cy="546237"/>
          </a:xfrm>
          <a:custGeom>
            <a:avLst/>
            <a:gdLst/>
            <a:ahLst/>
            <a:cxnLst/>
            <a:rect l="l" t="t" r="r" b="b"/>
            <a:pathLst>
              <a:path w="43699" h="546237">
                <a:moveTo>
                  <a:pt x="43699" y="0"/>
                </a:moveTo>
                <a:lnTo>
                  <a:pt x="43699" y="0"/>
                </a:lnTo>
                <a:lnTo>
                  <a:pt x="43699" y="546237"/>
                </a:lnTo>
                <a:lnTo>
                  <a:pt x="43699" y="546237"/>
                </a:lnTo>
                <a:cubicBezTo>
                  <a:pt x="19565" y="546237"/>
                  <a:pt x="0" y="526672"/>
                  <a:pt x="0" y="502538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3978" y="4413591"/>
            <a:ext cx="6882581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核心优势: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LSM-Tree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将随机写转换为顺序写,写性能极高,适合写多读少场景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59097" y="1485763"/>
            <a:ext cx="7559914" cy="4184172"/>
          </a:xfrm>
          <a:custGeom>
            <a:avLst/>
            <a:gdLst/>
            <a:ahLst/>
            <a:cxnLst/>
            <a:rect l="l" t="t" r="r" b="b"/>
            <a:pathLst>
              <a:path w="7559914" h="4184172">
                <a:moveTo>
                  <a:pt x="43699" y="0"/>
                </a:moveTo>
                <a:lnTo>
                  <a:pt x="7472507" y="0"/>
                </a:lnTo>
                <a:cubicBezTo>
                  <a:pt x="7520780" y="0"/>
                  <a:pt x="7559914" y="39134"/>
                  <a:pt x="7559914" y="87407"/>
                </a:cubicBezTo>
                <a:lnTo>
                  <a:pt x="7559914" y="4096765"/>
                </a:lnTo>
                <a:cubicBezTo>
                  <a:pt x="7559914" y="4145038"/>
                  <a:pt x="7520780" y="4184172"/>
                  <a:pt x="7472507" y="4184172"/>
                </a:cubicBezTo>
                <a:lnTo>
                  <a:pt x="43699" y="4184172"/>
                </a:lnTo>
                <a:cubicBezTo>
                  <a:pt x="19565" y="4184172"/>
                  <a:pt x="0" y="4164607"/>
                  <a:pt x="0" y="4140473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59097" y="1485763"/>
            <a:ext cx="43699" cy="4184172"/>
          </a:xfrm>
          <a:custGeom>
            <a:avLst/>
            <a:gdLst/>
            <a:ahLst/>
            <a:cxnLst/>
            <a:rect l="l" t="t" r="r" b="b"/>
            <a:pathLst>
              <a:path w="43699" h="4184172">
                <a:moveTo>
                  <a:pt x="43699" y="0"/>
                </a:moveTo>
                <a:lnTo>
                  <a:pt x="43699" y="0"/>
                </a:lnTo>
                <a:lnTo>
                  <a:pt x="43699" y="4184172"/>
                </a:lnTo>
                <a:lnTo>
                  <a:pt x="43699" y="4184172"/>
                </a:lnTo>
                <a:cubicBezTo>
                  <a:pt x="19565" y="4184172"/>
                  <a:pt x="0" y="4164607"/>
                  <a:pt x="0" y="4140473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32215" y="1747957"/>
            <a:ext cx="262194" cy="262194"/>
          </a:xfrm>
          <a:custGeom>
            <a:avLst/>
            <a:gdLst/>
            <a:ahLst/>
            <a:cxnLst/>
            <a:rect l="l" t="t" r="r" b="b"/>
            <a:pathLst>
              <a:path w="262194" h="262194">
                <a:moveTo>
                  <a:pt x="213032" y="106516"/>
                </a:moveTo>
                <a:cubicBezTo>
                  <a:pt x="213032" y="130021"/>
                  <a:pt x="205402" y="151734"/>
                  <a:pt x="192548" y="169350"/>
                </a:cubicBezTo>
                <a:lnTo>
                  <a:pt x="257380" y="234233"/>
                </a:lnTo>
                <a:cubicBezTo>
                  <a:pt x="263781" y="240634"/>
                  <a:pt x="263781" y="251030"/>
                  <a:pt x="257380" y="257431"/>
                </a:cubicBezTo>
                <a:cubicBezTo>
                  <a:pt x="250979" y="263832"/>
                  <a:pt x="240583" y="263832"/>
                  <a:pt x="234182" y="257431"/>
                </a:cubicBezTo>
                <a:lnTo>
                  <a:pt x="169350" y="192548"/>
                </a:lnTo>
                <a:cubicBezTo>
                  <a:pt x="151734" y="205402"/>
                  <a:pt x="130021" y="213032"/>
                  <a:pt x="106516" y="213032"/>
                </a:cubicBezTo>
                <a:cubicBezTo>
                  <a:pt x="47676" y="213032"/>
                  <a:pt x="0" y="165356"/>
                  <a:pt x="0" y="106516"/>
                </a:cubicBezTo>
                <a:cubicBezTo>
                  <a:pt x="0" y="47676"/>
                  <a:pt x="47676" y="0"/>
                  <a:pt x="106516" y="0"/>
                </a:cubicBezTo>
                <a:cubicBezTo>
                  <a:pt x="165356" y="0"/>
                  <a:pt x="213032" y="47676"/>
                  <a:pt x="213032" y="106516"/>
                </a:cubicBezTo>
                <a:close/>
                <a:moveTo>
                  <a:pt x="106516" y="180258"/>
                </a:moveTo>
                <a:cubicBezTo>
                  <a:pt x="147215" y="180258"/>
                  <a:pt x="180258" y="147215"/>
                  <a:pt x="180258" y="106516"/>
                </a:cubicBezTo>
                <a:cubicBezTo>
                  <a:pt x="180258" y="65817"/>
                  <a:pt x="147215" y="32774"/>
                  <a:pt x="106516" y="32774"/>
                </a:cubicBezTo>
                <a:cubicBezTo>
                  <a:pt x="65817" y="32774"/>
                  <a:pt x="32774" y="65817"/>
                  <a:pt x="32774" y="106516"/>
                </a:cubicBezTo>
                <a:cubicBezTo>
                  <a:pt x="32774" y="147215"/>
                  <a:pt x="65817" y="180258"/>
                  <a:pt x="106516" y="180258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27183" y="1704258"/>
            <a:ext cx="6904430" cy="34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5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读流程:</a:t>
            </a:r>
            <a:r>
              <a:rPr lang="en-US" sz="2065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BlockCache → MemStore → HFile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99441" y="2184946"/>
            <a:ext cx="7101075" cy="786581"/>
          </a:xfrm>
          <a:custGeom>
            <a:avLst/>
            <a:gdLst/>
            <a:ahLst/>
            <a:cxnLst/>
            <a:rect l="l" t="t" r="r" b="b"/>
            <a:pathLst>
              <a:path w="7101075" h="786581">
                <a:moveTo>
                  <a:pt x="43702" y="0"/>
                </a:moveTo>
                <a:lnTo>
                  <a:pt x="7057373" y="0"/>
                </a:lnTo>
                <a:cubicBezTo>
                  <a:pt x="7081509" y="0"/>
                  <a:pt x="7101075" y="19566"/>
                  <a:pt x="7101075" y="43702"/>
                </a:cubicBezTo>
                <a:lnTo>
                  <a:pt x="7101075" y="742878"/>
                </a:lnTo>
                <a:cubicBezTo>
                  <a:pt x="7101075" y="767014"/>
                  <a:pt x="7081509" y="786581"/>
                  <a:pt x="7057373" y="786581"/>
                </a:cubicBezTo>
                <a:lnTo>
                  <a:pt x="43702" y="786581"/>
                </a:lnTo>
                <a:cubicBezTo>
                  <a:pt x="19566" y="786581"/>
                  <a:pt x="0" y="767014"/>
                  <a:pt x="0" y="742878"/>
                </a:cubicBezTo>
                <a:lnTo>
                  <a:pt x="0" y="43702"/>
                </a:lnTo>
                <a:cubicBezTo>
                  <a:pt x="0" y="19582"/>
                  <a:pt x="19582" y="0"/>
                  <a:pt x="437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30538" y="2337892"/>
            <a:ext cx="1870177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BlockCache</a:t>
            </a:r>
            <a:r>
              <a:rPr lang="en-US" sz="154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(读缓存)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30538" y="2621935"/>
            <a:ext cx="6915355" cy="21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优先查询读缓存,缓存最近读取的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99441" y="3102624"/>
            <a:ext cx="7101075" cy="786581"/>
          </a:xfrm>
          <a:custGeom>
            <a:avLst/>
            <a:gdLst/>
            <a:ahLst/>
            <a:cxnLst/>
            <a:rect l="l" t="t" r="r" b="b"/>
            <a:pathLst>
              <a:path w="7101075" h="786581">
                <a:moveTo>
                  <a:pt x="43702" y="0"/>
                </a:moveTo>
                <a:lnTo>
                  <a:pt x="7057373" y="0"/>
                </a:lnTo>
                <a:cubicBezTo>
                  <a:pt x="7081509" y="0"/>
                  <a:pt x="7101075" y="19566"/>
                  <a:pt x="7101075" y="43702"/>
                </a:cubicBezTo>
                <a:lnTo>
                  <a:pt x="7101075" y="742878"/>
                </a:lnTo>
                <a:cubicBezTo>
                  <a:pt x="7101075" y="767014"/>
                  <a:pt x="7081509" y="786581"/>
                  <a:pt x="7057373" y="786581"/>
                </a:cubicBezTo>
                <a:lnTo>
                  <a:pt x="43702" y="786581"/>
                </a:lnTo>
                <a:cubicBezTo>
                  <a:pt x="19566" y="786581"/>
                  <a:pt x="0" y="767014"/>
                  <a:pt x="0" y="742878"/>
                </a:cubicBezTo>
                <a:lnTo>
                  <a:pt x="0" y="43702"/>
                </a:lnTo>
                <a:cubicBezTo>
                  <a:pt x="0" y="19582"/>
                  <a:pt x="19582" y="0"/>
                  <a:pt x="437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30538" y="3255570"/>
            <a:ext cx="1744714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MemStore</a:t>
            </a:r>
            <a:r>
              <a:rPr lang="en-US" sz="154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(写缓存)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30538" y="3539613"/>
            <a:ext cx="6915355" cy="21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查询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MemStore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中尚未刷盘的最新数据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99441" y="4020301"/>
            <a:ext cx="7101075" cy="786581"/>
          </a:xfrm>
          <a:custGeom>
            <a:avLst/>
            <a:gdLst/>
            <a:ahLst/>
            <a:cxnLst/>
            <a:rect l="l" t="t" r="r" b="b"/>
            <a:pathLst>
              <a:path w="7101075" h="786581">
                <a:moveTo>
                  <a:pt x="43702" y="0"/>
                </a:moveTo>
                <a:lnTo>
                  <a:pt x="7057373" y="0"/>
                </a:lnTo>
                <a:cubicBezTo>
                  <a:pt x="7081509" y="0"/>
                  <a:pt x="7101075" y="19566"/>
                  <a:pt x="7101075" y="43702"/>
                </a:cubicBezTo>
                <a:lnTo>
                  <a:pt x="7101075" y="742878"/>
                </a:lnTo>
                <a:cubicBezTo>
                  <a:pt x="7101075" y="767014"/>
                  <a:pt x="7081509" y="786581"/>
                  <a:pt x="7057373" y="786581"/>
                </a:cubicBezTo>
                <a:lnTo>
                  <a:pt x="43702" y="786581"/>
                </a:lnTo>
                <a:cubicBezTo>
                  <a:pt x="19566" y="786581"/>
                  <a:pt x="0" y="767014"/>
                  <a:pt x="0" y="742878"/>
                </a:cubicBezTo>
                <a:lnTo>
                  <a:pt x="0" y="43702"/>
                </a:lnTo>
                <a:cubicBezTo>
                  <a:pt x="0" y="19582"/>
                  <a:pt x="19582" y="0"/>
                  <a:pt x="437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30538" y="4173246"/>
            <a:ext cx="1261607" cy="28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54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(磁盘)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30538" y="4457290"/>
            <a:ext cx="6915355" cy="21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BloomFilter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快速判断行/列是否存在于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中,减少磁盘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I/O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521290" y="4937978"/>
            <a:ext cx="7079226" cy="513462"/>
          </a:xfrm>
          <a:custGeom>
            <a:avLst/>
            <a:gdLst/>
            <a:ahLst/>
            <a:cxnLst/>
            <a:rect l="l" t="t" r="r" b="b"/>
            <a:pathLst>
              <a:path w="7079226" h="513462">
                <a:moveTo>
                  <a:pt x="43699" y="0"/>
                </a:moveTo>
                <a:lnTo>
                  <a:pt x="7035525" y="0"/>
                </a:lnTo>
                <a:cubicBezTo>
                  <a:pt x="7059660" y="0"/>
                  <a:pt x="7079226" y="19566"/>
                  <a:pt x="7079226" y="43701"/>
                </a:cubicBezTo>
                <a:lnTo>
                  <a:pt x="7079226" y="469762"/>
                </a:lnTo>
                <a:cubicBezTo>
                  <a:pt x="7079226" y="493897"/>
                  <a:pt x="7059660" y="513462"/>
                  <a:pt x="7035525" y="513462"/>
                </a:cubicBezTo>
                <a:lnTo>
                  <a:pt x="43699" y="513462"/>
                </a:lnTo>
                <a:cubicBezTo>
                  <a:pt x="19565" y="513462"/>
                  <a:pt x="0" y="493898"/>
                  <a:pt x="0" y="469763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521290" y="4937978"/>
            <a:ext cx="43699" cy="513462"/>
          </a:xfrm>
          <a:custGeom>
            <a:avLst/>
            <a:gdLst/>
            <a:ahLst/>
            <a:cxnLst/>
            <a:rect l="l" t="t" r="r" b="b"/>
            <a:pathLst>
              <a:path w="43699" h="513462">
                <a:moveTo>
                  <a:pt x="43699" y="0"/>
                </a:moveTo>
                <a:lnTo>
                  <a:pt x="43699" y="0"/>
                </a:lnTo>
                <a:lnTo>
                  <a:pt x="43699" y="513462"/>
                </a:lnTo>
                <a:lnTo>
                  <a:pt x="43699" y="513462"/>
                </a:lnTo>
                <a:cubicBezTo>
                  <a:pt x="19565" y="513462"/>
                  <a:pt x="0" y="493898"/>
                  <a:pt x="0" y="469763"/>
                </a:cubicBezTo>
                <a:lnTo>
                  <a:pt x="0" y="43699"/>
                </a:lnTo>
                <a:cubicBezTo>
                  <a:pt x="0" y="19565"/>
                  <a:pt x="19565" y="0"/>
                  <a:pt x="4369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674237" y="5069075"/>
            <a:ext cx="6871656" cy="25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4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查询特点: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需要合并多个版本数据(从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MemStore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到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20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),返回最新版本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2452" y="5847462"/>
            <a:ext cx="15371097" cy="2851355"/>
          </a:xfrm>
          <a:custGeom>
            <a:avLst/>
            <a:gdLst/>
            <a:ahLst/>
            <a:cxnLst/>
            <a:rect l="l" t="t" r="r" b="b"/>
            <a:pathLst>
              <a:path w="15371097" h="2851355">
                <a:moveTo>
                  <a:pt x="87394" y="0"/>
                </a:moveTo>
                <a:lnTo>
                  <a:pt x="15283703" y="0"/>
                </a:lnTo>
                <a:cubicBezTo>
                  <a:pt x="15331969" y="0"/>
                  <a:pt x="15371097" y="39128"/>
                  <a:pt x="15371097" y="87394"/>
                </a:cubicBezTo>
                <a:lnTo>
                  <a:pt x="15371097" y="2763961"/>
                </a:lnTo>
                <a:cubicBezTo>
                  <a:pt x="15371097" y="2812227"/>
                  <a:pt x="15331969" y="2851355"/>
                  <a:pt x="15283703" y="2851355"/>
                </a:cubicBezTo>
                <a:lnTo>
                  <a:pt x="87394" y="2851355"/>
                </a:lnTo>
                <a:cubicBezTo>
                  <a:pt x="39128" y="2851355"/>
                  <a:pt x="0" y="2812227"/>
                  <a:pt x="0" y="2763961"/>
                </a:cubicBezTo>
                <a:lnTo>
                  <a:pt x="0" y="87394"/>
                </a:lnTo>
                <a:cubicBezTo>
                  <a:pt x="0" y="39160"/>
                  <a:pt x="39160" y="0"/>
                  <a:pt x="87394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99183" y="6115118"/>
            <a:ext cx="262194" cy="262194"/>
          </a:xfrm>
          <a:custGeom>
            <a:avLst/>
            <a:gdLst/>
            <a:ahLst/>
            <a:cxnLst/>
            <a:rect l="l" t="t" r="r" b="b"/>
            <a:pathLst>
              <a:path w="262194" h="262194">
                <a:moveTo>
                  <a:pt x="225067" y="3585"/>
                </a:moveTo>
                <a:cubicBezTo>
                  <a:pt x="229880" y="-1229"/>
                  <a:pt x="237664" y="-1229"/>
                  <a:pt x="242427" y="3585"/>
                </a:cubicBezTo>
                <a:lnTo>
                  <a:pt x="258814" y="19972"/>
                </a:lnTo>
                <a:cubicBezTo>
                  <a:pt x="263627" y="24785"/>
                  <a:pt x="263627" y="32569"/>
                  <a:pt x="258814" y="37332"/>
                </a:cubicBezTo>
                <a:lnTo>
                  <a:pt x="214261" y="81884"/>
                </a:lnTo>
                <a:lnTo>
                  <a:pt x="234233" y="101856"/>
                </a:lnTo>
                <a:cubicBezTo>
                  <a:pt x="237767" y="105390"/>
                  <a:pt x="238791" y="110664"/>
                  <a:pt x="236896" y="115273"/>
                </a:cubicBezTo>
                <a:cubicBezTo>
                  <a:pt x="235001" y="119882"/>
                  <a:pt x="230546" y="122903"/>
                  <a:pt x="225579" y="122903"/>
                </a:cubicBezTo>
                <a:lnTo>
                  <a:pt x="151837" y="122903"/>
                </a:lnTo>
                <a:cubicBezTo>
                  <a:pt x="145026" y="122903"/>
                  <a:pt x="139546" y="117424"/>
                  <a:pt x="139546" y="110613"/>
                </a:cubicBezTo>
                <a:lnTo>
                  <a:pt x="139546" y="36871"/>
                </a:lnTo>
                <a:cubicBezTo>
                  <a:pt x="139546" y="31904"/>
                  <a:pt x="142517" y="27397"/>
                  <a:pt x="147125" y="25502"/>
                </a:cubicBezTo>
                <a:cubicBezTo>
                  <a:pt x="151734" y="23608"/>
                  <a:pt x="157009" y="24632"/>
                  <a:pt x="160542" y="28165"/>
                </a:cubicBezTo>
                <a:lnTo>
                  <a:pt x="180514" y="48137"/>
                </a:lnTo>
                <a:lnTo>
                  <a:pt x="225067" y="3585"/>
                </a:lnTo>
                <a:close/>
                <a:moveTo>
                  <a:pt x="37127" y="139290"/>
                </a:moveTo>
                <a:lnTo>
                  <a:pt x="110869" y="139290"/>
                </a:lnTo>
                <a:cubicBezTo>
                  <a:pt x="117680" y="139290"/>
                  <a:pt x="123159" y="144770"/>
                  <a:pt x="123159" y="151581"/>
                </a:cubicBezTo>
                <a:lnTo>
                  <a:pt x="123159" y="225323"/>
                </a:lnTo>
                <a:cubicBezTo>
                  <a:pt x="123159" y="230290"/>
                  <a:pt x="120189" y="234796"/>
                  <a:pt x="115580" y="236691"/>
                </a:cubicBezTo>
                <a:cubicBezTo>
                  <a:pt x="110971" y="238586"/>
                  <a:pt x="105697" y="237562"/>
                  <a:pt x="102163" y="234028"/>
                </a:cubicBezTo>
                <a:lnTo>
                  <a:pt x="82192" y="214056"/>
                </a:lnTo>
                <a:lnTo>
                  <a:pt x="37639" y="258609"/>
                </a:lnTo>
                <a:cubicBezTo>
                  <a:pt x="32825" y="263423"/>
                  <a:pt x="25042" y="263423"/>
                  <a:pt x="20279" y="258609"/>
                </a:cubicBezTo>
                <a:lnTo>
                  <a:pt x="3892" y="242222"/>
                </a:lnTo>
                <a:cubicBezTo>
                  <a:pt x="-922" y="237408"/>
                  <a:pt x="-922" y="229624"/>
                  <a:pt x="3892" y="224862"/>
                </a:cubicBezTo>
                <a:lnTo>
                  <a:pt x="48444" y="180309"/>
                </a:lnTo>
                <a:lnTo>
                  <a:pt x="28473" y="160338"/>
                </a:lnTo>
                <a:cubicBezTo>
                  <a:pt x="24939" y="156804"/>
                  <a:pt x="23915" y="151529"/>
                  <a:pt x="25810" y="146921"/>
                </a:cubicBezTo>
                <a:cubicBezTo>
                  <a:pt x="27704" y="142312"/>
                  <a:pt x="32160" y="139290"/>
                  <a:pt x="37127" y="13929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94151" y="6071419"/>
            <a:ext cx="14726538" cy="34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65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206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机制:</a:t>
            </a:r>
            <a:r>
              <a:rPr lang="en-US" sz="2065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Minor vs Major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66409" y="6552108"/>
            <a:ext cx="7352344" cy="1922753"/>
          </a:xfrm>
          <a:custGeom>
            <a:avLst/>
            <a:gdLst/>
            <a:ahLst/>
            <a:cxnLst/>
            <a:rect l="l" t="t" r="r" b="b"/>
            <a:pathLst>
              <a:path w="7352344" h="1922753">
                <a:moveTo>
                  <a:pt x="43704" y="0"/>
                </a:moveTo>
                <a:lnTo>
                  <a:pt x="7308640" y="0"/>
                </a:lnTo>
                <a:cubicBezTo>
                  <a:pt x="7332777" y="0"/>
                  <a:pt x="7352344" y="19567"/>
                  <a:pt x="7352344" y="43704"/>
                </a:cubicBezTo>
                <a:lnTo>
                  <a:pt x="7352344" y="1879049"/>
                </a:lnTo>
                <a:cubicBezTo>
                  <a:pt x="7352344" y="1903186"/>
                  <a:pt x="7332777" y="1922753"/>
                  <a:pt x="7308640" y="1922753"/>
                </a:cubicBezTo>
                <a:lnTo>
                  <a:pt x="43704" y="1922753"/>
                </a:lnTo>
                <a:cubicBezTo>
                  <a:pt x="19567" y="1922753"/>
                  <a:pt x="0" y="1903186"/>
                  <a:pt x="0" y="1879049"/>
                </a:cubicBezTo>
                <a:lnTo>
                  <a:pt x="0" y="43704"/>
                </a:lnTo>
                <a:cubicBezTo>
                  <a:pt x="0" y="19583"/>
                  <a:pt x="19583" y="0"/>
                  <a:pt x="4370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190875" y="6726903"/>
            <a:ext cx="2305118" cy="480688"/>
          </a:xfrm>
          <a:custGeom>
            <a:avLst/>
            <a:gdLst/>
            <a:ahLst/>
            <a:cxnLst/>
            <a:rect l="l" t="t" r="r" b="b"/>
            <a:pathLst>
              <a:path w="2305118" h="480688">
                <a:moveTo>
                  <a:pt x="87399" y="0"/>
                </a:moveTo>
                <a:lnTo>
                  <a:pt x="2217720" y="0"/>
                </a:lnTo>
                <a:cubicBezTo>
                  <a:pt x="2265989" y="0"/>
                  <a:pt x="2305118" y="39130"/>
                  <a:pt x="2305118" y="87399"/>
                </a:cubicBezTo>
                <a:lnTo>
                  <a:pt x="2305118" y="393289"/>
                </a:lnTo>
                <a:cubicBezTo>
                  <a:pt x="2305118" y="441558"/>
                  <a:pt x="2265989" y="480688"/>
                  <a:pt x="2217720" y="480688"/>
                </a:cubicBezTo>
                <a:lnTo>
                  <a:pt x="87399" y="480688"/>
                </a:lnTo>
                <a:cubicBezTo>
                  <a:pt x="39130" y="480688"/>
                  <a:pt x="0" y="441558"/>
                  <a:pt x="0" y="393289"/>
                </a:cubicBezTo>
                <a:lnTo>
                  <a:pt x="0" y="87399"/>
                </a:lnTo>
                <a:cubicBezTo>
                  <a:pt x="0" y="39130"/>
                  <a:pt x="39130" y="0"/>
                  <a:pt x="8739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136251" y="6726903"/>
            <a:ext cx="2414366" cy="480688"/>
          </a:xfrm>
          <a:prstGeom prst="rect">
            <a:avLst/>
          </a:prstGeom>
          <a:noFill/>
          <a:ln/>
        </p:spPr>
        <p:txBody>
          <a:bodyPr wrap="square" lIns="174796" tIns="87398" rIns="174796" bIns="87398" rtlCol="0" anchor="ctr"/>
          <a:lstStyle/>
          <a:p>
            <a:pPr algn="ctr">
              <a:lnSpc>
                <a:spcPct val="120000"/>
              </a:lnSpc>
            </a:pPr>
            <a:r>
              <a:rPr lang="en-US" sz="1720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Minor Compaction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1204" y="7338688"/>
            <a:ext cx="709015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合并少量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,减少文件数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1204" y="7688280"/>
            <a:ext cx="709015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不清理过期/删除数据,开销小,频繁触发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1204" y="8037871"/>
            <a:ext cx="709015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影响: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提升读性能,减少文件句柄占用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37247" y="6552108"/>
            <a:ext cx="7352344" cy="1922753"/>
          </a:xfrm>
          <a:custGeom>
            <a:avLst/>
            <a:gdLst/>
            <a:ahLst/>
            <a:cxnLst/>
            <a:rect l="l" t="t" r="r" b="b"/>
            <a:pathLst>
              <a:path w="7352344" h="1922753">
                <a:moveTo>
                  <a:pt x="43704" y="0"/>
                </a:moveTo>
                <a:lnTo>
                  <a:pt x="7308640" y="0"/>
                </a:lnTo>
                <a:cubicBezTo>
                  <a:pt x="7332777" y="0"/>
                  <a:pt x="7352344" y="19567"/>
                  <a:pt x="7352344" y="43704"/>
                </a:cubicBezTo>
                <a:lnTo>
                  <a:pt x="7352344" y="1879049"/>
                </a:lnTo>
                <a:cubicBezTo>
                  <a:pt x="7352344" y="1903186"/>
                  <a:pt x="7332777" y="1922753"/>
                  <a:pt x="7308640" y="1922753"/>
                </a:cubicBezTo>
                <a:lnTo>
                  <a:pt x="43704" y="1922753"/>
                </a:lnTo>
                <a:cubicBezTo>
                  <a:pt x="19567" y="1922753"/>
                  <a:pt x="0" y="1903186"/>
                  <a:pt x="0" y="1879049"/>
                </a:cubicBezTo>
                <a:lnTo>
                  <a:pt x="0" y="43704"/>
                </a:lnTo>
                <a:cubicBezTo>
                  <a:pt x="0" y="19583"/>
                  <a:pt x="19583" y="0"/>
                  <a:pt x="43704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757019" y="6726903"/>
            <a:ext cx="2316043" cy="480688"/>
          </a:xfrm>
          <a:custGeom>
            <a:avLst/>
            <a:gdLst/>
            <a:ahLst/>
            <a:cxnLst/>
            <a:rect l="l" t="t" r="r" b="b"/>
            <a:pathLst>
              <a:path w="2316043" h="480688">
                <a:moveTo>
                  <a:pt x="87399" y="0"/>
                </a:moveTo>
                <a:lnTo>
                  <a:pt x="2228644" y="0"/>
                </a:lnTo>
                <a:cubicBezTo>
                  <a:pt x="2276913" y="0"/>
                  <a:pt x="2316043" y="39130"/>
                  <a:pt x="2316043" y="87399"/>
                </a:cubicBezTo>
                <a:lnTo>
                  <a:pt x="2316043" y="393289"/>
                </a:lnTo>
                <a:cubicBezTo>
                  <a:pt x="2316043" y="441558"/>
                  <a:pt x="2276913" y="480688"/>
                  <a:pt x="2228644" y="480688"/>
                </a:cubicBezTo>
                <a:lnTo>
                  <a:pt x="87399" y="480688"/>
                </a:lnTo>
                <a:cubicBezTo>
                  <a:pt x="39130" y="480688"/>
                  <a:pt x="0" y="441558"/>
                  <a:pt x="0" y="393289"/>
                </a:cubicBezTo>
                <a:lnTo>
                  <a:pt x="0" y="87399"/>
                </a:lnTo>
                <a:cubicBezTo>
                  <a:pt x="0" y="39130"/>
                  <a:pt x="39130" y="0"/>
                  <a:pt x="8739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702396" y="6726903"/>
            <a:ext cx="2425290" cy="480688"/>
          </a:xfrm>
          <a:prstGeom prst="rect">
            <a:avLst/>
          </a:prstGeom>
          <a:noFill/>
          <a:ln/>
        </p:spPr>
        <p:txBody>
          <a:bodyPr wrap="square" lIns="174796" tIns="87398" rIns="174796" bIns="87398" rtlCol="0" anchor="ctr"/>
          <a:lstStyle/>
          <a:p>
            <a:pPr algn="ctr">
              <a:lnSpc>
                <a:spcPct val="120000"/>
              </a:lnSpc>
            </a:pPr>
            <a:r>
              <a:rPr lang="en-US" sz="172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Major Compaction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412043" y="7338688"/>
            <a:ext cx="709015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合并所有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HFile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为一个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12043" y="7688280"/>
            <a:ext cx="709015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清理过期/删除数据,开销大,手动或低峰期触发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12043" y="8037871"/>
            <a:ext cx="7090151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影响:</a:t>
            </a:r>
            <a:r>
              <a:rPr lang="en-US" sz="137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释放存储空间,提升读性能,但消耗大量I/O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51000" cy="406400"/>
          </a:xfrm>
          <a:custGeom>
            <a:avLst/>
            <a:gdLst/>
            <a:ahLst/>
            <a:cxnLst/>
            <a:rect l="l" t="t" r="r" b="b"/>
            <a:pathLst>
              <a:path w="1651000" h="406400">
                <a:moveTo>
                  <a:pt x="0" y="0"/>
                </a:moveTo>
                <a:lnTo>
                  <a:pt x="1651000" y="0"/>
                </a:lnTo>
                <a:lnTo>
                  <a:pt x="16510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1200" y="577850"/>
            <a:ext cx="142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09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RowKey设计与列族优化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52600"/>
            <a:ext cx="7493000" cy="6756400"/>
          </a:xfrm>
          <a:custGeom>
            <a:avLst/>
            <a:gdLst/>
            <a:ahLst/>
            <a:cxnLst/>
            <a:rect l="l" t="t" r="r" b="b"/>
            <a:pathLst>
              <a:path w="7493000" h="6756400">
                <a:moveTo>
                  <a:pt x="50800" y="0"/>
                </a:moveTo>
                <a:lnTo>
                  <a:pt x="7442200" y="0"/>
                </a:lnTo>
                <a:cubicBezTo>
                  <a:pt x="7470256" y="0"/>
                  <a:pt x="7493000" y="22744"/>
                  <a:pt x="7493000" y="50800"/>
                </a:cubicBezTo>
                <a:lnTo>
                  <a:pt x="7493000" y="6654784"/>
                </a:lnTo>
                <a:cubicBezTo>
                  <a:pt x="7493000" y="6710905"/>
                  <a:pt x="7447505" y="6756400"/>
                  <a:pt x="7391384" y="6756400"/>
                </a:cubicBezTo>
                <a:lnTo>
                  <a:pt x="101616" y="6756400"/>
                </a:lnTo>
                <a:cubicBezTo>
                  <a:pt x="45495" y="6756400"/>
                  <a:pt x="0" y="6710905"/>
                  <a:pt x="0" y="6654784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8000" y="1752600"/>
            <a:ext cx="7493000" cy="50800"/>
          </a:xfrm>
          <a:custGeom>
            <a:avLst/>
            <a:gdLst/>
            <a:ahLst/>
            <a:cxnLst/>
            <a:rect l="l" t="t" r="r" b="b"/>
            <a:pathLst>
              <a:path w="7493000" h="50800">
                <a:moveTo>
                  <a:pt x="50800" y="0"/>
                </a:moveTo>
                <a:lnTo>
                  <a:pt x="7442200" y="0"/>
                </a:lnTo>
                <a:cubicBezTo>
                  <a:pt x="7470237" y="0"/>
                  <a:pt x="7493000" y="22763"/>
                  <a:pt x="7493000" y="50800"/>
                </a:cubicBezTo>
                <a:lnTo>
                  <a:pt x="749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01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032000"/>
            <a:ext cx="675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设计三大原则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590800"/>
            <a:ext cx="6985000" cy="1016000"/>
          </a:xfrm>
          <a:custGeom>
            <a:avLst/>
            <a:gdLst/>
            <a:ahLst/>
            <a:cxnLst/>
            <a:rect l="l" t="t" r="r" b="b"/>
            <a:pathLst>
              <a:path w="6985000" h="1016000">
                <a:moveTo>
                  <a:pt x="50800" y="0"/>
                </a:moveTo>
                <a:lnTo>
                  <a:pt x="6934200" y="0"/>
                </a:lnTo>
                <a:cubicBezTo>
                  <a:pt x="6962237" y="0"/>
                  <a:pt x="6985000" y="22763"/>
                  <a:pt x="6985000" y="50800"/>
                </a:cubicBezTo>
                <a:lnTo>
                  <a:pt x="6985000" y="965200"/>
                </a:lnTo>
                <a:cubicBezTo>
                  <a:pt x="6985000" y="993237"/>
                  <a:pt x="6962237" y="1016000"/>
                  <a:pt x="6934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52500" y="2819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63500" y="25400"/>
                </a:moveTo>
                <a:cubicBezTo>
                  <a:pt x="63500" y="18375"/>
                  <a:pt x="57825" y="12700"/>
                  <a:pt x="50800" y="12700"/>
                </a:cubicBezTo>
                <a:cubicBezTo>
                  <a:pt x="43775" y="12700"/>
                  <a:pt x="38100" y="18375"/>
                  <a:pt x="38100" y="25400"/>
                </a:cubicBezTo>
                <a:lnTo>
                  <a:pt x="38100" y="50800"/>
                </a:lnTo>
                <a:lnTo>
                  <a:pt x="12700" y="50800"/>
                </a:lnTo>
                <a:cubicBezTo>
                  <a:pt x="5675" y="50800"/>
                  <a:pt x="0" y="56475"/>
                  <a:pt x="0" y="63500"/>
                </a:cubicBezTo>
                <a:cubicBezTo>
                  <a:pt x="0" y="70525"/>
                  <a:pt x="5675" y="76200"/>
                  <a:pt x="12700" y="76200"/>
                </a:cubicBezTo>
                <a:lnTo>
                  <a:pt x="50800" y="76200"/>
                </a:lnTo>
                <a:cubicBezTo>
                  <a:pt x="57825" y="76200"/>
                  <a:pt x="63500" y="70525"/>
                  <a:pt x="63500" y="63500"/>
                </a:cubicBezTo>
                <a:lnTo>
                  <a:pt x="63500" y="25400"/>
                </a:lnTo>
                <a:close/>
                <a:moveTo>
                  <a:pt x="12700" y="127000"/>
                </a:moveTo>
                <a:cubicBezTo>
                  <a:pt x="5675" y="127000"/>
                  <a:pt x="0" y="132675"/>
                  <a:pt x="0" y="139700"/>
                </a:cubicBezTo>
                <a:cubicBezTo>
                  <a:pt x="0" y="146725"/>
                  <a:pt x="5675" y="152400"/>
                  <a:pt x="12700" y="152400"/>
                </a:cubicBezTo>
                <a:lnTo>
                  <a:pt x="38100" y="152400"/>
                </a:lnTo>
                <a:lnTo>
                  <a:pt x="38100" y="177800"/>
                </a:lnTo>
                <a:cubicBezTo>
                  <a:pt x="38100" y="184825"/>
                  <a:pt x="43775" y="190500"/>
                  <a:pt x="50800" y="190500"/>
                </a:cubicBezTo>
                <a:cubicBezTo>
                  <a:pt x="57825" y="190500"/>
                  <a:pt x="63500" y="184825"/>
                  <a:pt x="63500" y="177800"/>
                </a:cubicBezTo>
                <a:lnTo>
                  <a:pt x="63500" y="139700"/>
                </a:lnTo>
                <a:cubicBezTo>
                  <a:pt x="63500" y="132675"/>
                  <a:pt x="57825" y="127000"/>
                  <a:pt x="50800" y="127000"/>
                </a:cubicBezTo>
                <a:lnTo>
                  <a:pt x="12700" y="127000"/>
                </a:lnTo>
                <a:close/>
                <a:moveTo>
                  <a:pt x="139700" y="25400"/>
                </a:moveTo>
                <a:cubicBezTo>
                  <a:pt x="139700" y="18375"/>
                  <a:pt x="134025" y="12700"/>
                  <a:pt x="127000" y="12700"/>
                </a:cubicBezTo>
                <a:cubicBezTo>
                  <a:pt x="119975" y="12700"/>
                  <a:pt x="114300" y="18375"/>
                  <a:pt x="114300" y="25400"/>
                </a:cubicBezTo>
                <a:lnTo>
                  <a:pt x="114300" y="63500"/>
                </a:lnTo>
                <a:cubicBezTo>
                  <a:pt x="114300" y="70525"/>
                  <a:pt x="119975" y="76200"/>
                  <a:pt x="127000" y="76200"/>
                </a:cubicBezTo>
                <a:lnTo>
                  <a:pt x="165100" y="76200"/>
                </a:lnTo>
                <a:cubicBezTo>
                  <a:pt x="172125" y="76200"/>
                  <a:pt x="177800" y="70525"/>
                  <a:pt x="177800" y="63500"/>
                </a:cubicBezTo>
                <a:cubicBezTo>
                  <a:pt x="177800" y="56475"/>
                  <a:pt x="172125" y="50800"/>
                  <a:pt x="165100" y="50800"/>
                </a:cubicBezTo>
                <a:lnTo>
                  <a:pt x="139700" y="50800"/>
                </a:lnTo>
                <a:lnTo>
                  <a:pt x="139700" y="25400"/>
                </a:lnTo>
                <a:close/>
                <a:moveTo>
                  <a:pt x="127000" y="127000"/>
                </a:moveTo>
                <a:cubicBezTo>
                  <a:pt x="119975" y="127000"/>
                  <a:pt x="114300" y="132675"/>
                  <a:pt x="114300" y="139700"/>
                </a:cubicBezTo>
                <a:lnTo>
                  <a:pt x="114300" y="177800"/>
                </a:lnTo>
                <a:cubicBezTo>
                  <a:pt x="114300" y="184825"/>
                  <a:pt x="119975" y="190500"/>
                  <a:pt x="127000" y="190500"/>
                </a:cubicBezTo>
                <a:cubicBezTo>
                  <a:pt x="134025" y="190500"/>
                  <a:pt x="139700" y="184825"/>
                  <a:pt x="139700" y="177800"/>
                </a:cubicBezTo>
                <a:lnTo>
                  <a:pt x="139700" y="152400"/>
                </a:lnTo>
                <a:lnTo>
                  <a:pt x="165100" y="152400"/>
                </a:lnTo>
                <a:cubicBezTo>
                  <a:pt x="172125" y="152400"/>
                  <a:pt x="177800" y="146725"/>
                  <a:pt x="177800" y="139700"/>
                </a:cubicBezTo>
                <a:cubicBezTo>
                  <a:pt x="177800" y="132675"/>
                  <a:pt x="172125" y="127000"/>
                  <a:pt x="165100" y="127000"/>
                </a:cubicBezTo>
                <a:lnTo>
                  <a:pt x="127000" y="12700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70000" y="27432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长度原则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1496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越短越好(建议10-100字节),过长影响内存和性能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759200"/>
            <a:ext cx="6985000" cy="1930400"/>
          </a:xfrm>
          <a:custGeom>
            <a:avLst/>
            <a:gdLst/>
            <a:ahLst/>
            <a:cxnLst/>
            <a:rect l="l" t="t" r="r" b="b"/>
            <a:pathLst>
              <a:path w="6985000" h="1930400">
                <a:moveTo>
                  <a:pt x="50808" y="0"/>
                </a:moveTo>
                <a:lnTo>
                  <a:pt x="6934192" y="0"/>
                </a:lnTo>
                <a:cubicBezTo>
                  <a:pt x="6962252" y="0"/>
                  <a:pt x="6985000" y="22748"/>
                  <a:pt x="6985000" y="50808"/>
                </a:cubicBezTo>
                <a:lnTo>
                  <a:pt x="6985000" y="1879592"/>
                </a:lnTo>
                <a:cubicBezTo>
                  <a:pt x="6985000" y="1907652"/>
                  <a:pt x="6962252" y="1930400"/>
                  <a:pt x="6934192" y="1930400"/>
                </a:cubicBezTo>
                <a:lnTo>
                  <a:pt x="50808" y="1930400"/>
                </a:lnTo>
                <a:cubicBezTo>
                  <a:pt x="22748" y="1930400"/>
                  <a:pt x="0" y="1907652"/>
                  <a:pt x="0" y="1879592"/>
                </a:cubicBezTo>
                <a:lnTo>
                  <a:pt x="0" y="50808"/>
                </a:lnTo>
                <a:cubicBezTo>
                  <a:pt x="0" y="22766"/>
                  <a:pt x="22766" y="0"/>
                  <a:pt x="5080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9800" y="3987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0258" y="13652"/>
                </a:moveTo>
                <a:cubicBezTo>
                  <a:pt x="165021" y="11668"/>
                  <a:pt x="170458" y="12779"/>
                  <a:pt x="174109" y="16391"/>
                </a:cubicBezTo>
                <a:lnTo>
                  <a:pt x="199509" y="41791"/>
                </a:lnTo>
                <a:cubicBezTo>
                  <a:pt x="201890" y="44172"/>
                  <a:pt x="203240" y="47387"/>
                  <a:pt x="203240" y="50760"/>
                </a:cubicBezTo>
                <a:cubicBezTo>
                  <a:pt x="203240" y="54134"/>
                  <a:pt x="201890" y="57348"/>
                  <a:pt x="199509" y="59730"/>
                </a:cubicBezTo>
                <a:lnTo>
                  <a:pt x="174109" y="85130"/>
                </a:lnTo>
                <a:cubicBezTo>
                  <a:pt x="170458" y="88781"/>
                  <a:pt x="165021" y="89853"/>
                  <a:pt x="160258" y="87868"/>
                </a:cubicBezTo>
                <a:cubicBezTo>
                  <a:pt x="155496" y="85884"/>
                  <a:pt x="152400" y="81320"/>
                  <a:pt x="152400" y="76200"/>
                </a:cubicBezTo>
                <a:lnTo>
                  <a:pt x="152400" y="63500"/>
                </a:lnTo>
                <a:lnTo>
                  <a:pt x="139700" y="63500"/>
                </a:lnTo>
                <a:cubicBezTo>
                  <a:pt x="135692" y="63500"/>
                  <a:pt x="131921" y="65365"/>
                  <a:pt x="129540" y="68580"/>
                </a:cubicBezTo>
                <a:lnTo>
                  <a:pt x="116681" y="85725"/>
                </a:lnTo>
                <a:lnTo>
                  <a:pt x="100806" y="64572"/>
                </a:lnTo>
                <a:lnTo>
                  <a:pt x="109220" y="53340"/>
                </a:lnTo>
                <a:cubicBezTo>
                  <a:pt x="116403" y="43736"/>
                  <a:pt x="127714" y="38100"/>
                  <a:pt x="139700" y="38100"/>
                </a:cubicBezTo>
                <a:lnTo>
                  <a:pt x="152400" y="38100"/>
                </a:lnTo>
                <a:lnTo>
                  <a:pt x="152400" y="25400"/>
                </a:lnTo>
                <a:cubicBezTo>
                  <a:pt x="152400" y="20280"/>
                  <a:pt x="155496" y="15637"/>
                  <a:pt x="160258" y="13652"/>
                </a:cubicBezTo>
                <a:close/>
                <a:moveTo>
                  <a:pt x="61119" y="117475"/>
                </a:moveTo>
                <a:lnTo>
                  <a:pt x="76994" y="138628"/>
                </a:lnTo>
                <a:lnTo>
                  <a:pt x="68580" y="149860"/>
                </a:lnTo>
                <a:cubicBezTo>
                  <a:pt x="61397" y="159464"/>
                  <a:pt x="50086" y="165100"/>
                  <a:pt x="38100" y="165100"/>
                </a:cubicBezTo>
                <a:lnTo>
                  <a:pt x="12700" y="165100"/>
                </a:lnTo>
                <a:cubicBezTo>
                  <a:pt x="5675" y="165100"/>
                  <a:pt x="0" y="159425"/>
                  <a:pt x="0" y="152400"/>
                </a:cubicBezTo>
                <a:cubicBezTo>
                  <a:pt x="0" y="145375"/>
                  <a:pt x="5675" y="139700"/>
                  <a:pt x="12700" y="139700"/>
                </a:cubicBezTo>
                <a:lnTo>
                  <a:pt x="38100" y="139700"/>
                </a:lnTo>
                <a:cubicBezTo>
                  <a:pt x="42108" y="139700"/>
                  <a:pt x="45879" y="137835"/>
                  <a:pt x="48260" y="134620"/>
                </a:cubicBezTo>
                <a:lnTo>
                  <a:pt x="61119" y="117475"/>
                </a:lnTo>
                <a:close/>
                <a:moveTo>
                  <a:pt x="174069" y="186769"/>
                </a:moveTo>
                <a:cubicBezTo>
                  <a:pt x="170418" y="190421"/>
                  <a:pt x="164981" y="191492"/>
                  <a:pt x="160218" y="189508"/>
                </a:cubicBezTo>
                <a:cubicBezTo>
                  <a:pt x="155456" y="187523"/>
                  <a:pt x="152400" y="182920"/>
                  <a:pt x="152400" y="177800"/>
                </a:cubicBezTo>
                <a:lnTo>
                  <a:pt x="152400" y="165100"/>
                </a:lnTo>
                <a:lnTo>
                  <a:pt x="139700" y="165100"/>
                </a:lnTo>
                <a:cubicBezTo>
                  <a:pt x="127714" y="165100"/>
                  <a:pt x="116403" y="159464"/>
                  <a:pt x="109220" y="149860"/>
                </a:cubicBezTo>
                <a:lnTo>
                  <a:pt x="48260" y="68580"/>
                </a:lnTo>
                <a:cubicBezTo>
                  <a:pt x="45879" y="65365"/>
                  <a:pt x="42108" y="63500"/>
                  <a:pt x="38100" y="63500"/>
                </a:cubicBezTo>
                <a:lnTo>
                  <a:pt x="12700" y="63500"/>
                </a:lnTo>
                <a:cubicBezTo>
                  <a:pt x="5675" y="63500"/>
                  <a:pt x="0" y="57825"/>
                  <a:pt x="0" y="50800"/>
                </a:cubicBezTo>
                <a:cubicBezTo>
                  <a:pt x="0" y="43775"/>
                  <a:pt x="5675" y="38100"/>
                  <a:pt x="12700" y="38100"/>
                </a:cubicBezTo>
                <a:lnTo>
                  <a:pt x="38100" y="38100"/>
                </a:lnTo>
                <a:cubicBezTo>
                  <a:pt x="50086" y="38100"/>
                  <a:pt x="61397" y="43736"/>
                  <a:pt x="68580" y="53340"/>
                </a:cubicBezTo>
                <a:lnTo>
                  <a:pt x="129540" y="134620"/>
                </a:lnTo>
                <a:cubicBezTo>
                  <a:pt x="131921" y="137835"/>
                  <a:pt x="135692" y="139700"/>
                  <a:pt x="139700" y="139700"/>
                </a:cubicBezTo>
                <a:lnTo>
                  <a:pt x="152400" y="139700"/>
                </a:lnTo>
                <a:lnTo>
                  <a:pt x="152400" y="127000"/>
                </a:lnTo>
                <a:cubicBezTo>
                  <a:pt x="152400" y="121880"/>
                  <a:pt x="155496" y="117237"/>
                  <a:pt x="160258" y="115253"/>
                </a:cubicBezTo>
                <a:cubicBezTo>
                  <a:pt x="165021" y="113268"/>
                  <a:pt x="170458" y="114379"/>
                  <a:pt x="174109" y="117991"/>
                </a:cubicBezTo>
                <a:lnTo>
                  <a:pt x="199509" y="143391"/>
                </a:lnTo>
                <a:cubicBezTo>
                  <a:pt x="201890" y="145772"/>
                  <a:pt x="203240" y="148987"/>
                  <a:pt x="203240" y="152360"/>
                </a:cubicBezTo>
                <a:cubicBezTo>
                  <a:pt x="203240" y="155734"/>
                  <a:pt x="201890" y="158948"/>
                  <a:pt x="199509" y="161330"/>
                </a:cubicBezTo>
                <a:lnTo>
                  <a:pt x="174109" y="18673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70000" y="39116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散列原则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3180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避免热点(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Hotspotting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),使数据均匀分布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6736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反转(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Reverse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): 将时间戳反转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9784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加盐(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Salt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): 在RowKey前加随机前缀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2832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Hash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对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做哈希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842000"/>
            <a:ext cx="6985000" cy="1016000"/>
          </a:xfrm>
          <a:custGeom>
            <a:avLst/>
            <a:gdLst/>
            <a:ahLst/>
            <a:cxnLst/>
            <a:rect l="l" t="t" r="r" b="b"/>
            <a:pathLst>
              <a:path w="6985000" h="1016000">
                <a:moveTo>
                  <a:pt x="50800" y="0"/>
                </a:moveTo>
                <a:lnTo>
                  <a:pt x="6934200" y="0"/>
                </a:lnTo>
                <a:cubicBezTo>
                  <a:pt x="6962237" y="0"/>
                  <a:pt x="6985000" y="22763"/>
                  <a:pt x="6985000" y="50800"/>
                </a:cubicBezTo>
                <a:lnTo>
                  <a:pt x="6985000" y="965200"/>
                </a:lnTo>
                <a:cubicBezTo>
                  <a:pt x="6985000" y="993237"/>
                  <a:pt x="6962237" y="1016000"/>
                  <a:pt x="6934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39800" y="6070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0" y="101600"/>
                </a:moveTo>
                <a:cubicBezTo>
                  <a:pt x="19050" y="55999"/>
                  <a:pt x="55999" y="19050"/>
                  <a:pt x="101600" y="19050"/>
                </a:cubicBezTo>
                <a:cubicBezTo>
                  <a:pt x="126643" y="19050"/>
                  <a:pt x="149066" y="30202"/>
                  <a:pt x="164227" y="47823"/>
                </a:cubicBezTo>
                <a:cubicBezTo>
                  <a:pt x="167640" y="51832"/>
                  <a:pt x="173673" y="52268"/>
                  <a:pt x="177641" y="48855"/>
                </a:cubicBezTo>
                <a:cubicBezTo>
                  <a:pt x="181610" y="45442"/>
                  <a:pt x="182086" y="39410"/>
                  <a:pt x="178673" y="35441"/>
                </a:cubicBezTo>
                <a:cubicBezTo>
                  <a:pt x="160060" y="13732"/>
                  <a:pt x="132437" y="0"/>
                  <a:pt x="101600" y="0"/>
                </a:cubicBezTo>
                <a:cubicBezTo>
                  <a:pt x="45482" y="0"/>
                  <a:pt x="0" y="45482"/>
                  <a:pt x="0" y="101600"/>
                </a:cubicBezTo>
                <a:lnTo>
                  <a:pt x="0" y="117475"/>
                </a:lnTo>
                <a:cubicBezTo>
                  <a:pt x="0" y="122753"/>
                  <a:pt x="4247" y="127000"/>
                  <a:pt x="9525" y="127000"/>
                </a:cubicBezTo>
                <a:cubicBezTo>
                  <a:pt x="14803" y="127000"/>
                  <a:pt x="19050" y="122753"/>
                  <a:pt x="19050" y="117475"/>
                </a:cubicBezTo>
                <a:lnTo>
                  <a:pt x="19050" y="101600"/>
                </a:lnTo>
                <a:close/>
                <a:moveTo>
                  <a:pt x="201017" y="80605"/>
                </a:moveTo>
                <a:cubicBezTo>
                  <a:pt x="199946" y="75446"/>
                  <a:pt x="194866" y="72152"/>
                  <a:pt x="189746" y="73263"/>
                </a:cubicBezTo>
                <a:cubicBezTo>
                  <a:pt x="184626" y="74374"/>
                  <a:pt x="181293" y="79415"/>
                  <a:pt x="182404" y="84534"/>
                </a:cubicBezTo>
                <a:cubicBezTo>
                  <a:pt x="183555" y="90051"/>
                  <a:pt x="184190" y="95766"/>
                  <a:pt x="184190" y="101640"/>
                </a:cubicBezTo>
                <a:lnTo>
                  <a:pt x="184190" y="117515"/>
                </a:lnTo>
                <a:cubicBezTo>
                  <a:pt x="184190" y="122793"/>
                  <a:pt x="188436" y="127040"/>
                  <a:pt x="193715" y="127040"/>
                </a:cubicBezTo>
                <a:cubicBezTo>
                  <a:pt x="198993" y="127040"/>
                  <a:pt x="203240" y="122793"/>
                  <a:pt x="203240" y="117515"/>
                </a:cubicBezTo>
                <a:lnTo>
                  <a:pt x="203240" y="101640"/>
                </a:lnTo>
                <a:cubicBezTo>
                  <a:pt x="203240" y="94456"/>
                  <a:pt x="202486" y="87432"/>
                  <a:pt x="201057" y="80645"/>
                </a:cubicBezTo>
                <a:close/>
                <a:moveTo>
                  <a:pt x="101600" y="31750"/>
                </a:moveTo>
                <a:cubicBezTo>
                  <a:pt x="94059" y="31750"/>
                  <a:pt x="86757" y="32941"/>
                  <a:pt x="79970" y="35163"/>
                </a:cubicBezTo>
                <a:cubicBezTo>
                  <a:pt x="73938" y="37147"/>
                  <a:pt x="72549" y="44569"/>
                  <a:pt x="76676" y="49411"/>
                </a:cubicBezTo>
                <a:cubicBezTo>
                  <a:pt x="79494" y="52705"/>
                  <a:pt x="84138" y="53697"/>
                  <a:pt x="88344" y="52546"/>
                </a:cubicBezTo>
                <a:cubicBezTo>
                  <a:pt x="92551" y="51395"/>
                  <a:pt x="96996" y="50800"/>
                  <a:pt x="101600" y="50800"/>
                </a:cubicBezTo>
                <a:cubicBezTo>
                  <a:pt x="129659" y="50800"/>
                  <a:pt x="152400" y="73541"/>
                  <a:pt x="152400" y="101600"/>
                </a:cubicBezTo>
                <a:lnTo>
                  <a:pt x="152400" y="111482"/>
                </a:lnTo>
                <a:cubicBezTo>
                  <a:pt x="152400" y="121483"/>
                  <a:pt x="151805" y="131445"/>
                  <a:pt x="150654" y="141367"/>
                </a:cubicBezTo>
                <a:cubicBezTo>
                  <a:pt x="149979" y="147161"/>
                  <a:pt x="154384" y="152400"/>
                  <a:pt x="160258" y="152400"/>
                </a:cubicBezTo>
                <a:cubicBezTo>
                  <a:pt x="164941" y="152400"/>
                  <a:pt x="168950" y="148987"/>
                  <a:pt x="169505" y="144343"/>
                </a:cubicBezTo>
                <a:cubicBezTo>
                  <a:pt x="170815" y="133469"/>
                  <a:pt x="171490" y="122515"/>
                  <a:pt x="171490" y="111522"/>
                </a:cubicBezTo>
                <a:lnTo>
                  <a:pt x="171490" y="101640"/>
                </a:lnTo>
                <a:cubicBezTo>
                  <a:pt x="171490" y="63063"/>
                  <a:pt x="140216" y="31790"/>
                  <a:pt x="101640" y="31790"/>
                </a:cubicBezTo>
                <a:close/>
                <a:moveTo>
                  <a:pt x="59809" y="59015"/>
                </a:moveTo>
                <a:cubicBezTo>
                  <a:pt x="56198" y="54808"/>
                  <a:pt x="49768" y="54491"/>
                  <a:pt x="46355" y="58857"/>
                </a:cubicBezTo>
                <a:cubicBezTo>
                  <a:pt x="37187" y="70683"/>
                  <a:pt x="31750" y="85487"/>
                  <a:pt x="31750" y="101600"/>
                </a:cubicBezTo>
                <a:lnTo>
                  <a:pt x="31750" y="111482"/>
                </a:lnTo>
                <a:cubicBezTo>
                  <a:pt x="31750" y="121087"/>
                  <a:pt x="30718" y="130691"/>
                  <a:pt x="28654" y="140017"/>
                </a:cubicBezTo>
                <a:cubicBezTo>
                  <a:pt x="27305" y="146209"/>
                  <a:pt x="31790" y="152360"/>
                  <a:pt x="38140" y="152360"/>
                </a:cubicBezTo>
                <a:cubicBezTo>
                  <a:pt x="42307" y="152360"/>
                  <a:pt x="46038" y="149582"/>
                  <a:pt x="46950" y="145494"/>
                </a:cubicBezTo>
                <a:cubicBezTo>
                  <a:pt x="49490" y="134342"/>
                  <a:pt x="50800" y="122952"/>
                  <a:pt x="50800" y="111442"/>
                </a:cubicBezTo>
                <a:lnTo>
                  <a:pt x="50800" y="101560"/>
                </a:lnTo>
                <a:cubicBezTo>
                  <a:pt x="50800" y="90765"/>
                  <a:pt x="54173" y="80764"/>
                  <a:pt x="59888" y="72549"/>
                </a:cubicBezTo>
                <a:cubicBezTo>
                  <a:pt x="62746" y="68421"/>
                  <a:pt x="63063" y="62786"/>
                  <a:pt x="59809" y="58976"/>
                </a:cubicBezTo>
                <a:close/>
                <a:moveTo>
                  <a:pt x="101600" y="63500"/>
                </a:moveTo>
                <a:cubicBezTo>
                  <a:pt x="80566" y="63500"/>
                  <a:pt x="63500" y="80566"/>
                  <a:pt x="63500" y="101600"/>
                </a:cubicBezTo>
                <a:lnTo>
                  <a:pt x="63500" y="111482"/>
                </a:lnTo>
                <a:cubicBezTo>
                  <a:pt x="63500" y="125730"/>
                  <a:pt x="61674" y="139859"/>
                  <a:pt x="58023" y="153591"/>
                </a:cubicBezTo>
                <a:cubicBezTo>
                  <a:pt x="56515" y="159266"/>
                  <a:pt x="60682" y="165100"/>
                  <a:pt x="66556" y="165100"/>
                </a:cubicBezTo>
                <a:cubicBezTo>
                  <a:pt x="70326" y="165100"/>
                  <a:pt x="73660" y="162639"/>
                  <a:pt x="74652" y="158988"/>
                </a:cubicBezTo>
                <a:cubicBezTo>
                  <a:pt x="78819" y="143510"/>
                  <a:pt x="80963" y="127556"/>
                  <a:pt x="80963" y="111482"/>
                </a:cubicBezTo>
                <a:lnTo>
                  <a:pt x="80963" y="101600"/>
                </a:lnTo>
                <a:cubicBezTo>
                  <a:pt x="80963" y="90210"/>
                  <a:pt x="90210" y="80963"/>
                  <a:pt x="101600" y="80963"/>
                </a:cubicBezTo>
                <a:cubicBezTo>
                  <a:pt x="112990" y="80963"/>
                  <a:pt x="122238" y="90210"/>
                  <a:pt x="122238" y="101600"/>
                </a:cubicBezTo>
                <a:lnTo>
                  <a:pt x="122238" y="111482"/>
                </a:lnTo>
                <a:cubicBezTo>
                  <a:pt x="122238" y="125889"/>
                  <a:pt x="120848" y="140216"/>
                  <a:pt x="118110" y="154305"/>
                </a:cubicBezTo>
                <a:cubicBezTo>
                  <a:pt x="117038" y="159822"/>
                  <a:pt x="121166" y="165100"/>
                  <a:pt x="126762" y="165100"/>
                </a:cubicBezTo>
                <a:cubicBezTo>
                  <a:pt x="130810" y="165100"/>
                  <a:pt x="134303" y="162322"/>
                  <a:pt x="135096" y="158353"/>
                </a:cubicBezTo>
                <a:cubicBezTo>
                  <a:pt x="138152" y="142954"/>
                  <a:pt x="139700" y="127278"/>
                  <a:pt x="139700" y="111482"/>
                </a:cubicBezTo>
                <a:lnTo>
                  <a:pt x="139700" y="101600"/>
                </a:lnTo>
                <a:cubicBezTo>
                  <a:pt x="139700" y="80566"/>
                  <a:pt x="122634" y="63500"/>
                  <a:pt x="101600" y="63500"/>
                </a:cubicBezTo>
                <a:close/>
                <a:moveTo>
                  <a:pt x="111125" y="101600"/>
                </a:moveTo>
                <a:cubicBezTo>
                  <a:pt x="111125" y="96322"/>
                  <a:pt x="106878" y="92075"/>
                  <a:pt x="101600" y="92075"/>
                </a:cubicBezTo>
                <a:cubicBezTo>
                  <a:pt x="96322" y="92075"/>
                  <a:pt x="92075" y="96322"/>
                  <a:pt x="92075" y="101600"/>
                </a:cubicBezTo>
                <a:lnTo>
                  <a:pt x="92075" y="111482"/>
                </a:lnTo>
                <a:cubicBezTo>
                  <a:pt x="92075" y="135255"/>
                  <a:pt x="87709" y="158829"/>
                  <a:pt x="79177" y="181015"/>
                </a:cubicBezTo>
                <a:lnTo>
                  <a:pt x="76835" y="187087"/>
                </a:lnTo>
                <a:cubicBezTo>
                  <a:pt x="74930" y="192008"/>
                  <a:pt x="77391" y="197525"/>
                  <a:pt x="82312" y="199390"/>
                </a:cubicBezTo>
                <a:cubicBezTo>
                  <a:pt x="87233" y="201255"/>
                  <a:pt x="92750" y="198834"/>
                  <a:pt x="94615" y="193913"/>
                </a:cubicBezTo>
                <a:lnTo>
                  <a:pt x="96957" y="187841"/>
                </a:lnTo>
                <a:cubicBezTo>
                  <a:pt x="106323" y="163473"/>
                  <a:pt x="111125" y="137597"/>
                  <a:pt x="111125" y="111482"/>
                </a:cubicBezTo>
                <a:lnTo>
                  <a:pt x="111125" y="10160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70000" y="5994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唯一原则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64008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RowKey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必须唯一,避免数据覆盖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0400" y="1727200"/>
            <a:ext cx="7467600" cy="3759200"/>
          </a:xfrm>
          <a:custGeom>
            <a:avLst/>
            <a:gdLst/>
            <a:ahLst/>
            <a:cxnLst/>
            <a:rect l="l" t="t" r="r" b="b"/>
            <a:pathLst>
              <a:path w="7467600" h="3759200">
                <a:moveTo>
                  <a:pt x="50800" y="0"/>
                </a:moveTo>
                <a:lnTo>
                  <a:pt x="7365989" y="0"/>
                </a:lnTo>
                <a:cubicBezTo>
                  <a:pt x="7422107" y="0"/>
                  <a:pt x="7467600" y="45493"/>
                  <a:pt x="7467600" y="101611"/>
                </a:cubicBezTo>
                <a:lnTo>
                  <a:pt x="7467600" y="3657589"/>
                </a:lnTo>
                <a:cubicBezTo>
                  <a:pt x="7467600" y="3713707"/>
                  <a:pt x="7422107" y="3759200"/>
                  <a:pt x="7365989" y="3759200"/>
                </a:cubicBezTo>
                <a:lnTo>
                  <a:pt x="50800" y="3759200"/>
                </a:lnTo>
                <a:cubicBezTo>
                  <a:pt x="22744" y="3759200"/>
                  <a:pt x="0" y="3736456"/>
                  <a:pt x="0" y="370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80400" y="1727200"/>
            <a:ext cx="50800" cy="3759200"/>
          </a:xfrm>
          <a:custGeom>
            <a:avLst/>
            <a:gdLst/>
            <a:ahLst/>
            <a:cxnLst/>
            <a:rect l="l" t="t" r="r" b="b"/>
            <a:pathLst>
              <a:path w="50800" h="3759200">
                <a:moveTo>
                  <a:pt x="50800" y="0"/>
                </a:moveTo>
                <a:lnTo>
                  <a:pt x="50800" y="0"/>
                </a:lnTo>
                <a:lnTo>
                  <a:pt x="50800" y="3759200"/>
                </a:lnTo>
                <a:lnTo>
                  <a:pt x="50800" y="3759200"/>
                </a:lnTo>
                <a:cubicBezTo>
                  <a:pt x="22763" y="3759200"/>
                  <a:pt x="0" y="3736437"/>
                  <a:pt x="0" y="370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97900" y="203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940800" y="1981200"/>
            <a:ext cx="670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列族数量优化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85200" y="2540000"/>
            <a:ext cx="6908800" cy="1016000"/>
          </a:xfrm>
          <a:custGeom>
            <a:avLst/>
            <a:gdLst/>
            <a:ahLst/>
            <a:cxnLst/>
            <a:rect l="l" t="t" r="r" b="b"/>
            <a:pathLst>
              <a:path w="6908800" h="1016000">
                <a:moveTo>
                  <a:pt x="50800" y="0"/>
                </a:moveTo>
                <a:lnTo>
                  <a:pt x="6858000" y="0"/>
                </a:lnTo>
                <a:cubicBezTo>
                  <a:pt x="6886037" y="0"/>
                  <a:pt x="6908800" y="22763"/>
                  <a:pt x="6908800" y="50800"/>
                </a:cubicBezTo>
                <a:lnTo>
                  <a:pt x="6908800" y="965200"/>
                </a:lnTo>
                <a:cubicBezTo>
                  <a:pt x="6908800" y="993237"/>
                  <a:pt x="6886037" y="1016000"/>
                  <a:pt x="68580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85200" y="25400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88400" y="276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18600" y="26924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不宜过多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63000" y="30988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建议1-3个,过多会导致性能问题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59800" y="3708400"/>
            <a:ext cx="6934200" cy="1524000"/>
          </a:xfrm>
          <a:custGeom>
            <a:avLst/>
            <a:gdLst/>
            <a:ahLst/>
            <a:cxnLst/>
            <a:rect l="l" t="t" r="r" b="b"/>
            <a:pathLst>
              <a:path w="6934200" h="1524000">
                <a:moveTo>
                  <a:pt x="50795" y="0"/>
                </a:moveTo>
                <a:lnTo>
                  <a:pt x="6883405" y="0"/>
                </a:lnTo>
                <a:cubicBezTo>
                  <a:pt x="6911458" y="0"/>
                  <a:pt x="6934200" y="22742"/>
                  <a:pt x="6934200" y="50795"/>
                </a:cubicBezTo>
                <a:lnTo>
                  <a:pt x="6934200" y="1473205"/>
                </a:lnTo>
                <a:cubicBezTo>
                  <a:pt x="6934200" y="1501258"/>
                  <a:pt x="6911458" y="1524000"/>
                  <a:pt x="68834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712200" y="3879850"/>
            <a:ext cx="557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原因: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12200" y="42164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Flush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级别的,一个列族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Flush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会触发该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下所有列族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Flush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712200" y="45212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产生大量小文件和不必要的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I/O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开销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12200" y="4826000"/>
            <a:ext cx="671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增加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负担,影响性能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0400" y="5689600"/>
            <a:ext cx="7467600" cy="2819400"/>
          </a:xfrm>
          <a:custGeom>
            <a:avLst/>
            <a:gdLst/>
            <a:ahLst/>
            <a:cxnLst/>
            <a:rect l="l" t="t" r="r" b="b"/>
            <a:pathLst>
              <a:path w="7467600" h="2819400">
                <a:moveTo>
                  <a:pt x="50800" y="0"/>
                </a:moveTo>
                <a:lnTo>
                  <a:pt x="7365989" y="0"/>
                </a:lnTo>
                <a:cubicBezTo>
                  <a:pt x="7422107" y="0"/>
                  <a:pt x="7467600" y="45493"/>
                  <a:pt x="7467600" y="101611"/>
                </a:cubicBezTo>
                <a:lnTo>
                  <a:pt x="7467600" y="2717789"/>
                </a:lnTo>
                <a:cubicBezTo>
                  <a:pt x="7467600" y="2773907"/>
                  <a:pt x="7422107" y="2819400"/>
                  <a:pt x="7365989" y="2819400"/>
                </a:cubicBezTo>
                <a:lnTo>
                  <a:pt x="50800" y="2819400"/>
                </a:lnTo>
                <a:cubicBezTo>
                  <a:pt x="22763" y="2819400"/>
                  <a:pt x="0" y="2796637"/>
                  <a:pt x="0" y="276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80400" y="5689600"/>
            <a:ext cx="50800" cy="2819400"/>
          </a:xfrm>
          <a:custGeom>
            <a:avLst/>
            <a:gdLst/>
            <a:ahLst/>
            <a:cxnLst/>
            <a:rect l="l" t="t" r="r" b="b"/>
            <a:pathLst>
              <a:path w="50800" h="2819400">
                <a:moveTo>
                  <a:pt x="50800" y="0"/>
                </a:moveTo>
                <a:lnTo>
                  <a:pt x="50800" y="0"/>
                </a:lnTo>
                <a:lnTo>
                  <a:pt x="50800" y="2819400"/>
                </a:lnTo>
                <a:lnTo>
                  <a:pt x="50800" y="2819400"/>
                </a:lnTo>
                <a:cubicBezTo>
                  <a:pt x="22763" y="2819400"/>
                  <a:pt x="0" y="2796637"/>
                  <a:pt x="0" y="276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597900" y="599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40800" y="5943600"/>
            <a:ext cx="670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预分区(</a:t>
            </a:r>
            <a:r>
              <a:rPr lang="en-US" sz="24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Pre-splitting</a:t>
            </a:r>
            <a:r>
              <a:rPr lang="en-US" sz="24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59800" y="6502400"/>
            <a:ext cx="6934200" cy="965200"/>
          </a:xfrm>
          <a:custGeom>
            <a:avLst/>
            <a:gdLst/>
            <a:ahLst/>
            <a:cxnLst/>
            <a:rect l="l" t="t" r="r" b="b"/>
            <a:pathLst>
              <a:path w="6934200" h="965200">
                <a:moveTo>
                  <a:pt x="50798" y="0"/>
                </a:moveTo>
                <a:lnTo>
                  <a:pt x="6883402" y="0"/>
                </a:lnTo>
                <a:cubicBezTo>
                  <a:pt x="6911457" y="0"/>
                  <a:pt x="6934200" y="22743"/>
                  <a:pt x="6934200" y="50798"/>
                </a:cubicBezTo>
                <a:lnTo>
                  <a:pt x="6934200" y="914402"/>
                </a:lnTo>
                <a:cubicBezTo>
                  <a:pt x="6934200" y="942457"/>
                  <a:pt x="6911457" y="965200"/>
                  <a:pt x="68834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712200" y="6654800"/>
            <a:ext cx="673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作用: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建表时预先划分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,避免数据初始写入时全部挤在一个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导致热点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59800" y="7620000"/>
            <a:ext cx="6934200" cy="635000"/>
          </a:xfrm>
          <a:custGeom>
            <a:avLst/>
            <a:gdLst/>
            <a:ahLst/>
            <a:cxnLst/>
            <a:rect l="l" t="t" r="r" b="b"/>
            <a:pathLst>
              <a:path w="6934200" h="635000">
                <a:moveTo>
                  <a:pt x="50800" y="0"/>
                </a:moveTo>
                <a:lnTo>
                  <a:pt x="6883400" y="0"/>
                </a:lnTo>
                <a:cubicBezTo>
                  <a:pt x="6911437" y="0"/>
                  <a:pt x="6934200" y="22763"/>
                  <a:pt x="6934200" y="50800"/>
                </a:cubicBezTo>
                <a:lnTo>
                  <a:pt x="6934200" y="584200"/>
                </a:lnTo>
                <a:cubicBezTo>
                  <a:pt x="6934200" y="612237"/>
                  <a:pt x="6911437" y="635000"/>
                  <a:pt x="6883400" y="635000"/>
                </a:cubicBezTo>
                <a:lnTo>
                  <a:pt x="50800" y="635000"/>
                </a:lnTo>
                <a:cubicBezTo>
                  <a:pt x="22763" y="635000"/>
                  <a:pt x="0" y="612237"/>
                  <a:pt x="0" y="58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712200" y="7772400"/>
            <a:ext cx="673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利用集群并发能力,提升写入性能,避免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热点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590800" cy="609600"/>
          </a:xfrm>
          <a:custGeom>
            <a:avLst/>
            <a:gdLst/>
            <a:ahLst/>
            <a:cxnLst/>
            <a:rect l="l" t="t" r="r" b="b"/>
            <a:pathLst>
              <a:path w="2590800" h="609600">
                <a:moveTo>
                  <a:pt x="0" y="0"/>
                </a:moveTo>
                <a:lnTo>
                  <a:pt x="2590800" y="0"/>
                </a:lnTo>
                <a:lnTo>
                  <a:pt x="259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21109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分布式消息队列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与分区有序性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核心概念、消息交付语义与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 Group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并行度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44083" cy="338667"/>
          </a:xfrm>
          <a:custGeom>
            <a:avLst/>
            <a:gdLst/>
            <a:ahLst/>
            <a:cxnLst/>
            <a:rect l="l" t="t" r="r" b="b"/>
            <a:pathLst>
              <a:path w="1344083" h="338667">
                <a:moveTo>
                  <a:pt x="0" y="0"/>
                </a:moveTo>
                <a:lnTo>
                  <a:pt x="1344083" y="0"/>
                </a:lnTo>
                <a:lnTo>
                  <a:pt x="134408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5407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核心概念与架构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3333" y="1251954"/>
            <a:ext cx="5027083" cy="2053167"/>
          </a:xfrm>
          <a:custGeom>
            <a:avLst/>
            <a:gdLst/>
            <a:ahLst/>
            <a:cxnLst/>
            <a:rect l="l" t="t" r="r" b="b"/>
            <a:pathLst>
              <a:path w="5027083" h="2053167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1968494"/>
                </a:lnTo>
                <a:cubicBezTo>
                  <a:pt x="5027083" y="2015257"/>
                  <a:pt x="4989174" y="2053167"/>
                  <a:pt x="4942411" y="2053167"/>
                </a:cubicBezTo>
                <a:lnTo>
                  <a:pt x="84673" y="2053167"/>
                </a:lnTo>
                <a:cubicBezTo>
                  <a:pt x="37909" y="2053167"/>
                  <a:pt x="0" y="2015257"/>
                  <a:pt x="0" y="1968494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3333" y="1251954"/>
            <a:ext cx="5027083" cy="42333"/>
          </a:xfrm>
          <a:custGeom>
            <a:avLst/>
            <a:gdLst/>
            <a:ahLst/>
            <a:cxnLst/>
            <a:rect l="l" t="t" r="r" b="b"/>
            <a:pathLst>
              <a:path w="5027083" h="423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81056" y="148478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28139" y="1484787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2083" y="2077454"/>
            <a:ext cx="470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Broker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5000" y="2500787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节点,集群中的服务器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00" y="2839454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无状态,可水平扩展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6195" y="1251954"/>
            <a:ext cx="5027083" cy="2053167"/>
          </a:xfrm>
          <a:custGeom>
            <a:avLst/>
            <a:gdLst/>
            <a:ahLst/>
            <a:cxnLst/>
            <a:rect l="l" t="t" r="r" b="b"/>
            <a:pathLst>
              <a:path w="5027083" h="2053167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1968494"/>
                </a:lnTo>
                <a:cubicBezTo>
                  <a:pt x="5027083" y="2015257"/>
                  <a:pt x="4989174" y="2053167"/>
                  <a:pt x="4942411" y="2053167"/>
                </a:cubicBezTo>
                <a:lnTo>
                  <a:pt x="84673" y="2053167"/>
                </a:lnTo>
                <a:cubicBezTo>
                  <a:pt x="37909" y="2053167"/>
                  <a:pt x="0" y="2015257"/>
                  <a:pt x="0" y="1968494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16195" y="1251954"/>
            <a:ext cx="5027083" cy="42333"/>
          </a:xfrm>
          <a:custGeom>
            <a:avLst/>
            <a:gdLst/>
            <a:ahLst/>
            <a:cxnLst/>
            <a:rect l="l" t="t" r="r" b="b"/>
            <a:pathLst>
              <a:path w="5027083" h="423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73917" y="148478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21001" y="1484787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74945" y="2077454"/>
            <a:ext cx="470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27861" y="2500787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消息的逻辑分类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27861" y="2839454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类似于数据库的表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09056" y="1251954"/>
            <a:ext cx="5027083" cy="2053167"/>
          </a:xfrm>
          <a:custGeom>
            <a:avLst/>
            <a:gdLst/>
            <a:ahLst/>
            <a:cxnLst/>
            <a:rect l="l" t="t" r="r" b="b"/>
            <a:pathLst>
              <a:path w="5027083" h="2053167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1968494"/>
                </a:lnTo>
                <a:cubicBezTo>
                  <a:pt x="5027083" y="2015257"/>
                  <a:pt x="4989174" y="2053167"/>
                  <a:pt x="4942411" y="2053167"/>
                </a:cubicBezTo>
                <a:lnTo>
                  <a:pt x="84673" y="2053167"/>
                </a:lnTo>
                <a:cubicBezTo>
                  <a:pt x="37909" y="2053167"/>
                  <a:pt x="0" y="2015257"/>
                  <a:pt x="0" y="1968494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809056" y="1251954"/>
            <a:ext cx="5027083" cy="42333"/>
          </a:xfrm>
          <a:custGeom>
            <a:avLst/>
            <a:gdLst/>
            <a:ahLst/>
            <a:cxnLst/>
            <a:rect l="l" t="t" r="r" b="b"/>
            <a:pathLst>
              <a:path w="5027083" h="42333">
                <a:moveTo>
                  <a:pt x="42333" y="0"/>
                </a:moveTo>
                <a:lnTo>
                  <a:pt x="4984750" y="0"/>
                </a:lnTo>
                <a:cubicBezTo>
                  <a:pt x="5008130" y="0"/>
                  <a:pt x="5027083" y="18953"/>
                  <a:pt x="5027083" y="42333"/>
                </a:cubicBezTo>
                <a:lnTo>
                  <a:pt x="502708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066779" y="148478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013862" y="1484787"/>
            <a:ext cx="6138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b="1" dirty="0">
                <a:solidFill>
                  <a:srgbClr val="FFFFFF"/>
                </a:solidFill>
                <a:latin typeface="Calibri" panose="020F0502020204030204" pitchFamily="34" charset="0"/>
                <a:ea typeface="Liter" pitchFamily="34" charset="-122"/>
                <a:cs typeface="Calibri" panose="020F0502020204030204" pitchFamily="34" charset="0"/>
              </a:rPr>
              <a:t>P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67806" y="2077454"/>
            <a:ext cx="470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67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020723" y="2500787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的物理分片,并行处理单元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20723" y="2839454"/>
            <a:ext cx="4688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有序、不可变的追加日志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500" y="3405180"/>
            <a:ext cx="7577667" cy="3016252"/>
          </a:xfrm>
          <a:custGeom>
            <a:avLst/>
            <a:gdLst/>
            <a:ahLst/>
            <a:cxnLst/>
            <a:rect l="l" t="t" r="r" b="b"/>
            <a:pathLst>
              <a:path w="7577667" h="3132667">
                <a:moveTo>
                  <a:pt x="42333" y="0"/>
                </a:moveTo>
                <a:lnTo>
                  <a:pt x="7492991" y="0"/>
                </a:lnTo>
                <a:cubicBezTo>
                  <a:pt x="7539756" y="0"/>
                  <a:pt x="7577667" y="37911"/>
                  <a:pt x="7577667" y="84676"/>
                </a:cubicBezTo>
                <a:lnTo>
                  <a:pt x="7577667" y="3047991"/>
                </a:lnTo>
                <a:cubicBezTo>
                  <a:pt x="7577667" y="3094756"/>
                  <a:pt x="7539756" y="3132667"/>
                  <a:pt x="7492991" y="3132667"/>
                </a:cubicBezTo>
                <a:lnTo>
                  <a:pt x="42333" y="3132667"/>
                </a:lnTo>
                <a:cubicBezTo>
                  <a:pt x="18953" y="3132667"/>
                  <a:pt x="0" y="3113713"/>
                  <a:pt x="0" y="309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4500" y="3405179"/>
            <a:ext cx="42333" cy="3016800"/>
          </a:xfrm>
          <a:custGeom>
            <a:avLst/>
            <a:gdLst/>
            <a:ahLst/>
            <a:cxnLst/>
            <a:rect l="l" t="t" r="r" b="b"/>
            <a:pathLst>
              <a:path w="42333" h="3132667">
                <a:moveTo>
                  <a:pt x="42333" y="0"/>
                </a:moveTo>
                <a:lnTo>
                  <a:pt x="42333" y="0"/>
                </a:lnTo>
                <a:lnTo>
                  <a:pt x="42333" y="3132667"/>
                </a:lnTo>
                <a:lnTo>
                  <a:pt x="42333" y="3132667"/>
                </a:lnTo>
                <a:cubicBezTo>
                  <a:pt x="18953" y="3132667"/>
                  <a:pt x="0" y="3113713"/>
                  <a:pt x="0" y="309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09083" y="365917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06511" y="347"/>
                </a:moveTo>
                <a:cubicBezTo>
                  <a:pt x="115094" y="2183"/>
                  <a:pt x="120551" y="10616"/>
                  <a:pt x="118715" y="19199"/>
                </a:cubicBezTo>
                <a:lnTo>
                  <a:pt x="109240" y="63500"/>
                </a:lnTo>
                <a:lnTo>
                  <a:pt x="171996" y="63500"/>
                </a:lnTo>
                <a:lnTo>
                  <a:pt x="182910" y="12551"/>
                </a:lnTo>
                <a:cubicBezTo>
                  <a:pt x="184745" y="3969"/>
                  <a:pt x="193179" y="-1488"/>
                  <a:pt x="201761" y="347"/>
                </a:cubicBezTo>
                <a:cubicBezTo>
                  <a:pt x="210344" y="2183"/>
                  <a:pt x="215801" y="10616"/>
                  <a:pt x="213965" y="19199"/>
                </a:cubicBezTo>
                <a:lnTo>
                  <a:pt x="204490" y="63500"/>
                </a:lnTo>
                <a:lnTo>
                  <a:pt x="238125" y="63500"/>
                </a:lnTo>
                <a:cubicBezTo>
                  <a:pt x="246906" y="63500"/>
                  <a:pt x="254000" y="70594"/>
                  <a:pt x="254000" y="79375"/>
                </a:cubicBezTo>
                <a:cubicBezTo>
                  <a:pt x="254000" y="88156"/>
                  <a:pt x="246906" y="95250"/>
                  <a:pt x="238125" y="95250"/>
                </a:cubicBezTo>
                <a:lnTo>
                  <a:pt x="197644" y="95250"/>
                </a:lnTo>
                <a:lnTo>
                  <a:pt x="184051" y="158750"/>
                </a:lnTo>
                <a:lnTo>
                  <a:pt x="217686" y="158750"/>
                </a:lnTo>
                <a:cubicBezTo>
                  <a:pt x="226467" y="158750"/>
                  <a:pt x="233561" y="165844"/>
                  <a:pt x="233561" y="174625"/>
                </a:cubicBezTo>
                <a:cubicBezTo>
                  <a:pt x="233561" y="183406"/>
                  <a:pt x="226467" y="190500"/>
                  <a:pt x="217686" y="190500"/>
                </a:cubicBezTo>
                <a:lnTo>
                  <a:pt x="177205" y="190500"/>
                </a:lnTo>
                <a:lnTo>
                  <a:pt x="166291" y="241449"/>
                </a:lnTo>
                <a:cubicBezTo>
                  <a:pt x="164455" y="250031"/>
                  <a:pt x="156021" y="255488"/>
                  <a:pt x="147439" y="253653"/>
                </a:cubicBezTo>
                <a:cubicBezTo>
                  <a:pt x="138857" y="251817"/>
                  <a:pt x="133400" y="243384"/>
                  <a:pt x="135235" y="234801"/>
                </a:cubicBezTo>
                <a:lnTo>
                  <a:pt x="144711" y="190500"/>
                </a:lnTo>
                <a:lnTo>
                  <a:pt x="81955" y="190500"/>
                </a:lnTo>
                <a:lnTo>
                  <a:pt x="71041" y="241449"/>
                </a:lnTo>
                <a:cubicBezTo>
                  <a:pt x="69205" y="250031"/>
                  <a:pt x="60771" y="255488"/>
                  <a:pt x="52189" y="253653"/>
                </a:cubicBezTo>
                <a:cubicBezTo>
                  <a:pt x="43607" y="251817"/>
                  <a:pt x="38150" y="243384"/>
                  <a:pt x="39985" y="234801"/>
                </a:cubicBezTo>
                <a:lnTo>
                  <a:pt x="49510" y="190500"/>
                </a:lnTo>
                <a:lnTo>
                  <a:pt x="15875" y="190500"/>
                </a:lnTo>
                <a:cubicBezTo>
                  <a:pt x="7094" y="190500"/>
                  <a:pt x="0" y="183406"/>
                  <a:pt x="0" y="174625"/>
                </a:cubicBezTo>
                <a:cubicBezTo>
                  <a:pt x="0" y="165844"/>
                  <a:pt x="7094" y="158750"/>
                  <a:pt x="15875" y="158750"/>
                </a:cubicBezTo>
                <a:lnTo>
                  <a:pt x="56356" y="158750"/>
                </a:lnTo>
                <a:lnTo>
                  <a:pt x="69949" y="95250"/>
                </a:lnTo>
                <a:lnTo>
                  <a:pt x="36314" y="95250"/>
                </a:lnTo>
                <a:cubicBezTo>
                  <a:pt x="27533" y="95250"/>
                  <a:pt x="20439" y="88156"/>
                  <a:pt x="20439" y="79375"/>
                </a:cubicBezTo>
                <a:cubicBezTo>
                  <a:pt x="20439" y="70594"/>
                  <a:pt x="27533" y="63500"/>
                  <a:pt x="36314" y="63500"/>
                </a:cubicBezTo>
                <a:lnTo>
                  <a:pt x="76795" y="63500"/>
                </a:lnTo>
                <a:lnTo>
                  <a:pt x="87709" y="12551"/>
                </a:lnTo>
                <a:cubicBezTo>
                  <a:pt x="89495" y="3969"/>
                  <a:pt x="97929" y="-1488"/>
                  <a:pt x="106511" y="347"/>
                </a:cubicBezTo>
                <a:close/>
                <a:moveTo>
                  <a:pt x="102394" y="95250"/>
                </a:moveTo>
                <a:lnTo>
                  <a:pt x="88801" y="158750"/>
                </a:lnTo>
                <a:lnTo>
                  <a:pt x="151557" y="158750"/>
                </a:lnTo>
                <a:lnTo>
                  <a:pt x="165150" y="95250"/>
                </a:lnTo>
                <a:lnTo>
                  <a:pt x="102394" y="9525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60836" y="3616846"/>
            <a:ext cx="687666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Offset与Producer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7333" y="4082512"/>
            <a:ext cx="7133167" cy="804333"/>
          </a:xfrm>
          <a:custGeom>
            <a:avLst/>
            <a:gdLst/>
            <a:ahLst/>
            <a:cxnLst/>
            <a:rect l="l" t="t" r="r" b="b"/>
            <a:pathLst>
              <a:path w="7133167" h="804333">
                <a:moveTo>
                  <a:pt x="42332" y="0"/>
                </a:moveTo>
                <a:lnTo>
                  <a:pt x="7090835" y="0"/>
                </a:lnTo>
                <a:cubicBezTo>
                  <a:pt x="7114214" y="0"/>
                  <a:pt x="7133167" y="18953"/>
                  <a:pt x="7133167" y="42332"/>
                </a:cubicBezTo>
                <a:lnTo>
                  <a:pt x="7133167" y="762001"/>
                </a:lnTo>
                <a:cubicBezTo>
                  <a:pt x="7133167" y="785381"/>
                  <a:pt x="7114214" y="804333"/>
                  <a:pt x="7090835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4333" y="4230679"/>
            <a:ext cx="6369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Offset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4333" y="4505846"/>
            <a:ext cx="696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消息在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中的唯一标识(偏移量),用于定位消息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7333" y="5013846"/>
            <a:ext cx="7133167" cy="1312333"/>
          </a:xfrm>
          <a:custGeom>
            <a:avLst/>
            <a:gdLst/>
            <a:ahLst/>
            <a:cxnLst/>
            <a:rect l="l" t="t" r="r" b="b"/>
            <a:pathLst>
              <a:path w="7133167" h="1312333">
                <a:moveTo>
                  <a:pt x="42336" y="0"/>
                </a:moveTo>
                <a:lnTo>
                  <a:pt x="7090831" y="0"/>
                </a:lnTo>
                <a:cubicBezTo>
                  <a:pt x="7114212" y="0"/>
                  <a:pt x="7133167" y="18954"/>
                  <a:pt x="7133167" y="42336"/>
                </a:cubicBezTo>
                <a:lnTo>
                  <a:pt x="7133167" y="1269997"/>
                </a:lnTo>
                <a:cubicBezTo>
                  <a:pt x="7133167" y="1293379"/>
                  <a:pt x="7114212" y="1312333"/>
                  <a:pt x="7090831" y="1312333"/>
                </a:cubicBezTo>
                <a:lnTo>
                  <a:pt x="42336" y="1312333"/>
                </a:lnTo>
                <a:cubicBezTo>
                  <a:pt x="18954" y="1312333"/>
                  <a:pt x="0" y="1293379"/>
                  <a:pt x="0" y="1269997"/>
                </a:cubicBezTo>
                <a:lnTo>
                  <a:pt x="0" y="42336"/>
                </a:lnTo>
                <a:cubicBezTo>
                  <a:pt x="0" y="18954"/>
                  <a:pt x="18954" y="0"/>
                  <a:pt x="4233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04333" y="5162012"/>
            <a:ext cx="8953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Producer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04333" y="5437179"/>
            <a:ext cx="6963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消息生产者,决定消息写入哪个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04333" y="5733512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Hash Key: 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相同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的消息进入同一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4333" y="5987512"/>
            <a:ext cx="6953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轮询(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Round-robin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): 无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时均匀分布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5000" y="3405179"/>
            <a:ext cx="7577667" cy="3016251"/>
          </a:xfrm>
          <a:custGeom>
            <a:avLst/>
            <a:gdLst/>
            <a:ahLst/>
            <a:cxnLst/>
            <a:rect l="l" t="t" r="r" b="b"/>
            <a:pathLst>
              <a:path w="7577667" h="3132667">
                <a:moveTo>
                  <a:pt x="42333" y="0"/>
                </a:moveTo>
                <a:lnTo>
                  <a:pt x="7492991" y="0"/>
                </a:lnTo>
                <a:cubicBezTo>
                  <a:pt x="7539756" y="0"/>
                  <a:pt x="7577667" y="37911"/>
                  <a:pt x="7577667" y="84676"/>
                </a:cubicBezTo>
                <a:lnTo>
                  <a:pt x="7577667" y="3047991"/>
                </a:lnTo>
                <a:cubicBezTo>
                  <a:pt x="7577667" y="3094756"/>
                  <a:pt x="7539756" y="3132667"/>
                  <a:pt x="7492991" y="3132667"/>
                </a:cubicBezTo>
                <a:lnTo>
                  <a:pt x="42333" y="3132667"/>
                </a:lnTo>
                <a:cubicBezTo>
                  <a:pt x="18953" y="3132667"/>
                  <a:pt x="0" y="3113713"/>
                  <a:pt x="0" y="309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55000" y="3405179"/>
            <a:ext cx="42333" cy="3016800"/>
          </a:xfrm>
          <a:custGeom>
            <a:avLst/>
            <a:gdLst/>
            <a:ahLst/>
            <a:cxnLst/>
            <a:rect l="l" t="t" r="r" b="b"/>
            <a:pathLst>
              <a:path w="42333" h="3132667">
                <a:moveTo>
                  <a:pt x="42333" y="0"/>
                </a:moveTo>
                <a:lnTo>
                  <a:pt x="42333" y="0"/>
                </a:lnTo>
                <a:lnTo>
                  <a:pt x="42333" y="3132667"/>
                </a:lnTo>
                <a:lnTo>
                  <a:pt x="42333" y="3132667"/>
                </a:lnTo>
                <a:cubicBezTo>
                  <a:pt x="18953" y="3132667"/>
                  <a:pt x="0" y="3113713"/>
                  <a:pt x="0" y="3090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487833" y="3659179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03086" y="3616846"/>
            <a:ext cx="6900334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 Group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487833" y="4082512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14833" y="4209512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消费者组,组内消费者共同消费一个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,实现负载均衡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87833" y="4738679"/>
            <a:ext cx="7133167" cy="529167"/>
          </a:xfrm>
          <a:custGeom>
            <a:avLst/>
            <a:gdLst/>
            <a:ahLst/>
            <a:cxnLst/>
            <a:rect l="l" t="t" r="r" b="b"/>
            <a:pathLst>
              <a:path w="7133167" h="529167">
                <a:moveTo>
                  <a:pt x="42333" y="0"/>
                </a:moveTo>
                <a:lnTo>
                  <a:pt x="7090833" y="0"/>
                </a:lnTo>
                <a:cubicBezTo>
                  <a:pt x="7114213" y="0"/>
                  <a:pt x="7133167" y="18953"/>
                  <a:pt x="7133167" y="42333"/>
                </a:cubicBezTo>
                <a:lnTo>
                  <a:pt x="7133167" y="486833"/>
                </a:lnTo>
                <a:cubicBezTo>
                  <a:pt x="7133167" y="510213"/>
                  <a:pt x="7114213" y="529167"/>
                  <a:pt x="7090833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614833" y="4865679"/>
            <a:ext cx="69638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一个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在同一时刻只能被组内的一个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消费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09000" y="5394846"/>
            <a:ext cx="7112000" cy="804333"/>
          </a:xfrm>
          <a:custGeom>
            <a:avLst/>
            <a:gdLst/>
            <a:ahLst/>
            <a:cxnLst/>
            <a:rect l="l" t="t" r="r" b="b"/>
            <a:pathLst>
              <a:path w="7112000" h="804333">
                <a:moveTo>
                  <a:pt x="42332" y="0"/>
                </a:moveTo>
                <a:lnTo>
                  <a:pt x="7069668" y="0"/>
                </a:lnTo>
                <a:cubicBezTo>
                  <a:pt x="7093047" y="0"/>
                  <a:pt x="7112000" y="18953"/>
                  <a:pt x="7112000" y="42332"/>
                </a:cubicBezTo>
                <a:lnTo>
                  <a:pt x="7112000" y="762001"/>
                </a:lnTo>
                <a:cubicBezTo>
                  <a:pt x="7112000" y="785381"/>
                  <a:pt x="7093047" y="804333"/>
                  <a:pt x="7069668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509000" y="5394846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657167" y="5521846"/>
            <a:ext cx="69215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并行度: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最大并行度 =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数量。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数量超过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数量时,多余的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会空闲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8625" y="6584135"/>
            <a:ext cx="15398750" cy="2465917"/>
          </a:xfrm>
          <a:custGeom>
            <a:avLst/>
            <a:gdLst/>
            <a:ahLst/>
            <a:cxnLst/>
            <a:rect l="l" t="t" r="r" b="b"/>
            <a:pathLst>
              <a:path w="15398750" h="2465917">
                <a:moveTo>
                  <a:pt x="84655" y="0"/>
                </a:moveTo>
                <a:lnTo>
                  <a:pt x="15314095" y="0"/>
                </a:lnTo>
                <a:cubicBezTo>
                  <a:pt x="15360849" y="0"/>
                  <a:pt x="15398750" y="37901"/>
                  <a:pt x="15398750" y="84655"/>
                </a:cubicBezTo>
                <a:lnTo>
                  <a:pt x="15398750" y="2381262"/>
                </a:lnTo>
                <a:cubicBezTo>
                  <a:pt x="15398750" y="2428015"/>
                  <a:pt x="15360849" y="2465917"/>
                  <a:pt x="15314095" y="2465917"/>
                </a:cubicBezTo>
                <a:lnTo>
                  <a:pt x="84655" y="2465917"/>
                </a:lnTo>
                <a:cubicBezTo>
                  <a:pt x="37901" y="2465917"/>
                  <a:pt x="0" y="2428015"/>
                  <a:pt x="0" y="2381262"/>
                </a:cubicBezTo>
                <a:lnTo>
                  <a:pt x="0" y="84655"/>
                </a:lnTo>
                <a:cubicBezTo>
                  <a:pt x="0" y="37933"/>
                  <a:pt x="37933" y="0"/>
                  <a:pt x="8465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35000" y="680109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0750" y="6758760"/>
            <a:ext cx="14859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作用与</a:t>
            </a: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KRaft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模式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03250" y="7224426"/>
            <a:ext cx="7418917" cy="1651000"/>
          </a:xfrm>
          <a:custGeom>
            <a:avLst/>
            <a:gdLst/>
            <a:ahLst/>
            <a:cxnLst/>
            <a:rect l="l" t="t" r="r" b="b"/>
            <a:pathLst>
              <a:path w="7418917" h="1651000">
                <a:moveTo>
                  <a:pt x="42332" y="0"/>
                </a:moveTo>
                <a:lnTo>
                  <a:pt x="7376585" y="0"/>
                </a:lnTo>
                <a:cubicBezTo>
                  <a:pt x="7399964" y="0"/>
                  <a:pt x="7418917" y="18953"/>
                  <a:pt x="7418917" y="42332"/>
                </a:cubicBezTo>
                <a:lnTo>
                  <a:pt x="7418917" y="1608668"/>
                </a:lnTo>
                <a:cubicBezTo>
                  <a:pt x="7418917" y="1632047"/>
                  <a:pt x="7399964" y="1651000"/>
                  <a:pt x="7376585" y="1651000"/>
                </a:cubicBezTo>
                <a:lnTo>
                  <a:pt x="42332" y="1651000"/>
                </a:lnTo>
                <a:cubicBezTo>
                  <a:pt x="18953" y="1651000"/>
                  <a:pt x="0" y="1632047"/>
                  <a:pt x="0" y="1608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72583" y="7393760"/>
            <a:ext cx="7175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5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作用(经典架构)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72583" y="7774760"/>
            <a:ext cx="716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存储元数据(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Broker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信息、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配置等)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72583" y="8113426"/>
            <a:ext cx="716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管理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Controller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选举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2583" y="8452093"/>
            <a:ext cx="716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维护集群成员关系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33833" y="7224426"/>
            <a:ext cx="7418917" cy="1651000"/>
          </a:xfrm>
          <a:custGeom>
            <a:avLst/>
            <a:gdLst/>
            <a:ahLst/>
            <a:cxnLst/>
            <a:rect l="l" t="t" r="r" b="b"/>
            <a:pathLst>
              <a:path w="7418917" h="1651000">
                <a:moveTo>
                  <a:pt x="42332" y="0"/>
                </a:moveTo>
                <a:lnTo>
                  <a:pt x="7376585" y="0"/>
                </a:lnTo>
                <a:cubicBezTo>
                  <a:pt x="7399964" y="0"/>
                  <a:pt x="7418917" y="18953"/>
                  <a:pt x="7418917" y="42332"/>
                </a:cubicBezTo>
                <a:lnTo>
                  <a:pt x="7418917" y="1608668"/>
                </a:lnTo>
                <a:cubicBezTo>
                  <a:pt x="7418917" y="1632047"/>
                  <a:pt x="7399964" y="1651000"/>
                  <a:pt x="7376585" y="1651000"/>
                </a:cubicBezTo>
                <a:lnTo>
                  <a:pt x="42332" y="1651000"/>
                </a:lnTo>
                <a:cubicBezTo>
                  <a:pt x="18953" y="1651000"/>
                  <a:pt x="0" y="1632047"/>
                  <a:pt x="0" y="1608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403167" y="7393760"/>
            <a:ext cx="717550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KRaft</a:t>
            </a:r>
            <a:r>
              <a:rPr lang="en-US" sz="1500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模式(新版)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03167" y="7774760"/>
            <a:ext cx="716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变化: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逐步移除ZK依赖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03167" y="8113426"/>
            <a:ext cx="716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优势: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简化架构,降低运维成本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03167" y="8452093"/>
            <a:ext cx="7164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考试: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通常基于经典架构(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ZK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12900" cy="406400"/>
          </a:xfrm>
          <a:custGeom>
            <a:avLst/>
            <a:gdLst/>
            <a:ahLst/>
            <a:cxnLst/>
            <a:rect l="l" t="t" r="r" b="b"/>
            <a:pathLst>
              <a:path w="1612900" h="406400">
                <a:moveTo>
                  <a:pt x="0" y="0"/>
                </a:moveTo>
                <a:lnTo>
                  <a:pt x="1612900" y="0"/>
                </a:lnTo>
                <a:lnTo>
                  <a:pt x="16129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1200" y="577850"/>
            <a:ext cx="1384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消息有序性与</a:t>
            </a:r>
            <a:r>
              <a:rPr lang="en-US" sz="36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 Group</a:t>
            </a:r>
            <a:r>
              <a:rPr lang="en-US" sz="3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并行度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52600"/>
            <a:ext cx="7493000" cy="6070600"/>
          </a:xfrm>
          <a:custGeom>
            <a:avLst/>
            <a:gdLst/>
            <a:ahLst/>
            <a:cxnLst/>
            <a:rect l="l" t="t" r="r" b="b"/>
            <a:pathLst>
              <a:path w="7493000" h="6070600">
                <a:moveTo>
                  <a:pt x="50800" y="0"/>
                </a:moveTo>
                <a:lnTo>
                  <a:pt x="7442200" y="0"/>
                </a:lnTo>
                <a:cubicBezTo>
                  <a:pt x="7470237" y="0"/>
                  <a:pt x="7493000" y="22763"/>
                  <a:pt x="7493000" y="50800"/>
                </a:cubicBezTo>
                <a:lnTo>
                  <a:pt x="7493000" y="5968978"/>
                </a:lnTo>
                <a:cubicBezTo>
                  <a:pt x="7493000" y="6025102"/>
                  <a:pt x="7447502" y="6070600"/>
                  <a:pt x="7391378" y="6070600"/>
                </a:cubicBezTo>
                <a:lnTo>
                  <a:pt x="101622" y="6070600"/>
                </a:lnTo>
                <a:cubicBezTo>
                  <a:pt x="45498" y="6070600"/>
                  <a:pt x="0" y="6025102"/>
                  <a:pt x="0" y="596897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8000" y="1752600"/>
            <a:ext cx="7493000" cy="50800"/>
          </a:xfrm>
          <a:custGeom>
            <a:avLst/>
            <a:gdLst/>
            <a:ahLst/>
            <a:cxnLst/>
            <a:rect l="l" t="t" r="r" b="b"/>
            <a:pathLst>
              <a:path w="7493000" h="50800">
                <a:moveTo>
                  <a:pt x="50800" y="0"/>
                </a:moveTo>
                <a:lnTo>
                  <a:pt x="7442200" y="0"/>
                </a:lnTo>
                <a:cubicBezTo>
                  <a:pt x="7470237" y="0"/>
                  <a:pt x="7493000" y="22763"/>
                  <a:pt x="7493000" y="50800"/>
                </a:cubicBezTo>
                <a:lnTo>
                  <a:pt x="749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01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9257" y="22622"/>
                </a:moveTo>
                <a:cubicBezTo>
                  <a:pt x="254198" y="26194"/>
                  <a:pt x="257175" y="31968"/>
                  <a:pt x="257175" y="38100"/>
                </a:cubicBezTo>
                <a:lnTo>
                  <a:pt x="257175" y="95250"/>
                </a:lnTo>
                <a:lnTo>
                  <a:pt x="266700" y="95250"/>
                </a:lnTo>
                <a:cubicBezTo>
                  <a:pt x="277237" y="95250"/>
                  <a:pt x="285750" y="103763"/>
                  <a:pt x="285750" y="114300"/>
                </a:cubicBezTo>
                <a:cubicBezTo>
                  <a:pt x="285750" y="124837"/>
                  <a:pt x="277237" y="133350"/>
                  <a:pt x="266700" y="133350"/>
                </a:cubicBezTo>
                <a:lnTo>
                  <a:pt x="209550" y="133350"/>
                </a:lnTo>
                <a:cubicBezTo>
                  <a:pt x="199013" y="133350"/>
                  <a:pt x="190500" y="124837"/>
                  <a:pt x="190500" y="114300"/>
                </a:cubicBezTo>
                <a:cubicBezTo>
                  <a:pt x="190500" y="103763"/>
                  <a:pt x="199013" y="95250"/>
                  <a:pt x="209550" y="95250"/>
                </a:cubicBezTo>
                <a:lnTo>
                  <a:pt x="219075" y="95250"/>
                </a:lnTo>
                <a:lnTo>
                  <a:pt x="219075" y="64532"/>
                </a:lnTo>
                <a:lnTo>
                  <a:pt x="215563" y="65723"/>
                </a:lnTo>
                <a:cubicBezTo>
                  <a:pt x="205561" y="69056"/>
                  <a:pt x="194786" y="63639"/>
                  <a:pt x="191453" y="53697"/>
                </a:cubicBezTo>
                <a:cubicBezTo>
                  <a:pt x="188119" y="43755"/>
                  <a:pt x="193536" y="32921"/>
                  <a:pt x="203478" y="29587"/>
                </a:cubicBezTo>
                <a:lnTo>
                  <a:pt x="232053" y="20062"/>
                </a:lnTo>
                <a:cubicBezTo>
                  <a:pt x="237887" y="18098"/>
                  <a:pt x="244257" y="19110"/>
                  <a:pt x="249198" y="22681"/>
                </a:cubicBezTo>
                <a:close/>
                <a:moveTo>
                  <a:pt x="217349" y="256342"/>
                </a:moveTo>
                <a:lnTo>
                  <a:pt x="224314" y="245626"/>
                </a:lnTo>
                <a:cubicBezTo>
                  <a:pt x="204728" y="239732"/>
                  <a:pt x="190500" y="221516"/>
                  <a:pt x="190500" y="200025"/>
                </a:cubicBezTo>
                <a:cubicBezTo>
                  <a:pt x="190500" y="173712"/>
                  <a:pt x="211812" y="152400"/>
                  <a:pt x="238125" y="152400"/>
                </a:cubicBezTo>
                <a:cubicBezTo>
                  <a:pt x="264438" y="152400"/>
                  <a:pt x="285750" y="173712"/>
                  <a:pt x="285750" y="200025"/>
                </a:cubicBezTo>
                <a:cubicBezTo>
                  <a:pt x="285750" y="213658"/>
                  <a:pt x="281821" y="226993"/>
                  <a:pt x="274380" y="238423"/>
                </a:cubicBezTo>
                <a:lnTo>
                  <a:pt x="249317" y="277058"/>
                </a:lnTo>
                <a:cubicBezTo>
                  <a:pt x="243602" y="285869"/>
                  <a:pt x="231815" y="288429"/>
                  <a:pt x="222945" y="282654"/>
                </a:cubicBezTo>
                <a:cubicBezTo>
                  <a:pt x="214074" y="276880"/>
                  <a:pt x="211574" y="265152"/>
                  <a:pt x="217349" y="256282"/>
                </a:cubicBezTo>
                <a:close/>
                <a:moveTo>
                  <a:pt x="252413" y="200025"/>
                </a:moveTo>
                <a:cubicBezTo>
                  <a:pt x="252413" y="192140"/>
                  <a:pt x="246010" y="185738"/>
                  <a:pt x="238125" y="185738"/>
                </a:cubicBezTo>
                <a:cubicBezTo>
                  <a:pt x="230240" y="185738"/>
                  <a:pt x="223838" y="192140"/>
                  <a:pt x="223838" y="200025"/>
                </a:cubicBezTo>
                <a:cubicBezTo>
                  <a:pt x="223838" y="207910"/>
                  <a:pt x="230240" y="214313"/>
                  <a:pt x="238125" y="214313"/>
                </a:cubicBezTo>
                <a:cubicBezTo>
                  <a:pt x="246010" y="214313"/>
                  <a:pt x="252413" y="207910"/>
                  <a:pt x="252413" y="200025"/>
                </a:cubicBezTo>
                <a:close/>
                <a:moveTo>
                  <a:pt x="89654" y="280154"/>
                </a:moveTo>
                <a:cubicBezTo>
                  <a:pt x="82213" y="287595"/>
                  <a:pt x="70128" y="287595"/>
                  <a:pt x="62686" y="280154"/>
                </a:cubicBezTo>
                <a:lnTo>
                  <a:pt x="5536" y="223004"/>
                </a:lnTo>
                <a:cubicBezTo>
                  <a:pt x="-1905" y="215563"/>
                  <a:pt x="-1905" y="203478"/>
                  <a:pt x="5536" y="196036"/>
                </a:cubicBezTo>
                <a:cubicBezTo>
                  <a:pt x="12978" y="188595"/>
                  <a:pt x="25063" y="188595"/>
                  <a:pt x="32504" y="196036"/>
                </a:cubicBezTo>
                <a:lnTo>
                  <a:pt x="57150" y="220682"/>
                </a:lnTo>
                <a:lnTo>
                  <a:pt x="57150" y="38100"/>
                </a:lnTo>
                <a:cubicBezTo>
                  <a:pt x="57150" y="27563"/>
                  <a:pt x="65663" y="19050"/>
                  <a:pt x="76200" y="19050"/>
                </a:cubicBezTo>
                <a:cubicBezTo>
                  <a:pt x="86737" y="19050"/>
                  <a:pt x="95250" y="27563"/>
                  <a:pt x="95250" y="38100"/>
                </a:cubicBezTo>
                <a:lnTo>
                  <a:pt x="95250" y="220682"/>
                </a:lnTo>
                <a:lnTo>
                  <a:pt x="119896" y="196036"/>
                </a:lnTo>
                <a:cubicBezTo>
                  <a:pt x="127337" y="188595"/>
                  <a:pt x="139422" y="188595"/>
                  <a:pt x="146864" y="196036"/>
                </a:cubicBezTo>
                <a:cubicBezTo>
                  <a:pt x="154305" y="203478"/>
                  <a:pt x="154305" y="215563"/>
                  <a:pt x="146864" y="223004"/>
                </a:cubicBezTo>
                <a:lnTo>
                  <a:pt x="89714" y="280154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032000"/>
            <a:ext cx="675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消息有序性:</a:t>
            </a:r>
            <a:r>
              <a:rPr lang="en-US" sz="24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级别 </a:t>
            </a:r>
            <a:r>
              <a:rPr lang="en-US" sz="24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vs Topic</a:t>
            </a: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级别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7400" y="2590800"/>
            <a:ext cx="6959600" cy="1193800"/>
          </a:xfrm>
          <a:custGeom>
            <a:avLst/>
            <a:gdLst/>
            <a:ahLst/>
            <a:cxnLst/>
            <a:rect l="l" t="t" r="r" b="b"/>
            <a:pathLst>
              <a:path w="6959600" h="1193800">
                <a:moveTo>
                  <a:pt x="50800" y="0"/>
                </a:moveTo>
                <a:lnTo>
                  <a:pt x="6857996" y="0"/>
                </a:lnTo>
                <a:cubicBezTo>
                  <a:pt x="6914110" y="0"/>
                  <a:pt x="6959600" y="45490"/>
                  <a:pt x="6959600" y="101604"/>
                </a:cubicBezTo>
                <a:lnTo>
                  <a:pt x="6959600" y="1092196"/>
                </a:lnTo>
                <a:cubicBezTo>
                  <a:pt x="6959600" y="1148310"/>
                  <a:pt x="6914110" y="1193800"/>
                  <a:pt x="6857996" y="1193800"/>
                </a:cubicBezTo>
                <a:lnTo>
                  <a:pt x="50800" y="1193800"/>
                </a:lnTo>
                <a:cubicBezTo>
                  <a:pt x="22744" y="1193800"/>
                  <a:pt x="0" y="1171056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7400" y="2590800"/>
            <a:ext cx="50800" cy="1193800"/>
          </a:xfrm>
          <a:custGeom>
            <a:avLst/>
            <a:gdLst/>
            <a:ahLst/>
            <a:cxnLst/>
            <a:rect l="l" t="t" r="r" b="b"/>
            <a:pathLst>
              <a:path w="50800" h="1193800">
                <a:moveTo>
                  <a:pt x="50800" y="0"/>
                </a:moveTo>
                <a:lnTo>
                  <a:pt x="50800" y="0"/>
                </a:lnTo>
                <a:lnTo>
                  <a:pt x="50800" y="1193800"/>
                </a:lnTo>
                <a:lnTo>
                  <a:pt x="50800" y="1193800"/>
                </a:lnTo>
                <a:cubicBezTo>
                  <a:pt x="22763" y="1193800"/>
                  <a:pt x="0" y="1171037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541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98600" y="27940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2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级别有序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251200"/>
            <a:ext cx="662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能保证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级别的有序性,即同一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内的消息是有序的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7400" y="3937000"/>
            <a:ext cx="6959600" cy="1193800"/>
          </a:xfrm>
          <a:custGeom>
            <a:avLst/>
            <a:gdLst/>
            <a:ahLst/>
            <a:cxnLst/>
            <a:rect l="l" t="t" r="r" b="b"/>
            <a:pathLst>
              <a:path w="6959600" h="1193800">
                <a:moveTo>
                  <a:pt x="50800" y="0"/>
                </a:moveTo>
                <a:lnTo>
                  <a:pt x="6857996" y="0"/>
                </a:lnTo>
                <a:cubicBezTo>
                  <a:pt x="6914110" y="0"/>
                  <a:pt x="6959600" y="45490"/>
                  <a:pt x="6959600" y="101604"/>
                </a:cubicBezTo>
                <a:lnTo>
                  <a:pt x="6959600" y="1092196"/>
                </a:lnTo>
                <a:cubicBezTo>
                  <a:pt x="6959600" y="1148310"/>
                  <a:pt x="6914110" y="1193800"/>
                  <a:pt x="6857996" y="1193800"/>
                </a:cubicBezTo>
                <a:lnTo>
                  <a:pt x="50800" y="1193800"/>
                </a:lnTo>
                <a:cubicBezTo>
                  <a:pt x="22744" y="1193800"/>
                  <a:pt x="0" y="1171056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7400" y="3937000"/>
            <a:ext cx="50800" cy="1193800"/>
          </a:xfrm>
          <a:custGeom>
            <a:avLst/>
            <a:gdLst/>
            <a:ahLst/>
            <a:cxnLst/>
            <a:rect l="l" t="t" r="r" b="b"/>
            <a:pathLst>
              <a:path w="50800" h="1193800">
                <a:moveTo>
                  <a:pt x="50800" y="0"/>
                </a:moveTo>
                <a:lnTo>
                  <a:pt x="50800" y="0"/>
                </a:lnTo>
                <a:lnTo>
                  <a:pt x="50800" y="1193800"/>
                </a:lnTo>
                <a:lnTo>
                  <a:pt x="50800" y="1193800"/>
                </a:lnTo>
                <a:cubicBezTo>
                  <a:pt x="22763" y="1193800"/>
                  <a:pt x="0" y="1171037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4100" y="416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98600" y="41402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2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级别无序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597400"/>
            <a:ext cx="662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不能保证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级别(全局)的有序性,不同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之间的消息无序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7400" y="5283200"/>
            <a:ext cx="6959600" cy="1854200"/>
          </a:xfrm>
          <a:custGeom>
            <a:avLst/>
            <a:gdLst/>
            <a:ahLst/>
            <a:cxnLst/>
            <a:rect l="l" t="t" r="r" b="b"/>
            <a:pathLst>
              <a:path w="6959600" h="1854200">
                <a:moveTo>
                  <a:pt x="50800" y="0"/>
                </a:moveTo>
                <a:lnTo>
                  <a:pt x="6908795" y="0"/>
                </a:lnTo>
                <a:cubicBezTo>
                  <a:pt x="6936854" y="0"/>
                  <a:pt x="6959600" y="22746"/>
                  <a:pt x="6959600" y="50805"/>
                </a:cubicBezTo>
                <a:lnTo>
                  <a:pt x="6959600" y="1803395"/>
                </a:lnTo>
                <a:cubicBezTo>
                  <a:pt x="6959600" y="1831454"/>
                  <a:pt x="6936854" y="1854200"/>
                  <a:pt x="6908795" y="1854200"/>
                </a:cubicBezTo>
                <a:lnTo>
                  <a:pt x="50800" y="1854200"/>
                </a:lnTo>
                <a:cubicBezTo>
                  <a:pt x="22763" y="1854200"/>
                  <a:pt x="0" y="1831437"/>
                  <a:pt x="0" y="1803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87400" y="52832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50800" h="1854200">
                <a:moveTo>
                  <a:pt x="50800" y="0"/>
                </a:moveTo>
                <a:lnTo>
                  <a:pt x="50800" y="0"/>
                </a:lnTo>
                <a:lnTo>
                  <a:pt x="50800" y="1854200"/>
                </a:lnTo>
                <a:lnTo>
                  <a:pt x="50800" y="1854200"/>
                </a:lnTo>
                <a:cubicBezTo>
                  <a:pt x="22763" y="1854200"/>
                  <a:pt x="0" y="1831437"/>
                  <a:pt x="0" y="1803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76325" y="5549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08100" y="5486400"/>
            <a:ext cx="635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业务应用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5943600"/>
            <a:ext cx="6629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如果业务要求严格顺序(如订单状态流转),必须将相关消息(同一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OrderID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)发送到同一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(通过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 Hash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)。或者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只配置1个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,但会牺牲并行度。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55000" y="1752600"/>
            <a:ext cx="7493000" cy="6070600"/>
          </a:xfrm>
          <a:custGeom>
            <a:avLst/>
            <a:gdLst/>
            <a:ahLst/>
            <a:cxnLst/>
            <a:rect l="l" t="t" r="r" b="b"/>
            <a:pathLst>
              <a:path w="7493000" h="6070600">
                <a:moveTo>
                  <a:pt x="50800" y="0"/>
                </a:moveTo>
                <a:lnTo>
                  <a:pt x="7442200" y="0"/>
                </a:lnTo>
                <a:cubicBezTo>
                  <a:pt x="7470237" y="0"/>
                  <a:pt x="7493000" y="22763"/>
                  <a:pt x="7493000" y="50800"/>
                </a:cubicBezTo>
                <a:lnTo>
                  <a:pt x="7493000" y="5968978"/>
                </a:lnTo>
                <a:cubicBezTo>
                  <a:pt x="7493000" y="6025102"/>
                  <a:pt x="7447502" y="6070600"/>
                  <a:pt x="7391378" y="6070600"/>
                </a:cubicBezTo>
                <a:lnTo>
                  <a:pt x="101622" y="6070600"/>
                </a:lnTo>
                <a:cubicBezTo>
                  <a:pt x="45498" y="6070600"/>
                  <a:pt x="0" y="6025102"/>
                  <a:pt x="0" y="596897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55000" y="1752600"/>
            <a:ext cx="7493000" cy="50800"/>
          </a:xfrm>
          <a:custGeom>
            <a:avLst/>
            <a:gdLst/>
            <a:ahLst/>
            <a:cxnLst/>
            <a:rect l="l" t="t" r="r" b="b"/>
            <a:pathLst>
              <a:path w="7493000" h="50800">
                <a:moveTo>
                  <a:pt x="50800" y="0"/>
                </a:moveTo>
                <a:lnTo>
                  <a:pt x="7442200" y="0"/>
                </a:lnTo>
                <a:cubicBezTo>
                  <a:pt x="7470237" y="0"/>
                  <a:pt x="7493000" y="22763"/>
                  <a:pt x="7493000" y="50800"/>
                </a:cubicBezTo>
                <a:lnTo>
                  <a:pt x="749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09000" y="2082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133350"/>
                </a:moveTo>
                <a:cubicBezTo>
                  <a:pt x="224670" y="133350"/>
                  <a:pt x="252413" y="105608"/>
                  <a:pt x="252413" y="71438"/>
                </a:cubicBezTo>
                <a:cubicBezTo>
                  <a:pt x="252413" y="37267"/>
                  <a:pt x="224670" y="9525"/>
                  <a:pt x="190500" y="9525"/>
                </a:cubicBezTo>
                <a:cubicBezTo>
                  <a:pt x="156330" y="9525"/>
                  <a:pt x="128588" y="37267"/>
                  <a:pt x="128588" y="71438"/>
                </a:cubicBezTo>
                <a:cubicBezTo>
                  <a:pt x="128588" y="105608"/>
                  <a:pt x="156330" y="133350"/>
                  <a:pt x="190500" y="133350"/>
                </a:cubicBezTo>
                <a:close/>
                <a:moveTo>
                  <a:pt x="57150" y="138113"/>
                </a:moveTo>
                <a:cubicBezTo>
                  <a:pt x="80806" y="138113"/>
                  <a:pt x="100013" y="118906"/>
                  <a:pt x="100013" y="95250"/>
                </a:cubicBezTo>
                <a:cubicBezTo>
                  <a:pt x="100013" y="71594"/>
                  <a:pt x="80806" y="52388"/>
                  <a:pt x="57150" y="52388"/>
                </a:cubicBezTo>
                <a:cubicBezTo>
                  <a:pt x="33494" y="52388"/>
                  <a:pt x="14288" y="71594"/>
                  <a:pt x="14288" y="95250"/>
                </a:cubicBezTo>
                <a:cubicBezTo>
                  <a:pt x="14288" y="118906"/>
                  <a:pt x="33494" y="138113"/>
                  <a:pt x="57150" y="138113"/>
                </a:cubicBezTo>
                <a:close/>
                <a:moveTo>
                  <a:pt x="0" y="247650"/>
                </a:move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0664" y="285750"/>
                </a:lnTo>
                <a:cubicBezTo>
                  <a:pt x="68104" y="279916"/>
                  <a:pt x="66675" y="273487"/>
                  <a:pt x="66675" y="266700"/>
                </a:cubicBezTo>
                <a:lnTo>
                  <a:pt x="66675" y="257175"/>
                </a:lnTo>
                <a:cubicBezTo>
                  <a:pt x="66675" y="225504"/>
                  <a:pt x="78581" y="196572"/>
                  <a:pt x="98167" y="174665"/>
                </a:cubicBezTo>
                <a:cubicBezTo>
                  <a:pt x="91202" y="172581"/>
                  <a:pt x="83820" y="171450"/>
                  <a:pt x="76200" y="171450"/>
                </a:cubicBezTo>
                <a:cubicBezTo>
                  <a:pt x="34111" y="171450"/>
                  <a:pt x="0" y="205561"/>
                  <a:pt x="0" y="247650"/>
                </a:cubicBezTo>
                <a:close/>
                <a:moveTo>
                  <a:pt x="366712" y="95250"/>
                </a:moveTo>
                <a:cubicBezTo>
                  <a:pt x="366712" y="71594"/>
                  <a:pt x="347506" y="52388"/>
                  <a:pt x="323850" y="52388"/>
                </a:cubicBezTo>
                <a:cubicBezTo>
                  <a:pt x="300194" y="52388"/>
                  <a:pt x="280987" y="71594"/>
                  <a:pt x="280987" y="95250"/>
                </a:cubicBezTo>
                <a:cubicBezTo>
                  <a:pt x="280987" y="118906"/>
                  <a:pt x="300194" y="138113"/>
                  <a:pt x="323850" y="138113"/>
                </a:cubicBezTo>
                <a:cubicBezTo>
                  <a:pt x="347506" y="138113"/>
                  <a:pt x="366712" y="118906"/>
                  <a:pt x="366712" y="95250"/>
                </a:cubicBezTo>
                <a:close/>
                <a:moveTo>
                  <a:pt x="95250" y="257175"/>
                </a:moveTo>
                <a:lnTo>
                  <a:pt x="95250" y="266700"/>
                </a:lnTo>
                <a:cubicBezTo>
                  <a:pt x="95250" y="277237"/>
                  <a:pt x="103763" y="285750"/>
                  <a:pt x="114300" y="285750"/>
                </a:cubicBezTo>
                <a:lnTo>
                  <a:pt x="207645" y="285750"/>
                </a:lnTo>
                <a:cubicBezTo>
                  <a:pt x="203418" y="272891"/>
                  <a:pt x="203895" y="259318"/>
                  <a:pt x="214015" y="247650"/>
                </a:cubicBezTo>
                <a:cubicBezTo>
                  <a:pt x="205680" y="238006"/>
                  <a:pt x="201811" y="224016"/>
                  <a:pt x="207228" y="209967"/>
                </a:cubicBezTo>
                <a:cubicBezTo>
                  <a:pt x="211157" y="199787"/>
                  <a:pt x="216694" y="190262"/>
                  <a:pt x="223540" y="181808"/>
                </a:cubicBezTo>
                <a:cubicBezTo>
                  <a:pt x="226755" y="177879"/>
                  <a:pt x="230445" y="174843"/>
                  <a:pt x="234434" y="172641"/>
                </a:cubicBezTo>
                <a:cubicBezTo>
                  <a:pt x="221278" y="165795"/>
                  <a:pt x="206335" y="161925"/>
                  <a:pt x="190500" y="161925"/>
                </a:cubicBezTo>
                <a:cubicBezTo>
                  <a:pt x="137874" y="161925"/>
                  <a:pt x="95250" y="204549"/>
                  <a:pt x="95250" y="257175"/>
                </a:cubicBezTo>
                <a:close/>
                <a:moveTo>
                  <a:pt x="371832" y="230922"/>
                </a:moveTo>
                <a:cubicBezTo>
                  <a:pt x="375583" y="228779"/>
                  <a:pt x="377488" y="224314"/>
                  <a:pt x="375880" y="220206"/>
                </a:cubicBezTo>
                <a:cubicBezTo>
                  <a:pt x="373023" y="212824"/>
                  <a:pt x="369034" y="205859"/>
                  <a:pt x="364034" y="199727"/>
                </a:cubicBezTo>
                <a:cubicBezTo>
                  <a:pt x="361295" y="196334"/>
                  <a:pt x="356473" y="195739"/>
                  <a:pt x="352723" y="197941"/>
                </a:cubicBezTo>
                <a:cubicBezTo>
                  <a:pt x="339745" y="205442"/>
                  <a:pt x="323790" y="196275"/>
                  <a:pt x="323790" y="181213"/>
                </a:cubicBezTo>
                <a:cubicBezTo>
                  <a:pt x="323790" y="176867"/>
                  <a:pt x="320873" y="172998"/>
                  <a:pt x="316587" y="172343"/>
                </a:cubicBezTo>
                <a:cubicBezTo>
                  <a:pt x="308908" y="171152"/>
                  <a:pt x="300633" y="171152"/>
                  <a:pt x="292953" y="172343"/>
                </a:cubicBezTo>
                <a:cubicBezTo>
                  <a:pt x="288667" y="172998"/>
                  <a:pt x="285750" y="176867"/>
                  <a:pt x="285750" y="181213"/>
                </a:cubicBezTo>
                <a:cubicBezTo>
                  <a:pt x="285750" y="196215"/>
                  <a:pt x="269796" y="205442"/>
                  <a:pt x="256818" y="197941"/>
                </a:cubicBezTo>
                <a:cubicBezTo>
                  <a:pt x="253067" y="195798"/>
                  <a:pt x="248245" y="196394"/>
                  <a:pt x="245507" y="199727"/>
                </a:cubicBezTo>
                <a:cubicBezTo>
                  <a:pt x="240506" y="205859"/>
                  <a:pt x="236518" y="212824"/>
                  <a:pt x="233660" y="220206"/>
                </a:cubicBezTo>
                <a:cubicBezTo>
                  <a:pt x="232112" y="224254"/>
                  <a:pt x="233958" y="228719"/>
                  <a:pt x="237708" y="230862"/>
                </a:cubicBezTo>
                <a:cubicBezTo>
                  <a:pt x="250746" y="238363"/>
                  <a:pt x="250746" y="256758"/>
                  <a:pt x="237708" y="264319"/>
                </a:cubicBezTo>
                <a:cubicBezTo>
                  <a:pt x="233958" y="266462"/>
                  <a:pt x="232053" y="270927"/>
                  <a:pt x="233660" y="274975"/>
                </a:cubicBezTo>
                <a:cubicBezTo>
                  <a:pt x="236518" y="282357"/>
                  <a:pt x="240506" y="289322"/>
                  <a:pt x="245507" y="295454"/>
                </a:cubicBezTo>
                <a:cubicBezTo>
                  <a:pt x="248245" y="298847"/>
                  <a:pt x="253067" y="299442"/>
                  <a:pt x="256818" y="297240"/>
                </a:cubicBezTo>
                <a:cubicBezTo>
                  <a:pt x="269796" y="289739"/>
                  <a:pt x="285750" y="298966"/>
                  <a:pt x="285750" y="313968"/>
                </a:cubicBezTo>
                <a:cubicBezTo>
                  <a:pt x="285750" y="318314"/>
                  <a:pt x="288667" y="322183"/>
                  <a:pt x="292953" y="322838"/>
                </a:cubicBezTo>
                <a:cubicBezTo>
                  <a:pt x="300633" y="324029"/>
                  <a:pt x="308908" y="324029"/>
                  <a:pt x="316587" y="322838"/>
                </a:cubicBezTo>
                <a:cubicBezTo>
                  <a:pt x="320873" y="322183"/>
                  <a:pt x="323790" y="318314"/>
                  <a:pt x="323790" y="313968"/>
                </a:cubicBezTo>
                <a:cubicBezTo>
                  <a:pt x="323790" y="298966"/>
                  <a:pt x="339745" y="289739"/>
                  <a:pt x="352723" y="297240"/>
                </a:cubicBezTo>
                <a:cubicBezTo>
                  <a:pt x="356473" y="299383"/>
                  <a:pt x="361295" y="298787"/>
                  <a:pt x="364034" y="295454"/>
                </a:cubicBezTo>
                <a:cubicBezTo>
                  <a:pt x="369034" y="289322"/>
                  <a:pt x="373023" y="282357"/>
                  <a:pt x="375880" y="274975"/>
                </a:cubicBezTo>
                <a:cubicBezTo>
                  <a:pt x="377428" y="270927"/>
                  <a:pt x="375583" y="266462"/>
                  <a:pt x="371832" y="264319"/>
                </a:cubicBezTo>
                <a:cubicBezTo>
                  <a:pt x="358795" y="256818"/>
                  <a:pt x="358795" y="238423"/>
                  <a:pt x="371832" y="230862"/>
                </a:cubicBezTo>
                <a:close/>
                <a:moveTo>
                  <a:pt x="280987" y="247650"/>
                </a:moveTo>
                <a:cubicBezTo>
                  <a:pt x="280987" y="234508"/>
                  <a:pt x="291658" y="223838"/>
                  <a:pt x="304800" y="223838"/>
                </a:cubicBezTo>
                <a:cubicBezTo>
                  <a:pt x="317942" y="223838"/>
                  <a:pt x="328613" y="234508"/>
                  <a:pt x="328613" y="247650"/>
                </a:cubicBezTo>
                <a:cubicBezTo>
                  <a:pt x="328613" y="260792"/>
                  <a:pt x="317942" y="271463"/>
                  <a:pt x="304800" y="271463"/>
                </a:cubicBezTo>
                <a:cubicBezTo>
                  <a:pt x="291658" y="271463"/>
                  <a:pt x="280987" y="260792"/>
                  <a:pt x="280987" y="24765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90000" y="2032000"/>
            <a:ext cx="675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 Group</a:t>
            </a: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并行度规则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09000" y="2590800"/>
            <a:ext cx="6985000" cy="965200"/>
          </a:xfrm>
          <a:custGeom>
            <a:avLst/>
            <a:gdLst/>
            <a:ahLst/>
            <a:cxnLst/>
            <a:rect l="l" t="t" r="r" b="b"/>
            <a:pathLst>
              <a:path w="6985000" h="965200">
                <a:moveTo>
                  <a:pt x="50798" y="0"/>
                </a:moveTo>
                <a:lnTo>
                  <a:pt x="6934202" y="0"/>
                </a:lnTo>
                <a:cubicBezTo>
                  <a:pt x="6962257" y="0"/>
                  <a:pt x="6985000" y="22743"/>
                  <a:pt x="6985000" y="50798"/>
                </a:cubicBezTo>
                <a:lnTo>
                  <a:pt x="6985000" y="914402"/>
                </a:lnTo>
                <a:cubicBezTo>
                  <a:pt x="6985000" y="942457"/>
                  <a:pt x="6962257" y="965200"/>
                  <a:pt x="69342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61400" y="2768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核心规则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61400" y="30988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一个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在同一时刻只能被消费者组内的一个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消费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09000" y="3708400"/>
            <a:ext cx="6985000" cy="1320800"/>
          </a:xfrm>
          <a:custGeom>
            <a:avLst/>
            <a:gdLst/>
            <a:ahLst/>
            <a:cxnLst/>
            <a:rect l="l" t="t" r="r" b="b"/>
            <a:pathLst>
              <a:path w="6985000" h="1320800">
                <a:moveTo>
                  <a:pt x="50798" y="0"/>
                </a:moveTo>
                <a:lnTo>
                  <a:pt x="6934202" y="0"/>
                </a:lnTo>
                <a:cubicBezTo>
                  <a:pt x="6962257" y="0"/>
                  <a:pt x="6985000" y="22743"/>
                  <a:pt x="6985000" y="50798"/>
                </a:cubicBezTo>
                <a:lnTo>
                  <a:pt x="6985000" y="1270002"/>
                </a:lnTo>
                <a:cubicBezTo>
                  <a:pt x="6985000" y="1298057"/>
                  <a:pt x="6962257" y="1320800"/>
                  <a:pt x="6934202" y="1320800"/>
                </a:cubicBezTo>
                <a:lnTo>
                  <a:pt x="50798" y="1320800"/>
                </a:lnTo>
                <a:cubicBezTo>
                  <a:pt x="22743" y="1320800"/>
                  <a:pt x="0" y="1298057"/>
                  <a:pt x="0" y="12700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61400" y="38862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并行度公式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1400" y="4267200"/>
            <a:ext cx="6680200" cy="609600"/>
          </a:xfrm>
          <a:custGeom>
            <a:avLst/>
            <a:gdLst/>
            <a:ahLst/>
            <a:cxnLst/>
            <a:rect l="l" t="t" r="r" b="b"/>
            <a:pathLst>
              <a:path w="6680200" h="609600">
                <a:moveTo>
                  <a:pt x="50798" y="0"/>
                </a:moveTo>
                <a:lnTo>
                  <a:pt x="6629402" y="0"/>
                </a:lnTo>
                <a:cubicBezTo>
                  <a:pt x="6657457" y="0"/>
                  <a:pt x="6680200" y="22743"/>
                  <a:pt x="6680200" y="50798"/>
                </a:cubicBezTo>
                <a:lnTo>
                  <a:pt x="6680200" y="558802"/>
                </a:lnTo>
                <a:cubicBezTo>
                  <a:pt x="6680200" y="586857"/>
                  <a:pt x="6657457" y="609600"/>
                  <a:pt x="66294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686800" y="4368800"/>
            <a:ext cx="662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Max</a:t>
            </a:r>
            <a:r>
              <a:rPr lang="en-US" sz="2400" b="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并行度 = </a:t>
            </a:r>
            <a:r>
              <a:rPr lang="en-US" sz="2400" b="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2400" b="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509000" y="5181600"/>
            <a:ext cx="6985000" cy="1270000"/>
          </a:xfrm>
          <a:custGeom>
            <a:avLst/>
            <a:gdLst/>
            <a:ahLst/>
            <a:cxnLst/>
            <a:rect l="l" t="t" r="r" b="b"/>
            <a:pathLst>
              <a:path w="6985000" h="1270000">
                <a:moveTo>
                  <a:pt x="50800" y="0"/>
                </a:moveTo>
                <a:lnTo>
                  <a:pt x="6934200" y="0"/>
                </a:lnTo>
                <a:cubicBezTo>
                  <a:pt x="6962237" y="0"/>
                  <a:pt x="6985000" y="22763"/>
                  <a:pt x="6985000" y="50800"/>
                </a:cubicBezTo>
                <a:lnTo>
                  <a:pt x="6985000" y="1219200"/>
                </a:lnTo>
                <a:cubicBezTo>
                  <a:pt x="6985000" y="1247237"/>
                  <a:pt x="6962237" y="1270000"/>
                  <a:pt x="6934200" y="1270000"/>
                </a:cubicBez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661400" y="5359400"/>
            <a:ext cx="21047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8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数量影响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61400" y="57404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 &lt;= 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数量: 正常分配,每个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1+ Partition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61400" y="6045200"/>
            <a:ext cx="676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·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 &gt; 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数量: 多余的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会空闲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34400" y="6604000"/>
            <a:ext cx="6959600" cy="965200"/>
          </a:xfrm>
          <a:custGeom>
            <a:avLst/>
            <a:gdLst/>
            <a:ahLst/>
            <a:cxnLst/>
            <a:rect l="l" t="t" r="r" b="b"/>
            <a:pathLst>
              <a:path w="6959600" h="965200">
                <a:moveTo>
                  <a:pt x="50798" y="0"/>
                </a:moveTo>
                <a:lnTo>
                  <a:pt x="6908802" y="0"/>
                </a:lnTo>
                <a:cubicBezTo>
                  <a:pt x="6936857" y="0"/>
                  <a:pt x="6959600" y="22743"/>
                  <a:pt x="6959600" y="50798"/>
                </a:cubicBezTo>
                <a:lnTo>
                  <a:pt x="6959600" y="914402"/>
                </a:lnTo>
                <a:cubicBezTo>
                  <a:pt x="6959600" y="942457"/>
                  <a:pt x="6936857" y="965200"/>
                  <a:pt x="69088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534400" y="66040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712200" y="6756400"/>
            <a:ext cx="673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Topic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有3个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Partition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 Group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有5个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→ 只有3个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Consumer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工作,2个空闲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12900" cy="406400"/>
          </a:xfrm>
          <a:custGeom>
            <a:avLst/>
            <a:gdLst/>
            <a:ahLst/>
            <a:cxnLst/>
            <a:rect l="l" t="t" r="r" b="b"/>
            <a:pathLst>
              <a:path w="1612900" h="406400">
                <a:moveTo>
                  <a:pt x="0" y="0"/>
                </a:moveTo>
                <a:lnTo>
                  <a:pt x="1612900" y="0"/>
                </a:lnTo>
                <a:lnTo>
                  <a:pt x="16129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1200" y="577850"/>
            <a:ext cx="13848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消息交付语义与高吞吐原因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752600"/>
            <a:ext cx="4940300" cy="2616200"/>
          </a:xfrm>
          <a:custGeom>
            <a:avLst/>
            <a:gdLst/>
            <a:ahLst/>
            <a:cxnLst/>
            <a:rect l="l" t="t" r="r" b="b"/>
            <a:pathLst>
              <a:path w="4940300" h="2616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2514613"/>
                </a:lnTo>
                <a:cubicBezTo>
                  <a:pt x="4940300" y="2570718"/>
                  <a:pt x="4894818" y="2616200"/>
                  <a:pt x="4838713" y="2616200"/>
                </a:cubicBezTo>
                <a:lnTo>
                  <a:pt x="101587" y="2616200"/>
                </a:lnTo>
                <a:cubicBezTo>
                  <a:pt x="45482" y="2616200"/>
                  <a:pt x="0" y="2570718"/>
                  <a:pt x="0" y="2514613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8000" y="17526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6750" y="2032000"/>
            <a:ext cx="462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2C5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At-most-once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7550" y="25908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至多一次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972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可能丢,不重复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036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对数据丢失容忍,不允许重复(如日志收集)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8100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自动提交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offset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,不等待确认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55667" y="1752600"/>
            <a:ext cx="4940300" cy="2616200"/>
          </a:xfrm>
          <a:custGeom>
            <a:avLst/>
            <a:gdLst/>
            <a:ahLst/>
            <a:cxnLst/>
            <a:rect l="l" t="t" r="r" b="b"/>
            <a:pathLst>
              <a:path w="4940300" h="2616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2514613"/>
                </a:lnTo>
                <a:cubicBezTo>
                  <a:pt x="4940300" y="2570718"/>
                  <a:pt x="4894818" y="2616200"/>
                  <a:pt x="4838713" y="2616200"/>
                </a:cubicBezTo>
                <a:lnTo>
                  <a:pt x="101587" y="2616200"/>
                </a:lnTo>
                <a:cubicBezTo>
                  <a:pt x="45482" y="2616200"/>
                  <a:pt x="0" y="2570718"/>
                  <a:pt x="0" y="2514613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655667" y="17526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14417" y="2032000"/>
            <a:ext cx="462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At-least-once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65217" y="25908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至少一次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09667" y="29972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不丢,可能重复(默认)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09667" y="34036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大多数业务场景,需幂等处理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09667" y="38100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处理完业务逻辑再提交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offset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803434" y="1752600"/>
            <a:ext cx="4940300" cy="2616200"/>
          </a:xfrm>
          <a:custGeom>
            <a:avLst/>
            <a:gdLst/>
            <a:ahLst/>
            <a:cxnLst/>
            <a:rect l="l" t="t" r="r" b="b"/>
            <a:pathLst>
              <a:path w="4940300" h="2616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2514613"/>
                </a:lnTo>
                <a:cubicBezTo>
                  <a:pt x="4940300" y="2570718"/>
                  <a:pt x="4894818" y="2616200"/>
                  <a:pt x="4838713" y="2616200"/>
                </a:cubicBezTo>
                <a:lnTo>
                  <a:pt x="101587" y="2616200"/>
                </a:lnTo>
                <a:cubicBezTo>
                  <a:pt x="45482" y="2616200"/>
                  <a:pt x="0" y="2570718"/>
                  <a:pt x="0" y="2514613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803434" y="17526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62184" y="2032000"/>
            <a:ext cx="462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A64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Exactly-once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12984" y="25908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精确一次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57434" y="29972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不丢,不重复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57434" y="34036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金融交易、计费系统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57434" y="38100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幂等性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Producer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+ 事务支持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4350" y="4578350"/>
            <a:ext cx="15227300" cy="2603500"/>
          </a:xfrm>
          <a:custGeom>
            <a:avLst/>
            <a:gdLst/>
            <a:ahLst/>
            <a:cxnLst/>
            <a:rect l="l" t="t" r="r" b="b"/>
            <a:pathLst>
              <a:path w="15227300" h="2603500">
                <a:moveTo>
                  <a:pt x="101589" y="0"/>
                </a:moveTo>
                <a:lnTo>
                  <a:pt x="15125711" y="0"/>
                </a:lnTo>
                <a:cubicBezTo>
                  <a:pt x="15181817" y="0"/>
                  <a:pt x="15227300" y="45483"/>
                  <a:pt x="15227300" y="101589"/>
                </a:cubicBezTo>
                <a:lnTo>
                  <a:pt x="15227300" y="2501911"/>
                </a:lnTo>
                <a:cubicBezTo>
                  <a:pt x="15227300" y="2558017"/>
                  <a:pt x="15181817" y="2603500"/>
                  <a:pt x="15125711" y="2603500"/>
                </a:cubicBezTo>
                <a:lnTo>
                  <a:pt x="101589" y="2603500"/>
                </a:lnTo>
                <a:cubicBezTo>
                  <a:pt x="45483" y="2603500"/>
                  <a:pt x="0" y="2558017"/>
                  <a:pt x="0" y="2501911"/>
                </a:cubicBezTo>
                <a:lnTo>
                  <a:pt x="0" y="101589"/>
                </a:lnTo>
                <a:cubicBezTo>
                  <a:pt x="0" y="45520"/>
                  <a:pt x="45520" y="0"/>
                  <a:pt x="10158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2800" y="488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5700" y="4838700"/>
            <a:ext cx="1447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高吞吐的三大原因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4700" y="5397500"/>
            <a:ext cx="4762500" cy="1524000"/>
          </a:xfrm>
          <a:custGeom>
            <a:avLst/>
            <a:gdLst/>
            <a:ahLst/>
            <a:cxnLst/>
            <a:rect l="l" t="t" r="r" b="b"/>
            <a:pathLst>
              <a:path w="4762500" h="1524000">
                <a:moveTo>
                  <a:pt x="50795" y="0"/>
                </a:moveTo>
                <a:lnTo>
                  <a:pt x="4711705" y="0"/>
                </a:lnTo>
                <a:cubicBezTo>
                  <a:pt x="4739758" y="0"/>
                  <a:pt x="4762500" y="22742"/>
                  <a:pt x="4762500" y="50795"/>
                </a:cubicBezTo>
                <a:lnTo>
                  <a:pt x="4762500" y="1473205"/>
                </a:lnTo>
                <a:cubicBezTo>
                  <a:pt x="4762500" y="1501258"/>
                  <a:pt x="4739758" y="1524000"/>
                  <a:pt x="47117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35050" y="5626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154841"/>
                </a:lnTo>
                <a:cubicBezTo>
                  <a:pt x="10775" y="147280"/>
                  <a:pt x="23932" y="142875"/>
                  <a:pt x="38100" y="142875"/>
                </a:cubicBezTo>
                <a:lnTo>
                  <a:pt x="228600" y="142875"/>
                </a:lnTo>
                <a:cubicBezTo>
                  <a:pt x="242768" y="142875"/>
                  <a:pt x="255925" y="147280"/>
                  <a:pt x="266700" y="154841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266700" y="209550"/>
                </a:move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lose/>
                <a:moveTo>
                  <a:pt x="133350" y="228600"/>
                </a:moveTo>
                <a:cubicBezTo>
                  <a:pt x="133350" y="218086"/>
                  <a:pt x="141886" y="209550"/>
                  <a:pt x="152400" y="209550"/>
                </a:cubicBezTo>
                <a:cubicBezTo>
                  <a:pt x="162914" y="209550"/>
                  <a:pt x="171450" y="218086"/>
                  <a:pt x="171450" y="228600"/>
                </a:cubicBezTo>
                <a:cubicBezTo>
                  <a:pt x="171450" y="239114"/>
                  <a:pt x="162914" y="247650"/>
                  <a:pt x="152400" y="247650"/>
                </a:cubicBezTo>
                <a:cubicBezTo>
                  <a:pt x="141886" y="247650"/>
                  <a:pt x="133350" y="239114"/>
                  <a:pt x="133350" y="228600"/>
                </a:cubicBezTo>
                <a:close/>
                <a:moveTo>
                  <a:pt x="209550" y="209550"/>
                </a:moveTo>
                <a:cubicBezTo>
                  <a:pt x="220064" y="209550"/>
                  <a:pt x="228600" y="218086"/>
                  <a:pt x="228600" y="228600"/>
                </a:cubicBezTo>
                <a:cubicBezTo>
                  <a:pt x="228600" y="239114"/>
                  <a:pt x="220064" y="247650"/>
                  <a:pt x="209550" y="247650"/>
                </a:cubicBezTo>
                <a:cubicBezTo>
                  <a:pt x="199036" y="247650"/>
                  <a:pt x="190500" y="239114"/>
                  <a:pt x="190500" y="228600"/>
                </a:cubicBezTo>
                <a:cubicBezTo>
                  <a:pt x="190500" y="218086"/>
                  <a:pt x="199036" y="209550"/>
                  <a:pt x="209550" y="20955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60500" y="56007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顺序写磁盘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7900" y="60579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消息追加到文件末尾,避免了磁盘随机寻址,性能接近内存操作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44567" y="5397500"/>
            <a:ext cx="4762500" cy="1524000"/>
          </a:xfrm>
          <a:custGeom>
            <a:avLst/>
            <a:gdLst/>
            <a:ahLst/>
            <a:cxnLst/>
            <a:rect l="l" t="t" r="r" b="b"/>
            <a:pathLst>
              <a:path w="4762500" h="1524000">
                <a:moveTo>
                  <a:pt x="50795" y="0"/>
                </a:moveTo>
                <a:lnTo>
                  <a:pt x="4711705" y="0"/>
                </a:lnTo>
                <a:cubicBezTo>
                  <a:pt x="4739758" y="0"/>
                  <a:pt x="4762500" y="22742"/>
                  <a:pt x="4762500" y="50795"/>
                </a:cubicBezTo>
                <a:lnTo>
                  <a:pt x="4762500" y="1473205"/>
                </a:lnTo>
                <a:cubicBezTo>
                  <a:pt x="4762500" y="1501258"/>
                  <a:pt x="4739758" y="1524000"/>
                  <a:pt x="47117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85867" y="562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6577" y="152281"/>
                  <a:pt x="228421" y="153888"/>
                  <a:pt x="221278" y="150912"/>
                </a:cubicBezTo>
                <a:cubicBezTo>
                  <a:pt x="214134" y="147935"/>
                  <a:pt x="209550" y="141030"/>
                  <a:pt x="209550" y="133350"/>
                </a:cubicBezTo>
                <a:lnTo>
                  <a:pt x="209550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09550" y="57150"/>
                </a:lnTo>
                <a:lnTo>
                  <a:pt x="209550" y="19050"/>
                </a:lnTo>
                <a:cubicBezTo>
                  <a:pt x="209550" y="11370"/>
                  <a:pt x="214193" y="4405"/>
                  <a:pt x="221337" y="1429"/>
                </a:cubicBezTo>
                <a:cubicBezTo>
                  <a:pt x="228481" y="-1548"/>
                  <a:pt x="236637" y="119"/>
                  <a:pt x="242114" y="5536"/>
                </a:cubicBezTo>
                <a:lnTo>
                  <a:pt x="299264" y="62686"/>
                </a:lnTo>
                <a:cubicBezTo>
                  <a:pt x="306705" y="70128"/>
                  <a:pt x="306705" y="82213"/>
                  <a:pt x="29926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68163" y="152460"/>
                  <a:pt x="76319" y="150852"/>
                  <a:pt x="83463" y="153829"/>
                </a:cubicBezTo>
                <a:cubicBezTo>
                  <a:pt x="90607" y="156805"/>
                  <a:pt x="95250" y="163770"/>
                  <a:pt x="95250" y="171450"/>
                </a:cubicBezTo>
                <a:lnTo>
                  <a:pt x="95250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95250" y="247650"/>
                </a:lnTo>
                <a:lnTo>
                  <a:pt x="95250" y="285750"/>
                </a:lnTo>
                <a:cubicBezTo>
                  <a:pt x="95250" y="293430"/>
                  <a:pt x="90607" y="300395"/>
                  <a:pt x="83463" y="303371"/>
                </a:cubicBezTo>
                <a:cubicBezTo>
                  <a:pt x="76319" y="306348"/>
                  <a:pt x="68163" y="304681"/>
                  <a:pt x="62686" y="299264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0367" y="5600700"/>
            <a:ext cx="242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零拷贝(</a:t>
            </a:r>
            <a:r>
              <a:rPr lang="en-US" sz="2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Zero-Copy</a:t>
            </a:r>
            <a:r>
              <a:rPr lang="en-US" sz="2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7767" y="60579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sendfile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系统调用,数据直接从磁盘到网卡,减少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CPU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拷贝次数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714534" y="5397500"/>
            <a:ext cx="4762500" cy="1524000"/>
          </a:xfrm>
          <a:custGeom>
            <a:avLst/>
            <a:gdLst/>
            <a:ahLst/>
            <a:cxnLst/>
            <a:rect l="l" t="t" r="r" b="b"/>
            <a:pathLst>
              <a:path w="4762500" h="1524000">
                <a:moveTo>
                  <a:pt x="50795" y="0"/>
                </a:moveTo>
                <a:lnTo>
                  <a:pt x="4711705" y="0"/>
                </a:lnTo>
                <a:cubicBezTo>
                  <a:pt x="4739758" y="0"/>
                  <a:pt x="4762500" y="22742"/>
                  <a:pt x="4762500" y="50795"/>
                </a:cubicBezTo>
                <a:lnTo>
                  <a:pt x="4762500" y="1473205"/>
                </a:lnTo>
                <a:cubicBezTo>
                  <a:pt x="4762500" y="1501258"/>
                  <a:pt x="4739758" y="1524000"/>
                  <a:pt x="47117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955834" y="562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80605"/>
                </a:lnTo>
                <a:cubicBezTo>
                  <a:pt x="0" y="84653"/>
                  <a:pt x="2619" y="88106"/>
                  <a:pt x="6013" y="90309"/>
                </a:cubicBezTo>
                <a:cubicBezTo>
                  <a:pt x="13871" y="95429"/>
                  <a:pt x="19050" y="104239"/>
                  <a:pt x="19050" y="114300"/>
                </a:cubicBezTo>
                <a:cubicBezTo>
                  <a:pt x="19050" y="124361"/>
                  <a:pt x="13871" y="133171"/>
                  <a:pt x="6013" y="138291"/>
                </a:cubicBezTo>
                <a:cubicBezTo>
                  <a:pt x="2619" y="140494"/>
                  <a:pt x="0" y="143947"/>
                  <a:pt x="0" y="147995"/>
                </a:cubicBezTo>
                <a:lnTo>
                  <a:pt x="0" y="180975"/>
                </a:lnTo>
                <a:lnTo>
                  <a:pt x="304800" y="180975"/>
                </a:lnTo>
                <a:lnTo>
                  <a:pt x="304800" y="147995"/>
                </a:lnTo>
                <a:cubicBezTo>
                  <a:pt x="304800" y="143947"/>
                  <a:pt x="302181" y="140494"/>
                  <a:pt x="298787" y="138291"/>
                </a:cubicBezTo>
                <a:cubicBezTo>
                  <a:pt x="290929" y="133171"/>
                  <a:pt x="285750" y="124361"/>
                  <a:pt x="285750" y="114300"/>
                </a:cubicBezTo>
                <a:cubicBezTo>
                  <a:pt x="285750" y="104239"/>
                  <a:pt x="290929" y="95429"/>
                  <a:pt x="298787" y="90309"/>
                </a:cubicBezTo>
                <a:cubicBezTo>
                  <a:pt x="302181" y="88106"/>
                  <a:pt x="304800" y="84653"/>
                  <a:pt x="304800" y="80605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304800" y="247650"/>
                </a:moveTo>
                <a:lnTo>
                  <a:pt x="304800" y="209550"/>
                </a:lnTo>
                <a:lnTo>
                  <a:pt x="0" y="209550"/>
                </a:lnTo>
                <a:lnTo>
                  <a:pt x="0" y="247650"/>
                </a:lnTo>
                <a:cubicBezTo>
                  <a:pt x="0" y="258187"/>
                  <a:pt x="8513" y="266700"/>
                  <a:pt x="19050" y="266700"/>
                </a:cubicBezTo>
                <a:lnTo>
                  <a:pt x="57150" y="266700"/>
                </a:lnTo>
                <a:lnTo>
                  <a:pt x="57150" y="252413"/>
                </a:lnTo>
                <a:cubicBezTo>
                  <a:pt x="57150" y="244495"/>
                  <a:pt x="63520" y="238125"/>
                  <a:pt x="71438" y="238125"/>
                </a:cubicBezTo>
                <a:cubicBezTo>
                  <a:pt x="79355" y="238125"/>
                  <a:pt x="85725" y="244495"/>
                  <a:pt x="85725" y="252413"/>
                </a:cubicBezTo>
                <a:lnTo>
                  <a:pt x="85725" y="266700"/>
                </a:lnTo>
                <a:lnTo>
                  <a:pt x="138113" y="266700"/>
                </a:lnTo>
                <a:lnTo>
                  <a:pt x="138113" y="252413"/>
                </a:lnTo>
                <a:cubicBezTo>
                  <a:pt x="138113" y="244495"/>
                  <a:pt x="144482" y="238125"/>
                  <a:pt x="152400" y="238125"/>
                </a:cubicBezTo>
                <a:cubicBezTo>
                  <a:pt x="160318" y="238125"/>
                  <a:pt x="166688" y="244495"/>
                  <a:pt x="166688" y="252413"/>
                </a:cubicBezTo>
                <a:lnTo>
                  <a:pt x="166688" y="266700"/>
                </a:lnTo>
                <a:lnTo>
                  <a:pt x="219075" y="266700"/>
                </a:lnTo>
                <a:lnTo>
                  <a:pt x="219075" y="252413"/>
                </a:lnTo>
                <a:cubicBezTo>
                  <a:pt x="219075" y="244495"/>
                  <a:pt x="225445" y="238125"/>
                  <a:pt x="233363" y="238125"/>
                </a:cubicBezTo>
                <a:cubicBezTo>
                  <a:pt x="241280" y="238125"/>
                  <a:pt x="247650" y="244495"/>
                  <a:pt x="247650" y="252413"/>
                </a:cubicBezTo>
                <a:lnTo>
                  <a:pt x="247650" y="266700"/>
                </a:ln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lose/>
                <a:moveTo>
                  <a:pt x="95250" y="95250"/>
                </a:moveTo>
                <a:lnTo>
                  <a:pt x="95250" y="133350"/>
                </a:lnTo>
                <a:cubicBezTo>
                  <a:pt x="95250" y="143887"/>
                  <a:pt x="86737" y="152400"/>
                  <a:pt x="76200" y="152400"/>
                </a:cubicBezTo>
                <a:cubicBezTo>
                  <a:pt x="65663" y="152400"/>
                  <a:pt x="57150" y="143887"/>
                  <a:pt x="57150" y="133350"/>
                </a:cubicBezTo>
                <a:lnTo>
                  <a:pt x="57150" y="95250"/>
                </a:lnTo>
                <a:cubicBezTo>
                  <a:pt x="57150" y="84713"/>
                  <a:pt x="65663" y="76200"/>
                  <a:pt x="76200" y="76200"/>
                </a:cubicBezTo>
                <a:cubicBezTo>
                  <a:pt x="86737" y="76200"/>
                  <a:pt x="95250" y="84713"/>
                  <a:pt x="95250" y="95250"/>
                </a:cubicBezTo>
                <a:close/>
                <a:moveTo>
                  <a:pt x="171450" y="95250"/>
                </a:moveTo>
                <a:lnTo>
                  <a:pt x="171450" y="133350"/>
                </a:lnTo>
                <a:cubicBezTo>
                  <a:pt x="171450" y="143887"/>
                  <a:pt x="162937" y="152400"/>
                  <a:pt x="152400" y="152400"/>
                </a:cubicBezTo>
                <a:cubicBezTo>
                  <a:pt x="141863" y="152400"/>
                  <a:pt x="133350" y="143887"/>
                  <a:pt x="133350" y="13335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47650" y="95250"/>
                </a:moveTo>
                <a:lnTo>
                  <a:pt x="247650" y="133350"/>
                </a:lnTo>
                <a:cubicBezTo>
                  <a:pt x="247650" y="143887"/>
                  <a:pt x="239137" y="152400"/>
                  <a:pt x="228600" y="152400"/>
                </a:cubicBezTo>
                <a:cubicBezTo>
                  <a:pt x="218063" y="152400"/>
                  <a:pt x="209550" y="143887"/>
                  <a:pt x="209550" y="133350"/>
                </a:cubicBezTo>
                <a:lnTo>
                  <a:pt x="209550" y="95250"/>
                </a:lnTo>
                <a:cubicBezTo>
                  <a:pt x="209550" y="84713"/>
                  <a:pt x="218063" y="76200"/>
                  <a:pt x="228600" y="76200"/>
                </a:cubicBezTo>
                <a:cubicBezTo>
                  <a:pt x="239137" y="76200"/>
                  <a:pt x="247650" y="84713"/>
                  <a:pt x="247650" y="9525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00334" y="5600700"/>
            <a:ext cx="250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页缓存(</a:t>
            </a:r>
            <a:r>
              <a:rPr lang="en-US" sz="2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PageCache</a:t>
            </a:r>
            <a:r>
              <a:rPr lang="en-US" sz="2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17734" y="6057900"/>
            <a:ext cx="4457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依赖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OS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的页缓存而非应用层缓存,减少上下文切换,提高缓存命中率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514600" cy="609600"/>
          </a:xfrm>
          <a:custGeom>
            <a:avLst/>
            <a:gdLst/>
            <a:ahLst/>
            <a:cxnLst/>
            <a:rect l="l" t="t" r="r" b="b"/>
            <a:pathLst>
              <a:path w="2514600" h="609600">
                <a:moveTo>
                  <a:pt x="0" y="0"/>
                </a:moveTo>
                <a:lnTo>
                  <a:pt x="2514600" y="0"/>
                </a:lnTo>
                <a:lnTo>
                  <a:pt x="2514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13856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5A64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11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数据采集与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流处理基础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Flume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架构与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 Streaming vs Flink</a:t>
            </a: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3876" y="479882"/>
            <a:ext cx="1475637" cy="383906"/>
          </a:xfrm>
          <a:custGeom>
            <a:avLst/>
            <a:gdLst/>
            <a:ahLst/>
            <a:cxnLst/>
            <a:rect l="l" t="t" r="r" b="b"/>
            <a:pathLst>
              <a:path w="1475637" h="383906">
                <a:moveTo>
                  <a:pt x="0" y="0"/>
                </a:moveTo>
                <a:lnTo>
                  <a:pt x="1475637" y="0"/>
                </a:lnTo>
                <a:lnTo>
                  <a:pt x="1475637" y="383906"/>
                </a:lnTo>
                <a:lnTo>
                  <a:pt x="0" y="383906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3876" y="479882"/>
            <a:ext cx="47988" cy="383906"/>
          </a:xfrm>
          <a:custGeom>
            <a:avLst/>
            <a:gdLst/>
            <a:ahLst/>
            <a:cxnLst/>
            <a:rect l="l" t="t" r="r" b="b"/>
            <a:pathLst>
              <a:path w="47988" h="383906">
                <a:moveTo>
                  <a:pt x="0" y="0"/>
                </a:moveTo>
                <a:lnTo>
                  <a:pt x="47988" y="0"/>
                </a:lnTo>
                <a:lnTo>
                  <a:pt x="47988" y="383906"/>
                </a:lnTo>
                <a:lnTo>
                  <a:pt x="0" y="383906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1835" y="545866"/>
            <a:ext cx="126325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kern="0" spc="76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9882" y="959764"/>
            <a:ext cx="15512183" cy="47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01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Flume</a:t>
            </a:r>
            <a:r>
              <a:rPr lang="en-US" sz="3401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:分布式日志采集系统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3876" y="1631599"/>
            <a:ext cx="7498155" cy="3935032"/>
          </a:xfrm>
          <a:custGeom>
            <a:avLst/>
            <a:gdLst/>
            <a:ahLst/>
            <a:cxnLst/>
            <a:rect l="l" t="t" r="r" b="b"/>
            <a:pathLst>
              <a:path w="7498155" h="3935032">
                <a:moveTo>
                  <a:pt x="47988" y="0"/>
                </a:moveTo>
                <a:lnTo>
                  <a:pt x="7402180" y="0"/>
                </a:lnTo>
                <a:cubicBezTo>
                  <a:pt x="7455185" y="0"/>
                  <a:pt x="7498155" y="42970"/>
                  <a:pt x="7498155" y="95975"/>
                </a:cubicBezTo>
                <a:lnTo>
                  <a:pt x="7498155" y="3839056"/>
                </a:lnTo>
                <a:cubicBezTo>
                  <a:pt x="7498155" y="3892062"/>
                  <a:pt x="7455185" y="3935032"/>
                  <a:pt x="7402180" y="3935032"/>
                </a:cubicBezTo>
                <a:lnTo>
                  <a:pt x="47988" y="3935032"/>
                </a:lnTo>
                <a:cubicBezTo>
                  <a:pt x="21485" y="3935032"/>
                  <a:pt x="0" y="3913547"/>
                  <a:pt x="0" y="3887044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3876" y="1631599"/>
            <a:ext cx="47988" cy="3935032"/>
          </a:xfrm>
          <a:custGeom>
            <a:avLst/>
            <a:gdLst/>
            <a:ahLst/>
            <a:cxnLst/>
            <a:rect l="l" t="t" r="r" b="b"/>
            <a:pathLst>
              <a:path w="47988" h="3935032">
                <a:moveTo>
                  <a:pt x="47988" y="0"/>
                </a:moveTo>
                <a:lnTo>
                  <a:pt x="47988" y="0"/>
                </a:lnTo>
                <a:lnTo>
                  <a:pt x="47988" y="3935032"/>
                </a:lnTo>
                <a:lnTo>
                  <a:pt x="47988" y="3935032"/>
                </a:lnTo>
                <a:cubicBezTo>
                  <a:pt x="21485" y="3935032"/>
                  <a:pt x="0" y="3913547"/>
                  <a:pt x="0" y="3887044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3802" y="1919528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143965" y="287929"/>
                </a:moveTo>
                <a:cubicBezTo>
                  <a:pt x="223421" y="287929"/>
                  <a:pt x="287929" y="223421"/>
                  <a:pt x="287929" y="143965"/>
                </a:cubicBezTo>
                <a:cubicBezTo>
                  <a:pt x="287929" y="64508"/>
                  <a:pt x="223421" y="0"/>
                  <a:pt x="143965" y="0"/>
                </a:cubicBezTo>
                <a:cubicBezTo>
                  <a:pt x="64508" y="0"/>
                  <a:pt x="0" y="64508"/>
                  <a:pt x="0" y="143965"/>
                </a:cubicBezTo>
                <a:cubicBezTo>
                  <a:pt x="0" y="223421"/>
                  <a:pt x="64508" y="287929"/>
                  <a:pt x="143965" y="287929"/>
                </a:cubicBezTo>
                <a:close/>
                <a:moveTo>
                  <a:pt x="125969" y="89978"/>
                </a:moveTo>
                <a:cubicBezTo>
                  <a:pt x="125969" y="80046"/>
                  <a:pt x="134033" y="71982"/>
                  <a:pt x="143965" y="71982"/>
                </a:cubicBezTo>
                <a:cubicBezTo>
                  <a:pt x="153897" y="71982"/>
                  <a:pt x="161960" y="80046"/>
                  <a:pt x="161960" y="89978"/>
                </a:cubicBezTo>
                <a:cubicBezTo>
                  <a:pt x="161960" y="99910"/>
                  <a:pt x="153897" y="107973"/>
                  <a:pt x="143965" y="107973"/>
                </a:cubicBezTo>
                <a:cubicBezTo>
                  <a:pt x="134033" y="107973"/>
                  <a:pt x="125969" y="99910"/>
                  <a:pt x="125969" y="89978"/>
                </a:cubicBezTo>
                <a:close/>
                <a:moveTo>
                  <a:pt x="121470" y="125969"/>
                </a:moveTo>
                <a:lnTo>
                  <a:pt x="148463" y="125969"/>
                </a:lnTo>
                <a:cubicBezTo>
                  <a:pt x="155943" y="125969"/>
                  <a:pt x="161960" y="131986"/>
                  <a:pt x="161960" y="139466"/>
                </a:cubicBezTo>
                <a:lnTo>
                  <a:pt x="161960" y="188954"/>
                </a:lnTo>
                <a:lnTo>
                  <a:pt x="166459" y="188954"/>
                </a:lnTo>
                <a:cubicBezTo>
                  <a:pt x="173938" y="188954"/>
                  <a:pt x="179956" y="194971"/>
                  <a:pt x="179956" y="202450"/>
                </a:cubicBezTo>
                <a:cubicBezTo>
                  <a:pt x="179956" y="209930"/>
                  <a:pt x="173938" y="215947"/>
                  <a:pt x="166459" y="215947"/>
                </a:cubicBezTo>
                <a:lnTo>
                  <a:pt x="121470" y="215947"/>
                </a:lnTo>
                <a:cubicBezTo>
                  <a:pt x="113991" y="215947"/>
                  <a:pt x="107973" y="209930"/>
                  <a:pt x="107973" y="202450"/>
                </a:cubicBezTo>
                <a:cubicBezTo>
                  <a:pt x="107973" y="194971"/>
                  <a:pt x="113991" y="188954"/>
                  <a:pt x="121470" y="188954"/>
                </a:cubicBezTo>
                <a:lnTo>
                  <a:pt x="134967" y="188954"/>
                </a:lnTo>
                <a:lnTo>
                  <a:pt x="134967" y="152962"/>
                </a:lnTo>
                <a:lnTo>
                  <a:pt x="121470" y="152962"/>
                </a:lnTo>
                <a:cubicBezTo>
                  <a:pt x="113991" y="152962"/>
                  <a:pt x="107973" y="146945"/>
                  <a:pt x="107973" y="139466"/>
                </a:cubicBezTo>
                <a:cubicBezTo>
                  <a:pt x="107973" y="131986"/>
                  <a:pt x="113991" y="125969"/>
                  <a:pt x="121470" y="125969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7723" y="1871539"/>
            <a:ext cx="6778332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Flume</a:t>
            </a:r>
            <a:r>
              <a:rPr lang="en-US" sz="2267" dirty="0">
                <a:solidFill>
                  <a:srgbClr val="5A6472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7811" y="2399410"/>
            <a:ext cx="6994279" cy="599852"/>
          </a:xfrm>
          <a:custGeom>
            <a:avLst/>
            <a:gdLst/>
            <a:ahLst/>
            <a:cxnLst/>
            <a:rect l="l" t="t" r="r" b="b"/>
            <a:pathLst>
              <a:path w="6994279" h="599852">
                <a:moveTo>
                  <a:pt x="47988" y="0"/>
                </a:moveTo>
                <a:lnTo>
                  <a:pt x="6946291" y="0"/>
                </a:lnTo>
                <a:cubicBezTo>
                  <a:pt x="6972794" y="0"/>
                  <a:pt x="6994279" y="21485"/>
                  <a:pt x="6994279" y="47988"/>
                </a:cubicBezTo>
                <a:lnTo>
                  <a:pt x="6994279" y="551864"/>
                </a:lnTo>
                <a:cubicBezTo>
                  <a:pt x="6994279" y="578367"/>
                  <a:pt x="6972794" y="599852"/>
                  <a:pt x="6946291" y="599852"/>
                </a:cubicBezTo>
                <a:lnTo>
                  <a:pt x="47988" y="599852"/>
                </a:lnTo>
                <a:cubicBezTo>
                  <a:pt x="21485" y="599852"/>
                  <a:pt x="0" y="578367"/>
                  <a:pt x="0" y="551864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1776" y="2543374"/>
            <a:ext cx="6802326" cy="3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定位: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分布式、可靠、高可用的海量日志采集、聚合和传输系统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7811" y="3143227"/>
            <a:ext cx="6994279" cy="599852"/>
          </a:xfrm>
          <a:custGeom>
            <a:avLst/>
            <a:gdLst/>
            <a:ahLst/>
            <a:cxnLst/>
            <a:rect l="l" t="t" r="r" b="b"/>
            <a:pathLst>
              <a:path w="6994279" h="599852">
                <a:moveTo>
                  <a:pt x="47988" y="0"/>
                </a:moveTo>
                <a:lnTo>
                  <a:pt x="6946291" y="0"/>
                </a:lnTo>
                <a:cubicBezTo>
                  <a:pt x="6972794" y="0"/>
                  <a:pt x="6994279" y="21485"/>
                  <a:pt x="6994279" y="47988"/>
                </a:cubicBezTo>
                <a:lnTo>
                  <a:pt x="6994279" y="551864"/>
                </a:lnTo>
                <a:cubicBezTo>
                  <a:pt x="6994279" y="578367"/>
                  <a:pt x="6972794" y="599852"/>
                  <a:pt x="6946291" y="599852"/>
                </a:cubicBezTo>
                <a:lnTo>
                  <a:pt x="47988" y="599852"/>
                </a:lnTo>
                <a:cubicBezTo>
                  <a:pt x="21485" y="599852"/>
                  <a:pt x="0" y="578367"/>
                  <a:pt x="0" y="551864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1776" y="3287191"/>
            <a:ext cx="6802326" cy="3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支持多种数据源、可靠传输、实时处理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7811" y="3887044"/>
            <a:ext cx="6994279" cy="599852"/>
          </a:xfrm>
          <a:custGeom>
            <a:avLst/>
            <a:gdLst/>
            <a:ahLst/>
            <a:cxnLst/>
            <a:rect l="l" t="t" r="r" b="b"/>
            <a:pathLst>
              <a:path w="6994279" h="599852">
                <a:moveTo>
                  <a:pt x="47988" y="0"/>
                </a:moveTo>
                <a:lnTo>
                  <a:pt x="6946291" y="0"/>
                </a:lnTo>
                <a:cubicBezTo>
                  <a:pt x="6972794" y="0"/>
                  <a:pt x="6994279" y="21485"/>
                  <a:pt x="6994279" y="47988"/>
                </a:cubicBezTo>
                <a:lnTo>
                  <a:pt x="6994279" y="551864"/>
                </a:lnTo>
                <a:cubicBezTo>
                  <a:pt x="6994279" y="578367"/>
                  <a:pt x="6972794" y="599852"/>
                  <a:pt x="6946291" y="599852"/>
                </a:cubicBezTo>
                <a:lnTo>
                  <a:pt x="47988" y="599852"/>
                </a:lnTo>
                <a:cubicBezTo>
                  <a:pt x="21485" y="599852"/>
                  <a:pt x="0" y="578367"/>
                  <a:pt x="0" y="551864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1776" y="4031008"/>
            <a:ext cx="6802326" cy="311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Agent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是基本单元,包含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Source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→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Channel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→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Sink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三组件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45908" y="1655593"/>
            <a:ext cx="7522149" cy="3911038"/>
          </a:xfrm>
          <a:custGeom>
            <a:avLst/>
            <a:gdLst/>
            <a:ahLst/>
            <a:cxnLst/>
            <a:rect l="l" t="t" r="r" b="b"/>
            <a:pathLst>
              <a:path w="7522149" h="3911038">
                <a:moveTo>
                  <a:pt x="47988" y="0"/>
                </a:moveTo>
                <a:lnTo>
                  <a:pt x="7474161" y="0"/>
                </a:lnTo>
                <a:cubicBezTo>
                  <a:pt x="7500664" y="0"/>
                  <a:pt x="7522149" y="21485"/>
                  <a:pt x="7522149" y="47988"/>
                </a:cubicBezTo>
                <a:lnTo>
                  <a:pt x="7522149" y="3815061"/>
                </a:lnTo>
                <a:cubicBezTo>
                  <a:pt x="7522149" y="3868067"/>
                  <a:pt x="7479179" y="3911038"/>
                  <a:pt x="7426172" y="3911038"/>
                </a:cubicBezTo>
                <a:lnTo>
                  <a:pt x="95977" y="3911038"/>
                </a:lnTo>
                <a:cubicBezTo>
                  <a:pt x="42970" y="3911038"/>
                  <a:pt x="0" y="3868067"/>
                  <a:pt x="0" y="3815061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45908" y="1655593"/>
            <a:ext cx="7522149" cy="47988"/>
          </a:xfrm>
          <a:custGeom>
            <a:avLst/>
            <a:gdLst/>
            <a:ahLst/>
            <a:cxnLst/>
            <a:rect l="l" t="t" r="r" b="b"/>
            <a:pathLst>
              <a:path w="7522149" h="47988">
                <a:moveTo>
                  <a:pt x="47988" y="0"/>
                </a:moveTo>
                <a:lnTo>
                  <a:pt x="7474161" y="0"/>
                </a:lnTo>
                <a:cubicBezTo>
                  <a:pt x="7500664" y="0"/>
                  <a:pt x="7522149" y="21485"/>
                  <a:pt x="7522149" y="47988"/>
                </a:cubicBezTo>
                <a:lnTo>
                  <a:pt x="7522149" y="47988"/>
                </a:lnTo>
                <a:lnTo>
                  <a:pt x="0" y="47988"/>
                </a:ln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21841" y="1967516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107973" y="35991"/>
                </a:moveTo>
                <a:cubicBezTo>
                  <a:pt x="107973" y="26037"/>
                  <a:pt x="116015" y="17996"/>
                  <a:pt x="125969" y="17996"/>
                </a:cubicBezTo>
                <a:lnTo>
                  <a:pt x="161960" y="17996"/>
                </a:lnTo>
                <a:cubicBezTo>
                  <a:pt x="171914" y="17996"/>
                  <a:pt x="179956" y="26037"/>
                  <a:pt x="179956" y="35991"/>
                </a:cubicBezTo>
                <a:lnTo>
                  <a:pt x="179956" y="71982"/>
                </a:lnTo>
                <a:cubicBezTo>
                  <a:pt x="179956" y="81936"/>
                  <a:pt x="171914" y="89978"/>
                  <a:pt x="161960" y="89978"/>
                </a:cubicBezTo>
                <a:lnTo>
                  <a:pt x="157461" y="89978"/>
                </a:lnTo>
                <a:lnTo>
                  <a:pt x="157461" y="125969"/>
                </a:lnTo>
                <a:lnTo>
                  <a:pt x="224945" y="125969"/>
                </a:lnTo>
                <a:cubicBezTo>
                  <a:pt x="247327" y="125969"/>
                  <a:pt x="265435" y="144077"/>
                  <a:pt x="265435" y="166459"/>
                </a:cubicBezTo>
                <a:lnTo>
                  <a:pt x="265435" y="197951"/>
                </a:lnTo>
                <a:lnTo>
                  <a:pt x="269934" y="197951"/>
                </a:lnTo>
                <a:cubicBezTo>
                  <a:pt x="279887" y="197951"/>
                  <a:pt x="287929" y="205993"/>
                  <a:pt x="287929" y="215947"/>
                </a:cubicBezTo>
                <a:lnTo>
                  <a:pt x="287929" y="251938"/>
                </a:lnTo>
                <a:cubicBezTo>
                  <a:pt x="287929" y="261892"/>
                  <a:pt x="279887" y="269934"/>
                  <a:pt x="269934" y="269934"/>
                </a:cubicBezTo>
                <a:lnTo>
                  <a:pt x="233942" y="269934"/>
                </a:lnTo>
                <a:cubicBezTo>
                  <a:pt x="223989" y="269934"/>
                  <a:pt x="215947" y="261892"/>
                  <a:pt x="215947" y="251938"/>
                </a:cubicBezTo>
                <a:lnTo>
                  <a:pt x="215947" y="215947"/>
                </a:lnTo>
                <a:cubicBezTo>
                  <a:pt x="215947" y="205993"/>
                  <a:pt x="223989" y="197951"/>
                  <a:pt x="233942" y="197951"/>
                </a:cubicBezTo>
                <a:lnTo>
                  <a:pt x="238441" y="197951"/>
                </a:lnTo>
                <a:lnTo>
                  <a:pt x="238441" y="166459"/>
                </a:lnTo>
                <a:cubicBezTo>
                  <a:pt x="238441" y="158980"/>
                  <a:pt x="232424" y="152962"/>
                  <a:pt x="224945" y="152962"/>
                </a:cubicBezTo>
                <a:lnTo>
                  <a:pt x="157461" y="152962"/>
                </a:lnTo>
                <a:lnTo>
                  <a:pt x="157461" y="197951"/>
                </a:lnTo>
                <a:lnTo>
                  <a:pt x="161960" y="197951"/>
                </a:lnTo>
                <a:cubicBezTo>
                  <a:pt x="171914" y="197951"/>
                  <a:pt x="179956" y="205993"/>
                  <a:pt x="179956" y="215947"/>
                </a:cubicBezTo>
                <a:lnTo>
                  <a:pt x="179956" y="251938"/>
                </a:lnTo>
                <a:cubicBezTo>
                  <a:pt x="179956" y="261892"/>
                  <a:pt x="171914" y="269934"/>
                  <a:pt x="161960" y="269934"/>
                </a:cubicBezTo>
                <a:lnTo>
                  <a:pt x="125969" y="269934"/>
                </a:lnTo>
                <a:cubicBezTo>
                  <a:pt x="116015" y="269934"/>
                  <a:pt x="107973" y="261892"/>
                  <a:pt x="107973" y="251938"/>
                </a:cubicBezTo>
                <a:lnTo>
                  <a:pt x="107973" y="215947"/>
                </a:lnTo>
                <a:cubicBezTo>
                  <a:pt x="107973" y="205993"/>
                  <a:pt x="116015" y="197951"/>
                  <a:pt x="125969" y="197951"/>
                </a:cubicBezTo>
                <a:lnTo>
                  <a:pt x="130468" y="197951"/>
                </a:lnTo>
                <a:lnTo>
                  <a:pt x="130468" y="152962"/>
                </a:lnTo>
                <a:lnTo>
                  <a:pt x="62985" y="152962"/>
                </a:lnTo>
                <a:cubicBezTo>
                  <a:pt x="55505" y="152962"/>
                  <a:pt x="49488" y="158980"/>
                  <a:pt x="49488" y="166459"/>
                </a:cubicBezTo>
                <a:lnTo>
                  <a:pt x="49488" y="197951"/>
                </a:lnTo>
                <a:lnTo>
                  <a:pt x="53987" y="197951"/>
                </a:lnTo>
                <a:cubicBezTo>
                  <a:pt x="63941" y="197951"/>
                  <a:pt x="71982" y="205993"/>
                  <a:pt x="71982" y="215947"/>
                </a:cubicBezTo>
                <a:lnTo>
                  <a:pt x="71982" y="251938"/>
                </a:lnTo>
                <a:cubicBezTo>
                  <a:pt x="71982" y="261892"/>
                  <a:pt x="63941" y="269934"/>
                  <a:pt x="53987" y="269934"/>
                </a:cubicBezTo>
                <a:lnTo>
                  <a:pt x="17996" y="269934"/>
                </a:lnTo>
                <a:cubicBezTo>
                  <a:pt x="8042" y="269934"/>
                  <a:pt x="0" y="261892"/>
                  <a:pt x="0" y="251938"/>
                </a:cubicBezTo>
                <a:lnTo>
                  <a:pt x="0" y="215947"/>
                </a:lnTo>
                <a:cubicBezTo>
                  <a:pt x="0" y="205993"/>
                  <a:pt x="8042" y="197951"/>
                  <a:pt x="17996" y="197951"/>
                </a:cubicBezTo>
                <a:lnTo>
                  <a:pt x="22494" y="197951"/>
                </a:lnTo>
                <a:lnTo>
                  <a:pt x="22494" y="166459"/>
                </a:lnTo>
                <a:cubicBezTo>
                  <a:pt x="22494" y="144077"/>
                  <a:pt x="40603" y="125969"/>
                  <a:pt x="62985" y="125969"/>
                </a:cubicBezTo>
                <a:lnTo>
                  <a:pt x="130468" y="125969"/>
                </a:lnTo>
                <a:lnTo>
                  <a:pt x="130468" y="89978"/>
                </a:lnTo>
                <a:lnTo>
                  <a:pt x="125969" y="89978"/>
                </a:lnTo>
                <a:cubicBezTo>
                  <a:pt x="116015" y="89978"/>
                  <a:pt x="107973" y="81936"/>
                  <a:pt x="107973" y="71982"/>
                </a:cubicBezTo>
                <a:lnTo>
                  <a:pt x="107973" y="35991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45761" y="1919528"/>
            <a:ext cx="6826320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Agent</a:t>
            </a:r>
            <a:r>
              <a:rPr lang="en-US" sz="22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三组件模型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9844" y="2447398"/>
            <a:ext cx="7018273" cy="863787"/>
          </a:xfrm>
          <a:custGeom>
            <a:avLst/>
            <a:gdLst/>
            <a:ahLst/>
            <a:cxnLst/>
            <a:rect l="l" t="t" r="r" b="b"/>
            <a:pathLst>
              <a:path w="7018273" h="863787">
                <a:moveTo>
                  <a:pt x="47988" y="0"/>
                </a:moveTo>
                <a:lnTo>
                  <a:pt x="6970281" y="0"/>
                </a:lnTo>
                <a:cubicBezTo>
                  <a:pt x="6996786" y="0"/>
                  <a:pt x="7018273" y="21487"/>
                  <a:pt x="7018273" y="47992"/>
                </a:cubicBezTo>
                <a:lnTo>
                  <a:pt x="7018273" y="815795"/>
                </a:lnTo>
                <a:cubicBezTo>
                  <a:pt x="7018273" y="842301"/>
                  <a:pt x="6996786" y="863787"/>
                  <a:pt x="6970281" y="863787"/>
                </a:cubicBezTo>
                <a:lnTo>
                  <a:pt x="47988" y="863787"/>
                </a:lnTo>
                <a:cubicBezTo>
                  <a:pt x="21485" y="863787"/>
                  <a:pt x="0" y="842302"/>
                  <a:pt x="0" y="815799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09844" y="2447398"/>
            <a:ext cx="47988" cy="863787"/>
          </a:xfrm>
          <a:custGeom>
            <a:avLst/>
            <a:gdLst/>
            <a:ahLst/>
            <a:cxnLst/>
            <a:rect l="l" t="t" r="r" b="b"/>
            <a:pathLst>
              <a:path w="47988" h="863787">
                <a:moveTo>
                  <a:pt x="47988" y="0"/>
                </a:moveTo>
                <a:lnTo>
                  <a:pt x="47988" y="0"/>
                </a:lnTo>
                <a:lnTo>
                  <a:pt x="47988" y="863787"/>
                </a:lnTo>
                <a:lnTo>
                  <a:pt x="47988" y="863787"/>
                </a:lnTo>
                <a:cubicBezTo>
                  <a:pt x="21485" y="863787"/>
                  <a:pt x="0" y="842302"/>
                  <a:pt x="0" y="815799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77802" y="2615356"/>
            <a:ext cx="136457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Source</a:t>
            </a:r>
            <a:r>
              <a:rPr lang="en-US" sz="17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(采集)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77802" y="2927280"/>
            <a:ext cx="6790329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接收数据,支持多种数据源(</a:t>
            </a:r>
            <a:r>
              <a:rPr lang="en-US" sz="132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Avro、Thrift、Exec、Kafka</a:t>
            </a:r>
            <a:r>
              <a:rPr lang="en-US" sz="132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9844" y="3455150"/>
            <a:ext cx="7018273" cy="863787"/>
          </a:xfrm>
          <a:custGeom>
            <a:avLst/>
            <a:gdLst/>
            <a:ahLst/>
            <a:cxnLst/>
            <a:rect l="l" t="t" r="r" b="b"/>
            <a:pathLst>
              <a:path w="7018273" h="863787">
                <a:moveTo>
                  <a:pt x="47988" y="0"/>
                </a:moveTo>
                <a:lnTo>
                  <a:pt x="6970281" y="0"/>
                </a:lnTo>
                <a:cubicBezTo>
                  <a:pt x="6996786" y="0"/>
                  <a:pt x="7018273" y="21487"/>
                  <a:pt x="7018273" y="47992"/>
                </a:cubicBezTo>
                <a:lnTo>
                  <a:pt x="7018273" y="815795"/>
                </a:lnTo>
                <a:cubicBezTo>
                  <a:pt x="7018273" y="842301"/>
                  <a:pt x="6996786" y="863787"/>
                  <a:pt x="6970281" y="863787"/>
                </a:cubicBezTo>
                <a:lnTo>
                  <a:pt x="47988" y="863787"/>
                </a:lnTo>
                <a:cubicBezTo>
                  <a:pt x="21485" y="863787"/>
                  <a:pt x="0" y="842302"/>
                  <a:pt x="0" y="815799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09844" y="3455150"/>
            <a:ext cx="47988" cy="863787"/>
          </a:xfrm>
          <a:custGeom>
            <a:avLst/>
            <a:gdLst/>
            <a:ahLst/>
            <a:cxnLst/>
            <a:rect l="l" t="t" r="r" b="b"/>
            <a:pathLst>
              <a:path w="47988" h="863787">
                <a:moveTo>
                  <a:pt x="47988" y="0"/>
                </a:moveTo>
                <a:lnTo>
                  <a:pt x="47988" y="0"/>
                </a:lnTo>
                <a:lnTo>
                  <a:pt x="47988" y="863787"/>
                </a:lnTo>
                <a:lnTo>
                  <a:pt x="47988" y="863787"/>
                </a:lnTo>
                <a:cubicBezTo>
                  <a:pt x="21485" y="863787"/>
                  <a:pt x="0" y="842302"/>
                  <a:pt x="0" y="815799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77802" y="3623108"/>
            <a:ext cx="1483604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Channel</a:t>
            </a:r>
            <a:r>
              <a:rPr lang="en-US" sz="17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(缓冲)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77802" y="3935032"/>
            <a:ext cx="6790329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临时存储数据,保证数据传输可靠性,支持事务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9844" y="4462902"/>
            <a:ext cx="7018273" cy="863787"/>
          </a:xfrm>
          <a:custGeom>
            <a:avLst/>
            <a:gdLst/>
            <a:ahLst/>
            <a:cxnLst/>
            <a:rect l="l" t="t" r="r" b="b"/>
            <a:pathLst>
              <a:path w="7018273" h="863787">
                <a:moveTo>
                  <a:pt x="47988" y="0"/>
                </a:moveTo>
                <a:lnTo>
                  <a:pt x="6970281" y="0"/>
                </a:lnTo>
                <a:cubicBezTo>
                  <a:pt x="6996786" y="0"/>
                  <a:pt x="7018273" y="21487"/>
                  <a:pt x="7018273" y="47992"/>
                </a:cubicBezTo>
                <a:lnTo>
                  <a:pt x="7018273" y="815795"/>
                </a:lnTo>
                <a:cubicBezTo>
                  <a:pt x="7018273" y="842301"/>
                  <a:pt x="6996786" y="863787"/>
                  <a:pt x="6970281" y="863787"/>
                </a:cubicBezTo>
                <a:lnTo>
                  <a:pt x="47988" y="863787"/>
                </a:lnTo>
                <a:cubicBezTo>
                  <a:pt x="21485" y="863787"/>
                  <a:pt x="0" y="842302"/>
                  <a:pt x="0" y="815799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509844" y="4462902"/>
            <a:ext cx="47988" cy="863787"/>
          </a:xfrm>
          <a:custGeom>
            <a:avLst/>
            <a:gdLst/>
            <a:ahLst/>
            <a:cxnLst/>
            <a:rect l="l" t="t" r="r" b="b"/>
            <a:pathLst>
              <a:path w="47988" h="863787">
                <a:moveTo>
                  <a:pt x="47988" y="0"/>
                </a:moveTo>
                <a:lnTo>
                  <a:pt x="47988" y="0"/>
                </a:lnTo>
                <a:lnTo>
                  <a:pt x="47988" y="863787"/>
                </a:lnTo>
                <a:lnTo>
                  <a:pt x="47988" y="863787"/>
                </a:lnTo>
                <a:cubicBezTo>
                  <a:pt x="21485" y="863787"/>
                  <a:pt x="0" y="842302"/>
                  <a:pt x="0" y="815799"/>
                </a:cubicBezTo>
                <a:lnTo>
                  <a:pt x="0" y="47988"/>
                </a:lnTo>
                <a:cubicBezTo>
                  <a:pt x="0" y="21503"/>
                  <a:pt x="21503" y="0"/>
                  <a:pt x="4798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677802" y="4630861"/>
            <a:ext cx="108517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Sink</a:t>
            </a:r>
            <a:r>
              <a:rPr lang="en-US" sz="17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(输出)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77802" y="4942784"/>
            <a:ext cx="6790329" cy="23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将数据发送到目标系统(</a:t>
            </a:r>
            <a:r>
              <a:rPr lang="en-US" sz="132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HDFS、Kafka、HBase</a:t>
            </a:r>
            <a:r>
              <a:rPr lang="en-US" sz="132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5880" y="5764582"/>
            <a:ext cx="15284239" cy="2891289"/>
          </a:xfrm>
          <a:custGeom>
            <a:avLst/>
            <a:gdLst/>
            <a:ahLst/>
            <a:cxnLst/>
            <a:rect l="l" t="t" r="r" b="b"/>
            <a:pathLst>
              <a:path w="15284239" h="2891289">
                <a:moveTo>
                  <a:pt x="95991" y="0"/>
                </a:moveTo>
                <a:lnTo>
                  <a:pt x="15188248" y="0"/>
                </a:lnTo>
                <a:cubicBezTo>
                  <a:pt x="15241263" y="0"/>
                  <a:pt x="15284239" y="42977"/>
                  <a:pt x="15284239" y="95991"/>
                </a:cubicBezTo>
                <a:lnTo>
                  <a:pt x="15284239" y="2795298"/>
                </a:lnTo>
                <a:cubicBezTo>
                  <a:pt x="15284239" y="2848312"/>
                  <a:pt x="15241263" y="2891289"/>
                  <a:pt x="15188248" y="2891289"/>
                </a:cubicBezTo>
                <a:lnTo>
                  <a:pt x="95991" y="2891289"/>
                </a:lnTo>
                <a:cubicBezTo>
                  <a:pt x="42977" y="2891289"/>
                  <a:pt x="0" y="2848312"/>
                  <a:pt x="0" y="2795298"/>
                </a:cubicBezTo>
                <a:lnTo>
                  <a:pt x="0" y="95991"/>
                </a:lnTo>
                <a:cubicBezTo>
                  <a:pt x="0" y="42977"/>
                  <a:pt x="42977" y="0"/>
                  <a:pt x="9599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7811" y="6058509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282643" y="84692"/>
                </a:moveTo>
                <a:lnTo>
                  <a:pt x="228656" y="138678"/>
                </a:lnTo>
                <a:cubicBezTo>
                  <a:pt x="223483" y="143852"/>
                  <a:pt x="215778" y="145370"/>
                  <a:pt x="209030" y="142559"/>
                </a:cubicBezTo>
                <a:cubicBezTo>
                  <a:pt x="202281" y="139747"/>
                  <a:pt x="197951" y="133223"/>
                  <a:pt x="197951" y="125969"/>
                </a:cubicBezTo>
                <a:lnTo>
                  <a:pt x="197951" y="89978"/>
                </a:lnTo>
                <a:lnTo>
                  <a:pt x="17996" y="89978"/>
                </a:lnTo>
                <a:cubicBezTo>
                  <a:pt x="8042" y="89978"/>
                  <a:pt x="0" y="81936"/>
                  <a:pt x="0" y="71982"/>
                </a:cubicBezTo>
                <a:cubicBezTo>
                  <a:pt x="0" y="62028"/>
                  <a:pt x="8042" y="53987"/>
                  <a:pt x="17996" y="53987"/>
                </a:cubicBezTo>
                <a:lnTo>
                  <a:pt x="197951" y="53987"/>
                </a:lnTo>
                <a:lnTo>
                  <a:pt x="197951" y="17996"/>
                </a:lnTo>
                <a:cubicBezTo>
                  <a:pt x="197951" y="10741"/>
                  <a:pt x="202338" y="4161"/>
                  <a:pt x="209086" y="1350"/>
                </a:cubicBezTo>
                <a:cubicBezTo>
                  <a:pt x="215834" y="-1462"/>
                  <a:pt x="223539" y="112"/>
                  <a:pt x="228712" y="5230"/>
                </a:cubicBezTo>
                <a:lnTo>
                  <a:pt x="282699" y="59217"/>
                </a:lnTo>
                <a:cubicBezTo>
                  <a:pt x="289729" y="66246"/>
                  <a:pt x="289729" y="77662"/>
                  <a:pt x="282699" y="84692"/>
                </a:cubicBezTo>
                <a:close/>
                <a:moveTo>
                  <a:pt x="59217" y="282643"/>
                </a:moveTo>
                <a:lnTo>
                  <a:pt x="5230" y="228656"/>
                </a:lnTo>
                <a:cubicBezTo>
                  <a:pt x="-1800" y="221627"/>
                  <a:pt x="-1800" y="210211"/>
                  <a:pt x="5230" y="203181"/>
                </a:cubicBezTo>
                <a:lnTo>
                  <a:pt x="59217" y="149195"/>
                </a:lnTo>
                <a:cubicBezTo>
                  <a:pt x="64390" y="144021"/>
                  <a:pt x="72095" y="142502"/>
                  <a:pt x="78843" y="145314"/>
                </a:cubicBezTo>
                <a:cubicBezTo>
                  <a:pt x="85591" y="148126"/>
                  <a:pt x="89978" y="154706"/>
                  <a:pt x="89978" y="161960"/>
                </a:cubicBezTo>
                <a:lnTo>
                  <a:pt x="89978" y="197951"/>
                </a:lnTo>
                <a:lnTo>
                  <a:pt x="269934" y="197951"/>
                </a:lnTo>
                <a:cubicBezTo>
                  <a:pt x="279887" y="197951"/>
                  <a:pt x="287929" y="205993"/>
                  <a:pt x="287929" y="215947"/>
                </a:cubicBezTo>
                <a:cubicBezTo>
                  <a:pt x="287929" y="225901"/>
                  <a:pt x="279887" y="233942"/>
                  <a:pt x="269934" y="233942"/>
                </a:cubicBezTo>
                <a:lnTo>
                  <a:pt x="89978" y="233942"/>
                </a:lnTo>
                <a:lnTo>
                  <a:pt x="89978" y="269934"/>
                </a:lnTo>
                <a:cubicBezTo>
                  <a:pt x="89978" y="277188"/>
                  <a:pt x="85591" y="283768"/>
                  <a:pt x="78843" y="286579"/>
                </a:cubicBezTo>
                <a:cubicBezTo>
                  <a:pt x="72095" y="289391"/>
                  <a:pt x="64390" y="287817"/>
                  <a:pt x="59217" y="282699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1731" y="6010521"/>
            <a:ext cx="14576413" cy="383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7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Channel</a:t>
            </a:r>
            <a:r>
              <a:rPr lang="en-US" sz="226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类型与事务保证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1820" y="6538391"/>
            <a:ext cx="4798819" cy="1871539"/>
          </a:xfrm>
          <a:custGeom>
            <a:avLst/>
            <a:gdLst/>
            <a:ahLst/>
            <a:cxnLst/>
            <a:rect l="l" t="t" r="r" b="b"/>
            <a:pathLst>
              <a:path w="4798819" h="1871539">
                <a:moveTo>
                  <a:pt x="47986" y="0"/>
                </a:moveTo>
                <a:lnTo>
                  <a:pt x="4750833" y="0"/>
                </a:lnTo>
                <a:cubicBezTo>
                  <a:pt x="4777335" y="0"/>
                  <a:pt x="4798819" y="21484"/>
                  <a:pt x="4798819" y="47986"/>
                </a:cubicBezTo>
                <a:lnTo>
                  <a:pt x="4798819" y="1823553"/>
                </a:lnTo>
                <a:cubicBezTo>
                  <a:pt x="4798819" y="1850055"/>
                  <a:pt x="4777335" y="1871539"/>
                  <a:pt x="4750833" y="1871539"/>
                </a:cubicBezTo>
                <a:lnTo>
                  <a:pt x="47986" y="1871539"/>
                </a:lnTo>
                <a:cubicBezTo>
                  <a:pt x="21484" y="1871539"/>
                  <a:pt x="0" y="1850055"/>
                  <a:pt x="0" y="1823553"/>
                </a:cubicBezTo>
                <a:lnTo>
                  <a:pt x="0" y="47986"/>
                </a:lnTo>
                <a:cubicBezTo>
                  <a:pt x="0" y="21502"/>
                  <a:pt x="21502" y="0"/>
                  <a:pt x="4798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23773" y="6730344"/>
            <a:ext cx="4522887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Memory Channel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23773" y="7162238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内存缓冲,速度快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3773" y="7546143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断电丢数据,可靠性低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3773" y="7930049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测试环境、可丢失数据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725216" y="6538391"/>
            <a:ext cx="4798819" cy="1871539"/>
          </a:xfrm>
          <a:custGeom>
            <a:avLst/>
            <a:gdLst/>
            <a:ahLst/>
            <a:cxnLst/>
            <a:rect l="l" t="t" r="r" b="b"/>
            <a:pathLst>
              <a:path w="4798819" h="1871539">
                <a:moveTo>
                  <a:pt x="47986" y="0"/>
                </a:moveTo>
                <a:lnTo>
                  <a:pt x="4750833" y="0"/>
                </a:lnTo>
                <a:cubicBezTo>
                  <a:pt x="4777335" y="0"/>
                  <a:pt x="4798819" y="21484"/>
                  <a:pt x="4798819" y="47986"/>
                </a:cubicBezTo>
                <a:lnTo>
                  <a:pt x="4798819" y="1823553"/>
                </a:lnTo>
                <a:cubicBezTo>
                  <a:pt x="4798819" y="1850055"/>
                  <a:pt x="4777335" y="1871539"/>
                  <a:pt x="4750833" y="1871539"/>
                </a:cubicBezTo>
                <a:lnTo>
                  <a:pt x="47986" y="1871539"/>
                </a:lnTo>
                <a:cubicBezTo>
                  <a:pt x="21484" y="1871539"/>
                  <a:pt x="0" y="1850055"/>
                  <a:pt x="0" y="1823553"/>
                </a:cubicBezTo>
                <a:lnTo>
                  <a:pt x="0" y="47986"/>
                </a:lnTo>
                <a:cubicBezTo>
                  <a:pt x="0" y="21502"/>
                  <a:pt x="21502" y="0"/>
                  <a:pt x="4798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17169" y="6730344"/>
            <a:ext cx="4522887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File Channel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917169" y="7162238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磁盘缓冲,可靠性高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17169" y="7546143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速度较慢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917169" y="7930049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生产环境、重要数据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718613" y="6538391"/>
            <a:ext cx="4798819" cy="1871539"/>
          </a:xfrm>
          <a:custGeom>
            <a:avLst/>
            <a:gdLst/>
            <a:ahLst/>
            <a:cxnLst/>
            <a:rect l="l" t="t" r="r" b="b"/>
            <a:pathLst>
              <a:path w="4798819" h="1871539">
                <a:moveTo>
                  <a:pt x="47986" y="0"/>
                </a:moveTo>
                <a:lnTo>
                  <a:pt x="4750833" y="0"/>
                </a:lnTo>
                <a:cubicBezTo>
                  <a:pt x="4777335" y="0"/>
                  <a:pt x="4798819" y="21484"/>
                  <a:pt x="4798819" y="47986"/>
                </a:cubicBezTo>
                <a:lnTo>
                  <a:pt x="4798819" y="1823553"/>
                </a:lnTo>
                <a:cubicBezTo>
                  <a:pt x="4798819" y="1850055"/>
                  <a:pt x="4777335" y="1871539"/>
                  <a:pt x="4750833" y="1871539"/>
                </a:cubicBezTo>
                <a:lnTo>
                  <a:pt x="47986" y="1871539"/>
                </a:lnTo>
                <a:cubicBezTo>
                  <a:pt x="21484" y="1871539"/>
                  <a:pt x="0" y="1850055"/>
                  <a:pt x="0" y="1823553"/>
                </a:cubicBezTo>
                <a:lnTo>
                  <a:pt x="0" y="47986"/>
                </a:lnTo>
                <a:cubicBezTo>
                  <a:pt x="0" y="21502"/>
                  <a:pt x="21502" y="0"/>
                  <a:pt x="4798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910565" y="6730344"/>
            <a:ext cx="4522887" cy="335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事务保证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910565" y="7162238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Source→Channel</a:t>
            </a: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事务保证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10565" y="7546143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Channel→Sink</a:t>
            </a: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事务保证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10565" y="7930049"/>
            <a:ext cx="45108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51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不丢数据,不重复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896" y="490377"/>
            <a:ext cx="1507910" cy="392302"/>
          </a:xfrm>
          <a:custGeom>
            <a:avLst/>
            <a:gdLst/>
            <a:ahLst/>
            <a:cxnLst/>
            <a:rect l="l" t="t" r="r" b="b"/>
            <a:pathLst>
              <a:path w="1507910" h="392302">
                <a:moveTo>
                  <a:pt x="0" y="0"/>
                </a:moveTo>
                <a:lnTo>
                  <a:pt x="1507910" y="0"/>
                </a:lnTo>
                <a:lnTo>
                  <a:pt x="1507910" y="392302"/>
                </a:lnTo>
                <a:lnTo>
                  <a:pt x="0" y="392302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4896" y="490377"/>
            <a:ext cx="49038" cy="392302"/>
          </a:xfrm>
          <a:custGeom>
            <a:avLst/>
            <a:gdLst/>
            <a:ahLst/>
            <a:cxnLst/>
            <a:rect l="l" t="t" r="r" b="b"/>
            <a:pathLst>
              <a:path w="49038" h="392302">
                <a:moveTo>
                  <a:pt x="0" y="0"/>
                </a:moveTo>
                <a:lnTo>
                  <a:pt x="49038" y="0"/>
                </a:lnTo>
                <a:lnTo>
                  <a:pt x="49038" y="392302"/>
                </a:lnTo>
                <a:lnTo>
                  <a:pt x="0" y="392302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6528" y="557804"/>
            <a:ext cx="1290879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kern="0" spc="7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0377" y="980754"/>
            <a:ext cx="15495916" cy="490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75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流处理框架对比:</a:t>
            </a:r>
            <a:r>
              <a:rPr lang="en-US" sz="3475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 Streaming vs Flink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14896" y="1667282"/>
            <a:ext cx="7490510" cy="3628790"/>
          </a:xfrm>
          <a:custGeom>
            <a:avLst/>
            <a:gdLst/>
            <a:ahLst/>
            <a:cxnLst/>
            <a:rect l="l" t="t" r="r" b="b"/>
            <a:pathLst>
              <a:path w="7490510" h="3628790">
                <a:moveTo>
                  <a:pt x="49038" y="0"/>
                </a:moveTo>
                <a:lnTo>
                  <a:pt x="7392424" y="0"/>
                </a:lnTo>
                <a:cubicBezTo>
                  <a:pt x="7446595" y="0"/>
                  <a:pt x="7490510" y="43915"/>
                  <a:pt x="7490510" y="98086"/>
                </a:cubicBezTo>
                <a:lnTo>
                  <a:pt x="7490510" y="3530704"/>
                </a:lnTo>
                <a:cubicBezTo>
                  <a:pt x="7490510" y="3584876"/>
                  <a:pt x="7446595" y="3628790"/>
                  <a:pt x="7392424" y="3628790"/>
                </a:cubicBezTo>
                <a:lnTo>
                  <a:pt x="49038" y="3628790"/>
                </a:lnTo>
                <a:cubicBezTo>
                  <a:pt x="21955" y="3628790"/>
                  <a:pt x="0" y="3606835"/>
                  <a:pt x="0" y="3579753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4896" y="1667282"/>
            <a:ext cx="49038" cy="3628790"/>
          </a:xfrm>
          <a:custGeom>
            <a:avLst/>
            <a:gdLst/>
            <a:ahLst/>
            <a:cxnLst/>
            <a:rect l="l" t="t" r="r" b="b"/>
            <a:pathLst>
              <a:path w="49038" h="3628790">
                <a:moveTo>
                  <a:pt x="49038" y="0"/>
                </a:moveTo>
                <a:lnTo>
                  <a:pt x="49038" y="0"/>
                </a:lnTo>
                <a:lnTo>
                  <a:pt x="49038" y="3628790"/>
                </a:lnTo>
                <a:lnTo>
                  <a:pt x="49038" y="3628790"/>
                </a:lnTo>
                <a:cubicBezTo>
                  <a:pt x="21955" y="3628790"/>
                  <a:pt x="0" y="3606835"/>
                  <a:pt x="0" y="3579753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1382" y="1961508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33609" y="2988"/>
                </a:moveTo>
                <a:cubicBezTo>
                  <a:pt x="142171" y="-977"/>
                  <a:pt x="152055" y="-977"/>
                  <a:pt x="160618" y="2988"/>
                </a:cubicBezTo>
                <a:lnTo>
                  <a:pt x="286238" y="61029"/>
                </a:lnTo>
                <a:cubicBezTo>
                  <a:pt x="291123" y="63270"/>
                  <a:pt x="294226" y="68155"/>
                  <a:pt x="294226" y="73557"/>
                </a:cubicBezTo>
                <a:cubicBezTo>
                  <a:pt x="294226" y="78958"/>
                  <a:pt x="291123" y="83843"/>
                  <a:pt x="286238" y="86084"/>
                </a:cubicBezTo>
                <a:lnTo>
                  <a:pt x="160618" y="144125"/>
                </a:lnTo>
                <a:cubicBezTo>
                  <a:pt x="152055" y="148090"/>
                  <a:pt x="142171" y="148090"/>
                  <a:pt x="133609" y="144125"/>
                </a:cubicBezTo>
                <a:lnTo>
                  <a:pt x="7988" y="86084"/>
                </a:lnTo>
                <a:cubicBezTo>
                  <a:pt x="3103" y="83786"/>
                  <a:pt x="0" y="78901"/>
                  <a:pt x="0" y="73557"/>
                </a:cubicBezTo>
                <a:cubicBezTo>
                  <a:pt x="0" y="68212"/>
                  <a:pt x="3103" y="63270"/>
                  <a:pt x="7988" y="61029"/>
                </a:cubicBezTo>
                <a:lnTo>
                  <a:pt x="133609" y="2988"/>
                </a:lnTo>
                <a:close/>
                <a:moveTo>
                  <a:pt x="27641" y="125506"/>
                </a:moveTo>
                <a:lnTo>
                  <a:pt x="122058" y="169123"/>
                </a:lnTo>
                <a:cubicBezTo>
                  <a:pt x="137976" y="176478"/>
                  <a:pt x="156308" y="176478"/>
                  <a:pt x="172226" y="169123"/>
                </a:cubicBezTo>
                <a:lnTo>
                  <a:pt x="266643" y="125506"/>
                </a:lnTo>
                <a:lnTo>
                  <a:pt x="286238" y="134586"/>
                </a:lnTo>
                <a:cubicBezTo>
                  <a:pt x="291123" y="136827"/>
                  <a:pt x="294226" y="141711"/>
                  <a:pt x="294226" y="147113"/>
                </a:cubicBezTo>
                <a:cubicBezTo>
                  <a:pt x="294226" y="152515"/>
                  <a:pt x="291123" y="157400"/>
                  <a:pt x="286238" y="159641"/>
                </a:cubicBezTo>
                <a:lnTo>
                  <a:pt x="160618" y="217681"/>
                </a:lnTo>
                <a:cubicBezTo>
                  <a:pt x="152055" y="221647"/>
                  <a:pt x="142171" y="221647"/>
                  <a:pt x="133609" y="217681"/>
                </a:cubicBezTo>
                <a:lnTo>
                  <a:pt x="7988" y="159641"/>
                </a:lnTo>
                <a:cubicBezTo>
                  <a:pt x="3103" y="157342"/>
                  <a:pt x="0" y="152457"/>
                  <a:pt x="0" y="147113"/>
                </a:cubicBezTo>
                <a:cubicBezTo>
                  <a:pt x="0" y="141769"/>
                  <a:pt x="3103" y="136827"/>
                  <a:pt x="7988" y="134586"/>
                </a:cubicBezTo>
                <a:lnTo>
                  <a:pt x="27584" y="125506"/>
                </a:lnTo>
                <a:close/>
                <a:moveTo>
                  <a:pt x="7988" y="208142"/>
                </a:moveTo>
                <a:lnTo>
                  <a:pt x="27584" y="199062"/>
                </a:lnTo>
                <a:lnTo>
                  <a:pt x="122000" y="242679"/>
                </a:lnTo>
                <a:cubicBezTo>
                  <a:pt x="137919" y="250035"/>
                  <a:pt x="156250" y="250035"/>
                  <a:pt x="172168" y="242679"/>
                </a:cubicBezTo>
                <a:lnTo>
                  <a:pt x="266585" y="199062"/>
                </a:lnTo>
                <a:lnTo>
                  <a:pt x="286181" y="208142"/>
                </a:lnTo>
                <a:cubicBezTo>
                  <a:pt x="291066" y="210383"/>
                  <a:pt x="294169" y="215268"/>
                  <a:pt x="294169" y="220670"/>
                </a:cubicBezTo>
                <a:cubicBezTo>
                  <a:pt x="294169" y="226071"/>
                  <a:pt x="291066" y="230956"/>
                  <a:pt x="286181" y="233197"/>
                </a:cubicBezTo>
                <a:lnTo>
                  <a:pt x="160560" y="291238"/>
                </a:lnTo>
                <a:cubicBezTo>
                  <a:pt x="151998" y="295203"/>
                  <a:pt x="142114" y="295203"/>
                  <a:pt x="133551" y="291238"/>
                </a:cubicBezTo>
                <a:lnTo>
                  <a:pt x="7988" y="233197"/>
                </a:lnTo>
                <a:cubicBezTo>
                  <a:pt x="3103" y="230899"/>
                  <a:pt x="0" y="226014"/>
                  <a:pt x="0" y="220670"/>
                </a:cubicBezTo>
                <a:cubicBezTo>
                  <a:pt x="0" y="215325"/>
                  <a:pt x="3103" y="210383"/>
                  <a:pt x="7988" y="20814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2386" y="1912471"/>
            <a:ext cx="6754944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 Streaming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4603" y="2451885"/>
            <a:ext cx="6975614" cy="931716"/>
          </a:xfrm>
          <a:custGeom>
            <a:avLst/>
            <a:gdLst/>
            <a:ahLst/>
            <a:cxnLst/>
            <a:rect l="l" t="t" r="r" b="b"/>
            <a:pathLst>
              <a:path w="6975614" h="931716">
                <a:moveTo>
                  <a:pt x="49036" y="0"/>
                </a:moveTo>
                <a:lnTo>
                  <a:pt x="6926578" y="0"/>
                </a:lnTo>
                <a:cubicBezTo>
                  <a:pt x="6953660" y="0"/>
                  <a:pt x="6975614" y="21954"/>
                  <a:pt x="6975614" y="49036"/>
                </a:cubicBezTo>
                <a:lnTo>
                  <a:pt x="6975614" y="882680"/>
                </a:lnTo>
                <a:cubicBezTo>
                  <a:pt x="6975614" y="909762"/>
                  <a:pt x="6953660" y="931716"/>
                  <a:pt x="6926578" y="931716"/>
                </a:cubicBezTo>
                <a:lnTo>
                  <a:pt x="49036" y="931716"/>
                </a:lnTo>
                <a:cubicBezTo>
                  <a:pt x="21954" y="931716"/>
                  <a:pt x="0" y="909762"/>
                  <a:pt x="0" y="882680"/>
                </a:cubicBezTo>
                <a:lnTo>
                  <a:pt x="0" y="49036"/>
                </a:lnTo>
                <a:cubicBezTo>
                  <a:pt x="0" y="21972"/>
                  <a:pt x="21972" y="0"/>
                  <a:pt x="4903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31716" y="2623516"/>
            <a:ext cx="3041296" cy="3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模型:微批处理(</a:t>
            </a:r>
            <a:r>
              <a:rPr lang="en-US" sz="173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Micro-batch</a:t>
            </a:r>
            <a:r>
              <a:rPr lang="en-US" sz="173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1716" y="2942262"/>
            <a:ext cx="6779463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将实时流拆分为小的时间片(</a:t>
            </a: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RDD</a:t>
            </a: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),按批次处理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4603" y="3530715"/>
            <a:ext cx="6975614" cy="1520169"/>
          </a:xfrm>
          <a:custGeom>
            <a:avLst/>
            <a:gdLst/>
            <a:ahLst/>
            <a:cxnLst/>
            <a:rect l="l" t="t" r="r" b="b"/>
            <a:pathLst>
              <a:path w="6975614" h="1520169">
                <a:moveTo>
                  <a:pt x="49041" y="0"/>
                </a:moveTo>
                <a:lnTo>
                  <a:pt x="6926573" y="0"/>
                </a:lnTo>
                <a:cubicBezTo>
                  <a:pt x="6953658" y="0"/>
                  <a:pt x="6975614" y="21956"/>
                  <a:pt x="6975614" y="49041"/>
                </a:cubicBezTo>
                <a:lnTo>
                  <a:pt x="6975614" y="1471128"/>
                </a:lnTo>
                <a:cubicBezTo>
                  <a:pt x="6975614" y="1498213"/>
                  <a:pt x="6953658" y="1520169"/>
                  <a:pt x="6926573" y="1520169"/>
                </a:cubicBezTo>
                <a:lnTo>
                  <a:pt x="49041" y="1520169"/>
                </a:lnTo>
                <a:cubicBezTo>
                  <a:pt x="21956" y="1520169"/>
                  <a:pt x="0" y="1498213"/>
                  <a:pt x="0" y="1471128"/>
                </a:cubicBezTo>
                <a:lnTo>
                  <a:pt x="0" y="49041"/>
                </a:lnTo>
                <a:cubicBezTo>
                  <a:pt x="0" y="21974"/>
                  <a:pt x="21974" y="0"/>
                  <a:pt x="49041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1716" y="3702347"/>
            <a:ext cx="551674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1716" y="4070130"/>
            <a:ext cx="6767204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高吞吐,秒级延迟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1716" y="4364356"/>
            <a:ext cx="6767204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与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生态无缝集成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1716" y="4658582"/>
            <a:ext cx="6767204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延迟较高(秒级),不是真正流处理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76454" y="1667282"/>
            <a:ext cx="7490510" cy="3628790"/>
          </a:xfrm>
          <a:custGeom>
            <a:avLst/>
            <a:gdLst/>
            <a:ahLst/>
            <a:cxnLst/>
            <a:rect l="l" t="t" r="r" b="b"/>
            <a:pathLst>
              <a:path w="7490510" h="3628790">
                <a:moveTo>
                  <a:pt x="49038" y="0"/>
                </a:moveTo>
                <a:lnTo>
                  <a:pt x="7392424" y="0"/>
                </a:lnTo>
                <a:cubicBezTo>
                  <a:pt x="7446595" y="0"/>
                  <a:pt x="7490510" y="43915"/>
                  <a:pt x="7490510" y="98086"/>
                </a:cubicBezTo>
                <a:lnTo>
                  <a:pt x="7490510" y="3530704"/>
                </a:lnTo>
                <a:cubicBezTo>
                  <a:pt x="7490510" y="3584876"/>
                  <a:pt x="7446595" y="3628790"/>
                  <a:pt x="7392424" y="3628790"/>
                </a:cubicBezTo>
                <a:lnTo>
                  <a:pt x="49038" y="3628790"/>
                </a:lnTo>
                <a:cubicBezTo>
                  <a:pt x="21955" y="3628790"/>
                  <a:pt x="0" y="3606835"/>
                  <a:pt x="0" y="3579753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76454" y="1667282"/>
            <a:ext cx="49038" cy="3628790"/>
          </a:xfrm>
          <a:custGeom>
            <a:avLst/>
            <a:gdLst/>
            <a:ahLst/>
            <a:cxnLst/>
            <a:rect l="l" t="t" r="r" b="b"/>
            <a:pathLst>
              <a:path w="49038" h="3628790">
                <a:moveTo>
                  <a:pt x="49038" y="0"/>
                </a:moveTo>
                <a:lnTo>
                  <a:pt x="49038" y="0"/>
                </a:lnTo>
                <a:lnTo>
                  <a:pt x="49038" y="3628790"/>
                </a:lnTo>
                <a:lnTo>
                  <a:pt x="49038" y="3628790"/>
                </a:lnTo>
                <a:cubicBezTo>
                  <a:pt x="21955" y="3628790"/>
                  <a:pt x="0" y="3606835"/>
                  <a:pt x="0" y="3579753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82940" y="1961508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0" y="55167"/>
                </a:moveTo>
                <a:cubicBezTo>
                  <a:pt x="0" y="44996"/>
                  <a:pt x="8218" y="36778"/>
                  <a:pt x="18389" y="36778"/>
                </a:cubicBezTo>
                <a:lnTo>
                  <a:pt x="239059" y="36778"/>
                </a:lnTo>
                <a:cubicBezTo>
                  <a:pt x="249230" y="36778"/>
                  <a:pt x="257448" y="44996"/>
                  <a:pt x="257448" y="55167"/>
                </a:cubicBezTo>
                <a:cubicBezTo>
                  <a:pt x="257448" y="65339"/>
                  <a:pt x="249230" y="73557"/>
                  <a:pt x="239059" y="73557"/>
                </a:cubicBezTo>
                <a:lnTo>
                  <a:pt x="18389" y="73557"/>
                </a:lnTo>
                <a:cubicBezTo>
                  <a:pt x="8218" y="73557"/>
                  <a:pt x="0" y="65339"/>
                  <a:pt x="0" y="55167"/>
                </a:cubicBezTo>
                <a:close/>
                <a:moveTo>
                  <a:pt x="36778" y="147113"/>
                </a:moveTo>
                <a:cubicBezTo>
                  <a:pt x="36778" y="136942"/>
                  <a:pt x="44996" y="128724"/>
                  <a:pt x="55167" y="128724"/>
                </a:cubicBezTo>
                <a:lnTo>
                  <a:pt x="275837" y="128724"/>
                </a:lnTo>
                <a:cubicBezTo>
                  <a:pt x="286009" y="128724"/>
                  <a:pt x="294226" y="136942"/>
                  <a:pt x="294226" y="147113"/>
                </a:cubicBezTo>
                <a:cubicBezTo>
                  <a:pt x="294226" y="157285"/>
                  <a:pt x="286009" y="165502"/>
                  <a:pt x="275837" y="165502"/>
                </a:cubicBezTo>
                <a:lnTo>
                  <a:pt x="55167" y="165502"/>
                </a:lnTo>
                <a:cubicBezTo>
                  <a:pt x="44996" y="165502"/>
                  <a:pt x="36778" y="157285"/>
                  <a:pt x="36778" y="147113"/>
                </a:cubicBezTo>
                <a:close/>
                <a:moveTo>
                  <a:pt x="257448" y="239059"/>
                </a:moveTo>
                <a:cubicBezTo>
                  <a:pt x="257448" y="249230"/>
                  <a:pt x="249230" y="257448"/>
                  <a:pt x="239059" y="257448"/>
                </a:cubicBezTo>
                <a:lnTo>
                  <a:pt x="18389" y="257448"/>
                </a:lnTo>
                <a:cubicBezTo>
                  <a:pt x="8218" y="257448"/>
                  <a:pt x="0" y="249230"/>
                  <a:pt x="0" y="239059"/>
                </a:cubicBezTo>
                <a:cubicBezTo>
                  <a:pt x="0" y="228887"/>
                  <a:pt x="8218" y="220670"/>
                  <a:pt x="18389" y="220670"/>
                </a:cubicBezTo>
                <a:lnTo>
                  <a:pt x="239059" y="220670"/>
                </a:lnTo>
                <a:cubicBezTo>
                  <a:pt x="249230" y="220670"/>
                  <a:pt x="257448" y="228887"/>
                  <a:pt x="257448" y="239059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13944" y="1912471"/>
            <a:ext cx="6754944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Flink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46161" y="2451885"/>
            <a:ext cx="6975614" cy="931716"/>
          </a:xfrm>
          <a:custGeom>
            <a:avLst/>
            <a:gdLst/>
            <a:ahLst/>
            <a:cxnLst/>
            <a:rect l="l" t="t" r="r" b="b"/>
            <a:pathLst>
              <a:path w="6975614" h="931716">
                <a:moveTo>
                  <a:pt x="49036" y="0"/>
                </a:moveTo>
                <a:lnTo>
                  <a:pt x="6926578" y="0"/>
                </a:lnTo>
                <a:cubicBezTo>
                  <a:pt x="6953660" y="0"/>
                  <a:pt x="6975614" y="21954"/>
                  <a:pt x="6975614" y="49036"/>
                </a:cubicBezTo>
                <a:lnTo>
                  <a:pt x="6975614" y="882680"/>
                </a:lnTo>
                <a:cubicBezTo>
                  <a:pt x="6975614" y="909762"/>
                  <a:pt x="6953660" y="931716"/>
                  <a:pt x="6926578" y="931716"/>
                </a:cubicBezTo>
                <a:lnTo>
                  <a:pt x="49036" y="931716"/>
                </a:lnTo>
                <a:cubicBezTo>
                  <a:pt x="21954" y="931716"/>
                  <a:pt x="0" y="909762"/>
                  <a:pt x="0" y="882680"/>
                </a:cubicBezTo>
                <a:lnTo>
                  <a:pt x="0" y="49036"/>
                </a:lnTo>
                <a:cubicBezTo>
                  <a:pt x="0" y="21972"/>
                  <a:pt x="21972" y="0"/>
                  <a:pt x="4903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93275" y="2623517"/>
            <a:ext cx="3720398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模型:原生流处理(</a:t>
            </a:r>
            <a:r>
              <a:rPr lang="en-US" sz="1738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Native Streaming</a:t>
            </a:r>
            <a:r>
              <a:rPr lang="en-US" sz="173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3275" y="2942262"/>
            <a:ext cx="6779463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事件驱动(</a:t>
            </a: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Event-driven</a:t>
            </a: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),逐条处理数据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46161" y="3530715"/>
            <a:ext cx="6975614" cy="1520169"/>
          </a:xfrm>
          <a:custGeom>
            <a:avLst/>
            <a:gdLst/>
            <a:ahLst/>
            <a:cxnLst/>
            <a:rect l="l" t="t" r="r" b="b"/>
            <a:pathLst>
              <a:path w="6975614" h="1520169">
                <a:moveTo>
                  <a:pt x="49041" y="0"/>
                </a:moveTo>
                <a:lnTo>
                  <a:pt x="6926573" y="0"/>
                </a:lnTo>
                <a:cubicBezTo>
                  <a:pt x="6953658" y="0"/>
                  <a:pt x="6975614" y="21956"/>
                  <a:pt x="6975614" y="49041"/>
                </a:cubicBezTo>
                <a:lnTo>
                  <a:pt x="6975614" y="1471128"/>
                </a:lnTo>
                <a:cubicBezTo>
                  <a:pt x="6975614" y="1498213"/>
                  <a:pt x="6953658" y="1520169"/>
                  <a:pt x="6926573" y="1520169"/>
                </a:cubicBezTo>
                <a:lnTo>
                  <a:pt x="49041" y="1520169"/>
                </a:lnTo>
                <a:cubicBezTo>
                  <a:pt x="21956" y="1520169"/>
                  <a:pt x="0" y="1498213"/>
                  <a:pt x="0" y="1471128"/>
                </a:cubicBezTo>
                <a:lnTo>
                  <a:pt x="0" y="49041"/>
                </a:lnTo>
                <a:cubicBezTo>
                  <a:pt x="0" y="21974"/>
                  <a:pt x="21974" y="0"/>
                  <a:pt x="4904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93275" y="3702347"/>
            <a:ext cx="551674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93275" y="4070130"/>
            <a:ext cx="6767204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低延迟(毫秒级)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93275" y="4364356"/>
            <a:ext cx="6767204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支持状态管理和事件时间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93275" y="4658582"/>
            <a:ext cx="6767204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+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真正流处理,批处理是流的特例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6507" y="5498353"/>
            <a:ext cx="15262986" cy="2169919"/>
          </a:xfrm>
          <a:custGeom>
            <a:avLst/>
            <a:gdLst/>
            <a:ahLst/>
            <a:cxnLst/>
            <a:rect l="l" t="t" r="r" b="b"/>
            <a:pathLst>
              <a:path w="15262986" h="2169919">
                <a:moveTo>
                  <a:pt x="98080" y="0"/>
                </a:moveTo>
                <a:lnTo>
                  <a:pt x="15164906" y="0"/>
                </a:lnTo>
                <a:cubicBezTo>
                  <a:pt x="15219074" y="0"/>
                  <a:pt x="15262986" y="43912"/>
                  <a:pt x="15262986" y="98080"/>
                </a:cubicBezTo>
                <a:lnTo>
                  <a:pt x="15262986" y="2071838"/>
                </a:lnTo>
                <a:cubicBezTo>
                  <a:pt x="15262986" y="2126006"/>
                  <a:pt x="15219074" y="2169919"/>
                  <a:pt x="15164906" y="2169919"/>
                </a:cubicBezTo>
                <a:lnTo>
                  <a:pt x="98080" y="2169919"/>
                </a:lnTo>
                <a:cubicBezTo>
                  <a:pt x="43912" y="2169919"/>
                  <a:pt x="0" y="2126006"/>
                  <a:pt x="0" y="2071838"/>
                </a:cubicBezTo>
                <a:lnTo>
                  <a:pt x="0" y="98080"/>
                </a:lnTo>
                <a:cubicBezTo>
                  <a:pt x="0" y="43912"/>
                  <a:pt x="43912" y="0"/>
                  <a:pt x="9808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84603" y="5798709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36778" y="36778"/>
                </a:moveTo>
                <a:cubicBezTo>
                  <a:pt x="16493" y="36778"/>
                  <a:pt x="0" y="53271"/>
                  <a:pt x="0" y="73557"/>
                </a:cubicBezTo>
                <a:lnTo>
                  <a:pt x="0" y="220670"/>
                </a:lnTo>
                <a:cubicBezTo>
                  <a:pt x="0" y="240955"/>
                  <a:pt x="16493" y="257448"/>
                  <a:pt x="36778" y="257448"/>
                </a:cubicBezTo>
                <a:lnTo>
                  <a:pt x="257448" y="257448"/>
                </a:lnTo>
                <a:cubicBezTo>
                  <a:pt x="277733" y="257448"/>
                  <a:pt x="294226" y="240955"/>
                  <a:pt x="294226" y="220670"/>
                </a:cubicBezTo>
                <a:lnTo>
                  <a:pt x="294226" y="73557"/>
                </a:lnTo>
                <a:cubicBezTo>
                  <a:pt x="294226" y="53271"/>
                  <a:pt x="277733" y="36778"/>
                  <a:pt x="257448" y="36778"/>
                </a:cubicBezTo>
                <a:lnTo>
                  <a:pt x="36778" y="36778"/>
                </a:lnTo>
                <a:close/>
                <a:moveTo>
                  <a:pt x="50570" y="73557"/>
                </a:moveTo>
                <a:lnTo>
                  <a:pt x="243656" y="73557"/>
                </a:lnTo>
                <a:cubicBezTo>
                  <a:pt x="251299" y="73557"/>
                  <a:pt x="257448" y="79705"/>
                  <a:pt x="257448" y="87348"/>
                </a:cubicBezTo>
                <a:cubicBezTo>
                  <a:pt x="257448" y="94991"/>
                  <a:pt x="251299" y="101140"/>
                  <a:pt x="243656" y="101140"/>
                </a:cubicBezTo>
                <a:lnTo>
                  <a:pt x="50570" y="101140"/>
                </a:lnTo>
                <a:cubicBezTo>
                  <a:pt x="42927" y="101140"/>
                  <a:pt x="36778" y="94991"/>
                  <a:pt x="36778" y="87348"/>
                </a:cubicBezTo>
                <a:cubicBezTo>
                  <a:pt x="36778" y="79705"/>
                  <a:pt x="42927" y="73557"/>
                  <a:pt x="50570" y="73557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15608" y="5749671"/>
            <a:ext cx="14539680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窗口类型(</a:t>
            </a:r>
            <a:r>
              <a:rPr lang="en-US" sz="2317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Window Types</a:t>
            </a:r>
            <a:r>
              <a:rPr lang="en-US" sz="231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7825" y="6289086"/>
            <a:ext cx="4793436" cy="1127867"/>
          </a:xfrm>
          <a:custGeom>
            <a:avLst/>
            <a:gdLst/>
            <a:ahLst/>
            <a:cxnLst/>
            <a:rect l="l" t="t" r="r" b="b"/>
            <a:pathLst>
              <a:path w="4793436" h="1127867">
                <a:moveTo>
                  <a:pt x="49040" y="0"/>
                </a:moveTo>
                <a:lnTo>
                  <a:pt x="4744396" y="0"/>
                </a:lnTo>
                <a:cubicBezTo>
                  <a:pt x="4771480" y="0"/>
                  <a:pt x="4793436" y="21956"/>
                  <a:pt x="4793436" y="49040"/>
                </a:cubicBezTo>
                <a:lnTo>
                  <a:pt x="4793436" y="1078828"/>
                </a:lnTo>
                <a:cubicBezTo>
                  <a:pt x="4793436" y="1105911"/>
                  <a:pt x="4771480" y="1127867"/>
                  <a:pt x="4744396" y="1127867"/>
                </a:cubicBezTo>
                <a:lnTo>
                  <a:pt x="49040" y="1127867"/>
                </a:lnTo>
                <a:cubicBezTo>
                  <a:pt x="21956" y="1127867"/>
                  <a:pt x="0" y="1105911"/>
                  <a:pt x="0" y="1078828"/>
                </a:cubicBezTo>
                <a:lnTo>
                  <a:pt x="0" y="49040"/>
                </a:lnTo>
                <a:cubicBezTo>
                  <a:pt x="0" y="21974"/>
                  <a:pt x="21974" y="0"/>
                  <a:pt x="490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3976" y="6485237"/>
            <a:ext cx="4511469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滚动窗口(</a:t>
            </a:r>
            <a:r>
              <a:rPr lang="en-US" sz="1738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Tumbling</a:t>
            </a:r>
            <a:r>
              <a:rPr lang="en-US" sz="173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3976" y="6926576"/>
            <a:ext cx="4499210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固定大小,不重叠,如每5分钟统计一次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34155" y="6289086"/>
            <a:ext cx="4793436" cy="1127867"/>
          </a:xfrm>
          <a:custGeom>
            <a:avLst/>
            <a:gdLst/>
            <a:ahLst/>
            <a:cxnLst/>
            <a:rect l="l" t="t" r="r" b="b"/>
            <a:pathLst>
              <a:path w="4793436" h="1127867">
                <a:moveTo>
                  <a:pt x="49040" y="0"/>
                </a:moveTo>
                <a:lnTo>
                  <a:pt x="4744396" y="0"/>
                </a:lnTo>
                <a:cubicBezTo>
                  <a:pt x="4771480" y="0"/>
                  <a:pt x="4793436" y="21956"/>
                  <a:pt x="4793436" y="49040"/>
                </a:cubicBezTo>
                <a:lnTo>
                  <a:pt x="4793436" y="1078828"/>
                </a:lnTo>
                <a:cubicBezTo>
                  <a:pt x="4793436" y="1105911"/>
                  <a:pt x="4771480" y="1127867"/>
                  <a:pt x="4744396" y="1127867"/>
                </a:cubicBezTo>
                <a:lnTo>
                  <a:pt x="49040" y="1127867"/>
                </a:lnTo>
                <a:cubicBezTo>
                  <a:pt x="21956" y="1127867"/>
                  <a:pt x="0" y="1105911"/>
                  <a:pt x="0" y="1078828"/>
                </a:cubicBezTo>
                <a:lnTo>
                  <a:pt x="0" y="49040"/>
                </a:lnTo>
                <a:cubicBezTo>
                  <a:pt x="0" y="21974"/>
                  <a:pt x="21974" y="0"/>
                  <a:pt x="490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30306" y="6485237"/>
            <a:ext cx="4511469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滑动窗口(</a:t>
            </a:r>
            <a:r>
              <a:rPr lang="en-US" sz="1738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Sliding</a:t>
            </a:r>
            <a:r>
              <a:rPr lang="en-US" sz="173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30306" y="6926576"/>
            <a:ext cx="4499210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固定大小,可重叠,如每1分钟统计过去5分钟数据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720581" y="6289086"/>
            <a:ext cx="4793436" cy="1127867"/>
          </a:xfrm>
          <a:custGeom>
            <a:avLst/>
            <a:gdLst/>
            <a:ahLst/>
            <a:cxnLst/>
            <a:rect l="l" t="t" r="r" b="b"/>
            <a:pathLst>
              <a:path w="4793436" h="1127867">
                <a:moveTo>
                  <a:pt x="49040" y="0"/>
                </a:moveTo>
                <a:lnTo>
                  <a:pt x="4744396" y="0"/>
                </a:lnTo>
                <a:cubicBezTo>
                  <a:pt x="4771480" y="0"/>
                  <a:pt x="4793436" y="21956"/>
                  <a:pt x="4793436" y="49040"/>
                </a:cubicBezTo>
                <a:lnTo>
                  <a:pt x="4793436" y="1078828"/>
                </a:lnTo>
                <a:cubicBezTo>
                  <a:pt x="4793436" y="1105911"/>
                  <a:pt x="4771480" y="1127867"/>
                  <a:pt x="4744396" y="1127867"/>
                </a:cubicBezTo>
                <a:lnTo>
                  <a:pt x="49040" y="1127867"/>
                </a:lnTo>
                <a:cubicBezTo>
                  <a:pt x="21956" y="1127867"/>
                  <a:pt x="0" y="1105911"/>
                  <a:pt x="0" y="1078828"/>
                </a:cubicBezTo>
                <a:lnTo>
                  <a:pt x="0" y="49040"/>
                </a:lnTo>
                <a:cubicBezTo>
                  <a:pt x="0" y="21974"/>
                  <a:pt x="21974" y="0"/>
                  <a:pt x="4904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916732" y="6485237"/>
            <a:ext cx="4511469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会话窗口(</a:t>
            </a:r>
            <a:r>
              <a:rPr lang="en-US" sz="1738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Session</a:t>
            </a:r>
            <a:r>
              <a:rPr lang="en-US" sz="173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16732" y="6926576"/>
            <a:ext cx="4499210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基于活动间隙动态划分,如用户行为分析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0377" y="7870552"/>
            <a:ext cx="3714606" cy="539415"/>
          </a:xfrm>
          <a:custGeom>
            <a:avLst/>
            <a:gdLst/>
            <a:ahLst/>
            <a:cxnLst/>
            <a:rect l="l" t="t" r="r" b="b"/>
            <a:pathLst>
              <a:path w="3714606" h="539415">
                <a:moveTo>
                  <a:pt x="49038" y="0"/>
                </a:moveTo>
                <a:lnTo>
                  <a:pt x="3665568" y="0"/>
                </a:lnTo>
                <a:cubicBezTo>
                  <a:pt x="3692651" y="0"/>
                  <a:pt x="3714606" y="21955"/>
                  <a:pt x="3714606" y="49038"/>
                </a:cubicBezTo>
                <a:lnTo>
                  <a:pt x="3714606" y="490377"/>
                </a:lnTo>
                <a:cubicBezTo>
                  <a:pt x="3714606" y="517460"/>
                  <a:pt x="3692651" y="539415"/>
                  <a:pt x="3665568" y="539415"/>
                </a:cubicBezTo>
                <a:lnTo>
                  <a:pt x="49038" y="539415"/>
                </a:lnTo>
                <a:cubicBezTo>
                  <a:pt x="21973" y="539415"/>
                  <a:pt x="0" y="517442"/>
                  <a:pt x="0" y="490377"/>
                </a:cubicBezTo>
                <a:lnTo>
                  <a:pt x="0" y="49038"/>
                </a:lnTo>
                <a:cubicBezTo>
                  <a:pt x="0" y="21955"/>
                  <a:pt x="21955" y="0"/>
                  <a:pt x="4903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7490" y="8017665"/>
            <a:ext cx="3506196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Tez</a:t>
            </a: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DAG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计算引擎,常用于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Hive/Pig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底层优化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46637" y="7870552"/>
            <a:ext cx="3714606" cy="539415"/>
          </a:xfrm>
          <a:custGeom>
            <a:avLst/>
            <a:gdLst/>
            <a:ahLst/>
            <a:cxnLst/>
            <a:rect l="l" t="t" r="r" b="b"/>
            <a:pathLst>
              <a:path w="3714606" h="539415">
                <a:moveTo>
                  <a:pt x="49038" y="0"/>
                </a:moveTo>
                <a:lnTo>
                  <a:pt x="3665568" y="0"/>
                </a:lnTo>
                <a:cubicBezTo>
                  <a:pt x="3692651" y="0"/>
                  <a:pt x="3714606" y="21955"/>
                  <a:pt x="3714606" y="49038"/>
                </a:cubicBezTo>
                <a:lnTo>
                  <a:pt x="3714606" y="490377"/>
                </a:lnTo>
                <a:cubicBezTo>
                  <a:pt x="3714606" y="517460"/>
                  <a:pt x="3692651" y="539415"/>
                  <a:pt x="3665568" y="539415"/>
                </a:cubicBezTo>
                <a:lnTo>
                  <a:pt x="49038" y="539415"/>
                </a:lnTo>
                <a:cubicBezTo>
                  <a:pt x="21973" y="539415"/>
                  <a:pt x="0" y="517442"/>
                  <a:pt x="0" y="490377"/>
                </a:cubicBezTo>
                <a:lnTo>
                  <a:pt x="0" y="49038"/>
                </a:lnTo>
                <a:cubicBezTo>
                  <a:pt x="0" y="21955"/>
                  <a:pt x="21955" y="0"/>
                  <a:pt x="4903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493750" y="8017665"/>
            <a:ext cx="3506196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Logstash</a:t>
            </a: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日志采集工具,与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Flume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类似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02897" y="7870552"/>
            <a:ext cx="3714606" cy="539415"/>
          </a:xfrm>
          <a:custGeom>
            <a:avLst/>
            <a:gdLst/>
            <a:ahLst/>
            <a:cxnLst/>
            <a:rect l="l" t="t" r="r" b="b"/>
            <a:pathLst>
              <a:path w="3714606" h="539415">
                <a:moveTo>
                  <a:pt x="49038" y="0"/>
                </a:moveTo>
                <a:lnTo>
                  <a:pt x="3665568" y="0"/>
                </a:lnTo>
                <a:cubicBezTo>
                  <a:pt x="3692651" y="0"/>
                  <a:pt x="3714606" y="21955"/>
                  <a:pt x="3714606" y="49038"/>
                </a:cubicBezTo>
                <a:lnTo>
                  <a:pt x="3714606" y="490377"/>
                </a:lnTo>
                <a:cubicBezTo>
                  <a:pt x="3714606" y="517460"/>
                  <a:pt x="3692651" y="539415"/>
                  <a:pt x="3665568" y="539415"/>
                </a:cubicBezTo>
                <a:lnTo>
                  <a:pt x="49038" y="539415"/>
                </a:lnTo>
                <a:cubicBezTo>
                  <a:pt x="21973" y="539415"/>
                  <a:pt x="0" y="517442"/>
                  <a:pt x="0" y="490377"/>
                </a:cubicBezTo>
                <a:lnTo>
                  <a:pt x="0" y="49038"/>
                </a:lnTo>
                <a:cubicBezTo>
                  <a:pt x="0" y="21955"/>
                  <a:pt x="21955" y="0"/>
                  <a:pt x="4903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350011" y="8017665"/>
            <a:ext cx="3506196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消息中间件,用于数据缓冲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2059158" y="7870552"/>
            <a:ext cx="3714606" cy="539415"/>
          </a:xfrm>
          <a:custGeom>
            <a:avLst/>
            <a:gdLst/>
            <a:ahLst/>
            <a:cxnLst/>
            <a:rect l="l" t="t" r="r" b="b"/>
            <a:pathLst>
              <a:path w="3714606" h="539415">
                <a:moveTo>
                  <a:pt x="49038" y="0"/>
                </a:moveTo>
                <a:lnTo>
                  <a:pt x="3665568" y="0"/>
                </a:lnTo>
                <a:cubicBezTo>
                  <a:pt x="3692651" y="0"/>
                  <a:pt x="3714606" y="21955"/>
                  <a:pt x="3714606" y="49038"/>
                </a:cubicBezTo>
                <a:lnTo>
                  <a:pt x="3714606" y="490377"/>
                </a:lnTo>
                <a:cubicBezTo>
                  <a:pt x="3714606" y="517460"/>
                  <a:pt x="3692651" y="539415"/>
                  <a:pt x="3665568" y="539415"/>
                </a:cubicBezTo>
                <a:lnTo>
                  <a:pt x="49038" y="539415"/>
                </a:lnTo>
                <a:cubicBezTo>
                  <a:pt x="21973" y="539415"/>
                  <a:pt x="0" y="517442"/>
                  <a:pt x="0" y="490377"/>
                </a:cubicBezTo>
                <a:lnTo>
                  <a:pt x="0" y="49038"/>
                </a:lnTo>
                <a:cubicBezTo>
                  <a:pt x="0" y="21955"/>
                  <a:pt x="21955" y="0"/>
                  <a:pt x="4903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206271" y="8017665"/>
            <a:ext cx="3506196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Kettle</a:t>
            </a:r>
            <a:r>
              <a:rPr lang="en-US" sz="1351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传统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ETL</a:t>
            </a:r>
            <a:r>
              <a:rPr lang="en-US" sz="1351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工具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33400" y="2128838"/>
            <a:ext cx="2578100" cy="609600"/>
          </a:xfrm>
          <a:custGeom>
            <a:avLst/>
            <a:gdLst/>
            <a:ahLst/>
            <a:cxnLst/>
            <a:rect l="l" t="t" r="r" b="b"/>
            <a:pathLst>
              <a:path w="2578100" h="609600">
                <a:moveTo>
                  <a:pt x="0" y="0"/>
                </a:moveTo>
                <a:lnTo>
                  <a:pt x="2578100" y="0"/>
                </a:lnTo>
                <a:lnTo>
                  <a:pt x="257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3400" y="2128838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800" y="2217738"/>
            <a:ext cx="219372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240" dirty="0">
                <a:solidFill>
                  <a:srgbClr val="5A64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12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1448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数仓、数据集市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与数据湖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837238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2032000" h="50800">
                <a:moveTo>
                  <a:pt x="0" y="0"/>
                </a:moveTo>
                <a:lnTo>
                  <a:pt x="2032000" y="0"/>
                </a:lnTo>
                <a:lnTo>
                  <a:pt x="203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3960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掌握数据仓库特征、分层架构与数据湖对比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516" y="485254"/>
            <a:ext cx="1528549" cy="388203"/>
          </a:xfrm>
          <a:custGeom>
            <a:avLst/>
            <a:gdLst/>
            <a:ahLst/>
            <a:cxnLst/>
            <a:rect l="l" t="t" r="r" b="b"/>
            <a:pathLst>
              <a:path w="1528549" h="388203">
                <a:moveTo>
                  <a:pt x="0" y="0"/>
                </a:moveTo>
                <a:lnTo>
                  <a:pt x="1528549" y="0"/>
                </a:lnTo>
                <a:lnTo>
                  <a:pt x="1528549" y="388203"/>
                </a:lnTo>
                <a:lnTo>
                  <a:pt x="0" y="388203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9516" y="485254"/>
            <a:ext cx="48525" cy="388203"/>
          </a:xfrm>
          <a:custGeom>
            <a:avLst/>
            <a:gdLst/>
            <a:ahLst/>
            <a:cxnLst/>
            <a:rect l="l" t="t" r="r" b="b"/>
            <a:pathLst>
              <a:path w="48525" h="388203">
                <a:moveTo>
                  <a:pt x="0" y="0"/>
                </a:moveTo>
                <a:lnTo>
                  <a:pt x="48525" y="0"/>
                </a:lnTo>
                <a:lnTo>
                  <a:pt x="48525" y="388203"/>
                </a:lnTo>
                <a:lnTo>
                  <a:pt x="0" y="388203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9355" y="551976"/>
            <a:ext cx="1310185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kern="0" spc="76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5254" y="970507"/>
            <a:ext cx="15503857" cy="48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3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数据仓库:定义与分层架构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254" y="1674125"/>
            <a:ext cx="7521433" cy="5362054"/>
          </a:xfrm>
          <a:custGeom>
            <a:avLst/>
            <a:gdLst/>
            <a:ahLst/>
            <a:cxnLst/>
            <a:rect l="l" t="t" r="r" b="b"/>
            <a:pathLst>
              <a:path w="7521433" h="5362054">
                <a:moveTo>
                  <a:pt x="48525" y="0"/>
                </a:moveTo>
                <a:lnTo>
                  <a:pt x="7472907" y="0"/>
                </a:lnTo>
                <a:cubicBezTo>
                  <a:pt x="7499707" y="0"/>
                  <a:pt x="7521433" y="21726"/>
                  <a:pt x="7521433" y="48525"/>
                </a:cubicBezTo>
                <a:lnTo>
                  <a:pt x="7521433" y="5265001"/>
                </a:lnTo>
                <a:cubicBezTo>
                  <a:pt x="7521433" y="5318602"/>
                  <a:pt x="7477981" y="5362054"/>
                  <a:pt x="7424380" y="5362054"/>
                </a:cubicBezTo>
                <a:lnTo>
                  <a:pt x="97053" y="5362054"/>
                </a:lnTo>
                <a:cubicBezTo>
                  <a:pt x="43452" y="5362054"/>
                  <a:pt x="0" y="5318602"/>
                  <a:pt x="0" y="5265001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5254" y="1674125"/>
            <a:ext cx="7521433" cy="48525"/>
          </a:xfrm>
          <a:custGeom>
            <a:avLst/>
            <a:gdLst/>
            <a:ahLst/>
            <a:cxnLst/>
            <a:rect l="l" t="t" r="r" b="b"/>
            <a:pathLst>
              <a:path w="7521433" h="48525">
                <a:moveTo>
                  <a:pt x="48525" y="0"/>
                </a:moveTo>
                <a:lnTo>
                  <a:pt x="7472907" y="0"/>
                </a:lnTo>
                <a:cubicBezTo>
                  <a:pt x="7499707" y="0"/>
                  <a:pt x="7521433" y="21726"/>
                  <a:pt x="7521433" y="48525"/>
                </a:cubicBezTo>
                <a:lnTo>
                  <a:pt x="7521433" y="48525"/>
                </a:lnTo>
                <a:lnTo>
                  <a:pt x="0" y="48525"/>
                </a:ln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2472" y="1989540"/>
            <a:ext cx="254758" cy="291152"/>
          </a:xfrm>
          <a:custGeom>
            <a:avLst/>
            <a:gdLst/>
            <a:ahLst/>
            <a:cxnLst/>
            <a:rect l="l" t="t" r="r" b="b"/>
            <a:pathLst>
              <a:path w="254758" h="291152">
                <a:moveTo>
                  <a:pt x="254758" y="117030"/>
                </a:moveTo>
                <a:cubicBezTo>
                  <a:pt x="246342" y="122602"/>
                  <a:pt x="236675" y="127095"/>
                  <a:pt x="226610" y="130677"/>
                </a:cubicBezTo>
                <a:cubicBezTo>
                  <a:pt x="199883" y="140231"/>
                  <a:pt x="164797" y="145576"/>
                  <a:pt x="127379" y="145576"/>
                </a:cubicBezTo>
                <a:cubicBezTo>
                  <a:pt x="89961" y="145576"/>
                  <a:pt x="54819" y="140174"/>
                  <a:pt x="28149" y="130677"/>
                </a:cubicBezTo>
                <a:cubicBezTo>
                  <a:pt x="18140" y="127095"/>
                  <a:pt x="8416" y="122602"/>
                  <a:pt x="0" y="117030"/>
                </a:cubicBezTo>
                <a:lnTo>
                  <a:pt x="0" y="163773"/>
                </a:lnTo>
                <a:cubicBezTo>
                  <a:pt x="0" y="188908"/>
                  <a:pt x="57036" y="209266"/>
                  <a:pt x="127379" y="209266"/>
                </a:cubicBezTo>
                <a:cubicBezTo>
                  <a:pt x="197722" y="209266"/>
                  <a:pt x="254758" y="188908"/>
                  <a:pt x="254758" y="163773"/>
                </a:cubicBezTo>
                <a:lnTo>
                  <a:pt x="254758" y="117030"/>
                </a:lnTo>
                <a:close/>
                <a:moveTo>
                  <a:pt x="254758" y="72788"/>
                </a:moveTo>
                <a:lnTo>
                  <a:pt x="254758" y="45493"/>
                </a:lnTo>
                <a:cubicBezTo>
                  <a:pt x="254758" y="20358"/>
                  <a:pt x="197722" y="0"/>
                  <a:pt x="127379" y="0"/>
                </a:cubicBezTo>
                <a:cubicBezTo>
                  <a:pt x="57036" y="0"/>
                  <a:pt x="0" y="20358"/>
                  <a:pt x="0" y="45493"/>
                </a:cubicBezTo>
                <a:lnTo>
                  <a:pt x="0" y="72788"/>
                </a:lnTo>
                <a:cubicBezTo>
                  <a:pt x="0" y="97923"/>
                  <a:pt x="57036" y="118281"/>
                  <a:pt x="127379" y="118281"/>
                </a:cubicBezTo>
                <a:cubicBezTo>
                  <a:pt x="197722" y="118281"/>
                  <a:pt x="254758" y="97923"/>
                  <a:pt x="254758" y="72788"/>
                </a:cubicBezTo>
                <a:close/>
                <a:moveTo>
                  <a:pt x="226610" y="221662"/>
                </a:moveTo>
                <a:cubicBezTo>
                  <a:pt x="199940" y="231159"/>
                  <a:pt x="164854" y="236561"/>
                  <a:pt x="127379" y="236561"/>
                </a:cubicBezTo>
                <a:cubicBezTo>
                  <a:pt x="89905" y="236561"/>
                  <a:pt x="54819" y="231159"/>
                  <a:pt x="28149" y="221662"/>
                </a:cubicBezTo>
                <a:cubicBezTo>
                  <a:pt x="18140" y="218080"/>
                  <a:pt x="8416" y="213587"/>
                  <a:pt x="0" y="208015"/>
                </a:cubicBezTo>
                <a:lnTo>
                  <a:pt x="0" y="245660"/>
                </a:lnTo>
                <a:cubicBezTo>
                  <a:pt x="0" y="270794"/>
                  <a:pt x="57036" y="291152"/>
                  <a:pt x="127379" y="291152"/>
                </a:cubicBezTo>
                <a:cubicBezTo>
                  <a:pt x="197722" y="291152"/>
                  <a:pt x="254758" y="270794"/>
                  <a:pt x="254758" y="245660"/>
                </a:cubicBezTo>
                <a:lnTo>
                  <a:pt x="254758" y="208015"/>
                </a:lnTo>
                <a:cubicBezTo>
                  <a:pt x="246342" y="213587"/>
                  <a:pt x="236675" y="218080"/>
                  <a:pt x="226610" y="22166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1821" y="1941015"/>
            <a:ext cx="6817815" cy="38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9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数据仓库四大特征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7881" y="2474794"/>
            <a:ext cx="7036179" cy="970507"/>
          </a:xfrm>
          <a:custGeom>
            <a:avLst/>
            <a:gdLst/>
            <a:ahLst/>
            <a:cxnLst/>
            <a:rect l="l" t="t" r="r" b="b"/>
            <a:pathLst>
              <a:path w="7036179" h="970507">
                <a:moveTo>
                  <a:pt x="48525" y="0"/>
                </a:moveTo>
                <a:lnTo>
                  <a:pt x="6987654" y="0"/>
                </a:lnTo>
                <a:cubicBezTo>
                  <a:pt x="7014454" y="0"/>
                  <a:pt x="7036179" y="21726"/>
                  <a:pt x="7036179" y="48525"/>
                </a:cubicBezTo>
                <a:lnTo>
                  <a:pt x="7036179" y="921982"/>
                </a:lnTo>
                <a:cubicBezTo>
                  <a:pt x="7036179" y="948782"/>
                  <a:pt x="7014454" y="970507"/>
                  <a:pt x="6987654" y="970507"/>
                </a:cubicBezTo>
                <a:lnTo>
                  <a:pt x="48525" y="970507"/>
                </a:lnTo>
                <a:cubicBezTo>
                  <a:pt x="21726" y="970507"/>
                  <a:pt x="0" y="948782"/>
                  <a:pt x="0" y="921982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97719" y="2693158"/>
            <a:ext cx="194101" cy="194101"/>
          </a:xfrm>
          <a:custGeom>
            <a:avLst/>
            <a:gdLst/>
            <a:ahLst/>
            <a:cxnLst/>
            <a:rect l="l" t="t" r="r" b="b"/>
            <a:pathLst>
              <a:path w="194101" h="194101">
                <a:moveTo>
                  <a:pt x="88142" y="1971"/>
                </a:moveTo>
                <a:cubicBezTo>
                  <a:pt x="93790" y="-644"/>
                  <a:pt x="100311" y="-644"/>
                  <a:pt x="105960" y="1971"/>
                </a:cubicBezTo>
                <a:lnTo>
                  <a:pt x="188832" y="40261"/>
                </a:lnTo>
                <a:cubicBezTo>
                  <a:pt x="192054" y="41739"/>
                  <a:pt x="194101" y="44962"/>
                  <a:pt x="194101" y="48525"/>
                </a:cubicBezTo>
                <a:cubicBezTo>
                  <a:pt x="194101" y="52089"/>
                  <a:pt x="192054" y="55311"/>
                  <a:pt x="188832" y="56790"/>
                </a:cubicBezTo>
                <a:lnTo>
                  <a:pt x="105960" y="95079"/>
                </a:lnTo>
                <a:cubicBezTo>
                  <a:pt x="100311" y="97695"/>
                  <a:pt x="93790" y="97695"/>
                  <a:pt x="88142" y="95079"/>
                </a:cubicBezTo>
                <a:lnTo>
                  <a:pt x="5270" y="56790"/>
                </a:lnTo>
                <a:cubicBezTo>
                  <a:pt x="2047" y="55273"/>
                  <a:pt x="0" y="52051"/>
                  <a:pt x="0" y="48525"/>
                </a:cubicBezTo>
                <a:cubicBezTo>
                  <a:pt x="0" y="45000"/>
                  <a:pt x="2047" y="41739"/>
                  <a:pt x="5270" y="40261"/>
                </a:cubicBezTo>
                <a:lnTo>
                  <a:pt x="88142" y="1971"/>
                </a:lnTo>
                <a:close/>
                <a:moveTo>
                  <a:pt x="18235" y="82796"/>
                </a:moveTo>
                <a:lnTo>
                  <a:pt x="80522" y="111570"/>
                </a:lnTo>
                <a:cubicBezTo>
                  <a:pt x="91023" y="116423"/>
                  <a:pt x="103116" y="116423"/>
                  <a:pt x="113618" y="111570"/>
                </a:cubicBezTo>
                <a:lnTo>
                  <a:pt x="175904" y="82796"/>
                </a:lnTo>
                <a:lnTo>
                  <a:pt x="188832" y="88786"/>
                </a:lnTo>
                <a:cubicBezTo>
                  <a:pt x="192054" y="90265"/>
                  <a:pt x="194101" y="93487"/>
                  <a:pt x="194101" y="97051"/>
                </a:cubicBezTo>
                <a:cubicBezTo>
                  <a:pt x="194101" y="100614"/>
                  <a:pt x="192054" y="103837"/>
                  <a:pt x="188832" y="105315"/>
                </a:cubicBezTo>
                <a:lnTo>
                  <a:pt x="105960" y="143605"/>
                </a:lnTo>
                <a:cubicBezTo>
                  <a:pt x="100311" y="146221"/>
                  <a:pt x="93790" y="146221"/>
                  <a:pt x="88142" y="143605"/>
                </a:cubicBezTo>
                <a:lnTo>
                  <a:pt x="5270" y="105315"/>
                </a:lnTo>
                <a:cubicBezTo>
                  <a:pt x="2047" y="103799"/>
                  <a:pt x="0" y="100576"/>
                  <a:pt x="0" y="97051"/>
                </a:cubicBezTo>
                <a:cubicBezTo>
                  <a:pt x="0" y="93525"/>
                  <a:pt x="2047" y="90265"/>
                  <a:pt x="5270" y="88786"/>
                </a:cubicBezTo>
                <a:lnTo>
                  <a:pt x="18197" y="82796"/>
                </a:lnTo>
                <a:close/>
                <a:moveTo>
                  <a:pt x="5270" y="137312"/>
                </a:moveTo>
                <a:lnTo>
                  <a:pt x="18197" y="131322"/>
                </a:lnTo>
                <a:lnTo>
                  <a:pt x="80484" y="160096"/>
                </a:lnTo>
                <a:cubicBezTo>
                  <a:pt x="90985" y="164948"/>
                  <a:pt x="103079" y="164948"/>
                  <a:pt x="113580" y="160096"/>
                </a:cubicBezTo>
                <a:lnTo>
                  <a:pt x="175867" y="131322"/>
                </a:lnTo>
                <a:lnTo>
                  <a:pt x="188794" y="137312"/>
                </a:lnTo>
                <a:cubicBezTo>
                  <a:pt x="192016" y="138790"/>
                  <a:pt x="194064" y="142013"/>
                  <a:pt x="194064" y="145576"/>
                </a:cubicBezTo>
                <a:cubicBezTo>
                  <a:pt x="194064" y="149140"/>
                  <a:pt x="192016" y="152362"/>
                  <a:pt x="188794" y="153841"/>
                </a:cubicBezTo>
                <a:lnTo>
                  <a:pt x="105922" y="192130"/>
                </a:lnTo>
                <a:cubicBezTo>
                  <a:pt x="100273" y="194746"/>
                  <a:pt x="93753" y="194746"/>
                  <a:pt x="88104" y="192130"/>
                </a:cubicBezTo>
                <a:lnTo>
                  <a:pt x="5270" y="153841"/>
                </a:lnTo>
                <a:cubicBezTo>
                  <a:pt x="2047" y="152324"/>
                  <a:pt x="0" y="149102"/>
                  <a:pt x="0" y="145576"/>
                </a:cubicBezTo>
                <a:cubicBezTo>
                  <a:pt x="0" y="142050"/>
                  <a:pt x="2047" y="138790"/>
                  <a:pt x="5270" y="13731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13134" y="2620370"/>
            <a:ext cx="2850866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面向主题(</a:t>
            </a: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Subject-Oriented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3457" y="3008573"/>
            <a:ext cx="684207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围绕特定主题组织数据,如用户、订单、产品等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7881" y="3590878"/>
            <a:ext cx="7036179" cy="970507"/>
          </a:xfrm>
          <a:custGeom>
            <a:avLst/>
            <a:gdLst/>
            <a:ahLst/>
            <a:cxnLst/>
            <a:rect l="l" t="t" r="r" b="b"/>
            <a:pathLst>
              <a:path w="7036179" h="970507">
                <a:moveTo>
                  <a:pt x="48525" y="0"/>
                </a:moveTo>
                <a:lnTo>
                  <a:pt x="6987654" y="0"/>
                </a:lnTo>
                <a:cubicBezTo>
                  <a:pt x="7014454" y="0"/>
                  <a:pt x="7036179" y="21726"/>
                  <a:pt x="7036179" y="48525"/>
                </a:cubicBezTo>
                <a:lnTo>
                  <a:pt x="7036179" y="921982"/>
                </a:lnTo>
                <a:cubicBezTo>
                  <a:pt x="7036179" y="948782"/>
                  <a:pt x="7014454" y="970507"/>
                  <a:pt x="6987654" y="970507"/>
                </a:cubicBezTo>
                <a:lnTo>
                  <a:pt x="48525" y="970507"/>
                </a:lnTo>
                <a:cubicBezTo>
                  <a:pt x="21726" y="970507"/>
                  <a:pt x="0" y="948782"/>
                  <a:pt x="0" y="921982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7719" y="3809242"/>
            <a:ext cx="194101" cy="194101"/>
          </a:xfrm>
          <a:custGeom>
            <a:avLst/>
            <a:gdLst/>
            <a:ahLst/>
            <a:cxnLst/>
            <a:rect l="l" t="t" r="r" b="b"/>
            <a:pathLst>
              <a:path w="194101" h="194101">
                <a:moveTo>
                  <a:pt x="84919" y="0"/>
                </a:moveTo>
                <a:cubicBezTo>
                  <a:pt x="98302" y="0"/>
                  <a:pt x="109182" y="8151"/>
                  <a:pt x="109182" y="18197"/>
                </a:cubicBezTo>
                <a:cubicBezTo>
                  <a:pt x="109182" y="22140"/>
                  <a:pt x="107514" y="25779"/>
                  <a:pt x="104633" y="28774"/>
                </a:cubicBezTo>
                <a:cubicBezTo>
                  <a:pt x="102131" y="31390"/>
                  <a:pt x="100084" y="34574"/>
                  <a:pt x="100084" y="38214"/>
                </a:cubicBezTo>
                <a:cubicBezTo>
                  <a:pt x="100084" y="43900"/>
                  <a:pt x="104709" y="48525"/>
                  <a:pt x="110395" y="48525"/>
                </a:cubicBezTo>
                <a:lnTo>
                  <a:pt x="127379" y="48525"/>
                </a:lnTo>
                <a:cubicBezTo>
                  <a:pt x="137425" y="48525"/>
                  <a:pt x="145576" y="56676"/>
                  <a:pt x="145576" y="66722"/>
                </a:cubicBezTo>
                <a:lnTo>
                  <a:pt x="145576" y="83706"/>
                </a:lnTo>
                <a:cubicBezTo>
                  <a:pt x="145576" y="89393"/>
                  <a:pt x="150201" y="94018"/>
                  <a:pt x="155888" y="94018"/>
                </a:cubicBezTo>
                <a:cubicBezTo>
                  <a:pt x="159489" y="94018"/>
                  <a:pt x="162712" y="91971"/>
                  <a:pt x="165327" y="89469"/>
                </a:cubicBezTo>
                <a:cubicBezTo>
                  <a:pt x="168322" y="86625"/>
                  <a:pt x="171962" y="84919"/>
                  <a:pt x="175904" y="84919"/>
                </a:cubicBezTo>
                <a:cubicBezTo>
                  <a:pt x="185951" y="84919"/>
                  <a:pt x="194101" y="95800"/>
                  <a:pt x="194101" y="109182"/>
                </a:cubicBezTo>
                <a:cubicBezTo>
                  <a:pt x="194101" y="122564"/>
                  <a:pt x="185951" y="133445"/>
                  <a:pt x="175904" y="133445"/>
                </a:cubicBezTo>
                <a:cubicBezTo>
                  <a:pt x="171962" y="133445"/>
                  <a:pt x="168284" y="131777"/>
                  <a:pt x="165327" y="128896"/>
                </a:cubicBezTo>
                <a:cubicBezTo>
                  <a:pt x="162712" y="126393"/>
                  <a:pt x="159527" y="124346"/>
                  <a:pt x="155888" y="124346"/>
                </a:cubicBezTo>
                <a:cubicBezTo>
                  <a:pt x="150201" y="124346"/>
                  <a:pt x="145576" y="128971"/>
                  <a:pt x="145576" y="134658"/>
                </a:cubicBezTo>
                <a:lnTo>
                  <a:pt x="145576" y="175904"/>
                </a:lnTo>
                <a:cubicBezTo>
                  <a:pt x="145576" y="185951"/>
                  <a:pt x="137425" y="194101"/>
                  <a:pt x="127379" y="194101"/>
                </a:cubicBezTo>
                <a:lnTo>
                  <a:pt x="105846" y="194101"/>
                </a:lnTo>
                <a:cubicBezTo>
                  <a:pt x="100993" y="194101"/>
                  <a:pt x="97051" y="190159"/>
                  <a:pt x="97051" y="185306"/>
                </a:cubicBezTo>
                <a:cubicBezTo>
                  <a:pt x="97051" y="181819"/>
                  <a:pt x="99250" y="178748"/>
                  <a:pt x="102055" y="176663"/>
                </a:cubicBezTo>
                <a:cubicBezTo>
                  <a:pt x="106453" y="173364"/>
                  <a:pt x="109182" y="168815"/>
                  <a:pt x="109182" y="163773"/>
                </a:cubicBezTo>
                <a:cubicBezTo>
                  <a:pt x="109182" y="153727"/>
                  <a:pt x="98302" y="145576"/>
                  <a:pt x="84919" y="145576"/>
                </a:cubicBezTo>
                <a:cubicBezTo>
                  <a:pt x="71537" y="145576"/>
                  <a:pt x="60657" y="153727"/>
                  <a:pt x="60657" y="163773"/>
                </a:cubicBezTo>
                <a:cubicBezTo>
                  <a:pt x="60657" y="168815"/>
                  <a:pt x="63386" y="173364"/>
                  <a:pt x="67784" y="176663"/>
                </a:cubicBezTo>
                <a:cubicBezTo>
                  <a:pt x="70589" y="178748"/>
                  <a:pt x="72788" y="181781"/>
                  <a:pt x="72788" y="185306"/>
                </a:cubicBezTo>
                <a:cubicBezTo>
                  <a:pt x="72788" y="190159"/>
                  <a:pt x="68845" y="194101"/>
                  <a:pt x="63993" y="194101"/>
                </a:cubicBezTo>
                <a:lnTo>
                  <a:pt x="18197" y="194101"/>
                </a:lnTo>
                <a:cubicBezTo>
                  <a:pt x="8151" y="194101"/>
                  <a:pt x="0" y="185951"/>
                  <a:pt x="0" y="175904"/>
                </a:cubicBezTo>
                <a:lnTo>
                  <a:pt x="0" y="130109"/>
                </a:lnTo>
                <a:cubicBezTo>
                  <a:pt x="0" y="125256"/>
                  <a:pt x="3943" y="121313"/>
                  <a:pt x="8795" y="121313"/>
                </a:cubicBezTo>
                <a:cubicBezTo>
                  <a:pt x="12283" y="121313"/>
                  <a:pt x="15354" y="123512"/>
                  <a:pt x="17439" y="126318"/>
                </a:cubicBezTo>
                <a:cubicBezTo>
                  <a:pt x="20737" y="130715"/>
                  <a:pt x="25286" y="133445"/>
                  <a:pt x="30328" y="133445"/>
                </a:cubicBezTo>
                <a:cubicBezTo>
                  <a:pt x="40375" y="133445"/>
                  <a:pt x="48525" y="122564"/>
                  <a:pt x="48525" y="109182"/>
                </a:cubicBezTo>
                <a:cubicBezTo>
                  <a:pt x="48525" y="95800"/>
                  <a:pt x="40375" y="84919"/>
                  <a:pt x="30328" y="84919"/>
                </a:cubicBezTo>
                <a:cubicBezTo>
                  <a:pt x="25286" y="84919"/>
                  <a:pt x="20737" y="87649"/>
                  <a:pt x="17439" y="92047"/>
                </a:cubicBezTo>
                <a:cubicBezTo>
                  <a:pt x="15354" y="94852"/>
                  <a:pt x="12321" y="97051"/>
                  <a:pt x="8795" y="97051"/>
                </a:cubicBezTo>
                <a:cubicBezTo>
                  <a:pt x="3943" y="97051"/>
                  <a:pt x="0" y="93108"/>
                  <a:pt x="0" y="88256"/>
                </a:cubicBezTo>
                <a:lnTo>
                  <a:pt x="0" y="66722"/>
                </a:lnTo>
                <a:cubicBezTo>
                  <a:pt x="0" y="56676"/>
                  <a:pt x="8151" y="48525"/>
                  <a:pt x="18197" y="48525"/>
                </a:cubicBezTo>
                <a:lnTo>
                  <a:pt x="59444" y="48525"/>
                </a:lnTo>
                <a:cubicBezTo>
                  <a:pt x="65130" y="48525"/>
                  <a:pt x="69755" y="43900"/>
                  <a:pt x="69755" y="38214"/>
                </a:cubicBezTo>
                <a:cubicBezTo>
                  <a:pt x="69755" y="34612"/>
                  <a:pt x="67708" y="31390"/>
                  <a:pt x="65206" y="28774"/>
                </a:cubicBezTo>
                <a:cubicBezTo>
                  <a:pt x="62363" y="25779"/>
                  <a:pt x="60657" y="22140"/>
                  <a:pt x="60657" y="18197"/>
                </a:cubicBezTo>
                <a:cubicBezTo>
                  <a:pt x="60657" y="8151"/>
                  <a:pt x="71537" y="0"/>
                  <a:pt x="84919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13134" y="3736454"/>
            <a:ext cx="1915426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集成(</a:t>
            </a: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Integrated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3457" y="4124657"/>
            <a:ext cx="684207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整合来自多个数据源的数据,统一格式和编码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7881" y="4706961"/>
            <a:ext cx="7036179" cy="970507"/>
          </a:xfrm>
          <a:custGeom>
            <a:avLst/>
            <a:gdLst/>
            <a:ahLst/>
            <a:cxnLst/>
            <a:rect l="l" t="t" r="r" b="b"/>
            <a:pathLst>
              <a:path w="7036179" h="970507">
                <a:moveTo>
                  <a:pt x="48525" y="0"/>
                </a:moveTo>
                <a:lnTo>
                  <a:pt x="6987654" y="0"/>
                </a:lnTo>
                <a:cubicBezTo>
                  <a:pt x="7014454" y="0"/>
                  <a:pt x="7036179" y="21726"/>
                  <a:pt x="7036179" y="48525"/>
                </a:cubicBezTo>
                <a:lnTo>
                  <a:pt x="7036179" y="921982"/>
                </a:lnTo>
                <a:cubicBezTo>
                  <a:pt x="7036179" y="948782"/>
                  <a:pt x="7014454" y="970507"/>
                  <a:pt x="6987654" y="970507"/>
                </a:cubicBezTo>
                <a:lnTo>
                  <a:pt x="48525" y="970507"/>
                </a:lnTo>
                <a:cubicBezTo>
                  <a:pt x="21726" y="970507"/>
                  <a:pt x="0" y="948782"/>
                  <a:pt x="0" y="921982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1982" y="4925325"/>
            <a:ext cx="145576" cy="194101"/>
          </a:xfrm>
          <a:custGeom>
            <a:avLst/>
            <a:gdLst/>
            <a:ahLst/>
            <a:cxnLst/>
            <a:rect l="l" t="t" r="r" b="b"/>
            <a:pathLst>
              <a:path w="145576" h="194101">
                <a:moveTo>
                  <a:pt x="48525" y="36394"/>
                </a:moveTo>
                <a:lnTo>
                  <a:pt x="48525" y="60657"/>
                </a:lnTo>
                <a:lnTo>
                  <a:pt x="97051" y="60657"/>
                </a:lnTo>
                <a:lnTo>
                  <a:pt x="97051" y="36394"/>
                </a:lnTo>
                <a:cubicBezTo>
                  <a:pt x="97051" y="23012"/>
                  <a:pt x="86170" y="12131"/>
                  <a:pt x="72788" y="12131"/>
                </a:cubicBezTo>
                <a:cubicBezTo>
                  <a:pt x="59406" y="12131"/>
                  <a:pt x="48525" y="23012"/>
                  <a:pt x="48525" y="36394"/>
                </a:cubicBezTo>
                <a:close/>
                <a:moveTo>
                  <a:pt x="24263" y="60657"/>
                </a:moveTo>
                <a:lnTo>
                  <a:pt x="24263" y="36394"/>
                </a:lnTo>
                <a:cubicBezTo>
                  <a:pt x="24263" y="9591"/>
                  <a:pt x="45985" y="-12131"/>
                  <a:pt x="72788" y="-12131"/>
                </a:cubicBezTo>
                <a:cubicBezTo>
                  <a:pt x="99591" y="-12131"/>
                  <a:pt x="121313" y="9591"/>
                  <a:pt x="121313" y="36394"/>
                </a:cubicBezTo>
                <a:lnTo>
                  <a:pt x="121313" y="60657"/>
                </a:lnTo>
                <a:cubicBezTo>
                  <a:pt x="134696" y="60657"/>
                  <a:pt x="145576" y="71537"/>
                  <a:pt x="145576" y="84919"/>
                </a:cubicBezTo>
                <a:lnTo>
                  <a:pt x="145576" y="169839"/>
                </a:lnTo>
                <a:cubicBezTo>
                  <a:pt x="145576" y="183221"/>
                  <a:pt x="134696" y="194101"/>
                  <a:pt x="121313" y="194101"/>
                </a:cubicBezTo>
                <a:lnTo>
                  <a:pt x="24263" y="194101"/>
                </a:lnTo>
                <a:cubicBezTo>
                  <a:pt x="10880" y="194101"/>
                  <a:pt x="0" y="183221"/>
                  <a:pt x="0" y="169839"/>
                </a:cubicBezTo>
                <a:lnTo>
                  <a:pt x="0" y="84919"/>
                </a:lnTo>
                <a:cubicBezTo>
                  <a:pt x="0" y="71537"/>
                  <a:pt x="10880" y="60657"/>
                  <a:pt x="24263" y="60657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13133" y="4852537"/>
            <a:ext cx="2527593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相对稳定(</a:t>
            </a: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Non-Volatile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3457" y="5240740"/>
            <a:ext cx="684207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数据一旦入库很少修改,主要是追加操作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7881" y="5823045"/>
            <a:ext cx="7036179" cy="970507"/>
          </a:xfrm>
          <a:custGeom>
            <a:avLst/>
            <a:gdLst/>
            <a:ahLst/>
            <a:cxnLst/>
            <a:rect l="l" t="t" r="r" b="b"/>
            <a:pathLst>
              <a:path w="7036179" h="970507">
                <a:moveTo>
                  <a:pt x="48525" y="0"/>
                </a:moveTo>
                <a:lnTo>
                  <a:pt x="6987654" y="0"/>
                </a:lnTo>
                <a:cubicBezTo>
                  <a:pt x="7014454" y="0"/>
                  <a:pt x="7036179" y="21726"/>
                  <a:pt x="7036179" y="48525"/>
                </a:cubicBezTo>
                <a:lnTo>
                  <a:pt x="7036179" y="921982"/>
                </a:lnTo>
                <a:cubicBezTo>
                  <a:pt x="7036179" y="948782"/>
                  <a:pt x="7014454" y="970507"/>
                  <a:pt x="6987654" y="970507"/>
                </a:cubicBezTo>
                <a:lnTo>
                  <a:pt x="48525" y="970507"/>
                </a:lnTo>
                <a:cubicBezTo>
                  <a:pt x="21726" y="970507"/>
                  <a:pt x="0" y="948782"/>
                  <a:pt x="0" y="921982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7719" y="6041409"/>
            <a:ext cx="194101" cy="194101"/>
          </a:xfrm>
          <a:custGeom>
            <a:avLst/>
            <a:gdLst/>
            <a:ahLst/>
            <a:cxnLst/>
            <a:rect l="l" t="t" r="r" b="b"/>
            <a:pathLst>
              <a:path w="194101" h="194101">
                <a:moveTo>
                  <a:pt x="97051" y="0"/>
                </a:moveTo>
                <a:cubicBezTo>
                  <a:pt x="150615" y="0"/>
                  <a:pt x="194101" y="43487"/>
                  <a:pt x="194101" y="97051"/>
                </a:cubicBezTo>
                <a:cubicBezTo>
                  <a:pt x="194101" y="150615"/>
                  <a:pt x="150615" y="194101"/>
                  <a:pt x="97051" y="194101"/>
                </a:cubicBezTo>
                <a:cubicBezTo>
                  <a:pt x="43487" y="194101"/>
                  <a:pt x="0" y="150615"/>
                  <a:pt x="0" y="97051"/>
                </a:cubicBezTo>
                <a:cubicBezTo>
                  <a:pt x="0" y="43487"/>
                  <a:pt x="43487" y="0"/>
                  <a:pt x="97051" y="0"/>
                </a:cubicBezTo>
                <a:close/>
                <a:moveTo>
                  <a:pt x="87952" y="45493"/>
                </a:moveTo>
                <a:lnTo>
                  <a:pt x="87952" y="97051"/>
                </a:lnTo>
                <a:cubicBezTo>
                  <a:pt x="87952" y="100084"/>
                  <a:pt x="89469" y="102927"/>
                  <a:pt x="92009" y="104633"/>
                </a:cubicBezTo>
                <a:lnTo>
                  <a:pt x="128403" y="128896"/>
                </a:lnTo>
                <a:cubicBezTo>
                  <a:pt x="132573" y="131701"/>
                  <a:pt x="138221" y="130564"/>
                  <a:pt x="141027" y="126356"/>
                </a:cubicBezTo>
                <a:cubicBezTo>
                  <a:pt x="143832" y="122147"/>
                  <a:pt x="142695" y="116537"/>
                  <a:pt x="138487" y="113731"/>
                </a:cubicBezTo>
                <a:lnTo>
                  <a:pt x="106149" y="92198"/>
                </a:lnTo>
                <a:lnTo>
                  <a:pt x="106149" y="45493"/>
                </a:lnTo>
                <a:cubicBezTo>
                  <a:pt x="106149" y="40450"/>
                  <a:pt x="102093" y="36394"/>
                  <a:pt x="97051" y="36394"/>
                </a:cubicBezTo>
                <a:cubicBezTo>
                  <a:pt x="92009" y="36394"/>
                  <a:pt x="87952" y="40450"/>
                  <a:pt x="87952" y="45493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13134" y="5968621"/>
            <a:ext cx="2862997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反映历史变化(</a:t>
            </a: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Time-Variant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3457" y="6356824"/>
            <a:ext cx="684207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记录历史变化,支持时间维度分析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6230" y="1649863"/>
            <a:ext cx="7497170" cy="5386316"/>
          </a:xfrm>
          <a:custGeom>
            <a:avLst/>
            <a:gdLst/>
            <a:ahLst/>
            <a:cxnLst/>
            <a:rect l="l" t="t" r="r" b="b"/>
            <a:pathLst>
              <a:path w="7497170" h="5386316">
                <a:moveTo>
                  <a:pt x="48525" y="0"/>
                </a:moveTo>
                <a:lnTo>
                  <a:pt x="7400109" y="0"/>
                </a:lnTo>
                <a:cubicBezTo>
                  <a:pt x="7453714" y="0"/>
                  <a:pt x="7497170" y="43456"/>
                  <a:pt x="7497170" y="97061"/>
                </a:cubicBezTo>
                <a:lnTo>
                  <a:pt x="7497170" y="5289255"/>
                </a:lnTo>
                <a:cubicBezTo>
                  <a:pt x="7497170" y="5342861"/>
                  <a:pt x="7453714" y="5386316"/>
                  <a:pt x="7400109" y="5386316"/>
                </a:cubicBezTo>
                <a:lnTo>
                  <a:pt x="48525" y="5386316"/>
                </a:lnTo>
                <a:cubicBezTo>
                  <a:pt x="21726" y="5386316"/>
                  <a:pt x="0" y="5364591"/>
                  <a:pt x="0" y="5337791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76230" y="1649863"/>
            <a:ext cx="48525" cy="5386316"/>
          </a:xfrm>
          <a:custGeom>
            <a:avLst/>
            <a:gdLst/>
            <a:ahLst/>
            <a:cxnLst/>
            <a:rect l="l" t="t" r="r" b="b"/>
            <a:pathLst>
              <a:path w="48525" h="5386316">
                <a:moveTo>
                  <a:pt x="48525" y="0"/>
                </a:moveTo>
                <a:lnTo>
                  <a:pt x="48525" y="0"/>
                </a:lnTo>
                <a:lnTo>
                  <a:pt x="48525" y="5386316"/>
                </a:lnTo>
                <a:lnTo>
                  <a:pt x="48525" y="5386316"/>
                </a:lnTo>
                <a:cubicBezTo>
                  <a:pt x="21726" y="5386316"/>
                  <a:pt x="0" y="5364591"/>
                  <a:pt x="0" y="5337791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79513" y="1941015"/>
            <a:ext cx="291152" cy="291152"/>
          </a:xfrm>
          <a:custGeom>
            <a:avLst/>
            <a:gdLst/>
            <a:ahLst/>
            <a:cxnLst/>
            <a:rect l="l" t="t" r="r" b="b"/>
            <a:pathLst>
              <a:path w="291152" h="291152">
                <a:moveTo>
                  <a:pt x="132213" y="2957"/>
                </a:moveTo>
                <a:cubicBezTo>
                  <a:pt x="140686" y="-967"/>
                  <a:pt x="150467" y="-967"/>
                  <a:pt x="158940" y="2957"/>
                </a:cubicBezTo>
                <a:lnTo>
                  <a:pt x="283248" y="60391"/>
                </a:lnTo>
                <a:cubicBezTo>
                  <a:pt x="288081" y="62609"/>
                  <a:pt x="291152" y="67443"/>
                  <a:pt x="291152" y="72788"/>
                </a:cubicBezTo>
                <a:cubicBezTo>
                  <a:pt x="291152" y="78133"/>
                  <a:pt x="288081" y="82967"/>
                  <a:pt x="283248" y="85185"/>
                </a:cubicBezTo>
                <a:lnTo>
                  <a:pt x="158940" y="142619"/>
                </a:lnTo>
                <a:cubicBezTo>
                  <a:pt x="150467" y="146543"/>
                  <a:pt x="140686" y="146543"/>
                  <a:pt x="132213" y="142619"/>
                </a:cubicBezTo>
                <a:lnTo>
                  <a:pt x="7904" y="85185"/>
                </a:lnTo>
                <a:cubicBezTo>
                  <a:pt x="3071" y="82910"/>
                  <a:pt x="0" y="78077"/>
                  <a:pt x="0" y="72788"/>
                </a:cubicBezTo>
                <a:cubicBezTo>
                  <a:pt x="0" y="67500"/>
                  <a:pt x="3071" y="62609"/>
                  <a:pt x="7904" y="60391"/>
                </a:cubicBezTo>
                <a:lnTo>
                  <a:pt x="132213" y="2957"/>
                </a:lnTo>
                <a:close/>
                <a:moveTo>
                  <a:pt x="27352" y="124195"/>
                </a:moveTo>
                <a:lnTo>
                  <a:pt x="120783" y="167356"/>
                </a:lnTo>
                <a:cubicBezTo>
                  <a:pt x="136534" y="174634"/>
                  <a:pt x="154675" y="174634"/>
                  <a:pt x="170426" y="167356"/>
                </a:cubicBezTo>
                <a:lnTo>
                  <a:pt x="263857" y="124195"/>
                </a:lnTo>
                <a:lnTo>
                  <a:pt x="283248" y="133179"/>
                </a:lnTo>
                <a:cubicBezTo>
                  <a:pt x="288081" y="135397"/>
                  <a:pt x="291152" y="140231"/>
                  <a:pt x="291152" y="145576"/>
                </a:cubicBezTo>
                <a:cubicBezTo>
                  <a:pt x="291152" y="150921"/>
                  <a:pt x="288081" y="155755"/>
                  <a:pt x="283248" y="157973"/>
                </a:cubicBezTo>
                <a:lnTo>
                  <a:pt x="158940" y="215407"/>
                </a:lnTo>
                <a:cubicBezTo>
                  <a:pt x="150467" y="219331"/>
                  <a:pt x="140686" y="219331"/>
                  <a:pt x="132213" y="215407"/>
                </a:cubicBezTo>
                <a:lnTo>
                  <a:pt x="7904" y="157973"/>
                </a:lnTo>
                <a:cubicBezTo>
                  <a:pt x="3071" y="155698"/>
                  <a:pt x="0" y="150865"/>
                  <a:pt x="0" y="145576"/>
                </a:cubicBezTo>
                <a:cubicBezTo>
                  <a:pt x="0" y="140288"/>
                  <a:pt x="3071" y="135397"/>
                  <a:pt x="7904" y="133179"/>
                </a:cubicBezTo>
                <a:lnTo>
                  <a:pt x="27296" y="124195"/>
                </a:lnTo>
                <a:close/>
                <a:moveTo>
                  <a:pt x="7904" y="205967"/>
                </a:moveTo>
                <a:lnTo>
                  <a:pt x="27296" y="196983"/>
                </a:lnTo>
                <a:lnTo>
                  <a:pt x="120726" y="240144"/>
                </a:lnTo>
                <a:cubicBezTo>
                  <a:pt x="136478" y="247423"/>
                  <a:pt x="154618" y="247423"/>
                  <a:pt x="170370" y="240144"/>
                </a:cubicBezTo>
                <a:lnTo>
                  <a:pt x="263800" y="196983"/>
                </a:lnTo>
                <a:lnTo>
                  <a:pt x="283191" y="205967"/>
                </a:lnTo>
                <a:cubicBezTo>
                  <a:pt x="288025" y="208185"/>
                  <a:pt x="291095" y="213019"/>
                  <a:pt x="291095" y="218364"/>
                </a:cubicBezTo>
                <a:cubicBezTo>
                  <a:pt x="291095" y="223710"/>
                  <a:pt x="288025" y="228543"/>
                  <a:pt x="283191" y="230761"/>
                </a:cubicBezTo>
                <a:lnTo>
                  <a:pt x="158883" y="288195"/>
                </a:lnTo>
                <a:cubicBezTo>
                  <a:pt x="150410" y="292119"/>
                  <a:pt x="140629" y="292119"/>
                  <a:pt x="132156" y="288195"/>
                </a:cubicBezTo>
                <a:lnTo>
                  <a:pt x="7904" y="230761"/>
                </a:lnTo>
                <a:cubicBezTo>
                  <a:pt x="3071" y="228486"/>
                  <a:pt x="0" y="223653"/>
                  <a:pt x="0" y="218364"/>
                </a:cubicBezTo>
                <a:cubicBezTo>
                  <a:pt x="0" y="213076"/>
                  <a:pt x="3071" y="208185"/>
                  <a:pt x="7904" y="20596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07060" y="1892490"/>
            <a:ext cx="6769290" cy="38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9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数仓分层架构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43119" y="2426269"/>
            <a:ext cx="6987654" cy="873457"/>
          </a:xfrm>
          <a:custGeom>
            <a:avLst/>
            <a:gdLst/>
            <a:ahLst/>
            <a:cxnLst/>
            <a:rect l="l" t="t" r="r" b="b"/>
            <a:pathLst>
              <a:path w="6987654" h="873457">
                <a:moveTo>
                  <a:pt x="48529" y="0"/>
                </a:moveTo>
                <a:lnTo>
                  <a:pt x="6939124" y="0"/>
                </a:lnTo>
                <a:cubicBezTo>
                  <a:pt x="6965926" y="0"/>
                  <a:pt x="6987654" y="21727"/>
                  <a:pt x="6987654" y="48529"/>
                </a:cubicBezTo>
                <a:lnTo>
                  <a:pt x="6987654" y="824927"/>
                </a:lnTo>
                <a:cubicBezTo>
                  <a:pt x="6987654" y="851729"/>
                  <a:pt x="6965926" y="873457"/>
                  <a:pt x="6939124" y="873457"/>
                </a:cubicBezTo>
                <a:lnTo>
                  <a:pt x="48529" y="873457"/>
                </a:lnTo>
                <a:cubicBezTo>
                  <a:pt x="21727" y="873457"/>
                  <a:pt x="0" y="851729"/>
                  <a:pt x="0" y="824927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688696" y="2596107"/>
            <a:ext cx="136003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ODS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(贴源层)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8696" y="2911522"/>
            <a:ext cx="6781421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Operation Data Store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,原始数据层,与源系统保持一致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43119" y="3445301"/>
            <a:ext cx="6987654" cy="873457"/>
          </a:xfrm>
          <a:custGeom>
            <a:avLst/>
            <a:gdLst/>
            <a:ahLst/>
            <a:cxnLst/>
            <a:rect l="l" t="t" r="r" b="b"/>
            <a:pathLst>
              <a:path w="6987654" h="873457">
                <a:moveTo>
                  <a:pt x="48529" y="0"/>
                </a:moveTo>
                <a:lnTo>
                  <a:pt x="6939124" y="0"/>
                </a:lnTo>
                <a:cubicBezTo>
                  <a:pt x="6965926" y="0"/>
                  <a:pt x="6987654" y="21727"/>
                  <a:pt x="6987654" y="48529"/>
                </a:cubicBezTo>
                <a:lnTo>
                  <a:pt x="6987654" y="824927"/>
                </a:lnTo>
                <a:cubicBezTo>
                  <a:pt x="6987654" y="851729"/>
                  <a:pt x="6965926" y="873457"/>
                  <a:pt x="6939124" y="873457"/>
                </a:cubicBezTo>
                <a:lnTo>
                  <a:pt x="48529" y="873457"/>
                </a:lnTo>
                <a:cubicBezTo>
                  <a:pt x="21727" y="873457"/>
                  <a:pt x="0" y="851729"/>
                  <a:pt x="0" y="824927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688696" y="3615140"/>
            <a:ext cx="1427518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DWD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(明细层)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88696" y="3930555"/>
            <a:ext cx="6781421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Warehouse Detail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,明细数据层,清洗、去重、规范化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43119" y="4464334"/>
            <a:ext cx="6987654" cy="873457"/>
          </a:xfrm>
          <a:custGeom>
            <a:avLst/>
            <a:gdLst/>
            <a:ahLst/>
            <a:cxnLst/>
            <a:rect l="l" t="t" r="r" b="b"/>
            <a:pathLst>
              <a:path w="6987654" h="873457">
                <a:moveTo>
                  <a:pt x="48529" y="0"/>
                </a:moveTo>
                <a:lnTo>
                  <a:pt x="6939124" y="0"/>
                </a:lnTo>
                <a:cubicBezTo>
                  <a:pt x="6965926" y="0"/>
                  <a:pt x="6987654" y="21727"/>
                  <a:pt x="6987654" y="48529"/>
                </a:cubicBezTo>
                <a:lnTo>
                  <a:pt x="6987654" y="824927"/>
                </a:lnTo>
                <a:cubicBezTo>
                  <a:pt x="6987654" y="851729"/>
                  <a:pt x="6965926" y="873457"/>
                  <a:pt x="6939124" y="873457"/>
                </a:cubicBezTo>
                <a:lnTo>
                  <a:pt x="48529" y="873457"/>
                </a:lnTo>
                <a:cubicBezTo>
                  <a:pt x="21727" y="873457"/>
                  <a:pt x="0" y="851729"/>
                  <a:pt x="0" y="824927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688696" y="4634173"/>
            <a:ext cx="1397379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DWS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(汇总层)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88696" y="4949588"/>
            <a:ext cx="6781421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Warehouse Summary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,汇总数据层,轻度汇总,按主题汇总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43119" y="5483367"/>
            <a:ext cx="6987654" cy="873457"/>
          </a:xfrm>
          <a:custGeom>
            <a:avLst/>
            <a:gdLst/>
            <a:ahLst/>
            <a:cxnLst/>
            <a:rect l="l" t="t" r="r" b="b"/>
            <a:pathLst>
              <a:path w="6987654" h="873457">
                <a:moveTo>
                  <a:pt x="48529" y="0"/>
                </a:moveTo>
                <a:lnTo>
                  <a:pt x="6939124" y="0"/>
                </a:lnTo>
                <a:cubicBezTo>
                  <a:pt x="6965926" y="0"/>
                  <a:pt x="6987654" y="21727"/>
                  <a:pt x="6987654" y="48529"/>
                </a:cubicBezTo>
                <a:lnTo>
                  <a:pt x="6987654" y="824927"/>
                </a:lnTo>
                <a:cubicBezTo>
                  <a:pt x="6987654" y="851729"/>
                  <a:pt x="6965926" y="873457"/>
                  <a:pt x="6939124" y="873457"/>
                </a:cubicBezTo>
                <a:lnTo>
                  <a:pt x="48529" y="873457"/>
                </a:lnTo>
                <a:cubicBezTo>
                  <a:pt x="21727" y="873457"/>
                  <a:pt x="0" y="851729"/>
                  <a:pt x="0" y="824927"/>
                </a:cubicBezTo>
                <a:lnTo>
                  <a:pt x="0" y="48529"/>
                </a:lnTo>
                <a:cubicBezTo>
                  <a:pt x="0" y="21745"/>
                  <a:pt x="21745" y="0"/>
                  <a:pt x="48529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688696" y="5653206"/>
            <a:ext cx="1333405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ADS</a:t>
            </a:r>
            <a:r>
              <a:rPr lang="en-US" sz="1719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(应用层)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88696" y="5968621"/>
            <a:ext cx="6781421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Application Data Service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,应用数据层,面向业务,报表、分析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1319" y="7236346"/>
            <a:ext cx="15273361" cy="1419367"/>
          </a:xfrm>
          <a:custGeom>
            <a:avLst/>
            <a:gdLst/>
            <a:ahLst/>
            <a:cxnLst/>
            <a:rect l="l" t="t" r="r" b="b"/>
            <a:pathLst>
              <a:path w="15273361" h="1419367">
                <a:moveTo>
                  <a:pt x="97056" y="0"/>
                </a:moveTo>
                <a:lnTo>
                  <a:pt x="15176305" y="0"/>
                </a:lnTo>
                <a:cubicBezTo>
                  <a:pt x="15229908" y="0"/>
                  <a:pt x="15273361" y="43454"/>
                  <a:pt x="15273361" y="97056"/>
                </a:cubicBezTo>
                <a:lnTo>
                  <a:pt x="15273361" y="1322311"/>
                </a:lnTo>
                <a:cubicBezTo>
                  <a:pt x="15273361" y="1375914"/>
                  <a:pt x="15229908" y="1419367"/>
                  <a:pt x="15176305" y="1419367"/>
                </a:cubicBezTo>
                <a:lnTo>
                  <a:pt x="97056" y="1419367"/>
                </a:lnTo>
                <a:cubicBezTo>
                  <a:pt x="43489" y="1419367"/>
                  <a:pt x="0" y="1375878"/>
                  <a:pt x="0" y="1322311"/>
                </a:cubicBezTo>
                <a:lnTo>
                  <a:pt x="0" y="97056"/>
                </a:lnTo>
                <a:cubicBezTo>
                  <a:pt x="0" y="43489"/>
                  <a:pt x="43489" y="0"/>
                  <a:pt x="9705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27881" y="7485039"/>
            <a:ext cx="291152" cy="291152"/>
          </a:xfrm>
          <a:custGeom>
            <a:avLst/>
            <a:gdLst/>
            <a:ahLst/>
            <a:cxnLst/>
            <a:rect l="l" t="t" r="r" b="b"/>
            <a:pathLst>
              <a:path w="291152" h="291152">
                <a:moveTo>
                  <a:pt x="36394" y="36394"/>
                </a:moveTo>
                <a:cubicBezTo>
                  <a:pt x="36394" y="26329"/>
                  <a:pt x="28262" y="18197"/>
                  <a:pt x="18197" y="18197"/>
                </a:cubicBezTo>
                <a:cubicBezTo>
                  <a:pt x="8132" y="18197"/>
                  <a:pt x="0" y="26329"/>
                  <a:pt x="0" y="36394"/>
                </a:cubicBezTo>
                <a:lnTo>
                  <a:pt x="0" y="227463"/>
                </a:lnTo>
                <a:cubicBezTo>
                  <a:pt x="0" y="252597"/>
                  <a:pt x="20358" y="272955"/>
                  <a:pt x="45493" y="272955"/>
                </a:cubicBezTo>
                <a:lnTo>
                  <a:pt x="272955" y="272955"/>
                </a:lnTo>
                <a:cubicBezTo>
                  <a:pt x="283020" y="272955"/>
                  <a:pt x="291152" y="264823"/>
                  <a:pt x="291152" y="254758"/>
                </a:cubicBezTo>
                <a:cubicBezTo>
                  <a:pt x="291152" y="244693"/>
                  <a:pt x="283020" y="236561"/>
                  <a:pt x="272955" y="236561"/>
                </a:cubicBezTo>
                <a:lnTo>
                  <a:pt x="45493" y="236561"/>
                </a:lnTo>
                <a:cubicBezTo>
                  <a:pt x="40488" y="236561"/>
                  <a:pt x="36394" y="232467"/>
                  <a:pt x="36394" y="227463"/>
                </a:cubicBezTo>
                <a:lnTo>
                  <a:pt x="36394" y="36394"/>
                </a:lnTo>
                <a:close/>
                <a:moveTo>
                  <a:pt x="267610" y="85640"/>
                </a:moveTo>
                <a:cubicBezTo>
                  <a:pt x="274718" y="78531"/>
                  <a:pt x="274718" y="66988"/>
                  <a:pt x="267610" y="59880"/>
                </a:cubicBezTo>
                <a:cubicBezTo>
                  <a:pt x="260502" y="52771"/>
                  <a:pt x="248958" y="52771"/>
                  <a:pt x="241850" y="59880"/>
                </a:cubicBezTo>
                <a:lnTo>
                  <a:pt x="181970" y="119816"/>
                </a:lnTo>
                <a:lnTo>
                  <a:pt x="149329" y="87232"/>
                </a:lnTo>
                <a:cubicBezTo>
                  <a:pt x="142221" y="80124"/>
                  <a:pt x="130677" y="80124"/>
                  <a:pt x="123569" y="87232"/>
                </a:cubicBezTo>
                <a:lnTo>
                  <a:pt x="68978" y="141823"/>
                </a:lnTo>
                <a:cubicBezTo>
                  <a:pt x="61870" y="148931"/>
                  <a:pt x="61870" y="160475"/>
                  <a:pt x="68978" y="167583"/>
                </a:cubicBezTo>
                <a:cubicBezTo>
                  <a:pt x="76086" y="174691"/>
                  <a:pt x="87630" y="174691"/>
                  <a:pt x="94738" y="167583"/>
                </a:cubicBezTo>
                <a:lnTo>
                  <a:pt x="136478" y="125844"/>
                </a:lnTo>
                <a:lnTo>
                  <a:pt x="169119" y="158485"/>
                </a:lnTo>
                <a:cubicBezTo>
                  <a:pt x="176227" y="165593"/>
                  <a:pt x="187770" y="165593"/>
                  <a:pt x="194879" y="158485"/>
                </a:cubicBezTo>
                <a:lnTo>
                  <a:pt x="267667" y="85697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55427" y="7436513"/>
            <a:ext cx="14654663" cy="38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9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分层的作用与价值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1487" y="7921767"/>
            <a:ext cx="3578746" cy="533779"/>
          </a:xfrm>
          <a:custGeom>
            <a:avLst/>
            <a:gdLst/>
            <a:ahLst/>
            <a:cxnLst/>
            <a:rect l="l" t="t" r="r" b="b"/>
            <a:pathLst>
              <a:path w="3578746" h="533779">
                <a:moveTo>
                  <a:pt x="48526" y="0"/>
                </a:moveTo>
                <a:lnTo>
                  <a:pt x="3530220" y="0"/>
                </a:lnTo>
                <a:cubicBezTo>
                  <a:pt x="3557021" y="0"/>
                  <a:pt x="3578746" y="21726"/>
                  <a:pt x="3578746" y="48526"/>
                </a:cubicBezTo>
                <a:lnTo>
                  <a:pt x="3578746" y="485253"/>
                </a:lnTo>
                <a:cubicBezTo>
                  <a:pt x="3578746" y="512053"/>
                  <a:pt x="3557021" y="533779"/>
                  <a:pt x="3530220" y="533779"/>
                </a:cubicBezTo>
                <a:lnTo>
                  <a:pt x="48526" y="533779"/>
                </a:lnTo>
                <a:cubicBezTo>
                  <a:pt x="21726" y="533779"/>
                  <a:pt x="0" y="512053"/>
                  <a:pt x="0" y="485253"/>
                </a:cubicBezTo>
                <a:lnTo>
                  <a:pt x="0" y="48526"/>
                </a:lnTo>
                <a:cubicBezTo>
                  <a:pt x="0" y="21744"/>
                  <a:pt x="21744" y="0"/>
                  <a:pt x="4852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37063" y="8067343"/>
            <a:ext cx="3372513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数据解耦: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各层职责清晰,降低系统复杂度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59596" y="7921767"/>
            <a:ext cx="3578746" cy="533779"/>
          </a:xfrm>
          <a:custGeom>
            <a:avLst/>
            <a:gdLst/>
            <a:ahLst/>
            <a:cxnLst/>
            <a:rect l="l" t="t" r="r" b="b"/>
            <a:pathLst>
              <a:path w="3578746" h="533779">
                <a:moveTo>
                  <a:pt x="48526" y="0"/>
                </a:moveTo>
                <a:lnTo>
                  <a:pt x="3530220" y="0"/>
                </a:lnTo>
                <a:cubicBezTo>
                  <a:pt x="3557021" y="0"/>
                  <a:pt x="3578746" y="21726"/>
                  <a:pt x="3578746" y="48526"/>
                </a:cubicBezTo>
                <a:lnTo>
                  <a:pt x="3578746" y="485253"/>
                </a:lnTo>
                <a:cubicBezTo>
                  <a:pt x="3578746" y="512053"/>
                  <a:pt x="3557021" y="533779"/>
                  <a:pt x="3530220" y="533779"/>
                </a:cubicBezTo>
                <a:lnTo>
                  <a:pt x="48526" y="533779"/>
                </a:lnTo>
                <a:cubicBezTo>
                  <a:pt x="21726" y="533779"/>
                  <a:pt x="0" y="512053"/>
                  <a:pt x="0" y="485253"/>
                </a:cubicBezTo>
                <a:lnTo>
                  <a:pt x="0" y="48526"/>
                </a:lnTo>
                <a:cubicBezTo>
                  <a:pt x="0" y="21744"/>
                  <a:pt x="21744" y="0"/>
                  <a:pt x="4852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605172" y="8067343"/>
            <a:ext cx="3372513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数据复用: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中间层可被多个应用复用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27704" y="7921767"/>
            <a:ext cx="3578746" cy="533779"/>
          </a:xfrm>
          <a:custGeom>
            <a:avLst/>
            <a:gdLst/>
            <a:ahLst/>
            <a:cxnLst/>
            <a:rect l="l" t="t" r="r" b="b"/>
            <a:pathLst>
              <a:path w="3578746" h="533779">
                <a:moveTo>
                  <a:pt x="48526" y="0"/>
                </a:moveTo>
                <a:lnTo>
                  <a:pt x="3530220" y="0"/>
                </a:lnTo>
                <a:cubicBezTo>
                  <a:pt x="3557021" y="0"/>
                  <a:pt x="3578746" y="21726"/>
                  <a:pt x="3578746" y="48526"/>
                </a:cubicBezTo>
                <a:lnTo>
                  <a:pt x="3578746" y="485253"/>
                </a:lnTo>
                <a:cubicBezTo>
                  <a:pt x="3578746" y="512053"/>
                  <a:pt x="3557021" y="533779"/>
                  <a:pt x="3530220" y="533779"/>
                </a:cubicBezTo>
                <a:lnTo>
                  <a:pt x="48526" y="533779"/>
                </a:lnTo>
                <a:cubicBezTo>
                  <a:pt x="21726" y="533779"/>
                  <a:pt x="0" y="512053"/>
                  <a:pt x="0" y="485253"/>
                </a:cubicBezTo>
                <a:lnTo>
                  <a:pt x="0" y="48526"/>
                </a:lnTo>
                <a:cubicBezTo>
                  <a:pt x="0" y="21744"/>
                  <a:pt x="21744" y="0"/>
                  <a:pt x="4852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373281" y="8067343"/>
            <a:ext cx="3372513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易于维护: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分层管理,问题定位更清晰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995813" y="7921767"/>
            <a:ext cx="3578746" cy="533779"/>
          </a:xfrm>
          <a:custGeom>
            <a:avLst/>
            <a:gdLst/>
            <a:ahLst/>
            <a:cxnLst/>
            <a:rect l="l" t="t" r="r" b="b"/>
            <a:pathLst>
              <a:path w="3578746" h="533779">
                <a:moveTo>
                  <a:pt x="48526" y="0"/>
                </a:moveTo>
                <a:lnTo>
                  <a:pt x="3530220" y="0"/>
                </a:lnTo>
                <a:cubicBezTo>
                  <a:pt x="3557021" y="0"/>
                  <a:pt x="3578746" y="21726"/>
                  <a:pt x="3578746" y="48526"/>
                </a:cubicBezTo>
                <a:lnTo>
                  <a:pt x="3578746" y="485253"/>
                </a:lnTo>
                <a:cubicBezTo>
                  <a:pt x="3578746" y="512053"/>
                  <a:pt x="3557021" y="533779"/>
                  <a:pt x="3530220" y="533779"/>
                </a:cubicBezTo>
                <a:lnTo>
                  <a:pt x="48526" y="533779"/>
                </a:lnTo>
                <a:cubicBezTo>
                  <a:pt x="21726" y="533779"/>
                  <a:pt x="0" y="512053"/>
                  <a:pt x="0" y="485253"/>
                </a:cubicBezTo>
                <a:lnTo>
                  <a:pt x="0" y="48526"/>
                </a:lnTo>
                <a:cubicBezTo>
                  <a:pt x="0" y="21744"/>
                  <a:pt x="21744" y="0"/>
                  <a:pt x="4852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141390" y="8067343"/>
            <a:ext cx="3372513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性能优化:</a:t>
            </a:r>
            <a:r>
              <a:rPr lang="en-US" sz="133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预计算汇总层,提升查询效率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8855" y="503672"/>
            <a:ext cx="1586565" cy="402937"/>
          </a:xfrm>
          <a:custGeom>
            <a:avLst/>
            <a:gdLst/>
            <a:ahLst/>
            <a:cxnLst/>
            <a:rect l="l" t="t" r="r" b="b"/>
            <a:pathLst>
              <a:path w="1586565" h="402937">
                <a:moveTo>
                  <a:pt x="0" y="0"/>
                </a:moveTo>
                <a:lnTo>
                  <a:pt x="1586565" y="0"/>
                </a:lnTo>
                <a:lnTo>
                  <a:pt x="1586565" y="402937"/>
                </a:lnTo>
                <a:lnTo>
                  <a:pt x="0" y="402937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28855" y="503672"/>
            <a:ext cx="50367" cy="402937"/>
          </a:xfrm>
          <a:custGeom>
            <a:avLst/>
            <a:gdLst/>
            <a:ahLst/>
            <a:cxnLst/>
            <a:rect l="l" t="t" r="r" b="b"/>
            <a:pathLst>
              <a:path w="50367" h="402937">
                <a:moveTo>
                  <a:pt x="0" y="0"/>
                </a:moveTo>
                <a:lnTo>
                  <a:pt x="50367" y="0"/>
                </a:lnTo>
                <a:lnTo>
                  <a:pt x="50367" y="402937"/>
                </a:lnTo>
                <a:lnTo>
                  <a:pt x="0" y="402937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5140" y="572926"/>
            <a:ext cx="1359913" cy="264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86" kern="0" spc="79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3672" y="1007343"/>
            <a:ext cx="15475309" cy="503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9" dirty="0" err="1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数据湖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3672" y="1737667"/>
            <a:ext cx="7492115" cy="3601252"/>
          </a:xfrm>
          <a:custGeom>
            <a:avLst/>
            <a:gdLst/>
            <a:ahLst/>
            <a:cxnLst/>
            <a:rect l="l" t="t" r="r" b="b"/>
            <a:pathLst>
              <a:path w="7492115" h="3601252">
                <a:moveTo>
                  <a:pt x="50367" y="0"/>
                </a:moveTo>
                <a:lnTo>
                  <a:pt x="7441747" y="0"/>
                </a:lnTo>
                <a:cubicBezTo>
                  <a:pt x="7469564" y="0"/>
                  <a:pt x="7492115" y="22550"/>
                  <a:pt x="7492115" y="50367"/>
                </a:cubicBezTo>
                <a:lnTo>
                  <a:pt x="7492115" y="3500525"/>
                </a:lnTo>
                <a:cubicBezTo>
                  <a:pt x="7492115" y="3556155"/>
                  <a:pt x="7447018" y="3601252"/>
                  <a:pt x="7391388" y="3601252"/>
                </a:cubicBezTo>
                <a:lnTo>
                  <a:pt x="100727" y="3601252"/>
                </a:lnTo>
                <a:cubicBezTo>
                  <a:pt x="45097" y="3601252"/>
                  <a:pt x="0" y="3556155"/>
                  <a:pt x="0" y="3500525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3672" y="1737667"/>
            <a:ext cx="7492115" cy="50367"/>
          </a:xfrm>
          <a:custGeom>
            <a:avLst/>
            <a:gdLst/>
            <a:ahLst/>
            <a:cxnLst/>
            <a:rect l="l" t="t" r="r" b="b"/>
            <a:pathLst>
              <a:path w="7492115" h="50367">
                <a:moveTo>
                  <a:pt x="50367" y="0"/>
                </a:moveTo>
                <a:lnTo>
                  <a:pt x="7441747" y="0"/>
                </a:lnTo>
                <a:cubicBezTo>
                  <a:pt x="7469564" y="0"/>
                  <a:pt x="7492115" y="22550"/>
                  <a:pt x="7492115" y="50367"/>
                </a:cubicBezTo>
                <a:lnTo>
                  <a:pt x="7492115" y="50367"/>
                </a:lnTo>
                <a:lnTo>
                  <a:pt x="0" y="50367"/>
                </a:ln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283" y="2065053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242353" y="73249"/>
                </a:moveTo>
                <a:cubicBezTo>
                  <a:pt x="254571" y="82457"/>
                  <a:pt x="269504" y="91369"/>
                  <a:pt x="286148" y="93612"/>
                </a:cubicBezTo>
                <a:cubicBezTo>
                  <a:pt x="293881" y="94675"/>
                  <a:pt x="301022" y="89185"/>
                  <a:pt x="302085" y="81453"/>
                </a:cubicBezTo>
                <a:cubicBezTo>
                  <a:pt x="303147" y="73721"/>
                  <a:pt x="297658" y="66579"/>
                  <a:pt x="289926" y="65517"/>
                </a:cubicBezTo>
                <a:cubicBezTo>
                  <a:pt x="280541" y="64277"/>
                  <a:pt x="270330" y="58847"/>
                  <a:pt x="259411" y="50643"/>
                </a:cubicBezTo>
                <a:cubicBezTo>
                  <a:pt x="236745" y="33526"/>
                  <a:pt x="205994" y="33526"/>
                  <a:pt x="183270" y="50643"/>
                </a:cubicBezTo>
                <a:cubicBezTo>
                  <a:pt x="169104" y="61326"/>
                  <a:pt x="159247" y="66166"/>
                  <a:pt x="151101" y="66166"/>
                </a:cubicBezTo>
                <a:cubicBezTo>
                  <a:pt x="142956" y="66166"/>
                  <a:pt x="133099" y="61326"/>
                  <a:pt x="118933" y="50643"/>
                </a:cubicBezTo>
                <a:cubicBezTo>
                  <a:pt x="96268" y="33526"/>
                  <a:pt x="65517" y="33526"/>
                  <a:pt x="42792" y="50643"/>
                </a:cubicBezTo>
                <a:cubicBezTo>
                  <a:pt x="31873" y="58847"/>
                  <a:pt x="21662" y="64277"/>
                  <a:pt x="12277" y="65517"/>
                </a:cubicBezTo>
                <a:cubicBezTo>
                  <a:pt x="4545" y="66579"/>
                  <a:pt x="-944" y="73662"/>
                  <a:pt x="118" y="81453"/>
                </a:cubicBezTo>
                <a:cubicBezTo>
                  <a:pt x="1180" y="89244"/>
                  <a:pt x="8263" y="94675"/>
                  <a:pt x="16055" y="93612"/>
                </a:cubicBezTo>
                <a:cubicBezTo>
                  <a:pt x="32699" y="91369"/>
                  <a:pt x="47691" y="82457"/>
                  <a:pt x="59850" y="73249"/>
                </a:cubicBezTo>
                <a:cubicBezTo>
                  <a:pt x="72422" y="63746"/>
                  <a:pt x="89303" y="63746"/>
                  <a:pt x="101875" y="73249"/>
                </a:cubicBezTo>
                <a:cubicBezTo>
                  <a:pt x="116159" y="84050"/>
                  <a:pt x="132745" y="94438"/>
                  <a:pt x="151101" y="94438"/>
                </a:cubicBezTo>
                <a:cubicBezTo>
                  <a:pt x="169458" y="94438"/>
                  <a:pt x="185985" y="83991"/>
                  <a:pt x="200327" y="73249"/>
                </a:cubicBezTo>
                <a:cubicBezTo>
                  <a:pt x="212900" y="63746"/>
                  <a:pt x="229780" y="63746"/>
                  <a:pt x="242353" y="73249"/>
                </a:cubicBezTo>
                <a:close/>
                <a:moveTo>
                  <a:pt x="242353" y="158243"/>
                </a:moveTo>
                <a:cubicBezTo>
                  <a:pt x="254571" y="167451"/>
                  <a:pt x="269504" y="176364"/>
                  <a:pt x="286148" y="178607"/>
                </a:cubicBezTo>
                <a:cubicBezTo>
                  <a:pt x="293881" y="179669"/>
                  <a:pt x="301022" y="174180"/>
                  <a:pt x="302085" y="166448"/>
                </a:cubicBezTo>
                <a:cubicBezTo>
                  <a:pt x="303147" y="158716"/>
                  <a:pt x="297658" y="151574"/>
                  <a:pt x="289926" y="150511"/>
                </a:cubicBezTo>
                <a:cubicBezTo>
                  <a:pt x="280541" y="149272"/>
                  <a:pt x="270330" y="143842"/>
                  <a:pt x="259411" y="135637"/>
                </a:cubicBezTo>
                <a:cubicBezTo>
                  <a:pt x="236745" y="118520"/>
                  <a:pt x="205994" y="118520"/>
                  <a:pt x="183270" y="135637"/>
                </a:cubicBezTo>
                <a:cubicBezTo>
                  <a:pt x="169104" y="146321"/>
                  <a:pt x="159247" y="151160"/>
                  <a:pt x="151101" y="151160"/>
                </a:cubicBezTo>
                <a:cubicBezTo>
                  <a:pt x="142956" y="151160"/>
                  <a:pt x="133099" y="146321"/>
                  <a:pt x="118933" y="135637"/>
                </a:cubicBezTo>
                <a:cubicBezTo>
                  <a:pt x="96268" y="118520"/>
                  <a:pt x="65517" y="118520"/>
                  <a:pt x="42792" y="135637"/>
                </a:cubicBezTo>
                <a:cubicBezTo>
                  <a:pt x="31873" y="143842"/>
                  <a:pt x="21662" y="149272"/>
                  <a:pt x="12277" y="150511"/>
                </a:cubicBezTo>
                <a:cubicBezTo>
                  <a:pt x="4545" y="151515"/>
                  <a:pt x="-944" y="158657"/>
                  <a:pt x="118" y="166448"/>
                </a:cubicBezTo>
                <a:cubicBezTo>
                  <a:pt x="1180" y="174239"/>
                  <a:pt x="8263" y="179669"/>
                  <a:pt x="16055" y="178607"/>
                </a:cubicBezTo>
                <a:cubicBezTo>
                  <a:pt x="32699" y="176364"/>
                  <a:pt x="47691" y="167451"/>
                  <a:pt x="59850" y="158243"/>
                </a:cubicBezTo>
                <a:cubicBezTo>
                  <a:pt x="72422" y="148741"/>
                  <a:pt x="89303" y="148741"/>
                  <a:pt x="101875" y="158243"/>
                </a:cubicBezTo>
                <a:cubicBezTo>
                  <a:pt x="116159" y="169045"/>
                  <a:pt x="132745" y="179433"/>
                  <a:pt x="151101" y="179433"/>
                </a:cubicBezTo>
                <a:cubicBezTo>
                  <a:pt x="169458" y="179433"/>
                  <a:pt x="185985" y="168986"/>
                  <a:pt x="200327" y="158243"/>
                </a:cubicBezTo>
                <a:cubicBezTo>
                  <a:pt x="212900" y="148741"/>
                  <a:pt x="229780" y="148741"/>
                  <a:pt x="242353" y="158243"/>
                </a:cubicBezTo>
                <a:close/>
                <a:moveTo>
                  <a:pt x="200327" y="243238"/>
                </a:moveTo>
                <a:cubicBezTo>
                  <a:pt x="212900" y="233735"/>
                  <a:pt x="229780" y="233735"/>
                  <a:pt x="242353" y="243238"/>
                </a:cubicBezTo>
                <a:cubicBezTo>
                  <a:pt x="254571" y="252446"/>
                  <a:pt x="269504" y="261358"/>
                  <a:pt x="286148" y="263601"/>
                </a:cubicBezTo>
                <a:cubicBezTo>
                  <a:pt x="293881" y="264664"/>
                  <a:pt x="301022" y="259174"/>
                  <a:pt x="302085" y="251442"/>
                </a:cubicBezTo>
                <a:cubicBezTo>
                  <a:pt x="303147" y="243710"/>
                  <a:pt x="297658" y="236568"/>
                  <a:pt x="289926" y="235506"/>
                </a:cubicBezTo>
                <a:cubicBezTo>
                  <a:pt x="280541" y="234266"/>
                  <a:pt x="270330" y="228836"/>
                  <a:pt x="259411" y="220632"/>
                </a:cubicBezTo>
                <a:cubicBezTo>
                  <a:pt x="236745" y="203515"/>
                  <a:pt x="205994" y="203515"/>
                  <a:pt x="183270" y="220632"/>
                </a:cubicBezTo>
                <a:cubicBezTo>
                  <a:pt x="169104" y="231315"/>
                  <a:pt x="159247" y="236155"/>
                  <a:pt x="151101" y="236155"/>
                </a:cubicBezTo>
                <a:cubicBezTo>
                  <a:pt x="142956" y="236155"/>
                  <a:pt x="133099" y="231315"/>
                  <a:pt x="118933" y="220632"/>
                </a:cubicBezTo>
                <a:cubicBezTo>
                  <a:pt x="96268" y="203515"/>
                  <a:pt x="65517" y="203515"/>
                  <a:pt x="42792" y="220632"/>
                </a:cubicBezTo>
                <a:cubicBezTo>
                  <a:pt x="31873" y="228836"/>
                  <a:pt x="21662" y="234266"/>
                  <a:pt x="12277" y="235506"/>
                </a:cubicBezTo>
                <a:cubicBezTo>
                  <a:pt x="4545" y="236568"/>
                  <a:pt x="-944" y="243651"/>
                  <a:pt x="118" y="251442"/>
                </a:cubicBezTo>
                <a:cubicBezTo>
                  <a:pt x="1180" y="259233"/>
                  <a:pt x="8263" y="264664"/>
                  <a:pt x="16055" y="263601"/>
                </a:cubicBezTo>
                <a:cubicBezTo>
                  <a:pt x="32699" y="261358"/>
                  <a:pt x="47691" y="252446"/>
                  <a:pt x="59850" y="243238"/>
                </a:cubicBezTo>
                <a:cubicBezTo>
                  <a:pt x="72422" y="233735"/>
                  <a:pt x="89303" y="233735"/>
                  <a:pt x="101875" y="243238"/>
                </a:cubicBezTo>
                <a:cubicBezTo>
                  <a:pt x="116159" y="254039"/>
                  <a:pt x="132745" y="264428"/>
                  <a:pt x="151101" y="264428"/>
                </a:cubicBezTo>
                <a:cubicBezTo>
                  <a:pt x="169458" y="264428"/>
                  <a:pt x="185985" y="253980"/>
                  <a:pt x="200327" y="24323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261" y="2014686"/>
            <a:ext cx="6761791" cy="40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数据湖(</a:t>
            </a:r>
            <a:r>
              <a:rPr lang="en-US" sz="238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Lake</a:t>
            </a:r>
            <a:r>
              <a:rPr lang="en-US" sz="238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5507" y="2568725"/>
            <a:ext cx="6988443" cy="956976"/>
          </a:xfrm>
          <a:custGeom>
            <a:avLst/>
            <a:gdLst/>
            <a:ahLst/>
            <a:cxnLst/>
            <a:rect l="l" t="t" r="r" b="b"/>
            <a:pathLst>
              <a:path w="6988443" h="956976">
                <a:moveTo>
                  <a:pt x="50366" y="0"/>
                </a:moveTo>
                <a:lnTo>
                  <a:pt x="6938077" y="0"/>
                </a:lnTo>
                <a:cubicBezTo>
                  <a:pt x="6965894" y="0"/>
                  <a:pt x="6988443" y="22549"/>
                  <a:pt x="6988443" y="50366"/>
                </a:cubicBezTo>
                <a:lnTo>
                  <a:pt x="6988443" y="906610"/>
                </a:lnTo>
                <a:cubicBezTo>
                  <a:pt x="6988443" y="934427"/>
                  <a:pt x="6965894" y="956976"/>
                  <a:pt x="6938077" y="956976"/>
                </a:cubicBezTo>
                <a:lnTo>
                  <a:pt x="50366" y="956976"/>
                </a:lnTo>
                <a:cubicBezTo>
                  <a:pt x="22549" y="956976"/>
                  <a:pt x="0" y="934427"/>
                  <a:pt x="0" y="906610"/>
                </a:cubicBezTo>
                <a:lnTo>
                  <a:pt x="0" y="50366"/>
                </a:lnTo>
                <a:cubicBezTo>
                  <a:pt x="0" y="22549"/>
                  <a:pt x="22549" y="0"/>
                  <a:pt x="5036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06609" y="2719826"/>
            <a:ext cx="6786974" cy="65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定义:</a:t>
            </a: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存储原始数据(</a:t>
            </a: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Raw Data</a:t>
            </a: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)的集中式存储库,支持结构化、半结构化、非结构化数据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5507" y="3676802"/>
            <a:ext cx="6988443" cy="629589"/>
          </a:xfrm>
          <a:custGeom>
            <a:avLst/>
            <a:gdLst/>
            <a:ahLst/>
            <a:cxnLst/>
            <a:rect l="l" t="t" r="r" b="b"/>
            <a:pathLst>
              <a:path w="6988443" h="629589">
                <a:moveTo>
                  <a:pt x="50367" y="0"/>
                </a:moveTo>
                <a:lnTo>
                  <a:pt x="6938076" y="0"/>
                </a:lnTo>
                <a:cubicBezTo>
                  <a:pt x="6965893" y="0"/>
                  <a:pt x="6988443" y="22550"/>
                  <a:pt x="6988443" y="50367"/>
                </a:cubicBezTo>
                <a:lnTo>
                  <a:pt x="6988443" y="579222"/>
                </a:lnTo>
                <a:cubicBezTo>
                  <a:pt x="6988443" y="607039"/>
                  <a:pt x="6965893" y="629589"/>
                  <a:pt x="6938076" y="629589"/>
                </a:cubicBezTo>
                <a:lnTo>
                  <a:pt x="50367" y="629589"/>
                </a:lnTo>
                <a:cubicBezTo>
                  <a:pt x="22550" y="629589"/>
                  <a:pt x="0" y="607039"/>
                  <a:pt x="0" y="579222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06609" y="3827904"/>
            <a:ext cx="6786974" cy="327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特点:</a:t>
            </a: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存储任意规模的所有数据,保持原始格式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5507" y="4457493"/>
            <a:ext cx="6988443" cy="629589"/>
          </a:xfrm>
          <a:custGeom>
            <a:avLst/>
            <a:gdLst/>
            <a:ahLst/>
            <a:cxnLst/>
            <a:rect l="l" t="t" r="r" b="b"/>
            <a:pathLst>
              <a:path w="6988443" h="629589">
                <a:moveTo>
                  <a:pt x="50367" y="0"/>
                </a:moveTo>
                <a:lnTo>
                  <a:pt x="6938076" y="0"/>
                </a:lnTo>
                <a:cubicBezTo>
                  <a:pt x="6965893" y="0"/>
                  <a:pt x="6988443" y="22550"/>
                  <a:pt x="6988443" y="50367"/>
                </a:cubicBezTo>
                <a:lnTo>
                  <a:pt x="6988443" y="579222"/>
                </a:lnTo>
                <a:cubicBezTo>
                  <a:pt x="6988443" y="607039"/>
                  <a:pt x="6965893" y="629589"/>
                  <a:pt x="6938076" y="629589"/>
                </a:cubicBezTo>
                <a:lnTo>
                  <a:pt x="50367" y="629589"/>
                </a:lnTo>
                <a:cubicBezTo>
                  <a:pt x="22550" y="629589"/>
                  <a:pt x="0" y="607039"/>
                  <a:pt x="0" y="579222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6609" y="4608595"/>
            <a:ext cx="6786974" cy="327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6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158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策略:</a:t>
            </a: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Schema-on-Read</a:t>
            </a: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(读时模式)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1754" y="1737667"/>
            <a:ext cx="7492115" cy="3601252"/>
          </a:xfrm>
          <a:custGeom>
            <a:avLst/>
            <a:gdLst/>
            <a:ahLst/>
            <a:cxnLst/>
            <a:rect l="l" t="t" r="r" b="b"/>
            <a:pathLst>
              <a:path w="7492115" h="3601252">
                <a:moveTo>
                  <a:pt x="50367" y="0"/>
                </a:moveTo>
                <a:lnTo>
                  <a:pt x="7441747" y="0"/>
                </a:lnTo>
                <a:cubicBezTo>
                  <a:pt x="7469564" y="0"/>
                  <a:pt x="7492115" y="22550"/>
                  <a:pt x="7492115" y="50367"/>
                </a:cubicBezTo>
                <a:lnTo>
                  <a:pt x="7492115" y="3500525"/>
                </a:lnTo>
                <a:cubicBezTo>
                  <a:pt x="7492115" y="3556155"/>
                  <a:pt x="7447018" y="3601252"/>
                  <a:pt x="7391388" y="3601252"/>
                </a:cubicBezTo>
                <a:lnTo>
                  <a:pt x="100727" y="3601252"/>
                </a:lnTo>
                <a:cubicBezTo>
                  <a:pt x="45097" y="3601252"/>
                  <a:pt x="0" y="3556155"/>
                  <a:pt x="0" y="3500525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51754" y="1737667"/>
            <a:ext cx="7492115" cy="50367"/>
          </a:xfrm>
          <a:custGeom>
            <a:avLst/>
            <a:gdLst/>
            <a:ahLst/>
            <a:cxnLst/>
            <a:rect l="l" t="t" r="r" b="b"/>
            <a:pathLst>
              <a:path w="7492115" h="50367">
                <a:moveTo>
                  <a:pt x="50367" y="0"/>
                </a:moveTo>
                <a:lnTo>
                  <a:pt x="7441747" y="0"/>
                </a:lnTo>
                <a:cubicBezTo>
                  <a:pt x="7469564" y="0"/>
                  <a:pt x="7492115" y="22550"/>
                  <a:pt x="7492115" y="50367"/>
                </a:cubicBezTo>
                <a:lnTo>
                  <a:pt x="7492115" y="50367"/>
                </a:lnTo>
                <a:lnTo>
                  <a:pt x="0" y="50367"/>
                </a:ln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22477" y="2065053"/>
            <a:ext cx="339978" cy="302203"/>
          </a:xfrm>
          <a:custGeom>
            <a:avLst/>
            <a:gdLst/>
            <a:ahLst/>
            <a:cxnLst/>
            <a:rect l="l" t="t" r="r" b="b"/>
            <a:pathLst>
              <a:path w="339978" h="302203">
                <a:moveTo>
                  <a:pt x="169989" y="18888"/>
                </a:moveTo>
                <a:cubicBezTo>
                  <a:pt x="122298" y="18888"/>
                  <a:pt x="84109" y="40609"/>
                  <a:pt x="56309" y="66461"/>
                </a:cubicBezTo>
                <a:cubicBezTo>
                  <a:pt x="28686" y="92136"/>
                  <a:pt x="10211" y="122770"/>
                  <a:pt x="1417" y="143842"/>
                </a:cubicBezTo>
                <a:cubicBezTo>
                  <a:pt x="-531" y="148504"/>
                  <a:pt x="-531" y="153699"/>
                  <a:pt x="1417" y="158361"/>
                </a:cubicBezTo>
                <a:cubicBezTo>
                  <a:pt x="10211" y="179433"/>
                  <a:pt x="28686" y="210125"/>
                  <a:pt x="56309" y="235742"/>
                </a:cubicBezTo>
                <a:cubicBezTo>
                  <a:pt x="84109" y="261535"/>
                  <a:pt x="122298" y="283315"/>
                  <a:pt x="169989" y="283315"/>
                </a:cubicBezTo>
                <a:cubicBezTo>
                  <a:pt x="217681" y="283315"/>
                  <a:pt x="255869" y="261594"/>
                  <a:pt x="283669" y="235742"/>
                </a:cubicBezTo>
                <a:cubicBezTo>
                  <a:pt x="311293" y="210066"/>
                  <a:pt x="329767" y="179433"/>
                  <a:pt x="338562" y="158361"/>
                </a:cubicBezTo>
                <a:cubicBezTo>
                  <a:pt x="340510" y="153699"/>
                  <a:pt x="340510" y="148504"/>
                  <a:pt x="338562" y="143842"/>
                </a:cubicBezTo>
                <a:cubicBezTo>
                  <a:pt x="329767" y="122770"/>
                  <a:pt x="311293" y="92077"/>
                  <a:pt x="283669" y="66461"/>
                </a:cubicBezTo>
                <a:cubicBezTo>
                  <a:pt x="255869" y="40668"/>
                  <a:pt x="217681" y="18888"/>
                  <a:pt x="169989" y="18888"/>
                </a:cubicBezTo>
                <a:close/>
                <a:moveTo>
                  <a:pt x="84995" y="151101"/>
                </a:moveTo>
                <a:cubicBezTo>
                  <a:pt x="84995" y="104192"/>
                  <a:pt x="123079" y="66107"/>
                  <a:pt x="169989" y="66107"/>
                </a:cubicBezTo>
                <a:cubicBezTo>
                  <a:pt x="216899" y="66107"/>
                  <a:pt x="254984" y="104192"/>
                  <a:pt x="254984" y="151101"/>
                </a:cubicBezTo>
                <a:cubicBezTo>
                  <a:pt x="254984" y="198011"/>
                  <a:pt x="216899" y="236096"/>
                  <a:pt x="169989" y="236096"/>
                </a:cubicBezTo>
                <a:cubicBezTo>
                  <a:pt x="123079" y="236096"/>
                  <a:pt x="84995" y="198011"/>
                  <a:pt x="84995" y="151101"/>
                </a:cubicBezTo>
                <a:close/>
                <a:moveTo>
                  <a:pt x="169989" y="113326"/>
                </a:moveTo>
                <a:cubicBezTo>
                  <a:pt x="169989" y="134162"/>
                  <a:pt x="153049" y="151101"/>
                  <a:pt x="132214" y="151101"/>
                </a:cubicBezTo>
                <a:cubicBezTo>
                  <a:pt x="125426" y="151101"/>
                  <a:pt x="119051" y="149331"/>
                  <a:pt x="113503" y="146143"/>
                </a:cubicBezTo>
                <a:cubicBezTo>
                  <a:pt x="112913" y="152577"/>
                  <a:pt x="113444" y="159188"/>
                  <a:pt x="115215" y="165739"/>
                </a:cubicBezTo>
                <a:cubicBezTo>
                  <a:pt x="123301" y="195960"/>
                  <a:pt x="154407" y="213903"/>
                  <a:pt x="184627" y="205817"/>
                </a:cubicBezTo>
                <a:cubicBezTo>
                  <a:pt x="214847" y="197730"/>
                  <a:pt x="232791" y="166625"/>
                  <a:pt x="224704" y="136404"/>
                </a:cubicBezTo>
                <a:cubicBezTo>
                  <a:pt x="217503" y="109431"/>
                  <a:pt x="191946" y="92255"/>
                  <a:pt x="165031" y="94615"/>
                </a:cubicBezTo>
                <a:cubicBezTo>
                  <a:pt x="168159" y="100105"/>
                  <a:pt x="169989" y="106479"/>
                  <a:pt x="169989" y="113326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81343" y="2014686"/>
            <a:ext cx="6761791" cy="40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Schema-on-Read vs Schema-on-Write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28773" y="2568725"/>
            <a:ext cx="6963259" cy="956976"/>
          </a:xfrm>
          <a:custGeom>
            <a:avLst/>
            <a:gdLst/>
            <a:ahLst/>
            <a:cxnLst/>
            <a:rect l="l" t="t" r="r" b="b"/>
            <a:pathLst>
              <a:path w="6963259" h="956976">
                <a:moveTo>
                  <a:pt x="50366" y="0"/>
                </a:moveTo>
                <a:lnTo>
                  <a:pt x="6912894" y="0"/>
                </a:lnTo>
                <a:cubicBezTo>
                  <a:pt x="6940710" y="0"/>
                  <a:pt x="6963259" y="22549"/>
                  <a:pt x="6963259" y="50366"/>
                </a:cubicBezTo>
                <a:lnTo>
                  <a:pt x="6963259" y="906610"/>
                </a:lnTo>
                <a:cubicBezTo>
                  <a:pt x="6963259" y="934427"/>
                  <a:pt x="6940710" y="956976"/>
                  <a:pt x="6912894" y="956976"/>
                </a:cubicBezTo>
                <a:lnTo>
                  <a:pt x="50366" y="956976"/>
                </a:lnTo>
                <a:cubicBezTo>
                  <a:pt x="22549" y="956976"/>
                  <a:pt x="0" y="934427"/>
                  <a:pt x="0" y="906610"/>
                </a:cubicBezTo>
                <a:lnTo>
                  <a:pt x="0" y="50366"/>
                </a:lnTo>
                <a:cubicBezTo>
                  <a:pt x="0" y="22549"/>
                  <a:pt x="22549" y="0"/>
                  <a:pt x="5036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28773" y="2568725"/>
            <a:ext cx="50367" cy="956976"/>
          </a:xfrm>
          <a:custGeom>
            <a:avLst/>
            <a:gdLst/>
            <a:ahLst/>
            <a:cxnLst/>
            <a:rect l="l" t="t" r="r" b="b"/>
            <a:pathLst>
              <a:path w="50367" h="956976">
                <a:moveTo>
                  <a:pt x="50367" y="0"/>
                </a:moveTo>
                <a:lnTo>
                  <a:pt x="50367" y="0"/>
                </a:lnTo>
                <a:lnTo>
                  <a:pt x="50367" y="956976"/>
                </a:lnTo>
                <a:lnTo>
                  <a:pt x="50367" y="956976"/>
                </a:lnTo>
                <a:cubicBezTo>
                  <a:pt x="22550" y="956976"/>
                  <a:pt x="0" y="934426"/>
                  <a:pt x="0" y="906609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05058" y="2745010"/>
            <a:ext cx="2755733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Schema-on-Read</a:t>
            </a:r>
            <a:r>
              <a:rPr lang="en-US" sz="1785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(数据湖)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05058" y="3072397"/>
            <a:ext cx="6736607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使用时定义结构,灵活性高,敏捷探索,适合数据科学家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28773" y="3676802"/>
            <a:ext cx="6963259" cy="956976"/>
          </a:xfrm>
          <a:custGeom>
            <a:avLst/>
            <a:gdLst/>
            <a:ahLst/>
            <a:cxnLst/>
            <a:rect l="l" t="t" r="r" b="b"/>
            <a:pathLst>
              <a:path w="6963259" h="956976">
                <a:moveTo>
                  <a:pt x="50366" y="0"/>
                </a:moveTo>
                <a:lnTo>
                  <a:pt x="6912894" y="0"/>
                </a:lnTo>
                <a:cubicBezTo>
                  <a:pt x="6940710" y="0"/>
                  <a:pt x="6963259" y="22549"/>
                  <a:pt x="6963259" y="50366"/>
                </a:cubicBezTo>
                <a:lnTo>
                  <a:pt x="6963259" y="906610"/>
                </a:lnTo>
                <a:cubicBezTo>
                  <a:pt x="6963259" y="934427"/>
                  <a:pt x="6940710" y="956976"/>
                  <a:pt x="6912894" y="956976"/>
                </a:cubicBezTo>
                <a:lnTo>
                  <a:pt x="50366" y="956976"/>
                </a:lnTo>
                <a:cubicBezTo>
                  <a:pt x="22549" y="956976"/>
                  <a:pt x="0" y="934427"/>
                  <a:pt x="0" y="906610"/>
                </a:cubicBezTo>
                <a:lnTo>
                  <a:pt x="0" y="50366"/>
                </a:lnTo>
                <a:cubicBezTo>
                  <a:pt x="0" y="22549"/>
                  <a:pt x="22549" y="0"/>
                  <a:pt x="50366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28773" y="3676802"/>
            <a:ext cx="50367" cy="956976"/>
          </a:xfrm>
          <a:custGeom>
            <a:avLst/>
            <a:gdLst/>
            <a:ahLst/>
            <a:cxnLst/>
            <a:rect l="l" t="t" r="r" b="b"/>
            <a:pathLst>
              <a:path w="50367" h="956976">
                <a:moveTo>
                  <a:pt x="50367" y="0"/>
                </a:moveTo>
                <a:lnTo>
                  <a:pt x="50367" y="0"/>
                </a:lnTo>
                <a:lnTo>
                  <a:pt x="50367" y="956976"/>
                </a:lnTo>
                <a:lnTo>
                  <a:pt x="50367" y="956976"/>
                </a:lnTo>
                <a:cubicBezTo>
                  <a:pt x="22550" y="956976"/>
                  <a:pt x="0" y="934426"/>
                  <a:pt x="0" y="906609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05058" y="3853088"/>
            <a:ext cx="3017012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Schema-on-Write</a:t>
            </a:r>
            <a:r>
              <a:rPr lang="en-US" sz="1785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(数据仓库)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05058" y="4180474"/>
            <a:ext cx="6736607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写入时定义结构,需预定义模型,适合业务分析师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9967" y="5546683"/>
            <a:ext cx="15236065" cy="3084988"/>
          </a:xfrm>
          <a:custGeom>
            <a:avLst/>
            <a:gdLst/>
            <a:ahLst/>
            <a:cxnLst/>
            <a:rect l="l" t="t" r="r" b="b"/>
            <a:pathLst>
              <a:path w="15236065" h="3084988">
                <a:moveTo>
                  <a:pt x="100725" y="0"/>
                </a:moveTo>
                <a:lnTo>
                  <a:pt x="15135340" y="0"/>
                </a:lnTo>
                <a:cubicBezTo>
                  <a:pt x="15190969" y="0"/>
                  <a:pt x="15236065" y="45096"/>
                  <a:pt x="15236065" y="100725"/>
                </a:cubicBezTo>
                <a:lnTo>
                  <a:pt x="15236065" y="2984264"/>
                </a:lnTo>
                <a:cubicBezTo>
                  <a:pt x="15236065" y="3039892"/>
                  <a:pt x="15190969" y="3084988"/>
                  <a:pt x="15135340" y="3084988"/>
                </a:cubicBezTo>
                <a:lnTo>
                  <a:pt x="100725" y="3084988"/>
                </a:lnTo>
                <a:cubicBezTo>
                  <a:pt x="45133" y="3084988"/>
                  <a:pt x="0" y="3039855"/>
                  <a:pt x="0" y="2984264"/>
                </a:cubicBezTo>
                <a:lnTo>
                  <a:pt x="0" y="100725"/>
                </a:lnTo>
                <a:cubicBezTo>
                  <a:pt x="0" y="45133"/>
                  <a:pt x="45133" y="0"/>
                  <a:pt x="100725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5875" y="5855182"/>
            <a:ext cx="302203" cy="302203"/>
          </a:xfrm>
          <a:custGeom>
            <a:avLst/>
            <a:gdLst/>
            <a:ahLst/>
            <a:cxnLst/>
            <a:rect l="l" t="t" r="r" b="b"/>
            <a:pathLst>
              <a:path w="302203" h="302203">
                <a:moveTo>
                  <a:pt x="151101" y="0"/>
                </a:moveTo>
                <a:cubicBezTo>
                  <a:pt x="159778" y="0"/>
                  <a:pt x="167746" y="4781"/>
                  <a:pt x="171878" y="12395"/>
                </a:cubicBezTo>
                <a:lnTo>
                  <a:pt x="299370" y="248491"/>
                </a:lnTo>
                <a:cubicBezTo>
                  <a:pt x="303324" y="255810"/>
                  <a:pt x="303147" y="264664"/>
                  <a:pt x="298898" y="271806"/>
                </a:cubicBezTo>
                <a:cubicBezTo>
                  <a:pt x="294648" y="278947"/>
                  <a:pt x="286916" y="283315"/>
                  <a:pt x="278593" y="283315"/>
                </a:cubicBezTo>
                <a:lnTo>
                  <a:pt x="23610" y="283315"/>
                </a:lnTo>
                <a:cubicBezTo>
                  <a:pt x="15287" y="283315"/>
                  <a:pt x="7614" y="278947"/>
                  <a:pt x="3305" y="271806"/>
                </a:cubicBezTo>
                <a:cubicBezTo>
                  <a:pt x="-1003" y="264664"/>
                  <a:pt x="-1121" y="255810"/>
                  <a:pt x="2833" y="248491"/>
                </a:cubicBezTo>
                <a:lnTo>
                  <a:pt x="130325" y="12395"/>
                </a:lnTo>
                <a:cubicBezTo>
                  <a:pt x="134457" y="4781"/>
                  <a:pt x="142425" y="0"/>
                  <a:pt x="151101" y="0"/>
                </a:cubicBezTo>
                <a:close/>
                <a:moveTo>
                  <a:pt x="151101" y="99160"/>
                </a:moveTo>
                <a:cubicBezTo>
                  <a:pt x="143251" y="99160"/>
                  <a:pt x="136936" y="105476"/>
                  <a:pt x="136936" y="113326"/>
                </a:cubicBezTo>
                <a:lnTo>
                  <a:pt x="136936" y="179433"/>
                </a:lnTo>
                <a:cubicBezTo>
                  <a:pt x="136936" y="187283"/>
                  <a:pt x="143251" y="193599"/>
                  <a:pt x="151101" y="193599"/>
                </a:cubicBezTo>
                <a:cubicBezTo>
                  <a:pt x="158952" y="193599"/>
                  <a:pt x="165267" y="187283"/>
                  <a:pt x="165267" y="179433"/>
                </a:cubicBezTo>
                <a:lnTo>
                  <a:pt x="165267" y="113326"/>
                </a:lnTo>
                <a:cubicBezTo>
                  <a:pt x="165267" y="105476"/>
                  <a:pt x="158952" y="99160"/>
                  <a:pt x="151101" y="99160"/>
                </a:cubicBezTo>
                <a:close/>
                <a:moveTo>
                  <a:pt x="166861" y="226652"/>
                </a:moveTo>
                <a:cubicBezTo>
                  <a:pt x="167219" y="220803"/>
                  <a:pt x="164302" y="215237"/>
                  <a:pt x="159287" y="212204"/>
                </a:cubicBezTo>
                <a:cubicBezTo>
                  <a:pt x="154273" y="209170"/>
                  <a:pt x="147989" y="209170"/>
                  <a:pt x="142974" y="212204"/>
                </a:cubicBezTo>
                <a:cubicBezTo>
                  <a:pt x="137960" y="215237"/>
                  <a:pt x="135043" y="220803"/>
                  <a:pt x="135401" y="226652"/>
                </a:cubicBezTo>
                <a:cubicBezTo>
                  <a:pt x="135043" y="232502"/>
                  <a:pt x="137960" y="238067"/>
                  <a:pt x="142974" y="241101"/>
                </a:cubicBezTo>
                <a:cubicBezTo>
                  <a:pt x="147989" y="244134"/>
                  <a:pt x="154273" y="244134"/>
                  <a:pt x="159287" y="241101"/>
                </a:cubicBezTo>
                <a:cubicBezTo>
                  <a:pt x="164302" y="238067"/>
                  <a:pt x="167219" y="232502"/>
                  <a:pt x="166861" y="226652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5853" y="5804815"/>
            <a:ext cx="14493149" cy="40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数据沼泽(</a:t>
            </a:r>
            <a:r>
              <a:rPr lang="en-US" sz="238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Swamp</a:t>
            </a:r>
            <a:r>
              <a:rPr lang="en-US" sz="238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8099" y="6358854"/>
            <a:ext cx="7227687" cy="2014686"/>
          </a:xfrm>
          <a:custGeom>
            <a:avLst/>
            <a:gdLst/>
            <a:ahLst/>
            <a:cxnLst/>
            <a:rect l="l" t="t" r="r" b="b"/>
            <a:pathLst>
              <a:path w="7227687" h="2014686">
                <a:moveTo>
                  <a:pt x="50367" y="0"/>
                </a:moveTo>
                <a:lnTo>
                  <a:pt x="7177320" y="0"/>
                </a:lnTo>
                <a:cubicBezTo>
                  <a:pt x="7205137" y="0"/>
                  <a:pt x="7227687" y="22550"/>
                  <a:pt x="7227687" y="50367"/>
                </a:cubicBezTo>
                <a:lnTo>
                  <a:pt x="7227687" y="1964319"/>
                </a:lnTo>
                <a:cubicBezTo>
                  <a:pt x="7227687" y="1992136"/>
                  <a:pt x="7205137" y="2014686"/>
                  <a:pt x="7177320" y="2014686"/>
                </a:cubicBezTo>
                <a:lnTo>
                  <a:pt x="50367" y="2014686"/>
                </a:lnTo>
                <a:cubicBezTo>
                  <a:pt x="22550" y="2014686"/>
                  <a:pt x="0" y="1992136"/>
                  <a:pt x="0" y="1964319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9568" y="6560322"/>
            <a:ext cx="6938076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什么是数据沼泽?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9568" y="7013627"/>
            <a:ext cx="6925484" cy="98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6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不加治理的数据湖就是数据沼泽。</a:t>
            </a:r>
            <a:r>
              <a:rPr lang="en-US" sz="1586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数据湖存储了大量原始数据,但缺乏元数据管理、数据质量控制和访问策略,导致数据难以发现、理解和使用,最终变成数据垃圾场。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1754" y="6358854"/>
            <a:ext cx="7227687" cy="2014686"/>
          </a:xfrm>
          <a:custGeom>
            <a:avLst/>
            <a:gdLst/>
            <a:ahLst/>
            <a:cxnLst/>
            <a:rect l="l" t="t" r="r" b="b"/>
            <a:pathLst>
              <a:path w="7227687" h="2014686">
                <a:moveTo>
                  <a:pt x="50367" y="0"/>
                </a:moveTo>
                <a:lnTo>
                  <a:pt x="7177320" y="0"/>
                </a:lnTo>
                <a:cubicBezTo>
                  <a:pt x="7205137" y="0"/>
                  <a:pt x="7227687" y="22550"/>
                  <a:pt x="7227687" y="50367"/>
                </a:cubicBezTo>
                <a:lnTo>
                  <a:pt x="7227687" y="1964319"/>
                </a:lnTo>
                <a:cubicBezTo>
                  <a:pt x="7227687" y="1992136"/>
                  <a:pt x="7205137" y="2014686"/>
                  <a:pt x="7177320" y="2014686"/>
                </a:cubicBezTo>
                <a:lnTo>
                  <a:pt x="50367" y="2014686"/>
                </a:lnTo>
                <a:cubicBezTo>
                  <a:pt x="22550" y="2014686"/>
                  <a:pt x="0" y="1992136"/>
                  <a:pt x="0" y="1964319"/>
                </a:cubicBezTo>
                <a:lnTo>
                  <a:pt x="0" y="50367"/>
                </a:lnTo>
                <a:cubicBezTo>
                  <a:pt x="0" y="22550"/>
                  <a:pt x="22550" y="0"/>
                  <a:pt x="5036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53222" y="6560322"/>
            <a:ext cx="6938076" cy="35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如何避免数据沼泽?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53222" y="7013627"/>
            <a:ext cx="6912892" cy="25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建立元数据管理和数据目录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53222" y="7315830"/>
            <a:ext cx="6912892" cy="25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制定数据质量标准和治理策略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53222" y="7618033"/>
            <a:ext cx="6912892" cy="25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实施数据生命周期管理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53222" y="7920235"/>
            <a:ext cx="6912892" cy="25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4.</a:t>
            </a:r>
            <a:r>
              <a:rPr lang="en-US" sz="1388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提供数据发现和使用工具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4500" y="423333"/>
            <a:ext cx="1333500" cy="338667"/>
          </a:xfrm>
          <a:custGeom>
            <a:avLst/>
            <a:gdLst/>
            <a:ahLst/>
            <a:cxnLst/>
            <a:rect l="l" t="t" r="r" b="b"/>
            <a:pathLst>
              <a:path w="1333500" h="338667">
                <a:moveTo>
                  <a:pt x="0" y="0"/>
                </a:moveTo>
                <a:lnTo>
                  <a:pt x="1333500" y="0"/>
                </a:lnTo>
                <a:lnTo>
                  <a:pt x="1333500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4500" y="423333"/>
            <a:ext cx="42333" cy="338667"/>
          </a:xfrm>
          <a:custGeom>
            <a:avLst/>
            <a:gdLst/>
            <a:ahLst/>
            <a:cxnLst/>
            <a:rect l="l" t="t" r="r" b="b"/>
            <a:pathLst>
              <a:path w="42333" h="338667">
                <a:moveTo>
                  <a:pt x="0" y="0"/>
                </a:moveTo>
                <a:lnTo>
                  <a:pt x="42333" y="0"/>
                </a:lnTo>
                <a:lnTo>
                  <a:pt x="42333" y="338667"/>
                </a:lnTo>
                <a:lnTo>
                  <a:pt x="0" y="338667"/>
                </a:lnTo>
                <a:lnTo>
                  <a:pt x="0" y="0"/>
                </a:ln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2667" y="481542"/>
            <a:ext cx="114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kern="0" spc="67" dirty="0">
                <a:solidFill>
                  <a:srgbClr val="5A647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CHAPTER 12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3333" y="846667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ETL vs ELT</a:t>
            </a: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与整体对比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500" y="1328493"/>
            <a:ext cx="7577667" cy="3704167"/>
          </a:xfrm>
          <a:custGeom>
            <a:avLst/>
            <a:gdLst/>
            <a:ahLst/>
            <a:cxnLst/>
            <a:rect l="l" t="t" r="r" b="b"/>
            <a:pathLst>
              <a:path w="7577667" h="3704167">
                <a:moveTo>
                  <a:pt x="42333" y="0"/>
                </a:moveTo>
                <a:lnTo>
                  <a:pt x="7492989" y="0"/>
                </a:lnTo>
                <a:cubicBezTo>
                  <a:pt x="7539755" y="0"/>
                  <a:pt x="7577667" y="37911"/>
                  <a:pt x="7577667" y="84677"/>
                </a:cubicBezTo>
                <a:lnTo>
                  <a:pt x="7577667" y="3619489"/>
                </a:lnTo>
                <a:cubicBezTo>
                  <a:pt x="7577667" y="3666255"/>
                  <a:pt x="7539755" y="3704167"/>
                  <a:pt x="7492989" y="3704167"/>
                </a:cubicBezTo>
                <a:lnTo>
                  <a:pt x="42333" y="3704167"/>
                </a:lnTo>
                <a:cubicBezTo>
                  <a:pt x="18953" y="3704167"/>
                  <a:pt x="0" y="3685213"/>
                  <a:pt x="0" y="3661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4500" y="1328493"/>
            <a:ext cx="42333" cy="3704167"/>
          </a:xfrm>
          <a:custGeom>
            <a:avLst/>
            <a:gdLst/>
            <a:ahLst/>
            <a:cxnLst/>
            <a:rect l="l" t="t" r="r" b="b"/>
            <a:pathLst>
              <a:path w="42333" h="3704167">
                <a:moveTo>
                  <a:pt x="42333" y="0"/>
                </a:moveTo>
                <a:lnTo>
                  <a:pt x="42333" y="0"/>
                </a:lnTo>
                <a:lnTo>
                  <a:pt x="42333" y="3704167"/>
                </a:lnTo>
                <a:lnTo>
                  <a:pt x="42333" y="3704167"/>
                </a:lnTo>
                <a:cubicBezTo>
                  <a:pt x="18953" y="3704167"/>
                  <a:pt x="0" y="3685213"/>
                  <a:pt x="0" y="3661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9083" y="158249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94833" y="1540160"/>
            <a:ext cx="6942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ETL vs ELT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8500" y="2005827"/>
            <a:ext cx="7112000" cy="1016000"/>
          </a:xfrm>
          <a:custGeom>
            <a:avLst/>
            <a:gdLst/>
            <a:ahLst/>
            <a:cxnLst/>
            <a:rect l="l" t="t" r="r" b="b"/>
            <a:pathLst>
              <a:path w="7112000" h="1016000">
                <a:moveTo>
                  <a:pt x="42333" y="0"/>
                </a:moveTo>
                <a:lnTo>
                  <a:pt x="7069663" y="0"/>
                </a:lnTo>
                <a:cubicBezTo>
                  <a:pt x="7093045" y="0"/>
                  <a:pt x="7112000" y="18955"/>
                  <a:pt x="7112000" y="42337"/>
                </a:cubicBezTo>
                <a:lnTo>
                  <a:pt x="7112000" y="973663"/>
                </a:lnTo>
                <a:cubicBezTo>
                  <a:pt x="7112000" y="997045"/>
                  <a:pt x="7093045" y="1016000"/>
                  <a:pt x="7069663" y="1016000"/>
                </a:cubicBezTo>
                <a:lnTo>
                  <a:pt x="42333" y="1016000"/>
                </a:lnTo>
                <a:cubicBezTo>
                  <a:pt x="18953" y="1016000"/>
                  <a:pt x="0" y="997047"/>
                  <a:pt x="0" y="973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98500" y="2005827"/>
            <a:ext cx="42333" cy="1016000"/>
          </a:xfrm>
          <a:custGeom>
            <a:avLst/>
            <a:gdLst/>
            <a:ahLst/>
            <a:cxnLst/>
            <a:rect l="l" t="t" r="r" b="b"/>
            <a:pathLst>
              <a:path w="42333" h="1016000">
                <a:moveTo>
                  <a:pt x="42333" y="0"/>
                </a:moveTo>
                <a:lnTo>
                  <a:pt x="42333" y="0"/>
                </a:lnTo>
                <a:lnTo>
                  <a:pt x="42333" y="1016000"/>
                </a:lnTo>
                <a:lnTo>
                  <a:pt x="42333" y="1016000"/>
                </a:lnTo>
                <a:cubicBezTo>
                  <a:pt x="18953" y="1016000"/>
                  <a:pt x="0" y="997047"/>
                  <a:pt x="0" y="973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6667" y="2153993"/>
            <a:ext cx="1305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ETL</a:t>
            </a: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(传统数仓)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667" y="2429160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Extract → Transform → Load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6667" y="2683160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先转换再加载,转换在专用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ETL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服务器执行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8500" y="3148827"/>
            <a:ext cx="7112000" cy="1016000"/>
          </a:xfrm>
          <a:custGeom>
            <a:avLst/>
            <a:gdLst/>
            <a:ahLst/>
            <a:cxnLst/>
            <a:rect l="l" t="t" r="r" b="b"/>
            <a:pathLst>
              <a:path w="7112000" h="1016000">
                <a:moveTo>
                  <a:pt x="42333" y="0"/>
                </a:moveTo>
                <a:lnTo>
                  <a:pt x="7069663" y="0"/>
                </a:lnTo>
                <a:cubicBezTo>
                  <a:pt x="7093045" y="0"/>
                  <a:pt x="7112000" y="18955"/>
                  <a:pt x="7112000" y="42337"/>
                </a:cubicBezTo>
                <a:lnTo>
                  <a:pt x="7112000" y="973663"/>
                </a:lnTo>
                <a:cubicBezTo>
                  <a:pt x="7112000" y="997045"/>
                  <a:pt x="7093045" y="1016000"/>
                  <a:pt x="7069663" y="1016000"/>
                </a:cubicBezTo>
                <a:lnTo>
                  <a:pt x="42333" y="1016000"/>
                </a:lnTo>
                <a:cubicBezTo>
                  <a:pt x="18953" y="1016000"/>
                  <a:pt x="0" y="997047"/>
                  <a:pt x="0" y="973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8500" y="3148827"/>
            <a:ext cx="42333" cy="1016000"/>
          </a:xfrm>
          <a:custGeom>
            <a:avLst/>
            <a:gdLst/>
            <a:ahLst/>
            <a:cxnLst/>
            <a:rect l="l" t="t" r="r" b="b"/>
            <a:pathLst>
              <a:path w="42333" h="1016000">
                <a:moveTo>
                  <a:pt x="42333" y="0"/>
                </a:moveTo>
                <a:lnTo>
                  <a:pt x="42333" y="0"/>
                </a:lnTo>
                <a:lnTo>
                  <a:pt x="42333" y="1016000"/>
                </a:lnTo>
                <a:lnTo>
                  <a:pt x="42333" y="1016000"/>
                </a:lnTo>
                <a:cubicBezTo>
                  <a:pt x="18953" y="1016000"/>
                  <a:pt x="0" y="997047"/>
                  <a:pt x="0" y="973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6667" y="3296993"/>
            <a:ext cx="176138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ELT</a:t>
            </a: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(大数据/云数仓)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667" y="3572160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Extract → Load → Transform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6667" y="3826160"/>
            <a:ext cx="69109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先加载再转换,利用目标库的算力进行转换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8500" y="4291827"/>
            <a:ext cx="7112000" cy="529167"/>
          </a:xfrm>
          <a:custGeom>
            <a:avLst/>
            <a:gdLst/>
            <a:ahLst/>
            <a:cxnLst/>
            <a:rect l="l" t="t" r="r" b="b"/>
            <a:pathLst>
              <a:path w="7112000" h="529167">
                <a:moveTo>
                  <a:pt x="42333" y="0"/>
                </a:moveTo>
                <a:lnTo>
                  <a:pt x="7069667" y="0"/>
                </a:lnTo>
                <a:cubicBezTo>
                  <a:pt x="7093047" y="0"/>
                  <a:pt x="7112000" y="18953"/>
                  <a:pt x="7112000" y="42333"/>
                </a:cubicBezTo>
                <a:lnTo>
                  <a:pt x="7112000" y="486833"/>
                </a:lnTo>
                <a:cubicBezTo>
                  <a:pt x="7112000" y="510213"/>
                  <a:pt x="7093047" y="529167"/>
                  <a:pt x="7069667" y="529167"/>
                </a:cubicBez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8500" y="4291827"/>
            <a:ext cx="42333" cy="529167"/>
          </a:xfrm>
          <a:custGeom>
            <a:avLst/>
            <a:gdLst/>
            <a:ahLst/>
            <a:cxnLst/>
            <a:rect l="l" t="t" r="r" b="b"/>
            <a:pathLst>
              <a:path w="42333" h="529167">
                <a:moveTo>
                  <a:pt x="42333" y="0"/>
                </a:moveTo>
                <a:lnTo>
                  <a:pt x="42333" y="0"/>
                </a:lnTo>
                <a:lnTo>
                  <a:pt x="42333" y="529167"/>
                </a:lnTo>
                <a:lnTo>
                  <a:pt x="42333" y="529167"/>
                </a:lnTo>
                <a:cubicBezTo>
                  <a:pt x="18953" y="529167"/>
                  <a:pt x="0" y="510213"/>
                  <a:pt x="0" y="486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6667" y="4418827"/>
            <a:ext cx="69215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趋势: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ELT</a:t>
            </a:r>
            <a:r>
              <a:rPr lang="en-US" sz="1333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更适合大数据场景,利用分布式计算能力,减少数据传输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33833" y="1349660"/>
            <a:ext cx="7598833" cy="3683000"/>
          </a:xfrm>
          <a:custGeom>
            <a:avLst/>
            <a:gdLst/>
            <a:ahLst/>
            <a:cxnLst/>
            <a:rect l="l" t="t" r="r" b="b"/>
            <a:pathLst>
              <a:path w="7598833" h="3683000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3598328"/>
                </a:lnTo>
                <a:cubicBezTo>
                  <a:pt x="7598833" y="3645091"/>
                  <a:pt x="7560924" y="3683000"/>
                  <a:pt x="7514161" y="3683000"/>
                </a:cubicBezTo>
                <a:lnTo>
                  <a:pt x="84672" y="3683000"/>
                </a:lnTo>
                <a:cubicBezTo>
                  <a:pt x="37909" y="3683000"/>
                  <a:pt x="0" y="3645091"/>
                  <a:pt x="0" y="3598328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gradFill flip="none" rotWithShape="1">
            <a:gsLst>
              <a:gs pos="0">
                <a:srgbClr val="F2C55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33833" y="1349660"/>
            <a:ext cx="7598833" cy="42333"/>
          </a:xfrm>
          <a:custGeom>
            <a:avLst/>
            <a:gdLst/>
            <a:ahLst/>
            <a:cxnLst/>
            <a:rect l="l" t="t" r="r" b="b"/>
            <a:pathLst>
              <a:path w="7598833" h="42333">
                <a:moveTo>
                  <a:pt x="42333" y="0"/>
                </a:moveTo>
                <a:lnTo>
                  <a:pt x="7556500" y="0"/>
                </a:lnTo>
                <a:cubicBezTo>
                  <a:pt x="7579880" y="0"/>
                  <a:pt x="7598833" y="18953"/>
                  <a:pt x="7598833" y="42333"/>
                </a:cubicBezTo>
                <a:lnTo>
                  <a:pt x="7598833" y="42333"/>
                </a:lnTo>
                <a:lnTo>
                  <a:pt x="0" y="42333"/>
                </a:ln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45500" y="1624827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763000" y="1582493"/>
            <a:ext cx="69850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数据仓库 vs 数据湖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2048160"/>
            <a:ext cx="7175500" cy="762000"/>
          </a:xfrm>
          <a:custGeom>
            <a:avLst/>
            <a:gdLst/>
            <a:ahLst/>
            <a:cxnLst/>
            <a:rect l="l" t="t" r="r" b="b"/>
            <a:pathLst>
              <a:path w="7175500" h="762000">
                <a:moveTo>
                  <a:pt x="42337" y="0"/>
                </a:moveTo>
                <a:lnTo>
                  <a:pt x="7133163" y="0"/>
                </a:lnTo>
                <a:cubicBezTo>
                  <a:pt x="7156545" y="0"/>
                  <a:pt x="7175500" y="18955"/>
                  <a:pt x="7175500" y="42337"/>
                </a:cubicBezTo>
                <a:lnTo>
                  <a:pt x="7175500" y="719663"/>
                </a:lnTo>
                <a:cubicBezTo>
                  <a:pt x="7175500" y="743045"/>
                  <a:pt x="7156545" y="762000"/>
                  <a:pt x="7133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72500" y="2196327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数据类型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72500" y="2471493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仓库:结构化 | 湖:结构化/半结构化/非结构化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45500" y="2937160"/>
            <a:ext cx="7175500" cy="762000"/>
          </a:xfrm>
          <a:custGeom>
            <a:avLst/>
            <a:gdLst/>
            <a:ahLst/>
            <a:cxnLst/>
            <a:rect l="l" t="t" r="r" b="b"/>
            <a:pathLst>
              <a:path w="7175500" h="762000">
                <a:moveTo>
                  <a:pt x="42337" y="0"/>
                </a:moveTo>
                <a:lnTo>
                  <a:pt x="7133163" y="0"/>
                </a:lnTo>
                <a:cubicBezTo>
                  <a:pt x="7156545" y="0"/>
                  <a:pt x="7175500" y="18955"/>
                  <a:pt x="7175500" y="42337"/>
                </a:cubicBezTo>
                <a:lnTo>
                  <a:pt x="7175500" y="719663"/>
                </a:lnTo>
                <a:cubicBezTo>
                  <a:pt x="7175500" y="743045"/>
                  <a:pt x="7156545" y="762000"/>
                  <a:pt x="7133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72500" y="3085327"/>
            <a:ext cx="117830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策略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72500" y="3360493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仓库: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Schema-on-Write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| 湖:</a:t>
            </a: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Schema-on-Read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445500" y="3826160"/>
            <a:ext cx="7175500" cy="762000"/>
          </a:xfrm>
          <a:custGeom>
            <a:avLst/>
            <a:gdLst/>
            <a:ahLst/>
            <a:cxnLst/>
            <a:rect l="l" t="t" r="r" b="b"/>
            <a:pathLst>
              <a:path w="7175500" h="762000">
                <a:moveTo>
                  <a:pt x="42337" y="0"/>
                </a:moveTo>
                <a:lnTo>
                  <a:pt x="7133163" y="0"/>
                </a:lnTo>
                <a:cubicBezTo>
                  <a:pt x="7156545" y="0"/>
                  <a:pt x="7175500" y="18955"/>
                  <a:pt x="7175500" y="42337"/>
                </a:cubicBezTo>
                <a:lnTo>
                  <a:pt x="7175500" y="719663"/>
                </a:lnTo>
                <a:cubicBezTo>
                  <a:pt x="7175500" y="743045"/>
                  <a:pt x="7156545" y="762000"/>
                  <a:pt x="7133163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72500" y="3974327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用户群体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2500" y="4249493"/>
            <a:ext cx="699558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仓库:业务分析师 | 湖:数据科学家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8625" y="5207285"/>
            <a:ext cx="15398750" cy="3825875"/>
          </a:xfrm>
          <a:custGeom>
            <a:avLst/>
            <a:gdLst/>
            <a:ahLst/>
            <a:cxnLst/>
            <a:rect l="l" t="t" r="r" b="b"/>
            <a:pathLst>
              <a:path w="15398750" h="4508500">
                <a:moveTo>
                  <a:pt x="84670" y="0"/>
                </a:moveTo>
                <a:lnTo>
                  <a:pt x="15314080" y="0"/>
                </a:lnTo>
                <a:cubicBezTo>
                  <a:pt x="15360842" y="0"/>
                  <a:pt x="15398750" y="37908"/>
                  <a:pt x="15398750" y="84670"/>
                </a:cubicBezTo>
                <a:lnTo>
                  <a:pt x="15398750" y="4423830"/>
                </a:lnTo>
                <a:cubicBezTo>
                  <a:pt x="15398750" y="4470592"/>
                  <a:pt x="15360842" y="4508500"/>
                  <a:pt x="15314080" y="4508500"/>
                </a:cubicBezTo>
                <a:lnTo>
                  <a:pt x="84670" y="4508500"/>
                </a:lnTo>
                <a:cubicBezTo>
                  <a:pt x="37908" y="4508500"/>
                  <a:pt x="0" y="4470592"/>
                  <a:pt x="0" y="4423830"/>
                </a:cubicBezTo>
                <a:lnTo>
                  <a:pt x="0" y="84670"/>
                </a:lnTo>
                <a:cubicBezTo>
                  <a:pt x="0" y="37939"/>
                  <a:pt x="37939" y="0"/>
                  <a:pt x="8467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3208" y="546657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79375"/>
                </a:moveTo>
                <a:lnTo>
                  <a:pt x="127000" y="127000"/>
                </a:lnTo>
                <a:lnTo>
                  <a:pt x="190500" y="127000"/>
                </a:lnTo>
                <a:lnTo>
                  <a:pt x="190500" y="79375"/>
                </a:lnTo>
                <a:lnTo>
                  <a:pt x="127000" y="79375"/>
                </a:lnTo>
                <a:close/>
                <a:moveTo>
                  <a:pt x="95250" y="79375"/>
                </a:moveTo>
                <a:lnTo>
                  <a:pt x="31750" y="79375"/>
                </a:lnTo>
                <a:lnTo>
                  <a:pt x="31750" y="127000"/>
                </a:lnTo>
                <a:lnTo>
                  <a:pt x="95250" y="127000"/>
                </a:lnTo>
                <a:lnTo>
                  <a:pt x="95250" y="79375"/>
                </a:lnTo>
                <a:close/>
                <a:moveTo>
                  <a:pt x="0" y="158750"/>
                </a:move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190500" y="15875"/>
                </a:lnTo>
                <a:cubicBezTo>
                  <a:pt x="208012" y="15875"/>
                  <a:pt x="222250" y="30113"/>
                  <a:pt x="222250" y="47625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158750"/>
                </a:lnTo>
                <a:close/>
                <a:moveTo>
                  <a:pt x="190500" y="158750"/>
                </a:moveTo>
                <a:lnTo>
                  <a:pt x="127000" y="158750"/>
                </a:lnTo>
                <a:lnTo>
                  <a:pt x="127000" y="206375"/>
                </a:lnTo>
                <a:lnTo>
                  <a:pt x="190500" y="206375"/>
                </a:lnTo>
                <a:lnTo>
                  <a:pt x="190500" y="158750"/>
                </a:lnTo>
                <a:close/>
                <a:moveTo>
                  <a:pt x="95250" y="206375"/>
                </a:moveTo>
                <a:lnTo>
                  <a:pt x="95250" y="158750"/>
                </a:lnTo>
                <a:lnTo>
                  <a:pt x="31750" y="158750"/>
                </a:lnTo>
                <a:lnTo>
                  <a:pt x="31750" y="206375"/>
                </a:lnTo>
                <a:lnTo>
                  <a:pt x="95250" y="206375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63083" y="5424243"/>
            <a:ext cx="14774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完整对比表:数据仓库 </a:t>
            </a:r>
            <a:r>
              <a:rPr lang="en-US" sz="20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vs</a:t>
            </a:r>
            <a:r>
              <a:rPr lang="en-US" sz="20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 数据湖</a:t>
            </a:r>
            <a:endParaRPr lang="en-US" sz="16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15549"/>
              </p:ext>
            </p:extLst>
          </p:nvPr>
        </p:nvGraphicFramePr>
        <p:xfrm>
          <a:off x="645583" y="5889910"/>
          <a:ext cx="14964834" cy="2979207"/>
        </p:xfrm>
        <a:graphic>
          <a:graphicData uri="http://schemas.openxmlformats.org/drawingml/2006/table">
            <a:tbl>
              <a:tblPr/>
              <a:tblGrid>
                <a:gridCol w="2400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4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601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dirty="0">
                          <a:solidFill>
                            <a:srgbClr val="FFFFFF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特性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8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dirty="0">
                          <a:solidFill>
                            <a:srgbClr val="FFFFFF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数据仓库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8F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u="none" dirty="0">
                          <a:solidFill>
                            <a:srgbClr val="FFFFFF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数据湖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8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01"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数据类型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结构化数据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结构化、半结构化、非结构化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01"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Schema</a:t>
                      </a:r>
                      <a:endParaRPr lang="en-US" sz="1300" b="0" i="0" dirty="0">
                        <a:latin typeface="Calibri" panose="020F0502020204030204" pitchFamily="34" charset="0"/>
                        <a:ea typeface="KaiTi" panose="02010609060101010101" pitchFamily="49" charset="-122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写时模式(</a:t>
                      </a:r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Schema-on-Write</a:t>
                      </a:r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读时模式(</a:t>
                      </a:r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Calibri" panose="020F0502020204030204" pitchFamily="34" charset="0"/>
                          <a:ea typeface="KaiTi" panose="02010609060101010101" pitchFamily="49" charset="-122"/>
                          <a:cs typeface="Calibri" panose="020F0502020204030204" pitchFamily="34" charset="0"/>
                        </a:rPr>
                        <a:t>Schema-on-Read</a:t>
                      </a:r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01"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灵活性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低,需预定义模型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高,敏捷探索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01"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用户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业务分析师(报表)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数据科学家(挖掘/ML)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01"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成本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较高(需建模清洗)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较低(原始存储)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601"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治理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严格(元数据/质量)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8F8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u="none" dirty="0">
                          <a:solidFill>
                            <a:srgbClr val="E1E3E6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微软雅黑" pitchFamily="34" charset="-120"/>
                        </a:rPr>
                        <a:t>需加强(防数据沼泽)</a:t>
                      </a:r>
                      <a:endParaRPr lang="en-US" sz="1300" b="0" i="0" dirty="0">
                        <a:latin typeface="KaiTi" panose="02010609060101010101" pitchFamily="49" charset="-122"/>
                        <a:ea typeface="KaiTi" panose="02010609060101010101" pitchFamily="49" charset="-122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5A6472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08000"/>
            <a:ext cx="1625600" cy="406400"/>
          </a:xfrm>
          <a:custGeom>
            <a:avLst/>
            <a:gdLst/>
            <a:ahLst/>
            <a:cxnLst/>
            <a:rect l="l" t="t" r="r" b="b"/>
            <a:pathLst>
              <a:path w="1625600" h="406400">
                <a:moveTo>
                  <a:pt x="0" y="0"/>
                </a:moveTo>
                <a:lnTo>
                  <a:pt x="1625600" y="0"/>
                </a:lnTo>
                <a:lnTo>
                  <a:pt x="16256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3400" y="508000"/>
            <a:ext cx="50800" cy="406400"/>
          </a:xfrm>
          <a:custGeom>
            <a:avLst/>
            <a:gdLst/>
            <a:ahLst/>
            <a:cxnLst/>
            <a:rect l="l" t="t" r="r" b="b"/>
            <a:pathLst>
              <a:path w="50800" h="406400">
                <a:moveTo>
                  <a:pt x="0" y="0"/>
                </a:moveTo>
                <a:lnTo>
                  <a:pt x="50800" y="0"/>
                </a:lnTo>
                <a:lnTo>
                  <a:pt x="508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1200" y="577850"/>
            <a:ext cx="14029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kern="0" spc="8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ECOSYSTEM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8000" y="1016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大数据技术生态全景图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4350" y="1733550"/>
            <a:ext cx="15227300" cy="4533900"/>
          </a:xfrm>
          <a:custGeom>
            <a:avLst/>
            <a:gdLst/>
            <a:ahLst/>
            <a:cxnLst/>
            <a:rect l="l" t="t" r="r" b="b"/>
            <a:pathLst>
              <a:path w="15227300" h="4533900">
                <a:moveTo>
                  <a:pt x="101605" y="0"/>
                </a:moveTo>
                <a:lnTo>
                  <a:pt x="15125695" y="0"/>
                </a:lnTo>
                <a:cubicBezTo>
                  <a:pt x="15181810" y="0"/>
                  <a:pt x="15227300" y="45490"/>
                  <a:pt x="15227300" y="101605"/>
                </a:cubicBezTo>
                <a:lnTo>
                  <a:pt x="15227300" y="4432295"/>
                </a:lnTo>
                <a:cubicBezTo>
                  <a:pt x="15227300" y="4488410"/>
                  <a:pt x="15181810" y="4533900"/>
                  <a:pt x="15125695" y="4533900"/>
                </a:cubicBezTo>
                <a:lnTo>
                  <a:pt x="101605" y="4533900"/>
                </a:lnTo>
                <a:cubicBezTo>
                  <a:pt x="45490" y="4533900"/>
                  <a:pt x="0" y="4488410"/>
                  <a:pt x="0" y="44322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A6472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2C55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71675" y="2044700"/>
            <a:ext cx="1168400" cy="558800"/>
          </a:xfrm>
          <a:custGeom>
            <a:avLst/>
            <a:gdLst/>
            <a:ahLst/>
            <a:cxnLst/>
            <a:rect l="l" t="t" r="r" b="b"/>
            <a:pathLst>
              <a:path w="1168400" h="558800">
                <a:moveTo>
                  <a:pt x="101601" y="0"/>
                </a:moveTo>
                <a:lnTo>
                  <a:pt x="1066799" y="0"/>
                </a:lnTo>
                <a:cubicBezTo>
                  <a:pt x="1122912" y="0"/>
                  <a:pt x="1168400" y="45488"/>
                  <a:pt x="1168400" y="101601"/>
                </a:cubicBezTo>
                <a:lnTo>
                  <a:pt x="1168400" y="457199"/>
                </a:lnTo>
                <a:cubicBezTo>
                  <a:pt x="1168400" y="513312"/>
                  <a:pt x="1122912" y="558800"/>
                  <a:pt x="10667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08175" y="2044700"/>
            <a:ext cx="12954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5500" y="27559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7900" y="29083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7900" y="33147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分布式文件存储,海量数据底座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" y="38735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7900" y="40259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7900" y="44323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列式数据库,实时随机读写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" y="49911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7900" y="51435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Kafka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7900" y="55499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消息队列,数据流缓冲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86425" y="2044700"/>
            <a:ext cx="1168400" cy="558800"/>
          </a:xfrm>
          <a:custGeom>
            <a:avLst/>
            <a:gdLst/>
            <a:ahLst/>
            <a:cxnLst/>
            <a:rect l="l" t="t" r="r" b="b"/>
            <a:pathLst>
              <a:path w="1168400" h="558800">
                <a:moveTo>
                  <a:pt x="101601" y="0"/>
                </a:moveTo>
                <a:lnTo>
                  <a:pt x="1066799" y="0"/>
                </a:lnTo>
                <a:cubicBezTo>
                  <a:pt x="1122912" y="0"/>
                  <a:pt x="1168400" y="45488"/>
                  <a:pt x="1168400" y="101601"/>
                </a:cubicBezTo>
                <a:lnTo>
                  <a:pt x="1168400" y="457199"/>
                </a:lnTo>
                <a:cubicBezTo>
                  <a:pt x="1168400" y="513312"/>
                  <a:pt x="1122912" y="558800"/>
                  <a:pt x="10667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22925" y="2044700"/>
            <a:ext cx="12954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计算层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40250" y="27559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92650" y="29083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92650" y="33147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离线批处理,海量数据计算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40250" y="38735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92650" y="40259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92650" y="44323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内存计算,批流统一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40250" y="49911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92650" y="51435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Flink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92650" y="55499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原生流处理,毫秒级延迟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7175" y="2044700"/>
            <a:ext cx="1676400" cy="558800"/>
          </a:xfrm>
          <a:custGeom>
            <a:avLst/>
            <a:gdLst/>
            <a:ahLst/>
            <a:cxnLst/>
            <a:rect l="l" t="t" r="r" b="b"/>
            <a:pathLst>
              <a:path w="1676400" h="558800">
                <a:moveTo>
                  <a:pt x="101601" y="0"/>
                </a:moveTo>
                <a:lnTo>
                  <a:pt x="1574799" y="0"/>
                </a:lnTo>
                <a:cubicBezTo>
                  <a:pt x="1630912" y="0"/>
                  <a:pt x="1676400" y="45488"/>
                  <a:pt x="1676400" y="101601"/>
                </a:cubicBezTo>
                <a:lnTo>
                  <a:pt x="1676400" y="457199"/>
                </a:lnTo>
                <a:cubicBezTo>
                  <a:pt x="1676400" y="513312"/>
                  <a:pt x="1630912" y="558800"/>
                  <a:pt x="15747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083675" y="2044700"/>
            <a:ext cx="18034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协调与服务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55000" y="27559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07400" y="29083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07400" y="33147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资源调度,集群管理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55000" y="38735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07400" y="40259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07400" y="44323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分布式协调,选主配置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5000" y="49911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407400" y="51435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07400" y="55499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数据仓库,SQL分析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988925" y="2044700"/>
            <a:ext cx="1422400" cy="558800"/>
          </a:xfrm>
          <a:custGeom>
            <a:avLst/>
            <a:gdLst/>
            <a:ahLst/>
            <a:cxnLst/>
            <a:rect l="l" t="t" r="r" b="b"/>
            <a:pathLst>
              <a:path w="1422400" h="558800">
                <a:moveTo>
                  <a:pt x="101601" y="0"/>
                </a:moveTo>
                <a:lnTo>
                  <a:pt x="1320799" y="0"/>
                </a:lnTo>
                <a:cubicBezTo>
                  <a:pt x="1376912" y="0"/>
                  <a:pt x="1422400" y="45488"/>
                  <a:pt x="1422400" y="101601"/>
                </a:cubicBezTo>
                <a:lnTo>
                  <a:pt x="1422400" y="457199"/>
                </a:lnTo>
                <a:cubicBezTo>
                  <a:pt x="1422400" y="513312"/>
                  <a:pt x="1376912" y="558800"/>
                  <a:pt x="13207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925425" y="2044700"/>
            <a:ext cx="15494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数据采集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969750" y="27559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122150" y="29083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Flume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122150" y="33147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日志采集,可靠传输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969750" y="38735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2122150" y="40259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Sqoop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122150" y="44323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关系型数据库导入导出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969750" y="4991100"/>
            <a:ext cx="3467100" cy="965200"/>
          </a:xfrm>
          <a:custGeom>
            <a:avLst/>
            <a:gdLst/>
            <a:ahLst/>
            <a:cxnLst/>
            <a:rect l="l" t="t" r="r" b="b"/>
            <a:pathLst>
              <a:path w="3467100" h="965200">
                <a:moveTo>
                  <a:pt x="50798" y="0"/>
                </a:moveTo>
                <a:lnTo>
                  <a:pt x="3416302" y="0"/>
                </a:lnTo>
                <a:cubicBezTo>
                  <a:pt x="3444357" y="0"/>
                  <a:pt x="3467100" y="22743"/>
                  <a:pt x="3467100" y="50798"/>
                </a:cubicBezTo>
                <a:lnTo>
                  <a:pt x="3467100" y="914402"/>
                </a:lnTo>
                <a:cubicBezTo>
                  <a:pt x="3467100" y="942457"/>
                  <a:pt x="3444357" y="965200"/>
                  <a:pt x="3416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122150" y="5143500"/>
            <a:ext cx="327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2C55C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Logstash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2122150" y="55499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ELK日志收集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8000" y="6273800"/>
            <a:ext cx="4940300" cy="1854200"/>
          </a:xfrm>
          <a:custGeom>
            <a:avLst/>
            <a:gdLst/>
            <a:ahLst/>
            <a:cxnLst/>
            <a:rect l="l" t="t" r="r" b="b"/>
            <a:pathLst>
              <a:path w="4940300" h="1854200">
                <a:moveTo>
                  <a:pt x="50805" y="0"/>
                </a:moveTo>
                <a:lnTo>
                  <a:pt x="4889495" y="0"/>
                </a:lnTo>
                <a:cubicBezTo>
                  <a:pt x="4917554" y="0"/>
                  <a:pt x="4940300" y="22746"/>
                  <a:pt x="4940300" y="50805"/>
                </a:cubicBezTo>
                <a:lnTo>
                  <a:pt x="4940300" y="1803395"/>
                </a:lnTo>
                <a:cubicBezTo>
                  <a:pt x="4940300" y="1831454"/>
                  <a:pt x="4917554" y="1854200"/>
                  <a:pt x="4889495" y="1854200"/>
                </a:cubicBezTo>
                <a:lnTo>
                  <a:pt x="50805" y="1854200"/>
                </a:lnTo>
                <a:cubicBezTo>
                  <a:pt x="22746" y="1854200"/>
                  <a:pt x="0" y="1831454"/>
                  <a:pt x="0" y="1803395"/>
                </a:cubicBezTo>
                <a:lnTo>
                  <a:pt x="0" y="50805"/>
                </a:lnTo>
                <a:cubicBezTo>
                  <a:pt x="0" y="22765"/>
                  <a:pt x="22765" y="0"/>
                  <a:pt x="5080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28663" y="6540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03300" y="6477000"/>
            <a:ext cx="435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数据流动路径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1200" y="69342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数据采集(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Flume/Sqoop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→ 存储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(HDFS/HBase/Kafka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→ 计算(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MapReduce/Spark/Flink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→ 应用(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Hive/BI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55667" y="6273800"/>
            <a:ext cx="4940300" cy="1854200"/>
          </a:xfrm>
          <a:custGeom>
            <a:avLst/>
            <a:gdLst/>
            <a:ahLst/>
            <a:cxnLst/>
            <a:rect l="l" t="t" r="r" b="b"/>
            <a:pathLst>
              <a:path w="4940300" h="1854200">
                <a:moveTo>
                  <a:pt x="50805" y="0"/>
                </a:moveTo>
                <a:lnTo>
                  <a:pt x="4889495" y="0"/>
                </a:lnTo>
                <a:cubicBezTo>
                  <a:pt x="4917554" y="0"/>
                  <a:pt x="4940300" y="22746"/>
                  <a:pt x="4940300" y="50805"/>
                </a:cubicBezTo>
                <a:lnTo>
                  <a:pt x="4940300" y="1803395"/>
                </a:lnTo>
                <a:cubicBezTo>
                  <a:pt x="4940300" y="1831454"/>
                  <a:pt x="4917554" y="1854200"/>
                  <a:pt x="4889495" y="1854200"/>
                </a:cubicBezTo>
                <a:lnTo>
                  <a:pt x="50805" y="1854200"/>
                </a:lnTo>
                <a:cubicBezTo>
                  <a:pt x="22746" y="1854200"/>
                  <a:pt x="0" y="1831454"/>
                  <a:pt x="0" y="1803395"/>
                </a:cubicBezTo>
                <a:lnTo>
                  <a:pt x="0" y="50805"/>
                </a:lnTo>
                <a:cubicBezTo>
                  <a:pt x="0" y="22765"/>
                  <a:pt x="22765" y="0"/>
                  <a:pt x="5080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862042" y="6540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150967" y="6477000"/>
            <a:ext cx="435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协调机制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858867" y="69342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ZooKeeper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协调各组件: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 HA、HBase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选主、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YARN RM、Kafka Controller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(历史),保证分布式一致性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803434" y="6273800"/>
            <a:ext cx="4940300" cy="1854200"/>
          </a:xfrm>
          <a:custGeom>
            <a:avLst/>
            <a:gdLst/>
            <a:ahLst/>
            <a:cxnLst/>
            <a:rect l="l" t="t" r="r" b="b"/>
            <a:pathLst>
              <a:path w="4940300" h="1854200">
                <a:moveTo>
                  <a:pt x="50805" y="0"/>
                </a:moveTo>
                <a:lnTo>
                  <a:pt x="4889495" y="0"/>
                </a:lnTo>
                <a:cubicBezTo>
                  <a:pt x="4917554" y="0"/>
                  <a:pt x="4940300" y="22746"/>
                  <a:pt x="4940300" y="50805"/>
                </a:cubicBezTo>
                <a:lnTo>
                  <a:pt x="4940300" y="1803395"/>
                </a:lnTo>
                <a:cubicBezTo>
                  <a:pt x="4940300" y="1831454"/>
                  <a:pt x="4917554" y="1854200"/>
                  <a:pt x="4889495" y="1854200"/>
                </a:cubicBezTo>
                <a:lnTo>
                  <a:pt x="50805" y="1854200"/>
                </a:lnTo>
                <a:cubicBezTo>
                  <a:pt x="22746" y="1854200"/>
                  <a:pt x="0" y="1831454"/>
                  <a:pt x="0" y="1803395"/>
                </a:cubicBezTo>
                <a:lnTo>
                  <a:pt x="0" y="50805"/>
                </a:lnTo>
                <a:cubicBezTo>
                  <a:pt x="0" y="22765"/>
                  <a:pt x="22765" y="0"/>
                  <a:pt x="5080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1038384" y="6540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1298734" y="6477000"/>
            <a:ext cx="435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006634" y="6934200"/>
            <a:ext cx="4635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存储层(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HDFS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+ 计算层(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Spark/Flink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+ 服务层(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HBase/Kafka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 + 应用层(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Hive</a:t>
            </a:r>
            <a:r>
              <a:rPr lang="en-US" sz="16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),各层解耦又协同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508000" y="1193800"/>
            <a:ext cx="1562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复习建议与答题技巧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2451100"/>
            <a:ext cx="2032000" cy="0"/>
          </a:xfrm>
          <a:custGeom>
            <a:avLst/>
            <a:gdLst/>
            <a:ahLst/>
            <a:cxnLst/>
            <a:rect l="l" t="t" r="r" b="b"/>
            <a:pathLst>
              <a:path w="2032000">
                <a:moveTo>
                  <a:pt x="0" y="0"/>
                </a:moveTo>
                <a:lnTo>
                  <a:pt x="2032000" y="0"/>
                </a:lnTo>
                <a:lnTo>
                  <a:pt x="20320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4350" y="2863850"/>
            <a:ext cx="7454900" cy="1879600"/>
          </a:xfrm>
          <a:custGeom>
            <a:avLst/>
            <a:gdLst/>
            <a:ahLst/>
            <a:cxnLst/>
            <a:rect l="l" t="t" r="r" b="b"/>
            <a:pathLst>
              <a:path w="7454900" h="1879600">
                <a:moveTo>
                  <a:pt x="101592" y="0"/>
                </a:moveTo>
                <a:lnTo>
                  <a:pt x="7353308" y="0"/>
                </a:lnTo>
                <a:cubicBezTo>
                  <a:pt x="7409416" y="0"/>
                  <a:pt x="7454900" y="45484"/>
                  <a:pt x="7454900" y="101592"/>
                </a:cubicBezTo>
                <a:lnTo>
                  <a:pt x="7454900" y="1778008"/>
                </a:lnTo>
                <a:cubicBezTo>
                  <a:pt x="7454900" y="1834116"/>
                  <a:pt x="7409416" y="1879600"/>
                  <a:pt x="73533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82650" y="317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00200" y="3175000"/>
            <a:ext cx="621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系统复习,理解本质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00200" y="3683000"/>
            <a:ext cx="6172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不要死记硬背,要理解每个组件的定位、设计思想和适用场景。建立知识体系,把握核心原理。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86750" y="2863850"/>
            <a:ext cx="7454900" cy="1879600"/>
          </a:xfrm>
          <a:custGeom>
            <a:avLst/>
            <a:gdLst/>
            <a:ahLst/>
            <a:cxnLst/>
            <a:rect l="l" t="t" r="r" b="b"/>
            <a:pathLst>
              <a:path w="7454900" h="1879600">
                <a:moveTo>
                  <a:pt x="101592" y="0"/>
                </a:moveTo>
                <a:lnTo>
                  <a:pt x="7353308" y="0"/>
                </a:lnTo>
                <a:cubicBezTo>
                  <a:pt x="7409416" y="0"/>
                  <a:pt x="7454900" y="45484"/>
                  <a:pt x="7454900" y="101592"/>
                </a:cubicBezTo>
                <a:lnTo>
                  <a:pt x="7454900" y="1778008"/>
                </a:lnTo>
                <a:cubicBezTo>
                  <a:pt x="7454900" y="1834116"/>
                  <a:pt x="7409416" y="1879600"/>
                  <a:pt x="73533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655050" y="317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372600" y="3175000"/>
            <a:ext cx="621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建立框架,分层作答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372600" y="3683000"/>
            <a:ext cx="6172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使用"定位→核心抽象→典型能力→生态依赖"等框架组织答案,逻辑清晰,覆盖全面。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4350" y="5054600"/>
            <a:ext cx="7454900" cy="1879600"/>
          </a:xfrm>
          <a:custGeom>
            <a:avLst/>
            <a:gdLst/>
            <a:ahLst/>
            <a:cxnLst/>
            <a:rect l="l" t="t" r="r" b="b"/>
            <a:pathLst>
              <a:path w="7454900" h="1879600">
                <a:moveTo>
                  <a:pt x="101592" y="0"/>
                </a:moveTo>
                <a:lnTo>
                  <a:pt x="7353308" y="0"/>
                </a:lnTo>
                <a:cubicBezTo>
                  <a:pt x="7409416" y="0"/>
                  <a:pt x="7454900" y="45484"/>
                  <a:pt x="7454900" y="101592"/>
                </a:cubicBezTo>
                <a:lnTo>
                  <a:pt x="7454900" y="1778008"/>
                </a:lnTo>
                <a:cubicBezTo>
                  <a:pt x="7454900" y="1834116"/>
                  <a:pt x="7409416" y="1879600"/>
                  <a:pt x="73533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82650" y="5365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600200" y="5365750"/>
            <a:ext cx="621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辨析概念,避免陷阱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00200" y="5873750"/>
            <a:ext cx="6172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注意区分相似概念(如</a:t>
            </a: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Federation</a:t>
            </a: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vs HA、RDD vs DataFrame</a:t>
            </a: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),识别题干中的干扰项。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286750" y="5054600"/>
            <a:ext cx="7454900" cy="1879600"/>
          </a:xfrm>
          <a:custGeom>
            <a:avLst/>
            <a:gdLst/>
            <a:ahLst/>
            <a:cxnLst/>
            <a:rect l="l" t="t" r="r" b="b"/>
            <a:pathLst>
              <a:path w="7454900" h="1879600">
                <a:moveTo>
                  <a:pt x="101592" y="0"/>
                </a:moveTo>
                <a:lnTo>
                  <a:pt x="7353308" y="0"/>
                </a:lnTo>
                <a:cubicBezTo>
                  <a:pt x="7409416" y="0"/>
                  <a:pt x="7454900" y="45484"/>
                  <a:pt x="7454900" y="101592"/>
                </a:cubicBezTo>
                <a:lnTo>
                  <a:pt x="7454900" y="1778008"/>
                </a:lnTo>
                <a:cubicBezTo>
                  <a:pt x="7454900" y="1834116"/>
                  <a:pt x="7409416" y="1879600"/>
                  <a:pt x="73533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712200" y="536575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2C55C"/>
          </a:soli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372600" y="5365750"/>
            <a:ext cx="621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2C55C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思考题要举一反三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372600" y="5873750"/>
            <a:ext cx="6172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1E3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通过思考题深入理解知识点,尝试用自己的话解释概念,培养工程思维。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15559" y="7340600"/>
            <a:ext cx="3822700" cy="965200"/>
          </a:xfrm>
          <a:custGeom>
            <a:avLst/>
            <a:gdLst/>
            <a:ahLst/>
            <a:cxnLst/>
            <a:rect l="l" t="t" r="r" b="b"/>
            <a:pathLst>
              <a:path w="3822700" h="965200">
                <a:moveTo>
                  <a:pt x="101597" y="0"/>
                </a:moveTo>
                <a:lnTo>
                  <a:pt x="3721103" y="0"/>
                </a:lnTo>
                <a:cubicBezTo>
                  <a:pt x="3777213" y="0"/>
                  <a:pt x="3822700" y="45487"/>
                  <a:pt x="3822700" y="101597"/>
                </a:cubicBezTo>
                <a:lnTo>
                  <a:pt x="3822700" y="863603"/>
                </a:lnTo>
                <a:cubicBezTo>
                  <a:pt x="3822700" y="919713"/>
                  <a:pt x="3777213" y="965200"/>
                  <a:pt x="37211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D8F8A"/>
              </a:gs>
              <a:gs pos="100000">
                <a:srgbClr val="5A6472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628309" y="7594600"/>
            <a:ext cx="299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E1E3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祝各位考试顺利!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44500" y="8509000"/>
            <a:ext cx="153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1E3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《大数据理论与实践Ⅰ》章节复习提纲 · 完整版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5250</Words>
  <Application>Microsoft Macintosh PowerPoint</Application>
  <PresentationFormat>自定义</PresentationFormat>
  <Paragraphs>1116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5" baseType="lpstr">
      <vt:lpstr>Arial</vt:lpstr>
      <vt:lpstr>KaiTi</vt:lpstr>
      <vt:lpstr>Calibri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2024年大数据理论与实践Ⅰ - 章节复习提纲</dc:title>
  <dc:subject>2024年大数据理论与实践Ⅰ - 章节复习提纲</dc:subject>
  <dc:creator>Kimi</dc:creator>
  <cp:lastModifiedBy>王 天青</cp:lastModifiedBy>
  <cp:revision>63</cp:revision>
  <dcterms:created xsi:type="dcterms:W3CDTF">2025-12-22T09:59:19Z</dcterms:created>
  <dcterms:modified xsi:type="dcterms:W3CDTF">2025-12-22T14:22:55Z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{"Label":"2024年大数据理论与实践Ⅰ - 章节复习提纲","ContentProducer":"001191110108MACG2KBH8F10000","ProduceID":"19b455ef-27a2-8bab-8000-0000d5b1c659","ReservedCode1":"","ContentPropagator":"001191110108MACG2KBH8F20000","PropagateID":"19b455ef-27a2-8bab-8000-0000d5b1c659","ReservedCode2":""}</vt:lpwstr>
  </property>
</Properties>
</file>