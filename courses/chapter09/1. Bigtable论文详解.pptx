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5" r:id="rId32"/>
    <p:sldId id="286" r:id="rId33"/>
  </p:sldIdLst>
  <p:sldSz cx="16256000" cy="9144000"/>
  <p:notesSz cx="9144000" cy="16256000"/>
  <p:embeddedFontLst>
    <p:embeddedFont>
      <p:font typeface="得意黑" pitchFamily="2" charset="-122"/>
      <p:regular r:id="rId35"/>
      <p:italic r:id="rId36"/>
    </p:embeddedFont>
    <p:embeddedFont>
      <p:font typeface="MiSans" pitchFamily="2" charset="-122"/>
      <p:regular r:id="rId37"/>
    </p:embeddedFont>
    <p:embeddedFont>
      <p:font typeface="微软雅黑" panose="020B0503020204020204" pitchFamily="34" charset="-122"/>
      <p:regular r:id="rId38"/>
      <p:bold r:id="rId39"/>
    </p:embeddedFont>
    <p:embeddedFont>
      <p:font typeface="Liter" panose="02000503030000020004" pitchFamily="2" charset="0"/>
      <p:regular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0" d="100"/>
          <a:sy n="80" d="100"/>
        </p:scale>
        <p:origin x="9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5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fbd1d25390147c1ac427eee59b495b65742d8b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1255" b="3125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920750"/>
            <a:ext cx="1511300" cy="520700"/>
          </a:xfrm>
          <a:custGeom>
            <a:avLst/>
            <a:gdLst/>
            <a:ahLst/>
            <a:cxnLst/>
            <a:rect l="l" t="t" r="r" b="b"/>
            <a:pathLst>
              <a:path w="1511300" h="520700">
                <a:moveTo>
                  <a:pt x="101599" y="0"/>
                </a:moveTo>
                <a:lnTo>
                  <a:pt x="1409701" y="0"/>
                </a:lnTo>
                <a:cubicBezTo>
                  <a:pt x="1465813" y="0"/>
                  <a:pt x="1511300" y="45487"/>
                  <a:pt x="1511300" y="101599"/>
                </a:cubicBezTo>
                <a:lnTo>
                  <a:pt x="1511300" y="419101"/>
                </a:lnTo>
                <a:cubicBezTo>
                  <a:pt x="1511300" y="475213"/>
                  <a:pt x="1465813" y="520700"/>
                  <a:pt x="14097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028700"/>
            <a:ext cx="119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OSDI 2006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138400" y="91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5392400" y="91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5646400" y="91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3956050"/>
            <a:ext cx="1183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5403850"/>
            <a:ext cx="116078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分布式结构化数据存储系统深度解析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000" y="6553200"/>
            <a:ext cx="1153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Google经典论文技术详解与架构实现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759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01675" y="7772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270000" y="75692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70000" y="7874000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PB级数据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857798" y="759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035598" y="7772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619798" y="75692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19798" y="78740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百万级写入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70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D1C5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3400" y="1727200"/>
            <a:ext cx="7493000" cy="4775200"/>
          </a:xfrm>
          <a:custGeom>
            <a:avLst/>
            <a:gdLst/>
            <a:ahLst/>
            <a:cxnLst/>
            <a:rect l="l" t="t" r="r" b="b"/>
            <a:pathLst>
              <a:path w="7493000" h="4775200">
                <a:moveTo>
                  <a:pt x="50800" y="0"/>
                </a:moveTo>
                <a:lnTo>
                  <a:pt x="7340623" y="0"/>
                </a:lnTo>
                <a:cubicBezTo>
                  <a:pt x="7424779" y="0"/>
                  <a:pt x="7493000" y="68221"/>
                  <a:pt x="7493000" y="152377"/>
                </a:cubicBezTo>
                <a:lnTo>
                  <a:pt x="7493000" y="4622823"/>
                </a:lnTo>
                <a:cubicBezTo>
                  <a:pt x="7493000" y="4706979"/>
                  <a:pt x="7424779" y="4775200"/>
                  <a:pt x="7340623" y="4775200"/>
                </a:cubicBezTo>
                <a:lnTo>
                  <a:pt x="50800" y="4775200"/>
                </a:lnTo>
                <a:cubicBezTo>
                  <a:pt x="22744" y="4775200"/>
                  <a:pt x="0" y="4752456"/>
                  <a:pt x="0" y="472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27200"/>
            <a:ext cx="50800" cy="4775200"/>
          </a:xfrm>
          <a:custGeom>
            <a:avLst/>
            <a:gdLst/>
            <a:ahLst/>
            <a:cxnLst/>
            <a:rect l="l" t="t" r="r" b="b"/>
            <a:pathLst>
              <a:path w="50800" h="4775200">
                <a:moveTo>
                  <a:pt x="50800" y="0"/>
                </a:moveTo>
                <a:lnTo>
                  <a:pt x="50800" y="0"/>
                </a:lnTo>
                <a:lnTo>
                  <a:pt x="50800" y="4775200"/>
                </a:lnTo>
                <a:lnTo>
                  <a:pt x="50800" y="4775200"/>
                </a:lnTo>
                <a:cubicBezTo>
                  <a:pt x="22763" y="4775200"/>
                  <a:pt x="0" y="4752437"/>
                  <a:pt x="0" y="472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3600" y="203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2257" y="22098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" y="3048000"/>
            <a:ext cx="701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引言与论文背景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606800"/>
            <a:ext cx="695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Bigtable论文的核心价值、历史背景和技术定位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" y="5981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87450" y="5943600"/>
            <a:ext cx="72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3页内容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727200"/>
            <a:ext cx="3632200" cy="2286000"/>
          </a:xfrm>
          <a:custGeom>
            <a:avLst/>
            <a:gdLst/>
            <a:ahLst/>
            <a:cxnLst/>
            <a:rect l="l" t="t" r="r" b="b"/>
            <a:pathLst>
              <a:path w="3632200" h="2286000">
                <a:moveTo>
                  <a:pt x="50800" y="0"/>
                </a:moveTo>
                <a:lnTo>
                  <a:pt x="3479792" y="0"/>
                </a:lnTo>
                <a:cubicBezTo>
                  <a:pt x="3563965" y="0"/>
                  <a:pt x="3632200" y="68235"/>
                  <a:pt x="3632200" y="152408"/>
                </a:cubicBezTo>
                <a:lnTo>
                  <a:pt x="3632200" y="2133592"/>
                </a:lnTo>
                <a:cubicBezTo>
                  <a:pt x="3632200" y="2217765"/>
                  <a:pt x="3563965" y="2286000"/>
                  <a:pt x="3479792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55000" y="17272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34400" y="1981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8374" y="20066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Bigtable核心定位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4400" y="25400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分布式KV存储系统的本质特征与技术边界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4400" y="350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15800" y="1727200"/>
            <a:ext cx="3632200" cy="2286000"/>
          </a:xfrm>
          <a:custGeom>
            <a:avLst/>
            <a:gdLst/>
            <a:ahLst/>
            <a:cxnLst/>
            <a:rect l="l" t="t" r="r" b="b"/>
            <a:pathLst>
              <a:path w="3632200" h="2286000">
                <a:moveTo>
                  <a:pt x="50800" y="0"/>
                </a:moveTo>
                <a:lnTo>
                  <a:pt x="3479792" y="0"/>
                </a:lnTo>
                <a:cubicBezTo>
                  <a:pt x="3563965" y="0"/>
                  <a:pt x="3632200" y="68235"/>
                  <a:pt x="3632200" y="152408"/>
                </a:cubicBezTo>
                <a:lnTo>
                  <a:pt x="3632200" y="2133592"/>
                </a:lnTo>
                <a:cubicBezTo>
                  <a:pt x="3632200" y="2217765"/>
                  <a:pt x="3563965" y="2286000"/>
                  <a:pt x="3479792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2115800" y="17272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395200" y="1981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21952" y="2006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数据模型详解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95200" y="25400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四维数据模型:行键、列族、列限定符、时间戳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95200" y="350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55000" y="4216400"/>
            <a:ext cx="3632200" cy="2286000"/>
          </a:xfrm>
          <a:custGeom>
            <a:avLst/>
            <a:gdLst/>
            <a:ahLst/>
            <a:cxnLst/>
            <a:rect l="l" t="t" r="r" b="b"/>
            <a:pathLst>
              <a:path w="3632200" h="2286000">
                <a:moveTo>
                  <a:pt x="50800" y="0"/>
                </a:moveTo>
                <a:lnTo>
                  <a:pt x="3479792" y="0"/>
                </a:lnTo>
                <a:cubicBezTo>
                  <a:pt x="3563965" y="0"/>
                  <a:pt x="3632200" y="68235"/>
                  <a:pt x="3632200" y="152408"/>
                </a:cubicBezTo>
                <a:lnTo>
                  <a:pt x="3632200" y="2133592"/>
                </a:lnTo>
                <a:cubicBezTo>
                  <a:pt x="3632200" y="2217765"/>
                  <a:pt x="3563965" y="2286000"/>
                  <a:pt x="3479792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55000" y="42164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34400" y="4470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0855" y="44958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4400" y="50292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分层架构与核心组件的职责分工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34400" y="59944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115800" y="4216400"/>
            <a:ext cx="3632200" cy="2286000"/>
          </a:xfrm>
          <a:custGeom>
            <a:avLst/>
            <a:gdLst/>
            <a:ahLst/>
            <a:cxnLst/>
            <a:rect l="l" t="t" r="r" b="b"/>
            <a:pathLst>
              <a:path w="3632200" h="2286000">
                <a:moveTo>
                  <a:pt x="50800" y="0"/>
                </a:moveTo>
                <a:lnTo>
                  <a:pt x="3479792" y="0"/>
                </a:lnTo>
                <a:cubicBezTo>
                  <a:pt x="3563965" y="0"/>
                  <a:pt x="3632200" y="68235"/>
                  <a:pt x="3632200" y="152408"/>
                </a:cubicBezTo>
                <a:lnTo>
                  <a:pt x="3632200" y="2133592"/>
                </a:lnTo>
                <a:cubicBezTo>
                  <a:pt x="3632200" y="2217765"/>
                  <a:pt x="3563965" y="2286000"/>
                  <a:pt x="3479792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2115800" y="42164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395200" y="4470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17686" y="4495800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Tablet分布式架构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95200" y="50292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数据分片、负载均衡与故障恢复机制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395200" y="59944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2页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6705600"/>
            <a:ext cx="3632200" cy="1930400"/>
          </a:xfrm>
          <a:custGeom>
            <a:avLst/>
            <a:gdLst/>
            <a:ahLst/>
            <a:cxnLst/>
            <a:rect l="l" t="t" r="r" b="b"/>
            <a:pathLst>
              <a:path w="3632200" h="1930400">
                <a:moveTo>
                  <a:pt x="50800" y="0"/>
                </a:moveTo>
                <a:lnTo>
                  <a:pt x="3479795" y="0"/>
                </a:lnTo>
                <a:cubicBezTo>
                  <a:pt x="3563966" y="0"/>
                  <a:pt x="3632200" y="68234"/>
                  <a:pt x="3632200" y="152405"/>
                </a:cubicBezTo>
                <a:lnTo>
                  <a:pt x="3632200" y="1777995"/>
                </a:lnTo>
                <a:cubicBezTo>
                  <a:pt x="3632200" y="1862166"/>
                  <a:pt x="3563966" y="1930400"/>
                  <a:pt x="3479795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33400" y="67056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12800" y="69596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41934" y="69850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存储引擎与LSM树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2800" y="75184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高吞吐写入的核心技术与读写路径优化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2800" y="812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94200" y="6705600"/>
            <a:ext cx="3632200" cy="1930400"/>
          </a:xfrm>
          <a:custGeom>
            <a:avLst/>
            <a:gdLst/>
            <a:ahLst/>
            <a:cxnLst/>
            <a:rect l="l" t="t" r="r" b="b"/>
            <a:pathLst>
              <a:path w="3632200" h="1930400">
                <a:moveTo>
                  <a:pt x="50800" y="0"/>
                </a:moveTo>
                <a:lnTo>
                  <a:pt x="3479795" y="0"/>
                </a:lnTo>
                <a:cubicBezTo>
                  <a:pt x="3563966" y="0"/>
                  <a:pt x="3632200" y="68234"/>
                  <a:pt x="3632200" y="152405"/>
                </a:cubicBezTo>
                <a:lnTo>
                  <a:pt x="3632200" y="1777995"/>
                </a:lnTo>
                <a:cubicBezTo>
                  <a:pt x="3632200" y="1862166"/>
                  <a:pt x="3563966" y="1930400"/>
                  <a:pt x="3479795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394200" y="67056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673600" y="6959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76540" y="69850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完整案例实现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673600" y="75184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从理论到实践的生产级实现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673600" y="812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5000" y="6705600"/>
            <a:ext cx="3632200" cy="1930400"/>
          </a:xfrm>
          <a:custGeom>
            <a:avLst/>
            <a:gdLst/>
            <a:ahLst/>
            <a:cxnLst/>
            <a:rect l="l" t="t" r="r" b="b"/>
            <a:pathLst>
              <a:path w="3632200" h="1930400">
                <a:moveTo>
                  <a:pt x="50800" y="0"/>
                </a:moveTo>
                <a:lnTo>
                  <a:pt x="3479795" y="0"/>
                </a:lnTo>
                <a:cubicBezTo>
                  <a:pt x="3563966" y="0"/>
                  <a:pt x="3632200" y="68234"/>
                  <a:pt x="3632200" y="152405"/>
                </a:cubicBezTo>
                <a:lnTo>
                  <a:pt x="3632200" y="1777995"/>
                </a:lnTo>
                <a:cubicBezTo>
                  <a:pt x="3632200" y="1862166"/>
                  <a:pt x="3563966" y="1930400"/>
                  <a:pt x="3479795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255000" y="67056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34400" y="69596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68495" y="6985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34400" y="75184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Bigtable的技术贡献、设计哲学与未来启示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34400" y="812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sishijie.com/b47c3842f05c83c7d9f0cf6f09dcf713e5507e9d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2724" r="1272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87455" y="2768600"/>
            <a:ext cx="2679700" cy="723900"/>
          </a:xfrm>
          <a:custGeom>
            <a:avLst/>
            <a:gdLst/>
            <a:ahLst/>
            <a:cxnLst/>
            <a:rect l="l" t="t" r="r" b="b"/>
            <a:pathLst>
              <a:path w="2679700" h="723900">
                <a:moveTo>
                  <a:pt x="152403" y="0"/>
                </a:moveTo>
                <a:lnTo>
                  <a:pt x="2527297" y="0"/>
                </a:lnTo>
                <a:cubicBezTo>
                  <a:pt x="2611467" y="0"/>
                  <a:pt x="2679700" y="68233"/>
                  <a:pt x="2679700" y="152403"/>
                </a:cubicBezTo>
                <a:lnTo>
                  <a:pt x="2679700" y="571497"/>
                </a:lnTo>
                <a:cubicBezTo>
                  <a:pt x="2679700" y="655667"/>
                  <a:pt x="2611467" y="723900"/>
                  <a:pt x="25272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022405" y="2927350"/>
            <a:ext cx="220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9060" y="3905250"/>
            <a:ext cx="5575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引言与论文背景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84440" y="5124450"/>
            <a:ext cx="648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Bigtable论文的核心价值、历史背景和技术定位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03" y="529433"/>
            <a:ext cx="48130" cy="385042"/>
          </a:xfrm>
          <a:custGeom>
            <a:avLst/>
            <a:gdLst/>
            <a:ahLst/>
            <a:cxnLst/>
            <a:rect l="l" t="t" r="r" b="b"/>
            <a:pathLst>
              <a:path w="48130" h="385042">
                <a:moveTo>
                  <a:pt x="0" y="0"/>
                </a:moveTo>
                <a:lnTo>
                  <a:pt x="48130" y="0"/>
                </a:lnTo>
                <a:lnTo>
                  <a:pt x="48130" y="385042"/>
                </a:lnTo>
                <a:lnTo>
                  <a:pt x="0" y="385042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824" y="481303"/>
            <a:ext cx="4030910" cy="48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论文基本信息与历史意义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5368" y="1395778"/>
            <a:ext cx="5077744" cy="5149939"/>
          </a:xfrm>
          <a:custGeom>
            <a:avLst/>
            <a:gdLst/>
            <a:ahLst/>
            <a:cxnLst/>
            <a:rect l="l" t="t" r="r" b="b"/>
            <a:pathLst>
              <a:path w="5077744" h="5149939">
                <a:moveTo>
                  <a:pt x="48130" y="0"/>
                </a:moveTo>
                <a:lnTo>
                  <a:pt x="4933333" y="0"/>
                </a:lnTo>
                <a:cubicBezTo>
                  <a:pt x="5013035" y="0"/>
                  <a:pt x="5077744" y="64708"/>
                  <a:pt x="5077744" y="144411"/>
                </a:cubicBezTo>
                <a:lnTo>
                  <a:pt x="5077744" y="5005528"/>
                </a:lnTo>
                <a:cubicBezTo>
                  <a:pt x="5077744" y="5085284"/>
                  <a:pt x="5013089" y="5149939"/>
                  <a:pt x="4933333" y="5149939"/>
                </a:cubicBezTo>
                <a:lnTo>
                  <a:pt x="48130" y="5149939"/>
                </a:lnTo>
                <a:cubicBezTo>
                  <a:pt x="21549" y="5149939"/>
                  <a:pt x="0" y="5128391"/>
                  <a:pt x="0" y="5101809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5368" y="1395778"/>
            <a:ext cx="48130" cy="5149939"/>
          </a:xfrm>
          <a:custGeom>
            <a:avLst/>
            <a:gdLst/>
            <a:ahLst/>
            <a:cxnLst/>
            <a:rect l="l" t="t" r="r" b="b"/>
            <a:pathLst>
              <a:path w="48130" h="5149939">
                <a:moveTo>
                  <a:pt x="48130" y="0"/>
                </a:moveTo>
                <a:lnTo>
                  <a:pt x="48130" y="0"/>
                </a:lnTo>
                <a:lnTo>
                  <a:pt x="48130" y="5149939"/>
                </a:lnTo>
                <a:lnTo>
                  <a:pt x="48130" y="5149939"/>
                </a:lnTo>
                <a:cubicBezTo>
                  <a:pt x="21549" y="5149939"/>
                  <a:pt x="0" y="5128391"/>
                  <a:pt x="0" y="5101809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90410" y="1708625"/>
            <a:ext cx="216586" cy="288782"/>
          </a:xfrm>
          <a:custGeom>
            <a:avLst/>
            <a:gdLst/>
            <a:ahLst/>
            <a:cxnLst/>
            <a:rect l="l" t="t" r="r" b="b"/>
            <a:pathLst>
              <a:path w="216586" h="288782">
                <a:moveTo>
                  <a:pt x="0" y="36098"/>
                </a:moveTo>
                <a:cubicBezTo>
                  <a:pt x="0" y="16188"/>
                  <a:pt x="16188" y="0"/>
                  <a:pt x="36098" y="0"/>
                </a:cubicBezTo>
                <a:lnTo>
                  <a:pt x="120420" y="0"/>
                </a:lnTo>
                <a:cubicBezTo>
                  <a:pt x="130008" y="0"/>
                  <a:pt x="139202" y="3779"/>
                  <a:pt x="145970" y="10547"/>
                </a:cubicBezTo>
                <a:lnTo>
                  <a:pt x="206039" y="70673"/>
                </a:lnTo>
                <a:cubicBezTo>
                  <a:pt x="212807" y="77441"/>
                  <a:pt x="216586" y="86634"/>
                  <a:pt x="216586" y="96223"/>
                </a:cubicBezTo>
                <a:lnTo>
                  <a:pt x="216586" y="252684"/>
                </a:lnTo>
                <a:cubicBezTo>
                  <a:pt x="216586" y="272594"/>
                  <a:pt x="200399" y="288782"/>
                  <a:pt x="180489" y="288782"/>
                </a:cubicBezTo>
                <a:lnTo>
                  <a:pt x="36098" y="288782"/>
                </a:lnTo>
                <a:cubicBezTo>
                  <a:pt x="16188" y="288782"/>
                  <a:pt x="0" y="272594"/>
                  <a:pt x="0" y="252684"/>
                </a:cubicBezTo>
                <a:lnTo>
                  <a:pt x="0" y="36098"/>
                </a:lnTo>
                <a:close/>
                <a:moveTo>
                  <a:pt x="117318" y="32996"/>
                </a:moveTo>
                <a:lnTo>
                  <a:pt x="117318" y="85732"/>
                </a:lnTo>
                <a:cubicBezTo>
                  <a:pt x="117318" y="93234"/>
                  <a:pt x="123353" y="99269"/>
                  <a:pt x="130854" y="99269"/>
                </a:cubicBezTo>
                <a:lnTo>
                  <a:pt x="183591" y="99269"/>
                </a:lnTo>
                <a:lnTo>
                  <a:pt x="117318" y="32996"/>
                </a:lnTo>
                <a:close/>
                <a:moveTo>
                  <a:pt x="67683" y="144391"/>
                </a:moveTo>
                <a:cubicBezTo>
                  <a:pt x="60182" y="144391"/>
                  <a:pt x="54147" y="150426"/>
                  <a:pt x="54147" y="157927"/>
                </a:cubicBezTo>
                <a:cubicBezTo>
                  <a:pt x="54147" y="165429"/>
                  <a:pt x="60182" y="171464"/>
                  <a:pt x="67683" y="171464"/>
                </a:cubicBezTo>
                <a:lnTo>
                  <a:pt x="148903" y="171464"/>
                </a:lnTo>
                <a:cubicBezTo>
                  <a:pt x="156405" y="171464"/>
                  <a:pt x="162440" y="165429"/>
                  <a:pt x="162440" y="157927"/>
                </a:cubicBezTo>
                <a:cubicBezTo>
                  <a:pt x="162440" y="150426"/>
                  <a:pt x="156405" y="144391"/>
                  <a:pt x="148903" y="144391"/>
                </a:cubicBezTo>
                <a:lnTo>
                  <a:pt x="67683" y="144391"/>
                </a:lnTo>
                <a:close/>
                <a:moveTo>
                  <a:pt x="67683" y="198537"/>
                </a:moveTo>
                <a:cubicBezTo>
                  <a:pt x="60182" y="198537"/>
                  <a:pt x="54147" y="204572"/>
                  <a:pt x="54147" y="212074"/>
                </a:cubicBezTo>
                <a:cubicBezTo>
                  <a:pt x="54147" y="219576"/>
                  <a:pt x="60182" y="225611"/>
                  <a:pt x="67683" y="225611"/>
                </a:cubicBezTo>
                <a:lnTo>
                  <a:pt x="148903" y="225611"/>
                </a:lnTo>
                <a:cubicBezTo>
                  <a:pt x="156405" y="225611"/>
                  <a:pt x="162440" y="219576"/>
                  <a:pt x="162440" y="212074"/>
                </a:cubicBezTo>
                <a:cubicBezTo>
                  <a:pt x="162440" y="204572"/>
                  <a:pt x="156405" y="198537"/>
                  <a:pt x="148903" y="198537"/>
                </a:cubicBezTo>
                <a:lnTo>
                  <a:pt x="67683" y="19853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23583" y="1684560"/>
            <a:ext cx="890410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论文信息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8215" y="2213993"/>
            <a:ext cx="4560343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论文标题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8215" y="2502774"/>
            <a:ext cx="4572376" cy="57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Bigtable: A Distributed Storage System for Structured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215" y="3224728"/>
            <a:ext cx="4560343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发表会议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215" y="3513510"/>
            <a:ext cx="4572376" cy="57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第七届OSDI (Operating Systems Design and Implementation)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15" y="4235464"/>
            <a:ext cx="4560343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发表时间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215" y="4524246"/>
            <a:ext cx="457237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2006年11月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15" y="4957418"/>
            <a:ext cx="4560343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作者团队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215" y="5246200"/>
            <a:ext cx="457237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Fay Chang, Jeffrey Dean等Google核心工程师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215" y="5679372"/>
            <a:ext cx="4560343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论文地位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215" y="5968154"/>
            <a:ext cx="457237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分布式系统领域经典之作,被引用数千次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5368" y="6738238"/>
            <a:ext cx="5077744" cy="2406514"/>
          </a:xfrm>
          <a:custGeom>
            <a:avLst/>
            <a:gdLst/>
            <a:ahLst/>
            <a:cxnLst/>
            <a:rect l="l" t="t" r="r" b="b"/>
            <a:pathLst>
              <a:path w="5077744" h="2406514">
                <a:moveTo>
                  <a:pt x="48130" y="0"/>
                </a:moveTo>
                <a:lnTo>
                  <a:pt x="4933353" y="0"/>
                </a:lnTo>
                <a:cubicBezTo>
                  <a:pt x="5013098" y="0"/>
                  <a:pt x="5077744" y="64646"/>
                  <a:pt x="5077744" y="144391"/>
                </a:cubicBezTo>
                <a:lnTo>
                  <a:pt x="5077744" y="2262123"/>
                </a:lnTo>
                <a:cubicBezTo>
                  <a:pt x="5077744" y="2341868"/>
                  <a:pt x="5013098" y="2406514"/>
                  <a:pt x="4933353" y="2406514"/>
                </a:cubicBezTo>
                <a:lnTo>
                  <a:pt x="48130" y="2406514"/>
                </a:lnTo>
                <a:cubicBezTo>
                  <a:pt x="21549" y="2406514"/>
                  <a:pt x="0" y="2384965"/>
                  <a:pt x="0" y="2358383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5368" y="6738238"/>
            <a:ext cx="48130" cy="2406514"/>
          </a:xfrm>
          <a:custGeom>
            <a:avLst/>
            <a:gdLst/>
            <a:ahLst/>
            <a:cxnLst/>
            <a:rect l="l" t="t" r="r" b="b"/>
            <a:pathLst>
              <a:path w="48130" h="2406514">
                <a:moveTo>
                  <a:pt x="48130" y="0"/>
                </a:moveTo>
                <a:lnTo>
                  <a:pt x="48130" y="0"/>
                </a:lnTo>
                <a:lnTo>
                  <a:pt x="48130" y="2406514"/>
                </a:lnTo>
                <a:lnTo>
                  <a:pt x="48130" y="2406514"/>
                </a:lnTo>
                <a:cubicBezTo>
                  <a:pt x="21549" y="2406514"/>
                  <a:pt x="0" y="2384965"/>
                  <a:pt x="0" y="2358383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0084" y="6978890"/>
            <a:ext cx="4680669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核心技术创新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0084" y="7556453"/>
            <a:ext cx="96261" cy="96261"/>
          </a:xfrm>
          <a:custGeom>
            <a:avLst/>
            <a:gdLst/>
            <a:ahLst/>
            <a:cxnLst/>
            <a:rect l="l" t="t" r="r" b="b"/>
            <a:pathLst>
              <a:path w="96261" h="96261">
                <a:moveTo>
                  <a:pt x="48130" y="0"/>
                </a:moveTo>
                <a:lnTo>
                  <a:pt x="48130" y="0"/>
                </a:lnTo>
                <a:cubicBezTo>
                  <a:pt x="74712" y="0"/>
                  <a:pt x="96261" y="21549"/>
                  <a:pt x="96261" y="48130"/>
                </a:cubicBezTo>
                <a:lnTo>
                  <a:pt x="96261" y="48130"/>
                </a:lnTo>
                <a:cubicBezTo>
                  <a:pt x="96261" y="74712"/>
                  <a:pt x="74712" y="96261"/>
                  <a:pt x="48130" y="96261"/>
                </a:cubicBezTo>
                <a:lnTo>
                  <a:pt x="48130" y="96261"/>
                </a:lnTo>
                <a:cubicBezTo>
                  <a:pt x="21549" y="96261"/>
                  <a:pt x="0" y="74712"/>
                  <a:pt x="0" y="48130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2605" y="7460192"/>
            <a:ext cx="2851719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首次将LSM-tree应用于生产环境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0084" y="7941495"/>
            <a:ext cx="96261" cy="96261"/>
          </a:xfrm>
          <a:custGeom>
            <a:avLst/>
            <a:gdLst/>
            <a:ahLst/>
            <a:cxnLst/>
            <a:rect l="l" t="t" r="r" b="b"/>
            <a:pathLst>
              <a:path w="96261" h="96261">
                <a:moveTo>
                  <a:pt x="48130" y="0"/>
                </a:moveTo>
                <a:lnTo>
                  <a:pt x="48130" y="0"/>
                </a:lnTo>
                <a:cubicBezTo>
                  <a:pt x="74712" y="0"/>
                  <a:pt x="96261" y="21549"/>
                  <a:pt x="96261" y="48130"/>
                </a:cubicBezTo>
                <a:lnTo>
                  <a:pt x="96261" y="48130"/>
                </a:lnTo>
                <a:cubicBezTo>
                  <a:pt x="96261" y="74712"/>
                  <a:pt x="74712" y="96261"/>
                  <a:pt x="48130" y="96261"/>
                </a:cubicBezTo>
                <a:lnTo>
                  <a:pt x="48130" y="96261"/>
                </a:lnTo>
                <a:cubicBezTo>
                  <a:pt x="21549" y="96261"/>
                  <a:pt x="0" y="74712"/>
                  <a:pt x="0" y="48130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2605" y="7845235"/>
            <a:ext cx="2911882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主从架构+分布式锁实现线性扩展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0084" y="8326537"/>
            <a:ext cx="96261" cy="96261"/>
          </a:xfrm>
          <a:custGeom>
            <a:avLst/>
            <a:gdLst/>
            <a:ahLst/>
            <a:cxnLst/>
            <a:rect l="l" t="t" r="r" b="b"/>
            <a:pathLst>
              <a:path w="96261" h="96261">
                <a:moveTo>
                  <a:pt x="48130" y="0"/>
                </a:moveTo>
                <a:lnTo>
                  <a:pt x="48130" y="0"/>
                </a:lnTo>
                <a:cubicBezTo>
                  <a:pt x="74712" y="0"/>
                  <a:pt x="96261" y="21549"/>
                  <a:pt x="96261" y="48130"/>
                </a:cubicBezTo>
                <a:lnTo>
                  <a:pt x="96261" y="48130"/>
                </a:lnTo>
                <a:cubicBezTo>
                  <a:pt x="96261" y="74712"/>
                  <a:pt x="74712" y="96261"/>
                  <a:pt x="48130" y="96261"/>
                </a:cubicBezTo>
                <a:lnTo>
                  <a:pt x="48130" y="96261"/>
                </a:lnTo>
                <a:cubicBezTo>
                  <a:pt x="21549" y="96261"/>
                  <a:pt x="0" y="74712"/>
                  <a:pt x="0" y="48130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2605" y="8230277"/>
            <a:ext cx="279155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列族概念支持稀疏数据高效存储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0084" y="8711580"/>
            <a:ext cx="96261" cy="96261"/>
          </a:xfrm>
          <a:custGeom>
            <a:avLst/>
            <a:gdLst/>
            <a:ahLst/>
            <a:cxnLst/>
            <a:rect l="l" t="t" r="r" b="b"/>
            <a:pathLst>
              <a:path w="96261" h="96261">
                <a:moveTo>
                  <a:pt x="48130" y="0"/>
                </a:moveTo>
                <a:lnTo>
                  <a:pt x="48130" y="0"/>
                </a:lnTo>
                <a:cubicBezTo>
                  <a:pt x="74712" y="0"/>
                  <a:pt x="96261" y="21549"/>
                  <a:pt x="96261" y="48130"/>
                </a:cubicBezTo>
                <a:lnTo>
                  <a:pt x="96261" y="48130"/>
                </a:lnTo>
                <a:cubicBezTo>
                  <a:pt x="96261" y="74712"/>
                  <a:pt x="74712" y="96261"/>
                  <a:pt x="48130" y="96261"/>
                </a:cubicBezTo>
                <a:lnTo>
                  <a:pt x="48130" y="96261"/>
                </a:lnTo>
                <a:cubicBezTo>
                  <a:pt x="21549" y="96261"/>
                  <a:pt x="0" y="74712"/>
                  <a:pt x="0" y="48130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62605" y="8615319"/>
            <a:ext cx="2021472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最终一致性与容错机制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68321" y="1395778"/>
            <a:ext cx="9902804" cy="7773039"/>
          </a:xfrm>
          <a:custGeom>
            <a:avLst/>
            <a:gdLst/>
            <a:ahLst/>
            <a:cxnLst/>
            <a:rect l="l" t="t" r="r" b="b"/>
            <a:pathLst>
              <a:path w="9902804" h="7773039">
                <a:moveTo>
                  <a:pt x="144423" y="0"/>
                </a:moveTo>
                <a:lnTo>
                  <a:pt x="9758381" y="0"/>
                </a:lnTo>
                <a:cubicBezTo>
                  <a:pt x="9838143" y="0"/>
                  <a:pt x="9902804" y="64660"/>
                  <a:pt x="9902804" y="144423"/>
                </a:cubicBezTo>
                <a:lnTo>
                  <a:pt x="9902804" y="7628616"/>
                </a:lnTo>
                <a:cubicBezTo>
                  <a:pt x="9902804" y="7708379"/>
                  <a:pt x="9838143" y="7773039"/>
                  <a:pt x="9758381" y="7773039"/>
                </a:cubicBezTo>
                <a:lnTo>
                  <a:pt x="144423" y="7773039"/>
                </a:lnTo>
                <a:cubicBezTo>
                  <a:pt x="64660" y="7773039"/>
                  <a:pt x="0" y="7708379"/>
                  <a:pt x="0" y="7628616"/>
                </a:cubicBezTo>
                <a:lnTo>
                  <a:pt x="0" y="144423"/>
                </a:lnTo>
                <a:cubicBezTo>
                  <a:pt x="0" y="64660"/>
                  <a:pt x="64660" y="0"/>
                  <a:pt x="14442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75152" y="1708625"/>
            <a:ext cx="324879" cy="288782"/>
          </a:xfrm>
          <a:custGeom>
            <a:avLst/>
            <a:gdLst/>
            <a:ahLst/>
            <a:cxnLst/>
            <a:rect l="l" t="t" r="r" b="b"/>
            <a:pathLst>
              <a:path w="324879" h="288782">
                <a:moveTo>
                  <a:pt x="162440" y="36098"/>
                </a:moveTo>
                <a:cubicBezTo>
                  <a:pt x="222226" y="36098"/>
                  <a:pt x="270733" y="84604"/>
                  <a:pt x="270733" y="144391"/>
                </a:cubicBezTo>
                <a:cubicBezTo>
                  <a:pt x="270733" y="204178"/>
                  <a:pt x="222226" y="252684"/>
                  <a:pt x="162440" y="252684"/>
                </a:cubicBezTo>
                <a:cubicBezTo>
                  <a:pt x="125665" y="252684"/>
                  <a:pt x="93121" y="234353"/>
                  <a:pt x="73549" y="206265"/>
                </a:cubicBezTo>
                <a:cubicBezTo>
                  <a:pt x="67852" y="198086"/>
                  <a:pt x="56572" y="196112"/>
                  <a:pt x="48393" y="201809"/>
                </a:cubicBezTo>
                <a:cubicBezTo>
                  <a:pt x="40215" y="207505"/>
                  <a:pt x="38241" y="218786"/>
                  <a:pt x="43938" y="226964"/>
                </a:cubicBezTo>
                <a:cubicBezTo>
                  <a:pt x="69996" y="264303"/>
                  <a:pt x="113369" y="288782"/>
                  <a:pt x="162440" y="288782"/>
                </a:cubicBezTo>
                <a:cubicBezTo>
                  <a:pt x="242193" y="288782"/>
                  <a:pt x="306830" y="224144"/>
                  <a:pt x="306830" y="144391"/>
                </a:cubicBezTo>
                <a:cubicBezTo>
                  <a:pt x="306830" y="64637"/>
                  <a:pt x="242193" y="0"/>
                  <a:pt x="162440" y="0"/>
                </a:cubicBezTo>
                <a:cubicBezTo>
                  <a:pt x="114103" y="0"/>
                  <a:pt x="71349" y="23746"/>
                  <a:pt x="45122" y="60182"/>
                </a:cubicBezTo>
                <a:lnTo>
                  <a:pt x="45122" y="45122"/>
                </a:lnTo>
                <a:cubicBezTo>
                  <a:pt x="45122" y="35139"/>
                  <a:pt x="37057" y="27073"/>
                  <a:pt x="27073" y="27073"/>
                </a:cubicBezTo>
                <a:cubicBezTo>
                  <a:pt x="17090" y="27073"/>
                  <a:pt x="9024" y="35139"/>
                  <a:pt x="9024" y="45122"/>
                </a:cubicBezTo>
                <a:lnTo>
                  <a:pt x="9024" y="108293"/>
                </a:lnTo>
                <a:cubicBezTo>
                  <a:pt x="9024" y="118276"/>
                  <a:pt x="17090" y="126342"/>
                  <a:pt x="27073" y="126342"/>
                </a:cubicBezTo>
                <a:lnTo>
                  <a:pt x="40948" y="126342"/>
                </a:lnTo>
                <a:cubicBezTo>
                  <a:pt x="41230" y="126342"/>
                  <a:pt x="41512" y="126342"/>
                  <a:pt x="41794" y="126342"/>
                </a:cubicBezTo>
                <a:lnTo>
                  <a:pt x="90301" y="126342"/>
                </a:lnTo>
                <a:cubicBezTo>
                  <a:pt x="100284" y="126342"/>
                  <a:pt x="108350" y="118276"/>
                  <a:pt x="108350" y="108293"/>
                </a:cubicBezTo>
                <a:cubicBezTo>
                  <a:pt x="108350" y="98310"/>
                  <a:pt x="100284" y="90244"/>
                  <a:pt x="90301" y="90244"/>
                </a:cubicBezTo>
                <a:lnTo>
                  <a:pt x="68698" y="90244"/>
                </a:lnTo>
                <a:cubicBezTo>
                  <a:pt x="87368" y="57869"/>
                  <a:pt x="122394" y="36098"/>
                  <a:pt x="162440" y="36098"/>
                </a:cubicBezTo>
                <a:close/>
                <a:moveTo>
                  <a:pt x="175976" y="85732"/>
                </a:moveTo>
                <a:cubicBezTo>
                  <a:pt x="175976" y="78230"/>
                  <a:pt x="169941" y="72195"/>
                  <a:pt x="162440" y="72195"/>
                </a:cubicBezTo>
                <a:cubicBezTo>
                  <a:pt x="154938" y="72195"/>
                  <a:pt x="148903" y="78230"/>
                  <a:pt x="148903" y="85732"/>
                </a:cubicBezTo>
                <a:lnTo>
                  <a:pt x="148903" y="144391"/>
                </a:lnTo>
                <a:cubicBezTo>
                  <a:pt x="148903" y="148001"/>
                  <a:pt x="150313" y="151441"/>
                  <a:pt x="152851" y="153979"/>
                </a:cubicBezTo>
                <a:lnTo>
                  <a:pt x="193461" y="194589"/>
                </a:lnTo>
                <a:cubicBezTo>
                  <a:pt x="198763" y="199891"/>
                  <a:pt x="207336" y="199891"/>
                  <a:pt x="212582" y="194589"/>
                </a:cubicBezTo>
                <a:cubicBezTo>
                  <a:pt x="217827" y="189287"/>
                  <a:pt x="217883" y="180714"/>
                  <a:pt x="212582" y="175469"/>
                </a:cubicBezTo>
                <a:lnTo>
                  <a:pt x="175920" y="138807"/>
                </a:lnTo>
                <a:lnTo>
                  <a:pt x="175920" y="8573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662471" y="1684560"/>
            <a:ext cx="2791556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历史背景:Friendster的技术困境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7103" y="2213993"/>
            <a:ext cx="9325241" cy="1492038"/>
          </a:xfrm>
          <a:custGeom>
            <a:avLst/>
            <a:gdLst/>
            <a:ahLst/>
            <a:cxnLst/>
            <a:rect l="l" t="t" r="r" b="b"/>
            <a:pathLst>
              <a:path w="9325241" h="1492038">
                <a:moveTo>
                  <a:pt x="96266" y="0"/>
                </a:moveTo>
                <a:lnTo>
                  <a:pt x="9228974" y="0"/>
                </a:lnTo>
                <a:cubicBezTo>
                  <a:pt x="9282141" y="0"/>
                  <a:pt x="9325241" y="43100"/>
                  <a:pt x="9325241" y="96266"/>
                </a:cubicBezTo>
                <a:lnTo>
                  <a:pt x="9325241" y="1395772"/>
                </a:lnTo>
                <a:cubicBezTo>
                  <a:pt x="9325241" y="1448939"/>
                  <a:pt x="9282141" y="1492038"/>
                  <a:pt x="9228974" y="1492038"/>
                </a:cubicBezTo>
                <a:lnTo>
                  <a:pt x="96266" y="1492038"/>
                </a:lnTo>
                <a:cubicBezTo>
                  <a:pt x="43100" y="1492038"/>
                  <a:pt x="0" y="1448939"/>
                  <a:pt x="0" y="1395772"/>
                </a:cubicBezTo>
                <a:lnTo>
                  <a:pt x="0" y="96266"/>
                </a:lnTo>
                <a:cubicBezTo>
                  <a:pt x="0" y="43100"/>
                  <a:pt x="43100" y="0"/>
                  <a:pt x="962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49624" y="2406514"/>
            <a:ext cx="904849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案例背景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9624" y="2887816"/>
            <a:ext cx="9036459" cy="62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Friendster作为2002年成立的早期社交网络先驱,在2003年积累了</a:t>
            </a:r>
            <a:r>
              <a:rPr lang="en-US" sz="1516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7500万用户 </a:t>
            </a: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,但其技术架构无法应对互联网规模的数据挑战,最终因技术限制错失发展机遇。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7103" y="3898552"/>
            <a:ext cx="4596441" cy="1323583"/>
          </a:xfrm>
          <a:custGeom>
            <a:avLst/>
            <a:gdLst/>
            <a:ahLst/>
            <a:cxnLst/>
            <a:rect l="l" t="t" r="r" b="b"/>
            <a:pathLst>
              <a:path w="4596441" h="1323583">
                <a:moveTo>
                  <a:pt x="96264" y="0"/>
                </a:moveTo>
                <a:lnTo>
                  <a:pt x="4500177" y="0"/>
                </a:lnTo>
                <a:cubicBezTo>
                  <a:pt x="4553342" y="0"/>
                  <a:pt x="4596441" y="43099"/>
                  <a:pt x="4596441" y="96264"/>
                </a:cubicBezTo>
                <a:lnTo>
                  <a:pt x="4596441" y="1227318"/>
                </a:lnTo>
                <a:cubicBezTo>
                  <a:pt x="4596441" y="1280484"/>
                  <a:pt x="4553342" y="1323583"/>
                  <a:pt x="4500177" y="1323583"/>
                </a:cubicBezTo>
                <a:lnTo>
                  <a:pt x="96264" y="1323583"/>
                </a:lnTo>
                <a:cubicBezTo>
                  <a:pt x="43099" y="1323583"/>
                  <a:pt x="0" y="1280484"/>
                  <a:pt x="0" y="1227318"/>
                </a:cubicBezTo>
                <a:lnTo>
                  <a:pt x="0" y="96264"/>
                </a:lnTo>
                <a:cubicBezTo>
                  <a:pt x="0" y="43099"/>
                  <a:pt x="43099" y="0"/>
                  <a:pt x="962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385722" y="4139204"/>
            <a:ext cx="168456" cy="192521"/>
          </a:xfrm>
          <a:custGeom>
            <a:avLst/>
            <a:gdLst/>
            <a:ahLst/>
            <a:cxnLst/>
            <a:rect l="l" t="t" r="r" b="b"/>
            <a:pathLst>
              <a:path w="168456" h="192521">
                <a:moveTo>
                  <a:pt x="168456" y="77384"/>
                </a:moveTo>
                <a:cubicBezTo>
                  <a:pt x="162891" y="81069"/>
                  <a:pt x="156499" y="84040"/>
                  <a:pt x="149843" y="86409"/>
                </a:cubicBezTo>
                <a:cubicBezTo>
                  <a:pt x="132170" y="92726"/>
                  <a:pt x="108970" y="96261"/>
                  <a:pt x="84228" y="96261"/>
                </a:cubicBezTo>
                <a:cubicBezTo>
                  <a:pt x="59486" y="96261"/>
                  <a:pt x="36248" y="92688"/>
                  <a:pt x="18613" y="86409"/>
                </a:cubicBezTo>
                <a:cubicBezTo>
                  <a:pt x="11995" y="84040"/>
                  <a:pt x="5565" y="81069"/>
                  <a:pt x="0" y="77384"/>
                </a:cubicBezTo>
                <a:lnTo>
                  <a:pt x="0" y="108293"/>
                </a:lnTo>
                <a:cubicBezTo>
                  <a:pt x="0" y="124913"/>
                  <a:pt x="37715" y="138375"/>
                  <a:pt x="84228" y="138375"/>
                </a:cubicBezTo>
                <a:cubicBezTo>
                  <a:pt x="130741" y="138375"/>
                  <a:pt x="168456" y="124913"/>
                  <a:pt x="168456" y="108293"/>
                </a:cubicBezTo>
                <a:lnTo>
                  <a:pt x="168456" y="77384"/>
                </a:lnTo>
                <a:close/>
                <a:moveTo>
                  <a:pt x="168456" y="48130"/>
                </a:moveTo>
                <a:lnTo>
                  <a:pt x="168456" y="30081"/>
                </a:lnTo>
                <a:cubicBezTo>
                  <a:pt x="168456" y="13461"/>
                  <a:pt x="130741" y="0"/>
                  <a:pt x="84228" y="0"/>
                </a:cubicBezTo>
                <a:cubicBezTo>
                  <a:pt x="37715" y="0"/>
                  <a:pt x="0" y="13461"/>
                  <a:pt x="0" y="30081"/>
                </a:cubicBezTo>
                <a:lnTo>
                  <a:pt x="0" y="48130"/>
                </a:lnTo>
                <a:cubicBezTo>
                  <a:pt x="0" y="64750"/>
                  <a:pt x="37715" y="78212"/>
                  <a:pt x="84228" y="78212"/>
                </a:cubicBezTo>
                <a:cubicBezTo>
                  <a:pt x="130741" y="78212"/>
                  <a:pt x="168456" y="64750"/>
                  <a:pt x="168456" y="48130"/>
                </a:cubicBezTo>
                <a:close/>
                <a:moveTo>
                  <a:pt x="149843" y="146572"/>
                </a:moveTo>
                <a:cubicBezTo>
                  <a:pt x="132208" y="152851"/>
                  <a:pt x="109008" y="156423"/>
                  <a:pt x="84228" y="156423"/>
                </a:cubicBezTo>
                <a:cubicBezTo>
                  <a:pt x="59448" y="156423"/>
                  <a:pt x="36248" y="152851"/>
                  <a:pt x="18613" y="146572"/>
                </a:cubicBezTo>
                <a:cubicBezTo>
                  <a:pt x="11995" y="144203"/>
                  <a:pt x="5565" y="141232"/>
                  <a:pt x="0" y="137547"/>
                </a:cubicBezTo>
                <a:lnTo>
                  <a:pt x="0" y="162440"/>
                </a:lnTo>
                <a:cubicBezTo>
                  <a:pt x="0" y="179060"/>
                  <a:pt x="37715" y="192521"/>
                  <a:pt x="84228" y="192521"/>
                </a:cubicBezTo>
                <a:cubicBezTo>
                  <a:pt x="130741" y="192521"/>
                  <a:pt x="168456" y="179060"/>
                  <a:pt x="168456" y="162440"/>
                </a:cubicBezTo>
                <a:lnTo>
                  <a:pt x="168456" y="137547"/>
                </a:lnTo>
                <a:cubicBezTo>
                  <a:pt x="162891" y="141232"/>
                  <a:pt x="156499" y="144203"/>
                  <a:pt x="149843" y="14657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590275" y="4091073"/>
            <a:ext cx="406700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规模瓶颈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49624" y="4476115"/>
            <a:ext cx="4295627" cy="55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7500万用户产生的数据访问需求超出传统数据库承载极限,特别是存在大量"大V用户"时,系统压力呈指数级增长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94363" y="3898552"/>
            <a:ext cx="4596441" cy="1323583"/>
          </a:xfrm>
          <a:custGeom>
            <a:avLst/>
            <a:gdLst/>
            <a:ahLst/>
            <a:cxnLst/>
            <a:rect l="l" t="t" r="r" b="b"/>
            <a:pathLst>
              <a:path w="4596441" h="1323583">
                <a:moveTo>
                  <a:pt x="96264" y="0"/>
                </a:moveTo>
                <a:lnTo>
                  <a:pt x="4500177" y="0"/>
                </a:lnTo>
                <a:cubicBezTo>
                  <a:pt x="4553342" y="0"/>
                  <a:pt x="4596441" y="43099"/>
                  <a:pt x="4596441" y="96264"/>
                </a:cubicBezTo>
                <a:lnTo>
                  <a:pt x="4596441" y="1227318"/>
                </a:lnTo>
                <a:cubicBezTo>
                  <a:pt x="4596441" y="1280484"/>
                  <a:pt x="4553342" y="1323583"/>
                  <a:pt x="4500177" y="1323583"/>
                </a:cubicBezTo>
                <a:lnTo>
                  <a:pt x="96264" y="1323583"/>
                </a:lnTo>
                <a:cubicBezTo>
                  <a:pt x="43099" y="1323583"/>
                  <a:pt x="0" y="1280484"/>
                  <a:pt x="0" y="1227318"/>
                </a:cubicBezTo>
                <a:lnTo>
                  <a:pt x="0" y="96264"/>
                </a:lnTo>
                <a:cubicBezTo>
                  <a:pt x="0" y="43099"/>
                  <a:pt x="43099" y="0"/>
                  <a:pt x="962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110949" y="4139204"/>
            <a:ext cx="192521" cy="192521"/>
          </a:xfrm>
          <a:custGeom>
            <a:avLst/>
            <a:gdLst/>
            <a:ahLst/>
            <a:cxnLst/>
            <a:rect l="l" t="t" r="r" b="b"/>
            <a:pathLst>
              <a:path w="192521" h="192521">
                <a:moveTo>
                  <a:pt x="180526" y="72195"/>
                </a:moveTo>
                <a:lnTo>
                  <a:pt x="183497" y="72195"/>
                </a:lnTo>
                <a:cubicBezTo>
                  <a:pt x="188498" y="72195"/>
                  <a:pt x="192521" y="68172"/>
                  <a:pt x="192521" y="63171"/>
                </a:cubicBezTo>
                <a:lnTo>
                  <a:pt x="192521" y="9024"/>
                </a:lnTo>
                <a:cubicBezTo>
                  <a:pt x="192521" y="5377"/>
                  <a:pt x="190340" y="2068"/>
                  <a:pt x="186956" y="677"/>
                </a:cubicBezTo>
                <a:cubicBezTo>
                  <a:pt x="183572" y="-714"/>
                  <a:pt x="179699" y="75"/>
                  <a:pt x="177104" y="2632"/>
                </a:cubicBezTo>
                <a:lnTo>
                  <a:pt x="157664" y="22110"/>
                </a:lnTo>
                <a:cubicBezTo>
                  <a:pt x="141007" y="8310"/>
                  <a:pt x="119574" y="0"/>
                  <a:pt x="96261" y="0"/>
                </a:cubicBezTo>
                <a:cubicBezTo>
                  <a:pt x="47754" y="0"/>
                  <a:pt x="7633" y="35872"/>
                  <a:pt x="978" y="82536"/>
                </a:cubicBezTo>
                <a:cubicBezTo>
                  <a:pt x="38" y="89116"/>
                  <a:pt x="4587" y="95208"/>
                  <a:pt x="11168" y="96148"/>
                </a:cubicBezTo>
                <a:cubicBezTo>
                  <a:pt x="17748" y="97088"/>
                  <a:pt x="23840" y="92500"/>
                  <a:pt x="24780" y="85958"/>
                </a:cubicBezTo>
                <a:cubicBezTo>
                  <a:pt x="29781" y="50950"/>
                  <a:pt x="59900" y="24065"/>
                  <a:pt x="96261" y="24065"/>
                </a:cubicBezTo>
                <a:cubicBezTo>
                  <a:pt x="112956" y="24065"/>
                  <a:pt x="128297" y="29705"/>
                  <a:pt x="140518" y="39219"/>
                </a:cubicBezTo>
                <a:lnTo>
                  <a:pt x="122958" y="56779"/>
                </a:lnTo>
                <a:cubicBezTo>
                  <a:pt x="120363" y="59373"/>
                  <a:pt x="119611" y="63246"/>
                  <a:pt x="121003" y="66630"/>
                </a:cubicBezTo>
                <a:cubicBezTo>
                  <a:pt x="122394" y="70015"/>
                  <a:pt x="125703" y="72195"/>
                  <a:pt x="129350" y="72195"/>
                </a:cubicBezTo>
                <a:lnTo>
                  <a:pt x="180526" y="72195"/>
                </a:lnTo>
                <a:close/>
                <a:moveTo>
                  <a:pt x="191581" y="109985"/>
                </a:moveTo>
                <a:cubicBezTo>
                  <a:pt x="192521" y="103405"/>
                  <a:pt x="187934" y="97313"/>
                  <a:pt x="181391" y="96373"/>
                </a:cubicBezTo>
                <a:cubicBezTo>
                  <a:pt x="174848" y="95433"/>
                  <a:pt x="168719" y="100021"/>
                  <a:pt x="167779" y="106563"/>
                </a:cubicBezTo>
                <a:cubicBezTo>
                  <a:pt x="162778" y="141533"/>
                  <a:pt x="132659" y="168418"/>
                  <a:pt x="96298" y="168418"/>
                </a:cubicBezTo>
                <a:cubicBezTo>
                  <a:pt x="79603" y="168418"/>
                  <a:pt x="64261" y="162778"/>
                  <a:pt x="52041" y="153265"/>
                </a:cubicBezTo>
                <a:lnTo>
                  <a:pt x="69563" y="135742"/>
                </a:lnTo>
                <a:cubicBezTo>
                  <a:pt x="72158" y="133148"/>
                  <a:pt x="72910" y="129275"/>
                  <a:pt x="71519" y="125891"/>
                </a:cubicBezTo>
                <a:cubicBezTo>
                  <a:pt x="70127" y="122507"/>
                  <a:pt x="66818" y="120326"/>
                  <a:pt x="63171" y="120326"/>
                </a:cubicBezTo>
                <a:lnTo>
                  <a:pt x="9024" y="120326"/>
                </a:lnTo>
                <a:cubicBezTo>
                  <a:pt x="4023" y="120326"/>
                  <a:pt x="0" y="124349"/>
                  <a:pt x="0" y="129350"/>
                </a:cubicBezTo>
                <a:lnTo>
                  <a:pt x="0" y="183497"/>
                </a:lnTo>
                <a:cubicBezTo>
                  <a:pt x="0" y="187144"/>
                  <a:pt x="2181" y="190453"/>
                  <a:pt x="5565" y="191844"/>
                </a:cubicBezTo>
                <a:cubicBezTo>
                  <a:pt x="8949" y="193236"/>
                  <a:pt x="12822" y="192446"/>
                  <a:pt x="15417" y="189889"/>
                </a:cubicBezTo>
                <a:lnTo>
                  <a:pt x="34894" y="170411"/>
                </a:lnTo>
                <a:cubicBezTo>
                  <a:pt x="51514" y="184211"/>
                  <a:pt x="72947" y="192521"/>
                  <a:pt x="96261" y="192521"/>
                </a:cubicBezTo>
                <a:cubicBezTo>
                  <a:pt x="144767" y="192521"/>
                  <a:pt x="184888" y="156649"/>
                  <a:pt x="191543" y="10998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327535" y="4091073"/>
            <a:ext cx="406700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读写放大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086884" y="4476115"/>
            <a:ext cx="4295627" cy="55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用户发帖需同步到所有好友时间线,大V用户发帖可能产生数千万次写入;查看时间线需聚合所有好友内容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57103" y="5360509"/>
            <a:ext cx="4596441" cy="1323583"/>
          </a:xfrm>
          <a:custGeom>
            <a:avLst/>
            <a:gdLst/>
            <a:ahLst/>
            <a:cxnLst/>
            <a:rect l="l" t="t" r="r" b="b"/>
            <a:pathLst>
              <a:path w="4596441" h="1323583">
                <a:moveTo>
                  <a:pt x="96264" y="0"/>
                </a:moveTo>
                <a:lnTo>
                  <a:pt x="4500177" y="0"/>
                </a:lnTo>
                <a:cubicBezTo>
                  <a:pt x="4553342" y="0"/>
                  <a:pt x="4596441" y="43099"/>
                  <a:pt x="4596441" y="96264"/>
                </a:cubicBezTo>
                <a:lnTo>
                  <a:pt x="4596441" y="1227318"/>
                </a:lnTo>
                <a:cubicBezTo>
                  <a:pt x="4596441" y="1280484"/>
                  <a:pt x="4553342" y="1323583"/>
                  <a:pt x="4500177" y="1323583"/>
                </a:cubicBezTo>
                <a:lnTo>
                  <a:pt x="96264" y="1323583"/>
                </a:lnTo>
                <a:cubicBezTo>
                  <a:pt x="43099" y="1323583"/>
                  <a:pt x="0" y="1280484"/>
                  <a:pt x="0" y="1227318"/>
                </a:cubicBezTo>
                <a:lnTo>
                  <a:pt x="0" y="96264"/>
                </a:lnTo>
                <a:cubicBezTo>
                  <a:pt x="0" y="43099"/>
                  <a:pt x="43099" y="0"/>
                  <a:pt x="962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85722" y="5601161"/>
            <a:ext cx="168456" cy="192521"/>
          </a:xfrm>
          <a:custGeom>
            <a:avLst/>
            <a:gdLst/>
            <a:ahLst/>
            <a:cxnLst/>
            <a:rect l="l" t="t" r="r" b="b"/>
            <a:pathLst>
              <a:path w="168456" h="192521">
                <a:moveTo>
                  <a:pt x="60351" y="-9927"/>
                </a:moveTo>
                <a:cubicBezTo>
                  <a:pt x="63848" y="-12860"/>
                  <a:pt x="68999" y="-12747"/>
                  <a:pt x="72346" y="-9588"/>
                </a:cubicBezTo>
                <a:cubicBezTo>
                  <a:pt x="76971" y="-5227"/>
                  <a:pt x="81107" y="-414"/>
                  <a:pt x="85093" y="4475"/>
                </a:cubicBezTo>
                <a:cubicBezTo>
                  <a:pt x="90169" y="10679"/>
                  <a:pt x="96261" y="18876"/>
                  <a:pt x="102126" y="28615"/>
                </a:cubicBezTo>
                <a:cubicBezTo>
                  <a:pt x="104082" y="26058"/>
                  <a:pt x="105887" y="23802"/>
                  <a:pt x="107466" y="21884"/>
                </a:cubicBezTo>
                <a:cubicBezTo>
                  <a:pt x="107879" y="21395"/>
                  <a:pt x="108293" y="20869"/>
                  <a:pt x="108707" y="20343"/>
                </a:cubicBezTo>
                <a:cubicBezTo>
                  <a:pt x="111677" y="16658"/>
                  <a:pt x="115362" y="12033"/>
                  <a:pt x="120288" y="12033"/>
                </a:cubicBezTo>
                <a:cubicBezTo>
                  <a:pt x="125327" y="12033"/>
                  <a:pt x="128861" y="16507"/>
                  <a:pt x="131869" y="20343"/>
                </a:cubicBezTo>
                <a:cubicBezTo>
                  <a:pt x="132358" y="20982"/>
                  <a:pt x="132847" y="21583"/>
                  <a:pt x="133336" y="22147"/>
                </a:cubicBezTo>
                <a:cubicBezTo>
                  <a:pt x="137209" y="26810"/>
                  <a:pt x="142360" y="33541"/>
                  <a:pt x="147512" y="41851"/>
                </a:cubicBezTo>
                <a:cubicBezTo>
                  <a:pt x="157739" y="58358"/>
                  <a:pt x="168418" y="81859"/>
                  <a:pt x="168418" y="108256"/>
                </a:cubicBezTo>
                <a:cubicBezTo>
                  <a:pt x="168418" y="154769"/>
                  <a:pt x="130704" y="192483"/>
                  <a:pt x="84190" y="192483"/>
                </a:cubicBezTo>
                <a:cubicBezTo>
                  <a:pt x="37677" y="192483"/>
                  <a:pt x="0" y="154807"/>
                  <a:pt x="0" y="108293"/>
                </a:cubicBezTo>
                <a:cubicBezTo>
                  <a:pt x="0" y="74038"/>
                  <a:pt x="15454" y="44370"/>
                  <a:pt x="30269" y="23689"/>
                </a:cubicBezTo>
                <a:cubicBezTo>
                  <a:pt x="37752" y="13273"/>
                  <a:pt x="45197" y="4926"/>
                  <a:pt x="50800" y="-790"/>
                </a:cubicBezTo>
                <a:cubicBezTo>
                  <a:pt x="53883" y="-3948"/>
                  <a:pt x="57004" y="-7069"/>
                  <a:pt x="60388" y="-9889"/>
                </a:cubicBezTo>
                <a:close/>
                <a:moveTo>
                  <a:pt x="84867" y="156423"/>
                </a:moveTo>
                <a:cubicBezTo>
                  <a:pt x="94380" y="156423"/>
                  <a:pt x="102803" y="153791"/>
                  <a:pt x="110737" y="148527"/>
                </a:cubicBezTo>
                <a:cubicBezTo>
                  <a:pt x="126568" y="137472"/>
                  <a:pt x="130817" y="115362"/>
                  <a:pt x="121303" y="97990"/>
                </a:cubicBezTo>
                <a:cubicBezTo>
                  <a:pt x="119611" y="94606"/>
                  <a:pt x="115287" y="94380"/>
                  <a:pt x="112843" y="97238"/>
                </a:cubicBezTo>
                <a:lnTo>
                  <a:pt x="103367" y="108256"/>
                </a:lnTo>
                <a:cubicBezTo>
                  <a:pt x="100886" y="111113"/>
                  <a:pt x="96411" y="111038"/>
                  <a:pt x="94080" y="108068"/>
                </a:cubicBezTo>
                <a:cubicBezTo>
                  <a:pt x="87575" y="99758"/>
                  <a:pt x="75617" y="84604"/>
                  <a:pt x="69526" y="76858"/>
                </a:cubicBezTo>
                <a:cubicBezTo>
                  <a:pt x="67495" y="74264"/>
                  <a:pt x="63810" y="73850"/>
                  <a:pt x="61441" y="76144"/>
                </a:cubicBezTo>
                <a:cubicBezTo>
                  <a:pt x="54560" y="82837"/>
                  <a:pt x="42076" y="97501"/>
                  <a:pt x="42076" y="115362"/>
                </a:cubicBezTo>
                <a:cubicBezTo>
                  <a:pt x="42076" y="141157"/>
                  <a:pt x="61103" y="156423"/>
                  <a:pt x="84830" y="15642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90275" y="5553030"/>
            <a:ext cx="406700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热点问题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49624" y="5938073"/>
            <a:ext cx="4295627" cy="55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大V用户动态发布瞬间产生海量请求,形成系统热点,传统数据库难以应对突发流量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894363" y="5360509"/>
            <a:ext cx="4596441" cy="1323583"/>
          </a:xfrm>
          <a:custGeom>
            <a:avLst/>
            <a:gdLst/>
            <a:ahLst/>
            <a:cxnLst/>
            <a:rect l="l" t="t" r="r" b="b"/>
            <a:pathLst>
              <a:path w="4596441" h="1323583">
                <a:moveTo>
                  <a:pt x="96264" y="0"/>
                </a:moveTo>
                <a:lnTo>
                  <a:pt x="4500177" y="0"/>
                </a:lnTo>
                <a:cubicBezTo>
                  <a:pt x="4553342" y="0"/>
                  <a:pt x="4596441" y="43099"/>
                  <a:pt x="4596441" y="96264"/>
                </a:cubicBezTo>
                <a:lnTo>
                  <a:pt x="4596441" y="1227318"/>
                </a:lnTo>
                <a:cubicBezTo>
                  <a:pt x="4596441" y="1280484"/>
                  <a:pt x="4553342" y="1323583"/>
                  <a:pt x="4500177" y="1323583"/>
                </a:cubicBezTo>
                <a:lnTo>
                  <a:pt x="96264" y="1323583"/>
                </a:lnTo>
                <a:cubicBezTo>
                  <a:pt x="43099" y="1323583"/>
                  <a:pt x="0" y="1280484"/>
                  <a:pt x="0" y="1227318"/>
                </a:cubicBezTo>
                <a:lnTo>
                  <a:pt x="0" y="96264"/>
                </a:lnTo>
                <a:cubicBezTo>
                  <a:pt x="0" y="43099"/>
                  <a:pt x="43099" y="0"/>
                  <a:pt x="962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122981" y="5601161"/>
            <a:ext cx="168456" cy="192521"/>
          </a:xfrm>
          <a:custGeom>
            <a:avLst/>
            <a:gdLst/>
            <a:ahLst/>
            <a:cxnLst/>
            <a:rect l="l" t="t" r="r" b="b"/>
            <a:pathLst>
              <a:path w="168456" h="192521">
                <a:moveTo>
                  <a:pt x="24065" y="12033"/>
                </a:moveTo>
                <a:cubicBezTo>
                  <a:pt x="10792" y="12033"/>
                  <a:pt x="0" y="22824"/>
                  <a:pt x="0" y="36098"/>
                </a:cubicBezTo>
                <a:lnTo>
                  <a:pt x="0" y="60163"/>
                </a:lnTo>
                <a:cubicBezTo>
                  <a:pt x="0" y="73436"/>
                  <a:pt x="10792" y="84228"/>
                  <a:pt x="24065" y="84228"/>
                </a:cubicBezTo>
                <a:lnTo>
                  <a:pt x="144391" y="84228"/>
                </a:lnTo>
                <a:cubicBezTo>
                  <a:pt x="157664" y="84228"/>
                  <a:pt x="168456" y="73436"/>
                  <a:pt x="168456" y="60163"/>
                </a:cubicBezTo>
                <a:lnTo>
                  <a:pt x="168456" y="36098"/>
                </a:lnTo>
                <a:cubicBezTo>
                  <a:pt x="168456" y="22824"/>
                  <a:pt x="157664" y="12033"/>
                  <a:pt x="144391" y="12033"/>
                </a:cubicBezTo>
                <a:lnTo>
                  <a:pt x="24065" y="12033"/>
                </a:lnTo>
                <a:close/>
                <a:moveTo>
                  <a:pt x="105285" y="39106"/>
                </a:moveTo>
                <a:cubicBezTo>
                  <a:pt x="110266" y="39106"/>
                  <a:pt x="114309" y="43150"/>
                  <a:pt x="114309" y="48130"/>
                </a:cubicBezTo>
                <a:cubicBezTo>
                  <a:pt x="114309" y="53111"/>
                  <a:pt x="110266" y="57155"/>
                  <a:pt x="105285" y="57155"/>
                </a:cubicBezTo>
                <a:cubicBezTo>
                  <a:pt x="100304" y="57155"/>
                  <a:pt x="96261" y="53111"/>
                  <a:pt x="96261" y="48130"/>
                </a:cubicBezTo>
                <a:cubicBezTo>
                  <a:pt x="96261" y="43150"/>
                  <a:pt x="100304" y="39106"/>
                  <a:pt x="105285" y="39106"/>
                </a:cubicBezTo>
                <a:close/>
                <a:moveTo>
                  <a:pt x="126342" y="48130"/>
                </a:moveTo>
                <a:cubicBezTo>
                  <a:pt x="126342" y="43150"/>
                  <a:pt x="130386" y="39106"/>
                  <a:pt x="135366" y="39106"/>
                </a:cubicBezTo>
                <a:cubicBezTo>
                  <a:pt x="140347" y="39106"/>
                  <a:pt x="144391" y="43150"/>
                  <a:pt x="144391" y="48130"/>
                </a:cubicBezTo>
                <a:cubicBezTo>
                  <a:pt x="144391" y="53111"/>
                  <a:pt x="140347" y="57155"/>
                  <a:pt x="135366" y="57155"/>
                </a:cubicBezTo>
                <a:cubicBezTo>
                  <a:pt x="130386" y="57155"/>
                  <a:pt x="126342" y="53111"/>
                  <a:pt x="126342" y="48130"/>
                </a:cubicBezTo>
                <a:close/>
                <a:moveTo>
                  <a:pt x="24065" y="108293"/>
                </a:moveTo>
                <a:cubicBezTo>
                  <a:pt x="10792" y="108293"/>
                  <a:pt x="0" y="119085"/>
                  <a:pt x="0" y="132358"/>
                </a:cubicBezTo>
                <a:lnTo>
                  <a:pt x="0" y="156423"/>
                </a:lnTo>
                <a:cubicBezTo>
                  <a:pt x="0" y="169697"/>
                  <a:pt x="10792" y="180489"/>
                  <a:pt x="24065" y="180489"/>
                </a:cubicBezTo>
                <a:lnTo>
                  <a:pt x="144391" y="180489"/>
                </a:lnTo>
                <a:cubicBezTo>
                  <a:pt x="157664" y="180489"/>
                  <a:pt x="168456" y="169697"/>
                  <a:pt x="168456" y="156423"/>
                </a:cubicBezTo>
                <a:lnTo>
                  <a:pt x="168456" y="132358"/>
                </a:lnTo>
                <a:cubicBezTo>
                  <a:pt x="168456" y="119085"/>
                  <a:pt x="157664" y="108293"/>
                  <a:pt x="144391" y="108293"/>
                </a:cubicBezTo>
                <a:lnTo>
                  <a:pt x="24065" y="108293"/>
                </a:lnTo>
                <a:close/>
                <a:moveTo>
                  <a:pt x="105285" y="135366"/>
                </a:moveTo>
                <a:cubicBezTo>
                  <a:pt x="110266" y="135366"/>
                  <a:pt x="114309" y="139410"/>
                  <a:pt x="114309" y="144391"/>
                </a:cubicBezTo>
                <a:cubicBezTo>
                  <a:pt x="114309" y="149372"/>
                  <a:pt x="110266" y="153415"/>
                  <a:pt x="105285" y="153415"/>
                </a:cubicBezTo>
                <a:cubicBezTo>
                  <a:pt x="100304" y="153415"/>
                  <a:pt x="96261" y="149372"/>
                  <a:pt x="96261" y="144391"/>
                </a:cubicBezTo>
                <a:cubicBezTo>
                  <a:pt x="96261" y="139410"/>
                  <a:pt x="100304" y="135366"/>
                  <a:pt x="105285" y="135366"/>
                </a:cubicBezTo>
                <a:close/>
                <a:moveTo>
                  <a:pt x="126342" y="144391"/>
                </a:moveTo>
                <a:cubicBezTo>
                  <a:pt x="126342" y="139410"/>
                  <a:pt x="130386" y="135366"/>
                  <a:pt x="135366" y="135366"/>
                </a:cubicBezTo>
                <a:cubicBezTo>
                  <a:pt x="140347" y="135366"/>
                  <a:pt x="144391" y="139410"/>
                  <a:pt x="144391" y="144391"/>
                </a:cubicBezTo>
                <a:cubicBezTo>
                  <a:pt x="144391" y="149372"/>
                  <a:pt x="140347" y="153415"/>
                  <a:pt x="135366" y="153415"/>
                </a:cubicBezTo>
                <a:cubicBezTo>
                  <a:pt x="130386" y="153415"/>
                  <a:pt x="126342" y="149372"/>
                  <a:pt x="126342" y="14439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327535" y="5553030"/>
            <a:ext cx="406700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扩展性天花板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86884" y="5938073"/>
            <a:ext cx="4295627" cy="55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关系数据库ACID特性严重制约水平扩展能力,无法有效处理幂等性写入和最终一致性需求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1168" y="6870597"/>
            <a:ext cx="9301175" cy="1010736"/>
          </a:xfrm>
          <a:custGeom>
            <a:avLst/>
            <a:gdLst/>
            <a:ahLst/>
            <a:cxnLst/>
            <a:rect l="l" t="t" r="r" b="b"/>
            <a:pathLst>
              <a:path w="9301175" h="1010736">
                <a:moveTo>
                  <a:pt x="48130" y="0"/>
                </a:moveTo>
                <a:lnTo>
                  <a:pt x="9204913" y="0"/>
                </a:lnTo>
                <a:cubicBezTo>
                  <a:pt x="9258077" y="0"/>
                  <a:pt x="9301175" y="43098"/>
                  <a:pt x="9301175" y="96262"/>
                </a:cubicBezTo>
                <a:lnTo>
                  <a:pt x="9301175" y="914473"/>
                </a:lnTo>
                <a:cubicBezTo>
                  <a:pt x="9301175" y="967638"/>
                  <a:pt x="9258077" y="1010736"/>
                  <a:pt x="9204913" y="1010736"/>
                </a:cubicBezTo>
                <a:lnTo>
                  <a:pt x="48130" y="1010736"/>
                </a:lnTo>
                <a:cubicBezTo>
                  <a:pt x="21549" y="1010736"/>
                  <a:pt x="0" y="989187"/>
                  <a:pt x="0" y="962605"/>
                </a:cubicBezTo>
                <a:lnTo>
                  <a:pt x="0" y="48130"/>
                </a:lnTo>
                <a:cubicBezTo>
                  <a:pt x="0" y="21566"/>
                  <a:pt x="21566" y="0"/>
                  <a:pt x="48130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81168" y="6870597"/>
            <a:ext cx="48130" cy="1010736"/>
          </a:xfrm>
          <a:custGeom>
            <a:avLst/>
            <a:gdLst/>
            <a:ahLst/>
            <a:cxnLst/>
            <a:rect l="l" t="t" r="r" b="b"/>
            <a:pathLst>
              <a:path w="48130" h="1010736">
                <a:moveTo>
                  <a:pt x="48130" y="0"/>
                </a:moveTo>
                <a:lnTo>
                  <a:pt x="48130" y="0"/>
                </a:lnTo>
                <a:lnTo>
                  <a:pt x="48130" y="1010736"/>
                </a:lnTo>
                <a:lnTo>
                  <a:pt x="48130" y="1010736"/>
                </a:lnTo>
                <a:cubicBezTo>
                  <a:pt x="21549" y="1010736"/>
                  <a:pt x="0" y="989187"/>
                  <a:pt x="0" y="962605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445885" y="7129297"/>
            <a:ext cx="144391" cy="192521"/>
          </a:xfrm>
          <a:custGeom>
            <a:avLst/>
            <a:gdLst/>
            <a:ahLst/>
            <a:cxnLst/>
            <a:rect l="l" t="t" r="r" b="b"/>
            <a:pathLst>
              <a:path w="144391" h="192521">
                <a:moveTo>
                  <a:pt x="110136" y="144391"/>
                </a:moveTo>
                <a:cubicBezTo>
                  <a:pt x="112881" y="136006"/>
                  <a:pt x="118370" y="128410"/>
                  <a:pt x="124575" y="121867"/>
                </a:cubicBezTo>
                <a:cubicBezTo>
                  <a:pt x="136870" y="108932"/>
                  <a:pt x="144391" y="91448"/>
                  <a:pt x="144391" y="72195"/>
                </a:cubicBezTo>
                <a:cubicBezTo>
                  <a:pt x="144391" y="32338"/>
                  <a:pt x="112053" y="0"/>
                  <a:pt x="72195" y="0"/>
                </a:cubicBezTo>
                <a:cubicBezTo>
                  <a:pt x="32338" y="0"/>
                  <a:pt x="0" y="32338"/>
                  <a:pt x="0" y="72195"/>
                </a:cubicBezTo>
                <a:cubicBezTo>
                  <a:pt x="0" y="91448"/>
                  <a:pt x="7520" y="108932"/>
                  <a:pt x="19816" y="121867"/>
                </a:cubicBezTo>
                <a:cubicBezTo>
                  <a:pt x="26020" y="128410"/>
                  <a:pt x="31548" y="136006"/>
                  <a:pt x="34255" y="144391"/>
                </a:cubicBezTo>
                <a:lnTo>
                  <a:pt x="110098" y="144391"/>
                </a:lnTo>
                <a:close/>
                <a:moveTo>
                  <a:pt x="108293" y="162440"/>
                </a:moveTo>
                <a:lnTo>
                  <a:pt x="36098" y="162440"/>
                </a:lnTo>
                <a:lnTo>
                  <a:pt x="36098" y="168456"/>
                </a:lnTo>
                <a:cubicBezTo>
                  <a:pt x="36098" y="185076"/>
                  <a:pt x="49559" y="198537"/>
                  <a:pt x="66179" y="198537"/>
                </a:cubicBezTo>
                <a:lnTo>
                  <a:pt x="78212" y="198537"/>
                </a:lnTo>
                <a:cubicBezTo>
                  <a:pt x="94832" y="198537"/>
                  <a:pt x="108293" y="185076"/>
                  <a:pt x="108293" y="168456"/>
                </a:cubicBezTo>
                <a:lnTo>
                  <a:pt x="108293" y="162440"/>
                </a:lnTo>
                <a:close/>
                <a:moveTo>
                  <a:pt x="69187" y="42114"/>
                </a:moveTo>
                <a:cubicBezTo>
                  <a:pt x="54222" y="42114"/>
                  <a:pt x="42114" y="54222"/>
                  <a:pt x="42114" y="69187"/>
                </a:cubicBezTo>
                <a:cubicBezTo>
                  <a:pt x="42114" y="74188"/>
                  <a:pt x="38091" y="78212"/>
                  <a:pt x="33090" y="78212"/>
                </a:cubicBezTo>
                <a:cubicBezTo>
                  <a:pt x="28089" y="78212"/>
                  <a:pt x="24065" y="74188"/>
                  <a:pt x="24065" y="69187"/>
                </a:cubicBezTo>
                <a:cubicBezTo>
                  <a:pt x="24065" y="44257"/>
                  <a:pt x="44257" y="24065"/>
                  <a:pt x="69187" y="24065"/>
                </a:cubicBezTo>
                <a:cubicBezTo>
                  <a:pt x="74188" y="24065"/>
                  <a:pt x="78212" y="28089"/>
                  <a:pt x="78212" y="33090"/>
                </a:cubicBezTo>
                <a:cubicBezTo>
                  <a:pt x="78212" y="38091"/>
                  <a:pt x="74188" y="42114"/>
                  <a:pt x="69187" y="42114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729607" y="7063118"/>
            <a:ext cx="8656476" cy="62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历史意义:</a:t>
            </a:r>
            <a:r>
              <a:rPr lang="en-US" sz="151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Friendster案例生动揭示了传统架构在互联网规模场景下的局限性,催生了对新一代分布式存储系统的迫切需求,Bigtable正是为解决这些核心问题而设计。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2667" y="423333"/>
            <a:ext cx="29315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核心技术挑战与困境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85333"/>
            <a:ext cx="15388167" cy="2582333"/>
          </a:xfrm>
          <a:custGeom>
            <a:avLst/>
            <a:gdLst/>
            <a:ahLst/>
            <a:cxnLst/>
            <a:rect l="l" t="t" r="r" b="b"/>
            <a:pathLst>
              <a:path w="15388167" h="2582333">
                <a:moveTo>
                  <a:pt x="42333" y="0"/>
                </a:moveTo>
                <a:lnTo>
                  <a:pt x="15261168" y="0"/>
                </a:lnTo>
                <a:cubicBezTo>
                  <a:pt x="15331307" y="0"/>
                  <a:pt x="15388167" y="56859"/>
                  <a:pt x="15388167" y="126999"/>
                </a:cubicBezTo>
                <a:lnTo>
                  <a:pt x="15388167" y="2455334"/>
                </a:lnTo>
                <a:cubicBezTo>
                  <a:pt x="15388167" y="2525474"/>
                  <a:pt x="15331307" y="2582333"/>
                  <a:pt x="15261168" y="2582333"/>
                </a:cubicBezTo>
                <a:lnTo>
                  <a:pt x="42333" y="2582333"/>
                </a:lnTo>
                <a:cubicBezTo>
                  <a:pt x="18953" y="2582333"/>
                  <a:pt x="0" y="2563380"/>
                  <a:pt x="0" y="254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85333"/>
            <a:ext cx="42333" cy="2582333"/>
          </a:xfrm>
          <a:custGeom>
            <a:avLst/>
            <a:gdLst/>
            <a:ahLst/>
            <a:cxnLst/>
            <a:rect l="l" t="t" r="r" b="b"/>
            <a:pathLst>
              <a:path w="42333" h="2582333">
                <a:moveTo>
                  <a:pt x="42333" y="0"/>
                </a:moveTo>
                <a:lnTo>
                  <a:pt x="42333" y="0"/>
                </a:lnTo>
                <a:lnTo>
                  <a:pt x="42333" y="2582333"/>
                </a:lnTo>
                <a:lnTo>
                  <a:pt x="42333" y="2582333"/>
                </a:lnTo>
                <a:cubicBezTo>
                  <a:pt x="18953" y="2582333"/>
                  <a:pt x="0" y="2563380"/>
                  <a:pt x="0" y="254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3792" y="143933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11910" y="0"/>
                  <a:pt x="117492" y="3349"/>
                  <a:pt x="120385" y="8682"/>
                </a:cubicBezTo>
                <a:lnTo>
                  <a:pt x="209682" y="174046"/>
                </a:lnTo>
                <a:cubicBezTo>
                  <a:pt x="212452" y="179173"/>
                  <a:pt x="212328" y="185374"/>
                  <a:pt x="209352" y="190376"/>
                </a:cubicBezTo>
                <a:cubicBezTo>
                  <a:pt x="206375" y="195378"/>
                  <a:pt x="200959" y="198438"/>
                  <a:pt x="195130" y="198438"/>
                </a:cubicBezTo>
                <a:lnTo>
                  <a:pt x="16536" y="198438"/>
                </a:lnTo>
                <a:cubicBezTo>
                  <a:pt x="10707" y="198438"/>
                  <a:pt x="5333" y="195378"/>
                  <a:pt x="2315" y="190376"/>
                </a:cubicBezTo>
                <a:cubicBezTo>
                  <a:pt x="-703" y="185374"/>
                  <a:pt x="-785" y="179173"/>
                  <a:pt x="1984" y="174046"/>
                </a:cubicBezTo>
                <a:lnTo>
                  <a:pt x="91281" y="8682"/>
                </a:lnTo>
                <a:cubicBezTo>
                  <a:pt x="94175" y="3349"/>
                  <a:pt x="99756" y="0"/>
                  <a:pt x="105833" y="0"/>
                </a:cubicBezTo>
                <a:close/>
                <a:moveTo>
                  <a:pt x="105833" y="69453"/>
                </a:moveTo>
                <a:cubicBezTo>
                  <a:pt x="100335" y="69453"/>
                  <a:pt x="95911" y="73877"/>
                  <a:pt x="95911" y="79375"/>
                </a:cubicBezTo>
                <a:lnTo>
                  <a:pt x="95911" y="125677"/>
                </a:lnTo>
                <a:cubicBezTo>
                  <a:pt x="95911" y="131175"/>
                  <a:pt x="100335" y="135599"/>
                  <a:pt x="105833" y="135599"/>
                </a:cubicBezTo>
                <a:cubicBezTo>
                  <a:pt x="111332" y="135599"/>
                  <a:pt x="115755" y="131175"/>
                  <a:pt x="115755" y="125677"/>
                </a:cubicBezTo>
                <a:lnTo>
                  <a:pt x="115755" y="79375"/>
                </a:lnTo>
                <a:cubicBezTo>
                  <a:pt x="115755" y="73877"/>
                  <a:pt x="111332" y="69453"/>
                  <a:pt x="105833" y="69453"/>
                </a:cubicBezTo>
                <a:close/>
                <a:moveTo>
                  <a:pt x="116871" y="158750"/>
                </a:moveTo>
                <a:cubicBezTo>
                  <a:pt x="117123" y="154653"/>
                  <a:pt x="115079" y="150755"/>
                  <a:pt x="111567" y="148630"/>
                </a:cubicBezTo>
                <a:cubicBezTo>
                  <a:pt x="108055" y="146506"/>
                  <a:pt x="103653" y="146506"/>
                  <a:pt x="100141" y="148630"/>
                </a:cubicBezTo>
                <a:cubicBezTo>
                  <a:pt x="96629" y="150755"/>
                  <a:pt x="94585" y="154653"/>
                  <a:pt x="94837" y="158750"/>
                </a:cubicBezTo>
                <a:cubicBezTo>
                  <a:pt x="94585" y="162847"/>
                  <a:pt x="96629" y="166745"/>
                  <a:pt x="100141" y="168870"/>
                </a:cubicBezTo>
                <a:cubicBezTo>
                  <a:pt x="103653" y="170994"/>
                  <a:pt x="108055" y="170994"/>
                  <a:pt x="111567" y="168870"/>
                </a:cubicBezTo>
                <a:cubicBezTo>
                  <a:pt x="115079" y="166745"/>
                  <a:pt x="117123" y="162847"/>
                  <a:pt x="116871" y="1587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41917" y="1397000"/>
            <a:ext cx="14784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Google面临的技术挑战(2000年代初期)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1862667"/>
            <a:ext cx="2889250" cy="1693333"/>
          </a:xfrm>
          <a:custGeom>
            <a:avLst/>
            <a:gdLst/>
            <a:ahLst/>
            <a:cxnLst/>
            <a:rect l="l" t="t" r="r" b="b"/>
            <a:pathLst>
              <a:path w="2889250" h="1693333">
                <a:moveTo>
                  <a:pt x="84667" y="0"/>
                </a:moveTo>
                <a:lnTo>
                  <a:pt x="2804583" y="0"/>
                </a:lnTo>
                <a:cubicBezTo>
                  <a:pt x="2851343" y="0"/>
                  <a:pt x="2889250" y="37907"/>
                  <a:pt x="2889250" y="84667"/>
                </a:cubicBezTo>
                <a:lnTo>
                  <a:pt x="2889250" y="1608667"/>
                </a:lnTo>
                <a:cubicBezTo>
                  <a:pt x="2889250" y="1655427"/>
                  <a:pt x="2851343" y="1693333"/>
                  <a:pt x="2804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66883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028279" y="218016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107528"/>
                </a:lnTo>
                <a:cubicBezTo>
                  <a:pt x="7483" y="102278"/>
                  <a:pt x="16619" y="99219"/>
                  <a:pt x="26458" y="99219"/>
                </a:cubicBezTo>
                <a:lnTo>
                  <a:pt x="158750" y="99219"/>
                </a:lnTo>
                <a:cubicBezTo>
                  <a:pt x="168589" y="99219"/>
                  <a:pt x="177726" y="102278"/>
                  <a:pt x="185208" y="107528"/>
                </a:cubicBezTo>
                <a:lnTo>
                  <a:pt x="185208" y="39688"/>
                </a:lnTo>
                <a:cubicBezTo>
                  <a:pt x="185208" y="25094"/>
                  <a:pt x="173343" y="13229"/>
                  <a:pt x="158750" y="13229"/>
                </a:cubicBezTo>
                <a:lnTo>
                  <a:pt x="26458" y="13229"/>
                </a:lnTo>
                <a:close/>
                <a:moveTo>
                  <a:pt x="185208" y="145521"/>
                </a:moveTo>
                <a:cubicBezTo>
                  <a:pt x="185208" y="130927"/>
                  <a:pt x="173343" y="119063"/>
                  <a:pt x="158750" y="119063"/>
                </a:cubicBezTo>
                <a:lnTo>
                  <a:pt x="26458" y="119063"/>
                </a:lnTo>
                <a:cubicBezTo>
                  <a:pt x="11865" y="119063"/>
                  <a:pt x="0" y="130927"/>
                  <a:pt x="0" y="145521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145521"/>
                </a:lnTo>
                <a:close/>
                <a:moveTo>
                  <a:pt x="92604" y="158750"/>
                </a:moveTo>
                <a:cubicBezTo>
                  <a:pt x="92604" y="151449"/>
                  <a:pt x="98532" y="145521"/>
                  <a:pt x="105833" y="145521"/>
                </a:cubicBezTo>
                <a:cubicBezTo>
                  <a:pt x="113135" y="145521"/>
                  <a:pt x="119063" y="151449"/>
                  <a:pt x="119063" y="158750"/>
                </a:cubicBezTo>
                <a:cubicBezTo>
                  <a:pt x="119063" y="166051"/>
                  <a:pt x="113135" y="171979"/>
                  <a:pt x="105833" y="171979"/>
                </a:cubicBezTo>
                <a:cubicBezTo>
                  <a:pt x="98532" y="171979"/>
                  <a:pt x="92604" y="166051"/>
                  <a:pt x="92604" y="158750"/>
                </a:cubicBezTo>
                <a:close/>
                <a:moveTo>
                  <a:pt x="145521" y="145521"/>
                </a:moveTo>
                <a:cubicBezTo>
                  <a:pt x="152822" y="145521"/>
                  <a:pt x="158750" y="151449"/>
                  <a:pt x="158750" y="158750"/>
                </a:cubicBezTo>
                <a:cubicBezTo>
                  <a:pt x="158750" y="166051"/>
                  <a:pt x="152822" y="171979"/>
                  <a:pt x="145521" y="171979"/>
                </a:cubicBezTo>
                <a:cubicBezTo>
                  <a:pt x="138219" y="171979"/>
                  <a:pt x="132292" y="166051"/>
                  <a:pt x="132292" y="158750"/>
                </a:cubicBezTo>
                <a:cubicBezTo>
                  <a:pt x="132292" y="151449"/>
                  <a:pt x="138219" y="145521"/>
                  <a:pt x="145521" y="145521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9625" y="2624667"/>
            <a:ext cx="262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042" y="2878667"/>
            <a:ext cx="264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4917" y="3217333"/>
            <a:ext cx="2614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网页索引数据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91434" y="1862667"/>
            <a:ext cx="2889250" cy="1693333"/>
          </a:xfrm>
          <a:custGeom>
            <a:avLst/>
            <a:gdLst/>
            <a:ahLst/>
            <a:cxnLst/>
            <a:rect l="l" t="t" r="r" b="b"/>
            <a:pathLst>
              <a:path w="2889250" h="1693333">
                <a:moveTo>
                  <a:pt x="84667" y="0"/>
                </a:moveTo>
                <a:lnTo>
                  <a:pt x="2804583" y="0"/>
                </a:lnTo>
                <a:cubicBezTo>
                  <a:pt x="2851343" y="0"/>
                  <a:pt x="2889250" y="37907"/>
                  <a:pt x="2889250" y="84667"/>
                </a:cubicBezTo>
                <a:lnTo>
                  <a:pt x="2889250" y="1608667"/>
                </a:lnTo>
                <a:cubicBezTo>
                  <a:pt x="2889250" y="1655427"/>
                  <a:pt x="2851343" y="1693333"/>
                  <a:pt x="2804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880984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029150" y="2180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105833"/>
                </a:moveTo>
                <a:cubicBezTo>
                  <a:pt x="0" y="47422"/>
                  <a:pt x="47422" y="0"/>
                  <a:pt x="105833" y="0"/>
                </a:cubicBez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lose/>
                <a:moveTo>
                  <a:pt x="119063" y="39688"/>
                </a:moveTo>
                <a:cubicBezTo>
                  <a:pt x="119063" y="32386"/>
                  <a:pt x="113135" y="26458"/>
                  <a:pt x="105833" y="26458"/>
                </a:cubicBezTo>
                <a:cubicBezTo>
                  <a:pt x="98532" y="26458"/>
                  <a:pt x="92604" y="32386"/>
                  <a:pt x="92604" y="39688"/>
                </a:cubicBezTo>
                <a:cubicBezTo>
                  <a:pt x="92604" y="46989"/>
                  <a:pt x="98532" y="52917"/>
                  <a:pt x="105833" y="52917"/>
                </a:cubicBezTo>
                <a:cubicBezTo>
                  <a:pt x="113135" y="52917"/>
                  <a:pt x="119063" y="46989"/>
                  <a:pt x="119063" y="39688"/>
                </a:cubicBezTo>
                <a:close/>
                <a:moveTo>
                  <a:pt x="105833" y="171979"/>
                </a:moveTo>
                <a:cubicBezTo>
                  <a:pt x="120427" y="171979"/>
                  <a:pt x="132292" y="160114"/>
                  <a:pt x="132292" y="145521"/>
                </a:cubicBezTo>
                <a:cubicBezTo>
                  <a:pt x="132292" y="138824"/>
                  <a:pt x="129811" y="132664"/>
                  <a:pt x="125677" y="128034"/>
                </a:cubicBezTo>
                <a:lnTo>
                  <a:pt x="154409" y="70611"/>
                </a:lnTo>
                <a:cubicBezTo>
                  <a:pt x="156848" y="65691"/>
                  <a:pt x="154864" y="59738"/>
                  <a:pt x="149986" y="57299"/>
                </a:cubicBezTo>
                <a:cubicBezTo>
                  <a:pt x="145107" y="54860"/>
                  <a:pt x="139113" y="56844"/>
                  <a:pt x="136674" y="61722"/>
                </a:cubicBezTo>
                <a:lnTo>
                  <a:pt x="107942" y="119145"/>
                </a:lnTo>
                <a:cubicBezTo>
                  <a:pt x="107239" y="119104"/>
                  <a:pt x="106536" y="119063"/>
                  <a:pt x="105833" y="119063"/>
                </a:cubicBezTo>
                <a:cubicBezTo>
                  <a:pt x="91240" y="119063"/>
                  <a:pt x="79375" y="130927"/>
                  <a:pt x="79375" y="145521"/>
                </a:cubicBezTo>
                <a:cubicBezTo>
                  <a:pt x="79375" y="160114"/>
                  <a:pt x="91240" y="171979"/>
                  <a:pt x="105833" y="171979"/>
                </a:cubicBezTo>
                <a:close/>
                <a:moveTo>
                  <a:pt x="72760" y="59531"/>
                </a:moveTo>
                <a:cubicBezTo>
                  <a:pt x="72760" y="52230"/>
                  <a:pt x="66833" y="46302"/>
                  <a:pt x="59531" y="46302"/>
                </a:cubicBezTo>
                <a:cubicBezTo>
                  <a:pt x="52230" y="46302"/>
                  <a:pt x="46302" y="52230"/>
                  <a:pt x="46302" y="59531"/>
                </a:cubicBezTo>
                <a:cubicBezTo>
                  <a:pt x="46302" y="66833"/>
                  <a:pt x="52230" y="72760"/>
                  <a:pt x="59531" y="72760"/>
                </a:cubicBezTo>
                <a:cubicBezTo>
                  <a:pt x="66833" y="72760"/>
                  <a:pt x="72760" y="66833"/>
                  <a:pt x="72760" y="59531"/>
                </a:cubicBezTo>
                <a:close/>
                <a:moveTo>
                  <a:pt x="39688" y="119063"/>
                </a:moveTo>
                <a:cubicBezTo>
                  <a:pt x="46989" y="119063"/>
                  <a:pt x="52917" y="113135"/>
                  <a:pt x="52917" y="105833"/>
                </a:cubicBezTo>
                <a:cubicBezTo>
                  <a:pt x="52917" y="98532"/>
                  <a:pt x="46989" y="92604"/>
                  <a:pt x="39688" y="92604"/>
                </a:cubicBezTo>
                <a:cubicBezTo>
                  <a:pt x="32386" y="92604"/>
                  <a:pt x="26458" y="98532"/>
                  <a:pt x="26458" y="105833"/>
                </a:cubicBezTo>
                <a:cubicBezTo>
                  <a:pt x="26458" y="113135"/>
                  <a:pt x="32386" y="119063"/>
                  <a:pt x="39688" y="119063"/>
                </a:cubicBezTo>
                <a:close/>
                <a:moveTo>
                  <a:pt x="185208" y="105833"/>
                </a:moveTo>
                <a:cubicBezTo>
                  <a:pt x="185208" y="98532"/>
                  <a:pt x="179281" y="92604"/>
                  <a:pt x="171979" y="92604"/>
                </a:cubicBezTo>
                <a:cubicBezTo>
                  <a:pt x="164678" y="92604"/>
                  <a:pt x="158750" y="98532"/>
                  <a:pt x="158750" y="105833"/>
                </a:cubicBezTo>
                <a:cubicBezTo>
                  <a:pt x="158750" y="113135"/>
                  <a:pt x="164678" y="119063"/>
                  <a:pt x="171979" y="119063"/>
                </a:cubicBezTo>
                <a:cubicBezTo>
                  <a:pt x="179281" y="119063"/>
                  <a:pt x="185208" y="113135"/>
                  <a:pt x="185208" y="10583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823725" y="2624667"/>
            <a:ext cx="262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性能要求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3142" y="2878667"/>
            <a:ext cx="264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百万级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29017" y="3217333"/>
            <a:ext cx="2614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每秒写入操作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05534" y="1862667"/>
            <a:ext cx="2889250" cy="1693333"/>
          </a:xfrm>
          <a:custGeom>
            <a:avLst/>
            <a:gdLst/>
            <a:ahLst/>
            <a:cxnLst/>
            <a:rect l="l" t="t" r="r" b="b"/>
            <a:pathLst>
              <a:path w="2889250" h="1693333">
                <a:moveTo>
                  <a:pt x="84667" y="0"/>
                </a:moveTo>
                <a:lnTo>
                  <a:pt x="2804583" y="0"/>
                </a:lnTo>
                <a:cubicBezTo>
                  <a:pt x="2851343" y="0"/>
                  <a:pt x="2889250" y="37907"/>
                  <a:pt x="2889250" y="84667"/>
                </a:cubicBezTo>
                <a:lnTo>
                  <a:pt x="2889250" y="1608667"/>
                </a:lnTo>
                <a:cubicBezTo>
                  <a:pt x="2889250" y="1655427"/>
                  <a:pt x="2851343" y="1693333"/>
                  <a:pt x="2804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895084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043251" y="2180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ubicBezTo>
                  <a:pt x="0" y="47422"/>
                  <a:pt x="47422" y="0"/>
                  <a:pt x="105833" y="0"/>
                </a:cubicBezTo>
                <a:close/>
                <a:moveTo>
                  <a:pt x="95911" y="49609"/>
                </a:moveTo>
                <a:lnTo>
                  <a:pt x="95911" y="105833"/>
                </a:lnTo>
                <a:cubicBezTo>
                  <a:pt x="95911" y="109141"/>
                  <a:pt x="97565" y="112241"/>
                  <a:pt x="100335" y="114102"/>
                </a:cubicBezTo>
                <a:lnTo>
                  <a:pt x="140022" y="140560"/>
                </a:lnTo>
                <a:cubicBezTo>
                  <a:pt x="144570" y="143619"/>
                  <a:pt x="150730" y="142379"/>
                  <a:pt x="153789" y="137790"/>
                </a:cubicBezTo>
                <a:cubicBezTo>
                  <a:pt x="156848" y="133201"/>
                  <a:pt x="155608" y="127083"/>
                  <a:pt x="151019" y="124023"/>
                </a:cubicBezTo>
                <a:lnTo>
                  <a:pt x="115755" y="100542"/>
                </a:lnTo>
                <a:lnTo>
                  <a:pt x="115755" y="49609"/>
                </a:lnTo>
                <a:cubicBezTo>
                  <a:pt x="115755" y="44111"/>
                  <a:pt x="111332" y="39688"/>
                  <a:pt x="105833" y="39688"/>
                </a:cubicBezTo>
                <a:cubicBezTo>
                  <a:pt x="100335" y="39688"/>
                  <a:pt x="95911" y="44111"/>
                  <a:pt x="95911" y="4960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37826" y="2624667"/>
            <a:ext cx="262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延迟要求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7242" y="2878667"/>
            <a:ext cx="264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3117" y="3217333"/>
            <a:ext cx="2614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读取响应时间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19717" y="1862667"/>
            <a:ext cx="2889250" cy="1693333"/>
          </a:xfrm>
          <a:custGeom>
            <a:avLst/>
            <a:gdLst/>
            <a:ahLst/>
            <a:cxnLst/>
            <a:rect l="l" t="t" r="r" b="b"/>
            <a:pathLst>
              <a:path w="2889250" h="1693333">
                <a:moveTo>
                  <a:pt x="84667" y="0"/>
                </a:moveTo>
                <a:lnTo>
                  <a:pt x="2804583" y="0"/>
                </a:lnTo>
                <a:cubicBezTo>
                  <a:pt x="2851343" y="0"/>
                  <a:pt x="2889250" y="37907"/>
                  <a:pt x="2889250" y="84667"/>
                </a:cubicBezTo>
                <a:lnTo>
                  <a:pt x="2889250" y="1608667"/>
                </a:lnTo>
                <a:cubicBezTo>
                  <a:pt x="2889250" y="1655427"/>
                  <a:pt x="2851343" y="1693333"/>
                  <a:pt x="2804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909267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1057434" y="2180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07735" y="0"/>
                  <a:pt x="109637" y="413"/>
                  <a:pt x="111373" y="1199"/>
                </a:cubicBezTo>
                <a:lnTo>
                  <a:pt x="189260" y="34230"/>
                </a:lnTo>
                <a:cubicBezTo>
                  <a:pt x="198355" y="38075"/>
                  <a:pt x="205135" y="47046"/>
                  <a:pt x="205093" y="57878"/>
                </a:cubicBezTo>
                <a:cubicBezTo>
                  <a:pt x="204887" y="98888"/>
                  <a:pt x="188020" y="173922"/>
                  <a:pt x="116789" y="208029"/>
                </a:cubicBezTo>
                <a:cubicBezTo>
                  <a:pt x="109885" y="211336"/>
                  <a:pt x="101865" y="211336"/>
                  <a:pt x="94961" y="208029"/>
                </a:cubicBezTo>
                <a:cubicBezTo>
                  <a:pt x="23688" y="173922"/>
                  <a:pt x="6863" y="98888"/>
                  <a:pt x="6656" y="57878"/>
                </a:cubicBezTo>
                <a:cubicBezTo>
                  <a:pt x="6615" y="47046"/>
                  <a:pt x="13395" y="38075"/>
                  <a:pt x="22490" y="34230"/>
                </a:cubicBezTo>
                <a:lnTo>
                  <a:pt x="100335" y="1199"/>
                </a:lnTo>
                <a:cubicBezTo>
                  <a:pt x="102071" y="413"/>
                  <a:pt x="103932" y="0"/>
                  <a:pt x="105833" y="0"/>
                </a:cubicBezTo>
                <a:close/>
                <a:moveTo>
                  <a:pt x="105833" y="27616"/>
                </a:moveTo>
                <a:lnTo>
                  <a:pt x="105833" y="183927"/>
                </a:lnTo>
                <a:cubicBezTo>
                  <a:pt x="162884" y="156311"/>
                  <a:pt x="178222" y="95126"/>
                  <a:pt x="178594" y="58498"/>
                </a:cubicBezTo>
                <a:lnTo>
                  <a:pt x="105833" y="27657"/>
                </a:lnTo>
                <a:lnTo>
                  <a:pt x="105833" y="27657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852008" y="2624667"/>
            <a:ext cx="262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41425" y="2878667"/>
            <a:ext cx="264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57300" y="3217333"/>
            <a:ext cx="2614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7×24小时服务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733817" y="1862667"/>
            <a:ext cx="2889250" cy="1693333"/>
          </a:xfrm>
          <a:custGeom>
            <a:avLst/>
            <a:gdLst/>
            <a:ahLst/>
            <a:cxnLst/>
            <a:rect l="l" t="t" r="r" b="b"/>
            <a:pathLst>
              <a:path w="2889250" h="1693333">
                <a:moveTo>
                  <a:pt x="84667" y="0"/>
                </a:moveTo>
                <a:lnTo>
                  <a:pt x="2804583" y="0"/>
                </a:lnTo>
                <a:cubicBezTo>
                  <a:pt x="2851343" y="0"/>
                  <a:pt x="2889250" y="37907"/>
                  <a:pt x="2889250" y="84667"/>
                </a:cubicBezTo>
                <a:lnTo>
                  <a:pt x="2889250" y="1608667"/>
                </a:lnTo>
                <a:cubicBezTo>
                  <a:pt x="2889250" y="1655427"/>
                  <a:pt x="2851343" y="1693333"/>
                  <a:pt x="2804583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3923367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4084763" y="218016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69453" y="13229"/>
                </a:moveTo>
                <a:lnTo>
                  <a:pt x="9922" y="13229"/>
                </a:lnTo>
                <a:cubicBezTo>
                  <a:pt x="4424" y="13229"/>
                  <a:pt x="0" y="17653"/>
                  <a:pt x="0" y="23151"/>
                </a:cubicBezTo>
                <a:lnTo>
                  <a:pt x="0" y="82682"/>
                </a:lnTo>
                <a:cubicBezTo>
                  <a:pt x="0" y="86692"/>
                  <a:pt x="2398" y="90330"/>
                  <a:pt x="6118" y="91860"/>
                </a:cubicBezTo>
                <a:cubicBezTo>
                  <a:pt x="9839" y="93390"/>
                  <a:pt x="14097" y="92521"/>
                  <a:pt x="16950" y="89710"/>
                </a:cubicBezTo>
                <a:lnTo>
                  <a:pt x="33486" y="73174"/>
                </a:lnTo>
                <a:lnTo>
                  <a:pt x="66146" y="105833"/>
                </a:lnTo>
                <a:lnTo>
                  <a:pt x="33486" y="138493"/>
                </a:lnTo>
                <a:lnTo>
                  <a:pt x="16950" y="121956"/>
                </a:lnTo>
                <a:cubicBezTo>
                  <a:pt x="14097" y="119104"/>
                  <a:pt x="9839" y="118277"/>
                  <a:pt x="6118" y="119807"/>
                </a:cubicBezTo>
                <a:cubicBezTo>
                  <a:pt x="2398" y="121336"/>
                  <a:pt x="0" y="124974"/>
                  <a:pt x="0" y="128984"/>
                </a:cubicBezTo>
                <a:lnTo>
                  <a:pt x="0" y="188516"/>
                </a:lnTo>
                <a:cubicBezTo>
                  <a:pt x="0" y="194014"/>
                  <a:pt x="4424" y="198438"/>
                  <a:pt x="9922" y="198438"/>
                </a:cubicBezTo>
                <a:lnTo>
                  <a:pt x="69453" y="198438"/>
                </a:lnTo>
                <a:cubicBezTo>
                  <a:pt x="73463" y="198438"/>
                  <a:pt x="77101" y="196040"/>
                  <a:pt x="78631" y="192319"/>
                </a:cubicBezTo>
                <a:cubicBezTo>
                  <a:pt x="80160" y="188598"/>
                  <a:pt x="79334" y="184340"/>
                  <a:pt x="76481" y="181488"/>
                </a:cubicBezTo>
                <a:lnTo>
                  <a:pt x="59945" y="164951"/>
                </a:lnTo>
                <a:lnTo>
                  <a:pt x="92604" y="132292"/>
                </a:lnTo>
                <a:lnTo>
                  <a:pt x="125264" y="164951"/>
                </a:lnTo>
                <a:lnTo>
                  <a:pt x="108727" y="181488"/>
                </a:lnTo>
                <a:cubicBezTo>
                  <a:pt x="105875" y="184340"/>
                  <a:pt x="105048" y="188598"/>
                  <a:pt x="106577" y="192319"/>
                </a:cubicBezTo>
                <a:cubicBezTo>
                  <a:pt x="108107" y="196040"/>
                  <a:pt x="111745" y="198438"/>
                  <a:pt x="115755" y="198438"/>
                </a:cubicBezTo>
                <a:lnTo>
                  <a:pt x="175286" y="198438"/>
                </a:lnTo>
                <a:cubicBezTo>
                  <a:pt x="180785" y="198438"/>
                  <a:pt x="185208" y="194014"/>
                  <a:pt x="185208" y="188516"/>
                </a:cubicBezTo>
                <a:lnTo>
                  <a:pt x="185208" y="128984"/>
                </a:lnTo>
                <a:cubicBezTo>
                  <a:pt x="185208" y="124974"/>
                  <a:pt x="182811" y="121336"/>
                  <a:pt x="179090" y="119807"/>
                </a:cubicBezTo>
                <a:cubicBezTo>
                  <a:pt x="175369" y="118277"/>
                  <a:pt x="171111" y="119104"/>
                  <a:pt x="168258" y="121956"/>
                </a:cubicBezTo>
                <a:lnTo>
                  <a:pt x="151722" y="138493"/>
                </a:lnTo>
                <a:lnTo>
                  <a:pt x="119063" y="105833"/>
                </a:lnTo>
                <a:lnTo>
                  <a:pt x="151722" y="73174"/>
                </a:lnTo>
                <a:lnTo>
                  <a:pt x="168258" y="89710"/>
                </a:lnTo>
                <a:cubicBezTo>
                  <a:pt x="171111" y="92563"/>
                  <a:pt x="175369" y="93390"/>
                  <a:pt x="179090" y="91860"/>
                </a:cubicBezTo>
                <a:cubicBezTo>
                  <a:pt x="182811" y="90330"/>
                  <a:pt x="185208" y="86692"/>
                  <a:pt x="185208" y="82682"/>
                </a:cubicBezTo>
                <a:lnTo>
                  <a:pt x="185208" y="23151"/>
                </a:lnTo>
                <a:cubicBezTo>
                  <a:pt x="185208" y="17653"/>
                  <a:pt x="180785" y="13229"/>
                  <a:pt x="175286" y="13229"/>
                </a:cubicBezTo>
                <a:lnTo>
                  <a:pt x="115755" y="13229"/>
                </a:lnTo>
                <a:cubicBezTo>
                  <a:pt x="111745" y="13229"/>
                  <a:pt x="108107" y="15627"/>
                  <a:pt x="106577" y="19348"/>
                </a:cubicBezTo>
                <a:cubicBezTo>
                  <a:pt x="105048" y="23068"/>
                  <a:pt x="105916" y="27326"/>
                  <a:pt x="108727" y="30179"/>
                </a:cubicBezTo>
                <a:lnTo>
                  <a:pt x="125264" y="46715"/>
                </a:lnTo>
                <a:lnTo>
                  <a:pt x="92604" y="79375"/>
                </a:lnTo>
                <a:lnTo>
                  <a:pt x="59945" y="46715"/>
                </a:lnTo>
                <a:lnTo>
                  <a:pt x="76481" y="30179"/>
                </a:lnTo>
                <a:cubicBezTo>
                  <a:pt x="79334" y="27326"/>
                  <a:pt x="80160" y="23068"/>
                  <a:pt x="78631" y="19348"/>
                </a:cubicBezTo>
                <a:cubicBezTo>
                  <a:pt x="77101" y="15627"/>
                  <a:pt x="73463" y="13229"/>
                  <a:pt x="69453" y="1322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866109" y="2624667"/>
            <a:ext cx="262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55525" y="2878667"/>
            <a:ext cx="264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线性扩展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71400" y="3217333"/>
            <a:ext cx="2614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支持快速增长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333" y="3937001"/>
            <a:ext cx="10212917" cy="4987544"/>
          </a:xfrm>
          <a:custGeom>
            <a:avLst/>
            <a:gdLst/>
            <a:ahLst/>
            <a:cxnLst/>
            <a:rect l="l" t="t" r="r" b="b"/>
            <a:pathLst>
              <a:path w="10212917" h="6106583">
                <a:moveTo>
                  <a:pt x="127017" y="0"/>
                </a:moveTo>
                <a:lnTo>
                  <a:pt x="10085900" y="0"/>
                </a:lnTo>
                <a:cubicBezTo>
                  <a:pt x="10156049" y="0"/>
                  <a:pt x="10212917" y="56867"/>
                  <a:pt x="10212917" y="127017"/>
                </a:cubicBezTo>
                <a:lnTo>
                  <a:pt x="10212917" y="5979566"/>
                </a:lnTo>
                <a:cubicBezTo>
                  <a:pt x="10212917" y="6049716"/>
                  <a:pt x="10156049" y="6106583"/>
                  <a:pt x="10085900" y="6106583"/>
                </a:cubicBezTo>
                <a:lnTo>
                  <a:pt x="127017" y="6106583"/>
                </a:lnTo>
                <a:cubicBezTo>
                  <a:pt x="56867" y="6106583"/>
                  <a:pt x="0" y="6049716"/>
                  <a:pt x="0" y="5979566"/>
                </a:cubicBezTo>
                <a:lnTo>
                  <a:pt x="0" y="127017"/>
                </a:lnTo>
                <a:cubicBezTo>
                  <a:pt x="0" y="56914"/>
                  <a:pt x="56914" y="0"/>
                  <a:pt x="12701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5000" y="4148667"/>
            <a:ext cx="9895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传统解决方案及其局限性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000" y="4572000"/>
            <a:ext cx="9789583" cy="1100667"/>
          </a:xfrm>
          <a:custGeom>
            <a:avLst/>
            <a:gdLst/>
            <a:ahLst/>
            <a:cxnLst/>
            <a:rect l="l" t="t" r="r" b="b"/>
            <a:pathLst>
              <a:path w="9789583" h="1100667">
                <a:moveTo>
                  <a:pt x="84663" y="0"/>
                </a:moveTo>
                <a:lnTo>
                  <a:pt x="9704920" y="0"/>
                </a:lnTo>
                <a:cubicBezTo>
                  <a:pt x="9751678" y="0"/>
                  <a:pt x="9789583" y="37905"/>
                  <a:pt x="9789583" y="84663"/>
                </a:cubicBezTo>
                <a:lnTo>
                  <a:pt x="9789583" y="1016003"/>
                </a:lnTo>
                <a:cubicBezTo>
                  <a:pt x="9789583" y="1062762"/>
                  <a:pt x="9751678" y="1100667"/>
                  <a:pt x="9704920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36083" y="47836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4667" y="52917"/>
                </a:moveTo>
                <a:lnTo>
                  <a:pt x="84667" y="84667"/>
                </a:lnTo>
                <a:lnTo>
                  <a:pt x="127000" y="84667"/>
                </a:lnTo>
                <a:lnTo>
                  <a:pt x="127000" y="52917"/>
                </a:lnTo>
                <a:lnTo>
                  <a:pt x="84667" y="52917"/>
                </a:lnTo>
                <a:close/>
                <a:moveTo>
                  <a:pt x="63500" y="52917"/>
                </a:moveTo>
                <a:lnTo>
                  <a:pt x="21167" y="52917"/>
                </a:lnTo>
                <a:lnTo>
                  <a:pt x="21167" y="84667"/>
                </a:lnTo>
                <a:lnTo>
                  <a:pt x="63500" y="84667"/>
                </a:lnTo>
                <a:lnTo>
                  <a:pt x="63500" y="52917"/>
                </a:lnTo>
                <a:close/>
                <a:moveTo>
                  <a:pt x="0" y="105833"/>
                </a:moveTo>
                <a:lnTo>
                  <a:pt x="0" y="31750"/>
                </a:lnTo>
                <a:cubicBezTo>
                  <a:pt x="0" y="20075"/>
                  <a:pt x="9492" y="10583"/>
                  <a:pt x="21167" y="10583"/>
                </a:cubicBezTo>
                <a:lnTo>
                  <a:pt x="127000" y="10583"/>
                </a:lnTo>
                <a:cubicBezTo>
                  <a:pt x="138675" y="10583"/>
                  <a:pt x="148167" y="20075"/>
                  <a:pt x="148167" y="31750"/>
                </a:cubicBezTo>
                <a:lnTo>
                  <a:pt x="148167" y="137583"/>
                </a:lnTo>
                <a:cubicBezTo>
                  <a:pt x="148167" y="149258"/>
                  <a:pt x="138675" y="158750"/>
                  <a:pt x="127000" y="158750"/>
                </a:cubicBezTo>
                <a:lnTo>
                  <a:pt x="21167" y="158750"/>
                </a:lnTo>
                <a:cubicBezTo>
                  <a:pt x="9492" y="158750"/>
                  <a:pt x="0" y="149258"/>
                  <a:pt x="0" y="137583"/>
                </a:cubicBezTo>
                <a:lnTo>
                  <a:pt x="0" y="105833"/>
                </a:lnTo>
                <a:close/>
                <a:moveTo>
                  <a:pt x="127000" y="105833"/>
                </a:moveTo>
                <a:lnTo>
                  <a:pt x="84667" y="105833"/>
                </a:lnTo>
                <a:lnTo>
                  <a:pt x="84667" y="137583"/>
                </a:lnTo>
                <a:lnTo>
                  <a:pt x="127000" y="137583"/>
                </a:lnTo>
                <a:lnTo>
                  <a:pt x="127000" y="105833"/>
                </a:lnTo>
                <a:close/>
                <a:moveTo>
                  <a:pt x="63500" y="137583"/>
                </a:moveTo>
                <a:lnTo>
                  <a:pt x="63500" y="105833"/>
                </a:lnTo>
                <a:lnTo>
                  <a:pt x="21167" y="105833"/>
                </a:lnTo>
                <a:lnTo>
                  <a:pt x="21167" y="137583"/>
                </a:lnTo>
                <a:lnTo>
                  <a:pt x="63500" y="137583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16000" y="4741333"/>
            <a:ext cx="9323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关系型数据库方案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333" y="5080000"/>
            <a:ext cx="95250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强一致性要求使分布式架构难以实现,无法有效水平扩展;B+树随机写导致严重写放大;固定表结构无法适应半结构化数据;商业许可证成本过高。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000" y="5799667"/>
            <a:ext cx="9789583" cy="889000"/>
          </a:xfrm>
          <a:custGeom>
            <a:avLst/>
            <a:gdLst/>
            <a:ahLst/>
            <a:cxnLst/>
            <a:rect l="l" t="t" r="r" b="b"/>
            <a:pathLst>
              <a:path w="9789583" h="889000">
                <a:moveTo>
                  <a:pt x="84668" y="0"/>
                </a:moveTo>
                <a:lnTo>
                  <a:pt x="9704915" y="0"/>
                </a:lnTo>
                <a:cubicBezTo>
                  <a:pt x="9751676" y="0"/>
                  <a:pt x="9789583" y="37907"/>
                  <a:pt x="9789583" y="84668"/>
                </a:cubicBezTo>
                <a:lnTo>
                  <a:pt x="9789583" y="804332"/>
                </a:lnTo>
                <a:cubicBezTo>
                  <a:pt x="9789583" y="851093"/>
                  <a:pt x="9751676" y="889000"/>
                  <a:pt x="970491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25500" y="6011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148167"/>
                </a:moveTo>
                <a:lnTo>
                  <a:pt x="148167" y="148167"/>
                </a:lnTo>
                <a:cubicBezTo>
                  <a:pt x="159841" y="148167"/>
                  <a:pt x="169333" y="138675"/>
                  <a:pt x="169333" y="127000"/>
                </a:cubicBezTo>
                <a:lnTo>
                  <a:pt x="169333" y="47625"/>
                </a:lnTo>
                <a:cubicBezTo>
                  <a:pt x="169333" y="35950"/>
                  <a:pt x="159841" y="26458"/>
                  <a:pt x="148167" y="26458"/>
                </a:cubicBezTo>
                <a:lnTo>
                  <a:pt x="98789" y="26458"/>
                </a:lnTo>
                <a:cubicBezTo>
                  <a:pt x="96507" y="26458"/>
                  <a:pt x="94258" y="25731"/>
                  <a:pt x="92439" y="24342"/>
                </a:cubicBezTo>
                <a:lnTo>
                  <a:pt x="79739" y="14817"/>
                </a:lnTo>
                <a:cubicBezTo>
                  <a:pt x="76068" y="12072"/>
                  <a:pt x="71603" y="10583"/>
                  <a:pt x="67039" y="10583"/>
                </a:cubicBezTo>
                <a:lnTo>
                  <a:pt x="21167" y="10583"/>
                </a:lnTo>
                <a:cubicBezTo>
                  <a:pt x="9492" y="10583"/>
                  <a:pt x="0" y="20075"/>
                  <a:pt x="0" y="31750"/>
                </a:cubicBezTo>
                <a:lnTo>
                  <a:pt x="0" y="127000"/>
                </a:lnTo>
                <a:cubicBezTo>
                  <a:pt x="0" y="138675"/>
                  <a:pt x="9492" y="148167"/>
                  <a:pt x="21167" y="14816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16000" y="5969000"/>
            <a:ext cx="9323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文件系统方案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4333" y="6307667"/>
            <a:ext cx="952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缺少索引支持使大规模数据检索性能极差;分布式环境下文件同步和一致性保证复杂;海量小文件管理维护成本呈指数级增长。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000" y="6815667"/>
            <a:ext cx="9789583" cy="889000"/>
          </a:xfrm>
          <a:custGeom>
            <a:avLst/>
            <a:gdLst/>
            <a:ahLst/>
            <a:cxnLst/>
            <a:rect l="l" t="t" r="r" b="b"/>
            <a:pathLst>
              <a:path w="9789583" h="889000">
                <a:moveTo>
                  <a:pt x="84668" y="0"/>
                </a:moveTo>
                <a:lnTo>
                  <a:pt x="9704915" y="0"/>
                </a:lnTo>
                <a:cubicBezTo>
                  <a:pt x="9751676" y="0"/>
                  <a:pt x="9789583" y="37907"/>
                  <a:pt x="9789583" y="84668"/>
                </a:cubicBezTo>
                <a:lnTo>
                  <a:pt x="9789583" y="804332"/>
                </a:lnTo>
                <a:cubicBezTo>
                  <a:pt x="9789583" y="851093"/>
                  <a:pt x="9751676" y="889000"/>
                  <a:pt x="970491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14917" y="702733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19327" y="397"/>
                </a:moveTo>
                <a:cubicBezTo>
                  <a:pt x="113705" y="-1224"/>
                  <a:pt x="107851" y="2051"/>
                  <a:pt x="106230" y="7673"/>
                </a:cubicBezTo>
                <a:lnTo>
                  <a:pt x="63897" y="155840"/>
                </a:lnTo>
                <a:cubicBezTo>
                  <a:pt x="62276" y="161462"/>
                  <a:pt x="65551" y="167316"/>
                  <a:pt x="71173" y="168936"/>
                </a:cubicBezTo>
                <a:cubicBezTo>
                  <a:pt x="76795" y="170557"/>
                  <a:pt x="82649" y="167283"/>
                  <a:pt x="84270" y="161660"/>
                </a:cubicBezTo>
                <a:lnTo>
                  <a:pt x="126603" y="13494"/>
                </a:lnTo>
                <a:cubicBezTo>
                  <a:pt x="128224" y="7871"/>
                  <a:pt x="124949" y="2017"/>
                  <a:pt x="119327" y="397"/>
                </a:cubicBezTo>
                <a:close/>
                <a:moveTo>
                  <a:pt x="140692" y="45409"/>
                </a:moveTo>
                <a:cubicBezTo>
                  <a:pt x="136558" y="49543"/>
                  <a:pt x="136558" y="56257"/>
                  <a:pt x="140692" y="60391"/>
                </a:cubicBezTo>
                <a:lnTo>
                  <a:pt x="164968" y="84667"/>
                </a:lnTo>
                <a:lnTo>
                  <a:pt x="140692" y="108942"/>
                </a:lnTo>
                <a:cubicBezTo>
                  <a:pt x="136558" y="113076"/>
                  <a:pt x="136558" y="119790"/>
                  <a:pt x="140692" y="123924"/>
                </a:cubicBezTo>
                <a:cubicBezTo>
                  <a:pt x="144826" y="128058"/>
                  <a:pt x="151540" y="128058"/>
                  <a:pt x="155674" y="123924"/>
                </a:cubicBezTo>
                <a:lnTo>
                  <a:pt x="187424" y="92174"/>
                </a:lnTo>
                <a:cubicBezTo>
                  <a:pt x="191558" y="88040"/>
                  <a:pt x="191558" y="81326"/>
                  <a:pt x="187424" y="77192"/>
                </a:cubicBezTo>
                <a:lnTo>
                  <a:pt x="155674" y="45442"/>
                </a:lnTo>
                <a:cubicBezTo>
                  <a:pt x="151540" y="41308"/>
                  <a:pt x="144826" y="41308"/>
                  <a:pt x="140692" y="45442"/>
                </a:cubicBezTo>
                <a:close/>
                <a:moveTo>
                  <a:pt x="49841" y="45409"/>
                </a:moveTo>
                <a:cubicBezTo>
                  <a:pt x="45707" y="41275"/>
                  <a:pt x="38993" y="41275"/>
                  <a:pt x="34859" y="45409"/>
                </a:cubicBezTo>
                <a:lnTo>
                  <a:pt x="3109" y="77159"/>
                </a:lnTo>
                <a:cubicBezTo>
                  <a:pt x="-1025" y="81293"/>
                  <a:pt x="-1025" y="88007"/>
                  <a:pt x="3109" y="92141"/>
                </a:cubicBezTo>
                <a:lnTo>
                  <a:pt x="34859" y="123891"/>
                </a:lnTo>
                <a:cubicBezTo>
                  <a:pt x="38993" y="128025"/>
                  <a:pt x="45707" y="128025"/>
                  <a:pt x="49841" y="123891"/>
                </a:cubicBezTo>
                <a:cubicBezTo>
                  <a:pt x="53975" y="119757"/>
                  <a:pt x="53975" y="113043"/>
                  <a:pt x="49841" y="108909"/>
                </a:cubicBezTo>
                <a:lnTo>
                  <a:pt x="25565" y="84667"/>
                </a:lnTo>
                <a:lnTo>
                  <a:pt x="49808" y="60391"/>
                </a:lnTo>
                <a:cubicBezTo>
                  <a:pt x="53942" y="56257"/>
                  <a:pt x="53942" y="49543"/>
                  <a:pt x="49808" y="4540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16000" y="6985000"/>
            <a:ext cx="9323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自定义存储方案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4333" y="7323667"/>
            <a:ext cx="952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通用性不足,每个业务需重复开发;分散的存储系统大大增加运维复杂度;缺乏统一查询接口、监控工具和运维体系支持。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809056" y="3937000"/>
            <a:ext cx="5027083" cy="4987545"/>
          </a:xfrm>
          <a:custGeom>
            <a:avLst/>
            <a:gdLst/>
            <a:ahLst/>
            <a:cxnLst/>
            <a:rect l="l" t="t" r="r" b="b"/>
            <a:pathLst>
              <a:path w="5027083" h="6106583">
                <a:moveTo>
                  <a:pt x="126984" y="0"/>
                </a:moveTo>
                <a:lnTo>
                  <a:pt x="4900099" y="0"/>
                </a:lnTo>
                <a:cubicBezTo>
                  <a:pt x="4970231" y="0"/>
                  <a:pt x="5027083" y="56853"/>
                  <a:pt x="5027083" y="126984"/>
                </a:cubicBezTo>
                <a:lnTo>
                  <a:pt x="5027083" y="5979599"/>
                </a:lnTo>
                <a:cubicBezTo>
                  <a:pt x="5027083" y="6049731"/>
                  <a:pt x="4970231" y="6106583"/>
                  <a:pt x="4900099" y="6106583"/>
                </a:cubicBezTo>
                <a:lnTo>
                  <a:pt x="126984" y="6106583"/>
                </a:lnTo>
                <a:cubicBezTo>
                  <a:pt x="56853" y="6106583"/>
                  <a:pt x="0" y="6049731"/>
                  <a:pt x="0" y="5979599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020723" y="4148667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根本性技术困境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20723" y="4572000"/>
            <a:ext cx="4603750" cy="889000"/>
          </a:xfrm>
          <a:custGeom>
            <a:avLst/>
            <a:gdLst/>
            <a:ahLst/>
            <a:cxnLst/>
            <a:rect l="l" t="t" r="r" b="b"/>
            <a:pathLst>
              <a:path w="4603750" h="889000">
                <a:moveTo>
                  <a:pt x="84668" y="0"/>
                </a:moveTo>
                <a:lnTo>
                  <a:pt x="4519082" y="0"/>
                </a:lnTo>
                <a:cubicBezTo>
                  <a:pt x="4565843" y="0"/>
                  <a:pt x="4603750" y="37907"/>
                  <a:pt x="4603750" y="84668"/>
                </a:cubicBezTo>
                <a:lnTo>
                  <a:pt x="4603750" y="804332"/>
                </a:lnTo>
                <a:cubicBezTo>
                  <a:pt x="4603750" y="851093"/>
                  <a:pt x="4565843" y="889000"/>
                  <a:pt x="451908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190056" y="4741333"/>
            <a:ext cx="434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扩展性困境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90056" y="5080000"/>
            <a:ext cx="433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垂直扩展受硬件限制,水平扩展面临分布式事务难题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20723" y="5588000"/>
            <a:ext cx="4603750" cy="889000"/>
          </a:xfrm>
          <a:custGeom>
            <a:avLst/>
            <a:gdLst/>
            <a:ahLst/>
            <a:cxnLst/>
            <a:rect l="l" t="t" r="r" b="b"/>
            <a:pathLst>
              <a:path w="4603750" h="889000">
                <a:moveTo>
                  <a:pt x="84668" y="0"/>
                </a:moveTo>
                <a:lnTo>
                  <a:pt x="4519082" y="0"/>
                </a:lnTo>
                <a:cubicBezTo>
                  <a:pt x="4565843" y="0"/>
                  <a:pt x="4603750" y="37907"/>
                  <a:pt x="4603750" y="84668"/>
                </a:cubicBezTo>
                <a:lnTo>
                  <a:pt x="4603750" y="804332"/>
                </a:lnTo>
                <a:cubicBezTo>
                  <a:pt x="4603750" y="851093"/>
                  <a:pt x="4565843" y="889000"/>
                  <a:pt x="451908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190056" y="5757333"/>
            <a:ext cx="434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性能困境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90056" y="6096000"/>
            <a:ext cx="433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写入优化与读取优化存在根本冲突,强一致性与高吞吐难以兼得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20723" y="6604000"/>
            <a:ext cx="4603750" cy="889000"/>
          </a:xfrm>
          <a:custGeom>
            <a:avLst/>
            <a:gdLst/>
            <a:ahLst/>
            <a:cxnLst/>
            <a:rect l="l" t="t" r="r" b="b"/>
            <a:pathLst>
              <a:path w="4603750" h="889000">
                <a:moveTo>
                  <a:pt x="84668" y="0"/>
                </a:moveTo>
                <a:lnTo>
                  <a:pt x="4519082" y="0"/>
                </a:lnTo>
                <a:cubicBezTo>
                  <a:pt x="4565843" y="0"/>
                  <a:pt x="4603750" y="37907"/>
                  <a:pt x="4603750" y="84668"/>
                </a:cubicBezTo>
                <a:lnTo>
                  <a:pt x="4603750" y="804332"/>
                </a:lnTo>
                <a:cubicBezTo>
                  <a:pt x="4603750" y="851093"/>
                  <a:pt x="4565843" y="889000"/>
                  <a:pt x="451908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190056" y="6773333"/>
            <a:ext cx="434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成本困境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190056" y="7112000"/>
            <a:ext cx="433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商业许可证成本与数据规模线性相关,专用硬件需求推高成本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020723" y="7620000"/>
            <a:ext cx="4603750" cy="889000"/>
          </a:xfrm>
          <a:custGeom>
            <a:avLst/>
            <a:gdLst/>
            <a:ahLst/>
            <a:cxnLst/>
            <a:rect l="l" t="t" r="r" b="b"/>
            <a:pathLst>
              <a:path w="4603750" h="889000">
                <a:moveTo>
                  <a:pt x="84668" y="0"/>
                </a:moveTo>
                <a:lnTo>
                  <a:pt x="4519082" y="0"/>
                </a:lnTo>
                <a:cubicBezTo>
                  <a:pt x="4565843" y="0"/>
                  <a:pt x="4603750" y="37907"/>
                  <a:pt x="4603750" y="84668"/>
                </a:cubicBezTo>
                <a:lnTo>
                  <a:pt x="4603750" y="804332"/>
                </a:lnTo>
                <a:cubicBezTo>
                  <a:pt x="4603750" y="851093"/>
                  <a:pt x="4565843" y="889000"/>
                  <a:pt x="4519082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1190056" y="7789333"/>
            <a:ext cx="434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运维困境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90056" y="8128000"/>
            <a:ext cx="433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分布式系统复杂性导致运维难度增加,缺乏自动化故障恢复机制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343" y="534977"/>
            <a:ext cx="48634" cy="389074"/>
          </a:xfrm>
          <a:custGeom>
            <a:avLst/>
            <a:gdLst/>
            <a:ahLst/>
            <a:cxnLst/>
            <a:rect l="l" t="t" r="r" b="b"/>
            <a:pathLst>
              <a:path w="48634" h="389074">
                <a:moveTo>
                  <a:pt x="0" y="0"/>
                </a:moveTo>
                <a:lnTo>
                  <a:pt x="48634" y="0"/>
                </a:lnTo>
                <a:lnTo>
                  <a:pt x="48634" y="389074"/>
                </a:lnTo>
                <a:lnTo>
                  <a:pt x="0" y="389074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0880" y="486343"/>
            <a:ext cx="4073119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4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论文核心贡献与应用场景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0660" y="1313125"/>
            <a:ext cx="7513993" cy="7830115"/>
          </a:xfrm>
          <a:custGeom>
            <a:avLst/>
            <a:gdLst/>
            <a:ahLst/>
            <a:cxnLst/>
            <a:rect l="l" t="t" r="r" b="b"/>
            <a:pathLst>
              <a:path w="7513993" h="7830115">
                <a:moveTo>
                  <a:pt x="48634" y="0"/>
                </a:moveTo>
                <a:lnTo>
                  <a:pt x="7368071" y="0"/>
                </a:lnTo>
                <a:cubicBezTo>
                  <a:pt x="7448661" y="0"/>
                  <a:pt x="7513993" y="65331"/>
                  <a:pt x="7513993" y="145922"/>
                </a:cubicBezTo>
                <a:lnTo>
                  <a:pt x="7513993" y="7684193"/>
                </a:lnTo>
                <a:cubicBezTo>
                  <a:pt x="7513993" y="7764784"/>
                  <a:pt x="7448661" y="7830115"/>
                  <a:pt x="7368071" y="7830115"/>
                </a:cubicBezTo>
                <a:lnTo>
                  <a:pt x="48634" y="7830115"/>
                </a:lnTo>
                <a:cubicBezTo>
                  <a:pt x="21774" y="7830115"/>
                  <a:pt x="0" y="7808341"/>
                  <a:pt x="0" y="7781481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0660" y="1313125"/>
            <a:ext cx="48634" cy="7830115"/>
          </a:xfrm>
          <a:custGeom>
            <a:avLst/>
            <a:gdLst/>
            <a:ahLst/>
            <a:cxnLst/>
            <a:rect l="l" t="t" r="r" b="b"/>
            <a:pathLst>
              <a:path w="48634" h="7830115">
                <a:moveTo>
                  <a:pt x="48634" y="0"/>
                </a:moveTo>
                <a:lnTo>
                  <a:pt x="48634" y="0"/>
                </a:lnTo>
                <a:lnTo>
                  <a:pt x="48634" y="7830115"/>
                </a:lnTo>
                <a:lnTo>
                  <a:pt x="48634" y="7830115"/>
                </a:lnTo>
                <a:cubicBezTo>
                  <a:pt x="21774" y="7830115"/>
                  <a:pt x="0" y="7808341"/>
                  <a:pt x="0" y="7781481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8148" y="1556296"/>
            <a:ext cx="7124918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四大技术创新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8148" y="2042639"/>
            <a:ext cx="7003333" cy="1604930"/>
          </a:xfrm>
          <a:custGeom>
            <a:avLst/>
            <a:gdLst/>
            <a:ahLst/>
            <a:cxnLst/>
            <a:rect l="l" t="t" r="r" b="b"/>
            <a:pathLst>
              <a:path w="7003333" h="1604930">
                <a:moveTo>
                  <a:pt x="97275" y="0"/>
                </a:moveTo>
                <a:lnTo>
                  <a:pt x="6906058" y="0"/>
                </a:lnTo>
                <a:cubicBezTo>
                  <a:pt x="6959781" y="0"/>
                  <a:pt x="7003333" y="43551"/>
                  <a:pt x="7003333" y="97275"/>
                </a:cubicBezTo>
                <a:lnTo>
                  <a:pt x="7003333" y="1507656"/>
                </a:lnTo>
                <a:cubicBezTo>
                  <a:pt x="7003333" y="1561379"/>
                  <a:pt x="6959781" y="1604930"/>
                  <a:pt x="6906058" y="1604930"/>
                </a:cubicBezTo>
                <a:lnTo>
                  <a:pt x="97275" y="1604930"/>
                </a:lnTo>
                <a:cubicBezTo>
                  <a:pt x="43551" y="1604930"/>
                  <a:pt x="0" y="1561379"/>
                  <a:pt x="0" y="1507656"/>
                </a:cubicBezTo>
                <a:lnTo>
                  <a:pt x="0" y="97275"/>
                </a:lnTo>
                <a:cubicBezTo>
                  <a:pt x="0" y="43587"/>
                  <a:pt x="43587" y="0"/>
                  <a:pt x="97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2685" y="2237176"/>
            <a:ext cx="671152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1 </a:t>
            </a:r>
            <a:r>
              <a:rPr lang="en-US" sz="153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技术范式创新:LSM-tree应用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2685" y="2626250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写入优化: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通过追加写和后台合并,避免B+树写放大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2685" y="2918055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顺序I/O: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充分利用磁盘顺序写入性能,提升吞吐量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2685" y="3209861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内存缓冲: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使用MemTable缓存最新数据,提供低延迟读取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8148" y="3793472"/>
            <a:ext cx="7003333" cy="1604930"/>
          </a:xfrm>
          <a:custGeom>
            <a:avLst/>
            <a:gdLst/>
            <a:ahLst/>
            <a:cxnLst/>
            <a:rect l="l" t="t" r="r" b="b"/>
            <a:pathLst>
              <a:path w="7003333" h="1604930">
                <a:moveTo>
                  <a:pt x="97275" y="0"/>
                </a:moveTo>
                <a:lnTo>
                  <a:pt x="6906058" y="0"/>
                </a:lnTo>
                <a:cubicBezTo>
                  <a:pt x="6959781" y="0"/>
                  <a:pt x="7003333" y="43551"/>
                  <a:pt x="7003333" y="97275"/>
                </a:cubicBezTo>
                <a:lnTo>
                  <a:pt x="7003333" y="1507656"/>
                </a:lnTo>
                <a:cubicBezTo>
                  <a:pt x="7003333" y="1561379"/>
                  <a:pt x="6959781" y="1604930"/>
                  <a:pt x="6906058" y="1604930"/>
                </a:cubicBezTo>
                <a:lnTo>
                  <a:pt x="97275" y="1604930"/>
                </a:lnTo>
                <a:cubicBezTo>
                  <a:pt x="43551" y="1604930"/>
                  <a:pt x="0" y="1561379"/>
                  <a:pt x="0" y="1507656"/>
                </a:cubicBezTo>
                <a:lnTo>
                  <a:pt x="0" y="97275"/>
                </a:lnTo>
                <a:cubicBezTo>
                  <a:pt x="0" y="43587"/>
                  <a:pt x="43587" y="0"/>
                  <a:pt x="97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72685" y="3988009"/>
            <a:ext cx="671152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2 </a:t>
            </a:r>
            <a:r>
              <a:rPr lang="en-US" sz="153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架构设计革命:主从+分布式锁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2685" y="4377083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主从分离: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Tablet Server负责数据存储,Master负责元数据管理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2685" y="4668889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分布式协调: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基于Chubby实现节点发现、故障检测和选举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685" y="4960694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存储依赖: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底层依赖GFS提供可靠数据持久化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8148" y="5544305"/>
            <a:ext cx="7003333" cy="1604930"/>
          </a:xfrm>
          <a:custGeom>
            <a:avLst/>
            <a:gdLst/>
            <a:ahLst/>
            <a:cxnLst/>
            <a:rect l="l" t="t" r="r" b="b"/>
            <a:pathLst>
              <a:path w="7003333" h="1604930">
                <a:moveTo>
                  <a:pt x="97275" y="0"/>
                </a:moveTo>
                <a:lnTo>
                  <a:pt x="6906058" y="0"/>
                </a:lnTo>
                <a:cubicBezTo>
                  <a:pt x="6959781" y="0"/>
                  <a:pt x="7003333" y="43551"/>
                  <a:pt x="7003333" y="97275"/>
                </a:cubicBezTo>
                <a:lnTo>
                  <a:pt x="7003333" y="1507656"/>
                </a:lnTo>
                <a:cubicBezTo>
                  <a:pt x="7003333" y="1561379"/>
                  <a:pt x="6959781" y="1604930"/>
                  <a:pt x="6906058" y="1604930"/>
                </a:cubicBezTo>
                <a:lnTo>
                  <a:pt x="97275" y="1604930"/>
                </a:lnTo>
                <a:cubicBezTo>
                  <a:pt x="43551" y="1604930"/>
                  <a:pt x="0" y="1561379"/>
                  <a:pt x="0" y="1507656"/>
                </a:cubicBezTo>
                <a:lnTo>
                  <a:pt x="0" y="97275"/>
                </a:lnTo>
                <a:cubicBezTo>
                  <a:pt x="0" y="43587"/>
                  <a:pt x="43587" y="0"/>
                  <a:pt x="97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72685" y="5738842"/>
            <a:ext cx="671152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3 </a:t>
            </a:r>
            <a:r>
              <a:rPr lang="en-US" sz="153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数据模型革新:列族概念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2685" y="6127916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列族设计: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相关列组织在一起,支持动态列创建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2685" y="6419722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多维映射: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(row, column, timestamp) → value模型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2685" y="6711527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模式灵活: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支持半结构化和稀疏数据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8148" y="7295138"/>
            <a:ext cx="7003333" cy="1604930"/>
          </a:xfrm>
          <a:custGeom>
            <a:avLst/>
            <a:gdLst/>
            <a:ahLst/>
            <a:cxnLst/>
            <a:rect l="l" t="t" r="r" b="b"/>
            <a:pathLst>
              <a:path w="7003333" h="1604930">
                <a:moveTo>
                  <a:pt x="97275" y="0"/>
                </a:moveTo>
                <a:lnTo>
                  <a:pt x="6906058" y="0"/>
                </a:lnTo>
                <a:cubicBezTo>
                  <a:pt x="6959781" y="0"/>
                  <a:pt x="7003333" y="43551"/>
                  <a:pt x="7003333" y="97275"/>
                </a:cubicBezTo>
                <a:lnTo>
                  <a:pt x="7003333" y="1507656"/>
                </a:lnTo>
                <a:cubicBezTo>
                  <a:pt x="7003333" y="1561379"/>
                  <a:pt x="6959781" y="1604930"/>
                  <a:pt x="6906058" y="1604930"/>
                </a:cubicBezTo>
                <a:lnTo>
                  <a:pt x="97275" y="1604930"/>
                </a:lnTo>
                <a:cubicBezTo>
                  <a:pt x="43551" y="1604930"/>
                  <a:pt x="0" y="1561379"/>
                  <a:pt x="0" y="1507656"/>
                </a:cubicBezTo>
                <a:lnTo>
                  <a:pt x="0" y="97275"/>
                </a:lnTo>
                <a:cubicBezTo>
                  <a:pt x="0" y="43587"/>
                  <a:pt x="43587" y="0"/>
                  <a:pt x="97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2685" y="7489675"/>
            <a:ext cx="671152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4 </a:t>
            </a:r>
            <a:r>
              <a:rPr lang="en-US" sz="153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一致性方案:容错机制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2685" y="7878749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在可用性和一致性间取得平衡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2685" y="8170555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通过Tablet迁移和Master重分配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2685" y="8462361"/>
            <a:ext cx="669936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监控体系: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完善监控和告警确保高可用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48826" y="1313125"/>
            <a:ext cx="7513993" cy="3063958"/>
          </a:xfrm>
          <a:custGeom>
            <a:avLst/>
            <a:gdLst/>
            <a:ahLst/>
            <a:cxnLst/>
            <a:rect l="l" t="t" r="r" b="b"/>
            <a:pathLst>
              <a:path w="7513993" h="3063958">
                <a:moveTo>
                  <a:pt x="48634" y="0"/>
                </a:moveTo>
                <a:lnTo>
                  <a:pt x="7368087" y="0"/>
                </a:lnTo>
                <a:cubicBezTo>
                  <a:pt x="7448668" y="0"/>
                  <a:pt x="7513993" y="65324"/>
                  <a:pt x="7513993" y="145906"/>
                </a:cubicBezTo>
                <a:lnTo>
                  <a:pt x="7513993" y="2918052"/>
                </a:lnTo>
                <a:cubicBezTo>
                  <a:pt x="7513993" y="2998634"/>
                  <a:pt x="7448668" y="3063958"/>
                  <a:pt x="7368087" y="3063958"/>
                </a:cubicBezTo>
                <a:lnTo>
                  <a:pt x="48634" y="3063958"/>
                </a:lnTo>
                <a:cubicBezTo>
                  <a:pt x="21774" y="3063958"/>
                  <a:pt x="0" y="3042184"/>
                  <a:pt x="0" y="3015324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48826" y="1313125"/>
            <a:ext cx="48634" cy="3063958"/>
          </a:xfrm>
          <a:custGeom>
            <a:avLst/>
            <a:gdLst/>
            <a:ahLst/>
            <a:cxnLst/>
            <a:rect l="l" t="t" r="r" b="b"/>
            <a:pathLst>
              <a:path w="48634" h="3063958">
                <a:moveTo>
                  <a:pt x="48634" y="0"/>
                </a:moveTo>
                <a:lnTo>
                  <a:pt x="48634" y="0"/>
                </a:lnTo>
                <a:lnTo>
                  <a:pt x="48634" y="3063958"/>
                </a:lnTo>
                <a:lnTo>
                  <a:pt x="48634" y="3063958"/>
                </a:lnTo>
                <a:cubicBezTo>
                  <a:pt x="21774" y="3063958"/>
                  <a:pt x="0" y="3042184"/>
                  <a:pt x="0" y="3015324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16314" y="1556296"/>
            <a:ext cx="7124918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深远影响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16314" y="2042639"/>
            <a:ext cx="7003333" cy="2091273"/>
          </a:xfrm>
          <a:custGeom>
            <a:avLst/>
            <a:gdLst/>
            <a:ahLst/>
            <a:cxnLst/>
            <a:rect l="l" t="t" r="r" b="b"/>
            <a:pathLst>
              <a:path w="7003333" h="2091273">
                <a:moveTo>
                  <a:pt x="97265" y="0"/>
                </a:moveTo>
                <a:lnTo>
                  <a:pt x="6906068" y="0"/>
                </a:lnTo>
                <a:cubicBezTo>
                  <a:pt x="6959750" y="0"/>
                  <a:pt x="7003333" y="43583"/>
                  <a:pt x="7003333" y="97265"/>
                </a:cubicBezTo>
                <a:lnTo>
                  <a:pt x="7003333" y="1994008"/>
                </a:lnTo>
                <a:cubicBezTo>
                  <a:pt x="7003333" y="2047690"/>
                  <a:pt x="6959750" y="2091273"/>
                  <a:pt x="6906068" y="2091273"/>
                </a:cubicBezTo>
                <a:lnTo>
                  <a:pt x="97265" y="2091273"/>
                </a:lnTo>
                <a:cubicBezTo>
                  <a:pt x="43583" y="2091273"/>
                  <a:pt x="0" y="2047690"/>
                  <a:pt x="0" y="1994008"/>
                </a:cubicBezTo>
                <a:lnTo>
                  <a:pt x="0" y="97265"/>
                </a:lnTo>
                <a:cubicBezTo>
                  <a:pt x="0" y="43583"/>
                  <a:pt x="43583" y="0"/>
                  <a:pt x="9726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10851" y="2237176"/>
            <a:ext cx="6711527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这些技术创新不仅解决了Google内部的海量数据存储问题,更重要的是为后续的</a:t>
            </a:r>
            <a:r>
              <a:rPr lang="en-US" sz="1532" dirty="0">
                <a:solidFill>
                  <a:srgbClr val="4FD1C5"/>
                </a:solidFill>
                <a:highlight>
                  <a:srgbClr val="4FD1C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NoSQL运动 </a:t>
            </a:r>
            <a:r>
              <a:rPr lang="en-US" sz="153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32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大数据技术发展 </a:t>
            </a:r>
            <a:r>
              <a:rPr lang="en-US" sz="153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奠定了理论基础和实践范本。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10851" y="3015324"/>
            <a:ext cx="2139907" cy="924051"/>
          </a:xfrm>
          <a:custGeom>
            <a:avLst/>
            <a:gdLst/>
            <a:ahLst/>
            <a:cxnLst/>
            <a:rect l="l" t="t" r="r" b="b"/>
            <a:pathLst>
              <a:path w="2139907" h="924051">
                <a:moveTo>
                  <a:pt x="97266" y="0"/>
                </a:moveTo>
                <a:lnTo>
                  <a:pt x="2042642" y="0"/>
                </a:lnTo>
                <a:cubicBezTo>
                  <a:pt x="2096324" y="0"/>
                  <a:pt x="2139907" y="43583"/>
                  <a:pt x="2139907" y="97266"/>
                </a:cubicBezTo>
                <a:lnTo>
                  <a:pt x="2139907" y="826785"/>
                </a:lnTo>
                <a:cubicBezTo>
                  <a:pt x="2139907" y="880468"/>
                  <a:pt x="2096324" y="924051"/>
                  <a:pt x="2042642" y="924051"/>
                </a:cubicBezTo>
                <a:lnTo>
                  <a:pt x="97266" y="924051"/>
                </a:lnTo>
                <a:cubicBezTo>
                  <a:pt x="43583" y="924051"/>
                  <a:pt x="0" y="880468"/>
                  <a:pt x="0" y="826785"/>
                </a:cubicBezTo>
                <a:lnTo>
                  <a:pt x="0" y="97266"/>
                </a:lnTo>
                <a:cubicBezTo>
                  <a:pt x="0" y="43583"/>
                  <a:pt x="43583" y="0"/>
                  <a:pt x="9726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14199" y="3161227"/>
            <a:ext cx="1933212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02040" y="3453032"/>
            <a:ext cx="1957529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2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开源实现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49832" y="3015324"/>
            <a:ext cx="2139907" cy="924051"/>
          </a:xfrm>
          <a:custGeom>
            <a:avLst/>
            <a:gdLst/>
            <a:ahLst/>
            <a:cxnLst/>
            <a:rect l="l" t="t" r="r" b="b"/>
            <a:pathLst>
              <a:path w="2139907" h="924051">
                <a:moveTo>
                  <a:pt x="97266" y="0"/>
                </a:moveTo>
                <a:lnTo>
                  <a:pt x="2042642" y="0"/>
                </a:lnTo>
                <a:cubicBezTo>
                  <a:pt x="2096324" y="0"/>
                  <a:pt x="2139907" y="43583"/>
                  <a:pt x="2139907" y="97266"/>
                </a:cubicBezTo>
                <a:lnTo>
                  <a:pt x="2139907" y="826785"/>
                </a:lnTo>
                <a:cubicBezTo>
                  <a:pt x="2139907" y="880468"/>
                  <a:pt x="2096324" y="924051"/>
                  <a:pt x="2042642" y="924051"/>
                </a:cubicBezTo>
                <a:lnTo>
                  <a:pt x="97266" y="924051"/>
                </a:lnTo>
                <a:cubicBezTo>
                  <a:pt x="43583" y="924051"/>
                  <a:pt x="0" y="880468"/>
                  <a:pt x="0" y="826785"/>
                </a:cubicBezTo>
                <a:lnTo>
                  <a:pt x="0" y="97266"/>
                </a:lnTo>
                <a:cubicBezTo>
                  <a:pt x="0" y="43583"/>
                  <a:pt x="43583" y="0"/>
                  <a:pt x="9726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053180" y="3161227"/>
            <a:ext cx="1933212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Cassandra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41021" y="3453032"/>
            <a:ext cx="1957529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2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技术融合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3188812" y="3015324"/>
            <a:ext cx="2139907" cy="924051"/>
          </a:xfrm>
          <a:custGeom>
            <a:avLst/>
            <a:gdLst/>
            <a:ahLst/>
            <a:cxnLst/>
            <a:rect l="l" t="t" r="r" b="b"/>
            <a:pathLst>
              <a:path w="2139907" h="924051">
                <a:moveTo>
                  <a:pt x="97266" y="0"/>
                </a:moveTo>
                <a:lnTo>
                  <a:pt x="2042642" y="0"/>
                </a:lnTo>
                <a:cubicBezTo>
                  <a:pt x="2096324" y="0"/>
                  <a:pt x="2139907" y="43583"/>
                  <a:pt x="2139907" y="97266"/>
                </a:cubicBezTo>
                <a:lnTo>
                  <a:pt x="2139907" y="826785"/>
                </a:lnTo>
                <a:cubicBezTo>
                  <a:pt x="2139907" y="880468"/>
                  <a:pt x="2096324" y="924051"/>
                  <a:pt x="2042642" y="924051"/>
                </a:cubicBezTo>
                <a:lnTo>
                  <a:pt x="97266" y="924051"/>
                </a:lnTo>
                <a:cubicBezTo>
                  <a:pt x="43583" y="924051"/>
                  <a:pt x="0" y="880468"/>
                  <a:pt x="0" y="826785"/>
                </a:cubicBezTo>
                <a:lnTo>
                  <a:pt x="0" y="97266"/>
                </a:lnTo>
                <a:cubicBezTo>
                  <a:pt x="0" y="43583"/>
                  <a:pt x="43583" y="0"/>
                  <a:pt x="9726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3292160" y="3161227"/>
            <a:ext cx="1933212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RocksDB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280001" y="3453032"/>
            <a:ext cx="1957529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2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存储引擎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8826" y="4522986"/>
            <a:ext cx="7513993" cy="4620254"/>
          </a:xfrm>
          <a:custGeom>
            <a:avLst/>
            <a:gdLst/>
            <a:ahLst/>
            <a:cxnLst/>
            <a:rect l="l" t="t" r="r" b="b"/>
            <a:pathLst>
              <a:path w="7513993" h="4620254">
                <a:moveTo>
                  <a:pt x="48634" y="0"/>
                </a:moveTo>
                <a:lnTo>
                  <a:pt x="7368085" y="0"/>
                </a:lnTo>
                <a:cubicBezTo>
                  <a:pt x="7448667" y="0"/>
                  <a:pt x="7513993" y="65325"/>
                  <a:pt x="7513993" y="145908"/>
                </a:cubicBezTo>
                <a:lnTo>
                  <a:pt x="7513993" y="4474347"/>
                </a:lnTo>
                <a:cubicBezTo>
                  <a:pt x="7513993" y="4554929"/>
                  <a:pt x="7448667" y="4620254"/>
                  <a:pt x="7368085" y="4620254"/>
                </a:cubicBezTo>
                <a:lnTo>
                  <a:pt x="48634" y="4620254"/>
                </a:lnTo>
                <a:cubicBezTo>
                  <a:pt x="21774" y="4620254"/>
                  <a:pt x="0" y="4598480"/>
                  <a:pt x="0" y="4571620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248826" y="4522986"/>
            <a:ext cx="48634" cy="4620254"/>
          </a:xfrm>
          <a:custGeom>
            <a:avLst/>
            <a:gdLst/>
            <a:ahLst/>
            <a:cxnLst/>
            <a:rect l="l" t="t" r="r" b="b"/>
            <a:pathLst>
              <a:path w="48634" h="4620254">
                <a:moveTo>
                  <a:pt x="48634" y="0"/>
                </a:moveTo>
                <a:lnTo>
                  <a:pt x="48634" y="0"/>
                </a:lnTo>
                <a:lnTo>
                  <a:pt x="48634" y="4620254"/>
                </a:lnTo>
                <a:lnTo>
                  <a:pt x="48634" y="4620254"/>
                </a:lnTo>
                <a:cubicBezTo>
                  <a:pt x="21774" y="4620254"/>
                  <a:pt x="0" y="4598480"/>
                  <a:pt x="0" y="4571620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46711" y="4814791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167133" y="132984"/>
                </a:moveTo>
                <a:lnTo>
                  <a:pt x="76466" y="132984"/>
                </a:lnTo>
                <a:cubicBezTo>
                  <a:pt x="77843" y="163618"/>
                  <a:pt x="84635" y="191830"/>
                  <a:pt x="94276" y="212490"/>
                </a:cubicBezTo>
                <a:cubicBezTo>
                  <a:pt x="99691" y="224126"/>
                  <a:pt x="105533" y="232343"/>
                  <a:pt x="110947" y="237377"/>
                </a:cubicBezTo>
                <a:cubicBezTo>
                  <a:pt x="116266" y="242364"/>
                  <a:pt x="119923" y="243171"/>
                  <a:pt x="121823" y="243171"/>
                </a:cubicBezTo>
                <a:cubicBezTo>
                  <a:pt x="123723" y="243171"/>
                  <a:pt x="127380" y="242364"/>
                  <a:pt x="132699" y="237377"/>
                </a:cubicBezTo>
                <a:cubicBezTo>
                  <a:pt x="138114" y="232343"/>
                  <a:pt x="143955" y="224079"/>
                  <a:pt x="149370" y="212490"/>
                </a:cubicBezTo>
                <a:cubicBezTo>
                  <a:pt x="159011" y="191830"/>
                  <a:pt x="165803" y="163618"/>
                  <a:pt x="167180" y="132984"/>
                </a:cubicBezTo>
                <a:close/>
                <a:moveTo>
                  <a:pt x="76418" y="110187"/>
                </a:moveTo>
                <a:lnTo>
                  <a:pt x="167085" y="110187"/>
                </a:lnTo>
                <a:cubicBezTo>
                  <a:pt x="165755" y="79553"/>
                  <a:pt x="158964" y="51341"/>
                  <a:pt x="149322" y="30681"/>
                </a:cubicBezTo>
                <a:cubicBezTo>
                  <a:pt x="143908" y="19093"/>
                  <a:pt x="138066" y="10829"/>
                  <a:pt x="132652" y="5794"/>
                </a:cubicBezTo>
                <a:cubicBezTo>
                  <a:pt x="127332" y="807"/>
                  <a:pt x="123675" y="0"/>
                  <a:pt x="121776" y="0"/>
                </a:cubicBezTo>
                <a:cubicBezTo>
                  <a:pt x="119876" y="0"/>
                  <a:pt x="116219" y="807"/>
                  <a:pt x="110899" y="5794"/>
                </a:cubicBezTo>
                <a:cubicBezTo>
                  <a:pt x="105485" y="10829"/>
                  <a:pt x="99643" y="19093"/>
                  <a:pt x="94229" y="30681"/>
                </a:cubicBezTo>
                <a:cubicBezTo>
                  <a:pt x="84588" y="51341"/>
                  <a:pt x="77796" y="79553"/>
                  <a:pt x="76418" y="110187"/>
                </a:cubicBezTo>
                <a:close/>
                <a:moveTo>
                  <a:pt x="53621" y="110187"/>
                </a:moveTo>
                <a:cubicBezTo>
                  <a:pt x="55283" y="69532"/>
                  <a:pt x="65780" y="31774"/>
                  <a:pt x="81120" y="6982"/>
                </a:cubicBezTo>
                <a:cubicBezTo>
                  <a:pt x="37378" y="22465"/>
                  <a:pt x="5177" y="62313"/>
                  <a:pt x="712" y="110187"/>
                </a:cubicBezTo>
                <a:lnTo>
                  <a:pt x="53621" y="110187"/>
                </a:lnTo>
                <a:close/>
                <a:moveTo>
                  <a:pt x="712" y="132984"/>
                </a:moveTo>
                <a:cubicBezTo>
                  <a:pt x="5177" y="180859"/>
                  <a:pt x="37378" y="220706"/>
                  <a:pt x="81120" y="236190"/>
                </a:cubicBezTo>
                <a:cubicBezTo>
                  <a:pt x="65780" y="211398"/>
                  <a:pt x="55283" y="173639"/>
                  <a:pt x="53621" y="132984"/>
                </a:cubicBezTo>
                <a:lnTo>
                  <a:pt x="712" y="132984"/>
                </a:lnTo>
                <a:close/>
                <a:moveTo>
                  <a:pt x="189930" y="132984"/>
                </a:moveTo>
                <a:cubicBezTo>
                  <a:pt x="188268" y="173639"/>
                  <a:pt x="177772" y="211398"/>
                  <a:pt x="162431" y="236190"/>
                </a:cubicBezTo>
                <a:cubicBezTo>
                  <a:pt x="206173" y="220659"/>
                  <a:pt x="238374" y="180859"/>
                  <a:pt x="242839" y="132984"/>
                </a:cubicBezTo>
                <a:lnTo>
                  <a:pt x="189930" y="132984"/>
                </a:lnTo>
                <a:close/>
                <a:moveTo>
                  <a:pt x="242839" y="110187"/>
                </a:moveTo>
                <a:cubicBezTo>
                  <a:pt x="238374" y="62313"/>
                  <a:pt x="206173" y="22465"/>
                  <a:pt x="162431" y="6982"/>
                </a:cubicBezTo>
                <a:cubicBezTo>
                  <a:pt x="177772" y="31774"/>
                  <a:pt x="188268" y="69532"/>
                  <a:pt x="189930" y="110187"/>
                </a:cubicBezTo>
                <a:lnTo>
                  <a:pt x="242839" y="11018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820278" y="4766157"/>
            <a:ext cx="6820954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典型应用场景:全球网站内容存储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16314" y="5252500"/>
            <a:ext cx="710060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业务需求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16314" y="5641574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高吞吐写入: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每天处理数十亿网页更新和抓取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16314" y="5933379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低延迟读取: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搜索查询毫秒级响应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16314" y="6225185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多版本管理: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保存网页历史版本用于内容追溯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6314" y="6516990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4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稀疏数据优化:</a:t>
            </a: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高效存储差异化的网页元数据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16314" y="6857430"/>
            <a:ext cx="710060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技术挑战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16314" y="7246504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如何设计灵活数据模型支持半结构化网页数据?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16314" y="7538310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如何实现系统水平扩展支持PB级数据存储?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16314" y="7830115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如何保证系统高可用性和快速故障恢复?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16314" y="8121921"/>
            <a:ext cx="7088443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如何优化读写性能满足业务需求?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aleyourapp.com/80924485701c6228fe519c579960266b6764fd7f.jpeg"/>
          <p:cNvPicPr>
            <a:picLocks noChangeAspect="1"/>
          </p:cNvPicPr>
          <p:nvPr/>
        </p:nvPicPr>
        <p:blipFill>
          <a:blip r:embed="rId3">
            <a:alphaModFix amt="20000"/>
          </a:blip>
          <a:srcRect t="1643" b="164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59873" y="2768600"/>
            <a:ext cx="2730500" cy="723900"/>
          </a:xfrm>
          <a:custGeom>
            <a:avLst/>
            <a:gdLst/>
            <a:ahLst/>
            <a:cxnLst/>
            <a:rect l="l" t="t" r="r" b="b"/>
            <a:pathLst>
              <a:path w="2730500" h="723900">
                <a:moveTo>
                  <a:pt x="152403" y="0"/>
                </a:moveTo>
                <a:lnTo>
                  <a:pt x="2578097" y="0"/>
                </a:lnTo>
                <a:cubicBezTo>
                  <a:pt x="2662267" y="0"/>
                  <a:pt x="2730500" y="68233"/>
                  <a:pt x="2730500" y="152403"/>
                </a:cubicBezTo>
                <a:lnTo>
                  <a:pt x="2730500" y="571497"/>
                </a:lnTo>
                <a:cubicBezTo>
                  <a:pt x="2730500" y="655667"/>
                  <a:pt x="2662267" y="723900"/>
                  <a:pt x="25780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94823" y="292735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68788" y="3905250"/>
            <a:ext cx="612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Bigtable核心定位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62860" y="5124450"/>
            <a:ext cx="572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分布式KV存储系统的本质特征与技术边界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4103" y="543514"/>
            <a:ext cx="49410" cy="395283"/>
          </a:xfrm>
          <a:custGeom>
            <a:avLst/>
            <a:gdLst/>
            <a:ahLst/>
            <a:cxnLst/>
            <a:rect l="l" t="t" r="r" b="b"/>
            <a:pathLst>
              <a:path w="49410" h="395283">
                <a:moveTo>
                  <a:pt x="0" y="0"/>
                </a:moveTo>
                <a:lnTo>
                  <a:pt x="49410" y="0"/>
                </a:lnTo>
                <a:lnTo>
                  <a:pt x="49410" y="395283"/>
                </a:lnTo>
                <a:lnTo>
                  <a:pt x="0" y="395283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1745" y="494103"/>
            <a:ext cx="5632778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Bigtable的技术本质:分布式KV存储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8809" y="1334079"/>
            <a:ext cx="9980888" cy="2631100"/>
          </a:xfrm>
          <a:custGeom>
            <a:avLst/>
            <a:gdLst/>
            <a:ahLst/>
            <a:cxnLst/>
            <a:rect l="l" t="t" r="r" b="b"/>
            <a:pathLst>
              <a:path w="9980888" h="2631100">
                <a:moveTo>
                  <a:pt x="49410" y="0"/>
                </a:moveTo>
                <a:lnTo>
                  <a:pt x="9832651" y="0"/>
                </a:lnTo>
                <a:cubicBezTo>
                  <a:pt x="9914520" y="0"/>
                  <a:pt x="9980888" y="66368"/>
                  <a:pt x="9980888" y="148236"/>
                </a:cubicBezTo>
                <a:lnTo>
                  <a:pt x="9980888" y="2482864"/>
                </a:lnTo>
                <a:cubicBezTo>
                  <a:pt x="9980888" y="2564733"/>
                  <a:pt x="9914520" y="2631100"/>
                  <a:pt x="9832651" y="2631100"/>
                </a:cubicBezTo>
                <a:lnTo>
                  <a:pt x="49410" y="2631100"/>
                </a:lnTo>
                <a:cubicBezTo>
                  <a:pt x="22122" y="2631100"/>
                  <a:pt x="0" y="2608979"/>
                  <a:pt x="0" y="258169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8809" y="1334079"/>
            <a:ext cx="49410" cy="2631100"/>
          </a:xfrm>
          <a:custGeom>
            <a:avLst/>
            <a:gdLst/>
            <a:ahLst/>
            <a:cxnLst/>
            <a:rect l="l" t="t" r="r" b="b"/>
            <a:pathLst>
              <a:path w="49410" h="2631100">
                <a:moveTo>
                  <a:pt x="49410" y="0"/>
                </a:moveTo>
                <a:lnTo>
                  <a:pt x="49410" y="0"/>
                </a:lnTo>
                <a:lnTo>
                  <a:pt x="49410" y="2631100"/>
                </a:lnTo>
                <a:lnTo>
                  <a:pt x="49410" y="2631100"/>
                </a:lnTo>
                <a:cubicBezTo>
                  <a:pt x="22122" y="2631100"/>
                  <a:pt x="0" y="2608979"/>
                  <a:pt x="0" y="258169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0565" y="1581131"/>
            <a:ext cx="9585605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0565" y="2075234"/>
            <a:ext cx="9560900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Google在2006年论文中将Bigtable明确定位为: </a:t>
            </a:r>
            <a:r>
              <a:rPr lang="en-US" sz="1556" dirty="0">
                <a:solidFill>
                  <a:srgbClr val="4FD1C5"/>
                </a:solidFill>
                <a:highlight>
                  <a:srgbClr val="4FD1C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一个可扩展、高性能、稀疏、面向列族的分布式KV存储系统 </a:t>
            </a:r>
            <a:r>
              <a:rPr lang="en-US" sz="15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。它不提供SQL、不支持JOIN、不提供复杂查询,只聚焦核心能力。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565" y="2865799"/>
            <a:ext cx="1815830" cy="852328"/>
          </a:xfrm>
          <a:custGeom>
            <a:avLst/>
            <a:gdLst/>
            <a:ahLst/>
            <a:cxnLst/>
            <a:rect l="l" t="t" r="r" b="b"/>
            <a:pathLst>
              <a:path w="1815830" h="852328">
                <a:moveTo>
                  <a:pt x="98819" y="0"/>
                </a:moveTo>
                <a:lnTo>
                  <a:pt x="1717011" y="0"/>
                </a:lnTo>
                <a:cubicBezTo>
                  <a:pt x="1771587" y="0"/>
                  <a:pt x="1815830" y="44243"/>
                  <a:pt x="1815830" y="98819"/>
                </a:cubicBezTo>
                <a:lnTo>
                  <a:pt x="1815830" y="753509"/>
                </a:lnTo>
                <a:cubicBezTo>
                  <a:pt x="1815830" y="808086"/>
                  <a:pt x="1771587" y="852328"/>
                  <a:pt x="1717011" y="852328"/>
                </a:cubicBezTo>
                <a:lnTo>
                  <a:pt x="98819" y="852328"/>
                </a:lnTo>
                <a:cubicBezTo>
                  <a:pt x="44243" y="852328"/>
                  <a:pt x="0" y="808086"/>
                  <a:pt x="0" y="753509"/>
                </a:cubicBezTo>
                <a:lnTo>
                  <a:pt x="0" y="98819"/>
                </a:lnTo>
                <a:cubicBezTo>
                  <a:pt x="0" y="44243"/>
                  <a:pt x="44243" y="0"/>
                  <a:pt x="988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574086" y="3026383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111270" y="188473"/>
                </a:moveTo>
                <a:lnTo>
                  <a:pt x="72668" y="227075"/>
                </a:lnTo>
                <a:cubicBezTo>
                  <a:pt x="66636" y="233107"/>
                  <a:pt x="56841" y="233107"/>
                  <a:pt x="50810" y="227075"/>
                </a:cubicBezTo>
                <a:lnTo>
                  <a:pt x="12208" y="188473"/>
                </a:lnTo>
                <a:cubicBezTo>
                  <a:pt x="6176" y="182442"/>
                  <a:pt x="6176" y="172647"/>
                  <a:pt x="12208" y="166615"/>
                </a:cubicBezTo>
                <a:cubicBezTo>
                  <a:pt x="18239" y="160584"/>
                  <a:pt x="28035" y="160584"/>
                  <a:pt x="34066" y="166615"/>
                </a:cubicBezTo>
                <a:lnTo>
                  <a:pt x="46322" y="178871"/>
                </a:lnTo>
                <a:lnTo>
                  <a:pt x="46322" y="30881"/>
                </a:lnTo>
                <a:cubicBezTo>
                  <a:pt x="46322" y="22341"/>
                  <a:pt x="53222" y="15441"/>
                  <a:pt x="61763" y="15441"/>
                </a:cubicBezTo>
                <a:cubicBezTo>
                  <a:pt x="70304" y="15441"/>
                  <a:pt x="77204" y="22341"/>
                  <a:pt x="77204" y="30881"/>
                </a:cubicBezTo>
                <a:lnTo>
                  <a:pt x="77204" y="178871"/>
                </a:lnTo>
                <a:lnTo>
                  <a:pt x="89460" y="166615"/>
                </a:lnTo>
                <a:cubicBezTo>
                  <a:pt x="95491" y="160584"/>
                  <a:pt x="105286" y="160584"/>
                  <a:pt x="111318" y="166615"/>
                </a:cubicBezTo>
                <a:cubicBezTo>
                  <a:pt x="117350" y="172647"/>
                  <a:pt x="117350" y="182442"/>
                  <a:pt x="111318" y="188473"/>
                </a:cubicBezTo>
                <a:close/>
                <a:moveTo>
                  <a:pt x="199089" y="23981"/>
                </a:moveTo>
                <a:cubicBezTo>
                  <a:pt x="223553" y="72861"/>
                  <a:pt x="236388" y="98628"/>
                  <a:pt x="237691" y="101185"/>
                </a:cubicBezTo>
                <a:cubicBezTo>
                  <a:pt x="241503" y="108809"/>
                  <a:pt x="238415" y="118073"/>
                  <a:pt x="230791" y="121885"/>
                </a:cubicBezTo>
                <a:cubicBezTo>
                  <a:pt x="223167" y="125697"/>
                  <a:pt x="213902" y="122609"/>
                  <a:pt x="210090" y="114985"/>
                </a:cubicBezTo>
                <a:lnTo>
                  <a:pt x="206616" y="108085"/>
                </a:lnTo>
                <a:lnTo>
                  <a:pt x="163961" y="108085"/>
                </a:lnTo>
                <a:lnTo>
                  <a:pt x="160487" y="114985"/>
                </a:lnTo>
                <a:cubicBezTo>
                  <a:pt x="156675" y="122609"/>
                  <a:pt x="147411" y="125697"/>
                  <a:pt x="139787" y="121885"/>
                </a:cubicBezTo>
                <a:cubicBezTo>
                  <a:pt x="132163" y="118073"/>
                  <a:pt x="129075" y="108809"/>
                  <a:pt x="132887" y="101185"/>
                </a:cubicBezTo>
                <a:cubicBezTo>
                  <a:pt x="134190" y="98628"/>
                  <a:pt x="147025" y="72861"/>
                  <a:pt x="171489" y="23981"/>
                </a:cubicBezTo>
                <a:cubicBezTo>
                  <a:pt x="174094" y="18770"/>
                  <a:pt x="179450" y="15441"/>
                  <a:pt x="185289" y="15441"/>
                </a:cubicBezTo>
                <a:cubicBezTo>
                  <a:pt x="191127" y="15441"/>
                  <a:pt x="196483" y="18722"/>
                  <a:pt x="199089" y="23981"/>
                </a:cubicBezTo>
                <a:close/>
                <a:moveTo>
                  <a:pt x="185289" y="65430"/>
                </a:moveTo>
                <a:lnTo>
                  <a:pt x="175542" y="84924"/>
                </a:lnTo>
                <a:lnTo>
                  <a:pt x="195036" y="84924"/>
                </a:lnTo>
                <a:lnTo>
                  <a:pt x="185289" y="65430"/>
                </a:lnTo>
                <a:close/>
                <a:moveTo>
                  <a:pt x="138967" y="154407"/>
                </a:moveTo>
                <a:cubicBezTo>
                  <a:pt x="138967" y="145867"/>
                  <a:pt x="145867" y="138967"/>
                  <a:pt x="154407" y="138967"/>
                </a:cubicBezTo>
                <a:lnTo>
                  <a:pt x="216170" y="138967"/>
                </a:lnTo>
                <a:cubicBezTo>
                  <a:pt x="222395" y="138967"/>
                  <a:pt x="228040" y="142730"/>
                  <a:pt x="230453" y="148521"/>
                </a:cubicBezTo>
                <a:cubicBezTo>
                  <a:pt x="232866" y="154311"/>
                  <a:pt x="231514" y="160921"/>
                  <a:pt x="227123" y="165361"/>
                </a:cubicBezTo>
                <a:lnTo>
                  <a:pt x="191706" y="200729"/>
                </a:lnTo>
                <a:lnTo>
                  <a:pt x="216170" y="200729"/>
                </a:lnTo>
                <a:cubicBezTo>
                  <a:pt x="224711" y="200729"/>
                  <a:pt x="231611" y="207630"/>
                  <a:pt x="231611" y="216170"/>
                </a:cubicBezTo>
                <a:cubicBezTo>
                  <a:pt x="231611" y="224711"/>
                  <a:pt x="224711" y="231611"/>
                  <a:pt x="216170" y="231611"/>
                </a:cubicBezTo>
                <a:lnTo>
                  <a:pt x="154407" y="231611"/>
                </a:lnTo>
                <a:cubicBezTo>
                  <a:pt x="148183" y="231611"/>
                  <a:pt x="142537" y="227847"/>
                  <a:pt x="140125" y="222057"/>
                </a:cubicBezTo>
                <a:cubicBezTo>
                  <a:pt x="137712" y="216267"/>
                  <a:pt x="139063" y="209656"/>
                  <a:pt x="143454" y="205217"/>
                </a:cubicBezTo>
                <a:lnTo>
                  <a:pt x="178871" y="169800"/>
                </a:lnTo>
                <a:lnTo>
                  <a:pt x="154407" y="169800"/>
                </a:lnTo>
                <a:cubicBezTo>
                  <a:pt x="145867" y="169800"/>
                  <a:pt x="138967" y="162900"/>
                  <a:pt x="138967" y="15435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95562" y="332284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按RowKey排序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03575" y="2865799"/>
            <a:ext cx="1815830" cy="852328"/>
          </a:xfrm>
          <a:custGeom>
            <a:avLst/>
            <a:gdLst/>
            <a:ahLst/>
            <a:cxnLst/>
            <a:rect l="l" t="t" r="r" b="b"/>
            <a:pathLst>
              <a:path w="1815830" h="852328">
                <a:moveTo>
                  <a:pt x="98819" y="0"/>
                </a:moveTo>
                <a:lnTo>
                  <a:pt x="1717011" y="0"/>
                </a:lnTo>
                <a:cubicBezTo>
                  <a:pt x="1771587" y="0"/>
                  <a:pt x="1815830" y="44243"/>
                  <a:pt x="1815830" y="98819"/>
                </a:cubicBezTo>
                <a:lnTo>
                  <a:pt x="1815830" y="753509"/>
                </a:lnTo>
                <a:cubicBezTo>
                  <a:pt x="1815830" y="808086"/>
                  <a:pt x="1771587" y="852328"/>
                  <a:pt x="1717011" y="852328"/>
                </a:cubicBezTo>
                <a:lnTo>
                  <a:pt x="98819" y="852328"/>
                </a:lnTo>
                <a:cubicBezTo>
                  <a:pt x="44243" y="852328"/>
                  <a:pt x="0" y="808086"/>
                  <a:pt x="0" y="753509"/>
                </a:cubicBezTo>
                <a:lnTo>
                  <a:pt x="0" y="98819"/>
                </a:lnTo>
                <a:cubicBezTo>
                  <a:pt x="0" y="44243"/>
                  <a:pt x="44243" y="0"/>
                  <a:pt x="988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487192" y="3026383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200729" y="100365"/>
                </a:moveTo>
                <a:cubicBezTo>
                  <a:pt x="200729" y="122513"/>
                  <a:pt x="193540" y="142972"/>
                  <a:pt x="181429" y="159570"/>
                </a:cubicBezTo>
                <a:lnTo>
                  <a:pt x="242516" y="220706"/>
                </a:lnTo>
                <a:cubicBezTo>
                  <a:pt x="248547" y="226737"/>
                  <a:pt x="248547" y="236533"/>
                  <a:pt x="242516" y="242564"/>
                </a:cubicBezTo>
                <a:cubicBezTo>
                  <a:pt x="236484" y="248596"/>
                  <a:pt x="226689" y="248596"/>
                  <a:pt x="220658" y="242564"/>
                </a:cubicBezTo>
                <a:lnTo>
                  <a:pt x="159570" y="181429"/>
                </a:lnTo>
                <a:cubicBezTo>
                  <a:pt x="142972" y="193540"/>
                  <a:pt x="122513" y="200729"/>
                  <a:pt x="100365" y="200729"/>
                </a:cubicBezTo>
                <a:cubicBezTo>
                  <a:pt x="44923" y="200729"/>
                  <a:pt x="0" y="155807"/>
                  <a:pt x="0" y="100365"/>
                </a:cubicBezTo>
                <a:cubicBezTo>
                  <a:pt x="0" y="44923"/>
                  <a:pt x="44923" y="0"/>
                  <a:pt x="100365" y="0"/>
                </a:cubicBezTo>
                <a:cubicBezTo>
                  <a:pt x="155807" y="0"/>
                  <a:pt x="200729" y="44923"/>
                  <a:pt x="200729" y="100365"/>
                </a:cubicBezTo>
                <a:close/>
                <a:moveTo>
                  <a:pt x="100365" y="169848"/>
                </a:moveTo>
                <a:cubicBezTo>
                  <a:pt x="138714" y="169848"/>
                  <a:pt x="169848" y="138714"/>
                  <a:pt x="169848" y="100365"/>
                </a:cubicBezTo>
                <a:cubicBezTo>
                  <a:pt x="169848" y="62016"/>
                  <a:pt x="138714" y="30881"/>
                  <a:pt x="100365" y="30881"/>
                </a:cubicBezTo>
                <a:cubicBezTo>
                  <a:pt x="62016" y="30881"/>
                  <a:pt x="30881" y="62016"/>
                  <a:pt x="30881" y="100365"/>
                </a:cubicBezTo>
                <a:cubicBezTo>
                  <a:pt x="30881" y="138714"/>
                  <a:pt x="62016" y="169848"/>
                  <a:pt x="100365" y="16984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808572" y="332284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点查与范围查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6682" y="2865799"/>
            <a:ext cx="1815830" cy="852328"/>
          </a:xfrm>
          <a:custGeom>
            <a:avLst/>
            <a:gdLst/>
            <a:ahLst/>
            <a:cxnLst/>
            <a:rect l="l" t="t" r="r" b="b"/>
            <a:pathLst>
              <a:path w="1815830" h="852328">
                <a:moveTo>
                  <a:pt x="98819" y="0"/>
                </a:moveTo>
                <a:lnTo>
                  <a:pt x="1717011" y="0"/>
                </a:lnTo>
                <a:cubicBezTo>
                  <a:pt x="1771587" y="0"/>
                  <a:pt x="1815830" y="44243"/>
                  <a:pt x="1815830" y="98819"/>
                </a:cubicBezTo>
                <a:lnTo>
                  <a:pt x="1815830" y="753509"/>
                </a:lnTo>
                <a:cubicBezTo>
                  <a:pt x="1815830" y="808086"/>
                  <a:pt x="1771587" y="852328"/>
                  <a:pt x="1717011" y="852328"/>
                </a:cubicBezTo>
                <a:lnTo>
                  <a:pt x="98819" y="852328"/>
                </a:lnTo>
                <a:cubicBezTo>
                  <a:pt x="44243" y="852328"/>
                  <a:pt x="0" y="808086"/>
                  <a:pt x="0" y="753509"/>
                </a:cubicBezTo>
                <a:lnTo>
                  <a:pt x="0" y="98819"/>
                </a:lnTo>
                <a:cubicBezTo>
                  <a:pt x="0" y="44243"/>
                  <a:pt x="44243" y="0"/>
                  <a:pt x="988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31180" y="3026383"/>
            <a:ext cx="185289" cy="247052"/>
          </a:xfrm>
          <a:custGeom>
            <a:avLst/>
            <a:gdLst/>
            <a:ahLst/>
            <a:cxnLst/>
            <a:rect l="l" t="t" r="r" b="b"/>
            <a:pathLst>
              <a:path w="185289" h="247052">
                <a:moveTo>
                  <a:pt x="103549" y="8396"/>
                </a:moveTo>
                <a:cubicBezTo>
                  <a:pt x="97518" y="2364"/>
                  <a:pt x="87723" y="2364"/>
                  <a:pt x="81691" y="8396"/>
                </a:cubicBezTo>
                <a:lnTo>
                  <a:pt x="4487" y="85600"/>
                </a:lnTo>
                <a:cubicBezTo>
                  <a:pt x="-1544" y="91631"/>
                  <a:pt x="-1544" y="101426"/>
                  <a:pt x="4487" y="107458"/>
                </a:cubicBezTo>
                <a:cubicBezTo>
                  <a:pt x="10519" y="113489"/>
                  <a:pt x="20314" y="113489"/>
                  <a:pt x="26346" y="107458"/>
                </a:cubicBezTo>
                <a:lnTo>
                  <a:pt x="77204" y="56600"/>
                </a:lnTo>
                <a:lnTo>
                  <a:pt x="77204" y="235471"/>
                </a:lnTo>
                <a:cubicBezTo>
                  <a:pt x="77204" y="244012"/>
                  <a:pt x="84104" y="250912"/>
                  <a:pt x="92644" y="250912"/>
                </a:cubicBezTo>
                <a:cubicBezTo>
                  <a:pt x="101185" y="250912"/>
                  <a:pt x="108085" y="244012"/>
                  <a:pt x="108085" y="235471"/>
                </a:cubicBezTo>
                <a:lnTo>
                  <a:pt x="108085" y="56600"/>
                </a:lnTo>
                <a:lnTo>
                  <a:pt x="158943" y="107458"/>
                </a:lnTo>
                <a:cubicBezTo>
                  <a:pt x="164975" y="113489"/>
                  <a:pt x="174770" y="113489"/>
                  <a:pt x="180801" y="107458"/>
                </a:cubicBezTo>
                <a:cubicBezTo>
                  <a:pt x="186833" y="101426"/>
                  <a:pt x="186833" y="91631"/>
                  <a:pt x="180801" y="85600"/>
                </a:cubicBezTo>
                <a:lnTo>
                  <a:pt x="103598" y="8396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21679" y="332284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高吞吐写入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9788" y="2865799"/>
            <a:ext cx="1815830" cy="852328"/>
          </a:xfrm>
          <a:custGeom>
            <a:avLst/>
            <a:gdLst/>
            <a:ahLst/>
            <a:cxnLst/>
            <a:rect l="l" t="t" r="r" b="b"/>
            <a:pathLst>
              <a:path w="1815830" h="852328">
                <a:moveTo>
                  <a:pt x="98819" y="0"/>
                </a:moveTo>
                <a:lnTo>
                  <a:pt x="1717011" y="0"/>
                </a:lnTo>
                <a:cubicBezTo>
                  <a:pt x="1771587" y="0"/>
                  <a:pt x="1815830" y="44243"/>
                  <a:pt x="1815830" y="98819"/>
                </a:cubicBezTo>
                <a:lnTo>
                  <a:pt x="1815830" y="753509"/>
                </a:lnTo>
                <a:cubicBezTo>
                  <a:pt x="1815830" y="808086"/>
                  <a:pt x="1771587" y="852328"/>
                  <a:pt x="1717011" y="852328"/>
                </a:cubicBezTo>
                <a:lnTo>
                  <a:pt x="98819" y="852328"/>
                </a:lnTo>
                <a:cubicBezTo>
                  <a:pt x="44243" y="852328"/>
                  <a:pt x="0" y="808086"/>
                  <a:pt x="0" y="753509"/>
                </a:cubicBezTo>
                <a:lnTo>
                  <a:pt x="0" y="98819"/>
                </a:lnTo>
                <a:cubicBezTo>
                  <a:pt x="0" y="44243"/>
                  <a:pt x="44243" y="0"/>
                  <a:pt x="988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328846" y="3026383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15441" y="15441"/>
                </a:moveTo>
                <a:cubicBezTo>
                  <a:pt x="6900" y="15441"/>
                  <a:pt x="0" y="22341"/>
                  <a:pt x="0" y="30881"/>
                </a:cubicBezTo>
                <a:lnTo>
                  <a:pt x="0" y="77204"/>
                </a:lnTo>
                <a:cubicBezTo>
                  <a:pt x="0" y="85744"/>
                  <a:pt x="6900" y="92644"/>
                  <a:pt x="15441" y="92644"/>
                </a:cubicBezTo>
                <a:cubicBezTo>
                  <a:pt x="23981" y="92644"/>
                  <a:pt x="30881" y="85744"/>
                  <a:pt x="30881" y="77204"/>
                </a:cubicBezTo>
                <a:lnTo>
                  <a:pt x="30881" y="46322"/>
                </a:lnTo>
                <a:lnTo>
                  <a:pt x="61763" y="46322"/>
                </a:lnTo>
                <a:cubicBezTo>
                  <a:pt x="70304" y="46322"/>
                  <a:pt x="77204" y="39422"/>
                  <a:pt x="77204" y="30881"/>
                </a:cubicBezTo>
                <a:cubicBezTo>
                  <a:pt x="77204" y="22341"/>
                  <a:pt x="70304" y="15441"/>
                  <a:pt x="61763" y="15441"/>
                </a:cubicBezTo>
                <a:lnTo>
                  <a:pt x="15441" y="15441"/>
                </a:lnTo>
                <a:close/>
                <a:moveTo>
                  <a:pt x="30881" y="169848"/>
                </a:moveTo>
                <a:cubicBezTo>
                  <a:pt x="30881" y="161307"/>
                  <a:pt x="23981" y="154407"/>
                  <a:pt x="15441" y="154407"/>
                </a:cubicBezTo>
                <a:cubicBezTo>
                  <a:pt x="6900" y="154407"/>
                  <a:pt x="0" y="161307"/>
                  <a:pt x="0" y="169848"/>
                </a:cubicBezTo>
                <a:lnTo>
                  <a:pt x="0" y="216170"/>
                </a:lnTo>
                <a:cubicBezTo>
                  <a:pt x="0" y="224711"/>
                  <a:pt x="6900" y="231611"/>
                  <a:pt x="15441" y="231611"/>
                </a:cubicBezTo>
                <a:lnTo>
                  <a:pt x="61763" y="231611"/>
                </a:lnTo>
                <a:cubicBezTo>
                  <a:pt x="70304" y="231611"/>
                  <a:pt x="77204" y="224711"/>
                  <a:pt x="77204" y="216170"/>
                </a:cubicBezTo>
                <a:cubicBezTo>
                  <a:pt x="77204" y="207630"/>
                  <a:pt x="70304" y="200729"/>
                  <a:pt x="61763" y="200729"/>
                </a:cubicBezTo>
                <a:lnTo>
                  <a:pt x="30881" y="200729"/>
                </a:lnTo>
                <a:lnTo>
                  <a:pt x="30881" y="169848"/>
                </a:lnTo>
                <a:close/>
                <a:moveTo>
                  <a:pt x="154407" y="15441"/>
                </a:moveTo>
                <a:cubicBezTo>
                  <a:pt x="145867" y="15441"/>
                  <a:pt x="138967" y="22341"/>
                  <a:pt x="138967" y="30881"/>
                </a:cubicBezTo>
                <a:cubicBezTo>
                  <a:pt x="138967" y="39422"/>
                  <a:pt x="145867" y="46322"/>
                  <a:pt x="154407" y="46322"/>
                </a:cubicBezTo>
                <a:lnTo>
                  <a:pt x="185289" y="46322"/>
                </a:lnTo>
                <a:lnTo>
                  <a:pt x="185289" y="77204"/>
                </a:lnTo>
                <a:cubicBezTo>
                  <a:pt x="185289" y="85744"/>
                  <a:pt x="192189" y="92644"/>
                  <a:pt x="200729" y="92644"/>
                </a:cubicBezTo>
                <a:cubicBezTo>
                  <a:pt x="209270" y="92644"/>
                  <a:pt x="216170" y="85744"/>
                  <a:pt x="216170" y="77204"/>
                </a:cubicBezTo>
                <a:lnTo>
                  <a:pt x="216170" y="30881"/>
                </a:lnTo>
                <a:cubicBezTo>
                  <a:pt x="216170" y="22341"/>
                  <a:pt x="209270" y="15441"/>
                  <a:pt x="200729" y="15441"/>
                </a:cubicBezTo>
                <a:lnTo>
                  <a:pt x="154407" y="15441"/>
                </a:lnTo>
                <a:close/>
                <a:moveTo>
                  <a:pt x="216170" y="169848"/>
                </a:moveTo>
                <a:cubicBezTo>
                  <a:pt x="216170" y="161307"/>
                  <a:pt x="209270" y="154407"/>
                  <a:pt x="200729" y="154407"/>
                </a:cubicBezTo>
                <a:cubicBezTo>
                  <a:pt x="192189" y="154407"/>
                  <a:pt x="185289" y="161307"/>
                  <a:pt x="185289" y="169848"/>
                </a:cubicBezTo>
                <a:lnTo>
                  <a:pt x="185289" y="200729"/>
                </a:lnTo>
                <a:lnTo>
                  <a:pt x="154407" y="200729"/>
                </a:lnTo>
                <a:cubicBezTo>
                  <a:pt x="145867" y="200729"/>
                  <a:pt x="138967" y="207630"/>
                  <a:pt x="138967" y="216170"/>
                </a:cubicBezTo>
                <a:cubicBezTo>
                  <a:pt x="138967" y="224711"/>
                  <a:pt x="145867" y="231611"/>
                  <a:pt x="154407" y="231611"/>
                </a:cubicBezTo>
                <a:lnTo>
                  <a:pt x="200729" y="231611"/>
                </a:lnTo>
                <a:cubicBezTo>
                  <a:pt x="209270" y="231611"/>
                  <a:pt x="216170" y="224711"/>
                  <a:pt x="216170" y="216170"/>
                </a:cubicBezTo>
                <a:lnTo>
                  <a:pt x="216170" y="169848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34785" y="332284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2894" y="2865799"/>
            <a:ext cx="1815830" cy="852328"/>
          </a:xfrm>
          <a:custGeom>
            <a:avLst/>
            <a:gdLst/>
            <a:ahLst/>
            <a:cxnLst/>
            <a:rect l="l" t="t" r="r" b="b"/>
            <a:pathLst>
              <a:path w="1815830" h="852328">
                <a:moveTo>
                  <a:pt x="98819" y="0"/>
                </a:moveTo>
                <a:lnTo>
                  <a:pt x="1717011" y="0"/>
                </a:lnTo>
                <a:cubicBezTo>
                  <a:pt x="1771587" y="0"/>
                  <a:pt x="1815830" y="44243"/>
                  <a:pt x="1815830" y="98819"/>
                </a:cubicBezTo>
                <a:lnTo>
                  <a:pt x="1815830" y="753509"/>
                </a:lnTo>
                <a:cubicBezTo>
                  <a:pt x="1815830" y="808086"/>
                  <a:pt x="1771587" y="852328"/>
                  <a:pt x="1717011" y="852328"/>
                </a:cubicBezTo>
                <a:lnTo>
                  <a:pt x="98819" y="852328"/>
                </a:lnTo>
                <a:cubicBezTo>
                  <a:pt x="44243" y="852328"/>
                  <a:pt x="0" y="808086"/>
                  <a:pt x="0" y="753509"/>
                </a:cubicBezTo>
                <a:lnTo>
                  <a:pt x="0" y="98819"/>
                </a:lnTo>
                <a:cubicBezTo>
                  <a:pt x="0" y="44243"/>
                  <a:pt x="44243" y="0"/>
                  <a:pt x="988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241952" y="3026383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216170" y="99303"/>
                </a:moveTo>
                <a:cubicBezTo>
                  <a:pt x="209029" y="104032"/>
                  <a:pt x="200826" y="107844"/>
                  <a:pt x="192285" y="110884"/>
                </a:cubicBezTo>
                <a:cubicBezTo>
                  <a:pt x="169607" y="118990"/>
                  <a:pt x="139835" y="123526"/>
                  <a:pt x="108085" y="123526"/>
                </a:cubicBezTo>
                <a:cubicBezTo>
                  <a:pt x="76335" y="123526"/>
                  <a:pt x="46515" y="118942"/>
                  <a:pt x="23885" y="110884"/>
                </a:cubicBezTo>
                <a:cubicBezTo>
                  <a:pt x="15392" y="107844"/>
                  <a:pt x="7141" y="104032"/>
                  <a:pt x="0" y="99303"/>
                </a:cubicBezTo>
                <a:lnTo>
                  <a:pt x="0" y="138967"/>
                </a:lnTo>
                <a:cubicBezTo>
                  <a:pt x="0" y="160294"/>
                  <a:pt x="48397" y="177568"/>
                  <a:pt x="108085" y="177568"/>
                </a:cubicBezTo>
                <a:cubicBezTo>
                  <a:pt x="167773" y="177568"/>
                  <a:pt x="216170" y="160294"/>
                  <a:pt x="216170" y="138967"/>
                </a:cubicBezTo>
                <a:lnTo>
                  <a:pt x="216170" y="99303"/>
                </a:lnTo>
                <a:close/>
                <a:moveTo>
                  <a:pt x="216170" y="61763"/>
                </a:moveTo>
                <a:lnTo>
                  <a:pt x="216170" y="38602"/>
                </a:lnTo>
                <a:cubicBezTo>
                  <a:pt x="216170" y="17274"/>
                  <a:pt x="167773" y="0"/>
                  <a:pt x="108085" y="0"/>
                </a:cubicBezTo>
                <a:cubicBezTo>
                  <a:pt x="48397" y="0"/>
                  <a:pt x="0" y="17274"/>
                  <a:pt x="0" y="38602"/>
                </a:cubicBezTo>
                <a:lnTo>
                  <a:pt x="0" y="61763"/>
                </a:lnTo>
                <a:cubicBezTo>
                  <a:pt x="0" y="83090"/>
                  <a:pt x="48397" y="100365"/>
                  <a:pt x="108085" y="100365"/>
                </a:cubicBezTo>
                <a:cubicBezTo>
                  <a:pt x="167773" y="100365"/>
                  <a:pt x="216170" y="83090"/>
                  <a:pt x="216170" y="61763"/>
                </a:cubicBezTo>
                <a:close/>
                <a:moveTo>
                  <a:pt x="192285" y="188087"/>
                </a:moveTo>
                <a:cubicBezTo>
                  <a:pt x="169655" y="196146"/>
                  <a:pt x="139883" y="200729"/>
                  <a:pt x="108085" y="200729"/>
                </a:cubicBezTo>
                <a:cubicBezTo>
                  <a:pt x="76287" y="200729"/>
                  <a:pt x="46515" y="196146"/>
                  <a:pt x="23885" y="188087"/>
                </a:cubicBezTo>
                <a:cubicBezTo>
                  <a:pt x="15392" y="185047"/>
                  <a:pt x="7141" y="181236"/>
                  <a:pt x="0" y="176507"/>
                </a:cubicBezTo>
                <a:lnTo>
                  <a:pt x="0" y="208450"/>
                </a:lnTo>
                <a:cubicBezTo>
                  <a:pt x="0" y="229777"/>
                  <a:pt x="48397" y="247052"/>
                  <a:pt x="108085" y="247052"/>
                </a:cubicBezTo>
                <a:cubicBezTo>
                  <a:pt x="167773" y="247052"/>
                  <a:pt x="216170" y="229777"/>
                  <a:pt x="216170" y="208450"/>
                </a:cubicBezTo>
                <a:lnTo>
                  <a:pt x="216170" y="176507"/>
                </a:lnTo>
                <a:cubicBezTo>
                  <a:pt x="209029" y="181236"/>
                  <a:pt x="200826" y="185047"/>
                  <a:pt x="192285" y="18808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47891" y="3322845"/>
            <a:ext cx="160583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稀疏存储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809" y="4113410"/>
            <a:ext cx="9980888" cy="5027502"/>
          </a:xfrm>
          <a:custGeom>
            <a:avLst/>
            <a:gdLst/>
            <a:ahLst/>
            <a:cxnLst/>
            <a:rect l="l" t="t" r="r" b="b"/>
            <a:pathLst>
              <a:path w="9980888" h="5027502">
                <a:moveTo>
                  <a:pt x="49410" y="0"/>
                </a:moveTo>
                <a:lnTo>
                  <a:pt x="9832677" y="0"/>
                </a:lnTo>
                <a:cubicBezTo>
                  <a:pt x="9914531" y="0"/>
                  <a:pt x="9980888" y="66356"/>
                  <a:pt x="9980888" y="148211"/>
                </a:cubicBezTo>
                <a:lnTo>
                  <a:pt x="9980888" y="4879291"/>
                </a:lnTo>
                <a:cubicBezTo>
                  <a:pt x="9980888" y="4961145"/>
                  <a:pt x="9914531" y="5027502"/>
                  <a:pt x="9832677" y="5027502"/>
                </a:cubicBezTo>
                <a:lnTo>
                  <a:pt x="49410" y="5027502"/>
                </a:lnTo>
                <a:cubicBezTo>
                  <a:pt x="22122" y="5027502"/>
                  <a:pt x="0" y="5005380"/>
                  <a:pt x="0" y="497809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18809" y="4113410"/>
            <a:ext cx="49410" cy="5027502"/>
          </a:xfrm>
          <a:custGeom>
            <a:avLst/>
            <a:gdLst/>
            <a:ahLst/>
            <a:cxnLst/>
            <a:rect l="l" t="t" r="r" b="b"/>
            <a:pathLst>
              <a:path w="49410" h="5027502">
                <a:moveTo>
                  <a:pt x="49410" y="0"/>
                </a:moveTo>
                <a:lnTo>
                  <a:pt x="49410" y="0"/>
                </a:lnTo>
                <a:lnTo>
                  <a:pt x="49410" y="5027502"/>
                </a:lnTo>
                <a:lnTo>
                  <a:pt x="49410" y="5027502"/>
                </a:lnTo>
                <a:cubicBezTo>
                  <a:pt x="22122" y="5027502"/>
                  <a:pt x="0" y="5005380"/>
                  <a:pt x="0" y="497809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90565" y="4360462"/>
            <a:ext cx="9585605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宽列存储的KV本质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565" y="4854565"/>
            <a:ext cx="9560900" cy="32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Bigtable的数据模型虽然由多级结构组成,但它仍是主键驱动的KV模型,复杂结构被封装在Value中: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0565" y="5323964"/>
            <a:ext cx="9462079" cy="839976"/>
          </a:xfrm>
          <a:custGeom>
            <a:avLst/>
            <a:gdLst/>
            <a:ahLst/>
            <a:cxnLst/>
            <a:rect l="l" t="t" r="r" b="b"/>
            <a:pathLst>
              <a:path w="9462079" h="839976">
                <a:moveTo>
                  <a:pt x="98823" y="0"/>
                </a:moveTo>
                <a:lnTo>
                  <a:pt x="9363256" y="0"/>
                </a:lnTo>
                <a:cubicBezTo>
                  <a:pt x="9417834" y="0"/>
                  <a:pt x="9462079" y="44245"/>
                  <a:pt x="9462079" y="98823"/>
                </a:cubicBezTo>
                <a:lnTo>
                  <a:pt x="9462079" y="741153"/>
                </a:lnTo>
                <a:cubicBezTo>
                  <a:pt x="9462079" y="795731"/>
                  <a:pt x="9417834" y="839976"/>
                  <a:pt x="9363256" y="839976"/>
                </a:cubicBezTo>
                <a:lnTo>
                  <a:pt x="98823" y="839976"/>
                </a:lnTo>
                <a:cubicBezTo>
                  <a:pt x="44245" y="839976"/>
                  <a:pt x="0" y="795731"/>
                  <a:pt x="0" y="741153"/>
                </a:cubicBezTo>
                <a:lnTo>
                  <a:pt x="0" y="98823"/>
                </a:lnTo>
                <a:cubicBezTo>
                  <a:pt x="0" y="44281"/>
                  <a:pt x="44281" y="0"/>
                  <a:pt x="9882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32620" y="5521605"/>
            <a:ext cx="9177970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5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RowKey → Column Family → Column → Timestamp → Value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0565" y="6312170"/>
            <a:ext cx="956090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RowKey是全局主键: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作为数据分布和查询的主要维度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565" y="6707453"/>
            <a:ext cx="956090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列族与列是逻辑结构: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提供数据组织和访问控制的逻辑分组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565" y="7102736"/>
            <a:ext cx="956090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底层仍是KV排序存储: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所有数据最终以(Key, Value)形式存储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565" y="7547429"/>
            <a:ext cx="9560900" cy="32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不同列族最终都以LSM-Tree结构存储,通过复合键排序。因此Bigtable属于 </a:t>
            </a:r>
            <a:r>
              <a:rPr lang="en-US" sz="1556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Wide-Column KV Store </a:t>
            </a:r>
            <a:r>
              <a:rPr lang="en-US" sz="15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75989" y="1334079"/>
            <a:ext cx="4978091" cy="4397520"/>
          </a:xfrm>
          <a:custGeom>
            <a:avLst/>
            <a:gdLst/>
            <a:ahLst/>
            <a:cxnLst/>
            <a:rect l="l" t="t" r="r" b="b"/>
            <a:pathLst>
              <a:path w="4978091" h="4397520">
                <a:moveTo>
                  <a:pt x="49410" y="0"/>
                </a:moveTo>
                <a:lnTo>
                  <a:pt x="4829851" y="0"/>
                </a:lnTo>
                <a:cubicBezTo>
                  <a:pt x="4911722" y="0"/>
                  <a:pt x="4978091" y="66369"/>
                  <a:pt x="4978091" y="148240"/>
                </a:cubicBezTo>
                <a:lnTo>
                  <a:pt x="4978091" y="4249279"/>
                </a:lnTo>
                <a:cubicBezTo>
                  <a:pt x="4978091" y="4331150"/>
                  <a:pt x="4911722" y="4397520"/>
                  <a:pt x="4829851" y="4397520"/>
                </a:cubicBezTo>
                <a:lnTo>
                  <a:pt x="49410" y="4397520"/>
                </a:lnTo>
                <a:cubicBezTo>
                  <a:pt x="22122" y="4397520"/>
                  <a:pt x="0" y="4375398"/>
                  <a:pt x="0" y="4348109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775989" y="1334079"/>
            <a:ext cx="49410" cy="4397520"/>
          </a:xfrm>
          <a:custGeom>
            <a:avLst/>
            <a:gdLst/>
            <a:ahLst/>
            <a:cxnLst/>
            <a:rect l="l" t="t" r="r" b="b"/>
            <a:pathLst>
              <a:path w="49410" h="4397520">
                <a:moveTo>
                  <a:pt x="49410" y="0"/>
                </a:moveTo>
                <a:lnTo>
                  <a:pt x="49410" y="0"/>
                </a:lnTo>
                <a:lnTo>
                  <a:pt x="49410" y="4397520"/>
                </a:lnTo>
                <a:lnTo>
                  <a:pt x="49410" y="4397520"/>
                </a:lnTo>
                <a:cubicBezTo>
                  <a:pt x="22122" y="4397520"/>
                  <a:pt x="0" y="4375398"/>
                  <a:pt x="0" y="4348109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047745" y="1581131"/>
            <a:ext cx="458280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系统架构的KV特征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47745" y="2075234"/>
            <a:ext cx="455810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Bigtable的三个核心组件都围绕KV访问路径设计: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47745" y="2519927"/>
            <a:ext cx="4459283" cy="889386"/>
          </a:xfrm>
          <a:custGeom>
            <a:avLst/>
            <a:gdLst/>
            <a:ahLst/>
            <a:cxnLst/>
            <a:rect l="l" t="t" r="r" b="b"/>
            <a:pathLst>
              <a:path w="4459283" h="889386">
                <a:moveTo>
                  <a:pt x="98820" y="0"/>
                </a:moveTo>
                <a:lnTo>
                  <a:pt x="4360463" y="0"/>
                </a:lnTo>
                <a:cubicBezTo>
                  <a:pt x="4415040" y="0"/>
                  <a:pt x="4459283" y="44243"/>
                  <a:pt x="4459283" y="98820"/>
                </a:cubicBezTo>
                <a:lnTo>
                  <a:pt x="4459283" y="790566"/>
                </a:lnTo>
                <a:cubicBezTo>
                  <a:pt x="4459283" y="845143"/>
                  <a:pt x="4415040" y="889386"/>
                  <a:pt x="4360463" y="889386"/>
                </a:cubicBezTo>
                <a:lnTo>
                  <a:pt x="98820" y="889386"/>
                </a:lnTo>
                <a:cubicBezTo>
                  <a:pt x="44243" y="889386"/>
                  <a:pt x="0" y="845143"/>
                  <a:pt x="0" y="790566"/>
                </a:cubicBezTo>
                <a:lnTo>
                  <a:pt x="0" y="98820"/>
                </a:lnTo>
                <a:cubicBezTo>
                  <a:pt x="0" y="44243"/>
                  <a:pt x="44243" y="0"/>
                  <a:pt x="9882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195976" y="2668158"/>
            <a:ext cx="426164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 Server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95976" y="3014030"/>
            <a:ext cx="424928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KV引擎+数据分片,负责行范围的存储与读写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47745" y="3557544"/>
            <a:ext cx="4459283" cy="889386"/>
          </a:xfrm>
          <a:custGeom>
            <a:avLst/>
            <a:gdLst/>
            <a:ahLst/>
            <a:cxnLst/>
            <a:rect l="l" t="t" r="r" b="b"/>
            <a:pathLst>
              <a:path w="4459283" h="889386">
                <a:moveTo>
                  <a:pt x="98820" y="0"/>
                </a:moveTo>
                <a:lnTo>
                  <a:pt x="4360463" y="0"/>
                </a:lnTo>
                <a:cubicBezTo>
                  <a:pt x="4415040" y="0"/>
                  <a:pt x="4459283" y="44243"/>
                  <a:pt x="4459283" y="98820"/>
                </a:cubicBezTo>
                <a:lnTo>
                  <a:pt x="4459283" y="790566"/>
                </a:lnTo>
                <a:cubicBezTo>
                  <a:pt x="4459283" y="845143"/>
                  <a:pt x="4415040" y="889386"/>
                  <a:pt x="4360463" y="889386"/>
                </a:cubicBezTo>
                <a:lnTo>
                  <a:pt x="98820" y="889386"/>
                </a:lnTo>
                <a:cubicBezTo>
                  <a:pt x="44243" y="889386"/>
                  <a:pt x="0" y="845143"/>
                  <a:pt x="0" y="790566"/>
                </a:cubicBezTo>
                <a:lnTo>
                  <a:pt x="0" y="98820"/>
                </a:lnTo>
                <a:cubicBezTo>
                  <a:pt x="0" y="44243"/>
                  <a:pt x="44243" y="0"/>
                  <a:pt x="9882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95976" y="3705775"/>
            <a:ext cx="426164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Server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95976" y="4051647"/>
            <a:ext cx="424928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元数据管理,Tablet分配、负载均衡、故障恢复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47745" y="4595161"/>
            <a:ext cx="4459283" cy="889386"/>
          </a:xfrm>
          <a:custGeom>
            <a:avLst/>
            <a:gdLst/>
            <a:ahLst/>
            <a:cxnLst/>
            <a:rect l="l" t="t" r="r" b="b"/>
            <a:pathLst>
              <a:path w="4459283" h="889386">
                <a:moveTo>
                  <a:pt x="98820" y="0"/>
                </a:moveTo>
                <a:lnTo>
                  <a:pt x="4360463" y="0"/>
                </a:lnTo>
                <a:cubicBezTo>
                  <a:pt x="4415040" y="0"/>
                  <a:pt x="4459283" y="44243"/>
                  <a:pt x="4459283" y="98820"/>
                </a:cubicBezTo>
                <a:lnTo>
                  <a:pt x="4459283" y="790566"/>
                </a:lnTo>
                <a:cubicBezTo>
                  <a:pt x="4459283" y="845143"/>
                  <a:pt x="4415040" y="889386"/>
                  <a:pt x="4360463" y="889386"/>
                </a:cubicBezTo>
                <a:lnTo>
                  <a:pt x="98820" y="889386"/>
                </a:lnTo>
                <a:cubicBezTo>
                  <a:pt x="44243" y="889386"/>
                  <a:pt x="0" y="845143"/>
                  <a:pt x="0" y="790566"/>
                </a:cubicBezTo>
                <a:lnTo>
                  <a:pt x="0" y="98820"/>
                </a:lnTo>
                <a:cubicBezTo>
                  <a:pt x="0" y="44243"/>
                  <a:pt x="44243" y="0"/>
                  <a:pt x="9882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195976" y="4743392"/>
            <a:ext cx="426164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95976" y="5089264"/>
            <a:ext cx="424928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底层持久化存储,存放SSTable/HFile文件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775989" y="5879830"/>
            <a:ext cx="4978091" cy="3261082"/>
          </a:xfrm>
          <a:custGeom>
            <a:avLst/>
            <a:gdLst/>
            <a:ahLst/>
            <a:cxnLst/>
            <a:rect l="l" t="t" r="r" b="b"/>
            <a:pathLst>
              <a:path w="4978091" h="3261082">
                <a:moveTo>
                  <a:pt x="49410" y="0"/>
                </a:moveTo>
                <a:lnTo>
                  <a:pt x="4829875" y="0"/>
                </a:lnTo>
                <a:cubicBezTo>
                  <a:pt x="4911733" y="0"/>
                  <a:pt x="4978091" y="66359"/>
                  <a:pt x="4978091" y="148216"/>
                </a:cubicBezTo>
                <a:lnTo>
                  <a:pt x="4978091" y="3112866"/>
                </a:lnTo>
                <a:cubicBezTo>
                  <a:pt x="4978091" y="3194723"/>
                  <a:pt x="4911733" y="3261082"/>
                  <a:pt x="4829875" y="3261082"/>
                </a:cubicBezTo>
                <a:lnTo>
                  <a:pt x="49410" y="3261082"/>
                </a:lnTo>
                <a:cubicBezTo>
                  <a:pt x="22122" y="3261082"/>
                  <a:pt x="0" y="3238960"/>
                  <a:pt x="0" y="3211672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775989" y="5879830"/>
            <a:ext cx="49410" cy="3261082"/>
          </a:xfrm>
          <a:custGeom>
            <a:avLst/>
            <a:gdLst/>
            <a:ahLst/>
            <a:cxnLst/>
            <a:rect l="l" t="t" r="r" b="b"/>
            <a:pathLst>
              <a:path w="49410" h="3261082">
                <a:moveTo>
                  <a:pt x="49410" y="0"/>
                </a:moveTo>
                <a:lnTo>
                  <a:pt x="49410" y="0"/>
                </a:lnTo>
                <a:lnTo>
                  <a:pt x="49410" y="3261082"/>
                </a:lnTo>
                <a:lnTo>
                  <a:pt x="49410" y="3261082"/>
                </a:lnTo>
                <a:cubicBezTo>
                  <a:pt x="22122" y="3261082"/>
                  <a:pt x="0" y="3238960"/>
                  <a:pt x="0" y="3211672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047745" y="6126881"/>
            <a:ext cx="458280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写入路径典型体现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47745" y="6620985"/>
            <a:ext cx="455810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写入路径完美体现KV存储设计: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47745" y="7065678"/>
            <a:ext cx="4459283" cy="1037617"/>
          </a:xfrm>
          <a:custGeom>
            <a:avLst/>
            <a:gdLst/>
            <a:ahLst/>
            <a:cxnLst/>
            <a:rect l="l" t="t" r="r" b="b"/>
            <a:pathLst>
              <a:path w="4459283" h="1037617">
                <a:moveTo>
                  <a:pt x="98823" y="0"/>
                </a:moveTo>
                <a:lnTo>
                  <a:pt x="4360460" y="0"/>
                </a:lnTo>
                <a:cubicBezTo>
                  <a:pt x="4415038" y="0"/>
                  <a:pt x="4459283" y="44244"/>
                  <a:pt x="4459283" y="98823"/>
                </a:cubicBezTo>
                <a:lnTo>
                  <a:pt x="4459283" y="938794"/>
                </a:lnTo>
                <a:cubicBezTo>
                  <a:pt x="4459283" y="993373"/>
                  <a:pt x="4415038" y="1037617"/>
                  <a:pt x="4360460" y="1037617"/>
                </a:cubicBezTo>
                <a:lnTo>
                  <a:pt x="98823" y="1037617"/>
                </a:lnTo>
                <a:cubicBezTo>
                  <a:pt x="44244" y="1037617"/>
                  <a:pt x="0" y="993373"/>
                  <a:pt x="0" y="938794"/>
                </a:cubicBezTo>
                <a:lnTo>
                  <a:pt x="0" y="98823"/>
                </a:lnTo>
                <a:cubicBezTo>
                  <a:pt x="0" y="44281"/>
                  <a:pt x="44281" y="0"/>
                  <a:pt x="9882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189800" y="7263319"/>
            <a:ext cx="4175173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5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 → MemTable → SSTable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02153" y="7658602"/>
            <a:ext cx="41504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(LSM树)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47745" y="8251526"/>
            <a:ext cx="4558103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这个结构就是典型的KV存储引擎设计,与RocksDB、LevelDB等单机KV存储引擎同源。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2667" y="423333"/>
            <a:ext cx="441325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常见误解澄清与HBase对应关系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85333"/>
            <a:ext cx="7577667" cy="4910667"/>
          </a:xfrm>
          <a:custGeom>
            <a:avLst/>
            <a:gdLst/>
            <a:ahLst/>
            <a:cxnLst/>
            <a:rect l="l" t="t" r="r" b="b"/>
            <a:pathLst>
              <a:path w="7577667" h="9779000">
                <a:moveTo>
                  <a:pt x="42333" y="0"/>
                </a:moveTo>
                <a:lnTo>
                  <a:pt x="7450665" y="0"/>
                </a:lnTo>
                <a:cubicBezTo>
                  <a:pt x="7520806" y="0"/>
                  <a:pt x="7577667" y="56861"/>
                  <a:pt x="7577667" y="127002"/>
                </a:cubicBezTo>
                <a:lnTo>
                  <a:pt x="7577667" y="9651998"/>
                </a:lnTo>
                <a:cubicBezTo>
                  <a:pt x="7577667" y="9722139"/>
                  <a:pt x="7520806" y="9779000"/>
                  <a:pt x="7450665" y="9779000"/>
                </a:cubicBezTo>
                <a:lnTo>
                  <a:pt x="42333" y="9779000"/>
                </a:lnTo>
                <a:cubicBezTo>
                  <a:pt x="18953" y="9779000"/>
                  <a:pt x="0" y="9760047"/>
                  <a:pt x="0" y="9736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 flipH="1">
            <a:off x="398781" y="1185337"/>
            <a:ext cx="43200" cy="4896000"/>
          </a:xfrm>
          <a:custGeom>
            <a:avLst/>
            <a:gdLst/>
            <a:ahLst/>
            <a:cxnLst/>
            <a:rect l="l" t="t" r="r" b="b"/>
            <a:pathLst>
              <a:path w="42333" h="9779000">
                <a:moveTo>
                  <a:pt x="42333" y="0"/>
                </a:moveTo>
                <a:lnTo>
                  <a:pt x="42333" y="0"/>
                </a:lnTo>
                <a:lnTo>
                  <a:pt x="42333" y="9779000"/>
                </a:lnTo>
                <a:lnTo>
                  <a:pt x="42333" y="9779000"/>
                </a:lnTo>
                <a:cubicBezTo>
                  <a:pt x="18953" y="9779000"/>
                  <a:pt x="0" y="9760047"/>
                  <a:pt x="0" y="9736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77333" y="1397000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为什么误认为是"数据库"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7333" y="1862667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8417" y="207433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84667" y="52917"/>
                </a:moveTo>
                <a:lnTo>
                  <a:pt x="84667" y="84667"/>
                </a:lnTo>
                <a:lnTo>
                  <a:pt x="127000" y="84667"/>
                </a:lnTo>
                <a:lnTo>
                  <a:pt x="127000" y="52917"/>
                </a:lnTo>
                <a:lnTo>
                  <a:pt x="84667" y="52917"/>
                </a:lnTo>
                <a:close/>
                <a:moveTo>
                  <a:pt x="63500" y="52917"/>
                </a:moveTo>
                <a:lnTo>
                  <a:pt x="21167" y="52917"/>
                </a:lnTo>
                <a:lnTo>
                  <a:pt x="21167" y="84667"/>
                </a:lnTo>
                <a:lnTo>
                  <a:pt x="63500" y="84667"/>
                </a:lnTo>
                <a:lnTo>
                  <a:pt x="63500" y="52917"/>
                </a:lnTo>
                <a:close/>
                <a:moveTo>
                  <a:pt x="0" y="105833"/>
                </a:moveTo>
                <a:lnTo>
                  <a:pt x="0" y="31750"/>
                </a:lnTo>
                <a:cubicBezTo>
                  <a:pt x="0" y="20075"/>
                  <a:pt x="9492" y="10583"/>
                  <a:pt x="21167" y="10583"/>
                </a:cubicBezTo>
                <a:lnTo>
                  <a:pt x="127000" y="10583"/>
                </a:lnTo>
                <a:cubicBezTo>
                  <a:pt x="138675" y="10583"/>
                  <a:pt x="148167" y="20075"/>
                  <a:pt x="148167" y="31750"/>
                </a:cubicBezTo>
                <a:lnTo>
                  <a:pt x="148167" y="137583"/>
                </a:lnTo>
                <a:cubicBezTo>
                  <a:pt x="148167" y="149258"/>
                  <a:pt x="138675" y="158750"/>
                  <a:pt x="127000" y="158750"/>
                </a:cubicBezTo>
                <a:lnTo>
                  <a:pt x="21167" y="158750"/>
                </a:lnTo>
                <a:cubicBezTo>
                  <a:pt x="9492" y="158750"/>
                  <a:pt x="0" y="149258"/>
                  <a:pt x="0" y="137583"/>
                </a:cubicBezTo>
                <a:lnTo>
                  <a:pt x="0" y="105833"/>
                </a:lnTo>
                <a:close/>
                <a:moveTo>
                  <a:pt x="127000" y="105833"/>
                </a:moveTo>
                <a:lnTo>
                  <a:pt x="84667" y="105833"/>
                </a:lnTo>
                <a:lnTo>
                  <a:pt x="84667" y="137583"/>
                </a:lnTo>
                <a:lnTo>
                  <a:pt x="127000" y="137583"/>
                </a:lnTo>
                <a:lnTo>
                  <a:pt x="127000" y="105833"/>
                </a:lnTo>
                <a:close/>
                <a:moveTo>
                  <a:pt x="63500" y="137583"/>
                </a:moveTo>
                <a:lnTo>
                  <a:pt x="63500" y="105833"/>
                </a:lnTo>
                <a:lnTo>
                  <a:pt x="21167" y="105833"/>
                </a:lnTo>
                <a:lnTo>
                  <a:pt x="21167" y="137583"/>
                </a:lnTo>
                <a:lnTo>
                  <a:pt x="63500" y="137583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58333" y="20320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有类表结构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6667" y="2370667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具备行、列族、列等类似关系数据库的概念,容易让人联想到传统数据库表结构。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7333" y="2878667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7833" y="3090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6895" y="1720"/>
                </a:moveTo>
                <a:cubicBezTo>
                  <a:pt x="81822" y="-562"/>
                  <a:pt x="87511" y="-562"/>
                  <a:pt x="92439" y="1720"/>
                </a:cubicBezTo>
                <a:lnTo>
                  <a:pt x="164736" y="35123"/>
                </a:lnTo>
                <a:cubicBezTo>
                  <a:pt x="167547" y="36413"/>
                  <a:pt x="169333" y="39224"/>
                  <a:pt x="169333" y="42333"/>
                </a:cubicBezTo>
                <a:cubicBezTo>
                  <a:pt x="169333" y="45442"/>
                  <a:pt x="167547" y="48253"/>
                  <a:pt x="164736" y="49543"/>
                </a:cubicBezTo>
                <a:lnTo>
                  <a:pt x="92439" y="82947"/>
                </a:lnTo>
                <a:cubicBezTo>
                  <a:pt x="87511" y="85229"/>
                  <a:pt x="81822" y="85229"/>
                  <a:pt x="76895" y="82947"/>
                </a:cubicBezTo>
                <a:lnTo>
                  <a:pt x="4597" y="49543"/>
                </a:lnTo>
                <a:cubicBezTo>
                  <a:pt x="1786" y="48220"/>
                  <a:pt x="0" y="45409"/>
                  <a:pt x="0" y="42333"/>
                </a:cubicBezTo>
                <a:cubicBezTo>
                  <a:pt x="0" y="39258"/>
                  <a:pt x="1786" y="36413"/>
                  <a:pt x="4597" y="35123"/>
                </a:cubicBezTo>
                <a:lnTo>
                  <a:pt x="76895" y="1720"/>
                </a:lnTo>
                <a:close/>
                <a:moveTo>
                  <a:pt x="15908" y="72231"/>
                </a:moveTo>
                <a:lnTo>
                  <a:pt x="70247" y="97334"/>
                </a:lnTo>
                <a:cubicBezTo>
                  <a:pt x="79408" y="101567"/>
                  <a:pt x="89958" y="101567"/>
                  <a:pt x="99120" y="97334"/>
                </a:cubicBezTo>
                <a:lnTo>
                  <a:pt x="153458" y="72231"/>
                </a:lnTo>
                <a:lnTo>
                  <a:pt x="164736" y="77457"/>
                </a:lnTo>
                <a:cubicBezTo>
                  <a:pt x="167547" y="78747"/>
                  <a:pt x="169333" y="81558"/>
                  <a:pt x="169333" y="84667"/>
                </a:cubicBezTo>
                <a:cubicBezTo>
                  <a:pt x="169333" y="87776"/>
                  <a:pt x="167547" y="90587"/>
                  <a:pt x="164736" y="91877"/>
                </a:cubicBezTo>
                <a:lnTo>
                  <a:pt x="92439" y="125280"/>
                </a:lnTo>
                <a:cubicBezTo>
                  <a:pt x="87511" y="127562"/>
                  <a:pt x="81822" y="127562"/>
                  <a:pt x="76895" y="125280"/>
                </a:cubicBezTo>
                <a:lnTo>
                  <a:pt x="4597" y="91877"/>
                </a:lnTo>
                <a:cubicBezTo>
                  <a:pt x="1786" y="90554"/>
                  <a:pt x="0" y="87742"/>
                  <a:pt x="0" y="84667"/>
                </a:cubicBezTo>
                <a:cubicBezTo>
                  <a:pt x="0" y="81591"/>
                  <a:pt x="1786" y="78747"/>
                  <a:pt x="4597" y="77457"/>
                </a:cubicBezTo>
                <a:lnTo>
                  <a:pt x="15875" y="72231"/>
                </a:lnTo>
                <a:close/>
                <a:moveTo>
                  <a:pt x="4597" y="119790"/>
                </a:moveTo>
                <a:lnTo>
                  <a:pt x="15875" y="114565"/>
                </a:lnTo>
                <a:lnTo>
                  <a:pt x="70214" y="139667"/>
                </a:lnTo>
                <a:cubicBezTo>
                  <a:pt x="79375" y="143900"/>
                  <a:pt x="89925" y="143900"/>
                  <a:pt x="99086" y="139667"/>
                </a:cubicBezTo>
                <a:lnTo>
                  <a:pt x="153425" y="114565"/>
                </a:lnTo>
                <a:lnTo>
                  <a:pt x="164703" y="119790"/>
                </a:lnTo>
                <a:cubicBezTo>
                  <a:pt x="167514" y="121080"/>
                  <a:pt x="169300" y="123891"/>
                  <a:pt x="169300" y="127000"/>
                </a:cubicBezTo>
                <a:cubicBezTo>
                  <a:pt x="169300" y="130109"/>
                  <a:pt x="167514" y="132920"/>
                  <a:pt x="164703" y="134210"/>
                </a:cubicBezTo>
                <a:lnTo>
                  <a:pt x="92406" y="167614"/>
                </a:lnTo>
                <a:cubicBezTo>
                  <a:pt x="87478" y="169896"/>
                  <a:pt x="81789" y="169896"/>
                  <a:pt x="76861" y="167614"/>
                </a:cubicBezTo>
                <a:lnTo>
                  <a:pt x="4597" y="134210"/>
                </a:lnTo>
                <a:cubicBezTo>
                  <a:pt x="1786" y="132887"/>
                  <a:pt x="0" y="130076"/>
                  <a:pt x="0" y="127000"/>
                </a:cubicBezTo>
                <a:cubicBezTo>
                  <a:pt x="0" y="123924"/>
                  <a:pt x="1786" y="121080"/>
                  <a:pt x="4597" y="11979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8333" y="30480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上层系统集成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667" y="3386667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能被Spanner、F1等系统作为存储层使用,增加了与数据库的关联性。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7333" y="3894667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78417" y="410633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58333" y="40640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大规模数据服务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667" y="4402667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在Google内部与"大规模数据服务"紧密关联,被误认为完整数据库系统。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8500" y="4910667"/>
            <a:ext cx="7112000" cy="846667"/>
          </a:xfrm>
          <a:custGeom>
            <a:avLst/>
            <a:gdLst/>
            <a:ahLst/>
            <a:cxnLst/>
            <a:rect l="l" t="t" r="r" b="b"/>
            <a:pathLst>
              <a:path w="7112000" h="846667">
                <a:moveTo>
                  <a:pt x="42333" y="0"/>
                </a:moveTo>
                <a:lnTo>
                  <a:pt x="7027333" y="0"/>
                </a:lnTo>
                <a:cubicBezTo>
                  <a:pt x="7074093" y="0"/>
                  <a:pt x="7112000" y="37907"/>
                  <a:pt x="7112000" y="84667"/>
                </a:cubicBezTo>
                <a:lnTo>
                  <a:pt x="7112000" y="762000"/>
                </a:lnTo>
                <a:cubicBezTo>
                  <a:pt x="7112000" y="808760"/>
                  <a:pt x="7074093" y="846667"/>
                  <a:pt x="7027333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98500" y="4910667"/>
            <a:ext cx="42333" cy="846667"/>
          </a:xfrm>
          <a:custGeom>
            <a:avLst/>
            <a:gdLst/>
            <a:ahLst/>
            <a:cxnLst/>
            <a:rect l="l" t="t" r="r" b="b"/>
            <a:pathLst>
              <a:path w="42333" h="846667">
                <a:moveTo>
                  <a:pt x="42333" y="0"/>
                </a:moveTo>
                <a:lnTo>
                  <a:pt x="42333" y="0"/>
                </a:lnTo>
                <a:lnTo>
                  <a:pt x="42333" y="846667"/>
                </a:ln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10167" y="512762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71222" y="5080000"/>
            <a:ext cx="663927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严格技术定义: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Bigtable是可扩展、高可用的分布式KV引擎,只是采用"宽列式"逻辑抽象。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8307" y="607821"/>
            <a:ext cx="7577667" cy="3598334"/>
          </a:xfrm>
          <a:custGeom>
            <a:avLst/>
            <a:gdLst/>
            <a:ahLst/>
            <a:cxnLst/>
            <a:rect l="l" t="t" r="r" b="b"/>
            <a:pathLst>
              <a:path w="7577667" h="5016500">
                <a:moveTo>
                  <a:pt x="42333" y="0"/>
                </a:moveTo>
                <a:lnTo>
                  <a:pt x="7450649" y="0"/>
                </a:lnTo>
                <a:cubicBezTo>
                  <a:pt x="7520799" y="0"/>
                  <a:pt x="7577667" y="56868"/>
                  <a:pt x="7577667" y="127018"/>
                </a:cubicBezTo>
                <a:lnTo>
                  <a:pt x="7577667" y="4889482"/>
                </a:lnTo>
                <a:cubicBezTo>
                  <a:pt x="7577667" y="4959632"/>
                  <a:pt x="7520799" y="5016500"/>
                  <a:pt x="7450649" y="5016500"/>
                </a:cubicBezTo>
                <a:lnTo>
                  <a:pt x="42333" y="5016500"/>
                </a:lnTo>
                <a:cubicBezTo>
                  <a:pt x="18953" y="5016500"/>
                  <a:pt x="0" y="4997547"/>
                  <a:pt x="0" y="4974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58307" y="607821"/>
            <a:ext cx="43200" cy="3598334"/>
          </a:xfrm>
          <a:custGeom>
            <a:avLst/>
            <a:gdLst/>
            <a:ahLst/>
            <a:cxnLst/>
            <a:rect l="l" t="t" r="r" b="b"/>
            <a:pathLst>
              <a:path w="42333" h="5016500">
                <a:moveTo>
                  <a:pt x="42333" y="0"/>
                </a:moveTo>
                <a:lnTo>
                  <a:pt x="42333" y="0"/>
                </a:lnTo>
                <a:lnTo>
                  <a:pt x="42333" y="5016500"/>
                </a:lnTo>
                <a:lnTo>
                  <a:pt x="42333" y="5016500"/>
                </a:lnTo>
                <a:cubicBezTo>
                  <a:pt x="18953" y="5016500"/>
                  <a:pt x="0" y="4997547"/>
                  <a:pt x="0" y="4974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91141" y="819488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实际技术能力边界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91141" y="1285155"/>
            <a:ext cx="7133167" cy="2254250"/>
          </a:xfrm>
          <a:custGeom>
            <a:avLst/>
            <a:gdLst/>
            <a:ahLst/>
            <a:cxnLst/>
            <a:rect l="l" t="t" r="r" b="b"/>
            <a:pathLst>
              <a:path w="7133167" h="2254250">
                <a:moveTo>
                  <a:pt x="84670" y="0"/>
                </a:moveTo>
                <a:lnTo>
                  <a:pt x="7048497" y="0"/>
                </a:lnTo>
                <a:cubicBezTo>
                  <a:pt x="7095259" y="0"/>
                  <a:pt x="7133167" y="37908"/>
                  <a:pt x="7133167" y="84670"/>
                </a:cubicBezTo>
                <a:lnTo>
                  <a:pt x="7133167" y="2169580"/>
                </a:lnTo>
                <a:cubicBezTo>
                  <a:pt x="7133167" y="2216342"/>
                  <a:pt x="7095259" y="2254250"/>
                  <a:pt x="7048497" y="2254250"/>
                </a:cubicBezTo>
                <a:lnTo>
                  <a:pt x="84670" y="2254250"/>
                </a:lnTo>
                <a:cubicBezTo>
                  <a:pt x="37908" y="2254250"/>
                  <a:pt x="0" y="2216342"/>
                  <a:pt x="0" y="2169580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60474" y="1454488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不是</a:t>
            </a: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完整的关系数据库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60474" y="1835488"/>
            <a:ext cx="3354917" cy="730250"/>
          </a:xfrm>
          <a:custGeom>
            <a:avLst/>
            <a:gdLst/>
            <a:ahLst/>
            <a:cxnLst/>
            <a:rect l="l" t="t" r="r" b="b"/>
            <a:pathLst>
              <a:path w="3354917" h="730250">
                <a:moveTo>
                  <a:pt x="84665" y="0"/>
                </a:moveTo>
                <a:lnTo>
                  <a:pt x="3270251" y="0"/>
                </a:lnTo>
                <a:cubicBezTo>
                  <a:pt x="3317011" y="0"/>
                  <a:pt x="3354917" y="37906"/>
                  <a:pt x="3354917" y="84665"/>
                </a:cubicBezTo>
                <a:lnTo>
                  <a:pt x="3354917" y="645585"/>
                </a:lnTo>
                <a:cubicBezTo>
                  <a:pt x="3354917" y="692344"/>
                  <a:pt x="3317011" y="730250"/>
                  <a:pt x="32702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808641" y="201011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55232" y="55232"/>
                </a:moveTo>
                <a:cubicBezTo>
                  <a:pt x="58341" y="52123"/>
                  <a:pt x="63368" y="52123"/>
                  <a:pt x="66443" y="55232"/>
                </a:cubicBezTo>
                <a:lnTo>
                  <a:pt x="84634" y="73422"/>
                </a:lnTo>
                <a:lnTo>
                  <a:pt x="102824" y="55232"/>
                </a:lnTo>
                <a:cubicBezTo>
                  <a:pt x="105933" y="52123"/>
                  <a:pt x="110960" y="52123"/>
                  <a:pt x="114035" y="55232"/>
                </a:cubicBezTo>
                <a:cubicBezTo>
                  <a:pt x="117111" y="58341"/>
                  <a:pt x="117144" y="63368"/>
                  <a:pt x="114035" y="66443"/>
                </a:cubicBezTo>
                <a:lnTo>
                  <a:pt x="95845" y="84634"/>
                </a:lnTo>
                <a:lnTo>
                  <a:pt x="114035" y="102824"/>
                </a:lnTo>
                <a:cubicBezTo>
                  <a:pt x="117144" y="105933"/>
                  <a:pt x="117144" y="110960"/>
                  <a:pt x="114035" y="114035"/>
                </a:cubicBezTo>
                <a:cubicBezTo>
                  <a:pt x="110927" y="117111"/>
                  <a:pt x="105899" y="117144"/>
                  <a:pt x="102824" y="114035"/>
                </a:cubicBezTo>
                <a:lnTo>
                  <a:pt x="84634" y="95845"/>
                </a:lnTo>
                <a:lnTo>
                  <a:pt x="66443" y="114035"/>
                </a:lnTo>
                <a:cubicBezTo>
                  <a:pt x="63335" y="117144"/>
                  <a:pt x="58308" y="117144"/>
                  <a:pt x="55232" y="114035"/>
                </a:cubicBezTo>
                <a:cubicBezTo>
                  <a:pt x="52156" y="110927"/>
                  <a:pt x="52123" y="105899"/>
                  <a:pt x="55232" y="102824"/>
                </a:cubicBezTo>
                <a:lnTo>
                  <a:pt x="73422" y="84634"/>
                </a:lnTo>
                <a:lnTo>
                  <a:pt x="55232" y="66443"/>
                </a:lnTo>
                <a:cubicBezTo>
                  <a:pt x="52123" y="63335"/>
                  <a:pt x="52123" y="58308"/>
                  <a:pt x="55232" y="5523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87474" y="2221780"/>
            <a:ext cx="317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没有SQL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098404" y="1835488"/>
            <a:ext cx="3354917" cy="730250"/>
          </a:xfrm>
          <a:custGeom>
            <a:avLst/>
            <a:gdLst/>
            <a:ahLst/>
            <a:cxnLst/>
            <a:rect l="l" t="t" r="r" b="b"/>
            <a:pathLst>
              <a:path w="3354917" h="730250">
                <a:moveTo>
                  <a:pt x="84665" y="0"/>
                </a:moveTo>
                <a:lnTo>
                  <a:pt x="3270251" y="0"/>
                </a:lnTo>
                <a:cubicBezTo>
                  <a:pt x="3317011" y="0"/>
                  <a:pt x="3354917" y="37906"/>
                  <a:pt x="3354917" y="84665"/>
                </a:cubicBezTo>
                <a:lnTo>
                  <a:pt x="3354917" y="645585"/>
                </a:lnTo>
                <a:cubicBezTo>
                  <a:pt x="3354917" y="692344"/>
                  <a:pt x="3317011" y="730250"/>
                  <a:pt x="32702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2246570" y="201011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55232" y="55232"/>
                </a:moveTo>
                <a:cubicBezTo>
                  <a:pt x="58341" y="52123"/>
                  <a:pt x="63368" y="52123"/>
                  <a:pt x="66443" y="55232"/>
                </a:cubicBezTo>
                <a:lnTo>
                  <a:pt x="84634" y="73422"/>
                </a:lnTo>
                <a:lnTo>
                  <a:pt x="102824" y="55232"/>
                </a:lnTo>
                <a:cubicBezTo>
                  <a:pt x="105933" y="52123"/>
                  <a:pt x="110960" y="52123"/>
                  <a:pt x="114035" y="55232"/>
                </a:cubicBezTo>
                <a:cubicBezTo>
                  <a:pt x="117111" y="58341"/>
                  <a:pt x="117144" y="63368"/>
                  <a:pt x="114035" y="66443"/>
                </a:cubicBezTo>
                <a:lnTo>
                  <a:pt x="95845" y="84634"/>
                </a:lnTo>
                <a:lnTo>
                  <a:pt x="114035" y="102824"/>
                </a:lnTo>
                <a:cubicBezTo>
                  <a:pt x="117144" y="105933"/>
                  <a:pt x="117144" y="110960"/>
                  <a:pt x="114035" y="114035"/>
                </a:cubicBezTo>
                <a:cubicBezTo>
                  <a:pt x="110927" y="117111"/>
                  <a:pt x="105899" y="117144"/>
                  <a:pt x="102824" y="114035"/>
                </a:cubicBezTo>
                <a:lnTo>
                  <a:pt x="84634" y="95845"/>
                </a:lnTo>
                <a:lnTo>
                  <a:pt x="66443" y="114035"/>
                </a:lnTo>
                <a:cubicBezTo>
                  <a:pt x="63335" y="117144"/>
                  <a:pt x="58308" y="117144"/>
                  <a:pt x="55232" y="114035"/>
                </a:cubicBezTo>
                <a:cubicBezTo>
                  <a:pt x="52156" y="110927"/>
                  <a:pt x="52123" y="105899"/>
                  <a:pt x="55232" y="102824"/>
                </a:cubicBezTo>
                <a:lnTo>
                  <a:pt x="73422" y="84634"/>
                </a:lnTo>
                <a:lnTo>
                  <a:pt x="55232" y="66443"/>
                </a:lnTo>
                <a:cubicBezTo>
                  <a:pt x="52123" y="63335"/>
                  <a:pt x="52123" y="58308"/>
                  <a:pt x="55232" y="5523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225404" y="2221780"/>
            <a:ext cx="317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没有多表JOIN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0474" y="2645113"/>
            <a:ext cx="3354917" cy="730250"/>
          </a:xfrm>
          <a:custGeom>
            <a:avLst/>
            <a:gdLst/>
            <a:ahLst/>
            <a:cxnLst/>
            <a:rect l="l" t="t" r="r" b="b"/>
            <a:pathLst>
              <a:path w="3354917" h="730250">
                <a:moveTo>
                  <a:pt x="84665" y="0"/>
                </a:moveTo>
                <a:lnTo>
                  <a:pt x="3270251" y="0"/>
                </a:lnTo>
                <a:cubicBezTo>
                  <a:pt x="3317011" y="0"/>
                  <a:pt x="3354917" y="37906"/>
                  <a:pt x="3354917" y="84665"/>
                </a:cubicBezTo>
                <a:lnTo>
                  <a:pt x="3354917" y="645585"/>
                </a:lnTo>
                <a:cubicBezTo>
                  <a:pt x="3354917" y="692344"/>
                  <a:pt x="3317011" y="730250"/>
                  <a:pt x="32702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808641" y="281973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55232" y="55232"/>
                </a:moveTo>
                <a:cubicBezTo>
                  <a:pt x="58341" y="52123"/>
                  <a:pt x="63368" y="52123"/>
                  <a:pt x="66443" y="55232"/>
                </a:cubicBezTo>
                <a:lnTo>
                  <a:pt x="84634" y="73422"/>
                </a:lnTo>
                <a:lnTo>
                  <a:pt x="102824" y="55232"/>
                </a:lnTo>
                <a:cubicBezTo>
                  <a:pt x="105933" y="52123"/>
                  <a:pt x="110960" y="52123"/>
                  <a:pt x="114035" y="55232"/>
                </a:cubicBezTo>
                <a:cubicBezTo>
                  <a:pt x="117111" y="58341"/>
                  <a:pt x="117144" y="63368"/>
                  <a:pt x="114035" y="66443"/>
                </a:cubicBezTo>
                <a:lnTo>
                  <a:pt x="95845" y="84634"/>
                </a:lnTo>
                <a:lnTo>
                  <a:pt x="114035" y="102824"/>
                </a:lnTo>
                <a:cubicBezTo>
                  <a:pt x="117144" y="105933"/>
                  <a:pt x="117144" y="110960"/>
                  <a:pt x="114035" y="114035"/>
                </a:cubicBezTo>
                <a:cubicBezTo>
                  <a:pt x="110927" y="117111"/>
                  <a:pt x="105899" y="117144"/>
                  <a:pt x="102824" y="114035"/>
                </a:cubicBezTo>
                <a:lnTo>
                  <a:pt x="84634" y="95845"/>
                </a:lnTo>
                <a:lnTo>
                  <a:pt x="66443" y="114035"/>
                </a:lnTo>
                <a:cubicBezTo>
                  <a:pt x="63335" y="117144"/>
                  <a:pt x="58308" y="117144"/>
                  <a:pt x="55232" y="114035"/>
                </a:cubicBezTo>
                <a:cubicBezTo>
                  <a:pt x="52156" y="110927"/>
                  <a:pt x="52123" y="105899"/>
                  <a:pt x="55232" y="102824"/>
                </a:cubicBezTo>
                <a:lnTo>
                  <a:pt x="73422" y="84634"/>
                </a:lnTo>
                <a:lnTo>
                  <a:pt x="55232" y="66443"/>
                </a:lnTo>
                <a:cubicBezTo>
                  <a:pt x="52123" y="63335"/>
                  <a:pt x="52123" y="58308"/>
                  <a:pt x="55232" y="5523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87474" y="3031405"/>
            <a:ext cx="317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没有关系模型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098404" y="2645113"/>
            <a:ext cx="3354917" cy="730250"/>
          </a:xfrm>
          <a:custGeom>
            <a:avLst/>
            <a:gdLst/>
            <a:ahLst/>
            <a:cxnLst/>
            <a:rect l="l" t="t" r="r" b="b"/>
            <a:pathLst>
              <a:path w="3354917" h="730250">
                <a:moveTo>
                  <a:pt x="84665" y="0"/>
                </a:moveTo>
                <a:lnTo>
                  <a:pt x="3270251" y="0"/>
                </a:lnTo>
                <a:cubicBezTo>
                  <a:pt x="3317011" y="0"/>
                  <a:pt x="3354917" y="37906"/>
                  <a:pt x="3354917" y="84665"/>
                </a:cubicBezTo>
                <a:lnTo>
                  <a:pt x="3354917" y="645585"/>
                </a:lnTo>
                <a:cubicBezTo>
                  <a:pt x="3354917" y="692344"/>
                  <a:pt x="3317011" y="730250"/>
                  <a:pt x="32702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2246570" y="281973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55232" y="55232"/>
                </a:moveTo>
                <a:cubicBezTo>
                  <a:pt x="58341" y="52123"/>
                  <a:pt x="63368" y="52123"/>
                  <a:pt x="66443" y="55232"/>
                </a:cubicBezTo>
                <a:lnTo>
                  <a:pt x="84634" y="73422"/>
                </a:lnTo>
                <a:lnTo>
                  <a:pt x="102824" y="55232"/>
                </a:lnTo>
                <a:cubicBezTo>
                  <a:pt x="105933" y="52123"/>
                  <a:pt x="110960" y="52123"/>
                  <a:pt x="114035" y="55232"/>
                </a:cubicBezTo>
                <a:cubicBezTo>
                  <a:pt x="117111" y="58341"/>
                  <a:pt x="117144" y="63368"/>
                  <a:pt x="114035" y="66443"/>
                </a:cubicBezTo>
                <a:lnTo>
                  <a:pt x="95845" y="84634"/>
                </a:lnTo>
                <a:lnTo>
                  <a:pt x="114035" y="102824"/>
                </a:lnTo>
                <a:cubicBezTo>
                  <a:pt x="117144" y="105933"/>
                  <a:pt x="117144" y="110960"/>
                  <a:pt x="114035" y="114035"/>
                </a:cubicBezTo>
                <a:cubicBezTo>
                  <a:pt x="110927" y="117111"/>
                  <a:pt x="105899" y="117144"/>
                  <a:pt x="102824" y="114035"/>
                </a:cubicBezTo>
                <a:lnTo>
                  <a:pt x="84634" y="95845"/>
                </a:lnTo>
                <a:lnTo>
                  <a:pt x="66443" y="114035"/>
                </a:lnTo>
                <a:cubicBezTo>
                  <a:pt x="63335" y="117144"/>
                  <a:pt x="58308" y="117144"/>
                  <a:pt x="55232" y="114035"/>
                </a:cubicBezTo>
                <a:cubicBezTo>
                  <a:pt x="52156" y="110927"/>
                  <a:pt x="52123" y="105899"/>
                  <a:pt x="55232" y="102824"/>
                </a:cubicBezTo>
                <a:lnTo>
                  <a:pt x="73422" y="84634"/>
                </a:lnTo>
                <a:lnTo>
                  <a:pt x="55232" y="66443"/>
                </a:lnTo>
                <a:cubicBezTo>
                  <a:pt x="52123" y="63335"/>
                  <a:pt x="52123" y="58308"/>
                  <a:pt x="55232" y="5523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225404" y="3031405"/>
            <a:ext cx="3175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没有跨行事务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91141" y="3666405"/>
            <a:ext cx="7217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Bigtable仅支持单行原子操作,在一致性和扩展性之间做出了明智的权衡。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8307" y="4354081"/>
            <a:ext cx="7577667" cy="4593167"/>
          </a:xfrm>
          <a:custGeom>
            <a:avLst/>
            <a:gdLst/>
            <a:ahLst/>
            <a:cxnLst/>
            <a:rect l="l" t="t" r="r" b="b"/>
            <a:pathLst>
              <a:path w="7577667" h="4593167">
                <a:moveTo>
                  <a:pt x="42333" y="0"/>
                </a:moveTo>
                <a:lnTo>
                  <a:pt x="7450666" y="0"/>
                </a:lnTo>
                <a:cubicBezTo>
                  <a:pt x="7520806" y="0"/>
                  <a:pt x="7577667" y="56860"/>
                  <a:pt x="7577667" y="127001"/>
                </a:cubicBezTo>
                <a:lnTo>
                  <a:pt x="7577667" y="4466166"/>
                </a:lnTo>
                <a:cubicBezTo>
                  <a:pt x="7577667" y="4536306"/>
                  <a:pt x="7520806" y="4593167"/>
                  <a:pt x="7450666" y="4593167"/>
                </a:cubicBezTo>
                <a:lnTo>
                  <a:pt x="42333" y="4593167"/>
                </a:lnTo>
                <a:cubicBezTo>
                  <a:pt x="18953" y="4593167"/>
                  <a:pt x="0" y="4574213"/>
                  <a:pt x="0" y="4550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258307" y="4354081"/>
            <a:ext cx="42333" cy="4593167"/>
          </a:xfrm>
          <a:custGeom>
            <a:avLst/>
            <a:gdLst/>
            <a:ahLst/>
            <a:cxnLst/>
            <a:rect l="l" t="t" r="r" b="b"/>
            <a:pathLst>
              <a:path w="42333" h="4593167">
                <a:moveTo>
                  <a:pt x="42333" y="0"/>
                </a:moveTo>
                <a:lnTo>
                  <a:pt x="42333" y="0"/>
                </a:lnTo>
                <a:lnTo>
                  <a:pt x="42333" y="4593167"/>
                </a:lnTo>
                <a:lnTo>
                  <a:pt x="42333" y="4593167"/>
                </a:lnTo>
                <a:cubicBezTo>
                  <a:pt x="18953" y="4593167"/>
                  <a:pt x="0" y="4574213"/>
                  <a:pt x="0" y="4550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491141" y="4565748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HBase: Bigtable的开源实现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91141" y="4989081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HBase完全基于Bigtable架构设计,是Bigtable的开源实现: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090255"/>
              </p:ext>
            </p:extLst>
          </p:nvPr>
        </p:nvGraphicFramePr>
        <p:xfrm>
          <a:off x="8491141" y="5370081"/>
          <a:ext cx="7133166" cy="2730497"/>
        </p:xfrm>
        <a:graphic>
          <a:graphicData uri="http://schemas.openxmlformats.org/drawingml/2006/table">
            <a:tbl>
              <a:tblPr/>
              <a:tblGrid>
                <a:gridCol w="234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71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组件对应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HBase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数据服务器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Tablet Server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RegionServer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数据分片单元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Tablet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磁盘文件格式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SSTable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HFile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内存数据结构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MemTable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MemStore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预写日志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存储引擎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LSM结构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LSM结构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8491141" y="8227581"/>
            <a:ext cx="7133167" cy="508000"/>
          </a:xfrm>
          <a:custGeom>
            <a:avLst/>
            <a:gdLst/>
            <a:ahLst/>
            <a:cxnLst/>
            <a:rect l="l" t="t" r="r" b="b"/>
            <a:pathLst>
              <a:path w="7133167" h="508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423332"/>
                </a:lnTo>
                <a:cubicBezTo>
                  <a:pt x="7133167" y="470093"/>
                  <a:pt x="7095259" y="508000"/>
                  <a:pt x="7048498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10797480" y="8370456"/>
            <a:ext cx="251718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 = Open-Source Bigtable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ocs.oracle.com/6ba293a97d6540cf1efa16e1d3f0809ade1967b7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23616" b="2361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58583" y="27686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571497"/>
                </a:lnTo>
                <a:cubicBezTo>
                  <a:pt x="2743200" y="655667"/>
                  <a:pt x="2674967" y="723900"/>
                  <a:pt x="25907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93533" y="2927350"/>
            <a:ext cx="227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4780" y="3905250"/>
            <a:ext cx="485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数据模型详解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66891" y="5124450"/>
            <a:ext cx="632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四维数据模型:行键、列族、列限定符、时间戳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2667" y="423333"/>
            <a:ext cx="333375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核心概念:四维数据模型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43000"/>
            <a:ext cx="6138333" cy="3048000"/>
          </a:xfrm>
          <a:custGeom>
            <a:avLst/>
            <a:gdLst/>
            <a:ahLst/>
            <a:cxnLst/>
            <a:rect l="l" t="t" r="r" b="b"/>
            <a:pathLst>
              <a:path w="6138333" h="3048000">
                <a:moveTo>
                  <a:pt x="42333" y="0"/>
                </a:moveTo>
                <a:lnTo>
                  <a:pt x="6011323" y="0"/>
                </a:lnTo>
                <a:cubicBezTo>
                  <a:pt x="6081469" y="0"/>
                  <a:pt x="6138333" y="56864"/>
                  <a:pt x="6138333" y="127010"/>
                </a:cubicBezTo>
                <a:lnTo>
                  <a:pt x="6138333" y="2920990"/>
                </a:lnTo>
                <a:cubicBezTo>
                  <a:pt x="6138333" y="2991136"/>
                  <a:pt x="6081469" y="3048000"/>
                  <a:pt x="6011323" y="3048000"/>
                </a:cubicBezTo>
                <a:lnTo>
                  <a:pt x="42333" y="3048000"/>
                </a:lnTo>
                <a:cubicBezTo>
                  <a:pt x="18953" y="3048000"/>
                  <a:pt x="0" y="3029047"/>
                  <a:pt x="0" y="300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43000"/>
            <a:ext cx="42333" cy="3048000"/>
          </a:xfrm>
          <a:custGeom>
            <a:avLst/>
            <a:gdLst/>
            <a:ahLst/>
            <a:cxnLst/>
            <a:rect l="l" t="t" r="r" b="b"/>
            <a:pathLst>
              <a:path w="42333" h="3048000">
                <a:moveTo>
                  <a:pt x="42333" y="0"/>
                </a:moveTo>
                <a:lnTo>
                  <a:pt x="42333" y="0"/>
                </a:lnTo>
                <a:lnTo>
                  <a:pt x="42333" y="3048000"/>
                </a:lnTo>
                <a:lnTo>
                  <a:pt x="42333" y="3048000"/>
                </a:lnTo>
                <a:cubicBezTo>
                  <a:pt x="18953" y="3048000"/>
                  <a:pt x="0" y="3029047"/>
                  <a:pt x="0" y="300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77333" y="1354667"/>
            <a:ext cx="5799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多维映射模型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7333" y="1778000"/>
            <a:ext cx="577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Bigtable的数据模型可以表述为一个多维映射: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159000"/>
            <a:ext cx="5693833" cy="1693333"/>
          </a:xfrm>
          <a:custGeom>
            <a:avLst/>
            <a:gdLst/>
            <a:ahLst/>
            <a:cxnLst/>
            <a:rect l="l" t="t" r="r" b="b"/>
            <a:pathLst>
              <a:path w="5693833" h="1693333">
                <a:moveTo>
                  <a:pt x="84667" y="0"/>
                </a:moveTo>
                <a:lnTo>
                  <a:pt x="5609167" y="0"/>
                </a:lnTo>
                <a:cubicBezTo>
                  <a:pt x="5655927" y="0"/>
                  <a:pt x="5693833" y="37907"/>
                  <a:pt x="5693833" y="84667"/>
                </a:cubicBezTo>
                <a:lnTo>
                  <a:pt x="5693833" y="1608667"/>
                </a:lnTo>
                <a:cubicBezTo>
                  <a:pt x="5693833" y="1655427"/>
                  <a:pt x="5655927" y="1693333"/>
                  <a:pt x="5609167" y="1693333"/>
                </a:cubicBezTo>
                <a:lnTo>
                  <a:pt x="84667" y="1693333"/>
                </a:lnTo>
                <a:cubicBezTo>
                  <a:pt x="37907" y="1693333"/>
                  <a:pt x="0" y="1655427"/>
                  <a:pt x="0" y="160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99042" y="2328333"/>
            <a:ext cx="5450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(row, column, time) → 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6667" y="2709333"/>
            <a:ext cx="542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row: string - 行键,最大64KB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6667" y="2963333"/>
            <a:ext cx="542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column: string - 列名,格式"列族:列限定符"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3217333"/>
            <a:ext cx="542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time: int64 - 时间戳,微秒精度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3471333"/>
            <a:ext cx="542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 string - 存储的值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" y="4318000"/>
            <a:ext cx="6138333" cy="4111625"/>
          </a:xfrm>
          <a:custGeom>
            <a:avLst/>
            <a:gdLst/>
            <a:ahLst/>
            <a:cxnLst/>
            <a:rect l="l" t="t" r="r" b="b"/>
            <a:pathLst>
              <a:path w="6138333" h="6032500">
                <a:moveTo>
                  <a:pt x="42333" y="0"/>
                </a:moveTo>
                <a:lnTo>
                  <a:pt x="6011349" y="0"/>
                </a:lnTo>
                <a:cubicBezTo>
                  <a:pt x="6081481" y="0"/>
                  <a:pt x="6138333" y="56853"/>
                  <a:pt x="6138333" y="126984"/>
                </a:cubicBezTo>
                <a:lnTo>
                  <a:pt x="6138333" y="5905516"/>
                </a:lnTo>
                <a:cubicBezTo>
                  <a:pt x="6138333" y="5975647"/>
                  <a:pt x="6081481" y="6032500"/>
                  <a:pt x="6011349" y="6032500"/>
                </a:cubicBezTo>
                <a:lnTo>
                  <a:pt x="42333" y="6032500"/>
                </a:lnTo>
                <a:cubicBezTo>
                  <a:pt x="18953" y="6032500"/>
                  <a:pt x="0" y="6013547"/>
                  <a:pt x="0" y="599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4500" y="4318000"/>
            <a:ext cx="42333" cy="4104000"/>
          </a:xfrm>
          <a:custGeom>
            <a:avLst/>
            <a:gdLst/>
            <a:ahLst/>
            <a:cxnLst/>
            <a:rect l="l" t="t" r="r" b="b"/>
            <a:pathLst>
              <a:path w="42333" h="6032500">
                <a:moveTo>
                  <a:pt x="42333" y="0"/>
                </a:moveTo>
                <a:lnTo>
                  <a:pt x="42333" y="0"/>
                </a:lnTo>
                <a:lnTo>
                  <a:pt x="42333" y="6032500"/>
                </a:lnTo>
                <a:lnTo>
                  <a:pt x="42333" y="6032500"/>
                </a:lnTo>
                <a:cubicBezTo>
                  <a:pt x="18953" y="6032500"/>
                  <a:pt x="0" y="6013547"/>
                  <a:pt x="0" y="599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7333" y="4529667"/>
            <a:ext cx="5799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四维架构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333" y="4953000"/>
            <a:ext cx="5693833" cy="719667"/>
          </a:xfrm>
          <a:custGeom>
            <a:avLst/>
            <a:gdLst/>
            <a:ahLst/>
            <a:cxnLst/>
            <a:rect l="l" t="t" r="r" b="b"/>
            <a:pathLst>
              <a:path w="5693833" h="719667">
                <a:moveTo>
                  <a:pt x="84669" y="0"/>
                </a:moveTo>
                <a:lnTo>
                  <a:pt x="5609165" y="0"/>
                </a:lnTo>
                <a:cubicBezTo>
                  <a:pt x="5655926" y="0"/>
                  <a:pt x="5693833" y="37908"/>
                  <a:pt x="5693833" y="84669"/>
                </a:cubicBezTo>
                <a:lnTo>
                  <a:pt x="5693833" y="634998"/>
                </a:lnTo>
                <a:cubicBezTo>
                  <a:pt x="5693833" y="681728"/>
                  <a:pt x="5655895" y="719667"/>
                  <a:pt x="5609165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4333" y="51011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78545" y="5164667"/>
            <a:ext cx="169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54667" y="5080000"/>
            <a:ext cx="141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行键 (Row Key)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4667" y="5334000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数据分区与查询维度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333" y="5757333"/>
            <a:ext cx="5693833" cy="719667"/>
          </a:xfrm>
          <a:custGeom>
            <a:avLst/>
            <a:gdLst/>
            <a:ahLst/>
            <a:cxnLst/>
            <a:rect l="l" t="t" r="r" b="b"/>
            <a:pathLst>
              <a:path w="5693833" h="719667">
                <a:moveTo>
                  <a:pt x="84669" y="0"/>
                </a:moveTo>
                <a:lnTo>
                  <a:pt x="5609165" y="0"/>
                </a:lnTo>
                <a:cubicBezTo>
                  <a:pt x="5655926" y="0"/>
                  <a:pt x="5693833" y="37908"/>
                  <a:pt x="5693833" y="84669"/>
                </a:cubicBezTo>
                <a:lnTo>
                  <a:pt x="5693833" y="634998"/>
                </a:lnTo>
                <a:cubicBezTo>
                  <a:pt x="5693833" y="681728"/>
                  <a:pt x="5655895" y="719667"/>
                  <a:pt x="5609165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4333" y="59055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2422" y="5969000"/>
            <a:ext cx="20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4667" y="5884333"/>
            <a:ext cx="1725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 (Column Family)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54667" y="6138333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逻辑分组与存储配置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7333" y="6561667"/>
            <a:ext cx="5693833" cy="719667"/>
          </a:xfrm>
          <a:custGeom>
            <a:avLst/>
            <a:gdLst/>
            <a:ahLst/>
            <a:cxnLst/>
            <a:rect l="l" t="t" r="r" b="b"/>
            <a:pathLst>
              <a:path w="5693833" h="719667">
                <a:moveTo>
                  <a:pt x="84669" y="0"/>
                </a:moveTo>
                <a:lnTo>
                  <a:pt x="5609165" y="0"/>
                </a:lnTo>
                <a:cubicBezTo>
                  <a:pt x="5655926" y="0"/>
                  <a:pt x="5693833" y="37908"/>
                  <a:pt x="5693833" y="84669"/>
                </a:cubicBezTo>
                <a:lnTo>
                  <a:pt x="5693833" y="634998"/>
                </a:lnTo>
                <a:cubicBezTo>
                  <a:pt x="5693833" y="681728"/>
                  <a:pt x="5655895" y="719667"/>
                  <a:pt x="5609165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04333" y="67098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59941" y="6773333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54667" y="6688667"/>
            <a:ext cx="1576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列限定符 (Qualifier)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54667" y="6942667"/>
            <a:ext cx="1566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动态列与稀疏存储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7333" y="7366000"/>
            <a:ext cx="5693833" cy="719667"/>
          </a:xfrm>
          <a:custGeom>
            <a:avLst/>
            <a:gdLst/>
            <a:ahLst/>
            <a:cxnLst/>
            <a:rect l="l" t="t" r="r" b="b"/>
            <a:pathLst>
              <a:path w="5693833" h="719667">
                <a:moveTo>
                  <a:pt x="84669" y="0"/>
                </a:moveTo>
                <a:lnTo>
                  <a:pt x="5609165" y="0"/>
                </a:lnTo>
                <a:cubicBezTo>
                  <a:pt x="5655926" y="0"/>
                  <a:pt x="5693833" y="37908"/>
                  <a:pt x="5693833" y="84669"/>
                </a:cubicBezTo>
                <a:lnTo>
                  <a:pt x="5693833" y="634998"/>
                </a:lnTo>
                <a:cubicBezTo>
                  <a:pt x="5693833" y="681728"/>
                  <a:pt x="5655895" y="719667"/>
                  <a:pt x="5609165" y="719667"/>
                </a:cubicBezTo>
                <a:lnTo>
                  <a:pt x="84669" y="719667"/>
                </a:lnTo>
                <a:cubicBezTo>
                  <a:pt x="37908" y="719667"/>
                  <a:pt x="0" y="681759"/>
                  <a:pt x="0" y="634998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4333" y="75141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60107" y="7577667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54667" y="7493000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 (Timestamp)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54667" y="7747000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多版本与审计追踪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98717" y="1143000"/>
            <a:ext cx="9038167" cy="7824537"/>
          </a:xfrm>
          <a:custGeom>
            <a:avLst/>
            <a:gdLst/>
            <a:ahLst/>
            <a:cxnLst/>
            <a:rect l="l" t="t" r="r" b="b"/>
            <a:pathLst>
              <a:path w="9038167" h="9207500">
                <a:moveTo>
                  <a:pt x="126986" y="0"/>
                </a:moveTo>
                <a:lnTo>
                  <a:pt x="8911180" y="0"/>
                </a:lnTo>
                <a:cubicBezTo>
                  <a:pt x="8981313" y="0"/>
                  <a:pt x="9038167" y="56854"/>
                  <a:pt x="9038167" y="126986"/>
                </a:cubicBezTo>
                <a:lnTo>
                  <a:pt x="9038167" y="9080514"/>
                </a:lnTo>
                <a:cubicBezTo>
                  <a:pt x="9038167" y="9150646"/>
                  <a:pt x="8981313" y="9207500"/>
                  <a:pt x="8911180" y="9207500"/>
                </a:cubicBezTo>
                <a:lnTo>
                  <a:pt x="126986" y="9207500"/>
                </a:lnTo>
                <a:cubicBezTo>
                  <a:pt x="56854" y="9207500"/>
                  <a:pt x="0" y="9150646"/>
                  <a:pt x="0" y="9080514"/>
                </a:cubicBezTo>
                <a:lnTo>
                  <a:pt x="0" y="126986"/>
                </a:lnTo>
                <a:cubicBezTo>
                  <a:pt x="0" y="56901"/>
                  <a:pt x="56901" y="0"/>
                  <a:pt x="12698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10383" y="1354667"/>
            <a:ext cx="8720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实际应用示例:网页数据存储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0383" y="1778000"/>
            <a:ext cx="869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以下是如何使用Bigtable数据模型存储网页数据: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10383" y="2159000"/>
            <a:ext cx="8614833" cy="1439333"/>
          </a:xfrm>
          <a:custGeom>
            <a:avLst/>
            <a:gdLst/>
            <a:ahLst/>
            <a:cxnLst/>
            <a:rect l="l" t="t" r="r" b="b"/>
            <a:pathLst>
              <a:path w="8614833" h="1439333">
                <a:moveTo>
                  <a:pt x="84662" y="0"/>
                </a:moveTo>
                <a:lnTo>
                  <a:pt x="8530172" y="0"/>
                </a:lnTo>
                <a:cubicBezTo>
                  <a:pt x="8576929" y="0"/>
                  <a:pt x="8614833" y="37904"/>
                  <a:pt x="8614833" y="84662"/>
                </a:cubicBezTo>
                <a:lnTo>
                  <a:pt x="8614833" y="1354672"/>
                </a:lnTo>
                <a:cubicBezTo>
                  <a:pt x="8614833" y="1401429"/>
                  <a:pt x="8576929" y="1439333"/>
                  <a:pt x="8530172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79717" y="2328333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0" y="21167"/>
                </a:moveTo>
                <a:cubicBezTo>
                  <a:pt x="0" y="9492"/>
                  <a:pt x="9492" y="0"/>
                  <a:pt x="21167" y="0"/>
                </a:cubicBezTo>
                <a:lnTo>
                  <a:pt x="70611" y="0"/>
                </a:lnTo>
                <a:cubicBezTo>
                  <a:pt x="76233" y="0"/>
                  <a:pt x="81624" y="2216"/>
                  <a:pt x="85593" y="6185"/>
                </a:cubicBezTo>
                <a:lnTo>
                  <a:pt x="120815" y="41440"/>
                </a:lnTo>
                <a:cubicBezTo>
                  <a:pt x="124784" y="45409"/>
                  <a:pt x="127000" y="50800"/>
                  <a:pt x="127000" y="56422"/>
                </a:cubicBezTo>
                <a:lnTo>
                  <a:pt x="127000" y="148167"/>
                </a:lnTo>
                <a:cubicBezTo>
                  <a:pt x="127000" y="159841"/>
                  <a:pt x="117508" y="169333"/>
                  <a:pt x="105833" y="169333"/>
                </a:cubicBezTo>
                <a:lnTo>
                  <a:pt x="21167" y="169333"/>
                </a:lnTo>
                <a:cubicBezTo>
                  <a:pt x="9492" y="169333"/>
                  <a:pt x="0" y="159841"/>
                  <a:pt x="0" y="148167"/>
                </a:cubicBezTo>
                <a:lnTo>
                  <a:pt x="0" y="21167"/>
                </a:lnTo>
                <a:close/>
                <a:moveTo>
                  <a:pt x="68792" y="19348"/>
                </a:moveTo>
                <a:lnTo>
                  <a:pt x="68792" y="50271"/>
                </a:lnTo>
                <a:cubicBezTo>
                  <a:pt x="68792" y="54670"/>
                  <a:pt x="72330" y="58208"/>
                  <a:pt x="76729" y="58208"/>
                </a:cubicBezTo>
                <a:lnTo>
                  <a:pt x="107652" y="58208"/>
                </a:lnTo>
                <a:lnTo>
                  <a:pt x="68792" y="19348"/>
                </a:lnTo>
                <a:close/>
                <a:moveTo>
                  <a:pt x="50998" y="97764"/>
                </a:moveTo>
                <a:cubicBezTo>
                  <a:pt x="53843" y="94423"/>
                  <a:pt x="53479" y="89429"/>
                  <a:pt x="50139" y="86585"/>
                </a:cubicBezTo>
                <a:cubicBezTo>
                  <a:pt x="46798" y="83741"/>
                  <a:pt x="41804" y="84104"/>
                  <a:pt x="38960" y="87445"/>
                </a:cubicBezTo>
                <a:lnTo>
                  <a:pt x="23085" y="105966"/>
                </a:lnTo>
                <a:cubicBezTo>
                  <a:pt x="20538" y="108942"/>
                  <a:pt x="20538" y="113308"/>
                  <a:pt x="23085" y="116284"/>
                </a:cubicBezTo>
                <a:lnTo>
                  <a:pt x="38960" y="134805"/>
                </a:lnTo>
                <a:cubicBezTo>
                  <a:pt x="41804" y="138146"/>
                  <a:pt x="46831" y="138509"/>
                  <a:pt x="50139" y="135665"/>
                </a:cubicBezTo>
                <a:cubicBezTo>
                  <a:pt x="53446" y="132821"/>
                  <a:pt x="53843" y="127794"/>
                  <a:pt x="50998" y="124486"/>
                </a:cubicBezTo>
                <a:lnTo>
                  <a:pt x="39555" y="111125"/>
                </a:lnTo>
                <a:lnTo>
                  <a:pt x="50998" y="97764"/>
                </a:lnTo>
                <a:close/>
                <a:moveTo>
                  <a:pt x="88040" y="87445"/>
                </a:moveTo>
                <a:cubicBezTo>
                  <a:pt x="85196" y="84104"/>
                  <a:pt x="80169" y="83741"/>
                  <a:pt x="76861" y="86585"/>
                </a:cubicBezTo>
                <a:cubicBezTo>
                  <a:pt x="73554" y="89429"/>
                  <a:pt x="73157" y="94456"/>
                  <a:pt x="76002" y="97764"/>
                </a:cubicBezTo>
                <a:lnTo>
                  <a:pt x="87445" y="111125"/>
                </a:lnTo>
                <a:lnTo>
                  <a:pt x="76002" y="124486"/>
                </a:lnTo>
                <a:cubicBezTo>
                  <a:pt x="73157" y="127827"/>
                  <a:pt x="73521" y="132821"/>
                  <a:pt x="76861" y="135665"/>
                </a:cubicBezTo>
                <a:cubicBezTo>
                  <a:pt x="80202" y="138509"/>
                  <a:pt x="85196" y="138146"/>
                  <a:pt x="88040" y="134805"/>
                </a:cubicBezTo>
                <a:lnTo>
                  <a:pt x="103915" y="116284"/>
                </a:lnTo>
                <a:cubicBezTo>
                  <a:pt x="106462" y="113308"/>
                  <a:pt x="106462" y="108942"/>
                  <a:pt x="103915" y="105966"/>
                </a:cubicBezTo>
                <a:lnTo>
                  <a:pt x="88040" y="87445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349050" y="2286000"/>
            <a:ext cx="823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存储网页内容(多版本)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37383" y="2624667"/>
            <a:ext cx="8360833" cy="592667"/>
          </a:xfrm>
          <a:custGeom>
            <a:avLst/>
            <a:gdLst/>
            <a:ahLst/>
            <a:cxnLst/>
            <a:rect l="l" t="t" r="r" b="b"/>
            <a:pathLst>
              <a:path w="8360833" h="592667">
                <a:moveTo>
                  <a:pt x="84668" y="0"/>
                </a:moveTo>
                <a:lnTo>
                  <a:pt x="8276165" y="0"/>
                </a:lnTo>
                <a:cubicBezTo>
                  <a:pt x="8322926" y="0"/>
                  <a:pt x="8360833" y="37907"/>
                  <a:pt x="8360833" y="84668"/>
                </a:cubicBezTo>
                <a:lnTo>
                  <a:pt x="8360833" y="507998"/>
                </a:lnTo>
                <a:cubicBezTo>
                  <a:pt x="8360833" y="554759"/>
                  <a:pt x="8322926" y="592667"/>
                  <a:pt x="82761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222050" y="2709333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"content:html", 1337572800000000) → "..."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2050" y="2921000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"content:html", 1337571000000000) → ""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37383" y="3259667"/>
            <a:ext cx="843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同一网页存储不同时间戳的HTML内容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010383" y="3683000"/>
            <a:ext cx="8614833" cy="1439333"/>
          </a:xfrm>
          <a:custGeom>
            <a:avLst/>
            <a:gdLst/>
            <a:ahLst/>
            <a:cxnLst/>
            <a:rect l="l" t="t" r="r" b="b"/>
            <a:pathLst>
              <a:path w="8614833" h="1439333">
                <a:moveTo>
                  <a:pt x="84662" y="0"/>
                </a:moveTo>
                <a:lnTo>
                  <a:pt x="8530172" y="0"/>
                </a:lnTo>
                <a:cubicBezTo>
                  <a:pt x="8576929" y="0"/>
                  <a:pt x="8614833" y="37904"/>
                  <a:pt x="8614833" y="84662"/>
                </a:cubicBezTo>
                <a:lnTo>
                  <a:pt x="8614833" y="1354672"/>
                </a:lnTo>
                <a:cubicBezTo>
                  <a:pt x="8614833" y="1401429"/>
                  <a:pt x="8576929" y="1439333"/>
                  <a:pt x="8530172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147967" y="385233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38741" y="31750"/>
                </a:moveTo>
                <a:cubicBezTo>
                  <a:pt x="133251" y="31750"/>
                  <a:pt x="127926" y="33238"/>
                  <a:pt x="123263" y="35950"/>
                </a:cubicBezTo>
                <a:cubicBezTo>
                  <a:pt x="118037" y="30659"/>
                  <a:pt x="111952" y="26227"/>
                  <a:pt x="105238" y="22886"/>
                </a:cubicBezTo>
                <a:cubicBezTo>
                  <a:pt x="114565" y="14949"/>
                  <a:pt x="126438" y="10583"/>
                  <a:pt x="138741" y="10583"/>
                </a:cubicBezTo>
                <a:cubicBezTo>
                  <a:pt x="167316" y="10583"/>
                  <a:pt x="190500" y="33734"/>
                  <a:pt x="190500" y="62342"/>
                </a:cubicBezTo>
                <a:cubicBezTo>
                  <a:pt x="190500" y="76068"/>
                  <a:pt x="185043" y="89231"/>
                  <a:pt x="175353" y="98921"/>
                </a:cubicBezTo>
                <a:lnTo>
                  <a:pt x="151838" y="122436"/>
                </a:lnTo>
                <a:cubicBezTo>
                  <a:pt x="142147" y="132126"/>
                  <a:pt x="128984" y="137583"/>
                  <a:pt x="115259" y="137583"/>
                </a:cubicBezTo>
                <a:cubicBezTo>
                  <a:pt x="86684" y="137583"/>
                  <a:pt x="63500" y="114432"/>
                  <a:pt x="63500" y="85824"/>
                </a:cubicBezTo>
                <a:cubicBezTo>
                  <a:pt x="63500" y="85328"/>
                  <a:pt x="63500" y="84832"/>
                  <a:pt x="63533" y="84336"/>
                </a:cubicBezTo>
                <a:cubicBezTo>
                  <a:pt x="63698" y="78482"/>
                  <a:pt x="68560" y="73885"/>
                  <a:pt x="74414" y="74050"/>
                </a:cubicBezTo>
                <a:cubicBezTo>
                  <a:pt x="80268" y="74216"/>
                  <a:pt x="84865" y="79077"/>
                  <a:pt x="84700" y="84931"/>
                </a:cubicBezTo>
                <a:cubicBezTo>
                  <a:pt x="84700" y="85229"/>
                  <a:pt x="84700" y="85527"/>
                  <a:pt x="84700" y="85791"/>
                </a:cubicBezTo>
                <a:cubicBezTo>
                  <a:pt x="84700" y="102691"/>
                  <a:pt x="98392" y="116384"/>
                  <a:pt x="115292" y="116384"/>
                </a:cubicBezTo>
                <a:cubicBezTo>
                  <a:pt x="123395" y="116384"/>
                  <a:pt x="131167" y="113176"/>
                  <a:pt x="136922" y="107421"/>
                </a:cubicBezTo>
                <a:lnTo>
                  <a:pt x="160437" y="83906"/>
                </a:lnTo>
                <a:cubicBezTo>
                  <a:pt x="166158" y="78184"/>
                  <a:pt x="169399" y="70379"/>
                  <a:pt x="169399" y="62276"/>
                </a:cubicBezTo>
                <a:cubicBezTo>
                  <a:pt x="169399" y="45376"/>
                  <a:pt x="155707" y="31684"/>
                  <a:pt x="138807" y="31684"/>
                </a:cubicBezTo>
                <a:close/>
                <a:moveTo>
                  <a:pt x="91017" y="57315"/>
                </a:moveTo>
                <a:cubicBezTo>
                  <a:pt x="90388" y="57051"/>
                  <a:pt x="89760" y="56687"/>
                  <a:pt x="89198" y="56290"/>
                </a:cubicBezTo>
                <a:cubicBezTo>
                  <a:pt x="85030" y="54140"/>
                  <a:pt x="80268" y="52917"/>
                  <a:pt x="75274" y="52917"/>
                </a:cubicBezTo>
                <a:cubicBezTo>
                  <a:pt x="67171" y="52917"/>
                  <a:pt x="59399" y="56125"/>
                  <a:pt x="53644" y="61879"/>
                </a:cubicBezTo>
                <a:lnTo>
                  <a:pt x="30129" y="85394"/>
                </a:lnTo>
                <a:cubicBezTo>
                  <a:pt x="24408" y="91116"/>
                  <a:pt x="21167" y="98921"/>
                  <a:pt x="21167" y="107024"/>
                </a:cubicBezTo>
                <a:cubicBezTo>
                  <a:pt x="21167" y="123924"/>
                  <a:pt x="34859" y="137616"/>
                  <a:pt x="51759" y="137616"/>
                </a:cubicBezTo>
                <a:cubicBezTo>
                  <a:pt x="57216" y="137616"/>
                  <a:pt x="62541" y="136161"/>
                  <a:pt x="67204" y="133449"/>
                </a:cubicBezTo>
                <a:cubicBezTo>
                  <a:pt x="72430" y="138741"/>
                  <a:pt x="78515" y="143173"/>
                  <a:pt x="85262" y="146513"/>
                </a:cubicBezTo>
                <a:cubicBezTo>
                  <a:pt x="75935" y="154417"/>
                  <a:pt x="64095" y="158816"/>
                  <a:pt x="51759" y="158816"/>
                </a:cubicBezTo>
                <a:cubicBezTo>
                  <a:pt x="23184" y="158816"/>
                  <a:pt x="0" y="135665"/>
                  <a:pt x="0" y="107057"/>
                </a:cubicBezTo>
                <a:cubicBezTo>
                  <a:pt x="0" y="93332"/>
                  <a:pt x="5457" y="80169"/>
                  <a:pt x="15147" y="70478"/>
                </a:cubicBezTo>
                <a:lnTo>
                  <a:pt x="38662" y="46964"/>
                </a:lnTo>
                <a:cubicBezTo>
                  <a:pt x="48353" y="37273"/>
                  <a:pt x="61516" y="31816"/>
                  <a:pt x="75241" y="31816"/>
                </a:cubicBezTo>
                <a:cubicBezTo>
                  <a:pt x="103882" y="31816"/>
                  <a:pt x="127000" y="55166"/>
                  <a:pt x="127000" y="83708"/>
                </a:cubicBezTo>
                <a:cubicBezTo>
                  <a:pt x="127000" y="84138"/>
                  <a:pt x="127000" y="84567"/>
                  <a:pt x="127000" y="84997"/>
                </a:cubicBezTo>
                <a:cubicBezTo>
                  <a:pt x="126868" y="90851"/>
                  <a:pt x="122006" y="95448"/>
                  <a:pt x="116152" y="95316"/>
                </a:cubicBezTo>
                <a:cubicBezTo>
                  <a:pt x="110298" y="95184"/>
                  <a:pt x="105701" y="90322"/>
                  <a:pt x="105833" y="84468"/>
                </a:cubicBezTo>
                <a:cubicBezTo>
                  <a:pt x="105833" y="84204"/>
                  <a:pt x="105833" y="83972"/>
                  <a:pt x="105833" y="83708"/>
                </a:cubicBezTo>
                <a:cubicBezTo>
                  <a:pt x="105833" y="72562"/>
                  <a:pt x="99880" y="62772"/>
                  <a:pt x="91017" y="5738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349050" y="3810000"/>
            <a:ext cx="823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存储锚文本信息(稀疏列)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137383" y="4148667"/>
            <a:ext cx="8360833" cy="592667"/>
          </a:xfrm>
          <a:custGeom>
            <a:avLst/>
            <a:gdLst/>
            <a:ahLst/>
            <a:cxnLst/>
            <a:rect l="l" t="t" r="r" b="b"/>
            <a:pathLst>
              <a:path w="8360833" h="592667">
                <a:moveTo>
                  <a:pt x="84668" y="0"/>
                </a:moveTo>
                <a:lnTo>
                  <a:pt x="8276165" y="0"/>
                </a:lnTo>
                <a:cubicBezTo>
                  <a:pt x="8322926" y="0"/>
                  <a:pt x="8360833" y="37907"/>
                  <a:pt x="8360833" y="84668"/>
                </a:cubicBezTo>
                <a:lnTo>
                  <a:pt x="8360833" y="507998"/>
                </a:lnTo>
                <a:cubicBezTo>
                  <a:pt x="8360833" y="554759"/>
                  <a:pt x="8322926" y="592667"/>
                  <a:pt x="82761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222050" y="4233333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"anchor:cnnsi.com", 1337572800000000) → "Google"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22050" y="4445000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"anchor:nytimes.com", 1337572800000000) → "Google Search"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37383" y="4783667"/>
            <a:ext cx="843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只有部分网页有锚文本信息,体现稀疏性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010383" y="5207000"/>
            <a:ext cx="8614833" cy="1439333"/>
          </a:xfrm>
          <a:custGeom>
            <a:avLst/>
            <a:gdLst/>
            <a:ahLst/>
            <a:cxnLst/>
            <a:rect l="l" t="t" r="r" b="b"/>
            <a:pathLst>
              <a:path w="8614833" h="1439333">
                <a:moveTo>
                  <a:pt x="84662" y="0"/>
                </a:moveTo>
                <a:lnTo>
                  <a:pt x="8530172" y="0"/>
                </a:lnTo>
                <a:cubicBezTo>
                  <a:pt x="8576929" y="0"/>
                  <a:pt x="8614833" y="37904"/>
                  <a:pt x="8614833" y="84662"/>
                </a:cubicBezTo>
                <a:lnTo>
                  <a:pt x="8614833" y="1354672"/>
                </a:lnTo>
                <a:cubicBezTo>
                  <a:pt x="8614833" y="1401429"/>
                  <a:pt x="8576929" y="1439333"/>
                  <a:pt x="8530172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158550" y="5376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0749" y="31750"/>
                </a:moveTo>
                <a:lnTo>
                  <a:pt x="10749" y="81194"/>
                </a:lnTo>
                <a:cubicBezTo>
                  <a:pt x="10749" y="86816"/>
                  <a:pt x="12965" y="92207"/>
                  <a:pt x="16933" y="96176"/>
                </a:cubicBezTo>
                <a:lnTo>
                  <a:pt x="80433" y="159676"/>
                </a:lnTo>
                <a:cubicBezTo>
                  <a:pt x="88702" y="167944"/>
                  <a:pt x="102096" y="167944"/>
                  <a:pt x="110364" y="159676"/>
                </a:cubicBezTo>
                <a:lnTo>
                  <a:pt x="159808" y="110232"/>
                </a:lnTo>
                <a:cubicBezTo>
                  <a:pt x="168077" y="101964"/>
                  <a:pt x="168077" y="88569"/>
                  <a:pt x="159808" y="80301"/>
                </a:cubicBezTo>
                <a:lnTo>
                  <a:pt x="96308" y="16801"/>
                </a:lnTo>
                <a:cubicBezTo>
                  <a:pt x="92340" y="12799"/>
                  <a:pt x="86982" y="10583"/>
                  <a:pt x="81359" y="10583"/>
                </a:cubicBezTo>
                <a:lnTo>
                  <a:pt x="31915" y="10583"/>
                </a:lnTo>
                <a:cubicBezTo>
                  <a:pt x="20241" y="10583"/>
                  <a:pt x="10749" y="20075"/>
                  <a:pt x="10749" y="31750"/>
                </a:cubicBezTo>
                <a:close/>
                <a:moveTo>
                  <a:pt x="47790" y="37042"/>
                </a:moveTo>
                <a:cubicBezTo>
                  <a:pt x="53631" y="37042"/>
                  <a:pt x="58374" y="41784"/>
                  <a:pt x="58374" y="47625"/>
                </a:cubicBezTo>
                <a:cubicBezTo>
                  <a:pt x="58374" y="53466"/>
                  <a:pt x="53631" y="58208"/>
                  <a:pt x="47790" y="58208"/>
                </a:cubicBezTo>
                <a:cubicBezTo>
                  <a:pt x="41949" y="58208"/>
                  <a:pt x="37207" y="53466"/>
                  <a:pt x="37207" y="47625"/>
                </a:cubicBezTo>
                <a:cubicBezTo>
                  <a:pt x="37207" y="41784"/>
                  <a:pt x="41949" y="37042"/>
                  <a:pt x="47790" y="3704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7349050" y="5334000"/>
            <a:ext cx="823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存储元数据(动态列)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137383" y="5672667"/>
            <a:ext cx="8360833" cy="592667"/>
          </a:xfrm>
          <a:custGeom>
            <a:avLst/>
            <a:gdLst/>
            <a:ahLst/>
            <a:cxnLst/>
            <a:rect l="l" t="t" r="r" b="b"/>
            <a:pathLst>
              <a:path w="8360833" h="592667">
                <a:moveTo>
                  <a:pt x="84668" y="0"/>
                </a:moveTo>
                <a:lnTo>
                  <a:pt x="8276165" y="0"/>
                </a:lnTo>
                <a:cubicBezTo>
                  <a:pt x="8322926" y="0"/>
                  <a:pt x="8360833" y="37907"/>
                  <a:pt x="8360833" y="84668"/>
                </a:cubicBezTo>
                <a:lnTo>
                  <a:pt x="8360833" y="507998"/>
                </a:lnTo>
                <a:cubicBezTo>
                  <a:pt x="8360833" y="554759"/>
                  <a:pt x="8322926" y="592667"/>
                  <a:pt x="82761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7222050" y="5757333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"metadata:language", 1337572800000000) → "en"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22050" y="5969000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"metadata:charset", 1337572800000000) → "UTF-8"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37383" y="6307667"/>
            <a:ext cx="843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可随时添加新列,无需修改表结构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010383" y="6731000"/>
            <a:ext cx="8614833" cy="1439333"/>
          </a:xfrm>
          <a:custGeom>
            <a:avLst/>
            <a:gdLst/>
            <a:ahLst/>
            <a:cxnLst/>
            <a:rect l="l" t="t" r="r" b="b"/>
            <a:pathLst>
              <a:path w="8614833" h="1439333">
                <a:moveTo>
                  <a:pt x="84662" y="0"/>
                </a:moveTo>
                <a:lnTo>
                  <a:pt x="8530172" y="0"/>
                </a:lnTo>
                <a:cubicBezTo>
                  <a:pt x="8576929" y="0"/>
                  <a:pt x="8614833" y="37904"/>
                  <a:pt x="8614833" y="84662"/>
                </a:cubicBezTo>
                <a:lnTo>
                  <a:pt x="8614833" y="1354672"/>
                </a:lnTo>
                <a:cubicBezTo>
                  <a:pt x="8614833" y="1401429"/>
                  <a:pt x="8576929" y="1439333"/>
                  <a:pt x="8530172" y="1439333"/>
                </a:cubicBezTo>
                <a:lnTo>
                  <a:pt x="84662" y="1439333"/>
                </a:lnTo>
                <a:cubicBezTo>
                  <a:pt x="37904" y="1439333"/>
                  <a:pt x="0" y="1401429"/>
                  <a:pt x="0" y="1354672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7158550" y="6900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0583" y="10583"/>
                </a:moveTo>
                <a:cubicBezTo>
                  <a:pt x="16437" y="10583"/>
                  <a:pt x="21167" y="15313"/>
                  <a:pt x="21167" y="21167"/>
                </a:cubicBezTo>
                <a:lnTo>
                  <a:pt x="21167" y="132292"/>
                </a:lnTo>
                <a:cubicBezTo>
                  <a:pt x="21167" y="135202"/>
                  <a:pt x="23548" y="137583"/>
                  <a:pt x="26458" y="137583"/>
                </a:cubicBezTo>
                <a:lnTo>
                  <a:pt x="158750" y="137583"/>
                </a:lnTo>
                <a:cubicBezTo>
                  <a:pt x="164604" y="137583"/>
                  <a:pt x="169333" y="142313"/>
                  <a:pt x="169333" y="148167"/>
                </a:cubicBezTo>
                <a:cubicBezTo>
                  <a:pt x="169333" y="154021"/>
                  <a:pt x="164604" y="158750"/>
                  <a:pt x="158750" y="158750"/>
                </a:cubicBezTo>
                <a:lnTo>
                  <a:pt x="26458" y="158750"/>
                </a:lnTo>
                <a:cubicBezTo>
                  <a:pt x="11840" y="158750"/>
                  <a:pt x="0" y="146910"/>
                  <a:pt x="0" y="132292"/>
                </a:cubicBezTo>
                <a:lnTo>
                  <a:pt x="0" y="21167"/>
                </a:lnTo>
                <a:cubicBezTo>
                  <a:pt x="0" y="15313"/>
                  <a:pt x="4729" y="10583"/>
                  <a:pt x="10583" y="10583"/>
                </a:cubicBezTo>
                <a:close/>
                <a:moveTo>
                  <a:pt x="42333" y="31750"/>
                </a:moveTo>
                <a:cubicBezTo>
                  <a:pt x="42333" y="25896"/>
                  <a:pt x="47063" y="21167"/>
                  <a:pt x="52917" y="21167"/>
                </a:cubicBezTo>
                <a:lnTo>
                  <a:pt x="116417" y="21167"/>
                </a:lnTo>
                <a:cubicBezTo>
                  <a:pt x="122271" y="21167"/>
                  <a:pt x="127000" y="25896"/>
                  <a:pt x="127000" y="31750"/>
                </a:cubicBezTo>
                <a:cubicBezTo>
                  <a:pt x="127000" y="37604"/>
                  <a:pt x="122271" y="42333"/>
                  <a:pt x="116417" y="42333"/>
                </a:cubicBezTo>
                <a:lnTo>
                  <a:pt x="52917" y="42333"/>
                </a:lnTo>
                <a:cubicBezTo>
                  <a:pt x="47063" y="42333"/>
                  <a:pt x="42333" y="37604"/>
                  <a:pt x="42333" y="31750"/>
                </a:cubicBezTo>
                <a:close/>
                <a:moveTo>
                  <a:pt x="52917" y="58208"/>
                </a:moveTo>
                <a:lnTo>
                  <a:pt x="95250" y="58208"/>
                </a:lnTo>
                <a:cubicBezTo>
                  <a:pt x="101104" y="58208"/>
                  <a:pt x="105833" y="62938"/>
                  <a:pt x="105833" y="68792"/>
                </a:cubicBezTo>
                <a:cubicBezTo>
                  <a:pt x="105833" y="74646"/>
                  <a:pt x="101104" y="79375"/>
                  <a:pt x="95250" y="79375"/>
                </a:cubicBezTo>
                <a:lnTo>
                  <a:pt x="52917" y="79375"/>
                </a:lnTo>
                <a:cubicBezTo>
                  <a:pt x="47063" y="79375"/>
                  <a:pt x="42333" y="74646"/>
                  <a:pt x="42333" y="68792"/>
                </a:cubicBezTo>
                <a:cubicBezTo>
                  <a:pt x="42333" y="62938"/>
                  <a:pt x="47063" y="58208"/>
                  <a:pt x="52917" y="58208"/>
                </a:cubicBezTo>
                <a:close/>
                <a:moveTo>
                  <a:pt x="52917" y="95250"/>
                </a:moveTo>
                <a:lnTo>
                  <a:pt x="137583" y="95250"/>
                </a:lnTo>
                <a:cubicBezTo>
                  <a:pt x="143437" y="95250"/>
                  <a:pt x="148167" y="99979"/>
                  <a:pt x="148167" y="105833"/>
                </a:cubicBezTo>
                <a:cubicBezTo>
                  <a:pt x="148167" y="111687"/>
                  <a:pt x="143437" y="116417"/>
                  <a:pt x="137583" y="116417"/>
                </a:cubicBezTo>
                <a:lnTo>
                  <a:pt x="52917" y="116417"/>
                </a:lnTo>
                <a:cubicBezTo>
                  <a:pt x="47063" y="116417"/>
                  <a:pt x="42333" y="111687"/>
                  <a:pt x="42333" y="105833"/>
                </a:cubicBezTo>
                <a:cubicBezTo>
                  <a:pt x="42333" y="99979"/>
                  <a:pt x="47063" y="95250"/>
                  <a:pt x="52917" y="952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7349050" y="6858000"/>
            <a:ext cx="823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存储访问统计(时序数据)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137383" y="7196667"/>
            <a:ext cx="8360833" cy="592667"/>
          </a:xfrm>
          <a:custGeom>
            <a:avLst/>
            <a:gdLst/>
            <a:ahLst/>
            <a:cxnLst/>
            <a:rect l="l" t="t" r="r" b="b"/>
            <a:pathLst>
              <a:path w="8360833" h="592667">
                <a:moveTo>
                  <a:pt x="84668" y="0"/>
                </a:moveTo>
                <a:lnTo>
                  <a:pt x="8276165" y="0"/>
                </a:lnTo>
                <a:cubicBezTo>
                  <a:pt x="8322926" y="0"/>
                  <a:pt x="8360833" y="37907"/>
                  <a:pt x="8360833" y="84668"/>
                </a:cubicBezTo>
                <a:lnTo>
                  <a:pt x="8360833" y="507998"/>
                </a:lnTo>
                <a:cubicBezTo>
                  <a:pt x="8360833" y="554759"/>
                  <a:pt x="8322926" y="592667"/>
                  <a:pt x="8276165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222050" y="7281333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"stats:pageviews", 1337572800000000) → "1542890"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222050" y="7493000"/>
            <a:ext cx="826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"stats:visitors", 1337572800000000) → "892345"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37383" y="7831667"/>
            <a:ext cx="843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记录时序数据,支持趋势分析和异常检测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031550" y="8255000"/>
            <a:ext cx="8593667" cy="508000"/>
          </a:xfrm>
          <a:custGeom>
            <a:avLst/>
            <a:gdLst/>
            <a:ahLst/>
            <a:cxnLst/>
            <a:rect l="l" t="t" r="r" b="b"/>
            <a:pathLst>
              <a:path w="8593667" h="508000">
                <a:moveTo>
                  <a:pt x="42333" y="0"/>
                </a:moveTo>
                <a:lnTo>
                  <a:pt x="8508998" y="0"/>
                </a:lnTo>
                <a:cubicBezTo>
                  <a:pt x="8555759" y="0"/>
                  <a:pt x="8593667" y="37907"/>
                  <a:pt x="8593667" y="84668"/>
                </a:cubicBezTo>
                <a:lnTo>
                  <a:pt x="8593667" y="423332"/>
                </a:lnTo>
                <a:cubicBezTo>
                  <a:pt x="8593667" y="470093"/>
                  <a:pt x="8555759" y="508000"/>
                  <a:pt x="8508998" y="508000"/>
                </a:cubicBez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7031550" y="8255000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7222050" y="8429625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7461939" y="8382000"/>
            <a:ext cx="81209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关键特性:</a:t>
            </a:r>
            <a:r>
              <a:rPr lang="en-US" sz="1333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多版本控制、稀疏列、动态列、列族组织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0338" y="473371"/>
            <a:ext cx="43034" cy="344270"/>
          </a:xfrm>
          <a:custGeom>
            <a:avLst/>
            <a:gdLst/>
            <a:ahLst/>
            <a:cxnLst/>
            <a:rect l="l" t="t" r="r" b="b"/>
            <a:pathLst>
              <a:path w="43034" h="344270">
                <a:moveTo>
                  <a:pt x="0" y="0"/>
                </a:moveTo>
                <a:lnTo>
                  <a:pt x="43034" y="0"/>
                </a:lnTo>
                <a:lnTo>
                  <a:pt x="43034" y="344270"/>
                </a:lnTo>
                <a:lnTo>
                  <a:pt x="0" y="34427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2473" y="430338"/>
            <a:ext cx="2668093" cy="43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5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数据模型三大特性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854" y="1161911"/>
            <a:ext cx="4991915" cy="3851521"/>
          </a:xfrm>
          <a:custGeom>
            <a:avLst/>
            <a:gdLst/>
            <a:ahLst/>
            <a:cxnLst/>
            <a:rect l="l" t="t" r="r" b="b"/>
            <a:pathLst>
              <a:path w="4991915" h="3851521">
                <a:moveTo>
                  <a:pt x="43034" y="0"/>
                </a:moveTo>
                <a:lnTo>
                  <a:pt x="4862812" y="0"/>
                </a:lnTo>
                <a:cubicBezTo>
                  <a:pt x="4934114" y="0"/>
                  <a:pt x="4991915" y="57801"/>
                  <a:pt x="4991915" y="129103"/>
                </a:cubicBezTo>
                <a:lnTo>
                  <a:pt x="4991915" y="3722418"/>
                </a:lnTo>
                <a:cubicBezTo>
                  <a:pt x="4991915" y="3793719"/>
                  <a:pt x="4934114" y="3851521"/>
                  <a:pt x="4862812" y="3851521"/>
                </a:cubicBez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1854" y="1161911"/>
            <a:ext cx="43034" cy="3851521"/>
          </a:xfrm>
          <a:custGeom>
            <a:avLst/>
            <a:gdLst/>
            <a:ahLst/>
            <a:cxnLst/>
            <a:rect l="l" t="t" r="r" b="b"/>
            <a:pathLst>
              <a:path w="43034" h="3851521">
                <a:moveTo>
                  <a:pt x="43034" y="0"/>
                </a:moveTo>
                <a:lnTo>
                  <a:pt x="43034" y="0"/>
                </a:lnTo>
                <a:lnTo>
                  <a:pt x="43034" y="3851521"/>
                </a:ln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8540" y="1377080"/>
            <a:ext cx="516405" cy="516405"/>
          </a:xfrm>
          <a:custGeom>
            <a:avLst/>
            <a:gdLst/>
            <a:ahLst/>
            <a:cxnLst/>
            <a:rect l="l" t="t" r="r" b="b"/>
            <a:pathLst>
              <a:path w="516405" h="516405">
                <a:moveTo>
                  <a:pt x="258203" y="0"/>
                </a:moveTo>
                <a:lnTo>
                  <a:pt x="258203" y="0"/>
                </a:lnTo>
                <a:cubicBezTo>
                  <a:pt x="400708" y="0"/>
                  <a:pt x="516405" y="115697"/>
                  <a:pt x="516405" y="258203"/>
                </a:cubicBezTo>
                <a:lnTo>
                  <a:pt x="516405" y="258203"/>
                </a:lnTo>
                <a:cubicBezTo>
                  <a:pt x="516405" y="400708"/>
                  <a:pt x="400708" y="516405"/>
                  <a:pt x="258203" y="516405"/>
                </a:cubicBezTo>
                <a:lnTo>
                  <a:pt x="258203" y="516405"/>
                </a:lnTo>
                <a:cubicBezTo>
                  <a:pt x="115697" y="516405"/>
                  <a:pt x="0" y="400708"/>
                  <a:pt x="0" y="258203"/>
                </a:cubicBezTo>
                <a:lnTo>
                  <a:pt x="0" y="258203"/>
                </a:lnTo>
                <a:cubicBezTo>
                  <a:pt x="0" y="115697"/>
                  <a:pt x="115697" y="0"/>
                  <a:pt x="2582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52606" y="1527698"/>
            <a:ext cx="188273" cy="215169"/>
          </a:xfrm>
          <a:custGeom>
            <a:avLst/>
            <a:gdLst/>
            <a:ahLst/>
            <a:cxnLst/>
            <a:rect l="l" t="t" r="r" b="b"/>
            <a:pathLst>
              <a:path w="188273" h="215169">
                <a:moveTo>
                  <a:pt x="70602" y="13448"/>
                </a:moveTo>
                <a:lnTo>
                  <a:pt x="10086" y="13448"/>
                </a:lnTo>
                <a:cubicBezTo>
                  <a:pt x="4497" y="13448"/>
                  <a:pt x="0" y="17945"/>
                  <a:pt x="0" y="23534"/>
                </a:cubicBezTo>
                <a:lnTo>
                  <a:pt x="0" y="84050"/>
                </a:lnTo>
                <a:cubicBezTo>
                  <a:pt x="0" y="88127"/>
                  <a:pt x="2437" y="91825"/>
                  <a:pt x="6220" y="93380"/>
                </a:cubicBezTo>
                <a:cubicBezTo>
                  <a:pt x="10002" y="94935"/>
                  <a:pt x="14331" y="94052"/>
                  <a:pt x="17230" y="91195"/>
                </a:cubicBezTo>
                <a:lnTo>
                  <a:pt x="34040" y="74385"/>
                </a:lnTo>
                <a:lnTo>
                  <a:pt x="67240" y="107584"/>
                </a:lnTo>
                <a:lnTo>
                  <a:pt x="34040" y="140784"/>
                </a:lnTo>
                <a:lnTo>
                  <a:pt x="17230" y="123974"/>
                </a:lnTo>
                <a:cubicBezTo>
                  <a:pt x="14331" y="121074"/>
                  <a:pt x="10002" y="120234"/>
                  <a:pt x="6220" y="121789"/>
                </a:cubicBezTo>
                <a:cubicBezTo>
                  <a:pt x="2437" y="123344"/>
                  <a:pt x="0" y="127042"/>
                  <a:pt x="0" y="131118"/>
                </a:cubicBezTo>
                <a:lnTo>
                  <a:pt x="0" y="191635"/>
                </a:lnTo>
                <a:cubicBezTo>
                  <a:pt x="0" y="197224"/>
                  <a:pt x="4497" y="201721"/>
                  <a:pt x="10086" y="201721"/>
                </a:cubicBezTo>
                <a:lnTo>
                  <a:pt x="70602" y="201721"/>
                </a:lnTo>
                <a:cubicBezTo>
                  <a:pt x="74679" y="201721"/>
                  <a:pt x="78377" y="199283"/>
                  <a:pt x="79932" y="195501"/>
                </a:cubicBezTo>
                <a:cubicBezTo>
                  <a:pt x="81487" y="191719"/>
                  <a:pt x="80646" y="187390"/>
                  <a:pt x="77747" y="184490"/>
                </a:cubicBezTo>
                <a:lnTo>
                  <a:pt x="60936" y="167680"/>
                </a:lnTo>
                <a:lnTo>
                  <a:pt x="94136" y="134480"/>
                </a:lnTo>
                <a:lnTo>
                  <a:pt x="127336" y="167680"/>
                </a:lnTo>
                <a:lnTo>
                  <a:pt x="110526" y="184490"/>
                </a:lnTo>
                <a:cubicBezTo>
                  <a:pt x="107626" y="187390"/>
                  <a:pt x="106786" y="191719"/>
                  <a:pt x="108341" y="195501"/>
                </a:cubicBezTo>
                <a:cubicBezTo>
                  <a:pt x="109896" y="199283"/>
                  <a:pt x="113594" y="201721"/>
                  <a:pt x="117670" y="201721"/>
                </a:cubicBezTo>
                <a:lnTo>
                  <a:pt x="178187" y="201721"/>
                </a:lnTo>
                <a:cubicBezTo>
                  <a:pt x="183776" y="201721"/>
                  <a:pt x="188273" y="197224"/>
                  <a:pt x="188273" y="191635"/>
                </a:cubicBezTo>
                <a:lnTo>
                  <a:pt x="188273" y="131118"/>
                </a:lnTo>
                <a:cubicBezTo>
                  <a:pt x="188273" y="127042"/>
                  <a:pt x="185835" y="123344"/>
                  <a:pt x="182053" y="121789"/>
                </a:cubicBezTo>
                <a:cubicBezTo>
                  <a:pt x="178271" y="120234"/>
                  <a:pt x="173942" y="121074"/>
                  <a:pt x="171042" y="123974"/>
                </a:cubicBezTo>
                <a:lnTo>
                  <a:pt x="154232" y="140784"/>
                </a:lnTo>
                <a:lnTo>
                  <a:pt x="121032" y="107584"/>
                </a:lnTo>
                <a:lnTo>
                  <a:pt x="154232" y="74385"/>
                </a:lnTo>
                <a:lnTo>
                  <a:pt x="171042" y="91195"/>
                </a:lnTo>
                <a:cubicBezTo>
                  <a:pt x="173942" y="94094"/>
                  <a:pt x="178271" y="94935"/>
                  <a:pt x="182053" y="93380"/>
                </a:cubicBezTo>
                <a:cubicBezTo>
                  <a:pt x="185835" y="91825"/>
                  <a:pt x="188273" y="88127"/>
                  <a:pt x="188273" y="84050"/>
                </a:cubicBezTo>
                <a:lnTo>
                  <a:pt x="188273" y="23534"/>
                </a:lnTo>
                <a:cubicBezTo>
                  <a:pt x="188273" y="17945"/>
                  <a:pt x="183776" y="13448"/>
                  <a:pt x="178187" y="13448"/>
                </a:cubicBezTo>
                <a:lnTo>
                  <a:pt x="117670" y="13448"/>
                </a:lnTo>
                <a:cubicBezTo>
                  <a:pt x="113594" y="13448"/>
                  <a:pt x="109896" y="15886"/>
                  <a:pt x="108341" y="19668"/>
                </a:cubicBezTo>
                <a:cubicBezTo>
                  <a:pt x="106786" y="23450"/>
                  <a:pt x="107668" y="27779"/>
                  <a:pt x="110526" y="30678"/>
                </a:cubicBezTo>
                <a:lnTo>
                  <a:pt x="127336" y="47488"/>
                </a:lnTo>
                <a:lnTo>
                  <a:pt x="94136" y="80688"/>
                </a:lnTo>
                <a:lnTo>
                  <a:pt x="60936" y="47488"/>
                </a:lnTo>
                <a:lnTo>
                  <a:pt x="77747" y="30678"/>
                </a:lnTo>
                <a:cubicBezTo>
                  <a:pt x="80646" y="27779"/>
                  <a:pt x="81487" y="23450"/>
                  <a:pt x="79932" y="19668"/>
                </a:cubicBezTo>
                <a:cubicBezTo>
                  <a:pt x="78377" y="15886"/>
                  <a:pt x="74679" y="13448"/>
                  <a:pt x="70602" y="1344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34046" y="1484664"/>
            <a:ext cx="623989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稀疏性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8540" y="2022586"/>
            <a:ext cx="46261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灵活应对数据多样性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540" y="2366856"/>
            <a:ext cx="4615370" cy="24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不同行可以有不同的列结构,不存在的列不占用任何存储空间。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8540" y="2740712"/>
            <a:ext cx="4540061" cy="1032810"/>
          </a:xfrm>
          <a:custGeom>
            <a:avLst/>
            <a:gdLst/>
            <a:ahLst/>
            <a:cxnLst/>
            <a:rect l="l" t="t" r="r" b="b"/>
            <a:pathLst>
              <a:path w="4540061" h="1032810">
                <a:moveTo>
                  <a:pt x="86064" y="0"/>
                </a:moveTo>
                <a:lnTo>
                  <a:pt x="4453997" y="0"/>
                </a:lnTo>
                <a:cubicBezTo>
                  <a:pt x="4501497" y="0"/>
                  <a:pt x="4540061" y="38564"/>
                  <a:pt x="4540061" y="86064"/>
                </a:cubicBezTo>
                <a:lnTo>
                  <a:pt x="4540061" y="946746"/>
                </a:lnTo>
                <a:cubicBezTo>
                  <a:pt x="4540061" y="994278"/>
                  <a:pt x="4501529" y="1032810"/>
                  <a:pt x="4453997" y="1032810"/>
                </a:cubicBezTo>
                <a:lnTo>
                  <a:pt x="86064" y="1032810"/>
                </a:lnTo>
                <a:cubicBezTo>
                  <a:pt x="38564" y="1032810"/>
                  <a:pt x="0" y="994246"/>
                  <a:pt x="0" y="946746"/>
                </a:cubicBezTo>
                <a:lnTo>
                  <a:pt x="0" y="86064"/>
                </a:lnTo>
                <a:cubicBezTo>
                  <a:pt x="0" y="38564"/>
                  <a:pt x="38564" y="0"/>
                  <a:pt x="860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7641" y="2869813"/>
            <a:ext cx="435716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存储效率优势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7641" y="3128016"/>
            <a:ext cx="4410960" cy="34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节省 50-90%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641" y="3472286"/>
            <a:ext cx="434640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相比关系数据库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8540" y="3859590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避免NULL值存储开销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8540" y="4117792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支持模式演进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8540" y="4375995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天然支持A/B测试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41372" y="1161911"/>
            <a:ext cx="4991915" cy="3851521"/>
          </a:xfrm>
          <a:custGeom>
            <a:avLst/>
            <a:gdLst/>
            <a:ahLst/>
            <a:cxnLst/>
            <a:rect l="l" t="t" r="r" b="b"/>
            <a:pathLst>
              <a:path w="4991915" h="3851521">
                <a:moveTo>
                  <a:pt x="43034" y="0"/>
                </a:moveTo>
                <a:lnTo>
                  <a:pt x="4862812" y="0"/>
                </a:lnTo>
                <a:cubicBezTo>
                  <a:pt x="4934114" y="0"/>
                  <a:pt x="4991915" y="57801"/>
                  <a:pt x="4991915" y="129103"/>
                </a:cubicBezTo>
                <a:lnTo>
                  <a:pt x="4991915" y="3722418"/>
                </a:lnTo>
                <a:cubicBezTo>
                  <a:pt x="4991915" y="3793719"/>
                  <a:pt x="4934114" y="3851521"/>
                  <a:pt x="4862812" y="3851521"/>
                </a:cubicBez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641372" y="1161911"/>
            <a:ext cx="43034" cy="3851521"/>
          </a:xfrm>
          <a:custGeom>
            <a:avLst/>
            <a:gdLst/>
            <a:ahLst/>
            <a:cxnLst/>
            <a:rect l="l" t="t" r="r" b="b"/>
            <a:pathLst>
              <a:path w="43034" h="3851521">
                <a:moveTo>
                  <a:pt x="43034" y="0"/>
                </a:moveTo>
                <a:lnTo>
                  <a:pt x="43034" y="0"/>
                </a:lnTo>
                <a:lnTo>
                  <a:pt x="43034" y="3851521"/>
                </a:ln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78058" y="1377080"/>
            <a:ext cx="516405" cy="516405"/>
          </a:xfrm>
          <a:custGeom>
            <a:avLst/>
            <a:gdLst/>
            <a:ahLst/>
            <a:cxnLst/>
            <a:rect l="l" t="t" r="r" b="b"/>
            <a:pathLst>
              <a:path w="516405" h="516405">
                <a:moveTo>
                  <a:pt x="258203" y="0"/>
                </a:moveTo>
                <a:lnTo>
                  <a:pt x="258203" y="0"/>
                </a:lnTo>
                <a:cubicBezTo>
                  <a:pt x="400708" y="0"/>
                  <a:pt x="516405" y="115697"/>
                  <a:pt x="516405" y="258203"/>
                </a:cubicBezTo>
                <a:lnTo>
                  <a:pt x="516405" y="258203"/>
                </a:lnTo>
                <a:cubicBezTo>
                  <a:pt x="516405" y="400708"/>
                  <a:pt x="400708" y="516405"/>
                  <a:pt x="258203" y="516405"/>
                </a:cubicBezTo>
                <a:lnTo>
                  <a:pt x="258203" y="516405"/>
                </a:lnTo>
                <a:cubicBezTo>
                  <a:pt x="115697" y="516405"/>
                  <a:pt x="0" y="400708"/>
                  <a:pt x="0" y="258203"/>
                </a:cubicBezTo>
                <a:lnTo>
                  <a:pt x="0" y="258203"/>
                </a:lnTo>
                <a:cubicBezTo>
                  <a:pt x="0" y="115697"/>
                  <a:pt x="115697" y="0"/>
                  <a:pt x="25820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028676" y="1527698"/>
            <a:ext cx="215169" cy="215169"/>
          </a:xfrm>
          <a:custGeom>
            <a:avLst/>
            <a:gdLst/>
            <a:ahLst/>
            <a:cxnLst/>
            <a:rect l="l" t="t" r="r" b="b"/>
            <a:pathLst>
              <a:path w="215169" h="215169">
                <a:moveTo>
                  <a:pt x="119351" y="-546"/>
                </a:moveTo>
                <a:cubicBezTo>
                  <a:pt x="112081" y="-4749"/>
                  <a:pt x="103088" y="-4749"/>
                  <a:pt x="95817" y="-546"/>
                </a:cubicBezTo>
                <a:lnTo>
                  <a:pt x="60432" y="19878"/>
                </a:lnTo>
                <a:cubicBezTo>
                  <a:pt x="53162" y="24080"/>
                  <a:pt x="48665" y="31855"/>
                  <a:pt x="48665" y="40260"/>
                </a:cubicBezTo>
                <a:lnTo>
                  <a:pt x="48665" y="83084"/>
                </a:lnTo>
                <a:lnTo>
                  <a:pt x="11557" y="104517"/>
                </a:lnTo>
                <a:cubicBezTo>
                  <a:pt x="4287" y="108719"/>
                  <a:pt x="-210" y="116494"/>
                  <a:pt x="-210" y="124899"/>
                </a:cubicBezTo>
                <a:lnTo>
                  <a:pt x="-210" y="165789"/>
                </a:lnTo>
                <a:cubicBezTo>
                  <a:pt x="-210" y="174194"/>
                  <a:pt x="4287" y="181969"/>
                  <a:pt x="11557" y="186171"/>
                </a:cubicBezTo>
                <a:lnTo>
                  <a:pt x="46984" y="206596"/>
                </a:lnTo>
                <a:cubicBezTo>
                  <a:pt x="54254" y="210798"/>
                  <a:pt x="63248" y="210798"/>
                  <a:pt x="70518" y="206596"/>
                </a:cubicBezTo>
                <a:lnTo>
                  <a:pt x="107626" y="185163"/>
                </a:lnTo>
                <a:lnTo>
                  <a:pt x="144735" y="206596"/>
                </a:lnTo>
                <a:cubicBezTo>
                  <a:pt x="152005" y="210798"/>
                  <a:pt x="160998" y="210798"/>
                  <a:pt x="168269" y="206596"/>
                </a:cubicBezTo>
                <a:lnTo>
                  <a:pt x="203612" y="186171"/>
                </a:lnTo>
                <a:cubicBezTo>
                  <a:pt x="210882" y="181969"/>
                  <a:pt x="215379" y="174194"/>
                  <a:pt x="215379" y="165789"/>
                </a:cubicBezTo>
                <a:lnTo>
                  <a:pt x="215379" y="124899"/>
                </a:lnTo>
                <a:cubicBezTo>
                  <a:pt x="215379" y="116494"/>
                  <a:pt x="210882" y="108719"/>
                  <a:pt x="203612" y="104517"/>
                </a:cubicBezTo>
                <a:lnTo>
                  <a:pt x="166504" y="83084"/>
                </a:lnTo>
                <a:lnTo>
                  <a:pt x="166504" y="40260"/>
                </a:lnTo>
                <a:cubicBezTo>
                  <a:pt x="166504" y="31855"/>
                  <a:pt x="162007" y="24080"/>
                  <a:pt x="154737" y="19878"/>
                </a:cubicBezTo>
                <a:lnTo>
                  <a:pt x="119351" y="-546"/>
                </a:lnTo>
                <a:close/>
                <a:moveTo>
                  <a:pt x="97498" y="122966"/>
                </a:moveTo>
                <a:lnTo>
                  <a:pt x="97498" y="167722"/>
                </a:lnTo>
                <a:lnTo>
                  <a:pt x="60390" y="189155"/>
                </a:lnTo>
                <a:cubicBezTo>
                  <a:pt x="59886" y="189449"/>
                  <a:pt x="59297" y="189617"/>
                  <a:pt x="58709" y="189617"/>
                </a:cubicBezTo>
                <a:lnTo>
                  <a:pt x="58709" y="145365"/>
                </a:lnTo>
                <a:lnTo>
                  <a:pt x="97498" y="122966"/>
                </a:lnTo>
                <a:close/>
                <a:moveTo>
                  <a:pt x="194745" y="123218"/>
                </a:moveTo>
                <a:cubicBezTo>
                  <a:pt x="195039" y="123722"/>
                  <a:pt x="195207" y="124310"/>
                  <a:pt x="195207" y="124899"/>
                </a:cubicBezTo>
                <a:lnTo>
                  <a:pt x="195207" y="165789"/>
                </a:lnTo>
                <a:cubicBezTo>
                  <a:pt x="195207" y="167008"/>
                  <a:pt x="194576" y="168101"/>
                  <a:pt x="193526" y="168689"/>
                </a:cubicBezTo>
                <a:lnTo>
                  <a:pt x="158099" y="189113"/>
                </a:lnTo>
                <a:cubicBezTo>
                  <a:pt x="157594" y="189407"/>
                  <a:pt x="157006" y="189575"/>
                  <a:pt x="156418" y="189575"/>
                </a:cubicBezTo>
                <a:lnTo>
                  <a:pt x="156418" y="145323"/>
                </a:lnTo>
                <a:lnTo>
                  <a:pt x="194745" y="123218"/>
                </a:lnTo>
                <a:close/>
                <a:moveTo>
                  <a:pt x="146374" y="40260"/>
                </a:moveTo>
                <a:lnTo>
                  <a:pt x="146374" y="83084"/>
                </a:lnTo>
                <a:lnTo>
                  <a:pt x="107584" y="105483"/>
                </a:lnTo>
                <a:lnTo>
                  <a:pt x="107584" y="60726"/>
                </a:lnTo>
                <a:lnTo>
                  <a:pt x="145911" y="38621"/>
                </a:lnTo>
                <a:cubicBezTo>
                  <a:pt x="146205" y="39125"/>
                  <a:pt x="146374" y="39714"/>
                  <a:pt x="146374" y="4030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523564" y="1484664"/>
            <a:ext cx="623989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多维性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78058" y="2022586"/>
            <a:ext cx="46261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统一的数据访问抽象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78058" y="2366856"/>
            <a:ext cx="4615370" cy="24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将行键、列族、列限定符、时间戳四个维度系统化整合。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78058" y="2740712"/>
            <a:ext cx="4540061" cy="1118878"/>
          </a:xfrm>
          <a:custGeom>
            <a:avLst/>
            <a:gdLst/>
            <a:ahLst/>
            <a:cxnLst/>
            <a:rect l="l" t="t" r="r" b="b"/>
            <a:pathLst>
              <a:path w="4540061" h="1118878">
                <a:moveTo>
                  <a:pt x="86064" y="0"/>
                </a:moveTo>
                <a:lnTo>
                  <a:pt x="4453997" y="0"/>
                </a:lnTo>
                <a:cubicBezTo>
                  <a:pt x="4501497" y="0"/>
                  <a:pt x="4540061" y="38564"/>
                  <a:pt x="4540061" y="86064"/>
                </a:cubicBezTo>
                <a:lnTo>
                  <a:pt x="4540061" y="1032814"/>
                </a:lnTo>
                <a:cubicBezTo>
                  <a:pt x="4540061" y="1080345"/>
                  <a:pt x="4501529" y="1118878"/>
                  <a:pt x="4453997" y="1118878"/>
                </a:cubicBezTo>
                <a:lnTo>
                  <a:pt x="86064" y="1118878"/>
                </a:lnTo>
                <a:cubicBezTo>
                  <a:pt x="38564" y="1118878"/>
                  <a:pt x="0" y="1080314"/>
                  <a:pt x="0" y="1032814"/>
                </a:cubicBezTo>
                <a:lnTo>
                  <a:pt x="0" y="86064"/>
                </a:lnTo>
                <a:cubicBezTo>
                  <a:pt x="0" y="38564"/>
                  <a:pt x="38564" y="0"/>
                  <a:pt x="860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07159" y="2869813"/>
            <a:ext cx="435716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组合维度查询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07159" y="3128016"/>
            <a:ext cx="434640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row: "com.google.www"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07159" y="3343185"/>
            <a:ext cx="434640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column_family: "metadata"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07159" y="3558353"/>
            <a:ext cx="434640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time_range: [t1, t2]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78058" y="3945657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基于时间维度的多版本管理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78058" y="4203860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基于列族维度的批量操作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8058" y="4462062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组合维度复杂查询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30889" y="1161911"/>
            <a:ext cx="4991915" cy="3851521"/>
          </a:xfrm>
          <a:custGeom>
            <a:avLst/>
            <a:gdLst/>
            <a:ahLst/>
            <a:cxnLst/>
            <a:rect l="l" t="t" r="r" b="b"/>
            <a:pathLst>
              <a:path w="4991915" h="3851521">
                <a:moveTo>
                  <a:pt x="43034" y="0"/>
                </a:moveTo>
                <a:lnTo>
                  <a:pt x="4862812" y="0"/>
                </a:lnTo>
                <a:cubicBezTo>
                  <a:pt x="4934114" y="0"/>
                  <a:pt x="4991915" y="57801"/>
                  <a:pt x="4991915" y="129103"/>
                </a:cubicBezTo>
                <a:lnTo>
                  <a:pt x="4991915" y="3722418"/>
                </a:lnTo>
                <a:cubicBezTo>
                  <a:pt x="4991915" y="3793719"/>
                  <a:pt x="4934114" y="3851521"/>
                  <a:pt x="4862812" y="3851521"/>
                </a:cubicBez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830889" y="1161911"/>
            <a:ext cx="43034" cy="3851521"/>
          </a:xfrm>
          <a:custGeom>
            <a:avLst/>
            <a:gdLst/>
            <a:ahLst/>
            <a:cxnLst/>
            <a:rect l="l" t="t" r="r" b="b"/>
            <a:pathLst>
              <a:path w="43034" h="3851521">
                <a:moveTo>
                  <a:pt x="43034" y="0"/>
                </a:moveTo>
                <a:lnTo>
                  <a:pt x="43034" y="0"/>
                </a:lnTo>
                <a:lnTo>
                  <a:pt x="43034" y="3851521"/>
                </a:lnTo>
                <a:lnTo>
                  <a:pt x="43034" y="3851521"/>
                </a:lnTo>
                <a:cubicBezTo>
                  <a:pt x="19267" y="3851521"/>
                  <a:pt x="0" y="3832254"/>
                  <a:pt x="0" y="3808487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067575" y="1377080"/>
            <a:ext cx="516405" cy="516405"/>
          </a:xfrm>
          <a:custGeom>
            <a:avLst/>
            <a:gdLst/>
            <a:ahLst/>
            <a:cxnLst/>
            <a:rect l="l" t="t" r="r" b="b"/>
            <a:pathLst>
              <a:path w="516405" h="516405">
                <a:moveTo>
                  <a:pt x="258203" y="0"/>
                </a:moveTo>
                <a:lnTo>
                  <a:pt x="258203" y="0"/>
                </a:lnTo>
                <a:cubicBezTo>
                  <a:pt x="400708" y="0"/>
                  <a:pt x="516405" y="115697"/>
                  <a:pt x="516405" y="258203"/>
                </a:cubicBezTo>
                <a:lnTo>
                  <a:pt x="516405" y="258203"/>
                </a:lnTo>
                <a:cubicBezTo>
                  <a:pt x="516405" y="400708"/>
                  <a:pt x="400708" y="516405"/>
                  <a:pt x="258203" y="516405"/>
                </a:cubicBezTo>
                <a:lnTo>
                  <a:pt x="258203" y="516405"/>
                </a:lnTo>
                <a:cubicBezTo>
                  <a:pt x="115697" y="516405"/>
                  <a:pt x="0" y="400708"/>
                  <a:pt x="0" y="258203"/>
                </a:cubicBezTo>
                <a:lnTo>
                  <a:pt x="0" y="258203"/>
                </a:lnTo>
                <a:cubicBezTo>
                  <a:pt x="0" y="115697"/>
                  <a:pt x="115697" y="0"/>
                  <a:pt x="2582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204745" y="1527698"/>
            <a:ext cx="242065" cy="215169"/>
          </a:xfrm>
          <a:custGeom>
            <a:avLst/>
            <a:gdLst/>
            <a:ahLst/>
            <a:cxnLst/>
            <a:rect l="l" t="t" r="r" b="b"/>
            <a:pathLst>
              <a:path w="242065" h="215169">
                <a:moveTo>
                  <a:pt x="103634" y="157426"/>
                </a:moveTo>
                <a:lnTo>
                  <a:pt x="63290" y="197770"/>
                </a:lnTo>
                <a:cubicBezTo>
                  <a:pt x="58037" y="203023"/>
                  <a:pt x="49506" y="203023"/>
                  <a:pt x="44252" y="197770"/>
                </a:cubicBezTo>
                <a:lnTo>
                  <a:pt x="3908" y="157426"/>
                </a:lnTo>
                <a:cubicBezTo>
                  <a:pt x="-1345" y="152173"/>
                  <a:pt x="-1345" y="143642"/>
                  <a:pt x="3908" y="138389"/>
                </a:cubicBezTo>
                <a:cubicBezTo>
                  <a:pt x="9161" y="133136"/>
                  <a:pt x="17693" y="133136"/>
                  <a:pt x="22946" y="138389"/>
                </a:cubicBezTo>
                <a:lnTo>
                  <a:pt x="40344" y="155787"/>
                </a:lnTo>
                <a:lnTo>
                  <a:pt x="40344" y="26896"/>
                </a:lnTo>
                <a:cubicBezTo>
                  <a:pt x="40344" y="19458"/>
                  <a:pt x="46354" y="13448"/>
                  <a:pt x="53792" y="13448"/>
                </a:cubicBezTo>
                <a:cubicBezTo>
                  <a:pt x="61231" y="13448"/>
                  <a:pt x="67240" y="19458"/>
                  <a:pt x="67240" y="26896"/>
                </a:cubicBezTo>
                <a:lnTo>
                  <a:pt x="67240" y="155787"/>
                </a:lnTo>
                <a:lnTo>
                  <a:pt x="84639" y="138389"/>
                </a:lnTo>
                <a:cubicBezTo>
                  <a:pt x="89892" y="133136"/>
                  <a:pt x="98423" y="133136"/>
                  <a:pt x="103676" y="138389"/>
                </a:cubicBezTo>
                <a:cubicBezTo>
                  <a:pt x="108929" y="143642"/>
                  <a:pt x="108929" y="152173"/>
                  <a:pt x="103676" y="157426"/>
                </a:cubicBezTo>
                <a:close/>
                <a:moveTo>
                  <a:pt x="134480" y="201721"/>
                </a:moveTo>
                <a:cubicBezTo>
                  <a:pt x="127042" y="201721"/>
                  <a:pt x="121032" y="195711"/>
                  <a:pt x="121032" y="188273"/>
                </a:cubicBezTo>
                <a:cubicBezTo>
                  <a:pt x="121032" y="180834"/>
                  <a:pt x="127042" y="174825"/>
                  <a:pt x="134480" y="174825"/>
                </a:cubicBezTo>
                <a:lnTo>
                  <a:pt x="147929" y="174825"/>
                </a:lnTo>
                <a:cubicBezTo>
                  <a:pt x="155367" y="174825"/>
                  <a:pt x="161377" y="180834"/>
                  <a:pt x="161377" y="188273"/>
                </a:cubicBezTo>
                <a:cubicBezTo>
                  <a:pt x="161377" y="195711"/>
                  <a:pt x="155367" y="201721"/>
                  <a:pt x="147929" y="201721"/>
                </a:cubicBezTo>
                <a:lnTo>
                  <a:pt x="134480" y="201721"/>
                </a:lnTo>
                <a:close/>
                <a:moveTo>
                  <a:pt x="134480" y="147929"/>
                </a:moveTo>
                <a:cubicBezTo>
                  <a:pt x="127042" y="147929"/>
                  <a:pt x="121032" y="141919"/>
                  <a:pt x="121032" y="134480"/>
                </a:cubicBezTo>
                <a:cubicBezTo>
                  <a:pt x="121032" y="127042"/>
                  <a:pt x="127042" y="121032"/>
                  <a:pt x="134480" y="121032"/>
                </a:cubicBezTo>
                <a:lnTo>
                  <a:pt x="174825" y="121032"/>
                </a:lnTo>
                <a:cubicBezTo>
                  <a:pt x="182263" y="121032"/>
                  <a:pt x="188273" y="127042"/>
                  <a:pt x="188273" y="134480"/>
                </a:cubicBezTo>
                <a:cubicBezTo>
                  <a:pt x="188273" y="141919"/>
                  <a:pt x="182263" y="147929"/>
                  <a:pt x="174825" y="147929"/>
                </a:cubicBezTo>
                <a:lnTo>
                  <a:pt x="134480" y="147929"/>
                </a:lnTo>
                <a:close/>
                <a:moveTo>
                  <a:pt x="134480" y="94136"/>
                </a:moveTo>
                <a:cubicBezTo>
                  <a:pt x="127042" y="94136"/>
                  <a:pt x="121032" y="88127"/>
                  <a:pt x="121032" y="80688"/>
                </a:cubicBezTo>
                <a:cubicBezTo>
                  <a:pt x="121032" y="73250"/>
                  <a:pt x="127042" y="67240"/>
                  <a:pt x="134480" y="67240"/>
                </a:cubicBezTo>
                <a:lnTo>
                  <a:pt x="201721" y="67240"/>
                </a:lnTo>
                <a:cubicBezTo>
                  <a:pt x="209159" y="67240"/>
                  <a:pt x="215169" y="73250"/>
                  <a:pt x="215169" y="80688"/>
                </a:cubicBezTo>
                <a:cubicBezTo>
                  <a:pt x="215169" y="88127"/>
                  <a:pt x="209159" y="94136"/>
                  <a:pt x="201721" y="94136"/>
                </a:cubicBezTo>
                <a:lnTo>
                  <a:pt x="134480" y="94136"/>
                </a:lnTo>
                <a:close/>
                <a:moveTo>
                  <a:pt x="134480" y="40344"/>
                </a:moveTo>
                <a:cubicBezTo>
                  <a:pt x="127042" y="40344"/>
                  <a:pt x="121032" y="34335"/>
                  <a:pt x="121032" y="26896"/>
                </a:cubicBezTo>
                <a:cubicBezTo>
                  <a:pt x="121032" y="19458"/>
                  <a:pt x="127042" y="13448"/>
                  <a:pt x="134480" y="13448"/>
                </a:cubicBezTo>
                <a:lnTo>
                  <a:pt x="228617" y="13448"/>
                </a:lnTo>
                <a:cubicBezTo>
                  <a:pt x="236055" y="13448"/>
                  <a:pt x="242065" y="19458"/>
                  <a:pt x="242065" y="26896"/>
                </a:cubicBezTo>
                <a:cubicBezTo>
                  <a:pt x="242065" y="34335"/>
                  <a:pt x="236055" y="40344"/>
                  <a:pt x="228617" y="40344"/>
                </a:cubicBezTo>
                <a:lnTo>
                  <a:pt x="134480" y="4034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713081" y="1484664"/>
            <a:ext cx="623989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有序性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67575" y="2022586"/>
            <a:ext cx="46261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极致的性能优化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67575" y="2366856"/>
            <a:ext cx="4615370" cy="49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充分利用存储介质的顺序访问特性,将逻辑相关性映射为物理相邻性。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67575" y="2985467"/>
            <a:ext cx="4540061" cy="989776"/>
          </a:xfrm>
          <a:custGeom>
            <a:avLst/>
            <a:gdLst/>
            <a:ahLst/>
            <a:cxnLst/>
            <a:rect l="l" t="t" r="r" b="b"/>
            <a:pathLst>
              <a:path w="4540061" h="989776">
                <a:moveTo>
                  <a:pt x="86071" y="0"/>
                </a:moveTo>
                <a:lnTo>
                  <a:pt x="4453990" y="0"/>
                </a:lnTo>
                <a:cubicBezTo>
                  <a:pt x="4501526" y="0"/>
                  <a:pt x="4540061" y="38535"/>
                  <a:pt x="4540061" y="86071"/>
                </a:cubicBezTo>
                <a:lnTo>
                  <a:pt x="4540061" y="903705"/>
                </a:lnTo>
                <a:cubicBezTo>
                  <a:pt x="4540061" y="951241"/>
                  <a:pt x="4501526" y="989776"/>
                  <a:pt x="4453990" y="989776"/>
                </a:cubicBezTo>
                <a:lnTo>
                  <a:pt x="86071" y="989776"/>
                </a:lnTo>
                <a:cubicBezTo>
                  <a:pt x="38535" y="989776"/>
                  <a:pt x="0" y="951241"/>
                  <a:pt x="0" y="903705"/>
                </a:cubicBezTo>
                <a:lnTo>
                  <a:pt x="0" y="86071"/>
                </a:lnTo>
                <a:cubicBezTo>
                  <a:pt x="0" y="38535"/>
                  <a:pt x="38535" y="0"/>
                  <a:pt x="8607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96676" y="3114568"/>
            <a:ext cx="435716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42884" y="3372770"/>
            <a:ext cx="2226997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9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10-100x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64401" y="3674007"/>
            <a:ext cx="2183963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范围查询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307263" y="3372770"/>
            <a:ext cx="2226997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9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100x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328780" y="3674007"/>
            <a:ext cx="2183963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顺序扫描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67575" y="4061310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行键字典序优化范围查询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67575" y="4319513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列族内排序优化批量读取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67575" y="4577715"/>
            <a:ext cx="4615370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时间戳降序优化缓存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0338" y="5180189"/>
            <a:ext cx="15395325" cy="3851522"/>
          </a:xfrm>
          <a:custGeom>
            <a:avLst/>
            <a:gdLst/>
            <a:ahLst/>
            <a:cxnLst/>
            <a:rect l="l" t="t" r="r" b="b"/>
            <a:pathLst>
              <a:path w="15395325" h="5034949">
                <a:moveTo>
                  <a:pt x="129096" y="0"/>
                </a:moveTo>
                <a:lnTo>
                  <a:pt x="15266229" y="0"/>
                </a:lnTo>
                <a:cubicBezTo>
                  <a:pt x="15337527" y="0"/>
                  <a:pt x="15395325" y="57798"/>
                  <a:pt x="15395325" y="129096"/>
                </a:cubicBezTo>
                <a:lnTo>
                  <a:pt x="15395325" y="4905853"/>
                </a:lnTo>
                <a:cubicBezTo>
                  <a:pt x="15395325" y="4977103"/>
                  <a:pt x="15337479" y="5034949"/>
                  <a:pt x="15266229" y="5034949"/>
                </a:cubicBezTo>
                <a:lnTo>
                  <a:pt x="129096" y="5034949"/>
                </a:lnTo>
                <a:cubicBezTo>
                  <a:pt x="57798" y="5034949"/>
                  <a:pt x="0" y="4977151"/>
                  <a:pt x="0" y="4905853"/>
                </a:cubicBezTo>
                <a:lnTo>
                  <a:pt x="0" y="129096"/>
                </a:lnTo>
                <a:cubicBezTo>
                  <a:pt x="0" y="57846"/>
                  <a:pt x="57846" y="0"/>
                  <a:pt x="12909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45506" y="5395357"/>
            <a:ext cx="15072572" cy="30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多维协同示例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5506" y="5825694"/>
            <a:ext cx="7401805" cy="1118878"/>
          </a:xfrm>
          <a:custGeom>
            <a:avLst/>
            <a:gdLst/>
            <a:ahLst/>
            <a:cxnLst/>
            <a:rect l="l" t="t" r="r" b="b"/>
            <a:pathLst>
              <a:path w="7401805" h="1118878">
                <a:moveTo>
                  <a:pt x="86064" y="0"/>
                </a:moveTo>
                <a:lnTo>
                  <a:pt x="7315741" y="0"/>
                </a:lnTo>
                <a:cubicBezTo>
                  <a:pt x="7363273" y="0"/>
                  <a:pt x="7401805" y="38532"/>
                  <a:pt x="7401805" y="86064"/>
                </a:cubicBezTo>
                <a:lnTo>
                  <a:pt x="7401805" y="1032814"/>
                </a:lnTo>
                <a:cubicBezTo>
                  <a:pt x="7401805" y="1080345"/>
                  <a:pt x="7363273" y="1118878"/>
                  <a:pt x="7315741" y="1118878"/>
                </a:cubicBezTo>
                <a:lnTo>
                  <a:pt x="86064" y="1118878"/>
                </a:lnTo>
                <a:cubicBezTo>
                  <a:pt x="38564" y="1118878"/>
                  <a:pt x="0" y="1080314"/>
                  <a:pt x="0" y="1032814"/>
                </a:cubicBezTo>
                <a:lnTo>
                  <a:pt x="0" y="86064"/>
                </a:lnTo>
                <a:cubicBezTo>
                  <a:pt x="0" y="38564"/>
                  <a:pt x="38564" y="0"/>
                  <a:pt x="860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74608" y="5954795"/>
            <a:ext cx="7229670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时间维度多版本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74608" y="6299066"/>
            <a:ext cx="7143603" cy="516405"/>
          </a:xfrm>
          <a:custGeom>
            <a:avLst/>
            <a:gdLst/>
            <a:ahLst/>
            <a:cxnLst/>
            <a:rect l="l" t="t" r="r" b="b"/>
            <a:pathLst>
              <a:path w="7143603" h="516405">
                <a:moveTo>
                  <a:pt x="43032" y="0"/>
                </a:moveTo>
                <a:lnTo>
                  <a:pt x="7100571" y="0"/>
                </a:lnTo>
                <a:cubicBezTo>
                  <a:pt x="7124337" y="0"/>
                  <a:pt x="7143603" y="19266"/>
                  <a:pt x="7143603" y="43032"/>
                </a:cubicBezTo>
                <a:lnTo>
                  <a:pt x="7143603" y="473373"/>
                </a:lnTo>
                <a:cubicBezTo>
                  <a:pt x="7143603" y="497139"/>
                  <a:pt x="7124337" y="516405"/>
                  <a:pt x="7100571" y="516405"/>
                </a:cubicBezTo>
                <a:lnTo>
                  <a:pt x="43032" y="516405"/>
                </a:lnTo>
                <a:cubicBezTo>
                  <a:pt x="19282" y="516405"/>
                  <a:pt x="0" y="497123"/>
                  <a:pt x="0" y="473373"/>
                </a:cubicBezTo>
                <a:lnTo>
                  <a:pt x="0" y="43032"/>
                </a:lnTo>
                <a:cubicBezTo>
                  <a:pt x="0" y="19282"/>
                  <a:pt x="19282" y="0"/>
                  <a:pt x="4303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60675" y="6385133"/>
            <a:ext cx="703601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"content:html", t1) → "2022年5月版本"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0675" y="6557268"/>
            <a:ext cx="703601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"content:html", t2) → "2022年3月版本"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5506" y="7030639"/>
            <a:ext cx="7401805" cy="1118878"/>
          </a:xfrm>
          <a:custGeom>
            <a:avLst/>
            <a:gdLst/>
            <a:ahLst/>
            <a:cxnLst/>
            <a:rect l="l" t="t" r="r" b="b"/>
            <a:pathLst>
              <a:path w="7401805" h="1118878">
                <a:moveTo>
                  <a:pt x="86064" y="0"/>
                </a:moveTo>
                <a:lnTo>
                  <a:pt x="7315741" y="0"/>
                </a:lnTo>
                <a:cubicBezTo>
                  <a:pt x="7363273" y="0"/>
                  <a:pt x="7401805" y="38532"/>
                  <a:pt x="7401805" y="86064"/>
                </a:cubicBezTo>
                <a:lnTo>
                  <a:pt x="7401805" y="1032814"/>
                </a:lnTo>
                <a:cubicBezTo>
                  <a:pt x="7401805" y="1080345"/>
                  <a:pt x="7363273" y="1118878"/>
                  <a:pt x="7315741" y="1118878"/>
                </a:cubicBezTo>
                <a:lnTo>
                  <a:pt x="86064" y="1118878"/>
                </a:lnTo>
                <a:cubicBezTo>
                  <a:pt x="38564" y="1118878"/>
                  <a:pt x="0" y="1080314"/>
                  <a:pt x="0" y="1032814"/>
                </a:cubicBezTo>
                <a:lnTo>
                  <a:pt x="0" y="86064"/>
                </a:lnTo>
                <a:cubicBezTo>
                  <a:pt x="0" y="38564"/>
                  <a:pt x="38564" y="0"/>
                  <a:pt x="8606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774608" y="7159741"/>
            <a:ext cx="7229670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列族维度批量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74608" y="7504011"/>
            <a:ext cx="7143603" cy="516405"/>
          </a:xfrm>
          <a:custGeom>
            <a:avLst/>
            <a:gdLst/>
            <a:ahLst/>
            <a:cxnLst/>
            <a:rect l="l" t="t" r="r" b="b"/>
            <a:pathLst>
              <a:path w="7143603" h="516405">
                <a:moveTo>
                  <a:pt x="43032" y="0"/>
                </a:moveTo>
                <a:lnTo>
                  <a:pt x="7100571" y="0"/>
                </a:lnTo>
                <a:cubicBezTo>
                  <a:pt x="7124337" y="0"/>
                  <a:pt x="7143603" y="19266"/>
                  <a:pt x="7143603" y="43032"/>
                </a:cubicBezTo>
                <a:lnTo>
                  <a:pt x="7143603" y="473373"/>
                </a:lnTo>
                <a:cubicBezTo>
                  <a:pt x="7143603" y="497139"/>
                  <a:pt x="7124337" y="516405"/>
                  <a:pt x="7100571" y="516405"/>
                </a:cubicBezTo>
                <a:lnTo>
                  <a:pt x="43032" y="516405"/>
                </a:lnTo>
                <a:cubicBezTo>
                  <a:pt x="19282" y="516405"/>
                  <a:pt x="0" y="497123"/>
                  <a:pt x="0" y="473373"/>
                </a:cubicBezTo>
                <a:lnTo>
                  <a:pt x="0" y="43032"/>
                </a:lnTo>
                <a:cubicBezTo>
                  <a:pt x="0" y="19282"/>
                  <a:pt x="19282" y="0"/>
                  <a:pt x="4303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60675" y="7590078"/>
            <a:ext cx="703601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"metadata:language", t) → "en"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0675" y="7762213"/>
            <a:ext cx="7036019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("com.google.www", "metadata:charset", t) → "UTF-8"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14656" y="5825694"/>
            <a:ext cx="7401805" cy="2323823"/>
          </a:xfrm>
          <a:custGeom>
            <a:avLst/>
            <a:gdLst/>
            <a:ahLst/>
            <a:cxnLst/>
            <a:rect l="l" t="t" r="r" b="b"/>
            <a:pathLst>
              <a:path w="7401805" h="2323823">
                <a:moveTo>
                  <a:pt x="86074" y="0"/>
                </a:moveTo>
                <a:lnTo>
                  <a:pt x="7315731" y="0"/>
                </a:lnTo>
                <a:cubicBezTo>
                  <a:pt x="7363269" y="0"/>
                  <a:pt x="7401805" y="38537"/>
                  <a:pt x="7401805" y="86074"/>
                </a:cubicBezTo>
                <a:lnTo>
                  <a:pt x="7401805" y="2237748"/>
                </a:lnTo>
                <a:cubicBezTo>
                  <a:pt x="7401805" y="2285286"/>
                  <a:pt x="7363269" y="2323823"/>
                  <a:pt x="7315731" y="2323823"/>
                </a:cubicBezTo>
                <a:lnTo>
                  <a:pt x="86074" y="2323823"/>
                </a:lnTo>
                <a:cubicBezTo>
                  <a:pt x="38537" y="2323823"/>
                  <a:pt x="0" y="2285286"/>
                  <a:pt x="0" y="2237748"/>
                </a:cubicBezTo>
                <a:lnTo>
                  <a:pt x="0" y="86074"/>
                </a:lnTo>
                <a:cubicBezTo>
                  <a:pt x="0" y="38569"/>
                  <a:pt x="38569" y="0"/>
                  <a:pt x="8607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343757" y="5954795"/>
            <a:ext cx="7229670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有序性层级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43757" y="6299066"/>
            <a:ext cx="236686" cy="301236"/>
          </a:xfrm>
          <a:custGeom>
            <a:avLst/>
            <a:gdLst/>
            <a:ahLst/>
            <a:cxnLst/>
            <a:rect l="l" t="t" r="r" b="b"/>
            <a:pathLst>
              <a:path w="236686" h="301236">
                <a:moveTo>
                  <a:pt x="43034" y="0"/>
                </a:moveTo>
                <a:lnTo>
                  <a:pt x="193651" y="0"/>
                </a:lnTo>
                <a:cubicBezTo>
                  <a:pt x="217403" y="0"/>
                  <a:pt x="236686" y="19283"/>
                  <a:pt x="236686" y="43034"/>
                </a:cubicBezTo>
                <a:lnTo>
                  <a:pt x="236686" y="258202"/>
                </a:lnTo>
                <a:cubicBezTo>
                  <a:pt x="236686" y="281969"/>
                  <a:pt x="217419" y="301236"/>
                  <a:pt x="193651" y="301236"/>
                </a:cubicBezTo>
                <a:lnTo>
                  <a:pt x="43034" y="301236"/>
                </a:lnTo>
                <a:cubicBezTo>
                  <a:pt x="19267" y="301236"/>
                  <a:pt x="0" y="281969"/>
                  <a:pt x="0" y="258202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343757" y="6299066"/>
            <a:ext cx="311995" cy="301236"/>
          </a:xfrm>
          <a:prstGeom prst="rect">
            <a:avLst/>
          </a:prstGeom>
          <a:noFill/>
          <a:ln/>
        </p:spPr>
        <p:txBody>
          <a:bodyPr wrap="square" lIns="86068" tIns="43034" rIns="86068" bIns="43034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61215" y="6299066"/>
            <a:ext cx="84991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行键字典序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61215" y="6514234"/>
            <a:ext cx="839158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优化范围查询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43757" y="6772437"/>
            <a:ext cx="258203" cy="301236"/>
          </a:xfrm>
          <a:custGeom>
            <a:avLst/>
            <a:gdLst/>
            <a:ahLst/>
            <a:cxnLst/>
            <a:rect l="l" t="t" r="r" b="b"/>
            <a:pathLst>
              <a:path w="258203" h="301236">
                <a:moveTo>
                  <a:pt x="43035" y="0"/>
                </a:moveTo>
                <a:lnTo>
                  <a:pt x="215168" y="0"/>
                </a:lnTo>
                <a:cubicBezTo>
                  <a:pt x="238935" y="0"/>
                  <a:pt x="258203" y="19267"/>
                  <a:pt x="258203" y="43035"/>
                </a:cubicBezTo>
                <a:lnTo>
                  <a:pt x="258203" y="258202"/>
                </a:lnTo>
                <a:cubicBezTo>
                  <a:pt x="258203" y="281969"/>
                  <a:pt x="238935" y="301236"/>
                  <a:pt x="215168" y="301236"/>
                </a:cubicBezTo>
                <a:lnTo>
                  <a:pt x="43035" y="301236"/>
                </a:lnTo>
                <a:cubicBezTo>
                  <a:pt x="19267" y="301236"/>
                  <a:pt x="0" y="281969"/>
                  <a:pt x="0" y="258202"/>
                </a:cubicBezTo>
                <a:lnTo>
                  <a:pt x="0" y="43035"/>
                </a:lnTo>
                <a:cubicBezTo>
                  <a:pt x="0" y="19283"/>
                  <a:pt x="19283" y="0"/>
                  <a:pt x="4303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343757" y="6772437"/>
            <a:ext cx="333512" cy="301236"/>
          </a:xfrm>
          <a:prstGeom prst="rect">
            <a:avLst/>
          </a:prstGeom>
          <a:noFill/>
          <a:ln/>
        </p:spPr>
        <p:txBody>
          <a:bodyPr wrap="square" lIns="86068" tIns="43034" rIns="86068" bIns="43034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86682" y="6772437"/>
            <a:ext cx="84991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列族内排序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86682" y="6987606"/>
            <a:ext cx="839158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优化批量读取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43757" y="7245808"/>
            <a:ext cx="258203" cy="301236"/>
          </a:xfrm>
          <a:custGeom>
            <a:avLst/>
            <a:gdLst/>
            <a:ahLst/>
            <a:cxnLst/>
            <a:rect l="l" t="t" r="r" b="b"/>
            <a:pathLst>
              <a:path w="258203" h="301236">
                <a:moveTo>
                  <a:pt x="43035" y="0"/>
                </a:moveTo>
                <a:lnTo>
                  <a:pt x="215168" y="0"/>
                </a:lnTo>
                <a:cubicBezTo>
                  <a:pt x="238935" y="0"/>
                  <a:pt x="258203" y="19267"/>
                  <a:pt x="258203" y="43035"/>
                </a:cubicBezTo>
                <a:lnTo>
                  <a:pt x="258203" y="258202"/>
                </a:lnTo>
                <a:cubicBezTo>
                  <a:pt x="258203" y="281969"/>
                  <a:pt x="238935" y="301236"/>
                  <a:pt x="215168" y="301236"/>
                </a:cubicBezTo>
                <a:lnTo>
                  <a:pt x="43035" y="301236"/>
                </a:lnTo>
                <a:cubicBezTo>
                  <a:pt x="19267" y="301236"/>
                  <a:pt x="0" y="281969"/>
                  <a:pt x="0" y="258202"/>
                </a:cubicBezTo>
                <a:lnTo>
                  <a:pt x="0" y="43035"/>
                </a:lnTo>
                <a:cubicBezTo>
                  <a:pt x="0" y="19283"/>
                  <a:pt x="19283" y="0"/>
                  <a:pt x="4303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8343757" y="7245808"/>
            <a:ext cx="333512" cy="301236"/>
          </a:xfrm>
          <a:prstGeom prst="rect">
            <a:avLst/>
          </a:prstGeom>
          <a:noFill/>
          <a:ln/>
        </p:spPr>
        <p:txBody>
          <a:bodyPr wrap="square" lIns="86068" tIns="43034" rIns="86068" bIns="43034" rtlCol="0" anchor="ctr"/>
          <a:lstStyle/>
          <a:p>
            <a:pPr>
              <a:lnSpc>
                <a:spcPct val="120000"/>
              </a:lnSpc>
            </a:pPr>
            <a:r>
              <a:rPr lang="en-US" sz="1186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90549" y="7245808"/>
            <a:ext cx="849917" cy="21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时间戳降序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690549" y="7460977"/>
            <a:ext cx="839158" cy="17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最新数据优先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67023" y="8278618"/>
            <a:ext cx="14943471" cy="516405"/>
          </a:xfrm>
          <a:custGeom>
            <a:avLst/>
            <a:gdLst/>
            <a:ahLst/>
            <a:cxnLst/>
            <a:rect l="l" t="t" r="r" b="b"/>
            <a:pathLst>
              <a:path w="14943471" h="516405">
                <a:moveTo>
                  <a:pt x="43034" y="0"/>
                </a:moveTo>
                <a:lnTo>
                  <a:pt x="14857401" y="0"/>
                </a:lnTo>
                <a:cubicBezTo>
                  <a:pt x="14904936" y="0"/>
                  <a:pt x="14943471" y="38535"/>
                  <a:pt x="14943471" y="86069"/>
                </a:cubicBezTo>
                <a:lnTo>
                  <a:pt x="14943471" y="430336"/>
                </a:lnTo>
                <a:cubicBezTo>
                  <a:pt x="14943471" y="477871"/>
                  <a:pt x="14904936" y="516405"/>
                  <a:pt x="14857401" y="516405"/>
                </a:cubicBezTo>
                <a:lnTo>
                  <a:pt x="43034" y="516405"/>
                </a:lnTo>
                <a:cubicBezTo>
                  <a:pt x="19267" y="516405"/>
                  <a:pt x="0" y="497138"/>
                  <a:pt x="0" y="473371"/>
                </a:cubicBezTo>
                <a:lnTo>
                  <a:pt x="0" y="43034"/>
                </a:lnTo>
                <a:cubicBezTo>
                  <a:pt x="0" y="19267"/>
                  <a:pt x="19267" y="0"/>
                  <a:pt x="43034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667023" y="8278618"/>
            <a:ext cx="43034" cy="516405"/>
          </a:xfrm>
          <a:custGeom>
            <a:avLst/>
            <a:gdLst/>
            <a:ahLst/>
            <a:cxnLst/>
            <a:rect l="l" t="t" r="r" b="b"/>
            <a:pathLst>
              <a:path w="43034" h="516405">
                <a:moveTo>
                  <a:pt x="43034" y="0"/>
                </a:moveTo>
                <a:lnTo>
                  <a:pt x="43034" y="0"/>
                </a:lnTo>
                <a:lnTo>
                  <a:pt x="43034" y="516405"/>
                </a:lnTo>
                <a:lnTo>
                  <a:pt x="43034" y="516405"/>
                </a:lnTo>
                <a:cubicBezTo>
                  <a:pt x="19267" y="516405"/>
                  <a:pt x="0" y="497138"/>
                  <a:pt x="0" y="473371"/>
                </a:cubicBezTo>
                <a:lnTo>
                  <a:pt x="0" y="43034"/>
                </a:lnTo>
                <a:cubicBezTo>
                  <a:pt x="0" y="19283"/>
                  <a:pt x="19283" y="0"/>
                  <a:pt x="4303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860675" y="8456132"/>
            <a:ext cx="129101" cy="172135"/>
          </a:xfrm>
          <a:custGeom>
            <a:avLst/>
            <a:gdLst/>
            <a:ahLst/>
            <a:cxnLst/>
            <a:rect l="l" t="t" r="r" b="b"/>
            <a:pathLst>
              <a:path w="129101" h="172135">
                <a:moveTo>
                  <a:pt x="98473" y="129101"/>
                </a:moveTo>
                <a:cubicBezTo>
                  <a:pt x="100928" y="121604"/>
                  <a:pt x="105836" y="114813"/>
                  <a:pt x="111383" y="108963"/>
                </a:cubicBezTo>
                <a:cubicBezTo>
                  <a:pt x="122377" y="97397"/>
                  <a:pt x="129101" y="81764"/>
                  <a:pt x="129101" y="64551"/>
                </a:cubicBezTo>
                <a:cubicBezTo>
                  <a:pt x="129101" y="28913"/>
                  <a:pt x="100188" y="0"/>
                  <a:pt x="64551" y="0"/>
                </a:cubicBezTo>
                <a:cubicBezTo>
                  <a:pt x="28913" y="0"/>
                  <a:pt x="0" y="28913"/>
                  <a:pt x="0" y="64551"/>
                </a:cubicBezTo>
                <a:cubicBezTo>
                  <a:pt x="0" y="81764"/>
                  <a:pt x="6724" y="97397"/>
                  <a:pt x="17718" y="108963"/>
                </a:cubicBezTo>
                <a:cubicBezTo>
                  <a:pt x="23265" y="114813"/>
                  <a:pt x="28207" y="121604"/>
                  <a:pt x="30628" y="129101"/>
                </a:cubicBezTo>
                <a:lnTo>
                  <a:pt x="98440" y="129101"/>
                </a:lnTo>
                <a:close/>
                <a:moveTo>
                  <a:pt x="96826" y="145239"/>
                </a:moveTo>
                <a:lnTo>
                  <a:pt x="32275" y="145239"/>
                </a:lnTo>
                <a:lnTo>
                  <a:pt x="32275" y="150618"/>
                </a:lnTo>
                <a:cubicBezTo>
                  <a:pt x="32275" y="165478"/>
                  <a:pt x="44311" y="177514"/>
                  <a:pt x="59171" y="177514"/>
                </a:cubicBezTo>
                <a:lnTo>
                  <a:pt x="69930" y="177514"/>
                </a:lnTo>
                <a:cubicBezTo>
                  <a:pt x="84790" y="177514"/>
                  <a:pt x="96826" y="165478"/>
                  <a:pt x="96826" y="150618"/>
                </a:cubicBezTo>
                <a:lnTo>
                  <a:pt x="96826" y="145239"/>
                </a:lnTo>
                <a:close/>
                <a:moveTo>
                  <a:pt x="61861" y="37655"/>
                </a:moveTo>
                <a:cubicBezTo>
                  <a:pt x="48480" y="37655"/>
                  <a:pt x="37655" y="48480"/>
                  <a:pt x="37655" y="61861"/>
                </a:cubicBezTo>
                <a:cubicBezTo>
                  <a:pt x="37655" y="66332"/>
                  <a:pt x="34057" y="69930"/>
                  <a:pt x="29586" y="69930"/>
                </a:cubicBezTo>
                <a:cubicBezTo>
                  <a:pt x="25114" y="69930"/>
                  <a:pt x="21517" y="66332"/>
                  <a:pt x="21517" y="61861"/>
                </a:cubicBezTo>
                <a:cubicBezTo>
                  <a:pt x="21517" y="39571"/>
                  <a:pt x="39571" y="21517"/>
                  <a:pt x="61861" y="21517"/>
                </a:cubicBezTo>
                <a:cubicBezTo>
                  <a:pt x="66332" y="21517"/>
                  <a:pt x="69930" y="25114"/>
                  <a:pt x="69930" y="29586"/>
                </a:cubicBezTo>
                <a:cubicBezTo>
                  <a:pt x="69930" y="34057"/>
                  <a:pt x="66332" y="37655"/>
                  <a:pt x="61861" y="3765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105720" y="8407719"/>
            <a:ext cx="14461740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设计价值:</a:t>
            </a:r>
            <a:r>
              <a:rPr lang="en-US" sz="13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三大特性共同构成了Bigtable在大规模数据存储中的独特优势,完美匹配互联网应用场景需求。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08000"/>
            <a:ext cx="425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与关系数据库的全面对比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270000"/>
            <a:ext cx="15240000" cy="7366000"/>
          </a:xfrm>
          <a:custGeom>
            <a:avLst/>
            <a:gdLst/>
            <a:ahLst/>
            <a:cxnLst/>
            <a:rect l="l" t="t" r="r" b="b"/>
            <a:pathLst>
              <a:path w="15240000" h="7366000">
                <a:moveTo>
                  <a:pt x="152403" y="0"/>
                </a:moveTo>
                <a:lnTo>
                  <a:pt x="15087597" y="0"/>
                </a:lnTo>
                <a:cubicBezTo>
                  <a:pt x="15171767" y="0"/>
                  <a:pt x="15240000" y="68233"/>
                  <a:pt x="15240000" y="152403"/>
                </a:cubicBezTo>
                <a:lnTo>
                  <a:pt x="15240000" y="7213597"/>
                </a:lnTo>
                <a:cubicBezTo>
                  <a:pt x="15240000" y="7297767"/>
                  <a:pt x="15171767" y="7366000"/>
                  <a:pt x="15087597" y="7366000"/>
                </a:cubicBezTo>
                <a:lnTo>
                  <a:pt x="152403" y="7366000"/>
                </a:lnTo>
                <a:cubicBezTo>
                  <a:pt x="68233" y="7366000"/>
                  <a:pt x="0" y="7297767"/>
                  <a:pt x="0" y="72135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1200" y="1473200"/>
            <a:ext cx="149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Bigtable的数据模型设计针对大规模半结构化数据存储场景,与关系数据库有着根本性差异: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1930400"/>
          <a:ext cx="14833600" cy="4229100"/>
        </p:xfrm>
        <a:graphic>
          <a:graphicData uri="http://schemas.openxmlformats.org/drawingml/2006/table">
            <a:tbl>
              <a:tblPr/>
              <a:tblGrid>
                <a:gridCol w="1662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7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关系数据库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设计原理差异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数据模型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固定表结构,预定义schema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灵活列族结构,动态列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Bigtable针对半结构化数据;关系数据库强调数据完整性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垂直扩展为主,有限水平扩展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水平线性扩展,支持PB级数据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Bigtable设计初衷是海量数据;关系数据库服务于事务处理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一致性模型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强一致性(ACID事务)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最终一致性,支持单行事务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Bigtable在一致性上妥协换取可用性和扩展性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查询能力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丰富SQL查询,复杂联接操作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简单API(Get/Put/Scan/Delete)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Bigtable优化大规模扫描,牺牲复杂查询能力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事务处理,复杂业务逻辑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海量数据存储,日志处理,时序数据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设计目标不同:OLTP vs 海量数据存储分析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存储效率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固定列存储,NULL值占空间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稀疏存储,不存在列不占空间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Bigtable稀疏性设计极大优化存储效率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模式变更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需要DDL操作,可能锁表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动态添加列,无需预定义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Bigtable支持运行时模式演进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数据局部性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基于索引的随机访问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基于行键排序的顺序访问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Bigtable利用字典序优化范围查询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6600" y="9042400"/>
            <a:ext cx="14808200" cy="609600"/>
          </a:xfrm>
          <a:custGeom>
            <a:avLst/>
            <a:gdLst/>
            <a:ahLst/>
            <a:cxnLst/>
            <a:rect l="l" t="t" r="r" b="b"/>
            <a:pathLst>
              <a:path w="14808200" h="609600">
                <a:moveTo>
                  <a:pt x="50800" y="0"/>
                </a:moveTo>
                <a:lnTo>
                  <a:pt x="14706598" y="0"/>
                </a:lnTo>
                <a:cubicBezTo>
                  <a:pt x="14762711" y="0"/>
                  <a:pt x="14808200" y="45489"/>
                  <a:pt x="14808200" y="101602"/>
                </a:cubicBezTo>
                <a:lnTo>
                  <a:pt x="14808200" y="507998"/>
                </a:lnTo>
                <a:cubicBezTo>
                  <a:pt x="14808200" y="564111"/>
                  <a:pt x="14762711" y="609600"/>
                  <a:pt x="14706598" y="609600"/>
                </a:cubicBezTo>
                <a:lnTo>
                  <a:pt x="50800" y="609600"/>
                </a:lnTo>
                <a:cubicBezTo>
                  <a:pt x="22744" y="609600"/>
                  <a:pt x="0" y="586856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36600" y="9042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5080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50800" y="609600"/>
                </a:lnTo>
                <a:cubicBezTo>
                  <a:pt x="22763" y="609600"/>
                  <a:pt x="0" y="586837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939800" y="92519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70000" y="91948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技术选型建议: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根据业务需求选择合适存储系统。需要事务处理选关系数据库,需要海量数据存储和高速写入选Bigtable/HBase。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7412e471bcf2acaf28d258e9a62fd0feac45ac4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78" r="17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58682" y="27686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571497"/>
                </a:lnTo>
                <a:cubicBezTo>
                  <a:pt x="2743200" y="655667"/>
                  <a:pt x="2674967" y="723900"/>
                  <a:pt x="25907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93632" y="2927350"/>
            <a:ext cx="227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4780" y="3905250"/>
            <a:ext cx="485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18200" y="5124450"/>
            <a:ext cx="441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分层架构与核心组件的职责分工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818" y="508000"/>
            <a:ext cx="46182" cy="369455"/>
          </a:xfrm>
          <a:custGeom>
            <a:avLst/>
            <a:gdLst/>
            <a:ahLst/>
            <a:cxnLst/>
            <a:rect l="l" t="t" r="r" b="b"/>
            <a:pathLst>
              <a:path w="46182" h="369455">
                <a:moveTo>
                  <a:pt x="0" y="0"/>
                </a:moveTo>
                <a:lnTo>
                  <a:pt x="46182" y="0"/>
                </a:lnTo>
                <a:lnTo>
                  <a:pt x="46182" y="369455"/>
                </a:lnTo>
                <a:lnTo>
                  <a:pt x="0" y="369455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6545" y="461818"/>
            <a:ext cx="3198091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7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整体架构与核心组件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909" y="1246909"/>
            <a:ext cx="7550727" cy="5449455"/>
          </a:xfrm>
          <a:custGeom>
            <a:avLst/>
            <a:gdLst/>
            <a:ahLst/>
            <a:cxnLst/>
            <a:rect l="l" t="t" r="r" b="b"/>
            <a:pathLst>
              <a:path w="7550727" h="5449455">
                <a:moveTo>
                  <a:pt x="46182" y="0"/>
                </a:moveTo>
                <a:lnTo>
                  <a:pt x="7412202" y="0"/>
                </a:lnTo>
                <a:cubicBezTo>
                  <a:pt x="7488707" y="0"/>
                  <a:pt x="7550727" y="62020"/>
                  <a:pt x="7550727" y="138525"/>
                </a:cubicBezTo>
                <a:lnTo>
                  <a:pt x="7550727" y="5310929"/>
                </a:lnTo>
                <a:cubicBezTo>
                  <a:pt x="7550727" y="5387435"/>
                  <a:pt x="7488707" y="5449455"/>
                  <a:pt x="7412202" y="5449455"/>
                </a:cubicBezTo>
                <a:lnTo>
                  <a:pt x="46182" y="5449455"/>
                </a:lnTo>
                <a:cubicBezTo>
                  <a:pt x="20676" y="5449455"/>
                  <a:pt x="0" y="5428778"/>
                  <a:pt x="0" y="5403273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84909" y="1246909"/>
            <a:ext cx="46182" cy="5449455"/>
          </a:xfrm>
          <a:custGeom>
            <a:avLst/>
            <a:gdLst/>
            <a:ahLst/>
            <a:cxnLst/>
            <a:rect l="l" t="t" r="r" b="b"/>
            <a:pathLst>
              <a:path w="46182" h="5449455">
                <a:moveTo>
                  <a:pt x="46182" y="0"/>
                </a:moveTo>
                <a:lnTo>
                  <a:pt x="46182" y="0"/>
                </a:lnTo>
                <a:lnTo>
                  <a:pt x="46182" y="5449455"/>
                </a:lnTo>
                <a:lnTo>
                  <a:pt x="46182" y="5449455"/>
                </a:lnTo>
                <a:cubicBezTo>
                  <a:pt x="20676" y="5449455"/>
                  <a:pt x="0" y="5428778"/>
                  <a:pt x="0" y="5403273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8909" y="1477818"/>
            <a:ext cx="7181273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五层架构设计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8909" y="1939636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77455" y="2078182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客户端层 (Client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455" y="2401455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应用程序集成、客户端库、Tablet位置缓存、三级索引定位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8909" y="2863273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7455" y="3001818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Tablet服务器层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455" y="3325091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Tablet分片、MemTable内存管理、SSTable磁盘存储、行级原子操作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8909" y="3786909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7455" y="3925455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Master服务器层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455" y="4248727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高可用主备、元数据管理、负载均衡、故障恢复、资源清理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909" y="4710545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7455" y="4849091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Chubby协调服务层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455" y="5172364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Leader选举、服务注册、元数据存储、分布式锁、租约机制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909" y="5634182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7455" y="5772727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GFS持久化存储层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455" y="6096000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SSTable三副本、WAL日志、故障恢复、定期Compaction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3455" y="1246909"/>
            <a:ext cx="7550727" cy="5449455"/>
          </a:xfrm>
          <a:custGeom>
            <a:avLst/>
            <a:gdLst/>
            <a:ahLst/>
            <a:cxnLst/>
            <a:rect l="l" t="t" r="r" b="b"/>
            <a:pathLst>
              <a:path w="7550727" h="5449455">
                <a:moveTo>
                  <a:pt x="46182" y="0"/>
                </a:moveTo>
                <a:lnTo>
                  <a:pt x="7412202" y="0"/>
                </a:lnTo>
                <a:cubicBezTo>
                  <a:pt x="7488707" y="0"/>
                  <a:pt x="7550727" y="62020"/>
                  <a:pt x="7550727" y="138525"/>
                </a:cubicBezTo>
                <a:lnTo>
                  <a:pt x="7550727" y="5310929"/>
                </a:lnTo>
                <a:cubicBezTo>
                  <a:pt x="7550727" y="5387435"/>
                  <a:pt x="7488707" y="5449455"/>
                  <a:pt x="7412202" y="5449455"/>
                </a:cubicBezTo>
                <a:lnTo>
                  <a:pt x="46182" y="5449455"/>
                </a:lnTo>
                <a:cubicBezTo>
                  <a:pt x="20676" y="5449455"/>
                  <a:pt x="0" y="5428778"/>
                  <a:pt x="0" y="5403273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43455" y="1246909"/>
            <a:ext cx="46182" cy="5449455"/>
          </a:xfrm>
          <a:custGeom>
            <a:avLst/>
            <a:gdLst/>
            <a:ahLst/>
            <a:cxnLst/>
            <a:rect l="l" t="t" r="r" b="b"/>
            <a:pathLst>
              <a:path w="46182" h="5449455">
                <a:moveTo>
                  <a:pt x="46182" y="0"/>
                </a:moveTo>
                <a:lnTo>
                  <a:pt x="46182" y="0"/>
                </a:lnTo>
                <a:lnTo>
                  <a:pt x="46182" y="5449455"/>
                </a:lnTo>
                <a:lnTo>
                  <a:pt x="46182" y="5449455"/>
                </a:lnTo>
                <a:cubicBezTo>
                  <a:pt x="20676" y="5449455"/>
                  <a:pt x="0" y="5428778"/>
                  <a:pt x="0" y="5403273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497455" y="1477818"/>
            <a:ext cx="7181273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关键设计理念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97455" y="1939636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36000" y="2078182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水平扩展性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2401455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通过增加Tablet服务器实现存储容量线性扩展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97455" y="2863273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36000" y="3001818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高可用保障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3325091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Master主备选举+Tablet自动迁移确保服务连续性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97455" y="3786909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36000" y="3925455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一致性权衡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6000" y="4248727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提供行级原子性但牺牲跨行事务,平衡一致性与性能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97455" y="4710545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36000" y="4849091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性能优化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6000" y="5172364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LSM-tree高吞吐写入+客户端缓存+Bloom filter优化读取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97455" y="5634182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92363" y="0"/>
                </a:moveTo>
                <a:lnTo>
                  <a:pt x="6973455" y="0"/>
                </a:lnTo>
                <a:cubicBezTo>
                  <a:pt x="7024466" y="0"/>
                  <a:pt x="7065818" y="41352"/>
                  <a:pt x="7065818" y="92363"/>
                </a:cubicBezTo>
                <a:lnTo>
                  <a:pt x="7065818" y="738910"/>
                </a:lnTo>
                <a:cubicBezTo>
                  <a:pt x="7065818" y="789921"/>
                  <a:pt x="7024466" y="831273"/>
                  <a:pt x="6973455" y="831273"/>
                </a:cubicBezTo>
                <a:lnTo>
                  <a:pt x="92363" y="831273"/>
                </a:lnTo>
                <a:cubicBezTo>
                  <a:pt x="41352" y="831273"/>
                  <a:pt x="0" y="789921"/>
                  <a:pt x="0" y="738910"/>
                </a:cubicBezTo>
                <a:lnTo>
                  <a:pt x="0" y="92363"/>
                </a:lnTo>
                <a:cubicBezTo>
                  <a:pt x="0" y="41386"/>
                  <a:pt x="41386" y="0"/>
                  <a:pt x="923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36000" y="5772727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容错机制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6000" y="6096000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GFS三副本复制+WAL日志确保数据持久性和故障恢复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43455" y="6834909"/>
            <a:ext cx="7550727" cy="2196796"/>
          </a:xfrm>
          <a:custGeom>
            <a:avLst/>
            <a:gdLst/>
            <a:ahLst/>
            <a:cxnLst/>
            <a:rect l="l" t="t" r="r" b="b"/>
            <a:pathLst>
              <a:path w="7550727" h="2759364">
                <a:moveTo>
                  <a:pt x="46182" y="0"/>
                </a:moveTo>
                <a:lnTo>
                  <a:pt x="7412180" y="0"/>
                </a:lnTo>
                <a:cubicBezTo>
                  <a:pt x="7488697" y="0"/>
                  <a:pt x="7550727" y="62030"/>
                  <a:pt x="7550727" y="138548"/>
                </a:cubicBezTo>
                <a:lnTo>
                  <a:pt x="7550727" y="2620816"/>
                </a:lnTo>
                <a:cubicBezTo>
                  <a:pt x="7550727" y="2697334"/>
                  <a:pt x="7488697" y="2759364"/>
                  <a:pt x="7412180" y="2759364"/>
                </a:cubicBezTo>
                <a:lnTo>
                  <a:pt x="46182" y="2759364"/>
                </a:lnTo>
                <a:cubicBezTo>
                  <a:pt x="20676" y="2759364"/>
                  <a:pt x="0" y="2738687"/>
                  <a:pt x="0" y="2713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243455" y="6834909"/>
            <a:ext cx="46182" cy="2160000"/>
          </a:xfrm>
          <a:custGeom>
            <a:avLst/>
            <a:gdLst/>
            <a:ahLst/>
            <a:cxnLst/>
            <a:rect l="l" t="t" r="r" b="b"/>
            <a:pathLst>
              <a:path w="46182" h="2759364">
                <a:moveTo>
                  <a:pt x="46182" y="0"/>
                </a:moveTo>
                <a:lnTo>
                  <a:pt x="46182" y="0"/>
                </a:lnTo>
                <a:lnTo>
                  <a:pt x="46182" y="2759364"/>
                </a:lnTo>
                <a:lnTo>
                  <a:pt x="46182" y="2759364"/>
                </a:lnTo>
                <a:cubicBezTo>
                  <a:pt x="20676" y="2759364"/>
                  <a:pt x="0" y="2738687"/>
                  <a:pt x="0" y="2713182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497455" y="7065818"/>
            <a:ext cx="7181273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架构设计权衡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97455" y="7527636"/>
            <a:ext cx="71581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去中心化控制:</a:t>
            </a:r>
            <a:r>
              <a:rPr lang="en-US" sz="14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Tablet服务器自主处理数据请求,Master专注元数据管理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97455" y="7897091"/>
            <a:ext cx="71581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内存磁盘平衡:</a:t>
            </a:r>
            <a:r>
              <a:rPr lang="en-US" sz="14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MemTable提供内存写入速度,SSTable确保磁盘持久化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97455" y="8266545"/>
            <a:ext cx="71581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扩展性优先:</a:t>
            </a:r>
            <a:r>
              <a:rPr lang="en-US" sz="14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牺牲强一致性事务,专注海量数据水平扩展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97455" y="8636000"/>
            <a:ext cx="71581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智能缓存策略:</a:t>
            </a:r>
            <a:r>
              <a:rPr lang="en-US" sz="14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客户端缓存位置信息,服务器端缓存热点数据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08000"/>
            <a:ext cx="572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Master服务器与Tablet服务器详解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71600"/>
            <a:ext cx="7493000" cy="7264400"/>
          </a:xfrm>
          <a:custGeom>
            <a:avLst/>
            <a:gdLst/>
            <a:ahLst/>
            <a:cxnLst/>
            <a:rect l="l" t="t" r="r" b="b"/>
            <a:pathLst>
              <a:path w="7493000" h="7264400">
                <a:moveTo>
                  <a:pt x="50800" y="0"/>
                </a:moveTo>
                <a:lnTo>
                  <a:pt x="7340593" y="0"/>
                </a:lnTo>
                <a:cubicBezTo>
                  <a:pt x="7424765" y="0"/>
                  <a:pt x="7493000" y="68235"/>
                  <a:pt x="7493000" y="152407"/>
                </a:cubicBezTo>
                <a:lnTo>
                  <a:pt x="7493000" y="7111993"/>
                </a:lnTo>
                <a:cubicBezTo>
                  <a:pt x="7493000" y="7196165"/>
                  <a:pt x="7424765" y="7264400"/>
                  <a:pt x="7340593" y="7264400"/>
                </a:cubicBezTo>
                <a:lnTo>
                  <a:pt x="50800" y="7264400"/>
                </a:lnTo>
                <a:cubicBezTo>
                  <a:pt x="22763" y="7264400"/>
                  <a:pt x="0" y="7241637"/>
                  <a:pt x="0" y="721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71600"/>
            <a:ext cx="50800" cy="7264400"/>
          </a:xfrm>
          <a:custGeom>
            <a:avLst/>
            <a:gdLst/>
            <a:ahLst/>
            <a:cxnLst/>
            <a:rect l="l" t="t" r="r" b="b"/>
            <a:pathLst>
              <a:path w="50800" h="7264400">
                <a:moveTo>
                  <a:pt x="50800" y="0"/>
                </a:moveTo>
                <a:lnTo>
                  <a:pt x="50800" y="0"/>
                </a:lnTo>
                <a:lnTo>
                  <a:pt x="50800" y="7264400"/>
                </a:lnTo>
                <a:lnTo>
                  <a:pt x="50800" y="7264400"/>
                </a:lnTo>
                <a:cubicBezTo>
                  <a:pt x="22763" y="7264400"/>
                  <a:pt x="0" y="7241637"/>
                  <a:pt x="0" y="721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0425" y="1676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30300" y="162560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Master服务器:轻量级集中管理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133600"/>
            <a:ext cx="6959600" cy="1574800"/>
          </a:xfrm>
          <a:custGeom>
            <a:avLst/>
            <a:gdLst/>
            <a:ahLst/>
            <a:cxnLst/>
            <a:rect l="l" t="t" r="r" b="b"/>
            <a:pathLst>
              <a:path w="6959600" h="1574800">
                <a:moveTo>
                  <a:pt x="101606" y="0"/>
                </a:moveTo>
                <a:lnTo>
                  <a:pt x="6857994" y="0"/>
                </a:lnTo>
                <a:cubicBezTo>
                  <a:pt x="6914109" y="0"/>
                  <a:pt x="6959600" y="45491"/>
                  <a:pt x="6959600" y="101606"/>
                </a:cubicBezTo>
                <a:lnTo>
                  <a:pt x="6959600" y="1473194"/>
                </a:lnTo>
                <a:cubicBezTo>
                  <a:pt x="6959600" y="1529309"/>
                  <a:pt x="6914109" y="1574800"/>
                  <a:pt x="6857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5200" y="22860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200" y="2692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单一活跃实例: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通过Chubby选举确保一个Master处理管理任务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2997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无状态设计: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所有元数据存储在Chubby和GFS中,支持快速故障恢复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3302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最小化干预: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Tablet服务器自主处理请求,减少与Master交互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3860800"/>
            <a:ext cx="6959600" cy="1879600"/>
          </a:xfrm>
          <a:custGeom>
            <a:avLst/>
            <a:gdLst/>
            <a:ahLst/>
            <a:cxnLst/>
            <a:rect l="l" t="t" r="r" b="b"/>
            <a:pathLst>
              <a:path w="6959600" h="1879600">
                <a:moveTo>
                  <a:pt x="101592" y="0"/>
                </a:moveTo>
                <a:lnTo>
                  <a:pt x="6858008" y="0"/>
                </a:lnTo>
                <a:cubicBezTo>
                  <a:pt x="6914116" y="0"/>
                  <a:pt x="6959600" y="45484"/>
                  <a:pt x="6959600" y="101592"/>
                </a:cubicBezTo>
                <a:lnTo>
                  <a:pt x="6959600" y="1778008"/>
                </a:lnTo>
                <a:cubicBezTo>
                  <a:pt x="6959600" y="1834116"/>
                  <a:pt x="6914116" y="1879600"/>
                  <a:pt x="68580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5200" y="40132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44196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Tablet分配: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维护Tablet到Tablet Server映射,通过心跳监控健康状态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200" y="4724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基于CPU/内存/磁盘IO负载智能分配,检测并迁移热点Tablet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5029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检测服务器故障并协调重新分配Tablet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5334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资源清理: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删除未引用SSTable文件,清理孤儿文件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5892800"/>
            <a:ext cx="6959600" cy="1574800"/>
          </a:xfrm>
          <a:custGeom>
            <a:avLst/>
            <a:gdLst/>
            <a:ahLst/>
            <a:cxnLst/>
            <a:rect l="l" t="t" r="r" b="b"/>
            <a:pathLst>
              <a:path w="6959600" h="1574800">
                <a:moveTo>
                  <a:pt x="101606" y="0"/>
                </a:moveTo>
                <a:lnTo>
                  <a:pt x="6857994" y="0"/>
                </a:lnTo>
                <a:cubicBezTo>
                  <a:pt x="6914109" y="0"/>
                  <a:pt x="6959600" y="45491"/>
                  <a:pt x="6959600" y="101606"/>
                </a:cubicBezTo>
                <a:lnTo>
                  <a:pt x="6959600" y="1473194"/>
                </a:lnTo>
                <a:cubicBezTo>
                  <a:pt x="6959600" y="1529309"/>
                  <a:pt x="6914109" y="1574800"/>
                  <a:pt x="6857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5200" y="60452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高可用性保障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" y="64516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主备模式: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备用Master通过Chubby租约监控活跃Master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" y="6756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快速故障切换: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几秒内完成接管,确保服务连续性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" y="7061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操作安全性: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通过Chubby分布式锁确保原子性和一致性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55000" y="1371600"/>
            <a:ext cx="7493000" cy="7264400"/>
          </a:xfrm>
          <a:custGeom>
            <a:avLst/>
            <a:gdLst/>
            <a:ahLst/>
            <a:cxnLst/>
            <a:rect l="l" t="t" r="r" b="b"/>
            <a:pathLst>
              <a:path w="7493000" h="7264400">
                <a:moveTo>
                  <a:pt x="50800" y="0"/>
                </a:moveTo>
                <a:lnTo>
                  <a:pt x="7340593" y="0"/>
                </a:lnTo>
                <a:cubicBezTo>
                  <a:pt x="7424765" y="0"/>
                  <a:pt x="7493000" y="68235"/>
                  <a:pt x="7493000" y="152407"/>
                </a:cubicBezTo>
                <a:lnTo>
                  <a:pt x="7493000" y="7111993"/>
                </a:lnTo>
                <a:cubicBezTo>
                  <a:pt x="7493000" y="7196165"/>
                  <a:pt x="7424765" y="7264400"/>
                  <a:pt x="7340593" y="7264400"/>
                </a:cubicBezTo>
                <a:lnTo>
                  <a:pt x="50800" y="7264400"/>
                </a:lnTo>
                <a:cubicBezTo>
                  <a:pt x="22763" y="7264400"/>
                  <a:pt x="0" y="7241637"/>
                  <a:pt x="0" y="721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55000" y="1371600"/>
            <a:ext cx="50800" cy="7264400"/>
          </a:xfrm>
          <a:custGeom>
            <a:avLst/>
            <a:gdLst/>
            <a:ahLst/>
            <a:cxnLst/>
            <a:rect l="l" t="t" r="r" b="b"/>
            <a:pathLst>
              <a:path w="50800" h="7264400">
                <a:moveTo>
                  <a:pt x="50800" y="0"/>
                </a:moveTo>
                <a:lnTo>
                  <a:pt x="50800" y="0"/>
                </a:lnTo>
                <a:lnTo>
                  <a:pt x="50800" y="7264400"/>
                </a:lnTo>
                <a:lnTo>
                  <a:pt x="50800" y="7264400"/>
                </a:lnTo>
                <a:cubicBezTo>
                  <a:pt x="22763" y="7264400"/>
                  <a:pt x="0" y="7241637"/>
                  <a:pt x="0" y="721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582025" y="1676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51900" y="162560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Tablet服务器:自主数据处理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34400" y="2133600"/>
            <a:ext cx="6959600" cy="1574800"/>
          </a:xfrm>
          <a:custGeom>
            <a:avLst/>
            <a:gdLst/>
            <a:ahLst/>
            <a:cxnLst/>
            <a:rect l="l" t="t" r="r" b="b"/>
            <a:pathLst>
              <a:path w="6959600" h="1574800">
                <a:moveTo>
                  <a:pt x="101606" y="0"/>
                </a:moveTo>
                <a:lnTo>
                  <a:pt x="6857994" y="0"/>
                </a:lnTo>
                <a:cubicBezTo>
                  <a:pt x="6914109" y="0"/>
                  <a:pt x="6959600" y="45491"/>
                  <a:pt x="6959600" y="101606"/>
                </a:cubicBezTo>
                <a:lnTo>
                  <a:pt x="6959600" y="1473194"/>
                </a:lnTo>
                <a:cubicBezTo>
                  <a:pt x="6959600" y="1529309"/>
                  <a:pt x="6914109" y="1574800"/>
                  <a:pt x="6857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86800" y="22860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0" y="2692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数据自治: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自主处理数据请求,最大限度减少对Master依赖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0" y="2997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内存优化: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利用MemTable实现高速写入,通过Compaction优化读取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0" y="3302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本地性优先: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在存储对应数据的GFS chunkserver上部署,减少网络开销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34400" y="3860800"/>
            <a:ext cx="6959600" cy="1879600"/>
          </a:xfrm>
          <a:custGeom>
            <a:avLst/>
            <a:gdLst/>
            <a:ahLst/>
            <a:cxnLst/>
            <a:rect l="l" t="t" r="r" b="b"/>
            <a:pathLst>
              <a:path w="6959600" h="1879600">
                <a:moveTo>
                  <a:pt x="101592" y="0"/>
                </a:moveTo>
                <a:lnTo>
                  <a:pt x="6858008" y="0"/>
                </a:lnTo>
                <a:cubicBezTo>
                  <a:pt x="6914116" y="0"/>
                  <a:pt x="6959600" y="45484"/>
                  <a:pt x="6959600" y="101592"/>
                </a:cubicBezTo>
                <a:lnTo>
                  <a:pt x="6959600" y="1778008"/>
                </a:lnTo>
                <a:cubicBezTo>
                  <a:pt x="6959600" y="1834116"/>
                  <a:pt x="6914116" y="1879600"/>
                  <a:pt x="68580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86800" y="40132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6800" y="44196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处理客户端读写请求(Get/Put/Delete/Scan)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0" y="4724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维护MemTable(有序键值结构)用于快速写入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0" y="5029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磁盘存储: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管理SSTable不可变文件,定期执行Compaction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0" y="5334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访问控制: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基于Chubby实施访问控制确保数据安全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34400" y="5892800"/>
            <a:ext cx="6959600" cy="1879600"/>
          </a:xfrm>
          <a:custGeom>
            <a:avLst/>
            <a:gdLst/>
            <a:ahLst/>
            <a:cxnLst/>
            <a:rect l="l" t="t" r="r" b="b"/>
            <a:pathLst>
              <a:path w="6959600" h="1879600">
                <a:moveTo>
                  <a:pt x="101592" y="0"/>
                </a:moveTo>
                <a:lnTo>
                  <a:pt x="6858008" y="0"/>
                </a:lnTo>
                <a:cubicBezTo>
                  <a:pt x="6914116" y="0"/>
                  <a:pt x="6959600" y="45484"/>
                  <a:pt x="6959600" y="101592"/>
                </a:cubicBezTo>
                <a:lnTo>
                  <a:pt x="6959600" y="1778008"/>
                </a:lnTo>
                <a:cubicBezTo>
                  <a:pt x="6959600" y="1834116"/>
                  <a:pt x="6914116" y="1879600"/>
                  <a:pt x="68580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86800" y="60452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性能优化策略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6800" y="64516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批量处理: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合并多个小写入请求,减少磁盘IO次数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86800" y="6756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预取优化: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基于访问模式预测性加载可能访问的数据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86800" y="7061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智能压缩: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根据数据特性选择最优压缩算法(Snappy/Zlib)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6800" y="7366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资源隔离: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将重要应用的Tablet分配到专用资源池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2667" y="423333"/>
            <a:ext cx="42015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Tablet定位机制:三级索引架构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43001"/>
            <a:ext cx="7577667" cy="6223000"/>
          </a:xfrm>
          <a:custGeom>
            <a:avLst/>
            <a:gdLst/>
            <a:ahLst/>
            <a:cxnLst/>
            <a:rect l="l" t="t" r="r" b="b"/>
            <a:pathLst>
              <a:path w="7577667" h="9757833">
                <a:moveTo>
                  <a:pt x="42333" y="0"/>
                </a:moveTo>
                <a:lnTo>
                  <a:pt x="7450665" y="0"/>
                </a:lnTo>
                <a:cubicBezTo>
                  <a:pt x="7520806" y="0"/>
                  <a:pt x="7577667" y="56861"/>
                  <a:pt x="7577667" y="127002"/>
                </a:cubicBezTo>
                <a:lnTo>
                  <a:pt x="7577667" y="9630832"/>
                </a:lnTo>
                <a:cubicBezTo>
                  <a:pt x="7577667" y="9700973"/>
                  <a:pt x="7520806" y="9757833"/>
                  <a:pt x="7450665" y="9757833"/>
                </a:cubicBezTo>
                <a:lnTo>
                  <a:pt x="42333" y="9757833"/>
                </a:lnTo>
                <a:cubicBezTo>
                  <a:pt x="18953" y="9757833"/>
                  <a:pt x="0" y="9738880"/>
                  <a:pt x="0" y="9715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43002"/>
            <a:ext cx="42333" cy="6228000"/>
          </a:xfrm>
          <a:custGeom>
            <a:avLst/>
            <a:gdLst/>
            <a:ahLst/>
            <a:cxnLst/>
            <a:rect l="l" t="t" r="r" b="b"/>
            <a:pathLst>
              <a:path w="42333" h="9757833">
                <a:moveTo>
                  <a:pt x="42333" y="0"/>
                </a:moveTo>
                <a:lnTo>
                  <a:pt x="42333" y="0"/>
                </a:lnTo>
                <a:lnTo>
                  <a:pt x="42333" y="9757833"/>
                </a:lnTo>
                <a:lnTo>
                  <a:pt x="42333" y="9757833"/>
                </a:lnTo>
                <a:cubicBezTo>
                  <a:pt x="18953" y="9757833"/>
                  <a:pt x="0" y="9738880"/>
                  <a:pt x="0" y="9715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77333" y="1354667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定位流程与层次结构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7333" y="1778000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Bigtable采用层次化的三级索引结构定位Tablet: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159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6667" y="23283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1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Chubby查询(引导阶段)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6667" y="2667000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客户端从Chubby获取根Tablet(Root Tablet)位置信息,作为定位起点。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7333" y="3175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6667" y="33443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2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根Tablet访问(一级索引)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3683000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根Tablet是特殊的METADATA Tablet,包含所有METADATA Tablet位置映射。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333" y="4191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46667" y="43603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3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Tablet查询(二级索引)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667" y="4699000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Tablet存储用户Tablet位置信息和元数据,每个管理约1GB数据。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333" y="5207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6667" y="53763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4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用户Tablet访问(数据访问)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667" y="5715000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最终定位到实际存储用户数据的Tablet服务器,直接通信进行数据操作。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7333" y="6223000"/>
            <a:ext cx="7133167" cy="889000"/>
          </a:xfrm>
          <a:custGeom>
            <a:avLst/>
            <a:gdLst/>
            <a:ahLst/>
            <a:cxnLst/>
            <a:rect l="l" t="t" r="r" b="b"/>
            <a:pathLst>
              <a:path w="7133167" h="889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804332"/>
                </a:lnTo>
                <a:cubicBezTo>
                  <a:pt x="7133167" y="851093"/>
                  <a:pt x="7095259" y="889000"/>
                  <a:pt x="7048498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6667" y="6392333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5 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缓存优化机制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667" y="6731000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客户端缓存Tablet位置信息,有效期60秒,减少对Chubby和METADATA访问。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8307" y="517361"/>
            <a:ext cx="7577667" cy="6011333"/>
          </a:xfrm>
          <a:custGeom>
            <a:avLst/>
            <a:gdLst/>
            <a:ahLst/>
            <a:cxnLst/>
            <a:rect l="l" t="t" r="r" b="b"/>
            <a:pathLst>
              <a:path w="7577667" h="6011333">
                <a:moveTo>
                  <a:pt x="42333" y="0"/>
                </a:moveTo>
                <a:lnTo>
                  <a:pt x="7450647" y="0"/>
                </a:lnTo>
                <a:cubicBezTo>
                  <a:pt x="7520798" y="0"/>
                  <a:pt x="7577667" y="56869"/>
                  <a:pt x="7577667" y="127019"/>
                </a:cubicBezTo>
                <a:lnTo>
                  <a:pt x="7577667" y="5884314"/>
                </a:lnTo>
                <a:cubicBezTo>
                  <a:pt x="7577667" y="5954465"/>
                  <a:pt x="7520798" y="6011333"/>
                  <a:pt x="7450647" y="6011333"/>
                </a:cubicBezTo>
                <a:lnTo>
                  <a:pt x="42333" y="6011333"/>
                </a:lnTo>
                <a:cubicBezTo>
                  <a:pt x="18953" y="6011333"/>
                  <a:pt x="0" y="5992380"/>
                  <a:pt x="0" y="596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58307" y="517361"/>
            <a:ext cx="42333" cy="6011333"/>
          </a:xfrm>
          <a:custGeom>
            <a:avLst/>
            <a:gdLst/>
            <a:ahLst/>
            <a:cxnLst/>
            <a:rect l="l" t="t" r="r" b="b"/>
            <a:pathLst>
              <a:path w="42333" h="6011333">
                <a:moveTo>
                  <a:pt x="42333" y="0"/>
                </a:moveTo>
                <a:lnTo>
                  <a:pt x="42333" y="0"/>
                </a:lnTo>
                <a:lnTo>
                  <a:pt x="42333" y="6011333"/>
                </a:lnTo>
                <a:lnTo>
                  <a:pt x="42333" y="6011333"/>
                </a:lnTo>
                <a:cubicBezTo>
                  <a:pt x="18953" y="6011333"/>
                  <a:pt x="0" y="5992380"/>
                  <a:pt x="0" y="5969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91141" y="729028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关键组件功能说明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91141" y="1152361"/>
            <a:ext cx="7133167" cy="1778000"/>
          </a:xfrm>
          <a:custGeom>
            <a:avLst/>
            <a:gdLst/>
            <a:ahLst/>
            <a:cxnLst/>
            <a:rect l="l" t="t" r="r" b="b"/>
            <a:pathLst>
              <a:path w="7133167" h="1778000">
                <a:moveTo>
                  <a:pt x="84668" y="0"/>
                </a:moveTo>
                <a:lnTo>
                  <a:pt x="7048498" y="0"/>
                </a:lnTo>
                <a:cubicBezTo>
                  <a:pt x="7095259" y="0"/>
                  <a:pt x="7133167" y="37907"/>
                  <a:pt x="7133167" y="84668"/>
                </a:cubicBezTo>
                <a:lnTo>
                  <a:pt x="7133167" y="1693332"/>
                </a:lnTo>
                <a:cubicBezTo>
                  <a:pt x="7133167" y="1740093"/>
                  <a:pt x="7095259" y="1778000"/>
                  <a:pt x="7048498" y="1778000"/>
                </a:cubicBezTo>
                <a:lnTo>
                  <a:pt x="84668" y="1778000"/>
                </a:lnTo>
                <a:cubicBezTo>
                  <a:pt x="37907" y="1778000"/>
                  <a:pt x="0" y="1740093"/>
                  <a:pt x="0" y="169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60474" y="1321694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根Tablet (Root Tablet)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60474" y="1660361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特殊的METADATA Tablet,位置固定存储在Chubby中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60474" y="1956694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存储所有METADATA Tablet位置信息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60474" y="2168361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行键:METADATA Tablet标识符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0474" y="2380028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列族:location存储服务器地址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60474" y="2591694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大小:KB级别,适合常驻内存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91141" y="3057361"/>
            <a:ext cx="7133167" cy="1566333"/>
          </a:xfrm>
          <a:custGeom>
            <a:avLst/>
            <a:gdLst/>
            <a:ahLst/>
            <a:cxnLst/>
            <a:rect l="l" t="t" r="r" b="b"/>
            <a:pathLst>
              <a:path w="7133167" h="1566333">
                <a:moveTo>
                  <a:pt x="84660" y="0"/>
                </a:moveTo>
                <a:lnTo>
                  <a:pt x="7048506" y="0"/>
                </a:lnTo>
                <a:cubicBezTo>
                  <a:pt x="7095263" y="0"/>
                  <a:pt x="7133167" y="37904"/>
                  <a:pt x="7133167" y="84660"/>
                </a:cubicBezTo>
                <a:lnTo>
                  <a:pt x="7133167" y="1481673"/>
                </a:lnTo>
                <a:cubicBezTo>
                  <a:pt x="7133167" y="1528430"/>
                  <a:pt x="7095263" y="1566333"/>
                  <a:pt x="7048506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60474" y="3226694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Tablet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60474" y="3565361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多个Tablet,存储用户Tablet详细元数据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60474" y="3861694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存储用户Tablet位置映射、状态信息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60474" y="4073361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列族:location/state/stats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60474" y="4285028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每个管理约1GB用户数据元数据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91141" y="4750694"/>
            <a:ext cx="7133167" cy="1566333"/>
          </a:xfrm>
          <a:custGeom>
            <a:avLst/>
            <a:gdLst/>
            <a:ahLst/>
            <a:cxnLst/>
            <a:rect l="l" t="t" r="r" b="b"/>
            <a:pathLst>
              <a:path w="7133167" h="1566333">
                <a:moveTo>
                  <a:pt x="84660" y="0"/>
                </a:moveTo>
                <a:lnTo>
                  <a:pt x="7048506" y="0"/>
                </a:lnTo>
                <a:cubicBezTo>
                  <a:pt x="7095263" y="0"/>
                  <a:pt x="7133167" y="37904"/>
                  <a:pt x="7133167" y="84660"/>
                </a:cubicBezTo>
                <a:lnTo>
                  <a:pt x="7133167" y="1481673"/>
                </a:lnTo>
                <a:cubicBezTo>
                  <a:pt x="7133167" y="1528430"/>
                  <a:pt x="7095263" y="1566333"/>
                  <a:pt x="7048506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60474" y="4920028"/>
            <a:ext cx="687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用户Tablet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60474" y="5258694"/>
            <a:ext cx="6868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大量用户Tablet存储实际应用数据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60474" y="5555028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位置由METADATA Tablet记录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60474" y="5766694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按行键有序存储,支持范围查询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60474" y="5978361"/>
            <a:ext cx="6858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大小:100-200MB,自动分裂控制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58307" y="6698028"/>
            <a:ext cx="7577667" cy="2093049"/>
          </a:xfrm>
          <a:custGeom>
            <a:avLst/>
            <a:gdLst/>
            <a:ahLst/>
            <a:cxnLst/>
            <a:rect l="l" t="t" r="r" b="b"/>
            <a:pathLst>
              <a:path w="7577667" h="3577167">
                <a:moveTo>
                  <a:pt x="42333" y="0"/>
                </a:moveTo>
                <a:lnTo>
                  <a:pt x="7450677" y="0"/>
                </a:lnTo>
                <a:cubicBezTo>
                  <a:pt x="7520812" y="0"/>
                  <a:pt x="7577667" y="56855"/>
                  <a:pt x="7577667" y="126989"/>
                </a:cubicBezTo>
                <a:lnTo>
                  <a:pt x="7577667" y="3450177"/>
                </a:lnTo>
                <a:cubicBezTo>
                  <a:pt x="7577667" y="3520312"/>
                  <a:pt x="7520812" y="3577167"/>
                  <a:pt x="7450677" y="3577167"/>
                </a:cubicBezTo>
                <a:lnTo>
                  <a:pt x="42333" y="3577167"/>
                </a:lnTo>
                <a:cubicBezTo>
                  <a:pt x="18953" y="3577167"/>
                  <a:pt x="0" y="3558213"/>
                  <a:pt x="0" y="3534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258306" y="6698028"/>
            <a:ext cx="43200" cy="2091599"/>
          </a:xfrm>
          <a:custGeom>
            <a:avLst/>
            <a:gdLst/>
            <a:ahLst/>
            <a:cxnLst/>
            <a:rect l="l" t="t" r="r" b="b"/>
            <a:pathLst>
              <a:path w="42333" h="3577167">
                <a:moveTo>
                  <a:pt x="42333" y="0"/>
                </a:moveTo>
                <a:lnTo>
                  <a:pt x="42333" y="0"/>
                </a:lnTo>
                <a:lnTo>
                  <a:pt x="42333" y="3577167"/>
                </a:lnTo>
                <a:lnTo>
                  <a:pt x="42333" y="3577167"/>
                </a:lnTo>
                <a:cubicBezTo>
                  <a:pt x="18953" y="3577167"/>
                  <a:pt x="0" y="3558213"/>
                  <a:pt x="0" y="3534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91141" y="6909694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设计优势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91141" y="7333028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可扩展性:</a:t>
            </a: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支持管理数百万个Tablet元数据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91141" y="7671694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性能优化:</a:t>
            </a: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大多数请求只需1-2次网络往返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91141" y="8010361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容错性:</a:t>
            </a: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METADATA Tablet采用复制机制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91141" y="8349028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负载分布:</a:t>
            </a:r>
            <a:r>
              <a:rPr lang="en-US" sz="13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元数据查询负载分布到多个Tablet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4444" r="144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60666" y="2768600"/>
            <a:ext cx="2730500" cy="723900"/>
          </a:xfrm>
          <a:custGeom>
            <a:avLst/>
            <a:gdLst/>
            <a:ahLst/>
            <a:cxnLst/>
            <a:rect l="l" t="t" r="r" b="b"/>
            <a:pathLst>
              <a:path w="2730500" h="723900">
                <a:moveTo>
                  <a:pt x="152403" y="0"/>
                </a:moveTo>
                <a:lnTo>
                  <a:pt x="2578097" y="0"/>
                </a:lnTo>
                <a:cubicBezTo>
                  <a:pt x="2662267" y="0"/>
                  <a:pt x="2730500" y="68233"/>
                  <a:pt x="2730500" y="152403"/>
                </a:cubicBezTo>
                <a:lnTo>
                  <a:pt x="2730500" y="571497"/>
                </a:lnTo>
                <a:cubicBezTo>
                  <a:pt x="2730500" y="655667"/>
                  <a:pt x="2662267" y="723900"/>
                  <a:pt x="25780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95616" y="292735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0866" y="3905250"/>
            <a:ext cx="621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Tablet分布式架构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13400" y="5124450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数据分片、负载均衡与故障恢复机制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1489" y="540638"/>
            <a:ext cx="49149" cy="393191"/>
          </a:xfrm>
          <a:custGeom>
            <a:avLst/>
            <a:gdLst/>
            <a:ahLst/>
            <a:cxnLst/>
            <a:rect l="l" t="t" r="r" b="b"/>
            <a:pathLst>
              <a:path w="49149" h="393191">
                <a:moveTo>
                  <a:pt x="0" y="0"/>
                </a:moveTo>
                <a:lnTo>
                  <a:pt x="49149" y="0"/>
                </a:lnTo>
                <a:lnTo>
                  <a:pt x="49149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8085" y="491489"/>
            <a:ext cx="5123773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Tablet核心概念与生命周期管理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063" y="1277872"/>
            <a:ext cx="6082177" cy="3391274"/>
          </a:xfrm>
          <a:custGeom>
            <a:avLst/>
            <a:gdLst/>
            <a:ahLst/>
            <a:cxnLst/>
            <a:rect l="l" t="t" r="r" b="b"/>
            <a:pathLst>
              <a:path w="6082177" h="3391274">
                <a:moveTo>
                  <a:pt x="49149" y="0"/>
                </a:moveTo>
                <a:lnTo>
                  <a:pt x="5934724" y="0"/>
                </a:lnTo>
                <a:cubicBezTo>
                  <a:pt x="6016160" y="0"/>
                  <a:pt x="6082177" y="66017"/>
                  <a:pt x="6082177" y="147453"/>
                </a:cubicBezTo>
                <a:lnTo>
                  <a:pt x="6082177" y="3243822"/>
                </a:lnTo>
                <a:cubicBezTo>
                  <a:pt x="6082177" y="3325258"/>
                  <a:pt x="6016160" y="3391274"/>
                  <a:pt x="5934724" y="3391274"/>
                </a:cubicBezTo>
                <a:lnTo>
                  <a:pt x="49149" y="3391274"/>
                </a:lnTo>
                <a:cubicBezTo>
                  <a:pt x="22005" y="3391274"/>
                  <a:pt x="0" y="3369270"/>
                  <a:pt x="0" y="3342125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6063" y="1277872"/>
            <a:ext cx="49149" cy="3391274"/>
          </a:xfrm>
          <a:custGeom>
            <a:avLst/>
            <a:gdLst/>
            <a:ahLst/>
            <a:cxnLst/>
            <a:rect l="l" t="t" r="r" b="b"/>
            <a:pathLst>
              <a:path w="49149" h="3391274">
                <a:moveTo>
                  <a:pt x="49149" y="0"/>
                </a:moveTo>
                <a:lnTo>
                  <a:pt x="49149" y="0"/>
                </a:lnTo>
                <a:lnTo>
                  <a:pt x="49149" y="3391274"/>
                </a:lnTo>
                <a:lnTo>
                  <a:pt x="49149" y="3391274"/>
                </a:lnTo>
                <a:cubicBezTo>
                  <a:pt x="22005" y="3391274"/>
                  <a:pt x="0" y="3369270"/>
                  <a:pt x="0" y="3342125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7234" y="1474467"/>
            <a:ext cx="578728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Tablet作为数据分片单元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7234" y="1965956"/>
            <a:ext cx="576270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Tablet是Bigtable的核心数据分片单元,具有以下设计特性: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7234" y="2408296"/>
            <a:ext cx="2789200" cy="982978"/>
          </a:xfrm>
          <a:custGeom>
            <a:avLst/>
            <a:gdLst/>
            <a:ahLst/>
            <a:cxnLst/>
            <a:rect l="l" t="t" r="r" b="b"/>
            <a:pathLst>
              <a:path w="2789200" h="982978">
                <a:moveTo>
                  <a:pt x="98298" y="0"/>
                </a:moveTo>
                <a:lnTo>
                  <a:pt x="2690902" y="0"/>
                </a:lnTo>
                <a:cubicBezTo>
                  <a:pt x="2745191" y="0"/>
                  <a:pt x="2789200" y="44009"/>
                  <a:pt x="2789200" y="98298"/>
                </a:cubicBezTo>
                <a:lnTo>
                  <a:pt x="2789200" y="884680"/>
                </a:lnTo>
                <a:cubicBezTo>
                  <a:pt x="2789200" y="938969"/>
                  <a:pt x="2745191" y="982978"/>
                  <a:pt x="2690902" y="982978"/>
                </a:cubicBezTo>
                <a:lnTo>
                  <a:pt x="98298" y="982978"/>
                </a:lnTo>
                <a:cubicBezTo>
                  <a:pt x="44009" y="982978"/>
                  <a:pt x="0" y="938969"/>
                  <a:pt x="0" y="884680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4680" y="2555743"/>
            <a:ext cx="2580317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数据范围划分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4680" y="2850636"/>
            <a:ext cx="25680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负责连续行键范围,确保数据有序性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8972" y="2408296"/>
            <a:ext cx="2789200" cy="982978"/>
          </a:xfrm>
          <a:custGeom>
            <a:avLst/>
            <a:gdLst/>
            <a:ahLst/>
            <a:cxnLst/>
            <a:rect l="l" t="t" r="r" b="b"/>
            <a:pathLst>
              <a:path w="2789200" h="982978">
                <a:moveTo>
                  <a:pt x="98298" y="0"/>
                </a:moveTo>
                <a:lnTo>
                  <a:pt x="2690902" y="0"/>
                </a:lnTo>
                <a:cubicBezTo>
                  <a:pt x="2745191" y="0"/>
                  <a:pt x="2789200" y="44009"/>
                  <a:pt x="2789200" y="98298"/>
                </a:cubicBezTo>
                <a:lnTo>
                  <a:pt x="2789200" y="884680"/>
                </a:lnTo>
                <a:cubicBezTo>
                  <a:pt x="2789200" y="938969"/>
                  <a:pt x="2745191" y="982978"/>
                  <a:pt x="2690902" y="982978"/>
                </a:cubicBezTo>
                <a:lnTo>
                  <a:pt x="98298" y="982978"/>
                </a:lnTo>
                <a:cubicBezTo>
                  <a:pt x="44009" y="982978"/>
                  <a:pt x="0" y="938969"/>
                  <a:pt x="0" y="884680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766419" y="2555743"/>
            <a:ext cx="2580317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6419" y="2850636"/>
            <a:ext cx="2568030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可在不同服务器间迁移,支持动态负载均衡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7234" y="3489572"/>
            <a:ext cx="2789200" cy="982978"/>
          </a:xfrm>
          <a:custGeom>
            <a:avLst/>
            <a:gdLst/>
            <a:ahLst/>
            <a:cxnLst/>
            <a:rect l="l" t="t" r="r" b="b"/>
            <a:pathLst>
              <a:path w="2789200" h="982978">
                <a:moveTo>
                  <a:pt x="98298" y="0"/>
                </a:moveTo>
                <a:lnTo>
                  <a:pt x="2690902" y="0"/>
                </a:lnTo>
                <a:cubicBezTo>
                  <a:pt x="2745191" y="0"/>
                  <a:pt x="2789200" y="44009"/>
                  <a:pt x="2789200" y="98298"/>
                </a:cubicBezTo>
                <a:lnTo>
                  <a:pt x="2789200" y="884680"/>
                </a:lnTo>
                <a:cubicBezTo>
                  <a:pt x="2789200" y="938969"/>
                  <a:pt x="2745191" y="982978"/>
                  <a:pt x="2690902" y="982978"/>
                </a:cubicBezTo>
                <a:lnTo>
                  <a:pt x="98298" y="982978"/>
                </a:lnTo>
                <a:cubicBezTo>
                  <a:pt x="44009" y="982978"/>
                  <a:pt x="0" y="938969"/>
                  <a:pt x="0" y="884680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4680" y="3637019"/>
            <a:ext cx="2580317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动态调整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4680" y="3931912"/>
            <a:ext cx="2568030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大小根据数据量动态调整,平衡效率与性能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8972" y="3489572"/>
            <a:ext cx="2789200" cy="982978"/>
          </a:xfrm>
          <a:custGeom>
            <a:avLst/>
            <a:gdLst/>
            <a:ahLst/>
            <a:cxnLst/>
            <a:rect l="l" t="t" r="r" b="b"/>
            <a:pathLst>
              <a:path w="2789200" h="982978">
                <a:moveTo>
                  <a:pt x="98298" y="0"/>
                </a:moveTo>
                <a:lnTo>
                  <a:pt x="2690902" y="0"/>
                </a:lnTo>
                <a:cubicBezTo>
                  <a:pt x="2745191" y="0"/>
                  <a:pt x="2789200" y="44009"/>
                  <a:pt x="2789200" y="98298"/>
                </a:cubicBezTo>
                <a:lnTo>
                  <a:pt x="2789200" y="884680"/>
                </a:lnTo>
                <a:cubicBezTo>
                  <a:pt x="2789200" y="938969"/>
                  <a:pt x="2745191" y="982978"/>
                  <a:pt x="2690902" y="982978"/>
                </a:cubicBezTo>
                <a:lnTo>
                  <a:pt x="98298" y="982978"/>
                </a:lnTo>
                <a:cubicBezTo>
                  <a:pt x="44009" y="982978"/>
                  <a:pt x="0" y="938969"/>
                  <a:pt x="0" y="884680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766419" y="3637019"/>
            <a:ext cx="2580317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66419" y="3931912"/>
            <a:ext cx="2568030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多个Tablet可并行处理请求,实现水平扩展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063" y="4816593"/>
            <a:ext cx="6082177" cy="4325104"/>
          </a:xfrm>
          <a:custGeom>
            <a:avLst/>
            <a:gdLst/>
            <a:ahLst/>
            <a:cxnLst/>
            <a:rect l="l" t="t" r="r" b="b"/>
            <a:pathLst>
              <a:path w="6082177" h="4325104">
                <a:moveTo>
                  <a:pt x="49149" y="0"/>
                </a:moveTo>
                <a:lnTo>
                  <a:pt x="5934734" y="0"/>
                </a:lnTo>
                <a:cubicBezTo>
                  <a:pt x="6016164" y="0"/>
                  <a:pt x="6082177" y="66012"/>
                  <a:pt x="6082177" y="147443"/>
                </a:cubicBezTo>
                <a:lnTo>
                  <a:pt x="6082177" y="4177661"/>
                </a:lnTo>
                <a:cubicBezTo>
                  <a:pt x="6082177" y="4259091"/>
                  <a:pt x="6016164" y="4325104"/>
                  <a:pt x="5934734" y="4325104"/>
                </a:cubicBezTo>
                <a:lnTo>
                  <a:pt x="49149" y="4325104"/>
                </a:lnTo>
                <a:cubicBezTo>
                  <a:pt x="22005" y="4325104"/>
                  <a:pt x="0" y="4303099"/>
                  <a:pt x="0" y="4275955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16063" y="4816593"/>
            <a:ext cx="49149" cy="4325104"/>
          </a:xfrm>
          <a:custGeom>
            <a:avLst/>
            <a:gdLst/>
            <a:ahLst/>
            <a:cxnLst/>
            <a:rect l="l" t="t" r="r" b="b"/>
            <a:pathLst>
              <a:path w="49149" h="4325104">
                <a:moveTo>
                  <a:pt x="49149" y="0"/>
                </a:moveTo>
                <a:lnTo>
                  <a:pt x="49149" y="0"/>
                </a:lnTo>
                <a:lnTo>
                  <a:pt x="49149" y="4325104"/>
                </a:lnTo>
                <a:lnTo>
                  <a:pt x="49149" y="4325104"/>
                </a:lnTo>
                <a:cubicBezTo>
                  <a:pt x="22005" y="4325104"/>
                  <a:pt x="0" y="4303099"/>
                  <a:pt x="0" y="4275955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7234" y="5013188"/>
            <a:ext cx="578728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Tablet完整数据结构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7234" y="5504677"/>
            <a:ext cx="5664411" cy="2211701"/>
          </a:xfrm>
          <a:custGeom>
            <a:avLst/>
            <a:gdLst/>
            <a:ahLst/>
            <a:cxnLst/>
            <a:rect l="l" t="t" r="r" b="b"/>
            <a:pathLst>
              <a:path w="5664411" h="2211701">
                <a:moveTo>
                  <a:pt x="98288" y="0"/>
                </a:moveTo>
                <a:lnTo>
                  <a:pt x="5566123" y="0"/>
                </a:lnTo>
                <a:cubicBezTo>
                  <a:pt x="5620406" y="0"/>
                  <a:pt x="5664411" y="44005"/>
                  <a:pt x="5664411" y="98288"/>
                </a:cubicBezTo>
                <a:lnTo>
                  <a:pt x="5664411" y="2113413"/>
                </a:lnTo>
                <a:cubicBezTo>
                  <a:pt x="5664411" y="2167696"/>
                  <a:pt x="5620406" y="2211701"/>
                  <a:pt x="5566123" y="2211701"/>
                </a:cubicBezTo>
                <a:lnTo>
                  <a:pt x="98288" y="2211701"/>
                </a:lnTo>
                <a:cubicBezTo>
                  <a:pt x="44005" y="2211701"/>
                  <a:pt x="0" y="2167696"/>
                  <a:pt x="0" y="2113413"/>
                </a:cubicBezTo>
                <a:lnTo>
                  <a:pt x="0" y="98288"/>
                </a:lnTo>
                <a:cubicBezTo>
                  <a:pt x="0" y="44005"/>
                  <a:pt x="44005" y="0"/>
                  <a:pt x="9828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4680" y="5652124"/>
            <a:ext cx="544324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 Tablet {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2978" y="5897868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keyRange: [string, string];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2978" y="6143613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memtable: MemTable;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2978" y="6389358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immutableMemtables: MemTable[];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2978" y="6635102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sstables: SSTable[];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2978" y="6880847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writeAheadLog: WAL;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2978" y="7126591"/>
            <a:ext cx="534494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statistics: TabletStats;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4680" y="7372336"/>
            <a:ext cx="544324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7234" y="7814676"/>
            <a:ext cx="5750422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keyRange:</a:t>
            </a: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行键范围[startKey, endKey)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7234" y="8109569"/>
            <a:ext cx="5750422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memtable:</a:t>
            </a: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当前活跃的写入缓冲区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7234" y="8404463"/>
            <a:ext cx="5750422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sstables:</a:t>
            </a: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磁盘上的SSTable文件集合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234" y="8699356"/>
            <a:ext cx="5750422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5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writeAheadLog:</a:t>
            </a:r>
            <a:r>
              <a:rPr lang="en-US" sz="135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预写日志确保数据持久性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20178" y="1277872"/>
            <a:ext cx="8945101" cy="4030210"/>
          </a:xfrm>
          <a:custGeom>
            <a:avLst/>
            <a:gdLst/>
            <a:ahLst/>
            <a:cxnLst/>
            <a:rect l="l" t="t" r="r" b="b"/>
            <a:pathLst>
              <a:path w="8945101" h="4030210">
                <a:moveTo>
                  <a:pt x="49149" y="0"/>
                </a:moveTo>
                <a:lnTo>
                  <a:pt x="8797635" y="0"/>
                </a:lnTo>
                <a:cubicBezTo>
                  <a:pt x="8879078" y="0"/>
                  <a:pt x="8945101" y="66023"/>
                  <a:pt x="8945101" y="147465"/>
                </a:cubicBezTo>
                <a:lnTo>
                  <a:pt x="8945101" y="3882745"/>
                </a:lnTo>
                <a:cubicBezTo>
                  <a:pt x="8945101" y="3964188"/>
                  <a:pt x="8879078" y="4030210"/>
                  <a:pt x="8797635" y="4030210"/>
                </a:cubicBezTo>
                <a:lnTo>
                  <a:pt x="49149" y="4030210"/>
                </a:lnTo>
                <a:cubicBezTo>
                  <a:pt x="22005" y="4030210"/>
                  <a:pt x="0" y="4008205"/>
                  <a:pt x="0" y="398106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820178" y="1277872"/>
            <a:ext cx="49149" cy="4030210"/>
          </a:xfrm>
          <a:custGeom>
            <a:avLst/>
            <a:gdLst/>
            <a:ahLst/>
            <a:cxnLst/>
            <a:rect l="l" t="t" r="r" b="b"/>
            <a:pathLst>
              <a:path w="49149" h="4030210">
                <a:moveTo>
                  <a:pt x="49149" y="0"/>
                </a:moveTo>
                <a:lnTo>
                  <a:pt x="49149" y="0"/>
                </a:lnTo>
                <a:lnTo>
                  <a:pt x="49149" y="4030210"/>
                </a:lnTo>
                <a:lnTo>
                  <a:pt x="49149" y="4030210"/>
                </a:lnTo>
                <a:cubicBezTo>
                  <a:pt x="22005" y="4030210"/>
                  <a:pt x="0" y="4008205"/>
                  <a:pt x="0" y="3981061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41348" y="1474467"/>
            <a:ext cx="865020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生命周期管理机制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1348" y="1965956"/>
            <a:ext cx="862563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Bigtable通过精细的Tablet生命周期管理实现负载均衡: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41348" y="2408296"/>
            <a:ext cx="8527335" cy="2703190"/>
          </a:xfrm>
          <a:custGeom>
            <a:avLst/>
            <a:gdLst/>
            <a:ahLst/>
            <a:cxnLst/>
            <a:rect l="l" t="t" r="r" b="b"/>
            <a:pathLst>
              <a:path w="8527335" h="2703190">
                <a:moveTo>
                  <a:pt x="98288" y="0"/>
                </a:moveTo>
                <a:lnTo>
                  <a:pt x="8429047" y="0"/>
                </a:lnTo>
                <a:cubicBezTo>
                  <a:pt x="8483330" y="0"/>
                  <a:pt x="8527335" y="44005"/>
                  <a:pt x="8527335" y="98288"/>
                </a:cubicBezTo>
                <a:lnTo>
                  <a:pt x="8527335" y="2604902"/>
                </a:lnTo>
                <a:cubicBezTo>
                  <a:pt x="8527335" y="2659185"/>
                  <a:pt x="8483330" y="2703190"/>
                  <a:pt x="8429047" y="2703190"/>
                </a:cubicBezTo>
                <a:lnTo>
                  <a:pt x="98288" y="2703190"/>
                </a:lnTo>
                <a:cubicBezTo>
                  <a:pt x="44005" y="2703190"/>
                  <a:pt x="0" y="2659185"/>
                  <a:pt x="0" y="2604902"/>
                </a:cubicBezTo>
                <a:lnTo>
                  <a:pt x="0" y="98288"/>
                </a:lnTo>
                <a:cubicBezTo>
                  <a:pt x="0" y="44005"/>
                  <a:pt x="44005" y="0"/>
                  <a:pt x="9828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215930" y="2555743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424813" y="2752339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98298" y="24574"/>
                </a:moveTo>
                <a:cubicBezTo>
                  <a:pt x="98298" y="17778"/>
                  <a:pt x="92807" y="12287"/>
                  <a:pt x="86011" y="12287"/>
                </a:cubicBezTo>
                <a:cubicBezTo>
                  <a:pt x="79214" y="12287"/>
                  <a:pt x="73723" y="17778"/>
                  <a:pt x="73723" y="24574"/>
                </a:cubicBezTo>
                <a:lnTo>
                  <a:pt x="73723" y="86011"/>
                </a:lnTo>
                <a:lnTo>
                  <a:pt x="12287" y="86011"/>
                </a:lnTo>
                <a:cubicBezTo>
                  <a:pt x="5491" y="86011"/>
                  <a:pt x="0" y="91501"/>
                  <a:pt x="0" y="98298"/>
                </a:cubicBezTo>
                <a:cubicBezTo>
                  <a:pt x="0" y="105094"/>
                  <a:pt x="5491" y="110585"/>
                  <a:pt x="12287" y="110585"/>
                </a:cubicBezTo>
                <a:lnTo>
                  <a:pt x="73723" y="110585"/>
                </a:lnTo>
                <a:lnTo>
                  <a:pt x="73723" y="172021"/>
                </a:lnTo>
                <a:cubicBezTo>
                  <a:pt x="73723" y="178818"/>
                  <a:pt x="79214" y="184308"/>
                  <a:pt x="86011" y="184308"/>
                </a:cubicBezTo>
                <a:cubicBezTo>
                  <a:pt x="92807" y="184308"/>
                  <a:pt x="98298" y="178818"/>
                  <a:pt x="98298" y="172021"/>
                </a:cubicBezTo>
                <a:lnTo>
                  <a:pt x="98298" y="110585"/>
                </a:lnTo>
                <a:lnTo>
                  <a:pt x="159734" y="110585"/>
                </a:lnTo>
                <a:cubicBezTo>
                  <a:pt x="166530" y="110585"/>
                  <a:pt x="172021" y="105094"/>
                  <a:pt x="172021" y="98298"/>
                </a:cubicBezTo>
                <a:cubicBezTo>
                  <a:pt x="172021" y="91501"/>
                  <a:pt x="166530" y="86011"/>
                  <a:pt x="159734" y="86011"/>
                </a:cubicBezTo>
                <a:lnTo>
                  <a:pt x="98298" y="86011"/>
                </a:lnTo>
                <a:lnTo>
                  <a:pt x="98298" y="2457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145790" y="3243828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创建Tablet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51933" y="3489572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初始大小100MB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07627" y="2555743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204222" y="2752339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24574" y="24574"/>
                </a:moveTo>
                <a:cubicBezTo>
                  <a:pt x="24574" y="17778"/>
                  <a:pt x="19084" y="12287"/>
                  <a:pt x="12287" y="12287"/>
                </a:cubicBezTo>
                <a:cubicBezTo>
                  <a:pt x="5491" y="12287"/>
                  <a:pt x="0" y="17778"/>
                  <a:pt x="0" y="24574"/>
                </a:cubicBezTo>
                <a:lnTo>
                  <a:pt x="0" y="153590"/>
                </a:lnTo>
                <a:cubicBezTo>
                  <a:pt x="0" y="170562"/>
                  <a:pt x="13746" y="184308"/>
                  <a:pt x="30718" y="184308"/>
                </a:cubicBezTo>
                <a:lnTo>
                  <a:pt x="184308" y="184308"/>
                </a:lnTo>
                <a:cubicBezTo>
                  <a:pt x="191105" y="184308"/>
                  <a:pt x="196596" y="178818"/>
                  <a:pt x="196596" y="172021"/>
                </a:cubicBezTo>
                <a:cubicBezTo>
                  <a:pt x="196596" y="165225"/>
                  <a:pt x="191105" y="159734"/>
                  <a:pt x="184308" y="159734"/>
                </a:cubicBezTo>
                <a:lnTo>
                  <a:pt x="30718" y="159734"/>
                </a:lnTo>
                <a:cubicBezTo>
                  <a:pt x="27339" y="159734"/>
                  <a:pt x="24574" y="156969"/>
                  <a:pt x="24574" y="153590"/>
                </a:cubicBezTo>
                <a:lnTo>
                  <a:pt x="24574" y="24574"/>
                </a:lnTo>
                <a:close/>
                <a:moveTo>
                  <a:pt x="180699" y="57827"/>
                </a:moveTo>
                <a:cubicBezTo>
                  <a:pt x="185499" y="53027"/>
                  <a:pt x="185499" y="45232"/>
                  <a:pt x="180699" y="40433"/>
                </a:cubicBezTo>
                <a:cubicBezTo>
                  <a:pt x="175899" y="35633"/>
                  <a:pt x="168105" y="35633"/>
                  <a:pt x="163305" y="40433"/>
                </a:cubicBezTo>
                <a:lnTo>
                  <a:pt x="122872" y="80904"/>
                </a:lnTo>
                <a:lnTo>
                  <a:pt x="100832" y="58902"/>
                </a:lnTo>
                <a:cubicBezTo>
                  <a:pt x="96032" y="54102"/>
                  <a:pt x="88238" y="54102"/>
                  <a:pt x="83438" y="58902"/>
                </a:cubicBezTo>
                <a:lnTo>
                  <a:pt x="46576" y="95764"/>
                </a:lnTo>
                <a:cubicBezTo>
                  <a:pt x="41777" y="100563"/>
                  <a:pt x="41777" y="108358"/>
                  <a:pt x="46576" y="113158"/>
                </a:cubicBezTo>
                <a:cubicBezTo>
                  <a:pt x="51376" y="117957"/>
                  <a:pt x="59171" y="117957"/>
                  <a:pt x="63970" y="113158"/>
                </a:cubicBezTo>
                <a:lnTo>
                  <a:pt x="92154" y="84974"/>
                </a:lnTo>
                <a:lnTo>
                  <a:pt x="114194" y="107014"/>
                </a:lnTo>
                <a:cubicBezTo>
                  <a:pt x="118994" y="111814"/>
                  <a:pt x="126789" y="111814"/>
                  <a:pt x="131589" y="107014"/>
                </a:cubicBezTo>
                <a:lnTo>
                  <a:pt x="180737" y="57865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937390" y="3243828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监控负载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43534" y="3489572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CPU/内存/IO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799227" y="2555743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3971248" y="2752339"/>
            <a:ext cx="245745" cy="196596"/>
          </a:xfrm>
          <a:custGeom>
            <a:avLst/>
            <a:gdLst/>
            <a:ahLst/>
            <a:cxnLst/>
            <a:rect l="l" t="t" r="r" b="b"/>
            <a:pathLst>
              <a:path w="245745" h="196596">
                <a:moveTo>
                  <a:pt x="147447" y="12287"/>
                </a:moveTo>
                <a:lnTo>
                  <a:pt x="196596" y="12287"/>
                </a:lnTo>
                <a:cubicBezTo>
                  <a:pt x="203392" y="12287"/>
                  <a:pt x="208883" y="17778"/>
                  <a:pt x="208883" y="24574"/>
                </a:cubicBezTo>
                <a:cubicBezTo>
                  <a:pt x="208883" y="31371"/>
                  <a:pt x="203392" y="36862"/>
                  <a:pt x="196596" y="36862"/>
                </a:cubicBezTo>
                <a:lnTo>
                  <a:pt x="152976" y="36862"/>
                </a:lnTo>
                <a:cubicBezTo>
                  <a:pt x="150979" y="46768"/>
                  <a:pt x="144183" y="54947"/>
                  <a:pt x="135159" y="58863"/>
                </a:cubicBezTo>
                <a:lnTo>
                  <a:pt x="135159" y="172021"/>
                </a:lnTo>
                <a:lnTo>
                  <a:pt x="196596" y="172021"/>
                </a:lnTo>
                <a:cubicBezTo>
                  <a:pt x="203392" y="172021"/>
                  <a:pt x="208883" y="177512"/>
                  <a:pt x="208883" y="184308"/>
                </a:cubicBezTo>
                <a:cubicBezTo>
                  <a:pt x="208883" y="191105"/>
                  <a:pt x="203392" y="196596"/>
                  <a:pt x="196596" y="196596"/>
                </a:cubicBezTo>
                <a:lnTo>
                  <a:pt x="49149" y="196596"/>
                </a:lnTo>
                <a:cubicBezTo>
                  <a:pt x="42353" y="196596"/>
                  <a:pt x="36862" y="191105"/>
                  <a:pt x="36862" y="184308"/>
                </a:cubicBezTo>
                <a:cubicBezTo>
                  <a:pt x="36862" y="177512"/>
                  <a:pt x="42353" y="172021"/>
                  <a:pt x="49149" y="172021"/>
                </a:cubicBezTo>
                <a:lnTo>
                  <a:pt x="110585" y="172021"/>
                </a:lnTo>
                <a:lnTo>
                  <a:pt x="110585" y="58863"/>
                </a:lnTo>
                <a:cubicBezTo>
                  <a:pt x="101562" y="54909"/>
                  <a:pt x="94765" y="46730"/>
                  <a:pt x="92769" y="36862"/>
                </a:cubicBezTo>
                <a:lnTo>
                  <a:pt x="49149" y="36862"/>
                </a:lnTo>
                <a:cubicBezTo>
                  <a:pt x="42353" y="36862"/>
                  <a:pt x="36862" y="31371"/>
                  <a:pt x="36862" y="24574"/>
                </a:cubicBezTo>
                <a:cubicBezTo>
                  <a:pt x="36862" y="17778"/>
                  <a:pt x="42353" y="12287"/>
                  <a:pt x="49149" y="12287"/>
                </a:cubicBezTo>
                <a:lnTo>
                  <a:pt x="98298" y="12287"/>
                </a:lnTo>
                <a:cubicBezTo>
                  <a:pt x="103904" y="4838"/>
                  <a:pt x="112812" y="0"/>
                  <a:pt x="122872" y="0"/>
                </a:cubicBezTo>
                <a:cubicBezTo>
                  <a:pt x="132932" y="0"/>
                  <a:pt x="141841" y="4838"/>
                  <a:pt x="147447" y="12287"/>
                </a:cubicBezTo>
                <a:close/>
                <a:moveTo>
                  <a:pt x="168796" y="122872"/>
                </a:moveTo>
                <a:lnTo>
                  <a:pt x="224395" y="122872"/>
                </a:lnTo>
                <a:lnTo>
                  <a:pt x="196596" y="75182"/>
                </a:lnTo>
                <a:lnTo>
                  <a:pt x="168796" y="122872"/>
                </a:lnTo>
                <a:close/>
                <a:moveTo>
                  <a:pt x="196596" y="159734"/>
                </a:moveTo>
                <a:cubicBezTo>
                  <a:pt x="172444" y="159734"/>
                  <a:pt x="152362" y="146679"/>
                  <a:pt x="148215" y="129438"/>
                </a:cubicBezTo>
                <a:cubicBezTo>
                  <a:pt x="147216" y="125215"/>
                  <a:pt x="148599" y="120876"/>
                  <a:pt x="150787" y="117113"/>
                </a:cubicBezTo>
                <a:lnTo>
                  <a:pt x="187342" y="54448"/>
                </a:lnTo>
                <a:cubicBezTo>
                  <a:pt x="189262" y="51146"/>
                  <a:pt x="192794" y="49149"/>
                  <a:pt x="196596" y="49149"/>
                </a:cubicBezTo>
                <a:cubicBezTo>
                  <a:pt x="200397" y="49149"/>
                  <a:pt x="203930" y="51184"/>
                  <a:pt x="205849" y="54448"/>
                </a:cubicBezTo>
                <a:lnTo>
                  <a:pt x="242404" y="117113"/>
                </a:lnTo>
                <a:cubicBezTo>
                  <a:pt x="244593" y="120876"/>
                  <a:pt x="245975" y="125215"/>
                  <a:pt x="244977" y="129438"/>
                </a:cubicBezTo>
                <a:cubicBezTo>
                  <a:pt x="240830" y="146640"/>
                  <a:pt x="220748" y="159734"/>
                  <a:pt x="196596" y="159734"/>
                </a:cubicBezTo>
                <a:close/>
                <a:moveTo>
                  <a:pt x="48688" y="75182"/>
                </a:moveTo>
                <a:lnTo>
                  <a:pt x="20888" y="122872"/>
                </a:lnTo>
                <a:lnTo>
                  <a:pt x="76526" y="122872"/>
                </a:lnTo>
                <a:lnTo>
                  <a:pt x="48688" y="75182"/>
                </a:lnTo>
                <a:close/>
                <a:moveTo>
                  <a:pt x="346" y="129438"/>
                </a:moveTo>
                <a:cubicBezTo>
                  <a:pt x="-653" y="125215"/>
                  <a:pt x="730" y="120876"/>
                  <a:pt x="2918" y="117113"/>
                </a:cubicBezTo>
                <a:lnTo>
                  <a:pt x="39473" y="54448"/>
                </a:lnTo>
                <a:cubicBezTo>
                  <a:pt x="41393" y="51146"/>
                  <a:pt x="44925" y="49149"/>
                  <a:pt x="48727" y="49149"/>
                </a:cubicBezTo>
                <a:cubicBezTo>
                  <a:pt x="52528" y="49149"/>
                  <a:pt x="56060" y="51184"/>
                  <a:pt x="57980" y="54448"/>
                </a:cubicBezTo>
                <a:lnTo>
                  <a:pt x="94535" y="117113"/>
                </a:lnTo>
                <a:cubicBezTo>
                  <a:pt x="96724" y="120876"/>
                  <a:pt x="98106" y="125215"/>
                  <a:pt x="97107" y="129438"/>
                </a:cubicBezTo>
                <a:cubicBezTo>
                  <a:pt x="92961" y="146640"/>
                  <a:pt x="72879" y="159734"/>
                  <a:pt x="48727" y="159734"/>
                </a:cubicBezTo>
                <a:cubicBezTo>
                  <a:pt x="24574" y="159734"/>
                  <a:pt x="4493" y="146679"/>
                  <a:pt x="346" y="1294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2729086" y="3243828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735230" y="3489572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迁移Tablet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15930" y="3833615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412526" y="4030210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73723" y="98298"/>
                </a:moveTo>
                <a:lnTo>
                  <a:pt x="58556" y="113465"/>
                </a:lnTo>
                <a:cubicBezTo>
                  <a:pt x="53718" y="111583"/>
                  <a:pt x="48496" y="110585"/>
                  <a:pt x="43005" y="110585"/>
                </a:cubicBezTo>
                <a:cubicBezTo>
                  <a:pt x="19237" y="110585"/>
                  <a:pt x="0" y="129822"/>
                  <a:pt x="0" y="153590"/>
                </a:cubicBezTo>
                <a:cubicBezTo>
                  <a:pt x="0" y="177358"/>
                  <a:pt x="19237" y="196596"/>
                  <a:pt x="43005" y="196596"/>
                </a:cubicBezTo>
                <a:cubicBezTo>
                  <a:pt x="66773" y="196596"/>
                  <a:pt x="86011" y="177358"/>
                  <a:pt x="86011" y="153590"/>
                </a:cubicBezTo>
                <a:cubicBezTo>
                  <a:pt x="86011" y="148099"/>
                  <a:pt x="84974" y="142877"/>
                  <a:pt x="83131" y="138039"/>
                </a:cubicBezTo>
                <a:lnTo>
                  <a:pt x="191681" y="29489"/>
                </a:lnTo>
                <a:cubicBezTo>
                  <a:pt x="194407" y="26763"/>
                  <a:pt x="194407" y="22386"/>
                  <a:pt x="191681" y="19660"/>
                </a:cubicBezTo>
                <a:cubicBezTo>
                  <a:pt x="180814" y="8793"/>
                  <a:pt x="163228" y="8793"/>
                  <a:pt x="152362" y="19660"/>
                </a:cubicBezTo>
                <a:lnTo>
                  <a:pt x="98298" y="73723"/>
                </a:lnTo>
                <a:lnTo>
                  <a:pt x="83131" y="58556"/>
                </a:lnTo>
                <a:cubicBezTo>
                  <a:pt x="85012" y="53718"/>
                  <a:pt x="86011" y="48496"/>
                  <a:pt x="86011" y="43005"/>
                </a:cubicBezTo>
                <a:cubicBezTo>
                  <a:pt x="86011" y="19237"/>
                  <a:pt x="66773" y="0"/>
                  <a:pt x="43005" y="0"/>
                </a:cubicBezTo>
                <a:cubicBezTo>
                  <a:pt x="19237" y="0"/>
                  <a:pt x="0" y="19237"/>
                  <a:pt x="0" y="43005"/>
                </a:cubicBezTo>
                <a:cubicBezTo>
                  <a:pt x="0" y="66773"/>
                  <a:pt x="19237" y="86011"/>
                  <a:pt x="43005" y="86011"/>
                </a:cubicBezTo>
                <a:cubicBezTo>
                  <a:pt x="48496" y="86011"/>
                  <a:pt x="53718" y="84974"/>
                  <a:pt x="58556" y="83131"/>
                </a:cubicBezTo>
                <a:lnTo>
                  <a:pt x="73723" y="98298"/>
                </a:lnTo>
                <a:close/>
                <a:moveTo>
                  <a:pt x="111315" y="135889"/>
                </a:moveTo>
                <a:lnTo>
                  <a:pt x="152362" y="176936"/>
                </a:lnTo>
                <a:cubicBezTo>
                  <a:pt x="163228" y="187803"/>
                  <a:pt x="180814" y="187803"/>
                  <a:pt x="191681" y="176936"/>
                </a:cubicBezTo>
                <a:cubicBezTo>
                  <a:pt x="194407" y="174210"/>
                  <a:pt x="194407" y="169833"/>
                  <a:pt x="191681" y="167106"/>
                </a:cubicBezTo>
                <a:lnTo>
                  <a:pt x="135889" y="111315"/>
                </a:lnTo>
                <a:lnTo>
                  <a:pt x="111315" y="135889"/>
                </a:lnTo>
                <a:close/>
                <a:moveTo>
                  <a:pt x="24574" y="43005"/>
                </a:moveTo>
                <a:cubicBezTo>
                  <a:pt x="24574" y="32833"/>
                  <a:pt x="32833" y="24574"/>
                  <a:pt x="43005" y="24574"/>
                </a:cubicBezTo>
                <a:cubicBezTo>
                  <a:pt x="53178" y="24574"/>
                  <a:pt x="61436" y="32833"/>
                  <a:pt x="61436" y="43005"/>
                </a:cubicBezTo>
                <a:cubicBezTo>
                  <a:pt x="61436" y="53178"/>
                  <a:pt x="53178" y="61436"/>
                  <a:pt x="43005" y="61436"/>
                </a:cubicBezTo>
                <a:cubicBezTo>
                  <a:pt x="32833" y="61436"/>
                  <a:pt x="24574" y="53178"/>
                  <a:pt x="24574" y="43005"/>
                </a:cubicBezTo>
                <a:close/>
                <a:moveTo>
                  <a:pt x="43005" y="135159"/>
                </a:moveTo>
                <a:cubicBezTo>
                  <a:pt x="53178" y="135159"/>
                  <a:pt x="61436" y="143418"/>
                  <a:pt x="61436" y="153590"/>
                </a:cubicBezTo>
                <a:cubicBezTo>
                  <a:pt x="61436" y="163763"/>
                  <a:pt x="53178" y="172021"/>
                  <a:pt x="43005" y="172021"/>
                </a:cubicBezTo>
                <a:cubicBezTo>
                  <a:pt x="32833" y="172021"/>
                  <a:pt x="24574" y="163763"/>
                  <a:pt x="24574" y="153590"/>
                </a:cubicBezTo>
                <a:cubicBezTo>
                  <a:pt x="24574" y="143418"/>
                  <a:pt x="32833" y="135159"/>
                  <a:pt x="43005" y="13515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145790" y="4521699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Tablet分裂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51933" y="4767444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按中点分裂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07627" y="3833615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1216509" y="4030210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61436" y="24574"/>
                </a:moveTo>
                <a:cubicBezTo>
                  <a:pt x="61436" y="17778"/>
                  <a:pt x="55945" y="12287"/>
                  <a:pt x="49149" y="12287"/>
                </a:cubicBezTo>
                <a:cubicBezTo>
                  <a:pt x="42353" y="12287"/>
                  <a:pt x="36862" y="17778"/>
                  <a:pt x="36862" y="24574"/>
                </a:cubicBezTo>
                <a:lnTo>
                  <a:pt x="36862" y="49149"/>
                </a:lnTo>
                <a:lnTo>
                  <a:pt x="12287" y="49149"/>
                </a:lnTo>
                <a:cubicBezTo>
                  <a:pt x="5491" y="49149"/>
                  <a:pt x="0" y="54640"/>
                  <a:pt x="0" y="61436"/>
                </a:cubicBezTo>
                <a:cubicBezTo>
                  <a:pt x="0" y="68233"/>
                  <a:pt x="5491" y="73723"/>
                  <a:pt x="12287" y="73723"/>
                </a:cubicBezTo>
                <a:lnTo>
                  <a:pt x="49149" y="73723"/>
                </a:lnTo>
                <a:cubicBezTo>
                  <a:pt x="55945" y="73723"/>
                  <a:pt x="61436" y="68233"/>
                  <a:pt x="61436" y="61436"/>
                </a:cubicBezTo>
                <a:lnTo>
                  <a:pt x="61436" y="24574"/>
                </a:lnTo>
                <a:close/>
                <a:moveTo>
                  <a:pt x="12287" y="122872"/>
                </a:moveTo>
                <a:cubicBezTo>
                  <a:pt x="5491" y="122872"/>
                  <a:pt x="0" y="128363"/>
                  <a:pt x="0" y="135159"/>
                </a:cubicBezTo>
                <a:cubicBezTo>
                  <a:pt x="0" y="141956"/>
                  <a:pt x="5491" y="147447"/>
                  <a:pt x="12287" y="147447"/>
                </a:cubicBezTo>
                <a:lnTo>
                  <a:pt x="36862" y="147447"/>
                </a:lnTo>
                <a:lnTo>
                  <a:pt x="36862" y="172021"/>
                </a:lnTo>
                <a:cubicBezTo>
                  <a:pt x="36862" y="178818"/>
                  <a:pt x="42353" y="184308"/>
                  <a:pt x="49149" y="184308"/>
                </a:cubicBezTo>
                <a:cubicBezTo>
                  <a:pt x="55945" y="184308"/>
                  <a:pt x="61436" y="178818"/>
                  <a:pt x="61436" y="172021"/>
                </a:cubicBezTo>
                <a:lnTo>
                  <a:pt x="61436" y="135159"/>
                </a:lnTo>
                <a:cubicBezTo>
                  <a:pt x="61436" y="128363"/>
                  <a:pt x="55945" y="122872"/>
                  <a:pt x="49149" y="122872"/>
                </a:cubicBezTo>
                <a:lnTo>
                  <a:pt x="12287" y="122872"/>
                </a:lnTo>
                <a:close/>
                <a:moveTo>
                  <a:pt x="135159" y="24574"/>
                </a:moveTo>
                <a:cubicBezTo>
                  <a:pt x="135159" y="17778"/>
                  <a:pt x="129669" y="12287"/>
                  <a:pt x="122872" y="12287"/>
                </a:cubicBezTo>
                <a:cubicBezTo>
                  <a:pt x="116076" y="12287"/>
                  <a:pt x="110585" y="17778"/>
                  <a:pt x="110585" y="24574"/>
                </a:cubicBezTo>
                <a:lnTo>
                  <a:pt x="110585" y="61436"/>
                </a:lnTo>
                <a:cubicBezTo>
                  <a:pt x="110585" y="68233"/>
                  <a:pt x="116076" y="73723"/>
                  <a:pt x="122872" y="73723"/>
                </a:cubicBezTo>
                <a:lnTo>
                  <a:pt x="159734" y="73723"/>
                </a:lnTo>
                <a:cubicBezTo>
                  <a:pt x="166530" y="73723"/>
                  <a:pt x="172021" y="68233"/>
                  <a:pt x="172021" y="61436"/>
                </a:cubicBezTo>
                <a:cubicBezTo>
                  <a:pt x="172021" y="54640"/>
                  <a:pt x="166530" y="49149"/>
                  <a:pt x="159734" y="49149"/>
                </a:cubicBezTo>
                <a:lnTo>
                  <a:pt x="135159" y="49149"/>
                </a:lnTo>
                <a:lnTo>
                  <a:pt x="135159" y="24574"/>
                </a:lnTo>
                <a:close/>
                <a:moveTo>
                  <a:pt x="122872" y="122872"/>
                </a:moveTo>
                <a:cubicBezTo>
                  <a:pt x="116076" y="122872"/>
                  <a:pt x="110585" y="128363"/>
                  <a:pt x="110585" y="135159"/>
                </a:cubicBezTo>
                <a:lnTo>
                  <a:pt x="110585" y="172021"/>
                </a:lnTo>
                <a:cubicBezTo>
                  <a:pt x="110585" y="178818"/>
                  <a:pt x="116076" y="184308"/>
                  <a:pt x="122872" y="184308"/>
                </a:cubicBezTo>
                <a:cubicBezTo>
                  <a:pt x="129669" y="184308"/>
                  <a:pt x="135159" y="178818"/>
                  <a:pt x="135159" y="172021"/>
                </a:cubicBezTo>
                <a:lnTo>
                  <a:pt x="135159" y="147447"/>
                </a:lnTo>
                <a:lnTo>
                  <a:pt x="159734" y="147447"/>
                </a:lnTo>
                <a:cubicBezTo>
                  <a:pt x="166530" y="147447"/>
                  <a:pt x="172021" y="141956"/>
                  <a:pt x="172021" y="135159"/>
                </a:cubicBezTo>
                <a:cubicBezTo>
                  <a:pt x="172021" y="128363"/>
                  <a:pt x="166530" y="122872"/>
                  <a:pt x="159734" y="122872"/>
                </a:cubicBezTo>
                <a:lnTo>
                  <a:pt x="122872" y="12287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937390" y="4521699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Tablet合并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43534" y="4767444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合并小文件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3799227" y="3833615"/>
            <a:ext cx="589787" cy="589787"/>
          </a:xfrm>
          <a:custGeom>
            <a:avLst/>
            <a:gdLst/>
            <a:ahLst/>
            <a:cxnLst/>
            <a:rect l="l" t="t" r="r" b="b"/>
            <a:pathLst>
              <a:path w="589787" h="589787">
                <a:moveTo>
                  <a:pt x="294893" y="0"/>
                </a:moveTo>
                <a:lnTo>
                  <a:pt x="294893" y="0"/>
                </a:lnTo>
                <a:cubicBezTo>
                  <a:pt x="457650" y="0"/>
                  <a:pt x="589787" y="132137"/>
                  <a:pt x="589787" y="294893"/>
                </a:cubicBezTo>
                <a:lnTo>
                  <a:pt x="589787" y="294893"/>
                </a:lnTo>
                <a:cubicBezTo>
                  <a:pt x="589787" y="457650"/>
                  <a:pt x="457650" y="589787"/>
                  <a:pt x="294893" y="589787"/>
                </a:cubicBezTo>
                <a:lnTo>
                  <a:pt x="294893" y="589787"/>
                </a:lnTo>
                <a:cubicBezTo>
                  <a:pt x="132137" y="589787"/>
                  <a:pt x="0" y="457650"/>
                  <a:pt x="0" y="294893"/>
                </a:cubicBezTo>
                <a:lnTo>
                  <a:pt x="0" y="294893"/>
                </a:lnTo>
                <a:cubicBezTo>
                  <a:pt x="0" y="132137"/>
                  <a:pt x="132137" y="0"/>
                  <a:pt x="29489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3995822" y="4030210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98298" y="196596"/>
                </a:moveTo>
                <a:cubicBezTo>
                  <a:pt x="152550" y="196596"/>
                  <a:pt x="196596" y="152550"/>
                  <a:pt x="196596" y="98298"/>
                </a:cubicBezTo>
                <a:cubicBezTo>
                  <a:pt x="196596" y="44046"/>
                  <a:pt x="152550" y="0"/>
                  <a:pt x="98298" y="0"/>
                </a:cubicBezTo>
                <a:cubicBezTo>
                  <a:pt x="44046" y="0"/>
                  <a:pt x="0" y="44046"/>
                  <a:pt x="0" y="98298"/>
                </a:cubicBezTo>
                <a:cubicBezTo>
                  <a:pt x="0" y="152550"/>
                  <a:pt x="44046" y="196596"/>
                  <a:pt x="98298" y="196596"/>
                </a:cubicBezTo>
                <a:close/>
                <a:moveTo>
                  <a:pt x="130705" y="81672"/>
                </a:moveTo>
                <a:lnTo>
                  <a:pt x="99987" y="130821"/>
                </a:lnTo>
                <a:cubicBezTo>
                  <a:pt x="98375" y="133393"/>
                  <a:pt x="95610" y="135006"/>
                  <a:pt x="92577" y="135159"/>
                </a:cubicBezTo>
                <a:cubicBezTo>
                  <a:pt x="89543" y="135313"/>
                  <a:pt x="86625" y="133931"/>
                  <a:pt x="84820" y="131473"/>
                </a:cubicBezTo>
                <a:lnTo>
                  <a:pt x="66389" y="106899"/>
                </a:lnTo>
                <a:cubicBezTo>
                  <a:pt x="63318" y="102829"/>
                  <a:pt x="64162" y="97069"/>
                  <a:pt x="68233" y="93997"/>
                </a:cubicBezTo>
                <a:cubicBezTo>
                  <a:pt x="72303" y="90925"/>
                  <a:pt x="78062" y="91770"/>
                  <a:pt x="81134" y="95840"/>
                </a:cubicBezTo>
                <a:lnTo>
                  <a:pt x="91501" y="109663"/>
                </a:lnTo>
                <a:lnTo>
                  <a:pt x="115078" y="71919"/>
                </a:lnTo>
                <a:cubicBezTo>
                  <a:pt x="117765" y="67618"/>
                  <a:pt x="123448" y="66274"/>
                  <a:pt x="127787" y="69000"/>
                </a:cubicBezTo>
                <a:cubicBezTo>
                  <a:pt x="132126" y="71727"/>
                  <a:pt x="133432" y="77371"/>
                  <a:pt x="130705" y="8171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2729086" y="4521699"/>
            <a:ext cx="272776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正常服务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2735230" y="4767444"/>
            <a:ext cx="271547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稳定运行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820178" y="5455528"/>
            <a:ext cx="8945101" cy="3194679"/>
          </a:xfrm>
          <a:custGeom>
            <a:avLst/>
            <a:gdLst/>
            <a:ahLst/>
            <a:cxnLst/>
            <a:rect l="l" t="t" r="r" b="b"/>
            <a:pathLst>
              <a:path w="8945101" h="3194679">
                <a:moveTo>
                  <a:pt x="49149" y="0"/>
                </a:moveTo>
                <a:lnTo>
                  <a:pt x="8797666" y="0"/>
                </a:lnTo>
                <a:cubicBezTo>
                  <a:pt x="8879092" y="0"/>
                  <a:pt x="8945101" y="66009"/>
                  <a:pt x="8945101" y="147434"/>
                </a:cubicBezTo>
                <a:lnTo>
                  <a:pt x="8945101" y="3047244"/>
                </a:lnTo>
                <a:cubicBezTo>
                  <a:pt x="8945101" y="3128670"/>
                  <a:pt x="8879092" y="3194679"/>
                  <a:pt x="8797666" y="3194679"/>
                </a:cubicBezTo>
                <a:lnTo>
                  <a:pt x="49149" y="3194679"/>
                </a:lnTo>
                <a:cubicBezTo>
                  <a:pt x="22005" y="3194679"/>
                  <a:pt x="0" y="3172674"/>
                  <a:pt x="0" y="3145530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6820178" y="5455528"/>
            <a:ext cx="49149" cy="3194679"/>
          </a:xfrm>
          <a:custGeom>
            <a:avLst/>
            <a:gdLst/>
            <a:ahLst/>
            <a:cxnLst/>
            <a:rect l="l" t="t" r="r" b="b"/>
            <a:pathLst>
              <a:path w="49149" h="3194679">
                <a:moveTo>
                  <a:pt x="49149" y="0"/>
                </a:moveTo>
                <a:lnTo>
                  <a:pt x="49149" y="0"/>
                </a:lnTo>
                <a:lnTo>
                  <a:pt x="49149" y="3194679"/>
                </a:lnTo>
                <a:lnTo>
                  <a:pt x="49149" y="3194679"/>
                </a:lnTo>
                <a:cubicBezTo>
                  <a:pt x="22005" y="3194679"/>
                  <a:pt x="0" y="3172674"/>
                  <a:pt x="0" y="3145530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7041348" y="5652124"/>
            <a:ext cx="865020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大小控制策略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041348" y="6143613"/>
            <a:ext cx="4189944" cy="1081276"/>
          </a:xfrm>
          <a:custGeom>
            <a:avLst/>
            <a:gdLst/>
            <a:ahLst/>
            <a:cxnLst/>
            <a:rect l="l" t="t" r="r" b="b"/>
            <a:pathLst>
              <a:path w="4189944" h="1081276">
                <a:moveTo>
                  <a:pt x="98299" y="0"/>
                </a:moveTo>
                <a:lnTo>
                  <a:pt x="4091645" y="0"/>
                </a:lnTo>
                <a:cubicBezTo>
                  <a:pt x="4145934" y="0"/>
                  <a:pt x="4189944" y="44010"/>
                  <a:pt x="4189944" y="98299"/>
                </a:cubicBezTo>
                <a:lnTo>
                  <a:pt x="4189944" y="982977"/>
                </a:lnTo>
                <a:cubicBezTo>
                  <a:pt x="4189944" y="1037266"/>
                  <a:pt x="4145934" y="1081276"/>
                  <a:pt x="4091645" y="1081276"/>
                </a:cubicBezTo>
                <a:lnTo>
                  <a:pt x="98299" y="1081276"/>
                </a:lnTo>
                <a:cubicBezTo>
                  <a:pt x="44010" y="1081276"/>
                  <a:pt x="0" y="1037266"/>
                  <a:pt x="0" y="982977"/>
                </a:cubicBezTo>
                <a:lnTo>
                  <a:pt x="0" y="98299"/>
                </a:lnTo>
                <a:cubicBezTo>
                  <a:pt x="0" y="44010"/>
                  <a:pt x="44010" y="0"/>
                  <a:pt x="982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7188795" y="6291060"/>
            <a:ext cx="398106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初始大小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188795" y="6585953"/>
            <a:ext cx="399334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~100MB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188795" y="6880847"/>
            <a:ext cx="39687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迁移效率高,适合内存缓存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376243" y="6143613"/>
            <a:ext cx="4189944" cy="1081276"/>
          </a:xfrm>
          <a:custGeom>
            <a:avLst/>
            <a:gdLst/>
            <a:ahLst/>
            <a:cxnLst/>
            <a:rect l="l" t="t" r="r" b="b"/>
            <a:pathLst>
              <a:path w="4189944" h="1081276">
                <a:moveTo>
                  <a:pt x="98299" y="0"/>
                </a:moveTo>
                <a:lnTo>
                  <a:pt x="4091645" y="0"/>
                </a:lnTo>
                <a:cubicBezTo>
                  <a:pt x="4145934" y="0"/>
                  <a:pt x="4189944" y="44010"/>
                  <a:pt x="4189944" y="98299"/>
                </a:cubicBezTo>
                <a:lnTo>
                  <a:pt x="4189944" y="982977"/>
                </a:lnTo>
                <a:cubicBezTo>
                  <a:pt x="4189944" y="1037266"/>
                  <a:pt x="4145934" y="1081276"/>
                  <a:pt x="4091645" y="1081276"/>
                </a:cubicBezTo>
                <a:lnTo>
                  <a:pt x="98299" y="1081276"/>
                </a:lnTo>
                <a:cubicBezTo>
                  <a:pt x="44010" y="1081276"/>
                  <a:pt x="0" y="1037266"/>
                  <a:pt x="0" y="982977"/>
                </a:cubicBezTo>
                <a:lnTo>
                  <a:pt x="0" y="98299"/>
                </a:lnTo>
                <a:cubicBezTo>
                  <a:pt x="0" y="44010"/>
                  <a:pt x="44010" y="0"/>
                  <a:pt x="982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1523690" y="6291060"/>
            <a:ext cx="398106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分裂阈值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523690" y="6585953"/>
            <a:ext cx="399334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100-200MB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523690" y="6880847"/>
            <a:ext cx="39687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平衡元数据开销与迁移成本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041348" y="7372336"/>
            <a:ext cx="4189944" cy="1081276"/>
          </a:xfrm>
          <a:custGeom>
            <a:avLst/>
            <a:gdLst/>
            <a:ahLst/>
            <a:cxnLst/>
            <a:rect l="l" t="t" r="r" b="b"/>
            <a:pathLst>
              <a:path w="4189944" h="1081276">
                <a:moveTo>
                  <a:pt x="98299" y="0"/>
                </a:moveTo>
                <a:lnTo>
                  <a:pt x="4091645" y="0"/>
                </a:lnTo>
                <a:cubicBezTo>
                  <a:pt x="4145934" y="0"/>
                  <a:pt x="4189944" y="44010"/>
                  <a:pt x="4189944" y="98299"/>
                </a:cubicBezTo>
                <a:lnTo>
                  <a:pt x="4189944" y="982977"/>
                </a:lnTo>
                <a:cubicBezTo>
                  <a:pt x="4189944" y="1037266"/>
                  <a:pt x="4145934" y="1081276"/>
                  <a:pt x="4091645" y="1081276"/>
                </a:cubicBezTo>
                <a:lnTo>
                  <a:pt x="98299" y="1081276"/>
                </a:lnTo>
                <a:cubicBezTo>
                  <a:pt x="44010" y="1081276"/>
                  <a:pt x="0" y="1037266"/>
                  <a:pt x="0" y="982977"/>
                </a:cubicBezTo>
                <a:lnTo>
                  <a:pt x="0" y="98299"/>
                </a:lnTo>
                <a:cubicBezTo>
                  <a:pt x="0" y="44010"/>
                  <a:pt x="44010" y="0"/>
                  <a:pt x="982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7188795" y="7519782"/>
            <a:ext cx="398106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分裂算法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188795" y="7814676"/>
            <a:ext cx="399334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中点分裂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188795" y="8109569"/>
            <a:ext cx="39687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数据均匀分布,避免热点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1376243" y="7372336"/>
            <a:ext cx="4189944" cy="1081276"/>
          </a:xfrm>
          <a:custGeom>
            <a:avLst/>
            <a:gdLst/>
            <a:ahLst/>
            <a:cxnLst/>
            <a:rect l="l" t="t" r="r" b="b"/>
            <a:pathLst>
              <a:path w="4189944" h="1081276">
                <a:moveTo>
                  <a:pt x="98299" y="0"/>
                </a:moveTo>
                <a:lnTo>
                  <a:pt x="4091645" y="0"/>
                </a:lnTo>
                <a:cubicBezTo>
                  <a:pt x="4145934" y="0"/>
                  <a:pt x="4189944" y="44010"/>
                  <a:pt x="4189944" y="98299"/>
                </a:cubicBezTo>
                <a:lnTo>
                  <a:pt x="4189944" y="982977"/>
                </a:lnTo>
                <a:cubicBezTo>
                  <a:pt x="4189944" y="1037266"/>
                  <a:pt x="4145934" y="1081276"/>
                  <a:pt x="4091645" y="1081276"/>
                </a:cubicBezTo>
                <a:lnTo>
                  <a:pt x="98299" y="1081276"/>
                </a:lnTo>
                <a:cubicBezTo>
                  <a:pt x="44010" y="1081276"/>
                  <a:pt x="0" y="1037266"/>
                  <a:pt x="0" y="982977"/>
                </a:cubicBezTo>
                <a:lnTo>
                  <a:pt x="0" y="98299"/>
                </a:lnTo>
                <a:cubicBezTo>
                  <a:pt x="0" y="44010"/>
                  <a:pt x="44010" y="0"/>
                  <a:pt x="982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11523690" y="7519782"/>
            <a:ext cx="3981061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合并条件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1523690" y="7814676"/>
            <a:ext cx="399334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&lt;50MB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523690" y="8109569"/>
            <a:ext cx="39687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减少元数据,优化查询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9648" y="483613"/>
            <a:ext cx="43965" cy="351719"/>
          </a:xfrm>
          <a:custGeom>
            <a:avLst/>
            <a:gdLst/>
            <a:ahLst/>
            <a:cxnLst/>
            <a:rect l="l" t="t" r="r" b="b"/>
            <a:pathLst>
              <a:path w="43965" h="351719">
                <a:moveTo>
                  <a:pt x="0" y="0"/>
                </a:moveTo>
                <a:lnTo>
                  <a:pt x="43965" y="0"/>
                </a:lnTo>
                <a:lnTo>
                  <a:pt x="43965" y="351719"/>
                </a:lnTo>
                <a:lnTo>
                  <a:pt x="0" y="351719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5508" y="439648"/>
            <a:ext cx="4000801" cy="43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1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分布式协调与故障检测恢复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1631" y="1187051"/>
            <a:ext cx="7583935" cy="4616308"/>
          </a:xfrm>
          <a:custGeom>
            <a:avLst/>
            <a:gdLst/>
            <a:ahLst/>
            <a:cxnLst/>
            <a:rect l="l" t="t" r="r" b="b"/>
            <a:pathLst>
              <a:path w="7583935" h="4616308">
                <a:moveTo>
                  <a:pt x="43965" y="0"/>
                </a:moveTo>
                <a:lnTo>
                  <a:pt x="7452047" y="0"/>
                </a:lnTo>
                <a:cubicBezTo>
                  <a:pt x="7524887" y="0"/>
                  <a:pt x="7583935" y="59048"/>
                  <a:pt x="7583935" y="131888"/>
                </a:cubicBezTo>
                <a:lnTo>
                  <a:pt x="7583935" y="4484420"/>
                </a:lnTo>
                <a:cubicBezTo>
                  <a:pt x="7583935" y="4557260"/>
                  <a:pt x="7524887" y="4616308"/>
                  <a:pt x="7452047" y="4616308"/>
                </a:cubicBezTo>
                <a:lnTo>
                  <a:pt x="43965" y="4616308"/>
                </a:lnTo>
                <a:cubicBezTo>
                  <a:pt x="19684" y="4616308"/>
                  <a:pt x="0" y="4596625"/>
                  <a:pt x="0" y="4572343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61631" y="1187051"/>
            <a:ext cx="43965" cy="4616308"/>
          </a:xfrm>
          <a:custGeom>
            <a:avLst/>
            <a:gdLst/>
            <a:ahLst/>
            <a:cxnLst/>
            <a:rect l="l" t="t" r="r" b="b"/>
            <a:pathLst>
              <a:path w="43965" h="4616308">
                <a:moveTo>
                  <a:pt x="43965" y="0"/>
                </a:moveTo>
                <a:lnTo>
                  <a:pt x="43965" y="0"/>
                </a:lnTo>
                <a:lnTo>
                  <a:pt x="43965" y="4616308"/>
                </a:lnTo>
                <a:lnTo>
                  <a:pt x="43965" y="4616308"/>
                </a:lnTo>
                <a:cubicBezTo>
                  <a:pt x="19684" y="4616308"/>
                  <a:pt x="0" y="4596625"/>
                  <a:pt x="0" y="4572343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9473" y="1362910"/>
            <a:ext cx="73201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Chubby分布式锁服务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9473" y="1802558"/>
            <a:ext cx="729816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Chubby在Tablet分布式架构中扮演关键协调角色: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9473" y="2198242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02358" y="2374101"/>
            <a:ext cx="197842" cy="175859"/>
          </a:xfrm>
          <a:custGeom>
            <a:avLst/>
            <a:gdLst/>
            <a:ahLst/>
            <a:cxnLst/>
            <a:rect l="l" t="t" r="r" b="b"/>
            <a:pathLst>
              <a:path w="197842" h="175859">
                <a:moveTo>
                  <a:pt x="32974" y="32974"/>
                </a:moveTo>
                <a:cubicBezTo>
                  <a:pt x="32974" y="20849"/>
                  <a:pt x="42831" y="10991"/>
                  <a:pt x="54956" y="10991"/>
                </a:cubicBezTo>
                <a:lnTo>
                  <a:pt x="142886" y="10991"/>
                </a:lnTo>
                <a:cubicBezTo>
                  <a:pt x="155010" y="10991"/>
                  <a:pt x="164868" y="20849"/>
                  <a:pt x="164868" y="32974"/>
                </a:cubicBezTo>
                <a:lnTo>
                  <a:pt x="164868" y="109912"/>
                </a:lnTo>
                <a:cubicBezTo>
                  <a:pt x="164868" y="122037"/>
                  <a:pt x="155010" y="131895"/>
                  <a:pt x="142886" y="131895"/>
                </a:cubicBezTo>
                <a:lnTo>
                  <a:pt x="54956" y="131895"/>
                </a:lnTo>
                <a:cubicBezTo>
                  <a:pt x="42831" y="131895"/>
                  <a:pt x="32974" y="122037"/>
                  <a:pt x="32974" y="109912"/>
                </a:cubicBezTo>
                <a:lnTo>
                  <a:pt x="32974" y="32974"/>
                </a:lnTo>
                <a:close/>
                <a:moveTo>
                  <a:pt x="125265" y="39706"/>
                </a:moveTo>
                <a:cubicBezTo>
                  <a:pt x="121419" y="37301"/>
                  <a:pt x="116335" y="38469"/>
                  <a:pt x="113896" y="42316"/>
                </a:cubicBezTo>
                <a:lnTo>
                  <a:pt x="92807" y="76080"/>
                </a:lnTo>
                <a:lnTo>
                  <a:pt x="83533" y="63715"/>
                </a:lnTo>
                <a:cubicBezTo>
                  <a:pt x="80785" y="60074"/>
                  <a:pt x="75633" y="59318"/>
                  <a:pt x="71992" y="62066"/>
                </a:cubicBezTo>
                <a:cubicBezTo>
                  <a:pt x="68352" y="64814"/>
                  <a:pt x="67596" y="69966"/>
                  <a:pt x="70344" y="73607"/>
                </a:cubicBezTo>
                <a:lnTo>
                  <a:pt x="86831" y="95589"/>
                </a:lnTo>
                <a:cubicBezTo>
                  <a:pt x="88445" y="97753"/>
                  <a:pt x="91055" y="98990"/>
                  <a:pt x="93769" y="98887"/>
                </a:cubicBezTo>
                <a:cubicBezTo>
                  <a:pt x="96482" y="98784"/>
                  <a:pt x="98955" y="97341"/>
                  <a:pt x="100398" y="95005"/>
                </a:cubicBezTo>
                <a:lnTo>
                  <a:pt x="127876" y="51040"/>
                </a:lnTo>
                <a:cubicBezTo>
                  <a:pt x="130280" y="47194"/>
                  <a:pt x="129112" y="42110"/>
                  <a:pt x="125265" y="39671"/>
                </a:cubicBezTo>
                <a:close/>
                <a:moveTo>
                  <a:pt x="16487" y="107164"/>
                </a:moveTo>
                <a:lnTo>
                  <a:pt x="16487" y="142886"/>
                </a:lnTo>
                <a:cubicBezTo>
                  <a:pt x="16487" y="145908"/>
                  <a:pt x="18960" y="148381"/>
                  <a:pt x="21982" y="148381"/>
                </a:cubicBezTo>
                <a:lnTo>
                  <a:pt x="175859" y="148381"/>
                </a:lnTo>
                <a:cubicBezTo>
                  <a:pt x="178882" y="148381"/>
                  <a:pt x="181355" y="145908"/>
                  <a:pt x="181355" y="142886"/>
                </a:cubicBezTo>
                <a:lnTo>
                  <a:pt x="181355" y="107164"/>
                </a:lnTo>
                <a:cubicBezTo>
                  <a:pt x="181355" y="102596"/>
                  <a:pt x="185030" y="98921"/>
                  <a:pt x="189598" y="98921"/>
                </a:cubicBezTo>
                <a:cubicBezTo>
                  <a:pt x="194167" y="98921"/>
                  <a:pt x="197842" y="102596"/>
                  <a:pt x="197842" y="107164"/>
                </a:cubicBezTo>
                <a:lnTo>
                  <a:pt x="197842" y="142886"/>
                </a:lnTo>
                <a:cubicBezTo>
                  <a:pt x="197842" y="155010"/>
                  <a:pt x="187984" y="164868"/>
                  <a:pt x="175859" y="164868"/>
                </a:cubicBezTo>
                <a:lnTo>
                  <a:pt x="21982" y="164868"/>
                </a:lnTo>
                <a:cubicBezTo>
                  <a:pt x="9858" y="164868"/>
                  <a:pt x="0" y="155010"/>
                  <a:pt x="0" y="142886"/>
                </a:cubicBezTo>
                <a:lnTo>
                  <a:pt x="0" y="107164"/>
                </a:lnTo>
                <a:cubicBezTo>
                  <a:pt x="0" y="102596"/>
                  <a:pt x="3675" y="98921"/>
                  <a:pt x="8243" y="98921"/>
                </a:cubicBezTo>
                <a:cubicBezTo>
                  <a:pt x="12812" y="98921"/>
                  <a:pt x="16487" y="102596"/>
                  <a:pt x="16487" y="10716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11191" y="2330137"/>
            <a:ext cx="681455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Master选举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1367" y="2637890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确保只有一个活动的Master服务器,避免脑裂问题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9473" y="3077539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3350" y="3253398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87930" y="175859"/>
                </a:moveTo>
                <a:cubicBezTo>
                  <a:pt x="136459" y="175859"/>
                  <a:pt x="175859" y="136459"/>
                  <a:pt x="175859" y="87930"/>
                </a:cubicBezTo>
                <a:cubicBezTo>
                  <a:pt x="175859" y="39400"/>
                  <a:pt x="136459" y="0"/>
                  <a:pt x="87930" y="0"/>
                </a:cubicBezTo>
                <a:cubicBezTo>
                  <a:pt x="39400" y="0"/>
                  <a:pt x="0" y="39400"/>
                  <a:pt x="0" y="87930"/>
                </a:cubicBezTo>
                <a:cubicBezTo>
                  <a:pt x="0" y="136459"/>
                  <a:pt x="39400" y="175859"/>
                  <a:pt x="87930" y="175859"/>
                </a:cubicBezTo>
                <a:close/>
                <a:moveTo>
                  <a:pt x="68695" y="49460"/>
                </a:moveTo>
                <a:lnTo>
                  <a:pt x="96173" y="49460"/>
                </a:lnTo>
                <a:cubicBezTo>
                  <a:pt x="109843" y="49460"/>
                  <a:pt x="120903" y="60520"/>
                  <a:pt x="120903" y="74191"/>
                </a:cubicBezTo>
                <a:cubicBezTo>
                  <a:pt x="120903" y="84117"/>
                  <a:pt x="115064" y="92670"/>
                  <a:pt x="106615" y="96620"/>
                </a:cubicBezTo>
                <a:lnTo>
                  <a:pt x="116988" y="113896"/>
                </a:lnTo>
                <a:cubicBezTo>
                  <a:pt x="119323" y="117812"/>
                  <a:pt x="118052" y="122861"/>
                  <a:pt x="114171" y="125197"/>
                </a:cubicBezTo>
                <a:cubicBezTo>
                  <a:pt x="110290" y="127532"/>
                  <a:pt x="105206" y="126262"/>
                  <a:pt x="102871" y="122380"/>
                </a:cubicBezTo>
                <a:lnTo>
                  <a:pt x="88788" y="98921"/>
                </a:lnTo>
                <a:lnTo>
                  <a:pt x="76973" y="98921"/>
                </a:lnTo>
                <a:lnTo>
                  <a:pt x="76973" y="118156"/>
                </a:lnTo>
                <a:cubicBezTo>
                  <a:pt x="76973" y="122724"/>
                  <a:pt x="73298" y="126399"/>
                  <a:pt x="68729" y="126399"/>
                </a:cubicBezTo>
                <a:cubicBezTo>
                  <a:pt x="64161" y="126399"/>
                  <a:pt x="60486" y="122724"/>
                  <a:pt x="60486" y="118156"/>
                </a:cubicBezTo>
                <a:lnTo>
                  <a:pt x="60486" y="57704"/>
                </a:lnTo>
                <a:cubicBezTo>
                  <a:pt x="60486" y="53136"/>
                  <a:pt x="64161" y="49460"/>
                  <a:pt x="68729" y="49460"/>
                </a:cubicBezTo>
                <a:close/>
                <a:moveTo>
                  <a:pt x="93425" y="82434"/>
                </a:moveTo>
                <a:lnTo>
                  <a:pt x="96173" y="82434"/>
                </a:lnTo>
                <a:cubicBezTo>
                  <a:pt x="100741" y="82434"/>
                  <a:pt x="104416" y="78759"/>
                  <a:pt x="104416" y="74191"/>
                </a:cubicBezTo>
                <a:cubicBezTo>
                  <a:pt x="104416" y="69622"/>
                  <a:pt x="100741" y="65947"/>
                  <a:pt x="96173" y="65947"/>
                </a:cubicBezTo>
                <a:lnTo>
                  <a:pt x="76938" y="65947"/>
                </a:lnTo>
                <a:lnTo>
                  <a:pt x="76938" y="82434"/>
                </a:lnTo>
                <a:lnTo>
                  <a:pt x="93425" y="82434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11191" y="3209433"/>
            <a:ext cx="681455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Tablet服务器注册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1367" y="3517187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Tablet服务器在Chubby中注册ephemeral节点,支持自动故障检测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9473" y="3956836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4341" y="4132695"/>
            <a:ext cx="153877" cy="175859"/>
          </a:xfrm>
          <a:custGeom>
            <a:avLst/>
            <a:gdLst/>
            <a:ahLst/>
            <a:cxnLst/>
            <a:rect l="l" t="t" r="r" b="b"/>
            <a:pathLst>
              <a:path w="153877" h="175859">
                <a:moveTo>
                  <a:pt x="153877" y="70687"/>
                </a:moveTo>
                <a:cubicBezTo>
                  <a:pt x="148794" y="74053"/>
                  <a:pt x="142954" y="76767"/>
                  <a:pt x="136875" y="78931"/>
                </a:cubicBezTo>
                <a:cubicBezTo>
                  <a:pt x="120732" y="84701"/>
                  <a:pt x="99539" y="87930"/>
                  <a:pt x="76938" y="87930"/>
                </a:cubicBezTo>
                <a:cubicBezTo>
                  <a:pt x="54338" y="87930"/>
                  <a:pt x="33111" y="84667"/>
                  <a:pt x="17002" y="78931"/>
                </a:cubicBezTo>
                <a:cubicBezTo>
                  <a:pt x="10957" y="76767"/>
                  <a:pt x="5083" y="74053"/>
                  <a:pt x="0" y="70687"/>
                </a:cubicBezTo>
                <a:lnTo>
                  <a:pt x="0" y="98921"/>
                </a:lnTo>
                <a:cubicBezTo>
                  <a:pt x="0" y="114103"/>
                  <a:pt x="34451" y="126399"/>
                  <a:pt x="76938" y="126399"/>
                </a:cubicBezTo>
                <a:cubicBezTo>
                  <a:pt x="119426" y="126399"/>
                  <a:pt x="153877" y="114103"/>
                  <a:pt x="153877" y="98921"/>
                </a:cubicBezTo>
                <a:lnTo>
                  <a:pt x="153877" y="70687"/>
                </a:lnTo>
                <a:close/>
                <a:moveTo>
                  <a:pt x="153877" y="43965"/>
                </a:moveTo>
                <a:lnTo>
                  <a:pt x="153877" y="27478"/>
                </a:lnTo>
                <a:cubicBezTo>
                  <a:pt x="153877" y="12296"/>
                  <a:pt x="119426" y="0"/>
                  <a:pt x="76938" y="0"/>
                </a:cubicBezTo>
                <a:cubicBezTo>
                  <a:pt x="34451" y="0"/>
                  <a:pt x="0" y="12296"/>
                  <a:pt x="0" y="27478"/>
                </a:cubicBezTo>
                <a:lnTo>
                  <a:pt x="0" y="43965"/>
                </a:lnTo>
                <a:cubicBezTo>
                  <a:pt x="0" y="59146"/>
                  <a:pt x="34451" y="71443"/>
                  <a:pt x="76938" y="71443"/>
                </a:cubicBezTo>
                <a:cubicBezTo>
                  <a:pt x="119426" y="71443"/>
                  <a:pt x="153877" y="59146"/>
                  <a:pt x="153877" y="43965"/>
                </a:cubicBezTo>
                <a:close/>
                <a:moveTo>
                  <a:pt x="136875" y="133887"/>
                </a:moveTo>
                <a:cubicBezTo>
                  <a:pt x="120766" y="139623"/>
                  <a:pt x="99573" y="142886"/>
                  <a:pt x="76938" y="142886"/>
                </a:cubicBezTo>
                <a:cubicBezTo>
                  <a:pt x="54303" y="142886"/>
                  <a:pt x="33111" y="139623"/>
                  <a:pt x="17002" y="133887"/>
                </a:cubicBezTo>
                <a:cubicBezTo>
                  <a:pt x="10957" y="131723"/>
                  <a:pt x="5083" y="129009"/>
                  <a:pt x="0" y="125643"/>
                </a:cubicBezTo>
                <a:lnTo>
                  <a:pt x="0" y="148381"/>
                </a:lnTo>
                <a:cubicBezTo>
                  <a:pt x="0" y="163563"/>
                  <a:pt x="34451" y="175859"/>
                  <a:pt x="76938" y="175859"/>
                </a:cubicBezTo>
                <a:cubicBezTo>
                  <a:pt x="119426" y="175859"/>
                  <a:pt x="153877" y="163563"/>
                  <a:pt x="153877" y="148381"/>
                </a:cubicBezTo>
                <a:lnTo>
                  <a:pt x="153877" y="125643"/>
                </a:lnTo>
                <a:cubicBezTo>
                  <a:pt x="148794" y="129009"/>
                  <a:pt x="142954" y="131723"/>
                  <a:pt x="136875" y="13388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11191" y="4088730"/>
            <a:ext cx="681455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引导信息存储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1367" y="4396484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存储集群引导配置、Root Tablet位置信息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9473" y="4836133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35332" y="5011992"/>
            <a:ext cx="131895" cy="175859"/>
          </a:xfrm>
          <a:custGeom>
            <a:avLst/>
            <a:gdLst/>
            <a:ahLst/>
            <a:cxnLst/>
            <a:rect l="l" t="t" r="r" b="b"/>
            <a:pathLst>
              <a:path w="131895" h="175859">
                <a:moveTo>
                  <a:pt x="43965" y="32974"/>
                </a:moveTo>
                <a:lnTo>
                  <a:pt x="43965" y="54956"/>
                </a:lnTo>
                <a:lnTo>
                  <a:pt x="87930" y="54956"/>
                </a:lnTo>
                <a:lnTo>
                  <a:pt x="87930" y="32974"/>
                </a:lnTo>
                <a:cubicBezTo>
                  <a:pt x="87930" y="20849"/>
                  <a:pt x="78072" y="10991"/>
                  <a:pt x="65947" y="10991"/>
                </a:cubicBezTo>
                <a:cubicBezTo>
                  <a:pt x="53823" y="10991"/>
                  <a:pt x="43965" y="20849"/>
                  <a:pt x="43965" y="32974"/>
                </a:cubicBezTo>
                <a:close/>
                <a:moveTo>
                  <a:pt x="21982" y="54956"/>
                </a:moveTo>
                <a:lnTo>
                  <a:pt x="21982" y="32974"/>
                </a:lnTo>
                <a:cubicBezTo>
                  <a:pt x="21982" y="8690"/>
                  <a:pt x="41664" y="-10991"/>
                  <a:pt x="65947" y="-10991"/>
                </a:cubicBezTo>
                <a:cubicBezTo>
                  <a:pt x="90231" y="-10991"/>
                  <a:pt x="109912" y="8690"/>
                  <a:pt x="109912" y="32974"/>
                </a:cubicBezTo>
                <a:lnTo>
                  <a:pt x="109912" y="54956"/>
                </a:lnTo>
                <a:cubicBezTo>
                  <a:pt x="122037" y="54956"/>
                  <a:pt x="131895" y="64814"/>
                  <a:pt x="131895" y="76938"/>
                </a:cubicBezTo>
                <a:lnTo>
                  <a:pt x="131895" y="153877"/>
                </a:lnTo>
                <a:cubicBezTo>
                  <a:pt x="131895" y="166002"/>
                  <a:pt x="122037" y="175859"/>
                  <a:pt x="109912" y="175859"/>
                </a:cubicBezTo>
                <a:lnTo>
                  <a:pt x="21982" y="175859"/>
                </a:lnTo>
                <a:cubicBezTo>
                  <a:pt x="9858" y="175859"/>
                  <a:pt x="0" y="166002"/>
                  <a:pt x="0" y="153877"/>
                </a:cubicBezTo>
                <a:lnTo>
                  <a:pt x="0" y="76938"/>
                </a:lnTo>
                <a:cubicBezTo>
                  <a:pt x="0" y="64814"/>
                  <a:pt x="9858" y="54956"/>
                  <a:pt x="21982" y="5495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11191" y="4968027"/>
            <a:ext cx="681455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分布式锁服务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1367" y="5275781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提供分布式锁协调并发操作和Schema变更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38513" y="1026631"/>
            <a:ext cx="7583935" cy="3341328"/>
          </a:xfrm>
          <a:custGeom>
            <a:avLst/>
            <a:gdLst/>
            <a:ahLst/>
            <a:cxnLst/>
            <a:rect l="l" t="t" r="r" b="b"/>
            <a:pathLst>
              <a:path w="7583935" h="3341328">
                <a:moveTo>
                  <a:pt x="43965" y="0"/>
                </a:moveTo>
                <a:lnTo>
                  <a:pt x="7452053" y="0"/>
                </a:lnTo>
                <a:cubicBezTo>
                  <a:pt x="7524889" y="0"/>
                  <a:pt x="7583935" y="59046"/>
                  <a:pt x="7583935" y="131882"/>
                </a:cubicBezTo>
                <a:lnTo>
                  <a:pt x="7583935" y="3209446"/>
                </a:lnTo>
                <a:cubicBezTo>
                  <a:pt x="7583935" y="3282282"/>
                  <a:pt x="7524889" y="3341328"/>
                  <a:pt x="7452053" y="3341328"/>
                </a:cubicBezTo>
                <a:lnTo>
                  <a:pt x="43965" y="3341328"/>
                </a:lnTo>
                <a:cubicBezTo>
                  <a:pt x="19684" y="3341328"/>
                  <a:pt x="0" y="3321644"/>
                  <a:pt x="0" y="3297363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38513" y="1026631"/>
            <a:ext cx="43965" cy="3341328"/>
          </a:xfrm>
          <a:custGeom>
            <a:avLst/>
            <a:gdLst/>
            <a:ahLst/>
            <a:cxnLst/>
            <a:rect l="l" t="t" r="r" b="b"/>
            <a:pathLst>
              <a:path w="43965" h="3341328">
                <a:moveTo>
                  <a:pt x="43965" y="0"/>
                </a:moveTo>
                <a:lnTo>
                  <a:pt x="43965" y="0"/>
                </a:lnTo>
                <a:lnTo>
                  <a:pt x="43965" y="3341328"/>
                </a:lnTo>
                <a:lnTo>
                  <a:pt x="43965" y="3341328"/>
                </a:lnTo>
                <a:cubicBezTo>
                  <a:pt x="19684" y="3341328"/>
                  <a:pt x="0" y="3321644"/>
                  <a:pt x="0" y="3297363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36355" y="1202490"/>
            <a:ext cx="73201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层次化元数据架构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36355" y="1642138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68249" y="1774033"/>
            <a:ext cx="7034375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根Tablet (Root Tablet)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68249" y="2081787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位置固定存储在Chubby中,包含所有METADATA Tablet位置信息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36355" y="2521435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68249" y="2653330"/>
            <a:ext cx="7034375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Tablet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68249" y="2961084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多个Tablet,存储用户Tablet的详细元数据和位置映射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36355" y="3400732"/>
            <a:ext cx="7210234" cy="791367"/>
          </a:xfrm>
          <a:custGeom>
            <a:avLst/>
            <a:gdLst/>
            <a:ahLst/>
            <a:cxnLst/>
            <a:rect l="l" t="t" r="r" b="b"/>
            <a:pathLst>
              <a:path w="7210234" h="791367">
                <a:moveTo>
                  <a:pt x="87929" y="0"/>
                </a:moveTo>
                <a:lnTo>
                  <a:pt x="7122305" y="0"/>
                </a:lnTo>
                <a:cubicBezTo>
                  <a:pt x="7170867" y="0"/>
                  <a:pt x="7210234" y="39367"/>
                  <a:pt x="7210234" y="87929"/>
                </a:cubicBezTo>
                <a:lnTo>
                  <a:pt x="7210234" y="703438"/>
                </a:lnTo>
                <a:cubicBezTo>
                  <a:pt x="7210234" y="752000"/>
                  <a:pt x="7170867" y="791367"/>
                  <a:pt x="7122305" y="791367"/>
                </a:cubicBezTo>
                <a:lnTo>
                  <a:pt x="87929" y="791367"/>
                </a:lnTo>
                <a:cubicBezTo>
                  <a:pt x="39367" y="791367"/>
                  <a:pt x="0" y="752000"/>
                  <a:pt x="0" y="703438"/>
                </a:cubicBezTo>
                <a:lnTo>
                  <a:pt x="0" y="87929"/>
                </a:lnTo>
                <a:cubicBezTo>
                  <a:pt x="0" y="39400"/>
                  <a:pt x="39400" y="0"/>
                  <a:pt x="8792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68249" y="3532627"/>
            <a:ext cx="7034375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用户Tablet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68249" y="3840381"/>
            <a:ext cx="702338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大量用户Tablet存储实际应用数据,由METADATA Tablet管理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38513" y="4499853"/>
            <a:ext cx="7583935" cy="4483727"/>
          </a:xfrm>
          <a:custGeom>
            <a:avLst/>
            <a:gdLst/>
            <a:ahLst/>
            <a:cxnLst/>
            <a:rect l="l" t="t" r="r" b="b"/>
            <a:pathLst>
              <a:path w="7583935" h="5462632">
                <a:moveTo>
                  <a:pt x="43965" y="0"/>
                </a:moveTo>
                <a:lnTo>
                  <a:pt x="7452067" y="0"/>
                </a:lnTo>
                <a:cubicBezTo>
                  <a:pt x="7524896" y="0"/>
                  <a:pt x="7583935" y="59039"/>
                  <a:pt x="7583935" y="131868"/>
                </a:cubicBezTo>
                <a:lnTo>
                  <a:pt x="7583935" y="5330764"/>
                </a:lnTo>
                <a:cubicBezTo>
                  <a:pt x="7583935" y="5403592"/>
                  <a:pt x="7524896" y="5462632"/>
                  <a:pt x="7452067" y="5462632"/>
                </a:cubicBezTo>
                <a:lnTo>
                  <a:pt x="43965" y="5462632"/>
                </a:lnTo>
                <a:cubicBezTo>
                  <a:pt x="19684" y="5462632"/>
                  <a:pt x="0" y="5442948"/>
                  <a:pt x="0" y="541866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38513" y="4499853"/>
            <a:ext cx="45719" cy="4483727"/>
          </a:xfrm>
          <a:custGeom>
            <a:avLst/>
            <a:gdLst/>
            <a:ahLst/>
            <a:cxnLst/>
            <a:rect l="l" t="t" r="r" b="b"/>
            <a:pathLst>
              <a:path w="43965" h="5462632">
                <a:moveTo>
                  <a:pt x="43965" y="0"/>
                </a:moveTo>
                <a:lnTo>
                  <a:pt x="43965" y="0"/>
                </a:lnTo>
                <a:lnTo>
                  <a:pt x="43965" y="5462632"/>
                </a:lnTo>
                <a:lnTo>
                  <a:pt x="43965" y="5462632"/>
                </a:lnTo>
                <a:cubicBezTo>
                  <a:pt x="19684" y="5462632"/>
                  <a:pt x="0" y="5442948"/>
                  <a:pt x="0" y="541866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36355" y="4675713"/>
            <a:ext cx="73201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故障检测与自动恢复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6355" y="5115361"/>
            <a:ext cx="729816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当检测到Tablet服务器故障时,系统自动执行恢复: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6355" y="5511045"/>
            <a:ext cx="241807" cy="307754"/>
          </a:xfrm>
          <a:custGeom>
            <a:avLst/>
            <a:gdLst/>
            <a:ahLst/>
            <a:cxnLst/>
            <a:rect l="l" t="t" r="r" b="b"/>
            <a:pathLst>
              <a:path w="241807" h="307754">
                <a:moveTo>
                  <a:pt x="43965" y="0"/>
                </a:moveTo>
                <a:lnTo>
                  <a:pt x="197841" y="0"/>
                </a:lnTo>
                <a:cubicBezTo>
                  <a:pt x="222123" y="0"/>
                  <a:pt x="241807" y="19684"/>
                  <a:pt x="241807" y="43965"/>
                </a:cubicBezTo>
                <a:lnTo>
                  <a:pt x="241807" y="263789"/>
                </a:lnTo>
                <a:cubicBezTo>
                  <a:pt x="241807" y="288070"/>
                  <a:pt x="222123" y="307754"/>
                  <a:pt x="197841" y="307754"/>
                </a:cubicBezTo>
                <a:lnTo>
                  <a:pt x="43965" y="307754"/>
                </a:lnTo>
                <a:cubicBezTo>
                  <a:pt x="19684" y="307754"/>
                  <a:pt x="0" y="288070"/>
                  <a:pt x="0" y="263789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36355" y="5511045"/>
            <a:ext cx="318745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60682" y="5511045"/>
            <a:ext cx="3978818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Master检测到Tablet服务器心跳超时(默认30秒)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36355" y="5862763"/>
            <a:ext cx="263789" cy="307754"/>
          </a:xfrm>
          <a:custGeom>
            <a:avLst/>
            <a:gdLst/>
            <a:ahLst/>
            <a:cxnLst/>
            <a:rect l="l" t="t" r="r" b="b"/>
            <a:pathLst>
              <a:path w="263789" h="307754">
                <a:moveTo>
                  <a:pt x="43966" y="0"/>
                </a:moveTo>
                <a:lnTo>
                  <a:pt x="219823" y="0"/>
                </a:lnTo>
                <a:cubicBezTo>
                  <a:pt x="244105" y="0"/>
                  <a:pt x="263789" y="19684"/>
                  <a:pt x="263789" y="43966"/>
                </a:cubicBezTo>
                <a:lnTo>
                  <a:pt x="263789" y="263788"/>
                </a:lnTo>
                <a:cubicBezTo>
                  <a:pt x="263789" y="288070"/>
                  <a:pt x="244105" y="307754"/>
                  <a:pt x="219823" y="307754"/>
                </a:cubicBezTo>
                <a:lnTo>
                  <a:pt x="43966" y="307754"/>
                </a:lnTo>
                <a:cubicBezTo>
                  <a:pt x="19684" y="307754"/>
                  <a:pt x="0" y="288070"/>
                  <a:pt x="0" y="263788"/>
                </a:cubicBezTo>
                <a:lnTo>
                  <a:pt x="0" y="43966"/>
                </a:lnTo>
                <a:cubicBezTo>
                  <a:pt x="0" y="19700"/>
                  <a:pt x="19700" y="0"/>
                  <a:pt x="4396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36355" y="5862763"/>
            <a:ext cx="340728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86700" y="5862763"/>
            <a:ext cx="4715229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租约验证: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Master检查Chubby中该服务器的ephemeral节点租约状态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36355" y="6214482"/>
            <a:ext cx="263789" cy="307754"/>
          </a:xfrm>
          <a:custGeom>
            <a:avLst/>
            <a:gdLst/>
            <a:ahLst/>
            <a:cxnLst/>
            <a:rect l="l" t="t" r="r" b="b"/>
            <a:pathLst>
              <a:path w="263789" h="307754">
                <a:moveTo>
                  <a:pt x="43966" y="0"/>
                </a:moveTo>
                <a:lnTo>
                  <a:pt x="219823" y="0"/>
                </a:lnTo>
                <a:cubicBezTo>
                  <a:pt x="244105" y="0"/>
                  <a:pt x="263789" y="19684"/>
                  <a:pt x="263789" y="43966"/>
                </a:cubicBezTo>
                <a:lnTo>
                  <a:pt x="263789" y="263788"/>
                </a:lnTo>
                <a:cubicBezTo>
                  <a:pt x="263789" y="288070"/>
                  <a:pt x="244105" y="307754"/>
                  <a:pt x="219823" y="307754"/>
                </a:cubicBezTo>
                <a:lnTo>
                  <a:pt x="43966" y="307754"/>
                </a:lnTo>
                <a:cubicBezTo>
                  <a:pt x="19684" y="307754"/>
                  <a:pt x="0" y="288070"/>
                  <a:pt x="0" y="263788"/>
                </a:cubicBezTo>
                <a:lnTo>
                  <a:pt x="0" y="43966"/>
                </a:lnTo>
                <a:cubicBezTo>
                  <a:pt x="0" y="19700"/>
                  <a:pt x="19700" y="0"/>
                  <a:pt x="4396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36355" y="6214482"/>
            <a:ext cx="340728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90650" y="6214482"/>
            <a:ext cx="4066748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租约失效: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Chubby租约过期,确认服务器故障(双重确认机制)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36355" y="6566201"/>
            <a:ext cx="263789" cy="307754"/>
          </a:xfrm>
          <a:custGeom>
            <a:avLst/>
            <a:gdLst/>
            <a:ahLst/>
            <a:cxnLst/>
            <a:rect l="l" t="t" r="r" b="b"/>
            <a:pathLst>
              <a:path w="263789" h="307754">
                <a:moveTo>
                  <a:pt x="43966" y="0"/>
                </a:moveTo>
                <a:lnTo>
                  <a:pt x="219823" y="0"/>
                </a:lnTo>
                <a:cubicBezTo>
                  <a:pt x="244105" y="0"/>
                  <a:pt x="263789" y="19684"/>
                  <a:pt x="263789" y="43966"/>
                </a:cubicBezTo>
                <a:lnTo>
                  <a:pt x="263789" y="263788"/>
                </a:lnTo>
                <a:cubicBezTo>
                  <a:pt x="263789" y="288070"/>
                  <a:pt x="244105" y="307754"/>
                  <a:pt x="219823" y="307754"/>
                </a:cubicBezTo>
                <a:lnTo>
                  <a:pt x="43966" y="307754"/>
                </a:lnTo>
                <a:cubicBezTo>
                  <a:pt x="19684" y="307754"/>
                  <a:pt x="0" y="288070"/>
                  <a:pt x="0" y="263788"/>
                </a:cubicBezTo>
                <a:lnTo>
                  <a:pt x="0" y="43966"/>
                </a:lnTo>
                <a:cubicBezTo>
                  <a:pt x="0" y="19700"/>
                  <a:pt x="19700" y="0"/>
                  <a:pt x="4396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436355" y="6566201"/>
            <a:ext cx="340728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90392" y="6566201"/>
            <a:ext cx="4759194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Tablet重新分配: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Master将故障服务器的Tablet重新分配到健康服务器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36355" y="6917919"/>
            <a:ext cx="263789" cy="307754"/>
          </a:xfrm>
          <a:custGeom>
            <a:avLst/>
            <a:gdLst/>
            <a:ahLst/>
            <a:cxnLst/>
            <a:rect l="l" t="t" r="r" b="b"/>
            <a:pathLst>
              <a:path w="263789" h="307754">
                <a:moveTo>
                  <a:pt x="43966" y="0"/>
                </a:moveTo>
                <a:lnTo>
                  <a:pt x="219823" y="0"/>
                </a:lnTo>
                <a:cubicBezTo>
                  <a:pt x="244105" y="0"/>
                  <a:pt x="263789" y="19684"/>
                  <a:pt x="263789" y="43966"/>
                </a:cubicBezTo>
                <a:lnTo>
                  <a:pt x="263789" y="263788"/>
                </a:lnTo>
                <a:cubicBezTo>
                  <a:pt x="263789" y="288070"/>
                  <a:pt x="244105" y="307754"/>
                  <a:pt x="219823" y="307754"/>
                </a:cubicBezTo>
                <a:lnTo>
                  <a:pt x="43966" y="307754"/>
                </a:lnTo>
                <a:cubicBezTo>
                  <a:pt x="19684" y="307754"/>
                  <a:pt x="0" y="288070"/>
                  <a:pt x="0" y="263788"/>
                </a:cubicBezTo>
                <a:lnTo>
                  <a:pt x="0" y="43966"/>
                </a:lnTo>
                <a:cubicBezTo>
                  <a:pt x="0" y="19700"/>
                  <a:pt x="19700" y="0"/>
                  <a:pt x="4396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436355" y="6917919"/>
            <a:ext cx="340728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92024" y="6917919"/>
            <a:ext cx="4748203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日志恢复: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新的Tablet服务器从GFS读取WAL日志恢复MemTable状态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36355" y="7269638"/>
            <a:ext cx="263789" cy="307754"/>
          </a:xfrm>
          <a:custGeom>
            <a:avLst/>
            <a:gdLst/>
            <a:ahLst/>
            <a:cxnLst/>
            <a:rect l="l" t="t" r="r" b="b"/>
            <a:pathLst>
              <a:path w="263789" h="307754">
                <a:moveTo>
                  <a:pt x="43966" y="0"/>
                </a:moveTo>
                <a:lnTo>
                  <a:pt x="219823" y="0"/>
                </a:lnTo>
                <a:cubicBezTo>
                  <a:pt x="244105" y="0"/>
                  <a:pt x="263789" y="19684"/>
                  <a:pt x="263789" y="43966"/>
                </a:cubicBezTo>
                <a:lnTo>
                  <a:pt x="263789" y="263788"/>
                </a:lnTo>
                <a:cubicBezTo>
                  <a:pt x="263789" y="288070"/>
                  <a:pt x="244105" y="307754"/>
                  <a:pt x="219823" y="307754"/>
                </a:cubicBezTo>
                <a:lnTo>
                  <a:pt x="43966" y="307754"/>
                </a:lnTo>
                <a:cubicBezTo>
                  <a:pt x="19684" y="307754"/>
                  <a:pt x="0" y="288070"/>
                  <a:pt x="0" y="263788"/>
                </a:cubicBezTo>
                <a:lnTo>
                  <a:pt x="0" y="43966"/>
                </a:lnTo>
                <a:cubicBezTo>
                  <a:pt x="0" y="19700"/>
                  <a:pt x="19700" y="0"/>
                  <a:pt x="4396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436355" y="7269638"/>
            <a:ext cx="340728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92625" y="7269638"/>
            <a:ext cx="3220425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服务恢复: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Tablet加载完成并开始服务读写请求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36355" y="7621357"/>
            <a:ext cx="252798" cy="307754"/>
          </a:xfrm>
          <a:custGeom>
            <a:avLst/>
            <a:gdLst/>
            <a:ahLst/>
            <a:cxnLst/>
            <a:rect l="l" t="t" r="r" b="b"/>
            <a:pathLst>
              <a:path w="252798" h="307754">
                <a:moveTo>
                  <a:pt x="43964" y="0"/>
                </a:moveTo>
                <a:lnTo>
                  <a:pt x="208834" y="0"/>
                </a:lnTo>
                <a:cubicBezTo>
                  <a:pt x="233114" y="0"/>
                  <a:pt x="252798" y="19683"/>
                  <a:pt x="252798" y="43964"/>
                </a:cubicBezTo>
                <a:lnTo>
                  <a:pt x="252798" y="263790"/>
                </a:lnTo>
                <a:cubicBezTo>
                  <a:pt x="252798" y="288071"/>
                  <a:pt x="233114" y="307754"/>
                  <a:pt x="208834" y="307754"/>
                </a:cubicBezTo>
                <a:lnTo>
                  <a:pt x="43964" y="307754"/>
                </a:lnTo>
                <a:cubicBezTo>
                  <a:pt x="19683" y="307754"/>
                  <a:pt x="0" y="288071"/>
                  <a:pt x="0" y="263790"/>
                </a:cubicBezTo>
                <a:lnTo>
                  <a:pt x="0" y="43964"/>
                </a:lnTo>
                <a:cubicBezTo>
                  <a:pt x="0" y="19700"/>
                  <a:pt x="19700" y="0"/>
                  <a:pt x="43964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436355" y="7621357"/>
            <a:ext cx="329736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79916" y="7621357"/>
            <a:ext cx="4220625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元数据更新: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更新METADATA Tablet中的Tablet位置映射信息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36355" y="7973076"/>
            <a:ext cx="274780" cy="307754"/>
          </a:xfrm>
          <a:custGeom>
            <a:avLst/>
            <a:gdLst/>
            <a:ahLst/>
            <a:cxnLst/>
            <a:rect l="l" t="t" r="r" b="b"/>
            <a:pathLst>
              <a:path w="274780" h="307754">
                <a:moveTo>
                  <a:pt x="43965" y="0"/>
                </a:moveTo>
                <a:lnTo>
                  <a:pt x="230815" y="0"/>
                </a:lnTo>
                <a:cubicBezTo>
                  <a:pt x="255097" y="0"/>
                  <a:pt x="274780" y="19684"/>
                  <a:pt x="274780" y="43965"/>
                </a:cubicBezTo>
                <a:lnTo>
                  <a:pt x="274780" y="263789"/>
                </a:lnTo>
                <a:cubicBezTo>
                  <a:pt x="274780" y="288070"/>
                  <a:pt x="255097" y="307754"/>
                  <a:pt x="230815" y="307754"/>
                </a:cubicBezTo>
                <a:lnTo>
                  <a:pt x="43965" y="307754"/>
                </a:lnTo>
                <a:cubicBezTo>
                  <a:pt x="19684" y="307754"/>
                  <a:pt x="0" y="288070"/>
                  <a:pt x="0" y="263789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436355" y="7973076"/>
            <a:ext cx="351719" cy="307754"/>
          </a:xfrm>
          <a:prstGeom prst="rect">
            <a:avLst/>
          </a:prstGeom>
          <a:noFill/>
          <a:ln/>
        </p:spPr>
        <p:txBody>
          <a:bodyPr wrap="square" lIns="87930" tIns="43965" rIns="87930" bIns="43965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796059" y="7973076"/>
            <a:ext cx="3121504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客户端感知:</a:t>
            </a:r>
            <a:r>
              <a:rPr lang="en-US" sz="121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客户端缓存失效,重新获取新位置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58337" y="8368759"/>
            <a:ext cx="7188252" cy="439648"/>
          </a:xfrm>
          <a:custGeom>
            <a:avLst/>
            <a:gdLst/>
            <a:ahLst/>
            <a:cxnLst/>
            <a:rect l="l" t="t" r="r" b="b"/>
            <a:pathLst>
              <a:path w="7188252" h="439648">
                <a:moveTo>
                  <a:pt x="43965" y="0"/>
                </a:moveTo>
                <a:lnTo>
                  <a:pt x="7100322" y="0"/>
                </a:lnTo>
                <a:cubicBezTo>
                  <a:pt x="7148884" y="0"/>
                  <a:pt x="7188252" y="39367"/>
                  <a:pt x="7188252" y="87930"/>
                </a:cubicBezTo>
                <a:lnTo>
                  <a:pt x="7188252" y="351719"/>
                </a:lnTo>
                <a:cubicBezTo>
                  <a:pt x="7188252" y="400281"/>
                  <a:pt x="7148884" y="439648"/>
                  <a:pt x="7100322" y="439648"/>
                </a:cubicBezTo>
                <a:lnTo>
                  <a:pt x="43965" y="439648"/>
                </a:lnTo>
                <a:cubicBezTo>
                  <a:pt x="19684" y="439648"/>
                  <a:pt x="0" y="419965"/>
                  <a:pt x="0" y="395684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458337" y="8368759"/>
            <a:ext cx="43965" cy="439648"/>
          </a:xfrm>
          <a:custGeom>
            <a:avLst/>
            <a:gdLst/>
            <a:ahLst/>
            <a:cxnLst/>
            <a:rect l="l" t="t" r="r" b="b"/>
            <a:pathLst>
              <a:path w="43965" h="439648">
                <a:moveTo>
                  <a:pt x="43965" y="0"/>
                </a:moveTo>
                <a:lnTo>
                  <a:pt x="43965" y="0"/>
                </a:lnTo>
                <a:lnTo>
                  <a:pt x="43965" y="439648"/>
                </a:lnTo>
                <a:lnTo>
                  <a:pt x="43965" y="439648"/>
                </a:lnTo>
                <a:cubicBezTo>
                  <a:pt x="19684" y="439648"/>
                  <a:pt x="0" y="419965"/>
                  <a:pt x="0" y="395684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568249" y="8456689"/>
            <a:ext cx="707833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恢复时间:</a:t>
            </a: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&lt;1分钟</a:t>
            </a:r>
            <a:r>
              <a:rPr lang="en-US" sz="138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完成完整故障恢复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aleyourapp.com/75736d18c449a5172e0ac25fcfe0f6a71e899c38.jpeg"/>
          <p:cNvPicPr>
            <a:picLocks noChangeAspect="1"/>
          </p:cNvPicPr>
          <p:nvPr/>
        </p:nvPicPr>
        <p:blipFill>
          <a:blip r:embed="rId3">
            <a:alphaModFix amt="20000"/>
          </a:blip>
          <a:srcRect t="4930" b="493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57293" y="27686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152403" y="0"/>
                </a:moveTo>
                <a:lnTo>
                  <a:pt x="2590797" y="0"/>
                </a:lnTo>
                <a:cubicBezTo>
                  <a:pt x="2674967" y="0"/>
                  <a:pt x="2743200" y="68233"/>
                  <a:pt x="2743200" y="152403"/>
                </a:cubicBezTo>
                <a:lnTo>
                  <a:pt x="2743200" y="571497"/>
                </a:lnTo>
                <a:cubicBezTo>
                  <a:pt x="2743200" y="655667"/>
                  <a:pt x="2674967" y="723900"/>
                  <a:pt x="25907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92243" y="2927350"/>
            <a:ext cx="227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70573" y="3905250"/>
            <a:ext cx="7708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存储引擎与LSM树实现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61000" y="512445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高吞吐写入的核心技术与读写路径优化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08000"/>
            <a:ext cx="495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LSM树基本原理与层次化存储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71600"/>
            <a:ext cx="7493000" cy="5892800"/>
          </a:xfrm>
          <a:custGeom>
            <a:avLst/>
            <a:gdLst/>
            <a:ahLst/>
            <a:cxnLst/>
            <a:rect l="l" t="t" r="r" b="b"/>
            <a:pathLst>
              <a:path w="7493000" h="5892800">
                <a:moveTo>
                  <a:pt x="50800" y="0"/>
                </a:moveTo>
                <a:lnTo>
                  <a:pt x="7340612" y="0"/>
                </a:lnTo>
                <a:cubicBezTo>
                  <a:pt x="7424774" y="0"/>
                  <a:pt x="7493000" y="68226"/>
                  <a:pt x="7493000" y="152388"/>
                </a:cubicBezTo>
                <a:lnTo>
                  <a:pt x="7493000" y="5740412"/>
                </a:lnTo>
                <a:cubicBezTo>
                  <a:pt x="7493000" y="5824574"/>
                  <a:pt x="7424774" y="5892800"/>
                  <a:pt x="7340612" y="5892800"/>
                </a:cubicBezTo>
                <a:lnTo>
                  <a:pt x="50800" y="5892800"/>
                </a:lnTo>
                <a:cubicBezTo>
                  <a:pt x="22763" y="5892800"/>
                  <a:pt x="0" y="5870037"/>
                  <a:pt x="0" y="584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71600"/>
            <a:ext cx="50800" cy="5892800"/>
          </a:xfrm>
          <a:custGeom>
            <a:avLst/>
            <a:gdLst/>
            <a:ahLst/>
            <a:cxnLst/>
            <a:rect l="l" t="t" r="r" b="b"/>
            <a:pathLst>
              <a:path w="50800" h="5892800">
                <a:moveTo>
                  <a:pt x="50800" y="0"/>
                </a:moveTo>
                <a:lnTo>
                  <a:pt x="50800" y="0"/>
                </a:lnTo>
                <a:lnTo>
                  <a:pt x="50800" y="5892800"/>
                </a:lnTo>
                <a:lnTo>
                  <a:pt x="50800" y="5892800"/>
                </a:lnTo>
                <a:cubicBezTo>
                  <a:pt x="22763" y="5892800"/>
                  <a:pt x="0" y="5870037"/>
                  <a:pt x="0" y="584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2800" y="16256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Log-Structured Merge Tree设计思想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133600"/>
            <a:ext cx="706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LSM树是Bigtable实现高吞吐写入的核心技术,其基本设计思想是将</a:t>
            </a:r>
            <a:r>
              <a:rPr lang="en-US" sz="1600" dirty="0">
                <a:solidFill>
                  <a:srgbClr val="4FD1C5"/>
                </a:solidFill>
                <a:highlight>
                  <a:srgbClr val="4FD1C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随机写入转换为顺序写入 </a:t>
            </a: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895600"/>
            <a:ext cx="6959600" cy="914400"/>
          </a:xfrm>
          <a:custGeom>
            <a:avLst/>
            <a:gdLst/>
            <a:ahLst/>
            <a:cxnLst/>
            <a:rect l="l" t="t" r="r" b="b"/>
            <a:pathLst>
              <a:path w="6959600" h="914400">
                <a:moveTo>
                  <a:pt x="101599" y="0"/>
                </a:moveTo>
                <a:lnTo>
                  <a:pt x="6858001" y="0"/>
                </a:lnTo>
                <a:cubicBezTo>
                  <a:pt x="6914113" y="0"/>
                  <a:pt x="6959600" y="45487"/>
                  <a:pt x="6959600" y="101599"/>
                </a:cubicBezTo>
                <a:lnTo>
                  <a:pt x="6959600" y="812801"/>
                </a:lnTo>
                <a:cubicBezTo>
                  <a:pt x="6959600" y="868913"/>
                  <a:pt x="6914113" y="914400"/>
                  <a:pt x="685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5200" y="30480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1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写入阶段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200" y="34036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所有写入操作先追加到内存中的Memtable(有序数据结构)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962400"/>
            <a:ext cx="6959600" cy="914400"/>
          </a:xfrm>
          <a:custGeom>
            <a:avLst/>
            <a:gdLst/>
            <a:ahLst/>
            <a:cxnLst/>
            <a:rect l="l" t="t" r="r" b="b"/>
            <a:pathLst>
              <a:path w="6959600" h="914400">
                <a:moveTo>
                  <a:pt x="101599" y="0"/>
                </a:moveTo>
                <a:lnTo>
                  <a:pt x="6858001" y="0"/>
                </a:lnTo>
                <a:cubicBezTo>
                  <a:pt x="6914113" y="0"/>
                  <a:pt x="6959600" y="45487"/>
                  <a:pt x="6959600" y="101599"/>
                </a:cubicBezTo>
                <a:lnTo>
                  <a:pt x="6959600" y="812801"/>
                </a:lnTo>
                <a:cubicBezTo>
                  <a:pt x="6959600" y="868913"/>
                  <a:pt x="6914113" y="914400"/>
                  <a:pt x="685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5200" y="41148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2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刷写阶段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200" y="44704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Memtable达到阈值时,批量刷写到磁盘成为SSTable文件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5029200"/>
            <a:ext cx="6959600" cy="914400"/>
          </a:xfrm>
          <a:custGeom>
            <a:avLst/>
            <a:gdLst/>
            <a:ahLst/>
            <a:cxnLst/>
            <a:rect l="l" t="t" r="r" b="b"/>
            <a:pathLst>
              <a:path w="6959600" h="914400">
                <a:moveTo>
                  <a:pt x="101599" y="0"/>
                </a:moveTo>
                <a:lnTo>
                  <a:pt x="6858001" y="0"/>
                </a:lnTo>
                <a:cubicBezTo>
                  <a:pt x="6914113" y="0"/>
                  <a:pt x="6959600" y="45487"/>
                  <a:pt x="6959600" y="101599"/>
                </a:cubicBezTo>
                <a:lnTo>
                  <a:pt x="6959600" y="812801"/>
                </a:lnTo>
                <a:cubicBezTo>
                  <a:pt x="6959600" y="868913"/>
                  <a:pt x="6914113" y="914400"/>
                  <a:pt x="685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5200" y="51816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3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合并阶段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200" y="5537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定期将多个小SSTable合并为更大的文件,优化读取性能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6096000"/>
            <a:ext cx="6959600" cy="914400"/>
          </a:xfrm>
          <a:custGeom>
            <a:avLst/>
            <a:gdLst/>
            <a:ahLst/>
            <a:cxnLst/>
            <a:rect l="l" t="t" r="r" b="b"/>
            <a:pathLst>
              <a:path w="6959600" h="914400">
                <a:moveTo>
                  <a:pt x="101599" y="0"/>
                </a:moveTo>
                <a:lnTo>
                  <a:pt x="6858001" y="0"/>
                </a:lnTo>
                <a:cubicBezTo>
                  <a:pt x="6914113" y="0"/>
                  <a:pt x="6959600" y="45487"/>
                  <a:pt x="6959600" y="101599"/>
                </a:cubicBezTo>
                <a:lnTo>
                  <a:pt x="6959600" y="812801"/>
                </a:lnTo>
                <a:cubicBezTo>
                  <a:pt x="6959600" y="868913"/>
                  <a:pt x="6914113" y="914400"/>
                  <a:pt x="685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65200" y="62484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4FD1C5"/>
                </a:solidFill>
                <a:highlight>
                  <a:srgbClr val="4FD1C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4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清理阶段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66040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通过Compaction回收存储空间,删除过期数据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1371600"/>
            <a:ext cx="7493000" cy="4978400"/>
          </a:xfrm>
          <a:custGeom>
            <a:avLst/>
            <a:gdLst/>
            <a:ahLst/>
            <a:cxnLst/>
            <a:rect l="l" t="t" r="r" b="b"/>
            <a:pathLst>
              <a:path w="7493000" h="4978400">
                <a:moveTo>
                  <a:pt x="50800" y="0"/>
                </a:moveTo>
                <a:lnTo>
                  <a:pt x="7340611" y="0"/>
                </a:lnTo>
                <a:cubicBezTo>
                  <a:pt x="7424773" y="0"/>
                  <a:pt x="7493000" y="68227"/>
                  <a:pt x="7493000" y="152389"/>
                </a:cubicBezTo>
                <a:lnTo>
                  <a:pt x="7493000" y="4826011"/>
                </a:lnTo>
                <a:cubicBezTo>
                  <a:pt x="7493000" y="4910173"/>
                  <a:pt x="7424773" y="4978400"/>
                  <a:pt x="7340611" y="4978400"/>
                </a:cubicBezTo>
                <a:lnTo>
                  <a:pt x="50800" y="4978400"/>
                </a:lnTo>
                <a:cubicBezTo>
                  <a:pt x="22744" y="4978400"/>
                  <a:pt x="0" y="4955656"/>
                  <a:pt x="0" y="492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55000" y="1371600"/>
            <a:ext cx="50800" cy="4978400"/>
          </a:xfrm>
          <a:custGeom>
            <a:avLst/>
            <a:gdLst/>
            <a:ahLst/>
            <a:cxnLst/>
            <a:rect l="l" t="t" r="r" b="b"/>
            <a:pathLst>
              <a:path w="50800" h="4978400">
                <a:moveTo>
                  <a:pt x="50800" y="0"/>
                </a:moveTo>
                <a:lnTo>
                  <a:pt x="50800" y="0"/>
                </a:lnTo>
                <a:lnTo>
                  <a:pt x="50800" y="4978400"/>
                </a:lnTo>
                <a:lnTo>
                  <a:pt x="50800" y="4978400"/>
                </a:lnTo>
                <a:cubicBezTo>
                  <a:pt x="22763" y="4978400"/>
                  <a:pt x="0" y="4955637"/>
                  <a:pt x="0" y="492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34400" y="16256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层次化存储结构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47100" y="2133600"/>
            <a:ext cx="6946900" cy="914400"/>
          </a:xfrm>
          <a:custGeom>
            <a:avLst/>
            <a:gdLst/>
            <a:ahLst/>
            <a:cxnLst/>
            <a:rect l="l" t="t" r="r" b="b"/>
            <a:pathLst>
              <a:path w="6946900" h="914400">
                <a:moveTo>
                  <a:pt x="25400" y="0"/>
                </a:moveTo>
                <a:lnTo>
                  <a:pt x="6845301" y="0"/>
                </a:lnTo>
                <a:cubicBezTo>
                  <a:pt x="6901413" y="0"/>
                  <a:pt x="6946900" y="45487"/>
                  <a:pt x="6946900" y="101599"/>
                </a:cubicBezTo>
                <a:lnTo>
                  <a:pt x="6946900" y="812801"/>
                </a:lnTo>
                <a:cubicBezTo>
                  <a:pt x="6946900" y="868913"/>
                  <a:pt x="6901413" y="914400"/>
                  <a:pt x="6845301" y="914400"/>
                </a:cubicBez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547100" y="2133600"/>
            <a:ext cx="25400" cy="914400"/>
          </a:xfrm>
          <a:custGeom>
            <a:avLst/>
            <a:gdLst/>
            <a:ahLst/>
            <a:cxnLst/>
            <a:rect l="l" t="t" r="r" b="b"/>
            <a:pathLst>
              <a:path w="25400" h="914400">
                <a:moveTo>
                  <a:pt x="25400" y="0"/>
                </a:moveTo>
                <a:lnTo>
                  <a:pt x="25400" y="0"/>
                </a:lnTo>
                <a:lnTo>
                  <a:pt x="25400" y="914400"/>
                </a:ln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12200" y="22860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 (内存)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12200" y="2641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跳表或平衡树结构,支持快速写入和有序迭代。写前日志(WAL)确保持久性。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47100" y="3149600"/>
            <a:ext cx="6946900" cy="914400"/>
          </a:xfrm>
          <a:custGeom>
            <a:avLst/>
            <a:gdLst/>
            <a:ahLst/>
            <a:cxnLst/>
            <a:rect l="l" t="t" r="r" b="b"/>
            <a:pathLst>
              <a:path w="6946900" h="914400">
                <a:moveTo>
                  <a:pt x="25400" y="0"/>
                </a:moveTo>
                <a:lnTo>
                  <a:pt x="6845301" y="0"/>
                </a:lnTo>
                <a:cubicBezTo>
                  <a:pt x="6901413" y="0"/>
                  <a:pt x="6946900" y="45487"/>
                  <a:pt x="6946900" y="101599"/>
                </a:cubicBezTo>
                <a:lnTo>
                  <a:pt x="6946900" y="812801"/>
                </a:lnTo>
                <a:cubicBezTo>
                  <a:pt x="6946900" y="868913"/>
                  <a:pt x="6901413" y="914400"/>
                  <a:pt x="6845301" y="914400"/>
                </a:cubicBez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547100" y="3149600"/>
            <a:ext cx="25400" cy="914400"/>
          </a:xfrm>
          <a:custGeom>
            <a:avLst/>
            <a:gdLst/>
            <a:ahLst/>
            <a:cxnLst/>
            <a:rect l="l" t="t" r="r" b="b"/>
            <a:pathLst>
              <a:path w="25400" h="914400">
                <a:moveTo>
                  <a:pt x="25400" y="0"/>
                </a:moveTo>
                <a:lnTo>
                  <a:pt x="25400" y="0"/>
                </a:lnTo>
                <a:lnTo>
                  <a:pt x="25400" y="914400"/>
                </a:ln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12200" y="33020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 (磁盘)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12200" y="3657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最新刷写的SSTable文件,可能有重叠键范围。文件未经压缩,读取需查询多个文件。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7100" y="4165600"/>
            <a:ext cx="6946900" cy="914400"/>
          </a:xfrm>
          <a:custGeom>
            <a:avLst/>
            <a:gdLst/>
            <a:ahLst/>
            <a:cxnLst/>
            <a:rect l="l" t="t" r="r" b="b"/>
            <a:pathLst>
              <a:path w="6946900" h="914400">
                <a:moveTo>
                  <a:pt x="25400" y="0"/>
                </a:moveTo>
                <a:lnTo>
                  <a:pt x="6845301" y="0"/>
                </a:lnTo>
                <a:cubicBezTo>
                  <a:pt x="6901413" y="0"/>
                  <a:pt x="6946900" y="45487"/>
                  <a:pt x="6946900" y="101599"/>
                </a:cubicBezTo>
                <a:lnTo>
                  <a:pt x="6946900" y="812801"/>
                </a:lnTo>
                <a:cubicBezTo>
                  <a:pt x="6946900" y="868913"/>
                  <a:pt x="6901413" y="914400"/>
                  <a:pt x="6845301" y="914400"/>
                </a:cubicBez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47100" y="4165600"/>
            <a:ext cx="25400" cy="914400"/>
          </a:xfrm>
          <a:custGeom>
            <a:avLst/>
            <a:gdLst/>
            <a:ahLst/>
            <a:cxnLst/>
            <a:rect l="l" t="t" r="r" b="b"/>
            <a:pathLst>
              <a:path w="25400" h="914400">
                <a:moveTo>
                  <a:pt x="25400" y="0"/>
                </a:moveTo>
                <a:lnTo>
                  <a:pt x="25400" y="0"/>
                </a:lnTo>
                <a:lnTo>
                  <a:pt x="25400" y="914400"/>
                </a:ln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12200" y="43180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 (磁盘)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12200" y="4673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经过一次合并的SSTable,键范围基本不重叠。文件经过压缩,布隆过滤器加速查询。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7100" y="5181600"/>
            <a:ext cx="6946900" cy="914400"/>
          </a:xfrm>
          <a:custGeom>
            <a:avLst/>
            <a:gdLst/>
            <a:ahLst/>
            <a:cxnLst/>
            <a:rect l="l" t="t" r="r" b="b"/>
            <a:pathLst>
              <a:path w="6946900" h="914400">
                <a:moveTo>
                  <a:pt x="25400" y="0"/>
                </a:moveTo>
                <a:lnTo>
                  <a:pt x="6845301" y="0"/>
                </a:lnTo>
                <a:cubicBezTo>
                  <a:pt x="6901413" y="0"/>
                  <a:pt x="6946900" y="45487"/>
                  <a:pt x="6946900" y="101599"/>
                </a:cubicBezTo>
                <a:lnTo>
                  <a:pt x="6946900" y="812801"/>
                </a:lnTo>
                <a:cubicBezTo>
                  <a:pt x="6946900" y="868913"/>
                  <a:pt x="6901413" y="914400"/>
                  <a:pt x="6845301" y="914400"/>
                </a:cubicBez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47100" y="5181600"/>
            <a:ext cx="25400" cy="914400"/>
          </a:xfrm>
          <a:custGeom>
            <a:avLst/>
            <a:gdLst/>
            <a:ahLst/>
            <a:cxnLst/>
            <a:rect l="l" t="t" r="r" b="b"/>
            <a:pathLst>
              <a:path w="25400" h="914400">
                <a:moveTo>
                  <a:pt x="25400" y="0"/>
                </a:moveTo>
                <a:lnTo>
                  <a:pt x="25400" y="0"/>
                </a:lnTo>
                <a:lnTo>
                  <a:pt x="25400" y="914400"/>
                </a:lnTo>
                <a:lnTo>
                  <a:pt x="25400" y="914400"/>
                </a:lnTo>
                <a:cubicBezTo>
                  <a:pt x="11381" y="914400"/>
                  <a:pt x="0" y="903019"/>
                  <a:pt x="0" y="8890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712200" y="53340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2+ (磁盘)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12200" y="5689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经过多次合并的文件,数据高度有序。每层大小呈指数增长(通常10倍)。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5000" y="6502400"/>
            <a:ext cx="7493000" cy="2590800"/>
          </a:xfrm>
          <a:custGeom>
            <a:avLst/>
            <a:gdLst/>
            <a:ahLst/>
            <a:cxnLst/>
            <a:rect l="l" t="t" r="r" b="b"/>
            <a:pathLst>
              <a:path w="7493000" h="2590800">
                <a:moveTo>
                  <a:pt x="50800" y="0"/>
                </a:moveTo>
                <a:lnTo>
                  <a:pt x="7340609" y="0"/>
                </a:lnTo>
                <a:cubicBezTo>
                  <a:pt x="7424716" y="0"/>
                  <a:pt x="7493000" y="68284"/>
                  <a:pt x="7493000" y="152391"/>
                </a:cubicBezTo>
                <a:lnTo>
                  <a:pt x="7493000" y="2438409"/>
                </a:lnTo>
                <a:cubicBezTo>
                  <a:pt x="7493000" y="2522572"/>
                  <a:pt x="7424772" y="2590800"/>
                  <a:pt x="7340609" y="2590800"/>
                </a:cubicBezTo>
                <a:lnTo>
                  <a:pt x="50800" y="2590800"/>
                </a:lnTo>
                <a:cubicBezTo>
                  <a:pt x="22763" y="2590800"/>
                  <a:pt x="0" y="2568037"/>
                  <a:pt x="0" y="254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255000" y="650240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50800" h="2590800">
                <a:moveTo>
                  <a:pt x="50800" y="0"/>
                </a:moveTo>
                <a:lnTo>
                  <a:pt x="50800" y="0"/>
                </a:lnTo>
                <a:lnTo>
                  <a:pt x="50800" y="2590800"/>
                </a:lnTo>
                <a:lnTo>
                  <a:pt x="50800" y="2590800"/>
                </a:lnTo>
                <a:cubicBezTo>
                  <a:pt x="22763" y="2590800"/>
                  <a:pt x="0" y="2568037"/>
                  <a:pt x="0" y="254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34400" y="67564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写入优势 vs 读取挑战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34400" y="7264400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01606" y="0"/>
                </a:moveTo>
                <a:lnTo>
                  <a:pt x="3301994" y="0"/>
                </a:lnTo>
                <a:cubicBezTo>
                  <a:pt x="3358109" y="0"/>
                  <a:pt x="3403600" y="45491"/>
                  <a:pt x="3403600" y="101606"/>
                </a:cubicBezTo>
                <a:lnTo>
                  <a:pt x="3403600" y="1473194"/>
                </a:lnTo>
                <a:cubicBezTo>
                  <a:pt x="3403600" y="1529309"/>
                  <a:pt x="3358109" y="1574800"/>
                  <a:pt x="3301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86800" y="74168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写入优势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6800" y="7823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顺序写入: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大幅提升磁盘吞吐量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86800" y="812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批量处理: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减少磁盘寻址开销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6800" y="84328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内存缓冲: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吸收写入峰值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090400" y="7264400"/>
            <a:ext cx="3403600" cy="1574800"/>
          </a:xfrm>
          <a:custGeom>
            <a:avLst/>
            <a:gdLst/>
            <a:ahLst/>
            <a:cxnLst/>
            <a:rect l="l" t="t" r="r" b="b"/>
            <a:pathLst>
              <a:path w="3403600" h="1574800">
                <a:moveTo>
                  <a:pt x="101606" y="0"/>
                </a:moveTo>
                <a:lnTo>
                  <a:pt x="3301994" y="0"/>
                </a:lnTo>
                <a:cubicBezTo>
                  <a:pt x="3358109" y="0"/>
                  <a:pt x="3403600" y="45491"/>
                  <a:pt x="3403600" y="101606"/>
                </a:cubicBezTo>
                <a:lnTo>
                  <a:pt x="3403600" y="1473194"/>
                </a:lnTo>
                <a:cubicBezTo>
                  <a:pt x="3403600" y="1529309"/>
                  <a:pt x="3358109" y="1574800"/>
                  <a:pt x="3301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242800" y="74168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读取挑战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242800" y="7823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多文件访问: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需检查多个SSTable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242800" y="812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合并成本: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消耗CPU和IO资源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242800" y="84328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内存占用: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MemTable需足够内存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4103" y="543514"/>
            <a:ext cx="49410" cy="395283"/>
          </a:xfrm>
          <a:custGeom>
            <a:avLst/>
            <a:gdLst/>
            <a:ahLst/>
            <a:cxnLst/>
            <a:rect l="l" t="t" r="r" b="b"/>
            <a:pathLst>
              <a:path w="49410" h="395283">
                <a:moveTo>
                  <a:pt x="0" y="0"/>
                </a:moveTo>
                <a:lnTo>
                  <a:pt x="49410" y="0"/>
                </a:lnTo>
                <a:lnTo>
                  <a:pt x="49410" y="395283"/>
                </a:lnTo>
                <a:lnTo>
                  <a:pt x="0" y="395283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1745" y="494103"/>
            <a:ext cx="4990444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MemTable设计与SSTable格式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8809" y="1334079"/>
            <a:ext cx="7510371" cy="4941033"/>
          </a:xfrm>
          <a:custGeom>
            <a:avLst/>
            <a:gdLst/>
            <a:ahLst/>
            <a:cxnLst/>
            <a:rect l="l" t="t" r="r" b="b"/>
            <a:pathLst>
              <a:path w="7510371" h="4941033">
                <a:moveTo>
                  <a:pt x="49410" y="0"/>
                </a:moveTo>
                <a:lnTo>
                  <a:pt x="7362140" y="0"/>
                </a:lnTo>
                <a:cubicBezTo>
                  <a:pt x="7444006" y="0"/>
                  <a:pt x="7510371" y="66365"/>
                  <a:pt x="7510371" y="148231"/>
                </a:cubicBezTo>
                <a:lnTo>
                  <a:pt x="7510371" y="4792802"/>
                </a:lnTo>
                <a:cubicBezTo>
                  <a:pt x="7510371" y="4874668"/>
                  <a:pt x="7444006" y="4941033"/>
                  <a:pt x="7362140" y="4941033"/>
                </a:cubicBezTo>
                <a:lnTo>
                  <a:pt x="49410" y="4941033"/>
                </a:lnTo>
                <a:cubicBezTo>
                  <a:pt x="22122" y="4941033"/>
                  <a:pt x="0" y="4918912"/>
                  <a:pt x="0" y="4891623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8809" y="1334079"/>
            <a:ext cx="49410" cy="4941033"/>
          </a:xfrm>
          <a:custGeom>
            <a:avLst/>
            <a:gdLst/>
            <a:ahLst/>
            <a:cxnLst/>
            <a:rect l="l" t="t" r="r" b="b"/>
            <a:pathLst>
              <a:path w="49410" h="4941033">
                <a:moveTo>
                  <a:pt x="49410" y="0"/>
                </a:moveTo>
                <a:lnTo>
                  <a:pt x="49410" y="0"/>
                </a:lnTo>
                <a:lnTo>
                  <a:pt x="49410" y="4941033"/>
                </a:lnTo>
                <a:lnTo>
                  <a:pt x="49410" y="4941033"/>
                </a:lnTo>
                <a:cubicBezTo>
                  <a:pt x="22122" y="4941033"/>
                  <a:pt x="0" y="4918912"/>
                  <a:pt x="0" y="4891623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0565" y="1581131"/>
            <a:ext cx="711508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MemTable内存数据结构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0565" y="2075234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MemTable采用高效的内存数据结构(通常使用跳表实现):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565" y="2519927"/>
            <a:ext cx="6991562" cy="1531720"/>
          </a:xfrm>
          <a:custGeom>
            <a:avLst/>
            <a:gdLst/>
            <a:ahLst/>
            <a:cxnLst/>
            <a:rect l="l" t="t" r="r" b="b"/>
            <a:pathLst>
              <a:path w="6991562" h="1531720">
                <a:moveTo>
                  <a:pt x="98827" y="0"/>
                </a:moveTo>
                <a:lnTo>
                  <a:pt x="6892736" y="0"/>
                </a:lnTo>
                <a:cubicBezTo>
                  <a:pt x="6947316" y="0"/>
                  <a:pt x="6991562" y="44246"/>
                  <a:pt x="6991562" y="98827"/>
                </a:cubicBezTo>
                <a:lnTo>
                  <a:pt x="6991562" y="1432894"/>
                </a:lnTo>
                <a:cubicBezTo>
                  <a:pt x="6991562" y="1487474"/>
                  <a:pt x="6947316" y="1531720"/>
                  <a:pt x="6892736" y="1531720"/>
                </a:cubicBezTo>
                <a:lnTo>
                  <a:pt x="98827" y="1531720"/>
                </a:lnTo>
                <a:cubicBezTo>
                  <a:pt x="44246" y="1531720"/>
                  <a:pt x="0" y="1487474"/>
                  <a:pt x="0" y="1432894"/>
                </a:cubicBezTo>
                <a:lnTo>
                  <a:pt x="0" y="98827"/>
                </a:lnTo>
                <a:cubicBezTo>
                  <a:pt x="0" y="44283"/>
                  <a:pt x="44283" y="0"/>
                  <a:pt x="9882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9386" y="2668158"/>
            <a:ext cx="679392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写入路径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8796" y="3063441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客户端写入 → 追加到WAL日志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8796" y="3359903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更新MemTable → 返回成功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8796" y="3656365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检查阈值 → 触发刷写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0565" y="4199878"/>
            <a:ext cx="6991562" cy="1828182"/>
          </a:xfrm>
          <a:custGeom>
            <a:avLst/>
            <a:gdLst/>
            <a:ahLst/>
            <a:cxnLst/>
            <a:rect l="l" t="t" r="r" b="b"/>
            <a:pathLst>
              <a:path w="6991562" h="1828182">
                <a:moveTo>
                  <a:pt x="98813" y="0"/>
                </a:moveTo>
                <a:lnTo>
                  <a:pt x="6892749" y="0"/>
                </a:lnTo>
                <a:cubicBezTo>
                  <a:pt x="6947322" y="0"/>
                  <a:pt x="6991562" y="44240"/>
                  <a:pt x="6991562" y="98813"/>
                </a:cubicBezTo>
                <a:lnTo>
                  <a:pt x="6991562" y="1729369"/>
                </a:lnTo>
                <a:cubicBezTo>
                  <a:pt x="6991562" y="1783942"/>
                  <a:pt x="6947322" y="1828182"/>
                  <a:pt x="6892749" y="1828182"/>
                </a:cubicBezTo>
                <a:lnTo>
                  <a:pt x="98813" y="1828182"/>
                </a:lnTo>
                <a:cubicBezTo>
                  <a:pt x="44240" y="1828182"/>
                  <a:pt x="0" y="1783942"/>
                  <a:pt x="0" y="1729369"/>
                </a:cubicBezTo>
                <a:lnTo>
                  <a:pt x="0" y="98813"/>
                </a:lnTo>
                <a:cubicBezTo>
                  <a:pt x="0" y="44240"/>
                  <a:pt x="44240" y="0"/>
                  <a:pt x="9881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8796" y="4348109"/>
            <a:ext cx="679392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刷写触发条件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8796" y="4743392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大小阈值:</a:t>
            </a: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内存使用量达到64MB-256MB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8796" y="5039854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时间阈值:</a:t>
            </a: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定期刷写(如每5分钟)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8796" y="5336316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手动触发:</a:t>
            </a: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管理员手动触发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796" y="5632778"/>
            <a:ext cx="6781568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2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系统关闭:</a:t>
            </a:r>
            <a:r>
              <a:rPr lang="en-US" sz="1362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优雅关闭时刷写所有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48727" y="1334079"/>
            <a:ext cx="7510371" cy="4792802"/>
          </a:xfrm>
          <a:custGeom>
            <a:avLst/>
            <a:gdLst/>
            <a:ahLst/>
            <a:cxnLst/>
            <a:rect l="l" t="t" r="r" b="b"/>
            <a:pathLst>
              <a:path w="7510371" h="4792802">
                <a:moveTo>
                  <a:pt x="49410" y="0"/>
                </a:moveTo>
                <a:lnTo>
                  <a:pt x="7362129" y="0"/>
                </a:lnTo>
                <a:cubicBezTo>
                  <a:pt x="7444001" y="0"/>
                  <a:pt x="7510371" y="66370"/>
                  <a:pt x="7510371" y="148241"/>
                </a:cubicBezTo>
                <a:lnTo>
                  <a:pt x="7510371" y="4644561"/>
                </a:lnTo>
                <a:cubicBezTo>
                  <a:pt x="7510371" y="4726433"/>
                  <a:pt x="7444001" y="4792802"/>
                  <a:pt x="7362129" y="4792802"/>
                </a:cubicBezTo>
                <a:lnTo>
                  <a:pt x="49410" y="4792802"/>
                </a:lnTo>
                <a:cubicBezTo>
                  <a:pt x="22122" y="4792802"/>
                  <a:pt x="0" y="4770681"/>
                  <a:pt x="0" y="4743392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48727" y="1334079"/>
            <a:ext cx="49410" cy="4792802"/>
          </a:xfrm>
          <a:custGeom>
            <a:avLst/>
            <a:gdLst/>
            <a:ahLst/>
            <a:cxnLst/>
            <a:rect l="l" t="t" r="r" b="b"/>
            <a:pathLst>
              <a:path w="49410" h="4792802">
                <a:moveTo>
                  <a:pt x="49410" y="0"/>
                </a:moveTo>
                <a:lnTo>
                  <a:pt x="49410" y="0"/>
                </a:lnTo>
                <a:lnTo>
                  <a:pt x="49410" y="4792802"/>
                </a:lnTo>
                <a:lnTo>
                  <a:pt x="49410" y="4792802"/>
                </a:lnTo>
                <a:cubicBezTo>
                  <a:pt x="22122" y="4792802"/>
                  <a:pt x="0" y="4770681"/>
                  <a:pt x="0" y="4743392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20484" y="1581131"/>
            <a:ext cx="711508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SSTable文件格式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0484" y="2075234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SSTable采用不可变的有序键值对存储设计: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20484" y="2519927"/>
            <a:ext cx="6991562" cy="3359903"/>
          </a:xfrm>
          <a:custGeom>
            <a:avLst/>
            <a:gdLst/>
            <a:ahLst/>
            <a:cxnLst/>
            <a:rect l="l" t="t" r="r" b="b"/>
            <a:pathLst>
              <a:path w="6991562" h="3359903">
                <a:moveTo>
                  <a:pt x="98815" y="0"/>
                </a:moveTo>
                <a:lnTo>
                  <a:pt x="6892748" y="0"/>
                </a:lnTo>
                <a:cubicBezTo>
                  <a:pt x="6947321" y="0"/>
                  <a:pt x="6991562" y="44241"/>
                  <a:pt x="6991562" y="98815"/>
                </a:cubicBezTo>
                <a:lnTo>
                  <a:pt x="6991562" y="3261088"/>
                </a:lnTo>
                <a:cubicBezTo>
                  <a:pt x="6991562" y="3315662"/>
                  <a:pt x="6947321" y="3359903"/>
                  <a:pt x="6892748" y="3359903"/>
                </a:cubicBezTo>
                <a:lnTo>
                  <a:pt x="98815" y="3359903"/>
                </a:lnTo>
                <a:cubicBezTo>
                  <a:pt x="44241" y="3359903"/>
                  <a:pt x="0" y="3315662"/>
                  <a:pt x="0" y="3261088"/>
                </a:cubicBezTo>
                <a:lnTo>
                  <a:pt x="0" y="98815"/>
                </a:lnTo>
                <a:cubicBezTo>
                  <a:pt x="0" y="44277"/>
                  <a:pt x="44277" y="0"/>
                  <a:pt x="9881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68715" y="2668158"/>
            <a:ext cx="6695100" cy="691745"/>
          </a:xfrm>
          <a:custGeom>
            <a:avLst/>
            <a:gdLst/>
            <a:ahLst/>
            <a:cxnLst/>
            <a:rect l="l" t="t" r="r" b="b"/>
            <a:pathLst>
              <a:path w="6695100" h="691745">
                <a:moveTo>
                  <a:pt x="98823" y="0"/>
                </a:moveTo>
                <a:lnTo>
                  <a:pt x="6596278" y="0"/>
                </a:lnTo>
                <a:cubicBezTo>
                  <a:pt x="6650856" y="0"/>
                  <a:pt x="6695100" y="44244"/>
                  <a:pt x="6695100" y="98823"/>
                </a:cubicBezTo>
                <a:lnTo>
                  <a:pt x="6695100" y="592922"/>
                </a:lnTo>
                <a:cubicBezTo>
                  <a:pt x="6695100" y="647500"/>
                  <a:pt x="6650856" y="691745"/>
                  <a:pt x="6596278" y="691745"/>
                </a:cubicBezTo>
                <a:lnTo>
                  <a:pt x="98823" y="691745"/>
                </a:lnTo>
                <a:cubicBezTo>
                  <a:pt x="44244" y="691745"/>
                  <a:pt x="0" y="647500"/>
                  <a:pt x="0" y="592922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67536" y="2766979"/>
            <a:ext cx="658392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数据块区 (Data Blocks)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7536" y="3063441"/>
            <a:ext cx="6571574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64KB数据块,包含多个有序键值对,采用前缀压缩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68715" y="3458723"/>
            <a:ext cx="6695100" cy="691745"/>
          </a:xfrm>
          <a:custGeom>
            <a:avLst/>
            <a:gdLst/>
            <a:ahLst/>
            <a:cxnLst/>
            <a:rect l="l" t="t" r="r" b="b"/>
            <a:pathLst>
              <a:path w="6695100" h="691745">
                <a:moveTo>
                  <a:pt x="98823" y="0"/>
                </a:moveTo>
                <a:lnTo>
                  <a:pt x="6596278" y="0"/>
                </a:lnTo>
                <a:cubicBezTo>
                  <a:pt x="6650856" y="0"/>
                  <a:pt x="6695100" y="44244"/>
                  <a:pt x="6695100" y="98823"/>
                </a:cubicBezTo>
                <a:lnTo>
                  <a:pt x="6695100" y="592922"/>
                </a:lnTo>
                <a:cubicBezTo>
                  <a:pt x="6695100" y="647500"/>
                  <a:pt x="6650856" y="691745"/>
                  <a:pt x="6596278" y="691745"/>
                </a:cubicBezTo>
                <a:lnTo>
                  <a:pt x="98823" y="691745"/>
                </a:lnTo>
                <a:cubicBezTo>
                  <a:pt x="44244" y="691745"/>
                  <a:pt x="0" y="647500"/>
                  <a:pt x="0" y="592922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767536" y="3557544"/>
            <a:ext cx="658392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索引块区 (Index Block)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67536" y="3854006"/>
            <a:ext cx="6571574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记录每个数据块起始键和文件偏移量,支持二分查找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68715" y="4249289"/>
            <a:ext cx="6695100" cy="691745"/>
          </a:xfrm>
          <a:custGeom>
            <a:avLst/>
            <a:gdLst/>
            <a:ahLst/>
            <a:cxnLst/>
            <a:rect l="l" t="t" r="r" b="b"/>
            <a:pathLst>
              <a:path w="6695100" h="691745">
                <a:moveTo>
                  <a:pt x="98823" y="0"/>
                </a:moveTo>
                <a:lnTo>
                  <a:pt x="6596278" y="0"/>
                </a:lnTo>
                <a:cubicBezTo>
                  <a:pt x="6650856" y="0"/>
                  <a:pt x="6695100" y="44244"/>
                  <a:pt x="6695100" y="98823"/>
                </a:cubicBezTo>
                <a:lnTo>
                  <a:pt x="6695100" y="592922"/>
                </a:lnTo>
                <a:cubicBezTo>
                  <a:pt x="6695100" y="647500"/>
                  <a:pt x="6650856" y="691745"/>
                  <a:pt x="6596278" y="691745"/>
                </a:cubicBezTo>
                <a:lnTo>
                  <a:pt x="98823" y="691745"/>
                </a:lnTo>
                <a:cubicBezTo>
                  <a:pt x="44244" y="691745"/>
                  <a:pt x="0" y="647500"/>
                  <a:pt x="0" y="592922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67536" y="4348109"/>
            <a:ext cx="658392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布隆过滤器 (Bloom Filter)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67536" y="4644571"/>
            <a:ext cx="6571574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快速判断键是否可能存在,减少不必要的磁盘IO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68715" y="5039854"/>
            <a:ext cx="6695100" cy="691745"/>
          </a:xfrm>
          <a:custGeom>
            <a:avLst/>
            <a:gdLst/>
            <a:ahLst/>
            <a:cxnLst/>
            <a:rect l="l" t="t" r="r" b="b"/>
            <a:pathLst>
              <a:path w="6695100" h="691745">
                <a:moveTo>
                  <a:pt x="98823" y="0"/>
                </a:moveTo>
                <a:lnTo>
                  <a:pt x="6596278" y="0"/>
                </a:lnTo>
                <a:cubicBezTo>
                  <a:pt x="6650856" y="0"/>
                  <a:pt x="6695100" y="44244"/>
                  <a:pt x="6695100" y="98823"/>
                </a:cubicBezTo>
                <a:lnTo>
                  <a:pt x="6695100" y="592922"/>
                </a:lnTo>
                <a:cubicBezTo>
                  <a:pt x="6695100" y="647500"/>
                  <a:pt x="6650856" y="691745"/>
                  <a:pt x="6596278" y="691745"/>
                </a:cubicBezTo>
                <a:lnTo>
                  <a:pt x="98823" y="691745"/>
                </a:lnTo>
                <a:cubicBezTo>
                  <a:pt x="44244" y="691745"/>
                  <a:pt x="0" y="647500"/>
                  <a:pt x="0" y="592922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67536" y="5138675"/>
            <a:ext cx="6583927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元数据区 + 文件尾部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67536" y="5435137"/>
            <a:ext cx="6571574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压缩算法、时间戳、键范围、CRC校验码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8727" y="6275112"/>
            <a:ext cx="7510371" cy="2865799"/>
          </a:xfrm>
          <a:custGeom>
            <a:avLst/>
            <a:gdLst/>
            <a:ahLst/>
            <a:cxnLst/>
            <a:rect l="l" t="t" r="r" b="b"/>
            <a:pathLst>
              <a:path w="7510371" h="2865799">
                <a:moveTo>
                  <a:pt x="49410" y="0"/>
                </a:moveTo>
                <a:lnTo>
                  <a:pt x="7362152" y="0"/>
                </a:lnTo>
                <a:cubicBezTo>
                  <a:pt x="7444011" y="0"/>
                  <a:pt x="7510371" y="66360"/>
                  <a:pt x="7510371" y="148219"/>
                </a:cubicBezTo>
                <a:lnTo>
                  <a:pt x="7510371" y="2717580"/>
                </a:lnTo>
                <a:cubicBezTo>
                  <a:pt x="7510371" y="2799439"/>
                  <a:pt x="7444011" y="2865799"/>
                  <a:pt x="7362152" y="2865799"/>
                </a:cubicBezTo>
                <a:lnTo>
                  <a:pt x="49410" y="2865799"/>
                </a:lnTo>
                <a:cubicBezTo>
                  <a:pt x="22122" y="2865799"/>
                  <a:pt x="0" y="2843678"/>
                  <a:pt x="0" y="2816389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48727" y="6275112"/>
            <a:ext cx="49410" cy="2865799"/>
          </a:xfrm>
          <a:custGeom>
            <a:avLst/>
            <a:gdLst/>
            <a:ahLst/>
            <a:cxnLst/>
            <a:rect l="l" t="t" r="r" b="b"/>
            <a:pathLst>
              <a:path w="49410" h="2865799">
                <a:moveTo>
                  <a:pt x="49410" y="0"/>
                </a:moveTo>
                <a:lnTo>
                  <a:pt x="49410" y="0"/>
                </a:lnTo>
                <a:lnTo>
                  <a:pt x="49410" y="2865799"/>
                </a:lnTo>
                <a:lnTo>
                  <a:pt x="49410" y="2865799"/>
                </a:lnTo>
                <a:cubicBezTo>
                  <a:pt x="22122" y="2865799"/>
                  <a:pt x="0" y="2843678"/>
                  <a:pt x="0" y="2816389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20484" y="6522164"/>
            <a:ext cx="711508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性能优化技术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20484" y="7016267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批量刷写: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将随机写入转换为顺序写入,提高磁盘IO效率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20484" y="7411550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异步执行: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刷写过程在后台线程执行,不影响前台写入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20484" y="7806833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压缩优化: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刷写时进行数据压缩,减少磁盘空间占用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20484" y="8202116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内存映射: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将SSTable文件映射到内存,减少系统调用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20484" y="8597398"/>
            <a:ext cx="709038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56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预读取:</a:t>
            </a:r>
            <a:r>
              <a:rPr lang="en-US" sz="1556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根据访问模式预读取相邻数据块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2667" y="423333"/>
            <a:ext cx="45720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Compaction机制与读写路径优化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00" y="1143000"/>
            <a:ext cx="7598833" cy="4275667"/>
          </a:xfrm>
          <a:custGeom>
            <a:avLst/>
            <a:gdLst/>
            <a:ahLst/>
            <a:cxnLst/>
            <a:rect l="l" t="t" r="r" b="b"/>
            <a:pathLst>
              <a:path w="7598833" h="4275667">
                <a:moveTo>
                  <a:pt x="42333" y="0"/>
                </a:moveTo>
                <a:lnTo>
                  <a:pt x="7471846" y="0"/>
                </a:lnTo>
                <a:cubicBezTo>
                  <a:pt x="7541979" y="0"/>
                  <a:pt x="7598833" y="56854"/>
                  <a:pt x="7598833" y="126987"/>
                </a:cubicBezTo>
                <a:lnTo>
                  <a:pt x="7598833" y="4148679"/>
                </a:lnTo>
                <a:cubicBezTo>
                  <a:pt x="7598833" y="4218813"/>
                  <a:pt x="7541979" y="4275667"/>
                  <a:pt x="7471846" y="4275667"/>
                </a:cubicBezTo>
                <a:lnTo>
                  <a:pt x="42333" y="4275667"/>
                </a:lnTo>
                <a:cubicBezTo>
                  <a:pt x="18953" y="4275667"/>
                  <a:pt x="0" y="4256713"/>
                  <a:pt x="0" y="4233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143000"/>
            <a:ext cx="42333" cy="4275667"/>
          </a:xfrm>
          <a:custGeom>
            <a:avLst/>
            <a:gdLst/>
            <a:ahLst/>
            <a:cxnLst/>
            <a:rect l="l" t="t" r="r" b="b"/>
            <a:pathLst>
              <a:path w="42333" h="4275667">
                <a:moveTo>
                  <a:pt x="42333" y="0"/>
                </a:moveTo>
                <a:lnTo>
                  <a:pt x="42333" y="0"/>
                </a:lnTo>
                <a:lnTo>
                  <a:pt x="42333" y="4275667"/>
                </a:lnTo>
                <a:lnTo>
                  <a:pt x="42333" y="4275667"/>
                </a:lnTo>
                <a:cubicBezTo>
                  <a:pt x="18953" y="4275667"/>
                  <a:pt x="0" y="4256713"/>
                  <a:pt x="0" y="4233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77333" y="1354667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Compaction类型对比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7333" y="1778000"/>
            <a:ext cx="7154333" cy="1651000"/>
          </a:xfrm>
          <a:custGeom>
            <a:avLst/>
            <a:gdLst/>
            <a:ahLst/>
            <a:cxnLst/>
            <a:rect l="l" t="t" r="r" b="b"/>
            <a:pathLst>
              <a:path w="7154333" h="1651000">
                <a:moveTo>
                  <a:pt x="84663" y="0"/>
                </a:moveTo>
                <a:lnTo>
                  <a:pt x="7069670" y="0"/>
                </a:lnTo>
                <a:cubicBezTo>
                  <a:pt x="7116428" y="0"/>
                  <a:pt x="7154333" y="37905"/>
                  <a:pt x="7154333" y="84663"/>
                </a:cubicBezTo>
                <a:lnTo>
                  <a:pt x="7154333" y="1566337"/>
                </a:lnTo>
                <a:cubicBezTo>
                  <a:pt x="7154333" y="1613095"/>
                  <a:pt x="7116428" y="1651000"/>
                  <a:pt x="7069670" y="1651000"/>
                </a:cubicBezTo>
                <a:lnTo>
                  <a:pt x="84663" y="1651000"/>
                </a:lnTo>
                <a:cubicBezTo>
                  <a:pt x="37905" y="1651000"/>
                  <a:pt x="0" y="1613095"/>
                  <a:pt x="0" y="1566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46667" y="1947333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Minor Compaction (小合并)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6667" y="2286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将MemTable刷写到磁盘,生成Level 0 SSTable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6667" y="2540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MemTable大小达到预设阈值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6667" y="2794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对正常操作影响较小,短暂IO增加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3048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释放内存空间,保证写入连续性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7333" y="3556000"/>
            <a:ext cx="7154333" cy="1651000"/>
          </a:xfrm>
          <a:custGeom>
            <a:avLst/>
            <a:gdLst/>
            <a:ahLst/>
            <a:cxnLst/>
            <a:rect l="l" t="t" r="r" b="b"/>
            <a:pathLst>
              <a:path w="7154333" h="1651000">
                <a:moveTo>
                  <a:pt x="84663" y="0"/>
                </a:moveTo>
                <a:lnTo>
                  <a:pt x="7069670" y="0"/>
                </a:lnTo>
                <a:cubicBezTo>
                  <a:pt x="7116428" y="0"/>
                  <a:pt x="7154333" y="37905"/>
                  <a:pt x="7154333" y="84663"/>
                </a:cubicBezTo>
                <a:lnTo>
                  <a:pt x="7154333" y="1566337"/>
                </a:lnTo>
                <a:cubicBezTo>
                  <a:pt x="7154333" y="1613095"/>
                  <a:pt x="7116428" y="1651000"/>
                  <a:pt x="7069670" y="1651000"/>
                </a:cubicBezTo>
                <a:lnTo>
                  <a:pt x="84663" y="1651000"/>
                </a:lnTo>
                <a:cubicBezTo>
                  <a:pt x="37905" y="1651000"/>
                  <a:pt x="0" y="1613095"/>
                  <a:pt x="0" y="1566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6667" y="3725333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Compaction (大合并)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667" y="4064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合并多个SSTable,消除重复数据和已删除记录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667" y="4318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层级大小阈值、文件数量阈值或定期触发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6667" y="4572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较大影响,消耗大量系统资源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667" y="4826000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167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目标:</a:t>
            </a: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彻底清理数据,优化存储空间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3833" y="565487"/>
            <a:ext cx="7598833" cy="4148667"/>
          </a:xfrm>
          <a:custGeom>
            <a:avLst/>
            <a:gdLst/>
            <a:ahLst/>
            <a:cxnLst/>
            <a:rect l="l" t="t" r="r" b="b"/>
            <a:pathLst>
              <a:path w="7598833" h="4148667">
                <a:moveTo>
                  <a:pt x="42333" y="0"/>
                </a:moveTo>
                <a:lnTo>
                  <a:pt x="7471843" y="0"/>
                </a:lnTo>
                <a:cubicBezTo>
                  <a:pt x="7541978" y="0"/>
                  <a:pt x="7598833" y="56856"/>
                  <a:pt x="7598833" y="126991"/>
                </a:cubicBezTo>
                <a:lnTo>
                  <a:pt x="7598833" y="4021676"/>
                </a:lnTo>
                <a:cubicBezTo>
                  <a:pt x="7598833" y="4091811"/>
                  <a:pt x="7541978" y="4148667"/>
                  <a:pt x="7471843" y="4148667"/>
                </a:cubicBezTo>
                <a:lnTo>
                  <a:pt x="42333" y="4148667"/>
                </a:lnTo>
                <a:cubicBezTo>
                  <a:pt x="18953" y="4148667"/>
                  <a:pt x="0" y="4129713"/>
                  <a:pt x="0" y="410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33833" y="565487"/>
            <a:ext cx="42333" cy="4148667"/>
          </a:xfrm>
          <a:custGeom>
            <a:avLst/>
            <a:gdLst/>
            <a:ahLst/>
            <a:cxnLst/>
            <a:rect l="l" t="t" r="r" b="b"/>
            <a:pathLst>
              <a:path w="42333" h="4148667">
                <a:moveTo>
                  <a:pt x="42333" y="0"/>
                </a:moveTo>
                <a:lnTo>
                  <a:pt x="42333" y="0"/>
                </a:lnTo>
                <a:lnTo>
                  <a:pt x="42333" y="4148667"/>
                </a:lnTo>
                <a:lnTo>
                  <a:pt x="42333" y="4148667"/>
                </a:lnTo>
                <a:cubicBezTo>
                  <a:pt x="18953" y="4148667"/>
                  <a:pt x="0" y="4129713"/>
                  <a:pt x="0" y="410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66667" y="777154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写路径优化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66667" y="1200487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93667" y="132748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批量顺序写入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3667" y="162382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将随机写入转换为顺序追加写入,大幅提升磁盘吞吐量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66667" y="2047154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93667" y="2174154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WAL组提交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3667" y="247048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组提交和批量刷写减少WAL的磁盘IO次数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66667" y="2893820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93667" y="302082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内存缓冲优化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3667" y="3317154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利用MemTable作为写入缓冲区,吸收写入峰值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66667" y="3740487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93667" y="386748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93667" y="416382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细粒度锁或无锁数据结构支持高并发写入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3833" y="4841155"/>
            <a:ext cx="7598833" cy="4148668"/>
          </a:xfrm>
          <a:custGeom>
            <a:avLst/>
            <a:gdLst/>
            <a:ahLst/>
            <a:cxnLst/>
            <a:rect l="l" t="t" r="r" b="b"/>
            <a:pathLst>
              <a:path w="7598833" h="5640917">
                <a:moveTo>
                  <a:pt x="42333" y="0"/>
                </a:moveTo>
                <a:lnTo>
                  <a:pt x="7471856" y="0"/>
                </a:lnTo>
                <a:cubicBezTo>
                  <a:pt x="7541984" y="0"/>
                  <a:pt x="7598833" y="56850"/>
                  <a:pt x="7598833" y="126977"/>
                </a:cubicBezTo>
                <a:lnTo>
                  <a:pt x="7598833" y="5513940"/>
                </a:lnTo>
                <a:cubicBezTo>
                  <a:pt x="7598833" y="5584067"/>
                  <a:pt x="7541984" y="5640917"/>
                  <a:pt x="7471856" y="5640917"/>
                </a:cubicBezTo>
                <a:lnTo>
                  <a:pt x="42333" y="5640917"/>
                </a:lnTo>
                <a:cubicBezTo>
                  <a:pt x="18953" y="5640917"/>
                  <a:pt x="0" y="5621963"/>
                  <a:pt x="0" y="559858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33833" y="4841155"/>
            <a:ext cx="45719" cy="4148668"/>
          </a:xfrm>
          <a:custGeom>
            <a:avLst/>
            <a:gdLst/>
            <a:ahLst/>
            <a:cxnLst/>
            <a:rect l="l" t="t" r="r" b="b"/>
            <a:pathLst>
              <a:path w="42333" h="5640917">
                <a:moveTo>
                  <a:pt x="42333" y="0"/>
                </a:moveTo>
                <a:lnTo>
                  <a:pt x="42333" y="0"/>
                </a:lnTo>
                <a:lnTo>
                  <a:pt x="42333" y="5640917"/>
                </a:lnTo>
                <a:lnTo>
                  <a:pt x="42333" y="5640917"/>
                </a:lnTo>
                <a:cubicBezTo>
                  <a:pt x="18953" y="5640917"/>
                  <a:pt x="0" y="5621963"/>
                  <a:pt x="0" y="559858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466667" y="5052820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读路径优化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66667" y="5476154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93667" y="5603154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多级缓存体系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93667" y="589948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 + RowCache + OS PageCache减少磁盘IO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6667" y="6322820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93667" y="644982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布隆过滤器加速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93667" y="6746154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快速判断键是否存在于文件,减少不必要的磁盘读取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66667" y="7169487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93667" y="729648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稀疏索引优化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93667" y="759282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每64KB数据一个索引项,支持快速二分查找定位数据块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66667" y="8016154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84666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93667" y="8143154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并行查询优化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93667" y="843948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多个SSTable文件可以并行查询,充分利用多核CPU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ationalcws.com/f1e92a7137432e40e753c1ba69e087ed950e4244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770390" y="2768600"/>
            <a:ext cx="2717800" cy="723900"/>
          </a:xfrm>
          <a:custGeom>
            <a:avLst/>
            <a:gdLst/>
            <a:ahLst/>
            <a:cxnLst/>
            <a:rect l="l" t="t" r="r" b="b"/>
            <a:pathLst>
              <a:path w="2717800" h="723900">
                <a:moveTo>
                  <a:pt x="152403" y="0"/>
                </a:moveTo>
                <a:lnTo>
                  <a:pt x="2565397" y="0"/>
                </a:lnTo>
                <a:cubicBezTo>
                  <a:pt x="2649567" y="0"/>
                  <a:pt x="2717800" y="68233"/>
                  <a:pt x="2717800" y="152403"/>
                </a:cubicBezTo>
                <a:lnTo>
                  <a:pt x="2717800" y="571497"/>
                </a:lnTo>
                <a:cubicBezTo>
                  <a:pt x="2717800" y="655667"/>
                  <a:pt x="2649567" y="723900"/>
                  <a:pt x="2565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005340" y="2927350"/>
            <a:ext cx="2247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24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4780" y="3905250"/>
            <a:ext cx="485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完整案例实现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23000" y="5124450"/>
            <a:ext cx="3810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从理论到实践的生产级实现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813" y="498095"/>
            <a:ext cx="45281" cy="362251"/>
          </a:xfrm>
          <a:custGeom>
            <a:avLst/>
            <a:gdLst/>
            <a:ahLst/>
            <a:cxnLst/>
            <a:rect l="l" t="t" r="r" b="b"/>
            <a:pathLst>
              <a:path w="45281" h="362251">
                <a:moveTo>
                  <a:pt x="0" y="0"/>
                </a:moveTo>
                <a:lnTo>
                  <a:pt x="45281" y="0"/>
                </a:lnTo>
                <a:lnTo>
                  <a:pt x="45281" y="362251"/>
                </a:lnTo>
                <a:lnTo>
                  <a:pt x="0" y="362251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3939" y="452813"/>
            <a:ext cx="4437571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应用架构设计与数据模型实现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54" y="1222596"/>
            <a:ext cx="7561983" cy="4392290"/>
          </a:xfrm>
          <a:custGeom>
            <a:avLst/>
            <a:gdLst/>
            <a:ahLst/>
            <a:cxnLst/>
            <a:rect l="l" t="t" r="r" b="b"/>
            <a:pathLst>
              <a:path w="7561983" h="4392290">
                <a:moveTo>
                  <a:pt x="45281" y="0"/>
                </a:moveTo>
                <a:lnTo>
                  <a:pt x="7426130" y="0"/>
                </a:lnTo>
                <a:cubicBezTo>
                  <a:pt x="7501160" y="0"/>
                  <a:pt x="7561983" y="60824"/>
                  <a:pt x="7561983" y="135854"/>
                </a:cubicBezTo>
                <a:lnTo>
                  <a:pt x="7561983" y="4256436"/>
                </a:lnTo>
                <a:cubicBezTo>
                  <a:pt x="7561983" y="4331466"/>
                  <a:pt x="7501160" y="4392290"/>
                  <a:pt x="7426130" y="4392290"/>
                </a:cubicBezTo>
                <a:lnTo>
                  <a:pt x="45281" y="4392290"/>
                </a:lnTo>
                <a:cubicBezTo>
                  <a:pt x="20273" y="4392290"/>
                  <a:pt x="0" y="4372017"/>
                  <a:pt x="0" y="4347008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5454" y="1222596"/>
            <a:ext cx="45281" cy="4392290"/>
          </a:xfrm>
          <a:custGeom>
            <a:avLst/>
            <a:gdLst/>
            <a:ahLst/>
            <a:cxnLst/>
            <a:rect l="l" t="t" r="r" b="b"/>
            <a:pathLst>
              <a:path w="45281" h="4392290">
                <a:moveTo>
                  <a:pt x="45281" y="0"/>
                </a:moveTo>
                <a:lnTo>
                  <a:pt x="45281" y="0"/>
                </a:lnTo>
                <a:lnTo>
                  <a:pt x="45281" y="4392290"/>
                </a:lnTo>
                <a:lnTo>
                  <a:pt x="45281" y="4392290"/>
                </a:lnTo>
                <a:cubicBezTo>
                  <a:pt x="20273" y="4392290"/>
                  <a:pt x="0" y="4372017"/>
                  <a:pt x="0" y="4347008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4501" y="1449003"/>
            <a:ext cx="719973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全球网站内容存储架构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4501" y="1901816"/>
            <a:ext cx="7086529" cy="3350819"/>
          </a:xfrm>
          <a:custGeom>
            <a:avLst/>
            <a:gdLst/>
            <a:ahLst/>
            <a:cxnLst/>
            <a:rect l="l" t="t" r="r" b="b"/>
            <a:pathLst>
              <a:path w="7086529" h="3350819">
                <a:moveTo>
                  <a:pt x="90573" y="0"/>
                </a:moveTo>
                <a:lnTo>
                  <a:pt x="6995957" y="0"/>
                </a:lnTo>
                <a:cubicBezTo>
                  <a:pt x="7045978" y="0"/>
                  <a:pt x="7086529" y="40551"/>
                  <a:pt x="7086529" y="90573"/>
                </a:cubicBezTo>
                <a:lnTo>
                  <a:pt x="7086529" y="3260246"/>
                </a:lnTo>
                <a:cubicBezTo>
                  <a:pt x="7086529" y="3310268"/>
                  <a:pt x="7045978" y="3350819"/>
                  <a:pt x="6995957" y="3350819"/>
                </a:cubicBezTo>
                <a:lnTo>
                  <a:pt x="90573" y="3350819"/>
                </a:lnTo>
                <a:cubicBezTo>
                  <a:pt x="40551" y="3350819"/>
                  <a:pt x="0" y="3310268"/>
                  <a:pt x="0" y="3260246"/>
                </a:cubicBezTo>
                <a:lnTo>
                  <a:pt x="0" y="90573"/>
                </a:lnTo>
                <a:cubicBezTo>
                  <a:pt x="0" y="40551"/>
                  <a:pt x="40551" y="0"/>
                  <a:pt x="9057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60345" y="2037660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 (Application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471" y="2354630"/>
            <a:ext cx="6712958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0345" y="2671599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Bigtable客户端 (Client Library)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1471" y="2988568"/>
            <a:ext cx="6712958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0345" y="3305538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Bigtable服务层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2596" y="3622507"/>
            <a:ext cx="653183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Master服务器集群 (3节点主备)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2596" y="3939476"/>
            <a:ext cx="653183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Tablet计算节点集群 (200+节点)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2596" y="4256446"/>
            <a:ext cx="653183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元数据管理 (Chubby 5节点集群)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1471" y="4573415"/>
            <a:ext cx="6712958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0345" y="4890384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分布式文件系统 (GFS 500+数据节点)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54" y="5750730"/>
            <a:ext cx="7561983" cy="3312000"/>
          </a:xfrm>
          <a:custGeom>
            <a:avLst/>
            <a:gdLst/>
            <a:ahLst/>
            <a:cxnLst/>
            <a:rect l="l" t="t" r="r" b="b"/>
            <a:pathLst>
              <a:path w="7561983" h="4064000">
                <a:moveTo>
                  <a:pt x="45281" y="0"/>
                </a:moveTo>
                <a:lnTo>
                  <a:pt x="7426124" y="0"/>
                </a:lnTo>
                <a:cubicBezTo>
                  <a:pt x="7501157" y="0"/>
                  <a:pt x="7561983" y="60826"/>
                  <a:pt x="7561983" y="135860"/>
                </a:cubicBezTo>
                <a:lnTo>
                  <a:pt x="7561983" y="3928140"/>
                </a:lnTo>
                <a:cubicBezTo>
                  <a:pt x="7561983" y="4003174"/>
                  <a:pt x="7501157" y="4064000"/>
                  <a:pt x="7426124" y="4064000"/>
                </a:cubicBezTo>
                <a:lnTo>
                  <a:pt x="45281" y="4064000"/>
                </a:lnTo>
                <a:cubicBezTo>
                  <a:pt x="20273" y="4064000"/>
                  <a:pt x="0" y="4043727"/>
                  <a:pt x="0" y="4018719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5454" y="5750730"/>
            <a:ext cx="46800" cy="3312000"/>
          </a:xfrm>
          <a:custGeom>
            <a:avLst/>
            <a:gdLst/>
            <a:ahLst/>
            <a:cxnLst/>
            <a:rect l="l" t="t" r="r" b="b"/>
            <a:pathLst>
              <a:path w="45281" h="4064000">
                <a:moveTo>
                  <a:pt x="45281" y="0"/>
                </a:moveTo>
                <a:lnTo>
                  <a:pt x="45281" y="0"/>
                </a:lnTo>
                <a:lnTo>
                  <a:pt x="45281" y="4064000"/>
                </a:lnTo>
                <a:lnTo>
                  <a:pt x="45281" y="4064000"/>
                </a:lnTo>
                <a:cubicBezTo>
                  <a:pt x="20273" y="4064000"/>
                  <a:pt x="0" y="4043727"/>
                  <a:pt x="0" y="4018719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24501" y="5977136"/>
            <a:ext cx="719973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表结构设计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4501" y="6429950"/>
            <a:ext cx="7086529" cy="1358440"/>
          </a:xfrm>
          <a:custGeom>
            <a:avLst/>
            <a:gdLst/>
            <a:ahLst/>
            <a:cxnLst/>
            <a:rect l="l" t="t" r="r" b="b"/>
            <a:pathLst>
              <a:path w="7086529" h="1358440">
                <a:moveTo>
                  <a:pt x="90567" y="0"/>
                </a:moveTo>
                <a:lnTo>
                  <a:pt x="6995962" y="0"/>
                </a:lnTo>
                <a:cubicBezTo>
                  <a:pt x="7045981" y="0"/>
                  <a:pt x="7086529" y="40548"/>
                  <a:pt x="7086529" y="90567"/>
                </a:cubicBezTo>
                <a:lnTo>
                  <a:pt x="7086529" y="1267873"/>
                </a:lnTo>
                <a:cubicBezTo>
                  <a:pt x="7086529" y="1317892"/>
                  <a:pt x="7045981" y="1358440"/>
                  <a:pt x="6995962" y="1358440"/>
                </a:cubicBezTo>
                <a:lnTo>
                  <a:pt x="90567" y="1358440"/>
                </a:lnTo>
                <a:cubicBezTo>
                  <a:pt x="40548" y="1358440"/>
                  <a:pt x="0" y="1317892"/>
                  <a:pt x="0" y="1267873"/>
                </a:cubicBezTo>
                <a:lnTo>
                  <a:pt x="0" y="90567"/>
                </a:lnTo>
                <a:cubicBezTo>
                  <a:pt x="0" y="40582"/>
                  <a:pt x="40582" y="0"/>
                  <a:pt x="905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0345" y="6565794"/>
            <a:ext cx="6882763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 WebContentTable {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08" y="6746919"/>
            <a:ext cx="6792201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rowKey: string; // "com.google.www/index.html"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08" y="6928045"/>
            <a:ext cx="6792201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content: { html: string, text: string, snapshot: Buffer };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0908" y="7109170"/>
            <a:ext cx="6792201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metadata: { charset, language, content_type, last_modified };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908" y="7290295"/>
            <a:ext cx="6792201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index: { title, keywords, entities };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0345" y="7471421"/>
            <a:ext cx="6882763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4501" y="7878953"/>
            <a:ext cx="7165772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48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行键:</a:t>
            </a: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反转域名+网页路径+时间戳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4501" y="8150641"/>
            <a:ext cx="7165772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48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内容列族:</a:t>
            </a: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存储HTML内容、纯文本、快照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4501" y="8422329"/>
            <a:ext cx="7165772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48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元数据列族:</a:t>
            </a: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字符编码、语言、内容类型等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4501" y="8694017"/>
            <a:ext cx="7165772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48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索引列族:</a:t>
            </a: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页面标题、关键词、命名实体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3680" y="1222596"/>
            <a:ext cx="7561983" cy="3214975"/>
          </a:xfrm>
          <a:custGeom>
            <a:avLst/>
            <a:gdLst/>
            <a:ahLst/>
            <a:cxnLst/>
            <a:rect l="l" t="t" r="r" b="b"/>
            <a:pathLst>
              <a:path w="7561983" h="3214975">
                <a:moveTo>
                  <a:pt x="45281" y="0"/>
                </a:moveTo>
                <a:lnTo>
                  <a:pt x="7426151" y="0"/>
                </a:lnTo>
                <a:cubicBezTo>
                  <a:pt x="7501169" y="0"/>
                  <a:pt x="7561983" y="60814"/>
                  <a:pt x="7561983" y="135833"/>
                </a:cubicBezTo>
                <a:lnTo>
                  <a:pt x="7561983" y="3079142"/>
                </a:lnTo>
                <a:cubicBezTo>
                  <a:pt x="7561983" y="3154161"/>
                  <a:pt x="7501169" y="3214975"/>
                  <a:pt x="7426151" y="3214975"/>
                </a:cubicBezTo>
                <a:lnTo>
                  <a:pt x="45281" y="3214975"/>
                </a:lnTo>
                <a:cubicBezTo>
                  <a:pt x="20273" y="3214975"/>
                  <a:pt x="0" y="3194702"/>
                  <a:pt x="0" y="3169694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43680" y="1222596"/>
            <a:ext cx="45281" cy="3214975"/>
          </a:xfrm>
          <a:custGeom>
            <a:avLst/>
            <a:gdLst/>
            <a:ahLst/>
            <a:cxnLst/>
            <a:rect l="l" t="t" r="r" b="b"/>
            <a:pathLst>
              <a:path w="45281" h="3214975">
                <a:moveTo>
                  <a:pt x="45281" y="0"/>
                </a:moveTo>
                <a:lnTo>
                  <a:pt x="45281" y="0"/>
                </a:lnTo>
                <a:lnTo>
                  <a:pt x="45281" y="3214975"/>
                </a:lnTo>
                <a:lnTo>
                  <a:pt x="45281" y="3214975"/>
                </a:lnTo>
                <a:cubicBezTo>
                  <a:pt x="20273" y="3214975"/>
                  <a:pt x="0" y="3194702"/>
                  <a:pt x="0" y="3169694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492727" y="1449003"/>
            <a:ext cx="719973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业务性能指标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92727" y="1901816"/>
            <a:ext cx="3475343" cy="1086752"/>
          </a:xfrm>
          <a:custGeom>
            <a:avLst/>
            <a:gdLst/>
            <a:ahLst/>
            <a:cxnLst/>
            <a:rect l="l" t="t" r="r" b="b"/>
            <a:pathLst>
              <a:path w="3475343" h="1086752">
                <a:moveTo>
                  <a:pt x="90559" y="0"/>
                </a:moveTo>
                <a:lnTo>
                  <a:pt x="3384784" y="0"/>
                </a:lnTo>
                <a:cubicBezTo>
                  <a:pt x="3434798" y="0"/>
                  <a:pt x="3475343" y="40545"/>
                  <a:pt x="3475343" y="90559"/>
                </a:cubicBezTo>
                <a:lnTo>
                  <a:pt x="3475343" y="996193"/>
                </a:lnTo>
                <a:cubicBezTo>
                  <a:pt x="3475343" y="1046207"/>
                  <a:pt x="3434798" y="1086752"/>
                  <a:pt x="3384784" y="1086752"/>
                </a:cubicBezTo>
                <a:lnTo>
                  <a:pt x="90559" y="1086752"/>
                </a:lnTo>
                <a:cubicBezTo>
                  <a:pt x="40545" y="1086752"/>
                  <a:pt x="0" y="1046207"/>
                  <a:pt x="0" y="996193"/>
                </a:cubicBezTo>
                <a:lnTo>
                  <a:pt x="0" y="90559"/>
                </a:lnTo>
                <a:cubicBezTo>
                  <a:pt x="0" y="40578"/>
                  <a:pt x="40578" y="0"/>
                  <a:pt x="9055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88950" y="2037660"/>
            <a:ext cx="328289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写入吞吐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60649" y="2309348"/>
            <a:ext cx="3339499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120,000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94610" y="2671599"/>
            <a:ext cx="3271577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行/秒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105152" y="1901816"/>
            <a:ext cx="3475343" cy="1086752"/>
          </a:xfrm>
          <a:custGeom>
            <a:avLst/>
            <a:gdLst/>
            <a:ahLst/>
            <a:cxnLst/>
            <a:rect l="l" t="t" r="r" b="b"/>
            <a:pathLst>
              <a:path w="3475343" h="1086752">
                <a:moveTo>
                  <a:pt x="90559" y="0"/>
                </a:moveTo>
                <a:lnTo>
                  <a:pt x="3384784" y="0"/>
                </a:lnTo>
                <a:cubicBezTo>
                  <a:pt x="3434798" y="0"/>
                  <a:pt x="3475343" y="40545"/>
                  <a:pt x="3475343" y="90559"/>
                </a:cubicBezTo>
                <a:lnTo>
                  <a:pt x="3475343" y="996193"/>
                </a:lnTo>
                <a:cubicBezTo>
                  <a:pt x="3475343" y="1046207"/>
                  <a:pt x="3434798" y="1086752"/>
                  <a:pt x="3384784" y="1086752"/>
                </a:cubicBezTo>
                <a:lnTo>
                  <a:pt x="90559" y="1086752"/>
                </a:lnTo>
                <a:cubicBezTo>
                  <a:pt x="40545" y="1086752"/>
                  <a:pt x="0" y="1046207"/>
                  <a:pt x="0" y="996193"/>
                </a:cubicBezTo>
                <a:lnTo>
                  <a:pt x="0" y="90559"/>
                </a:lnTo>
                <a:cubicBezTo>
                  <a:pt x="0" y="40578"/>
                  <a:pt x="40578" y="0"/>
                  <a:pt x="9055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201375" y="2037660"/>
            <a:ext cx="328289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读取延迟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73074" y="2309348"/>
            <a:ext cx="3339499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&lt;80ms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207035" y="2671599"/>
            <a:ext cx="3271577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P99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92727" y="3124412"/>
            <a:ext cx="3475343" cy="1086752"/>
          </a:xfrm>
          <a:custGeom>
            <a:avLst/>
            <a:gdLst/>
            <a:ahLst/>
            <a:cxnLst/>
            <a:rect l="l" t="t" r="r" b="b"/>
            <a:pathLst>
              <a:path w="3475343" h="1086752">
                <a:moveTo>
                  <a:pt x="90559" y="0"/>
                </a:moveTo>
                <a:lnTo>
                  <a:pt x="3384784" y="0"/>
                </a:lnTo>
                <a:cubicBezTo>
                  <a:pt x="3434798" y="0"/>
                  <a:pt x="3475343" y="40545"/>
                  <a:pt x="3475343" y="90559"/>
                </a:cubicBezTo>
                <a:lnTo>
                  <a:pt x="3475343" y="996193"/>
                </a:lnTo>
                <a:cubicBezTo>
                  <a:pt x="3475343" y="1046207"/>
                  <a:pt x="3434798" y="1086752"/>
                  <a:pt x="3384784" y="1086752"/>
                </a:cubicBezTo>
                <a:lnTo>
                  <a:pt x="90559" y="1086752"/>
                </a:lnTo>
                <a:cubicBezTo>
                  <a:pt x="40545" y="1086752"/>
                  <a:pt x="0" y="1046207"/>
                  <a:pt x="0" y="996193"/>
                </a:cubicBezTo>
                <a:lnTo>
                  <a:pt x="0" y="90559"/>
                </a:lnTo>
                <a:cubicBezTo>
                  <a:pt x="0" y="40578"/>
                  <a:pt x="40578" y="0"/>
                  <a:pt x="9055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88950" y="3260256"/>
            <a:ext cx="328289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60649" y="3531944"/>
            <a:ext cx="3339499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12PB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94610" y="3894195"/>
            <a:ext cx="3271577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有效数据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105152" y="3124412"/>
            <a:ext cx="3475343" cy="1086752"/>
          </a:xfrm>
          <a:custGeom>
            <a:avLst/>
            <a:gdLst/>
            <a:ahLst/>
            <a:cxnLst/>
            <a:rect l="l" t="t" r="r" b="b"/>
            <a:pathLst>
              <a:path w="3475343" h="1086752">
                <a:moveTo>
                  <a:pt x="90559" y="0"/>
                </a:moveTo>
                <a:lnTo>
                  <a:pt x="3384784" y="0"/>
                </a:lnTo>
                <a:cubicBezTo>
                  <a:pt x="3434798" y="0"/>
                  <a:pt x="3475343" y="40545"/>
                  <a:pt x="3475343" y="90559"/>
                </a:cubicBezTo>
                <a:lnTo>
                  <a:pt x="3475343" y="996193"/>
                </a:lnTo>
                <a:cubicBezTo>
                  <a:pt x="3475343" y="1046207"/>
                  <a:pt x="3434798" y="1086752"/>
                  <a:pt x="3384784" y="1086752"/>
                </a:cubicBezTo>
                <a:lnTo>
                  <a:pt x="90559" y="1086752"/>
                </a:lnTo>
                <a:cubicBezTo>
                  <a:pt x="40545" y="1086752"/>
                  <a:pt x="0" y="1046207"/>
                  <a:pt x="0" y="996193"/>
                </a:cubicBezTo>
                <a:lnTo>
                  <a:pt x="0" y="90559"/>
                </a:lnTo>
                <a:cubicBezTo>
                  <a:pt x="0" y="40578"/>
                  <a:pt x="40578" y="0"/>
                  <a:pt x="9055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201375" y="3260256"/>
            <a:ext cx="328289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173074" y="3531944"/>
            <a:ext cx="3339499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99.992%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207035" y="3894195"/>
            <a:ext cx="3271577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年度可用性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43680" y="4573415"/>
            <a:ext cx="7561983" cy="4489315"/>
          </a:xfrm>
          <a:custGeom>
            <a:avLst/>
            <a:gdLst/>
            <a:ahLst/>
            <a:cxnLst/>
            <a:rect l="l" t="t" r="r" b="b"/>
            <a:pathLst>
              <a:path w="7561983" h="5241315">
                <a:moveTo>
                  <a:pt x="45281" y="0"/>
                </a:moveTo>
                <a:lnTo>
                  <a:pt x="7426128" y="0"/>
                </a:lnTo>
                <a:cubicBezTo>
                  <a:pt x="7501159" y="0"/>
                  <a:pt x="7561983" y="60824"/>
                  <a:pt x="7561983" y="135855"/>
                </a:cubicBezTo>
                <a:lnTo>
                  <a:pt x="7561983" y="5105460"/>
                </a:lnTo>
                <a:cubicBezTo>
                  <a:pt x="7561983" y="5180490"/>
                  <a:pt x="7501159" y="5241315"/>
                  <a:pt x="7426128" y="5241315"/>
                </a:cubicBezTo>
                <a:lnTo>
                  <a:pt x="45281" y="5241315"/>
                </a:lnTo>
                <a:cubicBezTo>
                  <a:pt x="20273" y="5241315"/>
                  <a:pt x="0" y="5221042"/>
                  <a:pt x="0" y="5196033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243680" y="4573415"/>
            <a:ext cx="45719" cy="4489315"/>
          </a:xfrm>
          <a:custGeom>
            <a:avLst/>
            <a:gdLst/>
            <a:ahLst/>
            <a:cxnLst/>
            <a:rect l="l" t="t" r="r" b="b"/>
            <a:pathLst>
              <a:path w="45281" h="5241315">
                <a:moveTo>
                  <a:pt x="45281" y="0"/>
                </a:moveTo>
                <a:lnTo>
                  <a:pt x="45281" y="0"/>
                </a:lnTo>
                <a:lnTo>
                  <a:pt x="45281" y="5241315"/>
                </a:lnTo>
                <a:lnTo>
                  <a:pt x="45281" y="5241315"/>
                </a:lnTo>
                <a:cubicBezTo>
                  <a:pt x="20273" y="5241315"/>
                  <a:pt x="0" y="5221042"/>
                  <a:pt x="0" y="5196033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492727" y="4799822"/>
            <a:ext cx="719973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业务连续性保障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92727" y="5252635"/>
            <a:ext cx="7086529" cy="815064"/>
          </a:xfrm>
          <a:custGeom>
            <a:avLst/>
            <a:gdLst/>
            <a:ahLst/>
            <a:cxnLst/>
            <a:rect l="l" t="t" r="r" b="b"/>
            <a:pathLst>
              <a:path w="7086529" h="815064">
                <a:moveTo>
                  <a:pt x="90562" y="0"/>
                </a:moveTo>
                <a:lnTo>
                  <a:pt x="6995967" y="0"/>
                </a:lnTo>
                <a:cubicBezTo>
                  <a:pt x="7045950" y="0"/>
                  <a:pt x="7086529" y="40579"/>
                  <a:pt x="7086529" y="90562"/>
                </a:cubicBezTo>
                <a:lnTo>
                  <a:pt x="7086529" y="724502"/>
                </a:lnTo>
                <a:cubicBezTo>
                  <a:pt x="7086529" y="774485"/>
                  <a:pt x="7045950" y="815064"/>
                  <a:pt x="6995967" y="815064"/>
                </a:cubicBezTo>
                <a:lnTo>
                  <a:pt x="90562" y="815064"/>
                </a:lnTo>
                <a:cubicBezTo>
                  <a:pt x="40579" y="815064"/>
                  <a:pt x="0" y="774485"/>
                  <a:pt x="0" y="724502"/>
                </a:cubicBezTo>
                <a:lnTo>
                  <a:pt x="0" y="90562"/>
                </a:lnTo>
                <a:cubicBezTo>
                  <a:pt x="0" y="40579"/>
                  <a:pt x="40579" y="0"/>
                  <a:pt x="905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628571" y="5388479"/>
            <a:ext cx="690540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多地域部署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28571" y="5705448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主备集群架构,读写分离路由,优化跨地域访问延迟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92727" y="6158262"/>
            <a:ext cx="7086529" cy="815064"/>
          </a:xfrm>
          <a:custGeom>
            <a:avLst/>
            <a:gdLst/>
            <a:ahLst/>
            <a:cxnLst/>
            <a:rect l="l" t="t" r="r" b="b"/>
            <a:pathLst>
              <a:path w="7086529" h="815064">
                <a:moveTo>
                  <a:pt x="90562" y="0"/>
                </a:moveTo>
                <a:lnTo>
                  <a:pt x="6995967" y="0"/>
                </a:lnTo>
                <a:cubicBezTo>
                  <a:pt x="7045950" y="0"/>
                  <a:pt x="7086529" y="40579"/>
                  <a:pt x="7086529" y="90562"/>
                </a:cubicBezTo>
                <a:lnTo>
                  <a:pt x="7086529" y="724502"/>
                </a:lnTo>
                <a:cubicBezTo>
                  <a:pt x="7086529" y="774485"/>
                  <a:pt x="7045950" y="815064"/>
                  <a:pt x="6995967" y="815064"/>
                </a:cubicBezTo>
                <a:lnTo>
                  <a:pt x="90562" y="815064"/>
                </a:lnTo>
                <a:cubicBezTo>
                  <a:pt x="40579" y="815064"/>
                  <a:pt x="0" y="774485"/>
                  <a:pt x="0" y="724502"/>
                </a:cubicBezTo>
                <a:lnTo>
                  <a:pt x="0" y="90562"/>
                </a:lnTo>
                <a:cubicBezTo>
                  <a:pt x="0" y="40579"/>
                  <a:pt x="40579" y="0"/>
                  <a:pt x="905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628571" y="6294106"/>
            <a:ext cx="690540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数据冗余策略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28571" y="6611075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3副本冗余,跨地域异步复制,定期备份策略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92727" y="7063889"/>
            <a:ext cx="7086529" cy="815064"/>
          </a:xfrm>
          <a:custGeom>
            <a:avLst/>
            <a:gdLst/>
            <a:ahLst/>
            <a:cxnLst/>
            <a:rect l="l" t="t" r="r" b="b"/>
            <a:pathLst>
              <a:path w="7086529" h="815064">
                <a:moveTo>
                  <a:pt x="90562" y="0"/>
                </a:moveTo>
                <a:lnTo>
                  <a:pt x="6995967" y="0"/>
                </a:lnTo>
                <a:cubicBezTo>
                  <a:pt x="7045950" y="0"/>
                  <a:pt x="7086529" y="40579"/>
                  <a:pt x="7086529" y="90562"/>
                </a:cubicBezTo>
                <a:lnTo>
                  <a:pt x="7086529" y="724502"/>
                </a:lnTo>
                <a:cubicBezTo>
                  <a:pt x="7086529" y="774485"/>
                  <a:pt x="7045950" y="815064"/>
                  <a:pt x="6995967" y="815064"/>
                </a:cubicBezTo>
                <a:lnTo>
                  <a:pt x="90562" y="815064"/>
                </a:lnTo>
                <a:cubicBezTo>
                  <a:pt x="40579" y="815064"/>
                  <a:pt x="0" y="774485"/>
                  <a:pt x="0" y="724502"/>
                </a:cubicBezTo>
                <a:lnTo>
                  <a:pt x="0" y="90562"/>
                </a:lnTo>
                <a:cubicBezTo>
                  <a:pt x="0" y="40579"/>
                  <a:pt x="40579" y="0"/>
                  <a:pt x="9056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628571" y="7199733"/>
            <a:ext cx="690540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故障恢复机制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28571" y="7516702"/>
            <a:ext cx="6894084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&lt;30秒发现节点故障,&lt;1分钟完成服务切换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504" y="552754"/>
            <a:ext cx="50250" cy="402003"/>
          </a:xfrm>
          <a:custGeom>
            <a:avLst/>
            <a:gdLst/>
            <a:ahLst/>
            <a:cxnLst/>
            <a:rect l="l" t="t" r="r" b="b"/>
            <a:pathLst>
              <a:path w="50250" h="402003">
                <a:moveTo>
                  <a:pt x="0" y="0"/>
                </a:moveTo>
                <a:lnTo>
                  <a:pt x="50250" y="0"/>
                </a:lnTo>
                <a:lnTo>
                  <a:pt x="50250" y="402003"/>
                </a:lnTo>
                <a:lnTo>
                  <a:pt x="0" y="402003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3505" y="502504"/>
            <a:ext cx="4924538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写入管道与读取管道技术实现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7629" y="1356760"/>
            <a:ext cx="7499870" cy="7788810"/>
          </a:xfrm>
          <a:custGeom>
            <a:avLst/>
            <a:gdLst/>
            <a:ahLst/>
            <a:cxnLst/>
            <a:rect l="l" t="t" r="r" b="b"/>
            <a:pathLst>
              <a:path w="7499870" h="7788810">
                <a:moveTo>
                  <a:pt x="50250" y="0"/>
                </a:moveTo>
                <a:lnTo>
                  <a:pt x="7349123" y="0"/>
                </a:lnTo>
                <a:cubicBezTo>
                  <a:pt x="7432378" y="0"/>
                  <a:pt x="7499870" y="67492"/>
                  <a:pt x="7499870" y="150747"/>
                </a:cubicBezTo>
                <a:lnTo>
                  <a:pt x="7499870" y="7638063"/>
                </a:lnTo>
                <a:cubicBezTo>
                  <a:pt x="7499870" y="7721318"/>
                  <a:pt x="7432378" y="7788810"/>
                  <a:pt x="7349123" y="7788810"/>
                </a:cubicBezTo>
                <a:lnTo>
                  <a:pt x="50250" y="7788810"/>
                </a:lnTo>
                <a:cubicBezTo>
                  <a:pt x="22498" y="7788810"/>
                  <a:pt x="0" y="7766312"/>
                  <a:pt x="0" y="7738560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7629" y="1356760"/>
            <a:ext cx="50250" cy="7788810"/>
          </a:xfrm>
          <a:custGeom>
            <a:avLst/>
            <a:gdLst/>
            <a:ahLst/>
            <a:cxnLst/>
            <a:rect l="l" t="t" r="r" b="b"/>
            <a:pathLst>
              <a:path w="50250" h="7788810">
                <a:moveTo>
                  <a:pt x="50250" y="0"/>
                </a:moveTo>
                <a:lnTo>
                  <a:pt x="50250" y="0"/>
                </a:lnTo>
                <a:lnTo>
                  <a:pt x="50250" y="7788810"/>
                </a:lnTo>
                <a:lnTo>
                  <a:pt x="50250" y="7788810"/>
                </a:lnTo>
                <a:cubicBezTo>
                  <a:pt x="22498" y="7788810"/>
                  <a:pt x="0" y="7766312"/>
                  <a:pt x="0" y="7738560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6819" y="1658263"/>
            <a:ext cx="188439" cy="251252"/>
          </a:xfrm>
          <a:custGeom>
            <a:avLst/>
            <a:gdLst/>
            <a:ahLst/>
            <a:cxnLst/>
            <a:rect l="l" t="t" r="r" b="b"/>
            <a:pathLst>
              <a:path w="188439" h="251252">
                <a:moveTo>
                  <a:pt x="83129" y="246639"/>
                </a:moveTo>
                <a:cubicBezTo>
                  <a:pt x="89263" y="252773"/>
                  <a:pt x="99225" y="252773"/>
                  <a:pt x="105359" y="246639"/>
                </a:cubicBezTo>
                <a:lnTo>
                  <a:pt x="183875" y="168123"/>
                </a:lnTo>
                <a:cubicBezTo>
                  <a:pt x="190009" y="161989"/>
                  <a:pt x="190009" y="152027"/>
                  <a:pt x="183875" y="145893"/>
                </a:cubicBezTo>
                <a:cubicBezTo>
                  <a:pt x="177741" y="139759"/>
                  <a:pt x="167779" y="139759"/>
                  <a:pt x="161645" y="145893"/>
                </a:cubicBezTo>
                <a:lnTo>
                  <a:pt x="109923" y="197616"/>
                </a:lnTo>
                <a:lnTo>
                  <a:pt x="109923" y="15703"/>
                </a:lnTo>
                <a:cubicBezTo>
                  <a:pt x="109923" y="7017"/>
                  <a:pt x="102905" y="0"/>
                  <a:pt x="94219" y="0"/>
                </a:cubicBezTo>
                <a:cubicBezTo>
                  <a:pt x="85534" y="0"/>
                  <a:pt x="78516" y="7017"/>
                  <a:pt x="78516" y="15703"/>
                </a:cubicBezTo>
                <a:lnTo>
                  <a:pt x="78516" y="197616"/>
                </a:lnTo>
                <a:lnTo>
                  <a:pt x="26794" y="145893"/>
                </a:lnTo>
                <a:cubicBezTo>
                  <a:pt x="20660" y="139759"/>
                  <a:pt x="10698" y="139759"/>
                  <a:pt x="4564" y="145893"/>
                </a:cubicBezTo>
                <a:cubicBezTo>
                  <a:pt x="-1570" y="152027"/>
                  <a:pt x="-1570" y="161989"/>
                  <a:pt x="4564" y="168123"/>
                </a:cubicBezTo>
                <a:lnTo>
                  <a:pt x="83080" y="246639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18071" y="1608012"/>
            <a:ext cx="6783802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写入管道流程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006" y="2110516"/>
            <a:ext cx="6972241" cy="4773787"/>
          </a:xfrm>
          <a:custGeom>
            <a:avLst/>
            <a:gdLst/>
            <a:ahLst/>
            <a:cxnLst/>
            <a:rect l="l" t="t" r="r" b="b"/>
            <a:pathLst>
              <a:path w="6972241" h="4773787">
                <a:moveTo>
                  <a:pt x="100488" y="0"/>
                </a:moveTo>
                <a:lnTo>
                  <a:pt x="6871753" y="0"/>
                </a:lnTo>
                <a:cubicBezTo>
                  <a:pt x="6927251" y="0"/>
                  <a:pt x="6972241" y="44990"/>
                  <a:pt x="6972241" y="100488"/>
                </a:cubicBezTo>
                <a:lnTo>
                  <a:pt x="6972241" y="4673298"/>
                </a:lnTo>
                <a:cubicBezTo>
                  <a:pt x="6972241" y="4728797"/>
                  <a:pt x="6927251" y="4773787"/>
                  <a:pt x="6871753" y="4773787"/>
                </a:cubicBezTo>
                <a:lnTo>
                  <a:pt x="100488" y="4773787"/>
                </a:lnTo>
                <a:cubicBezTo>
                  <a:pt x="44990" y="4773787"/>
                  <a:pt x="0" y="4728797"/>
                  <a:pt x="0" y="4673298"/>
                </a:cubicBezTo>
                <a:lnTo>
                  <a:pt x="0" y="100488"/>
                </a:lnTo>
                <a:cubicBezTo>
                  <a:pt x="0" y="44990"/>
                  <a:pt x="44990" y="0"/>
                  <a:pt x="10048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54757" y="2261267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网页抓取集群 (分布式爬虫)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5759" y="2562770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4757" y="2864272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数据清洗和标准化 (ETL管道)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5759" y="3165774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4757" y="3467277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批量数据聚合 (本地缓冲池)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5759" y="3768779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4757" y="407028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Bigtable批量写入接口 (Batch API)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5759" y="4371784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4757" y="4673286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MemTable内存写入 (LSM Tree)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759" y="4974788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4757" y="527629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WAL日志持久化 (Write-Ahead Log)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5759" y="5577793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4757" y="5879295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后台Compaction优化 (Leveled)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5759" y="6180798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757" y="6482300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SSTable持久化存储 (GFS)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006" y="7035054"/>
            <a:ext cx="6972241" cy="1859264"/>
          </a:xfrm>
          <a:custGeom>
            <a:avLst/>
            <a:gdLst/>
            <a:ahLst/>
            <a:cxnLst/>
            <a:rect l="l" t="t" r="r" b="b"/>
            <a:pathLst>
              <a:path w="6972241" h="1859264">
                <a:moveTo>
                  <a:pt x="100493" y="0"/>
                </a:moveTo>
                <a:lnTo>
                  <a:pt x="6871748" y="0"/>
                </a:lnTo>
                <a:cubicBezTo>
                  <a:pt x="6927249" y="0"/>
                  <a:pt x="6972241" y="44992"/>
                  <a:pt x="6972241" y="100493"/>
                </a:cubicBezTo>
                <a:lnTo>
                  <a:pt x="6972241" y="1758771"/>
                </a:lnTo>
                <a:cubicBezTo>
                  <a:pt x="6972241" y="1814272"/>
                  <a:pt x="6927249" y="1859264"/>
                  <a:pt x="6871748" y="1859264"/>
                </a:cubicBezTo>
                <a:lnTo>
                  <a:pt x="100493" y="1859264"/>
                </a:lnTo>
                <a:cubicBezTo>
                  <a:pt x="44992" y="1859264"/>
                  <a:pt x="0" y="1814272"/>
                  <a:pt x="0" y="1758771"/>
                </a:cubicBezTo>
                <a:lnTo>
                  <a:pt x="0" y="100493"/>
                </a:lnTo>
                <a:cubicBezTo>
                  <a:pt x="0" y="45030"/>
                  <a:pt x="45030" y="0"/>
                  <a:pt x="10049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54757" y="7185805"/>
            <a:ext cx="677124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核心优化技术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4757" y="7587808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批量大小动态调优: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500-2000条/批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4757" y="788931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RPC连接池优化: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50-100个活跃连接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4757" y="8190813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压缩传输: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Snappy压缩节省60-80%带宽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4757" y="8492315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智能重试: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指数退避重试机制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1356760"/>
            <a:ext cx="7499870" cy="7788810"/>
          </a:xfrm>
          <a:custGeom>
            <a:avLst/>
            <a:gdLst/>
            <a:ahLst/>
            <a:cxnLst/>
            <a:rect l="l" t="t" r="r" b="b"/>
            <a:pathLst>
              <a:path w="7499870" h="7788810">
                <a:moveTo>
                  <a:pt x="50250" y="0"/>
                </a:moveTo>
                <a:lnTo>
                  <a:pt x="7349123" y="0"/>
                </a:lnTo>
                <a:cubicBezTo>
                  <a:pt x="7432378" y="0"/>
                  <a:pt x="7499870" y="67492"/>
                  <a:pt x="7499870" y="150747"/>
                </a:cubicBezTo>
                <a:lnTo>
                  <a:pt x="7499870" y="7638063"/>
                </a:lnTo>
                <a:cubicBezTo>
                  <a:pt x="7499870" y="7721318"/>
                  <a:pt x="7432378" y="7788810"/>
                  <a:pt x="7349123" y="7788810"/>
                </a:cubicBezTo>
                <a:lnTo>
                  <a:pt x="50250" y="7788810"/>
                </a:lnTo>
                <a:cubicBezTo>
                  <a:pt x="22498" y="7788810"/>
                  <a:pt x="0" y="7766312"/>
                  <a:pt x="0" y="7738560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55000" y="1356760"/>
            <a:ext cx="50250" cy="7788810"/>
          </a:xfrm>
          <a:custGeom>
            <a:avLst/>
            <a:gdLst/>
            <a:ahLst/>
            <a:cxnLst/>
            <a:rect l="l" t="t" r="r" b="b"/>
            <a:pathLst>
              <a:path w="50250" h="7788810">
                <a:moveTo>
                  <a:pt x="50250" y="0"/>
                </a:moveTo>
                <a:lnTo>
                  <a:pt x="50250" y="0"/>
                </a:lnTo>
                <a:lnTo>
                  <a:pt x="50250" y="7788810"/>
                </a:lnTo>
                <a:lnTo>
                  <a:pt x="50250" y="7788810"/>
                </a:lnTo>
                <a:cubicBezTo>
                  <a:pt x="22498" y="7788810"/>
                  <a:pt x="0" y="7766312"/>
                  <a:pt x="0" y="7738560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94190" y="1658263"/>
            <a:ext cx="188439" cy="251252"/>
          </a:xfrm>
          <a:custGeom>
            <a:avLst/>
            <a:gdLst/>
            <a:ahLst/>
            <a:cxnLst/>
            <a:rect l="l" t="t" r="r" b="b"/>
            <a:pathLst>
              <a:path w="188439" h="251252">
                <a:moveTo>
                  <a:pt x="105310" y="8539"/>
                </a:moveTo>
                <a:cubicBezTo>
                  <a:pt x="99176" y="2405"/>
                  <a:pt x="89214" y="2405"/>
                  <a:pt x="83080" y="8539"/>
                </a:cubicBezTo>
                <a:lnTo>
                  <a:pt x="4564" y="87055"/>
                </a:lnTo>
                <a:cubicBezTo>
                  <a:pt x="-1570" y="93189"/>
                  <a:pt x="-1570" y="103151"/>
                  <a:pt x="4564" y="109285"/>
                </a:cubicBezTo>
                <a:cubicBezTo>
                  <a:pt x="10698" y="115419"/>
                  <a:pt x="20660" y="115419"/>
                  <a:pt x="26794" y="109285"/>
                </a:cubicBezTo>
                <a:lnTo>
                  <a:pt x="78516" y="57562"/>
                </a:lnTo>
                <a:lnTo>
                  <a:pt x="78516" y="239474"/>
                </a:lnTo>
                <a:cubicBezTo>
                  <a:pt x="78516" y="248160"/>
                  <a:pt x="85534" y="255178"/>
                  <a:pt x="94219" y="255178"/>
                </a:cubicBezTo>
                <a:cubicBezTo>
                  <a:pt x="102905" y="255178"/>
                  <a:pt x="109923" y="248160"/>
                  <a:pt x="109923" y="239474"/>
                </a:cubicBezTo>
                <a:lnTo>
                  <a:pt x="109923" y="57562"/>
                </a:lnTo>
                <a:lnTo>
                  <a:pt x="161645" y="109285"/>
                </a:lnTo>
                <a:cubicBezTo>
                  <a:pt x="167779" y="115419"/>
                  <a:pt x="177741" y="115419"/>
                  <a:pt x="183875" y="109285"/>
                </a:cubicBezTo>
                <a:cubicBezTo>
                  <a:pt x="190009" y="103151"/>
                  <a:pt x="190009" y="93189"/>
                  <a:pt x="183875" y="87055"/>
                </a:cubicBezTo>
                <a:lnTo>
                  <a:pt x="105359" y="853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45442" y="1608012"/>
            <a:ext cx="6783802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读取管道流程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31377" y="2110516"/>
            <a:ext cx="6972241" cy="4170782"/>
          </a:xfrm>
          <a:custGeom>
            <a:avLst/>
            <a:gdLst/>
            <a:ahLst/>
            <a:cxnLst/>
            <a:rect l="l" t="t" r="r" b="b"/>
            <a:pathLst>
              <a:path w="6972241" h="4170782">
                <a:moveTo>
                  <a:pt x="100516" y="0"/>
                </a:moveTo>
                <a:lnTo>
                  <a:pt x="6871725" y="0"/>
                </a:lnTo>
                <a:cubicBezTo>
                  <a:pt x="6927239" y="0"/>
                  <a:pt x="6972241" y="45002"/>
                  <a:pt x="6972241" y="100516"/>
                </a:cubicBezTo>
                <a:lnTo>
                  <a:pt x="6972241" y="4070266"/>
                </a:lnTo>
                <a:cubicBezTo>
                  <a:pt x="6972241" y="4125780"/>
                  <a:pt x="6927239" y="4170782"/>
                  <a:pt x="6871725" y="4170782"/>
                </a:cubicBezTo>
                <a:lnTo>
                  <a:pt x="100516" y="4170782"/>
                </a:lnTo>
                <a:cubicBezTo>
                  <a:pt x="45002" y="4170782"/>
                  <a:pt x="0" y="4125780"/>
                  <a:pt x="0" y="4070266"/>
                </a:cubicBezTo>
                <a:lnTo>
                  <a:pt x="0" y="100516"/>
                </a:lnTo>
                <a:cubicBezTo>
                  <a:pt x="0" y="45040"/>
                  <a:pt x="45040" y="0"/>
                  <a:pt x="10051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82128" y="2261267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搜索查询请求 (用户/API)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83130" y="2562770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2128" y="2864272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查询解析和优化 (SQL→扫描器)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83130" y="3165774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2128" y="3467277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多级缓存查找 (RowCache→BlockCache)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83130" y="3768779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2128" y="407028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SSTable磁盘读取 (Bloom Filter过滤)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83130" y="4371784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82128" y="4673286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数据合并和版本选择 (最新优先)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83130" y="4974788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82128" y="527629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结果排序和分页 (内存排序)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83130" y="5577793"/>
            <a:ext cx="655767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82128" y="5879295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响应返回客户端 (JSON/Protobuf)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31377" y="6432049"/>
            <a:ext cx="6972241" cy="1859264"/>
          </a:xfrm>
          <a:custGeom>
            <a:avLst/>
            <a:gdLst/>
            <a:ahLst/>
            <a:cxnLst/>
            <a:rect l="l" t="t" r="r" b="b"/>
            <a:pathLst>
              <a:path w="6972241" h="1859264">
                <a:moveTo>
                  <a:pt x="100493" y="0"/>
                </a:moveTo>
                <a:lnTo>
                  <a:pt x="6871748" y="0"/>
                </a:lnTo>
                <a:cubicBezTo>
                  <a:pt x="6927249" y="0"/>
                  <a:pt x="6972241" y="44992"/>
                  <a:pt x="6972241" y="100493"/>
                </a:cubicBezTo>
                <a:lnTo>
                  <a:pt x="6972241" y="1758771"/>
                </a:lnTo>
                <a:cubicBezTo>
                  <a:pt x="6972241" y="1814272"/>
                  <a:pt x="6927249" y="1859264"/>
                  <a:pt x="6871748" y="1859264"/>
                </a:cubicBezTo>
                <a:lnTo>
                  <a:pt x="100493" y="1859264"/>
                </a:lnTo>
                <a:cubicBezTo>
                  <a:pt x="44992" y="1859264"/>
                  <a:pt x="0" y="1814272"/>
                  <a:pt x="0" y="1758771"/>
                </a:cubicBezTo>
                <a:lnTo>
                  <a:pt x="0" y="100493"/>
                </a:lnTo>
                <a:cubicBezTo>
                  <a:pt x="0" y="45030"/>
                  <a:pt x="45030" y="0"/>
                  <a:pt x="10049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682128" y="6582801"/>
            <a:ext cx="677124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查询优化策略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2128" y="6984804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多级缓存: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RowCache+BlockCache+应用层缓存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82128" y="7286306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索引优化: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为常用查询字段创建二级索引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82128" y="7587808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扫描优化: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精确设置start/end key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82128" y="7889311"/>
            <a:ext cx="6758677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5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并行查询: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大范围查询拆分并行子查询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200" y="508000"/>
            <a:ext cx="462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异步处理管道与分布式部署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320800"/>
            <a:ext cx="7493000" cy="6705600"/>
          </a:xfrm>
          <a:custGeom>
            <a:avLst/>
            <a:gdLst/>
            <a:ahLst/>
            <a:cxnLst/>
            <a:rect l="l" t="t" r="r" b="b"/>
            <a:pathLst>
              <a:path w="7493000" h="6705600">
                <a:moveTo>
                  <a:pt x="50800" y="0"/>
                </a:moveTo>
                <a:lnTo>
                  <a:pt x="7340582" y="0"/>
                </a:lnTo>
                <a:cubicBezTo>
                  <a:pt x="7424760" y="0"/>
                  <a:pt x="7493000" y="68240"/>
                  <a:pt x="7493000" y="152418"/>
                </a:cubicBezTo>
                <a:lnTo>
                  <a:pt x="7493000" y="6553182"/>
                </a:lnTo>
                <a:cubicBezTo>
                  <a:pt x="7493000" y="6637360"/>
                  <a:pt x="7424760" y="6705600"/>
                  <a:pt x="7340582" y="6705600"/>
                </a:cubicBezTo>
                <a:lnTo>
                  <a:pt x="50800" y="6705600"/>
                </a:lnTo>
                <a:cubicBezTo>
                  <a:pt x="22763" y="6705600"/>
                  <a:pt x="0" y="6682837"/>
                  <a:pt x="0" y="665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320800"/>
            <a:ext cx="50800" cy="6705600"/>
          </a:xfrm>
          <a:custGeom>
            <a:avLst/>
            <a:gdLst/>
            <a:ahLst/>
            <a:cxnLst/>
            <a:rect l="l" t="t" r="r" b="b"/>
            <a:pathLst>
              <a:path w="50800" h="6705600">
                <a:moveTo>
                  <a:pt x="50800" y="0"/>
                </a:moveTo>
                <a:lnTo>
                  <a:pt x="50800" y="0"/>
                </a:lnTo>
                <a:lnTo>
                  <a:pt x="50800" y="6705600"/>
                </a:lnTo>
                <a:lnTo>
                  <a:pt x="50800" y="6705600"/>
                </a:lnTo>
                <a:cubicBezTo>
                  <a:pt x="22763" y="6705600"/>
                  <a:pt x="0" y="6682837"/>
                  <a:pt x="0" y="665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异步处理管道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7061200" cy="4216400"/>
          </a:xfrm>
          <a:custGeom>
            <a:avLst/>
            <a:gdLst/>
            <a:ahLst/>
            <a:cxnLst/>
            <a:rect l="l" t="t" r="r" b="b"/>
            <a:pathLst>
              <a:path w="7061200" h="4216400">
                <a:moveTo>
                  <a:pt x="101615" y="0"/>
                </a:moveTo>
                <a:lnTo>
                  <a:pt x="6959585" y="0"/>
                </a:lnTo>
                <a:cubicBezTo>
                  <a:pt x="7015705" y="0"/>
                  <a:pt x="7061200" y="45495"/>
                  <a:pt x="7061200" y="101615"/>
                </a:cubicBezTo>
                <a:lnTo>
                  <a:pt x="7061200" y="4114785"/>
                </a:lnTo>
                <a:cubicBezTo>
                  <a:pt x="7061200" y="4170905"/>
                  <a:pt x="7015705" y="4216400"/>
                  <a:pt x="6959585" y="4216400"/>
                </a:cubicBezTo>
                <a:lnTo>
                  <a:pt x="101615" y="4216400"/>
                </a:lnTo>
                <a:cubicBezTo>
                  <a:pt x="45495" y="4216400"/>
                  <a:pt x="0" y="4170905"/>
                  <a:pt x="0" y="41147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21844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后台Compaction调度器 (定时任务)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24892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940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数据压缩和合并 (Leveled Compaction)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600" y="30988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036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过期数据清理 (TTL过期策略)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7600" y="37084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0132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统计信息收集 (Metrics Collector)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" y="43180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6228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缓存预热和预取 (Predictive Prefetch)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" y="49276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2324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监控指标上报 (Monitoring System)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" y="5537200"/>
            <a:ext cx="664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8420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健康检查和自动修复 (Self-Healing)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400800"/>
            <a:ext cx="3479800" cy="660400"/>
          </a:xfrm>
          <a:custGeom>
            <a:avLst/>
            <a:gdLst/>
            <a:ahLst/>
            <a:cxnLst/>
            <a:rect l="l" t="t" r="r" b="b"/>
            <a:pathLst>
              <a:path w="3479800" h="6604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558797"/>
                </a:lnTo>
                <a:cubicBezTo>
                  <a:pt x="3479800" y="614911"/>
                  <a:pt x="3434311" y="660400"/>
                  <a:pt x="3378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19150" y="65024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500" y="6756400"/>
            <a:ext cx="335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每小时执行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43400" y="6400800"/>
            <a:ext cx="3479800" cy="660400"/>
          </a:xfrm>
          <a:custGeom>
            <a:avLst/>
            <a:gdLst/>
            <a:ahLst/>
            <a:cxnLst/>
            <a:rect l="l" t="t" r="r" b="b"/>
            <a:pathLst>
              <a:path w="3479800" h="6604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558797"/>
                </a:lnTo>
                <a:cubicBezTo>
                  <a:pt x="3479800" y="614911"/>
                  <a:pt x="3434311" y="660400"/>
                  <a:pt x="3378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400550" y="65024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数据清理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6900" y="6756400"/>
            <a:ext cx="335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每天执行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162800"/>
            <a:ext cx="3479800" cy="660400"/>
          </a:xfrm>
          <a:custGeom>
            <a:avLst/>
            <a:gdLst/>
            <a:ahLst/>
            <a:cxnLst/>
            <a:rect l="l" t="t" r="r" b="b"/>
            <a:pathLst>
              <a:path w="3479800" h="6604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558797"/>
                </a:lnTo>
                <a:cubicBezTo>
                  <a:pt x="3479800" y="614911"/>
                  <a:pt x="3434311" y="660400"/>
                  <a:pt x="3378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19150" y="72644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监控收集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5500" y="7518400"/>
            <a:ext cx="335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每分钟执行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43400" y="7162800"/>
            <a:ext cx="3479800" cy="660400"/>
          </a:xfrm>
          <a:custGeom>
            <a:avLst/>
            <a:gdLst/>
            <a:ahLst/>
            <a:cxnLst/>
            <a:rect l="l" t="t" r="r" b="b"/>
            <a:pathLst>
              <a:path w="3479800" h="6604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558797"/>
                </a:lnTo>
                <a:cubicBezTo>
                  <a:pt x="3479800" y="614911"/>
                  <a:pt x="3434311" y="660400"/>
                  <a:pt x="3378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400550" y="72644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缓存预热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6900" y="7518400"/>
            <a:ext cx="335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每5分钟执行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1320800"/>
            <a:ext cx="7493000" cy="3860800"/>
          </a:xfrm>
          <a:custGeom>
            <a:avLst/>
            <a:gdLst/>
            <a:ahLst/>
            <a:cxnLst/>
            <a:rect l="l" t="t" r="r" b="b"/>
            <a:pathLst>
              <a:path w="7493000" h="3860800">
                <a:moveTo>
                  <a:pt x="50800" y="0"/>
                </a:moveTo>
                <a:lnTo>
                  <a:pt x="7340614" y="0"/>
                </a:lnTo>
                <a:cubicBezTo>
                  <a:pt x="7424775" y="0"/>
                  <a:pt x="7493000" y="68225"/>
                  <a:pt x="7493000" y="152386"/>
                </a:cubicBezTo>
                <a:lnTo>
                  <a:pt x="7493000" y="3708414"/>
                </a:lnTo>
                <a:cubicBezTo>
                  <a:pt x="7493000" y="3792575"/>
                  <a:pt x="7424775" y="3860800"/>
                  <a:pt x="7340614" y="3860800"/>
                </a:cubicBezTo>
                <a:lnTo>
                  <a:pt x="50800" y="3860800"/>
                </a:lnTo>
                <a:cubicBezTo>
                  <a:pt x="22744" y="3860800"/>
                  <a:pt x="0" y="3838056"/>
                  <a:pt x="0" y="381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55000" y="1320800"/>
            <a:ext cx="50800" cy="3860800"/>
          </a:xfrm>
          <a:custGeom>
            <a:avLst/>
            <a:gdLst/>
            <a:ahLst/>
            <a:cxnLst/>
            <a:rect l="l" t="t" r="r" b="b"/>
            <a:pathLst>
              <a:path w="50800" h="3860800">
                <a:moveTo>
                  <a:pt x="50800" y="0"/>
                </a:moveTo>
                <a:lnTo>
                  <a:pt x="50800" y="0"/>
                </a:lnTo>
                <a:lnTo>
                  <a:pt x="50800" y="3860800"/>
                </a:lnTo>
                <a:lnTo>
                  <a:pt x="50800" y="3860800"/>
                </a:lnTo>
                <a:cubicBezTo>
                  <a:pt x="22763" y="3860800"/>
                  <a:pt x="0" y="3838037"/>
                  <a:pt x="0" y="381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83600" y="1524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集群规模配置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83600" y="2032000"/>
            <a:ext cx="7061200" cy="660400"/>
          </a:xfrm>
          <a:custGeom>
            <a:avLst/>
            <a:gdLst/>
            <a:ahLst/>
            <a:cxnLst/>
            <a:rect l="l" t="t" r="r" b="b"/>
            <a:pathLst>
              <a:path w="7061200" h="660400">
                <a:moveTo>
                  <a:pt x="101603" y="0"/>
                </a:moveTo>
                <a:lnTo>
                  <a:pt x="6959597" y="0"/>
                </a:lnTo>
                <a:cubicBezTo>
                  <a:pt x="7015711" y="0"/>
                  <a:pt x="7061200" y="45489"/>
                  <a:pt x="7061200" y="101603"/>
                </a:cubicBezTo>
                <a:lnTo>
                  <a:pt x="7061200" y="558797"/>
                </a:lnTo>
                <a:cubicBezTo>
                  <a:pt x="7061200" y="614911"/>
                  <a:pt x="7015711" y="660400"/>
                  <a:pt x="6959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85200" y="2133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Tablet服务器: 200+节点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85200" y="2387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32核CPU,128GB内存,10Gbps网络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3600" y="2794000"/>
            <a:ext cx="7061200" cy="660400"/>
          </a:xfrm>
          <a:custGeom>
            <a:avLst/>
            <a:gdLst/>
            <a:ahLst/>
            <a:cxnLst/>
            <a:rect l="l" t="t" r="r" b="b"/>
            <a:pathLst>
              <a:path w="7061200" h="660400">
                <a:moveTo>
                  <a:pt x="101603" y="0"/>
                </a:moveTo>
                <a:lnTo>
                  <a:pt x="6959597" y="0"/>
                </a:lnTo>
                <a:cubicBezTo>
                  <a:pt x="7015711" y="0"/>
                  <a:pt x="7061200" y="45489"/>
                  <a:pt x="7061200" y="101603"/>
                </a:cubicBezTo>
                <a:lnTo>
                  <a:pt x="7061200" y="558797"/>
                </a:lnTo>
                <a:cubicBezTo>
                  <a:pt x="7061200" y="614911"/>
                  <a:pt x="7015711" y="660400"/>
                  <a:pt x="6959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85200" y="2895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Master服务器: 3节点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85200" y="3149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16核CPU,64GB内存,SSD存储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83600" y="3556000"/>
            <a:ext cx="7061200" cy="660400"/>
          </a:xfrm>
          <a:custGeom>
            <a:avLst/>
            <a:gdLst/>
            <a:ahLst/>
            <a:cxnLst/>
            <a:rect l="l" t="t" r="r" b="b"/>
            <a:pathLst>
              <a:path w="7061200" h="660400">
                <a:moveTo>
                  <a:pt x="101603" y="0"/>
                </a:moveTo>
                <a:lnTo>
                  <a:pt x="6959597" y="0"/>
                </a:lnTo>
                <a:cubicBezTo>
                  <a:pt x="7015711" y="0"/>
                  <a:pt x="7061200" y="45489"/>
                  <a:pt x="7061200" y="101603"/>
                </a:cubicBezTo>
                <a:lnTo>
                  <a:pt x="7061200" y="558797"/>
                </a:lnTo>
                <a:cubicBezTo>
                  <a:pt x="7061200" y="614911"/>
                  <a:pt x="7015711" y="660400"/>
                  <a:pt x="6959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85200" y="3657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Chubby服务: 5节点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5200" y="3911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8核CPU,32GB内存,Paxos共识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83600" y="4318000"/>
            <a:ext cx="7061200" cy="660400"/>
          </a:xfrm>
          <a:custGeom>
            <a:avLst/>
            <a:gdLst/>
            <a:ahLst/>
            <a:cxnLst/>
            <a:rect l="l" t="t" r="r" b="b"/>
            <a:pathLst>
              <a:path w="7061200" h="660400">
                <a:moveTo>
                  <a:pt x="101603" y="0"/>
                </a:moveTo>
                <a:lnTo>
                  <a:pt x="6959597" y="0"/>
                </a:lnTo>
                <a:cubicBezTo>
                  <a:pt x="7015711" y="0"/>
                  <a:pt x="7061200" y="45489"/>
                  <a:pt x="7061200" y="101603"/>
                </a:cubicBezTo>
                <a:lnTo>
                  <a:pt x="7061200" y="558797"/>
                </a:lnTo>
                <a:cubicBezTo>
                  <a:pt x="7061200" y="614911"/>
                  <a:pt x="7015711" y="660400"/>
                  <a:pt x="6959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85200" y="4419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GFS存储节点: 500+节点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85200" y="4673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12×4TB HDD,64GB内存,10Gbps网络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5000" y="5334000"/>
            <a:ext cx="7493000" cy="3302000"/>
          </a:xfrm>
          <a:custGeom>
            <a:avLst/>
            <a:gdLst/>
            <a:ahLst/>
            <a:cxnLst/>
            <a:rect l="l" t="t" r="r" b="b"/>
            <a:pathLst>
              <a:path w="7493000" h="3302000">
                <a:moveTo>
                  <a:pt x="50800" y="0"/>
                </a:moveTo>
                <a:lnTo>
                  <a:pt x="7340613" y="0"/>
                </a:lnTo>
                <a:cubicBezTo>
                  <a:pt x="7424774" y="0"/>
                  <a:pt x="7493000" y="68226"/>
                  <a:pt x="7493000" y="152387"/>
                </a:cubicBezTo>
                <a:lnTo>
                  <a:pt x="7493000" y="3149613"/>
                </a:lnTo>
                <a:cubicBezTo>
                  <a:pt x="7493000" y="3233774"/>
                  <a:pt x="7424774" y="3302000"/>
                  <a:pt x="7340613" y="3302000"/>
                </a:cubicBez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255000" y="53340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5080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483600" y="55372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容量规划和扩展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83600" y="604520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585200" y="61468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存储容量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85200" y="6451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500节点×48TB=24PB原始容量,3副本后8PB可用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83600" y="685800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85200" y="6959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写入吞吐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85200" y="72644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 Tablet服务器×6000行/秒=120万行/秒理论峰值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83600" y="767080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85200" y="77724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扩展方案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85200" y="80772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水平扩展、垂直优化、分区策略支持多集群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67c8dcdcd0e62c9a87d495fefcbd5036e2f715e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0053" b="1005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0000"/>
                </a:srgbClr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070600" y="390525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89240" y="5124450"/>
            <a:ext cx="588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Bigtable的技术贡献、设计哲学与未来启示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358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1800" y="6229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07400" y="62801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8EAB8782-2E1C-FF32-01AF-369743B5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93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031" y="500535"/>
            <a:ext cx="45503" cy="364025"/>
          </a:xfrm>
          <a:custGeom>
            <a:avLst/>
            <a:gdLst/>
            <a:ahLst/>
            <a:cxnLst/>
            <a:rect l="l" t="t" r="r" b="b"/>
            <a:pathLst>
              <a:path w="45503" h="364025">
                <a:moveTo>
                  <a:pt x="0" y="0"/>
                </a:moveTo>
                <a:lnTo>
                  <a:pt x="45503" y="0"/>
                </a:lnTo>
                <a:lnTo>
                  <a:pt x="45503" y="364025"/>
                </a:lnTo>
                <a:lnTo>
                  <a:pt x="0" y="364025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7044" y="455031"/>
            <a:ext cx="3151093" cy="4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2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技术贡献与设计哲学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7783" y="1228585"/>
            <a:ext cx="7564899" cy="6097422"/>
          </a:xfrm>
          <a:custGeom>
            <a:avLst/>
            <a:gdLst/>
            <a:ahLst/>
            <a:cxnLst/>
            <a:rect l="l" t="t" r="r" b="b"/>
            <a:pathLst>
              <a:path w="7564899" h="6097422">
                <a:moveTo>
                  <a:pt x="45503" y="0"/>
                </a:moveTo>
                <a:lnTo>
                  <a:pt x="7428377" y="0"/>
                </a:lnTo>
                <a:cubicBezTo>
                  <a:pt x="7503776" y="0"/>
                  <a:pt x="7564899" y="61123"/>
                  <a:pt x="7564899" y="136521"/>
                </a:cubicBezTo>
                <a:lnTo>
                  <a:pt x="7564899" y="5960901"/>
                </a:lnTo>
                <a:cubicBezTo>
                  <a:pt x="7564899" y="6036299"/>
                  <a:pt x="7503776" y="6097422"/>
                  <a:pt x="7428377" y="6097422"/>
                </a:cubicBezTo>
                <a:lnTo>
                  <a:pt x="45503" y="6097422"/>
                </a:lnTo>
                <a:cubicBezTo>
                  <a:pt x="20372" y="6097422"/>
                  <a:pt x="0" y="6077050"/>
                  <a:pt x="0" y="605191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7783" y="1228585"/>
            <a:ext cx="45503" cy="6097422"/>
          </a:xfrm>
          <a:custGeom>
            <a:avLst/>
            <a:gdLst/>
            <a:ahLst/>
            <a:cxnLst/>
            <a:rect l="l" t="t" r="r" b="b"/>
            <a:pathLst>
              <a:path w="45503" h="6097422">
                <a:moveTo>
                  <a:pt x="45503" y="0"/>
                </a:moveTo>
                <a:lnTo>
                  <a:pt x="45503" y="0"/>
                </a:lnTo>
                <a:lnTo>
                  <a:pt x="45503" y="6097422"/>
                </a:lnTo>
                <a:lnTo>
                  <a:pt x="45503" y="6097422"/>
                </a:lnTo>
                <a:cubicBezTo>
                  <a:pt x="20372" y="6097422"/>
                  <a:pt x="0" y="6077050"/>
                  <a:pt x="0" y="605191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8050" y="1456101"/>
            <a:ext cx="720087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核心价值的深层意义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8050" y="1911132"/>
            <a:ext cx="7178122" cy="546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Bigtable的真正价值不在于发明了某个全新的算法,而在于将多个成熟技术巧妙组合,并在工程实践中验证了其可行性。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8050" y="2593679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64560" y="2730189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数据模型设计哲学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4560" y="3094214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列族设计: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看似简单的列族概念,实际上解决了半结构化数据存储的核心痛点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4560" y="3367233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稀疏存储: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在存储成本高昂的时代,为互联网公司节省了大量资源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4560" y="3640252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时间戳版本: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多版本支持不仅满足了数据追溯需求,还简化了并发控制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8050" y="4140787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4560" y="4277296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架构设计智慧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560" y="4641321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Tablet分片: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既保证了扩展性,又控制了单点故障影响范围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560" y="4914340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三级元数据: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在元数据规模和数据定位效率之间找到最佳平衡点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560" y="5187359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依赖现有基础设施: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基于GFS和Chubby构建,降低开发复杂度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8050" y="5687894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4560" y="5824403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算法选择经典案例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560" y="6188428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写入优化: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LSM树的追加写特性完美匹配高吞吐写入需求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4560" y="6461447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内存磁盘协同: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MemTable和SSTable配合使用,平衡性能和成本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560" y="6734466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压缩策略: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多级Compaction机制换来稳定的性能表现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43624" y="1228585"/>
            <a:ext cx="7564899" cy="5824403"/>
          </a:xfrm>
          <a:custGeom>
            <a:avLst/>
            <a:gdLst/>
            <a:ahLst/>
            <a:cxnLst/>
            <a:rect l="l" t="t" r="r" b="b"/>
            <a:pathLst>
              <a:path w="7564899" h="5824403">
                <a:moveTo>
                  <a:pt x="45503" y="0"/>
                </a:moveTo>
                <a:lnTo>
                  <a:pt x="7428375" y="0"/>
                </a:lnTo>
                <a:cubicBezTo>
                  <a:pt x="7503775" y="0"/>
                  <a:pt x="7564899" y="61124"/>
                  <a:pt x="7564899" y="136524"/>
                </a:cubicBezTo>
                <a:lnTo>
                  <a:pt x="7564899" y="5687879"/>
                </a:lnTo>
                <a:cubicBezTo>
                  <a:pt x="7564899" y="5763279"/>
                  <a:pt x="7503775" y="5824403"/>
                  <a:pt x="7428375" y="5824403"/>
                </a:cubicBezTo>
                <a:lnTo>
                  <a:pt x="45503" y="5824403"/>
                </a:lnTo>
                <a:cubicBezTo>
                  <a:pt x="20372" y="5824403"/>
                  <a:pt x="0" y="5804031"/>
                  <a:pt x="0" y="5778900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43624" y="1228585"/>
            <a:ext cx="45503" cy="5824403"/>
          </a:xfrm>
          <a:custGeom>
            <a:avLst/>
            <a:gdLst/>
            <a:ahLst/>
            <a:cxnLst/>
            <a:rect l="l" t="t" r="r" b="b"/>
            <a:pathLst>
              <a:path w="45503" h="5824403">
                <a:moveTo>
                  <a:pt x="45503" y="0"/>
                </a:moveTo>
                <a:lnTo>
                  <a:pt x="45503" y="0"/>
                </a:lnTo>
                <a:lnTo>
                  <a:pt x="45503" y="5824403"/>
                </a:lnTo>
                <a:lnTo>
                  <a:pt x="45503" y="5824403"/>
                </a:lnTo>
                <a:cubicBezTo>
                  <a:pt x="20372" y="5824403"/>
                  <a:pt x="0" y="5804031"/>
                  <a:pt x="0" y="5778900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93892" y="1456101"/>
            <a:ext cx="720087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设计权衡的现实考量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93892" y="1911132"/>
            <a:ext cx="717812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Bigtable的成功很大程度上源于其明智的设计取舍: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93892" y="2320661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30401" y="2457170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清晰的边界意识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0401" y="2821195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专注核心能力: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只提供Get/Put/Scan等基本操作,避免功能膨胀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0401" y="3094214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放弃跨行事务: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虽然限制应用场景,但换来更好的扩展性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0401" y="3367233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简化查询接口: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不支持复杂查询,提高系统清晰度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93892" y="3867768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30401" y="4004277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有针对性的优化选择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0401" y="4368302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写入优于读取: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符合大多数互联网业务的访问模式特点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30401" y="4641321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批量处理优先: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适应了数据处理批量化的发展趋势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0401" y="4914340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在存储成本下降的时代,这是明智的赌注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93892" y="5414875"/>
            <a:ext cx="7087115" cy="1410598"/>
          </a:xfrm>
          <a:custGeom>
            <a:avLst/>
            <a:gdLst/>
            <a:ahLst/>
            <a:cxnLst/>
            <a:rect l="l" t="t" r="r" b="b"/>
            <a:pathLst>
              <a:path w="7087115" h="1410598">
                <a:moveTo>
                  <a:pt x="91012" y="0"/>
                </a:moveTo>
                <a:lnTo>
                  <a:pt x="6996104" y="0"/>
                </a:lnTo>
                <a:cubicBezTo>
                  <a:pt x="7046368" y="0"/>
                  <a:pt x="7087115" y="40747"/>
                  <a:pt x="7087115" y="91012"/>
                </a:cubicBezTo>
                <a:lnTo>
                  <a:pt x="7087115" y="1319586"/>
                </a:lnTo>
                <a:cubicBezTo>
                  <a:pt x="7087115" y="1369850"/>
                  <a:pt x="7046368" y="1410598"/>
                  <a:pt x="6996104" y="1410598"/>
                </a:cubicBezTo>
                <a:lnTo>
                  <a:pt x="91012" y="1410598"/>
                </a:lnTo>
                <a:cubicBezTo>
                  <a:pt x="40747" y="1410598"/>
                  <a:pt x="0" y="1369850"/>
                  <a:pt x="0" y="1319586"/>
                </a:cubicBezTo>
                <a:lnTo>
                  <a:pt x="0" y="91012"/>
                </a:lnTo>
                <a:cubicBezTo>
                  <a:pt x="0" y="40781"/>
                  <a:pt x="40781" y="0"/>
                  <a:pt x="91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30401" y="5551384"/>
            <a:ext cx="690510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实际应用的检验价值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0401" y="5915409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搜索业务: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处理海量网页索引数据,证明高吞吐能力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30401" y="6188428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地理信息服务: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存储和处理空间数据,展示系统灵活性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30401" y="6461447"/>
            <a:ext cx="6893727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54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用户行为分析:</a:t>
            </a: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应对实时数据分析,体现低延迟特性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43624" y="7189498"/>
            <a:ext cx="7564899" cy="2570928"/>
          </a:xfrm>
          <a:custGeom>
            <a:avLst/>
            <a:gdLst/>
            <a:ahLst/>
            <a:cxnLst/>
            <a:rect l="l" t="t" r="r" b="b"/>
            <a:pathLst>
              <a:path w="7564899" h="2570928">
                <a:moveTo>
                  <a:pt x="45503" y="0"/>
                </a:moveTo>
                <a:lnTo>
                  <a:pt x="7428382" y="0"/>
                </a:lnTo>
                <a:cubicBezTo>
                  <a:pt x="7503778" y="0"/>
                  <a:pt x="7564899" y="61120"/>
                  <a:pt x="7564899" y="136516"/>
                </a:cubicBezTo>
                <a:lnTo>
                  <a:pt x="7564899" y="2434412"/>
                </a:lnTo>
                <a:cubicBezTo>
                  <a:pt x="7564899" y="2509808"/>
                  <a:pt x="7503778" y="2570928"/>
                  <a:pt x="7428382" y="2570928"/>
                </a:cubicBezTo>
                <a:lnTo>
                  <a:pt x="45503" y="2570928"/>
                </a:lnTo>
                <a:cubicBezTo>
                  <a:pt x="20372" y="2570928"/>
                  <a:pt x="0" y="2550555"/>
                  <a:pt x="0" y="2525425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243624" y="7189498"/>
            <a:ext cx="45503" cy="2570928"/>
          </a:xfrm>
          <a:custGeom>
            <a:avLst/>
            <a:gdLst/>
            <a:ahLst/>
            <a:cxnLst/>
            <a:rect l="l" t="t" r="r" b="b"/>
            <a:pathLst>
              <a:path w="45503" h="2570928">
                <a:moveTo>
                  <a:pt x="45503" y="0"/>
                </a:moveTo>
                <a:lnTo>
                  <a:pt x="45503" y="0"/>
                </a:lnTo>
                <a:lnTo>
                  <a:pt x="45503" y="2570928"/>
                </a:lnTo>
                <a:lnTo>
                  <a:pt x="45503" y="2570928"/>
                </a:lnTo>
                <a:cubicBezTo>
                  <a:pt x="20372" y="2570928"/>
                  <a:pt x="0" y="2550555"/>
                  <a:pt x="0" y="2525425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93892" y="7417013"/>
            <a:ext cx="720087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性能数据参考标准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3892" y="7872045"/>
            <a:ext cx="2275157" cy="1046572"/>
          </a:xfrm>
          <a:custGeom>
            <a:avLst/>
            <a:gdLst/>
            <a:ahLst/>
            <a:cxnLst/>
            <a:rect l="l" t="t" r="r" b="b"/>
            <a:pathLst>
              <a:path w="2275157" h="1046572">
                <a:moveTo>
                  <a:pt x="91010" y="0"/>
                </a:moveTo>
                <a:lnTo>
                  <a:pt x="2184148" y="0"/>
                </a:lnTo>
                <a:cubicBezTo>
                  <a:pt x="2234411" y="0"/>
                  <a:pt x="2275157" y="40747"/>
                  <a:pt x="2275157" y="91010"/>
                </a:cubicBezTo>
                <a:lnTo>
                  <a:pt x="2275157" y="955562"/>
                </a:lnTo>
                <a:cubicBezTo>
                  <a:pt x="2275157" y="1005826"/>
                  <a:pt x="2234411" y="1046572"/>
                  <a:pt x="2184148" y="1046572"/>
                </a:cubicBezTo>
                <a:lnTo>
                  <a:pt x="91010" y="1046572"/>
                </a:lnTo>
                <a:cubicBezTo>
                  <a:pt x="40747" y="1046572"/>
                  <a:pt x="0" y="1005826"/>
                  <a:pt x="0" y="955562"/>
                </a:cubicBezTo>
                <a:lnTo>
                  <a:pt x="0" y="91010"/>
                </a:lnTo>
                <a:cubicBezTo>
                  <a:pt x="0" y="40780"/>
                  <a:pt x="40780" y="0"/>
                  <a:pt x="9101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90586" y="8008554"/>
            <a:ext cx="208176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73522" y="8281573"/>
            <a:ext cx="211589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百万级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96274" y="8600095"/>
            <a:ext cx="2070393" cy="18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写入/秒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00493" y="7872045"/>
            <a:ext cx="2275157" cy="1046572"/>
          </a:xfrm>
          <a:custGeom>
            <a:avLst/>
            <a:gdLst/>
            <a:ahLst/>
            <a:cxnLst/>
            <a:rect l="l" t="t" r="r" b="b"/>
            <a:pathLst>
              <a:path w="2275157" h="1046572">
                <a:moveTo>
                  <a:pt x="91010" y="0"/>
                </a:moveTo>
                <a:lnTo>
                  <a:pt x="2184148" y="0"/>
                </a:lnTo>
                <a:cubicBezTo>
                  <a:pt x="2234411" y="0"/>
                  <a:pt x="2275157" y="40747"/>
                  <a:pt x="2275157" y="91010"/>
                </a:cubicBezTo>
                <a:lnTo>
                  <a:pt x="2275157" y="955562"/>
                </a:lnTo>
                <a:cubicBezTo>
                  <a:pt x="2275157" y="1005826"/>
                  <a:pt x="2234411" y="1046572"/>
                  <a:pt x="2184148" y="1046572"/>
                </a:cubicBezTo>
                <a:lnTo>
                  <a:pt x="91010" y="1046572"/>
                </a:lnTo>
                <a:cubicBezTo>
                  <a:pt x="40747" y="1046572"/>
                  <a:pt x="0" y="1005826"/>
                  <a:pt x="0" y="955562"/>
                </a:cubicBezTo>
                <a:lnTo>
                  <a:pt x="0" y="91010"/>
                </a:lnTo>
                <a:cubicBezTo>
                  <a:pt x="0" y="40780"/>
                  <a:pt x="40780" y="0"/>
                  <a:pt x="9101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997187" y="8008554"/>
            <a:ext cx="208176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80123" y="8281573"/>
            <a:ext cx="211589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02875" y="8600095"/>
            <a:ext cx="2070393" cy="18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数千台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3307094" y="7872045"/>
            <a:ext cx="2275157" cy="1046572"/>
          </a:xfrm>
          <a:custGeom>
            <a:avLst/>
            <a:gdLst/>
            <a:ahLst/>
            <a:cxnLst/>
            <a:rect l="l" t="t" r="r" b="b"/>
            <a:pathLst>
              <a:path w="2275157" h="1046572">
                <a:moveTo>
                  <a:pt x="91010" y="0"/>
                </a:moveTo>
                <a:lnTo>
                  <a:pt x="2184148" y="0"/>
                </a:lnTo>
                <a:cubicBezTo>
                  <a:pt x="2234411" y="0"/>
                  <a:pt x="2275157" y="40747"/>
                  <a:pt x="2275157" y="91010"/>
                </a:cubicBezTo>
                <a:lnTo>
                  <a:pt x="2275157" y="955562"/>
                </a:lnTo>
                <a:cubicBezTo>
                  <a:pt x="2275157" y="1005826"/>
                  <a:pt x="2234411" y="1046572"/>
                  <a:pt x="2184148" y="1046572"/>
                </a:cubicBezTo>
                <a:lnTo>
                  <a:pt x="91010" y="1046572"/>
                </a:lnTo>
                <a:cubicBezTo>
                  <a:pt x="40747" y="1046572"/>
                  <a:pt x="0" y="1005826"/>
                  <a:pt x="0" y="955562"/>
                </a:cubicBezTo>
                <a:lnTo>
                  <a:pt x="0" y="91010"/>
                </a:lnTo>
                <a:cubicBezTo>
                  <a:pt x="0" y="40780"/>
                  <a:pt x="40780" y="0"/>
                  <a:pt x="9101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3403788" y="8008554"/>
            <a:ext cx="208176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成本效益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386724" y="8281573"/>
            <a:ext cx="211589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91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3409476" y="8600095"/>
            <a:ext cx="2070393" cy="18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5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廉价硬件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etanews.com/48aab75335f828502953fbfef358662c40927697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45" b="784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2438400" y="190500"/>
            <a:ext cx="1176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开源生态与技术演进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38400" y="1549400"/>
            <a:ext cx="1153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Bigtable催生完整技术生态,影响深远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63800" y="2552700"/>
            <a:ext cx="3568700" cy="2743200"/>
          </a:xfrm>
          <a:custGeom>
            <a:avLst/>
            <a:gdLst/>
            <a:ahLst/>
            <a:cxnLst/>
            <a:rect l="l" t="t" r="r" b="b"/>
            <a:pathLst>
              <a:path w="3568700" h="2743200">
                <a:moveTo>
                  <a:pt x="50800" y="0"/>
                </a:moveTo>
                <a:lnTo>
                  <a:pt x="3416288" y="0"/>
                </a:lnTo>
                <a:cubicBezTo>
                  <a:pt x="3500463" y="0"/>
                  <a:pt x="3568700" y="68237"/>
                  <a:pt x="3568700" y="152412"/>
                </a:cubicBezTo>
                <a:lnTo>
                  <a:pt x="3568700" y="2590788"/>
                </a:lnTo>
                <a:cubicBezTo>
                  <a:pt x="3568700" y="2674963"/>
                  <a:pt x="3500463" y="2743200"/>
                  <a:pt x="3416288" y="2743200"/>
                </a:cubicBez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2463800" y="2552700"/>
            <a:ext cx="50800" cy="2743200"/>
          </a:xfrm>
          <a:custGeom>
            <a:avLst/>
            <a:gdLst/>
            <a:ahLst/>
            <a:cxnLst/>
            <a:rect l="l" t="t" r="r" b="b"/>
            <a:pathLst>
              <a:path w="50800" h="2743200">
                <a:moveTo>
                  <a:pt x="50800" y="0"/>
                </a:moveTo>
                <a:lnTo>
                  <a:pt x="50800" y="0"/>
                </a:lnTo>
                <a:lnTo>
                  <a:pt x="50800" y="2743200"/>
                </a:ln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852267" y="2857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125317" y="3111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794000" y="3873500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HBase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94000" y="4381500"/>
            <a:ext cx="303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最直接的开源实现,成功将Bigtable架构适配到Hadoop生态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58434" y="2552700"/>
            <a:ext cx="3568700" cy="2743200"/>
          </a:xfrm>
          <a:custGeom>
            <a:avLst/>
            <a:gdLst/>
            <a:ahLst/>
            <a:cxnLst/>
            <a:rect l="l" t="t" r="r" b="b"/>
            <a:pathLst>
              <a:path w="3568700" h="2743200">
                <a:moveTo>
                  <a:pt x="50800" y="0"/>
                </a:moveTo>
                <a:lnTo>
                  <a:pt x="3416288" y="0"/>
                </a:lnTo>
                <a:cubicBezTo>
                  <a:pt x="3500463" y="0"/>
                  <a:pt x="3568700" y="68237"/>
                  <a:pt x="3568700" y="152412"/>
                </a:cubicBezTo>
                <a:lnTo>
                  <a:pt x="3568700" y="2590788"/>
                </a:lnTo>
                <a:cubicBezTo>
                  <a:pt x="3568700" y="2674963"/>
                  <a:pt x="3500463" y="2743200"/>
                  <a:pt x="3416288" y="2743200"/>
                </a:cubicBez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358434" y="2552700"/>
            <a:ext cx="50800" cy="2743200"/>
          </a:xfrm>
          <a:custGeom>
            <a:avLst/>
            <a:gdLst/>
            <a:ahLst/>
            <a:cxnLst/>
            <a:rect l="l" t="t" r="r" b="b"/>
            <a:pathLst>
              <a:path w="50800" h="2743200">
                <a:moveTo>
                  <a:pt x="50800" y="0"/>
                </a:moveTo>
                <a:lnTo>
                  <a:pt x="50800" y="0"/>
                </a:lnTo>
                <a:lnTo>
                  <a:pt x="50800" y="2743200"/>
                </a:ln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746901" y="2857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000901" y="311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688634" y="3873500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NoSQL运动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88634" y="4381500"/>
            <a:ext cx="303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为NoSQL运动提供技术范本,推动数据库领域变革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253067" y="2552700"/>
            <a:ext cx="3568700" cy="2743200"/>
          </a:xfrm>
          <a:custGeom>
            <a:avLst/>
            <a:gdLst/>
            <a:ahLst/>
            <a:cxnLst/>
            <a:rect l="l" t="t" r="r" b="b"/>
            <a:pathLst>
              <a:path w="3568700" h="2743200">
                <a:moveTo>
                  <a:pt x="50800" y="0"/>
                </a:moveTo>
                <a:lnTo>
                  <a:pt x="3416288" y="0"/>
                </a:lnTo>
                <a:cubicBezTo>
                  <a:pt x="3500463" y="0"/>
                  <a:pt x="3568700" y="68237"/>
                  <a:pt x="3568700" y="152412"/>
                </a:cubicBezTo>
                <a:lnTo>
                  <a:pt x="3568700" y="2590788"/>
                </a:lnTo>
                <a:cubicBezTo>
                  <a:pt x="3568700" y="2674963"/>
                  <a:pt x="3500463" y="2743200"/>
                  <a:pt x="3416288" y="2743200"/>
                </a:cubicBez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0253067" y="2552700"/>
            <a:ext cx="50800" cy="2743200"/>
          </a:xfrm>
          <a:custGeom>
            <a:avLst/>
            <a:gdLst/>
            <a:ahLst/>
            <a:cxnLst/>
            <a:rect l="l" t="t" r="r" b="b"/>
            <a:pathLst>
              <a:path w="50800" h="2743200">
                <a:moveTo>
                  <a:pt x="50800" y="0"/>
                </a:moveTo>
                <a:lnTo>
                  <a:pt x="50800" y="0"/>
                </a:lnTo>
                <a:lnTo>
                  <a:pt x="50800" y="2743200"/>
                </a:ln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1641534" y="2857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876484" y="3111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0583267" y="3873500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云数据库服务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583267" y="4381500"/>
            <a:ext cx="3035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Cloud Bigtable等,将技术成果转化为商业产品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463800" y="5803900"/>
            <a:ext cx="11353800" cy="1828800"/>
          </a:xfrm>
          <a:custGeom>
            <a:avLst/>
            <a:gdLst/>
            <a:ahLst/>
            <a:cxnLst/>
            <a:rect l="l" t="t" r="r" b="b"/>
            <a:pathLst>
              <a:path w="11353800" h="1828800">
                <a:moveTo>
                  <a:pt x="50800" y="0"/>
                </a:moveTo>
                <a:lnTo>
                  <a:pt x="11201406" y="0"/>
                </a:lnTo>
                <a:cubicBezTo>
                  <a:pt x="11285571" y="0"/>
                  <a:pt x="11353800" y="68229"/>
                  <a:pt x="11353800" y="152394"/>
                </a:cubicBezTo>
                <a:lnTo>
                  <a:pt x="11353800" y="1676406"/>
                </a:lnTo>
                <a:cubicBezTo>
                  <a:pt x="11353800" y="1760571"/>
                  <a:pt x="11285571" y="1828800"/>
                  <a:pt x="11201406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2463800" y="58039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2794000" y="6108700"/>
            <a:ext cx="1087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核心启示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794000" y="6819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63500"/>
                </a:lnTo>
                <a:cubicBezTo>
                  <a:pt x="76200" y="84528"/>
                  <a:pt x="59128" y="101600"/>
                  <a:pt x="38100" y="101600"/>
                </a:cubicBezTo>
                <a:lnTo>
                  <a:pt x="38100" y="101600"/>
                </a:lnTo>
                <a:cubicBezTo>
                  <a:pt x="17072" y="101600"/>
                  <a:pt x="0" y="84528"/>
                  <a:pt x="0" y="6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2968030" y="6718300"/>
            <a:ext cx="336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实用主义导向:</a:t>
            </a: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技术选择应以解决实际问题为出发点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34634" y="6819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63500"/>
                </a:lnTo>
                <a:cubicBezTo>
                  <a:pt x="76200" y="84528"/>
                  <a:pt x="59128" y="101600"/>
                  <a:pt x="38100" y="101600"/>
                </a:cubicBezTo>
                <a:lnTo>
                  <a:pt x="38100" y="101600"/>
                </a:lnTo>
                <a:cubicBezTo>
                  <a:pt x="17072" y="101600"/>
                  <a:pt x="0" y="84528"/>
                  <a:pt x="0" y="6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6608663" y="6718300"/>
            <a:ext cx="336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工程化思维:</a:t>
            </a: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优秀系统需要经过大规模实际应用检验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075267" y="6819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63500"/>
                </a:lnTo>
                <a:cubicBezTo>
                  <a:pt x="76200" y="84528"/>
                  <a:pt x="59128" y="101600"/>
                  <a:pt x="38100" y="101600"/>
                </a:cubicBezTo>
                <a:lnTo>
                  <a:pt x="38100" y="101600"/>
                </a:lnTo>
                <a:cubicBezTo>
                  <a:pt x="17072" y="101600"/>
                  <a:pt x="0" y="84528"/>
                  <a:pt x="0" y="6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10252571" y="6718300"/>
            <a:ext cx="336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生态化发展:</a:t>
            </a: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开源和技术标准有助于技术广泛传播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362200" y="8039100"/>
            <a:ext cx="1153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Bigtable论文展示了从学术到工业的完整闭环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374900" y="8597900"/>
            <a:ext cx="1150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为后续存储系统发展树立了典范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3255</Words>
  <Application>Microsoft Macintosh PowerPoint</Application>
  <PresentationFormat>自定义</PresentationFormat>
  <Paragraphs>834</Paragraphs>
  <Slides>32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MiSans</vt:lpstr>
      <vt:lpstr>微软雅黑</vt:lpstr>
      <vt:lpstr>Liter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bigtable_presentation</dc:title>
  <dc:subject>bigtable_presentation</dc:subject>
  <dc:creator>Kimi</dc:creator>
  <cp:lastModifiedBy>王 天青</cp:lastModifiedBy>
  <cp:revision>5</cp:revision>
  <dcterms:created xsi:type="dcterms:W3CDTF">2025-12-19T23:54:20Z</dcterms:created>
  <dcterms:modified xsi:type="dcterms:W3CDTF">2025-12-20T00:04:13Z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{"Label":"bigtable_presentation","ContentProducer":"001191110108MACG2KBH8F10000","ProduceID":"19b39020-7fb2-8881-8000-0000480cc5ac","ReservedCode1":"","ContentPropagator":"001191110108MACG2KBH8F20000","PropagateID":"19b39020-7fb2-8881-8000-0000480cc5ac","ReservedCode2":""}</vt:lpwstr>
  </property>
</Properties>
</file>